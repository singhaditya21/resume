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Masters/slideMaster3.xml" ContentType="application/vnd.openxmlformats-officedocument.presentationml.slideMaster+xml"/>
  <Override PartName="/ppt/slideMasters/theme/theme4.xml" ContentType="application/vnd.openxmlformats-officedocument.theme+xml"/>
  <Override PartName="/ppt/slideMasters/slideMaster4.xml" ContentType="application/vnd.openxmlformats-officedocument.presentationml.slideMaster+xml"/>
  <Override PartName="/ppt/slideMasters/theme/theme5.xml" ContentType="application/vnd.openxmlformats-officedocument.theme+xml"/>
  <Override PartName="/ppt/slideMasters/slideMaster5.xml" ContentType="application/vnd.openxmlformats-officedocument.presentationml.slideMaster+xml"/>
  <Override PartName="/ppt/slideMasters/theme/theme6.xml" ContentType="application/vnd.openxmlformats-officedocument.theme+xml"/>
  <Override PartName="/ppt/slideMasters/slideMaster6.xml" ContentType="application/vnd.openxmlformats-officedocument.presentationml.slideMaster+xml"/>
  <Override PartName="/ppt/slideMasters/theme/theme7.xml" ContentType="application/vnd.openxmlformats-officedocument.theme+xml"/>
  <Override PartName="/ppt/slideMasters/slideMaster7.xml" ContentType="application/vnd.openxmlformats-officedocument.presentationml.slideMaster+xml"/>
  <Override PartName="/ppt/slideMasters/theme/theme8.xml" ContentType="application/vnd.openxmlformats-officedocument.theme+xml"/>
  <Override PartName="/ppt/slideMasters/slideMaster8.xml" ContentType="application/vnd.openxmlformats-officedocument.presentationml.slideMaster+xml"/>
  <Override PartName="/ppt/slideMasters/theme/theme9.xml" ContentType="application/vnd.openxmlformats-officedocument.theme+xml"/>
  <Override PartName="/ppt/slideMasters/slideMaster9.xml" ContentType="application/vnd.openxmlformats-officedocument.presentationml.slideMaster+xml"/>
  <Override PartName="/ppt/slideMasters/theme/theme10.xml" ContentType="application/vnd.openxmlformats-officedocument.theme+xml"/>
  <Override PartName="/ppt/slideMasters/slideMaster10.xml" ContentType="application/vnd.openxmlformats-officedocument.presentationml.slideMaster+xml"/>
  <Override PartName="/ppt/slideMasters/theme/theme11.xml" ContentType="application/vnd.openxmlformats-officedocument.theme+xml"/>
  <Override PartName="/ppt/slideMasters/slideMaster11.xml" ContentType="application/vnd.openxmlformats-officedocument.presentationml.slideMaster+xml"/>
  <Override PartName="/ppt/slideMasters/theme/theme12.xml" ContentType="application/vnd.openxmlformats-officedocument.theme+xml"/>
  <Override PartName="/ppt/slideMasters/slideMaster12.xml" ContentType="application/vnd.openxmlformats-officedocument.presentationml.slideMaster+xml"/>
  <Override PartName="/ppt/slideMasters/theme/theme13.xml" ContentType="application/vnd.openxmlformats-officedocument.theme+xml"/>
  <Override PartName="/ppt/slideMasters/slideMaster13.xml" ContentType="application/vnd.openxmlformats-officedocument.presentationml.slideMaster+xml"/>
  <Override PartName="/ppt/slideMasters/theme/theme14.xml" ContentType="application/vnd.openxmlformats-officedocument.theme+xml"/>
  <Override PartName="/ppt/slideMasters/slideMaster14.xml" ContentType="application/vnd.openxmlformats-officedocument.presentationml.slideMaster+xml"/>
  <Override PartName="/ppt/slideMasters/theme/theme15.xml" ContentType="application/vnd.openxmlformats-officedocument.theme+xml"/>
  <Override PartName="/ppt/slideMasters/slideMaster15.xml" ContentType="application/vnd.openxmlformats-officedocument.presentationml.slideMaster+xml"/>
  <Override PartName="/ppt/slideMasters/theme/theme16.xml" ContentType="application/vnd.openxmlformats-officedocument.theme+xml"/>
  <Override PartName="/ppt/slideMasters/slideMaster16.xml" ContentType="application/vnd.openxmlformats-officedocument.presentationml.slideMaster+xml"/>
  <Override PartName="/ppt/slideMasters/theme/theme17.xml" ContentType="application/vnd.openxmlformats-officedocument.theme+xml"/>
  <Override PartName="/ppt/slideMasters/slideMaster17.xml" ContentType="application/vnd.openxmlformats-officedocument.presentationml.slideMaster+xml"/>
  <Override PartName="/ppt/slideMasters/theme/theme18.xml" ContentType="application/vnd.openxmlformats-officedocument.theme+xml"/>
  <Override PartName="/ppt/slideMasters/slideMaster18.xml" ContentType="application/vnd.openxmlformats-officedocument.presentationml.slideMaster+xml"/>
  <Override PartName="/ppt/slideMasters/theme/theme19.xml" ContentType="application/vnd.openxmlformats-officedocument.theme+xml"/>
  <Override PartName="/ppt/slideMasters/slideMaster19.xml" ContentType="application/vnd.openxmlformats-officedocument.presentationml.slideMaster+xml"/>
  <Override PartName="/ppt/slideMasters/theme/theme20.xml" ContentType="application/vnd.openxmlformats-officedocument.theme+xml"/>
  <Override PartName="/ppt/slideMasters/slideMaster20.xml" ContentType="application/vnd.openxmlformats-officedocument.presentationml.slideMaster+xml"/>
  <Override PartName="/ppt/slideMasters/theme/theme21.xml" ContentType="application/vnd.openxmlformats-officedocument.theme+xml"/>
  <Override PartName="/ppt/slideMasters/slideMaster21.xml" ContentType="application/vnd.openxmlformats-officedocument.presentationml.slideMaster+xml"/>
  <Override PartName="/ppt/slideMasters/theme/theme22.xml" ContentType="application/vnd.openxmlformats-officedocument.theme+xml"/>
  <Override PartName="/ppt/slideMasters/slideMaster22.xml" ContentType="application/vnd.openxmlformats-officedocument.presentationml.slideMaster+xml"/>
  <Override PartName="/ppt/slideMasters/theme/theme23.xml" ContentType="application/vnd.openxmlformats-officedocument.theme+xml"/>
  <Override PartName="/ppt/slideMasters/slideMaster23.xml" ContentType="application/vnd.openxmlformats-officedocument.presentationml.slideMaster+xml"/>
  <Override PartName="/ppt/slideMasters/theme/theme24.xml" ContentType="application/vnd.openxmlformats-officedocument.theme+xml"/>
  <Override PartName="/ppt/slideMasters/slideMaster24.xml" ContentType="application/vnd.openxmlformats-officedocument.presentationml.slideMaster+xml"/>
  <Override PartName="/ppt/slideMasters/theme/theme25.xml" ContentType="application/vnd.openxmlformats-officedocument.theme+xml"/>
  <Override PartName="/ppt/slideMasters/slideMaster25.xml" ContentType="application/vnd.openxmlformats-officedocument.presentationml.slideMaster+xml"/>
  <Override PartName="/ppt/slideMasters/theme/theme26.xml" ContentType="application/vnd.openxmlformats-officedocument.theme+xml"/>
  <Override PartName="/ppt/slideMasters/slideMaster26.xml" ContentType="application/vnd.openxmlformats-officedocument.presentationml.slideMaster+xml"/>
  <Override PartName="/ppt/slideMasters/theme/theme27.xml" ContentType="application/vnd.openxmlformats-officedocument.theme+xml"/>
  <Override PartName="/ppt/slideMasters/slideMaster27.xml" ContentType="application/vnd.openxmlformats-officedocument.presentationml.slideMaster+xml"/>
  <Override PartName="/ppt/slideMasters/theme/theme28.xml" ContentType="application/vnd.openxmlformats-officedocument.theme+xml"/>
  <Override PartName="/ppt/slideMasters/slideMaster28.xml" ContentType="application/vnd.openxmlformats-officedocument.presentationml.slideMaster+xml"/>
  <Override PartName="/ppt/slideMasters/theme/theme29.xml" ContentType="application/vnd.openxmlformats-officedocument.theme+xml"/>
  <Override PartName="/ppt/slideMasters/slideMaster29.xml" ContentType="application/vnd.openxmlformats-officedocument.presentationml.slideMaster+xml"/>
  <Override PartName="/ppt/slideMasters/theme/theme30.xml" ContentType="application/vnd.openxmlformats-officedocument.theme+xml"/>
  <Override PartName="/ppt/slideMasters/slideMaster30.xml" ContentType="application/vnd.openxmlformats-officedocument.presentationml.slideMaster+xml"/>
  <Override PartName="/ppt/slideMasters/theme/theme31.xml" ContentType="application/vnd.openxmlformats-officedocument.theme+xml"/>
  <Override PartName="/ppt/slideMasters/slideMaster31.xml" ContentType="application/vnd.openxmlformats-officedocument.presentationml.slideMaster+xml"/>
  <Override PartName="/ppt/slideMasters/theme/theme32.xml" ContentType="application/vnd.openxmlformats-officedocument.theme+xml"/>
  <Override PartName="/ppt/slideMasters/slideMaster32.xml" ContentType="application/vnd.openxmlformats-officedocument.presentationml.slideMaster+xml"/>
  <Override PartName="/ppt/slideMasters/theme/theme33.xml" ContentType="application/vnd.openxmlformats-officedocument.theme+xml"/>
  <Override PartName="/ppt/slideMasters/slideMaster33.xml" ContentType="application/vnd.openxmlformats-officedocument.presentationml.slideMaster+xml"/>
  <Override PartName="/ppt/slideMasters/theme/theme34.xml" ContentType="application/vnd.openxmlformats-officedocument.theme+xml"/>
  <Override PartName="/ppt/slideMasters/slideMaster34.xml" ContentType="application/vnd.openxmlformats-officedocument.presentationml.slideMaster+xml"/>
  <Override PartName="/ppt/slideMasters/theme/theme35.xml" ContentType="application/vnd.openxmlformats-officedocument.theme+xml"/>
  <Override PartName="/ppt/slideMasters/slideMaster35.xml" ContentType="application/vnd.openxmlformats-officedocument.presentationml.slideMaster+xml"/>
  <Override PartName="/ppt/slideMasters/theme/theme3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notesMasters/notesMaster1.xml" ContentType="application/vnd.openxmlformats-officedocument.presentationml.notesMaster+xml"/>
  <Override PartName="/ppt/notesMasters/theme/theme37.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2.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slides/charts/chart3.xml" ContentType="application/vnd.openxmlformats-officedocument.drawingml.chart+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slides/charts/chart4.xml" ContentType="application/vnd.openxmlformats-officedocument.drawingml.chart+xml"/>
  <Override PartName="/ppt/notesSlides/notesSlide44.xml" ContentType="application/vnd.openxmlformats-officedocument.presentationml.notesSlide+xml"/>
  <Override PartName="/ppt/slides/slide45.xml" ContentType="application/vnd.openxmlformats-officedocument.presentationml.slide+xml"/>
  <Override PartName="/ppt/slides/charts/chart5.xml" ContentType="application/vnd.openxmlformats-officedocument.drawingml.chart+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slides/charts/chart6.xml" ContentType="application/vnd.openxmlformats-officedocument.drawingml.chart+xml"/>
  <Override PartName="/ppt/notesSlides/notesSlide48.xml" ContentType="application/vnd.openxmlformats-officedocument.presentationml.notesSlide+xml"/>
  <Override PartName="/ppt/slides/slide49.xml" ContentType="application/vnd.openxmlformats-officedocument.presentationml.slide+xml"/>
  <Override PartName="/ppt/slides/charts/chart7.xml" ContentType="application/vnd.openxmlformats-officedocument.drawingml.chart+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slides/charts/chart8.xml" ContentType="application/vnd.openxmlformats-officedocument.drawingml.chart+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slides/charts/chart9.xml" ContentType="application/vnd.openxmlformats-officedocument.drawingml.chart+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slides/charts/chart10.xml" ContentType="application/vnd.openxmlformats-officedocument.drawingml.chart+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slides/charts/chart11.xml" ContentType="application/vnd.openxmlformats-officedocument.drawingml.chart+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slides/charts/chart12.xml" ContentType="application/vnd.openxmlformats-officedocument.drawingml.chart+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slides/charts/chart13.xml" ContentType="application/vnd.openxmlformats-officedocument.drawingml.chart+xml"/>
  <Override PartName="/ppt/notesSlides/notesSlide88.xml" ContentType="application/vnd.openxmlformats-officedocument.presentationml.notesSlide+xml"/>
  <Override PartName="/ppt/slides/slide89.xml" ContentType="application/vnd.openxmlformats-officedocument.presentationml.slide+xml"/>
  <Override PartName="/ppt/slides/charts/chart14.xml" ContentType="application/vnd.openxmlformats-officedocument.drawingml.chart+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slides/charts/chart15.xml" ContentType="application/vnd.openxmlformats-officedocument.drawingml.chart+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slides/charts/chart16.xml" ContentType="application/vnd.openxmlformats-officedocument.drawingml.chart+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slides/charts/chart17.xml" ContentType="application/vnd.openxmlformats-officedocument.drawingml.chart+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slides/charts/chart18.xml" ContentType="application/vnd.openxmlformats-officedocument.drawingml.chart+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slides/charts/chart19.xml" ContentType="application/vnd.openxmlformats-officedocument.drawingml.chart+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slides/charts/chart20.xml" ContentType="application/vnd.openxmlformats-officedocument.drawingml.chart+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Override PartName="/ppt/slides/slide163.xml" ContentType="application/vnd.openxmlformats-officedocument.presentationml.slide+xml"/>
  <Override PartName="/ppt/notesSlides/notesSlide163.xml" ContentType="application/vnd.openxmlformats-officedocument.presentationml.notesSlide+xml"/>
  <Override PartName="/ppt/slides/slide164.xml" ContentType="application/vnd.openxmlformats-officedocument.presentationml.slide+xml"/>
  <Override PartName="/ppt/slides/charts/chart21.xml" ContentType="application/vnd.openxmlformats-officedocument.drawingml.chart+xml"/>
  <Override PartName="/ppt/notesSlides/notesSlide164.xml" ContentType="application/vnd.openxmlformats-officedocument.presentationml.notesSlide+xml"/>
  <Override PartName="/ppt/slides/slide165.xml" ContentType="application/vnd.openxmlformats-officedocument.presentationml.slide+xml"/>
  <Override PartName="/ppt/notesSlides/notesSlide165.xml" ContentType="application/vnd.openxmlformats-officedocument.presentationml.notesSlide+xml"/>
  <Override PartName="/ppt/slides/slide166.xml" ContentType="application/vnd.openxmlformats-officedocument.presentationml.slide+xml"/>
  <Override PartName="/ppt/notesSlides/notesSlide166.xml" ContentType="application/vnd.openxmlformats-officedocument.presentationml.notesSlide+xml"/>
  <Override PartName="/ppt/slides/slide167.xml" ContentType="application/vnd.openxmlformats-officedocument.presentationml.slide+xml"/>
  <Override PartName="/ppt/notesSlides/notesSlide167.xml" ContentType="application/vnd.openxmlformats-officedocument.presentationml.notesSlide+xml"/>
  <Override PartName="/ppt/slides/slide168.xml" ContentType="application/vnd.openxmlformats-officedocument.presentationml.slide+xml"/>
  <Override PartName="/ppt/notesSlides/notesSlide168.xml" ContentType="application/vnd.openxmlformats-officedocument.presentationml.notesSlide+xml"/>
  <Override PartName="/ppt/slides/slide169.xml" ContentType="application/vnd.openxmlformats-officedocument.presentationml.slide+xml"/>
  <Override PartName="/ppt/notesSlides/notesSlide169.xml" ContentType="application/vnd.openxmlformats-officedocument.presentationml.notesSlide+xml"/>
  <Override PartName="/ppt/slides/slide170.xml" ContentType="application/vnd.openxmlformats-officedocument.presentationml.slide+xml"/>
  <Override PartName="/ppt/slides/charts/chart22.xml" ContentType="application/vnd.openxmlformats-officedocument.drawingml.chart+xml"/>
  <Override PartName="/ppt/notesSlides/notesSlide170.xml" ContentType="application/vnd.openxmlformats-officedocument.presentationml.notesSlide+xml"/>
  <Override PartName="/ppt/slides/slide171.xml" ContentType="application/vnd.openxmlformats-officedocument.presentationml.slide+xml"/>
  <Override PartName="/ppt/notesSlides/notesSlide171.xml" ContentType="application/vnd.openxmlformats-officedocument.presentationml.notesSlide+xml"/>
  <Override PartName="/ppt/slides/slide172.xml" ContentType="application/vnd.openxmlformats-officedocument.presentationml.slide+xml"/>
  <Override PartName="/ppt/notesSlides/notesSlide172.xml" ContentType="application/vnd.openxmlformats-officedocument.presentationml.notesSlide+xml"/>
  <Override PartName="/ppt/slides/slide173.xml" ContentType="application/vnd.openxmlformats-officedocument.presentationml.slide+xml"/>
  <Override PartName="/ppt/notesSlides/notesSlide173.xml" ContentType="application/vnd.openxmlformats-officedocument.presentationml.notesSlide+xml"/>
  <Override PartName="/ppt/slides/slide174.xml" ContentType="application/vnd.openxmlformats-officedocument.presentationml.slide+xml"/>
  <Override PartName="/ppt/notesSlides/notesSlide174.xml" ContentType="application/vnd.openxmlformats-officedocument.presentationml.notesSlide+xml"/>
  <Override PartName="/ppt/slides/slide175.xml" ContentType="application/vnd.openxmlformats-officedocument.presentationml.slide+xml"/>
  <Override PartName="/ppt/notesSlides/notesSlide175.xml" ContentType="application/vnd.openxmlformats-officedocument.presentationml.notesSlide+xml"/>
  <Override PartName="/ppt/slides/slide176.xml" ContentType="application/vnd.openxmlformats-officedocument.presentationml.slide+xml"/>
  <Override PartName="/ppt/notesSlides/notesSlide176.xml" ContentType="application/vnd.openxmlformats-officedocument.presentationml.notesSlide+xml"/>
  <Override PartName="/ppt/slides/slide177.xml" ContentType="application/vnd.openxmlformats-officedocument.presentationml.slide+xml"/>
  <Override PartName="/ppt/notesSlides/notesSlide177.xml" ContentType="application/vnd.openxmlformats-officedocument.presentationml.notesSlide+xml"/>
  <Override PartName="/ppt/slides/slide178.xml" ContentType="application/vnd.openxmlformats-officedocument.presentationml.slide+xml"/>
  <Override PartName="/ppt/notesSlides/notesSlide178.xml" ContentType="application/vnd.openxmlformats-officedocument.presentationml.notesSlide+xml"/>
  <Override PartName="/ppt/slides/slide179.xml" ContentType="application/vnd.openxmlformats-officedocument.presentationml.slide+xml"/>
  <Override PartName="/ppt/slides/charts/chart23.xml" ContentType="application/vnd.openxmlformats-officedocument.drawingml.chart+xml"/>
  <Override PartName="/ppt/notesSlides/notesSlide179.xml" ContentType="application/vnd.openxmlformats-officedocument.presentationml.notesSlide+xml"/>
  <Override PartName="/ppt/slides/slide180.xml" ContentType="application/vnd.openxmlformats-officedocument.presentationml.slide+xml"/>
  <Override PartName="/ppt/notesSlides/notesSlide180.xml" ContentType="application/vnd.openxmlformats-officedocument.presentationml.notesSlide+xml"/>
  <Override PartName="/ppt/slides/slide181.xml" ContentType="application/vnd.openxmlformats-officedocument.presentationml.slide+xml"/>
  <Override PartName="/ppt/notesSlides/notesSlide181.xml" ContentType="application/vnd.openxmlformats-officedocument.presentationml.notesSlide+xml"/>
  <Override PartName="/ppt/slides/slide182.xml" ContentType="application/vnd.openxmlformats-officedocument.presentationml.slide+xml"/>
  <Override PartName="/ppt/notesSlides/notesSlide182.xml" ContentType="application/vnd.openxmlformats-officedocument.presentationml.notesSlide+xml"/>
  <Override PartName="/ppt/slides/slide183.xml" ContentType="application/vnd.openxmlformats-officedocument.presentationml.slide+xml"/>
  <Override PartName="/ppt/notesSlides/notesSlide183.xml" ContentType="application/vnd.openxmlformats-officedocument.presentationml.notesSlide+xml"/>
  <Override PartName="/ppt/slides/slide184.xml" ContentType="application/vnd.openxmlformats-officedocument.presentationml.slide+xml"/>
  <Override PartName="/ppt/notesSlides/notesSlide184.xml" ContentType="application/vnd.openxmlformats-officedocument.presentationml.notesSlide+xml"/>
  <Override PartName="/ppt/slides/slide185.xml" ContentType="application/vnd.openxmlformats-officedocument.presentationml.slide+xml"/>
  <Override PartName="/ppt/notesSlides/notesSlide185.xml" ContentType="application/vnd.openxmlformats-officedocument.presentationml.notesSlide+xml"/>
  <Override PartName="/ppt/slides/slide186.xml" ContentType="application/vnd.openxmlformats-officedocument.presentationml.slide+xml"/>
  <Override PartName="/ppt/notesSlides/notesSlide186.xml" ContentType="application/vnd.openxmlformats-officedocument.presentationml.notesSlide+xml"/>
  <Override PartName="/ppt/slides/slide187.xml" ContentType="application/vnd.openxmlformats-officedocument.presentationml.slide+xml"/>
  <Override PartName="/ppt/notesSlides/notesSlide187.xml" ContentType="application/vnd.openxmlformats-officedocument.presentationml.notesSlide+xml"/>
  <Override PartName="/ppt/slides/slide188.xml" ContentType="application/vnd.openxmlformats-officedocument.presentationml.slide+xml"/>
  <Override PartName="/ppt/notesSlides/notesSlide188.xml" ContentType="application/vnd.openxmlformats-officedocument.presentationml.notesSlide+xml"/>
  <Override PartName="/ppt/slides/slide189.xml" ContentType="application/vnd.openxmlformats-officedocument.presentationml.slide+xml"/>
  <Override PartName="/ppt/slides/charts/chart24.xml" ContentType="application/vnd.openxmlformats-officedocument.drawingml.chart+xml"/>
  <Override PartName="/ppt/notesSlides/notesSlide189.xml" ContentType="application/vnd.openxmlformats-officedocument.presentationml.notesSlide+xml"/>
  <Override PartName="/ppt/slides/slide190.xml" ContentType="application/vnd.openxmlformats-officedocument.presentationml.slide+xml"/>
  <Override PartName="/ppt/notesSlides/notesSlide190.xml" ContentType="application/vnd.openxmlformats-officedocument.presentationml.notesSlide+xml"/>
  <Override PartName="/ppt/slides/slide191.xml" ContentType="application/vnd.openxmlformats-officedocument.presentationml.slide+xml"/>
  <Override PartName="/ppt/notesSlides/notesSlide191.xml" ContentType="application/vnd.openxmlformats-officedocument.presentationml.notesSlide+xml"/>
  <Override PartName="/ppt/slides/slide192.xml" ContentType="application/vnd.openxmlformats-officedocument.presentationml.slide+xml"/>
  <Override PartName="/ppt/notesSlides/notesSlide192.xml" ContentType="application/vnd.openxmlformats-officedocument.presentationml.notesSlide+xml"/>
  <Override PartName="/ppt/slides/slide193.xml" ContentType="application/vnd.openxmlformats-officedocument.presentationml.slide+xml"/>
  <Override PartName="/ppt/notesSlides/notesSlide193.xml" ContentType="application/vnd.openxmlformats-officedocument.presentationml.notesSlide+xml"/>
  <Override PartName="/ppt/slides/slide194.xml" ContentType="application/vnd.openxmlformats-officedocument.presentationml.slide+xml"/>
  <Override PartName="/ppt/notesSlides/notesSlide194.xml" ContentType="application/vnd.openxmlformats-officedocument.presentationml.notesSlide+xml"/>
  <Override PartName="/ppt/slides/slide195.xml" ContentType="application/vnd.openxmlformats-officedocument.presentationml.slide+xml"/>
  <Override PartName="/ppt/notesSlides/notesSlide195.xml" ContentType="application/vnd.openxmlformats-officedocument.presentationml.notesSlide+xml"/>
  <Override PartName="/ppt/slides/slide196.xml" ContentType="application/vnd.openxmlformats-officedocument.presentationml.slide+xml"/>
  <Override PartName="/ppt/slides/charts/chart25.xml" ContentType="application/vnd.openxmlformats-officedocument.drawingml.chart+xml"/>
  <Override PartName="/ppt/notesSlides/notesSlide196.xml" ContentType="application/vnd.openxmlformats-officedocument.presentationml.notesSlide+xml"/>
  <Override PartName="/ppt/slides/slide197.xml" ContentType="application/vnd.openxmlformats-officedocument.presentationml.slide+xml"/>
  <Override PartName="/ppt/notesSlides/notesSlide197.xml" ContentType="application/vnd.openxmlformats-officedocument.presentationml.notesSlide+xml"/>
  <Override PartName="/ppt/slides/slide198.xml" ContentType="application/vnd.openxmlformats-officedocument.presentationml.slide+xml"/>
  <Override PartName="/ppt/notesSlides/notesSlide198.xml" ContentType="application/vnd.openxmlformats-officedocument.presentationml.notesSlide+xml"/>
  <Override PartName="/ppt/slides/slide199.xml" ContentType="application/vnd.openxmlformats-officedocument.presentationml.slide+xml"/>
  <Override PartName="/ppt/notesSlides/notesSlide199.xml" ContentType="application/vnd.openxmlformats-officedocument.presentationml.notesSlide+xml"/>
  <Override PartName="/ppt/slides/slide200.xml" ContentType="application/vnd.openxmlformats-officedocument.presentationml.slide+xml"/>
  <Override PartName="/ppt/notesSlides/notesSlide200.xml" ContentType="application/vnd.openxmlformats-officedocument.presentationml.notesSlide+xml"/>
  <Override PartName="/ppt/slides/slide201.xml" ContentType="application/vnd.openxmlformats-officedocument.presentationml.slide+xml"/>
  <Override PartName="/ppt/notesSlides/notesSlide201.xml" ContentType="application/vnd.openxmlformats-officedocument.presentationml.notesSlide+xml"/>
  <Override PartName="/ppt/slides/slide202.xml" ContentType="application/vnd.openxmlformats-officedocument.presentationml.slide+xml"/>
  <Override PartName="/ppt/notesSlides/notesSlide202.xml" ContentType="application/vnd.openxmlformats-officedocument.presentationml.notesSlide+xml"/>
  <Override PartName="/ppt/slides/slide203.xml" ContentType="application/vnd.openxmlformats-officedocument.presentationml.slide+xml"/>
  <Override PartName="/ppt/notesSlides/notesSlide203.xml" ContentType="application/vnd.openxmlformats-officedocument.presentationml.notesSlide+xml"/>
  <Override PartName="/ppt/slides/slide204.xml" ContentType="application/vnd.openxmlformats-officedocument.presentationml.slide+xml"/>
  <Override PartName="/ppt/notesSlides/notesSlide204.xml" ContentType="application/vnd.openxmlformats-officedocument.presentationml.notesSlide+xml"/>
  <Override PartName="/ppt/slides/slide205.xml" ContentType="application/vnd.openxmlformats-officedocument.presentationml.slide+xml"/>
  <Override PartName="/ppt/slides/charts/chart26.xml" ContentType="application/vnd.openxmlformats-officedocument.drawingml.chart+xml"/>
  <Override PartName="/ppt/notesSlides/notesSlide205.xml" ContentType="application/vnd.openxmlformats-officedocument.presentationml.notesSlide+xml"/>
  <Override PartName="/ppt/slides/slide206.xml" ContentType="application/vnd.openxmlformats-officedocument.presentationml.slide+xml"/>
  <Override PartName="/ppt/notesSlides/notesSlide206.xml" ContentType="application/vnd.openxmlformats-officedocument.presentationml.notesSlide+xml"/>
  <Override PartName="/ppt/slides/slide207.xml" ContentType="application/vnd.openxmlformats-officedocument.presentationml.slide+xml"/>
  <Override PartName="/ppt/notesSlides/notesSlide207.xml" ContentType="application/vnd.openxmlformats-officedocument.presentationml.notesSlide+xml"/>
  <Override PartName="/ppt/slides/slide208.xml" ContentType="application/vnd.openxmlformats-officedocument.presentationml.slide+xml"/>
  <Override PartName="/ppt/notesSlides/notesSlide208.xml" ContentType="application/vnd.openxmlformats-officedocument.presentationml.notesSlide+xml"/>
  <Override PartName="/ppt/slides/slide209.xml" ContentType="application/vnd.openxmlformats-officedocument.presentationml.slide+xml"/>
  <Override PartName="/ppt/notesSlides/notesSlide209.xml" ContentType="application/vnd.openxmlformats-officedocument.presentationml.notesSlide+xml"/>
  <Override PartName="/ppt/slides/slide210.xml" ContentType="application/vnd.openxmlformats-officedocument.presentationml.slide+xml"/>
  <Override PartName="/ppt/notesSlides/notesSlide210.xml" ContentType="application/vnd.openxmlformats-officedocument.presentationml.notesSlide+xml"/>
  <Override PartName="/ppt/slides/slide211.xml" ContentType="application/vnd.openxmlformats-officedocument.presentationml.slide+xml"/>
  <Override PartName="/ppt/notesSlides/notesSlide211.xml" ContentType="application/vnd.openxmlformats-officedocument.presentationml.notesSlide+xml"/>
  <Override PartName="/ppt/slides/slide212.xml" ContentType="application/vnd.openxmlformats-officedocument.presentationml.slide+xml"/>
  <Override PartName="/ppt/notesSlides/notesSlide212.xml" ContentType="application/vnd.openxmlformats-officedocument.presentationml.notesSlide+xml"/>
  <Override PartName="/ppt/slides/slide213.xml" ContentType="application/vnd.openxmlformats-officedocument.presentationml.slide+xml"/>
  <Override PartName="/ppt/notesSlides/notesSlide213.xml" ContentType="application/vnd.openxmlformats-officedocument.presentationml.notesSlide+xml"/>
  <Override PartName="/ppt/slides/slide214.xml" ContentType="application/vnd.openxmlformats-officedocument.presentationml.slide+xml"/>
  <Override PartName="/ppt/notesSlides/notesSlide214.xml" ContentType="application/vnd.openxmlformats-officedocument.presentationml.notesSlide+xml"/>
  <Override PartName="/ppt/slides/slide215.xml" ContentType="application/vnd.openxmlformats-officedocument.presentationml.slide+xml"/>
  <Override PartName="/ppt/notesSlides/notesSlide215.xml" ContentType="application/vnd.openxmlformats-officedocument.presentationml.notesSlide+xml"/>
  <Override PartName="/ppt/slides/slide216.xml" ContentType="application/vnd.openxmlformats-officedocument.presentationml.slide+xml"/>
  <Override PartName="/ppt/notesSlides/notesSlide216.xml" ContentType="application/vnd.openxmlformats-officedocument.presentationml.notesSlide+xml"/>
  <Override PartName="/ppt/slides/slide217.xml" ContentType="application/vnd.openxmlformats-officedocument.presentationml.slide+xml"/>
  <Override PartName="/ppt/notesSlides/notesSlide217.xml" ContentType="application/vnd.openxmlformats-officedocument.presentationml.notesSlide+xml"/>
  <Override PartName="/ppt/slides/slide218.xml" ContentType="application/vnd.openxmlformats-officedocument.presentationml.slide+xml"/>
  <Override PartName="/ppt/notesSlides/notesSlide218.xml" ContentType="application/vnd.openxmlformats-officedocument.presentationml.notesSlide+xml"/>
  <Override PartName="/ppt/slides/slide219.xml" ContentType="application/vnd.openxmlformats-officedocument.presentationml.slide+xml"/>
  <Override PartName="/ppt/notesSlides/notesSlide219.xml" ContentType="application/vnd.openxmlformats-officedocument.presentationml.notesSlide+xml"/>
  <Override PartName="/ppt/slides/slide220.xml" ContentType="application/vnd.openxmlformats-officedocument.presentationml.slide+xml"/>
  <Override PartName="/ppt/slides/charts/chart27.xml" ContentType="application/vnd.openxmlformats-officedocument.drawingml.chart+xml"/>
  <Override PartName="/ppt/slides/charts/chart28.xml" ContentType="application/vnd.openxmlformats-officedocument.drawingml.chart+xml"/>
  <Override PartName="/ppt/notesSlides/notesSlide220.xml" ContentType="application/vnd.openxmlformats-officedocument.presentationml.notesSlide+xml"/>
  <Override PartName="/ppt/slides/slide221.xml" ContentType="application/vnd.openxmlformats-officedocument.presentationml.slide+xml"/>
  <Override PartName="/ppt/notesSlides/notesSlide221.xml" ContentType="application/vnd.openxmlformats-officedocument.presentationml.notesSlide+xml"/>
  <Override PartName="/ppt/slides/slide222.xml" ContentType="application/vnd.openxmlformats-officedocument.presentationml.slide+xml"/>
  <Override PartName="/ppt/notesSlides/notesSlide222.xml" ContentType="application/vnd.openxmlformats-officedocument.presentationml.notesSlide+xml"/>
  <Override PartName="/ppt/slides/slide223.xml" ContentType="application/vnd.openxmlformats-officedocument.presentationml.slide+xml"/>
  <Override PartName="/ppt/slides/charts/chart29.xml" ContentType="application/vnd.openxmlformats-officedocument.drawingml.chart+xml"/>
  <Override PartName="/ppt/notesSlides/notesSlide223.xml" ContentType="application/vnd.openxmlformats-officedocument.presentationml.notesSlide+xml"/>
  <Override PartName="/ppt/slides/slide224.xml" ContentType="application/vnd.openxmlformats-officedocument.presentationml.slide+xml"/>
  <Override PartName="/ppt/notesSlides/notesSlide224.xml" ContentType="application/vnd.openxmlformats-officedocument.presentationml.notesSlide+xml"/>
  <Override PartName="/ppt/slides/slide225.xml" ContentType="application/vnd.openxmlformats-officedocument.presentationml.slide+xml"/>
  <Override PartName="/ppt/notesSlides/notesSlide225.xml" ContentType="application/vnd.openxmlformats-officedocument.presentationml.notesSlide+xml"/>
  <Override PartName="/ppt/slides/slide226.xml" ContentType="application/vnd.openxmlformats-officedocument.presentationml.slide+xml"/>
  <Override PartName="/ppt/notesSlides/notesSlide226.xml" ContentType="application/vnd.openxmlformats-officedocument.presentationml.notesSlide+xml"/>
  <Override PartName="/ppt/slides/slide227.xml" ContentType="application/vnd.openxmlformats-officedocument.presentationml.slide+xml"/>
  <Override PartName="/ppt/notesSlides/notesSlide227.xml" ContentType="application/vnd.openxmlformats-officedocument.presentationml.notesSlide+xml"/>
  <Override PartName="/ppt/slides/slide228.xml" ContentType="application/vnd.openxmlformats-officedocument.presentationml.slide+xml"/>
  <Override PartName="/ppt/notesSlides/notesSlide228.xml" ContentType="application/vnd.openxmlformats-officedocument.presentationml.notesSlide+xml"/>
  <Override PartName="/ppt/slides/slide229.xml" ContentType="application/vnd.openxmlformats-officedocument.presentationml.slide+xml"/>
  <Override PartName="/ppt/notesSlides/notesSlide229.xml" ContentType="application/vnd.openxmlformats-officedocument.presentationml.notesSlide+xml"/>
  <Override PartName="/ppt/slides/slide230.xml" ContentType="application/vnd.openxmlformats-officedocument.presentationml.slide+xml"/>
  <Override PartName="/ppt/notesSlides/notesSlide230.xml" ContentType="application/vnd.openxmlformats-officedocument.presentationml.notesSlide+xml"/>
  <Override PartName="/ppt/slides/slide231.xml" ContentType="application/vnd.openxmlformats-officedocument.presentationml.slide+xml"/>
  <Override PartName="/ppt/notesSlides/notesSlide231.xml" ContentType="application/vnd.openxmlformats-officedocument.presentationml.notesSlide+xml"/>
  <Override PartName="/ppt/slides/slide232.xml" ContentType="application/vnd.openxmlformats-officedocument.presentationml.slide+xml"/>
  <Override PartName="/ppt/notesSlides/notesSlide232.xml" ContentType="application/vnd.openxmlformats-officedocument.presentationml.notesSlide+xml"/>
  <Override PartName="/ppt/slides/slide233.xml" ContentType="application/vnd.openxmlformats-officedocument.presentationml.slide+xml"/>
  <Override PartName="/ppt/notesSlides/notesSlide233.xml" ContentType="application/vnd.openxmlformats-officedocument.presentationml.notesSlide+xml"/>
  <Override PartName="/ppt/slides/slide234.xml" ContentType="application/vnd.openxmlformats-officedocument.presentationml.slide+xml"/>
  <Override PartName="/ppt/notesSlides/notesSlide234.xml" ContentType="application/vnd.openxmlformats-officedocument.presentationml.notesSlide+xml"/>
  <Override PartName="/ppt/slides/slide235.xml" ContentType="application/vnd.openxmlformats-officedocument.presentationml.slide+xml"/>
  <Override PartName="/ppt/notesSlides/notesSlide235.xml" ContentType="application/vnd.openxmlformats-officedocument.presentationml.notesSlide+xml"/>
  <Override PartName="/ppt/slides/slide236.xml" ContentType="application/vnd.openxmlformats-officedocument.presentationml.slide+xml"/>
  <Override PartName="/ppt/notesSlides/notesSlide236.xml" ContentType="application/vnd.openxmlformats-officedocument.presentationml.notesSlide+xml"/>
  <Override PartName="/ppt/slides/slide237.xml" ContentType="application/vnd.openxmlformats-officedocument.presentationml.slide+xml"/>
  <Override PartName="/ppt/notesSlides/notesSlide237.xml" ContentType="application/vnd.openxmlformats-officedocument.presentationml.notesSlide+xml"/>
  <Override PartName="/ppt/slides/slide238.xml" ContentType="application/vnd.openxmlformats-officedocument.presentationml.slide+xml"/>
  <Override PartName="/ppt/notesSlides/notesSlide238.xml" ContentType="application/vnd.openxmlformats-officedocument.presentationml.notesSlide+xml"/>
  <Override PartName="/ppt/slides/slide239.xml" ContentType="application/vnd.openxmlformats-officedocument.presentationml.slide+xml"/>
  <Override PartName="/ppt/notesSlides/notesSlide239.xml" ContentType="application/vnd.openxmlformats-officedocument.presentationml.notesSlide+xml"/>
  <Override PartName="/ppt/slides/slide240.xml" ContentType="application/vnd.openxmlformats-officedocument.presentationml.slide+xml"/>
  <Override PartName="/ppt/notesSlides/notesSlide240.xml" ContentType="application/vnd.openxmlformats-officedocument.presentationml.notesSlide+xml"/>
  <Override PartName="/ppt/slides/slide241.xml" ContentType="application/vnd.openxmlformats-officedocument.presentationml.slide+xml"/>
  <Override PartName="/ppt/notesSlides/notesSlide241.xml" ContentType="application/vnd.openxmlformats-officedocument.presentationml.notesSlide+xml"/>
  <Override PartName="/ppt/slides/slide242.xml" ContentType="application/vnd.openxmlformats-officedocument.presentationml.slide+xml"/>
  <Override PartName="/ppt/notesSlides/notesSlide242.xml" ContentType="application/vnd.openxmlformats-officedocument.presentationml.notesSlide+xml"/>
  <Override PartName="/ppt/slides/slide243.xml" ContentType="application/vnd.openxmlformats-officedocument.presentationml.slide+xml"/>
  <Override PartName="/ppt/notesSlides/notesSlide243.xml" ContentType="application/vnd.openxmlformats-officedocument.presentationml.notesSlide+xml"/>
  <Override PartName="/ppt/slides/slide244.xml" ContentType="application/vnd.openxmlformats-officedocument.presentationml.slide+xml"/>
  <Override PartName="/ppt/notesSlides/notesSlide244.xml" ContentType="application/vnd.openxmlformats-officedocument.presentationml.notesSlide+xml"/>
  <Override PartName="/ppt/slides/slide245.xml" ContentType="application/vnd.openxmlformats-officedocument.presentationml.slide+xml"/>
  <Override PartName="/ppt/notesSlides/notesSlide245.xml" ContentType="application/vnd.openxmlformats-officedocument.presentationml.notesSlide+xml"/>
  <Override PartName="/ppt/slides/slide246.xml" ContentType="application/vnd.openxmlformats-officedocument.presentationml.slide+xml"/>
  <Override PartName="/ppt/notesSlides/notesSlide246.xml" ContentType="application/vnd.openxmlformats-officedocument.presentationml.notesSlide+xml"/>
  <Override PartName="/ppt/slides/slide247.xml" ContentType="application/vnd.openxmlformats-officedocument.presentationml.slide+xml"/>
  <Override PartName="/ppt/notesSlides/notesSlide247.xml" ContentType="application/vnd.openxmlformats-officedocument.presentationml.notesSlide+xml"/>
  <Override PartName="/ppt/slides/slide248.xml" ContentType="application/vnd.openxmlformats-officedocument.presentationml.slide+xml"/>
  <Override PartName="/ppt/notesSlides/notesSlide248.xml" ContentType="application/vnd.openxmlformats-officedocument.presentationml.notesSlide+xml"/>
  <Override PartName="/ppt/slides/slide249.xml" ContentType="application/vnd.openxmlformats-officedocument.presentationml.slide+xml"/>
  <Override PartName="/ppt/slides/charts/chart30.xml" ContentType="application/vnd.openxmlformats-officedocument.drawingml.chart+xml"/>
  <Override PartName="/ppt/notesSlides/notesSlide249.xml" ContentType="application/vnd.openxmlformats-officedocument.presentationml.notesSlide+xml"/>
  <Override PartName="/ppt/slides/slide250.xml" ContentType="application/vnd.openxmlformats-officedocument.presentationml.slide+xml"/>
  <Override PartName="/ppt/notesSlides/notesSlide250.xml" ContentType="application/vnd.openxmlformats-officedocument.presentationml.notesSlide+xml"/>
  <Override PartName="/ppt/slides/slide251.xml" ContentType="application/vnd.openxmlformats-officedocument.presentationml.slide+xml"/>
  <Override PartName="/ppt/notesSlides/notesSlide251.xml" ContentType="application/vnd.openxmlformats-officedocument.presentationml.notesSlide+xml"/>
  <Override PartName="/ppt/slides/slide252.xml" ContentType="application/vnd.openxmlformats-officedocument.presentationml.slide+xml"/>
  <Override PartName="/ppt/notesSlides/notesSlide252.xml" ContentType="application/vnd.openxmlformats-officedocument.presentationml.notesSlide+xml"/>
  <Override PartName="/ppt/slides/slide253.xml" ContentType="application/vnd.openxmlformats-officedocument.presentationml.slide+xml"/>
  <Override PartName="/ppt/notesSlides/notesSlide253.xml" ContentType="application/vnd.openxmlformats-officedocument.presentationml.notesSlide+xml"/>
  <Override PartName="/ppt/slides/slide254.xml" ContentType="application/vnd.openxmlformats-officedocument.presentationml.slide+xml"/>
  <Override PartName="/ppt/notesSlides/notesSlide254.xml" ContentType="application/vnd.openxmlformats-officedocument.presentationml.notesSlide+xml"/>
  <Override PartName="/ppt/slides/slide255.xml" ContentType="application/vnd.openxmlformats-officedocument.presentationml.slide+xml"/>
  <Override PartName="/ppt/notesSlides/notesSlide255.xml" ContentType="application/vnd.openxmlformats-officedocument.presentationml.notesSlide+xml"/>
  <Override PartName="/ppt/slides/slide256.xml" ContentType="application/vnd.openxmlformats-officedocument.presentationml.slide+xml"/>
  <Override PartName="/ppt/notesSlides/notesSlide256.xml" ContentType="application/vnd.openxmlformats-officedocument.presentationml.notesSlide+xml"/>
  <Override PartName="/ppt/slides/slide257.xml" ContentType="application/vnd.openxmlformats-officedocument.presentationml.slide+xml"/>
  <Override PartName="/ppt/notesSlides/notesSlide257.xml" ContentType="application/vnd.openxmlformats-officedocument.presentationml.notesSlide+xml"/>
  <Override PartName="/ppt/slides/slide258.xml" ContentType="application/vnd.openxmlformats-officedocument.presentationml.slide+xml"/>
  <Override PartName="/ppt/notesSlides/notesSlide258.xml" ContentType="application/vnd.openxmlformats-officedocument.presentationml.notesSlide+xml"/>
  <Override PartName="/ppt/slides/slide259.xml" ContentType="application/vnd.openxmlformats-officedocument.presentationml.slide+xml"/>
  <Override PartName="/ppt/notesSlides/notesSlide259.xml" ContentType="application/vnd.openxmlformats-officedocument.presentationml.notesSlide+xml"/>
  <Override PartName="/ppt/slides/slide260.xml" ContentType="application/vnd.openxmlformats-officedocument.presentationml.slide+xml"/>
  <Override PartName="/ppt/notesSlides/notesSlide260.xml" ContentType="application/vnd.openxmlformats-officedocument.presentationml.notesSlide+xml"/>
  <Override PartName="/ppt/slides/slide261.xml" ContentType="application/vnd.openxmlformats-officedocument.presentationml.slide+xml"/>
  <Override PartName="/ppt/notesSlides/notesSlide261.xml" ContentType="application/vnd.openxmlformats-officedocument.presentationml.notesSlide+xml"/>
  <Override PartName="/ppt/slides/slide262.xml" ContentType="application/vnd.openxmlformats-officedocument.presentationml.slide+xml"/>
  <Override PartName="/ppt/notesSlides/notesSlide262.xml" ContentType="application/vnd.openxmlformats-officedocument.presentationml.notesSlide+xml"/>
  <Override PartName="/ppt/slides/slide263.xml" ContentType="application/vnd.openxmlformats-officedocument.presentationml.slide+xml"/>
  <Override PartName="/ppt/notesSlides/notesSlide263.xml" ContentType="application/vnd.openxmlformats-officedocument.presentationml.notesSlide+xml"/>
  <Override PartName="/ppt/slides/slide264.xml" ContentType="application/vnd.openxmlformats-officedocument.presentationml.slide+xml"/>
  <Override PartName="/ppt/slides/charts/chart31.xml" ContentType="application/vnd.openxmlformats-officedocument.drawingml.chart+xml"/>
  <Override PartName="/ppt/notesSlides/notesSlide264.xml" ContentType="application/vnd.openxmlformats-officedocument.presentationml.notesSlide+xml"/>
  <Override PartName="/ppt/slides/slide265.xml" ContentType="application/vnd.openxmlformats-officedocument.presentationml.slide+xml"/>
  <Override PartName="/ppt/notesSlides/notesSlide265.xml" ContentType="application/vnd.openxmlformats-officedocument.presentationml.notesSlide+xml"/>
  <Override PartName="/ppt/slides/slide266.xml" ContentType="application/vnd.openxmlformats-officedocument.presentationml.slide+xml"/>
  <Override PartName="/ppt/notesSlides/notesSlide266.xml" ContentType="application/vnd.openxmlformats-officedocument.presentationml.notesSlide+xml"/>
  <Override PartName="/ppt/slides/slide267.xml" ContentType="application/vnd.openxmlformats-officedocument.presentationml.slide+xml"/>
  <Override PartName="/ppt/notesSlides/notesSlide267.xml" ContentType="application/vnd.openxmlformats-officedocument.presentationml.notesSlide+xml"/>
  <Override PartName="/ppt/slides/slide268.xml" ContentType="application/vnd.openxmlformats-officedocument.presentationml.slide+xml"/>
  <Override PartName="/ppt/notesSlides/notesSlide268.xml" ContentType="application/vnd.openxmlformats-officedocument.presentationml.notesSlide+xml"/>
  <Override PartName="/ppt/slides/slide269.xml" ContentType="application/vnd.openxmlformats-officedocument.presentationml.slide+xml"/>
  <Override PartName="/ppt/notesSlides/notesSlide269.xml" ContentType="application/vnd.openxmlformats-officedocument.presentationml.notesSlide+xml"/>
  <Override PartName="/ppt/slides/slide270.xml" ContentType="application/vnd.openxmlformats-officedocument.presentationml.slide+xml"/>
  <Override PartName="/ppt/notesSlides/notesSlide270.xml" ContentType="application/vnd.openxmlformats-officedocument.presentationml.notesSlide+xml"/>
  <Override PartName="/ppt/slides/slide271.xml" ContentType="application/vnd.openxmlformats-officedocument.presentationml.slide+xml"/>
  <Override PartName="/ppt/slides/charts/chart32.xml" ContentType="application/vnd.openxmlformats-officedocument.drawingml.chart+xml"/>
  <Override PartName="/ppt/notesSlides/notesSlide271.xml" ContentType="application/vnd.openxmlformats-officedocument.presentationml.notesSlide+xml"/>
  <Override PartName="/ppt/slides/slide272.xml" ContentType="application/vnd.openxmlformats-officedocument.presentationml.slide+xml"/>
  <Override PartName="/ppt/notesSlides/notesSlide272.xml" ContentType="application/vnd.openxmlformats-officedocument.presentationml.notesSlide+xml"/>
  <Override PartName="/ppt/slides/slide273.xml" ContentType="application/vnd.openxmlformats-officedocument.presentationml.slide+xml"/>
  <Override PartName="/ppt/notesSlides/notesSlide273.xml" ContentType="application/vnd.openxmlformats-officedocument.presentationml.notesSlide+xml"/>
  <Override PartName="/ppt/slides/slide274.xml" ContentType="application/vnd.openxmlformats-officedocument.presentationml.slide+xml"/>
  <Override PartName="/ppt/notesSlides/notesSlide274.xml" ContentType="application/vnd.openxmlformats-officedocument.presentationml.notesSlide+xml"/>
  <Override PartName="/ppt/slides/slide275.xml" ContentType="application/vnd.openxmlformats-officedocument.presentationml.slide+xml"/>
  <Override PartName="/ppt/notesSlides/notesSlide275.xml" ContentType="application/vnd.openxmlformats-officedocument.presentationml.notesSlide+xml"/>
  <Override PartName="/ppt/slides/slide276.xml" ContentType="application/vnd.openxmlformats-officedocument.presentationml.slide+xml"/>
  <Override PartName="/ppt/notesSlides/notesSlide276.xml" ContentType="application/vnd.openxmlformats-officedocument.presentationml.notesSlide+xml"/>
  <Override PartName="/ppt/slides/slide277.xml" ContentType="application/vnd.openxmlformats-officedocument.presentationml.slide+xml"/>
  <Override PartName="/ppt/notesSlides/notesSlide277.xml" ContentType="application/vnd.openxmlformats-officedocument.presentationml.notesSlide+xml"/>
  <Override PartName="/ppt/slides/slide278.xml" ContentType="application/vnd.openxmlformats-officedocument.presentationml.slide+xml"/>
  <Override PartName="/ppt/notesSlides/notesSlide278.xml" ContentType="application/vnd.openxmlformats-officedocument.presentationml.notesSlide+xml"/>
  <Override PartName="/ppt/slides/slide279.xml" ContentType="application/vnd.openxmlformats-officedocument.presentationml.slide+xml"/>
  <Override PartName="/ppt/notesSlides/notesSlide279.xml" ContentType="application/vnd.openxmlformats-officedocument.presentationml.notesSlide+xml"/>
  <Override PartName="/ppt/slides/slide280.xml" ContentType="application/vnd.openxmlformats-officedocument.presentationml.slide+xml"/>
  <Override PartName="/ppt/notesSlides/notesSlide280.xml" ContentType="application/vnd.openxmlformats-officedocument.presentationml.notesSlide+xml"/>
  <Override PartName="/ppt/slides/slide281.xml" ContentType="application/vnd.openxmlformats-officedocument.presentationml.slide+xml"/>
  <Override PartName="/ppt/notesSlides/notesSlide281.xml" ContentType="application/vnd.openxmlformats-officedocument.presentationml.notesSlide+xml"/>
  <Override PartName="/ppt/slides/slide282.xml" ContentType="application/vnd.openxmlformats-officedocument.presentationml.slide+xml"/>
  <Override PartName="/ppt/notesSlides/notesSlide282.xml" ContentType="application/vnd.openxmlformats-officedocument.presentationml.notesSlide+xml"/>
  <Override PartName="/ppt/slides/slide283.xml" ContentType="application/vnd.openxmlformats-officedocument.presentationml.slide+xml"/>
  <Override PartName="/ppt/slides/charts/chart33.xml" ContentType="application/vnd.openxmlformats-officedocument.drawingml.chart+xml"/>
  <Override PartName="/ppt/notesSlides/notesSlide283.xml" ContentType="application/vnd.openxmlformats-officedocument.presentationml.notesSlide+xml"/>
  <Override PartName="/ppt/slides/slide284.xml" ContentType="application/vnd.openxmlformats-officedocument.presentationml.slide+xml"/>
  <Override PartName="/ppt/notesSlides/notesSlide284.xml" ContentType="application/vnd.openxmlformats-officedocument.presentationml.notesSlide+xml"/>
  <Override PartName="/ppt/slides/slide285.xml" ContentType="application/vnd.openxmlformats-officedocument.presentationml.slide+xml"/>
  <Override PartName="/ppt/notesSlides/notesSlide285.xml" ContentType="application/vnd.openxmlformats-officedocument.presentationml.notesSlide+xml"/>
  <Override PartName="/ppt/slides/slide286.xml" ContentType="application/vnd.openxmlformats-officedocument.presentationml.slide+xml"/>
  <Override PartName="/ppt/notesSlides/notesSlide286.xml" ContentType="application/vnd.openxmlformats-officedocument.presentationml.notesSlide+xml"/>
  <Override PartName="/ppt/slides/slide287.xml" ContentType="application/vnd.openxmlformats-officedocument.presentationml.slide+xml"/>
  <Override PartName="/ppt/notesSlides/notesSlide287.xml" ContentType="application/vnd.openxmlformats-officedocument.presentationml.notesSlide+xml"/>
  <Override PartName="/ppt/slides/slide288.xml" ContentType="application/vnd.openxmlformats-officedocument.presentationml.slide+xml"/>
  <Override PartName="/ppt/notesSlides/notesSlide288.xml" ContentType="application/vnd.openxmlformats-officedocument.presentationml.notesSlide+xml"/>
  <Override PartName="/ppt/slides/slide289.xml" ContentType="application/vnd.openxmlformats-officedocument.presentationml.slide+xml"/>
  <Override PartName="/ppt/notesSlides/notesSlide289.xml" ContentType="application/vnd.openxmlformats-officedocument.presentationml.notesSlide+xml"/>
  <Override PartName="/ppt/slides/slide290.xml" ContentType="application/vnd.openxmlformats-officedocument.presentationml.slide+xml"/>
  <Override PartName="/ppt/notesSlides/notesSlide290.xml" ContentType="application/vnd.openxmlformats-officedocument.presentationml.notesSlide+xml"/>
  <Override PartName="/ppt/slides/slide291.xml" ContentType="application/vnd.openxmlformats-officedocument.presentationml.slide+xml"/>
  <Override PartName="/ppt/notesSlides/notesSlide291.xml" ContentType="application/vnd.openxmlformats-officedocument.presentationml.notesSlide+xml"/>
  <Override PartName="/ppt/slides/slide292.xml" ContentType="application/vnd.openxmlformats-officedocument.presentationml.slide+xml"/>
  <Override PartName="/ppt/notesSlides/notesSlide292.xml" ContentType="application/vnd.openxmlformats-officedocument.presentationml.notesSlide+xml"/>
  <Override PartName="/ppt/slides/slide293.xml" ContentType="application/vnd.openxmlformats-officedocument.presentationml.slide+xml"/>
  <Override PartName="/ppt/notesSlides/notesSlide293.xml" ContentType="application/vnd.openxmlformats-officedocument.presentationml.notesSlide+xml"/>
  <Override PartName="/ppt/slides/slide294.xml" ContentType="application/vnd.openxmlformats-officedocument.presentationml.slide+xml"/>
  <Override PartName="/ppt/notesSlides/notesSlide294.xml" ContentType="application/vnd.openxmlformats-officedocument.presentationml.notesSlide+xml"/>
  <Override PartName="/ppt/slides/slide295.xml" ContentType="application/vnd.openxmlformats-officedocument.presentationml.slide+xml"/>
  <Override PartName="/ppt/notesSlides/notesSlide295.xml" ContentType="application/vnd.openxmlformats-officedocument.presentationml.notesSlide+xml"/>
  <Override PartName="/ppt/slides/slide296.xml" ContentType="application/vnd.openxmlformats-officedocument.presentationml.slide+xml"/>
  <Override PartName="/ppt/notesSlides/notesSlide296.xml" ContentType="application/vnd.openxmlformats-officedocument.presentationml.notesSlide+xml"/>
  <Override PartName="/ppt/slides/slide297.xml" ContentType="application/vnd.openxmlformats-officedocument.presentationml.slide+xml"/>
  <Override PartName="/ppt/notesSlides/notesSlide297.xml" ContentType="application/vnd.openxmlformats-officedocument.presentationml.notesSlide+xml"/>
  <Override PartName="/ppt/slides/slide298.xml" ContentType="application/vnd.openxmlformats-officedocument.presentationml.slide+xml"/>
  <Override PartName="/ppt/notesSlides/notesSlide298.xml" ContentType="application/vnd.openxmlformats-officedocument.presentationml.notesSlide+xml"/>
  <Override PartName="/ppt/slides/slide299.xml" ContentType="application/vnd.openxmlformats-officedocument.presentationml.slide+xml"/>
  <Override PartName="/ppt/notesSlides/notesSlide299.xml" ContentType="application/vnd.openxmlformats-officedocument.presentationml.notesSlide+xml"/>
  <Override PartName="/ppt/slides/slide300.xml" ContentType="application/vnd.openxmlformats-officedocument.presentationml.slide+xml"/>
  <Override PartName="/ppt/notesSlides/notesSlide300.xml" ContentType="application/vnd.openxmlformats-officedocument.presentationml.notesSlide+xml"/>
  <Override PartName="/ppt/slides/slide301.xml" ContentType="application/vnd.openxmlformats-officedocument.presentationml.slide+xml"/>
  <Override PartName="/ppt/notesSlides/notesSlide301.xml" ContentType="application/vnd.openxmlformats-officedocument.presentationml.notesSlide+xml"/>
  <Override PartName="/ppt/slides/slide302.xml" ContentType="application/vnd.openxmlformats-officedocument.presentationml.slide+xml"/>
  <Override PartName="/ppt/notesSlides/notesSlide302.xml" ContentType="application/vnd.openxmlformats-officedocument.presentationml.notesSlide+xml"/>
  <Override PartName="/ppt/slides/slide303.xml" ContentType="application/vnd.openxmlformats-officedocument.presentationml.slide+xml"/>
  <Override PartName="/ppt/notesSlides/notesSlide30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180e819fbb4a64" /><Relationship Type="http://schemas.openxmlformats.org/officeDocument/2006/relationships/extended-properties" Target="/docProps/app.xml" Id="R34b0551a12ed4391" /><Relationship Type="http://schemas.openxmlformats.org/officeDocument/2006/relationships/officeDocument" Target="/ppt/presentation.xml" Id="R5d7b699cb17641ea" /></Relationships>
</file>

<file path=ppt/presentation.xml><?xml version="1.0" encoding="utf-8"?>
<p:presentation xmlns:p="http://schemas.openxmlformats.org/presentationml/2006/main">
  <p:sldMasterIdLst>
    <p:sldMasterId xmlns:r="http://schemas.openxmlformats.org/officeDocument/2006/relationships" id="2147483648" r:id="R383b9ab6c4674900"/>
    <p:sldMasterId xmlns:r="http://schemas.openxmlformats.org/officeDocument/2006/relationships" id="2147483650" r:id="R7a1cd0e881f94c7c"/>
    <p:sldMasterId xmlns:r="http://schemas.openxmlformats.org/officeDocument/2006/relationships" id="2147483652" r:id="R54f520bc2d164000"/>
    <p:sldMasterId xmlns:r="http://schemas.openxmlformats.org/officeDocument/2006/relationships" id="2147483654" r:id="R5de39a30c4cb40f7"/>
    <p:sldMasterId xmlns:r="http://schemas.openxmlformats.org/officeDocument/2006/relationships" id="2147483656" r:id="R623763f16a854bf8"/>
    <p:sldMasterId xmlns:r="http://schemas.openxmlformats.org/officeDocument/2006/relationships" id="2147483658" r:id="R43df0a388f374c03"/>
    <p:sldMasterId xmlns:r="http://schemas.openxmlformats.org/officeDocument/2006/relationships" id="2147483660" r:id="Ra29255700b584703"/>
    <p:sldMasterId xmlns:r="http://schemas.openxmlformats.org/officeDocument/2006/relationships" id="2147483662" r:id="R69ccf2d5dfbd4393"/>
    <p:sldMasterId xmlns:r="http://schemas.openxmlformats.org/officeDocument/2006/relationships" id="2147483664" r:id="R77027f2d5eff4c38"/>
    <p:sldMasterId xmlns:r="http://schemas.openxmlformats.org/officeDocument/2006/relationships" id="2147483666" r:id="Rce3447f88ff84e77"/>
    <p:sldMasterId xmlns:r="http://schemas.openxmlformats.org/officeDocument/2006/relationships" id="2147483668" r:id="Rc785630bb31d453e"/>
    <p:sldMasterId xmlns:r="http://schemas.openxmlformats.org/officeDocument/2006/relationships" id="2147483670" r:id="R6d4a8af816d842e1"/>
    <p:sldMasterId xmlns:r="http://schemas.openxmlformats.org/officeDocument/2006/relationships" id="2147483672" r:id="R32e1d7b6a1c84358"/>
    <p:sldMasterId xmlns:r="http://schemas.openxmlformats.org/officeDocument/2006/relationships" id="2147483674" r:id="R8019781958ae43c8"/>
    <p:sldMasterId xmlns:r="http://schemas.openxmlformats.org/officeDocument/2006/relationships" id="2147483676" r:id="R6cf0ba623790459c"/>
    <p:sldMasterId xmlns:r="http://schemas.openxmlformats.org/officeDocument/2006/relationships" id="2147483678" r:id="Ra7b1cc3c559a494b"/>
    <p:sldMasterId xmlns:r="http://schemas.openxmlformats.org/officeDocument/2006/relationships" id="2147483680" r:id="R89a36b42d6d84c0d"/>
    <p:sldMasterId xmlns:r="http://schemas.openxmlformats.org/officeDocument/2006/relationships" id="2147483682" r:id="R03d2a49c98084482"/>
    <p:sldMasterId xmlns:r="http://schemas.openxmlformats.org/officeDocument/2006/relationships" id="2147483684" r:id="R9597f18439db4d24"/>
    <p:sldMasterId xmlns:r="http://schemas.openxmlformats.org/officeDocument/2006/relationships" id="2147483686" r:id="Rffc322cb103042bf"/>
    <p:sldMasterId xmlns:r="http://schemas.openxmlformats.org/officeDocument/2006/relationships" id="2147483688" r:id="R1a57c263ca774e50"/>
    <p:sldMasterId xmlns:r="http://schemas.openxmlformats.org/officeDocument/2006/relationships" id="2147483690" r:id="Rbd53849a1c034e4b"/>
    <p:sldMasterId xmlns:r="http://schemas.openxmlformats.org/officeDocument/2006/relationships" id="2147483692" r:id="Rf8db8ecd5ac5460b"/>
    <p:sldMasterId xmlns:r="http://schemas.openxmlformats.org/officeDocument/2006/relationships" id="2147483694" r:id="R5e066333e2f2428d"/>
    <p:sldMasterId xmlns:r="http://schemas.openxmlformats.org/officeDocument/2006/relationships" id="2147483696" r:id="R5e87a970626643ec"/>
    <p:sldMasterId xmlns:r="http://schemas.openxmlformats.org/officeDocument/2006/relationships" id="2147483698" r:id="Rcf23ec708c1a45a7"/>
    <p:sldMasterId xmlns:r="http://schemas.openxmlformats.org/officeDocument/2006/relationships" id="2147483700" r:id="R12fbc0c58361468a"/>
    <p:sldMasterId xmlns:r="http://schemas.openxmlformats.org/officeDocument/2006/relationships" id="2147483702" r:id="R9ebb5ca7d7e049e9"/>
    <p:sldMasterId xmlns:r="http://schemas.openxmlformats.org/officeDocument/2006/relationships" id="2147483704" r:id="R255283b6f51a41ea"/>
    <p:sldMasterId xmlns:r="http://schemas.openxmlformats.org/officeDocument/2006/relationships" id="2147483706" r:id="R7e404762851c44ec"/>
    <p:sldMasterId xmlns:r="http://schemas.openxmlformats.org/officeDocument/2006/relationships" id="2147483708" r:id="R65a2d535b1cf492b"/>
    <p:sldMasterId xmlns:r="http://schemas.openxmlformats.org/officeDocument/2006/relationships" id="2147483710" r:id="Rcdf63e582ba74808"/>
    <p:sldMasterId xmlns:r="http://schemas.openxmlformats.org/officeDocument/2006/relationships" id="2147483712" r:id="R428c6219f2944ebb"/>
    <p:sldMasterId xmlns:r="http://schemas.openxmlformats.org/officeDocument/2006/relationships" id="2147483714" r:id="R2cada75fae9d40cc"/>
    <p:sldMasterId xmlns:r="http://schemas.openxmlformats.org/officeDocument/2006/relationships" id="2147483716" r:id="Rf3c15b4ffd7c40b6"/>
  </p:sldMasterIdLst>
  <p:notesMasterIdLst>
    <p:notesMasterId xmlns:r="http://schemas.openxmlformats.org/officeDocument/2006/relationships" r:id="Rcd1e3d22d2964c0d"/>
  </p:notesMasterIdLst>
  <p:sldIdLst>
    <p:sldId xmlns:r="http://schemas.openxmlformats.org/officeDocument/2006/relationships" id="256" r:id="R5914a8e26256410c"/>
    <p:sldId xmlns:r="http://schemas.openxmlformats.org/officeDocument/2006/relationships" id="257" r:id="Rc504c3477c774bac"/>
    <p:sldId xmlns:r="http://schemas.openxmlformats.org/officeDocument/2006/relationships" id="258" r:id="R94a78f35cec74a0c"/>
    <p:sldId xmlns:r="http://schemas.openxmlformats.org/officeDocument/2006/relationships" id="259" r:id="R6f34bd96e9fb4878"/>
    <p:sldId xmlns:r="http://schemas.openxmlformats.org/officeDocument/2006/relationships" id="260" r:id="Ra9b6b73880e744fc"/>
    <p:sldId xmlns:r="http://schemas.openxmlformats.org/officeDocument/2006/relationships" id="261" r:id="R3cd1d19aae3344c3"/>
    <p:sldId xmlns:r="http://schemas.openxmlformats.org/officeDocument/2006/relationships" id="262" r:id="Rc18680283b3744ee"/>
    <p:sldId xmlns:r="http://schemas.openxmlformats.org/officeDocument/2006/relationships" id="263" r:id="R592eb1a70c814e4c"/>
    <p:sldId xmlns:r="http://schemas.openxmlformats.org/officeDocument/2006/relationships" id="264" r:id="R9a29da3fbe374f8c"/>
    <p:sldId xmlns:r="http://schemas.openxmlformats.org/officeDocument/2006/relationships" id="265" r:id="Rbce7b952b8d64344"/>
    <p:sldId xmlns:r="http://schemas.openxmlformats.org/officeDocument/2006/relationships" id="266" r:id="R5e8d144bd01d4e1e"/>
    <p:sldId xmlns:r="http://schemas.openxmlformats.org/officeDocument/2006/relationships" id="267" r:id="R1e52c78f515f43c6"/>
    <p:sldId xmlns:r="http://schemas.openxmlformats.org/officeDocument/2006/relationships" id="268" r:id="R2c4d4d933aef416c"/>
    <p:sldId xmlns:r="http://schemas.openxmlformats.org/officeDocument/2006/relationships" id="269" r:id="Rf38e9de0512348a0"/>
    <p:sldId xmlns:r="http://schemas.openxmlformats.org/officeDocument/2006/relationships" id="270" r:id="R34a7a2159a624121"/>
    <p:sldId xmlns:r="http://schemas.openxmlformats.org/officeDocument/2006/relationships" id="271" r:id="R315c8e7387a94345"/>
    <p:sldId xmlns:r="http://schemas.openxmlformats.org/officeDocument/2006/relationships" id="272" r:id="R968c10dd859c4f45"/>
    <p:sldId xmlns:r="http://schemas.openxmlformats.org/officeDocument/2006/relationships" id="273" r:id="R8e60fc24eb8b4c1f"/>
    <p:sldId xmlns:r="http://schemas.openxmlformats.org/officeDocument/2006/relationships" id="274" r:id="R40a5d523961746db"/>
    <p:sldId xmlns:r="http://schemas.openxmlformats.org/officeDocument/2006/relationships" id="275" r:id="R2d4f93139e3c4a10"/>
    <p:sldId xmlns:r="http://schemas.openxmlformats.org/officeDocument/2006/relationships" id="276" r:id="R9953fdddfb294c23"/>
    <p:sldId xmlns:r="http://schemas.openxmlformats.org/officeDocument/2006/relationships" id="277" r:id="R8300799075f44138"/>
    <p:sldId xmlns:r="http://schemas.openxmlformats.org/officeDocument/2006/relationships" id="278" r:id="R9c9c26d32e5e4307"/>
    <p:sldId xmlns:r="http://schemas.openxmlformats.org/officeDocument/2006/relationships" id="279" r:id="Rac870bbeacfd47b5"/>
    <p:sldId xmlns:r="http://schemas.openxmlformats.org/officeDocument/2006/relationships" id="280" r:id="R7ec78f8309324547"/>
    <p:sldId xmlns:r="http://schemas.openxmlformats.org/officeDocument/2006/relationships" id="281" r:id="R5d8751bcea534d1a"/>
    <p:sldId xmlns:r="http://schemas.openxmlformats.org/officeDocument/2006/relationships" id="282" r:id="R696f25e516e54a36"/>
    <p:sldId xmlns:r="http://schemas.openxmlformats.org/officeDocument/2006/relationships" id="283" r:id="R4906d1a6536949c0"/>
    <p:sldId xmlns:r="http://schemas.openxmlformats.org/officeDocument/2006/relationships" id="284" r:id="R1160755b11ab446a"/>
    <p:sldId xmlns:r="http://schemas.openxmlformats.org/officeDocument/2006/relationships" id="285" r:id="Re7f942482c824a9e"/>
    <p:sldId xmlns:r="http://schemas.openxmlformats.org/officeDocument/2006/relationships" id="286" r:id="R38a564d5c22d4da0"/>
    <p:sldId xmlns:r="http://schemas.openxmlformats.org/officeDocument/2006/relationships" id="287" r:id="Re2600c3998034691"/>
    <p:sldId xmlns:r="http://schemas.openxmlformats.org/officeDocument/2006/relationships" id="288" r:id="R8661e18486e64980"/>
    <p:sldId xmlns:r="http://schemas.openxmlformats.org/officeDocument/2006/relationships" id="289" r:id="Rfdb732e67b9a4d09"/>
    <p:sldId xmlns:r="http://schemas.openxmlformats.org/officeDocument/2006/relationships" id="290" r:id="Rd91f8ce3dffe4b0a"/>
    <p:sldId xmlns:r="http://schemas.openxmlformats.org/officeDocument/2006/relationships" id="291" r:id="Raae0e03fb759495a"/>
    <p:sldId xmlns:r="http://schemas.openxmlformats.org/officeDocument/2006/relationships" id="292" r:id="R1bd92131216145dd"/>
    <p:sldId xmlns:r="http://schemas.openxmlformats.org/officeDocument/2006/relationships" id="293" r:id="Rd26ef369daa245c7"/>
    <p:sldId xmlns:r="http://schemas.openxmlformats.org/officeDocument/2006/relationships" id="294" r:id="R003c668854424fd3"/>
    <p:sldId xmlns:r="http://schemas.openxmlformats.org/officeDocument/2006/relationships" id="295" r:id="Rcda25adabfb04efb"/>
    <p:sldId xmlns:r="http://schemas.openxmlformats.org/officeDocument/2006/relationships" id="296" r:id="Rd8b820b121ea4622"/>
    <p:sldId xmlns:r="http://schemas.openxmlformats.org/officeDocument/2006/relationships" id="297" r:id="R26d62df451fe4b36"/>
    <p:sldId xmlns:r="http://schemas.openxmlformats.org/officeDocument/2006/relationships" id="298" r:id="Rd2483b5a8892477d"/>
    <p:sldId xmlns:r="http://schemas.openxmlformats.org/officeDocument/2006/relationships" id="299" r:id="R28fd38df613d4b50"/>
    <p:sldId xmlns:r="http://schemas.openxmlformats.org/officeDocument/2006/relationships" id="300" r:id="Rd4fa5265bbcd434e"/>
    <p:sldId xmlns:r="http://schemas.openxmlformats.org/officeDocument/2006/relationships" id="301" r:id="R77d5b23ac30142a6"/>
    <p:sldId xmlns:r="http://schemas.openxmlformats.org/officeDocument/2006/relationships" id="302" r:id="R98c7cc251ab1408f"/>
    <p:sldId xmlns:r="http://schemas.openxmlformats.org/officeDocument/2006/relationships" id="303" r:id="Rc9b34d7ad7a84e90"/>
    <p:sldId xmlns:r="http://schemas.openxmlformats.org/officeDocument/2006/relationships" id="304" r:id="R0a719ac5d6cc4efd"/>
    <p:sldId xmlns:r="http://schemas.openxmlformats.org/officeDocument/2006/relationships" id="305" r:id="Rb54f16acfdea450b"/>
    <p:sldId xmlns:r="http://schemas.openxmlformats.org/officeDocument/2006/relationships" id="306" r:id="Rcfcc8db1f44c423a"/>
    <p:sldId xmlns:r="http://schemas.openxmlformats.org/officeDocument/2006/relationships" id="307" r:id="R8dc3f99b893e4457"/>
    <p:sldId xmlns:r="http://schemas.openxmlformats.org/officeDocument/2006/relationships" id="308" r:id="Ra9957c0174314eac"/>
    <p:sldId xmlns:r="http://schemas.openxmlformats.org/officeDocument/2006/relationships" id="309" r:id="R6e3d3a23101c47bf"/>
    <p:sldId xmlns:r="http://schemas.openxmlformats.org/officeDocument/2006/relationships" id="310" r:id="Rb3fde933e8434bce"/>
    <p:sldId xmlns:r="http://schemas.openxmlformats.org/officeDocument/2006/relationships" id="311" r:id="R6cf3882669064dfb"/>
    <p:sldId xmlns:r="http://schemas.openxmlformats.org/officeDocument/2006/relationships" id="312" r:id="R67a2f57157f24935"/>
    <p:sldId xmlns:r="http://schemas.openxmlformats.org/officeDocument/2006/relationships" id="313" r:id="R74cc83c767e3487f"/>
    <p:sldId xmlns:r="http://schemas.openxmlformats.org/officeDocument/2006/relationships" id="314" r:id="Rd4539c0e92fb4fa0"/>
    <p:sldId xmlns:r="http://schemas.openxmlformats.org/officeDocument/2006/relationships" id="315" r:id="R845428e15a5a46bf"/>
    <p:sldId xmlns:r="http://schemas.openxmlformats.org/officeDocument/2006/relationships" id="316" r:id="R25565254106948ba"/>
    <p:sldId xmlns:r="http://schemas.openxmlformats.org/officeDocument/2006/relationships" id="317" r:id="R5c04b83cf6ce45e2"/>
    <p:sldId xmlns:r="http://schemas.openxmlformats.org/officeDocument/2006/relationships" id="318" r:id="R9f7955bfb68f4a0a"/>
    <p:sldId xmlns:r="http://schemas.openxmlformats.org/officeDocument/2006/relationships" id="319" r:id="Rea057935f4974056"/>
    <p:sldId xmlns:r="http://schemas.openxmlformats.org/officeDocument/2006/relationships" id="320" r:id="R9be69832f5a843ef"/>
    <p:sldId xmlns:r="http://schemas.openxmlformats.org/officeDocument/2006/relationships" id="321" r:id="R9571abc1f1ca4a19"/>
    <p:sldId xmlns:r="http://schemas.openxmlformats.org/officeDocument/2006/relationships" id="322" r:id="R27bc1101f25a4020"/>
    <p:sldId xmlns:r="http://schemas.openxmlformats.org/officeDocument/2006/relationships" id="323" r:id="Re64aeae14fcc4f96"/>
    <p:sldId xmlns:r="http://schemas.openxmlformats.org/officeDocument/2006/relationships" id="324" r:id="Re6f5cf9a2a454a5b"/>
    <p:sldId xmlns:r="http://schemas.openxmlformats.org/officeDocument/2006/relationships" id="325" r:id="Ra95346c0b156467f"/>
    <p:sldId xmlns:r="http://schemas.openxmlformats.org/officeDocument/2006/relationships" id="326" r:id="Rfccb696d6ce946bc"/>
    <p:sldId xmlns:r="http://schemas.openxmlformats.org/officeDocument/2006/relationships" id="327" r:id="Rbad1e7b5ceb640a3"/>
    <p:sldId xmlns:r="http://schemas.openxmlformats.org/officeDocument/2006/relationships" id="328" r:id="R11d48651e27d4d95"/>
    <p:sldId xmlns:r="http://schemas.openxmlformats.org/officeDocument/2006/relationships" id="329" r:id="R446e4588cd594b9f"/>
    <p:sldId xmlns:r="http://schemas.openxmlformats.org/officeDocument/2006/relationships" id="330" r:id="Raeac4faf84364e1a"/>
    <p:sldId xmlns:r="http://schemas.openxmlformats.org/officeDocument/2006/relationships" id="331" r:id="R88af40959fd64b3e"/>
    <p:sldId xmlns:r="http://schemas.openxmlformats.org/officeDocument/2006/relationships" id="332" r:id="R7ad46c1f9c53479b"/>
    <p:sldId xmlns:r="http://schemas.openxmlformats.org/officeDocument/2006/relationships" id="333" r:id="Rb30bdde8538e49ef"/>
    <p:sldId xmlns:r="http://schemas.openxmlformats.org/officeDocument/2006/relationships" id="334" r:id="R1ac54e58e44b44a4"/>
    <p:sldId xmlns:r="http://schemas.openxmlformats.org/officeDocument/2006/relationships" id="335" r:id="R5ca3276bfb98474a"/>
    <p:sldId xmlns:r="http://schemas.openxmlformats.org/officeDocument/2006/relationships" id="336" r:id="R112be0eccd0144a9"/>
    <p:sldId xmlns:r="http://schemas.openxmlformats.org/officeDocument/2006/relationships" id="337" r:id="Red552bbb48f149f5"/>
    <p:sldId xmlns:r="http://schemas.openxmlformats.org/officeDocument/2006/relationships" id="338" r:id="R31dba8b8a8064c69"/>
    <p:sldId xmlns:r="http://schemas.openxmlformats.org/officeDocument/2006/relationships" id="339" r:id="R452f833d6c924860"/>
    <p:sldId xmlns:r="http://schemas.openxmlformats.org/officeDocument/2006/relationships" id="340" r:id="R244b11e07fe34e68"/>
    <p:sldId xmlns:r="http://schemas.openxmlformats.org/officeDocument/2006/relationships" id="341" r:id="R992c1a5a92c64902"/>
    <p:sldId xmlns:r="http://schemas.openxmlformats.org/officeDocument/2006/relationships" id="342" r:id="R87213daab0d4465f"/>
    <p:sldId xmlns:r="http://schemas.openxmlformats.org/officeDocument/2006/relationships" id="343" r:id="Rb71895569f3a4a70"/>
    <p:sldId xmlns:r="http://schemas.openxmlformats.org/officeDocument/2006/relationships" id="344" r:id="Ra800a79a815641b5"/>
    <p:sldId xmlns:r="http://schemas.openxmlformats.org/officeDocument/2006/relationships" id="345" r:id="R3ee10c2fd0de4fcc"/>
    <p:sldId xmlns:r="http://schemas.openxmlformats.org/officeDocument/2006/relationships" id="346" r:id="R4057f8be3bdf40c9"/>
    <p:sldId xmlns:r="http://schemas.openxmlformats.org/officeDocument/2006/relationships" id="347" r:id="R6676eddf9e8947d5"/>
    <p:sldId xmlns:r="http://schemas.openxmlformats.org/officeDocument/2006/relationships" id="348" r:id="R32e28029585c4704"/>
    <p:sldId xmlns:r="http://schemas.openxmlformats.org/officeDocument/2006/relationships" id="349" r:id="Rfa1d56e49deb47a7"/>
    <p:sldId xmlns:r="http://schemas.openxmlformats.org/officeDocument/2006/relationships" id="350" r:id="Re9c7ab0881534dfe"/>
    <p:sldId xmlns:r="http://schemas.openxmlformats.org/officeDocument/2006/relationships" id="351" r:id="R0c383e40afc9444b"/>
    <p:sldId xmlns:r="http://schemas.openxmlformats.org/officeDocument/2006/relationships" id="352" r:id="R7085a6bae20d444d"/>
    <p:sldId xmlns:r="http://schemas.openxmlformats.org/officeDocument/2006/relationships" id="353" r:id="R97c1c9ca3a0a4392"/>
    <p:sldId xmlns:r="http://schemas.openxmlformats.org/officeDocument/2006/relationships" id="354" r:id="Rd7aef77d94a64621"/>
    <p:sldId xmlns:r="http://schemas.openxmlformats.org/officeDocument/2006/relationships" id="355" r:id="R6296ada0e83b4a63"/>
    <p:sldId xmlns:r="http://schemas.openxmlformats.org/officeDocument/2006/relationships" id="356" r:id="R873f6bb35dfb41f6"/>
    <p:sldId xmlns:r="http://schemas.openxmlformats.org/officeDocument/2006/relationships" id="357" r:id="Rfcf845d873884133"/>
    <p:sldId xmlns:r="http://schemas.openxmlformats.org/officeDocument/2006/relationships" id="358" r:id="R91b2f92064314466"/>
    <p:sldId xmlns:r="http://schemas.openxmlformats.org/officeDocument/2006/relationships" id="359" r:id="R854ac06e8f104562"/>
    <p:sldId xmlns:r="http://schemas.openxmlformats.org/officeDocument/2006/relationships" id="360" r:id="R2371bc2480c04f2f"/>
    <p:sldId xmlns:r="http://schemas.openxmlformats.org/officeDocument/2006/relationships" id="361" r:id="Rdd2cc50ed28141cd"/>
    <p:sldId xmlns:r="http://schemas.openxmlformats.org/officeDocument/2006/relationships" id="362" r:id="Re805c94db9054efe"/>
    <p:sldId xmlns:r="http://schemas.openxmlformats.org/officeDocument/2006/relationships" id="363" r:id="R1ca10c33148b4f99"/>
    <p:sldId xmlns:r="http://schemas.openxmlformats.org/officeDocument/2006/relationships" id="364" r:id="R4cb7ba0d37a24047"/>
    <p:sldId xmlns:r="http://schemas.openxmlformats.org/officeDocument/2006/relationships" id="365" r:id="R43e1769bff42484b"/>
    <p:sldId xmlns:r="http://schemas.openxmlformats.org/officeDocument/2006/relationships" id="366" r:id="R7e78bcc0cc2c44d0"/>
    <p:sldId xmlns:r="http://schemas.openxmlformats.org/officeDocument/2006/relationships" id="367" r:id="R757bb8a88ab44e85"/>
    <p:sldId xmlns:r="http://schemas.openxmlformats.org/officeDocument/2006/relationships" id="368" r:id="Rbe29424556fc4385"/>
    <p:sldId xmlns:r="http://schemas.openxmlformats.org/officeDocument/2006/relationships" id="369" r:id="Ree83c85dbb2b40be"/>
    <p:sldId xmlns:r="http://schemas.openxmlformats.org/officeDocument/2006/relationships" id="370" r:id="Rc87ba6e15a2b41e4"/>
    <p:sldId xmlns:r="http://schemas.openxmlformats.org/officeDocument/2006/relationships" id="371" r:id="R10fa0d9461b64674"/>
    <p:sldId xmlns:r="http://schemas.openxmlformats.org/officeDocument/2006/relationships" id="372" r:id="R9bcaeee3adb24424"/>
    <p:sldId xmlns:r="http://schemas.openxmlformats.org/officeDocument/2006/relationships" id="373" r:id="R20b74b811e9942b2"/>
    <p:sldId xmlns:r="http://schemas.openxmlformats.org/officeDocument/2006/relationships" id="374" r:id="Rb73bdaed9dd34660"/>
    <p:sldId xmlns:r="http://schemas.openxmlformats.org/officeDocument/2006/relationships" id="375" r:id="Re5ddab35277f4054"/>
    <p:sldId xmlns:r="http://schemas.openxmlformats.org/officeDocument/2006/relationships" id="376" r:id="R09b5b00ef1dd4413"/>
    <p:sldId xmlns:r="http://schemas.openxmlformats.org/officeDocument/2006/relationships" id="377" r:id="Rede51bb989244add"/>
    <p:sldId xmlns:r="http://schemas.openxmlformats.org/officeDocument/2006/relationships" id="378" r:id="R6ced1b51e1134f22"/>
    <p:sldId xmlns:r="http://schemas.openxmlformats.org/officeDocument/2006/relationships" id="379" r:id="R0247b260c1544398"/>
    <p:sldId xmlns:r="http://schemas.openxmlformats.org/officeDocument/2006/relationships" id="380" r:id="R3bf06cd8c3094391"/>
    <p:sldId xmlns:r="http://schemas.openxmlformats.org/officeDocument/2006/relationships" id="381" r:id="R71c2d07c98bb4d6b"/>
    <p:sldId xmlns:r="http://schemas.openxmlformats.org/officeDocument/2006/relationships" id="382" r:id="R6c807b73b87f41cb"/>
    <p:sldId xmlns:r="http://schemas.openxmlformats.org/officeDocument/2006/relationships" id="383" r:id="R028c48fa7fab4cd2"/>
    <p:sldId xmlns:r="http://schemas.openxmlformats.org/officeDocument/2006/relationships" id="384" r:id="R8090ff9739834a36"/>
    <p:sldId xmlns:r="http://schemas.openxmlformats.org/officeDocument/2006/relationships" id="385" r:id="R7f6985b4e12f48ef"/>
    <p:sldId xmlns:r="http://schemas.openxmlformats.org/officeDocument/2006/relationships" id="386" r:id="Rc7d54e94cf3543fb"/>
    <p:sldId xmlns:r="http://schemas.openxmlformats.org/officeDocument/2006/relationships" id="387" r:id="Rcdfb2b255d5a4d1d"/>
    <p:sldId xmlns:r="http://schemas.openxmlformats.org/officeDocument/2006/relationships" id="388" r:id="Rf74efad33b6e4e51"/>
    <p:sldId xmlns:r="http://schemas.openxmlformats.org/officeDocument/2006/relationships" id="389" r:id="R21a7816f6c3b4c31"/>
    <p:sldId xmlns:r="http://schemas.openxmlformats.org/officeDocument/2006/relationships" id="390" r:id="Rf440bbf99d7c4a03"/>
    <p:sldId xmlns:r="http://schemas.openxmlformats.org/officeDocument/2006/relationships" id="391" r:id="R10d98318445e4f0f"/>
    <p:sldId xmlns:r="http://schemas.openxmlformats.org/officeDocument/2006/relationships" id="392" r:id="Rb66a1e084e014438"/>
    <p:sldId xmlns:r="http://schemas.openxmlformats.org/officeDocument/2006/relationships" id="393" r:id="R8ba71c2c8d214f46"/>
    <p:sldId xmlns:r="http://schemas.openxmlformats.org/officeDocument/2006/relationships" id="394" r:id="Rd1347a5a57624c9e"/>
    <p:sldId xmlns:r="http://schemas.openxmlformats.org/officeDocument/2006/relationships" id="395" r:id="Rfc9b54cafa904969"/>
    <p:sldId xmlns:r="http://schemas.openxmlformats.org/officeDocument/2006/relationships" id="396" r:id="R1e93077540844d5f"/>
    <p:sldId xmlns:r="http://schemas.openxmlformats.org/officeDocument/2006/relationships" id="397" r:id="R3c613cc850994349"/>
    <p:sldId xmlns:r="http://schemas.openxmlformats.org/officeDocument/2006/relationships" id="398" r:id="R4977913b65e5487a"/>
    <p:sldId xmlns:r="http://schemas.openxmlformats.org/officeDocument/2006/relationships" id="399" r:id="R231e910d8407456b"/>
    <p:sldId xmlns:r="http://schemas.openxmlformats.org/officeDocument/2006/relationships" id="400" r:id="R801f8cc993fe4862"/>
    <p:sldId xmlns:r="http://schemas.openxmlformats.org/officeDocument/2006/relationships" id="401" r:id="R4d44dba48eca4914"/>
    <p:sldId xmlns:r="http://schemas.openxmlformats.org/officeDocument/2006/relationships" id="402" r:id="Rfc70e97d65344133"/>
    <p:sldId xmlns:r="http://schemas.openxmlformats.org/officeDocument/2006/relationships" id="403" r:id="R6225787d31e5422a"/>
    <p:sldId xmlns:r="http://schemas.openxmlformats.org/officeDocument/2006/relationships" id="404" r:id="R6d9eb444e78c4152"/>
    <p:sldId xmlns:r="http://schemas.openxmlformats.org/officeDocument/2006/relationships" id="405" r:id="R01196fbd4f58475a"/>
    <p:sldId xmlns:r="http://schemas.openxmlformats.org/officeDocument/2006/relationships" id="406" r:id="R4b22d32e6b494fdd"/>
    <p:sldId xmlns:r="http://schemas.openxmlformats.org/officeDocument/2006/relationships" id="407" r:id="R35578ce948064942"/>
    <p:sldId xmlns:r="http://schemas.openxmlformats.org/officeDocument/2006/relationships" id="408" r:id="R4291fc1ecdc74d61"/>
    <p:sldId xmlns:r="http://schemas.openxmlformats.org/officeDocument/2006/relationships" id="409" r:id="Rc0e62b3bf0894704"/>
    <p:sldId xmlns:r="http://schemas.openxmlformats.org/officeDocument/2006/relationships" id="410" r:id="Rf14641a07bb14a62"/>
    <p:sldId xmlns:r="http://schemas.openxmlformats.org/officeDocument/2006/relationships" id="411" r:id="R8019c4dc12d74334"/>
    <p:sldId xmlns:r="http://schemas.openxmlformats.org/officeDocument/2006/relationships" id="412" r:id="Rfc9ae995c14f4afe"/>
    <p:sldId xmlns:r="http://schemas.openxmlformats.org/officeDocument/2006/relationships" id="413" r:id="R241ff2e2e7f74179"/>
    <p:sldId xmlns:r="http://schemas.openxmlformats.org/officeDocument/2006/relationships" id="414" r:id="Ra74e895fe64c4738"/>
    <p:sldId xmlns:r="http://schemas.openxmlformats.org/officeDocument/2006/relationships" id="415" r:id="Redec9502222e4d2c"/>
    <p:sldId xmlns:r="http://schemas.openxmlformats.org/officeDocument/2006/relationships" id="416" r:id="R98bd92ba27264e17"/>
    <p:sldId xmlns:r="http://schemas.openxmlformats.org/officeDocument/2006/relationships" id="417" r:id="R23168aa175e24c67"/>
    <p:sldId xmlns:r="http://schemas.openxmlformats.org/officeDocument/2006/relationships" id="418" r:id="R08b98cfc0423421b"/>
    <p:sldId xmlns:r="http://schemas.openxmlformats.org/officeDocument/2006/relationships" id="419" r:id="R0ad7a6e728864c02"/>
    <p:sldId xmlns:r="http://schemas.openxmlformats.org/officeDocument/2006/relationships" id="420" r:id="R3f7d0e10bda44fa9"/>
    <p:sldId xmlns:r="http://schemas.openxmlformats.org/officeDocument/2006/relationships" id="421" r:id="Rddbb5818cfe14346"/>
    <p:sldId xmlns:r="http://schemas.openxmlformats.org/officeDocument/2006/relationships" id="422" r:id="R7ebc9780f2574b94"/>
    <p:sldId xmlns:r="http://schemas.openxmlformats.org/officeDocument/2006/relationships" id="423" r:id="R578f01af3f494e54"/>
    <p:sldId xmlns:r="http://schemas.openxmlformats.org/officeDocument/2006/relationships" id="424" r:id="Rd150f418b9b54427"/>
    <p:sldId xmlns:r="http://schemas.openxmlformats.org/officeDocument/2006/relationships" id="425" r:id="R2b01be01ee9c4bd9"/>
    <p:sldId xmlns:r="http://schemas.openxmlformats.org/officeDocument/2006/relationships" id="426" r:id="R5762639adc934e08"/>
    <p:sldId xmlns:r="http://schemas.openxmlformats.org/officeDocument/2006/relationships" id="427" r:id="R3e56423ec6d747ae"/>
    <p:sldId xmlns:r="http://schemas.openxmlformats.org/officeDocument/2006/relationships" id="428" r:id="Rf4d453ab7e7e45bf"/>
    <p:sldId xmlns:r="http://schemas.openxmlformats.org/officeDocument/2006/relationships" id="429" r:id="R2a6dabd07e0b4580"/>
    <p:sldId xmlns:r="http://schemas.openxmlformats.org/officeDocument/2006/relationships" id="430" r:id="Rc7ab4632825b44ec"/>
    <p:sldId xmlns:r="http://schemas.openxmlformats.org/officeDocument/2006/relationships" id="431" r:id="Rc8939cb05bd54f7b"/>
    <p:sldId xmlns:r="http://schemas.openxmlformats.org/officeDocument/2006/relationships" id="432" r:id="R6d716ca48ce04051"/>
    <p:sldId xmlns:r="http://schemas.openxmlformats.org/officeDocument/2006/relationships" id="433" r:id="R818592db1aba4e41"/>
    <p:sldId xmlns:r="http://schemas.openxmlformats.org/officeDocument/2006/relationships" id="434" r:id="Rf1725913eb1147cd"/>
    <p:sldId xmlns:r="http://schemas.openxmlformats.org/officeDocument/2006/relationships" id="435" r:id="Rddbaac96b0344cfc"/>
    <p:sldId xmlns:r="http://schemas.openxmlformats.org/officeDocument/2006/relationships" id="436" r:id="R67d09969cce84b0f"/>
    <p:sldId xmlns:r="http://schemas.openxmlformats.org/officeDocument/2006/relationships" id="437" r:id="R25a122a4400c4a4b"/>
    <p:sldId xmlns:r="http://schemas.openxmlformats.org/officeDocument/2006/relationships" id="438" r:id="R0337530827dd4535"/>
    <p:sldId xmlns:r="http://schemas.openxmlformats.org/officeDocument/2006/relationships" id="439" r:id="R9c391c87fa86480f"/>
    <p:sldId xmlns:r="http://schemas.openxmlformats.org/officeDocument/2006/relationships" id="440" r:id="R33219028219b4371"/>
    <p:sldId xmlns:r="http://schemas.openxmlformats.org/officeDocument/2006/relationships" id="441" r:id="Rac1dd3746d9947a0"/>
    <p:sldId xmlns:r="http://schemas.openxmlformats.org/officeDocument/2006/relationships" id="442" r:id="Re614e8e0b0d644c9"/>
    <p:sldId xmlns:r="http://schemas.openxmlformats.org/officeDocument/2006/relationships" id="443" r:id="R330b59213c9b4eea"/>
    <p:sldId xmlns:r="http://schemas.openxmlformats.org/officeDocument/2006/relationships" id="444" r:id="R13920f79f81f47bd"/>
    <p:sldId xmlns:r="http://schemas.openxmlformats.org/officeDocument/2006/relationships" id="445" r:id="R162d3d2133c84ee2"/>
    <p:sldId xmlns:r="http://schemas.openxmlformats.org/officeDocument/2006/relationships" id="446" r:id="R4aefe563aac84804"/>
    <p:sldId xmlns:r="http://schemas.openxmlformats.org/officeDocument/2006/relationships" id="447" r:id="R15e5a4cd3fad4ca0"/>
    <p:sldId xmlns:r="http://schemas.openxmlformats.org/officeDocument/2006/relationships" id="448" r:id="Rac0b886750064a4a"/>
    <p:sldId xmlns:r="http://schemas.openxmlformats.org/officeDocument/2006/relationships" id="449" r:id="Rcb3fe1641b3e4ef1"/>
    <p:sldId xmlns:r="http://schemas.openxmlformats.org/officeDocument/2006/relationships" id="450" r:id="R44badc6fc3484cf4"/>
    <p:sldId xmlns:r="http://schemas.openxmlformats.org/officeDocument/2006/relationships" id="451" r:id="R08979b283693466a"/>
    <p:sldId xmlns:r="http://schemas.openxmlformats.org/officeDocument/2006/relationships" id="452" r:id="Rfa9c901fabc9492a"/>
    <p:sldId xmlns:r="http://schemas.openxmlformats.org/officeDocument/2006/relationships" id="453" r:id="R4e733086ed5b452d"/>
    <p:sldId xmlns:r="http://schemas.openxmlformats.org/officeDocument/2006/relationships" id="454" r:id="R67f252157e5e43d2"/>
    <p:sldId xmlns:r="http://schemas.openxmlformats.org/officeDocument/2006/relationships" id="455" r:id="R51d6a4deafb54485"/>
    <p:sldId xmlns:r="http://schemas.openxmlformats.org/officeDocument/2006/relationships" id="456" r:id="R068363cb8ded4397"/>
    <p:sldId xmlns:r="http://schemas.openxmlformats.org/officeDocument/2006/relationships" id="457" r:id="R37e921b1745245ff"/>
    <p:sldId xmlns:r="http://schemas.openxmlformats.org/officeDocument/2006/relationships" id="458" r:id="Rbfd9415091b84f50"/>
    <p:sldId xmlns:r="http://schemas.openxmlformats.org/officeDocument/2006/relationships" id="459" r:id="R1f879a48b68e4fed"/>
    <p:sldId xmlns:r="http://schemas.openxmlformats.org/officeDocument/2006/relationships" id="460" r:id="R7857a86880994914"/>
    <p:sldId xmlns:r="http://schemas.openxmlformats.org/officeDocument/2006/relationships" id="461" r:id="Rbb907d79c0604840"/>
    <p:sldId xmlns:r="http://schemas.openxmlformats.org/officeDocument/2006/relationships" id="462" r:id="Rc7e7eaea680c41b1"/>
    <p:sldId xmlns:r="http://schemas.openxmlformats.org/officeDocument/2006/relationships" id="463" r:id="R931f6bfdf6924ad4"/>
    <p:sldId xmlns:r="http://schemas.openxmlformats.org/officeDocument/2006/relationships" id="464" r:id="R47b0ea7f3cb74007"/>
    <p:sldId xmlns:r="http://schemas.openxmlformats.org/officeDocument/2006/relationships" id="465" r:id="Rb6bd2bda449a43b9"/>
    <p:sldId xmlns:r="http://schemas.openxmlformats.org/officeDocument/2006/relationships" id="466" r:id="Rf38062f809304bc2"/>
    <p:sldId xmlns:r="http://schemas.openxmlformats.org/officeDocument/2006/relationships" id="467" r:id="R7ee0db7dd131403c"/>
    <p:sldId xmlns:r="http://schemas.openxmlformats.org/officeDocument/2006/relationships" id="468" r:id="R126f4ebe23eb469c"/>
    <p:sldId xmlns:r="http://schemas.openxmlformats.org/officeDocument/2006/relationships" id="469" r:id="Rfa0410ff47804bee"/>
    <p:sldId xmlns:r="http://schemas.openxmlformats.org/officeDocument/2006/relationships" id="470" r:id="R36152596aa354063"/>
    <p:sldId xmlns:r="http://schemas.openxmlformats.org/officeDocument/2006/relationships" id="471" r:id="Rb6e9d33a952349ab"/>
    <p:sldId xmlns:r="http://schemas.openxmlformats.org/officeDocument/2006/relationships" id="472" r:id="R66fd57e8d01a4522"/>
    <p:sldId xmlns:r="http://schemas.openxmlformats.org/officeDocument/2006/relationships" id="473" r:id="R0f42f416b3a64194"/>
    <p:sldId xmlns:r="http://schemas.openxmlformats.org/officeDocument/2006/relationships" id="474" r:id="R584c57078f094d9e"/>
    <p:sldId xmlns:r="http://schemas.openxmlformats.org/officeDocument/2006/relationships" id="475" r:id="Rf54c5d749caf4754"/>
    <p:sldId xmlns:r="http://schemas.openxmlformats.org/officeDocument/2006/relationships" id="476" r:id="R79f6532c2a3e460a"/>
    <p:sldId xmlns:r="http://schemas.openxmlformats.org/officeDocument/2006/relationships" id="477" r:id="Rd926f08c92c647bd"/>
    <p:sldId xmlns:r="http://schemas.openxmlformats.org/officeDocument/2006/relationships" id="478" r:id="Rf078174ad6f04270"/>
    <p:sldId xmlns:r="http://schemas.openxmlformats.org/officeDocument/2006/relationships" id="479" r:id="Rca95314a2c0e4c83"/>
    <p:sldId xmlns:r="http://schemas.openxmlformats.org/officeDocument/2006/relationships" id="480" r:id="R8ca5fe6d6a2c40fd"/>
    <p:sldId xmlns:r="http://schemas.openxmlformats.org/officeDocument/2006/relationships" id="481" r:id="Re32b073fd5a546a7"/>
    <p:sldId xmlns:r="http://schemas.openxmlformats.org/officeDocument/2006/relationships" id="482" r:id="Reb3c20721f604846"/>
    <p:sldId xmlns:r="http://schemas.openxmlformats.org/officeDocument/2006/relationships" id="483" r:id="Rc9bdc87677864173"/>
    <p:sldId xmlns:r="http://schemas.openxmlformats.org/officeDocument/2006/relationships" id="484" r:id="Rab2f7bc2991f4767"/>
    <p:sldId xmlns:r="http://schemas.openxmlformats.org/officeDocument/2006/relationships" id="485" r:id="R2ddd354f86994355"/>
    <p:sldId xmlns:r="http://schemas.openxmlformats.org/officeDocument/2006/relationships" id="486" r:id="R9528bd9e85db4fa3"/>
    <p:sldId xmlns:r="http://schemas.openxmlformats.org/officeDocument/2006/relationships" id="487" r:id="R83310b69fe0743d7"/>
    <p:sldId xmlns:r="http://schemas.openxmlformats.org/officeDocument/2006/relationships" id="488" r:id="Re256e544a86e41a8"/>
    <p:sldId xmlns:r="http://schemas.openxmlformats.org/officeDocument/2006/relationships" id="489" r:id="Rf7e490d24a3b4d9f"/>
    <p:sldId xmlns:r="http://schemas.openxmlformats.org/officeDocument/2006/relationships" id="490" r:id="R9096b797c79c478e"/>
    <p:sldId xmlns:r="http://schemas.openxmlformats.org/officeDocument/2006/relationships" id="491" r:id="Rd7bd8864fff04a19"/>
    <p:sldId xmlns:r="http://schemas.openxmlformats.org/officeDocument/2006/relationships" id="492" r:id="Rb71ad1e0efb346b1"/>
    <p:sldId xmlns:r="http://schemas.openxmlformats.org/officeDocument/2006/relationships" id="493" r:id="Ra74864f10e134cbc"/>
    <p:sldId xmlns:r="http://schemas.openxmlformats.org/officeDocument/2006/relationships" id="494" r:id="R9b3cdf5702ec486c"/>
    <p:sldId xmlns:r="http://schemas.openxmlformats.org/officeDocument/2006/relationships" id="495" r:id="R9dbdd8954d81439f"/>
    <p:sldId xmlns:r="http://schemas.openxmlformats.org/officeDocument/2006/relationships" id="496" r:id="R0cfb6f1c67f44b2d"/>
    <p:sldId xmlns:r="http://schemas.openxmlformats.org/officeDocument/2006/relationships" id="497" r:id="R638055b44d49449c"/>
    <p:sldId xmlns:r="http://schemas.openxmlformats.org/officeDocument/2006/relationships" id="498" r:id="Rc19ad92b30c4422b"/>
    <p:sldId xmlns:r="http://schemas.openxmlformats.org/officeDocument/2006/relationships" id="499" r:id="Rf4b8f67b522c4330"/>
    <p:sldId xmlns:r="http://schemas.openxmlformats.org/officeDocument/2006/relationships" id="500" r:id="R2358293fb1b74b97"/>
    <p:sldId xmlns:r="http://schemas.openxmlformats.org/officeDocument/2006/relationships" id="501" r:id="Rc6754a8ed23f4a4b"/>
    <p:sldId xmlns:r="http://schemas.openxmlformats.org/officeDocument/2006/relationships" id="502" r:id="R0975a8c3b1984083"/>
    <p:sldId xmlns:r="http://schemas.openxmlformats.org/officeDocument/2006/relationships" id="503" r:id="R992164e09b5346b5"/>
    <p:sldId xmlns:r="http://schemas.openxmlformats.org/officeDocument/2006/relationships" id="504" r:id="Rebec26b328e8474c"/>
    <p:sldId xmlns:r="http://schemas.openxmlformats.org/officeDocument/2006/relationships" id="505" r:id="Rea5655952a1b4b71"/>
    <p:sldId xmlns:r="http://schemas.openxmlformats.org/officeDocument/2006/relationships" id="506" r:id="R6757cca6939f41bc"/>
    <p:sldId xmlns:r="http://schemas.openxmlformats.org/officeDocument/2006/relationships" id="507" r:id="R98d356935672406f"/>
    <p:sldId xmlns:r="http://schemas.openxmlformats.org/officeDocument/2006/relationships" id="508" r:id="R4313cc226de846aa"/>
    <p:sldId xmlns:r="http://schemas.openxmlformats.org/officeDocument/2006/relationships" id="509" r:id="Rcdd0f29ecdf24307"/>
    <p:sldId xmlns:r="http://schemas.openxmlformats.org/officeDocument/2006/relationships" id="510" r:id="R0c5f49e0a0154c34"/>
    <p:sldId xmlns:r="http://schemas.openxmlformats.org/officeDocument/2006/relationships" id="511" r:id="R04e43fcb42be4290"/>
    <p:sldId xmlns:r="http://schemas.openxmlformats.org/officeDocument/2006/relationships" id="512" r:id="Ra54b7023aecc476d"/>
    <p:sldId xmlns:r="http://schemas.openxmlformats.org/officeDocument/2006/relationships" id="513" r:id="R417b540e59cd47cc"/>
    <p:sldId xmlns:r="http://schemas.openxmlformats.org/officeDocument/2006/relationships" id="514" r:id="R9df97f8eea0b46bb"/>
    <p:sldId xmlns:r="http://schemas.openxmlformats.org/officeDocument/2006/relationships" id="515" r:id="Rea115723a2e6403d"/>
    <p:sldId xmlns:r="http://schemas.openxmlformats.org/officeDocument/2006/relationships" id="516" r:id="R58a1b3e50e4d4b50"/>
    <p:sldId xmlns:r="http://schemas.openxmlformats.org/officeDocument/2006/relationships" id="517" r:id="R4537ac4ef85f4aa1"/>
    <p:sldId xmlns:r="http://schemas.openxmlformats.org/officeDocument/2006/relationships" id="518" r:id="R32295a622d574650"/>
    <p:sldId xmlns:r="http://schemas.openxmlformats.org/officeDocument/2006/relationships" id="519" r:id="Rf3d0e8f70d0740ac"/>
    <p:sldId xmlns:r="http://schemas.openxmlformats.org/officeDocument/2006/relationships" id="520" r:id="Rd482f777f32a46af"/>
    <p:sldId xmlns:r="http://schemas.openxmlformats.org/officeDocument/2006/relationships" id="521" r:id="Rb3e18bea5aca41b5"/>
    <p:sldId xmlns:r="http://schemas.openxmlformats.org/officeDocument/2006/relationships" id="522" r:id="R36dd948e7b754fa9"/>
    <p:sldId xmlns:r="http://schemas.openxmlformats.org/officeDocument/2006/relationships" id="523" r:id="R21eca581698848f6"/>
    <p:sldId xmlns:r="http://schemas.openxmlformats.org/officeDocument/2006/relationships" id="524" r:id="Re07edbb8089d4ea0"/>
    <p:sldId xmlns:r="http://schemas.openxmlformats.org/officeDocument/2006/relationships" id="525" r:id="Rc5a95d98f5c3418d"/>
    <p:sldId xmlns:r="http://schemas.openxmlformats.org/officeDocument/2006/relationships" id="526" r:id="Rf16fe11614f14669"/>
    <p:sldId xmlns:r="http://schemas.openxmlformats.org/officeDocument/2006/relationships" id="527" r:id="Rd70175cfb8b34622"/>
    <p:sldId xmlns:r="http://schemas.openxmlformats.org/officeDocument/2006/relationships" id="528" r:id="Ra944bfab550c4d7a"/>
    <p:sldId xmlns:r="http://schemas.openxmlformats.org/officeDocument/2006/relationships" id="529" r:id="R6dabc07c374c4cc6"/>
    <p:sldId xmlns:r="http://schemas.openxmlformats.org/officeDocument/2006/relationships" id="530" r:id="R8f225167e94441d7"/>
    <p:sldId xmlns:r="http://schemas.openxmlformats.org/officeDocument/2006/relationships" id="531" r:id="R26ffcf0f388a4e9d"/>
    <p:sldId xmlns:r="http://schemas.openxmlformats.org/officeDocument/2006/relationships" id="532" r:id="R6f8cc3a5c8064383"/>
    <p:sldId xmlns:r="http://schemas.openxmlformats.org/officeDocument/2006/relationships" id="533" r:id="R80fae80a022d455d"/>
    <p:sldId xmlns:r="http://schemas.openxmlformats.org/officeDocument/2006/relationships" id="534" r:id="Ra69d8e62fb134672"/>
    <p:sldId xmlns:r="http://schemas.openxmlformats.org/officeDocument/2006/relationships" id="535" r:id="Rc112f479ea00440f"/>
    <p:sldId xmlns:r="http://schemas.openxmlformats.org/officeDocument/2006/relationships" id="536" r:id="R655aba4cf1154e9a"/>
    <p:sldId xmlns:r="http://schemas.openxmlformats.org/officeDocument/2006/relationships" id="537" r:id="R333897153302411b"/>
    <p:sldId xmlns:r="http://schemas.openxmlformats.org/officeDocument/2006/relationships" id="538" r:id="Rab2b320d5e704084"/>
    <p:sldId xmlns:r="http://schemas.openxmlformats.org/officeDocument/2006/relationships" id="539" r:id="R0f9d684b95ad4479"/>
    <p:sldId xmlns:r="http://schemas.openxmlformats.org/officeDocument/2006/relationships" id="540" r:id="R8ab85ba92f7f40b9"/>
    <p:sldId xmlns:r="http://schemas.openxmlformats.org/officeDocument/2006/relationships" id="541" r:id="R3b6182d6b7af4dc9"/>
    <p:sldId xmlns:r="http://schemas.openxmlformats.org/officeDocument/2006/relationships" id="542" r:id="R41cd9195ba234c17"/>
    <p:sldId xmlns:r="http://schemas.openxmlformats.org/officeDocument/2006/relationships" id="543" r:id="Reb02b1b3ad924f18"/>
    <p:sldId xmlns:r="http://schemas.openxmlformats.org/officeDocument/2006/relationships" id="544" r:id="Rdb46a5ba8fbd4c71"/>
    <p:sldId xmlns:r="http://schemas.openxmlformats.org/officeDocument/2006/relationships" id="545" r:id="R56495768089f4db0"/>
    <p:sldId xmlns:r="http://schemas.openxmlformats.org/officeDocument/2006/relationships" id="546" r:id="R23c91c0e48bc4fd8"/>
    <p:sldId xmlns:r="http://schemas.openxmlformats.org/officeDocument/2006/relationships" id="547" r:id="R7fe4eb592ce3494c"/>
    <p:sldId xmlns:r="http://schemas.openxmlformats.org/officeDocument/2006/relationships" id="548" r:id="R350805d44f634248"/>
    <p:sldId xmlns:r="http://schemas.openxmlformats.org/officeDocument/2006/relationships" id="549" r:id="R27563c059a824c34"/>
    <p:sldId xmlns:r="http://schemas.openxmlformats.org/officeDocument/2006/relationships" id="550" r:id="R5fd1b8540408455a"/>
    <p:sldId xmlns:r="http://schemas.openxmlformats.org/officeDocument/2006/relationships" id="551" r:id="Rfd2b59955cf043a6"/>
    <p:sldId xmlns:r="http://schemas.openxmlformats.org/officeDocument/2006/relationships" id="552" r:id="R975ac9dca1fb4ba1"/>
    <p:sldId xmlns:r="http://schemas.openxmlformats.org/officeDocument/2006/relationships" id="553" r:id="R7662b91f30ce4eed"/>
    <p:sldId xmlns:r="http://schemas.openxmlformats.org/officeDocument/2006/relationships" id="554" r:id="R8a2ec9cc38b84b67"/>
    <p:sldId xmlns:r="http://schemas.openxmlformats.org/officeDocument/2006/relationships" id="555" r:id="R81a8f4092d274272"/>
    <p:sldId xmlns:r="http://schemas.openxmlformats.org/officeDocument/2006/relationships" id="556" r:id="Rf8746416b41d491d"/>
    <p:sldId xmlns:r="http://schemas.openxmlformats.org/officeDocument/2006/relationships" id="557" r:id="R7ba52515d2a645df"/>
    <p:sldId xmlns:r="http://schemas.openxmlformats.org/officeDocument/2006/relationships" id="558" r:id="Rc4188733f6dc4355"/>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5ed260317dd40d3" /><Relationship Type="http://schemas.openxmlformats.org/officeDocument/2006/relationships/slideMaster" Target="/ppt/slideMasters/slideMaster1.xml" Id="R383b9ab6c4674900" /><Relationship Type="http://schemas.openxmlformats.org/officeDocument/2006/relationships/slideMaster" Target="/ppt/slideMasters/slideMaster2.xml" Id="R7a1cd0e881f94c7c" /><Relationship Type="http://schemas.openxmlformats.org/officeDocument/2006/relationships/slideMaster" Target="/ppt/slideMasters/slideMaster3.xml" Id="R54f520bc2d164000" /><Relationship Type="http://schemas.openxmlformats.org/officeDocument/2006/relationships/slideMaster" Target="/ppt/slideMasters/slideMaster4.xml" Id="R5de39a30c4cb40f7" /><Relationship Type="http://schemas.openxmlformats.org/officeDocument/2006/relationships/slideMaster" Target="/ppt/slideMasters/slideMaster5.xml" Id="R623763f16a854bf8" /><Relationship Type="http://schemas.openxmlformats.org/officeDocument/2006/relationships/slideMaster" Target="/ppt/slideMasters/slideMaster6.xml" Id="R43df0a388f374c03" /><Relationship Type="http://schemas.openxmlformats.org/officeDocument/2006/relationships/slideMaster" Target="/ppt/slideMasters/slideMaster7.xml" Id="Ra29255700b584703" /><Relationship Type="http://schemas.openxmlformats.org/officeDocument/2006/relationships/slideMaster" Target="/ppt/slideMasters/slideMaster8.xml" Id="R69ccf2d5dfbd4393" /><Relationship Type="http://schemas.openxmlformats.org/officeDocument/2006/relationships/slideMaster" Target="/ppt/slideMasters/slideMaster9.xml" Id="R77027f2d5eff4c38" /><Relationship Type="http://schemas.openxmlformats.org/officeDocument/2006/relationships/slideMaster" Target="/ppt/slideMasters/slideMaster10.xml" Id="Rce3447f88ff84e77" /><Relationship Type="http://schemas.openxmlformats.org/officeDocument/2006/relationships/slideMaster" Target="/ppt/slideMasters/slideMaster11.xml" Id="Rc785630bb31d453e" /><Relationship Type="http://schemas.openxmlformats.org/officeDocument/2006/relationships/slideMaster" Target="/ppt/slideMasters/slideMaster12.xml" Id="R6d4a8af816d842e1" /><Relationship Type="http://schemas.openxmlformats.org/officeDocument/2006/relationships/slideMaster" Target="/ppt/slideMasters/slideMaster13.xml" Id="R32e1d7b6a1c84358" /><Relationship Type="http://schemas.openxmlformats.org/officeDocument/2006/relationships/slideMaster" Target="/ppt/slideMasters/slideMaster14.xml" Id="R8019781958ae43c8" /><Relationship Type="http://schemas.openxmlformats.org/officeDocument/2006/relationships/slideMaster" Target="/ppt/slideMasters/slideMaster15.xml" Id="R6cf0ba623790459c" /><Relationship Type="http://schemas.openxmlformats.org/officeDocument/2006/relationships/slideMaster" Target="/ppt/slideMasters/slideMaster16.xml" Id="Ra7b1cc3c559a494b" /><Relationship Type="http://schemas.openxmlformats.org/officeDocument/2006/relationships/slideMaster" Target="/ppt/slideMasters/slideMaster17.xml" Id="R89a36b42d6d84c0d" /><Relationship Type="http://schemas.openxmlformats.org/officeDocument/2006/relationships/slideMaster" Target="/ppt/slideMasters/slideMaster18.xml" Id="R03d2a49c98084482" /><Relationship Type="http://schemas.openxmlformats.org/officeDocument/2006/relationships/slideMaster" Target="/ppt/slideMasters/slideMaster19.xml" Id="R9597f18439db4d24" /><Relationship Type="http://schemas.openxmlformats.org/officeDocument/2006/relationships/slideMaster" Target="/ppt/slideMasters/slideMaster20.xml" Id="Rffc322cb103042bf" /><Relationship Type="http://schemas.openxmlformats.org/officeDocument/2006/relationships/slideMaster" Target="/ppt/slideMasters/slideMaster21.xml" Id="R1a57c263ca774e50" /><Relationship Type="http://schemas.openxmlformats.org/officeDocument/2006/relationships/slideMaster" Target="/ppt/slideMasters/slideMaster22.xml" Id="Rbd53849a1c034e4b" /><Relationship Type="http://schemas.openxmlformats.org/officeDocument/2006/relationships/slideMaster" Target="/ppt/slideMasters/slideMaster23.xml" Id="Rf8db8ecd5ac5460b" /><Relationship Type="http://schemas.openxmlformats.org/officeDocument/2006/relationships/slideMaster" Target="/ppt/slideMasters/slideMaster24.xml" Id="R5e066333e2f2428d" /><Relationship Type="http://schemas.openxmlformats.org/officeDocument/2006/relationships/slideMaster" Target="/ppt/slideMasters/slideMaster25.xml" Id="R5e87a970626643ec" /><Relationship Type="http://schemas.openxmlformats.org/officeDocument/2006/relationships/slideMaster" Target="/ppt/slideMasters/slideMaster26.xml" Id="Rcf23ec708c1a45a7" /><Relationship Type="http://schemas.openxmlformats.org/officeDocument/2006/relationships/slideMaster" Target="/ppt/slideMasters/slideMaster27.xml" Id="R12fbc0c58361468a" /><Relationship Type="http://schemas.openxmlformats.org/officeDocument/2006/relationships/slideMaster" Target="/ppt/slideMasters/slideMaster28.xml" Id="R9ebb5ca7d7e049e9" /><Relationship Type="http://schemas.openxmlformats.org/officeDocument/2006/relationships/slideMaster" Target="/ppt/slideMasters/slideMaster29.xml" Id="R255283b6f51a41ea" /><Relationship Type="http://schemas.openxmlformats.org/officeDocument/2006/relationships/slideMaster" Target="/ppt/slideMasters/slideMaster30.xml" Id="R7e404762851c44ec" /><Relationship Type="http://schemas.openxmlformats.org/officeDocument/2006/relationships/slideMaster" Target="/ppt/slideMasters/slideMaster31.xml" Id="R65a2d535b1cf492b" /><Relationship Type="http://schemas.openxmlformats.org/officeDocument/2006/relationships/slideMaster" Target="/ppt/slideMasters/slideMaster32.xml" Id="Rcdf63e582ba74808" /><Relationship Type="http://schemas.openxmlformats.org/officeDocument/2006/relationships/slideMaster" Target="/ppt/slideMasters/slideMaster33.xml" Id="R428c6219f2944ebb" /><Relationship Type="http://schemas.openxmlformats.org/officeDocument/2006/relationships/slideMaster" Target="/ppt/slideMasters/slideMaster34.xml" Id="R2cada75fae9d40cc" /><Relationship Type="http://schemas.openxmlformats.org/officeDocument/2006/relationships/slideMaster" Target="/ppt/slideMasters/slideMaster35.xml" Id="Rf3c15b4ffd7c40b6" /><Relationship Type="http://schemas.openxmlformats.org/officeDocument/2006/relationships/notesMaster" Target="/ppt/notesMasters/notesMaster1.xml" Id="Rcd1e3d22d2964c0d" /><Relationship Type="http://schemas.openxmlformats.org/officeDocument/2006/relationships/presProps" Target="/ppt/presProps.xml" Id="Re62c4f12cf5a4317" /><Relationship Type="http://schemas.openxmlformats.org/officeDocument/2006/relationships/viewProps" Target="/ppt/viewProps.xml" Id="Rfdca56da8c1741f1" /><Relationship Type="http://schemas.openxmlformats.org/officeDocument/2006/relationships/tableStyles" Target="/ppt/tableStyles.xml" Id="R1d0d7e1570694928" /><Relationship Type="http://schemas.openxmlformats.org/officeDocument/2006/relationships/slide" Target="/ppt/slides/slide1.xml" Id="R5914a8e26256410c" /><Relationship Type="http://schemas.openxmlformats.org/officeDocument/2006/relationships/slide" Target="/ppt/slides/slide2.xml" Id="Rc504c3477c774bac" /><Relationship Type="http://schemas.openxmlformats.org/officeDocument/2006/relationships/slide" Target="/ppt/slides/slide3.xml" Id="R94a78f35cec74a0c" /><Relationship Type="http://schemas.openxmlformats.org/officeDocument/2006/relationships/slide" Target="/ppt/slides/slide4.xml" Id="R6f34bd96e9fb4878" /><Relationship Type="http://schemas.openxmlformats.org/officeDocument/2006/relationships/slide" Target="/ppt/slides/slide5.xml" Id="Ra9b6b73880e744fc" /><Relationship Type="http://schemas.openxmlformats.org/officeDocument/2006/relationships/slide" Target="/ppt/slides/slide6.xml" Id="R3cd1d19aae3344c3" /><Relationship Type="http://schemas.openxmlformats.org/officeDocument/2006/relationships/slide" Target="/ppt/slides/slide7.xml" Id="Rc18680283b3744ee" /><Relationship Type="http://schemas.openxmlformats.org/officeDocument/2006/relationships/slide" Target="/ppt/slides/slide8.xml" Id="R592eb1a70c814e4c" /><Relationship Type="http://schemas.openxmlformats.org/officeDocument/2006/relationships/slide" Target="/ppt/slides/slide9.xml" Id="R9a29da3fbe374f8c" /><Relationship Type="http://schemas.openxmlformats.org/officeDocument/2006/relationships/slide" Target="/ppt/slides/slide10.xml" Id="Rbce7b952b8d64344" /><Relationship Type="http://schemas.openxmlformats.org/officeDocument/2006/relationships/slide" Target="/ppt/slides/slide11.xml" Id="R5e8d144bd01d4e1e" /><Relationship Type="http://schemas.openxmlformats.org/officeDocument/2006/relationships/slide" Target="/ppt/slides/slide12.xml" Id="R1e52c78f515f43c6" /><Relationship Type="http://schemas.openxmlformats.org/officeDocument/2006/relationships/slide" Target="/ppt/slides/slide13.xml" Id="R2c4d4d933aef416c" /><Relationship Type="http://schemas.openxmlformats.org/officeDocument/2006/relationships/slide" Target="/ppt/slides/slide14.xml" Id="Rf38e9de0512348a0" /><Relationship Type="http://schemas.openxmlformats.org/officeDocument/2006/relationships/slide" Target="/ppt/slides/slide15.xml" Id="R34a7a2159a624121" /><Relationship Type="http://schemas.openxmlformats.org/officeDocument/2006/relationships/slide" Target="/ppt/slides/slide16.xml" Id="R315c8e7387a94345" /><Relationship Type="http://schemas.openxmlformats.org/officeDocument/2006/relationships/slide" Target="/ppt/slides/slide17.xml" Id="R968c10dd859c4f45" /><Relationship Type="http://schemas.openxmlformats.org/officeDocument/2006/relationships/slide" Target="/ppt/slides/slide18.xml" Id="R8e60fc24eb8b4c1f" /><Relationship Type="http://schemas.openxmlformats.org/officeDocument/2006/relationships/slide" Target="/ppt/slides/slide19.xml" Id="R40a5d523961746db" /><Relationship Type="http://schemas.openxmlformats.org/officeDocument/2006/relationships/slide" Target="/ppt/slides/slide20.xml" Id="R2d4f93139e3c4a10" /><Relationship Type="http://schemas.openxmlformats.org/officeDocument/2006/relationships/slide" Target="/ppt/slides/slide21.xml" Id="R9953fdddfb294c23" /><Relationship Type="http://schemas.openxmlformats.org/officeDocument/2006/relationships/slide" Target="/ppt/slides/slide22.xml" Id="R8300799075f44138" /><Relationship Type="http://schemas.openxmlformats.org/officeDocument/2006/relationships/slide" Target="/ppt/slides/slide23.xml" Id="R9c9c26d32e5e4307" /><Relationship Type="http://schemas.openxmlformats.org/officeDocument/2006/relationships/slide" Target="/ppt/slides/slide24.xml" Id="Rac870bbeacfd47b5" /><Relationship Type="http://schemas.openxmlformats.org/officeDocument/2006/relationships/slide" Target="/ppt/slides/slide25.xml" Id="R7ec78f8309324547" /><Relationship Type="http://schemas.openxmlformats.org/officeDocument/2006/relationships/slide" Target="/ppt/slides/slide26.xml" Id="R5d8751bcea534d1a" /><Relationship Type="http://schemas.openxmlformats.org/officeDocument/2006/relationships/slide" Target="/ppt/slides/slide27.xml" Id="R696f25e516e54a36" /><Relationship Type="http://schemas.openxmlformats.org/officeDocument/2006/relationships/slide" Target="/ppt/slides/slide28.xml" Id="R4906d1a6536949c0" /><Relationship Type="http://schemas.openxmlformats.org/officeDocument/2006/relationships/slide" Target="/ppt/slides/slide29.xml" Id="R1160755b11ab446a" /><Relationship Type="http://schemas.openxmlformats.org/officeDocument/2006/relationships/slide" Target="/ppt/slides/slide30.xml" Id="Re7f942482c824a9e" /><Relationship Type="http://schemas.openxmlformats.org/officeDocument/2006/relationships/slide" Target="/ppt/slides/slide31.xml" Id="R38a564d5c22d4da0" /><Relationship Type="http://schemas.openxmlformats.org/officeDocument/2006/relationships/slide" Target="/ppt/slides/slide32.xml" Id="Re2600c3998034691" /><Relationship Type="http://schemas.openxmlformats.org/officeDocument/2006/relationships/slide" Target="/ppt/slides/slide33.xml" Id="R8661e18486e64980" /><Relationship Type="http://schemas.openxmlformats.org/officeDocument/2006/relationships/slide" Target="/ppt/slides/slide34.xml" Id="Rfdb732e67b9a4d09" /><Relationship Type="http://schemas.openxmlformats.org/officeDocument/2006/relationships/slide" Target="/ppt/slides/slide35.xml" Id="Rd91f8ce3dffe4b0a" /><Relationship Type="http://schemas.openxmlformats.org/officeDocument/2006/relationships/slide" Target="/ppt/slides/slide36.xml" Id="Raae0e03fb759495a" /><Relationship Type="http://schemas.openxmlformats.org/officeDocument/2006/relationships/slide" Target="/ppt/slides/slide37.xml" Id="R1bd92131216145dd" /><Relationship Type="http://schemas.openxmlformats.org/officeDocument/2006/relationships/slide" Target="/ppt/slides/slide38.xml" Id="Rd26ef369daa245c7" /><Relationship Type="http://schemas.openxmlformats.org/officeDocument/2006/relationships/slide" Target="/ppt/slides/slide39.xml" Id="R003c668854424fd3" /><Relationship Type="http://schemas.openxmlformats.org/officeDocument/2006/relationships/slide" Target="/ppt/slides/slide40.xml" Id="Rcda25adabfb04efb" /><Relationship Type="http://schemas.openxmlformats.org/officeDocument/2006/relationships/slide" Target="/ppt/slides/slide41.xml" Id="Rd8b820b121ea4622" /><Relationship Type="http://schemas.openxmlformats.org/officeDocument/2006/relationships/slide" Target="/ppt/slides/slide42.xml" Id="R26d62df451fe4b36" /><Relationship Type="http://schemas.openxmlformats.org/officeDocument/2006/relationships/slide" Target="/ppt/slides/slide43.xml" Id="Rd2483b5a8892477d" /><Relationship Type="http://schemas.openxmlformats.org/officeDocument/2006/relationships/slide" Target="/ppt/slides/slide44.xml" Id="R28fd38df613d4b50" /><Relationship Type="http://schemas.openxmlformats.org/officeDocument/2006/relationships/slide" Target="/ppt/slides/slide45.xml" Id="Rd4fa5265bbcd434e" /><Relationship Type="http://schemas.openxmlformats.org/officeDocument/2006/relationships/slide" Target="/ppt/slides/slide46.xml" Id="R77d5b23ac30142a6" /><Relationship Type="http://schemas.openxmlformats.org/officeDocument/2006/relationships/slide" Target="/ppt/slides/slide47.xml" Id="R98c7cc251ab1408f" /><Relationship Type="http://schemas.openxmlformats.org/officeDocument/2006/relationships/slide" Target="/ppt/slides/slide48.xml" Id="Rc9b34d7ad7a84e90" /><Relationship Type="http://schemas.openxmlformats.org/officeDocument/2006/relationships/slide" Target="/ppt/slides/slide49.xml" Id="R0a719ac5d6cc4efd" /><Relationship Type="http://schemas.openxmlformats.org/officeDocument/2006/relationships/slide" Target="/ppt/slides/slide50.xml" Id="Rb54f16acfdea450b" /><Relationship Type="http://schemas.openxmlformats.org/officeDocument/2006/relationships/slide" Target="/ppt/slides/slide51.xml" Id="Rcfcc8db1f44c423a" /><Relationship Type="http://schemas.openxmlformats.org/officeDocument/2006/relationships/slide" Target="/ppt/slides/slide52.xml" Id="R8dc3f99b893e4457" /><Relationship Type="http://schemas.openxmlformats.org/officeDocument/2006/relationships/slide" Target="/ppt/slides/slide53.xml" Id="Ra9957c0174314eac" /><Relationship Type="http://schemas.openxmlformats.org/officeDocument/2006/relationships/slide" Target="/ppt/slides/slide54.xml" Id="R6e3d3a23101c47bf" /><Relationship Type="http://schemas.openxmlformats.org/officeDocument/2006/relationships/slide" Target="/ppt/slides/slide55.xml" Id="Rb3fde933e8434bce" /><Relationship Type="http://schemas.openxmlformats.org/officeDocument/2006/relationships/slide" Target="/ppt/slides/slide56.xml" Id="R6cf3882669064dfb" /><Relationship Type="http://schemas.openxmlformats.org/officeDocument/2006/relationships/slide" Target="/ppt/slides/slide57.xml" Id="R67a2f57157f24935" /><Relationship Type="http://schemas.openxmlformats.org/officeDocument/2006/relationships/slide" Target="/ppt/slides/slide58.xml" Id="R74cc83c767e3487f" /><Relationship Type="http://schemas.openxmlformats.org/officeDocument/2006/relationships/slide" Target="/ppt/slides/slide59.xml" Id="Rd4539c0e92fb4fa0" /><Relationship Type="http://schemas.openxmlformats.org/officeDocument/2006/relationships/slide" Target="/ppt/slides/slide60.xml" Id="R845428e15a5a46bf" /><Relationship Type="http://schemas.openxmlformats.org/officeDocument/2006/relationships/slide" Target="/ppt/slides/slide61.xml" Id="R25565254106948ba" /><Relationship Type="http://schemas.openxmlformats.org/officeDocument/2006/relationships/slide" Target="/ppt/slides/slide62.xml" Id="R5c04b83cf6ce45e2" /><Relationship Type="http://schemas.openxmlformats.org/officeDocument/2006/relationships/slide" Target="/ppt/slides/slide63.xml" Id="R9f7955bfb68f4a0a" /><Relationship Type="http://schemas.openxmlformats.org/officeDocument/2006/relationships/slide" Target="/ppt/slides/slide64.xml" Id="Rea057935f4974056" /><Relationship Type="http://schemas.openxmlformats.org/officeDocument/2006/relationships/slide" Target="/ppt/slides/slide65.xml" Id="R9be69832f5a843ef" /><Relationship Type="http://schemas.openxmlformats.org/officeDocument/2006/relationships/slide" Target="/ppt/slides/slide66.xml" Id="R9571abc1f1ca4a19" /><Relationship Type="http://schemas.openxmlformats.org/officeDocument/2006/relationships/slide" Target="/ppt/slides/slide67.xml" Id="R27bc1101f25a4020" /><Relationship Type="http://schemas.openxmlformats.org/officeDocument/2006/relationships/slide" Target="/ppt/slides/slide68.xml" Id="Re64aeae14fcc4f96" /><Relationship Type="http://schemas.openxmlformats.org/officeDocument/2006/relationships/slide" Target="/ppt/slides/slide69.xml" Id="Re6f5cf9a2a454a5b" /><Relationship Type="http://schemas.openxmlformats.org/officeDocument/2006/relationships/slide" Target="/ppt/slides/slide70.xml" Id="Ra95346c0b156467f" /><Relationship Type="http://schemas.openxmlformats.org/officeDocument/2006/relationships/slide" Target="/ppt/slides/slide71.xml" Id="Rfccb696d6ce946bc" /><Relationship Type="http://schemas.openxmlformats.org/officeDocument/2006/relationships/slide" Target="/ppt/slides/slide72.xml" Id="Rbad1e7b5ceb640a3" /><Relationship Type="http://schemas.openxmlformats.org/officeDocument/2006/relationships/slide" Target="/ppt/slides/slide73.xml" Id="R11d48651e27d4d95" /><Relationship Type="http://schemas.openxmlformats.org/officeDocument/2006/relationships/slide" Target="/ppt/slides/slide74.xml" Id="R446e4588cd594b9f" /><Relationship Type="http://schemas.openxmlformats.org/officeDocument/2006/relationships/slide" Target="/ppt/slides/slide75.xml" Id="Raeac4faf84364e1a" /><Relationship Type="http://schemas.openxmlformats.org/officeDocument/2006/relationships/slide" Target="/ppt/slides/slide76.xml" Id="R88af40959fd64b3e" /><Relationship Type="http://schemas.openxmlformats.org/officeDocument/2006/relationships/slide" Target="/ppt/slides/slide77.xml" Id="R7ad46c1f9c53479b" /><Relationship Type="http://schemas.openxmlformats.org/officeDocument/2006/relationships/slide" Target="/ppt/slides/slide78.xml" Id="Rb30bdde8538e49ef" /><Relationship Type="http://schemas.openxmlformats.org/officeDocument/2006/relationships/slide" Target="/ppt/slides/slide79.xml" Id="R1ac54e58e44b44a4" /><Relationship Type="http://schemas.openxmlformats.org/officeDocument/2006/relationships/slide" Target="/ppt/slides/slide80.xml" Id="R5ca3276bfb98474a" /><Relationship Type="http://schemas.openxmlformats.org/officeDocument/2006/relationships/slide" Target="/ppt/slides/slide81.xml" Id="R112be0eccd0144a9" /><Relationship Type="http://schemas.openxmlformats.org/officeDocument/2006/relationships/slide" Target="/ppt/slides/slide82.xml" Id="Red552bbb48f149f5" /><Relationship Type="http://schemas.openxmlformats.org/officeDocument/2006/relationships/slide" Target="/ppt/slides/slide83.xml" Id="R31dba8b8a8064c69" /><Relationship Type="http://schemas.openxmlformats.org/officeDocument/2006/relationships/slide" Target="/ppt/slides/slide84.xml" Id="R452f833d6c924860" /><Relationship Type="http://schemas.openxmlformats.org/officeDocument/2006/relationships/slide" Target="/ppt/slides/slide85.xml" Id="R244b11e07fe34e68" /><Relationship Type="http://schemas.openxmlformats.org/officeDocument/2006/relationships/slide" Target="/ppt/slides/slide86.xml" Id="R992c1a5a92c64902" /><Relationship Type="http://schemas.openxmlformats.org/officeDocument/2006/relationships/slide" Target="/ppt/slides/slide87.xml" Id="R87213daab0d4465f" /><Relationship Type="http://schemas.openxmlformats.org/officeDocument/2006/relationships/slide" Target="/ppt/slides/slide88.xml" Id="Rb71895569f3a4a70" /><Relationship Type="http://schemas.openxmlformats.org/officeDocument/2006/relationships/slide" Target="/ppt/slides/slide89.xml" Id="Ra800a79a815641b5" /><Relationship Type="http://schemas.openxmlformats.org/officeDocument/2006/relationships/slide" Target="/ppt/slides/slide90.xml" Id="R3ee10c2fd0de4fcc" /><Relationship Type="http://schemas.openxmlformats.org/officeDocument/2006/relationships/slide" Target="/ppt/slides/slide91.xml" Id="R4057f8be3bdf40c9" /><Relationship Type="http://schemas.openxmlformats.org/officeDocument/2006/relationships/slide" Target="/ppt/slides/slide92.xml" Id="R6676eddf9e8947d5" /><Relationship Type="http://schemas.openxmlformats.org/officeDocument/2006/relationships/slide" Target="/ppt/slides/slide93.xml" Id="R32e28029585c4704" /><Relationship Type="http://schemas.openxmlformats.org/officeDocument/2006/relationships/slide" Target="/ppt/slides/slide94.xml" Id="Rfa1d56e49deb47a7" /><Relationship Type="http://schemas.openxmlformats.org/officeDocument/2006/relationships/slide" Target="/ppt/slides/slide95.xml" Id="Re9c7ab0881534dfe" /><Relationship Type="http://schemas.openxmlformats.org/officeDocument/2006/relationships/slide" Target="/ppt/slides/slide96.xml" Id="R0c383e40afc9444b" /><Relationship Type="http://schemas.openxmlformats.org/officeDocument/2006/relationships/slide" Target="/ppt/slides/slide97.xml" Id="R7085a6bae20d444d" /><Relationship Type="http://schemas.openxmlformats.org/officeDocument/2006/relationships/slide" Target="/ppt/slides/slide98.xml" Id="R97c1c9ca3a0a4392" /><Relationship Type="http://schemas.openxmlformats.org/officeDocument/2006/relationships/slide" Target="/ppt/slides/slide99.xml" Id="Rd7aef77d94a64621" /><Relationship Type="http://schemas.openxmlformats.org/officeDocument/2006/relationships/slide" Target="/ppt/slides/slide100.xml" Id="R6296ada0e83b4a63" /><Relationship Type="http://schemas.openxmlformats.org/officeDocument/2006/relationships/slide" Target="/ppt/slides/slide101.xml" Id="R873f6bb35dfb41f6" /><Relationship Type="http://schemas.openxmlformats.org/officeDocument/2006/relationships/slide" Target="/ppt/slides/slide102.xml" Id="Rfcf845d873884133" /><Relationship Type="http://schemas.openxmlformats.org/officeDocument/2006/relationships/slide" Target="/ppt/slides/slide103.xml" Id="R91b2f92064314466" /><Relationship Type="http://schemas.openxmlformats.org/officeDocument/2006/relationships/slide" Target="/ppt/slides/slide104.xml" Id="R854ac06e8f104562" /><Relationship Type="http://schemas.openxmlformats.org/officeDocument/2006/relationships/slide" Target="/ppt/slides/slide105.xml" Id="R2371bc2480c04f2f" /><Relationship Type="http://schemas.openxmlformats.org/officeDocument/2006/relationships/slide" Target="/ppt/slides/slide106.xml" Id="Rdd2cc50ed28141cd" /><Relationship Type="http://schemas.openxmlformats.org/officeDocument/2006/relationships/slide" Target="/ppt/slides/slide107.xml" Id="Re805c94db9054efe" /><Relationship Type="http://schemas.openxmlformats.org/officeDocument/2006/relationships/slide" Target="/ppt/slides/slide108.xml" Id="R1ca10c33148b4f99" /><Relationship Type="http://schemas.openxmlformats.org/officeDocument/2006/relationships/slide" Target="/ppt/slides/slide109.xml" Id="R4cb7ba0d37a24047" /><Relationship Type="http://schemas.openxmlformats.org/officeDocument/2006/relationships/slide" Target="/ppt/slides/slide110.xml" Id="R43e1769bff42484b" /><Relationship Type="http://schemas.openxmlformats.org/officeDocument/2006/relationships/slide" Target="/ppt/slides/slide111.xml" Id="R7e78bcc0cc2c44d0" /><Relationship Type="http://schemas.openxmlformats.org/officeDocument/2006/relationships/slide" Target="/ppt/slides/slide112.xml" Id="R757bb8a88ab44e85" /><Relationship Type="http://schemas.openxmlformats.org/officeDocument/2006/relationships/slide" Target="/ppt/slides/slide113.xml" Id="Rbe29424556fc4385" /><Relationship Type="http://schemas.openxmlformats.org/officeDocument/2006/relationships/slide" Target="/ppt/slides/slide114.xml" Id="Ree83c85dbb2b40be" /><Relationship Type="http://schemas.openxmlformats.org/officeDocument/2006/relationships/slide" Target="/ppt/slides/slide115.xml" Id="Rc87ba6e15a2b41e4" /><Relationship Type="http://schemas.openxmlformats.org/officeDocument/2006/relationships/slide" Target="/ppt/slides/slide116.xml" Id="R10fa0d9461b64674" /><Relationship Type="http://schemas.openxmlformats.org/officeDocument/2006/relationships/slide" Target="/ppt/slides/slide117.xml" Id="R9bcaeee3adb24424" /><Relationship Type="http://schemas.openxmlformats.org/officeDocument/2006/relationships/slide" Target="/ppt/slides/slide118.xml" Id="R20b74b811e9942b2" /><Relationship Type="http://schemas.openxmlformats.org/officeDocument/2006/relationships/slide" Target="/ppt/slides/slide119.xml" Id="Rb73bdaed9dd34660" /><Relationship Type="http://schemas.openxmlformats.org/officeDocument/2006/relationships/slide" Target="/ppt/slides/slide120.xml" Id="Re5ddab35277f4054" /><Relationship Type="http://schemas.openxmlformats.org/officeDocument/2006/relationships/slide" Target="/ppt/slides/slide121.xml" Id="R09b5b00ef1dd4413" /><Relationship Type="http://schemas.openxmlformats.org/officeDocument/2006/relationships/slide" Target="/ppt/slides/slide122.xml" Id="Rede51bb989244add" /><Relationship Type="http://schemas.openxmlformats.org/officeDocument/2006/relationships/slide" Target="/ppt/slides/slide123.xml" Id="R6ced1b51e1134f22" /><Relationship Type="http://schemas.openxmlformats.org/officeDocument/2006/relationships/slide" Target="/ppt/slides/slide124.xml" Id="R0247b260c1544398" /><Relationship Type="http://schemas.openxmlformats.org/officeDocument/2006/relationships/slide" Target="/ppt/slides/slide125.xml" Id="R3bf06cd8c3094391" /><Relationship Type="http://schemas.openxmlformats.org/officeDocument/2006/relationships/slide" Target="/ppt/slides/slide126.xml" Id="R71c2d07c98bb4d6b" /><Relationship Type="http://schemas.openxmlformats.org/officeDocument/2006/relationships/slide" Target="/ppt/slides/slide127.xml" Id="R6c807b73b87f41cb" /><Relationship Type="http://schemas.openxmlformats.org/officeDocument/2006/relationships/slide" Target="/ppt/slides/slide128.xml" Id="R028c48fa7fab4cd2" /><Relationship Type="http://schemas.openxmlformats.org/officeDocument/2006/relationships/slide" Target="/ppt/slides/slide129.xml" Id="R8090ff9739834a36" /><Relationship Type="http://schemas.openxmlformats.org/officeDocument/2006/relationships/slide" Target="/ppt/slides/slide130.xml" Id="R7f6985b4e12f48ef" /><Relationship Type="http://schemas.openxmlformats.org/officeDocument/2006/relationships/slide" Target="/ppt/slides/slide131.xml" Id="Rc7d54e94cf3543fb" /><Relationship Type="http://schemas.openxmlformats.org/officeDocument/2006/relationships/slide" Target="/ppt/slides/slide132.xml" Id="Rcdfb2b255d5a4d1d" /><Relationship Type="http://schemas.openxmlformats.org/officeDocument/2006/relationships/slide" Target="/ppt/slides/slide133.xml" Id="Rf74efad33b6e4e51" /><Relationship Type="http://schemas.openxmlformats.org/officeDocument/2006/relationships/slide" Target="/ppt/slides/slide134.xml" Id="R21a7816f6c3b4c31" /><Relationship Type="http://schemas.openxmlformats.org/officeDocument/2006/relationships/slide" Target="/ppt/slides/slide135.xml" Id="Rf440bbf99d7c4a03" /><Relationship Type="http://schemas.openxmlformats.org/officeDocument/2006/relationships/slide" Target="/ppt/slides/slide136.xml" Id="R10d98318445e4f0f" /><Relationship Type="http://schemas.openxmlformats.org/officeDocument/2006/relationships/slide" Target="/ppt/slides/slide137.xml" Id="Rb66a1e084e014438" /><Relationship Type="http://schemas.openxmlformats.org/officeDocument/2006/relationships/slide" Target="/ppt/slides/slide138.xml" Id="R8ba71c2c8d214f46" /><Relationship Type="http://schemas.openxmlformats.org/officeDocument/2006/relationships/slide" Target="/ppt/slides/slide139.xml" Id="Rd1347a5a57624c9e" /><Relationship Type="http://schemas.openxmlformats.org/officeDocument/2006/relationships/slide" Target="/ppt/slides/slide140.xml" Id="Rfc9b54cafa904969" /><Relationship Type="http://schemas.openxmlformats.org/officeDocument/2006/relationships/slide" Target="/ppt/slides/slide141.xml" Id="R1e93077540844d5f" /><Relationship Type="http://schemas.openxmlformats.org/officeDocument/2006/relationships/slide" Target="/ppt/slides/slide142.xml" Id="R3c613cc850994349" /><Relationship Type="http://schemas.openxmlformats.org/officeDocument/2006/relationships/slide" Target="/ppt/slides/slide143.xml" Id="R4977913b65e5487a" /><Relationship Type="http://schemas.openxmlformats.org/officeDocument/2006/relationships/slide" Target="/ppt/slides/slide144.xml" Id="R231e910d8407456b" /><Relationship Type="http://schemas.openxmlformats.org/officeDocument/2006/relationships/slide" Target="/ppt/slides/slide145.xml" Id="R801f8cc993fe4862" /><Relationship Type="http://schemas.openxmlformats.org/officeDocument/2006/relationships/slide" Target="/ppt/slides/slide146.xml" Id="R4d44dba48eca4914" /><Relationship Type="http://schemas.openxmlformats.org/officeDocument/2006/relationships/slide" Target="/ppt/slides/slide147.xml" Id="Rfc70e97d65344133" /><Relationship Type="http://schemas.openxmlformats.org/officeDocument/2006/relationships/slide" Target="/ppt/slides/slide148.xml" Id="R6225787d31e5422a" /><Relationship Type="http://schemas.openxmlformats.org/officeDocument/2006/relationships/slide" Target="/ppt/slides/slide149.xml" Id="R6d9eb444e78c4152" /><Relationship Type="http://schemas.openxmlformats.org/officeDocument/2006/relationships/slide" Target="/ppt/slides/slide150.xml" Id="R01196fbd4f58475a" /><Relationship Type="http://schemas.openxmlformats.org/officeDocument/2006/relationships/slide" Target="/ppt/slides/slide151.xml" Id="R4b22d32e6b494fdd" /><Relationship Type="http://schemas.openxmlformats.org/officeDocument/2006/relationships/slide" Target="/ppt/slides/slide152.xml" Id="R35578ce948064942" /><Relationship Type="http://schemas.openxmlformats.org/officeDocument/2006/relationships/slide" Target="/ppt/slides/slide153.xml" Id="R4291fc1ecdc74d61" /><Relationship Type="http://schemas.openxmlformats.org/officeDocument/2006/relationships/slide" Target="/ppt/slides/slide154.xml" Id="Rc0e62b3bf0894704" /><Relationship Type="http://schemas.openxmlformats.org/officeDocument/2006/relationships/slide" Target="/ppt/slides/slide155.xml" Id="Rf14641a07bb14a62" /><Relationship Type="http://schemas.openxmlformats.org/officeDocument/2006/relationships/slide" Target="/ppt/slides/slide156.xml" Id="R8019c4dc12d74334" /><Relationship Type="http://schemas.openxmlformats.org/officeDocument/2006/relationships/slide" Target="/ppt/slides/slide157.xml" Id="Rfc9ae995c14f4afe" /><Relationship Type="http://schemas.openxmlformats.org/officeDocument/2006/relationships/slide" Target="/ppt/slides/slide158.xml" Id="R241ff2e2e7f74179" /><Relationship Type="http://schemas.openxmlformats.org/officeDocument/2006/relationships/slide" Target="/ppt/slides/slide159.xml" Id="Ra74e895fe64c4738" /><Relationship Type="http://schemas.openxmlformats.org/officeDocument/2006/relationships/slide" Target="/ppt/slides/slide160.xml" Id="Redec9502222e4d2c" /><Relationship Type="http://schemas.openxmlformats.org/officeDocument/2006/relationships/slide" Target="/ppt/slides/slide161.xml" Id="R98bd92ba27264e17" /><Relationship Type="http://schemas.openxmlformats.org/officeDocument/2006/relationships/slide" Target="/ppt/slides/slide162.xml" Id="R23168aa175e24c67" /><Relationship Type="http://schemas.openxmlformats.org/officeDocument/2006/relationships/slide" Target="/ppt/slides/slide163.xml" Id="R08b98cfc0423421b" /><Relationship Type="http://schemas.openxmlformats.org/officeDocument/2006/relationships/slide" Target="/ppt/slides/slide164.xml" Id="R0ad7a6e728864c02" /><Relationship Type="http://schemas.openxmlformats.org/officeDocument/2006/relationships/slide" Target="/ppt/slides/slide165.xml" Id="R3f7d0e10bda44fa9" /><Relationship Type="http://schemas.openxmlformats.org/officeDocument/2006/relationships/slide" Target="/ppt/slides/slide166.xml" Id="Rddbb5818cfe14346" /><Relationship Type="http://schemas.openxmlformats.org/officeDocument/2006/relationships/slide" Target="/ppt/slides/slide167.xml" Id="R7ebc9780f2574b94" /><Relationship Type="http://schemas.openxmlformats.org/officeDocument/2006/relationships/slide" Target="/ppt/slides/slide168.xml" Id="R578f01af3f494e54" /><Relationship Type="http://schemas.openxmlformats.org/officeDocument/2006/relationships/slide" Target="/ppt/slides/slide169.xml" Id="Rd150f418b9b54427" /><Relationship Type="http://schemas.openxmlformats.org/officeDocument/2006/relationships/slide" Target="/ppt/slides/slide170.xml" Id="R2b01be01ee9c4bd9" /><Relationship Type="http://schemas.openxmlformats.org/officeDocument/2006/relationships/slide" Target="/ppt/slides/slide171.xml" Id="R5762639adc934e08" /><Relationship Type="http://schemas.openxmlformats.org/officeDocument/2006/relationships/slide" Target="/ppt/slides/slide172.xml" Id="R3e56423ec6d747ae" /><Relationship Type="http://schemas.openxmlformats.org/officeDocument/2006/relationships/slide" Target="/ppt/slides/slide173.xml" Id="Rf4d453ab7e7e45bf" /><Relationship Type="http://schemas.openxmlformats.org/officeDocument/2006/relationships/slide" Target="/ppt/slides/slide174.xml" Id="R2a6dabd07e0b4580" /><Relationship Type="http://schemas.openxmlformats.org/officeDocument/2006/relationships/slide" Target="/ppt/slides/slide175.xml" Id="Rc7ab4632825b44ec" /><Relationship Type="http://schemas.openxmlformats.org/officeDocument/2006/relationships/slide" Target="/ppt/slides/slide176.xml" Id="Rc8939cb05bd54f7b" /><Relationship Type="http://schemas.openxmlformats.org/officeDocument/2006/relationships/slide" Target="/ppt/slides/slide177.xml" Id="R6d716ca48ce04051" /><Relationship Type="http://schemas.openxmlformats.org/officeDocument/2006/relationships/slide" Target="/ppt/slides/slide178.xml" Id="R818592db1aba4e41" /><Relationship Type="http://schemas.openxmlformats.org/officeDocument/2006/relationships/slide" Target="/ppt/slides/slide179.xml" Id="Rf1725913eb1147cd" /><Relationship Type="http://schemas.openxmlformats.org/officeDocument/2006/relationships/slide" Target="/ppt/slides/slide180.xml" Id="Rddbaac96b0344cfc" /><Relationship Type="http://schemas.openxmlformats.org/officeDocument/2006/relationships/slide" Target="/ppt/slides/slide181.xml" Id="R67d09969cce84b0f" /><Relationship Type="http://schemas.openxmlformats.org/officeDocument/2006/relationships/slide" Target="/ppt/slides/slide182.xml" Id="R25a122a4400c4a4b" /><Relationship Type="http://schemas.openxmlformats.org/officeDocument/2006/relationships/slide" Target="/ppt/slides/slide183.xml" Id="R0337530827dd4535" /><Relationship Type="http://schemas.openxmlformats.org/officeDocument/2006/relationships/slide" Target="/ppt/slides/slide184.xml" Id="R9c391c87fa86480f" /><Relationship Type="http://schemas.openxmlformats.org/officeDocument/2006/relationships/slide" Target="/ppt/slides/slide185.xml" Id="R33219028219b4371" /><Relationship Type="http://schemas.openxmlformats.org/officeDocument/2006/relationships/slide" Target="/ppt/slides/slide186.xml" Id="Rac1dd3746d9947a0" /><Relationship Type="http://schemas.openxmlformats.org/officeDocument/2006/relationships/slide" Target="/ppt/slides/slide187.xml" Id="Re614e8e0b0d644c9" /><Relationship Type="http://schemas.openxmlformats.org/officeDocument/2006/relationships/slide" Target="/ppt/slides/slide188.xml" Id="R330b59213c9b4eea" /><Relationship Type="http://schemas.openxmlformats.org/officeDocument/2006/relationships/slide" Target="/ppt/slides/slide189.xml" Id="R13920f79f81f47bd" /><Relationship Type="http://schemas.openxmlformats.org/officeDocument/2006/relationships/slide" Target="/ppt/slides/slide190.xml" Id="R162d3d2133c84ee2" /><Relationship Type="http://schemas.openxmlformats.org/officeDocument/2006/relationships/slide" Target="/ppt/slides/slide191.xml" Id="R4aefe563aac84804" /><Relationship Type="http://schemas.openxmlformats.org/officeDocument/2006/relationships/slide" Target="/ppt/slides/slide192.xml" Id="R15e5a4cd3fad4ca0" /><Relationship Type="http://schemas.openxmlformats.org/officeDocument/2006/relationships/slide" Target="/ppt/slides/slide193.xml" Id="Rac0b886750064a4a" /><Relationship Type="http://schemas.openxmlformats.org/officeDocument/2006/relationships/slide" Target="/ppt/slides/slide194.xml" Id="Rcb3fe1641b3e4ef1" /><Relationship Type="http://schemas.openxmlformats.org/officeDocument/2006/relationships/slide" Target="/ppt/slides/slide195.xml" Id="R44badc6fc3484cf4" /><Relationship Type="http://schemas.openxmlformats.org/officeDocument/2006/relationships/slide" Target="/ppt/slides/slide196.xml" Id="R08979b283693466a" /><Relationship Type="http://schemas.openxmlformats.org/officeDocument/2006/relationships/slide" Target="/ppt/slides/slide197.xml" Id="Rfa9c901fabc9492a" /><Relationship Type="http://schemas.openxmlformats.org/officeDocument/2006/relationships/slide" Target="/ppt/slides/slide198.xml" Id="R4e733086ed5b452d" /><Relationship Type="http://schemas.openxmlformats.org/officeDocument/2006/relationships/slide" Target="/ppt/slides/slide199.xml" Id="R67f252157e5e43d2" /><Relationship Type="http://schemas.openxmlformats.org/officeDocument/2006/relationships/slide" Target="/ppt/slides/slide200.xml" Id="R51d6a4deafb54485" /><Relationship Type="http://schemas.openxmlformats.org/officeDocument/2006/relationships/slide" Target="/ppt/slides/slide201.xml" Id="R068363cb8ded4397" /><Relationship Type="http://schemas.openxmlformats.org/officeDocument/2006/relationships/slide" Target="/ppt/slides/slide202.xml" Id="R37e921b1745245ff" /><Relationship Type="http://schemas.openxmlformats.org/officeDocument/2006/relationships/slide" Target="/ppt/slides/slide203.xml" Id="Rbfd9415091b84f50" /><Relationship Type="http://schemas.openxmlformats.org/officeDocument/2006/relationships/slide" Target="/ppt/slides/slide204.xml" Id="R1f879a48b68e4fed" /><Relationship Type="http://schemas.openxmlformats.org/officeDocument/2006/relationships/slide" Target="/ppt/slides/slide205.xml" Id="R7857a86880994914" /><Relationship Type="http://schemas.openxmlformats.org/officeDocument/2006/relationships/slide" Target="/ppt/slides/slide206.xml" Id="Rbb907d79c0604840" /><Relationship Type="http://schemas.openxmlformats.org/officeDocument/2006/relationships/slide" Target="/ppt/slides/slide207.xml" Id="Rc7e7eaea680c41b1" /><Relationship Type="http://schemas.openxmlformats.org/officeDocument/2006/relationships/slide" Target="/ppt/slides/slide208.xml" Id="R931f6bfdf6924ad4" /><Relationship Type="http://schemas.openxmlformats.org/officeDocument/2006/relationships/slide" Target="/ppt/slides/slide209.xml" Id="R47b0ea7f3cb74007" /><Relationship Type="http://schemas.openxmlformats.org/officeDocument/2006/relationships/slide" Target="/ppt/slides/slide210.xml" Id="Rb6bd2bda449a43b9" /><Relationship Type="http://schemas.openxmlformats.org/officeDocument/2006/relationships/slide" Target="/ppt/slides/slide211.xml" Id="Rf38062f809304bc2" /><Relationship Type="http://schemas.openxmlformats.org/officeDocument/2006/relationships/slide" Target="/ppt/slides/slide212.xml" Id="R7ee0db7dd131403c" /><Relationship Type="http://schemas.openxmlformats.org/officeDocument/2006/relationships/slide" Target="/ppt/slides/slide213.xml" Id="R126f4ebe23eb469c" /><Relationship Type="http://schemas.openxmlformats.org/officeDocument/2006/relationships/slide" Target="/ppt/slides/slide214.xml" Id="Rfa0410ff47804bee" /><Relationship Type="http://schemas.openxmlformats.org/officeDocument/2006/relationships/slide" Target="/ppt/slides/slide215.xml" Id="R36152596aa354063" /><Relationship Type="http://schemas.openxmlformats.org/officeDocument/2006/relationships/slide" Target="/ppt/slides/slide216.xml" Id="Rb6e9d33a952349ab" /><Relationship Type="http://schemas.openxmlformats.org/officeDocument/2006/relationships/slide" Target="/ppt/slides/slide217.xml" Id="R66fd57e8d01a4522" /><Relationship Type="http://schemas.openxmlformats.org/officeDocument/2006/relationships/slide" Target="/ppt/slides/slide218.xml" Id="R0f42f416b3a64194" /><Relationship Type="http://schemas.openxmlformats.org/officeDocument/2006/relationships/slide" Target="/ppt/slides/slide219.xml" Id="R584c57078f094d9e" /><Relationship Type="http://schemas.openxmlformats.org/officeDocument/2006/relationships/slide" Target="/ppt/slides/slide220.xml" Id="Rf54c5d749caf4754" /><Relationship Type="http://schemas.openxmlformats.org/officeDocument/2006/relationships/slide" Target="/ppt/slides/slide221.xml" Id="R79f6532c2a3e460a" /><Relationship Type="http://schemas.openxmlformats.org/officeDocument/2006/relationships/slide" Target="/ppt/slides/slide222.xml" Id="Rd926f08c92c647bd" /><Relationship Type="http://schemas.openxmlformats.org/officeDocument/2006/relationships/slide" Target="/ppt/slides/slide223.xml" Id="Rf078174ad6f04270" /><Relationship Type="http://schemas.openxmlformats.org/officeDocument/2006/relationships/slide" Target="/ppt/slides/slide224.xml" Id="Rca95314a2c0e4c83" /><Relationship Type="http://schemas.openxmlformats.org/officeDocument/2006/relationships/slide" Target="/ppt/slides/slide225.xml" Id="R8ca5fe6d6a2c40fd" /><Relationship Type="http://schemas.openxmlformats.org/officeDocument/2006/relationships/slide" Target="/ppt/slides/slide226.xml" Id="Re32b073fd5a546a7" /><Relationship Type="http://schemas.openxmlformats.org/officeDocument/2006/relationships/slide" Target="/ppt/slides/slide227.xml" Id="Reb3c20721f604846" /><Relationship Type="http://schemas.openxmlformats.org/officeDocument/2006/relationships/slide" Target="/ppt/slides/slide228.xml" Id="Rc9bdc87677864173" /><Relationship Type="http://schemas.openxmlformats.org/officeDocument/2006/relationships/slide" Target="/ppt/slides/slide229.xml" Id="Rab2f7bc2991f4767" /><Relationship Type="http://schemas.openxmlformats.org/officeDocument/2006/relationships/slide" Target="/ppt/slides/slide230.xml" Id="R2ddd354f86994355" /><Relationship Type="http://schemas.openxmlformats.org/officeDocument/2006/relationships/slide" Target="/ppt/slides/slide231.xml" Id="R9528bd9e85db4fa3" /><Relationship Type="http://schemas.openxmlformats.org/officeDocument/2006/relationships/slide" Target="/ppt/slides/slide232.xml" Id="R83310b69fe0743d7" /><Relationship Type="http://schemas.openxmlformats.org/officeDocument/2006/relationships/slide" Target="/ppt/slides/slide233.xml" Id="Re256e544a86e41a8" /><Relationship Type="http://schemas.openxmlformats.org/officeDocument/2006/relationships/slide" Target="/ppt/slides/slide234.xml" Id="Rf7e490d24a3b4d9f" /><Relationship Type="http://schemas.openxmlformats.org/officeDocument/2006/relationships/slide" Target="/ppt/slides/slide235.xml" Id="R9096b797c79c478e" /><Relationship Type="http://schemas.openxmlformats.org/officeDocument/2006/relationships/slide" Target="/ppt/slides/slide236.xml" Id="Rd7bd8864fff04a19" /><Relationship Type="http://schemas.openxmlformats.org/officeDocument/2006/relationships/slide" Target="/ppt/slides/slide237.xml" Id="Rb71ad1e0efb346b1" /><Relationship Type="http://schemas.openxmlformats.org/officeDocument/2006/relationships/slide" Target="/ppt/slides/slide238.xml" Id="Ra74864f10e134cbc" /><Relationship Type="http://schemas.openxmlformats.org/officeDocument/2006/relationships/slide" Target="/ppt/slides/slide239.xml" Id="R9b3cdf5702ec486c" /><Relationship Type="http://schemas.openxmlformats.org/officeDocument/2006/relationships/slide" Target="/ppt/slides/slide240.xml" Id="R9dbdd8954d81439f" /><Relationship Type="http://schemas.openxmlformats.org/officeDocument/2006/relationships/slide" Target="/ppt/slides/slide241.xml" Id="R0cfb6f1c67f44b2d" /><Relationship Type="http://schemas.openxmlformats.org/officeDocument/2006/relationships/slide" Target="/ppt/slides/slide242.xml" Id="R638055b44d49449c" /><Relationship Type="http://schemas.openxmlformats.org/officeDocument/2006/relationships/slide" Target="/ppt/slides/slide243.xml" Id="Rc19ad92b30c4422b" /><Relationship Type="http://schemas.openxmlformats.org/officeDocument/2006/relationships/slide" Target="/ppt/slides/slide244.xml" Id="Rf4b8f67b522c4330" /><Relationship Type="http://schemas.openxmlformats.org/officeDocument/2006/relationships/slide" Target="/ppt/slides/slide245.xml" Id="R2358293fb1b74b97" /><Relationship Type="http://schemas.openxmlformats.org/officeDocument/2006/relationships/slide" Target="/ppt/slides/slide246.xml" Id="Rc6754a8ed23f4a4b" /><Relationship Type="http://schemas.openxmlformats.org/officeDocument/2006/relationships/slide" Target="/ppt/slides/slide247.xml" Id="R0975a8c3b1984083" /><Relationship Type="http://schemas.openxmlformats.org/officeDocument/2006/relationships/slide" Target="/ppt/slides/slide248.xml" Id="R992164e09b5346b5" /><Relationship Type="http://schemas.openxmlformats.org/officeDocument/2006/relationships/slide" Target="/ppt/slides/slide249.xml" Id="Rebec26b328e8474c" /><Relationship Type="http://schemas.openxmlformats.org/officeDocument/2006/relationships/slide" Target="/ppt/slides/slide250.xml" Id="Rea5655952a1b4b71" /><Relationship Type="http://schemas.openxmlformats.org/officeDocument/2006/relationships/slide" Target="/ppt/slides/slide251.xml" Id="R6757cca6939f41bc" /><Relationship Type="http://schemas.openxmlformats.org/officeDocument/2006/relationships/slide" Target="/ppt/slides/slide252.xml" Id="R98d356935672406f" /><Relationship Type="http://schemas.openxmlformats.org/officeDocument/2006/relationships/slide" Target="/ppt/slides/slide253.xml" Id="R4313cc226de846aa" /><Relationship Type="http://schemas.openxmlformats.org/officeDocument/2006/relationships/slide" Target="/ppt/slides/slide254.xml" Id="Rcdd0f29ecdf24307" /><Relationship Type="http://schemas.openxmlformats.org/officeDocument/2006/relationships/slide" Target="/ppt/slides/slide255.xml" Id="R0c5f49e0a0154c34" /><Relationship Type="http://schemas.openxmlformats.org/officeDocument/2006/relationships/slide" Target="/ppt/slides/slide256.xml" Id="R04e43fcb42be4290" /><Relationship Type="http://schemas.openxmlformats.org/officeDocument/2006/relationships/slide" Target="/ppt/slides/slide257.xml" Id="Ra54b7023aecc476d" /><Relationship Type="http://schemas.openxmlformats.org/officeDocument/2006/relationships/slide" Target="/ppt/slides/slide258.xml" Id="R417b540e59cd47cc" /><Relationship Type="http://schemas.openxmlformats.org/officeDocument/2006/relationships/slide" Target="/ppt/slides/slide259.xml" Id="R9df97f8eea0b46bb" /><Relationship Type="http://schemas.openxmlformats.org/officeDocument/2006/relationships/slide" Target="/ppt/slides/slide260.xml" Id="Rea115723a2e6403d" /><Relationship Type="http://schemas.openxmlformats.org/officeDocument/2006/relationships/slide" Target="/ppt/slides/slide261.xml" Id="R58a1b3e50e4d4b50" /><Relationship Type="http://schemas.openxmlformats.org/officeDocument/2006/relationships/slide" Target="/ppt/slides/slide262.xml" Id="R4537ac4ef85f4aa1" /><Relationship Type="http://schemas.openxmlformats.org/officeDocument/2006/relationships/slide" Target="/ppt/slides/slide263.xml" Id="R32295a622d574650" /><Relationship Type="http://schemas.openxmlformats.org/officeDocument/2006/relationships/slide" Target="/ppt/slides/slide264.xml" Id="Rf3d0e8f70d0740ac" /><Relationship Type="http://schemas.openxmlformats.org/officeDocument/2006/relationships/slide" Target="/ppt/slides/slide265.xml" Id="Rd482f777f32a46af" /><Relationship Type="http://schemas.openxmlformats.org/officeDocument/2006/relationships/slide" Target="/ppt/slides/slide266.xml" Id="Rb3e18bea5aca41b5" /><Relationship Type="http://schemas.openxmlformats.org/officeDocument/2006/relationships/slide" Target="/ppt/slides/slide267.xml" Id="R36dd948e7b754fa9" /><Relationship Type="http://schemas.openxmlformats.org/officeDocument/2006/relationships/slide" Target="/ppt/slides/slide268.xml" Id="R21eca581698848f6" /><Relationship Type="http://schemas.openxmlformats.org/officeDocument/2006/relationships/slide" Target="/ppt/slides/slide269.xml" Id="Re07edbb8089d4ea0" /><Relationship Type="http://schemas.openxmlformats.org/officeDocument/2006/relationships/slide" Target="/ppt/slides/slide270.xml" Id="Rc5a95d98f5c3418d" /><Relationship Type="http://schemas.openxmlformats.org/officeDocument/2006/relationships/slide" Target="/ppt/slides/slide271.xml" Id="Rf16fe11614f14669" /><Relationship Type="http://schemas.openxmlformats.org/officeDocument/2006/relationships/slide" Target="/ppt/slides/slide272.xml" Id="Rd70175cfb8b34622" /><Relationship Type="http://schemas.openxmlformats.org/officeDocument/2006/relationships/slide" Target="/ppt/slides/slide273.xml" Id="Ra944bfab550c4d7a" /><Relationship Type="http://schemas.openxmlformats.org/officeDocument/2006/relationships/slide" Target="/ppt/slides/slide274.xml" Id="R6dabc07c374c4cc6" /><Relationship Type="http://schemas.openxmlformats.org/officeDocument/2006/relationships/slide" Target="/ppt/slides/slide275.xml" Id="R8f225167e94441d7" /><Relationship Type="http://schemas.openxmlformats.org/officeDocument/2006/relationships/slide" Target="/ppt/slides/slide276.xml" Id="R26ffcf0f388a4e9d" /><Relationship Type="http://schemas.openxmlformats.org/officeDocument/2006/relationships/slide" Target="/ppt/slides/slide277.xml" Id="R6f8cc3a5c8064383" /><Relationship Type="http://schemas.openxmlformats.org/officeDocument/2006/relationships/slide" Target="/ppt/slides/slide278.xml" Id="R80fae80a022d455d" /><Relationship Type="http://schemas.openxmlformats.org/officeDocument/2006/relationships/slide" Target="/ppt/slides/slide279.xml" Id="Ra69d8e62fb134672" /><Relationship Type="http://schemas.openxmlformats.org/officeDocument/2006/relationships/slide" Target="/ppt/slides/slide280.xml" Id="Rc112f479ea00440f" /><Relationship Type="http://schemas.openxmlformats.org/officeDocument/2006/relationships/slide" Target="/ppt/slides/slide281.xml" Id="R655aba4cf1154e9a" /><Relationship Type="http://schemas.openxmlformats.org/officeDocument/2006/relationships/slide" Target="/ppt/slides/slide282.xml" Id="R333897153302411b" /><Relationship Type="http://schemas.openxmlformats.org/officeDocument/2006/relationships/slide" Target="/ppt/slides/slide283.xml" Id="Rab2b320d5e704084" /><Relationship Type="http://schemas.openxmlformats.org/officeDocument/2006/relationships/slide" Target="/ppt/slides/slide284.xml" Id="R0f9d684b95ad4479" /><Relationship Type="http://schemas.openxmlformats.org/officeDocument/2006/relationships/slide" Target="/ppt/slides/slide285.xml" Id="R8ab85ba92f7f40b9" /><Relationship Type="http://schemas.openxmlformats.org/officeDocument/2006/relationships/slide" Target="/ppt/slides/slide286.xml" Id="R3b6182d6b7af4dc9" /><Relationship Type="http://schemas.openxmlformats.org/officeDocument/2006/relationships/slide" Target="/ppt/slides/slide287.xml" Id="R41cd9195ba234c17" /><Relationship Type="http://schemas.openxmlformats.org/officeDocument/2006/relationships/slide" Target="/ppt/slides/slide288.xml" Id="Reb02b1b3ad924f18" /><Relationship Type="http://schemas.openxmlformats.org/officeDocument/2006/relationships/slide" Target="/ppt/slides/slide289.xml" Id="Rdb46a5ba8fbd4c71" /><Relationship Type="http://schemas.openxmlformats.org/officeDocument/2006/relationships/slide" Target="/ppt/slides/slide290.xml" Id="R56495768089f4db0" /><Relationship Type="http://schemas.openxmlformats.org/officeDocument/2006/relationships/slide" Target="/ppt/slides/slide291.xml" Id="R23c91c0e48bc4fd8" /><Relationship Type="http://schemas.openxmlformats.org/officeDocument/2006/relationships/slide" Target="/ppt/slides/slide292.xml" Id="R7fe4eb592ce3494c" /><Relationship Type="http://schemas.openxmlformats.org/officeDocument/2006/relationships/slide" Target="/ppt/slides/slide293.xml" Id="R350805d44f634248" /><Relationship Type="http://schemas.openxmlformats.org/officeDocument/2006/relationships/slide" Target="/ppt/slides/slide294.xml" Id="R27563c059a824c34" /><Relationship Type="http://schemas.openxmlformats.org/officeDocument/2006/relationships/slide" Target="/ppt/slides/slide295.xml" Id="R5fd1b8540408455a" /><Relationship Type="http://schemas.openxmlformats.org/officeDocument/2006/relationships/slide" Target="/ppt/slides/slide296.xml" Id="Rfd2b59955cf043a6" /><Relationship Type="http://schemas.openxmlformats.org/officeDocument/2006/relationships/slide" Target="/ppt/slides/slide297.xml" Id="R975ac9dca1fb4ba1" /><Relationship Type="http://schemas.openxmlformats.org/officeDocument/2006/relationships/slide" Target="/ppt/slides/slide298.xml" Id="R7662b91f30ce4eed" /><Relationship Type="http://schemas.openxmlformats.org/officeDocument/2006/relationships/slide" Target="/ppt/slides/slide299.xml" Id="R8a2ec9cc38b84b67" /><Relationship Type="http://schemas.openxmlformats.org/officeDocument/2006/relationships/slide" Target="/ppt/slides/slide300.xml" Id="R81a8f4092d274272" /><Relationship Type="http://schemas.openxmlformats.org/officeDocument/2006/relationships/slide" Target="/ppt/slides/slide301.xml" Id="Rf8746416b41d491d" /><Relationship Type="http://schemas.openxmlformats.org/officeDocument/2006/relationships/slide" Target="/ppt/slides/slide302.xml" Id="R7ba52515d2a645df" /><Relationship Type="http://schemas.openxmlformats.org/officeDocument/2006/relationships/slide" Target="/ppt/slides/slide303.xml" Id="Rc4188733f6dc43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7.xml" Id="R4329c93c3c5447a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be1e1482d84859" /><Relationship Type="http://schemas.openxmlformats.org/officeDocument/2006/relationships/notesMaster" Target="/ppt/notesMasters/notesMaster1.xml" Id="R16051350942d4b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4487158352454f" /><Relationship Type="http://schemas.openxmlformats.org/officeDocument/2006/relationships/notesMaster" Target="/ppt/notesMasters/notesMaster1.xml" Id="Radf58a28122d48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4074bc56634119" /><Relationship Type="http://schemas.openxmlformats.org/officeDocument/2006/relationships/notesMaster" Target="/ppt/notesMasters/notesMaster1.xml" Id="R7009f51971f14b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2e641e33c7414f" /><Relationship Type="http://schemas.openxmlformats.org/officeDocument/2006/relationships/notesMaster" Target="/ppt/notesMasters/notesMaster1.xml" Id="R75b1b41f3f9440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3300205ce7412f" /><Relationship Type="http://schemas.openxmlformats.org/officeDocument/2006/relationships/notesMaster" Target="/ppt/notesMasters/notesMaster1.xml" Id="R922f6e4a46aa491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8366a445714b19" /><Relationship Type="http://schemas.openxmlformats.org/officeDocument/2006/relationships/notesMaster" Target="/ppt/notesMasters/notesMaster1.xml" Id="Rdecfa542300f48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41159bf8184dc1" /><Relationship Type="http://schemas.openxmlformats.org/officeDocument/2006/relationships/notesMaster" Target="/ppt/notesMasters/notesMaster1.xml" Id="Rf7be9cc433fe4d5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fdf0410c6744bc1" /><Relationship Type="http://schemas.openxmlformats.org/officeDocument/2006/relationships/notesMaster" Target="/ppt/notesMasters/notesMaster1.xml" Id="Re6b7202f1964443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0ea98b77314799" /><Relationship Type="http://schemas.openxmlformats.org/officeDocument/2006/relationships/notesMaster" Target="/ppt/notesMasters/notesMaster1.xml" Id="R4dba658ea3a040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023564de1244b0" /><Relationship Type="http://schemas.openxmlformats.org/officeDocument/2006/relationships/notesMaster" Target="/ppt/notesMasters/notesMaster1.xml" Id="Re80ae466e2c54c9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e3c80aecdf4ac7" /><Relationship Type="http://schemas.openxmlformats.org/officeDocument/2006/relationships/notesMaster" Target="/ppt/notesMasters/notesMaster1.xml" Id="R3d86b5e7eb4f428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88c409feaa444e" /><Relationship Type="http://schemas.openxmlformats.org/officeDocument/2006/relationships/notesMaster" Target="/ppt/notesMasters/notesMaster1.xml" Id="R7025d1250d86418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a97d993c8704333" /><Relationship Type="http://schemas.openxmlformats.org/officeDocument/2006/relationships/notesMaster" Target="/ppt/notesMasters/notesMaster1.xml" Id="Rfad18ccbcd374a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5c08fb843844fe" /><Relationship Type="http://schemas.openxmlformats.org/officeDocument/2006/relationships/notesMaster" Target="/ppt/notesMasters/notesMaster1.xml" Id="R906cb35ebe5249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f596365f5674b36" /><Relationship Type="http://schemas.openxmlformats.org/officeDocument/2006/relationships/notesMaster" Target="/ppt/notesMasters/notesMaster1.xml" Id="R4a4542bd0a7c451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16ffc6f22964a86" /><Relationship Type="http://schemas.openxmlformats.org/officeDocument/2006/relationships/notesMaster" Target="/ppt/notesMasters/notesMaster1.xml" Id="R94cf8f63d67d47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f343090ce2c402f" /><Relationship Type="http://schemas.openxmlformats.org/officeDocument/2006/relationships/notesMaster" Target="/ppt/notesMasters/notesMaster1.xml" Id="R24c1454188be41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472bf79034443d7" /><Relationship Type="http://schemas.openxmlformats.org/officeDocument/2006/relationships/notesMaster" Target="/ppt/notesMasters/notesMaster1.xml" Id="R59ddc389478b4eb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5de341094a64651" /><Relationship Type="http://schemas.openxmlformats.org/officeDocument/2006/relationships/notesMaster" Target="/ppt/notesMasters/notesMaster1.xml" Id="R269d999645d7424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d99f483cc2647af" /><Relationship Type="http://schemas.openxmlformats.org/officeDocument/2006/relationships/notesMaster" Target="/ppt/notesMasters/notesMaster1.xml" Id="R6b8416cc8655480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4bde85f7e18411d" /><Relationship Type="http://schemas.openxmlformats.org/officeDocument/2006/relationships/notesMaster" Target="/ppt/notesMasters/notesMaster1.xml" Id="R0212e181e2fd4f6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aa862f06b3430f" /><Relationship Type="http://schemas.openxmlformats.org/officeDocument/2006/relationships/notesMaster" Target="/ppt/notesMasters/notesMaster1.xml" Id="Redf1da6c54504a9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357ca37f6694a4b" /><Relationship Type="http://schemas.openxmlformats.org/officeDocument/2006/relationships/notesMaster" Target="/ppt/notesMasters/notesMaster1.xml" Id="R9d3ff3b209194be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aaafd4f798d4301" /><Relationship Type="http://schemas.openxmlformats.org/officeDocument/2006/relationships/notesMaster" Target="/ppt/notesMasters/notesMaster1.xml" Id="R4efbbd07fee24c2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d426233f7c4215" /><Relationship Type="http://schemas.openxmlformats.org/officeDocument/2006/relationships/notesMaster" Target="/ppt/notesMasters/notesMaster1.xml" Id="R95b9a16144af49a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f3de90f86304019" /><Relationship Type="http://schemas.openxmlformats.org/officeDocument/2006/relationships/notesMaster" Target="/ppt/notesMasters/notesMaster1.xml" Id="R63525c2b49cf455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c783a11fb044a8a" /><Relationship Type="http://schemas.openxmlformats.org/officeDocument/2006/relationships/notesMaster" Target="/ppt/notesMasters/notesMaster1.xml" Id="R0854f9c58bf748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08f0192afc048f9" /><Relationship Type="http://schemas.openxmlformats.org/officeDocument/2006/relationships/notesMaster" Target="/ppt/notesMasters/notesMaster1.xml" Id="R85758dce46e64c8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435f3d6c37b499a" /><Relationship Type="http://schemas.openxmlformats.org/officeDocument/2006/relationships/notesMaster" Target="/ppt/notesMasters/notesMaster1.xml" Id="Ra169a1537b24458e"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882d5161f2441b8" /><Relationship Type="http://schemas.openxmlformats.org/officeDocument/2006/relationships/notesMaster" Target="/ppt/notesMasters/notesMaster1.xml" Id="Rb73cb4da0f2a4c8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d53789987214234" /><Relationship Type="http://schemas.openxmlformats.org/officeDocument/2006/relationships/notesMaster" Target="/ppt/notesMasters/notesMaster1.xml" Id="R816bbdb094c2432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6462595f8f24ba6" /><Relationship Type="http://schemas.openxmlformats.org/officeDocument/2006/relationships/notesMaster" Target="/ppt/notesMasters/notesMaster1.xml" Id="R30cc151ed8b3455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2cd077c51e74077" /><Relationship Type="http://schemas.openxmlformats.org/officeDocument/2006/relationships/notesMaster" Target="/ppt/notesMasters/notesMaster1.xml" Id="Re87956d0375f4e6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de7d6dc2d0d4017" /><Relationship Type="http://schemas.openxmlformats.org/officeDocument/2006/relationships/notesMaster" Target="/ppt/notesMasters/notesMaster1.xml" Id="R112bec9b5c7e409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5b2bac52e1d4bfc" /><Relationship Type="http://schemas.openxmlformats.org/officeDocument/2006/relationships/notesMaster" Target="/ppt/notesMasters/notesMaster1.xml" Id="R5db4d7c1d8bf42b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85ca6a512694296" /><Relationship Type="http://schemas.openxmlformats.org/officeDocument/2006/relationships/notesMaster" Target="/ppt/notesMasters/notesMaster1.xml" Id="R327b7fa334764e4f"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fc5b0933176489d" /><Relationship Type="http://schemas.openxmlformats.org/officeDocument/2006/relationships/notesMaster" Target="/ppt/notesMasters/notesMaster1.xml" Id="R9ebba45d944f47c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911b174a7874e7f" /><Relationship Type="http://schemas.openxmlformats.org/officeDocument/2006/relationships/notesMaster" Target="/ppt/notesMasters/notesMaster1.xml" Id="Rdcec1801e300425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8095ee32f3f4b2b" /><Relationship Type="http://schemas.openxmlformats.org/officeDocument/2006/relationships/notesMaster" Target="/ppt/notesMasters/notesMaster1.xml" Id="Rd5ffaf9a0592498c"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6b4728263db4720" /><Relationship Type="http://schemas.openxmlformats.org/officeDocument/2006/relationships/notesMaster" Target="/ppt/notesMasters/notesMaster1.xml" Id="R66902843b3994f3d"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503c7400d52740c3" /><Relationship Type="http://schemas.openxmlformats.org/officeDocument/2006/relationships/notesMaster" Target="/ppt/notesMasters/notesMaster1.xml" Id="Re4dc6b9df362470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1ccfc61289a4ca8" /><Relationship Type="http://schemas.openxmlformats.org/officeDocument/2006/relationships/notesMaster" Target="/ppt/notesMasters/notesMaster1.xml" Id="R045a44c678eb441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34a7af8911fb457d" /><Relationship Type="http://schemas.openxmlformats.org/officeDocument/2006/relationships/notesMaster" Target="/ppt/notesMasters/notesMaster1.xml" Id="Ra734496b6b6a4717"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c147aecdcb84c32" /><Relationship Type="http://schemas.openxmlformats.org/officeDocument/2006/relationships/notesMaster" Target="/ppt/notesMasters/notesMaster1.xml" Id="Rf79ae63dee524f26"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c894d463fa454e79" /><Relationship Type="http://schemas.openxmlformats.org/officeDocument/2006/relationships/notesMaster" Target="/ppt/notesMasters/notesMaster1.xml" Id="Rf9ae5152df7540f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5c0b5fcec0b4ddc" /><Relationship Type="http://schemas.openxmlformats.org/officeDocument/2006/relationships/notesMaster" Target="/ppt/notesMasters/notesMaster1.xml" Id="R073b3160664243a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d89258fb40f4505" /><Relationship Type="http://schemas.openxmlformats.org/officeDocument/2006/relationships/notesMaster" Target="/ppt/notesMasters/notesMaster1.xml" Id="Rc548f1ae892140e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7c4d653f44e4ff1" /><Relationship Type="http://schemas.openxmlformats.org/officeDocument/2006/relationships/notesMaster" Target="/ppt/notesMasters/notesMaster1.xml" Id="Rf8439a2b5e5944c8"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47c807c4a04a4630" /><Relationship Type="http://schemas.openxmlformats.org/officeDocument/2006/relationships/notesMaster" Target="/ppt/notesMasters/notesMaster1.xml" Id="R92b66a33acef40c6"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54d0aaf228f4683" /><Relationship Type="http://schemas.openxmlformats.org/officeDocument/2006/relationships/notesMaster" Target="/ppt/notesMasters/notesMaster1.xml" Id="Rb0d5eb806ee74dd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76f09bd240044f6" /><Relationship Type="http://schemas.openxmlformats.org/officeDocument/2006/relationships/notesMaster" Target="/ppt/notesMasters/notesMaster1.xml" Id="Rd813b168987f446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9dfae895a7345d0" /><Relationship Type="http://schemas.openxmlformats.org/officeDocument/2006/relationships/notesMaster" Target="/ppt/notesMasters/notesMaster1.xml" Id="R104ad4a008a14ba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858b4efd738244eb" /><Relationship Type="http://schemas.openxmlformats.org/officeDocument/2006/relationships/notesMaster" Target="/ppt/notesMasters/notesMaster1.xml" Id="Ra49409ce95e54e5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97ca96f28604d34" /><Relationship Type="http://schemas.openxmlformats.org/officeDocument/2006/relationships/notesMaster" Target="/ppt/notesMasters/notesMaster1.xml" Id="Rc7b98cce11df4968"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2c69f3695be40df" /><Relationship Type="http://schemas.openxmlformats.org/officeDocument/2006/relationships/notesMaster" Target="/ppt/notesMasters/notesMaster1.xml" Id="R58227cdc56124c9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bd1b1f3384cb4fde" /><Relationship Type="http://schemas.openxmlformats.org/officeDocument/2006/relationships/notesMaster" Target="/ppt/notesMasters/notesMaster1.xml" Id="R9bacf07b356045c3"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c49e69798eb40cb" /><Relationship Type="http://schemas.openxmlformats.org/officeDocument/2006/relationships/notesMaster" Target="/ppt/notesMasters/notesMaster1.xml" Id="Rda204a92f44e4947"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469cf0f6db124295" /><Relationship Type="http://schemas.openxmlformats.org/officeDocument/2006/relationships/notesMaster" Target="/ppt/notesMasters/notesMaster1.xml" Id="R92d04d68f0a6421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50750eb11ded4469" /><Relationship Type="http://schemas.openxmlformats.org/officeDocument/2006/relationships/notesMaster" Target="/ppt/notesMasters/notesMaster1.xml" Id="R009be49142a0496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c4508196cb24649" /><Relationship Type="http://schemas.openxmlformats.org/officeDocument/2006/relationships/notesMaster" Target="/ppt/notesMasters/notesMaster1.xml" Id="Rcf550367f533421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3d1499a7e1a46d5" /><Relationship Type="http://schemas.openxmlformats.org/officeDocument/2006/relationships/notesMaster" Target="/ppt/notesMasters/notesMaster1.xml" Id="R57a4418b03a546be"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a8409be375f47f4" /><Relationship Type="http://schemas.openxmlformats.org/officeDocument/2006/relationships/notesMaster" Target="/ppt/notesMasters/notesMaster1.xml" Id="R049df4105740464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ae5ef2b40214e30" /><Relationship Type="http://schemas.openxmlformats.org/officeDocument/2006/relationships/notesMaster" Target="/ppt/notesMasters/notesMaster1.xml" Id="R8ac4abc8742d473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30c9c3a577e1430a" /><Relationship Type="http://schemas.openxmlformats.org/officeDocument/2006/relationships/notesMaster" Target="/ppt/notesMasters/notesMaster1.xml" Id="R3bd9b69a5b1f412a"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2d46a69ec78490b" /><Relationship Type="http://schemas.openxmlformats.org/officeDocument/2006/relationships/notesMaster" Target="/ppt/notesMasters/notesMaster1.xml" Id="Rf4dbdc0561a646b9"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3b60aa4b0774546" /><Relationship Type="http://schemas.openxmlformats.org/officeDocument/2006/relationships/notesMaster" Target="/ppt/notesMasters/notesMaster1.xml" Id="R781e51c7815344f3"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ca6eb9513dd492d" /><Relationship Type="http://schemas.openxmlformats.org/officeDocument/2006/relationships/notesMaster" Target="/ppt/notesMasters/notesMaster1.xml" Id="R69e097817fcf4748"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362e097f42cd448a" /><Relationship Type="http://schemas.openxmlformats.org/officeDocument/2006/relationships/notesMaster" Target="/ppt/notesMasters/notesMaster1.xml" Id="R45373207588a4b51"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7aa9be63f8e4413" /><Relationship Type="http://schemas.openxmlformats.org/officeDocument/2006/relationships/notesMaster" Target="/ppt/notesMasters/notesMaster1.xml" Id="R698a71ef3e61410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8702f25a16134296" /><Relationship Type="http://schemas.openxmlformats.org/officeDocument/2006/relationships/notesMaster" Target="/ppt/notesMasters/notesMaster1.xml" Id="R0df83e6f177849f9"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d3a81692b694669" /><Relationship Type="http://schemas.openxmlformats.org/officeDocument/2006/relationships/notesMaster" Target="/ppt/notesMasters/notesMaster1.xml" Id="Rf8fc88db215945d6"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f56dac7686504e33" /><Relationship Type="http://schemas.openxmlformats.org/officeDocument/2006/relationships/notesMaster" Target="/ppt/notesMasters/notesMaster1.xml" Id="R2e49863b891744fd"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2574cf509e5546f0" /><Relationship Type="http://schemas.openxmlformats.org/officeDocument/2006/relationships/notesMaster" Target="/ppt/notesMasters/notesMaster1.xml" Id="Rc5ba0805c3854103"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c01fbb2b6ed04197" /><Relationship Type="http://schemas.openxmlformats.org/officeDocument/2006/relationships/notesMaster" Target="/ppt/notesMasters/notesMaster1.xml" Id="R88c0015b61c14489"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f8965001a3cc46f1" /><Relationship Type="http://schemas.openxmlformats.org/officeDocument/2006/relationships/notesMaster" Target="/ppt/notesMasters/notesMaster1.xml" Id="Re38b47fe022842ff"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ea5efba68ff74373" /><Relationship Type="http://schemas.openxmlformats.org/officeDocument/2006/relationships/notesMaster" Target="/ppt/notesMasters/notesMaster1.xml" Id="R8013b79cd223452b"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63f1d1dab7474fce" /><Relationship Type="http://schemas.openxmlformats.org/officeDocument/2006/relationships/notesMaster" Target="/ppt/notesMasters/notesMaster1.xml" Id="R7ca3015d4fe144f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55ff5b5dde5c45ff" /><Relationship Type="http://schemas.openxmlformats.org/officeDocument/2006/relationships/notesMaster" Target="/ppt/notesMasters/notesMaster1.xml" Id="R7d640f7120b345f1"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6572c7d8e7f45b2" /><Relationship Type="http://schemas.openxmlformats.org/officeDocument/2006/relationships/notesMaster" Target="/ppt/notesMasters/notesMaster1.xml" Id="R215cc866fed54994"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90ecec9d48d543af" /><Relationship Type="http://schemas.openxmlformats.org/officeDocument/2006/relationships/notesMaster" Target="/ppt/notesMasters/notesMaster1.xml" Id="Rbd807dc5585d4822"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c1607d3eb5114d88" /><Relationship Type="http://schemas.openxmlformats.org/officeDocument/2006/relationships/notesMaster" Target="/ppt/notesMasters/notesMaster1.xml" Id="R710d6f9562c64726"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d4efbcb45af64c60" /><Relationship Type="http://schemas.openxmlformats.org/officeDocument/2006/relationships/notesMaster" Target="/ppt/notesMasters/notesMaster1.xml" Id="Re008006f27994bf8"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96fbac38365440c2" /><Relationship Type="http://schemas.openxmlformats.org/officeDocument/2006/relationships/notesMaster" Target="/ppt/notesMasters/notesMaster1.xml" Id="R08b1c89c953e4616"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643e15149f1450c" /><Relationship Type="http://schemas.openxmlformats.org/officeDocument/2006/relationships/notesMaster" Target="/ppt/notesMasters/notesMaster1.xml" Id="R676b80fa07414f0b"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8c735c42a35b46ab" /><Relationship Type="http://schemas.openxmlformats.org/officeDocument/2006/relationships/notesMaster" Target="/ppt/notesMasters/notesMaster1.xml" Id="Rb2e7a38d73bf4258"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c76d70b6e692430b" /><Relationship Type="http://schemas.openxmlformats.org/officeDocument/2006/relationships/notesMaster" Target="/ppt/notesMasters/notesMaster1.xml" Id="Re4ccc3e55b5444a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70b36730d2174c03" /><Relationship Type="http://schemas.openxmlformats.org/officeDocument/2006/relationships/notesMaster" Target="/ppt/notesMasters/notesMaster1.xml" Id="R50712fd4fb9d4f00"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892fdf97a8134a3d" /><Relationship Type="http://schemas.openxmlformats.org/officeDocument/2006/relationships/notesMaster" Target="/ppt/notesMasters/notesMaster1.xml" Id="Rb7a2b1a817a1495a"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2b1237e6aa0c4f72" /><Relationship Type="http://schemas.openxmlformats.org/officeDocument/2006/relationships/notesMaster" Target="/ppt/notesMasters/notesMaster1.xml" Id="R1e89d8f10bce42fe"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9706ceff5da4804" /><Relationship Type="http://schemas.openxmlformats.org/officeDocument/2006/relationships/notesMaster" Target="/ppt/notesMasters/notesMaster1.xml" Id="Raf8115d3b8d84a8b"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11b22ea7ad9a4dd0" /><Relationship Type="http://schemas.openxmlformats.org/officeDocument/2006/relationships/notesMaster" Target="/ppt/notesMasters/notesMaster1.xml" Id="Rd7c3eb54d3de4ac7"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85a950dc1384414f" /><Relationship Type="http://schemas.openxmlformats.org/officeDocument/2006/relationships/notesMaster" Target="/ppt/notesMasters/notesMaster1.xml" Id="R07a8f40617024e4e"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9210d0477a3149ae" /><Relationship Type="http://schemas.openxmlformats.org/officeDocument/2006/relationships/notesMaster" Target="/ppt/notesMasters/notesMaster1.xml" Id="Ra88bcbe3b8154f86"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8e782fe2b39745fc" /><Relationship Type="http://schemas.openxmlformats.org/officeDocument/2006/relationships/notesMaster" Target="/ppt/notesMasters/notesMaster1.xml" Id="R8838333a278549e4"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e48ab5c54e5e4434" /><Relationship Type="http://schemas.openxmlformats.org/officeDocument/2006/relationships/notesMaster" Target="/ppt/notesMasters/notesMaster1.xml" Id="R599087a8ee294095"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dffc5963acd74467" /><Relationship Type="http://schemas.openxmlformats.org/officeDocument/2006/relationships/notesMaster" Target="/ppt/notesMasters/notesMaster1.xml" Id="Re61be8a236764cf0"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75f21468b4864e41" /><Relationship Type="http://schemas.openxmlformats.org/officeDocument/2006/relationships/notesMaster" Target="/ppt/notesMasters/notesMaster1.xml" Id="Rdfa3d3fe64eb4677"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f6e7038f12ef4e20" /><Relationship Type="http://schemas.openxmlformats.org/officeDocument/2006/relationships/notesMaster" Target="/ppt/notesMasters/notesMaster1.xml" Id="Re527b9be40124467"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e298733dff804e4c" /><Relationship Type="http://schemas.openxmlformats.org/officeDocument/2006/relationships/notesMaster" Target="/ppt/notesMasters/notesMaster1.xml" Id="R6a8b4e2eb41047fb"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cc0824bf41b9405a" /><Relationship Type="http://schemas.openxmlformats.org/officeDocument/2006/relationships/notesMaster" Target="/ppt/notesMasters/notesMaster1.xml" Id="Rd17f55cf8ca64be5"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c07dd85801864322" /><Relationship Type="http://schemas.openxmlformats.org/officeDocument/2006/relationships/notesMaster" Target="/ppt/notesMasters/notesMaster1.xml" Id="R9e46034d127f4180"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89cd9085900943bc" /><Relationship Type="http://schemas.openxmlformats.org/officeDocument/2006/relationships/notesMaster" Target="/ppt/notesMasters/notesMaster1.xml" Id="R182ad3741f384325"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302f3aaa22c9410d" /><Relationship Type="http://schemas.openxmlformats.org/officeDocument/2006/relationships/notesMaster" Target="/ppt/notesMasters/notesMaster1.xml" Id="R53f026bacac94b9b"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d5a504dc78564afa" /><Relationship Type="http://schemas.openxmlformats.org/officeDocument/2006/relationships/notesMaster" Target="/ppt/notesMasters/notesMaster1.xml" Id="Rc1c9e05fa18d4707"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5a3cf404b7ed4f69" /><Relationship Type="http://schemas.openxmlformats.org/officeDocument/2006/relationships/notesMaster" Target="/ppt/notesMasters/notesMaster1.xml" Id="R75aaca56a897467a"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fb49e1cbf0ad4eb0" /><Relationship Type="http://schemas.openxmlformats.org/officeDocument/2006/relationships/notesMaster" Target="/ppt/notesMasters/notesMaster1.xml" Id="Rcbd42567d6384abf"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b1f21adbf4524b73" /><Relationship Type="http://schemas.openxmlformats.org/officeDocument/2006/relationships/notesMaster" Target="/ppt/notesMasters/notesMaster1.xml" Id="Ree7076266bb04ae2"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f6324794457a4288" /><Relationship Type="http://schemas.openxmlformats.org/officeDocument/2006/relationships/notesMaster" Target="/ppt/notesMasters/notesMaster1.xml" Id="Rbeb6b7c0610a4982"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074c0bf1ad6a4af3" /><Relationship Type="http://schemas.openxmlformats.org/officeDocument/2006/relationships/notesMaster" Target="/ppt/notesMasters/notesMaster1.xml" Id="R0021a8e4c8444a09"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76de87e589bd4c84" /><Relationship Type="http://schemas.openxmlformats.org/officeDocument/2006/relationships/notesMaster" Target="/ppt/notesMasters/notesMaster1.xml" Id="Rb414dd36b3fc4877"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314fe0c692c24cff" /><Relationship Type="http://schemas.openxmlformats.org/officeDocument/2006/relationships/notesMaster" Target="/ppt/notesMasters/notesMaster1.xml" Id="Rd423e93c38cd4f37"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e1ec08e96c414264" /><Relationship Type="http://schemas.openxmlformats.org/officeDocument/2006/relationships/notesMaster" Target="/ppt/notesMasters/notesMaster1.xml" Id="R997ef8515b224102"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70d2d85c023b478b" /><Relationship Type="http://schemas.openxmlformats.org/officeDocument/2006/relationships/notesMaster" Target="/ppt/notesMasters/notesMaster1.xml" Id="R0e57e3db1bb44718"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181687e23f3f4db6" /><Relationship Type="http://schemas.openxmlformats.org/officeDocument/2006/relationships/notesMaster" Target="/ppt/notesMasters/notesMaster1.xml" Id="R1e52e0875bf049a0"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d7b21ea1d2144b91" /><Relationship Type="http://schemas.openxmlformats.org/officeDocument/2006/relationships/notesMaster" Target="/ppt/notesMasters/notesMaster1.xml" Id="Re653a6a529a84de6"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a2c98be24094492a" /><Relationship Type="http://schemas.openxmlformats.org/officeDocument/2006/relationships/notesMaster" Target="/ppt/notesMasters/notesMaster1.xml" Id="R447e77a33d174e98"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de430a5778764896" /><Relationship Type="http://schemas.openxmlformats.org/officeDocument/2006/relationships/notesMaster" Target="/ppt/notesMasters/notesMaster1.xml" Id="R28e55fb4b3c4444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1d9e15a562584228" /><Relationship Type="http://schemas.openxmlformats.org/officeDocument/2006/relationships/notesMaster" Target="/ppt/notesMasters/notesMaster1.xml" Id="R2f83da671ec44b0a"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ab91757455dc478a" /><Relationship Type="http://schemas.openxmlformats.org/officeDocument/2006/relationships/notesMaster" Target="/ppt/notesMasters/notesMaster1.xml" Id="Rfc92d514cc1d4a27"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c03f2f72deba4b6f" /><Relationship Type="http://schemas.openxmlformats.org/officeDocument/2006/relationships/notesMaster" Target="/ppt/notesMasters/notesMaster1.xml" Id="R70ab35b621294134"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38aa12b17f64475e" /><Relationship Type="http://schemas.openxmlformats.org/officeDocument/2006/relationships/notesMaster" Target="/ppt/notesMasters/notesMaster1.xml" Id="Re2e8079006134ddf"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9b0d98f5f46f47dd" /><Relationship Type="http://schemas.openxmlformats.org/officeDocument/2006/relationships/notesMaster" Target="/ppt/notesMasters/notesMaster1.xml" Id="R6fd8deef82514dbe"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3f0e5cf263f5487d" /><Relationship Type="http://schemas.openxmlformats.org/officeDocument/2006/relationships/notesMaster" Target="/ppt/notesMasters/notesMaster1.xml" Id="R5276007bb06a4490"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9d355f1f74a04a15" /><Relationship Type="http://schemas.openxmlformats.org/officeDocument/2006/relationships/notesMaster" Target="/ppt/notesMasters/notesMaster1.xml" Id="R72d469afdf6a4353"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c9766ad0c69242a5" /><Relationship Type="http://schemas.openxmlformats.org/officeDocument/2006/relationships/notesMaster" Target="/ppt/notesMasters/notesMaster1.xml" Id="R854fafe21460425b"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adcb52a203394ae3" /><Relationship Type="http://schemas.openxmlformats.org/officeDocument/2006/relationships/notesMaster" Target="/ppt/notesMasters/notesMaster1.xml" Id="R4d05a2e702ce4595"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75495986719c4ec0" /><Relationship Type="http://schemas.openxmlformats.org/officeDocument/2006/relationships/notesMaster" Target="/ppt/notesMasters/notesMaster1.xml" Id="R1d4b9208872946f6"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20915eaafa8c40c0" /><Relationship Type="http://schemas.openxmlformats.org/officeDocument/2006/relationships/notesMaster" Target="/ppt/notesMasters/notesMaster1.xml" Id="R591ac91142094ee6"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b5e7be6dac3a4eb1" /><Relationship Type="http://schemas.openxmlformats.org/officeDocument/2006/relationships/notesMaster" Target="/ppt/notesMasters/notesMaster1.xml" Id="Re30d6e2617f944be"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6a89eb47b7a64f3b" /><Relationship Type="http://schemas.openxmlformats.org/officeDocument/2006/relationships/notesMaster" Target="/ppt/notesMasters/notesMaster1.xml" Id="Ra25d6400d2844374"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5b8b226f1c554142" /><Relationship Type="http://schemas.openxmlformats.org/officeDocument/2006/relationships/notesMaster" Target="/ppt/notesMasters/notesMaster1.xml" Id="Rd4dd4087e73c4263"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8f47e565469e4acf" /><Relationship Type="http://schemas.openxmlformats.org/officeDocument/2006/relationships/notesMaster" Target="/ppt/notesMasters/notesMaster1.xml" Id="R86f47b5a8478485f"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3955eccd27e94120" /><Relationship Type="http://schemas.openxmlformats.org/officeDocument/2006/relationships/notesMaster" Target="/ppt/notesMasters/notesMaster1.xml" Id="Rce96ed84445e4312"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b4742687bd914e33" /><Relationship Type="http://schemas.openxmlformats.org/officeDocument/2006/relationships/notesMaster" Target="/ppt/notesMasters/notesMaster1.xml" Id="Rbfef7d984ded40f8"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99c563ea268d4209" /><Relationship Type="http://schemas.openxmlformats.org/officeDocument/2006/relationships/notesMaster" Target="/ppt/notesMasters/notesMaster1.xml" Id="R66c83df49f9b480d"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9e4afa0679004bb6" /><Relationship Type="http://schemas.openxmlformats.org/officeDocument/2006/relationships/notesMaster" Target="/ppt/notesMasters/notesMaster1.xml" Id="R923b3f2eb7d74536"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76905b87a39148ce" /><Relationship Type="http://schemas.openxmlformats.org/officeDocument/2006/relationships/notesMaster" Target="/ppt/notesMasters/notesMaster1.xml" Id="Rab1a46f9f949496d"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3997ce9efe944755" /><Relationship Type="http://schemas.openxmlformats.org/officeDocument/2006/relationships/notesMaster" Target="/ppt/notesMasters/notesMaster1.xml" Id="R40611710de764210"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c55f72ddea284d30" /><Relationship Type="http://schemas.openxmlformats.org/officeDocument/2006/relationships/notesMaster" Target="/ppt/notesMasters/notesMaster1.xml" Id="Rfd63ff92a0234a25"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6c3020a13cc04d8a" /><Relationship Type="http://schemas.openxmlformats.org/officeDocument/2006/relationships/notesMaster" Target="/ppt/notesMasters/notesMaster1.xml" Id="R66adcacaa9fb492e"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15811d63437b487f" /><Relationship Type="http://schemas.openxmlformats.org/officeDocument/2006/relationships/notesMaster" Target="/ppt/notesMasters/notesMaster1.xml" Id="Rc7f8227fbd7f49f9"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788c7d86190943d6" /><Relationship Type="http://schemas.openxmlformats.org/officeDocument/2006/relationships/notesMaster" Target="/ppt/notesMasters/notesMaster1.xml" Id="Rd548038a75e04e62"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f9eb6b2714db4a3d" /><Relationship Type="http://schemas.openxmlformats.org/officeDocument/2006/relationships/notesMaster" Target="/ppt/notesMasters/notesMaster1.xml" Id="R3c629b9b8fd546bd"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b25f83893f1b4c76" /><Relationship Type="http://schemas.openxmlformats.org/officeDocument/2006/relationships/notesMaster" Target="/ppt/notesMasters/notesMaster1.xml" Id="R16dc9e4d8d2749fd"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bcf19aa1a1bb4443" /><Relationship Type="http://schemas.openxmlformats.org/officeDocument/2006/relationships/notesMaster" Target="/ppt/notesMasters/notesMaster1.xml" Id="R605a6355c8804f44"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403d19a8d3c04e41" /><Relationship Type="http://schemas.openxmlformats.org/officeDocument/2006/relationships/notesMaster" Target="/ppt/notesMasters/notesMaster1.xml" Id="R9c7b3f1a04ef4051"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cbf5fa9c14cc477b" /><Relationship Type="http://schemas.openxmlformats.org/officeDocument/2006/relationships/notesMaster" Target="/ppt/notesMasters/notesMaster1.xml" Id="Rce1605956f464c80"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8102b7c81aec4874" /><Relationship Type="http://schemas.openxmlformats.org/officeDocument/2006/relationships/notesMaster" Target="/ppt/notesMasters/notesMaster1.xml" Id="R42a4d4c135d84407"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95fcd7cba8694951" /><Relationship Type="http://schemas.openxmlformats.org/officeDocument/2006/relationships/notesMaster" Target="/ppt/notesMasters/notesMaster1.xml" Id="Rc6309514bcbc4a6d"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78c835571ee84727" /><Relationship Type="http://schemas.openxmlformats.org/officeDocument/2006/relationships/notesMaster" Target="/ppt/notesMasters/notesMaster1.xml" Id="R3eb1ce3c66f34347"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3655adb68a6d4ab6" /><Relationship Type="http://schemas.openxmlformats.org/officeDocument/2006/relationships/notesMaster" Target="/ppt/notesMasters/notesMaster1.xml" Id="R63299839a9134894"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5ffe9f6d04f04ed9" /><Relationship Type="http://schemas.openxmlformats.org/officeDocument/2006/relationships/notesMaster" Target="/ppt/notesMasters/notesMaster1.xml" Id="Rfd11882e95fe4e5a"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42269aa3df954a06" /><Relationship Type="http://schemas.openxmlformats.org/officeDocument/2006/relationships/notesMaster" Target="/ppt/notesMasters/notesMaster1.xml" Id="R0f0bce7c509f45d0"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85510437bd1e4fa6" /><Relationship Type="http://schemas.openxmlformats.org/officeDocument/2006/relationships/notesMaster" Target="/ppt/notesMasters/notesMaster1.xml" Id="R8255149656d94923"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97ef403c5dbf41bb" /><Relationship Type="http://schemas.openxmlformats.org/officeDocument/2006/relationships/notesMaster" Target="/ppt/notesMasters/notesMaster1.xml" Id="Rbf87e20dba404b9a"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4825fa09fc0f4a83" /><Relationship Type="http://schemas.openxmlformats.org/officeDocument/2006/relationships/notesMaster" Target="/ppt/notesMasters/notesMaster1.xml" Id="R38450c7551334e02"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e892451fbdea4091" /><Relationship Type="http://schemas.openxmlformats.org/officeDocument/2006/relationships/notesMaster" Target="/ppt/notesMasters/notesMaster1.xml" Id="R57c885e1f1af4f10"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1d154e0fc23047d5" /><Relationship Type="http://schemas.openxmlformats.org/officeDocument/2006/relationships/notesMaster" Target="/ppt/notesMasters/notesMaster1.xml" Id="Rdc9e77314bde4f0b"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5854b20f18224b46" /><Relationship Type="http://schemas.openxmlformats.org/officeDocument/2006/relationships/notesMaster" Target="/ppt/notesMasters/notesMaster1.xml" Id="R58c6701441f342d1"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b168d41e287142f0" /><Relationship Type="http://schemas.openxmlformats.org/officeDocument/2006/relationships/notesMaster" Target="/ppt/notesMasters/notesMaster1.xml" Id="Rec8d4a08746546f4"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0c295e9c162046ad" /><Relationship Type="http://schemas.openxmlformats.org/officeDocument/2006/relationships/notesMaster" Target="/ppt/notesMasters/notesMaster1.xml" Id="R50265f7a24d348e6"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cfd4dd7889aa417a" /><Relationship Type="http://schemas.openxmlformats.org/officeDocument/2006/relationships/notesMaster" Target="/ppt/notesMasters/notesMaster1.xml" Id="R431076b8ba7b4d2a" /></Relationships>
</file>

<file path=ppt/notesSlides/_rels/notesSlide163.xml.rels>&#65279;<?xml version="1.0" encoding="utf-8"?><Relationships xmlns="http://schemas.openxmlformats.org/package/2006/relationships"><Relationship Type="http://schemas.openxmlformats.org/officeDocument/2006/relationships/slide" Target="/ppt/slides/slide163.xml" Id="Re1f1f228704543d4" /><Relationship Type="http://schemas.openxmlformats.org/officeDocument/2006/relationships/notesMaster" Target="/ppt/notesMasters/notesMaster1.xml" Id="R97c1c24c3fed45fe" /></Relationships>
</file>

<file path=ppt/notesSlides/_rels/notesSlide164.xml.rels>&#65279;<?xml version="1.0" encoding="utf-8"?><Relationships xmlns="http://schemas.openxmlformats.org/package/2006/relationships"><Relationship Type="http://schemas.openxmlformats.org/officeDocument/2006/relationships/slide" Target="/ppt/slides/slide164.xml" Id="R1874dfd5452d4782" /><Relationship Type="http://schemas.openxmlformats.org/officeDocument/2006/relationships/notesMaster" Target="/ppt/notesMasters/notesMaster1.xml" Id="R039447eb98024099" /></Relationships>
</file>

<file path=ppt/notesSlides/_rels/notesSlide165.xml.rels>&#65279;<?xml version="1.0" encoding="utf-8"?><Relationships xmlns="http://schemas.openxmlformats.org/package/2006/relationships"><Relationship Type="http://schemas.openxmlformats.org/officeDocument/2006/relationships/slide" Target="/ppt/slides/slide165.xml" Id="Reb3d8d0961e34b45" /><Relationship Type="http://schemas.openxmlformats.org/officeDocument/2006/relationships/notesMaster" Target="/ppt/notesMasters/notesMaster1.xml" Id="Rb4f1dd9895574b2f" /></Relationships>
</file>

<file path=ppt/notesSlides/_rels/notesSlide166.xml.rels>&#65279;<?xml version="1.0" encoding="utf-8"?><Relationships xmlns="http://schemas.openxmlformats.org/package/2006/relationships"><Relationship Type="http://schemas.openxmlformats.org/officeDocument/2006/relationships/slide" Target="/ppt/slides/slide166.xml" Id="R069597dcbdfd4aa6" /><Relationship Type="http://schemas.openxmlformats.org/officeDocument/2006/relationships/notesMaster" Target="/ppt/notesMasters/notesMaster1.xml" Id="R067db68aa9b243c9" /></Relationships>
</file>

<file path=ppt/notesSlides/_rels/notesSlide167.xml.rels>&#65279;<?xml version="1.0" encoding="utf-8"?><Relationships xmlns="http://schemas.openxmlformats.org/package/2006/relationships"><Relationship Type="http://schemas.openxmlformats.org/officeDocument/2006/relationships/slide" Target="/ppt/slides/slide167.xml" Id="R79d93d020cc74a36" /><Relationship Type="http://schemas.openxmlformats.org/officeDocument/2006/relationships/notesMaster" Target="/ppt/notesMasters/notesMaster1.xml" Id="R7c570ded754c490f" /></Relationships>
</file>

<file path=ppt/notesSlides/_rels/notesSlide168.xml.rels>&#65279;<?xml version="1.0" encoding="utf-8"?><Relationships xmlns="http://schemas.openxmlformats.org/package/2006/relationships"><Relationship Type="http://schemas.openxmlformats.org/officeDocument/2006/relationships/slide" Target="/ppt/slides/slide168.xml" Id="Rd63fe9f56ab542da" /><Relationship Type="http://schemas.openxmlformats.org/officeDocument/2006/relationships/notesMaster" Target="/ppt/notesMasters/notesMaster1.xml" Id="Rbe8739541f494a86" /></Relationships>
</file>

<file path=ppt/notesSlides/_rels/notesSlide169.xml.rels>&#65279;<?xml version="1.0" encoding="utf-8"?><Relationships xmlns="http://schemas.openxmlformats.org/package/2006/relationships"><Relationship Type="http://schemas.openxmlformats.org/officeDocument/2006/relationships/slide" Target="/ppt/slides/slide169.xml" Id="Rd598f7a77e2744a7" /><Relationship Type="http://schemas.openxmlformats.org/officeDocument/2006/relationships/notesMaster" Target="/ppt/notesMasters/notesMaster1.xml" Id="R48265145f2ac454b" /></Relationships>
</file>

<file path=ppt/notesSlides/_rels/notesSlide170.xml.rels>&#65279;<?xml version="1.0" encoding="utf-8"?><Relationships xmlns="http://schemas.openxmlformats.org/package/2006/relationships"><Relationship Type="http://schemas.openxmlformats.org/officeDocument/2006/relationships/slide" Target="/ppt/slides/slide170.xml" Id="R6c0e3673715c4447" /><Relationship Type="http://schemas.openxmlformats.org/officeDocument/2006/relationships/notesMaster" Target="/ppt/notesMasters/notesMaster1.xml" Id="R37de5ac2f6204fd9" /></Relationships>
</file>

<file path=ppt/notesSlides/_rels/notesSlide171.xml.rels>&#65279;<?xml version="1.0" encoding="utf-8"?><Relationships xmlns="http://schemas.openxmlformats.org/package/2006/relationships"><Relationship Type="http://schemas.openxmlformats.org/officeDocument/2006/relationships/slide" Target="/ppt/slides/slide171.xml" Id="Rcab4822fe80f49a4" /><Relationship Type="http://schemas.openxmlformats.org/officeDocument/2006/relationships/notesMaster" Target="/ppt/notesMasters/notesMaster1.xml" Id="Rf3f9e74a36dc4688" /></Relationships>
</file>

<file path=ppt/notesSlides/_rels/notesSlide172.xml.rels>&#65279;<?xml version="1.0" encoding="utf-8"?><Relationships xmlns="http://schemas.openxmlformats.org/package/2006/relationships"><Relationship Type="http://schemas.openxmlformats.org/officeDocument/2006/relationships/slide" Target="/ppt/slides/slide172.xml" Id="R01fd7f31489743fd" /><Relationship Type="http://schemas.openxmlformats.org/officeDocument/2006/relationships/notesMaster" Target="/ppt/notesMasters/notesMaster1.xml" Id="R851aeeebb49d4d74" /></Relationships>
</file>

<file path=ppt/notesSlides/_rels/notesSlide173.xml.rels>&#65279;<?xml version="1.0" encoding="utf-8"?><Relationships xmlns="http://schemas.openxmlformats.org/package/2006/relationships"><Relationship Type="http://schemas.openxmlformats.org/officeDocument/2006/relationships/slide" Target="/ppt/slides/slide173.xml" Id="R19b848d0e1bf449b" /><Relationship Type="http://schemas.openxmlformats.org/officeDocument/2006/relationships/notesMaster" Target="/ppt/notesMasters/notesMaster1.xml" Id="Rc04f893046ff4c02" /></Relationships>
</file>

<file path=ppt/notesSlides/_rels/notesSlide174.xml.rels>&#65279;<?xml version="1.0" encoding="utf-8"?><Relationships xmlns="http://schemas.openxmlformats.org/package/2006/relationships"><Relationship Type="http://schemas.openxmlformats.org/officeDocument/2006/relationships/slide" Target="/ppt/slides/slide174.xml" Id="R29858debee2142c7" /><Relationship Type="http://schemas.openxmlformats.org/officeDocument/2006/relationships/notesMaster" Target="/ppt/notesMasters/notesMaster1.xml" Id="R6b5fc3ad77b24aec" /></Relationships>
</file>

<file path=ppt/notesSlides/_rels/notesSlide175.xml.rels>&#65279;<?xml version="1.0" encoding="utf-8"?><Relationships xmlns="http://schemas.openxmlformats.org/package/2006/relationships"><Relationship Type="http://schemas.openxmlformats.org/officeDocument/2006/relationships/slide" Target="/ppt/slides/slide175.xml" Id="R1d2869a1098a41b2" /><Relationship Type="http://schemas.openxmlformats.org/officeDocument/2006/relationships/notesMaster" Target="/ppt/notesMasters/notesMaster1.xml" Id="R8ce00a5053b4471a" /></Relationships>
</file>

<file path=ppt/notesSlides/_rels/notesSlide176.xml.rels>&#65279;<?xml version="1.0" encoding="utf-8"?><Relationships xmlns="http://schemas.openxmlformats.org/package/2006/relationships"><Relationship Type="http://schemas.openxmlformats.org/officeDocument/2006/relationships/slide" Target="/ppt/slides/slide176.xml" Id="R662afcb123484ba8" /><Relationship Type="http://schemas.openxmlformats.org/officeDocument/2006/relationships/notesMaster" Target="/ppt/notesMasters/notesMaster1.xml" Id="R0be03ed5476d44f0" /></Relationships>
</file>

<file path=ppt/notesSlides/_rels/notesSlide177.xml.rels>&#65279;<?xml version="1.0" encoding="utf-8"?><Relationships xmlns="http://schemas.openxmlformats.org/package/2006/relationships"><Relationship Type="http://schemas.openxmlformats.org/officeDocument/2006/relationships/slide" Target="/ppt/slides/slide177.xml" Id="R53dcd6cac7074238" /><Relationship Type="http://schemas.openxmlformats.org/officeDocument/2006/relationships/notesMaster" Target="/ppt/notesMasters/notesMaster1.xml" Id="Rde1fb2bb642743a4" /></Relationships>
</file>

<file path=ppt/notesSlides/_rels/notesSlide178.xml.rels>&#65279;<?xml version="1.0" encoding="utf-8"?><Relationships xmlns="http://schemas.openxmlformats.org/package/2006/relationships"><Relationship Type="http://schemas.openxmlformats.org/officeDocument/2006/relationships/slide" Target="/ppt/slides/slide178.xml" Id="R3525baf19d754f1b" /><Relationship Type="http://schemas.openxmlformats.org/officeDocument/2006/relationships/notesMaster" Target="/ppt/notesMasters/notesMaster1.xml" Id="Rdfb394696aab40f9" /></Relationships>
</file>

<file path=ppt/notesSlides/_rels/notesSlide179.xml.rels>&#65279;<?xml version="1.0" encoding="utf-8"?><Relationships xmlns="http://schemas.openxmlformats.org/package/2006/relationships"><Relationship Type="http://schemas.openxmlformats.org/officeDocument/2006/relationships/slide" Target="/ppt/slides/slide179.xml" Id="Rb9116f1056a4419e" /><Relationship Type="http://schemas.openxmlformats.org/officeDocument/2006/relationships/notesMaster" Target="/ppt/notesMasters/notesMaster1.xml" Id="Rb4b9cc7e36154e90" /></Relationships>
</file>

<file path=ppt/notesSlides/_rels/notesSlide180.xml.rels>&#65279;<?xml version="1.0" encoding="utf-8"?><Relationships xmlns="http://schemas.openxmlformats.org/package/2006/relationships"><Relationship Type="http://schemas.openxmlformats.org/officeDocument/2006/relationships/slide" Target="/ppt/slides/slide180.xml" Id="R462329e26b214f85" /><Relationship Type="http://schemas.openxmlformats.org/officeDocument/2006/relationships/notesMaster" Target="/ppt/notesMasters/notesMaster1.xml" Id="Ra49902d71a6f440f" /></Relationships>
</file>

<file path=ppt/notesSlides/_rels/notesSlide181.xml.rels>&#65279;<?xml version="1.0" encoding="utf-8"?><Relationships xmlns="http://schemas.openxmlformats.org/package/2006/relationships"><Relationship Type="http://schemas.openxmlformats.org/officeDocument/2006/relationships/slide" Target="/ppt/slides/slide181.xml" Id="R5e527a312c5f4d45" /><Relationship Type="http://schemas.openxmlformats.org/officeDocument/2006/relationships/notesMaster" Target="/ppt/notesMasters/notesMaster1.xml" Id="R4c01f841864f4411" /></Relationships>
</file>

<file path=ppt/notesSlides/_rels/notesSlide182.xml.rels>&#65279;<?xml version="1.0" encoding="utf-8"?><Relationships xmlns="http://schemas.openxmlformats.org/package/2006/relationships"><Relationship Type="http://schemas.openxmlformats.org/officeDocument/2006/relationships/slide" Target="/ppt/slides/slide182.xml" Id="R0dbfaa6ab5a64052" /><Relationship Type="http://schemas.openxmlformats.org/officeDocument/2006/relationships/notesMaster" Target="/ppt/notesMasters/notesMaster1.xml" Id="R1a650e8c123946e1" /></Relationships>
</file>

<file path=ppt/notesSlides/_rels/notesSlide183.xml.rels>&#65279;<?xml version="1.0" encoding="utf-8"?><Relationships xmlns="http://schemas.openxmlformats.org/package/2006/relationships"><Relationship Type="http://schemas.openxmlformats.org/officeDocument/2006/relationships/slide" Target="/ppt/slides/slide183.xml" Id="R9581e93f8128453d" /><Relationship Type="http://schemas.openxmlformats.org/officeDocument/2006/relationships/notesMaster" Target="/ppt/notesMasters/notesMaster1.xml" Id="Rb85a7503c757451b" /></Relationships>
</file>

<file path=ppt/notesSlides/_rels/notesSlide184.xml.rels>&#65279;<?xml version="1.0" encoding="utf-8"?><Relationships xmlns="http://schemas.openxmlformats.org/package/2006/relationships"><Relationship Type="http://schemas.openxmlformats.org/officeDocument/2006/relationships/slide" Target="/ppt/slides/slide184.xml" Id="R47b0ae0c31834ee3" /><Relationship Type="http://schemas.openxmlformats.org/officeDocument/2006/relationships/notesMaster" Target="/ppt/notesMasters/notesMaster1.xml" Id="R66b1e8368eb7482e" /></Relationships>
</file>

<file path=ppt/notesSlides/_rels/notesSlide185.xml.rels>&#65279;<?xml version="1.0" encoding="utf-8"?><Relationships xmlns="http://schemas.openxmlformats.org/package/2006/relationships"><Relationship Type="http://schemas.openxmlformats.org/officeDocument/2006/relationships/slide" Target="/ppt/slides/slide185.xml" Id="R49edec61984e44a8" /><Relationship Type="http://schemas.openxmlformats.org/officeDocument/2006/relationships/notesMaster" Target="/ppt/notesMasters/notesMaster1.xml" Id="Rcff99048883e4448" /></Relationships>
</file>

<file path=ppt/notesSlides/_rels/notesSlide186.xml.rels>&#65279;<?xml version="1.0" encoding="utf-8"?><Relationships xmlns="http://schemas.openxmlformats.org/package/2006/relationships"><Relationship Type="http://schemas.openxmlformats.org/officeDocument/2006/relationships/slide" Target="/ppt/slides/slide186.xml" Id="R3582c9ed30194909" /><Relationship Type="http://schemas.openxmlformats.org/officeDocument/2006/relationships/notesMaster" Target="/ppt/notesMasters/notesMaster1.xml" Id="R8b43b6f20f2f4d74" /></Relationships>
</file>

<file path=ppt/notesSlides/_rels/notesSlide187.xml.rels>&#65279;<?xml version="1.0" encoding="utf-8"?><Relationships xmlns="http://schemas.openxmlformats.org/package/2006/relationships"><Relationship Type="http://schemas.openxmlformats.org/officeDocument/2006/relationships/slide" Target="/ppt/slides/slide187.xml" Id="R5c1baf14387c4cbd" /><Relationship Type="http://schemas.openxmlformats.org/officeDocument/2006/relationships/notesMaster" Target="/ppt/notesMasters/notesMaster1.xml" Id="R8204405e81f344bf" /></Relationships>
</file>

<file path=ppt/notesSlides/_rels/notesSlide188.xml.rels>&#65279;<?xml version="1.0" encoding="utf-8"?><Relationships xmlns="http://schemas.openxmlformats.org/package/2006/relationships"><Relationship Type="http://schemas.openxmlformats.org/officeDocument/2006/relationships/slide" Target="/ppt/slides/slide188.xml" Id="R23c499b6049b4d2c" /><Relationship Type="http://schemas.openxmlformats.org/officeDocument/2006/relationships/notesMaster" Target="/ppt/notesMasters/notesMaster1.xml" Id="R1c84e4605d1a4448" /></Relationships>
</file>

<file path=ppt/notesSlides/_rels/notesSlide189.xml.rels>&#65279;<?xml version="1.0" encoding="utf-8"?><Relationships xmlns="http://schemas.openxmlformats.org/package/2006/relationships"><Relationship Type="http://schemas.openxmlformats.org/officeDocument/2006/relationships/slide" Target="/ppt/slides/slide189.xml" Id="R5916e6dca38c4762" /><Relationship Type="http://schemas.openxmlformats.org/officeDocument/2006/relationships/notesMaster" Target="/ppt/notesMasters/notesMaster1.xml" Id="R0c1a2a3ace76474c" /></Relationships>
</file>

<file path=ppt/notesSlides/_rels/notesSlide190.xml.rels>&#65279;<?xml version="1.0" encoding="utf-8"?><Relationships xmlns="http://schemas.openxmlformats.org/package/2006/relationships"><Relationship Type="http://schemas.openxmlformats.org/officeDocument/2006/relationships/slide" Target="/ppt/slides/slide190.xml" Id="R9ff511a169524c3a" /><Relationship Type="http://schemas.openxmlformats.org/officeDocument/2006/relationships/notesMaster" Target="/ppt/notesMasters/notesMaster1.xml" Id="R2f0d0a628a2440c4" /></Relationships>
</file>

<file path=ppt/notesSlides/_rels/notesSlide191.xml.rels>&#65279;<?xml version="1.0" encoding="utf-8"?><Relationships xmlns="http://schemas.openxmlformats.org/package/2006/relationships"><Relationship Type="http://schemas.openxmlformats.org/officeDocument/2006/relationships/slide" Target="/ppt/slides/slide191.xml" Id="R1ecbe05a821b4075" /><Relationship Type="http://schemas.openxmlformats.org/officeDocument/2006/relationships/notesMaster" Target="/ppt/notesMasters/notesMaster1.xml" Id="Re235db0f1dba4917" /></Relationships>
</file>

<file path=ppt/notesSlides/_rels/notesSlide192.xml.rels>&#65279;<?xml version="1.0" encoding="utf-8"?><Relationships xmlns="http://schemas.openxmlformats.org/package/2006/relationships"><Relationship Type="http://schemas.openxmlformats.org/officeDocument/2006/relationships/slide" Target="/ppt/slides/slide192.xml" Id="R9bed783755cf4a8c" /><Relationship Type="http://schemas.openxmlformats.org/officeDocument/2006/relationships/notesMaster" Target="/ppt/notesMasters/notesMaster1.xml" Id="Rfc4dfde35a674c14" /></Relationships>
</file>

<file path=ppt/notesSlides/_rels/notesSlide193.xml.rels>&#65279;<?xml version="1.0" encoding="utf-8"?><Relationships xmlns="http://schemas.openxmlformats.org/package/2006/relationships"><Relationship Type="http://schemas.openxmlformats.org/officeDocument/2006/relationships/slide" Target="/ppt/slides/slide193.xml" Id="R0fe553b6aa144b4a" /><Relationship Type="http://schemas.openxmlformats.org/officeDocument/2006/relationships/notesMaster" Target="/ppt/notesMasters/notesMaster1.xml" Id="R6f2f55e8d5494c7e" /></Relationships>
</file>

<file path=ppt/notesSlides/_rels/notesSlide194.xml.rels>&#65279;<?xml version="1.0" encoding="utf-8"?><Relationships xmlns="http://schemas.openxmlformats.org/package/2006/relationships"><Relationship Type="http://schemas.openxmlformats.org/officeDocument/2006/relationships/slide" Target="/ppt/slides/slide194.xml" Id="R03453453aa3c47cf" /><Relationship Type="http://schemas.openxmlformats.org/officeDocument/2006/relationships/notesMaster" Target="/ppt/notesMasters/notesMaster1.xml" Id="R8384e067bd1f411a" /></Relationships>
</file>

<file path=ppt/notesSlides/_rels/notesSlide195.xml.rels>&#65279;<?xml version="1.0" encoding="utf-8"?><Relationships xmlns="http://schemas.openxmlformats.org/package/2006/relationships"><Relationship Type="http://schemas.openxmlformats.org/officeDocument/2006/relationships/slide" Target="/ppt/slides/slide195.xml" Id="R7de2a290f63b4709" /><Relationship Type="http://schemas.openxmlformats.org/officeDocument/2006/relationships/notesMaster" Target="/ppt/notesMasters/notesMaster1.xml" Id="R457d3797314d47af" /></Relationships>
</file>

<file path=ppt/notesSlides/_rels/notesSlide196.xml.rels>&#65279;<?xml version="1.0" encoding="utf-8"?><Relationships xmlns="http://schemas.openxmlformats.org/package/2006/relationships"><Relationship Type="http://schemas.openxmlformats.org/officeDocument/2006/relationships/slide" Target="/ppt/slides/slide196.xml" Id="R7b63b37e6c6f48ea" /><Relationship Type="http://schemas.openxmlformats.org/officeDocument/2006/relationships/notesMaster" Target="/ppt/notesMasters/notesMaster1.xml" Id="Raf54e94c2ad14bbf" /></Relationships>
</file>

<file path=ppt/notesSlides/_rels/notesSlide197.xml.rels>&#65279;<?xml version="1.0" encoding="utf-8"?><Relationships xmlns="http://schemas.openxmlformats.org/package/2006/relationships"><Relationship Type="http://schemas.openxmlformats.org/officeDocument/2006/relationships/slide" Target="/ppt/slides/slide197.xml" Id="R6af7c89aeffd408a" /><Relationship Type="http://schemas.openxmlformats.org/officeDocument/2006/relationships/notesMaster" Target="/ppt/notesMasters/notesMaster1.xml" Id="R2d0b2270458f44ac" /></Relationships>
</file>

<file path=ppt/notesSlides/_rels/notesSlide198.xml.rels>&#65279;<?xml version="1.0" encoding="utf-8"?><Relationships xmlns="http://schemas.openxmlformats.org/package/2006/relationships"><Relationship Type="http://schemas.openxmlformats.org/officeDocument/2006/relationships/slide" Target="/ppt/slides/slide198.xml" Id="Rced0e5f523d24784" /><Relationship Type="http://schemas.openxmlformats.org/officeDocument/2006/relationships/notesMaster" Target="/ppt/notesMasters/notesMaster1.xml" Id="Rf726cbf7952e4495" /></Relationships>
</file>

<file path=ppt/notesSlides/_rels/notesSlide199.xml.rels>&#65279;<?xml version="1.0" encoding="utf-8"?><Relationships xmlns="http://schemas.openxmlformats.org/package/2006/relationships"><Relationship Type="http://schemas.openxmlformats.org/officeDocument/2006/relationships/slide" Target="/ppt/slides/slide199.xml" Id="R3e7542f835414491" /><Relationship Type="http://schemas.openxmlformats.org/officeDocument/2006/relationships/notesMaster" Target="/ppt/notesMasters/notesMaster1.xml" Id="Rd87cd6e7bdb9488d" /></Relationships>
</file>

<file path=ppt/notesSlides/_rels/notesSlide200.xml.rels>&#65279;<?xml version="1.0" encoding="utf-8"?><Relationships xmlns="http://schemas.openxmlformats.org/package/2006/relationships"><Relationship Type="http://schemas.openxmlformats.org/officeDocument/2006/relationships/slide" Target="/ppt/slides/slide200.xml" Id="R5b3ddbabcfde42cf" /><Relationship Type="http://schemas.openxmlformats.org/officeDocument/2006/relationships/notesMaster" Target="/ppt/notesMasters/notesMaster1.xml" Id="Ra69b4feed1784dc2" /></Relationships>
</file>

<file path=ppt/notesSlides/_rels/notesSlide201.xml.rels>&#65279;<?xml version="1.0" encoding="utf-8"?><Relationships xmlns="http://schemas.openxmlformats.org/package/2006/relationships"><Relationship Type="http://schemas.openxmlformats.org/officeDocument/2006/relationships/slide" Target="/ppt/slides/slide201.xml" Id="Rcd01683cc83d4dc4" /><Relationship Type="http://schemas.openxmlformats.org/officeDocument/2006/relationships/notesMaster" Target="/ppt/notesMasters/notesMaster1.xml" Id="R6bc07f0306454f13" /></Relationships>
</file>

<file path=ppt/notesSlides/_rels/notesSlide202.xml.rels>&#65279;<?xml version="1.0" encoding="utf-8"?><Relationships xmlns="http://schemas.openxmlformats.org/package/2006/relationships"><Relationship Type="http://schemas.openxmlformats.org/officeDocument/2006/relationships/slide" Target="/ppt/slides/slide202.xml" Id="R8711dc2925d0494b" /><Relationship Type="http://schemas.openxmlformats.org/officeDocument/2006/relationships/notesMaster" Target="/ppt/notesMasters/notesMaster1.xml" Id="Re41d833c915c4fad" /></Relationships>
</file>

<file path=ppt/notesSlides/_rels/notesSlide203.xml.rels>&#65279;<?xml version="1.0" encoding="utf-8"?><Relationships xmlns="http://schemas.openxmlformats.org/package/2006/relationships"><Relationship Type="http://schemas.openxmlformats.org/officeDocument/2006/relationships/slide" Target="/ppt/slides/slide203.xml" Id="R1c913d778ded42b9" /><Relationship Type="http://schemas.openxmlformats.org/officeDocument/2006/relationships/notesMaster" Target="/ppt/notesMasters/notesMaster1.xml" Id="Rc69f037deee64f38" /></Relationships>
</file>

<file path=ppt/notesSlides/_rels/notesSlide204.xml.rels>&#65279;<?xml version="1.0" encoding="utf-8"?><Relationships xmlns="http://schemas.openxmlformats.org/package/2006/relationships"><Relationship Type="http://schemas.openxmlformats.org/officeDocument/2006/relationships/slide" Target="/ppt/slides/slide204.xml" Id="R1441d926541b40ad" /><Relationship Type="http://schemas.openxmlformats.org/officeDocument/2006/relationships/notesMaster" Target="/ppt/notesMasters/notesMaster1.xml" Id="R695e44d4d8bb4cc5" /></Relationships>
</file>

<file path=ppt/notesSlides/_rels/notesSlide205.xml.rels>&#65279;<?xml version="1.0" encoding="utf-8"?><Relationships xmlns="http://schemas.openxmlformats.org/package/2006/relationships"><Relationship Type="http://schemas.openxmlformats.org/officeDocument/2006/relationships/slide" Target="/ppt/slides/slide205.xml" Id="R3105edd6d726462c" /><Relationship Type="http://schemas.openxmlformats.org/officeDocument/2006/relationships/notesMaster" Target="/ppt/notesMasters/notesMaster1.xml" Id="R2e9092d998274517" /></Relationships>
</file>

<file path=ppt/notesSlides/_rels/notesSlide206.xml.rels>&#65279;<?xml version="1.0" encoding="utf-8"?><Relationships xmlns="http://schemas.openxmlformats.org/package/2006/relationships"><Relationship Type="http://schemas.openxmlformats.org/officeDocument/2006/relationships/slide" Target="/ppt/slides/slide206.xml" Id="R8b12c02408a14b5e" /><Relationship Type="http://schemas.openxmlformats.org/officeDocument/2006/relationships/notesMaster" Target="/ppt/notesMasters/notesMaster1.xml" Id="R6ee57f8e4df44561" /></Relationships>
</file>

<file path=ppt/notesSlides/_rels/notesSlide207.xml.rels>&#65279;<?xml version="1.0" encoding="utf-8"?><Relationships xmlns="http://schemas.openxmlformats.org/package/2006/relationships"><Relationship Type="http://schemas.openxmlformats.org/officeDocument/2006/relationships/slide" Target="/ppt/slides/slide207.xml" Id="R14504a3a70104c80" /><Relationship Type="http://schemas.openxmlformats.org/officeDocument/2006/relationships/notesMaster" Target="/ppt/notesMasters/notesMaster1.xml" Id="R9638efce07b94f73" /></Relationships>
</file>

<file path=ppt/notesSlides/_rels/notesSlide208.xml.rels>&#65279;<?xml version="1.0" encoding="utf-8"?><Relationships xmlns="http://schemas.openxmlformats.org/package/2006/relationships"><Relationship Type="http://schemas.openxmlformats.org/officeDocument/2006/relationships/slide" Target="/ppt/slides/slide208.xml" Id="R568bc6f9688c4840" /><Relationship Type="http://schemas.openxmlformats.org/officeDocument/2006/relationships/notesMaster" Target="/ppt/notesMasters/notesMaster1.xml" Id="R6fbba7fc96734a8f" /></Relationships>
</file>

<file path=ppt/notesSlides/_rels/notesSlide209.xml.rels>&#65279;<?xml version="1.0" encoding="utf-8"?><Relationships xmlns="http://schemas.openxmlformats.org/package/2006/relationships"><Relationship Type="http://schemas.openxmlformats.org/officeDocument/2006/relationships/slide" Target="/ppt/slides/slide209.xml" Id="Rb566d8d840e9404a" /><Relationship Type="http://schemas.openxmlformats.org/officeDocument/2006/relationships/notesMaster" Target="/ppt/notesMasters/notesMaster1.xml" Id="R5d2f92a05f08474f" /></Relationships>
</file>

<file path=ppt/notesSlides/_rels/notesSlide210.xml.rels>&#65279;<?xml version="1.0" encoding="utf-8"?><Relationships xmlns="http://schemas.openxmlformats.org/package/2006/relationships"><Relationship Type="http://schemas.openxmlformats.org/officeDocument/2006/relationships/slide" Target="/ppt/slides/slide210.xml" Id="R12bd464fda074f50" /><Relationship Type="http://schemas.openxmlformats.org/officeDocument/2006/relationships/notesMaster" Target="/ppt/notesMasters/notesMaster1.xml" Id="R322b00a05f1a46ff" /></Relationships>
</file>

<file path=ppt/notesSlides/_rels/notesSlide211.xml.rels>&#65279;<?xml version="1.0" encoding="utf-8"?><Relationships xmlns="http://schemas.openxmlformats.org/package/2006/relationships"><Relationship Type="http://schemas.openxmlformats.org/officeDocument/2006/relationships/slide" Target="/ppt/slides/slide211.xml" Id="R3ad50363a12e4d51" /><Relationship Type="http://schemas.openxmlformats.org/officeDocument/2006/relationships/notesMaster" Target="/ppt/notesMasters/notesMaster1.xml" Id="R29656371312b4727" /></Relationships>
</file>

<file path=ppt/notesSlides/_rels/notesSlide212.xml.rels>&#65279;<?xml version="1.0" encoding="utf-8"?><Relationships xmlns="http://schemas.openxmlformats.org/package/2006/relationships"><Relationship Type="http://schemas.openxmlformats.org/officeDocument/2006/relationships/slide" Target="/ppt/slides/slide212.xml" Id="R4ecd8ecfebbe480e" /><Relationship Type="http://schemas.openxmlformats.org/officeDocument/2006/relationships/notesMaster" Target="/ppt/notesMasters/notesMaster1.xml" Id="Rff27ae71f2524e89" /></Relationships>
</file>

<file path=ppt/notesSlides/_rels/notesSlide213.xml.rels>&#65279;<?xml version="1.0" encoding="utf-8"?><Relationships xmlns="http://schemas.openxmlformats.org/package/2006/relationships"><Relationship Type="http://schemas.openxmlformats.org/officeDocument/2006/relationships/slide" Target="/ppt/slides/slide213.xml" Id="R0edfa7554f5d4545" /><Relationship Type="http://schemas.openxmlformats.org/officeDocument/2006/relationships/notesMaster" Target="/ppt/notesMasters/notesMaster1.xml" Id="R3a6946cbc2964e68" /></Relationships>
</file>

<file path=ppt/notesSlides/_rels/notesSlide214.xml.rels>&#65279;<?xml version="1.0" encoding="utf-8"?><Relationships xmlns="http://schemas.openxmlformats.org/package/2006/relationships"><Relationship Type="http://schemas.openxmlformats.org/officeDocument/2006/relationships/slide" Target="/ppt/slides/slide214.xml" Id="Rdc8d0fb369014a8c" /><Relationship Type="http://schemas.openxmlformats.org/officeDocument/2006/relationships/notesMaster" Target="/ppt/notesMasters/notesMaster1.xml" Id="R00ed57de2c294a30" /></Relationships>
</file>

<file path=ppt/notesSlides/_rels/notesSlide215.xml.rels>&#65279;<?xml version="1.0" encoding="utf-8"?><Relationships xmlns="http://schemas.openxmlformats.org/package/2006/relationships"><Relationship Type="http://schemas.openxmlformats.org/officeDocument/2006/relationships/slide" Target="/ppt/slides/slide215.xml" Id="R691abd5731344ec9" /><Relationship Type="http://schemas.openxmlformats.org/officeDocument/2006/relationships/notesMaster" Target="/ppt/notesMasters/notesMaster1.xml" Id="Rcc4e155044f64ac2" /></Relationships>
</file>

<file path=ppt/notesSlides/_rels/notesSlide216.xml.rels>&#65279;<?xml version="1.0" encoding="utf-8"?><Relationships xmlns="http://schemas.openxmlformats.org/package/2006/relationships"><Relationship Type="http://schemas.openxmlformats.org/officeDocument/2006/relationships/slide" Target="/ppt/slides/slide216.xml" Id="Rd8ad9d4aec51450e" /><Relationship Type="http://schemas.openxmlformats.org/officeDocument/2006/relationships/notesMaster" Target="/ppt/notesMasters/notesMaster1.xml" Id="R1da6b04e6d0a465b" /></Relationships>
</file>

<file path=ppt/notesSlides/_rels/notesSlide217.xml.rels>&#65279;<?xml version="1.0" encoding="utf-8"?><Relationships xmlns="http://schemas.openxmlformats.org/package/2006/relationships"><Relationship Type="http://schemas.openxmlformats.org/officeDocument/2006/relationships/slide" Target="/ppt/slides/slide217.xml" Id="Rffbe743191bf44e0" /><Relationship Type="http://schemas.openxmlformats.org/officeDocument/2006/relationships/notesMaster" Target="/ppt/notesMasters/notesMaster1.xml" Id="Rb1870588423142ff" /></Relationships>
</file>

<file path=ppt/notesSlides/_rels/notesSlide218.xml.rels>&#65279;<?xml version="1.0" encoding="utf-8"?><Relationships xmlns="http://schemas.openxmlformats.org/package/2006/relationships"><Relationship Type="http://schemas.openxmlformats.org/officeDocument/2006/relationships/slide" Target="/ppt/slides/slide218.xml" Id="Ra3f9c3f3bf5749a4" /><Relationship Type="http://schemas.openxmlformats.org/officeDocument/2006/relationships/notesMaster" Target="/ppt/notesMasters/notesMaster1.xml" Id="R918a36687dc449fd" /></Relationships>
</file>

<file path=ppt/notesSlides/_rels/notesSlide219.xml.rels>&#65279;<?xml version="1.0" encoding="utf-8"?><Relationships xmlns="http://schemas.openxmlformats.org/package/2006/relationships"><Relationship Type="http://schemas.openxmlformats.org/officeDocument/2006/relationships/slide" Target="/ppt/slides/slide219.xml" Id="Rf09759e13ebe4bd0" /><Relationship Type="http://schemas.openxmlformats.org/officeDocument/2006/relationships/notesMaster" Target="/ppt/notesMasters/notesMaster1.xml" Id="R9430aa9bee424c8c" /></Relationships>
</file>

<file path=ppt/notesSlides/_rels/notesSlide220.xml.rels>&#65279;<?xml version="1.0" encoding="utf-8"?><Relationships xmlns="http://schemas.openxmlformats.org/package/2006/relationships"><Relationship Type="http://schemas.openxmlformats.org/officeDocument/2006/relationships/slide" Target="/ppt/slides/slide220.xml" Id="Rab6e027b475f46e5" /><Relationship Type="http://schemas.openxmlformats.org/officeDocument/2006/relationships/notesMaster" Target="/ppt/notesMasters/notesMaster1.xml" Id="R59028d86840f41a5" /></Relationships>
</file>

<file path=ppt/notesSlides/_rels/notesSlide221.xml.rels>&#65279;<?xml version="1.0" encoding="utf-8"?><Relationships xmlns="http://schemas.openxmlformats.org/package/2006/relationships"><Relationship Type="http://schemas.openxmlformats.org/officeDocument/2006/relationships/slide" Target="/ppt/slides/slide221.xml" Id="Rc5d7d54f27e846be" /><Relationship Type="http://schemas.openxmlformats.org/officeDocument/2006/relationships/notesMaster" Target="/ppt/notesMasters/notesMaster1.xml" Id="Re525d20cba2f4e7f" /></Relationships>
</file>

<file path=ppt/notesSlides/_rels/notesSlide222.xml.rels>&#65279;<?xml version="1.0" encoding="utf-8"?><Relationships xmlns="http://schemas.openxmlformats.org/package/2006/relationships"><Relationship Type="http://schemas.openxmlformats.org/officeDocument/2006/relationships/slide" Target="/ppt/slides/slide222.xml" Id="R390c8b798f014c09" /><Relationship Type="http://schemas.openxmlformats.org/officeDocument/2006/relationships/notesMaster" Target="/ppt/notesMasters/notesMaster1.xml" Id="Rc69c373a4cd54857" /></Relationships>
</file>

<file path=ppt/notesSlides/_rels/notesSlide223.xml.rels>&#65279;<?xml version="1.0" encoding="utf-8"?><Relationships xmlns="http://schemas.openxmlformats.org/package/2006/relationships"><Relationship Type="http://schemas.openxmlformats.org/officeDocument/2006/relationships/slide" Target="/ppt/slides/slide223.xml" Id="Rbb7b26fa90ff4794" /><Relationship Type="http://schemas.openxmlformats.org/officeDocument/2006/relationships/notesMaster" Target="/ppt/notesMasters/notesMaster1.xml" Id="Rf644d10242394c26" /></Relationships>
</file>

<file path=ppt/notesSlides/_rels/notesSlide224.xml.rels>&#65279;<?xml version="1.0" encoding="utf-8"?><Relationships xmlns="http://schemas.openxmlformats.org/package/2006/relationships"><Relationship Type="http://schemas.openxmlformats.org/officeDocument/2006/relationships/slide" Target="/ppt/slides/slide224.xml" Id="Rb26d8eccbe094df0" /><Relationship Type="http://schemas.openxmlformats.org/officeDocument/2006/relationships/notesMaster" Target="/ppt/notesMasters/notesMaster1.xml" Id="Ra5bb149c0edb497e" /></Relationships>
</file>

<file path=ppt/notesSlides/_rels/notesSlide225.xml.rels>&#65279;<?xml version="1.0" encoding="utf-8"?><Relationships xmlns="http://schemas.openxmlformats.org/package/2006/relationships"><Relationship Type="http://schemas.openxmlformats.org/officeDocument/2006/relationships/slide" Target="/ppt/slides/slide225.xml" Id="R8531ebd66c284830" /><Relationship Type="http://schemas.openxmlformats.org/officeDocument/2006/relationships/notesMaster" Target="/ppt/notesMasters/notesMaster1.xml" Id="R77b111d418e84dec" /></Relationships>
</file>

<file path=ppt/notesSlides/_rels/notesSlide226.xml.rels>&#65279;<?xml version="1.0" encoding="utf-8"?><Relationships xmlns="http://schemas.openxmlformats.org/package/2006/relationships"><Relationship Type="http://schemas.openxmlformats.org/officeDocument/2006/relationships/slide" Target="/ppt/slides/slide226.xml" Id="Rd1d5a5e646404013" /><Relationship Type="http://schemas.openxmlformats.org/officeDocument/2006/relationships/notesMaster" Target="/ppt/notesMasters/notesMaster1.xml" Id="R472abfaab6ca4740" /></Relationships>
</file>

<file path=ppt/notesSlides/_rels/notesSlide227.xml.rels>&#65279;<?xml version="1.0" encoding="utf-8"?><Relationships xmlns="http://schemas.openxmlformats.org/package/2006/relationships"><Relationship Type="http://schemas.openxmlformats.org/officeDocument/2006/relationships/slide" Target="/ppt/slides/slide227.xml" Id="R1c6bf225b5624758" /><Relationship Type="http://schemas.openxmlformats.org/officeDocument/2006/relationships/notesMaster" Target="/ppt/notesMasters/notesMaster1.xml" Id="R5d0854273a544ccd" /></Relationships>
</file>

<file path=ppt/notesSlides/_rels/notesSlide228.xml.rels>&#65279;<?xml version="1.0" encoding="utf-8"?><Relationships xmlns="http://schemas.openxmlformats.org/package/2006/relationships"><Relationship Type="http://schemas.openxmlformats.org/officeDocument/2006/relationships/slide" Target="/ppt/slides/slide228.xml" Id="R4cc777e3fd8e49d7" /><Relationship Type="http://schemas.openxmlformats.org/officeDocument/2006/relationships/notesMaster" Target="/ppt/notesMasters/notesMaster1.xml" Id="Rcf73a53bdbfd4e6b" /></Relationships>
</file>

<file path=ppt/notesSlides/_rels/notesSlide229.xml.rels>&#65279;<?xml version="1.0" encoding="utf-8"?><Relationships xmlns="http://schemas.openxmlformats.org/package/2006/relationships"><Relationship Type="http://schemas.openxmlformats.org/officeDocument/2006/relationships/slide" Target="/ppt/slides/slide229.xml" Id="Rec030b965ffa4b8a" /><Relationship Type="http://schemas.openxmlformats.org/officeDocument/2006/relationships/notesMaster" Target="/ppt/notesMasters/notesMaster1.xml" Id="R1c83d30e2fa64b1c" /></Relationships>
</file>

<file path=ppt/notesSlides/_rels/notesSlide230.xml.rels>&#65279;<?xml version="1.0" encoding="utf-8"?><Relationships xmlns="http://schemas.openxmlformats.org/package/2006/relationships"><Relationship Type="http://schemas.openxmlformats.org/officeDocument/2006/relationships/slide" Target="/ppt/slides/slide230.xml" Id="Re5e58672305e40ee" /><Relationship Type="http://schemas.openxmlformats.org/officeDocument/2006/relationships/notesMaster" Target="/ppt/notesMasters/notesMaster1.xml" Id="R6bea3b514dca43dc" /></Relationships>
</file>

<file path=ppt/notesSlides/_rels/notesSlide231.xml.rels>&#65279;<?xml version="1.0" encoding="utf-8"?><Relationships xmlns="http://schemas.openxmlformats.org/package/2006/relationships"><Relationship Type="http://schemas.openxmlformats.org/officeDocument/2006/relationships/slide" Target="/ppt/slides/slide231.xml" Id="R5710030a31354829" /><Relationship Type="http://schemas.openxmlformats.org/officeDocument/2006/relationships/notesMaster" Target="/ppt/notesMasters/notesMaster1.xml" Id="R220132c16ca14696" /></Relationships>
</file>

<file path=ppt/notesSlides/_rels/notesSlide232.xml.rels>&#65279;<?xml version="1.0" encoding="utf-8"?><Relationships xmlns="http://schemas.openxmlformats.org/package/2006/relationships"><Relationship Type="http://schemas.openxmlformats.org/officeDocument/2006/relationships/slide" Target="/ppt/slides/slide232.xml" Id="R8b880ce70ed343f0" /><Relationship Type="http://schemas.openxmlformats.org/officeDocument/2006/relationships/notesMaster" Target="/ppt/notesMasters/notesMaster1.xml" Id="R23104a8b101348e5" /></Relationships>
</file>

<file path=ppt/notesSlides/_rels/notesSlide233.xml.rels>&#65279;<?xml version="1.0" encoding="utf-8"?><Relationships xmlns="http://schemas.openxmlformats.org/package/2006/relationships"><Relationship Type="http://schemas.openxmlformats.org/officeDocument/2006/relationships/slide" Target="/ppt/slides/slide233.xml" Id="R8b206fe99c44430d" /><Relationship Type="http://schemas.openxmlformats.org/officeDocument/2006/relationships/notesMaster" Target="/ppt/notesMasters/notesMaster1.xml" Id="R93a40441fc2c415e" /></Relationships>
</file>

<file path=ppt/notesSlides/_rels/notesSlide234.xml.rels>&#65279;<?xml version="1.0" encoding="utf-8"?><Relationships xmlns="http://schemas.openxmlformats.org/package/2006/relationships"><Relationship Type="http://schemas.openxmlformats.org/officeDocument/2006/relationships/slide" Target="/ppt/slides/slide234.xml" Id="R62e793c4afda4947" /><Relationship Type="http://schemas.openxmlformats.org/officeDocument/2006/relationships/notesMaster" Target="/ppt/notesMasters/notesMaster1.xml" Id="R539c973c677548e1" /></Relationships>
</file>

<file path=ppt/notesSlides/_rels/notesSlide235.xml.rels>&#65279;<?xml version="1.0" encoding="utf-8"?><Relationships xmlns="http://schemas.openxmlformats.org/package/2006/relationships"><Relationship Type="http://schemas.openxmlformats.org/officeDocument/2006/relationships/slide" Target="/ppt/slides/slide235.xml" Id="R756cdfa9f7ad4f5a" /><Relationship Type="http://schemas.openxmlformats.org/officeDocument/2006/relationships/notesMaster" Target="/ppt/notesMasters/notesMaster1.xml" Id="Rf88fa312913a4904" /></Relationships>
</file>

<file path=ppt/notesSlides/_rels/notesSlide236.xml.rels>&#65279;<?xml version="1.0" encoding="utf-8"?><Relationships xmlns="http://schemas.openxmlformats.org/package/2006/relationships"><Relationship Type="http://schemas.openxmlformats.org/officeDocument/2006/relationships/slide" Target="/ppt/slides/slide236.xml" Id="Rda009c4564524c26" /><Relationship Type="http://schemas.openxmlformats.org/officeDocument/2006/relationships/notesMaster" Target="/ppt/notesMasters/notesMaster1.xml" Id="Re291469dacff4d99" /></Relationships>
</file>

<file path=ppt/notesSlides/_rels/notesSlide237.xml.rels>&#65279;<?xml version="1.0" encoding="utf-8"?><Relationships xmlns="http://schemas.openxmlformats.org/package/2006/relationships"><Relationship Type="http://schemas.openxmlformats.org/officeDocument/2006/relationships/slide" Target="/ppt/slides/slide237.xml" Id="Re2abd86d276a4255" /><Relationship Type="http://schemas.openxmlformats.org/officeDocument/2006/relationships/notesMaster" Target="/ppt/notesMasters/notesMaster1.xml" Id="Rb81c296e5f954cef" /></Relationships>
</file>

<file path=ppt/notesSlides/_rels/notesSlide238.xml.rels>&#65279;<?xml version="1.0" encoding="utf-8"?><Relationships xmlns="http://schemas.openxmlformats.org/package/2006/relationships"><Relationship Type="http://schemas.openxmlformats.org/officeDocument/2006/relationships/slide" Target="/ppt/slides/slide238.xml" Id="R1515c9f9ae584e26" /><Relationship Type="http://schemas.openxmlformats.org/officeDocument/2006/relationships/notesMaster" Target="/ppt/notesMasters/notesMaster1.xml" Id="Rc1f4768557264f3a" /></Relationships>
</file>

<file path=ppt/notesSlides/_rels/notesSlide239.xml.rels>&#65279;<?xml version="1.0" encoding="utf-8"?><Relationships xmlns="http://schemas.openxmlformats.org/package/2006/relationships"><Relationship Type="http://schemas.openxmlformats.org/officeDocument/2006/relationships/slide" Target="/ppt/slides/slide239.xml" Id="Re8e93629a96f4301" /><Relationship Type="http://schemas.openxmlformats.org/officeDocument/2006/relationships/notesMaster" Target="/ppt/notesMasters/notesMaster1.xml" Id="R84de93b7863c44fe" /></Relationships>
</file>

<file path=ppt/notesSlides/_rels/notesSlide240.xml.rels>&#65279;<?xml version="1.0" encoding="utf-8"?><Relationships xmlns="http://schemas.openxmlformats.org/package/2006/relationships"><Relationship Type="http://schemas.openxmlformats.org/officeDocument/2006/relationships/slide" Target="/ppt/slides/slide240.xml" Id="R7100fd1d01274c9e" /><Relationship Type="http://schemas.openxmlformats.org/officeDocument/2006/relationships/notesMaster" Target="/ppt/notesMasters/notesMaster1.xml" Id="R4e67900358fd4f4b" /></Relationships>
</file>

<file path=ppt/notesSlides/_rels/notesSlide241.xml.rels>&#65279;<?xml version="1.0" encoding="utf-8"?><Relationships xmlns="http://schemas.openxmlformats.org/package/2006/relationships"><Relationship Type="http://schemas.openxmlformats.org/officeDocument/2006/relationships/slide" Target="/ppt/slides/slide241.xml" Id="R10786ba57cd44a8f" /><Relationship Type="http://schemas.openxmlformats.org/officeDocument/2006/relationships/notesMaster" Target="/ppt/notesMasters/notesMaster1.xml" Id="R05556efefe0a42a1" /></Relationships>
</file>

<file path=ppt/notesSlides/_rels/notesSlide242.xml.rels>&#65279;<?xml version="1.0" encoding="utf-8"?><Relationships xmlns="http://schemas.openxmlformats.org/package/2006/relationships"><Relationship Type="http://schemas.openxmlformats.org/officeDocument/2006/relationships/slide" Target="/ppt/slides/slide242.xml" Id="Rf3d909f884714015" /><Relationship Type="http://schemas.openxmlformats.org/officeDocument/2006/relationships/notesMaster" Target="/ppt/notesMasters/notesMaster1.xml" Id="R90f5202109ed4d79" /></Relationships>
</file>

<file path=ppt/notesSlides/_rels/notesSlide243.xml.rels>&#65279;<?xml version="1.0" encoding="utf-8"?><Relationships xmlns="http://schemas.openxmlformats.org/package/2006/relationships"><Relationship Type="http://schemas.openxmlformats.org/officeDocument/2006/relationships/slide" Target="/ppt/slides/slide243.xml" Id="Ref0c0ba0f6f24794" /><Relationship Type="http://schemas.openxmlformats.org/officeDocument/2006/relationships/notesMaster" Target="/ppt/notesMasters/notesMaster1.xml" Id="R115ed81bca0a4b92" /></Relationships>
</file>

<file path=ppt/notesSlides/_rels/notesSlide244.xml.rels>&#65279;<?xml version="1.0" encoding="utf-8"?><Relationships xmlns="http://schemas.openxmlformats.org/package/2006/relationships"><Relationship Type="http://schemas.openxmlformats.org/officeDocument/2006/relationships/slide" Target="/ppt/slides/slide244.xml" Id="Raea40a205f8a44bb" /><Relationship Type="http://schemas.openxmlformats.org/officeDocument/2006/relationships/notesMaster" Target="/ppt/notesMasters/notesMaster1.xml" Id="R5874fa0f7ef740ad" /></Relationships>
</file>

<file path=ppt/notesSlides/_rels/notesSlide245.xml.rels>&#65279;<?xml version="1.0" encoding="utf-8"?><Relationships xmlns="http://schemas.openxmlformats.org/package/2006/relationships"><Relationship Type="http://schemas.openxmlformats.org/officeDocument/2006/relationships/slide" Target="/ppt/slides/slide245.xml" Id="R0818ec52598e48a4" /><Relationship Type="http://schemas.openxmlformats.org/officeDocument/2006/relationships/notesMaster" Target="/ppt/notesMasters/notesMaster1.xml" Id="Ra9ccabbe69d742a4" /></Relationships>
</file>

<file path=ppt/notesSlides/_rels/notesSlide246.xml.rels>&#65279;<?xml version="1.0" encoding="utf-8"?><Relationships xmlns="http://schemas.openxmlformats.org/package/2006/relationships"><Relationship Type="http://schemas.openxmlformats.org/officeDocument/2006/relationships/slide" Target="/ppt/slides/slide246.xml" Id="R91302e05eb3a4552" /><Relationship Type="http://schemas.openxmlformats.org/officeDocument/2006/relationships/notesMaster" Target="/ppt/notesMasters/notesMaster1.xml" Id="R7afd2b0dfa6349dd" /></Relationships>
</file>

<file path=ppt/notesSlides/_rels/notesSlide247.xml.rels>&#65279;<?xml version="1.0" encoding="utf-8"?><Relationships xmlns="http://schemas.openxmlformats.org/package/2006/relationships"><Relationship Type="http://schemas.openxmlformats.org/officeDocument/2006/relationships/slide" Target="/ppt/slides/slide247.xml" Id="Red2ccb2bae26408f" /><Relationship Type="http://schemas.openxmlformats.org/officeDocument/2006/relationships/notesMaster" Target="/ppt/notesMasters/notesMaster1.xml" Id="R777269796ac9460d" /></Relationships>
</file>

<file path=ppt/notesSlides/_rels/notesSlide248.xml.rels>&#65279;<?xml version="1.0" encoding="utf-8"?><Relationships xmlns="http://schemas.openxmlformats.org/package/2006/relationships"><Relationship Type="http://schemas.openxmlformats.org/officeDocument/2006/relationships/slide" Target="/ppt/slides/slide248.xml" Id="R98cc6b8e93324dfd" /><Relationship Type="http://schemas.openxmlformats.org/officeDocument/2006/relationships/notesMaster" Target="/ppt/notesMasters/notesMaster1.xml" Id="Rad3e0df741b3402a" /></Relationships>
</file>

<file path=ppt/notesSlides/_rels/notesSlide249.xml.rels>&#65279;<?xml version="1.0" encoding="utf-8"?><Relationships xmlns="http://schemas.openxmlformats.org/package/2006/relationships"><Relationship Type="http://schemas.openxmlformats.org/officeDocument/2006/relationships/slide" Target="/ppt/slides/slide249.xml" Id="R60817b219e8f487c" /><Relationship Type="http://schemas.openxmlformats.org/officeDocument/2006/relationships/notesMaster" Target="/ppt/notesMasters/notesMaster1.xml" Id="Rb757810eb2104a9d" /></Relationships>
</file>

<file path=ppt/notesSlides/_rels/notesSlide250.xml.rels>&#65279;<?xml version="1.0" encoding="utf-8"?><Relationships xmlns="http://schemas.openxmlformats.org/package/2006/relationships"><Relationship Type="http://schemas.openxmlformats.org/officeDocument/2006/relationships/slide" Target="/ppt/slides/slide250.xml" Id="R98881d7f3797480d" /><Relationship Type="http://schemas.openxmlformats.org/officeDocument/2006/relationships/notesMaster" Target="/ppt/notesMasters/notesMaster1.xml" Id="R0a4b7c2776224acb" /></Relationships>
</file>

<file path=ppt/notesSlides/_rels/notesSlide251.xml.rels>&#65279;<?xml version="1.0" encoding="utf-8"?><Relationships xmlns="http://schemas.openxmlformats.org/package/2006/relationships"><Relationship Type="http://schemas.openxmlformats.org/officeDocument/2006/relationships/slide" Target="/ppt/slides/slide251.xml" Id="Rd5eeb7ff085b438b" /><Relationship Type="http://schemas.openxmlformats.org/officeDocument/2006/relationships/notesMaster" Target="/ppt/notesMasters/notesMaster1.xml" Id="R21e1fdbcfbeb4289" /></Relationships>
</file>

<file path=ppt/notesSlides/_rels/notesSlide252.xml.rels>&#65279;<?xml version="1.0" encoding="utf-8"?><Relationships xmlns="http://schemas.openxmlformats.org/package/2006/relationships"><Relationship Type="http://schemas.openxmlformats.org/officeDocument/2006/relationships/slide" Target="/ppt/slides/slide252.xml" Id="R467dab0caa3246bf" /><Relationship Type="http://schemas.openxmlformats.org/officeDocument/2006/relationships/notesMaster" Target="/ppt/notesMasters/notesMaster1.xml" Id="R468df0c6e81643ec" /></Relationships>
</file>

<file path=ppt/notesSlides/_rels/notesSlide253.xml.rels>&#65279;<?xml version="1.0" encoding="utf-8"?><Relationships xmlns="http://schemas.openxmlformats.org/package/2006/relationships"><Relationship Type="http://schemas.openxmlformats.org/officeDocument/2006/relationships/slide" Target="/ppt/slides/slide253.xml" Id="Ra648c14a58144507" /><Relationship Type="http://schemas.openxmlformats.org/officeDocument/2006/relationships/notesMaster" Target="/ppt/notesMasters/notesMaster1.xml" Id="Rf5fc6aaea344479f" /></Relationships>
</file>

<file path=ppt/notesSlides/_rels/notesSlide254.xml.rels>&#65279;<?xml version="1.0" encoding="utf-8"?><Relationships xmlns="http://schemas.openxmlformats.org/package/2006/relationships"><Relationship Type="http://schemas.openxmlformats.org/officeDocument/2006/relationships/slide" Target="/ppt/slides/slide254.xml" Id="Ra82c880b3d6b4fac" /><Relationship Type="http://schemas.openxmlformats.org/officeDocument/2006/relationships/notesMaster" Target="/ppt/notesMasters/notesMaster1.xml" Id="R26b7a3bad36e461a" /></Relationships>
</file>

<file path=ppt/notesSlides/_rels/notesSlide255.xml.rels>&#65279;<?xml version="1.0" encoding="utf-8"?><Relationships xmlns="http://schemas.openxmlformats.org/package/2006/relationships"><Relationship Type="http://schemas.openxmlformats.org/officeDocument/2006/relationships/slide" Target="/ppt/slides/slide255.xml" Id="R3be8047c9b2d4abe" /><Relationship Type="http://schemas.openxmlformats.org/officeDocument/2006/relationships/notesMaster" Target="/ppt/notesMasters/notesMaster1.xml" Id="Rdbb0cd1e94744504" /></Relationships>
</file>

<file path=ppt/notesSlides/_rels/notesSlide256.xml.rels>&#65279;<?xml version="1.0" encoding="utf-8"?><Relationships xmlns="http://schemas.openxmlformats.org/package/2006/relationships"><Relationship Type="http://schemas.openxmlformats.org/officeDocument/2006/relationships/slide" Target="/ppt/slides/slide256.xml" Id="R9c8bbf26d119479c" /><Relationship Type="http://schemas.openxmlformats.org/officeDocument/2006/relationships/notesMaster" Target="/ppt/notesMasters/notesMaster1.xml" Id="R2ddb69e21a324d30" /></Relationships>
</file>

<file path=ppt/notesSlides/_rels/notesSlide257.xml.rels>&#65279;<?xml version="1.0" encoding="utf-8"?><Relationships xmlns="http://schemas.openxmlformats.org/package/2006/relationships"><Relationship Type="http://schemas.openxmlformats.org/officeDocument/2006/relationships/slide" Target="/ppt/slides/slide257.xml" Id="R3a3b9dca31eb4257" /><Relationship Type="http://schemas.openxmlformats.org/officeDocument/2006/relationships/notesMaster" Target="/ppt/notesMasters/notesMaster1.xml" Id="R75e7959a54e44276" /></Relationships>
</file>

<file path=ppt/notesSlides/_rels/notesSlide258.xml.rels>&#65279;<?xml version="1.0" encoding="utf-8"?><Relationships xmlns="http://schemas.openxmlformats.org/package/2006/relationships"><Relationship Type="http://schemas.openxmlformats.org/officeDocument/2006/relationships/slide" Target="/ppt/slides/slide258.xml" Id="R5acdaedc19eb4a0e" /><Relationship Type="http://schemas.openxmlformats.org/officeDocument/2006/relationships/notesMaster" Target="/ppt/notesMasters/notesMaster1.xml" Id="Rf8ae86bb46094029" /></Relationships>
</file>

<file path=ppt/notesSlides/_rels/notesSlide259.xml.rels>&#65279;<?xml version="1.0" encoding="utf-8"?><Relationships xmlns="http://schemas.openxmlformats.org/package/2006/relationships"><Relationship Type="http://schemas.openxmlformats.org/officeDocument/2006/relationships/slide" Target="/ppt/slides/slide259.xml" Id="Rf00df2373814471c" /><Relationship Type="http://schemas.openxmlformats.org/officeDocument/2006/relationships/notesMaster" Target="/ppt/notesMasters/notesMaster1.xml" Id="R8061a38b181e456a" /></Relationships>
</file>

<file path=ppt/notesSlides/_rels/notesSlide260.xml.rels>&#65279;<?xml version="1.0" encoding="utf-8"?><Relationships xmlns="http://schemas.openxmlformats.org/package/2006/relationships"><Relationship Type="http://schemas.openxmlformats.org/officeDocument/2006/relationships/slide" Target="/ppt/slides/slide260.xml" Id="R6b2769dca351412c" /><Relationship Type="http://schemas.openxmlformats.org/officeDocument/2006/relationships/notesMaster" Target="/ppt/notesMasters/notesMaster1.xml" Id="Rcfe69ae8b2a74eb1" /></Relationships>
</file>

<file path=ppt/notesSlides/_rels/notesSlide261.xml.rels>&#65279;<?xml version="1.0" encoding="utf-8"?><Relationships xmlns="http://schemas.openxmlformats.org/package/2006/relationships"><Relationship Type="http://schemas.openxmlformats.org/officeDocument/2006/relationships/slide" Target="/ppt/slides/slide261.xml" Id="R46d8df590f5146f2" /><Relationship Type="http://schemas.openxmlformats.org/officeDocument/2006/relationships/notesMaster" Target="/ppt/notesMasters/notesMaster1.xml" Id="R8fe23b918e944a0f" /></Relationships>
</file>

<file path=ppt/notesSlides/_rels/notesSlide262.xml.rels>&#65279;<?xml version="1.0" encoding="utf-8"?><Relationships xmlns="http://schemas.openxmlformats.org/package/2006/relationships"><Relationship Type="http://schemas.openxmlformats.org/officeDocument/2006/relationships/slide" Target="/ppt/slides/slide262.xml" Id="R2b90647280a249cd" /><Relationship Type="http://schemas.openxmlformats.org/officeDocument/2006/relationships/notesMaster" Target="/ppt/notesMasters/notesMaster1.xml" Id="R694aa51f3ade468e" /></Relationships>
</file>

<file path=ppt/notesSlides/_rels/notesSlide263.xml.rels>&#65279;<?xml version="1.0" encoding="utf-8"?><Relationships xmlns="http://schemas.openxmlformats.org/package/2006/relationships"><Relationship Type="http://schemas.openxmlformats.org/officeDocument/2006/relationships/slide" Target="/ppt/slides/slide263.xml" Id="R90ea2149d913409a" /><Relationship Type="http://schemas.openxmlformats.org/officeDocument/2006/relationships/notesMaster" Target="/ppt/notesMasters/notesMaster1.xml" Id="R5276f607089d45b8" /></Relationships>
</file>

<file path=ppt/notesSlides/_rels/notesSlide264.xml.rels>&#65279;<?xml version="1.0" encoding="utf-8"?><Relationships xmlns="http://schemas.openxmlformats.org/package/2006/relationships"><Relationship Type="http://schemas.openxmlformats.org/officeDocument/2006/relationships/slide" Target="/ppt/slides/slide264.xml" Id="R931171f95a784ab4" /><Relationship Type="http://schemas.openxmlformats.org/officeDocument/2006/relationships/notesMaster" Target="/ppt/notesMasters/notesMaster1.xml" Id="R7ce4312eb5ef482a" /></Relationships>
</file>

<file path=ppt/notesSlides/_rels/notesSlide265.xml.rels>&#65279;<?xml version="1.0" encoding="utf-8"?><Relationships xmlns="http://schemas.openxmlformats.org/package/2006/relationships"><Relationship Type="http://schemas.openxmlformats.org/officeDocument/2006/relationships/slide" Target="/ppt/slides/slide265.xml" Id="Rce4f0412d95e4b82" /><Relationship Type="http://schemas.openxmlformats.org/officeDocument/2006/relationships/notesMaster" Target="/ppt/notesMasters/notesMaster1.xml" Id="R7bf8d94496964727" /></Relationships>
</file>

<file path=ppt/notesSlides/_rels/notesSlide266.xml.rels>&#65279;<?xml version="1.0" encoding="utf-8"?><Relationships xmlns="http://schemas.openxmlformats.org/package/2006/relationships"><Relationship Type="http://schemas.openxmlformats.org/officeDocument/2006/relationships/slide" Target="/ppt/slides/slide266.xml" Id="Rb892810cff1d4f90" /><Relationship Type="http://schemas.openxmlformats.org/officeDocument/2006/relationships/notesMaster" Target="/ppt/notesMasters/notesMaster1.xml" Id="Rab146c9120344d8a" /></Relationships>
</file>

<file path=ppt/notesSlides/_rels/notesSlide267.xml.rels>&#65279;<?xml version="1.0" encoding="utf-8"?><Relationships xmlns="http://schemas.openxmlformats.org/package/2006/relationships"><Relationship Type="http://schemas.openxmlformats.org/officeDocument/2006/relationships/slide" Target="/ppt/slides/slide267.xml" Id="Rc4c13d40ac814b95" /><Relationship Type="http://schemas.openxmlformats.org/officeDocument/2006/relationships/notesMaster" Target="/ppt/notesMasters/notesMaster1.xml" Id="Rb622a0ad410d425b" /></Relationships>
</file>

<file path=ppt/notesSlides/_rels/notesSlide268.xml.rels>&#65279;<?xml version="1.0" encoding="utf-8"?><Relationships xmlns="http://schemas.openxmlformats.org/package/2006/relationships"><Relationship Type="http://schemas.openxmlformats.org/officeDocument/2006/relationships/slide" Target="/ppt/slides/slide268.xml" Id="R7b06440586f7457b" /><Relationship Type="http://schemas.openxmlformats.org/officeDocument/2006/relationships/notesMaster" Target="/ppt/notesMasters/notesMaster1.xml" Id="R38cd006be85340c0" /></Relationships>
</file>

<file path=ppt/notesSlides/_rels/notesSlide269.xml.rels>&#65279;<?xml version="1.0" encoding="utf-8"?><Relationships xmlns="http://schemas.openxmlformats.org/package/2006/relationships"><Relationship Type="http://schemas.openxmlformats.org/officeDocument/2006/relationships/slide" Target="/ppt/slides/slide269.xml" Id="Rb3317d32bdb64b75" /><Relationship Type="http://schemas.openxmlformats.org/officeDocument/2006/relationships/notesMaster" Target="/ppt/notesMasters/notesMaster1.xml" Id="R5d5bdd10592f4770" /></Relationships>
</file>

<file path=ppt/notesSlides/_rels/notesSlide270.xml.rels>&#65279;<?xml version="1.0" encoding="utf-8"?><Relationships xmlns="http://schemas.openxmlformats.org/package/2006/relationships"><Relationship Type="http://schemas.openxmlformats.org/officeDocument/2006/relationships/slide" Target="/ppt/slides/slide270.xml" Id="R311f2ec5a3234617" /><Relationship Type="http://schemas.openxmlformats.org/officeDocument/2006/relationships/notesMaster" Target="/ppt/notesMasters/notesMaster1.xml" Id="Rc9ca448400e5474e" /></Relationships>
</file>

<file path=ppt/notesSlides/_rels/notesSlide271.xml.rels>&#65279;<?xml version="1.0" encoding="utf-8"?><Relationships xmlns="http://schemas.openxmlformats.org/package/2006/relationships"><Relationship Type="http://schemas.openxmlformats.org/officeDocument/2006/relationships/slide" Target="/ppt/slides/slide271.xml" Id="R5822a4e1d7a5494a" /><Relationship Type="http://schemas.openxmlformats.org/officeDocument/2006/relationships/notesMaster" Target="/ppt/notesMasters/notesMaster1.xml" Id="R64d1de2e69954365" /></Relationships>
</file>

<file path=ppt/notesSlides/_rels/notesSlide272.xml.rels>&#65279;<?xml version="1.0" encoding="utf-8"?><Relationships xmlns="http://schemas.openxmlformats.org/package/2006/relationships"><Relationship Type="http://schemas.openxmlformats.org/officeDocument/2006/relationships/slide" Target="/ppt/slides/slide272.xml" Id="R1fbdbd158e1649a0" /><Relationship Type="http://schemas.openxmlformats.org/officeDocument/2006/relationships/notesMaster" Target="/ppt/notesMasters/notesMaster1.xml" Id="Rdf3b60e7ef924375" /></Relationships>
</file>

<file path=ppt/notesSlides/_rels/notesSlide273.xml.rels>&#65279;<?xml version="1.0" encoding="utf-8"?><Relationships xmlns="http://schemas.openxmlformats.org/package/2006/relationships"><Relationship Type="http://schemas.openxmlformats.org/officeDocument/2006/relationships/slide" Target="/ppt/slides/slide273.xml" Id="R722edcf2bf3d40af" /><Relationship Type="http://schemas.openxmlformats.org/officeDocument/2006/relationships/notesMaster" Target="/ppt/notesMasters/notesMaster1.xml" Id="R5105698c185e40a4" /></Relationships>
</file>

<file path=ppt/notesSlides/_rels/notesSlide274.xml.rels>&#65279;<?xml version="1.0" encoding="utf-8"?><Relationships xmlns="http://schemas.openxmlformats.org/package/2006/relationships"><Relationship Type="http://schemas.openxmlformats.org/officeDocument/2006/relationships/slide" Target="/ppt/slides/slide274.xml" Id="R9804a443d2b3480c" /><Relationship Type="http://schemas.openxmlformats.org/officeDocument/2006/relationships/notesMaster" Target="/ppt/notesMasters/notesMaster1.xml" Id="Rd241db429d1f42b6" /></Relationships>
</file>

<file path=ppt/notesSlides/_rels/notesSlide275.xml.rels>&#65279;<?xml version="1.0" encoding="utf-8"?><Relationships xmlns="http://schemas.openxmlformats.org/package/2006/relationships"><Relationship Type="http://schemas.openxmlformats.org/officeDocument/2006/relationships/slide" Target="/ppt/slides/slide275.xml" Id="Rfe3e440a65414116" /><Relationship Type="http://schemas.openxmlformats.org/officeDocument/2006/relationships/notesMaster" Target="/ppt/notesMasters/notesMaster1.xml" Id="Re77d51c8bd1e4c29" /></Relationships>
</file>

<file path=ppt/notesSlides/_rels/notesSlide276.xml.rels>&#65279;<?xml version="1.0" encoding="utf-8"?><Relationships xmlns="http://schemas.openxmlformats.org/package/2006/relationships"><Relationship Type="http://schemas.openxmlformats.org/officeDocument/2006/relationships/slide" Target="/ppt/slides/slide276.xml" Id="Re412adb952b2429b" /><Relationship Type="http://schemas.openxmlformats.org/officeDocument/2006/relationships/notesMaster" Target="/ppt/notesMasters/notesMaster1.xml" Id="Rd9a6412461da4fdd" /></Relationships>
</file>

<file path=ppt/notesSlides/_rels/notesSlide277.xml.rels>&#65279;<?xml version="1.0" encoding="utf-8"?><Relationships xmlns="http://schemas.openxmlformats.org/package/2006/relationships"><Relationship Type="http://schemas.openxmlformats.org/officeDocument/2006/relationships/slide" Target="/ppt/slides/slide277.xml" Id="R713a079188dd4208" /><Relationship Type="http://schemas.openxmlformats.org/officeDocument/2006/relationships/notesMaster" Target="/ppt/notesMasters/notesMaster1.xml" Id="R67362c5d9716418d" /></Relationships>
</file>

<file path=ppt/notesSlides/_rels/notesSlide278.xml.rels>&#65279;<?xml version="1.0" encoding="utf-8"?><Relationships xmlns="http://schemas.openxmlformats.org/package/2006/relationships"><Relationship Type="http://schemas.openxmlformats.org/officeDocument/2006/relationships/slide" Target="/ppt/slides/slide278.xml" Id="Rf427281854174258" /><Relationship Type="http://schemas.openxmlformats.org/officeDocument/2006/relationships/notesMaster" Target="/ppt/notesMasters/notesMaster1.xml" Id="Re04ed42d0c7947b7" /></Relationships>
</file>

<file path=ppt/notesSlides/_rels/notesSlide279.xml.rels>&#65279;<?xml version="1.0" encoding="utf-8"?><Relationships xmlns="http://schemas.openxmlformats.org/package/2006/relationships"><Relationship Type="http://schemas.openxmlformats.org/officeDocument/2006/relationships/slide" Target="/ppt/slides/slide279.xml" Id="Re3751145e3b6475e" /><Relationship Type="http://schemas.openxmlformats.org/officeDocument/2006/relationships/notesMaster" Target="/ppt/notesMasters/notesMaster1.xml" Id="Ree51f226d34c4dce" /></Relationships>
</file>

<file path=ppt/notesSlides/_rels/notesSlide280.xml.rels>&#65279;<?xml version="1.0" encoding="utf-8"?><Relationships xmlns="http://schemas.openxmlformats.org/package/2006/relationships"><Relationship Type="http://schemas.openxmlformats.org/officeDocument/2006/relationships/slide" Target="/ppt/slides/slide280.xml" Id="R98c5d17c0e33429e" /><Relationship Type="http://schemas.openxmlformats.org/officeDocument/2006/relationships/notesMaster" Target="/ppt/notesMasters/notesMaster1.xml" Id="R5c81e134d7834fe7" /></Relationships>
</file>

<file path=ppt/notesSlides/_rels/notesSlide281.xml.rels>&#65279;<?xml version="1.0" encoding="utf-8"?><Relationships xmlns="http://schemas.openxmlformats.org/package/2006/relationships"><Relationship Type="http://schemas.openxmlformats.org/officeDocument/2006/relationships/slide" Target="/ppt/slides/slide281.xml" Id="R5b5f81b84d314288" /><Relationship Type="http://schemas.openxmlformats.org/officeDocument/2006/relationships/notesMaster" Target="/ppt/notesMasters/notesMaster1.xml" Id="R5a7f33a83f1e4668" /></Relationships>
</file>

<file path=ppt/notesSlides/_rels/notesSlide282.xml.rels>&#65279;<?xml version="1.0" encoding="utf-8"?><Relationships xmlns="http://schemas.openxmlformats.org/package/2006/relationships"><Relationship Type="http://schemas.openxmlformats.org/officeDocument/2006/relationships/slide" Target="/ppt/slides/slide282.xml" Id="R73e30b771e574e15" /><Relationship Type="http://schemas.openxmlformats.org/officeDocument/2006/relationships/notesMaster" Target="/ppt/notesMasters/notesMaster1.xml" Id="R553289e1db734bba" /></Relationships>
</file>

<file path=ppt/notesSlides/_rels/notesSlide283.xml.rels>&#65279;<?xml version="1.0" encoding="utf-8"?><Relationships xmlns="http://schemas.openxmlformats.org/package/2006/relationships"><Relationship Type="http://schemas.openxmlformats.org/officeDocument/2006/relationships/slide" Target="/ppt/slides/slide283.xml" Id="Rea122b9f24504e6f" /><Relationship Type="http://schemas.openxmlformats.org/officeDocument/2006/relationships/notesMaster" Target="/ppt/notesMasters/notesMaster1.xml" Id="Re19fad018f1d4875" /></Relationships>
</file>

<file path=ppt/notesSlides/_rels/notesSlide284.xml.rels>&#65279;<?xml version="1.0" encoding="utf-8"?><Relationships xmlns="http://schemas.openxmlformats.org/package/2006/relationships"><Relationship Type="http://schemas.openxmlformats.org/officeDocument/2006/relationships/slide" Target="/ppt/slides/slide284.xml" Id="R0f7c215cec1c430f" /><Relationship Type="http://schemas.openxmlformats.org/officeDocument/2006/relationships/notesMaster" Target="/ppt/notesMasters/notesMaster1.xml" Id="R7cc34c3e8e3a4962" /></Relationships>
</file>

<file path=ppt/notesSlides/_rels/notesSlide285.xml.rels>&#65279;<?xml version="1.0" encoding="utf-8"?><Relationships xmlns="http://schemas.openxmlformats.org/package/2006/relationships"><Relationship Type="http://schemas.openxmlformats.org/officeDocument/2006/relationships/slide" Target="/ppt/slides/slide285.xml" Id="R585be04d20964430" /><Relationship Type="http://schemas.openxmlformats.org/officeDocument/2006/relationships/notesMaster" Target="/ppt/notesMasters/notesMaster1.xml" Id="R21c1151a47f24f66" /></Relationships>
</file>

<file path=ppt/notesSlides/_rels/notesSlide286.xml.rels>&#65279;<?xml version="1.0" encoding="utf-8"?><Relationships xmlns="http://schemas.openxmlformats.org/package/2006/relationships"><Relationship Type="http://schemas.openxmlformats.org/officeDocument/2006/relationships/slide" Target="/ppt/slides/slide286.xml" Id="R24867cf37a084beb" /><Relationship Type="http://schemas.openxmlformats.org/officeDocument/2006/relationships/notesMaster" Target="/ppt/notesMasters/notesMaster1.xml" Id="R4360fd7395fe4117" /></Relationships>
</file>

<file path=ppt/notesSlides/_rels/notesSlide287.xml.rels>&#65279;<?xml version="1.0" encoding="utf-8"?><Relationships xmlns="http://schemas.openxmlformats.org/package/2006/relationships"><Relationship Type="http://schemas.openxmlformats.org/officeDocument/2006/relationships/slide" Target="/ppt/slides/slide287.xml" Id="Rc29f3e0f7b00493b" /><Relationship Type="http://schemas.openxmlformats.org/officeDocument/2006/relationships/notesMaster" Target="/ppt/notesMasters/notesMaster1.xml" Id="Rc8f346fd40c14c0f" /></Relationships>
</file>

<file path=ppt/notesSlides/_rels/notesSlide288.xml.rels>&#65279;<?xml version="1.0" encoding="utf-8"?><Relationships xmlns="http://schemas.openxmlformats.org/package/2006/relationships"><Relationship Type="http://schemas.openxmlformats.org/officeDocument/2006/relationships/slide" Target="/ppt/slides/slide288.xml" Id="R253d80d6f8314340" /><Relationship Type="http://schemas.openxmlformats.org/officeDocument/2006/relationships/notesMaster" Target="/ppt/notesMasters/notesMaster1.xml" Id="R9527f033273a4414" /></Relationships>
</file>

<file path=ppt/notesSlides/_rels/notesSlide289.xml.rels>&#65279;<?xml version="1.0" encoding="utf-8"?><Relationships xmlns="http://schemas.openxmlformats.org/package/2006/relationships"><Relationship Type="http://schemas.openxmlformats.org/officeDocument/2006/relationships/slide" Target="/ppt/slides/slide289.xml" Id="R703d70ee093e4c26" /><Relationship Type="http://schemas.openxmlformats.org/officeDocument/2006/relationships/notesMaster" Target="/ppt/notesMasters/notesMaster1.xml" Id="Re0e1895a06e3454e" /></Relationships>
</file>

<file path=ppt/notesSlides/_rels/notesSlide290.xml.rels>&#65279;<?xml version="1.0" encoding="utf-8"?><Relationships xmlns="http://schemas.openxmlformats.org/package/2006/relationships"><Relationship Type="http://schemas.openxmlformats.org/officeDocument/2006/relationships/slide" Target="/ppt/slides/slide290.xml" Id="R4ef89373c26d4217" /><Relationship Type="http://schemas.openxmlformats.org/officeDocument/2006/relationships/notesMaster" Target="/ppt/notesMasters/notesMaster1.xml" Id="Re18f721e94c54701" /></Relationships>
</file>

<file path=ppt/notesSlides/_rels/notesSlide291.xml.rels>&#65279;<?xml version="1.0" encoding="utf-8"?><Relationships xmlns="http://schemas.openxmlformats.org/package/2006/relationships"><Relationship Type="http://schemas.openxmlformats.org/officeDocument/2006/relationships/slide" Target="/ppt/slides/slide291.xml" Id="R65e1e63797254624" /><Relationship Type="http://schemas.openxmlformats.org/officeDocument/2006/relationships/notesMaster" Target="/ppt/notesMasters/notesMaster1.xml" Id="Ra47f1e887e5744ce" /></Relationships>
</file>

<file path=ppt/notesSlides/_rels/notesSlide292.xml.rels>&#65279;<?xml version="1.0" encoding="utf-8"?><Relationships xmlns="http://schemas.openxmlformats.org/package/2006/relationships"><Relationship Type="http://schemas.openxmlformats.org/officeDocument/2006/relationships/slide" Target="/ppt/slides/slide292.xml" Id="R76112bc4162d4668" /><Relationship Type="http://schemas.openxmlformats.org/officeDocument/2006/relationships/notesMaster" Target="/ppt/notesMasters/notesMaster1.xml" Id="Rf7502bc5939e4642" /></Relationships>
</file>

<file path=ppt/notesSlides/_rels/notesSlide293.xml.rels>&#65279;<?xml version="1.0" encoding="utf-8"?><Relationships xmlns="http://schemas.openxmlformats.org/package/2006/relationships"><Relationship Type="http://schemas.openxmlformats.org/officeDocument/2006/relationships/slide" Target="/ppt/slides/slide293.xml" Id="Ra354337e7d1b4960" /><Relationship Type="http://schemas.openxmlformats.org/officeDocument/2006/relationships/notesMaster" Target="/ppt/notesMasters/notesMaster1.xml" Id="Rd065bc8defb44dce" /></Relationships>
</file>

<file path=ppt/notesSlides/_rels/notesSlide294.xml.rels>&#65279;<?xml version="1.0" encoding="utf-8"?><Relationships xmlns="http://schemas.openxmlformats.org/package/2006/relationships"><Relationship Type="http://schemas.openxmlformats.org/officeDocument/2006/relationships/slide" Target="/ppt/slides/slide294.xml" Id="Rbb82dce425614248" /><Relationship Type="http://schemas.openxmlformats.org/officeDocument/2006/relationships/notesMaster" Target="/ppt/notesMasters/notesMaster1.xml" Id="R928b967073294616" /></Relationships>
</file>

<file path=ppt/notesSlides/_rels/notesSlide295.xml.rels>&#65279;<?xml version="1.0" encoding="utf-8"?><Relationships xmlns="http://schemas.openxmlformats.org/package/2006/relationships"><Relationship Type="http://schemas.openxmlformats.org/officeDocument/2006/relationships/slide" Target="/ppt/slides/slide295.xml" Id="R5c738256faf2423e" /><Relationship Type="http://schemas.openxmlformats.org/officeDocument/2006/relationships/notesMaster" Target="/ppt/notesMasters/notesMaster1.xml" Id="Rb87566dd054d4246" /></Relationships>
</file>

<file path=ppt/notesSlides/_rels/notesSlide296.xml.rels>&#65279;<?xml version="1.0" encoding="utf-8"?><Relationships xmlns="http://schemas.openxmlformats.org/package/2006/relationships"><Relationship Type="http://schemas.openxmlformats.org/officeDocument/2006/relationships/slide" Target="/ppt/slides/slide296.xml" Id="R7936800a7dad4e57" /><Relationship Type="http://schemas.openxmlformats.org/officeDocument/2006/relationships/notesMaster" Target="/ppt/notesMasters/notesMaster1.xml" Id="R6b1743483a7b4064" /></Relationships>
</file>

<file path=ppt/notesSlides/_rels/notesSlide297.xml.rels>&#65279;<?xml version="1.0" encoding="utf-8"?><Relationships xmlns="http://schemas.openxmlformats.org/package/2006/relationships"><Relationship Type="http://schemas.openxmlformats.org/officeDocument/2006/relationships/slide" Target="/ppt/slides/slide297.xml" Id="R3123e2ad0bae47af" /><Relationship Type="http://schemas.openxmlformats.org/officeDocument/2006/relationships/notesMaster" Target="/ppt/notesMasters/notesMaster1.xml" Id="Rfe0f13915c6b4d9b" /></Relationships>
</file>

<file path=ppt/notesSlides/_rels/notesSlide298.xml.rels>&#65279;<?xml version="1.0" encoding="utf-8"?><Relationships xmlns="http://schemas.openxmlformats.org/package/2006/relationships"><Relationship Type="http://schemas.openxmlformats.org/officeDocument/2006/relationships/slide" Target="/ppt/slides/slide298.xml" Id="R285ad14925f64711" /><Relationship Type="http://schemas.openxmlformats.org/officeDocument/2006/relationships/notesMaster" Target="/ppt/notesMasters/notesMaster1.xml" Id="Re705774ce5ac4eca" /></Relationships>
</file>

<file path=ppt/notesSlides/_rels/notesSlide299.xml.rels>&#65279;<?xml version="1.0" encoding="utf-8"?><Relationships xmlns="http://schemas.openxmlformats.org/package/2006/relationships"><Relationship Type="http://schemas.openxmlformats.org/officeDocument/2006/relationships/slide" Target="/ppt/slides/slide299.xml" Id="Rdf16962447e84fd1" /><Relationship Type="http://schemas.openxmlformats.org/officeDocument/2006/relationships/notesMaster" Target="/ppt/notesMasters/notesMaster1.xml" Id="R4969a5f010774f1a" /></Relationships>
</file>

<file path=ppt/notesSlides/_rels/notesSlide300.xml.rels>&#65279;<?xml version="1.0" encoding="utf-8"?><Relationships xmlns="http://schemas.openxmlformats.org/package/2006/relationships"><Relationship Type="http://schemas.openxmlformats.org/officeDocument/2006/relationships/slide" Target="/ppt/slides/slide300.xml" Id="R36b7c786eecf4c05" /><Relationship Type="http://schemas.openxmlformats.org/officeDocument/2006/relationships/notesMaster" Target="/ppt/notesMasters/notesMaster1.xml" Id="Rcea67083ec73450c" /></Relationships>
</file>

<file path=ppt/notesSlides/_rels/notesSlide301.xml.rels>&#65279;<?xml version="1.0" encoding="utf-8"?><Relationships xmlns="http://schemas.openxmlformats.org/package/2006/relationships"><Relationship Type="http://schemas.openxmlformats.org/officeDocument/2006/relationships/slide" Target="/ppt/slides/slide301.xml" Id="R566de3190f6e457e" /><Relationship Type="http://schemas.openxmlformats.org/officeDocument/2006/relationships/notesMaster" Target="/ppt/notesMasters/notesMaster1.xml" Id="R355ef47108844dfb" /></Relationships>
</file>

<file path=ppt/notesSlides/_rels/notesSlide302.xml.rels>&#65279;<?xml version="1.0" encoding="utf-8"?><Relationships xmlns="http://schemas.openxmlformats.org/package/2006/relationships"><Relationship Type="http://schemas.openxmlformats.org/officeDocument/2006/relationships/slide" Target="/ppt/slides/slide302.xml" Id="R7efb546c144d4d30" /><Relationship Type="http://schemas.openxmlformats.org/officeDocument/2006/relationships/notesMaster" Target="/ppt/notesMasters/notesMaster1.xml" Id="R984b2afadfef4fbe" /></Relationships>
</file>

<file path=ppt/notesSlides/_rels/notesSlide303.xml.rels>&#65279;<?xml version="1.0" encoding="utf-8"?><Relationships xmlns="http://schemas.openxmlformats.org/package/2006/relationships"><Relationship Type="http://schemas.openxmlformats.org/officeDocument/2006/relationships/slide" Target="/ppt/slides/slide303.xml" Id="R3b966c16bf7245f6" /><Relationship Type="http://schemas.openxmlformats.org/officeDocument/2006/relationships/notesMaster" Target="/ppt/notesMasters/notesMaster1.xml" Id="Rf9a327ab42b140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Claim IDs: HDFC-01, HDFC-02, HDFC-03, HDFC-04</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Claim IDs: HDFC-05, HDFC-06, HDFC-07, HDFC-08, HDFC-09</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SRC-HDFC-UD: Six confidential HDFC journey documents — User-supplied confidential documents; not reproduced</a:t>
            </a:r>
            <a:endParaRPr/>
          </a:p>
          <a:p xmlns:a="http://schemas.openxmlformats.org/drawingml/2006/main">
            <a:r>
              <a:t>- EVIDENCE-MATRIX: Evidence and source matrix for the 30-deck portfolio — work/portfolio_agents/evidence_matrix.json</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Confidential HDFC journey material is acknowledged only as an exclusion; it is not reproduced.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Claim IDs: HDFC-01, HDFC-02, HDFC-03, HDFC-04, HDFC-05, HDFC-06, HDFC-07, HDFC-08, HDFC-09</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PORTFOLIO-METHOD: Portfolio editorial synthesis and proposed operating model — Author synthesis; not a customer fact or achieved result</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Architecture is an editorial synthesis of the public scope; it is not a production topology disclosure.</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PORTFOLIO-METHOD: Portfolio editorial synthesis and proposed operating model — Author synthesis; not a customer fact or achieved result</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Journey and control logic are editorial synthesis of the public scope; not a customer delivery sequence.</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PORTFOLIO-METHOD: Portfolio editorial synthesis and proposed operating model — Author synthesis; not a customer fact or achieved result</a:t>
            </a:r>
            <a:endParaRPr/>
          </a:p>
          <a:p xmlns:a="http://schemas.openxmlformats.org/drawingml/2006/main">
            <a:r>
              <a:t>- Claim IDs: HDFC-10, HDFC-11, HDFC-12, HDFC-13, HDFC-14, HDFC-15</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PORTFOLIO-METHOD: Portfolio editorial synthesis and proposed operating model — Author synthesis; not a customer fact or achieved result</a:t>
            </a:r>
            <a:endParaRPr/>
          </a:p>
          <a:p xmlns:a="http://schemas.openxmlformats.org/drawingml/2006/main">
            <a:r>
              <a:t>- Claim IDs: HDFC-10, HDFC-11, HDFC-12, HDFC-13, HDFC-14, HDFC-15</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PORTFOLIO-METHOD: Portfolio editorial synthesis and proposed operating model — Author synthesis; not a customer fact or achieved result</a:t>
            </a:r>
            <a:endParaRPr/>
          </a:p>
          <a:p xmlns:a="http://schemas.openxmlformats.org/drawingml/2006/main">
            <a:r>
              <a:t>- Claim IDs: HDFC-10, HDFC-11, HDFC-12, HDFC-13, HDFC-14, HDFC-15</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Transferable lessons are editorial synthesis; outcome figures remain vendor-attributed.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endParaRPr/>
          </a:p>
          <a:p xmlns:a="http://schemas.openxmlformats.org/drawingml/2006/main">
            <a:r>
              <a:t>- PUB-BN-HDFC: BUSINESSNEXT HDFC Bank customer story — https://www.businessnext.com/customers/hdfc-bank</a:t>
            </a:r>
            <a:endParaRPr/>
          </a:p>
          <a:p xmlns:a="http://schemas.openxmlformats.org/drawingml/2006/main">
            <a:r>
              <a:t>- EVIDENCE-MATRIX: Evidence and source matrix for the 30-deck portfolio — work/portfolio_agents/evidence_matrix.json</a:t>
            </a:r>
            <a:endParaRPr/>
          </a:p>
          <a:p xmlns:a="http://schemas.openxmlformats.org/drawingml/2006/main">
            <a:r>
              <a:t>- SRC-HDFC-UD: Six confidential HDFC journey documents — User-supplied confidential documents; not reproduced</a:t>
            </a:r>
            <a:endParaRPr/>
          </a:p>
          <a:p xmlns:a="http://schemas.openxmlformats.org/drawingml/2006/main">
            <a:r>
              <a:t>[/Sources]</a:t>
            </a:r>
            <a:endParaRPr/>
          </a:p>
          <a:p xmlns:a="http://schemas.openxmlformats.org/drawingml/2006/main">
            <a:r>
              <a:t>Classification: CASE STUDY</a:t>
            </a:r>
            <a:endParaRPr/>
          </a:p>
          <a:p xmlns:a="http://schemas.openxmlformats.org/drawingml/2006/main">
            <a:r>
              <a:t>Evidence status: Named public case; all scale and outcome figures are vendor-reported and not independently audited.</a:t>
            </a:r>
            <a:endParaRPr/>
          </a:p>
          <a:p xmlns:a="http://schemas.openxmlformats.org/drawingml/2006/main">
            <a:r>
              <a:t>Publication control: Attributed case evidence; limitations in notes.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Thesis: the two scope items (profile+offer/NBA, and insights &amp; nudges) are one decisioning engine on two clocks. Positioning: additive intelligence layer on the CRM PNB already owns, not a replacement.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bottom-up: systems of record -&gt; integration -&gt; data foundation -&gt; decisioning core (magenta) -&gt; orchestration -&gt; RM Workbench, with governance across every layer. Everything above systems of record is the incremental layer.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 deliberate, portfolio-wide, offer-centric (scope item 1). Reactive = event-driven cross-sell/up-sell nudges (scope item 3). Same engine; outcomes feed back to retrain.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Arbiter ranks propensity x value x margin x channel-fit, hard-gated on eligibility/suitability/consent, decayed for fatigue. Churn override and closed loop are the credibility points; close on a measured single-cluster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Hand this over first, or use it yourself to find the right deck before a call.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to pick. Accent-coloured accounts are the ones with the deepest ownership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four-way convention is the thing to point at if anyone challenges a number. It is the same in all thirty decks.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objectives, not the logo. Six journeys, 35 use cases, four business objectives. The scale strip is the bank's, publicly reported — say so out loud before anyone asks.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this slide, not the estate. The line that lands: 'no journey entered the backlog without an owner metric.' It reframes you from delivery manager to someone who governs a portfolio by outcome.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leave-behind slide. Two numbers to say out loud: 35 use cases, and the effort reduction from journey one to six. The second is what proves reuse worked rather than just being asserted.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'not claimed' column out loud. Volunteering the boundary before being asked is what separates a credible portfolio from a padded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the constraint before the solution. Assurance capacity, not engineering capacity, is the bottleneck — that framing is what makes the reuse economics on slide 12 land.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funnel is illustrative and labelled as such — its job is to show the shape of the leak. If challenged, the honest answer is that the bank's actual figures replace these and the argument is unchanged.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 the boundary column, not the journey column. Six journeys that look unrelated on a roadmap are structurally identical behind the boundary — that is the entire basis for treating them as one delivery.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zero at the end is the punchline — no use case forked a shared component. Seven needed the spine extended, which is healthy; a fork would have meant governance failed.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clock conflict — the detail that shows this was built, not specified. If pushed, the follow-up is idempotency at authorisation.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taxonomy story. Best line: 'a self-service front end over a broken taxonomy just moves the confusion to the customer.' Then use the spread to show why a blended target would have misled phase two.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slide for a transformation role. One-liner: 'the customer sees one journey; the data must never behave as though it is one entity.' Split consent is the decision to lead with.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persuasive slide for a senior audience — it turns 'reuse is good practice' into an economic curve. Be explicit that the effort figures are a model and the shape is what transfers.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generalisable slide. Be honest that reuse is a governance posture, not an architecture diagram — it only holds if someone can say no to a fork when a delivery date is at risk.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asked 'how did you move fast in a bank this size?', this is the answer. The extended cells cluster on group health — that makes the cross-entity cost obvious without a word of explanation.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'illustrative' before they read it. The credibility is in the structure — bottom-up, one owner metric per journey, sensitivity on the rate not the volume. That is what a value-strategy interviewer listens for.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not claimed results — say that explicitly. Offer actuals verbally against these definitions; that is more credible than a slide of unsourced percentages.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skip the middle column. Naming what did not work reads as senior, and the sequencing miss on cross-entity agreements is a genuinely useful lesson.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here, not on a thank-you. These four are the answer to 'what would you bring to us' — deliberately platform-independent. Stop talking after the dark bar.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contrast, not the journeys. Two self-service builds that look alike on a roadmap and diverge at every design layer — that comparison is the whole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planning point at the end is the transferable one: group self-service journeys by reversibility rather than by channel or business area.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posture as deck 01. Keep it brief here — the audience has usually seen the boundary slide once already if they are reading the portfolio in order.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down the table, not across. The point lands when someone notices that only the top rows would appear in a requirements document at all.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Idempotency at authorisation rather than submission is the detail to lead with if anyone technical is in the room — it is the thing that separates people who have shipped payments from people who have specified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observation that category deflection orders by reversibility is the intellectually satisfying part — the same axis operates at journey level and at category level within a journey.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extend-versus-fork distinction is the practical governance rule. The servicing journey extended the exception queue and that was correct; a private queue would not have been.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one-line contrast. It is memorable and it compresses the whole deck into something someone can repeat after the meeting.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one line that carries the deck: the customer sees one journey and the data must never behave as though it is one entity. Everything else follows from holding that.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generalisation is what makes this more than a bancassurance story — embedded lending and partner distribution have identical structure.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fourth column matters here — no underwriting rules, no policy data, no supervisory positions. This is a journey architecture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direction column. The two rows that surprise people are eligibility never being sent, and underwriting returning status only — both are deliberate and both were contested.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two supervisory questions verbatim — data-protection basis and contractual acceptance. They are what make the split obviously necessary rather than merely tidy.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Failure mode three is the interesting argument. Surfacing decline reasons is genuinely helpful and genuinely not the bank's decision to explain — that tension is worth talking through.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freshness indicator on the servicing view is a small honest detail worth mentioning — it stops a read model being mistaken for a system of record.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paired statement. It is the deck's thesis, it is memorable, and it is the right answer to any interview question about partnership or embedded distribution.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naming the boundary: this is an analysis of a reference deployment, not my programme. Its value is the structural argument about what changes at this scale — which is exactly the judgement an architecture or value-strategy role is hiring for.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whole deck in one line: at this size the binding constraints are integration surface, jurisdiction and change throughput — not user count. Concurrency is the one everyone plans for and the least interesting of the four.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one out loud. Volunteering that you did not run the SBI programme, and then showing the analysis is still valuable, is a stronger position than letting a panel discover the gap.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 the reframe: the scary number is 178, not 300,000. Infrastructure scales with money; regression scope scales with interfaces and it is the thing that eventually stops the programme changing.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spine of the deck. Walk it left to right, then land the closing line — three of four thresholds are irreversible after the first go-live, which is why they belong in the design phase and not the scaling phase.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transferable rule is the last column: design for the strictest jurisdiction and relax by exception, and sequence the hardest regulator early. Most programmes do the opposite and pay for it in year three.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is illustrative and says so. The real content is the right column: unallocated capacity goes to whoever escalates hardest, and the losers build shadow systems that come back as integration debt.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Strong slide for an estimating conversation. The functional scope is genuinely ordinary; the cost is in work that produces no demo. That gap is why programmes of this shape get under-priced.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useful slide for a value-strategy conversation. The insight is the failure loop: overruns get read as delivery underperformance, scope gets cut, cost per change rises, curve steepens. Fix the surface, not the scope.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leave-behind checklist. If asked which one matters most, answer residency — it is the only one on the list that cannot be fixed later at any price.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here. The point that lands with a senior audience: all four are decided early, cheaply, and irreversibly — and none of them is a technology choice.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it as a method deck, not a war story. The claim is that you can reconstruct an evaluator's scoring sheet from published documents before committing effort — and that this changes what you write and whether you bid at all.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passes, in order, are the deliverable. Say the order matters: gates before marks, marks before contradictions, contradictions before price. Reversing it is how teams burn three weeks.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Important slide here. This is live tender territory, so be explicit that it is built from published documents and takes no commercial position. That is what makes it safe to show externally.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payment curve, not the scope list. Sixty per cent behind delivery and run means this is priced as an annuity — and IP vesting with the bank removes the product upside a specialist would normally assume.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single most useful slide in the deck. Half the score is fixed before you write anything — that turns the counted parameters into a partnering decision rather than a bid-writing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that transfers: the gates are the cheapest part of the document to assess and the only part effort cannot change. Assess them in an afternoon, before committing a bid team.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most senior-sounding slide in the deck. Anyone can summarise an RFP; noticing that two published requirements cannot both be optimised for is the thing that marks out a bid lead.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'worked example' before they read the numbers. The transferable move is scoring yourself against the published sheet before writing — it converts an opinion argument into arithmetic.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the analysis here. Two different bids are being written against one document — and a specialist that writes the SI bid loses on the only axis where it had an advantage.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the analysis on the output. Five questions filed before the deadline reshape the bid; a hundred extra pages of capability narrative do not.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ordering. Four passes, fixed sequence — that is the transferable artefact and it applies to any large competitive tender, not just AI platform work.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hook: seventy-five is a number, not a plan. This deck is about what has to be true for that number to be deliverable — and the arithmetic almost never survives first contact.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to land: a programme priced on an average use case is priced on a use case that does not exist. Everything else in the deck follows from that.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posture as deck 05 — published documents plus my analysis, no commercial position. Say it before the numbers slide so nobody reads the model as a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 hides the difficulty. Twelve of twenty-seven sit in credit and risk, where model governance and data access dominate. Sequencing advice in the third column is the transferable part.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arithmetic slide. Say the ratio out loud: tier three is roughly eight times tier one. Averaging across that spread is what makes these programmes miss, and it always misses on the regulated use cases.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the three are deliberately chosen to span the capability classes. A bidder who builds them as demos rather than as the first production instances of a pattern wastes the effort.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ownership curve is the original point here. Everyone plans volume; almost nobody plans the shift in who delivers. The contract's end state is about wave four, not the total.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columns, one variable: the complexity mix. That the tender does not state it is the finding — and it makes the clarification question obvious and cheap.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under-pricing slide. All four run for the full term and none is in the use-case count. Independence in QA is the one people try to absorb into the pods, and it is the one requirement that forbids exactly that.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distinction between a procurement number and a plan. That framing is what a programme-design or value-strategy interviewer is listening for.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real finding: the functional fit was never in doubt. This deal turns on the commercial model, and recognising that early is what changes how the bid is run.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framing that lands: in a displacement, the competitor is inertia, not the incumbent. That is why the commercial model, not the feature comparison, decides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fourth column out loud, especially the first two lines. This is a live pursuit, so being visibly disciplined about what is not disclosed is part of the credibility.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reframe: every stated failure is an integration or data-model failure, not a feature gap. That moves the bid from a bake-off to an architecture conversation — and it is also the risk warning, because the replacement inherits a much wider scope.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 the ratio, not the total. Fifteenfold expansion across ten channels versus one — anyone benchmarking effort against the incumbent's deployment will be badly wrong.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Two-column argument: the client is buying the left three, the supplier is delivering the right two. The gap between those is where displacement bids get under-priced.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tenth row is the whole point of the slide. It looks like the others and behaves completely differently — no amount of engineering effort closes it, and treating it as a capability item is how it gets missed until signature.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best slide in the deck for a commercial-judgement question. The move is separating stated positions from underlying needs — control, speed and freedom do not require source ownership, and saying so gives both sides a signable contract.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Challenging your own estimate on the record is a strong interview move. Two person-months of architecture for a container embed plus offline sync is the line to point 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leave-behind checklist. If asked which matters most, answer the fifth — sequencing the contract before the solution — because it is the one this particular deal turned 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sequencing point. It is the deck's thesis and it is the answer to any interview question about commercial judgement in a competitive pursuit.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reframe: a change-velocity number is an architecture specification wearing a business-KPI costume. Everything in the deck follows from taking it literally.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to repeat: configurable but unapprovable is not configurable. It is the deck's thesis and the part almost nobody designs for.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one. The key distinction is that level assignments are architectural judgement, not benchmark data — say that if anyone presses on the ratings.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test question out loud — new lead source, two of ten channels, own dedupe and dispositions, elapsed time to production. It is the question that separates a real capability from a screenshot.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the reusable artefact. Most platforms genuinely deliver levels one and two; level four is what a multi-channel distribution estate actually needs, and almost nobody asks about it in a demonstration.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value of this slide is that it makes the requirement contractible. 'No-code' is unenforceable; 'level four for these four domains' is something a supplier can be held to at acceptance.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column is the honest bit. The model always dies the same way — one exception under delivery pressure, then precedent. Naming that in advance is what gives someone the standing to refuse it later.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original argument in the deck: the architecture determines what is safely approvable, so it determines achievable velocity. Governance cannot fix a platform that only looks configurable.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Turning the two gaps into a proposed joint workshop is the move. It converts a weakness in the response into a signal that you understand what actually delivers the target.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thesis. It is a genuinely non-obvious point and it is the sentence worth being remembered for in a technical or architecture interview.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this as a method deck about clause families, not a report on a live negotiation. That framing is both safer and more useful — the structure transfers to any fixed-bid product deal.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positions do not move, interests do. Four of five resolve once you go behind the stated position — and the fifth is a walk-away test that deserves to be named as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firm about the fourth column here. Anything that sounds like reporting a live negotiation is a problem; the clause-family framing keeps it a method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observation that makes this deck: every one of the five was written for a bespoke-build contract and applied unchanged to a product implementation. That mismatch, not bad faith, is the whole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one example fully — intellectual property. Continuity, price protection and freedom to change are the real interests, and escrow plus perpetual licence delivers all three without transferring the product.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fifth is the honest one. Do not pretend a construct solves it — say clearly that schedule risk on a jointly delivered programme is genuinely contested, and that it deserves to be decided early as a walk-away test.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contradictions generously — different authors, not traps. Proposing the resolution you can deliver is more effective than pointing out the inconsistency.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sequencing logic is the transferable content. Concede the cheap and reasonable things first specifically to earn standing for the one refusal that matters.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question is the one leadership teams avoid — would we accept this for a client half the size. Asking it makes strategic tolerance an explicit decision rather than a drift.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four-and-one split. It shows both that you can unlock most commercial deadlocks and that you know when not to try — which is the more senior half of the message.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reframe: two prioritised scope items that read as separate systems are one engine on two clocks. That is the entire argument and it is worth stating in the first thirty seconds.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additive positioning is as important as the architecture. Nothing is ripped out; the layer multiplies what the bank already owns. That framing is what makes it approvable.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this is a pre-demonstration analysis, not delivery. Be clear about that — it is an architecture and positioning artefact.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visible symptom is what sells this: a nudge contradicting the day plan, after which the relationship manager ignores both. That is concrete in a way an architecture argument is not.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decay argument is why two clocks rather than one faster batch. Comprehensive cannot be fast; fast cannot be comprehensive. Both need to agree, hence one engine.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audit point in the third column is the one that lands with risk and compliance: a gate lets you show the action was never a candidate, which a weight never can.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reframe you opened with. It is a clean, quotable summary of the analytical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distinction: not more information, but a sequenced day. Relationship-manager tooling fails by adding screens, and saying so early establishes the right register.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adoption asymmetry is the honest core: most features make the day longer before they make it better, and relationship managers judge on the first week.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Pre-demonstration analysis again, same posture as deck 10. Keep it brief.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removes-a-step versus adds-a-view test is the reusable tool. Every requirement list contains both, and nobody separates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dependency argument is the design contribution: intelligence needs a sequenced day to land in. Deliver it into chaos and it is just another notification.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from login to first customer contact is the leading indicator worth proposing. It moves before any commercial metric and it is honest.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Agreeing the review basis before the pilot is the practical advice — it protects a working programme from being cancelled at three months against a metric that cannot have moved yet.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shorter versus richer. It is the sharpest one-line statement of the argument and it applies to any frontline tooling, not just banking.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economics: a lapsed policy is an already-acquired, already-underwritten customer. That framing is why revival deserves better process design than it usually gets.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principle at the end generalises well beyond insurance: where a process contains a risk decision, let the risk decision shape the process rather than building for the hardest case.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Flag this one to the user directly — it is built from thinner source material than the others and the underwriting content is domain-standard rather than specific.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anti-selection point is what makes the argument safe: this is not weakening a control, it is applying it where the risk actually sits.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paths, not three processes — that distinction matters and is worth saying. And escalation mid-flight is what makes the light path defensible to underwriting.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waiting-on-customer versus waiting-on-insurer distinction is the operationally useful point, and it sets up deck 13 directly.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reframe: this is a control being specified properly rather than relaxed. That is the version that survives a conversation with a risk function.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contrast between the size of the fix and the size of the effect. An acknowledgement email is not an impressive artefact and it changed the operation more than the dashboards did.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reporting-problem-versus-state-problem distinction is the argument. A dashboard over a bad state model produces a confident number nobody can act 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caveat as deck 12 — thinner source material, so flag it to the user and invite correction on specifics.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request was reasonable and the dashboard would have failed. That is the diplomatic and accurate way to frame the redirection.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column is the honest one and worth volunteering: a stoppable clock invites gaming, and reporting both populations together is the control.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best story in the deck. The smallest, least impressive item had the largest effect — and the general lesson about counterparty awareness transfers to any process with an external dependency.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contrast between the two. It is a genuinely humbling and credible note to end an interview answer 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compounding claim, not the programme count. Eight programmes is a list; the eighth costing a fraction of the first is an argument about how to sequence a portfolio.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thesis: in a multi-sponsor portfolio nobody owns the order, so the platform fragments. Owning the sequence is the single highest-leverage decision and it is only available at the start.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ownership band is unusually strong here — Project Lead and Product Manager across all eight. Say it plainly; this is the deck where the claim is genuinely end to end.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observation worth making: Customer 360 has no business case of its own, which is precisely why portfolios sequence it last and then pay for it eight times.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trap is the useful part: programme one looks like the weakest business case precisely because it carries the spine. Sponsors cut it, and then pay for it seven more times.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generalisable rule at the end is the point: a new actor, gate or object is architecture; different wording on the same object is configuration. That distinction transfers well beyond Islamic banking.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rules worth stating out loud: build shared assets inside a programme that needs them, and let the second consumer extend but never fork. The third column — team continuity — is the underrated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middle column is the credible one. The reporting miss in particular is a real lesson — same reuse profile as the customer model, none of the visibility, and so it never got treated as shared.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distinction between an outcome and a decision. That framing is what makes this a portfolio-leadership story rather than a delivery story.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shape: five independent authorities, not a hierarchy. That is what makes it a parallel problem, and it is the detail most approval designs get wrong.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warning at the end is the important part. Parallel routing without versioning and scoped invalidation gives you fast approvals of a document that has since changed.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careful with the fourth column here — no Sharia rulings, no authority matrix, no credit decisions. The deck is about routing design, not about the bank's governance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closing line is the argument: serial approval is a fossil of the paper process, not a property of the governance. Once the order is arbitrary, serialising is pure cost.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stakeholder point is as valuable as the arithmetic. Framing this as removing routing queues rather than reducing review time is what got five control functions to agree.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three is the one to spend time on. Scoped invalidation is unglamorous and it is the single decision that determines whether the model holds under real deal flow.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generalisation is what makes this a portfolio deck rather than a niche one — sustainability mandates, procurement conformity and member-benefit review all have the same shape.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derived-not-stored point in the last column is small and load-bearing. Storing the aggregate instead of deriving it is the shortcut that makes the audit trail lossy.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reframe. It positions the work as architecture rather than process improvement, which is the right register for a senior audience.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boundary. Everyone builds the integration; almost nobody defends the line between calculating a signal and governing the response to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erosion point is the heart of it. No single request to move logic is unreasonable — the cost is cumulative and only visible when someone asks which system decided what.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the fourth column carefully — no model, no thresholds, no exposures. This deck is about the boundary and the lifecycle, not about risk methodology.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requests are the practical content. Each is reasonable and each is refused with an alternative that meets the operational need — that pairing is what makes the refusal sustainable.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prohibitions in the last column are what an auditor tests for. Bulk closure and auto-expiry are the two that quietly turn an early-warning system into a reporting 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feedback loop is what makes the separation survivable. Without it, the boundary erodes for good reasons, because the people living with bad alerts have no other route.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Association logic is the sleeper issue. Two systems resolving groups differently is discovered late, by someone reconciling reports, and by then both systems are trusted.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distinction between principled and sustainable. Anyone can state the boundary; the feedback loop is what lets it survive three years of reasonable pressure.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counter-intuitive claim: what varies by country is much less than anyone expects, and finding that out early is what turns six rollouts into one programme.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retail-versus-corporate distinction is the argument. Country is a defensible boundary in retail and the wrong one in corporate, because groups span borders by definition.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posture. The ownership band names four specific programmes, which is precise enough to be checkable — that precision is the point.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column is the non-obvious bit: sequencing profitability last is a reconciliation checkpoint, not a deprioritisation. It is where inconsistent definitions surface.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workshop technique is genuinely reusable: ask what needs to change about a shared baseline, never ask what a market needs from a blank page. Same people, far shorter 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Name the cost honestly in the third column. Agreeing an entity model across six markets before the first go-live is slow and needs authority above any country — that is the real price of the approach.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test in the first column is the transferable tool: different states means different lifecycles; different rules on the same states means one lifecycle and several rule sets.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related-party data point is the honest one and it is a good interview answer — the model was right and the source data was not, which is a distinction worth being able to draw.</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trade being explicit: slower to start, needs authority above any market, paid once. Executives respond well to a recommendation that names its own cost.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provocation in the title. A hundred reports is usually evidence that nobody asked which decision each one supports — that framing sets up everything after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hard things — client definition, cost allocation, accountability — are political, not technical. Saying that plainly is what makes this an analytics-leadership deck rather than a reporting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fourth column is absolute here — no client data, no revenue, no exposures. Analytics decks invite exactly those questions, so establish the boundary before anyone asks.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maintenance-owner-by-construction point is the practical payoff. Naming who decides also solves who cares whether the number is still right in two years.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Lapse-by-default is the mechanism worth remembering. It inverts the social problem: instead of arguing for retirement you argue for retention, and that changes who carries the burden.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paragraph is the senior point: the delivery lead's job is not to settle the allocation argument but to refuse to build until someone does — early enough that refusing costs a week.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activity-volumes warning is worth saying out loud — easy to measure, satisfying to show, and harmful the moment it becomes a target.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reframe. It positions analytics work as a governance and stakeholder problem, which is the more senior read and the one that transfers to any organisation.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the boundary early: this is a domain deep-dive drawing on my own corporate work, with a comparable public deployment for scale context. It is not a case study of that deployment.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retail-versus-corporate framing again, but sharper: retail aggregates cleanly because a customer is one entity; corporate exposure is to a structure, and lending systems do not store structures.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last bullet of the first band out loud — the reference deployment is not a client of mine, it is there for scale. That distinction is exactly the kind a panel notices when you volunteer 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punchline: modelling only ownership and guarantee builds a system that confirms what you already knew. The surprising exposures come from the three that are rarely modelled.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tells are the practical content. None of these fails loudly, so the diagnostic is recognising the signature rather than waiting for a validation to fire.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completeness-alongside-the-number point is the cheapest advice in the deck and the one most likely to be acted on. Ninety-four per cent verified beats a bare figure every time.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strong practical points: group-level conditions need somewhere to live or they become unmonitored free text, and committed exposure must update at decision, not at booking.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distinction between reporting and modelling. It is the deck's thesis and it is the answer to any interview question about corporate banking architecture.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cleanest analytical artefact in the portfolio. Open by naming the shape: nine options, seven criteria, one non-negotiable, a scored recommendation. That structure is the product.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one-line version: both options are compliant, so this is not a risk-versus-cost trade. That is what makes the recommendation easy to approve, and it is worth stating before the scores.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the third band is 'estimated ranges' rather than 'illustrative' — these are derived from real instance counts, which is a stronger position than a pure model. Say that distinction if asked.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the asymmetry out loud: wholesale is six per cent of the users and carries the binding constraint. That asymmetry is what makes the decision interesting rather than obvious.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methodological point, and the one most worth stealing: filter on hard constraints before you score, or the scorecard will invite people to trade away something that was never tradeable.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Strip it to the single variable before showing scores. Wholesale identical, third market identical — one application instance is the whole question.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oversell. Naming Option 1's genuine advantage — a simpler regulatory conversation — is what makes the recommendation credible rather than advocacy.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cost claim modest and lead on compounding. The analytics point is the strongest one — it is a capability difference, not a savings difference, and capability arguments survive scrutiny better.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first row. Making regulatory pre-engagement a gate before approval — with the fallback held open — is what turns this from advocacy into a decision brief an executive can actually sign.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 both cards together. Holding the fallback open is the move that gets this approved — the executive is not being asked to bet, only to sequence.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framework. For an interview, the reusable artefact is the sequence: constraints filter, then scoring, then one variable, then gate the deciding risk.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word simultaneously. Three supervisors at once, not in sequence, is what makes this an architecture problem rather than a compliance checklist.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counter-intuitive point is the value here. Designing for the easiest market first is faster to a first go-live and the most expensive order overall — say why explicitly.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band matters: this is design-level summary, not legal advice. Say it plainly if a technically literate interviewer probes the regulatory content.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compound-not-conflict distinction is the intellectual content. A conflict gets escalated and resolved; a compounding set silently ratchets the design and nobody notices until the third market.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mapping-by-control-domain rather than by-regulator move is the practical takeaway. Mapping by regulator produces three architectures; mapping by control produces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Sequencing design attention by reversibility rather than visibility — that is the line. Residency and isolation get the first sprint precisely because they are the two that cannot be redone.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sixth question is the real one — can you show me now. It separates platforms that generate evidence from platforms that assemble it, and only the first kind scales across three supervisors.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counter-intuitive recommendation, stated as a trade: slower first go-live, faster everything after. Executives accept that trade readily once the rework alternative is made concrete.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alternative. Nobody sets out to build three architectures; they build one and rework it twice under supervision, which is worse and is what the rule prevents.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reframe: the agenda is the scoring sheet. Anyone can prepare content for six sessions; knowing what each session actually tests is what separates a prepared team from a rehearsed one.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reframe worth remembering: the panel is not testing the platform, it is testing whether the people in the room have done this before. Every question is designed to reveal that.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observed band is worth naming — these failure modes are cross-pursuit patterns, not a report on one client's panel. That is what makes it safe and also what makes it useful.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tell column is the most useful part. Each one is a specific, observable behaviour the panel is watching for — and each is something you can actually prepare.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fourth is the strongest and the least prepared for. A real incident told with the uncomfortable parts intact does more for credibility than any architecture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fifth is the one to tell as a lesson learned. It is concrete, unglamorous, costs nothing, and shows the kind of attention a panel is actually assessing.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 about artefacts produced for another purpose is why they are trusted. The timed configuration recording is the one thing worth building fresh, and it is reusable across every pursuit afterwards.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silent deal lead is a deliberate and slightly counter-cultural recommendation. A commercial lead answering a technical question on an engineer's behalf is one of the fastest ways to lose a technical panel.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reframe you opened with. It is the sentence that makes the whole method make sense, and it is a strong note to end an interview answer 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number. Six thousand to 526 is arresting and it is the whole story — the catalogue was the problem, not the routing.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growth-only dynamic is the same one as the reporting estate in deck 18 — worth noting the pattern if anyone reads both.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Vendor-reported deployment figures are a weaker class than public bank figures — the band says so, and that distinction is worth making if pressed.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closing line is the one to say: the bank was always running about five hundred services and describing them six thousand ways. It is generous and it is true.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framing point in the last column is the stakeholder lesson: removing duplicates is acceptable, reducing the catalogue is threatening, and they are the same activity.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target-versus-design-commitment distinction is the transferable idea and it applies to almost any front-line metric.</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correction rather than reduction. It is more accurate and it is the framing that made the programme acceptable internally.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thesis: the entry point is set by where the bank already is. Same platform, same region, three correct answers that would each have failed at the other two.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regional-reuse warning is the practical value: what travels between countries is the capability set, never the sequence.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here — this is a comparative framework, not three case studies, and the ownership claim is deliberately modest.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constraint row across all three. They share nothing — that is the point, and it is why a shared sequence would have failed two of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diagnostic question is the reusable artefact: what has to be true first. Ask it in every market rather than importing the previous country's answer.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closing observation reconciles all three: everyone pays for the customer record, the only question is when. Platform-led is not slower, it is unavoidable-first.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one-line contrast. It is the most quotable statement of a genuinely useful regional-programme principle.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tension: every client wants bespoke and every client has the same problem. The factory only pays if it exists before client three.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timing point is the honest one. Everyone intends to productise later, and later is when the code is too entrenched to change.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the ratios-not-absolutes decision and why: it makes the same point without putting an employer's P&amp;L in a stranger's hands.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marking exercise is the practical technique: show the common model, let them mark what does not fit, examine each item. Arguing in the abstract never works.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market-access framing is stronger than a cost-saving framing and it is more accurate — a previously unaddressable segment became addressable.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closing line is the deck's thesis: a factory is a set of refusals held consistently, not a codebase.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personal accountability point. It is the most senior read of the story and it is what a hiring panel is listening for.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double edge: market concentration is what makes reuse possible and it is what makes the constraints universal. Both follow from the same fact.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fair to the core platform — the constraints come from stability and longevity, which are also why it is trusted. That fairness makes the analysis credible.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assessed band matters — this is engineering judgement, not a product evaluation, and saying so keeps it out of vendor-comparison territory.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three of four fail silently. That single observation is why the pattern library needs monitoring baked in rather than added later.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Two-thirds of integration effort is not the integration. That number is the one to remember and it is why these estimates are chronically wrong.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double edge you opened with. It ties the deck back to deck 25 and makes the pair read as one argument.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contrarian claim: one customer view is the standard answer and it is wrong here. That earns attention immediately.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six-views-not-six-systems distinction is the crux. It is a presentation decision on one model, which is why it does not reintroduce fragmentation.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posture. Keep it quick.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member-as-owner point is what makes this credit-union specific rather than generic 360 design. It is worth explaining if the interviewer is not from that world.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 test — what would someone do differently — is the reusable artefact and it applies to any operational screen.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reframe. It is memorable and it demonstrates domain understanding rather than generic CRM knowledge.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member question. Why did my card decline is one question and three systems have to be consulted to answer it — that framing makes the integration case immediately concrete.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Assemble and attribute, never adjudicate — that is the design principle and it is what keeps the servicing view honest.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Quick one. The processors are unnamed deliberately.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never-merge rule is the important one. Sources genuinely disagree on timing and a synthesised answer that no source would confirm is worse than showing both.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self-inflicted-volume point is the payoff: consistent individual answers are what make aggregate causes visible, and the largest cause is often the institution's own settings.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loop between individual and aggregate. It is the structural insight and it generalises well beyond card servicing.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tension: lifetime value in a cooperative is philosophically awkward and that awkwardness is the interesting part of the design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line is the commercial argument, and it matters — the reframe is better analytics as well as better governance, not a softening.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Same posture as the other two credit union decks. The institutional figures are solid and public; the banding dimensions and the mismatch categories are reconstructed to show the approach. Say that before the model slide, not after.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comparative construction is the technical heart: what would a well-served member in this position hold, and where does this member differ. That is a mismatch, not a ranking.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strong points: not-appropriate-with-reason is the highest-value response, and reviewing categories rather than the model is what made it governable.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alignment between the governance answer and the commercial one. That convergence is what makes the argument persuasive rather than merely tactful.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opener. The whole claim is in the subtitle — almost none of what separated success from struggle was technology. Say it, then earn it over the next seven slides.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footline is the real insight and it is worth pausing on. Each decision is obvious in isolation; that they are the same four every time and none gets a steering committee is the finding.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inherited band matters — aggregation does not upgrade a figure's status. Saying that unprompted is the single most credible thing in the portfolio.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precise about the claim: not statistically representative, but varied enough that a consistent pattern is interesting. That precision is itself credible.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column is what stops this being platitudes — every finding names the programmes it came from and the panel can ask about any of them.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Note that all five are cheap to prevent and structural once visible. That asymmetry is why they keep happening — nobody is rewarded for preventing an invisible problem.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slide the portfolio exists to support. If a panel remembers one thing, make it these four questions and the fact that none gets a steering committee.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here. It is the strongest close in the portfolio and it is deliberately framed as what I would do next rather than what I have done, which is what an interviewer is actually assessing.</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your file, not the panel's. Its job is that no number in the portfolio can surprise you.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 the three bands. 25 to 30, 51 to 68, 25 to 45. Those three ranges cover the numbers most likely to be probed.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Concede first, always. Volunteering that a chart is a model, then defending the shape, is a much stronger position than being caught defending a value.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third answer is the one that matters. Talking from memory with stated uncertainty is more convincing than any slide, and it is what these five decks are designed to set 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whole prep in one slide. If you only remember one thing: classify, concede, volunteer, redirect.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2e18a137c9479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f4448cdb261441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3.xml" Id="R56bcf3389ed04f0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4.xml" Id="R7b04885cb9004cb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5.xml" Id="Ra2ee9125d335430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6.xml" Id="Rbf8c32a78276460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7.xml" Id="Rde674711d19b436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8.xml" Id="Rc7715ff0295244c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9.xml" Id="R83a58554482d487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0.xml" Id="R3a348590492649d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1.xml" Id="Rac956f2b332d4097"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2.xml" Id="R1e855450afa240fc"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3.xml" Id="R5cfc832e4b5745f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4.xml" Id="Recaa21568630451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5.xml" Id="Re5170a0e992e4715"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6.xml" Id="Rcfaabdde36de4cbc"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7.xml" Id="Rca44d914230a43c0"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8.xml" Id="Rfed0dfc8c9b04151"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9.xml" Id="R162d162fad844791"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0.xml" Id="R3981bfefaa8a4384"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1.xml" Id="Rf5a6eab7abf44b37"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2.xml" Id="R1e04db05716d4a58"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23.xml" Id="R4b146e787e894bc6" /></Relationships>
</file>

<file path=ppt/slideLayouts/_rels/slideLayout24.xml.rels>&#65279;<?xml version="1.0" encoding="utf-8"?><Relationships xmlns="http://schemas.openxmlformats.org/package/2006/relationships"><Relationship Type="http://schemas.openxmlformats.org/officeDocument/2006/relationships/slideMaster" Target="/ppt/slideMasters/slideMaster24.xml" Id="Rff450f52fe5a4c32" /></Relationships>
</file>

<file path=ppt/slideLayouts/_rels/slideLayout25.xml.rels>&#65279;<?xml version="1.0" encoding="utf-8"?><Relationships xmlns="http://schemas.openxmlformats.org/package/2006/relationships"><Relationship Type="http://schemas.openxmlformats.org/officeDocument/2006/relationships/slideMaster" Target="/ppt/slideMasters/slideMaster25.xml" Id="R780a2224953248ce" /></Relationships>
</file>

<file path=ppt/slideLayouts/_rels/slideLayout26.xml.rels>&#65279;<?xml version="1.0" encoding="utf-8"?><Relationships xmlns="http://schemas.openxmlformats.org/package/2006/relationships"><Relationship Type="http://schemas.openxmlformats.org/officeDocument/2006/relationships/slideMaster" Target="/ppt/slideMasters/slideMaster26.xml" Id="R62efafd7f40945b8" /></Relationships>
</file>

<file path=ppt/slideLayouts/_rels/slideLayout27.xml.rels>&#65279;<?xml version="1.0" encoding="utf-8"?><Relationships xmlns="http://schemas.openxmlformats.org/package/2006/relationships"><Relationship Type="http://schemas.openxmlformats.org/officeDocument/2006/relationships/slideMaster" Target="/ppt/slideMasters/slideMaster27.xml" Id="Rea103e0af0f84edd" /></Relationships>
</file>

<file path=ppt/slideLayouts/_rels/slideLayout28.xml.rels>&#65279;<?xml version="1.0" encoding="utf-8"?><Relationships xmlns="http://schemas.openxmlformats.org/package/2006/relationships"><Relationship Type="http://schemas.openxmlformats.org/officeDocument/2006/relationships/slideMaster" Target="/ppt/slideMasters/slideMaster28.xml" Id="R5fc3a1d621cb4c3f" /></Relationships>
</file>

<file path=ppt/slideLayouts/_rels/slideLayout29.xml.rels>&#65279;<?xml version="1.0" encoding="utf-8"?><Relationships xmlns="http://schemas.openxmlformats.org/package/2006/relationships"><Relationship Type="http://schemas.openxmlformats.org/officeDocument/2006/relationships/slideMaster" Target="/ppt/slideMasters/slideMaster29.xml" Id="R6ec2f186cf16457f" /></Relationships>
</file>

<file path=ppt/slideLayouts/_rels/slideLayout30.xml.rels>&#65279;<?xml version="1.0" encoding="utf-8"?><Relationships xmlns="http://schemas.openxmlformats.org/package/2006/relationships"><Relationship Type="http://schemas.openxmlformats.org/officeDocument/2006/relationships/slideMaster" Target="/ppt/slideMasters/slideMaster30.xml" Id="R15a738ed37c4430e" /></Relationships>
</file>

<file path=ppt/slideLayouts/_rels/slideLayout31.xml.rels>&#65279;<?xml version="1.0" encoding="utf-8"?><Relationships xmlns="http://schemas.openxmlformats.org/package/2006/relationships"><Relationship Type="http://schemas.openxmlformats.org/officeDocument/2006/relationships/slideMaster" Target="/ppt/slideMasters/slideMaster31.xml" Id="R8e3ab1abebae4155" /></Relationships>
</file>

<file path=ppt/slideLayouts/_rels/slideLayout32.xml.rels>&#65279;<?xml version="1.0" encoding="utf-8"?><Relationships xmlns="http://schemas.openxmlformats.org/package/2006/relationships"><Relationship Type="http://schemas.openxmlformats.org/officeDocument/2006/relationships/slideMaster" Target="/ppt/slideMasters/slideMaster32.xml" Id="R08d1b0b4462845ca" /></Relationships>
</file>

<file path=ppt/slideLayouts/_rels/slideLayout33.xml.rels>&#65279;<?xml version="1.0" encoding="utf-8"?><Relationships xmlns="http://schemas.openxmlformats.org/package/2006/relationships"><Relationship Type="http://schemas.openxmlformats.org/officeDocument/2006/relationships/slideMaster" Target="/ppt/slideMasters/slideMaster33.xml" Id="R1d51e3b9ab2c475d" /></Relationships>
</file>

<file path=ppt/slideLayouts/_rels/slideLayout34.xml.rels>&#65279;<?xml version="1.0" encoding="utf-8"?><Relationships xmlns="http://schemas.openxmlformats.org/package/2006/relationships"><Relationship Type="http://schemas.openxmlformats.org/officeDocument/2006/relationships/slideMaster" Target="/ppt/slideMasters/slideMaster34.xml" Id="R0b3460ccd30441b6" /></Relationships>
</file>

<file path=ppt/slideLayouts/_rels/slideLayout35.xml.rels>&#65279;<?xml version="1.0" encoding="utf-8"?><Relationships xmlns="http://schemas.openxmlformats.org/package/2006/relationships"><Relationship Type="http://schemas.openxmlformats.org/officeDocument/2006/relationships/slideMaster" Target="/ppt/slideMasters/slideMaster35.xml" Id="R1c8886cd9c414a49"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4.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5.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6.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9.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0.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3.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4.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5.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6.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7.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8.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19.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0.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3.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4.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5.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6.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7.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8.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9.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0.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2.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3.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4.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35.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f6e24dd0a634d96" /><Relationship Type="http://schemas.openxmlformats.org/officeDocument/2006/relationships/slideLayout" Target="/ppt/slideLayouts/slideLayout1.xml" Id="Rdf7bd6d044bc48f5"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360effe37ee24332" /><Relationship Type="http://schemas.openxmlformats.org/officeDocument/2006/relationships/slideLayout" Target="/ppt/slideLayouts/slideLayout2.xml" Id="R56dfa32436ed4d07" /></Relationships>
</file>

<file path=ppt/slideMasters/_rels/slideMaster3.xml.rels>&#65279;<?xml version="1.0" encoding="utf-8"?><Relationships xmlns="http://schemas.openxmlformats.org/package/2006/relationships"><Relationship Type="http://schemas.openxmlformats.org/officeDocument/2006/relationships/theme" Target="/ppt/slideMasters/theme/theme4.xml" Id="R4fd337c91ada4410" /><Relationship Type="http://schemas.openxmlformats.org/officeDocument/2006/relationships/slideLayout" Target="/ppt/slideLayouts/slideLayout3.xml" Id="R972c0f1184cf458d" /></Relationships>
</file>

<file path=ppt/slideMasters/_rels/slideMaster4.xml.rels>&#65279;<?xml version="1.0" encoding="utf-8"?><Relationships xmlns="http://schemas.openxmlformats.org/package/2006/relationships"><Relationship Type="http://schemas.openxmlformats.org/officeDocument/2006/relationships/theme" Target="/ppt/slideMasters/theme/theme5.xml" Id="Rb0628b7757864697" /><Relationship Type="http://schemas.openxmlformats.org/officeDocument/2006/relationships/slideLayout" Target="/ppt/slideLayouts/slideLayout4.xml" Id="R1d7855bea92041f9" /></Relationships>
</file>

<file path=ppt/slideMasters/_rels/slideMaster5.xml.rels>&#65279;<?xml version="1.0" encoding="utf-8"?><Relationships xmlns="http://schemas.openxmlformats.org/package/2006/relationships"><Relationship Type="http://schemas.openxmlformats.org/officeDocument/2006/relationships/theme" Target="/ppt/slideMasters/theme/theme6.xml" Id="Re54759bee79c45d3" /><Relationship Type="http://schemas.openxmlformats.org/officeDocument/2006/relationships/slideLayout" Target="/ppt/slideLayouts/slideLayout5.xml" Id="R816cd09309b945a8" /></Relationships>
</file>

<file path=ppt/slideMasters/_rels/slideMaster6.xml.rels>&#65279;<?xml version="1.0" encoding="utf-8"?><Relationships xmlns="http://schemas.openxmlformats.org/package/2006/relationships"><Relationship Type="http://schemas.openxmlformats.org/officeDocument/2006/relationships/theme" Target="/ppt/slideMasters/theme/theme7.xml" Id="R1ba01d258f3144a6" /><Relationship Type="http://schemas.openxmlformats.org/officeDocument/2006/relationships/slideLayout" Target="/ppt/slideLayouts/slideLayout6.xml" Id="Rfd18072ae5364378" /></Relationships>
</file>

<file path=ppt/slideMasters/_rels/slideMaster7.xml.rels>&#65279;<?xml version="1.0" encoding="utf-8"?><Relationships xmlns="http://schemas.openxmlformats.org/package/2006/relationships"><Relationship Type="http://schemas.openxmlformats.org/officeDocument/2006/relationships/theme" Target="/ppt/slideMasters/theme/theme8.xml" Id="R4ce80d86ef694ddd" /><Relationship Type="http://schemas.openxmlformats.org/officeDocument/2006/relationships/slideLayout" Target="/ppt/slideLayouts/slideLayout7.xml" Id="Rab5e3442da1e4bc1" /></Relationships>
</file>

<file path=ppt/slideMasters/_rels/slideMaster8.xml.rels>&#65279;<?xml version="1.0" encoding="utf-8"?><Relationships xmlns="http://schemas.openxmlformats.org/package/2006/relationships"><Relationship Type="http://schemas.openxmlformats.org/officeDocument/2006/relationships/theme" Target="/ppt/slideMasters/theme/theme9.xml" Id="R323663eb211f4521" /><Relationship Type="http://schemas.openxmlformats.org/officeDocument/2006/relationships/slideLayout" Target="/ppt/slideLayouts/slideLayout8.xml" Id="Ra372a5bc91b44617" /></Relationships>
</file>

<file path=ppt/slideMasters/_rels/slideMaster9.xml.rels>&#65279;<?xml version="1.0" encoding="utf-8"?><Relationships xmlns="http://schemas.openxmlformats.org/package/2006/relationships"><Relationship Type="http://schemas.openxmlformats.org/officeDocument/2006/relationships/theme" Target="/ppt/slideMasters/theme/theme10.xml" Id="R90cdf91d0c2348a9" /><Relationship Type="http://schemas.openxmlformats.org/officeDocument/2006/relationships/slideLayout" Target="/ppt/slideLayouts/slideLayout9.xml" Id="Ra38ec13420424ca1" /></Relationships>
</file>

<file path=ppt/slideMasters/_rels/slideMaster10.xml.rels>&#65279;<?xml version="1.0" encoding="utf-8"?><Relationships xmlns="http://schemas.openxmlformats.org/package/2006/relationships"><Relationship Type="http://schemas.openxmlformats.org/officeDocument/2006/relationships/theme" Target="/ppt/slideMasters/theme/theme11.xml" Id="R1eba559b49954b82" /><Relationship Type="http://schemas.openxmlformats.org/officeDocument/2006/relationships/slideLayout" Target="/ppt/slideLayouts/slideLayout10.xml" Id="Rda6f6de7274d4599" /></Relationships>
</file>

<file path=ppt/slideMasters/_rels/slideMaster11.xml.rels>&#65279;<?xml version="1.0" encoding="utf-8"?><Relationships xmlns="http://schemas.openxmlformats.org/package/2006/relationships"><Relationship Type="http://schemas.openxmlformats.org/officeDocument/2006/relationships/theme" Target="/ppt/slideMasters/theme/theme12.xml" Id="Rce5e102bdc8a4ad0" /><Relationship Type="http://schemas.openxmlformats.org/officeDocument/2006/relationships/slideLayout" Target="/ppt/slideLayouts/slideLayout11.xml" Id="Rbf7f1c13b2f2499b" /></Relationships>
</file>

<file path=ppt/slideMasters/_rels/slideMaster12.xml.rels>&#65279;<?xml version="1.0" encoding="utf-8"?><Relationships xmlns="http://schemas.openxmlformats.org/package/2006/relationships"><Relationship Type="http://schemas.openxmlformats.org/officeDocument/2006/relationships/theme" Target="/ppt/slideMasters/theme/theme13.xml" Id="R35438a92c6d24d0e" /><Relationship Type="http://schemas.openxmlformats.org/officeDocument/2006/relationships/slideLayout" Target="/ppt/slideLayouts/slideLayout12.xml" Id="R37b2a9a147794b49" /></Relationships>
</file>

<file path=ppt/slideMasters/_rels/slideMaster13.xml.rels>&#65279;<?xml version="1.0" encoding="utf-8"?><Relationships xmlns="http://schemas.openxmlformats.org/package/2006/relationships"><Relationship Type="http://schemas.openxmlformats.org/officeDocument/2006/relationships/theme" Target="/ppt/slideMasters/theme/theme14.xml" Id="R828cffb84d454ae8" /><Relationship Type="http://schemas.openxmlformats.org/officeDocument/2006/relationships/slideLayout" Target="/ppt/slideLayouts/slideLayout13.xml" Id="R4a9cea761caa4e26" /></Relationships>
</file>

<file path=ppt/slideMasters/_rels/slideMaster14.xml.rels>&#65279;<?xml version="1.0" encoding="utf-8"?><Relationships xmlns="http://schemas.openxmlformats.org/package/2006/relationships"><Relationship Type="http://schemas.openxmlformats.org/officeDocument/2006/relationships/theme" Target="/ppt/slideMasters/theme/theme15.xml" Id="Ra53b5042e40c41dc" /><Relationship Type="http://schemas.openxmlformats.org/officeDocument/2006/relationships/slideLayout" Target="/ppt/slideLayouts/slideLayout14.xml" Id="R70514a85e2a84bf2" /></Relationships>
</file>

<file path=ppt/slideMasters/_rels/slideMaster15.xml.rels>&#65279;<?xml version="1.0" encoding="utf-8"?><Relationships xmlns="http://schemas.openxmlformats.org/package/2006/relationships"><Relationship Type="http://schemas.openxmlformats.org/officeDocument/2006/relationships/theme" Target="/ppt/slideMasters/theme/theme16.xml" Id="R5da0774c3b0742a9" /><Relationship Type="http://schemas.openxmlformats.org/officeDocument/2006/relationships/slideLayout" Target="/ppt/slideLayouts/slideLayout15.xml" Id="Rab164af75a6043a7" /></Relationships>
</file>

<file path=ppt/slideMasters/_rels/slideMaster16.xml.rels>&#65279;<?xml version="1.0" encoding="utf-8"?><Relationships xmlns="http://schemas.openxmlformats.org/package/2006/relationships"><Relationship Type="http://schemas.openxmlformats.org/officeDocument/2006/relationships/theme" Target="/ppt/slideMasters/theme/theme17.xml" Id="Rd75d3610840f4232" /><Relationship Type="http://schemas.openxmlformats.org/officeDocument/2006/relationships/slideLayout" Target="/ppt/slideLayouts/slideLayout16.xml" Id="Rcf0ddc6cc80f433d" /></Relationships>
</file>

<file path=ppt/slideMasters/_rels/slideMaster17.xml.rels>&#65279;<?xml version="1.0" encoding="utf-8"?><Relationships xmlns="http://schemas.openxmlformats.org/package/2006/relationships"><Relationship Type="http://schemas.openxmlformats.org/officeDocument/2006/relationships/theme" Target="/ppt/slideMasters/theme/theme18.xml" Id="R705ebc99c28140bc" /><Relationship Type="http://schemas.openxmlformats.org/officeDocument/2006/relationships/slideLayout" Target="/ppt/slideLayouts/slideLayout17.xml" Id="R7b05bf70a76d457c" /></Relationships>
</file>

<file path=ppt/slideMasters/_rels/slideMaster18.xml.rels>&#65279;<?xml version="1.0" encoding="utf-8"?><Relationships xmlns="http://schemas.openxmlformats.org/package/2006/relationships"><Relationship Type="http://schemas.openxmlformats.org/officeDocument/2006/relationships/theme" Target="/ppt/slideMasters/theme/theme19.xml" Id="R7d0a8ff000184878" /><Relationship Type="http://schemas.openxmlformats.org/officeDocument/2006/relationships/slideLayout" Target="/ppt/slideLayouts/slideLayout18.xml" Id="R43e79a2a27ec4992" /></Relationships>
</file>

<file path=ppt/slideMasters/_rels/slideMaster19.xml.rels>&#65279;<?xml version="1.0" encoding="utf-8"?><Relationships xmlns="http://schemas.openxmlformats.org/package/2006/relationships"><Relationship Type="http://schemas.openxmlformats.org/officeDocument/2006/relationships/theme" Target="/ppt/slideMasters/theme/theme20.xml" Id="R24fdef98860d4d55" /><Relationship Type="http://schemas.openxmlformats.org/officeDocument/2006/relationships/slideLayout" Target="/ppt/slideLayouts/slideLayout19.xml" Id="R32b900126284463b" /></Relationships>
</file>

<file path=ppt/slideMasters/_rels/slideMaster20.xml.rels>&#65279;<?xml version="1.0" encoding="utf-8"?><Relationships xmlns="http://schemas.openxmlformats.org/package/2006/relationships"><Relationship Type="http://schemas.openxmlformats.org/officeDocument/2006/relationships/theme" Target="/ppt/slideMasters/theme/theme21.xml" Id="R2d0ad46e53414c16" /><Relationship Type="http://schemas.openxmlformats.org/officeDocument/2006/relationships/slideLayout" Target="/ppt/slideLayouts/slideLayout20.xml" Id="Rd92904d99c1b4d72" /></Relationships>
</file>

<file path=ppt/slideMasters/_rels/slideMaster21.xml.rels>&#65279;<?xml version="1.0" encoding="utf-8"?><Relationships xmlns="http://schemas.openxmlformats.org/package/2006/relationships"><Relationship Type="http://schemas.openxmlformats.org/officeDocument/2006/relationships/theme" Target="/ppt/slideMasters/theme/theme22.xml" Id="Re7f6d78fe6534619" /><Relationship Type="http://schemas.openxmlformats.org/officeDocument/2006/relationships/slideLayout" Target="/ppt/slideLayouts/slideLayout21.xml" Id="R0a2f6f762b3d4b26" /></Relationships>
</file>

<file path=ppt/slideMasters/_rels/slideMaster22.xml.rels>&#65279;<?xml version="1.0" encoding="utf-8"?><Relationships xmlns="http://schemas.openxmlformats.org/package/2006/relationships"><Relationship Type="http://schemas.openxmlformats.org/officeDocument/2006/relationships/theme" Target="/ppt/slideMasters/theme/theme23.xml" Id="R46089ecec5a3438a" /><Relationship Type="http://schemas.openxmlformats.org/officeDocument/2006/relationships/slideLayout" Target="/ppt/slideLayouts/slideLayout22.xml" Id="R7fe760e2fd324868" /></Relationships>
</file>

<file path=ppt/slideMasters/_rels/slideMaster23.xml.rels>&#65279;<?xml version="1.0" encoding="utf-8"?><Relationships xmlns="http://schemas.openxmlformats.org/package/2006/relationships"><Relationship Type="http://schemas.openxmlformats.org/officeDocument/2006/relationships/theme" Target="/ppt/slideMasters/theme/theme24.xml" Id="Ra787c4db80bf4777" /><Relationship Type="http://schemas.openxmlformats.org/officeDocument/2006/relationships/slideLayout" Target="/ppt/slideLayouts/slideLayout23.xml" Id="Rf9ba217c87cc4444" /></Relationships>
</file>

<file path=ppt/slideMasters/_rels/slideMaster24.xml.rels>&#65279;<?xml version="1.0" encoding="utf-8"?><Relationships xmlns="http://schemas.openxmlformats.org/package/2006/relationships"><Relationship Type="http://schemas.openxmlformats.org/officeDocument/2006/relationships/theme" Target="/ppt/slideMasters/theme/theme25.xml" Id="Rcf533b807ad54704" /><Relationship Type="http://schemas.openxmlformats.org/officeDocument/2006/relationships/slideLayout" Target="/ppt/slideLayouts/slideLayout24.xml" Id="R0a6efae5460240e5" /></Relationships>
</file>

<file path=ppt/slideMasters/_rels/slideMaster25.xml.rels>&#65279;<?xml version="1.0" encoding="utf-8"?><Relationships xmlns="http://schemas.openxmlformats.org/package/2006/relationships"><Relationship Type="http://schemas.openxmlformats.org/officeDocument/2006/relationships/theme" Target="/ppt/slideMasters/theme/theme26.xml" Id="Rc5730833cac041d2" /><Relationship Type="http://schemas.openxmlformats.org/officeDocument/2006/relationships/slideLayout" Target="/ppt/slideLayouts/slideLayout25.xml" Id="Ra87ee4bbaf6940dc" /></Relationships>
</file>

<file path=ppt/slideMasters/_rels/slideMaster26.xml.rels>&#65279;<?xml version="1.0" encoding="utf-8"?><Relationships xmlns="http://schemas.openxmlformats.org/package/2006/relationships"><Relationship Type="http://schemas.openxmlformats.org/officeDocument/2006/relationships/theme" Target="/ppt/slideMasters/theme/theme27.xml" Id="R74db9633638f4be5" /><Relationship Type="http://schemas.openxmlformats.org/officeDocument/2006/relationships/slideLayout" Target="/ppt/slideLayouts/slideLayout26.xml" Id="R6a0be31215d94ecf" /></Relationships>
</file>

<file path=ppt/slideMasters/_rels/slideMaster27.xml.rels>&#65279;<?xml version="1.0" encoding="utf-8"?><Relationships xmlns="http://schemas.openxmlformats.org/package/2006/relationships"><Relationship Type="http://schemas.openxmlformats.org/officeDocument/2006/relationships/theme" Target="/ppt/slideMasters/theme/theme28.xml" Id="Rd7e4b0327c5a4b20" /><Relationship Type="http://schemas.openxmlformats.org/officeDocument/2006/relationships/slideLayout" Target="/ppt/slideLayouts/slideLayout27.xml" Id="Raf7680db55544181" /></Relationships>
</file>

<file path=ppt/slideMasters/_rels/slideMaster28.xml.rels>&#65279;<?xml version="1.0" encoding="utf-8"?><Relationships xmlns="http://schemas.openxmlformats.org/package/2006/relationships"><Relationship Type="http://schemas.openxmlformats.org/officeDocument/2006/relationships/theme" Target="/ppt/slideMasters/theme/theme29.xml" Id="R72e88d33a2e14663" /><Relationship Type="http://schemas.openxmlformats.org/officeDocument/2006/relationships/slideLayout" Target="/ppt/slideLayouts/slideLayout28.xml" Id="Rfd3467ae431246c6" /></Relationships>
</file>

<file path=ppt/slideMasters/_rels/slideMaster29.xml.rels>&#65279;<?xml version="1.0" encoding="utf-8"?><Relationships xmlns="http://schemas.openxmlformats.org/package/2006/relationships"><Relationship Type="http://schemas.openxmlformats.org/officeDocument/2006/relationships/theme" Target="/ppt/slideMasters/theme/theme30.xml" Id="R128badc2c58f470b" /><Relationship Type="http://schemas.openxmlformats.org/officeDocument/2006/relationships/slideLayout" Target="/ppt/slideLayouts/slideLayout29.xml" Id="Rc6b97c32576a4090" /></Relationships>
</file>

<file path=ppt/slideMasters/_rels/slideMaster30.xml.rels>&#65279;<?xml version="1.0" encoding="utf-8"?><Relationships xmlns="http://schemas.openxmlformats.org/package/2006/relationships"><Relationship Type="http://schemas.openxmlformats.org/officeDocument/2006/relationships/theme" Target="/ppt/slideMasters/theme/theme31.xml" Id="Ra15ea8a419ae4a4a" /><Relationship Type="http://schemas.openxmlformats.org/officeDocument/2006/relationships/slideLayout" Target="/ppt/slideLayouts/slideLayout30.xml" Id="Rb46fd2ecdacc4882" /></Relationships>
</file>

<file path=ppt/slideMasters/_rels/slideMaster31.xml.rels>&#65279;<?xml version="1.0" encoding="utf-8"?><Relationships xmlns="http://schemas.openxmlformats.org/package/2006/relationships"><Relationship Type="http://schemas.openxmlformats.org/officeDocument/2006/relationships/theme" Target="/ppt/slideMasters/theme/theme32.xml" Id="R6571766e46bd4ca7" /><Relationship Type="http://schemas.openxmlformats.org/officeDocument/2006/relationships/slideLayout" Target="/ppt/slideLayouts/slideLayout31.xml" Id="R1816cddc3321418d" /></Relationships>
</file>

<file path=ppt/slideMasters/_rels/slideMaster32.xml.rels>&#65279;<?xml version="1.0" encoding="utf-8"?><Relationships xmlns="http://schemas.openxmlformats.org/package/2006/relationships"><Relationship Type="http://schemas.openxmlformats.org/officeDocument/2006/relationships/theme" Target="/ppt/slideMasters/theme/theme33.xml" Id="R2b159ef1afec45d0" /><Relationship Type="http://schemas.openxmlformats.org/officeDocument/2006/relationships/slideLayout" Target="/ppt/slideLayouts/slideLayout32.xml" Id="Rfd88ab438b434c46" /></Relationships>
</file>

<file path=ppt/slideMasters/_rels/slideMaster33.xml.rels>&#65279;<?xml version="1.0" encoding="utf-8"?><Relationships xmlns="http://schemas.openxmlformats.org/package/2006/relationships"><Relationship Type="http://schemas.openxmlformats.org/officeDocument/2006/relationships/theme" Target="/ppt/slideMasters/theme/theme34.xml" Id="Rb35012e0e0a4457b" /><Relationship Type="http://schemas.openxmlformats.org/officeDocument/2006/relationships/slideLayout" Target="/ppt/slideLayouts/slideLayout33.xml" Id="Ra0a4dfb5af0f45b0" /></Relationships>
</file>

<file path=ppt/slideMasters/_rels/slideMaster34.xml.rels>&#65279;<?xml version="1.0" encoding="utf-8"?><Relationships xmlns="http://schemas.openxmlformats.org/package/2006/relationships"><Relationship Type="http://schemas.openxmlformats.org/officeDocument/2006/relationships/theme" Target="/ppt/slideMasters/theme/theme35.xml" Id="R78c3322b3e0d4678" /><Relationship Type="http://schemas.openxmlformats.org/officeDocument/2006/relationships/slideLayout" Target="/ppt/slideLayouts/slideLayout34.xml" Id="R8af6d6eea3aa4b23" /></Relationships>
</file>

<file path=ppt/slideMasters/_rels/slideMaster35.xml.rels>&#65279;<?xml version="1.0" encoding="utf-8"?><Relationships xmlns="http://schemas.openxmlformats.org/package/2006/relationships"><Relationship Type="http://schemas.openxmlformats.org/officeDocument/2006/relationships/theme" Target="/ppt/slideMasters/theme/theme36.xml" Id="Rf8e3f4fc51a44eca" /><Relationship Type="http://schemas.openxmlformats.org/officeDocument/2006/relationships/slideLayout" Target="/ppt/slideLayouts/slideLayout35.xml" Id="Rd24efd9105334cc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7bd6d044bc48f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56dfa32436ed4d0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3" r:id="R972c0f1184cf458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4.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5" r:id="R1d7855bea92041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5.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7" r:id="R816cd09309b945a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6.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9" r:id="Rfd18072ae536437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7.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1" r:id="Rab5e3442da1e4bc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8.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3" r:id="Ra372a5bc91b4461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9.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5" r:id="Ra38ec13420424ca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0.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a6f6de7274d459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9" r:id="Rbf7f1c13b2f2499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2.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1" r:id="R37b2a9a147794b4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3.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3" r:id="R4a9cea761caa4e2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4.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5" r:id="R70514a85e2a84bf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5.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7" r:id="Rab164af75a6043a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6.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79" r:id="Rcf0ddc6cc80f433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7.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1" r:id="R7b05bf70a76d457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8.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3" r:id="R43e79a2a27ec499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9.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5" r:id="R32b900126284463b"/>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0.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7" r:id="Rd92904d99c1b4d7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89" r:id="R0a2f6f762b3d4b2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2.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1" r:id="R7fe760e2fd32486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3.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3" r:id="Rf9ba217c87cc444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4.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5" r:id="R0a6efae5460240e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5.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7" r:id="Ra87ee4bbaf6940dc"/>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6.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99" r:id="R6a0be31215d94ecf"/>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7.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1" r:id="Raf7680db5554418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8.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3" r:id="Rfd3467ae431246c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29.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5" r:id="Rc6b97c32576a409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0.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7" r:id="Rb46fd2ecdacc488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09" r:id="R1816cddc3321418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2.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11" r:id="Rfd88ab438b434c46"/>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3.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13" r:id="Ra0a4dfb5af0f45b0"/>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4.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15" r:id="R8af6d6eea3aa4b2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35.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717" r:id="Rd24efd9105334cc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1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01ea39774da4969" /><Relationship Type="http://schemas.openxmlformats.org/officeDocument/2006/relationships/image" Target="/ppt/media/image.png" Id="R461cdc2412184ae7" /><Relationship Type="http://schemas.openxmlformats.org/officeDocument/2006/relationships/image" Target="/ppt/media/image2.png" Id="R389dc2dd1ef74db0" /><Relationship Type="http://schemas.openxmlformats.org/officeDocument/2006/relationships/image" Target="/ppt/media/image3.png" Id="R5faf96c160f94f1e" /><Relationship Type="http://schemas.openxmlformats.org/officeDocument/2006/relationships/image" Target="/ppt/media/image4.png" Id="R25035a5a1f7c47a9" /><Relationship Type="http://schemas.openxmlformats.org/officeDocument/2006/relationships/notesSlide" Target="/ppt/notesSlides/notesSlide1.xml" Id="R611b21b944534da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8543e0e949e43e1" /><Relationship Type="http://schemas.openxmlformats.org/officeDocument/2006/relationships/image" Target="/ppt/media/image5.png" Id="Ra8ffb76a0be34d14" /><Relationship Type="http://schemas.openxmlformats.org/officeDocument/2006/relationships/image" Target="/ppt/media/image6.png" Id="Rbc391aa02b984361" /><Relationship Type="http://schemas.openxmlformats.org/officeDocument/2006/relationships/image" Target="/ppt/media/image7.png" Id="Ra580c05aca164436" /><Relationship Type="http://schemas.openxmlformats.org/officeDocument/2006/relationships/image" Target="/ppt/media/image8.png" Id="Re50ba9ccd87141d8" /><Relationship Type="http://schemas.openxmlformats.org/officeDocument/2006/relationships/image" Target="/ppt/media/image9.png" Id="R80fd7b1b207e495e" /><Relationship Type="http://schemas.openxmlformats.org/officeDocument/2006/relationships/image" Target="/ppt/media/image10.png" Id="R96a1c9b3a0bc4f56" /><Relationship Type="http://schemas.openxmlformats.org/officeDocument/2006/relationships/image" Target="/ppt/media/image11.png" Id="R70e20a3eee6844a3" /><Relationship Type="http://schemas.openxmlformats.org/officeDocument/2006/relationships/notesSlide" Target="/ppt/notesSlides/notesSlide2.xml" Id="Re5bc9bc9986848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8a34cf199341b4" /><Relationship Type="http://schemas.openxmlformats.org/officeDocument/2006/relationships/notesSlide" Target="/ppt/notesSlides/notesSlide3.xml" Id="Rfdbd87567d5445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8c96ee76b146ff" /><Relationship Type="http://schemas.openxmlformats.org/officeDocument/2006/relationships/image" Target="/ppt/media/image12.png" Id="R973bf0d9558a4f8d" /><Relationship Type="http://schemas.openxmlformats.org/officeDocument/2006/relationships/image" Target="/ppt/media/image13.png" Id="R332f12d5537649d6" /><Relationship Type="http://schemas.openxmlformats.org/officeDocument/2006/relationships/image" Target="/ppt/media/image14.png" Id="R8b03f5c40b4047ad" /><Relationship Type="http://schemas.openxmlformats.org/officeDocument/2006/relationships/image" Target="/ppt/media/image15.png" Id="Rfa5ffdea72044512" /><Relationship Type="http://schemas.openxmlformats.org/officeDocument/2006/relationships/image" Target="/ppt/media/image16.png" Id="R1f0e1f461c574e08" /><Relationship Type="http://schemas.openxmlformats.org/officeDocument/2006/relationships/image" Target="/ppt/media/image17.png" Id="Rc7a0f3532ebe499a" /><Relationship Type="http://schemas.openxmlformats.org/officeDocument/2006/relationships/image" Target="/ppt/media/image18.png" Id="Rcb0a6cb52b3041d2" /><Relationship Type="http://schemas.openxmlformats.org/officeDocument/2006/relationships/image" Target="/ppt/media/image19.png" Id="Rcaf57f51e2144e99" /><Relationship Type="http://schemas.openxmlformats.org/officeDocument/2006/relationships/notesSlide" Target="/ppt/notesSlides/notesSlide4.xml" Id="R8f79930de7594e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c66cb51674428e" /><Relationship Type="http://schemas.openxmlformats.org/officeDocument/2006/relationships/image" Target="/ppt/media/image20.png" Id="Ref77e36443bc412e" /><Relationship Type="http://schemas.openxmlformats.org/officeDocument/2006/relationships/image" Target="/ppt/media/image21.png" Id="R393cf1a0d80b4a51" /><Relationship Type="http://schemas.openxmlformats.org/officeDocument/2006/relationships/image" Target="/ppt/media/image22.png" Id="R55ea8a73c1844464" /><Relationship Type="http://schemas.openxmlformats.org/officeDocument/2006/relationships/image" Target="/ppt/media/image23.png" Id="Rf0222aa6fa32402b" /><Relationship Type="http://schemas.openxmlformats.org/officeDocument/2006/relationships/image" Target="/ppt/media/image24.png" Id="R97b5579ad15b4f19" /><Relationship Type="http://schemas.openxmlformats.org/officeDocument/2006/relationships/image" Target="/ppt/media/image25.png" Id="R85ce60650e5e4527" /><Relationship Type="http://schemas.openxmlformats.org/officeDocument/2006/relationships/image" Target="/ppt/media/image26.png" Id="R2a8399deb28348b2" /><Relationship Type="http://schemas.openxmlformats.org/officeDocument/2006/relationships/image" Target="/ppt/media/image27.png" Id="R98d98a52fb674c39" /><Relationship Type="http://schemas.openxmlformats.org/officeDocument/2006/relationships/image" Target="/ppt/media/image28.png" Id="R1ab4682cd0534e28" /><Relationship Type="http://schemas.openxmlformats.org/officeDocument/2006/relationships/image" Target="/ppt/media/image29.png" Id="Rf2ee575c2e504ead" /><Relationship Type="http://schemas.openxmlformats.org/officeDocument/2006/relationships/notesSlide" Target="/ppt/notesSlides/notesSlide5.xml" Id="R5721de23a2674d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5b792dbf94042d8" /><Relationship Type="http://schemas.openxmlformats.org/officeDocument/2006/relationships/image" Target="/ppt/media/image30.png" Id="R52de8a8b469049da" /><Relationship Type="http://schemas.openxmlformats.org/officeDocument/2006/relationships/image" Target="/ppt/media/image31.png" Id="Rfedce4ff8e97400b" /><Relationship Type="http://schemas.openxmlformats.org/officeDocument/2006/relationships/image" Target="/ppt/media/image32.png" Id="R27626df090fa4fea" /><Relationship Type="http://schemas.openxmlformats.org/officeDocument/2006/relationships/image" Target="/ppt/media/image33.png" Id="Rf410e49b90454ae0" /><Relationship Type="http://schemas.openxmlformats.org/officeDocument/2006/relationships/image" Target="/ppt/media/image34.png" Id="R5868df2e3fb84a4d" /><Relationship Type="http://schemas.openxmlformats.org/officeDocument/2006/relationships/notesSlide" Target="/ppt/notesSlides/notesSlide6.xml" Id="R1504f122959940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2292f981844942" /><Relationship Type="http://schemas.openxmlformats.org/officeDocument/2006/relationships/image" Target="/ppt/media/image35.png" Id="R453dd89b6f3e4941" /><Relationship Type="http://schemas.openxmlformats.org/officeDocument/2006/relationships/image" Target="/ppt/media/image36.png" Id="R88df3df940b54734" /><Relationship Type="http://schemas.openxmlformats.org/officeDocument/2006/relationships/image" Target="/ppt/media/image37.png" Id="Raf3fc135a1e04374" /><Relationship Type="http://schemas.openxmlformats.org/officeDocument/2006/relationships/image" Target="/ppt/media/image38.png" Id="R97f8ea34e39b43f0" /><Relationship Type="http://schemas.openxmlformats.org/officeDocument/2006/relationships/image" Target="/ppt/media/image39.png" Id="Rf35af6c96d194511" /><Relationship Type="http://schemas.openxmlformats.org/officeDocument/2006/relationships/image" Target="/ppt/media/image40.png" Id="Rf1455513ecd744ee" /><Relationship Type="http://schemas.openxmlformats.org/officeDocument/2006/relationships/notesSlide" Target="/ppt/notesSlides/notesSlide7.xml" Id="R71b5803d76f34d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af88aec927e4f27" /><Relationship Type="http://schemas.openxmlformats.org/officeDocument/2006/relationships/image" Target="/ppt/media/image41.png" Id="R738b2d58d2d24dbb" /><Relationship Type="http://schemas.openxmlformats.org/officeDocument/2006/relationships/image" Target="/ppt/media/image42.png" Id="R7cf1aaec235944f2" /><Relationship Type="http://schemas.openxmlformats.org/officeDocument/2006/relationships/image" Target="/ppt/media/image43.png" Id="R67b4d4087f7e4697" /><Relationship Type="http://schemas.openxmlformats.org/officeDocument/2006/relationships/image" Target="/ppt/media/image44.png" Id="Rea2b56b397b64793" /><Relationship Type="http://schemas.openxmlformats.org/officeDocument/2006/relationships/image" Target="/ppt/media/image45.png" Id="R78b7943993d3456f" /><Relationship Type="http://schemas.openxmlformats.org/officeDocument/2006/relationships/image" Target="/ppt/media/image46.png" Id="R57bcb276b7be40ab" /><Relationship Type="http://schemas.openxmlformats.org/officeDocument/2006/relationships/image" Target="/ppt/media/image47.png" Id="Ra11f4cd094e843ed" /><Relationship Type="http://schemas.openxmlformats.org/officeDocument/2006/relationships/notesSlide" Target="/ppt/notesSlides/notesSlide8.xml" Id="Rad87ecc6d22841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d10a6df609e40f0" /><Relationship Type="http://schemas.openxmlformats.org/officeDocument/2006/relationships/image" Target="/ppt/media/image48.png" Id="R2eb90270884f48b5" /><Relationship Type="http://schemas.openxmlformats.org/officeDocument/2006/relationships/image" Target="/ppt/media/image49.png" Id="Re85a5b5cd7df489a" /><Relationship Type="http://schemas.openxmlformats.org/officeDocument/2006/relationships/image" Target="/ppt/media/image50.png" Id="R4bc08d5633084dcb" /><Relationship Type="http://schemas.openxmlformats.org/officeDocument/2006/relationships/image" Target="/ppt/media/image51.png" Id="R7dc8b8e0fb2b4986" /><Relationship Type="http://schemas.openxmlformats.org/officeDocument/2006/relationships/image" Target="/ppt/media/image52.png" Id="Ra407bac4a210444a" /><Relationship Type="http://schemas.openxmlformats.org/officeDocument/2006/relationships/image" Target="/ppt/media/image53.png" Id="R76a5a10082214dc1" /><Relationship Type="http://schemas.openxmlformats.org/officeDocument/2006/relationships/image" Target="/ppt/media/image54.png" Id="Raa1f76b8ba6b4d4f" /><Relationship Type="http://schemas.openxmlformats.org/officeDocument/2006/relationships/image" Target="/ppt/media/image55.png" Id="Rc7020473b0f34fb8" /><Relationship Type="http://schemas.openxmlformats.org/officeDocument/2006/relationships/image" Target="/ppt/media/image56.png" Id="Rb16e30b0bd24470e" /><Relationship Type="http://schemas.openxmlformats.org/officeDocument/2006/relationships/image" Target="/ppt/media/image57.png" Id="R3bb6fe57bc1b4332" /><Relationship Type="http://schemas.openxmlformats.org/officeDocument/2006/relationships/image" Target="/ppt/media/image58.png" Id="Ra9364d43904b4338" /><Relationship Type="http://schemas.openxmlformats.org/officeDocument/2006/relationships/image" Target="/ppt/media/image59.png" Id="R4c4708390d754ada" /><Relationship Type="http://schemas.openxmlformats.org/officeDocument/2006/relationships/notesSlide" Target="/ppt/notesSlides/notesSlide9.xml" Id="R95680ca8c80b449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dee31e654584b0a" /><Relationship Type="http://schemas.openxmlformats.org/officeDocument/2006/relationships/chart" Target="/ppt/slides/charts/chart1.xml" Id="R7f5f870f2e894ab8" /><Relationship Type="http://schemas.openxmlformats.org/officeDocument/2006/relationships/image" Target="/ppt/media/image60.png" Id="Re148e2bd666a4539" /><Relationship Type="http://schemas.openxmlformats.org/officeDocument/2006/relationships/image" Target="/ppt/media/image61.png" Id="R40954460eae242f4" /><Relationship Type="http://schemas.openxmlformats.org/officeDocument/2006/relationships/image" Target="/ppt/media/image62.png" Id="Rbfb3742ed7b646e7" /><Relationship Type="http://schemas.openxmlformats.org/officeDocument/2006/relationships/image" Target="/ppt/media/image63.png" Id="R2efae3c136c24e8e" /><Relationship Type="http://schemas.openxmlformats.org/officeDocument/2006/relationships/notesSlide" Target="/ppt/notesSlides/notesSlide10.xml" Id="R174917b07a4f43a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d8bf5eedb324dec" /><Relationship Type="http://schemas.openxmlformats.org/officeDocument/2006/relationships/image" Target="/ppt/media/image64.png" Id="R8053e01c3761411b" /><Relationship Type="http://schemas.openxmlformats.org/officeDocument/2006/relationships/notesSlide" Target="/ppt/notesSlides/notesSlide11.xml" Id="R379fa00e81254d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81ea51911224ce1" /><Relationship Type="http://schemas.openxmlformats.org/officeDocument/2006/relationships/notesSlide" Target="/ppt/notesSlides/notesSlide12.xml" Id="R5a2771847c2b42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13e3b02699174be0" /><Relationship Type="http://schemas.openxmlformats.org/officeDocument/2006/relationships/image" Target="/ppt/media/image65.png" Id="R11441a0c60904745" /><Relationship Type="http://schemas.openxmlformats.org/officeDocument/2006/relationships/image" Target="/ppt/media/image66.png" Id="R292004bdee8044db" /><Relationship Type="http://schemas.openxmlformats.org/officeDocument/2006/relationships/image" Target="/ppt/media/image67.png" Id="Rc774b0eb64c344d7" /><Relationship Type="http://schemas.openxmlformats.org/officeDocument/2006/relationships/image" Target="/ppt/media/image68.png" Id="Rfb022c81b7d34780" /><Relationship Type="http://schemas.openxmlformats.org/officeDocument/2006/relationships/notesSlide" Target="/ppt/notesSlides/notesSlide13.xml" Id="Rb3d4c139218e4fa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c53848f0f13b43d1" /><Relationship Type="http://schemas.openxmlformats.org/officeDocument/2006/relationships/image" Target="/ppt/media/image69.png" Id="R949f4da573134aac" /><Relationship Type="http://schemas.openxmlformats.org/officeDocument/2006/relationships/image" Target="/ppt/media/image70.png" Id="Rdf15e99e1a3c4759" /><Relationship Type="http://schemas.openxmlformats.org/officeDocument/2006/relationships/image" Target="/ppt/media/image71.png" Id="Raab78946590942fe" /><Relationship Type="http://schemas.openxmlformats.org/officeDocument/2006/relationships/image" Target="/ppt/media/image72.png" Id="R59aa4d984db64eae" /><Relationship Type="http://schemas.openxmlformats.org/officeDocument/2006/relationships/image" Target="/ppt/media/image73.png" Id="Ra7d24c9a6c3e4b4f" /><Relationship Type="http://schemas.openxmlformats.org/officeDocument/2006/relationships/image" Target="/ppt/media/image74.png" Id="R3f32f14babc245b8" /><Relationship Type="http://schemas.openxmlformats.org/officeDocument/2006/relationships/image" Target="/ppt/media/image75.png" Id="R1ed7a49065344a55" /><Relationship Type="http://schemas.openxmlformats.org/officeDocument/2006/relationships/notesSlide" Target="/ppt/notesSlides/notesSlide14.xml" Id="Rbc6dc7819fdd460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bd032f266547435b" /><Relationship Type="http://schemas.openxmlformats.org/officeDocument/2006/relationships/image" Target="/ppt/media/image76.png" Id="Ra9d7bddc67944668" /><Relationship Type="http://schemas.openxmlformats.org/officeDocument/2006/relationships/image" Target="/ppt/media/image77.png" Id="Rad0299e9897f4505" /><Relationship Type="http://schemas.openxmlformats.org/officeDocument/2006/relationships/image" Target="/ppt/media/image78.png" Id="R7f4d3841f1b641a5" /><Relationship Type="http://schemas.openxmlformats.org/officeDocument/2006/relationships/image" Target="/ppt/media/image79.png" Id="Rc30617c349fe49fd" /><Relationship Type="http://schemas.openxmlformats.org/officeDocument/2006/relationships/image" Target="/ppt/media/image80.png" Id="R3e7465f28de74c5f" /><Relationship Type="http://schemas.openxmlformats.org/officeDocument/2006/relationships/image" Target="/ppt/media/image81.png" Id="R2be11c7105e54a54" /><Relationship Type="http://schemas.openxmlformats.org/officeDocument/2006/relationships/notesSlide" Target="/ppt/notesSlides/notesSlide15.xml" Id="R0863cb2d4f8c4c0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7a3d39d1bcc64539" /><Relationship Type="http://schemas.openxmlformats.org/officeDocument/2006/relationships/image" Target="/ppt/media/image82.png" Id="R13bca19d5af549e0" /><Relationship Type="http://schemas.openxmlformats.org/officeDocument/2006/relationships/image" Target="/ppt/media/image83.png" Id="R6b24f81371264abf" /><Relationship Type="http://schemas.openxmlformats.org/officeDocument/2006/relationships/image" Target="/ppt/media/image84.png" Id="R52ff3befdabc422d" /><Relationship Type="http://schemas.openxmlformats.org/officeDocument/2006/relationships/image" Target="/ppt/media/image85.png" Id="R6686ec5a814c498b" /><Relationship Type="http://schemas.openxmlformats.org/officeDocument/2006/relationships/image" Target="/ppt/media/image86.png" Id="R56b578416ec94bc8" /><Relationship Type="http://schemas.openxmlformats.org/officeDocument/2006/relationships/image" Target="/ppt/media/image87.png" Id="R9e3b2022ec7147e0" /><Relationship Type="http://schemas.openxmlformats.org/officeDocument/2006/relationships/image" Target="/ppt/media/image88.png" Id="Rb5296d0eb65940d4" /><Relationship Type="http://schemas.openxmlformats.org/officeDocument/2006/relationships/image" Target="/ppt/media/image89.png" Id="Rf231fef7022e4c30" /><Relationship Type="http://schemas.openxmlformats.org/officeDocument/2006/relationships/notesSlide" Target="/ppt/notesSlides/notesSlide16.xml" Id="R72ce18a9543f4f8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1aecb83a68cc4a03" /><Relationship Type="http://schemas.openxmlformats.org/officeDocument/2006/relationships/image" Target="/ppt/media/image90.png" Id="Rbb94579829444116" /><Relationship Type="http://schemas.openxmlformats.org/officeDocument/2006/relationships/image" Target="/ppt/media/image91.png" Id="Re552944b86184332" /><Relationship Type="http://schemas.openxmlformats.org/officeDocument/2006/relationships/image" Target="/ppt/media/image92.png" Id="R05f53ca8055541ef" /><Relationship Type="http://schemas.openxmlformats.org/officeDocument/2006/relationships/image" Target="/ppt/media/image93.png" Id="Re26a187c303a427e" /><Relationship Type="http://schemas.openxmlformats.org/officeDocument/2006/relationships/image" Target="/ppt/media/image94.png" Id="Raf9c81d27c814f0f" /><Relationship Type="http://schemas.openxmlformats.org/officeDocument/2006/relationships/image" Target="/ppt/media/image95.png" Id="R590439608b9944f8" /><Relationship Type="http://schemas.openxmlformats.org/officeDocument/2006/relationships/image" Target="/ppt/media/image96.png" Id="R50c6950ee00842d8" /><Relationship Type="http://schemas.openxmlformats.org/officeDocument/2006/relationships/image" Target="/ppt/media/image97.png" Id="R3579ca545c9749bb" /><Relationship Type="http://schemas.openxmlformats.org/officeDocument/2006/relationships/image" Target="/ppt/media/image98.png" Id="R5437d7efe6434bcb" /><Relationship Type="http://schemas.openxmlformats.org/officeDocument/2006/relationships/image" Target="/ppt/media/image99.png" Id="R8a57d57ee6424598" /><Relationship Type="http://schemas.openxmlformats.org/officeDocument/2006/relationships/notesSlide" Target="/ppt/notesSlides/notesSlide17.xml" Id="Ra7c110ec59c6496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47a2111f2814c22" /><Relationship Type="http://schemas.openxmlformats.org/officeDocument/2006/relationships/image" Target="/ppt/media/image100.png" Id="Rf4256592f3e54753" /><Relationship Type="http://schemas.openxmlformats.org/officeDocument/2006/relationships/image" Target="/ppt/media/image101.png" Id="Rdcd8843435444ce0" /><Relationship Type="http://schemas.openxmlformats.org/officeDocument/2006/relationships/image" Target="/ppt/media/image102.png" Id="R275cd62afeaa41e6" /><Relationship Type="http://schemas.openxmlformats.org/officeDocument/2006/relationships/image" Target="/ppt/media/image103.png" Id="R3182ca3da4254690" /><Relationship Type="http://schemas.openxmlformats.org/officeDocument/2006/relationships/image" Target="/ppt/media/image104.png" Id="R957610e3759c433d" /><Relationship Type="http://schemas.openxmlformats.org/officeDocument/2006/relationships/notesSlide" Target="/ppt/notesSlides/notesSlide18.xml" Id="R8efc099f92894f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8179e74f43d74688" /><Relationship Type="http://schemas.openxmlformats.org/officeDocument/2006/relationships/image" Target="/ppt/media/image105.png" Id="R1da5e4e324a64c89" /><Relationship Type="http://schemas.openxmlformats.org/officeDocument/2006/relationships/image" Target="/ppt/media/image106.png" Id="Rd355f56026b0405f" /><Relationship Type="http://schemas.openxmlformats.org/officeDocument/2006/relationships/image" Target="/ppt/media/image107.png" Id="R2e8f6efb431d4416" /><Relationship Type="http://schemas.openxmlformats.org/officeDocument/2006/relationships/image" Target="/ppt/media/image108.png" Id="R84a00ce1a3b74b03" /><Relationship Type="http://schemas.openxmlformats.org/officeDocument/2006/relationships/image" Target="/ppt/media/image109.png" Id="R81ea7d348e574a34" /><Relationship Type="http://schemas.openxmlformats.org/officeDocument/2006/relationships/image" Target="/ppt/media/image110.png" Id="Rf95fc44ba8ca46c1" /><Relationship Type="http://schemas.openxmlformats.org/officeDocument/2006/relationships/notesSlide" Target="/ppt/notesSlides/notesSlide19.xml" Id="R05373da2b04d4ca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848c92192eb44a06" /><Relationship Type="http://schemas.openxmlformats.org/officeDocument/2006/relationships/image" Target="/ppt/media/image111.png" Id="Rf76d0c88dbf0439f" /><Relationship Type="http://schemas.openxmlformats.org/officeDocument/2006/relationships/image" Target="/ppt/media/image112.png" Id="R4b78b4fcbe5e4eb7" /><Relationship Type="http://schemas.openxmlformats.org/officeDocument/2006/relationships/image" Target="/ppt/media/image113.png" Id="R39da24e5de424a8d" /><Relationship Type="http://schemas.openxmlformats.org/officeDocument/2006/relationships/image" Target="/ppt/media/image114.png" Id="Rebe3fd0481c64d2d" /><Relationship Type="http://schemas.openxmlformats.org/officeDocument/2006/relationships/image" Target="/ppt/media/image115.png" Id="R676d4f234eb349ba" /><Relationship Type="http://schemas.openxmlformats.org/officeDocument/2006/relationships/image" Target="/ppt/media/image116.png" Id="R6499c6b2ea0040da" /><Relationship Type="http://schemas.openxmlformats.org/officeDocument/2006/relationships/image" Target="/ppt/media/image117.png" Id="R640eeda4729247e3" /><Relationship Type="http://schemas.openxmlformats.org/officeDocument/2006/relationships/notesSlide" Target="/ppt/notesSlides/notesSlide20.xml" Id="R5f23f9ea927b4f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29210e0663642a0" /><Relationship Type="http://schemas.openxmlformats.org/officeDocument/2006/relationships/image" Target="/ppt/media/image118.png" Id="R9776e23a2a5648ad" /><Relationship Type="http://schemas.openxmlformats.org/officeDocument/2006/relationships/image" Target="/ppt/media/image119.png" Id="R926a384694f14e14" /><Relationship Type="http://schemas.openxmlformats.org/officeDocument/2006/relationships/image" Target="/ppt/media/image120.png" Id="Rfdd7a57124d84cff" /><Relationship Type="http://schemas.openxmlformats.org/officeDocument/2006/relationships/image" Target="/ppt/media/image121.png" Id="R5e1e78b338814242" /><Relationship Type="http://schemas.openxmlformats.org/officeDocument/2006/relationships/image" Target="/ppt/media/image122.png" Id="R50f970e4b2654d22" /><Relationship Type="http://schemas.openxmlformats.org/officeDocument/2006/relationships/image" Target="/ppt/media/image123.png" Id="R273e8eccfa45409c" /><Relationship Type="http://schemas.openxmlformats.org/officeDocument/2006/relationships/image" Target="/ppt/media/image124.png" Id="R71f8df622c7941ab" /><Relationship Type="http://schemas.openxmlformats.org/officeDocument/2006/relationships/image" Target="/ppt/media/image125.png" Id="Rd3cb63bc2ad44321" /><Relationship Type="http://schemas.openxmlformats.org/officeDocument/2006/relationships/image" Target="/ppt/media/image126.png" Id="R567f67d4c97e4beb" /><Relationship Type="http://schemas.openxmlformats.org/officeDocument/2006/relationships/image" Target="/ppt/media/image127.png" Id="Ra9081bc417e24ce8" /><Relationship Type="http://schemas.openxmlformats.org/officeDocument/2006/relationships/image" Target="/ppt/media/image128.png" Id="Rbedaf967fb584962" /><Relationship Type="http://schemas.openxmlformats.org/officeDocument/2006/relationships/image" Target="/ppt/media/image129.png" Id="R0cb8a13b08004f20" /><Relationship Type="http://schemas.openxmlformats.org/officeDocument/2006/relationships/notesSlide" Target="/ppt/notesSlides/notesSlide21.xml" Id="R60cb70ca3693483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fad1d787e6e486b" /><Relationship Type="http://schemas.openxmlformats.org/officeDocument/2006/relationships/notesSlide" Target="/ppt/notesSlides/notesSlide22.xml" Id="Rc87642fc8c0a44b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d0d790da3ab54e18" /><Relationship Type="http://schemas.openxmlformats.org/officeDocument/2006/relationships/image" Target="/ppt/media/image130.png" Id="R2d684e2527d34dc9" /><Relationship Type="http://schemas.openxmlformats.org/officeDocument/2006/relationships/image" Target="/ppt/media/image131.png" Id="Ree5ca0fc0abe4367" /><Relationship Type="http://schemas.openxmlformats.org/officeDocument/2006/relationships/image" Target="/ppt/media/image132.png" Id="R281ea88691b444cc" /><Relationship Type="http://schemas.openxmlformats.org/officeDocument/2006/relationships/image" Target="/ppt/media/image133.png" Id="R0454d2499c964650" /><Relationship Type="http://schemas.openxmlformats.org/officeDocument/2006/relationships/image" Target="/ppt/media/image134.png" Id="Ra47f9eaece6f4c64" /><Relationship Type="http://schemas.openxmlformats.org/officeDocument/2006/relationships/image" Target="/ppt/media/image135.png" Id="R29ec5ecd4c3c4436" /><Relationship Type="http://schemas.openxmlformats.org/officeDocument/2006/relationships/image" Target="/ppt/media/image136.png" Id="Rb5d3e7cf6eb540ec" /><Relationship Type="http://schemas.openxmlformats.org/officeDocument/2006/relationships/image" Target="/ppt/media/image137.png" Id="Rf8a25e72fa0a45ac" /><Relationship Type="http://schemas.openxmlformats.org/officeDocument/2006/relationships/image" Target="/ppt/media/image138.png" Id="Re530b5c4caee4644" /><Relationship Type="http://schemas.openxmlformats.org/officeDocument/2006/relationships/image" Target="/ppt/media/image139.png" Id="Raea7821632a34db0" /><Relationship Type="http://schemas.openxmlformats.org/officeDocument/2006/relationships/image" Target="/ppt/media/image140.png" Id="Rac800040a86b4326" /><Relationship Type="http://schemas.openxmlformats.org/officeDocument/2006/relationships/image" Target="/ppt/media/image141.png" Id="R2ea6b117b4044bee" /><Relationship Type="http://schemas.openxmlformats.org/officeDocument/2006/relationships/image" Target="/ppt/media/image142.png" Id="Re3c802bd32f74029" /><Relationship Type="http://schemas.openxmlformats.org/officeDocument/2006/relationships/notesSlide" Target="/ppt/notesSlides/notesSlide23.xml" Id="R74f61837947f45c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62f94207522a44ab" /><Relationship Type="http://schemas.openxmlformats.org/officeDocument/2006/relationships/image" Target="/ppt/media/image143.png" Id="R5f729b2854c24557" /><Relationship Type="http://schemas.openxmlformats.org/officeDocument/2006/relationships/image" Target="/ppt/media/image144.png" Id="Ra16bcdab03124f69" /><Relationship Type="http://schemas.openxmlformats.org/officeDocument/2006/relationships/image" Target="/ppt/media/image145.png" Id="R6c87724414784b72" /><Relationship Type="http://schemas.openxmlformats.org/officeDocument/2006/relationships/image" Target="/ppt/media/image146.png" Id="Rff0d2a3281b04f49" /><Relationship Type="http://schemas.openxmlformats.org/officeDocument/2006/relationships/image" Target="/ppt/media/image147.png" Id="Rcda476591ef346a8" /><Relationship Type="http://schemas.openxmlformats.org/officeDocument/2006/relationships/notesSlide" Target="/ppt/notesSlides/notesSlide24.xml" Id="Rfaaa79f24f444d1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86e572695654ea8" /><Relationship Type="http://schemas.openxmlformats.org/officeDocument/2006/relationships/notesSlide" Target="/ppt/notesSlides/notesSlide25.xml" Id="Rc6bf807682bf418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66e74c284734417a" /><Relationship Type="http://schemas.openxmlformats.org/officeDocument/2006/relationships/image" Target="/ppt/media/image148.png" Id="R0467e09f89f54bd9" /><Relationship Type="http://schemas.openxmlformats.org/officeDocument/2006/relationships/notesSlide" Target="/ppt/notesSlides/notesSlide26.xml" Id="Rd060fe29051b4a2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a2a63cd832ef443a" /><Relationship Type="http://schemas.openxmlformats.org/officeDocument/2006/relationships/notesSlide" Target="/ppt/notesSlides/notesSlide27.xml" Id="R76b9cdd8eeea467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abf2e73a20bb48bc" /><Relationship Type="http://schemas.openxmlformats.org/officeDocument/2006/relationships/chart" Target="/ppt/slides/charts/chart2.xml" Id="R8cba80b4158a45d5" /><Relationship Type="http://schemas.openxmlformats.org/officeDocument/2006/relationships/image" Target="/ppt/media/image149.png" Id="R86ea985bf04a40e4" /><Relationship Type="http://schemas.openxmlformats.org/officeDocument/2006/relationships/image" Target="/ppt/media/image150.png" Id="Rb3280a06045840dc" /><Relationship Type="http://schemas.openxmlformats.org/officeDocument/2006/relationships/image" Target="/ppt/media/image151.png" Id="R39024ee9b7c140a3" /><Relationship Type="http://schemas.openxmlformats.org/officeDocument/2006/relationships/image" Target="/ppt/media/image152.png" Id="Rd640bc99d6cd4c62" /><Relationship Type="http://schemas.openxmlformats.org/officeDocument/2006/relationships/notesSlide" Target="/ppt/notesSlides/notesSlide28.xml" Id="R566c8d7415444b3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f2ff7071a48a48a4" /><Relationship Type="http://schemas.openxmlformats.org/officeDocument/2006/relationships/image" Target="/ppt/media/image153.png" Id="Rbf2f8f6c66de40ce" /><Relationship Type="http://schemas.openxmlformats.org/officeDocument/2006/relationships/notesSlide" Target="/ppt/notesSlides/notesSlide29.xml" Id="R00eb472d3d6a4f07"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e3dae4254e9f4fe5" /><Relationship Type="http://schemas.openxmlformats.org/officeDocument/2006/relationships/chart" Target="/ppt/slides/charts/chart3.xml" Id="R59d02122c56d423b" /><Relationship Type="http://schemas.openxmlformats.org/officeDocument/2006/relationships/image" Target="/ppt/media/image154.png" Id="Rb5e0353413c64893" /><Relationship Type="http://schemas.openxmlformats.org/officeDocument/2006/relationships/image" Target="/ppt/media/image155.png" Id="Re4600fdd2fab4219" /><Relationship Type="http://schemas.openxmlformats.org/officeDocument/2006/relationships/image" Target="/ppt/media/image156.png" Id="Rea8fa694cb534870" /><Relationship Type="http://schemas.openxmlformats.org/officeDocument/2006/relationships/image" Target="/ppt/media/image157.png" Id="Rc0631db287ae4944" /><Relationship Type="http://schemas.openxmlformats.org/officeDocument/2006/relationships/image" Target="/ppt/media/image158.png" Id="Rae098210313b4fcc" /><Relationship Type="http://schemas.openxmlformats.org/officeDocument/2006/relationships/image" Target="/ppt/media/image159.png" Id="R42e89085ae4f45ea" /><Relationship Type="http://schemas.openxmlformats.org/officeDocument/2006/relationships/notesSlide" Target="/ppt/notesSlides/notesSlide30.xml" Id="R677edf2de978453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a79798ea26084b2e" /><Relationship Type="http://schemas.openxmlformats.org/officeDocument/2006/relationships/notesSlide" Target="/ppt/notesSlides/notesSlide31.xml" Id="Rd45242e5579f476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9534e9d44bc14c72" /><Relationship Type="http://schemas.openxmlformats.org/officeDocument/2006/relationships/notesSlide" Target="/ppt/notesSlides/notesSlide32.xml" Id="R522f9191eef14cd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3.xml" Id="R80924f116ec74644" /><Relationship Type="http://schemas.openxmlformats.org/officeDocument/2006/relationships/notesSlide" Target="/ppt/notesSlides/notesSlide33.xml" Id="Rf0bfbef57916413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3.xml" Id="R2d0a49dc22ac4899" /><Relationship Type="http://schemas.openxmlformats.org/officeDocument/2006/relationships/image" Target="/ppt/media/image160.png" Id="Ra844e215aeda4973" /><Relationship Type="http://schemas.openxmlformats.org/officeDocument/2006/relationships/notesSlide" Target="/ppt/notesSlides/notesSlide34.xml" Id="R18f54c7fe75148c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3.xml" Id="R6d9522e81581474c" /><Relationship Type="http://schemas.openxmlformats.org/officeDocument/2006/relationships/image" Target="/ppt/media/image161.png" Id="R8793276386274325" /><Relationship Type="http://schemas.openxmlformats.org/officeDocument/2006/relationships/notesSlide" Target="/ppt/notesSlides/notesSlide35.xml" Id="R83ae9a214ef4430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3.xml" Id="Rdd7ec6cbcbaa4499" /><Relationship Type="http://schemas.openxmlformats.org/officeDocument/2006/relationships/image" Target="/ppt/media/image162.png" Id="Rb21c14f164fb4787" /><Relationship Type="http://schemas.openxmlformats.org/officeDocument/2006/relationships/notesSlide" Target="/ppt/notesSlides/notesSlide36.xml" Id="R92fe19285065486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4.xml" Id="R4ed5fbddb1f5420f" /><Relationship Type="http://schemas.openxmlformats.org/officeDocument/2006/relationships/notesSlide" Target="/ppt/notesSlides/notesSlide37.xml" Id="R549b570cfe15421c" /></Relationships>
</file>

<file path=ppt/slides/_rels/slide38.xml.rels>&#65279;<?xml version="1.0" encoding="utf-8"?><Relationships xmlns="http://schemas.openxmlformats.org/package/2006/relationships"><Relationship Type="http://schemas.openxmlformats.org/officeDocument/2006/relationships/slideLayout" Target="/ppt/slideLayouts/slideLayout4.xml" Id="R2bc4b1ddcac7466d" /><Relationship Type="http://schemas.openxmlformats.org/officeDocument/2006/relationships/notesSlide" Target="/ppt/notesSlides/notesSlide38.xml" Id="R94c46e9c08a2490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4.xml" Id="R7e76de5d8a694da9" /><Relationship Type="http://schemas.openxmlformats.org/officeDocument/2006/relationships/notesSlide" Target="/ppt/notesSlides/notesSlide39.xml" Id="Rb76c38baa4cd4c8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5.xml" Id="Rea8fab76c68f491a" /><Relationship Type="http://schemas.openxmlformats.org/officeDocument/2006/relationships/notesSlide" Target="/ppt/notesSlides/notesSlide40.xml" Id="R8104a8a9fb104039" /></Relationships>
</file>

<file path=ppt/slides/_rels/slide41.xml.rels>&#65279;<?xml version="1.0" encoding="utf-8"?><Relationships xmlns="http://schemas.openxmlformats.org/package/2006/relationships"><Relationship Type="http://schemas.openxmlformats.org/officeDocument/2006/relationships/slideLayout" Target="/ppt/slideLayouts/slideLayout5.xml" Id="Rc527e90b81564bf5" /><Relationship Type="http://schemas.openxmlformats.org/officeDocument/2006/relationships/notesSlide" Target="/ppt/notesSlides/notesSlide41.xml" Id="R29bc765021114dcd" /></Relationships>
</file>

<file path=ppt/slides/_rels/slide42.xml.rels>&#65279;<?xml version="1.0" encoding="utf-8"?><Relationships xmlns="http://schemas.openxmlformats.org/package/2006/relationships"><Relationship Type="http://schemas.openxmlformats.org/officeDocument/2006/relationships/slideLayout" Target="/ppt/slideLayouts/slideLayout5.xml" Id="R1b0204dbc7834143" /><Relationship Type="http://schemas.openxmlformats.org/officeDocument/2006/relationships/notesSlide" Target="/ppt/notesSlides/notesSlide42.xml" Id="R9780bda857df4a1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5.xml" Id="Rdf9b4821ca6c41ba" /><Relationship Type="http://schemas.openxmlformats.org/officeDocument/2006/relationships/notesSlide" Target="/ppt/notesSlides/notesSlide43.xml" Id="R2b53632fe5254b0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5.xml" Id="R8398ab34cdee4491" /><Relationship Type="http://schemas.openxmlformats.org/officeDocument/2006/relationships/chart" Target="/ppt/slides/charts/chart4.xml" Id="R4ff165002e8c464e" /><Relationship Type="http://schemas.openxmlformats.org/officeDocument/2006/relationships/notesSlide" Target="/ppt/notesSlides/notesSlide44.xml" Id="Ra94d869a6d214ba8" /></Relationships>
</file>

<file path=ppt/slides/_rels/slide45.xml.rels>&#65279;<?xml version="1.0" encoding="utf-8"?><Relationships xmlns="http://schemas.openxmlformats.org/package/2006/relationships"><Relationship Type="http://schemas.openxmlformats.org/officeDocument/2006/relationships/slideLayout" Target="/ppt/slideLayouts/slideLayout5.xml" Id="Rec02c01f65db47ed" /><Relationship Type="http://schemas.openxmlformats.org/officeDocument/2006/relationships/chart" Target="/ppt/slides/charts/chart5.xml" Id="R3da6b6d4ef954bc2" /><Relationship Type="http://schemas.openxmlformats.org/officeDocument/2006/relationships/notesSlide" Target="/ppt/notesSlides/notesSlide45.xml" Id="R5b78910e25e84eb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5.xml" Id="Rdc8cfdc8542847c9" /><Relationship Type="http://schemas.openxmlformats.org/officeDocument/2006/relationships/notesSlide" Target="/ppt/notesSlides/notesSlide46.xml" Id="R3288904c5f5d4f4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5.xml" Id="Rad77b23871e649f4" /><Relationship Type="http://schemas.openxmlformats.org/officeDocument/2006/relationships/notesSlide" Target="/ppt/notesSlides/notesSlide47.xml" Id="R5953eabe554c4f58" /></Relationships>
</file>

<file path=ppt/slides/_rels/slide48.xml.rels>&#65279;<?xml version="1.0" encoding="utf-8"?><Relationships xmlns="http://schemas.openxmlformats.org/package/2006/relationships"><Relationship Type="http://schemas.openxmlformats.org/officeDocument/2006/relationships/slideLayout" Target="/ppt/slideLayouts/slideLayout5.xml" Id="Rbc78d955f9564e4f" /><Relationship Type="http://schemas.openxmlformats.org/officeDocument/2006/relationships/chart" Target="/ppt/slides/charts/chart6.xml" Id="Rae8123ab022c4a60" /><Relationship Type="http://schemas.openxmlformats.org/officeDocument/2006/relationships/notesSlide" Target="/ppt/notesSlides/notesSlide48.xml" Id="Rae30aa391c6b48b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5.xml" Id="Re469935faa7540aa" /><Relationship Type="http://schemas.openxmlformats.org/officeDocument/2006/relationships/chart" Target="/ppt/slides/charts/chart7.xml" Id="Rc3a11120fb414d8f" /><Relationship Type="http://schemas.openxmlformats.org/officeDocument/2006/relationships/notesSlide" Target="/ppt/notesSlides/notesSlide49.xml" Id="R862e7fa410ad48ff" /></Relationships>
</file>

<file path=ppt/slides/_rels/slide50.xml.rels>&#65279;<?xml version="1.0" encoding="utf-8"?><Relationships xmlns="http://schemas.openxmlformats.org/package/2006/relationships"><Relationship Type="http://schemas.openxmlformats.org/officeDocument/2006/relationships/slideLayout" Target="/ppt/slideLayouts/slideLayout5.xml" Id="R15e179b058d74cba" /><Relationship Type="http://schemas.openxmlformats.org/officeDocument/2006/relationships/notesSlide" Target="/ppt/notesSlides/notesSlide50.xml" Id="Re0c6d1b350b14ac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5.xml" Id="R6b71997aa961447b" /><Relationship Type="http://schemas.openxmlformats.org/officeDocument/2006/relationships/chart" Target="/ppt/slides/charts/chart8.xml" Id="R9103069e3b8f42e2" /><Relationship Type="http://schemas.openxmlformats.org/officeDocument/2006/relationships/notesSlide" Target="/ppt/notesSlides/notesSlide51.xml" Id="Re44429f328694e7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5.xml" Id="R5819b9305e194caa" /><Relationship Type="http://schemas.openxmlformats.org/officeDocument/2006/relationships/notesSlide" Target="/ppt/notesSlides/notesSlide52.xml" Id="Rbaa7b86eb0f3475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5.xml" Id="Re7f7729a0bbd4003" /><Relationship Type="http://schemas.openxmlformats.org/officeDocument/2006/relationships/notesSlide" Target="/ppt/notesSlides/notesSlide53.xml" Id="R9087dfcd4af04e16" /></Relationships>
</file>

<file path=ppt/slides/_rels/slide54.xml.rels>&#65279;<?xml version="1.0" encoding="utf-8"?><Relationships xmlns="http://schemas.openxmlformats.org/package/2006/relationships"><Relationship Type="http://schemas.openxmlformats.org/officeDocument/2006/relationships/slideLayout" Target="/ppt/slideLayouts/slideLayout5.xml" Id="Re26c5e37339648c7" /><Relationship Type="http://schemas.openxmlformats.org/officeDocument/2006/relationships/notesSlide" Target="/ppt/notesSlides/notesSlide54.xml" Id="R3f409171d7834ef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5.xml" Id="R001c1d73360d4d4f" /><Relationship Type="http://schemas.openxmlformats.org/officeDocument/2006/relationships/notesSlide" Target="/ppt/notesSlides/notesSlide55.xml" Id="Rc3270a74940745a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5.xml" Id="Rfe32fdda9dab46a1" /><Relationship Type="http://schemas.openxmlformats.org/officeDocument/2006/relationships/notesSlide" Target="/ppt/notesSlides/notesSlide56.xml" Id="R1e9c143decc9485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5.xml" Id="Rdab1ebe7cce442b9" /><Relationship Type="http://schemas.openxmlformats.org/officeDocument/2006/relationships/notesSlide" Target="/ppt/notesSlides/notesSlide57.xml" Id="R7c3bdc90bead4ed7"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c337406e58a477f" /><Relationship Type="http://schemas.openxmlformats.org/officeDocument/2006/relationships/notesSlide" Target="/ppt/notesSlides/notesSlide58.xml" Id="R1b5485889c8e4033"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9988db3c21464199" /><Relationship Type="http://schemas.openxmlformats.org/officeDocument/2006/relationships/notesSlide" Target="/ppt/notesSlides/notesSlide59.xml" Id="R4da9f95b5363419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bd2790c43854770" /><Relationship Type="http://schemas.openxmlformats.org/officeDocument/2006/relationships/notesSlide" Target="/ppt/notesSlides/notesSlide60.xml" Id="R375d0f9cf31f41a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1304d63c65324499" /><Relationship Type="http://schemas.openxmlformats.org/officeDocument/2006/relationships/notesSlide" Target="/ppt/notesSlides/notesSlide61.xml" Id="R3c6f58a1466b4c5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9462ece1d5ca410a" /><Relationship Type="http://schemas.openxmlformats.org/officeDocument/2006/relationships/notesSlide" Target="/ppt/notesSlides/notesSlide62.xml" Id="R63922ea04dda455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04e798128da64800" /><Relationship Type="http://schemas.openxmlformats.org/officeDocument/2006/relationships/chart" Target="/ppt/slides/charts/chart9.xml" Id="Rd67094b9c29e4e28" /><Relationship Type="http://schemas.openxmlformats.org/officeDocument/2006/relationships/notesSlide" Target="/ppt/notesSlides/notesSlide63.xml" Id="R751558d09e8040a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7084f31dcbc541ca" /><Relationship Type="http://schemas.openxmlformats.org/officeDocument/2006/relationships/notesSlide" Target="/ppt/notesSlides/notesSlide64.xml" Id="R3234ac8e100c47d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28843ef191b943a7" /><Relationship Type="http://schemas.openxmlformats.org/officeDocument/2006/relationships/notesSlide" Target="/ppt/notesSlides/notesSlide65.xml" Id="Rb29129f61a6b45a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69c87a4b3bdb4ee7" /><Relationship Type="http://schemas.openxmlformats.org/officeDocument/2006/relationships/notesSlide" Target="/ppt/notesSlides/notesSlide66.xml" Id="R582d1eb2f2d54d6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58ba0d9e864147dc" /><Relationship Type="http://schemas.openxmlformats.org/officeDocument/2006/relationships/notesSlide" Target="/ppt/notesSlides/notesSlide67.xml" Id="Rfa9b61f831a1471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03b70cbf052f4be3" /><Relationship Type="http://schemas.openxmlformats.org/officeDocument/2006/relationships/notesSlide" Target="/ppt/notesSlides/notesSlide68.xml" Id="Rd484dfb0543c49e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e7dac76720a74c4b" /><Relationship Type="http://schemas.openxmlformats.org/officeDocument/2006/relationships/notesSlide" Target="/ppt/notesSlides/notesSlide69.xml" Id="R24c965850cee4993"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68845a9aa2bb43e8" /><Relationship Type="http://schemas.openxmlformats.org/officeDocument/2006/relationships/notesSlide" Target="/ppt/notesSlides/notesSlide70.xml" Id="R34f3311d3d864fc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7.xml" Id="R47f88884f313442c" /><Relationship Type="http://schemas.openxmlformats.org/officeDocument/2006/relationships/notesSlide" Target="/ppt/notesSlides/notesSlide71.xml" Id="R5a9c88c6c9a0475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7.xml" Id="R17c26a61c9b948a3" /><Relationship Type="http://schemas.openxmlformats.org/officeDocument/2006/relationships/notesSlide" Target="/ppt/notesSlides/notesSlide72.xml" Id="R54582bd7149b4681" /></Relationships>
</file>

<file path=ppt/slides/_rels/slide73.xml.rels>&#65279;<?xml version="1.0" encoding="utf-8"?><Relationships xmlns="http://schemas.openxmlformats.org/package/2006/relationships"><Relationship Type="http://schemas.openxmlformats.org/officeDocument/2006/relationships/slideLayout" Target="/ppt/slideLayouts/slideLayout7.xml" Id="R25485adc665c44e8" /><Relationship Type="http://schemas.openxmlformats.org/officeDocument/2006/relationships/notesSlide" Target="/ppt/notesSlides/notesSlide73.xml" Id="Rcd3986e3f4044cc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8.xml" Id="R9723c209d45e4205" /><Relationship Type="http://schemas.openxmlformats.org/officeDocument/2006/relationships/notesSlide" Target="/ppt/notesSlides/notesSlide74.xml" Id="R1e43c5d525904d05" /></Relationships>
</file>

<file path=ppt/slides/_rels/slide75.xml.rels>&#65279;<?xml version="1.0" encoding="utf-8"?><Relationships xmlns="http://schemas.openxmlformats.org/package/2006/relationships"><Relationship Type="http://schemas.openxmlformats.org/officeDocument/2006/relationships/slideLayout" Target="/ppt/slideLayouts/slideLayout8.xml" Id="Ra9f63358fa5843e6" /><Relationship Type="http://schemas.openxmlformats.org/officeDocument/2006/relationships/notesSlide" Target="/ppt/notesSlides/notesSlide75.xml" Id="R7e855c42104e442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8.xml" Id="R7d968e25af3640f4" /><Relationship Type="http://schemas.openxmlformats.org/officeDocument/2006/relationships/notesSlide" Target="/ppt/notesSlides/notesSlide76.xml" Id="Rf63b49dcf77d456f" /></Relationships>
</file>

<file path=ppt/slides/_rels/slide77.xml.rels>&#65279;<?xml version="1.0" encoding="utf-8"?><Relationships xmlns="http://schemas.openxmlformats.org/package/2006/relationships"><Relationship Type="http://schemas.openxmlformats.org/officeDocument/2006/relationships/slideLayout" Target="/ppt/slideLayouts/slideLayout8.xml" Id="Rb614d8ddfd244617" /><Relationship Type="http://schemas.openxmlformats.org/officeDocument/2006/relationships/chart" Target="/ppt/slides/charts/chart10.xml" Id="R8830d82dfcdd43dd" /><Relationship Type="http://schemas.openxmlformats.org/officeDocument/2006/relationships/notesSlide" Target="/ppt/notesSlides/notesSlide77.xml" Id="Rc2653da932f047f5" /></Relationships>
</file>

<file path=ppt/slides/_rels/slide78.xml.rels>&#65279;<?xml version="1.0" encoding="utf-8"?><Relationships xmlns="http://schemas.openxmlformats.org/package/2006/relationships"><Relationship Type="http://schemas.openxmlformats.org/officeDocument/2006/relationships/slideLayout" Target="/ppt/slideLayouts/slideLayout8.xml" Id="Rac8f45cb9d4d435c" /><Relationship Type="http://schemas.openxmlformats.org/officeDocument/2006/relationships/notesSlide" Target="/ppt/notesSlides/notesSlide78.xml" Id="R8b9963c2e1de4052" /></Relationships>
</file>

<file path=ppt/slides/_rels/slide79.xml.rels>&#65279;<?xml version="1.0" encoding="utf-8"?><Relationships xmlns="http://schemas.openxmlformats.org/package/2006/relationships"><Relationship Type="http://schemas.openxmlformats.org/officeDocument/2006/relationships/slideLayout" Target="/ppt/slideLayouts/slideLayout8.xml" Id="R615223443ff04360" /><Relationship Type="http://schemas.openxmlformats.org/officeDocument/2006/relationships/notesSlide" Target="/ppt/notesSlides/notesSlide79.xml" Id="R7a1fa0730cd0460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8.xml" Id="Rab065c5807b945a0" /><Relationship Type="http://schemas.openxmlformats.org/officeDocument/2006/relationships/chart" Target="/ppt/slides/charts/chart11.xml" Id="Rd72f30bf199649b5" /><Relationship Type="http://schemas.openxmlformats.org/officeDocument/2006/relationships/notesSlide" Target="/ppt/notesSlides/notesSlide80.xml" Id="Rdf88f416e1da4d2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8.xml" Id="R5cd6c207ae544cb7" /><Relationship Type="http://schemas.openxmlformats.org/officeDocument/2006/relationships/notesSlide" Target="/ppt/notesSlides/notesSlide81.xml" Id="Rb0ebdee082084ad6" /></Relationships>
</file>

<file path=ppt/slides/_rels/slide82.xml.rels>&#65279;<?xml version="1.0" encoding="utf-8"?><Relationships xmlns="http://schemas.openxmlformats.org/package/2006/relationships"><Relationship Type="http://schemas.openxmlformats.org/officeDocument/2006/relationships/slideLayout" Target="/ppt/slideLayouts/slideLayout8.xml" Id="R242a483d54e84c53" /><Relationship Type="http://schemas.openxmlformats.org/officeDocument/2006/relationships/chart" Target="/ppt/slides/charts/chart12.xml" Id="R603b4e337b9247cb" /><Relationship Type="http://schemas.openxmlformats.org/officeDocument/2006/relationships/notesSlide" Target="/ppt/notesSlides/notesSlide82.xml" Id="Rae313e9a825e4711" /></Relationships>
</file>

<file path=ppt/slides/_rels/slide83.xml.rels>&#65279;<?xml version="1.0" encoding="utf-8"?><Relationships xmlns="http://schemas.openxmlformats.org/package/2006/relationships"><Relationship Type="http://schemas.openxmlformats.org/officeDocument/2006/relationships/slideLayout" Target="/ppt/slideLayouts/slideLayout8.xml" Id="R4edab84825cc4342" /><Relationship Type="http://schemas.openxmlformats.org/officeDocument/2006/relationships/notesSlide" Target="/ppt/notesSlides/notesSlide83.xml" Id="R6db17edd2e944c6c" /></Relationships>
</file>

<file path=ppt/slides/_rels/slide84.xml.rels>&#65279;<?xml version="1.0" encoding="utf-8"?><Relationships xmlns="http://schemas.openxmlformats.org/package/2006/relationships"><Relationship Type="http://schemas.openxmlformats.org/officeDocument/2006/relationships/slideLayout" Target="/ppt/slideLayouts/slideLayout8.xml" Id="Rd44376452e2d4c95" /><Relationship Type="http://schemas.openxmlformats.org/officeDocument/2006/relationships/notesSlide" Target="/ppt/notesSlides/notesSlide84.xml" Id="R862d0dba62a04ba5" /></Relationships>
</file>

<file path=ppt/slides/_rels/slide85.xml.rels>&#65279;<?xml version="1.0" encoding="utf-8"?><Relationships xmlns="http://schemas.openxmlformats.org/package/2006/relationships"><Relationship Type="http://schemas.openxmlformats.org/officeDocument/2006/relationships/slideLayout" Target="/ppt/slideLayouts/slideLayout9.xml" Id="R9e3f3a731bc14cc8" /><Relationship Type="http://schemas.openxmlformats.org/officeDocument/2006/relationships/notesSlide" Target="/ppt/notesSlides/notesSlide85.xml" Id="Rdc9696d670ed481f" /></Relationships>
</file>

<file path=ppt/slides/_rels/slide86.xml.rels>&#65279;<?xml version="1.0" encoding="utf-8"?><Relationships xmlns="http://schemas.openxmlformats.org/package/2006/relationships"><Relationship Type="http://schemas.openxmlformats.org/officeDocument/2006/relationships/slideLayout" Target="/ppt/slideLayouts/slideLayout9.xml" Id="Rf4c42e5291cd4df3" /><Relationship Type="http://schemas.openxmlformats.org/officeDocument/2006/relationships/notesSlide" Target="/ppt/notesSlides/notesSlide86.xml" Id="R12ce544597294f28" /></Relationships>
</file>

<file path=ppt/slides/_rels/slide87.xml.rels>&#65279;<?xml version="1.0" encoding="utf-8"?><Relationships xmlns="http://schemas.openxmlformats.org/package/2006/relationships"><Relationship Type="http://schemas.openxmlformats.org/officeDocument/2006/relationships/slideLayout" Target="/ppt/slideLayouts/slideLayout9.xml" Id="R0b242e2457b94687" /><Relationship Type="http://schemas.openxmlformats.org/officeDocument/2006/relationships/notesSlide" Target="/ppt/notesSlides/notesSlide87.xml" Id="R25e2362bbc444f89" /></Relationships>
</file>

<file path=ppt/slides/_rels/slide88.xml.rels>&#65279;<?xml version="1.0" encoding="utf-8"?><Relationships xmlns="http://schemas.openxmlformats.org/package/2006/relationships"><Relationship Type="http://schemas.openxmlformats.org/officeDocument/2006/relationships/slideLayout" Target="/ppt/slideLayouts/slideLayout9.xml" Id="Ra2942b32827449cc" /><Relationship Type="http://schemas.openxmlformats.org/officeDocument/2006/relationships/chart" Target="/ppt/slides/charts/chart13.xml" Id="R03fa37c1638749ad" /><Relationship Type="http://schemas.openxmlformats.org/officeDocument/2006/relationships/notesSlide" Target="/ppt/notesSlides/notesSlide88.xml" Id="Recb83d42f7d94cd3" /></Relationships>
</file>

<file path=ppt/slides/_rels/slide89.xml.rels>&#65279;<?xml version="1.0" encoding="utf-8"?><Relationships xmlns="http://schemas.openxmlformats.org/package/2006/relationships"><Relationship Type="http://schemas.openxmlformats.org/officeDocument/2006/relationships/slideLayout" Target="/ppt/slideLayouts/slideLayout9.xml" Id="R18e1953a67c141d5" /><Relationship Type="http://schemas.openxmlformats.org/officeDocument/2006/relationships/chart" Target="/ppt/slides/charts/chart14.xml" Id="R0c6cf52b0ef54433" /><Relationship Type="http://schemas.openxmlformats.org/officeDocument/2006/relationships/notesSlide" Target="/ppt/notesSlides/notesSlide89.xml" Id="R9163a6d96ca847f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9.xml" Id="R62fa9cb576a244bb" /><Relationship Type="http://schemas.openxmlformats.org/officeDocument/2006/relationships/notesSlide" Target="/ppt/notesSlides/notesSlide90.xml" Id="R427ef70c5885471e" /></Relationships>
</file>

<file path=ppt/slides/_rels/slide91.xml.rels>&#65279;<?xml version="1.0" encoding="utf-8"?><Relationships xmlns="http://schemas.openxmlformats.org/package/2006/relationships"><Relationship Type="http://schemas.openxmlformats.org/officeDocument/2006/relationships/slideLayout" Target="/ppt/slideLayouts/slideLayout9.xml" Id="Rf431d365bcff4f50" /><Relationship Type="http://schemas.openxmlformats.org/officeDocument/2006/relationships/notesSlide" Target="/ppt/notesSlides/notesSlide91.xml" Id="R7120e2d7651a4048" /></Relationships>
</file>

<file path=ppt/slides/_rels/slide92.xml.rels>&#65279;<?xml version="1.0" encoding="utf-8"?><Relationships xmlns="http://schemas.openxmlformats.org/package/2006/relationships"><Relationship Type="http://schemas.openxmlformats.org/officeDocument/2006/relationships/slideLayout" Target="/ppt/slideLayouts/slideLayout9.xml" Id="R8f39c00db5b44ba2" /><Relationship Type="http://schemas.openxmlformats.org/officeDocument/2006/relationships/notesSlide" Target="/ppt/notesSlides/notesSlide92.xml" Id="R09cd16f396f1412b" /></Relationships>
</file>

<file path=ppt/slides/_rels/slide93.xml.rels>&#65279;<?xml version="1.0" encoding="utf-8"?><Relationships xmlns="http://schemas.openxmlformats.org/package/2006/relationships"><Relationship Type="http://schemas.openxmlformats.org/officeDocument/2006/relationships/slideLayout" Target="/ppt/slideLayouts/slideLayout9.xml" Id="R7cfeed27a935425e" /><Relationship Type="http://schemas.openxmlformats.org/officeDocument/2006/relationships/notesSlide" Target="/ppt/notesSlides/notesSlide93.xml" Id="Rb47106c8c8e34327" /></Relationships>
</file>

<file path=ppt/slides/_rels/slide94.xml.rels>&#65279;<?xml version="1.0" encoding="utf-8"?><Relationships xmlns="http://schemas.openxmlformats.org/package/2006/relationships"><Relationship Type="http://schemas.openxmlformats.org/officeDocument/2006/relationships/slideLayout" Target="/ppt/slideLayouts/slideLayout9.xml" Id="Rd42454e80dcd45a7" /><Relationship Type="http://schemas.openxmlformats.org/officeDocument/2006/relationships/notesSlide" Target="/ppt/notesSlides/notesSlide94.xml" Id="R9bb73352630f4022" /></Relationships>
</file>

<file path=ppt/slides/_rels/slide95.xml.rels>&#65279;<?xml version="1.0" encoding="utf-8"?><Relationships xmlns="http://schemas.openxmlformats.org/package/2006/relationships"><Relationship Type="http://schemas.openxmlformats.org/officeDocument/2006/relationships/slideLayout" Target="/ppt/slideLayouts/slideLayout9.xml" Id="R539fe3e14eb74914" /><Relationship Type="http://schemas.openxmlformats.org/officeDocument/2006/relationships/notesSlide" Target="/ppt/notesSlides/notesSlide95.xml" Id="Ra1545efaa0b54272"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0.xml" Id="Ra8af1e40d48a4420" /><Relationship Type="http://schemas.openxmlformats.org/officeDocument/2006/relationships/notesSlide" Target="/ppt/notesSlides/notesSlide96.xml" Id="Rd2b42e377a5b4fea" /></Relationships>
</file>

<file path=ppt/slides/_rels/slide97.xml.rels>&#65279;<?xml version="1.0" encoding="utf-8"?><Relationships xmlns="http://schemas.openxmlformats.org/package/2006/relationships"><Relationship Type="http://schemas.openxmlformats.org/officeDocument/2006/relationships/slideLayout" Target="/ppt/slideLayouts/slideLayout10.xml" Id="R0cd2cc5daa3d40e2" /><Relationship Type="http://schemas.openxmlformats.org/officeDocument/2006/relationships/notesSlide" Target="/ppt/notesSlides/notesSlide97.xml" Id="Ra68d2e0fa4fa4f1e" /></Relationships>
</file>

<file path=ppt/slides/_rels/slide98.xml.rels>&#65279;<?xml version="1.0" encoding="utf-8"?><Relationships xmlns="http://schemas.openxmlformats.org/package/2006/relationships"><Relationship Type="http://schemas.openxmlformats.org/officeDocument/2006/relationships/slideLayout" Target="/ppt/slideLayouts/slideLayout10.xml" Id="R526568deb2484f1e" /><Relationship Type="http://schemas.openxmlformats.org/officeDocument/2006/relationships/notesSlide" Target="/ppt/notesSlides/notesSlide98.xml" Id="Rf36dbfc798d0431e" /></Relationships>
</file>

<file path=ppt/slides/_rels/slide99.xml.rels>&#65279;<?xml version="1.0" encoding="utf-8"?><Relationships xmlns="http://schemas.openxmlformats.org/package/2006/relationships"><Relationship Type="http://schemas.openxmlformats.org/officeDocument/2006/relationships/slideLayout" Target="/ppt/slideLayouts/slideLayout10.xml" Id="R4b326cd229b94a42" /><Relationship Type="http://schemas.openxmlformats.org/officeDocument/2006/relationships/notesSlide" Target="/ppt/notesSlides/notesSlide99.xml" Id="R3443d29e4a744de8"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10.xml" Id="Ra1c44e112f5945ab" /><Relationship Type="http://schemas.openxmlformats.org/officeDocument/2006/relationships/chart" Target="/ppt/slides/charts/chart15.xml" Id="R5dc58651b20e480f" /><Relationship Type="http://schemas.openxmlformats.org/officeDocument/2006/relationships/notesSlide" Target="/ppt/notesSlides/notesSlide100.xml" Id="Rfb26ab9782c84679"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10.xml" Id="R1848560098204f36" /><Relationship Type="http://schemas.openxmlformats.org/officeDocument/2006/relationships/notesSlide" Target="/ppt/notesSlides/notesSlide101.xml" Id="R9235acc67a374b12"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10.xml" Id="R8eb1462acfec40d2" /><Relationship Type="http://schemas.openxmlformats.org/officeDocument/2006/relationships/chart" Target="/ppt/slides/charts/chart16.xml" Id="R0aefb74d014f46d5" /><Relationship Type="http://schemas.openxmlformats.org/officeDocument/2006/relationships/notesSlide" Target="/ppt/notesSlides/notesSlide102.xml" Id="Rfc41c8b248884dbc"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10.xml" Id="R448bde6c2ef74614" /><Relationship Type="http://schemas.openxmlformats.org/officeDocument/2006/relationships/notesSlide" Target="/ppt/notesSlides/notesSlide103.xml" Id="R7eb0fa5c588b47e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10.xml" Id="R57631b759aa74fa3" /><Relationship Type="http://schemas.openxmlformats.org/officeDocument/2006/relationships/notesSlide" Target="/ppt/notesSlides/notesSlide104.xml" Id="R1af36a361b0f45ff"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10.xml" Id="Rd356b096c9af48ea" /><Relationship Type="http://schemas.openxmlformats.org/officeDocument/2006/relationships/notesSlide" Target="/ppt/notesSlides/notesSlide105.xml" Id="R645e3662742f4162"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11.xml" Id="Rb005463c3be64f59" /><Relationship Type="http://schemas.openxmlformats.org/officeDocument/2006/relationships/notesSlide" Target="/ppt/notesSlides/notesSlide106.xml" Id="R0aae3addf2c3457c"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11.xml" Id="R409fb51e234e4a86" /><Relationship Type="http://schemas.openxmlformats.org/officeDocument/2006/relationships/notesSlide" Target="/ppt/notesSlides/notesSlide107.xml" Id="R950c3bc29a774af4"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11.xml" Id="Rf9753ad01a654e03" /><Relationship Type="http://schemas.openxmlformats.org/officeDocument/2006/relationships/notesSlide" Target="/ppt/notesSlides/notesSlide108.xml" Id="Rd8712c92b5ad4f27"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11.xml" Id="R0fb805d4860e4593" /><Relationship Type="http://schemas.openxmlformats.org/officeDocument/2006/relationships/notesSlide" Target="/ppt/notesSlides/notesSlide109.xml" Id="Re9a6565f0b2f412c"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11.xml" Id="Rf1d0377c0068449c" /><Relationship Type="http://schemas.openxmlformats.org/officeDocument/2006/relationships/chart" Target="/ppt/slides/charts/chart17.xml" Id="R652a4661c548413a" /><Relationship Type="http://schemas.openxmlformats.org/officeDocument/2006/relationships/notesSlide" Target="/ppt/notesSlides/notesSlide110.xml" Id="R505b8cd1e25946f0"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11.xml" Id="R690c76a194cb4b0f" /><Relationship Type="http://schemas.openxmlformats.org/officeDocument/2006/relationships/notesSlide" Target="/ppt/notesSlides/notesSlide111.xml" Id="R6ca57c3da7954b64"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11.xml" Id="R1c53a5468ee3496a" /><Relationship Type="http://schemas.openxmlformats.org/officeDocument/2006/relationships/notesSlide" Target="/ppt/notesSlides/notesSlide112.xml" Id="R7495c43295a347d0"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11.xml" Id="R0af34a5f80ac4a06" /><Relationship Type="http://schemas.openxmlformats.org/officeDocument/2006/relationships/notesSlide" Target="/ppt/notesSlides/notesSlide113.xml" Id="R496a7d59a69d4151"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11.xml" Id="R10184c5d298f4265" /><Relationship Type="http://schemas.openxmlformats.org/officeDocument/2006/relationships/chart" Target="/ppt/slides/charts/chart18.xml" Id="R2e0da9e22fab4f34" /><Relationship Type="http://schemas.openxmlformats.org/officeDocument/2006/relationships/notesSlide" Target="/ppt/notesSlides/notesSlide114.xml" Id="R0c078da178e74676"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11.xml" Id="R1edcd3525d1d4a8f" /><Relationship Type="http://schemas.openxmlformats.org/officeDocument/2006/relationships/notesSlide" Target="/ppt/notesSlides/notesSlide115.xml" Id="Rbf1feedb3214429b"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11.xml" Id="R3f4b563265f8419a" /><Relationship Type="http://schemas.openxmlformats.org/officeDocument/2006/relationships/notesSlide" Target="/ppt/notesSlides/notesSlide116.xml" Id="R6aaaff172bd94ad5"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12.xml" Id="R1b35c5fc31f04b80" /><Relationship Type="http://schemas.openxmlformats.org/officeDocument/2006/relationships/notesSlide" Target="/ppt/notesSlides/notesSlide117.xml" Id="R3a265ed13a634aa8"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12.xml" Id="R6a14aa883a2b49a4" /><Relationship Type="http://schemas.openxmlformats.org/officeDocument/2006/relationships/notesSlide" Target="/ppt/notesSlides/notesSlide118.xml" Id="Ra430cd5dff334c8f"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12.xml" Id="R7f0fc82431234a61" /><Relationship Type="http://schemas.openxmlformats.org/officeDocument/2006/relationships/notesSlide" Target="/ppt/notesSlides/notesSlide119.xml" Id="R25e61293737d44ca"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12.xml" Id="Rcd7ebe9eecde44a0" /><Relationship Type="http://schemas.openxmlformats.org/officeDocument/2006/relationships/notesSlide" Target="/ppt/notesSlides/notesSlide120.xml" Id="R73843c6733214589"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12.xml" Id="R9dd5daffda544475" /><Relationship Type="http://schemas.openxmlformats.org/officeDocument/2006/relationships/notesSlide" Target="/ppt/notesSlides/notesSlide121.xml" Id="Re8348e9cf2c64408"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12.xml" Id="R52ed440045c2493c" /><Relationship Type="http://schemas.openxmlformats.org/officeDocument/2006/relationships/notesSlide" Target="/ppt/notesSlides/notesSlide122.xml" Id="R738ade9ab8df48c0"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12.xml" Id="R26e1e243692a4ec7" /><Relationship Type="http://schemas.openxmlformats.org/officeDocument/2006/relationships/notesSlide" Target="/ppt/notesSlides/notesSlide123.xml" Id="R0bf0303cd12e49df"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12.xml" Id="Rf08ad4a2a93a446f" /><Relationship Type="http://schemas.openxmlformats.org/officeDocument/2006/relationships/chart" Target="/ppt/slides/charts/chart19.xml" Id="R29db9e922def4c1c" /><Relationship Type="http://schemas.openxmlformats.org/officeDocument/2006/relationships/notesSlide" Target="/ppt/notesSlides/notesSlide124.xml" Id="Rd44dc42c1a7141c4"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12.xml" Id="Rabd0b02896a848f6" /><Relationship Type="http://schemas.openxmlformats.org/officeDocument/2006/relationships/notesSlide" Target="/ppt/notesSlides/notesSlide125.xml" Id="Ra7d2129aa9724c50"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12.xml" Id="R9319f0d7f94b4ee3" /><Relationship Type="http://schemas.openxmlformats.org/officeDocument/2006/relationships/notesSlide" Target="/ppt/notesSlides/notesSlide126.xml" Id="R879d271bdbe54eb8"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13.xml" Id="Rd7ec41c16bbf4d3f" /><Relationship Type="http://schemas.openxmlformats.org/officeDocument/2006/relationships/notesSlide" Target="/ppt/notesSlides/notesSlide127.xml" Id="R1e14c2d1d2bc47bd"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13.xml" Id="Reb45231f4dea4c3c" /><Relationship Type="http://schemas.openxmlformats.org/officeDocument/2006/relationships/notesSlide" Target="/ppt/notesSlides/notesSlide128.xml" Id="Rcc972c759d6040f8"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13.xml" Id="R20feb3fe97674324" /><Relationship Type="http://schemas.openxmlformats.org/officeDocument/2006/relationships/notesSlide" Target="/ppt/notesSlides/notesSlide129.xml" Id="R7ee9b3e5fe0b43c3"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13.xml" Id="R1d80965d4c954663" /><Relationship Type="http://schemas.openxmlformats.org/officeDocument/2006/relationships/notesSlide" Target="/ppt/notesSlides/notesSlide130.xml" Id="R3f8f76e428b14089"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13.xml" Id="R105bea4fbe374b6a" /><Relationship Type="http://schemas.openxmlformats.org/officeDocument/2006/relationships/notesSlide" Target="/ppt/notesSlides/notesSlide131.xml" Id="R76e7ff30774c4a96"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13.xml" Id="R17d2628928b04cba" /><Relationship Type="http://schemas.openxmlformats.org/officeDocument/2006/relationships/notesSlide" Target="/ppt/notesSlides/notesSlide132.xml" Id="R82100406490a452b"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13.xml" Id="R58fae7aaf5544a1e" /><Relationship Type="http://schemas.openxmlformats.org/officeDocument/2006/relationships/notesSlide" Target="/ppt/notesSlides/notesSlide133.xml" Id="Rc3d1685254b34bfc"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13.xml" Id="R49e37cd2f7a14250" /><Relationship Type="http://schemas.openxmlformats.org/officeDocument/2006/relationships/notesSlide" Target="/ppt/notesSlides/notesSlide134.xml" Id="Rd636025e3fe94e70"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13.xml" Id="Rc644e19209604ef1" /><Relationship Type="http://schemas.openxmlformats.org/officeDocument/2006/relationships/notesSlide" Target="/ppt/notesSlides/notesSlide135.xml" Id="R1571a542a2f84c37"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13.xml" Id="R7534d03a72074d07" /><Relationship Type="http://schemas.openxmlformats.org/officeDocument/2006/relationships/notesSlide" Target="/ppt/notesSlides/notesSlide136.xml" Id="Rab352199be374874"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14.xml" Id="R66fc563c76bc458f" /><Relationship Type="http://schemas.openxmlformats.org/officeDocument/2006/relationships/notesSlide" Target="/ppt/notesSlides/notesSlide137.xml" Id="Rd4dcac818d984ae5"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14.xml" Id="R16ac1e6ace0a428b" /><Relationship Type="http://schemas.openxmlformats.org/officeDocument/2006/relationships/notesSlide" Target="/ppt/notesSlides/notesSlide138.xml" Id="R84f0c91c916e4347"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14.xml" Id="R5e0fb957fe1847be" /><Relationship Type="http://schemas.openxmlformats.org/officeDocument/2006/relationships/notesSlide" Target="/ppt/notesSlides/notesSlide139.xml" Id="R21289daf77794acb"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14.xml" Id="R4aac83372b96497c" /><Relationship Type="http://schemas.openxmlformats.org/officeDocument/2006/relationships/notesSlide" Target="/ppt/notesSlides/notesSlide140.xml" Id="R059ab98a9c32490b"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14.xml" Id="R4a98d5a6214a4149" /><Relationship Type="http://schemas.openxmlformats.org/officeDocument/2006/relationships/notesSlide" Target="/ppt/notesSlides/notesSlide141.xml" Id="Rba6c8119c9a54d7a"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14.xml" Id="R005765810bc24441" /><Relationship Type="http://schemas.openxmlformats.org/officeDocument/2006/relationships/notesSlide" Target="/ppt/notesSlides/notesSlide142.xml" Id="R03e22d95454c45d7"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14.xml" Id="R569adfd330904edb" /><Relationship Type="http://schemas.openxmlformats.org/officeDocument/2006/relationships/notesSlide" Target="/ppt/notesSlides/notesSlide143.xml" Id="R6e327d5c3c1542e2"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15.xml" Id="R1e7f909cdf6a4fb9" /><Relationship Type="http://schemas.openxmlformats.org/officeDocument/2006/relationships/notesSlide" Target="/ppt/notesSlides/notesSlide144.xml" Id="Re836276684804118"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15.xml" Id="R8bd4bb493fc2467c" /><Relationship Type="http://schemas.openxmlformats.org/officeDocument/2006/relationships/notesSlide" Target="/ppt/notesSlides/notesSlide145.xml" Id="Reb38afb2d8c74f23"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15.xml" Id="R0979802255454ce4" /><Relationship Type="http://schemas.openxmlformats.org/officeDocument/2006/relationships/notesSlide" Target="/ppt/notesSlides/notesSlide146.xml" Id="Rbf7bca073c8241c5"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15.xml" Id="Red244be1f8ba4cb7" /><Relationship Type="http://schemas.openxmlformats.org/officeDocument/2006/relationships/chart" Target="/ppt/slides/charts/chart20.xml" Id="R5223bf2eaad94bd9" /><Relationship Type="http://schemas.openxmlformats.org/officeDocument/2006/relationships/notesSlide" Target="/ppt/notesSlides/notesSlide147.xml" Id="R4b485b9f869f41f2"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15.xml" Id="R34bc762ce8a94fa6" /><Relationship Type="http://schemas.openxmlformats.org/officeDocument/2006/relationships/notesSlide" Target="/ppt/notesSlides/notesSlide148.xml" Id="Re023199320424f33"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15.xml" Id="Rc98719d748da4def" /><Relationship Type="http://schemas.openxmlformats.org/officeDocument/2006/relationships/notesSlide" Target="/ppt/notesSlides/notesSlide149.xml" Id="Re4915f4df3164847"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15.xml" Id="R4af265ba44204745" /><Relationship Type="http://schemas.openxmlformats.org/officeDocument/2006/relationships/notesSlide" Target="/ppt/notesSlides/notesSlide150.xml" Id="R854da3da776e4e90"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15.xml" Id="R832149c3b3cb41de" /><Relationship Type="http://schemas.openxmlformats.org/officeDocument/2006/relationships/notesSlide" Target="/ppt/notesSlides/notesSlide151.xml" Id="Rdc6fb1c5f4bb4b63"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16.xml" Id="R69301608a730416e" /><Relationship Type="http://schemas.openxmlformats.org/officeDocument/2006/relationships/notesSlide" Target="/ppt/notesSlides/notesSlide152.xml" Id="R46b7d5e2634444b8"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16.xml" Id="R7ffeb7de021644ad" /><Relationship Type="http://schemas.openxmlformats.org/officeDocument/2006/relationships/notesSlide" Target="/ppt/notesSlides/notesSlide153.xml" Id="Rda3f08ded2f148c5"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16.xml" Id="Rc659e9ff8ce24153" /><Relationship Type="http://schemas.openxmlformats.org/officeDocument/2006/relationships/notesSlide" Target="/ppt/notesSlides/notesSlide154.xml" Id="R6cf8c84a45674d70"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16.xml" Id="R09d7c622f8f44582" /><Relationship Type="http://schemas.openxmlformats.org/officeDocument/2006/relationships/notesSlide" Target="/ppt/notesSlides/notesSlide155.xml" Id="Rb9ac9fe3ae7347a8"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16.xml" Id="R7640abded75a4fb5" /><Relationship Type="http://schemas.openxmlformats.org/officeDocument/2006/relationships/notesSlide" Target="/ppt/notesSlides/notesSlide156.xml" Id="Rc5c43b5f52204789"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16.xml" Id="Re863d77229ee4cd4" /><Relationship Type="http://schemas.openxmlformats.org/officeDocument/2006/relationships/notesSlide" Target="/ppt/notesSlides/notesSlide157.xml" Id="R5896418b6cbc4fd6"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16.xml" Id="R7fda2d0d092746fb" /><Relationship Type="http://schemas.openxmlformats.org/officeDocument/2006/relationships/notesSlide" Target="/ppt/notesSlides/notesSlide158.xml" Id="R9582819a366646b9"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17.xml" Id="R1378c12d5f09473f" /><Relationship Type="http://schemas.openxmlformats.org/officeDocument/2006/relationships/notesSlide" Target="/ppt/notesSlides/notesSlide159.xml" Id="Rcf6edc7ac3a742af"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17.xml" Id="Ra7f836022f2d4401" /><Relationship Type="http://schemas.openxmlformats.org/officeDocument/2006/relationships/notesSlide" Target="/ppt/notesSlides/notesSlide160.xml" Id="R8d78bede14204d1c"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17.xml" Id="R9abe627637af4b08" /><Relationship Type="http://schemas.openxmlformats.org/officeDocument/2006/relationships/notesSlide" Target="/ppt/notesSlides/notesSlide161.xml" Id="R2e8da51a9df54cd2"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17.xml" Id="Rf68bee70e0724366" /><Relationship Type="http://schemas.openxmlformats.org/officeDocument/2006/relationships/notesSlide" Target="/ppt/notesSlides/notesSlide162.xml" Id="R47229a64ab03402c" /></Relationships>
</file>

<file path=ppt/slides/_rels/slide163.xml.rels>&#65279;<?xml version="1.0" encoding="utf-8"?><Relationships xmlns="http://schemas.openxmlformats.org/package/2006/relationships"><Relationship Type="http://schemas.openxmlformats.org/officeDocument/2006/relationships/slideLayout" Target="/ppt/slideLayouts/slideLayout17.xml" Id="R03372fccada44fd5" /><Relationship Type="http://schemas.openxmlformats.org/officeDocument/2006/relationships/notesSlide" Target="/ppt/notesSlides/notesSlide163.xml" Id="Rb9d59a2aa98b4621" /></Relationships>
</file>

<file path=ppt/slides/_rels/slide164.xml.rels>&#65279;<?xml version="1.0" encoding="utf-8"?><Relationships xmlns="http://schemas.openxmlformats.org/package/2006/relationships"><Relationship Type="http://schemas.openxmlformats.org/officeDocument/2006/relationships/slideLayout" Target="/ppt/slideLayouts/slideLayout17.xml" Id="Rac6fe49da2704c1b" /><Relationship Type="http://schemas.openxmlformats.org/officeDocument/2006/relationships/chart" Target="/ppt/slides/charts/chart21.xml" Id="Rb27e1f8ab5d34129" /><Relationship Type="http://schemas.openxmlformats.org/officeDocument/2006/relationships/notesSlide" Target="/ppt/notesSlides/notesSlide164.xml" Id="R5d14a305c4534365" /></Relationships>
</file>

<file path=ppt/slides/_rels/slide165.xml.rels>&#65279;<?xml version="1.0" encoding="utf-8"?><Relationships xmlns="http://schemas.openxmlformats.org/package/2006/relationships"><Relationship Type="http://schemas.openxmlformats.org/officeDocument/2006/relationships/slideLayout" Target="/ppt/slideLayouts/slideLayout17.xml" Id="R78f333d40e504b19" /><Relationship Type="http://schemas.openxmlformats.org/officeDocument/2006/relationships/notesSlide" Target="/ppt/notesSlides/notesSlide165.xml" Id="R0c1a19a50f0d4dc3" /></Relationships>
</file>

<file path=ppt/slides/_rels/slide166.xml.rels>&#65279;<?xml version="1.0" encoding="utf-8"?><Relationships xmlns="http://schemas.openxmlformats.org/package/2006/relationships"><Relationship Type="http://schemas.openxmlformats.org/officeDocument/2006/relationships/slideLayout" Target="/ppt/slideLayouts/slideLayout18.xml" Id="Re08eeb2068d54e19" /><Relationship Type="http://schemas.openxmlformats.org/officeDocument/2006/relationships/notesSlide" Target="/ppt/notesSlides/notesSlide166.xml" Id="Rfe29d3c26bc84cf2" /></Relationships>
</file>

<file path=ppt/slides/_rels/slide167.xml.rels>&#65279;<?xml version="1.0" encoding="utf-8"?><Relationships xmlns="http://schemas.openxmlformats.org/package/2006/relationships"><Relationship Type="http://schemas.openxmlformats.org/officeDocument/2006/relationships/slideLayout" Target="/ppt/slideLayouts/slideLayout18.xml" Id="R65fd7d6df9f6453a" /><Relationship Type="http://schemas.openxmlformats.org/officeDocument/2006/relationships/notesSlide" Target="/ppt/notesSlides/notesSlide167.xml" Id="R9387645d62e34fc5" /></Relationships>
</file>

<file path=ppt/slides/_rels/slide168.xml.rels>&#65279;<?xml version="1.0" encoding="utf-8"?><Relationships xmlns="http://schemas.openxmlformats.org/package/2006/relationships"><Relationship Type="http://schemas.openxmlformats.org/officeDocument/2006/relationships/slideLayout" Target="/ppt/slideLayouts/slideLayout18.xml" Id="R647c82af306041e9" /><Relationship Type="http://schemas.openxmlformats.org/officeDocument/2006/relationships/notesSlide" Target="/ppt/notesSlides/notesSlide168.xml" Id="Raf93f3aca4ae412e" /></Relationships>
</file>

<file path=ppt/slides/_rels/slide169.xml.rels>&#65279;<?xml version="1.0" encoding="utf-8"?><Relationships xmlns="http://schemas.openxmlformats.org/package/2006/relationships"><Relationship Type="http://schemas.openxmlformats.org/officeDocument/2006/relationships/slideLayout" Target="/ppt/slideLayouts/slideLayout18.xml" Id="Rb3fad2179a134e93" /><Relationship Type="http://schemas.openxmlformats.org/officeDocument/2006/relationships/notesSlide" Target="/ppt/notesSlides/notesSlide169.xml" Id="R790d9f68f7cb40ae" /></Relationships>
</file>

<file path=ppt/slides/_rels/slide170.xml.rels>&#65279;<?xml version="1.0" encoding="utf-8"?><Relationships xmlns="http://schemas.openxmlformats.org/package/2006/relationships"><Relationship Type="http://schemas.openxmlformats.org/officeDocument/2006/relationships/slideLayout" Target="/ppt/slideLayouts/slideLayout18.xml" Id="Re61be45f019d45da" /><Relationship Type="http://schemas.openxmlformats.org/officeDocument/2006/relationships/chart" Target="/ppt/slides/charts/chart22.xml" Id="R5a6c2655ccd74207" /><Relationship Type="http://schemas.openxmlformats.org/officeDocument/2006/relationships/notesSlide" Target="/ppt/notesSlides/notesSlide170.xml" Id="R2d7808b969944119" /></Relationships>
</file>

<file path=ppt/slides/_rels/slide171.xml.rels>&#65279;<?xml version="1.0" encoding="utf-8"?><Relationships xmlns="http://schemas.openxmlformats.org/package/2006/relationships"><Relationship Type="http://schemas.openxmlformats.org/officeDocument/2006/relationships/slideLayout" Target="/ppt/slideLayouts/slideLayout18.xml" Id="Rb533c1bbb4e64ba6" /><Relationship Type="http://schemas.openxmlformats.org/officeDocument/2006/relationships/notesSlide" Target="/ppt/notesSlides/notesSlide171.xml" Id="Rd1eeb6410ddc4133" /></Relationships>
</file>

<file path=ppt/slides/_rels/slide172.xml.rels>&#65279;<?xml version="1.0" encoding="utf-8"?><Relationships xmlns="http://schemas.openxmlformats.org/package/2006/relationships"><Relationship Type="http://schemas.openxmlformats.org/officeDocument/2006/relationships/slideLayout" Target="/ppt/slideLayouts/slideLayout18.xml" Id="Rb543ed9593844792" /><Relationship Type="http://schemas.openxmlformats.org/officeDocument/2006/relationships/notesSlide" Target="/ppt/notesSlides/notesSlide172.xml" Id="R60b396bae00e4021" /></Relationships>
</file>

<file path=ppt/slides/_rels/slide173.xml.rels>&#65279;<?xml version="1.0" encoding="utf-8"?><Relationships xmlns="http://schemas.openxmlformats.org/package/2006/relationships"><Relationship Type="http://schemas.openxmlformats.org/officeDocument/2006/relationships/slideLayout" Target="/ppt/slideLayouts/slideLayout18.xml" Id="R3d6a590cb1b741bd" /><Relationship Type="http://schemas.openxmlformats.org/officeDocument/2006/relationships/notesSlide" Target="/ppt/notesSlides/notesSlide173.xml" Id="Raeabb762b0b4465c" /></Relationships>
</file>

<file path=ppt/slides/_rels/slide174.xml.rels>&#65279;<?xml version="1.0" encoding="utf-8"?><Relationships xmlns="http://schemas.openxmlformats.org/package/2006/relationships"><Relationship Type="http://schemas.openxmlformats.org/officeDocument/2006/relationships/slideLayout" Target="/ppt/slideLayouts/slideLayout18.xml" Id="Re922ab2526104b42" /><Relationship Type="http://schemas.openxmlformats.org/officeDocument/2006/relationships/notesSlide" Target="/ppt/notesSlides/notesSlide174.xml" Id="Ra5a72e72fb544607" /></Relationships>
</file>

<file path=ppt/slides/_rels/slide175.xml.rels>&#65279;<?xml version="1.0" encoding="utf-8"?><Relationships xmlns="http://schemas.openxmlformats.org/package/2006/relationships"><Relationship Type="http://schemas.openxmlformats.org/officeDocument/2006/relationships/slideLayout" Target="/ppt/slideLayouts/slideLayout19.xml" Id="Rc6a80fbfb86b4f79" /><Relationship Type="http://schemas.openxmlformats.org/officeDocument/2006/relationships/notesSlide" Target="/ppt/notesSlides/notesSlide175.xml" Id="R6fb85eec526e4df2" /></Relationships>
</file>

<file path=ppt/slides/_rels/slide176.xml.rels>&#65279;<?xml version="1.0" encoding="utf-8"?><Relationships xmlns="http://schemas.openxmlformats.org/package/2006/relationships"><Relationship Type="http://schemas.openxmlformats.org/officeDocument/2006/relationships/slideLayout" Target="/ppt/slideLayouts/slideLayout19.xml" Id="R2609cf191950401f" /><Relationship Type="http://schemas.openxmlformats.org/officeDocument/2006/relationships/notesSlide" Target="/ppt/notesSlides/notesSlide176.xml" Id="Ra3bbcae787644aa5" /></Relationships>
</file>

<file path=ppt/slides/_rels/slide177.xml.rels>&#65279;<?xml version="1.0" encoding="utf-8"?><Relationships xmlns="http://schemas.openxmlformats.org/package/2006/relationships"><Relationship Type="http://schemas.openxmlformats.org/officeDocument/2006/relationships/slideLayout" Target="/ppt/slideLayouts/slideLayout19.xml" Id="R7829e1a5f8834397" /><Relationship Type="http://schemas.openxmlformats.org/officeDocument/2006/relationships/notesSlide" Target="/ppt/notesSlides/notesSlide177.xml" Id="Rb0be33005fe9483e" /></Relationships>
</file>

<file path=ppt/slides/_rels/slide178.xml.rels>&#65279;<?xml version="1.0" encoding="utf-8"?><Relationships xmlns="http://schemas.openxmlformats.org/package/2006/relationships"><Relationship Type="http://schemas.openxmlformats.org/officeDocument/2006/relationships/slideLayout" Target="/ppt/slideLayouts/slideLayout19.xml" Id="Ra641f63d41be4596" /><Relationship Type="http://schemas.openxmlformats.org/officeDocument/2006/relationships/notesSlide" Target="/ppt/notesSlides/notesSlide178.xml" Id="R78be9d77d6c64d76" /></Relationships>
</file>

<file path=ppt/slides/_rels/slide179.xml.rels>&#65279;<?xml version="1.0" encoding="utf-8"?><Relationships xmlns="http://schemas.openxmlformats.org/package/2006/relationships"><Relationship Type="http://schemas.openxmlformats.org/officeDocument/2006/relationships/slideLayout" Target="/ppt/slideLayouts/slideLayout19.xml" Id="Ree75ea44f9e94cf2" /><Relationship Type="http://schemas.openxmlformats.org/officeDocument/2006/relationships/chart" Target="/ppt/slides/charts/chart23.xml" Id="R36d6cd0c405c42a2" /><Relationship Type="http://schemas.openxmlformats.org/officeDocument/2006/relationships/notesSlide" Target="/ppt/notesSlides/notesSlide179.xml" Id="Reafaa318edf24e7e" /></Relationships>
</file>

<file path=ppt/slides/_rels/slide180.xml.rels>&#65279;<?xml version="1.0" encoding="utf-8"?><Relationships xmlns="http://schemas.openxmlformats.org/package/2006/relationships"><Relationship Type="http://schemas.openxmlformats.org/officeDocument/2006/relationships/slideLayout" Target="/ppt/slideLayouts/slideLayout19.xml" Id="R1ad3d2598d794ed9" /><Relationship Type="http://schemas.openxmlformats.org/officeDocument/2006/relationships/notesSlide" Target="/ppt/notesSlides/notesSlide180.xml" Id="Rfa5c357b98ae46c2" /></Relationships>
</file>

<file path=ppt/slides/_rels/slide181.xml.rels>&#65279;<?xml version="1.0" encoding="utf-8"?><Relationships xmlns="http://schemas.openxmlformats.org/package/2006/relationships"><Relationship Type="http://schemas.openxmlformats.org/officeDocument/2006/relationships/slideLayout" Target="/ppt/slideLayouts/slideLayout19.xml" Id="R03addb9714fe4873" /><Relationship Type="http://schemas.openxmlformats.org/officeDocument/2006/relationships/notesSlide" Target="/ppt/notesSlides/notesSlide181.xml" Id="Rfc4b8f01efd2472e" /></Relationships>
</file>

<file path=ppt/slides/_rels/slide182.xml.rels>&#65279;<?xml version="1.0" encoding="utf-8"?><Relationships xmlns="http://schemas.openxmlformats.org/package/2006/relationships"><Relationship Type="http://schemas.openxmlformats.org/officeDocument/2006/relationships/slideLayout" Target="/ppt/slideLayouts/slideLayout19.xml" Id="Rbdb1223321094ba7" /><Relationship Type="http://schemas.openxmlformats.org/officeDocument/2006/relationships/notesSlide" Target="/ppt/notesSlides/notesSlide182.xml" Id="R19d04b06225d43bb" /></Relationships>
</file>

<file path=ppt/slides/_rels/slide183.xml.rels>&#65279;<?xml version="1.0" encoding="utf-8"?><Relationships xmlns="http://schemas.openxmlformats.org/package/2006/relationships"><Relationship Type="http://schemas.openxmlformats.org/officeDocument/2006/relationships/slideLayout" Target="/ppt/slideLayouts/slideLayout19.xml" Id="R576d2f3273134d42" /><Relationship Type="http://schemas.openxmlformats.org/officeDocument/2006/relationships/notesSlide" Target="/ppt/notesSlides/notesSlide183.xml" Id="Rfc8b0791089d44a4" /></Relationships>
</file>

<file path=ppt/slides/_rels/slide184.xml.rels>&#65279;<?xml version="1.0" encoding="utf-8"?><Relationships xmlns="http://schemas.openxmlformats.org/package/2006/relationships"><Relationship Type="http://schemas.openxmlformats.org/officeDocument/2006/relationships/slideLayout" Target="/ppt/slideLayouts/slideLayout20.xml" Id="Reece824ea7d3435f" /><Relationship Type="http://schemas.openxmlformats.org/officeDocument/2006/relationships/notesSlide" Target="/ppt/notesSlides/notesSlide184.xml" Id="R72f3999126364afc" /></Relationships>
</file>

<file path=ppt/slides/_rels/slide185.xml.rels>&#65279;<?xml version="1.0" encoding="utf-8"?><Relationships xmlns="http://schemas.openxmlformats.org/package/2006/relationships"><Relationship Type="http://schemas.openxmlformats.org/officeDocument/2006/relationships/slideLayout" Target="/ppt/slideLayouts/slideLayout20.xml" Id="R7e076cad81724e43" /><Relationship Type="http://schemas.openxmlformats.org/officeDocument/2006/relationships/notesSlide" Target="/ppt/notesSlides/notesSlide185.xml" Id="Re9e0029749074c47" /></Relationships>
</file>

<file path=ppt/slides/_rels/slide186.xml.rels>&#65279;<?xml version="1.0" encoding="utf-8"?><Relationships xmlns="http://schemas.openxmlformats.org/package/2006/relationships"><Relationship Type="http://schemas.openxmlformats.org/officeDocument/2006/relationships/slideLayout" Target="/ppt/slideLayouts/slideLayout20.xml" Id="R4e4fc3dbf67a4f9d" /><Relationship Type="http://schemas.openxmlformats.org/officeDocument/2006/relationships/notesSlide" Target="/ppt/notesSlides/notesSlide186.xml" Id="Rebf6e116f02344aa" /></Relationships>
</file>

<file path=ppt/slides/_rels/slide187.xml.rels>&#65279;<?xml version="1.0" encoding="utf-8"?><Relationships xmlns="http://schemas.openxmlformats.org/package/2006/relationships"><Relationship Type="http://schemas.openxmlformats.org/officeDocument/2006/relationships/slideLayout" Target="/ppt/slideLayouts/slideLayout20.xml" Id="Rd9817729cc4b489d" /><Relationship Type="http://schemas.openxmlformats.org/officeDocument/2006/relationships/notesSlide" Target="/ppt/notesSlides/notesSlide187.xml" Id="R66c4bc2b068a4247" /></Relationships>
</file>

<file path=ppt/slides/_rels/slide188.xml.rels>&#65279;<?xml version="1.0" encoding="utf-8"?><Relationships xmlns="http://schemas.openxmlformats.org/package/2006/relationships"><Relationship Type="http://schemas.openxmlformats.org/officeDocument/2006/relationships/slideLayout" Target="/ppt/slideLayouts/slideLayout20.xml" Id="R7e7efd63b2304d1b" /><Relationship Type="http://schemas.openxmlformats.org/officeDocument/2006/relationships/notesSlide" Target="/ppt/notesSlides/notesSlide188.xml" Id="R0b44fedef33b486d" /></Relationships>
</file>

<file path=ppt/slides/_rels/slide189.xml.rels>&#65279;<?xml version="1.0" encoding="utf-8"?><Relationships xmlns="http://schemas.openxmlformats.org/package/2006/relationships"><Relationship Type="http://schemas.openxmlformats.org/officeDocument/2006/relationships/slideLayout" Target="/ppt/slideLayouts/slideLayout20.xml" Id="R5977175b7d5f4456" /><Relationship Type="http://schemas.openxmlformats.org/officeDocument/2006/relationships/chart" Target="/ppt/slides/charts/chart24.xml" Id="R4c208ec98d70460a" /><Relationship Type="http://schemas.openxmlformats.org/officeDocument/2006/relationships/notesSlide" Target="/ppt/notesSlides/notesSlide189.xml" Id="R678e4259a480424a" /></Relationships>
</file>

<file path=ppt/slides/_rels/slide190.xml.rels>&#65279;<?xml version="1.0" encoding="utf-8"?><Relationships xmlns="http://schemas.openxmlformats.org/package/2006/relationships"><Relationship Type="http://schemas.openxmlformats.org/officeDocument/2006/relationships/slideLayout" Target="/ppt/slideLayouts/slideLayout20.xml" Id="R073bf1e399134eb5" /><Relationship Type="http://schemas.openxmlformats.org/officeDocument/2006/relationships/notesSlide" Target="/ppt/notesSlides/notesSlide190.xml" Id="R50dd2fffe47f4757" /></Relationships>
</file>

<file path=ppt/slides/_rels/slide191.xml.rels>&#65279;<?xml version="1.0" encoding="utf-8"?><Relationships xmlns="http://schemas.openxmlformats.org/package/2006/relationships"><Relationship Type="http://schemas.openxmlformats.org/officeDocument/2006/relationships/slideLayout" Target="/ppt/slideLayouts/slideLayout20.xml" Id="R8c160ec294a64a58" /><Relationship Type="http://schemas.openxmlformats.org/officeDocument/2006/relationships/notesSlide" Target="/ppt/notesSlides/notesSlide191.xml" Id="R036e007b03a84e86" /></Relationships>
</file>

<file path=ppt/slides/_rels/slide192.xml.rels>&#65279;<?xml version="1.0" encoding="utf-8"?><Relationships xmlns="http://schemas.openxmlformats.org/package/2006/relationships"><Relationship Type="http://schemas.openxmlformats.org/officeDocument/2006/relationships/slideLayout" Target="/ppt/slideLayouts/slideLayout21.xml" Id="R5d579749dcfe48cf" /><Relationship Type="http://schemas.openxmlformats.org/officeDocument/2006/relationships/notesSlide" Target="/ppt/notesSlides/notesSlide192.xml" Id="Ra1d5cf22fc434482" /></Relationships>
</file>

<file path=ppt/slides/_rels/slide193.xml.rels>&#65279;<?xml version="1.0" encoding="utf-8"?><Relationships xmlns="http://schemas.openxmlformats.org/package/2006/relationships"><Relationship Type="http://schemas.openxmlformats.org/officeDocument/2006/relationships/slideLayout" Target="/ppt/slideLayouts/slideLayout21.xml" Id="R5eaecff925da4202" /><Relationship Type="http://schemas.openxmlformats.org/officeDocument/2006/relationships/notesSlide" Target="/ppt/notesSlides/notesSlide193.xml" Id="R7ec73c5ecb984a45" /></Relationships>
</file>

<file path=ppt/slides/_rels/slide194.xml.rels>&#65279;<?xml version="1.0" encoding="utf-8"?><Relationships xmlns="http://schemas.openxmlformats.org/package/2006/relationships"><Relationship Type="http://schemas.openxmlformats.org/officeDocument/2006/relationships/slideLayout" Target="/ppt/slideLayouts/slideLayout21.xml" Id="R880aaa71f75b47a3" /><Relationship Type="http://schemas.openxmlformats.org/officeDocument/2006/relationships/notesSlide" Target="/ppt/notesSlides/notesSlide194.xml" Id="Rc488a2c58805447c" /></Relationships>
</file>

<file path=ppt/slides/_rels/slide195.xml.rels>&#65279;<?xml version="1.0" encoding="utf-8"?><Relationships xmlns="http://schemas.openxmlformats.org/package/2006/relationships"><Relationship Type="http://schemas.openxmlformats.org/officeDocument/2006/relationships/slideLayout" Target="/ppt/slideLayouts/slideLayout21.xml" Id="Rd396758b7aeb4ac0" /><Relationship Type="http://schemas.openxmlformats.org/officeDocument/2006/relationships/notesSlide" Target="/ppt/notesSlides/notesSlide195.xml" Id="R6e4835e7b70349f0" /></Relationships>
</file>

<file path=ppt/slides/_rels/slide196.xml.rels>&#65279;<?xml version="1.0" encoding="utf-8"?><Relationships xmlns="http://schemas.openxmlformats.org/package/2006/relationships"><Relationship Type="http://schemas.openxmlformats.org/officeDocument/2006/relationships/slideLayout" Target="/ppt/slideLayouts/slideLayout21.xml" Id="R2bafbcacac164778" /><Relationship Type="http://schemas.openxmlformats.org/officeDocument/2006/relationships/chart" Target="/ppt/slides/charts/chart25.xml" Id="R0ca312e6d33842ec" /><Relationship Type="http://schemas.openxmlformats.org/officeDocument/2006/relationships/notesSlide" Target="/ppt/notesSlides/notesSlide196.xml" Id="Rb3351c6a7e644496" /></Relationships>
</file>

<file path=ppt/slides/_rels/slide197.xml.rels>&#65279;<?xml version="1.0" encoding="utf-8"?><Relationships xmlns="http://schemas.openxmlformats.org/package/2006/relationships"><Relationship Type="http://schemas.openxmlformats.org/officeDocument/2006/relationships/slideLayout" Target="/ppt/slideLayouts/slideLayout21.xml" Id="Rc992301052ab4e9e" /><Relationship Type="http://schemas.openxmlformats.org/officeDocument/2006/relationships/notesSlide" Target="/ppt/notesSlides/notesSlide197.xml" Id="R08b648a9fdd341be" /></Relationships>
</file>

<file path=ppt/slides/_rels/slide198.xml.rels>&#65279;<?xml version="1.0" encoding="utf-8"?><Relationships xmlns="http://schemas.openxmlformats.org/package/2006/relationships"><Relationship Type="http://schemas.openxmlformats.org/officeDocument/2006/relationships/slideLayout" Target="/ppt/slideLayouts/slideLayout21.xml" Id="R41fa3a8663724588" /><Relationship Type="http://schemas.openxmlformats.org/officeDocument/2006/relationships/notesSlide" Target="/ppt/notesSlides/notesSlide198.xml" Id="Rec46c56aa03142d9" /></Relationships>
</file>

<file path=ppt/slides/_rels/slide199.xml.rels>&#65279;<?xml version="1.0" encoding="utf-8"?><Relationships xmlns="http://schemas.openxmlformats.org/package/2006/relationships"><Relationship Type="http://schemas.openxmlformats.org/officeDocument/2006/relationships/slideLayout" Target="/ppt/slideLayouts/slideLayout21.xml" Id="Rbe805b6c39574b56" /><Relationship Type="http://schemas.openxmlformats.org/officeDocument/2006/relationships/notesSlide" Target="/ppt/notesSlides/notesSlide199.xml" Id="R5c65066cd317413d" /></Relationships>
</file>

<file path=ppt/slides/_rels/slide200.xml.rels>&#65279;<?xml version="1.0" encoding="utf-8"?><Relationships xmlns="http://schemas.openxmlformats.org/package/2006/relationships"><Relationship Type="http://schemas.openxmlformats.org/officeDocument/2006/relationships/slideLayout" Target="/ppt/slideLayouts/slideLayout21.xml" Id="R32e0fdfd275d4e35" /><Relationship Type="http://schemas.openxmlformats.org/officeDocument/2006/relationships/notesSlide" Target="/ppt/notesSlides/notesSlide200.xml" Id="Rc7573d487160420a" /></Relationships>
</file>

<file path=ppt/slides/_rels/slide201.xml.rels>&#65279;<?xml version="1.0" encoding="utf-8"?><Relationships xmlns="http://schemas.openxmlformats.org/package/2006/relationships"><Relationship Type="http://schemas.openxmlformats.org/officeDocument/2006/relationships/slideLayout" Target="/ppt/slideLayouts/slideLayout22.xml" Id="Rf4784f3dd1ab4e43" /><Relationship Type="http://schemas.openxmlformats.org/officeDocument/2006/relationships/notesSlide" Target="/ppt/notesSlides/notesSlide201.xml" Id="R55025b64c50543bc" /></Relationships>
</file>

<file path=ppt/slides/_rels/slide202.xml.rels>&#65279;<?xml version="1.0" encoding="utf-8"?><Relationships xmlns="http://schemas.openxmlformats.org/package/2006/relationships"><Relationship Type="http://schemas.openxmlformats.org/officeDocument/2006/relationships/slideLayout" Target="/ppt/slideLayouts/slideLayout22.xml" Id="R44b914573b644bcf" /><Relationship Type="http://schemas.openxmlformats.org/officeDocument/2006/relationships/notesSlide" Target="/ppt/notesSlides/notesSlide202.xml" Id="Rde4fbd054cd54908" /></Relationships>
</file>

<file path=ppt/slides/_rels/slide203.xml.rels>&#65279;<?xml version="1.0" encoding="utf-8"?><Relationships xmlns="http://schemas.openxmlformats.org/package/2006/relationships"><Relationship Type="http://schemas.openxmlformats.org/officeDocument/2006/relationships/slideLayout" Target="/ppt/slideLayouts/slideLayout22.xml" Id="R131d062095de4cbc" /><Relationship Type="http://schemas.openxmlformats.org/officeDocument/2006/relationships/notesSlide" Target="/ppt/notesSlides/notesSlide203.xml" Id="Rf83574d05f314d98" /></Relationships>
</file>

<file path=ppt/slides/_rels/slide204.xml.rels>&#65279;<?xml version="1.0" encoding="utf-8"?><Relationships xmlns="http://schemas.openxmlformats.org/package/2006/relationships"><Relationship Type="http://schemas.openxmlformats.org/officeDocument/2006/relationships/slideLayout" Target="/ppt/slideLayouts/slideLayout22.xml" Id="R30ca0b751bd44db8" /><Relationship Type="http://schemas.openxmlformats.org/officeDocument/2006/relationships/notesSlide" Target="/ppt/notesSlides/notesSlide204.xml" Id="Reae5b31bcfcd4a8d" /></Relationships>
</file>

<file path=ppt/slides/_rels/slide205.xml.rels>&#65279;<?xml version="1.0" encoding="utf-8"?><Relationships xmlns="http://schemas.openxmlformats.org/package/2006/relationships"><Relationship Type="http://schemas.openxmlformats.org/officeDocument/2006/relationships/slideLayout" Target="/ppt/slideLayouts/slideLayout22.xml" Id="Rb5ccb5643a674005" /><Relationship Type="http://schemas.openxmlformats.org/officeDocument/2006/relationships/chart" Target="/ppt/slides/charts/chart26.xml" Id="R5dd3643769984bfe" /><Relationship Type="http://schemas.openxmlformats.org/officeDocument/2006/relationships/notesSlide" Target="/ppt/notesSlides/notesSlide205.xml" Id="R76bef176402f4b22" /></Relationships>
</file>

<file path=ppt/slides/_rels/slide206.xml.rels>&#65279;<?xml version="1.0" encoding="utf-8"?><Relationships xmlns="http://schemas.openxmlformats.org/package/2006/relationships"><Relationship Type="http://schemas.openxmlformats.org/officeDocument/2006/relationships/slideLayout" Target="/ppt/slideLayouts/slideLayout22.xml" Id="Rf34ddf531f7b4a75" /><Relationship Type="http://schemas.openxmlformats.org/officeDocument/2006/relationships/notesSlide" Target="/ppt/notesSlides/notesSlide206.xml" Id="Rd7aadcae544d48f1" /></Relationships>
</file>

<file path=ppt/slides/_rels/slide207.xml.rels>&#65279;<?xml version="1.0" encoding="utf-8"?><Relationships xmlns="http://schemas.openxmlformats.org/package/2006/relationships"><Relationship Type="http://schemas.openxmlformats.org/officeDocument/2006/relationships/slideLayout" Target="/ppt/slideLayouts/slideLayout22.xml" Id="R1323c3efb0c44211" /><Relationship Type="http://schemas.openxmlformats.org/officeDocument/2006/relationships/notesSlide" Target="/ppt/notesSlides/notesSlide207.xml" Id="R72860cb173414f84" /></Relationships>
</file>

<file path=ppt/slides/_rels/slide208.xml.rels>&#65279;<?xml version="1.0" encoding="utf-8"?><Relationships xmlns="http://schemas.openxmlformats.org/package/2006/relationships"><Relationship Type="http://schemas.openxmlformats.org/officeDocument/2006/relationships/slideLayout" Target="/ppt/slideLayouts/slideLayout22.xml" Id="Rfa4588c9f9614580" /><Relationship Type="http://schemas.openxmlformats.org/officeDocument/2006/relationships/notesSlide" Target="/ppt/notesSlides/notesSlide208.xml" Id="R537980b315b54bb1" /></Relationships>
</file>

<file path=ppt/slides/_rels/slide209.xml.rels>&#65279;<?xml version="1.0" encoding="utf-8"?><Relationships xmlns="http://schemas.openxmlformats.org/package/2006/relationships"><Relationship Type="http://schemas.openxmlformats.org/officeDocument/2006/relationships/slideLayout" Target="/ppt/slideLayouts/slideLayout23.xml" Id="Rd9ae725b49de4f28" /><Relationship Type="http://schemas.openxmlformats.org/officeDocument/2006/relationships/notesSlide" Target="/ppt/notesSlides/notesSlide209.xml" Id="R671ce6f47c1242c8" /></Relationships>
</file>

<file path=ppt/slides/_rels/slide210.xml.rels>&#65279;<?xml version="1.0" encoding="utf-8"?><Relationships xmlns="http://schemas.openxmlformats.org/package/2006/relationships"><Relationship Type="http://schemas.openxmlformats.org/officeDocument/2006/relationships/slideLayout" Target="/ppt/slideLayouts/slideLayout23.xml" Id="R711f063fb05740d7" /><Relationship Type="http://schemas.openxmlformats.org/officeDocument/2006/relationships/notesSlide" Target="/ppt/notesSlides/notesSlide210.xml" Id="Ra8371d457a224a0a" /></Relationships>
</file>

<file path=ppt/slides/_rels/slide211.xml.rels>&#65279;<?xml version="1.0" encoding="utf-8"?><Relationships xmlns="http://schemas.openxmlformats.org/package/2006/relationships"><Relationship Type="http://schemas.openxmlformats.org/officeDocument/2006/relationships/slideLayout" Target="/ppt/slideLayouts/slideLayout23.xml" Id="R3e69110954744c59" /><Relationship Type="http://schemas.openxmlformats.org/officeDocument/2006/relationships/notesSlide" Target="/ppt/notesSlides/notesSlide211.xml" Id="Re28cd4e278624f63" /></Relationships>
</file>

<file path=ppt/slides/_rels/slide212.xml.rels>&#65279;<?xml version="1.0" encoding="utf-8"?><Relationships xmlns="http://schemas.openxmlformats.org/package/2006/relationships"><Relationship Type="http://schemas.openxmlformats.org/officeDocument/2006/relationships/slideLayout" Target="/ppt/slideLayouts/slideLayout23.xml" Id="Rd3bf77ad3fb4418c" /><Relationship Type="http://schemas.openxmlformats.org/officeDocument/2006/relationships/notesSlide" Target="/ppt/notesSlides/notesSlide212.xml" Id="R372f8dae88e44ddc" /></Relationships>
</file>

<file path=ppt/slides/_rels/slide213.xml.rels>&#65279;<?xml version="1.0" encoding="utf-8"?><Relationships xmlns="http://schemas.openxmlformats.org/package/2006/relationships"><Relationship Type="http://schemas.openxmlformats.org/officeDocument/2006/relationships/slideLayout" Target="/ppt/slideLayouts/slideLayout23.xml" Id="R0e57d315bf8a4de5" /><Relationship Type="http://schemas.openxmlformats.org/officeDocument/2006/relationships/notesSlide" Target="/ppt/notesSlides/notesSlide213.xml" Id="Re1ce05eb9cc44c1d" /></Relationships>
</file>

<file path=ppt/slides/_rels/slide214.xml.rels>&#65279;<?xml version="1.0" encoding="utf-8"?><Relationships xmlns="http://schemas.openxmlformats.org/package/2006/relationships"><Relationship Type="http://schemas.openxmlformats.org/officeDocument/2006/relationships/slideLayout" Target="/ppt/slideLayouts/slideLayout23.xml" Id="Rb5f4ae23543847ce" /><Relationship Type="http://schemas.openxmlformats.org/officeDocument/2006/relationships/notesSlide" Target="/ppt/notesSlides/notesSlide214.xml" Id="R0c53aacf9dc04c38" /></Relationships>
</file>

<file path=ppt/slides/_rels/slide215.xml.rels>&#65279;<?xml version="1.0" encoding="utf-8"?><Relationships xmlns="http://schemas.openxmlformats.org/package/2006/relationships"><Relationship Type="http://schemas.openxmlformats.org/officeDocument/2006/relationships/slideLayout" Target="/ppt/slideLayouts/slideLayout23.xml" Id="Re1abc0185df9424b" /><Relationship Type="http://schemas.openxmlformats.org/officeDocument/2006/relationships/notesSlide" Target="/ppt/notesSlides/notesSlide215.xml" Id="R80f24e3501614cff" /></Relationships>
</file>

<file path=ppt/slides/_rels/slide216.xml.rels>&#65279;<?xml version="1.0" encoding="utf-8"?><Relationships xmlns="http://schemas.openxmlformats.org/package/2006/relationships"><Relationship Type="http://schemas.openxmlformats.org/officeDocument/2006/relationships/slideLayout" Target="/ppt/slideLayouts/slideLayout23.xml" Id="R2689e808968c4d74" /><Relationship Type="http://schemas.openxmlformats.org/officeDocument/2006/relationships/notesSlide" Target="/ppt/notesSlides/notesSlide216.xml" Id="R03bfec5627c44321" /></Relationships>
</file>

<file path=ppt/slides/_rels/slide217.xml.rels>&#65279;<?xml version="1.0" encoding="utf-8"?><Relationships xmlns="http://schemas.openxmlformats.org/package/2006/relationships"><Relationship Type="http://schemas.openxmlformats.org/officeDocument/2006/relationships/slideLayout" Target="/ppt/slideLayouts/slideLayout24.xml" Id="R30bd106ce20543df" /><Relationship Type="http://schemas.openxmlformats.org/officeDocument/2006/relationships/notesSlide" Target="/ppt/notesSlides/notesSlide217.xml" Id="R28966f6e7e1e4a94" /></Relationships>
</file>

<file path=ppt/slides/_rels/slide218.xml.rels>&#65279;<?xml version="1.0" encoding="utf-8"?><Relationships xmlns="http://schemas.openxmlformats.org/package/2006/relationships"><Relationship Type="http://schemas.openxmlformats.org/officeDocument/2006/relationships/slideLayout" Target="/ppt/slideLayouts/slideLayout24.xml" Id="R038c91b600aa4ebc" /><Relationship Type="http://schemas.openxmlformats.org/officeDocument/2006/relationships/notesSlide" Target="/ppt/notesSlides/notesSlide218.xml" Id="R8add623e3be04353" /></Relationships>
</file>

<file path=ppt/slides/_rels/slide219.xml.rels>&#65279;<?xml version="1.0" encoding="utf-8"?><Relationships xmlns="http://schemas.openxmlformats.org/package/2006/relationships"><Relationship Type="http://schemas.openxmlformats.org/officeDocument/2006/relationships/slideLayout" Target="/ppt/slideLayouts/slideLayout24.xml" Id="Rb46f9f0f742d4b79" /><Relationship Type="http://schemas.openxmlformats.org/officeDocument/2006/relationships/notesSlide" Target="/ppt/notesSlides/notesSlide219.xml" Id="R1eb9aa730b9a40c4" /></Relationships>
</file>

<file path=ppt/slides/_rels/slide220.xml.rels>&#65279;<?xml version="1.0" encoding="utf-8"?><Relationships xmlns="http://schemas.openxmlformats.org/package/2006/relationships"><Relationship Type="http://schemas.openxmlformats.org/officeDocument/2006/relationships/slideLayout" Target="/ppt/slideLayouts/slideLayout24.xml" Id="Rf0c47f9eb14d4bd6" /><Relationship Type="http://schemas.openxmlformats.org/officeDocument/2006/relationships/chart" Target="/ppt/slides/charts/chart27.xml" Id="Rdd1c697c84f343d3" /><Relationship Type="http://schemas.openxmlformats.org/officeDocument/2006/relationships/chart" Target="/ppt/slides/charts/chart28.xml" Id="R9d8a48892d8f4d88" /><Relationship Type="http://schemas.openxmlformats.org/officeDocument/2006/relationships/notesSlide" Target="/ppt/notesSlides/notesSlide220.xml" Id="Re2727c4067114e10" /></Relationships>
</file>

<file path=ppt/slides/_rels/slide221.xml.rels>&#65279;<?xml version="1.0" encoding="utf-8"?><Relationships xmlns="http://schemas.openxmlformats.org/package/2006/relationships"><Relationship Type="http://schemas.openxmlformats.org/officeDocument/2006/relationships/slideLayout" Target="/ppt/slideLayouts/slideLayout24.xml" Id="R8df57fe55f784129" /><Relationship Type="http://schemas.openxmlformats.org/officeDocument/2006/relationships/notesSlide" Target="/ppt/notesSlides/notesSlide221.xml" Id="R71de72d04e7c4f7e" /></Relationships>
</file>

<file path=ppt/slides/_rels/slide222.xml.rels>&#65279;<?xml version="1.0" encoding="utf-8"?><Relationships xmlns="http://schemas.openxmlformats.org/package/2006/relationships"><Relationship Type="http://schemas.openxmlformats.org/officeDocument/2006/relationships/slideLayout" Target="/ppt/slideLayouts/slideLayout24.xml" Id="Rcf2c08641d62462d" /><Relationship Type="http://schemas.openxmlformats.org/officeDocument/2006/relationships/notesSlide" Target="/ppt/notesSlides/notesSlide222.xml" Id="R966970a7ffa8448b" /></Relationships>
</file>

<file path=ppt/slides/_rels/slide223.xml.rels>&#65279;<?xml version="1.0" encoding="utf-8"?><Relationships xmlns="http://schemas.openxmlformats.org/package/2006/relationships"><Relationship Type="http://schemas.openxmlformats.org/officeDocument/2006/relationships/slideLayout" Target="/ppt/slideLayouts/slideLayout24.xml" Id="Rf1c9983640674cc5" /><Relationship Type="http://schemas.openxmlformats.org/officeDocument/2006/relationships/chart" Target="/ppt/slides/charts/chart29.xml" Id="R2f841ddec12f4bbf" /><Relationship Type="http://schemas.openxmlformats.org/officeDocument/2006/relationships/notesSlide" Target="/ppt/notesSlides/notesSlide223.xml" Id="Rbf7b11d23b424205" /></Relationships>
</file>

<file path=ppt/slides/_rels/slide224.xml.rels>&#65279;<?xml version="1.0" encoding="utf-8"?><Relationships xmlns="http://schemas.openxmlformats.org/package/2006/relationships"><Relationship Type="http://schemas.openxmlformats.org/officeDocument/2006/relationships/slideLayout" Target="/ppt/slideLayouts/slideLayout24.xml" Id="R279abe95dc704f44" /><Relationship Type="http://schemas.openxmlformats.org/officeDocument/2006/relationships/notesSlide" Target="/ppt/notesSlides/notesSlide224.xml" Id="Refcfa3c474d746f3" /></Relationships>
</file>

<file path=ppt/slides/_rels/slide225.xml.rels>&#65279;<?xml version="1.0" encoding="utf-8"?><Relationships xmlns="http://schemas.openxmlformats.org/package/2006/relationships"><Relationship Type="http://schemas.openxmlformats.org/officeDocument/2006/relationships/slideLayout" Target="/ppt/slideLayouts/slideLayout24.xml" Id="Rbb59cd5c99bf42cd" /><Relationship Type="http://schemas.openxmlformats.org/officeDocument/2006/relationships/notesSlide" Target="/ppt/notesSlides/notesSlide225.xml" Id="Rd6fb968d2a2347b6" /></Relationships>
</file>

<file path=ppt/slides/_rels/slide226.xml.rels>&#65279;<?xml version="1.0" encoding="utf-8"?><Relationships xmlns="http://schemas.openxmlformats.org/package/2006/relationships"><Relationship Type="http://schemas.openxmlformats.org/officeDocument/2006/relationships/slideLayout" Target="/ppt/slideLayouts/slideLayout24.xml" Id="Racfceecbc5544580" /><Relationship Type="http://schemas.openxmlformats.org/officeDocument/2006/relationships/notesSlide" Target="/ppt/notesSlides/notesSlide226.xml" Id="Rf207aaa8b4534ab5" /></Relationships>
</file>

<file path=ppt/slides/_rels/slide227.xml.rels>&#65279;<?xml version="1.0" encoding="utf-8"?><Relationships xmlns="http://schemas.openxmlformats.org/package/2006/relationships"><Relationship Type="http://schemas.openxmlformats.org/officeDocument/2006/relationships/slideLayout" Target="/ppt/slideLayouts/slideLayout24.xml" Id="R134f4e1104c74d9a" /><Relationship Type="http://schemas.openxmlformats.org/officeDocument/2006/relationships/notesSlide" Target="/ppt/notesSlides/notesSlide227.xml" Id="Rd7cadd653eee4f98" /></Relationships>
</file>

<file path=ppt/slides/_rels/slide228.xml.rels>&#65279;<?xml version="1.0" encoding="utf-8"?><Relationships xmlns="http://schemas.openxmlformats.org/package/2006/relationships"><Relationship Type="http://schemas.openxmlformats.org/officeDocument/2006/relationships/slideLayout" Target="/ppt/slideLayouts/slideLayout25.xml" Id="Rce2f9a1871454f98" /><Relationship Type="http://schemas.openxmlformats.org/officeDocument/2006/relationships/notesSlide" Target="/ppt/notesSlides/notesSlide228.xml" Id="R2c82dd28b2ff4109" /></Relationships>
</file>

<file path=ppt/slides/_rels/slide229.xml.rels>&#65279;<?xml version="1.0" encoding="utf-8"?><Relationships xmlns="http://schemas.openxmlformats.org/package/2006/relationships"><Relationship Type="http://schemas.openxmlformats.org/officeDocument/2006/relationships/slideLayout" Target="/ppt/slideLayouts/slideLayout25.xml" Id="R52e02c52bcc044f5" /><Relationship Type="http://schemas.openxmlformats.org/officeDocument/2006/relationships/notesSlide" Target="/ppt/notesSlides/notesSlide229.xml" Id="Rd2c83a3776414e62" /></Relationships>
</file>

<file path=ppt/slides/_rels/slide230.xml.rels>&#65279;<?xml version="1.0" encoding="utf-8"?><Relationships xmlns="http://schemas.openxmlformats.org/package/2006/relationships"><Relationship Type="http://schemas.openxmlformats.org/officeDocument/2006/relationships/slideLayout" Target="/ppt/slideLayouts/slideLayout25.xml" Id="Rf3a3ff8594e04bde" /><Relationship Type="http://schemas.openxmlformats.org/officeDocument/2006/relationships/notesSlide" Target="/ppt/notesSlides/notesSlide230.xml" Id="Rc284037e73e24e7a" /></Relationships>
</file>

<file path=ppt/slides/_rels/slide231.xml.rels>&#65279;<?xml version="1.0" encoding="utf-8"?><Relationships xmlns="http://schemas.openxmlformats.org/package/2006/relationships"><Relationship Type="http://schemas.openxmlformats.org/officeDocument/2006/relationships/slideLayout" Target="/ppt/slideLayouts/slideLayout25.xml" Id="R15baccf91ae04a75" /><Relationship Type="http://schemas.openxmlformats.org/officeDocument/2006/relationships/notesSlide" Target="/ppt/notesSlides/notesSlide231.xml" Id="R7a2967aa9c114a98" /></Relationships>
</file>

<file path=ppt/slides/_rels/slide232.xml.rels>&#65279;<?xml version="1.0" encoding="utf-8"?><Relationships xmlns="http://schemas.openxmlformats.org/package/2006/relationships"><Relationship Type="http://schemas.openxmlformats.org/officeDocument/2006/relationships/slideLayout" Target="/ppt/slideLayouts/slideLayout25.xml" Id="R2d81526faaaf43c2" /><Relationship Type="http://schemas.openxmlformats.org/officeDocument/2006/relationships/notesSlide" Target="/ppt/notesSlides/notesSlide232.xml" Id="R63f45358a3a2404d" /></Relationships>
</file>

<file path=ppt/slides/_rels/slide233.xml.rels>&#65279;<?xml version="1.0" encoding="utf-8"?><Relationships xmlns="http://schemas.openxmlformats.org/package/2006/relationships"><Relationship Type="http://schemas.openxmlformats.org/officeDocument/2006/relationships/slideLayout" Target="/ppt/slideLayouts/slideLayout25.xml" Id="R746a3b15aa2c48fc" /><Relationship Type="http://schemas.openxmlformats.org/officeDocument/2006/relationships/notesSlide" Target="/ppt/notesSlides/notesSlide233.xml" Id="Re39435e5fa6b46da" /></Relationships>
</file>

<file path=ppt/slides/_rels/slide234.xml.rels>&#65279;<?xml version="1.0" encoding="utf-8"?><Relationships xmlns="http://schemas.openxmlformats.org/package/2006/relationships"><Relationship Type="http://schemas.openxmlformats.org/officeDocument/2006/relationships/slideLayout" Target="/ppt/slideLayouts/slideLayout25.xml" Id="R69ba26bfe9cb4bf8" /><Relationship Type="http://schemas.openxmlformats.org/officeDocument/2006/relationships/notesSlide" Target="/ppt/notesSlides/notesSlide234.xml" Id="R154cc3513505432c" /></Relationships>
</file>

<file path=ppt/slides/_rels/slide235.xml.rels>&#65279;<?xml version="1.0" encoding="utf-8"?><Relationships xmlns="http://schemas.openxmlformats.org/package/2006/relationships"><Relationship Type="http://schemas.openxmlformats.org/officeDocument/2006/relationships/slideLayout" Target="/ppt/slideLayouts/slideLayout25.xml" Id="R01d4f86f739d4d0e" /><Relationship Type="http://schemas.openxmlformats.org/officeDocument/2006/relationships/notesSlide" Target="/ppt/notesSlides/notesSlide235.xml" Id="R144fece6e6bf48c1" /></Relationships>
</file>

<file path=ppt/slides/_rels/slide236.xml.rels>&#65279;<?xml version="1.0" encoding="utf-8"?><Relationships xmlns="http://schemas.openxmlformats.org/package/2006/relationships"><Relationship Type="http://schemas.openxmlformats.org/officeDocument/2006/relationships/slideLayout" Target="/ppt/slideLayouts/slideLayout25.xml" Id="Rf699935705e947f9" /><Relationship Type="http://schemas.openxmlformats.org/officeDocument/2006/relationships/notesSlide" Target="/ppt/notesSlides/notesSlide236.xml" Id="R10336983b1da47af" /></Relationships>
</file>

<file path=ppt/slides/_rels/slide237.xml.rels>&#65279;<?xml version="1.0" encoding="utf-8"?><Relationships xmlns="http://schemas.openxmlformats.org/package/2006/relationships"><Relationship Type="http://schemas.openxmlformats.org/officeDocument/2006/relationships/slideLayout" Target="/ppt/slideLayouts/slideLayout26.xml" Id="R7f23ecdbc82e4853" /><Relationship Type="http://schemas.openxmlformats.org/officeDocument/2006/relationships/notesSlide" Target="/ppt/notesSlides/notesSlide237.xml" Id="R32631ba300f94694" /></Relationships>
</file>

<file path=ppt/slides/_rels/slide238.xml.rels>&#65279;<?xml version="1.0" encoding="utf-8"?><Relationships xmlns="http://schemas.openxmlformats.org/package/2006/relationships"><Relationship Type="http://schemas.openxmlformats.org/officeDocument/2006/relationships/slideLayout" Target="/ppt/slideLayouts/slideLayout26.xml" Id="Rd9b80d8465964a71" /><Relationship Type="http://schemas.openxmlformats.org/officeDocument/2006/relationships/notesSlide" Target="/ppt/notesSlides/notesSlide238.xml" Id="R25aa180415e54d94" /></Relationships>
</file>

<file path=ppt/slides/_rels/slide239.xml.rels>&#65279;<?xml version="1.0" encoding="utf-8"?><Relationships xmlns="http://schemas.openxmlformats.org/package/2006/relationships"><Relationship Type="http://schemas.openxmlformats.org/officeDocument/2006/relationships/slideLayout" Target="/ppt/slideLayouts/slideLayout26.xml" Id="R0223ce2f36f8435f" /><Relationship Type="http://schemas.openxmlformats.org/officeDocument/2006/relationships/notesSlide" Target="/ppt/notesSlides/notesSlide239.xml" Id="Ra202003ab3284f83" /></Relationships>
</file>

<file path=ppt/slides/_rels/slide240.xml.rels>&#65279;<?xml version="1.0" encoding="utf-8"?><Relationships xmlns="http://schemas.openxmlformats.org/package/2006/relationships"><Relationship Type="http://schemas.openxmlformats.org/officeDocument/2006/relationships/slideLayout" Target="/ppt/slideLayouts/slideLayout26.xml" Id="Raf392f49d6c649fd" /><Relationship Type="http://schemas.openxmlformats.org/officeDocument/2006/relationships/notesSlide" Target="/ppt/notesSlides/notesSlide240.xml" Id="R23275eaa03844fc0" /></Relationships>
</file>

<file path=ppt/slides/_rels/slide241.xml.rels>&#65279;<?xml version="1.0" encoding="utf-8"?><Relationships xmlns="http://schemas.openxmlformats.org/package/2006/relationships"><Relationship Type="http://schemas.openxmlformats.org/officeDocument/2006/relationships/slideLayout" Target="/ppt/slideLayouts/slideLayout26.xml" Id="Reed89a8c47ec4eb0" /><Relationship Type="http://schemas.openxmlformats.org/officeDocument/2006/relationships/notesSlide" Target="/ppt/notesSlides/notesSlide241.xml" Id="Rd690496b0710498a" /></Relationships>
</file>

<file path=ppt/slides/_rels/slide242.xml.rels>&#65279;<?xml version="1.0" encoding="utf-8"?><Relationships xmlns="http://schemas.openxmlformats.org/package/2006/relationships"><Relationship Type="http://schemas.openxmlformats.org/officeDocument/2006/relationships/slideLayout" Target="/ppt/slideLayouts/slideLayout26.xml" Id="Rbb5312a1a8d44f3b" /><Relationship Type="http://schemas.openxmlformats.org/officeDocument/2006/relationships/notesSlide" Target="/ppt/notesSlides/notesSlide242.xml" Id="R8389fa3c038e4e2b" /></Relationships>
</file>

<file path=ppt/slides/_rels/slide243.xml.rels>&#65279;<?xml version="1.0" encoding="utf-8"?><Relationships xmlns="http://schemas.openxmlformats.org/package/2006/relationships"><Relationship Type="http://schemas.openxmlformats.org/officeDocument/2006/relationships/slideLayout" Target="/ppt/slideLayouts/slideLayout26.xml" Id="R05b4d251d7e54cc1" /><Relationship Type="http://schemas.openxmlformats.org/officeDocument/2006/relationships/notesSlide" Target="/ppt/notesSlides/notesSlide243.xml" Id="Ra1f85016e9894bed" /></Relationships>
</file>

<file path=ppt/slides/_rels/slide244.xml.rels>&#65279;<?xml version="1.0" encoding="utf-8"?><Relationships xmlns="http://schemas.openxmlformats.org/package/2006/relationships"><Relationship Type="http://schemas.openxmlformats.org/officeDocument/2006/relationships/slideLayout" Target="/ppt/slideLayouts/slideLayout26.xml" Id="Rc0f7e0c4102a40b3" /><Relationship Type="http://schemas.openxmlformats.org/officeDocument/2006/relationships/notesSlide" Target="/ppt/notesSlides/notesSlide244.xml" Id="R2ed7b68f05f84d65" /></Relationships>
</file>

<file path=ppt/slides/_rels/slide245.xml.rels>&#65279;<?xml version="1.0" encoding="utf-8"?><Relationships xmlns="http://schemas.openxmlformats.org/package/2006/relationships"><Relationship Type="http://schemas.openxmlformats.org/officeDocument/2006/relationships/slideLayout" Target="/ppt/slideLayouts/slideLayout26.xml" Id="R13c7c0f9ba904509" /><Relationship Type="http://schemas.openxmlformats.org/officeDocument/2006/relationships/notesSlide" Target="/ppt/notesSlides/notesSlide245.xml" Id="Rbc6f7d581c9e46b3" /></Relationships>
</file>

<file path=ppt/slides/_rels/slide246.xml.rels>&#65279;<?xml version="1.0" encoding="utf-8"?><Relationships xmlns="http://schemas.openxmlformats.org/package/2006/relationships"><Relationship Type="http://schemas.openxmlformats.org/officeDocument/2006/relationships/slideLayout" Target="/ppt/slideLayouts/slideLayout27.xml" Id="Rd48d72a39aec4eb1" /><Relationship Type="http://schemas.openxmlformats.org/officeDocument/2006/relationships/notesSlide" Target="/ppt/notesSlides/notesSlide246.xml" Id="R61e3619d2c4e4c8d" /></Relationships>
</file>

<file path=ppt/slides/_rels/slide247.xml.rels>&#65279;<?xml version="1.0" encoding="utf-8"?><Relationships xmlns="http://schemas.openxmlformats.org/package/2006/relationships"><Relationship Type="http://schemas.openxmlformats.org/officeDocument/2006/relationships/slideLayout" Target="/ppt/slideLayouts/slideLayout27.xml" Id="Rd28f4e5f4126449f" /><Relationship Type="http://schemas.openxmlformats.org/officeDocument/2006/relationships/notesSlide" Target="/ppt/notesSlides/notesSlide247.xml" Id="Ra83b6611466547e0" /></Relationships>
</file>

<file path=ppt/slides/_rels/slide248.xml.rels>&#65279;<?xml version="1.0" encoding="utf-8"?><Relationships xmlns="http://schemas.openxmlformats.org/package/2006/relationships"><Relationship Type="http://schemas.openxmlformats.org/officeDocument/2006/relationships/slideLayout" Target="/ppt/slideLayouts/slideLayout27.xml" Id="Rbbede9795a7e47b1" /><Relationship Type="http://schemas.openxmlformats.org/officeDocument/2006/relationships/notesSlide" Target="/ppt/notesSlides/notesSlide248.xml" Id="Rc83faedde3ef485b" /></Relationships>
</file>

<file path=ppt/slides/_rels/slide249.xml.rels>&#65279;<?xml version="1.0" encoding="utf-8"?><Relationships xmlns="http://schemas.openxmlformats.org/package/2006/relationships"><Relationship Type="http://schemas.openxmlformats.org/officeDocument/2006/relationships/slideLayout" Target="/ppt/slideLayouts/slideLayout27.xml" Id="R5e17e007fe2745ea" /><Relationship Type="http://schemas.openxmlformats.org/officeDocument/2006/relationships/chart" Target="/ppt/slides/charts/chart30.xml" Id="R0c298bc31b214b2c" /><Relationship Type="http://schemas.openxmlformats.org/officeDocument/2006/relationships/notesSlide" Target="/ppt/notesSlides/notesSlide249.xml" Id="R1a593f8443074672" /></Relationships>
</file>

<file path=ppt/slides/_rels/slide250.xml.rels>&#65279;<?xml version="1.0" encoding="utf-8"?><Relationships xmlns="http://schemas.openxmlformats.org/package/2006/relationships"><Relationship Type="http://schemas.openxmlformats.org/officeDocument/2006/relationships/slideLayout" Target="/ppt/slideLayouts/slideLayout27.xml" Id="R5a005d5533d14073" /><Relationship Type="http://schemas.openxmlformats.org/officeDocument/2006/relationships/notesSlide" Target="/ppt/notesSlides/notesSlide250.xml" Id="R42058df895494431" /></Relationships>
</file>

<file path=ppt/slides/_rels/slide251.xml.rels>&#65279;<?xml version="1.0" encoding="utf-8"?><Relationships xmlns="http://schemas.openxmlformats.org/package/2006/relationships"><Relationship Type="http://schemas.openxmlformats.org/officeDocument/2006/relationships/slideLayout" Target="/ppt/slideLayouts/slideLayout27.xml" Id="R4d9aaf75f9da4c1d" /><Relationship Type="http://schemas.openxmlformats.org/officeDocument/2006/relationships/notesSlide" Target="/ppt/notesSlides/notesSlide251.xml" Id="Rbbeed776a3ab49cb" /></Relationships>
</file>

<file path=ppt/slides/_rels/slide252.xml.rels>&#65279;<?xml version="1.0" encoding="utf-8"?><Relationships xmlns="http://schemas.openxmlformats.org/package/2006/relationships"><Relationship Type="http://schemas.openxmlformats.org/officeDocument/2006/relationships/slideLayout" Target="/ppt/slideLayouts/slideLayout27.xml" Id="R61e294c3cad14476" /><Relationship Type="http://schemas.openxmlformats.org/officeDocument/2006/relationships/notesSlide" Target="/ppt/notesSlides/notesSlide252.xml" Id="Rc03514335627417b" /></Relationships>
</file>

<file path=ppt/slides/_rels/slide253.xml.rels>&#65279;<?xml version="1.0" encoding="utf-8"?><Relationships xmlns="http://schemas.openxmlformats.org/package/2006/relationships"><Relationship Type="http://schemas.openxmlformats.org/officeDocument/2006/relationships/slideLayout" Target="/ppt/slideLayouts/slideLayout28.xml" Id="R489d7f9df58f4c5f" /><Relationship Type="http://schemas.openxmlformats.org/officeDocument/2006/relationships/notesSlide" Target="/ppt/notesSlides/notesSlide253.xml" Id="Rabfacd5cc3f8458e" /></Relationships>
</file>

<file path=ppt/slides/_rels/slide254.xml.rels>&#65279;<?xml version="1.0" encoding="utf-8"?><Relationships xmlns="http://schemas.openxmlformats.org/package/2006/relationships"><Relationship Type="http://schemas.openxmlformats.org/officeDocument/2006/relationships/slideLayout" Target="/ppt/slideLayouts/slideLayout28.xml" Id="R90ba6a37bd3e4367" /><Relationship Type="http://schemas.openxmlformats.org/officeDocument/2006/relationships/notesSlide" Target="/ppt/notesSlides/notesSlide254.xml" Id="R5083d9a4a375434d" /></Relationships>
</file>

<file path=ppt/slides/_rels/slide255.xml.rels>&#65279;<?xml version="1.0" encoding="utf-8"?><Relationships xmlns="http://schemas.openxmlformats.org/package/2006/relationships"><Relationship Type="http://schemas.openxmlformats.org/officeDocument/2006/relationships/slideLayout" Target="/ppt/slideLayouts/slideLayout28.xml" Id="R9f3477a9384047e7" /><Relationship Type="http://schemas.openxmlformats.org/officeDocument/2006/relationships/notesSlide" Target="/ppt/notesSlides/notesSlide255.xml" Id="Rf99051065bce4668" /></Relationships>
</file>

<file path=ppt/slides/_rels/slide256.xml.rels>&#65279;<?xml version="1.0" encoding="utf-8"?><Relationships xmlns="http://schemas.openxmlformats.org/package/2006/relationships"><Relationship Type="http://schemas.openxmlformats.org/officeDocument/2006/relationships/slideLayout" Target="/ppt/slideLayouts/slideLayout28.xml" Id="Rc4bb5317e2224c0b" /><Relationship Type="http://schemas.openxmlformats.org/officeDocument/2006/relationships/notesSlide" Target="/ppt/notesSlides/notesSlide256.xml" Id="R0040a4ca90384f9b" /></Relationships>
</file>

<file path=ppt/slides/_rels/slide257.xml.rels>&#65279;<?xml version="1.0" encoding="utf-8"?><Relationships xmlns="http://schemas.openxmlformats.org/package/2006/relationships"><Relationship Type="http://schemas.openxmlformats.org/officeDocument/2006/relationships/slideLayout" Target="/ppt/slideLayouts/slideLayout28.xml" Id="R58d4e278d69b4210" /><Relationship Type="http://schemas.openxmlformats.org/officeDocument/2006/relationships/notesSlide" Target="/ppt/notesSlides/notesSlide257.xml" Id="R5b739af9f9d7435f" /></Relationships>
</file>

<file path=ppt/slides/_rels/slide258.xml.rels>&#65279;<?xml version="1.0" encoding="utf-8"?><Relationships xmlns="http://schemas.openxmlformats.org/package/2006/relationships"><Relationship Type="http://schemas.openxmlformats.org/officeDocument/2006/relationships/slideLayout" Target="/ppt/slideLayouts/slideLayout28.xml" Id="Rb90f49419f274738" /><Relationship Type="http://schemas.openxmlformats.org/officeDocument/2006/relationships/notesSlide" Target="/ppt/notesSlides/notesSlide258.xml" Id="R3f2812d6fd70469a" /></Relationships>
</file>

<file path=ppt/slides/_rels/slide259.xml.rels>&#65279;<?xml version="1.0" encoding="utf-8"?><Relationships xmlns="http://schemas.openxmlformats.org/package/2006/relationships"><Relationship Type="http://schemas.openxmlformats.org/officeDocument/2006/relationships/slideLayout" Target="/ppt/slideLayouts/slideLayout28.xml" Id="Rabf06885a6044acd" /><Relationship Type="http://schemas.openxmlformats.org/officeDocument/2006/relationships/notesSlide" Target="/ppt/notesSlides/notesSlide259.xml" Id="R7096d50904f346d5" /></Relationships>
</file>

<file path=ppt/slides/_rels/slide260.xml.rels>&#65279;<?xml version="1.0" encoding="utf-8"?><Relationships xmlns="http://schemas.openxmlformats.org/package/2006/relationships"><Relationship Type="http://schemas.openxmlformats.org/officeDocument/2006/relationships/slideLayout" Target="/ppt/slideLayouts/slideLayout29.xml" Id="R01037b930b3d4e73" /><Relationship Type="http://schemas.openxmlformats.org/officeDocument/2006/relationships/notesSlide" Target="/ppt/notesSlides/notesSlide260.xml" Id="Rf062a24eb35148f8" /></Relationships>
</file>

<file path=ppt/slides/_rels/slide261.xml.rels>&#65279;<?xml version="1.0" encoding="utf-8"?><Relationships xmlns="http://schemas.openxmlformats.org/package/2006/relationships"><Relationship Type="http://schemas.openxmlformats.org/officeDocument/2006/relationships/slideLayout" Target="/ppt/slideLayouts/slideLayout29.xml" Id="R0c6b5246081c401d" /><Relationship Type="http://schemas.openxmlformats.org/officeDocument/2006/relationships/notesSlide" Target="/ppt/notesSlides/notesSlide261.xml" Id="R705f6e400b244a0f" /></Relationships>
</file>

<file path=ppt/slides/_rels/slide262.xml.rels>&#65279;<?xml version="1.0" encoding="utf-8"?><Relationships xmlns="http://schemas.openxmlformats.org/package/2006/relationships"><Relationship Type="http://schemas.openxmlformats.org/officeDocument/2006/relationships/slideLayout" Target="/ppt/slideLayouts/slideLayout29.xml" Id="Rfdd7078274b74175" /><Relationship Type="http://schemas.openxmlformats.org/officeDocument/2006/relationships/notesSlide" Target="/ppt/notesSlides/notesSlide262.xml" Id="Rba7e366919ae411b" /></Relationships>
</file>

<file path=ppt/slides/_rels/slide263.xml.rels>&#65279;<?xml version="1.0" encoding="utf-8"?><Relationships xmlns="http://schemas.openxmlformats.org/package/2006/relationships"><Relationship Type="http://schemas.openxmlformats.org/officeDocument/2006/relationships/slideLayout" Target="/ppt/slideLayouts/slideLayout29.xml" Id="Rbce90c0c1ad2472e" /><Relationship Type="http://schemas.openxmlformats.org/officeDocument/2006/relationships/notesSlide" Target="/ppt/notesSlides/notesSlide263.xml" Id="R37f7af742c394473" /></Relationships>
</file>

<file path=ppt/slides/_rels/slide264.xml.rels>&#65279;<?xml version="1.0" encoding="utf-8"?><Relationships xmlns="http://schemas.openxmlformats.org/package/2006/relationships"><Relationship Type="http://schemas.openxmlformats.org/officeDocument/2006/relationships/slideLayout" Target="/ppt/slideLayouts/slideLayout29.xml" Id="R6de846e1aab84143" /><Relationship Type="http://schemas.openxmlformats.org/officeDocument/2006/relationships/chart" Target="/ppt/slides/charts/chart31.xml" Id="R4b5347ba849d4d8e" /><Relationship Type="http://schemas.openxmlformats.org/officeDocument/2006/relationships/notesSlide" Target="/ppt/notesSlides/notesSlide264.xml" Id="R0368900ee06f46c4" /></Relationships>
</file>

<file path=ppt/slides/_rels/slide265.xml.rels>&#65279;<?xml version="1.0" encoding="utf-8"?><Relationships xmlns="http://schemas.openxmlformats.org/package/2006/relationships"><Relationship Type="http://schemas.openxmlformats.org/officeDocument/2006/relationships/slideLayout" Target="/ppt/slideLayouts/slideLayout29.xml" Id="Re0144f9700de40ab" /><Relationship Type="http://schemas.openxmlformats.org/officeDocument/2006/relationships/notesSlide" Target="/ppt/notesSlides/notesSlide265.xml" Id="Re4ec59f48b4c4868" /></Relationships>
</file>

<file path=ppt/slides/_rels/slide266.xml.rels>&#65279;<?xml version="1.0" encoding="utf-8"?><Relationships xmlns="http://schemas.openxmlformats.org/package/2006/relationships"><Relationship Type="http://schemas.openxmlformats.org/officeDocument/2006/relationships/slideLayout" Target="/ppt/slideLayouts/slideLayout29.xml" Id="R16b5456e43064f31" /><Relationship Type="http://schemas.openxmlformats.org/officeDocument/2006/relationships/notesSlide" Target="/ppt/notesSlides/notesSlide266.xml" Id="R928d3778199d4690" /></Relationships>
</file>

<file path=ppt/slides/_rels/slide267.xml.rels>&#65279;<?xml version="1.0" encoding="utf-8"?><Relationships xmlns="http://schemas.openxmlformats.org/package/2006/relationships"><Relationship Type="http://schemas.openxmlformats.org/officeDocument/2006/relationships/slideLayout" Target="/ppt/slideLayouts/slideLayout30.xml" Id="R407d0dd0a60849b6" /><Relationship Type="http://schemas.openxmlformats.org/officeDocument/2006/relationships/notesSlide" Target="/ppt/notesSlides/notesSlide267.xml" Id="R3956bbfa177b4aba" /></Relationships>
</file>

<file path=ppt/slides/_rels/slide268.xml.rels>&#65279;<?xml version="1.0" encoding="utf-8"?><Relationships xmlns="http://schemas.openxmlformats.org/package/2006/relationships"><Relationship Type="http://schemas.openxmlformats.org/officeDocument/2006/relationships/slideLayout" Target="/ppt/slideLayouts/slideLayout30.xml" Id="R14ad6c9450eb4d5b" /><Relationship Type="http://schemas.openxmlformats.org/officeDocument/2006/relationships/notesSlide" Target="/ppt/notesSlides/notesSlide268.xml" Id="Re3c63697bdd548ce" /></Relationships>
</file>

<file path=ppt/slides/_rels/slide269.xml.rels>&#65279;<?xml version="1.0" encoding="utf-8"?><Relationships xmlns="http://schemas.openxmlformats.org/package/2006/relationships"><Relationship Type="http://schemas.openxmlformats.org/officeDocument/2006/relationships/slideLayout" Target="/ppt/slideLayouts/slideLayout30.xml" Id="Rcaaad7d4946e4550" /><Relationship Type="http://schemas.openxmlformats.org/officeDocument/2006/relationships/notesSlide" Target="/ppt/notesSlides/notesSlide269.xml" Id="R9c62c897925846d4" /></Relationships>
</file>

<file path=ppt/slides/_rels/slide270.xml.rels>&#65279;<?xml version="1.0" encoding="utf-8"?><Relationships xmlns="http://schemas.openxmlformats.org/package/2006/relationships"><Relationship Type="http://schemas.openxmlformats.org/officeDocument/2006/relationships/slideLayout" Target="/ppt/slideLayouts/slideLayout30.xml" Id="Rbe386b6efcb144db" /><Relationship Type="http://schemas.openxmlformats.org/officeDocument/2006/relationships/notesSlide" Target="/ppt/notesSlides/notesSlide270.xml" Id="R6b161d69c03b44b4" /></Relationships>
</file>

<file path=ppt/slides/_rels/slide271.xml.rels>&#65279;<?xml version="1.0" encoding="utf-8"?><Relationships xmlns="http://schemas.openxmlformats.org/package/2006/relationships"><Relationship Type="http://schemas.openxmlformats.org/officeDocument/2006/relationships/slideLayout" Target="/ppt/slideLayouts/slideLayout30.xml" Id="Raddd223b1c5f457f" /><Relationship Type="http://schemas.openxmlformats.org/officeDocument/2006/relationships/chart" Target="/ppt/slides/charts/chart32.xml" Id="R3f5be33341cb4447" /><Relationship Type="http://schemas.openxmlformats.org/officeDocument/2006/relationships/notesSlide" Target="/ppt/notesSlides/notesSlide271.xml" Id="Ra6ba2aae4a314644" /></Relationships>
</file>

<file path=ppt/slides/_rels/slide272.xml.rels>&#65279;<?xml version="1.0" encoding="utf-8"?><Relationships xmlns="http://schemas.openxmlformats.org/package/2006/relationships"><Relationship Type="http://schemas.openxmlformats.org/officeDocument/2006/relationships/slideLayout" Target="/ppt/slideLayouts/slideLayout30.xml" Id="Rd321e25ec03b4620" /><Relationship Type="http://schemas.openxmlformats.org/officeDocument/2006/relationships/notesSlide" Target="/ppt/notesSlides/notesSlide272.xml" Id="Raa29e69ed7d94ab0" /></Relationships>
</file>

<file path=ppt/slides/_rels/slide273.xml.rels>&#65279;<?xml version="1.0" encoding="utf-8"?><Relationships xmlns="http://schemas.openxmlformats.org/package/2006/relationships"><Relationship Type="http://schemas.openxmlformats.org/officeDocument/2006/relationships/slideLayout" Target="/ppt/slideLayouts/slideLayout31.xml" Id="Rb6f0dd2ee2d54f99" /><Relationship Type="http://schemas.openxmlformats.org/officeDocument/2006/relationships/notesSlide" Target="/ppt/notesSlides/notesSlide273.xml" Id="Rdc3f689373d84796" /></Relationships>
</file>

<file path=ppt/slides/_rels/slide274.xml.rels>&#65279;<?xml version="1.0" encoding="utf-8"?><Relationships xmlns="http://schemas.openxmlformats.org/package/2006/relationships"><Relationship Type="http://schemas.openxmlformats.org/officeDocument/2006/relationships/slideLayout" Target="/ppt/slideLayouts/slideLayout31.xml" Id="Re748baa783df4181" /><Relationship Type="http://schemas.openxmlformats.org/officeDocument/2006/relationships/notesSlide" Target="/ppt/notesSlides/notesSlide274.xml" Id="R03ae1813d0704633" /></Relationships>
</file>

<file path=ppt/slides/_rels/slide275.xml.rels>&#65279;<?xml version="1.0" encoding="utf-8"?><Relationships xmlns="http://schemas.openxmlformats.org/package/2006/relationships"><Relationship Type="http://schemas.openxmlformats.org/officeDocument/2006/relationships/slideLayout" Target="/ppt/slideLayouts/slideLayout31.xml" Id="R5f1b2af4ce14462b" /><Relationship Type="http://schemas.openxmlformats.org/officeDocument/2006/relationships/notesSlide" Target="/ppt/notesSlides/notesSlide275.xml" Id="R56db7b927da94afd" /></Relationships>
</file>

<file path=ppt/slides/_rels/slide276.xml.rels>&#65279;<?xml version="1.0" encoding="utf-8"?><Relationships xmlns="http://schemas.openxmlformats.org/package/2006/relationships"><Relationship Type="http://schemas.openxmlformats.org/officeDocument/2006/relationships/slideLayout" Target="/ppt/slideLayouts/slideLayout31.xml" Id="R7a7ca222cf1a4fec" /><Relationship Type="http://schemas.openxmlformats.org/officeDocument/2006/relationships/notesSlide" Target="/ppt/notesSlides/notesSlide276.xml" Id="R599121e2caa4431e" /></Relationships>
</file>

<file path=ppt/slides/_rels/slide277.xml.rels>&#65279;<?xml version="1.0" encoding="utf-8"?><Relationships xmlns="http://schemas.openxmlformats.org/package/2006/relationships"><Relationship Type="http://schemas.openxmlformats.org/officeDocument/2006/relationships/slideLayout" Target="/ppt/slideLayouts/slideLayout31.xml" Id="R14ed33c4e9d84fdf" /><Relationship Type="http://schemas.openxmlformats.org/officeDocument/2006/relationships/notesSlide" Target="/ppt/notesSlides/notesSlide277.xml" Id="R8b61fd224fa740a4" /></Relationships>
</file>

<file path=ppt/slides/_rels/slide278.xml.rels>&#65279;<?xml version="1.0" encoding="utf-8"?><Relationships xmlns="http://schemas.openxmlformats.org/package/2006/relationships"><Relationship Type="http://schemas.openxmlformats.org/officeDocument/2006/relationships/slideLayout" Target="/ppt/slideLayouts/slideLayout31.xml" Id="Rd8a018242eae47ed" /><Relationship Type="http://schemas.openxmlformats.org/officeDocument/2006/relationships/notesSlide" Target="/ppt/notesSlides/notesSlide278.xml" Id="R9546107ed9824726" /></Relationships>
</file>

<file path=ppt/slides/_rels/slide279.xml.rels>&#65279;<?xml version="1.0" encoding="utf-8"?><Relationships xmlns="http://schemas.openxmlformats.org/package/2006/relationships"><Relationship Type="http://schemas.openxmlformats.org/officeDocument/2006/relationships/slideLayout" Target="/ppt/slideLayouts/slideLayout32.xml" Id="Rfb3d35b640764454" /><Relationship Type="http://schemas.openxmlformats.org/officeDocument/2006/relationships/notesSlide" Target="/ppt/notesSlides/notesSlide279.xml" Id="R1ccd4aee498f4feb" /></Relationships>
</file>

<file path=ppt/slides/_rels/slide280.xml.rels>&#65279;<?xml version="1.0" encoding="utf-8"?><Relationships xmlns="http://schemas.openxmlformats.org/package/2006/relationships"><Relationship Type="http://schemas.openxmlformats.org/officeDocument/2006/relationships/slideLayout" Target="/ppt/slideLayouts/slideLayout32.xml" Id="Rb79fb9ea37444bcc" /><Relationship Type="http://schemas.openxmlformats.org/officeDocument/2006/relationships/notesSlide" Target="/ppt/notesSlides/notesSlide280.xml" Id="R065caf9cd41a439b" /></Relationships>
</file>

<file path=ppt/slides/_rels/slide281.xml.rels>&#65279;<?xml version="1.0" encoding="utf-8"?><Relationships xmlns="http://schemas.openxmlformats.org/package/2006/relationships"><Relationship Type="http://schemas.openxmlformats.org/officeDocument/2006/relationships/slideLayout" Target="/ppt/slideLayouts/slideLayout32.xml" Id="R6731907235a14da4" /><Relationship Type="http://schemas.openxmlformats.org/officeDocument/2006/relationships/notesSlide" Target="/ppt/notesSlides/notesSlide281.xml" Id="R6f421a36248b4b62" /></Relationships>
</file>

<file path=ppt/slides/_rels/slide282.xml.rels>&#65279;<?xml version="1.0" encoding="utf-8"?><Relationships xmlns="http://schemas.openxmlformats.org/package/2006/relationships"><Relationship Type="http://schemas.openxmlformats.org/officeDocument/2006/relationships/slideLayout" Target="/ppt/slideLayouts/slideLayout32.xml" Id="R5fbd3a9f1a034b90" /><Relationship Type="http://schemas.openxmlformats.org/officeDocument/2006/relationships/notesSlide" Target="/ppt/notesSlides/notesSlide282.xml" Id="Rba9fa508e0a340b0" /></Relationships>
</file>

<file path=ppt/slides/_rels/slide283.xml.rels>&#65279;<?xml version="1.0" encoding="utf-8"?><Relationships xmlns="http://schemas.openxmlformats.org/package/2006/relationships"><Relationship Type="http://schemas.openxmlformats.org/officeDocument/2006/relationships/slideLayout" Target="/ppt/slideLayouts/slideLayout32.xml" Id="R439f5e8996f841e9" /><Relationship Type="http://schemas.openxmlformats.org/officeDocument/2006/relationships/chart" Target="/ppt/slides/charts/chart33.xml" Id="Rcba1d8e231b54bfb" /><Relationship Type="http://schemas.openxmlformats.org/officeDocument/2006/relationships/notesSlide" Target="/ppt/notesSlides/notesSlide283.xml" Id="R971d3cdb8dfd4416" /></Relationships>
</file>

<file path=ppt/slides/_rels/slide284.xml.rels>&#65279;<?xml version="1.0" encoding="utf-8"?><Relationships xmlns="http://schemas.openxmlformats.org/package/2006/relationships"><Relationship Type="http://schemas.openxmlformats.org/officeDocument/2006/relationships/slideLayout" Target="/ppt/slideLayouts/slideLayout32.xml" Id="Rc7051745edf3454c" /><Relationship Type="http://schemas.openxmlformats.org/officeDocument/2006/relationships/notesSlide" Target="/ppt/notesSlides/notesSlide284.xml" Id="R8fd8e5638aae4318" /></Relationships>
</file>

<file path=ppt/slides/_rels/slide285.xml.rels>&#65279;<?xml version="1.0" encoding="utf-8"?><Relationships xmlns="http://schemas.openxmlformats.org/package/2006/relationships"><Relationship Type="http://schemas.openxmlformats.org/officeDocument/2006/relationships/slideLayout" Target="/ppt/slideLayouts/slideLayout33.xml" Id="Rb758dc4e0fc34cf8" /><Relationship Type="http://schemas.openxmlformats.org/officeDocument/2006/relationships/notesSlide" Target="/ppt/notesSlides/notesSlide285.xml" Id="R7b638f6d652c46e6" /></Relationships>
</file>

<file path=ppt/slides/_rels/slide286.xml.rels>&#65279;<?xml version="1.0" encoding="utf-8"?><Relationships xmlns="http://schemas.openxmlformats.org/package/2006/relationships"><Relationship Type="http://schemas.openxmlformats.org/officeDocument/2006/relationships/slideLayout" Target="/ppt/slideLayouts/slideLayout33.xml" Id="R9ceb93deade34c24" /><Relationship Type="http://schemas.openxmlformats.org/officeDocument/2006/relationships/notesSlide" Target="/ppt/notesSlides/notesSlide286.xml" Id="R556291f29c334eb3" /></Relationships>
</file>

<file path=ppt/slides/_rels/slide287.xml.rels>&#65279;<?xml version="1.0" encoding="utf-8"?><Relationships xmlns="http://schemas.openxmlformats.org/package/2006/relationships"><Relationship Type="http://schemas.openxmlformats.org/officeDocument/2006/relationships/slideLayout" Target="/ppt/slideLayouts/slideLayout33.xml" Id="Ra84bcb8571214f29" /><Relationship Type="http://schemas.openxmlformats.org/officeDocument/2006/relationships/notesSlide" Target="/ppt/notesSlides/notesSlide287.xml" Id="Rd54b24d0c5d44b39" /></Relationships>
</file>

<file path=ppt/slides/_rels/slide288.xml.rels>&#65279;<?xml version="1.0" encoding="utf-8"?><Relationships xmlns="http://schemas.openxmlformats.org/package/2006/relationships"><Relationship Type="http://schemas.openxmlformats.org/officeDocument/2006/relationships/slideLayout" Target="/ppt/slideLayouts/slideLayout33.xml" Id="Ra03b41232f94404e" /><Relationship Type="http://schemas.openxmlformats.org/officeDocument/2006/relationships/notesSlide" Target="/ppt/notesSlides/notesSlide288.xml" Id="Radf34325ed804af0" /></Relationships>
</file>

<file path=ppt/slides/_rels/slide289.xml.rels>&#65279;<?xml version="1.0" encoding="utf-8"?><Relationships xmlns="http://schemas.openxmlformats.org/package/2006/relationships"><Relationship Type="http://schemas.openxmlformats.org/officeDocument/2006/relationships/slideLayout" Target="/ppt/slideLayouts/slideLayout33.xml" Id="R99d189fac197484d" /><Relationship Type="http://schemas.openxmlformats.org/officeDocument/2006/relationships/notesSlide" Target="/ppt/notesSlides/notesSlide289.xml" Id="R6abf8abbabf74c6e" /></Relationships>
</file>

<file path=ppt/slides/_rels/slide290.xml.rels>&#65279;<?xml version="1.0" encoding="utf-8"?><Relationships xmlns="http://schemas.openxmlformats.org/package/2006/relationships"><Relationship Type="http://schemas.openxmlformats.org/officeDocument/2006/relationships/slideLayout" Target="/ppt/slideLayouts/slideLayout33.xml" Id="Rbf066751818244d8" /><Relationship Type="http://schemas.openxmlformats.org/officeDocument/2006/relationships/notesSlide" Target="/ppt/notesSlides/notesSlide290.xml" Id="R0702fbdb898c4b03" /></Relationships>
</file>

<file path=ppt/slides/_rels/slide291.xml.rels>&#65279;<?xml version="1.0" encoding="utf-8"?><Relationships xmlns="http://schemas.openxmlformats.org/package/2006/relationships"><Relationship Type="http://schemas.openxmlformats.org/officeDocument/2006/relationships/slideLayout" Target="/ppt/slideLayouts/slideLayout34.xml" Id="R532f7d0310d644a2" /><Relationship Type="http://schemas.openxmlformats.org/officeDocument/2006/relationships/notesSlide" Target="/ppt/notesSlides/notesSlide291.xml" Id="Rf308e54dc9184a38" /></Relationships>
</file>

<file path=ppt/slides/_rels/slide292.xml.rels>&#65279;<?xml version="1.0" encoding="utf-8"?><Relationships xmlns="http://schemas.openxmlformats.org/package/2006/relationships"><Relationship Type="http://schemas.openxmlformats.org/officeDocument/2006/relationships/slideLayout" Target="/ppt/slideLayouts/slideLayout34.xml" Id="Ra99e7be8484b4778" /><Relationship Type="http://schemas.openxmlformats.org/officeDocument/2006/relationships/notesSlide" Target="/ppt/notesSlides/notesSlide292.xml" Id="Rcbb699e8e9cc48c7" /></Relationships>
</file>

<file path=ppt/slides/_rels/slide293.xml.rels>&#65279;<?xml version="1.0" encoding="utf-8"?><Relationships xmlns="http://schemas.openxmlformats.org/package/2006/relationships"><Relationship Type="http://schemas.openxmlformats.org/officeDocument/2006/relationships/slideLayout" Target="/ppt/slideLayouts/slideLayout34.xml" Id="R03ad2de70a5b44ea" /><Relationship Type="http://schemas.openxmlformats.org/officeDocument/2006/relationships/notesSlide" Target="/ppt/notesSlides/notesSlide293.xml" Id="R1d1709452f674771" /></Relationships>
</file>

<file path=ppt/slides/_rels/slide294.xml.rels>&#65279;<?xml version="1.0" encoding="utf-8"?><Relationships xmlns="http://schemas.openxmlformats.org/package/2006/relationships"><Relationship Type="http://schemas.openxmlformats.org/officeDocument/2006/relationships/slideLayout" Target="/ppt/slideLayouts/slideLayout34.xml" Id="R8c8cc31135b3427b" /><Relationship Type="http://schemas.openxmlformats.org/officeDocument/2006/relationships/notesSlide" Target="/ppt/notesSlides/notesSlide294.xml" Id="Rbaaf90ef1b3a437d" /></Relationships>
</file>

<file path=ppt/slides/_rels/slide295.xml.rels>&#65279;<?xml version="1.0" encoding="utf-8"?><Relationships xmlns="http://schemas.openxmlformats.org/package/2006/relationships"><Relationship Type="http://schemas.openxmlformats.org/officeDocument/2006/relationships/slideLayout" Target="/ppt/slideLayouts/slideLayout34.xml" Id="R4694ba67c6e645c3" /><Relationship Type="http://schemas.openxmlformats.org/officeDocument/2006/relationships/notesSlide" Target="/ppt/notesSlides/notesSlide295.xml" Id="R0e77c01fc70443b5" /></Relationships>
</file>

<file path=ppt/slides/_rels/slide296.xml.rels>&#65279;<?xml version="1.0" encoding="utf-8"?><Relationships xmlns="http://schemas.openxmlformats.org/package/2006/relationships"><Relationship Type="http://schemas.openxmlformats.org/officeDocument/2006/relationships/slideLayout" Target="/ppt/slideLayouts/slideLayout34.xml" Id="Re7c76c47c3834fb4" /><Relationship Type="http://schemas.openxmlformats.org/officeDocument/2006/relationships/notesSlide" Target="/ppt/notesSlides/notesSlide296.xml" Id="Rc69e89550982485a" /></Relationships>
</file>

<file path=ppt/slides/_rels/slide297.xml.rels>&#65279;<?xml version="1.0" encoding="utf-8"?><Relationships xmlns="http://schemas.openxmlformats.org/package/2006/relationships"><Relationship Type="http://schemas.openxmlformats.org/officeDocument/2006/relationships/slideLayout" Target="/ppt/slideLayouts/slideLayout34.xml" Id="R1bebd279dbcd4913" /><Relationship Type="http://schemas.openxmlformats.org/officeDocument/2006/relationships/notesSlide" Target="/ppt/notesSlides/notesSlide297.xml" Id="R78802aa3e39f40ae" /></Relationships>
</file>

<file path=ppt/slides/_rels/slide298.xml.rels>&#65279;<?xml version="1.0" encoding="utf-8"?><Relationships xmlns="http://schemas.openxmlformats.org/package/2006/relationships"><Relationship Type="http://schemas.openxmlformats.org/officeDocument/2006/relationships/slideLayout" Target="/ppt/slideLayouts/slideLayout34.xml" Id="R77242bafe2a74d57" /><Relationship Type="http://schemas.openxmlformats.org/officeDocument/2006/relationships/notesSlide" Target="/ppt/notesSlides/notesSlide298.xml" Id="R38b176d227774007" /></Relationships>
</file>

<file path=ppt/slides/_rels/slide299.xml.rels>&#65279;<?xml version="1.0" encoding="utf-8"?><Relationships xmlns="http://schemas.openxmlformats.org/package/2006/relationships"><Relationship Type="http://schemas.openxmlformats.org/officeDocument/2006/relationships/slideLayout" Target="/ppt/slideLayouts/slideLayout35.xml" Id="Ree84857fe76a4779" /><Relationship Type="http://schemas.openxmlformats.org/officeDocument/2006/relationships/notesSlide" Target="/ppt/notesSlides/notesSlide299.xml" Id="R257aa35d73cd4c7d" /></Relationships>
</file>

<file path=ppt/slides/_rels/slide300.xml.rels>&#65279;<?xml version="1.0" encoding="utf-8"?><Relationships xmlns="http://schemas.openxmlformats.org/package/2006/relationships"><Relationship Type="http://schemas.openxmlformats.org/officeDocument/2006/relationships/slideLayout" Target="/ppt/slideLayouts/slideLayout35.xml" Id="Rc8b2beda633d471c" /><Relationship Type="http://schemas.openxmlformats.org/officeDocument/2006/relationships/notesSlide" Target="/ppt/notesSlides/notesSlide300.xml" Id="Re792542c7f1241ca" /></Relationships>
</file>

<file path=ppt/slides/_rels/slide301.xml.rels>&#65279;<?xml version="1.0" encoding="utf-8"?><Relationships xmlns="http://schemas.openxmlformats.org/package/2006/relationships"><Relationship Type="http://schemas.openxmlformats.org/officeDocument/2006/relationships/slideLayout" Target="/ppt/slideLayouts/slideLayout35.xml" Id="R7db0781fb5ab4785" /><Relationship Type="http://schemas.openxmlformats.org/officeDocument/2006/relationships/notesSlide" Target="/ppt/notesSlides/notesSlide301.xml" Id="R33446190aaf54879" /></Relationships>
</file>

<file path=ppt/slides/_rels/slide302.xml.rels>&#65279;<?xml version="1.0" encoding="utf-8"?><Relationships xmlns="http://schemas.openxmlformats.org/package/2006/relationships"><Relationship Type="http://schemas.openxmlformats.org/officeDocument/2006/relationships/slideLayout" Target="/ppt/slideLayouts/slideLayout35.xml" Id="R7652eb03b5444fc5" /><Relationship Type="http://schemas.openxmlformats.org/officeDocument/2006/relationships/notesSlide" Target="/ppt/notesSlides/notesSlide302.xml" Id="R50593b1cd3684f92" /></Relationships>
</file>

<file path=ppt/slides/_rels/slide303.xml.rels>&#65279;<?xml version="1.0" encoding="utf-8"?><Relationships xmlns="http://schemas.openxmlformats.org/package/2006/relationships"><Relationship Type="http://schemas.openxmlformats.org/officeDocument/2006/relationships/slideLayout" Target="/ppt/slideLayouts/slideLayout35.xml" Id="R43226a033906448a" /><Relationship Type="http://schemas.openxmlformats.org/officeDocument/2006/relationships/notesSlide" Target="/ppt/notesSlides/notesSlide303.xml" Id="Rf214486fba96441a" /></Relationships>
</file>

<file path=ppt/slides/charts/chart1.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Effort (PM)</c:v>
                </c:pt>
              </c:strCache>
            </c:strRef>
          </c:tx>
          <c:spPr>
            <a:solidFill xmlns:a="http://schemas.openxmlformats.org/drawingml/2006/main">
              <a:srgbClr val="EE2B76"/>
            </a:solidFill>
          </c:spP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262626"/>
                    </a:solidFill>
                    <a:latin typeface="Poppins"/>
                    <a:ea typeface="Poppins"/>
                    <a:cs typeface="Poppins"/>
                  </a:defRPr>
                </a:pPr>
              </a:p>
            </c:txPr>
            <c:showLegendKey val="0"/>
            <c:showVal val="1"/>
            <c:showCatName val="0"/>
            <c:showSerName val="0"/>
            <c:showPercent val="0"/>
            <c:showBubbleSize val="0"/>
            <c:showLeaderLines val="0"/>
          </c:dLbls>
          <c:cat>
            <c:strRef>
              <c:f>Sheet1!$A$2:$A$8</c:f>
              <c:strCache>
                <c:ptCount val="4"/>
                <c:pt idx="0">
                  <c:v>increase in leads</c:v>
                </c:pt>
                <c:pt idx="1">
                  <c:v>response-rate increase</c:v>
                </c:pt>
                <c:pt idx="2">
                  <c:v>campaign-frequency increase</c:v>
                </c:pt>
                <c:pt idx="3">
                  <c:v>service-quality improvement</c:v>
                </c:pt>
              </c:strCache>
            </c:strRef>
          </c:cat>
          <c:val>
            <c:numRef>
              <c:f>Sheet1!$B$2:$B$8</c:f>
              <c:numCache>
                <c:formatCode>General</c:formatCode>
                <c:ptCount val="4"/>
                <c:pt idx="0">
                  <c:v>370</c:v>
                </c:pt>
                <c:pt idx="1">
                  <c:v>108</c:v>
                </c:pt>
                <c:pt idx="2">
                  <c:v>23</c:v>
                </c:pt>
                <c:pt idx="3">
                  <c:v>52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262626"/>
                  </a:solidFill>
                  <a:latin typeface="Poppins"/>
                  <a:ea typeface="Poppins"/>
                  <a:cs typeface="Poppins"/>
                </a:defRPr>
              </a:pPr>
            </a:p>
          </c:txPr>
          <c:dLblPos val="outEnd"/>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95959"/>
                </a:solidFill>
                <a:latin typeface="Calibri"/>
                <a:ea typeface="Calibri"/>
                <a:cs typeface="Calibri"/>
              </a:defRPr>
            </a:pPr>
          </a:p>
        </c:txPr>
        <c:crossAx val="2094734552"/>
        <c:crosses val="autoZero"/>
      </c:catAx>
      <c:valAx>
        <c:axId val="2094734552"/>
        <c:scaling>
          <c:orientation val="minMax"/>
          <c:max val="400"/>
          <c:min val="0"/>
        </c:scaling>
        <c:delete val="0"/>
        <c:axPos val="b"/>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crossAx val="2094734554"/>
        <c:crosses val="autoZero"/>
        <c:crossBetween val="between"/>
        <c:majorUnit val="100"/>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Effort (PM)</c:v>
                </c:pt>
              </c:strCache>
            </c:strRef>
          </c:tx>
          <c:spPr>
            <a:solidFill xmlns:a="http://schemas.openxmlformats.org/drawingml/2006/main">
              <a:srgbClr val="EE2B76"/>
            </a:solidFill>
          </c:spP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262626"/>
                    </a:solidFill>
                    <a:latin typeface="Poppins"/>
                    <a:ea typeface="Poppins"/>
                    <a:cs typeface="Poppins"/>
                  </a:defRPr>
                </a:pPr>
              </a:p>
            </c:txPr>
            <c:showLegendKey val="0"/>
            <c:showVal val="1"/>
            <c:showCatName val="0"/>
            <c:showSerName val="0"/>
            <c:showPercent val="0"/>
            <c:showBubbleSize val="0"/>
            <c:showLeaderLines val="0"/>
          </c:dLbls>
          <c:cat>
            <c:strRef>
              <c:f>Sheet1!$A$2:$A$8</c:f>
              <c:strCache>
                <c:ptCount val="7"/>
                <c:pt idx="0">
                  <c:v>Functional Consultant</c:v>
                </c:pt>
                <c:pt idx="1">
                  <c:v>Technical Consultant</c:v>
                </c:pt>
                <c:pt idx="2">
                  <c:v>AI/ML Engineer</c:v>
                </c:pt>
                <c:pt idx="3">
                  <c:v>QA Lead + Automation</c:v>
                </c:pt>
                <c:pt idx="4">
                  <c:v>PM / Delivery Lead</c:v>
                </c:pt>
                <c:pt idx="5">
                  <c:v>DevSecOps Engineer</c:v>
                </c:pt>
                <c:pt idx="6">
                  <c:v>Solution Architect</c:v>
                </c:pt>
              </c:strCache>
            </c:strRef>
          </c:cat>
          <c:val>
            <c:numRef>
              <c:f>Sheet1!$B$2:$B$8</c:f>
              <c:numCache>
                <c:formatCode>General</c:formatCode>
                <c:ptCount val="7"/>
                <c:pt idx="0">
                  <c:v>37</c:v>
                </c:pt>
                <c:pt idx="1">
                  <c:v>35</c:v>
                </c:pt>
                <c:pt idx="2">
                  <c:v>27</c:v>
                </c:pt>
                <c:pt idx="3">
                  <c:v>25</c:v>
                </c:pt>
                <c:pt idx="4">
                  <c:v>17</c:v>
                </c:pt>
                <c:pt idx="5">
                  <c:v>15</c:v>
                </c:pt>
                <c:pt idx="6">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262626"/>
                  </a:solidFill>
                  <a:latin typeface="Poppins"/>
                  <a:ea typeface="Poppins"/>
                  <a:cs typeface="Poppins"/>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000" b="0" i="0" u="none">
                <a:solidFill>
                  <a:srgbClr val="595959"/>
                </a:solidFill>
                <a:latin typeface="Calibri"/>
                <a:ea typeface="Calibri"/>
                <a:cs typeface="Calibri"/>
              </a:defRPr>
            </a:pPr>
          </a:p>
        </c:txPr>
        <c:crossAx val="2094734552"/>
        <c:crosses val="autoZero"/>
      </c:catAx>
      <c:valAx>
        <c:axId val="2094734552"/>
        <c:scaling>
          <c:orientation val="minMax"/>
          <c:max val="42"/>
        </c:scaling>
        <c:delete val="1"/>
        <c:axPos val="b"/>
        <c:numFmt formatCode="General" sourceLinked="0"/>
        <c:majorTickMark val="out"/>
        <c:minorTickMark val="none"/>
        <c:tickLblPos val="low"/>
        <c:spPr>
          <a:ln xmlns:a="http://schemas.openxmlformats.org/drawingml/2006/main" w="12700">
            <a:solidFill>
              <a:srgbClr val="888888"/>
            </a:solidFill>
            <a:prstDash val="solid"/>
          </a:ln>
        </c:spPr>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xml><?xml version="1.0" encoding="utf-8"?>
<c:chartSpace xmlns:c="http://schemas.openxmlformats.org/drawingml/2006/chart">
  <c:lang val="en-US"/>
  <c:roundedCorners val="1"/>
  <c:chart>
    <c:autoTitleDeleted val="1"/>
    <c:plotArea>
      <c:doughnutChart>
        <c:ser>
          <c:idx val="0"/>
          <c:order val="0"/>
          <c:tx>
            <c:strRef>
              <c:f>Sheet1!$B$1</c:f>
              <c:strCache>
                <c:ptCount val="1"/>
                <c:pt idx="0">
                  <c:v>Cost</c:v>
                </c:pt>
              </c:strCache>
            </c:strRef>
          </c:tx>
          <c:spPr>
            <a:solidFill xmlns:a="http://schemas.openxmlformats.org/drawingml/2006/main">
              <a:schemeClr val="accent1"/>
            </a:solidFill>
            <a:ln xmlns:a="http://schemas.openxmlformats.org/drawingml/2006/main" w="9525">
              <a:solidFill>
                <a:srgbClr val="F9F9F9"/>
              </a:solidFill>
              <a:prstDash val="solid"/>
            </a:ln>
          </c:spPr>
          <c:dPt>
            <c:idx val="0"/>
            <c:spPr>
              <a:solidFill xmlns:a="http://schemas.openxmlformats.org/drawingml/2006/main">
                <a:srgbClr val="EE2B76"/>
              </a:solidFill>
              <a:ln xmlns:a="http://schemas.openxmlformats.org/drawingml/2006/main" w="9525">
                <a:solidFill>
                  <a:srgbClr val="FFFFFF"/>
                </a:solidFill>
                <a:prstDash val="solid"/>
              </a:ln>
            </c:spPr>
          </c:dPt>
          <c:dPt>
            <c:idx val="1"/>
            <c:spPr>
              <a:solidFill xmlns:a="http://schemas.openxmlformats.org/drawingml/2006/main">
                <a:srgbClr val="1F3A5F"/>
              </a:solidFill>
              <a:ln xmlns:a="http://schemas.openxmlformats.org/drawingml/2006/main" w="9525">
                <a:solidFill>
                  <a:srgbClr val="FFFFFF"/>
                </a:solidFill>
                <a:prstDash val="solid"/>
              </a:ln>
            </c:spPr>
          </c:dPt>
          <c:dPt>
            <c:idx val="2"/>
            <c:spPr>
              <a:solidFill xmlns:a="http://schemas.openxmlformats.org/drawingml/2006/main">
                <a:srgbClr val="17B3A3"/>
              </a:solidFill>
              <a:ln xmlns:a="http://schemas.openxmlformats.org/drawingml/2006/main" w="9525">
                <a:solidFill>
                  <a:srgbClr val="FFFFFF"/>
                </a:solidFill>
                <a:prstDash val="solid"/>
              </a:ln>
            </c:spPr>
          </c:dPt>
          <c:dPt>
            <c:idx val="3"/>
            <c:spPr>
              <a:solidFill xmlns:a="http://schemas.openxmlformats.org/drawingml/2006/main">
                <a:srgbClr val="FFA700"/>
              </a:solidFill>
              <a:ln xmlns:a="http://schemas.openxmlformats.org/drawingml/2006/main" w="9525">
                <a:solidFill>
                  <a:srgbClr val="FFFFFF"/>
                </a:solidFill>
                <a:prstDash val="solid"/>
              </a:ln>
            </c:spPr>
          </c:dPt>
          <c:dPt>
            <c:idx val="4"/>
            <c:spPr>
              <a:solidFill xmlns:a="http://schemas.openxmlformats.org/drawingml/2006/main">
                <a:srgbClr val="0969FF"/>
              </a:solidFill>
              <a:ln xmlns:a="http://schemas.openxmlformats.org/drawingml/2006/main" w="9525">
                <a:solidFill>
                  <a:srgbClr val="FFFFFF"/>
                </a:solidFill>
                <a:prstDash val="solid"/>
              </a:ln>
            </c:spPr>
          </c:dPt>
          <c:dPt>
            <c:idx val="5"/>
            <c:spPr>
              <a:solidFill xmlns:a="http://schemas.openxmlformats.org/drawingml/2006/main">
                <a:srgbClr val="595959"/>
              </a:solidFill>
              <a:ln xmlns:a="http://schemas.openxmlformats.org/drawingml/2006/main" w="9525">
                <a:solidFill>
                  <a:srgbClr val="FFFFFF"/>
                </a:solidFill>
                <a:prstDash val="solid"/>
              </a:ln>
            </c:spPr>
          </c:dPt>
          <c:dPt>
            <c:idx val="6"/>
            <c:spPr>
              <a:solidFill xmlns:a="http://schemas.openxmlformats.org/drawingml/2006/main">
                <a:srgbClr val="9B8AD1"/>
              </a:solidFill>
              <a:ln xmlns:a="http://schemas.openxmlformats.org/drawingml/2006/main" w="9525">
                <a:solidFill>
                  <a:srgbClr val="FFFFFF"/>
                </a:solidFill>
                <a:prstDash val="solid"/>
              </a:ln>
            </c:spPr>
          </c:dPt>
          <c:dLbls>
            <c:dLbl>
              <c:idx val="0"/>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showLegendKey val="0"/>
              <c:showVal val="0"/>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showLegendKey val="0"/>
              <c:showVal val="0"/>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showLegendKey val="0"/>
              <c:showVal val="0"/>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showLegendKey val="0"/>
              <c:showVal val="0"/>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showLegendKey val="0"/>
              <c:showVal val="0"/>
              <c:showCatName val="0"/>
              <c:showSerName val="0"/>
              <c:showPercent val="0"/>
              <c:showBubbleSize val="0"/>
            </c:dLbl>
            <c:dLbl>
              <c:idx val="5"/>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showLegendKey val="0"/>
              <c:showVal val="0"/>
              <c:showCatName val="0"/>
              <c:showSerName val="0"/>
              <c:showPercent val="0"/>
              <c:showBubbleSize val="0"/>
            </c:dLbl>
            <c:dLbl>
              <c:idx val="6"/>
              <c:txPr>
                <a:bodyPr xmlns:a="http://schemas.openxmlformats.org/drawingml/2006/main" anchorCtr="1"/>
                <a:lstStyle xmlns:a="http://schemas.openxmlformats.org/drawingml/2006/main"/>
                <a:p xmlns:a="http://schemas.openxmlformats.org/drawingml/2006/main">
                  <a:pPr>
                    <a:defRPr sz="1200" b="0" i="0" u="none">
                      <a:solidFill>
                        <a:srgbClr val="000000"/>
                      </a:solidFill>
                      <a:latin typeface="Arial"/>
                      <a:ea typeface="Arial"/>
                      <a:cs typeface="Arial"/>
                    </a:defRPr>
                  </a:pPr>
                </a:p>
              </c:txPr>
              <c:showLegendKey val="0"/>
              <c:showVal val="0"/>
              <c:showCatName val="0"/>
              <c:showSerName val="0"/>
              <c:showPercent val="0"/>
              <c:showBubbleSize val="0"/>
            </c:dLbl>
            <c:numFmt formatCode="General" sourceLinked="0"/>
            <c:txPr>
              <a:bodyPr xmlns:a="http://schemas.openxmlformats.org/drawingml/2006/main" anchorCtr="1"/>
              <a:lstStyle xmlns:a="http://schemas.openxmlformats.org/drawingml/2006/main"/>
              <a:p xmlns:a="http://schemas.openxmlformats.org/drawingml/2006/main">
                <a:pPr>
                  <a:defRPr sz="1800" b="0" i="0" u="none">
                    <a:solidFill>
                      <a:srgbClr val="000000"/>
                    </a:solidFill>
                    <a:latin typeface="Arial"/>
                    <a:ea typeface="Arial"/>
                    <a:cs typeface="Arial"/>
                  </a:defRPr>
                </a:pPr>
              </a:p>
            </c:txPr>
            <c:showLegendKey val="0"/>
            <c:showVal val="0"/>
            <c:showCatName val="1"/>
            <c:showSerName val="0"/>
            <c:showPercent val="1"/>
            <c:showBubbleSize val="0"/>
            <c:showLeaderLines val="0"/>
          </c:dLbls>
          <c:cat>
            <c:strRef>
              <c:f>Sheet1!$A$2:$A$8</c:f>
              <c:strCache>
                <c:ptCount val="7"/>
                <c:pt idx="0">
                  <c:v>Functional</c:v>
                </c:pt>
                <c:pt idx="1">
                  <c:v>Technical</c:v>
                </c:pt>
                <c:pt idx="2">
                  <c:v>AI/ML</c:v>
                </c:pt>
                <c:pt idx="3">
                  <c:v>QA</c:v>
                </c:pt>
                <c:pt idx="4">
                  <c:v>PM</c:v>
                </c:pt>
                <c:pt idx="5">
                  <c:v>DevSecOps</c:v>
                </c:pt>
                <c:pt idx="6">
                  <c:v>Architect</c:v>
                </c:pt>
              </c:strCache>
            </c:strRef>
          </c:cat>
          <c:val>
            <c:numRef>
              <c:f>Sheet1!$B$2:$B$8</c:f>
              <c:numCache>
                <c:formatCode>General</c:formatCode>
                <c:ptCount val="7"/>
                <c:pt idx="0">
                  <c:v>99.9</c:v>
                </c:pt>
                <c:pt idx="1">
                  <c:v>94.5</c:v>
                </c:pt>
                <c:pt idx="2">
                  <c:v>78.3</c:v>
                </c:pt>
                <c:pt idx="3">
                  <c:v>67.5</c:v>
                </c:pt>
                <c:pt idx="4">
                  <c:v>49.3</c:v>
                </c:pt>
                <c:pt idx="5">
                  <c:v>40.5</c:v>
                </c:pt>
                <c:pt idx="6">
                  <c:v>5.8</c:v>
                </c:pt>
              </c:numCache>
            </c:numRef>
          </c:val>
        </c:ser>
        <c:firstSliceAng val="0"/>
        <c:holeSize val="55"/>
      </c:doughnutChart>
      <c:spPr>
        <a:noFill xmlns:a="http://schemas.openxmlformats.org/drawingml/2006/main"/>
        <a:ln xmlns:a="http://schemas.openxmlformats.org/drawingml/2006/main">
          <a:noFill/>
        </a:ln>
      </c:spPr>
    </c:plotArea>
    <c:legend>
      <c:legendPos val="r"/>
      <c:overlay val="0"/>
      <c:txPr>
        <a:bodyPr xmlns:a="http://schemas.openxmlformats.org/drawingml/2006/main" anchorCtr="1"/>
        <a:lstStyle xmlns:a="http://schemas.openxmlformats.org/drawingml/2006/main"/>
        <a:p xmlns:a="http://schemas.openxmlformats.org/drawingml/2006/main">
          <a:pPr>
            <a:defRPr sz="900">
              <a:solidFill>
                <a:srgbClr val="595959"/>
              </a:solidFill>
              <a:latin typeface="Calibri"/>
              <a:ea typeface="Calibri"/>
              <a:cs typeface="Calibri"/>
            </a:defRPr>
          </a:pPr>
        </a:p>
      </c:txPr>
    </c:legend>
    <c:plotVisOnly val="1"/>
  </c:chart>
  <c:spPr>
    <a:noFill xmlns:a="http://schemas.openxmlformats.org/drawingml/2006/main"/>
    <a:ln xmlns:a="http://schemas.openxmlformats.org/drawingml/2006/main">
      <a:noFill/>
    </a:ln>
  </c:spPr>
</c:chartSpace>
</file>

<file path=ppt/slides/charts/chart4.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Journeys</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13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Unassisted
self-service</c:v>
                </c:pt>
                <c:pt idx="1">
                  <c:v>Assisted
branch / contact centre</c:v>
                </c:pt>
                <c:pt idx="2">
                  <c:v>Partner
distribution</c:v>
                </c:pt>
              </c:strCache>
            </c:strRef>
          </c:cat>
          <c:val>
            <c:numRef>
              <c:f>Sheet1!$B$2:$B$4</c:f>
              <c:numCache>
                <c:formatCode>General</c:formatCode>
                <c:ptCount val="3"/>
                <c:pt idx="0">
                  <c:v>44</c:v>
                </c:pt>
                <c:pt idx="1">
                  <c:v>25</c:v>
                </c:pt>
                <c:pt idx="2">
                  <c:v>16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9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5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5.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Retained</c:v>
                </c:pt>
              </c:strCache>
            </c:strRef>
          </c:tx>
          <c:spPr>
            <a:solidFill xmlns:a="http://schemas.openxmlformats.org/drawingml/2006/main">
              <a:srgbClr val="486581"/>
            </a:solidFill>
          </c:spPr>
          <c:dPt>
            <c:idx val="0"/>
            <c:invertIfNegative val="0"/>
            <c:spPr>
              <a:solidFill xmlns:a="http://schemas.openxmlformats.org/drawingml/2006/main">
                <a:srgbClr val="486581"/>
              </a:solidFill>
            </c:spPr>
          </c:dPt>
          <c:dPt>
            <c:idx val="1"/>
            <c:invertIfNegative val="0"/>
            <c:spPr>
              <a:solidFill xmlns:a="http://schemas.openxmlformats.org/drawingml/2006/main">
                <a:srgbClr val="B04A25"/>
              </a:solidFill>
            </c:spPr>
          </c:dPt>
          <c:dPt>
            <c:idx val="2"/>
            <c:invertIfNegative val="0"/>
            <c:spPr>
              <a:solidFill xmlns:a="http://schemas.openxmlformats.org/drawingml/2006/main">
                <a:srgbClr val="B04A25"/>
              </a:solidFill>
            </c:spPr>
          </c:dPt>
          <c:dPt>
            <c:idx val="3"/>
            <c:invertIfNegative val="0"/>
            <c:spPr>
              <a:solidFill xmlns:a="http://schemas.openxmlformats.org/drawingml/2006/main">
                <a:srgbClr val="B04A25"/>
              </a:solidFill>
            </c:spPr>
          </c:dPt>
          <c:dLbls>
            <c:numFmt formatCode="#,##0" sourceLinked="0"/>
            <c:txPr>
              <a:bodyPr xmlns:a="http://schemas.openxmlformats.org/drawingml/2006/main" anchorCtr="1"/>
              <a:lstStyle xmlns:a="http://schemas.openxmlformats.org/drawingml/2006/main"/>
              <a:p xmlns:a="http://schemas.openxmlformats.org/drawingml/2006/main">
                <a:pPr>
                  <a:defRPr sz="12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Account
opened</c:v>
                </c:pt>
                <c:pt idx="1">
                  <c:v>Funded in
session</c:v>
                </c:pt>
                <c:pt idx="2">
                  <c:v>Active in
30 days</c:v>
                </c:pt>
                <c:pt idx="3">
                  <c:v>Second product
held</c:v>
                </c:pt>
              </c:strCache>
            </c:strRef>
          </c:cat>
          <c:val>
            <c:numRef>
              <c:f>Sheet1!$B$2:$B$5</c:f>
              <c:numCache>
                <c:formatCode>General</c:formatCode>
                <c:ptCount val="4"/>
                <c:pt idx="0">
                  <c:v>100</c:v>
                </c:pt>
                <c:pt idx="1">
                  <c:v>34</c:v>
                </c:pt>
                <c:pt idx="2">
                  <c:v>29</c:v>
                </c:pt>
                <c:pt idx="3">
                  <c:v>11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7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115"/>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6.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Before</c:v>
                </c:pt>
              </c:strCache>
            </c:strRef>
          </c:tx>
          <c:spPr>
            <a:solidFill xmlns:a="http://schemas.openxmlformats.org/drawingml/2006/main">
              <a:srgbClr val="CBD5E0"/>
            </a:solidFill>
          </c:spP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Funded in
session</c:v>
                </c:pt>
                <c:pt idx="1">
                  <c:v>Funded in
7 days</c:v>
                </c:pt>
                <c:pt idx="2">
                  <c:v>Never
funded</c:v>
                </c:pt>
              </c:strCache>
            </c:strRef>
          </c:cat>
          <c:val>
            <c:numRef>
              <c:f>Sheet1!$B$2:$B$4</c:f>
              <c:numCache>
                <c:formatCode>General</c:formatCode>
                <c:ptCount val="3"/>
                <c:pt idx="0">
                  <c:v>34</c:v>
                </c:pt>
                <c:pt idx="1">
                  <c:v>58</c:v>
                </c:pt>
                <c:pt idx="2">
                  <c:v>42</c:v>
                </c:pt>
              </c:numCache>
            </c:numRef>
          </c:val>
        </c:ser>
        <c:ser>
          <c:idx val="1"/>
          <c:order val="1"/>
          <c:tx>
            <c:strRef>
              <c:f>Sheet1!$C$1</c:f>
              <c:strCache>
                <c:ptCount val="1"/>
                <c:pt idx="0">
                  <c:v>After</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Funded in
session</c:v>
                </c:pt>
                <c:pt idx="1">
                  <c:v>Funded in
7 days</c:v>
                </c:pt>
                <c:pt idx="2">
                  <c:v>Never
funded</c:v>
                </c:pt>
              </c:strCache>
            </c:strRef>
          </c:cat>
          <c:val>
            <c:numRef>
              <c:f>Sheet1!$C$2:$C$4</c:f>
              <c:numCache>
                <c:formatCode>General</c:formatCode>
                <c:ptCount val="3"/>
                <c:pt idx="0">
                  <c:v>61</c:v>
                </c:pt>
                <c:pt idx="1">
                  <c:v>79</c:v>
                </c:pt>
                <c:pt idx="2">
                  <c:v>21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95"/>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7.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Deflection %</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86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Sheet1!$A$2:$A$12</c:f>
              <c:strCache>
                <c:ptCount val="11"/>
                <c:pt idx="0">
                  <c:v>Foreclosure quote</c:v>
                </c:pt>
                <c:pt idx="1">
                  <c:v>Part-prepayment quote</c:v>
                </c:pt>
                <c:pt idx="2">
                  <c:v>EMI date change</c:v>
                </c:pt>
                <c:pt idx="3">
                  <c:v>Mandate update</c:v>
                </c:pt>
                <c:pt idx="4">
                  <c:v>NOC request</c:v>
                </c:pt>
                <c:pt idx="5">
                  <c:v>Address update</c:v>
                </c:pt>
                <c:pt idx="6">
                  <c:v>Charges query</c:v>
                </c:pt>
                <c:pt idx="7">
                  <c:v>Disbursement status</c:v>
                </c:pt>
                <c:pt idx="8">
                  <c:v>Repayment schedule</c:v>
                </c:pt>
                <c:pt idx="9">
                  <c:v>Statement / summary</c:v>
                </c:pt>
                <c:pt idx="10">
                  <c:v>Interest certificate</c:v>
                </c:pt>
              </c:strCache>
            </c:strRef>
          </c:cat>
          <c:val>
            <c:numRef>
              <c:f>Sheet1!$B$2:$B$12</c:f>
              <c:numCache>
                <c:formatCode>General</c:formatCode>
                <c:ptCount val="11"/>
                <c:pt idx="0">
                  <c:v>9</c:v>
                </c:pt>
                <c:pt idx="1">
                  <c:v>16</c:v>
                </c:pt>
                <c:pt idx="2">
                  <c:v>24</c:v>
                </c:pt>
                <c:pt idx="3">
                  <c:v>37</c:v>
                </c:pt>
                <c:pt idx="4">
                  <c:v>41</c:v>
                </c:pt>
                <c:pt idx="5">
                  <c:v>49</c:v>
                </c:pt>
                <c:pt idx="6">
                  <c:v>52</c:v>
                </c:pt>
                <c:pt idx="7">
                  <c:v>64</c:v>
                </c:pt>
                <c:pt idx="8">
                  <c:v>78</c:v>
                </c:pt>
                <c:pt idx="9">
                  <c:v>81</c:v>
                </c:pt>
                <c:pt idx="10">
                  <c:v>86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86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40"/>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20" b="0" i="0" u="none">
                <a:solidFill>
                  <a:srgbClr val="486581"/>
                </a:solidFill>
                <a:latin typeface="Arial"/>
                <a:ea typeface="Arial"/>
                <a:cs typeface="Arial"/>
              </a:defRPr>
            </a:pPr>
          </a:p>
        </c:txPr>
        <c:crossAx val="2094734552"/>
        <c:crosses val="autoZero"/>
      </c:catAx>
      <c:valAx>
        <c:axId val="2094734552"/>
        <c:scaling>
          <c:orientation val="minMax"/>
          <c:max val="100"/>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8.xml><?xml version="1.0" encoding="utf-8"?>
<c:chartSpace xmlns:c="http://schemas.openxmlformats.org/drawingml/2006/chart">
  <c:lang val="en-US"/>
  <c:roundedCorners val="1"/>
  <c:chart>
    <c:autoTitleDeleted val="1"/>
    <c:plotArea>
      <c:barChart>
        <c:barDir val="col"/>
        <c:grouping val="stacked"/>
        <c:varyColors val="0"/>
        <c:ser>
          <c:idx val="0"/>
          <c:order val="0"/>
          <c:tx>
            <c:strRef>
              <c:f>Sheet1!$B$1</c:f>
              <c:strCache>
                <c:ptCount val="1"/>
                <c:pt idx="0">
                  <c:v>Shared-spine build</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Sheet1!$A$2:$A$7</c:f>
              <c:strCache>
                <c:ptCount val="6"/>
                <c:pt idx="0">
                  <c:v>J1 Account
funding</c:v>
                </c:pt>
                <c:pt idx="1">
                  <c:v>J2 Loan
servicing</c:v>
                </c:pt>
                <c:pt idx="2">
                  <c:v>J3 Depository
KYC</c:v>
                </c:pt>
                <c:pt idx="3">
                  <c:v>J4 Group
health</c:v>
                </c:pt>
                <c:pt idx="4">
                  <c:v>J5 Commercial
card</c:v>
                </c:pt>
                <c:pt idx="5">
                  <c:v>J6 Beneficial
ownership</c:v>
                </c:pt>
              </c:strCache>
            </c:strRef>
          </c:cat>
          <c:val>
            <c:numRef>
              <c:f>Sheet1!$B$2:$B$7</c:f>
              <c:numCache>
                <c:formatCode>General</c:formatCode>
                <c:ptCount val="6"/>
                <c:pt idx="0">
                  <c:v>12</c:v>
                </c:pt>
                <c:pt idx="1">
                  <c:v>5</c:v>
                </c:pt>
                <c:pt idx="2">
                  <c:v>1</c:v>
                </c:pt>
                <c:pt idx="3">
                  <c:v>3</c:v>
                </c:pt>
                <c:pt idx="4">
                  <c:v>1</c:v>
                </c:pt>
                <c:pt idx="5">
                  <c:v>0</c:v>
                </c:pt>
              </c:numCache>
            </c:numRef>
          </c:val>
        </c:ser>
        <c:ser>
          <c:idx val="1"/>
          <c:order val="1"/>
          <c:tx>
            <c:strRef>
              <c:f>Sheet1!$C$1</c:f>
              <c:strCache>
                <c:ptCount val="1"/>
                <c:pt idx="0">
                  <c:v>Journey-specific build</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Sheet1!$A$2:$A$7</c:f>
              <c:strCache>
                <c:ptCount val="6"/>
                <c:pt idx="0">
                  <c:v>J1 Account
funding</c:v>
                </c:pt>
                <c:pt idx="1">
                  <c:v>J2 Loan
servicing</c:v>
                </c:pt>
                <c:pt idx="2">
                  <c:v>J3 Depository
KYC</c:v>
                </c:pt>
                <c:pt idx="3">
                  <c:v>J4 Group
health</c:v>
                </c:pt>
                <c:pt idx="4">
                  <c:v>J5 Commercial
card</c:v>
                </c:pt>
                <c:pt idx="5">
                  <c:v>J6 Beneficial
ownership</c:v>
                </c:pt>
              </c:strCache>
            </c:strRef>
          </c:cat>
          <c:val>
            <c:numRef>
              <c:f>Sheet1!$C$2:$C$7</c:f>
              <c:numCache>
                <c:formatCode>General</c:formatCode>
                <c:ptCount val="6"/>
                <c:pt idx="0">
                  <c:v>14</c:v>
                </c:pt>
                <c:pt idx="1">
                  <c:v>11</c:v>
                </c:pt>
                <c:pt idx="2">
                  <c:v>6</c:v>
                </c:pt>
                <c:pt idx="3">
                  <c:v>8</c:v>
                </c:pt>
                <c:pt idx="4">
                  <c:v>5</c:v>
                </c:pt>
                <c:pt idx="5">
                  <c:v>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3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9.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Deflection %</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86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Sheet1!$A$2:$A$12</c:f>
              <c:strCache>
                <c:ptCount val="11"/>
                <c:pt idx="0">
                  <c:v>Foreclosure quote</c:v>
                </c:pt>
                <c:pt idx="1">
                  <c:v>Part-prepayment</c:v>
                </c:pt>
                <c:pt idx="2">
                  <c:v>EMI date change</c:v>
                </c:pt>
                <c:pt idx="3">
                  <c:v>Mandate update</c:v>
                </c:pt>
                <c:pt idx="4">
                  <c:v>NOC request</c:v>
                </c:pt>
                <c:pt idx="5">
                  <c:v>Address update</c:v>
                </c:pt>
                <c:pt idx="6">
                  <c:v>Charges query</c:v>
                </c:pt>
                <c:pt idx="7">
                  <c:v>Disbursement status</c:v>
                </c:pt>
                <c:pt idx="8">
                  <c:v>Repayment schedule</c:v>
                </c:pt>
                <c:pt idx="9">
                  <c:v>Statement</c:v>
                </c:pt>
                <c:pt idx="10">
                  <c:v>Interest certificate</c:v>
                </c:pt>
              </c:strCache>
            </c:strRef>
          </c:cat>
          <c:val>
            <c:numRef>
              <c:f>Sheet1!$B$2:$B$12</c:f>
              <c:numCache>
                <c:formatCode>General</c:formatCode>
                <c:ptCount val="11"/>
                <c:pt idx="0">
                  <c:v>9</c:v>
                </c:pt>
                <c:pt idx="1">
                  <c:v>16</c:v>
                </c:pt>
                <c:pt idx="2">
                  <c:v>24</c:v>
                </c:pt>
                <c:pt idx="3">
                  <c:v>37</c:v>
                </c:pt>
                <c:pt idx="4">
                  <c:v>41</c:v>
                </c:pt>
                <c:pt idx="5">
                  <c:v>49</c:v>
                </c:pt>
                <c:pt idx="6">
                  <c:v>52</c:v>
                </c:pt>
                <c:pt idx="7">
                  <c:v>64</c:v>
                </c:pt>
                <c:pt idx="8">
                  <c:v>78</c:v>
                </c:pt>
                <c:pt idx="9">
                  <c:v>81</c:v>
                </c:pt>
                <c:pt idx="10">
                  <c:v>86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86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40"/>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20" b="0" i="0" u="none">
                <a:solidFill>
                  <a:srgbClr val="486581"/>
                </a:solidFill>
                <a:latin typeface="Arial"/>
                <a:ea typeface="Arial"/>
                <a:cs typeface="Arial"/>
              </a:defRPr>
            </a:pPr>
          </a:p>
        </c:txPr>
        <c:crossAx val="2094734552"/>
        <c:crosses val="autoZero"/>
      </c:catAx>
      <c:valAx>
        <c:axId val="2094734552"/>
        <c:scaling>
          <c:orientation val="minMax"/>
          <c:max val="100"/>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0.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Touchpoints</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Real-time
APIs</c:v>
                </c:pt>
                <c:pt idx="1">
                  <c:v>Services
integrated</c:v>
                </c:pt>
                <c:pt idx="2">
                  <c:v>Table-to-table
interfaces</c:v>
                </c:pt>
                <c:pt idx="3">
                  <c:v>Vendor services
consumed</c:v>
                </c:pt>
                <c:pt idx="4">
                  <c:v>Batch / SFTP
and gateways</c:v>
                </c:pt>
              </c:strCache>
            </c:strRef>
          </c:cat>
          <c:val>
            <c:numRef>
              <c:f>Sheet1!$B$2:$B$6</c:f>
              <c:numCache>
                <c:formatCode>General</c:formatCode>
                <c:ptCount val="5"/>
                <c:pt idx="0">
                  <c:v>178</c:v>
                </c:pt>
                <c:pt idx="1">
                  <c:v>56</c:v>
                </c:pt>
                <c:pt idx="2">
                  <c:v>44</c:v>
                </c:pt>
                <c:pt idx="3">
                  <c:v>40</c:v>
                </c:pt>
                <c:pt idx="4">
                  <c:v>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7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20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1.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Requests raised</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Q1</c:v>
                </c:pt>
                <c:pt idx="1">
                  <c:v>Q2</c:v>
                </c:pt>
                <c:pt idx="2">
                  <c:v>Q3</c:v>
                </c:pt>
                <c:pt idx="3">
                  <c:v>Q4</c:v>
                </c:pt>
              </c:strCache>
            </c:strRef>
          </c:cat>
          <c:val>
            <c:numRef>
              <c:f>Sheet1!$B$2:$B$5</c:f>
              <c:numCache>
                <c:formatCode>General</c:formatCode>
                <c:ptCount val="4"/>
                <c:pt idx="0">
                  <c:v>180</c:v>
                </c:pt>
                <c:pt idx="1">
                  <c:v>205</c:v>
                </c:pt>
                <c:pt idx="2">
                  <c:v>232</c:v>
                </c:pt>
                <c:pt idx="3">
                  <c:v>261</c:v>
                </c:pt>
              </c:numCache>
            </c:numRef>
          </c:val>
        </c:ser>
        <c:ser>
          <c:idx val="1"/>
          <c:order val="1"/>
          <c:tx>
            <c:strRef>
              <c:f>Sheet1!$C$1</c:f>
              <c:strCache>
                <c:ptCount val="1"/>
                <c:pt idx="0">
                  <c:v>Releases delivered</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Q1</c:v>
                </c:pt>
                <c:pt idx="1">
                  <c:v>Q2</c:v>
                </c:pt>
                <c:pt idx="2">
                  <c:v>Q3</c:v>
                </c:pt>
                <c:pt idx="3">
                  <c:v>Q4</c:v>
                </c:pt>
              </c:strCache>
            </c:strRef>
          </c:cat>
          <c:val>
            <c:numRef>
              <c:f>Sheet1!$C$2:$C$5</c:f>
              <c:numCache>
                <c:formatCode>General</c:formatCode>
                <c:ptCount val="4"/>
                <c:pt idx="0">
                  <c:v>96</c:v>
                </c:pt>
                <c:pt idx="1">
                  <c:v>98</c:v>
                </c:pt>
                <c:pt idx="2">
                  <c:v>101</c:v>
                </c:pt>
                <c:pt idx="3">
                  <c:v>99</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30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12.xml><?xml version="1.0" encoding="utf-8"?>
<c:chartSpace xmlns:c="http://schemas.openxmlformats.org/drawingml/2006/chart">
  <c:lang val="en-US"/>
  <c:roundedCorners val="1"/>
  <c:chart>
    <c:autoTitleDeleted val="1"/>
    <c:plotArea>
      <c:lineChart>
        <c:grouping val="standard"/>
        <c:varyColors val="0"/>
        <c:ser>
          <c:idx val="0"/>
          <c:order val="0"/>
          <c:tx>
            <c:strRef>
              <c:f>Sheet1!$B$1</c:f>
              <c:strCache>
                <c:ptCount val="1"/>
                <c:pt idx="0">
                  <c:v>Scales with users</c:v>
                </c:pt>
              </c:strCache>
            </c:strRef>
          </c:tx>
          <c:spPr>
            <a:solidFill xmlns:a="http://schemas.openxmlformats.org/drawingml/2006/main">
              <a:srgbClr val="486581"/>
            </a:solidFill>
            <a:ln xmlns:a="http://schemas.openxmlformats.org/drawingml/2006/main" w="38100">
              <a:solidFill>
                <a:srgbClr val="486581"/>
              </a:solidFill>
              <a:prstDash val="solid"/>
            </a:ln>
          </c:spPr>
          <c:marker>
            <c:symbol val="circle"/>
            <c:size val="6"/>
            <c:spPr>
              <a:solidFill xmlns:a="http://schemas.openxmlformats.org/drawingml/2006/main">
                <a:srgbClr val="486581"/>
              </a:solidFill>
              <a:ln xmlns:a="http://schemas.openxmlformats.org/drawingml/2006/main" w="9525">
                <a:solidFill>
                  <a:srgbClr val="486581"/>
                </a:solidFill>
                <a:prstDash val="solid"/>
              </a:ln>
            </c:spPr>
          </c:marker>
          <c:dLbls>
            <c:numFmt formatCode="#,##0" sourceLinked="0"/>
            <c:txPr>
              <a:bodyPr xmlns:a="http://schemas.openxmlformats.org/drawingml/2006/main" anchorCtr="1"/>
              <a:lstStyle xmlns:a="http://schemas.openxmlformats.org/drawingml/2006/main"/>
              <a:p xmlns:a="http://schemas.openxmlformats.org/drawingml/2006/main">
                <a:pPr>
                  <a:defRPr sz="1200" b="1" i="0" u="none">
                    <a:solidFill>
                      <a:srgbClr val="102A43"/>
                    </a:solidFill>
                    <a:latin typeface="Arial"/>
                    <a:ea typeface="Arial"/>
                    <a:cs typeface="Arial"/>
                  </a:defRPr>
                </a:pPr>
              </a:p>
            </c:txPr>
            <c:showLegendKey val="0"/>
            <c:showVal val="0"/>
            <c:showCatName val="0"/>
            <c:showSerName val="0"/>
            <c:showPercent val="0"/>
            <c:showBubbleSize val="0"/>
            <c:showLeaderLines val="0"/>
          </c:dLbls>
          <c:cat>
            <c:strRef>
              <c:f>Sheet1!$A$2:$A$7</c:f>
              <c:strCache>
                <c:ptCount val="6"/>
                <c:pt idx="0">
                  <c:v>1K</c:v>
                </c:pt>
                <c:pt idx="1">
                  <c:v>10K</c:v>
                </c:pt>
                <c:pt idx="2">
                  <c:v>50K</c:v>
                </c:pt>
                <c:pt idx="3">
                  <c:v>100K</c:v>
                </c:pt>
                <c:pt idx="4">
                  <c:v>200K</c:v>
                </c:pt>
                <c:pt idx="5">
                  <c:v>300K</c:v>
                </c:pt>
              </c:strCache>
            </c:strRef>
          </c:cat>
          <c:val>
            <c:numRef>
              <c:f>Sheet1!$B$2:$B$7</c:f>
              <c:numCache>
                <c:formatCode>General</c:formatCode>
                <c:ptCount val="6"/>
                <c:pt idx="0">
                  <c:v>1</c:v>
                </c:pt>
                <c:pt idx="1">
                  <c:v>6</c:v>
                </c:pt>
                <c:pt idx="2">
                  <c:v>24</c:v>
                </c:pt>
                <c:pt idx="3">
                  <c:v>45</c:v>
                </c:pt>
                <c:pt idx="4">
                  <c:v>88</c:v>
                </c:pt>
                <c:pt idx="5">
                  <c:v>130</c:v>
                </c:pt>
              </c:numCache>
            </c:numRef>
          </c:val>
          <c:smooth val="0"/>
        </c:ser>
        <c:ser>
          <c:idx val="1"/>
          <c:order val="1"/>
          <c:tx>
            <c:strRef>
              <c:f>Sheet1!$C$1</c:f>
              <c:strCache>
                <c:ptCount val="1"/>
                <c:pt idx="0">
                  <c:v>Scales with integration surface</c:v>
                </c:pt>
              </c:strCache>
            </c:strRef>
          </c:tx>
          <c:spPr>
            <a:solidFill xmlns:a="http://schemas.openxmlformats.org/drawingml/2006/main">
              <a:srgbClr val="B04A25"/>
            </a:solidFill>
            <a:ln xmlns:a="http://schemas.openxmlformats.org/drawingml/2006/main" w="38100">
              <a:solidFill>
                <a:srgbClr val="B04A25"/>
              </a:solidFill>
              <a:prstDash val="solid"/>
            </a:ln>
          </c:spPr>
          <c:marker>
            <c:symbol val="circle"/>
            <c:size val="6"/>
            <c:spPr>
              <a:solidFill xmlns:a="http://schemas.openxmlformats.org/drawingml/2006/main">
                <a:srgbClr val="B04A25"/>
              </a:solidFill>
              <a:ln xmlns:a="http://schemas.openxmlformats.org/drawingml/2006/main" w="9525">
                <a:solidFill>
                  <a:srgbClr val="B04A25"/>
                </a:solidFill>
                <a:prstDash val="solid"/>
              </a:ln>
            </c:spPr>
          </c:marker>
          <c:dLbls>
            <c:numFmt formatCode="#,##0" sourceLinked="0"/>
            <c:txPr>
              <a:bodyPr xmlns:a="http://schemas.openxmlformats.org/drawingml/2006/main" anchorCtr="1"/>
              <a:lstStyle xmlns:a="http://schemas.openxmlformats.org/drawingml/2006/main"/>
              <a:p xmlns:a="http://schemas.openxmlformats.org/drawingml/2006/main">
                <a:pPr>
                  <a:defRPr sz="1200" b="1" i="0" u="none">
                    <a:solidFill>
                      <a:srgbClr val="102A43"/>
                    </a:solidFill>
                    <a:latin typeface="Arial"/>
                    <a:ea typeface="Arial"/>
                    <a:cs typeface="Arial"/>
                  </a:defRPr>
                </a:pPr>
              </a:p>
            </c:txPr>
            <c:showLegendKey val="0"/>
            <c:showVal val="0"/>
            <c:showCatName val="0"/>
            <c:showSerName val="0"/>
            <c:showPercent val="0"/>
            <c:showBubbleSize val="0"/>
            <c:showLeaderLines val="0"/>
          </c:dLbls>
          <c:cat>
            <c:strRef>
              <c:f>Sheet1!$A$2:$A$7</c:f>
              <c:strCache>
                <c:ptCount val="6"/>
                <c:pt idx="0">
                  <c:v>1K</c:v>
                </c:pt>
                <c:pt idx="1">
                  <c:v>10K</c:v>
                </c:pt>
                <c:pt idx="2">
                  <c:v>50K</c:v>
                </c:pt>
                <c:pt idx="3">
                  <c:v>100K</c:v>
                </c:pt>
                <c:pt idx="4">
                  <c:v>200K</c:v>
                </c:pt>
                <c:pt idx="5">
                  <c:v>300K</c:v>
                </c:pt>
              </c:strCache>
            </c:strRef>
          </c:cat>
          <c:val>
            <c:numRef>
              <c:f>Sheet1!$C$2:$C$7</c:f>
              <c:numCache>
                <c:formatCode>General</c:formatCode>
                <c:ptCount val="6"/>
                <c:pt idx="0">
                  <c:v>1</c:v>
                </c:pt>
                <c:pt idx="1">
                  <c:v>9</c:v>
                </c:pt>
                <c:pt idx="2">
                  <c:v>46</c:v>
                </c:pt>
                <c:pt idx="3">
                  <c:v>108</c:v>
                </c:pt>
                <c:pt idx="4">
                  <c:v>232</c:v>
                </c:pt>
                <c:pt idx="5">
                  <c:v>395</c:v>
                </c:pt>
              </c:numCache>
            </c:numRef>
          </c:val>
          <c:smooth val="0"/>
        </c:ser>
        <c:dLbls>
          <c:numFmt formatCode="#,##0" sourceLinked="0"/>
          <c:txPr>
            <a:bodyPr xmlns:a="http://schemas.openxmlformats.org/drawingml/2006/main" anchorCtr="1"/>
            <a:lstStyle xmlns:a="http://schemas.openxmlformats.org/drawingml/2006/main"/>
            <a:p xmlns:a="http://schemas.openxmlformats.org/drawingml/2006/main">
              <a:pPr>
                <a:defRPr sz="1200" b="1" i="0" u="none">
                  <a:solidFill>
                    <a:srgbClr val="102A43"/>
                  </a:solidFill>
                  <a:latin typeface="Arial"/>
                  <a:ea typeface="Arial"/>
                  <a:cs typeface="Arial"/>
                </a:defRPr>
              </a:pPr>
            </a:p>
          </c:txPr>
          <c:showLegendKey val="0"/>
          <c:showVal val="0"/>
          <c:showCatName val="0"/>
          <c:showSerName val="0"/>
          <c:showPercent val="0"/>
          <c:showBubbleSize val="0"/>
          <c:showLeaderLines val="0"/>
        </c:dLbls>
        <c:axId val="2094734554"/>
        <c:axId val="2094734552"/>
      </c:line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2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13.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 of contract value</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M1 Platform
setup</c:v>
                </c:pt>
                <c:pt idx="1">
                  <c:v>M2 Platform
training</c:v>
                </c:pt>
                <c:pt idx="2">
                  <c:v>M3 Use-case
delivery</c:v>
                </c:pt>
                <c:pt idx="3">
                  <c:v>M4 Use-case
training</c:v>
                </c:pt>
                <c:pt idx="4">
                  <c:v>M5 Managed
services</c:v>
                </c:pt>
              </c:strCache>
            </c:strRef>
          </c:cat>
          <c:val>
            <c:numRef>
              <c:f>Sheet1!$B$2:$B$6</c:f>
              <c:numCache>
                <c:formatCode>General</c:formatCode>
                <c:ptCount val="5"/>
                <c:pt idx="0">
                  <c:v>20</c:v>
                </c:pt>
                <c:pt idx="1">
                  <c:v>10</c:v>
                </c:pt>
                <c:pt idx="2">
                  <c:v>30</c:v>
                </c:pt>
                <c:pt idx="3">
                  <c:v>10</c:v>
                </c:pt>
                <c:pt idx="4">
                  <c:v>30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7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4.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Marks</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Sheet1!$A$2:$A$11</c:f>
              <c:strCache>
                <c:ptCount val="10"/>
                <c:pt idx="0">
                  <c:v>Architecture &amp; integration</c:v>
                </c:pt>
                <c:pt idx="1">
                  <c:v>Technical presentation</c:v>
                </c:pt>
                <c:pt idx="2">
                  <c:v>Implementation approach</c:v>
                </c:pt>
                <c:pt idx="3">
                  <c:v>Risk, governance &amp; site visit</c:v>
                </c:pt>
                <c:pt idx="4">
                  <c:v>AI-ML org experience</c:v>
                </c:pt>
                <c:pt idx="5">
                  <c:v>Platform deploys — references</c:v>
                </c:pt>
                <c:pt idx="6">
                  <c:v>Deploys in banks</c:v>
                </c:pt>
                <c:pt idx="7">
                  <c:v>GPU-stack implementations</c:v>
                </c:pt>
                <c:pt idx="8">
                  <c:v>Three showcase use cases</c:v>
                </c:pt>
                <c:pt idx="9">
                  <c:v>GenAI / agentic experience</c:v>
                </c:pt>
              </c:strCache>
            </c:strRef>
          </c:cat>
          <c:val>
            <c:numRef>
              <c:f>Sheet1!$B$2:$B$11</c:f>
              <c:numCache>
                <c:formatCode>General</c:formatCode>
                <c:ptCount val="10"/>
                <c:pt idx="0">
                  <c:v>20</c:v>
                </c:pt>
                <c:pt idx="1">
                  <c:v>20</c:v>
                </c:pt>
                <c:pt idx="2">
                  <c:v>15</c:v>
                </c:pt>
                <c:pt idx="3">
                  <c:v>15</c:v>
                </c:pt>
                <c:pt idx="4">
                  <c:v>10</c:v>
                </c:pt>
                <c:pt idx="5">
                  <c:v>10</c:v>
                </c:pt>
                <c:pt idx="6">
                  <c:v>10</c:v>
                </c:pt>
                <c:pt idx="7">
                  <c:v>10</c:v>
                </c:pt>
                <c:pt idx="8">
                  <c:v>10</c:v>
                </c:pt>
                <c:pt idx="9">
                  <c:v>10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40"/>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24"/>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5.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Person-weeks per use case</c:v>
                </c:pt>
              </c:strCache>
            </c:strRef>
          </c:tx>
          <c:spPr>
            <a:solidFill xmlns:a="http://schemas.openxmlformats.org/drawingml/2006/main">
              <a:srgbClr val="486581"/>
            </a:solidFill>
          </c:spPr>
          <c:dPt>
            <c:idx val="0"/>
            <c:invertIfNegative val="0"/>
            <c:spPr>
              <a:solidFill xmlns:a="http://schemas.openxmlformats.org/drawingml/2006/main">
                <a:srgbClr val="486581"/>
              </a:solidFill>
            </c:spPr>
          </c:dPt>
          <c:dPt>
            <c:idx val="1"/>
            <c:invertIfNegative val="0"/>
            <c:spPr>
              <a:solidFill xmlns:a="http://schemas.openxmlformats.org/drawingml/2006/main">
                <a:srgbClr val="486581"/>
              </a:solidFill>
            </c:spPr>
          </c:dPt>
          <c:dPt>
            <c:idx val="2"/>
            <c:invertIfNegative val="0"/>
            <c:spPr>
              <a:solidFill xmlns:a="http://schemas.openxmlformats.org/drawingml/2006/main">
                <a:srgbClr val="B04A25"/>
              </a:solidFill>
            </c:spPr>
          </c:dPt>
          <c:dLbls>
            <c:numFmt formatCode="#,##0" sourceLinked="0"/>
            <c:txPr>
              <a:bodyPr xmlns:a="http://schemas.openxmlformats.org/drawingml/2006/main" anchorCtr="1"/>
              <a:lstStyle xmlns:a="http://schemas.openxmlformats.org/drawingml/2006/main"/>
              <a:p xmlns:a="http://schemas.openxmlformats.org/drawingml/2006/main">
                <a:pPr>
                  <a:defRPr sz="13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Tier 1
Assisted retrieval</c:v>
                </c:pt>
                <c:pt idx="1">
                  <c:v>Tier 2
Document &amp; workflow</c:v>
                </c:pt>
                <c:pt idx="2">
                  <c:v>Tier 3
Regulated decisioning</c:v>
                </c:pt>
              </c:strCache>
            </c:strRef>
          </c:cat>
          <c:val>
            <c:numRef>
              <c:f>Sheet1!$B$2:$B$4</c:f>
              <c:numCache>
                <c:formatCode>General</c:formatCode>
                <c:ptCount val="3"/>
                <c:pt idx="0">
                  <c:v>4</c:v>
                </c:pt>
                <c:pt idx="1">
                  <c:v>12</c:v>
                </c:pt>
                <c:pt idx="2">
                  <c:v>34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3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7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2"/>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6.xml><?xml version="1.0" encoding="utf-8"?>
<c:chartSpace xmlns:c="http://schemas.openxmlformats.org/drawingml/2006/chart">
  <c:lang val="en-US"/>
  <c:roundedCorners val="1"/>
  <c:chart>
    <c:autoTitleDeleted val="1"/>
    <c:plotArea>
      <c:barChart>
        <c:barDir val="col"/>
        <c:grouping val="stacked"/>
        <c:varyColors val="0"/>
        <c:ser>
          <c:idx val="0"/>
          <c:order val="0"/>
          <c:tx>
            <c:strRef>
              <c:f>Sheet1!$B$1</c:f>
              <c:strCache>
                <c:ptCount val="1"/>
                <c:pt idx="0">
                  <c:v>Delivered by the SI</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Sheet1!$A$2:$A$5</c:f>
              <c:strCache>
                <c:ptCount val="4"/>
                <c:pt idx="0">
                  <c:v>Wave 1
months 0–6</c:v>
                </c:pt>
                <c:pt idx="1">
                  <c:v>Wave 2
months 7–12</c:v>
                </c:pt>
                <c:pt idx="2">
                  <c:v>Wave 3
months 13–18</c:v>
                </c:pt>
                <c:pt idx="3">
                  <c:v>Wave 4
months 19–24</c:v>
                </c:pt>
              </c:strCache>
            </c:strRef>
          </c:cat>
          <c:val>
            <c:numRef>
              <c:f>Sheet1!$B$2:$B$5</c:f>
              <c:numCache>
                <c:formatCode>General</c:formatCode>
                <c:ptCount val="4"/>
                <c:pt idx="0">
                  <c:v>15</c:v>
                </c:pt>
                <c:pt idx="1">
                  <c:v>16</c:v>
                </c:pt>
                <c:pt idx="2">
                  <c:v>12</c:v>
                </c:pt>
                <c:pt idx="3">
                  <c:v>6</c:v>
                </c:pt>
              </c:numCache>
            </c:numRef>
          </c:val>
        </c:ser>
        <c:ser>
          <c:idx val="1"/>
          <c:order val="1"/>
          <c:tx>
            <c:strRef>
              <c:f>Sheet1!$C$1</c:f>
              <c:strCache>
                <c:ptCount val="1"/>
                <c:pt idx="0">
                  <c:v>Co-delivered or bank-led</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Sheet1!$A$2:$A$5</c:f>
              <c:strCache>
                <c:ptCount val="4"/>
                <c:pt idx="0">
                  <c:v>Wave 1
months 0–6</c:v>
                </c:pt>
                <c:pt idx="1">
                  <c:v>Wave 2
months 7–12</c:v>
                </c:pt>
                <c:pt idx="2">
                  <c:v>Wave 3
months 13–18</c:v>
                </c:pt>
                <c:pt idx="3">
                  <c:v>Wave 4
months 19–24</c:v>
                </c:pt>
              </c:strCache>
            </c:strRef>
          </c:cat>
          <c:val>
            <c:numRef>
              <c:f>Sheet1!$C$2:$C$5</c:f>
              <c:numCache>
                <c:formatCode>General</c:formatCode>
                <c:ptCount val="4"/>
                <c:pt idx="0">
                  <c:v>0</c:v>
                </c:pt>
                <c:pt idx="1">
                  <c:v>4</c:v>
                </c:pt>
                <c:pt idx="2">
                  <c:v>8</c:v>
                </c:pt>
                <c:pt idx="3">
                  <c:v>14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5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26"/>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17.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Users</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Off-role
field force</c:v>
                </c:pt>
                <c:pt idx="1">
                  <c:v>On-roll
employees</c:v>
                </c:pt>
                <c:pt idx="2">
                  <c:v>Partners and
distributors</c:v>
                </c:pt>
                <c:pt idx="3">
                  <c:v>On the incumbent
today</c:v>
                </c:pt>
              </c:strCache>
            </c:strRef>
          </c:cat>
          <c:val>
            <c:numRef>
              <c:f>Sheet1!$B$2:$B$5</c:f>
              <c:numCache>
                <c:formatCode>General</c:formatCode>
                <c:ptCount val="4"/>
                <c:pt idx="0">
                  <c:v>100000</c:v>
                </c:pt>
                <c:pt idx="1">
                  <c:v>23500</c:v>
                </c:pt>
                <c:pt idx="2">
                  <c:v>50000</c:v>
                </c:pt>
                <c:pt idx="3">
                  <c:v>8000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50"/>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125000"/>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8.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Person-months</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Functional consultant</c:v>
                </c:pt>
                <c:pt idx="1">
                  <c:v>Technical consultant</c:v>
                </c:pt>
                <c:pt idx="2">
                  <c:v>AI / ML engineer</c:v>
                </c:pt>
                <c:pt idx="3">
                  <c:v>QA lead and automation</c:v>
                </c:pt>
                <c:pt idx="4">
                  <c:v>Programme / delivery lead</c:v>
                </c:pt>
                <c:pt idx="5">
                  <c:v>DevSecOps engineer</c:v>
                </c:pt>
                <c:pt idx="6">
                  <c:v>Solution architect</c:v>
                </c:pt>
              </c:strCache>
            </c:strRef>
          </c:cat>
          <c:val>
            <c:numRef>
              <c:f>Sheet1!$B$2:$B$8</c:f>
              <c:numCache>
                <c:formatCode>General</c:formatCode>
                <c:ptCount val="7"/>
                <c:pt idx="0">
                  <c:v>37</c:v>
                </c:pt>
                <c:pt idx="1">
                  <c:v>35</c:v>
                </c:pt>
                <c:pt idx="2">
                  <c:v>27</c:v>
                </c:pt>
                <c:pt idx="3">
                  <c:v>25</c:v>
                </c:pt>
                <c:pt idx="4">
                  <c:v>17</c:v>
                </c:pt>
                <c:pt idx="5">
                  <c:v>15</c:v>
                </c:pt>
                <c:pt idx="6">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40"/>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4"/>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19.xml><?xml version="1.0" encoding="utf-8"?>
<c:chartSpace xmlns:c="http://schemas.openxmlformats.org/drawingml/2006/chart">
  <c:lang val="en-US"/>
  <c:roundedCorners val="1"/>
  <c:chart>
    <c:autoTitleDeleted val="1"/>
    <c:plotArea>
      <c:barChart>
        <c:barDir val="col"/>
        <c:grouping val="stacked"/>
        <c:varyColors val="0"/>
        <c:ser>
          <c:idx val="0"/>
          <c:order val="0"/>
          <c:tx>
            <c:strRef>
              <c:f>Sheet1!$B$1</c:f>
              <c:strCache>
                <c:ptCount val="1"/>
                <c:pt idx="0">
                  <c:v>Configure</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85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Sheet1!$A$2:$A$7</c:f>
              <c:strCache>
                <c:ptCount val="6"/>
                <c:pt idx="0">
                  <c:v>Reference data</c:v>
                </c:pt>
                <c:pt idx="1">
                  <c:v>Form field</c:v>
                </c:pt>
                <c:pt idx="2">
                  <c:v>Notification rule</c:v>
                </c:pt>
                <c:pt idx="3">
                  <c:v>Allocation rule</c:v>
                </c:pt>
                <c:pt idx="4">
                  <c:v>Journey variant</c:v>
                </c:pt>
                <c:pt idx="5">
                  <c:v>New channel</c:v>
                </c:pt>
              </c:strCache>
            </c:strRef>
          </c:cat>
          <c:val>
            <c:numRef>
              <c:f>Sheet1!$B$2:$B$7</c:f>
              <c:numCache>
                <c:formatCode>General</c:formatCode>
                <c:ptCount val="6"/>
                <c:pt idx="0">
                  <c:v>0.5</c:v>
                </c:pt>
                <c:pt idx="1">
                  <c:v>1</c:v>
                </c:pt>
                <c:pt idx="2">
                  <c:v>1</c:v>
                </c:pt>
                <c:pt idx="3">
                  <c:v>2</c:v>
                </c:pt>
                <c:pt idx="4">
                  <c:v>4</c:v>
                </c:pt>
                <c:pt idx="5">
                  <c:v>8</c:v>
                </c:pt>
              </c:numCache>
            </c:numRef>
          </c:val>
        </c:ser>
        <c:ser>
          <c:idx val="1"/>
          <c:order val="1"/>
          <c:tx>
            <c:strRef>
              <c:f>Sheet1!$C$1</c:f>
              <c:strCache>
                <c:ptCount val="1"/>
                <c:pt idx="0">
                  <c:v>Approve, test and release</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85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Sheet1!$A$2:$A$7</c:f>
              <c:strCache>
                <c:ptCount val="6"/>
                <c:pt idx="0">
                  <c:v>Reference data</c:v>
                </c:pt>
                <c:pt idx="1">
                  <c:v>Form field</c:v>
                </c:pt>
                <c:pt idx="2">
                  <c:v>Notification rule</c:v>
                </c:pt>
                <c:pt idx="3">
                  <c:v>Allocation rule</c:v>
                </c:pt>
                <c:pt idx="4">
                  <c:v>Journey variant</c:v>
                </c:pt>
                <c:pt idx="5">
                  <c:v>New channel</c:v>
                </c:pt>
              </c:strCache>
            </c:strRef>
          </c:cat>
          <c:val>
            <c:numRef>
              <c:f>Sheet1!$C$2:$C$7</c:f>
              <c:numCache>
                <c:formatCode>General</c:formatCode>
                <c:ptCount val="6"/>
                <c:pt idx="0">
                  <c:v>0.5</c:v>
                </c:pt>
                <c:pt idx="1">
                  <c:v>3</c:v>
                </c:pt>
                <c:pt idx="2">
                  <c:v>4</c:v>
                </c:pt>
                <c:pt idx="3">
                  <c:v>12</c:v>
                </c:pt>
                <c:pt idx="4">
                  <c:v>18</c:v>
                </c:pt>
                <c:pt idx="5">
                  <c:v>26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85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38"/>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20.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Share of day</c:v>
                </c:pt>
              </c:strCache>
            </c:strRef>
          </c:tx>
          <c:spPr>
            <a:solidFill xmlns:a="http://schemas.openxmlformats.org/drawingml/2006/main">
              <a:srgbClr val="486581"/>
            </a:solidFill>
          </c:spPr>
          <c:dPt>
            <c:idx val="0"/>
            <c:invertIfNegative val="0"/>
            <c:spPr>
              <a:solidFill xmlns:a="http://schemas.openxmlformats.org/drawingml/2006/main">
                <a:srgbClr val="486581"/>
              </a:solidFill>
            </c:spPr>
          </c:dPt>
          <c:dPt>
            <c:idx val="1"/>
            <c:invertIfNegative val="0"/>
            <c:spPr>
              <a:solidFill xmlns:a="http://schemas.openxmlformats.org/drawingml/2006/main">
                <a:srgbClr val="486581"/>
              </a:solidFill>
            </c:spPr>
          </c:dPt>
          <c:dPt>
            <c:idx val="2"/>
            <c:invertIfNegative val="0"/>
            <c:spPr>
              <a:solidFill xmlns:a="http://schemas.openxmlformats.org/drawingml/2006/main">
                <a:srgbClr val="486581"/>
              </a:solidFill>
            </c:spPr>
          </c:dPt>
          <c:dPt>
            <c:idx val="3"/>
            <c:invertIfNegative val="0"/>
            <c:spPr>
              <a:solidFill xmlns:a="http://schemas.openxmlformats.org/drawingml/2006/main">
                <a:srgbClr val="B04A25"/>
              </a:solidFill>
            </c:spPr>
          </c:dPt>
          <c:dPt>
            <c:idx val="4"/>
            <c:invertIfNegative val="0"/>
            <c:spPr>
              <a:solidFill xmlns:a="http://schemas.openxmlformats.org/drawingml/2006/main">
                <a:srgbClr val="486581"/>
              </a:solidFill>
            </c:spPr>
          </c:dPt>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Admin, logging
and data entry</c:v>
                </c:pt>
                <c:pt idx="1">
                  <c:v>Assembling context
before contact</c:v>
                </c:pt>
                <c:pt idx="2">
                  <c:v>Internal coordination
and approvals</c:v>
                </c:pt>
                <c:pt idx="3">
                  <c:v>Actual customer
conversations</c:v>
                </c:pt>
                <c:pt idx="4">
                  <c:v>Reporting and
reconciliation</c:v>
                </c:pt>
              </c:strCache>
            </c:strRef>
          </c:cat>
          <c:val>
            <c:numRef>
              <c:f>Sheet1!$B$2:$B$6</c:f>
              <c:numCache>
                <c:formatCode>General</c:formatCode>
                <c:ptCount val="5"/>
                <c:pt idx="0">
                  <c:v>26</c:v>
                </c:pt>
                <c:pt idx="1">
                  <c:v>18</c:v>
                </c:pt>
                <c:pt idx="2">
                  <c:v>17</c:v>
                </c:pt>
                <c:pt idx="3">
                  <c:v>27</c:v>
                </c:pt>
                <c:pt idx="4">
                  <c:v>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6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36"/>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1.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Share of stalled cases</c:v>
                </c:pt>
              </c:strCache>
            </c:strRef>
          </c:tx>
          <c:spPr>
            <a:solidFill xmlns:a="http://schemas.openxmlformats.org/drawingml/2006/main">
              <a:srgbClr val="B04A25"/>
            </a:solidFill>
          </c:spPr>
          <c:dPt>
            <c:idx val="0"/>
            <c:invertIfNegative val="0"/>
            <c:spPr>
              <a:solidFill xmlns:a="http://schemas.openxmlformats.org/drawingml/2006/main">
                <a:srgbClr val="B04A25"/>
              </a:solidFill>
            </c:spPr>
          </c:dPt>
          <c:dPt>
            <c:idx val="1"/>
            <c:invertIfNegative val="0"/>
            <c:spPr>
              <a:solidFill xmlns:a="http://schemas.openxmlformats.org/drawingml/2006/main">
                <a:srgbClr val="486581"/>
              </a:solidFill>
            </c:spPr>
          </c:dPt>
          <c:dPt>
            <c:idx val="2"/>
            <c:invertIfNegative val="0"/>
            <c:spPr>
              <a:solidFill xmlns:a="http://schemas.openxmlformats.org/drawingml/2006/main">
                <a:srgbClr val="486581"/>
              </a:solidFill>
            </c:spPr>
          </c:dPt>
          <c:dPt>
            <c:idx val="3"/>
            <c:invertIfNegative val="0"/>
            <c:spPr>
              <a:solidFill xmlns:a="http://schemas.openxmlformats.org/drawingml/2006/main">
                <a:srgbClr val="486581"/>
              </a:solidFill>
            </c:spPr>
          </c:dPt>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Customer never knew
the case existed</c:v>
                </c:pt>
                <c:pt idx="1">
                  <c:v>Revert unclear about
what was needed</c:v>
                </c:pt>
                <c:pt idx="2">
                  <c:v>Document sent but
not linked to the case</c:v>
                </c:pt>
                <c:pt idx="3">
                  <c:v>Genuinely no response
after repeated contact</c:v>
                </c:pt>
              </c:strCache>
            </c:strRef>
          </c:cat>
          <c:val>
            <c:numRef>
              <c:f>Sheet1!$B$2:$B$5</c:f>
              <c:numCache>
                <c:formatCode>General</c:formatCode>
                <c:ptCount val="4"/>
                <c:pt idx="0">
                  <c:v>37</c:v>
                </c:pt>
                <c:pt idx="1">
                  <c:v>24</c:v>
                </c:pt>
                <c:pt idx="2">
                  <c:v>18</c:v>
                </c:pt>
                <c:pt idx="3">
                  <c:v>21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6"/>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2.xml><?xml version="1.0" encoding="utf-8"?>
<c:chartSpace xmlns:c="http://schemas.openxmlformats.org/drawingml/2006/chart">
  <c:lang val="en-US"/>
  <c:roundedCorners val="1"/>
  <c:chart>
    <c:autoTitleDeleted val="1"/>
    <c:plotArea>
      <c:barChart>
        <c:barDir val="col"/>
        <c:grouping val="stacked"/>
        <c:varyColors val="0"/>
        <c:ser>
          <c:idx val="0"/>
          <c:order val="0"/>
          <c:tx>
            <c:strRef>
              <c:f>Sheet1!$B$1</c:f>
              <c:strCache>
                <c:ptCount val="1"/>
                <c:pt idx="0">
                  <c:v>Shared spine built</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8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Sheet1!$A$2:$A$9</c:f>
              <c:strCache>
                <c:ptCount val="8"/>
                <c:pt idx="0">
                  <c:v>P1 Customer
360</c:v>
                </c:pt>
                <c:pt idx="1">
                  <c:v>P2 Deal &amp;
credit</c:v>
                </c:pt>
                <c:pt idx="2">
                  <c:v>P3 Service &amp;
complaints</c:v>
                </c:pt>
                <c:pt idx="3">
                  <c:v>P4 Campaigns</c:v>
                </c:pt>
                <c:pt idx="4">
                  <c:v>P5 Mobility</c:v>
                </c:pt>
                <c:pt idx="5">
                  <c:v>P6 Account
opening</c:v>
                </c:pt>
                <c:pt idx="6">
                  <c:v>P7 Account
planning</c:v>
                </c:pt>
                <c:pt idx="7">
                  <c:v>P8 Early
warning</c:v>
                </c:pt>
              </c:strCache>
            </c:strRef>
          </c:cat>
          <c:val>
            <c:numRef>
              <c:f>Sheet1!$B$2:$B$9</c:f>
              <c:numCache>
                <c:formatCode>General</c:formatCode>
                <c:ptCount val="8"/>
                <c:pt idx="0">
                  <c:v>55</c:v>
                </c:pt>
                <c:pt idx="1">
                  <c:v>25</c:v>
                </c:pt>
                <c:pt idx="2">
                  <c:v>12</c:v>
                </c:pt>
                <c:pt idx="3">
                  <c:v>5</c:v>
                </c:pt>
                <c:pt idx="4">
                  <c:v>8</c:v>
                </c:pt>
                <c:pt idx="5">
                  <c:v>4</c:v>
                </c:pt>
                <c:pt idx="6">
                  <c:v>3</c:v>
                </c:pt>
                <c:pt idx="7">
                  <c:v>2</c:v>
                </c:pt>
              </c:numCache>
            </c:numRef>
          </c:val>
        </c:ser>
        <c:ser>
          <c:idx val="1"/>
          <c:order val="1"/>
          <c:tx>
            <c:strRef>
              <c:f>Sheet1!$C$1</c:f>
              <c:strCache>
                <c:ptCount val="1"/>
                <c:pt idx="0">
                  <c:v>Programme-specific build</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8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Sheet1!$A$2:$A$9</c:f>
              <c:strCache>
                <c:ptCount val="8"/>
                <c:pt idx="0">
                  <c:v>P1 Customer
360</c:v>
                </c:pt>
                <c:pt idx="1">
                  <c:v>P2 Deal &amp;
credit</c:v>
                </c:pt>
                <c:pt idx="2">
                  <c:v>P3 Service &amp;
complaints</c:v>
                </c:pt>
                <c:pt idx="3">
                  <c:v>P4 Campaigns</c:v>
                </c:pt>
                <c:pt idx="4">
                  <c:v>P5 Mobility</c:v>
                </c:pt>
                <c:pt idx="5">
                  <c:v>P6 Account
opening</c:v>
                </c:pt>
                <c:pt idx="6">
                  <c:v>P7 Account
planning</c:v>
                </c:pt>
                <c:pt idx="7">
                  <c:v>P8 Early
warning</c:v>
                </c:pt>
              </c:strCache>
            </c:strRef>
          </c:cat>
          <c:val>
            <c:numRef>
              <c:f>Sheet1!$C$2:$C$9</c:f>
              <c:numCache>
                <c:formatCode>General</c:formatCode>
                <c:ptCount val="8"/>
                <c:pt idx="0">
                  <c:v>30</c:v>
                </c:pt>
                <c:pt idx="1">
                  <c:v>45</c:v>
                </c:pt>
                <c:pt idx="2">
                  <c:v>38</c:v>
                </c:pt>
                <c:pt idx="3">
                  <c:v>30</c:v>
                </c:pt>
                <c:pt idx="4">
                  <c:v>34</c:v>
                </c:pt>
                <c:pt idx="5">
                  <c:v>26</c:v>
                </c:pt>
                <c:pt idx="6">
                  <c:v>24</c:v>
                </c:pt>
                <c:pt idx="7">
                  <c:v>28</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8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00" b="0" i="0" u="none">
                <a:solidFill>
                  <a:srgbClr val="486581"/>
                </a:solidFill>
                <a:latin typeface="Arial"/>
                <a:ea typeface="Arial"/>
                <a:cs typeface="Arial"/>
              </a:defRPr>
            </a:pPr>
          </a:p>
        </c:txPr>
        <c:crossAx val="2094734552"/>
        <c:crosses val="autoZero"/>
      </c:catAx>
      <c:valAx>
        <c:axId val="2094734552"/>
        <c:scaling>
          <c:orientation val="minMax"/>
          <c:max val="95"/>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23.xml><?xml version="1.0" encoding="utf-8"?>
<c:chartSpace xmlns:c="http://schemas.openxmlformats.org/drawingml/2006/chart">
  <c:lang val="en-US"/>
  <c:roundedCorners val="1"/>
  <c:chart>
    <c:autoTitleDeleted val="1"/>
    <c:plotArea>
      <c:barChart>
        <c:barDir val="col"/>
        <c:grouping val="stacked"/>
        <c:varyColors val="0"/>
        <c:ser>
          <c:idx val="0"/>
          <c:order val="0"/>
          <c:tx>
            <c:strRef>
              <c:f>Sheet1!$B$1</c:f>
              <c:strCache>
                <c:ptCount val="1"/>
                <c:pt idx="0">
                  <c:v>Queue wait</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Sheet1!$A$2:$A$6</c:f>
              <c:strCache>
                <c:ptCount val="5"/>
                <c:pt idx="0">
                  <c:v>Business</c:v>
                </c:pt>
                <c:pt idx="1">
                  <c:v>Risk</c:v>
                </c:pt>
                <c:pt idx="2">
                  <c:v>Legal</c:v>
                </c:pt>
                <c:pt idx="3">
                  <c:v>Compliance</c:v>
                </c:pt>
                <c:pt idx="4">
                  <c:v>Sharia</c:v>
                </c:pt>
              </c:strCache>
            </c:strRef>
          </c:cat>
          <c:val>
            <c:numRef>
              <c:f>Sheet1!$B$2:$B$6</c:f>
              <c:numCache>
                <c:formatCode>General</c:formatCode>
                <c:ptCount val="5"/>
                <c:pt idx="0">
                  <c:v>2</c:v>
                </c:pt>
                <c:pt idx="1">
                  <c:v>5</c:v>
                </c:pt>
                <c:pt idx="2">
                  <c:v>3</c:v>
                </c:pt>
                <c:pt idx="3">
                  <c:v>2</c:v>
                </c:pt>
                <c:pt idx="4">
                  <c:v>4</c:v>
                </c:pt>
              </c:numCache>
            </c:numRef>
          </c:val>
        </c:ser>
        <c:ser>
          <c:idx val="1"/>
          <c:order val="1"/>
          <c:tx>
            <c:strRef>
              <c:f>Sheet1!$C$1</c:f>
              <c:strCache>
                <c:ptCount val="1"/>
                <c:pt idx="0">
                  <c:v>Active review</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Sheet1!$A$2:$A$6</c:f>
              <c:strCache>
                <c:ptCount val="5"/>
                <c:pt idx="0">
                  <c:v>Business</c:v>
                </c:pt>
                <c:pt idx="1">
                  <c:v>Risk</c:v>
                </c:pt>
                <c:pt idx="2">
                  <c:v>Legal</c:v>
                </c:pt>
                <c:pt idx="3">
                  <c:v>Compliance</c:v>
                </c:pt>
                <c:pt idx="4">
                  <c:v>Sharia</c:v>
                </c:pt>
              </c:strCache>
            </c:strRef>
          </c:cat>
          <c:val>
            <c:numRef>
              <c:f>Sheet1!$C$2:$C$6</c:f>
              <c:numCache>
                <c:formatCode>General</c:formatCode>
                <c:ptCount val="5"/>
                <c:pt idx="0">
                  <c:v>1</c:v>
                </c:pt>
                <c:pt idx="1">
                  <c:v>3</c:v>
                </c:pt>
                <c:pt idx="2">
                  <c:v>2</c:v>
                </c:pt>
                <c:pt idx="3">
                  <c:v>1</c:v>
                </c:pt>
                <c:pt idx="4">
                  <c:v>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60"/>
        <c:overlap val="10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1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24.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Share of alerts</c:v>
                </c:pt>
              </c:strCache>
            </c:strRef>
          </c:tx>
          <c:spPr>
            <a:solidFill xmlns:a="http://schemas.openxmlformats.org/drawingml/2006/main">
              <a:srgbClr val="B04A25"/>
            </a:solidFill>
          </c:spPr>
          <c:dPt>
            <c:idx val="0"/>
            <c:invertIfNegative val="0"/>
            <c:spPr>
              <a:solidFill xmlns:a="http://schemas.openxmlformats.org/drawingml/2006/main">
                <a:srgbClr val="B04A25"/>
              </a:solidFill>
            </c:spPr>
          </c:dPt>
          <c:dPt>
            <c:idx val="1"/>
            <c:invertIfNegative val="0"/>
            <c:spPr>
              <a:solidFill xmlns:a="http://schemas.openxmlformats.org/drawingml/2006/main">
                <a:srgbClr val="B04A25"/>
              </a:solidFill>
            </c:spPr>
          </c:dPt>
          <c:dPt>
            <c:idx val="2"/>
            <c:invertIfNegative val="0"/>
            <c:spPr>
              <a:solidFill xmlns:a="http://schemas.openxmlformats.org/drawingml/2006/main">
                <a:srgbClr val="486581"/>
              </a:solidFill>
            </c:spPr>
          </c:dPt>
          <c:dPt>
            <c:idx val="3"/>
            <c:invertIfNegative val="0"/>
            <c:spPr>
              <a:solidFill xmlns:a="http://schemas.openxmlformats.org/drawingml/2006/main">
                <a:srgbClr val="486581"/>
              </a:solidFill>
            </c:spPr>
          </c:dPt>
          <c:dPt>
            <c:idx val="4"/>
            <c:invertIfNegative val="0"/>
            <c:spPr>
              <a:solidFill xmlns:a="http://schemas.openxmlformats.org/drawingml/2006/main">
                <a:srgbClr val="486581"/>
              </a:solidFill>
            </c:spPr>
          </c:dPt>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Acted on —
material</c:v>
                </c:pt>
                <c:pt idx="1">
                  <c:v>Monitored —
watch and revisit</c:v>
                </c:pt>
                <c:pt idx="2">
                  <c:v>Not material —
context explains it</c:v>
                </c:pt>
                <c:pt idx="3">
                  <c:v>Duplicate of an
existing alert</c:v>
                </c:pt>
                <c:pt idx="4">
                  <c:v>Data quality —
not a risk signal</c:v>
                </c:pt>
              </c:strCache>
            </c:strRef>
          </c:cat>
          <c:val>
            <c:numRef>
              <c:f>Sheet1!$B$2:$B$6</c:f>
              <c:numCache>
                <c:formatCode>General</c:formatCode>
                <c:ptCount val="5"/>
                <c:pt idx="0">
                  <c:v>12</c:v>
                </c:pt>
                <c:pt idx="1">
                  <c:v>23</c:v>
                </c:pt>
                <c:pt idx="2">
                  <c:v>34</c:v>
                </c:pt>
                <c:pt idx="3">
                  <c:v>18</c:v>
                </c:pt>
                <c:pt idx="4">
                  <c:v>13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6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2"/>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5.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Share of requirements</c:v>
                </c:pt>
              </c:strCache>
            </c:strRef>
          </c:tx>
          <c:spPr>
            <a:solidFill xmlns:a="http://schemas.openxmlformats.org/drawingml/2006/main">
              <a:srgbClr val="B04A25"/>
            </a:solidFill>
          </c:spPr>
          <c:dPt>
            <c:idx val="0"/>
            <c:invertIfNegative val="0"/>
            <c:spPr>
              <a:solidFill xmlns:a="http://schemas.openxmlformats.org/drawingml/2006/main">
                <a:srgbClr val="B04A25"/>
              </a:solidFill>
            </c:spPr>
          </c:dPt>
          <c:dPt>
            <c:idx val="1"/>
            <c:invertIfNegative val="0"/>
            <c:spPr>
              <a:solidFill xmlns:a="http://schemas.openxmlformats.org/drawingml/2006/main">
                <a:srgbClr val="486581"/>
              </a:solidFill>
            </c:spPr>
          </c:dPt>
          <c:dPt>
            <c:idx val="2"/>
            <c:invertIfNegative val="0"/>
            <c:spPr>
              <a:solidFill xmlns:a="http://schemas.openxmlformats.org/drawingml/2006/main">
                <a:srgbClr val="486581"/>
              </a:solidFill>
            </c:spPr>
          </c:dPt>
          <c:dPt>
            <c:idx val="3"/>
            <c:invertIfNegative val="0"/>
            <c:spPr>
              <a:solidFill xmlns:a="http://schemas.openxmlformats.org/drawingml/2006/main">
                <a:srgbClr val="486581"/>
              </a:solidFill>
            </c:spPr>
          </c:dPt>
          <c:dPt>
            <c:idx val="4"/>
            <c:invertIfNegative val="0"/>
            <c:spPr>
              <a:solidFill xmlns:a="http://schemas.openxmlformats.org/drawingml/2006/main">
                <a:srgbClr val="486581"/>
              </a:solidFill>
            </c:spPr>
          </c:dPt>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Common across
all six markets</c:v>
                </c:pt>
                <c:pt idx="1">
                  <c:v>Regulatory reporting
and disclosure</c:v>
                </c:pt>
                <c:pt idx="2">
                  <c:v>Local vocabulary
and terminology</c:v>
                </c:pt>
                <c:pt idx="3">
                  <c:v>Genuinely local
process</c:v>
                </c:pt>
                <c:pt idx="4">
                  <c:v>Local system
integration</c:v>
                </c:pt>
              </c:strCache>
            </c:strRef>
          </c:cat>
          <c:val>
            <c:numRef>
              <c:f>Sheet1!$B$2:$B$6</c:f>
              <c:numCache>
                <c:formatCode>General</c:formatCode>
                <c:ptCount val="5"/>
                <c:pt idx="0">
                  <c:v>61</c:v>
                </c:pt>
                <c:pt idx="1">
                  <c:v>14</c:v>
                </c:pt>
                <c:pt idx="2">
                  <c:v>11</c:v>
                </c:pt>
                <c:pt idx="3">
                  <c:v>8</c:v>
                </c:pt>
                <c:pt idx="4">
                  <c:v>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6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72"/>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6.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Count</c:v>
                </c:pt>
              </c:strCache>
            </c:strRef>
          </c:tx>
          <c:spPr>
            <a:solidFill xmlns:a="http://schemas.openxmlformats.org/drawingml/2006/main">
              <a:srgbClr val="B04A25"/>
            </a:solidFill>
          </c:spPr>
          <c:dPt>
            <c:idx val="0"/>
            <c:invertIfNegative val="0"/>
            <c:spPr>
              <a:solidFill xmlns:a="http://schemas.openxmlformats.org/drawingml/2006/main">
                <a:srgbClr val="B04A25"/>
              </a:solidFill>
            </c:spPr>
          </c:dPt>
          <c:dPt>
            <c:idx val="1"/>
            <c:invertIfNegative val="0"/>
            <c:spPr>
              <a:solidFill xmlns:a="http://schemas.openxmlformats.org/drawingml/2006/main">
                <a:srgbClr val="486581"/>
              </a:solidFill>
            </c:spPr>
          </c:dPt>
          <c:dPt>
            <c:idx val="2"/>
            <c:invertIfNegative val="0"/>
            <c:spPr>
              <a:solidFill xmlns:a="http://schemas.openxmlformats.org/drawingml/2006/main">
                <a:srgbClr val="486581"/>
              </a:solidFill>
            </c:spPr>
          </c:dPt>
          <c:dPt>
            <c:idx val="3"/>
            <c:invertIfNegative val="0"/>
            <c:spPr>
              <a:solidFill xmlns:a="http://schemas.openxmlformats.org/drawingml/2006/main">
                <a:srgbClr val="486581"/>
              </a:solidFill>
            </c:spPr>
          </c:dPt>
          <c:dLbls>
            <c:numFmt formatCode="#,##0" sourceLinked="0"/>
            <c:txPr>
              <a:bodyPr xmlns:a="http://schemas.openxmlformats.org/drawingml/2006/main" anchorCtr="1"/>
              <a:lstStyle xmlns:a="http://schemas.openxmlformats.org/drawingml/2006/main"/>
              <a:p xmlns:a="http://schemas.openxmlformats.org/drawingml/2006/main">
                <a:pPr>
                  <a:defRPr sz="12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Reports in
the estate</c:v>
                </c:pt>
                <c:pt idx="1">
                  <c:v>Executive
dashboards</c:v>
                </c:pt>
                <c:pt idx="2">
                  <c:v>Product
categories</c:v>
                </c:pt>
                <c:pt idx="3">
                  <c:v>Dashboard
families</c:v>
                </c:pt>
              </c:strCache>
            </c:strRef>
          </c:cat>
          <c:val>
            <c:numRef>
              <c:f>Sheet1!$B$2:$B$5</c:f>
              <c:numCache>
                <c:formatCode>General</c:formatCode>
                <c:ptCount val="4"/>
                <c:pt idx="0">
                  <c:v>100</c:v>
                </c:pt>
                <c:pt idx="1">
                  <c:v>22</c:v>
                </c:pt>
                <c:pt idx="2">
                  <c:v>50</c:v>
                </c:pt>
                <c:pt idx="3">
                  <c:v>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2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6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12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7.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Users</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Sheet1!$A$2:$A$4</c:f>
              <c:strCache>
                <c:ptCount val="3"/>
                <c:pt idx="0">
                  <c:v>Malaysia
home market</c:v>
                </c:pt>
                <c:pt idx="1">
                  <c:v>Indonesia</c:v>
                </c:pt>
                <c:pt idx="2">
                  <c:v>Singapore</c:v>
                </c:pt>
              </c:strCache>
            </c:strRef>
          </c:cat>
          <c:val>
            <c:numRef>
              <c:f>Sheet1!$B$2:$B$4</c:f>
              <c:numCache>
                <c:formatCode>General</c:formatCode>
                <c:ptCount val="3"/>
                <c:pt idx="0">
                  <c:v>8700</c:v>
                </c:pt>
                <c:pt idx="1">
                  <c:v>3560</c:v>
                </c:pt>
                <c:pt idx="2">
                  <c:v>1060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10500"/>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8.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Users</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Sheet1!$A$2:$A$3</c:f>
              <c:strCache>
                <c:ptCount val="2"/>
                <c:pt idx="0">
                  <c:v>Consumer financial services</c:v>
                </c:pt>
                <c:pt idx="1">
                  <c:v>Wholesale banking</c:v>
                </c:pt>
              </c:strCache>
            </c:strRef>
          </c:cat>
          <c:val>
            <c:numRef>
              <c:f>Sheet1!$B$2:$B$3</c:f>
              <c:numCache>
                <c:formatCode>General</c:formatCode>
                <c:ptCount val="2"/>
                <c:pt idx="0">
                  <c:v>12500</c:v>
                </c:pt>
                <c:pt idx="1">
                  <c:v>820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15000"/>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29.xml><?xml version="1.0" encoding="utf-8"?>
<c:chartSpace xmlns:c="http://schemas.openxmlformats.org/drawingml/2006/chart">
  <c:lang val="en-US"/>
  <c:roundedCorners val="1"/>
  <c:chart>
    <c:autoTitleDeleted val="1"/>
    <c:plotArea>
      <c:barChart>
        <c:barDir val="bar"/>
        <c:grouping val="clustered"/>
        <c:varyColors val="0"/>
        <c:ser>
          <c:idx val="0"/>
          <c:order val="0"/>
          <c:tx>
            <c:strRef>
              <c:f>Sheet1!$B$1</c:f>
              <c:strCache>
                <c:ptCount val="1"/>
                <c:pt idx="0">
                  <c:v>Option 1 — single tenant</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Regulatory compliance</c:v>
                </c:pt>
                <c:pt idx="1">
                  <c:v>Data sovereignty &amp; isolation</c:v>
                </c:pt>
                <c:pt idx="2">
                  <c:v>Wholesale data protection</c:v>
                </c:pt>
                <c:pt idx="3">
                  <c:v>Infrastructure cost, 5-yr</c:v>
                </c:pt>
                <c:pt idx="4">
                  <c:v>Operational complexity</c:v>
                </c:pt>
                <c:pt idx="5">
                  <c:v>Cross-country analytics</c:v>
                </c:pt>
                <c:pt idx="6">
                  <c:v>Future scalability</c:v>
                </c:pt>
              </c:strCache>
            </c:strRef>
          </c:cat>
          <c:val>
            <c:numRef>
              <c:f>Sheet1!$B$2:$B$8</c:f>
              <c:numCache>
                <c:formatCode>General</c:formatCode>
                <c:ptCount val="7"/>
                <c:pt idx="0">
                  <c:v>5</c:v>
                </c:pt>
                <c:pt idx="1">
                  <c:v>5</c:v>
                </c:pt>
                <c:pt idx="2">
                  <c:v>5</c:v>
                </c:pt>
                <c:pt idx="3">
                  <c:v>3</c:v>
                </c:pt>
                <c:pt idx="4">
                  <c:v>3</c:v>
                </c:pt>
                <c:pt idx="5">
                  <c:v>2</c:v>
                </c:pt>
                <c:pt idx="6">
                  <c:v>3</c:v>
                </c:pt>
              </c:numCache>
            </c:numRef>
          </c:val>
        </c:ser>
        <c:ser>
          <c:idx val="1"/>
          <c:order val="1"/>
          <c:tx>
            <c:strRef>
              <c:f>Sheet1!$C$1</c:f>
              <c:strCache>
                <c:ptCount val="1"/>
                <c:pt idx="0">
                  <c:v>Option 2 — consolidated</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Sheet1!$A$2:$A$8</c:f>
              <c:strCache>
                <c:ptCount val="7"/>
                <c:pt idx="0">
                  <c:v>Regulatory compliance</c:v>
                </c:pt>
                <c:pt idx="1">
                  <c:v>Data sovereignty &amp; isolation</c:v>
                </c:pt>
                <c:pt idx="2">
                  <c:v>Wholesale data protection</c:v>
                </c:pt>
                <c:pt idx="3">
                  <c:v>Infrastructure cost, 5-yr</c:v>
                </c:pt>
                <c:pt idx="4">
                  <c:v>Operational complexity</c:v>
                </c:pt>
                <c:pt idx="5">
                  <c:v>Cross-country analytics</c:v>
                </c:pt>
                <c:pt idx="6">
                  <c:v>Future scalability</c:v>
                </c:pt>
              </c:strCache>
            </c:strRef>
          </c:cat>
          <c:val>
            <c:numRef>
              <c:f>Sheet1!$C$2:$C$8</c:f>
              <c:numCache>
                <c:formatCode>General</c:formatCode>
                <c:ptCount val="7"/>
                <c:pt idx="0">
                  <c:v>4</c:v>
                </c:pt>
                <c:pt idx="1">
                  <c:v>4</c:v>
                </c:pt>
                <c:pt idx="2">
                  <c:v>5</c:v>
                </c:pt>
                <c:pt idx="3">
                  <c:v>5</c:v>
                </c:pt>
                <c:pt idx="4">
                  <c:v>5</c:v>
                </c:pt>
                <c:pt idx="5">
                  <c:v>5</c:v>
                </c:pt>
                <c:pt idx="6">
                  <c:v>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40"/>
        <c:overlap val="0"/>
        <c:axId val="2094734554"/>
        <c:axId val="2094734552"/>
      </c:barChart>
      <c:catAx>
        <c:axId val="2094734554"/>
        <c:scaling>
          <c:orientation val="minMax"/>
        </c:scaling>
        <c:delete val="0"/>
        <c:axPos val="l"/>
        <c:numFmt formatCode="General" sourceLinked="1"/>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486581"/>
                </a:solidFill>
                <a:latin typeface="Arial"/>
                <a:ea typeface="Arial"/>
                <a:cs typeface="Arial"/>
              </a:defRPr>
            </a:pPr>
          </a:p>
        </c:txPr>
        <c:crossAx val="2094734552"/>
        <c:crosses val="autoZero"/>
      </c:catAx>
      <c:valAx>
        <c:axId val="2094734552"/>
        <c:scaling>
          <c:orientation val="minMax"/>
          <c:max val="6"/>
          <c:min val="0"/>
        </c:scaling>
        <c:delete val="0"/>
        <c:axPos val="b"/>
        <c:majorGridlines>
          <c:spPr>
            <a:ln xmlns:a="http://schemas.openxmlformats.org/drawingml/2006/main" w="9525">
              <a:solidFill>
                <a:srgbClr val="EDF1F5"/>
              </a:solidFill>
              <a:prstDash val="solid"/>
            </a:ln>
          </c:spPr>
        </c:majorGridlines>
        <c:numFmt formatCode="General" sourceLinked="0"/>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30.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Distinct call types</c:v>
                </c:pt>
              </c:strCache>
            </c:strRef>
          </c:tx>
          <c:spPr>
            <a:solidFill xmlns:a="http://schemas.openxmlformats.org/drawingml/2006/main">
              <a:srgbClr val="486581"/>
            </a:solidFill>
          </c:spPr>
          <c:dPt>
            <c:idx val="0"/>
            <c:invertIfNegative val="0"/>
            <c:spPr>
              <a:solidFill xmlns:a="http://schemas.openxmlformats.org/drawingml/2006/main">
                <a:srgbClr val="486581"/>
              </a:solidFill>
            </c:spPr>
          </c:dPt>
          <c:dPt>
            <c:idx val="1"/>
            <c:invertIfNegative val="0"/>
            <c:spPr>
              <a:solidFill xmlns:a="http://schemas.openxmlformats.org/drawingml/2006/main">
                <a:srgbClr val="B04A25"/>
              </a:solidFill>
            </c:spPr>
          </c:dPt>
          <c:dLbls>
            <c:numFmt formatCode="#,##0" sourceLinked="0"/>
            <c:txPr>
              <a:bodyPr xmlns:a="http://schemas.openxmlformats.org/drawingml/2006/main" anchorCtr="1"/>
              <a:lstStyle xmlns:a="http://schemas.openxmlformats.org/drawingml/2006/main"/>
              <a:p xmlns:a="http://schemas.openxmlformats.org/drawingml/2006/main">
                <a:pPr>
                  <a:defRPr sz="14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Sheet1!$A$2:$A$3</c:f>
              <c:strCache>
                <c:ptCount val="2"/>
                <c:pt idx="0">
                  <c:v>Before</c:v>
                </c:pt>
                <c:pt idx="1">
                  <c:v>After</c:v>
                </c:pt>
              </c:strCache>
            </c:strRef>
          </c:cat>
          <c:val>
            <c:numRef>
              <c:f>Sheet1!$B$2:$B$3</c:f>
              <c:numCache>
                <c:formatCode>General</c:formatCode>
                <c:ptCount val="2"/>
                <c:pt idx="0">
                  <c:v>6000</c:v>
                </c:pt>
                <c:pt idx="1">
                  <c:v>526</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4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9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720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1.xml><?xml version="1.0" encoding="utf-8"?>
<c:chartSpace xmlns:c="http://schemas.openxmlformats.org/drawingml/2006/chart">
  <c:lang val="en-US"/>
  <c:roundedCorners val="1"/>
  <c:chart>
    <c:autoTitleDeleted val="1"/>
    <c:plotArea>
      <c:barChart>
        <c:barDir val="col"/>
        <c:grouping val="stacked"/>
        <c:varyColors val="0"/>
        <c:ser>
          <c:idx val="0"/>
          <c:order val="0"/>
          <c:tx>
            <c:strRef>
              <c:f>Sheet1!$B$1</c:f>
              <c:strCache>
                <c:ptCount val="1"/>
                <c:pt idx="0">
                  <c:v>Reusable platform build</c:v>
                </c:pt>
              </c:strCache>
            </c:strRef>
          </c:tx>
          <c:spPr>
            <a:solidFill xmlns:a="http://schemas.openxmlformats.org/drawingml/2006/main">
              <a:srgbClr val="B04A25"/>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Sheet1!$A$2:$A$8</c:f>
              <c:strCache>
                <c:ptCount val="7"/>
                <c:pt idx="0">
                  <c:v>Inst. 1</c:v>
                </c:pt>
                <c:pt idx="1">
                  <c:v>Inst. 2</c:v>
                </c:pt>
                <c:pt idx="2">
                  <c:v>Inst. 3</c:v>
                </c:pt>
                <c:pt idx="3">
                  <c:v>Inst. 4</c:v>
                </c:pt>
                <c:pt idx="4">
                  <c:v>Inst. 5</c:v>
                </c:pt>
                <c:pt idx="5">
                  <c:v>Inst. 6</c:v>
                </c:pt>
                <c:pt idx="6">
                  <c:v>Inst. 7–12
(average)</c:v>
                </c:pt>
              </c:strCache>
            </c:strRef>
          </c:cat>
          <c:val>
            <c:numRef>
              <c:f>Sheet1!$B$2:$B$8</c:f>
              <c:numCache>
                <c:formatCode>General</c:formatCode>
                <c:ptCount val="7"/>
                <c:pt idx="0">
                  <c:v>42</c:v>
                </c:pt>
                <c:pt idx="1">
                  <c:v>24</c:v>
                </c:pt>
                <c:pt idx="2">
                  <c:v>14</c:v>
                </c:pt>
                <c:pt idx="3">
                  <c:v>6</c:v>
                </c:pt>
                <c:pt idx="4">
                  <c:v>4</c:v>
                </c:pt>
                <c:pt idx="5">
                  <c:v>3</c:v>
                </c:pt>
                <c:pt idx="6">
                  <c:v>2</c:v>
                </c:pt>
              </c:numCache>
            </c:numRef>
          </c:val>
        </c:ser>
        <c:ser>
          <c:idx val="1"/>
          <c:order val="1"/>
          <c:tx>
            <c:strRef>
              <c:f>Sheet1!$C$1</c:f>
              <c:strCache>
                <c:ptCount val="1"/>
                <c:pt idx="0">
                  <c:v>Institution-specific build</c:v>
                </c:pt>
              </c:strCache>
            </c:strRef>
          </c:tx>
          <c:spPr>
            <a:solidFill xmlns:a="http://schemas.openxmlformats.org/drawingml/2006/main">
              <a:srgbClr val="486581"/>
            </a:solidFill>
          </c:spP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cat>
            <c:strRef>
              <c:f>Sheet1!$A$2:$A$8</c:f>
              <c:strCache>
                <c:ptCount val="7"/>
                <c:pt idx="0">
                  <c:v>Inst. 1</c:v>
                </c:pt>
                <c:pt idx="1">
                  <c:v>Inst. 2</c:v>
                </c:pt>
                <c:pt idx="2">
                  <c:v>Inst. 3</c:v>
                </c:pt>
                <c:pt idx="3">
                  <c:v>Inst. 4</c:v>
                </c:pt>
                <c:pt idx="4">
                  <c:v>Inst. 5</c:v>
                </c:pt>
                <c:pt idx="5">
                  <c:v>Inst. 6</c:v>
                </c:pt>
                <c:pt idx="6">
                  <c:v>Inst. 7–12
(average)</c:v>
                </c:pt>
              </c:strCache>
            </c:strRef>
          </c:cat>
          <c:val>
            <c:numRef>
              <c:f>Sheet1!$C$2:$C$8</c:f>
              <c:numCache>
                <c:formatCode>General</c:formatCode>
                <c:ptCount val="7"/>
                <c:pt idx="0">
                  <c:v>38</c:v>
                </c:pt>
                <c:pt idx="1">
                  <c:v>34</c:v>
                </c:pt>
                <c:pt idx="2">
                  <c:v>30</c:v>
                </c:pt>
                <c:pt idx="3">
                  <c:v>26</c:v>
                </c:pt>
                <c:pt idx="4">
                  <c:v>24</c:v>
                </c:pt>
                <c:pt idx="5">
                  <c:v>22</c:v>
                </c:pt>
                <c:pt idx="6">
                  <c:v>20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900" b="1" i="0" u="none">
                  <a:solidFill>
                    <a:srgbClr val="FFFFFF"/>
                  </a:solidFill>
                  <a:latin typeface="Arial"/>
                  <a:ea typeface="Arial"/>
                  <a:cs typeface="Arial"/>
                </a:defRPr>
              </a:pPr>
            </a:p>
          </c:txPr>
          <c:dLblPos val="ctr"/>
          <c:showLegendKey val="0"/>
          <c:showVal val="1"/>
          <c:showCatName val="0"/>
          <c:showSerName val="0"/>
          <c:showPercent val="0"/>
          <c:showBubbleSize val="0"/>
          <c:showLeaderLines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95"/>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legend>
      <c:legendPos val="t"/>
      <c:overlay val="0"/>
      <c:txPr>
        <a:bodyPr xmlns:a="http://schemas.openxmlformats.org/drawingml/2006/main" anchorCtr="1"/>
        <a:lstStyle xmlns:a="http://schemas.openxmlformats.org/drawingml/2006/main"/>
        <a:p xmlns:a="http://schemas.openxmlformats.org/drawingml/2006/main">
          <a:pPr>
            <a:defRPr sz="900">
              <a:solidFill>
                <a:srgbClr val="486581"/>
              </a:solidFill>
            </a:defRPr>
          </a:pPr>
        </a:p>
      </c:txPr>
    </c:legend>
    <c:plotVisOnly val="1"/>
  </c:chart>
  <c:spPr>
    <a:noFill xmlns:a="http://schemas.openxmlformats.org/drawingml/2006/main"/>
    <a:ln xmlns:a="http://schemas.openxmlformats.org/drawingml/2006/main">
      <a:noFill/>
    </a:ln>
  </c:spPr>
</c:chartSpace>
</file>

<file path=ppt/slides/charts/chart32.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Share of integration effort</c:v>
                </c:pt>
              </c:strCache>
            </c:strRef>
          </c:tx>
          <c:spPr>
            <a:solidFill xmlns:a="http://schemas.openxmlformats.org/drawingml/2006/main">
              <a:srgbClr val="486581"/>
            </a:solidFill>
          </c:spPr>
          <c:dPt>
            <c:idx val="0"/>
            <c:invertIfNegative val="0"/>
            <c:spPr>
              <a:solidFill xmlns:a="http://schemas.openxmlformats.org/drawingml/2006/main">
                <a:srgbClr val="486581"/>
              </a:solidFill>
            </c:spPr>
          </c:dPt>
          <c:dPt>
            <c:idx val="1"/>
            <c:invertIfNegative val="0"/>
            <c:spPr>
              <a:solidFill xmlns:a="http://schemas.openxmlformats.org/drawingml/2006/main">
                <a:srgbClr val="486581"/>
              </a:solidFill>
            </c:spPr>
          </c:dPt>
          <c:dPt>
            <c:idx val="2"/>
            <c:invertIfNegative val="0"/>
            <c:spPr>
              <a:solidFill xmlns:a="http://schemas.openxmlformats.org/drawingml/2006/main">
                <a:srgbClr val="486581"/>
              </a:solidFill>
            </c:spPr>
          </c:dPt>
          <c:dPt>
            <c:idx val="3"/>
            <c:invertIfNegative val="0"/>
            <c:spPr>
              <a:solidFill xmlns:a="http://schemas.openxmlformats.org/drawingml/2006/main">
                <a:srgbClr val="B04A25"/>
              </a:solidFill>
            </c:spPr>
          </c:dPt>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Sheet1!$A$2:$A$5</c:f>
              <c:strCache>
                <c:ptCount val="4"/>
                <c:pt idx="0">
                  <c:v>Staleness and
caching</c:v>
                </c:pt>
                <c:pt idx="1">
                  <c:v>Degradation and
window handling</c:v>
                </c:pt>
                <c:pt idx="2">
                  <c:v>Reconciliation and
monitoring</c:v>
                </c:pt>
                <c:pt idx="3">
                  <c:v>The integration
itself</c:v>
                </c:pt>
              </c:strCache>
            </c:strRef>
          </c:cat>
          <c:val>
            <c:numRef>
              <c:f>Sheet1!$B$2:$B$5</c:f>
              <c:numCache>
                <c:formatCode>General</c:formatCode>
                <c:ptCount val="4"/>
                <c:pt idx="0">
                  <c:v>24</c:v>
                </c:pt>
                <c:pt idx="1">
                  <c:v>18</c:v>
                </c:pt>
                <c:pt idx="2">
                  <c:v>27</c:v>
                </c:pt>
                <c:pt idx="3">
                  <c:v>31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0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55"/>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0"/>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charts/chart33.xml><?xml version="1.0" encoding="utf-8"?>
<c:chartSpace xmlns:c="http://schemas.openxmlformats.org/drawingml/2006/chart">
  <c:lang val="en-US"/>
  <c:roundedCorners val="1"/>
  <c:chart>
    <c:autoTitleDeleted val="1"/>
    <c:plotArea>
      <c:barChart>
        <c:barDir val="col"/>
        <c:grouping val="clustered"/>
        <c:varyColors val="0"/>
        <c:ser>
          <c:idx val="0"/>
          <c:order val="0"/>
          <c:tx>
            <c:strRef>
              <c:f>Sheet1!$B$1</c:f>
              <c:strCache>
                <c:ptCount val="1"/>
                <c:pt idx="0">
                  <c:v>Share of card queries</c:v>
                </c:pt>
              </c:strCache>
            </c:strRef>
          </c:tx>
          <c:spPr>
            <a:solidFill xmlns:a="http://schemas.openxmlformats.org/drawingml/2006/main">
              <a:srgbClr val="B04A25"/>
            </a:solidFill>
          </c:spPr>
          <c:dPt>
            <c:idx val="0"/>
            <c:invertIfNegative val="0"/>
            <c:spPr>
              <a:solidFill xmlns:a="http://schemas.openxmlformats.org/drawingml/2006/main">
                <a:srgbClr val="B04A25"/>
              </a:solidFill>
            </c:spPr>
          </c:dPt>
          <c:dPt>
            <c:idx val="1"/>
            <c:invertIfNegative val="0"/>
            <c:spPr>
              <a:solidFill xmlns:a="http://schemas.openxmlformats.org/drawingml/2006/main">
                <a:srgbClr val="486581"/>
              </a:solidFill>
            </c:spPr>
          </c:dPt>
          <c:dPt>
            <c:idx val="2"/>
            <c:invertIfNegative val="0"/>
            <c:spPr>
              <a:solidFill xmlns:a="http://schemas.openxmlformats.org/drawingml/2006/main">
                <a:srgbClr val="486581"/>
              </a:solidFill>
            </c:spPr>
          </c:dPt>
          <c:dPt>
            <c:idx val="3"/>
            <c:invertIfNegative val="0"/>
            <c:spPr>
              <a:solidFill xmlns:a="http://schemas.openxmlformats.org/drawingml/2006/main">
                <a:srgbClr val="486581"/>
              </a:solidFill>
            </c:spPr>
          </c:dPt>
          <c:dPt>
            <c:idx val="4"/>
            <c:invertIfNegative val="0"/>
            <c:spPr>
              <a:solidFill xmlns:a="http://schemas.openxmlformats.org/drawingml/2006/main">
                <a:srgbClr val="486581"/>
              </a:solidFill>
            </c:spPr>
          </c:dPt>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cat>
            <c:strRef>
              <c:f>Sheet1!$A$2:$A$6</c:f>
              <c:strCache>
                <c:ptCount val="5"/>
                <c:pt idx="0">
                  <c:v>Declined and
member unsure why</c:v>
                </c:pt>
                <c:pt idx="1">
                  <c:v>Disputed or
unrecognised charge</c:v>
                </c:pt>
                <c:pt idx="2">
                  <c:v>Status, limit or
activation</c:v>
                </c:pt>
                <c:pt idx="3">
                  <c:v>Lost, stolen
or replacement</c:v>
                </c:pt>
                <c:pt idx="4">
                  <c:v>Travel, blocks
and controls</c:v>
                </c:pt>
              </c:strCache>
            </c:strRef>
          </c:cat>
          <c:val>
            <c:numRef>
              <c:f>Sheet1!$B$2:$B$6</c:f>
              <c:numCache>
                <c:formatCode>General</c:formatCode>
                <c:ptCount val="5"/>
                <c:pt idx="0">
                  <c:v>34</c:v>
                </c:pt>
                <c:pt idx="1">
                  <c:v>21</c:v>
                </c:pt>
                <c:pt idx="2">
                  <c:v>18</c:v>
                </c:pt>
                <c:pt idx="3">
                  <c:v>15</c:v>
                </c:pt>
                <c:pt idx="4">
                  <c:v>12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100" b="1" i="0" u="none">
                  <a:solidFill>
                    <a:srgbClr val="102A43"/>
                  </a:solidFill>
                  <a:latin typeface="Arial"/>
                  <a:ea typeface="Arial"/>
                  <a:cs typeface="Arial"/>
                </a:defRPr>
              </a:pPr>
            </a:p>
          </c:txPr>
          <c:showLegendKey val="0"/>
          <c:showVal val="1"/>
          <c:showCatName val="0"/>
          <c:showSerName val="0"/>
          <c:showPercent val="0"/>
          <c:showBubbleSize val="0"/>
          <c:showLeaderLines val="0"/>
        </c:dLbls>
        <c:gapWidth val="60"/>
        <c:overlap val="0"/>
        <c:axId val="2094734554"/>
        <c:axId val="2094734552"/>
      </c:barChart>
      <c:catAx>
        <c:axId val="2094734554"/>
        <c:scaling>
          <c:orientation val="minMax"/>
        </c:scaling>
        <c:delete val="0"/>
        <c:axPos val="b"/>
        <c:numFmt formatCode="General" sourceLinked="1"/>
        <c:majorTickMark val="out"/>
        <c:minorTickMark val="none"/>
        <c:tickLblPos val="low"/>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60" b="0" i="0" u="none">
                <a:solidFill>
                  <a:srgbClr val="486581"/>
                </a:solidFill>
                <a:latin typeface="Arial"/>
                <a:ea typeface="Arial"/>
                <a:cs typeface="Arial"/>
              </a:defRPr>
            </a:pPr>
          </a:p>
        </c:txPr>
        <c:crossAx val="2094734552"/>
        <c:crosses val="autoZero"/>
      </c:catAx>
      <c:valAx>
        <c:axId val="2094734552"/>
        <c:scaling>
          <c:orientation val="minMax"/>
          <c:max val="42"/>
          <c:min val="0"/>
        </c:scaling>
        <c:delete val="0"/>
        <c:axPos val="l"/>
        <c:majorGridlines>
          <c:spPr>
            <a:ln xmlns:a="http://schemas.openxmlformats.org/drawingml/2006/main" w="9525">
              <a:solidFill>
                <a:srgbClr val="EDF1F5"/>
              </a:solidFill>
              <a:prstDash val="solid"/>
            </a:ln>
          </c:spPr>
        </c:majorGridlines>
        <c:numFmt formatCode="General" sourceLinked="0"/>
        <c:majorTickMark val="out"/>
        <c:minorTickMark val="none"/>
        <c:tickLblPos val="nextTo"/>
        <c:spPr>
          <a:ln xmlns:a="http://schemas.openxmlformats.org/drawingml/2006/main" w="12700">
            <a:noFill/>
            <a:prstDash val="solid"/>
          </a:ln>
        </c:spPr>
        <c:txPr>
          <a:bodyPr xmlns:a="http://schemas.openxmlformats.org/drawingml/2006/main" anchorCtr="1"/>
          <a:lstStyle xmlns:a="http://schemas.openxmlformats.org/drawingml/2006/main"/>
          <a:p xmlns:a="http://schemas.openxmlformats.org/drawingml/2006/main">
            <a:pPr>
              <a:defRPr sz="840" b="0" i="0" u="none">
                <a:solidFill>
                  <a:srgbClr val="627D98"/>
                </a:solidFill>
                <a:latin typeface="Arial"/>
                <a:ea typeface="Arial"/>
                <a:cs typeface="Arial"/>
              </a:defRPr>
            </a:pPr>
          </a:p>
        </c:txPr>
        <c:crossAx val="2094734554"/>
        <c:crosses val="autoZero"/>
        <c:crossBetween val="between"/>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chartSpace>
</file>

<file path=ppt/slides/slide1.xml><?xml version="1.0" encoding="utf-8"?>
<p:sld xmlns:p="http://schemas.openxmlformats.org/presentationml/2006/main">
  <p:cSld>
    <p:bg>
      <p:bgPr>
        <a:solidFill xmlns:a="http://schemas.openxmlformats.org/drawingml/2006/main">
          <a:srgbClr val="1529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840A1B4-19D7-4D6E-A6E1-9BF89D76B374}"/>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5293F"/>
          </a:solidFill>
        </p:spPr>
      </p:sp>
      <p:sp>
        <p:nvSpPr>
          <p:cNvPr id="3" name="Shape 1">
            <a:extLst xmlns:a="http://schemas.openxmlformats.org/drawingml/2006/main">
              <a:ext uri="{FF2B5EF4-FFF2-40B4-BE49-F238E27FC236}">
                <a16:creationId xmlns:a16="http://schemas.microsoft.com/office/drawing/2014/main" id="{0954EE79-A9EE-40A8-946D-F06EF69FF45A}"/>
              </a:ext>
            </a:extLst>
          </p:cNvPr>
          <p:cNvSpPr>
            <a:spLocks xmlns:a="http://schemas.openxmlformats.org/drawingml/2006/main" noGrp="1"/>
          </p:cNvSpPr>
          <p:nvPr/>
        </p:nvSpPr>
        <p:spPr>
          <a:xfrm xmlns:a="http://schemas.openxmlformats.org/drawingml/2006/main">
            <a:off x="548640" y="566928"/>
            <a:ext cx="310896" cy="310896"/>
          </a:xfrm>
          <a:prstGeom xmlns:a="http://schemas.openxmlformats.org/drawingml/2006/main" prst="roundRect">
            <a:avLst>
              <a:gd name="adj" fmla="val 23529"/>
            </a:avLst>
          </a:prstGeom>
          <a:solidFill xmlns:a="http://schemas.openxmlformats.org/drawingml/2006/main">
            <a:srgbClr val="EE2B76"/>
          </a:solidFill>
        </p:spPr>
      </p:sp>
      <p:sp>
        <p:nvSpPr>
          <p:cNvPr id="4" name="Shape 2">
            <a:extLst xmlns:a="http://schemas.openxmlformats.org/drawingml/2006/main">
              <a:ext uri="{FF2B5EF4-FFF2-40B4-BE49-F238E27FC236}">
                <a16:creationId xmlns:a16="http://schemas.microsoft.com/office/drawing/2014/main" id="{08AA6BFC-8F76-4E7B-BDAA-6C1DDF735378}"/>
              </a:ext>
            </a:extLst>
          </p:cNvPr>
          <p:cNvSpPr>
            <a:spLocks xmlns:a="http://schemas.openxmlformats.org/drawingml/2006/main" noGrp="1"/>
          </p:cNvSpPr>
          <p:nvPr/>
        </p:nvSpPr>
        <p:spPr>
          <a:xfrm xmlns:a="http://schemas.openxmlformats.org/drawingml/2006/main">
            <a:off x="932688" y="566928"/>
            <a:ext cx="310896" cy="310896"/>
          </a:xfrm>
          <a:prstGeom xmlns:a="http://schemas.openxmlformats.org/drawingml/2006/main" prst="roundRect">
            <a:avLst>
              <a:gd name="adj" fmla="val 23529"/>
            </a:avLst>
          </a:prstGeom>
          <a:solidFill xmlns:a="http://schemas.openxmlformats.org/drawingml/2006/main">
            <a:srgbClr val="2E4A6B"/>
          </a:solidFill>
        </p:spPr>
      </p:sp>
      <p:sp>
        <p:nvSpPr>
          <p:cNvPr id="5" name="Text 3">
            <a:extLst xmlns:a="http://schemas.openxmlformats.org/drawingml/2006/main">
              <a:ext uri="{FF2B5EF4-FFF2-40B4-BE49-F238E27FC236}">
                <a16:creationId xmlns:a16="http://schemas.microsoft.com/office/drawing/2014/main" id="{1D6B7C53-1D68-4D7E-8A0F-6DF4CDC32B0A}"/>
              </a:ext>
            </a:extLst>
          </p:cNvPr>
          <p:cNvSpPr>
            <a:spLocks xmlns:a="http://schemas.openxmlformats.org/drawingml/2006/main" noGrp="1"/>
          </p:cNvSpPr>
          <p:nvPr/>
        </p:nvSpPr>
        <p:spPr>
          <a:xfrm xmlns:a="http://schemas.openxmlformats.org/drawingml/2006/main">
            <a:off x="1408176" y="54864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CADCFC"/>
                </a:solidFill>
                <a:latin typeface="Poppins"/>
                <a:ea typeface="Poppins"/>
                <a:cs typeface="Poppins"/>
              </a:rPr>
              <a:t>CASE STUDY · ATTRIBUTED CASE EVIDENCE; LIMITATIONS IN NOTES</a:t>
            </a:r>
            <a:endParaRPr sz="1200"/>
          </a:p>
        </p:txBody>
      </p:sp>
      <p:sp>
        <p:nvSpPr>
          <p:cNvPr id="6" name="Text 4">
            <a:extLst xmlns:a="http://schemas.openxmlformats.org/drawingml/2006/main">
              <a:ext uri="{FF2B5EF4-FFF2-40B4-BE49-F238E27FC236}">
                <a16:creationId xmlns:a16="http://schemas.microsoft.com/office/drawing/2014/main" id="{0F141059-651E-49AC-9ED9-4AE844123C08}"/>
              </a:ext>
            </a:extLst>
          </p:cNvPr>
          <p:cNvSpPr>
            <a:spLocks xmlns:a="http://schemas.openxmlformats.org/drawingml/2006/main" noGrp="1"/>
          </p:cNvSpPr>
          <p:nvPr/>
        </p:nvSpPr>
        <p:spPr>
          <a:xfrm xmlns:a="http://schemas.openxmlformats.org/drawingml/2006/main">
            <a:off x="548640" y="1828800"/>
            <a:ext cx="1097280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5400" b="1">
                <a:solidFill>
                  <a:srgbClr val="FFFFFF"/>
                </a:solidFill>
                <a:latin typeface="Poppins"/>
                <a:ea typeface="Poppins"/>
                <a:cs typeface="Poppins"/>
              </a:rPr>
              <a:t>HDFC Bank — Unified Banking</a:t>
            </a:r>
            <a:endParaRPr sz="5400"/>
          </a:p>
        </p:txBody>
      </p:sp>
      <p:sp>
        <p:nvSpPr>
          <p:cNvPr id="7" name="Text 5">
            <a:extLst xmlns:a="http://schemas.openxmlformats.org/drawingml/2006/main">
              <a:ext uri="{FF2B5EF4-FFF2-40B4-BE49-F238E27FC236}">
                <a16:creationId xmlns:a16="http://schemas.microsoft.com/office/drawing/2014/main" id="{82EC91F9-BB58-4A11-868A-652F69BA4B08}"/>
              </a:ext>
            </a:extLst>
          </p:cNvPr>
          <p:cNvSpPr>
            <a:spLocks xmlns:a="http://schemas.openxmlformats.org/drawingml/2006/main" noGrp="1"/>
          </p:cNvSpPr>
          <p:nvPr/>
        </p:nvSpPr>
        <p:spPr>
          <a:xfrm xmlns:a="http://schemas.openxmlformats.org/drawingml/2006/main">
            <a:off x="548640" y="2852928"/>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000">
                <a:solidFill>
                  <a:srgbClr val="CADCFC"/>
                </a:solidFill>
                <a:latin typeface="Poppins"/>
                <a:ea typeface="Poppins"/>
                <a:cs typeface="Poppins"/>
              </a:rPr>
              <a:t>A public-source reconstruction of scale, capabilities and reported outcomes</a:t>
            </a:r>
            <a:endParaRPr sz="2000"/>
          </a:p>
        </p:txBody>
      </p:sp>
      <p:sp>
        <p:nvSpPr>
          <p:cNvPr id="8" name="Text 6">
            <a:extLst xmlns:a="http://schemas.openxmlformats.org/drawingml/2006/main">
              <a:ext uri="{FF2B5EF4-FFF2-40B4-BE49-F238E27FC236}">
                <a16:creationId xmlns:a16="http://schemas.microsoft.com/office/drawing/2014/main" id="{C5C81530-935C-49E3-9D56-E6390563AFC2}"/>
              </a:ext>
            </a:extLst>
          </p:cNvPr>
          <p:cNvSpPr>
            <a:spLocks xmlns:a="http://schemas.openxmlformats.org/drawingml/2006/main" noGrp="1"/>
          </p:cNvSpPr>
          <p:nvPr/>
        </p:nvSpPr>
        <p:spPr>
          <a:xfrm xmlns:a="http://schemas.openxmlformats.org/drawingml/2006/main">
            <a:off x="548640" y="3346704"/>
            <a:ext cx="104241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400" i="1">
                <a:solidFill>
                  <a:srgbClr val="A9B8CC"/>
                </a:solidFill>
                <a:latin typeface="Calibri"/>
                <a:ea typeface="Calibri"/>
                <a:cs typeface="Calibri"/>
              </a:rPr>
              <a:t>Built only from the BUSINESSNEXT customer story. Confidential journey documents are excluded from the narrative.</a:t>
            </a:r>
            <a:endParaRPr sz="1400"/>
          </a:p>
        </p:txBody>
      </p:sp>
      <p:sp>
        <p:nvSpPr>
          <p:cNvPr id="9" name="Shape 7">
            <a:extLst xmlns:a="http://schemas.openxmlformats.org/drawingml/2006/main">
              <a:ext uri="{FF2B5EF4-FFF2-40B4-BE49-F238E27FC236}">
                <a16:creationId xmlns:a16="http://schemas.microsoft.com/office/drawing/2014/main" id="{2A40A32B-5E9B-4C48-8F87-A742CC2051F2}"/>
              </a:ext>
            </a:extLst>
          </p:cNvPr>
          <p:cNvSpPr>
            <a:spLocks xmlns:a="http://schemas.openxmlformats.org/drawingml/2006/main" noGrp="1"/>
          </p:cNvSpPr>
          <p:nvPr/>
        </p:nvSpPr>
        <p:spPr>
          <a:xfrm xmlns:a="http://schemas.openxmlformats.org/drawingml/2006/main">
            <a:off x="548640"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10" name="Shape 8">
            <a:extLst xmlns:a="http://schemas.openxmlformats.org/drawingml/2006/main">
              <a:ext uri="{FF2B5EF4-FFF2-40B4-BE49-F238E27FC236}">
                <a16:creationId xmlns:a16="http://schemas.microsoft.com/office/drawing/2014/main" id="{02749CBB-F33E-4F6D-8000-30ACFE662789}"/>
              </a:ext>
            </a:extLst>
          </p:cNvPr>
          <p:cNvSpPr>
            <a:spLocks xmlns:a="http://schemas.openxmlformats.org/drawingml/2006/main" noGrp="1"/>
          </p:cNvSpPr>
          <p:nvPr/>
        </p:nvSpPr>
        <p:spPr>
          <a:xfrm xmlns:a="http://schemas.openxmlformats.org/drawingml/2006/main">
            <a:off x="749808"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461cdc2412184ae7"/>
          <a:stretch xmlns:a="http://schemas.openxmlformats.org/drawingml/2006/main">
            <a:fillRect l="0" t="0" r="0" b="0"/>
          </a:stretch>
        </p:blipFill>
        <p:spPr>
          <a:xfrm xmlns:a="http://schemas.openxmlformats.org/drawingml/2006/main">
            <a:off x="868680" y="4681728"/>
            <a:ext cx="219456" cy="219456"/>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9F5648A8-A590-4D65-8FFC-A47AC3D70841}"/>
              </a:ext>
            </a:extLst>
          </p:cNvPr>
          <p:cNvSpPr>
            <a:spLocks xmlns:a="http://schemas.openxmlformats.org/drawingml/2006/main" noGrp="1"/>
          </p:cNvSpPr>
          <p:nvPr/>
        </p:nvSpPr>
        <p:spPr>
          <a:xfrm xmlns:a="http://schemas.openxmlformats.org/drawingml/2006/main">
            <a:off x="1316736"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100,000+</a:t>
            </a:r>
            <a:endParaRPr sz="1800"/>
          </a:p>
        </p:txBody>
      </p:sp>
      <p:sp>
        <p:nvSpPr>
          <p:cNvPr id="13" name="Text 10">
            <a:extLst xmlns:a="http://schemas.openxmlformats.org/drawingml/2006/main">
              <a:ext uri="{FF2B5EF4-FFF2-40B4-BE49-F238E27FC236}">
                <a16:creationId xmlns:a16="http://schemas.microsoft.com/office/drawing/2014/main" id="{21D2399F-FA86-43CF-9AC9-298F22177CAC}"/>
              </a:ext>
            </a:extLst>
          </p:cNvPr>
          <p:cNvSpPr>
            <a:spLocks xmlns:a="http://schemas.openxmlformats.org/drawingml/2006/main" noGrp="1"/>
          </p:cNvSpPr>
          <p:nvPr/>
        </p:nvSpPr>
        <p:spPr>
          <a:xfrm xmlns:a="http://schemas.openxmlformats.org/drawingml/2006/main">
            <a:off x="768096"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users reported</a:t>
            </a:r>
            <a:endParaRPr sz="1050"/>
          </a:p>
        </p:txBody>
      </p:sp>
      <p:sp>
        <p:nvSpPr>
          <p:cNvPr id="14" name="Shape 11">
            <a:extLst xmlns:a="http://schemas.openxmlformats.org/drawingml/2006/main">
              <a:ext uri="{FF2B5EF4-FFF2-40B4-BE49-F238E27FC236}">
                <a16:creationId xmlns:a16="http://schemas.microsoft.com/office/drawing/2014/main" id="{D6D30884-90D4-4B42-B336-BEE39010A157}"/>
              </a:ext>
            </a:extLst>
          </p:cNvPr>
          <p:cNvSpPr>
            <a:spLocks xmlns:a="http://schemas.openxmlformats.org/drawingml/2006/main" noGrp="1"/>
          </p:cNvSpPr>
          <p:nvPr/>
        </p:nvSpPr>
        <p:spPr>
          <a:xfrm xmlns:a="http://schemas.openxmlformats.org/drawingml/2006/main">
            <a:off x="3419856"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15" name="Shape 12">
            <a:extLst xmlns:a="http://schemas.openxmlformats.org/drawingml/2006/main">
              <a:ext uri="{FF2B5EF4-FFF2-40B4-BE49-F238E27FC236}">
                <a16:creationId xmlns:a16="http://schemas.microsoft.com/office/drawing/2014/main" id="{A3BE1B03-B654-4D06-885B-C8AA8A40548B}"/>
              </a:ext>
            </a:extLst>
          </p:cNvPr>
          <p:cNvSpPr>
            <a:spLocks xmlns:a="http://schemas.openxmlformats.org/drawingml/2006/main" noGrp="1"/>
          </p:cNvSpPr>
          <p:nvPr/>
        </p:nvSpPr>
        <p:spPr>
          <a:xfrm xmlns:a="http://schemas.openxmlformats.org/drawingml/2006/main">
            <a:off x="3621024"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389dc2dd1ef74db0"/>
          <a:stretch xmlns:a="http://schemas.openxmlformats.org/drawingml/2006/main">
            <a:fillRect l="0" t="0" r="0" b="0"/>
          </a:stretch>
        </p:blipFill>
        <p:spPr>
          <a:xfrm xmlns:a="http://schemas.openxmlformats.org/drawingml/2006/main">
            <a:off x="3739896" y="4681728"/>
            <a:ext cx="219456" cy="219456"/>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7A8FCCB6-1F42-47EC-B6EB-379EA0B98EE3}"/>
              </a:ext>
            </a:extLst>
          </p:cNvPr>
          <p:cNvSpPr>
            <a:spLocks xmlns:a="http://schemas.openxmlformats.org/drawingml/2006/main" noGrp="1"/>
          </p:cNvSpPr>
          <p:nvPr/>
        </p:nvSpPr>
        <p:spPr>
          <a:xfrm xmlns:a="http://schemas.openxmlformats.org/drawingml/2006/main">
            <a:off x="4187952"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80M+</a:t>
            </a:r>
            <a:endParaRPr sz="1800"/>
          </a:p>
        </p:txBody>
      </p:sp>
      <p:sp>
        <p:nvSpPr>
          <p:cNvPr id="18" name="Text 14">
            <a:extLst xmlns:a="http://schemas.openxmlformats.org/drawingml/2006/main">
              <a:ext uri="{FF2B5EF4-FFF2-40B4-BE49-F238E27FC236}">
                <a16:creationId xmlns:a16="http://schemas.microsoft.com/office/drawing/2014/main" id="{47C5B32C-9D4D-4449-8235-490E4B181692}"/>
              </a:ext>
            </a:extLst>
          </p:cNvPr>
          <p:cNvSpPr>
            <a:spLocks xmlns:a="http://schemas.openxmlformats.org/drawingml/2006/main" noGrp="1"/>
          </p:cNvSpPr>
          <p:nvPr/>
        </p:nvSpPr>
        <p:spPr>
          <a:xfrm xmlns:a="http://schemas.openxmlformats.org/drawingml/2006/main">
            <a:off x="3639312"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customers in scope</a:t>
            </a:r>
            <a:endParaRPr sz="1050"/>
          </a:p>
        </p:txBody>
      </p:sp>
      <p:sp>
        <p:nvSpPr>
          <p:cNvPr id="19" name="Shape 15">
            <a:extLst xmlns:a="http://schemas.openxmlformats.org/drawingml/2006/main">
              <a:ext uri="{FF2B5EF4-FFF2-40B4-BE49-F238E27FC236}">
                <a16:creationId xmlns:a16="http://schemas.microsoft.com/office/drawing/2014/main" id="{B3545E70-0B10-4309-BADE-4C4B0AF7C14A}"/>
              </a:ext>
            </a:extLst>
          </p:cNvPr>
          <p:cNvSpPr>
            <a:spLocks xmlns:a="http://schemas.openxmlformats.org/drawingml/2006/main" noGrp="1"/>
          </p:cNvSpPr>
          <p:nvPr/>
        </p:nvSpPr>
        <p:spPr>
          <a:xfrm xmlns:a="http://schemas.openxmlformats.org/drawingml/2006/main">
            <a:off x="6291072"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20" name="Shape 16">
            <a:extLst xmlns:a="http://schemas.openxmlformats.org/drawingml/2006/main">
              <a:ext uri="{FF2B5EF4-FFF2-40B4-BE49-F238E27FC236}">
                <a16:creationId xmlns:a16="http://schemas.microsoft.com/office/drawing/2014/main" id="{E7E10036-E063-4636-8001-B8F70ADCA835}"/>
              </a:ext>
            </a:extLst>
          </p:cNvPr>
          <p:cNvSpPr>
            <a:spLocks xmlns:a="http://schemas.openxmlformats.org/drawingml/2006/main" noGrp="1"/>
          </p:cNvSpPr>
          <p:nvPr/>
        </p:nvSpPr>
        <p:spPr>
          <a:xfrm xmlns:a="http://schemas.openxmlformats.org/drawingml/2006/main">
            <a:off x="6492240"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3" name="Image 2"/>
          <p:cNvPicPr>
            <a:picLocks xmlns:a="http://schemas.openxmlformats.org/drawingml/2006/main" noChangeAspect="1"/>
          </p:cNvPicPr>
          <p:nvPr/>
        </p:nvPicPr>
        <p:blipFill>
          <a:blip xmlns:r="http://schemas.openxmlformats.org/officeDocument/2006/relationships" xmlns:a="http://schemas.openxmlformats.org/drawingml/2006/main" r:embed="R5faf96c160f94f1e"/>
          <a:stretch xmlns:a="http://schemas.openxmlformats.org/drawingml/2006/main">
            <a:fillRect l="0" t="0" r="0" b="0"/>
          </a:stretch>
        </p:blipFill>
        <p:spPr>
          <a:xfrm xmlns:a="http://schemas.openxmlformats.org/drawingml/2006/main">
            <a:off x="6611112" y="4681728"/>
            <a:ext cx="219456" cy="219456"/>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B1CC6B76-AE8D-4899-86DE-6E95CABBEC1C}"/>
              </a:ext>
            </a:extLst>
          </p:cNvPr>
          <p:cNvSpPr>
            <a:spLocks xmlns:a="http://schemas.openxmlformats.org/drawingml/2006/main" noGrp="1"/>
          </p:cNvSpPr>
          <p:nvPr/>
        </p:nvSpPr>
        <p:spPr>
          <a:xfrm xmlns:a="http://schemas.openxmlformats.org/drawingml/2006/main">
            <a:off x="7059168"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8,000+</a:t>
            </a:r>
            <a:endParaRPr sz="1800"/>
          </a:p>
        </p:txBody>
      </p:sp>
      <p:sp>
        <p:nvSpPr>
          <p:cNvPr id="23" name="Text 18">
            <a:extLst xmlns:a="http://schemas.openxmlformats.org/drawingml/2006/main">
              <a:ext uri="{FF2B5EF4-FFF2-40B4-BE49-F238E27FC236}">
                <a16:creationId xmlns:a16="http://schemas.microsoft.com/office/drawing/2014/main" id="{ACDE8299-B81C-4535-87BB-B1D384256AF3}"/>
              </a:ext>
            </a:extLst>
          </p:cNvPr>
          <p:cNvSpPr>
            <a:spLocks xmlns:a="http://schemas.openxmlformats.org/drawingml/2006/main" noGrp="1"/>
          </p:cNvSpPr>
          <p:nvPr/>
        </p:nvSpPr>
        <p:spPr>
          <a:xfrm xmlns:a="http://schemas.openxmlformats.org/drawingml/2006/main">
            <a:off x="6510528"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branches reported</a:t>
            </a:r>
            <a:endParaRPr sz="1050"/>
          </a:p>
        </p:txBody>
      </p:sp>
      <p:sp>
        <p:nvSpPr>
          <p:cNvPr id="24" name="Shape 19">
            <a:extLst xmlns:a="http://schemas.openxmlformats.org/drawingml/2006/main">
              <a:ext uri="{FF2B5EF4-FFF2-40B4-BE49-F238E27FC236}">
                <a16:creationId xmlns:a16="http://schemas.microsoft.com/office/drawing/2014/main" id="{6948024A-2ECC-43FD-9375-725E658D254A}"/>
              </a:ext>
            </a:extLst>
          </p:cNvPr>
          <p:cNvSpPr>
            <a:spLocks xmlns:a="http://schemas.openxmlformats.org/drawingml/2006/main" noGrp="1"/>
          </p:cNvSpPr>
          <p:nvPr/>
        </p:nvSpPr>
        <p:spPr>
          <a:xfrm xmlns:a="http://schemas.openxmlformats.org/drawingml/2006/main">
            <a:off x="9162288"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25" name="Shape 20">
            <a:extLst xmlns:a="http://schemas.openxmlformats.org/drawingml/2006/main">
              <a:ext uri="{FF2B5EF4-FFF2-40B4-BE49-F238E27FC236}">
                <a16:creationId xmlns:a16="http://schemas.microsoft.com/office/drawing/2014/main" id="{278C52E1-B0B4-4B2E-A3E2-F9EFB44EAC80}"/>
              </a:ext>
            </a:extLst>
          </p:cNvPr>
          <p:cNvSpPr>
            <a:spLocks xmlns:a="http://schemas.openxmlformats.org/drawingml/2006/main" noGrp="1"/>
          </p:cNvSpPr>
          <p:nvPr/>
        </p:nvSpPr>
        <p:spPr>
          <a:xfrm xmlns:a="http://schemas.openxmlformats.org/drawingml/2006/main">
            <a:off x="9363456"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8" name="Image 3"/>
          <p:cNvPicPr>
            <a:picLocks xmlns:a="http://schemas.openxmlformats.org/drawingml/2006/main" noChangeAspect="1"/>
          </p:cNvPicPr>
          <p:nvPr/>
        </p:nvPicPr>
        <p:blipFill>
          <a:blip xmlns:r="http://schemas.openxmlformats.org/officeDocument/2006/relationships" xmlns:a="http://schemas.openxmlformats.org/drawingml/2006/main" r:embed="R25035a5a1f7c47a9"/>
          <a:stretch xmlns:a="http://schemas.openxmlformats.org/drawingml/2006/main">
            <a:fillRect l="0" t="0" r="0" b="0"/>
          </a:stretch>
        </p:blipFill>
        <p:spPr>
          <a:xfrm xmlns:a="http://schemas.openxmlformats.org/drawingml/2006/main">
            <a:off x="9482328" y="4681728"/>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0E33183B-A363-4E1E-B42F-05345374D5A3}"/>
              </a:ext>
            </a:extLst>
          </p:cNvPr>
          <p:cNvSpPr>
            <a:spLocks xmlns:a="http://schemas.openxmlformats.org/drawingml/2006/main" noGrp="1"/>
          </p:cNvSpPr>
          <p:nvPr/>
        </p:nvSpPr>
        <p:spPr>
          <a:xfrm xmlns:a="http://schemas.openxmlformats.org/drawingml/2006/main">
            <a:off x="9930384"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100+</a:t>
            </a:r>
            <a:endParaRPr sz="1800"/>
          </a:p>
        </p:txBody>
      </p:sp>
      <p:sp>
        <p:nvSpPr>
          <p:cNvPr id="28" name="Text 22">
            <a:extLst xmlns:a="http://schemas.openxmlformats.org/drawingml/2006/main">
              <a:ext uri="{FF2B5EF4-FFF2-40B4-BE49-F238E27FC236}">
                <a16:creationId xmlns:a16="http://schemas.microsoft.com/office/drawing/2014/main" id="{2069F9AF-2A81-4C78-ADEC-8C62F257ED24}"/>
              </a:ext>
            </a:extLst>
          </p:cNvPr>
          <p:cNvSpPr>
            <a:spLocks xmlns:a="http://schemas.openxmlformats.org/drawingml/2006/main" noGrp="1"/>
          </p:cNvSpPr>
          <p:nvPr/>
        </p:nvSpPr>
        <p:spPr>
          <a:xfrm xmlns:a="http://schemas.openxmlformats.org/drawingml/2006/main">
            <a:off x="9381744"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integration touchpoints</a:t>
            </a:r>
            <a:endParaRPr sz="1050"/>
          </a:p>
        </p:txBody>
      </p:sp>
      <p:sp>
        <p:nvSpPr>
          <p:cNvPr id="29" name="Text 23">
            <a:extLst xmlns:a="http://schemas.openxmlformats.org/drawingml/2006/main">
              <a:ext uri="{FF2B5EF4-FFF2-40B4-BE49-F238E27FC236}">
                <a16:creationId xmlns:a16="http://schemas.microsoft.com/office/drawing/2014/main" id="{329D336F-1F06-488E-854F-2F808BE0D578}"/>
              </a:ext>
            </a:extLst>
          </p:cNvPr>
          <p:cNvSpPr>
            <a:spLocks xmlns:a="http://schemas.openxmlformats.org/drawingml/2006/main" noGrp="1"/>
          </p:cNvSpPr>
          <p:nvPr/>
        </p:nvSpPr>
        <p:spPr>
          <a:xfrm xmlns:a="http://schemas.openxmlformats.org/drawingml/2006/main">
            <a:off x="548640" y="630936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FFFFFF"/>
                </a:solidFill>
                <a:latin typeface="Poppins"/>
                <a:ea typeface="Poppins"/>
                <a:cs typeface="Poppins"/>
              </a:rPr>
              <a:t>BUSINESSNEXT 01 / 30 · CASE STUDY · 13 AUG 2026</a:t>
            </a:r>
            <a:endParaRPr sz="1100"/>
          </a:p>
        </p:txBody>
      </p:sp>
    </p:spTree>
    <p:extLst>
      <p:ext uri="{BB962C8B-B14F-4D97-AF65-F5344CB8AC3E}">
        <p14:creationId xmlns:p14="http://schemas.microsoft.com/office/powerpoint/2010/main" val="11520518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CEA08D6-E194-4CA1-B6BC-648606992A07}"/>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EXECUTIVE SUMMARY</a:t>
            </a:r>
            <a:endParaRPr sz="1200"/>
          </a:p>
        </p:txBody>
      </p:sp>
      <p:sp>
        <p:nvSpPr>
          <p:cNvPr id="3" name="Text 1">
            <a:extLst xmlns:a="http://schemas.openxmlformats.org/drawingml/2006/main">
              <a:ext uri="{FF2B5EF4-FFF2-40B4-BE49-F238E27FC236}">
                <a16:creationId xmlns:a16="http://schemas.microsoft.com/office/drawing/2014/main" id="{B4DB69FD-D9D6-4EA1-AD12-C399A49EEF10}"/>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Public evidence shows measurable customer impact</a:t>
            </a:r>
            <a:endParaRPr sz="3000"/>
          </a:p>
        </p:txBody>
      </p:sp>
      <p:sp>
        <p:nvSpPr>
          <p:cNvPr id="4" name="Shape 2">
            <a:extLst xmlns:a="http://schemas.openxmlformats.org/drawingml/2006/main">
              <a:ext uri="{FF2B5EF4-FFF2-40B4-BE49-F238E27FC236}">
                <a16:creationId xmlns:a16="http://schemas.microsoft.com/office/drawing/2014/main" id="{73B546EE-DCEE-4E81-B67B-137F322722EC}"/>
              </a:ext>
            </a:extLst>
          </p:cNvPr>
          <p:cNvSpPr>
            <a:spLocks xmlns:a="http://schemas.openxmlformats.org/drawingml/2006/main" noGrp="1"/>
          </p:cNvSpPr>
          <p:nvPr/>
        </p:nvSpPr>
        <p:spPr>
          <a:xfrm xmlns:a="http://schemas.openxmlformats.org/drawingml/2006/main">
            <a:off x="548640"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5" name="Shape 3">
            <a:extLst xmlns:a="http://schemas.openxmlformats.org/drawingml/2006/main">
              <a:ext uri="{FF2B5EF4-FFF2-40B4-BE49-F238E27FC236}">
                <a16:creationId xmlns:a16="http://schemas.microsoft.com/office/drawing/2014/main" id="{7AF5FE54-268B-492D-A228-A2BA71C88CD1}"/>
              </a:ext>
            </a:extLst>
          </p:cNvPr>
          <p:cNvSpPr>
            <a:spLocks xmlns:a="http://schemas.openxmlformats.org/drawingml/2006/main" noGrp="1"/>
          </p:cNvSpPr>
          <p:nvPr/>
        </p:nvSpPr>
        <p:spPr>
          <a:xfrm xmlns:a="http://schemas.openxmlformats.org/drawingml/2006/main">
            <a:off x="731520"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a8ffb76a0be34d14"/>
          <a:stretch xmlns:a="http://schemas.openxmlformats.org/drawingml/2006/main">
            <a:fillRect l="0" t="0" r="0" b="0"/>
          </a:stretch>
        </p:blipFill>
        <p:spPr>
          <a:xfrm xmlns:a="http://schemas.openxmlformats.org/drawingml/2006/main">
            <a:off x="828081" y="1760769"/>
            <a:ext cx="209215" cy="209215"/>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1C54629B-ECA1-4BD1-9E36-FAE67F18F961}"/>
              </a:ext>
            </a:extLst>
          </p:cNvPr>
          <p:cNvSpPr>
            <a:spLocks xmlns:a="http://schemas.openxmlformats.org/drawingml/2006/main" noGrp="1"/>
          </p:cNvSpPr>
          <p:nvPr/>
        </p:nvSpPr>
        <p:spPr>
          <a:xfrm xmlns:a="http://schemas.openxmlformats.org/drawingml/2006/main">
            <a:off x="694944"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208%</a:t>
            </a:r>
            <a:endParaRPr sz="1500"/>
          </a:p>
        </p:txBody>
      </p:sp>
      <p:sp>
        <p:nvSpPr>
          <p:cNvPr id="8" name="Text 5">
            <a:extLst xmlns:a="http://schemas.openxmlformats.org/drawingml/2006/main">
              <a:ext uri="{FF2B5EF4-FFF2-40B4-BE49-F238E27FC236}">
                <a16:creationId xmlns:a16="http://schemas.microsoft.com/office/drawing/2014/main" id="{86290A00-D43B-4D26-807D-33690905CF06}"/>
              </a:ext>
            </a:extLst>
          </p:cNvPr>
          <p:cNvSpPr>
            <a:spLocks xmlns:a="http://schemas.openxmlformats.org/drawingml/2006/main" noGrp="1"/>
          </p:cNvSpPr>
          <p:nvPr/>
        </p:nvSpPr>
        <p:spPr>
          <a:xfrm xmlns:a="http://schemas.openxmlformats.org/drawingml/2006/main">
            <a:off x="694944"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lead-conversion increase</a:t>
            </a:r>
            <a:endParaRPr sz="950"/>
          </a:p>
        </p:txBody>
      </p:sp>
      <p:sp>
        <p:nvSpPr>
          <p:cNvPr id="9" name="Shape 6">
            <a:extLst xmlns:a="http://schemas.openxmlformats.org/drawingml/2006/main">
              <a:ext uri="{FF2B5EF4-FFF2-40B4-BE49-F238E27FC236}">
                <a16:creationId xmlns:a16="http://schemas.microsoft.com/office/drawing/2014/main" id="{247AD6F8-F179-466D-AB11-5BA4EDBD50AC}"/>
              </a:ext>
            </a:extLst>
          </p:cNvPr>
          <p:cNvSpPr>
            <a:spLocks xmlns:a="http://schemas.openxmlformats.org/drawingml/2006/main" noGrp="1"/>
          </p:cNvSpPr>
          <p:nvPr/>
        </p:nvSpPr>
        <p:spPr>
          <a:xfrm xmlns:a="http://schemas.openxmlformats.org/drawingml/2006/main">
            <a:off x="2852928"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0" name="Shape 7">
            <a:extLst xmlns:a="http://schemas.openxmlformats.org/drawingml/2006/main">
              <a:ext uri="{FF2B5EF4-FFF2-40B4-BE49-F238E27FC236}">
                <a16:creationId xmlns:a16="http://schemas.microsoft.com/office/drawing/2014/main" id="{497C0F62-4B69-46C5-B4CF-7E2104A22718}"/>
              </a:ext>
            </a:extLst>
          </p:cNvPr>
          <p:cNvSpPr>
            <a:spLocks xmlns:a="http://schemas.openxmlformats.org/drawingml/2006/main" noGrp="1"/>
          </p:cNvSpPr>
          <p:nvPr/>
        </p:nvSpPr>
        <p:spPr>
          <a:xfrm xmlns:a="http://schemas.openxmlformats.org/drawingml/2006/main">
            <a:off x="3035808"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bc391aa02b984361"/>
          <a:stretch xmlns:a="http://schemas.openxmlformats.org/drawingml/2006/main">
            <a:fillRect l="0" t="0" r="0" b="0"/>
          </a:stretch>
        </p:blipFill>
        <p:spPr>
          <a:xfrm xmlns:a="http://schemas.openxmlformats.org/drawingml/2006/main">
            <a:off x="3132369" y="1760769"/>
            <a:ext cx="209215" cy="209215"/>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721CB9C8-3036-4F89-95B8-A3B6E1DBA6DF}"/>
              </a:ext>
            </a:extLst>
          </p:cNvPr>
          <p:cNvSpPr>
            <a:spLocks xmlns:a="http://schemas.openxmlformats.org/drawingml/2006/main" noGrp="1"/>
          </p:cNvSpPr>
          <p:nvPr/>
        </p:nvSpPr>
        <p:spPr>
          <a:xfrm xmlns:a="http://schemas.openxmlformats.org/drawingml/2006/main">
            <a:off x="2999232"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40%</a:t>
            </a:r>
            <a:endParaRPr sz="1500"/>
          </a:p>
        </p:txBody>
      </p:sp>
      <p:sp>
        <p:nvSpPr>
          <p:cNvPr id="13" name="Text 9">
            <a:extLst xmlns:a="http://schemas.openxmlformats.org/drawingml/2006/main">
              <a:ext uri="{FF2B5EF4-FFF2-40B4-BE49-F238E27FC236}">
                <a16:creationId xmlns:a16="http://schemas.microsoft.com/office/drawing/2014/main" id="{E12A6846-7473-40D8-A741-9633B56F074C}"/>
              </a:ext>
            </a:extLst>
          </p:cNvPr>
          <p:cNvSpPr>
            <a:spLocks xmlns:a="http://schemas.openxmlformats.org/drawingml/2006/main" noGrp="1"/>
          </p:cNvSpPr>
          <p:nvPr/>
        </p:nvSpPr>
        <p:spPr>
          <a:xfrm xmlns:a="http://schemas.openxmlformats.org/drawingml/2006/main">
            <a:off x="2999232"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cross-sell increase</a:t>
            </a:r>
            <a:endParaRPr sz="950"/>
          </a:p>
        </p:txBody>
      </p:sp>
      <p:sp>
        <p:nvSpPr>
          <p:cNvPr id="14" name="Shape 10">
            <a:extLst xmlns:a="http://schemas.openxmlformats.org/drawingml/2006/main">
              <a:ext uri="{FF2B5EF4-FFF2-40B4-BE49-F238E27FC236}">
                <a16:creationId xmlns:a16="http://schemas.microsoft.com/office/drawing/2014/main" id="{A5EE9E3D-9A06-4B64-BAAA-8FAA8A43240F}"/>
              </a:ext>
            </a:extLst>
          </p:cNvPr>
          <p:cNvSpPr>
            <a:spLocks xmlns:a="http://schemas.openxmlformats.org/drawingml/2006/main" noGrp="1"/>
          </p:cNvSpPr>
          <p:nvPr/>
        </p:nvSpPr>
        <p:spPr>
          <a:xfrm xmlns:a="http://schemas.openxmlformats.org/drawingml/2006/main">
            <a:off x="5157216"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5" name="Shape 11">
            <a:extLst xmlns:a="http://schemas.openxmlformats.org/drawingml/2006/main">
              <a:ext uri="{FF2B5EF4-FFF2-40B4-BE49-F238E27FC236}">
                <a16:creationId xmlns:a16="http://schemas.microsoft.com/office/drawing/2014/main" id="{BD9DBFF8-A181-475B-BD1A-434D3A304BBE}"/>
              </a:ext>
            </a:extLst>
          </p:cNvPr>
          <p:cNvSpPr>
            <a:spLocks xmlns:a="http://schemas.openxmlformats.org/drawingml/2006/main" noGrp="1"/>
          </p:cNvSpPr>
          <p:nvPr/>
        </p:nvSpPr>
        <p:spPr>
          <a:xfrm xmlns:a="http://schemas.openxmlformats.org/drawingml/2006/main">
            <a:off x="5340096"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a580c05aca164436"/>
          <a:stretch xmlns:a="http://schemas.openxmlformats.org/drawingml/2006/main">
            <a:fillRect l="0" t="0" r="0" b="0"/>
          </a:stretch>
        </p:blipFill>
        <p:spPr>
          <a:xfrm xmlns:a="http://schemas.openxmlformats.org/drawingml/2006/main">
            <a:off x="5436657" y="1760769"/>
            <a:ext cx="209215" cy="209215"/>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4529A117-8ABB-415B-AE53-6EBA177DC51D}"/>
              </a:ext>
            </a:extLst>
          </p:cNvPr>
          <p:cNvSpPr>
            <a:spLocks xmlns:a="http://schemas.openxmlformats.org/drawingml/2006/main" noGrp="1"/>
          </p:cNvSpPr>
          <p:nvPr/>
        </p:nvSpPr>
        <p:spPr>
          <a:xfrm xmlns:a="http://schemas.openxmlformats.org/drawingml/2006/main">
            <a:off x="5303520"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90%</a:t>
            </a:r>
            <a:endParaRPr sz="1500"/>
          </a:p>
        </p:txBody>
      </p:sp>
      <p:sp>
        <p:nvSpPr>
          <p:cNvPr id="18" name="Text 13">
            <a:extLst xmlns:a="http://schemas.openxmlformats.org/drawingml/2006/main">
              <a:ext uri="{FF2B5EF4-FFF2-40B4-BE49-F238E27FC236}">
                <a16:creationId xmlns:a16="http://schemas.microsoft.com/office/drawing/2014/main" id="{004F3183-A8B1-48B3-BB39-F5BE98B83C65}"/>
              </a:ext>
            </a:extLst>
          </p:cNvPr>
          <p:cNvSpPr>
            <a:spLocks xmlns:a="http://schemas.openxmlformats.org/drawingml/2006/main" noGrp="1"/>
          </p:cNvSpPr>
          <p:nvPr/>
        </p:nvSpPr>
        <p:spPr>
          <a:xfrm xmlns:a="http://schemas.openxmlformats.org/drawingml/2006/main">
            <a:off x="5303520"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sales-TAT reduction</a:t>
            </a:r>
            <a:endParaRPr sz="950"/>
          </a:p>
        </p:txBody>
      </p:sp>
      <p:sp>
        <p:nvSpPr>
          <p:cNvPr id="19" name="Shape 14">
            <a:extLst xmlns:a="http://schemas.openxmlformats.org/drawingml/2006/main">
              <a:ext uri="{FF2B5EF4-FFF2-40B4-BE49-F238E27FC236}">
                <a16:creationId xmlns:a16="http://schemas.microsoft.com/office/drawing/2014/main" id="{AC6067FE-9C79-45A2-A792-4D5FD6EECE98}"/>
              </a:ext>
            </a:extLst>
          </p:cNvPr>
          <p:cNvSpPr>
            <a:spLocks xmlns:a="http://schemas.openxmlformats.org/drawingml/2006/main" noGrp="1"/>
          </p:cNvSpPr>
          <p:nvPr/>
        </p:nvSpPr>
        <p:spPr>
          <a:xfrm xmlns:a="http://schemas.openxmlformats.org/drawingml/2006/main">
            <a:off x="7461504"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20" name="Shape 15">
            <a:extLst xmlns:a="http://schemas.openxmlformats.org/drawingml/2006/main">
              <a:ext uri="{FF2B5EF4-FFF2-40B4-BE49-F238E27FC236}">
                <a16:creationId xmlns:a16="http://schemas.microsoft.com/office/drawing/2014/main" id="{7CE30157-04B7-49CA-A589-490DAF095B53}"/>
              </a:ext>
            </a:extLst>
          </p:cNvPr>
          <p:cNvSpPr>
            <a:spLocks xmlns:a="http://schemas.openxmlformats.org/drawingml/2006/main" noGrp="1"/>
          </p:cNvSpPr>
          <p:nvPr/>
        </p:nvSpPr>
        <p:spPr>
          <a:xfrm xmlns:a="http://schemas.openxmlformats.org/drawingml/2006/main">
            <a:off x="7644384"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e50ba9ccd87141d8"/>
          <a:stretch xmlns:a="http://schemas.openxmlformats.org/drawingml/2006/main">
            <a:fillRect l="0" t="0" r="0" b="0"/>
          </a:stretch>
        </p:blipFill>
        <p:spPr>
          <a:xfrm xmlns:a="http://schemas.openxmlformats.org/drawingml/2006/main">
            <a:off x="7740945" y="1760769"/>
            <a:ext cx="209215" cy="209215"/>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575B3E16-5E0F-43CF-9068-033A396678E9}"/>
              </a:ext>
            </a:extLst>
          </p:cNvPr>
          <p:cNvSpPr>
            <a:spLocks xmlns:a="http://schemas.openxmlformats.org/drawingml/2006/main" noGrp="1"/>
          </p:cNvSpPr>
          <p:nvPr/>
        </p:nvSpPr>
        <p:spPr>
          <a:xfrm xmlns:a="http://schemas.openxmlformats.org/drawingml/2006/main">
            <a:off x="7607808"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42%</a:t>
            </a:r>
            <a:endParaRPr sz="1500"/>
          </a:p>
        </p:txBody>
      </p:sp>
      <p:sp>
        <p:nvSpPr>
          <p:cNvPr id="23" name="Text 17">
            <a:extLst xmlns:a="http://schemas.openxmlformats.org/drawingml/2006/main">
              <a:ext uri="{FF2B5EF4-FFF2-40B4-BE49-F238E27FC236}">
                <a16:creationId xmlns:a16="http://schemas.microsoft.com/office/drawing/2014/main" id="{249E471B-36A7-41ED-8D48-696A19246882}"/>
              </a:ext>
            </a:extLst>
          </p:cNvPr>
          <p:cNvSpPr>
            <a:spLocks xmlns:a="http://schemas.openxmlformats.org/drawingml/2006/main" noGrp="1"/>
          </p:cNvSpPr>
          <p:nvPr/>
        </p:nvSpPr>
        <p:spPr>
          <a:xfrm xmlns:a="http://schemas.openxmlformats.org/drawingml/2006/main">
            <a:off x="7607808"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NPS increase</a:t>
            </a:r>
            <a:endParaRPr sz="950"/>
          </a:p>
        </p:txBody>
      </p:sp>
      <p:sp>
        <p:nvSpPr>
          <p:cNvPr id="24" name="Shape 18">
            <a:extLst xmlns:a="http://schemas.openxmlformats.org/drawingml/2006/main">
              <a:ext uri="{FF2B5EF4-FFF2-40B4-BE49-F238E27FC236}">
                <a16:creationId xmlns:a16="http://schemas.microsoft.com/office/drawing/2014/main" id="{18CD817D-24C1-4D0D-AF0D-173B93F6A35C}"/>
              </a:ext>
            </a:extLst>
          </p:cNvPr>
          <p:cNvSpPr>
            <a:spLocks xmlns:a="http://schemas.openxmlformats.org/drawingml/2006/main" noGrp="1"/>
          </p:cNvSpPr>
          <p:nvPr/>
        </p:nvSpPr>
        <p:spPr>
          <a:xfrm xmlns:a="http://schemas.openxmlformats.org/drawingml/2006/main">
            <a:off x="9765792"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25" name="Shape 19">
            <a:extLst xmlns:a="http://schemas.openxmlformats.org/drawingml/2006/main">
              <a:ext uri="{FF2B5EF4-FFF2-40B4-BE49-F238E27FC236}">
                <a16:creationId xmlns:a16="http://schemas.microsoft.com/office/drawing/2014/main" id="{58B1FE7C-4EB7-45B5-BBF8-5C06F21C5FF3}"/>
              </a:ext>
            </a:extLst>
          </p:cNvPr>
          <p:cNvSpPr>
            <a:spLocks xmlns:a="http://schemas.openxmlformats.org/drawingml/2006/main" noGrp="1"/>
          </p:cNvSpPr>
          <p:nvPr/>
        </p:nvSpPr>
        <p:spPr>
          <a:xfrm xmlns:a="http://schemas.openxmlformats.org/drawingml/2006/main">
            <a:off x="9948672"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4" name="Image 4"/>
          <p:cNvPicPr>
            <a:picLocks xmlns:a="http://schemas.openxmlformats.org/drawingml/2006/main" noChangeAspect="1"/>
          </p:cNvPicPr>
          <p:nvPr/>
        </p:nvPicPr>
        <p:blipFill>
          <a:blip xmlns:r="http://schemas.openxmlformats.org/officeDocument/2006/relationships" xmlns:a="http://schemas.openxmlformats.org/drawingml/2006/main" r:embed="R80fd7b1b207e495e"/>
          <a:stretch xmlns:a="http://schemas.openxmlformats.org/drawingml/2006/main">
            <a:fillRect l="0" t="0" r="0" b="0"/>
          </a:stretch>
        </p:blipFill>
        <p:spPr>
          <a:xfrm xmlns:a="http://schemas.openxmlformats.org/drawingml/2006/main">
            <a:off x="10045233" y="1760769"/>
            <a:ext cx="209215" cy="209215"/>
          </a:xfrm>
          <a:prstGeom xmlns:a="http://schemas.openxmlformats.org/drawingml/2006/main" prst="rect">
            <a:avLst/>
          </a:prstGeom>
        </p:spPr>
      </p:pic>
      <p:sp>
        <p:nvSpPr>
          <p:cNvPr id="27" name="Text 20">
            <a:extLst xmlns:a="http://schemas.openxmlformats.org/drawingml/2006/main">
              <a:ext uri="{FF2B5EF4-FFF2-40B4-BE49-F238E27FC236}">
                <a16:creationId xmlns:a16="http://schemas.microsoft.com/office/drawing/2014/main" id="{C1AC39D0-03F3-4176-9814-48F3AB190C31}"/>
              </a:ext>
            </a:extLst>
          </p:cNvPr>
          <p:cNvSpPr>
            <a:spLocks xmlns:a="http://schemas.openxmlformats.org/drawingml/2006/main" noGrp="1"/>
          </p:cNvSpPr>
          <p:nvPr/>
        </p:nvSpPr>
        <p:spPr>
          <a:xfrm xmlns:a="http://schemas.openxmlformats.org/drawingml/2006/main">
            <a:off x="9912096"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75%</a:t>
            </a:r>
            <a:endParaRPr sz="1500"/>
          </a:p>
        </p:txBody>
      </p:sp>
      <p:sp>
        <p:nvSpPr>
          <p:cNvPr id="28" name="Text 21">
            <a:extLst xmlns:a="http://schemas.openxmlformats.org/drawingml/2006/main">
              <a:ext uri="{FF2B5EF4-FFF2-40B4-BE49-F238E27FC236}">
                <a16:creationId xmlns:a16="http://schemas.microsoft.com/office/drawing/2014/main" id="{4440FB40-5589-408D-B3AD-C6A82976468B}"/>
              </a:ext>
            </a:extLst>
          </p:cNvPr>
          <p:cNvSpPr>
            <a:spLocks xmlns:a="http://schemas.openxmlformats.org/drawingml/2006/main" noGrp="1"/>
          </p:cNvSpPr>
          <p:nvPr/>
        </p:nvSpPr>
        <p:spPr>
          <a:xfrm xmlns:a="http://schemas.openxmlformats.org/drawingml/2006/main">
            <a:off x="9912096"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workforce penetration</a:t>
            </a:r>
            <a:endParaRPr sz="950"/>
          </a:p>
        </p:txBody>
      </p:sp>
      <p:sp>
        <p:nvSpPr>
          <p:cNvPr id="29" name="Shape 22">
            <a:extLst xmlns:a="http://schemas.openxmlformats.org/drawingml/2006/main">
              <a:ext uri="{FF2B5EF4-FFF2-40B4-BE49-F238E27FC236}">
                <a16:creationId xmlns:a16="http://schemas.microsoft.com/office/drawing/2014/main" id="{3297DA70-3BF3-49F4-9751-2716371C3963}"/>
              </a:ext>
            </a:extLst>
          </p:cNvPr>
          <p:cNvSpPr>
            <a:spLocks xmlns:a="http://schemas.openxmlformats.org/drawingml/2006/main" noGrp="1"/>
          </p:cNvSpPr>
          <p:nvPr/>
        </p:nvSpPr>
        <p:spPr>
          <a:xfrm xmlns:a="http://schemas.openxmlformats.org/drawingml/2006/main">
            <a:off x="548640" y="2798064"/>
            <a:ext cx="5391760" cy="3200400"/>
          </a:xfrm>
          <a:prstGeom xmlns:a="http://schemas.openxmlformats.org/drawingml/2006/main" prst="roundRect">
            <a:avLst>
              <a:gd name="adj" fmla="val 3143"/>
            </a:avLst>
          </a:prstGeom>
          <a:solidFill xmlns:a="http://schemas.openxmlformats.org/drawingml/2006/main">
            <a:srgbClr val="FFFFFF"/>
          </a:solidFill>
          <a:ln xmlns:a="http://schemas.openxmlformats.org/drawingml/2006/main" w="12700">
            <a:solidFill>
              <a:srgbClr val="D6EEDD"/>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0" name="Shape 23">
            <a:extLst xmlns:a="http://schemas.openxmlformats.org/drawingml/2006/main">
              <a:ext uri="{FF2B5EF4-FFF2-40B4-BE49-F238E27FC236}">
                <a16:creationId xmlns:a16="http://schemas.microsoft.com/office/drawing/2014/main" id="{341ACAD1-A2D7-4054-8CC6-5498E80C55CA}"/>
              </a:ext>
            </a:extLst>
          </p:cNvPr>
          <p:cNvSpPr>
            <a:spLocks xmlns:a="http://schemas.openxmlformats.org/drawingml/2006/main" noGrp="1"/>
          </p:cNvSpPr>
          <p:nvPr/>
        </p:nvSpPr>
        <p:spPr>
          <a:xfrm xmlns:a="http://schemas.openxmlformats.org/drawingml/2006/main">
            <a:off x="548640" y="2798064"/>
            <a:ext cx="5391760" cy="566928"/>
          </a:xfrm>
          <a:prstGeom xmlns:a="http://schemas.openxmlformats.org/drawingml/2006/main" prst="roundRect">
            <a:avLst>
              <a:gd name="adj" fmla="val 16129"/>
            </a:avLst>
          </a:prstGeom>
          <a:solidFill xmlns:a="http://schemas.openxmlformats.org/drawingml/2006/main">
            <a:srgbClr val="1AC567"/>
          </a:solidFill>
        </p:spPr>
      </p:sp>
      <p:sp>
        <p:nvSpPr>
          <p:cNvPr id="31" name="Shape 24">
            <a:extLst xmlns:a="http://schemas.openxmlformats.org/drawingml/2006/main">
              <a:ext uri="{FF2B5EF4-FFF2-40B4-BE49-F238E27FC236}">
                <a16:creationId xmlns:a16="http://schemas.microsoft.com/office/drawing/2014/main" id="{F6DBDEF5-DE8A-4C09-A179-23187FFB0D83}"/>
              </a:ext>
            </a:extLst>
          </p:cNvPr>
          <p:cNvSpPr>
            <a:spLocks xmlns:a="http://schemas.openxmlformats.org/drawingml/2006/main" noGrp="1"/>
          </p:cNvSpPr>
          <p:nvPr/>
        </p:nvSpPr>
        <p:spPr>
          <a:xfrm xmlns:a="http://schemas.openxmlformats.org/drawingml/2006/main">
            <a:off x="548640" y="3081528"/>
            <a:ext cx="5391760" cy="283464"/>
          </a:xfrm>
          <a:prstGeom xmlns:a="http://schemas.openxmlformats.org/drawingml/2006/main" prst="rect">
            <a:avLst/>
          </a:prstGeom>
          <a:solidFill xmlns:a="http://schemas.openxmlformats.org/drawingml/2006/main">
            <a:srgbClr val="1AC567"/>
          </a:solidFill>
        </p:spPr>
      </p:sp>
      <p:pic>
        <p:nvPicPr>
          <p:cNvPr id="80" name="Image 5"/>
          <p:cNvPicPr>
            <a:picLocks xmlns:a="http://schemas.openxmlformats.org/drawingml/2006/main" noChangeAspect="1"/>
          </p:cNvPicPr>
          <p:nvPr/>
        </p:nvPicPr>
        <p:blipFill>
          <a:blip xmlns:r="http://schemas.openxmlformats.org/officeDocument/2006/relationships" xmlns:a="http://schemas.openxmlformats.org/drawingml/2006/main" r:embed="R96a1c9b3a0bc4f56"/>
          <a:stretch xmlns:a="http://schemas.openxmlformats.org/drawingml/2006/main">
            <a:fillRect l="0" t="0" r="0" b="0"/>
          </a:stretch>
        </p:blipFill>
        <p:spPr>
          <a:xfrm xmlns:a="http://schemas.openxmlformats.org/drawingml/2006/main">
            <a:off x="768096" y="2935224"/>
            <a:ext cx="310896" cy="310896"/>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9132DEE7-D6CA-4815-844C-0215DE69C3B0}"/>
              </a:ext>
            </a:extLst>
          </p:cNvPr>
          <p:cNvSpPr>
            <a:spLocks xmlns:a="http://schemas.openxmlformats.org/drawingml/2006/main" noGrp="1"/>
          </p:cNvSpPr>
          <p:nvPr/>
        </p:nvSpPr>
        <p:spPr>
          <a:xfrm xmlns:a="http://schemas.openxmlformats.org/drawingml/2006/main">
            <a:off x="1207008" y="2798064"/>
            <a:ext cx="4568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Poppins"/>
                <a:ea typeface="Poppins"/>
                <a:cs typeface="Poppins"/>
              </a:rPr>
              <a:t>What changed</a:t>
            </a:r>
            <a:endParaRPr sz="1600"/>
          </a:p>
        </p:txBody>
      </p:sp>
      <p:sp>
        <p:nvSpPr>
          <p:cNvPr id="34" name="Text 26">
            <a:extLst xmlns:a="http://schemas.openxmlformats.org/drawingml/2006/main">
              <a:ext uri="{FF2B5EF4-FFF2-40B4-BE49-F238E27FC236}">
                <a16:creationId xmlns:a16="http://schemas.microsoft.com/office/drawing/2014/main" id="{B161F68A-1EE2-4228-A8B8-819C645E86B2}"/>
              </a:ext>
            </a:extLst>
          </p:cNvPr>
          <p:cNvSpPr>
            <a:spLocks xmlns:a="http://schemas.openxmlformats.org/drawingml/2006/main" noGrp="1"/>
          </p:cNvSpPr>
          <p:nvPr/>
        </p:nvSpPr>
        <p:spPr>
          <a:xfrm xmlns:a="http://schemas.openxmlformats.org/drawingml/2006/main">
            <a:off x="804672" y="3511296"/>
            <a:ext cx="4879696" cy="2331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spcAft>
                <a:spcPts val="800"/>
              </a:spcAft>
              <a:buSzPct val="100000"/>
              <a:buChar char="•"/>
            </a:pPr>
            <a:r>
              <a:rPr sz="1150">
                <a:solidFill>
                  <a:srgbClr val="2A231F"/>
                </a:solidFill>
                <a:latin typeface="Calibri"/>
                <a:ea typeface="Calibri"/>
                <a:cs typeface="Calibri"/>
              </a:rPr>
              <a:t>Unified customer intelligence links the frontline</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Sales, onboarding, lending and service share context</a:t>
            </a:r>
            <a:endParaRPr sz="1150"/>
          </a:p>
        </p:txBody>
      </p:sp>
      <p:sp>
        <p:nvSpPr>
          <p:cNvPr id="35" name="Shape 27">
            <a:extLst xmlns:a="http://schemas.openxmlformats.org/drawingml/2006/main">
              <a:ext uri="{FF2B5EF4-FFF2-40B4-BE49-F238E27FC236}">
                <a16:creationId xmlns:a16="http://schemas.microsoft.com/office/drawing/2014/main" id="{6536E8CE-D852-4ED2-99BD-20F8E279BDFC}"/>
              </a:ext>
            </a:extLst>
          </p:cNvPr>
          <p:cNvSpPr>
            <a:spLocks xmlns:a="http://schemas.openxmlformats.org/drawingml/2006/main" noGrp="1"/>
          </p:cNvSpPr>
          <p:nvPr/>
        </p:nvSpPr>
        <p:spPr>
          <a:xfrm xmlns:a="http://schemas.openxmlformats.org/drawingml/2006/main">
            <a:off x="6251296" y="2798064"/>
            <a:ext cx="5391760" cy="3200400"/>
          </a:xfrm>
          <a:prstGeom xmlns:a="http://schemas.openxmlformats.org/drawingml/2006/main" prst="roundRect">
            <a:avLst>
              <a:gd name="adj" fmla="val 3143"/>
            </a:avLst>
          </a:prstGeom>
          <a:solidFill xmlns:a="http://schemas.openxmlformats.org/drawingml/2006/main">
            <a:srgbClr val="FFFFFF"/>
          </a:solidFill>
          <a:ln xmlns:a="http://schemas.openxmlformats.org/drawingml/2006/main" w="12700">
            <a:solidFill>
              <a:srgbClr val="F6E2C0"/>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6" name="Shape 28">
            <a:extLst xmlns:a="http://schemas.openxmlformats.org/drawingml/2006/main">
              <a:ext uri="{FF2B5EF4-FFF2-40B4-BE49-F238E27FC236}">
                <a16:creationId xmlns:a16="http://schemas.microsoft.com/office/drawing/2014/main" id="{EF6FE09A-8580-4B9E-94AA-1EF425874BAD}"/>
              </a:ext>
            </a:extLst>
          </p:cNvPr>
          <p:cNvSpPr>
            <a:spLocks xmlns:a="http://schemas.openxmlformats.org/drawingml/2006/main" noGrp="1"/>
          </p:cNvSpPr>
          <p:nvPr/>
        </p:nvSpPr>
        <p:spPr>
          <a:xfrm xmlns:a="http://schemas.openxmlformats.org/drawingml/2006/main">
            <a:off x="6251296" y="2798064"/>
            <a:ext cx="5391760" cy="566928"/>
          </a:xfrm>
          <a:prstGeom xmlns:a="http://schemas.openxmlformats.org/drawingml/2006/main" prst="roundRect">
            <a:avLst>
              <a:gd name="adj" fmla="val 16129"/>
            </a:avLst>
          </a:prstGeom>
          <a:solidFill xmlns:a="http://schemas.openxmlformats.org/drawingml/2006/main">
            <a:srgbClr val="FFA700"/>
          </a:solidFill>
        </p:spPr>
      </p:sp>
      <p:sp>
        <p:nvSpPr>
          <p:cNvPr id="37" name="Shape 29">
            <a:extLst xmlns:a="http://schemas.openxmlformats.org/drawingml/2006/main">
              <a:ext uri="{FF2B5EF4-FFF2-40B4-BE49-F238E27FC236}">
                <a16:creationId xmlns:a16="http://schemas.microsoft.com/office/drawing/2014/main" id="{8D0A061A-23E1-4C78-9D3A-26AB768D8A7D}"/>
              </a:ext>
            </a:extLst>
          </p:cNvPr>
          <p:cNvSpPr>
            <a:spLocks xmlns:a="http://schemas.openxmlformats.org/drawingml/2006/main" noGrp="1"/>
          </p:cNvSpPr>
          <p:nvPr/>
        </p:nvSpPr>
        <p:spPr>
          <a:xfrm xmlns:a="http://schemas.openxmlformats.org/drawingml/2006/main">
            <a:off x="6251296" y="3081528"/>
            <a:ext cx="5391760" cy="283464"/>
          </a:xfrm>
          <a:prstGeom xmlns:a="http://schemas.openxmlformats.org/drawingml/2006/main" prst="rect">
            <a:avLst/>
          </a:prstGeom>
          <a:solidFill xmlns:a="http://schemas.openxmlformats.org/drawingml/2006/main">
            <a:srgbClr val="FFA700"/>
          </a:solidFill>
        </p:spPr>
      </p:sp>
      <p:pic>
        <p:nvPicPr>
          <p:cNvPr id="86" name="Image 6"/>
          <p:cNvPicPr>
            <a:picLocks xmlns:a="http://schemas.openxmlformats.org/drawingml/2006/main" noChangeAspect="1"/>
          </p:cNvPicPr>
          <p:nvPr/>
        </p:nvPicPr>
        <p:blipFill>
          <a:blip xmlns:r="http://schemas.openxmlformats.org/officeDocument/2006/relationships" xmlns:a="http://schemas.openxmlformats.org/drawingml/2006/main" r:embed="R70e20a3eee6844a3"/>
          <a:stretch xmlns:a="http://schemas.openxmlformats.org/drawingml/2006/main">
            <a:fillRect l="0" t="0" r="0" b="0"/>
          </a:stretch>
        </p:blipFill>
        <p:spPr>
          <a:xfrm xmlns:a="http://schemas.openxmlformats.org/drawingml/2006/main">
            <a:off x="6470752" y="2935224"/>
            <a:ext cx="310896" cy="310896"/>
          </a:xfrm>
          <a:prstGeom xmlns:a="http://schemas.openxmlformats.org/drawingml/2006/main" prst="rect">
            <a:avLst/>
          </a:prstGeom>
        </p:spPr>
      </p:pic>
      <p:sp>
        <p:nvSpPr>
          <p:cNvPr id="39" name="Text 30">
            <a:extLst xmlns:a="http://schemas.openxmlformats.org/drawingml/2006/main">
              <a:ext uri="{FF2B5EF4-FFF2-40B4-BE49-F238E27FC236}">
                <a16:creationId xmlns:a16="http://schemas.microsoft.com/office/drawing/2014/main" id="{82BF204D-C481-45C4-A3E4-64550F17F057}"/>
              </a:ext>
            </a:extLst>
          </p:cNvPr>
          <p:cNvSpPr>
            <a:spLocks xmlns:a="http://schemas.openxmlformats.org/drawingml/2006/main" noGrp="1"/>
          </p:cNvSpPr>
          <p:nvPr/>
        </p:nvSpPr>
        <p:spPr>
          <a:xfrm xmlns:a="http://schemas.openxmlformats.org/drawingml/2006/main">
            <a:off x="6909664" y="2798064"/>
            <a:ext cx="4568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Poppins"/>
                <a:ea typeface="Poppins"/>
                <a:cs typeface="Poppins"/>
              </a:rPr>
              <a:t>How to read the evidence</a:t>
            </a:r>
            <a:endParaRPr sz="1600"/>
          </a:p>
        </p:txBody>
      </p:sp>
      <p:sp>
        <p:nvSpPr>
          <p:cNvPr id="40" name="Text 31">
            <a:extLst xmlns:a="http://schemas.openxmlformats.org/drawingml/2006/main">
              <a:ext uri="{FF2B5EF4-FFF2-40B4-BE49-F238E27FC236}">
                <a16:creationId xmlns:a16="http://schemas.microsoft.com/office/drawing/2014/main" id="{DC549E95-81F1-407F-9867-4C0C84A46461}"/>
              </a:ext>
            </a:extLst>
          </p:cNvPr>
          <p:cNvSpPr>
            <a:spLocks xmlns:a="http://schemas.openxmlformats.org/drawingml/2006/main" noGrp="1"/>
          </p:cNvSpPr>
          <p:nvPr/>
        </p:nvSpPr>
        <p:spPr>
          <a:xfrm xmlns:a="http://schemas.openxmlformats.org/drawingml/2006/main">
            <a:off x="6507328" y="3511296"/>
            <a:ext cx="4879696" cy="2331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spcAft>
                <a:spcPts val="800"/>
              </a:spcAft>
              <a:buSzPct val="100000"/>
              <a:buChar char="•"/>
            </a:pPr>
            <a:r>
              <a:rPr sz="1150">
                <a:solidFill>
                  <a:srgbClr val="2A231F"/>
                </a:solidFill>
                <a:latin typeface="Calibri"/>
                <a:ea typeface="Calibri"/>
                <a:cs typeface="Calibri"/>
              </a:rPr>
              <a:t>Metrics are published by BUSINESSNEXT and retain attribution</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They are not presented as independently audited results</a:t>
            </a:r>
            <a:endParaRPr sz="1150"/>
          </a:p>
        </p:txBody>
      </p:sp>
      <p:sp>
        <p:nvSpPr>
          <p:cNvPr id="41" name="Text 32">
            <a:extLst xmlns:a="http://schemas.openxmlformats.org/drawingml/2006/main">
              <a:ext uri="{FF2B5EF4-FFF2-40B4-BE49-F238E27FC236}">
                <a16:creationId xmlns:a16="http://schemas.microsoft.com/office/drawing/2014/main" id="{F56C6DD7-1301-412E-B833-143F7EC7C7AA}"/>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42" name="Text 33">
            <a:extLst xmlns:a="http://schemas.openxmlformats.org/drawingml/2006/main">
              <a:ext uri="{FF2B5EF4-FFF2-40B4-BE49-F238E27FC236}">
                <a16:creationId xmlns:a16="http://schemas.microsoft.com/office/drawing/2014/main" id="{7E37E562-89F1-4C8F-AB96-589AC2C09A5D}"/>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02</a:t>
            </a:r>
            <a:endParaRPr sz="900"/>
          </a:p>
        </p:txBody>
      </p:sp>
    </p:spTree>
    <p:extLst>
      <p:ext uri="{BB962C8B-B14F-4D97-AF65-F5344CB8AC3E}">
        <p14:creationId xmlns:p14="http://schemas.microsoft.com/office/powerpoint/2010/main" val="10659123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6D0012-06E4-4640-999E-E0697DA40A26}"/>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WHAT IS SUPPORTED</a:t>
            </a:r>
            <a:endParaRPr sz="1200"/>
          </a:p>
        </p:txBody>
      </p:sp>
      <p:sp>
        <p:nvSpPr>
          <p:cNvPr id="3" name="Text 1">
            <a:extLst xmlns:a="http://schemas.openxmlformats.org/drawingml/2006/main">
              <a:ext uri="{FF2B5EF4-FFF2-40B4-BE49-F238E27FC236}">
                <a16:creationId xmlns:a16="http://schemas.microsoft.com/office/drawing/2014/main" id="{12375BD6-EA49-4E1E-9067-15BF8C746E3B}"/>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A strict evidence boundary protects credibility</a:t>
            </a:r>
            <a:endParaRPr sz="3000"/>
          </a:p>
        </p:txBody>
      </p:sp>
      <p:sp>
        <p:nvSpPr>
          <p:cNvPr id="4" name="Shape 2">
            <a:extLst xmlns:a="http://schemas.openxmlformats.org/drawingml/2006/main">
              <a:ext uri="{FF2B5EF4-FFF2-40B4-BE49-F238E27FC236}">
                <a16:creationId xmlns:a16="http://schemas.microsoft.com/office/drawing/2014/main" id="{744C486B-449D-4EE5-A011-06D57BC44C17}"/>
              </a:ext>
            </a:extLst>
          </p:cNvPr>
          <p:cNvSpPr>
            <a:spLocks xmlns:a="http://schemas.openxmlformats.org/drawingml/2006/main" noGrp="1"/>
          </p:cNvSpPr>
          <p:nvPr/>
        </p:nvSpPr>
        <p:spPr>
          <a:xfrm xmlns:a="http://schemas.openxmlformats.org/drawingml/2006/main">
            <a:off x="7071055" y="457200"/>
            <a:ext cx="201168" cy="201168"/>
          </a:xfrm>
          <a:prstGeom xmlns:a="http://schemas.openxmlformats.org/drawingml/2006/main" prst="roundRect">
            <a:avLst>
              <a:gd name="adj" fmla="val 22727"/>
            </a:avLst>
          </a:prstGeom>
          <a:solidFill xmlns:a="http://schemas.openxmlformats.org/drawingml/2006/main">
            <a:srgbClr val="1AC567"/>
          </a:solidFill>
        </p:spPr>
      </p:sp>
      <p:sp>
        <p:nvSpPr>
          <p:cNvPr id="5" name="Text 3">
            <a:extLst xmlns:a="http://schemas.openxmlformats.org/drawingml/2006/main">
              <a:ext uri="{FF2B5EF4-FFF2-40B4-BE49-F238E27FC236}">
                <a16:creationId xmlns:a16="http://schemas.microsoft.com/office/drawing/2014/main" id="{1A4F7867-F3EB-4EE1-A094-64F07911D897}"/>
              </a:ext>
            </a:extLst>
          </p:cNvPr>
          <p:cNvSpPr>
            <a:spLocks xmlns:a="http://schemas.openxmlformats.org/drawingml/2006/main" noGrp="1"/>
          </p:cNvSpPr>
          <p:nvPr/>
        </p:nvSpPr>
        <p:spPr>
          <a:xfrm xmlns:a="http://schemas.openxmlformats.org/drawingml/2006/main">
            <a:off x="7327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Supported</a:t>
            </a:r>
            <a:endParaRPr sz="950"/>
          </a:p>
        </p:txBody>
      </p:sp>
      <p:sp>
        <p:nvSpPr>
          <p:cNvPr id="6" name="Shape 4">
            <a:extLst xmlns:a="http://schemas.openxmlformats.org/drawingml/2006/main">
              <a:ext uri="{FF2B5EF4-FFF2-40B4-BE49-F238E27FC236}">
                <a16:creationId xmlns:a16="http://schemas.microsoft.com/office/drawing/2014/main" id="{E0B1100A-E030-4230-9C33-9EB7B7E5CD25}"/>
              </a:ext>
            </a:extLst>
          </p:cNvPr>
          <p:cNvSpPr>
            <a:spLocks xmlns:a="http://schemas.openxmlformats.org/drawingml/2006/main" noGrp="1"/>
          </p:cNvSpPr>
          <p:nvPr/>
        </p:nvSpPr>
        <p:spPr>
          <a:xfrm xmlns:a="http://schemas.openxmlformats.org/drawingml/2006/main">
            <a:off x="8214055" y="457200"/>
            <a:ext cx="201168" cy="201168"/>
          </a:xfrm>
          <a:prstGeom xmlns:a="http://schemas.openxmlformats.org/drawingml/2006/main" prst="roundRect">
            <a:avLst>
              <a:gd name="adj" fmla="val 22727"/>
            </a:avLst>
          </a:prstGeom>
          <a:solidFill xmlns:a="http://schemas.openxmlformats.org/drawingml/2006/main">
            <a:srgbClr val="0969FF"/>
          </a:solidFill>
        </p:spPr>
      </p:sp>
      <p:sp>
        <p:nvSpPr>
          <p:cNvPr id="7" name="Text 5">
            <a:extLst xmlns:a="http://schemas.openxmlformats.org/drawingml/2006/main">
              <a:ext uri="{FF2B5EF4-FFF2-40B4-BE49-F238E27FC236}">
                <a16:creationId xmlns:a16="http://schemas.microsoft.com/office/drawing/2014/main" id="{DBB2957A-C55D-4F79-8CFF-09ED4B216E8C}"/>
              </a:ext>
            </a:extLst>
          </p:cNvPr>
          <p:cNvSpPr>
            <a:spLocks xmlns:a="http://schemas.openxmlformats.org/drawingml/2006/main" noGrp="1"/>
          </p:cNvSpPr>
          <p:nvPr/>
        </p:nvSpPr>
        <p:spPr>
          <a:xfrm xmlns:a="http://schemas.openxmlformats.org/drawingml/2006/main">
            <a:off x="8470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Bounded</a:t>
            </a:r>
            <a:endParaRPr sz="950"/>
          </a:p>
        </p:txBody>
      </p:sp>
      <p:sp>
        <p:nvSpPr>
          <p:cNvPr id="8" name="Shape 6">
            <a:extLst xmlns:a="http://schemas.openxmlformats.org/drawingml/2006/main">
              <a:ext uri="{FF2B5EF4-FFF2-40B4-BE49-F238E27FC236}">
                <a16:creationId xmlns:a16="http://schemas.microsoft.com/office/drawing/2014/main" id="{9FF289E1-6AB9-4398-8E34-6F69C1EEC925}"/>
              </a:ext>
            </a:extLst>
          </p:cNvPr>
          <p:cNvSpPr>
            <a:spLocks xmlns:a="http://schemas.openxmlformats.org/drawingml/2006/main" noGrp="1"/>
          </p:cNvSpPr>
          <p:nvPr/>
        </p:nvSpPr>
        <p:spPr>
          <a:xfrm xmlns:a="http://schemas.openxmlformats.org/drawingml/2006/main">
            <a:off x="9357055" y="457200"/>
            <a:ext cx="201168" cy="201168"/>
          </a:xfrm>
          <a:prstGeom xmlns:a="http://schemas.openxmlformats.org/drawingml/2006/main" prst="roundRect">
            <a:avLst>
              <a:gd name="adj" fmla="val 22727"/>
            </a:avLst>
          </a:prstGeom>
          <a:solidFill xmlns:a="http://schemas.openxmlformats.org/drawingml/2006/main">
            <a:srgbClr val="FFA700"/>
          </a:solidFill>
        </p:spPr>
      </p:sp>
      <p:sp>
        <p:nvSpPr>
          <p:cNvPr id="9" name="Text 7">
            <a:extLst xmlns:a="http://schemas.openxmlformats.org/drawingml/2006/main">
              <a:ext uri="{FF2B5EF4-FFF2-40B4-BE49-F238E27FC236}">
                <a16:creationId xmlns:a16="http://schemas.microsoft.com/office/drawing/2014/main" id="{A0633134-6757-49D4-88D3-B8FA4B0303D2}"/>
              </a:ext>
            </a:extLst>
          </p:cNvPr>
          <p:cNvSpPr>
            <a:spLocks xmlns:a="http://schemas.openxmlformats.org/drawingml/2006/main" noGrp="1"/>
          </p:cNvSpPr>
          <p:nvPr/>
        </p:nvSpPr>
        <p:spPr>
          <a:xfrm xmlns:a="http://schemas.openxmlformats.org/drawingml/2006/main">
            <a:off x="9613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Validate</a:t>
            </a:r>
            <a:endParaRPr sz="950"/>
          </a:p>
        </p:txBody>
      </p:sp>
      <p:sp>
        <p:nvSpPr>
          <p:cNvPr id="10" name="Shape 8">
            <a:extLst xmlns:a="http://schemas.openxmlformats.org/drawingml/2006/main">
              <a:ext uri="{FF2B5EF4-FFF2-40B4-BE49-F238E27FC236}">
                <a16:creationId xmlns:a16="http://schemas.microsoft.com/office/drawing/2014/main" id="{905CA13D-BE53-48FD-9ADC-76CDAC2F1912}"/>
              </a:ext>
            </a:extLst>
          </p:cNvPr>
          <p:cNvSpPr>
            <a:spLocks xmlns:a="http://schemas.openxmlformats.org/drawingml/2006/main" noGrp="1"/>
          </p:cNvSpPr>
          <p:nvPr/>
        </p:nvSpPr>
        <p:spPr>
          <a:xfrm xmlns:a="http://schemas.openxmlformats.org/drawingml/2006/main">
            <a:off x="10500055" y="457200"/>
            <a:ext cx="201168" cy="201168"/>
          </a:xfrm>
          <a:prstGeom xmlns:a="http://schemas.openxmlformats.org/drawingml/2006/main" prst="roundRect">
            <a:avLst>
              <a:gd name="adj" fmla="val 22727"/>
            </a:avLst>
          </a:prstGeom>
          <a:solidFill xmlns:a="http://schemas.openxmlformats.org/drawingml/2006/main">
            <a:srgbClr val="C0392B"/>
          </a:solidFill>
        </p:spPr>
      </p:sp>
      <p:sp>
        <p:nvSpPr>
          <p:cNvPr id="11" name="Text 9">
            <a:extLst xmlns:a="http://schemas.openxmlformats.org/drawingml/2006/main">
              <a:ext uri="{FF2B5EF4-FFF2-40B4-BE49-F238E27FC236}">
                <a16:creationId xmlns:a16="http://schemas.microsoft.com/office/drawing/2014/main" id="{6DA87499-1309-435A-9313-5DE7E692910B}"/>
              </a:ext>
            </a:extLst>
          </p:cNvPr>
          <p:cNvSpPr>
            <a:spLocks xmlns:a="http://schemas.openxmlformats.org/drawingml/2006/main" noGrp="1"/>
          </p:cNvSpPr>
          <p:nvPr/>
        </p:nvSpPr>
        <p:spPr>
          <a:xfrm xmlns:a="http://schemas.openxmlformats.org/drawingml/2006/main">
            <a:off x="10756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Approval</a:t>
            </a:r>
            <a:endParaRPr sz="950"/>
          </a:p>
        </p:txBody>
      </p:sp>
      <p:sp>
        <p:nvSpPr>
          <p:cNvPr id="12" name="Shape 10">
            <a:extLst xmlns:a="http://schemas.openxmlformats.org/drawingml/2006/main">
              <a:ext uri="{FF2B5EF4-FFF2-40B4-BE49-F238E27FC236}">
                <a16:creationId xmlns:a16="http://schemas.microsoft.com/office/drawing/2014/main" id="{64049E16-FA0F-4C9B-939E-9E675A919475}"/>
              </a:ext>
            </a:extLst>
          </p:cNvPr>
          <p:cNvSpPr>
            <a:spLocks xmlns:a="http://schemas.openxmlformats.org/drawingml/2006/main" noGrp="1"/>
          </p:cNvSpPr>
          <p:nvPr/>
        </p:nvSpPr>
        <p:spPr>
          <a:xfrm xmlns:a="http://schemas.openxmlformats.org/drawingml/2006/main">
            <a:off x="548640" y="1170432"/>
            <a:ext cx="11094415" cy="420624"/>
          </a:xfrm>
          <a:prstGeom xmlns:a="http://schemas.openxmlformats.org/drawingml/2006/main" prst="roundRect">
            <a:avLst>
              <a:gd name="adj" fmla="val 10870"/>
            </a:avLst>
          </a:prstGeom>
          <a:solidFill xmlns:a="http://schemas.openxmlformats.org/drawingml/2006/main">
            <a:srgbClr val="EE2B76"/>
          </a:solidFill>
        </p:spPr>
      </p:sp>
      <p:sp>
        <p:nvSpPr>
          <p:cNvPr id="13" name="Text 11">
            <a:extLst xmlns:a="http://schemas.openxmlformats.org/drawingml/2006/main">
              <a:ext uri="{FF2B5EF4-FFF2-40B4-BE49-F238E27FC236}">
                <a16:creationId xmlns:a16="http://schemas.microsoft.com/office/drawing/2014/main" id="{6519FEBF-5B97-4ACF-8BFA-D3C9CA2DBE32}"/>
              </a:ext>
            </a:extLst>
          </p:cNvPr>
          <p:cNvSpPr>
            <a:spLocks xmlns:a="http://schemas.openxmlformats.org/drawingml/2006/main" noGrp="1"/>
          </p:cNvSpPr>
          <p:nvPr/>
        </p:nvSpPr>
        <p:spPr>
          <a:xfrm xmlns:a="http://schemas.openxmlformats.org/drawingml/2006/main">
            <a:off x="731520" y="1170432"/>
            <a:ext cx="32004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Poppins"/>
                <a:ea typeface="Poppins"/>
                <a:cs typeface="Poppins"/>
              </a:rPr>
              <a:t>Decision or requirement</a:t>
            </a:r>
            <a:endParaRPr sz="1100"/>
          </a:p>
        </p:txBody>
      </p:sp>
      <p:sp>
        <p:nvSpPr>
          <p:cNvPr id="14" name="Text 12">
            <a:extLst xmlns:a="http://schemas.openxmlformats.org/drawingml/2006/main">
              <a:ext uri="{FF2B5EF4-FFF2-40B4-BE49-F238E27FC236}">
                <a16:creationId xmlns:a16="http://schemas.microsoft.com/office/drawing/2014/main" id="{3F2071C0-192A-43E6-A64F-E24DB20A3F8E}"/>
              </a:ext>
            </a:extLst>
          </p:cNvPr>
          <p:cNvSpPr>
            <a:spLocks xmlns:a="http://schemas.openxmlformats.org/drawingml/2006/main" noGrp="1"/>
          </p:cNvSpPr>
          <p:nvPr/>
        </p:nvSpPr>
        <p:spPr>
          <a:xfrm xmlns:a="http://schemas.openxmlformats.org/drawingml/2006/main">
            <a:off x="4114800" y="1170432"/>
            <a:ext cx="64008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Poppins"/>
                <a:ea typeface="Poppins"/>
                <a:cs typeface="Poppins"/>
              </a:rPr>
              <a:t>Evidence, response or acceptance rule</a:t>
            </a:r>
            <a:endParaRPr sz="1100"/>
          </a:p>
        </p:txBody>
      </p:sp>
      <p:sp>
        <p:nvSpPr>
          <p:cNvPr id="15" name="Text 13">
            <a:extLst xmlns:a="http://schemas.openxmlformats.org/drawingml/2006/main">
              <a:ext uri="{FF2B5EF4-FFF2-40B4-BE49-F238E27FC236}">
                <a16:creationId xmlns:a16="http://schemas.microsoft.com/office/drawing/2014/main" id="{543B9367-CD05-4417-96FA-97E5471C6B18}"/>
              </a:ext>
            </a:extLst>
          </p:cNvPr>
          <p:cNvSpPr>
            <a:spLocks xmlns:a="http://schemas.openxmlformats.org/drawingml/2006/main" noGrp="1"/>
          </p:cNvSpPr>
          <p:nvPr/>
        </p:nvSpPr>
        <p:spPr>
          <a:xfrm xmlns:a="http://schemas.openxmlformats.org/drawingml/2006/main">
            <a:off x="10271455" y="1170432"/>
            <a:ext cx="12801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Poppins"/>
                <a:ea typeface="Poppins"/>
                <a:cs typeface="Poppins"/>
              </a:rPr>
              <a:t>Status</a:t>
            </a:r>
            <a:endParaRPr sz="1100"/>
          </a:p>
        </p:txBody>
      </p:sp>
      <p:sp>
        <p:nvSpPr>
          <p:cNvPr id="16" name="Shape 14">
            <a:extLst xmlns:a="http://schemas.openxmlformats.org/drawingml/2006/main">
              <a:ext uri="{FF2B5EF4-FFF2-40B4-BE49-F238E27FC236}">
                <a16:creationId xmlns:a16="http://schemas.microsoft.com/office/drawing/2014/main" id="{4CE2490B-5600-4713-9C32-F73D89167CF2}"/>
              </a:ext>
            </a:extLst>
          </p:cNvPr>
          <p:cNvSpPr>
            <a:spLocks xmlns:a="http://schemas.openxmlformats.org/drawingml/2006/main" noGrp="1"/>
          </p:cNvSpPr>
          <p:nvPr/>
        </p:nvSpPr>
        <p:spPr>
          <a:xfrm xmlns:a="http://schemas.openxmlformats.org/drawingml/2006/main">
            <a:off x="548640" y="15910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17" name="Text 15">
            <a:extLst xmlns:a="http://schemas.openxmlformats.org/drawingml/2006/main">
              <a:ext uri="{FF2B5EF4-FFF2-40B4-BE49-F238E27FC236}">
                <a16:creationId xmlns:a16="http://schemas.microsoft.com/office/drawing/2014/main" id="{E6B3055F-A961-4ABD-A6F4-4B6E7E7612D5}"/>
              </a:ext>
            </a:extLst>
          </p:cNvPr>
          <p:cNvSpPr>
            <a:spLocks xmlns:a="http://schemas.openxmlformats.org/drawingml/2006/main" noGrp="1"/>
          </p:cNvSpPr>
          <p:nvPr/>
        </p:nvSpPr>
        <p:spPr>
          <a:xfrm xmlns:a="http://schemas.openxmlformats.org/drawingml/2006/main">
            <a:off x="731520" y="15910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Named relationship</a:t>
            </a:r>
            <a:endParaRPr sz="1050"/>
          </a:p>
        </p:txBody>
      </p:sp>
      <p:sp>
        <p:nvSpPr>
          <p:cNvPr id="18" name="Text 16">
            <a:extLst xmlns:a="http://schemas.openxmlformats.org/drawingml/2006/main">
              <a:ext uri="{FF2B5EF4-FFF2-40B4-BE49-F238E27FC236}">
                <a16:creationId xmlns:a16="http://schemas.microsoft.com/office/drawing/2014/main" id="{FA9209C8-EE21-4BE4-AA53-ECB55CD4168E}"/>
              </a:ext>
            </a:extLst>
          </p:cNvPr>
          <p:cNvSpPr>
            <a:spLocks xmlns:a="http://schemas.openxmlformats.org/drawingml/2006/main" noGrp="1"/>
          </p:cNvSpPr>
          <p:nvPr/>
        </p:nvSpPr>
        <p:spPr>
          <a:xfrm xmlns:a="http://schemas.openxmlformats.org/drawingml/2006/main">
            <a:off x="4114800" y="15910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The BUSINESSNEXT customer page names HDFC Bank.</a:t>
            </a:r>
            <a:endParaRPr sz="1000"/>
          </a:p>
        </p:txBody>
      </p:sp>
      <p:sp>
        <p:nvSpPr>
          <p:cNvPr id="19" name="Shape 17">
            <a:extLst xmlns:a="http://schemas.openxmlformats.org/drawingml/2006/main">
              <a:ext uri="{FF2B5EF4-FFF2-40B4-BE49-F238E27FC236}">
                <a16:creationId xmlns:a16="http://schemas.microsoft.com/office/drawing/2014/main" id="{CA36496D-FBA4-49BB-879F-2244A8BCB267}"/>
              </a:ext>
            </a:extLst>
          </p:cNvPr>
          <p:cNvSpPr>
            <a:spLocks xmlns:a="http://schemas.openxmlformats.org/drawingml/2006/main" noGrp="1"/>
          </p:cNvSpPr>
          <p:nvPr/>
        </p:nvSpPr>
        <p:spPr>
          <a:xfrm xmlns:a="http://schemas.openxmlformats.org/drawingml/2006/main">
            <a:off x="10161727" y="1682496"/>
            <a:ext cx="1371600" cy="274320"/>
          </a:xfrm>
          <a:prstGeom xmlns:a="http://schemas.openxmlformats.org/drawingml/2006/main" prst="roundRect">
            <a:avLst>
              <a:gd name="adj" fmla="val 50000"/>
            </a:avLst>
          </a:prstGeom>
          <a:solidFill xmlns:a="http://schemas.openxmlformats.org/drawingml/2006/main">
            <a:srgbClr val="1AC567"/>
          </a:solidFill>
        </p:spPr>
      </p:sp>
      <p:sp>
        <p:nvSpPr>
          <p:cNvPr id="20" name="Text 18">
            <a:extLst xmlns:a="http://schemas.openxmlformats.org/drawingml/2006/main">
              <a:ext uri="{FF2B5EF4-FFF2-40B4-BE49-F238E27FC236}">
                <a16:creationId xmlns:a16="http://schemas.microsoft.com/office/drawing/2014/main" id="{19A26EEF-9B36-4124-AFC7-C75F97F0EA90}"/>
              </a:ext>
            </a:extLst>
          </p:cNvPr>
          <p:cNvSpPr>
            <a:spLocks xmlns:a="http://schemas.openxmlformats.org/drawingml/2006/main" noGrp="1"/>
          </p:cNvSpPr>
          <p:nvPr/>
        </p:nvSpPr>
        <p:spPr>
          <a:xfrm xmlns:a="http://schemas.openxmlformats.org/drawingml/2006/main">
            <a:off x="10161727" y="16824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Supported</a:t>
            </a:r>
            <a:endParaRPr sz="900"/>
          </a:p>
        </p:txBody>
      </p:sp>
      <p:sp>
        <p:nvSpPr>
          <p:cNvPr id="21" name="Shape 19">
            <a:extLst xmlns:a="http://schemas.openxmlformats.org/drawingml/2006/main">
              <a:ext uri="{FF2B5EF4-FFF2-40B4-BE49-F238E27FC236}">
                <a16:creationId xmlns:a16="http://schemas.microsoft.com/office/drawing/2014/main" id="{9FEC85F5-0896-4851-9A3F-F3E4F875B9BA}"/>
              </a:ext>
            </a:extLst>
          </p:cNvPr>
          <p:cNvSpPr>
            <a:spLocks xmlns:a="http://schemas.openxmlformats.org/drawingml/2006/main" noGrp="1"/>
          </p:cNvSpPr>
          <p:nvPr/>
        </p:nvSpPr>
        <p:spPr>
          <a:xfrm xmlns:a="http://schemas.openxmlformats.org/drawingml/2006/main">
            <a:off x="548640" y="20482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22" name="Text 20">
            <a:extLst xmlns:a="http://schemas.openxmlformats.org/drawingml/2006/main">
              <a:ext uri="{FF2B5EF4-FFF2-40B4-BE49-F238E27FC236}">
                <a16:creationId xmlns:a16="http://schemas.microsoft.com/office/drawing/2014/main" id="{EDB083D5-4E25-48D5-8693-6438A2AE8066}"/>
              </a:ext>
            </a:extLst>
          </p:cNvPr>
          <p:cNvSpPr>
            <a:spLocks xmlns:a="http://schemas.openxmlformats.org/drawingml/2006/main" noGrp="1"/>
          </p:cNvSpPr>
          <p:nvPr/>
        </p:nvSpPr>
        <p:spPr>
          <a:xfrm xmlns:a="http://schemas.openxmlformats.org/drawingml/2006/main">
            <a:off x="731520" y="20482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Platform scope</a:t>
            </a:r>
            <a:endParaRPr sz="1050"/>
          </a:p>
        </p:txBody>
      </p:sp>
      <p:sp>
        <p:nvSpPr>
          <p:cNvPr id="23" name="Text 21">
            <a:extLst xmlns:a="http://schemas.openxmlformats.org/drawingml/2006/main">
              <a:ext uri="{FF2B5EF4-FFF2-40B4-BE49-F238E27FC236}">
                <a16:creationId xmlns:a16="http://schemas.microsoft.com/office/drawing/2014/main" id="{ADC4DF64-A9A3-410B-93A4-778D44A7ECE2}"/>
              </a:ext>
            </a:extLst>
          </p:cNvPr>
          <p:cNvSpPr>
            <a:spLocks xmlns:a="http://schemas.openxmlformats.org/drawingml/2006/main" noGrp="1"/>
          </p:cNvSpPr>
          <p:nvPr/>
        </p:nvSpPr>
        <p:spPr>
          <a:xfrm xmlns:a="http://schemas.openxmlformats.org/drawingml/2006/main">
            <a:off x="4114800" y="20482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Use only capabilities described on the public page.</a:t>
            </a:r>
            <a:endParaRPr sz="1000"/>
          </a:p>
        </p:txBody>
      </p:sp>
      <p:sp>
        <p:nvSpPr>
          <p:cNvPr id="24" name="Shape 22">
            <a:extLst xmlns:a="http://schemas.openxmlformats.org/drawingml/2006/main">
              <a:ext uri="{FF2B5EF4-FFF2-40B4-BE49-F238E27FC236}">
                <a16:creationId xmlns:a16="http://schemas.microsoft.com/office/drawing/2014/main" id="{38CED3AF-78C9-4B56-A84B-564C8C78E9D7}"/>
              </a:ext>
            </a:extLst>
          </p:cNvPr>
          <p:cNvSpPr>
            <a:spLocks xmlns:a="http://schemas.openxmlformats.org/drawingml/2006/main" noGrp="1"/>
          </p:cNvSpPr>
          <p:nvPr/>
        </p:nvSpPr>
        <p:spPr>
          <a:xfrm xmlns:a="http://schemas.openxmlformats.org/drawingml/2006/main">
            <a:off x="10161727" y="2139696"/>
            <a:ext cx="1371600" cy="274320"/>
          </a:xfrm>
          <a:prstGeom xmlns:a="http://schemas.openxmlformats.org/drawingml/2006/main" prst="roundRect">
            <a:avLst>
              <a:gd name="adj" fmla="val 50000"/>
            </a:avLst>
          </a:prstGeom>
          <a:solidFill xmlns:a="http://schemas.openxmlformats.org/drawingml/2006/main">
            <a:srgbClr val="1AC567"/>
          </a:solidFill>
        </p:spPr>
      </p:sp>
      <p:sp>
        <p:nvSpPr>
          <p:cNvPr id="25" name="Text 23">
            <a:extLst xmlns:a="http://schemas.openxmlformats.org/drawingml/2006/main">
              <a:ext uri="{FF2B5EF4-FFF2-40B4-BE49-F238E27FC236}">
                <a16:creationId xmlns:a16="http://schemas.microsoft.com/office/drawing/2014/main" id="{0968A187-776F-49D5-8F83-B68EF3FCD373}"/>
              </a:ext>
            </a:extLst>
          </p:cNvPr>
          <p:cNvSpPr>
            <a:spLocks xmlns:a="http://schemas.openxmlformats.org/drawingml/2006/main" noGrp="1"/>
          </p:cNvSpPr>
          <p:nvPr/>
        </p:nvSpPr>
        <p:spPr>
          <a:xfrm xmlns:a="http://schemas.openxmlformats.org/drawingml/2006/main">
            <a:off x="10161727" y="21396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Supported</a:t>
            </a:r>
            <a:endParaRPr sz="900"/>
          </a:p>
        </p:txBody>
      </p:sp>
      <p:sp>
        <p:nvSpPr>
          <p:cNvPr id="26" name="Shape 24">
            <a:extLst xmlns:a="http://schemas.openxmlformats.org/drawingml/2006/main">
              <a:ext uri="{FF2B5EF4-FFF2-40B4-BE49-F238E27FC236}">
                <a16:creationId xmlns:a16="http://schemas.microsoft.com/office/drawing/2014/main" id="{DE7F90F0-CAF3-4D6D-95BE-05A37D870D9A}"/>
              </a:ext>
            </a:extLst>
          </p:cNvPr>
          <p:cNvSpPr>
            <a:spLocks xmlns:a="http://schemas.openxmlformats.org/drawingml/2006/main" noGrp="1"/>
          </p:cNvSpPr>
          <p:nvPr/>
        </p:nvSpPr>
        <p:spPr>
          <a:xfrm xmlns:a="http://schemas.openxmlformats.org/drawingml/2006/main">
            <a:off x="548640" y="25054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27" name="Text 25">
            <a:extLst xmlns:a="http://schemas.openxmlformats.org/drawingml/2006/main">
              <a:ext uri="{FF2B5EF4-FFF2-40B4-BE49-F238E27FC236}">
                <a16:creationId xmlns:a16="http://schemas.microsoft.com/office/drawing/2014/main" id="{D4992873-57C9-40F8-BC71-7ABC2B1B3229}"/>
              </a:ext>
            </a:extLst>
          </p:cNvPr>
          <p:cNvSpPr>
            <a:spLocks xmlns:a="http://schemas.openxmlformats.org/drawingml/2006/main" noGrp="1"/>
          </p:cNvSpPr>
          <p:nvPr/>
        </p:nvSpPr>
        <p:spPr>
          <a:xfrm xmlns:a="http://schemas.openxmlformats.org/drawingml/2006/main">
            <a:off x="731520" y="25054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Reported outcomes</a:t>
            </a:r>
            <a:endParaRPr sz="1050"/>
          </a:p>
        </p:txBody>
      </p:sp>
      <p:sp>
        <p:nvSpPr>
          <p:cNvPr id="28" name="Text 26">
            <a:extLst xmlns:a="http://schemas.openxmlformats.org/drawingml/2006/main">
              <a:ext uri="{FF2B5EF4-FFF2-40B4-BE49-F238E27FC236}">
                <a16:creationId xmlns:a16="http://schemas.microsoft.com/office/drawing/2014/main" id="{BBB09CAB-A845-422A-85D3-C154188B8A8F}"/>
              </a:ext>
            </a:extLst>
          </p:cNvPr>
          <p:cNvSpPr>
            <a:spLocks xmlns:a="http://schemas.openxmlformats.org/drawingml/2006/main" noGrp="1"/>
          </p:cNvSpPr>
          <p:nvPr/>
        </p:nvSpPr>
        <p:spPr>
          <a:xfrm xmlns:a="http://schemas.openxmlformats.org/drawingml/2006/main">
            <a:off x="4114800" y="25054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Retain the vendor attribution beside every figure.</a:t>
            </a:r>
            <a:endParaRPr sz="1000"/>
          </a:p>
        </p:txBody>
      </p:sp>
      <p:sp>
        <p:nvSpPr>
          <p:cNvPr id="29" name="Shape 27">
            <a:extLst xmlns:a="http://schemas.openxmlformats.org/drawingml/2006/main">
              <a:ext uri="{FF2B5EF4-FFF2-40B4-BE49-F238E27FC236}">
                <a16:creationId xmlns:a16="http://schemas.microsoft.com/office/drawing/2014/main" id="{0A070377-B486-4A58-873E-882BFBA3F25F}"/>
              </a:ext>
            </a:extLst>
          </p:cNvPr>
          <p:cNvSpPr>
            <a:spLocks xmlns:a="http://schemas.openxmlformats.org/drawingml/2006/main" noGrp="1"/>
          </p:cNvSpPr>
          <p:nvPr/>
        </p:nvSpPr>
        <p:spPr>
          <a:xfrm xmlns:a="http://schemas.openxmlformats.org/drawingml/2006/main">
            <a:off x="10161727" y="2596896"/>
            <a:ext cx="1371600" cy="274320"/>
          </a:xfrm>
          <a:prstGeom xmlns:a="http://schemas.openxmlformats.org/drawingml/2006/main" prst="roundRect">
            <a:avLst>
              <a:gd name="adj" fmla="val 50000"/>
            </a:avLst>
          </a:prstGeom>
          <a:solidFill xmlns:a="http://schemas.openxmlformats.org/drawingml/2006/main">
            <a:srgbClr val="1AC567"/>
          </a:solidFill>
        </p:spPr>
      </p:sp>
      <p:sp>
        <p:nvSpPr>
          <p:cNvPr id="30" name="Text 28">
            <a:extLst xmlns:a="http://schemas.openxmlformats.org/drawingml/2006/main">
              <a:ext uri="{FF2B5EF4-FFF2-40B4-BE49-F238E27FC236}">
                <a16:creationId xmlns:a16="http://schemas.microsoft.com/office/drawing/2014/main" id="{366140A7-B1BE-465D-86AD-1C56FDB6F402}"/>
              </a:ext>
            </a:extLst>
          </p:cNvPr>
          <p:cNvSpPr>
            <a:spLocks xmlns:a="http://schemas.openxmlformats.org/drawingml/2006/main" noGrp="1"/>
          </p:cNvSpPr>
          <p:nvPr/>
        </p:nvSpPr>
        <p:spPr>
          <a:xfrm xmlns:a="http://schemas.openxmlformats.org/drawingml/2006/main">
            <a:off x="10161727" y="25968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Supported</a:t>
            </a:r>
            <a:endParaRPr sz="900"/>
          </a:p>
        </p:txBody>
      </p:sp>
      <p:sp>
        <p:nvSpPr>
          <p:cNvPr id="31" name="Shape 29">
            <a:extLst xmlns:a="http://schemas.openxmlformats.org/drawingml/2006/main">
              <a:ext uri="{FF2B5EF4-FFF2-40B4-BE49-F238E27FC236}">
                <a16:creationId xmlns:a16="http://schemas.microsoft.com/office/drawing/2014/main" id="{37EB82E7-CE3E-4234-9E97-DEEDA870BB11}"/>
              </a:ext>
            </a:extLst>
          </p:cNvPr>
          <p:cNvSpPr>
            <a:spLocks xmlns:a="http://schemas.openxmlformats.org/drawingml/2006/main" noGrp="1"/>
          </p:cNvSpPr>
          <p:nvPr/>
        </p:nvSpPr>
        <p:spPr>
          <a:xfrm xmlns:a="http://schemas.openxmlformats.org/drawingml/2006/main">
            <a:off x="548640" y="29626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32" name="Text 30">
            <a:extLst xmlns:a="http://schemas.openxmlformats.org/drawingml/2006/main">
              <a:ext uri="{FF2B5EF4-FFF2-40B4-BE49-F238E27FC236}">
                <a16:creationId xmlns:a16="http://schemas.microsoft.com/office/drawing/2014/main" id="{6F49D8CF-2BF1-4684-8C4E-A33A38DD4722}"/>
              </a:ext>
            </a:extLst>
          </p:cNvPr>
          <p:cNvSpPr>
            <a:spLocks xmlns:a="http://schemas.openxmlformats.org/drawingml/2006/main" noGrp="1"/>
          </p:cNvSpPr>
          <p:nvPr/>
        </p:nvSpPr>
        <p:spPr>
          <a:xfrm xmlns:a="http://schemas.openxmlformats.org/drawingml/2006/main">
            <a:off x="731520" y="29626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Dated footprint</a:t>
            </a:r>
            <a:endParaRPr sz="1050"/>
          </a:p>
        </p:txBody>
      </p:sp>
      <p:sp>
        <p:nvSpPr>
          <p:cNvPr id="33" name="Text 31">
            <a:extLst xmlns:a="http://schemas.openxmlformats.org/drawingml/2006/main">
              <a:ext uri="{FF2B5EF4-FFF2-40B4-BE49-F238E27FC236}">
                <a16:creationId xmlns:a16="http://schemas.microsoft.com/office/drawing/2014/main" id="{77236723-74A1-4FD6-8FCD-5A08AD5B0192}"/>
              </a:ext>
            </a:extLst>
          </p:cNvPr>
          <p:cNvSpPr>
            <a:spLocks xmlns:a="http://schemas.openxmlformats.org/drawingml/2006/main" noGrp="1"/>
          </p:cNvSpPr>
          <p:nvPr/>
        </p:nvSpPr>
        <p:spPr>
          <a:xfrm xmlns:a="http://schemas.openxmlformats.org/drawingml/2006/main">
            <a:off x="4114800" y="29626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Treat scale as the customer story's stated footprint.</a:t>
            </a:r>
            <a:endParaRPr sz="1000"/>
          </a:p>
        </p:txBody>
      </p:sp>
      <p:sp>
        <p:nvSpPr>
          <p:cNvPr id="34" name="Shape 32">
            <a:extLst xmlns:a="http://schemas.openxmlformats.org/drawingml/2006/main">
              <a:ext uri="{FF2B5EF4-FFF2-40B4-BE49-F238E27FC236}">
                <a16:creationId xmlns:a16="http://schemas.microsoft.com/office/drawing/2014/main" id="{3566C63E-BCA3-4861-A4F5-C5977D84F6BE}"/>
              </a:ext>
            </a:extLst>
          </p:cNvPr>
          <p:cNvSpPr>
            <a:spLocks xmlns:a="http://schemas.openxmlformats.org/drawingml/2006/main" noGrp="1"/>
          </p:cNvSpPr>
          <p:nvPr/>
        </p:nvSpPr>
        <p:spPr>
          <a:xfrm xmlns:a="http://schemas.openxmlformats.org/drawingml/2006/main">
            <a:off x="10161727" y="3054096"/>
            <a:ext cx="1371600" cy="274320"/>
          </a:xfrm>
          <a:prstGeom xmlns:a="http://schemas.openxmlformats.org/drawingml/2006/main" prst="roundRect">
            <a:avLst>
              <a:gd name="adj" fmla="val 50000"/>
            </a:avLst>
          </a:prstGeom>
          <a:solidFill xmlns:a="http://schemas.openxmlformats.org/drawingml/2006/main">
            <a:srgbClr val="0969FF"/>
          </a:solidFill>
        </p:spPr>
      </p:sp>
      <p:sp>
        <p:nvSpPr>
          <p:cNvPr id="35" name="Text 33">
            <a:extLst xmlns:a="http://schemas.openxmlformats.org/drawingml/2006/main">
              <a:ext uri="{FF2B5EF4-FFF2-40B4-BE49-F238E27FC236}">
                <a16:creationId xmlns:a16="http://schemas.microsoft.com/office/drawing/2014/main" id="{52367E38-97E3-4562-A4B2-D5DDF5B35114}"/>
              </a:ext>
            </a:extLst>
          </p:cNvPr>
          <p:cNvSpPr>
            <a:spLocks xmlns:a="http://schemas.openxmlformats.org/drawingml/2006/main" noGrp="1"/>
          </p:cNvSpPr>
          <p:nvPr/>
        </p:nvSpPr>
        <p:spPr>
          <a:xfrm xmlns:a="http://schemas.openxmlformats.org/drawingml/2006/main">
            <a:off x="10161727" y="30540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Bounded</a:t>
            </a:r>
            <a:endParaRPr sz="900"/>
          </a:p>
        </p:txBody>
      </p:sp>
      <p:sp>
        <p:nvSpPr>
          <p:cNvPr id="36" name="Shape 34">
            <a:extLst xmlns:a="http://schemas.openxmlformats.org/drawingml/2006/main">
              <a:ext uri="{FF2B5EF4-FFF2-40B4-BE49-F238E27FC236}">
                <a16:creationId xmlns:a16="http://schemas.microsoft.com/office/drawing/2014/main" id="{C573E03F-A893-4D8B-8AC0-EC556BA48798}"/>
              </a:ext>
            </a:extLst>
          </p:cNvPr>
          <p:cNvSpPr>
            <a:spLocks xmlns:a="http://schemas.openxmlformats.org/drawingml/2006/main" noGrp="1"/>
          </p:cNvSpPr>
          <p:nvPr/>
        </p:nvSpPr>
        <p:spPr>
          <a:xfrm xmlns:a="http://schemas.openxmlformats.org/drawingml/2006/main">
            <a:off x="548640" y="34198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37" name="Text 35">
            <a:extLst xmlns:a="http://schemas.openxmlformats.org/drawingml/2006/main">
              <a:ext uri="{FF2B5EF4-FFF2-40B4-BE49-F238E27FC236}">
                <a16:creationId xmlns:a16="http://schemas.microsoft.com/office/drawing/2014/main" id="{7A44C4DF-F1A6-4E05-AA7F-74EB11200859}"/>
              </a:ext>
            </a:extLst>
          </p:cNvPr>
          <p:cNvSpPr>
            <a:spLocks xmlns:a="http://schemas.openxmlformats.org/drawingml/2006/main" noGrp="1"/>
          </p:cNvSpPr>
          <p:nvPr/>
        </p:nvSpPr>
        <p:spPr>
          <a:xfrm xmlns:a="http://schemas.openxmlformats.org/drawingml/2006/main">
            <a:off x="731520" y="34198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Confidential journeys</a:t>
            </a:r>
            <a:endParaRPr sz="1050"/>
          </a:p>
        </p:txBody>
      </p:sp>
      <p:sp>
        <p:nvSpPr>
          <p:cNvPr id="38" name="Text 36">
            <a:extLst xmlns:a="http://schemas.openxmlformats.org/drawingml/2006/main">
              <a:ext uri="{FF2B5EF4-FFF2-40B4-BE49-F238E27FC236}">
                <a16:creationId xmlns:a16="http://schemas.microsoft.com/office/drawing/2014/main" id="{6F191CE5-0367-4854-9B9C-D5AC598E6B87}"/>
              </a:ext>
            </a:extLst>
          </p:cNvPr>
          <p:cNvSpPr>
            <a:spLocks xmlns:a="http://schemas.openxmlformats.org/drawingml/2006/main" noGrp="1"/>
          </p:cNvSpPr>
          <p:nvPr/>
        </p:nvSpPr>
        <p:spPr>
          <a:xfrm xmlns:a="http://schemas.openxmlformats.org/drawingml/2006/main">
            <a:off x="4114800" y="34198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No screenshots, flows, URLs, names or requirements are reproduced.</a:t>
            </a:r>
            <a:endParaRPr sz="1000"/>
          </a:p>
        </p:txBody>
      </p:sp>
      <p:sp>
        <p:nvSpPr>
          <p:cNvPr id="39" name="Shape 37">
            <a:extLst xmlns:a="http://schemas.openxmlformats.org/drawingml/2006/main">
              <a:ext uri="{FF2B5EF4-FFF2-40B4-BE49-F238E27FC236}">
                <a16:creationId xmlns:a16="http://schemas.microsoft.com/office/drawing/2014/main" id="{D1B77D92-91EE-4F57-89E9-017580993943}"/>
              </a:ext>
            </a:extLst>
          </p:cNvPr>
          <p:cNvSpPr>
            <a:spLocks xmlns:a="http://schemas.openxmlformats.org/drawingml/2006/main" noGrp="1"/>
          </p:cNvSpPr>
          <p:nvPr/>
        </p:nvSpPr>
        <p:spPr>
          <a:xfrm xmlns:a="http://schemas.openxmlformats.org/drawingml/2006/main">
            <a:off x="10161727" y="3511296"/>
            <a:ext cx="1371600" cy="274320"/>
          </a:xfrm>
          <a:prstGeom xmlns:a="http://schemas.openxmlformats.org/drawingml/2006/main" prst="roundRect">
            <a:avLst>
              <a:gd name="adj" fmla="val 50000"/>
            </a:avLst>
          </a:prstGeom>
          <a:solidFill xmlns:a="http://schemas.openxmlformats.org/drawingml/2006/main">
            <a:srgbClr val="0969FF"/>
          </a:solidFill>
        </p:spPr>
      </p:sp>
      <p:sp>
        <p:nvSpPr>
          <p:cNvPr id="40" name="Text 38">
            <a:extLst xmlns:a="http://schemas.openxmlformats.org/drawingml/2006/main">
              <a:ext uri="{FF2B5EF4-FFF2-40B4-BE49-F238E27FC236}">
                <a16:creationId xmlns:a16="http://schemas.microsoft.com/office/drawing/2014/main" id="{A1F756C0-AF83-4ED7-93C9-A818D65ABC78}"/>
              </a:ext>
            </a:extLst>
          </p:cNvPr>
          <p:cNvSpPr>
            <a:spLocks xmlns:a="http://schemas.openxmlformats.org/drawingml/2006/main" noGrp="1"/>
          </p:cNvSpPr>
          <p:nvPr/>
        </p:nvSpPr>
        <p:spPr>
          <a:xfrm xmlns:a="http://schemas.openxmlformats.org/drawingml/2006/main">
            <a:off x="10161727" y="35112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Bounded</a:t>
            </a:r>
            <a:endParaRPr sz="900"/>
          </a:p>
        </p:txBody>
      </p:sp>
      <p:sp>
        <p:nvSpPr>
          <p:cNvPr id="41" name="Shape 39">
            <a:extLst xmlns:a="http://schemas.openxmlformats.org/drawingml/2006/main">
              <a:ext uri="{FF2B5EF4-FFF2-40B4-BE49-F238E27FC236}">
                <a16:creationId xmlns:a16="http://schemas.microsoft.com/office/drawing/2014/main" id="{18F15EF1-E13D-46DB-81EC-E445BFD2201E}"/>
              </a:ext>
            </a:extLst>
          </p:cNvPr>
          <p:cNvSpPr>
            <a:spLocks xmlns:a="http://schemas.openxmlformats.org/drawingml/2006/main" noGrp="1"/>
          </p:cNvSpPr>
          <p:nvPr/>
        </p:nvSpPr>
        <p:spPr>
          <a:xfrm xmlns:a="http://schemas.openxmlformats.org/drawingml/2006/main">
            <a:off x="548640" y="38770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42" name="Text 40">
            <a:extLst xmlns:a="http://schemas.openxmlformats.org/drawingml/2006/main">
              <a:ext uri="{FF2B5EF4-FFF2-40B4-BE49-F238E27FC236}">
                <a16:creationId xmlns:a16="http://schemas.microsoft.com/office/drawing/2014/main" id="{40969300-6FE7-42B2-9D83-01EF116070B3}"/>
              </a:ext>
            </a:extLst>
          </p:cNvPr>
          <p:cNvSpPr>
            <a:spLocks xmlns:a="http://schemas.openxmlformats.org/drawingml/2006/main" noGrp="1"/>
          </p:cNvSpPr>
          <p:nvPr/>
        </p:nvSpPr>
        <p:spPr>
          <a:xfrm xmlns:a="http://schemas.openxmlformats.org/drawingml/2006/main">
            <a:off x="731520" y="38770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Go-live inference</a:t>
            </a:r>
            <a:endParaRPr sz="1050"/>
          </a:p>
        </p:txBody>
      </p:sp>
      <p:sp>
        <p:nvSpPr>
          <p:cNvPr id="43" name="Text 41">
            <a:extLst xmlns:a="http://schemas.openxmlformats.org/drawingml/2006/main">
              <a:ext uri="{FF2B5EF4-FFF2-40B4-BE49-F238E27FC236}">
                <a16:creationId xmlns:a16="http://schemas.microsoft.com/office/drawing/2014/main" id="{769A4277-6638-4E40-B75B-E998C3F55DDF}"/>
              </a:ext>
            </a:extLst>
          </p:cNvPr>
          <p:cNvSpPr>
            <a:spLocks xmlns:a="http://schemas.openxmlformats.org/drawingml/2006/main" noGrp="1"/>
          </p:cNvSpPr>
          <p:nvPr/>
        </p:nvSpPr>
        <p:spPr>
          <a:xfrm xmlns:a="http://schemas.openxmlformats.org/drawingml/2006/main">
            <a:off x="4114800" y="38770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Design or test documents do not prove production acceptance.</a:t>
            </a:r>
            <a:endParaRPr sz="1000"/>
          </a:p>
        </p:txBody>
      </p:sp>
      <p:sp>
        <p:nvSpPr>
          <p:cNvPr id="44" name="Shape 42">
            <a:extLst xmlns:a="http://schemas.openxmlformats.org/drawingml/2006/main">
              <a:ext uri="{FF2B5EF4-FFF2-40B4-BE49-F238E27FC236}">
                <a16:creationId xmlns:a16="http://schemas.microsoft.com/office/drawing/2014/main" id="{26FD7E15-3D15-4D93-8418-85F0BC1A0F48}"/>
              </a:ext>
            </a:extLst>
          </p:cNvPr>
          <p:cNvSpPr>
            <a:spLocks xmlns:a="http://schemas.openxmlformats.org/drawingml/2006/main" noGrp="1"/>
          </p:cNvSpPr>
          <p:nvPr/>
        </p:nvSpPr>
        <p:spPr>
          <a:xfrm xmlns:a="http://schemas.openxmlformats.org/drawingml/2006/main">
            <a:off x="10161727" y="3968496"/>
            <a:ext cx="1371600" cy="274320"/>
          </a:xfrm>
          <a:prstGeom xmlns:a="http://schemas.openxmlformats.org/drawingml/2006/main" prst="roundRect">
            <a:avLst>
              <a:gd name="adj" fmla="val 50000"/>
            </a:avLst>
          </a:prstGeom>
          <a:solidFill xmlns:a="http://schemas.openxmlformats.org/drawingml/2006/main">
            <a:srgbClr val="0969FF"/>
          </a:solidFill>
        </p:spPr>
      </p:sp>
      <p:sp>
        <p:nvSpPr>
          <p:cNvPr id="45" name="Text 43">
            <a:extLst xmlns:a="http://schemas.openxmlformats.org/drawingml/2006/main">
              <a:ext uri="{FF2B5EF4-FFF2-40B4-BE49-F238E27FC236}">
                <a16:creationId xmlns:a16="http://schemas.microsoft.com/office/drawing/2014/main" id="{B9B36B27-9F0C-4F17-8D60-5F922ED8B240}"/>
              </a:ext>
            </a:extLst>
          </p:cNvPr>
          <p:cNvSpPr>
            <a:spLocks xmlns:a="http://schemas.openxmlformats.org/drawingml/2006/main" noGrp="1"/>
          </p:cNvSpPr>
          <p:nvPr/>
        </p:nvSpPr>
        <p:spPr>
          <a:xfrm xmlns:a="http://schemas.openxmlformats.org/drawingml/2006/main">
            <a:off x="10161727" y="39684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Bounded</a:t>
            </a:r>
            <a:endParaRPr sz="900"/>
          </a:p>
        </p:txBody>
      </p:sp>
      <p:sp>
        <p:nvSpPr>
          <p:cNvPr id="46" name="Shape 44">
            <a:extLst xmlns:a="http://schemas.openxmlformats.org/drawingml/2006/main">
              <a:ext uri="{FF2B5EF4-FFF2-40B4-BE49-F238E27FC236}">
                <a16:creationId xmlns:a16="http://schemas.microsoft.com/office/drawing/2014/main" id="{0480CD7A-0A60-494E-A3BB-7B4204CC5F5E}"/>
              </a:ext>
            </a:extLst>
          </p:cNvPr>
          <p:cNvSpPr>
            <a:spLocks xmlns:a="http://schemas.openxmlformats.org/drawingml/2006/main" noGrp="1"/>
          </p:cNvSpPr>
          <p:nvPr/>
        </p:nvSpPr>
        <p:spPr>
          <a:xfrm xmlns:a="http://schemas.openxmlformats.org/drawingml/2006/main">
            <a:off x="548640" y="43342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47" name="Text 45">
            <a:extLst xmlns:a="http://schemas.openxmlformats.org/drawingml/2006/main">
              <a:ext uri="{FF2B5EF4-FFF2-40B4-BE49-F238E27FC236}">
                <a16:creationId xmlns:a16="http://schemas.microsoft.com/office/drawing/2014/main" id="{C78AACFA-EB61-4D52-81E3-52394841E92D}"/>
              </a:ext>
            </a:extLst>
          </p:cNvPr>
          <p:cNvSpPr>
            <a:spLocks xmlns:a="http://schemas.openxmlformats.org/drawingml/2006/main" noGrp="1"/>
          </p:cNvSpPr>
          <p:nvPr/>
        </p:nvSpPr>
        <p:spPr>
          <a:xfrm xmlns:a="http://schemas.openxmlformats.org/drawingml/2006/main">
            <a:off x="731520" y="43342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Conflicting scale</a:t>
            </a:r>
            <a:endParaRPr sz="1050"/>
          </a:p>
        </p:txBody>
      </p:sp>
      <p:sp>
        <p:nvSpPr>
          <p:cNvPr id="48" name="Text 46">
            <a:extLst xmlns:a="http://schemas.openxmlformats.org/drawingml/2006/main">
              <a:ext uri="{FF2B5EF4-FFF2-40B4-BE49-F238E27FC236}">
                <a16:creationId xmlns:a16="http://schemas.microsoft.com/office/drawing/2014/main" id="{3D39B6F0-D4CF-4DDF-AC94-0065C6ABEE0E}"/>
              </a:ext>
            </a:extLst>
          </p:cNvPr>
          <p:cNvSpPr>
            <a:spLocks xmlns:a="http://schemas.openxmlformats.org/drawingml/2006/main" noGrp="1"/>
          </p:cNvSpPr>
          <p:nvPr/>
        </p:nvSpPr>
        <p:spPr>
          <a:xfrm xmlns:a="http://schemas.openxmlformats.org/drawingml/2006/main">
            <a:off x="4114800" y="43342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Larger internal figures are omitted until definitions reconcile.</a:t>
            </a:r>
            <a:endParaRPr sz="1000"/>
          </a:p>
        </p:txBody>
      </p:sp>
      <p:sp>
        <p:nvSpPr>
          <p:cNvPr id="49" name="Shape 47">
            <a:extLst xmlns:a="http://schemas.openxmlformats.org/drawingml/2006/main">
              <a:ext uri="{FF2B5EF4-FFF2-40B4-BE49-F238E27FC236}">
                <a16:creationId xmlns:a16="http://schemas.microsoft.com/office/drawing/2014/main" id="{8263011A-35AF-4C94-BE26-B4B3D8E14C2D}"/>
              </a:ext>
            </a:extLst>
          </p:cNvPr>
          <p:cNvSpPr>
            <a:spLocks xmlns:a="http://schemas.openxmlformats.org/drawingml/2006/main" noGrp="1"/>
          </p:cNvSpPr>
          <p:nvPr/>
        </p:nvSpPr>
        <p:spPr>
          <a:xfrm xmlns:a="http://schemas.openxmlformats.org/drawingml/2006/main">
            <a:off x="10161727" y="4425696"/>
            <a:ext cx="1371600" cy="274320"/>
          </a:xfrm>
          <a:prstGeom xmlns:a="http://schemas.openxmlformats.org/drawingml/2006/main" prst="roundRect">
            <a:avLst>
              <a:gd name="adj" fmla="val 50000"/>
            </a:avLst>
          </a:prstGeom>
          <a:solidFill xmlns:a="http://schemas.openxmlformats.org/drawingml/2006/main">
            <a:srgbClr val="FFA700"/>
          </a:solidFill>
        </p:spPr>
      </p:sp>
      <p:sp>
        <p:nvSpPr>
          <p:cNvPr id="50" name="Text 48">
            <a:extLst xmlns:a="http://schemas.openxmlformats.org/drawingml/2006/main">
              <a:ext uri="{FF2B5EF4-FFF2-40B4-BE49-F238E27FC236}">
                <a16:creationId xmlns:a16="http://schemas.microsoft.com/office/drawing/2014/main" id="{441C1BC1-2496-472D-8541-D837283C91DC}"/>
              </a:ext>
            </a:extLst>
          </p:cNvPr>
          <p:cNvSpPr>
            <a:spLocks xmlns:a="http://schemas.openxmlformats.org/drawingml/2006/main" noGrp="1"/>
          </p:cNvSpPr>
          <p:nvPr/>
        </p:nvSpPr>
        <p:spPr>
          <a:xfrm xmlns:a="http://schemas.openxmlformats.org/drawingml/2006/main">
            <a:off x="10161727" y="44256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Validate</a:t>
            </a:r>
            <a:endParaRPr sz="900"/>
          </a:p>
        </p:txBody>
      </p:sp>
      <p:sp>
        <p:nvSpPr>
          <p:cNvPr id="51" name="Shape 49">
            <a:extLst xmlns:a="http://schemas.openxmlformats.org/drawingml/2006/main">
              <a:ext uri="{FF2B5EF4-FFF2-40B4-BE49-F238E27FC236}">
                <a16:creationId xmlns:a16="http://schemas.microsoft.com/office/drawing/2014/main" id="{A9BEA6DD-06F0-4365-AD7A-328C115005DD}"/>
              </a:ext>
            </a:extLst>
          </p:cNvPr>
          <p:cNvSpPr>
            <a:spLocks xmlns:a="http://schemas.openxmlformats.org/drawingml/2006/main" noGrp="1"/>
          </p:cNvSpPr>
          <p:nvPr/>
        </p:nvSpPr>
        <p:spPr>
          <a:xfrm xmlns:a="http://schemas.openxmlformats.org/drawingml/2006/main">
            <a:off x="548640" y="47914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52" name="Text 50">
            <a:extLst xmlns:a="http://schemas.openxmlformats.org/drawingml/2006/main">
              <a:ext uri="{FF2B5EF4-FFF2-40B4-BE49-F238E27FC236}">
                <a16:creationId xmlns:a16="http://schemas.microsoft.com/office/drawing/2014/main" id="{A2FAC133-99A7-4BDA-8068-361F7DCACEF8}"/>
              </a:ext>
            </a:extLst>
          </p:cNvPr>
          <p:cNvSpPr>
            <a:spLocks xmlns:a="http://schemas.openxmlformats.org/drawingml/2006/main" noGrp="1"/>
          </p:cNvSpPr>
          <p:nvPr/>
        </p:nvSpPr>
        <p:spPr>
          <a:xfrm xmlns:a="http://schemas.openxmlformats.org/drawingml/2006/main">
            <a:off x="731520" y="47914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Invented dates</a:t>
            </a:r>
            <a:endParaRPr sz="1050"/>
          </a:p>
        </p:txBody>
      </p:sp>
      <p:sp>
        <p:nvSpPr>
          <p:cNvPr id="53" name="Text 51">
            <a:extLst xmlns:a="http://schemas.openxmlformats.org/drawingml/2006/main">
              <a:ext uri="{FF2B5EF4-FFF2-40B4-BE49-F238E27FC236}">
                <a16:creationId xmlns:a16="http://schemas.microsoft.com/office/drawing/2014/main" id="{6702AC6A-A49D-4AAE-8821-D7889929683C}"/>
              </a:ext>
            </a:extLst>
          </p:cNvPr>
          <p:cNvSpPr>
            <a:spLocks xmlns:a="http://schemas.openxmlformats.org/drawingml/2006/main" noGrp="1"/>
          </p:cNvSpPr>
          <p:nvPr/>
        </p:nvSpPr>
        <p:spPr>
          <a:xfrm xmlns:a="http://schemas.openxmlformats.org/drawingml/2006/main">
            <a:off x="4114800" y="47914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Document dates are not converted into project dates.</a:t>
            </a:r>
            <a:endParaRPr sz="1000"/>
          </a:p>
        </p:txBody>
      </p:sp>
      <p:sp>
        <p:nvSpPr>
          <p:cNvPr id="54" name="Shape 52">
            <a:extLst xmlns:a="http://schemas.openxmlformats.org/drawingml/2006/main">
              <a:ext uri="{FF2B5EF4-FFF2-40B4-BE49-F238E27FC236}">
                <a16:creationId xmlns:a16="http://schemas.microsoft.com/office/drawing/2014/main" id="{43E08B38-2AC7-48FF-882E-DD59CEBD0E04}"/>
              </a:ext>
            </a:extLst>
          </p:cNvPr>
          <p:cNvSpPr>
            <a:spLocks xmlns:a="http://schemas.openxmlformats.org/drawingml/2006/main" noGrp="1"/>
          </p:cNvSpPr>
          <p:nvPr/>
        </p:nvSpPr>
        <p:spPr>
          <a:xfrm xmlns:a="http://schemas.openxmlformats.org/drawingml/2006/main">
            <a:off x="10161727" y="4882896"/>
            <a:ext cx="1371600" cy="274320"/>
          </a:xfrm>
          <a:prstGeom xmlns:a="http://schemas.openxmlformats.org/drawingml/2006/main" prst="roundRect">
            <a:avLst>
              <a:gd name="adj" fmla="val 50000"/>
            </a:avLst>
          </a:prstGeom>
          <a:solidFill xmlns:a="http://schemas.openxmlformats.org/drawingml/2006/main">
            <a:srgbClr val="FFA700"/>
          </a:solidFill>
        </p:spPr>
      </p:sp>
      <p:sp>
        <p:nvSpPr>
          <p:cNvPr id="55" name="Text 53">
            <a:extLst xmlns:a="http://schemas.openxmlformats.org/drawingml/2006/main">
              <a:ext uri="{FF2B5EF4-FFF2-40B4-BE49-F238E27FC236}">
                <a16:creationId xmlns:a16="http://schemas.microsoft.com/office/drawing/2014/main" id="{BB783C97-355E-4050-AAD4-1901D3EDA5C2}"/>
              </a:ext>
            </a:extLst>
          </p:cNvPr>
          <p:cNvSpPr>
            <a:spLocks xmlns:a="http://schemas.openxmlformats.org/drawingml/2006/main" noGrp="1"/>
          </p:cNvSpPr>
          <p:nvPr/>
        </p:nvSpPr>
        <p:spPr>
          <a:xfrm xmlns:a="http://schemas.openxmlformats.org/drawingml/2006/main">
            <a:off x="10161727" y="48828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Validate</a:t>
            </a:r>
            <a:endParaRPr sz="900"/>
          </a:p>
        </p:txBody>
      </p:sp>
      <p:sp>
        <p:nvSpPr>
          <p:cNvPr id="56" name="Shape 54">
            <a:extLst xmlns:a="http://schemas.openxmlformats.org/drawingml/2006/main">
              <a:ext uri="{FF2B5EF4-FFF2-40B4-BE49-F238E27FC236}">
                <a16:creationId xmlns:a16="http://schemas.microsoft.com/office/drawing/2014/main" id="{94C14CB2-5FC4-4A38-A127-DD5705193085}"/>
              </a:ext>
            </a:extLst>
          </p:cNvPr>
          <p:cNvSpPr>
            <a:spLocks xmlns:a="http://schemas.openxmlformats.org/drawingml/2006/main" noGrp="1"/>
          </p:cNvSpPr>
          <p:nvPr/>
        </p:nvSpPr>
        <p:spPr>
          <a:xfrm xmlns:a="http://schemas.openxmlformats.org/drawingml/2006/main">
            <a:off x="548640" y="52486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57" name="Text 55">
            <a:extLst xmlns:a="http://schemas.openxmlformats.org/drawingml/2006/main">
              <a:ext uri="{FF2B5EF4-FFF2-40B4-BE49-F238E27FC236}">
                <a16:creationId xmlns:a16="http://schemas.microsoft.com/office/drawing/2014/main" id="{A88741D7-AF6F-4FB1-845E-BFD0C2263A43}"/>
              </a:ext>
            </a:extLst>
          </p:cNvPr>
          <p:cNvSpPr>
            <a:spLocks xmlns:a="http://schemas.openxmlformats.org/drawingml/2006/main" noGrp="1"/>
          </p:cNvSpPr>
          <p:nvPr/>
        </p:nvSpPr>
        <p:spPr>
          <a:xfrm xmlns:a="http://schemas.openxmlformats.org/drawingml/2006/main">
            <a:off x="731520" y="52486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Independent audit</a:t>
            </a:r>
            <a:endParaRPr sz="1050"/>
          </a:p>
        </p:txBody>
      </p:sp>
      <p:sp>
        <p:nvSpPr>
          <p:cNvPr id="58" name="Text 56">
            <a:extLst xmlns:a="http://schemas.openxmlformats.org/drawingml/2006/main">
              <a:ext uri="{FF2B5EF4-FFF2-40B4-BE49-F238E27FC236}">
                <a16:creationId xmlns:a16="http://schemas.microsoft.com/office/drawing/2014/main" id="{82473BFD-3C0A-4300-B43A-19831B61077C}"/>
              </a:ext>
            </a:extLst>
          </p:cNvPr>
          <p:cNvSpPr>
            <a:spLocks xmlns:a="http://schemas.openxmlformats.org/drawingml/2006/main" noGrp="1"/>
          </p:cNvSpPr>
          <p:nvPr/>
        </p:nvSpPr>
        <p:spPr>
          <a:xfrm xmlns:a="http://schemas.openxmlformats.org/drawingml/2006/main">
            <a:off x="4114800" y="52486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Vendor outcomes are not presented as independently verified.</a:t>
            </a:r>
            <a:endParaRPr sz="1000"/>
          </a:p>
        </p:txBody>
      </p:sp>
      <p:sp>
        <p:nvSpPr>
          <p:cNvPr id="59" name="Shape 57">
            <a:extLst xmlns:a="http://schemas.openxmlformats.org/drawingml/2006/main">
              <a:ext uri="{FF2B5EF4-FFF2-40B4-BE49-F238E27FC236}">
                <a16:creationId xmlns:a16="http://schemas.microsoft.com/office/drawing/2014/main" id="{98E2FBE3-2505-4D51-A4D5-7BDD8D67EB62}"/>
              </a:ext>
            </a:extLst>
          </p:cNvPr>
          <p:cNvSpPr>
            <a:spLocks xmlns:a="http://schemas.openxmlformats.org/drawingml/2006/main" noGrp="1"/>
          </p:cNvSpPr>
          <p:nvPr/>
        </p:nvSpPr>
        <p:spPr>
          <a:xfrm xmlns:a="http://schemas.openxmlformats.org/drawingml/2006/main">
            <a:off x="10161727" y="5340096"/>
            <a:ext cx="1371600" cy="274320"/>
          </a:xfrm>
          <a:prstGeom xmlns:a="http://schemas.openxmlformats.org/drawingml/2006/main" prst="roundRect">
            <a:avLst>
              <a:gd name="adj" fmla="val 50000"/>
            </a:avLst>
          </a:prstGeom>
          <a:solidFill xmlns:a="http://schemas.openxmlformats.org/drawingml/2006/main">
            <a:srgbClr val="FFA700"/>
          </a:solidFill>
        </p:spPr>
      </p:sp>
      <p:sp>
        <p:nvSpPr>
          <p:cNvPr id="60" name="Text 58">
            <a:extLst xmlns:a="http://schemas.openxmlformats.org/drawingml/2006/main">
              <a:ext uri="{FF2B5EF4-FFF2-40B4-BE49-F238E27FC236}">
                <a16:creationId xmlns:a16="http://schemas.microsoft.com/office/drawing/2014/main" id="{678EFCF9-49E4-42D5-975B-BA57F1FFDE00}"/>
              </a:ext>
            </a:extLst>
          </p:cNvPr>
          <p:cNvSpPr>
            <a:spLocks xmlns:a="http://schemas.openxmlformats.org/drawingml/2006/main" noGrp="1"/>
          </p:cNvSpPr>
          <p:nvPr/>
        </p:nvSpPr>
        <p:spPr>
          <a:xfrm xmlns:a="http://schemas.openxmlformats.org/drawingml/2006/main">
            <a:off x="10161727" y="53400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Validate</a:t>
            </a:r>
            <a:endParaRPr sz="900"/>
          </a:p>
        </p:txBody>
      </p:sp>
      <p:sp>
        <p:nvSpPr>
          <p:cNvPr id="61" name="Shape 59">
            <a:extLst xmlns:a="http://schemas.openxmlformats.org/drawingml/2006/main">
              <a:ext uri="{FF2B5EF4-FFF2-40B4-BE49-F238E27FC236}">
                <a16:creationId xmlns:a16="http://schemas.microsoft.com/office/drawing/2014/main" id="{395F13DA-C1D1-4EBD-82B8-FA5114C54581}"/>
              </a:ext>
            </a:extLst>
          </p:cNvPr>
          <p:cNvSpPr>
            <a:spLocks xmlns:a="http://schemas.openxmlformats.org/drawingml/2006/main" noGrp="1"/>
          </p:cNvSpPr>
          <p:nvPr/>
        </p:nvSpPr>
        <p:spPr>
          <a:xfrm xmlns:a="http://schemas.openxmlformats.org/drawingml/2006/main">
            <a:off x="548640" y="57058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62" name="Text 60">
            <a:extLst xmlns:a="http://schemas.openxmlformats.org/drawingml/2006/main">
              <a:ext uri="{FF2B5EF4-FFF2-40B4-BE49-F238E27FC236}">
                <a16:creationId xmlns:a16="http://schemas.microsoft.com/office/drawing/2014/main" id="{85B4CA09-B042-40B1-8B25-3B2E6E72E1C4}"/>
              </a:ext>
            </a:extLst>
          </p:cNvPr>
          <p:cNvSpPr>
            <a:spLocks xmlns:a="http://schemas.openxmlformats.org/drawingml/2006/main" noGrp="1"/>
          </p:cNvSpPr>
          <p:nvPr/>
        </p:nvSpPr>
        <p:spPr>
          <a:xfrm xmlns:a="http://schemas.openxmlformats.org/drawingml/2006/main">
            <a:off x="731520" y="57058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Publication approval</a:t>
            </a:r>
            <a:endParaRPr sz="1050"/>
          </a:p>
        </p:txBody>
      </p:sp>
      <p:sp>
        <p:nvSpPr>
          <p:cNvPr id="63" name="Text 61">
            <a:extLst xmlns:a="http://schemas.openxmlformats.org/drawingml/2006/main">
              <a:ext uri="{FF2B5EF4-FFF2-40B4-BE49-F238E27FC236}">
                <a16:creationId xmlns:a16="http://schemas.microsoft.com/office/drawing/2014/main" id="{4CFBA89D-930C-4B26-A5C4-616C08B66CDB}"/>
              </a:ext>
            </a:extLst>
          </p:cNvPr>
          <p:cNvSpPr>
            <a:spLocks xmlns:a="http://schemas.openxmlformats.org/drawingml/2006/main" noGrp="1"/>
          </p:cNvSpPr>
          <p:nvPr/>
        </p:nvSpPr>
        <p:spPr>
          <a:xfrm xmlns:a="http://schemas.openxmlformats.org/drawingml/2006/main">
            <a:off x="4114800" y="57058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Release only after source and legal review</a:t>
            </a:r>
            <a:endParaRPr sz="1000"/>
          </a:p>
        </p:txBody>
      </p:sp>
      <p:sp>
        <p:nvSpPr>
          <p:cNvPr id="64" name="Shape 62">
            <a:extLst xmlns:a="http://schemas.openxmlformats.org/drawingml/2006/main">
              <a:ext uri="{FF2B5EF4-FFF2-40B4-BE49-F238E27FC236}">
                <a16:creationId xmlns:a16="http://schemas.microsoft.com/office/drawing/2014/main" id="{79A74DF4-4EF0-428D-AAE1-CB49C70F4DC4}"/>
              </a:ext>
            </a:extLst>
          </p:cNvPr>
          <p:cNvSpPr>
            <a:spLocks xmlns:a="http://schemas.openxmlformats.org/drawingml/2006/main" noGrp="1"/>
          </p:cNvSpPr>
          <p:nvPr/>
        </p:nvSpPr>
        <p:spPr>
          <a:xfrm xmlns:a="http://schemas.openxmlformats.org/drawingml/2006/main">
            <a:off x="10161727" y="5797296"/>
            <a:ext cx="1371600" cy="274320"/>
          </a:xfrm>
          <a:prstGeom xmlns:a="http://schemas.openxmlformats.org/drawingml/2006/main" prst="roundRect">
            <a:avLst>
              <a:gd name="adj" fmla="val 50000"/>
            </a:avLst>
          </a:prstGeom>
          <a:solidFill xmlns:a="http://schemas.openxmlformats.org/drawingml/2006/main">
            <a:srgbClr val="C0392B"/>
          </a:solidFill>
        </p:spPr>
      </p:sp>
      <p:sp>
        <p:nvSpPr>
          <p:cNvPr id="65" name="Text 63">
            <a:extLst xmlns:a="http://schemas.openxmlformats.org/drawingml/2006/main">
              <a:ext uri="{FF2B5EF4-FFF2-40B4-BE49-F238E27FC236}">
                <a16:creationId xmlns:a16="http://schemas.microsoft.com/office/drawing/2014/main" id="{4B7F9DA8-1B2E-4D14-B727-6273697580FC}"/>
              </a:ext>
            </a:extLst>
          </p:cNvPr>
          <p:cNvSpPr>
            <a:spLocks xmlns:a="http://schemas.openxmlformats.org/drawingml/2006/main" noGrp="1"/>
          </p:cNvSpPr>
          <p:nvPr/>
        </p:nvSpPr>
        <p:spPr>
          <a:xfrm xmlns:a="http://schemas.openxmlformats.org/drawingml/2006/main">
            <a:off x="10161727" y="57972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Approval</a:t>
            </a:r>
            <a:endParaRPr sz="900"/>
          </a:p>
        </p:txBody>
      </p:sp>
      <p:sp>
        <p:nvSpPr>
          <p:cNvPr id="66" name="Text 64">
            <a:extLst xmlns:a="http://schemas.openxmlformats.org/drawingml/2006/main">
              <a:ext uri="{FF2B5EF4-FFF2-40B4-BE49-F238E27FC236}">
                <a16:creationId xmlns:a16="http://schemas.microsoft.com/office/drawing/2014/main" id="{1A19EE39-28CE-4B1B-8699-7107A65D0AAD}"/>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67" name="Text 65">
            <a:extLst xmlns:a="http://schemas.openxmlformats.org/drawingml/2006/main">
              <a:ext uri="{FF2B5EF4-FFF2-40B4-BE49-F238E27FC236}">
                <a16:creationId xmlns:a16="http://schemas.microsoft.com/office/drawing/2014/main" id="{12106D87-D4F5-4FD1-9151-917C6438701C}"/>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03</a:t>
            </a:r>
            <a:endParaRPr sz="900"/>
          </a:p>
        </p:txBody>
      </p:sp>
    </p:spTree>
    <p:extLst>
      <p:ext uri="{BB962C8B-B14F-4D97-AF65-F5344CB8AC3E}">
        <p14:creationId xmlns:p14="http://schemas.microsoft.com/office/powerpoint/2010/main" val="5343391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D712E6-8799-4EEC-9255-6BEE422D9EC9}"/>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STARTING CONDITION</a:t>
            </a:r>
            <a:endParaRPr sz="1200"/>
          </a:p>
        </p:txBody>
      </p:sp>
      <p:sp>
        <p:nvSpPr>
          <p:cNvPr id="3" name="Text 1">
            <a:extLst xmlns:a="http://schemas.openxmlformats.org/drawingml/2006/main">
              <a:ext uri="{FF2B5EF4-FFF2-40B4-BE49-F238E27FC236}">
                <a16:creationId xmlns:a16="http://schemas.microsoft.com/office/drawing/2014/main" id="{8ABD3ADE-8BC9-41DB-BDD6-B414D76C0306}"/>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Operating friction shapes the transformation</a:t>
            </a:r>
            <a:endParaRPr sz="3000"/>
          </a:p>
        </p:txBody>
      </p:sp>
      <p:sp>
        <p:nvSpPr>
          <p:cNvPr id="4" name="Shape 2">
            <a:extLst xmlns:a="http://schemas.openxmlformats.org/drawingml/2006/main">
              <a:ext uri="{FF2B5EF4-FFF2-40B4-BE49-F238E27FC236}">
                <a16:creationId xmlns:a16="http://schemas.microsoft.com/office/drawing/2014/main" id="{4AFBAA21-B31B-4318-B3B6-6ED5B20754DA}"/>
              </a:ext>
            </a:extLst>
          </p:cNvPr>
          <p:cNvSpPr>
            <a:spLocks xmlns:a="http://schemas.openxmlformats.org/drawingml/2006/main" noGrp="1"/>
          </p:cNvSpPr>
          <p:nvPr/>
        </p:nvSpPr>
        <p:spPr>
          <a:xfrm xmlns:a="http://schemas.openxmlformats.org/drawingml/2006/main">
            <a:off x="548640" y="1554480"/>
            <a:ext cx="4114800" cy="4480560"/>
          </a:xfrm>
          <a:prstGeom xmlns:a="http://schemas.openxmlformats.org/drawingml/2006/main" prst="roundRect">
            <a:avLst>
              <a:gd name="adj" fmla="val 2444"/>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5" name="Text 3">
            <a:extLst xmlns:a="http://schemas.openxmlformats.org/drawingml/2006/main">
              <a:ext uri="{FF2B5EF4-FFF2-40B4-BE49-F238E27FC236}">
                <a16:creationId xmlns:a16="http://schemas.microsoft.com/office/drawing/2014/main" id="{AA64E48A-2D80-422C-BAED-54322A05CD0B}"/>
              </a:ext>
            </a:extLst>
          </p:cNvPr>
          <p:cNvSpPr>
            <a:spLocks xmlns:a="http://schemas.openxmlformats.org/drawingml/2006/main" noGrp="1"/>
          </p:cNvSpPr>
          <p:nvPr/>
        </p:nvSpPr>
        <p:spPr>
          <a:xfrm xmlns:a="http://schemas.openxmlformats.org/drawingml/2006/main">
            <a:off x="822960" y="1773936"/>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F3A5F"/>
                </a:solidFill>
                <a:latin typeface="Poppins"/>
                <a:ea typeface="Poppins"/>
                <a:cs typeface="Poppins"/>
              </a:rPr>
              <a:t>CURRENT OPERATING CHAIN</a:t>
            </a:r>
            <a:endParaRPr sz="1100"/>
          </a:p>
        </p:txBody>
      </p:sp>
      <p:sp>
        <p:nvSpPr>
          <p:cNvPr id="6" name="Shape 4">
            <a:extLst xmlns:a="http://schemas.openxmlformats.org/drawingml/2006/main">
              <a:ext uri="{FF2B5EF4-FFF2-40B4-BE49-F238E27FC236}">
                <a16:creationId xmlns:a16="http://schemas.microsoft.com/office/drawing/2014/main" id="{423D0AD8-33F6-48CD-B6F2-6D22ABAB20CA}"/>
              </a:ext>
            </a:extLst>
          </p:cNvPr>
          <p:cNvSpPr>
            <a:spLocks xmlns:a="http://schemas.openxmlformats.org/drawingml/2006/main" noGrp="1"/>
          </p:cNvSpPr>
          <p:nvPr/>
        </p:nvSpPr>
        <p:spPr>
          <a:xfrm xmlns:a="http://schemas.openxmlformats.org/drawingml/2006/main">
            <a:off x="822960" y="2157984"/>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7" name="Shape 5">
            <a:extLst xmlns:a="http://schemas.openxmlformats.org/drawingml/2006/main">
              <a:ext uri="{FF2B5EF4-FFF2-40B4-BE49-F238E27FC236}">
                <a16:creationId xmlns:a16="http://schemas.microsoft.com/office/drawing/2014/main" id="{B5665417-977C-44E3-BD17-AFCDBE900296}"/>
              </a:ext>
            </a:extLst>
          </p:cNvPr>
          <p:cNvSpPr>
            <a:spLocks xmlns:a="http://schemas.openxmlformats.org/drawingml/2006/main" noGrp="1"/>
          </p:cNvSpPr>
          <p:nvPr/>
        </p:nvSpPr>
        <p:spPr>
          <a:xfrm xmlns:a="http://schemas.openxmlformats.org/drawingml/2006/main">
            <a:off x="1005840" y="2459736"/>
            <a:ext cx="182880" cy="182880"/>
          </a:xfrm>
          <a:prstGeom xmlns:a="http://schemas.openxmlformats.org/drawingml/2006/main" prst="ellipse">
            <a:avLst/>
          </a:prstGeom>
          <a:solidFill xmlns:a="http://schemas.openxmlformats.org/drawingml/2006/main">
            <a:srgbClr val="1F3A5F"/>
          </a:solidFill>
        </p:spPr>
      </p:sp>
      <p:sp>
        <p:nvSpPr>
          <p:cNvPr id="8" name="Text 6">
            <a:extLst xmlns:a="http://schemas.openxmlformats.org/drawingml/2006/main">
              <a:ext uri="{FF2B5EF4-FFF2-40B4-BE49-F238E27FC236}">
                <a16:creationId xmlns:a16="http://schemas.microsoft.com/office/drawing/2014/main" id="{11B4FA74-3E9B-449A-9016-ECE2A19CB74C}"/>
              </a:ext>
            </a:extLst>
          </p:cNvPr>
          <p:cNvSpPr>
            <a:spLocks xmlns:a="http://schemas.openxmlformats.org/drawingml/2006/main" noGrp="1"/>
          </p:cNvSpPr>
          <p:nvPr/>
        </p:nvSpPr>
        <p:spPr>
          <a:xfrm xmlns:a="http://schemas.openxmlformats.org/drawingml/2006/main">
            <a:off x="1335024" y="2249424"/>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Customer intelligence</a:t>
            </a:r>
            <a:endParaRPr sz="1250"/>
          </a:p>
        </p:txBody>
      </p:sp>
      <p:sp>
        <p:nvSpPr>
          <p:cNvPr id="9" name="Text 7">
            <a:extLst xmlns:a="http://schemas.openxmlformats.org/drawingml/2006/main">
              <a:ext uri="{FF2B5EF4-FFF2-40B4-BE49-F238E27FC236}">
                <a16:creationId xmlns:a16="http://schemas.microsoft.com/office/drawing/2014/main" id="{92105712-4785-44E1-854C-4FEADFA41796}"/>
              </a:ext>
            </a:extLst>
          </p:cNvPr>
          <p:cNvSpPr>
            <a:spLocks xmlns:a="http://schemas.openxmlformats.org/drawingml/2006/main" noGrp="1"/>
          </p:cNvSpPr>
          <p:nvPr/>
        </p:nvSpPr>
        <p:spPr>
          <a:xfrm xmlns:a="http://schemas.openxmlformats.org/drawingml/2006/main">
            <a:off x="1335024" y="2560320"/>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A unified profile supports contextual engagement and prioritization.</a:t>
            </a:r>
            <a:endParaRPr sz="10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973bf0d9558a4f8d"/>
          <a:stretch xmlns:a="http://schemas.openxmlformats.org/drawingml/2006/main">
            <a:fillRect l="0" t="0" r="0" b="0"/>
          </a:stretch>
        </p:blipFill>
        <p:spPr>
          <a:xfrm xmlns:a="http://schemas.openxmlformats.org/drawingml/2006/main">
            <a:off x="2505456" y="2980944"/>
            <a:ext cx="201168" cy="201168"/>
          </a:xfrm>
          <a:prstGeom xmlns:a="http://schemas.openxmlformats.org/drawingml/2006/main" prst="rect">
            <a:avLst/>
          </a:prstGeom>
        </p:spPr>
      </p:pic>
      <p:sp>
        <p:nvSpPr>
          <p:cNvPr id="11" name="Shape 8">
            <a:extLst xmlns:a="http://schemas.openxmlformats.org/drawingml/2006/main">
              <a:ext uri="{FF2B5EF4-FFF2-40B4-BE49-F238E27FC236}">
                <a16:creationId xmlns:a16="http://schemas.microsoft.com/office/drawing/2014/main" id="{E59066E5-4DBF-4DC0-9F12-595B23893F05}"/>
              </a:ext>
            </a:extLst>
          </p:cNvPr>
          <p:cNvSpPr>
            <a:spLocks xmlns:a="http://schemas.openxmlformats.org/drawingml/2006/main" noGrp="1"/>
          </p:cNvSpPr>
          <p:nvPr/>
        </p:nvSpPr>
        <p:spPr>
          <a:xfrm xmlns:a="http://schemas.openxmlformats.org/drawingml/2006/main">
            <a:off x="822960" y="3127248"/>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2" name="Shape 9">
            <a:extLst xmlns:a="http://schemas.openxmlformats.org/drawingml/2006/main">
              <a:ext uri="{FF2B5EF4-FFF2-40B4-BE49-F238E27FC236}">
                <a16:creationId xmlns:a16="http://schemas.microsoft.com/office/drawing/2014/main" id="{ECD1FB44-AF01-4DE0-836E-ECB216596119}"/>
              </a:ext>
            </a:extLst>
          </p:cNvPr>
          <p:cNvSpPr>
            <a:spLocks xmlns:a="http://schemas.openxmlformats.org/drawingml/2006/main" noGrp="1"/>
          </p:cNvSpPr>
          <p:nvPr/>
        </p:nvSpPr>
        <p:spPr>
          <a:xfrm xmlns:a="http://schemas.openxmlformats.org/drawingml/2006/main">
            <a:off x="1005840" y="3429000"/>
            <a:ext cx="182880" cy="182880"/>
          </a:xfrm>
          <a:prstGeom xmlns:a="http://schemas.openxmlformats.org/drawingml/2006/main" prst="ellipse">
            <a:avLst/>
          </a:prstGeom>
          <a:solidFill xmlns:a="http://schemas.openxmlformats.org/drawingml/2006/main">
            <a:srgbClr val="EE2B76"/>
          </a:solidFill>
        </p:spPr>
      </p:sp>
      <p:sp>
        <p:nvSpPr>
          <p:cNvPr id="13" name="Text 10">
            <a:extLst xmlns:a="http://schemas.openxmlformats.org/drawingml/2006/main">
              <a:ext uri="{FF2B5EF4-FFF2-40B4-BE49-F238E27FC236}">
                <a16:creationId xmlns:a16="http://schemas.microsoft.com/office/drawing/2014/main" id="{EB88248B-E6FC-414E-83A7-2FF592FC4F8F}"/>
              </a:ext>
            </a:extLst>
          </p:cNvPr>
          <p:cNvSpPr>
            <a:spLocks xmlns:a="http://schemas.openxmlformats.org/drawingml/2006/main" noGrp="1"/>
          </p:cNvSpPr>
          <p:nvPr/>
        </p:nvSpPr>
        <p:spPr>
          <a:xfrm xmlns:a="http://schemas.openxmlformats.org/drawingml/2006/main">
            <a:off x="1335024" y="3218688"/>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Sales orchestration</a:t>
            </a:r>
            <a:endParaRPr sz="1250"/>
          </a:p>
        </p:txBody>
      </p:sp>
      <p:sp>
        <p:nvSpPr>
          <p:cNvPr id="14" name="Text 11">
            <a:extLst xmlns:a="http://schemas.openxmlformats.org/drawingml/2006/main">
              <a:ext uri="{FF2B5EF4-FFF2-40B4-BE49-F238E27FC236}">
                <a16:creationId xmlns:a16="http://schemas.microsoft.com/office/drawing/2014/main" id="{82E208AD-AACF-4BA6-BD49-F90B17C21C55}"/>
              </a:ext>
            </a:extLst>
          </p:cNvPr>
          <p:cNvSpPr>
            <a:spLocks xmlns:a="http://schemas.openxmlformats.org/drawingml/2006/main" noGrp="1"/>
          </p:cNvSpPr>
          <p:nvPr/>
        </p:nvSpPr>
        <p:spPr>
          <a:xfrm xmlns:a="http://schemas.openxmlformats.org/drawingml/2006/main">
            <a:off x="1335024" y="3529584"/>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Lead and opportunity workflows coordinate next actions across channels.</a:t>
            </a:r>
            <a:endParaRPr sz="1000"/>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332f12d5537649d6"/>
          <a:stretch xmlns:a="http://schemas.openxmlformats.org/drawingml/2006/main">
            <a:fillRect l="0" t="0" r="0" b="0"/>
          </a:stretch>
        </p:blipFill>
        <p:spPr>
          <a:xfrm xmlns:a="http://schemas.openxmlformats.org/drawingml/2006/main">
            <a:off x="2505456" y="3950208"/>
            <a:ext cx="201168" cy="201168"/>
          </a:xfrm>
          <a:prstGeom xmlns:a="http://schemas.openxmlformats.org/drawingml/2006/main" prst="rect">
            <a:avLst/>
          </a:prstGeom>
        </p:spPr>
      </p:pic>
      <p:sp>
        <p:nvSpPr>
          <p:cNvPr id="16" name="Shape 12">
            <a:extLst xmlns:a="http://schemas.openxmlformats.org/drawingml/2006/main">
              <a:ext uri="{FF2B5EF4-FFF2-40B4-BE49-F238E27FC236}">
                <a16:creationId xmlns:a16="http://schemas.microsoft.com/office/drawing/2014/main" id="{497D137B-11F7-492F-91D4-7B521A16E5C1}"/>
              </a:ext>
            </a:extLst>
          </p:cNvPr>
          <p:cNvSpPr>
            <a:spLocks xmlns:a="http://schemas.openxmlformats.org/drawingml/2006/main" noGrp="1"/>
          </p:cNvSpPr>
          <p:nvPr/>
        </p:nvSpPr>
        <p:spPr>
          <a:xfrm xmlns:a="http://schemas.openxmlformats.org/drawingml/2006/main">
            <a:off x="822960" y="4096512"/>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7" name="Shape 13">
            <a:extLst xmlns:a="http://schemas.openxmlformats.org/drawingml/2006/main">
              <a:ext uri="{FF2B5EF4-FFF2-40B4-BE49-F238E27FC236}">
                <a16:creationId xmlns:a16="http://schemas.microsoft.com/office/drawing/2014/main" id="{57CBD20F-2E85-4531-96E1-279A1868F25A}"/>
              </a:ext>
            </a:extLst>
          </p:cNvPr>
          <p:cNvSpPr>
            <a:spLocks xmlns:a="http://schemas.openxmlformats.org/drawingml/2006/main" noGrp="1"/>
          </p:cNvSpPr>
          <p:nvPr/>
        </p:nvSpPr>
        <p:spPr>
          <a:xfrm xmlns:a="http://schemas.openxmlformats.org/drawingml/2006/main">
            <a:off x="1005840" y="4398264"/>
            <a:ext cx="182880" cy="182880"/>
          </a:xfrm>
          <a:prstGeom xmlns:a="http://schemas.openxmlformats.org/drawingml/2006/main" prst="ellipse">
            <a:avLst/>
          </a:prstGeom>
          <a:solidFill xmlns:a="http://schemas.openxmlformats.org/drawingml/2006/main">
            <a:srgbClr val="595959"/>
          </a:solidFill>
        </p:spPr>
      </p:sp>
      <p:sp>
        <p:nvSpPr>
          <p:cNvPr id="18" name="Text 14">
            <a:extLst xmlns:a="http://schemas.openxmlformats.org/drawingml/2006/main">
              <a:ext uri="{FF2B5EF4-FFF2-40B4-BE49-F238E27FC236}">
                <a16:creationId xmlns:a16="http://schemas.microsoft.com/office/drawing/2014/main" id="{BAA80B32-94C9-42B5-BBA9-871785DF8C09}"/>
              </a:ext>
            </a:extLst>
          </p:cNvPr>
          <p:cNvSpPr>
            <a:spLocks xmlns:a="http://schemas.openxmlformats.org/drawingml/2006/main" noGrp="1"/>
          </p:cNvSpPr>
          <p:nvPr/>
        </p:nvSpPr>
        <p:spPr>
          <a:xfrm xmlns:a="http://schemas.openxmlformats.org/drawingml/2006/main">
            <a:off x="1335024" y="4187952"/>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Digital onboarding</a:t>
            </a:r>
            <a:endParaRPr sz="1250"/>
          </a:p>
        </p:txBody>
      </p:sp>
      <p:sp>
        <p:nvSpPr>
          <p:cNvPr id="19" name="Text 15">
            <a:extLst xmlns:a="http://schemas.openxmlformats.org/drawingml/2006/main">
              <a:ext uri="{FF2B5EF4-FFF2-40B4-BE49-F238E27FC236}">
                <a16:creationId xmlns:a16="http://schemas.microsoft.com/office/drawing/2014/main" id="{8B67AE1A-4067-45DD-A85C-C626D266F05D}"/>
              </a:ext>
            </a:extLst>
          </p:cNvPr>
          <p:cNvSpPr>
            <a:spLocks xmlns:a="http://schemas.openxmlformats.org/drawingml/2006/main" noGrp="1"/>
          </p:cNvSpPr>
          <p:nvPr/>
        </p:nvSpPr>
        <p:spPr>
          <a:xfrm xmlns:a="http://schemas.openxmlformats.org/drawingml/2006/main">
            <a:off x="1335024" y="4498848"/>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Guided journeys connect acquisition, verification and fulfillment.</a:t>
            </a:r>
            <a:endParaRPr sz="1000"/>
          </a:p>
        </p:txBody>
      </p:sp>
      <p:pic>
        <p:nvPicPr>
          <p:cNvPr id="79" name="Image 2"/>
          <p:cNvPicPr>
            <a:picLocks xmlns:a="http://schemas.openxmlformats.org/drawingml/2006/main" noChangeAspect="1"/>
          </p:cNvPicPr>
          <p:nvPr/>
        </p:nvPicPr>
        <p:blipFill>
          <a:blip xmlns:r="http://schemas.openxmlformats.org/officeDocument/2006/relationships" xmlns:a="http://schemas.openxmlformats.org/drawingml/2006/main" r:embed="R8b03f5c40b4047ad"/>
          <a:stretch xmlns:a="http://schemas.openxmlformats.org/drawingml/2006/main">
            <a:fillRect l="0" t="0" r="0" b="0"/>
          </a:stretch>
        </p:blipFill>
        <p:spPr>
          <a:xfrm xmlns:a="http://schemas.openxmlformats.org/drawingml/2006/main">
            <a:off x="2505456" y="4919472"/>
            <a:ext cx="201168" cy="201168"/>
          </a:xfrm>
          <a:prstGeom xmlns:a="http://schemas.openxmlformats.org/drawingml/2006/main" prst="rect">
            <a:avLst/>
          </a:prstGeom>
        </p:spPr>
      </p:pic>
      <p:sp>
        <p:nvSpPr>
          <p:cNvPr id="21" name="Shape 16">
            <a:extLst xmlns:a="http://schemas.openxmlformats.org/drawingml/2006/main">
              <a:ext uri="{FF2B5EF4-FFF2-40B4-BE49-F238E27FC236}">
                <a16:creationId xmlns:a16="http://schemas.microsoft.com/office/drawing/2014/main" id="{ABE86081-4595-4036-A584-E454F905816C}"/>
              </a:ext>
            </a:extLst>
          </p:cNvPr>
          <p:cNvSpPr>
            <a:spLocks xmlns:a="http://schemas.openxmlformats.org/drawingml/2006/main" noGrp="1"/>
          </p:cNvSpPr>
          <p:nvPr/>
        </p:nvSpPr>
        <p:spPr>
          <a:xfrm xmlns:a="http://schemas.openxmlformats.org/drawingml/2006/main">
            <a:off x="822960" y="5065776"/>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2" name="Shape 17">
            <a:extLst xmlns:a="http://schemas.openxmlformats.org/drawingml/2006/main">
              <a:ext uri="{FF2B5EF4-FFF2-40B4-BE49-F238E27FC236}">
                <a16:creationId xmlns:a16="http://schemas.microsoft.com/office/drawing/2014/main" id="{FE4BF7E7-A625-472E-AD3A-426B269BE9D2}"/>
              </a:ext>
            </a:extLst>
          </p:cNvPr>
          <p:cNvSpPr>
            <a:spLocks xmlns:a="http://schemas.openxmlformats.org/drawingml/2006/main" noGrp="1"/>
          </p:cNvSpPr>
          <p:nvPr/>
        </p:nvSpPr>
        <p:spPr>
          <a:xfrm xmlns:a="http://schemas.openxmlformats.org/drawingml/2006/main">
            <a:off x="1005840" y="5367528"/>
            <a:ext cx="182880" cy="182880"/>
          </a:xfrm>
          <a:prstGeom xmlns:a="http://schemas.openxmlformats.org/drawingml/2006/main" prst="ellipse">
            <a:avLst/>
          </a:prstGeom>
          <a:solidFill xmlns:a="http://schemas.openxmlformats.org/drawingml/2006/main">
            <a:srgbClr val="8A7F79"/>
          </a:solidFill>
        </p:spPr>
      </p:sp>
      <p:sp>
        <p:nvSpPr>
          <p:cNvPr id="23" name="Text 18">
            <a:extLst xmlns:a="http://schemas.openxmlformats.org/drawingml/2006/main">
              <a:ext uri="{FF2B5EF4-FFF2-40B4-BE49-F238E27FC236}">
                <a16:creationId xmlns:a16="http://schemas.microsoft.com/office/drawing/2014/main" id="{7DC9D156-66FF-4666-9A99-B1AAA6223F3B}"/>
              </a:ext>
            </a:extLst>
          </p:cNvPr>
          <p:cNvSpPr>
            <a:spLocks xmlns:a="http://schemas.openxmlformats.org/drawingml/2006/main" noGrp="1"/>
          </p:cNvSpPr>
          <p:nvPr/>
        </p:nvSpPr>
        <p:spPr>
          <a:xfrm xmlns:a="http://schemas.openxmlformats.org/drawingml/2006/main">
            <a:off x="1335024" y="5157216"/>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Digital lending</a:t>
            </a:r>
            <a:endParaRPr sz="1250"/>
          </a:p>
        </p:txBody>
      </p:sp>
      <p:sp>
        <p:nvSpPr>
          <p:cNvPr id="24" name="Text 19">
            <a:extLst xmlns:a="http://schemas.openxmlformats.org/drawingml/2006/main">
              <a:ext uri="{FF2B5EF4-FFF2-40B4-BE49-F238E27FC236}">
                <a16:creationId xmlns:a16="http://schemas.microsoft.com/office/drawing/2014/main" id="{040F0F7F-9815-429B-85B7-8EC516687259}"/>
              </a:ext>
            </a:extLst>
          </p:cNvPr>
          <p:cNvSpPr>
            <a:spLocks xmlns:a="http://schemas.openxmlformats.org/drawingml/2006/main" noGrp="1"/>
          </p:cNvSpPr>
          <p:nvPr/>
        </p:nvSpPr>
        <p:spPr>
          <a:xfrm xmlns:a="http://schemas.openxmlformats.org/drawingml/2006/main">
            <a:off x="1335024" y="5468112"/>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Origination and relationship context support a connected lending journey.</a:t>
            </a:r>
            <a:endParaRPr sz="1000"/>
          </a:p>
        </p:txBody>
      </p:sp>
      <p:sp>
        <p:nvSpPr>
          <p:cNvPr id="25" name="Text 20">
            <a:extLst xmlns:a="http://schemas.openxmlformats.org/drawingml/2006/main">
              <a:ext uri="{FF2B5EF4-FFF2-40B4-BE49-F238E27FC236}">
                <a16:creationId xmlns:a16="http://schemas.microsoft.com/office/drawing/2014/main" id="{DE03940B-DAC8-4C0F-B517-2C5783FBD30B}"/>
              </a:ext>
            </a:extLst>
          </p:cNvPr>
          <p:cNvSpPr>
            <a:spLocks xmlns:a="http://schemas.openxmlformats.org/drawingml/2006/main" noGrp="1"/>
          </p:cNvSpPr>
          <p:nvPr/>
        </p:nvSpPr>
        <p:spPr>
          <a:xfrm xmlns:a="http://schemas.openxmlformats.org/drawingml/2006/main">
            <a:off x="5029200" y="1554480"/>
            <a:ext cx="661385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FRICTION OR DESIGN PRESSURE</a:t>
            </a:r>
            <a:endParaRPr sz="1100"/>
          </a:p>
        </p:txBody>
      </p:sp>
      <p:sp>
        <p:nvSpPr>
          <p:cNvPr id="26" name="Shape 21">
            <a:extLst xmlns:a="http://schemas.openxmlformats.org/drawingml/2006/main">
              <a:ext uri="{FF2B5EF4-FFF2-40B4-BE49-F238E27FC236}">
                <a16:creationId xmlns:a16="http://schemas.microsoft.com/office/drawing/2014/main" id="{C9A0E821-A9AC-4F68-8CB5-8194FB53E3E7}"/>
              </a:ext>
            </a:extLst>
          </p:cNvPr>
          <p:cNvSpPr>
            <a:spLocks xmlns:a="http://schemas.openxmlformats.org/drawingml/2006/main" noGrp="1"/>
          </p:cNvSpPr>
          <p:nvPr/>
        </p:nvSpPr>
        <p:spPr>
          <a:xfrm xmlns:a="http://schemas.openxmlformats.org/drawingml/2006/main">
            <a:off x="5029200" y="1920240"/>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7" name="Shape 22">
            <a:extLst xmlns:a="http://schemas.openxmlformats.org/drawingml/2006/main">
              <a:ext uri="{FF2B5EF4-FFF2-40B4-BE49-F238E27FC236}">
                <a16:creationId xmlns:a16="http://schemas.microsoft.com/office/drawing/2014/main" id="{16AC1242-F61B-400A-A5AA-F35FBC9D4C69}"/>
              </a:ext>
            </a:extLst>
          </p:cNvPr>
          <p:cNvSpPr>
            <a:spLocks xmlns:a="http://schemas.openxmlformats.org/drawingml/2006/main" noGrp="1"/>
          </p:cNvSpPr>
          <p:nvPr/>
        </p:nvSpPr>
        <p:spPr>
          <a:xfrm xmlns:a="http://schemas.openxmlformats.org/drawingml/2006/main">
            <a:off x="5193792" y="2093976"/>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fa5ffdea72044512"/>
          <a:stretch xmlns:a="http://schemas.openxmlformats.org/drawingml/2006/main">
            <a:fillRect l="0" t="0" r="0" b="0"/>
          </a:stretch>
        </p:blipFill>
        <p:spPr>
          <a:xfrm xmlns:a="http://schemas.openxmlformats.org/drawingml/2006/main">
            <a:off x="5307909" y="2208093"/>
            <a:ext cx="210678" cy="210678"/>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A0167A76-9201-4916-BE11-87969E834E1B}"/>
              </a:ext>
            </a:extLst>
          </p:cNvPr>
          <p:cNvSpPr>
            <a:spLocks xmlns:a="http://schemas.openxmlformats.org/drawingml/2006/main" noGrp="1"/>
          </p:cNvSpPr>
          <p:nvPr/>
        </p:nvSpPr>
        <p:spPr>
          <a:xfrm xmlns:a="http://schemas.openxmlformats.org/drawingml/2006/main">
            <a:off x="5779008" y="2020824"/>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Experience layer</a:t>
            </a:r>
            <a:endParaRPr sz="1250"/>
          </a:p>
        </p:txBody>
      </p:sp>
      <p:sp>
        <p:nvSpPr>
          <p:cNvPr id="30" name="Text 24">
            <a:extLst xmlns:a="http://schemas.openxmlformats.org/drawingml/2006/main">
              <a:ext uri="{FF2B5EF4-FFF2-40B4-BE49-F238E27FC236}">
                <a16:creationId xmlns:a16="http://schemas.microsoft.com/office/drawing/2014/main" id="{8ACB25E4-D3D0-47A7-8AA6-4E444EB9A6D3}"/>
              </a:ext>
            </a:extLst>
          </p:cNvPr>
          <p:cNvSpPr>
            <a:spLocks xmlns:a="http://schemas.openxmlformats.org/drawingml/2006/main" noGrp="1"/>
          </p:cNvSpPr>
          <p:nvPr/>
        </p:nvSpPr>
        <p:spPr>
          <a:xfrm xmlns:a="http://schemas.openxmlformats.org/drawingml/2006/main">
            <a:off x="5779008" y="2304288"/>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Role-based banker, service and management workspaces.</a:t>
            </a:r>
            <a:endParaRPr sz="1000"/>
          </a:p>
        </p:txBody>
      </p:sp>
      <p:sp>
        <p:nvSpPr>
          <p:cNvPr id="31" name="Shape 25">
            <a:extLst xmlns:a="http://schemas.openxmlformats.org/drawingml/2006/main">
              <a:ext uri="{FF2B5EF4-FFF2-40B4-BE49-F238E27FC236}">
                <a16:creationId xmlns:a16="http://schemas.microsoft.com/office/drawing/2014/main" id="{D876C56C-E3D1-468C-AD1E-474BE46DFA98}"/>
              </a:ext>
            </a:extLst>
          </p:cNvPr>
          <p:cNvSpPr>
            <a:spLocks xmlns:a="http://schemas.openxmlformats.org/drawingml/2006/main" noGrp="1"/>
          </p:cNvSpPr>
          <p:nvPr/>
        </p:nvSpPr>
        <p:spPr>
          <a:xfrm xmlns:a="http://schemas.openxmlformats.org/drawingml/2006/main">
            <a:off x="5029200" y="2775204"/>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2" name="Shape 26">
            <a:extLst xmlns:a="http://schemas.openxmlformats.org/drawingml/2006/main">
              <a:ext uri="{FF2B5EF4-FFF2-40B4-BE49-F238E27FC236}">
                <a16:creationId xmlns:a16="http://schemas.microsoft.com/office/drawing/2014/main" id="{16156090-519A-4327-881A-84D9D7E1B6C9}"/>
              </a:ext>
            </a:extLst>
          </p:cNvPr>
          <p:cNvSpPr>
            <a:spLocks xmlns:a="http://schemas.openxmlformats.org/drawingml/2006/main" noGrp="1"/>
          </p:cNvSpPr>
          <p:nvPr/>
        </p:nvSpPr>
        <p:spPr>
          <a:xfrm xmlns:a="http://schemas.openxmlformats.org/drawingml/2006/main">
            <a:off x="5193792" y="2948940"/>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2" name="Image 4"/>
          <p:cNvPicPr>
            <a:picLocks xmlns:a="http://schemas.openxmlformats.org/drawingml/2006/main" noChangeAspect="1"/>
          </p:cNvPicPr>
          <p:nvPr/>
        </p:nvPicPr>
        <p:blipFill>
          <a:blip xmlns:r="http://schemas.openxmlformats.org/officeDocument/2006/relationships" xmlns:a="http://schemas.openxmlformats.org/drawingml/2006/main" r:embed="R1f0e1f461c574e08"/>
          <a:stretch xmlns:a="http://schemas.openxmlformats.org/drawingml/2006/main">
            <a:fillRect l="0" t="0" r="0" b="0"/>
          </a:stretch>
        </p:blipFill>
        <p:spPr>
          <a:xfrm xmlns:a="http://schemas.openxmlformats.org/drawingml/2006/main">
            <a:off x="5307909" y="3063057"/>
            <a:ext cx="210678" cy="210678"/>
          </a:xfrm>
          <a:prstGeom xmlns:a="http://schemas.openxmlformats.org/drawingml/2006/main" prst="rect">
            <a:avLst/>
          </a:prstGeom>
        </p:spPr>
      </p:pic>
      <p:sp>
        <p:nvSpPr>
          <p:cNvPr id="34" name="Text 27">
            <a:extLst xmlns:a="http://schemas.openxmlformats.org/drawingml/2006/main">
              <a:ext uri="{FF2B5EF4-FFF2-40B4-BE49-F238E27FC236}">
                <a16:creationId xmlns:a16="http://schemas.microsoft.com/office/drawing/2014/main" id="{C5EBFF99-871A-4E66-8013-E537242D0D8D}"/>
              </a:ext>
            </a:extLst>
          </p:cNvPr>
          <p:cNvSpPr>
            <a:spLocks xmlns:a="http://schemas.openxmlformats.org/drawingml/2006/main" noGrp="1"/>
          </p:cNvSpPr>
          <p:nvPr/>
        </p:nvSpPr>
        <p:spPr>
          <a:xfrm xmlns:a="http://schemas.openxmlformats.org/drawingml/2006/main">
            <a:off x="5779008" y="2875788"/>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Engagement layer</a:t>
            </a:r>
            <a:endParaRPr sz="1250"/>
          </a:p>
        </p:txBody>
      </p:sp>
      <p:sp>
        <p:nvSpPr>
          <p:cNvPr id="35" name="Text 28">
            <a:extLst xmlns:a="http://schemas.openxmlformats.org/drawingml/2006/main">
              <a:ext uri="{FF2B5EF4-FFF2-40B4-BE49-F238E27FC236}">
                <a16:creationId xmlns:a16="http://schemas.microsoft.com/office/drawing/2014/main" id="{00FE8E33-DBCA-49A1-BFC3-9892A1DB2021}"/>
              </a:ext>
            </a:extLst>
          </p:cNvPr>
          <p:cNvSpPr>
            <a:spLocks xmlns:a="http://schemas.openxmlformats.org/drawingml/2006/main" noGrp="1"/>
          </p:cNvSpPr>
          <p:nvPr/>
        </p:nvSpPr>
        <p:spPr>
          <a:xfrm xmlns:a="http://schemas.openxmlformats.org/drawingml/2006/main">
            <a:off x="5779008" y="3159252"/>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Campaign, lead, opportunity, onboarding and service orchestration.</a:t>
            </a:r>
            <a:endParaRPr sz="1000"/>
          </a:p>
        </p:txBody>
      </p:sp>
      <p:sp>
        <p:nvSpPr>
          <p:cNvPr id="36" name="Shape 29">
            <a:extLst xmlns:a="http://schemas.openxmlformats.org/drawingml/2006/main">
              <a:ext uri="{FF2B5EF4-FFF2-40B4-BE49-F238E27FC236}">
                <a16:creationId xmlns:a16="http://schemas.microsoft.com/office/drawing/2014/main" id="{0C7000FB-695B-48B2-A3EA-83AA438F2656}"/>
              </a:ext>
            </a:extLst>
          </p:cNvPr>
          <p:cNvSpPr>
            <a:spLocks xmlns:a="http://schemas.openxmlformats.org/drawingml/2006/main" noGrp="1"/>
          </p:cNvSpPr>
          <p:nvPr/>
        </p:nvSpPr>
        <p:spPr>
          <a:xfrm xmlns:a="http://schemas.openxmlformats.org/drawingml/2006/main">
            <a:off x="5029200" y="3630168"/>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7" name="Shape 30">
            <a:extLst xmlns:a="http://schemas.openxmlformats.org/drawingml/2006/main">
              <a:ext uri="{FF2B5EF4-FFF2-40B4-BE49-F238E27FC236}">
                <a16:creationId xmlns:a16="http://schemas.microsoft.com/office/drawing/2014/main" id="{288C2590-DA54-486D-8078-43E70BB85688}"/>
              </a:ext>
            </a:extLst>
          </p:cNvPr>
          <p:cNvSpPr>
            <a:spLocks xmlns:a="http://schemas.openxmlformats.org/drawingml/2006/main" noGrp="1"/>
          </p:cNvSpPr>
          <p:nvPr/>
        </p:nvSpPr>
        <p:spPr>
          <a:xfrm xmlns:a="http://schemas.openxmlformats.org/drawingml/2006/main">
            <a:off x="5193792"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7" name="Image 5"/>
          <p:cNvPicPr>
            <a:picLocks xmlns:a="http://schemas.openxmlformats.org/drawingml/2006/main" noChangeAspect="1"/>
          </p:cNvPicPr>
          <p:nvPr/>
        </p:nvPicPr>
        <p:blipFill>
          <a:blip xmlns:r="http://schemas.openxmlformats.org/officeDocument/2006/relationships" xmlns:a="http://schemas.openxmlformats.org/drawingml/2006/main" r:embed="Rc7a0f3532ebe499a"/>
          <a:stretch xmlns:a="http://schemas.openxmlformats.org/drawingml/2006/main">
            <a:fillRect l="0" t="0" r="0" b="0"/>
          </a:stretch>
        </p:blipFill>
        <p:spPr>
          <a:xfrm xmlns:a="http://schemas.openxmlformats.org/drawingml/2006/main">
            <a:off x="5307909" y="3918021"/>
            <a:ext cx="210678" cy="210678"/>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81626CB4-B372-4B3C-825E-0BC2569924BC}"/>
              </a:ext>
            </a:extLst>
          </p:cNvPr>
          <p:cNvSpPr>
            <a:spLocks xmlns:a="http://schemas.openxmlformats.org/drawingml/2006/main" noGrp="1"/>
          </p:cNvSpPr>
          <p:nvPr/>
        </p:nvSpPr>
        <p:spPr>
          <a:xfrm xmlns:a="http://schemas.openxmlformats.org/drawingml/2006/main">
            <a:off x="5779008" y="3730752"/>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Decision layer</a:t>
            </a:r>
            <a:endParaRPr sz="1250"/>
          </a:p>
        </p:txBody>
      </p:sp>
      <p:sp>
        <p:nvSpPr>
          <p:cNvPr id="40" name="Text 32">
            <a:extLst xmlns:a="http://schemas.openxmlformats.org/drawingml/2006/main">
              <a:ext uri="{FF2B5EF4-FFF2-40B4-BE49-F238E27FC236}">
                <a16:creationId xmlns:a16="http://schemas.microsoft.com/office/drawing/2014/main" id="{286A847E-D956-4703-9294-B6F9F5A87EFE}"/>
              </a:ext>
            </a:extLst>
          </p:cNvPr>
          <p:cNvSpPr>
            <a:spLocks xmlns:a="http://schemas.openxmlformats.org/drawingml/2006/main" noGrp="1"/>
          </p:cNvSpPr>
          <p:nvPr/>
        </p:nvSpPr>
        <p:spPr>
          <a:xfrm xmlns:a="http://schemas.openxmlformats.org/drawingml/2006/main">
            <a:off x="5779008" y="4014216"/>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Customer signals, prioritization and recommended actions.</a:t>
            </a:r>
            <a:endParaRPr sz="1000"/>
          </a:p>
        </p:txBody>
      </p:sp>
      <p:sp>
        <p:nvSpPr>
          <p:cNvPr id="41" name="Shape 33">
            <a:extLst xmlns:a="http://schemas.openxmlformats.org/drawingml/2006/main">
              <a:ext uri="{FF2B5EF4-FFF2-40B4-BE49-F238E27FC236}">
                <a16:creationId xmlns:a16="http://schemas.microsoft.com/office/drawing/2014/main" id="{A5B070C8-50AF-4692-9D94-08DA8A0994A5}"/>
              </a:ext>
            </a:extLst>
          </p:cNvPr>
          <p:cNvSpPr>
            <a:spLocks xmlns:a="http://schemas.openxmlformats.org/drawingml/2006/main" noGrp="1"/>
          </p:cNvSpPr>
          <p:nvPr/>
        </p:nvSpPr>
        <p:spPr>
          <a:xfrm xmlns:a="http://schemas.openxmlformats.org/drawingml/2006/main">
            <a:off x="5029200" y="4485132"/>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2" name="Shape 34">
            <a:extLst xmlns:a="http://schemas.openxmlformats.org/drawingml/2006/main">
              <a:ext uri="{FF2B5EF4-FFF2-40B4-BE49-F238E27FC236}">
                <a16:creationId xmlns:a16="http://schemas.microsoft.com/office/drawing/2014/main" id="{7894B2ED-83BA-4695-8E2D-0A7BC02A776D}"/>
              </a:ext>
            </a:extLst>
          </p:cNvPr>
          <p:cNvSpPr>
            <a:spLocks xmlns:a="http://schemas.openxmlformats.org/drawingml/2006/main" noGrp="1"/>
          </p:cNvSpPr>
          <p:nvPr/>
        </p:nvSpPr>
        <p:spPr>
          <a:xfrm xmlns:a="http://schemas.openxmlformats.org/drawingml/2006/main">
            <a:off x="5193792" y="465886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2" name="Image 6"/>
          <p:cNvPicPr>
            <a:picLocks xmlns:a="http://schemas.openxmlformats.org/drawingml/2006/main" noChangeAspect="1"/>
          </p:cNvPicPr>
          <p:nvPr/>
        </p:nvPicPr>
        <p:blipFill>
          <a:blip xmlns:r="http://schemas.openxmlformats.org/officeDocument/2006/relationships" xmlns:a="http://schemas.openxmlformats.org/drawingml/2006/main" r:embed="Rcb0a6cb52b3041d2"/>
          <a:stretch xmlns:a="http://schemas.openxmlformats.org/drawingml/2006/main">
            <a:fillRect l="0" t="0" r="0" b="0"/>
          </a:stretch>
        </p:blipFill>
        <p:spPr>
          <a:xfrm xmlns:a="http://schemas.openxmlformats.org/drawingml/2006/main">
            <a:off x="5307909" y="4772985"/>
            <a:ext cx="210678" cy="210678"/>
          </a:xfrm>
          <a:prstGeom xmlns:a="http://schemas.openxmlformats.org/drawingml/2006/main" prst="rect">
            <a:avLst/>
          </a:prstGeom>
        </p:spPr>
      </p:pic>
      <p:sp>
        <p:nvSpPr>
          <p:cNvPr id="44" name="Text 35">
            <a:extLst xmlns:a="http://schemas.openxmlformats.org/drawingml/2006/main">
              <a:ext uri="{FF2B5EF4-FFF2-40B4-BE49-F238E27FC236}">
                <a16:creationId xmlns:a16="http://schemas.microsoft.com/office/drawing/2014/main" id="{216692D9-3B8C-4012-932C-F1E4EA56F17F}"/>
              </a:ext>
            </a:extLst>
          </p:cNvPr>
          <p:cNvSpPr>
            <a:spLocks xmlns:a="http://schemas.openxmlformats.org/drawingml/2006/main" noGrp="1"/>
          </p:cNvSpPr>
          <p:nvPr/>
        </p:nvSpPr>
        <p:spPr>
          <a:xfrm xmlns:a="http://schemas.openxmlformats.org/drawingml/2006/main">
            <a:off x="5779008" y="4585716"/>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Integration layer</a:t>
            </a:r>
            <a:endParaRPr sz="1250"/>
          </a:p>
        </p:txBody>
      </p:sp>
      <p:sp>
        <p:nvSpPr>
          <p:cNvPr id="45" name="Text 36">
            <a:extLst xmlns:a="http://schemas.openxmlformats.org/drawingml/2006/main">
              <a:ext uri="{FF2B5EF4-FFF2-40B4-BE49-F238E27FC236}">
                <a16:creationId xmlns:a16="http://schemas.microsoft.com/office/drawing/2014/main" id="{61FB51B4-BFB5-45E0-A1F4-DB7298C421E7}"/>
              </a:ext>
            </a:extLst>
          </p:cNvPr>
          <p:cNvSpPr>
            <a:spLocks xmlns:a="http://schemas.openxmlformats.org/drawingml/2006/main" noGrp="1"/>
          </p:cNvSpPr>
          <p:nvPr/>
        </p:nvSpPr>
        <p:spPr>
          <a:xfrm xmlns:a="http://schemas.openxmlformats.org/drawingml/2006/main">
            <a:off x="5779008" y="4869180"/>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Governed touchpoints connect systems of record and channels.</a:t>
            </a:r>
            <a:endParaRPr sz="1000"/>
          </a:p>
        </p:txBody>
      </p:sp>
      <p:sp>
        <p:nvSpPr>
          <p:cNvPr id="46" name="Shape 37">
            <a:extLst xmlns:a="http://schemas.openxmlformats.org/drawingml/2006/main">
              <a:ext uri="{FF2B5EF4-FFF2-40B4-BE49-F238E27FC236}">
                <a16:creationId xmlns:a16="http://schemas.microsoft.com/office/drawing/2014/main" id="{4C1455E3-D7E9-4F42-9B26-C83527DE8193}"/>
              </a:ext>
            </a:extLst>
          </p:cNvPr>
          <p:cNvSpPr>
            <a:spLocks xmlns:a="http://schemas.openxmlformats.org/drawingml/2006/main" noGrp="1"/>
          </p:cNvSpPr>
          <p:nvPr/>
        </p:nvSpPr>
        <p:spPr>
          <a:xfrm xmlns:a="http://schemas.openxmlformats.org/drawingml/2006/main">
            <a:off x="5029200" y="5340096"/>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7" name="Shape 38">
            <a:extLst xmlns:a="http://schemas.openxmlformats.org/drawingml/2006/main">
              <a:ext uri="{FF2B5EF4-FFF2-40B4-BE49-F238E27FC236}">
                <a16:creationId xmlns:a16="http://schemas.microsoft.com/office/drawing/2014/main" id="{B1D33849-B3F5-4569-813A-2B267EFC7D8E}"/>
              </a:ext>
            </a:extLst>
          </p:cNvPr>
          <p:cNvSpPr>
            <a:spLocks xmlns:a="http://schemas.openxmlformats.org/drawingml/2006/main" noGrp="1"/>
          </p:cNvSpPr>
          <p:nvPr/>
        </p:nvSpPr>
        <p:spPr>
          <a:xfrm xmlns:a="http://schemas.openxmlformats.org/drawingml/2006/main">
            <a:off x="5193792" y="551383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7" name="Image 7"/>
          <p:cNvPicPr>
            <a:picLocks xmlns:a="http://schemas.openxmlformats.org/drawingml/2006/main" noChangeAspect="1"/>
          </p:cNvPicPr>
          <p:nvPr/>
        </p:nvPicPr>
        <p:blipFill>
          <a:blip xmlns:r="http://schemas.openxmlformats.org/officeDocument/2006/relationships" xmlns:a="http://schemas.openxmlformats.org/drawingml/2006/main" r:embed="Rcaf57f51e2144e99"/>
          <a:stretch xmlns:a="http://schemas.openxmlformats.org/drawingml/2006/main">
            <a:fillRect l="0" t="0" r="0" b="0"/>
          </a:stretch>
        </p:blipFill>
        <p:spPr>
          <a:xfrm xmlns:a="http://schemas.openxmlformats.org/drawingml/2006/main">
            <a:off x="5307909" y="5627949"/>
            <a:ext cx="210678" cy="210678"/>
          </a:xfrm>
          <a:prstGeom xmlns:a="http://schemas.openxmlformats.org/drawingml/2006/main" prst="rect">
            <a:avLst/>
          </a:prstGeom>
        </p:spPr>
      </p:pic>
      <p:sp>
        <p:nvSpPr>
          <p:cNvPr id="49" name="Text 39">
            <a:extLst xmlns:a="http://schemas.openxmlformats.org/drawingml/2006/main">
              <a:ext uri="{FF2B5EF4-FFF2-40B4-BE49-F238E27FC236}">
                <a16:creationId xmlns:a16="http://schemas.microsoft.com/office/drawing/2014/main" id="{2647FFC4-3722-4AF9-A108-3711CBBB0D58}"/>
              </a:ext>
            </a:extLst>
          </p:cNvPr>
          <p:cNvSpPr>
            <a:spLocks xmlns:a="http://schemas.openxmlformats.org/drawingml/2006/main" noGrp="1"/>
          </p:cNvSpPr>
          <p:nvPr/>
        </p:nvSpPr>
        <p:spPr>
          <a:xfrm xmlns:a="http://schemas.openxmlformats.org/drawingml/2006/main">
            <a:off x="5779008" y="5440680"/>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Control layer</a:t>
            </a:r>
            <a:endParaRPr sz="1250"/>
          </a:p>
        </p:txBody>
      </p:sp>
      <p:sp>
        <p:nvSpPr>
          <p:cNvPr id="50" name="Text 40">
            <a:extLst xmlns:a="http://schemas.openxmlformats.org/drawingml/2006/main">
              <a:ext uri="{FF2B5EF4-FFF2-40B4-BE49-F238E27FC236}">
                <a16:creationId xmlns:a16="http://schemas.microsoft.com/office/drawing/2014/main" id="{EB898DC8-5DD8-410F-A344-FCE11497DCCD}"/>
              </a:ext>
            </a:extLst>
          </p:cNvPr>
          <p:cNvSpPr>
            <a:spLocks xmlns:a="http://schemas.openxmlformats.org/drawingml/2006/main" noGrp="1"/>
          </p:cNvSpPr>
          <p:nvPr/>
        </p:nvSpPr>
        <p:spPr>
          <a:xfrm xmlns:a="http://schemas.openxmlformats.org/drawingml/2006/main">
            <a:off x="5779008" y="5724144"/>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Access, consent, audit and change governance bound execution.</a:t>
            </a:r>
            <a:endParaRPr sz="1000"/>
          </a:p>
        </p:txBody>
      </p:sp>
      <p:sp>
        <p:nvSpPr>
          <p:cNvPr id="51" name="Text 41">
            <a:extLst xmlns:a="http://schemas.openxmlformats.org/drawingml/2006/main">
              <a:ext uri="{FF2B5EF4-FFF2-40B4-BE49-F238E27FC236}">
                <a16:creationId xmlns:a16="http://schemas.microsoft.com/office/drawing/2014/main" id="{86A8BA49-A706-474B-BFCA-F91007FBD63A}"/>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52" name="Text 42">
            <a:extLst xmlns:a="http://schemas.openxmlformats.org/drawingml/2006/main">
              <a:ext uri="{FF2B5EF4-FFF2-40B4-BE49-F238E27FC236}">
                <a16:creationId xmlns:a16="http://schemas.microsoft.com/office/drawing/2014/main" id="{77BA31B7-E9A3-4AE2-9ADE-C37420DE3DCC}"/>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04</a:t>
            </a:r>
            <a:endParaRPr sz="900"/>
          </a:p>
        </p:txBody>
      </p:sp>
    </p:spTree>
    <p:extLst>
      <p:ext uri="{BB962C8B-B14F-4D97-AF65-F5344CB8AC3E}">
        <p14:creationId xmlns:p14="http://schemas.microsoft.com/office/powerpoint/2010/main" val="94472881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29B28D-B360-46CE-809D-6C7C1E895C51}"/>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SCALE AND EVIDENCE</a:t>
            </a:r>
            <a:endParaRPr sz="1200"/>
          </a:p>
        </p:txBody>
      </p:sp>
      <p:sp>
        <p:nvSpPr>
          <p:cNvPr id="3" name="Text 1">
            <a:extLst xmlns:a="http://schemas.openxmlformats.org/drawingml/2006/main">
              <a:ext uri="{FF2B5EF4-FFF2-40B4-BE49-F238E27FC236}">
                <a16:creationId xmlns:a16="http://schemas.microsoft.com/office/drawing/2014/main" id="{5362FD5C-0AED-4346-9AA5-1AE5A45F0285}"/>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Evidence locates the observed change</a:t>
            </a:r>
            <a:endParaRPr sz="3000"/>
          </a:p>
        </p:txBody>
      </p:sp>
      <p:sp>
        <p:nvSpPr>
          <p:cNvPr id="4" name="Text 2">
            <a:extLst xmlns:a="http://schemas.openxmlformats.org/drawingml/2006/main">
              <a:ext uri="{FF2B5EF4-FFF2-40B4-BE49-F238E27FC236}">
                <a16:creationId xmlns:a16="http://schemas.microsoft.com/office/drawing/2014/main" id="{ECFFF043-77D7-4F55-A7F3-086576097A4A}"/>
              </a:ext>
            </a:extLst>
          </p:cNvPr>
          <p:cNvSpPr>
            <a:spLocks xmlns:a="http://schemas.openxmlformats.org/drawingml/2006/main" noGrp="1"/>
          </p:cNvSpPr>
          <p:nvPr/>
        </p:nvSpPr>
        <p:spPr>
          <a:xfrm xmlns:a="http://schemas.openxmlformats.org/drawingml/2006/main">
            <a:off x="548640" y="1353312"/>
            <a:ext cx="11094415"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95959"/>
                </a:solidFill>
                <a:latin typeface="Calibri"/>
                <a:ea typeface="Calibri"/>
                <a:cs typeface="Calibri"/>
              </a:rPr>
              <a:t>Reported scale and outcomes retain their source period and attribution</a:t>
            </a:r>
            <a:endParaRPr sz="1200"/>
          </a:p>
        </p:txBody>
      </p:sp>
      <p:sp>
        <p:nvSpPr>
          <p:cNvPr id="5" name="Shape 3">
            <a:extLst xmlns:a="http://schemas.openxmlformats.org/drawingml/2006/main">
              <a:ext uri="{FF2B5EF4-FFF2-40B4-BE49-F238E27FC236}">
                <a16:creationId xmlns:a16="http://schemas.microsoft.com/office/drawing/2014/main" id="{E24F210A-0748-45DF-871D-4664DB9EDE0F}"/>
              </a:ext>
            </a:extLst>
          </p:cNvPr>
          <p:cNvSpPr>
            <a:spLocks xmlns:a="http://schemas.openxmlformats.org/drawingml/2006/main" noGrp="1"/>
          </p:cNvSpPr>
          <p:nvPr/>
        </p:nvSpPr>
        <p:spPr>
          <a:xfrm xmlns:a="http://schemas.openxmlformats.org/drawingml/2006/main">
            <a:off x="548640"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6" name="Shape 4">
            <a:extLst xmlns:a="http://schemas.openxmlformats.org/drawingml/2006/main">
              <a:ext uri="{FF2B5EF4-FFF2-40B4-BE49-F238E27FC236}">
                <a16:creationId xmlns:a16="http://schemas.microsoft.com/office/drawing/2014/main" id="{B6C2DCDC-B4B4-4326-919C-F57BBA8C97F6}"/>
              </a:ext>
            </a:extLst>
          </p:cNvPr>
          <p:cNvSpPr>
            <a:spLocks xmlns:a="http://schemas.openxmlformats.org/drawingml/2006/main" noGrp="1"/>
          </p:cNvSpPr>
          <p:nvPr/>
        </p:nvSpPr>
        <p:spPr>
          <a:xfrm xmlns:a="http://schemas.openxmlformats.org/drawingml/2006/main">
            <a:off x="1297808"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72" name="Image 0"/>
          <p:cNvPicPr>
            <a:picLocks xmlns:a="http://schemas.openxmlformats.org/drawingml/2006/main" noChangeAspect="1"/>
          </p:cNvPicPr>
          <p:nvPr/>
        </p:nvPicPr>
        <p:blipFill>
          <a:blip xmlns:r="http://schemas.openxmlformats.org/officeDocument/2006/relationships" xmlns:a="http://schemas.openxmlformats.org/drawingml/2006/main" r:embed="Ref77e36443bc412e"/>
          <a:stretch xmlns:a="http://schemas.openxmlformats.org/drawingml/2006/main">
            <a:fillRect l="0" t="0" r="0" b="0"/>
          </a:stretch>
        </p:blipFill>
        <p:spPr>
          <a:xfrm xmlns:a="http://schemas.openxmlformats.org/drawingml/2006/main">
            <a:off x="1435699" y="2259300"/>
            <a:ext cx="254569" cy="254569"/>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E56C38F9-2795-4AFB-B6B0-79D6CA580510}"/>
              </a:ext>
            </a:extLst>
          </p:cNvPr>
          <p:cNvSpPr>
            <a:spLocks xmlns:a="http://schemas.openxmlformats.org/drawingml/2006/main" noGrp="1"/>
          </p:cNvSpPr>
          <p:nvPr/>
        </p:nvSpPr>
        <p:spPr>
          <a:xfrm xmlns:a="http://schemas.openxmlformats.org/drawingml/2006/main">
            <a:off x="640080"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E2B76"/>
                </a:solidFill>
                <a:latin typeface="Poppins"/>
                <a:ea typeface="Poppins"/>
                <a:cs typeface="Poppins"/>
              </a:rPr>
              <a:t>100,000+</a:t>
            </a:r>
            <a:endParaRPr sz="2600"/>
          </a:p>
        </p:txBody>
      </p:sp>
      <p:sp>
        <p:nvSpPr>
          <p:cNvPr id="9" name="Text 6">
            <a:extLst xmlns:a="http://schemas.openxmlformats.org/drawingml/2006/main">
              <a:ext uri="{FF2B5EF4-FFF2-40B4-BE49-F238E27FC236}">
                <a16:creationId xmlns:a16="http://schemas.microsoft.com/office/drawing/2014/main" id="{058875EE-87C5-48BF-A83D-97C6AE401E2A}"/>
              </a:ext>
            </a:extLst>
          </p:cNvPr>
          <p:cNvSpPr>
            <a:spLocks xmlns:a="http://schemas.openxmlformats.org/drawingml/2006/main" noGrp="1"/>
          </p:cNvSpPr>
          <p:nvPr/>
        </p:nvSpPr>
        <p:spPr>
          <a:xfrm xmlns:a="http://schemas.openxmlformats.org/drawingml/2006/main">
            <a:off x="640080"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users reported</a:t>
            </a:r>
            <a:endParaRPr sz="1050"/>
          </a:p>
        </p:txBody>
      </p:sp>
      <p:sp>
        <p:nvSpPr>
          <p:cNvPr id="10" name="Shape 7">
            <a:extLst xmlns:a="http://schemas.openxmlformats.org/drawingml/2006/main">
              <a:ext uri="{FF2B5EF4-FFF2-40B4-BE49-F238E27FC236}">
                <a16:creationId xmlns:a16="http://schemas.microsoft.com/office/drawing/2014/main" id="{4D74976E-A3CB-4A93-AAE9-298B32881015}"/>
              </a:ext>
            </a:extLst>
          </p:cNvPr>
          <p:cNvSpPr>
            <a:spLocks xmlns:a="http://schemas.openxmlformats.org/drawingml/2006/main" noGrp="1"/>
          </p:cNvSpPr>
          <p:nvPr/>
        </p:nvSpPr>
        <p:spPr>
          <a:xfrm xmlns:a="http://schemas.openxmlformats.org/drawingml/2006/main">
            <a:off x="2815072"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1" name="Shape 8">
            <a:extLst xmlns:a="http://schemas.openxmlformats.org/drawingml/2006/main">
              <a:ext uri="{FF2B5EF4-FFF2-40B4-BE49-F238E27FC236}">
                <a16:creationId xmlns:a16="http://schemas.microsoft.com/office/drawing/2014/main" id="{4F51142A-79D6-4A83-8B37-2233AB7657B3}"/>
              </a:ext>
            </a:extLst>
          </p:cNvPr>
          <p:cNvSpPr>
            <a:spLocks xmlns:a="http://schemas.openxmlformats.org/drawingml/2006/main" noGrp="1"/>
          </p:cNvSpPr>
          <p:nvPr/>
        </p:nvSpPr>
        <p:spPr>
          <a:xfrm xmlns:a="http://schemas.openxmlformats.org/drawingml/2006/main">
            <a:off x="3564240"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93cf1a0d80b4a51"/>
          <a:stretch xmlns:a="http://schemas.openxmlformats.org/drawingml/2006/main">
            <a:fillRect l="0" t="0" r="0" b="0"/>
          </a:stretch>
        </p:blipFill>
        <p:spPr>
          <a:xfrm xmlns:a="http://schemas.openxmlformats.org/drawingml/2006/main">
            <a:off x="3702131" y="2259300"/>
            <a:ext cx="254569" cy="254569"/>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ABA0901-7B2A-43F2-B50D-A25A967B0A50}"/>
              </a:ext>
            </a:extLst>
          </p:cNvPr>
          <p:cNvSpPr>
            <a:spLocks xmlns:a="http://schemas.openxmlformats.org/drawingml/2006/main" noGrp="1"/>
          </p:cNvSpPr>
          <p:nvPr/>
        </p:nvSpPr>
        <p:spPr>
          <a:xfrm xmlns:a="http://schemas.openxmlformats.org/drawingml/2006/main">
            <a:off x="2906512"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F3A5F"/>
                </a:solidFill>
                <a:latin typeface="Poppins"/>
                <a:ea typeface="Poppins"/>
                <a:cs typeface="Poppins"/>
              </a:rPr>
              <a:t>80M+</a:t>
            </a:r>
            <a:endParaRPr sz="2600"/>
          </a:p>
        </p:txBody>
      </p:sp>
      <p:sp>
        <p:nvSpPr>
          <p:cNvPr id="14" name="Text 10">
            <a:extLst xmlns:a="http://schemas.openxmlformats.org/drawingml/2006/main">
              <a:ext uri="{FF2B5EF4-FFF2-40B4-BE49-F238E27FC236}">
                <a16:creationId xmlns:a16="http://schemas.microsoft.com/office/drawing/2014/main" id="{CCED764B-BCB1-4AC8-88F1-648EBE148119}"/>
              </a:ext>
            </a:extLst>
          </p:cNvPr>
          <p:cNvSpPr>
            <a:spLocks xmlns:a="http://schemas.openxmlformats.org/drawingml/2006/main" noGrp="1"/>
          </p:cNvSpPr>
          <p:nvPr/>
        </p:nvSpPr>
        <p:spPr>
          <a:xfrm xmlns:a="http://schemas.openxmlformats.org/drawingml/2006/main">
            <a:off x="2906512"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customers in scope</a:t>
            </a:r>
            <a:endParaRPr sz="1050"/>
          </a:p>
        </p:txBody>
      </p:sp>
      <p:sp>
        <p:nvSpPr>
          <p:cNvPr id="15" name="Shape 11">
            <a:extLst xmlns:a="http://schemas.openxmlformats.org/drawingml/2006/main">
              <a:ext uri="{FF2B5EF4-FFF2-40B4-BE49-F238E27FC236}">
                <a16:creationId xmlns:a16="http://schemas.microsoft.com/office/drawing/2014/main" id="{5A61668F-DA78-45BF-9F0E-269DD7BF13F8}"/>
              </a:ext>
            </a:extLst>
          </p:cNvPr>
          <p:cNvSpPr>
            <a:spLocks xmlns:a="http://schemas.openxmlformats.org/drawingml/2006/main" noGrp="1"/>
          </p:cNvSpPr>
          <p:nvPr/>
        </p:nvSpPr>
        <p:spPr>
          <a:xfrm xmlns:a="http://schemas.openxmlformats.org/drawingml/2006/main">
            <a:off x="5081504"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6" name="Shape 12">
            <a:extLst xmlns:a="http://schemas.openxmlformats.org/drawingml/2006/main">
              <a:ext uri="{FF2B5EF4-FFF2-40B4-BE49-F238E27FC236}">
                <a16:creationId xmlns:a16="http://schemas.microsoft.com/office/drawing/2014/main" id="{A72C7552-9BBE-45BC-ACAC-28F3D5146F76}"/>
              </a:ext>
            </a:extLst>
          </p:cNvPr>
          <p:cNvSpPr>
            <a:spLocks xmlns:a="http://schemas.openxmlformats.org/drawingml/2006/main" noGrp="1"/>
          </p:cNvSpPr>
          <p:nvPr/>
        </p:nvSpPr>
        <p:spPr>
          <a:xfrm xmlns:a="http://schemas.openxmlformats.org/drawingml/2006/main">
            <a:off x="5830672"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82" name="Image 2"/>
          <p:cNvPicPr>
            <a:picLocks xmlns:a="http://schemas.openxmlformats.org/drawingml/2006/main" noChangeAspect="1"/>
          </p:cNvPicPr>
          <p:nvPr/>
        </p:nvPicPr>
        <p:blipFill>
          <a:blip xmlns:r="http://schemas.openxmlformats.org/officeDocument/2006/relationships" xmlns:a="http://schemas.openxmlformats.org/drawingml/2006/main" r:embed="R55ea8a73c1844464"/>
          <a:stretch xmlns:a="http://schemas.openxmlformats.org/drawingml/2006/main">
            <a:fillRect l="0" t="0" r="0" b="0"/>
          </a:stretch>
        </p:blipFill>
        <p:spPr>
          <a:xfrm xmlns:a="http://schemas.openxmlformats.org/drawingml/2006/main">
            <a:off x="5968563" y="2259300"/>
            <a:ext cx="254569" cy="254569"/>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98528F20-B110-4FC4-B6EF-000EEC584B82}"/>
              </a:ext>
            </a:extLst>
          </p:cNvPr>
          <p:cNvSpPr>
            <a:spLocks xmlns:a="http://schemas.openxmlformats.org/drawingml/2006/main" noGrp="1"/>
          </p:cNvSpPr>
          <p:nvPr/>
        </p:nvSpPr>
        <p:spPr>
          <a:xfrm xmlns:a="http://schemas.openxmlformats.org/drawingml/2006/main">
            <a:off x="5172944"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595959"/>
                </a:solidFill>
                <a:latin typeface="Poppins"/>
                <a:ea typeface="Poppins"/>
                <a:cs typeface="Poppins"/>
              </a:rPr>
              <a:t>8,000+</a:t>
            </a:r>
            <a:endParaRPr sz="2600"/>
          </a:p>
        </p:txBody>
      </p:sp>
      <p:sp>
        <p:nvSpPr>
          <p:cNvPr id="19" name="Text 14">
            <a:extLst xmlns:a="http://schemas.openxmlformats.org/drawingml/2006/main">
              <a:ext uri="{FF2B5EF4-FFF2-40B4-BE49-F238E27FC236}">
                <a16:creationId xmlns:a16="http://schemas.microsoft.com/office/drawing/2014/main" id="{7B68BDB7-46C4-4B3D-9886-93760241E585}"/>
              </a:ext>
            </a:extLst>
          </p:cNvPr>
          <p:cNvSpPr>
            <a:spLocks xmlns:a="http://schemas.openxmlformats.org/drawingml/2006/main" noGrp="1"/>
          </p:cNvSpPr>
          <p:nvPr/>
        </p:nvSpPr>
        <p:spPr>
          <a:xfrm xmlns:a="http://schemas.openxmlformats.org/drawingml/2006/main">
            <a:off x="5172944"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branches reported</a:t>
            </a:r>
            <a:endParaRPr sz="1050"/>
          </a:p>
        </p:txBody>
      </p:sp>
      <p:sp>
        <p:nvSpPr>
          <p:cNvPr id="20" name="Shape 15">
            <a:extLst xmlns:a="http://schemas.openxmlformats.org/drawingml/2006/main">
              <a:ext uri="{FF2B5EF4-FFF2-40B4-BE49-F238E27FC236}">
                <a16:creationId xmlns:a16="http://schemas.microsoft.com/office/drawing/2014/main" id="{C0863560-3C34-475B-8361-2DB422FEEF91}"/>
              </a:ext>
            </a:extLst>
          </p:cNvPr>
          <p:cNvSpPr>
            <a:spLocks xmlns:a="http://schemas.openxmlformats.org/drawingml/2006/main" noGrp="1"/>
          </p:cNvSpPr>
          <p:nvPr/>
        </p:nvSpPr>
        <p:spPr>
          <a:xfrm xmlns:a="http://schemas.openxmlformats.org/drawingml/2006/main">
            <a:off x="7347936"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1" name="Shape 16">
            <a:extLst xmlns:a="http://schemas.openxmlformats.org/drawingml/2006/main">
              <a:ext uri="{FF2B5EF4-FFF2-40B4-BE49-F238E27FC236}">
                <a16:creationId xmlns:a16="http://schemas.microsoft.com/office/drawing/2014/main" id="{3B225966-0078-4304-8A0D-CB5B86B375E5}"/>
              </a:ext>
            </a:extLst>
          </p:cNvPr>
          <p:cNvSpPr>
            <a:spLocks xmlns:a="http://schemas.openxmlformats.org/drawingml/2006/main" noGrp="1"/>
          </p:cNvSpPr>
          <p:nvPr/>
        </p:nvSpPr>
        <p:spPr>
          <a:xfrm xmlns:a="http://schemas.openxmlformats.org/drawingml/2006/main">
            <a:off x="8097103"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f0222aa6fa32402b"/>
          <a:stretch xmlns:a="http://schemas.openxmlformats.org/drawingml/2006/main">
            <a:fillRect l="0" t="0" r="0" b="0"/>
          </a:stretch>
        </p:blipFill>
        <p:spPr>
          <a:xfrm xmlns:a="http://schemas.openxmlformats.org/drawingml/2006/main">
            <a:off x="8234995" y="2259300"/>
            <a:ext cx="254569" cy="254569"/>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88CFAC98-F525-4B1F-8BC7-C0571E75B3FD}"/>
              </a:ext>
            </a:extLst>
          </p:cNvPr>
          <p:cNvSpPr>
            <a:spLocks xmlns:a="http://schemas.openxmlformats.org/drawingml/2006/main" noGrp="1"/>
          </p:cNvSpPr>
          <p:nvPr/>
        </p:nvSpPr>
        <p:spPr>
          <a:xfrm xmlns:a="http://schemas.openxmlformats.org/drawingml/2006/main">
            <a:off x="7439376"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595959"/>
                </a:solidFill>
                <a:latin typeface="Poppins"/>
                <a:ea typeface="Poppins"/>
                <a:cs typeface="Poppins"/>
              </a:rPr>
              <a:t>100+</a:t>
            </a:r>
            <a:endParaRPr sz="2600"/>
          </a:p>
        </p:txBody>
      </p:sp>
      <p:sp>
        <p:nvSpPr>
          <p:cNvPr id="24" name="Text 18">
            <a:extLst xmlns:a="http://schemas.openxmlformats.org/drawingml/2006/main">
              <a:ext uri="{FF2B5EF4-FFF2-40B4-BE49-F238E27FC236}">
                <a16:creationId xmlns:a16="http://schemas.microsoft.com/office/drawing/2014/main" id="{710BD43A-F01D-4C75-B726-C63EE784A8A3}"/>
              </a:ext>
            </a:extLst>
          </p:cNvPr>
          <p:cNvSpPr>
            <a:spLocks xmlns:a="http://schemas.openxmlformats.org/drawingml/2006/main" noGrp="1"/>
          </p:cNvSpPr>
          <p:nvPr/>
        </p:nvSpPr>
        <p:spPr>
          <a:xfrm xmlns:a="http://schemas.openxmlformats.org/drawingml/2006/main">
            <a:off x="7439376"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integration touchpoints</a:t>
            </a:r>
            <a:endParaRPr sz="1050"/>
          </a:p>
        </p:txBody>
      </p:sp>
      <p:sp>
        <p:nvSpPr>
          <p:cNvPr id="25" name="Shape 19">
            <a:extLst xmlns:a="http://schemas.openxmlformats.org/drawingml/2006/main">
              <a:ext uri="{FF2B5EF4-FFF2-40B4-BE49-F238E27FC236}">
                <a16:creationId xmlns:a16="http://schemas.microsoft.com/office/drawing/2014/main" id="{F7D234C1-528E-47A3-91A2-042707B26A3F}"/>
              </a:ext>
            </a:extLst>
          </p:cNvPr>
          <p:cNvSpPr>
            <a:spLocks xmlns:a="http://schemas.openxmlformats.org/drawingml/2006/main" noGrp="1"/>
          </p:cNvSpPr>
          <p:nvPr/>
        </p:nvSpPr>
        <p:spPr>
          <a:xfrm xmlns:a="http://schemas.openxmlformats.org/drawingml/2006/main">
            <a:off x="9614367"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6" name="Shape 20">
            <a:extLst xmlns:a="http://schemas.openxmlformats.org/drawingml/2006/main">
              <a:ext uri="{FF2B5EF4-FFF2-40B4-BE49-F238E27FC236}">
                <a16:creationId xmlns:a16="http://schemas.microsoft.com/office/drawing/2014/main" id="{6EDF32C4-E040-4CDC-BB59-C3ECECC8F805}"/>
              </a:ext>
            </a:extLst>
          </p:cNvPr>
          <p:cNvSpPr>
            <a:spLocks xmlns:a="http://schemas.openxmlformats.org/drawingml/2006/main" noGrp="1"/>
          </p:cNvSpPr>
          <p:nvPr/>
        </p:nvSpPr>
        <p:spPr>
          <a:xfrm xmlns:a="http://schemas.openxmlformats.org/drawingml/2006/main">
            <a:off x="10363535"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92" name="Image 4"/>
          <p:cNvPicPr>
            <a:picLocks xmlns:a="http://schemas.openxmlformats.org/drawingml/2006/main" noChangeAspect="1"/>
          </p:cNvPicPr>
          <p:nvPr/>
        </p:nvPicPr>
        <p:blipFill>
          <a:blip xmlns:r="http://schemas.openxmlformats.org/officeDocument/2006/relationships" xmlns:a="http://schemas.openxmlformats.org/drawingml/2006/main" r:embed="R97b5579ad15b4f19"/>
          <a:stretch xmlns:a="http://schemas.openxmlformats.org/drawingml/2006/main">
            <a:fillRect l="0" t="0" r="0" b="0"/>
          </a:stretch>
        </p:blipFill>
        <p:spPr>
          <a:xfrm xmlns:a="http://schemas.openxmlformats.org/drawingml/2006/main">
            <a:off x="10501427" y="2259300"/>
            <a:ext cx="254569" cy="25456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E3CFBE2D-9A88-48D8-BCF1-3FFF24A7BBCA}"/>
              </a:ext>
            </a:extLst>
          </p:cNvPr>
          <p:cNvSpPr>
            <a:spLocks xmlns:a="http://schemas.openxmlformats.org/drawingml/2006/main" noGrp="1"/>
          </p:cNvSpPr>
          <p:nvPr/>
        </p:nvSpPr>
        <p:spPr>
          <a:xfrm xmlns:a="http://schemas.openxmlformats.org/drawingml/2006/main">
            <a:off x="9705807"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E2B76"/>
                </a:solidFill>
                <a:latin typeface="Poppins"/>
                <a:ea typeface="Poppins"/>
                <a:cs typeface="Poppins"/>
              </a:rPr>
              <a:t>208%</a:t>
            </a:r>
            <a:endParaRPr sz="2600"/>
          </a:p>
        </p:txBody>
      </p:sp>
      <p:sp>
        <p:nvSpPr>
          <p:cNvPr id="29" name="Text 22">
            <a:extLst xmlns:a="http://schemas.openxmlformats.org/drawingml/2006/main">
              <a:ext uri="{FF2B5EF4-FFF2-40B4-BE49-F238E27FC236}">
                <a16:creationId xmlns:a16="http://schemas.microsoft.com/office/drawing/2014/main" id="{FD0FDC02-EC28-42BC-AA24-BDA069C34CF0}"/>
              </a:ext>
            </a:extLst>
          </p:cNvPr>
          <p:cNvSpPr>
            <a:spLocks xmlns:a="http://schemas.openxmlformats.org/drawingml/2006/main" noGrp="1"/>
          </p:cNvSpPr>
          <p:nvPr/>
        </p:nvSpPr>
        <p:spPr>
          <a:xfrm xmlns:a="http://schemas.openxmlformats.org/drawingml/2006/main">
            <a:off x="9705807"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lead-conversion increase</a:t>
            </a:r>
            <a:endParaRPr sz="1050"/>
          </a:p>
        </p:txBody>
      </p:sp>
      <p:sp>
        <p:nvSpPr>
          <p:cNvPr id="30" name="Shape 23">
            <a:extLst xmlns:a="http://schemas.openxmlformats.org/drawingml/2006/main">
              <a:ext uri="{FF2B5EF4-FFF2-40B4-BE49-F238E27FC236}">
                <a16:creationId xmlns:a16="http://schemas.microsoft.com/office/drawing/2014/main" id="{570FA848-57F2-44AE-A5C8-215FF486113C}"/>
              </a:ext>
            </a:extLst>
          </p:cNvPr>
          <p:cNvSpPr>
            <a:spLocks xmlns:a="http://schemas.openxmlformats.org/drawingml/2006/main" noGrp="1"/>
          </p:cNvSpPr>
          <p:nvPr/>
        </p:nvSpPr>
        <p:spPr>
          <a:xfrm xmlns:a="http://schemas.openxmlformats.org/drawingml/2006/main">
            <a:off x="548640"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1" name="Shape 24">
            <a:extLst xmlns:a="http://schemas.openxmlformats.org/drawingml/2006/main">
              <a:ext uri="{FF2B5EF4-FFF2-40B4-BE49-F238E27FC236}">
                <a16:creationId xmlns:a16="http://schemas.microsoft.com/office/drawing/2014/main" id="{43EF65E0-98E8-4401-9664-B4DEAEC599FA}"/>
              </a:ext>
            </a:extLst>
          </p:cNvPr>
          <p:cNvSpPr>
            <a:spLocks xmlns:a="http://schemas.openxmlformats.org/drawingml/2006/main" noGrp="1"/>
          </p:cNvSpPr>
          <p:nvPr/>
        </p:nvSpPr>
        <p:spPr>
          <a:xfrm xmlns:a="http://schemas.openxmlformats.org/drawingml/2006/main">
            <a:off x="1297808"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97" name="Image 5"/>
          <p:cNvPicPr>
            <a:picLocks xmlns:a="http://schemas.openxmlformats.org/drawingml/2006/main" noChangeAspect="1"/>
          </p:cNvPicPr>
          <p:nvPr/>
        </p:nvPicPr>
        <p:blipFill>
          <a:blip xmlns:r="http://schemas.openxmlformats.org/officeDocument/2006/relationships" xmlns:a="http://schemas.openxmlformats.org/drawingml/2006/main" r:embed="R85ce60650e5e4527"/>
          <a:stretch xmlns:a="http://schemas.openxmlformats.org/drawingml/2006/main">
            <a:fillRect l="0" t="0" r="0" b="0"/>
          </a:stretch>
        </p:blipFill>
        <p:spPr>
          <a:xfrm xmlns:a="http://schemas.openxmlformats.org/drawingml/2006/main">
            <a:off x="1435699" y="4270980"/>
            <a:ext cx="254569" cy="254569"/>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19B5C580-E548-4313-ACB0-742EE6B32585}"/>
              </a:ext>
            </a:extLst>
          </p:cNvPr>
          <p:cNvSpPr>
            <a:spLocks xmlns:a="http://schemas.openxmlformats.org/drawingml/2006/main" noGrp="1"/>
          </p:cNvSpPr>
          <p:nvPr/>
        </p:nvSpPr>
        <p:spPr>
          <a:xfrm xmlns:a="http://schemas.openxmlformats.org/drawingml/2006/main">
            <a:off x="640080"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F3A5F"/>
                </a:solidFill>
                <a:latin typeface="Poppins"/>
                <a:ea typeface="Poppins"/>
                <a:cs typeface="Poppins"/>
              </a:rPr>
              <a:t>40%</a:t>
            </a:r>
            <a:endParaRPr sz="2600"/>
          </a:p>
        </p:txBody>
      </p:sp>
      <p:sp>
        <p:nvSpPr>
          <p:cNvPr id="34" name="Text 26">
            <a:extLst xmlns:a="http://schemas.openxmlformats.org/drawingml/2006/main">
              <a:ext uri="{FF2B5EF4-FFF2-40B4-BE49-F238E27FC236}">
                <a16:creationId xmlns:a16="http://schemas.microsoft.com/office/drawing/2014/main" id="{838B6B84-7A10-44FC-BAD2-550AEE379FCE}"/>
              </a:ext>
            </a:extLst>
          </p:cNvPr>
          <p:cNvSpPr>
            <a:spLocks xmlns:a="http://schemas.openxmlformats.org/drawingml/2006/main" noGrp="1"/>
          </p:cNvSpPr>
          <p:nvPr/>
        </p:nvSpPr>
        <p:spPr>
          <a:xfrm xmlns:a="http://schemas.openxmlformats.org/drawingml/2006/main">
            <a:off x="640080"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cross-sell increase</a:t>
            </a:r>
            <a:endParaRPr sz="1050"/>
          </a:p>
        </p:txBody>
      </p:sp>
      <p:sp>
        <p:nvSpPr>
          <p:cNvPr id="35" name="Shape 27">
            <a:extLst xmlns:a="http://schemas.openxmlformats.org/drawingml/2006/main">
              <a:ext uri="{FF2B5EF4-FFF2-40B4-BE49-F238E27FC236}">
                <a16:creationId xmlns:a16="http://schemas.microsoft.com/office/drawing/2014/main" id="{B461EE6B-1578-47E6-8496-F734B4E321E8}"/>
              </a:ext>
            </a:extLst>
          </p:cNvPr>
          <p:cNvSpPr>
            <a:spLocks xmlns:a="http://schemas.openxmlformats.org/drawingml/2006/main" noGrp="1"/>
          </p:cNvSpPr>
          <p:nvPr/>
        </p:nvSpPr>
        <p:spPr>
          <a:xfrm xmlns:a="http://schemas.openxmlformats.org/drawingml/2006/main">
            <a:off x="2815072"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6" name="Shape 28">
            <a:extLst xmlns:a="http://schemas.openxmlformats.org/drawingml/2006/main">
              <a:ext uri="{FF2B5EF4-FFF2-40B4-BE49-F238E27FC236}">
                <a16:creationId xmlns:a16="http://schemas.microsoft.com/office/drawing/2014/main" id="{3F7E2E53-1162-47E5-A4E0-EF24BE3BC613}"/>
              </a:ext>
            </a:extLst>
          </p:cNvPr>
          <p:cNvSpPr>
            <a:spLocks xmlns:a="http://schemas.openxmlformats.org/drawingml/2006/main" noGrp="1"/>
          </p:cNvSpPr>
          <p:nvPr/>
        </p:nvSpPr>
        <p:spPr>
          <a:xfrm xmlns:a="http://schemas.openxmlformats.org/drawingml/2006/main">
            <a:off x="3564240"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02" name="Image 6"/>
          <p:cNvPicPr>
            <a:picLocks xmlns:a="http://schemas.openxmlformats.org/drawingml/2006/main" noChangeAspect="1"/>
          </p:cNvPicPr>
          <p:nvPr/>
        </p:nvPicPr>
        <p:blipFill>
          <a:blip xmlns:r="http://schemas.openxmlformats.org/officeDocument/2006/relationships" xmlns:a="http://schemas.openxmlformats.org/drawingml/2006/main" r:embed="R2a8399deb28348b2"/>
          <a:stretch xmlns:a="http://schemas.openxmlformats.org/drawingml/2006/main">
            <a:fillRect l="0" t="0" r="0" b="0"/>
          </a:stretch>
        </p:blipFill>
        <p:spPr>
          <a:xfrm xmlns:a="http://schemas.openxmlformats.org/drawingml/2006/main">
            <a:off x="3702131" y="4270980"/>
            <a:ext cx="254569" cy="254569"/>
          </a:xfrm>
          <a:prstGeom xmlns:a="http://schemas.openxmlformats.org/drawingml/2006/main" prst="rect">
            <a:avLst/>
          </a:prstGeom>
        </p:spPr>
      </p:pic>
      <p:sp>
        <p:nvSpPr>
          <p:cNvPr id="38" name="Text 29">
            <a:extLst xmlns:a="http://schemas.openxmlformats.org/drawingml/2006/main">
              <a:ext uri="{FF2B5EF4-FFF2-40B4-BE49-F238E27FC236}">
                <a16:creationId xmlns:a16="http://schemas.microsoft.com/office/drawing/2014/main" id="{2798267F-E7D9-452F-8E0A-CB20D59D4723}"/>
              </a:ext>
            </a:extLst>
          </p:cNvPr>
          <p:cNvSpPr>
            <a:spLocks xmlns:a="http://schemas.openxmlformats.org/drawingml/2006/main" noGrp="1"/>
          </p:cNvSpPr>
          <p:nvPr/>
        </p:nvSpPr>
        <p:spPr>
          <a:xfrm xmlns:a="http://schemas.openxmlformats.org/drawingml/2006/main">
            <a:off x="2906512"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E2B76"/>
                </a:solidFill>
                <a:latin typeface="Poppins"/>
                <a:ea typeface="Poppins"/>
                <a:cs typeface="Poppins"/>
              </a:rPr>
              <a:t>90%</a:t>
            </a:r>
            <a:endParaRPr sz="2600"/>
          </a:p>
        </p:txBody>
      </p:sp>
      <p:sp>
        <p:nvSpPr>
          <p:cNvPr id="39" name="Text 30">
            <a:extLst xmlns:a="http://schemas.openxmlformats.org/drawingml/2006/main">
              <a:ext uri="{FF2B5EF4-FFF2-40B4-BE49-F238E27FC236}">
                <a16:creationId xmlns:a16="http://schemas.microsoft.com/office/drawing/2014/main" id="{2B2B2E71-13A0-4EBC-A97A-AAB77243A186}"/>
              </a:ext>
            </a:extLst>
          </p:cNvPr>
          <p:cNvSpPr>
            <a:spLocks xmlns:a="http://schemas.openxmlformats.org/drawingml/2006/main" noGrp="1"/>
          </p:cNvSpPr>
          <p:nvPr/>
        </p:nvSpPr>
        <p:spPr>
          <a:xfrm xmlns:a="http://schemas.openxmlformats.org/drawingml/2006/main">
            <a:off x="2906512"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sales-TAT reduction</a:t>
            </a:r>
            <a:endParaRPr sz="1050"/>
          </a:p>
        </p:txBody>
      </p:sp>
      <p:sp>
        <p:nvSpPr>
          <p:cNvPr id="40" name="Shape 31">
            <a:extLst xmlns:a="http://schemas.openxmlformats.org/drawingml/2006/main">
              <a:ext uri="{FF2B5EF4-FFF2-40B4-BE49-F238E27FC236}">
                <a16:creationId xmlns:a16="http://schemas.microsoft.com/office/drawing/2014/main" id="{B5A24222-81A5-4364-84F9-313CD479C8E9}"/>
              </a:ext>
            </a:extLst>
          </p:cNvPr>
          <p:cNvSpPr>
            <a:spLocks xmlns:a="http://schemas.openxmlformats.org/drawingml/2006/main" noGrp="1"/>
          </p:cNvSpPr>
          <p:nvPr/>
        </p:nvSpPr>
        <p:spPr>
          <a:xfrm xmlns:a="http://schemas.openxmlformats.org/drawingml/2006/main">
            <a:off x="5081504"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41" name="Shape 32">
            <a:extLst xmlns:a="http://schemas.openxmlformats.org/drawingml/2006/main">
              <a:ext uri="{FF2B5EF4-FFF2-40B4-BE49-F238E27FC236}">
                <a16:creationId xmlns:a16="http://schemas.microsoft.com/office/drawing/2014/main" id="{0DD3114C-9F39-44D0-B7FF-EBF1D4B8C789}"/>
              </a:ext>
            </a:extLst>
          </p:cNvPr>
          <p:cNvSpPr>
            <a:spLocks xmlns:a="http://schemas.openxmlformats.org/drawingml/2006/main" noGrp="1"/>
          </p:cNvSpPr>
          <p:nvPr/>
        </p:nvSpPr>
        <p:spPr>
          <a:xfrm xmlns:a="http://schemas.openxmlformats.org/drawingml/2006/main">
            <a:off x="5830672"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07" name="Image 7"/>
          <p:cNvPicPr>
            <a:picLocks xmlns:a="http://schemas.openxmlformats.org/drawingml/2006/main" noChangeAspect="1"/>
          </p:cNvPicPr>
          <p:nvPr/>
        </p:nvPicPr>
        <p:blipFill>
          <a:blip xmlns:r="http://schemas.openxmlformats.org/officeDocument/2006/relationships" xmlns:a="http://schemas.openxmlformats.org/drawingml/2006/main" r:embed="R98d98a52fb674c39"/>
          <a:stretch xmlns:a="http://schemas.openxmlformats.org/drawingml/2006/main">
            <a:fillRect l="0" t="0" r="0" b="0"/>
          </a:stretch>
        </p:blipFill>
        <p:spPr>
          <a:xfrm xmlns:a="http://schemas.openxmlformats.org/drawingml/2006/main">
            <a:off x="5968563" y="4270980"/>
            <a:ext cx="254569" cy="254569"/>
          </a:xfrm>
          <a:prstGeom xmlns:a="http://schemas.openxmlformats.org/drawingml/2006/main" prst="rect">
            <a:avLst/>
          </a:prstGeom>
        </p:spPr>
      </p:pic>
      <p:sp>
        <p:nvSpPr>
          <p:cNvPr id="43" name="Text 33">
            <a:extLst xmlns:a="http://schemas.openxmlformats.org/drawingml/2006/main">
              <a:ext uri="{FF2B5EF4-FFF2-40B4-BE49-F238E27FC236}">
                <a16:creationId xmlns:a16="http://schemas.microsoft.com/office/drawing/2014/main" id="{60262BB5-A24E-44C3-BDD4-2478882C1BC7}"/>
              </a:ext>
            </a:extLst>
          </p:cNvPr>
          <p:cNvSpPr>
            <a:spLocks xmlns:a="http://schemas.openxmlformats.org/drawingml/2006/main" noGrp="1"/>
          </p:cNvSpPr>
          <p:nvPr/>
        </p:nvSpPr>
        <p:spPr>
          <a:xfrm xmlns:a="http://schemas.openxmlformats.org/drawingml/2006/main">
            <a:off x="5172944"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AC567"/>
                </a:solidFill>
                <a:latin typeface="Poppins"/>
                <a:ea typeface="Poppins"/>
                <a:cs typeface="Poppins"/>
              </a:rPr>
              <a:t>42%</a:t>
            </a:r>
            <a:endParaRPr sz="2600"/>
          </a:p>
        </p:txBody>
      </p:sp>
      <p:sp>
        <p:nvSpPr>
          <p:cNvPr id="44" name="Text 34">
            <a:extLst xmlns:a="http://schemas.openxmlformats.org/drawingml/2006/main">
              <a:ext uri="{FF2B5EF4-FFF2-40B4-BE49-F238E27FC236}">
                <a16:creationId xmlns:a16="http://schemas.microsoft.com/office/drawing/2014/main" id="{DD147C5F-2D06-4968-832B-4B8DC403F011}"/>
              </a:ext>
            </a:extLst>
          </p:cNvPr>
          <p:cNvSpPr>
            <a:spLocks xmlns:a="http://schemas.openxmlformats.org/drawingml/2006/main" noGrp="1"/>
          </p:cNvSpPr>
          <p:nvPr/>
        </p:nvSpPr>
        <p:spPr>
          <a:xfrm xmlns:a="http://schemas.openxmlformats.org/drawingml/2006/main">
            <a:off x="5172944"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NPS increase</a:t>
            </a:r>
            <a:endParaRPr sz="1050"/>
          </a:p>
        </p:txBody>
      </p:sp>
      <p:sp>
        <p:nvSpPr>
          <p:cNvPr id="45" name="Shape 35">
            <a:extLst xmlns:a="http://schemas.openxmlformats.org/drawingml/2006/main">
              <a:ext uri="{FF2B5EF4-FFF2-40B4-BE49-F238E27FC236}">
                <a16:creationId xmlns:a16="http://schemas.microsoft.com/office/drawing/2014/main" id="{F0E78FF7-7A13-4283-99FE-622CDA49BF33}"/>
              </a:ext>
            </a:extLst>
          </p:cNvPr>
          <p:cNvSpPr>
            <a:spLocks xmlns:a="http://schemas.openxmlformats.org/drawingml/2006/main" noGrp="1"/>
          </p:cNvSpPr>
          <p:nvPr/>
        </p:nvSpPr>
        <p:spPr>
          <a:xfrm xmlns:a="http://schemas.openxmlformats.org/drawingml/2006/main">
            <a:off x="7347936"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46" name="Shape 36">
            <a:extLst xmlns:a="http://schemas.openxmlformats.org/drawingml/2006/main">
              <a:ext uri="{FF2B5EF4-FFF2-40B4-BE49-F238E27FC236}">
                <a16:creationId xmlns:a16="http://schemas.microsoft.com/office/drawing/2014/main" id="{552E810E-F821-4378-95A2-7E18BFC1FBC5}"/>
              </a:ext>
            </a:extLst>
          </p:cNvPr>
          <p:cNvSpPr>
            <a:spLocks xmlns:a="http://schemas.openxmlformats.org/drawingml/2006/main" noGrp="1"/>
          </p:cNvSpPr>
          <p:nvPr/>
        </p:nvSpPr>
        <p:spPr>
          <a:xfrm xmlns:a="http://schemas.openxmlformats.org/drawingml/2006/main">
            <a:off x="8097103"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12" name="Image 8"/>
          <p:cNvPicPr>
            <a:picLocks xmlns:a="http://schemas.openxmlformats.org/drawingml/2006/main" noChangeAspect="1"/>
          </p:cNvPicPr>
          <p:nvPr/>
        </p:nvPicPr>
        <p:blipFill>
          <a:blip xmlns:r="http://schemas.openxmlformats.org/officeDocument/2006/relationships" xmlns:a="http://schemas.openxmlformats.org/drawingml/2006/main" r:embed="R1ab4682cd0534e28"/>
          <a:stretch xmlns:a="http://schemas.openxmlformats.org/drawingml/2006/main">
            <a:fillRect l="0" t="0" r="0" b="0"/>
          </a:stretch>
        </p:blipFill>
        <p:spPr>
          <a:xfrm xmlns:a="http://schemas.openxmlformats.org/drawingml/2006/main">
            <a:off x="8234995" y="4270980"/>
            <a:ext cx="254569" cy="254569"/>
          </a:xfrm>
          <a:prstGeom xmlns:a="http://schemas.openxmlformats.org/drawingml/2006/main" prst="rect">
            <a:avLst/>
          </a:prstGeom>
        </p:spPr>
      </p:pic>
      <p:sp>
        <p:nvSpPr>
          <p:cNvPr id="48" name="Text 37">
            <a:extLst xmlns:a="http://schemas.openxmlformats.org/drawingml/2006/main">
              <a:ext uri="{FF2B5EF4-FFF2-40B4-BE49-F238E27FC236}">
                <a16:creationId xmlns:a16="http://schemas.microsoft.com/office/drawing/2014/main" id="{000D45C8-804A-48AE-B331-ADAF75EA3224}"/>
              </a:ext>
            </a:extLst>
          </p:cNvPr>
          <p:cNvSpPr>
            <a:spLocks xmlns:a="http://schemas.openxmlformats.org/drawingml/2006/main" noGrp="1"/>
          </p:cNvSpPr>
          <p:nvPr/>
        </p:nvSpPr>
        <p:spPr>
          <a:xfrm xmlns:a="http://schemas.openxmlformats.org/drawingml/2006/main">
            <a:off x="7439376"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F3A5F"/>
                </a:solidFill>
                <a:latin typeface="Poppins"/>
                <a:ea typeface="Poppins"/>
                <a:cs typeface="Poppins"/>
              </a:rPr>
              <a:t>75%</a:t>
            </a:r>
            <a:endParaRPr sz="2600"/>
          </a:p>
        </p:txBody>
      </p:sp>
      <p:sp>
        <p:nvSpPr>
          <p:cNvPr id="49" name="Text 38">
            <a:extLst xmlns:a="http://schemas.openxmlformats.org/drawingml/2006/main">
              <a:ext uri="{FF2B5EF4-FFF2-40B4-BE49-F238E27FC236}">
                <a16:creationId xmlns:a16="http://schemas.microsoft.com/office/drawing/2014/main" id="{7852A564-9F3C-4F5C-8FCC-0E3FDD9907C0}"/>
              </a:ext>
            </a:extLst>
          </p:cNvPr>
          <p:cNvSpPr>
            <a:spLocks xmlns:a="http://schemas.openxmlformats.org/drawingml/2006/main" noGrp="1"/>
          </p:cNvSpPr>
          <p:nvPr/>
        </p:nvSpPr>
        <p:spPr>
          <a:xfrm xmlns:a="http://schemas.openxmlformats.org/drawingml/2006/main">
            <a:off x="7439376"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workforce penetration</a:t>
            </a:r>
            <a:endParaRPr sz="1050"/>
          </a:p>
        </p:txBody>
      </p:sp>
      <p:sp>
        <p:nvSpPr>
          <p:cNvPr id="50" name="Shape 39">
            <a:extLst xmlns:a="http://schemas.openxmlformats.org/drawingml/2006/main">
              <a:ext uri="{FF2B5EF4-FFF2-40B4-BE49-F238E27FC236}">
                <a16:creationId xmlns:a16="http://schemas.microsoft.com/office/drawing/2014/main" id="{0B5CD93B-E553-4B52-A751-AFC242682AD1}"/>
              </a:ext>
            </a:extLst>
          </p:cNvPr>
          <p:cNvSpPr>
            <a:spLocks xmlns:a="http://schemas.openxmlformats.org/drawingml/2006/main" noGrp="1"/>
          </p:cNvSpPr>
          <p:nvPr/>
        </p:nvSpPr>
        <p:spPr>
          <a:xfrm xmlns:a="http://schemas.openxmlformats.org/drawingml/2006/main">
            <a:off x="9614367"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51" name="Shape 40">
            <a:extLst xmlns:a="http://schemas.openxmlformats.org/drawingml/2006/main">
              <a:ext uri="{FF2B5EF4-FFF2-40B4-BE49-F238E27FC236}">
                <a16:creationId xmlns:a16="http://schemas.microsoft.com/office/drawing/2014/main" id="{D3BA5951-3720-463B-A2AA-2C18B779F6A8}"/>
              </a:ext>
            </a:extLst>
          </p:cNvPr>
          <p:cNvSpPr>
            <a:spLocks xmlns:a="http://schemas.openxmlformats.org/drawingml/2006/main" noGrp="1"/>
          </p:cNvSpPr>
          <p:nvPr/>
        </p:nvSpPr>
        <p:spPr>
          <a:xfrm xmlns:a="http://schemas.openxmlformats.org/drawingml/2006/main">
            <a:off x="10363535"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17" name="Image 9"/>
          <p:cNvPicPr>
            <a:picLocks xmlns:a="http://schemas.openxmlformats.org/drawingml/2006/main" noChangeAspect="1"/>
          </p:cNvPicPr>
          <p:nvPr/>
        </p:nvPicPr>
        <p:blipFill>
          <a:blip xmlns:r="http://schemas.openxmlformats.org/officeDocument/2006/relationships" xmlns:a="http://schemas.openxmlformats.org/drawingml/2006/main" r:embed="Rf2ee575c2e504ead"/>
          <a:stretch xmlns:a="http://schemas.openxmlformats.org/drawingml/2006/main">
            <a:fillRect l="0" t="0" r="0" b="0"/>
          </a:stretch>
        </p:blipFill>
        <p:spPr>
          <a:xfrm xmlns:a="http://schemas.openxmlformats.org/drawingml/2006/main">
            <a:off x="10501427" y="4270980"/>
            <a:ext cx="254569" cy="254569"/>
          </a:xfrm>
          <a:prstGeom xmlns:a="http://schemas.openxmlformats.org/drawingml/2006/main" prst="rect">
            <a:avLst/>
          </a:prstGeom>
        </p:spPr>
      </p:pic>
      <p:sp>
        <p:nvSpPr>
          <p:cNvPr id="53" name="Text 41">
            <a:extLst xmlns:a="http://schemas.openxmlformats.org/drawingml/2006/main">
              <a:ext uri="{FF2B5EF4-FFF2-40B4-BE49-F238E27FC236}">
                <a16:creationId xmlns:a16="http://schemas.microsoft.com/office/drawing/2014/main" id="{ADFD7B16-041B-4C80-8FCA-2930BB0D9D67}"/>
              </a:ext>
            </a:extLst>
          </p:cNvPr>
          <p:cNvSpPr>
            <a:spLocks xmlns:a="http://schemas.openxmlformats.org/drawingml/2006/main" noGrp="1"/>
          </p:cNvSpPr>
          <p:nvPr/>
        </p:nvSpPr>
        <p:spPr>
          <a:xfrm xmlns:a="http://schemas.openxmlformats.org/drawingml/2006/main">
            <a:off x="9705807"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595959"/>
                </a:solidFill>
                <a:latin typeface="Poppins"/>
                <a:ea typeface="Poppins"/>
                <a:cs typeface="Poppins"/>
              </a:rPr>
              <a:t>EVIDENCE</a:t>
            </a:r>
            <a:endParaRPr sz="2600"/>
          </a:p>
        </p:txBody>
      </p:sp>
      <p:sp>
        <p:nvSpPr>
          <p:cNvPr id="54" name="Text 42">
            <a:extLst xmlns:a="http://schemas.openxmlformats.org/drawingml/2006/main">
              <a:ext uri="{FF2B5EF4-FFF2-40B4-BE49-F238E27FC236}">
                <a16:creationId xmlns:a16="http://schemas.microsoft.com/office/drawing/2014/main" id="{3B1F5D48-B2E8-4206-AD5C-EE2DD37941CC}"/>
              </a:ext>
            </a:extLst>
          </p:cNvPr>
          <p:cNvSpPr>
            <a:spLocks xmlns:a="http://schemas.openxmlformats.org/drawingml/2006/main" noGrp="1"/>
          </p:cNvSpPr>
          <p:nvPr/>
        </p:nvSpPr>
        <p:spPr>
          <a:xfrm xmlns:a="http://schemas.openxmlformats.org/drawingml/2006/main">
            <a:off x="9705807"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Attribution retained</a:t>
            </a:r>
            <a:endParaRPr sz="1050"/>
          </a:p>
        </p:txBody>
      </p:sp>
      <p:sp>
        <p:nvSpPr>
          <p:cNvPr id="55" name="Text 43">
            <a:extLst xmlns:a="http://schemas.openxmlformats.org/drawingml/2006/main">
              <a:ext uri="{FF2B5EF4-FFF2-40B4-BE49-F238E27FC236}">
                <a16:creationId xmlns:a16="http://schemas.microsoft.com/office/drawing/2014/main" id="{E9D96CE5-EC6B-4259-9B31-163383139F7F}"/>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56" name="Text 44">
            <a:extLst xmlns:a="http://schemas.openxmlformats.org/drawingml/2006/main">
              <a:ext uri="{FF2B5EF4-FFF2-40B4-BE49-F238E27FC236}">
                <a16:creationId xmlns:a16="http://schemas.microsoft.com/office/drawing/2014/main" id="{81F7DCC6-EB05-423D-AFAD-DA49014086C9}"/>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05</a:t>
            </a:r>
            <a:endParaRPr sz="900"/>
          </a:p>
        </p:txBody>
      </p:sp>
    </p:spTree>
    <p:extLst>
      <p:ext uri="{BB962C8B-B14F-4D97-AF65-F5344CB8AC3E}">
        <p14:creationId xmlns:p14="http://schemas.microsoft.com/office/powerpoint/2010/main" val="4805244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15468C-1C8D-4297-9813-1005CA336C28}"/>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BOUNDED SCOPE</a:t>
            </a:r>
            <a:endParaRPr sz="1200"/>
          </a:p>
        </p:txBody>
      </p:sp>
      <p:sp>
        <p:nvSpPr>
          <p:cNvPr id="3" name="Text 1">
            <a:extLst xmlns:a="http://schemas.openxmlformats.org/drawingml/2006/main">
              <a:ext uri="{FF2B5EF4-FFF2-40B4-BE49-F238E27FC236}">
                <a16:creationId xmlns:a16="http://schemas.microsoft.com/office/drawing/2014/main" id="{DF7B7470-0F7D-4640-B496-284C38CA100F}"/>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Six capabilities define the transformation</a:t>
            </a:r>
            <a:endParaRPr sz="3000"/>
          </a:p>
        </p:txBody>
      </p:sp>
      <p:sp>
        <p:nvSpPr>
          <p:cNvPr id="4" name="Shape 2">
            <a:extLst xmlns:a="http://schemas.openxmlformats.org/drawingml/2006/main">
              <a:ext uri="{FF2B5EF4-FFF2-40B4-BE49-F238E27FC236}">
                <a16:creationId xmlns:a16="http://schemas.microsoft.com/office/drawing/2014/main" id="{4B2E163E-5023-4BD9-B8C5-00F6CF73B870}"/>
              </a:ext>
            </a:extLst>
          </p:cNvPr>
          <p:cNvSpPr>
            <a:spLocks xmlns:a="http://schemas.openxmlformats.org/drawingml/2006/main" noGrp="1"/>
          </p:cNvSpPr>
          <p:nvPr/>
        </p:nvSpPr>
        <p:spPr>
          <a:xfrm xmlns:a="http://schemas.openxmlformats.org/drawingml/2006/main">
            <a:off x="548640" y="1517904"/>
            <a:ext cx="2043318" cy="658368"/>
          </a:xfrm>
          <a:prstGeom xmlns:a="http://schemas.openxmlformats.org/drawingml/2006/main" prst="roundRect">
            <a:avLst>
              <a:gd name="adj" fmla="val 125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5" name="Shape 3">
            <a:extLst xmlns:a="http://schemas.openxmlformats.org/drawingml/2006/main">
              <a:ext uri="{FF2B5EF4-FFF2-40B4-BE49-F238E27FC236}">
                <a16:creationId xmlns:a16="http://schemas.microsoft.com/office/drawing/2014/main" id="{F855AC22-5875-4BDD-B083-BD644ADD72E0}"/>
              </a:ext>
            </a:extLst>
          </p:cNvPr>
          <p:cNvSpPr>
            <a:spLocks xmlns:a="http://schemas.openxmlformats.org/drawingml/2006/main" noGrp="1"/>
          </p:cNvSpPr>
          <p:nvPr/>
        </p:nvSpPr>
        <p:spPr>
          <a:xfrm xmlns:a="http://schemas.openxmlformats.org/drawingml/2006/main">
            <a:off x="548640" y="1847088"/>
            <a:ext cx="2043318" cy="329184"/>
          </a:xfrm>
          <a:prstGeom xmlns:a="http://schemas.openxmlformats.org/drawingml/2006/main" prst="rect">
            <a:avLst/>
          </a:prstGeom>
          <a:solidFill xmlns:a="http://schemas.openxmlformats.org/drawingml/2006/main">
            <a:srgbClr val="EE2B76"/>
          </a:solidFill>
        </p:spPr>
      </p:sp>
      <p:sp>
        <p:nvSpPr>
          <p:cNvPr id="6" name="Shape 4">
            <a:extLst xmlns:a="http://schemas.openxmlformats.org/drawingml/2006/main">
              <a:ext uri="{FF2B5EF4-FFF2-40B4-BE49-F238E27FC236}">
                <a16:creationId xmlns:a16="http://schemas.microsoft.com/office/drawing/2014/main" id="{44B0E9A8-2C8B-4D4B-9BB1-DAD8866DAD54}"/>
              </a:ext>
            </a:extLst>
          </p:cNvPr>
          <p:cNvSpPr>
            <a:spLocks xmlns:a="http://schemas.openxmlformats.org/drawingml/2006/main" noGrp="1"/>
          </p:cNvSpPr>
          <p:nvPr/>
        </p:nvSpPr>
        <p:spPr>
          <a:xfrm xmlns:a="http://schemas.openxmlformats.org/drawingml/2006/main">
            <a:off x="694944"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52de8a8b469049da"/>
          <a:stretch xmlns:a="http://schemas.openxmlformats.org/drawingml/2006/main">
            <a:fillRect l="0" t="0" r="0" b="0"/>
          </a:stretch>
        </p:blipFill>
        <p:spPr>
          <a:xfrm xmlns:a="http://schemas.openxmlformats.org/drawingml/2006/main">
            <a:off x="790042" y="1759306"/>
            <a:ext cx="175565" cy="175565"/>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E9AAB0E9-2A48-406E-9758-B4CE6D0F113D}"/>
              </a:ext>
            </a:extLst>
          </p:cNvPr>
          <p:cNvSpPr>
            <a:spLocks xmlns:a="http://schemas.openxmlformats.org/drawingml/2006/main" noGrp="1"/>
          </p:cNvSpPr>
          <p:nvPr/>
        </p:nvSpPr>
        <p:spPr>
          <a:xfrm xmlns:a="http://schemas.openxmlformats.org/drawingml/2006/main">
            <a:off x="1097280"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Customer intelligence</a:t>
            </a:r>
            <a:endParaRPr sz="1250"/>
          </a:p>
        </p:txBody>
      </p:sp>
      <p:sp>
        <p:nvSpPr>
          <p:cNvPr id="9" name="Shape 6">
            <a:extLst xmlns:a="http://schemas.openxmlformats.org/drawingml/2006/main">
              <a:ext uri="{FF2B5EF4-FFF2-40B4-BE49-F238E27FC236}">
                <a16:creationId xmlns:a16="http://schemas.microsoft.com/office/drawing/2014/main" id="{AF6D2D1E-2014-44DE-9378-162C446EA1B9}"/>
              </a:ext>
            </a:extLst>
          </p:cNvPr>
          <p:cNvSpPr>
            <a:spLocks xmlns:a="http://schemas.openxmlformats.org/drawingml/2006/main" noGrp="1"/>
          </p:cNvSpPr>
          <p:nvPr/>
        </p:nvSpPr>
        <p:spPr>
          <a:xfrm xmlns:a="http://schemas.openxmlformats.org/drawingml/2006/main">
            <a:off x="548640"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0" name="Text 7">
            <a:extLst xmlns:a="http://schemas.openxmlformats.org/drawingml/2006/main">
              <a:ext uri="{FF2B5EF4-FFF2-40B4-BE49-F238E27FC236}">
                <a16:creationId xmlns:a16="http://schemas.microsoft.com/office/drawing/2014/main" id="{AA860179-20C1-443B-9C26-171E4EA03999}"/>
              </a:ext>
            </a:extLst>
          </p:cNvPr>
          <p:cNvSpPr>
            <a:spLocks xmlns:a="http://schemas.openxmlformats.org/drawingml/2006/main" noGrp="1"/>
          </p:cNvSpPr>
          <p:nvPr/>
        </p:nvSpPr>
        <p:spPr>
          <a:xfrm xmlns:a="http://schemas.openxmlformats.org/drawingml/2006/main">
            <a:off x="731520"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A unified profile supports contextual engagement</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Experience layer</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Prioritize journeys</a:t>
            </a:r>
            <a:endParaRPr sz="1050"/>
          </a:p>
        </p:txBody>
      </p:sp>
      <p:sp>
        <p:nvSpPr>
          <p:cNvPr id="11" name="Shape 8">
            <a:extLst xmlns:a="http://schemas.openxmlformats.org/drawingml/2006/main">
              <a:ext uri="{FF2B5EF4-FFF2-40B4-BE49-F238E27FC236}">
                <a16:creationId xmlns:a16="http://schemas.microsoft.com/office/drawing/2014/main" id="{1A98C41F-54FB-4D63-B6C7-5D00EDB7F677}"/>
              </a:ext>
            </a:extLst>
          </p:cNvPr>
          <p:cNvSpPr>
            <a:spLocks xmlns:a="http://schemas.openxmlformats.org/drawingml/2006/main" noGrp="1"/>
          </p:cNvSpPr>
          <p:nvPr/>
        </p:nvSpPr>
        <p:spPr>
          <a:xfrm xmlns:a="http://schemas.openxmlformats.org/drawingml/2006/main">
            <a:off x="2811414" y="1517904"/>
            <a:ext cx="2043318" cy="658368"/>
          </a:xfrm>
          <a:prstGeom xmlns:a="http://schemas.openxmlformats.org/drawingml/2006/main" prst="roundRect">
            <a:avLst>
              <a:gd name="adj" fmla="val 125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12" name="Shape 9">
            <a:extLst xmlns:a="http://schemas.openxmlformats.org/drawingml/2006/main">
              <a:ext uri="{FF2B5EF4-FFF2-40B4-BE49-F238E27FC236}">
                <a16:creationId xmlns:a16="http://schemas.microsoft.com/office/drawing/2014/main" id="{12BB0F7B-B43B-4BFB-A753-7E5820343091}"/>
              </a:ext>
            </a:extLst>
          </p:cNvPr>
          <p:cNvSpPr>
            <a:spLocks xmlns:a="http://schemas.openxmlformats.org/drawingml/2006/main" noGrp="1"/>
          </p:cNvSpPr>
          <p:nvPr/>
        </p:nvSpPr>
        <p:spPr>
          <a:xfrm xmlns:a="http://schemas.openxmlformats.org/drawingml/2006/main">
            <a:off x="2811414" y="1847088"/>
            <a:ext cx="2043318" cy="329184"/>
          </a:xfrm>
          <a:prstGeom xmlns:a="http://schemas.openxmlformats.org/drawingml/2006/main" prst="rect">
            <a:avLst/>
          </a:prstGeom>
          <a:solidFill xmlns:a="http://schemas.openxmlformats.org/drawingml/2006/main">
            <a:srgbClr val="1F3A5F"/>
          </a:solidFill>
        </p:spPr>
      </p:sp>
      <p:sp>
        <p:nvSpPr>
          <p:cNvPr id="13" name="Shape 10">
            <a:extLst xmlns:a="http://schemas.openxmlformats.org/drawingml/2006/main">
              <a:ext uri="{FF2B5EF4-FFF2-40B4-BE49-F238E27FC236}">
                <a16:creationId xmlns:a16="http://schemas.microsoft.com/office/drawing/2014/main" id="{123A32A2-2B09-465F-B8D5-77C8F7B5FA37}"/>
              </a:ext>
            </a:extLst>
          </p:cNvPr>
          <p:cNvSpPr>
            <a:spLocks xmlns:a="http://schemas.openxmlformats.org/drawingml/2006/main" noGrp="1"/>
          </p:cNvSpPr>
          <p:nvPr/>
        </p:nvSpPr>
        <p:spPr>
          <a:xfrm xmlns:a="http://schemas.openxmlformats.org/drawingml/2006/main">
            <a:off x="2957718"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60" name="Image 1"/>
          <p:cNvPicPr>
            <a:picLocks xmlns:a="http://schemas.openxmlformats.org/drawingml/2006/main" noChangeAspect="1"/>
          </p:cNvPicPr>
          <p:nvPr/>
        </p:nvPicPr>
        <p:blipFill>
          <a:blip xmlns:r="http://schemas.openxmlformats.org/officeDocument/2006/relationships" xmlns:a="http://schemas.openxmlformats.org/drawingml/2006/main" r:embed="Rfedce4ff8e97400b"/>
          <a:stretch xmlns:a="http://schemas.openxmlformats.org/drawingml/2006/main">
            <a:fillRect l="0" t="0" r="0" b="0"/>
          </a:stretch>
        </p:blipFill>
        <p:spPr>
          <a:xfrm xmlns:a="http://schemas.openxmlformats.org/drawingml/2006/main">
            <a:off x="3052816" y="1759306"/>
            <a:ext cx="175565" cy="175565"/>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69AF5BC4-F6D0-4422-B46D-78DC4F8A955A}"/>
              </a:ext>
            </a:extLst>
          </p:cNvPr>
          <p:cNvSpPr>
            <a:spLocks xmlns:a="http://schemas.openxmlformats.org/drawingml/2006/main" noGrp="1"/>
          </p:cNvSpPr>
          <p:nvPr/>
        </p:nvSpPr>
        <p:spPr>
          <a:xfrm xmlns:a="http://schemas.openxmlformats.org/drawingml/2006/main">
            <a:off x="3360054"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Sales orchestration</a:t>
            </a:r>
            <a:endParaRPr sz="1250"/>
          </a:p>
        </p:txBody>
      </p:sp>
      <p:sp>
        <p:nvSpPr>
          <p:cNvPr id="16" name="Shape 12">
            <a:extLst xmlns:a="http://schemas.openxmlformats.org/drawingml/2006/main">
              <a:ext uri="{FF2B5EF4-FFF2-40B4-BE49-F238E27FC236}">
                <a16:creationId xmlns:a16="http://schemas.microsoft.com/office/drawing/2014/main" id="{257B64B7-740D-407F-AAC0-DC4935B6C993}"/>
              </a:ext>
            </a:extLst>
          </p:cNvPr>
          <p:cNvSpPr>
            <a:spLocks xmlns:a="http://schemas.openxmlformats.org/drawingml/2006/main" noGrp="1"/>
          </p:cNvSpPr>
          <p:nvPr/>
        </p:nvSpPr>
        <p:spPr>
          <a:xfrm xmlns:a="http://schemas.openxmlformats.org/drawingml/2006/main">
            <a:off x="2811414"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7" name="Text 13">
            <a:extLst xmlns:a="http://schemas.openxmlformats.org/drawingml/2006/main">
              <a:ext uri="{FF2B5EF4-FFF2-40B4-BE49-F238E27FC236}">
                <a16:creationId xmlns:a16="http://schemas.microsoft.com/office/drawing/2014/main" id="{375601C9-EE16-4C6E-94E0-D79C1076783A}"/>
              </a:ext>
            </a:extLst>
          </p:cNvPr>
          <p:cNvSpPr>
            <a:spLocks xmlns:a="http://schemas.openxmlformats.org/drawingml/2006/main" noGrp="1"/>
          </p:cNvSpPr>
          <p:nvPr/>
        </p:nvSpPr>
        <p:spPr>
          <a:xfrm xmlns:a="http://schemas.openxmlformats.org/drawingml/2006/main">
            <a:off x="2994294"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Lead and opportunity workflows coordinate next</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Engagement layer</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Design controls</a:t>
            </a:r>
            <a:endParaRPr sz="1050"/>
          </a:p>
        </p:txBody>
      </p:sp>
      <p:sp>
        <p:nvSpPr>
          <p:cNvPr id="18" name="Shape 14">
            <a:extLst xmlns:a="http://schemas.openxmlformats.org/drawingml/2006/main">
              <a:ext uri="{FF2B5EF4-FFF2-40B4-BE49-F238E27FC236}">
                <a16:creationId xmlns:a16="http://schemas.microsoft.com/office/drawing/2014/main" id="{8C4C413D-5374-4875-B85C-C92333BB0C73}"/>
              </a:ext>
            </a:extLst>
          </p:cNvPr>
          <p:cNvSpPr>
            <a:spLocks xmlns:a="http://schemas.openxmlformats.org/drawingml/2006/main" noGrp="1"/>
          </p:cNvSpPr>
          <p:nvPr/>
        </p:nvSpPr>
        <p:spPr>
          <a:xfrm xmlns:a="http://schemas.openxmlformats.org/drawingml/2006/main">
            <a:off x="5074188" y="1517904"/>
            <a:ext cx="2043318" cy="658368"/>
          </a:xfrm>
          <a:prstGeom xmlns:a="http://schemas.openxmlformats.org/drawingml/2006/main" prst="roundRect">
            <a:avLst>
              <a:gd name="adj" fmla="val 12500"/>
            </a:avLst>
          </a:prstGeom>
          <a:solidFill xmlns:a="http://schemas.openxmlformats.org/drawingml/2006/main">
            <a:srgbClr val="17B3A3"/>
          </a:solidFill>
          <a:effectLst xmlns:a="http://schemas.openxmlformats.org/drawingml/2006/main">
            <a:outerShdw blurRad="88900" dist="25400" dir="5400000" sx="100000" sy="100000" kx="0" ky="0" algn="bl" rotWithShape="0">
              <a:srgbClr val="B4A9A2">
                <a:alpha val="22000"/>
              </a:srgbClr>
            </a:outerShdw>
          </a:effectLst>
        </p:spPr>
      </p:sp>
      <p:sp>
        <p:nvSpPr>
          <p:cNvPr id="19" name="Shape 15">
            <a:extLst xmlns:a="http://schemas.openxmlformats.org/drawingml/2006/main">
              <a:ext uri="{FF2B5EF4-FFF2-40B4-BE49-F238E27FC236}">
                <a16:creationId xmlns:a16="http://schemas.microsoft.com/office/drawing/2014/main" id="{26619B3C-9341-485D-B77D-0F190AFB113D}"/>
              </a:ext>
            </a:extLst>
          </p:cNvPr>
          <p:cNvSpPr>
            <a:spLocks xmlns:a="http://schemas.openxmlformats.org/drawingml/2006/main" noGrp="1"/>
          </p:cNvSpPr>
          <p:nvPr/>
        </p:nvSpPr>
        <p:spPr>
          <a:xfrm xmlns:a="http://schemas.openxmlformats.org/drawingml/2006/main">
            <a:off x="5074188" y="1847088"/>
            <a:ext cx="2043318" cy="329184"/>
          </a:xfrm>
          <a:prstGeom xmlns:a="http://schemas.openxmlformats.org/drawingml/2006/main" prst="rect">
            <a:avLst/>
          </a:prstGeom>
          <a:solidFill xmlns:a="http://schemas.openxmlformats.org/drawingml/2006/main">
            <a:srgbClr val="17B3A3"/>
          </a:solidFill>
        </p:spPr>
      </p:sp>
      <p:sp>
        <p:nvSpPr>
          <p:cNvPr id="20" name="Shape 16">
            <a:extLst xmlns:a="http://schemas.openxmlformats.org/drawingml/2006/main">
              <a:ext uri="{FF2B5EF4-FFF2-40B4-BE49-F238E27FC236}">
                <a16:creationId xmlns:a16="http://schemas.microsoft.com/office/drawing/2014/main" id="{CE8E7054-5059-44A9-BBE9-B1FF4E835388}"/>
              </a:ext>
            </a:extLst>
          </p:cNvPr>
          <p:cNvSpPr>
            <a:spLocks xmlns:a="http://schemas.openxmlformats.org/drawingml/2006/main" noGrp="1"/>
          </p:cNvSpPr>
          <p:nvPr/>
        </p:nvSpPr>
        <p:spPr>
          <a:xfrm xmlns:a="http://schemas.openxmlformats.org/drawingml/2006/main">
            <a:off x="5220492"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27626df090fa4fea"/>
          <a:stretch xmlns:a="http://schemas.openxmlformats.org/drawingml/2006/main">
            <a:fillRect l="0" t="0" r="0" b="0"/>
          </a:stretch>
        </p:blipFill>
        <p:spPr>
          <a:xfrm xmlns:a="http://schemas.openxmlformats.org/drawingml/2006/main">
            <a:off x="5315590" y="1759306"/>
            <a:ext cx="175565" cy="175565"/>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5E2AEC00-8CD6-4715-B045-5A9131F96292}"/>
              </a:ext>
            </a:extLst>
          </p:cNvPr>
          <p:cNvSpPr>
            <a:spLocks xmlns:a="http://schemas.openxmlformats.org/drawingml/2006/main" noGrp="1"/>
          </p:cNvSpPr>
          <p:nvPr/>
        </p:nvSpPr>
        <p:spPr>
          <a:xfrm xmlns:a="http://schemas.openxmlformats.org/drawingml/2006/main">
            <a:off x="5622828"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Digital onboarding</a:t>
            </a:r>
            <a:endParaRPr sz="1250"/>
          </a:p>
        </p:txBody>
      </p:sp>
      <p:sp>
        <p:nvSpPr>
          <p:cNvPr id="23" name="Shape 18">
            <a:extLst xmlns:a="http://schemas.openxmlformats.org/drawingml/2006/main">
              <a:ext uri="{FF2B5EF4-FFF2-40B4-BE49-F238E27FC236}">
                <a16:creationId xmlns:a16="http://schemas.microsoft.com/office/drawing/2014/main" id="{B0F689B6-92B9-4E4E-89B6-878A33EFBDD3}"/>
              </a:ext>
            </a:extLst>
          </p:cNvPr>
          <p:cNvSpPr>
            <a:spLocks xmlns:a="http://schemas.openxmlformats.org/drawingml/2006/main" noGrp="1"/>
          </p:cNvSpPr>
          <p:nvPr/>
        </p:nvSpPr>
        <p:spPr>
          <a:xfrm xmlns:a="http://schemas.openxmlformats.org/drawingml/2006/main">
            <a:off x="5074188"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24" name="Text 19">
            <a:extLst xmlns:a="http://schemas.openxmlformats.org/drawingml/2006/main">
              <a:ext uri="{FF2B5EF4-FFF2-40B4-BE49-F238E27FC236}">
                <a16:creationId xmlns:a16="http://schemas.microsoft.com/office/drawing/2014/main" id="{E85B851A-2342-48E3-BF2D-B19B78688BF3}"/>
              </a:ext>
            </a:extLst>
          </p:cNvPr>
          <p:cNvSpPr>
            <a:spLocks xmlns:a="http://schemas.openxmlformats.org/drawingml/2006/main" noGrp="1"/>
          </p:cNvSpPr>
          <p:nvPr/>
        </p:nvSpPr>
        <p:spPr>
          <a:xfrm xmlns:a="http://schemas.openxmlformats.org/drawingml/2006/main">
            <a:off x="5257068"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Guided journeys connect acquisition, verification and</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Decision layer</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Integrate deliberately</a:t>
            </a:r>
            <a:endParaRPr sz="1050"/>
          </a:p>
        </p:txBody>
      </p:sp>
      <p:sp>
        <p:nvSpPr>
          <p:cNvPr id="25" name="Shape 20">
            <a:extLst xmlns:a="http://schemas.openxmlformats.org/drawingml/2006/main">
              <a:ext uri="{FF2B5EF4-FFF2-40B4-BE49-F238E27FC236}">
                <a16:creationId xmlns:a16="http://schemas.microsoft.com/office/drawing/2014/main" id="{5E2559F6-21DD-4090-B438-626ADA074073}"/>
              </a:ext>
            </a:extLst>
          </p:cNvPr>
          <p:cNvSpPr>
            <a:spLocks xmlns:a="http://schemas.openxmlformats.org/drawingml/2006/main" noGrp="1"/>
          </p:cNvSpPr>
          <p:nvPr/>
        </p:nvSpPr>
        <p:spPr>
          <a:xfrm xmlns:a="http://schemas.openxmlformats.org/drawingml/2006/main">
            <a:off x="7336963" y="1517904"/>
            <a:ext cx="2043318" cy="658368"/>
          </a:xfrm>
          <a:prstGeom xmlns:a="http://schemas.openxmlformats.org/drawingml/2006/main" prst="roundRect">
            <a:avLst>
              <a:gd name="adj" fmla="val 12500"/>
            </a:avLst>
          </a:prstGeom>
          <a:solidFill xmlns:a="http://schemas.openxmlformats.org/drawingml/2006/main">
            <a:srgbClr val="0969FF"/>
          </a:solidFill>
          <a:effectLst xmlns:a="http://schemas.openxmlformats.org/drawingml/2006/main">
            <a:outerShdw blurRad="88900" dist="25400" dir="5400000" sx="100000" sy="100000" kx="0" ky="0" algn="bl" rotWithShape="0">
              <a:srgbClr val="B4A9A2">
                <a:alpha val="22000"/>
              </a:srgbClr>
            </a:outerShdw>
          </a:effectLst>
        </p:spPr>
      </p:sp>
      <p:sp>
        <p:nvSpPr>
          <p:cNvPr id="26" name="Shape 21">
            <a:extLst xmlns:a="http://schemas.openxmlformats.org/drawingml/2006/main">
              <a:ext uri="{FF2B5EF4-FFF2-40B4-BE49-F238E27FC236}">
                <a16:creationId xmlns:a16="http://schemas.microsoft.com/office/drawing/2014/main" id="{A196B340-4F93-40DB-AAFF-2B55A2686826}"/>
              </a:ext>
            </a:extLst>
          </p:cNvPr>
          <p:cNvSpPr>
            <a:spLocks xmlns:a="http://schemas.openxmlformats.org/drawingml/2006/main" noGrp="1"/>
          </p:cNvSpPr>
          <p:nvPr/>
        </p:nvSpPr>
        <p:spPr>
          <a:xfrm xmlns:a="http://schemas.openxmlformats.org/drawingml/2006/main">
            <a:off x="7336963" y="1847088"/>
            <a:ext cx="2043318" cy="329184"/>
          </a:xfrm>
          <a:prstGeom xmlns:a="http://schemas.openxmlformats.org/drawingml/2006/main" prst="rect">
            <a:avLst/>
          </a:prstGeom>
          <a:solidFill xmlns:a="http://schemas.openxmlformats.org/drawingml/2006/main">
            <a:srgbClr val="0969FF"/>
          </a:solidFill>
        </p:spPr>
      </p:sp>
      <p:sp>
        <p:nvSpPr>
          <p:cNvPr id="27" name="Shape 22">
            <a:extLst xmlns:a="http://schemas.openxmlformats.org/drawingml/2006/main">
              <a:ext uri="{FF2B5EF4-FFF2-40B4-BE49-F238E27FC236}">
                <a16:creationId xmlns:a16="http://schemas.microsoft.com/office/drawing/2014/main" id="{CC3D1676-B4C9-4532-A75E-3FDEEDE882B2}"/>
              </a:ext>
            </a:extLst>
          </p:cNvPr>
          <p:cNvSpPr>
            <a:spLocks xmlns:a="http://schemas.openxmlformats.org/drawingml/2006/main" noGrp="1"/>
          </p:cNvSpPr>
          <p:nvPr/>
        </p:nvSpPr>
        <p:spPr>
          <a:xfrm xmlns:a="http://schemas.openxmlformats.org/drawingml/2006/main">
            <a:off x="7483267"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74" name="Image 3"/>
          <p:cNvPicPr>
            <a:picLocks xmlns:a="http://schemas.openxmlformats.org/drawingml/2006/main" noChangeAspect="1"/>
          </p:cNvPicPr>
          <p:nvPr/>
        </p:nvPicPr>
        <p:blipFill>
          <a:blip xmlns:r="http://schemas.openxmlformats.org/officeDocument/2006/relationships" xmlns:a="http://schemas.openxmlformats.org/drawingml/2006/main" r:embed="Rf410e49b90454ae0"/>
          <a:stretch xmlns:a="http://schemas.openxmlformats.org/drawingml/2006/main">
            <a:fillRect l="0" t="0" r="0" b="0"/>
          </a:stretch>
        </p:blipFill>
        <p:spPr>
          <a:xfrm xmlns:a="http://schemas.openxmlformats.org/drawingml/2006/main">
            <a:off x="7578364" y="1759306"/>
            <a:ext cx="175565" cy="175565"/>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3BE2C775-93FA-458B-953B-AAB1A77A567C}"/>
              </a:ext>
            </a:extLst>
          </p:cNvPr>
          <p:cNvSpPr>
            <a:spLocks xmlns:a="http://schemas.openxmlformats.org/drawingml/2006/main" noGrp="1"/>
          </p:cNvSpPr>
          <p:nvPr/>
        </p:nvSpPr>
        <p:spPr>
          <a:xfrm xmlns:a="http://schemas.openxmlformats.org/drawingml/2006/main">
            <a:off x="7885603"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Digital lending</a:t>
            </a:r>
            <a:endParaRPr sz="1250"/>
          </a:p>
        </p:txBody>
      </p:sp>
      <p:sp>
        <p:nvSpPr>
          <p:cNvPr id="30" name="Shape 24">
            <a:extLst xmlns:a="http://schemas.openxmlformats.org/drawingml/2006/main">
              <a:ext uri="{FF2B5EF4-FFF2-40B4-BE49-F238E27FC236}">
                <a16:creationId xmlns:a16="http://schemas.microsoft.com/office/drawing/2014/main" id="{B625E3D7-D9F5-43E3-AB5A-F691AD02682C}"/>
              </a:ext>
            </a:extLst>
          </p:cNvPr>
          <p:cNvSpPr>
            <a:spLocks xmlns:a="http://schemas.openxmlformats.org/drawingml/2006/main" noGrp="1"/>
          </p:cNvSpPr>
          <p:nvPr/>
        </p:nvSpPr>
        <p:spPr>
          <a:xfrm xmlns:a="http://schemas.openxmlformats.org/drawingml/2006/main">
            <a:off x="7336963"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31" name="Text 25">
            <a:extLst xmlns:a="http://schemas.openxmlformats.org/drawingml/2006/main">
              <a:ext uri="{FF2B5EF4-FFF2-40B4-BE49-F238E27FC236}">
                <a16:creationId xmlns:a16="http://schemas.microsoft.com/office/drawing/2014/main" id="{5E4BE771-E959-4F55-8082-02F27121BA67}"/>
              </a:ext>
            </a:extLst>
          </p:cNvPr>
          <p:cNvSpPr>
            <a:spLocks xmlns:a="http://schemas.openxmlformats.org/drawingml/2006/main" noGrp="1"/>
          </p:cNvSpPr>
          <p:nvPr/>
        </p:nvSpPr>
        <p:spPr>
          <a:xfrm xmlns:a="http://schemas.openxmlformats.org/drawingml/2006/main">
            <a:off x="7519843"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Origination and relationship context support a</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Integration layer</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Prove adoption</a:t>
            </a:r>
            <a:endParaRPr sz="1050"/>
          </a:p>
        </p:txBody>
      </p:sp>
      <p:sp>
        <p:nvSpPr>
          <p:cNvPr id="32" name="Shape 26">
            <a:extLst xmlns:a="http://schemas.openxmlformats.org/drawingml/2006/main">
              <a:ext uri="{FF2B5EF4-FFF2-40B4-BE49-F238E27FC236}">
                <a16:creationId xmlns:a16="http://schemas.microsoft.com/office/drawing/2014/main" id="{41B9CB4D-C600-4C5B-A8EA-5C328CCF349A}"/>
              </a:ext>
            </a:extLst>
          </p:cNvPr>
          <p:cNvSpPr>
            <a:spLocks xmlns:a="http://schemas.openxmlformats.org/drawingml/2006/main" noGrp="1"/>
          </p:cNvSpPr>
          <p:nvPr/>
        </p:nvSpPr>
        <p:spPr>
          <a:xfrm xmlns:a="http://schemas.openxmlformats.org/drawingml/2006/main">
            <a:off x="9599737" y="1517904"/>
            <a:ext cx="2043318" cy="658368"/>
          </a:xfrm>
          <a:prstGeom xmlns:a="http://schemas.openxmlformats.org/drawingml/2006/main" prst="roundRect">
            <a:avLst>
              <a:gd name="adj" fmla="val 12500"/>
            </a:avLst>
          </a:prstGeom>
          <a:solidFill xmlns:a="http://schemas.openxmlformats.org/drawingml/2006/main">
            <a:srgbClr val="595959"/>
          </a:solidFill>
          <a:effectLst xmlns:a="http://schemas.openxmlformats.org/drawingml/2006/main">
            <a:outerShdw blurRad="88900" dist="25400" dir="5400000" sx="100000" sy="100000" kx="0" ky="0" algn="bl" rotWithShape="0">
              <a:srgbClr val="B4A9A2">
                <a:alpha val="22000"/>
              </a:srgbClr>
            </a:outerShdw>
          </a:effectLst>
        </p:spPr>
      </p:sp>
      <p:sp>
        <p:nvSpPr>
          <p:cNvPr id="33" name="Shape 27">
            <a:extLst xmlns:a="http://schemas.openxmlformats.org/drawingml/2006/main">
              <a:ext uri="{FF2B5EF4-FFF2-40B4-BE49-F238E27FC236}">
                <a16:creationId xmlns:a16="http://schemas.microsoft.com/office/drawing/2014/main" id="{56F14A15-2C45-4957-ABDC-652070E7465E}"/>
              </a:ext>
            </a:extLst>
          </p:cNvPr>
          <p:cNvSpPr>
            <a:spLocks xmlns:a="http://schemas.openxmlformats.org/drawingml/2006/main" noGrp="1"/>
          </p:cNvSpPr>
          <p:nvPr/>
        </p:nvSpPr>
        <p:spPr>
          <a:xfrm xmlns:a="http://schemas.openxmlformats.org/drawingml/2006/main">
            <a:off x="9599737" y="1847088"/>
            <a:ext cx="2043318" cy="329184"/>
          </a:xfrm>
          <a:prstGeom xmlns:a="http://schemas.openxmlformats.org/drawingml/2006/main" prst="rect">
            <a:avLst/>
          </a:prstGeom>
          <a:solidFill xmlns:a="http://schemas.openxmlformats.org/drawingml/2006/main">
            <a:srgbClr val="595959"/>
          </a:solidFill>
        </p:spPr>
      </p:sp>
      <p:sp>
        <p:nvSpPr>
          <p:cNvPr id="34" name="Shape 28">
            <a:extLst xmlns:a="http://schemas.openxmlformats.org/drawingml/2006/main">
              <a:ext uri="{FF2B5EF4-FFF2-40B4-BE49-F238E27FC236}">
                <a16:creationId xmlns:a16="http://schemas.microsoft.com/office/drawing/2014/main" id="{41A907DD-6475-4EFF-ABC0-C79C327AACE8}"/>
              </a:ext>
            </a:extLst>
          </p:cNvPr>
          <p:cNvSpPr>
            <a:spLocks xmlns:a="http://schemas.openxmlformats.org/drawingml/2006/main" noGrp="1"/>
          </p:cNvSpPr>
          <p:nvPr/>
        </p:nvSpPr>
        <p:spPr>
          <a:xfrm xmlns:a="http://schemas.openxmlformats.org/drawingml/2006/main">
            <a:off x="9746041"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5868df2e3fb84a4d"/>
          <a:stretch xmlns:a="http://schemas.openxmlformats.org/drawingml/2006/main">
            <a:fillRect l="0" t="0" r="0" b="0"/>
          </a:stretch>
        </p:blipFill>
        <p:spPr>
          <a:xfrm xmlns:a="http://schemas.openxmlformats.org/drawingml/2006/main">
            <a:off x="9841139" y="1759306"/>
            <a:ext cx="175565" cy="175565"/>
          </a:xfrm>
          <a:prstGeom xmlns:a="http://schemas.openxmlformats.org/drawingml/2006/main" prst="rect">
            <a:avLst/>
          </a:prstGeom>
        </p:spPr>
      </p:pic>
      <p:sp>
        <p:nvSpPr>
          <p:cNvPr id="36" name="Text 29">
            <a:extLst xmlns:a="http://schemas.openxmlformats.org/drawingml/2006/main">
              <a:ext uri="{FF2B5EF4-FFF2-40B4-BE49-F238E27FC236}">
                <a16:creationId xmlns:a16="http://schemas.microsoft.com/office/drawing/2014/main" id="{5AE828F7-38E5-4398-82DE-29FE95F44F20}"/>
              </a:ext>
            </a:extLst>
          </p:cNvPr>
          <p:cNvSpPr>
            <a:spLocks xmlns:a="http://schemas.openxmlformats.org/drawingml/2006/main" noGrp="1"/>
          </p:cNvSpPr>
          <p:nvPr/>
        </p:nvSpPr>
        <p:spPr>
          <a:xfrm xmlns:a="http://schemas.openxmlformats.org/drawingml/2006/main">
            <a:off x="10148377"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Smart relationship management</a:t>
            </a:r>
            <a:endParaRPr sz="1250"/>
          </a:p>
        </p:txBody>
      </p:sp>
      <p:sp>
        <p:nvSpPr>
          <p:cNvPr id="37" name="Shape 30">
            <a:extLst xmlns:a="http://schemas.openxmlformats.org/drawingml/2006/main">
              <a:ext uri="{FF2B5EF4-FFF2-40B4-BE49-F238E27FC236}">
                <a16:creationId xmlns:a16="http://schemas.microsoft.com/office/drawing/2014/main" id="{C485B345-AAB4-4E6D-B98C-085EB5F328B2}"/>
              </a:ext>
            </a:extLst>
          </p:cNvPr>
          <p:cNvSpPr>
            <a:spLocks xmlns:a="http://schemas.openxmlformats.org/drawingml/2006/main" noGrp="1"/>
          </p:cNvSpPr>
          <p:nvPr/>
        </p:nvSpPr>
        <p:spPr>
          <a:xfrm xmlns:a="http://schemas.openxmlformats.org/drawingml/2006/main">
            <a:off x="9599737"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38" name="Text 31">
            <a:extLst xmlns:a="http://schemas.openxmlformats.org/drawingml/2006/main">
              <a:ext uri="{FF2B5EF4-FFF2-40B4-BE49-F238E27FC236}">
                <a16:creationId xmlns:a16="http://schemas.microsoft.com/office/drawing/2014/main" id="{BB32A191-B810-4A71-8E3A-7145A5FA340D}"/>
              </a:ext>
            </a:extLst>
          </p:cNvPr>
          <p:cNvSpPr>
            <a:spLocks xmlns:a="http://schemas.openxmlformats.org/drawingml/2006/main" noGrp="1"/>
          </p:cNvSpPr>
          <p:nvPr/>
        </p:nvSpPr>
        <p:spPr>
          <a:xfrm xmlns:a="http://schemas.openxmlformats.org/drawingml/2006/main">
            <a:off x="9782617"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Bankers receive portfolio signals, actions and</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Control layer</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Measure outcomes</a:t>
            </a:r>
            <a:endParaRPr sz="1050"/>
          </a:p>
        </p:txBody>
      </p:sp>
      <p:sp>
        <p:nvSpPr>
          <p:cNvPr id="39" name="Shape 32">
            <a:extLst xmlns:a="http://schemas.openxmlformats.org/drawingml/2006/main">
              <a:ext uri="{FF2B5EF4-FFF2-40B4-BE49-F238E27FC236}">
                <a16:creationId xmlns:a16="http://schemas.microsoft.com/office/drawing/2014/main" id="{021E830A-A74E-40EC-8F65-807776D735D7}"/>
              </a:ext>
            </a:extLst>
          </p:cNvPr>
          <p:cNvSpPr>
            <a:spLocks xmlns:a="http://schemas.openxmlformats.org/drawingml/2006/main" noGrp="1"/>
          </p:cNvSpPr>
          <p:nvPr/>
        </p:nvSpPr>
        <p:spPr>
          <a:xfrm xmlns:a="http://schemas.openxmlformats.org/drawingml/2006/main">
            <a:off x="548640" y="5742432"/>
            <a:ext cx="11094415" cy="603504"/>
          </a:xfrm>
          <a:prstGeom xmlns:a="http://schemas.openxmlformats.org/drawingml/2006/main" prst="roundRect">
            <a:avLst>
              <a:gd name="adj" fmla="val 16667"/>
            </a:avLst>
          </a:prstGeom>
          <a:solidFill xmlns:a="http://schemas.openxmlformats.org/drawingml/2006/main">
            <a:srgbClr val="FBEFEF"/>
          </a:solidFill>
          <a:ln xmlns:a="http://schemas.openxmlformats.org/drawingml/2006/main" w="12700">
            <a:solidFill>
              <a:srgbClr val="EBC9C9"/>
            </a:solidFill>
            <a:prstDash val="solid"/>
          </a:ln>
        </p:spPr>
      </p:sp>
      <p:sp>
        <p:nvSpPr>
          <p:cNvPr id="40" name="Text 33">
            <a:extLst xmlns:a="http://schemas.openxmlformats.org/drawingml/2006/main">
              <a:ext uri="{FF2B5EF4-FFF2-40B4-BE49-F238E27FC236}">
                <a16:creationId xmlns:a16="http://schemas.microsoft.com/office/drawing/2014/main" id="{85960944-A9DD-4DC1-B684-2FDE717847AD}"/>
              </a:ext>
            </a:extLst>
          </p:cNvPr>
          <p:cNvSpPr>
            <a:spLocks xmlns:a="http://schemas.openxmlformats.org/drawingml/2006/main" noGrp="1"/>
          </p:cNvSpPr>
          <p:nvPr/>
        </p:nvSpPr>
        <p:spPr>
          <a:xfrm xmlns:a="http://schemas.openxmlformats.org/drawingml/2006/main">
            <a:off x="768096" y="5742432"/>
            <a:ext cx="10728655"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C0392B"/>
                </a:solidFill>
                <a:latin typeface="Poppins"/>
                <a:ea typeface="Poppins"/>
                <a:cs typeface="Poppins"/>
              </a:rPr>
              <a:t>Confidential journeys · Go-live inference · Conflicting scale · Invented dates</a:t>
            </a:r>
            <a:endParaRPr sz="1100"/>
          </a:p>
        </p:txBody>
      </p:sp>
      <p:sp>
        <p:nvSpPr>
          <p:cNvPr id="41" name="Text 34">
            <a:extLst xmlns:a="http://schemas.openxmlformats.org/drawingml/2006/main">
              <a:ext uri="{FF2B5EF4-FFF2-40B4-BE49-F238E27FC236}">
                <a16:creationId xmlns:a16="http://schemas.microsoft.com/office/drawing/2014/main" id="{BE4CD9A2-9DE7-4DC0-B8DE-5DE816163BAD}"/>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42" name="Text 35">
            <a:extLst xmlns:a="http://schemas.openxmlformats.org/drawingml/2006/main">
              <a:ext uri="{FF2B5EF4-FFF2-40B4-BE49-F238E27FC236}">
                <a16:creationId xmlns:a16="http://schemas.microsoft.com/office/drawing/2014/main" id="{6579025C-39CC-4580-BEC1-F9FFB6BE26D4}"/>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06</a:t>
            </a:r>
            <a:endParaRPr sz="900"/>
          </a:p>
        </p:txBody>
      </p:sp>
    </p:spTree>
    <p:extLst>
      <p:ext uri="{BB962C8B-B14F-4D97-AF65-F5344CB8AC3E}">
        <p14:creationId xmlns:p14="http://schemas.microsoft.com/office/powerpoint/2010/main" val="1484127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72CF78-2A9D-410A-ACE3-A89BB830DF80}"/>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OPERATING ARCHITECTURE</a:t>
            </a:r>
            <a:endParaRPr sz="1200"/>
          </a:p>
        </p:txBody>
      </p:sp>
      <p:sp>
        <p:nvSpPr>
          <p:cNvPr id="3" name="Text 1">
            <a:extLst xmlns:a="http://schemas.openxmlformats.org/drawingml/2006/main">
              <a:ext uri="{FF2B5EF4-FFF2-40B4-BE49-F238E27FC236}">
                <a16:creationId xmlns:a16="http://schemas.microsoft.com/office/drawing/2014/main" id="{D0B1C1EA-67A7-43F6-8BFB-FE247788EDFD}"/>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One operating model connects every customer decision</a:t>
            </a:r>
            <a:endParaRPr sz="3000"/>
          </a:p>
        </p:txBody>
      </p:sp>
      <p:sp>
        <p:nvSpPr>
          <p:cNvPr id="4" name="Text 2">
            <a:extLst xmlns:a="http://schemas.openxmlformats.org/drawingml/2006/main">
              <a:ext uri="{FF2B5EF4-FFF2-40B4-BE49-F238E27FC236}">
                <a16:creationId xmlns:a16="http://schemas.microsoft.com/office/drawing/2014/main" id="{4F056C17-F4A4-47FD-A604-5EB8AA828536}"/>
              </a:ext>
            </a:extLst>
          </p:cNvPr>
          <p:cNvSpPr>
            <a:spLocks xmlns:a="http://schemas.openxmlformats.org/drawingml/2006/main" noGrp="1"/>
          </p:cNvSpPr>
          <p:nvPr/>
        </p:nvSpPr>
        <p:spPr>
          <a:xfrm xmlns:a="http://schemas.openxmlformats.org/drawingml/2006/main">
            <a:off x="548640" y="1371600"/>
            <a:ext cx="11094415"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50" i="1">
                <a:solidFill>
                  <a:srgbClr val="595959"/>
                </a:solidFill>
                <a:latin typeface="Calibri"/>
                <a:ea typeface="Calibri"/>
                <a:cs typeface="Calibri"/>
              </a:rPr>
              <a:t>A portfolio reconstruction—not a claim about HDFC's current technical topology</a:t>
            </a:r>
            <a:endParaRPr sz="1350"/>
          </a:p>
        </p:txBody>
      </p:sp>
      <p:sp>
        <p:nvSpPr>
          <p:cNvPr id="5" name="Shape 3">
            <a:extLst xmlns:a="http://schemas.openxmlformats.org/drawingml/2006/main">
              <a:ext uri="{FF2B5EF4-FFF2-40B4-BE49-F238E27FC236}">
                <a16:creationId xmlns:a16="http://schemas.microsoft.com/office/drawing/2014/main" id="{C76F134F-ECCF-4687-9FA1-9E60846CA0CE}"/>
              </a:ext>
            </a:extLst>
          </p:cNvPr>
          <p:cNvSpPr>
            <a:spLocks xmlns:a="http://schemas.openxmlformats.org/drawingml/2006/main" noGrp="1"/>
          </p:cNvSpPr>
          <p:nvPr/>
        </p:nvSpPr>
        <p:spPr>
          <a:xfrm xmlns:a="http://schemas.openxmlformats.org/drawingml/2006/main">
            <a:off x="548640" y="2139696"/>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6" name="Shape 4">
            <a:extLst xmlns:a="http://schemas.openxmlformats.org/drawingml/2006/main">
              <a:ext uri="{FF2B5EF4-FFF2-40B4-BE49-F238E27FC236}">
                <a16:creationId xmlns:a16="http://schemas.microsoft.com/office/drawing/2014/main" id="{F6D6593D-E1D4-45F1-B229-47E4D48C4D29}"/>
              </a:ext>
            </a:extLst>
          </p:cNvPr>
          <p:cNvSpPr>
            <a:spLocks xmlns:a="http://schemas.openxmlformats.org/drawingml/2006/main" noGrp="1"/>
          </p:cNvSpPr>
          <p:nvPr/>
        </p:nvSpPr>
        <p:spPr>
          <a:xfrm xmlns:a="http://schemas.openxmlformats.org/drawingml/2006/main">
            <a:off x="786384" y="2377440"/>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453dd89b6f3e4941"/>
          <a:stretch xmlns:a="http://schemas.openxmlformats.org/drawingml/2006/main">
            <a:fillRect l="0" t="0" r="0" b="0"/>
          </a:stretch>
        </p:blipFill>
        <p:spPr>
          <a:xfrm xmlns:a="http://schemas.openxmlformats.org/drawingml/2006/main">
            <a:off x="918058" y="2509114"/>
            <a:ext cx="285293" cy="285293"/>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AA9A5D05-8302-481D-9866-D777A24FAAF7}"/>
              </a:ext>
            </a:extLst>
          </p:cNvPr>
          <p:cNvSpPr>
            <a:spLocks xmlns:a="http://schemas.openxmlformats.org/drawingml/2006/main" noGrp="1"/>
          </p:cNvSpPr>
          <p:nvPr/>
        </p:nvSpPr>
        <p:spPr>
          <a:xfrm xmlns:a="http://schemas.openxmlformats.org/drawingml/2006/main">
            <a:off x="1481328" y="2395728"/>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Experience layer</a:t>
            </a:r>
            <a:endParaRPr sz="1500"/>
          </a:p>
        </p:txBody>
      </p:sp>
      <p:sp>
        <p:nvSpPr>
          <p:cNvPr id="9" name="Text 6">
            <a:extLst xmlns:a="http://schemas.openxmlformats.org/drawingml/2006/main">
              <a:ext uri="{FF2B5EF4-FFF2-40B4-BE49-F238E27FC236}">
                <a16:creationId xmlns:a16="http://schemas.microsoft.com/office/drawing/2014/main" id="{9726BFE8-CFF5-486D-A438-B153AA81DC94}"/>
              </a:ext>
            </a:extLst>
          </p:cNvPr>
          <p:cNvSpPr>
            <a:spLocks xmlns:a="http://schemas.openxmlformats.org/drawingml/2006/main" noGrp="1"/>
          </p:cNvSpPr>
          <p:nvPr/>
        </p:nvSpPr>
        <p:spPr>
          <a:xfrm xmlns:a="http://schemas.openxmlformats.org/drawingml/2006/main">
            <a:off x="804672" y="3054096"/>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Role-based banker, service and management workspaces.</a:t>
            </a:r>
            <a:endParaRPr sz="1100"/>
          </a:p>
        </p:txBody>
      </p:sp>
      <p:sp>
        <p:nvSpPr>
          <p:cNvPr id="10" name="Shape 7">
            <a:extLst xmlns:a="http://schemas.openxmlformats.org/drawingml/2006/main">
              <a:ext uri="{FF2B5EF4-FFF2-40B4-BE49-F238E27FC236}">
                <a16:creationId xmlns:a16="http://schemas.microsoft.com/office/drawing/2014/main" id="{76D91973-B451-4172-B34D-FF57AAB37AE7}"/>
              </a:ext>
            </a:extLst>
          </p:cNvPr>
          <p:cNvSpPr>
            <a:spLocks xmlns:a="http://schemas.openxmlformats.org/drawingml/2006/main" noGrp="1"/>
          </p:cNvSpPr>
          <p:nvPr/>
        </p:nvSpPr>
        <p:spPr>
          <a:xfrm xmlns:a="http://schemas.openxmlformats.org/drawingml/2006/main">
            <a:off x="4338218" y="2139696"/>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1" name="Shape 8">
            <a:extLst xmlns:a="http://schemas.openxmlformats.org/drawingml/2006/main">
              <a:ext uri="{FF2B5EF4-FFF2-40B4-BE49-F238E27FC236}">
                <a16:creationId xmlns:a16="http://schemas.microsoft.com/office/drawing/2014/main" id="{D3737E48-11B6-4F43-B670-9B5AAF4D89E7}"/>
              </a:ext>
            </a:extLst>
          </p:cNvPr>
          <p:cNvSpPr>
            <a:spLocks xmlns:a="http://schemas.openxmlformats.org/drawingml/2006/main" noGrp="1"/>
          </p:cNvSpPr>
          <p:nvPr/>
        </p:nvSpPr>
        <p:spPr>
          <a:xfrm xmlns:a="http://schemas.openxmlformats.org/drawingml/2006/main">
            <a:off x="4575962" y="2377440"/>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88df3df940b54734"/>
          <a:stretch xmlns:a="http://schemas.openxmlformats.org/drawingml/2006/main">
            <a:fillRect l="0" t="0" r="0" b="0"/>
          </a:stretch>
        </p:blipFill>
        <p:spPr>
          <a:xfrm xmlns:a="http://schemas.openxmlformats.org/drawingml/2006/main">
            <a:off x="4707636" y="2509114"/>
            <a:ext cx="285293" cy="285293"/>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CF9C02DF-52E4-466B-95EC-4B27A2675FE4}"/>
              </a:ext>
            </a:extLst>
          </p:cNvPr>
          <p:cNvSpPr>
            <a:spLocks xmlns:a="http://schemas.openxmlformats.org/drawingml/2006/main" noGrp="1"/>
          </p:cNvSpPr>
          <p:nvPr/>
        </p:nvSpPr>
        <p:spPr>
          <a:xfrm xmlns:a="http://schemas.openxmlformats.org/drawingml/2006/main">
            <a:off x="5270906" y="2395728"/>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Engagement layer</a:t>
            </a:r>
            <a:endParaRPr sz="1500"/>
          </a:p>
        </p:txBody>
      </p:sp>
      <p:sp>
        <p:nvSpPr>
          <p:cNvPr id="14" name="Text 10">
            <a:extLst xmlns:a="http://schemas.openxmlformats.org/drawingml/2006/main">
              <a:ext uri="{FF2B5EF4-FFF2-40B4-BE49-F238E27FC236}">
                <a16:creationId xmlns:a16="http://schemas.microsoft.com/office/drawing/2014/main" id="{32B483E6-87FD-4CA4-BA8D-5D7300DE770E}"/>
              </a:ext>
            </a:extLst>
          </p:cNvPr>
          <p:cNvSpPr>
            <a:spLocks xmlns:a="http://schemas.openxmlformats.org/drawingml/2006/main" noGrp="1"/>
          </p:cNvSpPr>
          <p:nvPr/>
        </p:nvSpPr>
        <p:spPr>
          <a:xfrm xmlns:a="http://schemas.openxmlformats.org/drawingml/2006/main">
            <a:off x="4594250" y="3054096"/>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Campaign, lead, opportunity, onboarding and service orchestration.</a:t>
            </a:r>
            <a:endParaRPr sz="1100"/>
          </a:p>
        </p:txBody>
      </p:sp>
      <p:sp>
        <p:nvSpPr>
          <p:cNvPr id="15" name="Shape 11">
            <a:extLst xmlns:a="http://schemas.openxmlformats.org/drawingml/2006/main">
              <a:ext uri="{FF2B5EF4-FFF2-40B4-BE49-F238E27FC236}">
                <a16:creationId xmlns:a16="http://schemas.microsoft.com/office/drawing/2014/main" id="{6124DA0D-ACDC-4FA5-90F9-A22A1EA26845}"/>
              </a:ext>
            </a:extLst>
          </p:cNvPr>
          <p:cNvSpPr>
            <a:spLocks xmlns:a="http://schemas.openxmlformats.org/drawingml/2006/main" noGrp="1"/>
          </p:cNvSpPr>
          <p:nvPr/>
        </p:nvSpPr>
        <p:spPr>
          <a:xfrm xmlns:a="http://schemas.openxmlformats.org/drawingml/2006/main">
            <a:off x="8127797" y="2139696"/>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6" name="Shape 12">
            <a:extLst xmlns:a="http://schemas.openxmlformats.org/drawingml/2006/main">
              <a:ext uri="{FF2B5EF4-FFF2-40B4-BE49-F238E27FC236}">
                <a16:creationId xmlns:a16="http://schemas.microsoft.com/office/drawing/2014/main" id="{417F0319-39EB-49B6-8FBC-7D613D9A0DE5}"/>
              </a:ext>
            </a:extLst>
          </p:cNvPr>
          <p:cNvSpPr>
            <a:spLocks xmlns:a="http://schemas.openxmlformats.org/drawingml/2006/main" noGrp="1"/>
          </p:cNvSpPr>
          <p:nvPr/>
        </p:nvSpPr>
        <p:spPr>
          <a:xfrm xmlns:a="http://schemas.openxmlformats.org/drawingml/2006/main">
            <a:off x="8365541" y="2377440"/>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8" name="Image 2"/>
          <p:cNvPicPr>
            <a:picLocks xmlns:a="http://schemas.openxmlformats.org/drawingml/2006/main" noChangeAspect="1"/>
          </p:cNvPicPr>
          <p:nvPr/>
        </p:nvPicPr>
        <p:blipFill>
          <a:blip xmlns:r="http://schemas.openxmlformats.org/officeDocument/2006/relationships" xmlns:a="http://schemas.openxmlformats.org/drawingml/2006/main" r:embed="Raf3fc135a1e04374"/>
          <a:stretch xmlns:a="http://schemas.openxmlformats.org/drawingml/2006/main">
            <a:fillRect l="0" t="0" r="0" b="0"/>
          </a:stretch>
        </p:blipFill>
        <p:spPr>
          <a:xfrm xmlns:a="http://schemas.openxmlformats.org/drawingml/2006/main">
            <a:off x="8497214" y="2509114"/>
            <a:ext cx="285293" cy="285293"/>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58AAB0F3-05AA-4A4D-A422-7CF8E9615A56}"/>
              </a:ext>
            </a:extLst>
          </p:cNvPr>
          <p:cNvSpPr>
            <a:spLocks xmlns:a="http://schemas.openxmlformats.org/drawingml/2006/main" noGrp="1"/>
          </p:cNvSpPr>
          <p:nvPr/>
        </p:nvSpPr>
        <p:spPr>
          <a:xfrm xmlns:a="http://schemas.openxmlformats.org/drawingml/2006/main">
            <a:off x="9060485" y="2395728"/>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Decision layer</a:t>
            </a:r>
            <a:endParaRPr sz="1500"/>
          </a:p>
        </p:txBody>
      </p:sp>
      <p:sp>
        <p:nvSpPr>
          <p:cNvPr id="19" name="Text 14">
            <a:extLst xmlns:a="http://schemas.openxmlformats.org/drawingml/2006/main">
              <a:ext uri="{FF2B5EF4-FFF2-40B4-BE49-F238E27FC236}">
                <a16:creationId xmlns:a16="http://schemas.microsoft.com/office/drawing/2014/main" id="{07BADF76-E837-4051-AABF-52DC010D2495}"/>
              </a:ext>
            </a:extLst>
          </p:cNvPr>
          <p:cNvSpPr>
            <a:spLocks xmlns:a="http://schemas.openxmlformats.org/drawingml/2006/main" noGrp="1"/>
          </p:cNvSpPr>
          <p:nvPr/>
        </p:nvSpPr>
        <p:spPr>
          <a:xfrm xmlns:a="http://schemas.openxmlformats.org/drawingml/2006/main">
            <a:off x="8383829" y="3054096"/>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Customer signals, prioritization and recommended actions.</a:t>
            </a:r>
            <a:endParaRPr sz="1100"/>
          </a:p>
        </p:txBody>
      </p:sp>
      <p:sp>
        <p:nvSpPr>
          <p:cNvPr id="20" name="Shape 15">
            <a:extLst xmlns:a="http://schemas.openxmlformats.org/drawingml/2006/main">
              <a:ext uri="{FF2B5EF4-FFF2-40B4-BE49-F238E27FC236}">
                <a16:creationId xmlns:a16="http://schemas.microsoft.com/office/drawing/2014/main" id="{D20F8D8C-60F6-42CC-9421-9D1FE85D2424}"/>
              </a:ext>
            </a:extLst>
          </p:cNvPr>
          <p:cNvSpPr>
            <a:spLocks xmlns:a="http://schemas.openxmlformats.org/drawingml/2006/main" noGrp="1"/>
          </p:cNvSpPr>
          <p:nvPr/>
        </p:nvSpPr>
        <p:spPr>
          <a:xfrm xmlns:a="http://schemas.openxmlformats.org/drawingml/2006/main">
            <a:off x="548640" y="4270248"/>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1" name="Shape 16">
            <a:extLst xmlns:a="http://schemas.openxmlformats.org/drawingml/2006/main">
              <a:ext uri="{FF2B5EF4-FFF2-40B4-BE49-F238E27FC236}">
                <a16:creationId xmlns:a16="http://schemas.microsoft.com/office/drawing/2014/main" id="{C9515851-2C6D-4BC2-9C20-C5FBB4E596AB}"/>
              </a:ext>
            </a:extLst>
          </p:cNvPr>
          <p:cNvSpPr>
            <a:spLocks xmlns:a="http://schemas.openxmlformats.org/drawingml/2006/main" noGrp="1"/>
          </p:cNvSpPr>
          <p:nvPr/>
        </p:nvSpPr>
        <p:spPr>
          <a:xfrm xmlns:a="http://schemas.openxmlformats.org/drawingml/2006/main">
            <a:off x="786384" y="4507992"/>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97f8ea34e39b43f0"/>
          <a:stretch xmlns:a="http://schemas.openxmlformats.org/drawingml/2006/main">
            <a:fillRect l="0" t="0" r="0" b="0"/>
          </a:stretch>
        </p:blipFill>
        <p:spPr>
          <a:xfrm xmlns:a="http://schemas.openxmlformats.org/drawingml/2006/main">
            <a:off x="918058" y="4639666"/>
            <a:ext cx="285293" cy="285293"/>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6BF2C578-1BE9-4F5C-838D-52257DAA786F}"/>
              </a:ext>
            </a:extLst>
          </p:cNvPr>
          <p:cNvSpPr>
            <a:spLocks xmlns:a="http://schemas.openxmlformats.org/drawingml/2006/main" noGrp="1"/>
          </p:cNvSpPr>
          <p:nvPr/>
        </p:nvSpPr>
        <p:spPr>
          <a:xfrm xmlns:a="http://schemas.openxmlformats.org/drawingml/2006/main">
            <a:off x="1481328" y="4526280"/>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Integration layer</a:t>
            </a:r>
            <a:endParaRPr sz="1500"/>
          </a:p>
        </p:txBody>
      </p:sp>
      <p:sp>
        <p:nvSpPr>
          <p:cNvPr id="24" name="Text 18">
            <a:extLst xmlns:a="http://schemas.openxmlformats.org/drawingml/2006/main">
              <a:ext uri="{FF2B5EF4-FFF2-40B4-BE49-F238E27FC236}">
                <a16:creationId xmlns:a16="http://schemas.microsoft.com/office/drawing/2014/main" id="{76EBCD7A-8FF4-477F-8CCA-D5672056011E}"/>
              </a:ext>
            </a:extLst>
          </p:cNvPr>
          <p:cNvSpPr>
            <a:spLocks xmlns:a="http://schemas.openxmlformats.org/drawingml/2006/main" noGrp="1"/>
          </p:cNvSpPr>
          <p:nvPr/>
        </p:nvSpPr>
        <p:spPr>
          <a:xfrm xmlns:a="http://schemas.openxmlformats.org/drawingml/2006/main">
            <a:off x="804672" y="5184648"/>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Governed touchpoints connect systems of record and channels.</a:t>
            </a:r>
            <a:endParaRPr sz="1100"/>
          </a:p>
        </p:txBody>
      </p:sp>
      <p:sp>
        <p:nvSpPr>
          <p:cNvPr id="25" name="Shape 19">
            <a:extLst xmlns:a="http://schemas.openxmlformats.org/drawingml/2006/main">
              <a:ext uri="{FF2B5EF4-FFF2-40B4-BE49-F238E27FC236}">
                <a16:creationId xmlns:a16="http://schemas.microsoft.com/office/drawing/2014/main" id="{9A8E64DD-7922-475E-81EC-9ACDAD27BE98}"/>
              </a:ext>
            </a:extLst>
          </p:cNvPr>
          <p:cNvSpPr>
            <a:spLocks xmlns:a="http://schemas.openxmlformats.org/drawingml/2006/main" noGrp="1"/>
          </p:cNvSpPr>
          <p:nvPr/>
        </p:nvSpPr>
        <p:spPr>
          <a:xfrm xmlns:a="http://schemas.openxmlformats.org/drawingml/2006/main">
            <a:off x="4338218" y="4270248"/>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6" name="Shape 20">
            <a:extLst xmlns:a="http://schemas.openxmlformats.org/drawingml/2006/main">
              <a:ext uri="{FF2B5EF4-FFF2-40B4-BE49-F238E27FC236}">
                <a16:creationId xmlns:a16="http://schemas.microsoft.com/office/drawing/2014/main" id="{F6A8D361-9B6A-4B6A-938E-B524239E450E}"/>
              </a:ext>
            </a:extLst>
          </p:cNvPr>
          <p:cNvSpPr>
            <a:spLocks xmlns:a="http://schemas.openxmlformats.org/drawingml/2006/main" noGrp="1"/>
          </p:cNvSpPr>
          <p:nvPr/>
        </p:nvSpPr>
        <p:spPr>
          <a:xfrm xmlns:a="http://schemas.openxmlformats.org/drawingml/2006/main">
            <a:off x="4575962" y="4507992"/>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8" name="Image 4"/>
          <p:cNvPicPr>
            <a:picLocks xmlns:a="http://schemas.openxmlformats.org/drawingml/2006/main" noChangeAspect="1"/>
          </p:cNvPicPr>
          <p:nvPr/>
        </p:nvPicPr>
        <p:blipFill>
          <a:blip xmlns:r="http://schemas.openxmlformats.org/officeDocument/2006/relationships" xmlns:a="http://schemas.openxmlformats.org/drawingml/2006/main" r:embed="Rf35af6c96d194511"/>
          <a:stretch xmlns:a="http://schemas.openxmlformats.org/drawingml/2006/main">
            <a:fillRect l="0" t="0" r="0" b="0"/>
          </a:stretch>
        </p:blipFill>
        <p:spPr>
          <a:xfrm xmlns:a="http://schemas.openxmlformats.org/drawingml/2006/main">
            <a:off x="4707636" y="4639666"/>
            <a:ext cx="285293" cy="28529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F87902DF-8704-4B1A-B4FC-C3598B182CE8}"/>
              </a:ext>
            </a:extLst>
          </p:cNvPr>
          <p:cNvSpPr>
            <a:spLocks xmlns:a="http://schemas.openxmlformats.org/drawingml/2006/main" noGrp="1"/>
          </p:cNvSpPr>
          <p:nvPr/>
        </p:nvSpPr>
        <p:spPr>
          <a:xfrm xmlns:a="http://schemas.openxmlformats.org/drawingml/2006/main">
            <a:off x="5270906" y="4526280"/>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Control layer</a:t>
            </a:r>
            <a:endParaRPr sz="1500"/>
          </a:p>
        </p:txBody>
      </p:sp>
      <p:sp>
        <p:nvSpPr>
          <p:cNvPr id="29" name="Text 22">
            <a:extLst xmlns:a="http://schemas.openxmlformats.org/drawingml/2006/main">
              <a:ext uri="{FF2B5EF4-FFF2-40B4-BE49-F238E27FC236}">
                <a16:creationId xmlns:a16="http://schemas.microsoft.com/office/drawing/2014/main" id="{AEED86C8-A0A8-4B32-A595-55813C783068}"/>
              </a:ext>
            </a:extLst>
          </p:cNvPr>
          <p:cNvSpPr>
            <a:spLocks xmlns:a="http://schemas.openxmlformats.org/drawingml/2006/main" noGrp="1"/>
          </p:cNvSpPr>
          <p:nvPr/>
        </p:nvSpPr>
        <p:spPr>
          <a:xfrm xmlns:a="http://schemas.openxmlformats.org/drawingml/2006/main">
            <a:off x="4594250" y="5184648"/>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Access, consent, audit and change governance bound execution.</a:t>
            </a:r>
            <a:endParaRPr sz="1100"/>
          </a:p>
        </p:txBody>
      </p:sp>
      <p:sp>
        <p:nvSpPr>
          <p:cNvPr id="30" name="Shape 23">
            <a:extLst xmlns:a="http://schemas.openxmlformats.org/drawingml/2006/main">
              <a:ext uri="{FF2B5EF4-FFF2-40B4-BE49-F238E27FC236}">
                <a16:creationId xmlns:a16="http://schemas.microsoft.com/office/drawing/2014/main" id="{04D359CA-DB1C-45B3-8EFB-01A737DDA2D7}"/>
              </a:ext>
            </a:extLst>
          </p:cNvPr>
          <p:cNvSpPr>
            <a:spLocks xmlns:a="http://schemas.openxmlformats.org/drawingml/2006/main" noGrp="1"/>
          </p:cNvSpPr>
          <p:nvPr/>
        </p:nvSpPr>
        <p:spPr>
          <a:xfrm xmlns:a="http://schemas.openxmlformats.org/drawingml/2006/main">
            <a:off x="8127797" y="4270248"/>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1" name="Shape 24">
            <a:extLst xmlns:a="http://schemas.openxmlformats.org/drawingml/2006/main">
              <a:ext uri="{FF2B5EF4-FFF2-40B4-BE49-F238E27FC236}">
                <a16:creationId xmlns:a16="http://schemas.microsoft.com/office/drawing/2014/main" id="{33984CCE-7243-4A78-8190-F09E36111F37}"/>
              </a:ext>
            </a:extLst>
          </p:cNvPr>
          <p:cNvSpPr>
            <a:spLocks xmlns:a="http://schemas.openxmlformats.org/drawingml/2006/main" noGrp="1"/>
          </p:cNvSpPr>
          <p:nvPr/>
        </p:nvSpPr>
        <p:spPr>
          <a:xfrm xmlns:a="http://schemas.openxmlformats.org/drawingml/2006/main">
            <a:off x="8365541" y="4507992"/>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3" name="Image 5"/>
          <p:cNvPicPr>
            <a:picLocks xmlns:a="http://schemas.openxmlformats.org/drawingml/2006/main" noChangeAspect="1"/>
          </p:cNvPicPr>
          <p:nvPr/>
        </p:nvPicPr>
        <p:blipFill>
          <a:blip xmlns:r="http://schemas.openxmlformats.org/officeDocument/2006/relationships" xmlns:a="http://schemas.openxmlformats.org/drawingml/2006/main" r:embed="Rf1455513ecd744ee"/>
          <a:stretch xmlns:a="http://schemas.openxmlformats.org/drawingml/2006/main">
            <a:fillRect l="0" t="0" r="0" b="0"/>
          </a:stretch>
        </p:blipFill>
        <p:spPr>
          <a:xfrm xmlns:a="http://schemas.openxmlformats.org/drawingml/2006/main">
            <a:off x="8497214" y="4639666"/>
            <a:ext cx="285293" cy="285293"/>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D27CC923-351F-4E31-BED2-7C0124C22F72}"/>
              </a:ext>
            </a:extLst>
          </p:cNvPr>
          <p:cNvSpPr>
            <a:spLocks xmlns:a="http://schemas.openxmlformats.org/drawingml/2006/main" noGrp="1"/>
          </p:cNvSpPr>
          <p:nvPr/>
        </p:nvSpPr>
        <p:spPr>
          <a:xfrm xmlns:a="http://schemas.openxmlformats.org/drawingml/2006/main">
            <a:off x="9060485" y="4526280"/>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Insight layer</a:t>
            </a:r>
            <a:endParaRPr sz="1500"/>
          </a:p>
        </p:txBody>
      </p:sp>
      <p:sp>
        <p:nvSpPr>
          <p:cNvPr id="34" name="Text 26">
            <a:extLst xmlns:a="http://schemas.openxmlformats.org/drawingml/2006/main">
              <a:ext uri="{FF2B5EF4-FFF2-40B4-BE49-F238E27FC236}">
                <a16:creationId xmlns:a16="http://schemas.microsoft.com/office/drawing/2014/main" id="{5ED227FC-78F9-422D-8993-80C4C415A55D}"/>
              </a:ext>
            </a:extLst>
          </p:cNvPr>
          <p:cNvSpPr>
            <a:spLocks xmlns:a="http://schemas.openxmlformats.org/drawingml/2006/main" noGrp="1"/>
          </p:cNvSpPr>
          <p:nvPr/>
        </p:nvSpPr>
        <p:spPr>
          <a:xfrm xmlns:a="http://schemas.openxmlformats.org/drawingml/2006/main">
            <a:off x="8383829" y="5184648"/>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Operational and personalized reports support action and review.</a:t>
            </a:r>
            <a:endParaRPr sz="1100"/>
          </a:p>
        </p:txBody>
      </p:sp>
      <p:sp>
        <p:nvSpPr>
          <p:cNvPr id="35" name="Text 27">
            <a:extLst xmlns:a="http://schemas.openxmlformats.org/drawingml/2006/main">
              <a:ext uri="{FF2B5EF4-FFF2-40B4-BE49-F238E27FC236}">
                <a16:creationId xmlns:a16="http://schemas.microsoft.com/office/drawing/2014/main" id="{689A5C8E-81BB-4138-B60A-9B69CB698F5B}"/>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36" name="Text 28">
            <a:extLst xmlns:a="http://schemas.openxmlformats.org/drawingml/2006/main">
              <a:ext uri="{FF2B5EF4-FFF2-40B4-BE49-F238E27FC236}">
                <a16:creationId xmlns:a16="http://schemas.microsoft.com/office/drawing/2014/main" id="{1DB9A733-5662-4FFC-B356-0C7E84EE19CE}"/>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07</a:t>
            </a:r>
            <a:endParaRPr sz="900"/>
          </a:p>
        </p:txBody>
      </p:sp>
    </p:spTree>
    <p:extLst>
      <p:ext uri="{BB962C8B-B14F-4D97-AF65-F5344CB8AC3E}">
        <p14:creationId xmlns:p14="http://schemas.microsoft.com/office/powerpoint/2010/main" val="18848476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93356D-3D55-499A-8BF5-E88708A93337}"/>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END-TO-END JOURNEY</a:t>
            </a:r>
            <a:endParaRPr sz="1200"/>
          </a:p>
        </p:txBody>
      </p:sp>
      <p:sp>
        <p:nvSpPr>
          <p:cNvPr id="3" name="Text 1">
            <a:extLst xmlns:a="http://schemas.openxmlformats.org/drawingml/2006/main">
              <a:ext uri="{FF2B5EF4-FFF2-40B4-BE49-F238E27FC236}">
                <a16:creationId xmlns:a16="http://schemas.microsoft.com/office/drawing/2014/main" id="{74D2F228-35E5-4F9F-B7F5-EA6AEA5D172F}"/>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Context becomes accountable action</a:t>
            </a:r>
            <a:endParaRPr sz="3000"/>
          </a:p>
        </p:txBody>
      </p:sp>
      <p:sp>
        <p:nvSpPr>
          <p:cNvPr id="4" name="Text 2">
            <a:extLst xmlns:a="http://schemas.openxmlformats.org/drawingml/2006/main">
              <a:ext uri="{FF2B5EF4-FFF2-40B4-BE49-F238E27FC236}">
                <a16:creationId xmlns:a16="http://schemas.microsoft.com/office/drawing/2014/main" id="{44C1B37F-DB48-4BA7-88AA-FC3455EA8150}"/>
              </a:ext>
            </a:extLst>
          </p:cNvPr>
          <p:cNvSpPr>
            <a:spLocks xmlns:a="http://schemas.openxmlformats.org/drawingml/2006/main" noGrp="1"/>
          </p:cNvSpPr>
          <p:nvPr/>
        </p:nvSpPr>
        <p:spPr>
          <a:xfrm xmlns:a="http://schemas.openxmlformats.org/drawingml/2006/main">
            <a:off x="548640" y="137160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F3A5F"/>
                </a:solidFill>
                <a:latin typeface="Poppins"/>
                <a:ea typeface="Poppins"/>
                <a:cs typeface="Poppins"/>
              </a:rPr>
              <a:t>Six stages; every hand-off retains owner, state and evidence</a:t>
            </a:r>
            <a:endParaRPr sz="1100"/>
          </a:p>
        </p:txBody>
      </p:sp>
      <p:sp>
        <p:nvSpPr>
          <p:cNvPr id="5" name="Shape 3">
            <a:extLst xmlns:a="http://schemas.openxmlformats.org/drawingml/2006/main">
              <a:ext uri="{FF2B5EF4-FFF2-40B4-BE49-F238E27FC236}">
                <a16:creationId xmlns:a16="http://schemas.microsoft.com/office/drawing/2014/main" id="{8D134AD2-FB9C-4FD9-9B75-E5858F999669}"/>
              </a:ext>
            </a:extLst>
          </p:cNvPr>
          <p:cNvSpPr>
            <a:spLocks xmlns:a="http://schemas.openxmlformats.org/drawingml/2006/main" noGrp="1"/>
          </p:cNvSpPr>
          <p:nvPr/>
        </p:nvSpPr>
        <p:spPr>
          <a:xfrm xmlns:a="http://schemas.openxmlformats.org/drawingml/2006/main">
            <a:off x="548640" y="1773936"/>
            <a:ext cx="1529029" cy="914400"/>
          </a:xfrm>
          <a:prstGeom xmlns:a="http://schemas.openxmlformats.org/drawingml/2006/main" prst="roundRect">
            <a:avLst>
              <a:gd name="adj" fmla="val 9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6" name="Text 4">
            <a:extLst xmlns:a="http://schemas.openxmlformats.org/drawingml/2006/main">
              <a:ext uri="{FF2B5EF4-FFF2-40B4-BE49-F238E27FC236}">
                <a16:creationId xmlns:a16="http://schemas.microsoft.com/office/drawing/2014/main" id="{788D534E-1FFB-47B2-A88C-A31096146349}"/>
              </a:ext>
            </a:extLst>
          </p:cNvPr>
          <p:cNvSpPr>
            <a:spLocks xmlns:a="http://schemas.openxmlformats.org/drawingml/2006/main" noGrp="1"/>
          </p:cNvSpPr>
          <p:nvPr/>
        </p:nvSpPr>
        <p:spPr>
          <a:xfrm xmlns:a="http://schemas.openxmlformats.org/drawingml/2006/main">
            <a:off x="658368"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1</a:t>
            </a:r>
            <a:endParaRPr sz="1600"/>
          </a:p>
        </p:txBody>
      </p:sp>
      <p:sp>
        <p:nvSpPr>
          <p:cNvPr id="7" name="Text 5">
            <a:extLst xmlns:a="http://schemas.openxmlformats.org/drawingml/2006/main">
              <a:ext uri="{FF2B5EF4-FFF2-40B4-BE49-F238E27FC236}">
                <a16:creationId xmlns:a16="http://schemas.microsoft.com/office/drawing/2014/main" id="{E006E028-3FF1-4F25-81C6-B151513779F2}"/>
              </a:ext>
            </a:extLst>
          </p:cNvPr>
          <p:cNvSpPr>
            <a:spLocks xmlns:a="http://schemas.openxmlformats.org/drawingml/2006/main" noGrp="1"/>
          </p:cNvSpPr>
          <p:nvPr/>
        </p:nvSpPr>
        <p:spPr>
          <a:xfrm xmlns:a="http://schemas.openxmlformats.org/drawingml/2006/main">
            <a:off x="640080"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Customer intelligence</a:t>
            </a:r>
            <a:endParaRPr sz="120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738b2d58d2d24dbb"/>
          <a:stretch xmlns:a="http://schemas.openxmlformats.org/drawingml/2006/main">
            <a:fillRect l="0" t="0" r="0" b="0"/>
          </a:stretch>
        </p:blipFill>
        <p:spPr>
          <a:xfrm xmlns:a="http://schemas.openxmlformats.org/drawingml/2006/main">
            <a:off x="2159965" y="2121408"/>
            <a:ext cx="219456" cy="219456"/>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AC8B9E88-2B09-4C8D-A22C-40ED2F33710A}"/>
              </a:ext>
            </a:extLst>
          </p:cNvPr>
          <p:cNvSpPr>
            <a:spLocks xmlns:a="http://schemas.openxmlformats.org/drawingml/2006/main" noGrp="1"/>
          </p:cNvSpPr>
          <p:nvPr/>
        </p:nvSpPr>
        <p:spPr>
          <a:xfrm xmlns:a="http://schemas.openxmlformats.org/drawingml/2006/main">
            <a:off x="2461717" y="1773936"/>
            <a:ext cx="1529029" cy="914400"/>
          </a:xfrm>
          <a:prstGeom xmlns:a="http://schemas.openxmlformats.org/drawingml/2006/main" prst="roundRect">
            <a:avLst>
              <a:gd name="adj" fmla="val 9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10" name="Text 7">
            <a:extLst xmlns:a="http://schemas.openxmlformats.org/drawingml/2006/main">
              <a:ext uri="{FF2B5EF4-FFF2-40B4-BE49-F238E27FC236}">
                <a16:creationId xmlns:a16="http://schemas.microsoft.com/office/drawing/2014/main" id="{81E3DDC1-4269-4A1B-9F52-616E9A094A2A}"/>
              </a:ext>
            </a:extLst>
          </p:cNvPr>
          <p:cNvSpPr>
            <a:spLocks xmlns:a="http://schemas.openxmlformats.org/drawingml/2006/main" noGrp="1"/>
          </p:cNvSpPr>
          <p:nvPr/>
        </p:nvSpPr>
        <p:spPr>
          <a:xfrm xmlns:a="http://schemas.openxmlformats.org/drawingml/2006/main">
            <a:off x="2571445"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2</a:t>
            </a:r>
            <a:endParaRPr sz="1600"/>
          </a:p>
        </p:txBody>
      </p:sp>
      <p:sp>
        <p:nvSpPr>
          <p:cNvPr id="11" name="Text 8">
            <a:extLst xmlns:a="http://schemas.openxmlformats.org/drawingml/2006/main">
              <a:ext uri="{FF2B5EF4-FFF2-40B4-BE49-F238E27FC236}">
                <a16:creationId xmlns:a16="http://schemas.microsoft.com/office/drawing/2014/main" id="{62D0186B-491A-47B5-9B3A-A108E183B6EB}"/>
              </a:ext>
            </a:extLst>
          </p:cNvPr>
          <p:cNvSpPr>
            <a:spLocks xmlns:a="http://schemas.openxmlformats.org/drawingml/2006/main" noGrp="1"/>
          </p:cNvSpPr>
          <p:nvPr/>
        </p:nvSpPr>
        <p:spPr>
          <a:xfrm xmlns:a="http://schemas.openxmlformats.org/drawingml/2006/main">
            <a:off x="2553157"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Sales orchestration</a:t>
            </a:r>
            <a:endParaRPr sz="1200"/>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7cf1aaec235944f2"/>
          <a:stretch xmlns:a="http://schemas.openxmlformats.org/drawingml/2006/main">
            <a:fillRect l="0" t="0" r="0" b="0"/>
          </a:stretch>
        </p:blipFill>
        <p:spPr>
          <a:xfrm xmlns:a="http://schemas.openxmlformats.org/drawingml/2006/main">
            <a:off x="4073042" y="2121408"/>
            <a:ext cx="219456" cy="219456"/>
          </a:xfrm>
          <a:prstGeom xmlns:a="http://schemas.openxmlformats.org/drawingml/2006/main" prst="rect">
            <a:avLst/>
          </a:prstGeom>
        </p:spPr>
      </p:pic>
      <p:sp>
        <p:nvSpPr>
          <p:cNvPr id="13" name="Shape 9">
            <a:extLst xmlns:a="http://schemas.openxmlformats.org/drawingml/2006/main">
              <a:ext uri="{FF2B5EF4-FFF2-40B4-BE49-F238E27FC236}">
                <a16:creationId xmlns:a16="http://schemas.microsoft.com/office/drawing/2014/main" id="{20804A77-0136-482D-9E77-C5CBB955DB81}"/>
              </a:ext>
            </a:extLst>
          </p:cNvPr>
          <p:cNvSpPr>
            <a:spLocks xmlns:a="http://schemas.openxmlformats.org/drawingml/2006/main" noGrp="1"/>
          </p:cNvSpPr>
          <p:nvPr/>
        </p:nvSpPr>
        <p:spPr>
          <a:xfrm xmlns:a="http://schemas.openxmlformats.org/drawingml/2006/main">
            <a:off x="4374794" y="1773936"/>
            <a:ext cx="1529029" cy="914400"/>
          </a:xfrm>
          <a:prstGeom xmlns:a="http://schemas.openxmlformats.org/drawingml/2006/main" prst="roundRect">
            <a:avLst>
              <a:gd name="adj" fmla="val 9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14" name="Text 10">
            <a:extLst xmlns:a="http://schemas.openxmlformats.org/drawingml/2006/main">
              <a:ext uri="{FF2B5EF4-FFF2-40B4-BE49-F238E27FC236}">
                <a16:creationId xmlns:a16="http://schemas.microsoft.com/office/drawing/2014/main" id="{FB337F0E-CC4F-41D0-B640-ACC36EB1ACA6}"/>
              </a:ext>
            </a:extLst>
          </p:cNvPr>
          <p:cNvSpPr>
            <a:spLocks xmlns:a="http://schemas.openxmlformats.org/drawingml/2006/main" noGrp="1"/>
          </p:cNvSpPr>
          <p:nvPr/>
        </p:nvSpPr>
        <p:spPr>
          <a:xfrm xmlns:a="http://schemas.openxmlformats.org/drawingml/2006/main">
            <a:off x="4484522"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3</a:t>
            </a:r>
            <a:endParaRPr sz="1600"/>
          </a:p>
        </p:txBody>
      </p:sp>
      <p:sp>
        <p:nvSpPr>
          <p:cNvPr id="15" name="Text 11">
            <a:extLst xmlns:a="http://schemas.openxmlformats.org/drawingml/2006/main">
              <a:ext uri="{FF2B5EF4-FFF2-40B4-BE49-F238E27FC236}">
                <a16:creationId xmlns:a16="http://schemas.microsoft.com/office/drawing/2014/main" id="{6D658F63-E69F-4165-91F0-B9EEF3BB7B3B}"/>
              </a:ext>
            </a:extLst>
          </p:cNvPr>
          <p:cNvSpPr>
            <a:spLocks xmlns:a="http://schemas.openxmlformats.org/drawingml/2006/main" noGrp="1"/>
          </p:cNvSpPr>
          <p:nvPr/>
        </p:nvSpPr>
        <p:spPr>
          <a:xfrm xmlns:a="http://schemas.openxmlformats.org/drawingml/2006/main">
            <a:off x="4466234"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Digital onboarding</a:t>
            </a:r>
            <a:endParaRPr sz="1200"/>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67b4d4087f7e4697"/>
          <a:stretch xmlns:a="http://schemas.openxmlformats.org/drawingml/2006/main">
            <a:fillRect l="0" t="0" r="0" b="0"/>
          </a:stretch>
        </p:blipFill>
        <p:spPr>
          <a:xfrm xmlns:a="http://schemas.openxmlformats.org/drawingml/2006/main">
            <a:off x="5986120" y="2121408"/>
            <a:ext cx="219456" cy="219456"/>
          </a:xfrm>
          <a:prstGeom xmlns:a="http://schemas.openxmlformats.org/drawingml/2006/main" prst="rect">
            <a:avLst/>
          </a:prstGeom>
        </p:spPr>
      </p:pic>
      <p:sp>
        <p:nvSpPr>
          <p:cNvPr id="17" name="Shape 12">
            <a:extLst xmlns:a="http://schemas.openxmlformats.org/drawingml/2006/main">
              <a:ext uri="{FF2B5EF4-FFF2-40B4-BE49-F238E27FC236}">
                <a16:creationId xmlns:a16="http://schemas.microsoft.com/office/drawing/2014/main" id="{040AED0B-9C32-4C52-AA46-15CF6A385F03}"/>
              </a:ext>
            </a:extLst>
          </p:cNvPr>
          <p:cNvSpPr>
            <a:spLocks xmlns:a="http://schemas.openxmlformats.org/drawingml/2006/main" noGrp="1"/>
          </p:cNvSpPr>
          <p:nvPr/>
        </p:nvSpPr>
        <p:spPr>
          <a:xfrm xmlns:a="http://schemas.openxmlformats.org/drawingml/2006/main">
            <a:off x="6287872" y="1773936"/>
            <a:ext cx="1529029" cy="914400"/>
          </a:xfrm>
          <a:prstGeom xmlns:a="http://schemas.openxmlformats.org/drawingml/2006/main" prst="roundRect">
            <a:avLst>
              <a:gd name="adj" fmla="val 9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18" name="Text 13">
            <a:extLst xmlns:a="http://schemas.openxmlformats.org/drawingml/2006/main">
              <a:ext uri="{FF2B5EF4-FFF2-40B4-BE49-F238E27FC236}">
                <a16:creationId xmlns:a16="http://schemas.microsoft.com/office/drawing/2014/main" id="{1CCBB630-7D6A-40C4-BA2F-DA23823DCB88}"/>
              </a:ext>
            </a:extLst>
          </p:cNvPr>
          <p:cNvSpPr>
            <a:spLocks xmlns:a="http://schemas.openxmlformats.org/drawingml/2006/main" noGrp="1"/>
          </p:cNvSpPr>
          <p:nvPr/>
        </p:nvSpPr>
        <p:spPr>
          <a:xfrm xmlns:a="http://schemas.openxmlformats.org/drawingml/2006/main">
            <a:off x="6397600"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4</a:t>
            </a:r>
            <a:endParaRPr sz="1600"/>
          </a:p>
        </p:txBody>
      </p:sp>
      <p:sp>
        <p:nvSpPr>
          <p:cNvPr id="19" name="Text 14">
            <a:extLst xmlns:a="http://schemas.openxmlformats.org/drawingml/2006/main">
              <a:ext uri="{FF2B5EF4-FFF2-40B4-BE49-F238E27FC236}">
                <a16:creationId xmlns:a16="http://schemas.microsoft.com/office/drawing/2014/main" id="{4F2CD876-FF2A-4FE6-8DF0-5F3A7A4F7C82}"/>
              </a:ext>
            </a:extLst>
          </p:cNvPr>
          <p:cNvSpPr>
            <a:spLocks xmlns:a="http://schemas.openxmlformats.org/drawingml/2006/main" noGrp="1"/>
          </p:cNvSpPr>
          <p:nvPr/>
        </p:nvSpPr>
        <p:spPr>
          <a:xfrm xmlns:a="http://schemas.openxmlformats.org/drawingml/2006/main">
            <a:off x="6379312"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Digital lending</a:t>
            </a:r>
            <a:endParaRPr sz="1200"/>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ea2b56b397b64793"/>
          <a:stretch xmlns:a="http://schemas.openxmlformats.org/drawingml/2006/main">
            <a:fillRect l="0" t="0" r="0" b="0"/>
          </a:stretch>
        </p:blipFill>
        <p:spPr>
          <a:xfrm xmlns:a="http://schemas.openxmlformats.org/drawingml/2006/main">
            <a:off x="7899197" y="2121408"/>
            <a:ext cx="219456" cy="219456"/>
          </a:xfrm>
          <a:prstGeom xmlns:a="http://schemas.openxmlformats.org/drawingml/2006/main" prst="rect">
            <a:avLst/>
          </a:prstGeom>
        </p:spPr>
      </p:pic>
      <p:sp>
        <p:nvSpPr>
          <p:cNvPr id="21" name="Shape 15">
            <a:extLst xmlns:a="http://schemas.openxmlformats.org/drawingml/2006/main">
              <a:ext uri="{FF2B5EF4-FFF2-40B4-BE49-F238E27FC236}">
                <a16:creationId xmlns:a16="http://schemas.microsoft.com/office/drawing/2014/main" id="{B18EE0FC-E588-47B3-A075-54A48A343FE3}"/>
              </a:ext>
            </a:extLst>
          </p:cNvPr>
          <p:cNvSpPr>
            <a:spLocks xmlns:a="http://schemas.openxmlformats.org/drawingml/2006/main" noGrp="1"/>
          </p:cNvSpPr>
          <p:nvPr/>
        </p:nvSpPr>
        <p:spPr>
          <a:xfrm xmlns:a="http://schemas.openxmlformats.org/drawingml/2006/main">
            <a:off x="8200949" y="1773936"/>
            <a:ext cx="1529029" cy="914400"/>
          </a:xfrm>
          <a:prstGeom xmlns:a="http://schemas.openxmlformats.org/drawingml/2006/main" prst="roundRect">
            <a:avLst>
              <a:gd name="adj" fmla="val 9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22" name="Text 16">
            <a:extLst xmlns:a="http://schemas.openxmlformats.org/drawingml/2006/main">
              <a:ext uri="{FF2B5EF4-FFF2-40B4-BE49-F238E27FC236}">
                <a16:creationId xmlns:a16="http://schemas.microsoft.com/office/drawing/2014/main" id="{D261B6CE-0932-4812-843E-6277F1D0E5BF}"/>
              </a:ext>
            </a:extLst>
          </p:cNvPr>
          <p:cNvSpPr>
            <a:spLocks xmlns:a="http://schemas.openxmlformats.org/drawingml/2006/main" noGrp="1"/>
          </p:cNvSpPr>
          <p:nvPr/>
        </p:nvSpPr>
        <p:spPr>
          <a:xfrm xmlns:a="http://schemas.openxmlformats.org/drawingml/2006/main">
            <a:off x="8310677"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5</a:t>
            </a:r>
            <a:endParaRPr sz="1600"/>
          </a:p>
        </p:txBody>
      </p:sp>
      <p:sp>
        <p:nvSpPr>
          <p:cNvPr id="23" name="Text 17">
            <a:extLst xmlns:a="http://schemas.openxmlformats.org/drawingml/2006/main">
              <a:ext uri="{FF2B5EF4-FFF2-40B4-BE49-F238E27FC236}">
                <a16:creationId xmlns:a16="http://schemas.microsoft.com/office/drawing/2014/main" id="{899B9F75-9953-4F9B-9020-BE26CFF3ADE2}"/>
              </a:ext>
            </a:extLst>
          </p:cNvPr>
          <p:cNvSpPr>
            <a:spLocks xmlns:a="http://schemas.openxmlformats.org/drawingml/2006/main" noGrp="1"/>
          </p:cNvSpPr>
          <p:nvPr/>
        </p:nvSpPr>
        <p:spPr>
          <a:xfrm xmlns:a="http://schemas.openxmlformats.org/drawingml/2006/main">
            <a:off x="8292389"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Smart relationship management</a:t>
            </a:r>
            <a:endParaRPr sz="1200"/>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78b7943993d3456f"/>
          <a:stretch xmlns:a="http://schemas.openxmlformats.org/drawingml/2006/main">
            <a:fillRect l="0" t="0" r="0" b="0"/>
          </a:stretch>
        </p:blipFill>
        <p:spPr>
          <a:xfrm xmlns:a="http://schemas.openxmlformats.org/drawingml/2006/main">
            <a:off x="9812274" y="2121408"/>
            <a:ext cx="219456" cy="219456"/>
          </a:xfrm>
          <a:prstGeom xmlns:a="http://schemas.openxmlformats.org/drawingml/2006/main" prst="rect">
            <a:avLst/>
          </a:prstGeom>
        </p:spPr>
      </p:pic>
      <p:sp>
        <p:nvSpPr>
          <p:cNvPr id="25" name="Shape 18">
            <a:extLst xmlns:a="http://schemas.openxmlformats.org/drawingml/2006/main">
              <a:ext uri="{FF2B5EF4-FFF2-40B4-BE49-F238E27FC236}">
                <a16:creationId xmlns:a16="http://schemas.microsoft.com/office/drawing/2014/main" id="{A11519EC-D3EF-45CD-A6B7-4ADBE7AA6E99}"/>
              </a:ext>
            </a:extLst>
          </p:cNvPr>
          <p:cNvSpPr>
            <a:spLocks xmlns:a="http://schemas.openxmlformats.org/drawingml/2006/main" noGrp="1"/>
          </p:cNvSpPr>
          <p:nvPr/>
        </p:nvSpPr>
        <p:spPr>
          <a:xfrm xmlns:a="http://schemas.openxmlformats.org/drawingml/2006/main">
            <a:off x="10114026" y="1773936"/>
            <a:ext cx="1529029" cy="914400"/>
          </a:xfrm>
          <a:prstGeom xmlns:a="http://schemas.openxmlformats.org/drawingml/2006/main" prst="roundRect">
            <a:avLst>
              <a:gd name="adj" fmla="val 9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26" name="Text 19">
            <a:extLst xmlns:a="http://schemas.openxmlformats.org/drawingml/2006/main">
              <a:ext uri="{FF2B5EF4-FFF2-40B4-BE49-F238E27FC236}">
                <a16:creationId xmlns:a16="http://schemas.microsoft.com/office/drawing/2014/main" id="{29B88318-EF59-4B3E-870D-289E462CC41B}"/>
              </a:ext>
            </a:extLst>
          </p:cNvPr>
          <p:cNvSpPr>
            <a:spLocks xmlns:a="http://schemas.openxmlformats.org/drawingml/2006/main" noGrp="1"/>
          </p:cNvSpPr>
          <p:nvPr/>
        </p:nvSpPr>
        <p:spPr>
          <a:xfrm xmlns:a="http://schemas.openxmlformats.org/drawingml/2006/main">
            <a:off x="10223754"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6</a:t>
            </a:r>
            <a:endParaRPr sz="1600"/>
          </a:p>
        </p:txBody>
      </p:sp>
      <p:sp>
        <p:nvSpPr>
          <p:cNvPr id="27" name="Text 20">
            <a:extLst xmlns:a="http://schemas.openxmlformats.org/drawingml/2006/main">
              <a:ext uri="{FF2B5EF4-FFF2-40B4-BE49-F238E27FC236}">
                <a16:creationId xmlns:a16="http://schemas.microsoft.com/office/drawing/2014/main" id="{DBC6AC7A-DEE8-41AF-BDA4-B678DEBEF7FA}"/>
              </a:ext>
            </a:extLst>
          </p:cNvPr>
          <p:cNvSpPr>
            <a:spLocks xmlns:a="http://schemas.openxmlformats.org/drawingml/2006/main" noGrp="1"/>
          </p:cNvSpPr>
          <p:nvPr/>
        </p:nvSpPr>
        <p:spPr>
          <a:xfrm xmlns:a="http://schemas.openxmlformats.org/drawingml/2006/main">
            <a:off x="10205466"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Service and reporting</a:t>
            </a:r>
            <a:endParaRPr sz="1200"/>
          </a:p>
        </p:txBody>
      </p:sp>
      <p:sp>
        <p:nvSpPr>
          <p:cNvPr id="28" name="Shape 21">
            <a:extLst xmlns:a="http://schemas.openxmlformats.org/drawingml/2006/main">
              <a:ext uri="{FF2B5EF4-FFF2-40B4-BE49-F238E27FC236}">
                <a16:creationId xmlns:a16="http://schemas.microsoft.com/office/drawing/2014/main" id="{0D6722E1-D789-47F1-97F4-46C2434EE0A1}"/>
              </a:ext>
            </a:extLst>
          </p:cNvPr>
          <p:cNvSpPr>
            <a:spLocks xmlns:a="http://schemas.openxmlformats.org/drawingml/2006/main" noGrp="1"/>
          </p:cNvSpPr>
          <p:nvPr/>
        </p:nvSpPr>
        <p:spPr>
          <a:xfrm xmlns:a="http://schemas.openxmlformats.org/drawingml/2006/main">
            <a:off x="548640" y="3054096"/>
            <a:ext cx="5391760" cy="2834640"/>
          </a:xfrm>
          <a:prstGeom xmlns:a="http://schemas.openxmlformats.org/drawingml/2006/main" prst="roundRect">
            <a:avLst>
              <a:gd name="adj" fmla="val 3548"/>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9" name="Shape 22">
            <a:extLst xmlns:a="http://schemas.openxmlformats.org/drawingml/2006/main">
              <a:ext uri="{FF2B5EF4-FFF2-40B4-BE49-F238E27FC236}">
                <a16:creationId xmlns:a16="http://schemas.microsoft.com/office/drawing/2014/main" id="{F1827A41-86BA-432A-9D6A-EBB79781B88A}"/>
              </a:ext>
            </a:extLst>
          </p:cNvPr>
          <p:cNvSpPr>
            <a:spLocks xmlns:a="http://schemas.openxmlformats.org/drawingml/2006/main" noGrp="1"/>
          </p:cNvSpPr>
          <p:nvPr/>
        </p:nvSpPr>
        <p:spPr>
          <a:xfrm xmlns:a="http://schemas.openxmlformats.org/drawingml/2006/main">
            <a:off x="804672" y="3291840"/>
            <a:ext cx="457200" cy="457200"/>
          </a:xfrm>
          <a:prstGeom xmlns:a="http://schemas.openxmlformats.org/drawingml/2006/main" prst="roundRect">
            <a:avLst>
              <a:gd name="adj" fmla="val 24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pic>
        <p:nvPicPr>
          <p:cNvPr id="75" name="Image 5"/>
          <p:cNvPicPr>
            <a:picLocks xmlns:a="http://schemas.openxmlformats.org/drawingml/2006/main" noChangeAspect="1"/>
          </p:cNvPicPr>
          <p:nvPr/>
        </p:nvPicPr>
        <p:blipFill>
          <a:blip xmlns:r="http://schemas.openxmlformats.org/officeDocument/2006/relationships" xmlns:a="http://schemas.openxmlformats.org/drawingml/2006/main" r:embed="R57bcb276b7be40ab"/>
          <a:stretch xmlns:a="http://schemas.openxmlformats.org/drawingml/2006/main">
            <a:fillRect l="0" t="0" r="0" b="0"/>
          </a:stretch>
        </p:blipFill>
        <p:spPr>
          <a:xfrm xmlns:a="http://schemas.openxmlformats.org/drawingml/2006/main">
            <a:off x="914400" y="3401568"/>
            <a:ext cx="237744" cy="237744"/>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A56E6C05-5A20-4058-8C06-DD3657CF7BE0}"/>
              </a:ext>
            </a:extLst>
          </p:cNvPr>
          <p:cNvSpPr>
            <a:spLocks xmlns:a="http://schemas.openxmlformats.org/drawingml/2006/main" noGrp="1"/>
          </p:cNvSpPr>
          <p:nvPr/>
        </p:nvSpPr>
        <p:spPr>
          <a:xfrm xmlns:a="http://schemas.openxmlformats.org/drawingml/2006/main">
            <a:off x="1389888" y="3291840"/>
            <a:ext cx="438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Primary operating path</a:t>
            </a:r>
            <a:endParaRPr sz="1500"/>
          </a:p>
        </p:txBody>
      </p:sp>
      <p:sp>
        <p:nvSpPr>
          <p:cNvPr id="32" name="Text 24">
            <a:extLst xmlns:a="http://schemas.openxmlformats.org/drawingml/2006/main">
              <a:ext uri="{FF2B5EF4-FFF2-40B4-BE49-F238E27FC236}">
                <a16:creationId xmlns:a16="http://schemas.microsoft.com/office/drawing/2014/main" id="{CB007B42-8255-478A-85C0-5EE54840C93F}"/>
              </a:ext>
            </a:extLst>
          </p:cNvPr>
          <p:cNvSpPr>
            <a:spLocks xmlns:a="http://schemas.openxmlformats.org/drawingml/2006/main" noGrp="1"/>
          </p:cNvSpPr>
          <p:nvPr/>
        </p:nvSpPr>
        <p:spPr>
          <a:xfrm xmlns:a="http://schemas.openxmlformats.org/drawingml/2006/main">
            <a:off x="822960" y="3840480"/>
            <a:ext cx="4879696"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100">
                <a:solidFill>
                  <a:srgbClr val="2A231F"/>
                </a:solidFill>
                <a:latin typeface="Calibri"/>
                <a:ea typeface="Calibri"/>
                <a:cs typeface="Calibri"/>
              </a:rPr>
              <a:t>A unified profile supports contextual engagement and prioritization.</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Lead and opportunity workflows coordinate next actions across channels.</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Guided journeys connect acquisition, verification and fulfillment.</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Origination and relationship context support a connected lending journey.</a:t>
            </a:r>
            <a:endParaRPr sz="1100"/>
          </a:p>
        </p:txBody>
      </p:sp>
      <p:sp>
        <p:nvSpPr>
          <p:cNvPr id="33" name="Shape 25">
            <a:extLst xmlns:a="http://schemas.openxmlformats.org/drawingml/2006/main">
              <a:ext uri="{FF2B5EF4-FFF2-40B4-BE49-F238E27FC236}">
                <a16:creationId xmlns:a16="http://schemas.microsoft.com/office/drawing/2014/main" id="{4490F665-B73B-42A7-B16F-CFA7E76F5F13}"/>
              </a:ext>
            </a:extLst>
          </p:cNvPr>
          <p:cNvSpPr>
            <a:spLocks xmlns:a="http://schemas.openxmlformats.org/drawingml/2006/main" noGrp="1"/>
          </p:cNvSpPr>
          <p:nvPr/>
        </p:nvSpPr>
        <p:spPr>
          <a:xfrm xmlns:a="http://schemas.openxmlformats.org/drawingml/2006/main">
            <a:off x="6251296" y="3054096"/>
            <a:ext cx="5391760" cy="2834640"/>
          </a:xfrm>
          <a:prstGeom xmlns:a="http://schemas.openxmlformats.org/drawingml/2006/main" prst="roundRect">
            <a:avLst>
              <a:gd name="adj" fmla="val 3548"/>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4" name="Shape 26">
            <a:extLst xmlns:a="http://schemas.openxmlformats.org/drawingml/2006/main">
              <a:ext uri="{FF2B5EF4-FFF2-40B4-BE49-F238E27FC236}">
                <a16:creationId xmlns:a16="http://schemas.microsoft.com/office/drawing/2014/main" id="{EFDA9511-6E6D-4A0E-97CA-EB9DC60A7D78}"/>
              </a:ext>
            </a:extLst>
          </p:cNvPr>
          <p:cNvSpPr>
            <a:spLocks xmlns:a="http://schemas.openxmlformats.org/drawingml/2006/main" noGrp="1"/>
          </p:cNvSpPr>
          <p:nvPr/>
        </p:nvSpPr>
        <p:spPr>
          <a:xfrm xmlns:a="http://schemas.openxmlformats.org/drawingml/2006/main">
            <a:off x="6507328" y="3291840"/>
            <a:ext cx="457200" cy="457200"/>
          </a:xfrm>
          <a:prstGeom xmlns:a="http://schemas.openxmlformats.org/drawingml/2006/main" prst="roundRect">
            <a:avLst>
              <a:gd name="adj" fmla="val 24000"/>
            </a:avLst>
          </a:prstGeom>
          <a:solidFill xmlns:a="http://schemas.openxmlformats.org/drawingml/2006/main">
            <a:srgbClr val="17B3A3"/>
          </a:solidFill>
          <a:effectLst xmlns:a="http://schemas.openxmlformats.org/drawingml/2006/main">
            <a:outerShdw blurRad="88900" dist="25400" dir="5400000" sx="100000" sy="100000" kx="0" ky="0" algn="bl" rotWithShape="0">
              <a:srgbClr val="B4A9A2">
                <a:alpha val="22000"/>
              </a:srgbClr>
            </a:outerShdw>
          </a:effectLst>
        </p:spPr>
      </p:sp>
      <p:pic>
        <p:nvPicPr>
          <p:cNvPr id="80" name="Image 6"/>
          <p:cNvPicPr>
            <a:picLocks xmlns:a="http://schemas.openxmlformats.org/drawingml/2006/main" noChangeAspect="1"/>
          </p:cNvPicPr>
          <p:nvPr/>
        </p:nvPicPr>
        <p:blipFill>
          <a:blip xmlns:r="http://schemas.openxmlformats.org/officeDocument/2006/relationships" xmlns:a="http://schemas.openxmlformats.org/drawingml/2006/main" r:embed="Ra11f4cd094e843ed"/>
          <a:stretch xmlns:a="http://schemas.openxmlformats.org/drawingml/2006/main">
            <a:fillRect l="0" t="0" r="0" b="0"/>
          </a:stretch>
        </p:blipFill>
        <p:spPr>
          <a:xfrm xmlns:a="http://schemas.openxmlformats.org/drawingml/2006/main">
            <a:off x="6617056" y="3401568"/>
            <a:ext cx="237744" cy="237744"/>
          </a:xfrm>
          <a:prstGeom xmlns:a="http://schemas.openxmlformats.org/drawingml/2006/main" prst="rect">
            <a:avLst/>
          </a:prstGeom>
        </p:spPr>
      </p:pic>
      <p:sp>
        <p:nvSpPr>
          <p:cNvPr id="36" name="Text 27">
            <a:extLst xmlns:a="http://schemas.openxmlformats.org/drawingml/2006/main">
              <a:ext uri="{FF2B5EF4-FFF2-40B4-BE49-F238E27FC236}">
                <a16:creationId xmlns:a16="http://schemas.microsoft.com/office/drawing/2014/main" id="{5E6B187F-36E5-4427-BC6F-8082D5A71FE6}"/>
              </a:ext>
            </a:extLst>
          </p:cNvPr>
          <p:cNvSpPr>
            <a:spLocks xmlns:a="http://schemas.openxmlformats.org/drawingml/2006/main" noGrp="1"/>
          </p:cNvSpPr>
          <p:nvPr/>
        </p:nvSpPr>
        <p:spPr>
          <a:xfrm xmlns:a="http://schemas.openxmlformats.org/drawingml/2006/main">
            <a:off x="7092544" y="3291840"/>
            <a:ext cx="438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Exceptions and governance</a:t>
            </a:r>
            <a:endParaRPr sz="1500"/>
          </a:p>
        </p:txBody>
      </p:sp>
      <p:sp>
        <p:nvSpPr>
          <p:cNvPr id="37" name="Text 28">
            <a:extLst xmlns:a="http://schemas.openxmlformats.org/drawingml/2006/main">
              <a:ext uri="{FF2B5EF4-FFF2-40B4-BE49-F238E27FC236}">
                <a16:creationId xmlns:a16="http://schemas.microsoft.com/office/drawing/2014/main" id="{19FA8EFB-28F3-4347-9A65-D2F81CBE0771}"/>
              </a:ext>
            </a:extLst>
          </p:cNvPr>
          <p:cNvSpPr>
            <a:spLocks xmlns:a="http://schemas.openxmlformats.org/drawingml/2006/main" noGrp="1"/>
          </p:cNvSpPr>
          <p:nvPr/>
        </p:nvSpPr>
        <p:spPr>
          <a:xfrm xmlns:a="http://schemas.openxmlformats.org/drawingml/2006/main">
            <a:off x="6525616" y="3840480"/>
            <a:ext cx="4879696"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100">
                <a:solidFill>
                  <a:srgbClr val="2A231F"/>
                </a:solidFill>
                <a:latin typeface="Calibri"/>
                <a:ea typeface="Calibri"/>
                <a:cs typeface="Calibri"/>
              </a:rPr>
              <a:t>Sequence high-value customer and banker moments against measurable pain.</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Embed access, consent, audit and exception handling before release.</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Contract data ownership and failure handling at each touchpoint.</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Track active use, action completion and role-level friction.</a:t>
            </a:r>
            <a:endParaRPr sz="1100"/>
          </a:p>
        </p:txBody>
      </p:sp>
      <p:sp>
        <p:nvSpPr>
          <p:cNvPr id="38" name="Text 29">
            <a:extLst xmlns:a="http://schemas.openxmlformats.org/drawingml/2006/main">
              <a:ext uri="{FF2B5EF4-FFF2-40B4-BE49-F238E27FC236}">
                <a16:creationId xmlns:a16="http://schemas.microsoft.com/office/drawing/2014/main" id="{2C96607C-B719-4997-AC7E-6A1323026412}"/>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39" name="Text 30">
            <a:extLst xmlns:a="http://schemas.openxmlformats.org/drawingml/2006/main">
              <a:ext uri="{FF2B5EF4-FFF2-40B4-BE49-F238E27FC236}">
                <a16:creationId xmlns:a16="http://schemas.microsoft.com/office/drawing/2014/main" id="{378400D4-2DE1-44B4-83A2-F7A75B6BD1CA}"/>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08</a:t>
            </a:r>
            <a:endParaRPr sz="900"/>
          </a:p>
        </p:txBody>
      </p:sp>
    </p:spTree>
    <p:extLst>
      <p:ext uri="{BB962C8B-B14F-4D97-AF65-F5344CB8AC3E}">
        <p14:creationId xmlns:p14="http://schemas.microsoft.com/office/powerpoint/2010/main" val="161146252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C3241F-92EC-4E3E-8161-DE6D8C5C1698}"/>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CONTROL MODEL</a:t>
            </a:r>
            <a:endParaRPr sz="1200"/>
          </a:p>
        </p:txBody>
      </p:sp>
      <p:sp>
        <p:nvSpPr>
          <p:cNvPr id="3" name="Text 1">
            <a:extLst xmlns:a="http://schemas.openxmlformats.org/drawingml/2006/main">
              <a:ext uri="{FF2B5EF4-FFF2-40B4-BE49-F238E27FC236}">
                <a16:creationId xmlns:a16="http://schemas.microsoft.com/office/drawing/2014/main" id="{F35057C2-C224-4A84-8AB6-906AC725E8C1}"/>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Scale depends on adoption and control</a:t>
            </a:r>
            <a:endParaRPr sz="3000"/>
          </a:p>
        </p:txBody>
      </p:sp>
      <p:sp>
        <p:nvSpPr>
          <p:cNvPr id="4" name="Shape 2">
            <a:extLst xmlns:a="http://schemas.openxmlformats.org/drawingml/2006/main">
              <a:ext uri="{FF2B5EF4-FFF2-40B4-BE49-F238E27FC236}">
                <a16:creationId xmlns:a16="http://schemas.microsoft.com/office/drawing/2014/main" id="{B3F550DC-C7F8-4F3C-8386-C9C395DD3F66}"/>
              </a:ext>
            </a:extLst>
          </p:cNvPr>
          <p:cNvSpPr>
            <a:spLocks xmlns:a="http://schemas.openxmlformats.org/drawingml/2006/main" noGrp="1"/>
          </p:cNvSpPr>
          <p:nvPr/>
        </p:nvSpPr>
        <p:spPr>
          <a:xfrm xmlns:a="http://schemas.openxmlformats.org/drawingml/2006/main">
            <a:off x="548640"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5" name="Shape 3">
            <a:extLst xmlns:a="http://schemas.openxmlformats.org/drawingml/2006/main">
              <a:ext uri="{FF2B5EF4-FFF2-40B4-BE49-F238E27FC236}">
                <a16:creationId xmlns:a16="http://schemas.microsoft.com/office/drawing/2014/main" id="{FAB11CAE-C3D3-49D8-A666-A2CE262D8F05}"/>
              </a:ext>
            </a:extLst>
          </p:cNvPr>
          <p:cNvSpPr>
            <a:spLocks xmlns:a="http://schemas.openxmlformats.org/drawingml/2006/main" noGrp="1"/>
          </p:cNvSpPr>
          <p:nvPr/>
        </p:nvSpPr>
        <p:spPr>
          <a:xfrm xmlns:a="http://schemas.openxmlformats.org/drawingml/2006/main">
            <a:off x="731520"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83" name="Image 0"/>
          <p:cNvPicPr>
            <a:picLocks xmlns:a="http://schemas.openxmlformats.org/drawingml/2006/main" noChangeAspect="1"/>
          </p:cNvPicPr>
          <p:nvPr/>
        </p:nvPicPr>
        <p:blipFill>
          <a:blip xmlns:r="http://schemas.openxmlformats.org/officeDocument/2006/relationships" xmlns:a="http://schemas.openxmlformats.org/drawingml/2006/main" r:embed="R2eb90270884f48b5"/>
          <a:stretch xmlns:a="http://schemas.openxmlformats.org/drawingml/2006/main">
            <a:fillRect l="0" t="0" r="0" b="0"/>
          </a:stretch>
        </p:blipFill>
        <p:spPr>
          <a:xfrm xmlns:a="http://schemas.openxmlformats.org/drawingml/2006/main">
            <a:off x="845637" y="1833189"/>
            <a:ext cx="210678" cy="210678"/>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5C40B9D1-1283-44D1-8D75-7FFA42CB29A6}"/>
              </a:ext>
            </a:extLst>
          </p:cNvPr>
          <p:cNvSpPr>
            <a:spLocks xmlns:a="http://schemas.openxmlformats.org/drawingml/2006/main" noGrp="1"/>
          </p:cNvSpPr>
          <p:nvPr/>
        </p:nvSpPr>
        <p:spPr>
          <a:xfrm xmlns:a="http://schemas.openxmlformats.org/drawingml/2006/main">
            <a:off x="1298448"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Customer intelligence</a:t>
            </a:r>
            <a:endParaRPr sz="1200"/>
          </a:p>
        </p:txBody>
      </p:sp>
      <p:sp>
        <p:nvSpPr>
          <p:cNvPr id="8" name="Shape 5">
            <a:extLst xmlns:a="http://schemas.openxmlformats.org/drawingml/2006/main">
              <a:ext uri="{FF2B5EF4-FFF2-40B4-BE49-F238E27FC236}">
                <a16:creationId xmlns:a16="http://schemas.microsoft.com/office/drawing/2014/main" id="{FD92D06D-9344-4BD1-BCDF-39A5B3B89907}"/>
              </a:ext>
            </a:extLst>
          </p:cNvPr>
          <p:cNvSpPr>
            <a:spLocks xmlns:a="http://schemas.openxmlformats.org/drawingml/2006/main" noGrp="1"/>
          </p:cNvSpPr>
          <p:nvPr/>
        </p:nvSpPr>
        <p:spPr>
          <a:xfrm xmlns:a="http://schemas.openxmlformats.org/drawingml/2006/main">
            <a:off x="3381680"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9" name="Shape 6">
            <a:extLst xmlns:a="http://schemas.openxmlformats.org/drawingml/2006/main">
              <a:ext uri="{FF2B5EF4-FFF2-40B4-BE49-F238E27FC236}">
                <a16:creationId xmlns:a16="http://schemas.microsoft.com/office/drawing/2014/main" id="{6DA35F85-B504-4B1F-B16B-22C3CB6D8FEC}"/>
              </a:ext>
            </a:extLst>
          </p:cNvPr>
          <p:cNvSpPr>
            <a:spLocks xmlns:a="http://schemas.openxmlformats.org/drawingml/2006/main" noGrp="1"/>
          </p:cNvSpPr>
          <p:nvPr/>
        </p:nvSpPr>
        <p:spPr>
          <a:xfrm xmlns:a="http://schemas.openxmlformats.org/drawingml/2006/main">
            <a:off x="3564560"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87" name="Image 1"/>
          <p:cNvPicPr>
            <a:picLocks xmlns:a="http://schemas.openxmlformats.org/drawingml/2006/main" noChangeAspect="1"/>
          </p:cNvPicPr>
          <p:nvPr/>
        </p:nvPicPr>
        <p:blipFill>
          <a:blip xmlns:r="http://schemas.openxmlformats.org/officeDocument/2006/relationships" xmlns:a="http://schemas.openxmlformats.org/drawingml/2006/main" r:embed="Re85a5b5cd7df489a"/>
          <a:stretch xmlns:a="http://schemas.openxmlformats.org/drawingml/2006/main">
            <a:fillRect l="0" t="0" r="0" b="0"/>
          </a:stretch>
        </p:blipFill>
        <p:spPr>
          <a:xfrm xmlns:a="http://schemas.openxmlformats.org/drawingml/2006/main">
            <a:off x="3678677" y="1833189"/>
            <a:ext cx="210678" cy="21067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3F12D6D0-53A3-435F-B388-52720840BA9D}"/>
              </a:ext>
            </a:extLst>
          </p:cNvPr>
          <p:cNvSpPr>
            <a:spLocks xmlns:a="http://schemas.openxmlformats.org/drawingml/2006/main" noGrp="1"/>
          </p:cNvSpPr>
          <p:nvPr/>
        </p:nvSpPr>
        <p:spPr>
          <a:xfrm xmlns:a="http://schemas.openxmlformats.org/drawingml/2006/main">
            <a:off x="4131488"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Sales orchestration</a:t>
            </a:r>
            <a:endParaRPr sz="1200"/>
          </a:p>
        </p:txBody>
      </p:sp>
      <p:sp>
        <p:nvSpPr>
          <p:cNvPr id="12" name="Shape 8">
            <a:extLst xmlns:a="http://schemas.openxmlformats.org/drawingml/2006/main">
              <a:ext uri="{FF2B5EF4-FFF2-40B4-BE49-F238E27FC236}">
                <a16:creationId xmlns:a16="http://schemas.microsoft.com/office/drawing/2014/main" id="{CAA5C818-56F1-4BB7-9D9E-85B0C7E9BD44}"/>
              </a:ext>
            </a:extLst>
          </p:cNvPr>
          <p:cNvSpPr>
            <a:spLocks xmlns:a="http://schemas.openxmlformats.org/drawingml/2006/main" noGrp="1"/>
          </p:cNvSpPr>
          <p:nvPr/>
        </p:nvSpPr>
        <p:spPr>
          <a:xfrm xmlns:a="http://schemas.openxmlformats.org/drawingml/2006/main">
            <a:off x="6214720"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3" name="Shape 9">
            <a:extLst xmlns:a="http://schemas.openxmlformats.org/drawingml/2006/main">
              <a:ext uri="{FF2B5EF4-FFF2-40B4-BE49-F238E27FC236}">
                <a16:creationId xmlns:a16="http://schemas.microsoft.com/office/drawing/2014/main" id="{0120A63B-D8BD-4E07-A747-E63C4817519A}"/>
              </a:ext>
            </a:extLst>
          </p:cNvPr>
          <p:cNvSpPr>
            <a:spLocks xmlns:a="http://schemas.openxmlformats.org/drawingml/2006/main" noGrp="1"/>
          </p:cNvSpPr>
          <p:nvPr/>
        </p:nvSpPr>
        <p:spPr>
          <a:xfrm xmlns:a="http://schemas.openxmlformats.org/drawingml/2006/main">
            <a:off x="6397600"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1" name="Image 2"/>
          <p:cNvPicPr>
            <a:picLocks xmlns:a="http://schemas.openxmlformats.org/drawingml/2006/main" noChangeAspect="1"/>
          </p:cNvPicPr>
          <p:nvPr/>
        </p:nvPicPr>
        <p:blipFill>
          <a:blip xmlns:r="http://schemas.openxmlformats.org/officeDocument/2006/relationships" xmlns:a="http://schemas.openxmlformats.org/drawingml/2006/main" r:embed="R4bc08d5633084dcb"/>
          <a:stretch xmlns:a="http://schemas.openxmlformats.org/drawingml/2006/main">
            <a:fillRect l="0" t="0" r="0" b="0"/>
          </a:stretch>
        </p:blipFill>
        <p:spPr>
          <a:xfrm xmlns:a="http://schemas.openxmlformats.org/drawingml/2006/main">
            <a:off x="6511717" y="1833189"/>
            <a:ext cx="210678" cy="210678"/>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A1B517F8-5D2A-45B5-A36D-FA5EF08B5034}"/>
              </a:ext>
            </a:extLst>
          </p:cNvPr>
          <p:cNvSpPr>
            <a:spLocks xmlns:a="http://schemas.openxmlformats.org/drawingml/2006/main" noGrp="1"/>
          </p:cNvSpPr>
          <p:nvPr/>
        </p:nvSpPr>
        <p:spPr>
          <a:xfrm xmlns:a="http://schemas.openxmlformats.org/drawingml/2006/main">
            <a:off x="6964528"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Digital onboarding</a:t>
            </a:r>
            <a:endParaRPr sz="1200"/>
          </a:p>
        </p:txBody>
      </p:sp>
      <p:sp>
        <p:nvSpPr>
          <p:cNvPr id="16" name="Shape 11">
            <a:extLst xmlns:a="http://schemas.openxmlformats.org/drawingml/2006/main">
              <a:ext uri="{FF2B5EF4-FFF2-40B4-BE49-F238E27FC236}">
                <a16:creationId xmlns:a16="http://schemas.microsoft.com/office/drawing/2014/main" id="{E74ED625-DCAE-4A3F-9109-814AFE35D882}"/>
              </a:ext>
            </a:extLst>
          </p:cNvPr>
          <p:cNvSpPr>
            <a:spLocks xmlns:a="http://schemas.openxmlformats.org/drawingml/2006/main" noGrp="1"/>
          </p:cNvSpPr>
          <p:nvPr/>
        </p:nvSpPr>
        <p:spPr>
          <a:xfrm xmlns:a="http://schemas.openxmlformats.org/drawingml/2006/main">
            <a:off x="9047759"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7" name="Shape 12">
            <a:extLst xmlns:a="http://schemas.openxmlformats.org/drawingml/2006/main">
              <a:ext uri="{FF2B5EF4-FFF2-40B4-BE49-F238E27FC236}">
                <a16:creationId xmlns:a16="http://schemas.microsoft.com/office/drawing/2014/main" id="{EF24A43C-DA84-4DB7-B6C9-E2BA3EBB2648}"/>
              </a:ext>
            </a:extLst>
          </p:cNvPr>
          <p:cNvSpPr>
            <a:spLocks xmlns:a="http://schemas.openxmlformats.org/drawingml/2006/main" noGrp="1"/>
          </p:cNvSpPr>
          <p:nvPr/>
        </p:nvSpPr>
        <p:spPr>
          <a:xfrm xmlns:a="http://schemas.openxmlformats.org/drawingml/2006/main">
            <a:off x="9230639"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5" name="Image 3"/>
          <p:cNvPicPr>
            <a:picLocks xmlns:a="http://schemas.openxmlformats.org/drawingml/2006/main" noChangeAspect="1"/>
          </p:cNvPicPr>
          <p:nvPr/>
        </p:nvPicPr>
        <p:blipFill>
          <a:blip xmlns:r="http://schemas.openxmlformats.org/officeDocument/2006/relationships" xmlns:a="http://schemas.openxmlformats.org/drawingml/2006/main" r:embed="R7dc8b8e0fb2b4986"/>
          <a:stretch xmlns:a="http://schemas.openxmlformats.org/drawingml/2006/main">
            <a:fillRect l="0" t="0" r="0" b="0"/>
          </a:stretch>
        </p:blipFill>
        <p:spPr>
          <a:xfrm xmlns:a="http://schemas.openxmlformats.org/drawingml/2006/main">
            <a:off x="9344757" y="1833189"/>
            <a:ext cx="210678" cy="210678"/>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882DD25F-B415-43C4-96A8-88EC2FBB9BE2}"/>
              </a:ext>
            </a:extLst>
          </p:cNvPr>
          <p:cNvSpPr>
            <a:spLocks xmlns:a="http://schemas.openxmlformats.org/drawingml/2006/main" noGrp="1"/>
          </p:cNvSpPr>
          <p:nvPr/>
        </p:nvSpPr>
        <p:spPr>
          <a:xfrm xmlns:a="http://schemas.openxmlformats.org/drawingml/2006/main">
            <a:off x="9797567"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Digital lending</a:t>
            </a:r>
            <a:endParaRPr sz="1200"/>
          </a:p>
        </p:txBody>
      </p:sp>
      <p:sp>
        <p:nvSpPr>
          <p:cNvPr id="20" name="Shape 14">
            <a:extLst xmlns:a="http://schemas.openxmlformats.org/drawingml/2006/main">
              <a:ext uri="{FF2B5EF4-FFF2-40B4-BE49-F238E27FC236}">
                <a16:creationId xmlns:a16="http://schemas.microsoft.com/office/drawing/2014/main" id="{A0500631-656E-40B2-AD15-0742AA254B0F}"/>
              </a:ext>
            </a:extLst>
          </p:cNvPr>
          <p:cNvSpPr>
            <a:spLocks xmlns:a="http://schemas.openxmlformats.org/drawingml/2006/main" noGrp="1"/>
          </p:cNvSpPr>
          <p:nvPr/>
        </p:nvSpPr>
        <p:spPr>
          <a:xfrm xmlns:a="http://schemas.openxmlformats.org/drawingml/2006/main">
            <a:off x="548640"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1" name="Shape 15">
            <a:extLst xmlns:a="http://schemas.openxmlformats.org/drawingml/2006/main">
              <a:ext uri="{FF2B5EF4-FFF2-40B4-BE49-F238E27FC236}">
                <a16:creationId xmlns:a16="http://schemas.microsoft.com/office/drawing/2014/main" id="{BFE23E6D-3DA3-4C0D-8EE7-1F0655B8B1D4}"/>
              </a:ext>
            </a:extLst>
          </p:cNvPr>
          <p:cNvSpPr>
            <a:spLocks xmlns:a="http://schemas.openxmlformats.org/drawingml/2006/main" noGrp="1"/>
          </p:cNvSpPr>
          <p:nvPr/>
        </p:nvSpPr>
        <p:spPr>
          <a:xfrm xmlns:a="http://schemas.openxmlformats.org/drawingml/2006/main">
            <a:off x="731520"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9" name="Image 4"/>
          <p:cNvPicPr>
            <a:picLocks xmlns:a="http://schemas.openxmlformats.org/drawingml/2006/main" noChangeAspect="1"/>
          </p:cNvPicPr>
          <p:nvPr/>
        </p:nvPicPr>
        <p:blipFill>
          <a:blip xmlns:r="http://schemas.openxmlformats.org/officeDocument/2006/relationships" xmlns:a="http://schemas.openxmlformats.org/drawingml/2006/main" r:embed="Ra407bac4a210444a"/>
          <a:stretch xmlns:a="http://schemas.openxmlformats.org/drawingml/2006/main">
            <a:fillRect l="0" t="0" r="0" b="0"/>
          </a:stretch>
        </p:blipFill>
        <p:spPr>
          <a:xfrm xmlns:a="http://schemas.openxmlformats.org/drawingml/2006/main">
            <a:off x="845637" y="2875605"/>
            <a:ext cx="210678" cy="210678"/>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C0C7DDE7-B41F-445B-BFA2-AC924375F6E2}"/>
              </a:ext>
            </a:extLst>
          </p:cNvPr>
          <p:cNvSpPr>
            <a:spLocks xmlns:a="http://schemas.openxmlformats.org/drawingml/2006/main" noGrp="1"/>
          </p:cNvSpPr>
          <p:nvPr/>
        </p:nvSpPr>
        <p:spPr>
          <a:xfrm xmlns:a="http://schemas.openxmlformats.org/drawingml/2006/main">
            <a:off x="1298448"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Smart relationship management</a:t>
            </a:r>
            <a:endParaRPr sz="1200"/>
          </a:p>
        </p:txBody>
      </p:sp>
      <p:sp>
        <p:nvSpPr>
          <p:cNvPr id="24" name="Shape 17">
            <a:extLst xmlns:a="http://schemas.openxmlformats.org/drawingml/2006/main">
              <a:ext uri="{FF2B5EF4-FFF2-40B4-BE49-F238E27FC236}">
                <a16:creationId xmlns:a16="http://schemas.microsoft.com/office/drawing/2014/main" id="{67A9090E-500C-463A-AC36-6AAC79EDACFB}"/>
              </a:ext>
            </a:extLst>
          </p:cNvPr>
          <p:cNvSpPr>
            <a:spLocks xmlns:a="http://schemas.openxmlformats.org/drawingml/2006/main" noGrp="1"/>
          </p:cNvSpPr>
          <p:nvPr/>
        </p:nvSpPr>
        <p:spPr>
          <a:xfrm xmlns:a="http://schemas.openxmlformats.org/drawingml/2006/main">
            <a:off x="3381680"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5" name="Shape 18">
            <a:extLst xmlns:a="http://schemas.openxmlformats.org/drawingml/2006/main">
              <a:ext uri="{FF2B5EF4-FFF2-40B4-BE49-F238E27FC236}">
                <a16:creationId xmlns:a16="http://schemas.microsoft.com/office/drawing/2014/main" id="{B760DC91-2B37-43DA-8ACA-1E46EE860C6E}"/>
              </a:ext>
            </a:extLst>
          </p:cNvPr>
          <p:cNvSpPr>
            <a:spLocks xmlns:a="http://schemas.openxmlformats.org/drawingml/2006/main" noGrp="1"/>
          </p:cNvSpPr>
          <p:nvPr/>
        </p:nvSpPr>
        <p:spPr>
          <a:xfrm xmlns:a="http://schemas.openxmlformats.org/drawingml/2006/main">
            <a:off x="3564560"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3" name="Image 5"/>
          <p:cNvPicPr>
            <a:picLocks xmlns:a="http://schemas.openxmlformats.org/drawingml/2006/main" noChangeAspect="1"/>
          </p:cNvPicPr>
          <p:nvPr/>
        </p:nvPicPr>
        <p:blipFill>
          <a:blip xmlns:r="http://schemas.openxmlformats.org/officeDocument/2006/relationships" xmlns:a="http://schemas.openxmlformats.org/drawingml/2006/main" r:embed="R76a5a10082214dc1"/>
          <a:stretch xmlns:a="http://schemas.openxmlformats.org/drawingml/2006/main">
            <a:fillRect l="0" t="0" r="0" b="0"/>
          </a:stretch>
        </p:blipFill>
        <p:spPr>
          <a:xfrm xmlns:a="http://schemas.openxmlformats.org/drawingml/2006/main">
            <a:off x="3678677" y="2875605"/>
            <a:ext cx="210678" cy="210678"/>
          </a:xfrm>
          <a:prstGeom xmlns:a="http://schemas.openxmlformats.org/drawingml/2006/main" prst="rect">
            <a:avLst/>
          </a:prstGeom>
        </p:spPr>
      </p:pic>
      <p:sp>
        <p:nvSpPr>
          <p:cNvPr id="27" name="Text 19">
            <a:extLst xmlns:a="http://schemas.openxmlformats.org/drawingml/2006/main">
              <a:ext uri="{FF2B5EF4-FFF2-40B4-BE49-F238E27FC236}">
                <a16:creationId xmlns:a16="http://schemas.microsoft.com/office/drawing/2014/main" id="{B7F4389F-7BF5-4AE6-838F-4E1DE80DCDB7}"/>
              </a:ext>
            </a:extLst>
          </p:cNvPr>
          <p:cNvSpPr>
            <a:spLocks xmlns:a="http://schemas.openxmlformats.org/drawingml/2006/main" noGrp="1"/>
          </p:cNvSpPr>
          <p:nvPr/>
        </p:nvSpPr>
        <p:spPr>
          <a:xfrm xmlns:a="http://schemas.openxmlformats.org/drawingml/2006/main">
            <a:off x="4131488"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Service and reporting</a:t>
            </a:r>
            <a:endParaRPr sz="1200"/>
          </a:p>
        </p:txBody>
      </p:sp>
      <p:sp>
        <p:nvSpPr>
          <p:cNvPr id="28" name="Shape 20">
            <a:extLst xmlns:a="http://schemas.openxmlformats.org/drawingml/2006/main">
              <a:ext uri="{FF2B5EF4-FFF2-40B4-BE49-F238E27FC236}">
                <a16:creationId xmlns:a16="http://schemas.microsoft.com/office/drawing/2014/main" id="{82170F93-9DC0-481B-847D-DEE152655640}"/>
              </a:ext>
            </a:extLst>
          </p:cNvPr>
          <p:cNvSpPr>
            <a:spLocks xmlns:a="http://schemas.openxmlformats.org/drawingml/2006/main" noGrp="1"/>
          </p:cNvSpPr>
          <p:nvPr/>
        </p:nvSpPr>
        <p:spPr>
          <a:xfrm xmlns:a="http://schemas.openxmlformats.org/drawingml/2006/main">
            <a:off x="6214720"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9" name="Shape 21">
            <a:extLst xmlns:a="http://schemas.openxmlformats.org/drawingml/2006/main">
              <a:ext uri="{FF2B5EF4-FFF2-40B4-BE49-F238E27FC236}">
                <a16:creationId xmlns:a16="http://schemas.microsoft.com/office/drawing/2014/main" id="{C0723CC3-7EB0-4CA9-9891-C9EEED80A795}"/>
              </a:ext>
            </a:extLst>
          </p:cNvPr>
          <p:cNvSpPr>
            <a:spLocks xmlns:a="http://schemas.openxmlformats.org/drawingml/2006/main" noGrp="1"/>
          </p:cNvSpPr>
          <p:nvPr/>
        </p:nvSpPr>
        <p:spPr>
          <a:xfrm xmlns:a="http://schemas.openxmlformats.org/drawingml/2006/main">
            <a:off x="6397600"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7" name="Image 6"/>
          <p:cNvPicPr>
            <a:picLocks xmlns:a="http://schemas.openxmlformats.org/drawingml/2006/main" noChangeAspect="1"/>
          </p:cNvPicPr>
          <p:nvPr/>
        </p:nvPicPr>
        <p:blipFill>
          <a:blip xmlns:r="http://schemas.openxmlformats.org/officeDocument/2006/relationships" xmlns:a="http://schemas.openxmlformats.org/drawingml/2006/main" r:embed="Raa1f76b8ba6b4d4f"/>
          <a:stretch xmlns:a="http://schemas.openxmlformats.org/drawingml/2006/main">
            <a:fillRect l="0" t="0" r="0" b="0"/>
          </a:stretch>
        </p:blipFill>
        <p:spPr>
          <a:xfrm xmlns:a="http://schemas.openxmlformats.org/drawingml/2006/main">
            <a:off x="6511717" y="2875605"/>
            <a:ext cx="210678" cy="210678"/>
          </a:xfrm>
          <a:prstGeom xmlns:a="http://schemas.openxmlformats.org/drawingml/2006/main" prst="rect">
            <a:avLst/>
          </a:prstGeom>
        </p:spPr>
      </p:pic>
      <p:sp>
        <p:nvSpPr>
          <p:cNvPr id="31" name="Text 22">
            <a:extLst xmlns:a="http://schemas.openxmlformats.org/drawingml/2006/main">
              <a:ext uri="{FF2B5EF4-FFF2-40B4-BE49-F238E27FC236}">
                <a16:creationId xmlns:a16="http://schemas.microsoft.com/office/drawing/2014/main" id="{371BF071-9DDF-4422-AF80-956572F50808}"/>
              </a:ext>
            </a:extLst>
          </p:cNvPr>
          <p:cNvSpPr>
            <a:spLocks xmlns:a="http://schemas.openxmlformats.org/drawingml/2006/main" noGrp="1"/>
          </p:cNvSpPr>
          <p:nvPr/>
        </p:nvSpPr>
        <p:spPr>
          <a:xfrm xmlns:a="http://schemas.openxmlformats.org/drawingml/2006/main">
            <a:off x="6964528"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Experience layer</a:t>
            </a:r>
            <a:endParaRPr sz="1200"/>
          </a:p>
        </p:txBody>
      </p:sp>
      <p:sp>
        <p:nvSpPr>
          <p:cNvPr id="32" name="Shape 23">
            <a:extLst xmlns:a="http://schemas.openxmlformats.org/drawingml/2006/main">
              <a:ext uri="{FF2B5EF4-FFF2-40B4-BE49-F238E27FC236}">
                <a16:creationId xmlns:a16="http://schemas.microsoft.com/office/drawing/2014/main" id="{942A6008-CA5D-49C3-9AF3-20DC562F7FD1}"/>
              </a:ext>
            </a:extLst>
          </p:cNvPr>
          <p:cNvSpPr>
            <a:spLocks xmlns:a="http://schemas.openxmlformats.org/drawingml/2006/main" noGrp="1"/>
          </p:cNvSpPr>
          <p:nvPr/>
        </p:nvSpPr>
        <p:spPr>
          <a:xfrm xmlns:a="http://schemas.openxmlformats.org/drawingml/2006/main">
            <a:off x="9047759"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3" name="Shape 24">
            <a:extLst xmlns:a="http://schemas.openxmlformats.org/drawingml/2006/main">
              <a:ext uri="{FF2B5EF4-FFF2-40B4-BE49-F238E27FC236}">
                <a16:creationId xmlns:a16="http://schemas.microsoft.com/office/drawing/2014/main" id="{9A25278B-EB34-4CF1-8462-75D0D52E4EF3}"/>
              </a:ext>
            </a:extLst>
          </p:cNvPr>
          <p:cNvSpPr>
            <a:spLocks xmlns:a="http://schemas.openxmlformats.org/drawingml/2006/main" noGrp="1"/>
          </p:cNvSpPr>
          <p:nvPr/>
        </p:nvSpPr>
        <p:spPr>
          <a:xfrm xmlns:a="http://schemas.openxmlformats.org/drawingml/2006/main">
            <a:off x="9230639"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11" name="Image 7"/>
          <p:cNvPicPr>
            <a:picLocks xmlns:a="http://schemas.openxmlformats.org/drawingml/2006/main" noChangeAspect="1"/>
          </p:cNvPicPr>
          <p:nvPr/>
        </p:nvPicPr>
        <p:blipFill>
          <a:blip xmlns:r="http://schemas.openxmlformats.org/officeDocument/2006/relationships" xmlns:a="http://schemas.openxmlformats.org/drawingml/2006/main" r:embed="Rc7020473b0f34fb8"/>
          <a:stretch xmlns:a="http://schemas.openxmlformats.org/drawingml/2006/main">
            <a:fillRect l="0" t="0" r="0" b="0"/>
          </a:stretch>
        </p:blipFill>
        <p:spPr>
          <a:xfrm xmlns:a="http://schemas.openxmlformats.org/drawingml/2006/main">
            <a:off x="9344757" y="2875605"/>
            <a:ext cx="210678" cy="210678"/>
          </a:xfrm>
          <a:prstGeom xmlns:a="http://schemas.openxmlformats.org/drawingml/2006/main" prst="rect">
            <a:avLst/>
          </a:prstGeom>
        </p:spPr>
      </p:pic>
      <p:sp>
        <p:nvSpPr>
          <p:cNvPr id="35" name="Text 25">
            <a:extLst xmlns:a="http://schemas.openxmlformats.org/drawingml/2006/main">
              <a:ext uri="{FF2B5EF4-FFF2-40B4-BE49-F238E27FC236}">
                <a16:creationId xmlns:a16="http://schemas.microsoft.com/office/drawing/2014/main" id="{0F49834E-C263-4601-875A-F1C27D5712CC}"/>
              </a:ext>
            </a:extLst>
          </p:cNvPr>
          <p:cNvSpPr>
            <a:spLocks xmlns:a="http://schemas.openxmlformats.org/drawingml/2006/main" noGrp="1"/>
          </p:cNvSpPr>
          <p:nvPr/>
        </p:nvSpPr>
        <p:spPr>
          <a:xfrm xmlns:a="http://schemas.openxmlformats.org/drawingml/2006/main">
            <a:off x="9797567"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Engagement layer</a:t>
            </a:r>
            <a:endParaRPr sz="1200"/>
          </a:p>
        </p:txBody>
      </p:sp>
      <p:sp>
        <p:nvSpPr>
          <p:cNvPr id="36" name="Shape 26">
            <a:extLst xmlns:a="http://schemas.openxmlformats.org/drawingml/2006/main">
              <a:ext uri="{FF2B5EF4-FFF2-40B4-BE49-F238E27FC236}">
                <a16:creationId xmlns:a16="http://schemas.microsoft.com/office/drawing/2014/main" id="{9B251944-3F8A-48AA-889F-A3FAC8B3A238}"/>
              </a:ext>
            </a:extLst>
          </p:cNvPr>
          <p:cNvSpPr>
            <a:spLocks xmlns:a="http://schemas.openxmlformats.org/drawingml/2006/main" noGrp="1"/>
          </p:cNvSpPr>
          <p:nvPr/>
        </p:nvSpPr>
        <p:spPr>
          <a:xfrm xmlns:a="http://schemas.openxmlformats.org/drawingml/2006/main">
            <a:off x="548640"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7" name="Shape 27">
            <a:extLst xmlns:a="http://schemas.openxmlformats.org/drawingml/2006/main">
              <a:ext uri="{FF2B5EF4-FFF2-40B4-BE49-F238E27FC236}">
                <a16:creationId xmlns:a16="http://schemas.microsoft.com/office/drawing/2014/main" id="{B4687568-1BC2-4B48-8149-DB509726F68A}"/>
              </a:ext>
            </a:extLst>
          </p:cNvPr>
          <p:cNvSpPr>
            <a:spLocks xmlns:a="http://schemas.openxmlformats.org/drawingml/2006/main" noGrp="1"/>
          </p:cNvSpPr>
          <p:nvPr/>
        </p:nvSpPr>
        <p:spPr>
          <a:xfrm xmlns:a="http://schemas.openxmlformats.org/drawingml/2006/main">
            <a:off x="731520"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15" name="Image 8"/>
          <p:cNvPicPr>
            <a:picLocks xmlns:a="http://schemas.openxmlformats.org/drawingml/2006/main" noChangeAspect="1"/>
          </p:cNvPicPr>
          <p:nvPr/>
        </p:nvPicPr>
        <p:blipFill>
          <a:blip xmlns:r="http://schemas.openxmlformats.org/officeDocument/2006/relationships" xmlns:a="http://schemas.openxmlformats.org/drawingml/2006/main" r:embed="Rb16e30b0bd24470e"/>
          <a:stretch xmlns:a="http://schemas.openxmlformats.org/drawingml/2006/main">
            <a:fillRect l="0" t="0" r="0" b="0"/>
          </a:stretch>
        </p:blipFill>
        <p:spPr>
          <a:xfrm xmlns:a="http://schemas.openxmlformats.org/drawingml/2006/main">
            <a:off x="845637" y="3918021"/>
            <a:ext cx="210678" cy="210678"/>
          </a:xfrm>
          <a:prstGeom xmlns:a="http://schemas.openxmlformats.org/drawingml/2006/main" prst="rect">
            <a:avLst/>
          </a:prstGeom>
        </p:spPr>
      </p:pic>
      <p:sp>
        <p:nvSpPr>
          <p:cNvPr id="39" name="Text 28">
            <a:extLst xmlns:a="http://schemas.openxmlformats.org/drawingml/2006/main">
              <a:ext uri="{FF2B5EF4-FFF2-40B4-BE49-F238E27FC236}">
                <a16:creationId xmlns:a16="http://schemas.microsoft.com/office/drawing/2014/main" id="{618D4710-8D4F-43EF-96CE-9EF4D5EB438C}"/>
              </a:ext>
            </a:extLst>
          </p:cNvPr>
          <p:cNvSpPr>
            <a:spLocks xmlns:a="http://schemas.openxmlformats.org/drawingml/2006/main" noGrp="1"/>
          </p:cNvSpPr>
          <p:nvPr/>
        </p:nvSpPr>
        <p:spPr>
          <a:xfrm xmlns:a="http://schemas.openxmlformats.org/drawingml/2006/main">
            <a:off x="1298448"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Decision layer</a:t>
            </a:r>
            <a:endParaRPr sz="1200"/>
          </a:p>
        </p:txBody>
      </p:sp>
      <p:sp>
        <p:nvSpPr>
          <p:cNvPr id="40" name="Shape 29">
            <a:extLst xmlns:a="http://schemas.openxmlformats.org/drawingml/2006/main">
              <a:ext uri="{FF2B5EF4-FFF2-40B4-BE49-F238E27FC236}">
                <a16:creationId xmlns:a16="http://schemas.microsoft.com/office/drawing/2014/main" id="{D825388F-4785-40D1-8C68-977DCAFDE552}"/>
              </a:ext>
            </a:extLst>
          </p:cNvPr>
          <p:cNvSpPr>
            <a:spLocks xmlns:a="http://schemas.openxmlformats.org/drawingml/2006/main" noGrp="1"/>
          </p:cNvSpPr>
          <p:nvPr/>
        </p:nvSpPr>
        <p:spPr>
          <a:xfrm xmlns:a="http://schemas.openxmlformats.org/drawingml/2006/main">
            <a:off x="3381680"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1" name="Shape 30">
            <a:extLst xmlns:a="http://schemas.openxmlformats.org/drawingml/2006/main">
              <a:ext uri="{FF2B5EF4-FFF2-40B4-BE49-F238E27FC236}">
                <a16:creationId xmlns:a16="http://schemas.microsoft.com/office/drawing/2014/main" id="{80FE82AB-601F-472C-A7F9-EE4950BB00A3}"/>
              </a:ext>
            </a:extLst>
          </p:cNvPr>
          <p:cNvSpPr>
            <a:spLocks xmlns:a="http://schemas.openxmlformats.org/drawingml/2006/main" noGrp="1"/>
          </p:cNvSpPr>
          <p:nvPr/>
        </p:nvSpPr>
        <p:spPr>
          <a:xfrm xmlns:a="http://schemas.openxmlformats.org/drawingml/2006/main">
            <a:off x="3564560"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19" name="Image 9"/>
          <p:cNvPicPr>
            <a:picLocks xmlns:a="http://schemas.openxmlformats.org/drawingml/2006/main" noChangeAspect="1"/>
          </p:cNvPicPr>
          <p:nvPr/>
        </p:nvPicPr>
        <p:blipFill>
          <a:blip xmlns:r="http://schemas.openxmlformats.org/officeDocument/2006/relationships" xmlns:a="http://schemas.openxmlformats.org/drawingml/2006/main" r:embed="R3bb6fe57bc1b4332"/>
          <a:stretch xmlns:a="http://schemas.openxmlformats.org/drawingml/2006/main">
            <a:fillRect l="0" t="0" r="0" b="0"/>
          </a:stretch>
        </p:blipFill>
        <p:spPr>
          <a:xfrm xmlns:a="http://schemas.openxmlformats.org/drawingml/2006/main">
            <a:off x="3678677" y="3918021"/>
            <a:ext cx="210678" cy="210678"/>
          </a:xfrm>
          <a:prstGeom xmlns:a="http://schemas.openxmlformats.org/drawingml/2006/main" prst="rect">
            <a:avLst/>
          </a:prstGeom>
        </p:spPr>
      </p:pic>
      <p:sp>
        <p:nvSpPr>
          <p:cNvPr id="43" name="Text 31">
            <a:extLst xmlns:a="http://schemas.openxmlformats.org/drawingml/2006/main">
              <a:ext uri="{FF2B5EF4-FFF2-40B4-BE49-F238E27FC236}">
                <a16:creationId xmlns:a16="http://schemas.microsoft.com/office/drawing/2014/main" id="{D5187C8C-4E0F-40A9-8178-E8EACC3C705A}"/>
              </a:ext>
            </a:extLst>
          </p:cNvPr>
          <p:cNvSpPr>
            <a:spLocks xmlns:a="http://schemas.openxmlformats.org/drawingml/2006/main" noGrp="1"/>
          </p:cNvSpPr>
          <p:nvPr/>
        </p:nvSpPr>
        <p:spPr>
          <a:xfrm xmlns:a="http://schemas.openxmlformats.org/drawingml/2006/main">
            <a:off x="4131488"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Integration layer</a:t>
            </a:r>
            <a:endParaRPr sz="1200"/>
          </a:p>
        </p:txBody>
      </p:sp>
      <p:sp>
        <p:nvSpPr>
          <p:cNvPr id="44" name="Shape 32">
            <a:extLst xmlns:a="http://schemas.openxmlformats.org/drawingml/2006/main">
              <a:ext uri="{FF2B5EF4-FFF2-40B4-BE49-F238E27FC236}">
                <a16:creationId xmlns:a16="http://schemas.microsoft.com/office/drawing/2014/main" id="{58B7DB07-97BF-4C09-8E42-2650E1AB25A3}"/>
              </a:ext>
            </a:extLst>
          </p:cNvPr>
          <p:cNvSpPr>
            <a:spLocks xmlns:a="http://schemas.openxmlformats.org/drawingml/2006/main" noGrp="1"/>
          </p:cNvSpPr>
          <p:nvPr/>
        </p:nvSpPr>
        <p:spPr>
          <a:xfrm xmlns:a="http://schemas.openxmlformats.org/drawingml/2006/main">
            <a:off x="6214720"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5" name="Shape 33">
            <a:extLst xmlns:a="http://schemas.openxmlformats.org/drawingml/2006/main">
              <a:ext uri="{FF2B5EF4-FFF2-40B4-BE49-F238E27FC236}">
                <a16:creationId xmlns:a16="http://schemas.microsoft.com/office/drawing/2014/main" id="{86BA70DE-16AA-4802-AF2C-8228254F8B1D}"/>
              </a:ext>
            </a:extLst>
          </p:cNvPr>
          <p:cNvSpPr>
            <a:spLocks xmlns:a="http://schemas.openxmlformats.org/drawingml/2006/main" noGrp="1"/>
          </p:cNvSpPr>
          <p:nvPr/>
        </p:nvSpPr>
        <p:spPr>
          <a:xfrm xmlns:a="http://schemas.openxmlformats.org/drawingml/2006/main">
            <a:off x="6397600"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23" name="Image 10"/>
          <p:cNvPicPr>
            <a:picLocks xmlns:a="http://schemas.openxmlformats.org/drawingml/2006/main" noChangeAspect="1"/>
          </p:cNvPicPr>
          <p:nvPr/>
        </p:nvPicPr>
        <p:blipFill>
          <a:blip xmlns:r="http://schemas.openxmlformats.org/officeDocument/2006/relationships" xmlns:a="http://schemas.openxmlformats.org/drawingml/2006/main" r:embed="Ra9364d43904b4338"/>
          <a:stretch xmlns:a="http://schemas.openxmlformats.org/drawingml/2006/main">
            <a:fillRect l="0" t="0" r="0" b="0"/>
          </a:stretch>
        </p:blipFill>
        <p:spPr>
          <a:xfrm xmlns:a="http://schemas.openxmlformats.org/drawingml/2006/main">
            <a:off x="6511717" y="3918021"/>
            <a:ext cx="210678" cy="210678"/>
          </a:xfrm>
          <a:prstGeom xmlns:a="http://schemas.openxmlformats.org/drawingml/2006/main" prst="rect">
            <a:avLst/>
          </a:prstGeom>
        </p:spPr>
      </p:pic>
      <p:sp>
        <p:nvSpPr>
          <p:cNvPr id="47" name="Text 34">
            <a:extLst xmlns:a="http://schemas.openxmlformats.org/drawingml/2006/main">
              <a:ext uri="{FF2B5EF4-FFF2-40B4-BE49-F238E27FC236}">
                <a16:creationId xmlns:a16="http://schemas.microsoft.com/office/drawing/2014/main" id="{FFF5C347-8845-40B8-B534-199E428291F8}"/>
              </a:ext>
            </a:extLst>
          </p:cNvPr>
          <p:cNvSpPr>
            <a:spLocks xmlns:a="http://schemas.openxmlformats.org/drawingml/2006/main" noGrp="1"/>
          </p:cNvSpPr>
          <p:nvPr/>
        </p:nvSpPr>
        <p:spPr>
          <a:xfrm xmlns:a="http://schemas.openxmlformats.org/drawingml/2006/main">
            <a:off x="6964528"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Control layer</a:t>
            </a:r>
            <a:endParaRPr sz="1200"/>
          </a:p>
        </p:txBody>
      </p:sp>
      <p:sp>
        <p:nvSpPr>
          <p:cNvPr id="48" name="Shape 35">
            <a:extLst xmlns:a="http://schemas.openxmlformats.org/drawingml/2006/main">
              <a:ext uri="{FF2B5EF4-FFF2-40B4-BE49-F238E27FC236}">
                <a16:creationId xmlns:a16="http://schemas.microsoft.com/office/drawing/2014/main" id="{6D1E19DB-E0A8-487C-97DB-C406B1131945}"/>
              </a:ext>
            </a:extLst>
          </p:cNvPr>
          <p:cNvSpPr>
            <a:spLocks xmlns:a="http://schemas.openxmlformats.org/drawingml/2006/main" noGrp="1"/>
          </p:cNvSpPr>
          <p:nvPr/>
        </p:nvSpPr>
        <p:spPr>
          <a:xfrm xmlns:a="http://schemas.openxmlformats.org/drawingml/2006/main">
            <a:off x="9047759"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9" name="Shape 36">
            <a:extLst xmlns:a="http://schemas.openxmlformats.org/drawingml/2006/main">
              <a:ext uri="{FF2B5EF4-FFF2-40B4-BE49-F238E27FC236}">
                <a16:creationId xmlns:a16="http://schemas.microsoft.com/office/drawing/2014/main" id="{62CB995B-2F6A-418A-BE0E-863F2205FBE3}"/>
              </a:ext>
            </a:extLst>
          </p:cNvPr>
          <p:cNvSpPr>
            <a:spLocks xmlns:a="http://schemas.openxmlformats.org/drawingml/2006/main" noGrp="1"/>
          </p:cNvSpPr>
          <p:nvPr/>
        </p:nvSpPr>
        <p:spPr>
          <a:xfrm xmlns:a="http://schemas.openxmlformats.org/drawingml/2006/main">
            <a:off x="9230639"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27" name="Image 11"/>
          <p:cNvPicPr>
            <a:picLocks xmlns:a="http://schemas.openxmlformats.org/drawingml/2006/main" noChangeAspect="1"/>
          </p:cNvPicPr>
          <p:nvPr/>
        </p:nvPicPr>
        <p:blipFill>
          <a:blip xmlns:r="http://schemas.openxmlformats.org/officeDocument/2006/relationships" xmlns:a="http://schemas.openxmlformats.org/drawingml/2006/main" r:embed="R4c4708390d754ada"/>
          <a:stretch xmlns:a="http://schemas.openxmlformats.org/drawingml/2006/main">
            <a:fillRect l="0" t="0" r="0" b="0"/>
          </a:stretch>
        </p:blipFill>
        <p:spPr>
          <a:xfrm xmlns:a="http://schemas.openxmlformats.org/drawingml/2006/main">
            <a:off x="9344757" y="3918021"/>
            <a:ext cx="210678" cy="210678"/>
          </a:xfrm>
          <a:prstGeom xmlns:a="http://schemas.openxmlformats.org/drawingml/2006/main" prst="rect">
            <a:avLst/>
          </a:prstGeom>
        </p:spPr>
      </p:pic>
      <p:sp>
        <p:nvSpPr>
          <p:cNvPr id="51" name="Text 37">
            <a:extLst xmlns:a="http://schemas.openxmlformats.org/drawingml/2006/main">
              <a:ext uri="{FF2B5EF4-FFF2-40B4-BE49-F238E27FC236}">
                <a16:creationId xmlns:a16="http://schemas.microsoft.com/office/drawing/2014/main" id="{C2718489-033C-441E-BE81-17D6909F68D4}"/>
              </a:ext>
            </a:extLst>
          </p:cNvPr>
          <p:cNvSpPr>
            <a:spLocks xmlns:a="http://schemas.openxmlformats.org/drawingml/2006/main" noGrp="1"/>
          </p:cNvSpPr>
          <p:nvPr/>
        </p:nvSpPr>
        <p:spPr>
          <a:xfrm xmlns:a="http://schemas.openxmlformats.org/drawingml/2006/main">
            <a:off x="9797567"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Insight layer</a:t>
            </a:r>
            <a:endParaRPr sz="1200"/>
          </a:p>
        </p:txBody>
      </p:sp>
      <p:sp>
        <p:nvSpPr>
          <p:cNvPr id="52" name="Shape 38">
            <a:extLst xmlns:a="http://schemas.openxmlformats.org/drawingml/2006/main">
              <a:ext uri="{FF2B5EF4-FFF2-40B4-BE49-F238E27FC236}">
                <a16:creationId xmlns:a16="http://schemas.microsoft.com/office/drawing/2014/main" id="{40A921C6-9B08-4C99-A0E3-2E0D48C0C4C0}"/>
              </a:ext>
            </a:extLst>
          </p:cNvPr>
          <p:cNvSpPr>
            <a:spLocks xmlns:a="http://schemas.openxmlformats.org/drawingml/2006/main" noGrp="1"/>
          </p:cNvSpPr>
          <p:nvPr/>
        </p:nvSpPr>
        <p:spPr>
          <a:xfrm xmlns:a="http://schemas.openxmlformats.org/drawingml/2006/main">
            <a:off x="548640"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3" name="Text 39">
            <a:extLst xmlns:a="http://schemas.openxmlformats.org/drawingml/2006/main">
              <a:ext uri="{FF2B5EF4-FFF2-40B4-BE49-F238E27FC236}">
                <a16:creationId xmlns:a16="http://schemas.microsoft.com/office/drawing/2014/main" id="{1C9F10A1-7D49-42F4-BA5F-C059CEDB77FC}"/>
              </a:ext>
            </a:extLst>
          </p:cNvPr>
          <p:cNvSpPr>
            <a:spLocks xmlns:a="http://schemas.openxmlformats.org/drawingml/2006/main" noGrp="1"/>
          </p:cNvSpPr>
          <p:nvPr/>
        </p:nvSpPr>
        <p:spPr>
          <a:xfrm xmlns:a="http://schemas.openxmlformats.org/drawingml/2006/main">
            <a:off x="694944"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10,000+</a:t>
            </a:r>
            <a:endParaRPr sz="1900"/>
          </a:p>
        </p:txBody>
      </p:sp>
      <p:sp>
        <p:nvSpPr>
          <p:cNvPr id="54" name="Text 40">
            <a:extLst xmlns:a="http://schemas.openxmlformats.org/drawingml/2006/main">
              <a:ext uri="{FF2B5EF4-FFF2-40B4-BE49-F238E27FC236}">
                <a16:creationId xmlns:a16="http://schemas.microsoft.com/office/drawing/2014/main" id="{E80D27F0-C70F-468C-AE44-5DF2205501C2}"/>
              </a:ext>
            </a:extLst>
          </p:cNvPr>
          <p:cNvSpPr>
            <a:spLocks xmlns:a="http://schemas.openxmlformats.org/drawingml/2006/main" noGrp="1"/>
          </p:cNvSpPr>
          <p:nvPr/>
        </p:nvSpPr>
        <p:spPr>
          <a:xfrm xmlns:a="http://schemas.openxmlformats.org/drawingml/2006/main">
            <a:off x="694944"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daily personalized reports</a:t>
            </a:r>
            <a:endParaRPr sz="1050"/>
          </a:p>
        </p:txBody>
      </p:sp>
      <p:sp>
        <p:nvSpPr>
          <p:cNvPr id="55" name="Shape 41">
            <a:extLst xmlns:a="http://schemas.openxmlformats.org/drawingml/2006/main">
              <a:ext uri="{FF2B5EF4-FFF2-40B4-BE49-F238E27FC236}">
                <a16:creationId xmlns:a16="http://schemas.microsoft.com/office/drawing/2014/main" id="{4EB2ABE2-4B2F-4586-9119-88F7FF35A675}"/>
              </a:ext>
            </a:extLst>
          </p:cNvPr>
          <p:cNvSpPr>
            <a:spLocks xmlns:a="http://schemas.openxmlformats.org/drawingml/2006/main" noGrp="1"/>
          </p:cNvSpPr>
          <p:nvPr/>
        </p:nvSpPr>
        <p:spPr>
          <a:xfrm xmlns:a="http://schemas.openxmlformats.org/drawingml/2006/main">
            <a:off x="3381680"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6" name="Text 42">
            <a:extLst xmlns:a="http://schemas.openxmlformats.org/drawingml/2006/main">
              <a:ext uri="{FF2B5EF4-FFF2-40B4-BE49-F238E27FC236}">
                <a16:creationId xmlns:a16="http://schemas.microsoft.com/office/drawing/2014/main" id="{8402A5CF-4D4A-43F5-98B6-6FC3529481D7}"/>
              </a:ext>
            </a:extLst>
          </p:cNvPr>
          <p:cNvSpPr>
            <a:spLocks xmlns:a="http://schemas.openxmlformats.org/drawingml/2006/main" noGrp="1"/>
          </p:cNvSpPr>
          <p:nvPr/>
        </p:nvSpPr>
        <p:spPr>
          <a:xfrm xmlns:a="http://schemas.openxmlformats.org/drawingml/2006/main">
            <a:off x="3527984"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370%</a:t>
            </a:r>
            <a:endParaRPr sz="1900"/>
          </a:p>
        </p:txBody>
      </p:sp>
      <p:sp>
        <p:nvSpPr>
          <p:cNvPr id="57" name="Text 43">
            <a:extLst xmlns:a="http://schemas.openxmlformats.org/drawingml/2006/main">
              <a:ext uri="{FF2B5EF4-FFF2-40B4-BE49-F238E27FC236}">
                <a16:creationId xmlns:a16="http://schemas.microsoft.com/office/drawing/2014/main" id="{154183C4-B03F-4A15-8363-0F1BC2CB2E65}"/>
              </a:ext>
            </a:extLst>
          </p:cNvPr>
          <p:cNvSpPr>
            <a:spLocks xmlns:a="http://schemas.openxmlformats.org/drawingml/2006/main" noGrp="1"/>
          </p:cNvSpPr>
          <p:nvPr/>
        </p:nvSpPr>
        <p:spPr>
          <a:xfrm xmlns:a="http://schemas.openxmlformats.org/drawingml/2006/main">
            <a:off x="3527984"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increase in leads</a:t>
            </a:r>
            <a:endParaRPr sz="1050"/>
          </a:p>
        </p:txBody>
      </p:sp>
      <p:sp>
        <p:nvSpPr>
          <p:cNvPr id="58" name="Shape 44">
            <a:extLst xmlns:a="http://schemas.openxmlformats.org/drawingml/2006/main">
              <a:ext uri="{FF2B5EF4-FFF2-40B4-BE49-F238E27FC236}">
                <a16:creationId xmlns:a16="http://schemas.microsoft.com/office/drawing/2014/main" id="{2FC617EC-C727-4F44-B748-913646EAB420}"/>
              </a:ext>
            </a:extLst>
          </p:cNvPr>
          <p:cNvSpPr>
            <a:spLocks xmlns:a="http://schemas.openxmlformats.org/drawingml/2006/main" noGrp="1"/>
          </p:cNvSpPr>
          <p:nvPr/>
        </p:nvSpPr>
        <p:spPr>
          <a:xfrm xmlns:a="http://schemas.openxmlformats.org/drawingml/2006/main">
            <a:off x="6214720"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9" name="Text 45">
            <a:extLst xmlns:a="http://schemas.openxmlformats.org/drawingml/2006/main">
              <a:ext uri="{FF2B5EF4-FFF2-40B4-BE49-F238E27FC236}">
                <a16:creationId xmlns:a16="http://schemas.microsoft.com/office/drawing/2014/main" id="{CCDB8FD3-62DF-4BF1-91BF-D537BB5BFBE4}"/>
              </a:ext>
            </a:extLst>
          </p:cNvPr>
          <p:cNvSpPr>
            <a:spLocks xmlns:a="http://schemas.openxmlformats.org/drawingml/2006/main" noGrp="1"/>
          </p:cNvSpPr>
          <p:nvPr/>
        </p:nvSpPr>
        <p:spPr>
          <a:xfrm xmlns:a="http://schemas.openxmlformats.org/drawingml/2006/main">
            <a:off x="6361024"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108%</a:t>
            </a:r>
            <a:endParaRPr sz="1900"/>
          </a:p>
        </p:txBody>
      </p:sp>
      <p:sp>
        <p:nvSpPr>
          <p:cNvPr id="60" name="Text 46">
            <a:extLst xmlns:a="http://schemas.openxmlformats.org/drawingml/2006/main">
              <a:ext uri="{FF2B5EF4-FFF2-40B4-BE49-F238E27FC236}">
                <a16:creationId xmlns:a16="http://schemas.microsoft.com/office/drawing/2014/main" id="{CE47E758-6A83-4781-A2E7-7A9BA206A395}"/>
              </a:ext>
            </a:extLst>
          </p:cNvPr>
          <p:cNvSpPr>
            <a:spLocks xmlns:a="http://schemas.openxmlformats.org/drawingml/2006/main" noGrp="1"/>
          </p:cNvSpPr>
          <p:nvPr/>
        </p:nvSpPr>
        <p:spPr>
          <a:xfrm xmlns:a="http://schemas.openxmlformats.org/drawingml/2006/main">
            <a:off x="6361024"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response-rate increase</a:t>
            </a:r>
            <a:endParaRPr sz="1050"/>
          </a:p>
        </p:txBody>
      </p:sp>
      <p:sp>
        <p:nvSpPr>
          <p:cNvPr id="61" name="Shape 47">
            <a:extLst xmlns:a="http://schemas.openxmlformats.org/drawingml/2006/main">
              <a:ext uri="{FF2B5EF4-FFF2-40B4-BE49-F238E27FC236}">
                <a16:creationId xmlns:a16="http://schemas.microsoft.com/office/drawing/2014/main" id="{A824AEC7-DB0E-45C3-82AA-803429EC322B}"/>
              </a:ext>
            </a:extLst>
          </p:cNvPr>
          <p:cNvSpPr>
            <a:spLocks xmlns:a="http://schemas.openxmlformats.org/drawingml/2006/main" noGrp="1"/>
          </p:cNvSpPr>
          <p:nvPr/>
        </p:nvSpPr>
        <p:spPr>
          <a:xfrm xmlns:a="http://schemas.openxmlformats.org/drawingml/2006/main">
            <a:off x="9047759"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62" name="Text 48">
            <a:extLst xmlns:a="http://schemas.openxmlformats.org/drawingml/2006/main">
              <a:ext uri="{FF2B5EF4-FFF2-40B4-BE49-F238E27FC236}">
                <a16:creationId xmlns:a16="http://schemas.microsoft.com/office/drawing/2014/main" id="{2C58023A-274B-4C6B-BB0C-B61169C0279D}"/>
              </a:ext>
            </a:extLst>
          </p:cNvPr>
          <p:cNvSpPr>
            <a:spLocks xmlns:a="http://schemas.openxmlformats.org/drawingml/2006/main" noGrp="1"/>
          </p:cNvSpPr>
          <p:nvPr/>
        </p:nvSpPr>
        <p:spPr>
          <a:xfrm xmlns:a="http://schemas.openxmlformats.org/drawingml/2006/main">
            <a:off x="9194063"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23%</a:t>
            </a:r>
            <a:endParaRPr sz="1900"/>
          </a:p>
        </p:txBody>
      </p:sp>
      <p:sp>
        <p:nvSpPr>
          <p:cNvPr id="63" name="Text 49">
            <a:extLst xmlns:a="http://schemas.openxmlformats.org/drawingml/2006/main">
              <a:ext uri="{FF2B5EF4-FFF2-40B4-BE49-F238E27FC236}">
                <a16:creationId xmlns:a16="http://schemas.microsoft.com/office/drawing/2014/main" id="{611E3D5B-AE5D-4401-B6CF-6B1CD3213B43}"/>
              </a:ext>
            </a:extLst>
          </p:cNvPr>
          <p:cNvSpPr>
            <a:spLocks xmlns:a="http://schemas.openxmlformats.org/drawingml/2006/main" noGrp="1"/>
          </p:cNvSpPr>
          <p:nvPr/>
        </p:nvSpPr>
        <p:spPr>
          <a:xfrm xmlns:a="http://schemas.openxmlformats.org/drawingml/2006/main">
            <a:off x="9194063"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campaign-frequency increase</a:t>
            </a:r>
            <a:endParaRPr sz="1050"/>
          </a:p>
        </p:txBody>
      </p:sp>
      <p:sp>
        <p:nvSpPr>
          <p:cNvPr id="64" name="Text 50">
            <a:extLst xmlns:a="http://schemas.openxmlformats.org/drawingml/2006/main">
              <a:ext uri="{FF2B5EF4-FFF2-40B4-BE49-F238E27FC236}">
                <a16:creationId xmlns:a16="http://schemas.microsoft.com/office/drawing/2014/main" id="{211B4FF5-F98D-40C7-AEA6-007B2A58CD9A}"/>
              </a:ext>
            </a:extLst>
          </p:cNvPr>
          <p:cNvSpPr>
            <a:spLocks xmlns:a="http://schemas.openxmlformats.org/drawingml/2006/main" noGrp="1"/>
          </p:cNvSpPr>
          <p:nvPr/>
        </p:nvSpPr>
        <p:spPr>
          <a:xfrm xmlns:a="http://schemas.openxmlformats.org/drawingml/2006/main">
            <a:off x="548640" y="5632704"/>
            <a:ext cx="11094415"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i="1">
                <a:solidFill>
                  <a:srgbClr val="595959"/>
                </a:solidFill>
                <a:latin typeface="Calibri"/>
                <a:ea typeface="Calibri"/>
                <a:cs typeface="Calibri"/>
              </a:rPr>
              <a:t>Public outcomes show movement; control effectiveness is not independently audited</a:t>
            </a:r>
            <a:endParaRPr sz="1050"/>
          </a:p>
        </p:txBody>
      </p:sp>
      <p:sp>
        <p:nvSpPr>
          <p:cNvPr id="65" name="Text 51">
            <a:extLst xmlns:a="http://schemas.openxmlformats.org/drawingml/2006/main">
              <a:ext uri="{FF2B5EF4-FFF2-40B4-BE49-F238E27FC236}">
                <a16:creationId xmlns:a16="http://schemas.microsoft.com/office/drawing/2014/main" id="{6E1F0C68-3052-44E7-966D-B4D18A42C04B}"/>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66" name="Text 52">
            <a:extLst xmlns:a="http://schemas.openxmlformats.org/drawingml/2006/main">
              <a:ext uri="{FF2B5EF4-FFF2-40B4-BE49-F238E27FC236}">
                <a16:creationId xmlns:a16="http://schemas.microsoft.com/office/drawing/2014/main" id="{74FDD6E4-9257-4E9E-ABCF-620AF98304B3}"/>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09</a:t>
            </a:r>
            <a:endParaRPr sz="900"/>
          </a:p>
        </p:txBody>
      </p:sp>
    </p:spTree>
    <p:extLst>
      <p:ext uri="{BB962C8B-B14F-4D97-AF65-F5344CB8AC3E}">
        <p14:creationId xmlns:p14="http://schemas.microsoft.com/office/powerpoint/2010/main" val="187498564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C3DD41-A864-4421-AC15-1BA34AEF352C}"/>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OUTCOME EVIDENCE</a:t>
            </a:r>
            <a:endParaRPr sz="1200"/>
          </a:p>
        </p:txBody>
      </p:sp>
      <p:sp>
        <p:nvSpPr>
          <p:cNvPr id="3" name="Text 1">
            <a:extLst xmlns:a="http://schemas.openxmlformats.org/drawingml/2006/main">
              <a:ext uri="{FF2B5EF4-FFF2-40B4-BE49-F238E27FC236}">
                <a16:creationId xmlns:a16="http://schemas.microsoft.com/office/drawing/2014/main" id="{9A254792-F824-48E9-AC7C-EF70A07B3D71}"/>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Public metrics show adoption and service gains</a:t>
            </a:r>
            <a:endParaRPr sz="3000"/>
          </a:p>
        </p:txBody>
      </p:sp>
      <p:sp>
        <p:nvSpPr>
          <p:cNvPr id="4" name="Text 2">
            <a:extLst xmlns:a="http://schemas.openxmlformats.org/drawingml/2006/main">
              <a:ext uri="{FF2B5EF4-FFF2-40B4-BE49-F238E27FC236}">
                <a16:creationId xmlns:a16="http://schemas.microsoft.com/office/drawing/2014/main" id="{F35B9937-C540-416D-A1B3-AC4CD2DDCB64}"/>
              </a:ext>
            </a:extLst>
          </p:cNvPr>
          <p:cNvSpPr>
            <a:spLocks xmlns:a="http://schemas.openxmlformats.org/drawingml/2006/main" noGrp="1"/>
          </p:cNvSpPr>
          <p:nvPr/>
        </p:nvSpPr>
        <p:spPr>
          <a:xfrm xmlns:a="http://schemas.openxmlformats.org/drawingml/2006/main">
            <a:off x="548640" y="1481328"/>
            <a:ext cx="5943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1F3A5F"/>
                </a:solidFill>
                <a:latin typeface="Poppins"/>
                <a:ea typeface="Poppins"/>
                <a:cs typeface="Poppins"/>
              </a:rPr>
              <a:t>PERCENT CHANGE — VENDOR-ATTRIBUTED</a:t>
            </a:r>
            <a:endParaRPr sz="1100"/>
          </a:p>
        </p:txBody>
      </p:sp>
      <p:graphicFrame>
        <p:nvGraphicFramePr>
          <p:cNvPr id="46" name="Chart 0"/>
          <p:cNvGraphicFramePr/>
          <p:nvPr/>
        </p:nvGraphicFramePr>
        <p:xfrm>
          <a:off xmlns:a="http://schemas.openxmlformats.org/drawingml/2006/main" x="548640" y="1810512"/>
          <a:ext xmlns:a="http://schemas.openxmlformats.org/drawingml/2006/main" cx="5852160" cy="3200400"/>
        </p:xfrm>
        <a:graphic xmlns:a="http://schemas.openxmlformats.org/drawingml/2006/main">
          <a:graphicData uri="http://schemas.openxmlformats.org/drawingml/2006/chart">
            <c:chart xmlns:r="http://schemas.openxmlformats.org/officeDocument/2006/relationships" xmlns:c="http://schemas.openxmlformats.org/drawingml/2006/chart" r:id="R7f5f870f2e894ab8"/>
          </a:graphicData>
        </a:graphic>
      </p:graphicFrame>
      <p:sp>
        <p:nvSpPr>
          <p:cNvPr id="6" name="Shape 3">
            <a:extLst xmlns:a="http://schemas.openxmlformats.org/drawingml/2006/main">
              <a:ext uri="{FF2B5EF4-FFF2-40B4-BE49-F238E27FC236}">
                <a16:creationId xmlns:a16="http://schemas.microsoft.com/office/drawing/2014/main" id="{5ECFB769-978A-431E-A217-0C12C93A1427}"/>
              </a:ext>
            </a:extLst>
          </p:cNvPr>
          <p:cNvSpPr>
            <a:spLocks xmlns:a="http://schemas.openxmlformats.org/drawingml/2006/main" noGrp="1"/>
          </p:cNvSpPr>
          <p:nvPr/>
        </p:nvSpPr>
        <p:spPr>
          <a:xfrm xmlns:a="http://schemas.openxmlformats.org/drawingml/2006/main">
            <a:off x="548640" y="5175504"/>
            <a:ext cx="5852160" cy="1051560"/>
          </a:xfrm>
          <a:prstGeom xmlns:a="http://schemas.openxmlformats.org/drawingml/2006/main" prst="roundRect">
            <a:avLst>
              <a:gd name="adj" fmla="val 9565"/>
            </a:avLst>
          </a:prstGeom>
          <a:solidFill xmlns:a="http://schemas.openxmlformats.org/drawingml/2006/main">
            <a:srgbClr val="1F3A5F"/>
          </a:solidFill>
          <a:effectLst xmlns:a="http://schemas.openxmlformats.org/drawingml/2006/main">
            <a:outerShdw blurRad="114300" dist="38100" dir="5400000" sx="100000" sy="100000" kx="0" ky="0" algn="bl" rotWithShape="0">
              <a:srgbClr val="9A8F88">
                <a:alpha val="32000"/>
              </a:srgbClr>
            </a:outerShdw>
          </a:effectLst>
        </p:spPr>
      </p:sp>
      <p:sp>
        <p:nvSpPr>
          <p:cNvPr id="7" name="Text 4">
            <a:extLst xmlns:a="http://schemas.openxmlformats.org/drawingml/2006/main">
              <a:ext uri="{FF2B5EF4-FFF2-40B4-BE49-F238E27FC236}">
                <a16:creationId xmlns:a16="http://schemas.microsoft.com/office/drawing/2014/main" id="{A94CDF66-4163-49E5-85F5-2D645154DB41}"/>
              </a:ext>
            </a:extLst>
          </p:cNvPr>
          <p:cNvSpPr>
            <a:spLocks xmlns:a="http://schemas.openxmlformats.org/drawingml/2006/main" noGrp="1"/>
          </p:cNvSpPr>
          <p:nvPr/>
        </p:nvSpPr>
        <p:spPr>
          <a:xfrm xmlns:a="http://schemas.openxmlformats.org/drawingml/2006/main">
            <a:off x="640080" y="5285232"/>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latin typeface="Poppins"/>
                <a:ea typeface="Poppins"/>
                <a:cs typeface="Poppins"/>
              </a:rPr>
              <a:t>10,000+</a:t>
            </a:r>
            <a:endParaRPr sz="3000"/>
          </a:p>
        </p:txBody>
      </p:sp>
      <p:sp>
        <p:nvSpPr>
          <p:cNvPr id="8" name="Text 5">
            <a:extLst xmlns:a="http://schemas.openxmlformats.org/drawingml/2006/main">
              <a:ext uri="{FF2B5EF4-FFF2-40B4-BE49-F238E27FC236}">
                <a16:creationId xmlns:a16="http://schemas.microsoft.com/office/drawing/2014/main" id="{03657C45-E839-4006-86B5-05C3985706CA}"/>
              </a:ext>
            </a:extLst>
          </p:cNvPr>
          <p:cNvSpPr>
            <a:spLocks xmlns:a="http://schemas.openxmlformats.org/drawingml/2006/main" noGrp="1"/>
          </p:cNvSpPr>
          <p:nvPr/>
        </p:nvSpPr>
        <p:spPr>
          <a:xfrm xmlns:a="http://schemas.openxmlformats.org/drawingml/2006/main">
            <a:off x="640080" y="577900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CADCFC"/>
                </a:solidFill>
                <a:latin typeface="Calibri"/>
                <a:ea typeface="Calibri"/>
                <a:cs typeface="Calibri"/>
              </a:rPr>
              <a:t>daily personalized reports</a:t>
            </a:r>
            <a:endParaRPr sz="1000"/>
          </a:p>
        </p:txBody>
      </p:sp>
      <p:sp>
        <p:nvSpPr>
          <p:cNvPr id="9" name="Shape 6">
            <a:extLst xmlns:a="http://schemas.openxmlformats.org/drawingml/2006/main">
              <a:ext uri="{FF2B5EF4-FFF2-40B4-BE49-F238E27FC236}">
                <a16:creationId xmlns:a16="http://schemas.microsoft.com/office/drawing/2014/main" id="{1F81D8F8-A58C-4838-99DC-1709B732D313}"/>
              </a:ext>
            </a:extLst>
          </p:cNvPr>
          <p:cNvSpPr>
            <a:spLocks xmlns:a="http://schemas.openxmlformats.org/drawingml/2006/main" noGrp="1"/>
          </p:cNvSpPr>
          <p:nvPr/>
        </p:nvSpPr>
        <p:spPr>
          <a:xfrm xmlns:a="http://schemas.openxmlformats.org/drawingml/2006/main">
            <a:off x="2560320" y="5321808"/>
            <a:ext cx="0" cy="777240"/>
          </a:xfrm>
          <a:prstGeom xmlns:a="http://schemas.openxmlformats.org/drawingml/2006/main" prst="line">
            <a:avLst/>
          </a:prstGeom>
          <a:noFill xmlns:a="http://schemas.openxmlformats.org/drawingml/2006/main"/>
          <a:ln xmlns:a="http://schemas.openxmlformats.org/drawingml/2006/main" w="12700">
            <a:solidFill>
              <a:srgbClr val="2E4A6B"/>
            </a:solidFill>
            <a:prstDash val="solid"/>
          </a:ln>
        </p:spPr>
      </p:sp>
      <p:sp>
        <p:nvSpPr>
          <p:cNvPr id="10" name="Text 7">
            <a:extLst xmlns:a="http://schemas.openxmlformats.org/drawingml/2006/main">
              <a:ext uri="{FF2B5EF4-FFF2-40B4-BE49-F238E27FC236}">
                <a16:creationId xmlns:a16="http://schemas.microsoft.com/office/drawing/2014/main" id="{496D8356-FBBA-4B5E-B7F5-756CBFA24810}"/>
              </a:ext>
            </a:extLst>
          </p:cNvPr>
          <p:cNvSpPr>
            <a:spLocks xmlns:a="http://schemas.openxmlformats.org/drawingml/2006/main" noGrp="1"/>
          </p:cNvSpPr>
          <p:nvPr/>
        </p:nvSpPr>
        <p:spPr>
          <a:xfrm xmlns:a="http://schemas.openxmlformats.org/drawingml/2006/main">
            <a:off x="2587752" y="5285232"/>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latin typeface="Poppins"/>
                <a:ea typeface="Poppins"/>
                <a:cs typeface="Poppins"/>
              </a:rPr>
              <a:t>370%</a:t>
            </a:r>
            <a:endParaRPr sz="3000"/>
          </a:p>
        </p:txBody>
      </p:sp>
      <p:sp>
        <p:nvSpPr>
          <p:cNvPr id="11" name="Text 8">
            <a:extLst xmlns:a="http://schemas.openxmlformats.org/drawingml/2006/main">
              <a:ext uri="{FF2B5EF4-FFF2-40B4-BE49-F238E27FC236}">
                <a16:creationId xmlns:a16="http://schemas.microsoft.com/office/drawing/2014/main" id="{0508DDCB-0D34-4445-A758-9097B099D809}"/>
              </a:ext>
            </a:extLst>
          </p:cNvPr>
          <p:cNvSpPr>
            <a:spLocks xmlns:a="http://schemas.openxmlformats.org/drawingml/2006/main" noGrp="1"/>
          </p:cNvSpPr>
          <p:nvPr/>
        </p:nvSpPr>
        <p:spPr>
          <a:xfrm xmlns:a="http://schemas.openxmlformats.org/drawingml/2006/main">
            <a:off x="2587752" y="577900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CADCFC"/>
                </a:solidFill>
                <a:latin typeface="Calibri"/>
                <a:ea typeface="Calibri"/>
                <a:cs typeface="Calibri"/>
              </a:rPr>
              <a:t>increase in leads</a:t>
            </a:r>
            <a:endParaRPr sz="1000"/>
          </a:p>
        </p:txBody>
      </p:sp>
      <p:sp>
        <p:nvSpPr>
          <p:cNvPr id="12" name="Shape 9">
            <a:extLst xmlns:a="http://schemas.openxmlformats.org/drawingml/2006/main">
              <a:ext uri="{FF2B5EF4-FFF2-40B4-BE49-F238E27FC236}">
                <a16:creationId xmlns:a16="http://schemas.microsoft.com/office/drawing/2014/main" id="{B87B8ACD-CD7C-4A43-AE4A-457A16D2703A}"/>
              </a:ext>
            </a:extLst>
          </p:cNvPr>
          <p:cNvSpPr>
            <a:spLocks xmlns:a="http://schemas.openxmlformats.org/drawingml/2006/main" noGrp="1"/>
          </p:cNvSpPr>
          <p:nvPr/>
        </p:nvSpPr>
        <p:spPr>
          <a:xfrm xmlns:a="http://schemas.openxmlformats.org/drawingml/2006/main">
            <a:off x="4507992" y="5321808"/>
            <a:ext cx="0" cy="777240"/>
          </a:xfrm>
          <a:prstGeom xmlns:a="http://schemas.openxmlformats.org/drawingml/2006/main" prst="line">
            <a:avLst/>
          </a:prstGeom>
          <a:noFill xmlns:a="http://schemas.openxmlformats.org/drawingml/2006/main"/>
          <a:ln xmlns:a="http://schemas.openxmlformats.org/drawingml/2006/main" w="12700">
            <a:solidFill>
              <a:srgbClr val="2E4A6B"/>
            </a:solidFill>
            <a:prstDash val="solid"/>
          </a:ln>
        </p:spPr>
      </p:sp>
      <p:sp>
        <p:nvSpPr>
          <p:cNvPr id="13" name="Text 10">
            <a:extLst xmlns:a="http://schemas.openxmlformats.org/drawingml/2006/main">
              <a:ext uri="{FF2B5EF4-FFF2-40B4-BE49-F238E27FC236}">
                <a16:creationId xmlns:a16="http://schemas.microsoft.com/office/drawing/2014/main" id="{E7183E32-38C9-4B4D-9DCA-82E672D36B3C}"/>
              </a:ext>
            </a:extLst>
          </p:cNvPr>
          <p:cNvSpPr>
            <a:spLocks xmlns:a="http://schemas.openxmlformats.org/drawingml/2006/main" noGrp="1"/>
          </p:cNvSpPr>
          <p:nvPr/>
        </p:nvSpPr>
        <p:spPr>
          <a:xfrm xmlns:a="http://schemas.openxmlformats.org/drawingml/2006/main">
            <a:off x="4535424" y="5285232"/>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latin typeface="Poppins"/>
                <a:ea typeface="Poppins"/>
                <a:cs typeface="Poppins"/>
              </a:rPr>
              <a:t>108%</a:t>
            </a:r>
            <a:endParaRPr sz="3000"/>
          </a:p>
        </p:txBody>
      </p:sp>
      <p:sp>
        <p:nvSpPr>
          <p:cNvPr id="14" name="Text 11">
            <a:extLst xmlns:a="http://schemas.openxmlformats.org/drawingml/2006/main">
              <a:ext uri="{FF2B5EF4-FFF2-40B4-BE49-F238E27FC236}">
                <a16:creationId xmlns:a16="http://schemas.microsoft.com/office/drawing/2014/main" id="{D3D2C79B-6331-440A-91DD-303D23B0D197}"/>
              </a:ext>
            </a:extLst>
          </p:cNvPr>
          <p:cNvSpPr>
            <a:spLocks xmlns:a="http://schemas.openxmlformats.org/drawingml/2006/main" noGrp="1"/>
          </p:cNvSpPr>
          <p:nvPr/>
        </p:nvSpPr>
        <p:spPr>
          <a:xfrm xmlns:a="http://schemas.openxmlformats.org/drawingml/2006/main">
            <a:off x="4535424" y="577900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CADCFC"/>
                </a:solidFill>
                <a:latin typeface="Calibri"/>
                <a:ea typeface="Calibri"/>
                <a:cs typeface="Calibri"/>
              </a:rPr>
              <a:t>response-rate increase</a:t>
            </a:r>
            <a:endParaRPr sz="1000"/>
          </a:p>
        </p:txBody>
      </p:sp>
      <p:sp>
        <p:nvSpPr>
          <p:cNvPr id="15" name="Text 12">
            <a:extLst xmlns:a="http://schemas.openxmlformats.org/drawingml/2006/main">
              <a:ext uri="{FF2B5EF4-FFF2-40B4-BE49-F238E27FC236}">
                <a16:creationId xmlns:a16="http://schemas.microsoft.com/office/drawing/2014/main" id="{B707D020-FF59-4176-872E-F3C621F6B181}"/>
              </a:ext>
            </a:extLst>
          </p:cNvPr>
          <p:cNvSpPr>
            <a:spLocks xmlns:a="http://schemas.openxmlformats.org/drawingml/2006/main" noGrp="1"/>
          </p:cNvSpPr>
          <p:nvPr/>
        </p:nvSpPr>
        <p:spPr>
          <a:xfrm xmlns:a="http://schemas.openxmlformats.org/drawingml/2006/main">
            <a:off x="6858000" y="1481328"/>
            <a:ext cx="478505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OPERATING DISCIPLINES</a:t>
            </a:r>
            <a:endParaRPr sz="1100"/>
          </a:p>
        </p:txBody>
      </p:sp>
      <p:sp>
        <p:nvSpPr>
          <p:cNvPr id="16" name="Shape 13">
            <a:extLst xmlns:a="http://schemas.openxmlformats.org/drawingml/2006/main">
              <a:ext uri="{FF2B5EF4-FFF2-40B4-BE49-F238E27FC236}">
                <a16:creationId xmlns:a16="http://schemas.microsoft.com/office/drawing/2014/main" id="{5A607770-51A1-4C03-AFFC-8AA348CC44F8}"/>
              </a:ext>
            </a:extLst>
          </p:cNvPr>
          <p:cNvSpPr>
            <a:spLocks xmlns:a="http://schemas.openxmlformats.org/drawingml/2006/main" noGrp="1"/>
          </p:cNvSpPr>
          <p:nvPr/>
        </p:nvSpPr>
        <p:spPr>
          <a:xfrm xmlns:a="http://schemas.openxmlformats.org/drawingml/2006/main">
            <a:off x="6858000" y="1828800"/>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7" name="Shape 14">
            <a:extLst xmlns:a="http://schemas.openxmlformats.org/drawingml/2006/main">
              <a:ext uri="{FF2B5EF4-FFF2-40B4-BE49-F238E27FC236}">
                <a16:creationId xmlns:a16="http://schemas.microsoft.com/office/drawing/2014/main" id="{A0D3AA73-2763-49CF-9A8F-E967300EA777}"/>
              </a:ext>
            </a:extLst>
          </p:cNvPr>
          <p:cNvSpPr>
            <a:spLocks xmlns:a="http://schemas.openxmlformats.org/drawingml/2006/main" noGrp="1"/>
          </p:cNvSpPr>
          <p:nvPr/>
        </p:nvSpPr>
        <p:spPr>
          <a:xfrm xmlns:a="http://schemas.openxmlformats.org/drawingml/2006/main">
            <a:off x="7040880" y="2029968"/>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e148e2bd666a4539"/>
          <a:stretch xmlns:a="http://schemas.openxmlformats.org/drawingml/2006/main">
            <a:fillRect l="0" t="0" r="0" b="0"/>
          </a:stretch>
        </p:blipFill>
        <p:spPr>
          <a:xfrm xmlns:a="http://schemas.openxmlformats.org/drawingml/2006/main">
            <a:off x="7154997" y="2144085"/>
            <a:ext cx="247254" cy="247254"/>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3B899CC4-C92F-4E3F-B27F-73CC8BCA4E92}"/>
              </a:ext>
            </a:extLst>
          </p:cNvPr>
          <p:cNvSpPr>
            <a:spLocks xmlns:a="http://schemas.openxmlformats.org/drawingml/2006/main" noGrp="1"/>
          </p:cNvSpPr>
          <p:nvPr/>
        </p:nvSpPr>
        <p:spPr>
          <a:xfrm xmlns:a="http://schemas.openxmlformats.org/drawingml/2006/main">
            <a:off x="7680960" y="1975104"/>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Prioritize journeys</a:t>
            </a:r>
            <a:endParaRPr sz="1250"/>
          </a:p>
        </p:txBody>
      </p:sp>
      <p:sp>
        <p:nvSpPr>
          <p:cNvPr id="20" name="Text 16">
            <a:extLst xmlns:a="http://schemas.openxmlformats.org/drawingml/2006/main">
              <a:ext uri="{FF2B5EF4-FFF2-40B4-BE49-F238E27FC236}">
                <a16:creationId xmlns:a16="http://schemas.microsoft.com/office/drawing/2014/main" id="{1FB27E3D-23C1-4C59-9636-7461CB697CC7}"/>
              </a:ext>
            </a:extLst>
          </p:cNvPr>
          <p:cNvSpPr>
            <a:spLocks xmlns:a="http://schemas.openxmlformats.org/drawingml/2006/main" noGrp="1"/>
          </p:cNvSpPr>
          <p:nvPr/>
        </p:nvSpPr>
        <p:spPr>
          <a:xfrm xmlns:a="http://schemas.openxmlformats.org/drawingml/2006/main">
            <a:off x="7680960" y="2286000"/>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Sequence high-value customer and banker moments against measurable pain.</a:t>
            </a:r>
            <a:endParaRPr sz="1000"/>
          </a:p>
        </p:txBody>
      </p:sp>
      <p:sp>
        <p:nvSpPr>
          <p:cNvPr id="21" name="Shape 17">
            <a:extLst xmlns:a="http://schemas.openxmlformats.org/drawingml/2006/main">
              <a:ext uri="{FF2B5EF4-FFF2-40B4-BE49-F238E27FC236}">
                <a16:creationId xmlns:a16="http://schemas.microsoft.com/office/drawing/2014/main" id="{76362B65-8598-4E47-BC66-129527085A05}"/>
              </a:ext>
            </a:extLst>
          </p:cNvPr>
          <p:cNvSpPr>
            <a:spLocks xmlns:a="http://schemas.openxmlformats.org/drawingml/2006/main" noGrp="1"/>
          </p:cNvSpPr>
          <p:nvPr/>
        </p:nvSpPr>
        <p:spPr>
          <a:xfrm xmlns:a="http://schemas.openxmlformats.org/drawingml/2006/main">
            <a:off x="6858000" y="2962656"/>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2" name="Shape 18">
            <a:extLst xmlns:a="http://schemas.openxmlformats.org/drawingml/2006/main">
              <a:ext uri="{FF2B5EF4-FFF2-40B4-BE49-F238E27FC236}">
                <a16:creationId xmlns:a16="http://schemas.microsoft.com/office/drawing/2014/main" id="{8C675E78-353C-4E2B-9FFC-B372865D1FA7}"/>
              </a:ext>
            </a:extLst>
          </p:cNvPr>
          <p:cNvSpPr>
            <a:spLocks xmlns:a="http://schemas.openxmlformats.org/drawingml/2006/main" noGrp="1"/>
          </p:cNvSpPr>
          <p:nvPr/>
        </p:nvSpPr>
        <p:spPr>
          <a:xfrm xmlns:a="http://schemas.openxmlformats.org/drawingml/2006/main">
            <a:off x="7040880" y="3163824"/>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40954460eae242f4"/>
          <a:stretch xmlns:a="http://schemas.openxmlformats.org/drawingml/2006/main">
            <a:fillRect l="0" t="0" r="0" b="0"/>
          </a:stretch>
        </p:blipFill>
        <p:spPr>
          <a:xfrm xmlns:a="http://schemas.openxmlformats.org/drawingml/2006/main">
            <a:off x="7154997" y="3277941"/>
            <a:ext cx="247254" cy="247254"/>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248FCAA5-441E-4BAD-BEE4-7A33096F76F8}"/>
              </a:ext>
            </a:extLst>
          </p:cNvPr>
          <p:cNvSpPr>
            <a:spLocks xmlns:a="http://schemas.openxmlformats.org/drawingml/2006/main" noGrp="1"/>
          </p:cNvSpPr>
          <p:nvPr/>
        </p:nvSpPr>
        <p:spPr>
          <a:xfrm xmlns:a="http://schemas.openxmlformats.org/drawingml/2006/main">
            <a:off x="7680960" y="3108960"/>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Design controls</a:t>
            </a:r>
            <a:endParaRPr sz="1250"/>
          </a:p>
        </p:txBody>
      </p:sp>
      <p:sp>
        <p:nvSpPr>
          <p:cNvPr id="25" name="Text 20">
            <a:extLst xmlns:a="http://schemas.openxmlformats.org/drawingml/2006/main">
              <a:ext uri="{FF2B5EF4-FFF2-40B4-BE49-F238E27FC236}">
                <a16:creationId xmlns:a16="http://schemas.microsoft.com/office/drawing/2014/main" id="{7DB478AB-2B36-4353-8B43-2DE2EA5D2719}"/>
              </a:ext>
            </a:extLst>
          </p:cNvPr>
          <p:cNvSpPr>
            <a:spLocks xmlns:a="http://schemas.openxmlformats.org/drawingml/2006/main" noGrp="1"/>
          </p:cNvSpPr>
          <p:nvPr/>
        </p:nvSpPr>
        <p:spPr>
          <a:xfrm xmlns:a="http://schemas.openxmlformats.org/drawingml/2006/main">
            <a:off x="7680960" y="3419856"/>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Embed access, consent, audit and exception handling before release.</a:t>
            </a:r>
            <a:endParaRPr sz="1000"/>
          </a:p>
        </p:txBody>
      </p:sp>
      <p:sp>
        <p:nvSpPr>
          <p:cNvPr id="26" name="Shape 21">
            <a:extLst xmlns:a="http://schemas.openxmlformats.org/drawingml/2006/main">
              <a:ext uri="{FF2B5EF4-FFF2-40B4-BE49-F238E27FC236}">
                <a16:creationId xmlns:a16="http://schemas.microsoft.com/office/drawing/2014/main" id="{DFF59640-E67E-45E6-ABC4-BB13D6E4F208}"/>
              </a:ext>
            </a:extLst>
          </p:cNvPr>
          <p:cNvSpPr>
            <a:spLocks xmlns:a="http://schemas.openxmlformats.org/drawingml/2006/main" noGrp="1"/>
          </p:cNvSpPr>
          <p:nvPr/>
        </p:nvSpPr>
        <p:spPr>
          <a:xfrm xmlns:a="http://schemas.openxmlformats.org/drawingml/2006/main">
            <a:off x="6858000" y="4096512"/>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7" name="Shape 22">
            <a:extLst xmlns:a="http://schemas.openxmlformats.org/drawingml/2006/main">
              <a:ext uri="{FF2B5EF4-FFF2-40B4-BE49-F238E27FC236}">
                <a16:creationId xmlns:a16="http://schemas.microsoft.com/office/drawing/2014/main" id="{91693F51-5FB4-49A5-B69C-9B923753BD5E}"/>
              </a:ext>
            </a:extLst>
          </p:cNvPr>
          <p:cNvSpPr>
            <a:spLocks xmlns:a="http://schemas.openxmlformats.org/drawingml/2006/main" noGrp="1"/>
          </p:cNvSpPr>
          <p:nvPr/>
        </p:nvSpPr>
        <p:spPr>
          <a:xfrm xmlns:a="http://schemas.openxmlformats.org/drawingml/2006/main">
            <a:off x="7040880" y="4297680"/>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bfb3742ed7b646e7"/>
          <a:stretch xmlns:a="http://schemas.openxmlformats.org/drawingml/2006/main">
            <a:fillRect l="0" t="0" r="0" b="0"/>
          </a:stretch>
        </p:blipFill>
        <p:spPr>
          <a:xfrm xmlns:a="http://schemas.openxmlformats.org/drawingml/2006/main">
            <a:off x="7154997" y="4411797"/>
            <a:ext cx="247254" cy="247254"/>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CBE6D29C-6ED0-46F1-9948-AF300036A1AB}"/>
              </a:ext>
            </a:extLst>
          </p:cNvPr>
          <p:cNvSpPr>
            <a:spLocks xmlns:a="http://schemas.openxmlformats.org/drawingml/2006/main" noGrp="1"/>
          </p:cNvSpPr>
          <p:nvPr/>
        </p:nvSpPr>
        <p:spPr>
          <a:xfrm xmlns:a="http://schemas.openxmlformats.org/drawingml/2006/main">
            <a:off x="7680960" y="4242816"/>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Integrate deliberately</a:t>
            </a:r>
            <a:endParaRPr sz="1250"/>
          </a:p>
        </p:txBody>
      </p:sp>
      <p:sp>
        <p:nvSpPr>
          <p:cNvPr id="30" name="Text 24">
            <a:extLst xmlns:a="http://schemas.openxmlformats.org/drawingml/2006/main">
              <a:ext uri="{FF2B5EF4-FFF2-40B4-BE49-F238E27FC236}">
                <a16:creationId xmlns:a16="http://schemas.microsoft.com/office/drawing/2014/main" id="{03C4CEBA-5388-4056-9B40-CBCF621727E4}"/>
              </a:ext>
            </a:extLst>
          </p:cNvPr>
          <p:cNvSpPr>
            <a:spLocks xmlns:a="http://schemas.openxmlformats.org/drawingml/2006/main" noGrp="1"/>
          </p:cNvSpPr>
          <p:nvPr/>
        </p:nvSpPr>
        <p:spPr>
          <a:xfrm xmlns:a="http://schemas.openxmlformats.org/drawingml/2006/main">
            <a:off x="7680960" y="4553712"/>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Contract data ownership and failure handling at each touchpoint.</a:t>
            </a:r>
            <a:endParaRPr sz="1000"/>
          </a:p>
        </p:txBody>
      </p:sp>
      <p:sp>
        <p:nvSpPr>
          <p:cNvPr id="31" name="Shape 25">
            <a:extLst xmlns:a="http://schemas.openxmlformats.org/drawingml/2006/main">
              <a:ext uri="{FF2B5EF4-FFF2-40B4-BE49-F238E27FC236}">
                <a16:creationId xmlns:a16="http://schemas.microsoft.com/office/drawing/2014/main" id="{8FAAE273-7499-4B49-9577-0E099DFB1D74}"/>
              </a:ext>
            </a:extLst>
          </p:cNvPr>
          <p:cNvSpPr>
            <a:spLocks xmlns:a="http://schemas.openxmlformats.org/drawingml/2006/main" noGrp="1"/>
          </p:cNvSpPr>
          <p:nvPr/>
        </p:nvSpPr>
        <p:spPr>
          <a:xfrm xmlns:a="http://schemas.openxmlformats.org/drawingml/2006/main">
            <a:off x="6858000" y="5230368"/>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2" name="Shape 26">
            <a:extLst xmlns:a="http://schemas.openxmlformats.org/drawingml/2006/main">
              <a:ext uri="{FF2B5EF4-FFF2-40B4-BE49-F238E27FC236}">
                <a16:creationId xmlns:a16="http://schemas.microsoft.com/office/drawing/2014/main" id="{C7C7B7C5-0A2D-42D3-8C5C-558B7B5513AC}"/>
              </a:ext>
            </a:extLst>
          </p:cNvPr>
          <p:cNvSpPr>
            <a:spLocks xmlns:a="http://schemas.openxmlformats.org/drawingml/2006/main" noGrp="1"/>
          </p:cNvSpPr>
          <p:nvPr/>
        </p:nvSpPr>
        <p:spPr>
          <a:xfrm xmlns:a="http://schemas.openxmlformats.org/drawingml/2006/main">
            <a:off x="7040880" y="5431536"/>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4" name="Image 3"/>
          <p:cNvPicPr>
            <a:picLocks xmlns:a="http://schemas.openxmlformats.org/drawingml/2006/main" noChangeAspect="1"/>
          </p:cNvPicPr>
          <p:nvPr/>
        </p:nvPicPr>
        <p:blipFill>
          <a:blip xmlns:r="http://schemas.openxmlformats.org/officeDocument/2006/relationships" xmlns:a="http://schemas.openxmlformats.org/drawingml/2006/main" r:embed="R2efae3c136c24e8e"/>
          <a:stretch xmlns:a="http://schemas.openxmlformats.org/drawingml/2006/main">
            <a:fillRect l="0" t="0" r="0" b="0"/>
          </a:stretch>
        </p:blipFill>
        <p:spPr>
          <a:xfrm xmlns:a="http://schemas.openxmlformats.org/drawingml/2006/main">
            <a:off x="7154997" y="5545653"/>
            <a:ext cx="247254" cy="247254"/>
          </a:xfrm>
          <a:prstGeom xmlns:a="http://schemas.openxmlformats.org/drawingml/2006/main" prst="rect">
            <a:avLst/>
          </a:prstGeom>
        </p:spPr>
      </p:pic>
      <p:sp>
        <p:nvSpPr>
          <p:cNvPr id="34" name="Text 27">
            <a:extLst xmlns:a="http://schemas.openxmlformats.org/drawingml/2006/main">
              <a:ext uri="{FF2B5EF4-FFF2-40B4-BE49-F238E27FC236}">
                <a16:creationId xmlns:a16="http://schemas.microsoft.com/office/drawing/2014/main" id="{32EA119E-4272-47BE-BF38-B0CAB34B416E}"/>
              </a:ext>
            </a:extLst>
          </p:cNvPr>
          <p:cNvSpPr>
            <a:spLocks xmlns:a="http://schemas.openxmlformats.org/drawingml/2006/main" noGrp="1"/>
          </p:cNvSpPr>
          <p:nvPr/>
        </p:nvSpPr>
        <p:spPr>
          <a:xfrm xmlns:a="http://schemas.openxmlformats.org/drawingml/2006/main">
            <a:off x="7680960" y="5376672"/>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Prove adoption</a:t>
            </a:r>
            <a:endParaRPr sz="1250"/>
          </a:p>
        </p:txBody>
      </p:sp>
      <p:sp>
        <p:nvSpPr>
          <p:cNvPr id="35" name="Text 28">
            <a:extLst xmlns:a="http://schemas.openxmlformats.org/drawingml/2006/main">
              <a:ext uri="{FF2B5EF4-FFF2-40B4-BE49-F238E27FC236}">
                <a16:creationId xmlns:a16="http://schemas.microsoft.com/office/drawing/2014/main" id="{C277A7B8-C9B7-4984-9E25-C0D017D79AEC}"/>
              </a:ext>
            </a:extLst>
          </p:cNvPr>
          <p:cNvSpPr>
            <a:spLocks xmlns:a="http://schemas.openxmlformats.org/drawingml/2006/main" noGrp="1"/>
          </p:cNvSpPr>
          <p:nvPr/>
        </p:nvSpPr>
        <p:spPr>
          <a:xfrm xmlns:a="http://schemas.openxmlformats.org/drawingml/2006/main">
            <a:off x="7680960" y="5687568"/>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Track active use, action completion and role-level friction.</a:t>
            </a:r>
            <a:endParaRPr sz="1000"/>
          </a:p>
        </p:txBody>
      </p:sp>
      <p:sp>
        <p:nvSpPr>
          <p:cNvPr id="36" name="Text 29">
            <a:extLst xmlns:a="http://schemas.openxmlformats.org/drawingml/2006/main">
              <a:ext uri="{FF2B5EF4-FFF2-40B4-BE49-F238E27FC236}">
                <a16:creationId xmlns:a16="http://schemas.microsoft.com/office/drawing/2014/main" id="{4DF85778-1E41-475A-9660-39E64D339D57}"/>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37" name="Text 30">
            <a:extLst xmlns:a="http://schemas.openxmlformats.org/drawingml/2006/main">
              <a:ext uri="{FF2B5EF4-FFF2-40B4-BE49-F238E27FC236}">
                <a16:creationId xmlns:a16="http://schemas.microsoft.com/office/drawing/2014/main" id="{654C7D7E-52D1-4087-8DEB-1F05846B6C34}"/>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10</a:t>
            </a:r>
            <a:endParaRPr sz="900"/>
          </a:p>
        </p:txBody>
      </p:sp>
    </p:spTree>
    <p:extLst>
      <p:ext uri="{BB962C8B-B14F-4D97-AF65-F5344CB8AC3E}">
        <p14:creationId xmlns:p14="http://schemas.microsoft.com/office/powerpoint/2010/main" val="3759153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7D22B2-8D0A-44D9-BB2A-E6E017E6EA81}"/>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a:solidFill>
                  <a:srgbClr val="EE2B76"/>
                </a:solidFill>
                <a:latin typeface="Poppins"/>
                <a:ea typeface="Poppins"/>
                <a:cs typeface="Poppins"/>
              </a:rPr>
              <a:t>LEADERSHIP INTERPRETATION</a:t>
            </a:r>
            <a:endParaRPr sz="1200"/>
          </a:p>
        </p:txBody>
      </p:sp>
      <p:sp>
        <p:nvSpPr>
          <p:cNvPr id="3" name="Text 1">
            <a:extLst xmlns:a="http://schemas.openxmlformats.org/drawingml/2006/main">
              <a:ext uri="{FF2B5EF4-FFF2-40B4-BE49-F238E27FC236}">
                <a16:creationId xmlns:a16="http://schemas.microsoft.com/office/drawing/2014/main" id="{C37A4C82-CC69-4F1A-A69C-FBFFCB29ADEC}"/>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Separate evidence from transferable lessons</a:t>
            </a:r>
            <a:endParaRPr sz="3000"/>
          </a:p>
        </p:txBody>
      </p:sp>
      <p:sp>
        <p:nvSpPr>
          <p:cNvPr id="4" name="Shape 2">
            <a:extLst xmlns:a="http://schemas.openxmlformats.org/drawingml/2006/main">
              <a:ext uri="{FF2B5EF4-FFF2-40B4-BE49-F238E27FC236}">
                <a16:creationId xmlns:a16="http://schemas.microsoft.com/office/drawing/2014/main" id="{0DEC8BD5-F341-40FC-9A1E-AA0A7721163E}"/>
              </a:ext>
            </a:extLst>
          </p:cNvPr>
          <p:cNvSpPr>
            <a:spLocks xmlns:a="http://schemas.openxmlformats.org/drawingml/2006/main" noGrp="1"/>
          </p:cNvSpPr>
          <p:nvPr/>
        </p:nvSpPr>
        <p:spPr>
          <a:xfrm xmlns:a="http://schemas.openxmlformats.org/drawingml/2006/main">
            <a:off x="548640" y="1481328"/>
            <a:ext cx="4769968" cy="2880360"/>
          </a:xfrm>
          <a:prstGeom xmlns:a="http://schemas.openxmlformats.org/drawingml/2006/main" prst="roundRect">
            <a:avLst>
              <a:gd name="adj" fmla="val 3492"/>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5" name="Shape 3">
            <a:extLst xmlns:a="http://schemas.openxmlformats.org/drawingml/2006/main">
              <a:ext uri="{FF2B5EF4-FFF2-40B4-BE49-F238E27FC236}">
                <a16:creationId xmlns:a16="http://schemas.microsoft.com/office/drawing/2014/main" id="{6CBF0F69-53FF-42A6-B3F0-3FF69C2A7FD1}"/>
              </a:ext>
            </a:extLst>
          </p:cNvPr>
          <p:cNvSpPr>
            <a:spLocks xmlns:a="http://schemas.openxmlformats.org/drawingml/2006/main" noGrp="1"/>
          </p:cNvSpPr>
          <p:nvPr/>
        </p:nvSpPr>
        <p:spPr>
          <a:xfrm xmlns:a="http://schemas.openxmlformats.org/drawingml/2006/main">
            <a:off x="548640" y="1481328"/>
            <a:ext cx="4769968" cy="548640"/>
          </a:xfrm>
          <a:prstGeom xmlns:a="http://schemas.openxmlformats.org/drawingml/2006/main" prst="roundRect">
            <a:avLst>
              <a:gd name="adj" fmla="val 16667"/>
            </a:avLst>
          </a:prstGeom>
          <a:solidFill xmlns:a="http://schemas.openxmlformats.org/drawingml/2006/main">
            <a:srgbClr val="1F3A5F"/>
          </a:solidFill>
        </p:spPr>
      </p:sp>
      <p:sp>
        <p:nvSpPr>
          <p:cNvPr id="6" name="Shape 4">
            <a:extLst xmlns:a="http://schemas.openxmlformats.org/drawingml/2006/main">
              <a:ext uri="{FF2B5EF4-FFF2-40B4-BE49-F238E27FC236}">
                <a16:creationId xmlns:a16="http://schemas.microsoft.com/office/drawing/2014/main" id="{69D9D594-2214-44D6-AE63-FDF702049EF1}"/>
              </a:ext>
            </a:extLst>
          </p:cNvPr>
          <p:cNvSpPr>
            <a:spLocks xmlns:a="http://schemas.openxmlformats.org/drawingml/2006/main" noGrp="1"/>
          </p:cNvSpPr>
          <p:nvPr/>
        </p:nvSpPr>
        <p:spPr>
          <a:xfrm xmlns:a="http://schemas.openxmlformats.org/drawingml/2006/main">
            <a:off x="548640" y="1755648"/>
            <a:ext cx="4769968" cy="274320"/>
          </a:xfrm>
          <a:prstGeom xmlns:a="http://schemas.openxmlformats.org/drawingml/2006/main" prst="rect">
            <a:avLst/>
          </a:prstGeom>
          <a:solidFill xmlns:a="http://schemas.openxmlformats.org/drawingml/2006/main">
            <a:srgbClr val="1F3A5F"/>
          </a:solidFill>
        </p:spPr>
      </p:sp>
      <p:sp>
        <p:nvSpPr>
          <p:cNvPr id="7" name="Text 5">
            <a:extLst xmlns:a="http://schemas.openxmlformats.org/drawingml/2006/main">
              <a:ext uri="{FF2B5EF4-FFF2-40B4-BE49-F238E27FC236}">
                <a16:creationId xmlns:a16="http://schemas.microsoft.com/office/drawing/2014/main" id="{6C54A1F9-8476-424D-BD05-D48B0FB68D61}"/>
              </a:ext>
            </a:extLst>
          </p:cNvPr>
          <p:cNvSpPr>
            <a:spLocks xmlns:a="http://schemas.openxmlformats.org/drawingml/2006/main" noGrp="1"/>
          </p:cNvSpPr>
          <p:nvPr/>
        </p:nvSpPr>
        <p:spPr>
          <a:xfrm xmlns:a="http://schemas.openxmlformats.org/drawingml/2006/main">
            <a:off x="768096" y="1481328"/>
            <a:ext cx="4404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Poppins"/>
                <a:ea typeface="Poppins"/>
                <a:cs typeface="Poppins"/>
              </a:rPr>
              <a:t>Observed in the source</a:t>
            </a:r>
            <a:endParaRPr sz="1350"/>
          </a:p>
        </p:txBody>
      </p:sp>
      <p:sp>
        <p:nvSpPr>
          <p:cNvPr id="8" name="Text 6">
            <a:extLst xmlns:a="http://schemas.openxmlformats.org/drawingml/2006/main">
              <a:ext uri="{FF2B5EF4-FFF2-40B4-BE49-F238E27FC236}">
                <a16:creationId xmlns:a16="http://schemas.microsoft.com/office/drawing/2014/main" id="{12B05DBC-71D2-4A0E-A6DC-A22D4E93EF0F}"/>
              </a:ext>
            </a:extLst>
          </p:cNvPr>
          <p:cNvSpPr>
            <a:spLocks xmlns:a="http://schemas.openxmlformats.org/drawingml/2006/main" noGrp="1"/>
          </p:cNvSpPr>
          <p:nvPr/>
        </p:nvSpPr>
        <p:spPr>
          <a:xfrm xmlns:a="http://schemas.openxmlformats.org/drawingml/2006/main">
            <a:off x="804672" y="2194560"/>
            <a:ext cx="4276192" cy="2011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900"/>
              </a:spcAft>
              <a:buSzPct val="100000"/>
              <a:buChar char="•"/>
            </a:pPr>
            <a:r>
              <a:rPr sz="1150">
                <a:solidFill>
                  <a:srgbClr val="2A231F"/>
                </a:solidFill>
                <a:latin typeface="Calibri"/>
                <a:ea typeface="Calibri"/>
                <a:cs typeface="Calibri"/>
              </a:rPr>
              <a:t>10,000+ daily personalized reports</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370% increase in leads</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108% response-rate increase</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23% campaign-frequency increase</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52% service-quality improvement</a:t>
            </a:r>
            <a:endParaRPr sz="1150"/>
          </a:p>
        </p:txBody>
      </p:sp>
      <p:sp>
        <p:nvSpPr>
          <p:cNvPr id="9" name="Shape 7">
            <a:extLst xmlns:a="http://schemas.openxmlformats.org/drawingml/2006/main">
              <a:ext uri="{FF2B5EF4-FFF2-40B4-BE49-F238E27FC236}">
                <a16:creationId xmlns:a16="http://schemas.microsoft.com/office/drawing/2014/main" id="{1251B073-6098-44A8-83C9-10F6599902E7}"/>
              </a:ext>
            </a:extLst>
          </p:cNvPr>
          <p:cNvSpPr>
            <a:spLocks xmlns:a="http://schemas.openxmlformats.org/drawingml/2006/main" noGrp="1"/>
          </p:cNvSpPr>
          <p:nvPr/>
        </p:nvSpPr>
        <p:spPr>
          <a:xfrm xmlns:a="http://schemas.openxmlformats.org/drawingml/2006/main">
            <a:off x="5711800" y="2537460"/>
            <a:ext cx="768096" cy="768096"/>
          </a:xfrm>
          <a:prstGeom xmlns:a="http://schemas.openxmlformats.org/drawingml/2006/main" prst="ellipse">
            <a:avLst/>
          </a:prstGeom>
          <a:solidFill xmlns:a="http://schemas.openxmlformats.org/drawingml/2006/main">
            <a:srgbClr val="EE2B76"/>
          </a:solidFill>
          <a:ln xmlns:a="http://schemas.openxmlformats.org/drawingml/2006/main" w="25400">
            <a:solidFill>
              <a:srgbClr val="FFFFFF"/>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0" name="Text 8">
            <a:extLst xmlns:a="http://schemas.openxmlformats.org/drawingml/2006/main">
              <a:ext uri="{FF2B5EF4-FFF2-40B4-BE49-F238E27FC236}">
                <a16:creationId xmlns:a16="http://schemas.microsoft.com/office/drawing/2014/main" id="{20DC5C68-54F1-4EF3-A9E9-0833306EEBF8}"/>
              </a:ext>
            </a:extLst>
          </p:cNvPr>
          <p:cNvSpPr>
            <a:spLocks xmlns:a="http://schemas.openxmlformats.org/drawingml/2006/main" noGrp="1"/>
          </p:cNvSpPr>
          <p:nvPr/>
        </p:nvSpPr>
        <p:spPr>
          <a:xfrm xmlns:a="http://schemas.openxmlformats.org/drawingml/2006/main">
            <a:off x="5711800" y="2537460"/>
            <a:ext cx="768096" cy="768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Poppins"/>
                <a:ea typeface="Poppins"/>
                <a:cs typeface="Poppins"/>
              </a:rPr>
              <a:t>VS</a:t>
            </a:r>
            <a:endParaRPr sz="1800"/>
          </a:p>
        </p:txBody>
      </p:sp>
      <p:sp>
        <p:nvSpPr>
          <p:cNvPr id="11" name="Shape 9">
            <a:extLst xmlns:a="http://schemas.openxmlformats.org/drawingml/2006/main">
              <a:ext uri="{FF2B5EF4-FFF2-40B4-BE49-F238E27FC236}">
                <a16:creationId xmlns:a16="http://schemas.microsoft.com/office/drawing/2014/main" id="{5F743F3E-4006-4EEB-BF8E-19B9F8C370B3}"/>
              </a:ext>
            </a:extLst>
          </p:cNvPr>
          <p:cNvSpPr>
            <a:spLocks xmlns:a="http://schemas.openxmlformats.org/drawingml/2006/main" noGrp="1"/>
          </p:cNvSpPr>
          <p:nvPr/>
        </p:nvSpPr>
        <p:spPr>
          <a:xfrm xmlns:a="http://schemas.openxmlformats.org/drawingml/2006/main">
            <a:off x="6873088" y="1481328"/>
            <a:ext cx="4769968" cy="2880360"/>
          </a:xfrm>
          <a:prstGeom xmlns:a="http://schemas.openxmlformats.org/drawingml/2006/main" prst="roundRect">
            <a:avLst>
              <a:gd name="adj" fmla="val 3492"/>
            </a:avLst>
          </a:prstGeom>
          <a:solidFill xmlns:a="http://schemas.openxmlformats.org/drawingml/2006/main">
            <a:srgbClr val="FFFFFF"/>
          </a:solidFill>
          <a:ln xmlns:a="http://schemas.openxmlformats.org/drawingml/2006/main" w="12700">
            <a:solidFill>
              <a:srgbClr val="EFC7DA"/>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2" name="Shape 10">
            <a:extLst xmlns:a="http://schemas.openxmlformats.org/drawingml/2006/main">
              <a:ext uri="{FF2B5EF4-FFF2-40B4-BE49-F238E27FC236}">
                <a16:creationId xmlns:a16="http://schemas.microsoft.com/office/drawing/2014/main" id="{A471D3E3-9299-49D0-A25B-502158E6B7FB}"/>
              </a:ext>
            </a:extLst>
          </p:cNvPr>
          <p:cNvSpPr>
            <a:spLocks xmlns:a="http://schemas.openxmlformats.org/drawingml/2006/main" noGrp="1"/>
          </p:cNvSpPr>
          <p:nvPr/>
        </p:nvSpPr>
        <p:spPr>
          <a:xfrm xmlns:a="http://schemas.openxmlformats.org/drawingml/2006/main">
            <a:off x="6873088" y="1481328"/>
            <a:ext cx="4769968" cy="548640"/>
          </a:xfrm>
          <a:prstGeom xmlns:a="http://schemas.openxmlformats.org/drawingml/2006/main" prst="roundRect">
            <a:avLst>
              <a:gd name="adj" fmla="val 16667"/>
            </a:avLst>
          </a:prstGeom>
          <a:solidFill xmlns:a="http://schemas.openxmlformats.org/drawingml/2006/main">
            <a:srgbClr val="EE2B76"/>
          </a:solidFill>
        </p:spPr>
      </p:sp>
      <p:sp>
        <p:nvSpPr>
          <p:cNvPr id="13" name="Shape 11">
            <a:extLst xmlns:a="http://schemas.openxmlformats.org/drawingml/2006/main">
              <a:ext uri="{FF2B5EF4-FFF2-40B4-BE49-F238E27FC236}">
                <a16:creationId xmlns:a16="http://schemas.microsoft.com/office/drawing/2014/main" id="{12A9EE65-83D8-4926-802C-F13A5C944D02}"/>
              </a:ext>
            </a:extLst>
          </p:cNvPr>
          <p:cNvSpPr>
            <a:spLocks xmlns:a="http://schemas.openxmlformats.org/drawingml/2006/main" noGrp="1"/>
          </p:cNvSpPr>
          <p:nvPr/>
        </p:nvSpPr>
        <p:spPr>
          <a:xfrm xmlns:a="http://schemas.openxmlformats.org/drawingml/2006/main">
            <a:off x="6873088" y="1755648"/>
            <a:ext cx="4769968" cy="274320"/>
          </a:xfrm>
          <a:prstGeom xmlns:a="http://schemas.openxmlformats.org/drawingml/2006/main" prst="rect">
            <a:avLst/>
          </a:prstGeom>
          <a:solidFill xmlns:a="http://schemas.openxmlformats.org/drawingml/2006/main">
            <a:srgbClr val="EE2B76"/>
          </a:solidFill>
        </p:spPr>
      </p:sp>
      <p:sp>
        <p:nvSpPr>
          <p:cNvPr id="14" name="Text 12">
            <a:extLst xmlns:a="http://schemas.openxmlformats.org/drawingml/2006/main">
              <a:ext uri="{FF2B5EF4-FFF2-40B4-BE49-F238E27FC236}">
                <a16:creationId xmlns:a16="http://schemas.microsoft.com/office/drawing/2014/main" id="{4FE1EF61-7BD7-4DAC-95B2-80EC85F00858}"/>
              </a:ext>
            </a:extLst>
          </p:cNvPr>
          <p:cNvSpPr>
            <a:spLocks xmlns:a="http://schemas.openxmlformats.org/drawingml/2006/main" noGrp="1"/>
          </p:cNvSpPr>
          <p:nvPr/>
        </p:nvSpPr>
        <p:spPr>
          <a:xfrm xmlns:a="http://schemas.openxmlformats.org/drawingml/2006/main">
            <a:off x="7092544" y="1481328"/>
            <a:ext cx="4404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Poppins"/>
                <a:ea typeface="Poppins"/>
                <a:cs typeface="Poppins"/>
              </a:rPr>
              <a:t>Transferable lesson</a:t>
            </a:r>
            <a:endParaRPr sz="1350"/>
          </a:p>
        </p:txBody>
      </p:sp>
      <p:sp>
        <p:nvSpPr>
          <p:cNvPr id="15" name="Text 13">
            <a:extLst xmlns:a="http://schemas.openxmlformats.org/drawingml/2006/main">
              <a:ext uri="{FF2B5EF4-FFF2-40B4-BE49-F238E27FC236}">
                <a16:creationId xmlns:a16="http://schemas.microsoft.com/office/drawing/2014/main" id="{300D044E-AE4D-46FF-888B-48AE202E3474}"/>
              </a:ext>
            </a:extLst>
          </p:cNvPr>
          <p:cNvSpPr>
            <a:spLocks xmlns:a="http://schemas.openxmlformats.org/drawingml/2006/main" noGrp="1"/>
          </p:cNvSpPr>
          <p:nvPr/>
        </p:nvSpPr>
        <p:spPr>
          <a:xfrm xmlns:a="http://schemas.openxmlformats.org/drawingml/2006/main">
            <a:off x="7129120" y="2194560"/>
            <a:ext cx="4276192" cy="2011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900"/>
              </a:spcAft>
              <a:buSzPct val="100000"/>
              <a:buChar char="•"/>
            </a:pPr>
            <a:r>
              <a:rPr sz="1150">
                <a:solidFill>
                  <a:srgbClr val="2A231F"/>
                </a:solidFill>
                <a:latin typeface="Calibri"/>
                <a:ea typeface="Calibri"/>
                <a:cs typeface="Calibri"/>
              </a:rPr>
              <a:t>Sequence high-value customer and banker moments against measurable pain.</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Embed access, consent, audit and exception handling before release.</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Contract data ownership and failure handling at each touchpoint.</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Track active use, action completion and role-level friction.</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Tie commercial and service movement to defined baselines and periods.</a:t>
            </a:r>
            <a:endParaRPr sz="1150"/>
          </a:p>
        </p:txBody>
      </p:sp>
      <p:sp>
        <p:nvSpPr>
          <p:cNvPr id="16" name="Shape 14">
            <a:extLst xmlns:a="http://schemas.openxmlformats.org/drawingml/2006/main">
              <a:ext uri="{FF2B5EF4-FFF2-40B4-BE49-F238E27FC236}">
                <a16:creationId xmlns:a16="http://schemas.microsoft.com/office/drawing/2014/main" id="{684F5897-8F8D-4620-9471-2140A29E13E0}"/>
              </a:ext>
            </a:extLst>
          </p:cNvPr>
          <p:cNvSpPr>
            <a:spLocks xmlns:a="http://schemas.openxmlformats.org/drawingml/2006/main" noGrp="1"/>
          </p:cNvSpPr>
          <p:nvPr/>
        </p:nvSpPr>
        <p:spPr>
          <a:xfrm xmlns:a="http://schemas.openxmlformats.org/drawingml/2006/main">
            <a:off x="548640" y="4617720"/>
            <a:ext cx="11094415" cy="1371600"/>
          </a:xfrm>
          <a:prstGeom xmlns:a="http://schemas.openxmlformats.org/drawingml/2006/main" prst="roundRect">
            <a:avLst>
              <a:gd name="adj" fmla="val 7333"/>
            </a:avLst>
          </a:prstGeom>
          <a:solidFill xmlns:a="http://schemas.openxmlformats.org/drawingml/2006/main">
            <a:srgbClr val="1F3A5F"/>
          </a:solidFill>
          <a:effectLst xmlns:a="http://schemas.openxmlformats.org/drawingml/2006/main">
            <a:outerShdw blurRad="114300" dist="38100" dir="5400000" sx="100000" sy="100000" kx="0" ky="0" algn="bl" rotWithShape="0">
              <a:srgbClr val="9A8F88">
                <a:alpha val="32000"/>
              </a:srgbClr>
            </a:outerShdw>
          </a:effectLst>
        </p:spPr>
      </p:sp>
      <p:sp>
        <p:nvSpPr>
          <p:cNvPr id="17" name="Shape 15">
            <a:extLst xmlns:a="http://schemas.openxmlformats.org/drawingml/2006/main">
              <a:ext uri="{FF2B5EF4-FFF2-40B4-BE49-F238E27FC236}">
                <a16:creationId xmlns:a16="http://schemas.microsoft.com/office/drawing/2014/main" id="{E1821774-055A-4490-B99E-DAF0B5AB8604}"/>
              </a:ext>
            </a:extLst>
          </p:cNvPr>
          <p:cNvSpPr>
            <a:spLocks xmlns:a="http://schemas.openxmlformats.org/drawingml/2006/main" noGrp="1"/>
          </p:cNvSpPr>
          <p:nvPr/>
        </p:nvSpPr>
        <p:spPr>
          <a:xfrm xmlns:a="http://schemas.openxmlformats.org/drawingml/2006/main">
            <a:off x="822960" y="4983480"/>
            <a:ext cx="640080" cy="64008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8053e01c3761411b"/>
          <a:stretch xmlns:a="http://schemas.openxmlformats.org/drawingml/2006/main">
            <a:fillRect l="0" t="0" r="0" b="0"/>
          </a:stretch>
        </p:blipFill>
        <p:spPr>
          <a:xfrm xmlns:a="http://schemas.openxmlformats.org/drawingml/2006/main">
            <a:off x="989381" y="5149901"/>
            <a:ext cx="307238" cy="307238"/>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FE536AA4-E6B4-434F-9D7A-530B030BF074}"/>
              </a:ext>
            </a:extLst>
          </p:cNvPr>
          <p:cNvSpPr>
            <a:spLocks xmlns:a="http://schemas.openxmlformats.org/drawingml/2006/main" noGrp="1"/>
          </p:cNvSpPr>
          <p:nvPr/>
        </p:nvSpPr>
        <p:spPr>
          <a:xfrm xmlns:a="http://schemas.openxmlformats.org/drawingml/2006/main">
            <a:off x="1645920" y="4800600"/>
            <a:ext cx="972281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Poppins"/>
                <a:ea typeface="Poppins"/>
                <a:cs typeface="Poppins"/>
              </a:rPr>
              <a:t>Decision rule</a:t>
            </a:r>
            <a:endParaRPr sz="1400"/>
          </a:p>
        </p:txBody>
      </p:sp>
      <p:sp>
        <p:nvSpPr>
          <p:cNvPr id="20" name="Text 17">
            <a:extLst xmlns:a="http://schemas.openxmlformats.org/drawingml/2006/main">
              <a:ext uri="{FF2B5EF4-FFF2-40B4-BE49-F238E27FC236}">
                <a16:creationId xmlns:a16="http://schemas.microsoft.com/office/drawing/2014/main" id="{F9272B30-B17C-4E50-8D84-AA6F81BC449D}"/>
              </a:ext>
            </a:extLst>
          </p:cNvPr>
          <p:cNvSpPr>
            <a:spLocks xmlns:a="http://schemas.openxmlformats.org/drawingml/2006/main" noGrp="1"/>
          </p:cNvSpPr>
          <p:nvPr/>
        </p:nvSpPr>
        <p:spPr>
          <a:xfrm xmlns:a="http://schemas.openxmlformats.org/drawingml/2006/main">
            <a:off x="1645920" y="5148072"/>
            <a:ext cx="9722815"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3000"/>
              </a:lnSpc>
              <a:buNone/>
            </a:pPr>
            <a:r>
              <a:rPr sz="1100">
                <a:solidFill>
                  <a:srgbClr val="DDE6F2"/>
                </a:solidFill>
                <a:latin typeface="Calibri"/>
                <a:ea typeface="Calibri"/>
                <a:cs typeface="Calibri"/>
              </a:rPr>
              <a:t>Use the outcome evidence with attribution; treat reconstructed architecture and causal logic as interpretation</a:t>
            </a:r>
            <a:endParaRPr sz="1100"/>
          </a:p>
        </p:txBody>
      </p:sp>
      <p:sp>
        <p:nvSpPr>
          <p:cNvPr id="21" name="Text 18">
            <a:extLst xmlns:a="http://schemas.openxmlformats.org/drawingml/2006/main">
              <a:ext uri="{FF2B5EF4-FFF2-40B4-BE49-F238E27FC236}">
                <a16:creationId xmlns:a16="http://schemas.microsoft.com/office/drawing/2014/main" id="{718A1BF1-EF34-408B-A3FC-68A4A1AD29DC}"/>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 | HDFC Bank · CASE STUDY · Attributed case evidence; limitations in notes · sources in notes</a:t>
            </a:r>
            <a:endParaRPr sz="850"/>
          </a:p>
        </p:txBody>
      </p:sp>
      <p:sp>
        <p:nvSpPr>
          <p:cNvPr id="22" name="Text 19">
            <a:extLst xmlns:a="http://schemas.openxmlformats.org/drawingml/2006/main">
              <a:ext uri="{FF2B5EF4-FFF2-40B4-BE49-F238E27FC236}">
                <a16:creationId xmlns:a16="http://schemas.microsoft.com/office/drawing/2014/main" id="{764A2AA0-8921-4A50-8B12-AF4A66CEF5E3}"/>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11</a:t>
            </a:r>
            <a:endParaRPr sz="900"/>
          </a:p>
        </p:txBody>
      </p:sp>
    </p:spTree>
    <p:extLst>
      <p:ext uri="{BB962C8B-B14F-4D97-AF65-F5344CB8AC3E}">
        <p14:creationId xmlns:p14="http://schemas.microsoft.com/office/powerpoint/2010/main" val="1017205184"/>
      </p:ext>
    </p:extLst>
  </p:cSld>
</p:sld>
</file>

<file path=ppt/slides/slide12.xml><?xml version="1.0" encoding="utf-8"?>
<p:sld xmlns:p="http://schemas.openxmlformats.org/presentationml/2006/main">
  <p:cSld>
    <p:bg>
      <p:bgPr>
        <a:solidFill xmlns:a="http://schemas.openxmlformats.org/drawingml/2006/main">
          <a:srgbClr val="1529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A996E5A-5A6F-4835-BECB-4F60FBD993A5}"/>
              </a:ext>
            </a:extLst>
          </p:cNvPr>
          <p:cNvSpPr>
            <a:spLocks xmlns:a="http://schemas.openxmlformats.org/drawingml/2006/main" noGrp="1"/>
          </p:cNvSpPr>
          <p:nvPr/>
        </p:nvSpPr>
        <p:spPr>
          <a:xfrm xmlns:a="http://schemas.openxmlformats.org/drawingml/2006/main">
            <a:off x="548640" y="566928"/>
            <a:ext cx="310896" cy="310896"/>
          </a:xfrm>
          <a:prstGeom xmlns:a="http://schemas.openxmlformats.org/drawingml/2006/main" prst="roundRect">
            <a:avLst>
              <a:gd name="adj" fmla="val 23529"/>
            </a:avLst>
          </a:prstGeom>
          <a:solidFill xmlns:a="http://schemas.openxmlformats.org/drawingml/2006/main">
            <a:srgbClr val="EE2B76"/>
          </a:solidFill>
        </p:spPr>
      </p:sp>
      <p:sp>
        <p:nvSpPr>
          <p:cNvPr id="3" name="Shape 1">
            <a:extLst xmlns:a="http://schemas.openxmlformats.org/drawingml/2006/main">
              <a:ext uri="{FF2B5EF4-FFF2-40B4-BE49-F238E27FC236}">
                <a16:creationId xmlns:a16="http://schemas.microsoft.com/office/drawing/2014/main" id="{7C8687EA-A013-4164-AEB2-85053D1DF78F}"/>
              </a:ext>
            </a:extLst>
          </p:cNvPr>
          <p:cNvSpPr>
            <a:spLocks xmlns:a="http://schemas.openxmlformats.org/drawingml/2006/main" noGrp="1"/>
          </p:cNvSpPr>
          <p:nvPr/>
        </p:nvSpPr>
        <p:spPr>
          <a:xfrm xmlns:a="http://schemas.openxmlformats.org/drawingml/2006/main">
            <a:off x="932688" y="566928"/>
            <a:ext cx="310896" cy="310896"/>
          </a:xfrm>
          <a:prstGeom xmlns:a="http://schemas.openxmlformats.org/drawingml/2006/main" prst="roundRect">
            <a:avLst>
              <a:gd name="adj" fmla="val 23529"/>
            </a:avLst>
          </a:prstGeom>
          <a:solidFill xmlns:a="http://schemas.openxmlformats.org/drawingml/2006/main">
            <a:srgbClr val="2E4A6B"/>
          </a:solidFill>
        </p:spPr>
      </p:sp>
      <p:sp>
        <p:nvSpPr>
          <p:cNvPr id="4" name="Text 2">
            <a:extLst xmlns:a="http://schemas.openxmlformats.org/drawingml/2006/main">
              <a:ext uri="{FF2B5EF4-FFF2-40B4-BE49-F238E27FC236}">
                <a16:creationId xmlns:a16="http://schemas.microsoft.com/office/drawing/2014/main" id="{B20CCE04-B622-4EF0-9560-E7A62CE45066}"/>
              </a:ext>
            </a:extLst>
          </p:cNvPr>
          <p:cNvSpPr>
            <a:spLocks xmlns:a="http://schemas.openxmlformats.org/drawingml/2006/main" noGrp="1"/>
          </p:cNvSpPr>
          <p:nvPr/>
        </p:nvSpPr>
        <p:spPr>
          <a:xfrm xmlns:a="http://schemas.openxmlformats.org/drawingml/2006/main">
            <a:off x="1408176" y="54864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CADCFC"/>
                </a:solidFill>
                <a:latin typeface="Poppins"/>
                <a:ea typeface="Poppins"/>
                <a:cs typeface="Poppins"/>
              </a:rPr>
              <a:t>RECOMMENDATION</a:t>
            </a:r>
            <a:endParaRPr sz="1200"/>
          </a:p>
        </p:txBody>
      </p:sp>
      <p:sp>
        <p:nvSpPr>
          <p:cNvPr id="5" name="Text 3">
            <a:extLst xmlns:a="http://schemas.openxmlformats.org/drawingml/2006/main">
              <a:ext uri="{FF2B5EF4-FFF2-40B4-BE49-F238E27FC236}">
                <a16:creationId xmlns:a16="http://schemas.microsoft.com/office/drawing/2014/main" id="{5FEFC0BB-D01C-49E7-BC2C-04169DEE8E21}"/>
              </a:ext>
            </a:extLst>
          </p:cNvPr>
          <p:cNvSpPr>
            <a:spLocks xmlns:a="http://schemas.openxmlformats.org/drawingml/2006/main" noGrp="1"/>
          </p:cNvSpPr>
          <p:nvPr/>
        </p:nvSpPr>
        <p:spPr>
          <a:xfrm xmlns:a="http://schemas.openxmlformats.org/drawingml/2006/main">
            <a:off x="548640" y="1024128"/>
            <a:ext cx="11094415"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Poppins"/>
                <a:ea typeface="Poppins"/>
                <a:cs typeface="Poppins"/>
              </a:rPr>
              <a:t>Evidence-led storytelling protects the credibility</a:t>
            </a:r>
            <a:endParaRPr sz="2600"/>
          </a:p>
        </p:txBody>
      </p:sp>
      <p:sp>
        <p:nvSpPr>
          <p:cNvPr id="6" name="Shape 4">
            <a:extLst xmlns:a="http://schemas.openxmlformats.org/drawingml/2006/main">
              <a:ext uri="{FF2B5EF4-FFF2-40B4-BE49-F238E27FC236}">
                <a16:creationId xmlns:a16="http://schemas.microsoft.com/office/drawing/2014/main" id="{115BF456-7560-461B-B5D0-2693F9106BD5}"/>
              </a:ext>
            </a:extLst>
          </p:cNvPr>
          <p:cNvSpPr>
            <a:spLocks xmlns:a="http://schemas.openxmlformats.org/drawingml/2006/main" noGrp="1"/>
          </p:cNvSpPr>
          <p:nvPr/>
        </p:nvSpPr>
        <p:spPr>
          <a:xfrm xmlns:a="http://schemas.openxmlformats.org/drawingml/2006/main">
            <a:off x="548640" y="1847088"/>
            <a:ext cx="5257800" cy="4160520"/>
          </a:xfrm>
          <a:prstGeom xmlns:a="http://schemas.openxmlformats.org/drawingml/2006/main" prst="roundRect">
            <a:avLst>
              <a:gd name="adj" fmla="val 2418"/>
            </a:avLst>
          </a:prstGeom>
          <a:solidFill xmlns:a="http://schemas.openxmlformats.org/drawingml/2006/main">
            <a:srgbClr val="15304A"/>
          </a:solidFill>
        </p:spPr>
      </p:sp>
      <p:sp>
        <p:nvSpPr>
          <p:cNvPr id="7" name="Shape 5">
            <a:extLst xmlns:a="http://schemas.openxmlformats.org/drawingml/2006/main">
              <a:ext uri="{FF2B5EF4-FFF2-40B4-BE49-F238E27FC236}">
                <a16:creationId xmlns:a16="http://schemas.microsoft.com/office/drawing/2014/main" id="{D7B7331F-18E6-4708-829E-FB5A7F03AAC3}"/>
              </a:ext>
            </a:extLst>
          </p:cNvPr>
          <p:cNvSpPr>
            <a:spLocks xmlns:a="http://schemas.openxmlformats.org/drawingml/2006/main" noGrp="1"/>
          </p:cNvSpPr>
          <p:nvPr/>
        </p:nvSpPr>
        <p:spPr>
          <a:xfrm xmlns:a="http://schemas.openxmlformats.org/drawingml/2006/main">
            <a:off x="548640" y="1847088"/>
            <a:ext cx="5257800" cy="18288"/>
          </a:xfrm>
          <a:prstGeom xmlns:a="http://schemas.openxmlformats.org/drawingml/2006/main" prst="rect">
            <a:avLst/>
          </a:prstGeom>
          <a:solidFill xmlns:a="http://schemas.openxmlformats.org/drawingml/2006/main">
            <a:srgbClr val="15304A"/>
          </a:solidFill>
        </p:spPr>
      </p:sp>
      <p:sp>
        <p:nvSpPr>
          <p:cNvPr id="8" name="Text 6">
            <a:extLst xmlns:a="http://schemas.openxmlformats.org/drawingml/2006/main">
              <a:ext uri="{FF2B5EF4-FFF2-40B4-BE49-F238E27FC236}">
                <a16:creationId xmlns:a16="http://schemas.microsoft.com/office/drawing/2014/main" id="{85B268DD-F50D-4DC2-9382-47104A8977F2}"/>
              </a:ext>
            </a:extLst>
          </p:cNvPr>
          <p:cNvSpPr>
            <a:spLocks xmlns:a="http://schemas.openxmlformats.org/drawingml/2006/main" noGrp="1"/>
          </p:cNvSpPr>
          <p:nvPr/>
        </p:nvSpPr>
        <p:spPr>
          <a:xfrm xmlns:a="http://schemas.openxmlformats.org/drawingml/2006/main">
            <a:off x="822960" y="2029968"/>
            <a:ext cx="47548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E2B76"/>
                </a:solidFill>
                <a:latin typeface="Poppins"/>
                <a:ea typeface="Poppins"/>
                <a:cs typeface="Poppins"/>
              </a:rPr>
              <a:t>WHAT THE CASE PROVES</a:t>
            </a:r>
            <a:endParaRPr sz="1200"/>
          </a:p>
        </p:txBody>
      </p:sp>
      <p:sp>
        <p:nvSpPr>
          <p:cNvPr id="9" name="Text 7">
            <a:extLst xmlns:a="http://schemas.openxmlformats.org/drawingml/2006/main">
              <a:ext uri="{FF2B5EF4-FFF2-40B4-BE49-F238E27FC236}">
                <a16:creationId xmlns:a16="http://schemas.microsoft.com/office/drawing/2014/main" id="{7427C247-0F28-474D-8403-CCF6267BDBF0}"/>
              </a:ext>
            </a:extLst>
          </p:cNvPr>
          <p:cNvSpPr>
            <a:spLocks xmlns:a="http://schemas.openxmlformats.org/drawingml/2006/main" noGrp="1"/>
          </p:cNvSpPr>
          <p:nvPr/>
        </p:nvSpPr>
        <p:spPr>
          <a:xfrm xmlns:a="http://schemas.openxmlformats.org/drawingml/2006/main">
            <a:off x="841248" y="2395728"/>
            <a:ext cx="4709160" cy="3474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Public claims retained; confidential and conflicting material excluded</a:t>
            </a:r>
            <a:endParaRPr sz="1150"/>
          </a:p>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Use the named case only with BUSINESSNEXT attribution. Revalidate the source page</a:t>
            </a:r>
            <a:endParaRPr sz="1150"/>
          </a:p>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Sequence high-value customer and banker moments against measurable pain.</a:t>
            </a:r>
            <a:endParaRPr sz="1150"/>
          </a:p>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Embed access, consent, audit and exception handling before release.</a:t>
            </a:r>
            <a:endParaRPr sz="1150"/>
          </a:p>
        </p:txBody>
      </p:sp>
      <p:sp>
        <p:nvSpPr>
          <p:cNvPr id="10" name="Shape 8">
            <a:extLst xmlns:a="http://schemas.openxmlformats.org/drawingml/2006/main">
              <a:ext uri="{FF2B5EF4-FFF2-40B4-BE49-F238E27FC236}">
                <a16:creationId xmlns:a16="http://schemas.microsoft.com/office/drawing/2014/main" id="{141FD94F-8425-45D6-B1FC-E064B5AE9F38}"/>
              </a:ext>
            </a:extLst>
          </p:cNvPr>
          <p:cNvSpPr>
            <a:spLocks xmlns:a="http://schemas.openxmlformats.org/drawingml/2006/main" noGrp="1"/>
          </p:cNvSpPr>
          <p:nvPr/>
        </p:nvSpPr>
        <p:spPr>
          <a:xfrm xmlns:a="http://schemas.openxmlformats.org/drawingml/2006/main">
            <a:off x="6080760" y="1847088"/>
            <a:ext cx="5562295" cy="4160520"/>
          </a:xfrm>
          <a:prstGeom xmlns:a="http://schemas.openxmlformats.org/drawingml/2006/main" prst="roundRect">
            <a:avLst>
              <a:gd name="adj" fmla="val 2418"/>
            </a:avLst>
          </a:prstGeom>
          <a:solidFill xmlns:a="http://schemas.openxmlformats.org/drawingml/2006/main">
            <a:srgbClr val="EE2B76"/>
          </a:solidFill>
        </p:spPr>
      </p:sp>
      <p:sp>
        <p:nvSpPr>
          <p:cNvPr id="11" name="Text 9">
            <a:extLst xmlns:a="http://schemas.openxmlformats.org/drawingml/2006/main">
              <a:ext uri="{FF2B5EF4-FFF2-40B4-BE49-F238E27FC236}">
                <a16:creationId xmlns:a16="http://schemas.microsoft.com/office/drawing/2014/main" id="{41D0BAE1-1619-4C8F-B7D1-6767FD45AA12}"/>
              </a:ext>
            </a:extLst>
          </p:cNvPr>
          <p:cNvSpPr>
            <a:spLocks xmlns:a="http://schemas.openxmlformats.org/drawingml/2006/main" noGrp="1"/>
          </p:cNvSpPr>
          <p:nvPr/>
        </p:nvSpPr>
        <p:spPr>
          <a:xfrm xmlns:a="http://schemas.openxmlformats.org/drawingml/2006/main">
            <a:off x="6355080" y="2029968"/>
            <a:ext cx="49377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FFFFFF"/>
                </a:solidFill>
                <a:latin typeface="Poppins"/>
                <a:ea typeface="Poppins"/>
                <a:cs typeface="Poppins"/>
              </a:rPr>
              <a:t>WHAT REMAINS TO DECIDE</a:t>
            </a:r>
            <a:endParaRPr sz="1200"/>
          </a:p>
        </p:txBody>
      </p:sp>
      <p:sp>
        <p:nvSpPr>
          <p:cNvPr id="12" name="Text 10">
            <a:extLst xmlns:a="http://schemas.openxmlformats.org/drawingml/2006/main">
              <a:ext uri="{FF2B5EF4-FFF2-40B4-BE49-F238E27FC236}">
                <a16:creationId xmlns:a16="http://schemas.microsoft.com/office/drawing/2014/main" id="{19FF091F-C3E6-4CFF-B758-59C860920FBD}"/>
              </a:ext>
            </a:extLst>
          </p:cNvPr>
          <p:cNvSpPr>
            <a:spLocks xmlns:a="http://schemas.openxmlformats.org/drawingml/2006/main" noGrp="1"/>
          </p:cNvSpPr>
          <p:nvPr/>
        </p:nvSpPr>
        <p:spPr>
          <a:xfrm xmlns:a="http://schemas.openxmlformats.org/drawingml/2006/main">
            <a:off x="6373368" y="2395728"/>
            <a:ext cx="4977079" cy="3474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No screenshots, flows, URLs, names or requirements are reproduced.</a:t>
            </a:r>
            <a:endParaRPr sz="1150"/>
          </a:p>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Design or test documents do not prove production acceptance.</a:t>
            </a:r>
            <a:endParaRPr sz="1150"/>
          </a:p>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Tie commercial and service movement to defined baselines and periods.</a:t>
            </a:r>
            <a:endParaRPr sz="1150"/>
          </a:p>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Expand only after operational, risk and support controls are stable.</a:t>
            </a:r>
            <a:endParaRPr sz="1150"/>
          </a:p>
        </p:txBody>
      </p:sp>
      <p:sp>
        <p:nvSpPr>
          <p:cNvPr id="13" name="Text 11">
            <a:extLst xmlns:a="http://schemas.openxmlformats.org/drawingml/2006/main">
              <a:ext uri="{FF2B5EF4-FFF2-40B4-BE49-F238E27FC236}">
                <a16:creationId xmlns:a16="http://schemas.microsoft.com/office/drawing/2014/main" id="{57D1BAC6-3C76-4C93-BA71-A9D3CEDEB4D6}"/>
              </a:ext>
            </a:extLst>
          </p:cNvPr>
          <p:cNvSpPr>
            <a:spLocks xmlns:a="http://schemas.openxmlformats.org/drawingml/2006/main" noGrp="1"/>
          </p:cNvSpPr>
          <p:nvPr/>
        </p:nvSpPr>
        <p:spPr>
          <a:xfrm xmlns:a="http://schemas.openxmlformats.org/drawingml/2006/main">
            <a:off x="548640" y="6199632"/>
            <a:ext cx="11094415"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Poppins"/>
                <a:ea typeface="Poppins"/>
                <a:cs typeface="Poppins"/>
              </a:rPr>
              <a:t>Use the case with attribution and preserve its evidence boundary</a:t>
            </a:r>
            <a:endParaRPr sz="1100"/>
          </a:p>
        </p:txBody>
      </p:sp>
    </p:spTree>
    <p:extLst>
      <p:ext uri="{BB962C8B-B14F-4D97-AF65-F5344CB8AC3E}">
        <p14:creationId xmlns:p14="http://schemas.microsoft.com/office/powerpoint/2010/main" val="2080974890"/>
      </p:ext>
    </p:extLst>
  </p:cSld>
</p:sld>
</file>

<file path=ppt/slides/slide13.xml><?xml version="1.0" encoding="utf-8"?>
<p:sld xmlns:p="http://schemas.openxmlformats.org/presentationml/2006/main">
  <p:cSld>
    <p:bg>
      <p:bgPr>
        <a:solidFill xmlns:a="http://schemas.openxmlformats.org/drawingml/2006/main">
          <a:srgbClr val="1529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8331E3C-F61C-45FB-AA97-3287D8D9A5B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5293F"/>
          </a:solidFill>
        </p:spPr>
      </p:sp>
      <p:sp>
        <p:nvSpPr>
          <p:cNvPr id="3" name="Shape 1">
            <a:extLst xmlns:a="http://schemas.openxmlformats.org/drawingml/2006/main">
              <a:ext uri="{FF2B5EF4-FFF2-40B4-BE49-F238E27FC236}">
                <a16:creationId xmlns:a16="http://schemas.microsoft.com/office/drawing/2014/main" id="{DC51783C-BE88-4B83-8AE4-59986063F16C}"/>
              </a:ext>
            </a:extLst>
          </p:cNvPr>
          <p:cNvSpPr>
            <a:spLocks xmlns:a="http://schemas.openxmlformats.org/drawingml/2006/main" noGrp="1"/>
          </p:cNvSpPr>
          <p:nvPr/>
        </p:nvSpPr>
        <p:spPr>
          <a:xfrm xmlns:a="http://schemas.openxmlformats.org/drawingml/2006/main">
            <a:off x="548640" y="566928"/>
            <a:ext cx="310896" cy="310896"/>
          </a:xfrm>
          <a:prstGeom xmlns:a="http://schemas.openxmlformats.org/drawingml/2006/main" prst="roundRect">
            <a:avLst>
              <a:gd name="adj" fmla="val 23529"/>
            </a:avLst>
          </a:prstGeom>
          <a:solidFill xmlns:a="http://schemas.openxmlformats.org/drawingml/2006/main">
            <a:srgbClr val="EE2B76"/>
          </a:solidFill>
        </p:spPr>
      </p:sp>
      <p:sp>
        <p:nvSpPr>
          <p:cNvPr id="4" name="Shape 2">
            <a:extLst xmlns:a="http://schemas.openxmlformats.org/drawingml/2006/main">
              <a:ext uri="{FF2B5EF4-FFF2-40B4-BE49-F238E27FC236}">
                <a16:creationId xmlns:a16="http://schemas.microsoft.com/office/drawing/2014/main" id="{D4AA109E-FCCE-4006-9766-3156AC2A55F0}"/>
              </a:ext>
            </a:extLst>
          </p:cNvPr>
          <p:cNvSpPr>
            <a:spLocks xmlns:a="http://schemas.openxmlformats.org/drawingml/2006/main" noGrp="1"/>
          </p:cNvSpPr>
          <p:nvPr/>
        </p:nvSpPr>
        <p:spPr>
          <a:xfrm xmlns:a="http://schemas.openxmlformats.org/drawingml/2006/main">
            <a:off x="932688" y="566928"/>
            <a:ext cx="310896" cy="310896"/>
          </a:xfrm>
          <a:prstGeom xmlns:a="http://schemas.openxmlformats.org/drawingml/2006/main" prst="roundRect">
            <a:avLst>
              <a:gd name="adj" fmla="val 23529"/>
            </a:avLst>
          </a:prstGeom>
          <a:solidFill xmlns:a="http://schemas.openxmlformats.org/drawingml/2006/main">
            <a:srgbClr val="2E4A6B"/>
          </a:solidFill>
        </p:spPr>
      </p:sp>
      <p:sp>
        <p:nvSpPr>
          <p:cNvPr id="5" name="Text 3">
            <a:extLst xmlns:a="http://schemas.openxmlformats.org/drawingml/2006/main">
              <a:ext uri="{FF2B5EF4-FFF2-40B4-BE49-F238E27FC236}">
                <a16:creationId xmlns:a16="http://schemas.microsoft.com/office/drawing/2014/main" id="{D4616066-CE3B-4516-A231-977C3E6D3B2A}"/>
              </a:ext>
            </a:extLst>
          </p:cNvPr>
          <p:cNvSpPr>
            <a:spLocks xmlns:a="http://schemas.openxmlformats.org/drawingml/2006/main" noGrp="1"/>
          </p:cNvSpPr>
          <p:nvPr/>
        </p:nvSpPr>
        <p:spPr>
          <a:xfrm xmlns:a="http://schemas.openxmlformats.org/drawingml/2006/main">
            <a:off x="1408176" y="54864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CADCFC"/>
                </a:solidFill>
                <a:latin typeface="Poppins"/>
                <a:ea typeface="Poppins"/>
                <a:cs typeface="Poppins"/>
              </a:rPr>
              <a:t>LEADERSHIP DEAL REVIEW  ·  CONFIDENTIAL — INTERNAL</a:t>
            </a:r>
            <a:endParaRPr sz="1200"/>
          </a:p>
        </p:txBody>
      </p:sp>
      <p:sp>
        <p:nvSpPr>
          <p:cNvPr id="6" name="Text 4">
            <a:extLst xmlns:a="http://schemas.openxmlformats.org/drawingml/2006/main">
              <a:ext uri="{FF2B5EF4-FFF2-40B4-BE49-F238E27FC236}">
                <a16:creationId xmlns:a16="http://schemas.microsoft.com/office/drawing/2014/main" id="{DDBACC0F-D8E7-4A9E-BBDE-09BB6C6FE19C}"/>
              </a:ext>
            </a:extLst>
          </p:cNvPr>
          <p:cNvSpPr>
            <a:spLocks xmlns:a="http://schemas.openxmlformats.org/drawingml/2006/main" noGrp="1"/>
          </p:cNvSpPr>
          <p:nvPr/>
        </p:nvSpPr>
        <p:spPr>
          <a:xfrm xmlns:a="http://schemas.openxmlformats.org/drawingml/2006/main">
            <a:off x="548640" y="1828800"/>
            <a:ext cx="10972800" cy="10058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5400" b="1">
                <a:solidFill>
                  <a:srgbClr val="FFFFFF"/>
                </a:solidFill>
                <a:latin typeface="Poppins"/>
                <a:ea typeface="Poppins"/>
                <a:cs typeface="Poppins"/>
              </a:rPr>
              <a:t>Axis Max Life </a:t>
            </a:r>
            <a:r>
              <a:rPr sz="5400" b="1">
                <a:solidFill>
                  <a:srgbClr val="EE2B76"/>
                </a:solidFill>
                <a:latin typeface="Poppins"/>
                <a:ea typeface="Poppins"/>
                <a:cs typeface="Poppins"/>
              </a:rPr>
              <a:t>—</a:t>
            </a:r>
            <a:r>
              <a:rPr sz="5400" b="1">
                <a:solidFill>
                  <a:srgbClr val="FFFFFF"/>
                </a:solidFill>
                <a:latin typeface="Poppins"/>
                <a:ea typeface="Poppins"/>
                <a:cs typeface="Poppins"/>
              </a:rPr>
              <a:t> MATRIX</a:t>
            </a:r>
            <a:endParaRPr sz="5400"/>
          </a:p>
        </p:txBody>
      </p:sp>
      <p:sp>
        <p:nvSpPr>
          <p:cNvPr id="7" name="Text 5">
            <a:extLst xmlns:a="http://schemas.openxmlformats.org/drawingml/2006/main">
              <a:ext uri="{FF2B5EF4-FFF2-40B4-BE49-F238E27FC236}">
                <a16:creationId xmlns:a16="http://schemas.microsoft.com/office/drawing/2014/main" id="{0067E4A3-E2FD-4E64-BD78-53AB7452FD66}"/>
              </a:ext>
            </a:extLst>
          </p:cNvPr>
          <p:cNvSpPr>
            <a:spLocks xmlns:a="http://schemas.openxmlformats.org/drawingml/2006/main" noGrp="1"/>
          </p:cNvSpPr>
          <p:nvPr/>
        </p:nvSpPr>
        <p:spPr>
          <a:xfrm xmlns:a="http://schemas.openxmlformats.org/drawingml/2006/main">
            <a:off x="548640" y="2852928"/>
            <a:ext cx="10972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2000">
                <a:solidFill>
                  <a:srgbClr val="CADCFC"/>
                </a:solidFill>
                <a:latin typeface="Poppins"/>
                <a:ea typeface="Poppins"/>
                <a:cs typeface="Poppins"/>
              </a:rPr>
              <a:t>Activity &amp; Lead Management on Mobility  ·  AMS + LMS + Renewal</a:t>
            </a:r>
            <a:endParaRPr sz="2000"/>
          </a:p>
        </p:txBody>
      </p:sp>
      <p:sp>
        <p:nvSpPr>
          <p:cNvPr id="8" name="Text 6">
            <a:extLst xmlns:a="http://schemas.openxmlformats.org/drawingml/2006/main">
              <a:ext uri="{FF2B5EF4-FFF2-40B4-BE49-F238E27FC236}">
                <a16:creationId xmlns:a16="http://schemas.microsoft.com/office/drawing/2014/main" id="{25D12934-2185-4EAD-9D4B-0DCF425A292B}"/>
              </a:ext>
            </a:extLst>
          </p:cNvPr>
          <p:cNvSpPr>
            <a:spLocks xmlns:a="http://schemas.openxmlformats.org/drawingml/2006/main" noGrp="1"/>
          </p:cNvSpPr>
          <p:nvPr/>
        </p:nvSpPr>
        <p:spPr>
          <a:xfrm xmlns:a="http://schemas.openxmlformats.org/drawingml/2006/main">
            <a:off x="548640" y="3346704"/>
            <a:ext cx="104241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400" i="1">
                <a:solidFill>
                  <a:srgbClr val="A9B8CC"/>
                </a:solidFill>
                <a:latin typeface="Calibri"/>
                <a:ea typeface="Calibri"/>
                <a:cs typeface="Calibri"/>
              </a:rPr>
              <a:t>Replacing the incumbent SaaS (Vymo) with a configuration-driven build embedded inside the mSpace Super App</a:t>
            </a:r>
            <a:endParaRPr sz="1400"/>
          </a:p>
        </p:txBody>
      </p:sp>
      <p:sp>
        <p:nvSpPr>
          <p:cNvPr id="9" name="Shape 7">
            <a:extLst xmlns:a="http://schemas.openxmlformats.org/drawingml/2006/main">
              <a:ext uri="{FF2B5EF4-FFF2-40B4-BE49-F238E27FC236}">
                <a16:creationId xmlns:a16="http://schemas.microsoft.com/office/drawing/2014/main" id="{6EF4EEBE-E0EB-43ED-AF19-88B51DEB2B36}"/>
              </a:ext>
            </a:extLst>
          </p:cNvPr>
          <p:cNvSpPr>
            <a:spLocks xmlns:a="http://schemas.openxmlformats.org/drawingml/2006/main" noGrp="1"/>
          </p:cNvSpPr>
          <p:nvPr/>
        </p:nvSpPr>
        <p:spPr>
          <a:xfrm xmlns:a="http://schemas.openxmlformats.org/drawingml/2006/main">
            <a:off x="548640"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10" name="Shape 8">
            <a:extLst xmlns:a="http://schemas.openxmlformats.org/drawingml/2006/main">
              <a:ext uri="{FF2B5EF4-FFF2-40B4-BE49-F238E27FC236}">
                <a16:creationId xmlns:a16="http://schemas.microsoft.com/office/drawing/2014/main" id="{3EF5AA97-AA49-44AD-BCF4-98B4D7CEFCD5}"/>
              </a:ext>
            </a:extLst>
          </p:cNvPr>
          <p:cNvSpPr>
            <a:spLocks xmlns:a="http://schemas.openxmlformats.org/drawingml/2006/main" noGrp="1"/>
          </p:cNvSpPr>
          <p:nvPr/>
        </p:nvSpPr>
        <p:spPr>
          <a:xfrm xmlns:a="http://schemas.openxmlformats.org/drawingml/2006/main">
            <a:off x="749808"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43" name="Image 0"/>
          <p:cNvPicPr>
            <a:picLocks xmlns:a="http://schemas.openxmlformats.org/drawingml/2006/main" noChangeAspect="1"/>
          </p:cNvPicPr>
          <p:nvPr/>
        </p:nvPicPr>
        <p:blipFill>
          <a:blip xmlns:r="http://schemas.openxmlformats.org/officeDocument/2006/relationships" xmlns:a="http://schemas.openxmlformats.org/drawingml/2006/main" r:embed="R11441a0c60904745"/>
          <a:stretch xmlns:a="http://schemas.openxmlformats.org/drawingml/2006/main">
            <a:fillRect l="0" t="0" r="0" b="0"/>
          </a:stretch>
        </p:blipFill>
        <p:spPr>
          <a:xfrm xmlns:a="http://schemas.openxmlformats.org/drawingml/2006/main">
            <a:off x="868680" y="4681728"/>
            <a:ext cx="219456" cy="219456"/>
          </a:xfrm>
          <a:prstGeom xmlns:a="http://schemas.openxmlformats.org/drawingml/2006/main" prst="rect">
            <a:avLst/>
          </a:prstGeom>
        </p:spPr>
      </p:pic>
      <p:sp>
        <p:nvSpPr>
          <p:cNvPr id="12" name="Text 9">
            <a:extLst xmlns:a="http://schemas.openxmlformats.org/drawingml/2006/main">
              <a:ext uri="{FF2B5EF4-FFF2-40B4-BE49-F238E27FC236}">
                <a16:creationId xmlns:a16="http://schemas.microsoft.com/office/drawing/2014/main" id="{5B90959E-D699-4C40-9455-F7FAC59A6807}"/>
              </a:ext>
            </a:extLst>
          </p:cNvPr>
          <p:cNvSpPr>
            <a:spLocks xmlns:a="http://schemas.openxmlformats.org/drawingml/2006/main" noGrp="1"/>
          </p:cNvSpPr>
          <p:nvPr/>
        </p:nvSpPr>
        <p:spPr>
          <a:xfrm xmlns:a="http://schemas.openxmlformats.org/drawingml/2006/main">
            <a:off x="1316736"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₹4.36 Cr</a:t>
            </a:r>
            <a:endParaRPr sz="1800"/>
          </a:p>
        </p:txBody>
      </p:sp>
      <p:sp>
        <p:nvSpPr>
          <p:cNvPr id="13" name="Text 10">
            <a:extLst xmlns:a="http://schemas.openxmlformats.org/drawingml/2006/main">
              <a:ext uri="{FF2B5EF4-FFF2-40B4-BE49-F238E27FC236}">
                <a16:creationId xmlns:a16="http://schemas.microsoft.com/office/drawing/2014/main" id="{08D81750-8715-4595-87FD-736E59B059D7}"/>
              </a:ext>
            </a:extLst>
          </p:cNvPr>
          <p:cNvSpPr>
            <a:spLocks xmlns:a="http://schemas.openxmlformats.org/drawingml/2006/main" noGrp="1"/>
          </p:cNvSpPr>
          <p:nvPr/>
        </p:nvSpPr>
        <p:spPr>
          <a:xfrm xmlns:a="http://schemas.openxmlformats.org/drawingml/2006/main">
            <a:off x="768096"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Implementation (fixed bid,</a:t>
            </a:r>
            <a:endParaRPr sz="1050"/>
          </a:p>
          <a:p xmlns:a="http://schemas.openxmlformats.org/drawingml/2006/main">
            <a:pPr marL="0" indent="0">
              <a:lnSpc>
                <a:spcPct val="100000"/>
              </a:lnSpc>
              <a:buNone/>
            </a:pPr>
            <a:r>
              <a:rPr sz="1050">
                <a:solidFill>
                  <a:srgbClr val="A9B8CC"/>
                </a:solidFill>
                <a:latin typeface="Calibri"/>
                <a:ea typeface="Calibri"/>
                <a:cs typeface="Calibri"/>
              </a:rPr>
              <a:t>ex-licence &amp; infra)</a:t>
            </a:r>
            <a:endParaRPr sz="1050"/>
          </a:p>
        </p:txBody>
      </p:sp>
      <p:sp>
        <p:nvSpPr>
          <p:cNvPr id="14" name="Shape 11">
            <a:extLst xmlns:a="http://schemas.openxmlformats.org/drawingml/2006/main">
              <a:ext uri="{FF2B5EF4-FFF2-40B4-BE49-F238E27FC236}">
                <a16:creationId xmlns:a16="http://schemas.microsoft.com/office/drawing/2014/main" id="{E8105F60-43C8-46B9-8F11-6EAB69179BCC}"/>
              </a:ext>
            </a:extLst>
          </p:cNvPr>
          <p:cNvSpPr>
            <a:spLocks xmlns:a="http://schemas.openxmlformats.org/drawingml/2006/main" noGrp="1"/>
          </p:cNvSpPr>
          <p:nvPr/>
        </p:nvSpPr>
        <p:spPr>
          <a:xfrm xmlns:a="http://schemas.openxmlformats.org/drawingml/2006/main">
            <a:off x="3419856"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15" name="Shape 12">
            <a:extLst xmlns:a="http://schemas.openxmlformats.org/drawingml/2006/main">
              <a:ext uri="{FF2B5EF4-FFF2-40B4-BE49-F238E27FC236}">
                <a16:creationId xmlns:a16="http://schemas.microsoft.com/office/drawing/2014/main" id="{94ECDA45-F7DC-4C1C-ADCE-E888BA3CA5F2}"/>
              </a:ext>
            </a:extLst>
          </p:cNvPr>
          <p:cNvSpPr>
            <a:spLocks xmlns:a="http://schemas.openxmlformats.org/drawingml/2006/main" noGrp="1"/>
          </p:cNvSpPr>
          <p:nvPr/>
        </p:nvSpPr>
        <p:spPr>
          <a:xfrm xmlns:a="http://schemas.openxmlformats.org/drawingml/2006/main">
            <a:off x="3621024"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48" name="Image 1"/>
          <p:cNvPicPr>
            <a:picLocks xmlns:a="http://schemas.openxmlformats.org/drawingml/2006/main" noChangeAspect="1"/>
          </p:cNvPicPr>
          <p:nvPr/>
        </p:nvPicPr>
        <p:blipFill>
          <a:blip xmlns:r="http://schemas.openxmlformats.org/officeDocument/2006/relationships" xmlns:a="http://schemas.openxmlformats.org/drawingml/2006/main" r:embed="R292004bdee8044db"/>
          <a:stretch xmlns:a="http://schemas.openxmlformats.org/drawingml/2006/main">
            <a:fillRect l="0" t="0" r="0" b="0"/>
          </a:stretch>
        </p:blipFill>
        <p:spPr>
          <a:xfrm xmlns:a="http://schemas.openxmlformats.org/drawingml/2006/main">
            <a:off x="3739896" y="4681728"/>
            <a:ext cx="219456" cy="219456"/>
          </a:xfrm>
          <a:prstGeom xmlns:a="http://schemas.openxmlformats.org/drawingml/2006/main" prst="rect">
            <a:avLst/>
          </a:prstGeom>
        </p:spPr>
      </p:pic>
      <p:sp>
        <p:nvSpPr>
          <p:cNvPr id="17" name="Text 13">
            <a:extLst xmlns:a="http://schemas.openxmlformats.org/drawingml/2006/main">
              <a:ext uri="{FF2B5EF4-FFF2-40B4-BE49-F238E27FC236}">
                <a16:creationId xmlns:a16="http://schemas.microsoft.com/office/drawing/2014/main" id="{9CDAB9D8-AAAD-4E7C-87A3-44C5B22BE86F}"/>
              </a:ext>
            </a:extLst>
          </p:cNvPr>
          <p:cNvSpPr>
            <a:spLocks xmlns:a="http://schemas.openxmlformats.org/drawingml/2006/main" noGrp="1"/>
          </p:cNvSpPr>
          <p:nvPr/>
        </p:nvSpPr>
        <p:spPr>
          <a:xfrm xmlns:a="http://schemas.openxmlformats.org/drawingml/2006/main">
            <a:off x="4187952"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Feb 26 → Jul 27</a:t>
            </a:r>
            <a:endParaRPr sz="1800"/>
          </a:p>
        </p:txBody>
      </p:sp>
      <p:sp>
        <p:nvSpPr>
          <p:cNvPr id="18" name="Text 14">
            <a:extLst xmlns:a="http://schemas.openxmlformats.org/drawingml/2006/main">
              <a:ext uri="{FF2B5EF4-FFF2-40B4-BE49-F238E27FC236}">
                <a16:creationId xmlns:a16="http://schemas.microsoft.com/office/drawing/2014/main" id="{7F376C5D-2CC5-4478-A81F-279E0A7D9224}"/>
              </a:ext>
            </a:extLst>
          </p:cNvPr>
          <p:cNvSpPr>
            <a:spLocks xmlns:a="http://schemas.openxmlformats.org/drawingml/2006/main" noGrp="1"/>
          </p:cNvSpPr>
          <p:nvPr/>
        </p:nvSpPr>
        <p:spPr>
          <a:xfrm xmlns:a="http://schemas.openxmlformats.org/drawingml/2006/main">
            <a:off x="3639312"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Phased rollout across</a:t>
            </a:r>
            <a:endParaRPr sz="1050"/>
          </a:p>
          <a:p xmlns:a="http://schemas.openxmlformats.org/drawingml/2006/main">
            <a:pPr marL="0" indent="0">
              <a:lnSpc>
                <a:spcPct val="100000"/>
              </a:lnSpc>
              <a:buNone/>
            </a:pPr>
            <a:r>
              <a:rPr sz="1050">
                <a:solidFill>
                  <a:srgbClr val="A9B8CC"/>
                </a:solidFill>
                <a:latin typeface="Calibri"/>
                <a:ea typeface="Calibri"/>
                <a:cs typeface="Calibri"/>
              </a:rPr>
              <a:t>10 milestones (M1–M10)</a:t>
            </a:r>
            <a:endParaRPr sz="1050"/>
          </a:p>
        </p:txBody>
      </p:sp>
      <p:sp>
        <p:nvSpPr>
          <p:cNvPr id="19" name="Shape 15">
            <a:extLst xmlns:a="http://schemas.openxmlformats.org/drawingml/2006/main">
              <a:ext uri="{FF2B5EF4-FFF2-40B4-BE49-F238E27FC236}">
                <a16:creationId xmlns:a16="http://schemas.microsoft.com/office/drawing/2014/main" id="{38A2F47F-3D28-4B52-A844-9770FB416833}"/>
              </a:ext>
            </a:extLst>
          </p:cNvPr>
          <p:cNvSpPr>
            <a:spLocks xmlns:a="http://schemas.openxmlformats.org/drawingml/2006/main" noGrp="1"/>
          </p:cNvSpPr>
          <p:nvPr/>
        </p:nvSpPr>
        <p:spPr>
          <a:xfrm xmlns:a="http://schemas.openxmlformats.org/drawingml/2006/main">
            <a:off x="6291072"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20" name="Shape 16">
            <a:extLst xmlns:a="http://schemas.openxmlformats.org/drawingml/2006/main">
              <a:ext uri="{FF2B5EF4-FFF2-40B4-BE49-F238E27FC236}">
                <a16:creationId xmlns:a16="http://schemas.microsoft.com/office/drawing/2014/main" id="{CC4B7CBA-D48B-48BF-8B69-1C02E22451FF}"/>
              </a:ext>
            </a:extLst>
          </p:cNvPr>
          <p:cNvSpPr>
            <a:spLocks xmlns:a="http://schemas.openxmlformats.org/drawingml/2006/main" noGrp="1"/>
          </p:cNvSpPr>
          <p:nvPr/>
        </p:nvSpPr>
        <p:spPr>
          <a:xfrm xmlns:a="http://schemas.openxmlformats.org/drawingml/2006/main">
            <a:off x="6492240"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3" name="Image 2"/>
          <p:cNvPicPr>
            <a:picLocks xmlns:a="http://schemas.openxmlformats.org/drawingml/2006/main" noChangeAspect="1"/>
          </p:cNvPicPr>
          <p:nvPr/>
        </p:nvPicPr>
        <p:blipFill>
          <a:blip xmlns:r="http://schemas.openxmlformats.org/officeDocument/2006/relationships" xmlns:a="http://schemas.openxmlformats.org/drawingml/2006/main" r:embed="Rc774b0eb64c344d7"/>
          <a:stretch xmlns:a="http://schemas.openxmlformats.org/drawingml/2006/main">
            <a:fillRect l="0" t="0" r="0" b="0"/>
          </a:stretch>
        </p:blipFill>
        <p:spPr>
          <a:xfrm xmlns:a="http://schemas.openxmlformats.org/drawingml/2006/main">
            <a:off x="6611112" y="4681728"/>
            <a:ext cx="219456" cy="219456"/>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11635C64-4A71-44D8-9EF7-7261706B04D9}"/>
              </a:ext>
            </a:extLst>
          </p:cNvPr>
          <p:cNvSpPr>
            <a:spLocks xmlns:a="http://schemas.openxmlformats.org/drawingml/2006/main" noGrp="1"/>
          </p:cNvSpPr>
          <p:nvPr/>
        </p:nvSpPr>
        <p:spPr>
          <a:xfrm xmlns:a="http://schemas.openxmlformats.org/drawingml/2006/main">
            <a:off x="7059168"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AMS + LMS</a:t>
            </a:r>
            <a:endParaRPr sz="1800"/>
          </a:p>
        </p:txBody>
      </p:sp>
      <p:sp>
        <p:nvSpPr>
          <p:cNvPr id="23" name="Text 18">
            <a:extLst xmlns:a="http://schemas.openxmlformats.org/drawingml/2006/main">
              <a:ext uri="{FF2B5EF4-FFF2-40B4-BE49-F238E27FC236}">
                <a16:creationId xmlns:a16="http://schemas.microsoft.com/office/drawing/2014/main" id="{53BA9AA3-99EE-4AF5-9965-32252F07F11F}"/>
              </a:ext>
            </a:extLst>
          </p:cNvPr>
          <p:cNvSpPr>
            <a:spLocks xmlns:a="http://schemas.openxmlformats.org/drawingml/2006/main" noGrp="1"/>
          </p:cNvSpPr>
          <p:nvPr/>
        </p:nvSpPr>
        <p:spPr>
          <a:xfrm xmlns:a="http://schemas.openxmlformats.org/drawingml/2006/main">
            <a:off x="6510528"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Renewal, integrations,</a:t>
            </a:r>
            <a:endParaRPr sz="1050"/>
          </a:p>
          <a:p xmlns:a="http://schemas.openxmlformats.org/drawingml/2006/main">
            <a:pPr marL="0" indent="0">
              <a:lnSpc>
                <a:spcPct val="100000"/>
              </a:lnSpc>
              <a:buNone/>
            </a:pPr>
            <a:r>
              <a:rPr sz="1050">
                <a:solidFill>
                  <a:srgbClr val="A9B8CC"/>
                </a:solidFill>
                <a:latin typeface="Calibri"/>
                <a:ea typeface="Calibri"/>
                <a:cs typeface="Calibri"/>
              </a:rPr>
              <a:t>Admin &amp; reporting</a:t>
            </a:r>
            <a:endParaRPr sz="1050"/>
          </a:p>
        </p:txBody>
      </p:sp>
      <p:sp>
        <p:nvSpPr>
          <p:cNvPr id="24" name="Shape 19">
            <a:extLst xmlns:a="http://schemas.openxmlformats.org/drawingml/2006/main">
              <a:ext uri="{FF2B5EF4-FFF2-40B4-BE49-F238E27FC236}">
                <a16:creationId xmlns:a16="http://schemas.microsoft.com/office/drawing/2014/main" id="{351DC9DC-415C-4385-A7E7-BB566BA196E6}"/>
              </a:ext>
            </a:extLst>
          </p:cNvPr>
          <p:cNvSpPr>
            <a:spLocks xmlns:a="http://schemas.openxmlformats.org/drawingml/2006/main" noGrp="1"/>
          </p:cNvSpPr>
          <p:nvPr/>
        </p:nvSpPr>
        <p:spPr>
          <a:xfrm xmlns:a="http://schemas.openxmlformats.org/drawingml/2006/main">
            <a:off x="9162288" y="4343400"/>
            <a:ext cx="2615184" cy="1371600"/>
          </a:xfrm>
          <a:prstGeom xmlns:a="http://schemas.openxmlformats.org/drawingml/2006/main" prst="roundRect">
            <a:avLst>
              <a:gd name="adj" fmla="val 6667"/>
            </a:avLst>
          </a:prstGeom>
          <a:solidFill xmlns:a="http://schemas.openxmlformats.org/drawingml/2006/main">
            <a:srgbClr val="1A324C"/>
          </a:solidFill>
          <a:ln xmlns:a="http://schemas.openxmlformats.org/drawingml/2006/main" w="12700">
            <a:solidFill>
              <a:srgbClr val="2E4A6B"/>
            </a:solidFill>
            <a:prstDash val="solid"/>
          </a:ln>
        </p:spPr>
      </p:sp>
      <p:sp>
        <p:nvSpPr>
          <p:cNvPr id="25" name="Shape 20">
            <a:extLst xmlns:a="http://schemas.openxmlformats.org/drawingml/2006/main">
              <a:ext uri="{FF2B5EF4-FFF2-40B4-BE49-F238E27FC236}">
                <a16:creationId xmlns:a16="http://schemas.microsoft.com/office/drawing/2014/main" id="{ABDE23E8-CBCB-490C-A9AF-CB95370D5C20}"/>
              </a:ext>
            </a:extLst>
          </p:cNvPr>
          <p:cNvSpPr>
            <a:spLocks xmlns:a="http://schemas.openxmlformats.org/drawingml/2006/main" noGrp="1"/>
          </p:cNvSpPr>
          <p:nvPr/>
        </p:nvSpPr>
        <p:spPr>
          <a:xfrm xmlns:a="http://schemas.openxmlformats.org/drawingml/2006/main">
            <a:off x="9363456" y="4562856"/>
            <a:ext cx="457200" cy="457200"/>
          </a:xfrm>
          <a:prstGeom xmlns:a="http://schemas.openxmlformats.org/drawingml/2006/main" prst="ellipse">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8" name="Image 3"/>
          <p:cNvPicPr>
            <a:picLocks xmlns:a="http://schemas.openxmlformats.org/drawingml/2006/main" noChangeAspect="1"/>
          </p:cNvPicPr>
          <p:nvPr/>
        </p:nvPicPr>
        <p:blipFill>
          <a:blip xmlns:r="http://schemas.openxmlformats.org/officeDocument/2006/relationships" xmlns:a="http://schemas.openxmlformats.org/drawingml/2006/main" r:embed="Rfb022c81b7d34780"/>
          <a:stretch xmlns:a="http://schemas.openxmlformats.org/drawingml/2006/main">
            <a:fillRect l="0" t="0" r="0" b="0"/>
          </a:stretch>
        </p:blipFill>
        <p:spPr>
          <a:xfrm xmlns:a="http://schemas.openxmlformats.org/drawingml/2006/main">
            <a:off x="9482328" y="4681728"/>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D77C2E0-C4AE-48EF-8703-F02236321CE0}"/>
              </a:ext>
            </a:extLst>
          </p:cNvPr>
          <p:cNvSpPr>
            <a:spLocks xmlns:a="http://schemas.openxmlformats.org/drawingml/2006/main" noGrp="1"/>
          </p:cNvSpPr>
          <p:nvPr/>
        </p:nvSpPr>
        <p:spPr>
          <a:xfrm xmlns:a="http://schemas.openxmlformats.org/drawingml/2006/main">
            <a:off x="9930384" y="4526280"/>
            <a:ext cx="1719072"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FFFFFF"/>
                </a:solidFill>
                <a:latin typeface="Poppins"/>
                <a:ea typeface="Poppins"/>
                <a:cs typeface="Poppins"/>
              </a:rPr>
              <a:t>22–25K + 100K</a:t>
            </a:r>
            <a:endParaRPr sz="1800"/>
          </a:p>
        </p:txBody>
      </p:sp>
      <p:sp>
        <p:nvSpPr>
          <p:cNvPr id="28" name="Text 22">
            <a:extLst xmlns:a="http://schemas.openxmlformats.org/drawingml/2006/main">
              <a:ext uri="{FF2B5EF4-FFF2-40B4-BE49-F238E27FC236}">
                <a16:creationId xmlns:a16="http://schemas.microsoft.com/office/drawing/2014/main" id="{CD7C04B1-C9DC-4144-9947-08F8110643F6}"/>
              </a:ext>
            </a:extLst>
          </p:cNvPr>
          <p:cNvSpPr>
            <a:spLocks xmlns:a="http://schemas.openxmlformats.org/drawingml/2006/main" noGrp="1"/>
          </p:cNvSpPr>
          <p:nvPr/>
        </p:nvSpPr>
        <p:spPr>
          <a:xfrm xmlns:a="http://schemas.openxmlformats.org/drawingml/2006/main">
            <a:off x="9381744" y="5093208"/>
            <a:ext cx="221284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1050">
                <a:solidFill>
                  <a:srgbClr val="A9B8CC"/>
                </a:solidFill>
                <a:latin typeface="Calibri"/>
                <a:ea typeface="Calibri"/>
                <a:cs typeface="Calibri"/>
              </a:rPr>
              <a:t>On-roll sellers plus</a:t>
            </a:r>
            <a:endParaRPr sz="1050"/>
          </a:p>
          <a:p xmlns:a="http://schemas.openxmlformats.org/drawingml/2006/main">
            <a:pPr marL="0" indent="0">
              <a:lnSpc>
                <a:spcPct val="100000"/>
              </a:lnSpc>
              <a:buNone/>
            </a:pPr>
            <a:r>
              <a:rPr sz="1050">
                <a:solidFill>
                  <a:srgbClr val="A9B8CC"/>
                </a:solidFill>
                <a:latin typeface="Calibri"/>
                <a:ea typeface="Calibri"/>
                <a:cs typeface="Calibri"/>
              </a:rPr>
              <a:t>off-role field force</a:t>
            </a:r>
            <a:endParaRPr sz="1050"/>
          </a:p>
        </p:txBody>
      </p:sp>
      <p:sp>
        <p:nvSpPr>
          <p:cNvPr id="29" name="Text 23">
            <a:extLst xmlns:a="http://schemas.openxmlformats.org/drawingml/2006/main">
              <a:ext uri="{FF2B5EF4-FFF2-40B4-BE49-F238E27FC236}">
                <a16:creationId xmlns:a16="http://schemas.microsoft.com/office/drawing/2014/main" id="{54DF0E4D-B87C-43E0-BE5B-991C36A628DD}"/>
              </a:ext>
            </a:extLst>
          </p:cNvPr>
          <p:cNvSpPr>
            <a:spLocks xmlns:a="http://schemas.openxmlformats.org/drawingml/2006/main" noGrp="1"/>
          </p:cNvSpPr>
          <p:nvPr/>
        </p:nvSpPr>
        <p:spPr>
          <a:xfrm xmlns:a="http://schemas.openxmlformats.org/drawingml/2006/main">
            <a:off x="548640" y="6309360"/>
            <a:ext cx="7315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FFFFFF"/>
                </a:solidFill>
                <a:latin typeface="Poppins"/>
                <a:ea typeface="Poppins"/>
                <a:cs typeface="Poppins"/>
              </a:rPr>
              <a:t>BUSINESSNEXT</a:t>
            </a:r>
            <a:r>
              <a:rPr sz="1100" spc="100">
                <a:solidFill>
                  <a:srgbClr val="8FA1B8"/>
                </a:solidFill>
                <a:latin typeface="Poppins"/>
                <a:ea typeface="Poppins"/>
                <a:cs typeface="Poppins"/>
              </a:rPr>
              <a:t>   Presales &amp; Solution Consulting</a:t>
            </a:r>
            <a:endParaRPr sz="1100"/>
          </a:p>
        </p:txBody>
      </p:sp>
    </p:spTree>
    <p:extLst>
      <p:ext uri="{BB962C8B-B14F-4D97-AF65-F5344CB8AC3E}">
        <p14:creationId xmlns:p14="http://schemas.microsoft.com/office/powerpoint/2010/main" val="17694254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5D16A55-A69C-4864-9DA3-4FDE1B910C07}"/>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EXECUTIVE SNAPSHOT</a:t>
            </a:r>
            <a:endParaRPr sz="1200"/>
          </a:p>
        </p:txBody>
      </p:sp>
      <p:sp>
        <p:nvSpPr>
          <p:cNvPr id="3" name="Text 1">
            <a:extLst xmlns:a="http://schemas.openxmlformats.org/drawingml/2006/main">
              <a:ext uri="{FF2B5EF4-FFF2-40B4-BE49-F238E27FC236}">
                <a16:creationId xmlns:a16="http://schemas.microsoft.com/office/drawing/2014/main" id="{201D95B1-FA5D-4D08-B675-F1B236866476}"/>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The opportunity at a glance</a:t>
            </a:r>
            <a:endParaRPr sz="3000"/>
          </a:p>
        </p:txBody>
      </p:sp>
      <p:sp>
        <p:nvSpPr>
          <p:cNvPr id="4" name="Shape 2">
            <a:extLst xmlns:a="http://schemas.openxmlformats.org/drawingml/2006/main">
              <a:ext uri="{FF2B5EF4-FFF2-40B4-BE49-F238E27FC236}">
                <a16:creationId xmlns:a16="http://schemas.microsoft.com/office/drawing/2014/main" id="{28FFB145-D937-43F5-B47E-DC11E2CBFF3F}"/>
              </a:ext>
            </a:extLst>
          </p:cNvPr>
          <p:cNvSpPr>
            <a:spLocks xmlns:a="http://schemas.openxmlformats.org/drawingml/2006/main" noGrp="1"/>
          </p:cNvSpPr>
          <p:nvPr/>
        </p:nvSpPr>
        <p:spPr>
          <a:xfrm xmlns:a="http://schemas.openxmlformats.org/drawingml/2006/main">
            <a:off x="548640"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5" name="Shape 3">
            <a:extLst xmlns:a="http://schemas.openxmlformats.org/drawingml/2006/main">
              <a:ext uri="{FF2B5EF4-FFF2-40B4-BE49-F238E27FC236}">
                <a16:creationId xmlns:a16="http://schemas.microsoft.com/office/drawing/2014/main" id="{6D1D4FD2-BCBA-418A-AC84-2DD9C5A410B0}"/>
              </a:ext>
            </a:extLst>
          </p:cNvPr>
          <p:cNvSpPr>
            <a:spLocks xmlns:a="http://schemas.openxmlformats.org/drawingml/2006/main" noGrp="1"/>
          </p:cNvSpPr>
          <p:nvPr/>
        </p:nvSpPr>
        <p:spPr>
          <a:xfrm xmlns:a="http://schemas.openxmlformats.org/drawingml/2006/main">
            <a:off x="731520"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949f4da573134aac"/>
          <a:stretch xmlns:a="http://schemas.openxmlformats.org/drawingml/2006/main">
            <a:fillRect l="0" t="0" r="0" b="0"/>
          </a:stretch>
        </p:blipFill>
        <p:spPr>
          <a:xfrm xmlns:a="http://schemas.openxmlformats.org/drawingml/2006/main">
            <a:off x="828081" y="1760769"/>
            <a:ext cx="209215" cy="209215"/>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6E79B557-D785-4176-B34C-CEB2CB69732E}"/>
              </a:ext>
            </a:extLst>
          </p:cNvPr>
          <p:cNvSpPr>
            <a:spLocks xmlns:a="http://schemas.openxmlformats.org/drawingml/2006/main" noGrp="1"/>
          </p:cNvSpPr>
          <p:nvPr/>
        </p:nvSpPr>
        <p:spPr>
          <a:xfrm xmlns:a="http://schemas.openxmlformats.org/drawingml/2006/main">
            <a:off x="694944"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AMS + LMS</a:t>
            </a:r>
            <a:endParaRPr sz="1500"/>
          </a:p>
        </p:txBody>
      </p:sp>
      <p:sp>
        <p:nvSpPr>
          <p:cNvPr id="8" name="Text 5">
            <a:extLst xmlns:a="http://schemas.openxmlformats.org/drawingml/2006/main">
              <a:ext uri="{FF2B5EF4-FFF2-40B4-BE49-F238E27FC236}">
                <a16:creationId xmlns:a16="http://schemas.microsoft.com/office/drawing/2014/main" id="{9A6AECF1-1CB8-466D-9C68-F5DC70C83480}"/>
              </a:ext>
            </a:extLst>
          </p:cNvPr>
          <p:cNvSpPr>
            <a:spLocks xmlns:a="http://schemas.openxmlformats.org/drawingml/2006/main" noGrp="1"/>
          </p:cNvSpPr>
          <p:nvPr/>
        </p:nvSpPr>
        <p:spPr>
          <a:xfrm xmlns:a="http://schemas.openxmlformats.org/drawingml/2006/main">
            <a:off x="694944"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In-house · replaces Vymo</a:t>
            </a:r>
            <a:endParaRPr sz="950"/>
          </a:p>
        </p:txBody>
      </p:sp>
      <p:sp>
        <p:nvSpPr>
          <p:cNvPr id="9" name="Shape 6">
            <a:extLst xmlns:a="http://schemas.openxmlformats.org/drawingml/2006/main">
              <a:ext uri="{FF2B5EF4-FFF2-40B4-BE49-F238E27FC236}">
                <a16:creationId xmlns:a16="http://schemas.microsoft.com/office/drawing/2014/main" id="{A378FB7D-683E-4DD2-AD06-5C4C23C502B4}"/>
              </a:ext>
            </a:extLst>
          </p:cNvPr>
          <p:cNvSpPr>
            <a:spLocks xmlns:a="http://schemas.openxmlformats.org/drawingml/2006/main" noGrp="1"/>
          </p:cNvSpPr>
          <p:nvPr/>
        </p:nvSpPr>
        <p:spPr>
          <a:xfrm xmlns:a="http://schemas.openxmlformats.org/drawingml/2006/main">
            <a:off x="2852928"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0" name="Shape 7">
            <a:extLst xmlns:a="http://schemas.openxmlformats.org/drawingml/2006/main">
              <a:ext uri="{FF2B5EF4-FFF2-40B4-BE49-F238E27FC236}">
                <a16:creationId xmlns:a16="http://schemas.microsoft.com/office/drawing/2014/main" id="{F139A067-91E3-4FB9-8B99-67A96641F751}"/>
              </a:ext>
            </a:extLst>
          </p:cNvPr>
          <p:cNvSpPr>
            <a:spLocks xmlns:a="http://schemas.openxmlformats.org/drawingml/2006/main" noGrp="1"/>
          </p:cNvSpPr>
          <p:nvPr/>
        </p:nvSpPr>
        <p:spPr>
          <a:xfrm xmlns:a="http://schemas.openxmlformats.org/drawingml/2006/main">
            <a:off x="3035808"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9" name="Image 1"/>
          <p:cNvPicPr>
            <a:picLocks xmlns:a="http://schemas.openxmlformats.org/drawingml/2006/main" noChangeAspect="1"/>
          </p:cNvPicPr>
          <p:nvPr/>
        </p:nvPicPr>
        <p:blipFill>
          <a:blip xmlns:r="http://schemas.openxmlformats.org/officeDocument/2006/relationships" xmlns:a="http://schemas.openxmlformats.org/drawingml/2006/main" r:embed="Rdf15e99e1a3c4759"/>
          <a:stretch xmlns:a="http://schemas.openxmlformats.org/drawingml/2006/main">
            <a:fillRect l="0" t="0" r="0" b="0"/>
          </a:stretch>
        </p:blipFill>
        <p:spPr>
          <a:xfrm xmlns:a="http://schemas.openxmlformats.org/drawingml/2006/main">
            <a:off x="3132369" y="1760769"/>
            <a:ext cx="209215" cy="209215"/>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00A65123-FDA1-4611-BBCA-F50D5AE0C24C}"/>
              </a:ext>
            </a:extLst>
          </p:cNvPr>
          <p:cNvSpPr>
            <a:spLocks xmlns:a="http://schemas.openxmlformats.org/drawingml/2006/main" noGrp="1"/>
          </p:cNvSpPr>
          <p:nvPr/>
        </p:nvSpPr>
        <p:spPr>
          <a:xfrm xmlns:a="http://schemas.openxmlformats.org/drawingml/2006/main">
            <a:off x="2999232"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₹4.36 Cr</a:t>
            </a:r>
            <a:endParaRPr sz="1500"/>
          </a:p>
        </p:txBody>
      </p:sp>
      <p:sp>
        <p:nvSpPr>
          <p:cNvPr id="13" name="Text 9">
            <a:extLst xmlns:a="http://schemas.openxmlformats.org/drawingml/2006/main">
              <a:ext uri="{FF2B5EF4-FFF2-40B4-BE49-F238E27FC236}">
                <a16:creationId xmlns:a16="http://schemas.microsoft.com/office/drawing/2014/main" id="{B17A4D0B-E77B-4E7B-B1F4-EDE2BECEFD2B}"/>
              </a:ext>
            </a:extLst>
          </p:cNvPr>
          <p:cNvSpPr>
            <a:spLocks xmlns:a="http://schemas.openxmlformats.org/drawingml/2006/main" noGrp="1"/>
          </p:cNvSpPr>
          <p:nvPr/>
        </p:nvSpPr>
        <p:spPr>
          <a:xfrm xmlns:a="http://schemas.openxmlformats.org/drawingml/2006/main">
            <a:off x="2999232"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Implementation only</a:t>
            </a:r>
            <a:endParaRPr sz="950"/>
          </a:p>
        </p:txBody>
      </p:sp>
      <p:sp>
        <p:nvSpPr>
          <p:cNvPr id="14" name="Shape 10">
            <a:extLst xmlns:a="http://schemas.openxmlformats.org/drawingml/2006/main">
              <a:ext uri="{FF2B5EF4-FFF2-40B4-BE49-F238E27FC236}">
                <a16:creationId xmlns:a16="http://schemas.microsoft.com/office/drawing/2014/main" id="{5931AA4C-1C84-475F-AC12-B7F3589081FE}"/>
              </a:ext>
            </a:extLst>
          </p:cNvPr>
          <p:cNvSpPr>
            <a:spLocks xmlns:a="http://schemas.openxmlformats.org/drawingml/2006/main" noGrp="1"/>
          </p:cNvSpPr>
          <p:nvPr/>
        </p:nvSpPr>
        <p:spPr>
          <a:xfrm xmlns:a="http://schemas.openxmlformats.org/drawingml/2006/main">
            <a:off x="5157216"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5" name="Shape 11">
            <a:extLst xmlns:a="http://schemas.openxmlformats.org/drawingml/2006/main">
              <a:ext uri="{FF2B5EF4-FFF2-40B4-BE49-F238E27FC236}">
                <a16:creationId xmlns:a16="http://schemas.microsoft.com/office/drawing/2014/main" id="{C0EF526D-02CD-4749-8C48-BD5B496EA7C0}"/>
              </a:ext>
            </a:extLst>
          </p:cNvPr>
          <p:cNvSpPr>
            <a:spLocks xmlns:a="http://schemas.openxmlformats.org/drawingml/2006/main" noGrp="1"/>
          </p:cNvSpPr>
          <p:nvPr/>
        </p:nvSpPr>
        <p:spPr>
          <a:xfrm xmlns:a="http://schemas.openxmlformats.org/drawingml/2006/main">
            <a:off x="5340096"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aab78946590942fe"/>
          <a:stretch xmlns:a="http://schemas.openxmlformats.org/drawingml/2006/main">
            <a:fillRect l="0" t="0" r="0" b="0"/>
          </a:stretch>
        </p:blipFill>
        <p:spPr>
          <a:xfrm xmlns:a="http://schemas.openxmlformats.org/drawingml/2006/main">
            <a:off x="5436657" y="1760769"/>
            <a:ext cx="209215" cy="209215"/>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3E2CD03D-E987-4A61-BDB5-BBA8DA3E4381}"/>
              </a:ext>
            </a:extLst>
          </p:cNvPr>
          <p:cNvSpPr>
            <a:spLocks xmlns:a="http://schemas.openxmlformats.org/drawingml/2006/main" noGrp="1"/>
          </p:cNvSpPr>
          <p:nvPr/>
        </p:nvSpPr>
        <p:spPr>
          <a:xfrm xmlns:a="http://schemas.openxmlformats.org/drawingml/2006/main">
            <a:off x="5303520"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~18 months</a:t>
            </a:r>
            <a:endParaRPr sz="1500"/>
          </a:p>
        </p:txBody>
      </p:sp>
      <p:sp>
        <p:nvSpPr>
          <p:cNvPr id="18" name="Text 13">
            <a:extLst xmlns:a="http://schemas.openxmlformats.org/drawingml/2006/main">
              <a:ext uri="{FF2B5EF4-FFF2-40B4-BE49-F238E27FC236}">
                <a16:creationId xmlns:a16="http://schemas.microsoft.com/office/drawing/2014/main" id="{FF3E30EF-1E53-4E80-8844-A24C74B65B72}"/>
              </a:ext>
            </a:extLst>
          </p:cNvPr>
          <p:cNvSpPr>
            <a:spLocks xmlns:a="http://schemas.openxmlformats.org/drawingml/2006/main" noGrp="1"/>
          </p:cNvSpPr>
          <p:nvPr/>
        </p:nvSpPr>
        <p:spPr>
          <a:xfrm xmlns:a="http://schemas.openxmlformats.org/drawingml/2006/main">
            <a:off x="5303520"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M1–M10, phased</a:t>
            </a:r>
            <a:endParaRPr sz="950"/>
          </a:p>
        </p:txBody>
      </p:sp>
      <p:sp>
        <p:nvSpPr>
          <p:cNvPr id="19" name="Shape 14">
            <a:extLst xmlns:a="http://schemas.openxmlformats.org/drawingml/2006/main">
              <a:ext uri="{FF2B5EF4-FFF2-40B4-BE49-F238E27FC236}">
                <a16:creationId xmlns:a16="http://schemas.microsoft.com/office/drawing/2014/main" id="{BB5F693A-AF45-4D7B-94BE-1F5D55171129}"/>
              </a:ext>
            </a:extLst>
          </p:cNvPr>
          <p:cNvSpPr>
            <a:spLocks xmlns:a="http://schemas.openxmlformats.org/drawingml/2006/main" noGrp="1"/>
          </p:cNvSpPr>
          <p:nvPr/>
        </p:nvSpPr>
        <p:spPr>
          <a:xfrm xmlns:a="http://schemas.openxmlformats.org/drawingml/2006/main">
            <a:off x="7461504"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20" name="Shape 15">
            <a:extLst xmlns:a="http://schemas.openxmlformats.org/drawingml/2006/main">
              <a:ext uri="{FF2B5EF4-FFF2-40B4-BE49-F238E27FC236}">
                <a16:creationId xmlns:a16="http://schemas.microsoft.com/office/drawing/2014/main" id="{2CA24F2F-3121-4B9D-A4B6-9A743C93431C}"/>
              </a:ext>
            </a:extLst>
          </p:cNvPr>
          <p:cNvSpPr>
            <a:spLocks xmlns:a="http://schemas.openxmlformats.org/drawingml/2006/main" noGrp="1"/>
          </p:cNvSpPr>
          <p:nvPr/>
        </p:nvSpPr>
        <p:spPr>
          <a:xfrm xmlns:a="http://schemas.openxmlformats.org/drawingml/2006/main">
            <a:off x="7644384"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9" name="Image 3"/>
          <p:cNvPicPr>
            <a:picLocks xmlns:a="http://schemas.openxmlformats.org/drawingml/2006/main" noChangeAspect="1"/>
          </p:cNvPicPr>
          <p:nvPr/>
        </p:nvPicPr>
        <p:blipFill>
          <a:blip xmlns:r="http://schemas.openxmlformats.org/officeDocument/2006/relationships" xmlns:a="http://schemas.openxmlformats.org/drawingml/2006/main" r:embed="R59aa4d984db64eae"/>
          <a:stretch xmlns:a="http://schemas.openxmlformats.org/drawingml/2006/main">
            <a:fillRect l="0" t="0" r="0" b="0"/>
          </a:stretch>
        </p:blipFill>
        <p:spPr>
          <a:xfrm xmlns:a="http://schemas.openxmlformats.org/drawingml/2006/main">
            <a:off x="7740945" y="1760769"/>
            <a:ext cx="209215" cy="209215"/>
          </a:xfrm>
          <a:prstGeom xmlns:a="http://schemas.openxmlformats.org/drawingml/2006/main" prst="rect">
            <a:avLst/>
          </a:prstGeom>
        </p:spPr>
      </p:pic>
      <p:sp>
        <p:nvSpPr>
          <p:cNvPr id="22" name="Text 16">
            <a:extLst xmlns:a="http://schemas.openxmlformats.org/drawingml/2006/main">
              <a:ext uri="{FF2B5EF4-FFF2-40B4-BE49-F238E27FC236}">
                <a16:creationId xmlns:a16="http://schemas.microsoft.com/office/drawing/2014/main" id="{0E64D900-82C3-487E-A753-925102F32F61}"/>
              </a:ext>
            </a:extLst>
          </p:cNvPr>
          <p:cNvSpPr>
            <a:spLocks xmlns:a="http://schemas.openxmlformats.org/drawingml/2006/main" noGrp="1"/>
          </p:cNvSpPr>
          <p:nvPr/>
        </p:nvSpPr>
        <p:spPr>
          <a:xfrm xmlns:a="http://schemas.openxmlformats.org/drawingml/2006/main">
            <a:off x="7607808"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15 / 158 PM</a:t>
            </a:r>
            <a:endParaRPr sz="1500"/>
          </a:p>
        </p:txBody>
      </p:sp>
      <p:sp>
        <p:nvSpPr>
          <p:cNvPr id="23" name="Text 17">
            <a:extLst xmlns:a="http://schemas.openxmlformats.org/drawingml/2006/main">
              <a:ext uri="{FF2B5EF4-FFF2-40B4-BE49-F238E27FC236}">
                <a16:creationId xmlns:a16="http://schemas.microsoft.com/office/drawing/2014/main" id="{0E6E3BF4-A6E2-4D2C-BDF4-8974AAEF00B0}"/>
              </a:ext>
            </a:extLst>
          </p:cNvPr>
          <p:cNvSpPr>
            <a:spLocks xmlns:a="http://schemas.openxmlformats.org/drawingml/2006/main" noGrp="1"/>
          </p:cNvSpPr>
          <p:nvPr/>
        </p:nvSpPr>
        <p:spPr>
          <a:xfrm xmlns:a="http://schemas.openxmlformats.org/drawingml/2006/main">
            <a:off x="7607808"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Team / effort</a:t>
            </a:r>
            <a:endParaRPr sz="950"/>
          </a:p>
        </p:txBody>
      </p:sp>
      <p:sp>
        <p:nvSpPr>
          <p:cNvPr id="24" name="Shape 18">
            <a:extLst xmlns:a="http://schemas.openxmlformats.org/drawingml/2006/main">
              <a:ext uri="{FF2B5EF4-FFF2-40B4-BE49-F238E27FC236}">
                <a16:creationId xmlns:a16="http://schemas.microsoft.com/office/drawing/2014/main" id="{6A34405D-66D7-42AD-B8F5-B18222D100F5}"/>
              </a:ext>
            </a:extLst>
          </p:cNvPr>
          <p:cNvSpPr>
            <a:spLocks xmlns:a="http://schemas.openxmlformats.org/drawingml/2006/main" noGrp="1"/>
          </p:cNvSpPr>
          <p:nvPr/>
        </p:nvSpPr>
        <p:spPr>
          <a:xfrm xmlns:a="http://schemas.openxmlformats.org/drawingml/2006/main">
            <a:off x="9765792" y="1481328"/>
            <a:ext cx="2121408" cy="1060704"/>
          </a:xfrm>
          <a:prstGeom xmlns:a="http://schemas.openxmlformats.org/drawingml/2006/main" prst="roundRect">
            <a:avLst>
              <a:gd name="adj" fmla="val 948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25" name="Shape 19">
            <a:extLst xmlns:a="http://schemas.openxmlformats.org/drawingml/2006/main">
              <a:ext uri="{FF2B5EF4-FFF2-40B4-BE49-F238E27FC236}">
                <a16:creationId xmlns:a16="http://schemas.microsoft.com/office/drawing/2014/main" id="{685FAD20-B45E-43A2-93B2-43DF7FD8B2E9}"/>
              </a:ext>
            </a:extLst>
          </p:cNvPr>
          <p:cNvSpPr>
            <a:spLocks xmlns:a="http://schemas.openxmlformats.org/drawingml/2006/main" noGrp="1"/>
          </p:cNvSpPr>
          <p:nvPr/>
        </p:nvSpPr>
        <p:spPr>
          <a:xfrm xmlns:a="http://schemas.openxmlformats.org/drawingml/2006/main">
            <a:off x="9948672" y="1664208"/>
            <a:ext cx="402336" cy="40233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4" name="Image 4"/>
          <p:cNvPicPr>
            <a:picLocks xmlns:a="http://schemas.openxmlformats.org/drawingml/2006/main" noChangeAspect="1"/>
          </p:cNvPicPr>
          <p:nvPr/>
        </p:nvPicPr>
        <p:blipFill>
          <a:blip xmlns:r="http://schemas.openxmlformats.org/officeDocument/2006/relationships" xmlns:a="http://schemas.openxmlformats.org/drawingml/2006/main" r:embed="Ra7d24c9a6c3e4b4f"/>
          <a:stretch xmlns:a="http://schemas.openxmlformats.org/drawingml/2006/main">
            <a:fillRect l="0" t="0" r="0" b="0"/>
          </a:stretch>
        </p:blipFill>
        <p:spPr>
          <a:xfrm xmlns:a="http://schemas.openxmlformats.org/drawingml/2006/main">
            <a:off x="10045233" y="1760769"/>
            <a:ext cx="209215" cy="209215"/>
          </a:xfrm>
          <a:prstGeom xmlns:a="http://schemas.openxmlformats.org/drawingml/2006/main" prst="rect">
            <a:avLst/>
          </a:prstGeom>
        </p:spPr>
      </p:pic>
      <p:sp>
        <p:nvSpPr>
          <p:cNvPr id="27" name="Text 20">
            <a:extLst xmlns:a="http://schemas.openxmlformats.org/drawingml/2006/main">
              <a:ext uri="{FF2B5EF4-FFF2-40B4-BE49-F238E27FC236}">
                <a16:creationId xmlns:a16="http://schemas.microsoft.com/office/drawing/2014/main" id="{28B405AE-D94C-4E67-B552-5CDEA7CB999E}"/>
              </a:ext>
            </a:extLst>
          </p:cNvPr>
          <p:cNvSpPr>
            <a:spLocks xmlns:a="http://schemas.openxmlformats.org/drawingml/2006/main" noGrp="1"/>
          </p:cNvSpPr>
          <p:nvPr/>
        </p:nvSpPr>
        <p:spPr>
          <a:xfrm xmlns:a="http://schemas.openxmlformats.org/drawingml/2006/main">
            <a:off x="9912096" y="2048256"/>
            <a:ext cx="18470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3 months</a:t>
            </a:r>
            <a:endParaRPr sz="1500"/>
          </a:p>
        </p:txBody>
      </p:sp>
      <p:sp>
        <p:nvSpPr>
          <p:cNvPr id="28" name="Text 21">
            <a:extLst xmlns:a="http://schemas.openxmlformats.org/drawingml/2006/main">
              <a:ext uri="{FF2B5EF4-FFF2-40B4-BE49-F238E27FC236}">
                <a16:creationId xmlns:a16="http://schemas.microsoft.com/office/drawing/2014/main" id="{000D5AA4-4B4E-4445-BF8E-E58E70F0CAE5}"/>
              </a:ext>
            </a:extLst>
          </p:cNvPr>
          <p:cNvSpPr>
            <a:spLocks xmlns:a="http://schemas.openxmlformats.org/drawingml/2006/main" noGrp="1"/>
          </p:cNvSpPr>
          <p:nvPr/>
        </p:nvSpPr>
        <p:spPr>
          <a:xfrm xmlns:a="http://schemas.openxmlformats.org/drawingml/2006/main">
            <a:off x="9912096" y="2304288"/>
            <a:ext cx="1847088"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595959"/>
                </a:solidFill>
                <a:latin typeface="Calibri"/>
                <a:ea typeface="Calibri"/>
                <a:cs typeface="Calibri"/>
              </a:rPr>
              <a:t>Hyper-care (T&amp;C)</a:t>
            </a:r>
            <a:endParaRPr sz="950"/>
          </a:p>
        </p:txBody>
      </p:sp>
      <p:sp>
        <p:nvSpPr>
          <p:cNvPr id="29" name="Shape 22">
            <a:extLst xmlns:a="http://schemas.openxmlformats.org/drawingml/2006/main">
              <a:ext uri="{FF2B5EF4-FFF2-40B4-BE49-F238E27FC236}">
                <a16:creationId xmlns:a16="http://schemas.microsoft.com/office/drawing/2014/main" id="{834F1CC0-D06F-4A51-A9B2-03430B9BFA8F}"/>
              </a:ext>
            </a:extLst>
          </p:cNvPr>
          <p:cNvSpPr>
            <a:spLocks xmlns:a="http://schemas.openxmlformats.org/drawingml/2006/main" noGrp="1"/>
          </p:cNvSpPr>
          <p:nvPr/>
        </p:nvSpPr>
        <p:spPr>
          <a:xfrm xmlns:a="http://schemas.openxmlformats.org/drawingml/2006/main">
            <a:off x="548640" y="2798064"/>
            <a:ext cx="5391760" cy="3200400"/>
          </a:xfrm>
          <a:prstGeom xmlns:a="http://schemas.openxmlformats.org/drawingml/2006/main" prst="roundRect">
            <a:avLst>
              <a:gd name="adj" fmla="val 3143"/>
            </a:avLst>
          </a:prstGeom>
          <a:solidFill xmlns:a="http://schemas.openxmlformats.org/drawingml/2006/main">
            <a:srgbClr val="FFFFFF"/>
          </a:solidFill>
          <a:ln xmlns:a="http://schemas.openxmlformats.org/drawingml/2006/main" w="12700">
            <a:solidFill>
              <a:srgbClr val="D6EEDD"/>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0" name="Shape 23">
            <a:extLst xmlns:a="http://schemas.openxmlformats.org/drawingml/2006/main">
              <a:ext uri="{FF2B5EF4-FFF2-40B4-BE49-F238E27FC236}">
                <a16:creationId xmlns:a16="http://schemas.microsoft.com/office/drawing/2014/main" id="{BA427645-F845-48D2-8D31-345F71DD9F43}"/>
              </a:ext>
            </a:extLst>
          </p:cNvPr>
          <p:cNvSpPr>
            <a:spLocks xmlns:a="http://schemas.openxmlformats.org/drawingml/2006/main" noGrp="1"/>
          </p:cNvSpPr>
          <p:nvPr/>
        </p:nvSpPr>
        <p:spPr>
          <a:xfrm xmlns:a="http://schemas.openxmlformats.org/drawingml/2006/main">
            <a:off x="548640" y="2798064"/>
            <a:ext cx="5391760" cy="566928"/>
          </a:xfrm>
          <a:prstGeom xmlns:a="http://schemas.openxmlformats.org/drawingml/2006/main" prst="roundRect">
            <a:avLst>
              <a:gd name="adj" fmla="val 16129"/>
            </a:avLst>
          </a:prstGeom>
          <a:solidFill xmlns:a="http://schemas.openxmlformats.org/drawingml/2006/main">
            <a:srgbClr val="1AC567"/>
          </a:solidFill>
        </p:spPr>
      </p:sp>
      <p:sp>
        <p:nvSpPr>
          <p:cNvPr id="31" name="Shape 24">
            <a:extLst xmlns:a="http://schemas.openxmlformats.org/drawingml/2006/main">
              <a:ext uri="{FF2B5EF4-FFF2-40B4-BE49-F238E27FC236}">
                <a16:creationId xmlns:a16="http://schemas.microsoft.com/office/drawing/2014/main" id="{7F24D5B2-9CB3-4CAF-AA26-75DA99574AF9}"/>
              </a:ext>
            </a:extLst>
          </p:cNvPr>
          <p:cNvSpPr>
            <a:spLocks xmlns:a="http://schemas.openxmlformats.org/drawingml/2006/main" noGrp="1"/>
          </p:cNvSpPr>
          <p:nvPr/>
        </p:nvSpPr>
        <p:spPr>
          <a:xfrm xmlns:a="http://schemas.openxmlformats.org/drawingml/2006/main">
            <a:off x="548640" y="3081528"/>
            <a:ext cx="5391760" cy="283464"/>
          </a:xfrm>
          <a:prstGeom xmlns:a="http://schemas.openxmlformats.org/drawingml/2006/main" prst="rect">
            <a:avLst/>
          </a:prstGeom>
          <a:solidFill xmlns:a="http://schemas.openxmlformats.org/drawingml/2006/main">
            <a:srgbClr val="1AC567"/>
          </a:solidFill>
        </p:spPr>
      </p:sp>
      <p:pic>
        <p:nvPicPr>
          <p:cNvPr id="80" name="Image 5"/>
          <p:cNvPicPr>
            <a:picLocks xmlns:a="http://schemas.openxmlformats.org/drawingml/2006/main" noChangeAspect="1"/>
          </p:cNvPicPr>
          <p:nvPr/>
        </p:nvPicPr>
        <p:blipFill>
          <a:blip xmlns:r="http://schemas.openxmlformats.org/officeDocument/2006/relationships" xmlns:a="http://schemas.openxmlformats.org/drawingml/2006/main" r:embed="R3f32f14babc245b8"/>
          <a:stretch xmlns:a="http://schemas.openxmlformats.org/drawingml/2006/main">
            <a:fillRect l="0" t="0" r="0" b="0"/>
          </a:stretch>
        </p:blipFill>
        <p:spPr>
          <a:xfrm xmlns:a="http://schemas.openxmlformats.org/drawingml/2006/main">
            <a:off x="768096" y="2935224"/>
            <a:ext cx="310896" cy="310896"/>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A0BDBCF2-668C-4AB5-B65D-B97D748A5E0C}"/>
              </a:ext>
            </a:extLst>
          </p:cNvPr>
          <p:cNvSpPr>
            <a:spLocks xmlns:a="http://schemas.openxmlformats.org/drawingml/2006/main" noGrp="1"/>
          </p:cNvSpPr>
          <p:nvPr/>
        </p:nvSpPr>
        <p:spPr>
          <a:xfrm xmlns:a="http://schemas.openxmlformats.org/drawingml/2006/main">
            <a:off x="1207008" y="2798064"/>
            <a:ext cx="4568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Poppins"/>
                <a:ea typeface="Poppins"/>
                <a:cs typeface="Poppins"/>
              </a:rPr>
              <a:t>Why it is attractive</a:t>
            </a:r>
            <a:endParaRPr sz="1600"/>
          </a:p>
        </p:txBody>
      </p:sp>
      <p:sp>
        <p:nvSpPr>
          <p:cNvPr id="34" name="Text 26">
            <a:extLst xmlns:a="http://schemas.openxmlformats.org/drawingml/2006/main">
              <a:ext uri="{FF2B5EF4-FFF2-40B4-BE49-F238E27FC236}">
                <a16:creationId xmlns:a16="http://schemas.microsoft.com/office/drawing/2014/main" id="{E17FC5AE-A34C-4B39-9AB5-4E40E83D518D}"/>
              </a:ext>
            </a:extLst>
          </p:cNvPr>
          <p:cNvSpPr>
            <a:spLocks xmlns:a="http://schemas.openxmlformats.org/drawingml/2006/main" noGrp="1"/>
          </p:cNvSpPr>
          <p:nvPr/>
        </p:nvSpPr>
        <p:spPr>
          <a:xfrm xmlns:a="http://schemas.openxmlformats.org/drawingml/2006/main">
            <a:off x="804672" y="3511296"/>
            <a:ext cx="4879696" cy="2331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spcAft>
                <a:spcPts val="800"/>
              </a:spcAft>
              <a:buSzPct val="100000"/>
              <a:buChar char="•"/>
            </a:pPr>
            <a:r>
              <a:rPr sz="1150">
                <a:solidFill>
                  <a:srgbClr val="2A231F"/>
                </a:solidFill>
                <a:latin typeface="Calibri"/>
                <a:ea typeface="Calibri"/>
                <a:cs typeface="Calibri"/>
              </a:rPr>
              <a:t>Strategic Vymo displacement in a marquee insurer — anchors the CRMNEXT / BUSINESSNEXT platform inside the mSpace Super App.</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Squarely in our sweet spot: config-driven, no-code Lead &amp; Activity Management for BFSI distribution.</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Large, expandable footprint — 22–25K on-roll + ~100K off-role users, 10+ channels, ₹375 Cr business value at stake.</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Fixed implementation scope with milestone invoicing; licence monetised separately via the transformation proposal.</a:t>
            </a:r>
            <a:endParaRPr sz="1150"/>
          </a:p>
        </p:txBody>
      </p:sp>
      <p:sp>
        <p:nvSpPr>
          <p:cNvPr id="35" name="Shape 27">
            <a:extLst xmlns:a="http://schemas.openxmlformats.org/drawingml/2006/main">
              <a:ext uri="{FF2B5EF4-FFF2-40B4-BE49-F238E27FC236}">
                <a16:creationId xmlns:a16="http://schemas.microsoft.com/office/drawing/2014/main" id="{D11898D9-44D2-47D4-BF7B-126330D26A00}"/>
              </a:ext>
            </a:extLst>
          </p:cNvPr>
          <p:cNvSpPr>
            <a:spLocks xmlns:a="http://schemas.openxmlformats.org/drawingml/2006/main" noGrp="1"/>
          </p:cNvSpPr>
          <p:nvPr/>
        </p:nvSpPr>
        <p:spPr>
          <a:xfrm xmlns:a="http://schemas.openxmlformats.org/drawingml/2006/main">
            <a:off x="6251296" y="2798064"/>
            <a:ext cx="5391760" cy="3200400"/>
          </a:xfrm>
          <a:prstGeom xmlns:a="http://schemas.openxmlformats.org/drawingml/2006/main" prst="roundRect">
            <a:avLst>
              <a:gd name="adj" fmla="val 3143"/>
            </a:avLst>
          </a:prstGeom>
          <a:solidFill xmlns:a="http://schemas.openxmlformats.org/drawingml/2006/main">
            <a:srgbClr val="FFFFFF"/>
          </a:solidFill>
          <a:ln xmlns:a="http://schemas.openxmlformats.org/drawingml/2006/main" w="12700">
            <a:solidFill>
              <a:srgbClr val="F6E2C0"/>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6" name="Shape 28">
            <a:extLst xmlns:a="http://schemas.openxmlformats.org/drawingml/2006/main">
              <a:ext uri="{FF2B5EF4-FFF2-40B4-BE49-F238E27FC236}">
                <a16:creationId xmlns:a16="http://schemas.microsoft.com/office/drawing/2014/main" id="{CCF4EF23-F4EC-4537-92D7-437E16553804}"/>
              </a:ext>
            </a:extLst>
          </p:cNvPr>
          <p:cNvSpPr>
            <a:spLocks xmlns:a="http://schemas.openxmlformats.org/drawingml/2006/main" noGrp="1"/>
          </p:cNvSpPr>
          <p:nvPr/>
        </p:nvSpPr>
        <p:spPr>
          <a:xfrm xmlns:a="http://schemas.openxmlformats.org/drawingml/2006/main">
            <a:off x="6251296" y="2798064"/>
            <a:ext cx="5391760" cy="566928"/>
          </a:xfrm>
          <a:prstGeom xmlns:a="http://schemas.openxmlformats.org/drawingml/2006/main" prst="roundRect">
            <a:avLst>
              <a:gd name="adj" fmla="val 16129"/>
            </a:avLst>
          </a:prstGeom>
          <a:solidFill xmlns:a="http://schemas.openxmlformats.org/drawingml/2006/main">
            <a:srgbClr val="FFA700"/>
          </a:solidFill>
        </p:spPr>
      </p:sp>
      <p:sp>
        <p:nvSpPr>
          <p:cNvPr id="37" name="Shape 29">
            <a:extLst xmlns:a="http://schemas.openxmlformats.org/drawingml/2006/main">
              <a:ext uri="{FF2B5EF4-FFF2-40B4-BE49-F238E27FC236}">
                <a16:creationId xmlns:a16="http://schemas.microsoft.com/office/drawing/2014/main" id="{7633F6E0-F9EB-4916-A207-FFF1CFF0C7BD}"/>
              </a:ext>
            </a:extLst>
          </p:cNvPr>
          <p:cNvSpPr>
            <a:spLocks xmlns:a="http://schemas.openxmlformats.org/drawingml/2006/main" noGrp="1"/>
          </p:cNvSpPr>
          <p:nvPr/>
        </p:nvSpPr>
        <p:spPr>
          <a:xfrm xmlns:a="http://schemas.openxmlformats.org/drawingml/2006/main">
            <a:off x="6251296" y="3081528"/>
            <a:ext cx="5391760" cy="283464"/>
          </a:xfrm>
          <a:prstGeom xmlns:a="http://schemas.openxmlformats.org/drawingml/2006/main" prst="rect">
            <a:avLst/>
          </a:prstGeom>
          <a:solidFill xmlns:a="http://schemas.openxmlformats.org/drawingml/2006/main">
            <a:srgbClr val="FFA700"/>
          </a:solidFill>
        </p:spPr>
      </p:sp>
      <p:pic>
        <p:nvPicPr>
          <p:cNvPr id="86" name="Image 6"/>
          <p:cNvPicPr>
            <a:picLocks xmlns:a="http://schemas.openxmlformats.org/drawingml/2006/main" noChangeAspect="1"/>
          </p:cNvPicPr>
          <p:nvPr/>
        </p:nvPicPr>
        <p:blipFill>
          <a:blip xmlns:r="http://schemas.openxmlformats.org/officeDocument/2006/relationships" xmlns:a="http://schemas.openxmlformats.org/drawingml/2006/main" r:embed="R1ed7a49065344a55"/>
          <a:stretch xmlns:a="http://schemas.openxmlformats.org/drawingml/2006/main">
            <a:fillRect l="0" t="0" r="0" b="0"/>
          </a:stretch>
        </p:blipFill>
        <p:spPr>
          <a:xfrm xmlns:a="http://schemas.openxmlformats.org/drawingml/2006/main">
            <a:off x="6470752" y="2935224"/>
            <a:ext cx="310896" cy="310896"/>
          </a:xfrm>
          <a:prstGeom xmlns:a="http://schemas.openxmlformats.org/drawingml/2006/main" prst="rect">
            <a:avLst/>
          </a:prstGeom>
        </p:spPr>
      </p:pic>
      <p:sp>
        <p:nvSpPr>
          <p:cNvPr id="39" name="Text 30">
            <a:extLst xmlns:a="http://schemas.openxmlformats.org/drawingml/2006/main">
              <a:ext uri="{FF2B5EF4-FFF2-40B4-BE49-F238E27FC236}">
                <a16:creationId xmlns:a16="http://schemas.microsoft.com/office/drawing/2014/main" id="{A28B2244-9D87-4F6F-8937-0DB97D91B603}"/>
              </a:ext>
            </a:extLst>
          </p:cNvPr>
          <p:cNvSpPr>
            <a:spLocks xmlns:a="http://schemas.openxmlformats.org/drawingml/2006/main" noGrp="1"/>
          </p:cNvSpPr>
          <p:nvPr/>
        </p:nvSpPr>
        <p:spPr>
          <a:xfrm xmlns:a="http://schemas.openxmlformats.org/drawingml/2006/main">
            <a:off x="6909664" y="2798064"/>
            <a:ext cx="456880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FFFFFF"/>
                </a:solidFill>
                <a:latin typeface="Poppins"/>
                <a:ea typeface="Poppins"/>
                <a:cs typeface="Poppins"/>
              </a:rPr>
              <a:t>What leadership must decide</a:t>
            </a:r>
            <a:endParaRPr sz="1600"/>
          </a:p>
        </p:txBody>
      </p:sp>
      <p:sp>
        <p:nvSpPr>
          <p:cNvPr id="40" name="Text 31">
            <a:extLst xmlns:a="http://schemas.openxmlformats.org/drawingml/2006/main">
              <a:ext uri="{FF2B5EF4-FFF2-40B4-BE49-F238E27FC236}">
                <a16:creationId xmlns:a16="http://schemas.microsoft.com/office/drawing/2014/main" id="{107545C4-61F7-4F49-9265-6B0AC5B26198}"/>
              </a:ext>
            </a:extLst>
          </p:cNvPr>
          <p:cNvSpPr>
            <a:spLocks xmlns:a="http://schemas.openxmlformats.org/drawingml/2006/main" noGrp="1"/>
          </p:cNvSpPr>
          <p:nvPr/>
        </p:nvSpPr>
        <p:spPr>
          <a:xfrm xmlns:a="http://schemas.openxmlformats.org/drawingml/2006/main">
            <a:off x="6507328" y="3511296"/>
            <a:ext cx="4879696" cy="2331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spcAft>
                <a:spcPts val="800"/>
              </a:spcAft>
              <a:buSzPct val="100000"/>
              <a:buChar char="•"/>
            </a:pPr>
            <a:r>
              <a:rPr sz="1150">
                <a:solidFill>
                  <a:srgbClr val="2A231F"/>
                </a:solidFill>
                <a:latin typeface="Calibri"/>
                <a:ea typeface="Calibri"/>
                <a:cs typeface="Calibri"/>
              </a:rPr>
              <a:t>IP &amp; source-code ownership — AMLI demands full ownership; our standing position is IP stays with ASPL. Gating item.</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"In-house build" vs product-configure — SOW asks for a bespoke in-house build; we respond with CRMNEXT product + AI models.</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Commercial guardrails we currently reject — penalties (5%/wk), step-in, termination-for-cause refund, transfer assistance.</a:t>
            </a:r>
            <a:endParaRPr sz="1150"/>
          </a:p>
          <a:p xmlns:a="http://schemas.openxmlformats.org/drawingml/2006/main">
            <a:pPr marL="177800" indent="-177800">
              <a:spcAft>
                <a:spcPts val="800"/>
              </a:spcAft>
              <a:buSzPct val="100000"/>
              <a:buChar char="•"/>
            </a:pPr>
            <a:r>
              <a:rPr sz="1150">
                <a:solidFill>
                  <a:srgbClr val="2A231F"/>
                </a:solidFill>
                <a:latin typeface="Calibri"/>
                <a:ea typeface="Calibri"/>
                <a:cs typeface="Calibri"/>
              </a:rPr>
              <a:t>Licence + infra excluded here — must be landed in the BUSINESSNEXT transformation proposal to avoid a scope/price gap.</a:t>
            </a:r>
            <a:endParaRPr sz="1150"/>
          </a:p>
        </p:txBody>
      </p:sp>
      <p:sp>
        <p:nvSpPr>
          <p:cNvPr id="41" name="Text 32">
            <a:extLst xmlns:a="http://schemas.openxmlformats.org/drawingml/2006/main">
              <a:ext uri="{FF2B5EF4-FFF2-40B4-BE49-F238E27FC236}">
                <a16:creationId xmlns:a16="http://schemas.microsoft.com/office/drawing/2014/main" id="{A67B5FB6-0A5A-4E54-B59B-3A16A6D9679E}"/>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42" name="Text 33">
            <a:extLst xmlns:a="http://schemas.openxmlformats.org/drawingml/2006/main">
              <a:ext uri="{FF2B5EF4-FFF2-40B4-BE49-F238E27FC236}">
                <a16:creationId xmlns:a16="http://schemas.microsoft.com/office/drawing/2014/main" id="{FDDC3CFE-DD06-4AEF-9D61-6E27C2FEC280}"/>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01</a:t>
            </a:r>
            <a:endParaRPr sz="900"/>
          </a:p>
        </p:txBody>
      </p:sp>
    </p:spTree>
    <p:extLst>
      <p:ext uri="{BB962C8B-B14F-4D97-AF65-F5344CB8AC3E}">
        <p14:creationId xmlns:p14="http://schemas.microsoft.com/office/powerpoint/2010/main" val="141116192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8995B8-EB90-481F-B096-9F4D05D944A0}"/>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THE ASK</a:t>
            </a:r>
            <a:endParaRPr sz="1200"/>
          </a:p>
        </p:txBody>
      </p:sp>
      <p:sp>
        <p:nvSpPr>
          <p:cNvPr id="3" name="Text 1">
            <a:extLst xmlns:a="http://schemas.openxmlformats.org/drawingml/2006/main">
              <a:ext uri="{FF2B5EF4-FFF2-40B4-BE49-F238E27FC236}">
                <a16:creationId xmlns:a16="http://schemas.microsoft.com/office/drawing/2014/main" id="{5F99310D-172D-489F-819C-08281053B660}"/>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What Axis Max Life is asking for</a:t>
            </a:r>
            <a:endParaRPr sz="3000"/>
          </a:p>
        </p:txBody>
      </p:sp>
      <p:sp>
        <p:nvSpPr>
          <p:cNvPr id="4" name="Text 2">
            <a:extLst xmlns:a="http://schemas.openxmlformats.org/drawingml/2006/main">
              <a:ext uri="{FF2B5EF4-FFF2-40B4-BE49-F238E27FC236}">
                <a16:creationId xmlns:a16="http://schemas.microsoft.com/office/drawing/2014/main" id="{9A53EACF-EBA4-49E0-A70F-55079A085B62}"/>
              </a:ext>
            </a:extLst>
          </p:cNvPr>
          <p:cNvSpPr>
            <a:spLocks xmlns:a="http://schemas.openxmlformats.org/drawingml/2006/main" noGrp="1"/>
          </p:cNvSpPr>
          <p:nvPr/>
        </p:nvSpPr>
        <p:spPr>
          <a:xfrm xmlns:a="http://schemas.openxmlformats.org/drawingml/2006/main">
            <a:off x="548640" y="1371600"/>
            <a:ext cx="11094415" cy="56692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50" i="1">
                <a:solidFill>
                  <a:srgbClr val="595959"/>
                </a:solidFill>
                <a:latin typeface="Calibri"/>
                <a:ea typeface="Calibri"/>
                <a:cs typeface="Calibri"/>
              </a:rPr>
              <a:t>Design, build, integrate, test and deploy an in-house Sales Governance, Activity Management (AMS) and Lead Management (LMS) capability inside the MLI Super App — replacing the existing SaaS solution.</a:t>
            </a:r>
            <a:endParaRPr sz="1350"/>
          </a:p>
        </p:txBody>
      </p:sp>
      <p:sp>
        <p:nvSpPr>
          <p:cNvPr id="5" name="Shape 3">
            <a:extLst xmlns:a="http://schemas.openxmlformats.org/drawingml/2006/main">
              <a:ext uri="{FF2B5EF4-FFF2-40B4-BE49-F238E27FC236}">
                <a16:creationId xmlns:a16="http://schemas.microsoft.com/office/drawing/2014/main" id="{D33CAB9E-7DC0-477A-8AA0-34DEF174DE10}"/>
              </a:ext>
            </a:extLst>
          </p:cNvPr>
          <p:cNvSpPr>
            <a:spLocks xmlns:a="http://schemas.openxmlformats.org/drawingml/2006/main" noGrp="1"/>
          </p:cNvSpPr>
          <p:nvPr/>
        </p:nvSpPr>
        <p:spPr>
          <a:xfrm xmlns:a="http://schemas.openxmlformats.org/drawingml/2006/main">
            <a:off x="548640" y="2139696"/>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6" name="Shape 4">
            <a:extLst xmlns:a="http://schemas.openxmlformats.org/drawingml/2006/main">
              <a:ext uri="{FF2B5EF4-FFF2-40B4-BE49-F238E27FC236}">
                <a16:creationId xmlns:a16="http://schemas.microsoft.com/office/drawing/2014/main" id="{5B1A25D9-A2D0-4B8D-85B5-9B6696DE78F0}"/>
              </a:ext>
            </a:extLst>
          </p:cNvPr>
          <p:cNvSpPr>
            <a:spLocks xmlns:a="http://schemas.openxmlformats.org/drawingml/2006/main" noGrp="1"/>
          </p:cNvSpPr>
          <p:nvPr/>
        </p:nvSpPr>
        <p:spPr>
          <a:xfrm xmlns:a="http://schemas.openxmlformats.org/drawingml/2006/main">
            <a:off x="786384" y="2377440"/>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a9d7bddc67944668"/>
          <a:stretch xmlns:a="http://schemas.openxmlformats.org/drawingml/2006/main">
            <a:fillRect l="0" t="0" r="0" b="0"/>
          </a:stretch>
        </p:blipFill>
        <p:spPr>
          <a:xfrm xmlns:a="http://schemas.openxmlformats.org/drawingml/2006/main">
            <a:off x="918058" y="2509114"/>
            <a:ext cx="285293" cy="285293"/>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6A6332FC-1A7A-4D74-9C7D-404079B6CF7F}"/>
              </a:ext>
            </a:extLst>
          </p:cNvPr>
          <p:cNvSpPr>
            <a:spLocks xmlns:a="http://schemas.openxmlformats.org/drawingml/2006/main" noGrp="1"/>
          </p:cNvSpPr>
          <p:nvPr/>
        </p:nvSpPr>
        <p:spPr>
          <a:xfrm xmlns:a="http://schemas.openxmlformats.org/drawingml/2006/main">
            <a:off x="1481328" y="2395728"/>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Activity Management</a:t>
            </a:r>
            <a:endParaRPr sz="1500"/>
          </a:p>
        </p:txBody>
      </p:sp>
      <p:sp>
        <p:nvSpPr>
          <p:cNvPr id="9" name="Text 6">
            <a:extLst xmlns:a="http://schemas.openxmlformats.org/drawingml/2006/main">
              <a:ext uri="{FF2B5EF4-FFF2-40B4-BE49-F238E27FC236}">
                <a16:creationId xmlns:a16="http://schemas.microsoft.com/office/drawing/2014/main" id="{6A762047-F31D-4DE6-B790-9C9733AD1FDB}"/>
              </a:ext>
            </a:extLst>
          </p:cNvPr>
          <p:cNvSpPr>
            <a:spLocks xmlns:a="http://schemas.openxmlformats.org/drawingml/2006/main" noGrp="1"/>
          </p:cNvSpPr>
          <p:nvPr/>
        </p:nvSpPr>
        <p:spPr>
          <a:xfrm xmlns:a="http://schemas.openxmlformats.org/drawingml/2006/main">
            <a:off x="804672" y="3054096"/>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Configurable activity catalog, templates, SLAs, geo-controls, offline capture and AI next-action nudges for all on-roll &amp; off-role sellers.</a:t>
            </a:r>
            <a:endParaRPr sz="1100"/>
          </a:p>
        </p:txBody>
      </p:sp>
      <p:sp>
        <p:nvSpPr>
          <p:cNvPr id="10" name="Shape 7">
            <a:extLst xmlns:a="http://schemas.openxmlformats.org/drawingml/2006/main">
              <a:ext uri="{FF2B5EF4-FFF2-40B4-BE49-F238E27FC236}">
                <a16:creationId xmlns:a16="http://schemas.microsoft.com/office/drawing/2014/main" id="{EB592DC4-2F42-4B7A-9603-519289B4907F}"/>
              </a:ext>
            </a:extLst>
          </p:cNvPr>
          <p:cNvSpPr>
            <a:spLocks xmlns:a="http://schemas.openxmlformats.org/drawingml/2006/main" noGrp="1"/>
          </p:cNvSpPr>
          <p:nvPr/>
        </p:nvSpPr>
        <p:spPr>
          <a:xfrm xmlns:a="http://schemas.openxmlformats.org/drawingml/2006/main">
            <a:off x="4338218" y="2139696"/>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1" name="Shape 8">
            <a:extLst xmlns:a="http://schemas.openxmlformats.org/drawingml/2006/main">
              <a:ext uri="{FF2B5EF4-FFF2-40B4-BE49-F238E27FC236}">
                <a16:creationId xmlns:a16="http://schemas.microsoft.com/office/drawing/2014/main" id="{7D94FB16-1D38-41E7-B77F-6FBE17E6857A}"/>
              </a:ext>
            </a:extLst>
          </p:cNvPr>
          <p:cNvSpPr>
            <a:spLocks xmlns:a="http://schemas.openxmlformats.org/drawingml/2006/main" noGrp="1"/>
          </p:cNvSpPr>
          <p:nvPr/>
        </p:nvSpPr>
        <p:spPr>
          <a:xfrm xmlns:a="http://schemas.openxmlformats.org/drawingml/2006/main">
            <a:off x="4575962" y="2377440"/>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ad0299e9897f4505"/>
          <a:stretch xmlns:a="http://schemas.openxmlformats.org/drawingml/2006/main">
            <a:fillRect l="0" t="0" r="0" b="0"/>
          </a:stretch>
        </p:blipFill>
        <p:spPr>
          <a:xfrm xmlns:a="http://schemas.openxmlformats.org/drawingml/2006/main">
            <a:off x="4707636" y="2509114"/>
            <a:ext cx="285293" cy="285293"/>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C6CB1C1A-2253-4688-AD28-66C64B4BD323}"/>
              </a:ext>
            </a:extLst>
          </p:cNvPr>
          <p:cNvSpPr>
            <a:spLocks xmlns:a="http://schemas.openxmlformats.org/drawingml/2006/main" noGrp="1"/>
          </p:cNvSpPr>
          <p:nvPr/>
        </p:nvSpPr>
        <p:spPr>
          <a:xfrm xmlns:a="http://schemas.openxmlformats.org/drawingml/2006/main">
            <a:off x="5270906" y="2395728"/>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Lead Management</a:t>
            </a:r>
            <a:endParaRPr sz="1500"/>
          </a:p>
        </p:txBody>
      </p:sp>
      <p:sp>
        <p:nvSpPr>
          <p:cNvPr id="14" name="Text 10">
            <a:extLst xmlns:a="http://schemas.openxmlformats.org/drawingml/2006/main">
              <a:ext uri="{FF2B5EF4-FFF2-40B4-BE49-F238E27FC236}">
                <a16:creationId xmlns:a16="http://schemas.microsoft.com/office/drawing/2014/main" id="{5EC9AA1B-4C1F-4020-922B-42B83D1988FE}"/>
              </a:ext>
            </a:extLst>
          </p:cNvPr>
          <p:cNvSpPr>
            <a:spLocks xmlns:a="http://schemas.openxmlformats.org/drawingml/2006/main" noGrp="1"/>
          </p:cNvSpPr>
          <p:nvPr/>
        </p:nvSpPr>
        <p:spPr>
          <a:xfrm xmlns:a="http://schemas.openxmlformats.org/drawingml/2006/main">
            <a:off x="4594250" y="3054096"/>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Ingestion, dedupe, allocation, lifecycle &amp; recycling with dispositions, consent and channel-wise journeys across 10+ channels.</a:t>
            </a:r>
            <a:endParaRPr sz="1100"/>
          </a:p>
        </p:txBody>
      </p:sp>
      <p:sp>
        <p:nvSpPr>
          <p:cNvPr id="15" name="Shape 11">
            <a:extLst xmlns:a="http://schemas.openxmlformats.org/drawingml/2006/main">
              <a:ext uri="{FF2B5EF4-FFF2-40B4-BE49-F238E27FC236}">
                <a16:creationId xmlns:a16="http://schemas.microsoft.com/office/drawing/2014/main" id="{50DD7ADA-C583-4494-AC8C-BC762E456424}"/>
              </a:ext>
            </a:extLst>
          </p:cNvPr>
          <p:cNvSpPr>
            <a:spLocks xmlns:a="http://schemas.openxmlformats.org/drawingml/2006/main" noGrp="1"/>
          </p:cNvSpPr>
          <p:nvPr/>
        </p:nvSpPr>
        <p:spPr>
          <a:xfrm xmlns:a="http://schemas.openxmlformats.org/drawingml/2006/main">
            <a:off x="8127797" y="2139696"/>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6" name="Shape 12">
            <a:extLst xmlns:a="http://schemas.openxmlformats.org/drawingml/2006/main">
              <a:ext uri="{FF2B5EF4-FFF2-40B4-BE49-F238E27FC236}">
                <a16:creationId xmlns:a16="http://schemas.microsoft.com/office/drawing/2014/main" id="{19630114-C5FE-478A-92F4-5D9A9B66FA97}"/>
              </a:ext>
            </a:extLst>
          </p:cNvPr>
          <p:cNvSpPr>
            <a:spLocks xmlns:a="http://schemas.openxmlformats.org/drawingml/2006/main" noGrp="1"/>
          </p:cNvSpPr>
          <p:nvPr/>
        </p:nvSpPr>
        <p:spPr>
          <a:xfrm xmlns:a="http://schemas.openxmlformats.org/drawingml/2006/main">
            <a:off x="8365541" y="2377440"/>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8" name="Image 2"/>
          <p:cNvPicPr>
            <a:picLocks xmlns:a="http://schemas.openxmlformats.org/drawingml/2006/main" noChangeAspect="1"/>
          </p:cNvPicPr>
          <p:nvPr/>
        </p:nvPicPr>
        <p:blipFill>
          <a:blip xmlns:r="http://schemas.openxmlformats.org/officeDocument/2006/relationships" xmlns:a="http://schemas.openxmlformats.org/drawingml/2006/main" r:embed="R7f4d3841f1b641a5"/>
          <a:stretch xmlns:a="http://schemas.openxmlformats.org/drawingml/2006/main">
            <a:fillRect l="0" t="0" r="0" b="0"/>
          </a:stretch>
        </p:blipFill>
        <p:spPr>
          <a:xfrm xmlns:a="http://schemas.openxmlformats.org/drawingml/2006/main">
            <a:off x="8497214" y="2509114"/>
            <a:ext cx="285293" cy="285293"/>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3CC90010-0231-4212-AFFF-8B448B9DD911}"/>
              </a:ext>
            </a:extLst>
          </p:cNvPr>
          <p:cNvSpPr>
            <a:spLocks xmlns:a="http://schemas.openxmlformats.org/drawingml/2006/main" noGrp="1"/>
          </p:cNvSpPr>
          <p:nvPr/>
        </p:nvSpPr>
        <p:spPr>
          <a:xfrm xmlns:a="http://schemas.openxmlformats.org/drawingml/2006/main">
            <a:off x="9060485" y="2395728"/>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Renewal Management</a:t>
            </a:r>
            <a:endParaRPr sz="1500"/>
          </a:p>
        </p:txBody>
      </p:sp>
      <p:sp>
        <p:nvSpPr>
          <p:cNvPr id="19" name="Text 14">
            <a:extLst xmlns:a="http://schemas.openxmlformats.org/drawingml/2006/main">
              <a:ext uri="{FF2B5EF4-FFF2-40B4-BE49-F238E27FC236}">
                <a16:creationId xmlns:a16="http://schemas.microsoft.com/office/drawing/2014/main" id="{98345783-F264-4067-BBAA-37C8C0C6166D}"/>
              </a:ext>
            </a:extLst>
          </p:cNvPr>
          <p:cNvSpPr>
            <a:spLocks xmlns:a="http://schemas.openxmlformats.org/drawingml/2006/main" noGrp="1"/>
          </p:cNvSpPr>
          <p:nvPr/>
        </p:nvSpPr>
        <p:spPr>
          <a:xfrm xmlns:a="http://schemas.openxmlformats.org/drawingml/2006/main">
            <a:off x="8383829" y="3054096"/>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Renewal leads with disposition tracking, free-look and grievance handling, plus admin bulk-upload and re-assignment.</a:t>
            </a:r>
            <a:endParaRPr sz="1100"/>
          </a:p>
        </p:txBody>
      </p:sp>
      <p:sp>
        <p:nvSpPr>
          <p:cNvPr id="20" name="Shape 15">
            <a:extLst xmlns:a="http://schemas.openxmlformats.org/drawingml/2006/main">
              <a:ext uri="{FF2B5EF4-FFF2-40B4-BE49-F238E27FC236}">
                <a16:creationId xmlns:a16="http://schemas.microsoft.com/office/drawing/2014/main" id="{5510B77C-6D32-42B4-97A9-5E4C3FBC4817}"/>
              </a:ext>
            </a:extLst>
          </p:cNvPr>
          <p:cNvSpPr>
            <a:spLocks xmlns:a="http://schemas.openxmlformats.org/drawingml/2006/main" noGrp="1"/>
          </p:cNvSpPr>
          <p:nvPr/>
        </p:nvSpPr>
        <p:spPr>
          <a:xfrm xmlns:a="http://schemas.openxmlformats.org/drawingml/2006/main">
            <a:off x="548640" y="4270248"/>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1" name="Shape 16">
            <a:extLst xmlns:a="http://schemas.openxmlformats.org/drawingml/2006/main">
              <a:ext uri="{FF2B5EF4-FFF2-40B4-BE49-F238E27FC236}">
                <a16:creationId xmlns:a16="http://schemas.microsoft.com/office/drawing/2014/main" id="{5511ECDB-AE1C-4CF0-ADEA-027E0C99A466}"/>
              </a:ext>
            </a:extLst>
          </p:cNvPr>
          <p:cNvSpPr>
            <a:spLocks xmlns:a="http://schemas.openxmlformats.org/drawingml/2006/main" noGrp="1"/>
          </p:cNvSpPr>
          <p:nvPr/>
        </p:nvSpPr>
        <p:spPr>
          <a:xfrm xmlns:a="http://schemas.openxmlformats.org/drawingml/2006/main">
            <a:off x="786384" y="4507992"/>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c30617c349fe49fd"/>
          <a:stretch xmlns:a="http://schemas.openxmlformats.org/drawingml/2006/main">
            <a:fillRect l="0" t="0" r="0" b="0"/>
          </a:stretch>
        </p:blipFill>
        <p:spPr>
          <a:xfrm xmlns:a="http://schemas.openxmlformats.org/drawingml/2006/main">
            <a:off x="918058" y="4639666"/>
            <a:ext cx="285293" cy="285293"/>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A1621492-DF1E-4963-8133-A61D0BB3D99F}"/>
              </a:ext>
            </a:extLst>
          </p:cNvPr>
          <p:cNvSpPr>
            <a:spLocks xmlns:a="http://schemas.openxmlformats.org/drawingml/2006/main" noGrp="1"/>
          </p:cNvSpPr>
          <p:nvPr/>
        </p:nvSpPr>
        <p:spPr>
          <a:xfrm xmlns:a="http://schemas.openxmlformats.org/drawingml/2006/main">
            <a:off x="1481328" y="4526280"/>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Deep Integration</a:t>
            </a:r>
            <a:endParaRPr sz="1500"/>
          </a:p>
        </p:txBody>
      </p:sp>
      <p:sp>
        <p:nvSpPr>
          <p:cNvPr id="24" name="Text 18">
            <a:extLst xmlns:a="http://schemas.openxmlformats.org/drawingml/2006/main">
              <a:ext uri="{FF2B5EF4-FFF2-40B4-BE49-F238E27FC236}">
                <a16:creationId xmlns:a16="http://schemas.microsoft.com/office/drawing/2014/main" id="{BD34EFFA-2243-4FC3-807B-AA28AE207DE7}"/>
              </a:ext>
            </a:extLst>
          </p:cNvPr>
          <p:cNvSpPr>
            <a:spLocks xmlns:a="http://schemas.openxmlformats.org/drawingml/2006/main" noGrp="1"/>
          </p:cNvSpPr>
          <p:nvPr/>
        </p:nvSpPr>
        <p:spPr>
          <a:xfrm xmlns:a="http://schemas.openxmlformats.org/drawingml/2006/main">
            <a:off x="804672" y="5184648"/>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SSO, mSpace common services, CRM/mSales, mSmart, mPro, mQuote, SharpSell, dialer, data lake / BI and MDM.</a:t>
            </a:r>
            <a:endParaRPr sz="1100"/>
          </a:p>
        </p:txBody>
      </p:sp>
      <p:sp>
        <p:nvSpPr>
          <p:cNvPr id="25" name="Shape 19">
            <a:extLst xmlns:a="http://schemas.openxmlformats.org/drawingml/2006/main">
              <a:ext uri="{FF2B5EF4-FFF2-40B4-BE49-F238E27FC236}">
                <a16:creationId xmlns:a16="http://schemas.microsoft.com/office/drawing/2014/main" id="{2FC2426F-DF35-4123-9C4F-35C234BE7BF6}"/>
              </a:ext>
            </a:extLst>
          </p:cNvPr>
          <p:cNvSpPr>
            <a:spLocks xmlns:a="http://schemas.openxmlformats.org/drawingml/2006/main" noGrp="1"/>
          </p:cNvSpPr>
          <p:nvPr/>
        </p:nvSpPr>
        <p:spPr>
          <a:xfrm xmlns:a="http://schemas.openxmlformats.org/drawingml/2006/main">
            <a:off x="4338218" y="4270248"/>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6" name="Shape 20">
            <a:extLst xmlns:a="http://schemas.openxmlformats.org/drawingml/2006/main">
              <a:ext uri="{FF2B5EF4-FFF2-40B4-BE49-F238E27FC236}">
                <a16:creationId xmlns:a16="http://schemas.microsoft.com/office/drawing/2014/main" id="{8AD00A59-6977-4001-A3AA-D1411C7F2512}"/>
              </a:ext>
            </a:extLst>
          </p:cNvPr>
          <p:cNvSpPr>
            <a:spLocks xmlns:a="http://schemas.openxmlformats.org/drawingml/2006/main" noGrp="1"/>
          </p:cNvSpPr>
          <p:nvPr/>
        </p:nvSpPr>
        <p:spPr>
          <a:xfrm xmlns:a="http://schemas.openxmlformats.org/drawingml/2006/main">
            <a:off x="4575962" y="4507992"/>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8" name="Image 4"/>
          <p:cNvPicPr>
            <a:picLocks xmlns:a="http://schemas.openxmlformats.org/drawingml/2006/main" noChangeAspect="1"/>
          </p:cNvPicPr>
          <p:nvPr/>
        </p:nvPicPr>
        <p:blipFill>
          <a:blip xmlns:r="http://schemas.openxmlformats.org/officeDocument/2006/relationships" xmlns:a="http://schemas.openxmlformats.org/drawingml/2006/main" r:embed="R3e7465f28de74c5f"/>
          <a:stretch xmlns:a="http://schemas.openxmlformats.org/drawingml/2006/main">
            <a:fillRect l="0" t="0" r="0" b="0"/>
          </a:stretch>
        </p:blipFill>
        <p:spPr>
          <a:xfrm xmlns:a="http://schemas.openxmlformats.org/drawingml/2006/main">
            <a:off x="4707636" y="4639666"/>
            <a:ext cx="285293" cy="28529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3123EBB0-3926-4607-9D67-9135993BEE2B}"/>
              </a:ext>
            </a:extLst>
          </p:cNvPr>
          <p:cNvSpPr>
            <a:spLocks xmlns:a="http://schemas.openxmlformats.org/drawingml/2006/main" noGrp="1"/>
          </p:cNvSpPr>
          <p:nvPr/>
        </p:nvSpPr>
        <p:spPr>
          <a:xfrm xmlns:a="http://schemas.openxmlformats.org/drawingml/2006/main">
            <a:off x="5270906" y="4526280"/>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No-code Configurability</a:t>
            </a:r>
            <a:endParaRPr sz="1500"/>
          </a:p>
        </p:txBody>
      </p:sp>
      <p:sp>
        <p:nvSpPr>
          <p:cNvPr id="29" name="Text 22">
            <a:extLst xmlns:a="http://schemas.openxmlformats.org/drawingml/2006/main">
              <a:ext uri="{FF2B5EF4-FFF2-40B4-BE49-F238E27FC236}">
                <a16:creationId xmlns:a16="http://schemas.microsoft.com/office/drawing/2014/main" id="{E6341162-04AC-40C7-99F7-7712681940A1}"/>
              </a:ext>
            </a:extLst>
          </p:cNvPr>
          <p:cNvSpPr>
            <a:spLocks xmlns:a="http://schemas.openxmlformats.org/drawingml/2006/main" noGrp="1"/>
          </p:cNvSpPr>
          <p:nvPr/>
        </p:nvSpPr>
        <p:spPr>
          <a:xfrm xmlns:a="http://schemas.openxmlformats.org/drawingml/2006/main">
            <a:off x="4594250" y="5184648"/>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UI-driven admin: near-zero change requests, workflow/field/rule changes in 1–2 days, modular &amp; scalable by design.</a:t>
            </a:r>
            <a:endParaRPr sz="1100"/>
          </a:p>
        </p:txBody>
      </p:sp>
      <p:sp>
        <p:nvSpPr>
          <p:cNvPr id="30" name="Shape 23">
            <a:extLst xmlns:a="http://schemas.openxmlformats.org/drawingml/2006/main">
              <a:ext uri="{FF2B5EF4-FFF2-40B4-BE49-F238E27FC236}">
                <a16:creationId xmlns:a16="http://schemas.microsoft.com/office/drawing/2014/main" id="{67DB92BE-A2AB-46FF-AAAA-A8F6DEC908B8}"/>
              </a:ext>
            </a:extLst>
          </p:cNvPr>
          <p:cNvSpPr>
            <a:spLocks xmlns:a="http://schemas.openxmlformats.org/drawingml/2006/main" noGrp="1"/>
          </p:cNvSpPr>
          <p:nvPr/>
        </p:nvSpPr>
        <p:spPr>
          <a:xfrm xmlns:a="http://schemas.openxmlformats.org/drawingml/2006/main">
            <a:off x="8127797" y="4270248"/>
            <a:ext cx="3515258" cy="1874520"/>
          </a:xfrm>
          <a:prstGeom xmlns:a="http://schemas.openxmlformats.org/drawingml/2006/main" prst="roundRect">
            <a:avLst>
              <a:gd name="adj" fmla="val 5366"/>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1" name="Shape 24">
            <a:extLst xmlns:a="http://schemas.openxmlformats.org/drawingml/2006/main">
              <a:ext uri="{FF2B5EF4-FFF2-40B4-BE49-F238E27FC236}">
                <a16:creationId xmlns:a16="http://schemas.microsoft.com/office/drawing/2014/main" id="{700F0616-8193-4DE3-9695-A271CF62E2F9}"/>
              </a:ext>
            </a:extLst>
          </p:cNvPr>
          <p:cNvSpPr>
            <a:spLocks xmlns:a="http://schemas.openxmlformats.org/drawingml/2006/main" noGrp="1"/>
          </p:cNvSpPr>
          <p:nvPr/>
        </p:nvSpPr>
        <p:spPr>
          <a:xfrm xmlns:a="http://schemas.openxmlformats.org/drawingml/2006/main">
            <a:off x="8365541" y="4507992"/>
            <a:ext cx="548640" cy="54864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3" name="Image 5"/>
          <p:cNvPicPr>
            <a:picLocks xmlns:a="http://schemas.openxmlformats.org/drawingml/2006/main" noChangeAspect="1"/>
          </p:cNvPicPr>
          <p:nvPr/>
        </p:nvPicPr>
        <p:blipFill>
          <a:blip xmlns:r="http://schemas.openxmlformats.org/officeDocument/2006/relationships" xmlns:a="http://schemas.openxmlformats.org/drawingml/2006/main" r:embed="R2be11c7105e54a54"/>
          <a:stretch xmlns:a="http://schemas.openxmlformats.org/drawingml/2006/main">
            <a:fillRect l="0" t="0" r="0" b="0"/>
          </a:stretch>
        </p:blipFill>
        <p:spPr>
          <a:xfrm xmlns:a="http://schemas.openxmlformats.org/drawingml/2006/main">
            <a:off x="8497214" y="4639666"/>
            <a:ext cx="285293" cy="285293"/>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C5D1178C-5E8A-4F98-ADCC-29232D9F22C0}"/>
              </a:ext>
            </a:extLst>
          </p:cNvPr>
          <p:cNvSpPr>
            <a:spLocks xmlns:a="http://schemas.openxmlformats.org/drawingml/2006/main" noGrp="1"/>
          </p:cNvSpPr>
          <p:nvPr/>
        </p:nvSpPr>
        <p:spPr>
          <a:xfrm xmlns:a="http://schemas.openxmlformats.org/drawingml/2006/main">
            <a:off x="9060485" y="4526280"/>
            <a:ext cx="2417978"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AI, Agentic &amp; AI-DLC</a:t>
            </a:r>
            <a:endParaRPr sz="1500"/>
          </a:p>
        </p:txBody>
      </p:sp>
      <p:sp>
        <p:nvSpPr>
          <p:cNvPr id="34" name="Text 26">
            <a:extLst xmlns:a="http://schemas.openxmlformats.org/drawingml/2006/main">
              <a:ext uri="{FF2B5EF4-FFF2-40B4-BE49-F238E27FC236}">
                <a16:creationId xmlns:a16="http://schemas.microsoft.com/office/drawing/2014/main" id="{938D16D7-6D96-4777-AB6B-D2DA52269B97}"/>
              </a:ext>
            </a:extLst>
          </p:cNvPr>
          <p:cNvSpPr>
            <a:spLocks xmlns:a="http://schemas.openxmlformats.org/drawingml/2006/main" noGrp="1"/>
          </p:cNvSpPr>
          <p:nvPr/>
        </p:nvSpPr>
        <p:spPr>
          <a:xfrm xmlns:a="http://schemas.openxmlformats.org/drawingml/2006/main">
            <a:off x="8383829" y="5184648"/>
            <a:ext cx="302148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100">
                <a:solidFill>
                  <a:srgbClr val="595959"/>
                </a:solidFill>
                <a:latin typeface="Calibri"/>
                <a:ea typeface="Calibri"/>
                <a:cs typeface="Calibri"/>
              </a:rPr>
              <a:t>AI/GenAI/agentic orchestration as core, and delivery run in a POD-based AI-DLC pattern from requirements to release.</a:t>
            </a:r>
            <a:endParaRPr sz="1100"/>
          </a:p>
        </p:txBody>
      </p:sp>
      <p:sp>
        <p:nvSpPr>
          <p:cNvPr id="35" name="Text 27">
            <a:extLst xmlns:a="http://schemas.openxmlformats.org/drawingml/2006/main">
              <a:ext uri="{FF2B5EF4-FFF2-40B4-BE49-F238E27FC236}">
                <a16:creationId xmlns:a16="http://schemas.microsoft.com/office/drawing/2014/main" id="{C729CBDA-7A89-4028-A64D-19014A1AA36C}"/>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36" name="Text 28">
            <a:extLst xmlns:a="http://schemas.openxmlformats.org/drawingml/2006/main">
              <a:ext uri="{FF2B5EF4-FFF2-40B4-BE49-F238E27FC236}">
                <a16:creationId xmlns:a16="http://schemas.microsoft.com/office/drawing/2014/main" id="{CCFAFD03-A0FC-4547-B6B1-26CD8AF30BE9}"/>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02</a:t>
            </a:r>
            <a:endParaRPr sz="900"/>
          </a:p>
        </p:txBody>
      </p:sp>
    </p:spTree>
    <p:extLst>
      <p:ext uri="{BB962C8B-B14F-4D97-AF65-F5344CB8AC3E}">
        <p14:creationId xmlns:p14="http://schemas.microsoft.com/office/powerpoint/2010/main" val="110472344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09D8EA-9F1D-4691-890A-32BDEDD64764}"/>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BUSINESS CONTEXT</a:t>
            </a:r>
            <a:endParaRPr sz="1200"/>
          </a:p>
        </p:txBody>
      </p:sp>
      <p:sp>
        <p:nvSpPr>
          <p:cNvPr id="3" name="Text 1">
            <a:extLst xmlns:a="http://schemas.openxmlformats.org/drawingml/2006/main">
              <a:ext uri="{FF2B5EF4-FFF2-40B4-BE49-F238E27FC236}">
                <a16:creationId xmlns:a16="http://schemas.microsoft.com/office/drawing/2014/main" id="{8455B605-8631-4B81-A341-B5DB701E895A}"/>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Why AMLI is moving off the incumbent</a:t>
            </a:r>
            <a:endParaRPr sz="3000"/>
          </a:p>
        </p:txBody>
      </p:sp>
      <p:sp>
        <p:nvSpPr>
          <p:cNvPr id="4" name="Shape 2">
            <a:extLst xmlns:a="http://schemas.openxmlformats.org/drawingml/2006/main">
              <a:ext uri="{FF2B5EF4-FFF2-40B4-BE49-F238E27FC236}">
                <a16:creationId xmlns:a16="http://schemas.microsoft.com/office/drawing/2014/main" id="{FA230A15-59A7-4160-A8FF-E27897386437}"/>
              </a:ext>
            </a:extLst>
          </p:cNvPr>
          <p:cNvSpPr>
            <a:spLocks xmlns:a="http://schemas.openxmlformats.org/drawingml/2006/main" noGrp="1"/>
          </p:cNvSpPr>
          <p:nvPr/>
        </p:nvSpPr>
        <p:spPr>
          <a:xfrm xmlns:a="http://schemas.openxmlformats.org/drawingml/2006/main">
            <a:off x="548640" y="1554480"/>
            <a:ext cx="4114800" cy="4480560"/>
          </a:xfrm>
          <a:prstGeom xmlns:a="http://schemas.openxmlformats.org/drawingml/2006/main" prst="roundRect">
            <a:avLst>
              <a:gd name="adj" fmla="val 2444"/>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5" name="Text 3">
            <a:extLst xmlns:a="http://schemas.openxmlformats.org/drawingml/2006/main">
              <a:ext uri="{FF2B5EF4-FFF2-40B4-BE49-F238E27FC236}">
                <a16:creationId xmlns:a16="http://schemas.microsoft.com/office/drawing/2014/main" id="{0E5F491A-F521-44E6-B511-A58149BEC6D2}"/>
              </a:ext>
            </a:extLst>
          </p:cNvPr>
          <p:cNvSpPr>
            <a:spLocks xmlns:a="http://schemas.openxmlformats.org/drawingml/2006/main" noGrp="1"/>
          </p:cNvSpPr>
          <p:nvPr/>
        </p:nvSpPr>
        <p:spPr>
          <a:xfrm xmlns:a="http://schemas.openxmlformats.org/drawingml/2006/main">
            <a:off x="822960" y="1773936"/>
            <a:ext cx="35661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50">
                <a:solidFill>
                  <a:srgbClr val="1F3A5F"/>
                </a:solidFill>
                <a:latin typeface="Poppins"/>
                <a:ea typeface="Poppins"/>
                <a:cs typeface="Poppins"/>
              </a:rPr>
              <a:t>CURRENT STATE</a:t>
            </a:r>
            <a:endParaRPr sz="1100"/>
          </a:p>
        </p:txBody>
      </p:sp>
      <p:sp>
        <p:nvSpPr>
          <p:cNvPr id="6" name="Shape 4">
            <a:extLst xmlns:a="http://schemas.openxmlformats.org/drawingml/2006/main">
              <a:ext uri="{FF2B5EF4-FFF2-40B4-BE49-F238E27FC236}">
                <a16:creationId xmlns:a16="http://schemas.microsoft.com/office/drawing/2014/main" id="{AE10C623-054A-4D16-9A72-94E24B99388C}"/>
              </a:ext>
            </a:extLst>
          </p:cNvPr>
          <p:cNvSpPr>
            <a:spLocks xmlns:a="http://schemas.openxmlformats.org/drawingml/2006/main" noGrp="1"/>
          </p:cNvSpPr>
          <p:nvPr/>
        </p:nvSpPr>
        <p:spPr>
          <a:xfrm xmlns:a="http://schemas.openxmlformats.org/drawingml/2006/main">
            <a:off x="822960" y="2157984"/>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7" name="Shape 5">
            <a:extLst xmlns:a="http://schemas.openxmlformats.org/drawingml/2006/main">
              <a:ext uri="{FF2B5EF4-FFF2-40B4-BE49-F238E27FC236}">
                <a16:creationId xmlns:a16="http://schemas.microsoft.com/office/drawing/2014/main" id="{7735DD39-293E-4ED8-AEEB-C864C1370AA2}"/>
              </a:ext>
            </a:extLst>
          </p:cNvPr>
          <p:cNvSpPr>
            <a:spLocks xmlns:a="http://schemas.openxmlformats.org/drawingml/2006/main" noGrp="1"/>
          </p:cNvSpPr>
          <p:nvPr/>
        </p:nvSpPr>
        <p:spPr>
          <a:xfrm xmlns:a="http://schemas.openxmlformats.org/drawingml/2006/main">
            <a:off x="1005840" y="2459736"/>
            <a:ext cx="182880" cy="182880"/>
          </a:xfrm>
          <a:prstGeom xmlns:a="http://schemas.openxmlformats.org/drawingml/2006/main" prst="ellipse">
            <a:avLst/>
          </a:prstGeom>
          <a:solidFill xmlns:a="http://schemas.openxmlformats.org/drawingml/2006/main">
            <a:srgbClr val="1F3A5F"/>
          </a:solidFill>
        </p:spPr>
      </p:sp>
      <p:sp>
        <p:nvSpPr>
          <p:cNvPr id="8" name="Text 6">
            <a:extLst xmlns:a="http://schemas.openxmlformats.org/drawingml/2006/main">
              <a:ext uri="{FF2B5EF4-FFF2-40B4-BE49-F238E27FC236}">
                <a16:creationId xmlns:a16="http://schemas.microsoft.com/office/drawing/2014/main" id="{0CA3D88A-BC22-4356-B4FB-48809658F530}"/>
              </a:ext>
            </a:extLst>
          </p:cNvPr>
          <p:cNvSpPr>
            <a:spLocks xmlns:a="http://schemas.openxmlformats.org/drawingml/2006/main" noGrp="1"/>
          </p:cNvSpPr>
          <p:nvPr/>
        </p:nvSpPr>
        <p:spPr>
          <a:xfrm xmlns:a="http://schemas.openxmlformats.org/drawingml/2006/main">
            <a:off x="1335024" y="2249424"/>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mSpace Super App</a:t>
            </a:r>
            <a:endParaRPr sz="1250"/>
          </a:p>
        </p:txBody>
      </p:sp>
      <p:sp>
        <p:nvSpPr>
          <p:cNvPr id="9" name="Text 7">
            <a:extLst xmlns:a="http://schemas.openxmlformats.org/drawingml/2006/main">
              <a:ext uri="{FF2B5EF4-FFF2-40B4-BE49-F238E27FC236}">
                <a16:creationId xmlns:a16="http://schemas.microsoft.com/office/drawing/2014/main" id="{CE60CD68-AD91-4634-81DC-00A5B0200440}"/>
              </a:ext>
            </a:extLst>
          </p:cNvPr>
          <p:cNvSpPr>
            <a:spLocks xmlns:a="http://schemas.openxmlformats.org/drawingml/2006/main" noGrp="1"/>
          </p:cNvSpPr>
          <p:nvPr/>
        </p:nvSpPr>
        <p:spPr>
          <a:xfrm xmlns:a="http://schemas.openxmlformats.org/drawingml/2006/main">
            <a:off x="1335024" y="2560320"/>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Enterprise sales app (MLI-owned wrapper)</a:t>
            </a:r>
            <a:endParaRPr sz="10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13bca19d5af549e0"/>
          <a:stretch xmlns:a="http://schemas.openxmlformats.org/drawingml/2006/main">
            <a:fillRect l="0" t="0" r="0" b="0"/>
          </a:stretch>
        </p:blipFill>
        <p:spPr>
          <a:xfrm xmlns:a="http://schemas.openxmlformats.org/drawingml/2006/main">
            <a:off x="2505456" y="2980944"/>
            <a:ext cx="201168" cy="201168"/>
          </a:xfrm>
          <a:prstGeom xmlns:a="http://schemas.openxmlformats.org/drawingml/2006/main" prst="rect">
            <a:avLst/>
          </a:prstGeom>
        </p:spPr>
      </p:pic>
      <p:sp>
        <p:nvSpPr>
          <p:cNvPr id="11" name="Shape 8">
            <a:extLst xmlns:a="http://schemas.openxmlformats.org/drawingml/2006/main">
              <a:ext uri="{FF2B5EF4-FFF2-40B4-BE49-F238E27FC236}">
                <a16:creationId xmlns:a16="http://schemas.microsoft.com/office/drawing/2014/main" id="{F3395D45-4A8B-4CC6-9B3F-0F5CDE40C260}"/>
              </a:ext>
            </a:extLst>
          </p:cNvPr>
          <p:cNvSpPr>
            <a:spLocks xmlns:a="http://schemas.openxmlformats.org/drawingml/2006/main" noGrp="1"/>
          </p:cNvSpPr>
          <p:nvPr/>
        </p:nvSpPr>
        <p:spPr>
          <a:xfrm xmlns:a="http://schemas.openxmlformats.org/drawingml/2006/main">
            <a:off x="822960" y="3127248"/>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2" name="Shape 9">
            <a:extLst xmlns:a="http://schemas.openxmlformats.org/drawingml/2006/main">
              <a:ext uri="{FF2B5EF4-FFF2-40B4-BE49-F238E27FC236}">
                <a16:creationId xmlns:a16="http://schemas.microsoft.com/office/drawing/2014/main" id="{0073F40A-F112-4F8E-A379-FB8CCF5D27FD}"/>
              </a:ext>
            </a:extLst>
          </p:cNvPr>
          <p:cNvSpPr>
            <a:spLocks xmlns:a="http://schemas.openxmlformats.org/drawingml/2006/main" noGrp="1"/>
          </p:cNvSpPr>
          <p:nvPr/>
        </p:nvSpPr>
        <p:spPr>
          <a:xfrm xmlns:a="http://schemas.openxmlformats.org/drawingml/2006/main">
            <a:off x="1005840" y="3429000"/>
            <a:ext cx="182880" cy="182880"/>
          </a:xfrm>
          <a:prstGeom xmlns:a="http://schemas.openxmlformats.org/drawingml/2006/main" prst="ellipse">
            <a:avLst/>
          </a:prstGeom>
          <a:solidFill xmlns:a="http://schemas.openxmlformats.org/drawingml/2006/main">
            <a:srgbClr val="EE2B76"/>
          </a:solidFill>
        </p:spPr>
      </p:sp>
      <p:sp>
        <p:nvSpPr>
          <p:cNvPr id="13" name="Text 10">
            <a:extLst xmlns:a="http://schemas.openxmlformats.org/drawingml/2006/main">
              <a:ext uri="{FF2B5EF4-FFF2-40B4-BE49-F238E27FC236}">
                <a16:creationId xmlns:a16="http://schemas.microsoft.com/office/drawing/2014/main" id="{E0919208-1E4C-4C1E-95C9-DFD29F098F12}"/>
              </a:ext>
            </a:extLst>
          </p:cNvPr>
          <p:cNvSpPr>
            <a:spLocks xmlns:a="http://schemas.openxmlformats.org/drawingml/2006/main" noGrp="1"/>
          </p:cNvSpPr>
          <p:nvPr/>
        </p:nvSpPr>
        <p:spPr>
          <a:xfrm xmlns:a="http://schemas.openxmlformats.org/drawingml/2006/main">
            <a:off x="1335024" y="3218688"/>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Vymo  (SaaS)</a:t>
            </a:r>
            <a:endParaRPr sz="1250"/>
          </a:p>
        </p:txBody>
      </p:sp>
      <p:sp>
        <p:nvSpPr>
          <p:cNvPr id="14" name="Text 11">
            <a:extLst xmlns:a="http://schemas.openxmlformats.org/drawingml/2006/main">
              <a:ext uri="{FF2B5EF4-FFF2-40B4-BE49-F238E27FC236}">
                <a16:creationId xmlns:a16="http://schemas.microsoft.com/office/drawing/2014/main" id="{ECD20EC6-90CD-415B-B5D1-62416139836B}"/>
              </a:ext>
            </a:extLst>
          </p:cNvPr>
          <p:cNvSpPr>
            <a:spLocks xmlns:a="http://schemas.openxmlformats.org/drawingml/2006/main" noGrp="1"/>
          </p:cNvSpPr>
          <p:nvPr/>
        </p:nvSpPr>
        <p:spPr>
          <a:xfrm xmlns:a="http://schemas.openxmlformats.org/drawingml/2006/main">
            <a:off x="1335024" y="3529584"/>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Activity &amp; lead app — deep-linked into mSpace</a:t>
            </a:r>
            <a:endParaRPr sz="1000"/>
          </a:p>
        </p:txBody>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6b24f81371264abf"/>
          <a:stretch xmlns:a="http://schemas.openxmlformats.org/drawingml/2006/main">
            <a:fillRect l="0" t="0" r="0" b="0"/>
          </a:stretch>
        </p:blipFill>
        <p:spPr>
          <a:xfrm xmlns:a="http://schemas.openxmlformats.org/drawingml/2006/main">
            <a:off x="2505456" y="3950208"/>
            <a:ext cx="201168" cy="201168"/>
          </a:xfrm>
          <a:prstGeom xmlns:a="http://schemas.openxmlformats.org/drawingml/2006/main" prst="rect">
            <a:avLst/>
          </a:prstGeom>
        </p:spPr>
      </p:pic>
      <p:sp>
        <p:nvSpPr>
          <p:cNvPr id="16" name="Shape 12">
            <a:extLst xmlns:a="http://schemas.openxmlformats.org/drawingml/2006/main">
              <a:ext uri="{FF2B5EF4-FFF2-40B4-BE49-F238E27FC236}">
                <a16:creationId xmlns:a16="http://schemas.microsoft.com/office/drawing/2014/main" id="{24BD4B69-28BA-4DA5-819D-DEC8BD8533E4}"/>
              </a:ext>
            </a:extLst>
          </p:cNvPr>
          <p:cNvSpPr>
            <a:spLocks xmlns:a="http://schemas.openxmlformats.org/drawingml/2006/main" noGrp="1"/>
          </p:cNvSpPr>
          <p:nvPr/>
        </p:nvSpPr>
        <p:spPr>
          <a:xfrm xmlns:a="http://schemas.openxmlformats.org/drawingml/2006/main">
            <a:off x="822960" y="4096512"/>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7" name="Shape 13">
            <a:extLst xmlns:a="http://schemas.openxmlformats.org/drawingml/2006/main">
              <a:ext uri="{FF2B5EF4-FFF2-40B4-BE49-F238E27FC236}">
                <a16:creationId xmlns:a16="http://schemas.microsoft.com/office/drawing/2014/main" id="{B05D0886-91CF-4520-A5A8-8EF4A97E5915}"/>
              </a:ext>
            </a:extLst>
          </p:cNvPr>
          <p:cNvSpPr>
            <a:spLocks xmlns:a="http://schemas.openxmlformats.org/drawingml/2006/main" noGrp="1"/>
          </p:cNvSpPr>
          <p:nvPr/>
        </p:nvSpPr>
        <p:spPr>
          <a:xfrm xmlns:a="http://schemas.openxmlformats.org/drawingml/2006/main">
            <a:off x="1005840" y="4398264"/>
            <a:ext cx="182880" cy="182880"/>
          </a:xfrm>
          <a:prstGeom xmlns:a="http://schemas.openxmlformats.org/drawingml/2006/main" prst="ellipse">
            <a:avLst/>
          </a:prstGeom>
          <a:solidFill xmlns:a="http://schemas.openxmlformats.org/drawingml/2006/main">
            <a:srgbClr val="595959"/>
          </a:solidFill>
        </p:spPr>
      </p:sp>
      <p:sp>
        <p:nvSpPr>
          <p:cNvPr id="18" name="Text 14">
            <a:extLst xmlns:a="http://schemas.openxmlformats.org/drawingml/2006/main">
              <a:ext uri="{FF2B5EF4-FFF2-40B4-BE49-F238E27FC236}">
                <a16:creationId xmlns:a16="http://schemas.microsoft.com/office/drawing/2014/main" id="{5405ECDF-0598-4349-8EA8-A97CC0EE26CE}"/>
              </a:ext>
            </a:extLst>
          </p:cNvPr>
          <p:cNvSpPr>
            <a:spLocks xmlns:a="http://schemas.openxmlformats.org/drawingml/2006/main" noGrp="1"/>
          </p:cNvSpPr>
          <p:nvPr/>
        </p:nvSpPr>
        <p:spPr>
          <a:xfrm xmlns:a="http://schemas.openxmlformats.org/drawingml/2006/main">
            <a:off x="1335024" y="4187952"/>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mSales · mPro · mSmart · mQuote</a:t>
            </a:r>
            <a:endParaRPr sz="1250"/>
          </a:p>
        </p:txBody>
      </p:sp>
      <p:sp>
        <p:nvSpPr>
          <p:cNvPr id="19" name="Text 15">
            <a:extLst xmlns:a="http://schemas.openxmlformats.org/drawingml/2006/main">
              <a:ext uri="{FF2B5EF4-FFF2-40B4-BE49-F238E27FC236}">
                <a16:creationId xmlns:a16="http://schemas.microsoft.com/office/drawing/2014/main" id="{B95F8EE4-D3B2-4B42-94BC-166CCBE7335F}"/>
              </a:ext>
            </a:extLst>
          </p:cNvPr>
          <p:cNvSpPr>
            <a:spLocks xmlns:a="http://schemas.openxmlformats.org/drawingml/2006/main" noGrp="1"/>
          </p:cNvSpPr>
          <p:nvPr/>
        </p:nvSpPr>
        <p:spPr>
          <a:xfrm xmlns:a="http://schemas.openxmlformats.org/drawingml/2006/main">
            <a:off x="1335024" y="4498848"/>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Peripheral, disparate transaction systems</a:t>
            </a:r>
            <a:endParaRPr sz="1000"/>
          </a:p>
        </p:txBody>
      </p:sp>
      <p:pic>
        <p:nvPicPr>
          <p:cNvPr id="79" name="Image 2"/>
          <p:cNvPicPr>
            <a:picLocks xmlns:a="http://schemas.openxmlformats.org/drawingml/2006/main" noChangeAspect="1"/>
          </p:cNvPicPr>
          <p:nvPr/>
        </p:nvPicPr>
        <p:blipFill>
          <a:blip xmlns:r="http://schemas.openxmlformats.org/officeDocument/2006/relationships" xmlns:a="http://schemas.openxmlformats.org/drawingml/2006/main" r:embed="R52ff3befdabc422d"/>
          <a:stretch xmlns:a="http://schemas.openxmlformats.org/drawingml/2006/main">
            <a:fillRect l="0" t="0" r="0" b="0"/>
          </a:stretch>
        </p:blipFill>
        <p:spPr>
          <a:xfrm xmlns:a="http://schemas.openxmlformats.org/drawingml/2006/main">
            <a:off x="2505456" y="4919472"/>
            <a:ext cx="201168" cy="201168"/>
          </a:xfrm>
          <a:prstGeom xmlns:a="http://schemas.openxmlformats.org/drawingml/2006/main" prst="rect">
            <a:avLst/>
          </a:prstGeom>
        </p:spPr>
      </p:pic>
      <p:sp>
        <p:nvSpPr>
          <p:cNvPr id="21" name="Shape 16">
            <a:extLst xmlns:a="http://schemas.openxmlformats.org/drawingml/2006/main">
              <a:ext uri="{FF2B5EF4-FFF2-40B4-BE49-F238E27FC236}">
                <a16:creationId xmlns:a16="http://schemas.microsoft.com/office/drawing/2014/main" id="{5F470C6C-3BB1-4D30-868A-DD4C851BF3F3}"/>
              </a:ext>
            </a:extLst>
          </p:cNvPr>
          <p:cNvSpPr>
            <a:spLocks xmlns:a="http://schemas.openxmlformats.org/drawingml/2006/main" noGrp="1"/>
          </p:cNvSpPr>
          <p:nvPr/>
        </p:nvSpPr>
        <p:spPr>
          <a:xfrm xmlns:a="http://schemas.openxmlformats.org/drawingml/2006/main">
            <a:off x="822960" y="5065776"/>
            <a:ext cx="3566160"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2" name="Shape 17">
            <a:extLst xmlns:a="http://schemas.openxmlformats.org/drawingml/2006/main">
              <a:ext uri="{FF2B5EF4-FFF2-40B4-BE49-F238E27FC236}">
                <a16:creationId xmlns:a16="http://schemas.microsoft.com/office/drawing/2014/main" id="{C52888CE-E19D-4508-B4A7-803E89D8E160}"/>
              </a:ext>
            </a:extLst>
          </p:cNvPr>
          <p:cNvSpPr>
            <a:spLocks xmlns:a="http://schemas.openxmlformats.org/drawingml/2006/main" noGrp="1"/>
          </p:cNvSpPr>
          <p:nvPr/>
        </p:nvSpPr>
        <p:spPr>
          <a:xfrm xmlns:a="http://schemas.openxmlformats.org/drawingml/2006/main">
            <a:off x="1005840" y="5367528"/>
            <a:ext cx="182880" cy="182880"/>
          </a:xfrm>
          <a:prstGeom xmlns:a="http://schemas.openxmlformats.org/drawingml/2006/main" prst="ellipse">
            <a:avLst/>
          </a:prstGeom>
          <a:solidFill xmlns:a="http://schemas.openxmlformats.org/drawingml/2006/main">
            <a:srgbClr val="8A7F79"/>
          </a:solidFill>
        </p:spPr>
      </p:sp>
      <p:sp>
        <p:nvSpPr>
          <p:cNvPr id="23" name="Text 18">
            <a:extLst xmlns:a="http://schemas.openxmlformats.org/drawingml/2006/main">
              <a:ext uri="{FF2B5EF4-FFF2-40B4-BE49-F238E27FC236}">
                <a16:creationId xmlns:a16="http://schemas.microsoft.com/office/drawing/2014/main" id="{931D9FCB-62EF-4E96-8487-C5F7A9A9C4CD}"/>
              </a:ext>
            </a:extLst>
          </p:cNvPr>
          <p:cNvSpPr>
            <a:spLocks xmlns:a="http://schemas.openxmlformats.org/drawingml/2006/main" noGrp="1"/>
          </p:cNvSpPr>
          <p:nvPr/>
        </p:nvSpPr>
        <p:spPr>
          <a:xfrm xmlns:a="http://schemas.openxmlformats.org/drawingml/2006/main">
            <a:off x="1335024" y="5157216"/>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CRM</a:t>
            </a:r>
            <a:endParaRPr sz="1250"/>
          </a:p>
        </p:txBody>
      </p:sp>
      <p:sp>
        <p:nvSpPr>
          <p:cNvPr id="24" name="Text 19">
            <a:extLst xmlns:a="http://schemas.openxmlformats.org/drawingml/2006/main">
              <a:ext uri="{FF2B5EF4-FFF2-40B4-BE49-F238E27FC236}">
                <a16:creationId xmlns:a16="http://schemas.microsoft.com/office/drawing/2014/main" id="{2C61C8DE-CC3E-4294-BAD9-7BC304294C55}"/>
              </a:ext>
            </a:extLst>
          </p:cNvPr>
          <p:cNvSpPr>
            <a:spLocks xmlns:a="http://schemas.openxmlformats.org/drawingml/2006/main" noGrp="1"/>
          </p:cNvSpPr>
          <p:nvPr/>
        </p:nvSpPr>
        <p:spPr>
          <a:xfrm xmlns:a="http://schemas.openxmlformats.org/drawingml/2006/main">
            <a:off x="1335024" y="5468112"/>
            <a:ext cx="2999232"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No lead / activity transactions recorded</a:t>
            </a:r>
            <a:endParaRPr sz="1000"/>
          </a:p>
        </p:txBody>
      </p:sp>
      <p:sp>
        <p:nvSpPr>
          <p:cNvPr id="25" name="Text 20">
            <a:extLst xmlns:a="http://schemas.openxmlformats.org/drawingml/2006/main">
              <a:ext uri="{FF2B5EF4-FFF2-40B4-BE49-F238E27FC236}">
                <a16:creationId xmlns:a16="http://schemas.microsoft.com/office/drawing/2014/main" id="{EE1D28BC-F55B-4D3B-9422-18C374CAD81F}"/>
              </a:ext>
            </a:extLst>
          </p:cNvPr>
          <p:cNvSpPr>
            <a:spLocks xmlns:a="http://schemas.openxmlformats.org/drawingml/2006/main" noGrp="1"/>
          </p:cNvSpPr>
          <p:nvPr/>
        </p:nvSpPr>
        <p:spPr>
          <a:xfrm xmlns:a="http://schemas.openxmlformats.org/drawingml/2006/main">
            <a:off x="5029200" y="1554480"/>
            <a:ext cx="661385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EE2B76"/>
                </a:solidFill>
                <a:latin typeface="Poppins"/>
                <a:ea typeface="Poppins"/>
                <a:cs typeface="Poppins"/>
              </a:rPr>
              <a:t>CHALLENGES IDENTIFIED IN THE CURRENT ARCHITECTURE</a:t>
            </a:r>
            <a:endParaRPr sz="1100"/>
          </a:p>
        </p:txBody>
      </p:sp>
      <p:sp>
        <p:nvSpPr>
          <p:cNvPr id="26" name="Shape 21">
            <a:extLst xmlns:a="http://schemas.openxmlformats.org/drawingml/2006/main">
              <a:ext uri="{FF2B5EF4-FFF2-40B4-BE49-F238E27FC236}">
                <a16:creationId xmlns:a16="http://schemas.microsoft.com/office/drawing/2014/main" id="{225B1E3F-ABCA-4DE8-9DAE-9636378D6469}"/>
              </a:ext>
            </a:extLst>
          </p:cNvPr>
          <p:cNvSpPr>
            <a:spLocks xmlns:a="http://schemas.openxmlformats.org/drawingml/2006/main" noGrp="1"/>
          </p:cNvSpPr>
          <p:nvPr/>
        </p:nvSpPr>
        <p:spPr>
          <a:xfrm xmlns:a="http://schemas.openxmlformats.org/drawingml/2006/main">
            <a:off x="5029200" y="1920240"/>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7" name="Shape 22">
            <a:extLst xmlns:a="http://schemas.openxmlformats.org/drawingml/2006/main">
              <a:ext uri="{FF2B5EF4-FFF2-40B4-BE49-F238E27FC236}">
                <a16:creationId xmlns:a16="http://schemas.microsoft.com/office/drawing/2014/main" id="{23CF32F4-1F40-4AC4-8767-6D23FC4CC7FC}"/>
              </a:ext>
            </a:extLst>
          </p:cNvPr>
          <p:cNvSpPr>
            <a:spLocks xmlns:a="http://schemas.openxmlformats.org/drawingml/2006/main" noGrp="1"/>
          </p:cNvSpPr>
          <p:nvPr/>
        </p:nvSpPr>
        <p:spPr>
          <a:xfrm xmlns:a="http://schemas.openxmlformats.org/drawingml/2006/main">
            <a:off x="5193792" y="2093976"/>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6686ec5a814c498b"/>
          <a:stretch xmlns:a="http://schemas.openxmlformats.org/drawingml/2006/main">
            <a:fillRect l="0" t="0" r="0" b="0"/>
          </a:stretch>
        </p:blipFill>
        <p:spPr>
          <a:xfrm xmlns:a="http://schemas.openxmlformats.org/drawingml/2006/main">
            <a:off x="5307909" y="2208093"/>
            <a:ext cx="210678" cy="210678"/>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44A4C44F-C19B-4FFA-B4E3-451467BD9EAF}"/>
              </a:ext>
            </a:extLst>
          </p:cNvPr>
          <p:cNvSpPr>
            <a:spLocks xmlns:a="http://schemas.openxmlformats.org/drawingml/2006/main" noGrp="1"/>
          </p:cNvSpPr>
          <p:nvPr/>
        </p:nvSpPr>
        <p:spPr>
          <a:xfrm xmlns:a="http://schemas.openxmlformats.org/drawingml/2006/main">
            <a:off x="5779008" y="2020824"/>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No single source of truth</a:t>
            </a:r>
            <a:endParaRPr sz="1250"/>
          </a:p>
        </p:txBody>
      </p:sp>
      <p:sp>
        <p:nvSpPr>
          <p:cNvPr id="30" name="Text 24">
            <a:extLst xmlns:a="http://schemas.openxmlformats.org/drawingml/2006/main">
              <a:ext uri="{FF2B5EF4-FFF2-40B4-BE49-F238E27FC236}">
                <a16:creationId xmlns:a16="http://schemas.microsoft.com/office/drawing/2014/main" id="{3A1099E0-06B7-4007-B1D7-9CF5129CFBE1}"/>
              </a:ext>
            </a:extLst>
          </p:cNvPr>
          <p:cNvSpPr>
            <a:spLocks xmlns:a="http://schemas.openxmlformats.org/drawingml/2006/main" noGrp="1"/>
          </p:cNvSpPr>
          <p:nvPr/>
        </p:nvSpPr>
        <p:spPr>
          <a:xfrm xmlns:a="http://schemas.openxmlformats.org/drawingml/2006/main">
            <a:off x="5779008" y="2304288"/>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Lead &amp; activity records are fragmented across Vymo and peripheral apps — no unified record.</a:t>
            </a:r>
            <a:endParaRPr sz="1000"/>
          </a:p>
        </p:txBody>
      </p:sp>
      <p:sp>
        <p:nvSpPr>
          <p:cNvPr id="31" name="Shape 25">
            <a:extLst xmlns:a="http://schemas.openxmlformats.org/drawingml/2006/main">
              <a:ext uri="{FF2B5EF4-FFF2-40B4-BE49-F238E27FC236}">
                <a16:creationId xmlns:a16="http://schemas.microsoft.com/office/drawing/2014/main" id="{3997937F-0D98-4EE1-A34C-A25A4F375925}"/>
              </a:ext>
            </a:extLst>
          </p:cNvPr>
          <p:cNvSpPr>
            <a:spLocks xmlns:a="http://schemas.openxmlformats.org/drawingml/2006/main" noGrp="1"/>
          </p:cNvSpPr>
          <p:nvPr/>
        </p:nvSpPr>
        <p:spPr>
          <a:xfrm xmlns:a="http://schemas.openxmlformats.org/drawingml/2006/main">
            <a:off x="5029200" y="2775204"/>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2" name="Shape 26">
            <a:extLst xmlns:a="http://schemas.openxmlformats.org/drawingml/2006/main">
              <a:ext uri="{FF2B5EF4-FFF2-40B4-BE49-F238E27FC236}">
                <a16:creationId xmlns:a16="http://schemas.microsoft.com/office/drawing/2014/main" id="{3B6E90EE-894A-4965-B3C7-BDD5CADB3579}"/>
              </a:ext>
            </a:extLst>
          </p:cNvPr>
          <p:cNvSpPr>
            <a:spLocks xmlns:a="http://schemas.openxmlformats.org/drawingml/2006/main" noGrp="1"/>
          </p:cNvSpPr>
          <p:nvPr/>
        </p:nvSpPr>
        <p:spPr>
          <a:xfrm xmlns:a="http://schemas.openxmlformats.org/drawingml/2006/main">
            <a:off x="5193792" y="2948940"/>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2" name="Image 4"/>
          <p:cNvPicPr>
            <a:picLocks xmlns:a="http://schemas.openxmlformats.org/drawingml/2006/main" noChangeAspect="1"/>
          </p:cNvPicPr>
          <p:nvPr/>
        </p:nvPicPr>
        <p:blipFill>
          <a:blip xmlns:r="http://schemas.openxmlformats.org/officeDocument/2006/relationships" xmlns:a="http://schemas.openxmlformats.org/drawingml/2006/main" r:embed="R56b578416ec94bc8"/>
          <a:stretch xmlns:a="http://schemas.openxmlformats.org/drawingml/2006/main">
            <a:fillRect l="0" t="0" r="0" b="0"/>
          </a:stretch>
        </p:blipFill>
        <p:spPr>
          <a:xfrm xmlns:a="http://schemas.openxmlformats.org/drawingml/2006/main">
            <a:off x="5307909" y="3063057"/>
            <a:ext cx="210678" cy="210678"/>
          </a:xfrm>
          <a:prstGeom xmlns:a="http://schemas.openxmlformats.org/drawingml/2006/main" prst="rect">
            <a:avLst/>
          </a:prstGeom>
        </p:spPr>
      </p:pic>
      <p:sp>
        <p:nvSpPr>
          <p:cNvPr id="34" name="Text 27">
            <a:extLst xmlns:a="http://schemas.openxmlformats.org/drawingml/2006/main">
              <a:ext uri="{FF2B5EF4-FFF2-40B4-BE49-F238E27FC236}">
                <a16:creationId xmlns:a16="http://schemas.microsoft.com/office/drawing/2014/main" id="{273A16DD-A493-4866-8A95-BC443F612C15}"/>
              </a:ext>
            </a:extLst>
          </p:cNvPr>
          <p:cNvSpPr>
            <a:spLocks xmlns:a="http://schemas.openxmlformats.org/drawingml/2006/main" noGrp="1"/>
          </p:cNvSpPr>
          <p:nvPr/>
        </p:nvSpPr>
        <p:spPr>
          <a:xfrm xmlns:a="http://schemas.openxmlformats.org/drawingml/2006/main">
            <a:off x="5779008" y="2875788"/>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No agent &amp; lead 360</a:t>
            </a:r>
            <a:endParaRPr sz="1250"/>
          </a:p>
        </p:txBody>
      </p:sp>
      <p:sp>
        <p:nvSpPr>
          <p:cNvPr id="35" name="Text 28">
            <a:extLst xmlns:a="http://schemas.openxmlformats.org/drawingml/2006/main">
              <a:ext uri="{FF2B5EF4-FFF2-40B4-BE49-F238E27FC236}">
                <a16:creationId xmlns:a16="http://schemas.microsoft.com/office/drawing/2014/main" id="{2D43F78E-6A1C-4A7A-8877-C84DA3F65289}"/>
              </a:ext>
            </a:extLst>
          </p:cNvPr>
          <p:cNvSpPr>
            <a:spLocks xmlns:a="http://schemas.openxmlformats.org/drawingml/2006/main" noGrp="1"/>
          </p:cNvSpPr>
          <p:nvPr/>
        </p:nvSpPr>
        <p:spPr>
          <a:xfrm xmlns:a="http://schemas.openxmlformats.org/drawingml/2006/main">
            <a:off x="5779008" y="3159252"/>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No consolidated view of the seller or the lead across the pre-sales-to-servicing lifecycle.</a:t>
            </a:r>
            <a:endParaRPr sz="1000"/>
          </a:p>
        </p:txBody>
      </p:sp>
      <p:sp>
        <p:nvSpPr>
          <p:cNvPr id="36" name="Shape 29">
            <a:extLst xmlns:a="http://schemas.openxmlformats.org/drawingml/2006/main">
              <a:ext uri="{FF2B5EF4-FFF2-40B4-BE49-F238E27FC236}">
                <a16:creationId xmlns:a16="http://schemas.microsoft.com/office/drawing/2014/main" id="{C0A28080-6B34-46C5-8878-256A96B4A228}"/>
              </a:ext>
            </a:extLst>
          </p:cNvPr>
          <p:cNvSpPr>
            <a:spLocks xmlns:a="http://schemas.openxmlformats.org/drawingml/2006/main" noGrp="1"/>
          </p:cNvSpPr>
          <p:nvPr/>
        </p:nvSpPr>
        <p:spPr>
          <a:xfrm xmlns:a="http://schemas.openxmlformats.org/drawingml/2006/main">
            <a:off x="5029200" y="3630168"/>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7" name="Shape 30">
            <a:extLst xmlns:a="http://schemas.openxmlformats.org/drawingml/2006/main">
              <a:ext uri="{FF2B5EF4-FFF2-40B4-BE49-F238E27FC236}">
                <a16:creationId xmlns:a16="http://schemas.microsoft.com/office/drawing/2014/main" id="{B4945C16-30D0-4695-A99B-E2AB6B96B344}"/>
              </a:ext>
            </a:extLst>
          </p:cNvPr>
          <p:cNvSpPr>
            <a:spLocks xmlns:a="http://schemas.openxmlformats.org/drawingml/2006/main" noGrp="1"/>
          </p:cNvSpPr>
          <p:nvPr/>
        </p:nvSpPr>
        <p:spPr>
          <a:xfrm xmlns:a="http://schemas.openxmlformats.org/drawingml/2006/main">
            <a:off x="5193792"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7" name="Image 5"/>
          <p:cNvPicPr>
            <a:picLocks xmlns:a="http://schemas.openxmlformats.org/drawingml/2006/main" noChangeAspect="1"/>
          </p:cNvPicPr>
          <p:nvPr/>
        </p:nvPicPr>
        <p:blipFill>
          <a:blip xmlns:r="http://schemas.openxmlformats.org/officeDocument/2006/relationships" xmlns:a="http://schemas.openxmlformats.org/drawingml/2006/main" r:embed="R9e3b2022ec7147e0"/>
          <a:stretch xmlns:a="http://schemas.openxmlformats.org/drawingml/2006/main">
            <a:fillRect l="0" t="0" r="0" b="0"/>
          </a:stretch>
        </p:blipFill>
        <p:spPr>
          <a:xfrm xmlns:a="http://schemas.openxmlformats.org/drawingml/2006/main">
            <a:off x="5307909" y="3918021"/>
            <a:ext cx="210678" cy="210678"/>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71117C1D-B823-43F1-864F-0C92B2DAC1CC}"/>
              </a:ext>
            </a:extLst>
          </p:cNvPr>
          <p:cNvSpPr>
            <a:spLocks xmlns:a="http://schemas.openxmlformats.org/drawingml/2006/main" noGrp="1"/>
          </p:cNvSpPr>
          <p:nvPr/>
        </p:nvSpPr>
        <p:spPr>
          <a:xfrm xmlns:a="http://schemas.openxmlformats.org/drawingml/2006/main">
            <a:off x="5779008" y="3730752"/>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Transaction / experience overlap</a:t>
            </a:r>
            <a:endParaRPr sz="1250"/>
          </a:p>
        </p:txBody>
      </p:sp>
      <p:sp>
        <p:nvSpPr>
          <p:cNvPr id="40" name="Text 32">
            <a:extLst xmlns:a="http://schemas.openxmlformats.org/drawingml/2006/main">
              <a:ext uri="{FF2B5EF4-FFF2-40B4-BE49-F238E27FC236}">
                <a16:creationId xmlns:a16="http://schemas.microsoft.com/office/drawing/2014/main" id="{A7137AF3-A141-409C-95FA-D1BFE5C95712}"/>
              </a:ext>
            </a:extLst>
          </p:cNvPr>
          <p:cNvSpPr>
            <a:spLocks xmlns:a="http://schemas.openxmlformats.org/drawingml/2006/main" noGrp="1"/>
          </p:cNvSpPr>
          <p:nvPr/>
        </p:nvSpPr>
        <p:spPr>
          <a:xfrm xmlns:a="http://schemas.openxmlformats.org/drawingml/2006/main">
            <a:off x="5779008" y="4014216"/>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Transaction systems overlap with experience platforms — multiple disparate, peripheral systems.</a:t>
            </a:r>
            <a:endParaRPr sz="1000"/>
          </a:p>
        </p:txBody>
      </p:sp>
      <p:sp>
        <p:nvSpPr>
          <p:cNvPr id="41" name="Shape 33">
            <a:extLst xmlns:a="http://schemas.openxmlformats.org/drawingml/2006/main">
              <a:ext uri="{FF2B5EF4-FFF2-40B4-BE49-F238E27FC236}">
                <a16:creationId xmlns:a16="http://schemas.microsoft.com/office/drawing/2014/main" id="{950FD1CF-7A5D-4670-BA40-51BACF78CE65}"/>
              </a:ext>
            </a:extLst>
          </p:cNvPr>
          <p:cNvSpPr>
            <a:spLocks xmlns:a="http://schemas.openxmlformats.org/drawingml/2006/main" noGrp="1"/>
          </p:cNvSpPr>
          <p:nvPr/>
        </p:nvSpPr>
        <p:spPr>
          <a:xfrm xmlns:a="http://schemas.openxmlformats.org/drawingml/2006/main">
            <a:off x="5029200" y="4485132"/>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2" name="Shape 34">
            <a:extLst xmlns:a="http://schemas.openxmlformats.org/drawingml/2006/main">
              <a:ext uri="{FF2B5EF4-FFF2-40B4-BE49-F238E27FC236}">
                <a16:creationId xmlns:a16="http://schemas.microsoft.com/office/drawing/2014/main" id="{4D5574C1-9AA3-4F47-AC96-6D35B57380B3}"/>
              </a:ext>
            </a:extLst>
          </p:cNvPr>
          <p:cNvSpPr>
            <a:spLocks xmlns:a="http://schemas.openxmlformats.org/drawingml/2006/main" noGrp="1"/>
          </p:cNvSpPr>
          <p:nvPr/>
        </p:nvSpPr>
        <p:spPr>
          <a:xfrm xmlns:a="http://schemas.openxmlformats.org/drawingml/2006/main">
            <a:off x="5193792" y="465886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2" name="Image 6"/>
          <p:cNvPicPr>
            <a:picLocks xmlns:a="http://schemas.openxmlformats.org/drawingml/2006/main" noChangeAspect="1"/>
          </p:cNvPicPr>
          <p:nvPr/>
        </p:nvPicPr>
        <p:blipFill>
          <a:blip xmlns:r="http://schemas.openxmlformats.org/officeDocument/2006/relationships" xmlns:a="http://schemas.openxmlformats.org/drawingml/2006/main" r:embed="Rb5296d0eb65940d4"/>
          <a:stretch xmlns:a="http://schemas.openxmlformats.org/drawingml/2006/main">
            <a:fillRect l="0" t="0" r="0" b="0"/>
          </a:stretch>
        </p:blipFill>
        <p:spPr>
          <a:xfrm xmlns:a="http://schemas.openxmlformats.org/drawingml/2006/main">
            <a:off x="5307909" y="4772985"/>
            <a:ext cx="210678" cy="210678"/>
          </a:xfrm>
          <a:prstGeom xmlns:a="http://schemas.openxmlformats.org/drawingml/2006/main" prst="rect">
            <a:avLst/>
          </a:prstGeom>
        </p:spPr>
      </p:pic>
      <p:sp>
        <p:nvSpPr>
          <p:cNvPr id="44" name="Text 35">
            <a:extLst xmlns:a="http://schemas.openxmlformats.org/drawingml/2006/main">
              <a:ext uri="{FF2B5EF4-FFF2-40B4-BE49-F238E27FC236}">
                <a16:creationId xmlns:a16="http://schemas.microsoft.com/office/drawing/2014/main" id="{436E96E2-9171-41EB-98D0-082AEB7F13A6}"/>
              </a:ext>
            </a:extLst>
          </p:cNvPr>
          <p:cNvSpPr>
            <a:spLocks xmlns:a="http://schemas.openxmlformats.org/drawingml/2006/main" noGrp="1"/>
          </p:cNvSpPr>
          <p:nvPr/>
        </p:nvSpPr>
        <p:spPr>
          <a:xfrm xmlns:a="http://schemas.openxmlformats.org/drawingml/2006/main">
            <a:off x="5779008" y="4585716"/>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No CRM-integrated lead view</a:t>
            </a:r>
            <a:endParaRPr sz="1250"/>
          </a:p>
        </p:txBody>
      </p:sp>
      <p:sp>
        <p:nvSpPr>
          <p:cNvPr id="45" name="Text 36">
            <a:extLst xmlns:a="http://schemas.openxmlformats.org/drawingml/2006/main">
              <a:ext uri="{FF2B5EF4-FFF2-40B4-BE49-F238E27FC236}">
                <a16:creationId xmlns:a16="http://schemas.microsoft.com/office/drawing/2014/main" id="{703F0403-7DD1-430A-8EB0-E0EF0F1B98F9}"/>
              </a:ext>
            </a:extLst>
          </p:cNvPr>
          <p:cNvSpPr>
            <a:spLocks xmlns:a="http://schemas.openxmlformats.org/drawingml/2006/main" noGrp="1"/>
          </p:cNvSpPr>
          <p:nvPr/>
        </p:nvSpPr>
        <p:spPr>
          <a:xfrm xmlns:a="http://schemas.openxmlformats.org/drawingml/2006/main">
            <a:off x="5779008" y="4869180"/>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Transactions are not recorded in CRM, so there is no end-to-end integrated view of a lead.</a:t>
            </a:r>
            <a:endParaRPr sz="1000"/>
          </a:p>
        </p:txBody>
      </p:sp>
      <p:sp>
        <p:nvSpPr>
          <p:cNvPr id="46" name="Shape 37">
            <a:extLst xmlns:a="http://schemas.openxmlformats.org/drawingml/2006/main">
              <a:ext uri="{FF2B5EF4-FFF2-40B4-BE49-F238E27FC236}">
                <a16:creationId xmlns:a16="http://schemas.microsoft.com/office/drawing/2014/main" id="{58D5247E-9C62-48B6-B805-ADF49ECE10DD}"/>
              </a:ext>
            </a:extLst>
          </p:cNvPr>
          <p:cNvSpPr>
            <a:spLocks xmlns:a="http://schemas.openxmlformats.org/drawingml/2006/main" noGrp="1"/>
          </p:cNvSpPr>
          <p:nvPr/>
        </p:nvSpPr>
        <p:spPr>
          <a:xfrm xmlns:a="http://schemas.openxmlformats.org/drawingml/2006/main">
            <a:off x="5029200" y="5340096"/>
            <a:ext cx="6613855" cy="786384"/>
          </a:xfrm>
          <a:prstGeom xmlns:a="http://schemas.openxmlformats.org/drawingml/2006/main" prst="roundRect">
            <a:avLst>
              <a:gd name="adj" fmla="val 1279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7" name="Shape 38">
            <a:extLst xmlns:a="http://schemas.openxmlformats.org/drawingml/2006/main">
              <a:ext uri="{FF2B5EF4-FFF2-40B4-BE49-F238E27FC236}">
                <a16:creationId xmlns:a16="http://schemas.microsoft.com/office/drawing/2014/main" id="{02DE6F5B-023B-4BE5-BDFC-88B9191F8119}"/>
              </a:ext>
            </a:extLst>
          </p:cNvPr>
          <p:cNvSpPr>
            <a:spLocks xmlns:a="http://schemas.openxmlformats.org/drawingml/2006/main" noGrp="1"/>
          </p:cNvSpPr>
          <p:nvPr/>
        </p:nvSpPr>
        <p:spPr>
          <a:xfrm xmlns:a="http://schemas.openxmlformats.org/drawingml/2006/main">
            <a:off x="5193792" y="551383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7" name="Image 7"/>
          <p:cNvPicPr>
            <a:picLocks xmlns:a="http://schemas.openxmlformats.org/drawingml/2006/main" noChangeAspect="1"/>
          </p:cNvPicPr>
          <p:nvPr/>
        </p:nvPicPr>
        <p:blipFill>
          <a:blip xmlns:r="http://schemas.openxmlformats.org/officeDocument/2006/relationships" xmlns:a="http://schemas.openxmlformats.org/drawingml/2006/main" r:embed="Rf231fef7022e4c30"/>
          <a:stretch xmlns:a="http://schemas.openxmlformats.org/drawingml/2006/main">
            <a:fillRect l="0" t="0" r="0" b="0"/>
          </a:stretch>
        </p:blipFill>
        <p:spPr>
          <a:xfrm xmlns:a="http://schemas.openxmlformats.org/drawingml/2006/main">
            <a:off x="5307909" y="5627949"/>
            <a:ext cx="210678" cy="210678"/>
          </a:xfrm>
          <a:prstGeom xmlns:a="http://schemas.openxmlformats.org/drawingml/2006/main" prst="rect">
            <a:avLst/>
          </a:prstGeom>
        </p:spPr>
      </p:pic>
      <p:sp>
        <p:nvSpPr>
          <p:cNvPr id="49" name="Text 39">
            <a:extLst xmlns:a="http://schemas.openxmlformats.org/drawingml/2006/main">
              <a:ext uri="{FF2B5EF4-FFF2-40B4-BE49-F238E27FC236}">
                <a16:creationId xmlns:a16="http://schemas.microsoft.com/office/drawing/2014/main" id="{87E9059D-6BE8-4821-9915-11D0038B3A44}"/>
              </a:ext>
            </a:extLst>
          </p:cNvPr>
          <p:cNvSpPr>
            <a:spLocks xmlns:a="http://schemas.openxmlformats.org/drawingml/2006/main" noGrp="1"/>
          </p:cNvSpPr>
          <p:nvPr/>
        </p:nvSpPr>
        <p:spPr>
          <a:xfrm xmlns:a="http://schemas.openxmlformats.org/drawingml/2006/main">
            <a:off x="5779008" y="5440680"/>
            <a:ext cx="569945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No AI assistance to sellers</a:t>
            </a:r>
            <a:endParaRPr sz="1250"/>
          </a:p>
        </p:txBody>
      </p:sp>
      <p:sp>
        <p:nvSpPr>
          <p:cNvPr id="50" name="Text 40">
            <a:extLst xmlns:a="http://schemas.openxmlformats.org/drawingml/2006/main">
              <a:ext uri="{FF2B5EF4-FFF2-40B4-BE49-F238E27FC236}">
                <a16:creationId xmlns:a16="http://schemas.microsoft.com/office/drawing/2014/main" id="{5DA4D5DE-8C4B-4221-A2AE-1DB845A9127C}"/>
              </a:ext>
            </a:extLst>
          </p:cNvPr>
          <p:cNvSpPr>
            <a:spLocks xmlns:a="http://schemas.openxmlformats.org/drawingml/2006/main" noGrp="1"/>
          </p:cNvSpPr>
          <p:nvPr/>
        </p:nvSpPr>
        <p:spPr>
          <a:xfrm xmlns:a="http://schemas.openxmlformats.org/drawingml/2006/main">
            <a:off x="5779008" y="5724144"/>
            <a:ext cx="569945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The current stack offers no AI-driven productivity or next-best-action support to agents.</a:t>
            </a:r>
            <a:endParaRPr sz="1000"/>
          </a:p>
        </p:txBody>
      </p:sp>
      <p:sp>
        <p:nvSpPr>
          <p:cNvPr id="51" name="Text 41">
            <a:extLst xmlns:a="http://schemas.openxmlformats.org/drawingml/2006/main">
              <a:ext uri="{FF2B5EF4-FFF2-40B4-BE49-F238E27FC236}">
                <a16:creationId xmlns:a16="http://schemas.microsoft.com/office/drawing/2014/main" id="{08A3132F-7E57-401B-A62F-1C7212A3F0B2}"/>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52" name="Text 42">
            <a:extLst xmlns:a="http://schemas.openxmlformats.org/drawingml/2006/main">
              <a:ext uri="{FF2B5EF4-FFF2-40B4-BE49-F238E27FC236}">
                <a16:creationId xmlns:a16="http://schemas.microsoft.com/office/drawing/2014/main" id="{B3BD4FC6-46DA-4AAC-99C2-048CEE8C21F3}"/>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03</a:t>
            </a:r>
            <a:endParaRPr sz="900"/>
          </a:p>
        </p:txBody>
      </p:sp>
    </p:spTree>
    <p:extLst>
      <p:ext uri="{BB962C8B-B14F-4D97-AF65-F5344CB8AC3E}">
        <p14:creationId xmlns:p14="http://schemas.microsoft.com/office/powerpoint/2010/main" val="170645859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1B89303-2356-47CC-80F3-CCA3BF0BF728}"/>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SCALE OF THE OPPORTUNITY</a:t>
            </a:r>
            <a:endParaRPr sz="1200"/>
          </a:p>
        </p:txBody>
      </p:sp>
      <p:sp>
        <p:nvSpPr>
          <p:cNvPr id="3" name="Text 1">
            <a:extLst xmlns:a="http://schemas.openxmlformats.org/drawingml/2006/main">
              <a:ext uri="{FF2B5EF4-FFF2-40B4-BE49-F238E27FC236}">
                <a16:creationId xmlns:a16="http://schemas.microsoft.com/office/drawing/2014/main" id="{7EE867E2-1A33-44EB-BAFC-85C7DAA9F3C2}"/>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The footprint we would be serving</a:t>
            </a:r>
            <a:endParaRPr sz="3000"/>
          </a:p>
        </p:txBody>
      </p:sp>
      <p:sp>
        <p:nvSpPr>
          <p:cNvPr id="4" name="Text 2">
            <a:extLst xmlns:a="http://schemas.openxmlformats.org/drawingml/2006/main">
              <a:ext uri="{FF2B5EF4-FFF2-40B4-BE49-F238E27FC236}">
                <a16:creationId xmlns:a16="http://schemas.microsoft.com/office/drawing/2014/main" id="{BC0BDE6B-2E6E-4291-9E98-9AD7B71C6BA6}"/>
              </a:ext>
            </a:extLst>
          </p:cNvPr>
          <p:cNvSpPr>
            <a:spLocks xmlns:a="http://schemas.openxmlformats.org/drawingml/2006/main" noGrp="1"/>
          </p:cNvSpPr>
          <p:nvPr/>
        </p:nvSpPr>
        <p:spPr>
          <a:xfrm xmlns:a="http://schemas.openxmlformats.org/drawingml/2006/main">
            <a:off x="548640" y="1353312"/>
            <a:ext cx="11094415"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95959"/>
                </a:solidFill>
                <a:latin typeface="Calibri"/>
                <a:ea typeface="Calibri"/>
                <a:cs typeface="Calibri"/>
              </a:rPr>
              <a:t>Volumetrics shared for the Axis channel (one of 10+); full programme spans Agency, Axis/Bank, DSF, Digital Agency, YBL and SA variants.</a:t>
            </a:r>
            <a:endParaRPr sz="1200"/>
          </a:p>
        </p:txBody>
      </p:sp>
      <p:sp>
        <p:nvSpPr>
          <p:cNvPr id="5" name="Shape 3">
            <a:extLst xmlns:a="http://schemas.openxmlformats.org/drawingml/2006/main">
              <a:ext uri="{FF2B5EF4-FFF2-40B4-BE49-F238E27FC236}">
                <a16:creationId xmlns:a16="http://schemas.microsoft.com/office/drawing/2014/main" id="{1DEFE143-D4CA-4378-8A7B-4E7575D3BCEE}"/>
              </a:ext>
            </a:extLst>
          </p:cNvPr>
          <p:cNvSpPr>
            <a:spLocks xmlns:a="http://schemas.openxmlformats.org/drawingml/2006/main" noGrp="1"/>
          </p:cNvSpPr>
          <p:nvPr/>
        </p:nvSpPr>
        <p:spPr>
          <a:xfrm xmlns:a="http://schemas.openxmlformats.org/drawingml/2006/main">
            <a:off x="548640"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6" name="Shape 4">
            <a:extLst xmlns:a="http://schemas.openxmlformats.org/drawingml/2006/main">
              <a:ext uri="{FF2B5EF4-FFF2-40B4-BE49-F238E27FC236}">
                <a16:creationId xmlns:a16="http://schemas.microsoft.com/office/drawing/2014/main" id="{E3E686DD-D44D-45F5-ADC2-E15BC388A520}"/>
              </a:ext>
            </a:extLst>
          </p:cNvPr>
          <p:cNvSpPr>
            <a:spLocks xmlns:a="http://schemas.openxmlformats.org/drawingml/2006/main" noGrp="1"/>
          </p:cNvSpPr>
          <p:nvPr/>
        </p:nvSpPr>
        <p:spPr>
          <a:xfrm xmlns:a="http://schemas.openxmlformats.org/drawingml/2006/main">
            <a:off x="1297808"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72" name="Image 0"/>
          <p:cNvPicPr>
            <a:picLocks xmlns:a="http://schemas.openxmlformats.org/drawingml/2006/main" noChangeAspect="1"/>
          </p:cNvPicPr>
          <p:nvPr/>
        </p:nvPicPr>
        <p:blipFill>
          <a:blip xmlns:r="http://schemas.openxmlformats.org/officeDocument/2006/relationships" xmlns:a="http://schemas.openxmlformats.org/drawingml/2006/main" r:embed="Rbb94579829444116"/>
          <a:stretch xmlns:a="http://schemas.openxmlformats.org/drawingml/2006/main">
            <a:fillRect l="0" t="0" r="0" b="0"/>
          </a:stretch>
        </p:blipFill>
        <p:spPr>
          <a:xfrm xmlns:a="http://schemas.openxmlformats.org/drawingml/2006/main">
            <a:off x="1435699" y="2259300"/>
            <a:ext cx="254569" cy="254569"/>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0E4CECDE-6BD3-4DE8-BF2B-7167CF19BDF5}"/>
              </a:ext>
            </a:extLst>
          </p:cNvPr>
          <p:cNvSpPr>
            <a:spLocks xmlns:a="http://schemas.openxmlformats.org/drawingml/2006/main" noGrp="1"/>
          </p:cNvSpPr>
          <p:nvPr/>
        </p:nvSpPr>
        <p:spPr>
          <a:xfrm xmlns:a="http://schemas.openxmlformats.org/drawingml/2006/main">
            <a:off x="640080"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E2B76"/>
                </a:solidFill>
                <a:latin typeface="Poppins"/>
                <a:ea typeface="Poppins"/>
                <a:cs typeface="Poppins"/>
              </a:rPr>
              <a:t>22–25K</a:t>
            </a:r>
            <a:endParaRPr sz="2600"/>
          </a:p>
        </p:txBody>
      </p:sp>
      <p:sp>
        <p:nvSpPr>
          <p:cNvPr id="9" name="Text 6">
            <a:extLst xmlns:a="http://schemas.openxmlformats.org/drawingml/2006/main">
              <a:ext uri="{FF2B5EF4-FFF2-40B4-BE49-F238E27FC236}">
                <a16:creationId xmlns:a16="http://schemas.microsoft.com/office/drawing/2014/main" id="{5AD05043-907C-4D61-8958-F064863D4AF6}"/>
              </a:ext>
            </a:extLst>
          </p:cNvPr>
          <p:cNvSpPr>
            <a:spLocks xmlns:a="http://schemas.openxmlformats.org/drawingml/2006/main" noGrp="1"/>
          </p:cNvSpPr>
          <p:nvPr/>
        </p:nvSpPr>
        <p:spPr>
          <a:xfrm xmlns:a="http://schemas.openxmlformats.org/drawingml/2006/main">
            <a:off x="640080"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On-roll employees</a:t>
            </a:r>
            <a:endParaRPr sz="1050"/>
          </a:p>
        </p:txBody>
      </p:sp>
      <p:sp>
        <p:nvSpPr>
          <p:cNvPr id="10" name="Shape 7">
            <a:extLst xmlns:a="http://schemas.openxmlformats.org/drawingml/2006/main">
              <a:ext uri="{FF2B5EF4-FFF2-40B4-BE49-F238E27FC236}">
                <a16:creationId xmlns:a16="http://schemas.microsoft.com/office/drawing/2014/main" id="{C3D3AD5C-DCE0-472A-9869-A273E3B999C1}"/>
              </a:ext>
            </a:extLst>
          </p:cNvPr>
          <p:cNvSpPr>
            <a:spLocks xmlns:a="http://schemas.openxmlformats.org/drawingml/2006/main" noGrp="1"/>
          </p:cNvSpPr>
          <p:nvPr/>
        </p:nvSpPr>
        <p:spPr>
          <a:xfrm xmlns:a="http://schemas.openxmlformats.org/drawingml/2006/main">
            <a:off x="2815072"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1" name="Shape 8">
            <a:extLst xmlns:a="http://schemas.openxmlformats.org/drawingml/2006/main">
              <a:ext uri="{FF2B5EF4-FFF2-40B4-BE49-F238E27FC236}">
                <a16:creationId xmlns:a16="http://schemas.microsoft.com/office/drawing/2014/main" id="{18D30861-61B7-4B28-A5FF-F80A72789865}"/>
              </a:ext>
            </a:extLst>
          </p:cNvPr>
          <p:cNvSpPr>
            <a:spLocks xmlns:a="http://schemas.openxmlformats.org/drawingml/2006/main" noGrp="1"/>
          </p:cNvSpPr>
          <p:nvPr/>
        </p:nvSpPr>
        <p:spPr>
          <a:xfrm xmlns:a="http://schemas.openxmlformats.org/drawingml/2006/main">
            <a:off x="3564240"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e552944b86184332"/>
          <a:stretch xmlns:a="http://schemas.openxmlformats.org/drawingml/2006/main">
            <a:fillRect l="0" t="0" r="0" b="0"/>
          </a:stretch>
        </p:blipFill>
        <p:spPr>
          <a:xfrm xmlns:a="http://schemas.openxmlformats.org/drawingml/2006/main">
            <a:off x="3702131" y="2259300"/>
            <a:ext cx="254569" cy="254569"/>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4B1C550D-8F5E-4EC6-A2C3-51E5F69472CA}"/>
              </a:ext>
            </a:extLst>
          </p:cNvPr>
          <p:cNvSpPr>
            <a:spLocks xmlns:a="http://schemas.openxmlformats.org/drawingml/2006/main" noGrp="1"/>
          </p:cNvSpPr>
          <p:nvPr/>
        </p:nvSpPr>
        <p:spPr>
          <a:xfrm xmlns:a="http://schemas.openxmlformats.org/drawingml/2006/main">
            <a:off x="2906512"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F3A5F"/>
                </a:solidFill>
                <a:latin typeface="Poppins"/>
                <a:ea typeface="Poppins"/>
                <a:cs typeface="Poppins"/>
              </a:rPr>
              <a:t>~100K</a:t>
            </a:r>
            <a:endParaRPr sz="2600"/>
          </a:p>
        </p:txBody>
      </p:sp>
      <p:sp>
        <p:nvSpPr>
          <p:cNvPr id="14" name="Text 10">
            <a:extLst xmlns:a="http://schemas.openxmlformats.org/drawingml/2006/main">
              <a:ext uri="{FF2B5EF4-FFF2-40B4-BE49-F238E27FC236}">
                <a16:creationId xmlns:a16="http://schemas.microsoft.com/office/drawing/2014/main" id="{42B13DE0-C3B1-4A85-82D0-19609369A05A}"/>
              </a:ext>
            </a:extLst>
          </p:cNvPr>
          <p:cNvSpPr>
            <a:spLocks xmlns:a="http://schemas.openxmlformats.org/drawingml/2006/main" noGrp="1"/>
          </p:cNvSpPr>
          <p:nvPr/>
        </p:nvSpPr>
        <p:spPr>
          <a:xfrm xmlns:a="http://schemas.openxmlformats.org/drawingml/2006/main">
            <a:off x="2906512"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Off-role field force</a:t>
            </a:r>
            <a:endParaRPr sz="1050"/>
          </a:p>
        </p:txBody>
      </p:sp>
      <p:sp>
        <p:nvSpPr>
          <p:cNvPr id="15" name="Shape 11">
            <a:extLst xmlns:a="http://schemas.openxmlformats.org/drawingml/2006/main">
              <a:ext uri="{FF2B5EF4-FFF2-40B4-BE49-F238E27FC236}">
                <a16:creationId xmlns:a16="http://schemas.microsoft.com/office/drawing/2014/main" id="{E0C5DCEE-9D46-49D6-8DD3-4E65D89814B9}"/>
              </a:ext>
            </a:extLst>
          </p:cNvPr>
          <p:cNvSpPr>
            <a:spLocks xmlns:a="http://schemas.openxmlformats.org/drawingml/2006/main" noGrp="1"/>
          </p:cNvSpPr>
          <p:nvPr/>
        </p:nvSpPr>
        <p:spPr>
          <a:xfrm xmlns:a="http://schemas.openxmlformats.org/drawingml/2006/main">
            <a:off x="5081504"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6" name="Shape 12">
            <a:extLst xmlns:a="http://schemas.openxmlformats.org/drawingml/2006/main">
              <a:ext uri="{FF2B5EF4-FFF2-40B4-BE49-F238E27FC236}">
                <a16:creationId xmlns:a16="http://schemas.microsoft.com/office/drawing/2014/main" id="{85150FF4-1FB7-42AB-8C8A-CB20CFCBF240}"/>
              </a:ext>
            </a:extLst>
          </p:cNvPr>
          <p:cNvSpPr>
            <a:spLocks xmlns:a="http://schemas.openxmlformats.org/drawingml/2006/main" noGrp="1"/>
          </p:cNvSpPr>
          <p:nvPr/>
        </p:nvSpPr>
        <p:spPr>
          <a:xfrm xmlns:a="http://schemas.openxmlformats.org/drawingml/2006/main">
            <a:off x="5830672"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82" name="Image 2"/>
          <p:cNvPicPr>
            <a:picLocks xmlns:a="http://schemas.openxmlformats.org/drawingml/2006/main" noChangeAspect="1"/>
          </p:cNvPicPr>
          <p:nvPr/>
        </p:nvPicPr>
        <p:blipFill>
          <a:blip xmlns:r="http://schemas.openxmlformats.org/officeDocument/2006/relationships" xmlns:a="http://schemas.openxmlformats.org/drawingml/2006/main" r:embed="R05f53ca8055541ef"/>
          <a:stretch xmlns:a="http://schemas.openxmlformats.org/drawingml/2006/main">
            <a:fillRect l="0" t="0" r="0" b="0"/>
          </a:stretch>
        </p:blipFill>
        <p:spPr>
          <a:xfrm xmlns:a="http://schemas.openxmlformats.org/drawingml/2006/main">
            <a:off x="5968563" y="2259300"/>
            <a:ext cx="254569" cy="254569"/>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9511F138-E493-4217-A2A1-DB3CA890C63F}"/>
              </a:ext>
            </a:extLst>
          </p:cNvPr>
          <p:cNvSpPr>
            <a:spLocks xmlns:a="http://schemas.openxmlformats.org/drawingml/2006/main" noGrp="1"/>
          </p:cNvSpPr>
          <p:nvPr/>
        </p:nvSpPr>
        <p:spPr>
          <a:xfrm xmlns:a="http://schemas.openxmlformats.org/drawingml/2006/main">
            <a:off x="5172944"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595959"/>
                </a:solidFill>
                <a:latin typeface="Poppins"/>
                <a:ea typeface="Poppins"/>
                <a:cs typeface="Poppins"/>
              </a:rPr>
              <a:t>~6K</a:t>
            </a:r>
            <a:endParaRPr sz="2600"/>
          </a:p>
        </p:txBody>
      </p:sp>
      <p:sp>
        <p:nvSpPr>
          <p:cNvPr id="19" name="Text 14">
            <a:extLst xmlns:a="http://schemas.openxmlformats.org/drawingml/2006/main">
              <a:ext uri="{FF2B5EF4-FFF2-40B4-BE49-F238E27FC236}">
                <a16:creationId xmlns:a16="http://schemas.microsoft.com/office/drawing/2014/main" id="{41840909-3DE0-4BC1-8D16-DC5009D49909}"/>
              </a:ext>
            </a:extLst>
          </p:cNvPr>
          <p:cNvSpPr>
            <a:spLocks xmlns:a="http://schemas.openxmlformats.org/drawingml/2006/main" noGrp="1"/>
          </p:cNvSpPr>
          <p:nvPr/>
        </p:nvSpPr>
        <p:spPr>
          <a:xfrm xmlns:a="http://schemas.openxmlformats.org/drawingml/2006/main">
            <a:off x="5172944"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Mapped branches</a:t>
            </a:r>
            <a:endParaRPr sz="1050"/>
          </a:p>
        </p:txBody>
      </p:sp>
      <p:sp>
        <p:nvSpPr>
          <p:cNvPr id="20" name="Shape 15">
            <a:extLst xmlns:a="http://schemas.openxmlformats.org/drawingml/2006/main">
              <a:ext uri="{FF2B5EF4-FFF2-40B4-BE49-F238E27FC236}">
                <a16:creationId xmlns:a16="http://schemas.microsoft.com/office/drawing/2014/main" id="{792E49D8-0F50-40C1-8847-33FAC1E53864}"/>
              </a:ext>
            </a:extLst>
          </p:cNvPr>
          <p:cNvSpPr>
            <a:spLocks xmlns:a="http://schemas.openxmlformats.org/drawingml/2006/main" noGrp="1"/>
          </p:cNvSpPr>
          <p:nvPr/>
        </p:nvSpPr>
        <p:spPr>
          <a:xfrm xmlns:a="http://schemas.openxmlformats.org/drawingml/2006/main">
            <a:off x="7347936"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1" name="Shape 16">
            <a:extLst xmlns:a="http://schemas.openxmlformats.org/drawingml/2006/main">
              <a:ext uri="{FF2B5EF4-FFF2-40B4-BE49-F238E27FC236}">
                <a16:creationId xmlns:a16="http://schemas.microsoft.com/office/drawing/2014/main" id="{6ABFB818-B28A-482E-9CCD-3FFC3BE1EE00}"/>
              </a:ext>
            </a:extLst>
          </p:cNvPr>
          <p:cNvSpPr>
            <a:spLocks xmlns:a="http://schemas.openxmlformats.org/drawingml/2006/main" noGrp="1"/>
          </p:cNvSpPr>
          <p:nvPr/>
        </p:nvSpPr>
        <p:spPr>
          <a:xfrm xmlns:a="http://schemas.openxmlformats.org/drawingml/2006/main">
            <a:off x="8097103"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e26a187c303a427e"/>
          <a:stretch xmlns:a="http://schemas.openxmlformats.org/drawingml/2006/main">
            <a:fillRect l="0" t="0" r="0" b="0"/>
          </a:stretch>
        </p:blipFill>
        <p:spPr>
          <a:xfrm xmlns:a="http://schemas.openxmlformats.org/drawingml/2006/main">
            <a:off x="8234995" y="2259300"/>
            <a:ext cx="254569" cy="254569"/>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CC412C4F-D89A-4155-BC3F-46D6A08466B0}"/>
              </a:ext>
            </a:extLst>
          </p:cNvPr>
          <p:cNvSpPr>
            <a:spLocks xmlns:a="http://schemas.openxmlformats.org/drawingml/2006/main" noGrp="1"/>
          </p:cNvSpPr>
          <p:nvPr/>
        </p:nvSpPr>
        <p:spPr>
          <a:xfrm xmlns:a="http://schemas.openxmlformats.org/drawingml/2006/main">
            <a:off x="7439376"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595959"/>
                </a:solidFill>
                <a:latin typeface="Poppins"/>
                <a:ea typeface="Poppins"/>
                <a:cs typeface="Poppins"/>
              </a:rPr>
              <a:t>~50K</a:t>
            </a:r>
            <a:endParaRPr sz="2600"/>
          </a:p>
        </p:txBody>
      </p:sp>
      <p:sp>
        <p:nvSpPr>
          <p:cNvPr id="24" name="Text 18">
            <a:extLst xmlns:a="http://schemas.openxmlformats.org/drawingml/2006/main">
              <a:ext uri="{FF2B5EF4-FFF2-40B4-BE49-F238E27FC236}">
                <a16:creationId xmlns:a16="http://schemas.microsoft.com/office/drawing/2014/main" id="{7F14C8BD-6AEF-4B31-B110-FFAB34538347}"/>
              </a:ext>
            </a:extLst>
          </p:cNvPr>
          <p:cNvSpPr>
            <a:spLocks xmlns:a="http://schemas.openxmlformats.org/drawingml/2006/main" noGrp="1"/>
          </p:cNvSpPr>
          <p:nvPr/>
        </p:nvSpPr>
        <p:spPr>
          <a:xfrm xmlns:a="http://schemas.openxmlformats.org/drawingml/2006/main">
            <a:off x="7439376"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Partners / SPs / DDOs</a:t>
            </a:r>
            <a:endParaRPr sz="1050"/>
          </a:p>
        </p:txBody>
      </p:sp>
      <p:sp>
        <p:nvSpPr>
          <p:cNvPr id="25" name="Shape 19">
            <a:extLst xmlns:a="http://schemas.openxmlformats.org/drawingml/2006/main">
              <a:ext uri="{FF2B5EF4-FFF2-40B4-BE49-F238E27FC236}">
                <a16:creationId xmlns:a16="http://schemas.microsoft.com/office/drawing/2014/main" id="{443BF4B8-BFFF-408A-AF12-BC372418FF74}"/>
              </a:ext>
            </a:extLst>
          </p:cNvPr>
          <p:cNvSpPr>
            <a:spLocks xmlns:a="http://schemas.openxmlformats.org/drawingml/2006/main" noGrp="1"/>
          </p:cNvSpPr>
          <p:nvPr/>
        </p:nvSpPr>
        <p:spPr>
          <a:xfrm xmlns:a="http://schemas.openxmlformats.org/drawingml/2006/main">
            <a:off x="9614367" y="192024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6" name="Shape 20">
            <a:extLst xmlns:a="http://schemas.openxmlformats.org/drawingml/2006/main">
              <a:ext uri="{FF2B5EF4-FFF2-40B4-BE49-F238E27FC236}">
                <a16:creationId xmlns:a16="http://schemas.microsoft.com/office/drawing/2014/main" id="{8A9185B9-5B39-42ED-9733-66A49215151A}"/>
              </a:ext>
            </a:extLst>
          </p:cNvPr>
          <p:cNvSpPr>
            <a:spLocks xmlns:a="http://schemas.openxmlformats.org/drawingml/2006/main" noGrp="1"/>
          </p:cNvSpPr>
          <p:nvPr/>
        </p:nvSpPr>
        <p:spPr>
          <a:xfrm xmlns:a="http://schemas.openxmlformats.org/drawingml/2006/main">
            <a:off x="10363535" y="212140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92" name="Image 4"/>
          <p:cNvPicPr>
            <a:picLocks xmlns:a="http://schemas.openxmlformats.org/drawingml/2006/main" noChangeAspect="1"/>
          </p:cNvPicPr>
          <p:nvPr/>
        </p:nvPicPr>
        <p:blipFill>
          <a:blip xmlns:r="http://schemas.openxmlformats.org/officeDocument/2006/relationships" xmlns:a="http://schemas.openxmlformats.org/drawingml/2006/main" r:embed="Raf9c81d27c814f0f"/>
          <a:stretch xmlns:a="http://schemas.openxmlformats.org/drawingml/2006/main">
            <a:fillRect l="0" t="0" r="0" b="0"/>
          </a:stretch>
        </p:blipFill>
        <p:spPr>
          <a:xfrm xmlns:a="http://schemas.openxmlformats.org/drawingml/2006/main">
            <a:off x="10501427" y="2259300"/>
            <a:ext cx="254569" cy="254569"/>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97B20AB6-3A78-4609-A269-69A049925CED}"/>
              </a:ext>
            </a:extLst>
          </p:cNvPr>
          <p:cNvSpPr>
            <a:spLocks xmlns:a="http://schemas.openxmlformats.org/drawingml/2006/main" noGrp="1"/>
          </p:cNvSpPr>
          <p:nvPr/>
        </p:nvSpPr>
        <p:spPr>
          <a:xfrm xmlns:a="http://schemas.openxmlformats.org/drawingml/2006/main">
            <a:off x="9705807" y="270662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E2B76"/>
                </a:solidFill>
                <a:latin typeface="Poppins"/>
                <a:ea typeface="Poppins"/>
                <a:cs typeface="Poppins"/>
              </a:rPr>
              <a:t>8,000</a:t>
            </a:r>
            <a:endParaRPr sz="2600"/>
          </a:p>
        </p:txBody>
      </p:sp>
      <p:sp>
        <p:nvSpPr>
          <p:cNvPr id="29" name="Text 22">
            <a:extLst xmlns:a="http://schemas.openxmlformats.org/drawingml/2006/main">
              <a:ext uri="{FF2B5EF4-FFF2-40B4-BE49-F238E27FC236}">
                <a16:creationId xmlns:a16="http://schemas.microsoft.com/office/drawing/2014/main" id="{49D263CB-803E-4BF0-A5E5-73A2C3D66EF3}"/>
              </a:ext>
            </a:extLst>
          </p:cNvPr>
          <p:cNvSpPr>
            <a:spLocks xmlns:a="http://schemas.openxmlformats.org/drawingml/2006/main" noGrp="1"/>
          </p:cNvSpPr>
          <p:nvPr/>
        </p:nvSpPr>
        <p:spPr>
          <a:xfrm xmlns:a="http://schemas.openxmlformats.org/drawingml/2006/main">
            <a:off x="9705807" y="320040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Vymo RA users today</a:t>
            </a:r>
            <a:endParaRPr sz="1050"/>
          </a:p>
        </p:txBody>
      </p:sp>
      <p:sp>
        <p:nvSpPr>
          <p:cNvPr id="30" name="Shape 23">
            <a:extLst xmlns:a="http://schemas.openxmlformats.org/drawingml/2006/main">
              <a:ext uri="{FF2B5EF4-FFF2-40B4-BE49-F238E27FC236}">
                <a16:creationId xmlns:a16="http://schemas.microsoft.com/office/drawing/2014/main" id="{BE630932-EBBA-4047-BFBA-B95592493E96}"/>
              </a:ext>
            </a:extLst>
          </p:cNvPr>
          <p:cNvSpPr>
            <a:spLocks xmlns:a="http://schemas.openxmlformats.org/drawingml/2006/main" noGrp="1"/>
          </p:cNvSpPr>
          <p:nvPr/>
        </p:nvSpPr>
        <p:spPr>
          <a:xfrm xmlns:a="http://schemas.openxmlformats.org/drawingml/2006/main">
            <a:off x="548640"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1" name="Shape 24">
            <a:extLst xmlns:a="http://schemas.openxmlformats.org/drawingml/2006/main">
              <a:ext uri="{FF2B5EF4-FFF2-40B4-BE49-F238E27FC236}">
                <a16:creationId xmlns:a16="http://schemas.microsoft.com/office/drawing/2014/main" id="{43C61669-4F11-4394-95BB-98D5C4FA26BF}"/>
              </a:ext>
            </a:extLst>
          </p:cNvPr>
          <p:cNvSpPr>
            <a:spLocks xmlns:a="http://schemas.openxmlformats.org/drawingml/2006/main" noGrp="1"/>
          </p:cNvSpPr>
          <p:nvPr/>
        </p:nvSpPr>
        <p:spPr>
          <a:xfrm xmlns:a="http://schemas.openxmlformats.org/drawingml/2006/main">
            <a:off x="1297808"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97" name="Image 5"/>
          <p:cNvPicPr>
            <a:picLocks xmlns:a="http://schemas.openxmlformats.org/drawingml/2006/main" noChangeAspect="1"/>
          </p:cNvPicPr>
          <p:nvPr/>
        </p:nvPicPr>
        <p:blipFill>
          <a:blip xmlns:r="http://schemas.openxmlformats.org/officeDocument/2006/relationships" xmlns:a="http://schemas.openxmlformats.org/drawingml/2006/main" r:embed="R590439608b9944f8"/>
          <a:stretch xmlns:a="http://schemas.openxmlformats.org/drawingml/2006/main">
            <a:fillRect l="0" t="0" r="0" b="0"/>
          </a:stretch>
        </p:blipFill>
        <p:spPr>
          <a:xfrm xmlns:a="http://schemas.openxmlformats.org/drawingml/2006/main">
            <a:off x="1435699" y="4270980"/>
            <a:ext cx="254569" cy="254569"/>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4F26F509-97D2-41CC-B21B-36F8C44EC88D}"/>
              </a:ext>
            </a:extLst>
          </p:cNvPr>
          <p:cNvSpPr>
            <a:spLocks xmlns:a="http://schemas.openxmlformats.org/drawingml/2006/main" noGrp="1"/>
          </p:cNvSpPr>
          <p:nvPr/>
        </p:nvSpPr>
        <p:spPr>
          <a:xfrm xmlns:a="http://schemas.openxmlformats.org/drawingml/2006/main">
            <a:off x="640080"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F3A5F"/>
                </a:solidFill>
                <a:latin typeface="Poppins"/>
                <a:ea typeface="Poppins"/>
                <a:cs typeface="Poppins"/>
              </a:rPr>
              <a:t>10+</a:t>
            </a:r>
            <a:endParaRPr sz="2600"/>
          </a:p>
        </p:txBody>
      </p:sp>
      <p:sp>
        <p:nvSpPr>
          <p:cNvPr id="34" name="Text 26">
            <a:extLst xmlns:a="http://schemas.openxmlformats.org/drawingml/2006/main">
              <a:ext uri="{FF2B5EF4-FFF2-40B4-BE49-F238E27FC236}">
                <a16:creationId xmlns:a16="http://schemas.microsoft.com/office/drawing/2014/main" id="{D846866E-A2E9-48C0-8FD7-7A9294991083}"/>
              </a:ext>
            </a:extLst>
          </p:cNvPr>
          <p:cNvSpPr>
            <a:spLocks xmlns:a="http://schemas.openxmlformats.org/drawingml/2006/main" noGrp="1"/>
          </p:cNvSpPr>
          <p:nvPr/>
        </p:nvSpPr>
        <p:spPr>
          <a:xfrm xmlns:a="http://schemas.openxmlformats.org/drawingml/2006/main">
            <a:off x="640080"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Distribution channels</a:t>
            </a:r>
            <a:endParaRPr sz="1050"/>
          </a:p>
        </p:txBody>
      </p:sp>
      <p:sp>
        <p:nvSpPr>
          <p:cNvPr id="35" name="Shape 27">
            <a:extLst xmlns:a="http://schemas.openxmlformats.org/drawingml/2006/main">
              <a:ext uri="{FF2B5EF4-FFF2-40B4-BE49-F238E27FC236}">
                <a16:creationId xmlns:a16="http://schemas.microsoft.com/office/drawing/2014/main" id="{8AB4F861-7F06-45DC-9F5D-7D35C22EE11D}"/>
              </a:ext>
            </a:extLst>
          </p:cNvPr>
          <p:cNvSpPr>
            <a:spLocks xmlns:a="http://schemas.openxmlformats.org/drawingml/2006/main" noGrp="1"/>
          </p:cNvSpPr>
          <p:nvPr/>
        </p:nvSpPr>
        <p:spPr>
          <a:xfrm xmlns:a="http://schemas.openxmlformats.org/drawingml/2006/main">
            <a:off x="2815072"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6" name="Shape 28">
            <a:extLst xmlns:a="http://schemas.openxmlformats.org/drawingml/2006/main">
              <a:ext uri="{FF2B5EF4-FFF2-40B4-BE49-F238E27FC236}">
                <a16:creationId xmlns:a16="http://schemas.microsoft.com/office/drawing/2014/main" id="{224C637E-AA77-4103-B008-60145885370E}"/>
              </a:ext>
            </a:extLst>
          </p:cNvPr>
          <p:cNvSpPr>
            <a:spLocks xmlns:a="http://schemas.openxmlformats.org/drawingml/2006/main" noGrp="1"/>
          </p:cNvSpPr>
          <p:nvPr/>
        </p:nvSpPr>
        <p:spPr>
          <a:xfrm xmlns:a="http://schemas.openxmlformats.org/drawingml/2006/main">
            <a:off x="3564240"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02" name="Image 6"/>
          <p:cNvPicPr>
            <a:picLocks xmlns:a="http://schemas.openxmlformats.org/drawingml/2006/main" noChangeAspect="1"/>
          </p:cNvPicPr>
          <p:nvPr/>
        </p:nvPicPr>
        <p:blipFill>
          <a:blip xmlns:r="http://schemas.openxmlformats.org/officeDocument/2006/relationships" xmlns:a="http://schemas.openxmlformats.org/drawingml/2006/main" r:embed="R50c6950ee00842d8"/>
          <a:stretch xmlns:a="http://schemas.openxmlformats.org/drawingml/2006/main">
            <a:fillRect l="0" t="0" r="0" b="0"/>
          </a:stretch>
        </p:blipFill>
        <p:spPr>
          <a:xfrm xmlns:a="http://schemas.openxmlformats.org/drawingml/2006/main">
            <a:off x="3702131" y="4270980"/>
            <a:ext cx="254569" cy="254569"/>
          </a:xfrm>
          <a:prstGeom xmlns:a="http://schemas.openxmlformats.org/drawingml/2006/main" prst="rect">
            <a:avLst/>
          </a:prstGeom>
        </p:spPr>
      </p:pic>
      <p:sp>
        <p:nvSpPr>
          <p:cNvPr id="38" name="Text 29">
            <a:extLst xmlns:a="http://schemas.openxmlformats.org/drawingml/2006/main">
              <a:ext uri="{FF2B5EF4-FFF2-40B4-BE49-F238E27FC236}">
                <a16:creationId xmlns:a16="http://schemas.microsoft.com/office/drawing/2014/main" id="{2CAB639E-650D-42BC-998A-CE9CFC7E9699}"/>
              </a:ext>
            </a:extLst>
          </p:cNvPr>
          <p:cNvSpPr>
            <a:spLocks xmlns:a="http://schemas.openxmlformats.org/drawingml/2006/main" noGrp="1"/>
          </p:cNvSpPr>
          <p:nvPr/>
        </p:nvSpPr>
        <p:spPr>
          <a:xfrm xmlns:a="http://schemas.openxmlformats.org/drawingml/2006/main">
            <a:off x="2906512"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EE2B76"/>
                </a:solidFill>
                <a:latin typeface="Poppins"/>
                <a:ea typeface="Poppins"/>
                <a:cs typeface="Poppins"/>
              </a:rPr>
              <a:t>58–84K</a:t>
            </a:r>
            <a:endParaRPr sz="2600"/>
          </a:p>
        </p:txBody>
      </p:sp>
      <p:sp>
        <p:nvSpPr>
          <p:cNvPr id="39" name="Text 30">
            <a:extLst xmlns:a="http://schemas.openxmlformats.org/drawingml/2006/main">
              <a:ext uri="{FF2B5EF4-FFF2-40B4-BE49-F238E27FC236}">
                <a16:creationId xmlns:a16="http://schemas.microsoft.com/office/drawing/2014/main" id="{CCB488EA-AF2A-41F5-BDD6-F8E8758FC076}"/>
              </a:ext>
            </a:extLst>
          </p:cNvPr>
          <p:cNvSpPr>
            <a:spLocks xmlns:a="http://schemas.openxmlformats.org/drawingml/2006/main" noGrp="1"/>
          </p:cNvSpPr>
          <p:nvPr/>
        </p:nvSpPr>
        <p:spPr>
          <a:xfrm xmlns:a="http://schemas.openxmlformats.org/drawingml/2006/main">
            <a:off x="2906512"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Leads / month</a:t>
            </a:r>
            <a:endParaRPr sz="1050"/>
          </a:p>
        </p:txBody>
      </p:sp>
      <p:sp>
        <p:nvSpPr>
          <p:cNvPr id="40" name="Shape 31">
            <a:extLst xmlns:a="http://schemas.openxmlformats.org/drawingml/2006/main">
              <a:ext uri="{FF2B5EF4-FFF2-40B4-BE49-F238E27FC236}">
                <a16:creationId xmlns:a16="http://schemas.microsoft.com/office/drawing/2014/main" id="{CE1A5844-B321-4050-A33E-8A8D0E0EADFB}"/>
              </a:ext>
            </a:extLst>
          </p:cNvPr>
          <p:cNvSpPr>
            <a:spLocks xmlns:a="http://schemas.openxmlformats.org/drawingml/2006/main" noGrp="1"/>
          </p:cNvSpPr>
          <p:nvPr/>
        </p:nvSpPr>
        <p:spPr>
          <a:xfrm xmlns:a="http://schemas.openxmlformats.org/drawingml/2006/main">
            <a:off x="5081504"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41" name="Shape 32">
            <a:extLst xmlns:a="http://schemas.openxmlformats.org/drawingml/2006/main">
              <a:ext uri="{FF2B5EF4-FFF2-40B4-BE49-F238E27FC236}">
                <a16:creationId xmlns:a16="http://schemas.microsoft.com/office/drawing/2014/main" id="{FB1D3748-44F3-48DE-999F-1CDF9058DBFC}"/>
              </a:ext>
            </a:extLst>
          </p:cNvPr>
          <p:cNvSpPr>
            <a:spLocks xmlns:a="http://schemas.openxmlformats.org/drawingml/2006/main" noGrp="1"/>
          </p:cNvSpPr>
          <p:nvPr/>
        </p:nvSpPr>
        <p:spPr>
          <a:xfrm xmlns:a="http://schemas.openxmlformats.org/drawingml/2006/main">
            <a:off x="5830672"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07" name="Image 7"/>
          <p:cNvPicPr>
            <a:picLocks xmlns:a="http://schemas.openxmlformats.org/drawingml/2006/main" noChangeAspect="1"/>
          </p:cNvPicPr>
          <p:nvPr/>
        </p:nvPicPr>
        <p:blipFill>
          <a:blip xmlns:r="http://schemas.openxmlformats.org/officeDocument/2006/relationships" xmlns:a="http://schemas.openxmlformats.org/drawingml/2006/main" r:embed="R3579ca545c9749bb"/>
          <a:stretch xmlns:a="http://schemas.openxmlformats.org/drawingml/2006/main">
            <a:fillRect l="0" t="0" r="0" b="0"/>
          </a:stretch>
        </p:blipFill>
        <p:spPr>
          <a:xfrm xmlns:a="http://schemas.openxmlformats.org/drawingml/2006/main">
            <a:off x="5968563" y="4270980"/>
            <a:ext cx="254569" cy="254569"/>
          </a:xfrm>
          <a:prstGeom xmlns:a="http://schemas.openxmlformats.org/drawingml/2006/main" prst="rect">
            <a:avLst/>
          </a:prstGeom>
        </p:spPr>
      </p:pic>
      <p:sp>
        <p:nvSpPr>
          <p:cNvPr id="43" name="Text 33">
            <a:extLst xmlns:a="http://schemas.openxmlformats.org/drawingml/2006/main">
              <a:ext uri="{FF2B5EF4-FFF2-40B4-BE49-F238E27FC236}">
                <a16:creationId xmlns:a16="http://schemas.microsoft.com/office/drawing/2014/main" id="{267ADFC8-B0CB-4EF1-8A28-73447C1BE98B}"/>
              </a:ext>
            </a:extLst>
          </p:cNvPr>
          <p:cNvSpPr>
            <a:spLocks xmlns:a="http://schemas.openxmlformats.org/drawingml/2006/main" noGrp="1"/>
          </p:cNvSpPr>
          <p:nvPr/>
        </p:nvSpPr>
        <p:spPr>
          <a:xfrm xmlns:a="http://schemas.openxmlformats.org/drawingml/2006/main">
            <a:off x="5172944"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AC567"/>
                </a:solidFill>
                <a:latin typeface="Poppins"/>
                <a:ea typeface="Poppins"/>
                <a:cs typeface="Poppins"/>
              </a:rPr>
              <a:t>₹375 Cr</a:t>
            </a:r>
            <a:endParaRPr sz="2600"/>
          </a:p>
        </p:txBody>
      </p:sp>
      <p:sp>
        <p:nvSpPr>
          <p:cNvPr id="44" name="Text 34">
            <a:extLst xmlns:a="http://schemas.openxmlformats.org/drawingml/2006/main">
              <a:ext uri="{FF2B5EF4-FFF2-40B4-BE49-F238E27FC236}">
                <a16:creationId xmlns:a16="http://schemas.microsoft.com/office/drawing/2014/main" id="{14082EED-6ED6-4EF2-ABCA-1057FE3BF0A2}"/>
              </a:ext>
            </a:extLst>
          </p:cNvPr>
          <p:cNvSpPr>
            <a:spLocks xmlns:a="http://schemas.openxmlformats.org/drawingml/2006/main" noGrp="1"/>
          </p:cNvSpPr>
          <p:nvPr/>
        </p:nvSpPr>
        <p:spPr>
          <a:xfrm xmlns:a="http://schemas.openxmlformats.org/drawingml/2006/main">
            <a:off x="5172944"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Business value (Axis)</a:t>
            </a:r>
            <a:endParaRPr sz="1050"/>
          </a:p>
        </p:txBody>
      </p:sp>
      <p:sp>
        <p:nvSpPr>
          <p:cNvPr id="45" name="Shape 35">
            <a:extLst xmlns:a="http://schemas.openxmlformats.org/drawingml/2006/main">
              <a:ext uri="{FF2B5EF4-FFF2-40B4-BE49-F238E27FC236}">
                <a16:creationId xmlns:a16="http://schemas.microsoft.com/office/drawing/2014/main" id="{9BC53D4D-8D26-430C-A22B-DBB1EED723F0}"/>
              </a:ext>
            </a:extLst>
          </p:cNvPr>
          <p:cNvSpPr>
            <a:spLocks xmlns:a="http://schemas.openxmlformats.org/drawingml/2006/main" noGrp="1"/>
          </p:cNvSpPr>
          <p:nvPr/>
        </p:nvSpPr>
        <p:spPr>
          <a:xfrm xmlns:a="http://schemas.openxmlformats.org/drawingml/2006/main">
            <a:off x="7347936"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46" name="Shape 36">
            <a:extLst xmlns:a="http://schemas.openxmlformats.org/drawingml/2006/main">
              <a:ext uri="{FF2B5EF4-FFF2-40B4-BE49-F238E27FC236}">
                <a16:creationId xmlns:a16="http://schemas.microsoft.com/office/drawing/2014/main" id="{9AA7E78E-B97B-49F9-8DF5-80E972490635}"/>
              </a:ext>
            </a:extLst>
          </p:cNvPr>
          <p:cNvSpPr>
            <a:spLocks xmlns:a="http://schemas.openxmlformats.org/drawingml/2006/main" noGrp="1"/>
          </p:cNvSpPr>
          <p:nvPr/>
        </p:nvSpPr>
        <p:spPr>
          <a:xfrm xmlns:a="http://schemas.openxmlformats.org/drawingml/2006/main">
            <a:off x="8097103"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12" name="Image 8"/>
          <p:cNvPicPr>
            <a:picLocks xmlns:a="http://schemas.openxmlformats.org/drawingml/2006/main" noChangeAspect="1"/>
          </p:cNvPicPr>
          <p:nvPr/>
        </p:nvPicPr>
        <p:blipFill>
          <a:blip xmlns:r="http://schemas.openxmlformats.org/officeDocument/2006/relationships" xmlns:a="http://schemas.openxmlformats.org/drawingml/2006/main" r:embed="R5437d7efe6434bcb"/>
          <a:stretch xmlns:a="http://schemas.openxmlformats.org/drawingml/2006/main">
            <a:fillRect l="0" t="0" r="0" b="0"/>
          </a:stretch>
        </p:blipFill>
        <p:spPr>
          <a:xfrm xmlns:a="http://schemas.openxmlformats.org/drawingml/2006/main">
            <a:off x="8234995" y="4270980"/>
            <a:ext cx="254569" cy="254569"/>
          </a:xfrm>
          <a:prstGeom xmlns:a="http://schemas.openxmlformats.org/drawingml/2006/main" prst="rect">
            <a:avLst/>
          </a:prstGeom>
        </p:spPr>
      </p:pic>
      <p:sp>
        <p:nvSpPr>
          <p:cNvPr id="48" name="Text 37">
            <a:extLst xmlns:a="http://schemas.openxmlformats.org/drawingml/2006/main">
              <a:ext uri="{FF2B5EF4-FFF2-40B4-BE49-F238E27FC236}">
                <a16:creationId xmlns:a16="http://schemas.microsoft.com/office/drawing/2014/main" id="{0F4F6E0B-9826-4268-8CB9-6C715653A939}"/>
              </a:ext>
            </a:extLst>
          </p:cNvPr>
          <p:cNvSpPr>
            <a:spLocks xmlns:a="http://schemas.openxmlformats.org/drawingml/2006/main" noGrp="1"/>
          </p:cNvSpPr>
          <p:nvPr/>
        </p:nvSpPr>
        <p:spPr>
          <a:xfrm xmlns:a="http://schemas.openxmlformats.org/drawingml/2006/main">
            <a:off x="7439376"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1F3A5F"/>
                </a:solidFill>
                <a:latin typeface="Poppins"/>
                <a:ea typeface="Poppins"/>
                <a:cs typeface="Poppins"/>
              </a:rPr>
              <a:t>72K</a:t>
            </a:r>
            <a:endParaRPr sz="2600"/>
          </a:p>
        </p:txBody>
      </p:sp>
      <p:sp>
        <p:nvSpPr>
          <p:cNvPr id="49" name="Text 38">
            <a:extLst xmlns:a="http://schemas.openxmlformats.org/drawingml/2006/main">
              <a:ext uri="{FF2B5EF4-FFF2-40B4-BE49-F238E27FC236}">
                <a16:creationId xmlns:a16="http://schemas.microsoft.com/office/drawing/2014/main" id="{B4115D00-074E-47A1-BBFC-51907A63D0D9}"/>
              </a:ext>
            </a:extLst>
          </p:cNvPr>
          <p:cNvSpPr>
            <a:spLocks xmlns:a="http://schemas.openxmlformats.org/drawingml/2006/main" noGrp="1"/>
          </p:cNvSpPr>
          <p:nvPr/>
        </p:nvSpPr>
        <p:spPr>
          <a:xfrm xmlns:a="http://schemas.openxmlformats.org/drawingml/2006/main">
            <a:off x="7439376"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Projected leads (3-yr)</a:t>
            </a:r>
            <a:endParaRPr sz="1050"/>
          </a:p>
        </p:txBody>
      </p:sp>
      <p:sp>
        <p:nvSpPr>
          <p:cNvPr id="50" name="Shape 39">
            <a:extLst xmlns:a="http://schemas.openxmlformats.org/drawingml/2006/main">
              <a:ext uri="{FF2B5EF4-FFF2-40B4-BE49-F238E27FC236}">
                <a16:creationId xmlns:a16="http://schemas.microsoft.com/office/drawing/2014/main" id="{97129690-28C9-4CD9-912F-A8A9D2D62AC1}"/>
              </a:ext>
            </a:extLst>
          </p:cNvPr>
          <p:cNvSpPr>
            <a:spLocks xmlns:a="http://schemas.openxmlformats.org/drawingml/2006/main" noGrp="1"/>
          </p:cNvSpPr>
          <p:nvPr/>
        </p:nvSpPr>
        <p:spPr>
          <a:xfrm xmlns:a="http://schemas.openxmlformats.org/drawingml/2006/main">
            <a:off x="9614367" y="3931920"/>
            <a:ext cx="2028688" cy="1737360"/>
          </a:xfrm>
          <a:prstGeom xmlns:a="http://schemas.openxmlformats.org/drawingml/2006/main" prst="roundRect">
            <a:avLst>
              <a:gd name="adj" fmla="val 5789"/>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51" name="Shape 40">
            <a:extLst xmlns:a="http://schemas.openxmlformats.org/drawingml/2006/main">
              <a:ext uri="{FF2B5EF4-FFF2-40B4-BE49-F238E27FC236}">
                <a16:creationId xmlns:a16="http://schemas.microsoft.com/office/drawing/2014/main" id="{A505DCF8-4B00-4C67-9AF3-469A7D9EA420}"/>
              </a:ext>
            </a:extLst>
          </p:cNvPr>
          <p:cNvSpPr>
            <a:spLocks xmlns:a="http://schemas.openxmlformats.org/drawingml/2006/main" noGrp="1"/>
          </p:cNvSpPr>
          <p:nvPr/>
        </p:nvSpPr>
        <p:spPr>
          <a:xfrm xmlns:a="http://schemas.openxmlformats.org/drawingml/2006/main">
            <a:off x="10363535" y="4133088"/>
            <a:ext cx="530352" cy="53035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117" name="Image 9"/>
          <p:cNvPicPr>
            <a:picLocks xmlns:a="http://schemas.openxmlformats.org/drawingml/2006/main" noChangeAspect="1"/>
          </p:cNvPicPr>
          <p:nvPr/>
        </p:nvPicPr>
        <p:blipFill>
          <a:blip xmlns:r="http://schemas.openxmlformats.org/officeDocument/2006/relationships" xmlns:a="http://schemas.openxmlformats.org/drawingml/2006/main" r:embed="R8a57d57ee6424598"/>
          <a:stretch xmlns:a="http://schemas.openxmlformats.org/drawingml/2006/main">
            <a:fillRect l="0" t="0" r="0" b="0"/>
          </a:stretch>
        </p:blipFill>
        <p:spPr>
          <a:xfrm xmlns:a="http://schemas.openxmlformats.org/drawingml/2006/main">
            <a:off x="10501427" y="4270980"/>
            <a:ext cx="254569" cy="254569"/>
          </a:xfrm>
          <a:prstGeom xmlns:a="http://schemas.openxmlformats.org/drawingml/2006/main" prst="rect">
            <a:avLst/>
          </a:prstGeom>
        </p:spPr>
      </p:pic>
      <p:sp>
        <p:nvSpPr>
          <p:cNvPr id="53" name="Text 41">
            <a:extLst xmlns:a="http://schemas.openxmlformats.org/drawingml/2006/main">
              <a:ext uri="{FF2B5EF4-FFF2-40B4-BE49-F238E27FC236}">
                <a16:creationId xmlns:a16="http://schemas.microsoft.com/office/drawing/2014/main" id="{D1656675-545A-419E-80C5-FE53ABB73A44}"/>
              </a:ext>
            </a:extLst>
          </p:cNvPr>
          <p:cNvSpPr>
            <a:spLocks xmlns:a="http://schemas.openxmlformats.org/drawingml/2006/main" noGrp="1"/>
          </p:cNvSpPr>
          <p:nvPr/>
        </p:nvSpPr>
        <p:spPr>
          <a:xfrm xmlns:a="http://schemas.openxmlformats.org/drawingml/2006/main">
            <a:off x="9705807" y="4718304"/>
            <a:ext cx="184580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600" b="1">
                <a:solidFill>
                  <a:srgbClr val="595959"/>
                </a:solidFill>
                <a:latin typeface="Poppins"/>
                <a:ea typeface="Poppins"/>
                <a:cs typeface="Poppins"/>
              </a:rPr>
              <a:t>12</a:t>
            </a:r>
            <a:endParaRPr sz="2600"/>
          </a:p>
        </p:txBody>
      </p:sp>
      <p:sp>
        <p:nvSpPr>
          <p:cNvPr id="54" name="Text 42">
            <a:extLst xmlns:a="http://schemas.openxmlformats.org/drawingml/2006/main">
              <a:ext uri="{FF2B5EF4-FFF2-40B4-BE49-F238E27FC236}">
                <a16:creationId xmlns:a16="http://schemas.microsoft.com/office/drawing/2014/main" id="{EA6C9341-E70B-4CA1-BE8C-8D06C3DD58DD}"/>
              </a:ext>
            </a:extLst>
          </p:cNvPr>
          <p:cNvSpPr>
            <a:spLocks xmlns:a="http://schemas.openxmlformats.org/drawingml/2006/main" noGrp="1"/>
          </p:cNvSpPr>
          <p:nvPr/>
        </p:nvSpPr>
        <p:spPr>
          <a:xfrm xmlns:a="http://schemas.openxmlformats.org/drawingml/2006/main">
            <a:off x="9705807" y="5212080"/>
            <a:ext cx="184580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buNone/>
            </a:pPr>
            <a:r>
              <a:rPr sz="1050">
                <a:solidFill>
                  <a:srgbClr val="595959"/>
                </a:solidFill>
                <a:latin typeface="Calibri"/>
                <a:ea typeface="Calibri"/>
                <a:cs typeface="Calibri"/>
              </a:rPr>
              <a:t>LAMS reports in use</a:t>
            </a:r>
            <a:endParaRPr sz="1050"/>
          </a:p>
        </p:txBody>
      </p:sp>
      <p:sp>
        <p:nvSpPr>
          <p:cNvPr id="55" name="Text 43">
            <a:extLst xmlns:a="http://schemas.openxmlformats.org/drawingml/2006/main">
              <a:ext uri="{FF2B5EF4-FFF2-40B4-BE49-F238E27FC236}">
                <a16:creationId xmlns:a16="http://schemas.microsoft.com/office/drawing/2014/main" id="{491F9391-D120-4575-AF22-30E73460E647}"/>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56" name="Text 44">
            <a:extLst xmlns:a="http://schemas.openxmlformats.org/drawingml/2006/main">
              <a:ext uri="{FF2B5EF4-FFF2-40B4-BE49-F238E27FC236}">
                <a16:creationId xmlns:a16="http://schemas.microsoft.com/office/drawing/2014/main" id="{10D4EB35-09D1-4DE0-9782-6078A6EF6602}"/>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04</a:t>
            </a:r>
            <a:endParaRPr sz="900"/>
          </a:p>
        </p:txBody>
      </p:sp>
    </p:spTree>
    <p:extLst>
      <p:ext uri="{BB962C8B-B14F-4D97-AF65-F5344CB8AC3E}">
        <p14:creationId xmlns:p14="http://schemas.microsoft.com/office/powerpoint/2010/main" val="113800494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BDF984C-FE71-40F2-8649-68313925B745}"/>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SCOPE</a:t>
            </a:r>
            <a:endParaRPr sz="1200"/>
          </a:p>
        </p:txBody>
      </p:sp>
      <p:sp>
        <p:nvSpPr>
          <p:cNvPr id="3" name="Text 1">
            <a:extLst xmlns:a="http://schemas.openxmlformats.org/drawingml/2006/main">
              <a:ext uri="{FF2B5EF4-FFF2-40B4-BE49-F238E27FC236}">
                <a16:creationId xmlns:a16="http://schemas.microsoft.com/office/drawing/2014/main" id="{F58260B3-F882-45D7-A779-169866E88EA0}"/>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In-scope functional domains</a:t>
            </a:r>
            <a:endParaRPr sz="3000"/>
          </a:p>
        </p:txBody>
      </p:sp>
      <p:sp>
        <p:nvSpPr>
          <p:cNvPr id="4" name="Shape 2">
            <a:extLst xmlns:a="http://schemas.openxmlformats.org/drawingml/2006/main">
              <a:ext uri="{FF2B5EF4-FFF2-40B4-BE49-F238E27FC236}">
                <a16:creationId xmlns:a16="http://schemas.microsoft.com/office/drawing/2014/main" id="{BEC0DFD1-CF2A-4C6B-B761-2987AE3A9F13}"/>
              </a:ext>
            </a:extLst>
          </p:cNvPr>
          <p:cNvSpPr>
            <a:spLocks xmlns:a="http://schemas.openxmlformats.org/drawingml/2006/main" noGrp="1"/>
          </p:cNvSpPr>
          <p:nvPr/>
        </p:nvSpPr>
        <p:spPr>
          <a:xfrm xmlns:a="http://schemas.openxmlformats.org/drawingml/2006/main">
            <a:off x="548640" y="1517904"/>
            <a:ext cx="2043318" cy="658368"/>
          </a:xfrm>
          <a:prstGeom xmlns:a="http://schemas.openxmlformats.org/drawingml/2006/main" prst="roundRect">
            <a:avLst>
              <a:gd name="adj" fmla="val 125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5" name="Shape 3">
            <a:extLst xmlns:a="http://schemas.openxmlformats.org/drawingml/2006/main">
              <a:ext uri="{FF2B5EF4-FFF2-40B4-BE49-F238E27FC236}">
                <a16:creationId xmlns:a16="http://schemas.microsoft.com/office/drawing/2014/main" id="{12A17929-E222-4305-97CF-DAC87A8C317E}"/>
              </a:ext>
            </a:extLst>
          </p:cNvPr>
          <p:cNvSpPr>
            <a:spLocks xmlns:a="http://schemas.openxmlformats.org/drawingml/2006/main" noGrp="1"/>
          </p:cNvSpPr>
          <p:nvPr/>
        </p:nvSpPr>
        <p:spPr>
          <a:xfrm xmlns:a="http://schemas.openxmlformats.org/drawingml/2006/main">
            <a:off x="548640" y="1847088"/>
            <a:ext cx="2043318" cy="329184"/>
          </a:xfrm>
          <a:prstGeom xmlns:a="http://schemas.openxmlformats.org/drawingml/2006/main" prst="rect">
            <a:avLst/>
          </a:prstGeom>
          <a:solidFill xmlns:a="http://schemas.openxmlformats.org/drawingml/2006/main">
            <a:srgbClr val="EE2B76"/>
          </a:solidFill>
        </p:spPr>
      </p:sp>
      <p:sp>
        <p:nvSpPr>
          <p:cNvPr id="6" name="Shape 4">
            <a:extLst xmlns:a="http://schemas.openxmlformats.org/drawingml/2006/main">
              <a:ext uri="{FF2B5EF4-FFF2-40B4-BE49-F238E27FC236}">
                <a16:creationId xmlns:a16="http://schemas.microsoft.com/office/drawing/2014/main" id="{39BDAA04-E71C-4C9D-8E14-C282FB04F4D6}"/>
              </a:ext>
            </a:extLst>
          </p:cNvPr>
          <p:cNvSpPr>
            <a:spLocks xmlns:a="http://schemas.openxmlformats.org/drawingml/2006/main" noGrp="1"/>
          </p:cNvSpPr>
          <p:nvPr/>
        </p:nvSpPr>
        <p:spPr>
          <a:xfrm xmlns:a="http://schemas.openxmlformats.org/drawingml/2006/main">
            <a:off x="694944"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f4256592f3e54753"/>
          <a:stretch xmlns:a="http://schemas.openxmlformats.org/drawingml/2006/main">
            <a:fillRect l="0" t="0" r="0" b="0"/>
          </a:stretch>
        </p:blipFill>
        <p:spPr>
          <a:xfrm xmlns:a="http://schemas.openxmlformats.org/drawingml/2006/main">
            <a:off x="790042" y="1759306"/>
            <a:ext cx="175565" cy="175565"/>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625F870F-C414-4AF2-A7C9-0328E1B74063}"/>
              </a:ext>
            </a:extLst>
          </p:cNvPr>
          <p:cNvSpPr>
            <a:spLocks xmlns:a="http://schemas.openxmlformats.org/drawingml/2006/main" noGrp="1"/>
          </p:cNvSpPr>
          <p:nvPr/>
        </p:nvSpPr>
        <p:spPr>
          <a:xfrm xmlns:a="http://schemas.openxmlformats.org/drawingml/2006/main">
            <a:off x="1097280"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Activity Mgmt (AMS)</a:t>
            </a:r>
            <a:endParaRPr sz="1250"/>
          </a:p>
        </p:txBody>
      </p:sp>
      <p:sp>
        <p:nvSpPr>
          <p:cNvPr id="9" name="Shape 6">
            <a:extLst xmlns:a="http://schemas.openxmlformats.org/drawingml/2006/main">
              <a:ext uri="{FF2B5EF4-FFF2-40B4-BE49-F238E27FC236}">
                <a16:creationId xmlns:a16="http://schemas.microsoft.com/office/drawing/2014/main" id="{47E56EBC-E8ED-45DE-AA57-CC7241EDFEC0}"/>
              </a:ext>
            </a:extLst>
          </p:cNvPr>
          <p:cNvSpPr>
            <a:spLocks xmlns:a="http://schemas.openxmlformats.org/drawingml/2006/main" noGrp="1"/>
          </p:cNvSpPr>
          <p:nvPr/>
        </p:nvSpPr>
        <p:spPr>
          <a:xfrm xmlns:a="http://schemas.openxmlformats.org/drawingml/2006/main">
            <a:off x="548640"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0" name="Text 7">
            <a:extLst xmlns:a="http://schemas.openxmlformats.org/drawingml/2006/main">
              <a:ext uri="{FF2B5EF4-FFF2-40B4-BE49-F238E27FC236}">
                <a16:creationId xmlns:a16="http://schemas.microsoft.com/office/drawing/2014/main" id="{35570316-AEE1-41C8-B4C8-3AED0177A606}"/>
              </a:ext>
            </a:extLst>
          </p:cNvPr>
          <p:cNvSpPr>
            <a:spLocks xmlns:a="http://schemas.openxmlformats.org/drawingml/2006/main" noGrp="1"/>
          </p:cNvSpPr>
          <p:nvPr/>
        </p:nvSpPr>
        <p:spPr>
          <a:xfrm xmlns:a="http://schemas.openxmlformats.org/drawingml/2006/main">
            <a:off x="731520"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Activity catalog &amp; templates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Attributes, validations, statuses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SLAs, escalations, geo-controls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Offline capture &amp; sync</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Planner &amp; shared calendars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AI next-action nudges</a:t>
            </a:r>
            <a:endParaRPr sz="1050"/>
          </a:p>
        </p:txBody>
      </p:sp>
      <p:sp>
        <p:nvSpPr>
          <p:cNvPr id="11" name="Shape 8">
            <a:extLst xmlns:a="http://schemas.openxmlformats.org/drawingml/2006/main">
              <a:ext uri="{FF2B5EF4-FFF2-40B4-BE49-F238E27FC236}">
                <a16:creationId xmlns:a16="http://schemas.microsoft.com/office/drawing/2014/main" id="{90ACC636-6CFA-4D3F-8E6D-A673FD52234C}"/>
              </a:ext>
            </a:extLst>
          </p:cNvPr>
          <p:cNvSpPr>
            <a:spLocks xmlns:a="http://schemas.openxmlformats.org/drawingml/2006/main" noGrp="1"/>
          </p:cNvSpPr>
          <p:nvPr/>
        </p:nvSpPr>
        <p:spPr>
          <a:xfrm xmlns:a="http://schemas.openxmlformats.org/drawingml/2006/main">
            <a:off x="2811414" y="1517904"/>
            <a:ext cx="2043318" cy="658368"/>
          </a:xfrm>
          <a:prstGeom xmlns:a="http://schemas.openxmlformats.org/drawingml/2006/main" prst="roundRect">
            <a:avLst>
              <a:gd name="adj" fmla="val 125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12" name="Shape 9">
            <a:extLst xmlns:a="http://schemas.openxmlformats.org/drawingml/2006/main">
              <a:ext uri="{FF2B5EF4-FFF2-40B4-BE49-F238E27FC236}">
                <a16:creationId xmlns:a16="http://schemas.microsoft.com/office/drawing/2014/main" id="{6CB2DE52-E6BF-48E1-821E-4711F2C8D629}"/>
              </a:ext>
            </a:extLst>
          </p:cNvPr>
          <p:cNvSpPr>
            <a:spLocks xmlns:a="http://schemas.openxmlformats.org/drawingml/2006/main" noGrp="1"/>
          </p:cNvSpPr>
          <p:nvPr/>
        </p:nvSpPr>
        <p:spPr>
          <a:xfrm xmlns:a="http://schemas.openxmlformats.org/drawingml/2006/main">
            <a:off x="2811414" y="1847088"/>
            <a:ext cx="2043318" cy="329184"/>
          </a:xfrm>
          <a:prstGeom xmlns:a="http://schemas.openxmlformats.org/drawingml/2006/main" prst="rect">
            <a:avLst/>
          </a:prstGeom>
          <a:solidFill xmlns:a="http://schemas.openxmlformats.org/drawingml/2006/main">
            <a:srgbClr val="1F3A5F"/>
          </a:solidFill>
        </p:spPr>
      </p:sp>
      <p:sp>
        <p:nvSpPr>
          <p:cNvPr id="13" name="Shape 10">
            <a:extLst xmlns:a="http://schemas.openxmlformats.org/drawingml/2006/main">
              <a:ext uri="{FF2B5EF4-FFF2-40B4-BE49-F238E27FC236}">
                <a16:creationId xmlns:a16="http://schemas.microsoft.com/office/drawing/2014/main" id="{41D5A9C5-9FE2-4CB6-BDC1-13F1226873BC}"/>
              </a:ext>
            </a:extLst>
          </p:cNvPr>
          <p:cNvSpPr>
            <a:spLocks xmlns:a="http://schemas.openxmlformats.org/drawingml/2006/main" noGrp="1"/>
          </p:cNvSpPr>
          <p:nvPr/>
        </p:nvSpPr>
        <p:spPr>
          <a:xfrm xmlns:a="http://schemas.openxmlformats.org/drawingml/2006/main">
            <a:off x="2957718"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60" name="Image 1"/>
          <p:cNvPicPr>
            <a:picLocks xmlns:a="http://schemas.openxmlformats.org/drawingml/2006/main" noChangeAspect="1"/>
          </p:cNvPicPr>
          <p:nvPr/>
        </p:nvPicPr>
        <p:blipFill>
          <a:blip xmlns:r="http://schemas.openxmlformats.org/officeDocument/2006/relationships" xmlns:a="http://schemas.openxmlformats.org/drawingml/2006/main" r:embed="Rdcd8843435444ce0"/>
          <a:stretch xmlns:a="http://schemas.openxmlformats.org/drawingml/2006/main">
            <a:fillRect l="0" t="0" r="0" b="0"/>
          </a:stretch>
        </p:blipFill>
        <p:spPr>
          <a:xfrm xmlns:a="http://schemas.openxmlformats.org/drawingml/2006/main">
            <a:off x="3052816" y="1759306"/>
            <a:ext cx="175565" cy="175565"/>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F487F2F6-047E-427E-9F28-201699B11722}"/>
              </a:ext>
            </a:extLst>
          </p:cNvPr>
          <p:cNvSpPr>
            <a:spLocks xmlns:a="http://schemas.openxmlformats.org/drawingml/2006/main" noGrp="1"/>
          </p:cNvSpPr>
          <p:nvPr/>
        </p:nvSpPr>
        <p:spPr>
          <a:xfrm xmlns:a="http://schemas.openxmlformats.org/drawingml/2006/main">
            <a:off x="3360054"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Lead Mgmt (LMS)</a:t>
            </a:r>
            <a:endParaRPr sz="1250"/>
          </a:p>
        </p:txBody>
      </p:sp>
      <p:sp>
        <p:nvSpPr>
          <p:cNvPr id="16" name="Shape 12">
            <a:extLst xmlns:a="http://schemas.openxmlformats.org/drawingml/2006/main">
              <a:ext uri="{FF2B5EF4-FFF2-40B4-BE49-F238E27FC236}">
                <a16:creationId xmlns:a16="http://schemas.microsoft.com/office/drawing/2014/main" id="{2425F006-9322-41CA-8387-29EEFEFA647F}"/>
              </a:ext>
            </a:extLst>
          </p:cNvPr>
          <p:cNvSpPr>
            <a:spLocks xmlns:a="http://schemas.openxmlformats.org/drawingml/2006/main" noGrp="1"/>
          </p:cNvSpPr>
          <p:nvPr/>
        </p:nvSpPr>
        <p:spPr>
          <a:xfrm xmlns:a="http://schemas.openxmlformats.org/drawingml/2006/main">
            <a:off x="2811414"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17" name="Text 13">
            <a:extLst xmlns:a="http://schemas.openxmlformats.org/drawingml/2006/main">
              <a:ext uri="{FF2B5EF4-FFF2-40B4-BE49-F238E27FC236}">
                <a16:creationId xmlns:a16="http://schemas.microsoft.com/office/drawing/2014/main" id="{B5E2E6FA-0DC7-4F81-A6D7-6E2ECE6492DF}"/>
              </a:ext>
            </a:extLst>
          </p:cNvPr>
          <p:cNvSpPr>
            <a:spLocks xmlns:a="http://schemas.openxmlformats.org/drawingml/2006/main" noGrp="1"/>
          </p:cNvSpPr>
          <p:nvPr/>
        </p:nvSpPr>
        <p:spPr>
          <a:xfrm xmlns:a="http://schemas.openxmlformats.org/drawingml/2006/main">
            <a:off x="2994294"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Ingestion, dedupe, allocation</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Lifecycle &amp; state machine</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Dispositions &amp; recycling</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Consent &amp; lead ageing</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Channel-wise journeys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Role-based dashboards</a:t>
            </a:r>
            <a:endParaRPr sz="1050"/>
          </a:p>
        </p:txBody>
      </p:sp>
      <p:sp>
        <p:nvSpPr>
          <p:cNvPr id="18" name="Shape 14">
            <a:extLst xmlns:a="http://schemas.openxmlformats.org/drawingml/2006/main">
              <a:ext uri="{FF2B5EF4-FFF2-40B4-BE49-F238E27FC236}">
                <a16:creationId xmlns:a16="http://schemas.microsoft.com/office/drawing/2014/main" id="{137647A0-AFB4-4F38-8E8B-3C52D596F26D}"/>
              </a:ext>
            </a:extLst>
          </p:cNvPr>
          <p:cNvSpPr>
            <a:spLocks xmlns:a="http://schemas.openxmlformats.org/drawingml/2006/main" noGrp="1"/>
          </p:cNvSpPr>
          <p:nvPr/>
        </p:nvSpPr>
        <p:spPr>
          <a:xfrm xmlns:a="http://schemas.openxmlformats.org/drawingml/2006/main">
            <a:off x="5074188" y="1517904"/>
            <a:ext cx="2043318" cy="658368"/>
          </a:xfrm>
          <a:prstGeom xmlns:a="http://schemas.openxmlformats.org/drawingml/2006/main" prst="roundRect">
            <a:avLst>
              <a:gd name="adj" fmla="val 12500"/>
            </a:avLst>
          </a:prstGeom>
          <a:solidFill xmlns:a="http://schemas.openxmlformats.org/drawingml/2006/main">
            <a:srgbClr val="17B3A3"/>
          </a:solidFill>
          <a:effectLst xmlns:a="http://schemas.openxmlformats.org/drawingml/2006/main">
            <a:outerShdw blurRad="88900" dist="25400" dir="5400000" sx="100000" sy="100000" kx="0" ky="0" algn="bl" rotWithShape="0">
              <a:srgbClr val="B4A9A2">
                <a:alpha val="22000"/>
              </a:srgbClr>
            </a:outerShdw>
          </a:effectLst>
        </p:spPr>
      </p:sp>
      <p:sp>
        <p:nvSpPr>
          <p:cNvPr id="19" name="Shape 15">
            <a:extLst xmlns:a="http://schemas.openxmlformats.org/drawingml/2006/main">
              <a:ext uri="{FF2B5EF4-FFF2-40B4-BE49-F238E27FC236}">
                <a16:creationId xmlns:a16="http://schemas.microsoft.com/office/drawing/2014/main" id="{30A0F4D9-E2E8-4C6B-9064-AC62D4ED3899}"/>
              </a:ext>
            </a:extLst>
          </p:cNvPr>
          <p:cNvSpPr>
            <a:spLocks xmlns:a="http://schemas.openxmlformats.org/drawingml/2006/main" noGrp="1"/>
          </p:cNvSpPr>
          <p:nvPr/>
        </p:nvSpPr>
        <p:spPr>
          <a:xfrm xmlns:a="http://schemas.openxmlformats.org/drawingml/2006/main">
            <a:off x="5074188" y="1847088"/>
            <a:ext cx="2043318" cy="329184"/>
          </a:xfrm>
          <a:prstGeom xmlns:a="http://schemas.openxmlformats.org/drawingml/2006/main" prst="rect">
            <a:avLst/>
          </a:prstGeom>
          <a:solidFill xmlns:a="http://schemas.openxmlformats.org/drawingml/2006/main">
            <a:srgbClr val="17B3A3"/>
          </a:solidFill>
        </p:spPr>
      </p:sp>
      <p:sp>
        <p:nvSpPr>
          <p:cNvPr id="20" name="Shape 16">
            <a:extLst xmlns:a="http://schemas.openxmlformats.org/drawingml/2006/main">
              <a:ext uri="{FF2B5EF4-FFF2-40B4-BE49-F238E27FC236}">
                <a16:creationId xmlns:a16="http://schemas.microsoft.com/office/drawing/2014/main" id="{766E37AE-4CE4-4D39-B95A-4ECA1C49CB36}"/>
              </a:ext>
            </a:extLst>
          </p:cNvPr>
          <p:cNvSpPr>
            <a:spLocks xmlns:a="http://schemas.openxmlformats.org/drawingml/2006/main" noGrp="1"/>
          </p:cNvSpPr>
          <p:nvPr/>
        </p:nvSpPr>
        <p:spPr>
          <a:xfrm xmlns:a="http://schemas.openxmlformats.org/drawingml/2006/main">
            <a:off x="5220492"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67" name="Image 2"/>
          <p:cNvPicPr>
            <a:picLocks xmlns:a="http://schemas.openxmlformats.org/drawingml/2006/main" noChangeAspect="1"/>
          </p:cNvPicPr>
          <p:nvPr/>
        </p:nvPicPr>
        <p:blipFill>
          <a:blip xmlns:r="http://schemas.openxmlformats.org/officeDocument/2006/relationships" xmlns:a="http://schemas.openxmlformats.org/drawingml/2006/main" r:embed="R275cd62afeaa41e6"/>
          <a:stretch xmlns:a="http://schemas.openxmlformats.org/drawingml/2006/main">
            <a:fillRect l="0" t="0" r="0" b="0"/>
          </a:stretch>
        </p:blipFill>
        <p:spPr>
          <a:xfrm xmlns:a="http://schemas.openxmlformats.org/drawingml/2006/main">
            <a:off x="5315590" y="1759306"/>
            <a:ext cx="175565" cy="175565"/>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0E696392-A668-4EC8-B867-488CA565D9E0}"/>
              </a:ext>
            </a:extLst>
          </p:cNvPr>
          <p:cNvSpPr>
            <a:spLocks xmlns:a="http://schemas.openxmlformats.org/drawingml/2006/main" noGrp="1"/>
          </p:cNvSpPr>
          <p:nvPr/>
        </p:nvSpPr>
        <p:spPr>
          <a:xfrm xmlns:a="http://schemas.openxmlformats.org/drawingml/2006/main">
            <a:off x="5622828"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Renewal Mgmt</a:t>
            </a:r>
            <a:endParaRPr sz="1250"/>
          </a:p>
        </p:txBody>
      </p:sp>
      <p:sp>
        <p:nvSpPr>
          <p:cNvPr id="23" name="Shape 18">
            <a:extLst xmlns:a="http://schemas.openxmlformats.org/drawingml/2006/main">
              <a:ext uri="{FF2B5EF4-FFF2-40B4-BE49-F238E27FC236}">
                <a16:creationId xmlns:a16="http://schemas.microsoft.com/office/drawing/2014/main" id="{2C0B0CD1-AD1C-48A9-B228-6760684905C4}"/>
              </a:ext>
            </a:extLst>
          </p:cNvPr>
          <p:cNvSpPr>
            <a:spLocks xmlns:a="http://schemas.openxmlformats.org/drawingml/2006/main" noGrp="1"/>
          </p:cNvSpPr>
          <p:nvPr/>
        </p:nvSpPr>
        <p:spPr>
          <a:xfrm xmlns:a="http://schemas.openxmlformats.org/drawingml/2006/main">
            <a:off x="5074188"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24" name="Text 19">
            <a:extLst xmlns:a="http://schemas.openxmlformats.org/drawingml/2006/main">
              <a:ext uri="{FF2B5EF4-FFF2-40B4-BE49-F238E27FC236}">
                <a16:creationId xmlns:a16="http://schemas.microsoft.com/office/drawing/2014/main" id="{5B184D78-3608-4EB5-8295-813CAE8B3216}"/>
              </a:ext>
            </a:extLst>
          </p:cNvPr>
          <p:cNvSpPr>
            <a:spLocks xmlns:a="http://schemas.openxmlformats.org/drawingml/2006/main" noGrp="1"/>
          </p:cNvSpPr>
          <p:nvPr/>
        </p:nvSpPr>
        <p:spPr>
          <a:xfrm xmlns:a="http://schemas.openxmlformats.org/drawingml/2006/main">
            <a:off x="5257068"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Renewal lead tracking</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Disposition updates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Free-look &amp; grievance</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Admin bulk upload</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Bulk re-assignment</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Campaigns &amp; suppression</a:t>
            </a:r>
            <a:endParaRPr sz="1050"/>
          </a:p>
        </p:txBody>
      </p:sp>
      <p:sp>
        <p:nvSpPr>
          <p:cNvPr id="25" name="Shape 20">
            <a:extLst xmlns:a="http://schemas.openxmlformats.org/drawingml/2006/main">
              <a:ext uri="{FF2B5EF4-FFF2-40B4-BE49-F238E27FC236}">
                <a16:creationId xmlns:a16="http://schemas.microsoft.com/office/drawing/2014/main" id="{30FBB5CE-C241-4575-B219-A6F60D4D741C}"/>
              </a:ext>
            </a:extLst>
          </p:cNvPr>
          <p:cNvSpPr>
            <a:spLocks xmlns:a="http://schemas.openxmlformats.org/drawingml/2006/main" noGrp="1"/>
          </p:cNvSpPr>
          <p:nvPr/>
        </p:nvSpPr>
        <p:spPr>
          <a:xfrm xmlns:a="http://schemas.openxmlformats.org/drawingml/2006/main">
            <a:off x="7336963" y="1517904"/>
            <a:ext cx="2043318" cy="658368"/>
          </a:xfrm>
          <a:prstGeom xmlns:a="http://schemas.openxmlformats.org/drawingml/2006/main" prst="roundRect">
            <a:avLst>
              <a:gd name="adj" fmla="val 12500"/>
            </a:avLst>
          </a:prstGeom>
          <a:solidFill xmlns:a="http://schemas.openxmlformats.org/drawingml/2006/main">
            <a:srgbClr val="0969FF"/>
          </a:solidFill>
          <a:effectLst xmlns:a="http://schemas.openxmlformats.org/drawingml/2006/main">
            <a:outerShdw blurRad="88900" dist="25400" dir="5400000" sx="100000" sy="100000" kx="0" ky="0" algn="bl" rotWithShape="0">
              <a:srgbClr val="B4A9A2">
                <a:alpha val="22000"/>
              </a:srgbClr>
            </a:outerShdw>
          </a:effectLst>
        </p:spPr>
      </p:sp>
      <p:sp>
        <p:nvSpPr>
          <p:cNvPr id="26" name="Shape 21">
            <a:extLst xmlns:a="http://schemas.openxmlformats.org/drawingml/2006/main">
              <a:ext uri="{FF2B5EF4-FFF2-40B4-BE49-F238E27FC236}">
                <a16:creationId xmlns:a16="http://schemas.microsoft.com/office/drawing/2014/main" id="{F78C07DD-FFB2-4B68-B388-A80587FCAC1B}"/>
              </a:ext>
            </a:extLst>
          </p:cNvPr>
          <p:cNvSpPr>
            <a:spLocks xmlns:a="http://schemas.openxmlformats.org/drawingml/2006/main" noGrp="1"/>
          </p:cNvSpPr>
          <p:nvPr/>
        </p:nvSpPr>
        <p:spPr>
          <a:xfrm xmlns:a="http://schemas.openxmlformats.org/drawingml/2006/main">
            <a:off x="7336963" y="1847088"/>
            <a:ext cx="2043318" cy="329184"/>
          </a:xfrm>
          <a:prstGeom xmlns:a="http://schemas.openxmlformats.org/drawingml/2006/main" prst="rect">
            <a:avLst/>
          </a:prstGeom>
          <a:solidFill xmlns:a="http://schemas.openxmlformats.org/drawingml/2006/main">
            <a:srgbClr val="0969FF"/>
          </a:solidFill>
        </p:spPr>
      </p:sp>
      <p:sp>
        <p:nvSpPr>
          <p:cNvPr id="27" name="Shape 22">
            <a:extLst xmlns:a="http://schemas.openxmlformats.org/drawingml/2006/main">
              <a:ext uri="{FF2B5EF4-FFF2-40B4-BE49-F238E27FC236}">
                <a16:creationId xmlns:a16="http://schemas.microsoft.com/office/drawing/2014/main" id="{8D7E1196-338F-42F1-A0EA-D3522C09ED8B}"/>
              </a:ext>
            </a:extLst>
          </p:cNvPr>
          <p:cNvSpPr>
            <a:spLocks xmlns:a="http://schemas.openxmlformats.org/drawingml/2006/main" noGrp="1"/>
          </p:cNvSpPr>
          <p:nvPr/>
        </p:nvSpPr>
        <p:spPr>
          <a:xfrm xmlns:a="http://schemas.openxmlformats.org/drawingml/2006/main">
            <a:off x="7483267"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74" name="Image 3"/>
          <p:cNvPicPr>
            <a:picLocks xmlns:a="http://schemas.openxmlformats.org/drawingml/2006/main" noChangeAspect="1"/>
          </p:cNvPicPr>
          <p:nvPr/>
        </p:nvPicPr>
        <p:blipFill>
          <a:blip xmlns:r="http://schemas.openxmlformats.org/officeDocument/2006/relationships" xmlns:a="http://schemas.openxmlformats.org/drawingml/2006/main" r:embed="R3182ca3da4254690"/>
          <a:stretch xmlns:a="http://schemas.openxmlformats.org/drawingml/2006/main">
            <a:fillRect l="0" t="0" r="0" b="0"/>
          </a:stretch>
        </p:blipFill>
        <p:spPr>
          <a:xfrm xmlns:a="http://schemas.openxmlformats.org/drawingml/2006/main">
            <a:off x="7578364" y="1759306"/>
            <a:ext cx="175565" cy="175565"/>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99C2CA49-6EC4-4141-AF44-B5FF8C1D38CC}"/>
              </a:ext>
            </a:extLst>
          </p:cNvPr>
          <p:cNvSpPr>
            <a:spLocks xmlns:a="http://schemas.openxmlformats.org/drawingml/2006/main" noGrp="1"/>
          </p:cNvSpPr>
          <p:nvPr/>
        </p:nvSpPr>
        <p:spPr>
          <a:xfrm xmlns:a="http://schemas.openxmlformats.org/drawingml/2006/main">
            <a:off x="7885603"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Integrations</a:t>
            </a:r>
            <a:endParaRPr sz="1250"/>
          </a:p>
        </p:txBody>
      </p:sp>
      <p:sp>
        <p:nvSpPr>
          <p:cNvPr id="30" name="Shape 24">
            <a:extLst xmlns:a="http://schemas.openxmlformats.org/drawingml/2006/main">
              <a:ext uri="{FF2B5EF4-FFF2-40B4-BE49-F238E27FC236}">
                <a16:creationId xmlns:a16="http://schemas.microsoft.com/office/drawing/2014/main" id="{B743C18D-A320-477E-A1BE-5E64BE4675AE}"/>
              </a:ext>
            </a:extLst>
          </p:cNvPr>
          <p:cNvSpPr>
            <a:spLocks xmlns:a="http://schemas.openxmlformats.org/drawingml/2006/main" noGrp="1"/>
          </p:cNvSpPr>
          <p:nvPr/>
        </p:nvSpPr>
        <p:spPr>
          <a:xfrm xmlns:a="http://schemas.openxmlformats.org/drawingml/2006/main">
            <a:off x="7336963"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31" name="Text 25">
            <a:extLst xmlns:a="http://schemas.openxmlformats.org/drawingml/2006/main">
              <a:ext uri="{FF2B5EF4-FFF2-40B4-BE49-F238E27FC236}">
                <a16:creationId xmlns:a16="http://schemas.microsoft.com/office/drawing/2014/main" id="{C4A66B15-8087-4A56-8586-E289C434CF13}"/>
              </a:ext>
            </a:extLst>
          </p:cNvPr>
          <p:cNvSpPr>
            <a:spLocks xmlns:a="http://schemas.openxmlformats.org/drawingml/2006/main" noGrp="1"/>
          </p:cNvSpPr>
          <p:nvPr/>
        </p:nvSpPr>
        <p:spPr>
          <a:xfrm xmlns:a="http://schemas.openxmlformats.org/drawingml/2006/main">
            <a:off x="7519843"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SSO &amp; mSpace services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CRM / mSales / mSmart</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mPro / mQuote / SharpSell</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Dialer &amp; notification gateways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Data lake / BI &amp; MDM</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REST / GraphQL &amp; queues</a:t>
            </a:r>
            <a:endParaRPr sz="1050"/>
          </a:p>
        </p:txBody>
      </p:sp>
      <p:sp>
        <p:nvSpPr>
          <p:cNvPr id="32" name="Shape 26">
            <a:extLst xmlns:a="http://schemas.openxmlformats.org/drawingml/2006/main">
              <a:ext uri="{FF2B5EF4-FFF2-40B4-BE49-F238E27FC236}">
                <a16:creationId xmlns:a16="http://schemas.microsoft.com/office/drawing/2014/main" id="{24D688DA-70CF-4167-BF09-4D278BF4A182}"/>
              </a:ext>
            </a:extLst>
          </p:cNvPr>
          <p:cNvSpPr>
            <a:spLocks xmlns:a="http://schemas.openxmlformats.org/drawingml/2006/main" noGrp="1"/>
          </p:cNvSpPr>
          <p:nvPr/>
        </p:nvSpPr>
        <p:spPr>
          <a:xfrm xmlns:a="http://schemas.openxmlformats.org/drawingml/2006/main">
            <a:off x="9599737" y="1517904"/>
            <a:ext cx="2043318" cy="658368"/>
          </a:xfrm>
          <a:prstGeom xmlns:a="http://schemas.openxmlformats.org/drawingml/2006/main" prst="roundRect">
            <a:avLst>
              <a:gd name="adj" fmla="val 12500"/>
            </a:avLst>
          </a:prstGeom>
          <a:solidFill xmlns:a="http://schemas.openxmlformats.org/drawingml/2006/main">
            <a:srgbClr val="595959"/>
          </a:solidFill>
          <a:effectLst xmlns:a="http://schemas.openxmlformats.org/drawingml/2006/main">
            <a:outerShdw blurRad="88900" dist="25400" dir="5400000" sx="100000" sy="100000" kx="0" ky="0" algn="bl" rotWithShape="0">
              <a:srgbClr val="B4A9A2">
                <a:alpha val="22000"/>
              </a:srgbClr>
            </a:outerShdw>
          </a:effectLst>
        </p:spPr>
      </p:sp>
      <p:sp>
        <p:nvSpPr>
          <p:cNvPr id="33" name="Shape 27">
            <a:extLst xmlns:a="http://schemas.openxmlformats.org/drawingml/2006/main">
              <a:ext uri="{FF2B5EF4-FFF2-40B4-BE49-F238E27FC236}">
                <a16:creationId xmlns:a16="http://schemas.microsoft.com/office/drawing/2014/main" id="{7F23A9D0-9E19-475C-95A2-E31B4CD04F1C}"/>
              </a:ext>
            </a:extLst>
          </p:cNvPr>
          <p:cNvSpPr>
            <a:spLocks xmlns:a="http://schemas.openxmlformats.org/drawingml/2006/main" noGrp="1"/>
          </p:cNvSpPr>
          <p:nvPr/>
        </p:nvSpPr>
        <p:spPr>
          <a:xfrm xmlns:a="http://schemas.openxmlformats.org/drawingml/2006/main">
            <a:off x="9599737" y="1847088"/>
            <a:ext cx="2043318" cy="329184"/>
          </a:xfrm>
          <a:prstGeom xmlns:a="http://schemas.openxmlformats.org/drawingml/2006/main" prst="rect">
            <a:avLst/>
          </a:prstGeom>
          <a:solidFill xmlns:a="http://schemas.openxmlformats.org/drawingml/2006/main">
            <a:srgbClr val="595959"/>
          </a:solidFill>
        </p:spPr>
      </p:sp>
      <p:sp>
        <p:nvSpPr>
          <p:cNvPr id="34" name="Shape 28">
            <a:extLst xmlns:a="http://schemas.openxmlformats.org/drawingml/2006/main">
              <a:ext uri="{FF2B5EF4-FFF2-40B4-BE49-F238E27FC236}">
                <a16:creationId xmlns:a16="http://schemas.microsoft.com/office/drawing/2014/main" id="{A87E2772-769C-480B-972F-97D8115E28DD}"/>
              </a:ext>
            </a:extLst>
          </p:cNvPr>
          <p:cNvSpPr>
            <a:spLocks xmlns:a="http://schemas.openxmlformats.org/drawingml/2006/main" noGrp="1"/>
          </p:cNvSpPr>
          <p:nvPr/>
        </p:nvSpPr>
        <p:spPr>
          <a:xfrm xmlns:a="http://schemas.openxmlformats.org/drawingml/2006/main">
            <a:off x="9746041" y="1664208"/>
            <a:ext cx="365760" cy="36576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957610e3759c433d"/>
          <a:stretch xmlns:a="http://schemas.openxmlformats.org/drawingml/2006/main">
            <a:fillRect l="0" t="0" r="0" b="0"/>
          </a:stretch>
        </p:blipFill>
        <p:spPr>
          <a:xfrm xmlns:a="http://schemas.openxmlformats.org/drawingml/2006/main">
            <a:off x="9841139" y="1759306"/>
            <a:ext cx="175565" cy="175565"/>
          </a:xfrm>
          <a:prstGeom xmlns:a="http://schemas.openxmlformats.org/drawingml/2006/main" prst="rect">
            <a:avLst/>
          </a:prstGeom>
        </p:spPr>
      </p:pic>
      <p:sp>
        <p:nvSpPr>
          <p:cNvPr id="36" name="Text 29">
            <a:extLst xmlns:a="http://schemas.openxmlformats.org/drawingml/2006/main">
              <a:ext uri="{FF2B5EF4-FFF2-40B4-BE49-F238E27FC236}">
                <a16:creationId xmlns:a16="http://schemas.microsoft.com/office/drawing/2014/main" id="{B9EEA8A4-D88C-4D86-8724-B940076E569B}"/>
              </a:ext>
            </a:extLst>
          </p:cNvPr>
          <p:cNvSpPr>
            <a:spLocks xmlns:a="http://schemas.openxmlformats.org/drawingml/2006/main" noGrp="1"/>
          </p:cNvSpPr>
          <p:nvPr/>
        </p:nvSpPr>
        <p:spPr>
          <a:xfrm xmlns:a="http://schemas.openxmlformats.org/drawingml/2006/main">
            <a:off x="10148377" y="1517904"/>
            <a:ext cx="1421526"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Platform &amp; NFR</a:t>
            </a:r>
            <a:endParaRPr sz="1250"/>
          </a:p>
        </p:txBody>
      </p:sp>
      <p:sp>
        <p:nvSpPr>
          <p:cNvPr id="37" name="Shape 30">
            <a:extLst xmlns:a="http://schemas.openxmlformats.org/drawingml/2006/main">
              <a:ext uri="{FF2B5EF4-FFF2-40B4-BE49-F238E27FC236}">
                <a16:creationId xmlns:a16="http://schemas.microsoft.com/office/drawing/2014/main" id="{E8D2809A-3900-432E-A3AB-926CDD3FC4E4}"/>
              </a:ext>
            </a:extLst>
          </p:cNvPr>
          <p:cNvSpPr>
            <a:spLocks xmlns:a="http://schemas.openxmlformats.org/drawingml/2006/main" noGrp="1"/>
          </p:cNvSpPr>
          <p:nvPr/>
        </p:nvSpPr>
        <p:spPr>
          <a:xfrm xmlns:a="http://schemas.openxmlformats.org/drawingml/2006/main">
            <a:off x="9599737" y="2286000"/>
            <a:ext cx="2043318" cy="3566160"/>
          </a:xfrm>
          <a:prstGeom xmlns:a="http://schemas.openxmlformats.org/drawingml/2006/main" prst="roundRect">
            <a:avLst>
              <a:gd name="adj" fmla="val 4923"/>
            </a:avLst>
          </a:prstGeom>
          <a:solidFill xmlns:a="http://schemas.openxmlformats.org/drawingml/2006/main">
            <a:srgbClr val="F7F5F4"/>
          </a:solidFill>
          <a:effectLst xmlns:a="http://schemas.openxmlformats.org/drawingml/2006/main">
            <a:outerShdw blurRad="88900" dist="25400" dir="5400000" sx="100000" sy="100000" kx="0" ky="0" algn="bl" rotWithShape="0">
              <a:srgbClr val="B4A9A2">
                <a:alpha val="22000"/>
              </a:srgbClr>
            </a:outerShdw>
          </a:effectLst>
        </p:spPr>
      </p:sp>
      <p:sp>
        <p:nvSpPr>
          <p:cNvPr id="38" name="Text 31">
            <a:extLst xmlns:a="http://schemas.openxmlformats.org/drawingml/2006/main">
              <a:ext uri="{FF2B5EF4-FFF2-40B4-BE49-F238E27FC236}">
                <a16:creationId xmlns:a16="http://schemas.microsoft.com/office/drawing/2014/main" id="{0D7105DE-AA4D-4E16-B5E0-0192196CEBB8}"/>
              </a:ext>
            </a:extLst>
          </p:cNvPr>
          <p:cNvSpPr>
            <a:spLocks xmlns:a="http://schemas.openxmlformats.org/drawingml/2006/main" noGrp="1"/>
          </p:cNvSpPr>
          <p:nvPr/>
        </p:nvSpPr>
        <p:spPr>
          <a:xfrm xmlns:a="http://schemas.openxmlformats.org/drawingml/2006/main">
            <a:off x="9782617" y="2432304"/>
            <a:ext cx="1695846" cy="32918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700"/>
              </a:spcAft>
              <a:buSzPct val="100000"/>
              <a:buChar char="•"/>
            </a:pPr>
            <a:r>
              <a:rPr sz="1050">
                <a:solidFill>
                  <a:srgbClr val="2A231F"/>
                </a:solidFill>
                <a:latin typeface="Calibri"/>
                <a:ea typeface="Calibri"/>
                <a:cs typeface="Calibri"/>
              </a:rPr>
              <a:t>Admin console &amp; RBAC/ABAC</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Reporting layer &amp; exports</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Env setup, CI/CD, observability</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Security hardening &amp; VAPT</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Testing (SIT/perf/security)</a:t>
            </a:r>
            <a:endParaRPr sz="1050"/>
          </a:p>
          <a:p xmlns:a="http://schemas.openxmlformats.org/drawingml/2006/main">
            <a:pPr marL="152400" indent="-152400">
              <a:spcAft>
                <a:spcPts val="700"/>
              </a:spcAft>
              <a:buSzPct val="100000"/>
              <a:buChar char="•"/>
            </a:pPr>
            <a:r>
              <a:rPr sz="1050">
                <a:solidFill>
                  <a:srgbClr val="2A231F"/>
                </a:solidFill>
                <a:latin typeface="Calibri"/>
                <a:ea typeface="Calibri"/>
                <a:cs typeface="Calibri"/>
              </a:rPr>
              <a:t>Docs, training &amp; hypercare</a:t>
            </a:r>
            <a:endParaRPr sz="1050"/>
          </a:p>
        </p:txBody>
      </p:sp>
      <p:sp>
        <p:nvSpPr>
          <p:cNvPr id="39" name="Shape 32">
            <a:extLst xmlns:a="http://schemas.openxmlformats.org/drawingml/2006/main">
              <a:ext uri="{FF2B5EF4-FFF2-40B4-BE49-F238E27FC236}">
                <a16:creationId xmlns:a16="http://schemas.microsoft.com/office/drawing/2014/main" id="{F152BB7A-1B8E-466B-A66E-7E97EFB64C3C}"/>
              </a:ext>
            </a:extLst>
          </p:cNvPr>
          <p:cNvSpPr>
            <a:spLocks xmlns:a="http://schemas.openxmlformats.org/drawingml/2006/main" noGrp="1"/>
          </p:cNvSpPr>
          <p:nvPr/>
        </p:nvSpPr>
        <p:spPr>
          <a:xfrm xmlns:a="http://schemas.openxmlformats.org/drawingml/2006/main">
            <a:off x="548640" y="5742432"/>
            <a:ext cx="11094415" cy="603504"/>
          </a:xfrm>
          <a:prstGeom xmlns:a="http://schemas.openxmlformats.org/drawingml/2006/main" prst="roundRect">
            <a:avLst>
              <a:gd name="adj" fmla="val 16667"/>
            </a:avLst>
          </a:prstGeom>
          <a:solidFill xmlns:a="http://schemas.openxmlformats.org/drawingml/2006/main">
            <a:srgbClr val="FBEFEF"/>
          </a:solidFill>
          <a:ln xmlns:a="http://schemas.openxmlformats.org/drawingml/2006/main" w="12700">
            <a:solidFill>
              <a:srgbClr val="EBC9C9"/>
            </a:solidFill>
            <a:prstDash val="solid"/>
          </a:ln>
        </p:spPr>
      </p:sp>
      <p:sp>
        <p:nvSpPr>
          <p:cNvPr id="40" name="Text 33">
            <a:extLst xmlns:a="http://schemas.openxmlformats.org/drawingml/2006/main">
              <a:ext uri="{FF2B5EF4-FFF2-40B4-BE49-F238E27FC236}">
                <a16:creationId xmlns:a16="http://schemas.microsoft.com/office/drawing/2014/main" id="{CDBA4FBF-32E9-4F62-AC1D-AD6A9C88F6E3}"/>
              </a:ext>
            </a:extLst>
          </p:cNvPr>
          <p:cNvSpPr>
            <a:spLocks xmlns:a="http://schemas.openxmlformats.org/drawingml/2006/main" noGrp="1"/>
          </p:cNvSpPr>
          <p:nvPr/>
        </p:nvSpPr>
        <p:spPr>
          <a:xfrm xmlns:a="http://schemas.openxmlformats.org/drawingml/2006/main">
            <a:off x="768096" y="5742432"/>
            <a:ext cx="10728655"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C0392B"/>
                </a:solidFill>
                <a:latin typeface="Poppins"/>
                <a:ea typeface="Poppins"/>
                <a:cs typeface="Poppins"/>
              </a:rPr>
              <a:t>OUT OF SCOPE:  </a:t>
            </a:r>
            <a:r>
              <a:rPr sz="1100">
                <a:solidFill>
                  <a:srgbClr val="2A231F"/>
                </a:solidFill>
                <a:latin typeface="Calibri"/>
                <a:ea typeface="Calibri"/>
                <a:cs typeface="Calibri"/>
              </a:rPr>
              <a:t>Super App container development (MLI)  ·  OTP aggregator &amp; CRM licence procurement  ·  Data-warehouse build (beyond integration)  ·  Email / WhatsApp BSP procurement</a:t>
            </a:r>
            <a:endParaRPr sz="1100"/>
          </a:p>
        </p:txBody>
      </p:sp>
      <p:sp>
        <p:nvSpPr>
          <p:cNvPr id="41" name="Text 34">
            <a:extLst xmlns:a="http://schemas.openxmlformats.org/drawingml/2006/main">
              <a:ext uri="{FF2B5EF4-FFF2-40B4-BE49-F238E27FC236}">
                <a16:creationId xmlns:a16="http://schemas.microsoft.com/office/drawing/2014/main" id="{16658C0B-7BA9-4D39-ACE2-7AFD62145BA3}"/>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42" name="Text 35">
            <a:extLst xmlns:a="http://schemas.openxmlformats.org/drawingml/2006/main">
              <a:ext uri="{FF2B5EF4-FFF2-40B4-BE49-F238E27FC236}">
                <a16:creationId xmlns:a16="http://schemas.microsoft.com/office/drawing/2014/main" id="{ABEA54BA-F914-4F86-A8E0-29B8F7020F8E}"/>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05</a:t>
            </a:r>
            <a:endParaRPr sz="900"/>
          </a:p>
        </p:txBody>
      </p:sp>
    </p:spTree>
    <p:extLst>
      <p:ext uri="{BB962C8B-B14F-4D97-AF65-F5344CB8AC3E}">
        <p14:creationId xmlns:p14="http://schemas.microsoft.com/office/powerpoint/2010/main" val="197301674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E4598F-F35C-4924-93D0-1A0712DB7D4D}"/>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SCOPE · DEEP-DIVE</a:t>
            </a:r>
            <a:endParaRPr sz="1200"/>
          </a:p>
        </p:txBody>
      </p:sp>
      <p:sp>
        <p:nvSpPr>
          <p:cNvPr id="3" name="Text 1">
            <a:extLst xmlns:a="http://schemas.openxmlformats.org/drawingml/2006/main">
              <a:ext uri="{FF2B5EF4-FFF2-40B4-BE49-F238E27FC236}">
                <a16:creationId xmlns:a16="http://schemas.microsoft.com/office/drawing/2014/main" id="{397163F9-0FA0-4B62-9182-535B9C1E657A}"/>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Activity Management System (AMS)</a:t>
            </a:r>
            <a:endParaRPr sz="3000"/>
          </a:p>
        </p:txBody>
      </p:sp>
      <p:sp>
        <p:nvSpPr>
          <p:cNvPr id="4" name="Text 2">
            <a:extLst xmlns:a="http://schemas.openxmlformats.org/drawingml/2006/main">
              <a:ext uri="{FF2B5EF4-FFF2-40B4-BE49-F238E27FC236}">
                <a16:creationId xmlns:a16="http://schemas.microsoft.com/office/drawing/2014/main" id="{2DC814F8-29B3-401A-97EE-A49D122F0DDB}"/>
              </a:ext>
            </a:extLst>
          </p:cNvPr>
          <p:cNvSpPr>
            <a:spLocks xmlns:a="http://schemas.openxmlformats.org/drawingml/2006/main" noGrp="1"/>
          </p:cNvSpPr>
          <p:nvPr/>
        </p:nvSpPr>
        <p:spPr>
          <a:xfrm xmlns:a="http://schemas.openxmlformats.org/drawingml/2006/main">
            <a:off x="548640" y="1353312"/>
            <a:ext cx="11094415" cy="329184"/>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95959"/>
                </a:solidFill>
                <a:latin typeface="Calibri"/>
                <a:ea typeface="Calibri"/>
                <a:cs typeface="Calibri"/>
              </a:rPr>
              <a:t>Backend must be no-code / UI-configurable so new activities and changes ship with minimal development — across the full sales hierarchy and 10+ channels.</a:t>
            </a:r>
            <a:endParaRPr sz="1200"/>
          </a:p>
        </p:txBody>
      </p:sp>
      <p:sp>
        <p:nvSpPr>
          <p:cNvPr id="5" name="Shape 3">
            <a:extLst xmlns:a="http://schemas.openxmlformats.org/drawingml/2006/main">
              <a:ext uri="{FF2B5EF4-FFF2-40B4-BE49-F238E27FC236}">
                <a16:creationId xmlns:a16="http://schemas.microsoft.com/office/drawing/2014/main" id="{BF2F2CD1-6C37-4AC0-8F72-38116F228979}"/>
              </a:ext>
            </a:extLst>
          </p:cNvPr>
          <p:cNvSpPr>
            <a:spLocks xmlns:a="http://schemas.openxmlformats.org/drawingml/2006/main" noGrp="1"/>
          </p:cNvSpPr>
          <p:nvPr/>
        </p:nvSpPr>
        <p:spPr>
          <a:xfrm xmlns:a="http://schemas.openxmlformats.org/drawingml/2006/main">
            <a:off x="548640" y="1920240"/>
            <a:ext cx="3515258"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6" name="Shape 4">
            <a:extLst xmlns:a="http://schemas.openxmlformats.org/drawingml/2006/main">
              <a:ext uri="{FF2B5EF4-FFF2-40B4-BE49-F238E27FC236}">
                <a16:creationId xmlns:a16="http://schemas.microsoft.com/office/drawing/2014/main" id="{FE73DF00-F61B-46B6-95A0-1BE97277320C}"/>
              </a:ext>
            </a:extLst>
          </p:cNvPr>
          <p:cNvSpPr>
            <a:spLocks xmlns:a="http://schemas.openxmlformats.org/drawingml/2006/main" noGrp="1"/>
          </p:cNvSpPr>
          <p:nvPr/>
        </p:nvSpPr>
        <p:spPr>
          <a:xfrm xmlns:a="http://schemas.openxmlformats.org/drawingml/2006/main">
            <a:off x="786384" y="2139696"/>
            <a:ext cx="493776" cy="49377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48" name="Image 0"/>
          <p:cNvPicPr>
            <a:picLocks xmlns:a="http://schemas.openxmlformats.org/drawingml/2006/main" noChangeAspect="1"/>
          </p:cNvPicPr>
          <p:nvPr/>
        </p:nvPicPr>
        <p:blipFill>
          <a:blip xmlns:r="http://schemas.openxmlformats.org/officeDocument/2006/relationships" xmlns:a="http://schemas.openxmlformats.org/drawingml/2006/main" r:embed="R1da5e4e324a64c89"/>
          <a:stretch xmlns:a="http://schemas.openxmlformats.org/drawingml/2006/main">
            <a:fillRect l="0" t="0" r="0" b="0"/>
          </a:stretch>
        </p:blipFill>
        <p:spPr>
          <a:xfrm xmlns:a="http://schemas.openxmlformats.org/drawingml/2006/main">
            <a:off x="904890" y="2258202"/>
            <a:ext cx="256764" cy="256764"/>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747C0DA-CCBC-4DAF-B843-0C15CA89302C}"/>
              </a:ext>
            </a:extLst>
          </p:cNvPr>
          <p:cNvSpPr>
            <a:spLocks xmlns:a="http://schemas.openxmlformats.org/drawingml/2006/main" noGrp="1"/>
          </p:cNvSpPr>
          <p:nvPr/>
        </p:nvSpPr>
        <p:spPr>
          <a:xfrm xmlns:a="http://schemas.openxmlformats.org/drawingml/2006/main">
            <a:off x="1426464" y="2139696"/>
            <a:ext cx="245455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62626"/>
                </a:solidFill>
                <a:latin typeface="Poppins"/>
                <a:ea typeface="Poppins"/>
                <a:cs typeface="Poppins"/>
              </a:rPr>
              <a:t>Configurable catalog</a:t>
            </a:r>
            <a:endParaRPr sz="1350"/>
          </a:p>
        </p:txBody>
      </p:sp>
      <p:sp>
        <p:nvSpPr>
          <p:cNvPr id="9" name="Text 6">
            <a:extLst xmlns:a="http://schemas.openxmlformats.org/drawingml/2006/main">
              <a:ext uri="{FF2B5EF4-FFF2-40B4-BE49-F238E27FC236}">
                <a16:creationId xmlns:a16="http://schemas.microsoft.com/office/drawing/2014/main" id="{041A74BD-7304-46AB-BF99-BD1E1C20B67A}"/>
              </a:ext>
            </a:extLst>
          </p:cNvPr>
          <p:cNvSpPr>
            <a:spLocks xmlns:a="http://schemas.openxmlformats.org/drawingml/2006/main" noGrp="1"/>
          </p:cNvSpPr>
          <p:nvPr/>
        </p:nvSpPr>
        <p:spPr>
          <a:xfrm xmlns:a="http://schemas.openxmlformats.org/drawingml/2006/main">
            <a:off x="804672" y="2761488"/>
            <a:ext cx="302148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50">
                <a:solidFill>
                  <a:srgbClr val="595959"/>
                </a:solidFill>
                <a:latin typeface="Calibri"/>
                <a:ea typeface="Calibri"/>
                <a:cs typeface="Calibri"/>
              </a:rPr>
              <a:t>Calls, visits, video, follow-up, PRP meetings, Morning/Daily Energizers, monthly planning + custom templates for the entire hierarchy.</a:t>
            </a:r>
            <a:endParaRPr sz="1050"/>
          </a:p>
        </p:txBody>
      </p:sp>
      <p:sp>
        <p:nvSpPr>
          <p:cNvPr id="10" name="Shape 7">
            <a:extLst xmlns:a="http://schemas.openxmlformats.org/drawingml/2006/main">
              <a:ext uri="{FF2B5EF4-FFF2-40B4-BE49-F238E27FC236}">
                <a16:creationId xmlns:a16="http://schemas.microsoft.com/office/drawing/2014/main" id="{C091742A-ADE9-4F68-BFE5-25C0356945A1}"/>
              </a:ext>
            </a:extLst>
          </p:cNvPr>
          <p:cNvSpPr>
            <a:spLocks xmlns:a="http://schemas.openxmlformats.org/drawingml/2006/main" noGrp="1"/>
          </p:cNvSpPr>
          <p:nvPr/>
        </p:nvSpPr>
        <p:spPr>
          <a:xfrm xmlns:a="http://schemas.openxmlformats.org/drawingml/2006/main">
            <a:off x="4338218" y="1920240"/>
            <a:ext cx="3515258"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1" name="Shape 8">
            <a:extLst xmlns:a="http://schemas.openxmlformats.org/drawingml/2006/main">
              <a:ext uri="{FF2B5EF4-FFF2-40B4-BE49-F238E27FC236}">
                <a16:creationId xmlns:a16="http://schemas.microsoft.com/office/drawing/2014/main" id="{4DD682F8-9F07-497A-A85C-5C6BDC6D32CE}"/>
              </a:ext>
            </a:extLst>
          </p:cNvPr>
          <p:cNvSpPr>
            <a:spLocks xmlns:a="http://schemas.openxmlformats.org/drawingml/2006/main" noGrp="1"/>
          </p:cNvSpPr>
          <p:nvPr/>
        </p:nvSpPr>
        <p:spPr>
          <a:xfrm xmlns:a="http://schemas.openxmlformats.org/drawingml/2006/main">
            <a:off x="4575962" y="2139696"/>
            <a:ext cx="493776" cy="49377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3" name="Image 1"/>
          <p:cNvPicPr>
            <a:picLocks xmlns:a="http://schemas.openxmlformats.org/drawingml/2006/main" noChangeAspect="1"/>
          </p:cNvPicPr>
          <p:nvPr/>
        </p:nvPicPr>
        <p:blipFill>
          <a:blip xmlns:r="http://schemas.openxmlformats.org/officeDocument/2006/relationships" xmlns:a="http://schemas.openxmlformats.org/drawingml/2006/main" r:embed="Rd355f56026b0405f"/>
          <a:stretch xmlns:a="http://schemas.openxmlformats.org/drawingml/2006/main">
            <a:fillRect l="0" t="0" r="0" b="0"/>
          </a:stretch>
        </p:blipFill>
        <p:spPr>
          <a:xfrm xmlns:a="http://schemas.openxmlformats.org/drawingml/2006/main">
            <a:off x="4694469" y="2258202"/>
            <a:ext cx="256764" cy="256764"/>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27460248-5B3F-47AF-8C51-3079DF9826E4}"/>
              </a:ext>
            </a:extLst>
          </p:cNvPr>
          <p:cNvSpPr>
            <a:spLocks xmlns:a="http://schemas.openxmlformats.org/drawingml/2006/main" noGrp="1"/>
          </p:cNvSpPr>
          <p:nvPr/>
        </p:nvSpPr>
        <p:spPr>
          <a:xfrm xmlns:a="http://schemas.openxmlformats.org/drawingml/2006/main">
            <a:off x="5216042" y="2139696"/>
            <a:ext cx="245455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62626"/>
                </a:solidFill>
                <a:latin typeface="Poppins"/>
                <a:ea typeface="Poppins"/>
                <a:cs typeface="Poppins"/>
              </a:rPr>
              <a:t>Attributes &amp; lifecycle</a:t>
            </a:r>
            <a:endParaRPr sz="1350"/>
          </a:p>
        </p:txBody>
      </p:sp>
      <p:sp>
        <p:nvSpPr>
          <p:cNvPr id="14" name="Text 10">
            <a:extLst xmlns:a="http://schemas.openxmlformats.org/drawingml/2006/main">
              <a:ext uri="{FF2B5EF4-FFF2-40B4-BE49-F238E27FC236}">
                <a16:creationId xmlns:a16="http://schemas.microsoft.com/office/drawing/2014/main" id="{56009BA4-7045-4B34-802E-835E113AB7EE}"/>
              </a:ext>
            </a:extLst>
          </p:cNvPr>
          <p:cNvSpPr>
            <a:spLocks xmlns:a="http://schemas.openxmlformats.org/drawingml/2006/main" noGrp="1"/>
          </p:cNvSpPr>
          <p:nvPr/>
        </p:nvSpPr>
        <p:spPr>
          <a:xfrm xmlns:a="http://schemas.openxmlformats.org/drawingml/2006/main">
            <a:off x="4594250" y="2761488"/>
            <a:ext cx="302148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50">
                <a:solidFill>
                  <a:srgbClr val="595959"/>
                </a:solidFill>
                <a:latin typeface="Calibri"/>
                <a:ea typeface="Calibri"/>
                <a:cs typeface="Calibri"/>
              </a:rPr>
              <a:t>Custom fields, mandatory/optional, dropdowns (100+ values); statuses (planned/completed/cancelled/rescheduled) with auto-complete &amp; auto-cancel.</a:t>
            </a:r>
            <a:endParaRPr sz="1050"/>
          </a:p>
        </p:txBody>
      </p:sp>
      <p:sp>
        <p:nvSpPr>
          <p:cNvPr id="15" name="Shape 11">
            <a:extLst xmlns:a="http://schemas.openxmlformats.org/drawingml/2006/main">
              <a:ext uri="{FF2B5EF4-FFF2-40B4-BE49-F238E27FC236}">
                <a16:creationId xmlns:a16="http://schemas.microsoft.com/office/drawing/2014/main" id="{C598201D-58A4-47E5-A14D-A26BD1995F6D}"/>
              </a:ext>
            </a:extLst>
          </p:cNvPr>
          <p:cNvSpPr>
            <a:spLocks xmlns:a="http://schemas.openxmlformats.org/drawingml/2006/main" noGrp="1"/>
          </p:cNvSpPr>
          <p:nvPr/>
        </p:nvSpPr>
        <p:spPr>
          <a:xfrm xmlns:a="http://schemas.openxmlformats.org/drawingml/2006/main">
            <a:off x="8127797" y="1920240"/>
            <a:ext cx="3515258"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6" name="Shape 12">
            <a:extLst xmlns:a="http://schemas.openxmlformats.org/drawingml/2006/main">
              <a:ext uri="{FF2B5EF4-FFF2-40B4-BE49-F238E27FC236}">
                <a16:creationId xmlns:a16="http://schemas.microsoft.com/office/drawing/2014/main" id="{6599951A-1946-4677-9181-457BEACEC2F4}"/>
              </a:ext>
            </a:extLst>
          </p:cNvPr>
          <p:cNvSpPr>
            <a:spLocks xmlns:a="http://schemas.openxmlformats.org/drawingml/2006/main" noGrp="1"/>
          </p:cNvSpPr>
          <p:nvPr/>
        </p:nvSpPr>
        <p:spPr>
          <a:xfrm xmlns:a="http://schemas.openxmlformats.org/drawingml/2006/main">
            <a:off x="8365541" y="2139696"/>
            <a:ext cx="493776" cy="49377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8" name="Image 2"/>
          <p:cNvPicPr>
            <a:picLocks xmlns:a="http://schemas.openxmlformats.org/drawingml/2006/main" noChangeAspect="1"/>
          </p:cNvPicPr>
          <p:nvPr/>
        </p:nvPicPr>
        <p:blipFill>
          <a:blip xmlns:r="http://schemas.openxmlformats.org/officeDocument/2006/relationships" xmlns:a="http://schemas.openxmlformats.org/drawingml/2006/main" r:embed="R2e8f6efb431d4416"/>
          <a:stretch xmlns:a="http://schemas.openxmlformats.org/drawingml/2006/main">
            <a:fillRect l="0" t="0" r="0" b="0"/>
          </a:stretch>
        </p:blipFill>
        <p:spPr>
          <a:xfrm xmlns:a="http://schemas.openxmlformats.org/drawingml/2006/main">
            <a:off x="8484047" y="2258202"/>
            <a:ext cx="256764" cy="256764"/>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141C5A36-9E5D-48F6-AED6-3BF3D9B00B68}"/>
              </a:ext>
            </a:extLst>
          </p:cNvPr>
          <p:cNvSpPr>
            <a:spLocks xmlns:a="http://schemas.openxmlformats.org/drawingml/2006/main" noGrp="1"/>
          </p:cNvSpPr>
          <p:nvPr/>
        </p:nvSpPr>
        <p:spPr>
          <a:xfrm xmlns:a="http://schemas.openxmlformats.org/drawingml/2006/main">
            <a:off x="9005621" y="2139696"/>
            <a:ext cx="245455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62626"/>
                </a:solidFill>
                <a:latin typeface="Poppins"/>
                <a:ea typeface="Poppins"/>
                <a:cs typeface="Poppins"/>
              </a:rPr>
              <a:t>Geo-controls &amp; verification</a:t>
            </a:r>
            <a:endParaRPr sz="1350"/>
          </a:p>
        </p:txBody>
      </p:sp>
      <p:sp>
        <p:nvSpPr>
          <p:cNvPr id="19" name="Text 14">
            <a:extLst xmlns:a="http://schemas.openxmlformats.org/drawingml/2006/main">
              <a:ext uri="{FF2B5EF4-FFF2-40B4-BE49-F238E27FC236}">
                <a16:creationId xmlns:a16="http://schemas.microsoft.com/office/drawing/2014/main" id="{C2637D5A-6B5E-4D68-83A7-B957AC5C5A30}"/>
              </a:ext>
            </a:extLst>
          </p:cNvPr>
          <p:cNvSpPr>
            <a:spLocks xmlns:a="http://schemas.openxmlformats.org/drawingml/2006/main" noGrp="1"/>
          </p:cNvSpPr>
          <p:nvPr/>
        </p:nvSpPr>
        <p:spPr>
          <a:xfrm xmlns:a="http://schemas.openxmlformats.org/drawingml/2006/main">
            <a:off x="8383829" y="2761488"/>
            <a:ext cx="302148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50">
                <a:solidFill>
                  <a:srgbClr val="595959"/>
                </a:solidFill>
                <a:latin typeface="Calibri"/>
                <a:ea typeface="Calibri"/>
                <a:cs typeface="Calibri"/>
              </a:rPr>
              <a:t>Geotagging (mandatory/optional), soft/hard geofencing with configurable radius, spoofing checks, and OTP verification per activity.</a:t>
            </a:r>
            <a:endParaRPr sz="1050"/>
          </a:p>
        </p:txBody>
      </p:sp>
      <p:sp>
        <p:nvSpPr>
          <p:cNvPr id="20" name="Shape 15">
            <a:extLst xmlns:a="http://schemas.openxmlformats.org/drawingml/2006/main">
              <a:ext uri="{FF2B5EF4-FFF2-40B4-BE49-F238E27FC236}">
                <a16:creationId xmlns:a16="http://schemas.microsoft.com/office/drawing/2014/main" id="{5F30C817-08BA-422C-B783-DD50F8AC0F8A}"/>
              </a:ext>
            </a:extLst>
          </p:cNvPr>
          <p:cNvSpPr>
            <a:spLocks xmlns:a="http://schemas.openxmlformats.org/drawingml/2006/main" noGrp="1"/>
          </p:cNvSpPr>
          <p:nvPr/>
        </p:nvSpPr>
        <p:spPr>
          <a:xfrm xmlns:a="http://schemas.openxmlformats.org/drawingml/2006/main">
            <a:off x="548640" y="3941064"/>
            <a:ext cx="3515258"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1" name="Shape 16">
            <a:extLst xmlns:a="http://schemas.openxmlformats.org/drawingml/2006/main">
              <a:ext uri="{FF2B5EF4-FFF2-40B4-BE49-F238E27FC236}">
                <a16:creationId xmlns:a16="http://schemas.microsoft.com/office/drawing/2014/main" id="{648A6BBE-8FDE-43AB-8FF6-B0DD01F41730}"/>
              </a:ext>
            </a:extLst>
          </p:cNvPr>
          <p:cNvSpPr>
            <a:spLocks xmlns:a="http://schemas.openxmlformats.org/drawingml/2006/main" noGrp="1"/>
          </p:cNvSpPr>
          <p:nvPr/>
        </p:nvSpPr>
        <p:spPr>
          <a:xfrm xmlns:a="http://schemas.openxmlformats.org/drawingml/2006/main">
            <a:off x="786384" y="4160520"/>
            <a:ext cx="493776" cy="49377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84a00ce1a3b74b03"/>
          <a:stretch xmlns:a="http://schemas.openxmlformats.org/drawingml/2006/main">
            <a:fillRect l="0" t="0" r="0" b="0"/>
          </a:stretch>
        </p:blipFill>
        <p:spPr>
          <a:xfrm xmlns:a="http://schemas.openxmlformats.org/drawingml/2006/main">
            <a:off x="904890" y="4279026"/>
            <a:ext cx="256764" cy="256764"/>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0B51AE54-1EE6-4908-9FD7-46FB101C6714}"/>
              </a:ext>
            </a:extLst>
          </p:cNvPr>
          <p:cNvSpPr>
            <a:spLocks xmlns:a="http://schemas.openxmlformats.org/drawingml/2006/main" noGrp="1"/>
          </p:cNvSpPr>
          <p:nvPr/>
        </p:nvSpPr>
        <p:spPr>
          <a:xfrm xmlns:a="http://schemas.openxmlformats.org/drawingml/2006/main">
            <a:off x="1426464" y="4160520"/>
            <a:ext cx="245455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62626"/>
                </a:solidFill>
                <a:latin typeface="Poppins"/>
                <a:ea typeface="Poppins"/>
                <a:cs typeface="Poppins"/>
              </a:rPr>
              <a:t>SLAs &amp; automation</a:t>
            </a:r>
            <a:endParaRPr sz="1350"/>
          </a:p>
        </p:txBody>
      </p:sp>
      <p:sp>
        <p:nvSpPr>
          <p:cNvPr id="24" name="Text 18">
            <a:extLst xmlns:a="http://schemas.openxmlformats.org/drawingml/2006/main">
              <a:ext uri="{FF2B5EF4-FFF2-40B4-BE49-F238E27FC236}">
                <a16:creationId xmlns:a16="http://schemas.microsoft.com/office/drawing/2014/main" id="{2EDA25C9-1917-461D-9857-A20F4E302424}"/>
              </a:ext>
            </a:extLst>
          </p:cNvPr>
          <p:cNvSpPr>
            <a:spLocks xmlns:a="http://schemas.openxmlformats.org/drawingml/2006/main" noGrp="1"/>
          </p:cNvSpPr>
          <p:nvPr/>
        </p:nvSpPr>
        <p:spPr>
          <a:xfrm xmlns:a="http://schemas.openxmlformats.org/drawingml/2006/main">
            <a:off x="804672" y="4782312"/>
            <a:ext cx="302148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50">
                <a:solidFill>
                  <a:srgbClr val="595959"/>
                </a:solidFill>
                <a:latin typeface="Calibri"/>
                <a:ea typeface="Calibri"/>
                <a:cs typeface="Calibri"/>
              </a:rPr>
              <a:t>Per-activity SLAs, auto-reminders, auto-escalations, assignment rules (RA-branch, RA–SP mapping) and auto-creation of future activities.</a:t>
            </a:r>
            <a:endParaRPr sz="1050"/>
          </a:p>
        </p:txBody>
      </p:sp>
      <p:sp>
        <p:nvSpPr>
          <p:cNvPr id="25" name="Shape 19">
            <a:extLst xmlns:a="http://schemas.openxmlformats.org/drawingml/2006/main">
              <a:ext uri="{FF2B5EF4-FFF2-40B4-BE49-F238E27FC236}">
                <a16:creationId xmlns:a16="http://schemas.microsoft.com/office/drawing/2014/main" id="{FEFC5F4D-623D-439E-995C-D52A21FB95F2}"/>
              </a:ext>
            </a:extLst>
          </p:cNvPr>
          <p:cNvSpPr>
            <a:spLocks xmlns:a="http://schemas.openxmlformats.org/drawingml/2006/main" noGrp="1"/>
          </p:cNvSpPr>
          <p:nvPr/>
        </p:nvSpPr>
        <p:spPr>
          <a:xfrm xmlns:a="http://schemas.openxmlformats.org/drawingml/2006/main">
            <a:off x="4338218" y="3941064"/>
            <a:ext cx="3515258"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6" name="Shape 20">
            <a:extLst xmlns:a="http://schemas.openxmlformats.org/drawingml/2006/main">
              <a:ext uri="{FF2B5EF4-FFF2-40B4-BE49-F238E27FC236}">
                <a16:creationId xmlns:a16="http://schemas.microsoft.com/office/drawing/2014/main" id="{38F9F17B-C006-4C4C-A0A6-6F9655514EA9}"/>
              </a:ext>
            </a:extLst>
          </p:cNvPr>
          <p:cNvSpPr>
            <a:spLocks xmlns:a="http://schemas.openxmlformats.org/drawingml/2006/main" noGrp="1"/>
          </p:cNvSpPr>
          <p:nvPr/>
        </p:nvSpPr>
        <p:spPr>
          <a:xfrm xmlns:a="http://schemas.openxmlformats.org/drawingml/2006/main">
            <a:off x="4575962" y="4160520"/>
            <a:ext cx="493776" cy="49377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8" name="Image 4"/>
          <p:cNvPicPr>
            <a:picLocks xmlns:a="http://schemas.openxmlformats.org/drawingml/2006/main" noChangeAspect="1"/>
          </p:cNvPicPr>
          <p:nvPr/>
        </p:nvPicPr>
        <p:blipFill>
          <a:blip xmlns:r="http://schemas.openxmlformats.org/officeDocument/2006/relationships" xmlns:a="http://schemas.openxmlformats.org/drawingml/2006/main" r:embed="R81ea7d348e574a34"/>
          <a:stretch xmlns:a="http://schemas.openxmlformats.org/drawingml/2006/main">
            <a:fillRect l="0" t="0" r="0" b="0"/>
          </a:stretch>
        </p:blipFill>
        <p:spPr>
          <a:xfrm xmlns:a="http://schemas.openxmlformats.org/drawingml/2006/main">
            <a:off x="4694469" y="4279026"/>
            <a:ext cx="256764" cy="256764"/>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9173FED9-9E3C-47E7-BE63-9E26AE01D475}"/>
              </a:ext>
            </a:extLst>
          </p:cNvPr>
          <p:cNvSpPr>
            <a:spLocks xmlns:a="http://schemas.openxmlformats.org/drawingml/2006/main" noGrp="1"/>
          </p:cNvSpPr>
          <p:nvPr/>
        </p:nvSpPr>
        <p:spPr>
          <a:xfrm xmlns:a="http://schemas.openxmlformats.org/drawingml/2006/main">
            <a:off x="5216042" y="4160520"/>
            <a:ext cx="245455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62626"/>
                </a:solidFill>
                <a:latin typeface="Poppins"/>
                <a:ea typeface="Poppins"/>
                <a:cs typeface="Poppins"/>
              </a:rPr>
              <a:t>Offline &amp; planner</a:t>
            </a:r>
            <a:endParaRPr sz="1350"/>
          </a:p>
        </p:txBody>
      </p:sp>
      <p:sp>
        <p:nvSpPr>
          <p:cNvPr id="29" name="Text 22">
            <a:extLst xmlns:a="http://schemas.openxmlformats.org/drawingml/2006/main">
              <a:ext uri="{FF2B5EF4-FFF2-40B4-BE49-F238E27FC236}">
                <a16:creationId xmlns:a16="http://schemas.microsoft.com/office/drawing/2014/main" id="{A44FA31D-F617-408F-96A7-2B44B4C629FF}"/>
              </a:ext>
            </a:extLst>
          </p:cNvPr>
          <p:cNvSpPr>
            <a:spLocks xmlns:a="http://schemas.openxmlformats.org/drawingml/2006/main" noGrp="1"/>
          </p:cNvSpPr>
          <p:nvPr/>
        </p:nvSpPr>
        <p:spPr>
          <a:xfrm xmlns:a="http://schemas.openxmlformats.org/drawingml/2006/main">
            <a:off x="4594250" y="4782312"/>
            <a:ext cx="302148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50">
                <a:solidFill>
                  <a:srgbClr val="595959"/>
                </a:solidFill>
                <a:latin typeface="Calibri"/>
                <a:ea typeface="Calibri"/>
                <a:cs typeface="Calibri"/>
              </a:rPr>
              <a:t>Offline-first capture with sync for low-network areas; planner and shared calendars with role-based visibility and auto-scheduling.</a:t>
            </a:r>
            <a:endParaRPr sz="1050"/>
          </a:p>
        </p:txBody>
      </p:sp>
      <p:sp>
        <p:nvSpPr>
          <p:cNvPr id="30" name="Shape 23">
            <a:extLst xmlns:a="http://schemas.openxmlformats.org/drawingml/2006/main">
              <a:ext uri="{FF2B5EF4-FFF2-40B4-BE49-F238E27FC236}">
                <a16:creationId xmlns:a16="http://schemas.microsoft.com/office/drawing/2014/main" id="{61A6A6B3-D96B-4068-87C8-0F0DB6532A34}"/>
              </a:ext>
            </a:extLst>
          </p:cNvPr>
          <p:cNvSpPr>
            <a:spLocks xmlns:a="http://schemas.openxmlformats.org/drawingml/2006/main" noGrp="1"/>
          </p:cNvSpPr>
          <p:nvPr/>
        </p:nvSpPr>
        <p:spPr>
          <a:xfrm xmlns:a="http://schemas.openxmlformats.org/drawingml/2006/main">
            <a:off x="8127797" y="3941064"/>
            <a:ext cx="3515258" cy="1783080"/>
          </a:xfrm>
          <a:prstGeom xmlns:a="http://schemas.openxmlformats.org/drawingml/2006/main" prst="roundRect">
            <a:avLst>
              <a:gd name="adj" fmla="val 564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1" name="Shape 24">
            <a:extLst xmlns:a="http://schemas.openxmlformats.org/drawingml/2006/main">
              <a:ext uri="{FF2B5EF4-FFF2-40B4-BE49-F238E27FC236}">
                <a16:creationId xmlns:a16="http://schemas.microsoft.com/office/drawing/2014/main" id="{BFEE57A8-748C-414F-ADCD-67A89F2140BC}"/>
              </a:ext>
            </a:extLst>
          </p:cNvPr>
          <p:cNvSpPr>
            <a:spLocks xmlns:a="http://schemas.openxmlformats.org/drawingml/2006/main" noGrp="1"/>
          </p:cNvSpPr>
          <p:nvPr/>
        </p:nvSpPr>
        <p:spPr>
          <a:xfrm xmlns:a="http://schemas.openxmlformats.org/drawingml/2006/main">
            <a:off x="8365541" y="4160520"/>
            <a:ext cx="493776" cy="493776"/>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3" name="Image 5"/>
          <p:cNvPicPr>
            <a:picLocks xmlns:a="http://schemas.openxmlformats.org/drawingml/2006/main" noChangeAspect="1"/>
          </p:cNvPicPr>
          <p:nvPr/>
        </p:nvPicPr>
        <p:blipFill>
          <a:blip xmlns:r="http://schemas.openxmlformats.org/officeDocument/2006/relationships" xmlns:a="http://schemas.openxmlformats.org/drawingml/2006/main" r:embed="Rf95fc44ba8ca46c1"/>
          <a:stretch xmlns:a="http://schemas.openxmlformats.org/drawingml/2006/main">
            <a:fillRect l="0" t="0" r="0" b="0"/>
          </a:stretch>
        </p:blipFill>
        <p:spPr>
          <a:xfrm xmlns:a="http://schemas.openxmlformats.org/drawingml/2006/main">
            <a:off x="8484047" y="4279026"/>
            <a:ext cx="256764" cy="256764"/>
          </a:xfrm>
          <a:prstGeom xmlns:a="http://schemas.openxmlformats.org/drawingml/2006/main" prst="rect">
            <a:avLst/>
          </a:prstGeom>
        </p:spPr>
      </p:pic>
      <p:sp>
        <p:nvSpPr>
          <p:cNvPr id="33" name="Text 25">
            <a:extLst xmlns:a="http://schemas.openxmlformats.org/drawingml/2006/main">
              <a:ext uri="{FF2B5EF4-FFF2-40B4-BE49-F238E27FC236}">
                <a16:creationId xmlns:a16="http://schemas.microsoft.com/office/drawing/2014/main" id="{37B1652E-55DF-4722-8B92-67104789BEA1}"/>
              </a:ext>
            </a:extLst>
          </p:cNvPr>
          <p:cNvSpPr>
            <a:spLocks xmlns:a="http://schemas.openxmlformats.org/drawingml/2006/main" noGrp="1"/>
          </p:cNvSpPr>
          <p:nvPr/>
        </p:nvSpPr>
        <p:spPr>
          <a:xfrm xmlns:a="http://schemas.openxmlformats.org/drawingml/2006/main">
            <a:off x="9005621" y="4160520"/>
            <a:ext cx="245455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62626"/>
                </a:solidFill>
                <a:latin typeface="Poppins"/>
                <a:ea typeface="Poppins"/>
                <a:cs typeface="Poppins"/>
              </a:rPr>
              <a:t>Reporting &amp; AI nudges</a:t>
            </a:r>
            <a:endParaRPr sz="1350"/>
          </a:p>
        </p:txBody>
      </p:sp>
      <p:sp>
        <p:nvSpPr>
          <p:cNvPr id="34" name="Text 26">
            <a:extLst xmlns:a="http://schemas.openxmlformats.org/drawingml/2006/main">
              <a:ext uri="{FF2B5EF4-FFF2-40B4-BE49-F238E27FC236}">
                <a16:creationId xmlns:a16="http://schemas.microsoft.com/office/drawing/2014/main" id="{62C9E9E4-92FF-4633-86E2-0B89570BDA95}"/>
              </a:ext>
            </a:extLst>
          </p:cNvPr>
          <p:cNvSpPr>
            <a:spLocks xmlns:a="http://schemas.openxmlformats.org/drawingml/2006/main" noGrp="1"/>
          </p:cNvSpPr>
          <p:nvPr/>
        </p:nvSpPr>
        <p:spPr>
          <a:xfrm xmlns:a="http://schemas.openxmlformats.org/drawingml/2006/main">
            <a:off x="8383829" y="4782312"/>
            <a:ext cx="3021482" cy="8412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2000"/>
              </a:lnSpc>
              <a:buNone/>
            </a:pPr>
            <a:r>
              <a:rPr sz="1050">
                <a:solidFill>
                  <a:srgbClr val="595959"/>
                </a:solidFill>
                <a:latin typeface="Calibri"/>
                <a:ea typeface="Calibri"/>
                <a:cs typeface="Calibri"/>
              </a:rPr>
              <a:t>In-app / web reports, data-lake feed for Sales Navigator, SFTP to BPMA, Zonal/National/Regional web views + AI next-call-to-action nudges.</a:t>
            </a:r>
            <a:endParaRPr sz="1050"/>
          </a:p>
        </p:txBody>
      </p:sp>
      <p:sp>
        <p:nvSpPr>
          <p:cNvPr id="35" name="Text 27">
            <a:extLst xmlns:a="http://schemas.openxmlformats.org/drawingml/2006/main">
              <a:ext uri="{FF2B5EF4-FFF2-40B4-BE49-F238E27FC236}">
                <a16:creationId xmlns:a16="http://schemas.microsoft.com/office/drawing/2014/main" id="{1A9A1C33-B8EF-48C8-834A-F375761C4B03}"/>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36" name="Text 28">
            <a:extLst xmlns:a="http://schemas.openxmlformats.org/drawingml/2006/main">
              <a:ext uri="{FF2B5EF4-FFF2-40B4-BE49-F238E27FC236}">
                <a16:creationId xmlns:a16="http://schemas.microsoft.com/office/drawing/2014/main" id="{F009D8D6-8F10-4811-9D7D-7B0AD8AB050C}"/>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06</a:t>
            </a:r>
            <a:endParaRPr sz="900"/>
          </a:p>
        </p:txBody>
      </p:sp>
    </p:spTree>
    <p:extLst>
      <p:ext uri="{BB962C8B-B14F-4D97-AF65-F5344CB8AC3E}">
        <p14:creationId xmlns:p14="http://schemas.microsoft.com/office/powerpoint/2010/main" val="14182880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D3E9BB-B8A7-46B6-AC4D-9258E066BA5B}"/>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SCOPE · DEEP-DIVE</a:t>
            </a:r>
            <a:endParaRPr sz="1200"/>
          </a:p>
        </p:txBody>
      </p:sp>
      <p:sp>
        <p:nvSpPr>
          <p:cNvPr id="3" name="Text 1">
            <a:extLst xmlns:a="http://schemas.openxmlformats.org/drawingml/2006/main">
              <a:ext uri="{FF2B5EF4-FFF2-40B4-BE49-F238E27FC236}">
                <a16:creationId xmlns:a16="http://schemas.microsoft.com/office/drawing/2014/main" id="{B3CBDC12-7905-4D3A-A606-4D95F4FF3EC6}"/>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Lead &amp; Renewal Management (LMS)</a:t>
            </a:r>
            <a:endParaRPr sz="3000"/>
          </a:p>
        </p:txBody>
      </p:sp>
      <p:sp>
        <p:nvSpPr>
          <p:cNvPr id="4" name="Text 2">
            <a:extLst xmlns:a="http://schemas.openxmlformats.org/drawingml/2006/main">
              <a:ext uri="{FF2B5EF4-FFF2-40B4-BE49-F238E27FC236}">
                <a16:creationId xmlns:a16="http://schemas.microsoft.com/office/drawing/2014/main" id="{58F463C3-2184-4825-BC48-323CB0F600CB}"/>
              </a:ext>
            </a:extLst>
          </p:cNvPr>
          <p:cNvSpPr>
            <a:spLocks xmlns:a="http://schemas.openxmlformats.org/drawingml/2006/main" noGrp="1"/>
          </p:cNvSpPr>
          <p:nvPr/>
        </p:nvSpPr>
        <p:spPr>
          <a:xfrm xmlns:a="http://schemas.openxmlformats.org/drawingml/2006/main">
            <a:off x="548640" y="1371600"/>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1F3A5F"/>
                </a:solidFill>
                <a:latin typeface="Poppins"/>
                <a:ea typeface="Poppins"/>
                <a:cs typeface="Poppins"/>
              </a:rPr>
              <a:t>CONFIGURABLE LEAD LIFECYCLE  —  NO-CODE STATE MACHINE</a:t>
            </a:r>
            <a:endParaRPr sz="1100"/>
          </a:p>
        </p:txBody>
      </p:sp>
      <p:sp>
        <p:nvSpPr>
          <p:cNvPr id="5" name="Shape 3">
            <a:extLst xmlns:a="http://schemas.openxmlformats.org/drawingml/2006/main">
              <a:ext uri="{FF2B5EF4-FFF2-40B4-BE49-F238E27FC236}">
                <a16:creationId xmlns:a16="http://schemas.microsoft.com/office/drawing/2014/main" id="{CA470627-371B-42D1-B071-57A4F8CCBFFE}"/>
              </a:ext>
            </a:extLst>
          </p:cNvPr>
          <p:cNvSpPr>
            <a:spLocks xmlns:a="http://schemas.openxmlformats.org/drawingml/2006/main" noGrp="1"/>
          </p:cNvSpPr>
          <p:nvPr/>
        </p:nvSpPr>
        <p:spPr>
          <a:xfrm xmlns:a="http://schemas.openxmlformats.org/drawingml/2006/main">
            <a:off x="548640" y="1773936"/>
            <a:ext cx="1529029" cy="914400"/>
          </a:xfrm>
          <a:prstGeom xmlns:a="http://schemas.openxmlformats.org/drawingml/2006/main" prst="roundRect">
            <a:avLst>
              <a:gd name="adj" fmla="val 9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6" name="Text 4">
            <a:extLst xmlns:a="http://schemas.openxmlformats.org/drawingml/2006/main">
              <a:ext uri="{FF2B5EF4-FFF2-40B4-BE49-F238E27FC236}">
                <a16:creationId xmlns:a16="http://schemas.microsoft.com/office/drawing/2014/main" id="{5F1766BF-DA4E-491C-8000-E0476E6C336D}"/>
              </a:ext>
            </a:extLst>
          </p:cNvPr>
          <p:cNvSpPr>
            <a:spLocks xmlns:a="http://schemas.openxmlformats.org/drawingml/2006/main" noGrp="1"/>
          </p:cNvSpPr>
          <p:nvPr/>
        </p:nvSpPr>
        <p:spPr>
          <a:xfrm xmlns:a="http://schemas.openxmlformats.org/drawingml/2006/main">
            <a:off x="658368"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1</a:t>
            </a:r>
            <a:endParaRPr sz="1600"/>
          </a:p>
        </p:txBody>
      </p:sp>
      <p:sp>
        <p:nvSpPr>
          <p:cNvPr id="7" name="Text 5">
            <a:extLst xmlns:a="http://schemas.openxmlformats.org/drawingml/2006/main">
              <a:ext uri="{FF2B5EF4-FFF2-40B4-BE49-F238E27FC236}">
                <a16:creationId xmlns:a16="http://schemas.microsoft.com/office/drawing/2014/main" id="{9DB8970B-881C-4EE8-8040-118950BE1B94}"/>
              </a:ext>
            </a:extLst>
          </p:cNvPr>
          <p:cNvSpPr>
            <a:spLocks xmlns:a="http://schemas.openxmlformats.org/drawingml/2006/main" noGrp="1"/>
          </p:cNvSpPr>
          <p:nvPr/>
        </p:nvSpPr>
        <p:spPr>
          <a:xfrm xmlns:a="http://schemas.openxmlformats.org/drawingml/2006/main">
            <a:off x="640080"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Capture &amp;</a:t>
            </a:r>
            <a:endParaRPr sz="1200"/>
          </a:p>
          <a:p xmlns:a="http://schemas.openxmlformats.org/drawingml/2006/main">
            <a:pPr marL="0" indent="0" algn="ctr">
              <a:buNone/>
            </a:pPr>
            <a:r>
              <a:rPr sz="1200" b="1">
                <a:solidFill>
                  <a:srgbClr val="FFFFFF"/>
                </a:solidFill>
                <a:latin typeface="Poppins"/>
                <a:ea typeface="Poppins"/>
                <a:cs typeface="Poppins"/>
              </a:rPr>
              <a:t>Sources</a:t>
            </a:r>
            <a:endParaRPr sz="1200"/>
          </a:p>
        </p:txBody>
      </p:sp>
      <p:pic>
        <p:nvPicPr>
          <p:cNvPr id="53" name="Image 0"/>
          <p:cNvPicPr>
            <a:picLocks xmlns:a="http://schemas.openxmlformats.org/drawingml/2006/main" noChangeAspect="1"/>
          </p:cNvPicPr>
          <p:nvPr/>
        </p:nvPicPr>
        <p:blipFill>
          <a:blip xmlns:r="http://schemas.openxmlformats.org/officeDocument/2006/relationships" xmlns:a="http://schemas.openxmlformats.org/drawingml/2006/main" r:embed="Rf76d0c88dbf0439f"/>
          <a:stretch xmlns:a="http://schemas.openxmlformats.org/drawingml/2006/main">
            <a:fillRect l="0" t="0" r="0" b="0"/>
          </a:stretch>
        </p:blipFill>
        <p:spPr>
          <a:xfrm xmlns:a="http://schemas.openxmlformats.org/drawingml/2006/main">
            <a:off x="2159965" y="2121408"/>
            <a:ext cx="219456" cy="219456"/>
          </a:xfrm>
          <a:prstGeom xmlns:a="http://schemas.openxmlformats.org/drawingml/2006/main" prst="rect">
            <a:avLst/>
          </a:prstGeom>
        </p:spPr>
      </p:pic>
      <p:sp>
        <p:nvSpPr>
          <p:cNvPr id="9" name="Shape 6">
            <a:extLst xmlns:a="http://schemas.openxmlformats.org/drawingml/2006/main">
              <a:ext uri="{FF2B5EF4-FFF2-40B4-BE49-F238E27FC236}">
                <a16:creationId xmlns:a16="http://schemas.microsoft.com/office/drawing/2014/main" id="{00C1EA5C-C947-49E5-8CB0-5B90AB81A32D}"/>
              </a:ext>
            </a:extLst>
          </p:cNvPr>
          <p:cNvSpPr>
            <a:spLocks xmlns:a="http://schemas.openxmlformats.org/drawingml/2006/main" noGrp="1"/>
          </p:cNvSpPr>
          <p:nvPr/>
        </p:nvSpPr>
        <p:spPr>
          <a:xfrm xmlns:a="http://schemas.openxmlformats.org/drawingml/2006/main">
            <a:off x="2461717" y="1773936"/>
            <a:ext cx="1529029" cy="914400"/>
          </a:xfrm>
          <a:prstGeom xmlns:a="http://schemas.openxmlformats.org/drawingml/2006/main" prst="roundRect">
            <a:avLst>
              <a:gd name="adj" fmla="val 9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10" name="Text 7">
            <a:extLst xmlns:a="http://schemas.openxmlformats.org/drawingml/2006/main">
              <a:ext uri="{FF2B5EF4-FFF2-40B4-BE49-F238E27FC236}">
                <a16:creationId xmlns:a16="http://schemas.microsoft.com/office/drawing/2014/main" id="{F90C9F00-3ADF-4733-9216-05A10A08240C}"/>
              </a:ext>
            </a:extLst>
          </p:cNvPr>
          <p:cNvSpPr>
            <a:spLocks xmlns:a="http://schemas.openxmlformats.org/drawingml/2006/main" noGrp="1"/>
          </p:cNvSpPr>
          <p:nvPr/>
        </p:nvSpPr>
        <p:spPr>
          <a:xfrm xmlns:a="http://schemas.openxmlformats.org/drawingml/2006/main">
            <a:off x="2571445"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2</a:t>
            </a:r>
            <a:endParaRPr sz="1600"/>
          </a:p>
        </p:txBody>
      </p:sp>
      <p:sp>
        <p:nvSpPr>
          <p:cNvPr id="11" name="Text 8">
            <a:extLst xmlns:a="http://schemas.openxmlformats.org/drawingml/2006/main">
              <a:ext uri="{FF2B5EF4-FFF2-40B4-BE49-F238E27FC236}">
                <a16:creationId xmlns:a16="http://schemas.microsoft.com/office/drawing/2014/main" id="{538D9502-C543-4ED3-986F-CE86A35DF4FF}"/>
              </a:ext>
            </a:extLst>
          </p:cNvPr>
          <p:cNvSpPr>
            <a:spLocks xmlns:a="http://schemas.openxmlformats.org/drawingml/2006/main" noGrp="1"/>
          </p:cNvSpPr>
          <p:nvPr/>
        </p:nvSpPr>
        <p:spPr>
          <a:xfrm xmlns:a="http://schemas.openxmlformats.org/drawingml/2006/main">
            <a:off x="2553157"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Dedupe &amp;</a:t>
            </a:r>
            <a:endParaRPr sz="1200"/>
          </a:p>
          <a:p xmlns:a="http://schemas.openxmlformats.org/drawingml/2006/main">
            <a:pPr marL="0" indent="0" algn="ctr">
              <a:buNone/>
            </a:pPr>
            <a:r>
              <a:rPr sz="1200" b="1">
                <a:solidFill>
                  <a:srgbClr val="FFFFFF"/>
                </a:solidFill>
                <a:latin typeface="Poppins"/>
                <a:ea typeface="Poppins"/>
                <a:cs typeface="Poppins"/>
              </a:rPr>
              <a:t>Validate</a:t>
            </a:r>
            <a:endParaRPr sz="1200"/>
          </a:p>
        </p:txBody>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4b78b4fcbe5e4eb7"/>
          <a:stretch xmlns:a="http://schemas.openxmlformats.org/drawingml/2006/main">
            <a:fillRect l="0" t="0" r="0" b="0"/>
          </a:stretch>
        </p:blipFill>
        <p:spPr>
          <a:xfrm xmlns:a="http://schemas.openxmlformats.org/drawingml/2006/main">
            <a:off x="4073042" y="2121408"/>
            <a:ext cx="219456" cy="219456"/>
          </a:xfrm>
          <a:prstGeom xmlns:a="http://schemas.openxmlformats.org/drawingml/2006/main" prst="rect">
            <a:avLst/>
          </a:prstGeom>
        </p:spPr>
      </p:pic>
      <p:sp>
        <p:nvSpPr>
          <p:cNvPr id="13" name="Shape 9">
            <a:extLst xmlns:a="http://schemas.openxmlformats.org/drawingml/2006/main">
              <a:ext uri="{FF2B5EF4-FFF2-40B4-BE49-F238E27FC236}">
                <a16:creationId xmlns:a16="http://schemas.microsoft.com/office/drawing/2014/main" id="{90DDD589-626F-48F9-9FD4-16D70D770461}"/>
              </a:ext>
            </a:extLst>
          </p:cNvPr>
          <p:cNvSpPr>
            <a:spLocks xmlns:a="http://schemas.openxmlformats.org/drawingml/2006/main" noGrp="1"/>
          </p:cNvSpPr>
          <p:nvPr/>
        </p:nvSpPr>
        <p:spPr>
          <a:xfrm xmlns:a="http://schemas.openxmlformats.org/drawingml/2006/main">
            <a:off x="4374794" y="1773936"/>
            <a:ext cx="1529029" cy="914400"/>
          </a:xfrm>
          <a:prstGeom xmlns:a="http://schemas.openxmlformats.org/drawingml/2006/main" prst="roundRect">
            <a:avLst>
              <a:gd name="adj" fmla="val 9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14" name="Text 10">
            <a:extLst xmlns:a="http://schemas.openxmlformats.org/drawingml/2006/main">
              <a:ext uri="{FF2B5EF4-FFF2-40B4-BE49-F238E27FC236}">
                <a16:creationId xmlns:a16="http://schemas.microsoft.com/office/drawing/2014/main" id="{DF8B14FF-2FFA-4385-B062-6C19A9CE2106}"/>
              </a:ext>
            </a:extLst>
          </p:cNvPr>
          <p:cNvSpPr>
            <a:spLocks xmlns:a="http://schemas.openxmlformats.org/drawingml/2006/main" noGrp="1"/>
          </p:cNvSpPr>
          <p:nvPr/>
        </p:nvSpPr>
        <p:spPr>
          <a:xfrm xmlns:a="http://schemas.openxmlformats.org/drawingml/2006/main">
            <a:off x="4484522"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3</a:t>
            </a:r>
            <a:endParaRPr sz="1600"/>
          </a:p>
        </p:txBody>
      </p:sp>
      <p:sp>
        <p:nvSpPr>
          <p:cNvPr id="15" name="Text 11">
            <a:extLst xmlns:a="http://schemas.openxmlformats.org/drawingml/2006/main">
              <a:ext uri="{FF2B5EF4-FFF2-40B4-BE49-F238E27FC236}">
                <a16:creationId xmlns:a16="http://schemas.microsoft.com/office/drawing/2014/main" id="{150F1E8F-8BDF-4F91-BB4A-36E90074A3B6}"/>
              </a:ext>
            </a:extLst>
          </p:cNvPr>
          <p:cNvSpPr>
            <a:spLocks xmlns:a="http://schemas.openxmlformats.org/drawingml/2006/main" noGrp="1"/>
          </p:cNvSpPr>
          <p:nvPr/>
        </p:nvSpPr>
        <p:spPr>
          <a:xfrm xmlns:a="http://schemas.openxmlformats.org/drawingml/2006/main">
            <a:off x="4466234"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Allocation</a:t>
            </a:r>
            <a:endParaRPr sz="1200"/>
          </a:p>
          <a:p xmlns:a="http://schemas.openxmlformats.org/drawingml/2006/main">
            <a:pPr marL="0" indent="0" algn="ctr">
              <a:buNone/>
            </a:pPr>
            <a:r>
              <a:rPr sz="1200" b="1">
                <a:solidFill>
                  <a:srgbClr val="FFFFFF"/>
                </a:solidFill>
                <a:latin typeface="Poppins"/>
                <a:ea typeface="Poppins"/>
                <a:cs typeface="Poppins"/>
              </a:rPr>
              <a:t>&amp; Ownership</a:t>
            </a:r>
            <a:endParaRPr sz="1200"/>
          </a:p>
        </p:txBody>
      </p:sp>
      <p:pic>
        <p:nvPicPr>
          <p:cNvPr id="61" name="Image 2"/>
          <p:cNvPicPr>
            <a:picLocks xmlns:a="http://schemas.openxmlformats.org/drawingml/2006/main" noChangeAspect="1"/>
          </p:cNvPicPr>
          <p:nvPr/>
        </p:nvPicPr>
        <p:blipFill>
          <a:blip xmlns:r="http://schemas.openxmlformats.org/officeDocument/2006/relationships" xmlns:a="http://schemas.openxmlformats.org/drawingml/2006/main" r:embed="R39da24e5de424a8d"/>
          <a:stretch xmlns:a="http://schemas.openxmlformats.org/drawingml/2006/main">
            <a:fillRect l="0" t="0" r="0" b="0"/>
          </a:stretch>
        </p:blipFill>
        <p:spPr>
          <a:xfrm xmlns:a="http://schemas.openxmlformats.org/drawingml/2006/main">
            <a:off x="5986120" y="2121408"/>
            <a:ext cx="219456" cy="219456"/>
          </a:xfrm>
          <a:prstGeom xmlns:a="http://schemas.openxmlformats.org/drawingml/2006/main" prst="rect">
            <a:avLst/>
          </a:prstGeom>
        </p:spPr>
      </p:pic>
      <p:sp>
        <p:nvSpPr>
          <p:cNvPr id="17" name="Shape 12">
            <a:extLst xmlns:a="http://schemas.openxmlformats.org/drawingml/2006/main">
              <a:ext uri="{FF2B5EF4-FFF2-40B4-BE49-F238E27FC236}">
                <a16:creationId xmlns:a16="http://schemas.microsoft.com/office/drawing/2014/main" id="{9EB34584-5A3B-4FB5-BEC3-55AD82D3308E}"/>
              </a:ext>
            </a:extLst>
          </p:cNvPr>
          <p:cNvSpPr>
            <a:spLocks xmlns:a="http://schemas.openxmlformats.org/drawingml/2006/main" noGrp="1"/>
          </p:cNvSpPr>
          <p:nvPr/>
        </p:nvSpPr>
        <p:spPr>
          <a:xfrm xmlns:a="http://schemas.openxmlformats.org/drawingml/2006/main">
            <a:off x="6287872" y="1773936"/>
            <a:ext cx="1529029" cy="914400"/>
          </a:xfrm>
          <a:prstGeom xmlns:a="http://schemas.openxmlformats.org/drawingml/2006/main" prst="roundRect">
            <a:avLst>
              <a:gd name="adj" fmla="val 9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18" name="Text 13">
            <a:extLst xmlns:a="http://schemas.openxmlformats.org/drawingml/2006/main">
              <a:ext uri="{FF2B5EF4-FFF2-40B4-BE49-F238E27FC236}">
                <a16:creationId xmlns:a16="http://schemas.microsoft.com/office/drawing/2014/main" id="{24F480E5-7819-4D94-B9C5-94292344B3AE}"/>
              </a:ext>
            </a:extLst>
          </p:cNvPr>
          <p:cNvSpPr>
            <a:spLocks xmlns:a="http://schemas.openxmlformats.org/drawingml/2006/main" noGrp="1"/>
          </p:cNvSpPr>
          <p:nvPr/>
        </p:nvSpPr>
        <p:spPr>
          <a:xfrm xmlns:a="http://schemas.openxmlformats.org/drawingml/2006/main">
            <a:off x="6397600"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4</a:t>
            </a:r>
            <a:endParaRPr sz="1600"/>
          </a:p>
        </p:txBody>
      </p:sp>
      <p:sp>
        <p:nvSpPr>
          <p:cNvPr id="19" name="Text 14">
            <a:extLst xmlns:a="http://schemas.openxmlformats.org/drawingml/2006/main">
              <a:ext uri="{FF2B5EF4-FFF2-40B4-BE49-F238E27FC236}">
                <a16:creationId xmlns:a16="http://schemas.microsoft.com/office/drawing/2014/main" id="{CC8B29F9-E071-45B8-B7BE-7383EED45D5B}"/>
              </a:ext>
            </a:extLst>
          </p:cNvPr>
          <p:cNvSpPr>
            <a:spLocks xmlns:a="http://schemas.openxmlformats.org/drawingml/2006/main" noGrp="1"/>
          </p:cNvSpPr>
          <p:nvPr/>
        </p:nvSpPr>
        <p:spPr>
          <a:xfrm xmlns:a="http://schemas.openxmlformats.org/drawingml/2006/main">
            <a:off x="6379312"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Journey &amp;</a:t>
            </a:r>
            <a:endParaRPr sz="1200"/>
          </a:p>
          <a:p xmlns:a="http://schemas.openxmlformats.org/drawingml/2006/main">
            <a:pPr marL="0" indent="0" algn="ctr">
              <a:buNone/>
            </a:pPr>
            <a:r>
              <a:rPr sz="1200" b="1">
                <a:solidFill>
                  <a:srgbClr val="FFFFFF"/>
                </a:solidFill>
                <a:latin typeface="Poppins"/>
                <a:ea typeface="Poppins"/>
                <a:cs typeface="Poppins"/>
              </a:rPr>
              <a:t>Disposition</a:t>
            </a:r>
            <a:endParaRPr sz="1200"/>
          </a:p>
        </p:txBody>
      </p:sp>
      <p:pic>
        <p:nvPicPr>
          <p:cNvPr id="65" name="Image 3"/>
          <p:cNvPicPr>
            <a:picLocks xmlns:a="http://schemas.openxmlformats.org/drawingml/2006/main" noChangeAspect="1"/>
          </p:cNvPicPr>
          <p:nvPr/>
        </p:nvPicPr>
        <p:blipFill>
          <a:blip xmlns:r="http://schemas.openxmlformats.org/officeDocument/2006/relationships" xmlns:a="http://schemas.openxmlformats.org/drawingml/2006/main" r:embed="Rebe3fd0481c64d2d"/>
          <a:stretch xmlns:a="http://schemas.openxmlformats.org/drawingml/2006/main">
            <a:fillRect l="0" t="0" r="0" b="0"/>
          </a:stretch>
        </p:blipFill>
        <p:spPr>
          <a:xfrm xmlns:a="http://schemas.openxmlformats.org/drawingml/2006/main">
            <a:off x="7899197" y="2121408"/>
            <a:ext cx="219456" cy="219456"/>
          </a:xfrm>
          <a:prstGeom xmlns:a="http://schemas.openxmlformats.org/drawingml/2006/main" prst="rect">
            <a:avLst/>
          </a:prstGeom>
        </p:spPr>
      </p:pic>
      <p:sp>
        <p:nvSpPr>
          <p:cNvPr id="21" name="Shape 15">
            <a:extLst xmlns:a="http://schemas.openxmlformats.org/drawingml/2006/main">
              <a:ext uri="{FF2B5EF4-FFF2-40B4-BE49-F238E27FC236}">
                <a16:creationId xmlns:a16="http://schemas.microsoft.com/office/drawing/2014/main" id="{B9455BB4-B075-46B0-9C90-5D8E971EAF53}"/>
              </a:ext>
            </a:extLst>
          </p:cNvPr>
          <p:cNvSpPr>
            <a:spLocks xmlns:a="http://schemas.openxmlformats.org/drawingml/2006/main" noGrp="1"/>
          </p:cNvSpPr>
          <p:nvPr/>
        </p:nvSpPr>
        <p:spPr>
          <a:xfrm xmlns:a="http://schemas.openxmlformats.org/drawingml/2006/main">
            <a:off x="8200949" y="1773936"/>
            <a:ext cx="1529029" cy="914400"/>
          </a:xfrm>
          <a:prstGeom xmlns:a="http://schemas.openxmlformats.org/drawingml/2006/main" prst="roundRect">
            <a:avLst>
              <a:gd name="adj" fmla="val 9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22" name="Text 16">
            <a:extLst xmlns:a="http://schemas.openxmlformats.org/drawingml/2006/main">
              <a:ext uri="{FF2B5EF4-FFF2-40B4-BE49-F238E27FC236}">
                <a16:creationId xmlns:a16="http://schemas.microsoft.com/office/drawing/2014/main" id="{F53E22BF-2720-40B9-A0E8-2B94FF2A0B8E}"/>
              </a:ext>
            </a:extLst>
          </p:cNvPr>
          <p:cNvSpPr>
            <a:spLocks xmlns:a="http://schemas.openxmlformats.org/drawingml/2006/main" noGrp="1"/>
          </p:cNvSpPr>
          <p:nvPr/>
        </p:nvSpPr>
        <p:spPr>
          <a:xfrm xmlns:a="http://schemas.openxmlformats.org/drawingml/2006/main">
            <a:off x="8310677"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5</a:t>
            </a:r>
            <a:endParaRPr sz="1600"/>
          </a:p>
        </p:txBody>
      </p:sp>
      <p:sp>
        <p:nvSpPr>
          <p:cNvPr id="23" name="Text 17">
            <a:extLst xmlns:a="http://schemas.openxmlformats.org/drawingml/2006/main">
              <a:ext uri="{FF2B5EF4-FFF2-40B4-BE49-F238E27FC236}">
                <a16:creationId xmlns:a16="http://schemas.microsoft.com/office/drawing/2014/main" id="{44554092-76C9-4E43-82A2-CC253C783157}"/>
              </a:ext>
            </a:extLst>
          </p:cNvPr>
          <p:cNvSpPr>
            <a:spLocks xmlns:a="http://schemas.openxmlformats.org/drawingml/2006/main" noGrp="1"/>
          </p:cNvSpPr>
          <p:nvPr/>
        </p:nvSpPr>
        <p:spPr>
          <a:xfrm xmlns:a="http://schemas.openxmlformats.org/drawingml/2006/main">
            <a:off x="8292389"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Ageing &amp;</a:t>
            </a:r>
            <a:endParaRPr sz="1200"/>
          </a:p>
          <a:p xmlns:a="http://schemas.openxmlformats.org/drawingml/2006/main">
            <a:pPr marL="0" indent="0" algn="ctr">
              <a:buNone/>
            </a:pPr>
            <a:r>
              <a:rPr sz="1200" b="1">
                <a:solidFill>
                  <a:srgbClr val="FFFFFF"/>
                </a:solidFill>
                <a:latin typeface="Poppins"/>
                <a:ea typeface="Poppins"/>
                <a:cs typeface="Poppins"/>
              </a:rPr>
              <a:t>Recycle</a:t>
            </a:r>
            <a:endParaRPr sz="1200"/>
          </a:p>
        </p:txBody>
      </p:sp>
      <p:pic>
        <p:nvPicPr>
          <p:cNvPr id="69" name="Image 4"/>
          <p:cNvPicPr>
            <a:picLocks xmlns:a="http://schemas.openxmlformats.org/drawingml/2006/main" noChangeAspect="1"/>
          </p:cNvPicPr>
          <p:nvPr/>
        </p:nvPicPr>
        <p:blipFill>
          <a:blip xmlns:r="http://schemas.openxmlformats.org/officeDocument/2006/relationships" xmlns:a="http://schemas.openxmlformats.org/drawingml/2006/main" r:embed="R676d4f234eb349ba"/>
          <a:stretch xmlns:a="http://schemas.openxmlformats.org/drawingml/2006/main">
            <a:fillRect l="0" t="0" r="0" b="0"/>
          </a:stretch>
        </p:blipFill>
        <p:spPr>
          <a:xfrm xmlns:a="http://schemas.openxmlformats.org/drawingml/2006/main">
            <a:off x="9812274" y="2121408"/>
            <a:ext cx="219456" cy="219456"/>
          </a:xfrm>
          <a:prstGeom xmlns:a="http://schemas.openxmlformats.org/drawingml/2006/main" prst="rect">
            <a:avLst/>
          </a:prstGeom>
        </p:spPr>
      </p:pic>
      <p:sp>
        <p:nvSpPr>
          <p:cNvPr id="25" name="Shape 18">
            <a:extLst xmlns:a="http://schemas.openxmlformats.org/drawingml/2006/main">
              <a:ext uri="{FF2B5EF4-FFF2-40B4-BE49-F238E27FC236}">
                <a16:creationId xmlns:a16="http://schemas.microsoft.com/office/drawing/2014/main" id="{E60C145B-517F-48A3-8D35-F4691AD57E2F}"/>
              </a:ext>
            </a:extLst>
          </p:cNvPr>
          <p:cNvSpPr>
            <a:spLocks xmlns:a="http://schemas.openxmlformats.org/drawingml/2006/main" noGrp="1"/>
          </p:cNvSpPr>
          <p:nvPr/>
        </p:nvSpPr>
        <p:spPr>
          <a:xfrm xmlns:a="http://schemas.openxmlformats.org/drawingml/2006/main">
            <a:off x="10114026" y="1773936"/>
            <a:ext cx="1529029" cy="914400"/>
          </a:xfrm>
          <a:prstGeom xmlns:a="http://schemas.openxmlformats.org/drawingml/2006/main" prst="roundRect">
            <a:avLst>
              <a:gd name="adj" fmla="val 9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26" name="Text 19">
            <a:extLst xmlns:a="http://schemas.openxmlformats.org/drawingml/2006/main">
              <a:ext uri="{FF2B5EF4-FFF2-40B4-BE49-F238E27FC236}">
                <a16:creationId xmlns:a16="http://schemas.microsoft.com/office/drawing/2014/main" id="{A5B1FDEB-C45C-4837-AD3E-92BC05A1D2EE}"/>
              </a:ext>
            </a:extLst>
          </p:cNvPr>
          <p:cNvSpPr>
            <a:spLocks xmlns:a="http://schemas.openxmlformats.org/drawingml/2006/main" noGrp="1"/>
          </p:cNvSpPr>
          <p:nvPr/>
        </p:nvSpPr>
        <p:spPr>
          <a:xfrm xmlns:a="http://schemas.openxmlformats.org/drawingml/2006/main">
            <a:off x="10223754" y="1865376"/>
            <a:ext cx="3657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FFFFFF">
                    <a:alpha val="75000"/>
                  </a:srgbClr>
                </a:solidFill>
                <a:latin typeface="Poppins"/>
                <a:ea typeface="Poppins"/>
                <a:cs typeface="Poppins"/>
              </a:rPr>
              <a:t>6</a:t>
            </a:r>
            <a:endParaRPr sz="1600"/>
          </a:p>
        </p:txBody>
      </p:sp>
      <p:sp>
        <p:nvSpPr>
          <p:cNvPr id="27" name="Text 20">
            <a:extLst xmlns:a="http://schemas.openxmlformats.org/drawingml/2006/main">
              <a:ext uri="{FF2B5EF4-FFF2-40B4-BE49-F238E27FC236}">
                <a16:creationId xmlns:a16="http://schemas.microsoft.com/office/drawing/2014/main" id="{4ABA3942-ED7A-4786-B77E-6C41EC617C7A}"/>
              </a:ext>
            </a:extLst>
          </p:cNvPr>
          <p:cNvSpPr>
            <a:spLocks xmlns:a="http://schemas.openxmlformats.org/drawingml/2006/main" noGrp="1"/>
          </p:cNvSpPr>
          <p:nvPr/>
        </p:nvSpPr>
        <p:spPr>
          <a:xfrm xmlns:a="http://schemas.openxmlformats.org/drawingml/2006/main">
            <a:off x="10205466" y="2084832"/>
            <a:ext cx="1346149"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Poppins"/>
                <a:ea typeface="Poppins"/>
                <a:cs typeface="Poppins"/>
              </a:rPr>
              <a:t>Consent &amp;</a:t>
            </a:r>
            <a:endParaRPr sz="1200"/>
          </a:p>
          <a:p xmlns:a="http://schemas.openxmlformats.org/drawingml/2006/main">
            <a:pPr marL="0" indent="0" algn="ctr">
              <a:buNone/>
            </a:pPr>
            <a:r>
              <a:rPr sz="1200" b="1">
                <a:solidFill>
                  <a:srgbClr val="FFFFFF"/>
                </a:solidFill>
                <a:latin typeface="Poppins"/>
                <a:ea typeface="Poppins"/>
                <a:cs typeface="Poppins"/>
              </a:rPr>
              <a:t>Closure</a:t>
            </a:r>
            <a:endParaRPr sz="1200"/>
          </a:p>
        </p:txBody>
      </p:sp>
      <p:sp>
        <p:nvSpPr>
          <p:cNvPr id="28" name="Shape 21">
            <a:extLst xmlns:a="http://schemas.openxmlformats.org/drawingml/2006/main">
              <a:ext uri="{FF2B5EF4-FFF2-40B4-BE49-F238E27FC236}">
                <a16:creationId xmlns:a16="http://schemas.microsoft.com/office/drawing/2014/main" id="{D5F8D9D5-B3F2-4297-A292-DA2CA0450F16}"/>
              </a:ext>
            </a:extLst>
          </p:cNvPr>
          <p:cNvSpPr>
            <a:spLocks xmlns:a="http://schemas.openxmlformats.org/drawingml/2006/main" noGrp="1"/>
          </p:cNvSpPr>
          <p:nvPr/>
        </p:nvSpPr>
        <p:spPr>
          <a:xfrm xmlns:a="http://schemas.openxmlformats.org/drawingml/2006/main">
            <a:off x="548640" y="3054096"/>
            <a:ext cx="5391760" cy="2834640"/>
          </a:xfrm>
          <a:prstGeom xmlns:a="http://schemas.openxmlformats.org/drawingml/2006/main" prst="roundRect">
            <a:avLst>
              <a:gd name="adj" fmla="val 3548"/>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9" name="Shape 22">
            <a:extLst xmlns:a="http://schemas.openxmlformats.org/drawingml/2006/main">
              <a:ext uri="{FF2B5EF4-FFF2-40B4-BE49-F238E27FC236}">
                <a16:creationId xmlns:a16="http://schemas.microsoft.com/office/drawing/2014/main" id="{4B401D9E-7E00-4168-9EAF-0B6894B72364}"/>
              </a:ext>
            </a:extLst>
          </p:cNvPr>
          <p:cNvSpPr>
            <a:spLocks xmlns:a="http://schemas.openxmlformats.org/drawingml/2006/main" noGrp="1"/>
          </p:cNvSpPr>
          <p:nvPr/>
        </p:nvSpPr>
        <p:spPr>
          <a:xfrm xmlns:a="http://schemas.openxmlformats.org/drawingml/2006/main">
            <a:off x="804672" y="3291840"/>
            <a:ext cx="457200" cy="457200"/>
          </a:xfrm>
          <a:prstGeom xmlns:a="http://schemas.openxmlformats.org/drawingml/2006/main" prst="roundRect">
            <a:avLst>
              <a:gd name="adj" fmla="val 24000"/>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pic>
        <p:nvPicPr>
          <p:cNvPr id="75" name="Image 5"/>
          <p:cNvPicPr>
            <a:picLocks xmlns:a="http://schemas.openxmlformats.org/drawingml/2006/main" noChangeAspect="1"/>
          </p:cNvPicPr>
          <p:nvPr/>
        </p:nvPicPr>
        <p:blipFill>
          <a:blip xmlns:r="http://schemas.openxmlformats.org/officeDocument/2006/relationships" xmlns:a="http://schemas.openxmlformats.org/drawingml/2006/main" r:embed="R6499c6b2ea0040da"/>
          <a:stretch xmlns:a="http://schemas.openxmlformats.org/drawingml/2006/main">
            <a:fillRect l="0" t="0" r="0" b="0"/>
          </a:stretch>
        </p:blipFill>
        <p:spPr>
          <a:xfrm xmlns:a="http://schemas.openxmlformats.org/drawingml/2006/main">
            <a:off x="914400" y="3401568"/>
            <a:ext cx="237744" cy="237744"/>
          </a:xfrm>
          <a:prstGeom xmlns:a="http://schemas.openxmlformats.org/drawingml/2006/main" prst="rect">
            <a:avLst/>
          </a:prstGeom>
        </p:spPr>
      </p:pic>
      <p:sp>
        <p:nvSpPr>
          <p:cNvPr id="31" name="Text 23">
            <a:extLst xmlns:a="http://schemas.openxmlformats.org/drawingml/2006/main">
              <a:ext uri="{FF2B5EF4-FFF2-40B4-BE49-F238E27FC236}">
                <a16:creationId xmlns:a16="http://schemas.microsoft.com/office/drawing/2014/main" id="{9ECCF4C1-6FCC-4A3D-9D46-278FCC7B96AC}"/>
              </a:ext>
            </a:extLst>
          </p:cNvPr>
          <p:cNvSpPr>
            <a:spLocks xmlns:a="http://schemas.openxmlformats.org/drawingml/2006/main" noGrp="1"/>
          </p:cNvSpPr>
          <p:nvPr/>
        </p:nvSpPr>
        <p:spPr>
          <a:xfrm xmlns:a="http://schemas.openxmlformats.org/drawingml/2006/main">
            <a:off x="1389888" y="3291840"/>
            <a:ext cx="438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LMS — configurable, no-code</a:t>
            </a:r>
            <a:endParaRPr sz="1500"/>
          </a:p>
        </p:txBody>
      </p:sp>
      <p:sp>
        <p:nvSpPr>
          <p:cNvPr id="32" name="Text 24">
            <a:extLst xmlns:a="http://schemas.openxmlformats.org/drawingml/2006/main">
              <a:ext uri="{FF2B5EF4-FFF2-40B4-BE49-F238E27FC236}">
                <a16:creationId xmlns:a16="http://schemas.microsoft.com/office/drawing/2014/main" id="{C0DB0E8C-834F-468B-8636-79ECAC3D34EB}"/>
              </a:ext>
            </a:extLst>
          </p:cNvPr>
          <p:cNvSpPr>
            <a:spLocks xmlns:a="http://schemas.openxmlformats.org/drawingml/2006/main" noGrp="1"/>
          </p:cNvSpPr>
          <p:nvPr/>
        </p:nvSpPr>
        <p:spPr>
          <a:xfrm xmlns:a="http://schemas.openxmlformats.org/drawingml/2006/main">
            <a:off x="822960" y="3840480"/>
            <a:ext cx="4879696"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100">
                <a:solidFill>
                  <a:srgbClr val="2A231F"/>
                </a:solidFill>
                <a:latin typeface="Calibri"/>
                <a:ea typeface="Calibri"/>
                <a:cs typeface="Calibri"/>
              </a:rPr>
              <a:t>Sources (Self, S2S, Referral, Cross-sell, Renewal, Cancellation) enable/disable per channel — no code to add a new source.</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Field &amp; form builder with channel/sub-channel/role visibility; dedupe on Mobile/Email/PAN (hard-block / soft-warn / flag).</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Rule-engine allocation (geo, branch/RA, role) — round-robin, capacity, performance-weighted, manual override with audit.</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Ownership locks &amp; anti-cherry-picking; SLA timers, auto-recycle and closure/drop reason masters per lead type.</a:t>
            </a:r>
            <a:endParaRPr sz="1100"/>
          </a:p>
        </p:txBody>
      </p:sp>
      <p:sp>
        <p:nvSpPr>
          <p:cNvPr id="33" name="Shape 25">
            <a:extLst xmlns:a="http://schemas.openxmlformats.org/drawingml/2006/main">
              <a:ext uri="{FF2B5EF4-FFF2-40B4-BE49-F238E27FC236}">
                <a16:creationId xmlns:a16="http://schemas.microsoft.com/office/drawing/2014/main" id="{0DEFCB00-18A1-4DBB-88C6-3757CF305444}"/>
              </a:ext>
            </a:extLst>
          </p:cNvPr>
          <p:cNvSpPr>
            <a:spLocks xmlns:a="http://schemas.openxmlformats.org/drawingml/2006/main" noGrp="1"/>
          </p:cNvSpPr>
          <p:nvPr/>
        </p:nvSpPr>
        <p:spPr>
          <a:xfrm xmlns:a="http://schemas.openxmlformats.org/drawingml/2006/main">
            <a:off x="6251296" y="3054096"/>
            <a:ext cx="5391760" cy="2834640"/>
          </a:xfrm>
          <a:prstGeom xmlns:a="http://schemas.openxmlformats.org/drawingml/2006/main" prst="roundRect">
            <a:avLst>
              <a:gd name="adj" fmla="val 3548"/>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34" name="Shape 26">
            <a:extLst xmlns:a="http://schemas.openxmlformats.org/drawingml/2006/main">
              <a:ext uri="{FF2B5EF4-FFF2-40B4-BE49-F238E27FC236}">
                <a16:creationId xmlns:a16="http://schemas.microsoft.com/office/drawing/2014/main" id="{232E5874-709E-495B-923E-54599C7FC4EC}"/>
              </a:ext>
            </a:extLst>
          </p:cNvPr>
          <p:cNvSpPr>
            <a:spLocks xmlns:a="http://schemas.openxmlformats.org/drawingml/2006/main" noGrp="1"/>
          </p:cNvSpPr>
          <p:nvPr/>
        </p:nvSpPr>
        <p:spPr>
          <a:xfrm xmlns:a="http://schemas.openxmlformats.org/drawingml/2006/main">
            <a:off x="6507328" y="3291840"/>
            <a:ext cx="457200" cy="457200"/>
          </a:xfrm>
          <a:prstGeom xmlns:a="http://schemas.openxmlformats.org/drawingml/2006/main" prst="roundRect">
            <a:avLst>
              <a:gd name="adj" fmla="val 24000"/>
            </a:avLst>
          </a:prstGeom>
          <a:solidFill xmlns:a="http://schemas.openxmlformats.org/drawingml/2006/main">
            <a:srgbClr val="17B3A3"/>
          </a:solidFill>
          <a:effectLst xmlns:a="http://schemas.openxmlformats.org/drawingml/2006/main">
            <a:outerShdw blurRad="88900" dist="25400" dir="5400000" sx="100000" sy="100000" kx="0" ky="0" algn="bl" rotWithShape="0">
              <a:srgbClr val="B4A9A2">
                <a:alpha val="22000"/>
              </a:srgbClr>
            </a:outerShdw>
          </a:effectLst>
        </p:spPr>
      </p:sp>
      <p:pic>
        <p:nvPicPr>
          <p:cNvPr id="80" name="Image 6"/>
          <p:cNvPicPr>
            <a:picLocks xmlns:a="http://schemas.openxmlformats.org/drawingml/2006/main" noChangeAspect="1"/>
          </p:cNvPicPr>
          <p:nvPr/>
        </p:nvPicPr>
        <p:blipFill>
          <a:blip xmlns:r="http://schemas.openxmlformats.org/officeDocument/2006/relationships" xmlns:a="http://schemas.openxmlformats.org/drawingml/2006/main" r:embed="R640eeda4729247e3"/>
          <a:stretch xmlns:a="http://schemas.openxmlformats.org/drawingml/2006/main">
            <a:fillRect l="0" t="0" r="0" b="0"/>
          </a:stretch>
        </p:blipFill>
        <p:spPr>
          <a:xfrm xmlns:a="http://schemas.openxmlformats.org/drawingml/2006/main">
            <a:off x="6617056" y="3401568"/>
            <a:ext cx="237744" cy="237744"/>
          </a:xfrm>
          <a:prstGeom xmlns:a="http://schemas.openxmlformats.org/drawingml/2006/main" prst="rect">
            <a:avLst/>
          </a:prstGeom>
        </p:spPr>
      </p:pic>
      <p:sp>
        <p:nvSpPr>
          <p:cNvPr id="36" name="Text 27">
            <a:extLst xmlns:a="http://schemas.openxmlformats.org/drawingml/2006/main">
              <a:ext uri="{FF2B5EF4-FFF2-40B4-BE49-F238E27FC236}">
                <a16:creationId xmlns:a16="http://schemas.microsoft.com/office/drawing/2014/main" id="{8E84E0FB-FE79-4920-8636-40439AFF88D9}"/>
              </a:ext>
            </a:extLst>
          </p:cNvPr>
          <p:cNvSpPr>
            <a:spLocks xmlns:a="http://schemas.openxmlformats.org/drawingml/2006/main" noGrp="1"/>
          </p:cNvSpPr>
          <p:nvPr/>
        </p:nvSpPr>
        <p:spPr>
          <a:xfrm xmlns:a="http://schemas.openxmlformats.org/drawingml/2006/main">
            <a:off x="7092544" y="3291840"/>
            <a:ext cx="43859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Poppins"/>
                <a:ea typeface="Poppins"/>
                <a:cs typeface="Poppins"/>
              </a:rPr>
              <a:t>Renewal Management</a:t>
            </a:r>
            <a:endParaRPr sz="1500"/>
          </a:p>
        </p:txBody>
      </p:sp>
      <p:sp>
        <p:nvSpPr>
          <p:cNvPr id="37" name="Text 28">
            <a:extLst xmlns:a="http://schemas.openxmlformats.org/drawingml/2006/main">
              <a:ext uri="{FF2B5EF4-FFF2-40B4-BE49-F238E27FC236}">
                <a16:creationId xmlns:a16="http://schemas.microsoft.com/office/drawing/2014/main" id="{560A2C64-FD29-48CA-B1D0-0373BACA82D9}"/>
              </a:ext>
            </a:extLst>
          </p:cNvPr>
          <p:cNvSpPr>
            <a:spLocks xmlns:a="http://schemas.openxmlformats.org/drawingml/2006/main" noGrp="1"/>
          </p:cNvSpPr>
          <p:nvPr/>
        </p:nvSpPr>
        <p:spPr>
          <a:xfrm xmlns:a="http://schemas.openxmlformats.org/drawingml/2006/main">
            <a:off x="6525616" y="3840480"/>
            <a:ext cx="4879696"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100">
                <a:solidFill>
                  <a:srgbClr val="2A231F"/>
                </a:solidFill>
                <a:latin typeface="Calibri"/>
                <a:ea typeface="Calibri"/>
                <a:cs typeface="Calibri"/>
              </a:rPr>
              <a:t>Track renewal leads &amp; let front-line users update dispositions; free-look and grievance handling built in.</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Admin bulk upload of renewal leads (daily, ~10 named uploaders), bulk re-assignment and status updates via upload.</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Suppression logic (e.g. negative-closure), campaign creation, and standard reports across LMS / mSmart / Renewal.</a:t>
            </a:r>
            <a:endParaRPr sz="1100"/>
          </a:p>
          <a:p xmlns:a="http://schemas.openxmlformats.org/drawingml/2006/main">
            <a:pPr marL="152400" indent="-152400">
              <a:spcAft>
                <a:spcPts val="800"/>
              </a:spcAft>
              <a:buSzPct val="100000"/>
              <a:buChar char="•"/>
            </a:pPr>
            <a:r>
              <a:rPr sz="1100">
                <a:solidFill>
                  <a:srgbClr val="2A231F"/>
                </a:solidFill>
                <a:latin typeface="Calibri"/>
                <a:ea typeface="Calibri"/>
                <a:cs typeface="Calibri"/>
              </a:rPr>
              <a:t>Top-hierarchy filtered views — channel-wise data by module for OH / ZH / Business heads.</a:t>
            </a:r>
            <a:endParaRPr sz="1100"/>
          </a:p>
        </p:txBody>
      </p:sp>
      <p:sp>
        <p:nvSpPr>
          <p:cNvPr id="38" name="Text 29">
            <a:extLst xmlns:a="http://schemas.openxmlformats.org/drawingml/2006/main">
              <a:ext uri="{FF2B5EF4-FFF2-40B4-BE49-F238E27FC236}">
                <a16:creationId xmlns:a16="http://schemas.microsoft.com/office/drawing/2014/main" id="{51B04A83-7F4B-4D05-93BF-6C8BCF5CA48C}"/>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39" name="Text 30">
            <a:extLst xmlns:a="http://schemas.openxmlformats.org/drawingml/2006/main">
              <a:ext uri="{FF2B5EF4-FFF2-40B4-BE49-F238E27FC236}">
                <a16:creationId xmlns:a16="http://schemas.microsoft.com/office/drawing/2014/main" id="{EF40562C-BC3A-41CE-95E3-BEB6509AFC25}"/>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07</a:t>
            </a:r>
            <a:endParaRPr sz="900"/>
          </a:p>
        </p:txBody>
      </p:sp>
    </p:spTree>
    <p:extLst>
      <p:ext uri="{BB962C8B-B14F-4D97-AF65-F5344CB8AC3E}">
        <p14:creationId xmlns:p14="http://schemas.microsoft.com/office/powerpoint/2010/main" val="5353578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EA59A3-F59B-49BD-9013-6819F3152165}"/>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THE CORE THEME</a:t>
            </a:r>
            <a:endParaRPr sz="1200"/>
          </a:p>
        </p:txBody>
      </p:sp>
      <p:sp>
        <p:nvSpPr>
          <p:cNvPr id="3" name="Text 1">
            <a:extLst xmlns:a="http://schemas.openxmlformats.org/drawingml/2006/main">
              <a:ext uri="{FF2B5EF4-FFF2-40B4-BE49-F238E27FC236}">
                <a16:creationId xmlns:a16="http://schemas.microsoft.com/office/drawing/2014/main" id="{215FC646-7527-43A3-91B2-1060A2D2DC0F}"/>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Configure, don’t build — near-zero change requests</a:t>
            </a:r>
            <a:endParaRPr sz="3000"/>
          </a:p>
        </p:txBody>
      </p:sp>
      <p:sp>
        <p:nvSpPr>
          <p:cNvPr id="4" name="Shape 2">
            <a:extLst xmlns:a="http://schemas.openxmlformats.org/drawingml/2006/main">
              <a:ext uri="{FF2B5EF4-FFF2-40B4-BE49-F238E27FC236}">
                <a16:creationId xmlns:a16="http://schemas.microsoft.com/office/drawing/2014/main" id="{62B36966-6041-4185-9D25-E49FDE314C7D}"/>
              </a:ext>
            </a:extLst>
          </p:cNvPr>
          <p:cNvSpPr>
            <a:spLocks xmlns:a="http://schemas.openxmlformats.org/drawingml/2006/main" noGrp="1"/>
          </p:cNvSpPr>
          <p:nvPr/>
        </p:nvSpPr>
        <p:spPr>
          <a:xfrm xmlns:a="http://schemas.openxmlformats.org/drawingml/2006/main">
            <a:off x="548640"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5" name="Shape 3">
            <a:extLst xmlns:a="http://schemas.openxmlformats.org/drawingml/2006/main">
              <a:ext uri="{FF2B5EF4-FFF2-40B4-BE49-F238E27FC236}">
                <a16:creationId xmlns:a16="http://schemas.microsoft.com/office/drawing/2014/main" id="{A8D13875-3CA6-4326-B0CA-DB860FCDA3AE}"/>
              </a:ext>
            </a:extLst>
          </p:cNvPr>
          <p:cNvSpPr>
            <a:spLocks xmlns:a="http://schemas.openxmlformats.org/drawingml/2006/main" noGrp="1"/>
          </p:cNvSpPr>
          <p:nvPr/>
        </p:nvSpPr>
        <p:spPr>
          <a:xfrm xmlns:a="http://schemas.openxmlformats.org/drawingml/2006/main">
            <a:off x="731520"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83" name="Image 0"/>
          <p:cNvPicPr>
            <a:picLocks xmlns:a="http://schemas.openxmlformats.org/drawingml/2006/main" noChangeAspect="1"/>
          </p:cNvPicPr>
          <p:nvPr/>
        </p:nvPicPr>
        <p:blipFill>
          <a:blip xmlns:r="http://schemas.openxmlformats.org/officeDocument/2006/relationships" xmlns:a="http://schemas.openxmlformats.org/drawingml/2006/main" r:embed="R9776e23a2a5648ad"/>
          <a:stretch xmlns:a="http://schemas.openxmlformats.org/drawingml/2006/main">
            <a:fillRect l="0" t="0" r="0" b="0"/>
          </a:stretch>
        </p:blipFill>
        <p:spPr>
          <a:xfrm xmlns:a="http://schemas.openxmlformats.org/drawingml/2006/main">
            <a:off x="845637" y="1833189"/>
            <a:ext cx="210678" cy="210678"/>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C0BE1AC-7177-48AC-8CFD-01094B0B3991}"/>
              </a:ext>
            </a:extLst>
          </p:cNvPr>
          <p:cNvSpPr>
            <a:spLocks xmlns:a="http://schemas.openxmlformats.org/drawingml/2006/main" noGrp="1"/>
          </p:cNvSpPr>
          <p:nvPr/>
        </p:nvSpPr>
        <p:spPr>
          <a:xfrm xmlns:a="http://schemas.openxmlformats.org/drawingml/2006/main">
            <a:off x="1298448"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Lead capture &amp; creation</a:t>
            </a:r>
            <a:endParaRPr sz="1200"/>
          </a:p>
        </p:txBody>
      </p:sp>
      <p:sp>
        <p:nvSpPr>
          <p:cNvPr id="8" name="Shape 5">
            <a:extLst xmlns:a="http://schemas.openxmlformats.org/drawingml/2006/main">
              <a:ext uri="{FF2B5EF4-FFF2-40B4-BE49-F238E27FC236}">
                <a16:creationId xmlns:a16="http://schemas.microsoft.com/office/drawing/2014/main" id="{5264CE64-C435-4D62-838A-BA475E96C90D}"/>
              </a:ext>
            </a:extLst>
          </p:cNvPr>
          <p:cNvSpPr>
            <a:spLocks xmlns:a="http://schemas.openxmlformats.org/drawingml/2006/main" noGrp="1"/>
          </p:cNvSpPr>
          <p:nvPr/>
        </p:nvSpPr>
        <p:spPr>
          <a:xfrm xmlns:a="http://schemas.openxmlformats.org/drawingml/2006/main">
            <a:off x="3381680"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9" name="Shape 6">
            <a:extLst xmlns:a="http://schemas.openxmlformats.org/drawingml/2006/main">
              <a:ext uri="{FF2B5EF4-FFF2-40B4-BE49-F238E27FC236}">
                <a16:creationId xmlns:a16="http://schemas.microsoft.com/office/drawing/2014/main" id="{9C40385D-B2E4-4C94-9822-40A102150395}"/>
              </a:ext>
            </a:extLst>
          </p:cNvPr>
          <p:cNvSpPr>
            <a:spLocks xmlns:a="http://schemas.openxmlformats.org/drawingml/2006/main" noGrp="1"/>
          </p:cNvSpPr>
          <p:nvPr/>
        </p:nvSpPr>
        <p:spPr>
          <a:xfrm xmlns:a="http://schemas.openxmlformats.org/drawingml/2006/main">
            <a:off x="3564560"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87" name="Image 1"/>
          <p:cNvPicPr>
            <a:picLocks xmlns:a="http://schemas.openxmlformats.org/drawingml/2006/main" noChangeAspect="1"/>
          </p:cNvPicPr>
          <p:nvPr/>
        </p:nvPicPr>
        <p:blipFill>
          <a:blip xmlns:r="http://schemas.openxmlformats.org/officeDocument/2006/relationships" xmlns:a="http://schemas.openxmlformats.org/drawingml/2006/main" r:embed="R926a384694f14e14"/>
          <a:stretch xmlns:a="http://schemas.openxmlformats.org/drawingml/2006/main">
            <a:fillRect l="0" t="0" r="0" b="0"/>
          </a:stretch>
        </p:blipFill>
        <p:spPr>
          <a:xfrm xmlns:a="http://schemas.openxmlformats.org/drawingml/2006/main">
            <a:off x="3678677" y="1833189"/>
            <a:ext cx="210678" cy="210678"/>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8492FA93-2458-43EA-998C-C8740D5FE311}"/>
              </a:ext>
            </a:extLst>
          </p:cNvPr>
          <p:cNvSpPr>
            <a:spLocks xmlns:a="http://schemas.openxmlformats.org/drawingml/2006/main" noGrp="1"/>
          </p:cNvSpPr>
          <p:nvPr/>
        </p:nvSpPr>
        <p:spPr>
          <a:xfrm xmlns:a="http://schemas.openxmlformats.org/drawingml/2006/main">
            <a:off x="4131488"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Geo &amp; location controls</a:t>
            </a:r>
            <a:endParaRPr sz="1200"/>
          </a:p>
        </p:txBody>
      </p:sp>
      <p:sp>
        <p:nvSpPr>
          <p:cNvPr id="12" name="Shape 8">
            <a:extLst xmlns:a="http://schemas.openxmlformats.org/drawingml/2006/main">
              <a:ext uri="{FF2B5EF4-FFF2-40B4-BE49-F238E27FC236}">
                <a16:creationId xmlns:a16="http://schemas.microsoft.com/office/drawing/2014/main" id="{63BD5F78-0437-4E25-A32A-8B227FEF80E2}"/>
              </a:ext>
            </a:extLst>
          </p:cNvPr>
          <p:cNvSpPr>
            <a:spLocks xmlns:a="http://schemas.openxmlformats.org/drawingml/2006/main" noGrp="1"/>
          </p:cNvSpPr>
          <p:nvPr/>
        </p:nvSpPr>
        <p:spPr>
          <a:xfrm xmlns:a="http://schemas.openxmlformats.org/drawingml/2006/main">
            <a:off x="6214720"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3" name="Shape 9">
            <a:extLst xmlns:a="http://schemas.openxmlformats.org/drawingml/2006/main">
              <a:ext uri="{FF2B5EF4-FFF2-40B4-BE49-F238E27FC236}">
                <a16:creationId xmlns:a16="http://schemas.microsoft.com/office/drawing/2014/main" id="{075B4F52-394C-4C5E-9716-364F4BB89B67}"/>
              </a:ext>
            </a:extLst>
          </p:cNvPr>
          <p:cNvSpPr>
            <a:spLocks xmlns:a="http://schemas.openxmlformats.org/drawingml/2006/main" noGrp="1"/>
          </p:cNvSpPr>
          <p:nvPr/>
        </p:nvSpPr>
        <p:spPr>
          <a:xfrm xmlns:a="http://schemas.openxmlformats.org/drawingml/2006/main">
            <a:off x="6397600"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1" name="Image 2"/>
          <p:cNvPicPr>
            <a:picLocks xmlns:a="http://schemas.openxmlformats.org/drawingml/2006/main" noChangeAspect="1"/>
          </p:cNvPicPr>
          <p:nvPr/>
        </p:nvPicPr>
        <p:blipFill>
          <a:blip xmlns:r="http://schemas.openxmlformats.org/officeDocument/2006/relationships" xmlns:a="http://schemas.openxmlformats.org/drawingml/2006/main" r:embed="Rfdd7a57124d84cff"/>
          <a:stretch xmlns:a="http://schemas.openxmlformats.org/drawingml/2006/main">
            <a:fillRect l="0" t="0" r="0" b="0"/>
          </a:stretch>
        </p:blipFill>
        <p:spPr>
          <a:xfrm xmlns:a="http://schemas.openxmlformats.org/drawingml/2006/main">
            <a:off x="6511717" y="1833189"/>
            <a:ext cx="210678" cy="210678"/>
          </a:xfrm>
          <a:prstGeom xmlns:a="http://schemas.openxmlformats.org/drawingml/2006/main" prst="rect">
            <a:avLst/>
          </a:prstGeom>
        </p:spPr>
      </p:pic>
      <p:sp>
        <p:nvSpPr>
          <p:cNvPr id="15" name="Text 10">
            <a:extLst xmlns:a="http://schemas.openxmlformats.org/drawingml/2006/main">
              <a:ext uri="{FF2B5EF4-FFF2-40B4-BE49-F238E27FC236}">
                <a16:creationId xmlns:a16="http://schemas.microsoft.com/office/drawing/2014/main" id="{02A3507F-3A43-4161-844D-CD32A13F5AEA}"/>
              </a:ext>
            </a:extLst>
          </p:cNvPr>
          <p:cNvSpPr>
            <a:spLocks xmlns:a="http://schemas.openxmlformats.org/drawingml/2006/main" noGrp="1"/>
          </p:cNvSpPr>
          <p:nvPr/>
        </p:nvSpPr>
        <p:spPr>
          <a:xfrm xmlns:a="http://schemas.openxmlformats.org/drawingml/2006/main">
            <a:off x="6964528"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Activity &amp; task mgmt</a:t>
            </a:r>
            <a:endParaRPr sz="1200"/>
          </a:p>
        </p:txBody>
      </p:sp>
      <p:sp>
        <p:nvSpPr>
          <p:cNvPr id="16" name="Shape 11">
            <a:extLst xmlns:a="http://schemas.openxmlformats.org/drawingml/2006/main">
              <a:ext uri="{FF2B5EF4-FFF2-40B4-BE49-F238E27FC236}">
                <a16:creationId xmlns:a16="http://schemas.microsoft.com/office/drawing/2014/main" id="{C11F1893-5FCF-4A19-B108-D8C1F9575A16}"/>
              </a:ext>
            </a:extLst>
          </p:cNvPr>
          <p:cNvSpPr>
            <a:spLocks xmlns:a="http://schemas.openxmlformats.org/drawingml/2006/main" noGrp="1"/>
          </p:cNvSpPr>
          <p:nvPr/>
        </p:nvSpPr>
        <p:spPr>
          <a:xfrm xmlns:a="http://schemas.openxmlformats.org/drawingml/2006/main">
            <a:off x="9047759" y="1517904"/>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7" name="Shape 12">
            <a:extLst xmlns:a="http://schemas.openxmlformats.org/drawingml/2006/main">
              <a:ext uri="{FF2B5EF4-FFF2-40B4-BE49-F238E27FC236}">
                <a16:creationId xmlns:a16="http://schemas.microsoft.com/office/drawing/2014/main" id="{554D69FE-F5F0-4737-9C3D-1A842AECA5D3}"/>
              </a:ext>
            </a:extLst>
          </p:cNvPr>
          <p:cNvSpPr>
            <a:spLocks xmlns:a="http://schemas.openxmlformats.org/drawingml/2006/main" noGrp="1"/>
          </p:cNvSpPr>
          <p:nvPr/>
        </p:nvSpPr>
        <p:spPr>
          <a:xfrm xmlns:a="http://schemas.openxmlformats.org/drawingml/2006/main">
            <a:off x="9230639" y="1719072"/>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5" name="Image 3"/>
          <p:cNvPicPr>
            <a:picLocks xmlns:a="http://schemas.openxmlformats.org/drawingml/2006/main" noChangeAspect="1"/>
          </p:cNvPicPr>
          <p:nvPr/>
        </p:nvPicPr>
        <p:blipFill>
          <a:blip xmlns:r="http://schemas.openxmlformats.org/officeDocument/2006/relationships" xmlns:a="http://schemas.openxmlformats.org/drawingml/2006/main" r:embed="R5e1e78b338814242"/>
          <a:stretch xmlns:a="http://schemas.openxmlformats.org/drawingml/2006/main">
            <a:fillRect l="0" t="0" r="0" b="0"/>
          </a:stretch>
        </p:blipFill>
        <p:spPr>
          <a:xfrm xmlns:a="http://schemas.openxmlformats.org/drawingml/2006/main">
            <a:off x="9344757" y="1833189"/>
            <a:ext cx="210678" cy="210678"/>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1D13A612-112E-4D79-A7AE-97D16938E975}"/>
              </a:ext>
            </a:extLst>
          </p:cNvPr>
          <p:cNvSpPr>
            <a:spLocks xmlns:a="http://schemas.openxmlformats.org/drawingml/2006/main" noGrp="1"/>
          </p:cNvSpPr>
          <p:nvPr/>
        </p:nvSpPr>
        <p:spPr>
          <a:xfrm xmlns:a="http://schemas.openxmlformats.org/drawingml/2006/main">
            <a:off x="9797567" y="1517904"/>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Workflow &amp; journeys</a:t>
            </a:r>
            <a:endParaRPr sz="1200"/>
          </a:p>
        </p:txBody>
      </p:sp>
      <p:sp>
        <p:nvSpPr>
          <p:cNvPr id="20" name="Shape 14">
            <a:extLst xmlns:a="http://schemas.openxmlformats.org/drawingml/2006/main">
              <a:ext uri="{FF2B5EF4-FFF2-40B4-BE49-F238E27FC236}">
                <a16:creationId xmlns:a16="http://schemas.microsoft.com/office/drawing/2014/main" id="{23B71C80-3148-4AAD-93BC-75C6F829CBBB}"/>
              </a:ext>
            </a:extLst>
          </p:cNvPr>
          <p:cNvSpPr>
            <a:spLocks xmlns:a="http://schemas.openxmlformats.org/drawingml/2006/main" noGrp="1"/>
          </p:cNvSpPr>
          <p:nvPr/>
        </p:nvSpPr>
        <p:spPr>
          <a:xfrm xmlns:a="http://schemas.openxmlformats.org/drawingml/2006/main">
            <a:off x="548640"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1" name="Shape 15">
            <a:extLst xmlns:a="http://schemas.openxmlformats.org/drawingml/2006/main">
              <a:ext uri="{FF2B5EF4-FFF2-40B4-BE49-F238E27FC236}">
                <a16:creationId xmlns:a16="http://schemas.microsoft.com/office/drawing/2014/main" id="{BDE739DE-F80E-4A52-AE6A-B06AD5932F41}"/>
              </a:ext>
            </a:extLst>
          </p:cNvPr>
          <p:cNvSpPr>
            <a:spLocks xmlns:a="http://schemas.openxmlformats.org/drawingml/2006/main" noGrp="1"/>
          </p:cNvSpPr>
          <p:nvPr/>
        </p:nvSpPr>
        <p:spPr>
          <a:xfrm xmlns:a="http://schemas.openxmlformats.org/drawingml/2006/main">
            <a:off x="731520"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99" name="Image 4"/>
          <p:cNvPicPr>
            <a:picLocks xmlns:a="http://schemas.openxmlformats.org/drawingml/2006/main" noChangeAspect="1"/>
          </p:cNvPicPr>
          <p:nvPr/>
        </p:nvPicPr>
        <p:blipFill>
          <a:blip xmlns:r="http://schemas.openxmlformats.org/officeDocument/2006/relationships" xmlns:a="http://schemas.openxmlformats.org/drawingml/2006/main" r:embed="R50f970e4b2654d22"/>
          <a:stretch xmlns:a="http://schemas.openxmlformats.org/drawingml/2006/main">
            <a:fillRect l="0" t="0" r="0" b="0"/>
          </a:stretch>
        </p:blipFill>
        <p:spPr>
          <a:xfrm xmlns:a="http://schemas.openxmlformats.org/drawingml/2006/main">
            <a:off x="845637" y="2875605"/>
            <a:ext cx="210678" cy="210678"/>
          </a:xfrm>
          <a:prstGeom xmlns:a="http://schemas.openxmlformats.org/drawingml/2006/main" prst="rect">
            <a:avLst/>
          </a:prstGeom>
        </p:spPr>
      </p:pic>
      <p:sp>
        <p:nvSpPr>
          <p:cNvPr id="23" name="Text 16">
            <a:extLst xmlns:a="http://schemas.openxmlformats.org/drawingml/2006/main">
              <a:ext uri="{FF2B5EF4-FFF2-40B4-BE49-F238E27FC236}">
                <a16:creationId xmlns:a16="http://schemas.microsoft.com/office/drawing/2014/main" id="{E608DA85-AF13-4E79-A3B9-14B050E6FC79}"/>
              </a:ext>
            </a:extLst>
          </p:cNvPr>
          <p:cNvSpPr>
            <a:spLocks xmlns:a="http://schemas.openxmlformats.org/drawingml/2006/main" noGrp="1"/>
          </p:cNvSpPr>
          <p:nvPr/>
        </p:nvSpPr>
        <p:spPr>
          <a:xfrm xmlns:a="http://schemas.openxmlformats.org/drawingml/2006/main">
            <a:off x="1298448"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Communication &amp; outreach</a:t>
            </a:r>
            <a:endParaRPr sz="1200"/>
          </a:p>
        </p:txBody>
      </p:sp>
      <p:sp>
        <p:nvSpPr>
          <p:cNvPr id="24" name="Shape 17">
            <a:extLst xmlns:a="http://schemas.openxmlformats.org/drawingml/2006/main">
              <a:ext uri="{FF2B5EF4-FFF2-40B4-BE49-F238E27FC236}">
                <a16:creationId xmlns:a16="http://schemas.microsoft.com/office/drawing/2014/main" id="{A0C415BC-61F8-4DA3-B69F-41309F375473}"/>
              </a:ext>
            </a:extLst>
          </p:cNvPr>
          <p:cNvSpPr>
            <a:spLocks xmlns:a="http://schemas.openxmlformats.org/drawingml/2006/main" noGrp="1"/>
          </p:cNvSpPr>
          <p:nvPr/>
        </p:nvSpPr>
        <p:spPr>
          <a:xfrm xmlns:a="http://schemas.openxmlformats.org/drawingml/2006/main">
            <a:off x="3381680"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5" name="Shape 18">
            <a:extLst xmlns:a="http://schemas.openxmlformats.org/drawingml/2006/main">
              <a:ext uri="{FF2B5EF4-FFF2-40B4-BE49-F238E27FC236}">
                <a16:creationId xmlns:a16="http://schemas.microsoft.com/office/drawing/2014/main" id="{D2CFD3F6-5D1D-4E64-B37E-AD975A215006}"/>
              </a:ext>
            </a:extLst>
          </p:cNvPr>
          <p:cNvSpPr>
            <a:spLocks xmlns:a="http://schemas.openxmlformats.org/drawingml/2006/main" noGrp="1"/>
          </p:cNvSpPr>
          <p:nvPr/>
        </p:nvSpPr>
        <p:spPr>
          <a:xfrm xmlns:a="http://schemas.openxmlformats.org/drawingml/2006/main">
            <a:off x="3564560"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3" name="Image 5"/>
          <p:cNvPicPr>
            <a:picLocks xmlns:a="http://schemas.openxmlformats.org/drawingml/2006/main" noChangeAspect="1"/>
          </p:cNvPicPr>
          <p:nvPr/>
        </p:nvPicPr>
        <p:blipFill>
          <a:blip xmlns:r="http://schemas.openxmlformats.org/officeDocument/2006/relationships" xmlns:a="http://schemas.openxmlformats.org/drawingml/2006/main" r:embed="R273e8eccfa45409c"/>
          <a:stretch xmlns:a="http://schemas.openxmlformats.org/drawingml/2006/main">
            <a:fillRect l="0" t="0" r="0" b="0"/>
          </a:stretch>
        </p:blipFill>
        <p:spPr>
          <a:xfrm xmlns:a="http://schemas.openxmlformats.org/drawingml/2006/main">
            <a:off x="3678677" y="2875605"/>
            <a:ext cx="210678" cy="210678"/>
          </a:xfrm>
          <a:prstGeom xmlns:a="http://schemas.openxmlformats.org/drawingml/2006/main" prst="rect">
            <a:avLst/>
          </a:prstGeom>
        </p:spPr>
      </p:pic>
      <p:sp>
        <p:nvSpPr>
          <p:cNvPr id="27" name="Text 19">
            <a:extLst xmlns:a="http://schemas.openxmlformats.org/drawingml/2006/main">
              <a:ext uri="{FF2B5EF4-FFF2-40B4-BE49-F238E27FC236}">
                <a16:creationId xmlns:a16="http://schemas.microsoft.com/office/drawing/2014/main" id="{75EBC9DC-6C03-434A-AE4F-4575646BD374}"/>
              </a:ext>
            </a:extLst>
          </p:cNvPr>
          <p:cNvSpPr>
            <a:spLocks xmlns:a="http://schemas.openxmlformats.org/drawingml/2006/main" noGrp="1"/>
          </p:cNvSpPr>
          <p:nvPr/>
        </p:nvSpPr>
        <p:spPr>
          <a:xfrm xmlns:a="http://schemas.openxmlformats.org/drawingml/2006/main">
            <a:off x="4131488"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Compliance &amp; risk</a:t>
            </a:r>
            <a:endParaRPr sz="1200"/>
          </a:p>
        </p:txBody>
      </p:sp>
      <p:sp>
        <p:nvSpPr>
          <p:cNvPr id="28" name="Shape 20">
            <a:extLst xmlns:a="http://schemas.openxmlformats.org/drawingml/2006/main">
              <a:ext uri="{FF2B5EF4-FFF2-40B4-BE49-F238E27FC236}">
                <a16:creationId xmlns:a16="http://schemas.microsoft.com/office/drawing/2014/main" id="{8DC20747-1C3B-4A20-90F3-B4F72CD4B831}"/>
              </a:ext>
            </a:extLst>
          </p:cNvPr>
          <p:cNvSpPr>
            <a:spLocks xmlns:a="http://schemas.openxmlformats.org/drawingml/2006/main" noGrp="1"/>
          </p:cNvSpPr>
          <p:nvPr/>
        </p:nvSpPr>
        <p:spPr>
          <a:xfrm xmlns:a="http://schemas.openxmlformats.org/drawingml/2006/main">
            <a:off x="6214720"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9" name="Shape 21">
            <a:extLst xmlns:a="http://schemas.openxmlformats.org/drawingml/2006/main">
              <a:ext uri="{FF2B5EF4-FFF2-40B4-BE49-F238E27FC236}">
                <a16:creationId xmlns:a16="http://schemas.microsoft.com/office/drawing/2014/main" id="{4B55B7E8-015A-4CAE-A498-3CB661B75A39}"/>
              </a:ext>
            </a:extLst>
          </p:cNvPr>
          <p:cNvSpPr>
            <a:spLocks xmlns:a="http://schemas.openxmlformats.org/drawingml/2006/main" noGrp="1"/>
          </p:cNvSpPr>
          <p:nvPr/>
        </p:nvSpPr>
        <p:spPr>
          <a:xfrm xmlns:a="http://schemas.openxmlformats.org/drawingml/2006/main">
            <a:off x="6397600"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07" name="Image 6"/>
          <p:cNvPicPr>
            <a:picLocks xmlns:a="http://schemas.openxmlformats.org/drawingml/2006/main" noChangeAspect="1"/>
          </p:cNvPicPr>
          <p:nvPr/>
        </p:nvPicPr>
        <p:blipFill>
          <a:blip xmlns:r="http://schemas.openxmlformats.org/officeDocument/2006/relationships" xmlns:a="http://schemas.openxmlformats.org/drawingml/2006/main" r:embed="R71f8df622c7941ab"/>
          <a:stretch xmlns:a="http://schemas.openxmlformats.org/drawingml/2006/main">
            <a:fillRect l="0" t="0" r="0" b="0"/>
          </a:stretch>
        </p:blipFill>
        <p:spPr>
          <a:xfrm xmlns:a="http://schemas.openxmlformats.org/drawingml/2006/main">
            <a:off x="6511717" y="2875605"/>
            <a:ext cx="210678" cy="210678"/>
          </a:xfrm>
          <a:prstGeom xmlns:a="http://schemas.openxmlformats.org/drawingml/2006/main" prst="rect">
            <a:avLst/>
          </a:prstGeom>
        </p:spPr>
      </p:pic>
      <p:sp>
        <p:nvSpPr>
          <p:cNvPr id="31" name="Text 22">
            <a:extLst xmlns:a="http://schemas.openxmlformats.org/drawingml/2006/main">
              <a:ext uri="{FF2B5EF4-FFF2-40B4-BE49-F238E27FC236}">
                <a16:creationId xmlns:a16="http://schemas.microsoft.com/office/drawing/2014/main" id="{EC9B5F36-74A7-4480-AFAB-78060553E465}"/>
              </a:ext>
            </a:extLst>
          </p:cNvPr>
          <p:cNvSpPr>
            <a:spLocks xmlns:a="http://schemas.openxmlformats.org/drawingml/2006/main" noGrp="1"/>
          </p:cNvSpPr>
          <p:nvPr/>
        </p:nvSpPr>
        <p:spPr>
          <a:xfrm xmlns:a="http://schemas.openxmlformats.org/drawingml/2006/main">
            <a:off x="6964528"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Role, access &amp; visibility</a:t>
            </a:r>
            <a:endParaRPr sz="1200"/>
          </a:p>
        </p:txBody>
      </p:sp>
      <p:sp>
        <p:nvSpPr>
          <p:cNvPr id="32" name="Shape 23">
            <a:extLst xmlns:a="http://schemas.openxmlformats.org/drawingml/2006/main">
              <a:ext uri="{FF2B5EF4-FFF2-40B4-BE49-F238E27FC236}">
                <a16:creationId xmlns:a16="http://schemas.microsoft.com/office/drawing/2014/main" id="{DE72C840-789C-4BFF-9A47-311DFEBB9AFC}"/>
              </a:ext>
            </a:extLst>
          </p:cNvPr>
          <p:cNvSpPr>
            <a:spLocks xmlns:a="http://schemas.openxmlformats.org/drawingml/2006/main" noGrp="1"/>
          </p:cNvSpPr>
          <p:nvPr/>
        </p:nvSpPr>
        <p:spPr>
          <a:xfrm xmlns:a="http://schemas.openxmlformats.org/drawingml/2006/main">
            <a:off x="9047759" y="2560320"/>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3" name="Shape 24">
            <a:extLst xmlns:a="http://schemas.openxmlformats.org/drawingml/2006/main">
              <a:ext uri="{FF2B5EF4-FFF2-40B4-BE49-F238E27FC236}">
                <a16:creationId xmlns:a16="http://schemas.microsoft.com/office/drawing/2014/main" id="{1629A2F2-A79D-4BF3-A2A7-0AF203F27A0B}"/>
              </a:ext>
            </a:extLst>
          </p:cNvPr>
          <p:cNvSpPr>
            <a:spLocks xmlns:a="http://schemas.openxmlformats.org/drawingml/2006/main" noGrp="1"/>
          </p:cNvSpPr>
          <p:nvPr/>
        </p:nvSpPr>
        <p:spPr>
          <a:xfrm xmlns:a="http://schemas.openxmlformats.org/drawingml/2006/main">
            <a:off x="9230639" y="2761488"/>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11" name="Image 7"/>
          <p:cNvPicPr>
            <a:picLocks xmlns:a="http://schemas.openxmlformats.org/drawingml/2006/main" noChangeAspect="1"/>
          </p:cNvPicPr>
          <p:nvPr/>
        </p:nvPicPr>
        <p:blipFill>
          <a:blip xmlns:r="http://schemas.openxmlformats.org/officeDocument/2006/relationships" xmlns:a="http://schemas.openxmlformats.org/drawingml/2006/main" r:embed="Rd3cb63bc2ad44321"/>
          <a:stretch xmlns:a="http://schemas.openxmlformats.org/drawingml/2006/main">
            <a:fillRect l="0" t="0" r="0" b="0"/>
          </a:stretch>
        </p:blipFill>
        <p:spPr>
          <a:xfrm xmlns:a="http://schemas.openxmlformats.org/drawingml/2006/main">
            <a:off x="9344757" y="2875605"/>
            <a:ext cx="210678" cy="210678"/>
          </a:xfrm>
          <a:prstGeom xmlns:a="http://schemas.openxmlformats.org/drawingml/2006/main" prst="rect">
            <a:avLst/>
          </a:prstGeom>
        </p:spPr>
      </p:pic>
      <p:sp>
        <p:nvSpPr>
          <p:cNvPr id="35" name="Text 25">
            <a:extLst xmlns:a="http://schemas.openxmlformats.org/drawingml/2006/main">
              <a:ext uri="{FF2B5EF4-FFF2-40B4-BE49-F238E27FC236}">
                <a16:creationId xmlns:a16="http://schemas.microsoft.com/office/drawing/2014/main" id="{743CCD95-6803-43CE-BEEC-D79F407C253B}"/>
              </a:ext>
            </a:extLst>
          </p:cNvPr>
          <p:cNvSpPr>
            <a:spLocks xmlns:a="http://schemas.openxmlformats.org/drawingml/2006/main" noGrp="1"/>
          </p:cNvSpPr>
          <p:nvPr/>
        </p:nvSpPr>
        <p:spPr>
          <a:xfrm xmlns:a="http://schemas.openxmlformats.org/drawingml/2006/main">
            <a:off x="9797567" y="2560320"/>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Notifications &amp; alerts</a:t>
            </a:r>
            <a:endParaRPr sz="1200"/>
          </a:p>
        </p:txBody>
      </p:sp>
      <p:sp>
        <p:nvSpPr>
          <p:cNvPr id="36" name="Shape 26">
            <a:extLst xmlns:a="http://schemas.openxmlformats.org/drawingml/2006/main">
              <a:ext uri="{FF2B5EF4-FFF2-40B4-BE49-F238E27FC236}">
                <a16:creationId xmlns:a16="http://schemas.microsoft.com/office/drawing/2014/main" id="{23A2A67F-8E09-4B2D-A3B0-A0A8C90A8990}"/>
              </a:ext>
            </a:extLst>
          </p:cNvPr>
          <p:cNvSpPr>
            <a:spLocks xmlns:a="http://schemas.openxmlformats.org/drawingml/2006/main" noGrp="1"/>
          </p:cNvSpPr>
          <p:nvPr/>
        </p:nvSpPr>
        <p:spPr>
          <a:xfrm xmlns:a="http://schemas.openxmlformats.org/drawingml/2006/main">
            <a:off x="548640"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7" name="Shape 27">
            <a:extLst xmlns:a="http://schemas.openxmlformats.org/drawingml/2006/main">
              <a:ext uri="{FF2B5EF4-FFF2-40B4-BE49-F238E27FC236}">
                <a16:creationId xmlns:a16="http://schemas.microsoft.com/office/drawing/2014/main" id="{322FA506-9281-4FBB-88F1-1EE59FDA8F98}"/>
              </a:ext>
            </a:extLst>
          </p:cNvPr>
          <p:cNvSpPr>
            <a:spLocks xmlns:a="http://schemas.openxmlformats.org/drawingml/2006/main" noGrp="1"/>
          </p:cNvSpPr>
          <p:nvPr/>
        </p:nvSpPr>
        <p:spPr>
          <a:xfrm xmlns:a="http://schemas.openxmlformats.org/drawingml/2006/main">
            <a:off x="731520"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15" name="Image 8"/>
          <p:cNvPicPr>
            <a:picLocks xmlns:a="http://schemas.openxmlformats.org/drawingml/2006/main" noChangeAspect="1"/>
          </p:cNvPicPr>
          <p:nvPr/>
        </p:nvPicPr>
        <p:blipFill>
          <a:blip xmlns:r="http://schemas.openxmlformats.org/officeDocument/2006/relationships" xmlns:a="http://schemas.openxmlformats.org/drawingml/2006/main" r:embed="R567f67d4c97e4beb"/>
          <a:stretch xmlns:a="http://schemas.openxmlformats.org/drawingml/2006/main">
            <a:fillRect l="0" t="0" r="0" b="0"/>
          </a:stretch>
        </p:blipFill>
        <p:spPr>
          <a:xfrm xmlns:a="http://schemas.openxmlformats.org/drawingml/2006/main">
            <a:off x="845637" y="3918021"/>
            <a:ext cx="210678" cy="210678"/>
          </a:xfrm>
          <a:prstGeom xmlns:a="http://schemas.openxmlformats.org/drawingml/2006/main" prst="rect">
            <a:avLst/>
          </a:prstGeom>
        </p:spPr>
      </p:pic>
      <p:sp>
        <p:nvSpPr>
          <p:cNvPr id="39" name="Text 28">
            <a:extLst xmlns:a="http://schemas.openxmlformats.org/drawingml/2006/main">
              <a:ext uri="{FF2B5EF4-FFF2-40B4-BE49-F238E27FC236}">
                <a16:creationId xmlns:a16="http://schemas.microsoft.com/office/drawing/2014/main" id="{AA3642AB-8666-42C3-BA49-2E08ACCCE37D}"/>
              </a:ext>
            </a:extLst>
          </p:cNvPr>
          <p:cNvSpPr>
            <a:spLocks xmlns:a="http://schemas.openxmlformats.org/drawingml/2006/main" noGrp="1"/>
          </p:cNvSpPr>
          <p:nvPr/>
        </p:nvSpPr>
        <p:spPr>
          <a:xfrm xmlns:a="http://schemas.openxmlformats.org/drawingml/2006/main">
            <a:off x="1298448"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Reporting &amp; analytics</a:t>
            </a:r>
            <a:endParaRPr sz="1200"/>
          </a:p>
        </p:txBody>
      </p:sp>
      <p:sp>
        <p:nvSpPr>
          <p:cNvPr id="40" name="Shape 29">
            <a:extLst xmlns:a="http://schemas.openxmlformats.org/drawingml/2006/main">
              <a:ext uri="{FF2B5EF4-FFF2-40B4-BE49-F238E27FC236}">
                <a16:creationId xmlns:a16="http://schemas.microsoft.com/office/drawing/2014/main" id="{BBF749B6-5788-455D-8C40-9E0AADEBBFA8}"/>
              </a:ext>
            </a:extLst>
          </p:cNvPr>
          <p:cNvSpPr>
            <a:spLocks xmlns:a="http://schemas.openxmlformats.org/drawingml/2006/main" noGrp="1"/>
          </p:cNvSpPr>
          <p:nvPr/>
        </p:nvSpPr>
        <p:spPr>
          <a:xfrm xmlns:a="http://schemas.openxmlformats.org/drawingml/2006/main">
            <a:off x="3381680"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1" name="Shape 30">
            <a:extLst xmlns:a="http://schemas.openxmlformats.org/drawingml/2006/main">
              <a:ext uri="{FF2B5EF4-FFF2-40B4-BE49-F238E27FC236}">
                <a16:creationId xmlns:a16="http://schemas.microsoft.com/office/drawing/2014/main" id="{223C9F0C-B962-4EF9-BEE6-A32A7E69E08D}"/>
              </a:ext>
            </a:extLst>
          </p:cNvPr>
          <p:cNvSpPr>
            <a:spLocks xmlns:a="http://schemas.openxmlformats.org/drawingml/2006/main" noGrp="1"/>
          </p:cNvSpPr>
          <p:nvPr/>
        </p:nvSpPr>
        <p:spPr>
          <a:xfrm xmlns:a="http://schemas.openxmlformats.org/drawingml/2006/main">
            <a:off x="3564560"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19" name="Image 9"/>
          <p:cNvPicPr>
            <a:picLocks xmlns:a="http://schemas.openxmlformats.org/drawingml/2006/main" noChangeAspect="1"/>
          </p:cNvPicPr>
          <p:nvPr/>
        </p:nvPicPr>
        <p:blipFill>
          <a:blip xmlns:r="http://schemas.openxmlformats.org/officeDocument/2006/relationships" xmlns:a="http://schemas.openxmlformats.org/drawingml/2006/main" r:embed="Ra9081bc417e24ce8"/>
          <a:stretch xmlns:a="http://schemas.openxmlformats.org/drawingml/2006/main">
            <a:fillRect l="0" t="0" r="0" b="0"/>
          </a:stretch>
        </p:blipFill>
        <p:spPr>
          <a:xfrm xmlns:a="http://schemas.openxmlformats.org/drawingml/2006/main">
            <a:off x="3678677" y="3918021"/>
            <a:ext cx="210678" cy="210678"/>
          </a:xfrm>
          <a:prstGeom xmlns:a="http://schemas.openxmlformats.org/drawingml/2006/main" prst="rect">
            <a:avLst/>
          </a:prstGeom>
        </p:spPr>
      </p:pic>
      <p:sp>
        <p:nvSpPr>
          <p:cNvPr id="43" name="Text 31">
            <a:extLst xmlns:a="http://schemas.openxmlformats.org/drawingml/2006/main">
              <a:ext uri="{FF2B5EF4-FFF2-40B4-BE49-F238E27FC236}">
                <a16:creationId xmlns:a16="http://schemas.microsoft.com/office/drawing/2014/main" id="{CD27A080-2875-4226-B3E9-E5D99215BB4B}"/>
              </a:ext>
            </a:extLst>
          </p:cNvPr>
          <p:cNvSpPr>
            <a:spLocks xmlns:a="http://schemas.openxmlformats.org/drawingml/2006/main" noGrp="1"/>
          </p:cNvSpPr>
          <p:nvPr/>
        </p:nvSpPr>
        <p:spPr>
          <a:xfrm xmlns:a="http://schemas.openxmlformats.org/drawingml/2006/main">
            <a:off x="4131488"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Incentives &amp; performance</a:t>
            </a:r>
            <a:endParaRPr sz="1200"/>
          </a:p>
        </p:txBody>
      </p:sp>
      <p:sp>
        <p:nvSpPr>
          <p:cNvPr id="44" name="Shape 32">
            <a:extLst xmlns:a="http://schemas.openxmlformats.org/drawingml/2006/main">
              <a:ext uri="{FF2B5EF4-FFF2-40B4-BE49-F238E27FC236}">
                <a16:creationId xmlns:a16="http://schemas.microsoft.com/office/drawing/2014/main" id="{E4FB622B-4E4B-4A82-A48B-85CE0ED90E6A}"/>
              </a:ext>
            </a:extLst>
          </p:cNvPr>
          <p:cNvSpPr>
            <a:spLocks xmlns:a="http://schemas.openxmlformats.org/drawingml/2006/main" noGrp="1"/>
          </p:cNvSpPr>
          <p:nvPr/>
        </p:nvSpPr>
        <p:spPr>
          <a:xfrm xmlns:a="http://schemas.openxmlformats.org/drawingml/2006/main">
            <a:off x="6214720"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5" name="Shape 33">
            <a:extLst xmlns:a="http://schemas.openxmlformats.org/drawingml/2006/main">
              <a:ext uri="{FF2B5EF4-FFF2-40B4-BE49-F238E27FC236}">
                <a16:creationId xmlns:a16="http://schemas.microsoft.com/office/drawing/2014/main" id="{02511098-9045-4B4B-A763-F2EDEF267718}"/>
              </a:ext>
            </a:extLst>
          </p:cNvPr>
          <p:cNvSpPr>
            <a:spLocks xmlns:a="http://schemas.openxmlformats.org/drawingml/2006/main" noGrp="1"/>
          </p:cNvSpPr>
          <p:nvPr/>
        </p:nvSpPr>
        <p:spPr>
          <a:xfrm xmlns:a="http://schemas.openxmlformats.org/drawingml/2006/main">
            <a:off x="6397600"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23" name="Image 10"/>
          <p:cNvPicPr>
            <a:picLocks xmlns:a="http://schemas.openxmlformats.org/drawingml/2006/main" noChangeAspect="1"/>
          </p:cNvPicPr>
          <p:nvPr/>
        </p:nvPicPr>
        <p:blipFill>
          <a:blip xmlns:r="http://schemas.openxmlformats.org/officeDocument/2006/relationships" xmlns:a="http://schemas.openxmlformats.org/drawingml/2006/main" r:embed="Rbedaf967fb584962"/>
          <a:stretch xmlns:a="http://schemas.openxmlformats.org/drawingml/2006/main">
            <a:fillRect l="0" t="0" r="0" b="0"/>
          </a:stretch>
        </p:blipFill>
        <p:spPr>
          <a:xfrm xmlns:a="http://schemas.openxmlformats.org/drawingml/2006/main">
            <a:off x="6511717" y="3918021"/>
            <a:ext cx="210678" cy="210678"/>
          </a:xfrm>
          <a:prstGeom xmlns:a="http://schemas.openxmlformats.org/drawingml/2006/main" prst="rect">
            <a:avLst/>
          </a:prstGeom>
        </p:spPr>
      </p:pic>
      <p:sp>
        <p:nvSpPr>
          <p:cNvPr id="47" name="Text 34">
            <a:extLst xmlns:a="http://schemas.openxmlformats.org/drawingml/2006/main">
              <a:ext uri="{FF2B5EF4-FFF2-40B4-BE49-F238E27FC236}">
                <a16:creationId xmlns:a16="http://schemas.microsoft.com/office/drawing/2014/main" id="{0160FFB6-BE7F-44FE-8C05-22D45CE07958}"/>
              </a:ext>
            </a:extLst>
          </p:cNvPr>
          <p:cNvSpPr>
            <a:spLocks xmlns:a="http://schemas.openxmlformats.org/drawingml/2006/main" noGrp="1"/>
          </p:cNvSpPr>
          <p:nvPr/>
        </p:nvSpPr>
        <p:spPr>
          <a:xfrm xmlns:a="http://schemas.openxmlformats.org/drawingml/2006/main">
            <a:off x="6964528"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System &amp; integration</a:t>
            </a:r>
            <a:endParaRPr sz="1200"/>
          </a:p>
        </p:txBody>
      </p:sp>
      <p:sp>
        <p:nvSpPr>
          <p:cNvPr id="48" name="Shape 35">
            <a:extLst xmlns:a="http://schemas.openxmlformats.org/drawingml/2006/main">
              <a:ext uri="{FF2B5EF4-FFF2-40B4-BE49-F238E27FC236}">
                <a16:creationId xmlns:a16="http://schemas.microsoft.com/office/drawing/2014/main" id="{BED2BDF3-EC14-4AB3-BDC0-715D1908FA51}"/>
              </a:ext>
            </a:extLst>
          </p:cNvPr>
          <p:cNvSpPr>
            <a:spLocks xmlns:a="http://schemas.openxmlformats.org/drawingml/2006/main" noGrp="1"/>
          </p:cNvSpPr>
          <p:nvPr/>
        </p:nvSpPr>
        <p:spPr>
          <a:xfrm xmlns:a="http://schemas.openxmlformats.org/drawingml/2006/main">
            <a:off x="9047759" y="3602736"/>
            <a:ext cx="2595296" cy="841248"/>
          </a:xfrm>
          <a:prstGeom xmlns:a="http://schemas.openxmlformats.org/drawingml/2006/main" prst="roundRect">
            <a:avLst>
              <a:gd name="adj" fmla="val 11957"/>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49" name="Shape 36">
            <a:extLst xmlns:a="http://schemas.openxmlformats.org/drawingml/2006/main">
              <a:ext uri="{FF2B5EF4-FFF2-40B4-BE49-F238E27FC236}">
                <a16:creationId xmlns:a16="http://schemas.microsoft.com/office/drawing/2014/main" id="{D8CA46A5-B759-4E69-A6DF-2F7CEA907A19}"/>
              </a:ext>
            </a:extLst>
          </p:cNvPr>
          <p:cNvSpPr>
            <a:spLocks xmlns:a="http://schemas.openxmlformats.org/drawingml/2006/main" noGrp="1"/>
          </p:cNvSpPr>
          <p:nvPr/>
        </p:nvSpPr>
        <p:spPr>
          <a:xfrm xmlns:a="http://schemas.openxmlformats.org/drawingml/2006/main">
            <a:off x="9230639" y="3803904"/>
            <a:ext cx="438912" cy="438912"/>
          </a:xfrm>
          <a:prstGeom xmlns:a="http://schemas.openxmlformats.org/drawingml/2006/main" prst="ellipse">
            <a:avLst/>
          </a:prstGeom>
          <a:solidFill xmlns:a="http://schemas.openxmlformats.org/drawingml/2006/main">
            <a:srgbClr val="FCE4EE"/>
          </a:solidFill>
          <a:effectLst xmlns:a="http://schemas.openxmlformats.org/drawingml/2006/main">
            <a:outerShdw blurRad="88900" dist="25400" dir="5400000" sx="100000" sy="100000" kx="0" ky="0" algn="bl" rotWithShape="0">
              <a:srgbClr val="B4A9A2">
                <a:alpha val="22000"/>
              </a:srgbClr>
            </a:outerShdw>
          </a:effectLst>
        </p:spPr>
      </p:sp>
      <p:pic>
        <p:nvPicPr>
          <p:cNvPr id="127" name="Image 11"/>
          <p:cNvPicPr>
            <a:picLocks xmlns:a="http://schemas.openxmlformats.org/drawingml/2006/main" noChangeAspect="1"/>
          </p:cNvPicPr>
          <p:nvPr/>
        </p:nvPicPr>
        <p:blipFill>
          <a:blip xmlns:r="http://schemas.openxmlformats.org/officeDocument/2006/relationships" xmlns:a="http://schemas.openxmlformats.org/drawingml/2006/main" r:embed="R0cb8a13b08004f20"/>
          <a:stretch xmlns:a="http://schemas.openxmlformats.org/drawingml/2006/main">
            <a:fillRect l="0" t="0" r="0" b="0"/>
          </a:stretch>
        </p:blipFill>
        <p:spPr>
          <a:xfrm xmlns:a="http://schemas.openxmlformats.org/drawingml/2006/main">
            <a:off x="9344757" y="3918021"/>
            <a:ext cx="210678" cy="210678"/>
          </a:xfrm>
          <a:prstGeom xmlns:a="http://schemas.openxmlformats.org/drawingml/2006/main" prst="rect">
            <a:avLst/>
          </a:prstGeom>
        </p:spPr>
      </p:pic>
      <p:sp>
        <p:nvSpPr>
          <p:cNvPr id="51" name="Text 37">
            <a:extLst xmlns:a="http://schemas.openxmlformats.org/drawingml/2006/main">
              <a:ext uri="{FF2B5EF4-FFF2-40B4-BE49-F238E27FC236}">
                <a16:creationId xmlns:a16="http://schemas.microsoft.com/office/drawing/2014/main" id="{8CCEC487-0BAB-4EF3-AE9B-17FF558455FD}"/>
              </a:ext>
            </a:extLst>
          </p:cNvPr>
          <p:cNvSpPr>
            <a:spLocks xmlns:a="http://schemas.openxmlformats.org/drawingml/2006/main" noGrp="1"/>
          </p:cNvSpPr>
          <p:nvPr/>
        </p:nvSpPr>
        <p:spPr>
          <a:xfrm xmlns:a="http://schemas.openxmlformats.org/drawingml/2006/main">
            <a:off x="9797567" y="3602736"/>
            <a:ext cx="1680896"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Admin panel &amp; masters</a:t>
            </a:r>
            <a:endParaRPr sz="1200"/>
          </a:p>
        </p:txBody>
      </p:sp>
      <p:sp>
        <p:nvSpPr>
          <p:cNvPr id="52" name="Shape 38">
            <a:extLst xmlns:a="http://schemas.openxmlformats.org/drawingml/2006/main">
              <a:ext uri="{FF2B5EF4-FFF2-40B4-BE49-F238E27FC236}">
                <a16:creationId xmlns:a16="http://schemas.microsoft.com/office/drawing/2014/main" id="{1F07E6FB-6B88-4C35-B099-841D74957C79}"/>
              </a:ext>
            </a:extLst>
          </p:cNvPr>
          <p:cNvSpPr>
            <a:spLocks xmlns:a="http://schemas.openxmlformats.org/drawingml/2006/main" noGrp="1"/>
          </p:cNvSpPr>
          <p:nvPr/>
        </p:nvSpPr>
        <p:spPr>
          <a:xfrm xmlns:a="http://schemas.openxmlformats.org/drawingml/2006/main">
            <a:off x="548640"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3" name="Text 39">
            <a:extLst xmlns:a="http://schemas.openxmlformats.org/drawingml/2006/main">
              <a:ext uri="{FF2B5EF4-FFF2-40B4-BE49-F238E27FC236}">
                <a16:creationId xmlns:a16="http://schemas.microsoft.com/office/drawing/2014/main" id="{56F01530-0219-4656-81B5-1609D2C7FFBE}"/>
              </a:ext>
            </a:extLst>
          </p:cNvPr>
          <p:cNvSpPr>
            <a:spLocks xmlns:a="http://schemas.openxmlformats.org/drawingml/2006/main" noGrp="1"/>
          </p:cNvSpPr>
          <p:nvPr/>
        </p:nvSpPr>
        <p:spPr>
          <a:xfrm xmlns:a="http://schemas.openxmlformats.org/drawingml/2006/main">
            <a:off x="694944"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1–2 days</a:t>
            </a:r>
            <a:endParaRPr sz="1900"/>
          </a:p>
        </p:txBody>
      </p:sp>
      <p:sp>
        <p:nvSpPr>
          <p:cNvPr id="54" name="Text 40">
            <a:extLst xmlns:a="http://schemas.openxmlformats.org/drawingml/2006/main">
              <a:ext uri="{FF2B5EF4-FFF2-40B4-BE49-F238E27FC236}">
                <a16:creationId xmlns:a16="http://schemas.microsoft.com/office/drawing/2014/main" id="{0FF2CFCB-EB28-42F2-A38E-567C4DC8FB08}"/>
              </a:ext>
            </a:extLst>
          </p:cNvPr>
          <p:cNvSpPr>
            <a:spLocks xmlns:a="http://schemas.openxmlformats.org/drawingml/2006/main" noGrp="1"/>
          </p:cNvSpPr>
          <p:nvPr/>
        </p:nvSpPr>
        <p:spPr>
          <a:xfrm xmlns:a="http://schemas.openxmlformats.org/drawingml/2006/main">
            <a:off x="694944"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to configure a change</a:t>
            </a:r>
            <a:endParaRPr sz="1050"/>
          </a:p>
        </p:txBody>
      </p:sp>
      <p:sp>
        <p:nvSpPr>
          <p:cNvPr id="55" name="Shape 41">
            <a:extLst xmlns:a="http://schemas.openxmlformats.org/drawingml/2006/main">
              <a:ext uri="{FF2B5EF4-FFF2-40B4-BE49-F238E27FC236}">
                <a16:creationId xmlns:a16="http://schemas.microsoft.com/office/drawing/2014/main" id="{D9C6ABBF-D84D-4B30-AC91-E95B20855EA2}"/>
              </a:ext>
            </a:extLst>
          </p:cNvPr>
          <p:cNvSpPr>
            <a:spLocks xmlns:a="http://schemas.openxmlformats.org/drawingml/2006/main" noGrp="1"/>
          </p:cNvSpPr>
          <p:nvPr/>
        </p:nvSpPr>
        <p:spPr>
          <a:xfrm xmlns:a="http://schemas.openxmlformats.org/drawingml/2006/main">
            <a:off x="3381680"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6" name="Text 42">
            <a:extLst xmlns:a="http://schemas.openxmlformats.org/drawingml/2006/main">
              <a:ext uri="{FF2B5EF4-FFF2-40B4-BE49-F238E27FC236}">
                <a16:creationId xmlns:a16="http://schemas.microsoft.com/office/drawing/2014/main" id="{E209EF8D-A434-4DBB-B099-6CA35C4A9713}"/>
              </a:ext>
            </a:extLst>
          </p:cNvPr>
          <p:cNvSpPr>
            <a:spLocks xmlns:a="http://schemas.openxmlformats.org/drawingml/2006/main" noGrp="1"/>
          </p:cNvSpPr>
          <p:nvPr/>
        </p:nvSpPr>
        <p:spPr>
          <a:xfrm xmlns:a="http://schemas.openxmlformats.org/drawingml/2006/main">
            <a:off x="3527984"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&lt; 1 week</a:t>
            </a:r>
            <a:endParaRPr sz="1900"/>
          </a:p>
        </p:txBody>
      </p:sp>
      <p:sp>
        <p:nvSpPr>
          <p:cNvPr id="57" name="Text 43">
            <a:extLst xmlns:a="http://schemas.openxmlformats.org/drawingml/2006/main">
              <a:ext uri="{FF2B5EF4-FFF2-40B4-BE49-F238E27FC236}">
                <a16:creationId xmlns:a16="http://schemas.microsoft.com/office/drawing/2014/main" id="{753AA2FC-4A0C-4AC9-8D68-9129B94214EB}"/>
              </a:ext>
            </a:extLst>
          </p:cNvPr>
          <p:cNvSpPr>
            <a:spLocks xmlns:a="http://schemas.openxmlformats.org/drawingml/2006/main" noGrp="1"/>
          </p:cNvSpPr>
          <p:nvPr/>
        </p:nvSpPr>
        <p:spPr>
          <a:xfrm xmlns:a="http://schemas.openxmlformats.org/drawingml/2006/main">
            <a:off x="3527984"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to modify a workflow</a:t>
            </a:r>
            <a:endParaRPr sz="1050"/>
          </a:p>
        </p:txBody>
      </p:sp>
      <p:sp>
        <p:nvSpPr>
          <p:cNvPr id="58" name="Shape 44">
            <a:extLst xmlns:a="http://schemas.openxmlformats.org/drawingml/2006/main">
              <a:ext uri="{FF2B5EF4-FFF2-40B4-BE49-F238E27FC236}">
                <a16:creationId xmlns:a16="http://schemas.microsoft.com/office/drawing/2014/main" id="{7F1C0CB3-801B-4B97-A07D-9A01EAD9151D}"/>
              </a:ext>
            </a:extLst>
          </p:cNvPr>
          <p:cNvSpPr>
            <a:spLocks xmlns:a="http://schemas.openxmlformats.org/drawingml/2006/main" noGrp="1"/>
          </p:cNvSpPr>
          <p:nvPr/>
        </p:nvSpPr>
        <p:spPr>
          <a:xfrm xmlns:a="http://schemas.openxmlformats.org/drawingml/2006/main">
            <a:off x="6214720"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9" name="Text 45">
            <a:extLst xmlns:a="http://schemas.openxmlformats.org/drawingml/2006/main">
              <a:ext uri="{FF2B5EF4-FFF2-40B4-BE49-F238E27FC236}">
                <a16:creationId xmlns:a16="http://schemas.microsoft.com/office/drawing/2014/main" id="{F793FB7A-3A2D-4500-9E6C-9B5442BEC46B}"/>
              </a:ext>
            </a:extLst>
          </p:cNvPr>
          <p:cNvSpPr>
            <a:spLocks xmlns:a="http://schemas.openxmlformats.org/drawingml/2006/main" noGrp="1"/>
          </p:cNvSpPr>
          <p:nvPr/>
        </p:nvSpPr>
        <p:spPr>
          <a:xfrm xmlns:a="http://schemas.openxmlformats.org/drawingml/2006/main">
            <a:off x="6361024"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~0 CRs</a:t>
            </a:r>
            <a:endParaRPr sz="1900"/>
          </a:p>
        </p:txBody>
      </p:sp>
      <p:sp>
        <p:nvSpPr>
          <p:cNvPr id="60" name="Text 46">
            <a:extLst xmlns:a="http://schemas.openxmlformats.org/drawingml/2006/main">
              <a:ext uri="{FF2B5EF4-FFF2-40B4-BE49-F238E27FC236}">
                <a16:creationId xmlns:a16="http://schemas.microsoft.com/office/drawing/2014/main" id="{966283D4-FB96-4F8D-8D0F-6AF98DB1419B}"/>
              </a:ext>
            </a:extLst>
          </p:cNvPr>
          <p:cNvSpPr>
            <a:spLocks xmlns:a="http://schemas.openxmlformats.org/drawingml/2006/main" noGrp="1"/>
          </p:cNvSpPr>
          <p:nvPr/>
        </p:nvSpPr>
        <p:spPr>
          <a:xfrm xmlns:a="http://schemas.openxmlformats.org/drawingml/2006/main">
            <a:off x="6361024"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targeted for BAU changes</a:t>
            </a:r>
            <a:endParaRPr sz="1050"/>
          </a:p>
        </p:txBody>
      </p:sp>
      <p:sp>
        <p:nvSpPr>
          <p:cNvPr id="61" name="Shape 47">
            <a:extLst xmlns:a="http://schemas.openxmlformats.org/drawingml/2006/main">
              <a:ext uri="{FF2B5EF4-FFF2-40B4-BE49-F238E27FC236}">
                <a16:creationId xmlns:a16="http://schemas.microsoft.com/office/drawing/2014/main" id="{5D07567B-8E97-48DA-9665-AE053931571F}"/>
              </a:ext>
            </a:extLst>
          </p:cNvPr>
          <p:cNvSpPr>
            <a:spLocks xmlns:a="http://schemas.openxmlformats.org/drawingml/2006/main" noGrp="1"/>
          </p:cNvSpPr>
          <p:nvPr/>
        </p:nvSpPr>
        <p:spPr>
          <a:xfrm xmlns:a="http://schemas.openxmlformats.org/drawingml/2006/main">
            <a:off x="9047759" y="4700016"/>
            <a:ext cx="2595296" cy="841248"/>
          </a:xfrm>
          <a:prstGeom xmlns:a="http://schemas.openxmlformats.org/drawingml/2006/main" prst="roundRect">
            <a:avLst>
              <a:gd name="adj" fmla="val 9783"/>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62" name="Text 48">
            <a:extLst xmlns:a="http://schemas.openxmlformats.org/drawingml/2006/main">
              <a:ext uri="{FF2B5EF4-FFF2-40B4-BE49-F238E27FC236}">
                <a16:creationId xmlns:a16="http://schemas.microsoft.com/office/drawing/2014/main" id="{10B60284-6BDE-4CCD-98D4-6335C6B0177D}"/>
              </a:ext>
            </a:extLst>
          </p:cNvPr>
          <p:cNvSpPr>
            <a:spLocks xmlns:a="http://schemas.openxmlformats.org/drawingml/2006/main" noGrp="1"/>
          </p:cNvSpPr>
          <p:nvPr/>
        </p:nvSpPr>
        <p:spPr>
          <a:xfrm xmlns:a="http://schemas.openxmlformats.org/drawingml/2006/main">
            <a:off x="9194063" y="4809744"/>
            <a:ext cx="2320976"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900" b="1">
                <a:solidFill>
                  <a:srgbClr val="FFFFFF"/>
                </a:solidFill>
                <a:latin typeface="Poppins"/>
                <a:ea typeface="Poppins"/>
                <a:cs typeface="Poppins"/>
              </a:rPr>
              <a:t>3 mo → days</a:t>
            </a:r>
            <a:endParaRPr sz="1900"/>
          </a:p>
        </p:txBody>
      </p:sp>
      <p:sp>
        <p:nvSpPr>
          <p:cNvPr id="63" name="Text 49">
            <a:extLst xmlns:a="http://schemas.openxmlformats.org/drawingml/2006/main">
              <a:ext uri="{FF2B5EF4-FFF2-40B4-BE49-F238E27FC236}">
                <a16:creationId xmlns:a16="http://schemas.microsoft.com/office/drawing/2014/main" id="{F6C83C4B-3CD8-4E5D-8C35-9AC3679E9619}"/>
              </a:ext>
            </a:extLst>
          </p:cNvPr>
          <p:cNvSpPr>
            <a:spLocks xmlns:a="http://schemas.openxmlformats.org/drawingml/2006/main" noGrp="1"/>
          </p:cNvSpPr>
          <p:nvPr/>
        </p:nvSpPr>
        <p:spPr>
          <a:xfrm xmlns:a="http://schemas.openxmlformats.org/drawingml/2006/main">
            <a:off x="9194063" y="5175504"/>
            <a:ext cx="23209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a:solidFill>
                  <a:srgbClr val="CADCFC"/>
                </a:solidFill>
                <a:latin typeface="Calibri"/>
                <a:ea typeface="Calibri"/>
                <a:cs typeface="Calibri"/>
              </a:rPr>
              <a:t>time-to-market vs Vymo</a:t>
            </a:r>
            <a:endParaRPr sz="1050"/>
          </a:p>
        </p:txBody>
      </p:sp>
      <p:sp>
        <p:nvSpPr>
          <p:cNvPr id="64" name="Text 50">
            <a:extLst xmlns:a="http://schemas.openxmlformats.org/drawingml/2006/main">
              <a:ext uri="{FF2B5EF4-FFF2-40B4-BE49-F238E27FC236}">
                <a16:creationId xmlns:a16="http://schemas.microsoft.com/office/drawing/2014/main" id="{58318F0D-E534-4963-9369-738477E757C3}"/>
              </a:ext>
            </a:extLst>
          </p:cNvPr>
          <p:cNvSpPr>
            <a:spLocks xmlns:a="http://schemas.openxmlformats.org/drawingml/2006/main" noGrp="1"/>
          </p:cNvSpPr>
          <p:nvPr/>
        </p:nvSpPr>
        <p:spPr>
          <a:xfrm xmlns:a="http://schemas.openxmlformats.org/drawingml/2006/main">
            <a:off x="548640" y="5632704"/>
            <a:ext cx="11094415"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i="1">
                <a:solidFill>
                  <a:srgbClr val="595959"/>
                </a:solidFill>
                <a:latin typeface="Calibri"/>
                <a:ea typeface="Calibri"/>
                <a:cs typeface="Calibri"/>
              </a:rPr>
              <a:t>MOS / KPI targets stated by AMLI — the platform must absorb regulatory and ops changes through UI configuration, not engineering CRs.</a:t>
            </a:r>
            <a:endParaRPr sz="1050"/>
          </a:p>
        </p:txBody>
      </p:sp>
      <p:sp>
        <p:nvSpPr>
          <p:cNvPr id="65" name="Text 51">
            <a:extLst xmlns:a="http://schemas.openxmlformats.org/drawingml/2006/main">
              <a:ext uri="{FF2B5EF4-FFF2-40B4-BE49-F238E27FC236}">
                <a16:creationId xmlns:a16="http://schemas.microsoft.com/office/drawing/2014/main" id="{562A1E34-7CC7-4854-9620-A63C874638B5}"/>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66" name="Text 52">
            <a:extLst xmlns:a="http://schemas.openxmlformats.org/drawingml/2006/main">
              <a:ext uri="{FF2B5EF4-FFF2-40B4-BE49-F238E27FC236}">
                <a16:creationId xmlns:a16="http://schemas.microsoft.com/office/drawing/2014/main" id="{3861DE84-AA04-4D44-B0BC-116ADA0E676B}"/>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08</a:t>
            </a:r>
            <a:endParaRPr sz="900"/>
          </a:p>
        </p:txBody>
      </p:sp>
    </p:spTree>
    <p:extLst>
      <p:ext uri="{BB962C8B-B14F-4D97-AF65-F5344CB8AC3E}">
        <p14:creationId xmlns:p14="http://schemas.microsoft.com/office/powerpoint/2010/main" val="9416931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A45EBA-0FE4-4509-A29C-73DA9C4673CD}"/>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INTEGRATIONS</a:t>
            </a:r>
            <a:endParaRPr sz="1200"/>
          </a:p>
        </p:txBody>
      </p:sp>
      <p:sp>
        <p:nvSpPr>
          <p:cNvPr id="3" name="Text 1">
            <a:extLst xmlns:a="http://schemas.openxmlformats.org/drawingml/2006/main">
              <a:ext uri="{FF2B5EF4-FFF2-40B4-BE49-F238E27FC236}">
                <a16:creationId xmlns:a16="http://schemas.microsoft.com/office/drawing/2014/main" id="{055C3812-33AD-4687-81D9-D3D86A40970F}"/>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MATRIX at the centre of the mSpace ecosystem</a:t>
            </a:r>
            <a:endParaRPr sz="3000"/>
          </a:p>
        </p:txBody>
      </p:sp>
      <p:sp>
        <p:nvSpPr>
          <p:cNvPr id="4" name="Shape 2">
            <a:extLst xmlns:a="http://schemas.openxmlformats.org/drawingml/2006/main">
              <a:ext uri="{FF2B5EF4-FFF2-40B4-BE49-F238E27FC236}">
                <a16:creationId xmlns:a16="http://schemas.microsoft.com/office/drawing/2014/main" id="{C250D172-400D-4303-8175-3249C45AF957}"/>
              </a:ext>
            </a:extLst>
          </p:cNvPr>
          <p:cNvSpPr>
            <a:spLocks xmlns:a="http://schemas.openxmlformats.org/drawingml/2006/main" noGrp="1"/>
          </p:cNvSpPr>
          <p:nvPr/>
        </p:nvSpPr>
        <p:spPr>
          <a:xfrm xmlns:a="http://schemas.openxmlformats.org/drawingml/2006/main" flipH="1" flipV="1">
            <a:off x="1615288" y="2240280"/>
            <a:ext cx="4480560" cy="137160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5" name="Shape 3">
            <a:extLst xmlns:a="http://schemas.openxmlformats.org/drawingml/2006/main">
              <a:ext uri="{FF2B5EF4-FFF2-40B4-BE49-F238E27FC236}">
                <a16:creationId xmlns:a16="http://schemas.microsoft.com/office/drawing/2014/main" id="{8AA10381-9C2F-46B9-8D38-D6CE5DEC8EF2}"/>
              </a:ext>
            </a:extLst>
          </p:cNvPr>
          <p:cNvSpPr>
            <a:spLocks xmlns:a="http://schemas.openxmlformats.org/drawingml/2006/main" noGrp="1"/>
          </p:cNvSpPr>
          <p:nvPr/>
        </p:nvSpPr>
        <p:spPr>
          <a:xfrm xmlns:a="http://schemas.openxmlformats.org/drawingml/2006/main" flipH="1" flipV="1">
            <a:off x="1615288" y="3520440"/>
            <a:ext cx="4480560" cy="9144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6" name="Shape 4">
            <a:extLst xmlns:a="http://schemas.openxmlformats.org/drawingml/2006/main">
              <a:ext uri="{FF2B5EF4-FFF2-40B4-BE49-F238E27FC236}">
                <a16:creationId xmlns:a16="http://schemas.microsoft.com/office/drawing/2014/main" id="{3EE7F5F6-6D06-479D-A0C8-B1E694D46FAA}"/>
              </a:ext>
            </a:extLst>
          </p:cNvPr>
          <p:cNvSpPr>
            <a:spLocks xmlns:a="http://schemas.openxmlformats.org/drawingml/2006/main" noGrp="1"/>
          </p:cNvSpPr>
          <p:nvPr/>
        </p:nvSpPr>
        <p:spPr>
          <a:xfrm xmlns:a="http://schemas.openxmlformats.org/drawingml/2006/main" flipH="1">
            <a:off x="1615288" y="3611880"/>
            <a:ext cx="4480560" cy="118872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7" name="Shape 5">
            <a:extLst xmlns:a="http://schemas.openxmlformats.org/drawingml/2006/main">
              <a:ext uri="{FF2B5EF4-FFF2-40B4-BE49-F238E27FC236}">
                <a16:creationId xmlns:a16="http://schemas.microsoft.com/office/drawing/2014/main" id="{BF313C2C-C997-4558-A3E1-99EA593C904D}"/>
              </a:ext>
            </a:extLst>
          </p:cNvPr>
          <p:cNvSpPr>
            <a:spLocks xmlns:a="http://schemas.openxmlformats.org/drawingml/2006/main" noGrp="1"/>
          </p:cNvSpPr>
          <p:nvPr/>
        </p:nvSpPr>
        <p:spPr>
          <a:xfrm xmlns:a="http://schemas.openxmlformats.org/drawingml/2006/main" flipH="1">
            <a:off x="3764128" y="3611880"/>
            <a:ext cx="2331720" cy="173736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8" name="Shape 6">
            <a:extLst xmlns:a="http://schemas.openxmlformats.org/drawingml/2006/main">
              <a:ext uri="{FF2B5EF4-FFF2-40B4-BE49-F238E27FC236}">
                <a16:creationId xmlns:a16="http://schemas.microsoft.com/office/drawing/2014/main" id="{D39DCE8A-35D7-4C16-87C0-541E720346B2}"/>
              </a:ext>
            </a:extLst>
          </p:cNvPr>
          <p:cNvSpPr>
            <a:spLocks xmlns:a="http://schemas.openxmlformats.org/drawingml/2006/main" noGrp="1"/>
          </p:cNvSpPr>
          <p:nvPr/>
        </p:nvSpPr>
        <p:spPr>
          <a:xfrm xmlns:a="http://schemas.openxmlformats.org/drawingml/2006/main">
            <a:off x="6095848" y="3611880"/>
            <a:ext cx="0" cy="182880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9" name="Shape 7">
            <a:extLst xmlns:a="http://schemas.openxmlformats.org/drawingml/2006/main">
              <a:ext uri="{FF2B5EF4-FFF2-40B4-BE49-F238E27FC236}">
                <a16:creationId xmlns:a16="http://schemas.microsoft.com/office/drawing/2014/main" id="{3340B1B1-6871-40EA-8133-2DE466843ACB}"/>
              </a:ext>
            </a:extLst>
          </p:cNvPr>
          <p:cNvSpPr>
            <a:spLocks xmlns:a="http://schemas.openxmlformats.org/drawingml/2006/main" noGrp="1"/>
          </p:cNvSpPr>
          <p:nvPr/>
        </p:nvSpPr>
        <p:spPr>
          <a:xfrm xmlns:a="http://schemas.openxmlformats.org/drawingml/2006/main">
            <a:off x="6095848" y="3611880"/>
            <a:ext cx="2331720" cy="173736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10" name="Shape 8">
            <a:extLst xmlns:a="http://schemas.openxmlformats.org/drawingml/2006/main">
              <a:ext uri="{FF2B5EF4-FFF2-40B4-BE49-F238E27FC236}">
                <a16:creationId xmlns:a16="http://schemas.microsoft.com/office/drawing/2014/main" id="{AE8E2A2D-9025-414D-9DDA-473EB21169E4}"/>
              </a:ext>
            </a:extLst>
          </p:cNvPr>
          <p:cNvSpPr>
            <a:spLocks xmlns:a="http://schemas.openxmlformats.org/drawingml/2006/main" noGrp="1"/>
          </p:cNvSpPr>
          <p:nvPr/>
        </p:nvSpPr>
        <p:spPr>
          <a:xfrm xmlns:a="http://schemas.openxmlformats.org/drawingml/2006/main">
            <a:off x="6095848" y="3611880"/>
            <a:ext cx="4480560" cy="118872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11" name="Shape 9">
            <a:extLst xmlns:a="http://schemas.openxmlformats.org/drawingml/2006/main">
              <a:ext uri="{FF2B5EF4-FFF2-40B4-BE49-F238E27FC236}">
                <a16:creationId xmlns:a16="http://schemas.microsoft.com/office/drawing/2014/main" id="{27127009-4B50-453F-80AC-671359C72CC0}"/>
              </a:ext>
            </a:extLst>
          </p:cNvPr>
          <p:cNvSpPr>
            <a:spLocks xmlns:a="http://schemas.openxmlformats.org/drawingml/2006/main" noGrp="1"/>
          </p:cNvSpPr>
          <p:nvPr/>
        </p:nvSpPr>
        <p:spPr>
          <a:xfrm xmlns:a="http://schemas.openxmlformats.org/drawingml/2006/main" flipV="1">
            <a:off x="6095848" y="3520440"/>
            <a:ext cx="4480560" cy="9144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12" name="Shape 10">
            <a:extLst xmlns:a="http://schemas.openxmlformats.org/drawingml/2006/main">
              <a:ext uri="{FF2B5EF4-FFF2-40B4-BE49-F238E27FC236}">
                <a16:creationId xmlns:a16="http://schemas.microsoft.com/office/drawing/2014/main" id="{C4A036C6-4D56-4A57-9563-4D064C1C7249}"/>
              </a:ext>
            </a:extLst>
          </p:cNvPr>
          <p:cNvSpPr>
            <a:spLocks xmlns:a="http://schemas.openxmlformats.org/drawingml/2006/main" noGrp="1"/>
          </p:cNvSpPr>
          <p:nvPr/>
        </p:nvSpPr>
        <p:spPr>
          <a:xfrm xmlns:a="http://schemas.openxmlformats.org/drawingml/2006/main" flipV="1">
            <a:off x="6095848" y="2240280"/>
            <a:ext cx="4480560" cy="137160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13" name="Shape 11">
            <a:extLst xmlns:a="http://schemas.openxmlformats.org/drawingml/2006/main">
              <a:ext uri="{FF2B5EF4-FFF2-40B4-BE49-F238E27FC236}">
                <a16:creationId xmlns:a16="http://schemas.microsoft.com/office/drawing/2014/main" id="{F7CFDED5-E5FA-4800-8AD1-37F7C37F6274}"/>
              </a:ext>
            </a:extLst>
          </p:cNvPr>
          <p:cNvSpPr>
            <a:spLocks xmlns:a="http://schemas.openxmlformats.org/drawingml/2006/main" noGrp="1"/>
          </p:cNvSpPr>
          <p:nvPr/>
        </p:nvSpPr>
        <p:spPr>
          <a:xfrm xmlns:a="http://schemas.openxmlformats.org/drawingml/2006/main" flipV="1">
            <a:off x="6095848" y="1828800"/>
            <a:ext cx="0" cy="1783080"/>
          </a:xfrm>
          <a:prstGeom xmlns:a="http://schemas.openxmlformats.org/drawingml/2006/main" prst="line">
            <a:avLst/>
          </a:prstGeom>
          <a:noFill xmlns:a="http://schemas.openxmlformats.org/drawingml/2006/main"/>
          <a:ln xmlns:a="http://schemas.openxmlformats.org/drawingml/2006/main" w="19050">
            <a:solidFill>
              <a:srgbClr val="D9CFC9"/>
            </a:solidFill>
            <a:prstDash val="solid"/>
          </a:ln>
        </p:spPr>
      </p:sp>
      <p:sp>
        <p:nvSpPr>
          <p:cNvPr id="14" name="Shape 12">
            <a:extLst xmlns:a="http://schemas.openxmlformats.org/drawingml/2006/main">
              <a:ext uri="{FF2B5EF4-FFF2-40B4-BE49-F238E27FC236}">
                <a16:creationId xmlns:a16="http://schemas.microsoft.com/office/drawing/2014/main" id="{C9D3EFE9-8BED-4177-883D-51652F1F5CB8}"/>
              </a:ext>
            </a:extLst>
          </p:cNvPr>
          <p:cNvSpPr>
            <a:spLocks xmlns:a="http://schemas.openxmlformats.org/drawingml/2006/main" noGrp="1"/>
          </p:cNvSpPr>
          <p:nvPr/>
        </p:nvSpPr>
        <p:spPr>
          <a:xfrm xmlns:a="http://schemas.openxmlformats.org/drawingml/2006/main">
            <a:off x="5227168" y="2743200"/>
            <a:ext cx="1737360" cy="1737360"/>
          </a:xfrm>
          <a:prstGeom xmlns:a="http://schemas.openxmlformats.org/drawingml/2006/main" prst="ellipse">
            <a:avLst/>
          </a:prstGeom>
          <a:solidFill xmlns:a="http://schemas.openxmlformats.org/drawingml/2006/main">
            <a:srgbClr val="EE2B76"/>
          </a:solidFill>
          <a:ln xmlns:a="http://schemas.openxmlformats.org/drawingml/2006/main" w="38100">
            <a:solidFill>
              <a:srgbClr val="FFFFFF"/>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5" name="Text 13">
            <a:extLst xmlns:a="http://schemas.openxmlformats.org/drawingml/2006/main">
              <a:ext uri="{FF2B5EF4-FFF2-40B4-BE49-F238E27FC236}">
                <a16:creationId xmlns:a16="http://schemas.microsoft.com/office/drawing/2014/main" id="{1AAB0077-1D81-4B95-A558-FC029279A4DB}"/>
              </a:ext>
            </a:extLst>
          </p:cNvPr>
          <p:cNvSpPr>
            <a:spLocks xmlns:a="http://schemas.openxmlformats.org/drawingml/2006/main" noGrp="1"/>
          </p:cNvSpPr>
          <p:nvPr/>
        </p:nvSpPr>
        <p:spPr>
          <a:xfrm xmlns:a="http://schemas.openxmlformats.org/drawingml/2006/main">
            <a:off x="5227168" y="3154680"/>
            <a:ext cx="1737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FFFFFF"/>
                </a:solidFill>
                <a:latin typeface="Poppins"/>
                <a:ea typeface="Poppins"/>
                <a:cs typeface="Poppins"/>
              </a:rPr>
              <a:t>MATRIX</a:t>
            </a:r>
            <a:endParaRPr sz="2000"/>
          </a:p>
        </p:txBody>
      </p:sp>
      <p:sp>
        <p:nvSpPr>
          <p:cNvPr id="16" name="Text 14">
            <a:extLst xmlns:a="http://schemas.openxmlformats.org/drawingml/2006/main">
              <a:ext uri="{FF2B5EF4-FFF2-40B4-BE49-F238E27FC236}">
                <a16:creationId xmlns:a16="http://schemas.microsoft.com/office/drawing/2014/main" id="{7A6F95A6-DFE9-461E-B0A4-C896F6305013}"/>
              </a:ext>
            </a:extLst>
          </p:cNvPr>
          <p:cNvSpPr>
            <a:spLocks xmlns:a="http://schemas.openxmlformats.org/drawingml/2006/main" noGrp="1"/>
          </p:cNvSpPr>
          <p:nvPr/>
        </p:nvSpPr>
        <p:spPr>
          <a:xfrm xmlns:a="http://schemas.openxmlformats.org/drawingml/2006/main">
            <a:off x="5227168" y="3630168"/>
            <a:ext cx="1737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a:solidFill>
                  <a:srgbClr val="FFD6E6"/>
                </a:solidFill>
                <a:latin typeface="Calibri"/>
                <a:ea typeface="Calibri"/>
                <a:cs typeface="Calibri"/>
              </a:rPr>
              <a:t>AMS · LMS</a:t>
            </a:r>
            <a:endParaRPr sz="1200"/>
          </a:p>
        </p:txBody>
      </p:sp>
      <p:sp>
        <p:nvSpPr>
          <p:cNvPr id="17" name="Shape 15">
            <a:extLst xmlns:a="http://schemas.openxmlformats.org/drawingml/2006/main">
              <a:ext uri="{FF2B5EF4-FFF2-40B4-BE49-F238E27FC236}">
                <a16:creationId xmlns:a16="http://schemas.microsoft.com/office/drawing/2014/main" id="{F803ECAA-C065-4183-9540-E9A8AAEF0AD4}"/>
              </a:ext>
            </a:extLst>
          </p:cNvPr>
          <p:cNvSpPr>
            <a:spLocks xmlns:a="http://schemas.openxmlformats.org/drawingml/2006/main" noGrp="1"/>
          </p:cNvSpPr>
          <p:nvPr/>
        </p:nvSpPr>
        <p:spPr>
          <a:xfrm xmlns:a="http://schemas.openxmlformats.org/drawingml/2006/main">
            <a:off x="609448" y="186537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1F3A5F"/>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8" name="Text 16">
            <a:extLst xmlns:a="http://schemas.openxmlformats.org/drawingml/2006/main">
              <a:ext uri="{FF2B5EF4-FFF2-40B4-BE49-F238E27FC236}">
                <a16:creationId xmlns:a16="http://schemas.microsoft.com/office/drawing/2014/main" id="{B95FA73C-D1B6-4419-B428-57AA80EB4FCC}"/>
              </a:ext>
            </a:extLst>
          </p:cNvPr>
          <p:cNvSpPr>
            <a:spLocks xmlns:a="http://schemas.openxmlformats.org/drawingml/2006/main" noGrp="1"/>
          </p:cNvSpPr>
          <p:nvPr/>
        </p:nvSpPr>
        <p:spPr>
          <a:xfrm xmlns:a="http://schemas.openxmlformats.org/drawingml/2006/main">
            <a:off x="664312" y="186537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SSO / Identity</a:t>
            </a:r>
            <a:endParaRPr sz="1050"/>
          </a:p>
        </p:txBody>
      </p:sp>
      <p:sp>
        <p:nvSpPr>
          <p:cNvPr id="19" name="Shape 17">
            <a:extLst xmlns:a="http://schemas.openxmlformats.org/drawingml/2006/main">
              <a:ext uri="{FF2B5EF4-FFF2-40B4-BE49-F238E27FC236}">
                <a16:creationId xmlns:a16="http://schemas.microsoft.com/office/drawing/2014/main" id="{155702BA-694A-470E-99E5-EA3C3EB16FD9}"/>
              </a:ext>
            </a:extLst>
          </p:cNvPr>
          <p:cNvSpPr>
            <a:spLocks xmlns:a="http://schemas.openxmlformats.org/drawingml/2006/main" noGrp="1"/>
          </p:cNvSpPr>
          <p:nvPr/>
        </p:nvSpPr>
        <p:spPr>
          <a:xfrm xmlns:a="http://schemas.openxmlformats.org/drawingml/2006/main">
            <a:off x="609448" y="314553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1F3A5F"/>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0" name="Text 18">
            <a:extLst xmlns:a="http://schemas.openxmlformats.org/drawingml/2006/main">
              <a:ext uri="{FF2B5EF4-FFF2-40B4-BE49-F238E27FC236}">
                <a16:creationId xmlns:a16="http://schemas.microsoft.com/office/drawing/2014/main" id="{9AA75B60-0C16-4F5D-9E0B-9F0D064ADC56}"/>
              </a:ext>
            </a:extLst>
          </p:cNvPr>
          <p:cNvSpPr>
            <a:spLocks xmlns:a="http://schemas.openxmlformats.org/drawingml/2006/main" noGrp="1"/>
          </p:cNvSpPr>
          <p:nvPr/>
        </p:nvSpPr>
        <p:spPr>
          <a:xfrm xmlns:a="http://schemas.openxmlformats.org/drawingml/2006/main">
            <a:off x="664312" y="314553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mSpace services</a:t>
            </a:r>
            <a:endParaRPr sz="1050"/>
          </a:p>
          <a:p xmlns:a="http://schemas.openxmlformats.org/drawingml/2006/main">
            <a:pPr marL="0" indent="0" algn="ctr">
              <a:buNone/>
            </a:pPr>
            <a:r>
              <a:rPr sz="1050" b="1">
                <a:solidFill>
                  <a:srgbClr val="262626"/>
                </a:solidFill>
                <a:latin typeface="Poppins"/>
                <a:ea typeface="Poppins"/>
                <a:cs typeface="Poppins"/>
              </a:rPr>
              <a:t>(profile · notif · nudges)</a:t>
            </a:r>
            <a:endParaRPr sz="1050"/>
          </a:p>
        </p:txBody>
      </p:sp>
      <p:sp>
        <p:nvSpPr>
          <p:cNvPr id="21" name="Shape 19">
            <a:extLst xmlns:a="http://schemas.openxmlformats.org/drawingml/2006/main">
              <a:ext uri="{FF2B5EF4-FFF2-40B4-BE49-F238E27FC236}">
                <a16:creationId xmlns:a16="http://schemas.microsoft.com/office/drawing/2014/main" id="{FB3ED5A5-ACB6-4F36-9E15-BBA18D39CA5E}"/>
              </a:ext>
            </a:extLst>
          </p:cNvPr>
          <p:cNvSpPr>
            <a:spLocks xmlns:a="http://schemas.openxmlformats.org/drawingml/2006/main" noGrp="1"/>
          </p:cNvSpPr>
          <p:nvPr/>
        </p:nvSpPr>
        <p:spPr>
          <a:xfrm xmlns:a="http://schemas.openxmlformats.org/drawingml/2006/main">
            <a:off x="609448" y="442569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0969FF"/>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2" name="Text 20">
            <a:extLst xmlns:a="http://schemas.openxmlformats.org/drawingml/2006/main">
              <a:ext uri="{FF2B5EF4-FFF2-40B4-BE49-F238E27FC236}">
                <a16:creationId xmlns:a16="http://schemas.microsoft.com/office/drawing/2014/main" id="{0151D7A3-5FDB-4AF2-AE09-E9B646221D3D}"/>
              </a:ext>
            </a:extLst>
          </p:cNvPr>
          <p:cNvSpPr>
            <a:spLocks xmlns:a="http://schemas.openxmlformats.org/drawingml/2006/main" noGrp="1"/>
          </p:cNvSpPr>
          <p:nvPr/>
        </p:nvSpPr>
        <p:spPr>
          <a:xfrm xmlns:a="http://schemas.openxmlformats.org/drawingml/2006/main">
            <a:off x="664312" y="442569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CRM / mSales</a:t>
            </a:r>
            <a:endParaRPr sz="1050"/>
          </a:p>
        </p:txBody>
      </p:sp>
      <p:sp>
        <p:nvSpPr>
          <p:cNvPr id="23" name="Shape 21">
            <a:extLst xmlns:a="http://schemas.openxmlformats.org/drawingml/2006/main">
              <a:ext uri="{FF2B5EF4-FFF2-40B4-BE49-F238E27FC236}">
                <a16:creationId xmlns:a16="http://schemas.microsoft.com/office/drawing/2014/main" id="{813E30EC-6DD5-4824-B50F-8E715A3B5FE4}"/>
              </a:ext>
            </a:extLst>
          </p:cNvPr>
          <p:cNvSpPr>
            <a:spLocks xmlns:a="http://schemas.openxmlformats.org/drawingml/2006/main" noGrp="1"/>
          </p:cNvSpPr>
          <p:nvPr/>
        </p:nvSpPr>
        <p:spPr>
          <a:xfrm xmlns:a="http://schemas.openxmlformats.org/drawingml/2006/main">
            <a:off x="2758288" y="497433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0969FF"/>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4" name="Text 22">
            <a:extLst xmlns:a="http://schemas.openxmlformats.org/drawingml/2006/main">
              <a:ext uri="{FF2B5EF4-FFF2-40B4-BE49-F238E27FC236}">
                <a16:creationId xmlns:a16="http://schemas.microsoft.com/office/drawing/2014/main" id="{257A7C85-F87F-4350-9F73-38E8FC220E85}"/>
              </a:ext>
            </a:extLst>
          </p:cNvPr>
          <p:cNvSpPr>
            <a:spLocks xmlns:a="http://schemas.openxmlformats.org/drawingml/2006/main" noGrp="1"/>
          </p:cNvSpPr>
          <p:nvPr/>
        </p:nvSpPr>
        <p:spPr>
          <a:xfrm xmlns:a="http://schemas.openxmlformats.org/drawingml/2006/main">
            <a:off x="2813152" y="497433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mSmart</a:t>
            </a:r>
            <a:endParaRPr sz="1050"/>
          </a:p>
          <a:p xmlns:a="http://schemas.openxmlformats.org/drawingml/2006/main">
            <a:pPr marL="0" indent="0" algn="ctr">
              <a:buNone/>
            </a:pPr>
            <a:r>
              <a:rPr sz="1050" b="1">
                <a:solidFill>
                  <a:srgbClr val="262626"/>
                </a:solidFill>
                <a:latin typeface="Poppins"/>
                <a:ea typeface="Poppins"/>
                <a:cs typeface="Poppins"/>
              </a:rPr>
              <a:t>(renewals · cancel)</a:t>
            </a:r>
            <a:endParaRPr sz="1050"/>
          </a:p>
        </p:txBody>
      </p:sp>
      <p:sp>
        <p:nvSpPr>
          <p:cNvPr id="25" name="Shape 23">
            <a:extLst xmlns:a="http://schemas.openxmlformats.org/drawingml/2006/main">
              <a:ext uri="{FF2B5EF4-FFF2-40B4-BE49-F238E27FC236}">
                <a16:creationId xmlns:a16="http://schemas.microsoft.com/office/drawing/2014/main" id="{AED15D57-DD14-4722-A4BE-F0AEEEB2C823}"/>
              </a:ext>
            </a:extLst>
          </p:cNvPr>
          <p:cNvSpPr>
            <a:spLocks xmlns:a="http://schemas.openxmlformats.org/drawingml/2006/main" noGrp="1"/>
          </p:cNvSpPr>
          <p:nvPr/>
        </p:nvSpPr>
        <p:spPr>
          <a:xfrm xmlns:a="http://schemas.openxmlformats.org/drawingml/2006/main">
            <a:off x="5090008" y="506577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17B3A3"/>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6" name="Text 24">
            <a:extLst xmlns:a="http://schemas.openxmlformats.org/drawingml/2006/main">
              <a:ext uri="{FF2B5EF4-FFF2-40B4-BE49-F238E27FC236}">
                <a16:creationId xmlns:a16="http://schemas.microsoft.com/office/drawing/2014/main" id="{2E3BDB6A-8396-469B-BC00-13596EA64D4C}"/>
              </a:ext>
            </a:extLst>
          </p:cNvPr>
          <p:cNvSpPr>
            <a:spLocks xmlns:a="http://schemas.openxmlformats.org/drawingml/2006/main" noGrp="1"/>
          </p:cNvSpPr>
          <p:nvPr/>
        </p:nvSpPr>
        <p:spPr>
          <a:xfrm xmlns:a="http://schemas.openxmlformats.org/drawingml/2006/main">
            <a:off x="5144872" y="506577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mPro · mQuote</a:t>
            </a:r>
            <a:endParaRPr sz="1050"/>
          </a:p>
        </p:txBody>
      </p:sp>
      <p:sp>
        <p:nvSpPr>
          <p:cNvPr id="27" name="Shape 25">
            <a:extLst xmlns:a="http://schemas.openxmlformats.org/drawingml/2006/main">
              <a:ext uri="{FF2B5EF4-FFF2-40B4-BE49-F238E27FC236}">
                <a16:creationId xmlns:a16="http://schemas.microsoft.com/office/drawing/2014/main" id="{3705BD6A-C138-4971-809E-43F102AC223E}"/>
              </a:ext>
            </a:extLst>
          </p:cNvPr>
          <p:cNvSpPr>
            <a:spLocks xmlns:a="http://schemas.openxmlformats.org/drawingml/2006/main" noGrp="1"/>
          </p:cNvSpPr>
          <p:nvPr/>
        </p:nvSpPr>
        <p:spPr>
          <a:xfrm xmlns:a="http://schemas.openxmlformats.org/drawingml/2006/main">
            <a:off x="7421728" y="497433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17B3A3"/>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8" name="Text 26">
            <a:extLst xmlns:a="http://schemas.openxmlformats.org/drawingml/2006/main">
              <a:ext uri="{FF2B5EF4-FFF2-40B4-BE49-F238E27FC236}">
                <a16:creationId xmlns:a16="http://schemas.microsoft.com/office/drawing/2014/main" id="{095D7539-C48D-4D5C-82C4-527A076E19E8}"/>
              </a:ext>
            </a:extLst>
          </p:cNvPr>
          <p:cNvSpPr>
            <a:spLocks xmlns:a="http://schemas.openxmlformats.org/drawingml/2006/main" noGrp="1"/>
          </p:cNvSpPr>
          <p:nvPr/>
        </p:nvSpPr>
        <p:spPr>
          <a:xfrm xmlns:a="http://schemas.openxmlformats.org/drawingml/2006/main">
            <a:off x="7476592" y="497433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SharpSell · Thanos</a:t>
            </a:r>
            <a:endParaRPr sz="1050"/>
          </a:p>
        </p:txBody>
      </p:sp>
      <p:sp>
        <p:nvSpPr>
          <p:cNvPr id="29" name="Shape 27">
            <a:extLst xmlns:a="http://schemas.openxmlformats.org/drawingml/2006/main">
              <a:ext uri="{FF2B5EF4-FFF2-40B4-BE49-F238E27FC236}">
                <a16:creationId xmlns:a16="http://schemas.microsoft.com/office/drawing/2014/main" id="{37B29744-B2D2-4470-A343-C3BF720ABEF6}"/>
              </a:ext>
            </a:extLst>
          </p:cNvPr>
          <p:cNvSpPr>
            <a:spLocks xmlns:a="http://schemas.openxmlformats.org/drawingml/2006/main" noGrp="1"/>
          </p:cNvSpPr>
          <p:nvPr/>
        </p:nvSpPr>
        <p:spPr>
          <a:xfrm xmlns:a="http://schemas.openxmlformats.org/drawingml/2006/main">
            <a:off x="9570568" y="442569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595959"/>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0" name="Text 28">
            <a:extLst xmlns:a="http://schemas.openxmlformats.org/drawingml/2006/main">
              <a:ext uri="{FF2B5EF4-FFF2-40B4-BE49-F238E27FC236}">
                <a16:creationId xmlns:a16="http://schemas.microsoft.com/office/drawing/2014/main" id="{213FAD28-B4E7-4A64-AEF6-42B4D933CC8B}"/>
              </a:ext>
            </a:extLst>
          </p:cNvPr>
          <p:cNvSpPr>
            <a:spLocks xmlns:a="http://schemas.openxmlformats.org/drawingml/2006/main" noGrp="1"/>
          </p:cNvSpPr>
          <p:nvPr/>
        </p:nvSpPr>
        <p:spPr>
          <a:xfrm xmlns:a="http://schemas.openxmlformats.org/drawingml/2006/main">
            <a:off x="9625432" y="442569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Dialer &amp; notif</a:t>
            </a:r>
            <a:endParaRPr sz="1050"/>
          </a:p>
          <a:p xmlns:a="http://schemas.openxmlformats.org/drawingml/2006/main">
            <a:pPr marL="0" indent="0" algn="ctr">
              <a:buNone/>
            </a:pPr>
            <a:r>
              <a:rPr sz="1050" b="1">
                <a:solidFill>
                  <a:srgbClr val="262626"/>
                </a:solidFill>
                <a:latin typeface="Poppins"/>
                <a:ea typeface="Poppins"/>
                <a:cs typeface="Poppins"/>
              </a:rPr>
              <a:t>gateways</a:t>
            </a:r>
            <a:endParaRPr sz="1050"/>
          </a:p>
        </p:txBody>
      </p:sp>
      <p:sp>
        <p:nvSpPr>
          <p:cNvPr id="31" name="Shape 29">
            <a:extLst xmlns:a="http://schemas.openxmlformats.org/drawingml/2006/main">
              <a:ext uri="{FF2B5EF4-FFF2-40B4-BE49-F238E27FC236}">
                <a16:creationId xmlns:a16="http://schemas.microsoft.com/office/drawing/2014/main" id="{FB19B319-BBEA-4486-89D7-325A7B98D137}"/>
              </a:ext>
            </a:extLst>
          </p:cNvPr>
          <p:cNvSpPr>
            <a:spLocks xmlns:a="http://schemas.openxmlformats.org/drawingml/2006/main" noGrp="1"/>
          </p:cNvSpPr>
          <p:nvPr/>
        </p:nvSpPr>
        <p:spPr>
          <a:xfrm xmlns:a="http://schemas.openxmlformats.org/drawingml/2006/main">
            <a:off x="9570568" y="314553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EE2B76"/>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2" name="Text 30">
            <a:extLst xmlns:a="http://schemas.openxmlformats.org/drawingml/2006/main">
              <a:ext uri="{FF2B5EF4-FFF2-40B4-BE49-F238E27FC236}">
                <a16:creationId xmlns:a16="http://schemas.microsoft.com/office/drawing/2014/main" id="{43BF170F-5095-4C32-BF0D-64160769BC15}"/>
              </a:ext>
            </a:extLst>
          </p:cNvPr>
          <p:cNvSpPr>
            <a:spLocks xmlns:a="http://schemas.openxmlformats.org/drawingml/2006/main" noGrp="1"/>
          </p:cNvSpPr>
          <p:nvPr/>
        </p:nvSpPr>
        <p:spPr>
          <a:xfrm xmlns:a="http://schemas.openxmlformats.org/drawingml/2006/main">
            <a:off x="9625432" y="314553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Data Lake / BI</a:t>
            </a:r>
            <a:endParaRPr sz="1050"/>
          </a:p>
          <a:p xmlns:a="http://schemas.openxmlformats.org/drawingml/2006/main">
            <a:pPr marL="0" indent="0" algn="ctr">
              <a:buNone/>
            </a:pPr>
            <a:r>
              <a:rPr sz="1050" b="1">
                <a:solidFill>
                  <a:srgbClr val="262626"/>
                </a:solidFill>
                <a:latin typeface="Poppins"/>
                <a:ea typeface="Poppins"/>
                <a:cs typeface="Poppins"/>
              </a:rPr>
              <a:t>(Sales Navigator)</a:t>
            </a:r>
            <a:endParaRPr sz="1050"/>
          </a:p>
        </p:txBody>
      </p:sp>
      <p:sp>
        <p:nvSpPr>
          <p:cNvPr id="33" name="Shape 31">
            <a:extLst xmlns:a="http://schemas.openxmlformats.org/drawingml/2006/main">
              <a:ext uri="{FF2B5EF4-FFF2-40B4-BE49-F238E27FC236}">
                <a16:creationId xmlns:a16="http://schemas.microsoft.com/office/drawing/2014/main" id="{3E869DBF-FF82-4C25-90C8-6ED77C3496F2}"/>
              </a:ext>
            </a:extLst>
          </p:cNvPr>
          <p:cNvSpPr>
            <a:spLocks xmlns:a="http://schemas.openxmlformats.org/drawingml/2006/main" noGrp="1"/>
          </p:cNvSpPr>
          <p:nvPr/>
        </p:nvSpPr>
        <p:spPr>
          <a:xfrm xmlns:a="http://schemas.openxmlformats.org/drawingml/2006/main">
            <a:off x="9570568" y="186537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EE2B76"/>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4" name="Text 32">
            <a:extLst xmlns:a="http://schemas.openxmlformats.org/drawingml/2006/main">
              <a:ext uri="{FF2B5EF4-FFF2-40B4-BE49-F238E27FC236}">
                <a16:creationId xmlns:a16="http://schemas.microsoft.com/office/drawing/2014/main" id="{DFE63353-80B9-4632-B510-6AAD3EFD25D7}"/>
              </a:ext>
            </a:extLst>
          </p:cNvPr>
          <p:cNvSpPr>
            <a:spLocks xmlns:a="http://schemas.openxmlformats.org/drawingml/2006/main" noGrp="1"/>
          </p:cNvSpPr>
          <p:nvPr/>
        </p:nvSpPr>
        <p:spPr>
          <a:xfrm xmlns:a="http://schemas.openxmlformats.org/drawingml/2006/main">
            <a:off x="9625432" y="186537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MDM / CDP</a:t>
            </a:r>
            <a:endParaRPr sz="1050"/>
          </a:p>
        </p:txBody>
      </p:sp>
      <p:sp>
        <p:nvSpPr>
          <p:cNvPr id="35" name="Shape 33">
            <a:extLst xmlns:a="http://schemas.openxmlformats.org/drawingml/2006/main">
              <a:ext uri="{FF2B5EF4-FFF2-40B4-BE49-F238E27FC236}">
                <a16:creationId xmlns:a16="http://schemas.microsoft.com/office/drawing/2014/main" id="{5D824244-E7E9-4CC7-8CB1-1BEF2E03175D}"/>
              </a:ext>
            </a:extLst>
          </p:cNvPr>
          <p:cNvSpPr>
            <a:spLocks xmlns:a="http://schemas.openxmlformats.org/drawingml/2006/main" noGrp="1"/>
          </p:cNvSpPr>
          <p:nvPr/>
        </p:nvSpPr>
        <p:spPr>
          <a:xfrm xmlns:a="http://schemas.openxmlformats.org/drawingml/2006/main">
            <a:off x="5090008" y="1453896"/>
            <a:ext cx="2011680" cy="749808"/>
          </a:xfrm>
          <a:prstGeom xmlns:a="http://schemas.openxmlformats.org/drawingml/2006/main" prst="roundRect">
            <a:avLst>
              <a:gd name="adj" fmla="val 13415"/>
            </a:avLst>
          </a:prstGeom>
          <a:solidFill xmlns:a="http://schemas.openxmlformats.org/drawingml/2006/main">
            <a:srgbClr val="FFFFFF"/>
          </a:solidFill>
          <a:ln xmlns:a="http://schemas.openxmlformats.org/drawingml/2006/main" w="19050">
            <a:solidFill>
              <a:srgbClr val="595959"/>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6" name="Text 34">
            <a:extLst xmlns:a="http://schemas.openxmlformats.org/drawingml/2006/main">
              <a:ext uri="{FF2B5EF4-FFF2-40B4-BE49-F238E27FC236}">
                <a16:creationId xmlns:a16="http://schemas.microsoft.com/office/drawing/2014/main" id="{AB851360-1AAC-427E-A37A-C64A9BBC4D63}"/>
              </a:ext>
            </a:extLst>
          </p:cNvPr>
          <p:cNvSpPr>
            <a:spLocks xmlns:a="http://schemas.openxmlformats.org/drawingml/2006/main" noGrp="1"/>
          </p:cNvSpPr>
          <p:nvPr/>
        </p:nvSpPr>
        <p:spPr>
          <a:xfrm xmlns:a="http://schemas.openxmlformats.org/drawingml/2006/main">
            <a:off x="5144872" y="1453896"/>
            <a:ext cx="1901952" cy="7498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SFTP · BPMA feeds</a:t>
            </a:r>
            <a:endParaRPr sz="1050"/>
          </a:p>
        </p:txBody>
      </p:sp>
      <p:sp>
        <p:nvSpPr>
          <p:cNvPr id="37" name="Text 35">
            <a:extLst xmlns:a="http://schemas.openxmlformats.org/drawingml/2006/main">
              <a:ext uri="{FF2B5EF4-FFF2-40B4-BE49-F238E27FC236}">
                <a16:creationId xmlns:a16="http://schemas.microsoft.com/office/drawing/2014/main" id="{E5B20505-1E2E-473D-967F-7A697511A3B1}"/>
              </a:ext>
            </a:extLst>
          </p:cNvPr>
          <p:cNvSpPr>
            <a:spLocks xmlns:a="http://schemas.openxmlformats.org/drawingml/2006/main" noGrp="1"/>
          </p:cNvSpPr>
          <p:nvPr/>
        </p:nvSpPr>
        <p:spPr>
          <a:xfrm xmlns:a="http://schemas.openxmlformats.org/drawingml/2006/main">
            <a:off x="548640" y="5961888"/>
            <a:ext cx="11094415"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050" i="1">
                <a:solidFill>
                  <a:srgbClr val="595959"/>
                </a:solidFill>
                <a:latin typeface="Calibri"/>
                <a:ea typeface="Calibri"/>
                <a:cs typeface="Calibri"/>
              </a:rPr>
              <a:t>Data exchange via secure REST / GraphQL APIs and message queues; unified API gateway with auth, throttling and audit; SSO across the Super App. Delivered under an AI-DLC / POD model.</a:t>
            </a:r>
            <a:endParaRPr sz="1050"/>
          </a:p>
        </p:txBody>
      </p:sp>
      <p:sp>
        <p:nvSpPr>
          <p:cNvPr id="38" name="Text 36">
            <a:extLst xmlns:a="http://schemas.openxmlformats.org/drawingml/2006/main">
              <a:ext uri="{FF2B5EF4-FFF2-40B4-BE49-F238E27FC236}">
                <a16:creationId xmlns:a16="http://schemas.microsoft.com/office/drawing/2014/main" id="{BBD0081D-947E-49D9-B1BF-4765F7A147E7}"/>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39" name="Text 37">
            <a:extLst xmlns:a="http://schemas.openxmlformats.org/drawingml/2006/main">
              <a:ext uri="{FF2B5EF4-FFF2-40B4-BE49-F238E27FC236}">
                <a16:creationId xmlns:a16="http://schemas.microsoft.com/office/drawing/2014/main" id="{F1AAFA0E-A072-46CB-9638-7A21E6157F24}"/>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09</a:t>
            </a:r>
            <a:endParaRPr sz="900"/>
          </a:p>
        </p:txBody>
      </p:sp>
    </p:spTree>
    <p:extLst>
      <p:ext uri="{BB962C8B-B14F-4D97-AF65-F5344CB8AC3E}">
        <p14:creationId xmlns:p14="http://schemas.microsoft.com/office/powerpoint/2010/main" val="36710205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D2D27D-A0E8-4434-9B83-F3B781FCE234}"/>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NON-FUNCTIONAL &amp; SECURITY</a:t>
            </a:r>
            <a:endParaRPr sz="1200"/>
          </a:p>
        </p:txBody>
      </p:sp>
      <p:sp>
        <p:nvSpPr>
          <p:cNvPr id="3" name="Text 1">
            <a:extLst xmlns:a="http://schemas.openxmlformats.org/drawingml/2006/main">
              <a:ext uri="{FF2B5EF4-FFF2-40B4-BE49-F238E27FC236}">
                <a16:creationId xmlns:a16="http://schemas.microsoft.com/office/drawing/2014/main" id="{401A7523-DBDA-46BD-9E11-5271B5DFD656}"/>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NFRs, security &amp; regulatory posture</a:t>
            </a:r>
            <a:endParaRPr sz="3000"/>
          </a:p>
        </p:txBody>
      </p:sp>
      <p:sp>
        <p:nvSpPr>
          <p:cNvPr id="4" name="Shape 2">
            <a:extLst xmlns:a="http://schemas.openxmlformats.org/drawingml/2006/main">
              <a:ext uri="{FF2B5EF4-FFF2-40B4-BE49-F238E27FC236}">
                <a16:creationId xmlns:a16="http://schemas.microsoft.com/office/drawing/2014/main" id="{456F7951-780E-4CAB-90A0-EDEFA8A06429}"/>
              </a:ext>
            </a:extLst>
          </p:cNvPr>
          <p:cNvSpPr>
            <a:spLocks xmlns:a="http://schemas.openxmlformats.org/drawingml/2006/main" noGrp="1"/>
          </p:cNvSpPr>
          <p:nvPr/>
        </p:nvSpPr>
        <p:spPr>
          <a:xfrm xmlns:a="http://schemas.openxmlformats.org/drawingml/2006/main">
            <a:off x="548640" y="1517904"/>
            <a:ext cx="5852160" cy="457200"/>
          </a:xfrm>
          <a:prstGeom xmlns:a="http://schemas.openxmlformats.org/drawingml/2006/main" prst="roundRect">
            <a:avLst>
              <a:gd name="adj" fmla="val 12000"/>
            </a:avLst>
          </a:prstGeom>
          <a:solidFill xmlns:a="http://schemas.openxmlformats.org/drawingml/2006/main">
            <a:srgbClr val="1F3A5F"/>
          </a:solidFill>
        </p:spPr>
      </p:sp>
      <p:sp>
        <p:nvSpPr>
          <p:cNvPr id="5" name="Text 3">
            <a:extLst xmlns:a="http://schemas.openxmlformats.org/drawingml/2006/main">
              <a:ext uri="{FF2B5EF4-FFF2-40B4-BE49-F238E27FC236}">
                <a16:creationId xmlns:a16="http://schemas.microsoft.com/office/drawing/2014/main" id="{438CF130-14AA-413B-9F6B-3891ADD16EEF}"/>
              </a:ext>
            </a:extLst>
          </p:cNvPr>
          <p:cNvSpPr>
            <a:spLocks xmlns:a="http://schemas.openxmlformats.org/drawingml/2006/main" noGrp="1"/>
          </p:cNvSpPr>
          <p:nvPr/>
        </p:nvSpPr>
        <p:spPr>
          <a:xfrm xmlns:a="http://schemas.openxmlformats.org/drawingml/2006/main">
            <a:off x="731520" y="1517904"/>
            <a:ext cx="5577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
                <a:solidFill>
                  <a:srgbClr val="FFFFFF"/>
                </a:solidFill>
                <a:latin typeface="Poppins"/>
                <a:ea typeface="Poppins"/>
                <a:cs typeface="Poppins"/>
              </a:rPr>
              <a:t>NON-FUNCTIONAL REQUIREMENTS</a:t>
            </a:r>
            <a:endParaRPr sz="1200"/>
          </a:p>
        </p:txBody>
      </p:sp>
      <p:sp>
        <p:nvSpPr>
          <p:cNvPr id="6" name="Shape 4">
            <a:extLst xmlns:a="http://schemas.openxmlformats.org/drawingml/2006/main">
              <a:ext uri="{FF2B5EF4-FFF2-40B4-BE49-F238E27FC236}">
                <a16:creationId xmlns:a16="http://schemas.microsoft.com/office/drawing/2014/main" id="{49583BAF-8407-4F35-8CD5-CAB1C159A805}"/>
              </a:ext>
            </a:extLst>
          </p:cNvPr>
          <p:cNvSpPr>
            <a:spLocks xmlns:a="http://schemas.openxmlformats.org/drawingml/2006/main" noGrp="1"/>
          </p:cNvSpPr>
          <p:nvPr/>
        </p:nvSpPr>
        <p:spPr>
          <a:xfrm xmlns:a="http://schemas.openxmlformats.org/drawingml/2006/main">
            <a:off x="548640" y="1975104"/>
            <a:ext cx="5852160" cy="566928"/>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9525">
            <a:solidFill>
              <a:srgbClr val="E5DEDB"/>
            </a:solidFill>
            <a:prstDash val="solid"/>
          </a:ln>
        </p:spPr>
      </p:sp>
      <p:sp>
        <p:nvSpPr>
          <p:cNvPr id="7" name="Text 5">
            <a:extLst xmlns:a="http://schemas.openxmlformats.org/drawingml/2006/main">
              <a:ext uri="{FF2B5EF4-FFF2-40B4-BE49-F238E27FC236}">
                <a16:creationId xmlns:a16="http://schemas.microsoft.com/office/drawing/2014/main" id="{35B8A1A4-9D33-4C8D-88D1-1AEA24ECFB34}"/>
              </a:ext>
            </a:extLst>
          </p:cNvPr>
          <p:cNvSpPr>
            <a:spLocks xmlns:a="http://schemas.openxmlformats.org/drawingml/2006/main" noGrp="1"/>
          </p:cNvSpPr>
          <p:nvPr/>
        </p:nvSpPr>
        <p:spPr>
          <a:xfrm xmlns:a="http://schemas.openxmlformats.org/drawingml/2006/main">
            <a:off x="694944" y="1975104"/>
            <a:ext cx="1554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Performance</a:t>
            </a:r>
            <a:endParaRPr sz="1100"/>
          </a:p>
        </p:txBody>
      </p:sp>
      <p:sp>
        <p:nvSpPr>
          <p:cNvPr id="8" name="Text 6">
            <a:extLst xmlns:a="http://schemas.openxmlformats.org/drawingml/2006/main">
              <a:ext uri="{FF2B5EF4-FFF2-40B4-BE49-F238E27FC236}">
                <a16:creationId xmlns:a16="http://schemas.microsoft.com/office/drawing/2014/main" id="{0F94390D-0C03-4481-8E40-B5735E5089C5}"/>
              </a:ext>
            </a:extLst>
          </p:cNvPr>
          <p:cNvSpPr>
            <a:spLocks xmlns:a="http://schemas.openxmlformats.org/drawingml/2006/main" noGrp="1"/>
          </p:cNvSpPr>
          <p:nvPr/>
        </p:nvSpPr>
        <p:spPr>
          <a:xfrm xmlns:a="http://schemas.openxmlformats.org/drawingml/2006/main">
            <a:off x="2286000" y="1975104"/>
            <a:ext cx="3977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p95 read &lt; 300 ms · write &lt; 600 ms; screens &lt; 2s on 4G; UI API &lt; 3s</a:t>
            </a:r>
            <a:endParaRPr sz="1000"/>
          </a:p>
        </p:txBody>
      </p:sp>
      <p:sp>
        <p:nvSpPr>
          <p:cNvPr id="9" name="Shape 7">
            <a:extLst xmlns:a="http://schemas.openxmlformats.org/drawingml/2006/main">
              <a:ext uri="{FF2B5EF4-FFF2-40B4-BE49-F238E27FC236}">
                <a16:creationId xmlns:a16="http://schemas.microsoft.com/office/drawing/2014/main" id="{40867F39-097A-46AF-950D-B5B7EDB84ACD}"/>
              </a:ext>
            </a:extLst>
          </p:cNvPr>
          <p:cNvSpPr>
            <a:spLocks xmlns:a="http://schemas.openxmlformats.org/drawingml/2006/main" noGrp="1"/>
          </p:cNvSpPr>
          <p:nvPr/>
        </p:nvSpPr>
        <p:spPr>
          <a:xfrm xmlns:a="http://schemas.openxmlformats.org/drawingml/2006/main">
            <a:off x="548640" y="2542032"/>
            <a:ext cx="5852160" cy="566928"/>
          </a:xfrm>
          <a:prstGeom xmlns:a="http://schemas.openxmlformats.org/drawingml/2006/main" prst="roundRect">
            <a:avLst>
              <a:gd name="adj" fmla="val 17742"/>
            </a:avLst>
          </a:prstGeom>
          <a:solidFill xmlns:a="http://schemas.openxmlformats.org/drawingml/2006/main">
            <a:srgbClr val="F7F5F4"/>
          </a:solidFill>
          <a:ln xmlns:a="http://schemas.openxmlformats.org/drawingml/2006/main" w="9525">
            <a:solidFill>
              <a:srgbClr val="E5DEDB"/>
            </a:solidFill>
            <a:prstDash val="solid"/>
          </a:ln>
        </p:spPr>
      </p:sp>
      <p:sp>
        <p:nvSpPr>
          <p:cNvPr id="10" name="Text 8">
            <a:extLst xmlns:a="http://schemas.openxmlformats.org/drawingml/2006/main">
              <a:ext uri="{FF2B5EF4-FFF2-40B4-BE49-F238E27FC236}">
                <a16:creationId xmlns:a16="http://schemas.microsoft.com/office/drawing/2014/main" id="{2BCC0D72-7303-4A8E-95FB-48A51CD90E2A}"/>
              </a:ext>
            </a:extLst>
          </p:cNvPr>
          <p:cNvSpPr>
            <a:spLocks xmlns:a="http://schemas.openxmlformats.org/drawingml/2006/main" noGrp="1"/>
          </p:cNvSpPr>
          <p:nvPr/>
        </p:nvSpPr>
        <p:spPr>
          <a:xfrm xmlns:a="http://schemas.openxmlformats.org/drawingml/2006/main">
            <a:off x="694944" y="2542032"/>
            <a:ext cx="1554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Availability</a:t>
            </a:r>
            <a:endParaRPr sz="1100"/>
          </a:p>
        </p:txBody>
      </p:sp>
      <p:sp>
        <p:nvSpPr>
          <p:cNvPr id="11" name="Text 9">
            <a:extLst xmlns:a="http://schemas.openxmlformats.org/drawingml/2006/main">
              <a:ext uri="{FF2B5EF4-FFF2-40B4-BE49-F238E27FC236}">
                <a16:creationId xmlns:a16="http://schemas.microsoft.com/office/drawing/2014/main" id="{EAAED105-8ACA-43BA-B654-6CD2536680E6}"/>
              </a:ext>
            </a:extLst>
          </p:cNvPr>
          <p:cNvSpPr>
            <a:spLocks xmlns:a="http://schemas.openxmlformats.org/drawingml/2006/main" noGrp="1"/>
          </p:cNvSpPr>
          <p:nvPr/>
        </p:nvSpPr>
        <p:spPr>
          <a:xfrm xmlns:a="http://schemas.openxmlformats.org/drawingml/2006/main">
            <a:off x="2286000" y="2542032"/>
            <a:ext cx="3977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99.9% prod · 99.5% non-prod  (MOS also cites 99.99% / 99.999%)</a:t>
            </a:r>
            <a:endParaRPr sz="1000"/>
          </a:p>
        </p:txBody>
      </p:sp>
      <p:sp>
        <p:nvSpPr>
          <p:cNvPr id="12" name="Shape 10">
            <a:extLst xmlns:a="http://schemas.openxmlformats.org/drawingml/2006/main">
              <a:ext uri="{FF2B5EF4-FFF2-40B4-BE49-F238E27FC236}">
                <a16:creationId xmlns:a16="http://schemas.microsoft.com/office/drawing/2014/main" id="{32FEE87C-98ED-4A89-A41F-4A70EF6054DD}"/>
              </a:ext>
            </a:extLst>
          </p:cNvPr>
          <p:cNvSpPr>
            <a:spLocks xmlns:a="http://schemas.openxmlformats.org/drawingml/2006/main" noGrp="1"/>
          </p:cNvSpPr>
          <p:nvPr/>
        </p:nvSpPr>
        <p:spPr>
          <a:xfrm xmlns:a="http://schemas.openxmlformats.org/drawingml/2006/main">
            <a:off x="548640" y="3108960"/>
            <a:ext cx="5852160" cy="566928"/>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9525">
            <a:solidFill>
              <a:srgbClr val="E5DEDB"/>
            </a:solidFill>
            <a:prstDash val="solid"/>
          </a:ln>
        </p:spPr>
      </p:sp>
      <p:sp>
        <p:nvSpPr>
          <p:cNvPr id="13" name="Text 11">
            <a:extLst xmlns:a="http://schemas.openxmlformats.org/drawingml/2006/main">
              <a:ext uri="{FF2B5EF4-FFF2-40B4-BE49-F238E27FC236}">
                <a16:creationId xmlns:a16="http://schemas.microsoft.com/office/drawing/2014/main" id="{5AC4AA48-7ED5-4CDE-BE45-A5A22BEAB8F0}"/>
              </a:ext>
            </a:extLst>
          </p:cNvPr>
          <p:cNvSpPr>
            <a:spLocks xmlns:a="http://schemas.openxmlformats.org/drawingml/2006/main" noGrp="1"/>
          </p:cNvSpPr>
          <p:nvPr/>
        </p:nvSpPr>
        <p:spPr>
          <a:xfrm xmlns:a="http://schemas.openxmlformats.org/drawingml/2006/main">
            <a:off x="694944" y="3108960"/>
            <a:ext cx="1554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Scalability</a:t>
            </a:r>
            <a:endParaRPr sz="1100"/>
          </a:p>
        </p:txBody>
      </p:sp>
      <p:sp>
        <p:nvSpPr>
          <p:cNvPr id="14" name="Text 12">
            <a:extLst xmlns:a="http://schemas.openxmlformats.org/drawingml/2006/main">
              <a:ext uri="{FF2B5EF4-FFF2-40B4-BE49-F238E27FC236}">
                <a16:creationId xmlns:a16="http://schemas.microsoft.com/office/drawing/2014/main" id="{89B39787-2228-497F-9098-4C0E252B7041}"/>
              </a:ext>
            </a:extLst>
          </p:cNvPr>
          <p:cNvSpPr>
            <a:spLocks xmlns:a="http://schemas.openxmlformats.org/drawingml/2006/main" noGrp="1"/>
          </p:cNvSpPr>
          <p:nvPr/>
        </p:nvSpPr>
        <p:spPr>
          <a:xfrm xmlns:a="http://schemas.openxmlformats.org/drawingml/2006/main">
            <a:off x="2286000" y="3108960"/>
            <a:ext cx="3977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Horizontal auto-scale (up/down) for campaign / JFM / DFM load</a:t>
            </a:r>
            <a:endParaRPr sz="1000"/>
          </a:p>
        </p:txBody>
      </p:sp>
      <p:sp>
        <p:nvSpPr>
          <p:cNvPr id="15" name="Shape 13">
            <a:extLst xmlns:a="http://schemas.openxmlformats.org/drawingml/2006/main">
              <a:ext uri="{FF2B5EF4-FFF2-40B4-BE49-F238E27FC236}">
                <a16:creationId xmlns:a16="http://schemas.microsoft.com/office/drawing/2014/main" id="{48C5793B-5AD4-45CC-9FCD-A303A258796A}"/>
              </a:ext>
            </a:extLst>
          </p:cNvPr>
          <p:cNvSpPr>
            <a:spLocks xmlns:a="http://schemas.openxmlformats.org/drawingml/2006/main" noGrp="1"/>
          </p:cNvSpPr>
          <p:nvPr/>
        </p:nvSpPr>
        <p:spPr>
          <a:xfrm xmlns:a="http://schemas.openxmlformats.org/drawingml/2006/main">
            <a:off x="548640" y="3675888"/>
            <a:ext cx="5852160" cy="566928"/>
          </a:xfrm>
          <a:prstGeom xmlns:a="http://schemas.openxmlformats.org/drawingml/2006/main" prst="roundRect">
            <a:avLst>
              <a:gd name="adj" fmla="val 17742"/>
            </a:avLst>
          </a:prstGeom>
          <a:solidFill xmlns:a="http://schemas.openxmlformats.org/drawingml/2006/main">
            <a:srgbClr val="F7F5F4"/>
          </a:solidFill>
          <a:ln xmlns:a="http://schemas.openxmlformats.org/drawingml/2006/main" w="9525">
            <a:solidFill>
              <a:srgbClr val="E5DEDB"/>
            </a:solidFill>
            <a:prstDash val="solid"/>
          </a:ln>
        </p:spPr>
      </p:sp>
      <p:sp>
        <p:nvSpPr>
          <p:cNvPr id="16" name="Text 14">
            <a:extLst xmlns:a="http://schemas.openxmlformats.org/drawingml/2006/main">
              <a:ext uri="{FF2B5EF4-FFF2-40B4-BE49-F238E27FC236}">
                <a16:creationId xmlns:a16="http://schemas.microsoft.com/office/drawing/2014/main" id="{700F9AFE-EA80-487E-868E-3C736FE8724F}"/>
              </a:ext>
            </a:extLst>
          </p:cNvPr>
          <p:cNvSpPr>
            <a:spLocks xmlns:a="http://schemas.openxmlformats.org/drawingml/2006/main" noGrp="1"/>
          </p:cNvSpPr>
          <p:nvPr/>
        </p:nvSpPr>
        <p:spPr>
          <a:xfrm xmlns:a="http://schemas.openxmlformats.org/drawingml/2006/main">
            <a:off x="694944" y="3675888"/>
            <a:ext cx="1554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Throughput</a:t>
            </a:r>
            <a:endParaRPr sz="1100"/>
          </a:p>
        </p:txBody>
      </p:sp>
      <p:sp>
        <p:nvSpPr>
          <p:cNvPr id="17" name="Text 15">
            <a:extLst xmlns:a="http://schemas.openxmlformats.org/drawingml/2006/main">
              <a:ext uri="{FF2B5EF4-FFF2-40B4-BE49-F238E27FC236}">
                <a16:creationId xmlns:a16="http://schemas.microsoft.com/office/drawing/2014/main" id="{70E78BD0-FF04-4298-A638-AC77A4DC1E29}"/>
              </a:ext>
            </a:extLst>
          </p:cNvPr>
          <p:cNvSpPr>
            <a:spLocks xmlns:a="http://schemas.openxmlformats.org/drawingml/2006/main" noGrp="1"/>
          </p:cNvSpPr>
          <p:nvPr/>
        </p:nvSpPr>
        <p:spPr>
          <a:xfrm xmlns:a="http://schemas.openxmlformats.org/drawingml/2006/main">
            <a:off x="2286000" y="3675888"/>
            <a:ext cx="3977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Peak ~16 API calls/sec (1,000 calls/min); throttling enforced</a:t>
            </a:r>
            <a:endParaRPr sz="1000"/>
          </a:p>
        </p:txBody>
      </p:sp>
      <p:sp>
        <p:nvSpPr>
          <p:cNvPr id="18" name="Shape 16">
            <a:extLst xmlns:a="http://schemas.openxmlformats.org/drawingml/2006/main">
              <a:ext uri="{FF2B5EF4-FFF2-40B4-BE49-F238E27FC236}">
                <a16:creationId xmlns:a16="http://schemas.microsoft.com/office/drawing/2014/main" id="{41BC1BA3-784C-4B00-9C71-0B62986258B9}"/>
              </a:ext>
            </a:extLst>
          </p:cNvPr>
          <p:cNvSpPr>
            <a:spLocks xmlns:a="http://schemas.openxmlformats.org/drawingml/2006/main" noGrp="1"/>
          </p:cNvSpPr>
          <p:nvPr/>
        </p:nvSpPr>
        <p:spPr>
          <a:xfrm xmlns:a="http://schemas.openxmlformats.org/drawingml/2006/main">
            <a:off x="548640" y="4242816"/>
            <a:ext cx="5852160" cy="566928"/>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9525">
            <a:solidFill>
              <a:srgbClr val="E5DEDB"/>
            </a:solidFill>
            <a:prstDash val="solid"/>
          </a:ln>
        </p:spPr>
      </p:sp>
      <p:sp>
        <p:nvSpPr>
          <p:cNvPr id="19" name="Text 17">
            <a:extLst xmlns:a="http://schemas.openxmlformats.org/drawingml/2006/main">
              <a:ext uri="{FF2B5EF4-FFF2-40B4-BE49-F238E27FC236}">
                <a16:creationId xmlns:a16="http://schemas.microsoft.com/office/drawing/2014/main" id="{F43E8A97-8B95-4C0B-A7FF-79CBE9FC040B}"/>
              </a:ext>
            </a:extLst>
          </p:cNvPr>
          <p:cNvSpPr>
            <a:spLocks xmlns:a="http://schemas.openxmlformats.org/drawingml/2006/main" noGrp="1"/>
          </p:cNvSpPr>
          <p:nvPr/>
        </p:nvSpPr>
        <p:spPr>
          <a:xfrm xmlns:a="http://schemas.openxmlformats.org/drawingml/2006/main">
            <a:off x="694944" y="4242816"/>
            <a:ext cx="1554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Resilience / DR</a:t>
            </a:r>
            <a:endParaRPr sz="1100"/>
          </a:p>
        </p:txBody>
      </p:sp>
      <p:sp>
        <p:nvSpPr>
          <p:cNvPr id="20" name="Text 18">
            <a:extLst xmlns:a="http://schemas.openxmlformats.org/drawingml/2006/main">
              <a:ext uri="{FF2B5EF4-FFF2-40B4-BE49-F238E27FC236}">
                <a16:creationId xmlns:a16="http://schemas.microsoft.com/office/drawing/2014/main" id="{19D97079-3D4B-4B14-8E50-E8D086F431FF}"/>
              </a:ext>
            </a:extLst>
          </p:cNvPr>
          <p:cNvSpPr>
            <a:spLocks xmlns:a="http://schemas.openxmlformats.org/drawingml/2006/main" noGrp="1"/>
          </p:cNvSpPr>
          <p:nvPr/>
        </p:nvSpPr>
        <p:spPr>
          <a:xfrm xmlns:a="http://schemas.openxmlformats.org/drawingml/2006/main">
            <a:off x="2286000" y="4242816"/>
            <a:ext cx="3977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RTO &lt; 10 min · RPO &lt; 5 min; RCO, BCP &amp; call-tree; active-active/passive</a:t>
            </a:r>
            <a:endParaRPr sz="1000"/>
          </a:p>
        </p:txBody>
      </p:sp>
      <p:sp>
        <p:nvSpPr>
          <p:cNvPr id="21" name="Shape 19">
            <a:extLst xmlns:a="http://schemas.openxmlformats.org/drawingml/2006/main">
              <a:ext uri="{FF2B5EF4-FFF2-40B4-BE49-F238E27FC236}">
                <a16:creationId xmlns:a16="http://schemas.microsoft.com/office/drawing/2014/main" id="{A8F0B6E1-E6C1-462C-9A1D-1799E78FAA21}"/>
              </a:ext>
            </a:extLst>
          </p:cNvPr>
          <p:cNvSpPr>
            <a:spLocks xmlns:a="http://schemas.openxmlformats.org/drawingml/2006/main" noGrp="1"/>
          </p:cNvSpPr>
          <p:nvPr/>
        </p:nvSpPr>
        <p:spPr>
          <a:xfrm xmlns:a="http://schemas.openxmlformats.org/drawingml/2006/main">
            <a:off x="548640" y="4809744"/>
            <a:ext cx="5852160" cy="566928"/>
          </a:xfrm>
          <a:prstGeom xmlns:a="http://schemas.openxmlformats.org/drawingml/2006/main" prst="roundRect">
            <a:avLst>
              <a:gd name="adj" fmla="val 17742"/>
            </a:avLst>
          </a:prstGeom>
          <a:solidFill xmlns:a="http://schemas.openxmlformats.org/drawingml/2006/main">
            <a:srgbClr val="F7F5F4"/>
          </a:solidFill>
          <a:ln xmlns:a="http://schemas.openxmlformats.org/drawingml/2006/main" w="9525">
            <a:solidFill>
              <a:srgbClr val="E5DEDB"/>
            </a:solidFill>
            <a:prstDash val="solid"/>
          </a:ln>
        </p:spPr>
      </p:sp>
      <p:sp>
        <p:nvSpPr>
          <p:cNvPr id="22" name="Text 20">
            <a:extLst xmlns:a="http://schemas.openxmlformats.org/drawingml/2006/main">
              <a:ext uri="{FF2B5EF4-FFF2-40B4-BE49-F238E27FC236}">
                <a16:creationId xmlns:a16="http://schemas.microsoft.com/office/drawing/2014/main" id="{AD380569-DB23-4AAA-B3DB-624788CE44FA}"/>
              </a:ext>
            </a:extLst>
          </p:cNvPr>
          <p:cNvSpPr>
            <a:spLocks xmlns:a="http://schemas.openxmlformats.org/drawingml/2006/main" noGrp="1"/>
          </p:cNvSpPr>
          <p:nvPr/>
        </p:nvSpPr>
        <p:spPr>
          <a:xfrm xmlns:a="http://schemas.openxmlformats.org/drawingml/2006/main">
            <a:off x="694944" y="4809744"/>
            <a:ext cx="1554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Reliability</a:t>
            </a:r>
            <a:endParaRPr sz="1100"/>
          </a:p>
        </p:txBody>
      </p:sp>
      <p:sp>
        <p:nvSpPr>
          <p:cNvPr id="23" name="Text 21">
            <a:extLst xmlns:a="http://schemas.openxmlformats.org/drawingml/2006/main">
              <a:ext uri="{FF2B5EF4-FFF2-40B4-BE49-F238E27FC236}">
                <a16:creationId xmlns:a16="http://schemas.microsoft.com/office/drawing/2014/main" id="{8E988140-843E-4F42-A391-9A86421B5F42}"/>
              </a:ext>
            </a:extLst>
          </p:cNvPr>
          <p:cNvSpPr>
            <a:spLocks xmlns:a="http://schemas.openxmlformats.org/drawingml/2006/main" noGrp="1"/>
          </p:cNvSpPr>
          <p:nvPr/>
        </p:nvSpPr>
        <p:spPr>
          <a:xfrm xmlns:a="http://schemas.openxmlformats.org/drawingml/2006/main">
            <a:off x="2286000" y="4809744"/>
            <a:ext cx="3977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Erroneous txns &lt; 1%; financial txns recoverable &amp; never lost; retries</a:t>
            </a:r>
            <a:endParaRPr sz="1000"/>
          </a:p>
        </p:txBody>
      </p:sp>
      <p:sp>
        <p:nvSpPr>
          <p:cNvPr id="24" name="Shape 22">
            <a:extLst xmlns:a="http://schemas.openxmlformats.org/drawingml/2006/main">
              <a:ext uri="{FF2B5EF4-FFF2-40B4-BE49-F238E27FC236}">
                <a16:creationId xmlns:a16="http://schemas.microsoft.com/office/drawing/2014/main" id="{FC286A55-3F6C-4B7D-AF71-58A38D6451AA}"/>
              </a:ext>
            </a:extLst>
          </p:cNvPr>
          <p:cNvSpPr>
            <a:spLocks xmlns:a="http://schemas.openxmlformats.org/drawingml/2006/main" noGrp="1"/>
          </p:cNvSpPr>
          <p:nvPr/>
        </p:nvSpPr>
        <p:spPr>
          <a:xfrm xmlns:a="http://schemas.openxmlformats.org/drawingml/2006/main">
            <a:off x="548640" y="5376672"/>
            <a:ext cx="5852160" cy="566928"/>
          </a:xfrm>
          <a:prstGeom xmlns:a="http://schemas.openxmlformats.org/drawingml/2006/main" prst="roundRect">
            <a:avLst>
              <a:gd name="adj" fmla="val 17742"/>
            </a:avLst>
          </a:prstGeom>
          <a:solidFill xmlns:a="http://schemas.openxmlformats.org/drawingml/2006/main">
            <a:srgbClr val="FFFFFF"/>
          </a:solidFill>
          <a:ln xmlns:a="http://schemas.openxmlformats.org/drawingml/2006/main" w="9525">
            <a:solidFill>
              <a:srgbClr val="E5DEDB"/>
            </a:solidFill>
            <a:prstDash val="solid"/>
          </a:ln>
        </p:spPr>
      </p:sp>
      <p:sp>
        <p:nvSpPr>
          <p:cNvPr id="25" name="Text 23">
            <a:extLst xmlns:a="http://schemas.openxmlformats.org/drawingml/2006/main">
              <a:ext uri="{FF2B5EF4-FFF2-40B4-BE49-F238E27FC236}">
                <a16:creationId xmlns:a16="http://schemas.microsoft.com/office/drawing/2014/main" id="{1DA4BE14-6853-467C-8717-2AA0C24246B7}"/>
              </a:ext>
            </a:extLst>
          </p:cNvPr>
          <p:cNvSpPr>
            <a:spLocks xmlns:a="http://schemas.openxmlformats.org/drawingml/2006/main" noGrp="1"/>
          </p:cNvSpPr>
          <p:nvPr/>
        </p:nvSpPr>
        <p:spPr>
          <a:xfrm xmlns:a="http://schemas.openxmlformats.org/drawingml/2006/main">
            <a:off x="694944" y="5376672"/>
            <a:ext cx="15544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EE2B76"/>
                </a:solidFill>
                <a:latin typeface="Poppins"/>
                <a:ea typeface="Poppins"/>
                <a:cs typeface="Poppins"/>
              </a:rPr>
              <a:t>Observability</a:t>
            </a:r>
            <a:endParaRPr sz="1100"/>
          </a:p>
        </p:txBody>
      </p:sp>
      <p:sp>
        <p:nvSpPr>
          <p:cNvPr id="26" name="Text 24">
            <a:extLst xmlns:a="http://schemas.openxmlformats.org/drawingml/2006/main">
              <a:ext uri="{FF2B5EF4-FFF2-40B4-BE49-F238E27FC236}">
                <a16:creationId xmlns:a16="http://schemas.microsoft.com/office/drawing/2014/main" id="{141F19CB-8105-4746-9D96-560A66775EE3}"/>
              </a:ext>
            </a:extLst>
          </p:cNvPr>
          <p:cNvSpPr>
            <a:spLocks xmlns:a="http://schemas.openxmlformats.org/drawingml/2006/main" noGrp="1"/>
          </p:cNvSpPr>
          <p:nvPr/>
        </p:nvSpPr>
        <p:spPr>
          <a:xfrm xmlns:a="http://schemas.openxmlformats.org/drawingml/2006/main">
            <a:off x="2286000" y="5376672"/>
            <a:ext cx="39776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Integrate with AMLI APM (AppDynamics / Dynatrace); immutable audit logs</a:t>
            </a:r>
            <a:endParaRPr sz="1000"/>
          </a:p>
        </p:txBody>
      </p:sp>
      <p:sp>
        <p:nvSpPr>
          <p:cNvPr id="27" name="Text 25">
            <a:extLst xmlns:a="http://schemas.openxmlformats.org/drawingml/2006/main">
              <a:ext uri="{FF2B5EF4-FFF2-40B4-BE49-F238E27FC236}">
                <a16:creationId xmlns:a16="http://schemas.microsoft.com/office/drawing/2014/main" id="{17C0B25D-B8D8-4EE6-B002-A96F41BA7B7C}"/>
              </a:ext>
            </a:extLst>
          </p:cNvPr>
          <p:cNvSpPr>
            <a:spLocks xmlns:a="http://schemas.openxmlformats.org/drawingml/2006/main" noGrp="1"/>
          </p:cNvSpPr>
          <p:nvPr/>
        </p:nvSpPr>
        <p:spPr>
          <a:xfrm xmlns:a="http://schemas.openxmlformats.org/drawingml/2006/main">
            <a:off x="6766560" y="1517904"/>
            <a:ext cx="487649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100">
                <a:solidFill>
                  <a:srgbClr val="EE2B76"/>
                </a:solidFill>
                <a:latin typeface="Poppins"/>
                <a:ea typeface="Poppins"/>
                <a:cs typeface="Poppins"/>
              </a:rPr>
              <a:t>SECURITY &amp; COMPLIANCE CONTROLS</a:t>
            </a:r>
            <a:endParaRPr sz="1200"/>
          </a:p>
        </p:txBody>
      </p:sp>
      <p:sp>
        <p:nvSpPr>
          <p:cNvPr id="28" name="Shape 26">
            <a:extLst xmlns:a="http://schemas.openxmlformats.org/drawingml/2006/main">
              <a:ext uri="{FF2B5EF4-FFF2-40B4-BE49-F238E27FC236}">
                <a16:creationId xmlns:a16="http://schemas.microsoft.com/office/drawing/2014/main" id="{EFDC41F2-C1EE-4D1C-BD24-2AFB9547869E}"/>
              </a:ext>
            </a:extLst>
          </p:cNvPr>
          <p:cNvSpPr>
            <a:spLocks xmlns:a="http://schemas.openxmlformats.org/drawingml/2006/main" noGrp="1"/>
          </p:cNvSpPr>
          <p:nvPr/>
        </p:nvSpPr>
        <p:spPr>
          <a:xfrm xmlns:a="http://schemas.openxmlformats.org/drawingml/2006/main">
            <a:off x="6766560" y="1920240"/>
            <a:ext cx="1825142"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09" name="Image 0"/>
          <p:cNvPicPr>
            <a:picLocks xmlns:a="http://schemas.openxmlformats.org/drawingml/2006/main" noChangeAspect="1"/>
          </p:cNvPicPr>
          <p:nvPr/>
        </p:nvPicPr>
        <p:blipFill>
          <a:blip xmlns:r="http://schemas.openxmlformats.org/officeDocument/2006/relationships" xmlns:a="http://schemas.openxmlformats.org/drawingml/2006/main" r:embed="R2d684e2527d34dc9"/>
          <a:stretch xmlns:a="http://schemas.openxmlformats.org/drawingml/2006/main">
            <a:fillRect l="0" t="0" r="0" b="0"/>
          </a:stretch>
        </p:blipFill>
        <p:spPr>
          <a:xfrm xmlns:a="http://schemas.openxmlformats.org/drawingml/2006/main">
            <a:off x="6885432" y="2029968"/>
            <a:ext cx="201168" cy="201168"/>
          </a:xfrm>
          <a:prstGeom xmlns:a="http://schemas.openxmlformats.org/drawingml/2006/main" prst="rect">
            <a:avLst/>
          </a:prstGeom>
        </p:spPr>
      </p:pic>
      <p:sp>
        <p:nvSpPr>
          <p:cNvPr id="30" name="Text 27">
            <a:extLst xmlns:a="http://schemas.openxmlformats.org/drawingml/2006/main">
              <a:ext uri="{FF2B5EF4-FFF2-40B4-BE49-F238E27FC236}">
                <a16:creationId xmlns:a16="http://schemas.microsoft.com/office/drawing/2014/main" id="{342BC3E0-038E-4803-A273-09FCAF55DB18}"/>
              </a:ext>
            </a:extLst>
          </p:cNvPr>
          <p:cNvSpPr>
            <a:spLocks xmlns:a="http://schemas.openxmlformats.org/drawingml/2006/main" noGrp="1"/>
          </p:cNvSpPr>
          <p:nvPr/>
        </p:nvSpPr>
        <p:spPr>
          <a:xfrm xmlns:a="http://schemas.openxmlformats.org/drawingml/2006/main">
            <a:off x="7123176" y="1920240"/>
            <a:ext cx="140451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Zero-Trust · RBAC + ABAC</a:t>
            </a:r>
            <a:endParaRPr sz="950"/>
          </a:p>
        </p:txBody>
      </p:sp>
      <p:sp>
        <p:nvSpPr>
          <p:cNvPr id="31" name="Shape 28">
            <a:extLst xmlns:a="http://schemas.openxmlformats.org/drawingml/2006/main">
              <a:ext uri="{FF2B5EF4-FFF2-40B4-BE49-F238E27FC236}">
                <a16:creationId xmlns:a16="http://schemas.microsoft.com/office/drawing/2014/main" id="{C93C34D0-0A7E-4AC5-B3DD-1BC137F1DFE4}"/>
              </a:ext>
            </a:extLst>
          </p:cNvPr>
          <p:cNvSpPr>
            <a:spLocks xmlns:a="http://schemas.openxmlformats.org/drawingml/2006/main" noGrp="1"/>
          </p:cNvSpPr>
          <p:nvPr/>
        </p:nvSpPr>
        <p:spPr>
          <a:xfrm xmlns:a="http://schemas.openxmlformats.org/drawingml/2006/main">
            <a:off x="8719718" y="1920240"/>
            <a:ext cx="1257300"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12" name="Image 1"/>
          <p:cNvPicPr>
            <a:picLocks xmlns:a="http://schemas.openxmlformats.org/drawingml/2006/main" noChangeAspect="1"/>
          </p:cNvPicPr>
          <p:nvPr/>
        </p:nvPicPr>
        <p:blipFill>
          <a:blip xmlns:r="http://schemas.openxmlformats.org/officeDocument/2006/relationships" xmlns:a="http://schemas.openxmlformats.org/drawingml/2006/main" r:embed="Ree5ca0fc0abe4367"/>
          <a:stretch xmlns:a="http://schemas.openxmlformats.org/drawingml/2006/main">
            <a:fillRect l="0" t="0" r="0" b="0"/>
          </a:stretch>
        </p:blipFill>
        <p:spPr>
          <a:xfrm xmlns:a="http://schemas.openxmlformats.org/drawingml/2006/main">
            <a:off x="8838590" y="2029968"/>
            <a:ext cx="201168" cy="201168"/>
          </a:xfrm>
          <a:prstGeom xmlns:a="http://schemas.openxmlformats.org/drawingml/2006/main" prst="rect">
            <a:avLst/>
          </a:prstGeom>
        </p:spPr>
      </p:pic>
      <p:sp>
        <p:nvSpPr>
          <p:cNvPr id="33" name="Text 29">
            <a:extLst xmlns:a="http://schemas.openxmlformats.org/drawingml/2006/main">
              <a:ext uri="{FF2B5EF4-FFF2-40B4-BE49-F238E27FC236}">
                <a16:creationId xmlns:a16="http://schemas.microsoft.com/office/drawing/2014/main" id="{D06AAC8E-589B-4CCE-874A-706EB3D73122}"/>
              </a:ext>
            </a:extLst>
          </p:cNvPr>
          <p:cNvSpPr>
            <a:spLocks xmlns:a="http://schemas.openxmlformats.org/drawingml/2006/main" noGrp="1"/>
          </p:cNvSpPr>
          <p:nvPr/>
        </p:nvSpPr>
        <p:spPr>
          <a:xfrm xmlns:a="http://schemas.openxmlformats.org/drawingml/2006/main">
            <a:off x="9076334" y="1920240"/>
            <a:ext cx="836676"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AES-256 at rest</a:t>
            </a:r>
            <a:endParaRPr sz="950"/>
          </a:p>
        </p:txBody>
      </p:sp>
      <p:sp>
        <p:nvSpPr>
          <p:cNvPr id="34" name="Shape 30">
            <a:extLst xmlns:a="http://schemas.openxmlformats.org/drawingml/2006/main">
              <a:ext uri="{FF2B5EF4-FFF2-40B4-BE49-F238E27FC236}">
                <a16:creationId xmlns:a16="http://schemas.microsoft.com/office/drawing/2014/main" id="{12D8FF5C-B46C-472F-BDBA-65BF4962CCC3}"/>
              </a:ext>
            </a:extLst>
          </p:cNvPr>
          <p:cNvSpPr>
            <a:spLocks xmlns:a="http://schemas.openxmlformats.org/drawingml/2006/main" noGrp="1"/>
          </p:cNvSpPr>
          <p:nvPr/>
        </p:nvSpPr>
        <p:spPr>
          <a:xfrm xmlns:a="http://schemas.openxmlformats.org/drawingml/2006/main">
            <a:off x="10105034" y="1920240"/>
            <a:ext cx="1446581"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15" name="Image 2"/>
          <p:cNvPicPr>
            <a:picLocks xmlns:a="http://schemas.openxmlformats.org/drawingml/2006/main" noChangeAspect="1"/>
          </p:cNvPicPr>
          <p:nvPr/>
        </p:nvPicPr>
        <p:blipFill>
          <a:blip xmlns:r="http://schemas.openxmlformats.org/officeDocument/2006/relationships" xmlns:a="http://schemas.openxmlformats.org/drawingml/2006/main" r:embed="R281ea88691b444cc"/>
          <a:stretch xmlns:a="http://schemas.openxmlformats.org/drawingml/2006/main">
            <a:fillRect l="0" t="0" r="0" b="0"/>
          </a:stretch>
        </p:blipFill>
        <p:spPr>
          <a:xfrm xmlns:a="http://schemas.openxmlformats.org/drawingml/2006/main">
            <a:off x="10223906" y="2029968"/>
            <a:ext cx="201168" cy="201168"/>
          </a:xfrm>
          <a:prstGeom xmlns:a="http://schemas.openxmlformats.org/drawingml/2006/main" prst="rect">
            <a:avLst/>
          </a:prstGeom>
        </p:spPr>
      </p:pic>
      <p:sp>
        <p:nvSpPr>
          <p:cNvPr id="36" name="Text 31">
            <a:extLst xmlns:a="http://schemas.openxmlformats.org/drawingml/2006/main">
              <a:ext uri="{FF2B5EF4-FFF2-40B4-BE49-F238E27FC236}">
                <a16:creationId xmlns:a16="http://schemas.microsoft.com/office/drawing/2014/main" id="{90DD6F70-F7E6-4127-A7FA-30D2DA1F5B09}"/>
              </a:ext>
            </a:extLst>
          </p:cNvPr>
          <p:cNvSpPr>
            <a:spLocks xmlns:a="http://schemas.openxmlformats.org/drawingml/2006/main" noGrp="1"/>
          </p:cNvSpPr>
          <p:nvPr/>
        </p:nvSpPr>
        <p:spPr>
          <a:xfrm xmlns:a="http://schemas.openxmlformats.org/drawingml/2006/main">
            <a:off x="10461650" y="1920240"/>
            <a:ext cx="1025957"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TLS 1.3 in transit</a:t>
            </a:r>
            <a:endParaRPr sz="950"/>
          </a:p>
        </p:txBody>
      </p:sp>
      <p:sp>
        <p:nvSpPr>
          <p:cNvPr id="37" name="Shape 32">
            <a:extLst xmlns:a="http://schemas.openxmlformats.org/drawingml/2006/main">
              <a:ext uri="{FF2B5EF4-FFF2-40B4-BE49-F238E27FC236}">
                <a16:creationId xmlns:a16="http://schemas.microsoft.com/office/drawing/2014/main" id="{B824686F-7AA1-4AC2-8E0B-C76CAC2BC654}"/>
              </a:ext>
            </a:extLst>
          </p:cNvPr>
          <p:cNvSpPr>
            <a:spLocks xmlns:a="http://schemas.openxmlformats.org/drawingml/2006/main" noGrp="1"/>
          </p:cNvSpPr>
          <p:nvPr/>
        </p:nvSpPr>
        <p:spPr>
          <a:xfrm xmlns:a="http://schemas.openxmlformats.org/drawingml/2006/main">
            <a:off x="6766560" y="2468880"/>
            <a:ext cx="1951330"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18" name="Image 3"/>
          <p:cNvPicPr>
            <a:picLocks xmlns:a="http://schemas.openxmlformats.org/drawingml/2006/main" noChangeAspect="1"/>
          </p:cNvPicPr>
          <p:nvPr/>
        </p:nvPicPr>
        <p:blipFill>
          <a:blip xmlns:r="http://schemas.openxmlformats.org/officeDocument/2006/relationships" xmlns:a="http://schemas.openxmlformats.org/drawingml/2006/main" r:embed="R0454d2499c964650"/>
          <a:stretch xmlns:a="http://schemas.openxmlformats.org/drawingml/2006/main">
            <a:fillRect l="0" t="0" r="0" b="0"/>
          </a:stretch>
        </p:blipFill>
        <p:spPr>
          <a:xfrm xmlns:a="http://schemas.openxmlformats.org/drawingml/2006/main">
            <a:off x="6885432" y="2578608"/>
            <a:ext cx="201168" cy="201168"/>
          </a:xfrm>
          <a:prstGeom xmlns:a="http://schemas.openxmlformats.org/drawingml/2006/main" prst="rect">
            <a:avLst/>
          </a:prstGeom>
        </p:spPr>
      </p:pic>
      <p:sp>
        <p:nvSpPr>
          <p:cNvPr id="39" name="Text 33">
            <a:extLst xmlns:a="http://schemas.openxmlformats.org/drawingml/2006/main">
              <a:ext uri="{FF2B5EF4-FFF2-40B4-BE49-F238E27FC236}">
                <a16:creationId xmlns:a16="http://schemas.microsoft.com/office/drawing/2014/main" id="{97B014C5-5D29-4A99-9133-5325D2055E25}"/>
              </a:ext>
            </a:extLst>
          </p:cNvPr>
          <p:cNvSpPr>
            <a:spLocks xmlns:a="http://schemas.openxmlformats.org/drawingml/2006/main" noGrp="1"/>
          </p:cNvSpPr>
          <p:nvPr/>
        </p:nvSpPr>
        <p:spPr>
          <a:xfrm xmlns:a="http://schemas.openxmlformats.org/drawingml/2006/main">
            <a:off x="7123176" y="2468880"/>
            <a:ext cx="1530706"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PII masking / tokenization</a:t>
            </a:r>
            <a:endParaRPr sz="950"/>
          </a:p>
        </p:txBody>
      </p:sp>
      <p:sp>
        <p:nvSpPr>
          <p:cNvPr id="40" name="Shape 34">
            <a:extLst xmlns:a="http://schemas.openxmlformats.org/drawingml/2006/main">
              <a:ext uri="{FF2B5EF4-FFF2-40B4-BE49-F238E27FC236}">
                <a16:creationId xmlns:a16="http://schemas.microsoft.com/office/drawing/2014/main" id="{D78FCD13-1BE9-46C6-93E6-66E8EAA512BD}"/>
              </a:ext>
            </a:extLst>
          </p:cNvPr>
          <p:cNvSpPr>
            <a:spLocks xmlns:a="http://schemas.openxmlformats.org/drawingml/2006/main" noGrp="1"/>
          </p:cNvSpPr>
          <p:nvPr/>
        </p:nvSpPr>
        <p:spPr>
          <a:xfrm xmlns:a="http://schemas.openxmlformats.org/drawingml/2006/main">
            <a:off x="8845906" y="2468880"/>
            <a:ext cx="1888236"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21" name="Image 4"/>
          <p:cNvPicPr>
            <a:picLocks xmlns:a="http://schemas.openxmlformats.org/drawingml/2006/main" noChangeAspect="1"/>
          </p:cNvPicPr>
          <p:nvPr/>
        </p:nvPicPr>
        <p:blipFill>
          <a:blip xmlns:r="http://schemas.openxmlformats.org/officeDocument/2006/relationships" xmlns:a="http://schemas.openxmlformats.org/drawingml/2006/main" r:embed="Ra47f9eaece6f4c64"/>
          <a:stretch xmlns:a="http://schemas.openxmlformats.org/drawingml/2006/main">
            <a:fillRect l="0" t="0" r="0" b="0"/>
          </a:stretch>
        </p:blipFill>
        <p:spPr>
          <a:xfrm xmlns:a="http://schemas.openxmlformats.org/drawingml/2006/main">
            <a:off x="8964778" y="2578608"/>
            <a:ext cx="201168" cy="201168"/>
          </a:xfrm>
          <a:prstGeom xmlns:a="http://schemas.openxmlformats.org/drawingml/2006/main" prst="rect">
            <a:avLst/>
          </a:prstGeom>
        </p:spPr>
      </p:pic>
      <p:sp>
        <p:nvSpPr>
          <p:cNvPr id="42" name="Text 35">
            <a:extLst xmlns:a="http://schemas.openxmlformats.org/drawingml/2006/main">
              <a:ext uri="{FF2B5EF4-FFF2-40B4-BE49-F238E27FC236}">
                <a16:creationId xmlns:a16="http://schemas.microsoft.com/office/drawing/2014/main" id="{4BD1B567-49DB-45E8-B063-015521A45901}"/>
              </a:ext>
            </a:extLst>
          </p:cNvPr>
          <p:cNvSpPr>
            <a:spLocks xmlns:a="http://schemas.openxmlformats.org/drawingml/2006/main" noGrp="1"/>
          </p:cNvSpPr>
          <p:nvPr/>
        </p:nvSpPr>
        <p:spPr>
          <a:xfrm xmlns:a="http://schemas.openxmlformats.org/drawingml/2006/main">
            <a:off x="9202522" y="2468880"/>
            <a:ext cx="1467612"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OWASP MASVS/ASVS · Top-10</a:t>
            </a:r>
            <a:endParaRPr sz="950"/>
          </a:p>
        </p:txBody>
      </p:sp>
      <p:sp>
        <p:nvSpPr>
          <p:cNvPr id="43" name="Shape 36">
            <a:extLst xmlns:a="http://schemas.openxmlformats.org/drawingml/2006/main">
              <a:ext uri="{FF2B5EF4-FFF2-40B4-BE49-F238E27FC236}">
                <a16:creationId xmlns:a16="http://schemas.microsoft.com/office/drawing/2014/main" id="{6980DE65-4906-4D38-B1A0-9BF6E14CBE7C}"/>
              </a:ext>
            </a:extLst>
          </p:cNvPr>
          <p:cNvSpPr>
            <a:spLocks xmlns:a="http://schemas.openxmlformats.org/drawingml/2006/main" noGrp="1"/>
          </p:cNvSpPr>
          <p:nvPr/>
        </p:nvSpPr>
        <p:spPr>
          <a:xfrm xmlns:a="http://schemas.openxmlformats.org/drawingml/2006/main">
            <a:off x="6766560" y="3017520"/>
            <a:ext cx="1194206"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24" name="Image 5"/>
          <p:cNvPicPr>
            <a:picLocks xmlns:a="http://schemas.openxmlformats.org/drawingml/2006/main" noChangeAspect="1"/>
          </p:cNvPicPr>
          <p:nvPr/>
        </p:nvPicPr>
        <p:blipFill>
          <a:blip xmlns:r="http://schemas.openxmlformats.org/officeDocument/2006/relationships" xmlns:a="http://schemas.openxmlformats.org/drawingml/2006/main" r:embed="R29ec5ecd4c3c4436"/>
          <a:stretch xmlns:a="http://schemas.openxmlformats.org/drawingml/2006/main">
            <a:fillRect l="0" t="0" r="0" b="0"/>
          </a:stretch>
        </p:blipFill>
        <p:spPr>
          <a:xfrm xmlns:a="http://schemas.openxmlformats.org/drawingml/2006/main">
            <a:off x="6885432" y="3127248"/>
            <a:ext cx="201168" cy="201168"/>
          </a:xfrm>
          <a:prstGeom xmlns:a="http://schemas.openxmlformats.org/drawingml/2006/main" prst="rect">
            <a:avLst/>
          </a:prstGeom>
        </p:spPr>
      </p:pic>
      <p:sp>
        <p:nvSpPr>
          <p:cNvPr id="45" name="Text 37">
            <a:extLst xmlns:a="http://schemas.openxmlformats.org/drawingml/2006/main">
              <a:ext uri="{FF2B5EF4-FFF2-40B4-BE49-F238E27FC236}">
                <a16:creationId xmlns:a16="http://schemas.microsoft.com/office/drawing/2014/main" id="{5F1837C7-E3C2-4212-AB5D-D0D601D8BF2E}"/>
              </a:ext>
            </a:extLst>
          </p:cNvPr>
          <p:cNvSpPr>
            <a:spLocks xmlns:a="http://schemas.openxmlformats.org/drawingml/2006/main" noGrp="1"/>
          </p:cNvSpPr>
          <p:nvPr/>
        </p:nvSpPr>
        <p:spPr>
          <a:xfrm xmlns:a="http://schemas.openxmlformats.org/drawingml/2006/main">
            <a:off x="7123176" y="3017520"/>
            <a:ext cx="773582"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VAPT per IRDAI</a:t>
            </a:r>
            <a:endParaRPr sz="950"/>
          </a:p>
        </p:txBody>
      </p:sp>
      <p:sp>
        <p:nvSpPr>
          <p:cNvPr id="46" name="Shape 38">
            <a:extLst xmlns:a="http://schemas.openxmlformats.org/drawingml/2006/main">
              <a:ext uri="{FF2B5EF4-FFF2-40B4-BE49-F238E27FC236}">
                <a16:creationId xmlns:a16="http://schemas.microsoft.com/office/drawing/2014/main" id="{037511F4-D9BD-437D-A5CF-F7054374EE1B}"/>
              </a:ext>
            </a:extLst>
          </p:cNvPr>
          <p:cNvSpPr>
            <a:spLocks xmlns:a="http://schemas.openxmlformats.org/drawingml/2006/main" noGrp="1"/>
          </p:cNvSpPr>
          <p:nvPr/>
        </p:nvSpPr>
        <p:spPr>
          <a:xfrm xmlns:a="http://schemas.openxmlformats.org/drawingml/2006/main">
            <a:off x="8088782" y="3017520"/>
            <a:ext cx="1446581"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27" name="Image 6"/>
          <p:cNvPicPr>
            <a:picLocks xmlns:a="http://schemas.openxmlformats.org/drawingml/2006/main" noChangeAspect="1"/>
          </p:cNvPicPr>
          <p:nvPr/>
        </p:nvPicPr>
        <p:blipFill>
          <a:blip xmlns:r="http://schemas.openxmlformats.org/officeDocument/2006/relationships" xmlns:a="http://schemas.openxmlformats.org/drawingml/2006/main" r:embed="Rb5d3e7cf6eb540ec"/>
          <a:stretch xmlns:a="http://schemas.openxmlformats.org/drawingml/2006/main">
            <a:fillRect l="0" t="0" r="0" b="0"/>
          </a:stretch>
        </p:blipFill>
        <p:spPr>
          <a:xfrm xmlns:a="http://schemas.openxmlformats.org/drawingml/2006/main">
            <a:off x="8207654" y="3127248"/>
            <a:ext cx="201168" cy="201168"/>
          </a:xfrm>
          <a:prstGeom xmlns:a="http://schemas.openxmlformats.org/drawingml/2006/main" prst="rect">
            <a:avLst/>
          </a:prstGeom>
        </p:spPr>
      </p:pic>
      <p:sp>
        <p:nvSpPr>
          <p:cNvPr id="48" name="Text 39">
            <a:extLst xmlns:a="http://schemas.openxmlformats.org/drawingml/2006/main">
              <a:ext uri="{FF2B5EF4-FFF2-40B4-BE49-F238E27FC236}">
                <a16:creationId xmlns:a16="http://schemas.microsoft.com/office/drawing/2014/main" id="{211BF2E4-1087-48D2-8F2B-9A33E02BEAEE}"/>
              </a:ext>
            </a:extLst>
          </p:cNvPr>
          <p:cNvSpPr>
            <a:spLocks xmlns:a="http://schemas.openxmlformats.org/drawingml/2006/main" noGrp="1"/>
          </p:cNvSpPr>
          <p:nvPr/>
        </p:nvSpPr>
        <p:spPr>
          <a:xfrm xmlns:a="http://schemas.openxmlformats.org/drawingml/2006/main">
            <a:off x="8445398" y="3017520"/>
            <a:ext cx="1025957"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DPDP Act compliant</a:t>
            </a:r>
            <a:endParaRPr sz="950"/>
          </a:p>
        </p:txBody>
      </p:sp>
      <p:sp>
        <p:nvSpPr>
          <p:cNvPr id="49" name="Shape 40">
            <a:extLst xmlns:a="http://schemas.openxmlformats.org/drawingml/2006/main">
              <a:ext uri="{FF2B5EF4-FFF2-40B4-BE49-F238E27FC236}">
                <a16:creationId xmlns:a16="http://schemas.microsoft.com/office/drawing/2014/main" id="{9ADAE611-0E73-4A99-8AA8-AC67F2F50402}"/>
              </a:ext>
            </a:extLst>
          </p:cNvPr>
          <p:cNvSpPr>
            <a:spLocks xmlns:a="http://schemas.openxmlformats.org/drawingml/2006/main" noGrp="1"/>
          </p:cNvSpPr>
          <p:nvPr/>
        </p:nvSpPr>
        <p:spPr>
          <a:xfrm xmlns:a="http://schemas.openxmlformats.org/drawingml/2006/main">
            <a:off x="9663379" y="3017520"/>
            <a:ext cx="1509674"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30" name="Image 7"/>
          <p:cNvPicPr>
            <a:picLocks xmlns:a="http://schemas.openxmlformats.org/drawingml/2006/main" noChangeAspect="1"/>
          </p:cNvPicPr>
          <p:nvPr/>
        </p:nvPicPr>
        <p:blipFill>
          <a:blip xmlns:r="http://schemas.openxmlformats.org/officeDocument/2006/relationships" xmlns:a="http://schemas.openxmlformats.org/drawingml/2006/main" r:embed="Rf8a25e72fa0a45ac"/>
          <a:stretch xmlns:a="http://schemas.openxmlformats.org/drawingml/2006/main">
            <a:fillRect l="0" t="0" r="0" b="0"/>
          </a:stretch>
        </p:blipFill>
        <p:spPr>
          <a:xfrm xmlns:a="http://schemas.openxmlformats.org/drawingml/2006/main">
            <a:off x="9782251" y="3127248"/>
            <a:ext cx="201168" cy="201168"/>
          </a:xfrm>
          <a:prstGeom xmlns:a="http://schemas.openxmlformats.org/drawingml/2006/main" prst="rect">
            <a:avLst/>
          </a:prstGeom>
        </p:spPr>
      </p:pic>
      <p:sp>
        <p:nvSpPr>
          <p:cNvPr id="51" name="Text 41">
            <a:extLst xmlns:a="http://schemas.openxmlformats.org/drawingml/2006/main">
              <a:ext uri="{FF2B5EF4-FFF2-40B4-BE49-F238E27FC236}">
                <a16:creationId xmlns:a16="http://schemas.microsoft.com/office/drawing/2014/main" id="{6F9D309A-7AA9-4BD5-B770-899D33708BCA}"/>
              </a:ext>
            </a:extLst>
          </p:cNvPr>
          <p:cNvSpPr>
            <a:spLocks xmlns:a="http://schemas.openxmlformats.org/drawingml/2006/main" noGrp="1"/>
          </p:cNvSpPr>
          <p:nvPr/>
        </p:nvSpPr>
        <p:spPr>
          <a:xfrm xmlns:a="http://schemas.openxmlformats.org/drawingml/2006/main">
            <a:off x="10019995" y="3017520"/>
            <a:ext cx="108905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IRDAI / RBI aligned</a:t>
            </a:r>
            <a:endParaRPr sz="950"/>
          </a:p>
        </p:txBody>
      </p:sp>
      <p:sp>
        <p:nvSpPr>
          <p:cNvPr id="52" name="Shape 42">
            <a:extLst xmlns:a="http://schemas.openxmlformats.org/drawingml/2006/main">
              <a:ext uri="{FF2B5EF4-FFF2-40B4-BE49-F238E27FC236}">
                <a16:creationId xmlns:a16="http://schemas.microsoft.com/office/drawing/2014/main" id="{E828BF34-F2F9-4710-910E-93A1DA07AB8C}"/>
              </a:ext>
            </a:extLst>
          </p:cNvPr>
          <p:cNvSpPr>
            <a:spLocks xmlns:a="http://schemas.openxmlformats.org/drawingml/2006/main" noGrp="1"/>
          </p:cNvSpPr>
          <p:nvPr/>
        </p:nvSpPr>
        <p:spPr>
          <a:xfrm xmlns:a="http://schemas.openxmlformats.org/drawingml/2006/main">
            <a:off x="6766560" y="3566160"/>
            <a:ext cx="1698955"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33" name="Image 8"/>
          <p:cNvPicPr>
            <a:picLocks xmlns:a="http://schemas.openxmlformats.org/drawingml/2006/main" noChangeAspect="1"/>
          </p:cNvPicPr>
          <p:nvPr/>
        </p:nvPicPr>
        <p:blipFill>
          <a:blip xmlns:r="http://schemas.openxmlformats.org/officeDocument/2006/relationships" xmlns:a="http://schemas.openxmlformats.org/drawingml/2006/main" r:embed="Re530b5c4caee4644"/>
          <a:stretch xmlns:a="http://schemas.openxmlformats.org/drawingml/2006/main">
            <a:fillRect l="0" t="0" r="0" b="0"/>
          </a:stretch>
        </p:blipFill>
        <p:spPr>
          <a:xfrm xmlns:a="http://schemas.openxmlformats.org/drawingml/2006/main">
            <a:off x="6885432" y="3675888"/>
            <a:ext cx="201168" cy="201168"/>
          </a:xfrm>
          <a:prstGeom xmlns:a="http://schemas.openxmlformats.org/drawingml/2006/main" prst="rect">
            <a:avLst/>
          </a:prstGeom>
        </p:spPr>
      </p:pic>
      <p:sp>
        <p:nvSpPr>
          <p:cNvPr id="54" name="Text 43">
            <a:extLst xmlns:a="http://schemas.openxmlformats.org/drawingml/2006/main">
              <a:ext uri="{FF2B5EF4-FFF2-40B4-BE49-F238E27FC236}">
                <a16:creationId xmlns:a16="http://schemas.microsoft.com/office/drawing/2014/main" id="{8D470D10-2689-4087-B3FF-404F9A6EB2EB}"/>
              </a:ext>
            </a:extLst>
          </p:cNvPr>
          <p:cNvSpPr>
            <a:spLocks xmlns:a="http://schemas.openxmlformats.org/drawingml/2006/main" noGrp="1"/>
          </p:cNvSpPr>
          <p:nvPr/>
        </p:nvSpPr>
        <p:spPr>
          <a:xfrm xmlns:a="http://schemas.openxmlformats.org/drawingml/2006/main">
            <a:off x="7123176" y="3566160"/>
            <a:ext cx="127833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Data resident in India</a:t>
            </a:r>
            <a:endParaRPr sz="950"/>
          </a:p>
        </p:txBody>
      </p:sp>
      <p:sp>
        <p:nvSpPr>
          <p:cNvPr id="55" name="Shape 44">
            <a:extLst xmlns:a="http://schemas.openxmlformats.org/drawingml/2006/main">
              <a:ext uri="{FF2B5EF4-FFF2-40B4-BE49-F238E27FC236}">
                <a16:creationId xmlns:a16="http://schemas.microsoft.com/office/drawing/2014/main" id="{187EC24F-50FA-475B-81A2-8A2E3F33A26D}"/>
              </a:ext>
            </a:extLst>
          </p:cNvPr>
          <p:cNvSpPr>
            <a:spLocks xmlns:a="http://schemas.openxmlformats.org/drawingml/2006/main" noGrp="1"/>
          </p:cNvSpPr>
          <p:nvPr/>
        </p:nvSpPr>
        <p:spPr>
          <a:xfrm xmlns:a="http://schemas.openxmlformats.org/drawingml/2006/main">
            <a:off x="8593531" y="3566160"/>
            <a:ext cx="1572768"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36" name="Image 9"/>
          <p:cNvPicPr>
            <a:picLocks xmlns:a="http://schemas.openxmlformats.org/drawingml/2006/main" noChangeAspect="1"/>
          </p:cNvPicPr>
          <p:nvPr/>
        </p:nvPicPr>
        <p:blipFill>
          <a:blip xmlns:r="http://schemas.openxmlformats.org/officeDocument/2006/relationships" xmlns:a="http://schemas.openxmlformats.org/drawingml/2006/main" r:embed="Raea7821632a34db0"/>
          <a:stretch xmlns:a="http://schemas.openxmlformats.org/drawingml/2006/main">
            <a:fillRect l="0" t="0" r="0" b="0"/>
          </a:stretch>
        </p:blipFill>
        <p:spPr>
          <a:xfrm xmlns:a="http://schemas.openxmlformats.org/drawingml/2006/main">
            <a:off x="8712403" y="3675888"/>
            <a:ext cx="201168" cy="201168"/>
          </a:xfrm>
          <a:prstGeom xmlns:a="http://schemas.openxmlformats.org/drawingml/2006/main" prst="rect">
            <a:avLst/>
          </a:prstGeom>
        </p:spPr>
      </p:pic>
      <p:sp>
        <p:nvSpPr>
          <p:cNvPr id="57" name="Text 45">
            <a:extLst xmlns:a="http://schemas.openxmlformats.org/drawingml/2006/main">
              <a:ext uri="{FF2B5EF4-FFF2-40B4-BE49-F238E27FC236}">
                <a16:creationId xmlns:a16="http://schemas.microsoft.com/office/drawing/2014/main" id="{E4ABE837-B939-416E-9E07-933562C4EA01}"/>
              </a:ext>
            </a:extLst>
          </p:cNvPr>
          <p:cNvSpPr>
            <a:spLocks xmlns:a="http://schemas.openxmlformats.org/drawingml/2006/main" noGrp="1"/>
          </p:cNvSpPr>
          <p:nvPr/>
        </p:nvSpPr>
        <p:spPr>
          <a:xfrm xmlns:a="http://schemas.openxmlformats.org/drawingml/2006/main">
            <a:off x="8950147" y="3566160"/>
            <a:ext cx="1152144"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No bulk PII download</a:t>
            </a:r>
            <a:endParaRPr sz="950"/>
          </a:p>
        </p:txBody>
      </p:sp>
      <p:sp>
        <p:nvSpPr>
          <p:cNvPr id="58" name="Shape 46">
            <a:extLst xmlns:a="http://schemas.openxmlformats.org/drawingml/2006/main">
              <a:ext uri="{FF2B5EF4-FFF2-40B4-BE49-F238E27FC236}">
                <a16:creationId xmlns:a16="http://schemas.microsoft.com/office/drawing/2014/main" id="{BE719B0F-9761-4823-846A-EA5ACE524E89}"/>
              </a:ext>
            </a:extLst>
          </p:cNvPr>
          <p:cNvSpPr>
            <a:spLocks xmlns:a="http://schemas.openxmlformats.org/drawingml/2006/main" noGrp="1"/>
          </p:cNvSpPr>
          <p:nvPr/>
        </p:nvSpPr>
        <p:spPr>
          <a:xfrm xmlns:a="http://schemas.openxmlformats.org/drawingml/2006/main">
            <a:off x="6766560" y="4114800"/>
            <a:ext cx="1698955"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39" name="Image 10"/>
          <p:cNvPicPr>
            <a:picLocks xmlns:a="http://schemas.openxmlformats.org/drawingml/2006/main" noChangeAspect="1"/>
          </p:cNvPicPr>
          <p:nvPr/>
        </p:nvPicPr>
        <p:blipFill>
          <a:blip xmlns:r="http://schemas.openxmlformats.org/officeDocument/2006/relationships" xmlns:a="http://schemas.openxmlformats.org/drawingml/2006/main" r:embed="Rac800040a86b4326"/>
          <a:stretch xmlns:a="http://schemas.openxmlformats.org/drawingml/2006/main">
            <a:fillRect l="0" t="0" r="0" b="0"/>
          </a:stretch>
        </p:blipFill>
        <p:spPr>
          <a:xfrm xmlns:a="http://schemas.openxmlformats.org/drawingml/2006/main">
            <a:off x="6885432" y="4224528"/>
            <a:ext cx="201168" cy="201168"/>
          </a:xfrm>
          <a:prstGeom xmlns:a="http://schemas.openxmlformats.org/drawingml/2006/main" prst="rect">
            <a:avLst/>
          </a:prstGeom>
        </p:spPr>
      </p:pic>
      <p:sp>
        <p:nvSpPr>
          <p:cNvPr id="60" name="Text 47">
            <a:extLst xmlns:a="http://schemas.openxmlformats.org/drawingml/2006/main">
              <a:ext uri="{FF2B5EF4-FFF2-40B4-BE49-F238E27FC236}">
                <a16:creationId xmlns:a16="http://schemas.microsoft.com/office/drawing/2014/main" id="{512978B3-865D-49A2-BE28-117CCDBEF895}"/>
              </a:ext>
            </a:extLst>
          </p:cNvPr>
          <p:cNvSpPr>
            <a:spLocks xmlns:a="http://schemas.openxmlformats.org/drawingml/2006/main" noGrp="1"/>
          </p:cNvSpPr>
          <p:nvPr/>
        </p:nvSpPr>
        <p:spPr>
          <a:xfrm xmlns:a="http://schemas.openxmlformats.org/drawingml/2006/main">
            <a:off x="7123176" y="4114800"/>
            <a:ext cx="127833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2FA · no open internet</a:t>
            </a:r>
            <a:endParaRPr sz="950"/>
          </a:p>
        </p:txBody>
      </p:sp>
      <p:sp>
        <p:nvSpPr>
          <p:cNvPr id="61" name="Shape 48">
            <a:extLst xmlns:a="http://schemas.openxmlformats.org/drawingml/2006/main">
              <a:ext uri="{FF2B5EF4-FFF2-40B4-BE49-F238E27FC236}">
                <a16:creationId xmlns:a16="http://schemas.microsoft.com/office/drawing/2014/main" id="{040DA49A-CD6E-4334-9655-4A168FFCE95C}"/>
              </a:ext>
            </a:extLst>
          </p:cNvPr>
          <p:cNvSpPr>
            <a:spLocks xmlns:a="http://schemas.openxmlformats.org/drawingml/2006/main" noGrp="1"/>
          </p:cNvSpPr>
          <p:nvPr/>
        </p:nvSpPr>
        <p:spPr>
          <a:xfrm xmlns:a="http://schemas.openxmlformats.org/drawingml/2006/main">
            <a:off x="8593531" y="4114800"/>
            <a:ext cx="1888236" cy="420624"/>
          </a:xfrm>
          <a:prstGeom xmlns:a="http://schemas.openxmlformats.org/drawingml/2006/main" prst="roundRect">
            <a:avLst>
              <a:gd name="adj" fmla="val 50000"/>
            </a:avLst>
          </a:prstGeom>
          <a:solidFill xmlns:a="http://schemas.openxmlformats.org/drawingml/2006/main">
            <a:srgbClr val="F1F4F8"/>
          </a:solidFill>
          <a:ln xmlns:a="http://schemas.openxmlformats.org/drawingml/2006/main" w="12700">
            <a:solidFill>
              <a:srgbClr val="C9D6E6"/>
            </a:solidFill>
            <a:prstDash val="solid"/>
          </a:ln>
        </p:spPr>
      </p:sp>
      <p:pic>
        <p:nvPicPr>
          <p:cNvPr id="142" name="Image 11"/>
          <p:cNvPicPr>
            <a:picLocks xmlns:a="http://schemas.openxmlformats.org/drawingml/2006/main" noChangeAspect="1"/>
          </p:cNvPicPr>
          <p:nvPr/>
        </p:nvPicPr>
        <p:blipFill>
          <a:blip xmlns:r="http://schemas.openxmlformats.org/officeDocument/2006/relationships" xmlns:a="http://schemas.openxmlformats.org/drawingml/2006/main" r:embed="R2ea6b117b4044bee"/>
          <a:stretch xmlns:a="http://schemas.openxmlformats.org/drawingml/2006/main">
            <a:fillRect l="0" t="0" r="0" b="0"/>
          </a:stretch>
        </p:blipFill>
        <p:spPr>
          <a:xfrm xmlns:a="http://schemas.openxmlformats.org/drawingml/2006/main">
            <a:off x="8712403" y="4224528"/>
            <a:ext cx="201168" cy="201168"/>
          </a:xfrm>
          <a:prstGeom xmlns:a="http://schemas.openxmlformats.org/drawingml/2006/main" prst="rect">
            <a:avLst/>
          </a:prstGeom>
        </p:spPr>
      </p:pic>
      <p:sp>
        <p:nvSpPr>
          <p:cNvPr id="63" name="Text 49">
            <a:extLst xmlns:a="http://schemas.openxmlformats.org/drawingml/2006/main">
              <a:ext uri="{FF2B5EF4-FFF2-40B4-BE49-F238E27FC236}">
                <a16:creationId xmlns:a16="http://schemas.microsoft.com/office/drawing/2014/main" id="{5D2357C0-FD3C-41F3-8456-66C7A68FF86E}"/>
              </a:ext>
            </a:extLst>
          </p:cNvPr>
          <p:cNvSpPr>
            <a:spLocks xmlns:a="http://schemas.openxmlformats.org/drawingml/2006/main" noGrp="1"/>
          </p:cNvSpPr>
          <p:nvPr/>
        </p:nvSpPr>
        <p:spPr>
          <a:xfrm xmlns:a="http://schemas.openxmlformats.org/drawingml/2006/main">
            <a:off x="8950147" y="4114800"/>
            <a:ext cx="1467612"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3A5F"/>
                </a:solidFill>
                <a:latin typeface="Calibri"/>
                <a:ea typeface="Calibri"/>
                <a:cs typeface="Calibri"/>
              </a:rPr>
              <a:t>Immutable audit ≥ 90 days</a:t>
            </a:r>
            <a:endParaRPr sz="950"/>
          </a:p>
        </p:txBody>
      </p:sp>
      <p:sp>
        <p:nvSpPr>
          <p:cNvPr id="64" name="Shape 50">
            <a:extLst xmlns:a="http://schemas.openxmlformats.org/drawingml/2006/main">
              <a:ext uri="{FF2B5EF4-FFF2-40B4-BE49-F238E27FC236}">
                <a16:creationId xmlns:a16="http://schemas.microsoft.com/office/drawing/2014/main" id="{8CC225AB-66A1-4B98-B429-E4E28AD83705}"/>
              </a:ext>
            </a:extLst>
          </p:cNvPr>
          <p:cNvSpPr>
            <a:spLocks xmlns:a="http://schemas.openxmlformats.org/drawingml/2006/main" noGrp="1"/>
          </p:cNvSpPr>
          <p:nvPr/>
        </p:nvSpPr>
        <p:spPr>
          <a:xfrm xmlns:a="http://schemas.openxmlformats.org/drawingml/2006/main">
            <a:off x="6766560" y="5504688"/>
            <a:ext cx="4876495" cy="658368"/>
          </a:xfrm>
          <a:prstGeom xmlns:a="http://schemas.openxmlformats.org/drawingml/2006/main" prst="roundRect">
            <a:avLst>
              <a:gd name="adj" fmla="val 15278"/>
            </a:avLst>
          </a:prstGeom>
          <a:solidFill xmlns:a="http://schemas.openxmlformats.org/drawingml/2006/main">
            <a:srgbClr val="FFF6E6"/>
          </a:solidFill>
          <a:ln xmlns:a="http://schemas.openxmlformats.org/drawingml/2006/main" w="12700">
            <a:solidFill>
              <a:srgbClr val="F6DFB0"/>
            </a:solidFill>
            <a:prstDash val="solid"/>
          </a:ln>
        </p:spPr>
      </p:sp>
      <p:pic>
        <p:nvPicPr>
          <p:cNvPr id="145" name="Image 12"/>
          <p:cNvPicPr>
            <a:picLocks xmlns:a="http://schemas.openxmlformats.org/drawingml/2006/main" noChangeAspect="1"/>
          </p:cNvPicPr>
          <p:nvPr/>
        </p:nvPicPr>
        <p:blipFill>
          <a:blip xmlns:r="http://schemas.openxmlformats.org/officeDocument/2006/relationships" xmlns:a="http://schemas.openxmlformats.org/drawingml/2006/main" r:embed="Re3c802bd32f74029"/>
          <a:stretch xmlns:a="http://schemas.openxmlformats.org/drawingml/2006/main">
            <a:fillRect l="0" t="0" r="0" b="0"/>
          </a:stretch>
        </p:blipFill>
        <p:spPr>
          <a:xfrm xmlns:a="http://schemas.openxmlformats.org/drawingml/2006/main">
            <a:off x="6949440" y="5687568"/>
            <a:ext cx="292608" cy="292608"/>
          </a:xfrm>
          <a:prstGeom xmlns:a="http://schemas.openxmlformats.org/drawingml/2006/main" prst="rect">
            <a:avLst/>
          </a:prstGeom>
        </p:spPr>
      </p:pic>
      <p:sp>
        <p:nvSpPr>
          <p:cNvPr id="66" name="Text 51">
            <a:extLst xmlns:a="http://schemas.openxmlformats.org/drawingml/2006/main">
              <a:ext uri="{FF2B5EF4-FFF2-40B4-BE49-F238E27FC236}">
                <a16:creationId xmlns:a16="http://schemas.microsoft.com/office/drawing/2014/main" id="{7DF15F9A-1B72-41D6-92ED-6260B6D0A34F}"/>
              </a:ext>
            </a:extLst>
          </p:cNvPr>
          <p:cNvSpPr>
            <a:spLocks xmlns:a="http://schemas.openxmlformats.org/drawingml/2006/main" noGrp="1"/>
          </p:cNvSpPr>
          <p:nvPr/>
        </p:nvSpPr>
        <p:spPr>
          <a:xfrm xmlns:a="http://schemas.openxmlformats.org/drawingml/2006/main">
            <a:off x="7333488" y="5504688"/>
            <a:ext cx="4163263"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B5730B"/>
                </a:solidFill>
                <a:latin typeface="Poppins"/>
                <a:ea typeface="Poppins"/>
                <a:cs typeface="Poppins"/>
              </a:rPr>
              <a:t>Watch-outs:  </a:t>
            </a:r>
            <a:r>
              <a:rPr sz="950">
                <a:solidFill>
                  <a:srgbClr val="2A231F"/>
                </a:solidFill>
                <a:latin typeface="Calibri"/>
                <a:ea typeface="Calibri"/>
                <a:cs typeface="Calibri"/>
              </a:rPr>
              <a:t>availability is stated inconsistently (99.5–99.999%) — pin it in the SoW; on-cloud needs India-only residency, IDS/IPS/firewall and a defined purge cadence.</a:t>
            </a:r>
            <a:endParaRPr sz="950"/>
          </a:p>
        </p:txBody>
      </p:sp>
      <p:sp>
        <p:nvSpPr>
          <p:cNvPr id="67" name="Text 52">
            <a:extLst xmlns:a="http://schemas.openxmlformats.org/drawingml/2006/main">
              <a:ext uri="{FF2B5EF4-FFF2-40B4-BE49-F238E27FC236}">
                <a16:creationId xmlns:a16="http://schemas.microsoft.com/office/drawing/2014/main" id="{FF3D7225-5665-4A8A-BB5E-70DF4CE6D037}"/>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68" name="Text 53">
            <a:extLst xmlns:a="http://schemas.openxmlformats.org/drawingml/2006/main">
              <a:ext uri="{FF2B5EF4-FFF2-40B4-BE49-F238E27FC236}">
                <a16:creationId xmlns:a16="http://schemas.microsoft.com/office/drawing/2014/main" id="{DAA28BD7-FE60-412B-843B-10ECDC763003}"/>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10</a:t>
            </a:r>
            <a:endParaRPr sz="900"/>
          </a:p>
        </p:txBody>
      </p:sp>
    </p:spTree>
    <p:extLst>
      <p:ext uri="{BB962C8B-B14F-4D97-AF65-F5344CB8AC3E}">
        <p14:creationId xmlns:p14="http://schemas.microsoft.com/office/powerpoint/2010/main" val="45583857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A10C121-AE14-4004-8CBE-19647BF03400}"/>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ELIGIBILITY</a:t>
            </a:r>
            <a:endParaRPr sz="1200"/>
          </a:p>
        </p:txBody>
      </p:sp>
      <p:sp>
        <p:nvSpPr>
          <p:cNvPr id="3" name="Text 1">
            <a:extLst xmlns:a="http://schemas.openxmlformats.org/drawingml/2006/main">
              <a:ext uri="{FF2B5EF4-FFF2-40B4-BE49-F238E27FC236}">
                <a16:creationId xmlns:a16="http://schemas.microsoft.com/office/drawing/2014/main" id="{48092354-0861-4AD4-901E-A619D4C46C69}"/>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What AMLI expects a vendor to prove</a:t>
            </a:r>
            <a:endParaRPr sz="3000"/>
          </a:p>
        </p:txBody>
      </p:sp>
      <p:sp>
        <p:nvSpPr>
          <p:cNvPr id="4" name="Shape 2">
            <a:extLst xmlns:a="http://schemas.openxmlformats.org/drawingml/2006/main">
              <a:ext uri="{FF2B5EF4-FFF2-40B4-BE49-F238E27FC236}">
                <a16:creationId xmlns:a16="http://schemas.microsoft.com/office/drawing/2014/main" id="{615DC5C5-C011-44F5-AD22-6D24F128F2A7}"/>
              </a:ext>
            </a:extLst>
          </p:cNvPr>
          <p:cNvSpPr>
            <a:spLocks xmlns:a="http://schemas.openxmlformats.org/drawingml/2006/main" noGrp="1"/>
          </p:cNvSpPr>
          <p:nvPr/>
        </p:nvSpPr>
        <p:spPr>
          <a:xfrm xmlns:a="http://schemas.openxmlformats.org/drawingml/2006/main">
            <a:off x="548640" y="1536192"/>
            <a:ext cx="2581580" cy="2194560"/>
          </a:xfrm>
          <a:prstGeom xmlns:a="http://schemas.openxmlformats.org/drawingml/2006/main" prst="roundRect">
            <a:avLst>
              <a:gd name="adj" fmla="val 458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5" name="Shape 3">
            <a:extLst xmlns:a="http://schemas.openxmlformats.org/drawingml/2006/main">
              <a:ext uri="{FF2B5EF4-FFF2-40B4-BE49-F238E27FC236}">
                <a16:creationId xmlns:a16="http://schemas.microsoft.com/office/drawing/2014/main" id="{3FDE21CE-03F1-41B4-915A-BFF7939B16DD}"/>
              </a:ext>
            </a:extLst>
          </p:cNvPr>
          <p:cNvSpPr>
            <a:spLocks xmlns:a="http://schemas.openxmlformats.org/drawingml/2006/main" noGrp="1"/>
          </p:cNvSpPr>
          <p:nvPr/>
        </p:nvSpPr>
        <p:spPr>
          <a:xfrm xmlns:a="http://schemas.openxmlformats.org/drawingml/2006/main">
            <a:off x="548640" y="1536192"/>
            <a:ext cx="2581580" cy="640080"/>
          </a:xfrm>
          <a:prstGeom xmlns:a="http://schemas.openxmlformats.org/drawingml/2006/main" prst="roundRect">
            <a:avLst>
              <a:gd name="adj" fmla="val 14286"/>
            </a:avLst>
          </a:prstGeom>
          <a:solidFill xmlns:a="http://schemas.openxmlformats.org/drawingml/2006/main">
            <a:srgbClr val="1F3A5F"/>
          </a:solidFill>
        </p:spPr>
      </p:sp>
      <p:sp>
        <p:nvSpPr>
          <p:cNvPr id="6" name="Shape 4">
            <a:extLst xmlns:a="http://schemas.openxmlformats.org/drawingml/2006/main">
              <a:ext uri="{FF2B5EF4-FFF2-40B4-BE49-F238E27FC236}">
                <a16:creationId xmlns:a16="http://schemas.microsoft.com/office/drawing/2014/main" id="{0FB40C77-6BCC-4F7F-A20C-F7FC78D28456}"/>
              </a:ext>
            </a:extLst>
          </p:cNvPr>
          <p:cNvSpPr>
            <a:spLocks xmlns:a="http://schemas.openxmlformats.org/drawingml/2006/main" noGrp="1"/>
          </p:cNvSpPr>
          <p:nvPr/>
        </p:nvSpPr>
        <p:spPr>
          <a:xfrm xmlns:a="http://schemas.openxmlformats.org/drawingml/2006/main">
            <a:off x="548640" y="1856232"/>
            <a:ext cx="2581580" cy="320040"/>
          </a:xfrm>
          <a:prstGeom xmlns:a="http://schemas.openxmlformats.org/drawingml/2006/main" prst="rect">
            <a:avLst/>
          </a:prstGeom>
          <a:solidFill xmlns:a="http://schemas.openxmlformats.org/drawingml/2006/main">
            <a:srgbClr val="1F3A5F"/>
          </a:solidFill>
        </p:spPr>
      </p:sp>
      <p:sp>
        <p:nvSpPr>
          <p:cNvPr id="7" name="Shape 5">
            <a:extLst xmlns:a="http://schemas.openxmlformats.org/drawingml/2006/main">
              <a:ext uri="{FF2B5EF4-FFF2-40B4-BE49-F238E27FC236}">
                <a16:creationId xmlns:a16="http://schemas.microsoft.com/office/drawing/2014/main" id="{4B6D88CA-2D78-4610-82DD-B89ACE7EB412}"/>
              </a:ext>
            </a:extLst>
          </p:cNvPr>
          <p:cNvSpPr>
            <a:spLocks xmlns:a="http://schemas.openxmlformats.org/drawingml/2006/main" noGrp="1"/>
          </p:cNvSpPr>
          <p:nvPr/>
        </p:nvSpPr>
        <p:spPr>
          <a:xfrm xmlns:a="http://schemas.openxmlformats.org/drawingml/2006/main">
            <a:off x="713232" y="1664208"/>
            <a:ext cx="384048" cy="384048"/>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5f729b2854c24557"/>
          <a:stretch xmlns:a="http://schemas.openxmlformats.org/drawingml/2006/main">
            <a:fillRect l="0" t="0" r="0" b="0"/>
          </a:stretch>
        </p:blipFill>
        <p:spPr>
          <a:xfrm xmlns:a="http://schemas.openxmlformats.org/drawingml/2006/main">
            <a:off x="813084" y="1764060"/>
            <a:ext cx="184343" cy="184343"/>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E4B0CFC5-483A-47D5-BEAB-93FE19410B9C}"/>
              </a:ext>
            </a:extLst>
          </p:cNvPr>
          <p:cNvSpPr>
            <a:spLocks xmlns:a="http://schemas.openxmlformats.org/drawingml/2006/main" noGrp="1"/>
          </p:cNvSpPr>
          <p:nvPr/>
        </p:nvSpPr>
        <p:spPr>
          <a:xfrm xmlns:a="http://schemas.openxmlformats.org/drawingml/2006/main">
            <a:off x="1152144" y="1536192"/>
            <a:ext cx="190492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Track record</a:t>
            </a:r>
            <a:endParaRPr sz="1250"/>
          </a:p>
        </p:txBody>
      </p:sp>
      <p:sp>
        <p:nvSpPr>
          <p:cNvPr id="10" name="Text 7">
            <a:extLst xmlns:a="http://schemas.openxmlformats.org/drawingml/2006/main">
              <a:ext uri="{FF2B5EF4-FFF2-40B4-BE49-F238E27FC236}">
                <a16:creationId xmlns:a16="http://schemas.microsoft.com/office/drawing/2014/main" id="{64B4DF6E-E1A1-422C-8681-FDB5BFA7BBB3}"/>
              </a:ext>
            </a:extLst>
          </p:cNvPr>
          <p:cNvSpPr>
            <a:spLocks xmlns:a="http://schemas.openxmlformats.org/drawingml/2006/main" noGrp="1"/>
          </p:cNvSpPr>
          <p:nvPr/>
        </p:nvSpPr>
        <p:spPr>
          <a:xfrm xmlns:a="http://schemas.openxmlformats.org/drawingml/2006/main">
            <a:off x="749808" y="2322576"/>
            <a:ext cx="2215820" cy="1280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050">
                <a:solidFill>
                  <a:srgbClr val="2A231F"/>
                </a:solidFill>
                <a:latin typeface="Calibri"/>
                <a:ea typeface="Calibri"/>
                <a:cs typeface="Calibri"/>
              </a:rPr>
              <a:t>5 top similar implementations in India</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References on request</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Key differentiators vs other vendors</a:t>
            </a:r>
            <a:endParaRPr sz="1050"/>
          </a:p>
        </p:txBody>
      </p:sp>
      <p:sp>
        <p:nvSpPr>
          <p:cNvPr id="11" name="Shape 8">
            <a:extLst xmlns:a="http://schemas.openxmlformats.org/drawingml/2006/main">
              <a:ext uri="{FF2B5EF4-FFF2-40B4-BE49-F238E27FC236}">
                <a16:creationId xmlns:a16="http://schemas.microsoft.com/office/drawing/2014/main" id="{0F405074-AFBB-4A58-8358-8A3210C05119}"/>
              </a:ext>
            </a:extLst>
          </p:cNvPr>
          <p:cNvSpPr>
            <a:spLocks xmlns:a="http://schemas.openxmlformats.org/drawingml/2006/main" noGrp="1"/>
          </p:cNvSpPr>
          <p:nvPr/>
        </p:nvSpPr>
        <p:spPr>
          <a:xfrm xmlns:a="http://schemas.openxmlformats.org/drawingml/2006/main">
            <a:off x="3386252" y="1536192"/>
            <a:ext cx="2581580" cy="2194560"/>
          </a:xfrm>
          <a:prstGeom xmlns:a="http://schemas.openxmlformats.org/drawingml/2006/main" prst="roundRect">
            <a:avLst>
              <a:gd name="adj" fmla="val 458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2" name="Shape 9">
            <a:extLst xmlns:a="http://schemas.openxmlformats.org/drawingml/2006/main">
              <a:ext uri="{FF2B5EF4-FFF2-40B4-BE49-F238E27FC236}">
                <a16:creationId xmlns:a16="http://schemas.microsoft.com/office/drawing/2014/main" id="{1C8EBD4B-68B6-4B41-94BF-2ED22ADD63AB}"/>
              </a:ext>
            </a:extLst>
          </p:cNvPr>
          <p:cNvSpPr>
            <a:spLocks xmlns:a="http://schemas.openxmlformats.org/drawingml/2006/main" noGrp="1"/>
          </p:cNvSpPr>
          <p:nvPr/>
        </p:nvSpPr>
        <p:spPr>
          <a:xfrm xmlns:a="http://schemas.openxmlformats.org/drawingml/2006/main">
            <a:off x="3386252" y="1536192"/>
            <a:ext cx="2581580" cy="640080"/>
          </a:xfrm>
          <a:prstGeom xmlns:a="http://schemas.openxmlformats.org/drawingml/2006/main" prst="roundRect">
            <a:avLst>
              <a:gd name="adj" fmla="val 14286"/>
            </a:avLst>
          </a:prstGeom>
          <a:solidFill xmlns:a="http://schemas.openxmlformats.org/drawingml/2006/main">
            <a:srgbClr val="1F3A5F"/>
          </a:solidFill>
        </p:spPr>
      </p:sp>
      <p:sp>
        <p:nvSpPr>
          <p:cNvPr id="13" name="Shape 10">
            <a:extLst xmlns:a="http://schemas.openxmlformats.org/drawingml/2006/main">
              <a:ext uri="{FF2B5EF4-FFF2-40B4-BE49-F238E27FC236}">
                <a16:creationId xmlns:a16="http://schemas.microsoft.com/office/drawing/2014/main" id="{B306F169-D76A-4DA1-ACB5-9F2FBC343792}"/>
              </a:ext>
            </a:extLst>
          </p:cNvPr>
          <p:cNvSpPr>
            <a:spLocks xmlns:a="http://schemas.openxmlformats.org/drawingml/2006/main" noGrp="1"/>
          </p:cNvSpPr>
          <p:nvPr/>
        </p:nvSpPr>
        <p:spPr>
          <a:xfrm xmlns:a="http://schemas.openxmlformats.org/drawingml/2006/main">
            <a:off x="3386252" y="1856232"/>
            <a:ext cx="2581580" cy="320040"/>
          </a:xfrm>
          <a:prstGeom xmlns:a="http://schemas.openxmlformats.org/drawingml/2006/main" prst="rect">
            <a:avLst/>
          </a:prstGeom>
          <a:solidFill xmlns:a="http://schemas.openxmlformats.org/drawingml/2006/main">
            <a:srgbClr val="1F3A5F"/>
          </a:solidFill>
        </p:spPr>
      </p:sp>
      <p:sp>
        <p:nvSpPr>
          <p:cNvPr id="14" name="Shape 11">
            <a:extLst xmlns:a="http://schemas.openxmlformats.org/drawingml/2006/main">
              <a:ext uri="{FF2B5EF4-FFF2-40B4-BE49-F238E27FC236}">
                <a16:creationId xmlns:a16="http://schemas.microsoft.com/office/drawing/2014/main" id="{2C5712F0-13AB-4F93-8310-865F33036733}"/>
              </a:ext>
            </a:extLst>
          </p:cNvPr>
          <p:cNvSpPr>
            <a:spLocks xmlns:a="http://schemas.openxmlformats.org/drawingml/2006/main" noGrp="1"/>
          </p:cNvSpPr>
          <p:nvPr/>
        </p:nvSpPr>
        <p:spPr>
          <a:xfrm xmlns:a="http://schemas.openxmlformats.org/drawingml/2006/main">
            <a:off x="3550844" y="1664208"/>
            <a:ext cx="384048" cy="384048"/>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a16bcdab03124f69"/>
          <a:stretch xmlns:a="http://schemas.openxmlformats.org/drawingml/2006/main">
            <a:fillRect l="0" t="0" r="0" b="0"/>
          </a:stretch>
        </p:blipFill>
        <p:spPr>
          <a:xfrm xmlns:a="http://schemas.openxmlformats.org/drawingml/2006/main">
            <a:off x="3650696" y="1764060"/>
            <a:ext cx="184343" cy="184343"/>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0B12CA7C-FB86-4660-91FA-DBA12C6B2281}"/>
              </a:ext>
            </a:extLst>
          </p:cNvPr>
          <p:cNvSpPr>
            <a:spLocks xmlns:a="http://schemas.openxmlformats.org/drawingml/2006/main" noGrp="1"/>
          </p:cNvSpPr>
          <p:nvPr/>
        </p:nvSpPr>
        <p:spPr>
          <a:xfrm xmlns:a="http://schemas.openxmlformats.org/drawingml/2006/main">
            <a:off x="3989756" y="1536192"/>
            <a:ext cx="190492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Technical capability</a:t>
            </a:r>
            <a:endParaRPr sz="1250"/>
          </a:p>
        </p:txBody>
      </p:sp>
      <p:sp>
        <p:nvSpPr>
          <p:cNvPr id="17" name="Text 13">
            <a:extLst xmlns:a="http://schemas.openxmlformats.org/drawingml/2006/main">
              <a:ext uri="{FF2B5EF4-FFF2-40B4-BE49-F238E27FC236}">
                <a16:creationId xmlns:a16="http://schemas.microsoft.com/office/drawing/2014/main" id="{60CDFFA2-3AE4-46BF-A8AA-7B5E28E22553}"/>
              </a:ext>
            </a:extLst>
          </p:cNvPr>
          <p:cNvSpPr>
            <a:spLocks xmlns:a="http://schemas.openxmlformats.org/drawingml/2006/main" noGrp="1"/>
          </p:cNvSpPr>
          <p:nvPr/>
        </p:nvSpPr>
        <p:spPr>
          <a:xfrm xmlns:a="http://schemas.openxmlformats.org/drawingml/2006/main">
            <a:off x="3587420" y="2322576"/>
            <a:ext cx="2215820" cy="1280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050">
                <a:solidFill>
                  <a:srgbClr val="2A231F"/>
                </a:solidFill>
                <a:latin typeface="Calibri"/>
                <a:ea typeface="Calibri"/>
                <a:cs typeface="Calibri"/>
              </a:rPr>
              <a:t>Strong architecture &amp; engineering</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Scalable, secure, high-performance design</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Cloud-native, API-first, event-driven</a:t>
            </a:r>
            <a:endParaRPr sz="1050"/>
          </a:p>
        </p:txBody>
      </p:sp>
      <p:sp>
        <p:nvSpPr>
          <p:cNvPr id="18" name="Shape 14">
            <a:extLst xmlns:a="http://schemas.openxmlformats.org/drawingml/2006/main">
              <a:ext uri="{FF2B5EF4-FFF2-40B4-BE49-F238E27FC236}">
                <a16:creationId xmlns:a16="http://schemas.microsoft.com/office/drawing/2014/main" id="{C64AE336-AC5C-4519-BD39-84C5AC061CDF}"/>
              </a:ext>
            </a:extLst>
          </p:cNvPr>
          <p:cNvSpPr>
            <a:spLocks xmlns:a="http://schemas.openxmlformats.org/drawingml/2006/main" noGrp="1"/>
          </p:cNvSpPr>
          <p:nvPr/>
        </p:nvSpPr>
        <p:spPr>
          <a:xfrm xmlns:a="http://schemas.openxmlformats.org/drawingml/2006/main">
            <a:off x="6223864" y="1536192"/>
            <a:ext cx="2581580" cy="2194560"/>
          </a:xfrm>
          <a:prstGeom xmlns:a="http://schemas.openxmlformats.org/drawingml/2006/main" prst="roundRect">
            <a:avLst>
              <a:gd name="adj" fmla="val 458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9" name="Shape 15">
            <a:extLst xmlns:a="http://schemas.openxmlformats.org/drawingml/2006/main">
              <a:ext uri="{FF2B5EF4-FFF2-40B4-BE49-F238E27FC236}">
                <a16:creationId xmlns:a16="http://schemas.microsoft.com/office/drawing/2014/main" id="{2E27A979-2024-4829-8117-C7B6D1AEB2CD}"/>
              </a:ext>
            </a:extLst>
          </p:cNvPr>
          <p:cNvSpPr>
            <a:spLocks xmlns:a="http://schemas.openxmlformats.org/drawingml/2006/main" noGrp="1"/>
          </p:cNvSpPr>
          <p:nvPr/>
        </p:nvSpPr>
        <p:spPr>
          <a:xfrm xmlns:a="http://schemas.openxmlformats.org/drawingml/2006/main">
            <a:off x="6223864" y="1536192"/>
            <a:ext cx="2581580" cy="640080"/>
          </a:xfrm>
          <a:prstGeom xmlns:a="http://schemas.openxmlformats.org/drawingml/2006/main" prst="roundRect">
            <a:avLst>
              <a:gd name="adj" fmla="val 14286"/>
            </a:avLst>
          </a:prstGeom>
          <a:solidFill xmlns:a="http://schemas.openxmlformats.org/drawingml/2006/main">
            <a:srgbClr val="1F3A5F"/>
          </a:solidFill>
        </p:spPr>
      </p:sp>
      <p:sp>
        <p:nvSpPr>
          <p:cNvPr id="20" name="Shape 16">
            <a:extLst xmlns:a="http://schemas.openxmlformats.org/drawingml/2006/main">
              <a:ext uri="{FF2B5EF4-FFF2-40B4-BE49-F238E27FC236}">
                <a16:creationId xmlns:a16="http://schemas.microsoft.com/office/drawing/2014/main" id="{A2BB7D45-5670-400D-B897-80DEB0203504}"/>
              </a:ext>
            </a:extLst>
          </p:cNvPr>
          <p:cNvSpPr>
            <a:spLocks xmlns:a="http://schemas.openxmlformats.org/drawingml/2006/main" noGrp="1"/>
          </p:cNvSpPr>
          <p:nvPr/>
        </p:nvSpPr>
        <p:spPr>
          <a:xfrm xmlns:a="http://schemas.openxmlformats.org/drawingml/2006/main">
            <a:off x="6223864" y="1856232"/>
            <a:ext cx="2581580" cy="320040"/>
          </a:xfrm>
          <a:prstGeom xmlns:a="http://schemas.openxmlformats.org/drawingml/2006/main" prst="rect">
            <a:avLst/>
          </a:prstGeom>
          <a:solidFill xmlns:a="http://schemas.openxmlformats.org/drawingml/2006/main">
            <a:srgbClr val="1F3A5F"/>
          </a:solidFill>
        </p:spPr>
      </p:sp>
      <p:sp>
        <p:nvSpPr>
          <p:cNvPr id="21" name="Shape 17">
            <a:extLst xmlns:a="http://schemas.openxmlformats.org/drawingml/2006/main">
              <a:ext uri="{FF2B5EF4-FFF2-40B4-BE49-F238E27FC236}">
                <a16:creationId xmlns:a16="http://schemas.microsoft.com/office/drawing/2014/main" id="{7FCE58FC-0072-434E-81BF-FE385EAC4F28}"/>
              </a:ext>
            </a:extLst>
          </p:cNvPr>
          <p:cNvSpPr>
            <a:spLocks xmlns:a="http://schemas.openxmlformats.org/drawingml/2006/main" noGrp="1"/>
          </p:cNvSpPr>
          <p:nvPr/>
        </p:nvSpPr>
        <p:spPr>
          <a:xfrm xmlns:a="http://schemas.openxmlformats.org/drawingml/2006/main">
            <a:off x="6388456" y="1664208"/>
            <a:ext cx="384048" cy="384048"/>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64" name="Image 2"/>
          <p:cNvPicPr>
            <a:picLocks xmlns:a="http://schemas.openxmlformats.org/drawingml/2006/main" noChangeAspect="1"/>
          </p:cNvPicPr>
          <p:nvPr/>
        </p:nvPicPr>
        <p:blipFill>
          <a:blip xmlns:r="http://schemas.openxmlformats.org/officeDocument/2006/relationships" xmlns:a="http://schemas.openxmlformats.org/drawingml/2006/main" r:embed="R6c87724414784b72"/>
          <a:stretch xmlns:a="http://schemas.openxmlformats.org/drawingml/2006/main">
            <a:fillRect l="0" t="0" r="0" b="0"/>
          </a:stretch>
        </p:blipFill>
        <p:spPr>
          <a:xfrm xmlns:a="http://schemas.openxmlformats.org/drawingml/2006/main">
            <a:off x="6488308" y="1764060"/>
            <a:ext cx="184343" cy="184343"/>
          </a:xfrm>
          <a:prstGeom xmlns:a="http://schemas.openxmlformats.org/drawingml/2006/main" prst="rect">
            <a:avLst/>
          </a:prstGeom>
        </p:spPr>
      </p:pic>
      <p:sp>
        <p:nvSpPr>
          <p:cNvPr id="23" name="Text 18">
            <a:extLst xmlns:a="http://schemas.openxmlformats.org/drawingml/2006/main">
              <a:ext uri="{FF2B5EF4-FFF2-40B4-BE49-F238E27FC236}">
                <a16:creationId xmlns:a16="http://schemas.microsoft.com/office/drawing/2014/main" id="{091694CC-C1EC-4F8F-941D-F5425059733E}"/>
              </a:ext>
            </a:extLst>
          </p:cNvPr>
          <p:cNvSpPr>
            <a:spLocks xmlns:a="http://schemas.openxmlformats.org/drawingml/2006/main" noGrp="1"/>
          </p:cNvSpPr>
          <p:nvPr/>
        </p:nvSpPr>
        <p:spPr>
          <a:xfrm xmlns:a="http://schemas.openxmlformats.org/drawingml/2006/main">
            <a:off x="6827368" y="1536192"/>
            <a:ext cx="190492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Functional understanding</a:t>
            </a:r>
            <a:endParaRPr sz="1250"/>
          </a:p>
        </p:txBody>
      </p:sp>
      <p:sp>
        <p:nvSpPr>
          <p:cNvPr id="24" name="Text 19">
            <a:extLst xmlns:a="http://schemas.openxmlformats.org/drawingml/2006/main">
              <a:ext uri="{FF2B5EF4-FFF2-40B4-BE49-F238E27FC236}">
                <a16:creationId xmlns:a16="http://schemas.microsoft.com/office/drawing/2014/main" id="{24CCFE64-B516-4E54-8296-96AC100F76EB}"/>
              </a:ext>
            </a:extLst>
          </p:cNvPr>
          <p:cNvSpPr>
            <a:spLocks xmlns:a="http://schemas.openxmlformats.org/drawingml/2006/main" noGrp="1"/>
          </p:cNvSpPr>
          <p:nvPr/>
        </p:nvSpPr>
        <p:spPr>
          <a:xfrm xmlns:a="http://schemas.openxmlformats.org/drawingml/2006/main">
            <a:off x="6425032" y="2322576"/>
            <a:ext cx="2215820" cy="1280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050">
                <a:solidFill>
                  <a:srgbClr val="2A231F"/>
                </a:solidFill>
                <a:latin typeface="Calibri"/>
                <a:ea typeface="Calibri"/>
                <a:cs typeface="Calibri"/>
              </a:rPr>
              <a:t>End-to-end process depth</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Translate business needs to solution</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Insurance distribution / sales / servicing</a:t>
            </a:r>
            <a:endParaRPr sz="1050"/>
          </a:p>
        </p:txBody>
      </p:sp>
      <p:sp>
        <p:nvSpPr>
          <p:cNvPr id="25" name="Shape 20">
            <a:extLst xmlns:a="http://schemas.openxmlformats.org/drawingml/2006/main">
              <a:ext uri="{FF2B5EF4-FFF2-40B4-BE49-F238E27FC236}">
                <a16:creationId xmlns:a16="http://schemas.microsoft.com/office/drawing/2014/main" id="{09AC1729-D21E-4703-A078-8FF18A7630B2}"/>
              </a:ext>
            </a:extLst>
          </p:cNvPr>
          <p:cNvSpPr>
            <a:spLocks xmlns:a="http://schemas.openxmlformats.org/drawingml/2006/main" noGrp="1"/>
          </p:cNvSpPr>
          <p:nvPr/>
        </p:nvSpPr>
        <p:spPr>
          <a:xfrm xmlns:a="http://schemas.openxmlformats.org/drawingml/2006/main">
            <a:off x="9061475" y="1536192"/>
            <a:ext cx="2581580" cy="2194560"/>
          </a:xfrm>
          <a:prstGeom xmlns:a="http://schemas.openxmlformats.org/drawingml/2006/main" prst="roundRect">
            <a:avLst>
              <a:gd name="adj" fmla="val 458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26" name="Shape 21">
            <a:extLst xmlns:a="http://schemas.openxmlformats.org/drawingml/2006/main">
              <a:ext uri="{FF2B5EF4-FFF2-40B4-BE49-F238E27FC236}">
                <a16:creationId xmlns:a16="http://schemas.microsoft.com/office/drawing/2014/main" id="{18236AE5-0703-4504-8A20-624DBF11C6CE}"/>
              </a:ext>
            </a:extLst>
          </p:cNvPr>
          <p:cNvSpPr>
            <a:spLocks xmlns:a="http://schemas.openxmlformats.org/drawingml/2006/main" noGrp="1"/>
          </p:cNvSpPr>
          <p:nvPr/>
        </p:nvSpPr>
        <p:spPr>
          <a:xfrm xmlns:a="http://schemas.openxmlformats.org/drawingml/2006/main">
            <a:off x="9061475" y="1536192"/>
            <a:ext cx="2581580" cy="640080"/>
          </a:xfrm>
          <a:prstGeom xmlns:a="http://schemas.openxmlformats.org/drawingml/2006/main" prst="roundRect">
            <a:avLst>
              <a:gd name="adj" fmla="val 14286"/>
            </a:avLst>
          </a:prstGeom>
          <a:solidFill xmlns:a="http://schemas.openxmlformats.org/drawingml/2006/main">
            <a:srgbClr val="1F3A5F"/>
          </a:solidFill>
        </p:spPr>
      </p:sp>
      <p:sp>
        <p:nvSpPr>
          <p:cNvPr id="27" name="Shape 22">
            <a:extLst xmlns:a="http://schemas.openxmlformats.org/drawingml/2006/main">
              <a:ext uri="{FF2B5EF4-FFF2-40B4-BE49-F238E27FC236}">
                <a16:creationId xmlns:a16="http://schemas.microsoft.com/office/drawing/2014/main" id="{60E69B22-A42A-4053-8690-729A88606E23}"/>
              </a:ext>
            </a:extLst>
          </p:cNvPr>
          <p:cNvSpPr>
            <a:spLocks xmlns:a="http://schemas.openxmlformats.org/drawingml/2006/main" noGrp="1"/>
          </p:cNvSpPr>
          <p:nvPr/>
        </p:nvSpPr>
        <p:spPr>
          <a:xfrm xmlns:a="http://schemas.openxmlformats.org/drawingml/2006/main">
            <a:off x="9061475" y="1856232"/>
            <a:ext cx="2581580" cy="320040"/>
          </a:xfrm>
          <a:prstGeom xmlns:a="http://schemas.openxmlformats.org/drawingml/2006/main" prst="rect">
            <a:avLst/>
          </a:prstGeom>
          <a:solidFill xmlns:a="http://schemas.openxmlformats.org/drawingml/2006/main">
            <a:srgbClr val="1F3A5F"/>
          </a:solidFill>
        </p:spPr>
      </p:sp>
      <p:sp>
        <p:nvSpPr>
          <p:cNvPr id="28" name="Shape 23">
            <a:extLst xmlns:a="http://schemas.openxmlformats.org/drawingml/2006/main">
              <a:ext uri="{FF2B5EF4-FFF2-40B4-BE49-F238E27FC236}">
                <a16:creationId xmlns:a16="http://schemas.microsoft.com/office/drawing/2014/main" id="{DDDF92A9-DAD6-49A1-AE58-52352B35C4F6}"/>
              </a:ext>
            </a:extLst>
          </p:cNvPr>
          <p:cNvSpPr>
            <a:spLocks xmlns:a="http://schemas.openxmlformats.org/drawingml/2006/main" noGrp="1"/>
          </p:cNvSpPr>
          <p:nvPr/>
        </p:nvSpPr>
        <p:spPr>
          <a:xfrm xmlns:a="http://schemas.openxmlformats.org/drawingml/2006/main">
            <a:off x="9226067" y="1664208"/>
            <a:ext cx="384048" cy="384048"/>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71" name="Image 3"/>
          <p:cNvPicPr>
            <a:picLocks xmlns:a="http://schemas.openxmlformats.org/drawingml/2006/main" noChangeAspect="1"/>
          </p:cNvPicPr>
          <p:nvPr/>
        </p:nvPicPr>
        <p:blipFill>
          <a:blip xmlns:r="http://schemas.openxmlformats.org/officeDocument/2006/relationships" xmlns:a="http://schemas.openxmlformats.org/drawingml/2006/main" r:embed="Rff0d2a3281b04f49"/>
          <a:stretch xmlns:a="http://schemas.openxmlformats.org/drawingml/2006/main">
            <a:fillRect l="0" t="0" r="0" b="0"/>
          </a:stretch>
        </p:blipFill>
        <p:spPr>
          <a:xfrm xmlns:a="http://schemas.openxmlformats.org/drawingml/2006/main">
            <a:off x="9325920" y="1764060"/>
            <a:ext cx="184343" cy="184343"/>
          </a:xfrm>
          <a:prstGeom xmlns:a="http://schemas.openxmlformats.org/drawingml/2006/main" prst="rect">
            <a:avLst/>
          </a:prstGeom>
        </p:spPr>
      </p:pic>
      <p:sp>
        <p:nvSpPr>
          <p:cNvPr id="30" name="Text 24">
            <a:extLst xmlns:a="http://schemas.openxmlformats.org/drawingml/2006/main">
              <a:ext uri="{FF2B5EF4-FFF2-40B4-BE49-F238E27FC236}">
                <a16:creationId xmlns:a16="http://schemas.microsoft.com/office/drawing/2014/main" id="{5A95A4BD-9C61-453C-A6BD-E6385A498864}"/>
              </a:ext>
            </a:extLst>
          </p:cNvPr>
          <p:cNvSpPr>
            <a:spLocks xmlns:a="http://schemas.openxmlformats.org/drawingml/2006/main" noGrp="1"/>
          </p:cNvSpPr>
          <p:nvPr/>
        </p:nvSpPr>
        <p:spPr>
          <a:xfrm xmlns:a="http://schemas.openxmlformats.org/drawingml/2006/main">
            <a:off x="9664979" y="1536192"/>
            <a:ext cx="1904924"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FFFFFF"/>
                </a:solidFill>
                <a:latin typeface="Poppins"/>
                <a:ea typeface="Poppins"/>
                <a:cs typeface="Poppins"/>
              </a:rPr>
              <a:t>Mobile expertise</a:t>
            </a:r>
            <a:endParaRPr sz="1250"/>
          </a:p>
        </p:txBody>
      </p:sp>
      <p:sp>
        <p:nvSpPr>
          <p:cNvPr id="31" name="Text 25">
            <a:extLst xmlns:a="http://schemas.openxmlformats.org/drawingml/2006/main">
              <a:ext uri="{FF2B5EF4-FFF2-40B4-BE49-F238E27FC236}">
                <a16:creationId xmlns:a16="http://schemas.microsoft.com/office/drawing/2014/main" id="{9569CD30-3C62-4500-B6B4-969D825948E4}"/>
              </a:ext>
            </a:extLst>
          </p:cNvPr>
          <p:cNvSpPr>
            <a:spLocks xmlns:a="http://schemas.openxmlformats.org/drawingml/2006/main" noGrp="1"/>
          </p:cNvSpPr>
          <p:nvPr/>
        </p:nvSpPr>
        <p:spPr>
          <a:xfrm xmlns:a="http://schemas.openxmlformats.org/drawingml/2006/main">
            <a:off x="9262643" y="2322576"/>
            <a:ext cx="2215820" cy="1280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800"/>
              </a:spcAft>
              <a:buSzPct val="100000"/>
              <a:buChar char="•"/>
            </a:pPr>
            <a:r>
              <a:rPr sz="1050">
                <a:solidFill>
                  <a:srgbClr val="2A231F"/>
                </a:solidFill>
                <a:latin typeface="Calibri"/>
                <a:ea typeface="Calibri"/>
                <a:cs typeface="Calibri"/>
              </a:rPr>
              <a:t>Proven mobile implementations</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Offline scenarios &amp; device challenges</a:t>
            </a:r>
            <a:endParaRPr sz="1050"/>
          </a:p>
          <a:p xmlns:a="http://schemas.openxmlformats.org/drawingml/2006/main">
            <a:pPr marL="152400" indent="-152400">
              <a:spcAft>
                <a:spcPts val="800"/>
              </a:spcAft>
              <a:buSzPct val="100000"/>
              <a:buChar char="•"/>
            </a:pPr>
            <a:r>
              <a:rPr sz="1050">
                <a:solidFill>
                  <a:srgbClr val="2A231F"/>
                </a:solidFill>
                <a:latin typeface="Calibri"/>
                <a:ea typeface="Calibri"/>
                <a:cs typeface="Calibri"/>
              </a:rPr>
              <a:t>Performance on-device</a:t>
            </a:r>
            <a:endParaRPr sz="1050"/>
          </a:p>
        </p:txBody>
      </p:sp>
      <p:sp>
        <p:nvSpPr>
          <p:cNvPr id="32" name="Shape 26">
            <a:extLst xmlns:a="http://schemas.openxmlformats.org/drawingml/2006/main">
              <a:ext uri="{FF2B5EF4-FFF2-40B4-BE49-F238E27FC236}">
                <a16:creationId xmlns:a16="http://schemas.microsoft.com/office/drawing/2014/main" id="{B2B6E590-0C6C-493D-B337-BD887F1D07AA}"/>
              </a:ext>
            </a:extLst>
          </p:cNvPr>
          <p:cNvSpPr>
            <a:spLocks xmlns:a="http://schemas.openxmlformats.org/drawingml/2006/main" noGrp="1"/>
          </p:cNvSpPr>
          <p:nvPr/>
        </p:nvSpPr>
        <p:spPr>
          <a:xfrm xmlns:a="http://schemas.openxmlformats.org/drawingml/2006/main">
            <a:off x="548640" y="4005072"/>
            <a:ext cx="11094415" cy="1298448"/>
          </a:xfrm>
          <a:prstGeom xmlns:a="http://schemas.openxmlformats.org/drawingml/2006/main" prst="roundRect">
            <a:avLst>
              <a:gd name="adj" fmla="val 7746"/>
            </a:avLst>
          </a:prstGeom>
          <a:solidFill xmlns:a="http://schemas.openxmlformats.org/drawingml/2006/main">
            <a:srgbClr val="FBEFF4"/>
          </a:solidFill>
          <a:ln xmlns:a="http://schemas.openxmlformats.org/drawingml/2006/main" w="12700">
            <a:solidFill>
              <a:srgbClr val="EFC7DA"/>
            </a:solidFill>
            <a:prstDash val="solid"/>
          </a:ln>
        </p:spPr>
      </p:sp>
      <p:sp>
        <p:nvSpPr>
          <p:cNvPr id="33" name="Shape 27">
            <a:extLst xmlns:a="http://schemas.openxmlformats.org/drawingml/2006/main">
              <a:ext uri="{FF2B5EF4-FFF2-40B4-BE49-F238E27FC236}">
                <a16:creationId xmlns:a16="http://schemas.microsoft.com/office/drawing/2014/main" id="{C970BBE1-01E0-471D-820D-7806660167D7}"/>
              </a:ext>
            </a:extLst>
          </p:cNvPr>
          <p:cNvSpPr>
            <a:spLocks xmlns:a="http://schemas.openxmlformats.org/drawingml/2006/main" noGrp="1"/>
          </p:cNvSpPr>
          <p:nvPr/>
        </p:nvSpPr>
        <p:spPr>
          <a:xfrm xmlns:a="http://schemas.openxmlformats.org/drawingml/2006/main">
            <a:off x="786384" y="4261104"/>
            <a:ext cx="457200" cy="457200"/>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6" name="Image 4"/>
          <p:cNvPicPr>
            <a:picLocks xmlns:a="http://schemas.openxmlformats.org/drawingml/2006/main" noChangeAspect="1"/>
          </p:cNvPicPr>
          <p:nvPr/>
        </p:nvPicPr>
        <p:blipFill>
          <a:blip xmlns:r="http://schemas.openxmlformats.org/officeDocument/2006/relationships" xmlns:a="http://schemas.openxmlformats.org/drawingml/2006/main" r:embed="Rcda476591ef346a8"/>
          <a:stretch xmlns:a="http://schemas.openxmlformats.org/drawingml/2006/main">
            <a:fillRect l="0" t="0" r="0" b="0"/>
          </a:stretch>
        </p:blipFill>
        <p:spPr>
          <a:xfrm xmlns:a="http://schemas.openxmlformats.org/drawingml/2006/main">
            <a:off x="896112" y="4370832"/>
            <a:ext cx="237744" cy="237744"/>
          </a:xfrm>
          <a:prstGeom xmlns:a="http://schemas.openxmlformats.org/drawingml/2006/main" prst="rect">
            <a:avLst/>
          </a:prstGeom>
        </p:spPr>
      </p:pic>
      <p:sp>
        <p:nvSpPr>
          <p:cNvPr id="35" name="Text 28">
            <a:extLst xmlns:a="http://schemas.openxmlformats.org/drawingml/2006/main">
              <a:ext uri="{FF2B5EF4-FFF2-40B4-BE49-F238E27FC236}">
                <a16:creationId xmlns:a16="http://schemas.microsoft.com/office/drawing/2014/main" id="{0B3FBDAB-78BB-43BF-9FD3-E0418941E24F}"/>
              </a:ext>
            </a:extLst>
          </p:cNvPr>
          <p:cNvSpPr>
            <a:spLocks xmlns:a="http://schemas.openxmlformats.org/drawingml/2006/main" noGrp="1"/>
          </p:cNvSpPr>
          <p:nvPr/>
        </p:nvSpPr>
        <p:spPr>
          <a:xfrm xmlns:a="http://schemas.openxmlformats.org/drawingml/2006/main">
            <a:off x="1389888" y="4151376"/>
            <a:ext cx="1008857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C31E5E"/>
                </a:solidFill>
                <a:latin typeface="Poppins"/>
                <a:ea typeface="Poppins"/>
                <a:cs typeface="Poppins"/>
              </a:rPr>
              <a:t>Resource &amp; staffing conditions (SoW + T&amp;C)</a:t>
            </a:r>
            <a:endParaRPr sz="1300"/>
          </a:p>
        </p:txBody>
      </p:sp>
      <p:sp>
        <p:nvSpPr>
          <p:cNvPr id="36" name="Text 29">
            <a:extLst xmlns:a="http://schemas.openxmlformats.org/drawingml/2006/main">
              <a:ext uri="{FF2B5EF4-FFF2-40B4-BE49-F238E27FC236}">
                <a16:creationId xmlns:a16="http://schemas.microsoft.com/office/drawing/2014/main" id="{55F25337-8FCE-4646-83B2-0C192B28CDC5}"/>
              </a:ext>
            </a:extLst>
          </p:cNvPr>
          <p:cNvSpPr>
            <a:spLocks xmlns:a="http://schemas.openxmlformats.org/drawingml/2006/main" noGrp="1"/>
          </p:cNvSpPr>
          <p:nvPr/>
        </p:nvSpPr>
        <p:spPr>
          <a:xfrm xmlns:a="http://schemas.openxmlformats.org/drawingml/2006/main">
            <a:off x="1389888" y="4517136"/>
            <a:ext cx="9997135" cy="7315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5000"/>
              </a:lnSpc>
              <a:buNone/>
            </a:pPr>
            <a:r>
              <a:rPr sz="1050">
                <a:solidFill>
                  <a:srgbClr val="2A231F"/>
                </a:solidFill>
                <a:latin typeface="Calibri"/>
                <a:ea typeface="Calibri"/>
                <a:cs typeface="Calibri"/>
              </a:rPr>
              <a:t>Named resources listed in the SOW (type, experience, name, role) — profiles submitted for AMLI review &amp; acceptance.   </a:t>
            </a:r>
            <a:r>
              <a:rPr sz="1050">
                <a:solidFill>
                  <a:srgbClr val="2A231F"/>
                </a:solidFill>
                <a:latin typeface="Calibri"/>
                <a:ea typeface="Calibri"/>
                <a:cs typeface="Calibri"/>
              </a:rPr>
              <a:t>No transfer of assigned resources to other projects until AMLI signs off complete implementation.   </a:t>
            </a:r>
            <a:r>
              <a:rPr sz="1050">
                <a:solidFill>
                  <a:srgbClr val="2A231F"/>
                </a:solidFill>
                <a:latin typeface="Calibri"/>
                <a:ea typeface="Calibri"/>
                <a:cs typeface="Calibri"/>
              </a:rPr>
              <a:t>Development team must provide support during hyper-care.   </a:t>
            </a:r>
            <a:r>
              <a:rPr sz="1050">
                <a:solidFill>
                  <a:srgbClr val="2A231F"/>
                </a:solidFill>
                <a:latin typeface="Calibri"/>
                <a:ea typeface="Calibri"/>
                <a:cs typeface="Calibri"/>
              </a:rPr>
              <a:t>Skills required from 1st Apr ’26: Developers, Tech Leads, QA (manual/automation), Scrum Master.</a:t>
            </a:r>
            <a:endParaRPr sz="1050"/>
          </a:p>
        </p:txBody>
      </p:sp>
      <p:sp>
        <p:nvSpPr>
          <p:cNvPr id="37" name="Text 30">
            <a:extLst xmlns:a="http://schemas.openxmlformats.org/drawingml/2006/main">
              <a:ext uri="{FF2B5EF4-FFF2-40B4-BE49-F238E27FC236}">
                <a16:creationId xmlns:a16="http://schemas.microsoft.com/office/drawing/2014/main" id="{C08929AB-C6E5-432A-9E55-8C96F6B8BFFE}"/>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38" name="Text 31">
            <a:extLst xmlns:a="http://schemas.openxmlformats.org/drawingml/2006/main">
              <a:ext uri="{FF2B5EF4-FFF2-40B4-BE49-F238E27FC236}">
                <a16:creationId xmlns:a16="http://schemas.microsoft.com/office/drawing/2014/main" id="{E866A02C-393E-484F-9A62-57970945FD00}"/>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11</a:t>
            </a:r>
            <a:endParaRPr sz="900"/>
          </a:p>
        </p:txBody>
      </p:sp>
    </p:spTree>
    <p:extLst>
      <p:ext uri="{BB962C8B-B14F-4D97-AF65-F5344CB8AC3E}">
        <p14:creationId xmlns:p14="http://schemas.microsoft.com/office/powerpoint/2010/main" val="125836711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A2292BB-CDF6-4119-8983-255D299FE1F3}"/>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OUR FITMENT</a:t>
            </a:r>
            <a:endParaRPr sz="1200"/>
          </a:p>
        </p:txBody>
      </p:sp>
      <p:sp>
        <p:nvSpPr>
          <p:cNvPr id="3" name="Text 1">
            <a:extLst xmlns:a="http://schemas.openxmlformats.org/drawingml/2006/main">
              <a:ext uri="{FF2B5EF4-FFF2-40B4-BE49-F238E27FC236}">
                <a16:creationId xmlns:a16="http://schemas.microsoft.com/office/drawing/2014/main" id="{8C427CE8-1563-423F-A39E-1942232A99C2}"/>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How BusinessNext maps to the ask</a:t>
            </a:r>
            <a:endParaRPr sz="3000"/>
          </a:p>
        </p:txBody>
      </p:sp>
      <p:sp>
        <p:nvSpPr>
          <p:cNvPr id="4" name="Shape 2">
            <a:extLst xmlns:a="http://schemas.openxmlformats.org/drawingml/2006/main">
              <a:ext uri="{FF2B5EF4-FFF2-40B4-BE49-F238E27FC236}">
                <a16:creationId xmlns:a16="http://schemas.microsoft.com/office/drawing/2014/main" id="{D4ADBC3F-112D-463E-A95B-57B4CB274B65}"/>
              </a:ext>
            </a:extLst>
          </p:cNvPr>
          <p:cNvSpPr>
            <a:spLocks xmlns:a="http://schemas.openxmlformats.org/drawingml/2006/main" noGrp="1"/>
          </p:cNvSpPr>
          <p:nvPr/>
        </p:nvSpPr>
        <p:spPr>
          <a:xfrm xmlns:a="http://schemas.openxmlformats.org/drawingml/2006/main">
            <a:off x="7071055" y="457200"/>
            <a:ext cx="201168" cy="201168"/>
          </a:xfrm>
          <a:prstGeom xmlns:a="http://schemas.openxmlformats.org/drawingml/2006/main" prst="roundRect">
            <a:avLst>
              <a:gd name="adj" fmla="val 22727"/>
            </a:avLst>
          </a:prstGeom>
          <a:solidFill xmlns:a="http://schemas.openxmlformats.org/drawingml/2006/main">
            <a:srgbClr val="1AC567"/>
          </a:solidFill>
        </p:spPr>
      </p:sp>
      <p:sp>
        <p:nvSpPr>
          <p:cNvPr id="5" name="Text 3">
            <a:extLst xmlns:a="http://schemas.openxmlformats.org/drawingml/2006/main">
              <a:ext uri="{FF2B5EF4-FFF2-40B4-BE49-F238E27FC236}">
                <a16:creationId xmlns:a16="http://schemas.microsoft.com/office/drawing/2014/main" id="{ED133256-853C-44B6-A12C-020F610DF37D}"/>
              </a:ext>
            </a:extLst>
          </p:cNvPr>
          <p:cNvSpPr>
            <a:spLocks xmlns:a="http://schemas.openxmlformats.org/drawingml/2006/main" noGrp="1"/>
          </p:cNvSpPr>
          <p:nvPr/>
        </p:nvSpPr>
        <p:spPr>
          <a:xfrm xmlns:a="http://schemas.openxmlformats.org/drawingml/2006/main">
            <a:off x="7327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Native</a:t>
            </a:r>
            <a:endParaRPr sz="950"/>
          </a:p>
        </p:txBody>
      </p:sp>
      <p:sp>
        <p:nvSpPr>
          <p:cNvPr id="6" name="Shape 4">
            <a:extLst xmlns:a="http://schemas.openxmlformats.org/drawingml/2006/main">
              <a:ext uri="{FF2B5EF4-FFF2-40B4-BE49-F238E27FC236}">
                <a16:creationId xmlns:a16="http://schemas.microsoft.com/office/drawing/2014/main" id="{1A5FE0CB-319C-451C-8C00-5B5C059D080B}"/>
              </a:ext>
            </a:extLst>
          </p:cNvPr>
          <p:cNvSpPr>
            <a:spLocks xmlns:a="http://schemas.openxmlformats.org/drawingml/2006/main" noGrp="1"/>
          </p:cNvSpPr>
          <p:nvPr/>
        </p:nvSpPr>
        <p:spPr>
          <a:xfrm xmlns:a="http://schemas.openxmlformats.org/drawingml/2006/main">
            <a:off x="8214055" y="457200"/>
            <a:ext cx="201168" cy="201168"/>
          </a:xfrm>
          <a:prstGeom xmlns:a="http://schemas.openxmlformats.org/drawingml/2006/main" prst="roundRect">
            <a:avLst>
              <a:gd name="adj" fmla="val 22727"/>
            </a:avLst>
          </a:prstGeom>
          <a:solidFill xmlns:a="http://schemas.openxmlformats.org/drawingml/2006/main">
            <a:srgbClr val="0969FF"/>
          </a:solidFill>
        </p:spPr>
      </p:sp>
      <p:sp>
        <p:nvSpPr>
          <p:cNvPr id="7" name="Text 5">
            <a:extLst xmlns:a="http://schemas.openxmlformats.org/drawingml/2006/main">
              <a:ext uri="{FF2B5EF4-FFF2-40B4-BE49-F238E27FC236}">
                <a16:creationId xmlns:a16="http://schemas.microsoft.com/office/drawing/2014/main" id="{EDC4D579-DFFF-47F2-A880-B3D39EBAECF7}"/>
              </a:ext>
            </a:extLst>
          </p:cNvPr>
          <p:cNvSpPr>
            <a:spLocks xmlns:a="http://schemas.openxmlformats.org/drawingml/2006/main" noGrp="1"/>
          </p:cNvSpPr>
          <p:nvPr/>
        </p:nvSpPr>
        <p:spPr>
          <a:xfrm xmlns:a="http://schemas.openxmlformats.org/drawingml/2006/main">
            <a:off x="8470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Configurable</a:t>
            </a:r>
            <a:endParaRPr sz="950"/>
          </a:p>
        </p:txBody>
      </p:sp>
      <p:sp>
        <p:nvSpPr>
          <p:cNvPr id="8" name="Shape 6">
            <a:extLst xmlns:a="http://schemas.openxmlformats.org/drawingml/2006/main">
              <a:ext uri="{FF2B5EF4-FFF2-40B4-BE49-F238E27FC236}">
                <a16:creationId xmlns:a16="http://schemas.microsoft.com/office/drawing/2014/main" id="{DBCE4179-4EA5-4933-A465-DBE0C81EB711}"/>
              </a:ext>
            </a:extLst>
          </p:cNvPr>
          <p:cNvSpPr>
            <a:spLocks xmlns:a="http://schemas.openxmlformats.org/drawingml/2006/main" noGrp="1"/>
          </p:cNvSpPr>
          <p:nvPr/>
        </p:nvSpPr>
        <p:spPr>
          <a:xfrm xmlns:a="http://schemas.openxmlformats.org/drawingml/2006/main">
            <a:off x="9357055" y="457200"/>
            <a:ext cx="201168" cy="201168"/>
          </a:xfrm>
          <a:prstGeom xmlns:a="http://schemas.openxmlformats.org/drawingml/2006/main" prst="roundRect">
            <a:avLst>
              <a:gd name="adj" fmla="val 22727"/>
            </a:avLst>
          </a:prstGeom>
          <a:solidFill xmlns:a="http://schemas.openxmlformats.org/drawingml/2006/main">
            <a:srgbClr val="FFA700"/>
          </a:solidFill>
        </p:spPr>
      </p:sp>
      <p:sp>
        <p:nvSpPr>
          <p:cNvPr id="9" name="Text 7">
            <a:extLst xmlns:a="http://schemas.openxmlformats.org/drawingml/2006/main">
              <a:ext uri="{FF2B5EF4-FFF2-40B4-BE49-F238E27FC236}">
                <a16:creationId xmlns:a16="http://schemas.microsoft.com/office/drawing/2014/main" id="{20952590-D034-44C8-9CA6-07036F51157A}"/>
              </a:ext>
            </a:extLst>
          </p:cNvPr>
          <p:cNvSpPr>
            <a:spLocks xmlns:a="http://schemas.openxmlformats.org/drawingml/2006/main" noGrp="1"/>
          </p:cNvSpPr>
          <p:nvPr/>
        </p:nvSpPr>
        <p:spPr>
          <a:xfrm xmlns:a="http://schemas.openxmlformats.org/drawingml/2006/main">
            <a:off x="9613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Build-up</a:t>
            </a:r>
            <a:endParaRPr sz="950"/>
          </a:p>
        </p:txBody>
      </p:sp>
      <p:sp>
        <p:nvSpPr>
          <p:cNvPr id="10" name="Shape 8">
            <a:extLst xmlns:a="http://schemas.openxmlformats.org/drawingml/2006/main">
              <a:ext uri="{FF2B5EF4-FFF2-40B4-BE49-F238E27FC236}">
                <a16:creationId xmlns:a16="http://schemas.microsoft.com/office/drawing/2014/main" id="{C8EFAF9A-6AF7-4BB3-9DA4-F88330C1BEC1}"/>
              </a:ext>
            </a:extLst>
          </p:cNvPr>
          <p:cNvSpPr>
            <a:spLocks xmlns:a="http://schemas.openxmlformats.org/drawingml/2006/main" noGrp="1"/>
          </p:cNvSpPr>
          <p:nvPr/>
        </p:nvSpPr>
        <p:spPr>
          <a:xfrm xmlns:a="http://schemas.openxmlformats.org/drawingml/2006/main">
            <a:off x="10500055" y="457200"/>
            <a:ext cx="201168" cy="201168"/>
          </a:xfrm>
          <a:prstGeom xmlns:a="http://schemas.openxmlformats.org/drawingml/2006/main" prst="roundRect">
            <a:avLst>
              <a:gd name="adj" fmla="val 22727"/>
            </a:avLst>
          </a:prstGeom>
          <a:solidFill xmlns:a="http://schemas.openxmlformats.org/drawingml/2006/main">
            <a:srgbClr val="C0392B"/>
          </a:solidFill>
        </p:spPr>
      </p:sp>
      <p:sp>
        <p:nvSpPr>
          <p:cNvPr id="11" name="Text 9">
            <a:extLst xmlns:a="http://schemas.openxmlformats.org/drawingml/2006/main">
              <a:ext uri="{FF2B5EF4-FFF2-40B4-BE49-F238E27FC236}">
                <a16:creationId xmlns:a16="http://schemas.microsoft.com/office/drawing/2014/main" id="{8A6D60D7-E334-4FC5-9A9C-480005E643B5}"/>
              </a:ext>
            </a:extLst>
          </p:cNvPr>
          <p:cNvSpPr>
            <a:spLocks xmlns:a="http://schemas.openxmlformats.org/drawingml/2006/main" noGrp="1"/>
          </p:cNvSpPr>
          <p:nvPr/>
        </p:nvSpPr>
        <p:spPr>
          <a:xfrm xmlns:a="http://schemas.openxmlformats.org/drawingml/2006/main">
            <a:off x="10756087" y="402336"/>
            <a:ext cx="1005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595959"/>
                </a:solidFill>
                <a:latin typeface="Calibri"/>
                <a:ea typeface="Calibri"/>
                <a:cs typeface="Calibri"/>
              </a:rPr>
              <a:t>Gap / decide</a:t>
            </a:r>
            <a:endParaRPr sz="950"/>
          </a:p>
        </p:txBody>
      </p:sp>
      <p:sp>
        <p:nvSpPr>
          <p:cNvPr id="12" name="Shape 10">
            <a:extLst xmlns:a="http://schemas.openxmlformats.org/drawingml/2006/main">
              <a:ext uri="{FF2B5EF4-FFF2-40B4-BE49-F238E27FC236}">
                <a16:creationId xmlns:a16="http://schemas.microsoft.com/office/drawing/2014/main" id="{59C51030-1760-4B4C-9547-85D03041A3A7}"/>
              </a:ext>
            </a:extLst>
          </p:cNvPr>
          <p:cNvSpPr>
            <a:spLocks xmlns:a="http://schemas.openxmlformats.org/drawingml/2006/main" noGrp="1"/>
          </p:cNvSpPr>
          <p:nvPr/>
        </p:nvSpPr>
        <p:spPr>
          <a:xfrm xmlns:a="http://schemas.openxmlformats.org/drawingml/2006/main">
            <a:off x="548640" y="1170432"/>
            <a:ext cx="11094415" cy="420624"/>
          </a:xfrm>
          <a:prstGeom xmlns:a="http://schemas.openxmlformats.org/drawingml/2006/main" prst="roundRect">
            <a:avLst>
              <a:gd name="adj" fmla="val 10870"/>
            </a:avLst>
          </a:prstGeom>
          <a:solidFill xmlns:a="http://schemas.openxmlformats.org/drawingml/2006/main">
            <a:srgbClr val="EE2B76"/>
          </a:solidFill>
        </p:spPr>
      </p:sp>
      <p:sp>
        <p:nvSpPr>
          <p:cNvPr id="13" name="Text 11">
            <a:extLst xmlns:a="http://schemas.openxmlformats.org/drawingml/2006/main">
              <a:ext uri="{FF2B5EF4-FFF2-40B4-BE49-F238E27FC236}">
                <a16:creationId xmlns:a16="http://schemas.microsoft.com/office/drawing/2014/main" id="{F6BA56F1-9367-49E7-9F8D-7ECD7CCC525D}"/>
              </a:ext>
            </a:extLst>
          </p:cNvPr>
          <p:cNvSpPr>
            <a:spLocks xmlns:a="http://schemas.openxmlformats.org/drawingml/2006/main" noGrp="1"/>
          </p:cNvSpPr>
          <p:nvPr/>
        </p:nvSpPr>
        <p:spPr>
          <a:xfrm xmlns:a="http://schemas.openxmlformats.org/drawingml/2006/main">
            <a:off x="731520" y="1170432"/>
            <a:ext cx="32004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Poppins"/>
                <a:ea typeface="Poppins"/>
                <a:cs typeface="Poppins"/>
              </a:rPr>
              <a:t>AMLI Requirement</a:t>
            </a:r>
            <a:endParaRPr sz="1100"/>
          </a:p>
        </p:txBody>
      </p:sp>
      <p:sp>
        <p:nvSpPr>
          <p:cNvPr id="14" name="Text 12">
            <a:extLst xmlns:a="http://schemas.openxmlformats.org/drawingml/2006/main">
              <a:ext uri="{FF2B5EF4-FFF2-40B4-BE49-F238E27FC236}">
                <a16:creationId xmlns:a16="http://schemas.microsoft.com/office/drawing/2014/main" id="{3CEB240D-AD9C-4043-8606-9BF2E419D8BB}"/>
              </a:ext>
            </a:extLst>
          </p:cNvPr>
          <p:cNvSpPr>
            <a:spLocks xmlns:a="http://schemas.openxmlformats.org/drawingml/2006/main" noGrp="1"/>
          </p:cNvSpPr>
          <p:nvPr/>
        </p:nvSpPr>
        <p:spPr>
          <a:xfrm xmlns:a="http://schemas.openxmlformats.org/drawingml/2006/main">
            <a:off x="4114800" y="1170432"/>
            <a:ext cx="640080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FFFFFF"/>
                </a:solidFill>
                <a:latin typeface="Poppins"/>
                <a:ea typeface="Poppins"/>
                <a:cs typeface="Poppins"/>
              </a:rPr>
              <a:t>BusinessNext / CRMNEXT capability</a:t>
            </a:r>
            <a:endParaRPr sz="1100"/>
          </a:p>
        </p:txBody>
      </p:sp>
      <p:sp>
        <p:nvSpPr>
          <p:cNvPr id="15" name="Text 13">
            <a:extLst xmlns:a="http://schemas.openxmlformats.org/drawingml/2006/main">
              <a:ext uri="{FF2B5EF4-FFF2-40B4-BE49-F238E27FC236}">
                <a16:creationId xmlns:a16="http://schemas.microsoft.com/office/drawing/2014/main" id="{BA1850D1-6193-4975-A328-FCDDCC2E64F1}"/>
              </a:ext>
            </a:extLst>
          </p:cNvPr>
          <p:cNvSpPr>
            <a:spLocks xmlns:a="http://schemas.openxmlformats.org/drawingml/2006/main" noGrp="1"/>
          </p:cNvSpPr>
          <p:nvPr/>
        </p:nvSpPr>
        <p:spPr>
          <a:xfrm xmlns:a="http://schemas.openxmlformats.org/drawingml/2006/main">
            <a:off x="10271455" y="1170432"/>
            <a:ext cx="12801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Poppins"/>
                <a:ea typeface="Poppins"/>
                <a:cs typeface="Poppins"/>
              </a:rPr>
              <a:t>Fit</a:t>
            </a:r>
            <a:endParaRPr sz="1100"/>
          </a:p>
        </p:txBody>
      </p:sp>
      <p:sp>
        <p:nvSpPr>
          <p:cNvPr id="16" name="Shape 14">
            <a:extLst xmlns:a="http://schemas.openxmlformats.org/drawingml/2006/main">
              <a:ext uri="{FF2B5EF4-FFF2-40B4-BE49-F238E27FC236}">
                <a16:creationId xmlns:a16="http://schemas.microsoft.com/office/drawing/2014/main" id="{A7CD048A-2886-43FD-A8D7-9F6E80876ED1}"/>
              </a:ext>
            </a:extLst>
          </p:cNvPr>
          <p:cNvSpPr>
            <a:spLocks xmlns:a="http://schemas.openxmlformats.org/drawingml/2006/main" noGrp="1"/>
          </p:cNvSpPr>
          <p:nvPr/>
        </p:nvSpPr>
        <p:spPr>
          <a:xfrm xmlns:a="http://schemas.openxmlformats.org/drawingml/2006/main">
            <a:off x="548640" y="15910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17" name="Text 15">
            <a:extLst xmlns:a="http://schemas.openxmlformats.org/drawingml/2006/main">
              <a:ext uri="{FF2B5EF4-FFF2-40B4-BE49-F238E27FC236}">
                <a16:creationId xmlns:a16="http://schemas.microsoft.com/office/drawing/2014/main" id="{075D64C5-129F-4577-B4F2-EAD93D8AF335}"/>
              </a:ext>
            </a:extLst>
          </p:cNvPr>
          <p:cNvSpPr>
            <a:spLocks xmlns:a="http://schemas.openxmlformats.org/drawingml/2006/main" noGrp="1"/>
          </p:cNvSpPr>
          <p:nvPr/>
        </p:nvSpPr>
        <p:spPr>
          <a:xfrm xmlns:a="http://schemas.openxmlformats.org/drawingml/2006/main">
            <a:off x="731520" y="15910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Activity Management (AMS)</a:t>
            </a:r>
            <a:endParaRPr sz="1050"/>
          </a:p>
        </p:txBody>
      </p:sp>
      <p:sp>
        <p:nvSpPr>
          <p:cNvPr id="18" name="Text 16">
            <a:extLst xmlns:a="http://schemas.openxmlformats.org/drawingml/2006/main">
              <a:ext uri="{FF2B5EF4-FFF2-40B4-BE49-F238E27FC236}">
                <a16:creationId xmlns:a16="http://schemas.microsoft.com/office/drawing/2014/main" id="{B836757F-7801-46E5-9CFD-D0A3C5E2A4C0}"/>
              </a:ext>
            </a:extLst>
          </p:cNvPr>
          <p:cNvSpPr>
            <a:spLocks xmlns:a="http://schemas.openxmlformats.org/drawingml/2006/main" noGrp="1"/>
          </p:cNvSpPr>
          <p:nvPr/>
        </p:nvSpPr>
        <p:spPr>
          <a:xfrm xmlns:a="http://schemas.openxmlformats.org/drawingml/2006/main">
            <a:off x="4114800" y="15910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CRMNEXT config-driven activity engine: catalog, templates, SLAs, assignment rules</a:t>
            </a:r>
            <a:endParaRPr sz="1000"/>
          </a:p>
        </p:txBody>
      </p:sp>
      <p:sp>
        <p:nvSpPr>
          <p:cNvPr id="19" name="Shape 17">
            <a:extLst xmlns:a="http://schemas.openxmlformats.org/drawingml/2006/main">
              <a:ext uri="{FF2B5EF4-FFF2-40B4-BE49-F238E27FC236}">
                <a16:creationId xmlns:a16="http://schemas.microsoft.com/office/drawing/2014/main" id="{996B7348-7183-4847-8C07-B37D492BCAFA}"/>
              </a:ext>
            </a:extLst>
          </p:cNvPr>
          <p:cNvSpPr>
            <a:spLocks xmlns:a="http://schemas.openxmlformats.org/drawingml/2006/main" noGrp="1"/>
          </p:cNvSpPr>
          <p:nvPr/>
        </p:nvSpPr>
        <p:spPr>
          <a:xfrm xmlns:a="http://schemas.openxmlformats.org/drawingml/2006/main">
            <a:off x="10161727" y="1682496"/>
            <a:ext cx="1371600" cy="274320"/>
          </a:xfrm>
          <a:prstGeom xmlns:a="http://schemas.openxmlformats.org/drawingml/2006/main" prst="roundRect">
            <a:avLst>
              <a:gd name="adj" fmla="val 50000"/>
            </a:avLst>
          </a:prstGeom>
          <a:solidFill xmlns:a="http://schemas.openxmlformats.org/drawingml/2006/main">
            <a:srgbClr val="1AC567"/>
          </a:solidFill>
        </p:spPr>
      </p:sp>
      <p:sp>
        <p:nvSpPr>
          <p:cNvPr id="20" name="Text 18">
            <a:extLst xmlns:a="http://schemas.openxmlformats.org/drawingml/2006/main">
              <a:ext uri="{FF2B5EF4-FFF2-40B4-BE49-F238E27FC236}">
                <a16:creationId xmlns:a16="http://schemas.microsoft.com/office/drawing/2014/main" id="{38781F5E-95CB-4321-BA4A-F174A5790772}"/>
              </a:ext>
            </a:extLst>
          </p:cNvPr>
          <p:cNvSpPr>
            <a:spLocks xmlns:a="http://schemas.openxmlformats.org/drawingml/2006/main" noGrp="1"/>
          </p:cNvSpPr>
          <p:nvPr/>
        </p:nvSpPr>
        <p:spPr>
          <a:xfrm xmlns:a="http://schemas.openxmlformats.org/drawingml/2006/main">
            <a:off x="10161727" y="16824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Native</a:t>
            </a:r>
            <a:endParaRPr sz="900"/>
          </a:p>
        </p:txBody>
      </p:sp>
      <p:sp>
        <p:nvSpPr>
          <p:cNvPr id="21" name="Shape 19">
            <a:extLst xmlns:a="http://schemas.openxmlformats.org/drawingml/2006/main">
              <a:ext uri="{FF2B5EF4-FFF2-40B4-BE49-F238E27FC236}">
                <a16:creationId xmlns:a16="http://schemas.microsoft.com/office/drawing/2014/main" id="{9997EB03-3FFD-47BF-8068-E93B7251E3F9}"/>
              </a:ext>
            </a:extLst>
          </p:cNvPr>
          <p:cNvSpPr>
            <a:spLocks xmlns:a="http://schemas.openxmlformats.org/drawingml/2006/main" noGrp="1"/>
          </p:cNvSpPr>
          <p:nvPr/>
        </p:nvSpPr>
        <p:spPr>
          <a:xfrm xmlns:a="http://schemas.openxmlformats.org/drawingml/2006/main">
            <a:off x="548640" y="20482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22" name="Text 20">
            <a:extLst xmlns:a="http://schemas.openxmlformats.org/drawingml/2006/main">
              <a:ext uri="{FF2B5EF4-FFF2-40B4-BE49-F238E27FC236}">
                <a16:creationId xmlns:a16="http://schemas.microsoft.com/office/drawing/2014/main" id="{FC717B39-4368-48B4-A7DF-B0DD372FA074}"/>
              </a:ext>
            </a:extLst>
          </p:cNvPr>
          <p:cNvSpPr>
            <a:spLocks xmlns:a="http://schemas.openxmlformats.org/drawingml/2006/main" noGrp="1"/>
          </p:cNvSpPr>
          <p:nvPr/>
        </p:nvSpPr>
        <p:spPr>
          <a:xfrm xmlns:a="http://schemas.openxmlformats.org/drawingml/2006/main">
            <a:off x="731520" y="20482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Lead Management (LMS)</a:t>
            </a:r>
            <a:endParaRPr sz="1050"/>
          </a:p>
        </p:txBody>
      </p:sp>
      <p:sp>
        <p:nvSpPr>
          <p:cNvPr id="23" name="Text 21">
            <a:extLst xmlns:a="http://schemas.openxmlformats.org/drawingml/2006/main">
              <a:ext uri="{FF2B5EF4-FFF2-40B4-BE49-F238E27FC236}">
                <a16:creationId xmlns:a16="http://schemas.microsoft.com/office/drawing/2014/main" id="{9F2F0E3C-5830-455E-8EAA-A174FF199EED}"/>
              </a:ext>
            </a:extLst>
          </p:cNvPr>
          <p:cNvSpPr>
            <a:spLocks xmlns:a="http://schemas.openxmlformats.org/drawingml/2006/main" noGrp="1"/>
          </p:cNvSpPr>
          <p:nvPr/>
        </p:nvSpPr>
        <p:spPr>
          <a:xfrm xmlns:a="http://schemas.openxmlformats.org/drawingml/2006/main">
            <a:off x="4114800" y="20482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Ingestion, dedupe, allocation rule-engine, lifecycle &amp; recycling — product core</a:t>
            </a:r>
            <a:endParaRPr sz="1000"/>
          </a:p>
        </p:txBody>
      </p:sp>
      <p:sp>
        <p:nvSpPr>
          <p:cNvPr id="24" name="Shape 22">
            <a:extLst xmlns:a="http://schemas.openxmlformats.org/drawingml/2006/main">
              <a:ext uri="{FF2B5EF4-FFF2-40B4-BE49-F238E27FC236}">
                <a16:creationId xmlns:a16="http://schemas.microsoft.com/office/drawing/2014/main" id="{AD55D87C-1CD9-433A-93A4-703191922832}"/>
              </a:ext>
            </a:extLst>
          </p:cNvPr>
          <p:cNvSpPr>
            <a:spLocks xmlns:a="http://schemas.openxmlformats.org/drawingml/2006/main" noGrp="1"/>
          </p:cNvSpPr>
          <p:nvPr/>
        </p:nvSpPr>
        <p:spPr>
          <a:xfrm xmlns:a="http://schemas.openxmlformats.org/drawingml/2006/main">
            <a:off x="10161727" y="2139696"/>
            <a:ext cx="1371600" cy="274320"/>
          </a:xfrm>
          <a:prstGeom xmlns:a="http://schemas.openxmlformats.org/drawingml/2006/main" prst="roundRect">
            <a:avLst>
              <a:gd name="adj" fmla="val 50000"/>
            </a:avLst>
          </a:prstGeom>
          <a:solidFill xmlns:a="http://schemas.openxmlformats.org/drawingml/2006/main">
            <a:srgbClr val="1AC567"/>
          </a:solidFill>
        </p:spPr>
      </p:sp>
      <p:sp>
        <p:nvSpPr>
          <p:cNvPr id="25" name="Text 23">
            <a:extLst xmlns:a="http://schemas.openxmlformats.org/drawingml/2006/main">
              <a:ext uri="{FF2B5EF4-FFF2-40B4-BE49-F238E27FC236}">
                <a16:creationId xmlns:a16="http://schemas.microsoft.com/office/drawing/2014/main" id="{420AC2BB-413A-4A60-B6A4-92FEA407371B}"/>
              </a:ext>
            </a:extLst>
          </p:cNvPr>
          <p:cNvSpPr>
            <a:spLocks xmlns:a="http://schemas.openxmlformats.org/drawingml/2006/main" noGrp="1"/>
          </p:cNvSpPr>
          <p:nvPr/>
        </p:nvSpPr>
        <p:spPr>
          <a:xfrm xmlns:a="http://schemas.openxmlformats.org/drawingml/2006/main">
            <a:off x="10161727" y="21396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Native</a:t>
            </a:r>
            <a:endParaRPr sz="900"/>
          </a:p>
        </p:txBody>
      </p:sp>
      <p:sp>
        <p:nvSpPr>
          <p:cNvPr id="26" name="Shape 24">
            <a:extLst xmlns:a="http://schemas.openxmlformats.org/drawingml/2006/main">
              <a:ext uri="{FF2B5EF4-FFF2-40B4-BE49-F238E27FC236}">
                <a16:creationId xmlns:a16="http://schemas.microsoft.com/office/drawing/2014/main" id="{5668ED66-452F-456E-B3A1-1E36E58F811F}"/>
              </a:ext>
            </a:extLst>
          </p:cNvPr>
          <p:cNvSpPr>
            <a:spLocks xmlns:a="http://schemas.openxmlformats.org/drawingml/2006/main" noGrp="1"/>
          </p:cNvSpPr>
          <p:nvPr/>
        </p:nvSpPr>
        <p:spPr>
          <a:xfrm xmlns:a="http://schemas.openxmlformats.org/drawingml/2006/main">
            <a:off x="548640" y="25054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27" name="Text 25">
            <a:extLst xmlns:a="http://schemas.openxmlformats.org/drawingml/2006/main">
              <a:ext uri="{FF2B5EF4-FFF2-40B4-BE49-F238E27FC236}">
                <a16:creationId xmlns:a16="http://schemas.microsoft.com/office/drawing/2014/main" id="{5A55CF74-BF13-497E-96FB-F4BED931FF2D}"/>
              </a:ext>
            </a:extLst>
          </p:cNvPr>
          <p:cNvSpPr>
            <a:spLocks xmlns:a="http://schemas.openxmlformats.org/drawingml/2006/main" noGrp="1"/>
          </p:cNvSpPr>
          <p:nvPr/>
        </p:nvSpPr>
        <p:spPr>
          <a:xfrm xmlns:a="http://schemas.openxmlformats.org/drawingml/2006/main">
            <a:off x="731520" y="25054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No-code / UI configurability</a:t>
            </a:r>
            <a:endParaRPr sz="1050"/>
          </a:p>
        </p:txBody>
      </p:sp>
      <p:sp>
        <p:nvSpPr>
          <p:cNvPr id="28" name="Text 26">
            <a:extLst xmlns:a="http://schemas.openxmlformats.org/drawingml/2006/main">
              <a:ext uri="{FF2B5EF4-FFF2-40B4-BE49-F238E27FC236}">
                <a16:creationId xmlns:a16="http://schemas.microsoft.com/office/drawing/2014/main" id="{56FA154A-1AB4-4E49-B608-D2E796F47108}"/>
              </a:ext>
            </a:extLst>
          </p:cNvPr>
          <p:cNvSpPr>
            <a:spLocks xmlns:a="http://schemas.openxmlformats.org/drawingml/2006/main" noGrp="1"/>
          </p:cNvSpPr>
          <p:nvPr/>
        </p:nvSpPr>
        <p:spPr>
          <a:xfrm xmlns:a="http://schemas.openxmlformats.org/drawingml/2006/main">
            <a:off x="4114800" y="25054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Field/workflow/rule config via admin; changes in days, minimal CRs</a:t>
            </a:r>
            <a:endParaRPr sz="1000"/>
          </a:p>
        </p:txBody>
      </p:sp>
      <p:sp>
        <p:nvSpPr>
          <p:cNvPr id="29" name="Shape 27">
            <a:extLst xmlns:a="http://schemas.openxmlformats.org/drawingml/2006/main">
              <a:ext uri="{FF2B5EF4-FFF2-40B4-BE49-F238E27FC236}">
                <a16:creationId xmlns:a16="http://schemas.microsoft.com/office/drawing/2014/main" id="{AEF368F5-8AEF-4387-AB3D-65400E4C0BEF}"/>
              </a:ext>
            </a:extLst>
          </p:cNvPr>
          <p:cNvSpPr>
            <a:spLocks xmlns:a="http://schemas.openxmlformats.org/drawingml/2006/main" noGrp="1"/>
          </p:cNvSpPr>
          <p:nvPr/>
        </p:nvSpPr>
        <p:spPr>
          <a:xfrm xmlns:a="http://schemas.openxmlformats.org/drawingml/2006/main">
            <a:off x="10161727" y="2596896"/>
            <a:ext cx="1371600" cy="274320"/>
          </a:xfrm>
          <a:prstGeom xmlns:a="http://schemas.openxmlformats.org/drawingml/2006/main" prst="roundRect">
            <a:avLst>
              <a:gd name="adj" fmla="val 50000"/>
            </a:avLst>
          </a:prstGeom>
          <a:solidFill xmlns:a="http://schemas.openxmlformats.org/drawingml/2006/main">
            <a:srgbClr val="1AC567"/>
          </a:solidFill>
        </p:spPr>
      </p:sp>
      <p:sp>
        <p:nvSpPr>
          <p:cNvPr id="30" name="Text 28">
            <a:extLst xmlns:a="http://schemas.openxmlformats.org/drawingml/2006/main">
              <a:ext uri="{FF2B5EF4-FFF2-40B4-BE49-F238E27FC236}">
                <a16:creationId xmlns:a16="http://schemas.microsoft.com/office/drawing/2014/main" id="{36FFF536-CA95-4A7C-A912-690EAF0827BC}"/>
              </a:ext>
            </a:extLst>
          </p:cNvPr>
          <p:cNvSpPr>
            <a:spLocks xmlns:a="http://schemas.openxmlformats.org/drawingml/2006/main" noGrp="1"/>
          </p:cNvSpPr>
          <p:nvPr/>
        </p:nvSpPr>
        <p:spPr>
          <a:xfrm xmlns:a="http://schemas.openxmlformats.org/drawingml/2006/main">
            <a:off x="10161727" y="25968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Native</a:t>
            </a:r>
            <a:endParaRPr sz="900"/>
          </a:p>
        </p:txBody>
      </p:sp>
      <p:sp>
        <p:nvSpPr>
          <p:cNvPr id="31" name="Shape 29">
            <a:extLst xmlns:a="http://schemas.openxmlformats.org/drawingml/2006/main">
              <a:ext uri="{FF2B5EF4-FFF2-40B4-BE49-F238E27FC236}">
                <a16:creationId xmlns:a16="http://schemas.microsoft.com/office/drawing/2014/main" id="{F359361A-D014-452A-82A8-4ACC69C4E4D6}"/>
              </a:ext>
            </a:extLst>
          </p:cNvPr>
          <p:cNvSpPr>
            <a:spLocks xmlns:a="http://schemas.openxmlformats.org/drawingml/2006/main" noGrp="1"/>
          </p:cNvSpPr>
          <p:nvPr/>
        </p:nvSpPr>
        <p:spPr>
          <a:xfrm xmlns:a="http://schemas.openxmlformats.org/drawingml/2006/main">
            <a:off x="548640" y="29626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32" name="Text 30">
            <a:extLst xmlns:a="http://schemas.openxmlformats.org/drawingml/2006/main">
              <a:ext uri="{FF2B5EF4-FFF2-40B4-BE49-F238E27FC236}">
                <a16:creationId xmlns:a16="http://schemas.microsoft.com/office/drawing/2014/main" id="{F0B81231-4570-4899-9F8C-49D29AA411E7}"/>
              </a:ext>
            </a:extLst>
          </p:cNvPr>
          <p:cNvSpPr>
            <a:spLocks xmlns:a="http://schemas.openxmlformats.org/drawingml/2006/main" noGrp="1"/>
          </p:cNvSpPr>
          <p:nvPr/>
        </p:nvSpPr>
        <p:spPr>
          <a:xfrm xmlns:a="http://schemas.openxmlformats.org/drawingml/2006/main">
            <a:off x="731520" y="29626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Renewal + free-look / grievance</a:t>
            </a:r>
            <a:endParaRPr sz="1050"/>
          </a:p>
        </p:txBody>
      </p:sp>
      <p:sp>
        <p:nvSpPr>
          <p:cNvPr id="33" name="Text 31">
            <a:extLst xmlns:a="http://schemas.openxmlformats.org/drawingml/2006/main">
              <a:ext uri="{FF2B5EF4-FFF2-40B4-BE49-F238E27FC236}">
                <a16:creationId xmlns:a16="http://schemas.microsoft.com/office/drawing/2014/main" id="{114FAC2B-5B89-44A8-8008-12E9C31D80BC}"/>
              </a:ext>
            </a:extLst>
          </p:cNvPr>
          <p:cNvSpPr>
            <a:spLocks xmlns:a="http://schemas.openxmlformats.org/drawingml/2006/main" noGrp="1"/>
          </p:cNvSpPr>
          <p:nvPr/>
        </p:nvSpPr>
        <p:spPr>
          <a:xfrm xmlns:a="http://schemas.openxmlformats.org/drawingml/2006/main">
            <a:off x="4114800" y="29626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Lead model extends to renewals; disposition, bulk upload, suppression</a:t>
            </a:r>
            <a:endParaRPr sz="1000"/>
          </a:p>
        </p:txBody>
      </p:sp>
      <p:sp>
        <p:nvSpPr>
          <p:cNvPr id="34" name="Shape 32">
            <a:extLst xmlns:a="http://schemas.openxmlformats.org/drawingml/2006/main">
              <a:ext uri="{FF2B5EF4-FFF2-40B4-BE49-F238E27FC236}">
                <a16:creationId xmlns:a16="http://schemas.microsoft.com/office/drawing/2014/main" id="{B39101A2-5AA5-411B-82B7-7DB86B8F54B6}"/>
              </a:ext>
            </a:extLst>
          </p:cNvPr>
          <p:cNvSpPr>
            <a:spLocks xmlns:a="http://schemas.openxmlformats.org/drawingml/2006/main" noGrp="1"/>
          </p:cNvSpPr>
          <p:nvPr/>
        </p:nvSpPr>
        <p:spPr>
          <a:xfrm xmlns:a="http://schemas.openxmlformats.org/drawingml/2006/main">
            <a:off x="10161727" y="3054096"/>
            <a:ext cx="1371600" cy="274320"/>
          </a:xfrm>
          <a:prstGeom xmlns:a="http://schemas.openxmlformats.org/drawingml/2006/main" prst="roundRect">
            <a:avLst>
              <a:gd name="adj" fmla="val 50000"/>
            </a:avLst>
          </a:prstGeom>
          <a:solidFill xmlns:a="http://schemas.openxmlformats.org/drawingml/2006/main">
            <a:srgbClr val="0969FF"/>
          </a:solidFill>
        </p:spPr>
      </p:sp>
      <p:sp>
        <p:nvSpPr>
          <p:cNvPr id="35" name="Text 33">
            <a:extLst xmlns:a="http://schemas.openxmlformats.org/drawingml/2006/main">
              <a:ext uri="{FF2B5EF4-FFF2-40B4-BE49-F238E27FC236}">
                <a16:creationId xmlns:a16="http://schemas.microsoft.com/office/drawing/2014/main" id="{5CDB7E3B-E76A-4505-8AE0-98952752E075}"/>
              </a:ext>
            </a:extLst>
          </p:cNvPr>
          <p:cNvSpPr>
            <a:spLocks xmlns:a="http://schemas.openxmlformats.org/drawingml/2006/main" noGrp="1"/>
          </p:cNvSpPr>
          <p:nvPr/>
        </p:nvSpPr>
        <p:spPr>
          <a:xfrm xmlns:a="http://schemas.openxmlformats.org/drawingml/2006/main">
            <a:off x="10161727" y="30540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Configurable</a:t>
            </a:r>
            <a:endParaRPr sz="900"/>
          </a:p>
        </p:txBody>
      </p:sp>
      <p:sp>
        <p:nvSpPr>
          <p:cNvPr id="36" name="Shape 34">
            <a:extLst xmlns:a="http://schemas.openxmlformats.org/drawingml/2006/main">
              <a:ext uri="{FF2B5EF4-FFF2-40B4-BE49-F238E27FC236}">
                <a16:creationId xmlns:a16="http://schemas.microsoft.com/office/drawing/2014/main" id="{6DCEE22D-3598-4364-863C-38269685971F}"/>
              </a:ext>
            </a:extLst>
          </p:cNvPr>
          <p:cNvSpPr>
            <a:spLocks xmlns:a="http://schemas.openxmlformats.org/drawingml/2006/main" noGrp="1"/>
          </p:cNvSpPr>
          <p:nvPr/>
        </p:nvSpPr>
        <p:spPr>
          <a:xfrm xmlns:a="http://schemas.openxmlformats.org/drawingml/2006/main">
            <a:off x="548640" y="34198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37" name="Text 35">
            <a:extLst xmlns:a="http://schemas.openxmlformats.org/drawingml/2006/main">
              <a:ext uri="{FF2B5EF4-FFF2-40B4-BE49-F238E27FC236}">
                <a16:creationId xmlns:a16="http://schemas.microsoft.com/office/drawing/2014/main" id="{5E6D091D-3798-4F31-813E-D044B70E0D10}"/>
              </a:ext>
            </a:extLst>
          </p:cNvPr>
          <p:cNvSpPr>
            <a:spLocks xmlns:a="http://schemas.openxmlformats.org/drawingml/2006/main" noGrp="1"/>
          </p:cNvSpPr>
          <p:nvPr/>
        </p:nvSpPr>
        <p:spPr>
          <a:xfrm xmlns:a="http://schemas.openxmlformats.org/drawingml/2006/main">
            <a:off x="731520" y="34198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Integrations (SSO, CRM, data lake)</a:t>
            </a:r>
            <a:endParaRPr sz="1050"/>
          </a:p>
        </p:txBody>
      </p:sp>
      <p:sp>
        <p:nvSpPr>
          <p:cNvPr id="38" name="Text 36">
            <a:extLst xmlns:a="http://schemas.openxmlformats.org/drawingml/2006/main">
              <a:ext uri="{FF2B5EF4-FFF2-40B4-BE49-F238E27FC236}">
                <a16:creationId xmlns:a16="http://schemas.microsoft.com/office/drawing/2014/main" id="{E729A050-4F80-4747-B475-B9D9B6F6AEC7}"/>
              </a:ext>
            </a:extLst>
          </p:cNvPr>
          <p:cNvSpPr>
            <a:spLocks xmlns:a="http://schemas.openxmlformats.org/drawingml/2006/main" noGrp="1"/>
          </p:cNvSpPr>
          <p:nvPr/>
        </p:nvSpPr>
        <p:spPr>
          <a:xfrm xmlns:a="http://schemas.openxmlformats.org/drawingml/2006/main">
            <a:off x="4114800" y="34198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API-first connectors; REST/GraphQL, gateway, queues to mSpace assets</a:t>
            </a:r>
            <a:endParaRPr sz="1000"/>
          </a:p>
        </p:txBody>
      </p:sp>
      <p:sp>
        <p:nvSpPr>
          <p:cNvPr id="39" name="Shape 37">
            <a:extLst xmlns:a="http://schemas.openxmlformats.org/drawingml/2006/main">
              <a:ext uri="{FF2B5EF4-FFF2-40B4-BE49-F238E27FC236}">
                <a16:creationId xmlns:a16="http://schemas.microsoft.com/office/drawing/2014/main" id="{DA68B09D-4D6C-4A94-BA9F-08648455E18B}"/>
              </a:ext>
            </a:extLst>
          </p:cNvPr>
          <p:cNvSpPr>
            <a:spLocks xmlns:a="http://schemas.openxmlformats.org/drawingml/2006/main" noGrp="1"/>
          </p:cNvSpPr>
          <p:nvPr/>
        </p:nvSpPr>
        <p:spPr>
          <a:xfrm xmlns:a="http://schemas.openxmlformats.org/drawingml/2006/main">
            <a:off x="10161727" y="3511296"/>
            <a:ext cx="1371600" cy="274320"/>
          </a:xfrm>
          <a:prstGeom xmlns:a="http://schemas.openxmlformats.org/drawingml/2006/main" prst="roundRect">
            <a:avLst>
              <a:gd name="adj" fmla="val 50000"/>
            </a:avLst>
          </a:prstGeom>
          <a:solidFill xmlns:a="http://schemas.openxmlformats.org/drawingml/2006/main">
            <a:srgbClr val="0969FF"/>
          </a:solidFill>
        </p:spPr>
      </p:sp>
      <p:sp>
        <p:nvSpPr>
          <p:cNvPr id="40" name="Text 38">
            <a:extLst xmlns:a="http://schemas.openxmlformats.org/drawingml/2006/main">
              <a:ext uri="{FF2B5EF4-FFF2-40B4-BE49-F238E27FC236}">
                <a16:creationId xmlns:a16="http://schemas.microsoft.com/office/drawing/2014/main" id="{15263406-E7B6-4251-8C1C-4FC05F8E6F4B}"/>
              </a:ext>
            </a:extLst>
          </p:cNvPr>
          <p:cNvSpPr>
            <a:spLocks xmlns:a="http://schemas.openxmlformats.org/drawingml/2006/main" noGrp="1"/>
          </p:cNvSpPr>
          <p:nvPr/>
        </p:nvSpPr>
        <p:spPr>
          <a:xfrm xmlns:a="http://schemas.openxmlformats.org/drawingml/2006/main">
            <a:off x="10161727" y="35112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Configurable</a:t>
            </a:r>
            <a:endParaRPr sz="900"/>
          </a:p>
        </p:txBody>
      </p:sp>
      <p:sp>
        <p:nvSpPr>
          <p:cNvPr id="41" name="Shape 39">
            <a:extLst xmlns:a="http://schemas.openxmlformats.org/drawingml/2006/main">
              <a:ext uri="{FF2B5EF4-FFF2-40B4-BE49-F238E27FC236}">
                <a16:creationId xmlns:a16="http://schemas.microsoft.com/office/drawing/2014/main" id="{84853F83-4AB5-406F-8226-2E975864ED52}"/>
              </a:ext>
            </a:extLst>
          </p:cNvPr>
          <p:cNvSpPr>
            <a:spLocks xmlns:a="http://schemas.openxmlformats.org/drawingml/2006/main" noGrp="1"/>
          </p:cNvSpPr>
          <p:nvPr/>
        </p:nvSpPr>
        <p:spPr>
          <a:xfrm xmlns:a="http://schemas.openxmlformats.org/drawingml/2006/main">
            <a:off x="548640" y="38770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42" name="Text 40">
            <a:extLst xmlns:a="http://schemas.openxmlformats.org/drawingml/2006/main">
              <a:ext uri="{FF2B5EF4-FFF2-40B4-BE49-F238E27FC236}">
                <a16:creationId xmlns:a16="http://schemas.microsoft.com/office/drawing/2014/main" id="{B0777EE4-44C0-41DA-AA6B-65A4B2E3F982}"/>
              </a:ext>
            </a:extLst>
          </p:cNvPr>
          <p:cNvSpPr>
            <a:spLocks xmlns:a="http://schemas.openxmlformats.org/drawingml/2006/main" noGrp="1"/>
          </p:cNvSpPr>
          <p:nvPr/>
        </p:nvSpPr>
        <p:spPr>
          <a:xfrm xmlns:a="http://schemas.openxmlformats.org/drawingml/2006/main">
            <a:off x="731520" y="38770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Reporting &amp; role dashboards</a:t>
            </a:r>
            <a:endParaRPr sz="1050"/>
          </a:p>
        </p:txBody>
      </p:sp>
      <p:sp>
        <p:nvSpPr>
          <p:cNvPr id="43" name="Text 41">
            <a:extLst xmlns:a="http://schemas.openxmlformats.org/drawingml/2006/main">
              <a:ext uri="{FF2B5EF4-FFF2-40B4-BE49-F238E27FC236}">
                <a16:creationId xmlns:a16="http://schemas.microsoft.com/office/drawing/2014/main" id="{788F0879-F6EC-407C-B30B-8AFA504F1FF4}"/>
              </a:ext>
            </a:extLst>
          </p:cNvPr>
          <p:cNvSpPr>
            <a:spLocks xmlns:a="http://schemas.openxmlformats.org/drawingml/2006/main" noGrp="1"/>
          </p:cNvSpPr>
          <p:nvPr/>
        </p:nvSpPr>
        <p:spPr>
          <a:xfrm xmlns:a="http://schemas.openxmlformats.org/drawingml/2006/main">
            <a:off x="4114800" y="38770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Report templates, exports, role KPIs; data-lake / SFTP feeds</a:t>
            </a:r>
            <a:endParaRPr sz="1000"/>
          </a:p>
        </p:txBody>
      </p:sp>
      <p:sp>
        <p:nvSpPr>
          <p:cNvPr id="44" name="Shape 42">
            <a:extLst xmlns:a="http://schemas.openxmlformats.org/drawingml/2006/main">
              <a:ext uri="{FF2B5EF4-FFF2-40B4-BE49-F238E27FC236}">
                <a16:creationId xmlns:a16="http://schemas.microsoft.com/office/drawing/2014/main" id="{3B4FD025-F7C2-4EBA-B0C3-8DFD8BBC9704}"/>
              </a:ext>
            </a:extLst>
          </p:cNvPr>
          <p:cNvSpPr>
            <a:spLocks xmlns:a="http://schemas.openxmlformats.org/drawingml/2006/main" noGrp="1"/>
          </p:cNvSpPr>
          <p:nvPr/>
        </p:nvSpPr>
        <p:spPr>
          <a:xfrm xmlns:a="http://schemas.openxmlformats.org/drawingml/2006/main">
            <a:off x="10161727" y="3968496"/>
            <a:ext cx="1371600" cy="274320"/>
          </a:xfrm>
          <a:prstGeom xmlns:a="http://schemas.openxmlformats.org/drawingml/2006/main" prst="roundRect">
            <a:avLst>
              <a:gd name="adj" fmla="val 50000"/>
            </a:avLst>
          </a:prstGeom>
          <a:solidFill xmlns:a="http://schemas.openxmlformats.org/drawingml/2006/main">
            <a:srgbClr val="0969FF"/>
          </a:solidFill>
        </p:spPr>
      </p:sp>
      <p:sp>
        <p:nvSpPr>
          <p:cNvPr id="45" name="Text 43">
            <a:extLst xmlns:a="http://schemas.openxmlformats.org/drawingml/2006/main">
              <a:ext uri="{FF2B5EF4-FFF2-40B4-BE49-F238E27FC236}">
                <a16:creationId xmlns:a16="http://schemas.microsoft.com/office/drawing/2014/main" id="{30A731EF-546D-465A-95B1-EBA0BDA83665}"/>
              </a:ext>
            </a:extLst>
          </p:cNvPr>
          <p:cNvSpPr>
            <a:spLocks xmlns:a="http://schemas.openxmlformats.org/drawingml/2006/main" noGrp="1"/>
          </p:cNvSpPr>
          <p:nvPr/>
        </p:nvSpPr>
        <p:spPr>
          <a:xfrm xmlns:a="http://schemas.openxmlformats.org/drawingml/2006/main">
            <a:off x="10161727" y="39684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Configurable</a:t>
            </a:r>
            <a:endParaRPr sz="900"/>
          </a:p>
        </p:txBody>
      </p:sp>
      <p:sp>
        <p:nvSpPr>
          <p:cNvPr id="46" name="Shape 44">
            <a:extLst xmlns:a="http://schemas.openxmlformats.org/drawingml/2006/main">
              <a:ext uri="{FF2B5EF4-FFF2-40B4-BE49-F238E27FC236}">
                <a16:creationId xmlns:a16="http://schemas.microsoft.com/office/drawing/2014/main" id="{2C5202F4-2DFE-46EC-9E9F-E3DCCBB9CA10}"/>
              </a:ext>
            </a:extLst>
          </p:cNvPr>
          <p:cNvSpPr>
            <a:spLocks xmlns:a="http://schemas.openxmlformats.org/drawingml/2006/main" noGrp="1"/>
          </p:cNvSpPr>
          <p:nvPr/>
        </p:nvSpPr>
        <p:spPr>
          <a:xfrm xmlns:a="http://schemas.openxmlformats.org/drawingml/2006/main">
            <a:off x="548640" y="43342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47" name="Text 45">
            <a:extLst xmlns:a="http://schemas.openxmlformats.org/drawingml/2006/main">
              <a:ext uri="{FF2B5EF4-FFF2-40B4-BE49-F238E27FC236}">
                <a16:creationId xmlns:a16="http://schemas.microsoft.com/office/drawing/2014/main" id="{A0673938-D3E6-4D82-AF17-3FA72F8FE3B3}"/>
              </a:ext>
            </a:extLst>
          </p:cNvPr>
          <p:cNvSpPr>
            <a:spLocks xmlns:a="http://schemas.openxmlformats.org/drawingml/2006/main" noGrp="1"/>
          </p:cNvSpPr>
          <p:nvPr/>
        </p:nvSpPr>
        <p:spPr>
          <a:xfrm xmlns:a="http://schemas.openxmlformats.org/drawingml/2006/main">
            <a:off x="731520" y="43342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Embed inside mSpace Super App</a:t>
            </a:r>
            <a:endParaRPr sz="1050"/>
          </a:p>
        </p:txBody>
      </p:sp>
      <p:sp>
        <p:nvSpPr>
          <p:cNvPr id="48" name="Text 46">
            <a:extLst xmlns:a="http://schemas.openxmlformats.org/drawingml/2006/main">
              <a:ext uri="{FF2B5EF4-FFF2-40B4-BE49-F238E27FC236}">
                <a16:creationId xmlns:a16="http://schemas.microsoft.com/office/drawing/2014/main" id="{11A2361C-123F-4615-889C-443CEE2A4F8C}"/>
              </a:ext>
            </a:extLst>
          </p:cNvPr>
          <p:cNvSpPr>
            <a:spLocks xmlns:a="http://schemas.openxmlformats.org/drawingml/2006/main" noGrp="1"/>
          </p:cNvSpPr>
          <p:nvPr/>
        </p:nvSpPr>
        <p:spPr>
          <a:xfrm xmlns:a="http://schemas.openxmlformats.org/drawingml/2006/main">
            <a:off x="4114800" y="43342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Runs within MLI wrapper — needs mSpace SDK/container integration build</a:t>
            </a:r>
            <a:endParaRPr sz="1000"/>
          </a:p>
        </p:txBody>
      </p:sp>
      <p:sp>
        <p:nvSpPr>
          <p:cNvPr id="49" name="Shape 47">
            <a:extLst xmlns:a="http://schemas.openxmlformats.org/drawingml/2006/main">
              <a:ext uri="{FF2B5EF4-FFF2-40B4-BE49-F238E27FC236}">
                <a16:creationId xmlns:a16="http://schemas.microsoft.com/office/drawing/2014/main" id="{58835F79-7067-4C77-AADB-C40472BAF6B6}"/>
              </a:ext>
            </a:extLst>
          </p:cNvPr>
          <p:cNvSpPr>
            <a:spLocks xmlns:a="http://schemas.openxmlformats.org/drawingml/2006/main" noGrp="1"/>
          </p:cNvSpPr>
          <p:nvPr/>
        </p:nvSpPr>
        <p:spPr>
          <a:xfrm xmlns:a="http://schemas.openxmlformats.org/drawingml/2006/main">
            <a:off x="10161727" y="4425696"/>
            <a:ext cx="1371600" cy="274320"/>
          </a:xfrm>
          <a:prstGeom xmlns:a="http://schemas.openxmlformats.org/drawingml/2006/main" prst="roundRect">
            <a:avLst>
              <a:gd name="adj" fmla="val 50000"/>
            </a:avLst>
          </a:prstGeom>
          <a:solidFill xmlns:a="http://schemas.openxmlformats.org/drawingml/2006/main">
            <a:srgbClr val="FFA700"/>
          </a:solidFill>
        </p:spPr>
      </p:sp>
      <p:sp>
        <p:nvSpPr>
          <p:cNvPr id="50" name="Text 48">
            <a:extLst xmlns:a="http://schemas.openxmlformats.org/drawingml/2006/main">
              <a:ext uri="{FF2B5EF4-FFF2-40B4-BE49-F238E27FC236}">
                <a16:creationId xmlns:a16="http://schemas.microsoft.com/office/drawing/2014/main" id="{7ED0D72F-3CA4-46CE-A1D3-7380602767D5}"/>
              </a:ext>
            </a:extLst>
          </p:cNvPr>
          <p:cNvSpPr>
            <a:spLocks xmlns:a="http://schemas.openxmlformats.org/drawingml/2006/main" noGrp="1"/>
          </p:cNvSpPr>
          <p:nvPr/>
        </p:nvSpPr>
        <p:spPr>
          <a:xfrm xmlns:a="http://schemas.openxmlformats.org/drawingml/2006/main">
            <a:off x="10161727" y="44256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Build-up</a:t>
            </a:r>
            <a:endParaRPr sz="900"/>
          </a:p>
        </p:txBody>
      </p:sp>
      <p:sp>
        <p:nvSpPr>
          <p:cNvPr id="51" name="Shape 49">
            <a:extLst xmlns:a="http://schemas.openxmlformats.org/drawingml/2006/main">
              <a:ext uri="{FF2B5EF4-FFF2-40B4-BE49-F238E27FC236}">
                <a16:creationId xmlns:a16="http://schemas.microsoft.com/office/drawing/2014/main" id="{70FA4BDD-2C05-462D-92DA-877407D31C59}"/>
              </a:ext>
            </a:extLst>
          </p:cNvPr>
          <p:cNvSpPr>
            <a:spLocks xmlns:a="http://schemas.openxmlformats.org/drawingml/2006/main" noGrp="1"/>
          </p:cNvSpPr>
          <p:nvPr/>
        </p:nvSpPr>
        <p:spPr>
          <a:xfrm xmlns:a="http://schemas.openxmlformats.org/drawingml/2006/main">
            <a:off x="548640" y="47914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52" name="Text 50">
            <a:extLst xmlns:a="http://schemas.openxmlformats.org/drawingml/2006/main">
              <a:ext uri="{FF2B5EF4-FFF2-40B4-BE49-F238E27FC236}">
                <a16:creationId xmlns:a16="http://schemas.microsoft.com/office/drawing/2014/main" id="{78D6794D-D896-4C9F-94BE-207753F5B6C8}"/>
              </a:ext>
            </a:extLst>
          </p:cNvPr>
          <p:cNvSpPr>
            <a:spLocks xmlns:a="http://schemas.openxmlformats.org/drawingml/2006/main" noGrp="1"/>
          </p:cNvSpPr>
          <p:nvPr/>
        </p:nvSpPr>
        <p:spPr>
          <a:xfrm xmlns:a="http://schemas.openxmlformats.org/drawingml/2006/main">
            <a:off x="731520" y="47914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Offline-first mobile capture</a:t>
            </a:r>
            <a:endParaRPr sz="1050"/>
          </a:p>
        </p:txBody>
      </p:sp>
      <p:sp>
        <p:nvSpPr>
          <p:cNvPr id="53" name="Text 51">
            <a:extLst xmlns:a="http://schemas.openxmlformats.org/drawingml/2006/main">
              <a:ext uri="{FF2B5EF4-FFF2-40B4-BE49-F238E27FC236}">
                <a16:creationId xmlns:a16="http://schemas.microsoft.com/office/drawing/2014/main" id="{4BD22843-A807-49D2-95A0-905CAA9FA84B}"/>
              </a:ext>
            </a:extLst>
          </p:cNvPr>
          <p:cNvSpPr>
            <a:spLocks xmlns:a="http://schemas.openxmlformats.org/drawingml/2006/main" noGrp="1"/>
          </p:cNvSpPr>
          <p:nvPr/>
        </p:nvSpPr>
        <p:spPr>
          <a:xfrm xmlns:a="http://schemas.openxmlformats.org/drawingml/2006/main">
            <a:off x="4114800" y="47914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Offline sync for low-network field flows — engineering effort per channel</a:t>
            </a:r>
            <a:endParaRPr sz="1000"/>
          </a:p>
        </p:txBody>
      </p:sp>
      <p:sp>
        <p:nvSpPr>
          <p:cNvPr id="54" name="Shape 52">
            <a:extLst xmlns:a="http://schemas.openxmlformats.org/drawingml/2006/main">
              <a:ext uri="{FF2B5EF4-FFF2-40B4-BE49-F238E27FC236}">
                <a16:creationId xmlns:a16="http://schemas.microsoft.com/office/drawing/2014/main" id="{46FD6A05-7897-4C1F-8873-E2DB7B5C5A83}"/>
              </a:ext>
            </a:extLst>
          </p:cNvPr>
          <p:cNvSpPr>
            <a:spLocks xmlns:a="http://schemas.openxmlformats.org/drawingml/2006/main" noGrp="1"/>
          </p:cNvSpPr>
          <p:nvPr/>
        </p:nvSpPr>
        <p:spPr>
          <a:xfrm xmlns:a="http://schemas.openxmlformats.org/drawingml/2006/main">
            <a:off x="10161727" y="4882896"/>
            <a:ext cx="1371600" cy="274320"/>
          </a:xfrm>
          <a:prstGeom xmlns:a="http://schemas.openxmlformats.org/drawingml/2006/main" prst="roundRect">
            <a:avLst>
              <a:gd name="adj" fmla="val 50000"/>
            </a:avLst>
          </a:prstGeom>
          <a:solidFill xmlns:a="http://schemas.openxmlformats.org/drawingml/2006/main">
            <a:srgbClr val="FFA700"/>
          </a:solidFill>
        </p:spPr>
      </p:sp>
      <p:sp>
        <p:nvSpPr>
          <p:cNvPr id="55" name="Text 53">
            <a:extLst xmlns:a="http://schemas.openxmlformats.org/drawingml/2006/main">
              <a:ext uri="{FF2B5EF4-FFF2-40B4-BE49-F238E27FC236}">
                <a16:creationId xmlns:a16="http://schemas.microsoft.com/office/drawing/2014/main" id="{47D33974-8AA4-4634-BF73-68999A728E36}"/>
              </a:ext>
            </a:extLst>
          </p:cNvPr>
          <p:cNvSpPr>
            <a:spLocks xmlns:a="http://schemas.openxmlformats.org/drawingml/2006/main" noGrp="1"/>
          </p:cNvSpPr>
          <p:nvPr/>
        </p:nvSpPr>
        <p:spPr>
          <a:xfrm xmlns:a="http://schemas.openxmlformats.org/drawingml/2006/main">
            <a:off x="10161727" y="48828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Build-up</a:t>
            </a:r>
            <a:endParaRPr sz="900"/>
          </a:p>
        </p:txBody>
      </p:sp>
      <p:sp>
        <p:nvSpPr>
          <p:cNvPr id="56" name="Shape 54">
            <a:extLst xmlns:a="http://schemas.openxmlformats.org/drawingml/2006/main">
              <a:ext uri="{FF2B5EF4-FFF2-40B4-BE49-F238E27FC236}">
                <a16:creationId xmlns:a16="http://schemas.microsoft.com/office/drawing/2014/main" id="{6AE0F9E5-B6B8-43A8-B082-3FBD857D7E14}"/>
              </a:ext>
            </a:extLst>
          </p:cNvPr>
          <p:cNvSpPr>
            <a:spLocks xmlns:a="http://schemas.openxmlformats.org/drawingml/2006/main" noGrp="1"/>
          </p:cNvSpPr>
          <p:nvPr/>
        </p:nvSpPr>
        <p:spPr>
          <a:xfrm xmlns:a="http://schemas.openxmlformats.org/drawingml/2006/main">
            <a:off x="548640" y="5248656"/>
            <a:ext cx="11094415" cy="457200"/>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57" name="Text 55">
            <a:extLst xmlns:a="http://schemas.openxmlformats.org/drawingml/2006/main">
              <a:ext uri="{FF2B5EF4-FFF2-40B4-BE49-F238E27FC236}">
                <a16:creationId xmlns:a16="http://schemas.microsoft.com/office/drawing/2014/main" id="{B881E732-5E81-4693-B4E2-6386500842D4}"/>
              </a:ext>
            </a:extLst>
          </p:cNvPr>
          <p:cNvSpPr>
            <a:spLocks xmlns:a="http://schemas.openxmlformats.org/drawingml/2006/main" noGrp="1"/>
          </p:cNvSpPr>
          <p:nvPr/>
        </p:nvSpPr>
        <p:spPr>
          <a:xfrm xmlns:a="http://schemas.openxmlformats.org/drawingml/2006/main">
            <a:off x="731520" y="52486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AI / GenAI / Agentic orchestration</a:t>
            </a:r>
            <a:endParaRPr sz="1050"/>
          </a:p>
        </p:txBody>
      </p:sp>
      <p:sp>
        <p:nvSpPr>
          <p:cNvPr id="58" name="Text 56">
            <a:extLst xmlns:a="http://schemas.openxmlformats.org/drawingml/2006/main">
              <a:ext uri="{FF2B5EF4-FFF2-40B4-BE49-F238E27FC236}">
                <a16:creationId xmlns:a16="http://schemas.microsoft.com/office/drawing/2014/main" id="{4F3E3C6E-4093-40A0-BFB9-03FE9EDF500F}"/>
              </a:ext>
            </a:extLst>
          </p:cNvPr>
          <p:cNvSpPr>
            <a:spLocks xmlns:a="http://schemas.openxmlformats.org/drawingml/2006/main" noGrp="1"/>
          </p:cNvSpPr>
          <p:nvPr/>
        </p:nvSpPr>
        <p:spPr>
          <a:xfrm xmlns:a="http://schemas.openxmlformats.org/drawingml/2006/main">
            <a:off x="4114800" y="52486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Predictive scoring, NBA, GenAI coaching, agentic workflows — build &amp; MLOps</a:t>
            </a:r>
            <a:endParaRPr sz="1000"/>
          </a:p>
        </p:txBody>
      </p:sp>
      <p:sp>
        <p:nvSpPr>
          <p:cNvPr id="59" name="Shape 57">
            <a:extLst xmlns:a="http://schemas.openxmlformats.org/drawingml/2006/main">
              <a:ext uri="{FF2B5EF4-FFF2-40B4-BE49-F238E27FC236}">
                <a16:creationId xmlns:a16="http://schemas.microsoft.com/office/drawing/2014/main" id="{B126E68D-CCEB-47F4-A2FD-217DD41985A9}"/>
              </a:ext>
            </a:extLst>
          </p:cNvPr>
          <p:cNvSpPr>
            <a:spLocks xmlns:a="http://schemas.openxmlformats.org/drawingml/2006/main" noGrp="1"/>
          </p:cNvSpPr>
          <p:nvPr/>
        </p:nvSpPr>
        <p:spPr>
          <a:xfrm xmlns:a="http://schemas.openxmlformats.org/drawingml/2006/main">
            <a:off x="10161727" y="5340096"/>
            <a:ext cx="1371600" cy="274320"/>
          </a:xfrm>
          <a:prstGeom xmlns:a="http://schemas.openxmlformats.org/drawingml/2006/main" prst="roundRect">
            <a:avLst>
              <a:gd name="adj" fmla="val 50000"/>
            </a:avLst>
          </a:prstGeom>
          <a:solidFill xmlns:a="http://schemas.openxmlformats.org/drawingml/2006/main">
            <a:srgbClr val="FFA700"/>
          </a:solidFill>
        </p:spPr>
      </p:sp>
      <p:sp>
        <p:nvSpPr>
          <p:cNvPr id="60" name="Text 58">
            <a:extLst xmlns:a="http://schemas.openxmlformats.org/drawingml/2006/main">
              <a:ext uri="{FF2B5EF4-FFF2-40B4-BE49-F238E27FC236}">
                <a16:creationId xmlns:a16="http://schemas.microsoft.com/office/drawing/2014/main" id="{CBA844E5-5D7A-48C5-A0D6-F50CA6C2123E}"/>
              </a:ext>
            </a:extLst>
          </p:cNvPr>
          <p:cNvSpPr>
            <a:spLocks xmlns:a="http://schemas.openxmlformats.org/drawingml/2006/main" noGrp="1"/>
          </p:cNvSpPr>
          <p:nvPr/>
        </p:nvSpPr>
        <p:spPr>
          <a:xfrm xmlns:a="http://schemas.openxmlformats.org/drawingml/2006/main">
            <a:off x="10161727" y="53400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Build-up</a:t>
            </a:r>
            <a:endParaRPr sz="900"/>
          </a:p>
        </p:txBody>
      </p:sp>
      <p:sp>
        <p:nvSpPr>
          <p:cNvPr id="61" name="Shape 59">
            <a:extLst xmlns:a="http://schemas.openxmlformats.org/drawingml/2006/main">
              <a:ext uri="{FF2B5EF4-FFF2-40B4-BE49-F238E27FC236}">
                <a16:creationId xmlns:a16="http://schemas.microsoft.com/office/drawing/2014/main" id="{480E7525-4DBE-4D8D-85D5-9BA7A2595E6E}"/>
              </a:ext>
            </a:extLst>
          </p:cNvPr>
          <p:cNvSpPr>
            <a:spLocks xmlns:a="http://schemas.openxmlformats.org/drawingml/2006/main" noGrp="1"/>
          </p:cNvSpPr>
          <p:nvPr/>
        </p:nvSpPr>
        <p:spPr>
          <a:xfrm xmlns:a="http://schemas.openxmlformats.org/drawingml/2006/main">
            <a:off x="548640" y="5705856"/>
            <a:ext cx="11094415" cy="457200"/>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62" name="Text 60">
            <a:extLst xmlns:a="http://schemas.openxmlformats.org/drawingml/2006/main">
              <a:ext uri="{FF2B5EF4-FFF2-40B4-BE49-F238E27FC236}">
                <a16:creationId xmlns:a16="http://schemas.microsoft.com/office/drawing/2014/main" id="{DE81F146-EB99-4958-B0C5-3312294719A7}"/>
              </a:ext>
            </a:extLst>
          </p:cNvPr>
          <p:cNvSpPr>
            <a:spLocks xmlns:a="http://schemas.openxmlformats.org/drawingml/2006/main" noGrp="1"/>
          </p:cNvSpPr>
          <p:nvPr/>
        </p:nvSpPr>
        <p:spPr>
          <a:xfrm xmlns:a="http://schemas.openxmlformats.org/drawingml/2006/main">
            <a:off x="731520" y="5705856"/>
            <a:ext cx="3291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Full IP + source-code handover</a:t>
            </a:r>
            <a:endParaRPr sz="1050"/>
          </a:p>
        </p:txBody>
      </p:sp>
      <p:sp>
        <p:nvSpPr>
          <p:cNvPr id="63" name="Text 61">
            <a:extLst xmlns:a="http://schemas.openxmlformats.org/drawingml/2006/main">
              <a:ext uri="{FF2B5EF4-FFF2-40B4-BE49-F238E27FC236}">
                <a16:creationId xmlns:a16="http://schemas.microsoft.com/office/drawing/2014/main" id="{345AEF07-7D8E-44B4-9AB0-AAF507ACC28D}"/>
              </a:ext>
            </a:extLst>
          </p:cNvPr>
          <p:cNvSpPr>
            <a:spLocks xmlns:a="http://schemas.openxmlformats.org/drawingml/2006/main" noGrp="1"/>
          </p:cNvSpPr>
          <p:nvPr/>
        </p:nvSpPr>
        <p:spPr>
          <a:xfrm xmlns:a="http://schemas.openxmlformats.org/drawingml/2006/main">
            <a:off x="4114800" y="5705856"/>
            <a:ext cx="63093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AMLI demands ownership; our standing position retains IP with ASPL</a:t>
            </a:r>
            <a:endParaRPr sz="1000"/>
          </a:p>
        </p:txBody>
      </p:sp>
      <p:sp>
        <p:nvSpPr>
          <p:cNvPr id="64" name="Shape 62">
            <a:extLst xmlns:a="http://schemas.openxmlformats.org/drawingml/2006/main">
              <a:ext uri="{FF2B5EF4-FFF2-40B4-BE49-F238E27FC236}">
                <a16:creationId xmlns:a16="http://schemas.microsoft.com/office/drawing/2014/main" id="{E6E9109C-4A39-4030-9243-3CB05A9C0056}"/>
              </a:ext>
            </a:extLst>
          </p:cNvPr>
          <p:cNvSpPr>
            <a:spLocks xmlns:a="http://schemas.openxmlformats.org/drawingml/2006/main" noGrp="1"/>
          </p:cNvSpPr>
          <p:nvPr/>
        </p:nvSpPr>
        <p:spPr>
          <a:xfrm xmlns:a="http://schemas.openxmlformats.org/drawingml/2006/main">
            <a:off x="10161727" y="5797296"/>
            <a:ext cx="1371600" cy="274320"/>
          </a:xfrm>
          <a:prstGeom xmlns:a="http://schemas.openxmlformats.org/drawingml/2006/main" prst="roundRect">
            <a:avLst>
              <a:gd name="adj" fmla="val 50000"/>
            </a:avLst>
          </a:prstGeom>
          <a:solidFill xmlns:a="http://schemas.openxmlformats.org/drawingml/2006/main">
            <a:srgbClr val="C0392B"/>
          </a:solidFill>
        </p:spPr>
      </p:sp>
      <p:sp>
        <p:nvSpPr>
          <p:cNvPr id="65" name="Text 63">
            <a:extLst xmlns:a="http://schemas.openxmlformats.org/drawingml/2006/main">
              <a:ext uri="{FF2B5EF4-FFF2-40B4-BE49-F238E27FC236}">
                <a16:creationId xmlns:a16="http://schemas.microsoft.com/office/drawing/2014/main" id="{9E0A6354-239F-4FCE-96A7-31531B099796}"/>
              </a:ext>
            </a:extLst>
          </p:cNvPr>
          <p:cNvSpPr>
            <a:spLocks xmlns:a="http://schemas.openxmlformats.org/drawingml/2006/main" noGrp="1"/>
          </p:cNvSpPr>
          <p:nvPr/>
        </p:nvSpPr>
        <p:spPr>
          <a:xfrm xmlns:a="http://schemas.openxmlformats.org/drawingml/2006/main">
            <a:off x="10161727" y="5797296"/>
            <a:ext cx="1371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Poppins"/>
                <a:ea typeface="Poppins"/>
                <a:cs typeface="Poppins"/>
              </a:rPr>
              <a:t>Gap / decide</a:t>
            </a:r>
            <a:endParaRPr sz="900"/>
          </a:p>
        </p:txBody>
      </p:sp>
      <p:sp>
        <p:nvSpPr>
          <p:cNvPr id="66" name="Text 64">
            <a:extLst xmlns:a="http://schemas.openxmlformats.org/drawingml/2006/main">
              <a:ext uri="{FF2B5EF4-FFF2-40B4-BE49-F238E27FC236}">
                <a16:creationId xmlns:a16="http://schemas.microsoft.com/office/drawing/2014/main" id="{A78DCE8C-6A1D-4447-957B-422FF49E85C5}"/>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67" name="Text 65">
            <a:extLst xmlns:a="http://schemas.openxmlformats.org/drawingml/2006/main">
              <a:ext uri="{FF2B5EF4-FFF2-40B4-BE49-F238E27FC236}">
                <a16:creationId xmlns:a16="http://schemas.microsoft.com/office/drawing/2014/main" id="{0C8C062C-AAE1-4CE3-A98C-BE8116632D25}"/>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12</a:t>
            </a:r>
            <a:endParaRPr sz="900"/>
          </a:p>
        </p:txBody>
      </p:sp>
    </p:spTree>
    <p:extLst>
      <p:ext uri="{BB962C8B-B14F-4D97-AF65-F5344CB8AC3E}">
        <p14:creationId xmlns:p14="http://schemas.microsoft.com/office/powerpoint/2010/main" val="169845335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677B2B-00FE-4C52-8301-4DE2D6688B4E}"/>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STRATEGIC QUESTION</a:t>
            </a:r>
            <a:endParaRPr sz="1200"/>
          </a:p>
        </p:txBody>
      </p:sp>
      <p:sp>
        <p:nvSpPr>
          <p:cNvPr id="3" name="Text 1">
            <a:extLst xmlns:a="http://schemas.openxmlformats.org/drawingml/2006/main">
              <a:ext uri="{FF2B5EF4-FFF2-40B4-BE49-F238E27FC236}">
                <a16:creationId xmlns:a16="http://schemas.microsoft.com/office/drawing/2014/main" id="{EA4AFD8A-901B-47C8-936A-6CC6CEE9FE85}"/>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Build vs Buy — reconciling the two framings</a:t>
            </a:r>
            <a:endParaRPr sz="3000"/>
          </a:p>
        </p:txBody>
      </p:sp>
      <p:sp>
        <p:nvSpPr>
          <p:cNvPr id="4" name="Shape 2">
            <a:extLst xmlns:a="http://schemas.openxmlformats.org/drawingml/2006/main">
              <a:ext uri="{FF2B5EF4-FFF2-40B4-BE49-F238E27FC236}">
                <a16:creationId xmlns:a16="http://schemas.microsoft.com/office/drawing/2014/main" id="{C74C5C70-7093-4DB5-8DA4-D660D0E1287F}"/>
              </a:ext>
            </a:extLst>
          </p:cNvPr>
          <p:cNvSpPr>
            <a:spLocks xmlns:a="http://schemas.openxmlformats.org/drawingml/2006/main" noGrp="1"/>
          </p:cNvSpPr>
          <p:nvPr/>
        </p:nvSpPr>
        <p:spPr>
          <a:xfrm xmlns:a="http://schemas.openxmlformats.org/drawingml/2006/main">
            <a:off x="548640" y="1481328"/>
            <a:ext cx="4769968" cy="2880360"/>
          </a:xfrm>
          <a:prstGeom xmlns:a="http://schemas.openxmlformats.org/drawingml/2006/main" prst="roundRect">
            <a:avLst>
              <a:gd name="adj" fmla="val 3492"/>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5" name="Shape 3">
            <a:extLst xmlns:a="http://schemas.openxmlformats.org/drawingml/2006/main">
              <a:ext uri="{FF2B5EF4-FFF2-40B4-BE49-F238E27FC236}">
                <a16:creationId xmlns:a16="http://schemas.microsoft.com/office/drawing/2014/main" id="{5281FACF-75DA-4FAF-992A-582D6893AEFC}"/>
              </a:ext>
            </a:extLst>
          </p:cNvPr>
          <p:cNvSpPr>
            <a:spLocks xmlns:a="http://schemas.openxmlformats.org/drawingml/2006/main" noGrp="1"/>
          </p:cNvSpPr>
          <p:nvPr/>
        </p:nvSpPr>
        <p:spPr>
          <a:xfrm xmlns:a="http://schemas.openxmlformats.org/drawingml/2006/main">
            <a:off x="548640" y="1481328"/>
            <a:ext cx="4769968" cy="548640"/>
          </a:xfrm>
          <a:prstGeom xmlns:a="http://schemas.openxmlformats.org/drawingml/2006/main" prst="roundRect">
            <a:avLst>
              <a:gd name="adj" fmla="val 16667"/>
            </a:avLst>
          </a:prstGeom>
          <a:solidFill xmlns:a="http://schemas.openxmlformats.org/drawingml/2006/main">
            <a:srgbClr val="1F3A5F"/>
          </a:solidFill>
        </p:spPr>
      </p:sp>
      <p:sp>
        <p:nvSpPr>
          <p:cNvPr id="6" name="Shape 4">
            <a:extLst xmlns:a="http://schemas.openxmlformats.org/drawingml/2006/main">
              <a:ext uri="{FF2B5EF4-FFF2-40B4-BE49-F238E27FC236}">
                <a16:creationId xmlns:a16="http://schemas.microsoft.com/office/drawing/2014/main" id="{A6F14B84-E353-4D43-9B5C-AA5A176F806E}"/>
              </a:ext>
            </a:extLst>
          </p:cNvPr>
          <p:cNvSpPr>
            <a:spLocks xmlns:a="http://schemas.openxmlformats.org/drawingml/2006/main" noGrp="1"/>
          </p:cNvSpPr>
          <p:nvPr/>
        </p:nvSpPr>
        <p:spPr>
          <a:xfrm xmlns:a="http://schemas.openxmlformats.org/drawingml/2006/main">
            <a:off x="548640" y="1755648"/>
            <a:ext cx="4769968" cy="274320"/>
          </a:xfrm>
          <a:prstGeom xmlns:a="http://schemas.openxmlformats.org/drawingml/2006/main" prst="rect">
            <a:avLst/>
          </a:prstGeom>
          <a:solidFill xmlns:a="http://schemas.openxmlformats.org/drawingml/2006/main">
            <a:srgbClr val="1F3A5F"/>
          </a:solidFill>
        </p:spPr>
      </p:sp>
      <p:sp>
        <p:nvSpPr>
          <p:cNvPr id="7" name="Text 5">
            <a:extLst xmlns:a="http://schemas.openxmlformats.org/drawingml/2006/main">
              <a:ext uri="{FF2B5EF4-FFF2-40B4-BE49-F238E27FC236}">
                <a16:creationId xmlns:a16="http://schemas.microsoft.com/office/drawing/2014/main" id="{36413790-EBD3-46D7-A479-CFA7C661E0C0}"/>
              </a:ext>
            </a:extLst>
          </p:cNvPr>
          <p:cNvSpPr>
            <a:spLocks xmlns:a="http://schemas.openxmlformats.org/drawingml/2006/main" noGrp="1"/>
          </p:cNvSpPr>
          <p:nvPr/>
        </p:nvSpPr>
        <p:spPr>
          <a:xfrm xmlns:a="http://schemas.openxmlformats.org/drawingml/2006/main">
            <a:off x="768096" y="1481328"/>
            <a:ext cx="4404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Poppins"/>
                <a:ea typeface="Poppins"/>
                <a:cs typeface="Poppins"/>
              </a:rPr>
              <a:t>AMLI’s framing — "in-house build"</a:t>
            </a:r>
            <a:endParaRPr sz="1350"/>
          </a:p>
        </p:txBody>
      </p:sp>
      <p:sp>
        <p:nvSpPr>
          <p:cNvPr id="8" name="Text 6">
            <a:extLst xmlns:a="http://schemas.openxmlformats.org/drawingml/2006/main">
              <a:ext uri="{FF2B5EF4-FFF2-40B4-BE49-F238E27FC236}">
                <a16:creationId xmlns:a16="http://schemas.microsoft.com/office/drawing/2014/main" id="{A9051429-7923-4234-90ED-621C98A58756}"/>
              </a:ext>
            </a:extLst>
          </p:cNvPr>
          <p:cNvSpPr>
            <a:spLocks xmlns:a="http://schemas.openxmlformats.org/drawingml/2006/main" noGrp="1"/>
          </p:cNvSpPr>
          <p:nvPr/>
        </p:nvSpPr>
        <p:spPr>
          <a:xfrm xmlns:a="http://schemas.openxmlformats.org/drawingml/2006/main">
            <a:off x="804672" y="2194560"/>
            <a:ext cx="4276192" cy="2011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900"/>
              </a:spcAft>
              <a:buSzPct val="100000"/>
              <a:buChar char="•"/>
            </a:pPr>
            <a:r>
              <a:rPr sz="1150">
                <a:solidFill>
                  <a:srgbClr val="2A231F"/>
                </a:solidFill>
                <a:latin typeface="Calibri"/>
                <a:ea typeface="Calibri"/>
                <a:cs typeface="Calibri"/>
              </a:rPr>
              <a:t>Build an in-house AMS/LMS capability, replacing the SaaS incumbent</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Full IP &amp; source-code ownership vested in Axis Max Life</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Delivered in a POD-based AI-DLC pattern, requirements → release</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Fixed-bid scope; named resources; no CRs for additional fee</a:t>
            </a:r>
            <a:endParaRPr sz="1150"/>
          </a:p>
        </p:txBody>
      </p:sp>
      <p:sp>
        <p:nvSpPr>
          <p:cNvPr id="9" name="Shape 7">
            <a:extLst xmlns:a="http://schemas.openxmlformats.org/drawingml/2006/main">
              <a:ext uri="{FF2B5EF4-FFF2-40B4-BE49-F238E27FC236}">
                <a16:creationId xmlns:a16="http://schemas.microsoft.com/office/drawing/2014/main" id="{0DB8643D-1F55-41B2-93B5-4AC61814A2D7}"/>
              </a:ext>
            </a:extLst>
          </p:cNvPr>
          <p:cNvSpPr>
            <a:spLocks xmlns:a="http://schemas.openxmlformats.org/drawingml/2006/main" noGrp="1"/>
          </p:cNvSpPr>
          <p:nvPr/>
        </p:nvSpPr>
        <p:spPr>
          <a:xfrm xmlns:a="http://schemas.openxmlformats.org/drawingml/2006/main">
            <a:off x="5711800" y="2537460"/>
            <a:ext cx="768096" cy="768096"/>
          </a:xfrm>
          <a:prstGeom xmlns:a="http://schemas.openxmlformats.org/drawingml/2006/main" prst="ellipse">
            <a:avLst/>
          </a:prstGeom>
          <a:solidFill xmlns:a="http://schemas.openxmlformats.org/drawingml/2006/main">
            <a:srgbClr val="EE2B76"/>
          </a:solidFill>
          <a:ln xmlns:a="http://schemas.openxmlformats.org/drawingml/2006/main" w="25400">
            <a:solidFill>
              <a:srgbClr val="FFFFFF"/>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0" name="Text 8">
            <a:extLst xmlns:a="http://schemas.openxmlformats.org/drawingml/2006/main">
              <a:ext uri="{FF2B5EF4-FFF2-40B4-BE49-F238E27FC236}">
                <a16:creationId xmlns:a16="http://schemas.microsoft.com/office/drawing/2014/main" id="{84E7E9C8-19ED-4F2A-A177-6EE262F3527E}"/>
              </a:ext>
            </a:extLst>
          </p:cNvPr>
          <p:cNvSpPr>
            <a:spLocks xmlns:a="http://schemas.openxmlformats.org/drawingml/2006/main" noGrp="1"/>
          </p:cNvSpPr>
          <p:nvPr/>
        </p:nvSpPr>
        <p:spPr>
          <a:xfrm xmlns:a="http://schemas.openxmlformats.org/drawingml/2006/main">
            <a:off x="5711800" y="2537460"/>
            <a:ext cx="768096" cy="7680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800" b="1">
                <a:solidFill>
                  <a:srgbClr val="FFFFFF"/>
                </a:solidFill>
                <a:latin typeface="Poppins"/>
                <a:ea typeface="Poppins"/>
                <a:cs typeface="Poppins"/>
              </a:rPr>
              <a:t>VS</a:t>
            </a:r>
            <a:endParaRPr sz="1800"/>
          </a:p>
        </p:txBody>
      </p:sp>
      <p:sp>
        <p:nvSpPr>
          <p:cNvPr id="11" name="Shape 9">
            <a:extLst xmlns:a="http://schemas.openxmlformats.org/drawingml/2006/main">
              <a:ext uri="{FF2B5EF4-FFF2-40B4-BE49-F238E27FC236}">
                <a16:creationId xmlns:a16="http://schemas.microsoft.com/office/drawing/2014/main" id="{30FDA3B0-0001-414D-87FD-82EA9A89EC13}"/>
              </a:ext>
            </a:extLst>
          </p:cNvPr>
          <p:cNvSpPr>
            <a:spLocks xmlns:a="http://schemas.openxmlformats.org/drawingml/2006/main" noGrp="1"/>
          </p:cNvSpPr>
          <p:nvPr/>
        </p:nvSpPr>
        <p:spPr>
          <a:xfrm xmlns:a="http://schemas.openxmlformats.org/drawingml/2006/main">
            <a:off x="6873088" y="1481328"/>
            <a:ext cx="4769968" cy="2880360"/>
          </a:xfrm>
          <a:prstGeom xmlns:a="http://schemas.openxmlformats.org/drawingml/2006/main" prst="roundRect">
            <a:avLst>
              <a:gd name="adj" fmla="val 3492"/>
            </a:avLst>
          </a:prstGeom>
          <a:solidFill xmlns:a="http://schemas.openxmlformats.org/drawingml/2006/main">
            <a:srgbClr val="FFFFFF"/>
          </a:solidFill>
          <a:ln xmlns:a="http://schemas.openxmlformats.org/drawingml/2006/main" w="12700">
            <a:solidFill>
              <a:srgbClr val="EFC7DA"/>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2" name="Shape 10">
            <a:extLst xmlns:a="http://schemas.openxmlformats.org/drawingml/2006/main">
              <a:ext uri="{FF2B5EF4-FFF2-40B4-BE49-F238E27FC236}">
                <a16:creationId xmlns:a16="http://schemas.microsoft.com/office/drawing/2014/main" id="{11309B28-23D4-4046-BD62-75A2C34F6854}"/>
              </a:ext>
            </a:extLst>
          </p:cNvPr>
          <p:cNvSpPr>
            <a:spLocks xmlns:a="http://schemas.openxmlformats.org/drawingml/2006/main" noGrp="1"/>
          </p:cNvSpPr>
          <p:nvPr/>
        </p:nvSpPr>
        <p:spPr>
          <a:xfrm xmlns:a="http://schemas.openxmlformats.org/drawingml/2006/main">
            <a:off x="6873088" y="1481328"/>
            <a:ext cx="4769968" cy="548640"/>
          </a:xfrm>
          <a:prstGeom xmlns:a="http://schemas.openxmlformats.org/drawingml/2006/main" prst="roundRect">
            <a:avLst>
              <a:gd name="adj" fmla="val 16667"/>
            </a:avLst>
          </a:prstGeom>
          <a:solidFill xmlns:a="http://schemas.openxmlformats.org/drawingml/2006/main">
            <a:srgbClr val="EE2B76"/>
          </a:solidFill>
        </p:spPr>
      </p:sp>
      <p:sp>
        <p:nvSpPr>
          <p:cNvPr id="13" name="Shape 11">
            <a:extLst xmlns:a="http://schemas.openxmlformats.org/drawingml/2006/main">
              <a:ext uri="{FF2B5EF4-FFF2-40B4-BE49-F238E27FC236}">
                <a16:creationId xmlns:a16="http://schemas.microsoft.com/office/drawing/2014/main" id="{CD595BE6-F5B0-4A87-A753-03F0AE898C88}"/>
              </a:ext>
            </a:extLst>
          </p:cNvPr>
          <p:cNvSpPr>
            <a:spLocks xmlns:a="http://schemas.openxmlformats.org/drawingml/2006/main" noGrp="1"/>
          </p:cNvSpPr>
          <p:nvPr/>
        </p:nvSpPr>
        <p:spPr>
          <a:xfrm xmlns:a="http://schemas.openxmlformats.org/drawingml/2006/main">
            <a:off x="6873088" y="1755648"/>
            <a:ext cx="4769968" cy="274320"/>
          </a:xfrm>
          <a:prstGeom xmlns:a="http://schemas.openxmlformats.org/drawingml/2006/main" prst="rect">
            <a:avLst/>
          </a:prstGeom>
          <a:solidFill xmlns:a="http://schemas.openxmlformats.org/drawingml/2006/main">
            <a:srgbClr val="EE2B76"/>
          </a:solidFill>
        </p:spPr>
      </p:sp>
      <p:sp>
        <p:nvSpPr>
          <p:cNvPr id="14" name="Text 12">
            <a:extLst xmlns:a="http://schemas.openxmlformats.org/drawingml/2006/main">
              <a:ext uri="{FF2B5EF4-FFF2-40B4-BE49-F238E27FC236}">
                <a16:creationId xmlns:a16="http://schemas.microsoft.com/office/drawing/2014/main" id="{A7E2FE59-A95B-4B79-8EFA-AA17752CF1F9}"/>
              </a:ext>
            </a:extLst>
          </p:cNvPr>
          <p:cNvSpPr>
            <a:spLocks xmlns:a="http://schemas.openxmlformats.org/drawingml/2006/main" noGrp="1"/>
          </p:cNvSpPr>
          <p:nvPr/>
        </p:nvSpPr>
        <p:spPr>
          <a:xfrm xmlns:a="http://schemas.openxmlformats.org/drawingml/2006/main">
            <a:off x="7092544" y="1481328"/>
            <a:ext cx="4404208"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FFFFFF"/>
                </a:solidFill>
                <a:latin typeface="Poppins"/>
                <a:ea typeface="Poppins"/>
                <a:cs typeface="Poppins"/>
              </a:rPr>
              <a:t>Our position — "buy &amp; configure"</a:t>
            </a:r>
            <a:endParaRPr sz="1350"/>
          </a:p>
        </p:txBody>
      </p:sp>
      <p:sp>
        <p:nvSpPr>
          <p:cNvPr id="15" name="Text 13">
            <a:extLst xmlns:a="http://schemas.openxmlformats.org/drawingml/2006/main">
              <a:ext uri="{FF2B5EF4-FFF2-40B4-BE49-F238E27FC236}">
                <a16:creationId xmlns:a16="http://schemas.microsoft.com/office/drawing/2014/main" id="{580C342B-18B9-4C2A-9173-FBE9576063DF}"/>
              </a:ext>
            </a:extLst>
          </p:cNvPr>
          <p:cNvSpPr>
            <a:spLocks xmlns:a="http://schemas.openxmlformats.org/drawingml/2006/main" noGrp="1"/>
          </p:cNvSpPr>
          <p:nvPr/>
        </p:nvSpPr>
        <p:spPr>
          <a:xfrm xmlns:a="http://schemas.openxmlformats.org/drawingml/2006/main">
            <a:off x="7129120" y="2194560"/>
            <a:ext cx="4276192" cy="2011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52400" indent="-152400">
              <a:spcAft>
                <a:spcPts val="900"/>
              </a:spcAft>
              <a:buSzPct val="100000"/>
              <a:buChar char="•"/>
            </a:pPr>
            <a:r>
              <a:rPr sz="1150">
                <a:solidFill>
                  <a:srgbClr val="2A231F"/>
                </a:solidFill>
                <a:latin typeface="Calibri"/>
                <a:ea typeface="Calibri"/>
                <a:cs typeface="Calibri"/>
              </a:rPr>
              <a:t>Configure the CRMNEXT product + AI models — not a bespoke ground-up build</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Licence / product priced separately in the BUSINESSNEXT transformation proposal</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IP ownership remains with ASPL; source-code handover not accepted</a:t>
            </a:r>
            <a:endParaRPr sz="1150"/>
          </a:p>
          <a:p xmlns:a="http://schemas.openxmlformats.org/drawingml/2006/main">
            <a:pPr marL="152400" indent="-152400">
              <a:spcAft>
                <a:spcPts val="900"/>
              </a:spcAft>
              <a:buSzPct val="100000"/>
              <a:buChar char="•"/>
            </a:pPr>
            <a:r>
              <a:rPr sz="1150">
                <a:solidFill>
                  <a:srgbClr val="2A231F"/>
                </a:solidFill>
                <a:latin typeface="Calibri"/>
                <a:ea typeface="Calibri"/>
                <a:cs typeface="Calibri"/>
              </a:rPr>
              <a:t>Third-party software, hosting &amp; infra procured by AMLI separately</a:t>
            </a:r>
            <a:endParaRPr sz="1150"/>
          </a:p>
        </p:txBody>
      </p:sp>
      <p:sp>
        <p:nvSpPr>
          <p:cNvPr id="16" name="Shape 14">
            <a:extLst xmlns:a="http://schemas.openxmlformats.org/drawingml/2006/main">
              <a:ext uri="{FF2B5EF4-FFF2-40B4-BE49-F238E27FC236}">
                <a16:creationId xmlns:a16="http://schemas.microsoft.com/office/drawing/2014/main" id="{7F80B314-398F-4249-A22B-B091F56C20D7}"/>
              </a:ext>
            </a:extLst>
          </p:cNvPr>
          <p:cNvSpPr>
            <a:spLocks xmlns:a="http://schemas.openxmlformats.org/drawingml/2006/main" noGrp="1"/>
          </p:cNvSpPr>
          <p:nvPr/>
        </p:nvSpPr>
        <p:spPr>
          <a:xfrm xmlns:a="http://schemas.openxmlformats.org/drawingml/2006/main">
            <a:off x="548640" y="4617720"/>
            <a:ext cx="11094415" cy="1371600"/>
          </a:xfrm>
          <a:prstGeom xmlns:a="http://schemas.openxmlformats.org/drawingml/2006/main" prst="roundRect">
            <a:avLst>
              <a:gd name="adj" fmla="val 7333"/>
            </a:avLst>
          </a:prstGeom>
          <a:solidFill xmlns:a="http://schemas.openxmlformats.org/drawingml/2006/main">
            <a:srgbClr val="1F3A5F"/>
          </a:solidFill>
          <a:effectLst xmlns:a="http://schemas.openxmlformats.org/drawingml/2006/main">
            <a:outerShdw blurRad="114300" dist="38100" dir="5400000" sx="100000" sy="100000" kx="0" ky="0" algn="bl" rotWithShape="0">
              <a:srgbClr val="9A8F88">
                <a:alpha val="32000"/>
              </a:srgbClr>
            </a:outerShdw>
          </a:effectLst>
        </p:spPr>
      </p:sp>
      <p:sp>
        <p:nvSpPr>
          <p:cNvPr id="17" name="Shape 15">
            <a:extLst xmlns:a="http://schemas.openxmlformats.org/drawingml/2006/main">
              <a:ext uri="{FF2B5EF4-FFF2-40B4-BE49-F238E27FC236}">
                <a16:creationId xmlns:a16="http://schemas.microsoft.com/office/drawing/2014/main" id="{9AF3EF0D-D34A-456E-9F4B-FA6DE2B84E0C}"/>
              </a:ext>
            </a:extLst>
          </p:cNvPr>
          <p:cNvSpPr>
            <a:spLocks xmlns:a="http://schemas.openxmlformats.org/drawingml/2006/main" noGrp="1"/>
          </p:cNvSpPr>
          <p:nvPr/>
        </p:nvSpPr>
        <p:spPr>
          <a:xfrm xmlns:a="http://schemas.openxmlformats.org/drawingml/2006/main">
            <a:off x="822960" y="4983480"/>
            <a:ext cx="640080" cy="640080"/>
          </a:xfrm>
          <a:prstGeom xmlns:a="http://schemas.openxmlformats.org/drawingml/2006/main" prst="ellipse">
            <a:avLst/>
          </a:prstGeom>
          <a:solidFill xmlns:a="http://schemas.openxmlformats.org/drawingml/2006/main">
            <a:srgbClr val="FFFFFF"/>
          </a:solidFill>
          <a:effectLst xmlns:a="http://schemas.openxmlformats.org/drawingml/2006/main">
            <a:outerShdw blurRad="88900" dist="25400" dir="5400000" sx="100000" sy="100000" kx="0" ky="0" algn="bl" rotWithShape="0">
              <a:srgbClr val="B4A9A2">
                <a:alpha val="22000"/>
              </a:srgbClr>
            </a:outerShdw>
          </a:effectLst>
        </p:spPr>
      </p:sp>
      <p:pic>
        <p:nvPicPr>
          <p:cNvPr id="40" name="Image 0"/>
          <p:cNvPicPr>
            <a:picLocks xmlns:a="http://schemas.openxmlformats.org/drawingml/2006/main" noChangeAspect="1"/>
          </p:cNvPicPr>
          <p:nvPr/>
        </p:nvPicPr>
        <p:blipFill>
          <a:blip xmlns:r="http://schemas.openxmlformats.org/officeDocument/2006/relationships" xmlns:a="http://schemas.openxmlformats.org/drawingml/2006/main" r:embed="R0467e09f89f54bd9"/>
          <a:stretch xmlns:a="http://schemas.openxmlformats.org/drawingml/2006/main">
            <a:fillRect l="0" t="0" r="0" b="0"/>
          </a:stretch>
        </p:blipFill>
        <p:spPr>
          <a:xfrm xmlns:a="http://schemas.openxmlformats.org/drawingml/2006/main">
            <a:off x="989381" y="5149901"/>
            <a:ext cx="307238" cy="307238"/>
          </a:xfrm>
          <a:prstGeom xmlns:a="http://schemas.openxmlformats.org/drawingml/2006/main" prst="rect">
            <a:avLst/>
          </a:prstGeom>
        </p:spPr>
      </p:pic>
      <p:sp>
        <p:nvSpPr>
          <p:cNvPr id="19" name="Text 16">
            <a:extLst xmlns:a="http://schemas.openxmlformats.org/drawingml/2006/main">
              <a:ext uri="{FF2B5EF4-FFF2-40B4-BE49-F238E27FC236}">
                <a16:creationId xmlns:a16="http://schemas.microsoft.com/office/drawing/2014/main" id="{46892444-89DC-4C8F-BA26-3FD3C50D7B8E}"/>
              </a:ext>
            </a:extLst>
          </p:cNvPr>
          <p:cNvSpPr>
            <a:spLocks xmlns:a="http://schemas.openxmlformats.org/drawingml/2006/main" noGrp="1"/>
          </p:cNvSpPr>
          <p:nvPr/>
        </p:nvSpPr>
        <p:spPr>
          <a:xfrm xmlns:a="http://schemas.openxmlformats.org/drawingml/2006/main">
            <a:off x="1645920" y="4800600"/>
            <a:ext cx="972281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FFFFFF"/>
                </a:solidFill>
                <a:latin typeface="Poppins"/>
                <a:ea typeface="Poppins"/>
                <a:cs typeface="Poppins"/>
              </a:rPr>
              <a:t>Recommended stance for leadership</a:t>
            </a:r>
            <a:endParaRPr sz="1400"/>
          </a:p>
        </p:txBody>
      </p:sp>
      <p:sp>
        <p:nvSpPr>
          <p:cNvPr id="20" name="Text 17">
            <a:extLst xmlns:a="http://schemas.openxmlformats.org/drawingml/2006/main">
              <a:ext uri="{FF2B5EF4-FFF2-40B4-BE49-F238E27FC236}">
                <a16:creationId xmlns:a16="http://schemas.microsoft.com/office/drawing/2014/main" id="{7C23BE25-E50C-402B-8D3C-C0D40DF786D5}"/>
              </a:ext>
            </a:extLst>
          </p:cNvPr>
          <p:cNvSpPr>
            <a:spLocks xmlns:a="http://schemas.openxmlformats.org/drawingml/2006/main" noGrp="1"/>
          </p:cNvSpPr>
          <p:nvPr/>
        </p:nvSpPr>
        <p:spPr>
          <a:xfrm xmlns:a="http://schemas.openxmlformats.org/drawingml/2006/main">
            <a:off x="1645920" y="5148072"/>
            <a:ext cx="9722815"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3000"/>
              </a:lnSpc>
              <a:buNone/>
            </a:pPr>
            <a:r>
              <a:rPr sz="1100">
                <a:solidFill>
                  <a:srgbClr val="DDE6F2"/>
                </a:solidFill>
                <a:latin typeface="Calibri"/>
                <a:ea typeface="Calibri"/>
                <a:cs typeface="Calibri"/>
              </a:rPr>
              <a:t>Position MATRIX as a productised, configuration-led delivery on CRMNEXT — giving AMLI their "in-house-feel", modularity and AI-DLC speed — while protecting product IP. The gap is not technical fit but the commercial model: IP/source ownership and licence treatment must be resolved up front, or re-shaped as a source-escrow / perpetual-licence construct.</a:t>
            </a:r>
            <a:endParaRPr sz="1100"/>
          </a:p>
        </p:txBody>
      </p:sp>
      <p:sp>
        <p:nvSpPr>
          <p:cNvPr id="21" name="Text 18">
            <a:extLst xmlns:a="http://schemas.openxmlformats.org/drawingml/2006/main">
              <a:ext uri="{FF2B5EF4-FFF2-40B4-BE49-F238E27FC236}">
                <a16:creationId xmlns:a16="http://schemas.microsoft.com/office/drawing/2014/main" id="{127B4841-5AD7-4D61-AAC1-4261FA3E75EB}"/>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22" name="Text 19">
            <a:extLst xmlns:a="http://schemas.openxmlformats.org/drawingml/2006/main">
              <a:ext uri="{FF2B5EF4-FFF2-40B4-BE49-F238E27FC236}">
                <a16:creationId xmlns:a16="http://schemas.microsoft.com/office/drawing/2014/main" id="{B442140A-CBEE-4F91-8B1D-9CCF53AE37C4}"/>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13</a:t>
            </a:r>
            <a:endParaRPr sz="900"/>
          </a:p>
        </p:txBody>
      </p:sp>
    </p:spTree>
    <p:extLst>
      <p:ext uri="{BB962C8B-B14F-4D97-AF65-F5344CB8AC3E}">
        <p14:creationId xmlns:p14="http://schemas.microsoft.com/office/powerpoint/2010/main" val="145484491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7C54A3-718D-4AC2-8DF6-532C6DB3F31B}"/>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IMPLEMENTATION</a:t>
            </a:r>
            <a:endParaRPr sz="1200"/>
          </a:p>
        </p:txBody>
      </p:sp>
      <p:sp>
        <p:nvSpPr>
          <p:cNvPr id="3" name="Text 1">
            <a:extLst xmlns:a="http://schemas.openxmlformats.org/drawingml/2006/main">
              <a:ext uri="{FF2B5EF4-FFF2-40B4-BE49-F238E27FC236}">
                <a16:creationId xmlns:a16="http://schemas.microsoft.com/office/drawing/2014/main" id="{E7FD0EC9-FCC3-49EC-A7E1-F27E556D418D}"/>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Phased roadmap — M1 to M10 (Feb ’26 → Jul ’27)</a:t>
            </a:r>
            <a:endParaRPr sz="3000"/>
          </a:p>
        </p:txBody>
      </p:sp>
      <p:sp>
        <p:nvSpPr>
          <p:cNvPr id="4" name="Shape 2">
            <a:extLst xmlns:a="http://schemas.openxmlformats.org/drawingml/2006/main">
              <a:ext uri="{FF2B5EF4-FFF2-40B4-BE49-F238E27FC236}">
                <a16:creationId xmlns:a16="http://schemas.microsoft.com/office/drawing/2014/main" id="{608F9721-3276-4E7C-8585-9FBFC7001A1F}"/>
              </a:ext>
            </a:extLst>
          </p:cNvPr>
          <p:cNvSpPr>
            <a:spLocks xmlns:a="http://schemas.openxmlformats.org/drawingml/2006/main" noGrp="1"/>
          </p:cNvSpPr>
          <p:nvPr/>
        </p:nvSpPr>
        <p:spPr>
          <a:xfrm xmlns:a="http://schemas.openxmlformats.org/drawingml/2006/main">
            <a:off x="3794760"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5" name="Shape 3">
            <a:extLst xmlns:a="http://schemas.openxmlformats.org/drawingml/2006/main">
              <a:ext uri="{FF2B5EF4-FFF2-40B4-BE49-F238E27FC236}">
                <a16:creationId xmlns:a16="http://schemas.microsoft.com/office/drawing/2014/main" id="{9ED3A4D7-476D-4CC7-91EF-167E83A4968C}"/>
              </a:ext>
            </a:extLst>
          </p:cNvPr>
          <p:cNvSpPr>
            <a:spLocks xmlns:a="http://schemas.openxmlformats.org/drawingml/2006/main" noGrp="1"/>
          </p:cNvSpPr>
          <p:nvPr/>
        </p:nvSpPr>
        <p:spPr>
          <a:xfrm xmlns:a="http://schemas.openxmlformats.org/drawingml/2006/main">
            <a:off x="4230776"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6" name="Shape 4">
            <a:extLst xmlns:a="http://schemas.openxmlformats.org/drawingml/2006/main">
              <a:ext uri="{FF2B5EF4-FFF2-40B4-BE49-F238E27FC236}">
                <a16:creationId xmlns:a16="http://schemas.microsoft.com/office/drawing/2014/main" id="{32D4F508-5831-44A7-A579-520D6B80774D}"/>
              </a:ext>
            </a:extLst>
          </p:cNvPr>
          <p:cNvSpPr>
            <a:spLocks xmlns:a="http://schemas.openxmlformats.org/drawingml/2006/main" noGrp="1"/>
          </p:cNvSpPr>
          <p:nvPr/>
        </p:nvSpPr>
        <p:spPr>
          <a:xfrm xmlns:a="http://schemas.openxmlformats.org/drawingml/2006/main">
            <a:off x="4666793"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7" name="Shape 5">
            <a:extLst xmlns:a="http://schemas.openxmlformats.org/drawingml/2006/main">
              <a:ext uri="{FF2B5EF4-FFF2-40B4-BE49-F238E27FC236}">
                <a16:creationId xmlns:a16="http://schemas.microsoft.com/office/drawing/2014/main" id="{C4DC2F87-69EA-44D7-9680-1B4DF9E6031D}"/>
              </a:ext>
            </a:extLst>
          </p:cNvPr>
          <p:cNvSpPr>
            <a:spLocks xmlns:a="http://schemas.openxmlformats.org/drawingml/2006/main" noGrp="1"/>
          </p:cNvSpPr>
          <p:nvPr/>
        </p:nvSpPr>
        <p:spPr>
          <a:xfrm xmlns:a="http://schemas.openxmlformats.org/drawingml/2006/main">
            <a:off x="5102809"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8" name="Shape 6">
            <a:extLst xmlns:a="http://schemas.openxmlformats.org/drawingml/2006/main">
              <a:ext uri="{FF2B5EF4-FFF2-40B4-BE49-F238E27FC236}">
                <a16:creationId xmlns:a16="http://schemas.microsoft.com/office/drawing/2014/main" id="{6825A1FA-6FE5-42AB-8E02-50BA218FF035}"/>
              </a:ext>
            </a:extLst>
          </p:cNvPr>
          <p:cNvSpPr>
            <a:spLocks xmlns:a="http://schemas.openxmlformats.org/drawingml/2006/main" noGrp="1"/>
          </p:cNvSpPr>
          <p:nvPr/>
        </p:nvSpPr>
        <p:spPr>
          <a:xfrm xmlns:a="http://schemas.openxmlformats.org/drawingml/2006/main">
            <a:off x="5538826"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9" name="Shape 7">
            <a:extLst xmlns:a="http://schemas.openxmlformats.org/drawingml/2006/main">
              <a:ext uri="{FF2B5EF4-FFF2-40B4-BE49-F238E27FC236}">
                <a16:creationId xmlns:a16="http://schemas.microsoft.com/office/drawing/2014/main" id="{5C0FE612-54C2-48A4-AC48-4C91904A204D}"/>
              </a:ext>
            </a:extLst>
          </p:cNvPr>
          <p:cNvSpPr>
            <a:spLocks xmlns:a="http://schemas.openxmlformats.org/drawingml/2006/main" noGrp="1"/>
          </p:cNvSpPr>
          <p:nvPr/>
        </p:nvSpPr>
        <p:spPr>
          <a:xfrm xmlns:a="http://schemas.openxmlformats.org/drawingml/2006/main">
            <a:off x="5974842"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0" name="Shape 8">
            <a:extLst xmlns:a="http://schemas.openxmlformats.org/drawingml/2006/main">
              <a:ext uri="{FF2B5EF4-FFF2-40B4-BE49-F238E27FC236}">
                <a16:creationId xmlns:a16="http://schemas.microsoft.com/office/drawing/2014/main" id="{23B04018-2207-4670-8728-CE4954BDF032}"/>
              </a:ext>
            </a:extLst>
          </p:cNvPr>
          <p:cNvSpPr>
            <a:spLocks xmlns:a="http://schemas.openxmlformats.org/drawingml/2006/main" noGrp="1"/>
          </p:cNvSpPr>
          <p:nvPr/>
        </p:nvSpPr>
        <p:spPr>
          <a:xfrm xmlns:a="http://schemas.openxmlformats.org/drawingml/2006/main">
            <a:off x="6410858"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1" name="Shape 9">
            <a:extLst xmlns:a="http://schemas.openxmlformats.org/drawingml/2006/main">
              <a:ext uri="{FF2B5EF4-FFF2-40B4-BE49-F238E27FC236}">
                <a16:creationId xmlns:a16="http://schemas.microsoft.com/office/drawing/2014/main" id="{803BCA10-A0D4-40DB-A9A2-3706C4B633FF}"/>
              </a:ext>
            </a:extLst>
          </p:cNvPr>
          <p:cNvSpPr>
            <a:spLocks xmlns:a="http://schemas.openxmlformats.org/drawingml/2006/main" noGrp="1"/>
          </p:cNvSpPr>
          <p:nvPr/>
        </p:nvSpPr>
        <p:spPr>
          <a:xfrm xmlns:a="http://schemas.openxmlformats.org/drawingml/2006/main">
            <a:off x="6846875"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2" name="Shape 10">
            <a:extLst xmlns:a="http://schemas.openxmlformats.org/drawingml/2006/main">
              <a:ext uri="{FF2B5EF4-FFF2-40B4-BE49-F238E27FC236}">
                <a16:creationId xmlns:a16="http://schemas.microsoft.com/office/drawing/2014/main" id="{89E475D7-8FAF-4654-B647-F5806EE166C4}"/>
              </a:ext>
            </a:extLst>
          </p:cNvPr>
          <p:cNvSpPr>
            <a:spLocks xmlns:a="http://schemas.openxmlformats.org/drawingml/2006/main" noGrp="1"/>
          </p:cNvSpPr>
          <p:nvPr/>
        </p:nvSpPr>
        <p:spPr>
          <a:xfrm xmlns:a="http://schemas.openxmlformats.org/drawingml/2006/main">
            <a:off x="7282891"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3" name="Shape 11">
            <a:extLst xmlns:a="http://schemas.openxmlformats.org/drawingml/2006/main">
              <a:ext uri="{FF2B5EF4-FFF2-40B4-BE49-F238E27FC236}">
                <a16:creationId xmlns:a16="http://schemas.microsoft.com/office/drawing/2014/main" id="{C039D173-7C37-4272-B453-932416D6EBEB}"/>
              </a:ext>
            </a:extLst>
          </p:cNvPr>
          <p:cNvSpPr>
            <a:spLocks xmlns:a="http://schemas.openxmlformats.org/drawingml/2006/main" noGrp="1"/>
          </p:cNvSpPr>
          <p:nvPr/>
        </p:nvSpPr>
        <p:spPr>
          <a:xfrm xmlns:a="http://schemas.openxmlformats.org/drawingml/2006/main">
            <a:off x="7718908"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4" name="Shape 12">
            <a:extLst xmlns:a="http://schemas.openxmlformats.org/drawingml/2006/main">
              <a:ext uri="{FF2B5EF4-FFF2-40B4-BE49-F238E27FC236}">
                <a16:creationId xmlns:a16="http://schemas.microsoft.com/office/drawing/2014/main" id="{57FEDF63-1092-4053-BBD8-251C9E61C048}"/>
              </a:ext>
            </a:extLst>
          </p:cNvPr>
          <p:cNvSpPr>
            <a:spLocks xmlns:a="http://schemas.openxmlformats.org/drawingml/2006/main" noGrp="1"/>
          </p:cNvSpPr>
          <p:nvPr/>
        </p:nvSpPr>
        <p:spPr>
          <a:xfrm xmlns:a="http://schemas.openxmlformats.org/drawingml/2006/main">
            <a:off x="8154924"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5" name="Shape 13">
            <a:extLst xmlns:a="http://schemas.openxmlformats.org/drawingml/2006/main">
              <a:ext uri="{FF2B5EF4-FFF2-40B4-BE49-F238E27FC236}">
                <a16:creationId xmlns:a16="http://schemas.microsoft.com/office/drawing/2014/main" id="{A41ADCEA-7379-45FA-ACFA-D01299C28C78}"/>
              </a:ext>
            </a:extLst>
          </p:cNvPr>
          <p:cNvSpPr>
            <a:spLocks xmlns:a="http://schemas.openxmlformats.org/drawingml/2006/main" noGrp="1"/>
          </p:cNvSpPr>
          <p:nvPr/>
        </p:nvSpPr>
        <p:spPr>
          <a:xfrm xmlns:a="http://schemas.openxmlformats.org/drawingml/2006/main">
            <a:off x="8590940"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6" name="Shape 14">
            <a:extLst xmlns:a="http://schemas.openxmlformats.org/drawingml/2006/main">
              <a:ext uri="{FF2B5EF4-FFF2-40B4-BE49-F238E27FC236}">
                <a16:creationId xmlns:a16="http://schemas.microsoft.com/office/drawing/2014/main" id="{6EFD1B6E-A256-4C30-9870-3DB57CD6CC76}"/>
              </a:ext>
            </a:extLst>
          </p:cNvPr>
          <p:cNvSpPr>
            <a:spLocks xmlns:a="http://schemas.openxmlformats.org/drawingml/2006/main" noGrp="1"/>
          </p:cNvSpPr>
          <p:nvPr/>
        </p:nvSpPr>
        <p:spPr>
          <a:xfrm xmlns:a="http://schemas.openxmlformats.org/drawingml/2006/main">
            <a:off x="9026957"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7" name="Shape 15">
            <a:extLst xmlns:a="http://schemas.openxmlformats.org/drawingml/2006/main">
              <a:ext uri="{FF2B5EF4-FFF2-40B4-BE49-F238E27FC236}">
                <a16:creationId xmlns:a16="http://schemas.microsoft.com/office/drawing/2014/main" id="{5EBB3A01-F927-4096-8162-333970608CFC}"/>
              </a:ext>
            </a:extLst>
          </p:cNvPr>
          <p:cNvSpPr>
            <a:spLocks xmlns:a="http://schemas.openxmlformats.org/drawingml/2006/main" noGrp="1"/>
          </p:cNvSpPr>
          <p:nvPr/>
        </p:nvSpPr>
        <p:spPr>
          <a:xfrm xmlns:a="http://schemas.openxmlformats.org/drawingml/2006/main">
            <a:off x="9462973"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8" name="Shape 16">
            <a:extLst xmlns:a="http://schemas.openxmlformats.org/drawingml/2006/main">
              <a:ext uri="{FF2B5EF4-FFF2-40B4-BE49-F238E27FC236}">
                <a16:creationId xmlns:a16="http://schemas.microsoft.com/office/drawing/2014/main" id="{268A681B-3892-4471-B673-D47E3F7513C0}"/>
              </a:ext>
            </a:extLst>
          </p:cNvPr>
          <p:cNvSpPr>
            <a:spLocks xmlns:a="http://schemas.openxmlformats.org/drawingml/2006/main" noGrp="1"/>
          </p:cNvSpPr>
          <p:nvPr/>
        </p:nvSpPr>
        <p:spPr>
          <a:xfrm xmlns:a="http://schemas.openxmlformats.org/drawingml/2006/main">
            <a:off x="9898990"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19" name="Shape 17">
            <a:extLst xmlns:a="http://schemas.openxmlformats.org/drawingml/2006/main">
              <a:ext uri="{FF2B5EF4-FFF2-40B4-BE49-F238E27FC236}">
                <a16:creationId xmlns:a16="http://schemas.microsoft.com/office/drawing/2014/main" id="{99BC42CD-1E50-45C1-A5E5-E178D3F63433}"/>
              </a:ext>
            </a:extLst>
          </p:cNvPr>
          <p:cNvSpPr>
            <a:spLocks xmlns:a="http://schemas.openxmlformats.org/drawingml/2006/main" noGrp="1"/>
          </p:cNvSpPr>
          <p:nvPr/>
        </p:nvSpPr>
        <p:spPr>
          <a:xfrm xmlns:a="http://schemas.openxmlformats.org/drawingml/2006/main">
            <a:off x="10335006"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20" name="Shape 18">
            <a:extLst xmlns:a="http://schemas.openxmlformats.org/drawingml/2006/main">
              <a:ext uri="{FF2B5EF4-FFF2-40B4-BE49-F238E27FC236}">
                <a16:creationId xmlns:a16="http://schemas.microsoft.com/office/drawing/2014/main" id="{621FDFD0-3167-4AC9-ABBC-64C728B027FF}"/>
              </a:ext>
            </a:extLst>
          </p:cNvPr>
          <p:cNvSpPr>
            <a:spLocks xmlns:a="http://schemas.openxmlformats.org/drawingml/2006/main" noGrp="1"/>
          </p:cNvSpPr>
          <p:nvPr/>
        </p:nvSpPr>
        <p:spPr>
          <a:xfrm xmlns:a="http://schemas.openxmlformats.org/drawingml/2006/main">
            <a:off x="10771022"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21" name="Shape 19">
            <a:extLst xmlns:a="http://schemas.openxmlformats.org/drawingml/2006/main">
              <a:ext uri="{FF2B5EF4-FFF2-40B4-BE49-F238E27FC236}">
                <a16:creationId xmlns:a16="http://schemas.microsoft.com/office/drawing/2014/main" id="{28CD835A-25F9-4415-97BD-FAA6183030C2}"/>
              </a:ext>
            </a:extLst>
          </p:cNvPr>
          <p:cNvSpPr>
            <a:spLocks xmlns:a="http://schemas.openxmlformats.org/drawingml/2006/main" noGrp="1"/>
          </p:cNvSpPr>
          <p:nvPr/>
        </p:nvSpPr>
        <p:spPr>
          <a:xfrm xmlns:a="http://schemas.openxmlformats.org/drawingml/2006/main">
            <a:off x="11207039"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22" name="Shape 20">
            <a:extLst xmlns:a="http://schemas.openxmlformats.org/drawingml/2006/main">
              <a:ext uri="{FF2B5EF4-FFF2-40B4-BE49-F238E27FC236}">
                <a16:creationId xmlns:a16="http://schemas.microsoft.com/office/drawing/2014/main" id="{325E287E-420C-4DC2-BE4E-D8330FB1166A}"/>
              </a:ext>
            </a:extLst>
          </p:cNvPr>
          <p:cNvSpPr>
            <a:spLocks xmlns:a="http://schemas.openxmlformats.org/drawingml/2006/main" noGrp="1"/>
          </p:cNvSpPr>
          <p:nvPr/>
        </p:nvSpPr>
        <p:spPr>
          <a:xfrm xmlns:a="http://schemas.openxmlformats.org/drawingml/2006/main">
            <a:off x="11643055" y="1691640"/>
            <a:ext cx="0" cy="3977640"/>
          </a:xfrm>
          <a:prstGeom xmlns:a="http://schemas.openxmlformats.org/drawingml/2006/main" prst="line">
            <a:avLst/>
          </a:prstGeom>
          <a:noFill xmlns:a="http://schemas.openxmlformats.org/drawingml/2006/main"/>
          <a:ln xmlns:a="http://schemas.openxmlformats.org/drawingml/2006/main" w="9525">
            <a:solidFill>
              <a:srgbClr val="ECE6E3"/>
            </a:solidFill>
            <a:prstDash val="solid"/>
          </a:ln>
        </p:spPr>
      </p:sp>
      <p:sp>
        <p:nvSpPr>
          <p:cNvPr id="23" name="Text 21">
            <a:extLst xmlns:a="http://schemas.openxmlformats.org/drawingml/2006/main">
              <a:ext uri="{FF2B5EF4-FFF2-40B4-BE49-F238E27FC236}">
                <a16:creationId xmlns:a16="http://schemas.microsoft.com/office/drawing/2014/main" id="{3EF5C4D9-92C6-40B7-B172-F4E475276906}"/>
              </a:ext>
            </a:extLst>
          </p:cNvPr>
          <p:cNvSpPr>
            <a:spLocks xmlns:a="http://schemas.openxmlformats.org/drawingml/2006/main" noGrp="1"/>
          </p:cNvSpPr>
          <p:nvPr/>
        </p:nvSpPr>
        <p:spPr>
          <a:xfrm xmlns:a="http://schemas.openxmlformats.org/drawingml/2006/main">
            <a:off x="3794760"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Feb26</a:t>
            </a:r>
            <a:endParaRPr sz="800"/>
          </a:p>
        </p:txBody>
      </p:sp>
      <p:sp>
        <p:nvSpPr>
          <p:cNvPr id="24" name="Text 22">
            <a:extLst xmlns:a="http://schemas.openxmlformats.org/drawingml/2006/main">
              <a:ext uri="{FF2B5EF4-FFF2-40B4-BE49-F238E27FC236}">
                <a16:creationId xmlns:a16="http://schemas.microsoft.com/office/drawing/2014/main" id="{CB73E8CB-F25E-4F18-9CC5-F51ABB3E6C3B}"/>
              </a:ext>
            </a:extLst>
          </p:cNvPr>
          <p:cNvSpPr>
            <a:spLocks xmlns:a="http://schemas.openxmlformats.org/drawingml/2006/main" noGrp="1"/>
          </p:cNvSpPr>
          <p:nvPr/>
        </p:nvSpPr>
        <p:spPr>
          <a:xfrm xmlns:a="http://schemas.openxmlformats.org/drawingml/2006/main">
            <a:off x="4230776"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M</a:t>
            </a:r>
            <a:endParaRPr sz="800"/>
          </a:p>
        </p:txBody>
      </p:sp>
      <p:sp>
        <p:nvSpPr>
          <p:cNvPr id="25" name="Text 23">
            <a:extLst xmlns:a="http://schemas.openxmlformats.org/drawingml/2006/main">
              <a:ext uri="{FF2B5EF4-FFF2-40B4-BE49-F238E27FC236}">
                <a16:creationId xmlns:a16="http://schemas.microsoft.com/office/drawing/2014/main" id="{48BC44FA-79EB-4068-AA64-D2912E25CCEA}"/>
              </a:ext>
            </a:extLst>
          </p:cNvPr>
          <p:cNvSpPr>
            <a:spLocks xmlns:a="http://schemas.openxmlformats.org/drawingml/2006/main" noGrp="1"/>
          </p:cNvSpPr>
          <p:nvPr/>
        </p:nvSpPr>
        <p:spPr>
          <a:xfrm xmlns:a="http://schemas.openxmlformats.org/drawingml/2006/main">
            <a:off x="4666793"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Apr</a:t>
            </a:r>
            <a:endParaRPr sz="800"/>
          </a:p>
        </p:txBody>
      </p:sp>
      <p:sp>
        <p:nvSpPr>
          <p:cNvPr id="26" name="Text 24">
            <a:extLst xmlns:a="http://schemas.openxmlformats.org/drawingml/2006/main">
              <a:ext uri="{FF2B5EF4-FFF2-40B4-BE49-F238E27FC236}">
                <a16:creationId xmlns:a16="http://schemas.microsoft.com/office/drawing/2014/main" id="{99ADCEDF-DC40-4713-99A4-2FC2E3833A08}"/>
              </a:ext>
            </a:extLst>
          </p:cNvPr>
          <p:cNvSpPr>
            <a:spLocks xmlns:a="http://schemas.openxmlformats.org/drawingml/2006/main" noGrp="1"/>
          </p:cNvSpPr>
          <p:nvPr/>
        </p:nvSpPr>
        <p:spPr>
          <a:xfrm xmlns:a="http://schemas.openxmlformats.org/drawingml/2006/main">
            <a:off x="5102809"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M</a:t>
            </a:r>
            <a:endParaRPr sz="800"/>
          </a:p>
        </p:txBody>
      </p:sp>
      <p:sp>
        <p:nvSpPr>
          <p:cNvPr id="27" name="Text 25">
            <a:extLst xmlns:a="http://schemas.openxmlformats.org/drawingml/2006/main">
              <a:ext uri="{FF2B5EF4-FFF2-40B4-BE49-F238E27FC236}">
                <a16:creationId xmlns:a16="http://schemas.microsoft.com/office/drawing/2014/main" id="{E0AE52E8-47BA-4083-A698-C12F6F366C93}"/>
              </a:ext>
            </a:extLst>
          </p:cNvPr>
          <p:cNvSpPr>
            <a:spLocks xmlns:a="http://schemas.openxmlformats.org/drawingml/2006/main" noGrp="1"/>
          </p:cNvSpPr>
          <p:nvPr/>
        </p:nvSpPr>
        <p:spPr>
          <a:xfrm xmlns:a="http://schemas.openxmlformats.org/drawingml/2006/main">
            <a:off x="5538826"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Jun</a:t>
            </a:r>
            <a:endParaRPr sz="800"/>
          </a:p>
        </p:txBody>
      </p:sp>
      <p:sp>
        <p:nvSpPr>
          <p:cNvPr id="28" name="Text 26">
            <a:extLst xmlns:a="http://schemas.openxmlformats.org/drawingml/2006/main">
              <a:ext uri="{FF2B5EF4-FFF2-40B4-BE49-F238E27FC236}">
                <a16:creationId xmlns:a16="http://schemas.microsoft.com/office/drawing/2014/main" id="{0A70D034-6653-4DDB-AE71-B74168B63916}"/>
              </a:ext>
            </a:extLst>
          </p:cNvPr>
          <p:cNvSpPr>
            <a:spLocks xmlns:a="http://schemas.openxmlformats.org/drawingml/2006/main" noGrp="1"/>
          </p:cNvSpPr>
          <p:nvPr/>
        </p:nvSpPr>
        <p:spPr>
          <a:xfrm xmlns:a="http://schemas.openxmlformats.org/drawingml/2006/main">
            <a:off x="5974842"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J</a:t>
            </a:r>
            <a:endParaRPr sz="800"/>
          </a:p>
        </p:txBody>
      </p:sp>
      <p:sp>
        <p:nvSpPr>
          <p:cNvPr id="29" name="Text 27">
            <a:extLst xmlns:a="http://schemas.openxmlformats.org/drawingml/2006/main">
              <a:ext uri="{FF2B5EF4-FFF2-40B4-BE49-F238E27FC236}">
                <a16:creationId xmlns:a16="http://schemas.microsoft.com/office/drawing/2014/main" id="{F3BBD737-4094-45DF-A0F3-A34C35DC17BF}"/>
              </a:ext>
            </a:extLst>
          </p:cNvPr>
          <p:cNvSpPr>
            <a:spLocks xmlns:a="http://schemas.openxmlformats.org/drawingml/2006/main" noGrp="1"/>
          </p:cNvSpPr>
          <p:nvPr/>
        </p:nvSpPr>
        <p:spPr>
          <a:xfrm xmlns:a="http://schemas.openxmlformats.org/drawingml/2006/main">
            <a:off x="6410858"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Aug</a:t>
            </a:r>
            <a:endParaRPr sz="800"/>
          </a:p>
        </p:txBody>
      </p:sp>
      <p:sp>
        <p:nvSpPr>
          <p:cNvPr id="30" name="Text 28">
            <a:extLst xmlns:a="http://schemas.openxmlformats.org/drawingml/2006/main">
              <a:ext uri="{FF2B5EF4-FFF2-40B4-BE49-F238E27FC236}">
                <a16:creationId xmlns:a16="http://schemas.microsoft.com/office/drawing/2014/main" id="{7EFEB2AA-AC04-4FDE-A790-F484DC694F59}"/>
              </a:ext>
            </a:extLst>
          </p:cNvPr>
          <p:cNvSpPr>
            <a:spLocks xmlns:a="http://schemas.openxmlformats.org/drawingml/2006/main" noGrp="1"/>
          </p:cNvSpPr>
          <p:nvPr/>
        </p:nvSpPr>
        <p:spPr>
          <a:xfrm xmlns:a="http://schemas.openxmlformats.org/drawingml/2006/main">
            <a:off x="6846875"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S</a:t>
            </a:r>
            <a:endParaRPr sz="800"/>
          </a:p>
        </p:txBody>
      </p:sp>
      <p:sp>
        <p:nvSpPr>
          <p:cNvPr id="31" name="Text 29">
            <a:extLst xmlns:a="http://schemas.openxmlformats.org/drawingml/2006/main">
              <a:ext uri="{FF2B5EF4-FFF2-40B4-BE49-F238E27FC236}">
                <a16:creationId xmlns:a16="http://schemas.microsoft.com/office/drawing/2014/main" id="{1D6E9ADF-A60A-4F7E-87DA-4F9929EEBD45}"/>
              </a:ext>
            </a:extLst>
          </p:cNvPr>
          <p:cNvSpPr>
            <a:spLocks xmlns:a="http://schemas.openxmlformats.org/drawingml/2006/main" noGrp="1"/>
          </p:cNvSpPr>
          <p:nvPr/>
        </p:nvSpPr>
        <p:spPr>
          <a:xfrm xmlns:a="http://schemas.openxmlformats.org/drawingml/2006/main">
            <a:off x="7282891"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Oct</a:t>
            </a:r>
            <a:endParaRPr sz="800"/>
          </a:p>
        </p:txBody>
      </p:sp>
      <p:sp>
        <p:nvSpPr>
          <p:cNvPr id="32" name="Text 30">
            <a:extLst xmlns:a="http://schemas.openxmlformats.org/drawingml/2006/main">
              <a:ext uri="{FF2B5EF4-FFF2-40B4-BE49-F238E27FC236}">
                <a16:creationId xmlns:a16="http://schemas.microsoft.com/office/drawing/2014/main" id="{C77C5F07-8845-4F34-819F-3FD2FC96FE35}"/>
              </a:ext>
            </a:extLst>
          </p:cNvPr>
          <p:cNvSpPr>
            <a:spLocks xmlns:a="http://schemas.openxmlformats.org/drawingml/2006/main" noGrp="1"/>
          </p:cNvSpPr>
          <p:nvPr/>
        </p:nvSpPr>
        <p:spPr>
          <a:xfrm xmlns:a="http://schemas.openxmlformats.org/drawingml/2006/main">
            <a:off x="7718908"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N</a:t>
            </a:r>
            <a:endParaRPr sz="800"/>
          </a:p>
        </p:txBody>
      </p:sp>
      <p:sp>
        <p:nvSpPr>
          <p:cNvPr id="33" name="Text 31">
            <a:extLst xmlns:a="http://schemas.openxmlformats.org/drawingml/2006/main">
              <a:ext uri="{FF2B5EF4-FFF2-40B4-BE49-F238E27FC236}">
                <a16:creationId xmlns:a16="http://schemas.microsoft.com/office/drawing/2014/main" id="{DC7D5CA9-0AB7-4FC5-AE15-4EAB54414B0C}"/>
              </a:ext>
            </a:extLst>
          </p:cNvPr>
          <p:cNvSpPr>
            <a:spLocks xmlns:a="http://schemas.openxmlformats.org/drawingml/2006/main" noGrp="1"/>
          </p:cNvSpPr>
          <p:nvPr/>
        </p:nvSpPr>
        <p:spPr>
          <a:xfrm xmlns:a="http://schemas.openxmlformats.org/drawingml/2006/main">
            <a:off x="8154924"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Dec</a:t>
            </a:r>
            <a:endParaRPr sz="800"/>
          </a:p>
        </p:txBody>
      </p:sp>
      <p:sp>
        <p:nvSpPr>
          <p:cNvPr id="34" name="Text 32">
            <a:extLst xmlns:a="http://schemas.openxmlformats.org/drawingml/2006/main">
              <a:ext uri="{FF2B5EF4-FFF2-40B4-BE49-F238E27FC236}">
                <a16:creationId xmlns:a16="http://schemas.microsoft.com/office/drawing/2014/main" id="{5288CEDC-3093-4875-BACC-ECFB70218B2B}"/>
              </a:ext>
            </a:extLst>
          </p:cNvPr>
          <p:cNvSpPr>
            <a:spLocks xmlns:a="http://schemas.openxmlformats.org/drawingml/2006/main" noGrp="1"/>
          </p:cNvSpPr>
          <p:nvPr/>
        </p:nvSpPr>
        <p:spPr>
          <a:xfrm xmlns:a="http://schemas.openxmlformats.org/drawingml/2006/main">
            <a:off x="8590940"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J</a:t>
            </a:r>
            <a:endParaRPr sz="800"/>
          </a:p>
        </p:txBody>
      </p:sp>
      <p:sp>
        <p:nvSpPr>
          <p:cNvPr id="35" name="Text 33">
            <a:extLst xmlns:a="http://schemas.openxmlformats.org/drawingml/2006/main">
              <a:ext uri="{FF2B5EF4-FFF2-40B4-BE49-F238E27FC236}">
                <a16:creationId xmlns:a16="http://schemas.microsoft.com/office/drawing/2014/main" id="{9C9D8097-D4E3-4B40-A721-82B9B723CFB3}"/>
              </a:ext>
            </a:extLst>
          </p:cNvPr>
          <p:cNvSpPr>
            <a:spLocks xmlns:a="http://schemas.openxmlformats.org/drawingml/2006/main" noGrp="1"/>
          </p:cNvSpPr>
          <p:nvPr/>
        </p:nvSpPr>
        <p:spPr>
          <a:xfrm xmlns:a="http://schemas.openxmlformats.org/drawingml/2006/main">
            <a:off x="9026957"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Feb27</a:t>
            </a:r>
            <a:endParaRPr sz="800"/>
          </a:p>
        </p:txBody>
      </p:sp>
      <p:sp>
        <p:nvSpPr>
          <p:cNvPr id="36" name="Text 34">
            <a:extLst xmlns:a="http://schemas.openxmlformats.org/drawingml/2006/main">
              <a:ext uri="{FF2B5EF4-FFF2-40B4-BE49-F238E27FC236}">
                <a16:creationId xmlns:a16="http://schemas.microsoft.com/office/drawing/2014/main" id="{9FC0BB6A-8818-47B5-9D29-9585F786C89E}"/>
              </a:ext>
            </a:extLst>
          </p:cNvPr>
          <p:cNvSpPr>
            <a:spLocks xmlns:a="http://schemas.openxmlformats.org/drawingml/2006/main" noGrp="1"/>
          </p:cNvSpPr>
          <p:nvPr/>
        </p:nvSpPr>
        <p:spPr>
          <a:xfrm xmlns:a="http://schemas.openxmlformats.org/drawingml/2006/main">
            <a:off x="9462973"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M</a:t>
            </a:r>
            <a:endParaRPr sz="800"/>
          </a:p>
        </p:txBody>
      </p:sp>
      <p:sp>
        <p:nvSpPr>
          <p:cNvPr id="37" name="Text 35">
            <a:extLst xmlns:a="http://schemas.openxmlformats.org/drawingml/2006/main">
              <a:ext uri="{FF2B5EF4-FFF2-40B4-BE49-F238E27FC236}">
                <a16:creationId xmlns:a16="http://schemas.microsoft.com/office/drawing/2014/main" id="{EB13413F-1499-41AA-B0E8-CD6E74F49209}"/>
              </a:ext>
            </a:extLst>
          </p:cNvPr>
          <p:cNvSpPr>
            <a:spLocks xmlns:a="http://schemas.openxmlformats.org/drawingml/2006/main" noGrp="1"/>
          </p:cNvSpPr>
          <p:nvPr/>
        </p:nvSpPr>
        <p:spPr>
          <a:xfrm xmlns:a="http://schemas.openxmlformats.org/drawingml/2006/main">
            <a:off x="9898990"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Apr</a:t>
            </a:r>
            <a:endParaRPr sz="800"/>
          </a:p>
        </p:txBody>
      </p:sp>
      <p:sp>
        <p:nvSpPr>
          <p:cNvPr id="38" name="Text 36">
            <a:extLst xmlns:a="http://schemas.openxmlformats.org/drawingml/2006/main">
              <a:ext uri="{FF2B5EF4-FFF2-40B4-BE49-F238E27FC236}">
                <a16:creationId xmlns:a16="http://schemas.microsoft.com/office/drawing/2014/main" id="{C54477D3-6DB2-419A-B3E0-928421DFE918}"/>
              </a:ext>
            </a:extLst>
          </p:cNvPr>
          <p:cNvSpPr>
            <a:spLocks xmlns:a="http://schemas.openxmlformats.org/drawingml/2006/main" noGrp="1"/>
          </p:cNvSpPr>
          <p:nvPr/>
        </p:nvSpPr>
        <p:spPr>
          <a:xfrm xmlns:a="http://schemas.openxmlformats.org/drawingml/2006/main">
            <a:off x="10335006"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M</a:t>
            </a:r>
            <a:endParaRPr sz="800"/>
          </a:p>
        </p:txBody>
      </p:sp>
      <p:sp>
        <p:nvSpPr>
          <p:cNvPr id="39" name="Text 37">
            <a:extLst xmlns:a="http://schemas.openxmlformats.org/drawingml/2006/main">
              <a:ext uri="{FF2B5EF4-FFF2-40B4-BE49-F238E27FC236}">
                <a16:creationId xmlns:a16="http://schemas.microsoft.com/office/drawing/2014/main" id="{1223A531-4438-4B61-950E-95E9561025CA}"/>
              </a:ext>
            </a:extLst>
          </p:cNvPr>
          <p:cNvSpPr>
            <a:spLocks xmlns:a="http://schemas.openxmlformats.org/drawingml/2006/main" noGrp="1"/>
          </p:cNvSpPr>
          <p:nvPr/>
        </p:nvSpPr>
        <p:spPr>
          <a:xfrm xmlns:a="http://schemas.openxmlformats.org/drawingml/2006/main">
            <a:off x="10771022"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1F3A5F"/>
                </a:solidFill>
                <a:latin typeface="Calibri"/>
                <a:ea typeface="Calibri"/>
                <a:cs typeface="Calibri"/>
              </a:rPr>
              <a:t>Jun</a:t>
            </a:r>
            <a:endParaRPr sz="800"/>
          </a:p>
        </p:txBody>
      </p:sp>
      <p:sp>
        <p:nvSpPr>
          <p:cNvPr id="40" name="Text 38">
            <a:extLst xmlns:a="http://schemas.openxmlformats.org/drawingml/2006/main">
              <a:ext uri="{FF2B5EF4-FFF2-40B4-BE49-F238E27FC236}">
                <a16:creationId xmlns:a16="http://schemas.microsoft.com/office/drawing/2014/main" id="{F0447CD1-842F-4784-9D4E-CDD244792821}"/>
              </a:ext>
            </a:extLst>
          </p:cNvPr>
          <p:cNvSpPr>
            <a:spLocks xmlns:a="http://schemas.openxmlformats.org/drawingml/2006/main" noGrp="1"/>
          </p:cNvSpPr>
          <p:nvPr/>
        </p:nvSpPr>
        <p:spPr>
          <a:xfrm xmlns:a="http://schemas.openxmlformats.org/drawingml/2006/main">
            <a:off x="11207039" y="1380744"/>
            <a:ext cx="43601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8A7F79"/>
                </a:solidFill>
                <a:latin typeface="Calibri"/>
                <a:ea typeface="Calibri"/>
                <a:cs typeface="Calibri"/>
              </a:rPr>
              <a:t>J</a:t>
            </a:r>
            <a:endParaRPr sz="800"/>
          </a:p>
        </p:txBody>
      </p:sp>
      <p:sp>
        <p:nvSpPr>
          <p:cNvPr id="41" name="Text 39">
            <a:extLst xmlns:a="http://schemas.openxmlformats.org/drawingml/2006/main">
              <a:ext uri="{FF2B5EF4-FFF2-40B4-BE49-F238E27FC236}">
                <a16:creationId xmlns:a16="http://schemas.microsoft.com/office/drawing/2014/main" id="{1FA80EB1-14C7-4189-B6D9-227DCF75D6F6}"/>
              </a:ext>
            </a:extLst>
          </p:cNvPr>
          <p:cNvSpPr>
            <a:spLocks xmlns:a="http://schemas.openxmlformats.org/drawingml/2006/main" noGrp="1"/>
          </p:cNvSpPr>
          <p:nvPr/>
        </p:nvSpPr>
        <p:spPr>
          <a:xfrm xmlns:a="http://schemas.openxmlformats.org/drawingml/2006/main">
            <a:off x="548640" y="1746504"/>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M1 · Inception &amp; Mobilization</a:t>
            </a:r>
            <a:endParaRPr sz="950"/>
          </a:p>
        </p:txBody>
      </p:sp>
      <p:sp>
        <p:nvSpPr>
          <p:cNvPr id="42" name="Shape 40">
            <a:extLst xmlns:a="http://schemas.openxmlformats.org/drawingml/2006/main">
              <a:ext uri="{FF2B5EF4-FFF2-40B4-BE49-F238E27FC236}">
                <a16:creationId xmlns:a16="http://schemas.microsoft.com/office/drawing/2014/main" id="{4593C83C-208F-4AF1-8B7C-04F1FCE3ADE4}"/>
              </a:ext>
            </a:extLst>
          </p:cNvPr>
          <p:cNvSpPr>
            <a:spLocks xmlns:a="http://schemas.openxmlformats.org/drawingml/2006/main" noGrp="1"/>
          </p:cNvSpPr>
          <p:nvPr/>
        </p:nvSpPr>
        <p:spPr>
          <a:xfrm xmlns:a="http://schemas.openxmlformats.org/drawingml/2006/main">
            <a:off x="3794760" y="1764792"/>
            <a:ext cx="274320" cy="233172"/>
          </a:xfrm>
          <a:prstGeom xmlns:a="http://schemas.openxmlformats.org/drawingml/2006/main" prst="roundRect">
            <a:avLst>
              <a:gd name="adj" fmla="val 19608"/>
            </a:avLst>
          </a:prstGeom>
          <a:solidFill xmlns:a="http://schemas.openxmlformats.org/drawingml/2006/main">
            <a:srgbClr val="595959"/>
          </a:solidFill>
          <a:effectLst xmlns:a="http://schemas.openxmlformats.org/drawingml/2006/main">
            <a:outerShdw blurRad="88900" dist="25400" dir="5400000" sx="100000" sy="100000" kx="0" ky="0" algn="bl" rotWithShape="0">
              <a:srgbClr val="B4A9A2">
                <a:alpha val="22000"/>
              </a:srgbClr>
            </a:outerShdw>
          </a:effectLst>
        </p:spPr>
      </p:sp>
      <p:sp>
        <p:nvSpPr>
          <p:cNvPr id="43" name="Text 41">
            <a:extLst xmlns:a="http://schemas.openxmlformats.org/drawingml/2006/main">
              <a:ext uri="{FF2B5EF4-FFF2-40B4-BE49-F238E27FC236}">
                <a16:creationId xmlns:a16="http://schemas.microsoft.com/office/drawing/2014/main" id="{A61C4B54-4F84-406D-AFBA-43A6B2D418B0}"/>
              </a:ext>
            </a:extLst>
          </p:cNvPr>
          <p:cNvSpPr>
            <a:spLocks xmlns:a="http://schemas.openxmlformats.org/drawingml/2006/main" noGrp="1"/>
          </p:cNvSpPr>
          <p:nvPr/>
        </p:nvSpPr>
        <p:spPr>
          <a:xfrm xmlns:a="http://schemas.openxmlformats.org/drawingml/2006/main">
            <a:off x="548640" y="2144268"/>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M2 · Solution Design (HLD/LLD/API)</a:t>
            </a:r>
            <a:endParaRPr sz="950"/>
          </a:p>
        </p:txBody>
      </p:sp>
      <p:sp>
        <p:nvSpPr>
          <p:cNvPr id="44" name="Shape 42">
            <a:extLst xmlns:a="http://schemas.openxmlformats.org/drawingml/2006/main">
              <a:ext uri="{FF2B5EF4-FFF2-40B4-BE49-F238E27FC236}">
                <a16:creationId xmlns:a16="http://schemas.microsoft.com/office/drawing/2014/main" id="{058AFAEB-E312-4DAF-BB2A-B2FBF1695B91}"/>
              </a:ext>
            </a:extLst>
          </p:cNvPr>
          <p:cNvSpPr>
            <a:spLocks xmlns:a="http://schemas.openxmlformats.org/drawingml/2006/main" noGrp="1"/>
          </p:cNvSpPr>
          <p:nvPr/>
        </p:nvSpPr>
        <p:spPr>
          <a:xfrm xmlns:a="http://schemas.openxmlformats.org/drawingml/2006/main">
            <a:off x="4056370" y="2162556"/>
            <a:ext cx="305211" cy="233172"/>
          </a:xfrm>
          <a:prstGeom xmlns:a="http://schemas.openxmlformats.org/drawingml/2006/main" prst="roundRect">
            <a:avLst>
              <a:gd name="adj" fmla="val 19608"/>
            </a:avLst>
          </a:prstGeom>
          <a:solidFill xmlns:a="http://schemas.openxmlformats.org/drawingml/2006/main">
            <a:srgbClr val="595959"/>
          </a:solidFill>
          <a:effectLst xmlns:a="http://schemas.openxmlformats.org/drawingml/2006/main">
            <a:outerShdw blurRad="88900" dist="25400" dir="5400000" sx="100000" sy="100000" kx="0" ky="0" algn="bl" rotWithShape="0">
              <a:srgbClr val="B4A9A2">
                <a:alpha val="22000"/>
              </a:srgbClr>
            </a:outerShdw>
          </a:effectLst>
        </p:spPr>
      </p:sp>
      <p:sp>
        <p:nvSpPr>
          <p:cNvPr id="45" name="Text 43">
            <a:extLst xmlns:a="http://schemas.openxmlformats.org/drawingml/2006/main">
              <a:ext uri="{FF2B5EF4-FFF2-40B4-BE49-F238E27FC236}">
                <a16:creationId xmlns:a16="http://schemas.microsoft.com/office/drawing/2014/main" id="{1E66B701-509F-4A58-A005-22BC1534D7FA}"/>
              </a:ext>
            </a:extLst>
          </p:cNvPr>
          <p:cNvSpPr>
            <a:spLocks xmlns:a="http://schemas.openxmlformats.org/drawingml/2006/main" noGrp="1"/>
          </p:cNvSpPr>
          <p:nvPr/>
        </p:nvSpPr>
        <p:spPr>
          <a:xfrm xmlns:a="http://schemas.openxmlformats.org/drawingml/2006/main">
            <a:off x="548640" y="2542032"/>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M3 · Core Dev — Lead &amp; Activity</a:t>
            </a:r>
            <a:endParaRPr sz="950"/>
          </a:p>
        </p:txBody>
      </p:sp>
      <p:sp>
        <p:nvSpPr>
          <p:cNvPr id="46" name="Shape 44">
            <a:extLst xmlns:a="http://schemas.openxmlformats.org/drawingml/2006/main">
              <a:ext uri="{FF2B5EF4-FFF2-40B4-BE49-F238E27FC236}">
                <a16:creationId xmlns:a16="http://schemas.microsoft.com/office/drawing/2014/main" id="{CBAB74BA-64CA-4324-B29F-21210DC7927D}"/>
              </a:ext>
            </a:extLst>
          </p:cNvPr>
          <p:cNvSpPr>
            <a:spLocks xmlns:a="http://schemas.openxmlformats.org/drawingml/2006/main" noGrp="1"/>
          </p:cNvSpPr>
          <p:nvPr/>
        </p:nvSpPr>
        <p:spPr>
          <a:xfrm xmlns:a="http://schemas.openxmlformats.org/drawingml/2006/main">
            <a:off x="4361581" y="2560320"/>
            <a:ext cx="1308049" cy="233172"/>
          </a:xfrm>
          <a:prstGeom xmlns:a="http://schemas.openxmlformats.org/drawingml/2006/main" prst="roundRect">
            <a:avLst>
              <a:gd name="adj" fmla="val 19608"/>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47" name="Text 45">
            <a:extLst xmlns:a="http://schemas.openxmlformats.org/drawingml/2006/main">
              <a:ext uri="{FF2B5EF4-FFF2-40B4-BE49-F238E27FC236}">
                <a16:creationId xmlns:a16="http://schemas.microsoft.com/office/drawing/2014/main" id="{BC712DD2-970C-4204-A8FF-5622AFE27717}"/>
              </a:ext>
            </a:extLst>
          </p:cNvPr>
          <p:cNvSpPr>
            <a:spLocks xmlns:a="http://schemas.openxmlformats.org/drawingml/2006/main" noGrp="1"/>
          </p:cNvSpPr>
          <p:nvPr/>
        </p:nvSpPr>
        <p:spPr>
          <a:xfrm xmlns:a="http://schemas.openxmlformats.org/drawingml/2006/main">
            <a:off x="548640" y="2939796"/>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M4 · AMS SIT &amp; UAT</a:t>
            </a:r>
            <a:endParaRPr sz="950"/>
          </a:p>
        </p:txBody>
      </p:sp>
      <p:sp>
        <p:nvSpPr>
          <p:cNvPr id="48" name="Shape 46">
            <a:extLst xmlns:a="http://schemas.openxmlformats.org/drawingml/2006/main">
              <a:ext uri="{FF2B5EF4-FFF2-40B4-BE49-F238E27FC236}">
                <a16:creationId xmlns:a16="http://schemas.microsoft.com/office/drawing/2014/main" id="{FA8E49F6-A1FA-48FB-ABC3-9FCB8D21C8E3}"/>
              </a:ext>
            </a:extLst>
          </p:cNvPr>
          <p:cNvSpPr>
            <a:spLocks xmlns:a="http://schemas.openxmlformats.org/drawingml/2006/main" noGrp="1"/>
          </p:cNvSpPr>
          <p:nvPr/>
        </p:nvSpPr>
        <p:spPr>
          <a:xfrm xmlns:a="http://schemas.openxmlformats.org/drawingml/2006/main">
            <a:off x="5669631" y="2958084"/>
            <a:ext cx="741228" cy="233172"/>
          </a:xfrm>
          <a:prstGeom xmlns:a="http://schemas.openxmlformats.org/drawingml/2006/main" prst="roundRect">
            <a:avLst>
              <a:gd name="adj" fmla="val 19608"/>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49" name="Text 47">
            <a:extLst xmlns:a="http://schemas.openxmlformats.org/drawingml/2006/main">
              <a:ext uri="{FF2B5EF4-FFF2-40B4-BE49-F238E27FC236}">
                <a16:creationId xmlns:a16="http://schemas.microsoft.com/office/drawing/2014/main" id="{1E5D6947-CDEF-4B6C-9051-C6FF53CB1B98}"/>
              </a:ext>
            </a:extLst>
          </p:cNvPr>
          <p:cNvSpPr>
            <a:spLocks xmlns:a="http://schemas.openxmlformats.org/drawingml/2006/main" noGrp="1"/>
          </p:cNvSpPr>
          <p:nvPr/>
        </p:nvSpPr>
        <p:spPr>
          <a:xfrm xmlns:a="http://schemas.openxmlformats.org/drawingml/2006/main">
            <a:off x="548640" y="3337560"/>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M5 · LMS SIT &amp; UAT (parallel)</a:t>
            </a:r>
            <a:endParaRPr sz="950"/>
          </a:p>
        </p:txBody>
      </p:sp>
      <p:sp>
        <p:nvSpPr>
          <p:cNvPr id="50" name="Shape 48">
            <a:extLst xmlns:a="http://schemas.openxmlformats.org/drawingml/2006/main">
              <a:ext uri="{FF2B5EF4-FFF2-40B4-BE49-F238E27FC236}">
                <a16:creationId xmlns:a16="http://schemas.microsoft.com/office/drawing/2014/main" id="{29E12EF5-B4B3-4260-8E83-534FA24B62A9}"/>
              </a:ext>
            </a:extLst>
          </p:cNvPr>
          <p:cNvSpPr>
            <a:spLocks xmlns:a="http://schemas.openxmlformats.org/drawingml/2006/main" noGrp="1"/>
          </p:cNvSpPr>
          <p:nvPr/>
        </p:nvSpPr>
        <p:spPr>
          <a:xfrm xmlns:a="http://schemas.openxmlformats.org/drawingml/2006/main">
            <a:off x="5669631" y="3355848"/>
            <a:ext cx="741228" cy="233172"/>
          </a:xfrm>
          <a:prstGeom xmlns:a="http://schemas.openxmlformats.org/drawingml/2006/main" prst="roundRect">
            <a:avLst>
              <a:gd name="adj" fmla="val 19608"/>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1" name="Text 49">
            <a:extLst xmlns:a="http://schemas.openxmlformats.org/drawingml/2006/main">
              <a:ext uri="{FF2B5EF4-FFF2-40B4-BE49-F238E27FC236}">
                <a16:creationId xmlns:a16="http://schemas.microsoft.com/office/drawing/2014/main" id="{BC560E63-355B-478B-AB82-D28363AF220F}"/>
              </a:ext>
            </a:extLst>
          </p:cNvPr>
          <p:cNvSpPr>
            <a:spLocks xmlns:a="http://schemas.openxmlformats.org/drawingml/2006/main" noGrp="1"/>
          </p:cNvSpPr>
          <p:nvPr/>
        </p:nvSpPr>
        <p:spPr>
          <a:xfrm xmlns:a="http://schemas.openxmlformats.org/drawingml/2006/main">
            <a:off x="548640" y="3735324"/>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M6 · AMS CUG release</a:t>
            </a:r>
            <a:endParaRPr sz="950"/>
          </a:p>
        </p:txBody>
      </p:sp>
      <p:sp>
        <p:nvSpPr>
          <p:cNvPr id="52" name="Shape 50">
            <a:extLst xmlns:a="http://schemas.openxmlformats.org/drawingml/2006/main">
              <a:ext uri="{FF2B5EF4-FFF2-40B4-BE49-F238E27FC236}">
                <a16:creationId xmlns:a16="http://schemas.microsoft.com/office/drawing/2014/main" id="{A6B033F9-E4F7-4255-AF68-54A014BFB3F6}"/>
              </a:ext>
            </a:extLst>
          </p:cNvPr>
          <p:cNvSpPr>
            <a:spLocks xmlns:a="http://schemas.openxmlformats.org/drawingml/2006/main" noGrp="1"/>
          </p:cNvSpPr>
          <p:nvPr/>
        </p:nvSpPr>
        <p:spPr>
          <a:xfrm xmlns:a="http://schemas.openxmlformats.org/drawingml/2006/main">
            <a:off x="6628867" y="3753612"/>
            <a:ext cx="436016" cy="233172"/>
          </a:xfrm>
          <a:prstGeom xmlns:a="http://schemas.openxmlformats.org/drawingml/2006/main" prst="roundRect">
            <a:avLst>
              <a:gd name="adj" fmla="val 19608"/>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53" name="Text 51">
            <a:extLst xmlns:a="http://schemas.openxmlformats.org/drawingml/2006/main">
              <a:ext uri="{FF2B5EF4-FFF2-40B4-BE49-F238E27FC236}">
                <a16:creationId xmlns:a16="http://schemas.microsoft.com/office/drawing/2014/main" id="{54431E9B-F3D2-4F61-B483-D419748EB13B}"/>
              </a:ext>
            </a:extLst>
          </p:cNvPr>
          <p:cNvSpPr>
            <a:spLocks xmlns:a="http://schemas.openxmlformats.org/drawingml/2006/main" noGrp="1"/>
          </p:cNvSpPr>
          <p:nvPr/>
        </p:nvSpPr>
        <p:spPr>
          <a:xfrm xmlns:a="http://schemas.openxmlformats.org/drawingml/2006/main">
            <a:off x="548640" y="4133088"/>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M7 · AMS full roll-out &amp; stabilize</a:t>
            </a:r>
            <a:endParaRPr sz="950"/>
          </a:p>
        </p:txBody>
      </p:sp>
      <p:sp>
        <p:nvSpPr>
          <p:cNvPr id="54" name="Shape 52">
            <a:extLst xmlns:a="http://schemas.openxmlformats.org/drawingml/2006/main">
              <a:ext uri="{FF2B5EF4-FFF2-40B4-BE49-F238E27FC236}">
                <a16:creationId xmlns:a16="http://schemas.microsoft.com/office/drawing/2014/main" id="{5A33BCB5-98AA-486C-8349-05FFCCDFCAD4}"/>
              </a:ext>
            </a:extLst>
          </p:cNvPr>
          <p:cNvSpPr>
            <a:spLocks xmlns:a="http://schemas.openxmlformats.org/drawingml/2006/main" noGrp="1"/>
          </p:cNvSpPr>
          <p:nvPr/>
        </p:nvSpPr>
        <p:spPr>
          <a:xfrm xmlns:a="http://schemas.openxmlformats.org/drawingml/2006/main">
            <a:off x="7064883" y="4151376"/>
            <a:ext cx="1308049" cy="233172"/>
          </a:xfrm>
          <a:prstGeom xmlns:a="http://schemas.openxmlformats.org/drawingml/2006/main" prst="roundRect">
            <a:avLst>
              <a:gd name="adj" fmla="val 19608"/>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sp>
        <p:nvSpPr>
          <p:cNvPr id="55" name="Text 53">
            <a:extLst xmlns:a="http://schemas.openxmlformats.org/drawingml/2006/main">
              <a:ext uri="{FF2B5EF4-FFF2-40B4-BE49-F238E27FC236}">
                <a16:creationId xmlns:a16="http://schemas.microsoft.com/office/drawing/2014/main" id="{BC68B6B8-5BC7-4E3E-8A41-407C8D5D3FCF}"/>
              </a:ext>
            </a:extLst>
          </p:cNvPr>
          <p:cNvSpPr>
            <a:spLocks xmlns:a="http://schemas.openxmlformats.org/drawingml/2006/main" noGrp="1"/>
          </p:cNvSpPr>
          <p:nvPr/>
        </p:nvSpPr>
        <p:spPr>
          <a:xfrm xmlns:a="http://schemas.openxmlformats.org/drawingml/2006/main">
            <a:off x="548640" y="4530852"/>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M8 · LMS CUG (select channels)</a:t>
            </a:r>
            <a:endParaRPr sz="950"/>
          </a:p>
        </p:txBody>
      </p:sp>
      <p:sp>
        <p:nvSpPr>
          <p:cNvPr id="56" name="Shape 54">
            <a:extLst xmlns:a="http://schemas.openxmlformats.org/drawingml/2006/main">
              <a:ext uri="{FF2B5EF4-FFF2-40B4-BE49-F238E27FC236}">
                <a16:creationId xmlns:a16="http://schemas.microsoft.com/office/drawing/2014/main" id="{9CF349DC-2F7C-42B5-B433-076A50B58721}"/>
              </a:ext>
            </a:extLst>
          </p:cNvPr>
          <p:cNvSpPr>
            <a:spLocks xmlns:a="http://schemas.openxmlformats.org/drawingml/2006/main" noGrp="1"/>
          </p:cNvSpPr>
          <p:nvPr/>
        </p:nvSpPr>
        <p:spPr>
          <a:xfrm xmlns:a="http://schemas.openxmlformats.org/drawingml/2006/main">
            <a:off x="8372932" y="4549140"/>
            <a:ext cx="1220846" cy="233172"/>
          </a:xfrm>
          <a:prstGeom xmlns:a="http://schemas.openxmlformats.org/drawingml/2006/main" prst="roundRect">
            <a:avLst>
              <a:gd name="adj" fmla="val 19608"/>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7" name="Text 55">
            <a:extLst xmlns:a="http://schemas.openxmlformats.org/drawingml/2006/main">
              <a:ext uri="{FF2B5EF4-FFF2-40B4-BE49-F238E27FC236}">
                <a16:creationId xmlns:a16="http://schemas.microsoft.com/office/drawing/2014/main" id="{AE9B3B35-0149-4DA0-A2CE-1A1AC448B68E}"/>
              </a:ext>
            </a:extLst>
          </p:cNvPr>
          <p:cNvSpPr>
            <a:spLocks xmlns:a="http://schemas.openxmlformats.org/drawingml/2006/main" noGrp="1"/>
          </p:cNvSpPr>
          <p:nvPr/>
        </p:nvSpPr>
        <p:spPr>
          <a:xfrm xmlns:a="http://schemas.openxmlformats.org/drawingml/2006/main">
            <a:off x="548640" y="4928616"/>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M9 · LMS full roll-out</a:t>
            </a:r>
            <a:endParaRPr sz="950"/>
          </a:p>
        </p:txBody>
      </p:sp>
      <p:sp>
        <p:nvSpPr>
          <p:cNvPr id="58" name="Shape 56">
            <a:extLst xmlns:a="http://schemas.openxmlformats.org/drawingml/2006/main">
              <a:ext uri="{FF2B5EF4-FFF2-40B4-BE49-F238E27FC236}">
                <a16:creationId xmlns:a16="http://schemas.microsoft.com/office/drawing/2014/main" id="{8B86743E-4FED-460F-9ABA-AA8EC70348C8}"/>
              </a:ext>
            </a:extLst>
          </p:cNvPr>
          <p:cNvSpPr>
            <a:spLocks xmlns:a="http://schemas.openxmlformats.org/drawingml/2006/main" noGrp="1"/>
          </p:cNvSpPr>
          <p:nvPr/>
        </p:nvSpPr>
        <p:spPr>
          <a:xfrm xmlns:a="http://schemas.openxmlformats.org/drawingml/2006/main">
            <a:off x="9593778" y="4946904"/>
            <a:ext cx="872033" cy="233172"/>
          </a:xfrm>
          <a:prstGeom xmlns:a="http://schemas.openxmlformats.org/drawingml/2006/main" prst="roundRect">
            <a:avLst>
              <a:gd name="adj" fmla="val 19608"/>
            </a:avLst>
          </a:prstGeom>
          <a:solidFill xmlns:a="http://schemas.openxmlformats.org/drawingml/2006/main">
            <a:srgbClr val="1F3A5F"/>
          </a:solidFill>
          <a:effectLst xmlns:a="http://schemas.openxmlformats.org/drawingml/2006/main">
            <a:outerShdw blurRad="88900" dist="25400" dir="5400000" sx="100000" sy="100000" kx="0" ky="0" algn="bl" rotWithShape="0">
              <a:srgbClr val="B4A9A2">
                <a:alpha val="22000"/>
              </a:srgbClr>
            </a:outerShdw>
          </a:effectLst>
        </p:spPr>
      </p:sp>
      <p:sp>
        <p:nvSpPr>
          <p:cNvPr id="59" name="Text 57">
            <a:extLst xmlns:a="http://schemas.openxmlformats.org/drawingml/2006/main">
              <a:ext uri="{FF2B5EF4-FFF2-40B4-BE49-F238E27FC236}">
                <a16:creationId xmlns:a16="http://schemas.microsoft.com/office/drawing/2014/main" id="{130AAAA8-2ADC-4B8A-ACCD-3F8C9B72C7F2}"/>
              </a:ext>
            </a:extLst>
          </p:cNvPr>
          <p:cNvSpPr>
            <a:spLocks xmlns:a="http://schemas.openxmlformats.org/drawingml/2006/main" noGrp="1"/>
          </p:cNvSpPr>
          <p:nvPr/>
        </p:nvSpPr>
        <p:spPr>
          <a:xfrm xmlns:a="http://schemas.openxmlformats.org/drawingml/2006/main">
            <a:off x="548640" y="5326380"/>
            <a:ext cx="3108960" cy="2697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50" b="1">
                <a:solidFill>
                  <a:srgbClr val="262626"/>
                </a:solidFill>
                <a:latin typeface="Poppins"/>
                <a:ea typeface="Poppins"/>
                <a:cs typeface="Poppins"/>
              </a:rPr>
              <a:t>M10 · AMS &amp; LMS enhancements</a:t>
            </a:r>
            <a:endParaRPr sz="950"/>
          </a:p>
        </p:txBody>
      </p:sp>
      <p:sp>
        <p:nvSpPr>
          <p:cNvPr id="60" name="Shape 58">
            <a:extLst xmlns:a="http://schemas.openxmlformats.org/drawingml/2006/main">
              <a:ext uri="{FF2B5EF4-FFF2-40B4-BE49-F238E27FC236}">
                <a16:creationId xmlns:a16="http://schemas.microsoft.com/office/drawing/2014/main" id="{CD8B5CF8-5F2E-49C3-BB52-2985416E947B}"/>
              </a:ext>
            </a:extLst>
          </p:cNvPr>
          <p:cNvSpPr>
            <a:spLocks xmlns:a="http://schemas.openxmlformats.org/drawingml/2006/main" noGrp="1"/>
          </p:cNvSpPr>
          <p:nvPr/>
        </p:nvSpPr>
        <p:spPr>
          <a:xfrm xmlns:a="http://schemas.openxmlformats.org/drawingml/2006/main">
            <a:off x="10465811" y="5344668"/>
            <a:ext cx="872033" cy="233172"/>
          </a:xfrm>
          <a:prstGeom xmlns:a="http://schemas.openxmlformats.org/drawingml/2006/main" prst="roundRect">
            <a:avLst>
              <a:gd name="adj" fmla="val 19608"/>
            </a:avLst>
          </a:prstGeom>
          <a:solidFill xmlns:a="http://schemas.openxmlformats.org/drawingml/2006/main">
            <a:srgbClr val="17B3A3"/>
          </a:solidFill>
          <a:effectLst xmlns:a="http://schemas.openxmlformats.org/drawingml/2006/main">
            <a:outerShdw blurRad="88900" dist="25400" dir="5400000" sx="100000" sy="100000" kx="0" ky="0" algn="bl" rotWithShape="0">
              <a:srgbClr val="B4A9A2">
                <a:alpha val="22000"/>
              </a:srgbClr>
            </a:outerShdw>
          </a:effectLst>
        </p:spPr>
      </p:sp>
      <p:sp>
        <p:nvSpPr>
          <p:cNvPr id="61" name="Shape 59">
            <a:extLst xmlns:a="http://schemas.openxmlformats.org/drawingml/2006/main">
              <a:ext uri="{FF2B5EF4-FFF2-40B4-BE49-F238E27FC236}">
                <a16:creationId xmlns:a16="http://schemas.microsoft.com/office/drawing/2014/main" id="{41ECEDEC-F0F3-41CF-816E-ACC7D9B593CA}"/>
              </a:ext>
            </a:extLst>
          </p:cNvPr>
          <p:cNvSpPr>
            <a:spLocks xmlns:a="http://schemas.openxmlformats.org/drawingml/2006/main" noGrp="1"/>
          </p:cNvSpPr>
          <p:nvPr/>
        </p:nvSpPr>
        <p:spPr>
          <a:xfrm xmlns:a="http://schemas.openxmlformats.org/drawingml/2006/main">
            <a:off x="6628867" y="1691640"/>
            <a:ext cx="0" cy="3977640"/>
          </a:xfrm>
          <a:prstGeom xmlns:a="http://schemas.openxmlformats.org/drawingml/2006/main" prst="line">
            <a:avLst/>
          </a:prstGeom>
          <a:noFill xmlns:a="http://schemas.openxmlformats.org/drawingml/2006/main"/>
          <a:ln xmlns:a="http://schemas.openxmlformats.org/drawingml/2006/main" w="12700">
            <a:solidFill>
              <a:srgbClr val="EE2B76"/>
            </a:solidFill>
            <a:prstDash val="dash"/>
          </a:ln>
        </p:spPr>
      </p:sp>
      <p:sp>
        <p:nvSpPr>
          <p:cNvPr id="62" name="Shape 60">
            <a:extLst xmlns:a="http://schemas.openxmlformats.org/drawingml/2006/main">
              <a:ext uri="{FF2B5EF4-FFF2-40B4-BE49-F238E27FC236}">
                <a16:creationId xmlns:a16="http://schemas.microsoft.com/office/drawing/2014/main" id="{B04FB99F-E09F-4782-8145-5864599CCCEF}"/>
              </a:ext>
            </a:extLst>
          </p:cNvPr>
          <p:cNvSpPr>
            <a:spLocks xmlns:a="http://schemas.openxmlformats.org/drawingml/2006/main" noGrp="1"/>
          </p:cNvSpPr>
          <p:nvPr/>
        </p:nvSpPr>
        <p:spPr>
          <a:xfrm xmlns:a="http://schemas.openxmlformats.org/drawingml/2006/main">
            <a:off x="7064883" y="1691640"/>
            <a:ext cx="0" cy="3977640"/>
          </a:xfrm>
          <a:prstGeom xmlns:a="http://schemas.openxmlformats.org/drawingml/2006/main" prst="line">
            <a:avLst/>
          </a:prstGeom>
          <a:noFill xmlns:a="http://schemas.openxmlformats.org/drawingml/2006/main"/>
          <a:ln xmlns:a="http://schemas.openxmlformats.org/drawingml/2006/main" w="12700">
            <a:solidFill>
              <a:srgbClr val="EE2B76"/>
            </a:solidFill>
            <a:prstDash val="dash"/>
          </a:ln>
        </p:spPr>
      </p:sp>
      <p:sp>
        <p:nvSpPr>
          <p:cNvPr id="63" name="Shape 61">
            <a:extLst xmlns:a="http://schemas.openxmlformats.org/drawingml/2006/main">
              <a:ext uri="{FF2B5EF4-FFF2-40B4-BE49-F238E27FC236}">
                <a16:creationId xmlns:a16="http://schemas.microsoft.com/office/drawing/2014/main" id="{1D7D213D-FB18-4D24-9BBD-4C41E2ACC247}"/>
              </a:ext>
            </a:extLst>
          </p:cNvPr>
          <p:cNvSpPr>
            <a:spLocks xmlns:a="http://schemas.openxmlformats.org/drawingml/2006/main" noGrp="1"/>
          </p:cNvSpPr>
          <p:nvPr/>
        </p:nvSpPr>
        <p:spPr>
          <a:xfrm xmlns:a="http://schemas.openxmlformats.org/drawingml/2006/main">
            <a:off x="8372932" y="1691640"/>
            <a:ext cx="0" cy="3977640"/>
          </a:xfrm>
          <a:prstGeom xmlns:a="http://schemas.openxmlformats.org/drawingml/2006/main" prst="line">
            <a:avLst/>
          </a:prstGeom>
          <a:noFill xmlns:a="http://schemas.openxmlformats.org/drawingml/2006/main"/>
          <a:ln xmlns:a="http://schemas.openxmlformats.org/drawingml/2006/main" w="12700">
            <a:solidFill>
              <a:srgbClr val="EE2B76"/>
            </a:solidFill>
            <a:prstDash val="dash"/>
          </a:ln>
        </p:spPr>
      </p:sp>
      <p:sp>
        <p:nvSpPr>
          <p:cNvPr id="64" name="Shape 62">
            <a:extLst xmlns:a="http://schemas.openxmlformats.org/drawingml/2006/main">
              <a:ext uri="{FF2B5EF4-FFF2-40B4-BE49-F238E27FC236}">
                <a16:creationId xmlns:a16="http://schemas.microsoft.com/office/drawing/2014/main" id="{2CD6902A-10E0-4EC3-8FD3-F7D3149A8486}"/>
              </a:ext>
            </a:extLst>
          </p:cNvPr>
          <p:cNvSpPr>
            <a:spLocks xmlns:a="http://schemas.openxmlformats.org/drawingml/2006/main" noGrp="1"/>
          </p:cNvSpPr>
          <p:nvPr/>
        </p:nvSpPr>
        <p:spPr>
          <a:xfrm xmlns:a="http://schemas.openxmlformats.org/drawingml/2006/main">
            <a:off x="9593778" y="1691640"/>
            <a:ext cx="0" cy="3977640"/>
          </a:xfrm>
          <a:prstGeom xmlns:a="http://schemas.openxmlformats.org/drawingml/2006/main" prst="line">
            <a:avLst/>
          </a:prstGeom>
          <a:noFill xmlns:a="http://schemas.openxmlformats.org/drawingml/2006/main"/>
          <a:ln xmlns:a="http://schemas.openxmlformats.org/drawingml/2006/main" w="12700">
            <a:solidFill>
              <a:srgbClr val="EE2B76"/>
            </a:solidFill>
            <a:prstDash val="dash"/>
          </a:ln>
        </p:spPr>
      </p:sp>
      <p:sp>
        <p:nvSpPr>
          <p:cNvPr id="65" name="Shape 63">
            <a:extLst xmlns:a="http://schemas.openxmlformats.org/drawingml/2006/main">
              <a:ext uri="{FF2B5EF4-FFF2-40B4-BE49-F238E27FC236}">
                <a16:creationId xmlns:a16="http://schemas.microsoft.com/office/drawing/2014/main" id="{A6ABA2BD-9398-4D2B-9C6A-758EF3FD4C8A}"/>
              </a:ext>
            </a:extLst>
          </p:cNvPr>
          <p:cNvSpPr>
            <a:spLocks xmlns:a="http://schemas.openxmlformats.org/drawingml/2006/main" noGrp="1"/>
          </p:cNvSpPr>
          <p:nvPr/>
        </p:nvSpPr>
        <p:spPr>
          <a:xfrm xmlns:a="http://schemas.openxmlformats.org/drawingml/2006/main">
            <a:off x="548640" y="5925312"/>
            <a:ext cx="310896" cy="182880"/>
          </a:xfrm>
          <a:prstGeom xmlns:a="http://schemas.openxmlformats.org/drawingml/2006/main" prst="roundRect">
            <a:avLst>
              <a:gd name="adj" fmla="val 20000"/>
            </a:avLst>
          </a:prstGeom>
          <a:solidFill xmlns:a="http://schemas.openxmlformats.org/drawingml/2006/main">
            <a:srgbClr val="EE2B76"/>
          </a:solidFill>
        </p:spPr>
      </p:sp>
      <p:sp>
        <p:nvSpPr>
          <p:cNvPr id="66" name="Text 64">
            <a:extLst xmlns:a="http://schemas.openxmlformats.org/drawingml/2006/main">
              <a:ext uri="{FF2B5EF4-FFF2-40B4-BE49-F238E27FC236}">
                <a16:creationId xmlns:a16="http://schemas.microsoft.com/office/drawing/2014/main" id="{1EE7EE38-8085-4962-B0D4-65F3BA5EF54A}"/>
              </a:ext>
            </a:extLst>
          </p:cNvPr>
          <p:cNvSpPr>
            <a:spLocks xmlns:a="http://schemas.openxmlformats.org/drawingml/2006/main" noGrp="1"/>
          </p:cNvSpPr>
          <p:nvPr/>
        </p:nvSpPr>
        <p:spPr>
          <a:xfrm xmlns:a="http://schemas.openxmlformats.org/drawingml/2006/main">
            <a:off x="932688" y="5870448"/>
            <a:ext cx="1554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95959"/>
                </a:solidFill>
                <a:latin typeface="Calibri"/>
                <a:ea typeface="Calibri"/>
                <a:cs typeface="Calibri"/>
              </a:rPr>
              <a:t>AMS track</a:t>
            </a:r>
            <a:endParaRPr sz="1000"/>
          </a:p>
        </p:txBody>
      </p:sp>
      <p:sp>
        <p:nvSpPr>
          <p:cNvPr id="67" name="Shape 65">
            <a:extLst xmlns:a="http://schemas.openxmlformats.org/drawingml/2006/main">
              <a:ext uri="{FF2B5EF4-FFF2-40B4-BE49-F238E27FC236}">
                <a16:creationId xmlns:a16="http://schemas.microsoft.com/office/drawing/2014/main" id="{853CCAC0-BF21-4F04-B7DF-2A16CC754C57}"/>
              </a:ext>
            </a:extLst>
          </p:cNvPr>
          <p:cNvSpPr>
            <a:spLocks xmlns:a="http://schemas.openxmlformats.org/drawingml/2006/main" noGrp="1"/>
          </p:cNvSpPr>
          <p:nvPr/>
        </p:nvSpPr>
        <p:spPr>
          <a:xfrm xmlns:a="http://schemas.openxmlformats.org/drawingml/2006/main">
            <a:off x="2514600" y="5925312"/>
            <a:ext cx="310896" cy="182880"/>
          </a:xfrm>
          <a:prstGeom xmlns:a="http://schemas.openxmlformats.org/drawingml/2006/main" prst="roundRect">
            <a:avLst>
              <a:gd name="adj" fmla="val 20000"/>
            </a:avLst>
          </a:prstGeom>
          <a:solidFill xmlns:a="http://schemas.openxmlformats.org/drawingml/2006/main">
            <a:srgbClr val="1F3A5F"/>
          </a:solidFill>
        </p:spPr>
      </p:sp>
      <p:sp>
        <p:nvSpPr>
          <p:cNvPr id="68" name="Text 66">
            <a:extLst xmlns:a="http://schemas.openxmlformats.org/drawingml/2006/main">
              <a:ext uri="{FF2B5EF4-FFF2-40B4-BE49-F238E27FC236}">
                <a16:creationId xmlns:a16="http://schemas.microsoft.com/office/drawing/2014/main" id="{FB0E4929-025D-4C58-8156-6252B87BD16F}"/>
              </a:ext>
            </a:extLst>
          </p:cNvPr>
          <p:cNvSpPr>
            <a:spLocks xmlns:a="http://schemas.openxmlformats.org/drawingml/2006/main" noGrp="1"/>
          </p:cNvSpPr>
          <p:nvPr/>
        </p:nvSpPr>
        <p:spPr>
          <a:xfrm xmlns:a="http://schemas.openxmlformats.org/drawingml/2006/main">
            <a:off x="2898648" y="5870448"/>
            <a:ext cx="1554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95959"/>
                </a:solidFill>
                <a:latin typeface="Calibri"/>
                <a:ea typeface="Calibri"/>
                <a:cs typeface="Calibri"/>
              </a:rPr>
              <a:t>LMS track</a:t>
            </a:r>
            <a:endParaRPr sz="1000"/>
          </a:p>
        </p:txBody>
      </p:sp>
      <p:sp>
        <p:nvSpPr>
          <p:cNvPr id="69" name="Shape 67">
            <a:extLst xmlns:a="http://schemas.openxmlformats.org/drawingml/2006/main">
              <a:ext uri="{FF2B5EF4-FFF2-40B4-BE49-F238E27FC236}">
                <a16:creationId xmlns:a16="http://schemas.microsoft.com/office/drawing/2014/main" id="{9AC692EA-12C4-4C15-B452-AD3B76FCF456}"/>
              </a:ext>
            </a:extLst>
          </p:cNvPr>
          <p:cNvSpPr>
            <a:spLocks xmlns:a="http://schemas.openxmlformats.org/drawingml/2006/main" noGrp="1"/>
          </p:cNvSpPr>
          <p:nvPr/>
        </p:nvSpPr>
        <p:spPr>
          <a:xfrm xmlns:a="http://schemas.openxmlformats.org/drawingml/2006/main">
            <a:off x="4480560" y="5925312"/>
            <a:ext cx="310896" cy="182880"/>
          </a:xfrm>
          <a:prstGeom xmlns:a="http://schemas.openxmlformats.org/drawingml/2006/main" prst="roundRect">
            <a:avLst>
              <a:gd name="adj" fmla="val 20000"/>
            </a:avLst>
          </a:prstGeom>
          <a:solidFill xmlns:a="http://schemas.openxmlformats.org/drawingml/2006/main">
            <a:srgbClr val="595959"/>
          </a:solidFill>
        </p:spPr>
      </p:sp>
      <p:sp>
        <p:nvSpPr>
          <p:cNvPr id="70" name="Text 68">
            <a:extLst xmlns:a="http://schemas.openxmlformats.org/drawingml/2006/main">
              <a:ext uri="{FF2B5EF4-FFF2-40B4-BE49-F238E27FC236}">
                <a16:creationId xmlns:a16="http://schemas.microsoft.com/office/drawing/2014/main" id="{D4E3546C-3C84-4285-9355-C1F2E2B66F02}"/>
              </a:ext>
            </a:extLst>
          </p:cNvPr>
          <p:cNvSpPr>
            <a:spLocks xmlns:a="http://schemas.openxmlformats.org/drawingml/2006/main" noGrp="1"/>
          </p:cNvSpPr>
          <p:nvPr/>
        </p:nvSpPr>
        <p:spPr>
          <a:xfrm xmlns:a="http://schemas.openxmlformats.org/drawingml/2006/main">
            <a:off x="4864608" y="5870448"/>
            <a:ext cx="1554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95959"/>
                </a:solidFill>
                <a:latin typeface="Calibri"/>
                <a:ea typeface="Calibri"/>
                <a:cs typeface="Calibri"/>
              </a:rPr>
              <a:t>Setup / design</a:t>
            </a:r>
            <a:endParaRPr sz="1000"/>
          </a:p>
        </p:txBody>
      </p:sp>
      <p:sp>
        <p:nvSpPr>
          <p:cNvPr id="71" name="Shape 69">
            <a:extLst xmlns:a="http://schemas.openxmlformats.org/drawingml/2006/main">
              <a:ext uri="{FF2B5EF4-FFF2-40B4-BE49-F238E27FC236}">
                <a16:creationId xmlns:a16="http://schemas.microsoft.com/office/drawing/2014/main" id="{9776C9A6-8309-407B-A7EF-2D25CB649B45}"/>
              </a:ext>
            </a:extLst>
          </p:cNvPr>
          <p:cNvSpPr>
            <a:spLocks xmlns:a="http://schemas.openxmlformats.org/drawingml/2006/main" noGrp="1"/>
          </p:cNvSpPr>
          <p:nvPr/>
        </p:nvSpPr>
        <p:spPr>
          <a:xfrm xmlns:a="http://schemas.openxmlformats.org/drawingml/2006/main">
            <a:off x="6446520" y="5925312"/>
            <a:ext cx="310896" cy="182880"/>
          </a:xfrm>
          <a:prstGeom xmlns:a="http://schemas.openxmlformats.org/drawingml/2006/main" prst="roundRect">
            <a:avLst>
              <a:gd name="adj" fmla="val 20000"/>
            </a:avLst>
          </a:prstGeom>
          <a:solidFill xmlns:a="http://schemas.openxmlformats.org/drawingml/2006/main">
            <a:srgbClr val="17B3A3"/>
          </a:solidFill>
        </p:spPr>
      </p:sp>
      <p:sp>
        <p:nvSpPr>
          <p:cNvPr id="72" name="Text 70">
            <a:extLst xmlns:a="http://schemas.openxmlformats.org/drawingml/2006/main">
              <a:ext uri="{FF2B5EF4-FFF2-40B4-BE49-F238E27FC236}">
                <a16:creationId xmlns:a16="http://schemas.microsoft.com/office/drawing/2014/main" id="{D9C01D14-70D2-4162-A972-372D69DCECA1}"/>
              </a:ext>
            </a:extLst>
          </p:cNvPr>
          <p:cNvSpPr>
            <a:spLocks xmlns:a="http://schemas.openxmlformats.org/drawingml/2006/main" noGrp="1"/>
          </p:cNvSpPr>
          <p:nvPr/>
        </p:nvSpPr>
        <p:spPr>
          <a:xfrm xmlns:a="http://schemas.openxmlformats.org/drawingml/2006/main">
            <a:off x="6830568" y="5870448"/>
            <a:ext cx="1554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95959"/>
                </a:solidFill>
                <a:latin typeface="Calibri"/>
                <a:ea typeface="Calibri"/>
                <a:cs typeface="Calibri"/>
              </a:rPr>
              <a:t>Enhancements</a:t>
            </a:r>
            <a:endParaRPr sz="1000"/>
          </a:p>
        </p:txBody>
      </p:sp>
      <p:sp>
        <p:nvSpPr>
          <p:cNvPr id="73" name="Shape 71">
            <a:extLst xmlns:a="http://schemas.openxmlformats.org/drawingml/2006/main">
              <a:ext uri="{FF2B5EF4-FFF2-40B4-BE49-F238E27FC236}">
                <a16:creationId xmlns:a16="http://schemas.microsoft.com/office/drawing/2014/main" id="{749D3821-2656-4EB8-9BE7-D410B35BE2DC}"/>
              </a:ext>
            </a:extLst>
          </p:cNvPr>
          <p:cNvSpPr>
            <a:spLocks xmlns:a="http://schemas.openxmlformats.org/drawingml/2006/main" noGrp="1"/>
          </p:cNvSpPr>
          <p:nvPr/>
        </p:nvSpPr>
        <p:spPr>
          <a:xfrm xmlns:a="http://schemas.openxmlformats.org/drawingml/2006/main">
            <a:off x="8412480" y="5943600"/>
            <a:ext cx="0" cy="182880"/>
          </a:xfrm>
          <a:prstGeom xmlns:a="http://schemas.openxmlformats.org/drawingml/2006/main" prst="line">
            <a:avLst/>
          </a:prstGeom>
          <a:noFill xmlns:a="http://schemas.openxmlformats.org/drawingml/2006/main"/>
          <a:ln xmlns:a="http://schemas.openxmlformats.org/drawingml/2006/main" w="19050">
            <a:solidFill>
              <a:srgbClr val="EE2B76"/>
            </a:solidFill>
            <a:prstDash val="dash"/>
          </a:ln>
        </p:spPr>
      </p:sp>
      <p:sp>
        <p:nvSpPr>
          <p:cNvPr id="74" name="Text 72">
            <a:extLst xmlns:a="http://schemas.openxmlformats.org/drawingml/2006/main">
              <a:ext uri="{FF2B5EF4-FFF2-40B4-BE49-F238E27FC236}">
                <a16:creationId xmlns:a16="http://schemas.microsoft.com/office/drawing/2014/main" id="{650589C0-4498-4776-BD9D-56DD4CCBB404}"/>
              </a:ext>
            </a:extLst>
          </p:cNvPr>
          <p:cNvSpPr>
            <a:spLocks xmlns:a="http://schemas.openxmlformats.org/drawingml/2006/main" noGrp="1"/>
          </p:cNvSpPr>
          <p:nvPr/>
        </p:nvSpPr>
        <p:spPr>
          <a:xfrm xmlns:a="http://schemas.openxmlformats.org/drawingml/2006/main">
            <a:off x="8796528" y="5870448"/>
            <a:ext cx="15544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595959"/>
                </a:solidFill>
                <a:latin typeface="Calibri"/>
                <a:ea typeface="Calibri"/>
                <a:cs typeface="Calibri"/>
              </a:rPr>
              <a:t>Go-live gate</a:t>
            </a:r>
            <a:endParaRPr sz="1000"/>
          </a:p>
        </p:txBody>
      </p:sp>
      <p:sp>
        <p:nvSpPr>
          <p:cNvPr id="75" name="Text 73">
            <a:extLst xmlns:a="http://schemas.openxmlformats.org/drawingml/2006/main">
              <a:ext uri="{FF2B5EF4-FFF2-40B4-BE49-F238E27FC236}">
                <a16:creationId xmlns:a16="http://schemas.microsoft.com/office/drawing/2014/main" id="{FC020683-8EA2-4D82-8BC9-0F41E40244B7}"/>
              </a:ext>
            </a:extLst>
          </p:cNvPr>
          <p:cNvSpPr>
            <a:spLocks xmlns:a="http://schemas.openxmlformats.org/drawingml/2006/main" noGrp="1"/>
          </p:cNvSpPr>
          <p:nvPr/>
        </p:nvSpPr>
        <p:spPr>
          <a:xfrm xmlns:a="http://schemas.openxmlformats.org/drawingml/2006/main">
            <a:off x="548640" y="6236208"/>
            <a:ext cx="11094415" cy="310896"/>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50" i="1">
                <a:solidFill>
                  <a:srgbClr val="8A7F79"/>
                </a:solidFill>
                <a:latin typeface="Calibri"/>
                <a:ea typeface="Calibri"/>
                <a:cs typeface="Calibri"/>
              </a:rPr>
              <a:t>AMS is delivered first (CUG Sep ’26 → full Q4 ’26); LMS follows (CUG Q1 ’27 → full May ’27); parallel SIT/UAT compresses the critical path. Dates are indicative and subject to final agreement.</a:t>
            </a:r>
            <a:endParaRPr sz="950"/>
          </a:p>
        </p:txBody>
      </p:sp>
      <p:sp>
        <p:nvSpPr>
          <p:cNvPr id="76" name="Text 74">
            <a:extLst xmlns:a="http://schemas.openxmlformats.org/drawingml/2006/main">
              <a:ext uri="{FF2B5EF4-FFF2-40B4-BE49-F238E27FC236}">
                <a16:creationId xmlns:a16="http://schemas.microsoft.com/office/drawing/2014/main" id="{F50DFAF9-A2B5-4170-B97E-D10D6F393473}"/>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77" name="Text 75">
            <a:extLst xmlns:a="http://schemas.openxmlformats.org/drawingml/2006/main">
              <a:ext uri="{FF2B5EF4-FFF2-40B4-BE49-F238E27FC236}">
                <a16:creationId xmlns:a16="http://schemas.microsoft.com/office/drawing/2014/main" id="{BB1E4400-754C-47F0-8D00-1232E1D55DFD}"/>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14</a:t>
            </a:r>
            <a:endParaRPr sz="900"/>
          </a:p>
        </p:txBody>
      </p:sp>
    </p:spTree>
    <p:extLst>
      <p:ext uri="{BB962C8B-B14F-4D97-AF65-F5344CB8AC3E}">
        <p14:creationId xmlns:p14="http://schemas.microsoft.com/office/powerpoint/2010/main" val="6063241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1253F9-185B-42FC-B049-FE69D6C63492}"/>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DELIVERY MODEL</a:t>
            </a:r>
            <a:endParaRPr sz="1200"/>
          </a:p>
        </p:txBody>
      </p:sp>
      <p:sp>
        <p:nvSpPr>
          <p:cNvPr id="3" name="Text 1">
            <a:extLst xmlns:a="http://schemas.openxmlformats.org/drawingml/2006/main">
              <a:ext uri="{FF2B5EF4-FFF2-40B4-BE49-F238E27FC236}">
                <a16:creationId xmlns:a16="http://schemas.microsoft.com/office/drawing/2014/main" id="{46A5C3BE-DF4B-4C64-8838-B6B246A23FC5}"/>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POD-based AI-DLC team &amp; effort</a:t>
            </a:r>
            <a:endParaRPr sz="3000"/>
          </a:p>
        </p:txBody>
      </p:sp>
      <p:sp>
        <p:nvSpPr>
          <p:cNvPr id="4" name="Text 2">
            <a:extLst xmlns:a="http://schemas.openxmlformats.org/drawingml/2006/main">
              <a:ext uri="{FF2B5EF4-FFF2-40B4-BE49-F238E27FC236}">
                <a16:creationId xmlns:a16="http://schemas.microsoft.com/office/drawing/2014/main" id="{00F30DDE-9880-45EC-89BE-9ABDE78EB314}"/>
              </a:ext>
            </a:extLst>
          </p:cNvPr>
          <p:cNvSpPr>
            <a:spLocks xmlns:a="http://schemas.openxmlformats.org/drawingml/2006/main" noGrp="1"/>
          </p:cNvSpPr>
          <p:nvPr/>
        </p:nvSpPr>
        <p:spPr>
          <a:xfrm xmlns:a="http://schemas.openxmlformats.org/drawingml/2006/main">
            <a:off x="548640" y="1481328"/>
            <a:ext cx="5943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1F3A5F"/>
                </a:solidFill>
                <a:latin typeface="Poppins"/>
                <a:ea typeface="Poppins"/>
                <a:cs typeface="Poppins"/>
              </a:rPr>
              <a:t>EFFORT BY ROLE  (person-months)</a:t>
            </a:r>
            <a:endParaRPr sz="1100"/>
          </a:p>
        </p:txBody>
      </p:sp>
      <p:graphicFrame>
        <p:nvGraphicFramePr>
          <p:cNvPr id="46" name="Chart 0"/>
          <p:cNvGraphicFramePr/>
          <p:nvPr/>
        </p:nvGraphicFramePr>
        <p:xfrm>
          <a:off xmlns:a="http://schemas.openxmlformats.org/drawingml/2006/main" x="548640" y="1810512"/>
          <a:ext xmlns:a="http://schemas.openxmlformats.org/drawingml/2006/main" cx="5852160" cy="3200400"/>
        </p:xfrm>
        <a:graphic xmlns:a="http://schemas.openxmlformats.org/drawingml/2006/main">
          <a:graphicData uri="http://schemas.openxmlformats.org/drawingml/2006/chart">
            <c:chart xmlns:r="http://schemas.openxmlformats.org/officeDocument/2006/relationships" xmlns:c="http://schemas.openxmlformats.org/drawingml/2006/chart" r:id="R8cba80b4158a45d5"/>
          </a:graphicData>
        </a:graphic>
      </p:graphicFrame>
      <p:sp>
        <p:nvSpPr>
          <p:cNvPr id="6" name="Shape 3">
            <a:extLst xmlns:a="http://schemas.openxmlformats.org/drawingml/2006/main">
              <a:ext uri="{FF2B5EF4-FFF2-40B4-BE49-F238E27FC236}">
                <a16:creationId xmlns:a16="http://schemas.microsoft.com/office/drawing/2014/main" id="{A56D1597-594E-410E-8835-CBF02354CADE}"/>
              </a:ext>
            </a:extLst>
          </p:cNvPr>
          <p:cNvSpPr>
            <a:spLocks xmlns:a="http://schemas.openxmlformats.org/drawingml/2006/main" noGrp="1"/>
          </p:cNvSpPr>
          <p:nvPr/>
        </p:nvSpPr>
        <p:spPr>
          <a:xfrm xmlns:a="http://schemas.openxmlformats.org/drawingml/2006/main">
            <a:off x="548640" y="5175504"/>
            <a:ext cx="5852160" cy="1051560"/>
          </a:xfrm>
          <a:prstGeom xmlns:a="http://schemas.openxmlformats.org/drawingml/2006/main" prst="roundRect">
            <a:avLst>
              <a:gd name="adj" fmla="val 9565"/>
            </a:avLst>
          </a:prstGeom>
          <a:solidFill xmlns:a="http://schemas.openxmlformats.org/drawingml/2006/main">
            <a:srgbClr val="1F3A5F"/>
          </a:solidFill>
          <a:effectLst xmlns:a="http://schemas.openxmlformats.org/drawingml/2006/main">
            <a:outerShdw blurRad="114300" dist="38100" dir="5400000" sx="100000" sy="100000" kx="0" ky="0" algn="bl" rotWithShape="0">
              <a:srgbClr val="9A8F88">
                <a:alpha val="32000"/>
              </a:srgbClr>
            </a:outerShdw>
          </a:effectLst>
        </p:spPr>
      </p:sp>
      <p:sp>
        <p:nvSpPr>
          <p:cNvPr id="7" name="Text 4">
            <a:extLst xmlns:a="http://schemas.openxmlformats.org/drawingml/2006/main">
              <a:ext uri="{FF2B5EF4-FFF2-40B4-BE49-F238E27FC236}">
                <a16:creationId xmlns:a16="http://schemas.microsoft.com/office/drawing/2014/main" id="{A5A17373-EE48-44AD-8852-E42130A70678}"/>
              </a:ext>
            </a:extLst>
          </p:cNvPr>
          <p:cNvSpPr>
            <a:spLocks xmlns:a="http://schemas.openxmlformats.org/drawingml/2006/main" noGrp="1"/>
          </p:cNvSpPr>
          <p:nvPr/>
        </p:nvSpPr>
        <p:spPr>
          <a:xfrm xmlns:a="http://schemas.openxmlformats.org/drawingml/2006/main">
            <a:off x="640080" y="5285232"/>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latin typeface="Poppins"/>
                <a:ea typeface="Poppins"/>
                <a:cs typeface="Poppins"/>
              </a:rPr>
              <a:t>15</a:t>
            </a:r>
            <a:endParaRPr sz="3000"/>
          </a:p>
        </p:txBody>
      </p:sp>
      <p:sp>
        <p:nvSpPr>
          <p:cNvPr id="8" name="Text 5">
            <a:extLst xmlns:a="http://schemas.openxmlformats.org/drawingml/2006/main">
              <a:ext uri="{FF2B5EF4-FFF2-40B4-BE49-F238E27FC236}">
                <a16:creationId xmlns:a16="http://schemas.microsoft.com/office/drawing/2014/main" id="{A438BA1B-C7E1-412D-8C1F-782EA253A8F3}"/>
              </a:ext>
            </a:extLst>
          </p:cNvPr>
          <p:cNvSpPr>
            <a:spLocks xmlns:a="http://schemas.openxmlformats.org/drawingml/2006/main" noGrp="1"/>
          </p:cNvSpPr>
          <p:nvPr/>
        </p:nvSpPr>
        <p:spPr>
          <a:xfrm xmlns:a="http://schemas.openxmlformats.org/drawingml/2006/main">
            <a:off x="640080" y="577900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CADCFC"/>
                </a:solidFill>
                <a:latin typeface="Calibri"/>
                <a:ea typeface="Calibri"/>
                <a:cs typeface="Calibri"/>
              </a:rPr>
              <a:t>Resources (off-site)</a:t>
            </a:r>
            <a:endParaRPr sz="1000"/>
          </a:p>
        </p:txBody>
      </p:sp>
      <p:sp>
        <p:nvSpPr>
          <p:cNvPr id="9" name="Shape 6">
            <a:extLst xmlns:a="http://schemas.openxmlformats.org/drawingml/2006/main">
              <a:ext uri="{FF2B5EF4-FFF2-40B4-BE49-F238E27FC236}">
                <a16:creationId xmlns:a16="http://schemas.microsoft.com/office/drawing/2014/main" id="{53B21D0D-FC1F-4EC5-A5DA-B3C1DA39460B}"/>
              </a:ext>
            </a:extLst>
          </p:cNvPr>
          <p:cNvSpPr>
            <a:spLocks xmlns:a="http://schemas.openxmlformats.org/drawingml/2006/main" noGrp="1"/>
          </p:cNvSpPr>
          <p:nvPr/>
        </p:nvSpPr>
        <p:spPr>
          <a:xfrm xmlns:a="http://schemas.openxmlformats.org/drawingml/2006/main">
            <a:off x="2560320" y="5321808"/>
            <a:ext cx="0" cy="777240"/>
          </a:xfrm>
          <a:prstGeom xmlns:a="http://schemas.openxmlformats.org/drawingml/2006/main" prst="line">
            <a:avLst/>
          </a:prstGeom>
          <a:noFill xmlns:a="http://schemas.openxmlformats.org/drawingml/2006/main"/>
          <a:ln xmlns:a="http://schemas.openxmlformats.org/drawingml/2006/main" w="12700">
            <a:solidFill>
              <a:srgbClr val="2E4A6B"/>
            </a:solidFill>
            <a:prstDash val="solid"/>
          </a:ln>
        </p:spPr>
      </p:sp>
      <p:sp>
        <p:nvSpPr>
          <p:cNvPr id="10" name="Text 7">
            <a:extLst xmlns:a="http://schemas.openxmlformats.org/drawingml/2006/main">
              <a:ext uri="{FF2B5EF4-FFF2-40B4-BE49-F238E27FC236}">
                <a16:creationId xmlns:a16="http://schemas.microsoft.com/office/drawing/2014/main" id="{70B1B2EC-B5FC-4BDE-B4A0-392F4B90927E}"/>
              </a:ext>
            </a:extLst>
          </p:cNvPr>
          <p:cNvSpPr>
            <a:spLocks xmlns:a="http://schemas.openxmlformats.org/drawingml/2006/main" noGrp="1"/>
          </p:cNvSpPr>
          <p:nvPr/>
        </p:nvSpPr>
        <p:spPr>
          <a:xfrm xmlns:a="http://schemas.openxmlformats.org/drawingml/2006/main">
            <a:off x="2587752" y="5285232"/>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latin typeface="Poppins"/>
                <a:ea typeface="Poppins"/>
                <a:cs typeface="Poppins"/>
              </a:rPr>
              <a:t>158</a:t>
            </a:r>
            <a:endParaRPr sz="3000"/>
          </a:p>
        </p:txBody>
      </p:sp>
      <p:sp>
        <p:nvSpPr>
          <p:cNvPr id="11" name="Text 8">
            <a:extLst xmlns:a="http://schemas.openxmlformats.org/drawingml/2006/main">
              <a:ext uri="{FF2B5EF4-FFF2-40B4-BE49-F238E27FC236}">
                <a16:creationId xmlns:a16="http://schemas.microsoft.com/office/drawing/2014/main" id="{44CB47ED-17DC-4AEF-8229-91D3F68D6142}"/>
              </a:ext>
            </a:extLst>
          </p:cNvPr>
          <p:cNvSpPr>
            <a:spLocks xmlns:a="http://schemas.openxmlformats.org/drawingml/2006/main" noGrp="1"/>
          </p:cNvSpPr>
          <p:nvPr/>
        </p:nvSpPr>
        <p:spPr>
          <a:xfrm xmlns:a="http://schemas.openxmlformats.org/drawingml/2006/main">
            <a:off x="2587752" y="577900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CADCFC"/>
                </a:solidFill>
                <a:latin typeface="Calibri"/>
                <a:ea typeface="Calibri"/>
                <a:cs typeface="Calibri"/>
              </a:rPr>
              <a:t>Person-months</a:t>
            </a:r>
            <a:endParaRPr sz="1000"/>
          </a:p>
        </p:txBody>
      </p:sp>
      <p:sp>
        <p:nvSpPr>
          <p:cNvPr id="12" name="Shape 9">
            <a:extLst xmlns:a="http://schemas.openxmlformats.org/drawingml/2006/main">
              <a:ext uri="{FF2B5EF4-FFF2-40B4-BE49-F238E27FC236}">
                <a16:creationId xmlns:a16="http://schemas.microsoft.com/office/drawing/2014/main" id="{B78C9E79-3256-4685-9C72-588F104CB589}"/>
              </a:ext>
            </a:extLst>
          </p:cNvPr>
          <p:cNvSpPr>
            <a:spLocks xmlns:a="http://schemas.openxmlformats.org/drawingml/2006/main" noGrp="1"/>
          </p:cNvSpPr>
          <p:nvPr/>
        </p:nvSpPr>
        <p:spPr>
          <a:xfrm xmlns:a="http://schemas.openxmlformats.org/drawingml/2006/main">
            <a:off x="4507992" y="5321808"/>
            <a:ext cx="0" cy="777240"/>
          </a:xfrm>
          <a:prstGeom xmlns:a="http://schemas.openxmlformats.org/drawingml/2006/main" prst="line">
            <a:avLst/>
          </a:prstGeom>
          <a:noFill xmlns:a="http://schemas.openxmlformats.org/drawingml/2006/main"/>
          <a:ln xmlns:a="http://schemas.openxmlformats.org/drawingml/2006/main" w="12700">
            <a:solidFill>
              <a:srgbClr val="2E4A6B"/>
            </a:solidFill>
            <a:prstDash val="solid"/>
          </a:ln>
        </p:spPr>
      </p:sp>
      <p:sp>
        <p:nvSpPr>
          <p:cNvPr id="13" name="Text 10">
            <a:extLst xmlns:a="http://schemas.openxmlformats.org/drawingml/2006/main">
              <a:ext uri="{FF2B5EF4-FFF2-40B4-BE49-F238E27FC236}">
                <a16:creationId xmlns:a16="http://schemas.microsoft.com/office/drawing/2014/main" id="{71DB969E-E51E-4210-BACC-2DC3029CE094}"/>
              </a:ext>
            </a:extLst>
          </p:cNvPr>
          <p:cNvSpPr>
            <a:spLocks xmlns:a="http://schemas.openxmlformats.org/drawingml/2006/main" noGrp="1"/>
          </p:cNvSpPr>
          <p:nvPr/>
        </p:nvSpPr>
        <p:spPr>
          <a:xfrm xmlns:a="http://schemas.openxmlformats.org/drawingml/2006/main">
            <a:off x="4535424" y="5285232"/>
            <a:ext cx="1828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FFFFFF"/>
                </a:solidFill>
                <a:latin typeface="Poppins"/>
                <a:ea typeface="Poppins"/>
                <a:cs typeface="Poppins"/>
              </a:rPr>
              <a:t>7</a:t>
            </a:r>
            <a:endParaRPr sz="3000"/>
          </a:p>
        </p:txBody>
      </p:sp>
      <p:sp>
        <p:nvSpPr>
          <p:cNvPr id="14" name="Text 11">
            <a:extLst xmlns:a="http://schemas.openxmlformats.org/drawingml/2006/main">
              <a:ext uri="{FF2B5EF4-FFF2-40B4-BE49-F238E27FC236}">
                <a16:creationId xmlns:a16="http://schemas.microsoft.com/office/drawing/2014/main" id="{365B5AE2-7093-4DCC-A8FA-2EAF9291A852}"/>
              </a:ext>
            </a:extLst>
          </p:cNvPr>
          <p:cNvSpPr>
            <a:spLocks xmlns:a="http://schemas.openxmlformats.org/drawingml/2006/main" noGrp="1"/>
          </p:cNvSpPr>
          <p:nvPr/>
        </p:nvSpPr>
        <p:spPr>
          <a:xfrm xmlns:a="http://schemas.openxmlformats.org/drawingml/2006/main">
            <a:off x="4535424" y="5779008"/>
            <a:ext cx="1828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CADCFC"/>
                </a:solidFill>
                <a:latin typeface="Calibri"/>
                <a:ea typeface="Calibri"/>
                <a:cs typeface="Calibri"/>
              </a:rPr>
              <a:t>Distinct roles</a:t>
            </a:r>
            <a:endParaRPr sz="1000"/>
          </a:p>
        </p:txBody>
      </p:sp>
      <p:sp>
        <p:nvSpPr>
          <p:cNvPr id="15" name="Text 12">
            <a:extLst xmlns:a="http://schemas.openxmlformats.org/drawingml/2006/main">
              <a:ext uri="{FF2B5EF4-FFF2-40B4-BE49-F238E27FC236}">
                <a16:creationId xmlns:a16="http://schemas.microsoft.com/office/drawing/2014/main" id="{C1D0D882-D2AF-4997-BA98-C0FE40165868}"/>
              </a:ext>
            </a:extLst>
          </p:cNvPr>
          <p:cNvSpPr>
            <a:spLocks xmlns:a="http://schemas.openxmlformats.org/drawingml/2006/main" noGrp="1"/>
          </p:cNvSpPr>
          <p:nvPr/>
        </p:nvSpPr>
        <p:spPr>
          <a:xfrm xmlns:a="http://schemas.openxmlformats.org/drawingml/2006/main">
            <a:off x="6858000" y="1481328"/>
            <a:ext cx="478505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EE2B76"/>
                </a:solidFill>
                <a:latin typeface="Poppins"/>
                <a:ea typeface="Poppins"/>
                <a:cs typeface="Poppins"/>
              </a:rPr>
              <a:t>POD-BASED AI-DLC DELIVERY</a:t>
            </a:r>
            <a:endParaRPr sz="1100"/>
          </a:p>
        </p:txBody>
      </p:sp>
      <p:sp>
        <p:nvSpPr>
          <p:cNvPr id="16" name="Shape 13">
            <a:extLst xmlns:a="http://schemas.openxmlformats.org/drawingml/2006/main">
              <a:ext uri="{FF2B5EF4-FFF2-40B4-BE49-F238E27FC236}">
                <a16:creationId xmlns:a16="http://schemas.microsoft.com/office/drawing/2014/main" id="{4B94D723-988E-4A13-B9DB-F471F080C433}"/>
              </a:ext>
            </a:extLst>
          </p:cNvPr>
          <p:cNvSpPr>
            <a:spLocks xmlns:a="http://schemas.openxmlformats.org/drawingml/2006/main" noGrp="1"/>
          </p:cNvSpPr>
          <p:nvPr/>
        </p:nvSpPr>
        <p:spPr>
          <a:xfrm xmlns:a="http://schemas.openxmlformats.org/drawingml/2006/main">
            <a:off x="6858000" y="1828800"/>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7" name="Shape 14">
            <a:extLst xmlns:a="http://schemas.openxmlformats.org/drawingml/2006/main">
              <a:ext uri="{FF2B5EF4-FFF2-40B4-BE49-F238E27FC236}">
                <a16:creationId xmlns:a16="http://schemas.microsoft.com/office/drawing/2014/main" id="{AC720EA0-1DBB-4178-AB79-68E23F6C42C6}"/>
              </a:ext>
            </a:extLst>
          </p:cNvPr>
          <p:cNvSpPr>
            <a:spLocks xmlns:a="http://schemas.openxmlformats.org/drawingml/2006/main" noGrp="1"/>
          </p:cNvSpPr>
          <p:nvPr/>
        </p:nvSpPr>
        <p:spPr>
          <a:xfrm xmlns:a="http://schemas.openxmlformats.org/drawingml/2006/main">
            <a:off x="7040880" y="2029968"/>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59" name="Image 0"/>
          <p:cNvPicPr>
            <a:picLocks xmlns:a="http://schemas.openxmlformats.org/drawingml/2006/main" noChangeAspect="1"/>
          </p:cNvPicPr>
          <p:nvPr/>
        </p:nvPicPr>
        <p:blipFill>
          <a:blip xmlns:r="http://schemas.openxmlformats.org/officeDocument/2006/relationships" xmlns:a="http://schemas.openxmlformats.org/drawingml/2006/main" r:embed="R86ea985bf04a40e4"/>
          <a:stretch xmlns:a="http://schemas.openxmlformats.org/drawingml/2006/main">
            <a:fillRect l="0" t="0" r="0" b="0"/>
          </a:stretch>
        </p:blipFill>
        <p:spPr>
          <a:xfrm xmlns:a="http://schemas.openxmlformats.org/drawingml/2006/main">
            <a:off x="7154997" y="2144085"/>
            <a:ext cx="247254" cy="247254"/>
          </a:xfrm>
          <a:prstGeom xmlns:a="http://schemas.openxmlformats.org/drawingml/2006/main" prst="rect">
            <a:avLst/>
          </a:prstGeom>
        </p:spPr>
      </p:pic>
      <p:sp>
        <p:nvSpPr>
          <p:cNvPr id="19" name="Text 15">
            <a:extLst xmlns:a="http://schemas.openxmlformats.org/drawingml/2006/main">
              <a:ext uri="{FF2B5EF4-FFF2-40B4-BE49-F238E27FC236}">
                <a16:creationId xmlns:a16="http://schemas.microsoft.com/office/drawing/2014/main" id="{BF18CC44-5475-41BA-85DB-F3AB5BA144F6}"/>
              </a:ext>
            </a:extLst>
          </p:cNvPr>
          <p:cNvSpPr>
            <a:spLocks xmlns:a="http://schemas.openxmlformats.org/drawingml/2006/main" noGrp="1"/>
          </p:cNvSpPr>
          <p:nvPr/>
        </p:nvSpPr>
        <p:spPr>
          <a:xfrm xmlns:a="http://schemas.openxmlformats.org/drawingml/2006/main">
            <a:off x="7680960" y="1975104"/>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Cross-functional PODs</a:t>
            </a:r>
            <a:endParaRPr sz="1250"/>
          </a:p>
        </p:txBody>
      </p:sp>
      <p:sp>
        <p:nvSpPr>
          <p:cNvPr id="20" name="Text 16">
            <a:extLst xmlns:a="http://schemas.openxmlformats.org/drawingml/2006/main">
              <a:ext uri="{FF2B5EF4-FFF2-40B4-BE49-F238E27FC236}">
                <a16:creationId xmlns:a16="http://schemas.microsoft.com/office/drawing/2014/main" id="{E0C6FE35-8262-4C33-8695-86797A913704}"/>
              </a:ext>
            </a:extLst>
          </p:cNvPr>
          <p:cNvSpPr>
            <a:spLocks xmlns:a="http://schemas.openxmlformats.org/drawingml/2006/main" noGrp="1"/>
          </p:cNvSpPr>
          <p:nvPr/>
        </p:nvSpPr>
        <p:spPr>
          <a:xfrm xmlns:a="http://schemas.openxmlformats.org/drawingml/2006/main">
            <a:off x="7680960" y="2286000"/>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Each POD carries functional, technical, AI/ML and QA skills to own a slice requirement-to-release.</a:t>
            </a:r>
            <a:endParaRPr sz="1000"/>
          </a:p>
        </p:txBody>
      </p:sp>
      <p:sp>
        <p:nvSpPr>
          <p:cNvPr id="21" name="Shape 17">
            <a:extLst xmlns:a="http://schemas.openxmlformats.org/drawingml/2006/main">
              <a:ext uri="{FF2B5EF4-FFF2-40B4-BE49-F238E27FC236}">
                <a16:creationId xmlns:a16="http://schemas.microsoft.com/office/drawing/2014/main" id="{359C640E-A435-4C59-BD17-DE556496BB0C}"/>
              </a:ext>
            </a:extLst>
          </p:cNvPr>
          <p:cNvSpPr>
            <a:spLocks xmlns:a="http://schemas.openxmlformats.org/drawingml/2006/main" noGrp="1"/>
          </p:cNvSpPr>
          <p:nvPr/>
        </p:nvSpPr>
        <p:spPr>
          <a:xfrm xmlns:a="http://schemas.openxmlformats.org/drawingml/2006/main">
            <a:off x="6858000" y="2962656"/>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2" name="Shape 18">
            <a:extLst xmlns:a="http://schemas.openxmlformats.org/drawingml/2006/main">
              <a:ext uri="{FF2B5EF4-FFF2-40B4-BE49-F238E27FC236}">
                <a16:creationId xmlns:a16="http://schemas.microsoft.com/office/drawing/2014/main" id="{76730AB0-1998-4C9B-AA01-CC42C58338B5}"/>
              </a:ext>
            </a:extLst>
          </p:cNvPr>
          <p:cNvSpPr>
            <a:spLocks xmlns:a="http://schemas.openxmlformats.org/drawingml/2006/main" noGrp="1"/>
          </p:cNvSpPr>
          <p:nvPr/>
        </p:nvSpPr>
        <p:spPr>
          <a:xfrm xmlns:a="http://schemas.openxmlformats.org/drawingml/2006/main">
            <a:off x="7040880" y="3163824"/>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4" name="Image 1"/>
          <p:cNvPicPr>
            <a:picLocks xmlns:a="http://schemas.openxmlformats.org/drawingml/2006/main" noChangeAspect="1"/>
          </p:cNvPicPr>
          <p:nvPr/>
        </p:nvPicPr>
        <p:blipFill>
          <a:blip xmlns:r="http://schemas.openxmlformats.org/officeDocument/2006/relationships" xmlns:a="http://schemas.openxmlformats.org/drawingml/2006/main" r:embed="Rb3280a06045840dc"/>
          <a:stretch xmlns:a="http://schemas.openxmlformats.org/drawingml/2006/main">
            <a:fillRect l="0" t="0" r="0" b="0"/>
          </a:stretch>
        </p:blipFill>
        <p:spPr>
          <a:xfrm xmlns:a="http://schemas.openxmlformats.org/drawingml/2006/main">
            <a:off x="7154997" y="3277941"/>
            <a:ext cx="247254" cy="247254"/>
          </a:xfrm>
          <a:prstGeom xmlns:a="http://schemas.openxmlformats.org/drawingml/2006/main" prst="rect">
            <a:avLst/>
          </a:prstGeom>
        </p:spPr>
      </p:pic>
      <p:sp>
        <p:nvSpPr>
          <p:cNvPr id="24" name="Text 19">
            <a:extLst xmlns:a="http://schemas.openxmlformats.org/drawingml/2006/main">
              <a:ext uri="{FF2B5EF4-FFF2-40B4-BE49-F238E27FC236}">
                <a16:creationId xmlns:a16="http://schemas.microsoft.com/office/drawing/2014/main" id="{5A54645F-BED7-479F-82AB-1E0CB7B35302}"/>
              </a:ext>
            </a:extLst>
          </p:cNvPr>
          <p:cNvSpPr>
            <a:spLocks xmlns:a="http://schemas.openxmlformats.org/drawingml/2006/main" noGrp="1"/>
          </p:cNvSpPr>
          <p:nvPr/>
        </p:nvSpPr>
        <p:spPr>
          <a:xfrm xmlns:a="http://schemas.openxmlformats.org/drawingml/2006/main">
            <a:off x="7680960" y="3108960"/>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AI-DLC pattern</a:t>
            </a:r>
            <a:endParaRPr sz="1250"/>
          </a:p>
        </p:txBody>
      </p:sp>
      <p:sp>
        <p:nvSpPr>
          <p:cNvPr id="25" name="Text 20">
            <a:extLst xmlns:a="http://schemas.openxmlformats.org/drawingml/2006/main">
              <a:ext uri="{FF2B5EF4-FFF2-40B4-BE49-F238E27FC236}">
                <a16:creationId xmlns:a16="http://schemas.microsoft.com/office/drawing/2014/main" id="{DE2FE2F0-BC17-4E4F-8703-4C109F2D9000}"/>
              </a:ext>
            </a:extLst>
          </p:cNvPr>
          <p:cNvSpPr>
            <a:spLocks xmlns:a="http://schemas.openxmlformats.org/drawingml/2006/main" noGrp="1"/>
          </p:cNvSpPr>
          <p:nvPr/>
        </p:nvSpPr>
        <p:spPr>
          <a:xfrm xmlns:a="http://schemas.openxmlformats.org/drawingml/2006/main">
            <a:off x="7680960" y="3419856"/>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AI-assisted design, build and test across the lifecycle — the delivery approach AMLI explicitly asks for.</a:t>
            </a:r>
            <a:endParaRPr sz="1000"/>
          </a:p>
        </p:txBody>
      </p:sp>
      <p:sp>
        <p:nvSpPr>
          <p:cNvPr id="26" name="Shape 21">
            <a:extLst xmlns:a="http://schemas.openxmlformats.org/drawingml/2006/main">
              <a:ext uri="{FF2B5EF4-FFF2-40B4-BE49-F238E27FC236}">
                <a16:creationId xmlns:a16="http://schemas.microsoft.com/office/drawing/2014/main" id="{13FDA35A-62B8-4FB0-977E-854169B6C2D8}"/>
              </a:ext>
            </a:extLst>
          </p:cNvPr>
          <p:cNvSpPr>
            <a:spLocks xmlns:a="http://schemas.openxmlformats.org/drawingml/2006/main" noGrp="1"/>
          </p:cNvSpPr>
          <p:nvPr/>
        </p:nvSpPr>
        <p:spPr>
          <a:xfrm xmlns:a="http://schemas.openxmlformats.org/drawingml/2006/main">
            <a:off x="6858000" y="4096512"/>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7" name="Shape 22">
            <a:extLst xmlns:a="http://schemas.openxmlformats.org/drawingml/2006/main">
              <a:ext uri="{FF2B5EF4-FFF2-40B4-BE49-F238E27FC236}">
                <a16:creationId xmlns:a16="http://schemas.microsoft.com/office/drawing/2014/main" id="{C614ADDA-14A3-4024-A598-2729362D57B8}"/>
              </a:ext>
            </a:extLst>
          </p:cNvPr>
          <p:cNvSpPr>
            <a:spLocks xmlns:a="http://schemas.openxmlformats.org/drawingml/2006/main" noGrp="1"/>
          </p:cNvSpPr>
          <p:nvPr/>
        </p:nvSpPr>
        <p:spPr>
          <a:xfrm xmlns:a="http://schemas.openxmlformats.org/drawingml/2006/main">
            <a:off x="7040880" y="4297680"/>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69" name="Image 2"/>
          <p:cNvPicPr>
            <a:picLocks xmlns:a="http://schemas.openxmlformats.org/drawingml/2006/main" noChangeAspect="1"/>
          </p:cNvPicPr>
          <p:nvPr/>
        </p:nvPicPr>
        <p:blipFill>
          <a:blip xmlns:r="http://schemas.openxmlformats.org/officeDocument/2006/relationships" xmlns:a="http://schemas.openxmlformats.org/drawingml/2006/main" r:embed="R39024ee9b7c140a3"/>
          <a:stretch xmlns:a="http://schemas.openxmlformats.org/drawingml/2006/main">
            <a:fillRect l="0" t="0" r="0" b="0"/>
          </a:stretch>
        </p:blipFill>
        <p:spPr>
          <a:xfrm xmlns:a="http://schemas.openxmlformats.org/drawingml/2006/main">
            <a:off x="7154997" y="4411797"/>
            <a:ext cx="247254" cy="247254"/>
          </a:xfrm>
          <a:prstGeom xmlns:a="http://schemas.openxmlformats.org/drawingml/2006/main" prst="rect">
            <a:avLst/>
          </a:prstGeom>
        </p:spPr>
      </p:pic>
      <p:sp>
        <p:nvSpPr>
          <p:cNvPr id="29" name="Text 23">
            <a:extLst xmlns:a="http://schemas.openxmlformats.org/drawingml/2006/main">
              <a:ext uri="{FF2B5EF4-FFF2-40B4-BE49-F238E27FC236}">
                <a16:creationId xmlns:a16="http://schemas.microsoft.com/office/drawing/2014/main" id="{4D25F435-7976-4BA4-B136-2E3BDBC8D951}"/>
              </a:ext>
            </a:extLst>
          </p:cNvPr>
          <p:cNvSpPr>
            <a:spLocks xmlns:a="http://schemas.openxmlformats.org/drawingml/2006/main" noGrp="1"/>
          </p:cNvSpPr>
          <p:nvPr/>
        </p:nvSpPr>
        <p:spPr>
          <a:xfrm xmlns:a="http://schemas.openxmlformats.org/drawingml/2006/main">
            <a:off x="7680960" y="4242816"/>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Named, retained resources</a:t>
            </a:r>
            <a:endParaRPr sz="1250"/>
          </a:p>
        </p:txBody>
      </p:sp>
      <p:sp>
        <p:nvSpPr>
          <p:cNvPr id="30" name="Text 24">
            <a:extLst xmlns:a="http://schemas.openxmlformats.org/drawingml/2006/main">
              <a:ext uri="{FF2B5EF4-FFF2-40B4-BE49-F238E27FC236}">
                <a16:creationId xmlns:a16="http://schemas.microsoft.com/office/drawing/2014/main" id="{601EDE16-311B-461A-A2DC-3A2497F0752A}"/>
              </a:ext>
            </a:extLst>
          </p:cNvPr>
          <p:cNvSpPr>
            <a:spLocks xmlns:a="http://schemas.openxmlformats.org/drawingml/2006/main" noGrp="1"/>
          </p:cNvSpPr>
          <p:nvPr/>
        </p:nvSpPr>
        <p:spPr>
          <a:xfrm xmlns:a="http://schemas.openxmlformats.org/drawingml/2006/main">
            <a:off x="7680960" y="4553712"/>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Profiles named in SOW; no re-deployment until go-live sign-off; dev team staffs hyper-care.</a:t>
            </a:r>
            <a:endParaRPr sz="1000"/>
          </a:p>
        </p:txBody>
      </p:sp>
      <p:sp>
        <p:nvSpPr>
          <p:cNvPr id="31" name="Shape 25">
            <a:extLst xmlns:a="http://schemas.openxmlformats.org/drawingml/2006/main">
              <a:ext uri="{FF2B5EF4-FFF2-40B4-BE49-F238E27FC236}">
                <a16:creationId xmlns:a16="http://schemas.microsoft.com/office/drawing/2014/main" id="{ADAF90E0-602C-423A-AD35-0FBE0CA427D5}"/>
              </a:ext>
            </a:extLst>
          </p:cNvPr>
          <p:cNvSpPr>
            <a:spLocks xmlns:a="http://schemas.openxmlformats.org/drawingml/2006/main" noGrp="1"/>
          </p:cNvSpPr>
          <p:nvPr/>
        </p:nvSpPr>
        <p:spPr>
          <a:xfrm xmlns:a="http://schemas.openxmlformats.org/drawingml/2006/main">
            <a:off x="6858000" y="5230368"/>
            <a:ext cx="4785055" cy="1024128"/>
          </a:xfrm>
          <a:prstGeom xmlns:a="http://schemas.openxmlformats.org/drawingml/2006/main" prst="roundRect">
            <a:avLst>
              <a:gd name="adj" fmla="val 9821"/>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2" name="Shape 26">
            <a:extLst xmlns:a="http://schemas.openxmlformats.org/drawingml/2006/main">
              <a:ext uri="{FF2B5EF4-FFF2-40B4-BE49-F238E27FC236}">
                <a16:creationId xmlns:a16="http://schemas.microsoft.com/office/drawing/2014/main" id="{81068574-9EBB-402B-9C37-94FD84151459}"/>
              </a:ext>
            </a:extLst>
          </p:cNvPr>
          <p:cNvSpPr>
            <a:spLocks xmlns:a="http://schemas.openxmlformats.org/drawingml/2006/main" noGrp="1"/>
          </p:cNvSpPr>
          <p:nvPr/>
        </p:nvSpPr>
        <p:spPr>
          <a:xfrm xmlns:a="http://schemas.openxmlformats.org/drawingml/2006/main">
            <a:off x="7040880" y="5431536"/>
            <a:ext cx="475488" cy="475488"/>
          </a:xfrm>
          <a:prstGeom xmlns:a="http://schemas.openxmlformats.org/drawingml/2006/main" prst="roundRect">
            <a:avLst>
              <a:gd name="adj" fmla="val 24000"/>
            </a:avLst>
          </a:prstGeom>
          <a:solidFill xmlns:a="http://schemas.openxmlformats.org/drawingml/2006/main">
            <a:srgbClr val="EE2B76"/>
          </a:solidFill>
          <a:effectLst xmlns:a="http://schemas.openxmlformats.org/drawingml/2006/main">
            <a:outerShdw blurRad="88900" dist="25400" dir="5400000" sx="100000" sy="100000" kx="0" ky="0" algn="bl" rotWithShape="0">
              <a:srgbClr val="B4A9A2">
                <a:alpha val="22000"/>
              </a:srgbClr>
            </a:outerShdw>
          </a:effectLst>
        </p:spPr>
      </p:sp>
      <p:pic>
        <p:nvPicPr>
          <p:cNvPr id="74" name="Image 3"/>
          <p:cNvPicPr>
            <a:picLocks xmlns:a="http://schemas.openxmlformats.org/drawingml/2006/main" noChangeAspect="1"/>
          </p:cNvPicPr>
          <p:nvPr/>
        </p:nvPicPr>
        <p:blipFill>
          <a:blip xmlns:r="http://schemas.openxmlformats.org/officeDocument/2006/relationships" xmlns:a="http://schemas.openxmlformats.org/drawingml/2006/main" r:embed="Rd640bc99d6cd4c62"/>
          <a:stretch xmlns:a="http://schemas.openxmlformats.org/drawingml/2006/main">
            <a:fillRect l="0" t="0" r="0" b="0"/>
          </a:stretch>
        </p:blipFill>
        <p:spPr>
          <a:xfrm xmlns:a="http://schemas.openxmlformats.org/drawingml/2006/main">
            <a:off x="7154997" y="5545653"/>
            <a:ext cx="247254" cy="247254"/>
          </a:xfrm>
          <a:prstGeom xmlns:a="http://schemas.openxmlformats.org/drawingml/2006/main" prst="rect">
            <a:avLst/>
          </a:prstGeom>
        </p:spPr>
      </p:pic>
      <p:sp>
        <p:nvSpPr>
          <p:cNvPr id="34" name="Text 27">
            <a:extLst xmlns:a="http://schemas.openxmlformats.org/drawingml/2006/main">
              <a:ext uri="{FF2B5EF4-FFF2-40B4-BE49-F238E27FC236}">
                <a16:creationId xmlns:a16="http://schemas.microsoft.com/office/drawing/2014/main" id="{C9F96212-9E16-405D-82F8-4C569F25B3CE}"/>
              </a:ext>
            </a:extLst>
          </p:cNvPr>
          <p:cNvSpPr>
            <a:spLocks xmlns:a="http://schemas.openxmlformats.org/drawingml/2006/main" noGrp="1"/>
          </p:cNvSpPr>
          <p:nvPr/>
        </p:nvSpPr>
        <p:spPr>
          <a:xfrm xmlns:a="http://schemas.openxmlformats.org/drawingml/2006/main">
            <a:off x="7680960" y="5376672"/>
            <a:ext cx="3779215"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262626"/>
                </a:solidFill>
                <a:latin typeface="Poppins"/>
                <a:ea typeface="Poppins"/>
                <a:cs typeface="Poppins"/>
              </a:rPr>
              <a:t>Onshore-light, off-site build</a:t>
            </a:r>
            <a:endParaRPr sz="1250"/>
          </a:p>
        </p:txBody>
      </p:sp>
      <p:sp>
        <p:nvSpPr>
          <p:cNvPr id="35" name="Text 28">
            <a:extLst xmlns:a="http://schemas.openxmlformats.org/drawingml/2006/main">
              <a:ext uri="{FF2B5EF4-FFF2-40B4-BE49-F238E27FC236}">
                <a16:creationId xmlns:a16="http://schemas.microsoft.com/office/drawing/2014/main" id="{61DC9779-9A2F-4E36-941A-87003A06CD2E}"/>
              </a:ext>
            </a:extLst>
          </p:cNvPr>
          <p:cNvSpPr>
            <a:spLocks xmlns:a="http://schemas.openxmlformats.org/drawingml/2006/main" noGrp="1"/>
          </p:cNvSpPr>
          <p:nvPr/>
        </p:nvSpPr>
        <p:spPr>
          <a:xfrm xmlns:a="http://schemas.openxmlformats.org/drawingml/2006/main">
            <a:off x="7680960" y="5687568"/>
            <a:ext cx="377921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00">
                <a:solidFill>
                  <a:srgbClr val="595959"/>
                </a:solidFill>
                <a:latin typeface="Calibri"/>
                <a:ea typeface="Calibri"/>
                <a:cs typeface="Calibri"/>
              </a:rPr>
              <a:t>Estimate is off-site delivery; on-site presence to be firmed post-award per AMLI governance.</a:t>
            </a:r>
            <a:endParaRPr sz="1000"/>
          </a:p>
        </p:txBody>
      </p:sp>
      <p:sp>
        <p:nvSpPr>
          <p:cNvPr id="36" name="Text 29">
            <a:extLst xmlns:a="http://schemas.openxmlformats.org/drawingml/2006/main">
              <a:ext uri="{FF2B5EF4-FFF2-40B4-BE49-F238E27FC236}">
                <a16:creationId xmlns:a16="http://schemas.microsoft.com/office/drawing/2014/main" id="{F0889BA2-D5D5-47BC-8A2A-AC66F62BB72B}"/>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37" name="Text 30">
            <a:extLst xmlns:a="http://schemas.openxmlformats.org/drawingml/2006/main">
              <a:ext uri="{FF2B5EF4-FFF2-40B4-BE49-F238E27FC236}">
                <a16:creationId xmlns:a16="http://schemas.microsoft.com/office/drawing/2014/main" id="{2252314D-9715-481B-B9F5-2DD24803E758}"/>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15</a:t>
            </a:r>
            <a:endParaRPr sz="900"/>
          </a:p>
        </p:txBody>
      </p:sp>
    </p:spTree>
    <p:extLst>
      <p:ext uri="{BB962C8B-B14F-4D97-AF65-F5344CB8AC3E}">
        <p14:creationId xmlns:p14="http://schemas.microsoft.com/office/powerpoint/2010/main" val="81290567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65A7B53-D0E7-4A37-988C-97CD36F65615}"/>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SUPPORT MODEL</a:t>
            </a:r>
            <a:endParaRPr sz="1200"/>
          </a:p>
        </p:txBody>
      </p:sp>
      <p:sp>
        <p:nvSpPr>
          <p:cNvPr id="3" name="Text 1">
            <a:extLst xmlns:a="http://schemas.openxmlformats.org/drawingml/2006/main">
              <a:ext uri="{FF2B5EF4-FFF2-40B4-BE49-F238E27FC236}">
                <a16:creationId xmlns:a16="http://schemas.microsoft.com/office/drawing/2014/main" id="{A68D83AC-18C6-4529-9861-3E978AA30BF1}"/>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Hyper-care, SLAs &amp; penalty exposure</a:t>
            </a:r>
            <a:endParaRPr sz="3000"/>
          </a:p>
        </p:txBody>
      </p:sp>
      <p:sp>
        <p:nvSpPr>
          <p:cNvPr id="4" name="Text 2">
            <a:extLst xmlns:a="http://schemas.openxmlformats.org/drawingml/2006/main">
              <a:ext uri="{FF2B5EF4-FFF2-40B4-BE49-F238E27FC236}">
                <a16:creationId xmlns:a16="http://schemas.microsoft.com/office/drawing/2014/main" id="{BB34EA14-3909-4098-8894-3EA94288AF09}"/>
              </a:ext>
            </a:extLst>
          </p:cNvPr>
          <p:cNvSpPr>
            <a:spLocks xmlns:a="http://schemas.openxmlformats.org/drawingml/2006/main" noGrp="1"/>
          </p:cNvSpPr>
          <p:nvPr/>
        </p:nvSpPr>
        <p:spPr>
          <a:xfrm xmlns:a="http://schemas.openxmlformats.org/drawingml/2006/main">
            <a:off x="548640" y="1444752"/>
            <a:ext cx="54864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1F3A5F"/>
                </a:solidFill>
                <a:latin typeface="Poppins"/>
                <a:ea typeface="Poppins"/>
                <a:cs typeface="Poppins"/>
              </a:rPr>
              <a:t>SUPPORT TIERS</a:t>
            </a:r>
            <a:endParaRPr sz="1100"/>
          </a:p>
        </p:txBody>
      </p:sp>
      <p:sp>
        <p:nvSpPr>
          <p:cNvPr id="5" name="Shape 3">
            <a:extLst xmlns:a="http://schemas.openxmlformats.org/drawingml/2006/main">
              <a:ext uri="{FF2B5EF4-FFF2-40B4-BE49-F238E27FC236}">
                <a16:creationId xmlns:a16="http://schemas.microsoft.com/office/drawing/2014/main" id="{F64AEEA0-2DC4-4DBB-A467-1F2676E10810}"/>
              </a:ext>
            </a:extLst>
          </p:cNvPr>
          <p:cNvSpPr>
            <a:spLocks xmlns:a="http://schemas.openxmlformats.org/drawingml/2006/main" noGrp="1"/>
          </p:cNvSpPr>
          <p:nvPr/>
        </p:nvSpPr>
        <p:spPr>
          <a:xfrm xmlns:a="http://schemas.openxmlformats.org/drawingml/2006/main">
            <a:off x="548640" y="1773936"/>
            <a:ext cx="1859280" cy="1207008"/>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595959"/>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6" name="Shape 4">
            <a:extLst xmlns:a="http://schemas.openxmlformats.org/drawingml/2006/main">
              <a:ext uri="{FF2B5EF4-FFF2-40B4-BE49-F238E27FC236}">
                <a16:creationId xmlns:a16="http://schemas.microsoft.com/office/drawing/2014/main" id="{AFA8B5DB-4F09-482F-B703-03E65E6DA424}"/>
              </a:ext>
            </a:extLst>
          </p:cNvPr>
          <p:cNvSpPr>
            <a:spLocks xmlns:a="http://schemas.openxmlformats.org/drawingml/2006/main" noGrp="1"/>
          </p:cNvSpPr>
          <p:nvPr/>
        </p:nvSpPr>
        <p:spPr>
          <a:xfrm xmlns:a="http://schemas.openxmlformats.org/drawingml/2006/main">
            <a:off x="1203960" y="1901952"/>
            <a:ext cx="548640" cy="548640"/>
          </a:xfrm>
          <a:prstGeom xmlns:a="http://schemas.openxmlformats.org/drawingml/2006/main" prst="ellipse">
            <a:avLst/>
          </a:prstGeom>
          <a:solidFill xmlns:a="http://schemas.openxmlformats.org/drawingml/2006/main">
            <a:srgbClr val="595959"/>
          </a:solidFill>
        </p:spPr>
      </p:sp>
      <p:sp>
        <p:nvSpPr>
          <p:cNvPr id="7" name="Text 5">
            <a:extLst xmlns:a="http://schemas.openxmlformats.org/drawingml/2006/main">
              <a:ext uri="{FF2B5EF4-FFF2-40B4-BE49-F238E27FC236}">
                <a16:creationId xmlns:a16="http://schemas.microsoft.com/office/drawing/2014/main" id="{923D92A4-A15C-4BEF-8B63-38EA343277A5}"/>
              </a:ext>
            </a:extLst>
          </p:cNvPr>
          <p:cNvSpPr>
            <a:spLocks xmlns:a="http://schemas.openxmlformats.org/drawingml/2006/main" noGrp="1"/>
          </p:cNvSpPr>
          <p:nvPr/>
        </p:nvSpPr>
        <p:spPr>
          <a:xfrm xmlns:a="http://schemas.openxmlformats.org/drawingml/2006/main">
            <a:off x="1203960" y="1901952"/>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Poppins"/>
                <a:ea typeface="Poppins"/>
                <a:cs typeface="Poppins"/>
              </a:rPr>
              <a:t>L1</a:t>
            </a:r>
            <a:endParaRPr sz="1600"/>
          </a:p>
        </p:txBody>
      </p:sp>
      <p:sp>
        <p:nvSpPr>
          <p:cNvPr id="8" name="Text 6">
            <a:extLst xmlns:a="http://schemas.openxmlformats.org/drawingml/2006/main">
              <a:ext uri="{FF2B5EF4-FFF2-40B4-BE49-F238E27FC236}">
                <a16:creationId xmlns:a16="http://schemas.microsoft.com/office/drawing/2014/main" id="{575376C9-DF7D-4680-9E01-8B6BC0BE4EFC}"/>
              </a:ext>
            </a:extLst>
          </p:cNvPr>
          <p:cNvSpPr>
            <a:spLocks xmlns:a="http://schemas.openxmlformats.org/drawingml/2006/main" noGrp="1"/>
          </p:cNvSpPr>
          <p:nvPr/>
        </p:nvSpPr>
        <p:spPr>
          <a:xfrm xmlns:a="http://schemas.openxmlformats.org/drawingml/2006/main">
            <a:off x="603504" y="2523744"/>
            <a:ext cx="1749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MLI Service Desk</a:t>
            </a:r>
            <a:endParaRPr sz="1050"/>
          </a:p>
        </p:txBody>
      </p:sp>
      <p:sp>
        <p:nvSpPr>
          <p:cNvPr id="9" name="Text 7">
            <a:extLst xmlns:a="http://schemas.openxmlformats.org/drawingml/2006/main">
              <a:ext uri="{FF2B5EF4-FFF2-40B4-BE49-F238E27FC236}">
                <a16:creationId xmlns:a16="http://schemas.microsoft.com/office/drawing/2014/main" id="{547EF8F1-CAE5-414F-AC23-C1299D1B406A}"/>
              </a:ext>
            </a:extLst>
          </p:cNvPr>
          <p:cNvSpPr>
            <a:spLocks xmlns:a="http://schemas.openxmlformats.org/drawingml/2006/main" noGrp="1"/>
          </p:cNvSpPr>
          <p:nvPr/>
        </p:nvSpPr>
        <p:spPr>
          <a:xfrm xmlns:a="http://schemas.openxmlformats.org/drawingml/2006/main">
            <a:off x="603504" y="2761488"/>
            <a:ext cx="17495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95959"/>
                </a:solidFill>
                <a:latin typeface="Calibri"/>
                <a:ea typeface="Calibri"/>
                <a:cs typeface="Calibri"/>
              </a:rPr>
              <a:t>First response &amp; triage</a:t>
            </a:r>
            <a:endParaRPr sz="850"/>
          </a:p>
        </p:txBody>
      </p:sp>
      <p:sp>
        <p:nvSpPr>
          <p:cNvPr id="10" name="Shape 8">
            <a:extLst xmlns:a="http://schemas.openxmlformats.org/drawingml/2006/main">
              <a:ext uri="{FF2B5EF4-FFF2-40B4-BE49-F238E27FC236}">
                <a16:creationId xmlns:a16="http://schemas.microsoft.com/office/drawing/2014/main" id="{AC25F559-6F66-4168-9853-F92F06FCCE36}"/>
              </a:ext>
            </a:extLst>
          </p:cNvPr>
          <p:cNvSpPr>
            <a:spLocks xmlns:a="http://schemas.openxmlformats.org/drawingml/2006/main" noGrp="1"/>
          </p:cNvSpPr>
          <p:nvPr/>
        </p:nvSpPr>
        <p:spPr>
          <a:xfrm xmlns:a="http://schemas.openxmlformats.org/drawingml/2006/main">
            <a:off x="2590800" y="1773936"/>
            <a:ext cx="1859280" cy="1207008"/>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EE2B76"/>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1" name="Shape 9">
            <a:extLst xmlns:a="http://schemas.openxmlformats.org/drawingml/2006/main">
              <a:ext uri="{FF2B5EF4-FFF2-40B4-BE49-F238E27FC236}">
                <a16:creationId xmlns:a16="http://schemas.microsoft.com/office/drawing/2014/main" id="{776E4F2A-E3D6-44CE-A26C-3859F3F2EF7B}"/>
              </a:ext>
            </a:extLst>
          </p:cNvPr>
          <p:cNvSpPr>
            <a:spLocks xmlns:a="http://schemas.openxmlformats.org/drawingml/2006/main" noGrp="1"/>
          </p:cNvSpPr>
          <p:nvPr/>
        </p:nvSpPr>
        <p:spPr>
          <a:xfrm xmlns:a="http://schemas.openxmlformats.org/drawingml/2006/main">
            <a:off x="3246120" y="1901952"/>
            <a:ext cx="548640" cy="548640"/>
          </a:xfrm>
          <a:prstGeom xmlns:a="http://schemas.openxmlformats.org/drawingml/2006/main" prst="ellipse">
            <a:avLst/>
          </a:prstGeom>
          <a:solidFill xmlns:a="http://schemas.openxmlformats.org/drawingml/2006/main">
            <a:srgbClr val="EE2B76"/>
          </a:solidFill>
        </p:spPr>
      </p:sp>
      <p:sp>
        <p:nvSpPr>
          <p:cNvPr id="12" name="Text 10">
            <a:extLst xmlns:a="http://schemas.openxmlformats.org/drawingml/2006/main">
              <a:ext uri="{FF2B5EF4-FFF2-40B4-BE49-F238E27FC236}">
                <a16:creationId xmlns:a16="http://schemas.microsoft.com/office/drawing/2014/main" id="{C4720A81-2024-4E7B-9899-758F12C4FE77}"/>
              </a:ext>
            </a:extLst>
          </p:cNvPr>
          <p:cNvSpPr>
            <a:spLocks xmlns:a="http://schemas.openxmlformats.org/drawingml/2006/main" noGrp="1"/>
          </p:cNvSpPr>
          <p:nvPr/>
        </p:nvSpPr>
        <p:spPr>
          <a:xfrm xmlns:a="http://schemas.openxmlformats.org/drawingml/2006/main">
            <a:off x="3246120" y="1901952"/>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Poppins"/>
                <a:ea typeface="Poppins"/>
                <a:cs typeface="Poppins"/>
              </a:rPr>
              <a:t>L2</a:t>
            </a:r>
            <a:endParaRPr sz="1600"/>
          </a:p>
        </p:txBody>
      </p:sp>
      <p:sp>
        <p:nvSpPr>
          <p:cNvPr id="13" name="Text 11">
            <a:extLst xmlns:a="http://schemas.openxmlformats.org/drawingml/2006/main">
              <a:ext uri="{FF2B5EF4-FFF2-40B4-BE49-F238E27FC236}">
                <a16:creationId xmlns:a16="http://schemas.microsoft.com/office/drawing/2014/main" id="{F4F0B50A-D1CC-4E70-AED3-14E894E564A6}"/>
              </a:ext>
            </a:extLst>
          </p:cNvPr>
          <p:cNvSpPr>
            <a:spLocks xmlns:a="http://schemas.openxmlformats.org/drawingml/2006/main" noGrp="1"/>
          </p:cNvSpPr>
          <p:nvPr/>
        </p:nvSpPr>
        <p:spPr>
          <a:xfrm xmlns:a="http://schemas.openxmlformats.org/drawingml/2006/main">
            <a:off x="2645664" y="2523744"/>
            <a:ext cx="1749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Vendor app support</a:t>
            </a:r>
            <a:endParaRPr sz="1050"/>
          </a:p>
        </p:txBody>
      </p:sp>
      <p:sp>
        <p:nvSpPr>
          <p:cNvPr id="14" name="Text 12">
            <a:extLst xmlns:a="http://schemas.openxmlformats.org/drawingml/2006/main">
              <a:ext uri="{FF2B5EF4-FFF2-40B4-BE49-F238E27FC236}">
                <a16:creationId xmlns:a16="http://schemas.microsoft.com/office/drawing/2014/main" id="{74D49A47-EFB8-48BA-8565-F1076DF4C638}"/>
              </a:ext>
            </a:extLst>
          </p:cNvPr>
          <p:cNvSpPr>
            <a:spLocks xmlns:a="http://schemas.openxmlformats.org/drawingml/2006/main" noGrp="1"/>
          </p:cNvSpPr>
          <p:nvPr/>
        </p:nvSpPr>
        <p:spPr>
          <a:xfrm xmlns:a="http://schemas.openxmlformats.org/drawingml/2006/main">
            <a:off x="2645664" y="2761488"/>
            <a:ext cx="17495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95959"/>
                </a:solidFill>
                <a:latin typeface="Calibri"/>
                <a:ea typeface="Calibri"/>
                <a:cs typeface="Calibri"/>
              </a:rPr>
              <a:t>Application-level support</a:t>
            </a:r>
            <a:endParaRPr sz="850"/>
          </a:p>
        </p:txBody>
      </p:sp>
      <p:sp>
        <p:nvSpPr>
          <p:cNvPr id="15" name="Shape 13">
            <a:extLst xmlns:a="http://schemas.openxmlformats.org/drawingml/2006/main">
              <a:ext uri="{FF2B5EF4-FFF2-40B4-BE49-F238E27FC236}">
                <a16:creationId xmlns:a16="http://schemas.microsoft.com/office/drawing/2014/main" id="{E203C061-EB9D-4D73-A013-4F205529B255}"/>
              </a:ext>
            </a:extLst>
          </p:cNvPr>
          <p:cNvSpPr>
            <a:spLocks xmlns:a="http://schemas.openxmlformats.org/drawingml/2006/main" noGrp="1"/>
          </p:cNvSpPr>
          <p:nvPr/>
        </p:nvSpPr>
        <p:spPr>
          <a:xfrm xmlns:a="http://schemas.openxmlformats.org/drawingml/2006/main">
            <a:off x="4632960" y="1773936"/>
            <a:ext cx="1859280" cy="1207008"/>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9050">
            <a:solidFill>
              <a:srgbClr val="1F3A5F"/>
            </a:solidFill>
            <a:prstDash val="solid"/>
          </a:ln>
          <a:effectLst xmlns:a="http://schemas.openxmlformats.org/drawingml/2006/main">
            <a:outerShdw blurRad="114300" dist="38100" dir="5400000" sx="100000" sy="100000" kx="0" ky="0" algn="bl" rotWithShape="0">
              <a:srgbClr val="9A8F88">
                <a:alpha val="32000"/>
              </a:srgbClr>
            </a:outerShdw>
          </a:effectLst>
        </p:spPr>
      </p:sp>
      <p:sp>
        <p:nvSpPr>
          <p:cNvPr id="16" name="Shape 14">
            <a:extLst xmlns:a="http://schemas.openxmlformats.org/drawingml/2006/main">
              <a:ext uri="{FF2B5EF4-FFF2-40B4-BE49-F238E27FC236}">
                <a16:creationId xmlns:a16="http://schemas.microsoft.com/office/drawing/2014/main" id="{6478B6A9-5074-4CCA-BCF5-CE4A96802308}"/>
              </a:ext>
            </a:extLst>
          </p:cNvPr>
          <p:cNvSpPr>
            <a:spLocks xmlns:a="http://schemas.openxmlformats.org/drawingml/2006/main" noGrp="1"/>
          </p:cNvSpPr>
          <p:nvPr/>
        </p:nvSpPr>
        <p:spPr>
          <a:xfrm xmlns:a="http://schemas.openxmlformats.org/drawingml/2006/main">
            <a:off x="5288280" y="1901952"/>
            <a:ext cx="548640" cy="548640"/>
          </a:xfrm>
          <a:prstGeom xmlns:a="http://schemas.openxmlformats.org/drawingml/2006/main" prst="ellipse">
            <a:avLst/>
          </a:prstGeom>
          <a:solidFill xmlns:a="http://schemas.openxmlformats.org/drawingml/2006/main">
            <a:srgbClr val="1F3A5F"/>
          </a:solidFill>
        </p:spPr>
      </p:sp>
      <p:sp>
        <p:nvSpPr>
          <p:cNvPr id="17" name="Text 15">
            <a:extLst xmlns:a="http://schemas.openxmlformats.org/drawingml/2006/main">
              <a:ext uri="{FF2B5EF4-FFF2-40B4-BE49-F238E27FC236}">
                <a16:creationId xmlns:a16="http://schemas.microsoft.com/office/drawing/2014/main" id="{F82452D4-97D9-454F-AEB8-38E612D8A168}"/>
              </a:ext>
            </a:extLst>
          </p:cNvPr>
          <p:cNvSpPr>
            <a:spLocks xmlns:a="http://schemas.openxmlformats.org/drawingml/2006/main" noGrp="1"/>
          </p:cNvSpPr>
          <p:nvPr/>
        </p:nvSpPr>
        <p:spPr>
          <a:xfrm xmlns:a="http://schemas.openxmlformats.org/drawingml/2006/main">
            <a:off x="5288280" y="1901952"/>
            <a:ext cx="5486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Poppins"/>
                <a:ea typeface="Poppins"/>
                <a:cs typeface="Poppins"/>
              </a:rPr>
              <a:t>L3</a:t>
            </a:r>
            <a:endParaRPr sz="1600"/>
          </a:p>
        </p:txBody>
      </p:sp>
      <p:sp>
        <p:nvSpPr>
          <p:cNvPr id="18" name="Text 16">
            <a:extLst xmlns:a="http://schemas.openxmlformats.org/drawingml/2006/main">
              <a:ext uri="{FF2B5EF4-FFF2-40B4-BE49-F238E27FC236}">
                <a16:creationId xmlns:a16="http://schemas.microsoft.com/office/drawing/2014/main" id="{B715D8E1-34D3-4627-871B-D6D07C35B4BE}"/>
              </a:ext>
            </a:extLst>
          </p:cNvPr>
          <p:cNvSpPr>
            <a:spLocks xmlns:a="http://schemas.openxmlformats.org/drawingml/2006/main" noGrp="1"/>
          </p:cNvSpPr>
          <p:nvPr/>
        </p:nvSpPr>
        <p:spPr>
          <a:xfrm xmlns:a="http://schemas.openxmlformats.org/drawingml/2006/main">
            <a:off x="4687824" y="2523744"/>
            <a:ext cx="174955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262626"/>
                </a:solidFill>
                <a:latin typeface="Poppins"/>
                <a:ea typeface="Poppins"/>
                <a:cs typeface="Poppins"/>
              </a:rPr>
              <a:t>Engineering</a:t>
            </a:r>
            <a:endParaRPr sz="1050"/>
          </a:p>
        </p:txBody>
      </p:sp>
      <p:sp>
        <p:nvSpPr>
          <p:cNvPr id="19" name="Text 17">
            <a:extLst xmlns:a="http://schemas.openxmlformats.org/drawingml/2006/main">
              <a:ext uri="{FF2B5EF4-FFF2-40B4-BE49-F238E27FC236}">
                <a16:creationId xmlns:a16="http://schemas.microsoft.com/office/drawing/2014/main" id="{25EA8A23-7D5C-40A0-A577-A812C88034D2}"/>
              </a:ext>
            </a:extLst>
          </p:cNvPr>
          <p:cNvSpPr>
            <a:spLocks xmlns:a="http://schemas.openxmlformats.org/drawingml/2006/main" noGrp="1"/>
          </p:cNvSpPr>
          <p:nvPr/>
        </p:nvSpPr>
        <p:spPr>
          <a:xfrm xmlns:a="http://schemas.openxmlformats.org/drawingml/2006/main">
            <a:off x="4687824" y="2761488"/>
            <a:ext cx="174955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595959"/>
                </a:solidFill>
                <a:latin typeface="Calibri"/>
                <a:ea typeface="Calibri"/>
                <a:cs typeface="Calibri"/>
              </a:rPr>
              <a:t>Root-cause &amp; code fixes</a:t>
            </a:r>
            <a:endParaRPr sz="850"/>
          </a:p>
        </p:txBody>
      </p:sp>
      <p:sp>
        <p:nvSpPr>
          <p:cNvPr id="20" name="Text 18">
            <a:extLst xmlns:a="http://schemas.openxmlformats.org/drawingml/2006/main">
              <a:ext uri="{FF2B5EF4-FFF2-40B4-BE49-F238E27FC236}">
                <a16:creationId xmlns:a16="http://schemas.microsoft.com/office/drawing/2014/main" id="{26B7FF71-A04E-4154-A542-A255AD538EFA}"/>
              </a:ext>
            </a:extLst>
          </p:cNvPr>
          <p:cNvSpPr>
            <a:spLocks xmlns:a="http://schemas.openxmlformats.org/drawingml/2006/main" noGrp="1"/>
          </p:cNvSpPr>
          <p:nvPr/>
        </p:nvSpPr>
        <p:spPr>
          <a:xfrm xmlns:a="http://schemas.openxmlformats.org/drawingml/2006/main">
            <a:off x="548640" y="3063240"/>
            <a:ext cx="5943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1F3A5F"/>
                </a:solidFill>
                <a:latin typeface="Poppins"/>
                <a:ea typeface="Poppins"/>
                <a:cs typeface="Poppins"/>
              </a:rPr>
              <a:t>INCIDENT SLAs  (post go-live)</a:t>
            </a:r>
            <a:endParaRPr sz="1100"/>
          </a:p>
        </p:txBody>
      </p:sp>
      <p:sp>
        <p:nvSpPr>
          <p:cNvPr id="21" name="Shape 19">
            <a:extLst xmlns:a="http://schemas.openxmlformats.org/drawingml/2006/main">
              <a:ext uri="{FF2B5EF4-FFF2-40B4-BE49-F238E27FC236}">
                <a16:creationId xmlns:a16="http://schemas.microsoft.com/office/drawing/2014/main" id="{032D80E7-8620-4C8F-ADC1-408F6EC754FA}"/>
              </a:ext>
            </a:extLst>
          </p:cNvPr>
          <p:cNvSpPr>
            <a:spLocks xmlns:a="http://schemas.openxmlformats.org/drawingml/2006/main" noGrp="1"/>
          </p:cNvSpPr>
          <p:nvPr/>
        </p:nvSpPr>
        <p:spPr>
          <a:xfrm xmlns:a="http://schemas.openxmlformats.org/drawingml/2006/main">
            <a:off x="548640" y="3401568"/>
            <a:ext cx="1463040" cy="402336"/>
          </a:xfrm>
          <a:prstGeom xmlns:a="http://schemas.openxmlformats.org/drawingml/2006/main" prst="rect">
            <a:avLst/>
          </a:prstGeom>
          <a:solidFill xmlns:a="http://schemas.openxmlformats.org/drawingml/2006/main">
            <a:srgbClr val="EE2B76"/>
          </a:solidFill>
          <a:ln xmlns:a="http://schemas.openxmlformats.org/drawingml/2006/main" w="6350">
            <a:solidFill>
              <a:srgbClr val="E5DEDB"/>
            </a:solidFill>
            <a:prstDash val="solid"/>
          </a:ln>
        </p:spPr>
      </p:sp>
      <p:sp>
        <p:nvSpPr>
          <p:cNvPr id="22" name="Text 20">
            <a:extLst xmlns:a="http://schemas.openxmlformats.org/drawingml/2006/main">
              <a:ext uri="{FF2B5EF4-FFF2-40B4-BE49-F238E27FC236}">
                <a16:creationId xmlns:a16="http://schemas.microsoft.com/office/drawing/2014/main" id="{7481817C-1613-490B-953F-89EDBFCDC0B7}"/>
              </a:ext>
            </a:extLst>
          </p:cNvPr>
          <p:cNvSpPr>
            <a:spLocks xmlns:a="http://schemas.openxmlformats.org/drawingml/2006/main" noGrp="1"/>
          </p:cNvSpPr>
          <p:nvPr/>
        </p:nvSpPr>
        <p:spPr>
          <a:xfrm xmlns:a="http://schemas.openxmlformats.org/drawingml/2006/main">
            <a:off x="658368" y="3401568"/>
            <a:ext cx="12984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Poppins"/>
                <a:ea typeface="Poppins"/>
                <a:cs typeface="Poppins"/>
              </a:rPr>
              <a:t>Sev</a:t>
            </a:r>
            <a:endParaRPr sz="1050"/>
          </a:p>
        </p:txBody>
      </p:sp>
      <p:sp>
        <p:nvSpPr>
          <p:cNvPr id="23" name="Shape 21">
            <a:extLst xmlns:a="http://schemas.openxmlformats.org/drawingml/2006/main">
              <a:ext uri="{FF2B5EF4-FFF2-40B4-BE49-F238E27FC236}">
                <a16:creationId xmlns:a16="http://schemas.microsoft.com/office/drawing/2014/main" id="{812D57A2-F8BD-4893-B3B6-8D51C070BC66}"/>
              </a:ext>
            </a:extLst>
          </p:cNvPr>
          <p:cNvSpPr>
            <a:spLocks xmlns:a="http://schemas.openxmlformats.org/drawingml/2006/main" noGrp="1"/>
          </p:cNvSpPr>
          <p:nvPr/>
        </p:nvSpPr>
        <p:spPr>
          <a:xfrm xmlns:a="http://schemas.openxmlformats.org/drawingml/2006/main">
            <a:off x="2011680" y="3401568"/>
            <a:ext cx="2148840" cy="402336"/>
          </a:xfrm>
          <a:prstGeom xmlns:a="http://schemas.openxmlformats.org/drawingml/2006/main" prst="rect">
            <a:avLst/>
          </a:prstGeom>
          <a:solidFill xmlns:a="http://schemas.openxmlformats.org/drawingml/2006/main">
            <a:srgbClr val="EE2B76"/>
          </a:solidFill>
          <a:ln xmlns:a="http://schemas.openxmlformats.org/drawingml/2006/main" w="6350">
            <a:solidFill>
              <a:srgbClr val="E5DEDB"/>
            </a:solidFill>
            <a:prstDash val="solid"/>
          </a:ln>
        </p:spPr>
      </p:sp>
      <p:sp>
        <p:nvSpPr>
          <p:cNvPr id="24" name="Text 22">
            <a:extLst xmlns:a="http://schemas.openxmlformats.org/drawingml/2006/main">
              <a:ext uri="{FF2B5EF4-FFF2-40B4-BE49-F238E27FC236}">
                <a16:creationId xmlns:a16="http://schemas.microsoft.com/office/drawing/2014/main" id="{92A70E48-404D-4367-AD72-C3DA1DEFFF0A}"/>
              </a:ext>
            </a:extLst>
          </p:cNvPr>
          <p:cNvSpPr>
            <a:spLocks xmlns:a="http://schemas.openxmlformats.org/drawingml/2006/main" noGrp="1"/>
          </p:cNvSpPr>
          <p:nvPr/>
        </p:nvSpPr>
        <p:spPr>
          <a:xfrm xmlns:a="http://schemas.openxmlformats.org/drawingml/2006/main">
            <a:off x="2121408" y="3401568"/>
            <a:ext cx="19842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Poppins"/>
                <a:ea typeface="Poppins"/>
                <a:cs typeface="Poppins"/>
              </a:rPr>
              <a:t>Response</a:t>
            </a:r>
            <a:endParaRPr sz="1050"/>
          </a:p>
        </p:txBody>
      </p:sp>
      <p:sp>
        <p:nvSpPr>
          <p:cNvPr id="25" name="Shape 23">
            <a:extLst xmlns:a="http://schemas.openxmlformats.org/drawingml/2006/main">
              <a:ext uri="{FF2B5EF4-FFF2-40B4-BE49-F238E27FC236}">
                <a16:creationId xmlns:a16="http://schemas.microsoft.com/office/drawing/2014/main" id="{E2BCC02D-EAF1-45BC-8EFA-06A09A233B32}"/>
              </a:ext>
            </a:extLst>
          </p:cNvPr>
          <p:cNvSpPr>
            <a:spLocks xmlns:a="http://schemas.openxmlformats.org/drawingml/2006/main" noGrp="1"/>
          </p:cNvSpPr>
          <p:nvPr/>
        </p:nvSpPr>
        <p:spPr>
          <a:xfrm xmlns:a="http://schemas.openxmlformats.org/drawingml/2006/main">
            <a:off x="4160520" y="3401568"/>
            <a:ext cx="2331720" cy="402336"/>
          </a:xfrm>
          <a:prstGeom xmlns:a="http://schemas.openxmlformats.org/drawingml/2006/main" prst="rect">
            <a:avLst/>
          </a:prstGeom>
          <a:solidFill xmlns:a="http://schemas.openxmlformats.org/drawingml/2006/main">
            <a:srgbClr val="EE2B76"/>
          </a:solidFill>
          <a:ln xmlns:a="http://schemas.openxmlformats.org/drawingml/2006/main" w="6350">
            <a:solidFill>
              <a:srgbClr val="E5DEDB"/>
            </a:solidFill>
            <a:prstDash val="solid"/>
          </a:ln>
        </p:spPr>
      </p:sp>
      <p:sp>
        <p:nvSpPr>
          <p:cNvPr id="26" name="Text 24">
            <a:extLst xmlns:a="http://schemas.openxmlformats.org/drawingml/2006/main">
              <a:ext uri="{FF2B5EF4-FFF2-40B4-BE49-F238E27FC236}">
                <a16:creationId xmlns:a16="http://schemas.microsoft.com/office/drawing/2014/main" id="{3ECEA007-698F-43C2-8A99-A7894FB627C8}"/>
              </a:ext>
            </a:extLst>
          </p:cNvPr>
          <p:cNvSpPr>
            <a:spLocks xmlns:a="http://schemas.openxmlformats.org/drawingml/2006/main" noGrp="1"/>
          </p:cNvSpPr>
          <p:nvPr/>
        </p:nvSpPr>
        <p:spPr>
          <a:xfrm xmlns:a="http://schemas.openxmlformats.org/drawingml/2006/main">
            <a:off x="4270248" y="3401568"/>
            <a:ext cx="216712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Poppins"/>
                <a:ea typeface="Poppins"/>
                <a:cs typeface="Poppins"/>
              </a:rPr>
              <a:t>Resolution</a:t>
            </a:r>
            <a:endParaRPr sz="1050"/>
          </a:p>
        </p:txBody>
      </p:sp>
      <p:sp>
        <p:nvSpPr>
          <p:cNvPr id="27" name="Shape 25">
            <a:extLst xmlns:a="http://schemas.openxmlformats.org/drawingml/2006/main">
              <a:ext uri="{FF2B5EF4-FFF2-40B4-BE49-F238E27FC236}">
                <a16:creationId xmlns:a16="http://schemas.microsoft.com/office/drawing/2014/main" id="{C4757C43-F1A5-4191-9475-13DCE28A60E5}"/>
              </a:ext>
            </a:extLst>
          </p:cNvPr>
          <p:cNvSpPr>
            <a:spLocks xmlns:a="http://schemas.openxmlformats.org/drawingml/2006/main" noGrp="1"/>
          </p:cNvSpPr>
          <p:nvPr/>
        </p:nvSpPr>
        <p:spPr>
          <a:xfrm xmlns:a="http://schemas.openxmlformats.org/drawingml/2006/main">
            <a:off x="548640" y="3803904"/>
            <a:ext cx="1463040" cy="402336"/>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28" name="Text 26">
            <a:extLst xmlns:a="http://schemas.openxmlformats.org/drawingml/2006/main">
              <a:ext uri="{FF2B5EF4-FFF2-40B4-BE49-F238E27FC236}">
                <a16:creationId xmlns:a16="http://schemas.microsoft.com/office/drawing/2014/main" id="{9F7304EF-7585-47F3-A295-FAD9E4651461}"/>
              </a:ext>
            </a:extLst>
          </p:cNvPr>
          <p:cNvSpPr>
            <a:spLocks xmlns:a="http://schemas.openxmlformats.org/drawingml/2006/main" noGrp="1"/>
          </p:cNvSpPr>
          <p:nvPr/>
        </p:nvSpPr>
        <p:spPr>
          <a:xfrm xmlns:a="http://schemas.openxmlformats.org/drawingml/2006/main">
            <a:off x="658368" y="3803904"/>
            <a:ext cx="12984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A231F"/>
                </a:solidFill>
                <a:latin typeface="Calibri"/>
                <a:ea typeface="Calibri"/>
                <a:cs typeface="Calibri"/>
              </a:rPr>
              <a:t>P1</a:t>
            </a:r>
            <a:endParaRPr sz="1050"/>
          </a:p>
        </p:txBody>
      </p:sp>
      <p:sp>
        <p:nvSpPr>
          <p:cNvPr id="29" name="Shape 27">
            <a:extLst xmlns:a="http://schemas.openxmlformats.org/drawingml/2006/main">
              <a:ext uri="{FF2B5EF4-FFF2-40B4-BE49-F238E27FC236}">
                <a16:creationId xmlns:a16="http://schemas.microsoft.com/office/drawing/2014/main" id="{CDA0B804-6779-41A3-B019-1F4C78C18496}"/>
              </a:ext>
            </a:extLst>
          </p:cNvPr>
          <p:cNvSpPr>
            <a:spLocks xmlns:a="http://schemas.openxmlformats.org/drawingml/2006/main" noGrp="1"/>
          </p:cNvSpPr>
          <p:nvPr/>
        </p:nvSpPr>
        <p:spPr>
          <a:xfrm xmlns:a="http://schemas.openxmlformats.org/drawingml/2006/main">
            <a:off x="2011680" y="3803904"/>
            <a:ext cx="2148840" cy="402336"/>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30" name="Text 28">
            <a:extLst xmlns:a="http://schemas.openxmlformats.org/drawingml/2006/main">
              <a:ext uri="{FF2B5EF4-FFF2-40B4-BE49-F238E27FC236}">
                <a16:creationId xmlns:a16="http://schemas.microsoft.com/office/drawing/2014/main" id="{52952AC0-94ED-413C-989E-D84774E9CBCB}"/>
              </a:ext>
            </a:extLst>
          </p:cNvPr>
          <p:cNvSpPr>
            <a:spLocks xmlns:a="http://schemas.openxmlformats.org/drawingml/2006/main" noGrp="1"/>
          </p:cNvSpPr>
          <p:nvPr/>
        </p:nvSpPr>
        <p:spPr>
          <a:xfrm xmlns:a="http://schemas.openxmlformats.org/drawingml/2006/main">
            <a:off x="2121408" y="3803904"/>
            <a:ext cx="19842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A231F"/>
                </a:solidFill>
                <a:latin typeface="Calibri"/>
                <a:ea typeface="Calibri"/>
                <a:cs typeface="Calibri"/>
              </a:rPr>
              <a:t>15 min</a:t>
            </a:r>
            <a:endParaRPr sz="1050"/>
          </a:p>
        </p:txBody>
      </p:sp>
      <p:sp>
        <p:nvSpPr>
          <p:cNvPr id="31" name="Shape 29">
            <a:extLst xmlns:a="http://schemas.openxmlformats.org/drawingml/2006/main">
              <a:ext uri="{FF2B5EF4-FFF2-40B4-BE49-F238E27FC236}">
                <a16:creationId xmlns:a16="http://schemas.microsoft.com/office/drawing/2014/main" id="{39BBBAEC-F10E-480F-8FC5-2DBF650A7654}"/>
              </a:ext>
            </a:extLst>
          </p:cNvPr>
          <p:cNvSpPr>
            <a:spLocks xmlns:a="http://schemas.openxmlformats.org/drawingml/2006/main" noGrp="1"/>
          </p:cNvSpPr>
          <p:nvPr/>
        </p:nvSpPr>
        <p:spPr>
          <a:xfrm xmlns:a="http://schemas.openxmlformats.org/drawingml/2006/main">
            <a:off x="4160520" y="3803904"/>
            <a:ext cx="2331720" cy="402336"/>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32" name="Text 30">
            <a:extLst xmlns:a="http://schemas.openxmlformats.org/drawingml/2006/main">
              <a:ext uri="{FF2B5EF4-FFF2-40B4-BE49-F238E27FC236}">
                <a16:creationId xmlns:a16="http://schemas.microsoft.com/office/drawing/2014/main" id="{BF1D7395-EC69-4822-92D6-9FD6B1DABF06}"/>
              </a:ext>
            </a:extLst>
          </p:cNvPr>
          <p:cNvSpPr>
            <a:spLocks xmlns:a="http://schemas.openxmlformats.org/drawingml/2006/main" noGrp="1"/>
          </p:cNvSpPr>
          <p:nvPr/>
        </p:nvSpPr>
        <p:spPr>
          <a:xfrm xmlns:a="http://schemas.openxmlformats.org/drawingml/2006/main">
            <a:off x="4270248" y="3803904"/>
            <a:ext cx="216712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A231F"/>
                </a:solidFill>
                <a:latin typeface="Calibri"/>
                <a:ea typeface="Calibri"/>
                <a:cs typeface="Calibri"/>
              </a:rPr>
              <a:t>≤ 4 hrs</a:t>
            </a:r>
            <a:endParaRPr sz="1050"/>
          </a:p>
        </p:txBody>
      </p:sp>
      <p:sp>
        <p:nvSpPr>
          <p:cNvPr id="33" name="Shape 31">
            <a:extLst xmlns:a="http://schemas.openxmlformats.org/drawingml/2006/main">
              <a:ext uri="{FF2B5EF4-FFF2-40B4-BE49-F238E27FC236}">
                <a16:creationId xmlns:a16="http://schemas.microsoft.com/office/drawing/2014/main" id="{574A7990-4F9B-4AB8-9684-C96CBB1CC9A4}"/>
              </a:ext>
            </a:extLst>
          </p:cNvPr>
          <p:cNvSpPr>
            <a:spLocks xmlns:a="http://schemas.openxmlformats.org/drawingml/2006/main" noGrp="1"/>
          </p:cNvSpPr>
          <p:nvPr/>
        </p:nvSpPr>
        <p:spPr>
          <a:xfrm xmlns:a="http://schemas.openxmlformats.org/drawingml/2006/main">
            <a:off x="548640" y="4206240"/>
            <a:ext cx="1463040" cy="402336"/>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34" name="Text 32">
            <a:extLst xmlns:a="http://schemas.openxmlformats.org/drawingml/2006/main">
              <a:ext uri="{FF2B5EF4-FFF2-40B4-BE49-F238E27FC236}">
                <a16:creationId xmlns:a16="http://schemas.microsoft.com/office/drawing/2014/main" id="{3394F5DB-6262-4299-B94E-02470AA025AE}"/>
              </a:ext>
            </a:extLst>
          </p:cNvPr>
          <p:cNvSpPr>
            <a:spLocks xmlns:a="http://schemas.openxmlformats.org/drawingml/2006/main" noGrp="1"/>
          </p:cNvSpPr>
          <p:nvPr/>
        </p:nvSpPr>
        <p:spPr>
          <a:xfrm xmlns:a="http://schemas.openxmlformats.org/drawingml/2006/main">
            <a:off x="658368" y="4206240"/>
            <a:ext cx="12984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A231F"/>
                </a:solidFill>
                <a:latin typeface="Calibri"/>
                <a:ea typeface="Calibri"/>
                <a:cs typeface="Calibri"/>
              </a:rPr>
              <a:t>P2</a:t>
            </a:r>
            <a:endParaRPr sz="1050"/>
          </a:p>
        </p:txBody>
      </p:sp>
      <p:sp>
        <p:nvSpPr>
          <p:cNvPr id="35" name="Shape 33">
            <a:extLst xmlns:a="http://schemas.openxmlformats.org/drawingml/2006/main">
              <a:ext uri="{FF2B5EF4-FFF2-40B4-BE49-F238E27FC236}">
                <a16:creationId xmlns:a16="http://schemas.microsoft.com/office/drawing/2014/main" id="{EA04B252-7B00-4162-B918-37E021A38324}"/>
              </a:ext>
            </a:extLst>
          </p:cNvPr>
          <p:cNvSpPr>
            <a:spLocks xmlns:a="http://schemas.openxmlformats.org/drawingml/2006/main" noGrp="1"/>
          </p:cNvSpPr>
          <p:nvPr/>
        </p:nvSpPr>
        <p:spPr>
          <a:xfrm xmlns:a="http://schemas.openxmlformats.org/drawingml/2006/main">
            <a:off x="2011680" y="4206240"/>
            <a:ext cx="2148840" cy="402336"/>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36" name="Text 34">
            <a:extLst xmlns:a="http://schemas.openxmlformats.org/drawingml/2006/main">
              <a:ext uri="{FF2B5EF4-FFF2-40B4-BE49-F238E27FC236}">
                <a16:creationId xmlns:a16="http://schemas.microsoft.com/office/drawing/2014/main" id="{EBAC4E3F-2A4A-412E-89C6-8C7D4D2ABCB5}"/>
              </a:ext>
            </a:extLst>
          </p:cNvPr>
          <p:cNvSpPr>
            <a:spLocks xmlns:a="http://schemas.openxmlformats.org/drawingml/2006/main" noGrp="1"/>
          </p:cNvSpPr>
          <p:nvPr/>
        </p:nvSpPr>
        <p:spPr>
          <a:xfrm xmlns:a="http://schemas.openxmlformats.org/drawingml/2006/main">
            <a:off x="2121408" y="4206240"/>
            <a:ext cx="19842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A231F"/>
                </a:solidFill>
                <a:latin typeface="Calibri"/>
                <a:ea typeface="Calibri"/>
                <a:cs typeface="Calibri"/>
              </a:rPr>
              <a:t>1 hr</a:t>
            </a:r>
            <a:endParaRPr sz="1050"/>
          </a:p>
        </p:txBody>
      </p:sp>
      <p:sp>
        <p:nvSpPr>
          <p:cNvPr id="37" name="Shape 35">
            <a:extLst xmlns:a="http://schemas.openxmlformats.org/drawingml/2006/main">
              <a:ext uri="{FF2B5EF4-FFF2-40B4-BE49-F238E27FC236}">
                <a16:creationId xmlns:a16="http://schemas.microsoft.com/office/drawing/2014/main" id="{D648A490-2A31-4040-8899-226B084FEA8E}"/>
              </a:ext>
            </a:extLst>
          </p:cNvPr>
          <p:cNvSpPr>
            <a:spLocks xmlns:a="http://schemas.openxmlformats.org/drawingml/2006/main" noGrp="1"/>
          </p:cNvSpPr>
          <p:nvPr/>
        </p:nvSpPr>
        <p:spPr>
          <a:xfrm xmlns:a="http://schemas.openxmlformats.org/drawingml/2006/main">
            <a:off x="4160520" y="4206240"/>
            <a:ext cx="2331720" cy="402336"/>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38" name="Text 36">
            <a:extLst xmlns:a="http://schemas.openxmlformats.org/drawingml/2006/main">
              <a:ext uri="{FF2B5EF4-FFF2-40B4-BE49-F238E27FC236}">
                <a16:creationId xmlns:a16="http://schemas.microsoft.com/office/drawing/2014/main" id="{35C9BEA7-7EB2-4933-B01F-74F0DD303D0D}"/>
              </a:ext>
            </a:extLst>
          </p:cNvPr>
          <p:cNvSpPr>
            <a:spLocks xmlns:a="http://schemas.openxmlformats.org/drawingml/2006/main" noGrp="1"/>
          </p:cNvSpPr>
          <p:nvPr/>
        </p:nvSpPr>
        <p:spPr>
          <a:xfrm xmlns:a="http://schemas.openxmlformats.org/drawingml/2006/main">
            <a:off x="4270248" y="4206240"/>
            <a:ext cx="216712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A231F"/>
                </a:solidFill>
                <a:latin typeface="Calibri"/>
                <a:ea typeface="Calibri"/>
                <a:cs typeface="Calibri"/>
              </a:rPr>
              <a:t>≤ 1 business day</a:t>
            </a:r>
            <a:endParaRPr sz="1050"/>
          </a:p>
        </p:txBody>
      </p:sp>
      <p:sp>
        <p:nvSpPr>
          <p:cNvPr id="39" name="Shape 37">
            <a:extLst xmlns:a="http://schemas.openxmlformats.org/drawingml/2006/main">
              <a:ext uri="{FF2B5EF4-FFF2-40B4-BE49-F238E27FC236}">
                <a16:creationId xmlns:a16="http://schemas.microsoft.com/office/drawing/2014/main" id="{C7AF8CFC-CD1F-40B5-810F-60937B2FBE62}"/>
              </a:ext>
            </a:extLst>
          </p:cNvPr>
          <p:cNvSpPr>
            <a:spLocks xmlns:a="http://schemas.openxmlformats.org/drawingml/2006/main" noGrp="1"/>
          </p:cNvSpPr>
          <p:nvPr/>
        </p:nvSpPr>
        <p:spPr>
          <a:xfrm xmlns:a="http://schemas.openxmlformats.org/drawingml/2006/main">
            <a:off x="548640" y="4608576"/>
            <a:ext cx="1463040" cy="402336"/>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40" name="Text 38">
            <a:extLst xmlns:a="http://schemas.openxmlformats.org/drawingml/2006/main">
              <a:ext uri="{FF2B5EF4-FFF2-40B4-BE49-F238E27FC236}">
                <a16:creationId xmlns:a16="http://schemas.microsoft.com/office/drawing/2014/main" id="{CD73DC68-196D-451B-A926-DA7733A45DF1}"/>
              </a:ext>
            </a:extLst>
          </p:cNvPr>
          <p:cNvSpPr>
            <a:spLocks xmlns:a="http://schemas.openxmlformats.org/drawingml/2006/main" noGrp="1"/>
          </p:cNvSpPr>
          <p:nvPr/>
        </p:nvSpPr>
        <p:spPr>
          <a:xfrm xmlns:a="http://schemas.openxmlformats.org/drawingml/2006/main">
            <a:off x="658368" y="4608576"/>
            <a:ext cx="12984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A231F"/>
                </a:solidFill>
                <a:latin typeface="Calibri"/>
                <a:ea typeface="Calibri"/>
                <a:cs typeface="Calibri"/>
              </a:rPr>
              <a:t>P3</a:t>
            </a:r>
            <a:endParaRPr sz="1050"/>
          </a:p>
        </p:txBody>
      </p:sp>
      <p:sp>
        <p:nvSpPr>
          <p:cNvPr id="41" name="Shape 39">
            <a:extLst xmlns:a="http://schemas.openxmlformats.org/drawingml/2006/main">
              <a:ext uri="{FF2B5EF4-FFF2-40B4-BE49-F238E27FC236}">
                <a16:creationId xmlns:a16="http://schemas.microsoft.com/office/drawing/2014/main" id="{A26258D2-6F5B-4607-B592-CBA6789810EF}"/>
              </a:ext>
            </a:extLst>
          </p:cNvPr>
          <p:cNvSpPr>
            <a:spLocks xmlns:a="http://schemas.openxmlformats.org/drawingml/2006/main" noGrp="1"/>
          </p:cNvSpPr>
          <p:nvPr/>
        </p:nvSpPr>
        <p:spPr>
          <a:xfrm xmlns:a="http://schemas.openxmlformats.org/drawingml/2006/main">
            <a:off x="2011680" y="4608576"/>
            <a:ext cx="2148840" cy="402336"/>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42" name="Text 40">
            <a:extLst xmlns:a="http://schemas.openxmlformats.org/drawingml/2006/main">
              <a:ext uri="{FF2B5EF4-FFF2-40B4-BE49-F238E27FC236}">
                <a16:creationId xmlns:a16="http://schemas.microsoft.com/office/drawing/2014/main" id="{3C685B4B-3BF9-42D0-9E23-083C9325493E}"/>
              </a:ext>
            </a:extLst>
          </p:cNvPr>
          <p:cNvSpPr>
            <a:spLocks xmlns:a="http://schemas.openxmlformats.org/drawingml/2006/main" noGrp="1"/>
          </p:cNvSpPr>
          <p:nvPr/>
        </p:nvSpPr>
        <p:spPr>
          <a:xfrm xmlns:a="http://schemas.openxmlformats.org/drawingml/2006/main">
            <a:off x="2121408" y="4608576"/>
            <a:ext cx="19842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A231F"/>
                </a:solidFill>
                <a:latin typeface="Calibri"/>
                <a:ea typeface="Calibri"/>
                <a:cs typeface="Calibri"/>
              </a:rPr>
              <a:t>4 hrs</a:t>
            </a:r>
            <a:endParaRPr sz="1050"/>
          </a:p>
        </p:txBody>
      </p:sp>
      <p:sp>
        <p:nvSpPr>
          <p:cNvPr id="43" name="Shape 41">
            <a:extLst xmlns:a="http://schemas.openxmlformats.org/drawingml/2006/main">
              <a:ext uri="{FF2B5EF4-FFF2-40B4-BE49-F238E27FC236}">
                <a16:creationId xmlns:a16="http://schemas.microsoft.com/office/drawing/2014/main" id="{E84F0192-05E2-42AF-B457-9A5E1FEBE266}"/>
              </a:ext>
            </a:extLst>
          </p:cNvPr>
          <p:cNvSpPr>
            <a:spLocks xmlns:a="http://schemas.openxmlformats.org/drawingml/2006/main" noGrp="1"/>
          </p:cNvSpPr>
          <p:nvPr/>
        </p:nvSpPr>
        <p:spPr>
          <a:xfrm xmlns:a="http://schemas.openxmlformats.org/drawingml/2006/main">
            <a:off x="4160520" y="4608576"/>
            <a:ext cx="2331720" cy="402336"/>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44" name="Text 42">
            <a:extLst xmlns:a="http://schemas.openxmlformats.org/drawingml/2006/main">
              <a:ext uri="{FF2B5EF4-FFF2-40B4-BE49-F238E27FC236}">
                <a16:creationId xmlns:a16="http://schemas.microsoft.com/office/drawing/2014/main" id="{3A5F91D9-7D5D-43C9-87EB-1550240A15CB}"/>
              </a:ext>
            </a:extLst>
          </p:cNvPr>
          <p:cNvSpPr>
            <a:spLocks xmlns:a="http://schemas.openxmlformats.org/drawingml/2006/main" noGrp="1"/>
          </p:cNvSpPr>
          <p:nvPr/>
        </p:nvSpPr>
        <p:spPr>
          <a:xfrm xmlns:a="http://schemas.openxmlformats.org/drawingml/2006/main">
            <a:off x="4270248" y="4608576"/>
            <a:ext cx="216712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2A231F"/>
                </a:solidFill>
                <a:latin typeface="Calibri"/>
                <a:ea typeface="Calibri"/>
                <a:cs typeface="Calibri"/>
              </a:rPr>
              <a:t>≤ 3 business days</a:t>
            </a:r>
            <a:endParaRPr sz="1050"/>
          </a:p>
        </p:txBody>
      </p:sp>
      <p:sp>
        <p:nvSpPr>
          <p:cNvPr id="45" name="Text 43">
            <a:extLst xmlns:a="http://schemas.openxmlformats.org/drawingml/2006/main">
              <a:ext uri="{FF2B5EF4-FFF2-40B4-BE49-F238E27FC236}">
                <a16:creationId xmlns:a16="http://schemas.microsoft.com/office/drawing/2014/main" id="{7F485BED-81E3-4ECB-BD96-054830CD9D29}"/>
              </a:ext>
            </a:extLst>
          </p:cNvPr>
          <p:cNvSpPr>
            <a:spLocks xmlns:a="http://schemas.openxmlformats.org/drawingml/2006/main" noGrp="1"/>
          </p:cNvSpPr>
          <p:nvPr/>
        </p:nvSpPr>
        <p:spPr>
          <a:xfrm xmlns:a="http://schemas.openxmlformats.org/drawingml/2006/main">
            <a:off x="548640" y="5084064"/>
            <a:ext cx="5943600" cy="4572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950" i="1">
                <a:solidFill>
                  <a:srgbClr val="595959"/>
                </a:solidFill>
                <a:latin typeface="Calibri"/>
                <a:ea typeface="Calibri"/>
                <a:cs typeface="Calibri"/>
              </a:rPr>
              <a:t>Availability 99.9% (prod, excl. planned maintenance) · Defect leakage UAT→Prod ≤ 2% Sev-1/2.</a:t>
            </a:r>
            <a:endParaRPr sz="950"/>
          </a:p>
        </p:txBody>
      </p:sp>
      <p:sp>
        <p:nvSpPr>
          <p:cNvPr id="46" name="Shape 44">
            <a:extLst xmlns:a="http://schemas.openxmlformats.org/drawingml/2006/main">
              <a:ext uri="{FF2B5EF4-FFF2-40B4-BE49-F238E27FC236}">
                <a16:creationId xmlns:a16="http://schemas.microsoft.com/office/drawing/2014/main" id="{1E5D23AE-5CF6-4019-B7FF-9C543DE76646}"/>
              </a:ext>
            </a:extLst>
          </p:cNvPr>
          <p:cNvSpPr>
            <a:spLocks xmlns:a="http://schemas.openxmlformats.org/drawingml/2006/main" noGrp="1"/>
          </p:cNvSpPr>
          <p:nvPr/>
        </p:nvSpPr>
        <p:spPr>
          <a:xfrm xmlns:a="http://schemas.openxmlformats.org/drawingml/2006/main">
            <a:off x="6858000" y="1773936"/>
            <a:ext cx="4785055" cy="1371600"/>
          </a:xfrm>
          <a:prstGeom xmlns:a="http://schemas.openxmlformats.org/drawingml/2006/main" prst="roundRect">
            <a:avLst>
              <a:gd name="adj" fmla="val 7333"/>
            </a:avLst>
          </a:prstGeom>
          <a:solidFill xmlns:a="http://schemas.openxmlformats.org/drawingml/2006/main">
            <a:srgbClr val="FFF6E6"/>
          </a:solidFill>
          <a:ln xmlns:a="http://schemas.openxmlformats.org/drawingml/2006/main" w="12700">
            <a:solidFill>
              <a:srgbClr val="F6DFB0"/>
            </a:solidFill>
            <a:prstDash val="solid"/>
          </a:ln>
        </p:spPr>
      </p:sp>
      <p:sp>
        <p:nvSpPr>
          <p:cNvPr id="47" name="Shape 45">
            <a:extLst xmlns:a="http://schemas.openxmlformats.org/drawingml/2006/main">
              <a:ext uri="{FF2B5EF4-FFF2-40B4-BE49-F238E27FC236}">
                <a16:creationId xmlns:a16="http://schemas.microsoft.com/office/drawing/2014/main" id="{C64DE914-9DF3-4CD3-8023-D5E4CD2595FF}"/>
              </a:ext>
            </a:extLst>
          </p:cNvPr>
          <p:cNvSpPr>
            <a:spLocks xmlns:a="http://schemas.openxmlformats.org/drawingml/2006/main" noGrp="1"/>
          </p:cNvSpPr>
          <p:nvPr/>
        </p:nvSpPr>
        <p:spPr>
          <a:xfrm xmlns:a="http://schemas.openxmlformats.org/drawingml/2006/main">
            <a:off x="7059168" y="1956816"/>
            <a:ext cx="457200" cy="457200"/>
          </a:xfrm>
          <a:prstGeom xmlns:a="http://schemas.openxmlformats.org/drawingml/2006/main" prst="roundRect">
            <a:avLst>
              <a:gd name="adj" fmla="val 24000"/>
            </a:avLst>
          </a:prstGeom>
          <a:solidFill xmlns:a="http://schemas.openxmlformats.org/drawingml/2006/main">
            <a:srgbClr val="FFA700"/>
          </a:solidFill>
          <a:effectLst xmlns:a="http://schemas.openxmlformats.org/drawingml/2006/main">
            <a:outerShdw blurRad="88900" dist="25400" dir="5400000" sx="100000" sy="100000" kx="0" ky="0" algn="bl" rotWithShape="0">
              <a:srgbClr val="B4A9A2">
                <a:alpha val="22000"/>
              </a:srgbClr>
            </a:outerShdw>
          </a:effectLst>
        </p:spPr>
      </p:sp>
      <p:pic>
        <p:nvPicPr>
          <p:cNvPr id="133" name="Image 0"/>
          <p:cNvPicPr>
            <a:picLocks xmlns:a="http://schemas.openxmlformats.org/drawingml/2006/main" noChangeAspect="1"/>
          </p:cNvPicPr>
          <p:nvPr/>
        </p:nvPicPr>
        <p:blipFill>
          <a:blip xmlns:r="http://schemas.openxmlformats.org/officeDocument/2006/relationships" xmlns:a="http://schemas.openxmlformats.org/drawingml/2006/main" r:embed="Rbf2f8f6c66de40ce"/>
          <a:stretch xmlns:a="http://schemas.openxmlformats.org/drawingml/2006/main">
            <a:fillRect l="0" t="0" r="0" b="0"/>
          </a:stretch>
        </p:blipFill>
        <p:spPr>
          <a:xfrm xmlns:a="http://schemas.openxmlformats.org/drawingml/2006/main">
            <a:off x="7168896" y="2066544"/>
            <a:ext cx="237744" cy="237744"/>
          </a:xfrm>
          <a:prstGeom xmlns:a="http://schemas.openxmlformats.org/drawingml/2006/main" prst="rect">
            <a:avLst/>
          </a:prstGeom>
        </p:spPr>
      </p:pic>
      <p:sp>
        <p:nvSpPr>
          <p:cNvPr id="49" name="Text 46">
            <a:extLst xmlns:a="http://schemas.openxmlformats.org/drawingml/2006/main">
              <a:ext uri="{FF2B5EF4-FFF2-40B4-BE49-F238E27FC236}">
                <a16:creationId xmlns:a16="http://schemas.microsoft.com/office/drawing/2014/main" id="{B740A713-97DB-4967-AB57-12E2A53FA029}"/>
              </a:ext>
            </a:extLst>
          </p:cNvPr>
          <p:cNvSpPr>
            <a:spLocks xmlns:a="http://schemas.openxmlformats.org/drawingml/2006/main" noGrp="1"/>
          </p:cNvSpPr>
          <p:nvPr/>
        </p:nvSpPr>
        <p:spPr>
          <a:xfrm xmlns:a="http://schemas.openxmlformats.org/drawingml/2006/main">
            <a:off x="7644384" y="1883664"/>
            <a:ext cx="387065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B5730B"/>
                </a:solidFill>
                <a:latin typeface="Poppins"/>
                <a:ea typeface="Poppins"/>
                <a:cs typeface="Poppins"/>
              </a:rPr>
              <a:t>Hyper-care — reconcile the two documents</a:t>
            </a:r>
            <a:endParaRPr sz="1250"/>
          </a:p>
        </p:txBody>
      </p:sp>
      <p:sp>
        <p:nvSpPr>
          <p:cNvPr id="50" name="Text 47">
            <a:extLst xmlns:a="http://schemas.openxmlformats.org/drawingml/2006/main">
              <a:ext uri="{FF2B5EF4-FFF2-40B4-BE49-F238E27FC236}">
                <a16:creationId xmlns:a16="http://schemas.microsoft.com/office/drawing/2014/main" id="{23815BAD-8DEA-4B59-BA62-29F5CC45359F}"/>
              </a:ext>
            </a:extLst>
          </p:cNvPr>
          <p:cNvSpPr>
            <a:spLocks xmlns:a="http://schemas.openxmlformats.org/drawingml/2006/main" noGrp="1"/>
          </p:cNvSpPr>
          <p:nvPr/>
        </p:nvSpPr>
        <p:spPr>
          <a:xfrm xmlns:a="http://schemas.openxmlformats.org/drawingml/2006/main">
            <a:off x="7132320" y="2286000"/>
            <a:ext cx="4282135"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5000"/>
              </a:lnSpc>
              <a:buNone/>
            </a:pPr>
            <a:r>
              <a:rPr sz="1000">
                <a:solidFill>
                  <a:srgbClr val="2A231F"/>
                </a:solidFill>
                <a:latin typeface="Calibri"/>
                <a:ea typeface="Calibri"/>
                <a:cs typeface="Calibri"/>
              </a:rPr>
              <a:t>SoW (D9): 4 weeks hyper-care with on-call for P1.   </a:t>
            </a:r>
            <a:r>
              <a:rPr sz="1000">
                <a:solidFill>
                  <a:srgbClr val="2A231F"/>
                </a:solidFill>
                <a:latin typeface="Calibri"/>
                <a:ea typeface="Calibri"/>
                <a:cs typeface="Calibri"/>
              </a:rPr>
              <a:t>T&amp;C (item 4): 3 months, auto-extended +15 days per open P1.   </a:t>
            </a:r>
            <a:r>
              <a:rPr sz="1000">
                <a:solidFill>
                  <a:srgbClr val="2A231F"/>
                </a:solidFill>
                <a:latin typeface="Calibri"/>
                <a:ea typeface="Calibri"/>
                <a:cs typeface="Calibri"/>
              </a:rPr>
              <a:t>Dev team must staff hyper-care; extensions carry additional commercials.</a:t>
            </a:r>
            <a:endParaRPr sz="1000"/>
          </a:p>
        </p:txBody>
      </p:sp>
      <p:sp>
        <p:nvSpPr>
          <p:cNvPr id="51" name="Text 48">
            <a:extLst xmlns:a="http://schemas.openxmlformats.org/drawingml/2006/main">
              <a:ext uri="{FF2B5EF4-FFF2-40B4-BE49-F238E27FC236}">
                <a16:creationId xmlns:a16="http://schemas.microsoft.com/office/drawing/2014/main" id="{63E07976-8FB2-4602-BD4F-8C13E26C4668}"/>
              </a:ext>
            </a:extLst>
          </p:cNvPr>
          <p:cNvSpPr>
            <a:spLocks xmlns:a="http://schemas.openxmlformats.org/drawingml/2006/main" noGrp="1"/>
          </p:cNvSpPr>
          <p:nvPr/>
        </p:nvSpPr>
        <p:spPr>
          <a:xfrm xmlns:a="http://schemas.openxmlformats.org/drawingml/2006/main">
            <a:off x="6858000" y="3291840"/>
            <a:ext cx="478505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EE2B76"/>
                </a:solidFill>
                <a:latin typeface="Poppins"/>
                <a:ea typeface="Poppins"/>
                <a:cs typeface="Poppins"/>
              </a:rPr>
              <a:t>PENALTY / MOS MATRIX  (AMLI ask)</a:t>
            </a:r>
            <a:endParaRPr sz="1100"/>
          </a:p>
        </p:txBody>
      </p:sp>
      <p:sp>
        <p:nvSpPr>
          <p:cNvPr id="52" name="Shape 49">
            <a:extLst xmlns:a="http://schemas.openxmlformats.org/drawingml/2006/main">
              <a:ext uri="{FF2B5EF4-FFF2-40B4-BE49-F238E27FC236}">
                <a16:creationId xmlns:a16="http://schemas.microsoft.com/office/drawing/2014/main" id="{C405978C-D8C7-49FB-A0A9-989A95F1F908}"/>
              </a:ext>
            </a:extLst>
          </p:cNvPr>
          <p:cNvSpPr>
            <a:spLocks xmlns:a="http://schemas.openxmlformats.org/drawingml/2006/main" noGrp="1"/>
          </p:cNvSpPr>
          <p:nvPr/>
        </p:nvSpPr>
        <p:spPr>
          <a:xfrm xmlns:a="http://schemas.openxmlformats.org/drawingml/2006/main">
            <a:off x="6858000" y="3621024"/>
            <a:ext cx="2743200" cy="347472"/>
          </a:xfrm>
          <a:prstGeom xmlns:a="http://schemas.openxmlformats.org/drawingml/2006/main" prst="rect">
            <a:avLst/>
          </a:prstGeom>
          <a:solidFill xmlns:a="http://schemas.openxmlformats.org/drawingml/2006/main">
            <a:srgbClr val="1F3A5F"/>
          </a:solidFill>
          <a:ln xmlns:a="http://schemas.openxmlformats.org/drawingml/2006/main" w="6350">
            <a:solidFill>
              <a:srgbClr val="E5DEDB"/>
            </a:solidFill>
            <a:prstDash val="solid"/>
          </a:ln>
        </p:spPr>
      </p:sp>
      <p:sp>
        <p:nvSpPr>
          <p:cNvPr id="53" name="Text 50">
            <a:extLst xmlns:a="http://schemas.openxmlformats.org/drawingml/2006/main">
              <a:ext uri="{FF2B5EF4-FFF2-40B4-BE49-F238E27FC236}">
                <a16:creationId xmlns:a16="http://schemas.microsoft.com/office/drawing/2014/main" id="{A44A56EB-3BFA-4365-969E-B73C2894443C}"/>
              </a:ext>
            </a:extLst>
          </p:cNvPr>
          <p:cNvSpPr>
            <a:spLocks xmlns:a="http://schemas.openxmlformats.org/drawingml/2006/main" noGrp="1"/>
          </p:cNvSpPr>
          <p:nvPr/>
        </p:nvSpPr>
        <p:spPr>
          <a:xfrm xmlns:a="http://schemas.openxmlformats.org/drawingml/2006/main">
            <a:off x="6949440" y="3621024"/>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FFFFFF"/>
                </a:solidFill>
                <a:latin typeface="Poppins"/>
                <a:ea typeface="Poppins"/>
                <a:cs typeface="Poppins"/>
              </a:rPr>
              <a:t>Parameter</a:t>
            </a:r>
            <a:endParaRPr sz="950"/>
          </a:p>
        </p:txBody>
      </p:sp>
      <p:sp>
        <p:nvSpPr>
          <p:cNvPr id="54" name="Shape 51">
            <a:extLst xmlns:a="http://schemas.openxmlformats.org/drawingml/2006/main">
              <a:ext uri="{FF2B5EF4-FFF2-40B4-BE49-F238E27FC236}">
                <a16:creationId xmlns:a16="http://schemas.microsoft.com/office/drawing/2014/main" id="{44866682-A85D-4E74-99EF-2746CE58626A}"/>
              </a:ext>
            </a:extLst>
          </p:cNvPr>
          <p:cNvSpPr>
            <a:spLocks xmlns:a="http://schemas.openxmlformats.org/drawingml/2006/main" noGrp="1"/>
          </p:cNvSpPr>
          <p:nvPr/>
        </p:nvSpPr>
        <p:spPr>
          <a:xfrm xmlns:a="http://schemas.openxmlformats.org/drawingml/2006/main">
            <a:off x="9601200" y="3621024"/>
            <a:ext cx="758952" cy="347472"/>
          </a:xfrm>
          <a:prstGeom xmlns:a="http://schemas.openxmlformats.org/drawingml/2006/main" prst="rect">
            <a:avLst/>
          </a:prstGeom>
          <a:solidFill xmlns:a="http://schemas.openxmlformats.org/drawingml/2006/main">
            <a:srgbClr val="1F3A5F"/>
          </a:solidFill>
          <a:ln xmlns:a="http://schemas.openxmlformats.org/drawingml/2006/main" w="6350">
            <a:solidFill>
              <a:srgbClr val="E5DEDB"/>
            </a:solidFill>
            <a:prstDash val="solid"/>
          </a:ln>
        </p:spPr>
      </p:sp>
      <p:sp>
        <p:nvSpPr>
          <p:cNvPr id="55" name="Text 52">
            <a:extLst xmlns:a="http://schemas.openxmlformats.org/drawingml/2006/main">
              <a:ext uri="{FF2B5EF4-FFF2-40B4-BE49-F238E27FC236}">
                <a16:creationId xmlns:a16="http://schemas.microsoft.com/office/drawing/2014/main" id="{5F70F36D-FCF0-40F5-9AB5-FA3391682A0D}"/>
              </a:ext>
            </a:extLst>
          </p:cNvPr>
          <p:cNvSpPr>
            <a:spLocks xmlns:a="http://schemas.openxmlformats.org/drawingml/2006/main" noGrp="1"/>
          </p:cNvSpPr>
          <p:nvPr/>
        </p:nvSpPr>
        <p:spPr>
          <a:xfrm xmlns:a="http://schemas.openxmlformats.org/drawingml/2006/main">
            <a:off x="9692640" y="3621024"/>
            <a:ext cx="62179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FFFFFF"/>
                </a:solidFill>
                <a:latin typeface="Poppins"/>
                <a:ea typeface="Poppins"/>
                <a:cs typeface="Poppins"/>
              </a:rPr>
              <a:t>Wt</a:t>
            </a:r>
            <a:endParaRPr sz="950"/>
          </a:p>
        </p:txBody>
      </p:sp>
      <p:sp>
        <p:nvSpPr>
          <p:cNvPr id="56" name="Shape 53">
            <a:extLst xmlns:a="http://schemas.openxmlformats.org/drawingml/2006/main">
              <a:ext uri="{FF2B5EF4-FFF2-40B4-BE49-F238E27FC236}">
                <a16:creationId xmlns:a16="http://schemas.microsoft.com/office/drawing/2014/main" id="{B35F0EFC-F8DB-46C6-8E8C-A587B2CF77F2}"/>
              </a:ext>
            </a:extLst>
          </p:cNvPr>
          <p:cNvSpPr>
            <a:spLocks xmlns:a="http://schemas.openxmlformats.org/drawingml/2006/main" noGrp="1"/>
          </p:cNvSpPr>
          <p:nvPr/>
        </p:nvSpPr>
        <p:spPr>
          <a:xfrm xmlns:a="http://schemas.openxmlformats.org/drawingml/2006/main">
            <a:off x="10360152" y="3621024"/>
            <a:ext cx="1280160" cy="347472"/>
          </a:xfrm>
          <a:prstGeom xmlns:a="http://schemas.openxmlformats.org/drawingml/2006/main" prst="rect">
            <a:avLst/>
          </a:prstGeom>
          <a:solidFill xmlns:a="http://schemas.openxmlformats.org/drawingml/2006/main">
            <a:srgbClr val="1F3A5F"/>
          </a:solidFill>
          <a:ln xmlns:a="http://schemas.openxmlformats.org/drawingml/2006/main" w="6350">
            <a:solidFill>
              <a:srgbClr val="E5DEDB"/>
            </a:solidFill>
            <a:prstDash val="solid"/>
          </a:ln>
        </p:spPr>
      </p:sp>
      <p:sp>
        <p:nvSpPr>
          <p:cNvPr id="57" name="Text 54">
            <a:extLst xmlns:a="http://schemas.openxmlformats.org/drawingml/2006/main">
              <a:ext uri="{FF2B5EF4-FFF2-40B4-BE49-F238E27FC236}">
                <a16:creationId xmlns:a16="http://schemas.microsoft.com/office/drawing/2014/main" id="{D279BD6D-5A43-4697-B323-35484B1481D2}"/>
              </a:ext>
            </a:extLst>
          </p:cNvPr>
          <p:cNvSpPr>
            <a:spLocks xmlns:a="http://schemas.openxmlformats.org/drawingml/2006/main" noGrp="1"/>
          </p:cNvSpPr>
          <p:nvPr/>
        </p:nvSpPr>
        <p:spPr>
          <a:xfrm xmlns:a="http://schemas.openxmlformats.org/drawingml/2006/main">
            <a:off x="10451592" y="3621024"/>
            <a:ext cx="1143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FFFFFF"/>
                </a:solidFill>
                <a:latin typeface="Poppins"/>
                <a:ea typeface="Poppins"/>
                <a:cs typeface="Poppins"/>
              </a:rPr>
              <a:t>Target</a:t>
            </a:r>
            <a:endParaRPr sz="950"/>
          </a:p>
        </p:txBody>
      </p:sp>
      <p:sp>
        <p:nvSpPr>
          <p:cNvPr id="58" name="Shape 55">
            <a:extLst xmlns:a="http://schemas.openxmlformats.org/drawingml/2006/main">
              <a:ext uri="{FF2B5EF4-FFF2-40B4-BE49-F238E27FC236}">
                <a16:creationId xmlns:a16="http://schemas.microsoft.com/office/drawing/2014/main" id="{DA47048B-CE91-4F79-870C-099B622D1A81}"/>
              </a:ext>
            </a:extLst>
          </p:cNvPr>
          <p:cNvSpPr>
            <a:spLocks xmlns:a="http://schemas.openxmlformats.org/drawingml/2006/main" noGrp="1"/>
          </p:cNvSpPr>
          <p:nvPr/>
        </p:nvSpPr>
        <p:spPr>
          <a:xfrm xmlns:a="http://schemas.openxmlformats.org/drawingml/2006/main">
            <a:off x="6858000" y="3968496"/>
            <a:ext cx="2743200" cy="347472"/>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59" name="Text 56">
            <a:extLst xmlns:a="http://schemas.openxmlformats.org/drawingml/2006/main">
              <a:ext uri="{FF2B5EF4-FFF2-40B4-BE49-F238E27FC236}">
                <a16:creationId xmlns:a16="http://schemas.microsoft.com/office/drawing/2014/main" id="{4D1CE831-DBA1-4E4D-B729-1D1374E5F565}"/>
              </a:ext>
            </a:extLst>
          </p:cNvPr>
          <p:cNvSpPr>
            <a:spLocks xmlns:a="http://schemas.openxmlformats.org/drawingml/2006/main" noGrp="1"/>
          </p:cNvSpPr>
          <p:nvPr/>
        </p:nvSpPr>
        <p:spPr>
          <a:xfrm xmlns:a="http://schemas.openxmlformats.org/drawingml/2006/main">
            <a:off x="6949440" y="3968496"/>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System availability &amp; uptime</a:t>
            </a:r>
            <a:endParaRPr sz="950"/>
          </a:p>
        </p:txBody>
      </p:sp>
      <p:sp>
        <p:nvSpPr>
          <p:cNvPr id="60" name="Shape 57">
            <a:extLst xmlns:a="http://schemas.openxmlformats.org/drawingml/2006/main">
              <a:ext uri="{FF2B5EF4-FFF2-40B4-BE49-F238E27FC236}">
                <a16:creationId xmlns:a16="http://schemas.microsoft.com/office/drawing/2014/main" id="{766368E3-F61E-4F0A-9735-C750D7BEA59D}"/>
              </a:ext>
            </a:extLst>
          </p:cNvPr>
          <p:cNvSpPr>
            <a:spLocks xmlns:a="http://schemas.openxmlformats.org/drawingml/2006/main" noGrp="1"/>
          </p:cNvSpPr>
          <p:nvPr/>
        </p:nvSpPr>
        <p:spPr>
          <a:xfrm xmlns:a="http://schemas.openxmlformats.org/drawingml/2006/main">
            <a:off x="9601200" y="3968496"/>
            <a:ext cx="758952" cy="347472"/>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61" name="Text 58">
            <a:extLst xmlns:a="http://schemas.openxmlformats.org/drawingml/2006/main">
              <a:ext uri="{FF2B5EF4-FFF2-40B4-BE49-F238E27FC236}">
                <a16:creationId xmlns:a16="http://schemas.microsoft.com/office/drawing/2014/main" id="{01830BC4-E87C-4601-8A8E-3B6538EFAE5D}"/>
              </a:ext>
            </a:extLst>
          </p:cNvPr>
          <p:cNvSpPr>
            <a:spLocks xmlns:a="http://schemas.openxmlformats.org/drawingml/2006/main" noGrp="1"/>
          </p:cNvSpPr>
          <p:nvPr/>
        </p:nvSpPr>
        <p:spPr>
          <a:xfrm xmlns:a="http://schemas.openxmlformats.org/drawingml/2006/main">
            <a:off x="9692640" y="3968496"/>
            <a:ext cx="62179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40%</a:t>
            </a:r>
            <a:endParaRPr sz="950"/>
          </a:p>
        </p:txBody>
      </p:sp>
      <p:sp>
        <p:nvSpPr>
          <p:cNvPr id="62" name="Shape 59">
            <a:extLst xmlns:a="http://schemas.openxmlformats.org/drawingml/2006/main">
              <a:ext uri="{FF2B5EF4-FFF2-40B4-BE49-F238E27FC236}">
                <a16:creationId xmlns:a16="http://schemas.microsoft.com/office/drawing/2014/main" id="{7DDC4E3C-3EBC-4859-A15A-5A7682BD24CE}"/>
              </a:ext>
            </a:extLst>
          </p:cNvPr>
          <p:cNvSpPr>
            <a:spLocks xmlns:a="http://schemas.openxmlformats.org/drawingml/2006/main" noGrp="1"/>
          </p:cNvSpPr>
          <p:nvPr/>
        </p:nvSpPr>
        <p:spPr>
          <a:xfrm xmlns:a="http://schemas.openxmlformats.org/drawingml/2006/main">
            <a:off x="10360152" y="3968496"/>
            <a:ext cx="1280160" cy="347472"/>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63" name="Text 60">
            <a:extLst xmlns:a="http://schemas.openxmlformats.org/drawingml/2006/main">
              <a:ext uri="{FF2B5EF4-FFF2-40B4-BE49-F238E27FC236}">
                <a16:creationId xmlns:a16="http://schemas.microsoft.com/office/drawing/2014/main" id="{606C35CA-2AB2-4E99-96D2-F4F97EEB61A8}"/>
              </a:ext>
            </a:extLst>
          </p:cNvPr>
          <p:cNvSpPr>
            <a:spLocks xmlns:a="http://schemas.openxmlformats.org/drawingml/2006/main" noGrp="1"/>
          </p:cNvSpPr>
          <p:nvPr/>
        </p:nvSpPr>
        <p:spPr>
          <a:xfrm xmlns:a="http://schemas.openxmlformats.org/drawingml/2006/main">
            <a:off x="10451592" y="3968496"/>
            <a:ext cx="1143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&gt; 99.9%</a:t>
            </a:r>
            <a:endParaRPr sz="950"/>
          </a:p>
        </p:txBody>
      </p:sp>
      <p:sp>
        <p:nvSpPr>
          <p:cNvPr id="64" name="Shape 61">
            <a:extLst xmlns:a="http://schemas.openxmlformats.org/drawingml/2006/main">
              <a:ext uri="{FF2B5EF4-FFF2-40B4-BE49-F238E27FC236}">
                <a16:creationId xmlns:a16="http://schemas.microsoft.com/office/drawing/2014/main" id="{7E2FFA1B-5462-4145-808F-1D8EF69455C8}"/>
              </a:ext>
            </a:extLst>
          </p:cNvPr>
          <p:cNvSpPr>
            <a:spLocks xmlns:a="http://schemas.openxmlformats.org/drawingml/2006/main" noGrp="1"/>
          </p:cNvSpPr>
          <p:nvPr/>
        </p:nvSpPr>
        <p:spPr>
          <a:xfrm xmlns:a="http://schemas.openxmlformats.org/drawingml/2006/main">
            <a:off x="6858000" y="4315968"/>
            <a:ext cx="2743200" cy="347472"/>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65" name="Text 62">
            <a:extLst xmlns:a="http://schemas.openxmlformats.org/drawingml/2006/main">
              <a:ext uri="{FF2B5EF4-FFF2-40B4-BE49-F238E27FC236}">
                <a16:creationId xmlns:a16="http://schemas.microsoft.com/office/drawing/2014/main" id="{FABB3DC6-392E-431E-8F87-6012593C0654}"/>
              </a:ext>
            </a:extLst>
          </p:cNvPr>
          <p:cNvSpPr>
            <a:spLocks xmlns:a="http://schemas.openxmlformats.org/drawingml/2006/main" noGrp="1"/>
          </p:cNvSpPr>
          <p:nvPr/>
        </p:nvSpPr>
        <p:spPr>
          <a:xfrm xmlns:a="http://schemas.openxmlformats.org/drawingml/2006/main">
            <a:off x="6949440" y="4315968"/>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S1 ticket SLA</a:t>
            </a:r>
            <a:endParaRPr sz="950"/>
          </a:p>
        </p:txBody>
      </p:sp>
      <p:sp>
        <p:nvSpPr>
          <p:cNvPr id="66" name="Shape 63">
            <a:extLst xmlns:a="http://schemas.openxmlformats.org/drawingml/2006/main">
              <a:ext uri="{FF2B5EF4-FFF2-40B4-BE49-F238E27FC236}">
                <a16:creationId xmlns:a16="http://schemas.microsoft.com/office/drawing/2014/main" id="{2B02EE56-68F9-4574-9054-3283503434CE}"/>
              </a:ext>
            </a:extLst>
          </p:cNvPr>
          <p:cNvSpPr>
            <a:spLocks xmlns:a="http://schemas.openxmlformats.org/drawingml/2006/main" noGrp="1"/>
          </p:cNvSpPr>
          <p:nvPr/>
        </p:nvSpPr>
        <p:spPr>
          <a:xfrm xmlns:a="http://schemas.openxmlformats.org/drawingml/2006/main">
            <a:off x="9601200" y="4315968"/>
            <a:ext cx="758952" cy="347472"/>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67" name="Text 64">
            <a:extLst xmlns:a="http://schemas.openxmlformats.org/drawingml/2006/main">
              <a:ext uri="{FF2B5EF4-FFF2-40B4-BE49-F238E27FC236}">
                <a16:creationId xmlns:a16="http://schemas.microsoft.com/office/drawing/2014/main" id="{C989E75E-8698-498F-BF28-42F3B32554B8}"/>
              </a:ext>
            </a:extLst>
          </p:cNvPr>
          <p:cNvSpPr>
            <a:spLocks xmlns:a="http://schemas.openxmlformats.org/drawingml/2006/main" noGrp="1"/>
          </p:cNvSpPr>
          <p:nvPr/>
        </p:nvSpPr>
        <p:spPr>
          <a:xfrm xmlns:a="http://schemas.openxmlformats.org/drawingml/2006/main">
            <a:off x="9692640" y="4315968"/>
            <a:ext cx="62179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40%</a:t>
            </a:r>
            <a:endParaRPr sz="950"/>
          </a:p>
        </p:txBody>
      </p:sp>
      <p:sp>
        <p:nvSpPr>
          <p:cNvPr id="68" name="Shape 65">
            <a:extLst xmlns:a="http://schemas.openxmlformats.org/drawingml/2006/main">
              <a:ext uri="{FF2B5EF4-FFF2-40B4-BE49-F238E27FC236}">
                <a16:creationId xmlns:a16="http://schemas.microsoft.com/office/drawing/2014/main" id="{600B0196-0293-468A-B62A-57FD310FC239}"/>
              </a:ext>
            </a:extLst>
          </p:cNvPr>
          <p:cNvSpPr>
            <a:spLocks xmlns:a="http://schemas.openxmlformats.org/drawingml/2006/main" noGrp="1"/>
          </p:cNvSpPr>
          <p:nvPr/>
        </p:nvSpPr>
        <p:spPr>
          <a:xfrm xmlns:a="http://schemas.openxmlformats.org/drawingml/2006/main">
            <a:off x="10360152" y="4315968"/>
            <a:ext cx="1280160" cy="347472"/>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69" name="Text 66">
            <a:extLst xmlns:a="http://schemas.openxmlformats.org/drawingml/2006/main">
              <a:ext uri="{FF2B5EF4-FFF2-40B4-BE49-F238E27FC236}">
                <a16:creationId xmlns:a16="http://schemas.microsoft.com/office/drawing/2014/main" id="{24E38733-A409-4248-837F-5244893DF8FF}"/>
              </a:ext>
            </a:extLst>
          </p:cNvPr>
          <p:cNvSpPr>
            <a:spLocks xmlns:a="http://schemas.openxmlformats.org/drawingml/2006/main" noGrp="1"/>
          </p:cNvSpPr>
          <p:nvPr/>
        </p:nvSpPr>
        <p:spPr>
          <a:xfrm xmlns:a="http://schemas.openxmlformats.org/drawingml/2006/main">
            <a:off x="10451592" y="4315968"/>
            <a:ext cx="1143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97–99.9%</a:t>
            </a:r>
            <a:endParaRPr sz="950"/>
          </a:p>
        </p:txBody>
      </p:sp>
      <p:sp>
        <p:nvSpPr>
          <p:cNvPr id="70" name="Shape 67">
            <a:extLst xmlns:a="http://schemas.openxmlformats.org/drawingml/2006/main">
              <a:ext uri="{FF2B5EF4-FFF2-40B4-BE49-F238E27FC236}">
                <a16:creationId xmlns:a16="http://schemas.microsoft.com/office/drawing/2014/main" id="{6C4FFE36-617D-453B-B7E9-A99F96C984C7}"/>
              </a:ext>
            </a:extLst>
          </p:cNvPr>
          <p:cNvSpPr>
            <a:spLocks xmlns:a="http://schemas.openxmlformats.org/drawingml/2006/main" noGrp="1"/>
          </p:cNvSpPr>
          <p:nvPr/>
        </p:nvSpPr>
        <p:spPr>
          <a:xfrm xmlns:a="http://schemas.openxmlformats.org/drawingml/2006/main">
            <a:off x="6858000" y="4663440"/>
            <a:ext cx="2743200" cy="347472"/>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71" name="Text 68">
            <a:extLst xmlns:a="http://schemas.openxmlformats.org/drawingml/2006/main">
              <a:ext uri="{FF2B5EF4-FFF2-40B4-BE49-F238E27FC236}">
                <a16:creationId xmlns:a16="http://schemas.microsoft.com/office/drawing/2014/main" id="{E92D54E0-E2A4-435C-9DE0-9B1654ECC096}"/>
              </a:ext>
            </a:extLst>
          </p:cNvPr>
          <p:cNvSpPr>
            <a:spLocks xmlns:a="http://schemas.openxmlformats.org/drawingml/2006/main" noGrp="1"/>
          </p:cNvSpPr>
          <p:nvPr/>
        </p:nvSpPr>
        <p:spPr>
          <a:xfrm xmlns:a="http://schemas.openxmlformats.org/drawingml/2006/main">
            <a:off x="6949440" y="4663440"/>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S2 ticket SLA</a:t>
            </a:r>
            <a:endParaRPr sz="950"/>
          </a:p>
        </p:txBody>
      </p:sp>
      <p:sp>
        <p:nvSpPr>
          <p:cNvPr id="72" name="Shape 69">
            <a:extLst xmlns:a="http://schemas.openxmlformats.org/drawingml/2006/main">
              <a:ext uri="{FF2B5EF4-FFF2-40B4-BE49-F238E27FC236}">
                <a16:creationId xmlns:a16="http://schemas.microsoft.com/office/drawing/2014/main" id="{8269BAFC-7560-42DA-B4C5-85A5E52CD602}"/>
              </a:ext>
            </a:extLst>
          </p:cNvPr>
          <p:cNvSpPr>
            <a:spLocks xmlns:a="http://schemas.openxmlformats.org/drawingml/2006/main" noGrp="1"/>
          </p:cNvSpPr>
          <p:nvPr/>
        </p:nvSpPr>
        <p:spPr>
          <a:xfrm xmlns:a="http://schemas.openxmlformats.org/drawingml/2006/main">
            <a:off x="9601200" y="4663440"/>
            <a:ext cx="758952" cy="347472"/>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73" name="Text 70">
            <a:extLst xmlns:a="http://schemas.openxmlformats.org/drawingml/2006/main">
              <a:ext uri="{FF2B5EF4-FFF2-40B4-BE49-F238E27FC236}">
                <a16:creationId xmlns:a16="http://schemas.microsoft.com/office/drawing/2014/main" id="{A5DD0319-B391-4C53-AB32-DF80AB579848}"/>
              </a:ext>
            </a:extLst>
          </p:cNvPr>
          <p:cNvSpPr>
            <a:spLocks xmlns:a="http://schemas.openxmlformats.org/drawingml/2006/main" noGrp="1"/>
          </p:cNvSpPr>
          <p:nvPr/>
        </p:nvSpPr>
        <p:spPr>
          <a:xfrm xmlns:a="http://schemas.openxmlformats.org/drawingml/2006/main">
            <a:off x="9692640" y="4663440"/>
            <a:ext cx="62179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10%</a:t>
            </a:r>
            <a:endParaRPr sz="950"/>
          </a:p>
        </p:txBody>
      </p:sp>
      <p:sp>
        <p:nvSpPr>
          <p:cNvPr id="74" name="Shape 71">
            <a:extLst xmlns:a="http://schemas.openxmlformats.org/drawingml/2006/main">
              <a:ext uri="{FF2B5EF4-FFF2-40B4-BE49-F238E27FC236}">
                <a16:creationId xmlns:a16="http://schemas.microsoft.com/office/drawing/2014/main" id="{B8F7F9CC-FD9A-4649-A4F8-D6F291C55C23}"/>
              </a:ext>
            </a:extLst>
          </p:cNvPr>
          <p:cNvSpPr>
            <a:spLocks xmlns:a="http://schemas.openxmlformats.org/drawingml/2006/main" noGrp="1"/>
          </p:cNvSpPr>
          <p:nvPr/>
        </p:nvSpPr>
        <p:spPr>
          <a:xfrm xmlns:a="http://schemas.openxmlformats.org/drawingml/2006/main">
            <a:off x="10360152" y="4663440"/>
            <a:ext cx="1280160" cy="347472"/>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75" name="Text 72">
            <a:extLst xmlns:a="http://schemas.openxmlformats.org/drawingml/2006/main">
              <a:ext uri="{FF2B5EF4-FFF2-40B4-BE49-F238E27FC236}">
                <a16:creationId xmlns:a16="http://schemas.microsoft.com/office/drawing/2014/main" id="{A68F7260-B18D-49AD-A8ED-907FC59CBCF9}"/>
              </a:ext>
            </a:extLst>
          </p:cNvPr>
          <p:cNvSpPr>
            <a:spLocks xmlns:a="http://schemas.openxmlformats.org/drawingml/2006/main" noGrp="1"/>
          </p:cNvSpPr>
          <p:nvPr/>
        </p:nvSpPr>
        <p:spPr>
          <a:xfrm xmlns:a="http://schemas.openxmlformats.org/drawingml/2006/main">
            <a:off x="10451592" y="4663440"/>
            <a:ext cx="1143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97–99.9%</a:t>
            </a:r>
            <a:endParaRPr sz="950"/>
          </a:p>
        </p:txBody>
      </p:sp>
      <p:sp>
        <p:nvSpPr>
          <p:cNvPr id="76" name="Shape 73">
            <a:extLst xmlns:a="http://schemas.openxmlformats.org/drawingml/2006/main">
              <a:ext uri="{FF2B5EF4-FFF2-40B4-BE49-F238E27FC236}">
                <a16:creationId xmlns:a16="http://schemas.microsoft.com/office/drawing/2014/main" id="{95B7131F-C4B4-45A8-8958-7F1F470F1CAB}"/>
              </a:ext>
            </a:extLst>
          </p:cNvPr>
          <p:cNvSpPr>
            <a:spLocks xmlns:a="http://schemas.openxmlformats.org/drawingml/2006/main" noGrp="1"/>
          </p:cNvSpPr>
          <p:nvPr/>
        </p:nvSpPr>
        <p:spPr>
          <a:xfrm xmlns:a="http://schemas.openxmlformats.org/drawingml/2006/main">
            <a:off x="6858000" y="5010912"/>
            <a:ext cx="2743200" cy="347472"/>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77" name="Text 74">
            <a:extLst xmlns:a="http://schemas.openxmlformats.org/drawingml/2006/main">
              <a:ext uri="{FF2B5EF4-FFF2-40B4-BE49-F238E27FC236}">
                <a16:creationId xmlns:a16="http://schemas.microsoft.com/office/drawing/2014/main" id="{25D75737-BAB6-4C19-AC58-2F74A735410D}"/>
              </a:ext>
            </a:extLst>
          </p:cNvPr>
          <p:cNvSpPr>
            <a:spLocks xmlns:a="http://schemas.openxmlformats.org/drawingml/2006/main" noGrp="1"/>
          </p:cNvSpPr>
          <p:nvPr/>
        </p:nvSpPr>
        <p:spPr>
          <a:xfrm xmlns:a="http://schemas.openxmlformats.org/drawingml/2006/main">
            <a:off x="6949440" y="5010912"/>
            <a:ext cx="26060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S3 ticket SLA</a:t>
            </a:r>
            <a:endParaRPr sz="950"/>
          </a:p>
        </p:txBody>
      </p:sp>
      <p:sp>
        <p:nvSpPr>
          <p:cNvPr id="78" name="Shape 75">
            <a:extLst xmlns:a="http://schemas.openxmlformats.org/drawingml/2006/main">
              <a:ext uri="{FF2B5EF4-FFF2-40B4-BE49-F238E27FC236}">
                <a16:creationId xmlns:a16="http://schemas.microsoft.com/office/drawing/2014/main" id="{89C63012-FAB5-4B5A-9FBF-068B79C6D32A}"/>
              </a:ext>
            </a:extLst>
          </p:cNvPr>
          <p:cNvSpPr>
            <a:spLocks xmlns:a="http://schemas.openxmlformats.org/drawingml/2006/main" noGrp="1"/>
          </p:cNvSpPr>
          <p:nvPr/>
        </p:nvSpPr>
        <p:spPr>
          <a:xfrm xmlns:a="http://schemas.openxmlformats.org/drawingml/2006/main">
            <a:off x="9601200" y="5010912"/>
            <a:ext cx="758952" cy="347472"/>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79" name="Text 76">
            <a:extLst xmlns:a="http://schemas.openxmlformats.org/drawingml/2006/main">
              <a:ext uri="{FF2B5EF4-FFF2-40B4-BE49-F238E27FC236}">
                <a16:creationId xmlns:a16="http://schemas.microsoft.com/office/drawing/2014/main" id="{A447AAC2-ED57-4F9B-9070-B8ED6C3C4151}"/>
              </a:ext>
            </a:extLst>
          </p:cNvPr>
          <p:cNvSpPr>
            <a:spLocks xmlns:a="http://schemas.openxmlformats.org/drawingml/2006/main" noGrp="1"/>
          </p:cNvSpPr>
          <p:nvPr/>
        </p:nvSpPr>
        <p:spPr>
          <a:xfrm xmlns:a="http://schemas.openxmlformats.org/drawingml/2006/main">
            <a:off x="9692640" y="5010912"/>
            <a:ext cx="62179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10%</a:t>
            </a:r>
            <a:endParaRPr sz="950"/>
          </a:p>
        </p:txBody>
      </p:sp>
      <p:sp>
        <p:nvSpPr>
          <p:cNvPr id="80" name="Shape 77">
            <a:extLst xmlns:a="http://schemas.openxmlformats.org/drawingml/2006/main">
              <a:ext uri="{FF2B5EF4-FFF2-40B4-BE49-F238E27FC236}">
                <a16:creationId xmlns:a16="http://schemas.microsoft.com/office/drawing/2014/main" id="{577D336A-BA5F-4291-AFAA-0FD450FBEF79}"/>
              </a:ext>
            </a:extLst>
          </p:cNvPr>
          <p:cNvSpPr>
            <a:spLocks xmlns:a="http://schemas.openxmlformats.org/drawingml/2006/main" noGrp="1"/>
          </p:cNvSpPr>
          <p:nvPr/>
        </p:nvSpPr>
        <p:spPr>
          <a:xfrm xmlns:a="http://schemas.openxmlformats.org/drawingml/2006/main">
            <a:off x="10360152" y="5010912"/>
            <a:ext cx="1280160" cy="347472"/>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81" name="Text 78">
            <a:extLst xmlns:a="http://schemas.openxmlformats.org/drawingml/2006/main">
              <a:ext uri="{FF2B5EF4-FFF2-40B4-BE49-F238E27FC236}">
                <a16:creationId xmlns:a16="http://schemas.microsoft.com/office/drawing/2014/main" id="{EE5C2F2B-8065-4486-8EA7-F3B5A485BBF2}"/>
              </a:ext>
            </a:extLst>
          </p:cNvPr>
          <p:cNvSpPr>
            <a:spLocks xmlns:a="http://schemas.openxmlformats.org/drawingml/2006/main" noGrp="1"/>
          </p:cNvSpPr>
          <p:nvPr/>
        </p:nvSpPr>
        <p:spPr>
          <a:xfrm xmlns:a="http://schemas.openxmlformats.org/drawingml/2006/main">
            <a:off x="10451592" y="5010912"/>
            <a:ext cx="114300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2A231F"/>
                </a:solidFill>
                <a:latin typeface="Calibri"/>
                <a:ea typeface="Calibri"/>
                <a:cs typeface="Calibri"/>
              </a:rPr>
              <a:t>97–99.9%</a:t>
            </a:r>
            <a:endParaRPr sz="950"/>
          </a:p>
        </p:txBody>
      </p:sp>
      <p:sp>
        <p:nvSpPr>
          <p:cNvPr id="82" name="Shape 79">
            <a:extLst xmlns:a="http://schemas.openxmlformats.org/drawingml/2006/main">
              <a:ext uri="{FF2B5EF4-FFF2-40B4-BE49-F238E27FC236}">
                <a16:creationId xmlns:a16="http://schemas.microsoft.com/office/drawing/2014/main" id="{693862C9-18F5-43B4-8657-A2518C67B914}"/>
              </a:ext>
            </a:extLst>
          </p:cNvPr>
          <p:cNvSpPr>
            <a:spLocks xmlns:a="http://schemas.openxmlformats.org/drawingml/2006/main" noGrp="1"/>
          </p:cNvSpPr>
          <p:nvPr/>
        </p:nvSpPr>
        <p:spPr>
          <a:xfrm xmlns:a="http://schemas.openxmlformats.org/drawingml/2006/main">
            <a:off x="6858000" y="5449824"/>
            <a:ext cx="4785055" cy="566928"/>
          </a:xfrm>
          <a:prstGeom xmlns:a="http://schemas.openxmlformats.org/drawingml/2006/main" prst="roundRect">
            <a:avLst>
              <a:gd name="adj" fmla="val 17742"/>
            </a:avLst>
          </a:prstGeom>
          <a:solidFill xmlns:a="http://schemas.openxmlformats.org/drawingml/2006/main">
            <a:srgbClr val="FBEFEF"/>
          </a:solidFill>
          <a:ln xmlns:a="http://schemas.openxmlformats.org/drawingml/2006/main" w="12700">
            <a:solidFill>
              <a:srgbClr val="EBC9C9"/>
            </a:solidFill>
            <a:prstDash val="solid"/>
          </a:ln>
        </p:spPr>
      </p:sp>
      <p:sp>
        <p:nvSpPr>
          <p:cNvPr id="83" name="Text 80">
            <a:extLst xmlns:a="http://schemas.openxmlformats.org/drawingml/2006/main">
              <a:ext uri="{FF2B5EF4-FFF2-40B4-BE49-F238E27FC236}">
                <a16:creationId xmlns:a16="http://schemas.microsoft.com/office/drawing/2014/main" id="{ABDC8DC3-6F46-4D5C-ACAA-AFD30CEF2E5D}"/>
              </a:ext>
            </a:extLst>
          </p:cNvPr>
          <p:cNvSpPr>
            <a:spLocks xmlns:a="http://schemas.openxmlformats.org/drawingml/2006/main" noGrp="1"/>
          </p:cNvSpPr>
          <p:nvPr/>
        </p:nvSpPr>
        <p:spPr>
          <a:xfrm xmlns:a="http://schemas.openxmlformats.org/drawingml/2006/main">
            <a:off x="7040880" y="5449824"/>
            <a:ext cx="446501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C0392B"/>
                </a:solidFill>
                <a:latin typeface="Poppins"/>
                <a:ea typeface="Poppins"/>
                <a:cs typeface="Poppins"/>
              </a:rPr>
              <a:t>Flag:  </a:t>
            </a:r>
            <a:r>
              <a:rPr sz="950">
                <a:solidFill>
                  <a:srgbClr val="2A231F"/>
                </a:solidFill>
                <a:latin typeface="Calibri"/>
                <a:ea typeface="Calibri"/>
                <a:cs typeface="Calibri"/>
              </a:rPr>
              <a:t>AMLI seeks delay penalty 5%/wk (max 25%) + this MOS matrix. Our T&amp;C response: </a:t>
            </a:r>
            <a:r>
              <a:rPr sz="950" b="1">
                <a:solidFill>
                  <a:srgbClr val="C0392B"/>
                </a:solidFill>
                <a:latin typeface="Calibri"/>
                <a:ea typeface="Calibri"/>
                <a:cs typeface="Calibri"/>
              </a:rPr>
              <a:t>ASPL does not accept penalty clauses.</a:t>
            </a:r>
            <a:endParaRPr sz="950"/>
          </a:p>
        </p:txBody>
      </p:sp>
      <p:sp>
        <p:nvSpPr>
          <p:cNvPr id="84" name="Text 81">
            <a:extLst xmlns:a="http://schemas.openxmlformats.org/drawingml/2006/main">
              <a:ext uri="{FF2B5EF4-FFF2-40B4-BE49-F238E27FC236}">
                <a16:creationId xmlns:a16="http://schemas.microsoft.com/office/drawing/2014/main" id="{27885FF8-DE28-4856-9912-F850F1DF5019}"/>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85" name="Text 82">
            <a:extLst xmlns:a="http://schemas.openxmlformats.org/drawingml/2006/main">
              <a:ext uri="{FF2B5EF4-FFF2-40B4-BE49-F238E27FC236}">
                <a16:creationId xmlns:a16="http://schemas.microsoft.com/office/drawing/2014/main" id="{9003F812-85D3-4F7C-81C5-F5340D4E0E48}"/>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16</a:t>
            </a:r>
            <a:endParaRPr sz="900"/>
          </a:p>
        </p:txBody>
      </p:sp>
    </p:spTree>
    <p:extLst>
      <p:ext uri="{BB962C8B-B14F-4D97-AF65-F5344CB8AC3E}">
        <p14:creationId xmlns:p14="http://schemas.microsoft.com/office/powerpoint/2010/main" val="195568190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A1DD55-35A3-4015-AE8D-285E7705F3DA}"/>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EE2B76"/>
                </a:solidFill>
                <a:latin typeface="Poppins"/>
                <a:ea typeface="Poppins"/>
                <a:cs typeface="Poppins"/>
              </a:rPr>
              <a:t>COMMERCIALS</a:t>
            </a:r>
            <a:endParaRPr sz="1200"/>
          </a:p>
        </p:txBody>
      </p:sp>
      <p:sp>
        <p:nvSpPr>
          <p:cNvPr id="3" name="Text 1">
            <a:extLst xmlns:a="http://schemas.openxmlformats.org/drawingml/2006/main">
              <a:ext uri="{FF2B5EF4-FFF2-40B4-BE49-F238E27FC236}">
                <a16:creationId xmlns:a16="http://schemas.microsoft.com/office/drawing/2014/main" id="{B1E8E637-FF0F-43F8-AF40-8AEF21F7BEB5}"/>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Implementation cost &amp; pricing construct</a:t>
            </a:r>
            <a:endParaRPr sz="3000"/>
          </a:p>
        </p:txBody>
      </p:sp>
      <p:sp>
        <p:nvSpPr>
          <p:cNvPr id="4" name="Shape 2">
            <a:extLst xmlns:a="http://schemas.openxmlformats.org/drawingml/2006/main">
              <a:ext uri="{FF2B5EF4-FFF2-40B4-BE49-F238E27FC236}">
                <a16:creationId xmlns:a16="http://schemas.microsoft.com/office/drawing/2014/main" id="{F2FD6573-5B0E-4611-8BB5-01F3A1C82971}"/>
              </a:ext>
            </a:extLst>
          </p:cNvPr>
          <p:cNvSpPr>
            <a:spLocks xmlns:a="http://schemas.openxmlformats.org/drawingml/2006/main" noGrp="1"/>
          </p:cNvSpPr>
          <p:nvPr/>
        </p:nvSpPr>
        <p:spPr>
          <a:xfrm xmlns:a="http://schemas.openxmlformats.org/drawingml/2006/main">
            <a:off x="548640" y="1517904"/>
            <a:ext cx="3840480" cy="2011680"/>
          </a:xfrm>
          <a:prstGeom xmlns:a="http://schemas.openxmlformats.org/drawingml/2006/main" prst="roundRect">
            <a:avLst>
              <a:gd name="adj" fmla="val 5000"/>
            </a:avLst>
          </a:prstGeom>
          <a:solidFill xmlns:a="http://schemas.openxmlformats.org/drawingml/2006/main">
            <a:srgbClr val="EE2B76"/>
          </a:solidFill>
          <a:effectLst xmlns:a="http://schemas.openxmlformats.org/drawingml/2006/main">
            <a:outerShdw blurRad="114300" dist="38100" dir="5400000" sx="100000" sy="100000" kx="0" ky="0" algn="bl" rotWithShape="0">
              <a:srgbClr val="9A8F88">
                <a:alpha val="32000"/>
              </a:srgbClr>
            </a:outerShdw>
          </a:effectLst>
        </p:spPr>
      </p:sp>
      <p:sp>
        <p:nvSpPr>
          <p:cNvPr id="5" name="Text 3">
            <a:extLst xmlns:a="http://schemas.openxmlformats.org/drawingml/2006/main">
              <a:ext uri="{FF2B5EF4-FFF2-40B4-BE49-F238E27FC236}">
                <a16:creationId xmlns:a16="http://schemas.microsoft.com/office/drawing/2014/main" id="{FA1CF106-0AFE-43E1-B5EB-002CAE7BF519}"/>
              </a:ext>
            </a:extLst>
          </p:cNvPr>
          <p:cNvSpPr>
            <a:spLocks xmlns:a="http://schemas.openxmlformats.org/drawingml/2006/main" noGrp="1"/>
          </p:cNvSpPr>
          <p:nvPr/>
        </p:nvSpPr>
        <p:spPr>
          <a:xfrm xmlns:a="http://schemas.openxmlformats.org/drawingml/2006/main">
            <a:off x="640080" y="1700784"/>
            <a:ext cx="36576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400" b="1">
                <a:solidFill>
                  <a:srgbClr val="FFFFFF"/>
                </a:solidFill>
                <a:latin typeface="Poppins"/>
                <a:ea typeface="Poppins"/>
                <a:cs typeface="Poppins"/>
              </a:rPr>
              <a:t>₹4.36 Cr</a:t>
            </a:r>
            <a:endParaRPr sz="4400"/>
          </a:p>
        </p:txBody>
      </p:sp>
      <p:sp>
        <p:nvSpPr>
          <p:cNvPr id="6" name="Text 4">
            <a:extLst xmlns:a="http://schemas.openxmlformats.org/drawingml/2006/main">
              <a:ext uri="{FF2B5EF4-FFF2-40B4-BE49-F238E27FC236}">
                <a16:creationId xmlns:a16="http://schemas.microsoft.com/office/drawing/2014/main" id="{3CA484DE-9C9B-4392-BB88-6F47D9883F74}"/>
              </a:ext>
            </a:extLst>
          </p:cNvPr>
          <p:cNvSpPr>
            <a:spLocks xmlns:a="http://schemas.openxmlformats.org/drawingml/2006/main" noGrp="1"/>
          </p:cNvSpPr>
          <p:nvPr/>
        </p:nvSpPr>
        <p:spPr>
          <a:xfrm xmlns:a="http://schemas.openxmlformats.org/drawingml/2006/main">
            <a:off x="640080" y="2450592"/>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FFD6E6"/>
                </a:solidFill>
                <a:latin typeface="Poppins"/>
                <a:ea typeface="Poppins"/>
                <a:cs typeface="Poppins"/>
              </a:rPr>
              <a:t>One-time implementation services</a:t>
            </a:r>
            <a:endParaRPr sz="1250"/>
          </a:p>
        </p:txBody>
      </p:sp>
      <p:sp>
        <p:nvSpPr>
          <p:cNvPr id="7" name="Text 5">
            <a:extLst xmlns:a="http://schemas.openxmlformats.org/drawingml/2006/main">
              <a:ext uri="{FF2B5EF4-FFF2-40B4-BE49-F238E27FC236}">
                <a16:creationId xmlns:a16="http://schemas.microsoft.com/office/drawing/2014/main" id="{065DF6E3-975B-47F5-8BE0-E34229848FCE}"/>
              </a:ext>
            </a:extLst>
          </p:cNvPr>
          <p:cNvSpPr>
            <a:spLocks xmlns:a="http://schemas.openxmlformats.org/drawingml/2006/main" noGrp="1"/>
          </p:cNvSpPr>
          <p:nvPr/>
        </p:nvSpPr>
        <p:spPr>
          <a:xfrm xmlns:a="http://schemas.openxmlformats.org/drawingml/2006/main">
            <a:off x="731520" y="2761488"/>
            <a:ext cx="3474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105000"/>
              </a:lnSpc>
              <a:buNone/>
            </a:pPr>
            <a:r>
              <a:rPr sz="1000">
                <a:solidFill>
                  <a:srgbClr val="FBE1EC"/>
                </a:solidFill>
                <a:latin typeface="Calibri"/>
                <a:ea typeface="Calibri"/>
                <a:cs typeface="Calibri"/>
              </a:rPr>
              <a:t>Fixed bid · INR · incl. taxes except GST</a:t>
            </a:r>
            <a:endParaRPr sz="1000"/>
          </a:p>
          <a:p xmlns:a="http://schemas.openxmlformats.org/drawingml/2006/main">
            <a:pPr marL="0" indent="0" algn="ctr">
              <a:lnSpc>
                <a:spcPct val="105000"/>
              </a:lnSpc>
              <a:buNone/>
            </a:pPr>
            <a:r>
              <a:rPr sz="1000">
                <a:solidFill>
                  <a:srgbClr val="FBE1EC"/>
                </a:solidFill>
                <a:latin typeface="Calibri"/>
                <a:ea typeface="Calibri"/>
                <a:cs typeface="Calibri"/>
              </a:rPr>
              <a:t>Excludes product licence, third-party software, hosting &amp; infra</a:t>
            </a:r>
            <a:endParaRPr sz="1000"/>
          </a:p>
        </p:txBody>
      </p:sp>
      <p:sp>
        <p:nvSpPr>
          <p:cNvPr id="8" name="Text 6">
            <a:extLst xmlns:a="http://schemas.openxmlformats.org/drawingml/2006/main">
              <a:ext uri="{FF2B5EF4-FFF2-40B4-BE49-F238E27FC236}">
                <a16:creationId xmlns:a16="http://schemas.microsoft.com/office/drawing/2014/main" id="{A0D929F2-67AF-47CB-8FA4-03EA2B79D0F8}"/>
              </a:ext>
            </a:extLst>
          </p:cNvPr>
          <p:cNvSpPr>
            <a:spLocks xmlns:a="http://schemas.openxmlformats.org/drawingml/2006/main" noGrp="1"/>
          </p:cNvSpPr>
          <p:nvPr/>
        </p:nvSpPr>
        <p:spPr>
          <a:xfrm xmlns:a="http://schemas.openxmlformats.org/drawingml/2006/main">
            <a:off x="548640" y="3749040"/>
            <a:ext cx="38404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50" b="1" spc="100">
                <a:solidFill>
                  <a:srgbClr val="1F3A5F"/>
                </a:solidFill>
                <a:latin typeface="Poppins"/>
                <a:ea typeface="Poppins"/>
                <a:cs typeface="Poppins"/>
              </a:rPr>
              <a:t>COST SPLIT BY ROLE  (₹ lakh)</a:t>
            </a:r>
            <a:endParaRPr sz="1050"/>
          </a:p>
        </p:txBody>
      </p:sp>
      <p:graphicFrame>
        <p:nvGraphicFramePr>
          <p:cNvPr id="57" name="Chart 0"/>
          <p:cNvGraphicFramePr/>
          <p:nvPr/>
        </p:nvGraphicFramePr>
        <p:xfrm>
          <a:off xmlns:a="http://schemas.openxmlformats.org/drawingml/2006/main" x="457200" y="3977640"/>
          <a:ext xmlns:a="http://schemas.openxmlformats.org/drawingml/2006/main" cx="4023360" cy="2331720"/>
        </p:xfrm>
        <a:graphic xmlns:a="http://schemas.openxmlformats.org/drawingml/2006/main">
          <a:graphicData uri="http://schemas.openxmlformats.org/drawingml/2006/chart">
            <c:chart xmlns:r="http://schemas.openxmlformats.org/officeDocument/2006/relationships" xmlns:c="http://schemas.openxmlformats.org/drawingml/2006/chart" r:id="R59d02122c56d423b"/>
          </a:graphicData>
        </a:graphic>
      </p:graphicFrame>
      <p:sp>
        <p:nvSpPr>
          <p:cNvPr id="10" name="Text 7">
            <a:extLst xmlns:a="http://schemas.openxmlformats.org/drawingml/2006/main">
              <a:ext uri="{FF2B5EF4-FFF2-40B4-BE49-F238E27FC236}">
                <a16:creationId xmlns:a16="http://schemas.microsoft.com/office/drawing/2014/main" id="{2494768B-197C-4F60-888F-9D31C602DA4F}"/>
              </a:ext>
            </a:extLst>
          </p:cNvPr>
          <p:cNvSpPr>
            <a:spLocks xmlns:a="http://schemas.openxmlformats.org/drawingml/2006/main" noGrp="1"/>
          </p:cNvSpPr>
          <p:nvPr/>
        </p:nvSpPr>
        <p:spPr>
          <a:xfrm xmlns:a="http://schemas.openxmlformats.org/drawingml/2006/main">
            <a:off x="4754880" y="1481328"/>
            <a:ext cx="688817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spc="100">
                <a:solidFill>
                  <a:srgbClr val="EE2B76"/>
                </a:solidFill>
                <a:latin typeface="Poppins"/>
                <a:ea typeface="Poppins"/>
                <a:cs typeface="Poppins"/>
              </a:rPr>
              <a:t>KEY COMMERCIAL TERMS &amp; POSITIONS</a:t>
            </a:r>
            <a:endParaRPr sz="1100"/>
          </a:p>
        </p:txBody>
      </p:sp>
      <p:sp>
        <p:nvSpPr>
          <p:cNvPr id="11" name="Shape 8">
            <a:extLst xmlns:a="http://schemas.openxmlformats.org/drawingml/2006/main">
              <a:ext uri="{FF2B5EF4-FFF2-40B4-BE49-F238E27FC236}">
                <a16:creationId xmlns:a16="http://schemas.microsoft.com/office/drawing/2014/main" id="{D1A65B70-0A33-44FD-A0AD-C7544E4BF559}"/>
              </a:ext>
            </a:extLst>
          </p:cNvPr>
          <p:cNvSpPr>
            <a:spLocks xmlns:a="http://schemas.openxmlformats.org/drawingml/2006/main" noGrp="1"/>
          </p:cNvSpPr>
          <p:nvPr/>
        </p:nvSpPr>
        <p:spPr>
          <a:xfrm xmlns:a="http://schemas.openxmlformats.org/drawingml/2006/main">
            <a:off x="4754880" y="1828800"/>
            <a:ext cx="6888175" cy="713232"/>
          </a:xfrm>
          <a:prstGeom xmlns:a="http://schemas.openxmlformats.org/drawingml/2006/main" prst="roundRect">
            <a:avLst>
              <a:gd name="adj" fmla="val 1410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2" name="Shape 9">
            <a:extLst xmlns:a="http://schemas.openxmlformats.org/drawingml/2006/main">
              <a:ext uri="{FF2B5EF4-FFF2-40B4-BE49-F238E27FC236}">
                <a16:creationId xmlns:a16="http://schemas.microsoft.com/office/drawing/2014/main" id="{A40AFCD1-DC91-4E45-8661-5B01237EE33C}"/>
              </a:ext>
            </a:extLst>
          </p:cNvPr>
          <p:cNvSpPr>
            <a:spLocks xmlns:a="http://schemas.openxmlformats.org/drawingml/2006/main" noGrp="1"/>
          </p:cNvSpPr>
          <p:nvPr/>
        </p:nvSpPr>
        <p:spPr>
          <a:xfrm xmlns:a="http://schemas.openxmlformats.org/drawingml/2006/main">
            <a:off x="4901184" y="1965960"/>
            <a:ext cx="438912" cy="43891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61" name="Image 0"/>
          <p:cNvPicPr>
            <a:picLocks xmlns:a="http://schemas.openxmlformats.org/drawingml/2006/main" noChangeAspect="1"/>
          </p:cNvPicPr>
          <p:nvPr/>
        </p:nvPicPr>
        <p:blipFill>
          <a:blip xmlns:r="http://schemas.openxmlformats.org/officeDocument/2006/relationships" xmlns:a="http://schemas.openxmlformats.org/drawingml/2006/main" r:embed="Rb5e0353413c64893"/>
          <a:stretch xmlns:a="http://schemas.openxmlformats.org/drawingml/2006/main">
            <a:fillRect l="0" t="0" r="0" b="0"/>
          </a:stretch>
        </p:blipFill>
        <p:spPr>
          <a:xfrm xmlns:a="http://schemas.openxmlformats.org/drawingml/2006/main">
            <a:off x="5015301" y="2080077"/>
            <a:ext cx="210678" cy="210678"/>
          </a:xfrm>
          <a:prstGeom xmlns:a="http://schemas.openxmlformats.org/drawingml/2006/main" prst="rect">
            <a:avLst/>
          </a:prstGeom>
        </p:spPr>
      </p:pic>
      <p:sp>
        <p:nvSpPr>
          <p:cNvPr id="14" name="Text 10">
            <a:extLst xmlns:a="http://schemas.openxmlformats.org/drawingml/2006/main">
              <a:ext uri="{FF2B5EF4-FFF2-40B4-BE49-F238E27FC236}">
                <a16:creationId xmlns:a16="http://schemas.microsoft.com/office/drawing/2014/main" id="{6984DF08-D9FD-419D-AE45-0A2C8E2A98EA}"/>
              </a:ext>
            </a:extLst>
          </p:cNvPr>
          <p:cNvSpPr>
            <a:spLocks xmlns:a="http://schemas.openxmlformats.org/drawingml/2006/main" noGrp="1"/>
          </p:cNvSpPr>
          <p:nvPr/>
        </p:nvSpPr>
        <p:spPr>
          <a:xfrm xmlns:a="http://schemas.openxmlformats.org/drawingml/2006/main">
            <a:off x="5486400" y="1901952"/>
            <a:ext cx="5973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Licence priced separately</a:t>
            </a:r>
            <a:endParaRPr sz="1200"/>
          </a:p>
        </p:txBody>
      </p:sp>
      <p:sp>
        <p:nvSpPr>
          <p:cNvPr id="15" name="Text 11">
            <a:extLst xmlns:a="http://schemas.openxmlformats.org/drawingml/2006/main">
              <a:ext uri="{FF2B5EF4-FFF2-40B4-BE49-F238E27FC236}">
                <a16:creationId xmlns:a16="http://schemas.microsoft.com/office/drawing/2014/main" id="{BF4D4EB0-5C8D-46DC-9117-005E41CEE104}"/>
              </a:ext>
            </a:extLst>
          </p:cNvPr>
          <p:cNvSpPr>
            <a:spLocks xmlns:a="http://schemas.openxmlformats.org/drawingml/2006/main" noGrp="1"/>
          </p:cNvSpPr>
          <p:nvPr/>
        </p:nvSpPr>
        <p:spPr>
          <a:xfrm xmlns:a="http://schemas.openxmlformats.org/drawingml/2006/main">
            <a:off x="5486400" y="2167128"/>
            <a:ext cx="5973775"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95959"/>
                </a:solidFill>
                <a:latin typeface="Calibri"/>
                <a:ea typeface="Calibri"/>
                <a:cs typeface="Calibri"/>
              </a:rPr>
              <a:t>Product / licence lands in the BUSINESSNEXT transformation proposal — NOT in this implementation price.</a:t>
            </a:r>
            <a:endParaRPr sz="950"/>
          </a:p>
        </p:txBody>
      </p:sp>
      <p:sp>
        <p:nvSpPr>
          <p:cNvPr id="16" name="Shape 12">
            <a:extLst xmlns:a="http://schemas.openxmlformats.org/drawingml/2006/main">
              <a:ext uri="{FF2B5EF4-FFF2-40B4-BE49-F238E27FC236}">
                <a16:creationId xmlns:a16="http://schemas.microsoft.com/office/drawing/2014/main" id="{8DA418BF-7A6A-4F29-BC21-EF8C23C31DCD}"/>
              </a:ext>
            </a:extLst>
          </p:cNvPr>
          <p:cNvSpPr>
            <a:spLocks xmlns:a="http://schemas.openxmlformats.org/drawingml/2006/main" noGrp="1"/>
          </p:cNvSpPr>
          <p:nvPr/>
        </p:nvSpPr>
        <p:spPr>
          <a:xfrm xmlns:a="http://schemas.openxmlformats.org/drawingml/2006/main">
            <a:off x="4754880" y="2610612"/>
            <a:ext cx="6888175" cy="713232"/>
          </a:xfrm>
          <a:prstGeom xmlns:a="http://schemas.openxmlformats.org/drawingml/2006/main" prst="roundRect">
            <a:avLst>
              <a:gd name="adj" fmla="val 1410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17" name="Shape 13">
            <a:extLst xmlns:a="http://schemas.openxmlformats.org/drawingml/2006/main">
              <a:ext uri="{FF2B5EF4-FFF2-40B4-BE49-F238E27FC236}">
                <a16:creationId xmlns:a16="http://schemas.microsoft.com/office/drawing/2014/main" id="{30053761-EA74-42CE-96C4-C9DE229F7997}"/>
              </a:ext>
            </a:extLst>
          </p:cNvPr>
          <p:cNvSpPr>
            <a:spLocks xmlns:a="http://schemas.openxmlformats.org/drawingml/2006/main" noGrp="1"/>
          </p:cNvSpPr>
          <p:nvPr/>
        </p:nvSpPr>
        <p:spPr>
          <a:xfrm xmlns:a="http://schemas.openxmlformats.org/drawingml/2006/main">
            <a:off x="4901184" y="2747772"/>
            <a:ext cx="438912" cy="43891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66" name="Image 1"/>
          <p:cNvPicPr>
            <a:picLocks xmlns:a="http://schemas.openxmlformats.org/drawingml/2006/main" noChangeAspect="1"/>
          </p:cNvPicPr>
          <p:nvPr/>
        </p:nvPicPr>
        <p:blipFill>
          <a:blip xmlns:r="http://schemas.openxmlformats.org/officeDocument/2006/relationships" xmlns:a="http://schemas.openxmlformats.org/drawingml/2006/main" r:embed="Re4600fdd2fab4219"/>
          <a:stretch xmlns:a="http://schemas.openxmlformats.org/drawingml/2006/main">
            <a:fillRect l="0" t="0" r="0" b="0"/>
          </a:stretch>
        </p:blipFill>
        <p:spPr>
          <a:xfrm xmlns:a="http://schemas.openxmlformats.org/drawingml/2006/main">
            <a:off x="5015301" y="2861889"/>
            <a:ext cx="210678" cy="210678"/>
          </a:xfrm>
          <a:prstGeom xmlns:a="http://schemas.openxmlformats.org/drawingml/2006/main" prst="rect">
            <a:avLst/>
          </a:prstGeom>
        </p:spPr>
      </p:pic>
      <p:sp>
        <p:nvSpPr>
          <p:cNvPr id="19" name="Text 14">
            <a:extLst xmlns:a="http://schemas.openxmlformats.org/drawingml/2006/main">
              <a:ext uri="{FF2B5EF4-FFF2-40B4-BE49-F238E27FC236}">
                <a16:creationId xmlns:a16="http://schemas.microsoft.com/office/drawing/2014/main" id="{428F9618-A189-48FE-AAFB-60D96009A259}"/>
              </a:ext>
            </a:extLst>
          </p:cNvPr>
          <p:cNvSpPr>
            <a:spLocks xmlns:a="http://schemas.openxmlformats.org/drawingml/2006/main" noGrp="1"/>
          </p:cNvSpPr>
          <p:nvPr/>
        </p:nvSpPr>
        <p:spPr>
          <a:xfrm xmlns:a="http://schemas.openxmlformats.org/drawingml/2006/main">
            <a:off x="5486400" y="2683764"/>
            <a:ext cx="5973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Infra &amp; 3rd-party excluded</a:t>
            </a:r>
            <a:endParaRPr sz="1200"/>
          </a:p>
        </p:txBody>
      </p:sp>
      <p:sp>
        <p:nvSpPr>
          <p:cNvPr id="20" name="Text 15">
            <a:extLst xmlns:a="http://schemas.openxmlformats.org/drawingml/2006/main">
              <a:ext uri="{FF2B5EF4-FFF2-40B4-BE49-F238E27FC236}">
                <a16:creationId xmlns:a16="http://schemas.microsoft.com/office/drawing/2014/main" id="{F5E4CAF8-2D50-4EAE-B41F-29D71A4481F8}"/>
              </a:ext>
            </a:extLst>
          </p:cNvPr>
          <p:cNvSpPr>
            <a:spLocks xmlns:a="http://schemas.openxmlformats.org/drawingml/2006/main" noGrp="1"/>
          </p:cNvSpPr>
          <p:nvPr/>
        </p:nvSpPr>
        <p:spPr>
          <a:xfrm xmlns:a="http://schemas.openxmlformats.org/drawingml/2006/main">
            <a:off x="5486400" y="2948940"/>
            <a:ext cx="5973775"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95959"/>
                </a:solidFill>
                <a:latin typeface="Calibri"/>
                <a:ea typeface="Calibri"/>
                <a:cs typeface="Calibri"/>
              </a:rPr>
              <a:t>OS/DB, hosting and all infrastructure procured by AMLI separately (AWS/Azure/OCI/on-prem + DR + HA).</a:t>
            </a:r>
            <a:endParaRPr sz="950"/>
          </a:p>
        </p:txBody>
      </p:sp>
      <p:sp>
        <p:nvSpPr>
          <p:cNvPr id="21" name="Shape 16">
            <a:extLst xmlns:a="http://schemas.openxmlformats.org/drawingml/2006/main">
              <a:ext uri="{FF2B5EF4-FFF2-40B4-BE49-F238E27FC236}">
                <a16:creationId xmlns:a16="http://schemas.microsoft.com/office/drawing/2014/main" id="{D6E1404B-02CE-481B-9F9E-90B159E1AA0B}"/>
              </a:ext>
            </a:extLst>
          </p:cNvPr>
          <p:cNvSpPr>
            <a:spLocks xmlns:a="http://schemas.openxmlformats.org/drawingml/2006/main" noGrp="1"/>
          </p:cNvSpPr>
          <p:nvPr/>
        </p:nvSpPr>
        <p:spPr>
          <a:xfrm xmlns:a="http://schemas.openxmlformats.org/drawingml/2006/main">
            <a:off x="4754880" y="3392424"/>
            <a:ext cx="6888175" cy="713232"/>
          </a:xfrm>
          <a:prstGeom xmlns:a="http://schemas.openxmlformats.org/drawingml/2006/main" prst="roundRect">
            <a:avLst>
              <a:gd name="adj" fmla="val 1410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2" name="Shape 17">
            <a:extLst xmlns:a="http://schemas.openxmlformats.org/drawingml/2006/main">
              <a:ext uri="{FF2B5EF4-FFF2-40B4-BE49-F238E27FC236}">
                <a16:creationId xmlns:a16="http://schemas.microsoft.com/office/drawing/2014/main" id="{A4C4E0FB-2937-44BD-B118-E6AB163BD958}"/>
              </a:ext>
            </a:extLst>
          </p:cNvPr>
          <p:cNvSpPr>
            <a:spLocks xmlns:a="http://schemas.openxmlformats.org/drawingml/2006/main" noGrp="1"/>
          </p:cNvSpPr>
          <p:nvPr/>
        </p:nvSpPr>
        <p:spPr>
          <a:xfrm xmlns:a="http://schemas.openxmlformats.org/drawingml/2006/main">
            <a:off x="4901184" y="3529584"/>
            <a:ext cx="438912" cy="43891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71" name="Image 2"/>
          <p:cNvPicPr>
            <a:picLocks xmlns:a="http://schemas.openxmlformats.org/drawingml/2006/main" noChangeAspect="1"/>
          </p:cNvPicPr>
          <p:nvPr/>
        </p:nvPicPr>
        <p:blipFill>
          <a:blip xmlns:r="http://schemas.openxmlformats.org/officeDocument/2006/relationships" xmlns:a="http://schemas.openxmlformats.org/drawingml/2006/main" r:embed="Rea8fa694cb534870"/>
          <a:stretch xmlns:a="http://schemas.openxmlformats.org/drawingml/2006/main">
            <a:fillRect l="0" t="0" r="0" b="0"/>
          </a:stretch>
        </p:blipFill>
        <p:spPr>
          <a:xfrm xmlns:a="http://schemas.openxmlformats.org/drawingml/2006/main">
            <a:off x="5015301" y="3643701"/>
            <a:ext cx="210678" cy="210678"/>
          </a:xfrm>
          <a:prstGeom xmlns:a="http://schemas.openxmlformats.org/drawingml/2006/main" prst="rect">
            <a:avLst/>
          </a:prstGeom>
        </p:spPr>
      </p:pic>
      <p:sp>
        <p:nvSpPr>
          <p:cNvPr id="24" name="Text 18">
            <a:extLst xmlns:a="http://schemas.openxmlformats.org/drawingml/2006/main">
              <a:ext uri="{FF2B5EF4-FFF2-40B4-BE49-F238E27FC236}">
                <a16:creationId xmlns:a16="http://schemas.microsoft.com/office/drawing/2014/main" id="{24C8D835-A524-4A39-AD4E-34BE09E53AE5}"/>
              </a:ext>
            </a:extLst>
          </p:cNvPr>
          <p:cNvSpPr>
            <a:spLocks xmlns:a="http://schemas.openxmlformats.org/drawingml/2006/main" noGrp="1"/>
          </p:cNvSpPr>
          <p:nvPr/>
        </p:nvSpPr>
        <p:spPr>
          <a:xfrm xmlns:a="http://schemas.openxmlformats.org/drawingml/2006/main">
            <a:off x="5486400" y="3465576"/>
            <a:ext cx="5973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Milestone-based invoicing</a:t>
            </a:r>
            <a:endParaRPr sz="1200"/>
          </a:p>
        </p:txBody>
      </p:sp>
      <p:sp>
        <p:nvSpPr>
          <p:cNvPr id="25" name="Text 19">
            <a:extLst xmlns:a="http://schemas.openxmlformats.org/drawingml/2006/main">
              <a:ext uri="{FF2B5EF4-FFF2-40B4-BE49-F238E27FC236}">
                <a16:creationId xmlns:a16="http://schemas.microsoft.com/office/drawing/2014/main" id="{DADA1906-A6E3-4DB7-9775-15E87C254DB9}"/>
              </a:ext>
            </a:extLst>
          </p:cNvPr>
          <p:cNvSpPr>
            <a:spLocks xmlns:a="http://schemas.openxmlformats.org/drawingml/2006/main" noGrp="1"/>
          </p:cNvSpPr>
          <p:nvPr/>
        </p:nvSpPr>
        <p:spPr>
          <a:xfrm xmlns:a="http://schemas.openxmlformats.org/drawingml/2006/main">
            <a:off x="5486400" y="3730752"/>
            <a:ext cx="5973775"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95959"/>
                </a:solidFill>
                <a:latin typeface="Calibri"/>
                <a:ea typeface="Calibri"/>
                <a:cs typeface="Calibri"/>
              </a:rPr>
              <a:t>ASPL offers milestone invoicing; AMLI asks invoicing only after go-live + hyper-care sign-off.</a:t>
            </a:r>
            <a:endParaRPr sz="950"/>
          </a:p>
        </p:txBody>
      </p:sp>
      <p:sp>
        <p:nvSpPr>
          <p:cNvPr id="26" name="Shape 20">
            <a:extLst xmlns:a="http://schemas.openxmlformats.org/drawingml/2006/main">
              <a:ext uri="{FF2B5EF4-FFF2-40B4-BE49-F238E27FC236}">
                <a16:creationId xmlns:a16="http://schemas.microsoft.com/office/drawing/2014/main" id="{E1351A2F-56C8-4FEC-89AD-C76C1A2D9650}"/>
              </a:ext>
            </a:extLst>
          </p:cNvPr>
          <p:cNvSpPr>
            <a:spLocks xmlns:a="http://schemas.openxmlformats.org/drawingml/2006/main" noGrp="1"/>
          </p:cNvSpPr>
          <p:nvPr/>
        </p:nvSpPr>
        <p:spPr>
          <a:xfrm xmlns:a="http://schemas.openxmlformats.org/drawingml/2006/main">
            <a:off x="4754880" y="4174236"/>
            <a:ext cx="6888175" cy="713232"/>
          </a:xfrm>
          <a:prstGeom xmlns:a="http://schemas.openxmlformats.org/drawingml/2006/main" prst="roundRect">
            <a:avLst>
              <a:gd name="adj" fmla="val 1410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27" name="Shape 21">
            <a:extLst xmlns:a="http://schemas.openxmlformats.org/drawingml/2006/main">
              <a:ext uri="{FF2B5EF4-FFF2-40B4-BE49-F238E27FC236}">
                <a16:creationId xmlns:a16="http://schemas.microsoft.com/office/drawing/2014/main" id="{E8B3686D-0289-477D-BFF2-AA992778AE34}"/>
              </a:ext>
            </a:extLst>
          </p:cNvPr>
          <p:cNvSpPr>
            <a:spLocks xmlns:a="http://schemas.openxmlformats.org/drawingml/2006/main" noGrp="1"/>
          </p:cNvSpPr>
          <p:nvPr/>
        </p:nvSpPr>
        <p:spPr>
          <a:xfrm xmlns:a="http://schemas.openxmlformats.org/drawingml/2006/main">
            <a:off x="4901184" y="4311396"/>
            <a:ext cx="438912" cy="43891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c0631db287ae4944"/>
          <a:stretch xmlns:a="http://schemas.openxmlformats.org/drawingml/2006/main">
            <a:fillRect l="0" t="0" r="0" b="0"/>
          </a:stretch>
        </p:blipFill>
        <p:spPr>
          <a:xfrm xmlns:a="http://schemas.openxmlformats.org/drawingml/2006/main">
            <a:off x="5015301" y="4425513"/>
            <a:ext cx="210678" cy="210678"/>
          </a:xfrm>
          <a:prstGeom xmlns:a="http://schemas.openxmlformats.org/drawingml/2006/main" prst="rect">
            <a:avLst/>
          </a:prstGeom>
        </p:spPr>
      </p:pic>
      <p:sp>
        <p:nvSpPr>
          <p:cNvPr id="29" name="Text 22">
            <a:extLst xmlns:a="http://schemas.openxmlformats.org/drawingml/2006/main">
              <a:ext uri="{FF2B5EF4-FFF2-40B4-BE49-F238E27FC236}">
                <a16:creationId xmlns:a16="http://schemas.microsoft.com/office/drawing/2014/main" id="{B2E31653-7CC0-4204-9519-B75615046E47}"/>
              </a:ext>
            </a:extLst>
          </p:cNvPr>
          <p:cNvSpPr>
            <a:spLocks xmlns:a="http://schemas.openxmlformats.org/drawingml/2006/main" noGrp="1"/>
          </p:cNvSpPr>
          <p:nvPr/>
        </p:nvSpPr>
        <p:spPr>
          <a:xfrm xmlns:a="http://schemas.openxmlformats.org/drawingml/2006/main">
            <a:off x="5486400" y="4247388"/>
            <a:ext cx="5973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Payment terms</a:t>
            </a:r>
            <a:endParaRPr sz="1200"/>
          </a:p>
        </p:txBody>
      </p:sp>
      <p:sp>
        <p:nvSpPr>
          <p:cNvPr id="30" name="Text 23">
            <a:extLst xmlns:a="http://schemas.openxmlformats.org/drawingml/2006/main">
              <a:ext uri="{FF2B5EF4-FFF2-40B4-BE49-F238E27FC236}">
                <a16:creationId xmlns:a16="http://schemas.microsoft.com/office/drawing/2014/main" id="{71DDD0CA-54F1-4E0E-AC95-78D2FD1BBD8A}"/>
              </a:ext>
            </a:extLst>
          </p:cNvPr>
          <p:cNvSpPr>
            <a:spLocks xmlns:a="http://schemas.openxmlformats.org/drawingml/2006/main" noGrp="1"/>
          </p:cNvSpPr>
          <p:nvPr/>
        </p:nvSpPr>
        <p:spPr>
          <a:xfrm xmlns:a="http://schemas.openxmlformats.org/drawingml/2006/main">
            <a:off x="5486400" y="4512564"/>
            <a:ext cx="5973775"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95959"/>
                </a:solidFill>
                <a:latin typeface="Calibri"/>
                <a:ea typeface="Calibri"/>
                <a:cs typeface="Calibri"/>
              </a:rPr>
              <a:t>ASPL: within 30 days of invoice.  AMLI: 45-day credit post undisputed invoice.</a:t>
            </a:r>
            <a:endParaRPr sz="950"/>
          </a:p>
        </p:txBody>
      </p:sp>
      <p:sp>
        <p:nvSpPr>
          <p:cNvPr id="31" name="Shape 24">
            <a:extLst xmlns:a="http://schemas.openxmlformats.org/drawingml/2006/main">
              <a:ext uri="{FF2B5EF4-FFF2-40B4-BE49-F238E27FC236}">
                <a16:creationId xmlns:a16="http://schemas.microsoft.com/office/drawing/2014/main" id="{7C8C1E71-5499-4E9D-BFB4-54ED82B0CC0D}"/>
              </a:ext>
            </a:extLst>
          </p:cNvPr>
          <p:cNvSpPr>
            <a:spLocks xmlns:a="http://schemas.openxmlformats.org/drawingml/2006/main" noGrp="1"/>
          </p:cNvSpPr>
          <p:nvPr/>
        </p:nvSpPr>
        <p:spPr>
          <a:xfrm xmlns:a="http://schemas.openxmlformats.org/drawingml/2006/main">
            <a:off x="4754880" y="4956048"/>
            <a:ext cx="6888175" cy="713232"/>
          </a:xfrm>
          <a:prstGeom xmlns:a="http://schemas.openxmlformats.org/drawingml/2006/main" prst="roundRect">
            <a:avLst>
              <a:gd name="adj" fmla="val 1410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2" name="Shape 25">
            <a:extLst xmlns:a="http://schemas.openxmlformats.org/drawingml/2006/main">
              <a:ext uri="{FF2B5EF4-FFF2-40B4-BE49-F238E27FC236}">
                <a16:creationId xmlns:a16="http://schemas.microsoft.com/office/drawing/2014/main" id="{BA8AFE08-0115-4DB2-B861-131085659D34}"/>
              </a:ext>
            </a:extLst>
          </p:cNvPr>
          <p:cNvSpPr>
            <a:spLocks xmlns:a="http://schemas.openxmlformats.org/drawingml/2006/main" noGrp="1"/>
          </p:cNvSpPr>
          <p:nvPr/>
        </p:nvSpPr>
        <p:spPr>
          <a:xfrm xmlns:a="http://schemas.openxmlformats.org/drawingml/2006/main">
            <a:off x="4901184" y="5093208"/>
            <a:ext cx="438912" cy="43891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ae098210313b4fcc"/>
          <a:stretch xmlns:a="http://schemas.openxmlformats.org/drawingml/2006/main">
            <a:fillRect l="0" t="0" r="0" b="0"/>
          </a:stretch>
        </p:blipFill>
        <p:spPr>
          <a:xfrm xmlns:a="http://schemas.openxmlformats.org/drawingml/2006/main">
            <a:off x="5015301" y="5207325"/>
            <a:ext cx="210678" cy="210678"/>
          </a:xfrm>
          <a:prstGeom xmlns:a="http://schemas.openxmlformats.org/drawingml/2006/main" prst="rect">
            <a:avLst/>
          </a:prstGeom>
        </p:spPr>
      </p:pic>
      <p:sp>
        <p:nvSpPr>
          <p:cNvPr id="34" name="Text 26">
            <a:extLst xmlns:a="http://schemas.openxmlformats.org/drawingml/2006/main">
              <a:ext uri="{FF2B5EF4-FFF2-40B4-BE49-F238E27FC236}">
                <a16:creationId xmlns:a16="http://schemas.microsoft.com/office/drawing/2014/main" id="{501DD463-C793-4CDA-B7FA-5B16723FFE39}"/>
              </a:ext>
            </a:extLst>
          </p:cNvPr>
          <p:cNvSpPr>
            <a:spLocks xmlns:a="http://schemas.openxmlformats.org/drawingml/2006/main" noGrp="1"/>
          </p:cNvSpPr>
          <p:nvPr/>
        </p:nvSpPr>
        <p:spPr>
          <a:xfrm xmlns:a="http://schemas.openxmlformats.org/drawingml/2006/main">
            <a:off x="5486400" y="5029200"/>
            <a:ext cx="5973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Change-request rate</a:t>
            </a:r>
            <a:endParaRPr sz="1200"/>
          </a:p>
        </p:txBody>
      </p:sp>
      <p:sp>
        <p:nvSpPr>
          <p:cNvPr id="35" name="Text 27">
            <a:extLst xmlns:a="http://schemas.openxmlformats.org/drawingml/2006/main">
              <a:ext uri="{FF2B5EF4-FFF2-40B4-BE49-F238E27FC236}">
                <a16:creationId xmlns:a16="http://schemas.microsoft.com/office/drawing/2014/main" id="{8B1847FF-FB64-41FC-B0FE-395A0AC19B31}"/>
              </a:ext>
            </a:extLst>
          </p:cNvPr>
          <p:cNvSpPr>
            <a:spLocks xmlns:a="http://schemas.openxmlformats.org/drawingml/2006/main" noGrp="1"/>
          </p:cNvSpPr>
          <p:nvPr/>
        </p:nvSpPr>
        <p:spPr>
          <a:xfrm xmlns:a="http://schemas.openxmlformats.org/drawingml/2006/main">
            <a:off x="5486400" y="5294376"/>
            <a:ext cx="5973775"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95959"/>
                </a:solidFill>
                <a:latin typeface="Calibri"/>
                <a:ea typeface="Calibri"/>
                <a:cs typeface="Calibri"/>
              </a:rPr>
              <a:t>AMLI caps blended CR at ₹7,500/person-day; ASPL references the existing AMLI rate card.</a:t>
            </a:r>
            <a:endParaRPr sz="950"/>
          </a:p>
        </p:txBody>
      </p:sp>
      <p:sp>
        <p:nvSpPr>
          <p:cNvPr id="36" name="Shape 28">
            <a:extLst xmlns:a="http://schemas.openxmlformats.org/drawingml/2006/main">
              <a:ext uri="{FF2B5EF4-FFF2-40B4-BE49-F238E27FC236}">
                <a16:creationId xmlns:a16="http://schemas.microsoft.com/office/drawing/2014/main" id="{C2D16115-83C2-4CED-B441-BC94EFB7D1D7}"/>
              </a:ext>
            </a:extLst>
          </p:cNvPr>
          <p:cNvSpPr>
            <a:spLocks xmlns:a="http://schemas.openxmlformats.org/drawingml/2006/main" noGrp="1"/>
          </p:cNvSpPr>
          <p:nvPr/>
        </p:nvSpPr>
        <p:spPr>
          <a:xfrm xmlns:a="http://schemas.openxmlformats.org/drawingml/2006/main">
            <a:off x="4754880" y="5737860"/>
            <a:ext cx="6888175" cy="713232"/>
          </a:xfrm>
          <a:prstGeom xmlns:a="http://schemas.openxmlformats.org/drawingml/2006/main" prst="roundRect">
            <a:avLst>
              <a:gd name="adj" fmla="val 14103"/>
            </a:avLst>
          </a:prstGeom>
          <a:solidFill xmlns:a="http://schemas.openxmlformats.org/drawingml/2006/main">
            <a:srgbClr val="FFFFFF"/>
          </a:solidFill>
          <a:ln xmlns:a="http://schemas.openxmlformats.org/drawingml/2006/main" w="12700">
            <a:solidFill>
              <a:srgbClr val="E5DEDB"/>
            </a:solidFill>
            <a:prstDash val="solid"/>
          </a:ln>
          <a:effectLst xmlns:a="http://schemas.openxmlformats.org/drawingml/2006/main">
            <a:outerShdw blurRad="88900" dist="25400" dir="5400000" sx="100000" sy="100000" kx="0" ky="0" algn="bl" rotWithShape="0">
              <a:srgbClr val="B4A9A2">
                <a:alpha val="22000"/>
              </a:srgbClr>
            </a:outerShdw>
          </a:effectLst>
        </p:spPr>
      </p:sp>
      <p:sp>
        <p:nvSpPr>
          <p:cNvPr id="37" name="Shape 29">
            <a:extLst xmlns:a="http://schemas.openxmlformats.org/drawingml/2006/main">
              <a:ext uri="{FF2B5EF4-FFF2-40B4-BE49-F238E27FC236}">
                <a16:creationId xmlns:a16="http://schemas.microsoft.com/office/drawing/2014/main" id="{DC079472-C265-458F-9ECE-940890A17503}"/>
              </a:ext>
            </a:extLst>
          </p:cNvPr>
          <p:cNvSpPr>
            <a:spLocks xmlns:a="http://schemas.openxmlformats.org/drawingml/2006/main" noGrp="1"/>
          </p:cNvSpPr>
          <p:nvPr/>
        </p:nvSpPr>
        <p:spPr>
          <a:xfrm xmlns:a="http://schemas.openxmlformats.org/drawingml/2006/main">
            <a:off x="4901184" y="5875020"/>
            <a:ext cx="438912" cy="438912"/>
          </a:xfrm>
          <a:prstGeom xmlns:a="http://schemas.openxmlformats.org/drawingml/2006/main" prst="ellipse">
            <a:avLst/>
          </a:prstGeom>
          <a:solidFill xmlns:a="http://schemas.openxmlformats.org/drawingml/2006/main">
            <a:srgbClr val="F5F3F2"/>
          </a:solidFill>
          <a:effectLst xmlns:a="http://schemas.openxmlformats.org/drawingml/2006/main">
            <a:outerShdw blurRad="88900" dist="25400" dir="5400000" sx="100000" sy="100000" kx="0" ky="0" algn="bl" rotWithShape="0">
              <a:srgbClr val="B4A9A2">
                <a:alpha val="22000"/>
              </a:srgbClr>
            </a:outerShdw>
          </a:effectLst>
        </p:spPr>
      </p:sp>
      <p:pic>
        <p:nvPicPr>
          <p:cNvPr id="86" name="Image 5"/>
          <p:cNvPicPr>
            <a:picLocks xmlns:a="http://schemas.openxmlformats.org/drawingml/2006/main" noChangeAspect="1"/>
          </p:cNvPicPr>
          <p:nvPr/>
        </p:nvPicPr>
        <p:blipFill>
          <a:blip xmlns:r="http://schemas.openxmlformats.org/officeDocument/2006/relationships" xmlns:a="http://schemas.openxmlformats.org/drawingml/2006/main" r:embed="R42e89085ae4f45ea"/>
          <a:stretch xmlns:a="http://schemas.openxmlformats.org/drawingml/2006/main">
            <a:fillRect l="0" t="0" r="0" b="0"/>
          </a:stretch>
        </p:blipFill>
        <p:spPr>
          <a:xfrm xmlns:a="http://schemas.openxmlformats.org/drawingml/2006/main">
            <a:off x="5015301" y="5989137"/>
            <a:ext cx="210678" cy="210678"/>
          </a:xfrm>
          <a:prstGeom xmlns:a="http://schemas.openxmlformats.org/drawingml/2006/main" prst="rect">
            <a:avLst/>
          </a:prstGeom>
        </p:spPr>
      </p:pic>
      <p:sp>
        <p:nvSpPr>
          <p:cNvPr id="39" name="Text 30">
            <a:extLst xmlns:a="http://schemas.openxmlformats.org/drawingml/2006/main">
              <a:ext uri="{FF2B5EF4-FFF2-40B4-BE49-F238E27FC236}">
                <a16:creationId xmlns:a16="http://schemas.microsoft.com/office/drawing/2014/main" id="{F43B2CA8-847A-4ACB-8955-36CE2C05223F}"/>
              </a:ext>
            </a:extLst>
          </p:cNvPr>
          <p:cNvSpPr>
            <a:spLocks xmlns:a="http://schemas.openxmlformats.org/drawingml/2006/main" noGrp="1"/>
          </p:cNvSpPr>
          <p:nvPr/>
        </p:nvSpPr>
        <p:spPr>
          <a:xfrm xmlns:a="http://schemas.openxmlformats.org/drawingml/2006/main">
            <a:off x="5486400" y="5811012"/>
            <a:ext cx="597377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62626"/>
                </a:solidFill>
                <a:latin typeface="Poppins"/>
                <a:ea typeface="Poppins"/>
                <a:cs typeface="Poppins"/>
              </a:rPr>
              <a:t>Fixed scope, fixed price</a:t>
            </a:r>
            <a:endParaRPr sz="1200"/>
          </a:p>
        </p:txBody>
      </p:sp>
      <p:sp>
        <p:nvSpPr>
          <p:cNvPr id="40" name="Text 31">
            <a:extLst xmlns:a="http://schemas.openxmlformats.org/drawingml/2006/main">
              <a:ext uri="{FF2B5EF4-FFF2-40B4-BE49-F238E27FC236}">
                <a16:creationId xmlns:a16="http://schemas.microsoft.com/office/drawing/2014/main" id="{CA2C1D34-E339-4034-AA20-84295BB2A14F}"/>
              </a:ext>
            </a:extLst>
          </p:cNvPr>
          <p:cNvSpPr>
            <a:spLocks xmlns:a="http://schemas.openxmlformats.org/drawingml/2006/main" noGrp="1"/>
          </p:cNvSpPr>
          <p:nvPr/>
        </p:nvSpPr>
        <p:spPr>
          <a:xfrm xmlns:a="http://schemas.openxmlformats.org/drawingml/2006/main">
            <a:off x="5486400" y="6076188"/>
            <a:ext cx="5973775"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a:solidFill>
                  <a:srgbClr val="595959"/>
                </a:solidFill>
                <a:latin typeface="Calibri"/>
                <a:ea typeface="Calibri"/>
                <a:cs typeface="Calibri"/>
              </a:rPr>
              <a:t>Fixed bid for frozen scope; any scope revision re-opens commercials.</a:t>
            </a:r>
            <a:endParaRPr sz="950"/>
          </a:p>
        </p:txBody>
      </p:sp>
      <p:sp>
        <p:nvSpPr>
          <p:cNvPr id="41" name="Text 32">
            <a:extLst xmlns:a="http://schemas.openxmlformats.org/drawingml/2006/main">
              <a:ext uri="{FF2B5EF4-FFF2-40B4-BE49-F238E27FC236}">
                <a16:creationId xmlns:a16="http://schemas.microsoft.com/office/drawing/2014/main" id="{739E0109-2D3D-4727-8B8F-44B6E7A1F80D}"/>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42" name="Text 33">
            <a:extLst xmlns:a="http://schemas.openxmlformats.org/drawingml/2006/main">
              <a:ext uri="{FF2B5EF4-FFF2-40B4-BE49-F238E27FC236}">
                <a16:creationId xmlns:a16="http://schemas.microsoft.com/office/drawing/2014/main" id="{F4B5F7E5-5837-4466-882F-842DC97F87BC}"/>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17</a:t>
            </a:r>
            <a:endParaRPr sz="900"/>
          </a:p>
        </p:txBody>
      </p:sp>
    </p:spTree>
    <p:extLst>
      <p:ext uri="{BB962C8B-B14F-4D97-AF65-F5344CB8AC3E}">
        <p14:creationId xmlns:p14="http://schemas.microsoft.com/office/powerpoint/2010/main" val="1864108375"/>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971154-B37E-452A-918A-BB90EC65C590}"/>
              </a:ext>
            </a:extLst>
          </p:cNvPr>
          <p:cNvSpPr>
            <a:spLocks xmlns:a="http://schemas.openxmlformats.org/drawingml/2006/main" noGrp="1"/>
          </p:cNvSpPr>
          <p:nvPr/>
        </p:nvSpPr>
        <p:spPr>
          <a:xfrm xmlns:a="http://schemas.openxmlformats.org/drawingml/2006/main">
            <a:off x="548640" y="384048"/>
            <a:ext cx="11094415"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l">
              <a:buNone/>
            </a:pPr>
            <a:r>
              <a:rPr sz="1200" b="1" spc="200">
                <a:solidFill>
                  <a:srgbClr val="C0392B"/>
                </a:solidFill>
                <a:latin typeface="Poppins"/>
                <a:ea typeface="Poppins"/>
                <a:cs typeface="Poppins"/>
              </a:rPr>
              <a:t>OWNERSHIP, IP &amp; DEVIATIONS</a:t>
            </a:r>
            <a:endParaRPr sz="1200"/>
          </a:p>
        </p:txBody>
      </p:sp>
      <p:sp>
        <p:nvSpPr>
          <p:cNvPr id="3" name="Text 1">
            <a:extLst xmlns:a="http://schemas.openxmlformats.org/drawingml/2006/main">
              <a:ext uri="{FF2B5EF4-FFF2-40B4-BE49-F238E27FC236}">
                <a16:creationId xmlns:a16="http://schemas.microsoft.com/office/drawing/2014/main" id="{5EAFCA98-6112-4AED-9E81-B7E3AE2E4DF6}"/>
              </a:ext>
            </a:extLst>
          </p:cNvPr>
          <p:cNvSpPr>
            <a:spLocks xmlns:a="http://schemas.openxmlformats.org/drawingml/2006/main" noGrp="1"/>
          </p:cNvSpPr>
          <p:nvPr/>
        </p:nvSpPr>
        <p:spPr>
          <a:xfrm xmlns:a="http://schemas.openxmlformats.org/drawingml/2006/main">
            <a:off x="548640" y="658368"/>
            <a:ext cx="11094415" cy="749808"/>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gn="l">
              <a:buNone/>
            </a:pPr>
            <a:r>
              <a:rPr sz="3000" b="1">
                <a:solidFill>
                  <a:srgbClr val="262626"/>
                </a:solidFill>
                <a:latin typeface="Poppins"/>
                <a:ea typeface="Poppins"/>
                <a:cs typeface="Poppins"/>
              </a:rPr>
              <a:t>Where our T&amp;C response diverges from the ask</a:t>
            </a:r>
            <a:endParaRPr sz="3000"/>
          </a:p>
        </p:txBody>
      </p:sp>
      <p:sp>
        <p:nvSpPr>
          <p:cNvPr id="4" name="Shape 2">
            <a:extLst xmlns:a="http://schemas.openxmlformats.org/drawingml/2006/main">
              <a:ext uri="{FF2B5EF4-FFF2-40B4-BE49-F238E27FC236}">
                <a16:creationId xmlns:a16="http://schemas.microsoft.com/office/drawing/2014/main" id="{112B4038-6416-40D0-8D95-AC76162578B2}"/>
              </a:ext>
            </a:extLst>
          </p:cNvPr>
          <p:cNvSpPr>
            <a:spLocks xmlns:a="http://schemas.openxmlformats.org/drawingml/2006/main" noGrp="1"/>
          </p:cNvSpPr>
          <p:nvPr/>
        </p:nvSpPr>
        <p:spPr>
          <a:xfrm xmlns:a="http://schemas.openxmlformats.org/drawingml/2006/main">
            <a:off x="548640" y="1280160"/>
            <a:ext cx="11094415" cy="420624"/>
          </a:xfrm>
          <a:prstGeom xmlns:a="http://schemas.openxmlformats.org/drawingml/2006/main" prst="roundRect">
            <a:avLst>
              <a:gd name="adj" fmla="val 10870"/>
            </a:avLst>
          </a:prstGeom>
          <a:solidFill xmlns:a="http://schemas.openxmlformats.org/drawingml/2006/main">
            <a:srgbClr val="1F3A5F"/>
          </a:solidFill>
        </p:spPr>
      </p:sp>
      <p:sp>
        <p:nvSpPr>
          <p:cNvPr id="5" name="Text 3">
            <a:extLst xmlns:a="http://schemas.openxmlformats.org/drawingml/2006/main">
              <a:ext uri="{FF2B5EF4-FFF2-40B4-BE49-F238E27FC236}">
                <a16:creationId xmlns:a16="http://schemas.microsoft.com/office/drawing/2014/main" id="{84B6549A-62CE-4F39-8317-CBD413CF5DC1}"/>
              </a:ext>
            </a:extLst>
          </p:cNvPr>
          <p:cNvSpPr>
            <a:spLocks xmlns:a="http://schemas.openxmlformats.org/drawingml/2006/main" noGrp="1"/>
          </p:cNvSpPr>
          <p:nvPr/>
        </p:nvSpPr>
        <p:spPr>
          <a:xfrm xmlns:a="http://schemas.openxmlformats.org/drawingml/2006/main">
            <a:off x="694944" y="1280160"/>
            <a:ext cx="26974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a:solidFill>
                  <a:srgbClr val="FFFFFF"/>
                </a:solidFill>
                <a:latin typeface="Poppins"/>
                <a:ea typeface="Poppins"/>
                <a:cs typeface="Poppins"/>
              </a:rPr>
              <a:t>Term</a:t>
            </a:r>
            <a:endParaRPr sz="1100"/>
          </a:p>
        </p:txBody>
      </p:sp>
      <p:sp>
        <p:nvSpPr>
          <p:cNvPr id="6" name="Text 4">
            <a:extLst xmlns:a="http://schemas.openxmlformats.org/drawingml/2006/main">
              <a:ext uri="{FF2B5EF4-FFF2-40B4-BE49-F238E27FC236}">
                <a16:creationId xmlns:a16="http://schemas.microsoft.com/office/drawing/2014/main" id="{57938A41-0863-4DC7-94D1-DDD3B753F320}"/>
              </a:ext>
            </a:extLst>
          </p:cNvPr>
          <p:cNvSpPr>
            <a:spLocks xmlns:a="http://schemas.openxmlformats.org/drawingml/2006/main" noGrp="1"/>
          </p:cNvSpPr>
          <p:nvPr/>
        </p:nvSpPr>
        <p:spPr>
          <a:xfrm xmlns:a="http://schemas.openxmlformats.org/drawingml/2006/main">
            <a:off x="3575304" y="1280160"/>
            <a:ext cx="39319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a:solidFill>
                  <a:srgbClr val="FFFFFF"/>
                </a:solidFill>
                <a:latin typeface="Poppins"/>
                <a:ea typeface="Poppins"/>
                <a:cs typeface="Poppins"/>
              </a:rPr>
              <a:t>AMLI ask</a:t>
            </a:r>
            <a:endParaRPr sz="1100"/>
          </a:p>
        </p:txBody>
      </p:sp>
      <p:sp>
        <p:nvSpPr>
          <p:cNvPr id="7" name="Text 5">
            <a:extLst xmlns:a="http://schemas.openxmlformats.org/drawingml/2006/main">
              <a:ext uri="{FF2B5EF4-FFF2-40B4-BE49-F238E27FC236}">
                <a16:creationId xmlns:a16="http://schemas.microsoft.com/office/drawing/2014/main" id="{FAB60B93-EDF1-47AA-A189-C5AE0401585F}"/>
              </a:ext>
            </a:extLst>
          </p:cNvPr>
          <p:cNvSpPr>
            <a:spLocks xmlns:a="http://schemas.openxmlformats.org/drawingml/2006/main" noGrp="1"/>
          </p:cNvSpPr>
          <p:nvPr/>
        </p:nvSpPr>
        <p:spPr>
          <a:xfrm xmlns:a="http://schemas.openxmlformats.org/drawingml/2006/main">
            <a:off x="7690104" y="1280160"/>
            <a:ext cx="288036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a:solidFill>
                  <a:srgbClr val="FFFFFF"/>
                </a:solidFill>
                <a:latin typeface="Poppins"/>
                <a:ea typeface="Poppins"/>
                <a:cs typeface="Poppins"/>
              </a:rPr>
              <a:t>Our T&amp;C response (ASPL)</a:t>
            </a:r>
            <a:endParaRPr sz="1100"/>
          </a:p>
        </p:txBody>
      </p:sp>
      <p:sp>
        <p:nvSpPr>
          <p:cNvPr id="8" name="Text 6">
            <a:extLst xmlns:a="http://schemas.openxmlformats.org/drawingml/2006/main">
              <a:ext uri="{FF2B5EF4-FFF2-40B4-BE49-F238E27FC236}">
                <a16:creationId xmlns:a16="http://schemas.microsoft.com/office/drawing/2014/main" id="{99E91704-C2EB-4CE0-ABB5-6BFF0E0A2015}"/>
              </a:ext>
            </a:extLst>
          </p:cNvPr>
          <p:cNvSpPr>
            <a:spLocks xmlns:a="http://schemas.openxmlformats.org/drawingml/2006/main" noGrp="1"/>
          </p:cNvSpPr>
          <p:nvPr/>
        </p:nvSpPr>
        <p:spPr>
          <a:xfrm xmlns:a="http://schemas.openxmlformats.org/drawingml/2006/main">
            <a:off x="10753344" y="1280160"/>
            <a:ext cx="8412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Poppins"/>
                <a:ea typeface="Poppins"/>
                <a:cs typeface="Poppins"/>
              </a:rPr>
              <a:t>Status</a:t>
            </a:r>
            <a:endParaRPr sz="1100"/>
          </a:p>
        </p:txBody>
      </p:sp>
      <p:sp>
        <p:nvSpPr>
          <p:cNvPr id="9" name="Shape 7">
            <a:extLst xmlns:a="http://schemas.openxmlformats.org/drawingml/2006/main">
              <a:ext uri="{FF2B5EF4-FFF2-40B4-BE49-F238E27FC236}">
                <a16:creationId xmlns:a16="http://schemas.microsoft.com/office/drawing/2014/main" id="{B6C5096B-1590-474F-871A-021F94F7425E}"/>
              </a:ext>
            </a:extLst>
          </p:cNvPr>
          <p:cNvSpPr>
            <a:spLocks xmlns:a="http://schemas.openxmlformats.org/drawingml/2006/main" noGrp="1"/>
          </p:cNvSpPr>
          <p:nvPr/>
        </p:nvSpPr>
        <p:spPr>
          <a:xfrm xmlns:a="http://schemas.openxmlformats.org/drawingml/2006/main">
            <a:off x="548640" y="1700784"/>
            <a:ext cx="11094415" cy="534924"/>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10" name="Text 8">
            <a:extLst xmlns:a="http://schemas.openxmlformats.org/drawingml/2006/main">
              <a:ext uri="{FF2B5EF4-FFF2-40B4-BE49-F238E27FC236}">
                <a16:creationId xmlns:a16="http://schemas.microsoft.com/office/drawing/2014/main" id="{10D203BB-2452-4E37-BD28-666166B95A17}"/>
              </a:ext>
            </a:extLst>
          </p:cNvPr>
          <p:cNvSpPr>
            <a:spLocks xmlns:a="http://schemas.openxmlformats.org/drawingml/2006/main" noGrp="1"/>
          </p:cNvSpPr>
          <p:nvPr/>
        </p:nvSpPr>
        <p:spPr>
          <a:xfrm xmlns:a="http://schemas.openxmlformats.org/drawingml/2006/main">
            <a:off x="694944" y="1700784"/>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IP &amp; source-code ownership</a:t>
            </a:r>
            <a:endParaRPr sz="1050"/>
          </a:p>
        </p:txBody>
      </p:sp>
      <p:sp>
        <p:nvSpPr>
          <p:cNvPr id="11" name="Text 9">
            <a:extLst xmlns:a="http://schemas.openxmlformats.org/drawingml/2006/main">
              <a:ext uri="{FF2B5EF4-FFF2-40B4-BE49-F238E27FC236}">
                <a16:creationId xmlns:a16="http://schemas.microsoft.com/office/drawing/2014/main" id="{24E7D7A3-E496-48D6-9E32-5FE50271BAE5}"/>
              </a:ext>
            </a:extLst>
          </p:cNvPr>
          <p:cNvSpPr>
            <a:spLocks xmlns:a="http://schemas.openxmlformats.org/drawingml/2006/main" noGrp="1"/>
          </p:cNvSpPr>
          <p:nvPr/>
        </p:nvSpPr>
        <p:spPr>
          <a:xfrm xmlns:a="http://schemas.openxmlformats.org/drawingml/2006/main">
            <a:off x="3575304" y="1700784"/>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All IP + source code vests in AMLI</a:t>
            </a:r>
            <a:endParaRPr sz="1000"/>
          </a:p>
        </p:txBody>
      </p:sp>
      <p:sp>
        <p:nvSpPr>
          <p:cNvPr id="12" name="Text 10">
            <a:extLst xmlns:a="http://schemas.openxmlformats.org/drawingml/2006/main">
              <a:ext uri="{FF2B5EF4-FFF2-40B4-BE49-F238E27FC236}">
                <a16:creationId xmlns:a16="http://schemas.microsoft.com/office/drawing/2014/main" id="{AC1D9ABB-4645-4C78-9E57-B7848A114808}"/>
              </a:ext>
            </a:extLst>
          </p:cNvPr>
          <p:cNvSpPr>
            <a:spLocks xmlns:a="http://schemas.openxmlformats.org/drawingml/2006/main" noGrp="1"/>
          </p:cNvSpPr>
          <p:nvPr/>
        </p:nvSpPr>
        <p:spPr>
          <a:xfrm xmlns:a="http://schemas.openxmlformats.org/drawingml/2006/main">
            <a:off x="7690104" y="1700784"/>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IP remains with ASPL</a:t>
            </a:r>
            <a:endParaRPr sz="1000"/>
          </a:p>
        </p:txBody>
      </p:sp>
      <p:sp>
        <p:nvSpPr>
          <p:cNvPr id="13" name="Shape 11">
            <a:extLst xmlns:a="http://schemas.openxmlformats.org/drawingml/2006/main">
              <a:ext uri="{FF2B5EF4-FFF2-40B4-BE49-F238E27FC236}">
                <a16:creationId xmlns:a16="http://schemas.microsoft.com/office/drawing/2014/main" id="{5AD0BAA2-9064-4E0C-8286-9E22B5CE9D64}"/>
              </a:ext>
            </a:extLst>
          </p:cNvPr>
          <p:cNvSpPr>
            <a:spLocks xmlns:a="http://schemas.openxmlformats.org/drawingml/2006/main" noGrp="1"/>
          </p:cNvSpPr>
          <p:nvPr/>
        </p:nvSpPr>
        <p:spPr>
          <a:xfrm xmlns:a="http://schemas.openxmlformats.org/drawingml/2006/main">
            <a:off x="10698480" y="1837944"/>
            <a:ext cx="841248" cy="256032"/>
          </a:xfrm>
          <a:prstGeom xmlns:a="http://schemas.openxmlformats.org/drawingml/2006/main" prst="roundRect">
            <a:avLst>
              <a:gd name="adj" fmla="val 50000"/>
            </a:avLst>
          </a:prstGeom>
          <a:solidFill xmlns:a="http://schemas.openxmlformats.org/drawingml/2006/main">
            <a:srgbClr val="C0392B"/>
          </a:solidFill>
        </p:spPr>
      </p:sp>
      <p:sp>
        <p:nvSpPr>
          <p:cNvPr id="14" name="Text 12">
            <a:extLst xmlns:a="http://schemas.openxmlformats.org/drawingml/2006/main">
              <a:ext uri="{FF2B5EF4-FFF2-40B4-BE49-F238E27FC236}">
                <a16:creationId xmlns:a16="http://schemas.microsoft.com/office/drawing/2014/main" id="{57B8AC8E-72C4-440F-9C7C-2C26B7452F67}"/>
              </a:ext>
            </a:extLst>
          </p:cNvPr>
          <p:cNvSpPr>
            <a:spLocks xmlns:a="http://schemas.openxmlformats.org/drawingml/2006/main" noGrp="1"/>
          </p:cNvSpPr>
          <p:nvPr/>
        </p:nvSpPr>
        <p:spPr>
          <a:xfrm xmlns:a="http://schemas.openxmlformats.org/drawingml/2006/main">
            <a:off x="10698480" y="1837944"/>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Blocker</a:t>
            </a:r>
            <a:endParaRPr sz="850"/>
          </a:p>
        </p:txBody>
      </p:sp>
      <p:sp>
        <p:nvSpPr>
          <p:cNvPr id="15" name="Shape 13">
            <a:extLst xmlns:a="http://schemas.openxmlformats.org/drawingml/2006/main">
              <a:ext uri="{FF2B5EF4-FFF2-40B4-BE49-F238E27FC236}">
                <a16:creationId xmlns:a16="http://schemas.microsoft.com/office/drawing/2014/main" id="{C6CB3710-C135-4960-A857-D6179CD72FCB}"/>
              </a:ext>
            </a:extLst>
          </p:cNvPr>
          <p:cNvSpPr>
            <a:spLocks xmlns:a="http://schemas.openxmlformats.org/drawingml/2006/main" noGrp="1"/>
          </p:cNvSpPr>
          <p:nvPr/>
        </p:nvSpPr>
        <p:spPr>
          <a:xfrm xmlns:a="http://schemas.openxmlformats.org/drawingml/2006/main">
            <a:off x="548640" y="2235708"/>
            <a:ext cx="11094415" cy="534924"/>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16" name="Text 14">
            <a:extLst xmlns:a="http://schemas.openxmlformats.org/drawingml/2006/main">
              <a:ext uri="{FF2B5EF4-FFF2-40B4-BE49-F238E27FC236}">
                <a16:creationId xmlns:a16="http://schemas.microsoft.com/office/drawing/2014/main" id="{6AF40FE4-64E8-4C94-A874-56F8122F1ED4}"/>
              </a:ext>
            </a:extLst>
          </p:cNvPr>
          <p:cNvSpPr>
            <a:spLocks xmlns:a="http://schemas.openxmlformats.org/drawingml/2006/main" noGrp="1"/>
          </p:cNvSpPr>
          <p:nvPr/>
        </p:nvSpPr>
        <p:spPr>
          <a:xfrm xmlns:a="http://schemas.openxmlformats.org/drawingml/2006/main">
            <a:off x="694944" y="2235708"/>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Transfer / exit assistance</a:t>
            </a:r>
            <a:endParaRPr sz="1050"/>
          </a:p>
        </p:txBody>
      </p:sp>
      <p:sp>
        <p:nvSpPr>
          <p:cNvPr id="17" name="Text 15">
            <a:extLst xmlns:a="http://schemas.openxmlformats.org/drawingml/2006/main">
              <a:ext uri="{FF2B5EF4-FFF2-40B4-BE49-F238E27FC236}">
                <a16:creationId xmlns:a16="http://schemas.microsoft.com/office/drawing/2014/main" id="{370AC7F7-89AA-4721-A10B-D6638D56BA3D}"/>
              </a:ext>
            </a:extLst>
          </p:cNvPr>
          <p:cNvSpPr>
            <a:spLocks xmlns:a="http://schemas.openxmlformats.org/drawingml/2006/main" noGrp="1"/>
          </p:cNvSpPr>
          <p:nvPr/>
        </p:nvSpPr>
        <p:spPr>
          <a:xfrm xmlns:a="http://schemas.openxmlformats.org/drawingml/2006/main">
            <a:off x="3575304" y="2235708"/>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Full transition support to AMLI / new vendor at no cost</a:t>
            </a:r>
            <a:endParaRPr sz="1000"/>
          </a:p>
        </p:txBody>
      </p:sp>
      <p:sp>
        <p:nvSpPr>
          <p:cNvPr id="18" name="Text 16">
            <a:extLst xmlns:a="http://schemas.openxmlformats.org/drawingml/2006/main">
              <a:ext uri="{FF2B5EF4-FFF2-40B4-BE49-F238E27FC236}">
                <a16:creationId xmlns:a16="http://schemas.microsoft.com/office/drawing/2014/main" id="{A1ACDB5F-C5F7-437F-9600-8C3F66EC5B41}"/>
              </a:ext>
            </a:extLst>
          </p:cNvPr>
          <p:cNvSpPr>
            <a:spLocks xmlns:a="http://schemas.openxmlformats.org/drawingml/2006/main" noGrp="1"/>
          </p:cNvSpPr>
          <p:nvPr/>
        </p:nvSpPr>
        <p:spPr>
          <a:xfrm xmlns:a="http://schemas.openxmlformats.org/drawingml/2006/main">
            <a:off x="7690104" y="2235708"/>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Not acceptable — IP stays with ASPL</a:t>
            </a:r>
            <a:endParaRPr sz="1000"/>
          </a:p>
        </p:txBody>
      </p:sp>
      <p:sp>
        <p:nvSpPr>
          <p:cNvPr id="19" name="Shape 17">
            <a:extLst xmlns:a="http://schemas.openxmlformats.org/drawingml/2006/main">
              <a:ext uri="{FF2B5EF4-FFF2-40B4-BE49-F238E27FC236}">
                <a16:creationId xmlns:a16="http://schemas.microsoft.com/office/drawing/2014/main" id="{3BB0B795-0F3D-46FF-BA0C-91EA6585A9D1}"/>
              </a:ext>
            </a:extLst>
          </p:cNvPr>
          <p:cNvSpPr>
            <a:spLocks xmlns:a="http://schemas.openxmlformats.org/drawingml/2006/main" noGrp="1"/>
          </p:cNvSpPr>
          <p:nvPr/>
        </p:nvSpPr>
        <p:spPr>
          <a:xfrm xmlns:a="http://schemas.openxmlformats.org/drawingml/2006/main">
            <a:off x="10698480" y="2372868"/>
            <a:ext cx="841248" cy="256032"/>
          </a:xfrm>
          <a:prstGeom xmlns:a="http://schemas.openxmlformats.org/drawingml/2006/main" prst="roundRect">
            <a:avLst>
              <a:gd name="adj" fmla="val 50000"/>
            </a:avLst>
          </a:prstGeom>
          <a:solidFill xmlns:a="http://schemas.openxmlformats.org/drawingml/2006/main">
            <a:srgbClr val="C0392B"/>
          </a:solidFill>
        </p:spPr>
      </p:sp>
      <p:sp>
        <p:nvSpPr>
          <p:cNvPr id="20" name="Text 18">
            <a:extLst xmlns:a="http://schemas.openxmlformats.org/drawingml/2006/main">
              <a:ext uri="{FF2B5EF4-FFF2-40B4-BE49-F238E27FC236}">
                <a16:creationId xmlns:a16="http://schemas.microsoft.com/office/drawing/2014/main" id="{0EF14F1B-43E5-4298-AA12-1D97D7EBC08B}"/>
              </a:ext>
            </a:extLst>
          </p:cNvPr>
          <p:cNvSpPr>
            <a:spLocks xmlns:a="http://schemas.openxmlformats.org/drawingml/2006/main" noGrp="1"/>
          </p:cNvSpPr>
          <p:nvPr/>
        </p:nvSpPr>
        <p:spPr>
          <a:xfrm xmlns:a="http://schemas.openxmlformats.org/drawingml/2006/main">
            <a:off x="10698480" y="2372868"/>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Blocker</a:t>
            </a:r>
            <a:endParaRPr sz="850"/>
          </a:p>
        </p:txBody>
      </p:sp>
      <p:sp>
        <p:nvSpPr>
          <p:cNvPr id="21" name="Shape 19">
            <a:extLst xmlns:a="http://schemas.openxmlformats.org/drawingml/2006/main">
              <a:ext uri="{FF2B5EF4-FFF2-40B4-BE49-F238E27FC236}">
                <a16:creationId xmlns:a16="http://schemas.microsoft.com/office/drawing/2014/main" id="{FED9F9E4-E092-4AE5-BB32-E640B4D430DE}"/>
              </a:ext>
            </a:extLst>
          </p:cNvPr>
          <p:cNvSpPr>
            <a:spLocks xmlns:a="http://schemas.openxmlformats.org/drawingml/2006/main" noGrp="1"/>
          </p:cNvSpPr>
          <p:nvPr/>
        </p:nvSpPr>
        <p:spPr>
          <a:xfrm xmlns:a="http://schemas.openxmlformats.org/drawingml/2006/main">
            <a:off x="548640" y="2770632"/>
            <a:ext cx="11094415" cy="534924"/>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22" name="Text 20">
            <a:extLst xmlns:a="http://schemas.openxmlformats.org/drawingml/2006/main">
              <a:ext uri="{FF2B5EF4-FFF2-40B4-BE49-F238E27FC236}">
                <a16:creationId xmlns:a16="http://schemas.microsoft.com/office/drawing/2014/main" id="{4D215F9D-B8E4-4473-A334-87919AAFD5EB}"/>
              </a:ext>
            </a:extLst>
          </p:cNvPr>
          <p:cNvSpPr>
            <a:spLocks xmlns:a="http://schemas.openxmlformats.org/drawingml/2006/main" noGrp="1"/>
          </p:cNvSpPr>
          <p:nvPr/>
        </p:nvSpPr>
        <p:spPr>
          <a:xfrm xmlns:a="http://schemas.openxmlformats.org/drawingml/2006/main">
            <a:off x="694944" y="2770632"/>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Termination for cause</a:t>
            </a:r>
            <a:endParaRPr sz="1050"/>
          </a:p>
        </p:txBody>
      </p:sp>
      <p:sp>
        <p:nvSpPr>
          <p:cNvPr id="23" name="Text 21">
            <a:extLst xmlns:a="http://schemas.openxmlformats.org/drawingml/2006/main">
              <a:ext uri="{FF2B5EF4-FFF2-40B4-BE49-F238E27FC236}">
                <a16:creationId xmlns:a16="http://schemas.microsoft.com/office/drawing/2014/main" id="{347060CB-CE0E-4F40-8B2C-7BBB83C341C0}"/>
              </a:ext>
            </a:extLst>
          </p:cNvPr>
          <p:cNvSpPr>
            <a:spLocks xmlns:a="http://schemas.openxmlformats.org/drawingml/2006/main" noGrp="1"/>
          </p:cNvSpPr>
          <p:nvPr/>
        </p:nvSpPr>
        <p:spPr>
          <a:xfrm xmlns:a="http://schemas.openxmlformats.org/drawingml/2006/main">
            <a:off x="3575304" y="2770632"/>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All payments treated as advance; full refund on cause</a:t>
            </a:r>
            <a:endParaRPr sz="1000"/>
          </a:p>
        </p:txBody>
      </p:sp>
      <p:sp>
        <p:nvSpPr>
          <p:cNvPr id="24" name="Text 22">
            <a:extLst xmlns:a="http://schemas.openxmlformats.org/drawingml/2006/main">
              <a:ext uri="{FF2B5EF4-FFF2-40B4-BE49-F238E27FC236}">
                <a16:creationId xmlns:a16="http://schemas.microsoft.com/office/drawing/2014/main" id="{B7760DAE-5426-4057-BA64-36F9E825F65A}"/>
              </a:ext>
            </a:extLst>
          </p:cNvPr>
          <p:cNvSpPr>
            <a:spLocks xmlns:a="http://schemas.openxmlformats.org/drawingml/2006/main" noGrp="1"/>
          </p:cNvSpPr>
          <p:nvPr/>
        </p:nvSpPr>
        <p:spPr>
          <a:xfrm xmlns:a="http://schemas.openxmlformats.org/drawingml/2006/main">
            <a:off x="7690104" y="2770632"/>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Not acceptable</a:t>
            </a:r>
            <a:endParaRPr sz="1000"/>
          </a:p>
        </p:txBody>
      </p:sp>
      <p:sp>
        <p:nvSpPr>
          <p:cNvPr id="25" name="Shape 23">
            <a:extLst xmlns:a="http://schemas.openxmlformats.org/drawingml/2006/main">
              <a:ext uri="{FF2B5EF4-FFF2-40B4-BE49-F238E27FC236}">
                <a16:creationId xmlns:a16="http://schemas.microsoft.com/office/drawing/2014/main" id="{42DE1625-FC64-41DD-B264-BF902EABF075}"/>
              </a:ext>
            </a:extLst>
          </p:cNvPr>
          <p:cNvSpPr>
            <a:spLocks xmlns:a="http://schemas.openxmlformats.org/drawingml/2006/main" noGrp="1"/>
          </p:cNvSpPr>
          <p:nvPr/>
        </p:nvSpPr>
        <p:spPr>
          <a:xfrm xmlns:a="http://schemas.openxmlformats.org/drawingml/2006/main">
            <a:off x="10698480" y="2907792"/>
            <a:ext cx="841248" cy="256032"/>
          </a:xfrm>
          <a:prstGeom xmlns:a="http://schemas.openxmlformats.org/drawingml/2006/main" prst="roundRect">
            <a:avLst>
              <a:gd name="adj" fmla="val 50000"/>
            </a:avLst>
          </a:prstGeom>
          <a:solidFill xmlns:a="http://schemas.openxmlformats.org/drawingml/2006/main">
            <a:srgbClr val="C0392B"/>
          </a:solidFill>
        </p:spPr>
      </p:sp>
      <p:sp>
        <p:nvSpPr>
          <p:cNvPr id="26" name="Text 24">
            <a:extLst xmlns:a="http://schemas.openxmlformats.org/drawingml/2006/main">
              <a:ext uri="{FF2B5EF4-FFF2-40B4-BE49-F238E27FC236}">
                <a16:creationId xmlns:a16="http://schemas.microsoft.com/office/drawing/2014/main" id="{F6ABDA0B-7F26-46A8-9AB0-46FCF3F25D4F}"/>
              </a:ext>
            </a:extLst>
          </p:cNvPr>
          <p:cNvSpPr>
            <a:spLocks xmlns:a="http://schemas.openxmlformats.org/drawingml/2006/main" noGrp="1"/>
          </p:cNvSpPr>
          <p:nvPr/>
        </p:nvSpPr>
        <p:spPr>
          <a:xfrm xmlns:a="http://schemas.openxmlformats.org/drawingml/2006/main">
            <a:off x="10698480" y="2907792"/>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Blocker</a:t>
            </a:r>
            <a:endParaRPr sz="850"/>
          </a:p>
        </p:txBody>
      </p:sp>
      <p:sp>
        <p:nvSpPr>
          <p:cNvPr id="27" name="Shape 25">
            <a:extLst xmlns:a="http://schemas.openxmlformats.org/drawingml/2006/main">
              <a:ext uri="{FF2B5EF4-FFF2-40B4-BE49-F238E27FC236}">
                <a16:creationId xmlns:a16="http://schemas.microsoft.com/office/drawing/2014/main" id="{47735F59-79DA-4C7C-BF5B-D48D835E3185}"/>
              </a:ext>
            </a:extLst>
          </p:cNvPr>
          <p:cNvSpPr>
            <a:spLocks xmlns:a="http://schemas.openxmlformats.org/drawingml/2006/main" noGrp="1"/>
          </p:cNvSpPr>
          <p:nvPr/>
        </p:nvSpPr>
        <p:spPr>
          <a:xfrm xmlns:a="http://schemas.openxmlformats.org/drawingml/2006/main">
            <a:off x="548640" y="3305556"/>
            <a:ext cx="11094415" cy="534924"/>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28" name="Text 26">
            <a:extLst xmlns:a="http://schemas.openxmlformats.org/drawingml/2006/main">
              <a:ext uri="{FF2B5EF4-FFF2-40B4-BE49-F238E27FC236}">
                <a16:creationId xmlns:a16="http://schemas.microsoft.com/office/drawing/2014/main" id="{D4C460D9-75E6-43E8-9FD4-969FEC5C5B78}"/>
              </a:ext>
            </a:extLst>
          </p:cNvPr>
          <p:cNvSpPr>
            <a:spLocks xmlns:a="http://schemas.openxmlformats.org/drawingml/2006/main" noGrp="1"/>
          </p:cNvSpPr>
          <p:nvPr/>
        </p:nvSpPr>
        <p:spPr>
          <a:xfrm xmlns:a="http://schemas.openxmlformats.org/drawingml/2006/main">
            <a:off x="694944" y="3305556"/>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Step-in rights</a:t>
            </a:r>
            <a:endParaRPr sz="1050"/>
          </a:p>
        </p:txBody>
      </p:sp>
      <p:sp>
        <p:nvSpPr>
          <p:cNvPr id="29" name="Text 27">
            <a:extLst xmlns:a="http://schemas.openxmlformats.org/drawingml/2006/main">
              <a:ext uri="{FF2B5EF4-FFF2-40B4-BE49-F238E27FC236}">
                <a16:creationId xmlns:a16="http://schemas.microsoft.com/office/drawing/2014/main" id="{ABA29889-9521-4548-BC5E-262BDD50E408}"/>
              </a:ext>
            </a:extLst>
          </p:cNvPr>
          <p:cNvSpPr>
            <a:spLocks xmlns:a="http://schemas.openxmlformats.org/drawingml/2006/main" noGrp="1"/>
          </p:cNvSpPr>
          <p:nvPr/>
        </p:nvSpPr>
        <p:spPr>
          <a:xfrm xmlns:a="http://schemas.openxmlformats.org/drawingml/2006/main">
            <a:off x="3575304" y="3305556"/>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AMLI may step in / deploy alternate vendor at ASPL cost</a:t>
            </a:r>
            <a:endParaRPr sz="1000"/>
          </a:p>
        </p:txBody>
      </p:sp>
      <p:sp>
        <p:nvSpPr>
          <p:cNvPr id="30" name="Text 28">
            <a:extLst xmlns:a="http://schemas.openxmlformats.org/drawingml/2006/main">
              <a:ext uri="{FF2B5EF4-FFF2-40B4-BE49-F238E27FC236}">
                <a16:creationId xmlns:a16="http://schemas.microsoft.com/office/drawing/2014/main" id="{C2ADCE11-ECFB-47F7-ABF1-D636B2A6A5BE}"/>
              </a:ext>
            </a:extLst>
          </p:cNvPr>
          <p:cNvSpPr>
            <a:spLocks xmlns:a="http://schemas.openxmlformats.org/drawingml/2006/main" noGrp="1"/>
          </p:cNvSpPr>
          <p:nvPr/>
        </p:nvSpPr>
        <p:spPr>
          <a:xfrm xmlns:a="http://schemas.openxmlformats.org/drawingml/2006/main">
            <a:off x="7690104" y="3305556"/>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Not acceptable</a:t>
            </a:r>
            <a:endParaRPr sz="1000"/>
          </a:p>
        </p:txBody>
      </p:sp>
      <p:sp>
        <p:nvSpPr>
          <p:cNvPr id="31" name="Shape 29">
            <a:extLst xmlns:a="http://schemas.openxmlformats.org/drawingml/2006/main">
              <a:ext uri="{FF2B5EF4-FFF2-40B4-BE49-F238E27FC236}">
                <a16:creationId xmlns:a16="http://schemas.microsoft.com/office/drawing/2014/main" id="{D05C391C-ACBE-4BE5-98EB-7824F6AEA578}"/>
              </a:ext>
            </a:extLst>
          </p:cNvPr>
          <p:cNvSpPr>
            <a:spLocks xmlns:a="http://schemas.openxmlformats.org/drawingml/2006/main" noGrp="1"/>
          </p:cNvSpPr>
          <p:nvPr/>
        </p:nvSpPr>
        <p:spPr>
          <a:xfrm xmlns:a="http://schemas.openxmlformats.org/drawingml/2006/main">
            <a:off x="10698480" y="3442716"/>
            <a:ext cx="841248" cy="256032"/>
          </a:xfrm>
          <a:prstGeom xmlns:a="http://schemas.openxmlformats.org/drawingml/2006/main" prst="roundRect">
            <a:avLst>
              <a:gd name="adj" fmla="val 50000"/>
            </a:avLst>
          </a:prstGeom>
          <a:solidFill xmlns:a="http://schemas.openxmlformats.org/drawingml/2006/main">
            <a:srgbClr val="C0392B"/>
          </a:solidFill>
        </p:spPr>
      </p:sp>
      <p:sp>
        <p:nvSpPr>
          <p:cNvPr id="32" name="Text 30">
            <a:extLst xmlns:a="http://schemas.openxmlformats.org/drawingml/2006/main">
              <a:ext uri="{FF2B5EF4-FFF2-40B4-BE49-F238E27FC236}">
                <a16:creationId xmlns:a16="http://schemas.microsoft.com/office/drawing/2014/main" id="{B0E6BD4E-A757-41F8-B79F-F7AF256EC0D6}"/>
              </a:ext>
            </a:extLst>
          </p:cNvPr>
          <p:cNvSpPr>
            <a:spLocks xmlns:a="http://schemas.openxmlformats.org/drawingml/2006/main" noGrp="1"/>
          </p:cNvSpPr>
          <p:nvPr/>
        </p:nvSpPr>
        <p:spPr>
          <a:xfrm xmlns:a="http://schemas.openxmlformats.org/drawingml/2006/main">
            <a:off x="10698480" y="3442716"/>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Blocker</a:t>
            </a:r>
            <a:endParaRPr sz="850"/>
          </a:p>
        </p:txBody>
      </p:sp>
      <p:sp>
        <p:nvSpPr>
          <p:cNvPr id="33" name="Shape 31">
            <a:extLst xmlns:a="http://schemas.openxmlformats.org/drawingml/2006/main">
              <a:ext uri="{FF2B5EF4-FFF2-40B4-BE49-F238E27FC236}">
                <a16:creationId xmlns:a16="http://schemas.microsoft.com/office/drawing/2014/main" id="{9CDC2983-D39B-487B-A5D9-6CDC7C4C7C94}"/>
              </a:ext>
            </a:extLst>
          </p:cNvPr>
          <p:cNvSpPr>
            <a:spLocks xmlns:a="http://schemas.openxmlformats.org/drawingml/2006/main" noGrp="1"/>
          </p:cNvSpPr>
          <p:nvPr/>
        </p:nvSpPr>
        <p:spPr>
          <a:xfrm xmlns:a="http://schemas.openxmlformats.org/drawingml/2006/main">
            <a:off x="548640" y="3840480"/>
            <a:ext cx="11094415" cy="534924"/>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34" name="Text 32">
            <a:extLst xmlns:a="http://schemas.openxmlformats.org/drawingml/2006/main">
              <a:ext uri="{FF2B5EF4-FFF2-40B4-BE49-F238E27FC236}">
                <a16:creationId xmlns:a16="http://schemas.microsoft.com/office/drawing/2014/main" id="{33A4F432-6D81-4C9B-B670-F9398E5C6EB3}"/>
              </a:ext>
            </a:extLst>
          </p:cNvPr>
          <p:cNvSpPr>
            <a:spLocks xmlns:a="http://schemas.openxmlformats.org/drawingml/2006/main" noGrp="1"/>
          </p:cNvSpPr>
          <p:nvPr/>
        </p:nvSpPr>
        <p:spPr>
          <a:xfrm xmlns:a="http://schemas.openxmlformats.org/drawingml/2006/main">
            <a:off x="694944" y="3840480"/>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Delay penalties</a:t>
            </a:r>
            <a:endParaRPr sz="1050"/>
          </a:p>
        </p:txBody>
      </p:sp>
      <p:sp>
        <p:nvSpPr>
          <p:cNvPr id="35" name="Text 33">
            <a:extLst xmlns:a="http://schemas.openxmlformats.org/drawingml/2006/main">
              <a:ext uri="{FF2B5EF4-FFF2-40B4-BE49-F238E27FC236}">
                <a16:creationId xmlns:a16="http://schemas.microsoft.com/office/drawing/2014/main" id="{AFCC4325-D832-46F6-8245-B454A7C854D8}"/>
              </a:ext>
            </a:extLst>
          </p:cNvPr>
          <p:cNvSpPr>
            <a:spLocks xmlns:a="http://schemas.openxmlformats.org/drawingml/2006/main" noGrp="1"/>
          </p:cNvSpPr>
          <p:nvPr/>
        </p:nvSpPr>
        <p:spPr>
          <a:xfrm xmlns:a="http://schemas.openxmlformats.org/drawingml/2006/main">
            <a:off x="3575304" y="3840480"/>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5% per week of delay, max 25% of contract value</a:t>
            </a:r>
            <a:endParaRPr sz="1000"/>
          </a:p>
        </p:txBody>
      </p:sp>
      <p:sp>
        <p:nvSpPr>
          <p:cNvPr id="36" name="Text 34">
            <a:extLst xmlns:a="http://schemas.openxmlformats.org/drawingml/2006/main">
              <a:ext uri="{FF2B5EF4-FFF2-40B4-BE49-F238E27FC236}">
                <a16:creationId xmlns:a16="http://schemas.microsoft.com/office/drawing/2014/main" id="{1F7AABDD-8968-4F3A-A08F-AC24A5EE2C37}"/>
              </a:ext>
            </a:extLst>
          </p:cNvPr>
          <p:cNvSpPr>
            <a:spLocks xmlns:a="http://schemas.openxmlformats.org/drawingml/2006/main" noGrp="1"/>
          </p:cNvSpPr>
          <p:nvPr/>
        </p:nvSpPr>
        <p:spPr>
          <a:xfrm xmlns:a="http://schemas.openxmlformats.org/drawingml/2006/main">
            <a:off x="7690104" y="3840480"/>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ASPL does not accept penalty clauses</a:t>
            </a:r>
            <a:endParaRPr sz="1000"/>
          </a:p>
        </p:txBody>
      </p:sp>
      <p:sp>
        <p:nvSpPr>
          <p:cNvPr id="37" name="Shape 35">
            <a:extLst xmlns:a="http://schemas.openxmlformats.org/drawingml/2006/main">
              <a:ext uri="{FF2B5EF4-FFF2-40B4-BE49-F238E27FC236}">
                <a16:creationId xmlns:a16="http://schemas.microsoft.com/office/drawing/2014/main" id="{EF5DA04C-648B-4BF4-A4B8-8B7CCB81D14D}"/>
              </a:ext>
            </a:extLst>
          </p:cNvPr>
          <p:cNvSpPr>
            <a:spLocks xmlns:a="http://schemas.openxmlformats.org/drawingml/2006/main" noGrp="1"/>
          </p:cNvSpPr>
          <p:nvPr/>
        </p:nvSpPr>
        <p:spPr>
          <a:xfrm xmlns:a="http://schemas.openxmlformats.org/drawingml/2006/main">
            <a:off x="10698480" y="3977640"/>
            <a:ext cx="841248" cy="256032"/>
          </a:xfrm>
          <a:prstGeom xmlns:a="http://schemas.openxmlformats.org/drawingml/2006/main" prst="roundRect">
            <a:avLst>
              <a:gd name="adj" fmla="val 50000"/>
            </a:avLst>
          </a:prstGeom>
          <a:solidFill xmlns:a="http://schemas.openxmlformats.org/drawingml/2006/main">
            <a:srgbClr val="C0392B"/>
          </a:solidFill>
        </p:spPr>
      </p:sp>
      <p:sp>
        <p:nvSpPr>
          <p:cNvPr id="38" name="Text 36">
            <a:extLst xmlns:a="http://schemas.openxmlformats.org/drawingml/2006/main">
              <a:ext uri="{FF2B5EF4-FFF2-40B4-BE49-F238E27FC236}">
                <a16:creationId xmlns:a16="http://schemas.microsoft.com/office/drawing/2014/main" id="{1F83D607-3077-4DCC-AFFA-4564B70CC11A}"/>
              </a:ext>
            </a:extLst>
          </p:cNvPr>
          <p:cNvSpPr>
            <a:spLocks xmlns:a="http://schemas.openxmlformats.org/drawingml/2006/main" noGrp="1"/>
          </p:cNvSpPr>
          <p:nvPr/>
        </p:nvSpPr>
        <p:spPr>
          <a:xfrm xmlns:a="http://schemas.openxmlformats.org/drawingml/2006/main">
            <a:off x="10698480" y="3977640"/>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Blocker</a:t>
            </a:r>
            <a:endParaRPr sz="850"/>
          </a:p>
        </p:txBody>
      </p:sp>
      <p:sp>
        <p:nvSpPr>
          <p:cNvPr id="39" name="Shape 37">
            <a:extLst xmlns:a="http://schemas.openxmlformats.org/drawingml/2006/main">
              <a:ext uri="{FF2B5EF4-FFF2-40B4-BE49-F238E27FC236}">
                <a16:creationId xmlns:a16="http://schemas.microsoft.com/office/drawing/2014/main" id="{7DA23376-6691-434A-B77C-5A88E3AF9FB8}"/>
              </a:ext>
            </a:extLst>
          </p:cNvPr>
          <p:cNvSpPr>
            <a:spLocks xmlns:a="http://schemas.openxmlformats.org/drawingml/2006/main" noGrp="1"/>
          </p:cNvSpPr>
          <p:nvPr/>
        </p:nvSpPr>
        <p:spPr>
          <a:xfrm xmlns:a="http://schemas.openxmlformats.org/drawingml/2006/main">
            <a:off x="548640" y="4375404"/>
            <a:ext cx="11094415" cy="534924"/>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40" name="Text 38">
            <a:extLst xmlns:a="http://schemas.openxmlformats.org/drawingml/2006/main">
              <a:ext uri="{FF2B5EF4-FFF2-40B4-BE49-F238E27FC236}">
                <a16:creationId xmlns:a16="http://schemas.microsoft.com/office/drawing/2014/main" id="{F906AC39-A955-4CA5-9F39-A4BFFF2336DC}"/>
              </a:ext>
            </a:extLst>
          </p:cNvPr>
          <p:cNvSpPr>
            <a:spLocks xmlns:a="http://schemas.openxmlformats.org/drawingml/2006/main" noGrp="1"/>
          </p:cNvSpPr>
          <p:nvPr/>
        </p:nvSpPr>
        <p:spPr>
          <a:xfrm xmlns:a="http://schemas.openxmlformats.org/drawingml/2006/main">
            <a:off x="694944" y="4375404"/>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Limitation of liability</a:t>
            </a:r>
            <a:endParaRPr sz="1050"/>
          </a:p>
        </p:txBody>
      </p:sp>
      <p:sp>
        <p:nvSpPr>
          <p:cNvPr id="41" name="Text 39">
            <a:extLst xmlns:a="http://schemas.openxmlformats.org/drawingml/2006/main">
              <a:ext uri="{FF2B5EF4-FFF2-40B4-BE49-F238E27FC236}">
                <a16:creationId xmlns:a16="http://schemas.microsoft.com/office/drawing/2014/main" id="{CECB3B92-F9D3-4242-BA88-B2D1AE0537EB}"/>
              </a:ext>
            </a:extLst>
          </p:cNvPr>
          <p:cNvSpPr>
            <a:spLocks xmlns:a="http://schemas.openxmlformats.org/drawingml/2006/main" noGrp="1"/>
          </p:cNvSpPr>
          <p:nvPr/>
        </p:nvSpPr>
        <p:spPr>
          <a:xfrm xmlns:a="http://schemas.openxmlformats.org/drawingml/2006/main">
            <a:off x="3575304" y="4375404"/>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Unlimited (breach/confidentiality); 5–10% security-breach remit</a:t>
            </a:r>
            <a:endParaRPr sz="1000"/>
          </a:p>
        </p:txBody>
      </p:sp>
      <p:sp>
        <p:nvSpPr>
          <p:cNvPr id="42" name="Text 40">
            <a:extLst xmlns:a="http://schemas.openxmlformats.org/drawingml/2006/main">
              <a:ext uri="{FF2B5EF4-FFF2-40B4-BE49-F238E27FC236}">
                <a16:creationId xmlns:a16="http://schemas.microsoft.com/office/drawing/2014/main" id="{50FAD296-8462-44DD-86FD-335C473E3263}"/>
              </a:ext>
            </a:extLst>
          </p:cNvPr>
          <p:cNvSpPr>
            <a:spLocks xmlns:a="http://schemas.openxmlformats.org/drawingml/2006/main" noGrp="1"/>
          </p:cNvSpPr>
          <p:nvPr/>
        </p:nvSpPr>
        <p:spPr>
          <a:xfrm xmlns:a="http://schemas.openxmlformats.org/drawingml/2006/main">
            <a:off x="7690104" y="4375404"/>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Cap at max 5% of contract value</a:t>
            </a:r>
            <a:endParaRPr sz="1000"/>
          </a:p>
        </p:txBody>
      </p:sp>
      <p:sp>
        <p:nvSpPr>
          <p:cNvPr id="43" name="Shape 41">
            <a:extLst xmlns:a="http://schemas.openxmlformats.org/drawingml/2006/main">
              <a:ext uri="{FF2B5EF4-FFF2-40B4-BE49-F238E27FC236}">
                <a16:creationId xmlns:a16="http://schemas.microsoft.com/office/drawing/2014/main" id="{D3BA6F2C-4DC2-4EC1-9856-9C3CD4476571}"/>
              </a:ext>
            </a:extLst>
          </p:cNvPr>
          <p:cNvSpPr>
            <a:spLocks xmlns:a="http://schemas.openxmlformats.org/drawingml/2006/main" noGrp="1"/>
          </p:cNvSpPr>
          <p:nvPr/>
        </p:nvSpPr>
        <p:spPr>
          <a:xfrm xmlns:a="http://schemas.openxmlformats.org/drawingml/2006/main">
            <a:off x="10698480" y="4512564"/>
            <a:ext cx="841248" cy="256032"/>
          </a:xfrm>
          <a:prstGeom xmlns:a="http://schemas.openxmlformats.org/drawingml/2006/main" prst="roundRect">
            <a:avLst>
              <a:gd name="adj" fmla="val 50000"/>
            </a:avLst>
          </a:prstGeom>
          <a:solidFill xmlns:a="http://schemas.openxmlformats.org/drawingml/2006/main">
            <a:srgbClr val="FFA700"/>
          </a:solidFill>
        </p:spPr>
      </p:sp>
      <p:sp>
        <p:nvSpPr>
          <p:cNvPr id="44" name="Text 42">
            <a:extLst xmlns:a="http://schemas.openxmlformats.org/drawingml/2006/main">
              <a:ext uri="{FF2B5EF4-FFF2-40B4-BE49-F238E27FC236}">
                <a16:creationId xmlns:a16="http://schemas.microsoft.com/office/drawing/2014/main" id="{DFF55BB5-FCCE-43DC-B294-4D30B3878DFD}"/>
              </a:ext>
            </a:extLst>
          </p:cNvPr>
          <p:cNvSpPr>
            <a:spLocks xmlns:a="http://schemas.openxmlformats.org/drawingml/2006/main" noGrp="1"/>
          </p:cNvSpPr>
          <p:nvPr/>
        </p:nvSpPr>
        <p:spPr>
          <a:xfrm xmlns:a="http://schemas.openxmlformats.org/drawingml/2006/main">
            <a:off x="10698480" y="4512564"/>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Watch</a:t>
            </a:r>
            <a:endParaRPr sz="850"/>
          </a:p>
        </p:txBody>
      </p:sp>
      <p:sp>
        <p:nvSpPr>
          <p:cNvPr id="45" name="Shape 43">
            <a:extLst xmlns:a="http://schemas.openxmlformats.org/drawingml/2006/main">
              <a:ext uri="{FF2B5EF4-FFF2-40B4-BE49-F238E27FC236}">
                <a16:creationId xmlns:a16="http://schemas.microsoft.com/office/drawing/2014/main" id="{CB0A2ED5-A18A-438D-8082-AA25292DE33D}"/>
              </a:ext>
            </a:extLst>
          </p:cNvPr>
          <p:cNvSpPr>
            <a:spLocks xmlns:a="http://schemas.openxmlformats.org/drawingml/2006/main" noGrp="1"/>
          </p:cNvSpPr>
          <p:nvPr/>
        </p:nvSpPr>
        <p:spPr>
          <a:xfrm xmlns:a="http://schemas.openxmlformats.org/drawingml/2006/main">
            <a:off x="548640" y="4910328"/>
            <a:ext cx="11094415" cy="534924"/>
          </a:xfrm>
          <a:prstGeom xmlns:a="http://schemas.openxmlformats.org/drawingml/2006/main" prst="rect">
            <a:avLst/>
          </a:prstGeom>
          <a:solidFill xmlns:a="http://schemas.openxmlformats.org/drawingml/2006/main">
            <a:srgbClr val="FFFFFF"/>
          </a:solidFill>
          <a:ln xmlns:a="http://schemas.openxmlformats.org/drawingml/2006/main" w="6350">
            <a:solidFill>
              <a:srgbClr val="E5DEDB"/>
            </a:solidFill>
            <a:prstDash val="solid"/>
          </a:ln>
        </p:spPr>
      </p:sp>
      <p:sp>
        <p:nvSpPr>
          <p:cNvPr id="46" name="Text 44">
            <a:extLst xmlns:a="http://schemas.openxmlformats.org/drawingml/2006/main">
              <a:ext uri="{FF2B5EF4-FFF2-40B4-BE49-F238E27FC236}">
                <a16:creationId xmlns:a16="http://schemas.microsoft.com/office/drawing/2014/main" id="{1D2316ED-5BB3-47AE-AB32-2D4FAD759CFB}"/>
              </a:ext>
            </a:extLst>
          </p:cNvPr>
          <p:cNvSpPr>
            <a:spLocks xmlns:a="http://schemas.openxmlformats.org/drawingml/2006/main" noGrp="1"/>
          </p:cNvSpPr>
          <p:nvPr/>
        </p:nvSpPr>
        <p:spPr>
          <a:xfrm xmlns:a="http://schemas.openxmlformats.org/drawingml/2006/main">
            <a:off x="694944" y="4910328"/>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Hyper-care duration</a:t>
            </a:r>
            <a:endParaRPr sz="1050"/>
          </a:p>
        </p:txBody>
      </p:sp>
      <p:sp>
        <p:nvSpPr>
          <p:cNvPr id="47" name="Text 45">
            <a:extLst xmlns:a="http://schemas.openxmlformats.org/drawingml/2006/main">
              <a:ext uri="{FF2B5EF4-FFF2-40B4-BE49-F238E27FC236}">
                <a16:creationId xmlns:a16="http://schemas.microsoft.com/office/drawing/2014/main" id="{C0372AA1-21D5-41F9-833C-F040954B299F}"/>
              </a:ext>
            </a:extLst>
          </p:cNvPr>
          <p:cNvSpPr>
            <a:spLocks xmlns:a="http://schemas.openxmlformats.org/drawingml/2006/main" noGrp="1"/>
          </p:cNvSpPr>
          <p:nvPr/>
        </p:nvSpPr>
        <p:spPr>
          <a:xfrm xmlns:a="http://schemas.openxmlformats.org/drawingml/2006/main">
            <a:off x="3575304" y="4910328"/>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3 months, +15 days per open P1</a:t>
            </a:r>
            <a:endParaRPr sz="1000"/>
          </a:p>
        </p:txBody>
      </p:sp>
      <p:sp>
        <p:nvSpPr>
          <p:cNvPr id="48" name="Text 46">
            <a:extLst xmlns:a="http://schemas.openxmlformats.org/drawingml/2006/main">
              <a:ext uri="{FF2B5EF4-FFF2-40B4-BE49-F238E27FC236}">
                <a16:creationId xmlns:a16="http://schemas.microsoft.com/office/drawing/2014/main" id="{B57BEAA6-652C-4EC1-B518-78F6C7BC900E}"/>
              </a:ext>
            </a:extLst>
          </p:cNvPr>
          <p:cNvSpPr>
            <a:spLocks xmlns:a="http://schemas.openxmlformats.org/drawingml/2006/main" noGrp="1"/>
          </p:cNvSpPr>
          <p:nvPr/>
        </p:nvSpPr>
        <p:spPr>
          <a:xfrm xmlns:a="http://schemas.openxmlformats.org/drawingml/2006/main">
            <a:off x="7690104" y="4910328"/>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4 weeks (SoW) / per plan; extensions billable</a:t>
            </a:r>
            <a:endParaRPr sz="1000"/>
          </a:p>
        </p:txBody>
      </p:sp>
      <p:sp>
        <p:nvSpPr>
          <p:cNvPr id="49" name="Shape 47">
            <a:extLst xmlns:a="http://schemas.openxmlformats.org/drawingml/2006/main">
              <a:ext uri="{FF2B5EF4-FFF2-40B4-BE49-F238E27FC236}">
                <a16:creationId xmlns:a16="http://schemas.microsoft.com/office/drawing/2014/main" id="{1E9584B8-D752-4EDE-84DB-1247A14F65C8}"/>
              </a:ext>
            </a:extLst>
          </p:cNvPr>
          <p:cNvSpPr>
            <a:spLocks xmlns:a="http://schemas.openxmlformats.org/drawingml/2006/main" noGrp="1"/>
          </p:cNvSpPr>
          <p:nvPr/>
        </p:nvSpPr>
        <p:spPr>
          <a:xfrm xmlns:a="http://schemas.openxmlformats.org/drawingml/2006/main">
            <a:off x="10698480" y="5047488"/>
            <a:ext cx="841248" cy="256032"/>
          </a:xfrm>
          <a:prstGeom xmlns:a="http://schemas.openxmlformats.org/drawingml/2006/main" prst="roundRect">
            <a:avLst>
              <a:gd name="adj" fmla="val 50000"/>
            </a:avLst>
          </a:prstGeom>
          <a:solidFill xmlns:a="http://schemas.openxmlformats.org/drawingml/2006/main">
            <a:srgbClr val="FFA700"/>
          </a:solidFill>
        </p:spPr>
      </p:sp>
      <p:sp>
        <p:nvSpPr>
          <p:cNvPr id="50" name="Text 48">
            <a:extLst xmlns:a="http://schemas.openxmlformats.org/drawingml/2006/main">
              <a:ext uri="{FF2B5EF4-FFF2-40B4-BE49-F238E27FC236}">
                <a16:creationId xmlns:a16="http://schemas.microsoft.com/office/drawing/2014/main" id="{062F4E6B-E906-414C-A484-FEBE55E511A7}"/>
              </a:ext>
            </a:extLst>
          </p:cNvPr>
          <p:cNvSpPr>
            <a:spLocks xmlns:a="http://schemas.openxmlformats.org/drawingml/2006/main" noGrp="1"/>
          </p:cNvSpPr>
          <p:nvPr/>
        </p:nvSpPr>
        <p:spPr>
          <a:xfrm xmlns:a="http://schemas.openxmlformats.org/drawingml/2006/main">
            <a:off x="10698480" y="5047488"/>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Watch</a:t>
            </a:r>
            <a:endParaRPr sz="850"/>
          </a:p>
        </p:txBody>
      </p:sp>
      <p:sp>
        <p:nvSpPr>
          <p:cNvPr id="51" name="Shape 49">
            <a:extLst xmlns:a="http://schemas.openxmlformats.org/drawingml/2006/main">
              <a:ext uri="{FF2B5EF4-FFF2-40B4-BE49-F238E27FC236}">
                <a16:creationId xmlns:a16="http://schemas.microsoft.com/office/drawing/2014/main" id="{5DDFFC13-7B2A-4145-AE47-15FA75725DAB}"/>
              </a:ext>
            </a:extLst>
          </p:cNvPr>
          <p:cNvSpPr>
            <a:spLocks xmlns:a="http://schemas.openxmlformats.org/drawingml/2006/main" noGrp="1"/>
          </p:cNvSpPr>
          <p:nvPr/>
        </p:nvSpPr>
        <p:spPr>
          <a:xfrm xmlns:a="http://schemas.openxmlformats.org/drawingml/2006/main">
            <a:off x="548640" y="5445252"/>
            <a:ext cx="11094415" cy="534924"/>
          </a:xfrm>
          <a:prstGeom xmlns:a="http://schemas.openxmlformats.org/drawingml/2006/main" prst="rect">
            <a:avLst/>
          </a:prstGeom>
          <a:solidFill xmlns:a="http://schemas.openxmlformats.org/drawingml/2006/main">
            <a:srgbClr val="F7F5F4"/>
          </a:solidFill>
          <a:ln xmlns:a="http://schemas.openxmlformats.org/drawingml/2006/main" w="6350">
            <a:solidFill>
              <a:srgbClr val="E5DEDB"/>
            </a:solidFill>
            <a:prstDash val="solid"/>
          </a:ln>
        </p:spPr>
      </p:sp>
      <p:sp>
        <p:nvSpPr>
          <p:cNvPr id="52" name="Text 50">
            <a:extLst xmlns:a="http://schemas.openxmlformats.org/drawingml/2006/main">
              <a:ext uri="{FF2B5EF4-FFF2-40B4-BE49-F238E27FC236}">
                <a16:creationId xmlns:a16="http://schemas.microsoft.com/office/drawing/2014/main" id="{3AF5E2B3-F443-4C61-949A-D5ABF52A22AA}"/>
              </a:ext>
            </a:extLst>
          </p:cNvPr>
          <p:cNvSpPr>
            <a:spLocks xmlns:a="http://schemas.openxmlformats.org/drawingml/2006/main" noGrp="1"/>
          </p:cNvSpPr>
          <p:nvPr/>
        </p:nvSpPr>
        <p:spPr>
          <a:xfrm xmlns:a="http://schemas.openxmlformats.org/drawingml/2006/main">
            <a:off x="694944" y="5445252"/>
            <a:ext cx="2697480"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62626"/>
                </a:solidFill>
                <a:latin typeface="Poppins"/>
                <a:ea typeface="Poppins"/>
                <a:cs typeface="Poppins"/>
              </a:rPr>
              <a:t>Licence in scope/price</a:t>
            </a:r>
            <a:endParaRPr sz="1050"/>
          </a:p>
        </p:txBody>
      </p:sp>
      <p:sp>
        <p:nvSpPr>
          <p:cNvPr id="53" name="Text 51">
            <a:extLst xmlns:a="http://schemas.openxmlformats.org/drawingml/2006/main">
              <a:ext uri="{FF2B5EF4-FFF2-40B4-BE49-F238E27FC236}">
                <a16:creationId xmlns:a16="http://schemas.microsoft.com/office/drawing/2014/main" id="{5A88877D-5687-443F-8BB9-BEF1796C40FF}"/>
              </a:ext>
            </a:extLst>
          </p:cNvPr>
          <p:cNvSpPr>
            <a:spLocks xmlns:a="http://schemas.openxmlformats.org/drawingml/2006/main" noGrp="1"/>
          </p:cNvSpPr>
          <p:nvPr/>
        </p:nvSpPr>
        <p:spPr>
          <a:xfrm xmlns:a="http://schemas.openxmlformats.org/drawingml/2006/main">
            <a:off x="3575304" y="5445252"/>
            <a:ext cx="391363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100% SoW compliance; single price</a:t>
            </a:r>
            <a:endParaRPr sz="1000"/>
          </a:p>
        </p:txBody>
      </p:sp>
      <p:sp>
        <p:nvSpPr>
          <p:cNvPr id="54" name="Text 52">
            <a:extLst xmlns:a="http://schemas.openxmlformats.org/drawingml/2006/main">
              <a:ext uri="{FF2B5EF4-FFF2-40B4-BE49-F238E27FC236}">
                <a16:creationId xmlns:a16="http://schemas.microsoft.com/office/drawing/2014/main" id="{8937FEB9-43A3-4B6C-B823-852A3A2F01AD}"/>
              </a:ext>
            </a:extLst>
          </p:cNvPr>
          <p:cNvSpPr>
            <a:spLocks xmlns:a="http://schemas.openxmlformats.org/drawingml/2006/main" noGrp="1"/>
          </p:cNvSpPr>
          <p:nvPr/>
        </p:nvSpPr>
        <p:spPr>
          <a:xfrm xmlns:a="http://schemas.openxmlformats.org/drawingml/2006/main">
            <a:off x="7690104" y="5445252"/>
            <a:ext cx="2862072" cy="5349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2A231F"/>
                </a:solidFill>
                <a:latin typeface="Calibri"/>
                <a:ea typeface="Calibri"/>
                <a:cs typeface="Calibri"/>
              </a:rPr>
              <a:t>Licence separate (transformation proposal)</a:t>
            </a:r>
            <a:endParaRPr sz="1000"/>
          </a:p>
        </p:txBody>
      </p:sp>
      <p:sp>
        <p:nvSpPr>
          <p:cNvPr id="55" name="Shape 53">
            <a:extLst xmlns:a="http://schemas.openxmlformats.org/drawingml/2006/main">
              <a:ext uri="{FF2B5EF4-FFF2-40B4-BE49-F238E27FC236}">
                <a16:creationId xmlns:a16="http://schemas.microsoft.com/office/drawing/2014/main" id="{82E43A8C-BFAE-4FC5-8530-69181C444396}"/>
              </a:ext>
            </a:extLst>
          </p:cNvPr>
          <p:cNvSpPr>
            <a:spLocks xmlns:a="http://schemas.openxmlformats.org/drawingml/2006/main" noGrp="1"/>
          </p:cNvSpPr>
          <p:nvPr/>
        </p:nvSpPr>
        <p:spPr>
          <a:xfrm xmlns:a="http://schemas.openxmlformats.org/drawingml/2006/main">
            <a:off x="10698480" y="5582412"/>
            <a:ext cx="841248" cy="256032"/>
          </a:xfrm>
          <a:prstGeom xmlns:a="http://schemas.openxmlformats.org/drawingml/2006/main" prst="roundRect">
            <a:avLst>
              <a:gd name="adj" fmla="val 50000"/>
            </a:avLst>
          </a:prstGeom>
          <a:solidFill xmlns:a="http://schemas.openxmlformats.org/drawingml/2006/main">
            <a:srgbClr val="FFA700"/>
          </a:solidFill>
        </p:spPr>
      </p:sp>
      <p:sp>
        <p:nvSpPr>
          <p:cNvPr id="56" name="Text 54">
            <a:extLst xmlns:a="http://schemas.openxmlformats.org/drawingml/2006/main">
              <a:ext uri="{FF2B5EF4-FFF2-40B4-BE49-F238E27FC236}">
                <a16:creationId xmlns:a16="http://schemas.microsoft.com/office/drawing/2014/main" id="{725DE774-381C-4932-9F97-4D9D2CCE91EE}"/>
              </a:ext>
            </a:extLst>
          </p:cNvPr>
          <p:cNvSpPr>
            <a:spLocks xmlns:a="http://schemas.openxmlformats.org/drawingml/2006/main" noGrp="1"/>
          </p:cNvSpPr>
          <p:nvPr/>
        </p:nvSpPr>
        <p:spPr>
          <a:xfrm xmlns:a="http://schemas.openxmlformats.org/drawingml/2006/main">
            <a:off x="10698480" y="5582412"/>
            <a:ext cx="84124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a:solidFill>
                  <a:srgbClr val="FFFFFF"/>
                </a:solidFill>
                <a:latin typeface="Poppins"/>
                <a:ea typeface="Poppins"/>
                <a:cs typeface="Poppins"/>
              </a:rPr>
              <a:t>Watch</a:t>
            </a:r>
            <a:endParaRPr sz="850"/>
          </a:p>
        </p:txBody>
      </p:sp>
      <p:sp>
        <p:nvSpPr>
          <p:cNvPr id="57" name="Text 55">
            <a:extLst xmlns:a="http://schemas.openxmlformats.org/drawingml/2006/main">
              <a:ext uri="{FF2B5EF4-FFF2-40B4-BE49-F238E27FC236}">
                <a16:creationId xmlns:a16="http://schemas.microsoft.com/office/drawing/2014/main" id="{FD76996E-ED48-47E1-A553-FDA23AAD6A41}"/>
              </a:ext>
            </a:extLst>
          </p:cNvPr>
          <p:cNvSpPr>
            <a:spLocks xmlns:a="http://schemas.openxmlformats.org/drawingml/2006/main" noGrp="1"/>
          </p:cNvSpPr>
          <p:nvPr/>
        </p:nvSpPr>
        <p:spPr>
          <a:xfrm xmlns:a="http://schemas.openxmlformats.org/drawingml/2006/main">
            <a:off x="548640" y="6089904"/>
            <a:ext cx="11094415"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000" i="1">
                <a:solidFill>
                  <a:srgbClr val="595959"/>
                </a:solidFill>
                <a:latin typeface="Calibri"/>
                <a:ea typeface="Calibri"/>
                <a:cs typeface="Calibri"/>
              </a:rPr>
              <a:t>Blockers are hard "Not acceptable" positions in our current T&amp;C draft — they require a leadership call before submission; the IP/source-ownership stance also collides directly with the SoW’s "in-house build" framing.</a:t>
            </a:r>
            <a:endParaRPr sz="1000"/>
          </a:p>
        </p:txBody>
      </p:sp>
      <p:sp>
        <p:nvSpPr>
          <p:cNvPr id="58" name="Text 56">
            <a:extLst xmlns:a="http://schemas.openxmlformats.org/drawingml/2006/main">
              <a:ext uri="{FF2B5EF4-FFF2-40B4-BE49-F238E27FC236}">
                <a16:creationId xmlns:a16="http://schemas.microsoft.com/office/drawing/2014/main" id="{43AB3F06-A232-42C3-A027-5447DE881F12}"/>
              </a:ext>
            </a:extLst>
          </p:cNvPr>
          <p:cNvSpPr>
            <a:spLocks xmlns:a="http://schemas.openxmlformats.org/drawingml/2006/main" noGrp="1"/>
          </p:cNvSpPr>
          <p:nvPr/>
        </p:nvSpPr>
        <p:spPr>
          <a:xfrm xmlns:a="http://schemas.openxmlformats.org/drawingml/2006/main">
            <a:off x="548640" y="6473952"/>
            <a:ext cx="9601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850" b="1">
                <a:solidFill>
                  <a:srgbClr val="EE2B76"/>
                </a:solidFill>
                <a:latin typeface="Calibri"/>
                <a:ea typeface="Calibri"/>
                <a:cs typeface="Calibri"/>
              </a:rPr>
              <a:t>BusinessNext</a:t>
            </a:r>
            <a:r>
              <a:rPr sz="850">
                <a:solidFill>
                  <a:srgbClr val="8A7F79"/>
                </a:solidFill>
                <a:latin typeface="Calibri"/>
                <a:ea typeface="Calibri"/>
                <a:cs typeface="Calibri"/>
              </a:rPr>
              <a:t>   |   Axis Max Life · MATRIX (AMS + LMS) · Leadership Deal Review · Confidential</a:t>
            </a:r>
            <a:endParaRPr sz="850"/>
          </a:p>
        </p:txBody>
      </p:sp>
      <p:sp>
        <p:nvSpPr>
          <p:cNvPr id="59" name="Text 57">
            <a:extLst xmlns:a="http://schemas.openxmlformats.org/drawingml/2006/main">
              <a:ext uri="{FF2B5EF4-FFF2-40B4-BE49-F238E27FC236}">
                <a16:creationId xmlns:a16="http://schemas.microsoft.com/office/drawing/2014/main" id="{5AC45B1E-524E-4250-BEE2-93D5F84C3BD3}"/>
              </a:ext>
            </a:extLst>
          </p:cNvPr>
          <p:cNvSpPr>
            <a:spLocks xmlns:a="http://schemas.openxmlformats.org/drawingml/2006/main" noGrp="1"/>
          </p:cNvSpPr>
          <p:nvPr/>
        </p:nvSpPr>
        <p:spPr>
          <a:xfrm xmlns:a="http://schemas.openxmlformats.org/drawingml/2006/main">
            <a:off x="11185855" y="6473952"/>
            <a:ext cx="457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8A7F79"/>
                </a:solidFill>
                <a:latin typeface="Poppins"/>
                <a:ea typeface="Poppins"/>
                <a:cs typeface="Poppins"/>
              </a:rPr>
              <a:t>18</a:t>
            </a:r>
            <a:endParaRPr sz="900"/>
          </a:p>
        </p:txBody>
      </p:sp>
    </p:spTree>
    <p:extLst>
      <p:ext uri="{BB962C8B-B14F-4D97-AF65-F5344CB8AC3E}">
        <p14:creationId xmlns:p14="http://schemas.microsoft.com/office/powerpoint/2010/main" val="1292754860"/>
      </p:ext>
    </p:extLst>
  </p:cSld>
</p:sld>
</file>

<file path=ppt/slides/slide32.xml><?xml version="1.0" encoding="utf-8"?>
<p:sld xmlns:p="http://schemas.openxmlformats.org/presentationml/2006/main">
  <p:cSld>
    <p:bg>
      <p:bgPr>
        <a:solidFill xmlns:a="http://schemas.openxmlformats.org/drawingml/2006/main">
          <a:srgbClr val="15293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203FFB3-5902-44EB-B79B-2BA97328ADE4}"/>
              </a:ext>
            </a:extLst>
          </p:cNvPr>
          <p:cNvSpPr>
            <a:spLocks xmlns:a="http://schemas.openxmlformats.org/drawingml/2006/main" noGrp="1"/>
          </p:cNvSpPr>
          <p:nvPr/>
        </p:nvSpPr>
        <p:spPr>
          <a:xfrm xmlns:a="http://schemas.openxmlformats.org/drawingml/2006/main">
            <a:off x="548640" y="566928"/>
            <a:ext cx="310896" cy="310896"/>
          </a:xfrm>
          <a:prstGeom xmlns:a="http://schemas.openxmlformats.org/drawingml/2006/main" prst="roundRect">
            <a:avLst>
              <a:gd name="adj" fmla="val 23529"/>
            </a:avLst>
          </a:prstGeom>
          <a:solidFill xmlns:a="http://schemas.openxmlformats.org/drawingml/2006/main">
            <a:srgbClr val="EE2B76"/>
          </a:solidFill>
        </p:spPr>
      </p:sp>
      <p:sp>
        <p:nvSpPr>
          <p:cNvPr id="3" name="Shape 1">
            <a:extLst xmlns:a="http://schemas.openxmlformats.org/drawingml/2006/main">
              <a:ext uri="{FF2B5EF4-FFF2-40B4-BE49-F238E27FC236}">
                <a16:creationId xmlns:a16="http://schemas.microsoft.com/office/drawing/2014/main" id="{9413C51D-7568-4902-A5E2-828B40FA68B0}"/>
              </a:ext>
            </a:extLst>
          </p:cNvPr>
          <p:cNvSpPr>
            <a:spLocks xmlns:a="http://schemas.openxmlformats.org/drawingml/2006/main" noGrp="1"/>
          </p:cNvSpPr>
          <p:nvPr/>
        </p:nvSpPr>
        <p:spPr>
          <a:xfrm xmlns:a="http://schemas.openxmlformats.org/drawingml/2006/main">
            <a:off x="932688" y="566928"/>
            <a:ext cx="310896" cy="310896"/>
          </a:xfrm>
          <a:prstGeom xmlns:a="http://schemas.openxmlformats.org/drawingml/2006/main" prst="roundRect">
            <a:avLst>
              <a:gd name="adj" fmla="val 23529"/>
            </a:avLst>
          </a:prstGeom>
          <a:solidFill xmlns:a="http://schemas.openxmlformats.org/drawingml/2006/main">
            <a:srgbClr val="2E4A6B"/>
          </a:solidFill>
        </p:spPr>
      </p:sp>
      <p:sp>
        <p:nvSpPr>
          <p:cNvPr id="4" name="Text 2">
            <a:extLst xmlns:a="http://schemas.openxmlformats.org/drawingml/2006/main">
              <a:ext uri="{FF2B5EF4-FFF2-40B4-BE49-F238E27FC236}">
                <a16:creationId xmlns:a16="http://schemas.microsoft.com/office/drawing/2014/main" id="{4DD586BD-58C6-4E0F-BEF1-E7657C399F17}"/>
              </a:ext>
            </a:extLst>
          </p:cNvPr>
          <p:cNvSpPr>
            <a:spLocks xmlns:a="http://schemas.openxmlformats.org/drawingml/2006/main" noGrp="1"/>
          </p:cNvSpPr>
          <p:nvPr/>
        </p:nvSpPr>
        <p:spPr>
          <a:xfrm xmlns:a="http://schemas.openxmlformats.org/drawingml/2006/main">
            <a:off x="1408176" y="54864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200">
                <a:solidFill>
                  <a:srgbClr val="CADCFC"/>
                </a:solidFill>
                <a:latin typeface="Poppins"/>
                <a:ea typeface="Poppins"/>
                <a:cs typeface="Poppins"/>
              </a:rPr>
              <a:t>RECOMMENDATION</a:t>
            </a:r>
            <a:endParaRPr sz="1200"/>
          </a:p>
        </p:txBody>
      </p:sp>
      <p:sp>
        <p:nvSpPr>
          <p:cNvPr id="5" name="Text 3">
            <a:extLst xmlns:a="http://schemas.openxmlformats.org/drawingml/2006/main">
              <a:ext uri="{FF2B5EF4-FFF2-40B4-BE49-F238E27FC236}">
                <a16:creationId xmlns:a16="http://schemas.microsoft.com/office/drawing/2014/main" id="{97553CCF-DCB6-4046-9625-45CD4F386C56}"/>
              </a:ext>
            </a:extLst>
          </p:cNvPr>
          <p:cNvSpPr>
            <a:spLocks xmlns:a="http://schemas.openxmlformats.org/drawingml/2006/main" noGrp="1"/>
          </p:cNvSpPr>
          <p:nvPr/>
        </p:nvSpPr>
        <p:spPr>
          <a:xfrm xmlns:a="http://schemas.openxmlformats.org/drawingml/2006/main">
            <a:off x="548640" y="1024128"/>
            <a:ext cx="11094415"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600" b="1">
                <a:solidFill>
                  <a:srgbClr val="FFFFFF"/>
                </a:solidFill>
                <a:latin typeface="Poppins"/>
                <a:ea typeface="Poppins"/>
                <a:cs typeface="Poppins"/>
              </a:rPr>
              <a:t>Pursue — strong fit; win or lose on the commercial model</a:t>
            </a:r>
            <a:endParaRPr sz="2600"/>
          </a:p>
        </p:txBody>
      </p:sp>
      <p:sp>
        <p:nvSpPr>
          <p:cNvPr id="6" name="Shape 4">
            <a:extLst xmlns:a="http://schemas.openxmlformats.org/drawingml/2006/main">
              <a:ext uri="{FF2B5EF4-FFF2-40B4-BE49-F238E27FC236}">
                <a16:creationId xmlns:a16="http://schemas.microsoft.com/office/drawing/2014/main" id="{8518C81B-6E6B-41C2-B8D1-E3D877994964}"/>
              </a:ext>
            </a:extLst>
          </p:cNvPr>
          <p:cNvSpPr>
            <a:spLocks xmlns:a="http://schemas.openxmlformats.org/drawingml/2006/main" noGrp="1"/>
          </p:cNvSpPr>
          <p:nvPr/>
        </p:nvSpPr>
        <p:spPr>
          <a:xfrm xmlns:a="http://schemas.openxmlformats.org/drawingml/2006/main">
            <a:off x="548640" y="1847088"/>
            <a:ext cx="5257800" cy="4160520"/>
          </a:xfrm>
          <a:prstGeom xmlns:a="http://schemas.openxmlformats.org/drawingml/2006/main" prst="roundRect">
            <a:avLst>
              <a:gd name="adj" fmla="val 2418"/>
            </a:avLst>
          </a:prstGeom>
          <a:solidFill xmlns:a="http://schemas.openxmlformats.org/drawingml/2006/main">
            <a:srgbClr val="15304A"/>
          </a:solidFill>
        </p:spPr>
      </p:sp>
      <p:sp>
        <p:nvSpPr>
          <p:cNvPr id="7" name="Shape 5">
            <a:extLst xmlns:a="http://schemas.openxmlformats.org/drawingml/2006/main">
              <a:ext uri="{FF2B5EF4-FFF2-40B4-BE49-F238E27FC236}">
                <a16:creationId xmlns:a16="http://schemas.microsoft.com/office/drawing/2014/main" id="{60CDFC05-6843-4658-B8C7-DCE62FFDCE80}"/>
              </a:ext>
            </a:extLst>
          </p:cNvPr>
          <p:cNvSpPr>
            <a:spLocks xmlns:a="http://schemas.openxmlformats.org/drawingml/2006/main" noGrp="1"/>
          </p:cNvSpPr>
          <p:nvPr/>
        </p:nvSpPr>
        <p:spPr>
          <a:xfrm xmlns:a="http://schemas.openxmlformats.org/drawingml/2006/main">
            <a:off x="548640" y="1847088"/>
            <a:ext cx="5257800" cy="18288"/>
          </a:xfrm>
          <a:prstGeom xmlns:a="http://schemas.openxmlformats.org/drawingml/2006/main" prst="rect">
            <a:avLst/>
          </a:prstGeom>
          <a:solidFill xmlns:a="http://schemas.openxmlformats.org/drawingml/2006/main">
            <a:srgbClr val="15304A"/>
          </a:solidFill>
        </p:spPr>
      </p:sp>
      <p:sp>
        <p:nvSpPr>
          <p:cNvPr id="8" name="Text 6">
            <a:extLst xmlns:a="http://schemas.openxmlformats.org/drawingml/2006/main">
              <a:ext uri="{FF2B5EF4-FFF2-40B4-BE49-F238E27FC236}">
                <a16:creationId xmlns:a16="http://schemas.microsoft.com/office/drawing/2014/main" id="{C98EF4AB-633A-43AF-BAF9-50A32E42C582}"/>
              </a:ext>
            </a:extLst>
          </p:cNvPr>
          <p:cNvSpPr>
            <a:spLocks xmlns:a="http://schemas.openxmlformats.org/drawingml/2006/main" noGrp="1"/>
          </p:cNvSpPr>
          <p:nvPr/>
        </p:nvSpPr>
        <p:spPr>
          <a:xfrm xmlns:a="http://schemas.openxmlformats.org/drawingml/2006/main">
            <a:off x="822960" y="2029968"/>
            <a:ext cx="47548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100">
                <a:solidFill>
                  <a:srgbClr val="EE2B76"/>
                </a:solidFill>
                <a:latin typeface="Poppins"/>
                <a:ea typeface="Poppins"/>
                <a:cs typeface="Poppins"/>
              </a:rPr>
              <a:t>WHY WE SHOULD BID</a:t>
            </a:r>
            <a:endParaRPr sz="1200"/>
          </a:p>
        </p:txBody>
      </p:sp>
      <p:sp>
        <p:nvSpPr>
          <p:cNvPr id="9" name="Text 7">
            <a:extLst xmlns:a="http://schemas.openxmlformats.org/drawingml/2006/main">
              <a:ext uri="{FF2B5EF4-FFF2-40B4-BE49-F238E27FC236}">
                <a16:creationId xmlns:a16="http://schemas.microsoft.com/office/drawing/2014/main" id="{F8336B47-0962-4F56-ABDA-1B55E0FD48A9}"/>
              </a:ext>
            </a:extLst>
          </p:cNvPr>
          <p:cNvSpPr>
            <a:spLocks xmlns:a="http://schemas.openxmlformats.org/drawingml/2006/main" noGrp="1"/>
          </p:cNvSpPr>
          <p:nvPr/>
        </p:nvSpPr>
        <p:spPr>
          <a:xfrm xmlns:a="http://schemas.openxmlformats.org/drawingml/2006/main">
            <a:off x="841248" y="2395728"/>
            <a:ext cx="4709160" cy="3474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Displaces Vymo in a top-tier insurer and embeds our platform in the mSpace Super App — high strategic value.</a:t>
            </a:r>
            <a:endParaRPr sz="1150"/>
          </a:p>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Functional fit is native/configurable across AMS, LMS and Renewal; AI, mSpace-embed and offline are managed build-up.</a:t>
            </a:r>
            <a:endParaRPr sz="1150"/>
          </a:p>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Fixed-scope services at ₹4.36 Cr with the licence monetised separately — a clean, expandable commercial base.</a:t>
            </a:r>
            <a:endParaRPr sz="1150"/>
          </a:p>
          <a:p xmlns:a="http://schemas.openxmlformats.org/drawingml/2006/main">
            <a:pPr marL="165100" indent="-165100">
              <a:spcAft>
                <a:spcPts val="1000"/>
              </a:spcAft>
              <a:buSzPct val="100000"/>
              <a:buChar char="•"/>
            </a:pPr>
            <a:r>
              <a:rPr sz="1150">
                <a:solidFill>
                  <a:srgbClr val="E4EBF4"/>
                </a:solidFill>
                <a:latin typeface="Calibri"/>
                <a:ea typeface="Calibri"/>
                <a:cs typeface="Calibri"/>
              </a:rPr>
              <a:t>Volumes (22–25K + ~100K users, ₹375 Cr value) make this a flagship, reference-grade programme.</a:t>
            </a:r>
            <a:endParaRPr sz="1150"/>
          </a:p>
        </p:txBody>
      </p:sp>
      <p:sp>
        <p:nvSpPr>
          <p:cNvPr id="10" name="Shape 8">
            <a:extLst xmlns:a="http://schemas.openxmlformats.org/drawingml/2006/main">
              <a:ext uri="{FF2B5EF4-FFF2-40B4-BE49-F238E27FC236}">
                <a16:creationId xmlns:a16="http://schemas.microsoft.com/office/drawing/2014/main" id="{11B78A15-09E0-4706-8B12-9EF32F9DFFD1}"/>
              </a:ext>
            </a:extLst>
          </p:cNvPr>
          <p:cNvSpPr>
            <a:spLocks xmlns:a="http://schemas.openxmlformats.org/drawingml/2006/main" noGrp="1"/>
          </p:cNvSpPr>
          <p:nvPr/>
        </p:nvSpPr>
        <p:spPr>
          <a:xfrm xmlns:a="http://schemas.openxmlformats.org/drawingml/2006/main">
            <a:off x="6080760" y="1847088"/>
            <a:ext cx="5562295" cy="4160520"/>
          </a:xfrm>
          <a:prstGeom xmlns:a="http://schemas.openxmlformats.org/drawingml/2006/main" prst="roundRect">
            <a:avLst>
              <a:gd name="adj" fmla="val 2418"/>
            </a:avLst>
          </a:prstGeom>
          <a:solidFill xmlns:a="http://schemas.openxmlformats.org/drawingml/2006/main">
            <a:srgbClr val="EE2B76"/>
          </a:solidFill>
        </p:spPr>
      </p:sp>
      <p:sp>
        <p:nvSpPr>
          <p:cNvPr id="11" name="Text 9">
            <a:extLst xmlns:a="http://schemas.openxmlformats.org/drawingml/2006/main">
              <a:ext uri="{FF2B5EF4-FFF2-40B4-BE49-F238E27FC236}">
                <a16:creationId xmlns:a16="http://schemas.microsoft.com/office/drawing/2014/main" id="{68D0675E-CE7E-4298-9797-F9C5B46370D9}"/>
              </a:ext>
            </a:extLst>
          </p:cNvPr>
          <p:cNvSpPr>
            <a:spLocks xmlns:a="http://schemas.openxmlformats.org/drawingml/2006/main" noGrp="1"/>
          </p:cNvSpPr>
          <p:nvPr/>
        </p:nvSpPr>
        <p:spPr>
          <a:xfrm xmlns:a="http://schemas.openxmlformats.org/drawingml/2006/main">
            <a:off x="6355080" y="2029968"/>
            <a:ext cx="493776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spc="100">
                <a:solidFill>
                  <a:srgbClr val="FFFFFF"/>
                </a:solidFill>
                <a:latin typeface="Poppins"/>
                <a:ea typeface="Poppins"/>
                <a:cs typeface="Poppins"/>
              </a:rPr>
              <a:t>OPEN DECISIONS FOR LEADERSHIP</a:t>
            </a:r>
            <a:endParaRPr sz="1200"/>
          </a:p>
        </p:txBody>
      </p:sp>
      <p:sp>
        <p:nvSpPr>
          <p:cNvPr id="12" name="Text 10">
            <a:extLst xmlns:a="http://schemas.openxmlformats.org/drawingml/2006/main">
              <a:ext uri="{FF2B5EF4-FFF2-40B4-BE49-F238E27FC236}">
                <a16:creationId xmlns:a16="http://schemas.microsoft.com/office/drawing/2014/main" id="{2BB341C0-8B4A-4BFE-AFAD-0731BE2327D7}"/>
              </a:ext>
            </a:extLst>
          </p:cNvPr>
          <p:cNvSpPr>
            <a:spLocks xmlns:a="http://schemas.openxmlformats.org/drawingml/2006/main" noGrp="1"/>
          </p:cNvSpPr>
          <p:nvPr/>
        </p:nvSpPr>
        <p:spPr>
          <a:xfrm xmlns:a="http://schemas.openxmlformats.org/drawingml/2006/main">
            <a:off x="6373368" y="2395728"/>
            <a:ext cx="4977079" cy="3474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IP / source code — hold the ASPL position, or offer escrow / perpetual-licence to satisfy "ownership"?</a:t>
            </a:r>
            <a:endParaRPr sz="1150"/>
          </a:p>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Accept, negotiate or walk on the blockers (penalties, step-in, termination-for-cause, transfer assistance)?</a:t>
            </a:r>
            <a:endParaRPr sz="1150"/>
          </a:p>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Liability cap — defend 5% against AMLI’s unlimited / security-breach remit?</a:t>
            </a:r>
            <a:endParaRPr sz="1150"/>
          </a:p>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Confirm licence + infra commercials land in the transformation proposal and are sequenced with this SoW.</a:t>
            </a:r>
            <a:endParaRPr sz="1150"/>
          </a:p>
          <a:p xmlns:a="http://schemas.openxmlformats.org/drawingml/2006/main">
            <a:pPr marL="165100" indent="-165100">
              <a:spcAft>
                <a:spcPts val="1000"/>
              </a:spcAft>
              <a:buSzPct val="100000"/>
              <a:buChar char="•"/>
            </a:pPr>
            <a:r>
              <a:rPr sz="1150">
                <a:solidFill>
                  <a:srgbClr val="FFFFFF"/>
                </a:solidFill>
                <a:latin typeface="Calibri"/>
                <a:ea typeface="Calibri"/>
                <a:cs typeface="Calibri"/>
              </a:rPr>
              <a:t>Green-light staffing 15 resources / 158 PM from 1 Apr ’26 and name resources in the SoW?</a:t>
            </a:r>
            <a:endParaRPr sz="1150"/>
          </a:p>
        </p:txBody>
      </p:sp>
      <p:sp>
        <p:nvSpPr>
          <p:cNvPr id="13" name="Text 11">
            <a:extLst xmlns:a="http://schemas.openxmlformats.org/drawingml/2006/main">
              <a:ext uri="{FF2B5EF4-FFF2-40B4-BE49-F238E27FC236}">
                <a16:creationId xmlns:a16="http://schemas.microsoft.com/office/drawing/2014/main" id="{92A4B527-C1E5-4902-B4FC-87BF6C7FB0E1}"/>
              </a:ext>
            </a:extLst>
          </p:cNvPr>
          <p:cNvSpPr>
            <a:spLocks xmlns:a="http://schemas.openxmlformats.org/drawingml/2006/main" noGrp="1"/>
          </p:cNvSpPr>
          <p:nvPr/>
        </p:nvSpPr>
        <p:spPr>
          <a:xfrm xmlns:a="http://schemas.openxmlformats.org/drawingml/2006/main">
            <a:off x="548640" y="6199632"/>
            <a:ext cx="11094415"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b="1">
                <a:solidFill>
                  <a:srgbClr val="FFFFFF"/>
                </a:solidFill>
                <a:latin typeface="Poppins"/>
                <a:ea typeface="Poppins"/>
                <a:cs typeface="Poppins"/>
              </a:rPr>
              <a:t>Next steps:  </a:t>
            </a:r>
            <a:r>
              <a:rPr sz="1100">
                <a:solidFill>
                  <a:srgbClr val="A9B8CC"/>
                </a:solidFill>
                <a:latin typeface="Calibri"/>
                <a:ea typeface="Calibri"/>
                <a:cs typeface="Calibri"/>
              </a:rPr>
              <a:t>Deal-review sign-off → resolve blockers → finalise solution + commercials → submit 100%-compliant SoW response with named team.</a:t>
            </a:r>
            <a:endParaRPr sz="1100"/>
          </a:p>
        </p:txBody>
      </p:sp>
    </p:spTree>
    <p:extLst>
      <p:ext uri="{BB962C8B-B14F-4D97-AF65-F5344CB8AC3E}">
        <p14:creationId xmlns:p14="http://schemas.microsoft.com/office/powerpoint/2010/main" val="1757249684"/>
      </p:ext>
    </p:extLst>
  </p:cSld>
</p:sld>
</file>

<file path=ppt/slides/slide33.xml><?xml version="1.0" encoding="utf-8"?>
<p:sld xmlns:p="http://schemas.openxmlformats.org/presentationml/2006/main">
  <p:cSld>
    <p:bg>
      <p:bgPr>
        <a:solidFill xmlns:a="http://schemas.openxmlformats.org/drawingml/2006/main">
          <a:srgbClr val="1F3A5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98EDB08-C9AE-4378-B26B-1DE8924022D5}"/>
              </a:ext>
            </a:extLst>
          </p:cNvPr>
          <p:cNvSpPr>
            <a:spLocks xmlns:a="http://schemas.openxmlformats.org/drawingml/2006/main" noGrp="1"/>
          </p:cNvSpPr>
          <p:nvPr/>
        </p:nvSpPr>
        <p:spPr>
          <a:xfrm xmlns:a="http://schemas.openxmlformats.org/drawingml/2006/main">
            <a:off x="640080" y="6858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EE2B76"/>
                </a:solidFill>
                <a:latin typeface="Calibri"/>
                <a:ea typeface="Calibri"/>
                <a:cs typeface="Calibri"/>
              </a:rPr>
              <a:t>PRE-DEMO BRIEF  ·  PUNJAB NATIONAL BANK</a:t>
            </a:r>
            <a:endParaRPr sz="1200"/>
          </a:p>
        </p:txBody>
      </p:sp>
      <p:sp>
        <p:nvSpPr>
          <p:cNvPr id="3" name="Text 1">
            <a:extLst xmlns:a="http://schemas.openxmlformats.org/drawingml/2006/main">
              <a:ext uri="{FF2B5EF4-FFF2-40B4-BE49-F238E27FC236}">
                <a16:creationId xmlns:a16="http://schemas.microsoft.com/office/drawing/2014/main" id="{6595BD0E-6580-49EF-BB61-57C374DFC7F9}"/>
              </a:ext>
            </a:extLst>
          </p:cNvPr>
          <p:cNvSpPr>
            <a:spLocks xmlns:a="http://schemas.openxmlformats.org/drawingml/2006/main" noGrp="1"/>
          </p:cNvSpPr>
          <p:nvPr/>
        </p:nvSpPr>
        <p:spPr>
          <a:xfrm xmlns:a="http://schemas.openxmlformats.org/drawingml/2006/main">
            <a:off x="640080" y="1051560"/>
            <a:ext cx="1097280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400" b="1">
                <a:solidFill>
                  <a:srgbClr val="FFFFFF"/>
                </a:solidFill>
                <a:latin typeface="Poppins"/>
                <a:ea typeface="Poppins"/>
                <a:cs typeface="Poppins"/>
              </a:rPr>
              <a:t>RM Workbench: Decisioning Architecture</a:t>
            </a:r>
            <a:endParaRPr sz="3400"/>
          </a:p>
        </p:txBody>
      </p:sp>
      <p:sp>
        <p:nvSpPr>
          <p:cNvPr id="4" name="Text 2">
            <a:extLst xmlns:a="http://schemas.openxmlformats.org/drawingml/2006/main">
              <a:ext uri="{FF2B5EF4-FFF2-40B4-BE49-F238E27FC236}">
                <a16:creationId xmlns:a16="http://schemas.microsoft.com/office/drawing/2014/main" id="{D0BF1BE1-08F2-4F93-8B5C-EA9D4B8F802C}"/>
              </a:ext>
            </a:extLst>
          </p:cNvPr>
          <p:cNvSpPr>
            <a:spLocks xmlns:a="http://schemas.openxmlformats.org/drawingml/2006/main" noGrp="1"/>
          </p:cNvSpPr>
          <p:nvPr/>
        </p:nvSpPr>
        <p:spPr>
          <a:xfrm xmlns:a="http://schemas.openxmlformats.org/drawingml/2006/main">
            <a:off x="640080" y="2331720"/>
            <a:ext cx="109728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2B76"/>
                </a:solidFill>
                <a:latin typeface="Calibri"/>
                <a:ea typeface="Calibri"/>
                <a:cs typeface="Calibri"/>
              </a:rPr>
              <a:t>One engine, two clocks.  </a:t>
            </a:r>
            <a:r>
              <a:rPr sz="1800">
                <a:solidFill>
                  <a:srgbClr val="CADCFC"/>
                </a:solidFill>
                <a:latin typeface="Calibri"/>
                <a:ea typeface="Calibri"/>
                <a:cs typeface="Calibri"/>
              </a:rPr>
              <a:t>The two prioritised scope items are served by a single decisioning core — not two systems.</a:t>
            </a:r>
            <a:endParaRPr sz="1800"/>
          </a:p>
        </p:txBody>
      </p:sp>
      <p:sp>
        <p:nvSpPr>
          <p:cNvPr id="5" name="Shape 3">
            <a:extLst xmlns:a="http://schemas.openxmlformats.org/drawingml/2006/main">
              <a:ext uri="{FF2B5EF4-FFF2-40B4-BE49-F238E27FC236}">
                <a16:creationId xmlns:a16="http://schemas.microsoft.com/office/drawing/2014/main" id="{ECEA0614-3355-4E05-80F8-64D2F6607F32}"/>
              </a:ext>
            </a:extLst>
          </p:cNvPr>
          <p:cNvSpPr>
            <a:spLocks xmlns:a="http://schemas.openxmlformats.org/drawingml/2006/main" noGrp="1"/>
          </p:cNvSpPr>
          <p:nvPr/>
        </p:nvSpPr>
        <p:spPr>
          <a:xfrm xmlns:a="http://schemas.openxmlformats.org/drawingml/2006/main">
            <a:off x="640080" y="3520440"/>
            <a:ext cx="3794760" cy="1783080"/>
          </a:xfrm>
          <a:prstGeom xmlns:a="http://schemas.openxmlformats.org/drawingml/2006/main" prst="roundRect">
            <a:avLst>
              <a:gd name="adj" fmla="val 4615"/>
            </a:avLst>
          </a:prstGeom>
          <a:solidFill xmlns:a="http://schemas.openxmlformats.org/drawingml/2006/main">
            <a:srgbClr val="2E4A6B"/>
          </a:solidFill>
        </p:spPr>
      </p:sp>
      <p:sp>
        <p:nvSpPr>
          <p:cNvPr id="6" name="Text 4">
            <a:extLst xmlns:a="http://schemas.openxmlformats.org/drawingml/2006/main">
              <a:ext uri="{FF2B5EF4-FFF2-40B4-BE49-F238E27FC236}">
                <a16:creationId xmlns:a16="http://schemas.microsoft.com/office/drawing/2014/main" id="{7B470582-13AE-4605-B3A5-549CA74C1CFE}"/>
              </a:ext>
            </a:extLst>
          </p:cNvPr>
          <p:cNvSpPr>
            <a:spLocks xmlns:a="http://schemas.openxmlformats.org/drawingml/2006/main" noGrp="1"/>
          </p:cNvSpPr>
          <p:nvPr/>
        </p:nvSpPr>
        <p:spPr>
          <a:xfrm xmlns:a="http://schemas.openxmlformats.org/drawingml/2006/main">
            <a:off x="868680" y="3675888"/>
            <a:ext cx="3383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2B76"/>
                </a:solidFill>
                <a:latin typeface="Poppins"/>
                <a:ea typeface="Poppins"/>
                <a:cs typeface="Poppins"/>
              </a:rPr>
              <a:t>Planned clock</a:t>
            </a:r>
            <a:endParaRPr sz="1500"/>
          </a:p>
        </p:txBody>
      </p:sp>
      <p:sp>
        <p:nvSpPr>
          <p:cNvPr id="7" name="Text 5">
            <a:extLst xmlns:a="http://schemas.openxmlformats.org/drawingml/2006/main">
              <a:ext uri="{FF2B5EF4-FFF2-40B4-BE49-F238E27FC236}">
                <a16:creationId xmlns:a16="http://schemas.microsoft.com/office/drawing/2014/main" id="{D9F5A815-1D59-4A3C-81B6-024BFC126475}"/>
              </a:ext>
            </a:extLst>
          </p:cNvPr>
          <p:cNvSpPr>
            <a:spLocks xmlns:a="http://schemas.openxmlformats.org/drawingml/2006/main" noGrp="1"/>
          </p:cNvSpPr>
          <p:nvPr/>
        </p:nvSpPr>
        <p:spPr>
          <a:xfrm xmlns:a="http://schemas.openxmlformats.org/drawingml/2006/main">
            <a:off x="868680" y="400507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overnight  →  09:00</a:t>
            </a:r>
            <a:endParaRPr sz="1100"/>
          </a:p>
        </p:txBody>
      </p:sp>
      <p:sp>
        <p:nvSpPr>
          <p:cNvPr id="8" name="Text 6">
            <a:extLst xmlns:a="http://schemas.openxmlformats.org/drawingml/2006/main">
              <a:ext uri="{FF2B5EF4-FFF2-40B4-BE49-F238E27FC236}">
                <a16:creationId xmlns:a16="http://schemas.microsoft.com/office/drawing/2014/main" id="{5CC1C425-9C16-421E-B610-364BFFD2E115}"/>
              </a:ext>
            </a:extLst>
          </p:cNvPr>
          <p:cNvSpPr>
            <a:spLocks xmlns:a="http://schemas.openxmlformats.org/drawingml/2006/main" noGrp="1"/>
          </p:cNvSpPr>
          <p:nvPr/>
        </p:nvSpPr>
        <p:spPr>
          <a:xfrm xmlns:a="http://schemas.openxmlformats.org/drawingml/2006/main">
            <a:off x="868680" y="4297680"/>
            <a:ext cx="33832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FFFFFF"/>
                </a:solidFill>
                <a:latin typeface="Calibri"/>
                <a:ea typeface="Calibri"/>
                <a:cs typeface="Calibri"/>
              </a:rPr>
              <a:t>Customer profile + offer management / next best action</a:t>
            </a:r>
            <a:endParaRPr sz="1350"/>
          </a:p>
        </p:txBody>
      </p:sp>
      <p:sp>
        <p:nvSpPr>
          <p:cNvPr id="9" name="Shape 7">
            <a:extLst xmlns:a="http://schemas.openxmlformats.org/drawingml/2006/main">
              <a:ext uri="{FF2B5EF4-FFF2-40B4-BE49-F238E27FC236}">
                <a16:creationId xmlns:a16="http://schemas.microsoft.com/office/drawing/2014/main" id="{C9E144D4-EA30-43E5-A0EC-1246B1470974}"/>
              </a:ext>
            </a:extLst>
          </p:cNvPr>
          <p:cNvSpPr>
            <a:spLocks xmlns:a="http://schemas.openxmlformats.org/drawingml/2006/main" noGrp="1"/>
          </p:cNvSpPr>
          <p:nvPr/>
        </p:nvSpPr>
        <p:spPr>
          <a:xfrm xmlns:a="http://schemas.openxmlformats.org/drawingml/2006/main">
            <a:off x="7754112" y="3520440"/>
            <a:ext cx="3794760" cy="1783080"/>
          </a:xfrm>
          <a:prstGeom xmlns:a="http://schemas.openxmlformats.org/drawingml/2006/main" prst="roundRect">
            <a:avLst>
              <a:gd name="adj" fmla="val 4615"/>
            </a:avLst>
          </a:prstGeom>
          <a:solidFill xmlns:a="http://schemas.openxmlformats.org/drawingml/2006/main">
            <a:srgbClr val="2E4A6B"/>
          </a:solidFill>
        </p:spPr>
      </p:sp>
      <p:sp>
        <p:nvSpPr>
          <p:cNvPr id="10" name="Text 8">
            <a:extLst xmlns:a="http://schemas.openxmlformats.org/drawingml/2006/main">
              <a:ext uri="{FF2B5EF4-FFF2-40B4-BE49-F238E27FC236}">
                <a16:creationId xmlns:a16="http://schemas.microsoft.com/office/drawing/2014/main" id="{BEC87A65-5902-43DE-88BC-46C83973D531}"/>
              </a:ext>
            </a:extLst>
          </p:cNvPr>
          <p:cNvSpPr>
            <a:spLocks xmlns:a="http://schemas.openxmlformats.org/drawingml/2006/main" noGrp="1"/>
          </p:cNvSpPr>
          <p:nvPr/>
        </p:nvSpPr>
        <p:spPr>
          <a:xfrm xmlns:a="http://schemas.openxmlformats.org/drawingml/2006/main">
            <a:off x="7982712" y="3675888"/>
            <a:ext cx="33832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2B76"/>
                </a:solidFill>
                <a:latin typeface="Poppins"/>
                <a:ea typeface="Poppins"/>
                <a:cs typeface="Poppins"/>
              </a:rPr>
              <a:t>Reactive clock</a:t>
            </a:r>
            <a:endParaRPr sz="1500"/>
          </a:p>
        </p:txBody>
      </p:sp>
      <p:sp>
        <p:nvSpPr>
          <p:cNvPr id="11" name="Text 9">
            <a:extLst xmlns:a="http://schemas.openxmlformats.org/drawingml/2006/main">
              <a:ext uri="{FF2B5EF4-FFF2-40B4-BE49-F238E27FC236}">
                <a16:creationId xmlns:a16="http://schemas.microsoft.com/office/drawing/2014/main" id="{C1D5E46E-3484-49CF-A12E-29165F940A43}"/>
              </a:ext>
            </a:extLst>
          </p:cNvPr>
          <p:cNvSpPr>
            <a:spLocks xmlns:a="http://schemas.openxmlformats.org/drawingml/2006/main" noGrp="1"/>
          </p:cNvSpPr>
          <p:nvPr/>
        </p:nvSpPr>
        <p:spPr>
          <a:xfrm xmlns:a="http://schemas.openxmlformats.org/drawingml/2006/main">
            <a:off x="7982712" y="4005072"/>
            <a:ext cx="33832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i="1">
                <a:solidFill>
                  <a:srgbClr val="CADCFC"/>
                </a:solidFill>
                <a:latin typeface="Calibri"/>
                <a:ea typeface="Calibri"/>
                <a:cs typeface="Calibri"/>
              </a:rPr>
              <a:t>seconds  ·  intraday</a:t>
            </a:r>
            <a:endParaRPr sz="1100"/>
          </a:p>
        </p:txBody>
      </p:sp>
      <p:sp>
        <p:nvSpPr>
          <p:cNvPr id="12" name="Text 10">
            <a:extLst xmlns:a="http://schemas.openxmlformats.org/drawingml/2006/main">
              <a:ext uri="{FF2B5EF4-FFF2-40B4-BE49-F238E27FC236}">
                <a16:creationId xmlns:a16="http://schemas.microsoft.com/office/drawing/2014/main" id="{EC8FF5BA-F5F6-469A-BA5E-D8FA20E00B83}"/>
              </a:ext>
            </a:extLst>
          </p:cNvPr>
          <p:cNvSpPr>
            <a:spLocks xmlns:a="http://schemas.openxmlformats.org/drawingml/2006/main" noGrp="1"/>
          </p:cNvSpPr>
          <p:nvPr/>
        </p:nvSpPr>
        <p:spPr>
          <a:xfrm xmlns:a="http://schemas.openxmlformats.org/drawingml/2006/main">
            <a:off x="7982712" y="4297680"/>
            <a:ext cx="338328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50">
                <a:solidFill>
                  <a:srgbClr val="FFFFFF"/>
                </a:solidFill>
                <a:latin typeface="Calibri"/>
                <a:ea typeface="Calibri"/>
                <a:cs typeface="Calibri"/>
              </a:rPr>
              <a:t>Intelligent insights &amp; nudges for cross-sell / up-sell</a:t>
            </a:r>
            <a:endParaRPr sz="1350"/>
          </a:p>
        </p:txBody>
      </p:sp>
      <p:sp>
        <p:nvSpPr>
          <p:cNvPr id="13" name="Shape 11">
            <a:extLst xmlns:a="http://schemas.openxmlformats.org/drawingml/2006/main">
              <a:ext uri="{FF2B5EF4-FFF2-40B4-BE49-F238E27FC236}">
                <a16:creationId xmlns:a16="http://schemas.microsoft.com/office/drawing/2014/main" id="{56C9A534-494D-43C6-B922-57E6A317F2FE}"/>
              </a:ext>
            </a:extLst>
          </p:cNvPr>
          <p:cNvSpPr>
            <a:spLocks xmlns:a="http://schemas.openxmlformats.org/drawingml/2006/main" noGrp="1"/>
          </p:cNvSpPr>
          <p:nvPr/>
        </p:nvSpPr>
        <p:spPr>
          <a:xfrm xmlns:a="http://schemas.openxmlformats.org/drawingml/2006/main">
            <a:off x="4956048" y="4069080"/>
            <a:ext cx="2286000" cy="777240"/>
          </a:xfrm>
          <a:prstGeom xmlns:a="http://schemas.openxmlformats.org/drawingml/2006/main" prst="roundRect">
            <a:avLst>
              <a:gd name="adj" fmla="val 14118"/>
            </a:avLst>
          </a:prstGeom>
          <a:solidFill xmlns:a="http://schemas.openxmlformats.org/drawingml/2006/main">
            <a:srgbClr val="EE2B76"/>
          </a:solidFill>
        </p:spPr>
      </p:sp>
      <p:sp>
        <p:nvSpPr>
          <p:cNvPr id="14" name="Text 12">
            <a:extLst xmlns:a="http://schemas.openxmlformats.org/drawingml/2006/main">
              <a:ext uri="{FF2B5EF4-FFF2-40B4-BE49-F238E27FC236}">
                <a16:creationId xmlns:a16="http://schemas.microsoft.com/office/drawing/2014/main" id="{E51BEE44-8B0A-4D78-9160-9E9290CAB369}"/>
              </a:ext>
            </a:extLst>
          </p:cNvPr>
          <p:cNvSpPr>
            <a:spLocks xmlns:a="http://schemas.openxmlformats.org/drawingml/2006/main" noGrp="1"/>
          </p:cNvSpPr>
          <p:nvPr/>
        </p:nvSpPr>
        <p:spPr>
          <a:xfrm xmlns:a="http://schemas.openxmlformats.org/drawingml/2006/main">
            <a:off x="4956048" y="4069080"/>
            <a:ext cx="228600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FFFFFF"/>
                </a:solidFill>
                <a:latin typeface="Poppins"/>
                <a:ea typeface="Poppins"/>
                <a:cs typeface="Poppins"/>
              </a:rPr>
              <a:t>One decisioning</a:t>
            </a:r>
            <a:endParaRPr sz="1300"/>
          </a:p>
          <a:p xmlns:a="http://schemas.openxmlformats.org/drawingml/2006/main">
            <a:pPr marL="0" indent="0" algn="ctr">
              <a:buNone/>
            </a:pPr>
            <a:r>
              <a:rPr sz="1300" b="1">
                <a:solidFill>
                  <a:srgbClr val="FFFFFF"/>
                </a:solidFill>
                <a:latin typeface="Poppins"/>
                <a:ea typeface="Poppins"/>
                <a:cs typeface="Poppins"/>
              </a:rPr>
              <a:t>core</a:t>
            </a:r>
            <a:endParaRPr sz="1300"/>
          </a:p>
        </p:txBody>
      </p:sp>
      <p:sp>
        <p:nvSpPr>
          <p:cNvPr id="15" name="Shape 13">
            <a:extLst xmlns:a="http://schemas.openxmlformats.org/drawingml/2006/main">
              <a:ext uri="{FF2B5EF4-FFF2-40B4-BE49-F238E27FC236}">
                <a16:creationId xmlns:a16="http://schemas.microsoft.com/office/drawing/2014/main" id="{BFCB8E02-FF4F-4CDD-A72D-D2738E474B14}"/>
              </a:ext>
            </a:extLst>
          </p:cNvPr>
          <p:cNvSpPr>
            <a:spLocks xmlns:a="http://schemas.openxmlformats.org/drawingml/2006/main" noGrp="1"/>
          </p:cNvSpPr>
          <p:nvPr/>
        </p:nvSpPr>
        <p:spPr>
          <a:xfrm xmlns:a="http://schemas.openxmlformats.org/drawingml/2006/main">
            <a:off x="4480560" y="4453128"/>
            <a:ext cx="457200" cy="0"/>
          </a:xfrm>
          <a:prstGeom xmlns:a="http://schemas.openxmlformats.org/drawingml/2006/main" prst="line">
            <a:avLst/>
          </a:prstGeom>
          <a:noFill xmlns:a="http://schemas.openxmlformats.org/drawingml/2006/main"/>
          <a:ln xmlns:a="http://schemas.openxmlformats.org/drawingml/2006/main" w="22225">
            <a:solidFill>
              <a:srgbClr val="CADCFC"/>
            </a:solidFill>
            <a:prstDash val="solid"/>
            <a:tailEnd type="triangle"/>
          </a:ln>
        </p:spPr>
      </p:sp>
      <p:sp>
        <p:nvSpPr>
          <p:cNvPr id="16" name="Shape 14">
            <a:extLst xmlns:a="http://schemas.openxmlformats.org/drawingml/2006/main">
              <a:ext uri="{FF2B5EF4-FFF2-40B4-BE49-F238E27FC236}">
                <a16:creationId xmlns:a16="http://schemas.microsoft.com/office/drawing/2014/main" id="{06107AD1-6836-4B48-9920-E49829E1FE46}"/>
              </a:ext>
            </a:extLst>
          </p:cNvPr>
          <p:cNvSpPr>
            <a:spLocks xmlns:a="http://schemas.openxmlformats.org/drawingml/2006/main" noGrp="1"/>
          </p:cNvSpPr>
          <p:nvPr/>
        </p:nvSpPr>
        <p:spPr>
          <a:xfrm xmlns:a="http://schemas.openxmlformats.org/drawingml/2006/main" flipH="1">
            <a:off x="7278624" y="4453128"/>
            <a:ext cx="457200" cy="0"/>
          </a:xfrm>
          <a:prstGeom xmlns:a="http://schemas.openxmlformats.org/drawingml/2006/main" prst="line">
            <a:avLst/>
          </a:prstGeom>
          <a:noFill xmlns:a="http://schemas.openxmlformats.org/drawingml/2006/main"/>
          <a:ln xmlns:a="http://schemas.openxmlformats.org/drawingml/2006/main" w="22225">
            <a:solidFill>
              <a:srgbClr val="CADCFC"/>
            </a:solidFill>
            <a:prstDash val="solid"/>
            <a:tailEnd type="triangle"/>
          </a:ln>
        </p:spPr>
      </p:sp>
      <p:sp>
        <p:nvSpPr>
          <p:cNvPr id="17" name="Text 15">
            <a:extLst xmlns:a="http://schemas.openxmlformats.org/drawingml/2006/main">
              <a:ext uri="{FF2B5EF4-FFF2-40B4-BE49-F238E27FC236}">
                <a16:creationId xmlns:a16="http://schemas.microsoft.com/office/drawing/2014/main" id="{5740A393-E85C-47AC-80D4-5A6E5B8E0C27}"/>
              </a:ext>
            </a:extLst>
          </p:cNvPr>
          <p:cNvSpPr>
            <a:spLocks xmlns:a="http://schemas.openxmlformats.org/drawingml/2006/main" noGrp="1"/>
          </p:cNvSpPr>
          <p:nvPr/>
        </p:nvSpPr>
        <p:spPr>
          <a:xfrm xmlns:a="http://schemas.openxmlformats.org/drawingml/2006/main">
            <a:off x="640080" y="5715000"/>
            <a:ext cx="109728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rgbClr val="FFFFFF"/>
                </a:solidFill>
                <a:latin typeface="Calibri"/>
                <a:ea typeface="Calibri"/>
                <a:cs typeface="Calibri"/>
              </a:rPr>
              <a:t>PNB already owns the CRM.  </a:t>
            </a:r>
            <a:r>
              <a:rPr sz="1400">
                <a:solidFill>
                  <a:srgbClr val="CADCFC"/>
                </a:solidFill>
                <a:latin typeface="Calibri"/>
                <a:ea typeface="Calibri"/>
                <a:cs typeface="Calibri"/>
              </a:rPr>
              <a:t>The RM Workbench switches on the intelligence-and-action layer above it — the “explore more, empower the RM” step, with nothing ripped out.</a:t>
            </a:r>
            <a:endParaRPr sz="1400"/>
          </a:p>
        </p:txBody>
      </p:sp>
    </p:spTree>
    <p:extLst>
      <p:ext uri="{BB962C8B-B14F-4D97-AF65-F5344CB8AC3E}">
        <p14:creationId xmlns:p14="http://schemas.microsoft.com/office/powerpoint/2010/main" val="16852003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34B455-85D3-4158-BCE5-456CBBE52B7A}"/>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EE2B76"/>
                </a:solidFill>
                <a:latin typeface="Calibri"/>
                <a:ea typeface="Calibri"/>
                <a:cs typeface="Calibri"/>
              </a:rPr>
              <a:t>THE ARCHITECTURE</a:t>
            </a:r>
            <a:endParaRPr sz="1200"/>
          </a:p>
        </p:txBody>
      </p:sp>
      <p:sp>
        <p:nvSpPr>
          <p:cNvPr id="3" name="Text 1">
            <a:extLst xmlns:a="http://schemas.openxmlformats.org/drawingml/2006/main">
              <a:ext uri="{FF2B5EF4-FFF2-40B4-BE49-F238E27FC236}">
                <a16:creationId xmlns:a16="http://schemas.microsoft.com/office/drawing/2014/main" id="{583978A6-AF3E-4DEC-9AE9-0883B9AD9D82}"/>
              </a:ext>
            </a:extLst>
          </p:cNvPr>
          <p:cNvSpPr>
            <a:spLocks xmlns:a="http://schemas.openxmlformats.org/drawingml/2006/main" noGrp="1"/>
          </p:cNvSpPr>
          <p:nvPr/>
        </p:nvSpPr>
        <p:spPr>
          <a:xfrm xmlns:a="http://schemas.openxmlformats.org/drawingml/2006/main">
            <a:off x="548640" y="777240"/>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F3A5F"/>
                </a:solidFill>
                <a:latin typeface="Poppins"/>
                <a:ea typeface="Poppins"/>
                <a:cs typeface="Poppins"/>
              </a:rPr>
              <a:t>One intelligence layer on top of what PNB owns</a:t>
            </a:r>
            <a:endParaRPr sz="2700"/>
          </a:p>
        </p:txBody>
      </p:sp>
      <p:sp>
        <p:nvSpPr>
          <p:cNvPr id="4" name="Text 2">
            <a:extLst xmlns:a="http://schemas.openxmlformats.org/drawingml/2006/main">
              <a:ext uri="{FF2B5EF4-FFF2-40B4-BE49-F238E27FC236}">
                <a16:creationId xmlns:a16="http://schemas.microsoft.com/office/drawing/2014/main" id="{99547712-5F26-4C13-B1D9-7D3DFA69C4D4}"/>
              </a:ext>
            </a:extLst>
          </p:cNvPr>
          <p:cNvSpPr>
            <a:spLocks xmlns:a="http://schemas.openxmlformats.org/drawingml/2006/main" noGrp="1"/>
          </p:cNvSpPr>
          <p:nvPr/>
        </p:nvSpPr>
        <p:spPr>
          <a:xfrm xmlns:a="http://schemas.openxmlformats.org/drawingml/2006/main">
            <a:off x="548640" y="1371600"/>
            <a:ext cx="110642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595959"/>
                </a:solidFill>
                <a:latin typeface="Calibri"/>
                <a:ea typeface="Calibri"/>
                <a:cs typeface="Calibri"/>
              </a:rPr>
              <a:t>The magenta band is the shared decisioning core behind both prioritised scope items.</a:t>
            </a:r>
            <a:endParaRPr sz="14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a844e215aeda4973"/>
          <a:stretch xmlns:a="http://schemas.openxmlformats.org/drawingml/2006/main">
            <a:fillRect l="0" t="0" r="0" b="0"/>
          </a:stretch>
        </p:blipFill>
        <p:spPr>
          <a:xfrm xmlns:a="http://schemas.openxmlformats.org/drawingml/2006/main">
            <a:off x="502920" y="1828800"/>
            <a:ext cx="7498080" cy="4325112"/>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DAC49F81-10CA-49A7-B8AE-29FD95B70F36}"/>
              </a:ext>
            </a:extLst>
          </p:cNvPr>
          <p:cNvSpPr>
            <a:spLocks xmlns:a="http://schemas.openxmlformats.org/drawingml/2006/main" noGrp="1"/>
          </p:cNvSpPr>
          <p:nvPr/>
        </p:nvSpPr>
        <p:spPr>
          <a:xfrm xmlns:a="http://schemas.openxmlformats.org/drawingml/2006/main">
            <a:off x="8321040" y="1828800"/>
            <a:ext cx="3291840" cy="1298448"/>
          </a:xfrm>
          <a:prstGeom xmlns:a="http://schemas.openxmlformats.org/drawingml/2006/main" prst="roundRect">
            <a:avLst>
              <a:gd name="adj" fmla="val 5634"/>
            </a:avLst>
          </a:prstGeom>
          <a:solidFill xmlns:a="http://schemas.openxmlformats.org/drawingml/2006/main">
            <a:srgbClr val="F5F2F0"/>
          </a:solidFill>
        </p:spPr>
      </p:sp>
      <p:sp>
        <p:nvSpPr>
          <p:cNvPr id="7" name="Text 4">
            <a:extLst xmlns:a="http://schemas.openxmlformats.org/drawingml/2006/main">
              <a:ext uri="{FF2B5EF4-FFF2-40B4-BE49-F238E27FC236}">
                <a16:creationId xmlns:a16="http://schemas.microsoft.com/office/drawing/2014/main" id="{CEA8557B-6BAA-4BD7-808F-4FAEC660F9E9}"/>
              </a:ext>
            </a:extLst>
          </p:cNvPr>
          <p:cNvSpPr>
            <a:spLocks xmlns:a="http://schemas.openxmlformats.org/drawingml/2006/main" noGrp="1"/>
          </p:cNvSpPr>
          <p:nvPr/>
        </p:nvSpPr>
        <p:spPr>
          <a:xfrm xmlns:a="http://schemas.openxmlformats.org/drawingml/2006/main">
            <a:off x="8549640" y="1947672"/>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E2B76"/>
                </a:solidFill>
                <a:latin typeface="Poppins"/>
                <a:ea typeface="Poppins"/>
                <a:cs typeface="Poppins"/>
              </a:rPr>
              <a:t>Nothing is ripped out</a:t>
            </a:r>
            <a:endParaRPr sz="1450"/>
          </a:p>
        </p:txBody>
      </p:sp>
      <p:sp>
        <p:nvSpPr>
          <p:cNvPr id="8" name="Text 5">
            <a:extLst xmlns:a="http://schemas.openxmlformats.org/drawingml/2006/main">
              <a:ext uri="{FF2B5EF4-FFF2-40B4-BE49-F238E27FC236}">
                <a16:creationId xmlns:a16="http://schemas.microsoft.com/office/drawing/2014/main" id="{49BB1443-7D04-4A5A-B9AA-1CC18B14DC9A}"/>
              </a:ext>
            </a:extLst>
          </p:cNvPr>
          <p:cNvSpPr>
            <a:spLocks xmlns:a="http://schemas.openxmlformats.org/drawingml/2006/main" noGrp="1"/>
          </p:cNvSpPr>
          <p:nvPr/>
        </p:nvSpPr>
        <p:spPr>
          <a:xfrm xmlns:a="http://schemas.openxmlformats.org/drawingml/2006/main">
            <a:off x="8549640" y="2304288"/>
            <a:ext cx="288036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262626"/>
                </a:solidFill>
                <a:latin typeface="Calibri"/>
                <a:ea typeface="Calibri"/>
                <a:cs typeface="Calibri"/>
              </a:rPr>
              <a:t>Core banking, lending, wealth, cards and bureau/KYC stay the systems of record.</a:t>
            </a:r>
            <a:endParaRPr sz="1250"/>
          </a:p>
        </p:txBody>
      </p:sp>
      <p:sp>
        <p:nvSpPr>
          <p:cNvPr id="9" name="Shape 6">
            <a:extLst xmlns:a="http://schemas.openxmlformats.org/drawingml/2006/main">
              <a:ext uri="{FF2B5EF4-FFF2-40B4-BE49-F238E27FC236}">
                <a16:creationId xmlns:a16="http://schemas.microsoft.com/office/drawing/2014/main" id="{32869F5E-6F9A-4375-95C8-490DABA5F27C}"/>
              </a:ext>
            </a:extLst>
          </p:cNvPr>
          <p:cNvSpPr>
            <a:spLocks xmlns:a="http://schemas.openxmlformats.org/drawingml/2006/main" noGrp="1"/>
          </p:cNvSpPr>
          <p:nvPr/>
        </p:nvSpPr>
        <p:spPr>
          <a:xfrm xmlns:a="http://schemas.openxmlformats.org/drawingml/2006/main">
            <a:off x="8321040" y="3346704"/>
            <a:ext cx="3291840" cy="1298448"/>
          </a:xfrm>
          <a:prstGeom xmlns:a="http://schemas.openxmlformats.org/drawingml/2006/main" prst="roundRect">
            <a:avLst>
              <a:gd name="adj" fmla="val 5634"/>
            </a:avLst>
          </a:prstGeom>
          <a:solidFill xmlns:a="http://schemas.openxmlformats.org/drawingml/2006/main">
            <a:srgbClr val="F5F2F0"/>
          </a:solidFill>
        </p:spPr>
      </p:sp>
      <p:sp>
        <p:nvSpPr>
          <p:cNvPr id="10" name="Text 7">
            <a:extLst xmlns:a="http://schemas.openxmlformats.org/drawingml/2006/main">
              <a:ext uri="{FF2B5EF4-FFF2-40B4-BE49-F238E27FC236}">
                <a16:creationId xmlns:a16="http://schemas.microsoft.com/office/drawing/2014/main" id="{EA919196-09FE-48BD-A865-A6BADEA54C9B}"/>
              </a:ext>
            </a:extLst>
          </p:cNvPr>
          <p:cNvSpPr>
            <a:spLocks xmlns:a="http://schemas.openxmlformats.org/drawingml/2006/main" noGrp="1"/>
          </p:cNvSpPr>
          <p:nvPr/>
        </p:nvSpPr>
        <p:spPr>
          <a:xfrm xmlns:a="http://schemas.openxmlformats.org/drawingml/2006/main">
            <a:off x="8549640" y="3465576"/>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E2B76"/>
                </a:solidFill>
                <a:latin typeface="Poppins"/>
                <a:ea typeface="Poppins"/>
                <a:cs typeface="Poppins"/>
              </a:rPr>
              <a:t>One engine, two clocks</a:t>
            </a:r>
            <a:endParaRPr sz="1450"/>
          </a:p>
        </p:txBody>
      </p:sp>
      <p:sp>
        <p:nvSpPr>
          <p:cNvPr id="11" name="Text 8">
            <a:extLst xmlns:a="http://schemas.openxmlformats.org/drawingml/2006/main">
              <a:ext uri="{FF2B5EF4-FFF2-40B4-BE49-F238E27FC236}">
                <a16:creationId xmlns:a16="http://schemas.microsoft.com/office/drawing/2014/main" id="{15C77CF7-8A1A-4586-A4DD-8571B9BAA2B5}"/>
              </a:ext>
            </a:extLst>
          </p:cNvPr>
          <p:cNvSpPr>
            <a:spLocks xmlns:a="http://schemas.openxmlformats.org/drawingml/2006/main" noGrp="1"/>
          </p:cNvSpPr>
          <p:nvPr/>
        </p:nvSpPr>
        <p:spPr>
          <a:xfrm xmlns:a="http://schemas.openxmlformats.org/drawingml/2006/main">
            <a:off x="8549640" y="3822192"/>
            <a:ext cx="288036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262626"/>
                </a:solidFill>
                <a:latin typeface="Calibri"/>
                <a:ea typeface="Calibri"/>
                <a:cs typeface="Calibri"/>
              </a:rPr>
              <a:t>The core serves the planned day-plan and the reactive nudge alike.</a:t>
            </a:r>
            <a:endParaRPr sz="1250"/>
          </a:p>
        </p:txBody>
      </p:sp>
      <p:sp>
        <p:nvSpPr>
          <p:cNvPr id="12" name="Shape 9">
            <a:extLst xmlns:a="http://schemas.openxmlformats.org/drawingml/2006/main">
              <a:ext uri="{FF2B5EF4-FFF2-40B4-BE49-F238E27FC236}">
                <a16:creationId xmlns:a16="http://schemas.microsoft.com/office/drawing/2014/main" id="{CA120B1B-A7B3-4094-AECC-6E8651846BE0}"/>
              </a:ext>
            </a:extLst>
          </p:cNvPr>
          <p:cNvSpPr>
            <a:spLocks xmlns:a="http://schemas.openxmlformats.org/drawingml/2006/main" noGrp="1"/>
          </p:cNvSpPr>
          <p:nvPr/>
        </p:nvSpPr>
        <p:spPr>
          <a:xfrm xmlns:a="http://schemas.openxmlformats.org/drawingml/2006/main">
            <a:off x="8321040" y="4864608"/>
            <a:ext cx="3291840" cy="1298448"/>
          </a:xfrm>
          <a:prstGeom xmlns:a="http://schemas.openxmlformats.org/drawingml/2006/main" prst="roundRect">
            <a:avLst>
              <a:gd name="adj" fmla="val 5634"/>
            </a:avLst>
          </a:prstGeom>
          <a:solidFill xmlns:a="http://schemas.openxmlformats.org/drawingml/2006/main">
            <a:srgbClr val="F5F2F0"/>
          </a:solidFill>
        </p:spPr>
      </p:sp>
      <p:sp>
        <p:nvSpPr>
          <p:cNvPr id="13" name="Text 10">
            <a:extLst xmlns:a="http://schemas.openxmlformats.org/drawingml/2006/main">
              <a:ext uri="{FF2B5EF4-FFF2-40B4-BE49-F238E27FC236}">
                <a16:creationId xmlns:a16="http://schemas.microsoft.com/office/drawing/2014/main" id="{F1CF3DBD-6AE8-40E2-9EA4-71D592C5328C}"/>
              </a:ext>
            </a:extLst>
          </p:cNvPr>
          <p:cNvSpPr>
            <a:spLocks xmlns:a="http://schemas.openxmlformats.org/drawingml/2006/main" noGrp="1"/>
          </p:cNvSpPr>
          <p:nvPr/>
        </p:nvSpPr>
        <p:spPr>
          <a:xfrm xmlns:a="http://schemas.openxmlformats.org/drawingml/2006/main">
            <a:off x="8549640" y="4983480"/>
            <a:ext cx="29260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E2B76"/>
                </a:solidFill>
                <a:latin typeface="Poppins"/>
                <a:ea typeface="Poppins"/>
                <a:cs typeface="Poppins"/>
              </a:rPr>
              <a:t>The explore-more layer</a:t>
            </a:r>
            <a:endParaRPr sz="1450"/>
          </a:p>
        </p:txBody>
      </p:sp>
      <p:sp>
        <p:nvSpPr>
          <p:cNvPr id="14" name="Text 11">
            <a:extLst xmlns:a="http://schemas.openxmlformats.org/drawingml/2006/main">
              <a:ext uri="{FF2B5EF4-FFF2-40B4-BE49-F238E27FC236}">
                <a16:creationId xmlns:a16="http://schemas.microsoft.com/office/drawing/2014/main" id="{7E19F464-4544-4E21-AED6-A121A2076804}"/>
              </a:ext>
            </a:extLst>
          </p:cNvPr>
          <p:cNvSpPr>
            <a:spLocks xmlns:a="http://schemas.openxmlformats.org/drawingml/2006/main" noGrp="1"/>
          </p:cNvSpPr>
          <p:nvPr/>
        </p:nvSpPr>
        <p:spPr>
          <a:xfrm xmlns:a="http://schemas.openxmlformats.org/drawingml/2006/main">
            <a:off x="8549640" y="5340096"/>
            <a:ext cx="2880360"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262626"/>
                </a:solidFill>
                <a:latin typeface="Calibri"/>
                <a:ea typeface="Calibri"/>
                <a:cs typeface="Calibri"/>
              </a:rPr>
              <a:t>Intelligence + orchestration that multiplies the CRM PNB already owns.</a:t>
            </a:r>
            <a:endParaRPr sz="1250"/>
          </a:p>
        </p:txBody>
      </p:sp>
    </p:spTree>
    <p:extLst>
      <p:ext uri="{BB962C8B-B14F-4D97-AF65-F5344CB8AC3E}">
        <p14:creationId xmlns:p14="http://schemas.microsoft.com/office/powerpoint/2010/main" val="77556597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8DFB69E-4DB2-4E5E-BF99-C7843DDCF879}"/>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EE2B76"/>
                </a:solidFill>
                <a:latin typeface="Calibri"/>
                <a:ea typeface="Calibri"/>
                <a:cs typeface="Calibri"/>
              </a:rPr>
              <a:t>IN PRODUCTION</a:t>
            </a:r>
            <a:endParaRPr sz="1200"/>
          </a:p>
        </p:txBody>
      </p:sp>
      <p:sp>
        <p:nvSpPr>
          <p:cNvPr id="3" name="Text 1">
            <a:extLst xmlns:a="http://schemas.openxmlformats.org/drawingml/2006/main">
              <a:ext uri="{FF2B5EF4-FFF2-40B4-BE49-F238E27FC236}">
                <a16:creationId xmlns:a16="http://schemas.microsoft.com/office/drawing/2014/main" id="{70101C8C-12AF-4344-B9D2-A111F6065587}"/>
              </a:ext>
            </a:extLst>
          </p:cNvPr>
          <p:cNvSpPr>
            <a:spLocks xmlns:a="http://schemas.openxmlformats.org/drawingml/2006/main" noGrp="1"/>
          </p:cNvSpPr>
          <p:nvPr/>
        </p:nvSpPr>
        <p:spPr>
          <a:xfrm xmlns:a="http://schemas.openxmlformats.org/drawingml/2006/main">
            <a:off x="548640" y="777240"/>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F3A5F"/>
                </a:solidFill>
                <a:latin typeface="Poppins"/>
                <a:ea typeface="Poppins"/>
                <a:cs typeface="Poppins"/>
              </a:rPr>
              <a:t>How it runs — two clocks over one engine</a:t>
            </a:r>
            <a:endParaRPr sz="2700"/>
          </a:p>
        </p:txBody>
      </p:sp>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8793276386274325"/>
          <a:stretch xmlns:a="http://schemas.openxmlformats.org/drawingml/2006/main">
            <a:fillRect l="0" t="0" r="0" b="0"/>
          </a:stretch>
        </p:blipFill>
        <p:spPr>
          <a:xfrm xmlns:a="http://schemas.openxmlformats.org/drawingml/2006/main">
            <a:off x="1335024" y="1417320"/>
            <a:ext cx="9509760" cy="4087368"/>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C8E8FCFA-6FFF-4C45-9DB3-27AB6A474789}"/>
              </a:ext>
            </a:extLst>
          </p:cNvPr>
          <p:cNvSpPr>
            <a:spLocks xmlns:a="http://schemas.openxmlformats.org/drawingml/2006/main" noGrp="1"/>
          </p:cNvSpPr>
          <p:nvPr/>
        </p:nvSpPr>
        <p:spPr>
          <a:xfrm xmlns:a="http://schemas.openxmlformats.org/drawingml/2006/main">
            <a:off x="640080" y="5623560"/>
            <a:ext cx="5257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E2B76"/>
                </a:solidFill>
                <a:latin typeface="Poppins"/>
                <a:ea typeface="Poppins"/>
                <a:cs typeface="Poppins"/>
              </a:rPr>
              <a:t>Planned clock — overnight → 9am</a:t>
            </a:r>
            <a:endParaRPr sz="1450"/>
          </a:p>
        </p:txBody>
      </p:sp>
      <p:sp>
        <p:nvSpPr>
          <p:cNvPr id="6" name="Text 3">
            <a:extLst xmlns:a="http://schemas.openxmlformats.org/drawingml/2006/main">
              <a:ext uri="{FF2B5EF4-FFF2-40B4-BE49-F238E27FC236}">
                <a16:creationId xmlns:a16="http://schemas.microsoft.com/office/drawing/2014/main" id="{597EBEA4-77AB-44D1-A6D0-0C7C06A8BF24}"/>
              </a:ext>
            </a:extLst>
          </p:cNvPr>
          <p:cNvSpPr>
            <a:spLocks xmlns:a="http://schemas.openxmlformats.org/drawingml/2006/main" noGrp="1"/>
          </p:cNvSpPr>
          <p:nvPr/>
        </p:nvSpPr>
        <p:spPr>
          <a:xfrm xmlns:a="http://schemas.openxmlformats.org/drawingml/2006/main">
            <a:off x="640080" y="5943600"/>
            <a:ext cx="5349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262626"/>
                </a:solidFill>
                <a:latin typeface="Calibri"/>
                <a:ea typeface="Calibri"/>
                <a:cs typeface="Calibri"/>
              </a:rPr>
              <a:t>Rajiv’s ₹12L TD maturing 26 Aug surfaces overnight; scored, gated (a higher-margin offer suppressed on suitability), ranked to the top of the day plan by 9am.</a:t>
            </a:r>
            <a:endParaRPr sz="1250"/>
          </a:p>
        </p:txBody>
      </p:sp>
      <p:sp>
        <p:nvSpPr>
          <p:cNvPr id="7" name="Text 4">
            <a:extLst xmlns:a="http://schemas.openxmlformats.org/drawingml/2006/main">
              <a:ext uri="{FF2B5EF4-FFF2-40B4-BE49-F238E27FC236}">
                <a16:creationId xmlns:a16="http://schemas.microsoft.com/office/drawing/2014/main" id="{280A54EE-CE38-408D-9A87-EF64D4F92754}"/>
              </a:ext>
            </a:extLst>
          </p:cNvPr>
          <p:cNvSpPr>
            <a:spLocks xmlns:a="http://schemas.openxmlformats.org/drawingml/2006/main" noGrp="1"/>
          </p:cNvSpPr>
          <p:nvPr/>
        </p:nvSpPr>
        <p:spPr>
          <a:xfrm xmlns:a="http://schemas.openxmlformats.org/drawingml/2006/main">
            <a:off x="6263640" y="5623560"/>
            <a:ext cx="5257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E2B76"/>
                </a:solidFill>
                <a:latin typeface="Poppins"/>
                <a:ea typeface="Poppins"/>
                <a:cs typeface="Poppins"/>
              </a:rPr>
              <a:t>Reactive clock — seconds, intraday</a:t>
            </a:r>
            <a:endParaRPr sz="1450"/>
          </a:p>
        </p:txBody>
      </p:sp>
      <p:sp>
        <p:nvSpPr>
          <p:cNvPr id="8" name="Text 5">
            <a:extLst xmlns:a="http://schemas.openxmlformats.org/drawingml/2006/main">
              <a:ext uri="{FF2B5EF4-FFF2-40B4-BE49-F238E27FC236}">
                <a16:creationId xmlns:a16="http://schemas.microsoft.com/office/drawing/2014/main" id="{DE2C86D7-742F-4749-A401-1A913AAB37C1}"/>
              </a:ext>
            </a:extLst>
          </p:cNvPr>
          <p:cNvSpPr>
            <a:spLocks xmlns:a="http://schemas.openxmlformats.org/drawingml/2006/main" noGrp="1"/>
          </p:cNvSpPr>
          <p:nvPr/>
        </p:nvSpPr>
        <p:spPr>
          <a:xfrm xmlns:a="http://schemas.openxmlformats.org/drawingml/2006/main">
            <a:off x="6263640" y="5943600"/>
            <a:ext cx="534924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rgbClr val="262626"/>
                </a:solidFill>
                <a:latin typeface="Calibri"/>
                <a:ea typeface="Calibri"/>
                <a:cs typeface="Calibri"/>
              </a:rPr>
              <a:t>A large credit lands mid-morning; the event fires an idle-funds nudge into the RM’s queue within seconds — while the money is still in play.</a:t>
            </a:r>
            <a:endParaRPr sz="1250"/>
          </a:p>
        </p:txBody>
      </p:sp>
    </p:spTree>
    <p:extLst>
      <p:ext uri="{BB962C8B-B14F-4D97-AF65-F5344CB8AC3E}">
        <p14:creationId xmlns:p14="http://schemas.microsoft.com/office/powerpoint/2010/main" val="40702476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ED146D-6E53-4FF9-9709-975EBEB0AA92}"/>
              </a:ext>
            </a:extLst>
          </p:cNvPr>
          <p:cNvSpPr>
            <a:spLocks xmlns:a="http://schemas.openxmlformats.org/drawingml/2006/main" noGrp="1"/>
          </p:cNvSpPr>
          <p:nvPr/>
        </p:nvSpPr>
        <p:spPr>
          <a:xfrm xmlns:a="http://schemas.openxmlformats.org/drawingml/2006/main">
            <a:off x="548640" y="45720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200">
                <a:solidFill>
                  <a:srgbClr val="EE2B76"/>
                </a:solidFill>
                <a:latin typeface="Calibri"/>
                <a:ea typeface="Calibri"/>
                <a:cs typeface="Calibri"/>
              </a:rPr>
              <a:t>THE DECISION</a:t>
            </a:r>
            <a:endParaRPr sz="1200"/>
          </a:p>
        </p:txBody>
      </p:sp>
      <p:sp>
        <p:nvSpPr>
          <p:cNvPr id="3" name="Text 1">
            <a:extLst xmlns:a="http://schemas.openxmlformats.org/drawingml/2006/main">
              <a:ext uri="{FF2B5EF4-FFF2-40B4-BE49-F238E27FC236}">
                <a16:creationId xmlns:a16="http://schemas.microsoft.com/office/drawing/2014/main" id="{8671BFD6-A968-4502-AB25-45EE3190C0E6}"/>
              </a:ext>
            </a:extLst>
          </p:cNvPr>
          <p:cNvSpPr>
            <a:spLocks xmlns:a="http://schemas.openxmlformats.org/drawingml/2006/main" noGrp="1"/>
          </p:cNvSpPr>
          <p:nvPr/>
        </p:nvSpPr>
        <p:spPr>
          <a:xfrm xmlns:a="http://schemas.openxmlformats.org/drawingml/2006/main">
            <a:off x="548640" y="777240"/>
            <a:ext cx="1106424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700" b="1">
                <a:solidFill>
                  <a:srgbClr val="1F3A5F"/>
                </a:solidFill>
                <a:latin typeface="Poppins"/>
                <a:ea typeface="Poppins"/>
                <a:cs typeface="Poppins"/>
              </a:rPr>
              <a:t>How the next best action is chosen</a:t>
            </a:r>
            <a:endParaRPr sz="27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b21c14f164fb4787"/>
          <a:stretch xmlns:a="http://schemas.openxmlformats.org/drawingml/2006/main">
            <a:fillRect l="0" t="0" r="0" b="0"/>
          </a:stretch>
        </p:blipFill>
        <p:spPr>
          <a:xfrm xmlns:a="http://schemas.openxmlformats.org/drawingml/2006/main">
            <a:off x="1060704" y="1371600"/>
            <a:ext cx="10058400" cy="346557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E00D795D-D8D4-4A14-B309-562AB6A00E6F}"/>
              </a:ext>
            </a:extLst>
          </p:cNvPr>
          <p:cNvSpPr>
            <a:spLocks xmlns:a="http://schemas.openxmlformats.org/drawingml/2006/main" noGrp="1"/>
          </p:cNvSpPr>
          <p:nvPr/>
        </p:nvSpPr>
        <p:spPr>
          <a:xfrm xmlns:a="http://schemas.openxmlformats.org/drawingml/2006/main">
            <a:off x="548640" y="4983480"/>
            <a:ext cx="3538728" cy="1051560"/>
          </a:xfrm>
          <a:prstGeom xmlns:a="http://schemas.openxmlformats.org/drawingml/2006/main" prst="roundRect">
            <a:avLst>
              <a:gd name="adj" fmla="val 6957"/>
            </a:avLst>
          </a:prstGeom>
          <a:solidFill xmlns:a="http://schemas.openxmlformats.org/drawingml/2006/main">
            <a:srgbClr val="F5F2F0"/>
          </a:solidFill>
        </p:spPr>
      </p:sp>
      <p:sp>
        <p:nvSpPr>
          <p:cNvPr id="6" name="Text 3">
            <a:extLst xmlns:a="http://schemas.openxmlformats.org/drawingml/2006/main">
              <a:ext uri="{FF2B5EF4-FFF2-40B4-BE49-F238E27FC236}">
                <a16:creationId xmlns:a16="http://schemas.microsoft.com/office/drawing/2014/main" id="{94DBEEBB-21C7-4A63-A6D6-F19FC5D25857}"/>
              </a:ext>
            </a:extLst>
          </p:cNvPr>
          <p:cNvSpPr>
            <a:spLocks xmlns:a="http://schemas.openxmlformats.org/drawingml/2006/main" noGrp="1"/>
          </p:cNvSpPr>
          <p:nvPr/>
        </p:nvSpPr>
        <p:spPr>
          <a:xfrm xmlns:a="http://schemas.openxmlformats.org/drawingml/2006/main">
            <a:off x="749808" y="5084064"/>
            <a:ext cx="3154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E2B76"/>
                </a:solidFill>
                <a:latin typeface="Poppins"/>
                <a:ea typeface="Poppins"/>
                <a:cs typeface="Poppins"/>
              </a:rPr>
              <a:t>Hard gates, not weights</a:t>
            </a:r>
            <a:endParaRPr sz="1350"/>
          </a:p>
        </p:txBody>
      </p:sp>
      <p:sp>
        <p:nvSpPr>
          <p:cNvPr id="7" name="Text 4">
            <a:extLst xmlns:a="http://schemas.openxmlformats.org/drawingml/2006/main">
              <a:ext uri="{FF2B5EF4-FFF2-40B4-BE49-F238E27FC236}">
                <a16:creationId xmlns:a16="http://schemas.microsoft.com/office/drawing/2014/main" id="{9968A794-E603-4984-BB09-C32C59144443}"/>
              </a:ext>
            </a:extLst>
          </p:cNvPr>
          <p:cNvSpPr>
            <a:spLocks xmlns:a="http://schemas.openxmlformats.org/drawingml/2006/main" noGrp="1"/>
          </p:cNvSpPr>
          <p:nvPr/>
        </p:nvSpPr>
        <p:spPr>
          <a:xfrm xmlns:a="http://schemas.openxmlformats.org/drawingml/2006/main">
            <a:off x="749808" y="5394960"/>
            <a:ext cx="31546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62626"/>
                </a:solidFill>
                <a:latin typeface="Calibri"/>
                <a:ea typeface="Calibri"/>
                <a:cs typeface="Calibri"/>
              </a:rPr>
              <a:t>Eligibility, suitability &amp; consent can remove an action entirely — never out-weighed by margin.</a:t>
            </a:r>
            <a:endParaRPr sz="1200"/>
          </a:p>
        </p:txBody>
      </p:sp>
      <p:sp>
        <p:nvSpPr>
          <p:cNvPr id="8" name="Shape 5">
            <a:extLst xmlns:a="http://schemas.openxmlformats.org/drawingml/2006/main">
              <a:ext uri="{FF2B5EF4-FFF2-40B4-BE49-F238E27FC236}">
                <a16:creationId xmlns:a16="http://schemas.microsoft.com/office/drawing/2014/main" id="{3C15088D-7248-479D-BBAD-BB924E03171F}"/>
              </a:ext>
            </a:extLst>
          </p:cNvPr>
          <p:cNvSpPr>
            <a:spLocks xmlns:a="http://schemas.openxmlformats.org/drawingml/2006/main" noGrp="1"/>
          </p:cNvSpPr>
          <p:nvPr/>
        </p:nvSpPr>
        <p:spPr>
          <a:xfrm xmlns:a="http://schemas.openxmlformats.org/drawingml/2006/main">
            <a:off x="4325112" y="4983480"/>
            <a:ext cx="3538728" cy="1051560"/>
          </a:xfrm>
          <a:prstGeom xmlns:a="http://schemas.openxmlformats.org/drawingml/2006/main" prst="roundRect">
            <a:avLst>
              <a:gd name="adj" fmla="val 6957"/>
            </a:avLst>
          </a:prstGeom>
          <a:solidFill xmlns:a="http://schemas.openxmlformats.org/drawingml/2006/main">
            <a:srgbClr val="F5F2F0"/>
          </a:solidFill>
        </p:spPr>
      </p:sp>
      <p:sp>
        <p:nvSpPr>
          <p:cNvPr id="9" name="Text 6">
            <a:extLst xmlns:a="http://schemas.openxmlformats.org/drawingml/2006/main">
              <a:ext uri="{FF2B5EF4-FFF2-40B4-BE49-F238E27FC236}">
                <a16:creationId xmlns:a16="http://schemas.microsoft.com/office/drawing/2014/main" id="{5070E44E-F68E-4021-87A0-69A8A33154C2}"/>
              </a:ext>
            </a:extLst>
          </p:cNvPr>
          <p:cNvSpPr>
            <a:spLocks xmlns:a="http://schemas.openxmlformats.org/drawingml/2006/main" noGrp="1"/>
          </p:cNvSpPr>
          <p:nvPr/>
        </p:nvSpPr>
        <p:spPr>
          <a:xfrm xmlns:a="http://schemas.openxmlformats.org/drawingml/2006/main">
            <a:off x="4526280" y="5084064"/>
            <a:ext cx="3154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E2B76"/>
                </a:solidFill>
                <a:latin typeface="Poppins"/>
                <a:ea typeface="Poppins"/>
                <a:cs typeface="Poppins"/>
              </a:rPr>
              <a:t>Retention outranks the sale</a:t>
            </a:r>
            <a:endParaRPr sz="1350"/>
          </a:p>
        </p:txBody>
      </p:sp>
      <p:sp>
        <p:nvSpPr>
          <p:cNvPr id="10" name="Text 7">
            <a:extLst xmlns:a="http://schemas.openxmlformats.org/drawingml/2006/main">
              <a:ext uri="{FF2B5EF4-FFF2-40B4-BE49-F238E27FC236}">
                <a16:creationId xmlns:a16="http://schemas.microsoft.com/office/drawing/2014/main" id="{946ABC19-271A-4043-88AC-A257021063D4}"/>
              </a:ext>
            </a:extLst>
          </p:cNvPr>
          <p:cNvSpPr>
            <a:spLocks xmlns:a="http://schemas.openxmlformats.org/drawingml/2006/main" noGrp="1"/>
          </p:cNvSpPr>
          <p:nvPr/>
        </p:nvSpPr>
        <p:spPr>
          <a:xfrm xmlns:a="http://schemas.openxmlformats.org/drawingml/2006/main">
            <a:off x="4526280" y="5394960"/>
            <a:ext cx="31546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62626"/>
                </a:solidFill>
                <a:latin typeface="Calibri"/>
                <a:ea typeface="Calibri"/>
                <a:cs typeface="Calibri"/>
              </a:rPr>
              <a:t>Above a churn-risk threshold, “call this at-risk customer” beats any cross-sell.</a:t>
            </a:r>
            <a:endParaRPr sz="1200"/>
          </a:p>
        </p:txBody>
      </p:sp>
      <p:sp>
        <p:nvSpPr>
          <p:cNvPr id="11" name="Shape 8">
            <a:extLst xmlns:a="http://schemas.openxmlformats.org/drawingml/2006/main">
              <a:ext uri="{FF2B5EF4-FFF2-40B4-BE49-F238E27FC236}">
                <a16:creationId xmlns:a16="http://schemas.microsoft.com/office/drawing/2014/main" id="{8E5C1856-1213-4392-B178-6D6F38B2F9E0}"/>
              </a:ext>
            </a:extLst>
          </p:cNvPr>
          <p:cNvSpPr>
            <a:spLocks xmlns:a="http://schemas.openxmlformats.org/drawingml/2006/main" noGrp="1"/>
          </p:cNvSpPr>
          <p:nvPr/>
        </p:nvSpPr>
        <p:spPr>
          <a:xfrm xmlns:a="http://schemas.openxmlformats.org/drawingml/2006/main">
            <a:off x="8101584" y="4983480"/>
            <a:ext cx="3538728" cy="1051560"/>
          </a:xfrm>
          <a:prstGeom xmlns:a="http://schemas.openxmlformats.org/drawingml/2006/main" prst="roundRect">
            <a:avLst>
              <a:gd name="adj" fmla="val 6957"/>
            </a:avLst>
          </a:prstGeom>
          <a:solidFill xmlns:a="http://schemas.openxmlformats.org/drawingml/2006/main">
            <a:srgbClr val="F5F2F0"/>
          </a:solidFill>
        </p:spPr>
      </p:sp>
      <p:sp>
        <p:nvSpPr>
          <p:cNvPr id="12" name="Text 9">
            <a:extLst xmlns:a="http://schemas.openxmlformats.org/drawingml/2006/main">
              <a:ext uri="{FF2B5EF4-FFF2-40B4-BE49-F238E27FC236}">
                <a16:creationId xmlns:a16="http://schemas.microsoft.com/office/drawing/2014/main" id="{3391A399-4401-4981-9757-50058C15EE11}"/>
              </a:ext>
            </a:extLst>
          </p:cNvPr>
          <p:cNvSpPr>
            <a:spLocks xmlns:a="http://schemas.openxmlformats.org/drawingml/2006/main" noGrp="1"/>
          </p:cNvSpPr>
          <p:nvPr/>
        </p:nvSpPr>
        <p:spPr>
          <a:xfrm xmlns:a="http://schemas.openxmlformats.org/drawingml/2006/main">
            <a:off x="8302752" y="5084064"/>
            <a:ext cx="3154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EE2B76"/>
                </a:solidFill>
                <a:latin typeface="Poppins"/>
                <a:ea typeface="Poppins"/>
                <a:cs typeface="Poppins"/>
              </a:rPr>
              <a:t>Closed loop</a:t>
            </a:r>
            <a:endParaRPr sz="1350"/>
          </a:p>
        </p:txBody>
      </p:sp>
      <p:sp>
        <p:nvSpPr>
          <p:cNvPr id="13" name="Text 10">
            <a:extLst xmlns:a="http://schemas.openxmlformats.org/drawingml/2006/main">
              <a:ext uri="{FF2B5EF4-FFF2-40B4-BE49-F238E27FC236}">
                <a16:creationId xmlns:a16="http://schemas.microsoft.com/office/drawing/2014/main" id="{33CE39E9-997A-44B2-A3B2-4DF011771160}"/>
              </a:ext>
            </a:extLst>
          </p:cNvPr>
          <p:cNvSpPr>
            <a:spLocks xmlns:a="http://schemas.openxmlformats.org/drawingml/2006/main" noGrp="1"/>
          </p:cNvSpPr>
          <p:nvPr/>
        </p:nvSpPr>
        <p:spPr>
          <a:xfrm xmlns:a="http://schemas.openxmlformats.org/drawingml/2006/main">
            <a:off x="8302752" y="5394960"/>
            <a:ext cx="315468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rgbClr val="262626"/>
                </a:solidFill>
                <a:latin typeface="Calibri"/>
                <a:ea typeface="Calibri"/>
                <a:cs typeface="Calibri"/>
              </a:rPr>
              <a:t>Every outcome retrains the models — the ROI case is measured on PNB’s own pilot data.</a:t>
            </a:r>
            <a:endParaRPr sz="1200"/>
          </a:p>
        </p:txBody>
      </p:sp>
      <p:sp>
        <p:nvSpPr>
          <p:cNvPr id="14" name="Shape 11">
            <a:extLst xmlns:a="http://schemas.openxmlformats.org/drawingml/2006/main">
              <a:ext uri="{FF2B5EF4-FFF2-40B4-BE49-F238E27FC236}">
                <a16:creationId xmlns:a16="http://schemas.microsoft.com/office/drawing/2014/main" id="{A5CE18D1-130F-4926-8DBD-1657A51FB551}"/>
              </a:ext>
            </a:extLst>
          </p:cNvPr>
          <p:cNvSpPr>
            <a:spLocks xmlns:a="http://schemas.openxmlformats.org/drawingml/2006/main" noGrp="1"/>
          </p:cNvSpPr>
          <p:nvPr/>
        </p:nvSpPr>
        <p:spPr>
          <a:xfrm xmlns:a="http://schemas.openxmlformats.org/drawingml/2006/main">
            <a:off x="548640" y="6199632"/>
            <a:ext cx="11091672" cy="475488"/>
          </a:xfrm>
          <a:prstGeom xmlns:a="http://schemas.openxmlformats.org/drawingml/2006/main" prst="roundRect">
            <a:avLst>
              <a:gd name="adj" fmla="val 11538"/>
            </a:avLst>
          </a:prstGeom>
          <a:solidFill xmlns:a="http://schemas.openxmlformats.org/drawingml/2006/main">
            <a:srgbClr val="FBD4E3"/>
          </a:solidFill>
        </p:spPr>
      </p:sp>
      <p:sp>
        <p:nvSpPr>
          <p:cNvPr id="15" name="Text 12">
            <a:extLst xmlns:a="http://schemas.openxmlformats.org/drawingml/2006/main">
              <a:ext uri="{FF2B5EF4-FFF2-40B4-BE49-F238E27FC236}">
                <a16:creationId xmlns:a16="http://schemas.microsoft.com/office/drawing/2014/main" id="{568C9F04-B307-4413-BA97-C9797DDC5FA8}"/>
              </a:ext>
            </a:extLst>
          </p:cNvPr>
          <p:cNvSpPr>
            <a:spLocks xmlns:a="http://schemas.openxmlformats.org/drawingml/2006/main" noGrp="1"/>
          </p:cNvSpPr>
          <p:nvPr/>
        </p:nvSpPr>
        <p:spPr>
          <a:xfrm xmlns:a="http://schemas.openxmlformats.org/drawingml/2006/main">
            <a:off x="777240" y="6199632"/>
            <a:ext cx="1069848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A1540"/>
                </a:solidFill>
                <a:latin typeface="Calibri"/>
                <a:ea typeface="Calibri"/>
                <a:cs typeface="Calibri"/>
              </a:rPr>
              <a:t>Confirm before positioning as PNB-specific:  </a:t>
            </a:r>
            <a:r>
              <a:rPr sz="1200">
                <a:solidFill>
                  <a:srgbClr val="7A1540"/>
                </a:solidFill>
                <a:latin typeface="Calibri"/>
                <a:ea typeface="Calibri"/>
                <a:cs typeface="Calibri"/>
              </a:rPr>
              <a:t>source-system integration mechanism, licensed-module boundary, and treat benchmark figures as benchmarks — not committed SLAs.</a:t>
            </a:r>
            <a:endParaRPr sz="1200"/>
          </a:p>
        </p:txBody>
      </p:sp>
    </p:spTree>
    <p:extLst>
      <p:ext uri="{BB962C8B-B14F-4D97-AF65-F5344CB8AC3E}">
        <p14:creationId xmlns:p14="http://schemas.microsoft.com/office/powerpoint/2010/main" val="999746075"/>
      </p:ext>
    </p:extLst>
  </p:cSld>
</p:sld>
</file>

<file path=ppt/slides/slide3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2C79356-EA94-4B2D-B672-B1300CF79867}"/>
              </a:ext>
            </a:extLst>
          </p:cNvPr>
          <p:cNvSpPr>
            <a:spLocks xmlns:a="http://schemas.openxmlformats.org/drawingml/2006/main" noGrp="1"/>
          </p:cNvSpPr>
          <p:nvPr/>
        </p:nvSpPr>
        <p:spPr>
          <a:xfrm xmlns:a="http://schemas.openxmlformats.org/drawingml/2006/main">
            <a:off x="566928" y="137160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INDEX  ·  READ THIS FIRST</a:t>
            </a:r>
            <a:endParaRPr sz="950"/>
          </a:p>
        </p:txBody>
      </p:sp>
      <p:sp>
        <p:nvSpPr>
          <p:cNvPr id="3" name="Text 1">
            <a:extLst xmlns:a="http://schemas.openxmlformats.org/drawingml/2006/main">
              <a:ext uri="{FF2B5EF4-FFF2-40B4-BE49-F238E27FC236}">
                <a16:creationId xmlns:a16="http://schemas.microsoft.com/office/drawing/2014/main" id="{CE8D5DA1-3EF8-47B0-BCB3-305DD1E9DE43}"/>
              </a:ext>
            </a:extLst>
          </p:cNvPr>
          <p:cNvSpPr>
            <a:spLocks xmlns:a="http://schemas.openxmlformats.org/drawingml/2006/main" noGrp="1"/>
          </p:cNvSpPr>
          <p:nvPr/>
        </p:nvSpPr>
        <p:spPr>
          <a:xfrm xmlns:a="http://schemas.openxmlformats.org/drawingml/2006/main">
            <a:off x="566928" y="1792224"/>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rgbClr val="FFFFFF"/>
                </a:solidFill>
                <a:latin typeface="Arial"/>
                <a:ea typeface="Arial"/>
                <a:cs typeface="Arial"/>
              </a:rPr>
              <a:t>Thirty decks</a:t>
            </a:r>
            <a:endParaRPr sz="4000"/>
          </a:p>
        </p:txBody>
      </p:sp>
      <p:sp>
        <p:nvSpPr>
          <p:cNvPr id="4" name="Text 2">
            <a:extLst xmlns:a="http://schemas.openxmlformats.org/drawingml/2006/main">
              <a:ext uri="{FF2B5EF4-FFF2-40B4-BE49-F238E27FC236}">
                <a16:creationId xmlns:a16="http://schemas.microsoft.com/office/drawing/2014/main" id="{781A66A7-7BBC-4644-BC09-61F0CD139A63}"/>
              </a:ext>
            </a:extLst>
          </p:cNvPr>
          <p:cNvSpPr>
            <a:spLocks xmlns:a="http://schemas.openxmlformats.org/drawingml/2006/main" noGrp="1"/>
          </p:cNvSpPr>
          <p:nvPr/>
        </p:nvSpPr>
        <p:spPr>
          <a:xfrm xmlns:a="http://schemas.openxmlformats.org/drawingml/2006/main">
            <a:off x="566928" y="2578608"/>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C9D8E8"/>
                </a:solidFill>
                <a:latin typeface="Arial"/>
                <a:ea typeface="Arial"/>
                <a:cs typeface="Arial"/>
              </a:rPr>
              <a:t>BFSI delivery at 16 institutions, solution and analysis at 9 more, 2018–2026</a:t>
            </a:r>
            <a:endParaRPr sz="1800"/>
          </a:p>
        </p:txBody>
      </p:sp>
      <p:sp>
        <p:nvSpPr>
          <p:cNvPr id="5" name="Shape 3">
            <a:extLst xmlns:a="http://schemas.openxmlformats.org/drawingml/2006/main">
              <a:ext uri="{FF2B5EF4-FFF2-40B4-BE49-F238E27FC236}">
                <a16:creationId xmlns:a16="http://schemas.microsoft.com/office/drawing/2014/main" id="{32F46BD8-7AFB-40D2-ADF2-88D20F23B264}"/>
              </a:ext>
            </a:extLst>
          </p:cNvPr>
          <p:cNvSpPr>
            <a:spLocks xmlns:a="http://schemas.openxmlformats.org/drawingml/2006/main" noGrp="1"/>
          </p:cNvSpPr>
          <p:nvPr/>
        </p:nvSpPr>
        <p:spPr>
          <a:xfrm xmlns:a="http://schemas.openxmlformats.org/drawingml/2006/main">
            <a:off x="566928" y="329184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6" name="Text 4">
            <a:extLst xmlns:a="http://schemas.openxmlformats.org/drawingml/2006/main">
              <a:ext uri="{FF2B5EF4-FFF2-40B4-BE49-F238E27FC236}">
                <a16:creationId xmlns:a16="http://schemas.microsoft.com/office/drawing/2014/main" id="{B5F591AF-6D19-44D9-A079-5C633E3C6BA5}"/>
              </a:ext>
            </a:extLst>
          </p:cNvPr>
          <p:cNvSpPr>
            <a:spLocks xmlns:a="http://schemas.openxmlformats.org/drawingml/2006/main" noGrp="1"/>
          </p:cNvSpPr>
          <p:nvPr/>
        </p:nvSpPr>
        <p:spPr>
          <a:xfrm xmlns:a="http://schemas.openxmlformats.org/drawingml/2006/main">
            <a:off x="566928" y="3511296"/>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30</a:t>
            </a:r>
            <a:endParaRPr sz="2800"/>
          </a:p>
        </p:txBody>
      </p:sp>
      <p:sp>
        <p:nvSpPr>
          <p:cNvPr id="7" name="Text 5">
            <a:extLst xmlns:a="http://schemas.openxmlformats.org/drawingml/2006/main">
              <a:ext uri="{FF2B5EF4-FFF2-40B4-BE49-F238E27FC236}">
                <a16:creationId xmlns:a16="http://schemas.microsoft.com/office/drawing/2014/main" id="{4F21EC10-1636-4FB4-BC3E-10081F4B5DBE}"/>
              </a:ext>
            </a:extLst>
          </p:cNvPr>
          <p:cNvSpPr>
            <a:spLocks xmlns:a="http://schemas.openxmlformats.org/drawingml/2006/main" noGrp="1"/>
          </p:cNvSpPr>
          <p:nvPr/>
        </p:nvSpPr>
        <p:spPr>
          <a:xfrm xmlns:a="http://schemas.openxmlformats.org/drawingml/2006/main">
            <a:off x="566928" y="4005072"/>
            <a:ext cx="1660093"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8FA9C4"/>
                </a:solidFill>
                <a:latin typeface="Arial"/>
                <a:ea typeface="Arial"/>
                <a:cs typeface="Arial"/>
              </a:rPr>
              <a:t>decks</a:t>
            </a:r>
            <a:endParaRPr sz="950"/>
          </a:p>
        </p:txBody>
      </p:sp>
      <p:sp>
        <p:nvSpPr>
          <p:cNvPr id="8" name="Text 6">
            <a:extLst xmlns:a="http://schemas.openxmlformats.org/drawingml/2006/main">
              <a:ext uri="{FF2B5EF4-FFF2-40B4-BE49-F238E27FC236}">
                <a16:creationId xmlns:a16="http://schemas.microsoft.com/office/drawing/2014/main" id="{EA958B09-20DB-4519-BA29-59575CCAFD4A}"/>
              </a:ext>
            </a:extLst>
          </p:cNvPr>
          <p:cNvSpPr>
            <a:spLocks xmlns:a="http://schemas.openxmlformats.org/drawingml/2006/main" noGrp="1"/>
          </p:cNvSpPr>
          <p:nvPr/>
        </p:nvSpPr>
        <p:spPr>
          <a:xfrm xmlns:a="http://schemas.openxmlformats.org/drawingml/2006/main">
            <a:off x="2409901" y="3511296"/>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16</a:t>
            </a:r>
            <a:endParaRPr sz="2800"/>
          </a:p>
        </p:txBody>
      </p:sp>
      <p:sp>
        <p:nvSpPr>
          <p:cNvPr id="9" name="Text 7">
            <a:extLst xmlns:a="http://schemas.openxmlformats.org/drawingml/2006/main">
              <a:ext uri="{FF2B5EF4-FFF2-40B4-BE49-F238E27FC236}">
                <a16:creationId xmlns:a16="http://schemas.microsoft.com/office/drawing/2014/main" id="{E037A8B9-B47D-4A72-A932-BF1B1F3C0607}"/>
              </a:ext>
            </a:extLst>
          </p:cNvPr>
          <p:cNvSpPr>
            <a:spLocks xmlns:a="http://schemas.openxmlformats.org/drawingml/2006/main" noGrp="1"/>
          </p:cNvSpPr>
          <p:nvPr/>
        </p:nvSpPr>
        <p:spPr>
          <a:xfrm xmlns:a="http://schemas.openxmlformats.org/drawingml/2006/main">
            <a:off x="2409901" y="4005072"/>
            <a:ext cx="1660093"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8FA9C4"/>
                </a:solidFill>
                <a:latin typeface="Arial"/>
                <a:ea typeface="Arial"/>
                <a:cs typeface="Arial"/>
              </a:rPr>
              <a:t>delivered for</a:t>
            </a:r>
            <a:endParaRPr sz="950"/>
          </a:p>
        </p:txBody>
      </p:sp>
      <p:sp>
        <p:nvSpPr>
          <p:cNvPr id="10" name="Text 8">
            <a:extLst xmlns:a="http://schemas.openxmlformats.org/drawingml/2006/main">
              <a:ext uri="{FF2B5EF4-FFF2-40B4-BE49-F238E27FC236}">
                <a16:creationId xmlns:a16="http://schemas.microsoft.com/office/drawing/2014/main" id="{B75BC880-FF95-4321-A43A-F3012E286B8C}"/>
              </a:ext>
            </a:extLst>
          </p:cNvPr>
          <p:cNvSpPr>
            <a:spLocks xmlns:a="http://schemas.openxmlformats.org/drawingml/2006/main" noGrp="1"/>
          </p:cNvSpPr>
          <p:nvPr/>
        </p:nvSpPr>
        <p:spPr>
          <a:xfrm xmlns:a="http://schemas.openxmlformats.org/drawingml/2006/main">
            <a:off x="4252874" y="3511296"/>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9</a:t>
            </a:r>
            <a:endParaRPr sz="2800"/>
          </a:p>
        </p:txBody>
      </p:sp>
      <p:sp>
        <p:nvSpPr>
          <p:cNvPr id="11" name="Text 9">
            <a:extLst xmlns:a="http://schemas.openxmlformats.org/drawingml/2006/main">
              <a:ext uri="{FF2B5EF4-FFF2-40B4-BE49-F238E27FC236}">
                <a16:creationId xmlns:a16="http://schemas.microsoft.com/office/drawing/2014/main" id="{5B1A0364-B736-48EF-9868-D460606F24B4}"/>
              </a:ext>
            </a:extLst>
          </p:cNvPr>
          <p:cNvSpPr>
            <a:spLocks xmlns:a="http://schemas.openxmlformats.org/drawingml/2006/main" noGrp="1"/>
          </p:cNvSpPr>
          <p:nvPr/>
        </p:nvSpPr>
        <p:spPr>
          <a:xfrm xmlns:a="http://schemas.openxmlformats.org/drawingml/2006/main">
            <a:off x="4252874" y="4005072"/>
            <a:ext cx="1660093"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8FA9C4"/>
                </a:solidFill>
                <a:latin typeface="Arial"/>
                <a:ea typeface="Arial"/>
                <a:cs typeface="Arial"/>
              </a:rPr>
              <a:t>analysed</a:t>
            </a:r>
            <a:endParaRPr sz="950"/>
          </a:p>
        </p:txBody>
      </p:sp>
      <p:sp>
        <p:nvSpPr>
          <p:cNvPr id="12" name="Text 10">
            <a:extLst xmlns:a="http://schemas.openxmlformats.org/drawingml/2006/main">
              <a:ext uri="{FF2B5EF4-FFF2-40B4-BE49-F238E27FC236}">
                <a16:creationId xmlns:a16="http://schemas.microsoft.com/office/drawing/2014/main" id="{9BDC6D67-1852-4017-AD76-02EDFC77805B}"/>
              </a:ext>
            </a:extLst>
          </p:cNvPr>
          <p:cNvSpPr>
            <a:spLocks xmlns:a="http://schemas.openxmlformats.org/drawingml/2006/main" noGrp="1"/>
          </p:cNvSpPr>
          <p:nvPr/>
        </p:nvSpPr>
        <p:spPr>
          <a:xfrm xmlns:a="http://schemas.openxmlformats.org/drawingml/2006/main">
            <a:off x="6095848" y="3511296"/>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4</a:t>
            </a:r>
            <a:endParaRPr sz="2800"/>
          </a:p>
        </p:txBody>
      </p:sp>
      <p:sp>
        <p:nvSpPr>
          <p:cNvPr id="13" name="Text 11">
            <a:extLst xmlns:a="http://schemas.openxmlformats.org/drawingml/2006/main">
              <a:ext uri="{FF2B5EF4-FFF2-40B4-BE49-F238E27FC236}">
                <a16:creationId xmlns:a16="http://schemas.microsoft.com/office/drawing/2014/main" id="{7F9BC28D-D095-4A6B-81D0-99A9AC31A3E2}"/>
              </a:ext>
            </a:extLst>
          </p:cNvPr>
          <p:cNvSpPr>
            <a:spLocks xmlns:a="http://schemas.openxmlformats.org/drawingml/2006/main" noGrp="1"/>
          </p:cNvSpPr>
          <p:nvPr/>
        </p:nvSpPr>
        <p:spPr>
          <a:xfrm xmlns:a="http://schemas.openxmlformats.org/drawingml/2006/main">
            <a:off x="6095848" y="4005072"/>
            <a:ext cx="1660093"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8FA9C4"/>
                </a:solidFill>
                <a:latin typeface="Arial"/>
                <a:ea typeface="Arial"/>
                <a:cs typeface="Arial"/>
              </a:rPr>
              <a:t>regions</a:t>
            </a:r>
            <a:endParaRPr sz="950"/>
          </a:p>
        </p:txBody>
      </p:sp>
      <p:sp>
        <p:nvSpPr>
          <p:cNvPr id="14" name="Text 12">
            <a:extLst xmlns:a="http://schemas.openxmlformats.org/drawingml/2006/main">
              <a:ext uri="{FF2B5EF4-FFF2-40B4-BE49-F238E27FC236}">
                <a16:creationId xmlns:a16="http://schemas.microsoft.com/office/drawing/2014/main" id="{9EC1C570-79E7-444D-94DB-FC4F9E0693C0}"/>
              </a:ext>
            </a:extLst>
          </p:cNvPr>
          <p:cNvSpPr>
            <a:spLocks xmlns:a="http://schemas.openxmlformats.org/drawingml/2006/main" noGrp="1"/>
          </p:cNvSpPr>
          <p:nvPr/>
        </p:nvSpPr>
        <p:spPr>
          <a:xfrm xmlns:a="http://schemas.openxmlformats.org/drawingml/2006/main">
            <a:off x="7938821" y="3511296"/>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8</a:t>
            </a:r>
            <a:endParaRPr sz="2800"/>
          </a:p>
        </p:txBody>
      </p:sp>
      <p:sp>
        <p:nvSpPr>
          <p:cNvPr id="15" name="Text 13">
            <a:extLst xmlns:a="http://schemas.openxmlformats.org/drawingml/2006/main">
              <a:ext uri="{FF2B5EF4-FFF2-40B4-BE49-F238E27FC236}">
                <a16:creationId xmlns:a16="http://schemas.microsoft.com/office/drawing/2014/main" id="{BFB8AD39-20A4-4900-A08F-A54ECC555CAA}"/>
              </a:ext>
            </a:extLst>
          </p:cNvPr>
          <p:cNvSpPr>
            <a:spLocks xmlns:a="http://schemas.openxmlformats.org/drawingml/2006/main" noGrp="1"/>
          </p:cNvSpPr>
          <p:nvPr/>
        </p:nvSpPr>
        <p:spPr>
          <a:xfrm xmlns:a="http://schemas.openxmlformats.org/drawingml/2006/main">
            <a:off x="7938821" y="4005072"/>
            <a:ext cx="1660093"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8FA9C4"/>
                </a:solidFill>
                <a:latin typeface="Arial"/>
                <a:ea typeface="Arial"/>
                <a:cs typeface="Arial"/>
              </a:rPr>
              <a:t>years</a:t>
            </a:r>
            <a:endParaRPr sz="950"/>
          </a:p>
        </p:txBody>
      </p:sp>
      <p:sp>
        <p:nvSpPr>
          <p:cNvPr id="16" name="Text 14">
            <a:extLst xmlns:a="http://schemas.openxmlformats.org/drawingml/2006/main">
              <a:ext uri="{FF2B5EF4-FFF2-40B4-BE49-F238E27FC236}">
                <a16:creationId xmlns:a16="http://schemas.microsoft.com/office/drawing/2014/main" id="{A0BF411C-3019-4900-ACB6-11B6609B8355}"/>
              </a:ext>
            </a:extLst>
          </p:cNvPr>
          <p:cNvSpPr>
            <a:spLocks xmlns:a="http://schemas.openxmlformats.org/drawingml/2006/main" noGrp="1"/>
          </p:cNvSpPr>
          <p:nvPr/>
        </p:nvSpPr>
        <p:spPr>
          <a:xfrm xmlns:a="http://schemas.openxmlformats.org/drawingml/2006/main">
            <a:off x="9781794" y="3511296"/>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1</a:t>
            </a:r>
            <a:endParaRPr sz="2800"/>
          </a:p>
        </p:txBody>
      </p:sp>
      <p:sp>
        <p:nvSpPr>
          <p:cNvPr id="17" name="Text 15">
            <a:extLst xmlns:a="http://schemas.openxmlformats.org/drawingml/2006/main">
              <a:ext uri="{FF2B5EF4-FFF2-40B4-BE49-F238E27FC236}">
                <a16:creationId xmlns:a16="http://schemas.microsoft.com/office/drawing/2014/main" id="{8718CCE7-90AE-41EA-B285-C6097468779A}"/>
              </a:ext>
            </a:extLst>
          </p:cNvPr>
          <p:cNvSpPr>
            <a:spLocks xmlns:a="http://schemas.openxmlformats.org/drawingml/2006/main" noGrp="1"/>
          </p:cNvSpPr>
          <p:nvPr/>
        </p:nvSpPr>
        <p:spPr>
          <a:xfrm xmlns:a="http://schemas.openxmlformats.org/drawingml/2006/main">
            <a:off x="9781794" y="4005072"/>
            <a:ext cx="1660093"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8FA9C4"/>
                </a:solidFill>
                <a:latin typeface="Arial"/>
                <a:ea typeface="Arial"/>
                <a:cs typeface="Arial"/>
              </a:rPr>
              <a:t>evidence standard</a:t>
            </a:r>
            <a:endParaRPr sz="950"/>
          </a:p>
        </p:txBody>
      </p:sp>
      <p:sp>
        <p:nvSpPr>
          <p:cNvPr id="18" name="Shape 16">
            <a:extLst xmlns:a="http://schemas.openxmlformats.org/drawingml/2006/main">
              <a:ext uri="{FF2B5EF4-FFF2-40B4-BE49-F238E27FC236}">
                <a16:creationId xmlns:a16="http://schemas.microsoft.com/office/drawing/2014/main" id="{B874AD9C-51FB-45AF-B4F9-A6F1AA3DF2FC}"/>
              </a:ext>
            </a:extLst>
          </p:cNvPr>
          <p:cNvSpPr>
            <a:spLocks xmlns:a="http://schemas.openxmlformats.org/drawingml/2006/main" noGrp="1"/>
          </p:cNvSpPr>
          <p:nvPr/>
        </p:nvSpPr>
        <p:spPr>
          <a:xfrm xmlns:a="http://schemas.openxmlformats.org/drawingml/2006/main">
            <a:off x="566928" y="457200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19" name="Text 17">
            <a:extLst xmlns:a="http://schemas.openxmlformats.org/drawingml/2006/main">
              <a:ext uri="{FF2B5EF4-FFF2-40B4-BE49-F238E27FC236}">
                <a16:creationId xmlns:a16="http://schemas.microsoft.com/office/drawing/2014/main" id="{5BBBBE50-5713-4B7A-8DE6-70DF7E14A825}"/>
              </a:ext>
            </a:extLst>
          </p:cNvPr>
          <p:cNvSpPr>
            <a:spLocks xmlns:a="http://schemas.openxmlformats.org/drawingml/2006/main" noGrp="1"/>
          </p:cNvSpPr>
          <p:nvPr/>
        </p:nvSpPr>
        <p:spPr>
          <a:xfrm xmlns:a="http://schemas.openxmlformats.org/drawingml/2006/main">
            <a:off x="566928" y="4773168"/>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Global Operations and Business Technology</a:t>
            </a:r>
            <a:endParaRPr sz="1200"/>
          </a:p>
        </p:txBody>
      </p:sp>
      <p:sp>
        <p:nvSpPr>
          <p:cNvPr id="20" name="Text 18">
            <a:extLst xmlns:a="http://schemas.openxmlformats.org/drawingml/2006/main">
              <a:ext uri="{FF2B5EF4-FFF2-40B4-BE49-F238E27FC236}">
                <a16:creationId xmlns:a16="http://schemas.microsoft.com/office/drawing/2014/main" id="{95849437-E734-49D5-B97A-AF3E637ECBBF}"/>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Every deck states its own evidence boundary on slide 3. Vendor and platform names are removed throughout.</a:t>
            </a:r>
            <a:endParaRPr sz="850"/>
          </a:p>
        </p:txBody>
      </p:sp>
    </p:spTree>
    <p:extLst>
      <p:ext uri="{BB962C8B-B14F-4D97-AF65-F5344CB8AC3E}">
        <p14:creationId xmlns:p14="http://schemas.microsoft.com/office/powerpoint/2010/main" val="139974998"/>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A0E436-DA00-4D18-B8B5-E858DFA55A0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THIRTY</a:t>
            </a:r>
            <a:endParaRPr sz="950"/>
          </a:p>
        </p:txBody>
      </p:sp>
      <p:sp>
        <p:nvSpPr>
          <p:cNvPr id="3" name="Text 1">
            <a:extLst xmlns:a="http://schemas.openxmlformats.org/drawingml/2006/main">
              <a:ext uri="{FF2B5EF4-FFF2-40B4-BE49-F238E27FC236}">
                <a16:creationId xmlns:a16="http://schemas.microsoft.com/office/drawing/2014/main" id="{1D042170-A34F-4B8A-B8CF-F7F9D273C10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Organised by account — delivered engagements above, solution and analysis below</a:t>
            </a:r>
            <a:endParaRPr sz="1900"/>
          </a:p>
        </p:txBody>
      </p:sp>
      <p:sp>
        <p:nvSpPr>
          <p:cNvPr id="4" name="Text 2">
            <a:extLst xmlns:a="http://schemas.openxmlformats.org/drawingml/2006/main">
              <a:ext uri="{FF2B5EF4-FFF2-40B4-BE49-F238E27FC236}">
                <a16:creationId xmlns:a16="http://schemas.microsoft.com/office/drawing/2014/main" id="{76581BF5-018B-49EE-902D-4C2936050E17}"/>
              </a:ext>
            </a:extLst>
          </p:cNvPr>
          <p:cNvSpPr>
            <a:spLocks xmlns:a="http://schemas.openxmlformats.org/drawingml/2006/main" noGrp="1"/>
          </p:cNvSpPr>
          <p:nvPr/>
        </p:nvSpPr>
        <p:spPr>
          <a:xfrm xmlns:a="http://schemas.openxmlformats.org/drawingml/2006/main">
            <a:off x="566928" y="128016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B04A25"/>
                </a:solidFill>
                <a:latin typeface="Arial"/>
                <a:ea typeface="Arial"/>
                <a:cs typeface="Arial"/>
              </a:rPr>
              <a:t>DELIVERED — SIXTEEN INSTITUTIONS</a:t>
            </a:r>
            <a:endParaRPr sz="800"/>
          </a:p>
        </p:txBody>
      </p:sp>
      <p:sp>
        <p:nvSpPr>
          <p:cNvPr id="5" name="Shape 3">
            <a:extLst xmlns:a="http://schemas.openxmlformats.org/drawingml/2006/main">
              <a:ext uri="{FF2B5EF4-FFF2-40B4-BE49-F238E27FC236}">
                <a16:creationId xmlns:a16="http://schemas.microsoft.com/office/drawing/2014/main" id="{6F6AEF97-71ED-46F5-BA77-B862A877C470}"/>
              </a:ext>
            </a:extLst>
          </p:cNvPr>
          <p:cNvSpPr>
            <a:spLocks xmlns:a="http://schemas.openxmlformats.org/drawingml/2006/main" noGrp="1"/>
          </p:cNvSpPr>
          <p:nvPr/>
        </p:nvSpPr>
        <p:spPr>
          <a:xfrm xmlns:a="http://schemas.openxmlformats.org/drawingml/2006/main">
            <a:off x="566928" y="1517904"/>
            <a:ext cx="1766773" cy="1975104"/>
          </a:xfrm>
          <a:prstGeom xmlns:a="http://schemas.openxmlformats.org/drawingml/2006/main" prst="rect">
            <a:avLst/>
          </a:prstGeom>
          <a:solidFill xmlns:a="http://schemas.openxmlformats.org/drawingml/2006/main">
            <a:srgbClr val="F3E6E0"/>
          </a:solidFill>
        </p:spPr>
      </p:sp>
      <p:sp>
        <p:nvSpPr>
          <p:cNvPr id="6" name="Text 4">
            <a:extLst xmlns:a="http://schemas.openxmlformats.org/drawingml/2006/main">
              <a:ext uri="{FF2B5EF4-FFF2-40B4-BE49-F238E27FC236}">
                <a16:creationId xmlns:a16="http://schemas.microsoft.com/office/drawing/2014/main" id="{36F85727-1FDE-4B36-8B2A-0944F3848E99}"/>
              </a:ext>
            </a:extLst>
          </p:cNvPr>
          <p:cNvSpPr>
            <a:spLocks xmlns:a="http://schemas.openxmlformats.org/drawingml/2006/main" noGrp="1"/>
          </p:cNvSpPr>
          <p:nvPr/>
        </p:nvSpPr>
        <p:spPr>
          <a:xfrm xmlns:a="http://schemas.openxmlformats.org/drawingml/2006/main">
            <a:off x="713232" y="1627632"/>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HDFC Bank</a:t>
            </a:r>
            <a:endParaRPr sz="1000"/>
          </a:p>
        </p:txBody>
      </p:sp>
      <p:sp>
        <p:nvSpPr>
          <p:cNvPr id="7" name="Shape 5">
            <a:extLst xmlns:a="http://schemas.openxmlformats.org/drawingml/2006/main">
              <a:ext uri="{FF2B5EF4-FFF2-40B4-BE49-F238E27FC236}">
                <a16:creationId xmlns:a16="http://schemas.microsoft.com/office/drawing/2014/main" id="{0532E469-8515-4F56-8679-E79E395D3FDB}"/>
              </a:ext>
            </a:extLst>
          </p:cNvPr>
          <p:cNvSpPr>
            <a:spLocks xmlns:a="http://schemas.openxmlformats.org/drawingml/2006/main" noGrp="1"/>
          </p:cNvSpPr>
          <p:nvPr/>
        </p:nvSpPr>
        <p:spPr>
          <a:xfrm xmlns:a="http://schemas.openxmlformats.org/drawingml/2006/main">
            <a:off x="713232" y="2103120"/>
            <a:ext cx="1474165" cy="20117"/>
          </a:xfrm>
          <a:prstGeom xmlns:a="http://schemas.openxmlformats.org/drawingml/2006/main" prst="rect">
            <a:avLst/>
          </a:prstGeom>
          <a:solidFill xmlns:a="http://schemas.openxmlformats.org/drawingml/2006/main">
            <a:srgbClr val="B04A25"/>
          </a:solidFill>
        </p:spPr>
      </p:sp>
      <p:sp>
        <p:nvSpPr>
          <p:cNvPr id="8" name="Text 6">
            <a:extLst xmlns:a="http://schemas.openxmlformats.org/drawingml/2006/main">
              <a:ext uri="{FF2B5EF4-FFF2-40B4-BE49-F238E27FC236}">
                <a16:creationId xmlns:a16="http://schemas.microsoft.com/office/drawing/2014/main" id="{53B8AE68-4190-42CF-B52C-9B5928C55A27}"/>
              </a:ext>
            </a:extLst>
          </p:cNvPr>
          <p:cNvSpPr>
            <a:spLocks xmlns:a="http://schemas.openxmlformats.org/drawingml/2006/main" noGrp="1"/>
          </p:cNvSpPr>
          <p:nvPr/>
        </p:nvSpPr>
        <p:spPr>
          <a:xfrm xmlns:a="http://schemas.openxmlformats.org/drawingml/2006/main">
            <a:off x="713232" y="2231136"/>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01  Six journeys, four objectives</a:t>
            </a:r>
            <a:endParaRPr sz="830"/>
          </a:p>
        </p:txBody>
      </p:sp>
      <p:sp>
        <p:nvSpPr>
          <p:cNvPr id="9" name="Text 7">
            <a:extLst xmlns:a="http://schemas.openxmlformats.org/drawingml/2006/main">
              <a:ext uri="{FF2B5EF4-FFF2-40B4-BE49-F238E27FC236}">
                <a16:creationId xmlns:a16="http://schemas.microsoft.com/office/drawing/2014/main" id="{5FC680B3-404C-4AB4-9A64-8EAD95078B6D}"/>
              </a:ext>
            </a:extLst>
          </p:cNvPr>
          <p:cNvSpPr>
            <a:spLocks xmlns:a="http://schemas.openxmlformats.org/drawingml/2006/main" noGrp="1"/>
          </p:cNvSpPr>
          <p:nvPr/>
        </p:nvSpPr>
        <p:spPr>
          <a:xfrm xmlns:a="http://schemas.openxmlformats.org/drawingml/2006/main">
            <a:off x="713232" y="2557668"/>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02  Two journeys, opposite risk</a:t>
            </a:r>
            <a:endParaRPr sz="830"/>
          </a:p>
        </p:txBody>
      </p:sp>
      <p:sp>
        <p:nvSpPr>
          <p:cNvPr id="10" name="Text 8">
            <a:extLst xmlns:a="http://schemas.openxmlformats.org/drawingml/2006/main">
              <a:ext uri="{FF2B5EF4-FFF2-40B4-BE49-F238E27FC236}">
                <a16:creationId xmlns:a16="http://schemas.microsoft.com/office/drawing/2014/main" id="{9F08AC67-EEF6-4B01-80EA-A71B75808033}"/>
              </a:ext>
            </a:extLst>
          </p:cNvPr>
          <p:cNvSpPr>
            <a:spLocks xmlns:a="http://schemas.openxmlformats.org/drawingml/2006/main" noGrp="1"/>
          </p:cNvSpPr>
          <p:nvPr/>
        </p:nvSpPr>
        <p:spPr>
          <a:xfrm xmlns:a="http://schemas.openxmlformats.org/drawingml/2006/main">
            <a:off x="713232" y="2884200"/>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03  Cross-entity by design</a:t>
            </a:r>
            <a:endParaRPr sz="830"/>
          </a:p>
        </p:txBody>
      </p:sp>
      <p:sp>
        <p:nvSpPr>
          <p:cNvPr id="11" name="Shape 9">
            <a:extLst xmlns:a="http://schemas.openxmlformats.org/drawingml/2006/main">
              <a:ext uri="{FF2B5EF4-FFF2-40B4-BE49-F238E27FC236}">
                <a16:creationId xmlns:a16="http://schemas.microsoft.com/office/drawing/2014/main" id="{DF314194-DB08-4DB9-ACB8-EE714C4C78AB}"/>
              </a:ext>
            </a:extLst>
          </p:cNvPr>
          <p:cNvSpPr>
            <a:spLocks xmlns:a="http://schemas.openxmlformats.org/drawingml/2006/main" noGrp="1"/>
          </p:cNvSpPr>
          <p:nvPr/>
        </p:nvSpPr>
        <p:spPr>
          <a:xfrm xmlns:a="http://schemas.openxmlformats.org/drawingml/2006/main">
            <a:off x="2425141" y="1517904"/>
            <a:ext cx="1766773" cy="1975104"/>
          </a:xfrm>
          <a:prstGeom xmlns:a="http://schemas.openxmlformats.org/drawingml/2006/main" prst="rect">
            <a:avLst/>
          </a:prstGeom>
          <a:solidFill xmlns:a="http://schemas.openxmlformats.org/drawingml/2006/main">
            <a:srgbClr val="F3E6E0"/>
          </a:solidFill>
        </p:spPr>
      </p:sp>
      <p:sp>
        <p:nvSpPr>
          <p:cNvPr id="12" name="Text 10">
            <a:extLst xmlns:a="http://schemas.openxmlformats.org/drawingml/2006/main">
              <a:ext uri="{FF2B5EF4-FFF2-40B4-BE49-F238E27FC236}">
                <a16:creationId xmlns:a16="http://schemas.microsoft.com/office/drawing/2014/main" id="{9423F84A-4AD8-4544-94B6-7B3396347313}"/>
              </a:ext>
            </a:extLst>
          </p:cNvPr>
          <p:cNvSpPr>
            <a:spLocks xmlns:a="http://schemas.openxmlformats.org/drawingml/2006/main" noGrp="1"/>
          </p:cNvSpPr>
          <p:nvPr/>
        </p:nvSpPr>
        <p:spPr>
          <a:xfrm xmlns:a="http://schemas.openxmlformats.org/drawingml/2006/main">
            <a:off x="2571445" y="1627632"/>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Abu Dhabi Islamic Bank</a:t>
            </a:r>
            <a:endParaRPr sz="1000"/>
          </a:p>
        </p:txBody>
      </p:sp>
      <p:sp>
        <p:nvSpPr>
          <p:cNvPr id="13" name="Shape 11">
            <a:extLst xmlns:a="http://schemas.openxmlformats.org/drawingml/2006/main">
              <a:ext uri="{FF2B5EF4-FFF2-40B4-BE49-F238E27FC236}">
                <a16:creationId xmlns:a16="http://schemas.microsoft.com/office/drawing/2014/main" id="{AD3DEEDB-07F2-4E05-B68F-9A23D9BB47B9}"/>
              </a:ext>
            </a:extLst>
          </p:cNvPr>
          <p:cNvSpPr>
            <a:spLocks xmlns:a="http://schemas.openxmlformats.org/drawingml/2006/main" noGrp="1"/>
          </p:cNvSpPr>
          <p:nvPr/>
        </p:nvSpPr>
        <p:spPr>
          <a:xfrm xmlns:a="http://schemas.openxmlformats.org/drawingml/2006/main">
            <a:off x="2571445" y="2103120"/>
            <a:ext cx="1474165" cy="20117"/>
          </a:xfrm>
          <a:prstGeom xmlns:a="http://schemas.openxmlformats.org/drawingml/2006/main" prst="rect">
            <a:avLst/>
          </a:prstGeom>
          <a:solidFill xmlns:a="http://schemas.openxmlformats.org/drawingml/2006/main">
            <a:srgbClr val="B04A25"/>
          </a:solidFill>
        </p:spPr>
      </p:sp>
      <p:sp>
        <p:nvSpPr>
          <p:cNvPr id="14" name="Text 12">
            <a:extLst xmlns:a="http://schemas.openxmlformats.org/drawingml/2006/main">
              <a:ext uri="{FF2B5EF4-FFF2-40B4-BE49-F238E27FC236}">
                <a16:creationId xmlns:a16="http://schemas.microsoft.com/office/drawing/2014/main" id="{DC32A6A0-CE26-4BF9-A648-9CCCE5879119}"/>
              </a:ext>
            </a:extLst>
          </p:cNvPr>
          <p:cNvSpPr>
            <a:spLocks xmlns:a="http://schemas.openxmlformats.org/drawingml/2006/main" noGrp="1"/>
          </p:cNvSpPr>
          <p:nvPr/>
        </p:nvSpPr>
        <p:spPr>
          <a:xfrm xmlns:a="http://schemas.openxmlformats.org/drawingml/2006/main">
            <a:off x="2571445" y="2231136"/>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14  Eight programmes, three years</a:t>
            </a:r>
            <a:endParaRPr sz="830"/>
          </a:p>
        </p:txBody>
      </p:sp>
      <p:sp>
        <p:nvSpPr>
          <p:cNvPr id="15" name="Text 13">
            <a:extLst xmlns:a="http://schemas.openxmlformats.org/drawingml/2006/main">
              <a:ext uri="{FF2B5EF4-FFF2-40B4-BE49-F238E27FC236}">
                <a16:creationId xmlns:a16="http://schemas.microsoft.com/office/drawing/2014/main" id="{4052AEA8-B1B4-4BB4-886B-D7C73D46F4A3}"/>
              </a:ext>
            </a:extLst>
          </p:cNvPr>
          <p:cNvSpPr>
            <a:spLocks xmlns:a="http://schemas.openxmlformats.org/drawingml/2006/main" noGrp="1"/>
          </p:cNvSpPr>
          <p:nvPr/>
        </p:nvSpPr>
        <p:spPr>
          <a:xfrm xmlns:a="http://schemas.openxmlformats.org/drawingml/2006/main">
            <a:off x="2571445" y="2557668"/>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15  Parallel approvals incl. Sharia</a:t>
            </a:r>
            <a:endParaRPr sz="830"/>
          </a:p>
        </p:txBody>
      </p:sp>
      <p:sp>
        <p:nvSpPr>
          <p:cNvPr id="16" name="Text 14">
            <a:extLst xmlns:a="http://schemas.openxmlformats.org/drawingml/2006/main">
              <a:ext uri="{FF2B5EF4-FFF2-40B4-BE49-F238E27FC236}">
                <a16:creationId xmlns:a16="http://schemas.microsoft.com/office/drawing/2014/main" id="{A266DF03-2980-47B8-BEB5-0DB7C96F1166}"/>
              </a:ext>
            </a:extLst>
          </p:cNvPr>
          <p:cNvSpPr>
            <a:spLocks xmlns:a="http://schemas.openxmlformats.org/drawingml/2006/main" noGrp="1"/>
          </p:cNvSpPr>
          <p:nvPr/>
        </p:nvSpPr>
        <p:spPr>
          <a:xfrm xmlns:a="http://schemas.openxmlformats.org/drawingml/2006/main">
            <a:off x="2571445" y="2884200"/>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16  Early warning without the model</a:t>
            </a:r>
            <a:endParaRPr sz="830"/>
          </a:p>
        </p:txBody>
      </p:sp>
      <p:sp>
        <p:nvSpPr>
          <p:cNvPr id="17" name="Shape 15">
            <a:extLst xmlns:a="http://schemas.openxmlformats.org/drawingml/2006/main">
              <a:ext uri="{FF2B5EF4-FFF2-40B4-BE49-F238E27FC236}">
                <a16:creationId xmlns:a16="http://schemas.microsoft.com/office/drawing/2014/main" id="{9DB77B5C-4A0E-4FA3-83E6-9717B320529F}"/>
              </a:ext>
            </a:extLst>
          </p:cNvPr>
          <p:cNvSpPr>
            <a:spLocks xmlns:a="http://schemas.openxmlformats.org/drawingml/2006/main" noGrp="1"/>
          </p:cNvSpPr>
          <p:nvPr/>
        </p:nvSpPr>
        <p:spPr>
          <a:xfrm xmlns:a="http://schemas.openxmlformats.org/drawingml/2006/main">
            <a:off x="4283354" y="1517904"/>
            <a:ext cx="1766773" cy="1975104"/>
          </a:xfrm>
          <a:prstGeom xmlns:a="http://schemas.openxmlformats.org/drawingml/2006/main" prst="rect">
            <a:avLst/>
          </a:prstGeom>
          <a:solidFill xmlns:a="http://schemas.openxmlformats.org/drawingml/2006/main">
            <a:srgbClr val="F3E6E0"/>
          </a:solidFill>
        </p:spPr>
      </p:sp>
      <p:sp>
        <p:nvSpPr>
          <p:cNvPr id="18" name="Text 16">
            <a:extLst xmlns:a="http://schemas.openxmlformats.org/drawingml/2006/main">
              <a:ext uri="{FF2B5EF4-FFF2-40B4-BE49-F238E27FC236}">
                <a16:creationId xmlns:a16="http://schemas.microsoft.com/office/drawing/2014/main" id="{6724BD55-15A2-490B-B1C3-29C717FDCEFE}"/>
              </a:ext>
            </a:extLst>
          </p:cNvPr>
          <p:cNvSpPr>
            <a:spLocks xmlns:a="http://schemas.openxmlformats.org/drawingml/2006/main" noGrp="1"/>
          </p:cNvSpPr>
          <p:nvPr/>
        </p:nvSpPr>
        <p:spPr>
          <a:xfrm xmlns:a="http://schemas.openxmlformats.org/drawingml/2006/main">
            <a:off x="4429658" y="1627632"/>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Arab Bank</a:t>
            </a:r>
            <a:endParaRPr sz="1000"/>
          </a:p>
        </p:txBody>
      </p:sp>
      <p:sp>
        <p:nvSpPr>
          <p:cNvPr id="19" name="Shape 17">
            <a:extLst xmlns:a="http://schemas.openxmlformats.org/drawingml/2006/main">
              <a:ext uri="{FF2B5EF4-FFF2-40B4-BE49-F238E27FC236}">
                <a16:creationId xmlns:a16="http://schemas.microsoft.com/office/drawing/2014/main" id="{80A859AF-7793-45EB-BE2D-07DE9E21F27B}"/>
              </a:ext>
            </a:extLst>
          </p:cNvPr>
          <p:cNvSpPr>
            <a:spLocks xmlns:a="http://schemas.openxmlformats.org/drawingml/2006/main" noGrp="1"/>
          </p:cNvSpPr>
          <p:nvPr/>
        </p:nvSpPr>
        <p:spPr>
          <a:xfrm xmlns:a="http://schemas.openxmlformats.org/drawingml/2006/main">
            <a:off x="4429658" y="2103120"/>
            <a:ext cx="1474165" cy="20117"/>
          </a:xfrm>
          <a:prstGeom xmlns:a="http://schemas.openxmlformats.org/drawingml/2006/main" prst="rect">
            <a:avLst/>
          </a:prstGeom>
          <a:solidFill xmlns:a="http://schemas.openxmlformats.org/drawingml/2006/main">
            <a:srgbClr val="B04A25"/>
          </a:solidFill>
        </p:spPr>
      </p:sp>
      <p:sp>
        <p:nvSpPr>
          <p:cNvPr id="20" name="Text 18">
            <a:extLst xmlns:a="http://schemas.openxmlformats.org/drawingml/2006/main">
              <a:ext uri="{FF2B5EF4-FFF2-40B4-BE49-F238E27FC236}">
                <a16:creationId xmlns:a16="http://schemas.microsoft.com/office/drawing/2014/main" id="{74CF9A1D-9301-4FCE-9FB2-7C07913B2670}"/>
              </a:ext>
            </a:extLst>
          </p:cNvPr>
          <p:cNvSpPr>
            <a:spLocks xmlns:a="http://schemas.openxmlformats.org/drawingml/2006/main" noGrp="1"/>
          </p:cNvSpPr>
          <p:nvPr/>
        </p:nvSpPr>
        <p:spPr>
          <a:xfrm xmlns:a="http://schemas.openxmlformats.org/drawingml/2006/main">
            <a:off x="4429658" y="2231136"/>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17  One corporate spine, six countries</a:t>
            </a:r>
            <a:endParaRPr sz="830"/>
          </a:p>
        </p:txBody>
      </p:sp>
      <p:sp>
        <p:nvSpPr>
          <p:cNvPr id="21" name="Text 19">
            <a:extLst xmlns:a="http://schemas.openxmlformats.org/drawingml/2006/main">
              <a:ext uri="{FF2B5EF4-FFF2-40B4-BE49-F238E27FC236}">
                <a16:creationId xmlns:a16="http://schemas.microsoft.com/office/drawing/2014/main" id="{BAC27A64-8DFA-4719-A6EE-DD4AB016A9FA}"/>
              </a:ext>
            </a:extLst>
          </p:cNvPr>
          <p:cNvSpPr>
            <a:spLocks xmlns:a="http://schemas.openxmlformats.org/drawingml/2006/main" noGrp="1"/>
          </p:cNvSpPr>
          <p:nvPr/>
        </p:nvSpPr>
        <p:spPr>
          <a:xfrm xmlns:a="http://schemas.openxmlformats.org/drawingml/2006/main">
            <a:off x="4429658" y="2557668"/>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18  From dashboards to decisions</a:t>
            </a:r>
            <a:endParaRPr sz="830"/>
          </a:p>
        </p:txBody>
      </p:sp>
      <p:sp>
        <p:nvSpPr>
          <p:cNvPr id="22" name="Shape 20">
            <a:extLst xmlns:a="http://schemas.openxmlformats.org/drawingml/2006/main">
              <a:ext uri="{FF2B5EF4-FFF2-40B4-BE49-F238E27FC236}">
                <a16:creationId xmlns:a16="http://schemas.microsoft.com/office/drawing/2014/main" id="{15507E49-BA82-44BB-8806-9767C437F787}"/>
              </a:ext>
            </a:extLst>
          </p:cNvPr>
          <p:cNvSpPr>
            <a:spLocks xmlns:a="http://schemas.openxmlformats.org/drawingml/2006/main" noGrp="1"/>
          </p:cNvSpPr>
          <p:nvPr/>
        </p:nvSpPr>
        <p:spPr>
          <a:xfrm xmlns:a="http://schemas.openxmlformats.org/drawingml/2006/main">
            <a:off x="6141568" y="1517904"/>
            <a:ext cx="1766773" cy="1975104"/>
          </a:xfrm>
          <a:prstGeom xmlns:a="http://schemas.openxmlformats.org/drawingml/2006/main" prst="rect">
            <a:avLst/>
          </a:prstGeom>
          <a:solidFill xmlns:a="http://schemas.openxmlformats.org/drawingml/2006/main">
            <a:srgbClr val="F3E6E0"/>
          </a:solidFill>
        </p:spPr>
      </p:sp>
      <p:sp>
        <p:nvSpPr>
          <p:cNvPr id="23" name="Text 21">
            <a:extLst xmlns:a="http://schemas.openxmlformats.org/drawingml/2006/main">
              <a:ext uri="{FF2B5EF4-FFF2-40B4-BE49-F238E27FC236}">
                <a16:creationId xmlns:a16="http://schemas.microsoft.com/office/drawing/2014/main" id="{851D5354-1893-44E9-AC7A-9903A2AA89C2}"/>
              </a:ext>
            </a:extLst>
          </p:cNvPr>
          <p:cNvSpPr>
            <a:spLocks xmlns:a="http://schemas.openxmlformats.org/drawingml/2006/main" noGrp="1"/>
          </p:cNvSpPr>
          <p:nvPr/>
        </p:nvSpPr>
        <p:spPr>
          <a:xfrm xmlns:a="http://schemas.openxmlformats.org/drawingml/2006/main">
            <a:off x="6287872" y="1627632"/>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Kotak Mahindra Life</a:t>
            </a:r>
            <a:endParaRPr sz="1000"/>
          </a:p>
        </p:txBody>
      </p:sp>
      <p:sp>
        <p:nvSpPr>
          <p:cNvPr id="24" name="Shape 22">
            <a:extLst xmlns:a="http://schemas.openxmlformats.org/drawingml/2006/main">
              <a:ext uri="{FF2B5EF4-FFF2-40B4-BE49-F238E27FC236}">
                <a16:creationId xmlns:a16="http://schemas.microsoft.com/office/drawing/2014/main" id="{7A0BFCCF-66EB-440D-847D-44664A6933AA}"/>
              </a:ext>
            </a:extLst>
          </p:cNvPr>
          <p:cNvSpPr>
            <a:spLocks xmlns:a="http://schemas.openxmlformats.org/drawingml/2006/main" noGrp="1"/>
          </p:cNvSpPr>
          <p:nvPr/>
        </p:nvSpPr>
        <p:spPr>
          <a:xfrm xmlns:a="http://schemas.openxmlformats.org/drawingml/2006/main">
            <a:off x="6287872" y="2103120"/>
            <a:ext cx="1474165" cy="20117"/>
          </a:xfrm>
          <a:prstGeom xmlns:a="http://schemas.openxmlformats.org/drawingml/2006/main" prst="rect">
            <a:avLst/>
          </a:prstGeom>
          <a:solidFill xmlns:a="http://schemas.openxmlformats.org/drawingml/2006/main">
            <a:srgbClr val="B04A25"/>
          </a:solidFill>
        </p:spPr>
      </p:sp>
      <p:sp>
        <p:nvSpPr>
          <p:cNvPr id="25" name="Text 23">
            <a:extLst xmlns:a="http://schemas.openxmlformats.org/drawingml/2006/main">
              <a:ext uri="{FF2B5EF4-FFF2-40B4-BE49-F238E27FC236}">
                <a16:creationId xmlns:a16="http://schemas.microsoft.com/office/drawing/2014/main" id="{1E422B94-F584-474D-9D37-C7719286832D}"/>
              </a:ext>
            </a:extLst>
          </p:cNvPr>
          <p:cNvSpPr>
            <a:spLocks xmlns:a="http://schemas.openxmlformats.org/drawingml/2006/main" noGrp="1"/>
          </p:cNvSpPr>
          <p:nvPr/>
        </p:nvSpPr>
        <p:spPr>
          <a:xfrm xmlns:a="http://schemas.openxmlformats.org/drawingml/2006/main">
            <a:off x="6287872" y="2231136"/>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12  Risk-based policy revival</a:t>
            </a:r>
            <a:endParaRPr sz="830"/>
          </a:p>
        </p:txBody>
      </p:sp>
      <p:sp>
        <p:nvSpPr>
          <p:cNvPr id="26" name="Text 24">
            <a:extLst xmlns:a="http://schemas.openxmlformats.org/drawingml/2006/main">
              <a:ext uri="{FF2B5EF4-FFF2-40B4-BE49-F238E27FC236}">
                <a16:creationId xmlns:a16="http://schemas.microsoft.com/office/drawing/2014/main" id="{66EFF95D-67A2-44E4-A3C4-A009C38950E4}"/>
              </a:ext>
            </a:extLst>
          </p:cNvPr>
          <p:cNvSpPr>
            <a:spLocks xmlns:a="http://schemas.openxmlformats.org/drawingml/2006/main" noGrp="1"/>
          </p:cNvSpPr>
          <p:nvPr/>
        </p:nvSpPr>
        <p:spPr>
          <a:xfrm xmlns:a="http://schemas.openxmlformats.org/drawingml/2006/main">
            <a:off x="6287872" y="2417262"/>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13  Case visibility, five systems</a:t>
            </a:r>
            <a:endParaRPr sz="830"/>
          </a:p>
        </p:txBody>
      </p:sp>
      <p:sp>
        <p:nvSpPr>
          <p:cNvPr id="27" name="Shape 25">
            <a:extLst xmlns:a="http://schemas.openxmlformats.org/drawingml/2006/main">
              <a:ext uri="{FF2B5EF4-FFF2-40B4-BE49-F238E27FC236}">
                <a16:creationId xmlns:a16="http://schemas.microsoft.com/office/drawing/2014/main" id="{870E847C-93A5-4BE6-B5EC-8FAB234F07E3}"/>
              </a:ext>
            </a:extLst>
          </p:cNvPr>
          <p:cNvSpPr>
            <a:spLocks xmlns:a="http://schemas.openxmlformats.org/drawingml/2006/main" noGrp="1"/>
          </p:cNvSpPr>
          <p:nvPr/>
        </p:nvSpPr>
        <p:spPr>
          <a:xfrm xmlns:a="http://schemas.openxmlformats.org/drawingml/2006/main">
            <a:off x="7999781" y="1517904"/>
            <a:ext cx="1766773" cy="1975104"/>
          </a:xfrm>
          <a:prstGeom xmlns:a="http://schemas.openxmlformats.org/drawingml/2006/main" prst="rect">
            <a:avLst/>
          </a:prstGeom>
          <a:solidFill xmlns:a="http://schemas.openxmlformats.org/drawingml/2006/main">
            <a:srgbClr val="F3E6E0"/>
          </a:solidFill>
        </p:spPr>
      </p:sp>
      <p:sp>
        <p:nvSpPr>
          <p:cNvPr id="28" name="Text 26">
            <a:extLst xmlns:a="http://schemas.openxmlformats.org/drawingml/2006/main">
              <a:ext uri="{FF2B5EF4-FFF2-40B4-BE49-F238E27FC236}">
                <a16:creationId xmlns:a16="http://schemas.microsoft.com/office/drawing/2014/main" id="{5B0B36FA-7EC1-4E6C-A172-303B2C61C057}"/>
              </a:ext>
            </a:extLst>
          </p:cNvPr>
          <p:cNvSpPr>
            <a:spLocks xmlns:a="http://schemas.openxmlformats.org/drawingml/2006/main" noGrp="1"/>
          </p:cNvSpPr>
          <p:nvPr/>
        </p:nvSpPr>
        <p:spPr>
          <a:xfrm xmlns:a="http://schemas.openxmlformats.org/drawingml/2006/main">
            <a:off x="8146085" y="1627632"/>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US credit unions  ·  12</a:t>
            </a:r>
            <a:endParaRPr sz="1000"/>
          </a:p>
        </p:txBody>
      </p:sp>
      <p:sp>
        <p:nvSpPr>
          <p:cNvPr id="29" name="Shape 27">
            <a:extLst xmlns:a="http://schemas.openxmlformats.org/drawingml/2006/main">
              <a:ext uri="{FF2B5EF4-FFF2-40B4-BE49-F238E27FC236}">
                <a16:creationId xmlns:a16="http://schemas.microsoft.com/office/drawing/2014/main" id="{3C3FC8E8-D65C-4DA6-ADD6-24820A46C322}"/>
              </a:ext>
            </a:extLst>
          </p:cNvPr>
          <p:cNvSpPr>
            <a:spLocks xmlns:a="http://schemas.openxmlformats.org/drawingml/2006/main" noGrp="1"/>
          </p:cNvSpPr>
          <p:nvPr/>
        </p:nvSpPr>
        <p:spPr>
          <a:xfrm xmlns:a="http://schemas.openxmlformats.org/drawingml/2006/main">
            <a:off x="8146085" y="2103120"/>
            <a:ext cx="1474165" cy="20117"/>
          </a:xfrm>
          <a:prstGeom xmlns:a="http://schemas.openxmlformats.org/drawingml/2006/main" prst="rect">
            <a:avLst/>
          </a:prstGeom>
          <a:solidFill xmlns:a="http://schemas.openxmlformats.org/drawingml/2006/main">
            <a:srgbClr val="B04A25"/>
          </a:solidFill>
        </p:spPr>
      </p:sp>
      <p:sp>
        <p:nvSpPr>
          <p:cNvPr id="30" name="Text 28">
            <a:extLst xmlns:a="http://schemas.openxmlformats.org/drawingml/2006/main">
              <a:ext uri="{FF2B5EF4-FFF2-40B4-BE49-F238E27FC236}">
                <a16:creationId xmlns:a16="http://schemas.microsoft.com/office/drawing/2014/main" id="{45B27402-B79B-49D1-B7C1-C823E357C410}"/>
              </a:ext>
            </a:extLst>
          </p:cNvPr>
          <p:cNvSpPr>
            <a:spLocks xmlns:a="http://schemas.openxmlformats.org/drawingml/2006/main" noGrp="1"/>
          </p:cNvSpPr>
          <p:nvPr/>
        </p:nvSpPr>
        <p:spPr>
          <a:xfrm xmlns:a="http://schemas.openxmlformats.org/drawingml/2006/main">
            <a:off x="8146085" y="2231136"/>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25  The deployment factory</a:t>
            </a:r>
            <a:endParaRPr sz="830"/>
          </a:p>
        </p:txBody>
      </p:sp>
      <p:sp>
        <p:nvSpPr>
          <p:cNvPr id="31" name="Text 29">
            <a:extLst xmlns:a="http://schemas.openxmlformats.org/drawingml/2006/main">
              <a:ext uri="{FF2B5EF4-FFF2-40B4-BE49-F238E27FC236}">
                <a16:creationId xmlns:a16="http://schemas.microsoft.com/office/drawing/2014/main" id="{E63658A6-EC36-4EF6-A6D4-4E33E818F0B1}"/>
              </a:ext>
            </a:extLst>
          </p:cNvPr>
          <p:cNvSpPr>
            <a:spLocks xmlns:a="http://schemas.openxmlformats.org/drawingml/2006/main" noGrp="1"/>
          </p:cNvSpPr>
          <p:nvPr/>
        </p:nvSpPr>
        <p:spPr>
          <a:xfrm xmlns:a="http://schemas.openxmlformats.org/drawingml/2006/main">
            <a:off x="8146085" y="2417262"/>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26  The integration tax</a:t>
            </a:r>
            <a:endParaRPr sz="830"/>
          </a:p>
        </p:txBody>
      </p:sp>
      <p:sp>
        <p:nvSpPr>
          <p:cNvPr id="32" name="Text 30">
            <a:extLst xmlns:a="http://schemas.openxmlformats.org/drawingml/2006/main">
              <a:ext uri="{FF2B5EF4-FFF2-40B4-BE49-F238E27FC236}">
                <a16:creationId xmlns:a16="http://schemas.microsoft.com/office/drawing/2014/main" id="{37165623-CFC6-4133-9FA9-9BEE432157D3}"/>
              </a:ext>
            </a:extLst>
          </p:cNvPr>
          <p:cNvSpPr>
            <a:spLocks xmlns:a="http://schemas.openxmlformats.org/drawingml/2006/main" noGrp="1"/>
          </p:cNvSpPr>
          <p:nvPr/>
        </p:nvSpPr>
        <p:spPr>
          <a:xfrm xmlns:a="http://schemas.openxmlformats.org/drawingml/2006/main">
            <a:off x="8146085" y="2603388"/>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27  Six 360s and an action centre</a:t>
            </a:r>
            <a:endParaRPr sz="830"/>
          </a:p>
        </p:txBody>
      </p:sp>
      <p:sp>
        <p:nvSpPr>
          <p:cNvPr id="33" name="Text 31">
            <a:extLst xmlns:a="http://schemas.openxmlformats.org/drawingml/2006/main">
              <a:ext uri="{FF2B5EF4-FFF2-40B4-BE49-F238E27FC236}">
                <a16:creationId xmlns:a16="http://schemas.microsoft.com/office/drawing/2014/main" id="{E24988AE-092A-46F9-ADE7-36A0D3692D80}"/>
              </a:ext>
            </a:extLst>
          </p:cNvPr>
          <p:cNvSpPr>
            <a:spLocks xmlns:a="http://schemas.openxmlformats.org/drawingml/2006/main" noGrp="1"/>
          </p:cNvSpPr>
          <p:nvPr/>
        </p:nvSpPr>
        <p:spPr>
          <a:xfrm xmlns:a="http://schemas.openxmlformats.org/drawingml/2006/main">
            <a:off x="8146085" y="2929920"/>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28  Card servicing, three processors</a:t>
            </a:r>
            <a:endParaRPr sz="830"/>
          </a:p>
        </p:txBody>
      </p:sp>
      <p:sp>
        <p:nvSpPr>
          <p:cNvPr id="34" name="Text 32">
            <a:extLst xmlns:a="http://schemas.openxmlformats.org/drawingml/2006/main">
              <a:ext uri="{FF2B5EF4-FFF2-40B4-BE49-F238E27FC236}">
                <a16:creationId xmlns:a16="http://schemas.microsoft.com/office/drawing/2014/main" id="{00F74068-7010-4830-B1F0-B60282F89EFA}"/>
              </a:ext>
            </a:extLst>
          </p:cNvPr>
          <p:cNvSpPr>
            <a:spLocks xmlns:a="http://schemas.openxmlformats.org/drawingml/2006/main" noGrp="1"/>
          </p:cNvSpPr>
          <p:nvPr/>
        </p:nvSpPr>
        <p:spPr>
          <a:xfrm xmlns:a="http://schemas.openxmlformats.org/drawingml/2006/main">
            <a:off x="8146085" y="3256453"/>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29  Member banding and value</a:t>
            </a:r>
            <a:endParaRPr sz="830"/>
          </a:p>
        </p:txBody>
      </p:sp>
      <p:sp>
        <p:nvSpPr>
          <p:cNvPr id="35" name="Shape 33">
            <a:extLst xmlns:a="http://schemas.openxmlformats.org/drawingml/2006/main">
              <a:ext uri="{FF2B5EF4-FFF2-40B4-BE49-F238E27FC236}">
                <a16:creationId xmlns:a16="http://schemas.microsoft.com/office/drawing/2014/main" id="{01CBFA18-BB59-4D01-9D20-89D19CA2A298}"/>
              </a:ext>
            </a:extLst>
          </p:cNvPr>
          <p:cNvSpPr>
            <a:spLocks xmlns:a="http://schemas.openxmlformats.org/drawingml/2006/main" noGrp="1"/>
          </p:cNvSpPr>
          <p:nvPr/>
        </p:nvSpPr>
        <p:spPr>
          <a:xfrm xmlns:a="http://schemas.openxmlformats.org/drawingml/2006/main">
            <a:off x="9857994" y="1517904"/>
            <a:ext cx="1766773" cy="1975104"/>
          </a:xfrm>
          <a:prstGeom xmlns:a="http://schemas.openxmlformats.org/drawingml/2006/main" prst="rect">
            <a:avLst/>
          </a:prstGeom>
          <a:solidFill xmlns:a="http://schemas.openxmlformats.org/drawingml/2006/main">
            <a:srgbClr val="F3E6E0"/>
          </a:solidFill>
        </p:spPr>
      </p:sp>
      <p:sp>
        <p:nvSpPr>
          <p:cNvPr id="36" name="Text 34">
            <a:extLst xmlns:a="http://schemas.openxmlformats.org/drawingml/2006/main">
              <a:ext uri="{FF2B5EF4-FFF2-40B4-BE49-F238E27FC236}">
                <a16:creationId xmlns:a16="http://schemas.microsoft.com/office/drawing/2014/main" id="{741E3740-5370-40A4-8C80-654A08C4BBF0}"/>
              </a:ext>
            </a:extLst>
          </p:cNvPr>
          <p:cNvSpPr>
            <a:spLocks xmlns:a="http://schemas.openxmlformats.org/drawingml/2006/main" noGrp="1"/>
          </p:cNvSpPr>
          <p:nvPr/>
        </p:nvSpPr>
        <p:spPr>
          <a:xfrm xmlns:a="http://schemas.openxmlformats.org/drawingml/2006/main">
            <a:off x="10004298" y="1627632"/>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Cross-account</a:t>
            </a:r>
            <a:endParaRPr sz="1000"/>
          </a:p>
        </p:txBody>
      </p:sp>
      <p:sp>
        <p:nvSpPr>
          <p:cNvPr id="37" name="Shape 35">
            <a:extLst xmlns:a="http://schemas.openxmlformats.org/drawingml/2006/main">
              <a:ext uri="{FF2B5EF4-FFF2-40B4-BE49-F238E27FC236}">
                <a16:creationId xmlns:a16="http://schemas.microsoft.com/office/drawing/2014/main" id="{6FCEAB10-E27C-4903-BAF6-1A2CA2BAD03C}"/>
              </a:ext>
            </a:extLst>
          </p:cNvPr>
          <p:cNvSpPr>
            <a:spLocks xmlns:a="http://schemas.openxmlformats.org/drawingml/2006/main" noGrp="1"/>
          </p:cNvSpPr>
          <p:nvPr/>
        </p:nvSpPr>
        <p:spPr>
          <a:xfrm xmlns:a="http://schemas.openxmlformats.org/drawingml/2006/main">
            <a:off x="10004298" y="2103120"/>
            <a:ext cx="1474165" cy="20117"/>
          </a:xfrm>
          <a:prstGeom xmlns:a="http://schemas.openxmlformats.org/drawingml/2006/main" prst="rect">
            <a:avLst/>
          </a:prstGeom>
          <a:solidFill xmlns:a="http://schemas.openxmlformats.org/drawingml/2006/main">
            <a:srgbClr val="B04A25"/>
          </a:solidFill>
        </p:spPr>
      </p:sp>
      <p:sp>
        <p:nvSpPr>
          <p:cNvPr id="38" name="Text 36">
            <a:extLst xmlns:a="http://schemas.openxmlformats.org/drawingml/2006/main">
              <a:ext uri="{FF2B5EF4-FFF2-40B4-BE49-F238E27FC236}">
                <a16:creationId xmlns:a16="http://schemas.microsoft.com/office/drawing/2014/main" id="{8B24323E-77E3-4533-9154-914B275CD77C}"/>
              </a:ext>
            </a:extLst>
          </p:cNvPr>
          <p:cNvSpPr>
            <a:spLocks xmlns:a="http://schemas.openxmlformats.org/drawingml/2006/main" noGrp="1"/>
          </p:cNvSpPr>
          <p:nvPr/>
        </p:nvSpPr>
        <p:spPr>
          <a:xfrm xmlns:a="http://schemas.openxmlformats.org/drawingml/2006/main">
            <a:off x="10004298" y="2231136"/>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19  Group exposure is the hard problem</a:t>
            </a:r>
            <a:endParaRPr sz="830"/>
          </a:p>
        </p:txBody>
      </p:sp>
      <p:sp>
        <p:nvSpPr>
          <p:cNvPr id="39" name="Text 37">
            <a:extLst xmlns:a="http://schemas.openxmlformats.org/drawingml/2006/main">
              <a:ext uri="{FF2B5EF4-FFF2-40B4-BE49-F238E27FC236}">
                <a16:creationId xmlns:a16="http://schemas.microsoft.com/office/drawing/2014/main" id="{2BEF2E9F-EAF4-40CB-B6EF-E00B1C92E25B}"/>
              </a:ext>
            </a:extLst>
          </p:cNvPr>
          <p:cNvSpPr>
            <a:spLocks xmlns:a="http://schemas.openxmlformats.org/drawingml/2006/main" noGrp="1"/>
          </p:cNvSpPr>
          <p:nvPr/>
        </p:nvSpPr>
        <p:spPr>
          <a:xfrm xmlns:a="http://schemas.openxmlformats.org/drawingml/2006/main">
            <a:off x="10004298" y="2557668"/>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30  Notes from 38 programmes</a:t>
            </a:r>
            <a:endParaRPr sz="830"/>
          </a:p>
        </p:txBody>
      </p:sp>
      <p:sp>
        <p:nvSpPr>
          <p:cNvPr id="40" name="Text 38">
            <a:extLst xmlns:a="http://schemas.openxmlformats.org/drawingml/2006/main">
              <a:ext uri="{FF2B5EF4-FFF2-40B4-BE49-F238E27FC236}">
                <a16:creationId xmlns:a16="http://schemas.microsoft.com/office/drawing/2014/main" id="{3A02C145-23B6-41D3-93F7-E5AD131FD4AE}"/>
              </a:ext>
            </a:extLst>
          </p:cNvPr>
          <p:cNvSpPr>
            <a:spLocks xmlns:a="http://schemas.openxmlformats.org/drawingml/2006/main" noGrp="1"/>
          </p:cNvSpPr>
          <p:nvPr/>
        </p:nvSpPr>
        <p:spPr>
          <a:xfrm xmlns:a="http://schemas.openxmlformats.org/drawingml/2006/main">
            <a:off x="566928" y="367588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486581"/>
                </a:solidFill>
                <a:latin typeface="Arial"/>
                <a:ea typeface="Arial"/>
                <a:cs typeface="Arial"/>
              </a:rPr>
              <a:t>SOLUTION, PRESALES AND ANALYSIS — NINE FURTHER INSTITUTIONS</a:t>
            </a:r>
            <a:endParaRPr sz="800"/>
          </a:p>
        </p:txBody>
      </p:sp>
      <p:sp>
        <p:nvSpPr>
          <p:cNvPr id="41" name="Shape 39">
            <a:extLst xmlns:a="http://schemas.openxmlformats.org/drawingml/2006/main">
              <a:ext uri="{FF2B5EF4-FFF2-40B4-BE49-F238E27FC236}">
                <a16:creationId xmlns:a16="http://schemas.microsoft.com/office/drawing/2014/main" id="{07ED8BD4-BBC5-425C-AB81-BD2CA1FF81C4}"/>
              </a:ext>
            </a:extLst>
          </p:cNvPr>
          <p:cNvSpPr>
            <a:spLocks xmlns:a="http://schemas.openxmlformats.org/drawingml/2006/main" noGrp="1"/>
          </p:cNvSpPr>
          <p:nvPr/>
        </p:nvSpPr>
        <p:spPr>
          <a:xfrm xmlns:a="http://schemas.openxmlformats.org/drawingml/2006/main">
            <a:off x="566928" y="3913632"/>
            <a:ext cx="1766773" cy="1847088"/>
          </a:xfrm>
          <a:prstGeom xmlns:a="http://schemas.openxmlformats.org/drawingml/2006/main" prst="rect">
            <a:avLst/>
          </a:prstGeom>
          <a:solidFill xmlns:a="http://schemas.openxmlformats.org/drawingml/2006/main">
            <a:srgbClr val="F0F4F8"/>
          </a:solidFill>
        </p:spPr>
      </p:sp>
      <p:sp>
        <p:nvSpPr>
          <p:cNvPr id="42" name="Text 40">
            <a:extLst xmlns:a="http://schemas.openxmlformats.org/drawingml/2006/main">
              <a:ext uri="{FF2B5EF4-FFF2-40B4-BE49-F238E27FC236}">
                <a16:creationId xmlns:a16="http://schemas.microsoft.com/office/drawing/2014/main" id="{EB65F91F-C2F4-4DBC-A64B-77B68A5E0FC0}"/>
              </a:ext>
            </a:extLst>
          </p:cNvPr>
          <p:cNvSpPr>
            <a:spLocks xmlns:a="http://schemas.openxmlformats.org/drawingml/2006/main" noGrp="1"/>
          </p:cNvSpPr>
          <p:nvPr/>
        </p:nvSpPr>
        <p:spPr>
          <a:xfrm xmlns:a="http://schemas.openxmlformats.org/drawingml/2006/main">
            <a:off x="713232" y="4023360"/>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State Bank of India</a:t>
            </a:r>
            <a:endParaRPr sz="1000"/>
          </a:p>
        </p:txBody>
      </p:sp>
      <p:sp>
        <p:nvSpPr>
          <p:cNvPr id="43" name="Shape 41">
            <a:extLst xmlns:a="http://schemas.openxmlformats.org/drawingml/2006/main">
              <a:ext uri="{FF2B5EF4-FFF2-40B4-BE49-F238E27FC236}">
                <a16:creationId xmlns:a16="http://schemas.microsoft.com/office/drawing/2014/main" id="{2D7D1D64-932D-48C8-ADB9-AA5D32C4601C}"/>
              </a:ext>
            </a:extLst>
          </p:cNvPr>
          <p:cNvSpPr>
            <a:spLocks xmlns:a="http://schemas.openxmlformats.org/drawingml/2006/main" noGrp="1"/>
          </p:cNvSpPr>
          <p:nvPr/>
        </p:nvSpPr>
        <p:spPr>
          <a:xfrm xmlns:a="http://schemas.openxmlformats.org/drawingml/2006/main">
            <a:off x="713232" y="4498848"/>
            <a:ext cx="1474165" cy="20117"/>
          </a:xfrm>
          <a:prstGeom xmlns:a="http://schemas.openxmlformats.org/drawingml/2006/main" prst="rect">
            <a:avLst/>
          </a:prstGeom>
          <a:solidFill xmlns:a="http://schemas.openxmlformats.org/drawingml/2006/main">
            <a:srgbClr val="486581"/>
          </a:solidFill>
        </p:spPr>
      </p:sp>
      <p:sp>
        <p:nvSpPr>
          <p:cNvPr id="44" name="Text 42">
            <a:extLst xmlns:a="http://schemas.openxmlformats.org/drawingml/2006/main">
              <a:ext uri="{FF2B5EF4-FFF2-40B4-BE49-F238E27FC236}">
                <a16:creationId xmlns:a16="http://schemas.microsoft.com/office/drawing/2014/main" id="{139438A1-261C-4BB5-A2B8-5A6866A42D27}"/>
              </a:ext>
            </a:extLst>
          </p:cNvPr>
          <p:cNvSpPr>
            <a:spLocks xmlns:a="http://schemas.openxmlformats.org/drawingml/2006/main" noGrp="1"/>
          </p:cNvSpPr>
          <p:nvPr/>
        </p:nvSpPr>
        <p:spPr>
          <a:xfrm xmlns:a="http://schemas.openxmlformats.org/drawingml/2006/main">
            <a:off x="713232" y="4626864"/>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04  Operating CRM at 300,000 users</a:t>
            </a:r>
            <a:endParaRPr sz="830"/>
          </a:p>
        </p:txBody>
      </p:sp>
      <p:sp>
        <p:nvSpPr>
          <p:cNvPr id="45" name="Text 43">
            <a:extLst xmlns:a="http://schemas.openxmlformats.org/drawingml/2006/main">
              <a:ext uri="{FF2B5EF4-FFF2-40B4-BE49-F238E27FC236}">
                <a16:creationId xmlns:a16="http://schemas.microsoft.com/office/drawing/2014/main" id="{0B270BBD-FEE6-41BB-9B9E-49602CB68ADA}"/>
              </a:ext>
            </a:extLst>
          </p:cNvPr>
          <p:cNvSpPr>
            <a:spLocks xmlns:a="http://schemas.openxmlformats.org/drawingml/2006/main" noGrp="1"/>
          </p:cNvSpPr>
          <p:nvPr/>
        </p:nvSpPr>
        <p:spPr>
          <a:xfrm xmlns:a="http://schemas.openxmlformats.org/drawingml/2006/main">
            <a:off x="713232" y="4953396"/>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05  Reading an enterprise AI RFP</a:t>
            </a:r>
            <a:endParaRPr sz="830"/>
          </a:p>
        </p:txBody>
      </p:sp>
      <p:sp>
        <p:nvSpPr>
          <p:cNvPr id="46" name="Text 44">
            <a:extLst xmlns:a="http://schemas.openxmlformats.org/drawingml/2006/main">
              <a:ext uri="{FF2B5EF4-FFF2-40B4-BE49-F238E27FC236}">
                <a16:creationId xmlns:a16="http://schemas.microsoft.com/office/drawing/2014/main" id="{C2FA2BA5-88FB-424B-AFBC-E3BA37449D90}"/>
              </a:ext>
            </a:extLst>
          </p:cNvPr>
          <p:cNvSpPr>
            <a:spLocks xmlns:a="http://schemas.openxmlformats.org/drawingml/2006/main" noGrp="1"/>
          </p:cNvSpPr>
          <p:nvPr/>
        </p:nvSpPr>
        <p:spPr>
          <a:xfrm xmlns:a="http://schemas.openxmlformats.org/drawingml/2006/main">
            <a:off x="713232" y="5279928"/>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06  Seventy-five use cases, three years</a:t>
            </a:r>
            <a:endParaRPr sz="830"/>
          </a:p>
        </p:txBody>
      </p:sp>
      <p:sp>
        <p:nvSpPr>
          <p:cNvPr id="47" name="Shape 45">
            <a:extLst xmlns:a="http://schemas.openxmlformats.org/drawingml/2006/main">
              <a:ext uri="{FF2B5EF4-FFF2-40B4-BE49-F238E27FC236}">
                <a16:creationId xmlns:a16="http://schemas.microsoft.com/office/drawing/2014/main" id="{69C532F1-56F1-4863-B57E-6B5B381F392E}"/>
              </a:ext>
            </a:extLst>
          </p:cNvPr>
          <p:cNvSpPr>
            <a:spLocks xmlns:a="http://schemas.openxmlformats.org/drawingml/2006/main" noGrp="1"/>
          </p:cNvSpPr>
          <p:nvPr/>
        </p:nvSpPr>
        <p:spPr>
          <a:xfrm xmlns:a="http://schemas.openxmlformats.org/drawingml/2006/main">
            <a:off x="2425141" y="3913632"/>
            <a:ext cx="1766773" cy="1847088"/>
          </a:xfrm>
          <a:prstGeom xmlns:a="http://schemas.openxmlformats.org/drawingml/2006/main" prst="rect">
            <a:avLst/>
          </a:prstGeom>
          <a:solidFill xmlns:a="http://schemas.openxmlformats.org/drawingml/2006/main">
            <a:srgbClr val="F0F4F8"/>
          </a:solidFill>
        </p:spPr>
      </p:sp>
      <p:sp>
        <p:nvSpPr>
          <p:cNvPr id="48" name="Text 46">
            <a:extLst xmlns:a="http://schemas.openxmlformats.org/drawingml/2006/main">
              <a:ext uri="{FF2B5EF4-FFF2-40B4-BE49-F238E27FC236}">
                <a16:creationId xmlns:a16="http://schemas.microsoft.com/office/drawing/2014/main" id="{DE335391-F540-4505-B456-2748287BCB51}"/>
              </a:ext>
            </a:extLst>
          </p:cNvPr>
          <p:cNvSpPr>
            <a:spLocks xmlns:a="http://schemas.openxmlformats.org/drawingml/2006/main" noGrp="1"/>
          </p:cNvSpPr>
          <p:nvPr/>
        </p:nvSpPr>
        <p:spPr>
          <a:xfrm xmlns:a="http://schemas.openxmlformats.org/drawingml/2006/main">
            <a:off x="2571445" y="4023360"/>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Axis Max Life</a:t>
            </a:r>
            <a:endParaRPr sz="1000"/>
          </a:p>
        </p:txBody>
      </p:sp>
      <p:sp>
        <p:nvSpPr>
          <p:cNvPr id="49" name="Shape 47">
            <a:extLst xmlns:a="http://schemas.openxmlformats.org/drawingml/2006/main">
              <a:ext uri="{FF2B5EF4-FFF2-40B4-BE49-F238E27FC236}">
                <a16:creationId xmlns:a16="http://schemas.microsoft.com/office/drawing/2014/main" id="{3C0A6D6A-69E9-4C48-84AD-9C4A13FC8EA9}"/>
              </a:ext>
            </a:extLst>
          </p:cNvPr>
          <p:cNvSpPr>
            <a:spLocks xmlns:a="http://schemas.openxmlformats.org/drawingml/2006/main" noGrp="1"/>
          </p:cNvSpPr>
          <p:nvPr/>
        </p:nvSpPr>
        <p:spPr>
          <a:xfrm xmlns:a="http://schemas.openxmlformats.org/drawingml/2006/main">
            <a:off x="2571445" y="4498848"/>
            <a:ext cx="1474165" cy="20117"/>
          </a:xfrm>
          <a:prstGeom xmlns:a="http://schemas.openxmlformats.org/drawingml/2006/main" prst="rect">
            <a:avLst/>
          </a:prstGeom>
          <a:solidFill xmlns:a="http://schemas.openxmlformats.org/drawingml/2006/main">
            <a:srgbClr val="486581"/>
          </a:solidFill>
        </p:spPr>
      </p:sp>
      <p:sp>
        <p:nvSpPr>
          <p:cNvPr id="50" name="Text 48">
            <a:extLst xmlns:a="http://schemas.openxmlformats.org/drawingml/2006/main">
              <a:ext uri="{FF2B5EF4-FFF2-40B4-BE49-F238E27FC236}">
                <a16:creationId xmlns:a16="http://schemas.microsoft.com/office/drawing/2014/main" id="{9BE8D17D-6F97-41C4-8B04-B58F7D1E920A}"/>
              </a:ext>
            </a:extLst>
          </p:cNvPr>
          <p:cNvSpPr>
            <a:spLocks xmlns:a="http://schemas.openxmlformats.org/drawingml/2006/main" noGrp="1"/>
          </p:cNvSpPr>
          <p:nvPr/>
        </p:nvSpPr>
        <p:spPr>
          <a:xfrm xmlns:a="http://schemas.openxmlformats.org/drawingml/2006/main">
            <a:off x="2571445" y="4626864"/>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07  Displacing the incumbent</a:t>
            </a:r>
            <a:endParaRPr sz="830"/>
          </a:p>
        </p:txBody>
      </p:sp>
      <p:sp>
        <p:nvSpPr>
          <p:cNvPr id="51" name="Text 49">
            <a:extLst xmlns:a="http://schemas.openxmlformats.org/drawingml/2006/main">
              <a:ext uri="{FF2B5EF4-FFF2-40B4-BE49-F238E27FC236}">
                <a16:creationId xmlns:a16="http://schemas.microsoft.com/office/drawing/2014/main" id="{1BE67C29-961B-4920-8C28-A5B1CE76842F}"/>
              </a:ext>
            </a:extLst>
          </p:cNvPr>
          <p:cNvSpPr>
            <a:spLocks xmlns:a="http://schemas.openxmlformats.org/drawingml/2006/main" noGrp="1"/>
          </p:cNvSpPr>
          <p:nvPr/>
        </p:nvSpPr>
        <p:spPr>
          <a:xfrm xmlns:a="http://schemas.openxmlformats.org/drawingml/2006/main">
            <a:off x="2571445" y="4812990"/>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08  Configurability as architecture</a:t>
            </a:r>
            <a:endParaRPr sz="830"/>
          </a:p>
        </p:txBody>
      </p:sp>
      <p:sp>
        <p:nvSpPr>
          <p:cNvPr id="52" name="Text 50">
            <a:extLst xmlns:a="http://schemas.openxmlformats.org/drawingml/2006/main">
              <a:ext uri="{FF2B5EF4-FFF2-40B4-BE49-F238E27FC236}">
                <a16:creationId xmlns:a16="http://schemas.microsoft.com/office/drawing/2014/main" id="{EC794242-A3FA-4E0C-8C88-5CC123E3DC87}"/>
              </a:ext>
            </a:extLst>
          </p:cNvPr>
          <p:cNvSpPr>
            <a:spLocks xmlns:a="http://schemas.openxmlformats.org/drawingml/2006/main" noGrp="1"/>
          </p:cNvSpPr>
          <p:nvPr/>
        </p:nvSpPr>
        <p:spPr>
          <a:xfrm xmlns:a="http://schemas.openxmlformats.org/drawingml/2006/main">
            <a:off x="2571445" y="5139522"/>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09  Five blockers and a deal</a:t>
            </a:r>
            <a:endParaRPr sz="830"/>
          </a:p>
        </p:txBody>
      </p:sp>
      <p:sp>
        <p:nvSpPr>
          <p:cNvPr id="53" name="Shape 51">
            <a:extLst xmlns:a="http://schemas.openxmlformats.org/drawingml/2006/main">
              <a:ext uri="{FF2B5EF4-FFF2-40B4-BE49-F238E27FC236}">
                <a16:creationId xmlns:a16="http://schemas.microsoft.com/office/drawing/2014/main" id="{F126DE17-C4DD-4E0B-B5F9-740529E5F874}"/>
              </a:ext>
            </a:extLst>
          </p:cNvPr>
          <p:cNvSpPr>
            <a:spLocks xmlns:a="http://schemas.openxmlformats.org/drawingml/2006/main" noGrp="1"/>
          </p:cNvSpPr>
          <p:nvPr/>
        </p:nvSpPr>
        <p:spPr>
          <a:xfrm xmlns:a="http://schemas.openxmlformats.org/drawingml/2006/main">
            <a:off x="4283354" y="3913632"/>
            <a:ext cx="1766773" cy="1847088"/>
          </a:xfrm>
          <a:prstGeom xmlns:a="http://schemas.openxmlformats.org/drawingml/2006/main" prst="rect">
            <a:avLst/>
          </a:prstGeom>
          <a:solidFill xmlns:a="http://schemas.openxmlformats.org/drawingml/2006/main">
            <a:srgbClr val="F0F4F8"/>
          </a:solidFill>
        </p:spPr>
      </p:sp>
      <p:sp>
        <p:nvSpPr>
          <p:cNvPr id="54" name="Text 52">
            <a:extLst xmlns:a="http://schemas.openxmlformats.org/drawingml/2006/main">
              <a:ext uri="{FF2B5EF4-FFF2-40B4-BE49-F238E27FC236}">
                <a16:creationId xmlns:a16="http://schemas.microsoft.com/office/drawing/2014/main" id="{E16A7FFB-CD55-4877-97F1-BCCDE74D270B}"/>
              </a:ext>
            </a:extLst>
          </p:cNvPr>
          <p:cNvSpPr>
            <a:spLocks xmlns:a="http://schemas.openxmlformats.org/drawingml/2006/main" noGrp="1"/>
          </p:cNvSpPr>
          <p:nvPr/>
        </p:nvSpPr>
        <p:spPr>
          <a:xfrm xmlns:a="http://schemas.openxmlformats.org/drawingml/2006/main">
            <a:off x="4429658" y="4023360"/>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Maybank</a:t>
            </a:r>
            <a:endParaRPr sz="1000"/>
          </a:p>
        </p:txBody>
      </p:sp>
      <p:sp>
        <p:nvSpPr>
          <p:cNvPr id="55" name="Shape 53">
            <a:extLst xmlns:a="http://schemas.openxmlformats.org/drawingml/2006/main">
              <a:ext uri="{FF2B5EF4-FFF2-40B4-BE49-F238E27FC236}">
                <a16:creationId xmlns:a16="http://schemas.microsoft.com/office/drawing/2014/main" id="{828B3559-34D1-499F-84CB-93D2B48E6F46}"/>
              </a:ext>
            </a:extLst>
          </p:cNvPr>
          <p:cNvSpPr>
            <a:spLocks xmlns:a="http://schemas.openxmlformats.org/drawingml/2006/main" noGrp="1"/>
          </p:cNvSpPr>
          <p:nvPr/>
        </p:nvSpPr>
        <p:spPr>
          <a:xfrm xmlns:a="http://schemas.openxmlformats.org/drawingml/2006/main">
            <a:off x="4429658" y="4498848"/>
            <a:ext cx="1474165" cy="20117"/>
          </a:xfrm>
          <a:prstGeom xmlns:a="http://schemas.openxmlformats.org/drawingml/2006/main" prst="rect">
            <a:avLst/>
          </a:prstGeom>
          <a:solidFill xmlns:a="http://schemas.openxmlformats.org/drawingml/2006/main">
            <a:srgbClr val="486581"/>
          </a:solidFill>
        </p:spPr>
      </p:sp>
      <p:sp>
        <p:nvSpPr>
          <p:cNvPr id="56" name="Text 54">
            <a:extLst xmlns:a="http://schemas.openxmlformats.org/drawingml/2006/main">
              <a:ext uri="{FF2B5EF4-FFF2-40B4-BE49-F238E27FC236}">
                <a16:creationId xmlns:a16="http://schemas.microsoft.com/office/drawing/2014/main" id="{4994B9FB-2C5A-4D86-B8C7-D7390CCD9398}"/>
              </a:ext>
            </a:extLst>
          </p:cNvPr>
          <p:cNvSpPr>
            <a:spLocks xmlns:a="http://schemas.openxmlformats.org/drawingml/2006/main" noGrp="1"/>
          </p:cNvSpPr>
          <p:nvPr/>
        </p:nvSpPr>
        <p:spPr>
          <a:xfrm xmlns:a="http://schemas.openxmlformats.org/drawingml/2006/main">
            <a:off x="4429658" y="4626864"/>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20  Nine architectures, two finalists</a:t>
            </a:r>
            <a:endParaRPr sz="830"/>
          </a:p>
        </p:txBody>
      </p:sp>
      <p:sp>
        <p:nvSpPr>
          <p:cNvPr id="57" name="Text 55">
            <a:extLst xmlns:a="http://schemas.openxmlformats.org/drawingml/2006/main">
              <a:ext uri="{FF2B5EF4-FFF2-40B4-BE49-F238E27FC236}">
                <a16:creationId xmlns:a16="http://schemas.microsoft.com/office/drawing/2014/main" id="{28989BD8-A20D-4CFA-A02D-D3247D073033}"/>
              </a:ext>
            </a:extLst>
          </p:cNvPr>
          <p:cNvSpPr>
            <a:spLocks xmlns:a="http://schemas.openxmlformats.org/drawingml/2006/main" noGrp="1"/>
          </p:cNvSpPr>
          <p:nvPr/>
        </p:nvSpPr>
        <p:spPr>
          <a:xfrm xmlns:a="http://schemas.openxmlformats.org/drawingml/2006/main">
            <a:off x="4429658" y="4953396"/>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21  One architecture, three regulators</a:t>
            </a:r>
            <a:endParaRPr sz="830"/>
          </a:p>
        </p:txBody>
      </p:sp>
      <p:sp>
        <p:nvSpPr>
          <p:cNvPr id="58" name="Text 56">
            <a:extLst xmlns:a="http://schemas.openxmlformats.org/drawingml/2006/main">
              <a:ext uri="{FF2B5EF4-FFF2-40B4-BE49-F238E27FC236}">
                <a16:creationId xmlns:a16="http://schemas.microsoft.com/office/drawing/2014/main" id="{99C88779-6CD9-408C-A67B-B6289A034D3C}"/>
              </a:ext>
            </a:extLst>
          </p:cNvPr>
          <p:cNvSpPr>
            <a:spLocks xmlns:a="http://schemas.openxmlformats.org/drawingml/2006/main" noGrp="1"/>
          </p:cNvSpPr>
          <p:nvPr/>
        </p:nvSpPr>
        <p:spPr>
          <a:xfrm xmlns:a="http://schemas.openxmlformats.org/drawingml/2006/main">
            <a:off x="4429658" y="5279928"/>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22  What a technical panel asks</a:t>
            </a:r>
            <a:endParaRPr sz="830"/>
          </a:p>
        </p:txBody>
      </p:sp>
      <p:sp>
        <p:nvSpPr>
          <p:cNvPr id="59" name="Shape 57">
            <a:extLst xmlns:a="http://schemas.openxmlformats.org/drawingml/2006/main">
              <a:ext uri="{FF2B5EF4-FFF2-40B4-BE49-F238E27FC236}">
                <a16:creationId xmlns:a16="http://schemas.microsoft.com/office/drawing/2014/main" id="{3F8D72CD-9A1C-4C58-AEB9-F55A090D3D7D}"/>
              </a:ext>
            </a:extLst>
          </p:cNvPr>
          <p:cNvSpPr>
            <a:spLocks xmlns:a="http://schemas.openxmlformats.org/drawingml/2006/main" noGrp="1"/>
          </p:cNvSpPr>
          <p:nvPr/>
        </p:nvSpPr>
        <p:spPr>
          <a:xfrm xmlns:a="http://schemas.openxmlformats.org/drawingml/2006/main">
            <a:off x="6141568" y="3913632"/>
            <a:ext cx="1766773" cy="1847088"/>
          </a:xfrm>
          <a:prstGeom xmlns:a="http://schemas.openxmlformats.org/drawingml/2006/main" prst="rect">
            <a:avLst/>
          </a:prstGeom>
          <a:solidFill xmlns:a="http://schemas.openxmlformats.org/drawingml/2006/main">
            <a:srgbClr val="F0F4F8"/>
          </a:solidFill>
        </p:spPr>
      </p:sp>
      <p:sp>
        <p:nvSpPr>
          <p:cNvPr id="60" name="Text 58">
            <a:extLst xmlns:a="http://schemas.openxmlformats.org/drawingml/2006/main">
              <a:ext uri="{FF2B5EF4-FFF2-40B4-BE49-F238E27FC236}">
                <a16:creationId xmlns:a16="http://schemas.microsoft.com/office/drawing/2014/main" id="{5F18AFC7-4EBB-4574-B08A-BBA9586EE408}"/>
              </a:ext>
            </a:extLst>
          </p:cNvPr>
          <p:cNvSpPr>
            <a:spLocks xmlns:a="http://schemas.openxmlformats.org/drawingml/2006/main" noGrp="1"/>
          </p:cNvSpPr>
          <p:nvPr/>
        </p:nvSpPr>
        <p:spPr>
          <a:xfrm xmlns:a="http://schemas.openxmlformats.org/drawingml/2006/main">
            <a:off x="6287872" y="4023360"/>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Punjab National Bank</a:t>
            </a:r>
            <a:endParaRPr sz="1000"/>
          </a:p>
        </p:txBody>
      </p:sp>
      <p:sp>
        <p:nvSpPr>
          <p:cNvPr id="61" name="Shape 59">
            <a:extLst xmlns:a="http://schemas.openxmlformats.org/drawingml/2006/main">
              <a:ext uri="{FF2B5EF4-FFF2-40B4-BE49-F238E27FC236}">
                <a16:creationId xmlns:a16="http://schemas.microsoft.com/office/drawing/2014/main" id="{B4CD744B-018F-4B31-A952-04DBA4BC8767}"/>
              </a:ext>
            </a:extLst>
          </p:cNvPr>
          <p:cNvSpPr>
            <a:spLocks xmlns:a="http://schemas.openxmlformats.org/drawingml/2006/main" noGrp="1"/>
          </p:cNvSpPr>
          <p:nvPr/>
        </p:nvSpPr>
        <p:spPr>
          <a:xfrm xmlns:a="http://schemas.openxmlformats.org/drawingml/2006/main">
            <a:off x="6287872" y="4498848"/>
            <a:ext cx="1474165" cy="20117"/>
          </a:xfrm>
          <a:prstGeom xmlns:a="http://schemas.openxmlformats.org/drawingml/2006/main" prst="rect">
            <a:avLst/>
          </a:prstGeom>
          <a:solidFill xmlns:a="http://schemas.openxmlformats.org/drawingml/2006/main">
            <a:srgbClr val="486581"/>
          </a:solidFill>
        </p:spPr>
      </p:sp>
      <p:sp>
        <p:nvSpPr>
          <p:cNvPr id="62" name="Text 60">
            <a:extLst xmlns:a="http://schemas.openxmlformats.org/drawingml/2006/main">
              <a:ext uri="{FF2B5EF4-FFF2-40B4-BE49-F238E27FC236}">
                <a16:creationId xmlns:a16="http://schemas.microsoft.com/office/drawing/2014/main" id="{9AA0F4DB-7D7E-4856-901B-4CEE9CF2F5F3}"/>
              </a:ext>
            </a:extLst>
          </p:cNvPr>
          <p:cNvSpPr>
            <a:spLocks xmlns:a="http://schemas.openxmlformats.org/drawingml/2006/main" noGrp="1"/>
          </p:cNvSpPr>
          <p:nvPr/>
        </p:nvSpPr>
        <p:spPr>
          <a:xfrm xmlns:a="http://schemas.openxmlformats.org/drawingml/2006/main">
            <a:off x="6287872" y="4626864"/>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10  Two clocks, one engine</a:t>
            </a:r>
            <a:endParaRPr sz="830"/>
          </a:p>
        </p:txBody>
      </p:sp>
      <p:sp>
        <p:nvSpPr>
          <p:cNvPr id="63" name="Text 61">
            <a:extLst xmlns:a="http://schemas.openxmlformats.org/drawingml/2006/main">
              <a:ext uri="{FF2B5EF4-FFF2-40B4-BE49-F238E27FC236}">
                <a16:creationId xmlns:a16="http://schemas.microsoft.com/office/drawing/2014/main" id="{4D570F76-E057-4F06-A847-A128F85ABD80}"/>
              </a:ext>
            </a:extLst>
          </p:cNvPr>
          <p:cNvSpPr>
            <a:spLocks xmlns:a="http://schemas.openxmlformats.org/drawingml/2006/main" noGrp="1"/>
          </p:cNvSpPr>
          <p:nvPr/>
        </p:nvSpPr>
        <p:spPr>
          <a:xfrm xmlns:a="http://schemas.openxmlformats.org/drawingml/2006/main">
            <a:off x="6287872" y="4812990"/>
            <a:ext cx="1474165" cy="17698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11  The RM's day, rebuilt</a:t>
            </a:r>
            <a:endParaRPr sz="830"/>
          </a:p>
        </p:txBody>
      </p:sp>
      <p:sp>
        <p:nvSpPr>
          <p:cNvPr id="64" name="Shape 62">
            <a:extLst xmlns:a="http://schemas.openxmlformats.org/drawingml/2006/main">
              <a:ext uri="{FF2B5EF4-FFF2-40B4-BE49-F238E27FC236}">
                <a16:creationId xmlns:a16="http://schemas.microsoft.com/office/drawing/2014/main" id="{D7A7EE77-C288-48AA-AC95-C56B583DFBC5}"/>
              </a:ext>
            </a:extLst>
          </p:cNvPr>
          <p:cNvSpPr>
            <a:spLocks xmlns:a="http://schemas.openxmlformats.org/drawingml/2006/main" noGrp="1"/>
          </p:cNvSpPr>
          <p:nvPr/>
        </p:nvSpPr>
        <p:spPr>
          <a:xfrm xmlns:a="http://schemas.openxmlformats.org/drawingml/2006/main">
            <a:off x="7999781" y="3913632"/>
            <a:ext cx="1766773" cy="1847088"/>
          </a:xfrm>
          <a:prstGeom xmlns:a="http://schemas.openxmlformats.org/drawingml/2006/main" prst="rect">
            <a:avLst/>
          </a:prstGeom>
          <a:solidFill xmlns:a="http://schemas.openxmlformats.org/drawingml/2006/main">
            <a:srgbClr val="F0F4F8"/>
          </a:solidFill>
        </p:spPr>
      </p:sp>
      <p:sp>
        <p:nvSpPr>
          <p:cNvPr id="65" name="Text 63">
            <a:extLst xmlns:a="http://schemas.openxmlformats.org/drawingml/2006/main">
              <a:ext uri="{FF2B5EF4-FFF2-40B4-BE49-F238E27FC236}">
                <a16:creationId xmlns:a16="http://schemas.microsoft.com/office/drawing/2014/main" id="{14DE5013-2866-48C4-AC33-7DA3DB16DFA1}"/>
              </a:ext>
            </a:extLst>
          </p:cNvPr>
          <p:cNvSpPr>
            <a:spLocks xmlns:a="http://schemas.openxmlformats.org/drawingml/2006/main" noGrp="1"/>
          </p:cNvSpPr>
          <p:nvPr/>
        </p:nvSpPr>
        <p:spPr>
          <a:xfrm xmlns:a="http://schemas.openxmlformats.org/drawingml/2006/main">
            <a:off x="8146085" y="4023360"/>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Bank Danamon</a:t>
            </a:r>
            <a:endParaRPr sz="1000"/>
          </a:p>
        </p:txBody>
      </p:sp>
      <p:sp>
        <p:nvSpPr>
          <p:cNvPr id="66" name="Shape 64">
            <a:extLst xmlns:a="http://schemas.openxmlformats.org/drawingml/2006/main">
              <a:ext uri="{FF2B5EF4-FFF2-40B4-BE49-F238E27FC236}">
                <a16:creationId xmlns:a16="http://schemas.microsoft.com/office/drawing/2014/main" id="{1BF6979C-8818-4600-8CEE-44F1C229D792}"/>
              </a:ext>
            </a:extLst>
          </p:cNvPr>
          <p:cNvSpPr>
            <a:spLocks xmlns:a="http://schemas.openxmlformats.org/drawingml/2006/main" noGrp="1"/>
          </p:cNvSpPr>
          <p:nvPr/>
        </p:nvSpPr>
        <p:spPr>
          <a:xfrm xmlns:a="http://schemas.openxmlformats.org/drawingml/2006/main">
            <a:off x="8146085" y="4498848"/>
            <a:ext cx="1474165" cy="20117"/>
          </a:xfrm>
          <a:prstGeom xmlns:a="http://schemas.openxmlformats.org/drawingml/2006/main" prst="rect">
            <a:avLst/>
          </a:prstGeom>
          <a:solidFill xmlns:a="http://schemas.openxmlformats.org/drawingml/2006/main">
            <a:srgbClr val="486581"/>
          </a:solidFill>
        </p:spPr>
      </p:sp>
      <p:sp>
        <p:nvSpPr>
          <p:cNvPr id="67" name="Text 65">
            <a:extLst xmlns:a="http://schemas.openxmlformats.org/drawingml/2006/main">
              <a:ext uri="{FF2B5EF4-FFF2-40B4-BE49-F238E27FC236}">
                <a16:creationId xmlns:a16="http://schemas.microsoft.com/office/drawing/2014/main" id="{FD0EBDA7-5550-4027-8D08-E0E87C9D033D}"/>
              </a:ext>
            </a:extLst>
          </p:cNvPr>
          <p:cNvSpPr>
            <a:spLocks xmlns:a="http://schemas.openxmlformats.org/drawingml/2006/main" noGrp="1"/>
          </p:cNvSpPr>
          <p:nvPr/>
        </p:nvSpPr>
        <p:spPr>
          <a:xfrm xmlns:a="http://schemas.openxmlformats.org/drawingml/2006/main">
            <a:off x="8146085" y="4626864"/>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23  Six thousand call types to 526</a:t>
            </a:r>
            <a:endParaRPr sz="830"/>
          </a:p>
        </p:txBody>
      </p:sp>
      <p:sp>
        <p:nvSpPr>
          <p:cNvPr id="68" name="Shape 66">
            <a:extLst xmlns:a="http://schemas.openxmlformats.org/drawingml/2006/main">
              <a:ext uri="{FF2B5EF4-FFF2-40B4-BE49-F238E27FC236}">
                <a16:creationId xmlns:a16="http://schemas.microsoft.com/office/drawing/2014/main" id="{0D8A1E69-9058-4FE7-BD56-F655F8CC255E}"/>
              </a:ext>
            </a:extLst>
          </p:cNvPr>
          <p:cNvSpPr>
            <a:spLocks xmlns:a="http://schemas.openxmlformats.org/drawingml/2006/main" noGrp="1"/>
          </p:cNvSpPr>
          <p:nvPr/>
        </p:nvSpPr>
        <p:spPr>
          <a:xfrm xmlns:a="http://schemas.openxmlformats.org/drawingml/2006/main">
            <a:off x="9857994" y="3913632"/>
            <a:ext cx="1766773" cy="1847088"/>
          </a:xfrm>
          <a:prstGeom xmlns:a="http://schemas.openxmlformats.org/drawingml/2006/main" prst="rect">
            <a:avLst/>
          </a:prstGeom>
          <a:solidFill xmlns:a="http://schemas.openxmlformats.org/drawingml/2006/main">
            <a:srgbClr val="F0F4F8"/>
          </a:solidFill>
        </p:spPr>
      </p:sp>
      <p:sp>
        <p:nvSpPr>
          <p:cNvPr id="69" name="Text 67">
            <a:extLst xmlns:a="http://schemas.openxmlformats.org/drawingml/2006/main">
              <a:ext uri="{FF2B5EF4-FFF2-40B4-BE49-F238E27FC236}">
                <a16:creationId xmlns:a16="http://schemas.microsoft.com/office/drawing/2014/main" id="{82492493-FDE6-473C-89CB-DCC695DD8BA6}"/>
              </a:ext>
            </a:extLst>
          </p:cNvPr>
          <p:cNvSpPr>
            <a:spLocks xmlns:a="http://schemas.openxmlformats.org/drawingml/2006/main" noGrp="1"/>
          </p:cNvSpPr>
          <p:nvPr/>
        </p:nvSpPr>
        <p:spPr>
          <a:xfrm xmlns:a="http://schemas.openxmlformats.org/drawingml/2006/main">
            <a:off x="10004298" y="4023360"/>
            <a:ext cx="14741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ASEAN  ·  3 banks</a:t>
            </a:r>
            <a:endParaRPr sz="1000"/>
          </a:p>
        </p:txBody>
      </p:sp>
      <p:sp>
        <p:nvSpPr>
          <p:cNvPr id="70" name="Shape 68">
            <a:extLst xmlns:a="http://schemas.openxmlformats.org/drawingml/2006/main">
              <a:ext uri="{FF2B5EF4-FFF2-40B4-BE49-F238E27FC236}">
                <a16:creationId xmlns:a16="http://schemas.microsoft.com/office/drawing/2014/main" id="{477E6FC2-72EB-4460-8FDE-8679E9937AA8}"/>
              </a:ext>
            </a:extLst>
          </p:cNvPr>
          <p:cNvSpPr>
            <a:spLocks xmlns:a="http://schemas.openxmlformats.org/drawingml/2006/main" noGrp="1"/>
          </p:cNvSpPr>
          <p:nvPr/>
        </p:nvSpPr>
        <p:spPr>
          <a:xfrm xmlns:a="http://schemas.openxmlformats.org/drawingml/2006/main">
            <a:off x="10004298" y="4498848"/>
            <a:ext cx="1474165" cy="20117"/>
          </a:xfrm>
          <a:prstGeom xmlns:a="http://schemas.openxmlformats.org/drawingml/2006/main" prst="rect">
            <a:avLst/>
          </a:prstGeom>
          <a:solidFill xmlns:a="http://schemas.openxmlformats.org/drawingml/2006/main">
            <a:srgbClr val="486581"/>
          </a:solidFill>
        </p:spPr>
      </p:sp>
      <p:sp>
        <p:nvSpPr>
          <p:cNvPr id="71" name="Text 69">
            <a:extLst xmlns:a="http://schemas.openxmlformats.org/drawingml/2006/main">
              <a:ext uri="{FF2B5EF4-FFF2-40B4-BE49-F238E27FC236}">
                <a16:creationId xmlns:a16="http://schemas.microsoft.com/office/drawing/2014/main" id="{CEDAC689-F540-4FD0-AFED-2B4AA9575ACF}"/>
              </a:ext>
            </a:extLst>
          </p:cNvPr>
          <p:cNvSpPr>
            <a:spLocks xmlns:a="http://schemas.openxmlformats.org/drawingml/2006/main" noGrp="1"/>
          </p:cNvSpPr>
          <p:nvPr/>
        </p:nvSpPr>
        <p:spPr>
          <a:xfrm xmlns:a="http://schemas.openxmlformats.org/drawingml/2006/main">
            <a:off x="10004298" y="4626864"/>
            <a:ext cx="1474165" cy="3173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21"/>
              </a:lnSpc>
              <a:buNone/>
            </a:pPr>
            <a:r>
              <a:rPr sz="830">
                <a:solidFill>
                  <a:srgbClr val="1A1A1A"/>
                </a:solidFill>
                <a:latin typeface="Arial"/>
                <a:ea typeface="Arial"/>
                <a:cs typeface="Arial"/>
              </a:rPr>
              <a:t>24  Three banks, three entry points</a:t>
            </a:r>
            <a:endParaRPr sz="830"/>
          </a:p>
        </p:txBody>
      </p:sp>
      <p:sp>
        <p:nvSpPr>
          <p:cNvPr id="72" name="Shape 70">
            <a:extLst xmlns:a="http://schemas.openxmlformats.org/drawingml/2006/main">
              <a:ext uri="{FF2B5EF4-FFF2-40B4-BE49-F238E27FC236}">
                <a16:creationId xmlns:a16="http://schemas.microsoft.com/office/drawing/2014/main" id="{2801C75A-AA32-4C2E-B3EC-3F07A1E1013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73" name="Text 71">
            <a:extLst xmlns:a="http://schemas.openxmlformats.org/drawingml/2006/main">
              <a:ext uri="{FF2B5EF4-FFF2-40B4-BE49-F238E27FC236}">
                <a16:creationId xmlns:a16="http://schemas.microsoft.com/office/drawing/2014/main" id="{202BC424-B808-407E-AD94-E3504F685D8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Every deck states which class it is on slide 3 · action titles, sourced footers, 6–18 slides</a:t>
            </a:r>
            <a:endParaRPr sz="850"/>
          </a:p>
        </p:txBody>
      </p:sp>
      <p:sp>
        <p:nvSpPr>
          <p:cNvPr id="74" name="Text 72">
            <a:extLst xmlns:a="http://schemas.openxmlformats.org/drawingml/2006/main">
              <a:ext uri="{FF2B5EF4-FFF2-40B4-BE49-F238E27FC236}">
                <a16:creationId xmlns:a16="http://schemas.microsoft.com/office/drawing/2014/main" id="{7FEE3DA4-87E1-4589-BA9F-D01EE9FFC2D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850524930"/>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2FD869-E37A-4B04-ADA2-C736D9466A7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USE IT</a:t>
            </a:r>
            <a:endParaRPr sz="950"/>
          </a:p>
        </p:txBody>
      </p:sp>
      <p:sp>
        <p:nvSpPr>
          <p:cNvPr id="3" name="Text 1">
            <a:extLst xmlns:a="http://schemas.openxmlformats.org/drawingml/2006/main">
              <a:ext uri="{FF2B5EF4-FFF2-40B4-BE49-F238E27FC236}">
                <a16:creationId xmlns:a16="http://schemas.microsoft.com/office/drawing/2014/main" id="{EC1C346F-DEAD-4936-B895-371A9C6F0E2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Thirty decks is a library, not a pitch — five per conversation, chosen by what the</a:t>
            </a:r>
            <a:endParaRPr sz="1900"/>
          </a:p>
          <a:p xmlns:a="http://schemas.openxmlformats.org/drawingml/2006/main">
            <a:pPr marL="0" indent="0">
              <a:lnSpc>
                <a:spcPts val="2400"/>
              </a:lnSpc>
              <a:buNone/>
            </a:pPr>
            <a:r>
              <a:rPr sz="1900" b="1">
                <a:solidFill>
                  <a:srgbClr val="102A43"/>
                </a:solidFill>
                <a:latin typeface="Arial"/>
                <a:ea typeface="Arial"/>
                <a:cs typeface="Arial"/>
              </a:rPr>
              <a:t>role is actually assessing</a:t>
            </a:r>
            <a:endParaRPr sz="1900"/>
          </a:p>
        </p:txBody>
      </p:sp>
      <p:sp>
        <p:nvSpPr>
          <p:cNvPr id="4" name="Shape 2">
            <a:extLst xmlns:a="http://schemas.openxmlformats.org/drawingml/2006/main">
              <a:ext uri="{FF2B5EF4-FFF2-40B4-BE49-F238E27FC236}">
                <a16:creationId xmlns:a16="http://schemas.microsoft.com/office/drawing/2014/main" id="{D4DA6820-ADA8-4990-B76C-3E586753EA17}"/>
              </a:ext>
            </a:extLst>
          </p:cNvPr>
          <p:cNvSpPr>
            <a:spLocks xmlns:a="http://schemas.openxmlformats.org/drawingml/2006/main" noGrp="1"/>
          </p:cNvSpPr>
          <p:nvPr/>
        </p:nvSpPr>
        <p:spPr>
          <a:xfrm xmlns:a="http://schemas.openxmlformats.org/drawingml/2006/main">
            <a:off x="566928" y="1335024"/>
            <a:ext cx="2641016" cy="22860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E956367C-0DEA-4DDE-A130-915C67603743}"/>
              </a:ext>
            </a:extLst>
          </p:cNvPr>
          <p:cNvSpPr>
            <a:spLocks xmlns:a="http://schemas.openxmlformats.org/drawingml/2006/main" noGrp="1"/>
          </p:cNvSpPr>
          <p:nvPr/>
        </p:nvSpPr>
        <p:spPr>
          <a:xfrm xmlns:a="http://schemas.openxmlformats.org/drawingml/2006/main">
            <a:off x="749808"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Enterprise AI and value strategy</a:t>
            </a:r>
            <a:endParaRPr sz="1000"/>
          </a:p>
        </p:txBody>
      </p:sp>
      <p:sp>
        <p:nvSpPr>
          <p:cNvPr id="6" name="Shape 4">
            <a:extLst xmlns:a="http://schemas.openxmlformats.org/drawingml/2006/main">
              <a:ext uri="{FF2B5EF4-FFF2-40B4-BE49-F238E27FC236}">
                <a16:creationId xmlns:a16="http://schemas.microsoft.com/office/drawing/2014/main" id="{DA88846B-C88D-4546-8A62-0781AEB67AB2}"/>
              </a:ext>
            </a:extLst>
          </p:cNvPr>
          <p:cNvSpPr>
            <a:spLocks xmlns:a="http://schemas.openxmlformats.org/drawingml/2006/main" noGrp="1"/>
          </p:cNvSpPr>
          <p:nvPr/>
        </p:nvSpPr>
        <p:spPr>
          <a:xfrm xmlns:a="http://schemas.openxmlformats.org/drawingml/2006/main">
            <a:off x="749808" y="1956816"/>
            <a:ext cx="2275256" cy="20117"/>
          </a:xfrm>
          <a:prstGeom xmlns:a="http://schemas.openxmlformats.org/drawingml/2006/main" prst="rect">
            <a:avLst/>
          </a:prstGeom>
          <a:solidFill xmlns:a="http://schemas.openxmlformats.org/drawingml/2006/main">
            <a:srgbClr val="B04A25"/>
          </a:solidFill>
        </p:spPr>
      </p:sp>
      <p:sp>
        <p:nvSpPr>
          <p:cNvPr id="7" name="Text 5">
            <a:extLst xmlns:a="http://schemas.openxmlformats.org/drawingml/2006/main">
              <a:ext uri="{FF2B5EF4-FFF2-40B4-BE49-F238E27FC236}">
                <a16:creationId xmlns:a16="http://schemas.microsoft.com/office/drawing/2014/main" id="{9AEFF17C-B061-4BE2-AE86-7C3539B7236C}"/>
              </a:ext>
            </a:extLst>
          </p:cNvPr>
          <p:cNvSpPr>
            <a:spLocks xmlns:a="http://schemas.openxmlformats.org/drawingml/2006/main" noGrp="1"/>
          </p:cNvSpPr>
          <p:nvPr/>
        </p:nvSpPr>
        <p:spPr>
          <a:xfrm xmlns:a="http://schemas.openxmlformats.org/drawingml/2006/main">
            <a:off x="749808" y="208483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05  Reading an RFP like an evaluator</a:t>
            </a:r>
            <a:endParaRPr sz="900"/>
          </a:p>
        </p:txBody>
      </p:sp>
      <p:sp>
        <p:nvSpPr>
          <p:cNvPr id="8" name="Text 6">
            <a:extLst xmlns:a="http://schemas.openxmlformats.org/drawingml/2006/main">
              <a:ext uri="{FF2B5EF4-FFF2-40B4-BE49-F238E27FC236}">
                <a16:creationId xmlns:a16="http://schemas.microsoft.com/office/drawing/2014/main" id="{4E0234B4-3F6A-4E6E-9D21-E7B07690EB4C}"/>
              </a:ext>
            </a:extLst>
          </p:cNvPr>
          <p:cNvSpPr>
            <a:spLocks xmlns:a="http://schemas.openxmlformats.org/drawingml/2006/main" noGrp="1"/>
          </p:cNvSpPr>
          <p:nvPr/>
        </p:nvSpPr>
        <p:spPr>
          <a:xfrm xmlns:a="http://schemas.openxmlformats.org/drawingml/2006/main">
            <a:off x="749808" y="2282800"/>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06  Seventy-five use cases in three years</a:t>
            </a:r>
            <a:endParaRPr sz="900"/>
          </a:p>
        </p:txBody>
      </p:sp>
      <p:sp>
        <p:nvSpPr>
          <p:cNvPr id="9" name="Text 7">
            <a:extLst xmlns:a="http://schemas.openxmlformats.org/drawingml/2006/main">
              <a:ext uri="{FF2B5EF4-FFF2-40B4-BE49-F238E27FC236}">
                <a16:creationId xmlns:a16="http://schemas.microsoft.com/office/drawing/2014/main" id="{A53F1435-CC6E-4F06-B3E1-2201ACA79B90}"/>
              </a:ext>
            </a:extLst>
          </p:cNvPr>
          <p:cNvSpPr>
            <a:spLocks xmlns:a="http://schemas.openxmlformats.org/drawingml/2006/main" noGrp="1"/>
          </p:cNvSpPr>
          <p:nvPr/>
        </p:nvSpPr>
        <p:spPr>
          <a:xfrm xmlns:a="http://schemas.openxmlformats.org/drawingml/2006/main">
            <a:off x="749808" y="2480767"/>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20  Nine architectures, two finalists</a:t>
            </a:r>
            <a:endParaRPr sz="900"/>
          </a:p>
        </p:txBody>
      </p:sp>
      <p:sp>
        <p:nvSpPr>
          <p:cNvPr id="10" name="Text 8">
            <a:extLst xmlns:a="http://schemas.openxmlformats.org/drawingml/2006/main">
              <a:ext uri="{FF2B5EF4-FFF2-40B4-BE49-F238E27FC236}">
                <a16:creationId xmlns:a16="http://schemas.microsoft.com/office/drawing/2014/main" id="{59AD0C87-27E8-420A-AF51-6E652D9B84F7}"/>
              </a:ext>
            </a:extLst>
          </p:cNvPr>
          <p:cNvSpPr>
            <a:spLocks xmlns:a="http://schemas.openxmlformats.org/drawingml/2006/main" noGrp="1"/>
          </p:cNvSpPr>
          <p:nvPr/>
        </p:nvSpPr>
        <p:spPr>
          <a:xfrm xmlns:a="http://schemas.openxmlformats.org/drawingml/2006/main">
            <a:off x="749808" y="2678735"/>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10  Two clocks, one engine</a:t>
            </a:r>
            <a:endParaRPr sz="900"/>
          </a:p>
        </p:txBody>
      </p:sp>
      <p:sp>
        <p:nvSpPr>
          <p:cNvPr id="11" name="Text 9">
            <a:extLst xmlns:a="http://schemas.openxmlformats.org/drawingml/2006/main">
              <a:ext uri="{FF2B5EF4-FFF2-40B4-BE49-F238E27FC236}">
                <a16:creationId xmlns:a16="http://schemas.microsoft.com/office/drawing/2014/main" id="{C052C85E-AD49-445A-AE7A-23A20B89F662}"/>
              </a:ext>
            </a:extLst>
          </p:cNvPr>
          <p:cNvSpPr>
            <a:spLocks xmlns:a="http://schemas.openxmlformats.org/drawingml/2006/main" noGrp="1"/>
          </p:cNvSpPr>
          <p:nvPr/>
        </p:nvSpPr>
        <p:spPr>
          <a:xfrm xmlns:a="http://schemas.openxmlformats.org/drawingml/2006/main">
            <a:off x="749808" y="287670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30  Notes from 38 programmes</a:t>
            </a:r>
            <a:endParaRPr sz="900"/>
          </a:p>
        </p:txBody>
      </p:sp>
      <p:sp>
        <p:nvSpPr>
          <p:cNvPr id="12" name="Shape 10">
            <a:extLst xmlns:a="http://schemas.openxmlformats.org/drawingml/2006/main">
              <a:ext uri="{FF2B5EF4-FFF2-40B4-BE49-F238E27FC236}">
                <a16:creationId xmlns:a16="http://schemas.microsoft.com/office/drawing/2014/main" id="{9A5BE296-CE95-4356-9016-6C52685D33F3}"/>
              </a:ext>
            </a:extLst>
          </p:cNvPr>
          <p:cNvSpPr>
            <a:spLocks xmlns:a="http://schemas.openxmlformats.org/drawingml/2006/main" noGrp="1"/>
          </p:cNvSpPr>
          <p:nvPr/>
        </p:nvSpPr>
        <p:spPr>
          <a:xfrm xmlns:a="http://schemas.openxmlformats.org/drawingml/2006/main">
            <a:off x="3372536" y="1335024"/>
            <a:ext cx="2641016" cy="2286000"/>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554F9237-B903-4570-A10B-536127279FDF}"/>
              </a:ext>
            </a:extLst>
          </p:cNvPr>
          <p:cNvSpPr>
            <a:spLocks xmlns:a="http://schemas.openxmlformats.org/drawingml/2006/main" noGrp="1"/>
          </p:cNvSpPr>
          <p:nvPr/>
        </p:nvSpPr>
        <p:spPr>
          <a:xfrm xmlns:a="http://schemas.openxmlformats.org/drawingml/2006/main">
            <a:off x="3555416"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Transformation and programme leadership</a:t>
            </a:r>
            <a:endParaRPr sz="1000"/>
          </a:p>
        </p:txBody>
      </p:sp>
      <p:sp>
        <p:nvSpPr>
          <p:cNvPr id="14" name="Shape 12">
            <a:extLst xmlns:a="http://schemas.openxmlformats.org/drawingml/2006/main">
              <a:ext uri="{FF2B5EF4-FFF2-40B4-BE49-F238E27FC236}">
                <a16:creationId xmlns:a16="http://schemas.microsoft.com/office/drawing/2014/main" id="{53A116AB-3E42-423E-BD9E-291F4C7B2DD9}"/>
              </a:ext>
            </a:extLst>
          </p:cNvPr>
          <p:cNvSpPr>
            <a:spLocks xmlns:a="http://schemas.openxmlformats.org/drawingml/2006/main" noGrp="1"/>
          </p:cNvSpPr>
          <p:nvPr/>
        </p:nvSpPr>
        <p:spPr>
          <a:xfrm xmlns:a="http://schemas.openxmlformats.org/drawingml/2006/main">
            <a:off x="3555416" y="1956816"/>
            <a:ext cx="2275256" cy="20117"/>
          </a:xfrm>
          <a:prstGeom xmlns:a="http://schemas.openxmlformats.org/drawingml/2006/main" prst="rect">
            <a:avLst/>
          </a:prstGeom>
          <a:solidFill xmlns:a="http://schemas.openxmlformats.org/drawingml/2006/main">
            <a:srgbClr val="B04A25"/>
          </a:solidFill>
        </p:spPr>
      </p:sp>
      <p:sp>
        <p:nvSpPr>
          <p:cNvPr id="15" name="Text 13">
            <a:extLst xmlns:a="http://schemas.openxmlformats.org/drawingml/2006/main">
              <a:ext uri="{FF2B5EF4-FFF2-40B4-BE49-F238E27FC236}">
                <a16:creationId xmlns:a16="http://schemas.microsoft.com/office/drawing/2014/main" id="{18EBDA4D-D34C-4BB2-B7F0-8A8BD694ED90}"/>
              </a:ext>
            </a:extLst>
          </p:cNvPr>
          <p:cNvSpPr>
            <a:spLocks xmlns:a="http://schemas.openxmlformats.org/drawingml/2006/main" noGrp="1"/>
          </p:cNvSpPr>
          <p:nvPr/>
        </p:nvSpPr>
        <p:spPr>
          <a:xfrm xmlns:a="http://schemas.openxmlformats.org/drawingml/2006/main">
            <a:off x="3555416" y="208483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14  Eight programmes, three years</a:t>
            </a:r>
            <a:endParaRPr sz="900"/>
          </a:p>
        </p:txBody>
      </p:sp>
      <p:sp>
        <p:nvSpPr>
          <p:cNvPr id="16" name="Text 14">
            <a:extLst xmlns:a="http://schemas.openxmlformats.org/drawingml/2006/main">
              <a:ext uri="{FF2B5EF4-FFF2-40B4-BE49-F238E27FC236}">
                <a16:creationId xmlns:a16="http://schemas.microsoft.com/office/drawing/2014/main" id="{C741BB13-C87B-4A4C-9199-7AF16C597F60}"/>
              </a:ext>
            </a:extLst>
          </p:cNvPr>
          <p:cNvSpPr>
            <a:spLocks xmlns:a="http://schemas.openxmlformats.org/drawingml/2006/main" noGrp="1"/>
          </p:cNvSpPr>
          <p:nvPr/>
        </p:nvSpPr>
        <p:spPr>
          <a:xfrm xmlns:a="http://schemas.openxmlformats.org/drawingml/2006/main">
            <a:off x="3555416" y="2282800"/>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17  One corporate spine, six countries</a:t>
            </a:r>
            <a:endParaRPr sz="900"/>
          </a:p>
        </p:txBody>
      </p:sp>
      <p:sp>
        <p:nvSpPr>
          <p:cNvPr id="17" name="Text 15">
            <a:extLst xmlns:a="http://schemas.openxmlformats.org/drawingml/2006/main">
              <a:ext uri="{FF2B5EF4-FFF2-40B4-BE49-F238E27FC236}">
                <a16:creationId xmlns:a16="http://schemas.microsoft.com/office/drawing/2014/main" id="{FD6F141D-4C6F-4F45-9460-2153744BB1DC}"/>
              </a:ext>
            </a:extLst>
          </p:cNvPr>
          <p:cNvSpPr>
            <a:spLocks xmlns:a="http://schemas.openxmlformats.org/drawingml/2006/main" noGrp="1"/>
          </p:cNvSpPr>
          <p:nvPr/>
        </p:nvSpPr>
        <p:spPr>
          <a:xfrm xmlns:a="http://schemas.openxmlformats.org/drawingml/2006/main">
            <a:off x="3555416" y="2480767"/>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25  The deployment factory</a:t>
            </a:r>
            <a:endParaRPr sz="900"/>
          </a:p>
        </p:txBody>
      </p:sp>
      <p:sp>
        <p:nvSpPr>
          <p:cNvPr id="18" name="Text 16">
            <a:extLst xmlns:a="http://schemas.openxmlformats.org/drawingml/2006/main">
              <a:ext uri="{FF2B5EF4-FFF2-40B4-BE49-F238E27FC236}">
                <a16:creationId xmlns:a16="http://schemas.microsoft.com/office/drawing/2014/main" id="{45661AE3-B11D-4F27-B4FD-55172BABBF76}"/>
              </a:ext>
            </a:extLst>
          </p:cNvPr>
          <p:cNvSpPr>
            <a:spLocks xmlns:a="http://schemas.openxmlformats.org/drawingml/2006/main" noGrp="1"/>
          </p:cNvSpPr>
          <p:nvPr/>
        </p:nvSpPr>
        <p:spPr>
          <a:xfrm xmlns:a="http://schemas.openxmlformats.org/drawingml/2006/main">
            <a:off x="3555416" y="2678735"/>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01  Six journeys, four objectives</a:t>
            </a:r>
            <a:endParaRPr sz="900"/>
          </a:p>
        </p:txBody>
      </p:sp>
      <p:sp>
        <p:nvSpPr>
          <p:cNvPr id="19" name="Text 17">
            <a:extLst xmlns:a="http://schemas.openxmlformats.org/drawingml/2006/main">
              <a:ext uri="{FF2B5EF4-FFF2-40B4-BE49-F238E27FC236}">
                <a16:creationId xmlns:a16="http://schemas.microsoft.com/office/drawing/2014/main" id="{754BC83B-2509-43B2-A9A0-86511D6BA81E}"/>
              </a:ext>
            </a:extLst>
          </p:cNvPr>
          <p:cNvSpPr>
            <a:spLocks xmlns:a="http://schemas.openxmlformats.org/drawingml/2006/main" noGrp="1"/>
          </p:cNvSpPr>
          <p:nvPr/>
        </p:nvSpPr>
        <p:spPr>
          <a:xfrm xmlns:a="http://schemas.openxmlformats.org/drawingml/2006/main">
            <a:off x="3555416" y="287670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30  Notes from 38 programmes</a:t>
            </a:r>
            <a:endParaRPr sz="900"/>
          </a:p>
        </p:txBody>
      </p:sp>
      <p:sp>
        <p:nvSpPr>
          <p:cNvPr id="20" name="Shape 18">
            <a:extLst xmlns:a="http://schemas.openxmlformats.org/drawingml/2006/main">
              <a:ext uri="{FF2B5EF4-FFF2-40B4-BE49-F238E27FC236}">
                <a16:creationId xmlns:a16="http://schemas.microsoft.com/office/drawing/2014/main" id="{5CB9463D-6BBE-40B3-A7EE-0140B0EB20AC}"/>
              </a:ext>
            </a:extLst>
          </p:cNvPr>
          <p:cNvSpPr>
            <a:spLocks xmlns:a="http://schemas.openxmlformats.org/drawingml/2006/main" noGrp="1"/>
          </p:cNvSpPr>
          <p:nvPr/>
        </p:nvSpPr>
        <p:spPr>
          <a:xfrm xmlns:a="http://schemas.openxmlformats.org/drawingml/2006/main">
            <a:off x="6178144" y="1335024"/>
            <a:ext cx="2641016" cy="2286000"/>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DB847489-AAEA-4FFF-A39E-C1E3395718A5}"/>
              </a:ext>
            </a:extLst>
          </p:cNvPr>
          <p:cNvSpPr>
            <a:spLocks xmlns:a="http://schemas.openxmlformats.org/drawingml/2006/main" noGrp="1"/>
          </p:cNvSpPr>
          <p:nvPr/>
        </p:nvSpPr>
        <p:spPr>
          <a:xfrm xmlns:a="http://schemas.openxmlformats.org/drawingml/2006/main">
            <a:off x="6361024"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Architecture and platform</a:t>
            </a:r>
            <a:endParaRPr sz="1000"/>
          </a:p>
        </p:txBody>
      </p:sp>
      <p:sp>
        <p:nvSpPr>
          <p:cNvPr id="22" name="Shape 20">
            <a:extLst xmlns:a="http://schemas.openxmlformats.org/drawingml/2006/main">
              <a:ext uri="{FF2B5EF4-FFF2-40B4-BE49-F238E27FC236}">
                <a16:creationId xmlns:a16="http://schemas.microsoft.com/office/drawing/2014/main" id="{79F08464-2024-409B-A6A0-6F82FC352207}"/>
              </a:ext>
            </a:extLst>
          </p:cNvPr>
          <p:cNvSpPr>
            <a:spLocks xmlns:a="http://schemas.openxmlformats.org/drawingml/2006/main" noGrp="1"/>
          </p:cNvSpPr>
          <p:nvPr/>
        </p:nvSpPr>
        <p:spPr>
          <a:xfrm xmlns:a="http://schemas.openxmlformats.org/drawingml/2006/main">
            <a:off x="6361024" y="1956816"/>
            <a:ext cx="2275256" cy="20117"/>
          </a:xfrm>
          <a:prstGeom xmlns:a="http://schemas.openxmlformats.org/drawingml/2006/main" prst="rect">
            <a:avLst/>
          </a:prstGeom>
          <a:solidFill xmlns:a="http://schemas.openxmlformats.org/drawingml/2006/main">
            <a:srgbClr val="486581"/>
          </a:solidFill>
        </p:spPr>
      </p:sp>
      <p:sp>
        <p:nvSpPr>
          <p:cNvPr id="23" name="Text 21">
            <a:extLst xmlns:a="http://schemas.openxmlformats.org/drawingml/2006/main">
              <a:ext uri="{FF2B5EF4-FFF2-40B4-BE49-F238E27FC236}">
                <a16:creationId xmlns:a16="http://schemas.microsoft.com/office/drawing/2014/main" id="{FB35CE3E-E696-4C64-9944-6AB892C33DAA}"/>
              </a:ext>
            </a:extLst>
          </p:cNvPr>
          <p:cNvSpPr>
            <a:spLocks xmlns:a="http://schemas.openxmlformats.org/drawingml/2006/main" noGrp="1"/>
          </p:cNvSpPr>
          <p:nvPr/>
        </p:nvSpPr>
        <p:spPr>
          <a:xfrm xmlns:a="http://schemas.openxmlformats.org/drawingml/2006/main">
            <a:off x="6361024" y="208483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04  Operating CRM at 300,000 users</a:t>
            </a:r>
            <a:endParaRPr sz="900"/>
          </a:p>
        </p:txBody>
      </p:sp>
      <p:sp>
        <p:nvSpPr>
          <p:cNvPr id="24" name="Text 22">
            <a:extLst xmlns:a="http://schemas.openxmlformats.org/drawingml/2006/main">
              <a:ext uri="{FF2B5EF4-FFF2-40B4-BE49-F238E27FC236}">
                <a16:creationId xmlns:a16="http://schemas.microsoft.com/office/drawing/2014/main" id="{7CE9E478-221D-4A15-99BD-AF4D31203FA0}"/>
              </a:ext>
            </a:extLst>
          </p:cNvPr>
          <p:cNvSpPr>
            <a:spLocks xmlns:a="http://schemas.openxmlformats.org/drawingml/2006/main" noGrp="1"/>
          </p:cNvSpPr>
          <p:nvPr/>
        </p:nvSpPr>
        <p:spPr>
          <a:xfrm xmlns:a="http://schemas.openxmlformats.org/drawingml/2006/main">
            <a:off x="6361024" y="2282800"/>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08  Configurability as architecture</a:t>
            </a:r>
            <a:endParaRPr sz="900"/>
          </a:p>
        </p:txBody>
      </p:sp>
      <p:sp>
        <p:nvSpPr>
          <p:cNvPr id="25" name="Text 23">
            <a:extLst xmlns:a="http://schemas.openxmlformats.org/drawingml/2006/main">
              <a:ext uri="{FF2B5EF4-FFF2-40B4-BE49-F238E27FC236}">
                <a16:creationId xmlns:a16="http://schemas.microsoft.com/office/drawing/2014/main" id="{00B34486-67E4-4965-9A5F-BD45D0AFF41D}"/>
              </a:ext>
            </a:extLst>
          </p:cNvPr>
          <p:cNvSpPr>
            <a:spLocks xmlns:a="http://schemas.openxmlformats.org/drawingml/2006/main" noGrp="1"/>
          </p:cNvSpPr>
          <p:nvPr/>
        </p:nvSpPr>
        <p:spPr>
          <a:xfrm xmlns:a="http://schemas.openxmlformats.org/drawingml/2006/main">
            <a:off x="6361024" y="2480767"/>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21  One architecture, three regulators</a:t>
            </a:r>
            <a:endParaRPr sz="900"/>
          </a:p>
        </p:txBody>
      </p:sp>
      <p:sp>
        <p:nvSpPr>
          <p:cNvPr id="26" name="Text 24">
            <a:extLst xmlns:a="http://schemas.openxmlformats.org/drawingml/2006/main">
              <a:ext uri="{FF2B5EF4-FFF2-40B4-BE49-F238E27FC236}">
                <a16:creationId xmlns:a16="http://schemas.microsoft.com/office/drawing/2014/main" id="{6BAD2F3A-0A36-4F08-A6C8-7B368D92A5EA}"/>
              </a:ext>
            </a:extLst>
          </p:cNvPr>
          <p:cNvSpPr>
            <a:spLocks xmlns:a="http://schemas.openxmlformats.org/drawingml/2006/main" noGrp="1"/>
          </p:cNvSpPr>
          <p:nvPr/>
        </p:nvSpPr>
        <p:spPr>
          <a:xfrm xmlns:a="http://schemas.openxmlformats.org/drawingml/2006/main">
            <a:off x="6361024" y="2678735"/>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19  Group exposure</a:t>
            </a:r>
            <a:endParaRPr sz="900"/>
          </a:p>
        </p:txBody>
      </p:sp>
      <p:sp>
        <p:nvSpPr>
          <p:cNvPr id="27" name="Text 25">
            <a:extLst xmlns:a="http://schemas.openxmlformats.org/drawingml/2006/main">
              <a:ext uri="{FF2B5EF4-FFF2-40B4-BE49-F238E27FC236}">
                <a16:creationId xmlns:a16="http://schemas.microsoft.com/office/drawing/2014/main" id="{7B6EF2B1-BEC3-4AB8-8CB8-7B0A478D7554}"/>
              </a:ext>
            </a:extLst>
          </p:cNvPr>
          <p:cNvSpPr>
            <a:spLocks xmlns:a="http://schemas.openxmlformats.org/drawingml/2006/main" noGrp="1"/>
          </p:cNvSpPr>
          <p:nvPr/>
        </p:nvSpPr>
        <p:spPr>
          <a:xfrm xmlns:a="http://schemas.openxmlformats.org/drawingml/2006/main">
            <a:off x="6361024" y="287670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26  The integration tax</a:t>
            </a:r>
            <a:endParaRPr sz="900"/>
          </a:p>
        </p:txBody>
      </p:sp>
      <p:sp>
        <p:nvSpPr>
          <p:cNvPr id="28" name="Shape 26">
            <a:extLst xmlns:a="http://schemas.openxmlformats.org/drawingml/2006/main">
              <a:ext uri="{FF2B5EF4-FFF2-40B4-BE49-F238E27FC236}">
                <a16:creationId xmlns:a16="http://schemas.microsoft.com/office/drawing/2014/main" id="{C8AFDADF-98F3-43CD-8D6A-4AF74EFAFA2E}"/>
              </a:ext>
            </a:extLst>
          </p:cNvPr>
          <p:cNvSpPr>
            <a:spLocks xmlns:a="http://schemas.openxmlformats.org/drawingml/2006/main" noGrp="1"/>
          </p:cNvSpPr>
          <p:nvPr/>
        </p:nvSpPr>
        <p:spPr>
          <a:xfrm xmlns:a="http://schemas.openxmlformats.org/drawingml/2006/main">
            <a:off x="8983751" y="1335024"/>
            <a:ext cx="2641016" cy="2286000"/>
          </a:xfrm>
          <a:prstGeom xmlns:a="http://schemas.openxmlformats.org/drawingml/2006/main" prst="rect">
            <a:avLst/>
          </a:prstGeom>
          <a:solidFill xmlns:a="http://schemas.openxmlformats.org/drawingml/2006/main">
            <a:srgbClr val="F0F4F8"/>
          </a:solidFill>
        </p:spPr>
      </p:sp>
      <p:sp>
        <p:nvSpPr>
          <p:cNvPr id="29" name="Text 27">
            <a:extLst xmlns:a="http://schemas.openxmlformats.org/drawingml/2006/main">
              <a:ext uri="{FF2B5EF4-FFF2-40B4-BE49-F238E27FC236}">
                <a16:creationId xmlns:a16="http://schemas.microsoft.com/office/drawing/2014/main" id="{E7C27652-8C68-47A2-91F8-180176000F64}"/>
              </a:ext>
            </a:extLst>
          </p:cNvPr>
          <p:cNvSpPr>
            <a:spLocks xmlns:a="http://schemas.openxmlformats.org/drawingml/2006/main" noGrp="1"/>
          </p:cNvSpPr>
          <p:nvPr/>
        </p:nvSpPr>
        <p:spPr>
          <a:xfrm xmlns:a="http://schemas.openxmlformats.org/drawingml/2006/main">
            <a:off x="9166631"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Commercial and deal</a:t>
            </a:r>
            <a:endParaRPr sz="1000"/>
          </a:p>
        </p:txBody>
      </p:sp>
      <p:sp>
        <p:nvSpPr>
          <p:cNvPr id="30" name="Shape 28">
            <a:extLst xmlns:a="http://schemas.openxmlformats.org/drawingml/2006/main">
              <a:ext uri="{FF2B5EF4-FFF2-40B4-BE49-F238E27FC236}">
                <a16:creationId xmlns:a16="http://schemas.microsoft.com/office/drawing/2014/main" id="{5C25C91C-DEE3-4CE3-9D43-C53E4CA3740B}"/>
              </a:ext>
            </a:extLst>
          </p:cNvPr>
          <p:cNvSpPr>
            <a:spLocks xmlns:a="http://schemas.openxmlformats.org/drawingml/2006/main" noGrp="1"/>
          </p:cNvSpPr>
          <p:nvPr/>
        </p:nvSpPr>
        <p:spPr>
          <a:xfrm xmlns:a="http://schemas.openxmlformats.org/drawingml/2006/main">
            <a:off x="9166631" y="1956816"/>
            <a:ext cx="2275256" cy="20117"/>
          </a:xfrm>
          <a:prstGeom xmlns:a="http://schemas.openxmlformats.org/drawingml/2006/main" prst="rect">
            <a:avLst/>
          </a:prstGeom>
          <a:solidFill xmlns:a="http://schemas.openxmlformats.org/drawingml/2006/main">
            <a:srgbClr val="486581"/>
          </a:solidFill>
        </p:spPr>
      </p:sp>
      <p:sp>
        <p:nvSpPr>
          <p:cNvPr id="31" name="Text 29">
            <a:extLst xmlns:a="http://schemas.openxmlformats.org/drawingml/2006/main">
              <a:ext uri="{FF2B5EF4-FFF2-40B4-BE49-F238E27FC236}">
                <a16:creationId xmlns:a16="http://schemas.microsoft.com/office/drawing/2014/main" id="{CE497508-4C81-4766-8CB0-F0F14E2ED137}"/>
              </a:ext>
            </a:extLst>
          </p:cNvPr>
          <p:cNvSpPr>
            <a:spLocks xmlns:a="http://schemas.openxmlformats.org/drawingml/2006/main" noGrp="1"/>
          </p:cNvSpPr>
          <p:nvPr/>
        </p:nvSpPr>
        <p:spPr>
          <a:xfrm xmlns:a="http://schemas.openxmlformats.org/drawingml/2006/main">
            <a:off x="9166631" y="208483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09  Five blockers and a deal</a:t>
            </a:r>
            <a:endParaRPr sz="900"/>
          </a:p>
        </p:txBody>
      </p:sp>
      <p:sp>
        <p:nvSpPr>
          <p:cNvPr id="32" name="Text 30">
            <a:extLst xmlns:a="http://schemas.openxmlformats.org/drawingml/2006/main">
              <a:ext uri="{FF2B5EF4-FFF2-40B4-BE49-F238E27FC236}">
                <a16:creationId xmlns:a16="http://schemas.microsoft.com/office/drawing/2014/main" id="{F4949D29-5584-4AAF-8641-275BEBED5F31}"/>
              </a:ext>
            </a:extLst>
          </p:cNvPr>
          <p:cNvSpPr>
            <a:spLocks xmlns:a="http://schemas.openxmlformats.org/drawingml/2006/main" noGrp="1"/>
          </p:cNvSpPr>
          <p:nvPr/>
        </p:nvSpPr>
        <p:spPr>
          <a:xfrm xmlns:a="http://schemas.openxmlformats.org/drawingml/2006/main">
            <a:off x="9166631" y="2282800"/>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07  Displacing the incumbent</a:t>
            </a:r>
            <a:endParaRPr sz="900"/>
          </a:p>
        </p:txBody>
      </p:sp>
      <p:sp>
        <p:nvSpPr>
          <p:cNvPr id="33" name="Text 31">
            <a:extLst xmlns:a="http://schemas.openxmlformats.org/drawingml/2006/main">
              <a:ext uri="{FF2B5EF4-FFF2-40B4-BE49-F238E27FC236}">
                <a16:creationId xmlns:a16="http://schemas.microsoft.com/office/drawing/2014/main" id="{57F95B37-4AFE-4290-A14F-765165C8A18F}"/>
              </a:ext>
            </a:extLst>
          </p:cNvPr>
          <p:cNvSpPr>
            <a:spLocks xmlns:a="http://schemas.openxmlformats.org/drawingml/2006/main" noGrp="1"/>
          </p:cNvSpPr>
          <p:nvPr/>
        </p:nvSpPr>
        <p:spPr>
          <a:xfrm xmlns:a="http://schemas.openxmlformats.org/drawingml/2006/main">
            <a:off x="9166631" y="2480767"/>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05  Reading an RFP like an evaluator</a:t>
            </a:r>
            <a:endParaRPr sz="900"/>
          </a:p>
        </p:txBody>
      </p:sp>
      <p:sp>
        <p:nvSpPr>
          <p:cNvPr id="34" name="Text 32">
            <a:extLst xmlns:a="http://schemas.openxmlformats.org/drawingml/2006/main">
              <a:ext uri="{FF2B5EF4-FFF2-40B4-BE49-F238E27FC236}">
                <a16:creationId xmlns:a16="http://schemas.microsoft.com/office/drawing/2014/main" id="{142D1E5E-36A2-43E9-89AD-7E1BFCB6AA42}"/>
              </a:ext>
            </a:extLst>
          </p:cNvPr>
          <p:cNvSpPr>
            <a:spLocks xmlns:a="http://schemas.openxmlformats.org/drawingml/2006/main" noGrp="1"/>
          </p:cNvSpPr>
          <p:nvPr/>
        </p:nvSpPr>
        <p:spPr>
          <a:xfrm xmlns:a="http://schemas.openxmlformats.org/drawingml/2006/main">
            <a:off x="9166631" y="2678735"/>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20  Nine architectures, two finalists</a:t>
            </a:r>
            <a:endParaRPr sz="900"/>
          </a:p>
        </p:txBody>
      </p:sp>
      <p:sp>
        <p:nvSpPr>
          <p:cNvPr id="35" name="Text 33">
            <a:extLst xmlns:a="http://schemas.openxmlformats.org/drawingml/2006/main">
              <a:ext uri="{FF2B5EF4-FFF2-40B4-BE49-F238E27FC236}">
                <a16:creationId xmlns:a16="http://schemas.microsoft.com/office/drawing/2014/main" id="{743A2DBB-7099-4016-9028-A13ADD20BEC4}"/>
              </a:ext>
            </a:extLst>
          </p:cNvPr>
          <p:cNvSpPr>
            <a:spLocks xmlns:a="http://schemas.openxmlformats.org/drawingml/2006/main" noGrp="1"/>
          </p:cNvSpPr>
          <p:nvPr/>
        </p:nvSpPr>
        <p:spPr>
          <a:xfrm xmlns:a="http://schemas.openxmlformats.org/drawingml/2006/main">
            <a:off x="9166631" y="2876702"/>
            <a:ext cx="2275256"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22  What a technical panel asks</a:t>
            </a:r>
            <a:endParaRPr sz="900"/>
          </a:p>
        </p:txBody>
      </p:sp>
      <p:sp>
        <p:nvSpPr>
          <p:cNvPr id="36" name="Text 34">
            <a:extLst xmlns:a="http://schemas.openxmlformats.org/drawingml/2006/main">
              <a:ext uri="{FF2B5EF4-FFF2-40B4-BE49-F238E27FC236}">
                <a16:creationId xmlns:a16="http://schemas.microsoft.com/office/drawing/2014/main" id="{2E8EE7AB-F28D-4C04-AD95-CBCF3F95581B}"/>
              </a:ext>
            </a:extLst>
          </p:cNvPr>
          <p:cNvSpPr>
            <a:spLocks xmlns:a="http://schemas.openxmlformats.org/drawingml/2006/main" noGrp="1"/>
          </p:cNvSpPr>
          <p:nvPr/>
        </p:nvSpPr>
        <p:spPr>
          <a:xfrm xmlns:a="http://schemas.openxmlformats.org/drawingml/2006/main">
            <a:off x="566928" y="3877056"/>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HOW TO READ THE NUMBERS — THE SAME CONVENTION IN EVERY DECK</a:t>
            </a:r>
            <a:endParaRPr sz="800"/>
          </a:p>
        </p:txBody>
      </p:sp>
      <p:sp>
        <p:nvSpPr>
          <p:cNvPr id="37" name="Shape 35">
            <a:extLst xmlns:a="http://schemas.openxmlformats.org/drawingml/2006/main">
              <a:ext uri="{FF2B5EF4-FFF2-40B4-BE49-F238E27FC236}">
                <a16:creationId xmlns:a16="http://schemas.microsoft.com/office/drawing/2014/main" id="{DE8A97DA-9BA8-44FD-A7FF-29A3B32F7A83}"/>
              </a:ext>
            </a:extLst>
          </p:cNvPr>
          <p:cNvSpPr>
            <a:spLocks xmlns:a="http://schemas.openxmlformats.org/drawingml/2006/main" noGrp="1"/>
          </p:cNvSpPr>
          <p:nvPr/>
        </p:nvSpPr>
        <p:spPr>
          <a:xfrm xmlns:a="http://schemas.openxmlformats.org/drawingml/2006/main">
            <a:off x="566928" y="4114800"/>
            <a:ext cx="2641016" cy="1316736"/>
          </a:xfrm>
          <a:prstGeom xmlns:a="http://schemas.openxmlformats.org/drawingml/2006/main" prst="rect">
            <a:avLst/>
          </a:prstGeom>
          <a:solidFill xmlns:a="http://schemas.openxmlformats.org/drawingml/2006/main">
            <a:srgbClr val="F0F4F8"/>
          </a:solidFill>
        </p:spPr>
      </p:sp>
      <p:sp>
        <p:nvSpPr>
          <p:cNvPr id="38" name="Shape 36">
            <a:extLst xmlns:a="http://schemas.openxmlformats.org/drawingml/2006/main">
              <a:ext uri="{FF2B5EF4-FFF2-40B4-BE49-F238E27FC236}">
                <a16:creationId xmlns:a16="http://schemas.microsoft.com/office/drawing/2014/main" id="{DD1FE95E-EBA3-46B9-BB6C-206C2B6E840F}"/>
              </a:ext>
            </a:extLst>
          </p:cNvPr>
          <p:cNvSpPr>
            <a:spLocks xmlns:a="http://schemas.openxmlformats.org/drawingml/2006/main" noGrp="1"/>
          </p:cNvSpPr>
          <p:nvPr/>
        </p:nvSpPr>
        <p:spPr>
          <a:xfrm xmlns:a="http://schemas.openxmlformats.org/drawingml/2006/main">
            <a:off x="566928" y="4114800"/>
            <a:ext cx="2641016" cy="45720"/>
          </a:xfrm>
          <a:prstGeom xmlns:a="http://schemas.openxmlformats.org/drawingml/2006/main" prst="rect">
            <a:avLst/>
          </a:prstGeom>
          <a:solidFill xmlns:a="http://schemas.openxmlformats.org/drawingml/2006/main">
            <a:srgbClr val="486581"/>
          </a:solidFill>
        </p:spPr>
      </p:sp>
      <p:sp>
        <p:nvSpPr>
          <p:cNvPr id="39" name="Text 37">
            <a:extLst xmlns:a="http://schemas.openxmlformats.org/drawingml/2006/main">
              <a:ext uri="{FF2B5EF4-FFF2-40B4-BE49-F238E27FC236}">
                <a16:creationId xmlns:a16="http://schemas.microsoft.com/office/drawing/2014/main" id="{9960F230-9460-4C4E-8B9E-502F3C128444}"/>
              </a:ext>
            </a:extLst>
          </p:cNvPr>
          <p:cNvSpPr>
            <a:spLocks xmlns:a="http://schemas.openxmlformats.org/drawingml/2006/main" noGrp="1"/>
          </p:cNvSpPr>
          <p:nvPr/>
        </p:nvSpPr>
        <p:spPr>
          <a:xfrm xmlns:a="http://schemas.openxmlformats.org/drawingml/2006/main">
            <a:off x="749808" y="4279392"/>
            <a:ext cx="22752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486581"/>
                </a:solidFill>
                <a:latin typeface="Arial"/>
                <a:ea typeface="Arial"/>
                <a:cs typeface="Arial"/>
              </a:rPr>
              <a:t>Publicly reported</a:t>
            </a:r>
            <a:endParaRPr sz="1100"/>
          </a:p>
        </p:txBody>
      </p:sp>
      <p:sp>
        <p:nvSpPr>
          <p:cNvPr id="40" name="Text 38">
            <a:extLst xmlns:a="http://schemas.openxmlformats.org/drawingml/2006/main">
              <a:ext uri="{FF2B5EF4-FFF2-40B4-BE49-F238E27FC236}">
                <a16:creationId xmlns:a16="http://schemas.microsoft.com/office/drawing/2014/main" id="{DF971A78-10A2-4770-9F5A-0FBB7A3E4986}"/>
              </a:ext>
            </a:extLst>
          </p:cNvPr>
          <p:cNvSpPr>
            <a:spLocks xmlns:a="http://schemas.openxmlformats.org/drawingml/2006/main" noGrp="1"/>
          </p:cNvSpPr>
          <p:nvPr/>
        </p:nvSpPr>
        <p:spPr>
          <a:xfrm xmlns:a="http://schemas.openxmlformats.org/drawingml/2006/main">
            <a:off x="749808" y="4535424"/>
            <a:ext cx="227525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Institution scale and outcomes published by the bank, the regulator or the vendor. Attributed, never independently audited.</a:t>
            </a:r>
            <a:endParaRPr sz="920"/>
          </a:p>
        </p:txBody>
      </p:sp>
      <p:sp>
        <p:nvSpPr>
          <p:cNvPr id="41" name="Shape 39">
            <a:extLst xmlns:a="http://schemas.openxmlformats.org/drawingml/2006/main">
              <a:ext uri="{FF2B5EF4-FFF2-40B4-BE49-F238E27FC236}">
                <a16:creationId xmlns:a16="http://schemas.microsoft.com/office/drawing/2014/main" id="{A70AAE81-EAC7-48E8-A0E9-FC9107802AF6}"/>
              </a:ext>
            </a:extLst>
          </p:cNvPr>
          <p:cNvSpPr>
            <a:spLocks xmlns:a="http://schemas.openxmlformats.org/drawingml/2006/main" noGrp="1"/>
          </p:cNvSpPr>
          <p:nvPr/>
        </p:nvSpPr>
        <p:spPr>
          <a:xfrm xmlns:a="http://schemas.openxmlformats.org/drawingml/2006/main">
            <a:off x="3372536" y="4114800"/>
            <a:ext cx="2641016" cy="1316736"/>
          </a:xfrm>
          <a:prstGeom xmlns:a="http://schemas.openxmlformats.org/drawingml/2006/main" prst="rect">
            <a:avLst/>
          </a:prstGeom>
          <a:solidFill xmlns:a="http://schemas.openxmlformats.org/drawingml/2006/main">
            <a:srgbClr val="F0F4F8"/>
          </a:solidFill>
        </p:spPr>
      </p:sp>
      <p:sp>
        <p:nvSpPr>
          <p:cNvPr id="42" name="Shape 40">
            <a:extLst xmlns:a="http://schemas.openxmlformats.org/drawingml/2006/main">
              <a:ext uri="{FF2B5EF4-FFF2-40B4-BE49-F238E27FC236}">
                <a16:creationId xmlns:a16="http://schemas.microsoft.com/office/drawing/2014/main" id="{AB942F75-D17E-421E-A483-E630FF1A1073}"/>
              </a:ext>
            </a:extLst>
          </p:cNvPr>
          <p:cNvSpPr>
            <a:spLocks xmlns:a="http://schemas.openxmlformats.org/drawingml/2006/main" noGrp="1"/>
          </p:cNvSpPr>
          <p:nvPr/>
        </p:nvSpPr>
        <p:spPr>
          <a:xfrm xmlns:a="http://schemas.openxmlformats.org/drawingml/2006/main">
            <a:off x="3372536" y="4114800"/>
            <a:ext cx="2641016" cy="45720"/>
          </a:xfrm>
          <a:prstGeom xmlns:a="http://schemas.openxmlformats.org/drawingml/2006/main" prst="rect">
            <a:avLst/>
          </a:prstGeom>
          <a:solidFill xmlns:a="http://schemas.openxmlformats.org/drawingml/2006/main">
            <a:srgbClr val="B04A25"/>
          </a:solidFill>
        </p:spPr>
      </p:sp>
      <p:sp>
        <p:nvSpPr>
          <p:cNvPr id="43" name="Text 41">
            <a:extLst xmlns:a="http://schemas.openxmlformats.org/drawingml/2006/main">
              <a:ext uri="{FF2B5EF4-FFF2-40B4-BE49-F238E27FC236}">
                <a16:creationId xmlns:a16="http://schemas.microsoft.com/office/drawing/2014/main" id="{A80B197D-38A5-4A77-AEDC-BAD33E21EFD3}"/>
              </a:ext>
            </a:extLst>
          </p:cNvPr>
          <p:cNvSpPr>
            <a:spLocks xmlns:a="http://schemas.openxmlformats.org/drawingml/2006/main" noGrp="1"/>
          </p:cNvSpPr>
          <p:nvPr/>
        </p:nvSpPr>
        <p:spPr>
          <a:xfrm xmlns:a="http://schemas.openxmlformats.org/drawingml/2006/main">
            <a:off x="3555416" y="4279392"/>
            <a:ext cx="22752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Delivery record</a:t>
            </a:r>
            <a:endParaRPr sz="1100"/>
          </a:p>
        </p:txBody>
      </p:sp>
      <p:sp>
        <p:nvSpPr>
          <p:cNvPr id="44" name="Text 42">
            <a:extLst xmlns:a="http://schemas.openxmlformats.org/drawingml/2006/main">
              <a:ext uri="{FF2B5EF4-FFF2-40B4-BE49-F238E27FC236}">
                <a16:creationId xmlns:a16="http://schemas.microsoft.com/office/drawing/2014/main" id="{1AF426FF-ED73-489D-86BD-484179582416}"/>
              </a:ext>
            </a:extLst>
          </p:cNvPr>
          <p:cNvSpPr>
            <a:spLocks xmlns:a="http://schemas.openxmlformats.org/drawingml/2006/main" noGrp="1"/>
          </p:cNvSpPr>
          <p:nvPr/>
        </p:nvSpPr>
        <p:spPr>
          <a:xfrm xmlns:a="http://schemas.openxmlformats.org/drawingml/2006/main">
            <a:off x="3555416" y="4535424"/>
            <a:ext cx="227525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Scope, systems and role from my own engagement record. Verifiable through references.</a:t>
            </a:r>
            <a:endParaRPr sz="920"/>
          </a:p>
        </p:txBody>
      </p:sp>
      <p:sp>
        <p:nvSpPr>
          <p:cNvPr id="45" name="Shape 43">
            <a:extLst xmlns:a="http://schemas.openxmlformats.org/drawingml/2006/main">
              <a:ext uri="{FF2B5EF4-FFF2-40B4-BE49-F238E27FC236}">
                <a16:creationId xmlns:a16="http://schemas.microsoft.com/office/drawing/2014/main" id="{26C7B977-7BB7-40ED-A0D3-91091F5390BC}"/>
              </a:ext>
            </a:extLst>
          </p:cNvPr>
          <p:cNvSpPr>
            <a:spLocks xmlns:a="http://schemas.openxmlformats.org/drawingml/2006/main" noGrp="1"/>
          </p:cNvSpPr>
          <p:nvPr/>
        </p:nvSpPr>
        <p:spPr>
          <a:xfrm xmlns:a="http://schemas.openxmlformats.org/drawingml/2006/main">
            <a:off x="6178144" y="4114800"/>
            <a:ext cx="2641016" cy="1316736"/>
          </a:xfrm>
          <a:prstGeom xmlns:a="http://schemas.openxmlformats.org/drawingml/2006/main" prst="rect">
            <a:avLst/>
          </a:prstGeom>
          <a:solidFill xmlns:a="http://schemas.openxmlformats.org/drawingml/2006/main">
            <a:srgbClr val="F0F4F8"/>
          </a:solidFill>
        </p:spPr>
      </p:sp>
      <p:sp>
        <p:nvSpPr>
          <p:cNvPr id="46" name="Shape 44">
            <a:extLst xmlns:a="http://schemas.openxmlformats.org/drawingml/2006/main">
              <a:ext uri="{FF2B5EF4-FFF2-40B4-BE49-F238E27FC236}">
                <a16:creationId xmlns:a16="http://schemas.microsoft.com/office/drawing/2014/main" id="{D967676F-B59A-4031-AB98-A2DC15DA9D5A}"/>
              </a:ext>
            </a:extLst>
          </p:cNvPr>
          <p:cNvSpPr>
            <a:spLocks xmlns:a="http://schemas.openxmlformats.org/drawingml/2006/main" noGrp="1"/>
          </p:cNvSpPr>
          <p:nvPr/>
        </p:nvSpPr>
        <p:spPr>
          <a:xfrm xmlns:a="http://schemas.openxmlformats.org/drawingml/2006/main">
            <a:off x="6178144" y="4114800"/>
            <a:ext cx="2641016" cy="45720"/>
          </a:xfrm>
          <a:prstGeom xmlns:a="http://schemas.openxmlformats.org/drawingml/2006/main" prst="rect">
            <a:avLst/>
          </a:prstGeom>
          <a:solidFill xmlns:a="http://schemas.openxmlformats.org/drawingml/2006/main">
            <a:srgbClr val="27685A"/>
          </a:solidFill>
        </p:spPr>
      </p:sp>
      <p:sp>
        <p:nvSpPr>
          <p:cNvPr id="47" name="Text 45">
            <a:extLst xmlns:a="http://schemas.openxmlformats.org/drawingml/2006/main">
              <a:ext uri="{FF2B5EF4-FFF2-40B4-BE49-F238E27FC236}">
                <a16:creationId xmlns:a16="http://schemas.microsoft.com/office/drawing/2014/main" id="{B0067946-B638-44B8-9B83-9557A9317336}"/>
              </a:ext>
            </a:extLst>
          </p:cNvPr>
          <p:cNvSpPr>
            <a:spLocks xmlns:a="http://schemas.openxmlformats.org/drawingml/2006/main" noGrp="1"/>
          </p:cNvSpPr>
          <p:nvPr/>
        </p:nvSpPr>
        <p:spPr>
          <a:xfrm xmlns:a="http://schemas.openxmlformats.org/drawingml/2006/main">
            <a:off x="6361024" y="4279392"/>
            <a:ext cx="22752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27685A"/>
                </a:solidFill>
                <a:latin typeface="Arial"/>
                <a:ea typeface="Arial"/>
                <a:cs typeface="Arial"/>
              </a:rPr>
              <a:t>Modelled</a:t>
            </a:r>
            <a:endParaRPr sz="1100"/>
          </a:p>
        </p:txBody>
      </p:sp>
      <p:sp>
        <p:nvSpPr>
          <p:cNvPr id="48" name="Text 46">
            <a:extLst xmlns:a="http://schemas.openxmlformats.org/drawingml/2006/main">
              <a:ext uri="{FF2B5EF4-FFF2-40B4-BE49-F238E27FC236}">
                <a16:creationId xmlns:a16="http://schemas.microsoft.com/office/drawing/2014/main" id="{CD40E405-37CB-4690-AEB9-7EEE3D709502}"/>
              </a:ext>
            </a:extLst>
          </p:cNvPr>
          <p:cNvSpPr>
            <a:spLocks xmlns:a="http://schemas.openxmlformats.org/drawingml/2006/main" noGrp="1"/>
          </p:cNvSpPr>
          <p:nvPr/>
        </p:nvSpPr>
        <p:spPr>
          <a:xfrm xmlns:a="http://schemas.openxmlformats.org/drawingml/2006/main">
            <a:off x="6361024" y="4535424"/>
            <a:ext cx="227525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Curves, ratios and effort figures built to make a structural argument. Directional, labelled on the slide, replace with actuals.</a:t>
            </a:r>
            <a:endParaRPr sz="920"/>
          </a:p>
        </p:txBody>
      </p:sp>
      <p:sp>
        <p:nvSpPr>
          <p:cNvPr id="49" name="Shape 47">
            <a:extLst xmlns:a="http://schemas.openxmlformats.org/drawingml/2006/main">
              <a:ext uri="{FF2B5EF4-FFF2-40B4-BE49-F238E27FC236}">
                <a16:creationId xmlns:a16="http://schemas.microsoft.com/office/drawing/2014/main" id="{0BDCB9D5-B789-4303-8814-A9B146F9910B}"/>
              </a:ext>
            </a:extLst>
          </p:cNvPr>
          <p:cNvSpPr>
            <a:spLocks xmlns:a="http://schemas.openxmlformats.org/drawingml/2006/main" noGrp="1"/>
          </p:cNvSpPr>
          <p:nvPr/>
        </p:nvSpPr>
        <p:spPr>
          <a:xfrm xmlns:a="http://schemas.openxmlformats.org/drawingml/2006/main">
            <a:off x="8983751" y="4114800"/>
            <a:ext cx="2641016" cy="1316736"/>
          </a:xfrm>
          <a:prstGeom xmlns:a="http://schemas.openxmlformats.org/drawingml/2006/main" prst="rect">
            <a:avLst/>
          </a:prstGeom>
          <a:solidFill xmlns:a="http://schemas.openxmlformats.org/drawingml/2006/main">
            <a:srgbClr val="F0F4F8"/>
          </a:solidFill>
        </p:spPr>
      </p:sp>
      <p:sp>
        <p:nvSpPr>
          <p:cNvPr id="50" name="Shape 48">
            <a:extLst xmlns:a="http://schemas.openxmlformats.org/drawingml/2006/main">
              <a:ext uri="{FF2B5EF4-FFF2-40B4-BE49-F238E27FC236}">
                <a16:creationId xmlns:a16="http://schemas.microsoft.com/office/drawing/2014/main" id="{54A3174B-A95A-404F-B82C-9370EB9978EB}"/>
              </a:ext>
            </a:extLst>
          </p:cNvPr>
          <p:cNvSpPr>
            <a:spLocks xmlns:a="http://schemas.openxmlformats.org/drawingml/2006/main" noGrp="1"/>
          </p:cNvSpPr>
          <p:nvPr/>
        </p:nvSpPr>
        <p:spPr>
          <a:xfrm xmlns:a="http://schemas.openxmlformats.org/drawingml/2006/main">
            <a:off x="8983751" y="4114800"/>
            <a:ext cx="2641016" cy="45720"/>
          </a:xfrm>
          <a:prstGeom xmlns:a="http://schemas.openxmlformats.org/drawingml/2006/main" prst="rect">
            <a:avLst/>
          </a:prstGeom>
          <a:solidFill xmlns:a="http://schemas.openxmlformats.org/drawingml/2006/main">
            <a:srgbClr val="27685A"/>
          </a:solidFill>
        </p:spPr>
      </p:sp>
      <p:sp>
        <p:nvSpPr>
          <p:cNvPr id="51" name="Text 49">
            <a:extLst xmlns:a="http://schemas.openxmlformats.org/drawingml/2006/main">
              <a:ext uri="{FF2B5EF4-FFF2-40B4-BE49-F238E27FC236}">
                <a16:creationId xmlns:a16="http://schemas.microsoft.com/office/drawing/2014/main" id="{B67DDBC9-70E6-479C-A17B-CC4DFCEAD1A1}"/>
              </a:ext>
            </a:extLst>
          </p:cNvPr>
          <p:cNvSpPr>
            <a:spLocks xmlns:a="http://schemas.openxmlformats.org/drawingml/2006/main" noGrp="1"/>
          </p:cNvSpPr>
          <p:nvPr/>
        </p:nvSpPr>
        <p:spPr>
          <a:xfrm xmlns:a="http://schemas.openxmlformats.org/drawingml/2006/main">
            <a:off x="9166631" y="4279392"/>
            <a:ext cx="227525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27685A"/>
                </a:solidFill>
                <a:latin typeface="Arial"/>
                <a:ea typeface="Arial"/>
                <a:cs typeface="Arial"/>
              </a:rPr>
              <a:t>Reconstructed</a:t>
            </a:r>
            <a:endParaRPr sz="1100"/>
          </a:p>
        </p:txBody>
      </p:sp>
      <p:sp>
        <p:nvSpPr>
          <p:cNvPr id="52" name="Text 50">
            <a:extLst xmlns:a="http://schemas.openxmlformats.org/drawingml/2006/main">
              <a:ext uri="{FF2B5EF4-FFF2-40B4-BE49-F238E27FC236}">
                <a16:creationId xmlns:a16="http://schemas.microsoft.com/office/drawing/2014/main" id="{C66D46A0-64A8-4C4F-A136-087D012AC0A7}"/>
              </a:ext>
            </a:extLst>
          </p:cNvPr>
          <p:cNvSpPr>
            <a:spLocks xmlns:a="http://schemas.openxmlformats.org/drawingml/2006/main" noGrp="1"/>
          </p:cNvSpPr>
          <p:nvPr/>
        </p:nvSpPr>
        <p:spPr>
          <a:xfrm xmlns:a="http://schemas.openxmlformats.org/drawingml/2006/main">
            <a:off x="9166631" y="4535424"/>
            <a:ext cx="227525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Design detail rebuilt to illustrate an approach where the original artefacts are not mine to reproduce. Flagged in five decks.</a:t>
            </a:r>
            <a:endParaRPr sz="920"/>
          </a:p>
        </p:txBody>
      </p:sp>
      <p:sp>
        <p:nvSpPr>
          <p:cNvPr id="53" name="Shape 51">
            <a:extLst xmlns:a="http://schemas.openxmlformats.org/drawingml/2006/main">
              <a:ext uri="{FF2B5EF4-FFF2-40B4-BE49-F238E27FC236}">
                <a16:creationId xmlns:a16="http://schemas.microsoft.com/office/drawing/2014/main" id="{695BB40F-DEB6-4705-8012-2D727E1A248B}"/>
              </a:ext>
            </a:extLst>
          </p:cNvPr>
          <p:cNvSpPr>
            <a:spLocks xmlns:a="http://schemas.openxmlformats.org/drawingml/2006/main" noGrp="1"/>
          </p:cNvSpPr>
          <p:nvPr/>
        </p:nvSpPr>
        <p:spPr>
          <a:xfrm xmlns:a="http://schemas.openxmlformats.org/drawingml/2006/main">
            <a:off x="566928" y="5577840"/>
            <a:ext cx="11057839" cy="658368"/>
          </a:xfrm>
          <a:prstGeom xmlns:a="http://schemas.openxmlformats.org/drawingml/2006/main" prst="rect">
            <a:avLst/>
          </a:prstGeom>
          <a:solidFill xmlns:a="http://schemas.openxmlformats.org/drawingml/2006/main">
            <a:srgbClr val="102A43"/>
          </a:solidFill>
        </p:spPr>
      </p:sp>
      <p:sp>
        <p:nvSpPr>
          <p:cNvPr id="54" name="Text 52">
            <a:extLst xmlns:a="http://schemas.openxmlformats.org/drawingml/2006/main">
              <a:ext uri="{FF2B5EF4-FFF2-40B4-BE49-F238E27FC236}">
                <a16:creationId xmlns:a16="http://schemas.microsoft.com/office/drawing/2014/main" id="{9888B047-FBA0-4DBD-839D-096EBE67C224}"/>
              </a:ext>
            </a:extLst>
          </p:cNvPr>
          <p:cNvSpPr>
            <a:spLocks xmlns:a="http://schemas.openxmlformats.org/drawingml/2006/main" noGrp="1"/>
          </p:cNvSpPr>
          <p:nvPr/>
        </p:nvSpPr>
        <p:spPr>
          <a:xfrm xmlns:a="http://schemas.openxmlformats.org/drawingml/2006/main">
            <a:off x="804672" y="5760720"/>
            <a:ext cx="1058235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C9D8E8"/>
                </a:solidFill>
                <a:latin typeface="Arial"/>
                <a:ea typeface="Arial"/>
                <a:cs typeface="Arial"/>
              </a:rPr>
              <a:t>Nothing is upgraded by aggregation. A modelled figure quoted in the capstone is still a modelled figure, and every deck names its own sources in the footer of every slide.</a:t>
            </a:r>
            <a:endParaRPr sz="990"/>
          </a:p>
        </p:txBody>
      </p:sp>
      <p:sp>
        <p:nvSpPr>
          <p:cNvPr id="55" name="Shape 53">
            <a:extLst xmlns:a="http://schemas.openxmlformats.org/drawingml/2006/main">
              <a:ext uri="{FF2B5EF4-FFF2-40B4-BE49-F238E27FC236}">
                <a16:creationId xmlns:a16="http://schemas.microsoft.com/office/drawing/2014/main" id="{AC75FE9F-955C-449D-9580-4FB7E1F9E59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6" name="Text 54">
            <a:extLst xmlns:a="http://schemas.openxmlformats.org/drawingml/2006/main">
              <a:ext uri="{FF2B5EF4-FFF2-40B4-BE49-F238E27FC236}">
                <a16:creationId xmlns:a16="http://schemas.microsoft.com/office/drawing/2014/main" id="{319E11E8-4CEE-4CD6-9A60-B22548DB9CA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portfolio</a:t>
            </a:r>
            <a:endParaRPr sz="850"/>
          </a:p>
        </p:txBody>
      </p:sp>
      <p:sp>
        <p:nvSpPr>
          <p:cNvPr id="57" name="Text 55">
            <a:extLst xmlns:a="http://schemas.openxmlformats.org/drawingml/2006/main">
              <a:ext uri="{FF2B5EF4-FFF2-40B4-BE49-F238E27FC236}">
                <a16:creationId xmlns:a16="http://schemas.microsoft.com/office/drawing/2014/main" id="{8C5C21C4-C4F2-40ED-AF92-6C5CB691556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802268066"/>
      </p:ext>
    </p:extLst>
  </p:cSld>
</p:sld>
</file>

<file path=ppt/slides/slide4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F392A8-DD3B-47C1-91F9-AA033ECE79B1}"/>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CASE STUDY  ·  01 OF 30</a:t>
            </a:r>
            <a:endParaRPr sz="950"/>
          </a:p>
        </p:txBody>
      </p:sp>
      <p:sp>
        <p:nvSpPr>
          <p:cNvPr id="3" name="Text 1">
            <a:extLst xmlns:a="http://schemas.openxmlformats.org/drawingml/2006/main">
              <a:ext uri="{FF2B5EF4-FFF2-40B4-BE49-F238E27FC236}">
                <a16:creationId xmlns:a16="http://schemas.microsoft.com/office/drawing/2014/main" id="{34435E91-42ED-4899-A2BC-2813148219DA}"/>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HDFC Bank</a:t>
            </a:r>
            <a:endParaRPr sz="3800"/>
          </a:p>
        </p:txBody>
      </p:sp>
      <p:sp>
        <p:nvSpPr>
          <p:cNvPr id="4" name="Text 2">
            <a:extLst xmlns:a="http://schemas.openxmlformats.org/drawingml/2006/main">
              <a:ext uri="{FF2B5EF4-FFF2-40B4-BE49-F238E27FC236}">
                <a16:creationId xmlns:a16="http://schemas.microsoft.com/office/drawing/2014/main" id="{F82EF487-049F-409D-BD47-1111FECB9F32}"/>
              </a:ext>
            </a:extLst>
          </p:cNvPr>
          <p:cNvSpPr>
            <a:spLocks xmlns:a="http://schemas.openxmlformats.org/drawingml/2006/main" noGrp="1"/>
          </p:cNvSpPr>
          <p:nvPr/>
        </p:nvSpPr>
        <p:spPr>
          <a:xfrm xmlns:a="http://schemas.openxmlformats.org/drawingml/2006/main">
            <a:off x="566928" y="2029968"/>
            <a:ext cx="9601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a:solidFill>
                  <a:srgbClr val="C9D8E8"/>
                </a:solidFill>
                <a:latin typeface="Arial"/>
                <a:ea typeface="Arial"/>
                <a:cs typeface="Arial"/>
              </a:rPr>
              <a:t>Six digital journeys, four business objectives, one shared spine</a:t>
            </a:r>
            <a:endParaRPr sz="1800"/>
          </a:p>
        </p:txBody>
      </p:sp>
      <p:sp>
        <p:nvSpPr>
          <p:cNvPr id="5" name="Text 3">
            <a:extLst xmlns:a="http://schemas.openxmlformats.org/drawingml/2006/main">
              <a:ext uri="{FF2B5EF4-FFF2-40B4-BE49-F238E27FC236}">
                <a16:creationId xmlns:a16="http://schemas.microsoft.com/office/drawing/2014/main" id="{92697B74-D8C3-4E59-B9DD-74398960FB0F}"/>
              </a:ext>
            </a:extLst>
          </p:cNvPr>
          <p:cNvSpPr>
            <a:spLocks xmlns:a="http://schemas.openxmlformats.org/drawingml/2006/main" noGrp="1"/>
          </p:cNvSpPr>
          <p:nvPr/>
        </p:nvSpPr>
        <p:spPr>
          <a:xfrm xmlns:a="http://schemas.openxmlformats.org/drawingml/2006/main">
            <a:off x="566928" y="2560320"/>
            <a:ext cx="87782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35 use cases delivered into a live estate of 85 journeys and 150,000 users — by building the shared components once and letting each journey contribute only its boundary crossing.</a:t>
            </a:r>
            <a:endParaRPr sz="1150"/>
          </a:p>
        </p:txBody>
      </p:sp>
      <p:sp>
        <p:nvSpPr>
          <p:cNvPr id="6" name="Shape 4">
            <a:extLst xmlns:a="http://schemas.openxmlformats.org/drawingml/2006/main">
              <a:ext uri="{FF2B5EF4-FFF2-40B4-BE49-F238E27FC236}">
                <a16:creationId xmlns:a16="http://schemas.microsoft.com/office/drawing/2014/main" id="{C0FC608B-90E1-4CA4-820F-0991DA53CEEA}"/>
              </a:ext>
            </a:extLst>
          </p:cNvPr>
          <p:cNvSpPr>
            <a:spLocks xmlns:a="http://schemas.openxmlformats.org/drawingml/2006/main" noGrp="1"/>
          </p:cNvSpPr>
          <p:nvPr/>
        </p:nvSpPr>
        <p:spPr>
          <a:xfrm xmlns:a="http://schemas.openxmlformats.org/drawingml/2006/main">
            <a:off x="566928" y="3364992"/>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B9C2FBAE-B849-4AF0-9731-109055914F6B}"/>
              </a:ext>
            </a:extLst>
          </p:cNvPr>
          <p:cNvSpPr>
            <a:spLocks xmlns:a="http://schemas.openxmlformats.org/drawingml/2006/main" noGrp="1"/>
          </p:cNvSpPr>
          <p:nvPr/>
        </p:nvSpPr>
        <p:spPr>
          <a:xfrm xmlns:a="http://schemas.openxmlformats.org/drawingml/2006/main">
            <a:off x="566928" y="3584448"/>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6</a:t>
            </a:r>
            <a:endParaRPr sz="2800"/>
          </a:p>
        </p:txBody>
      </p:sp>
      <p:sp>
        <p:nvSpPr>
          <p:cNvPr id="8" name="Text 6">
            <a:extLst xmlns:a="http://schemas.openxmlformats.org/drawingml/2006/main">
              <a:ext uri="{FF2B5EF4-FFF2-40B4-BE49-F238E27FC236}">
                <a16:creationId xmlns:a16="http://schemas.microsoft.com/office/drawing/2014/main" id="{BBE22FED-C4E2-4E36-9113-4A67FB534883}"/>
              </a:ext>
            </a:extLst>
          </p:cNvPr>
          <p:cNvSpPr>
            <a:spLocks xmlns:a="http://schemas.openxmlformats.org/drawingml/2006/main" noGrp="1"/>
          </p:cNvSpPr>
          <p:nvPr/>
        </p:nvSpPr>
        <p:spPr>
          <a:xfrm xmlns:a="http://schemas.openxmlformats.org/drawingml/2006/main">
            <a:off x="566928" y="4059936"/>
            <a:ext cx="1660093"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journeys</a:t>
            </a:r>
            <a:endParaRPr sz="900"/>
          </a:p>
        </p:txBody>
      </p:sp>
      <p:sp>
        <p:nvSpPr>
          <p:cNvPr id="9" name="Text 7">
            <a:extLst xmlns:a="http://schemas.openxmlformats.org/drawingml/2006/main">
              <a:ext uri="{FF2B5EF4-FFF2-40B4-BE49-F238E27FC236}">
                <a16:creationId xmlns:a16="http://schemas.microsoft.com/office/drawing/2014/main" id="{4AF8DF47-7AE8-47C0-8D05-74579A8FA9B0}"/>
              </a:ext>
            </a:extLst>
          </p:cNvPr>
          <p:cNvSpPr>
            <a:spLocks xmlns:a="http://schemas.openxmlformats.org/drawingml/2006/main" noGrp="1"/>
          </p:cNvSpPr>
          <p:nvPr/>
        </p:nvSpPr>
        <p:spPr>
          <a:xfrm xmlns:a="http://schemas.openxmlformats.org/drawingml/2006/main">
            <a:off x="2409901" y="3584448"/>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35</a:t>
            </a:r>
            <a:endParaRPr sz="2800"/>
          </a:p>
        </p:txBody>
      </p:sp>
      <p:sp>
        <p:nvSpPr>
          <p:cNvPr id="10" name="Text 8">
            <a:extLst xmlns:a="http://schemas.openxmlformats.org/drawingml/2006/main">
              <a:ext uri="{FF2B5EF4-FFF2-40B4-BE49-F238E27FC236}">
                <a16:creationId xmlns:a16="http://schemas.microsoft.com/office/drawing/2014/main" id="{4A7529DA-2F90-4C4B-BD50-61971AFC3A84}"/>
              </a:ext>
            </a:extLst>
          </p:cNvPr>
          <p:cNvSpPr>
            <a:spLocks xmlns:a="http://schemas.openxmlformats.org/drawingml/2006/main" noGrp="1"/>
          </p:cNvSpPr>
          <p:nvPr/>
        </p:nvSpPr>
        <p:spPr>
          <a:xfrm xmlns:a="http://schemas.openxmlformats.org/drawingml/2006/main">
            <a:off x="2409901" y="4059936"/>
            <a:ext cx="1660093"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use cases</a:t>
            </a:r>
            <a:endParaRPr sz="900"/>
          </a:p>
        </p:txBody>
      </p:sp>
      <p:sp>
        <p:nvSpPr>
          <p:cNvPr id="11" name="Text 9">
            <a:extLst xmlns:a="http://schemas.openxmlformats.org/drawingml/2006/main">
              <a:ext uri="{FF2B5EF4-FFF2-40B4-BE49-F238E27FC236}">
                <a16:creationId xmlns:a16="http://schemas.microsoft.com/office/drawing/2014/main" id="{9830FD8F-9F9F-44EB-ADB1-8DC9051CCE88}"/>
              </a:ext>
            </a:extLst>
          </p:cNvPr>
          <p:cNvSpPr>
            <a:spLocks xmlns:a="http://schemas.openxmlformats.org/drawingml/2006/main" noGrp="1"/>
          </p:cNvSpPr>
          <p:nvPr/>
        </p:nvSpPr>
        <p:spPr>
          <a:xfrm xmlns:a="http://schemas.openxmlformats.org/drawingml/2006/main">
            <a:off x="4252874" y="3584448"/>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4</a:t>
            </a:r>
            <a:endParaRPr sz="2800"/>
          </a:p>
        </p:txBody>
      </p:sp>
      <p:sp>
        <p:nvSpPr>
          <p:cNvPr id="12" name="Text 10">
            <a:extLst xmlns:a="http://schemas.openxmlformats.org/drawingml/2006/main">
              <a:ext uri="{FF2B5EF4-FFF2-40B4-BE49-F238E27FC236}">
                <a16:creationId xmlns:a16="http://schemas.microsoft.com/office/drawing/2014/main" id="{F4905D24-2430-4419-AD20-692216892E60}"/>
              </a:ext>
            </a:extLst>
          </p:cNvPr>
          <p:cNvSpPr>
            <a:spLocks xmlns:a="http://schemas.openxmlformats.org/drawingml/2006/main" noGrp="1"/>
          </p:cNvSpPr>
          <p:nvPr/>
        </p:nvSpPr>
        <p:spPr>
          <a:xfrm xmlns:a="http://schemas.openxmlformats.org/drawingml/2006/main">
            <a:off x="4252874" y="4059936"/>
            <a:ext cx="1660093"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business</a:t>
            </a:r>
            <a:endParaRPr sz="900"/>
          </a:p>
          <a:p xmlns:a="http://schemas.openxmlformats.org/drawingml/2006/main">
            <a:pPr marL="0" indent="0">
              <a:lnSpc>
                <a:spcPts val="1100"/>
              </a:lnSpc>
              <a:buNone/>
            </a:pPr>
            <a:r>
              <a:rPr sz="900">
                <a:solidFill>
                  <a:srgbClr val="8FA9C4"/>
                </a:solidFill>
                <a:latin typeface="Arial"/>
                <a:ea typeface="Arial"/>
                <a:cs typeface="Arial"/>
              </a:rPr>
              <a:t>objectives</a:t>
            </a:r>
            <a:endParaRPr sz="900"/>
          </a:p>
        </p:txBody>
      </p:sp>
      <p:sp>
        <p:nvSpPr>
          <p:cNvPr id="13" name="Text 11">
            <a:extLst xmlns:a="http://schemas.openxmlformats.org/drawingml/2006/main">
              <a:ext uri="{FF2B5EF4-FFF2-40B4-BE49-F238E27FC236}">
                <a16:creationId xmlns:a16="http://schemas.microsoft.com/office/drawing/2014/main" id="{763DA60C-A818-419E-AE2F-909490A86B8D}"/>
              </a:ext>
            </a:extLst>
          </p:cNvPr>
          <p:cNvSpPr>
            <a:spLocks xmlns:a="http://schemas.openxmlformats.org/drawingml/2006/main" noGrp="1"/>
          </p:cNvSpPr>
          <p:nvPr/>
        </p:nvSpPr>
        <p:spPr>
          <a:xfrm xmlns:a="http://schemas.openxmlformats.org/drawingml/2006/main">
            <a:off x="6095848" y="3584448"/>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5</a:t>
            </a:r>
            <a:endParaRPr sz="2800"/>
          </a:p>
        </p:txBody>
      </p:sp>
      <p:sp>
        <p:nvSpPr>
          <p:cNvPr id="14" name="Text 12">
            <a:extLst xmlns:a="http://schemas.openxmlformats.org/drawingml/2006/main">
              <a:ext uri="{FF2B5EF4-FFF2-40B4-BE49-F238E27FC236}">
                <a16:creationId xmlns:a16="http://schemas.microsoft.com/office/drawing/2014/main" id="{87EF05C4-749F-46A2-8224-CA7D2624E3E5}"/>
              </a:ext>
            </a:extLst>
          </p:cNvPr>
          <p:cNvSpPr>
            <a:spLocks xmlns:a="http://schemas.openxmlformats.org/drawingml/2006/main" noGrp="1"/>
          </p:cNvSpPr>
          <p:nvPr/>
        </p:nvSpPr>
        <p:spPr>
          <a:xfrm xmlns:a="http://schemas.openxmlformats.org/drawingml/2006/main">
            <a:off x="6095848" y="4059936"/>
            <a:ext cx="1660093"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shared</a:t>
            </a:r>
            <a:endParaRPr sz="900"/>
          </a:p>
          <a:p xmlns:a="http://schemas.openxmlformats.org/drawingml/2006/main">
            <a:pPr marL="0" indent="0">
              <a:lnSpc>
                <a:spcPts val="1100"/>
              </a:lnSpc>
              <a:buNone/>
            </a:pPr>
            <a:r>
              <a:rPr sz="900">
                <a:solidFill>
                  <a:srgbClr val="8FA9C4"/>
                </a:solidFill>
                <a:latin typeface="Arial"/>
                <a:ea typeface="Arial"/>
                <a:cs typeface="Arial"/>
              </a:rPr>
              <a:t>components</a:t>
            </a:r>
            <a:endParaRPr sz="900"/>
          </a:p>
        </p:txBody>
      </p:sp>
      <p:sp>
        <p:nvSpPr>
          <p:cNvPr id="15" name="Text 13">
            <a:extLst xmlns:a="http://schemas.openxmlformats.org/drawingml/2006/main">
              <a:ext uri="{FF2B5EF4-FFF2-40B4-BE49-F238E27FC236}">
                <a16:creationId xmlns:a16="http://schemas.microsoft.com/office/drawing/2014/main" id="{0821B431-1A93-4404-A891-04E44DD8B3FD}"/>
              </a:ext>
            </a:extLst>
          </p:cNvPr>
          <p:cNvSpPr>
            <a:spLocks xmlns:a="http://schemas.openxmlformats.org/drawingml/2006/main" noGrp="1"/>
          </p:cNvSpPr>
          <p:nvPr/>
        </p:nvSpPr>
        <p:spPr>
          <a:xfrm xmlns:a="http://schemas.openxmlformats.org/drawingml/2006/main">
            <a:off x="7938821" y="3584448"/>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11</a:t>
            </a:r>
            <a:endParaRPr sz="2800"/>
          </a:p>
        </p:txBody>
      </p:sp>
      <p:sp>
        <p:nvSpPr>
          <p:cNvPr id="16" name="Text 14">
            <a:extLst xmlns:a="http://schemas.openxmlformats.org/drawingml/2006/main">
              <a:ext uri="{FF2B5EF4-FFF2-40B4-BE49-F238E27FC236}">
                <a16:creationId xmlns:a16="http://schemas.microsoft.com/office/drawing/2014/main" id="{781B8FC0-E378-4E07-AA8F-6453FFD24AAA}"/>
              </a:ext>
            </a:extLst>
          </p:cNvPr>
          <p:cNvSpPr>
            <a:spLocks xmlns:a="http://schemas.openxmlformats.org/drawingml/2006/main" noGrp="1"/>
          </p:cNvSpPr>
          <p:nvPr/>
        </p:nvSpPr>
        <p:spPr>
          <a:xfrm xmlns:a="http://schemas.openxmlformats.org/drawingml/2006/main">
            <a:off x="7938821" y="4059936"/>
            <a:ext cx="1660093"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service-request</a:t>
            </a:r>
            <a:endParaRPr sz="900"/>
          </a:p>
          <a:p xmlns:a="http://schemas.openxmlformats.org/drawingml/2006/main">
            <a:pPr marL="0" indent="0">
              <a:lnSpc>
                <a:spcPts val="1100"/>
              </a:lnSpc>
              <a:buNone/>
            </a:pPr>
            <a:r>
              <a:rPr sz="900">
                <a:solidFill>
                  <a:srgbClr val="8FA9C4"/>
                </a:solidFill>
                <a:latin typeface="Arial"/>
                <a:ea typeface="Arial"/>
                <a:cs typeface="Arial"/>
              </a:rPr>
              <a:t>categories</a:t>
            </a:r>
            <a:endParaRPr sz="900"/>
          </a:p>
        </p:txBody>
      </p:sp>
      <p:sp>
        <p:nvSpPr>
          <p:cNvPr id="17" name="Text 15">
            <a:extLst xmlns:a="http://schemas.openxmlformats.org/drawingml/2006/main">
              <a:ext uri="{FF2B5EF4-FFF2-40B4-BE49-F238E27FC236}">
                <a16:creationId xmlns:a16="http://schemas.microsoft.com/office/drawing/2014/main" id="{614A7992-6CE6-48A0-BFC7-1058A2829C37}"/>
              </a:ext>
            </a:extLst>
          </p:cNvPr>
          <p:cNvSpPr>
            <a:spLocks xmlns:a="http://schemas.openxmlformats.org/drawingml/2006/main" noGrp="1"/>
          </p:cNvSpPr>
          <p:nvPr/>
        </p:nvSpPr>
        <p:spPr>
          <a:xfrm xmlns:a="http://schemas.openxmlformats.org/drawingml/2006/main">
            <a:off x="9781794" y="3584448"/>
            <a:ext cx="16600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2</a:t>
            </a:r>
            <a:endParaRPr sz="2800"/>
          </a:p>
        </p:txBody>
      </p:sp>
      <p:sp>
        <p:nvSpPr>
          <p:cNvPr id="18" name="Text 16">
            <a:extLst xmlns:a="http://schemas.openxmlformats.org/drawingml/2006/main">
              <a:ext uri="{FF2B5EF4-FFF2-40B4-BE49-F238E27FC236}">
                <a16:creationId xmlns:a16="http://schemas.microsoft.com/office/drawing/2014/main" id="{632FEC3E-C062-48B0-967D-F1E2EECD76B1}"/>
              </a:ext>
            </a:extLst>
          </p:cNvPr>
          <p:cNvSpPr>
            <a:spLocks xmlns:a="http://schemas.openxmlformats.org/drawingml/2006/main" noGrp="1"/>
          </p:cNvSpPr>
          <p:nvPr/>
        </p:nvSpPr>
        <p:spPr>
          <a:xfrm xmlns:a="http://schemas.openxmlformats.org/drawingml/2006/main">
            <a:off x="9781794" y="4059936"/>
            <a:ext cx="1660093"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legal entities</a:t>
            </a:r>
            <a:endParaRPr sz="900"/>
          </a:p>
          <a:p xmlns:a="http://schemas.openxmlformats.org/drawingml/2006/main">
            <a:pPr marL="0" indent="0">
              <a:lnSpc>
                <a:spcPts val="1100"/>
              </a:lnSpc>
              <a:buNone/>
            </a:pPr>
            <a:r>
              <a:rPr sz="900">
                <a:solidFill>
                  <a:srgbClr val="8FA9C4"/>
                </a:solidFill>
                <a:latin typeface="Arial"/>
                <a:ea typeface="Arial"/>
                <a:cs typeface="Arial"/>
              </a:rPr>
              <a:t>in one flow</a:t>
            </a:r>
            <a:endParaRPr sz="900"/>
          </a:p>
        </p:txBody>
      </p:sp>
      <p:sp>
        <p:nvSpPr>
          <p:cNvPr id="19" name="Shape 17">
            <a:extLst xmlns:a="http://schemas.openxmlformats.org/drawingml/2006/main">
              <a:ext uri="{FF2B5EF4-FFF2-40B4-BE49-F238E27FC236}">
                <a16:creationId xmlns:a16="http://schemas.microsoft.com/office/drawing/2014/main" id="{C7E98558-427A-46E7-985B-3C7EA8A6B632}"/>
              </a:ext>
            </a:extLst>
          </p:cNvPr>
          <p:cNvSpPr>
            <a:spLocks xmlns:a="http://schemas.openxmlformats.org/drawingml/2006/main" noGrp="1"/>
          </p:cNvSpPr>
          <p:nvPr/>
        </p:nvSpPr>
        <p:spPr>
          <a:xfrm xmlns:a="http://schemas.openxmlformats.org/drawingml/2006/main">
            <a:off x="566928" y="4809744"/>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8FC6D61E-AE59-4993-91A3-6698E4E02E4F}"/>
              </a:ext>
            </a:extLst>
          </p:cNvPr>
          <p:cNvSpPr>
            <a:spLocks xmlns:a="http://schemas.openxmlformats.org/drawingml/2006/main" noGrp="1"/>
          </p:cNvSpPr>
          <p:nvPr/>
        </p:nvSpPr>
        <p:spPr>
          <a:xfrm xmlns:a="http://schemas.openxmlformats.org/drawingml/2006/main">
            <a:off x="566928" y="4992624"/>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PROGRAMME CONTEXT  ·  PUBLICLY REPORTED</a:t>
            </a:r>
            <a:endParaRPr sz="800"/>
          </a:p>
        </p:txBody>
      </p:sp>
      <p:sp>
        <p:nvSpPr>
          <p:cNvPr id="21" name="Text 19">
            <a:extLst xmlns:a="http://schemas.openxmlformats.org/drawingml/2006/main">
              <a:ext uri="{FF2B5EF4-FFF2-40B4-BE49-F238E27FC236}">
                <a16:creationId xmlns:a16="http://schemas.microsoft.com/office/drawing/2014/main" id="{E0B91A37-67A2-441C-B239-FB1150E47EC3}"/>
              </a:ext>
            </a:extLst>
          </p:cNvPr>
          <p:cNvSpPr>
            <a:spLocks xmlns:a="http://schemas.openxmlformats.org/drawingml/2006/main" noGrp="1"/>
          </p:cNvSpPr>
          <p:nvPr/>
        </p:nvSpPr>
        <p:spPr>
          <a:xfrm xmlns:a="http://schemas.openxmlformats.org/drawingml/2006/main">
            <a:off x="566928" y="5212080"/>
            <a:ext cx="11057839"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150,000+ platform users    ·    120M+ customers    ·    9,000+ branches    ·    100+ integrated applications    ·    85 journeys in production</a:t>
            </a:r>
            <a:endParaRPr sz="1050"/>
          </a:p>
        </p:txBody>
      </p:sp>
      <p:sp>
        <p:nvSpPr>
          <p:cNvPr id="22" name="Text 20">
            <a:extLst xmlns:a="http://schemas.openxmlformats.org/drawingml/2006/main">
              <a:ext uri="{FF2B5EF4-FFF2-40B4-BE49-F238E27FC236}">
                <a16:creationId xmlns:a16="http://schemas.microsoft.com/office/drawing/2014/main" id="{702BA690-86D2-4BC6-A8A6-BF807DC2BF84}"/>
              </a:ext>
            </a:extLst>
          </p:cNvPr>
          <p:cNvSpPr>
            <a:spLocks xmlns:a="http://schemas.openxmlformats.org/drawingml/2006/main" noGrp="1"/>
          </p:cNvSpPr>
          <p:nvPr/>
        </p:nvSpPr>
        <p:spPr>
          <a:xfrm xmlns:a="http://schemas.openxmlformats.org/drawingml/2006/main">
            <a:off x="566928" y="5687568"/>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Programme and delivery ownership, digital journey portfolio   ·   2024</a:t>
            </a:r>
            <a:endParaRPr sz="1200"/>
          </a:p>
        </p:txBody>
      </p:sp>
      <p:sp>
        <p:nvSpPr>
          <p:cNvPr id="23" name="Text 21">
            <a:extLst xmlns:a="http://schemas.openxmlformats.org/drawingml/2006/main">
              <a:ext uri="{FF2B5EF4-FFF2-40B4-BE49-F238E27FC236}">
                <a16:creationId xmlns:a16="http://schemas.microsoft.com/office/drawing/2014/main" id="{EAA8DD05-6572-47C8-829B-BB30825B12D9}"/>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Public figures attributed; personal contribution stated separately; value model marked as illustrative.</a:t>
            </a:r>
            <a:endParaRPr sz="850"/>
          </a:p>
        </p:txBody>
      </p:sp>
    </p:spTree>
    <p:extLst>
      <p:ext uri="{BB962C8B-B14F-4D97-AF65-F5344CB8AC3E}">
        <p14:creationId xmlns:p14="http://schemas.microsoft.com/office/powerpoint/2010/main" val="93192632"/>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1BDFD4-85F4-43E0-93F3-A484FE62D15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BUSINESS OBJECTIVES</a:t>
            </a:r>
            <a:endParaRPr sz="950"/>
          </a:p>
        </p:txBody>
      </p:sp>
      <p:sp>
        <p:nvSpPr>
          <p:cNvPr id="3" name="Text 1">
            <a:extLst xmlns:a="http://schemas.openxmlformats.org/drawingml/2006/main">
              <a:ext uri="{FF2B5EF4-FFF2-40B4-BE49-F238E27FC236}">
                <a16:creationId xmlns:a16="http://schemas.microsoft.com/office/drawing/2014/main" id="{F7ADC3F9-A1FF-491C-B7B5-BC79E60D4BC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Every journey was commissioned against one of four business objectives, each</a:t>
            </a:r>
            <a:endParaRPr sz="1900"/>
          </a:p>
          <a:p xmlns:a="http://schemas.openxmlformats.org/drawingml/2006/main">
            <a:pPr marL="0" indent="0">
              <a:lnSpc>
                <a:spcPts val="2400"/>
              </a:lnSpc>
              <a:buNone/>
            </a:pPr>
            <a:r>
              <a:rPr sz="1900" b="1">
                <a:solidFill>
                  <a:srgbClr val="102A43"/>
                </a:solidFill>
                <a:latin typeface="Arial"/>
                <a:ea typeface="Arial"/>
                <a:cs typeface="Arial"/>
              </a:rPr>
              <a:t>with a named owner metric — no journey entered the backlog without one</a:t>
            </a:r>
            <a:endParaRPr sz="1900"/>
          </a:p>
        </p:txBody>
      </p:sp>
      <p:sp>
        <p:nvSpPr>
          <p:cNvPr id="4" name="Shape 2">
            <a:extLst xmlns:a="http://schemas.openxmlformats.org/drawingml/2006/main">
              <a:ext uri="{FF2B5EF4-FFF2-40B4-BE49-F238E27FC236}">
                <a16:creationId xmlns:a16="http://schemas.microsoft.com/office/drawing/2014/main" id="{979480B0-8684-4685-AF13-88E8B12684F6}"/>
              </a:ext>
            </a:extLst>
          </p:cNvPr>
          <p:cNvSpPr>
            <a:spLocks xmlns:a="http://schemas.openxmlformats.org/drawingml/2006/main" noGrp="1"/>
          </p:cNvSpPr>
          <p:nvPr/>
        </p:nvSpPr>
        <p:spPr>
          <a:xfrm xmlns:a="http://schemas.openxmlformats.org/drawingml/2006/main">
            <a:off x="566928" y="1335024"/>
            <a:ext cx="2641016" cy="32004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2DF4BB82-54D5-4AE5-B74E-69F88E2F0B13}"/>
              </a:ext>
            </a:extLst>
          </p:cNvPr>
          <p:cNvSpPr>
            <a:spLocks xmlns:a="http://schemas.openxmlformats.org/drawingml/2006/main" noGrp="1"/>
          </p:cNvSpPr>
          <p:nvPr/>
        </p:nvSpPr>
        <p:spPr>
          <a:xfrm xmlns:a="http://schemas.openxmlformats.org/drawingml/2006/main">
            <a:off x="768096" y="1517904"/>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B04A25"/>
                </a:solidFill>
                <a:latin typeface="Arial"/>
                <a:ea typeface="Arial"/>
                <a:cs typeface="Arial"/>
              </a:rPr>
              <a:t>GROW</a:t>
            </a:r>
            <a:endParaRPr sz="860"/>
          </a:p>
        </p:txBody>
      </p:sp>
      <p:sp>
        <p:nvSpPr>
          <p:cNvPr id="6" name="Text 4">
            <a:extLst xmlns:a="http://schemas.openxmlformats.org/drawingml/2006/main">
              <a:ext uri="{FF2B5EF4-FFF2-40B4-BE49-F238E27FC236}">
                <a16:creationId xmlns:a16="http://schemas.microsoft.com/office/drawing/2014/main" id="{4404784D-924A-43C9-B4EC-38A8DB473F22}"/>
              </a:ext>
            </a:extLst>
          </p:cNvPr>
          <p:cNvSpPr>
            <a:spLocks xmlns:a="http://schemas.openxmlformats.org/drawingml/2006/main" noGrp="1"/>
          </p:cNvSpPr>
          <p:nvPr/>
        </p:nvSpPr>
        <p:spPr>
          <a:xfrm xmlns:a="http://schemas.openxmlformats.org/drawingml/2006/main">
            <a:off x="768096" y="1755648"/>
            <a:ext cx="2238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00"/>
              </a:lnSpc>
              <a:buNone/>
            </a:pPr>
            <a:r>
              <a:rPr sz="1400" b="1">
                <a:solidFill>
                  <a:srgbClr val="102A43"/>
                </a:solidFill>
                <a:latin typeface="Arial"/>
                <a:ea typeface="Arial"/>
                <a:cs typeface="Arial"/>
              </a:rPr>
              <a:t>Activate and convert</a:t>
            </a:r>
            <a:endParaRPr sz="1400"/>
          </a:p>
        </p:txBody>
      </p:sp>
      <p:sp>
        <p:nvSpPr>
          <p:cNvPr id="7" name="Text 5">
            <a:extLst xmlns:a="http://schemas.openxmlformats.org/drawingml/2006/main">
              <a:ext uri="{FF2B5EF4-FFF2-40B4-BE49-F238E27FC236}">
                <a16:creationId xmlns:a16="http://schemas.microsoft.com/office/drawing/2014/main" id="{75098501-35EA-4946-9574-7984F3287E64}"/>
              </a:ext>
            </a:extLst>
          </p:cNvPr>
          <p:cNvSpPr>
            <a:spLocks xmlns:a="http://schemas.openxmlformats.org/drawingml/2006/main" noGrp="1"/>
          </p:cNvSpPr>
          <p:nvPr/>
        </p:nvSpPr>
        <p:spPr>
          <a:xfrm xmlns:a="http://schemas.openxmlformats.org/drawingml/2006/main">
            <a:off x="768096" y="2267712"/>
            <a:ext cx="223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Turn an opened account into a funded, active relationship before intent decays.</a:t>
            </a:r>
            <a:endParaRPr sz="960"/>
          </a:p>
        </p:txBody>
      </p:sp>
      <p:sp>
        <p:nvSpPr>
          <p:cNvPr id="8" name="Shape 6">
            <a:extLst xmlns:a="http://schemas.openxmlformats.org/drawingml/2006/main">
              <a:ext uri="{FF2B5EF4-FFF2-40B4-BE49-F238E27FC236}">
                <a16:creationId xmlns:a16="http://schemas.microsoft.com/office/drawing/2014/main" id="{7E1D0D5C-9620-46CA-98FA-ECF50A127B7E}"/>
              </a:ext>
            </a:extLst>
          </p:cNvPr>
          <p:cNvSpPr>
            <a:spLocks xmlns:a="http://schemas.openxmlformats.org/drawingml/2006/main" noGrp="1"/>
          </p:cNvSpPr>
          <p:nvPr/>
        </p:nvSpPr>
        <p:spPr>
          <a:xfrm xmlns:a="http://schemas.openxmlformats.org/drawingml/2006/main">
            <a:off x="768096" y="3072384"/>
            <a:ext cx="2238680" cy="18288"/>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6A1B797C-6E4C-423E-BAC3-FD8BFD7037C8}"/>
              </a:ext>
            </a:extLst>
          </p:cNvPr>
          <p:cNvSpPr>
            <a:spLocks xmlns:a="http://schemas.openxmlformats.org/drawingml/2006/main" noGrp="1"/>
          </p:cNvSpPr>
          <p:nvPr/>
        </p:nvSpPr>
        <p:spPr>
          <a:xfrm xmlns:a="http://schemas.openxmlformats.org/drawingml/2006/main">
            <a:off x="768096" y="316382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60" b="1">
                <a:solidFill>
                  <a:srgbClr val="627D98"/>
                </a:solidFill>
                <a:latin typeface="Arial"/>
                <a:ea typeface="Arial"/>
                <a:cs typeface="Arial"/>
              </a:rPr>
              <a:t>OWNER METRIC</a:t>
            </a:r>
            <a:endParaRPr sz="760"/>
          </a:p>
        </p:txBody>
      </p:sp>
      <p:sp>
        <p:nvSpPr>
          <p:cNvPr id="10" name="Text 8">
            <a:extLst xmlns:a="http://schemas.openxmlformats.org/drawingml/2006/main">
              <a:ext uri="{FF2B5EF4-FFF2-40B4-BE49-F238E27FC236}">
                <a16:creationId xmlns:a16="http://schemas.microsoft.com/office/drawing/2014/main" id="{DFED635F-E598-4899-AEE9-00A8C90A06FC}"/>
              </a:ext>
            </a:extLst>
          </p:cNvPr>
          <p:cNvSpPr>
            <a:spLocks xmlns:a="http://schemas.openxmlformats.org/drawingml/2006/main" noGrp="1"/>
          </p:cNvSpPr>
          <p:nvPr/>
        </p:nvSpPr>
        <p:spPr>
          <a:xfrm xmlns:a="http://schemas.openxmlformats.org/drawingml/2006/main">
            <a:off x="768096" y="3346704"/>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Funded-in-session rate</a:t>
            </a:r>
            <a:endParaRPr sz="1000"/>
          </a:p>
        </p:txBody>
      </p:sp>
      <p:sp>
        <p:nvSpPr>
          <p:cNvPr id="11" name="Text 9">
            <a:extLst xmlns:a="http://schemas.openxmlformats.org/drawingml/2006/main">
              <a:ext uri="{FF2B5EF4-FFF2-40B4-BE49-F238E27FC236}">
                <a16:creationId xmlns:a16="http://schemas.microsoft.com/office/drawing/2014/main" id="{34B64664-15EE-4472-BFC7-06F93AFA24D8}"/>
              </a:ext>
            </a:extLst>
          </p:cNvPr>
          <p:cNvSpPr>
            <a:spLocks xmlns:a="http://schemas.openxmlformats.org/drawingml/2006/main" noGrp="1"/>
          </p:cNvSpPr>
          <p:nvPr/>
        </p:nvSpPr>
        <p:spPr>
          <a:xfrm xmlns:a="http://schemas.openxmlformats.org/drawingml/2006/main">
            <a:off x="768096" y="3639312"/>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000"/>
              </a:lnSpc>
              <a:buNone/>
            </a:pPr>
            <a:r>
              <a:rPr sz="2400" b="1">
                <a:solidFill>
                  <a:srgbClr val="B04A25"/>
                </a:solidFill>
                <a:latin typeface="Arial"/>
                <a:ea typeface="Arial"/>
                <a:cs typeface="Arial"/>
              </a:rPr>
              <a:t>+27pp</a:t>
            </a:r>
            <a:endParaRPr sz="2400"/>
          </a:p>
        </p:txBody>
      </p:sp>
      <p:sp>
        <p:nvSpPr>
          <p:cNvPr id="12" name="Text 10">
            <a:extLst xmlns:a="http://schemas.openxmlformats.org/drawingml/2006/main">
              <a:ext uri="{FF2B5EF4-FFF2-40B4-BE49-F238E27FC236}">
                <a16:creationId xmlns:a16="http://schemas.microsoft.com/office/drawing/2014/main" id="{150DDE72-38D4-427C-865E-B5DFD143574B}"/>
              </a:ext>
            </a:extLst>
          </p:cNvPr>
          <p:cNvSpPr>
            <a:spLocks xmlns:a="http://schemas.openxmlformats.org/drawingml/2006/main" noGrp="1"/>
          </p:cNvSpPr>
          <p:nvPr/>
        </p:nvSpPr>
        <p:spPr>
          <a:xfrm xmlns:a="http://schemas.openxmlformats.org/drawingml/2006/main">
            <a:off x="768096" y="4059936"/>
            <a:ext cx="223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Account funding  ·  Commercial card</a:t>
            </a:r>
            <a:endParaRPr sz="880"/>
          </a:p>
        </p:txBody>
      </p:sp>
      <p:sp>
        <p:nvSpPr>
          <p:cNvPr id="13" name="Shape 11">
            <a:extLst xmlns:a="http://schemas.openxmlformats.org/drawingml/2006/main">
              <a:ext uri="{FF2B5EF4-FFF2-40B4-BE49-F238E27FC236}">
                <a16:creationId xmlns:a16="http://schemas.microsoft.com/office/drawing/2014/main" id="{C74C1F41-A100-4F1E-913E-B5329B1BB1C7}"/>
              </a:ext>
            </a:extLst>
          </p:cNvPr>
          <p:cNvSpPr>
            <a:spLocks xmlns:a="http://schemas.openxmlformats.org/drawingml/2006/main" noGrp="1"/>
          </p:cNvSpPr>
          <p:nvPr/>
        </p:nvSpPr>
        <p:spPr>
          <a:xfrm xmlns:a="http://schemas.openxmlformats.org/drawingml/2006/main">
            <a:off x="3372536" y="1335024"/>
            <a:ext cx="2641016" cy="320040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782167BE-B861-41FF-9CE8-42130E74C10F}"/>
              </a:ext>
            </a:extLst>
          </p:cNvPr>
          <p:cNvSpPr>
            <a:spLocks xmlns:a="http://schemas.openxmlformats.org/drawingml/2006/main" noGrp="1"/>
          </p:cNvSpPr>
          <p:nvPr/>
        </p:nvSpPr>
        <p:spPr>
          <a:xfrm xmlns:a="http://schemas.openxmlformats.org/drawingml/2006/main">
            <a:off x="3573704" y="1517904"/>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B04A25"/>
                </a:solidFill>
                <a:latin typeface="Arial"/>
                <a:ea typeface="Arial"/>
                <a:cs typeface="Arial"/>
              </a:rPr>
              <a:t>CROSS</a:t>
            </a:r>
            <a:endParaRPr sz="860"/>
          </a:p>
        </p:txBody>
      </p:sp>
      <p:sp>
        <p:nvSpPr>
          <p:cNvPr id="15" name="Text 13">
            <a:extLst xmlns:a="http://schemas.openxmlformats.org/drawingml/2006/main">
              <a:ext uri="{FF2B5EF4-FFF2-40B4-BE49-F238E27FC236}">
                <a16:creationId xmlns:a16="http://schemas.microsoft.com/office/drawing/2014/main" id="{5BFDD622-3609-4FB4-B976-707D7EC0EDD7}"/>
              </a:ext>
            </a:extLst>
          </p:cNvPr>
          <p:cNvSpPr>
            <a:spLocks xmlns:a="http://schemas.openxmlformats.org/drawingml/2006/main" noGrp="1"/>
          </p:cNvSpPr>
          <p:nvPr/>
        </p:nvSpPr>
        <p:spPr>
          <a:xfrm xmlns:a="http://schemas.openxmlformats.org/drawingml/2006/main">
            <a:off x="3573704" y="1755648"/>
            <a:ext cx="2238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00"/>
              </a:lnSpc>
              <a:buNone/>
            </a:pPr>
            <a:r>
              <a:rPr sz="1400" b="1">
                <a:solidFill>
                  <a:srgbClr val="102A43"/>
                </a:solidFill>
                <a:latin typeface="Arial"/>
                <a:ea typeface="Arial"/>
                <a:cs typeface="Arial"/>
              </a:rPr>
              <a:t>Monetise the group</a:t>
            </a:r>
            <a:endParaRPr sz="1400"/>
          </a:p>
        </p:txBody>
      </p:sp>
      <p:sp>
        <p:nvSpPr>
          <p:cNvPr id="16" name="Text 14">
            <a:extLst xmlns:a="http://schemas.openxmlformats.org/drawingml/2006/main">
              <a:ext uri="{FF2B5EF4-FFF2-40B4-BE49-F238E27FC236}">
                <a16:creationId xmlns:a16="http://schemas.microsoft.com/office/drawing/2014/main" id="{FBDC8561-01E0-4CAE-A8F6-7662903A98D3}"/>
              </a:ext>
            </a:extLst>
          </p:cNvPr>
          <p:cNvSpPr>
            <a:spLocks xmlns:a="http://schemas.openxmlformats.org/drawingml/2006/main" noGrp="1"/>
          </p:cNvSpPr>
          <p:nvPr/>
        </p:nvSpPr>
        <p:spPr>
          <a:xfrm xmlns:a="http://schemas.openxmlformats.org/drawingml/2006/main">
            <a:off x="3573704" y="2267712"/>
            <a:ext cx="223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Sell the sister insurer's product inside a bank journey, under one consent.</a:t>
            </a:r>
            <a:endParaRPr sz="960"/>
          </a:p>
        </p:txBody>
      </p:sp>
      <p:sp>
        <p:nvSpPr>
          <p:cNvPr id="17" name="Shape 15">
            <a:extLst xmlns:a="http://schemas.openxmlformats.org/drawingml/2006/main">
              <a:ext uri="{FF2B5EF4-FFF2-40B4-BE49-F238E27FC236}">
                <a16:creationId xmlns:a16="http://schemas.microsoft.com/office/drawing/2014/main" id="{AC0EF079-F96C-4729-B4F7-0341D43E7908}"/>
              </a:ext>
            </a:extLst>
          </p:cNvPr>
          <p:cNvSpPr>
            <a:spLocks xmlns:a="http://schemas.openxmlformats.org/drawingml/2006/main" noGrp="1"/>
          </p:cNvSpPr>
          <p:nvPr/>
        </p:nvSpPr>
        <p:spPr>
          <a:xfrm xmlns:a="http://schemas.openxmlformats.org/drawingml/2006/main">
            <a:off x="3573704" y="3072384"/>
            <a:ext cx="2238680" cy="18288"/>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2835DF5F-5BBA-42AC-B867-7DFC1D95B2D3}"/>
              </a:ext>
            </a:extLst>
          </p:cNvPr>
          <p:cNvSpPr>
            <a:spLocks xmlns:a="http://schemas.openxmlformats.org/drawingml/2006/main" noGrp="1"/>
          </p:cNvSpPr>
          <p:nvPr/>
        </p:nvSpPr>
        <p:spPr>
          <a:xfrm xmlns:a="http://schemas.openxmlformats.org/drawingml/2006/main">
            <a:off x="3573704" y="316382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60" b="1">
                <a:solidFill>
                  <a:srgbClr val="627D98"/>
                </a:solidFill>
                <a:latin typeface="Arial"/>
                <a:ea typeface="Arial"/>
                <a:cs typeface="Arial"/>
              </a:rPr>
              <a:t>OWNER METRIC</a:t>
            </a:r>
            <a:endParaRPr sz="760"/>
          </a:p>
        </p:txBody>
      </p:sp>
      <p:sp>
        <p:nvSpPr>
          <p:cNvPr id="19" name="Text 17">
            <a:extLst xmlns:a="http://schemas.openxmlformats.org/drawingml/2006/main">
              <a:ext uri="{FF2B5EF4-FFF2-40B4-BE49-F238E27FC236}">
                <a16:creationId xmlns:a16="http://schemas.microsoft.com/office/drawing/2014/main" id="{C37BC024-CF71-4B1D-97CD-16FC8C0BD459}"/>
              </a:ext>
            </a:extLst>
          </p:cNvPr>
          <p:cNvSpPr>
            <a:spLocks xmlns:a="http://schemas.openxmlformats.org/drawingml/2006/main" noGrp="1"/>
          </p:cNvSpPr>
          <p:nvPr/>
        </p:nvSpPr>
        <p:spPr>
          <a:xfrm xmlns:a="http://schemas.openxmlformats.org/drawingml/2006/main">
            <a:off x="3573704" y="3346704"/>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Offer-to-issued conversion</a:t>
            </a:r>
            <a:endParaRPr sz="1000"/>
          </a:p>
        </p:txBody>
      </p:sp>
      <p:sp>
        <p:nvSpPr>
          <p:cNvPr id="20" name="Text 18">
            <a:extLst xmlns:a="http://schemas.openxmlformats.org/drawingml/2006/main">
              <a:ext uri="{FF2B5EF4-FFF2-40B4-BE49-F238E27FC236}">
                <a16:creationId xmlns:a16="http://schemas.microsoft.com/office/drawing/2014/main" id="{AE03040C-559F-46F9-A6C5-533BBBE7FA61}"/>
              </a:ext>
            </a:extLst>
          </p:cNvPr>
          <p:cNvSpPr>
            <a:spLocks xmlns:a="http://schemas.openxmlformats.org/drawingml/2006/main" noGrp="1"/>
          </p:cNvSpPr>
          <p:nvPr/>
        </p:nvSpPr>
        <p:spPr>
          <a:xfrm xmlns:a="http://schemas.openxmlformats.org/drawingml/2006/main">
            <a:off x="3573704" y="3639312"/>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000"/>
              </a:lnSpc>
              <a:buNone/>
            </a:pPr>
            <a:r>
              <a:rPr sz="2400" b="1">
                <a:solidFill>
                  <a:srgbClr val="B04A25"/>
                </a:solidFill>
                <a:latin typeface="Arial"/>
                <a:ea typeface="Arial"/>
                <a:cs typeface="Arial"/>
              </a:rPr>
              <a:t>1.6×</a:t>
            </a:r>
            <a:endParaRPr sz="2400"/>
          </a:p>
        </p:txBody>
      </p:sp>
      <p:sp>
        <p:nvSpPr>
          <p:cNvPr id="21" name="Text 19">
            <a:extLst xmlns:a="http://schemas.openxmlformats.org/drawingml/2006/main">
              <a:ext uri="{FF2B5EF4-FFF2-40B4-BE49-F238E27FC236}">
                <a16:creationId xmlns:a16="http://schemas.microsoft.com/office/drawing/2014/main" id="{51798533-E0DF-4F1C-BE20-4EB81D5ACA3F}"/>
              </a:ext>
            </a:extLst>
          </p:cNvPr>
          <p:cNvSpPr>
            <a:spLocks xmlns:a="http://schemas.openxmlformats.org/drawingml/2006/main" noGrp="1"/>
          </p:cNvSpPr>
          <p:nvPr/>
        </p:nvSpPr>
        <p:spPr>
          <a:xfrm xmlns:a="http://schemas.openxmlformats.org/drawingml/2006/main">
            <a:off x="3573704" y="4059936"/>
            <a:ext cx="223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Group health</a:t>
            </a:r>
            <a:endParaRPr sz="880"/>
          </a:p>
        </p:txBody>
      </p:sp>
      <p:sp>
        <p:nvSpPr>
          <p:cNvPr id="22" name="Shape 20">
            <a:extLst xmlns:a="http://schemas.openxmlformats.org/drawingml/2006/main">
              <a:ext uri="{FF2B5EF4-FFF2-40B4-BE49-F238E27FC236}">
                <a16:creationId xmlns:a16="http://schemas.microsoft.com/office/drawing/2014/main" id="{6FAE8B33-8F54-4612-B764-873171F52C02}"/>
              </a:ext>
            </a:extLst>
          </p:cNvPr>
          <p:cNvSpPr>
            <a:spLocks xmlns:a="http://schemas.openxmlformats.org/drawingml/2006/main" noGrp="1"/>
          </p:cNvSpPr>
          <p:nvPr/>
        </p:nvSpPr>
        <p:spPr>
          <a:xfrm xmlns:a="http://schemas.openxmlformats.org/drawingml/2006/main">
            <a:off x="6178144" y="1335024"/>
            <a:ext cx="2641016" cy="3200400"/>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5302CBEC-7FB2-4377-846C-E0BC99E41D91}"/>
              </a:ext>
            </a:extLst>
          </p:cNvPr>
          <p:cNvSpPr>
            <a:spLocks xmlns:a="http://schemas.openxmlformats.org/drawingml/2006/main" noGrp="1"/>
          </p:cNvSpPr>
          <p:nvPr/>
        </p:nvSpPr>
        <p:spPr>
          <a:xfrm xmlns:a="http://schemas.openxmlformats.org/drawingml/2006/main">
            <a:off x="6379312" y="1517904"/>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SERVE</a:t>
            </a:r>
            <a:endParaRPr sz="860"/>
          </a:p>
        </p:txBody>
      </p:sp>
      <p:sp>
        <p:nvSpPr>
          <p:cNvPr id="24" name="Text 22">
            <a:extLst xmlns:a="http://schemas.openxmlformats.org/drawingml/2006/main">
              <a:ext uri="{FF2B5EF4-FFF2-40B4-BE49-F238E27FC236}">
                <a16:creationId xmlns:a16="http://schemas.microsoft.com/office/drawing/2014/main" id="{1D5D4ACD-DA58-4A4A-9245-4F08B3C39A33}"/>
              </a:ext>
            </a:extLst>
          </p:cNvPr>
          <p:cNvSpPr>
            <a:spLocks xmlns:a="http://schemas.openxmlformats.org/drawingml/2006/main" noGrp="1"/>
          </p:cNvSpPr>
          <p:nvPr/>
        </p:nvSpPr>
        <p:spPr>
          <a:xfrm xmlns:a="http://schemas.openxmlformats.org/drawingml/2006/main">
            <a:off x="6379312" y="1755648"/>
            <a:ext cx="2238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00"/>
              </a:lnSpc>
              <a:buNone/>
            </a:pPr>
            <a:r>
              <a:rPr sz="1400" b="1">
                <a:solidFill>
                  <a:srgbClr val="102A43"/>
                </a:solidFill>
                <a:latin typeface="Arial"/>
                <a:ea typeface="Arial"/>
                <a:cs typeface="Arial"/>
              </a:rPr>
              <a:t>Remove assisted work</a:t>
            </a:r>
            <a:endParaRPr sz="1400"/>
          </a:p>
        </p:txBody>
      </p:sp>
      <p:sp>
        <p:nvSpPr>
          <p:cNvPr id="25" name="Text 23">
            <a:extLst xmlns:a="http://schemas.openxmlformats.org/drawingml/2006/main">
              <a:ext uri="{FF2B5EF4-FFF2-40B4-BE49-F238E27FC236}">
                <a16:creationId xmlns:a16="http://schemas.microsoft.com/office/drawing/2014/main" id="{F6B463DD-E065-451D-9A65-B3CD25A4D508}"/>
              </a:ext>
            </a:extLst>
          </p:cNvPr>
          <p:cNvSpPr>
            <a:spLocks xmlns:a="http://schemas.openxmlformats.org/drawingml/2006/main" noGrp="1"/>
          </p:cNvSpPr>
          <p:nvPr/>
        </p:nvSpPr>
        <p:spPr>
          <a:xfrm xmlns:a="http://schemas.openxmlformats.org/drawingml/2006/main">
            <a:off x="6379312" y="2267712"/>
            <a:ext cx="223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Move high-volume, low-complexity demand out of the branch and agent queue.</a:t>
            </a:r>
            <a:endParaRPr sz="960"/>
          </a:p>
        </p:txBody>
      </p:sp>
      <p:sp>
        <p:nvSpPr>
          <p:cNvPr id="26" name="Shape 24">
            <a:extLst xmlns:a="http://schemas.openxmlformats.org/drawingml/2006/main">
              <a:ext uri="{FF2B5EF4-FFF2-40B4-BE49-F238E27FC236}">
                <a16:creationId xmlns:a16="http://schemas.microsoft.com/office/drawing/2014/main" id="{DB45CC3F-E3BE-432A-B455-D73BD62F2537}"/>
              </a:ext>
            </a:extLst>
          </p:cNvPr>
          <p:cNvSpPr>
            <a:spLocks xmlns:a="http://schemas.openxmlformats.org/drawingml/2006/main" noGrp="1"/>
          </p:cNvSpPr>
          <p:nvPr/>
        </p:nvSpPr>
        <p:spPr>
          <a:xfrm xmlns:a="http://schemas.openxmlformats.org/drawingml/2006/main">
            <a:off x="6379312" y="3072384"/>
            <a:ext cx="2238680" cy="18288"/>
          </a:xfrm>
          <a:prstGeom xmlns:a="http://schemas.openxmlformats.org/drawingml/2006/main" prst="rect">
            <a:avLst/>
          </a:prstGeom>
          <a:solidFill xmlns:a="http://schemas.openxmlformats.org/drawingml/2006/main">
            <a:srgbClr val="C6D2DE"/>
          </a:solidFill>
        </p:spPr>
      </p:sp>
      <p:sp>
        <p:nvSpPr>
          <p:cNvPr id="27" name="Text 25">
            <a:extLst xmlns:a="http://schemas.openxmlformats.org/drawingml/2006/main">
              <a:ext uri="{FF2B5EF4-FFF2-40B4-BE49-F238E27FC236}">
                <a16:creationId xmlns:a16="http://schemas.microsoft.com/office/drawing/2014/main" id="{8FBAAAA6-E9B3-46D9-B748-AFE9C76C80E8}"/>
              </a:ext>
            </a:extLst>
          </p:cNvPr>
          <p:cNvSpPr>
            <a:spLocks xmlns:a="http://schemas.openxmlformats.org/drawingml/2006/main" noGrp="1"/>
          </p:cNvSpPr>
          <p:nvPr/>
        </p:nvSpPr>
        <p:spPr>
          <a:xfrm xmlns:a="http://schemas.openxmlformats.org/drawingml/2006/main">
            <a:off x="6379312" y="316382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60" b="1">
                <a:solidFill>
                  <a:srgbClr val="627D98"/>
                </a:solidFill>
                <a:latin typeface="Arial"/>
                <a:ea typeface="Arial"/>
                <a:cs typeface="Arial"/>
              </a:rPr>
              <a:t>OWNER METRIC</a:t>
            </a:r>
            <a:endParaRPr sz="760"/>
          </a:p>
        </p:txBody>
      </p:sp>
      <p:sp>
        <p:nvSpPr>
          <p:cNvPr id="28" name="Text 26">
            <a:extLst xmlns:a="http://schemas.openxmlformats.org/drawingml/2006/main">
              <a:ext uri="{FF2B5EF4-FFF2-40B4-BE49-F238E27FC236}">
                <a16:creationId xmlns:a16="http://schemas.microsoft.com/office/drawing/2014/main" id="{7EE7116D-C97C-427F-B34B-54CDB3688B31}"/>
              </a:ext>
            </a:extLst>
          </p:cNvPr>
          <p:cNvSpPr>
            <a:spLocks xmlns:a="http://schemas.openxmlformats.org/drawingml/2006/main" noGrp="1"/>
          </p:cNvSpPr>
          <p:nvPr/>
        </p:nvSpPr>
        <p:spPr>
          <a:xfrm xmlns:a="http://schemas.openxmlformats.org/drawingml/2006/main">
            <a:off x="6379312" y="3346704"/>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Self-service deflection</a:t>
            </a:r>
            <a:endParaRPr sz="1000"/>
          </a:p>
        </p:txBody>
      </p:sp>
      <p:sp>
        <p:nvSpPr>
          <p:cNvPr id="29" name="Text 27">
            <a:extLst xmlns:a="http://schemas.openxmlformats.org/drawingml/2006/main">
              <a:ext uri="{FF2B5EF4-FFF2-40B4-BE49-F238E27FC236}">
                <a16:creationId xmlns:a16="http://schemas.microsoft.com/office/drawing/2014/main" id="{5287E5EF-A591-4BC7-80F9-5E9D0C2BFB1D}"/>
              </a:ext>
            </a:extLst>
          </p:cNvPr>
          <p:cNvSpPr>
            <a:spLocks xmlns:a="http://schemas.openxmlformats.org/drawingml/2006/main" noGrp="1"/>
          </p:cNvSpPr>
          <p:nvPr/>
        </p:nvSpPr>
        <p:spPr>
          <a:xfrm xmlns:a="http://schemas.openxmlformats.org/drawingml/2006/main">
            <a:off x="6379312" y="3639312"/>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000"/>
              </a:lnSpc>
              <a:buNone/>
            </a:pPr>
            <a:r>
              <a:rPr sz="2400" b="1">
                <a:solidFill>
                  <a:srgbClr val="486581"/>
                </a:solidFill>
                <a:latin typeface="Arial"/>
                <a:ea typeface="Arial"/>
                <a:cs typeface="Arial"/>
              </a:rPr>
              <a:t>38%</a:t>
            </a:r>
            <a:endParaRPr sz="2400"/>
          </a:p>
        </p:txBody>
      </p:sp>
      <p:sp>
        <p:nvSpPr>
          <p:cNvPr id="30" name="Text 28">
            <a:extLst xmlns:a="http://schemas.openxmlformats.org/drawingml/2006/main">
              <a:ext uri="{FF2B5EF4-FFF2-40B4-BE49-F238E27FC236}">
                <a16:creationId xmlns:a16="http://schemas.microsoft.com/office/drawing/2014/main" id="{05F8DF0F-6440-455A-A97E-B2D1D998017C}"/>
              </a:ext>
            </a:extLst>
          </p:cNvPr>
          <p:cNvSpPr>
            <a:spLocks xmlns:a="http://schemas.openxmlformats.org/drawingml/2006/main" noGrp="1"/>
          </p:cNvSpPr>
          <p:nvPr/>
        </p:nvSpPr>
        <p:spPr>
          <a:xfrm xmlns:a="http://schemas.openxmlformats.org/drawingml/2006/main">
            <a:off x="6379312" y="4059936"/>
            <a:ext cx="223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Loan servicing  ·  Depository KYC</a:t>
            </a:r>
            <a:endParaRPr sz="880"/>
          </a:p>
        </p:txBody>
      </p:sp>
      <p:sp>
        <p:nvSpPr>
          <p:cNvPr id="31" name="Shape 29">
            <a:extLst xmlns:a="http://schemas.openxmlformats.org/drawingml/2006/main">
              <a:ext uri="{FF2B5EF4-FFF2-40B4-BE49-F238E27FC236}">
                <a16:creationId xmlns:a16="http://schemas.microsoft.com/office/drawing/2014/main" id="{9E2DA574-C84B-47E9-8434-ED76CADF0283}"/>
              </a:ext>
            </a:extLst>
          </p:cNvPr>
          <p:cNvSpPr>
            <a:spLocks xmlns:a="http://schemas.openxmlformats.org/drawingml/2006/main" noGrp="1"/>
          </p:cNvSpPr>
          <p:nvPr/>
        </p:nvSpPr>
        <p:spPr>
          <a:xfrm xmlns:a="http://schemas.openxmlformats.org/drawingml/2006/main">
            <a:off x="8983751" y="1335024"/>
            <a:ext cx="2641016" cy="3200400"/>
          </a:xfrm>
          <a:prstGeom xmlns:a="http://schemas.openxmlformats.org/drawingml/2006/main" prst="rect">
            <a:avLst/>
          </a:prstGeom>
          <a:solidFill xmlns:a="http://schemas.openxmlformats.org/drawingml/2006/main">
            <a:srgbClr val="F0F4F8"/>
          </a:solidFill>
        </p:spPr>
      </p:sp>
      <p:sp>
        <p:nvSpPr>
          <p:cNvPr id="32" name="Text 30">
            <a:extLst xmlns:a="http://schemas.openxmlformats.org/drawingml/2006/main">
              <a:ext uri="{FF2B5EF4-FFF2-40B4-BE49-F238E27FC236}">
                <a16:creationId xmlns:a16="http://schemas.microsoft.com/office/drawing/2014/main" id="{94267ABD-4C67-49DA-BF83-A9136518D17B}"/>
              </a:ext>
            </a:extLst>
          </p:cNvPr>
          <p:cNvSpPr>
            <a:spLocks xmlns:a="http://schemas.openxmlformats.org/drawingml/2006/main" noGrp="1"/>
          </p:cNvSpPr>
          <p:nvPr/>
        </p:nvSpPr>
        <p:spPr>
          <a:xfrm xmlns:a="http://schemas.openxmlformats.org/drawingml/2006/main">
            <a:off x="9184919" y="1517904"/>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COMPLY</a:t>
            </a:r>
            <a:endParaRPr sz="860"/>
          </a:p>
        </p:txBody>
      </p:sp>
      <p:sp>
        <p:nvSpPr>
          <p:cNvPr id="33" name="Text 31">
            <a:extLst xmlns:a="http://schemas.openxmlformats.org/drawingml/2006/main">
              <a:ext uri="{FF2B5EF4-FFF2-40B4-BE49-F238E27FC236}">
                <a16:creationId xmlns:a16="http://schemas.microsoft.com/office/drawing/2014/main" id="{AF28837D-BA6D-4A32-B9C1-6849FA223B8F}"/>
              </a:ext>
            </a:extLst>
          </p:cNvPr>
          <p:cNvSpPr>
            <a:spLocks xmlns:a="http://schemas.openxmlformats.org/drawingml/2006/main" noGrp="1"/>
          </p:cNvSpPr>
          <p:nvPr/>
        </p:nvSpPr>
        <p:spPr>
          <a:xfrm xmlns:a="http://schemas.openxmlformats.org/drawingml/2006/main">
            <a:off x="9184919" y="1755648"/>
            <a:ext cx="223868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700"/>
              </a:lnSpc>
              <a:buNone/>
            </a:pPr>
            <a:r>
              <a:rPr sz="1400" b="1">
                <a:solidFill>
                  <a:srgbClr val="102A43"/>
                </a:solidFill>
                <a:latin typeface="Arial"/>
                <a:ea typeface="Arial"/>
                <a:cs typeface="Arial"/>
              </a:rPr>
              <a:t>Close the disclosure gap</a:t>
            </a:r>
            <a:endParaRPr sz="1400"/>
          </a:p>
        </p:txBody>
      </p:sp>
      <p:sp>
        <p:nvSpPr>
          <p:cNvPr id="34" name="Text 32">
            <a:extLst xmlns:a="http://schemas.openxmlformats.org/drawingml/2006/main">
              <a:ext uri="{FF2B5EF4-FFF2-40B4-BE49-F238E27FC236}">
                <a16:creationId xmlns:a16="http://schemas.microsoft.com/office/drawing/2014/main" id="{3462030F-DBFE-48EB-BF7C-57DBE76C524D}"/>
              </a:ext>
            </a:extLst>
          </p:cNvPr>
          <p:cNvSpPr>
            <a:spLocks xmlns:a="http://schemas.openxmlformats.org/drawingml/2006/main" noGrp="1"/>
          </p:cNvSpPr>
          <p:nvPr/>
        </p:nvSpPr>
        <p:spPr>
          <a:xfrm xmlns:a="http://schemas.openxmlformats.org/drawingml/2006/main">
            <a:off x="9184919" y="2267712"/>
            <a:ext cx="22386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Collect a mandated declaration as self-service instead of a manual chase cycle.</a:t>
            </a:r>
            <a:endParaRPr sz="960"/>
          </a:p>
        </p:txBody>
      </p:sp>
      <p:sp>
        <p:nvSpPr>
          <p:cNvPr id="35" name="Shape 33">
            <a:extLst xmlns:a="http://schemas.openxmlformats.org/drawingml/2006/main">
              <a:ext uri="{FF2B5EF4-FFF2-40B4-BE49-F238E27FC236}">
                <a16:creationId xmlns:a16="http://schemas.microsoft.com/office/drawing/2014/main" id="{1222EC89-9957-4930-AD00-5889077E73B0}"/>
              </a:ext>
            </a:extLst>
          </p:cNvPr>
          <p:cNvSpPr>
            <a:spLocks xmlns:a="http://schemas.openxmlformats.org/drawingml/2006/main" noGrp="1"/>
          </p:cNvSpPr>
          <p:nvPr/>
        </p:nvSpPr>
        <p:spPr>
          <a:xfrm xmlns:a="http://schemas.openxmlformats.org/drawingml/2006/main">
            <a:off x="9184919" y="3072384"/>
            <a:ext cx="2238680" cy="18288"/>
          </a:xfrm>
          <a:prstGeom xmlns:a="http://schemas.openxmlformats.org/drawingml/2006/main" prst="rect">
            <a:avLst/>
          </a:prstGeom>
          <a:solidFill xmlns:a="http://schemas.openxmlformats.org/drawingml/2006/main">
            <a:srgbClr val="C6D2DE"/>
          </a:solidFill>
        </p:spPr>
      </p:sp>
      <p:sp>
        <p:nvSpPr>
          <p:cNvPr id="36" name="Text 34">
            <a:extLst xmlns:a="http://schemas.openxmlformats.org/drawingml/2006/main">
              <a:ext uri="{FF2B5EF4-FFF2-40B4-BE49-F238E27FC236}">
                <a16:creationId xmlns:a16="http://schemas.microsoft.com/office/drawing/2014/main" id="{771B0D5D-C398-4ADC-A9C3-76A55CDBA023}"/>
              </a:ext>
            </a:extLst>
          </p:cNvPr>
          <p:cNvSpPr>
            <a:spLocks xmlns:a="http://schemas.openxmlformats.org/drawingml/2006/main" noGrp="1"/>
          </p:cNvSpPr>
          <p:nvPr/>
        </p:nvSpPr>
        <p:spPr>
          <a:xfrm xmlns:a="http://schemas.openxmlformats.org/drawingml/2006/main">
            <a:off x="9184919" y="316382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60" b="1">
                <a:solidFill>
                  <a:srgbClr val="627D98"/>
                </a:solidFill>
                <a:latin typeface="Arial"/>
                <a:ea typeface="Arial"/>
                <a:cs typeface="Arial"/>
              </a:rPr>
              <a:t>OWNER METRIC</a:t>
            </a:r>
            <a:endParaRPr sz="760"/>
          </a:p>
        </p:txBody>
      </p:sp>
      <p:sp>
        <p:nvSpPr>
          <p:cNvPr id="37" name="Text 35">
            <a:extLst xmlns:a="http://schemas.openxmlformats.org/drawingml/2006/main">
              <a:ext uri="{FF2B5EF4-FFF2-40B4-BE49-F238E27FC236}">
                <a16:creationId xmlns:a16="http://schemas.microsoft.com/office/drawing/2014/main" id="{A2392593-36F5-45C6-96A2-A7377BFC2882}"/>
              </a:ext>
            </a:extLst>
          </p:cNvPr>
          <p:cNvSpPr>
            <a:spLocks xmlns:a="http://schemas.openxmlformats.org/drawingml/2006/main" noGrp="1"/>
          </p:cNvSpPr>
          <p:nvPr/>
        </p:nvSpPr>
        <p:spPr>
          <a:xfrm xmlns:a="http://schemas.openxmlformats.org/drawingml/2006/main">
            <a:off x="9184919" y="3346704"/>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Self-declaration rate</a:t>
            </a:r>
            <a:endParaRPr sz="1000"/>
          </a:p>
        </p:txBody>
      </p:sp>
      <p:sp>
        <p:nvSpPr>
          <p:cNvPr id="38" name="Text 36">
            <a:extLst xmlns:a="http://schemas.openxmlformats.org/drawingml/2006/main">
              <a:ext uri="{FF2B5EF4-FFF2-40B4-BE49-F238E27FC236}">
                <a16:creationId xmlns:a16="http://schemas.microsoft.com/office/drawing/2014/main" id="{FA2A011E-E06E-4D5B-9C4D-64A6FD17F666}"/>
              </a:ext>
            </a:extLst>
          </p:cNvPr>
          <p:cNvSpPr>
            <a:spLocks xmlns:a="http://schemas.openxmlformats.org/drawingml/2006/main" noGrp="1"/>
          </p:cNvSpPr>
          <p:nvPr/>
        </p:nvSpPr>
        <p:spPr>
          <a:xfrm xmlns:a="http://schemas.openxmlformats.org/drawingml/2006/main">
            <a:off x="9184919" y="3639312"/>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000"/>
              </a:lnSpc>
              <a:buNone/>
            </a:pPr>
            <a:r>
              <a:rPr sz="2400" b="1">
                <a:solidFill>
                  <a:srgbClr val="486581"/>
                </a:solidFill>
                <a:latin typeface="Arial"/>
                <a:ea typeface="Arial"/>
                <a:cs typeface="Arial"/>
              </a:rPr>
              <a:t>68%</a:t>
            </a:r>
            <a:endParaRPr sz="2400"/>
          </a:p>
        </p:txBody>
      </p:sp>
      <p:sp>
        <p:nvSpPr>
          <p:cNvPr id="39" name="Text 37">
            <a:extLst xmlns:a="http://schemas.openxmlformats.org/drawingml/2006/main">
              <a:ext uri="{FF2B5EF4-FFF2-40B4-BE49-F238E27FC236}">
                <a16:creationId xmlns:a16="http://schemas.microsoft.com/office/drawing/2014/main" id="{B64586EC-E151-404C-89A2-E1514462A4A0}"/>
              </a:ext>
            </a:extLst>
          </p:cNvPr>
          <p:cNvSpPr>
            <a:spLocks xmlns:a="http://schemas.openxmlformats.org/drawingml/2006/main" noGrp="1"/>
          </p:cNvSpPr>
          <p:nvPr/>
        </p:nvSpPr>
        <p:spPr>
          <a:xfrm xmlns:a="http://schemas.openxmlformats.org/drawingml/2006/main">
            <a:off x="9184919" y="4059936"/>
            <a:ext cx="22386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Beneficial ownership</a:t>
            </a:r>
            <a:endParaRPr sz="880"/>
          </a:p>
        </p:txBody>
      </p:sp>
      <p:sp>
        <p:nvSpPr>
          <p:cNvPr id="40" name="Shape 38">
            <a:extLst xmlns:a="http://schemas.openxmlformats.org/drawingml/2006/main">
              <a:ext uri="{FF2B5EF4-FFF2-40B4-BE49-F238E27FC236}">
                <a16:creationId xmlns:a16="http://schemas.microsoft.com/office/drawing/2014/main" id="{68DF4C1F-37AC-4226-90BA-17B6D8D3BBDB}"/>
              </a:ext>
            </a:extLst>
          </p:cNvPr>
          <p:cNvSpPr>
            <a:spLocks xmlns:a="http://schemas.openxmlformats.org/drawingml/2006/main" noGrp="1"/>
          </p:cNvSpPr>
          <p:nvPr/>
        </p:nvSpPr>
        <p:spPr>
          <a:xfrm xmlns:a="http://schemas.openxmlformats.org/drawingml/2006/main">
            <a:off x="566928" y="4773168"/>
            <a:ext cx="11057839" cy="1024128"/>
          </a:xfrm>
          <a:prstGeom xmlns:a="http://schemas.openxmlformats.org/drawingml/2006/main" prst="rect">
            <a:avLst/>
          </a:prstGeom>
          <a:solidFill xmlns:a="http://schemas.openxmlformats.org/drawingml/2006/main">
            <a:srgbClr val="102A43"/>
          </a:solidFill>
        </p:spPr>
      </p:sp>
      <p:sp>
        <p:nvSpPr>
          <p:cNvPr id="41" name="Text 39">
            <a:extLst xmlns:a="http://schemas.openxmlformats.org/drawingml/2006/main">
              <a:ext uri="{FF2B5EF4-FFF2-40B4-BE49-F238E27FC236}">
                <a16:creationId xmlns:a16="http://schemas.microsoft.com/office/drawing/2014/main" id="{189F7DE7-107A-45C7-A2A6-E22E963544E3}"/>
              </a:ext>
            </a:extLst>
          </p:cNvPr>
          <p:cNvSpPr>
            <a:spLocks xmlns:a="http://schemas.openxmlformats.org/drawingml/2006/main" noGrp="1"/>
          </p:cNvSpPr>
          <p:nvPr/>
        </p:nvSpPr>
        <p:spPr>
          <a:xfrm xmlns:a="http://schemas.openxmlformats.org/drawingml/2006/main">
            <a:off x="841248" y="4937760"/>
            <a:ext cx="40233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FFFFFF"/>
                </a:solidFill>
                <a:latin typeface="Arial"/>
                <a:ea typeface="Arial"/>
                <a:cs typeface="Arial"/>
              </a:rPr>
              <a:t>The discipline this enforced</a:t>
            </a:r>
            <a:endParaRPr sz="1150"/>
          </a:p>
        </p:txBody>
      </p:sp>
      <p:sp>
        <p:nvSpPr>
          <p:cNvPr id="42" name="Text 40">
            <a:extLst xmlns:a="http://schemas.openxmlformats.org/drawingml/2006/main">
              <a:ext uri="{FF2B5EF4-FFF2-40B4-BE49-F238E27FC236}">
                <a16:creationId xmlns:a16="http://schemas.microsoft.com/office/drawing/2014/main" id="{A9D3F041-A955-4110-9E0A-C1E46456BE98}"/>
              </a:ext>
            </a:extLst>
          </p:cNvPr>
          <p:cNvSpPr>
            <a:spLocks xmlns:a="http://schemas.openxmlformats.org/drawingml/2006/main" noGrp="1"/>
          </p:cNvSpPr>
          <p:nvPr/>
        </p:nvSpPr>
        <p:spPr>
          <a:xfrm xmlns:a="http://schemas.openxmlformats.org/drawingml/2006/main">
            <a:off x="841248" y="5212080"/>
            <a:ext cx="585216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80">
                <a:solidFill>
                  <a:srgbClr val="C9D8E8"/>
                </a:solidFill>
                <a:latin typeface="Arial"/>
                <a:ea typeface="Arial"/>
                <a:cs typeface="Arial"/>
              </a:rPr>
              <a:t>A journey with no owner metric is a feature request. Requiring the metric before the design meant scope arguments were settled by which option moved the number, not by who asked loudest — and it made the post-launch review a measurement exercise rather than a debate.</a:t>
            </a:r>
            <a:endParaRPr sz="980"/>
          </a:p>
        </p:txBody>
      </p:sp>
      <p:sp>
        <p:nvSpPr>
          <p:cNvPr id="43" name="Shape 41">
            <a:extLst xmlns:a="http://schemas.openxmlformats.org/drawingml/2006/main">
              <a:ext uri="{FF2B5EF4-FFF2-40B4-BE49-F238E27FC236}">
                <a16:creationId xmlns:a16="http://schemas.microsoft.com/office/drawing/2014/main" id="{5230F4DF-8371-488E-8065-BCD29423B720}"/>
              </a:ext>
            </a:extLst>
          </p:cNvPr>
          <p:cNvSpPr>
            <a:spLocks xmlns:a="http://schemas.openxmlformats.org/drawingml/2006/main" noGrp="1"/>
          </p:cNvSpPr>
          <p:nvPr/>
        </p:nvSpPr>
        <p:spPr>
          <a:xfrm xmlns:a="http://schemas.openxmlformats.org/drawingml/2006/main">
            <a:off x="7059168" y="5175504"/>
            <a:ext cx="1042416" cy="274320"/>
          </a:xfrm>
          <a:prstGeom xmlns:a="http://schemas.openxmlformats.org/drawingml/2006/main" prst="roundRect">
            <a:avLst>
              <a:gd name="adj" fmla="val 26667"/>
            </a:avLst>
          </a:prstGeom>
          <a:solidFill xmlns:a="http://schemas.openxmlformats.org/drawingml/2006/main">
            <a:srgbClr val="1E4266"/>
          </a:solidFill>
        </p:spPr>
      </p:sp>
      <p:sp>
        <p:nvSpPr>
          <p:cNvPr id="44" name="Text 42">
            <a:extLst xmlns:a="http://schemas.openxmlformats.org/drawingml/2006/main">
              <a:ext uri="{FF2B5EF4-FFF2-40B4-BE49-F238E27FC236}">
                <a16:creationId xmlns:a16="http://schemas.microsoft.com/office/drawing/2014/main" id="{7130D512-BD28-4A8D-A88F-8EFF1223B476}"/>
              </a:ext>
            </a:extLst>
          </p:cNvPr>
          <p:cNvSpPr>
            <a:spLocks xmlns:a="http://schemas.openxmlformats.org/drawingml/2006/main" noGrp="1"/>
          </p:cNvSpPr>
          <p:nvPr/>
        </p:nvSpPr>
        <p:spPr>
          <a:xfrm xmlns:a="http://schemas.openxmlformats.org/drawingml/2006/main">
            <a:off x="7059168" y="5207508"/>
            <a:ext cx="104241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E8A184"/>
                </a:solidFill>
                <a:latin typeface="Arial"/>
                <a:ea typeface="Arial"/>
                <a:cs typeface="Arial"/>
              </a:rPr>
              <a:t>6 journeys</a:t>
            </a:r>
            <a:endParaRPr sz="820"/>
          </a:p>
        </p:txBody>
      </p:sp>
      <p:sp>
        <p:nvSpPr>
          <p:cNvPr id="45" name="Shape 43">
            <a:extLst xmlns:a="http://schemas.openxmlformats.org/drawingml/2006/main">
              <a:ext uri="{FF2B5EF4-FFF2-40B4-BE49-F238E27FC236}">
                <a16:creationId xmlns:a16="http://schemas.microsoft.com/office/drawing/2014/main" id="{6303F04D-1C69-4ADA-B8D1-27B9572A0AEC}"/>
              </a:ext>
            </a:extLst>
          </p:cNvPr>
          <p:cNvSpPr>
            <a:spLocks xmlns:a="http://schemas.openxmlformats.org/drawingml/2006/main" noGrp="1"/>
          </p:cNvSpPr>
          <p:nvPr/>
        </p:nvSpPr>
        <p:spPr>
          <a:xfrm xmlns:a="http://schemas.openxmlformats.org/drawingml/2006/main">
            <a:off x="8211312" y="5175504"/>
            <a:ext cx="1042416" cy="274320"/>
          </a:xfrm>
          <a:prstGeom xmlns:a="http://schemas.openxmlformats.org/drawingml/2006/main" prst="roundRect">
            <a:avLst>
              <a:gd name="adj" fmla="val 26667"/>
            </a:avLst>
          </a:prstGeom>
          <a:solidFill xmlns:a="http://schemas.openxmlformats.org/drawingml/2006/main">
            <a:srgbClr val="1E4266"/>
          </a:solidFill>
        </p:spPr>
      </p:sp>
      <p:sp>
        <p:nvSpPr>
          <p:cNvPr id="46" name="Text 44">
            <a:extLst xmlns:a="http://schemas.openxmlformats.org/drawingml/2006/main">
              <a:ext uri="{FF2B5EF4-FFF2-40B4-BE49-F238E27FC236}">
                <a16:creationId xmlns:a16="http://schemas.microsoft.com/office/drawing/2014/main" id="{F3504845-126F-4D3B-8390-F78DB602AAB7}"/>
              </a:ext>
            </a:extLst>
          </p:cNvPr>
          <p:cNvSpPr>
            <a:spLocks xmlns:a="http://schemas.openxmlformats.org/drawingml/2006/main" noGrp="1"/>
          </p:cNvSpPr>
          <p:nvPr/>
        </p:nvSpPr>
        <p:spPr>
          <a:xfrm xmlns:a="http://schemas.openxmlformats.org/drawingml/2006/main">
            <a:off x="8211312" y="5207508"/>
            <a:ext cx="104241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E8A184"/>
                </a:solidFill>
                <a:latin typeface="Arial"/>
                <a:ea typeface="Arial"/>
                <a:cs typeface="Arial"/>
              </a:rPr>
              <a:t>35 use cases</a:t>
            </a:r>
            <a:endParaRPr sz="820"/>
          </a:p>
        </p:txBody>
      </p:sp>
      <p:sp>
        <p:nvSpPr>
          <p:cNvPr id="47" name="Shape 45">
            <a:extLst xmlns:a="http://schemas.openxmlformats.org/drawingml/2006/main">
              <a:ext uri="{FF2B5EF4-FFF2-40B4-BE49-F238E27FC236}">
                <a16:creationId xmlns:a16="http://schemas.microsoft.com/office/drawing/2014/main" id="{AC507F0E-F8FD-4221-B750-B22C95F26561}"/>
              </a:ext>
            </a:extLst>
          </p:cNvPr>
          <p:cNvSpPr>
            <a:spLocks xmlns:a="http://schemas.openxmlformats.org/drawingml/2006/main" noGrp="1"/>
          </p:cNvSpPr>
          <p:nvPr/>
        </p:nvSpPr>
        <p:spPr>
          <a:xfrm xmlns:a="http://schemas.openxmlformats.org/drawingml/2006/main">
            <a:off x="9363456" y="5175504"/>
            <a:ext cx="1042416" cy="274320"/>
          </a:xfrm>
          <a:prstGeom xmlns:a="http://schemas.openxmlformats.org/drawingml/2006/main" prst="roundRect">
            <a:avLst>
              <a:gd name="adj" fmla="val 26667"/>
            </a:avLst>
          </a:prstGeom>
          <a:solidFill xmlns:a="http://schemas.openxmlformats.org/drawingml/2006/main">
            <a:srgbClr val="1E4266"/>
          </a:solidFill>
        </p:spPr>
      </p:sp>
      <p:sp>
        <p:nvSpPr>
          <p:cNvPr id="48" name="Text 46">
            <a:extLst xmlns:a="http://schemas.openxmlformats.org/drawingml/2006/main">
              <a:ext uri="{FF2B5EF4-FFF2-40B4-BE49-F238E27FC236}">
                <a16:creationId xmlns:a16="http://schemas.microsoft.com/office/drawing/2014/main" id="{169C7756-E461-4FF7-98EE-B275FA3AC5EF}"/>
              </a:ext>
            </a:extLst>
          </p:cNvPr>
          <p:cNvSpPr>
            <a:spLocks xmlns:a="http://schemas.openxmlformats.org/drawingml/2006/main" noGrp="1"/>
          </p:cNvSpPr>
          <p:nvPr/>
        </p:nvSpPr>
        <p:spPr>
          <a:xfrm xmlns:a="http://schemas.openxmlformats.org/drawingml/2006/main">
            <a:off x="9363456" y="5207508"/>
            <a:ext cx="104241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E8A184"/>
                </a:solidFill>
                <a:latin typeface="Arial"/>
                <a:ea typeface="Arial"/>
                <a:cs typeface="Arial"/>
              </a:rPr>
              <a:t>4 objectives</a:t>
            </a:r>
            <a:endParaRPr sz="820"/>
          </a:p>
        </p:txBody>
      </p:sp>
      <p:sp>
        <p:nvSpPr>
          <p:cNvPr id="49" name="Shape 47">
            <a:extLst xmlns:a="http://schemas.openxmlformats.org/drawingml/2006/main">
              <a:ext uri="{FF2B5EF4-FFF2-40B4-BE49-F238E27FC236}">
                <a16:creationId xmlns:a16="http://schemas.microsoft.com/office/drawing/2014/main" id="{44D35ACB-FED2-4324-ABB4-5CD82A549CEB}"/>
              </a:ext>
            </a:extLst>
          </p:cNvPr>
          <p:cNvSpPr>
            <a:spLocks xmlns:a="http://schemas.openxmlformats.org/drawingml/2006/main" noGrp="1"/>
          </p:cNvSpPr>
          <p:nvPr/>
        </p:nvSpPr>
        <p:spPr>
          <a:xfrm xmlns:a="http://schemas.openxmlformats.org/drawingml/2006/main">
            <a:off x="10515600" y="5175504"/>
            <a:ext cx="1042416" cy="274320"/>
          </a:xfrm>
          <a:prstGeom xmlns:a="http://schemas.openxmlformats.org/drawingml/2006/main" prst="roundRect">
            <a:avLst>
              <a:gd name="adj" fmla="val 26667"/>
            </a:avLst>
          </a:prstGeom>
          <a:solidFill xmlns:a="http://schemas.openxmlformats.org/drawingml/2006/main">
            <a:srgbClr val="1E4266"/>
          </a:solidFill>
        </p:spPr>
      </p:sp>
      <p:sp>
        <p:nvSpPr>
          <p:cNvPr id="50" name="Text 48">
            <a:extLst xmlns:a="http://schemas.openxmlformats.org/drawingml/2006/main">
              <a:ext uri="{FF2B5EF4-FFF2-40B4-BE49-F238E27FC236}">
                <a16:creationId xmlns:a16="http://schemas.microsoft.com/office/drawing/2014/main" id="{3E02851F-15BC-4322-A6C9-68797E0582FF}"/>
              </a:ext>
            </a:extLst>
          </p:cNvPr>
          <p:cNvSpPr>
            <a:spLocks xmlns:a="http://schemas.openxmlformats.org/drawingml/2006/main" noGrp="1"/>
          </p:cNvSpPr>
          <p:nvPr/>
        </p:nvSpPr>
        <p:spPr>
          <a:xfrm xmlns:a="http://schemas.openxmlformats.org/drawingml/2006/main">
            <a:off x="10515600" y="5207508"/>
            <a:ext cx="1042416"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E8A184"/>
                </a:solidFill>
                <a:latin typeface="Arial"/>
                <a:ea typeface="Arial"/>
                <a:cs typeface="Arial"/>
              </a:rPr>
              <a:t>12 tracked metrics</a:t>
            </a:r>
            <a:endParaRPr sz="820"/>
          </a:p>
        </p:txBody>
      </p:sp>
      <p:sp>
        <p:nvSpPr>
          <p:cNvPr id="51" name="Shape 49">
            <a:extLst xmlns:a="http://schemas.openxmlformats.org/drawingml/2006/main">
              <a:ext uri="{FF2B5EF4-FFF2-40B4-BE49-F238E27FC236}">
                <a16:creationId xmlns:a16="http://schemas.microsoft.com/office/drawing/2014/main" id="{311AF954-6CD4-4654-921A-757A2BD9A9E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571CBAFD-37C2-4283-B3CC-68822003942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53" name="Text 51">
            <a:extLst xmlns:a="http://schemas.openxmlformats.org/drawingml/2006/main">
              <a:ext uri="{FF2B5EF4-FFF2-40B4-BE49-F238E27FC236}">
                <a16:creationId xmlns:a16="http://schemas.microsoft.com/office/drawing/2014/main" id="{849CA1FB-5E95-4E62-AF8B-B26B909EDB4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220260551"/>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C22C131-0137-4D4F-AFE1-130BE504C8C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8BF795C2-24CF-460F-85CA-0AF01DF04C5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journeys and 35 use cases shipped into a live estate by building the shared</a:t>
            </a:r>
            <a:endParaRPr sz="1900"/>
          </a:p>
          <a:p xmlns:a="http://schemas.openxmlformats.org/drawingml/2006/main">
            <a:pPr marL="0" indent="0">
              <a:lnSpc>
                <a:spcPts val="2400"/>
              </a:lnSpc>
              <a:buNone/>
            </a:pPr>
            <a:r>
              <a:rPr sz="1900" b="1">
                <a:solidFill>
                  <a:srgbClr val="102A43"/>
                </a:solidFill>
                <a:latin typeface="Arial"/>
                <a:ea typeface="Arial"/>
                <a:cs typeface="Arial"/>
              </a:rPr>
              <a:t>spine once — the sixth journey cost roughly a quarter of the first</a:t>
            </a:r>
            <a:endParaRPr sz="1900"/>
          </a:p>
        </p:txBody>
      </p:sp>
      <p:sp>
        <p:nvSpPr>
          <p:cNvPr id="4" name="Shape 2">
            <a:extLst xmlns:a="http://schemas.openxmlformats.org/drawingml/2006/main">
              <a:ext uri="{FF2B5EF4-FFF2-40B4-BE49-F238E27FC236}">
                <a16:creationId xmlns:a16="http://schemas.microsoft.com/office/drawing/2014/main" id="{9F4097DC-0725-4A9F-A45E-C296BA191829}"/>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B5716942-B1B4-44BC-9E21-E69091BD5AF6}"/>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562A0B11-579E-4FD0-B310-53CFED34A887}"/>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One of the largest digital journey estates in Indian banking: 85 journeys live across unassisted, assisted and partner channels, 100+ integrated applications, 150,000 platform users.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New journeys are never greenfield — each lands on customer, consent, document and status models already in production.</a:t>
            </a:r>
            <a:endParaRPr sz="980"/>
          </a:p>
        </p:txBody>
      </p:sp>
      <p:sp>
        <p:nvSpPr>
          <p:cNvPr id="7" name="Shape 5">
            <a:extLst xmlns:a="http://schemas.openxmlformats.org/drawingml/2006/main">
              <a:ext uri="{FF2B5EF4-FFF2-40B4-BE49-F238E27FC236}">
                <a16:creationId xmlns:a16="http://schemas.microsoft.com/office/drawing/2014/main" id="{7D22E63F-E678-4527-9AB4-32DC4E903DA5}"/>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F9A59FCD-B9B4-4E4F-BD06-45550FB3869B}"/>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64960D0C-09B7-471E-A592-A083D8EC3F77}"/>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six journeys crossed six different boundaries: payment rails, servicing systems, an external depository, a separate legal entity, customer state, and a regulatory obligation.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Built independently, each would re-implement identity, consent, documents and status — and each would need its own audit evidence and its own review slot.</a:t>
            </a:r>
            <a:endParaRPr sz="980"/>
          </a:p>
        </p:txBody>
      </p:sp>
      <p:sp>
        <p:nvSpPr>
          <p:cNvPr id="10" name="Shape 8">
            <a:extLst xmlns:a="http://schemas.openxmlformats.org/drawingml/2006/main">
              <a:ext uri="{FF2B5EF4-FFF2-40B4-BE49-F238E27FC236}">
                <a16:creationId xmlns:a16="http://schemas.microsoft.com/office/drawing/2014/main" id="{445A0EB9-3F2B-45A6-B30C-2A3E6CE8C98B}"/>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7DB51B49-8319-4FB9-A83E-B908829368EC}"/>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Resolution</a:t>
            </a:r>
            <a:endParaRPr sz="1250"/>
          </a:p>
        </p:txBody>
      </p:sp>
      <p:sp>
        <p:nvSpPr>
          <p:cNvPr id="12" name="Text 10">
            <a:extLst xmlns:a="http://schemas.openxmlformats.org/drawingml/2006/main">
              <a:ext uri="{FF2B5EF4-FFF2-40B4-BE49-F238E27FC236}">
                <a16:creationId xmlns:a16="http://schemas.microsoft.com/office/drawing/2014/main" id="{A8E1E7B9-DD76-4418-B674-F71AB1E423EB}"/>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Treat the six as one delivery against four business objectives. Model the shared spine once; let each journey contribute only its boundary crossing.</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Effort per journey fell from ~26 to ~4 person-weeks by journey six, and assurance review effort fell with it.</a:t>
            </a:r>
            <a:endParaRPr sz="980"/>
          </a:p>
        </p:txBody>
      </p:sp>
      <p:sp>
        <p:nvSpPr>
          <p:cNvPr id="13" name="Text 11">
            <a:extLst xmlns:a="http://schemas.openxmlformats.org/drawingml/2006/main">
              <a:ext uri="{FF2B5EF4-FFF2-40B4-BE49-F238E27FC236}">
                <a16:creationId xmlns:a16="http://schemas.microsoft.com/office/drawing/2014/main" id="{3444A0F4-D2DD-419E-AF6D-E86BA3158E8C}"/>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DBF07F3D-2AE5-4951-A92B-73B28C432F78}"/>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CA3785C3-CE24-4DB0-9FFA-05E918162F2D}"/>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B04A25"/>
                </a:solidFill>
                <a:latin typeface="Arial"/>
                <a:ea typeface="Arial"/>
                <a:cs typeface="Arial"/>
              </a:rPr>
              <a:t>35</a:t>
            </a:r>
            <a:endParaRPr sz="2300"/>
          </a:p>
        </p:txBody>
      </p:sp>
      <p:sp>
        <p:nvSpPr>
          <p:cNvPr id="16" name="Text 14">
            <a:extLst xmlns:a="http://schemas.openxmlformats.org/drawingml/2006/main">
              <a:ext uri="{FF2B5EF4-FFF2-40B4-BE49-F238E27FC236}">
                <a16:creationId xmlns:a16="http://schemas.microsoft.com/office/drawing/2014/main" id="{C5271121-F6CB-4E86-A297-A7C2FBAA5EC1}"/>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use cases across</a:t>
            </a:r>
            <a:endParaRPr sz="860"/>
          </a:p>
          <a:p xmlns:a="http://schemas.openxmlformats.org/drawingml/2006/main">
            <a:pPr marL="0" indent="0">
              <a:lnSpc>
                <a:spcPts val="1050"/>
              </a:lnSpc>
              <a:buNone/>
            </a:pPr>
            <a:r>
              <a:rPr sz="860">
                <a:solidFill>
                  <a:srgbClr val="486581"/>
                </a:solidFill>
                <a:latin typeface="Arial"/>
                <a:ea typeface="Arial"/>
                <a:cs typeface="Arial"/>
              </a:rPr>
              <a:t>6 journeys</a:t>
            </a:r>
            <a:endParaRPr sz="860"/>
          </a:p>
        </p:txBody>
      </p:sp>
      <p:sp>
        <p:nvSpPr>
          <p:cNvPr id="17" name="Shape 15">
            <a:extLst xmlns:a="http://schemas.openxmlformats.org/drawingml/2006/main">
              <a:ext uri="{FF2B5EF4-FFF2-40B4-BE49-F238E27FC236}">
                <a16:creationId xmlns:a16="http://schemas.microsoft.com/office/drawing/2014/main" id="{F48D64B8-2C96-4FED-8592-4CC084431F82}"/>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55D82CFB-9EC5-4552-8B3A-5E0FFC875C21}"/>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B04A25"/>
                </a:solidFill>
                <a:latin typeface="Arial"/>
                <a:ea typeface="Arial"/>
                <a:cs typeface="Arial"/>
              </a:rPr>
              <a:t>6×</a:t>
            </a:r>
            <a:endParaRPr sz="2300"/>
          </a:p>
        </p:txBody>
      </p:sp>
      <p:sp>
        <p:nvSpPr>
          <p:cNvPr id="19" name="Text 17">
            <a:extLst xmlns:a="http://schemas.openxmlformats.org/drawingml/2006/main">
              <a:ext uri="{FF2B5EF4-FFF2-40B4-BE49-F238E27FC236}">
                <a16:creationId xmlns:a16="http://schemas.microsoft.com/office/drawing/2014/main" id="{DA6D608E-1BAF-4607-8074-3AAB1BA0CA96}"/>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reduction in effort,</a:t>
            </a:r>
            <a:endParaRPr sz="860"/>
          </a:p>
          <a:p xmlns:a="http://schemas.openxmlformats.org/drawingml/2006/main">
            <a:pPr marL="0" indent="0">
              <a:lnSpc>
                <a:spcPts val="1050"/>
              </a:lnSpc>
              <a:buNone/>
            </a:pPr>
            <a:r>
              <a:rPr sz="860">
                <a:solidFill>
                  <a:srgbClr val="486581"/>
                </a:solidFill>
                <a:latin typeface="Arial"/>
                <a:ea typeface="Arial"/>
                <a:cs typeface="Arial"/>
              </a:rPr>
              <a:t>journey 1 to 6</a:t>
            </a:r>
            <a:endParaRPr sz="860"/>
          </a:p>
        </p:txBody>
      </p:sp>
      <p:sp>
        <p:nvSpPr>
          <p:cNvPr id="20" name="Shape 18">
            <a:extLst xmlns:a="http://schemas.openxmlformats.org/drawingml/2006/main">
              <a:ext uri="{FF2B5EF4-FFF2-40B4-BE49-F238E27FC236}">
                <a16:creationId xmlns:a16="http://schemas.microsoft.com/office/drawing/2014/main" id="{32C0A349-A297-405D-8C83-236B826D45D5}"/>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7463FD8F-1FEA-41CA-9C61-0FBABBA57674}"/>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B04A25"/>
                </a:solidFill>
                <a:latin typeface="Arial"/>
                <a:ea typeface="Arial"/>
                <a:cs typeface="Arial"/>
              </a:rPr>
              <a:t>38%</a:t>
            </a:r>
            <a:endParaRPr sz="2300"/>
          </a:p>
        </p:txBody>
      </p:sp>
      <p:sp>
        <p:nvSpPr>
          <p:cNvPr id="22" name="Text 20">
            <a:extLst xmlns:a="http://schemas.openxmlformats.org/drawingml/2006/main">
              <a:ext uri="{FF2B5EF4-FFF2-40B4-BE49-F238E27FC236}">
                <a16:creationId xmlns:a16="http://schemas.microsoft.com/office/drawing/2014/main" id="{FC73179A-CC24-4B3F-B94E-D3B0F86A524C}"/>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of servicing demand</a:t>
            </a:r>
            <a:endParaRPr sz="860"/>
          </a:p>
          <a:p xmlns:a="http://schemas.openxmlformats.org/drawingml/2006/main">
            <a:pPr marL="0" indent="0">
              <a:lnSpc>
                <a:spcPts val="1050"/>
              </a:lnSpc>
              <a:buNone/>
            </a:pPr>
            <a:r>
              <a:rPr sz="860">
                <a:solidFill>
                  <a:srgbClr val="486581"/>
                </a:solidFill>
                <a:latin typeface="Arial"/>
                <a:ea typeface="Arial"/>
                <a:cs typeface="Arial"/>
              </a:rPr>
              <a:t>deflected (target)</a:t>
            </a:r>
            <a:endParaRPr sz="860"/>
          </a:p>
        </p:txBody>
      </p:sp>
      <p:sp>
        <p:nvSpPr>
          <p:cNvPr id="23" name="Shape 21">
            <a:extLst xmlns:a="http://schemas.openxmlformats.org/drawingml/2006/main">
              <a:ext uri="{FF2B5EF4-FFF2-40B4-BE49-F238E27FC236}">
                <a16:creationId xmlns:a16="http://schemas.microsoft.com/office/drawing/2014/main" id="{6C35B329-C10D-4F57-A831-B126F7BC2007}"/>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3D19CF50-2D62-45C5-9BC1-66C9B26141B0}"/>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B04A25"/>
                </a:solidFill>
                <a:latin typeface="Arial"/>
                <a:ea typeface="Arial"/>
                <a:cs typeface="Arial"/>
              </a:rPr>
              <a:t>+27pp</a:t>
            </a:r>
            <a:endParaRPr sz="2300"/>
          </a:p>
        </p:txBody>
      </p:sp>
      <p:sp>
        <p:nvSpPr>
          <p:cNvPr id="25" name="Text 23">
            <a:extLst xmlns:a="http://schemas.openxmlformats.org/drawingml/2006/main">
              <a:ext uri="{FF2B5EF4-FFF2-40B4-BE49-F238E27FC236}">
                <a16:creationId xmlns:a16="http://schemas.microsoft.com/office/drawing/2014/main" id="{B8BFCAEF-56FA-47AD-B8D6-2FA5F156A614}"/>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funded-in-session</a:t>
            </a:r>
            <a:endParaRPr sz="860"/>
          </a:p>
          <a:p xmlns:a="http://schemas.openxmlformats.org/drawingml/2006/main">
            <a:pPr marL="0" indent="0">
              <a:lnSpc>
                <a:spcPts val="1050"/>
              </a:lnSpc>
              <a:buNone/>
            </a:pPr>
            <a:r>
              <a:rPr sz="860">
                <a:solidFill>
                  <a:srgbClr val="486581"/>
                </a:solidFill>
                <a:latin typeface="Arial"/>
                <a:ea typeface="Arial"/>
                <a:cs typeface="Arial"/>
              </a:rPr>
              <a:t>rate (target)</a:t>
            </a:r>
            <a:endParaRPr sz="860"/>
          </a:p>
        </p:txBody>
      </p:sp>
      <p:sp>
        <p:nvSpPr>
          <p:cNvPr id="26" name="Shape 24">
            <a:extLst xmlns:a="http://schemas.openxmlformats.org/drawingml/2006/main">
              <a:ext uri="{FF2B5EF4-FFF2-40B4-BE49-F238E27FC236}">
                <a16:creationId xmlns:a16="http://schemas.microsoft.com/office/drawing/2014/main" id="{700B33A1-E873-42A4-BB38-510DF0747E3D}"/>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08C0A645-BDD2-4A28-824F-B1BC175160E7}"/>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B04A25"/>
                </a:solidFill>
                <a:latin typeface="Arial"/>
                <a:ea typeface="Arial"/>
                <a:cs typeface="Arial"/>
              </a:rPr>
              <a:t>11</a:t>
            </a:r>
            <a:endParaRPr sz="2300"/>
          </a:p>
        </p:txBody>
      </p:sp>
      <p:sp>
        <p:nvSpPr>
          <p:cNvPr id="28" name="Text 26">
            <a:extLst xmlns:a="http://schemas.openxmlformats.org/drawingml/2006/main">
              <a:ext uri="{FF2B5EF4-FFF2-40B4-BE49-F238E27FC236}">
                <a16:creationId xmlns:a16="http://schemas.microsoft.com/office/drawing/2014/main" id="{0E929877-51DB-4DDD-AA97-A4ABF53EC3DE}"/>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request types moved</a:t>
            </a:r>
            <a:endParaRPr sz="860"/>
          </a:p>
          <a:p xmlns:a="http://schemas.openxmlformats.org/drawingml/2006/main">
            <a:pPr marL="0" indent="0">
              <a:lnSpc>
                <a:spcPts val="1050"/>
              </a:lnSpc>
              <a:buNone/>
            </a:pPr>
            <a:r>
              <a:rPr sz="860">
                <a:solidFill>
                  <a:srgbClr val="486581"/>
                </a:solidFill>
                <a:latin typeface="Arial"/>
                <a:ea typeface="Arial"/>
                <a:cs typeface="Arial"/>
              </a:rPr>
              <a:t>to self-service</a:t>
            </a:r>
            <a:endParaRPr sz="860"/>
          </a:p>
        </p:txBody>
      </p:sp>
      <p:sp>
        <p:nvSpPr>
          <p:cNvPr id="29" name="Shape 27">
            <a:extLst xmlns:a="http://schemas.openxmlformats.org/drawingml/2006/main">
              <a:ext uri="{FF2B5EF4-FFF2-40B4-BE49-F238E27FC236}">
                <a16:creationId xmlns:a16="http://schemas.microsoft.com/office/drawing/2014/main" id="{1831FAC8-5489-4C6B-BDBF-1F08A1110CDE}"/>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731AF938-ECC0-4E0C-881D-57E765488BC0}"/>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300" b="1">
                <a:solidFill>
                  <a:srgbClr val="B04A25"/>
                </a:solidFill>
                <a:latin typeface="Arial"/>
                <a:ea typeface="Arial"/>
                <a:cs typeface="Arial"/>
              </a:rPr>
              <a:t>5</a:t>
            </a:r>
            <a:endParaRPr sz="2300"/>
          </a:p>
        </p:txBody>
      </p:sp>
      <p:sp>
        <p:nvSpPr>
          <p:cNvPr id="31" name="Text 29">
            <a:extLst xmlns:a="http://schemas.openxmlformats.org/drawingml/2006/main">
              <a:ext uri="{FF2B5EF4-FFF2-40B4-BE49-F238E27FC236}">
                <a16:creationId xmlns:a16="http://schemas.microsoft.com/office/drawing/2014/main" id="{840C50BC-0669-4BA5-AB09-560B9FCA1501}"/>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components reused</a:t>
            </a:r>
            <a:endParaRPr sz="860"/>
          </a:p>
          <a:p xmlns:a="http://schemas.openxmlformats.org/drawingml/2006/main">
            <a:pPr marL="0" indent="0">
              <a:lnSpc>
                <a:spcPts val="1050"/>
              </a:lnSpc>
              <a:buNone/>
            </a:pPr>
            <a:r>
              <a:rPr sz="860">
                <a:solidFill>
                  <a:srgbClr val="486581"/>
                </a:solidFill>
                <a:latin typeface="Arial"/>
                <a:ea typeface="Arial"/>
                <a:cs typeface="Arial"/>
              </a:rPr>
              <a:t>by every journey</a:t>
            </a:r>
            <a:endParaRPr sz="860"/>
          </a:p>
        </p:txBody>
      </p:sp>
      <p:sp>
        <p:nvSpPr>
          <p:cNvPr id="32" name="Text 30">
            <a:extLst xmlns:a="http://schemas.openxmlformats.org/drawingml/2006/main">
              <a:ext uri="{FF2B5EF4-FFF2-40B4-BE49-F238E27FC236}">
                <a16:creationId xmlns:a16="http://schemas.microsoft.com/office/drawing/2014/main" id="{89F91DCA-319B-413D-BC38-E5DA2EE4B4D9}"/>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What this case demonstrates:  designing for reuse inside a live estate where rework is the dominant cost  ·  delivering across a legal-entity boundary under one consent model  ·  governing a journey portfolio by owner metric rather than by backlog  ·  separating programme context from personal contribution</a:t>
            </a:r>
            <a:endParaRPr sz="1000"/>
          </a:p>
        </p:txBody>
      </p:sp>
      <p:sp>
        <p:nvSpPr>
          <p:cNvPr id="33" name="Shape 31">
            <a:extLst xmlns:a="http://schemas.openxmlformats.org/drawingml/2006/main">
              <a:ext uri="{FF2B5EF4-FFF2-40B4-BE49-F238E27FC236}">
                <a16:creationId xmlns:a16="http://schemas.microsoft.com/office/drawing/2014/main" id="{0691AA2A-14D1-454B-B04C-A38632B42B9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520A7C1D-5572-4233-BB46-D0D964D1AFE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programme figures (context) · author's delivery record (ownership)</a:t>
            </a:r>
            <a:endParaRPr sz="850"/>
          </a:p>
        </p:txBody>
      </p:sp>
      <p:sp>
        <p:nvSpPr>
          <p:cNvPr id="35" name="Text 33">
            <a:extLst xmlns:a="http://schemas.openxmlformats.org/drawingml/2006/main">
              <a:ext uri="{FF2B5EF4-FFF2-40B4-BE49-F238E27FC236}">
                <a16:creationId xmlns:a16="http://schemas.microsoft.com/office/drawing/2014/main" id="{1C7720CB-6116-4769-8AE0-A477414143B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381593781"/>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59EE3E-0857-407D-85C5-445346B3298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A553C089-F659-4310-B66A-B77B3B27C41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Programme scale, personal contribution and modelled value are stated separately —</a:t>
            </a:r>
            <a:endParaRPr sz="1900"/>
          </a:p>
          <a:p xmlns:a="http://schemas.openxmlformats.org/drawingml/2006/main">
            <a:pPr marL="0" indent="0">
              <a:lnSpc>
                <a:spcPts val="2400"/>
              </a:lnSpc>
              <a:buNone/>
            </a:pPr>
            <a:r>
              <a:rPr sz="1900" b="1">
                <a:solidFill>
                  <a:srgbClr val="102A43"/>
                </a:solidFill>
                <a:latin typeface="Arial"/>
                <a:ea typeface="Arial"/>
                <a:cs typeface="Arial"/>
              </a:rPr>
              <a:t>so every number can be checked against the right source</a:t>
            </a:r>
            <a:endParaRPr sz="1900"/>
          </a:p>
        </p:txBody>
      </p:sp>
      <p:sp>
        <p:nvSpPr>
          <p:cNvPr id="4" name="Shape 2">
            <a:extLst xmlns:a="http://schemas.openxmlformats.org/drawingml/2006/main">
              <a:ext uri="{FF2B5EF4-FFF2-40B4-BE49-F238E27FC236}">
                <a16:creationId xmlns:a16="http://schemas.microsoft.com/office/drawing/2014/main" id="{87D6DCBE-7050-489F-99ED-172B849A7ED6}"/>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16E5714B-58E9-4015-A9EF-C81E1EE7187F}"/>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F083FA6D-C7A4-41F0-A422-0511BB28148D}"/>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55CC243A-C2AA-437E-A233-EDF0553594A6}"/>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DF2B163D-5030-45FA-B849-D3A93CDDE566}"/>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environment the work ran inside. Retained with attribution, not restated as personal achievement.</a:t>
            </a:r>
            <a:endParaRPr sz="920"/>
          </a:p>
        </p:txBody>
      </p:sp>
      <p:sp>
        <p:nvSpPr>
          <p:cNvPr id="9" name="Shape 7">
            <a:extLst xmlns:a="http://schemas.openxmlformats.org/drawingml/2006/main">
              <a:ext uri="{FF2B5EF4-FFF2-40B4-BE49-F238E27FC236}">
                <a16:creationId xmlns:a16="http://schemas.microsoft.com/office/drawing/2014/main" id="{6366B21B-2E78-471A-89D8-3C0EE607BCF6}"/>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B21E85E8-7229-4024-814D-825B23714767}"/>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150,000+ platform users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120M+ customers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9,000+ branches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85 journeys in the estate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100+ integrated applications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10,000+ daily reports generated</a:t>
            </a:r>
            <a:endParaRPr sz="930"/>
          </a:p>
        </p:txBody>
      </p:sp>
      <p:sp>
        <p:nvSpPr>
          <p:cNvPr id="11" name="Shape 9">
            <a:extLst xmlns:a="http://schemas.openxmlformats.org/drawingml/2006/main">
              <a:ext uri="{FF2B5EF4-FFF2-40B4-BE49-F238E27FC236}">
                <a16:creationId xmlns:a16="http://schemas.microsoft.com/office/drawing/2014/main" id="{5516E292-30CB-4FD3-9DD3-4375CF144521}"/>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ECF09D0D-99E9-4F96-BA90-1A1A669EA4F2}"/>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D6AA5AF1-BA9D-4522-A9F6-737C83563DDE}"/>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BB5096E3-62A6-4004-B860-3CAB9B86D040}"/>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73EC019E-DC5F-4BBB-B187-D1F1280E6658}"/>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Work led or delivered directly during the 2024 engagement. Verifiable through the delivery record and references.</a:t>
            </a:r>
            <a:endParaRPr sz="920"/>
          </a:p>
        </p:txBody>
      </p:sp>
      <p:sp>
        <p:nvSpPr>
          <p:cNvPr id="16" name="Shape 14">
            <a:extLst xmlns:a="http://schemas.openxmlformats.org/drawingml/2006/main">
              <a:ext uri="{FF2B5EF4-FFF2-40B4-BE49-F238E27FC236}">
                <a16:creationId xmlns:a16="http://schemas.microsoft.com/office/drawing/2014/main" id="{1645041B-594F-4E8B-A0FA-6CF74114DBB4}"/>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211895D5-2F95-41BC-92D7-0055C9870B14}"/>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6 journeys, 35 use cases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Journey and data-model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Cross-entity flow with the insurer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11-category servicing taxonomy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Consent, audit and exception design</a:t>
            </a:r>
            <a:endParaRPr sz="930"/>
          </a:p>
        </p:txBody>
      </p:sp>
      <p:sp>
        <p:nvSpPr>
          <p:cNvPr id="18" name="Shape 16">
            <a:extLst xmlns:a="http://schemas.openxmlformats.org/drawingml/2006/main">
              <a:ext uri="{FF2B5EF4-FFF2-40B4-BE49-F238E27FC236}">
                <a16:creationId xmlns:a16="http://schemas.microsoft.com/office/drawing/2014/main" id="{243246D4-10B5-441E-9793-AEEE03DD7DAD}"/>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DB57BF73-F50D-4253-A95C-77755AC54008}"/>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38D0B423-E94F-46A6-AD44-3CD005F8C9D9}"/>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2B5FB597-0A07-44CE-BD62-89D4D901CC46}"/>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 value</a:t>
            </a:r>
            <a:endParaRPr sz="1200"/>
          </a:p>
        </p:txBody>
      </p:sp>
      <p:sp>
        <p:nvSpPr>
          <p:cNvPr id="22" name="Text 20">
            <a:extLst xmlns:a="http://schemas.openxmlformats.org/drawingml/2006/main">
              <a:ext uri="{FF2B5EF4-FFF2-40B4-BE49-F238E27FC236}">
                <a16:creationId xmlns:a16="http://schemas.microsoft.com/office/drawing/2014/main" id="{B0AA8B6F-4799-4671-B372-D713A59717CF}"/>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business case structure and its arithmetic. Volumes are illustrative; the method and metric definitions are the substance.</a:t>
            </a:r>
            <a:endParaRPr sz="920"/>
          </a:p>
        </p:txBody>
      </p:sp>
      <p:sp>
        <p:nvSpPr>
          <p:cNvPr id="23" name="Shape 21">
            <a:extLst xmlns:a="http://schemas.openxmlformats.org/drawingml/2006/main">
              <a:ext uri="{FF2B5EF4-FFF2-40B4-BE49-F238E27FC236}">
                <a16:creationId xmlns:a16="http://schemas.microsoft.com/office/drawing/2014/main" id="{902837D4-BBFF-4149-95CB-79FFC36F4F8C}"/>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0E0E0CC7-D12E-44EF-A110-DB670B943C6C}"/>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Assumptions stated on slide 15</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Rates and multipliers, not claims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Baseline captured pre-release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Per-journey metric definitions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bank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B8589B7C-0D1D-43F4-9828-6929AA9E3D17}"/>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3219F305-1168-4A5B-B127-CAA8DA74368E}"/>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BDFD63F8-0474-486D-B02E-2F6BD80735B7}"/>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70869F5A-9928-4BFB-8D2B-F89F83AC10CC}"/>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7A38E08F-6EAC-49AD-BE08-0833D0E9938A}"/>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Explicitly outside this case, stated so the boundary is unambiguous rather than left to inference.</a:t>
            </a:r>
            <a:endParaRPr sz="920"/>
          </a:p>
        </p:txBody>
      </p:sp>
      <p:sp>
        <p:nvSpPr>
          <p:cNvPr id="30" name="Shape 28">
            <a:extLst xmlns:a="http://schemas.openxmlformats.org/drawingml/2006/main">
              <a:ext uri="{FF2B5EF4-FFF2-40B4-BE49-F238E27FC236}">
                <a16:creationId xmlns:a16="http://schemas.microsoft.com/office/drawing/2014/main" id="{F39DD642-F210-4D73-B0E3-DA622128C4F5}"/>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5C73A5FB-9B57-478A-8C0B-7C44F49B3CD1}"/>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decade-long transformation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Enterprise lead-conversion movement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Enterprise NPS or cross-sell movement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Platform or architecture selection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artefact or screen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figure without a named source</a:t>
            </a:r>
            <a:endParaRPr sz="930"/>
          </a:p>
        </p:txBody>
      </p:sp>
      <p:sp>
        <p:nvSpPr>
          <p:cNvPr id="32" name="Shape 30">
            <a:extLst xmlns:a="http://schemas.openxmlformats.org/drawingml/2006/main">
              <a:ext uri="{FF2B5EF4-FFF2-40B4-BE49-F238E27FC236}">
                <a16:creationId xmlns:a16="http://schemas.microsoft.com/office/drawing/2014/main" id="{8161D8E6-CC47-4A99-9913-069A826AF6A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E10A20E5-4613-4C58-83FD-0B1216A1F5B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programme figures (context) · author's delivery record (ownership) · author's value model (modelled value)</a:t>
            </a:r>
            <a:endParaRPr sz="850"/>
          </a:p>
        </p:txBody>
      </p:sp>
      <p:sp>
        <p:nvSpPr>
          <p:cNvPr id="34" name="Text 32">
            <a:extLst xmlns:a="http://schemas.openxmlformats.org/drawingml/2006/main">
              <a:ext uri="{FF2B5EF4-FFF2-40B4-BE49-F238E27FC236}">
                <a16:creationId xmlns:a16="http://schemas.microsoft.com/office/drawing/2014/main" id="{2E96E2C7-CF11-4DC1-A340-A1F46DEDDAB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15215595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9A147D9-B74A-4419-A484-5213F35BF00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SITUATION</a:t>
            </a:r>
            <a:endParaRPr sz="950"/>
          </a:p>
        </p:txBody>
      </p:sp>
      <p:sp>
        <p:nvSpPr>
          <p:cNvPr id="3" name="Text 1">
            <a:extLst xmlns:a="http://schemas.openxmlformats.org/drawingml/2006/main">
              <a:ext uri="{FF2B5EF4-FFF2-40B4-BE49-F238E27FC236}">
                <a16:creationId xmlns:a16="http://schemas.microsoft.com/office/drawing/2014/main" id="{7381671C-AB31-4D80-BC62-7327F42643E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estate already carried 85 journeys and 100+ integrated applications — so the</a:t>
            </a:r>
            <a:endParaRPr sz="1900"/>
          </a:p>
          <a:p xmlns:a="http://schemas.openxmlformats.org/drawingml/2006/main">
            <a:pPr marL="0" indent="0">
              <a:lnSpc>
                <a:spcPts val="2400"/>
              </a:lnSpc>
              <a:buNone/>
            </a:pPr>
            <a:r>
              <a:rPr sz="1900" b="1">
                <a:solidFill>
                  <a:srgbClr val="102A43"/>
                </a:solidFill>
                <a:latin typeface="Arial"/>
                <a:ea typeface="Arial"/>
                <a:cs typeface="Arial"/>
              </a:rPr>
              <a:t>binding constraint was fitting the existing spine, not building new capability</a:t>
            </a:r>
            <a:endParaRPr sz="1900"/>
          </a:p>
        </p:txBody>
      </p:sp>
      <p:sp>
        <p:nvSpPr>
          <p:cNvPr id="4" name="Shape 2">
            <a:extLst xmlns:a="http://schemas.openxmlformats.org/drawingml/2006/main">
              <a:ext uri="{FF2B5EF4-FFF2-40B4-BE49-F238E27FC236}">
                <a16:creationId xmlns:a16="http://schemas.microsoft.com/office/drawing/2014/main" id="{AF51CA2B-DDED-4EC6-AC46-06137697564C}"/>
              </a:ext>
            </a:extLst>
          </p:cNvPr>
          <p:cNvSpPr>
            <a:spLocks xmlns:a="http://schemas.openxmlformats.org/drawingml/2006/main" noGrp="1"/>
          </p:cNvSpPr>
          <p:nvPr/>
        </p:nvSpPr>
        <p:spPr>
          <a:xfrm xmlns:a="http://schemas.openxmlformats.org/drawingml/2006/main">
            <a:off x="566928" y="1335024"/>
            <a:ext cx="1302220" cy="932688"/>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23F64AC2-BFFB-43C9-A3CE-6DA7BED3EE34}"/>
              </a:ext>
            </a:extLst>
          </p:cNvPr>
          <p:cNvSpPr>
            <a:spLocks xmlns:a="http://schemas.openxmlformats.org/drawingml/2006/main" noGrp="1"/>
          </p:cNvSpPr>
          <p:nvPr/>
        </p:nvSpPr>
        <p:spPr>
          <a:xfrm xmlns:a="http://schemas.openxmlformats.org/drawingml/2006/main">
            <a:off x="6949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150K+</a:t>
            </a:r>
            <a:endParaRPr sz="1700"/>
          </a:p>
        </p:txBody>
      </p:sp>
      <p:sp>
        <p:nvSpPr>
          <p:cNvPr id="6" name="Text 4">
            <a:extLst xmlns:a="http://schemas.openxmlformats.org/drawingml/2006/main">
              <a:ext uri="{FF2B5EF4-FFF2-40B4-BE49-F238E27FC236}">
                <a16:creationId xmlns:a16="http://schemas.microsoft.com/office/drawing/2014/main" id="{C24DFD02-154B-4F68-A7B8-E2D0F8A721AF}"/>
              </a:ext>
            </a:extLst>
          </p:cNvPr>
          <p:cNvSpPr>
            <a:spLocks xmlns:a="http://schemas.openxmlformats.org/drawingml/2006/main" noGrp="1"/>
          </p:cNvSpPr>
          <p:nvPr/>
        </p:nvSpPr>
        <p:spPr>
          <a:xfrm xmlns:a="http://schemas.openxmlformats.org/drawingml/2006/main">
            <a:off x="69494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platform users</a:t>
            </a:r>
            <a:endParaRPr sz="860"/>
          </a:p>
        </p:txBody>
      </p:sp>
      <p:sp>
        <p:nvSpPr>
          <p:cNvPr id="7" name="Shape 5">
            <a:extLst xmlns:a="http://schemas.openxmlformats.org/drawingml/2006/main">
              <a:ext uri="{FF2B5EF4-FFF2-40B4-BE49-F238E27FC236}">
                <a16:creationId xmlns:a16="http://schemas.microsoft.com/office/drawing/2014/main" id="{61908E08-A80B-410E-BBB3-C1E4E8B012E4}"/>
              </a:ext>
            </a:extLst>
          </p:cNvPr>
          <p:cNvSpPr>
            <a:spLocks xmlns:a="http://schemas.openxmlformats.org/drawingml/2006/main" noGrp="1"/>
          </p:cNvSpPr>
          <p:nvPr/>
        </p:nvSpPr>
        <p:spPr>
          <a:xfrm xmlns:a="http://schemas.openxmlformats.org/drawingml/2006/main">
            <a:off x="1960588" y="1335024"/>
            <a:ext cx="1302220" cy="932688"/>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4CA052DC-31ED-4FC3-A82F-ED6EF83B7474}"/>
              </a:ext>
            </a:extLst>
          </p:cNvPr>
          <p:cNvSpPr>
            <a:spLocks xmlns:a="http://schemas.openxmlformats.org/drawingml/2006/main" noGrp="1"/>
          </p:cNvSpPr>
          <p:nvPr/>
        </p:nvSpPr>
        <p:spPr>
          <a:xfrm xmlns:a="http://schemas.openxmlformats.org/drawingml/2006/main">
            <a:off x="208860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120M+</a:t>
            </a:r>
            <a:endParaRPr sz="1700"/>
          </a:p>
        </p:txBody>
      </p:sp>
      <p:sp>
        <p:nvSpPr>
          <p:cNvPr id="9" name="Text 7">
            <a:extLst xmlns:a="http://schemas.openxmlformats.org/drawingml/2006/main">
              <a:ext uri="{FF2B5EF4-FFF2-40B4-BE49-F238E27FC236}">
                <a16:creationId xmlns:a16="http://schemas.microsoft.com/office/drawing/2014/main" id="{D0DDBC84-4900-4953-BC20-135C806E57CC}"/>
              </a:ext>
            </a:extLst>
          </p:cNvPr>
          <p:cNvSpPr>
            <a:spLocks xmlns:a="http://schemas.openxmlformats.org/drawingml/2006/main" noGrp="1"/>
          </p:cNvSpPr>
          <p:nvPr/>
        </p:nvSpPr>
        <p:spPr>
          <a:xfrm xmlns:a="http://schemas.openxmlformats.org/drawingml/2006/main">
            <a:off x="208860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customers</a:t>
            </a:r>
            <a:endParaRPr sz="860"/>
          </a:p>
        </p:txBody>
      </p:sp>
      <p:sp>
        <p:nvSpPr>
          <p:cNvPr id="10" name="Shape 8">
            <a:extLst xmlns:a="http://schemas.openxmlformats.org/drawingml/2006/main">
              <a:ext uri="{FF2B5EF4-FFF2-40B4-BE49-F238E27FC236}">
                <a16:creationId xmlns:a16="http://schemas.microsoft.com/office/drawing/2014/main" id="{7E7EB8A6-0579-4C0F-B5BA-FCEDEE3E1A8C}"/>
              </a:ext>
            </a:extLst>
          </p:cNvPr>
          <p:cNvSpPr>
            <a:spLocks xmlns:a="http://schemas.openxmlformats.org/drawingml/2006/main" noGrp="1"/>
          </p:cNvSpPr>
          <p:nvPr/>
        </p:nvSpPr>
        <p:spPr>
          <a:xfrm xmlns:a="http://schemas.openxmlformats.org/drawingml/2006/main">
            <a:off x="3354248" y="1335024"/>
            <a:ext cx="1302220" cy="932688"/>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E4779EBB-E258-46C2-8413-8AF721E7B918}"/>
              </a:ext>
            </a:extLst>
          </p:cNvPr>
          <p:cNvSpPr>
            <a:spLocks xmlns:a="http://schemas.openxmlformats.org/drawingml/2006/main" noGrp="1"/>
          </p:cNvSpPr>
          <p:nvPr/>
        </p:nvSpPr>
        <p:spPr>
          <a:xfrm xmlns:a="http://schemas.openxmlformats.org/drawingml/2006/main">
            <a:off x="348226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9,000+</a:t>
            </a:r>
            <a:endParaRPr sz="1700"/>
          </a:p>
        </p:txBody>
      </p:sp>
      <p:sp>
        <p:nvSpPr>
          <p:cNvPr id="12" name="Text 10">
            <a:extLst xmlns:a="http://schemas.openxmlformats.org/drawingml/2006/main">
              <a:ext uri="{FF2B5EF4-FFF2-40B4-BE49-F238E27FC236}">
                <a16:creationId xmlns:a16="http://schemas.microsoft.com/office/drawing/2014/main" id="{99C9BA5C-CF69-4858-9B26-8F9C24337E23}"/>
              </a:ext>
            </a:extLst>
          </p:cNvPr>
          <p:cNvSpPr>
            <a:spLocks xmlns:a="http://schemas.openxmlformats.org/drawingml/2006/main" noGrp="1"/>
          </p:cNvSpPr>
          <p:nvPr/>
        </p:nvSpPr>
        <p:spPr>
          <a:xfrm xmlns:a="http://schemas.openxmlformats.org/drawingml/2006/main">
            <a:off x="348226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branches</a:t>
            </a:r>
            <a:endParaRPr sz="860"/>
          </a:p>
        </p:txBody>
      </p:sp>
      <p:sp>
        <p:nvSpPr>
          <p:cNvPr id="13" name="Shape 11">
            <a:extLst xmlns:a="http://schemas.openxmlformats.org/drawingml/2006/main">
              <a:ext uri="{FF2B5EF4-FFF2-40B4-BE49-F238E27FC236}">
                <a16:creationId xmlns:a16="http://schemas.microsoft.com/office/drawing/2014/main" id="{9B0103EF-A5F8-46BF-9F21-7FC70B58A166}"/>
              </a:ext>
            </a:extLst>
          </p:cNvPr>
          <p:cNvSpPr>
            <a:spLocks xmlns:a="http://schemas.openxmlformats.org/drawingml/2006/main" noGrp="1"/>
          </p:cNvSpPr>
          <p:nvPr/>
        </p:nvSpPr>
        <p:spPr>
          <a:xfrm xmlns:a="http://schemas.openxmlformats.org/drawingml/2006/main">
            <a:off x="4747908" y="1335024"/>
            <a:ext cx="1302220" cy="932688"/>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A3203F6E-2C72-42B5-9DC6-E5157BCF3FD8}"/>
              </a:ext>
            </a:extLst>
          </p:cNvPr>
          <p:cNvSpPr>
            <a:spLocks xmlns:a="http://schemas.openxmlformats.org/drawingml/2006/main" noGrp="1"/>
          </p:cNvSpPr>
          <p:nvPr/>
        </p:nvSpPr>
        <p:spPr>
          <a:xfrm xmlns:a="http://schemas.openxmlformats.org/drawingml/2006/main">
            <a:off x="487592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100+</a:t>
            </a:r>
            <a:endParaRPr sz="1700"/>
          </a:p>
        </p:txBody>
      </p:sp>
      <p:sp>
        <p:nvSpPr>
          <p:cNvPr id="15" name="Text 13">
            <a:extLst xmlns:a="http://schemas.openxmlformats.org/drawingml/2006/main">
              <a:ext uri="{FF2B5EF4-FFF2-40B4-BE49-F238E27FC236}">
                <a16:creationId xmlns:a16="http://schemas.microsoft.com/office/drawing/2014/main" id="{323D692D-4732-45AE-9727-A2CC3680653A}"/>
              </a:ext>
            </a:extLst>
          </p:cNvPr>
          <p:cNvSpPr>
            <a:spLocks xmlns:a="http://schemas.openxmlformats.org/drawingml/2006/main" noGrp="1"/>
          </p:cNvSpPr>
          <p:nvPr/>
        </p:nvSpPr>
        <p:spPr>
          <a:xfrm xmlns:a="http://schemas.openxmlformats.org/drawingml/2006/main">
            <a:off x="487592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applications integrated</a:t>
            </a:r>
            <a:endParaRPr sz="860"/>
          </a:p>
        </p:txBody>
      </p:sp>
      <p:sp>
        <p:nvSpPr>
          <p:cNvPr id="16" name="Shape 14">
            <a:extLst xmlns:a="http://schemas.openxmlformats.org/drawingml/2006/main">
              <a:ext uri="{FF2B5EF4-FFF2-40B4-BE49-F238E27FC236}">
                <a16:creationId xmlns:a16="http://schemas.microsoft.com/office/drawing/2014/main" id="{B20775F6-1F7E-43F0-9695-4C9F90A4370D}"/>
              </a:ext>
            </a:extLst>
          </p:cNvPr>
          <p:cNvSpPr>
            <a:spLocks xmlns:a="http://schemas.openxmlformats.org/drawingml/2006/main" noGrp="1"/>
          </p:cNvSpPr>
          <p:nvPr/>
        </p:nvSpPr>
        <p:spPr>
          <a:xfrm xmlns:a="http://schemas.openxmlformats.org/drawingml/2006/main">
            <a:off x="6141568" y="1335024"/>
            <a:ext cx="1302220" cy="932688"/>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AD7EB955-A41B-4CEB-A942-9F6587BA1A99}"/>
              </a:ext>
            </a:extLst>
          </p:cNvPr>
          <p:cNvSpPr>
            <a:spLocks xmlns:a="http://schemas.openxmlformats.org/drawingml/2006/main" noGrp="1"/>
          </p:cNvSpPr>
          <p:nvPr/>
        </p:nvSpPr>
        <p:spPr>
          <a:xfrm xmlns:a="http://schemas.openxmlformats.org/drawingml/2006/main">
            <a:off x="626958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300+</a:t>
            </a:r>
            <a:endParaRPr sz="1700"/>
          </a:p>
        </p:txBody>
      </p:sp>
      <p:sp>
        <p:nvSpPr>
          <p:cNvPr id="18" name="Text 16">
            <a:extLst xmlns:a="http://schemas.openxmlformats.org/drawingml/2006/main">
              <a:ext uri="{FF2B5EF4-FFF2-40B4-BE49-F238E27FC236}">
                <a16:creationId xmlns:a16="http://schemas.microsoft.com/office/drawing/2014/main" id="{BC29684B-28D5-4314-8C20-834214EAAAA5}"/>
              </a:ext>
            </a:extLst>
          </p:cNvPr>
          <p:cNvSpPr>
            <a:spLocks xmlns:a="http://schemas.openxmlformats.org/drawingml/2006/main" noGrp="1"/>
          </p:cNvSpPr>
          <p:nvPr/>
        </p:nvSpPr>
        <p:spPr>
          <a:xfrm xmlns:a="http://schemas.openxmlformats.org/drawingml/2006/main">
            <a:off x="626958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integration touchpoints</a:t>
            </a:r>
            <a:endParaRPr sz="860"/>
          </a:p>
        </p:txBody>
      </p:sp>
      <p:sp>
        <p:nvSpPr>
          <p:cNvPr id="19" name="Shape 17">
            <a:extLst xmlns:a="http://schemas.openxmlformats.org/drawingml/2006/main">
              <a:ext uri="{FF2B5EF4-FFF2-40B4-BE49-F238E27FC236}">
                <a16:creationId xmlns:a16="http://schemas.microsoft.com/office/drawing/2014/main" id="{F6F3845A-0CDD-4E4F-8F4D-32171D111B77}"/>
              </a:ext>
            </a:extLst>
          </p:cNvPr>
          <p:cNvSpPr>
            <a:spLocks xmlns:a="http://schemas.openxmlformats.org/drawingml/2006/main" noGrp="1"/>
          </p:cNvSpPr>
          <p:nvPr/>
        </p:nvSpPr>
        <p:spPr>
          <a:xfrm xmlns:a="http://schemas.openxmlformats.org/drawingml/2006/main">
            <a:off x="7535228" y="1335024"/>
            <a:ext cx="1302220" cy="932688"/>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A7628E4A-A8AD-4CF5-BF84-F03F54AE0BC6}"/>
              </a:ext>
            </a:extLst>
          </p:cNvPr>
          <p:cNvSpPr>
            <a:spLocks xmlns:a="http://schemas.openxmlformats.org/drawingml/2006/main" noGrp="1"/>
          </p:cNvSpPr>
          <p:nvPr/>
        </p:nvSpPr>
        <p:spPr>
          <a:xfrm xmlns:a="http://schemas.openxmlformats.org/drawingml/2006/main">
            <a:off x="76632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25+</a:t>
            </a:r>
            <a:endParaRPr sz="1700"/>
          </a:p>
        </p:txBody>
      </p:sp>
      <p:sp>
        <p:nvSpPr>
          <p:cNvPr id="21" name="Text 19">
            <a:extLst xmlns:a="http://schemas.openxmlformats.org/drawingml/2006/main">
              <a:ext uri="{FF2B5EF4-FFF2-40B4-BE49-F238E27FC236}">
                <a16:creationId xmlns:a16="http://schemas.microsoft.com/office/drawing/2014/main" id="{1844C5A5-CF36-42A8-B777-3CB27E15B4BB}"/>
              </a:ext>
            </a:extLst>
          </p:cNvPr>
          <p:cNvSpPr>
            <a:spLocks xmlns:a="http://schemas.openxmlformats.org/drawingml/2006/main" noGrp="1"/>
          </p:cNvSpPr>
          <p:nvPr/>
        </p:nvSpPr>
        <p:spPr>
          <a:xfrm xmlns:a="http://schemas.openxmlformats.org/drawingml/2006/main">
            <a:off x="766324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applications decommissioned</a:t>
            </a:r>
            <a:endParaRPr sz="860"/>
          </a:p>
        </p:txBody>
      </p:sp>
      <p:sp>
        <p:nvSpPr>
          <p:cNvPr id="22" name="Shape 20">
            <a:extLst xmlns:a="http://schemas.openxmlformats.org/drawingml/2006/main">
              <a:ext uri="{FF2B5EF4-FFF2-40B4-BE49-F238E27FC236}">
                <a16:creationId xmlns:a16="http://schemas.microsoft.com/office/drawing/2014/main" id="{8497E7B5-5A69-4D25-9D62-94E046584750}"/>
              </a:ext>
            </a:extLst>
          </p:cNvPr>
          <p:cNvSpPr>
            <a:spLocks xmlns:a="http://schemas.openxmlformats.org/drawingml/2006/main" noGrp="1"/>
          </p:cNvSpPr>
          <p:nvPr/>
        </p:nvSpPr>
        <p:spPr>
          <a:xfrm xmlns:a="http://schemas.openxmlformats.org/drawingml/2006/main">
            <a:off x="8928887" y="1335024"/>
            <a:ext cx="1302220" cy="932688"/>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1799DEC9-7507-4DA5-ADED-1ED4E26064D9}"/>
              </a:ext>
            </a:extLst>
          </p:cNvPr>
          <p:cNvSpPr>
            <a:spLocks xmlns:a="http://schemas.openxmlformats.org/drawingml/2006/main" noGrp="1"/>
          </p:cNvSpPr>
          <p:nvPr/>
        </p:nvSpPr>
        <p:spPr>
          <a:xfrm xmlns:a="http://schemas.openxmlformats.org/drawingml/2006/main">
            <a:off x="905690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85</a:t>
            </a:r>
            <a:endParaRPr sz="1700"/>
          </a:p>
        </p:txBody>
      </p:sp>
      <p:sp>
        <p:nvSpPr>
          <p:cNvPr id="24" name="Text 22">
            <a:extLst xmlns:a="http://schemas.openxmlformats.org/drawingml/2006/main">
              <a:ext uri="{FF2B5EF4-FFF2-40B4-BE49-F238E27FC236}">
                <a16:creationId xmlns:a16="http://schemas.microsoft.com/office/drawing/2014/main" id="{AD931FA7-1C5B-4980-ADF8-C8EA21B807AF}"/>
              </a:ext>
            </a:extLst>
          </p:cNvPr>
          <p:cNvSpPr>
            <a:spLocks xmlns:a="http://schemas.openxmlformats.org/drawingml/2006/main" noGrp="1"/>
          </p:cNvSpPr>
          <p:nvPr/>
        </p:nvSpPr>
        <p:spPr>
          <a:xfrm xmlns:a="http://schemas.openxmlformats.org/drawingml/2006/main">
            <a:off x="9056903"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journeys in production</a:t>
            </a:r>
            <a:endParaRPr sz="860"/>
          </a:p>
        </p:txBody>
      </p:sp>
      <p:sp>
        <p:nvSpPr>
          <p:cNvPr id="25" name="Shape 23">
            <a:extLst xmlns:a="http://schemas.openxmlformats.org/drawingml/2006/main">
              <a:ext uri="{FF2B5EF4-FFF2-40B4-BE49-F238E27FC236}">
                <a16:creationId xmlns:a16="http://schemas.microsoft.com/office/drawing/2014/main" id="{BCA9360A-28BA-40E3-A47B-38269125CFDD}"/>
              </a:ext>
            </a:extLst>
          </p:cNvPr>
          <p:cNvSpPr>
            <a:spLocks xmlns:a="http://schemas.openxmlformats.org/drawingml/2006/main" noGrp="1"/>
          </p:cNvSpPr>
          <p:nvPr/>
        </p:nvSpPr>
        <p:spPr>
          <a:xfrm xmlns:a="http://schemas.openxmlformats.org/drawingml/2006/main">
            <a:off x="10322547" y="1335024"/>
            <a:ext cx="1302220" cy="932688"/>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3B45D9E6-9B9E-46A5-90A9-AD0A58D73C4D}"/>
              </a:ext>
            </a:extLst>
          </p:cNvPr>
          <p:cNvSpPr>
            <a:spLocks xmlns:a="http://schemas.openxmlformats.org/drawingml/2006/main" noGrp="1"/>
          </p:cNvSpPr>
          <p:nvPr/>
        </p:nvSpPr>
        <p:spPr>
          <a:xfrm xmlns:a="http://schemas.openxmlformats.org/drawingml/2006/main">
            <a:off x="1045056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102A43"/>
                </a:solidFill>
                <a:latin typeface="Arial"/>
                <a:ea typeface="Arial"/>
                <a:cs typeface="Arial"/>
              </a:rPr>
              <a:t>10,000+</a:t>
            </a:r>
            <a:endParaRPr sz="1700"/>
          </a:p>
        </p:txBody>
      </p:sp>
      <p:sp>
        <p:nvSpPr>
          <p:cNvPr id="27" name="Text 25">
            <a:extLst xmlns:a="http://schemas.openxmlformats.org/drawingml/2006/main">
              <a:ext uri="{FF2B5EF4-FFF2-40B4-BE49-F238E27FC236}">
                <a16:creationId xmlns:a16="http://schemas.microsoft.com/office/drawing/2014/main" id="{7980E835-0ED0-4B91-A661-3A65D7E9FAA8}"/>
              </a:ext>
            </a:extLst>
          </p:cNvPr>
          <p:cNvSpPr>
            <a:spLocks xmlns:a="http://schemas.openxmlformats.org/drawingml/2006/main" noGrp="1"/>
          </p:cNvSpPr>
          <p:nvPr/>
        </p:nvSpPr>
        <p:spPr>
          <a:xfrm xmlns:a="http://schemas.openxmlformats.org/drawingml/2006/main">
            <a:off x="10450563"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daily personalised reports</a:t>
            </a:r>
            <a:endParaRPr sz="860"/>
          </a:p>
        </p:txBody>
      </p:sp>
      <p:graphicFrame>
        <p:nvGraphicFramePr>
          <p:cNvPr id="65" name="Chart 0"/>
          <p:cNvGraphicFramePr/>
          <p:nvPr/>
        </p:nvGraphicFramePr>
        <p:xfrm>
          <a:off xmlns:a="http://schemas.openxmlformats.org/drawingml/2006/main" x="566928" y="2505456"/>
          <a:ext xmlns:a="http://schemas.openxmlformats.org/drawingml/2006/main" cx="5577840" cy="2651760"/>
        </p:xfrm>
        <a:graphic xmlns:a="http://schemas.openxmlformats.org/drawingml/2006/main">
          <a:graphicData uri="http://schemas.openxmlformats.org/drawingml/2006/chart">
            <c:chart xmlns:r="http://schemas.openxmlformats.org/officeDocument/2006/relationships" xmlns:c="http://schemas.openxmlformats.org/drawingml/2006/chart" r:id="R4ff165002e8c464e"/>
          </a:graphicData>
        </a:graphic>
      </p:graphicFrame>
      <p:sp>
        <p:nvSpPr>
          <p:cNvPr id="29" name="Text 26">
            <a:extLst xmlns:a="http://schemas.openxmlformats.org/drawingml/2006/main">
              <a:ext uri="{FF2B5EF4-FFF2-40B4-BE49-F238E27FC236}">
                <a16:creationId xmlns:a16="http://schemas.microsoft.com/office/drawing/2014/main" id="{34B49211-DAA0-4E95-813E-8EADB764B822}"/>
              </a:ext>
            </a:extLst>
          </p:cNvPr>
          <p:cNvSpPr>
            <a:spLocks xmlns:a="http://schemas.openxmlformats.org/drawingml/2006/main" noGrp="1"/>
          </p:cNvSpPr>
          <p:nvPr/>
        </p:nvSpPr>
        <p:spPr>
          <a:xfrm xmlns:a="http://schemas.openxmlformats.org/drawingml/2006/main">
            <a:off x="566928" y="5230368"/>
            <a:ext cx="55778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i="1">
                <a:solidFill>
                  <a:srgbClr val="627D98"/>
                </a:solidFill>
                <a:latin typeface="Arial"/>
                <a:ea typeface="Arial"/>
                <a:cs typeface="Arial"/>
              </a:rPr>
              <a:t>Digital journeys live in the estate, by channel type</a:t>
            </a:r>
            <a:endParaRPr sz="900"/>
          </a:p>
        </p:txBody>
      </p:sp>
      <p:sp>
        <p:nvSpPr>
          <p:cNvPr id="30" name="Shape 27">
            <a:extLst xmlns:a="http://schemas.openxmlformats.org/drawingml/2006/main">
              <a:ext uri="{FF2B5EF4-FFF2-40B4-BE49-F238E27FC236}">
                <a16:creationId xmlns:a16="http://schemas.microsoft.com/office/drawing/2014/main" id="{1FD9B06C-7639-4297-B6EC-0958FCD101AF}"/>
              </a:ext>
            </a:extLst>
          </p:cNvPr>
          <p:cNvSpPr>
            <a:spLocks xmlns:a="http://schemas.openxmlformats.org/drawingml/2006/main" noGrp="1"/>
          </p:cNvSpPr>
          <p:nvPr/>
        </p:nvSpPr>
        <p:spPr>
          <a:xfrm xmlns:a="http://schemas.openxmlformats.org/drawingml/2006/main">
            <a:off x="6510528" y="2505456"/>
            <a:ext cx="5111496" cy="2651760"/>
          </a:xfrm>
          <a:prstGeom xmlns:a="http://schemas.openxmlformats.org/drawingml/2006/main" prst="rect">
            <a:avLst/>
          </a:prstGeom>
          <a:solidFill xmlns:a="http://schemas.openxmlformats.org/drawingml/2006/main">
            <a:srgbClr val="F0F4F8"/>
          </a:solidFill>
        </p:spPr>
      </p:sp>
      <p:sp>
        <p:nvSpPr>
          <p:cNvPr id="31" name="Text 28">
            <a:extLst xmlns:a="http://schemas.openxmlformats.org/drawingml/2006/main">
              <a:ext uri="{FF2B5EF4-FFF2-40B4-BE49-F238E27FC236}">
                <a16:creationId xmlns:a16="http://schemas.microsoft.com/office/drawing/2014/main" id="{337FFDA1-F94E-4D67-B2D1-4C826F18BC69}"/>
              </a:ext>
            </a:extLst>
          </p:cNvPr>
          <p:cNvSpPr>
            <a:spLocks xmlns:a="http://schemas.openxmlformats.org/drawingml/2006/main" noGrp="1"/>
          </p:cNvSpPr>
          <p:nvPr/>
        </p:nvSpPr>
        <p:spPr>
          <a:xfrm xmlns:a="http://schemas.openxmlformats.org/drawingml/2006/main">
            <a:off x="6729984" y="2706624"/>
            <a:ext cx="467258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What a mature estate changes</a:t>
            </a:r>
            <a:endParaRPr sz="1250"/>
          </a:p>
        </p:txBody>
      </p:sp>
      <p:sp>
        <p:nvSpPr>
          <p:cNvPr id="32" name="Text 29">
            <a:extLst xmlns:a="http://schemas.openxmlformats.org/drawingml/2006/main">
              <a:ext uri="{FF2B5EF4-FFF2-40B4-BE49-F238E27FC236}">
                <a16:creationId xmlns:a16="http://schemas.microsoft.com/office/drawing/2014/main" id="{A68D8621-CD63-402B-B07E-2D83628642B6}"/>
              </a:ext>
            </a:extLst>
          </p:cNvPr>
          <p:cNvSpPr>
            <a:spLocks xmlns:a="http://schemas.openxmlformats.org/drawingml/2006/main" noGrp="1"/>
          </p:cNvSpPr>
          <p:nvPr/>
        </p:nvSpPr>
        <p:spPr>
          <a:xfrm xmlns:a="http://schemas.openxmlformats.org/drawingml/2006/main">
            <a:off x="6729984" y="3054096"/>
            <a:ext cx="4672584"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Identity, consent and document handling already run in production — re-implementing them is pure cost and a new audit surface.</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Status models are shared. A journey that invents its own states is invisible to enterprise reporting on day one.</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Every integration point is governed. New calls inherit an approval path rather than creating one.</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The scarce resource is not engineering capacity — it is change-window and assurance capacity.</a:t>
            </a:r>
            <a:endParaRPr sz="980"/>
          </a:p>
        </p:txBody>
      </p:sp>
      <p:sp>
        <p:nvSpPr>
          <p:cNvPr id="33" name="Shape 30">
            <a:extLst xmlns:a="http://schemas.openxmlformats.org/drawingml/2006/main">
              <a:ext uri="{FF2B5EF4-FFF2-40B4-BE49-F238E27FC236}">
                <a16:creationId xmlns:a16="http://schemas.microsoft.com/office/drawing/2014/main" id="{39BB4F2A-83B2-4361-96F9-6299DCB368BE}"/>
              </a:ext>
            </a:extLst>
          </p:cNvPr>
          <p:cNvSpPr>
            <a:spLocks xmlns:a="http://schemas.openxmlformats.org/drawingml/2006/main" noGrp="1"/>
          </p:cNvSpPr>
          <p:nvPr/>
        </p:nvSpPr>
        <p:spPr>
          <a:xfrm xmlns:a="http://schemas.openxmlformats.org/drawingml/2006/main">
            <a:off x="566928" y="5486400"/>
            <a:ext cx="11057839" cy="603504"/>
          </a:xfrm>
          <a:prstGeom xmlns:a="http://schemas.openxmlformats.org/drawingml/2006/main" prst="rect">
            <a:avLst/>
          </a:prstGeom>
          <a:solidFill xmlns:a="http://schemas.openxmlformats.org/drawingml/2006/main">
            <a:srgbClr val="F3E6E0"/>
          </a:solidFill>
        </p:spPr>
      </p:sp>
      <p:sp>
        <p:nvSpPr>
          <p:cNvPr id="34" name="Text 31">
            <a:extLst xmlns:a="http://schemas.openxmlformats.org/drawingml/2006/main">
              <a:ext uri="{FF2B5EF4-FFF2-40B4-BE49-F238E27FC236}">
                <a16:creationId xmlns:a16="http://schemas.microsoft.com/office/drawing/2014/main" id="{CCFDE6CD-41A6-4376-94C3-F4F6BE52122B}"/>
              </a:ext>
            </a:extLst>
          </p:cNvPr>
          <p:cNvSpPr>
            <a:spLocks xmlns:a="http://schemas.openxmlformats.org/drawingml/2006/main" noGrp="1"/>
          </p:cNvSpPr>
          <p:nvPr/>
        </p:nvSpPr>
        <p:spPr>
          <a:xfrm xmlns:a="http://schemas.openxmlformats.org/drawingml/2006/main">
            <a:off x="804672" y="5650992"/>
            <a:ext cx="10582351"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B04A25"/>
                </a:solidFill>
                <a:latin typeface="Arial"/>
                <a:ea typeface="Arial"/>
                <a:cs typeface="Arial"/>
              </a:rPr>
              <a:t>The design question was never “how do we build this journey?” — it was “what here is genuinely new, and what already exists and must be reused?”</a:t>
            </a:r>
            <a:endParaRPr sz="1150"/>
          </a:p>
        </p:txBody>
      </p:sp>
      <p:sp>
        <p:nvSpPr>
          <p:cNvPr id="35" name="Shape 32">
            <a:extLst xmlns:a="http://schemas.openxmlformats.org/drawingml/2006/main">
              <a:ext uri="{FF2B5EF4-FFF2-40B4-BE49-F238E27FC236}">
                <a16:creationId xmlns:a16="http://schemas.microsoft.com/office/drawing/2014/main" id="{28218108-3235-4349-A59F-47BFDB51DA5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6" name="Text 33">
            <a:extLst xmlns:a="http://schemas.openxmlformats.org/drawingml/2006/main">
              <a:ext uri="{FF2B5EF4-FFF2-40B4-BE49-F238E27FC236}">
                <a16:creationId xmlns:a16="http://schemas.microsoft.com/office/drawing/2014/main" id="{47ADF7BF-88E1-4050-8760-B731EFF5D77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Publicly reported programme figures, retained with attribution</a:t>
            </a:r>
            <a:endParaRPr sz="850"/>
          </a:p>
        </p:txBody>
      </p:sp>
      <p:sp>
        <p:nvSpPr>
          <p:cNvPr id="37" name="Text 34">
            <a:extLst xmlns:a="http://schemas.openxmlformats.org/drawingml/2006/main">
              <a:ext uri="{FF2B5EF4-FFF2-40B4-BE49-F238E27FC236}">
                <a16:creationId xmlns:a16="http://schemas.microsoft.com/office/drawing/2014/main" id="{A56A1AE0-AFA6-4E26-BBB8-C23356E0FA3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05898389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53C1F6-9F1A-4F37-9B5E-708112055D8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COMPLICATION</a:t>
            </a:r>
            <a:endParaRPr sz="950"/>
          </a:p>
        </p:txBody>
      </p:sp>
      <p:sp>
        <p:nvSpPr>
          <p:cNvPr id="3" name="Text 1">
            <a:extLst xmlns:a="http://schemas.openxmlformats.org/drawingml/2006/main">
              <a:ext uri="{FF2B5EF4-FFF2-40B4-BE49-F238E27FC236}">
                <a16:creationId xmlns:a16="http://schemas.microsoft.com/office/drawing/2014/main" id="{CF543EE3-F48A-49DC-80E4-78029216F53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leaks were not in the products — they were at the boundaries between the bank</a:t>
            </a:r>
            <a:endParaRPr sz="1900"/>
          </a:p>
          <a:p xmlns:a="http://schemas.openxmlformats.org/drawingml/2006/main">
            <a:pPr marL="0" indent="0">
              <a:lnSpc>
                <a:spcPts val="2400"/>
              </a:lnSpc>
              <a:buNone/>
            </a:pPr>
            <a:r>
              <a:rPr sz="1900" b="1">
                <a:solidFill>
                  <a:srgbClr val="102A43"/>
                </a:solidFill>
                <a:latin typeface="Arial"/>
                <a:ea typeface="Arial"/>
                <a:cs typeface="Arial"/>
              </a:rPr>
              <a:t>and everything on the other side of them</a:t>
            </a:r>
            <a:endParaRPr sz="1900"/>
          </a:p>
        </p:txBody>
      </p:sp>
      <p:graphicFrame>
        <p:nvGraphicFramePr>
          <p:cNvPr id="25" name="Chart 0"/>
          <p:cNvGraphicFramePr/>
          <p:nvPr/>
        </p:nvGraphicFramePr>
        <p:xfrm>
          <a:off xmlns:a="http://schemas.openxmlformats.org/drawingml/2006/main" x="566928" y="1426464"/>
          <a:ext xmlns:a="http://schemas.openxmlformats.org/drawingml/2006/main" cx="5486400" cy="2926080"/>
        </p:xfrm>
        <a:graphic xmlns:a="http://schemas.openxmlformats.org/drawingml/2006/main">
          <a:graphicData uri="http://schemas.openxmlformats.org/drawingml/2006/chart">
            <c:chart xmlns:r="http://schemas.openxmlformats.org/officeDocument/2006/relationships" xmlns:c="http://schemas.openxmlformats.org/drawingml/2006/chart" r:id="R3da6b6d4ef954bc2"/>
          </a:graphicData>
        </a:graphic>
      </p:graphicFrame>
      <p:sp>
        <p:nvSpPr>
          <p:cNvPr id="5" name="Text 2">
            <a:extLst xmlns:a="http://schemas.openxmlformats.org/drawingml/2006/main">
              <a:ext uri="{FF2B5EF4-FFF2-40B4-BE49-F238E27FC236}">
                <a16:creationId xmlns:a16="http://schemas.microsoft.com/office/drawing/2014/main" id="{C0216F5A-350C-4C17-AB12-40A9C1F86D83}"/>
              </a:ext>
            </a:extLst>
          </p:cNvPr>
          <p:cNvSpPr>
            <a:spLocks xmlns:a="http://schemas.openxmlformats.org/drawingml/2006/main" noGrp="1"/>
          </p:cNvSpPr>
          <p:nvPr/>
        </p:nvSpPr>
        <p:spPr>
          <a:xfrm xmlns:a="http://schemas.openxmlformats.org/drawingml/2006/main">
            <a:off x="566928" y="4425696"/>
            <a:ext cx="54864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900" i="1">
                <a:solidFill>
                  <a:srgbClr val="627D98"/>
                </a:solidFill>
                <a:latin typeface="Arial"/>
                <a:ea typeface="Arial"/>
                <a:cs typeface="Arial"/>
              </a:rPr>
              <a:t>Illustrative relationship funnel, indexed to 100 accounts opened — the shape, not the values, is the point</a:t>
            </a:r>
            <a:endParaRPr sz="900"/>
          </a:p>
        </p:txBody>
      </p:sp>
      <p:sp>
        <p:nvSpPr>
          <p:cNvPr id="6" name="Shape 3">
            <a:extLst xmlns:a="http://schemas.openxmlformats.org/drawingml/2006/main">
              <a:ext uri="{FF2B5EF4-FFF2-40B4-BE49-F238E27FC236}">
                <a16:creationId xmlns:a16="http://schemas.microsoft.com/office/drawing/2014/main" id="{FCE5707A-5792-4ABD-B9AB-84838C99166F}"/>
              </a:ext>
            </a:extLst>
          </p:cNvPr>
          <p:cNvSpPr>
            <a:spLocks xmlns:a="http://schemas.openxmlformats.org/drawingml/2006/main" noGrp="1"/>
          </p:cNvSpPr>
          <p:nvPr/>
        </p:nvSpPr>
        <p:spPr>
          <a:xfrm xmlns:a="http://schemas.openxmlformats.org/drawingml/2006/main">
            <a:off x="6419088" y="1426464"/>
            <a:ext cx="5202936" cy="859536"/>
          </a:xfrm>
          <a:prstGeom xmlns:a="http://schemas.openxmlformats.org/drawingml/2006/main" prst="rect">
            <a:avLst/>
          </a:prstGeom>
          <a:solidFill xmlns:a="http://schemas.openxmlformats.org/drawingml/2006/main">
            <a:srgbClr val="F3E6E0"/>
          </a:solidFill>
        </p:spPr>
      </p:sp>
      <p:sp>
        <p:nvSpPr>
          <p:cNvPr id="7" name="Text 4">
            <a:extLst xmlns:a="http://schemas.openxmlformats.org/drawingml/2006/main">
              <a:ext uri="{FF2B5EF4-FFF2-40B4-BE49-F238E27FC236}">
                <a16:creationId xmlns:a16="http://schemas.microsoft.com/office/drawing/2014/main" id="{44089418-629C-4227-B0AA-45C673EABBE7}"/>
              </a:ext>
            </a:extLst>
          </p:cNvPr>
          <p:cNvSpPr>
            <a:spLocks xmlns:a="http://schemas.openxmlformats.org/drawingml/2006/main" noGrp="1"/>
          </p:cNvSpPr>
          <p:nvPr/>
        </p:nvSpPr>
        <p:spPr>
          <a:xfrm xmlns:a="http://schemas.openxmlformats.org/drawingml/2006/main">
            <a:off x="6620256" y="1554480"/>
            <a:ext cx="4800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funding gap</a:t>
            </a:r>
            <a:endParaRPr sz="1100"/>
          </a:p>
        </p:txBody>
      </p:sp>
      <p:sp>
        <p:nvSpPr>
          <p:cNvPr id="8" name="Text 5">
            <a:extLst xmlns:a="http://schemas.openxmlformats.org/drawingml/2006/main">
              <a:ext uri="{FF2B5EF4-FFF2-40B4-BE49-F238E27FC236}">
                <a16:creationId xmlns:a16="http://schemas.microsoft.com/office/drawing/2014/main" id="{A1640A8C-E5A0-4DE8-93D2-939B786978D2}"/>
              </a:ext>
            </a:extLst>
          </p:cNvPr>
          <p:cNvSpPr>
            <a:spLocks xmlns:a="http://schemas.openxmlformats.org/drawingml/2006/main" noGrp="1"/>
          </p:cNvSpPr>
          <p:nvPr/>
        </p:nvSpPr>
        <p:spPr>
          <a:xfrm xmlns:a="http://schemas.openxmlformats.org/drawingml/2006/main">
            <a:off x="6620256" y="1792224"/>
            <a:ext cx="4800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40">
                <a:solidFill>
                  <a:srgbClr val="486581"/>
                </a:solidFill>
                <a:latin typeface="Arial"/>
                <a:ea typeface="Arial"/>
                <a:cs typeface="Arial"/>
              </a:rPr>
              <a:t>An account opened and never funded is an acquisition cost with no relationship attached. The drop happens in the first session, not over weeks.</a:t>
            </a:r>
            <a:endParaRPr sz="940"/>
          </a:p>
        </p:txBody>
      </p:sp>
      <p:sp>
        <p:nvSpPr>
          <p:cNvPr id="9" name="Shape 6">
            <a:extLst xmlns:a="http://schemas.openxmlformats.org/drawingml/2006/main">
              <a:ext uri="{FF2B5EF4-FFF2-40B4-BE49-F238E27FC236}">
                <a16:creationId xmlns:a16="http://schemas.microsoft.com/office/drawing/2014/main" id="{43406EBF-D9F0-4996-9C85-F66CFCB366FC}"/>
              </a:ext>
            </a:extLst>
          </p:cNvPr>
          <p:cNvSpPr>
            <a:spLocks xmlns:a="http://schemas.openxmlformats.org/drawingml/2006/main" noGrp="1"/>
          </p:cNvSpPr>
          <p:nvPr/>
        </p:nvSpPr>
        <p:spPr>
          <a:xfrm xmlns:a="http://schemas.openxmlformats.org/drawingml/2006/main">
            <a:off x="6419088" y="2395728"/>
            <a:ext cx="5202936" cy="859536"/>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16BA4E5A-2681-4C6B-A75C-A2539D759E81}"/>
              </a:ext>
            </a:extLst>
          </p:cNvPr>
          <p:cNvSpPr>
            <a:spLocks xmlns:a="http://schemas.openxmlformats.org/drawingml/2006/main" noGrp="1"/>
          </p:cNvSpPr>
          <p:nvPr/>
        </p:nvSpPr>
        <p:spPr>
          <a:xfrm xmlns:a="http://schemas.openxmlformats.org/drawingml/2006/main">
            <a:off x="6620256" y="2523744"/>
            <a:ext cx="4800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The servicing tax</a:t>
            </a:r>
            <a:endParaRPr sz="1100"/>
          </a:p>
        </p:txBody>
      </p:sp>
      <p:sp>
        <p:nvSpPr>
          <p:cNvPr id="11" name="Text 8">
            <a:extLst xmlns:a="http://schemas.openxmlformats.org/drawingml/2006/main">
              <a:ext uri="{FF2B5EF4-FFF2-40B4-BE49-F238E27FC236}">
                <a16:creationId xmlns:a16="http://schemas.microsoft.com/office/drawing/2014/main" id="{81ABEC36-3875-445C-9E63-397DB8ED1C41}"/>
              </a:ext>
            </a:extLst>
          </p:cNvPr>
          <p:cNvSpPr>
            <a:spLocks xmlns:a="http://schemas.openxmlformats.org/drawingml/2006/main" noGrp="1"/>
          </p:cNvSpPr>
          <p:nvPr/>
        </p:nvSpPr>
        <p:spPr>
          <a:xfrm xmlns:a="http://schemas.openxmlformats.org/drawingml/2006/main">
            <a:off x="6620256" y="2761488"/>
            <a:ext cx="4800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40">
                <a:solidFill>
                  <a:srgbClr val="486581"/>
                </a:solidFill>
                <a:latin typeface="Arial"/>
                <a:ea typeface="Arial"/>
                <a:cs typeface="Arial"/>
              </a:rPr>
              <a:t>Eleven request categories, each requiring an agent, each with a different owning system and a different definition of “done”.</a:t>
            </a:r>
            <a:endParaRPr sz="940"/>
          </a:p>
        </p:txBody>
      </p:sp>
      <p:sp>
        <p:nvSpPr>
          <p:cNvPr id="12" name="Shape 9">
            <a:extLst xmlns:a="http://schemas.openxmlformats.org/drawingml/2006/main">
              <a:ext uri="{FF2B5EF4-FFF2-40B4-BE49-F238E27FC236}">
                <a16:creationId xmlns:a16="http://schemas.microsoft.com/office/drawing/2014/main" id="{15FA8ACD-C994-4C16-BC79-E906FD80AB57}"/>
              </a:ext>
            </a:extLst>
          </p:cNvPr>
          <p:cNvSpPr>
            <a:spLocks xmlns:a="http://schemas.openxmlformats.org/drawingml/2006/main" noGrp="1"/>
          </p:cNvSpPr>
          <p:nvPr/>
        </p:nvSpPr>
        <p:spPr>
          <a:xfrm xmlns:a="http://schemas.openxmlformats.org/drawingml/2006/main">
            <a:off x="6419088" y="3364992"/>
            <a:ext cx="5202936" cy="859536"/>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80D28A11-762C-45D7-B747-4493888B107B}"/>
              </a:ext>
            </a:extLst>
          </p:cNvPr>
          <p:cNvSpPr>
            <a:spLocks xmlns:a="http://schemas.openxmlformats.org/drawingml/2006/main" noGrp="1"/>
          </p:cNvSpPr>
          <p:nvPr/>
        </p:nvSpPr>
        <p:spPr>
          <a:xfrm xmlns:a="http://schemas.openxmlformats.org/drawingml/2006/main">
            <a:off x="6620256" y="3493008"/>
            <a:ext cx="4800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The group boundary</a:t>
            </a:r>
            <a:endParaRPr sz="1100"/>
          </a:p>
        </p:txBody>
      </p:sp>
      <p:sp>
        <p:nvSpPr>
          <p:cNvPr id="14" name="Text 11">
            <a:extLst xmlns:a="http://schemas.openxmlformats.org/drawingml/2006/main">
              <a:ext uri="{FF2B5EF4-FFF2-40B4-BE49-F238E27FC236}">
                <a16:creationId xmlns:a16="http://schemas.microsoft.com/office/drawing/2014/main" id="{1B0D7CC1-C1F7-47F1-ACA0-B1C6372514D6}"/>
              </a:ext>
            </a:extLst>
          </p:cNvPr>
          <p:cNvSpPr>
            <a:spLocks xmlns:a="http://schemas.openxmlformats.org/drawingml/2006/main" noGrp="1"/>
          </p:cNvSpPr>
          <p:nvPr/>
        </p:nvSpPr>
        <p:spPr>
          <a:xfrm xmlns:a="http://schemas.openxmlformats.org/drawingml/2006/main">
            <a:off x="6620256" y="3730752"/>
            <a:ext cx="4800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40">
                <a:solidFill>
                  <a:srgbClr val="486581"/>
                </a:solidFill>
                <a:latin typeface="Arial"/>
                <a:ea typeface="Arial"/>
                <a:cs typeface="Arial"/>
              </a:rPr>
              <a:t>The highest-value cross-sell sits in a sister entity — and the consent model, not the product, is what usually blocks it.</a:t>
            </a:r>
            <a:endParaRPr sz="940"/>
          </a:p>
        </p:txBody>
      </p:sp>
      <p:sp>
        <p:nvSpPr>
          <p:cNvPr id="15" name="Shape 12">
            <a:extLst xmlns:a="http://schemas.openxmlformats.org/drawingml/2006/main">
              <a:ext uri="{FF2B5EF4-FFF2-40B4-BE49-F238E27FC236}">
                <a16:creationId xmlns:a16="http://schemas.microsoft.com/office/drawing/2014/main" id="{6E68029B-B250-4012-A87A-59E6011719F5}"/>
              </a:ext>
            </a:extLst>
          </p:cNvPr>
          <p:cNvSpPr>
            <a:spLocks xmlns:a="http://schemas.openxmlformats.org/drawingml/2006/main" noGrp="1"/>
          </p:cNvSpPr>
          <p:nvPr/>
        </p:nvSpPr>
        <p:spPr>
          <a:xfrm xmlns:a="http://schemas.openxmlformats.org/drawingml/2006/main">
            <a:off x="6419088" y="4334256"/>
            <a:ext cx="5202936" cy="859536"/>
          </a:xfrm>
          <a:prstGeom xmlns:a="http://schemas.openxmlformats.org/drawingml/2006/main" prst="rect">
            <a:avLst/>
          </a:prstGeom>
          <a:solidFill xmlns:a="http://schemas.openxmlformats.org/drawingml/2006/main">
            <a:srgbClr val="F0F4F8"/>
          </a:solidFill>
        </p:spPr>
      </p:sp>
      <p:sp>
        <p:nvSpPr>
          <p:cNvPr id="16" name="Text 13">
            <a:extLst xmlns:a="http://schemas.openxmlformats.org/drawingml/2006/main">
              <a:ext uri="{FF2B5EF4-FFF2-40B4-BE49-F238E27FC236}">
                <a16:creationId xmlns:a16="http://schemas.microsoft.com/office/drawing/2014/main" id="{89F10750-91DE-4ACC-B757-77B3697281D7}"/>
              </a:ext>
            </a:extLst>
          </p:cNvPr>
          <p:cNvSpPr>
            <a:spLocks xmlns:a="http://schemas.openxmlformats.org/drawingml/2006/main" noGrp="1"/>
          </p:cNvSpPr>
          <p:nvPr/>
        </p:nvSpPr>
        <p:spPr>
          <a:xfrm xmlns:a="http://schemas.openxmlformats.org/drawingml/2006/main">
            <a:off x="6620256" y="4462272"/>
            <a:ext cx="4800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The compliance chase</a:t>
            </a:r>
            <a:endParaRPr sz="1100"/>
          </a:p>
        </p:txBody>
      </p:sp>
      <p:sp>
        <p:nvSpPr>
          <p:cNvPr id="17" name="Text 14">
            <a:extLst xmlns:a="http://schemas.openxmlformats.org/drawingml/2006/main">
              <a:ext uri="{FF2B5EF4-FFF2-40B4-BE49-F238E27FC236}">
                <a16:creationId xmlns:a16="http://schemas.microsoft.com/office/drawing/2014/main" id="{BAE01381-281A-4223-AC4B-69A268E551CB}"/>
              </a:ext>
            </a:extLst>
          </p:cNvPr>
          <p:cNvSpPr>
            <a:spLocks xmlns:a="http://schemas.openxmlformats.org/drawingml/2006/main" noGrp="1"/>
          </p:cNvSpPr>
          <p:nvPr/>
        </p:nvSpPr>
        <p:spPr>
          <a:xfrm xmlns:a="http://schemas.openxmlformats.org/drawingml/2006/main">
            <a:off x="6620256" y="4700016"/>
            <a:ext cx="4800600"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40">
                <a:solidFill>
                  <a:srgbClr val="486581"/>
                </a:solidFill>
                <a:latin typeface="Arial"/>
                <a:ea typeface="Arial"/>
                <a:cs typeface="Arial"/>
              </a:rPr>
              <a:t>A mandated declaration collected by manual follow-up consumes operations capacity indefinitely and still never reaches full coverage.</a:t>
            </a:r>
            <a:endParaRPr sz="940"/>
          </a:p>
        </p:txBody>
      </p:sp>
      <p:sp>
        <p:nvSpPr>
          <p:cNvPr id="18" name="Text 15">
            <a:extLst xmlns:a="http://schemas.openxmlformats.org/drawingml/2006/main">
              <a:ext uri="{FF2B5EF4-FFF2-40B4-BE49-F238E27FC236}">
                <a16:creationId xmlns:a16="http://schemas.microsoft.com/office/drawing/2014/main" id="{E4E5021C-E413-418B-9632-446BD81878C5}"/>
              </a:ext>
            </a:extLst>
          </p:cNvPr>
          <p:cNvSpPr>
            <a:spLocks xmlns:a="http://schemas.openxmlformats.org/drawingml/2006/main" noGrp="1"/>
          </p:cNvSpPr>
          <p:nvPr/>
        </p:nvSpPr>
        <p:spPr>
          <a:xfrm xmlns:a="http://schemas.openxmlformats.org/drawingml/2006/main">
            <a:off x="566928" y="5449824"/>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80" b="1">
                <a:solidFill>
                  <a:srgbClr val="102A43"/>
                </a:solidFill>
                <a:latin typeface="Arial"/>
                <a:ea typeface="Arial"/>
                <a:cs typeface="Arial"/>
              </a:rPr>
              <a:t>Each leak sits at a boundary the bank does not fully control — a payment rail, a back-office owner, an external registry, a separate regulated entity. That is why the six journeys were scoped by boundary rather than by product line.</a:t>
            </a:r>
            <a:endParaRPr sz="1080"/>
          </a:p>
        </p:txBody>
      </p:sp>
      <p:sp>
        <p:nvSpPr>
          <p:cNvPr id="19" name="Shape 16">
            <a:extLst xmlns:a="http://schemas.openxmlformats.org/drawingml/2006/main">
              <a:ext uri="{FF2B5EF4-FFF2-40B4-BE49-F238E27FC236}">
                <a16:creationId xmlns:a16="http://schemas.microsoft.com/office/drawing/2014/main" id="{17A7A807-E721-495D-985A-5AC56A74D03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0" name="Text 17">
            <a:extLst xmlns:a="http://schemas.openxmlformats.org/drawingml/2006/main">
              <a:ext uri="{FF2B5EF4-FFF2-40B4-BE49-F238E27FC236}">
                <a16:creationId xmlns:a16="http://schemas.microsoft.com/office/drawing/2014/main" id="{1B9F0F4C-FBC2-4C6F-AAA9-DB6E428E7235}"/>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value model — illustrative volumes, stated assumptions; replace with bank actuals</a:t>
            </a:r>
            <a:endParaRPr sz="850"/>
          </a:p>
        </p:txBody>
      </p:sp>
      <p:sp>
        <p:nvSpPr>
          <p:cNvPr id="21" name="Text 18">
            <a:extLst xmlns:a="http://schemas.openxmlformats.org/drawingml/2006/main">
              <a:ext uri="{FF2B5EF4-FFF2-40B4-BE49-F238E27FC236}">
                <a16:creationId xmlns:a16="http://schemas.microsoft.com/office/drawing/2014/main" id="{4E283D40-E50B-425E-A629-35979B0D7A4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404452826"/>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A1DBD03-BF18-4060-A434-191A7345FFD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SCOPE</a:t>
            </a:r>
            <a:endParaRPr sz="950"/>
          </a:p>
        </p:txBody>
      </p:sp>
      <p:sp>
        <p:nvSpPr>
          <p:cNvPr id="3" name="Text 1">
            <a:extLst xmlns:a="http://schemas.openxmlformats.org/drawingml/2006/main">
              <a:ext uri="{FF2B5EF4-FFF2-40B4-BE49-F238E27FC236}">
                <a16:creationId xmlns:a16="http://schemas.microsoft.com/office/drawing/2014/main" id="{A1BF3D77-EB33-47F9-B9B3-F8DAA042C1A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journeys, six boundaries, four objectives — and one common requirement</a:t>
            </a:r>
            <a:endParaRPr sz="1900"/>
          </a:p>
          <a:p xmlns:a="http://schemas.openxmlformats.org/drawingml/2006/main">
            <a:pPr marL="0" indent="0">
              <a:lnSpc>
                <a:spcPts val="2400"/>
              </a:lnSpc>
              <a:buNone/>
            </a:pPr>
            <a:r>
              <a:rPr sz="1900" b="1">
                <a:solidFill>
                  <a:srgbClr val="102A43"/>
                </a:solidFill>
                <a:latin typeface="Arial"/>
                <a:ea typeface="Arial"/>
                <a:cs typeface="Arial"/>
              </a:rPr>
              <a:t>behind all of them</a:t>
            </a:r>
            <a:endParaRPr sz="1900"/>
          </a:p>
        </p:txBody>
      </p:sp>
      <p:sp>
        <p:nvSpPr>
          <p:cNvPr id="4" name="Shape 2">
            <a:extLst xmlns:a="http://schemas.openxmlformats.org/drawingml/2006/main">
              <a:ext uri="{FF2B5EF4-FFF2-40B4-BE49-F238E27FC236}">
                <a16:creationId xmlns:a16="http://schemas.microsoft.com/office/drawing/2014/main" id="{BE753418-5665-4D2D-90DF-0B841DD19F03}"/>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698348BA-2CA8-4FB3-BA45-14D05BEF1C90}"/>
              </a:ext>
            </a:extLst>
          </p:cNvPr>
          <p:cNvSpPr>
            <a:spLocks xmlns:a="http://schemas.openxmlformats.org/drawingml/2006/main" noGrp="1"/>
          </p:cNvSpPr>
          <p:nvPr/>
        </p:nvSpPr>
        <p:spPr>
          <a:xfrm xmlns:a="http://schemas.openxmlformats.org/drawingml/2006/main">
            <a:off x="676656" y="1444752"/>
            <a:ext cx="25694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Journey</a:t>
            </a:r>
            <a:endParaRPr sz="920"/>
          </a:p>
        </p:txBody>
      </p:sp>
      <p:sp>
        <p:nvSpPr>
          <p:cNvPr id="6" name="Text 4">
            <a:extLst xmlns:a="http://schemas.openxmlformats.org/drawingml/2006/main">
              <a:ext uri="{FF2B5EF4-FFF2-40B4-BE49-F238E27FC236}">
                <a16:creationId xmlns:a16="http://schemas.microsoft.com/office/drawing/2014/main" id="{4322E262-04D3-4514-B59C-B53A165C6DC3}"/>
              </a:ext>
            </a:extLst>
          </p:cNvPr>
          <p:cNvSpPr>
            <a:spLocks xmlns:a="http://schemas.openxmlformats.org/drawingml/2006/main" noGrp="1"/>
          </p:cNvSpPr>
          <p:nvPr/>
        </p:nvSpPr>
        <p:spPr>
          <a:xfrm xmlns:a="http://schemas.openxmlformats.org/drawingml/2006/main">
            <a:off x="3557016" y="1444752"/>
            <a:ext cx="1609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Boundary crossed</a:t>
            </a:r>
            <a:endParaRPr sz="920"/>
          </a:p>
        </p:txBody>
      </p:sp>
      <p:sp>
        <p:nvSpPr>
          <p:cNvPr id="7" name="Text 5">
            <a:extLst xmlns:a="http://schemas.openxmlformats.org/drawingml/2006/main">
              <a:ext uri="{FF2B5EF4-FFF2-40B4-BE49-F238E27FC236}">
                <a16:creationId xmlns:a16="http://schemas.microsoft.com/office/drawing/2014/main" id="{A157A9CC-0F75-42AC-B75E-02D51F710A99}"/>
              </a:ext>
            </a:extLst>
          </p:cNvPr>
          <p:cNvSpPr>
            <a:spLocks xmlns:a="http://schemas.openxmlformats.org/drawingml/2006/main" noGrp="1"/>
          </p:cNvSpPr>
          <p:nvPr/>
        </p:nvSpPr>
        <p:spPr>
          <a:xfrm xmlns:a="http://schemas.openxmlformats.org/drawingml/2006/main">
            <a:off x="5477256" y="1444752"/>
            <a:ext cx="5577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Objective</a:t>
            </a:r>
            <a:endParaRPr sz="920"/>
          </a:p>
        </p:txBody>
      </p:sp>
      <p:sp>
        <p:nvSpPr>
          <p:cNvPr id="8" name="Text 6">
            <a:extLst xmlns:a="http://schemas.openxmlformats.org/drawingml/2006/main">
              <a:ext uri="{FF2B5EF4-FFF2-40B4-BE49-F238E27FC236}">
                <a16:creationId xmlns:a16="http://schemas.microsoft.com/office/drawing/2014/main" id="{4727AD65-69CE-46EB-979C-DAE1990B8684}"/>
              </a:ext>
            </a:extLst>
          </p:cNvPr>
          <p:cNvSpPr>
            <a:spLocks xmlns:a="http://schemas.openxmlformats.org/drawingml/2006/main" noGrp="1"/>
          </p:cNvSpPr>
          <p:nvPr/>
        </p:nvSpPr>
        <p:spPr>
          <a:xfrm xmlns:a="http://schemas.openxmlformats.org/drawingml/2006/main">
            <a:off x="6345936" y="1444752"/>
            <a:ext cx="512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Use cases</a:t>
            </a:r>
            <a:endParaRPr sz="920"/>
          </a:p>
        </p:txBody>
      </p:sp>
      <p:sp>
        <p:nvSpPr>
          <p:cNvPr id="9" name="Text 7">
            <a:extLst xmlns:a="http://schemas.openxmlformats.org/drawingml/2006/main">
              <a:ext uri="{FF2B5EF4-FFF2-40B4-BE49-F238E27FC236}">
                <a16:creationId xmlns:a16="http://schemas.microsoft.com/office/drawing/2014/main" id="{EA4CCDEB-AA5E-41E5-B8D3-DB651C5DFC1F}"/>
              </a:ext>
            </a:extLst>
          </p:cNvPr>
          <p:cNvSpPr>
            <a:spLocks xmlns:a="http://schemas.openxmlformats.org/drawingml/2006/main" noGrp="1"/>
          </p:cNvSpPr>
          <p:nvPr/>
        </p:nvSpPr>
        <p:spPr>
          <a:xfrm xmlns:a="http://schemas.openxmlformats.org/drawingml/2006/main">
            <a:off x="7168896" y="1444752"/>
            <a:ext cx="28895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Owner metric</a:t>
            </a:r>
            <a:endParaRPr sz="920"/>
          </a:p>
        </p:txBody>
      </p:sp>
      <p:sp>
        <p:nvSpPr>
          <p:cNvPr id="10" name="Text 8">
            <a:extLst xmlns:a="http://schemas.openxmlformats.org/drawingml/2006/main">
              <a:ext uri="{FF2B5EF4-FFF2-40B4-BE49-F238E27FC236}">
                <a16:creationId xmlns:a16="http://schemas.microsoft.com/office/drawing/2014/main" id="{9CA5C4D4-18F1-4FF5-A847-10A31905D2DD}"/>
              </a:ext>
            </a:extLst>
          </p:cNvPr>
          <p:cNvSpPr>
            <a:spLocks xmlns:a="http://schemas.openxmlformats.org/drawingml/2006/main" noGrp="1"/>
          </p:cNvSpPr>
          <p:nvPr/>
        </p:nvSpPr>
        <p:spPr>
          <a:xfrm xmlns:a="http://schemas.openxmlformats.org/drawingml/2006/main">
            <a:off x="10369296" y="1444752"/>
            <a:ext cx="1143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Target</a:t>
            </a:r>
            <a:endParaRPr sz="920"/>
          </a:p>
        </p:txBody>
      </p:sp>
      <p:sp>
        <p:nvSpPr>
          <p:cNvPr id="11" name="Text 9">
            <a:extLst xmlns:a="http://schemas.openxmlformats.org/drawingml/2006/main">
              <a:ext uri="{FF2B5EF4-FFF2-40B4-BE49-F238E27FC236}">
                <a16:creationId xmlns:a16="http://schemas.microsoft.com/office/drawing/2014/main" id="{E340E47A-D20D-4D98-9717-00250727EEAC}"/>
              </a:ext>
            </a:extLst>
          </p:cNvPr>
          <p:cNvSpPr>
            <a:spLocks xmlns:a="http://schemas.openxmlformats.org/drawingml/2006/main" noGrp="1"/>
          </p:cNvSpPr>
          <p:nvPr/>
        </p:nvSpPr>
        <p:spPr>
          <a:xfrm xmlns:a="http://schemas.openxmlformats.org/drawingml/2006/main">
            <a:off x="676656" y="1865376"/>
            <a:ext cx="2569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Digital account funding</a:t>
            </a:r>
            <a:endParaRPr sz="1000"/>
          </a:p>
        </p:txBody>
      </p:sp>
      <p:sp>
        <p:nvSpPr>
          <p:cNvPr id="12" name="Text 10">
            <a:extLst xmlns:a="http://schemas.openxmlformats.org/drawingml/2006/main">
              <a:ext uri="{FF2B5EF4-FFF2-40B4-BE49-F238E27FC236}">
                <a16:creationId xmlns:a16="http://schemas.microsoft.com/office/drawing/2014/main" id="{1F19EE1B-8857-47EE-9ACD-F56C5A20B6A6}"/>
              </a:ext>
            </a:extLst>
          </p:cNvPr>
          <p:cNvSpPr>
            <a:spLocks xmlns:a="http://schemas.openxmlformats.org/drawingml/2006/main" noGrp="1"/>
          </p:cNvSpPr>
          <p:nvPr/>
        </p:nvSpPr>
        <p:spPr>
          <a:xfrm xmlns:a="http://schemas.openxmlformats.org/drawingml/2006/main">
            <a:off x="3557016" y="1865376"/>
            <a:ext cx="1609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Payment rails</a:t>
            </a:r>
            <a:endParaRPr sz="940"/>
          </a:p>
        </p:txBody>
      </p:sp>
      <p:sp>
        <p:nvSpPr>
          <p:cNvPr id="13" name="Shape 11">
            <a:extLst xmlns:a="http://schemas.openxmlformats.org/drawingml/2006/main">
              <a:ext uri="{FF2B5EF4-FFF2-40B4-BE49-F238E27FC236}">
                <a16:creationId xmlns:a16="http://schemas.microsoft.com/office/drawing/2014/main" id="{47D88B1F-D70C-4B58-9680-EB9E8C0B28A9}"/>
              </a:ext>
            </a:extLst>
          </p:cNvPr>
          <p:cNvSpPr>
            <a:spLocks xmlns:a="http://schemas.openxmlformats.org/drawingml/2006/main" noGrp="1"/>
          </p:cNvSpPr>
          <p:nvPr/>
        </p:nvSpPr>
        <p:spPr>
          <a:xfrm xmlns:a="http://schemas.openxmlformats.org/drawingml/2006/main">
            <a:off x="5385816" y="1847088"/>
            <a:ext cx="685800" cy="237744"/>
          </a:xfrm>
          <a:prstGeom xmlns:a="http://schemas.openxmlformats.org/drawingml/2006/main" prst="roundRect">
            <a:avLst>
              <a:gd name="adj" fmla="val 30769"/>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F62D4B3B-B059-44ED-99A8-3F836CB2C981}"/>
              </a:ext>
            </a:extLst>
          </p:cNvPr>
          <p:cNvSpPr>
            <a:spLocks xmlns:a="http://schemas.openxmlformats.org/drawingml/2006/main" noGrp="1"/>
          </p:cNvSpPr>
          <p:nvPr/>
        </p:nvSpPr>
        <p:spPr>
          <a:xfrm xmlns:a="http://schemas.openxmlformats.org/drawingml/2006/main">
            <a:off x="5385816" y="1879092"/>
            <a:ext cx="68580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GROW</a:t>
            </a:r>
            <a:endParaRPr sz="820"/>
          </a:p>
        </p:txBody>
      </p:sp>
      <p:sp>
        <p:nvSpPr>
          <p:cNvPr id="15" name="Text 13">
            <a:extLst xmlns:a="http://schemas.openxmlformats.org/drawingml/2006/main">
              <a:ext uri="{FF2B5EF4-FFF2-40B4-BE49-F238E27FC236}">
                <a16:creationId xmlns:a16="http://schemas.microsoft.com/office/drawing/2014/main" id="{04972214-E8B1-4908-BFFD-35194B54A6D0}"/>
              </a:ext>
            </a:extLst>
          </p:cNvPr>
          <p:cNvSpPr>
            <a:spLocks xmlns:a="http://schemas.openxmlformats.org/drawingml/2006/main" noGrp="1"/>
          </p:cNvSpPr>
          <p:nvPr/>
        </p:nvSpPr>
        <p:spPr>
          <a:xfrm xmlns:a="http://schemas.openxmlformats.org/drawingml/2006/main">
            <a:off x="6345936" y="1865376"/>
            <a:ext cx="512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00" b="1">
                <a:solidFill>
                  <a:srgbClr val="102A43"/>
                </a:solidFill>
                <a:latin typeface="Arial"/>
                <a:ea typeface="Arial"/>
                <a:cs typeface="Arial"/>
              </a:rPr>
              <a:t>5</a:t>
            </a:r>
            <a:endParaRPr sz="1100"/>
          </a:p>
        </p:txBody>
      </p:sp>
      <p:sp>
        <p:nvSpPr>
          <p:cNvPr id="16" name="Text 14">
            <a:extLst xmlns:a="http://schemas.openxmlformats.org/drawingml/2006/main">
              <a:ext uri="{FF2B5EF4-FFF2-40B4-BE49-F238E27FC236}">
                <a16:creationId xmlns:a16="http://schemas.microsoft.com/office/drawing/2014/main" id="{ED1BC6D1-68D7-491F-B8E1-7112EA3A5145}"/>
              </a:ext>
            </a:extLst>
          </p:cNvPr>
          <p:cNvSpPr>
            <a:spLocks xmlns:a="http://schemas.openxmlformats.org/drawingml/2006/main" noGrp="1"/>
          </p:cNvSpPr>
          <p:nvPr/>
        </p:nvSpPr>
        <p:spPr>
          <a:xfrm xmlns:a="http://schemas.openxmlformats.org/drawingml/2006/main">
            <a:off x="7168896" y="186537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Funded-in-session rate</a:t>
            </a:r>
            <a:endParaRPr sz="940"/>
          </a:p>
        </p:txBody>
      </p:sp>
      <p:sp>
        <p:nvSpPr>
          <p:cNvPr id="17" name="Text 15">
            <a:extLst xmlns:a="http://schemas.openxmlformats.org/drawingml/2006/main">
              <a:ext uri="{FF2B5EF4-FFF2-40B4-BE49-F238E27FC236}">
                <a16:creationId xmlns:a16="http://schemas.microsoft.com/office/drawing/2014/main" id="{E2E9CCD1-3509-4C7E-B17C-C4287375A079}"/>
              </a:ext>
            </a:extLst>
          </p:cNvPr>
          <p:cNvSpPr>
            <a:spLocks xmlns:a="http://schemas.openxmlformats.org/drawingml/2006/main" noGrp="1"/>
          </p:cNvSpPr>
          <p:nvPr/>
        </p:nvSpPr>
        <p:spPr>
          <a:xfrm xmlns:a="http://schemas.openxmlformats.org/drawingml/2006/main">
            <a:off x="10369296" y="1828800"/>
            <a:ext cx="1143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300" b="1">
                <a:solidFill>
                  <a:srgbClr val="B04A25"/>
                </a:solidFill>
                <a:latin typeface="Arial"/>
                <a:ea typeface="Arial"/>
                <a:cs typeface="Arial"/>
              </a:rPr>
              <a:t>+27pp</a:t>
            </a:r>
            <a:endParaRPr sz="1300"/>
          </a:p>
        </p:txBody>
      </p:sp>
      <p:sp>
        <p:nvSpPr>
          <p:cNvPr id="18" name="Shape 16">
            <a:extLst xmlns:a="http://schemas.openxmlformats.org/drawingml/2006/main">
              <a:ext uri="{FF2B5EF4-FFF2-40B4-BE49-F238E27FC236}">
                <a16:creationId xmlns:a16="http://schemas.microsoft.com/office/drawing/2014/main" id="{101D7B63-EBDD-400C-A867-9AFC4ADA2E76}"/>
              </a:ext>
            </a:extLst>
          </p:cNvPr>
          <p:cNvSpPr>
            <a:spLocks xmlns:a="http://schemas.openxmlformats.org/drawingml/2006/main" noGrp="1"/>
          </p:cNvSpPr>
          <p:nvPr/>
        </p:nvSpPr>
        <p:spPr>
          <a:xfrm xmlns:a="http://schemas.openxmlformats.org/drawingml/2006/main">
            <a:off x="566928" y="2249424"/>
            <a:ext cx="11057839" cy="7315"/>
          </a:xfrm>
          <a:prstGeom xmlns:a="http://schemas.openxmlformats.org/drawingml/2006/main" prst="rect">
            <a:avLst/>
          </a:prstGeom>
          <a:solidFill xmlns:a="http://schemas.openxmlformats.org/drawingml/2006/main">
            <a:srgbClr val="CBD5E0"/>
          </a:solidFill>
        </p:spPr>
      </p:sp>
      <p:sp>
        <p:nvSpPr>
          <p:cNvPr id="19" name="Shape 17">
            <a:extLst xmlns:a="http://schemas.openxmlformats.org/drawingml/2006/main">
              <a:ext uri="{FF2B5EF4-FFF2-40B4-BE49-F238E27FC236}">
                <a16:creationId xmlns:a16="http://schemas.microsoft.com/office/drawing/2014/main" id="{FBBF1522-A22C-4F68-8F50-42F95902863A}"/>
              </a:ext>
            </a:extLst>
          </p:cNvPr>
          <p:cNvSpPr>
            <a:spLocks xmlns:a="http://schemas.openxmlformats.org/drawingml/2006/main" noGrp="1"/>
          </p:cNvSpPr>
          <p:nvPr/>
        </p:nvSpPr>
        <p:spPr>
          <a:xfrm xmlns:a="http://schemas.openxmlformats.org/drawingml/2006/main">
            <a:off x="566928" y="2249424"/>
            <a:ext cx="11057839" cy="548640"/>
          </a:xfrm>
          <a:prstGeom xmlns:a="http://schemas.openxmlformats.org/drawingml/2006/main" prst="rect">
            <a:avLst/>
          </a:prstGeom>
          <a:solidFill xmlns:a="http://schemas.openxmlformats.org/drawingml/2006/main">
            <a:srgbClr val="F7F9FB"/>
          </a:solidFill>
        </p:spPr>
      </p:sp>
      <p:sp>
        <p:nvSpPr>
          <p:cNvPr id="20" name="Text 18">
            <a:extLst xmlns:a="http://schemas.openxmlformats.org/drawingml/2006/main">
              <a:ext uri="{FF2B5EF4-FFF2-40B4-BE49-F238E27FC236}">
                <a16:creationId xmlns:a16="http://schemas.microsoft.com/office/drawing/2014/main" id="{3B56572B-B1F0-40D7-9F13-C5C593B71D55}"/>
              </a:ext>
            </a:extLst>
          </p:cNvPr>
          <p:cNvSpPr>
            <a:spLocks xmlns:a="http://schemas.openxmlformats.org/drawingml/2006/main" noGrp="1"/>
          </p:cNvSpPr>
          <p:nvPr/>
        </p:nvSpPr>
        <p:spPr>
          <a:xfrm xmlns:a="http://schemas.openxmlformats.org/drawingml/2006/main">
            <a:off x="676656" y="2414016"/>
            <a:ext cx="2569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Loan servicing self-help</a:t>
            </a:r>
            <a:endParaRPr sz="1000"/>
          </a:p>
        </p:txBody>
      </p:sp>
      <p:sp>
        <p:nvSpPr>
          <p:cNvPr id="21" name="Text 19">
            <a:extLst xmlns:a="http://schemas.openxmlformats.org/drawingml/2006/main">
              <a:ext uri="{FF2B5EF4-FFF2-40B4-BE49-F238E27FC236}">
                <a16:creationId xmlns:a16="http://schemas.microsoft.com/office/drawing/2014/main" id="{120076F4-AE0E-4DA7-A7C2-6BA12E3FB660}"/>
              </a:ext>
            </a:extLst>
          </p:cNvPr>
          <p:cNvSpPr>
            <a:spLocks xmlns:a="http://schemas.openxmlformats.org/drawingml/2006/main" noGrp="1"/>
          </p:cNvSpPr>
          <p:nvPr/>
        </p:nvSpPr>
        <p:spPr>
          <a:xfrm xmlns:a="http://schemas.openxmlformats.org/drawingml/2006/main">
            <a:off x="3557016" y="2414016"/>
            <a:ext cx="1609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Servicing systems</a:t>
            </a:r>
            <a:endParaRPr sz="940"/>
          </a:p>
        </p:txBody>
      </p:sp>
      <p:sp>
        <p:nvSpPr>
          <p:cNvPr id="22" name="Shape 20">
            <a:extLst xmlns:a="http://schemas.openxmlformats.org/drawingml/2006/main">
              <a:ext uri="{FF2B5EF4-FFF2-40B4-BE49-F238E27FC236}">
                <a16:creationId xmlns:a16="http://schemas.microsoft.com/office/drawing/2014/main" id="{E7DC02F5-994C-438A-AEC8-3AC3EFE53D1D}"/>
              </a:ext>
            </a:extLst>
          </p:cNvPr>
          <p:cNvSpPr>
            <a:spLocks xmlns:a="http://schemas.openxmlformats.org/drawingml/2006/main" noGrp="1"/>
          </p:cNvSpPr>
          <p:nvPr/>
        </p:nvSpPr>
        <p:spPr>
          <a:xfrm xmlns:a="http://schemas.openxmlformats.org/drawingml/2006/main">
            <a:off x="5385816" y="2395728"/>
            <a:ext cx="685800" cy="237744"/>
          </a:xfrm>
          <a:prstGeom xmlns:a="http://schemas.openxmlformats.org/drawingml/2006/main" prst="roundRect">
            <a:avLst>
              <a:gd name="adj" fmla="val 30769"/>
            </a:avLst>
          </a:prstGeom>
          <a:solidFill xmlns:a="http://schemas.openxmlformats.org/drawingml/2006/main">
            <a:srgbClr val="E3EAF2"/>
          </a:solidFill>
        </p:spPr>
      </p:sp>
      <p:sp>
        <p:nvSpPr>
          <p:cNvPr id="23" name="Text 21">
            <a:extLst xmlns:a="http://schemas.openxmlformats.org/drawingml/2006/main">
              <a:ext uri="{FF2B5EF4-FFF2-40B4-BE49-F238E27FC236}">
                <a16:creationId xmlns:a16="http://schemas.microsoft.com/office/drawing/2014/main" id="{1ABF4024-8F29-490D-963A-D3D5750CFAC4}"/>
              </a:ext>
            </a:extLst>
          </p:cNvPr>
          <p:cNvSpPr>
            <a:spLocks xmlns:a="http://schemas.openxmlformats.org/drawingml/2006/main" noGrp="1"/>
          </p:cNvSpPr>
          <p:nvPr/>
        </p:nvSpPr>
        <p:spPr>
          <a:xfrm xmlns:a="http://schemas.openxmlformats.org/drawingml/2006/main">
            <a:off x="5385816" y="2427732"/>
            <a:ext cx="68580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SERVE</a:t>
            </a:r>
            <a:endParaRPr sz="820"/>
          </a:p>
        </p:txBody>
      </p:sp>
      <p:sp>
        <p:nvSpPr>
          <p:cNvPr id="24" name="Text 22">
            <a:extLst xmlns:a="http://schemas.openxmlformats.org/drawingml/2006/main">
              <a:ext uri="{FF2B5EF4-FFF2-40B4-BE49-F238E27FC236}">
                <a16:creationId xmlns:a16="http://schemas.microsoft.com/office/drawing/2014/main" id="{4955F9F3-852B-4A49-8A5A-82ECF98FFAFD}"/>
              </a:ext>
            </a:extLst>
          </p:cNvPr>
          <p:cNvSpPr>
            <a:spLocks xmlns:a="http://schemas.openxmlformats.org/drawingml/2006/main" noGrp="1"/>
          </p:cNvSpPr>
          <p:nvPr/>
        </p:nvSpPr>
        <p:spPr>
          <a:xfrm xmlns:a="http://schemas.openxmlformats.org/drawingml/2006/main">
            <a:off x="6345936" y="2414016"/>
            <a:ext cx="512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00" b="1">
                <a:solidFill>
                  <a:srgbClr val="102A43"/>
                </a:solidFill>
                <a:latin typeface="Arial"/>
                <a:ea typeface="Arial"/>
                <a:cs typeface="Arial"/>
              </a:rPr>
              <a:t>11</a:t>
            </a:r>
            <a:endParaRPr sz="1100"/>
          </a:p>
        </p:txBody>
      </p:sp>
      <p:sp>
        <p:nvSpPr>
          <p:cNvPr id="25" name="Text 23">
            <a:extLst xmlns:a="http://schemas.openxmlformats.org/drawingml/2006/main">
              <a:ext uri="{FF2B5EF4-FFF2-40B4-BE49-F238E27FC236}">
                <a16:creationId xmlns:a16="http://schemas.microsoft.com/office/drawing/2014/main" id="{79B4C2FC-B78A-4467-80E2-0CB9874CF5FE}"/>
              </a:ext>
            </a:extLst>
          </p:cNvPr>
          <p:cNvSpPr>
            <a:spLocks xmlns:a="http://schemas.openxmlformats.org/drawingml/2006/main" noGrp="1"/>
          </p:cNvSpPr>
          <p:nvPr/>
        </p:nvSpPr>
        <p:spPr>
          <a:xfrm xmlns:a="http://schemas.openxmlformats.org/drawingml/2006/main">
            <a:off x="7168896" y="241401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Deflection across 11 categories</a:t>
            </a:r>
            <a:endParaRPr sz="940"/>
          </a:p>
        </p:txBody>
      </p:sp>
      <p:sp>
        <p:nvSpPr>
          <p:cNvPr id="26" name="Text 24">
            <a:extLst xmlns:a="http://schemas.openxmlformats.org/drawingml/2006/main">
              <a:ext uri="{FF2B5EF4-FFF2-40B4-BE49-F238E27FC236}">
                <a16:creationId xmlns:a16="http://schemas.microsoft.com/office/drawing/2014/main" id="{4B521102-F218-479D-B411-0818A175F505}"/>
              </a:ext>
            </a:extLst>
          </p:cNvPr>
          <p:cNvSpPr>
            <a:spLocks xmlns:a="http://schemas.openxmlformats.org/drawingml/2006/main" noGrp="1"/>
          </p:cNvSpPr>
          <p:nvPr/>
        </p:nvSpPr>
        <p:spPr>
          <a:xfrm xmlns:a="http://schemas.openxmlformats.org/drawingml/2006/main">
            <a:off x="10369296" y="2377440"/>
            <a:ext cx="1143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300" b="1">
                <a:solidFill>
                  <a:srgbClr val="486581"/>
                </a:solidFill>
                <a:latin typeface="Arial"/>
                <a:ea typeface="Arial"/>
                <a:cs typeface="Arial"/>
              </a:rPr>
              <a:t>38%</a:t>
            </a:r>
            <a:endParaRPr sz="1300"/>
          </a:p>
        </p:txBody>
      </p:sp>
      <p:sp>
        <p:nvSpPr>
          <p:cNvPr id="27" name="Shape 25">
            <a:extLst xmlns:a="http://schemas.openxmlformats.org/drawingml/2006/main">
              <a:ext uri="{FF2B5EF4-FFF2-40B4-BE49-F238E27FC236}">
                <a16:creationId xmlns:a16="http://schemas.microsoft.com/office/drawing/2014/main" id="{53FE00A5-1F4B-4193-933D-378FE0E7D742}"/>
              </a:ext>
            </a:extLst>
          </p:cNvPr>
          <p:cNvSpPr>
            <a:spLocks xmlns:a="http://schemas.openxmlformats.org/drawingml/2006/main" noGrp="1"/>
          </p:cNvSpPr>
          <p:nvPr/>
        </p:nvSpPr>
        <p:spPr>
          <a:xfrm xmlns:a="http://schemas.openxmlformats.org/drawingml/2006/main">
            <a:off x="566928" y="2798064"/>
            <a:ext cx="11057839" cy="7315"/>
          </a:xfrm>
          <a:prstGeom xmlns:a="http://schemas.openxmlformats.org/drawingml/2006/main" prst="rect">
            <a:avLst/>
          </a:prstGeom>
          <a:solidFill xmlns:a="http://schemas.openxmlformats.org/drawingml/2006/main">
            <a:srgbClr val="CBD5E0"/>
          </a:solidFill>
        </p:spPr>
      </p:sp>
      <p:sp>
        <p:nvSpPr>
          <p:cNvPr id="28" name="Text 26">
            <a:extLst xmlns:a="http://schemas.openxmlformats.org/drawingml/2006/main">
              <a:ext uri="{FF2B5EF4-FFF2-40B4-BE49-F238E27FC236}">
                <a16:creationId xmlns:a16="http://schemas.microsoft.com/office/drawing/2014/main" id="{0B76D42F-C74D-404C-8927-A68D6C568B30}"/>
              </a:ext>
            </a:extLst>
          </p:cNvPr>
          <p:cNvSpPr>
            <a:spLocks xmlns:a="http://schemas.openxmlformats.org/drawingml/2006/main" noGrp="1"/>
          </p:cNvSpPr>
          <p:nvPr/>
        </p:nvSpPr>
        <p:spPr>
          <a:xfrm xmlns:a="http://schemas.openxmlformats.org/drawingml/2006/main">
            <a:off x="676656" y="2962656"/>
            <a:ext cx="2569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Depository KYC update</a:t>
            </a:r>
            <a:endParaRPr sz="1000"/>
          </a:p>
        </p:txBody>
      </p:sp>
      <p:sp>
        <p:nvSpPr>
          <p:cNvPr id="29" name="Text 27">
            <a:extLst xmlns:a="http://schemas.openxmlformats.org/drawingml/2006/main">
              <a:ext uri="{FF2B5EF4-FFF2-40B4-BE49-F238E27FC236}">
                <a16:creationId xmlns:a16="http://schemas.microsoft.com/office/drawing/2014/main" id="{F2903F54-0968-4F1F-90E0-3C7C8CFBAD2E}"/>
              </a:ext>
            </a:extLst>
          </p:cNvPr>
          <p:cNvSpPr>
            <a:spLocks xmlns:a="http://schemas.openxmlformats.org/drawingml/2006/main" noGrp="1"/>
          </p:cNvSpPr>
          <p:nvPr/>
        </p:nvSpPr>
        <p:spPr>
          <a:xfrm xmlns:a="http://schemas.openxmlformats.org/drawingml/2006/main">
            <a:off x="3557016" y="2962656"/>
            <a:ext cx="1609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External registry</a:t>
            </a:r>
            <a:endParaRPr sz="940"/>
          </a:p>
        </p:txBody>
      </p:sp>
      <p:sp>
        <p:nvSpPr>
          <p:cNvPr id="30" name="Shape 28">
            <a:extLst xmlns:a="http://schemas.openxmlformats.org/drawingml/2006/main">
              <a:ext uri="{FF2B5EF4-FFF2-40B4-BE49-F238E27FC236}">
                <a16:creationId xmlns:a16="http://schemas.microsoft.com/office/drawing/2014/main" id="{AB24B21B-17C9-4DA1-971F-5151A9B9D13C}"/>
              </a:ext>
            </a:extLst>
          </p:cNvPr>
          <p:cNvSpPr>
            <a:spLocks xmlns:a="http://schemas.openxmlformats.org/drawingml/2006/main" noGrp="1"/>
          </p:cNvSpPr>
          <p:nvPr/>
        </p:nvSpPr>
        <p:spPr>
          <a:xfrm xmlns:a="http://schemas.openxmlformats.org/drawingml/2006/main">
            <a:off x="5385816" y="2944368"/>
            <a:ext cx="685800" cy="237744"/>
          </a:xfrm>
          <a:prstGeom xmlns:a="http://schemas.openxmlformats.org/drawingml/2006/main" prst="roundRect">
            <a:avLst>
              <a:gd name="adj" fmla="val 30769"/>
            </a:avLst>
          </a:prstGeom>
          <a:solidFill xmlns:a="http://schemas.openxmlformats.org/drawingml/2006/main">
            <a:srgbClr val="E3EAF2"/>
          </a:solidFill>
        </p:spPr>
      </p:sp>
      <p:sp>
        <p:nvSpPr>
          <p:cNvPr id="31" name="Text 29">
            <a:extLst xmlns:a="http://schemas.openxmlformats.org/drawingml/2006/main">
              <a:ext uri="{FF2B5EF4-FFF2-40B4-BE49-F238E27FC236}">
                <a16:creationId xmlns:a16="http://schemas.microsoft.com/office/drawing/2014/main" id="{866160D3-FDA6-4721-B6EA-677847F96DF7}"/>
              </a:ext>
            </a:extLst>
          </p:cNvPr>
          <p:cNvSpPr>
            <a:spLocks xmlns:a="http://schemas.openxmlformats.org/drawingml/2006/main" noGrp="1"/>
          </p:cNvSpPr>
          <p:nvPr/>
        </p:nvSpPr>
        <p:spPr>
          <a:xfrm xmlns:a="http://schemas.openxmlformats.org/drawingml/2006/main">
            <a:off x="5385816" y="2976372"/>
            <a:ext cx="68580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SERVE</a:t>
            </a:r>
            <a:endParaRPr sz="820"/>
          </a:p>
        </p:txBody>
      </p:sp>
      <p:sp>
        <p:nvSpPr>
          <p:cNvPr id="32" name="Text 30">
            <a:extLst xmlns:a="http://schemas.openxmlformats.org/drawingml/2006/main">
              <a:ext uri="{FF2B5EF4-FFF2-40B4-BE49-F238E27FC236}">
                <a16:creationId xmlns:a16="http://schemas.microsoft.com/office/drawing/2014/main" id="{59BDAB45-F9E6-486A-92CC-CBCC33D2A8B8}"/>
              </a:ext>
            </a:extLst>
          </p:cNvPr>
          <p:cNvSpPr>
            <a:spLocks xmlns:a="http://schemas.openxmlformats.org/drawingml/2006/main" noGrp="1"/>
          </p:cNvSpPr>
          <p:nvPr/>
        </p:nvSpPr>
        <p:spPr>
          <a:xfrm xmlns:a="http://schemas.openxmlformats.org/drawingml/2006/main">
            <a:off x="6345936" y="2962656"/>
            <a:ext cx="512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00" b="1">
                <a:solidFill>
                  <a:srgbClr val="102A43"/>
                </a:solidFill>
                <a:latin typeface="Arial"/>
                <a:ea typeface="Arial"/>
                <a:cs typeface="Arial"/>
              </a:rPr>
              <a:t>4</a:t>
            </a:r>
            <a:endParaRPr sz="1100"/>
          </a:p>
        </p:txBody>
      </p:sp>
      <p:sp>
        <p:nvSpPr>
          <p:cNvPr id="33" name="Text 31">
            <a:extLst xmlns:a="http://schemas.openxmlformats.org/drawingml/2006/main">
              <a:ext uri="{FF2B5EF4-FFF2-40B4-BE49-F238E27FC236}">
                <a16:creationId xmlns:a16="http://schemas.microsoft.com/office/drawing/2014/main" id="{18D8DED3-A1DE-485C-9C38-7A2FF15BF655}"/>
              </a:ext>
            </a:extLst>
          </p:cNvPr>
          <p:cNvSpPr>
            <a:spLocks xmlns:a="http://schemas.openxmlformats.org/drawingml/2006/main" noGrp="1"/>
          </p:cNvSpPr>
          <p:nvPr/>
        </p:nvSpPr>
        <p:spPr>
          <a:xfrm xmlns:a="http://schemas.openxmlformats.org/drawingml/2006/main">
            <a:off x="7168896" y="296265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Straight-through completion</a:t>
            </a:r>
            <a:endParaRPr sz="940"/>
          </a:p>
        </p:txBody>
      </p:sp>
      <p:sp>
        <p:nvSpPr>
          <p:cNvPr id="34" name="Text 32">
            <a:extLst xmlns:a="http://schemas.openxmlformats.org/drawingml/2006/main">
              <a:ext uri="{FF2B5EF4-FFF2-40B4-BE49-F238E27FC236}">
                <a16:creationId xmlns:a16="http://schemas.microsoft.com/office/drawing/2014/main" id="{1F43E114-CE4E-45F4-AC9A-33551B12D992}"/>
              </a:ext>
            </a:extLst>
          </p:cNvPr>
          <p:cNvSpPr>
            <a:spLocks xmlns:a="http://schemas.openxmlformats.org/drawingml/2006/main" noGrp="1"/>
          </p:cNvSpPr>
          <p:nvPr/>
        </p:nvSpPr>
        <p:spPr>
          <a:xfrm xmlns:a="http://schemas.openxmlformats.org/drawingml/2006/main">
            <a:off x="10369296" y="2926080"/>
            <a:ext cx="1143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300" b="1">
                <a:solidFill>
                  <a:srgbClr val="486581"/>
                </a:solidFill>
                <a:latin typeface="Arial"/>
                <a:ea typeface="Arial"/>
                <a:cs typeface="Arial"/>
              </a:rPr>
              <a:t>72%</a:t>
            </a:r>
            <a:endParaRPr sz="1300"/>
          </a:p>
        </p:txBody>
      </p:sp>
      <p:sp>
        <p:nvSpPr>
          <p:cNvPr id="35" name="Shape 33">
            <a:extLst xmlns:a="http://schemas.openxmlformats.org/drawingml/2006/main">
              <a:ext uri="{FF2B5EF4-FFF2-40B4-BE49-F238E27FC236}">
                <a16:creationId xmlns:a16="http://schemas.microsoft.com/office/drawing/2014/main" id="{FBC545CF-2C02-4795-B2B6-EE28E9B023D5}"/>
              </a:ext>
            </a:extLst>
          </p:cNvPr>
          <p:cNvSpPr>
            <a:spLocks xmlns:a="http://schemas.openxmlformats.org/drawingml/2006/main" noGrp="1"/>
          </p:cNvSpPr>
          <p:nvPr/>
        </p:nvSpPr>
        <p:spPr>
          <a:xfrm xmlns:a="http://schemas.openxmlformats.org/drawingml/2006/main">
            <a:off x="566928" y="334670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605CC18F-9724-4088-BD5A-A5FE65C7AD85}"/>
              </a:ext>
            </a:extLst>
          </p:cNvPr>
          <p:cNvSpPr>
            <a:spLocks xmlns:a="http://schemas.openxmlformats.org/drawingml/2006/main" noGrp="1"/>
          </p:cNvSpPr>
          <p:nvPr/>
        </p:nvSpPr>
        <p:spPr>
          <a:xfrm xmlns:a="http://schemas.openxmlformats.org/drawingml/2006/main">
            <a:off x="566928" y="3346704"/>
            <a:ext cx="11057839" cy="548640"/>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F3BF3448-52A9-4997-8D91-68DF86D0569D}"/>
              </a:ext>
            </a:extLst>
          </p:cNvPr>
          <p:cNvSpPr>
            <a:spLocks xmlns:a="http://schemas.openxmlformats.org/drawingml/2006/main" noGrp="1"/>
          </p:cNvSpPr>
          <p:nvPr/>
        </p:nvSpPr>
        <p:spPr>
          <a:xfrm xmlns:a="http://schemas.openxmlformats.org/drawingml/2006/main">
            <a:off x="676656" y="3511296"/>
            <a:ext cx="2569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Group health insurance</a:t>
            </a:r>
            <a:endParaRPr sz="1000"/>
          </a:p>
        </p:txBody>
      </p:sp>
      <p:sp>
        <p:nvSpPr>
          <p:cNvPr id="38" name="Text 36">
            <a:extLst xmlns:a="http://schemas.openxmlformats.org/drawingml/2006/main">
              <a:ext uri="{FF2B5EF4-FFF2-40B4-BE49-F238E27FC236}">
                <a16:creationId xmlns:a16="http://schemas.microsoft.com/office/drawing/2014/main" id="{D24240E6-17EB-4A00-8E55-22C23071E1B1}"/>
              </a:ext>
            </a:extLst>
          </p:cNvPr>
          <p:cNvSpPr>
            <a:spLocks xmlns:a="http://schemas.openxmlformats.org/drawingml/2006/main" noGrp="1"/>
          </p:cNvSpPr>
          <p:nvPr/>
        </p:nvSpPr>
        <p:spPr>
          <a:xfrm xmlns:a="http://schemas.openxmlformats.org/drawingml/2006/main">
            <a:off x="3557016" y="3511296"/>
            <a:ext cx="1609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Separate legal entity</a:t>
            </a:r>
            <a:endParaRPr sz="940"/>
          </a:p>
        </p:txBody>
      </p:sp>
      <p:sp>
        <p:nvSpPr>
          <p:cNvPr id="39" name="Shape 37">
            <a:extLst xmlns:a="http://schemas.openxmlformats.org/drawingml/2006/main">
              <a:ext uri="{FF2B5EF4-FFF2-40B4-BE49-F238E27FC236}">
                <a16:creationId xmlns:a16="http://schemas.microsoft.com/office/drawing/2014/main" id="{CE60C27F-8182-4191-9B6F-627BD83A314A}"/>
              </a:ext>
            </a:extLst>
          </p:cNvPr>
          <p:cNvSpPr>
            <a:spLocks xmlns:a="http://schemas.openxmlformats.org/drawingml/2006/main" noGrp="1"/>
          </p:cNvSpPr>
          <p:nvPr/>
        </p:nvSpPr>
        <p:spPr>
          <a:xfrm xmlns:a="http://schemas.openxmlformats.org/drawingml/2006/main">
            <a:off x="5385816" y="3493008"/>
            <a:ext cx="685800" cy="237744"/>
          </a:xfrm>
          <a:prstGeom xmlns:a="http://schemas.openxmlformats.org/drawingml/2006/main" prst="roundRect">
            <a:avLst>
              <a:gd name="adj" fmla="val 30769"/>
            </a:avLst>
          </a:prstGeom>
          <a:solidFill xmlns:a="http://schemas.openxmlformats.org/drawingml/2006/main">
            <a:srgbClr val="F3E6E0"/>
          </a:solidFill>
        </p:spPr>
      </p:sp>
      <p:sp>
        <p:nvSpPr>
          <p:cNvPr id="40" name="Text 38">
            <a:extLst xmlns:a="http://schemas.openxmlformats.org/drawingml/2006/main">
              <a:ext uri="{FF2B5EF4-FFF2-40B4-BE49-F238E27FC236}">
                <a16:creationId xmlns:a16="http://schemas.microsoft.com/office/drawing/2014/main" id="{A99428F3-7179-4A3A-B8AE-A32FA5035F6A}"/>
              </a:ext>
            </a:extLst>
          </p:cNvPr>
          <p:cNvSpPr>
            <a:spLocks xmlns:a="http://schemas.openxmlformats.org/drawingml/2006/main" noGrp="1"/>
          </p:cNvSpPr>
          <p:nvPr/>
        </p:nvSpPr>
        <p:spPr>
          <a:xfrm xmlns:a="http://schemas.openxmlformats.org/drawingml/2006/main">
            <a:off x="5385816" y="3525012"/>
            <a:ext cx="68580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CROSS</a:t>
            </a:r>
            <a:endParaRPr sz="820"/>
          </a:p>
        </p:txBody>
      </p:sp>
      <p:sp>
        <p:nvSpPr>
          <p:cNvPr id="41" name="Text 39">
            <a:extLst xmlns:a="http://schemas.openxmlformats.org/drawingml/2006/main">
              <a:ext uri="{FF2B5EF4-FFF2-40B4-BE49-F238E27FC236}">
                <a16:creationId xmlns:a16="http://schemas.microsoft.com/office/drawing/2014/main" id="{759C1009-73D4-46F9-B074-1394254E1490}"/>
              </a:ext>
            </a:extLst>
          </p:cNvPr>
          <p:cNvSpPr>
            <a:spLocks xmlns:a="http://schemas.openxmlformats.org/drawingml/2006/main" noGrp="1"/>
          </p:cNvSpPr>
          <p:nvPr/>
        </p:nvSpPr>
        <p:spPr>
          <a:xfrm xmlns:a="http://schemas.openxmlformats.org/drawingml/2006/main">
            <a:off x="6345936" y="3511296"/>
            <a:ext cx="512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00" b="1">
                <a:solidFill>
                  <a:srgbClr val="102A43"/>
                </a:solidFill>
                <a:latin typeface="Arial"/>
                <a:ea typeface="Arial"/>
                <a:cs typeface="Arial"/>
              </a:rPr>
              <a:t>6</a:t>
            </a:r>
            <a:endParaRPr sz="1100"/>
          </a:p>
        </p:txBody>
      </p:sp>
      <p:sp>
        <p:nvSpPr>
          <p:cNvPr id="42" name="Text 40">
            <a:extLst xmlns:a="http://schemas.openxmlformats.org/drawingml/2006/main">
              <a:ext uri="{FF2B5EF4-FFF2-40B4-BE49-F238E27FC236}">
                <a16:creationId xmlns:a16="http://schemas.microsoft.com/office/drawing/2014/main" id="{B92AE78C-C4AF-49C0-8B93-FCC3BFDBE0BB}"/>
              </a:ext>
            </a:extLst>
          </p:cNvPr>
          <p:cNvSpPr>
            <a:spLocks xmlns:a="http://schemas.openxmlformats.org/drawingml/2006/main" noGrp="1"/>
          </p:cNvSpPr>
          <p:nvPr/>
        </p:nvSpPr>
        <p:spPr>
          <a:xfrm xmlns:a="http://schemas.openxmlformats.org/drawingml/2006/main">
            <a:off x="7168896" y="351129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Offer-to-issued conversion</a:t>
            </a:r>
            <a:endParaRPr sz="940"/>
          </a:p>
        </p:txBody>
      </p:sp>
      <p:sp>
        <p:nvSpPr>
          <p:cNvPr id="43" name="Text 41">
            <a:extLst xmlns:a="http://schemas.openxmlformats.org/drawingml/2006/main">
              <a:ext uri="{FF2B5EF4-FFF2-40B4-BE49-F238E27FC236}">
                <a16:creationId xmlns:a16="http://schemas.microsoft.com/office/drawing/2014/main" id="{E366A969-52FF-4298-9EDD-5D1011009059}"/>
              </a:ext>
            </a:extLst>
          </p:cNvPr>
          <p:cNvSpPr>
            <a:spLocks xmlns:a="http://schemas.openxmlformats.org/drawingml/2006/main" noGrp="1"/>
          </p:cNvSpPr>
          <p:nvPr/>
        </p:nvSpPr>
        <p:spPr>
          <a:xfrm xmlns:a="http://schemas.openxmlformats.org/drawingml/2006/main">
            <a:off x="10369296" y="3474720"/>
            <a:ext cx="1143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300" b="1">
                <a:solidFill>
                  <a:srgbClr val="B04A25"/>
                </a:solidFill>
                <a:latin typeface="Arial"/>
                <a:ea typeface="Arial"/>
                <a:cs typeface="Arial"/>
              </a:rPr>
              <a:t>1.6×</a:t>
            </a:r>
            <a:endParaRPr sz="1300"/>
          </a:p>
        </p:txBody>
      </p:sp>
      <p:sp>
        <p:nvSpPr>
          <p:cNvPr id="44" name="Shape 42">
            <a:extLst xmlns:a="http://schemas.openxmlformats.org/drawingml/2006/main">
              <a:ext uri="{FF2B5EF4-FFF2-40B4-BE49-F238E27FC236}">
                <a16:creationId xmlns:a16="http://schemas.microsoft.com/office/drawing/2014/main" id="{545C2F7C-B2B2-46BC-9A6A-06465B3F520C}"/>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45" name="Text 43">
            <a:extLst xmlns:a="http://schemas.openxmlformats.org/drawingml/2006/main">
              <a:ext uri="{FF2B5EF4-FFF2-40B4-BE49-F238E27FC236}">
                <a16:creationId xmlns:a16="http://schemas.microsoft.com/office/drawing/2014/main" id="{D649A94A-7CFC-4CF8-B7E4-84FD04E30EB7}"/>
              </a:ext>
            </a:extLst>
          </p:cNvPr>
          <p:cNvSpPr>
            <a:spLocks xmlns:a="http://schemas.openxmlformats.org/drawingml/2006/main" noGrp="1"/>
          </p:cNvSpPr>
          <p:nvPr/>
        </p:nvSpPr>
        <p:spPr>
          <a:xfrm xmlns:a="http://schemas.openxmlformats.org/drawingml/2006/main">
            <a:off x="676656" y="4059936"/>
            <a:ext cx="2569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Commercial card application</a:t>
            </a:r>
            <a:endParaRPr sz="1000"/>
          </a:p>
        </p:txBody>
      </p:sp>
      <p:sp>
        <p:nvSpPr>
          <p:cNvPr id="46" name="Text 44">
            <a:extLst xmlns:a="http://schemas.openxmlformats.org/drawingml/2006/main">
              <a:ext uri="{FF2B5EF4-FFF2-40B4-BE49-F238E27FC236}">
                <a16:creationId xmlns:a16="http://schemas.microsoft.com/office/drawing/2014/main" id="{9B2ED66C-EB5B-4237-8244-C40A5AAB0ACC}"/>
              </a:ext>
            </a:extLst>
          </p:cNvPr>
          <p:cNvSpPr>
            <a:spLocks xmlns:a="http://schemas.openxmlformats.org/drawingml/2006/main" noGrp="1"/>
          </p:cNvSpPr>
          <p:nvPr/>
        </p:nvSpPr>
        <p:spPr>
          <a:xfrm xmlns:a="http://schemas.openxmlformats.org/drawingml/2006/main">
            <a:off x="3557016" y="4059936"/>
            <a:ext cx="1609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Customer-state boundary</a:t>
            </a:r>
            <a:endParaRPr sz="940"/>
          </a:p>
        </p:txBody>
      </p:sp>
      <p:sp>
        <p:nvSpPr>
          <p:cNvPr id="47" name="Shape 45">
            <a:extLst xmlns:a="http://schemas.openxmlformats.org/drawingml/2006/main">
              <a:ext uri="{FF2B5EF4-FFF2-40B4-BE49-F238E27FC236}">
                <a16:creationId xmlns:a16="http://schemas.microsoft.com/office/drawing/2014/main" id="{BD5E9573-3A4F-44D8-BC06-C9CCB850FD80}"/>
              </a:ext>
            </a:extLst>
          </p:cNvPr>
          <p:cNvSpPr>
            <a:spLocks xmlns:a="http://schemas.openxmlformats.org/drawingml/2006/main" noGrp="1"/>
          </p:cNvSpPr>
          <p:nvPr/>
        </p:nvSpPr>
        <p:spPr>
          <a:xfrm xmlns:a="http://schemas.openxmlformats.org/drawingml/2006/main">
            <a:off x="5385816" y="4041648"/>
            <a:ext cx="685800" cy="237744"/>
          </a:xfrm>
          <a:prstGeom xmlns:a="http://schemas.openxmlformats.org/drawingml/2006/main" prst="roundRect">
            <a:avLst>
              <a:gd name="adj" fmla="val 30769"/>
            </a:avLst>
          </a:prstGeom>
          <a:solidFill xmlns:a="http://schemas.openxmlformats.org/drawingml/2006/main">
            <a:srgbClr val="F3E6E0"/>
          </a:solidFill>
        </p:spPr>
      </p:sp>
      <p:sp>
        <p:nvSpPr>
          <p:cNvPr id="48" name="Text 46">
            <a:extLst xmlns:a="http://schemas.openxmlformats.org/drawingml/2006/main">
              <a:ext uri="{FF2B5EF4-FFF2-40B4-BE49-F238E27FC236}">
                <a16:creationId xmlns:a16="http://schemas.microsoft.com/office/drawing/2014/main" id="{EE641637-CB87-4464-BB00-A840B42AE8FA}"/>
              </a:ext>
            </a:extLst>
          </p:cNvPr>
          <p:cNvSpPr>
            <a:spLocks xmlns:a="http://schemas.openxmlformats.org/drawingml/2006/main" noGrp="1"/>
          </p:cNvSpPr>
          <p:nvPr/>
        </p:nvSpPr>
        <p:spPr>
          <a:xfrm xmlns:a="http://schemas.openxmlformats.org/drawingml/2006/main">
            <a:off x="5385816" y="4073652"/>
            <a:ext cx="68580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GROW</a:t>
            </a:r>
            <a:endParaRPr sz="820"/>
          </a:p>
        </p:txBody>
      </p:sp>
      <p:sp>
        <p:nvSpPr>
          <p:cNvPr id="49" name="Text 47">
            <a:extLst xmlns:a="http://schemas.openxmlformats.org/drawingml/2006/main">
              <a:ext uri="{FF2B5EF4-FFF2-40B4-BE49-F238E27FC236}">
                <a16:creationId xmlns:a16="http://schemas.microsoft.com/office/drawing/2014/main" id="{33802A48-EAC6-4284-B944-E6C89D53D236}"/>
              </a:ext>
            </a:extLst>
          </p:cNvPr>
          <p:cNvSpPr>
            <a:spLocks xmlns:a="http://schemas.openxmlformats.org/drawingml/2006/main" noGrp="1"/>
          </p:cNvSpPr>
          <p:nvPr/>
        </p:nvSpPr>
        <p:spPr>
          <a:xfrm xmlns:a="http://schemas.openxmlformats.org/drawingml/2006/main">
            <a:off x="6345936" y="4059936"/>
            <a:ext cx="512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00" b="1">
                <a:solidFill>
                  <a:srgbClr val="102A43"/>
                </a:solidFill>
                <a:latin typeface="Arial"/>
                <a:ea typeface="Arial"/>
                <a:cs typeface="Arial"/>
              </a:rPr>
              <a:t>5</a:t>
            </a:r>
            <a:endParaRPr sz="1100"/>
          </a:p>
        </p:txBody>
      </p:sp>
      <p:sp>
        <p:nvSpPr>
          <p:cNvPr id="50" name="Text 48">
            <a:extLst xmlns:a="http://schemas.openxmlformats.org/drawingml/2006/main">
              <a:ext uri="{FF2B5EF4-FFF2-40B4-BE49-F238E27FC236}">
                <a16:creationId xmlns:a16="http://schemas.microsoft.com/office/drawing/2014/main" id="{72BEC65E-D556-43DC-BA6D-34064E5A70A4}"/>
              </a:ext>
            </a:extLst>
          </p:cNvPr>
          <p:cNvSpPr>
            <a:spLocks xmlns:a="http://schemas.openxmlformats.org/drawingml/2006/main" noGrp="1"/>
          </p:cNvSpPr>
          <p:nvPr/>
        </p:nvSpPr>
        <p:spPr>
          <a:xfrm xmlns:a="http://schemas.openxmlformats.org/drawingml/2006/main">
            <a:off x="7168896" y="405993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Completion, ETB vs NTB</a:t>
            </a:r>
            <a:endParaRPr sz="940"/>
          </a:p>
        </p:txBody>
      </p:sp>
      <p:sp>
        <p:nvSpPr>
          <p:cNvPr id="51" name="Text 49">
            <a:extLst xmlns:a="http://schemas.openxmlformats.org/drawingml/2006/main">
              <a:ext uri="{FF2B5EF4-FFF2-40B4-BE49-F238E27FC236}">
                <a16:creationId xmlns:a16="http://schemas.microsoft.com/office/drawing/2014/main" id="{6D485DC3-58F9-4B05-B5B6-63986598238E}"/>
              </a:ext>
            </a:extLst>
          </p:cNvPr>
          <p:cNvSpPr>
            <a:spLocks xmlns:a="http://schemas.openxmlformats.org/drawingml/2006/main" noGrp="1"/>
          </p:cNvSpPr>
          <p:nvPr/>
        </p:nvSpPr>
        <p:spPr>
          <a:xfrm xmlns:a="http://schemas.openxmlformats.org/drawingml/2006/main">
            <a:off x="10369296" y="4023360"/>
            <a:ext cx="1143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300" b="1">
                <a:solidFill>
                  <a:srgbClr val="B04A25"/>
                </a:solidFill>
                <a:latin typeface="Arial"/>
                <a:ea typeface="Arial"/>
                <a:cs typeface="Arial"/>
              </a:rPr>
              <a:t>71 / 43%</a:t>
            </a:r>
            <a:endParaRPr sz="1300"/>
          </a:p>
        </p:txBody>
      </p:sp>
      <p:sp>
        <p:nvSpPr>
          <p:cNvPr id="52" name="Shape 50">
            <a:extLst xmlns:a="http://schemas.openxmlformats.org/drawingml/2006/main">
              <a:ext uri="{FF2B5EF4-FFF2-40B4-BE49-F238E27FC236}">
                <a16:creationId xmlns:a16="http://schemas.microsoft.com/office/drawing/2014/main" id="{53AEF7E0-E3DF-428C-A9B0-5D01D8240B8F}"/>
              </a:ext>
            </a:extLst>
          </p:cNvPr>
          <p:cNvSpPr>
            <a:spLocks xmlns:a="http://schemas.openxmlformats.org/drawingml/2006/main" noGrp="1"/>
          </p:cNvSpPr>
          <p:nvPr/>
        </p:nvSpPr>
        <p:spPr>
          <a:xfrm xmlns:a="http://schemas.openxmlformats.org/drawingml/2006/main">
            <a:off x="566928" y="4443984"/>
            <a:ext cx="11057839" cy="7315"/>
          </a:xfrm>
          <a:prstGeom xmlns:a="http://schemas.openxmlformats.org/drawingml/2006/main" prst="rect">
            <a:avLst/>
          </a:prstGeom>
          <a:solidFill xmlns:a="http://schemas.openxmlformats.org/drawingml/2006/main">
            <a:srgbClr val="CBD5E0"/>
          </a:solidFill>
        </p:spPr>
      </p:sp>
      <p:sp>
        <p:nvSpPr>
          <p:cNvPr id="53" name="Shape 51">
            <a:extLst xmlns:a="http://schemas.openxmlformats.org/drawingml/2006/main">
              <a:ext uri="{FF2B5EF4-FFF2-40B4-BE49-F238E27FC236}">
                <a16:creationId xmlns:a16="http://schemas.microsoft.com/office/drawing/2014/main" id="{95B6E50C-A16B-4983-A6BE-E1A11770EA03}"/>
              </a:ext>
            </a:extLst>
          </p:cNvPr>
          <p:cNvSpPr>
            <a:spLocks xmlns:a="http://schemas.openxmlformats.org/drawingml/2006/main" noGrp="1"/>
          </p:cNvSpPr>
          <p:nvPr/>
        </p:nvSpPr>
        <p:spPr>
          <a:xfrm xmlns:a="http://schemas.openxmlformats.org/drawingml/2006/main">
            <a:off x="566928" y="4443984"/>
            <a:ext cx="11057839" cy="548640"/>
          </a:xfrm>
          <a:prstGeom xmlns:a="http://schemas.openxmlformats.org/drawingml/2006/main" prst="rect">
            <a:avLst/>
          </a:prstGeom>
          <a:solidFill xmlns:a="http://schemas.openxmlformats.org/drawingml/2006/main">
            <a:srgbClr val="F7F9FB"/>
          </a:solidFill>
        </p:spPr>
      </p:sp>
      <p:sp>
        <p:nvSpPr>
          <p:cNvPr id="54" name="Text 52">
            <a:extLst xmlns:a="http://schemas.openxmlformats.org/drawingml/2006/main">
              <a:ext uri="{FF2B5EF4-FFF2-40B4-BE49-F238E27FC236}">
                <a16:creationId xmlns:a16="http://schemas.microsoft.com/office/drawing/2014/main" id="{E5CF2434-6356-4DA1-AF2C-1EC6C2AC3408}"/>
              </a:ext>
            </a:extLst>
          </p:cNvPr>
          <p:cNvSpPr>
            <a:spLocks xmlns:a="http://schemas.openxmlformats.org/drawingml/2006/main" noGrp="1"/>
          </p:cNvSpPr>
          <p:nvPr/>
        </p:nvSpPr>
        <p:spPr>
          <a:xfrm xmlns:a="http://schemas.openxmlformats.org/drawingml/2006/main">
            <a:off x="676656" y="4608576"/>
            <a:ext cx="2569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Beneficial ownership declaration</a:t>
            </a:r>
            <a:endParaRPr sz="1000"/>
          </a:p>
        </p:txBody>
      </p:sp>
      <p:sp>
        <p:nvSpPr>
          <p:cNvPr id="55" name="Text 53">
            <a:extLst xmlns:a="http://schemas.openxmlformats.org/drawingml/2006/main">
              <a:ext uri="{FF2B5EF4-FFF2-40B4-BE49-F238E27FC236}">
                <a16:creationId xmlns:a16="http://schemas.microsoft.com/office/drawing/2014/main" id="{7AFB0E49-4696-4061-979E-2C24C5D9A3A8}"/>
              </a:ext>
            </a:extLst>
          </p:cNvPr>
          <p:cNvSpPr>
            <a:spLocks xmlns:a="http://schemas.openxmlformats.org/drawingml/2006/main" noGrp="1"/>
          </p:cNvSpPr>
          <p:nvPr/>
        </p:nvSpPr>
        <p:spPr>
          <a:xfrm xmlns:a="http://schemas.openxmlformats.org/drawingml/2006/main">
            <a:off x="3557016" y="4608576"/>
            <a:ext cx="1609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Regulatory obligation</a:t>
            </a:r>
            <a:endParaRPr sz="940"/>
          </a:p>
        </p:txBody>
      </p:sp>
      <p:sp>
        <p:nvSpPr>
          <p:cNvPr id="56" name="Shape 54">
            <a:extLst xmlns:a="http://schemas.openxmlformats.org/drawingml/2006/main">
              <a:ext uri="{FF2B5EF4-FFF2-40B4-BE49-F238E27FC236}">
                <a16:creationId xmlns:a16="http://schemas.microsoft.com/office/drawing/2014/main" id="{F41A52A8-DFC2-4A0A-ADF3-B4C3EA645DFB}"/>
              </a:ext>
            </a:extLst>
          </p:cNvPr>
          <p:cNvSpPr>
            <a:spLocks xmlns:a="http://schemas.openxmlformats.org/drawingml/2006/main" noGrp="1"/>
          </p:cNvSpPr>
          <p:nvPr/>
        </p:nvSpPr>
        <p:spPr>
          <a:xfrm xmlns:a="http://schemas.openxmlformats.org/drawingml/2006/main">
            <a:off x="5385816" y="4590288"/>
            <a:ext cx="685800" cy="237744"/>
          </a:xfrm>
          <a:prstGeom xmlns:a="http://schemas.openxmlformats.org/drawingml/2006/main" prst="roundRect">
            <a:avLst>
              <a:gd name="adj" fmla="val 30769"/>
            </a:avLst>
          </a:prstGeom>
          <a:solidFill xmlns:a="http://schemas.openxmlformats.org/drawingml/2006/main">
            <a:srgbClr val="E3EAF2"/>
          </a:solidFill>
        </p:spPr>
      </p:sp>
      <p:sp>
        <p:nvSpPr>
          <p:cNvPr id="57" name="Text 55">
            <a:extLst xmlns:a="http://schemas.openxmlformats.org/drawingml/2006/main">
              <a:ext uri="{FF2B5EF4-FFF2-40B4-BE49-F238E27FC236}">
                <a16:creationId xmlns:a16="http://schemas.microsoft.com/office/drawing/2014/main" id="{04878457-626F-4A64-8867-C1F84D8413F4}"/>
              </a:ext>
            </a:extLst>
          </p:cNvPr>
          <p:cNvSpPr>
            <a:spLocks xmlns:a="http://schemas.openxmlformats.org/drawingml/2006/main" noGrp="1"/>
          </p:cNvSpPr>
          <p:nvPr/>
        </p:nvSpPr>
        <p:spPr>
          <a:xfrm xmlns:a="http://schemas.openxmlformats.org/drawingml/2006/main">
            <a:off x="5385816" y="4622292"/>
            <a:ext cx="685800"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COMPLY</a:t>
            </a:r>
            <a:endParaRPr sz="820"/>
          </a:p>
        </p:txBody>
      </p:sp>
      <p:sp>
        <p:nvSpPr>
          <p:cNvPr id="58" name="Text 56">
            <a:extLst xmlns:a="http://schemas.openxmlformats.org/drawingml/2006/main">
              <a:ext uri="{FF2B5EF4-FFF2-40B4-BE49-F238E27FC236}">
                <a16:creationId xmlns:a16="http://schemas.microsoft.com/office/drawing/2014/main" id="{4274D346-AA3B-47E0-AF9D-0FD1EF8165FF}"/>
              </a:ext>
            </a:extLst>
          </p:cNvPr>
          <p:cNvSpPr>
            <a:spLocks xmlns:a="http://schemas.openxmlformats.org/drawingml/2006/main" noGrp="1"/>
          </p:cNvSpPr>
          <p:nvPr/>
        </p:nvSpPr>
        <p:spPr>
          <a:xfrm xmlns:a="http://schemas.openxmlformats.org/drawingml/2006/main">
            <a:off x="6345936" y="4608576"/>
            <a:ext cx="512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100" b="1">
                <a:solidFill>
                  <a:srgbClr val="102A43"/>
                </a:solidFill>
                <a:latin typeface="Arial"/>
                <a:ea typeface="Arial"/>
                <a:cs typeface="Arial"/>
              </a:rPr>
              <a:t>4</a:t>
            </a:r>
            <a:endParaRPr sz="1100"/>
          </a:p>
        </p:txBody>
      </p:sp>
      <p:sp>
        <p:nvSpPr>
          <p:cNvPr id="59" name="Text 57">
            <a:extLst xmlns:a="http://schemas.openxmlformats.org/drawingml/2006/main">
              <a:ext uri="{FF2B5EF4-FFF2-40B4-BE49-F238E27FC236}">
                <a16:creationId xmlns:a16="http://schemas.microsoft.com/office/drawing/2014/main" id="{1F033B3B-8315-4ACB-8F18-46198CA90A9F}"/>
              </a:ext>
            </a:extLst>
          </p:cNvPr>
          <p:cNvSpPr>
            <a:spLocks xmlns:a="http://schemas.openxmlformats.org/drawingml/2006/main" noGrp="1"/>
          </p:cNvSpPr>
          <p:nvPr/>
        </p:nvSpPr>
        <p:spPr>
          <a:xfrm xmlns:a="http://schemas.openxmlformats.org/drawingml/2006/main">
            <a:off x="7168896" y="460857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Self-declaration coverage</a:t>
            </a:r>
            <a:endParaRPr sz="940"/>
          </a:p>
        </p:txBody>
      </p:sp>
      <p:sp>
        <p:nvSpPr>
          <p:cNvPr id="60" name="Text 58">
            <a:extLst xmlns:a="http://schemas.openxmlformats.org/drawingml/2006/main">
              <a:ext uri="{FF2B5EF4-FFF2-40B4-BE49-F238E27FC236}">
                <a16:creationId xmlns:a16="http://schemas.microsoft.com/office/drawing/2014/main" id="{4CFF220A-BCDB-46B5-B5D2-904AB3B29932}"/>
              </a:ext>
            </a:extLst>
          </p:cNvPr>
          <p:cNvSpPr>
            <a:spLocks xmlns:a="http://schemas.openxmlformats.org/drawingml/2006/main" noGrp="1"/>
          </p:cNvSpPr>
          <p:nvPr/>
        </p:nvSpPr>
        <p:spPr>
          <a:xfrm xmlns:a="http://schemas.openxmlformats.org/drawingml/2006/main">
            <a:off x="10369296" y="4572000"/>
            <a:ext cx="1143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300" b="1">
                <a:solidFill>
                  <a:srgbClr val="486581"/>
                </a:solidFill>
                <a:latin typeface="Arial"/>
                <a:ea typeface="Arial"/>
                <a:cs typeface="Arial"/>
              </a:rPr>
              <a:t>68%</a:t>
            </a:r>
            <a:endParaRPr sz="1300"/>
          </a:p>
        </p:txBody>
      </p:sp>
      <p:sp>
        <p:nvSpPr>
          <p:cNvPr id="61" name="Shape 59">
            <a:extLst xmlns:a="http://schemas.openxmlformats.org/drawingml/2006/main">
              <a:ext uri="{FF2B5EF4-FFF2-40B4-BE49-F238E27FC236}">
                <a16:creationId xmlns:a16="http://schemas.microsoft.com/office/drawing/2014/main" id="{971C8F56-18A8-4011-B9E1-C1FACFBD03F0}"/>
              </a:ext>
            </a:extLst>
          </p:cNvPr>
          <p:cNvSpPr>
            <a:spLocks xmlns:a="http://schemas.openxmlformats.org/drawingml/2006/main" noGrp="1"/>
          </p:cNvSpPr>
          <p:nvPr/>
        </p:nvSpPr>
        <p:spPr>
          <a:xfrm xmlns:a="http://schemas.openxmlformats.org/drawingml/2006/main">
            <a:off x="566928" y="4992624"/>
            <a:ext cx="11057839" cy="7315"/>
          </a:xfrm>
          <a:prstGeom xmlns:a="http://schemas.openxmlformats.org/drawingml/2006/main" prst="rect">
            <a:avLst/>
          </a:prstGeom>
          <a:solidFill xmlns:a="http://schemas.openxmlformats.org/drawingml/2006/main">
            <a:srgbClr val="CBD5E0"/>
          </a:solidFill>
        </p:spPr>
      </p:sp>
      <p:sp>
        <p:nvSpPr>
          <p:cNvPr id="62" name="Shape 60">
            <a:extLst xmlns:a="http://schemas.openxmlformats.org/drawingml/2006/main">
              <a:ext uri="{FF2B5EF4-FFF2-40B4-BE49-F238E27FC236}">
                <a16:creationId xmlns:a16="http://schemas.microsoft.com/office/drawing/2014/main" id="{3100FA41-C79A-4F04-9AE7-06B37383A40C}"/>
              </a:ext>
            </a:extLst>
          </p:cNvPr>
          <p:cNvSpPr>
            <a:spLocks xmlns:a="http://schemas.openxmlformats.org/drawingml/2006/main" noGrp="1"/>
          </p:cNvSpPr>
          <p:nvPr/>
        </p:nvSpPr>
        <p:spPr>
          <a:xfrm xmlns:a="http://schemas.openxmlformats.org/drawingml/2006/main">
            <a:off x="566928" y="5266944"/>
            <a:ext cx="5391760" cy="1207008"/>
          </a:xfrm>
          <a:prstGeom xmlns:a="http://schemas.openxmlformats.org/drawingml/2006/main" prst="rect">
            <a:avLst/>
          </a:prstGeom>
          <a:solidFill xmlns:a="http://schemas.openxmlformats.org/drawingml/2006/main">
            <a:srgbClr val="F0F4F8"/>
          </a:solidFill>
        </p:spPr>
      </p:sp>
      <p:sp>
        <p:nvSpPr>
          <p:cNvPr id="63" name="Text 61">
            <a:extLst xmlns:a="http://schemas.openxmlformats.org/drawingml/2006/main">
              <a:ext uri="{FF2B5EF4-FFF2-40B4-BE49-F238E27FC236}">
                <a16:creationId xmlns:a16="http://schemas.microsoft.com/office/drawing/2014/main" id="{5156E4F9-D372-41BD-A5A8-61DBB7393213}"/>
              </a:ext>
            </a:extLst>
          </p:cNvPr>
          <p:cNvSpPr>
            <a:spLocks xmlns:a="http://schemas.openxmlformats.org/drawingml/2006/main" noGrp="1"/>
          </p:cNvSpPr>
          <p:nvPr/>
        </p:nvSpPr>
        <p:spPr>
          <a:xfrm xmlns:a="http://schemas.openxmlformats.org/drawingml/2006/main">
            <a:off x="786384" y="541324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The common requirement</a:t>
            </a:r>
            <a:endParaRPr sz="1250"/>
          </a:p>
        </p:txBody>
      </p:sp>
      <p:sp>
        <p:nvSpPr>
          <p:cNvPr id="64" name="Text 62">
            <a:extLst xmlns:a="http://schemas.openxmlformats.org/drawingml/2006/main">
              <a:ext uri="{FF2B5EF4-FFF2-40B4-BE49-F238E27FC236}">
                <a16:creationId xmlns:a16="http://schemas.microsoft.com/office/drawing/2014/main" id="{D78F1727-74B5-4182-A62A-8D7682673FA4}"/>
              </a:ext>
            </a:extLst>
          </p:cNvPr>
          <p:cNvSpPr>
            <a:spLocks xmlns:a="http://schemas.openxmlformats.org/drawingml/2006/main" noGrp="1"/>
          </p:cNvSpPr>
          <p:nvPr/>
        </p:nvSpPr>
        <p:spPr>
          <a:xfrm xmlns:a="http://schemas.openxmlformats.org/drawingml/2006/main">
            <a:off x="786384" y="5705856"/>
            <a:ext cx="495284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80">
                <a:solidFill>
                  <a:srgbClr val="486581"/>
                </a:solidFill>
                <a:latin typeface="Arial"/>
                <a:ea typeface="Arial"/>
                <a:cs typeface="Arial"/>
              </a:rPr>
              <a:t>Six different failure modes — but behind every one: prove who the customer is, capture consent, handle documents, track state, and survive an audit. That shared 80% is what justified building the spine before the second journey.</a:t>
            </a:r>
            <a:endParaRPr sz="980"/>
          </a:p>
        </p:txBody>
      </p:sp>
      <p:sp>
        <p:nvSpPr>
          <p:cNvPr id="65" name="Shape 63">
            <a:extLst xmlns:a="http://schemas.openxmlformats.org/drawingml/2006/main">
              <a:ext uri="{FF2B5EF4-FFF2-40B4-BE49-F238E27FC236}">
                <a16:creationId xmlns:a16="http://schemas.microsoft.com/office/drawing/2014/main" id="{4E8C3B65-3A56-4CC2-99D6-09785C45139C}"/>
              </a:ext>
            </a:extLst>
          </p:cNvPr>
          <p:cNvSpPr>
            <a:spLocks xmlns:a="http://schemas.openxmlformats.org/drawingml/2006/main" noGrp="1"/>
          </p:cNvSpPr>
          <p:nvPr/>
        </p:nvSpPr>
        <p:spPr>
          <a:xfrm xmlns:a="http://schemas.openxmlformats.org/drawingml/2006/main">
            <a:off x="6233008" y="5266944"/>
            <a:ext cx="5391760" cy="1207008"/>
          </a:xfrm>
          <a:prstGeom xmlns:a="http://schemas.openxmlformats.org/drawingml/2006/main" prst="rect">
            <a:avLst/>
          </a:prstGeom>
          <a:solidFill xmlns:a="http://schemas.openxmlformats.org/drawingml/2006/main">
            <a:srgbClr val="F3E6E0"/>
          </a:solidFill>
        </p:spPr>
      </p:sp>
      <p:sp>
        <p:nvSpPr>
          <p:cNvPr id="66" name="Text 64">
            <a:extLst xmlns:a="http://schemas.openxmlformats.org/drawingml/2006/main">
              <a:ext uri="{FF2B5EF4-FFF2-40B4-BE49-F238E27FC236}">
                <a16:creationId xmlns:a16="http://schemas.microsoft.com/office/drawing/2014/main" id="{5A6493C4-6E73-4FFC-BFB1-608083BB1344}"/>
              </a:ext>
            </a:extLst>
          </p:cNvPr>
          <p:cNvSpPr>
            <a:spLocks xmlns:a="http://schemas.openxmlformats.org/drawingml/2006/main" noGrp="1"/>
          </p:cNvSpPr>
          <p:nvPr/>
        </p:nvSpPr>
        <p:spPr>
          <a:xfrm xmlns:a="http://schemas.openxmlformats.org/drawingml/2006/main">
            <a:off x="6452464" y="541324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Sequencing rationale</a:t>
            </a:r>
            <a:endParaRPr sz="1250"/>
          </a:p>
        </p:txBody>
      </p:sp>
      <p:sp>
        <p:nvSpPr>
          <p:cNvPr id="67" name="Text 65">
            <a:extLst xmlns:a="http://schemas.openxmlformats.org/drawingml/2006/main">
              <a:ext uri="{FF2B5EF4-FFF2-40B4-BE49-F238E27FC236}">
                <a16:creationId xmlns:a16="http://schemas.microsoft.com/office/drawing/2014/main" id="{4F105968-239A-4829-8013-662509AD1274}"/>
              </a:ext>
            </a:extLst>
          </p:cNvPr>
          <p:cNvSpPr>
            <a:spLocks xmlns:a="http://schemas.openxmlformats.org/drawingml/2006/main" noGrp="1"/>
          </p:cNvSpPr>
          <p:nvPr/>
        </p:nvSpPr>
        <p:spPr>
          <a:xfrm xmlns:a="http://schemas.openxmlformats.org/drawingml/2006/main">
            <a:off x="6452464" y="5705856"/>
            <a:ext cx="4952848"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80">
                <a:solidFill>
                  <a:srgbClr val="1A1A1A"/>
                </a:solidFill>
                <a:latin typeface="Arial"/>
                <a:ea typeface="Arial"/>
                <a:cs typeface="Arial"/>
              </a:rPr>
              <a:t>The three SERVE and COMPLY journeys shipped first: lower approval load, faster to production, and they proved the shared spine in a live environment — which is what earned the assurance capacity the two revenue journeys needed.</a:t>
            </a:r>
            <a:endParaRPr sz="980"/>
          </a:p>
        </p:txBody>
      </p:sp>
      <p:sp>
        <p:nvSpPr>
          <p:cNvPr id="68" name="Shape 66">
            <a:extLst xmlns:a="http://schemas.openxmlformats.org/drawingml/2006/main">
              <a:ext uri="{FF2B5EF4-FFF2-40B4-BE49-F238E27FC236}">
                <a16:creationId xmlns:a16="http://schemas.microsoft.com/office/drawing/2014/main" id="{36B8920A-178B-4F68-BFA4-67388AEABD1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69" name="Text 67">
            <a:extLst xmlns:a="http://schemas.openxmlformats.org/drawingml/2006/main">
              <a:ext uri="{FF2B5EF4-FFF2-40B4-BE49-F238E27FC236}">
                <a16:creationId xmlns:a16="http://schemas.microsoft.com/office/drawing/2014/main" id="{F7EB5817-3990-4BA0-B668-7924BE09D86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 · targets from the value model (slide 15)</a:t>
            </a:r>
            <a:endParaRPr sz="850"/>
          </a:p>
        </p:txBody>
      </p:sp>
      <p:sp>
        <p:nvSpPr>
          <p:cNvPr id="70" name="Text 68">
            <a:extLst xmlns:a="http://schemas.openxmlformats.org/drawingml/2006/main">
              <a:ext uri="{FF2B5EF4-FFF2-40B4-BE49-F238E27FC236}">
                <a16:creationId xmlns:a16="http://schemas.microsoft.com/office/drawing/2014/main" id="{4D590341-7E9B-460D-9C03-09A5A5A3294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53716800"/>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D376FF5-3F5E-4BD5-BA36-6D96F3D5B4D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USE-CASE INVENTORY</a:t>
            </a:r>
            <a:endParaRPr sz="950"/>
          </a:p>
        </p:txBody>
      </p:sp>
      <p:sp>
        <p:nvSpPr>
          <p:cNvPr id="3" name="Text 1">
            <a:extLst xmlns:a="http://schemas.openxmlformats.org/drawingml/2006/main">
              <a:ext uri="{FF2B5EF4-FFF2-40B4-BE49-F238E27FC236}">
                <a16:creationId xmlns:a16="http://schemas.microsoft.com/office/drawing/2014/main" id="{0F778937-4251-4A32-A601-8A638BB7B6E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Thirty-five use cases were delivered across the six journeys — and 28 of them</a:t>
            </a:r>
            <a:endParaRPr sz="1900"/>
          </a:p>
          <a:p xmlns:a="http://schemas.openxmlformats.org/drawingml/2006/main">
            <a:pPr marL="0" indent="0">
              <a:lnSpc>
                <a:spcPts val="2400"/>
              </a:lnSpc>
              <a:buNone/>
            </a:pPr>
            <a:r>
              <a:rPr sz="1900" b="1">
                <a:solidFill>
                  <a:srgbClr val="102A43"/>
                </a:solidFill>
                <a:latin typeface="Arial"/>
                <a:ea typeface="Arial"/>
                <a:cs typeface="Arial"/>
              </a:rPr>
              <a:t>reused the spine without adding a single new shared component</a:t>
            </a:r>
            <a:endParaRPr sz="1900"/>
          </a:p>
        </p:txBody>
      </p:sp>
      <p:sp>
        <p:nvSpPr>
          <p:cNvPr id="4" name="Shape 2">
            <a:extLst xmlns:a="http://schemas.openxmlformats.org/drawingml/2006/main">
              <a:ext uri="{FF2B5EF4-FFF2-40B4-BE49-F238E27FC236}">
                <a16:creationId xmlns:a16="http://schemas.microsoft.com/office/drawing/2014/main" id="{6049CB55-9132-4967-87B0-1B4CCDB101DB}"/>
              </a:ext>
            </a:extLst>
          </p:cNvPr>
          <p:cNvSpPr>
            <a:spLocks xmlns:a="http://schemas.openxmlformats.org/drawingml/2006/main" noGrp="1"/>
          </p:cNvSpPr>
          <p:nvPr/>
        </p:nvSpPr>
        <p:spPr>
          <a:xfrm xmlns:a="http://schemas.openxmlformats.org/drawingml/2006/main">
            <a:off x="566928" y="1335024"/>
            <a:ext cx="1751533" cy="352958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635CF1DE-0680-4DBE-9BB3-4AAFF61D085D}"/>
              </a:ext>
            </a:extLst>
          </p:cNvPr>
          <p:cNvSpPr>
            <a:spLocks xmlns:a="http://schemas.openxmlformats.org/drawingml/2006/main" noGrp="1"/>
          </p:cNvSpPr>
          <p:nvPr/>
        </p:nvSpPr>
        <p:spPr>
          <a:xfrm xmlns:a="http://schemas.openxmlformats.org/drawingml/2006/main">
            <a:off x="713232" y="1481328"/>
            <a:ext cx="14589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Account funding</a:t>
            </a:r>
            <a:endParaRPr sz="1000"/>
          </a:p>
          <a:p xmlns:a="http://schemas.openxmlformats.org/drawingml/2006/main">
            <a:pPr marL="0" indent="0">
              <a:lnSpc>
                <a:spcPts val="1200"/>
              </a:lnSpc>
              <a:buNone/>
            </a:pPr>
            <a:r>
              <a:rPr sz="1000" b="1">
                <a:solidFill>
                  <a:srgbClr val="B04A25"/>
                </a:solidFill>
                <a:latin typeface="Arial"/>
                <a:ea typeface="Arial"/>
                <a:cs typeface="Arial"/>
              </a:rPr>
              <a:t>5 use cases</a:t>
            </a:r>
            <a:endParaRPr sz="1000"/>
          </a:p>
        </p:txBody>
      </p:sp>
      <p:sp>
        <p:nvSpPr>
          <p:cNvPr id="6" name="Shape 4">
            <a:extLst xmlns:a="http://schemas.openxmlformats.org/drawingml/2006/main">
              <a:ext uri="{FF2B5EF4-FFF2-40B4-BE49-F238E27FC236}">
                <a16:creationId xmlns:a16="http://schemas.microsoft.com/office/drawing/2014/main" id="{60CF498B-A312-4593-9FEB-7EE282879A10}"/>
              </a:ext>
            </a:extLst>
          </p:cNvPr>
          <p:cNvSpPr>
            <a:spLocks xmlns:a="http://schemas.openxmlformats.org/drawingml/2006/main" noGrp="1"/>
          </p:cNvSpPr>
          <p:nvPr/>
        </p:nvSpPr>
        <p:spPr>
          <a:xfrm xmlns:a="http://schemas.openxmlformats.org/drawingml/2006/main">
            <a:off x="713232" y="1956816"/>
            <a:ext cx="1458925" cy="20117"/>
          </a:xfrm>
          <a:prstGeom xmlns:a="http://schemas.openxmlformats.org/drawingml/2006/main" prst="rect">
            <a:avLst/>
          </a:prstGeom>
          <a:solidFill xmlns:a="http://schemas.openxmlformats.org/drawingml/2006/main">
            <a:srgbClr val="B04A25"/>
          </a:solidFill>
        </p:spPr>
      </p:sp>
      <p:sp>
        <p:nvSpPr>
          <p:cNvPr id="7" name="Text 5">
            <a:extLst xmlns:a="http://schemas.openxmlformats.org/drawingml/2006/main">
              <a:ext uri="{FF2B5EF4-FFF2-40B4-BE49-F238E27FC236}">
                <a16:creationId xmlns:a16="http://schemas.microsoft.com/office/drawing/2014/main" id="{97429B5B-7859-499D-8B43-FCE298FD61A1}"/>
              </a:ext>
            </a:extLst>
          </p:cNvPr>
          <p:cNvSpPr>
            <a:spLocks xmlns:a="http://schemas.openxmlformats.org/drawingml/2006/main" noGrp="1"/>
          </p:cNvSpPr>
          <p:nvPr/>
        </p:nvSpPr>
        <p:spPr>
          <a:xfrm xmlns:a="http://schemas.openxmlformats.org/drawingml/2006/main">
            <a:off x="713232" y="2084832"/>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External bank account</a:t>
            </a:r>
            <a:endParaRPr sz="840"/>
          </a:p>
        </p:txBody>
      </p:sp>
      <p:sp>
        <p:nvSpPr>
          <p:cNvPr id="8" name="Text 6">
            <a:extLst xmlns:a="http://schemas.openxmlformats.org/drawingml/2006/main">
              <a:ext uri="{FF2B5EF4-FFF2-40B4-BE49-F238E27FC236}">
                <a16:creationId xmlns:a16="http://schemas.microsoft.com/office/drawing/2014/main" id="{D94F83D5-E12E-4152-BBB1-E1ECE8E02423}"/>
              </a:ext>
            </a:extLst>
          </p:cNvPr>
          <p:cNvSpPr>
            <a:spLocks xmlns:a="http://schemas.openxmlformats.org/drawingml/2006/main" noGrp="1"/>
          </p:cNvSpPr>
          <p:nvPr/>
        </p:nvSpPr>
        <p:spPr>
          <a:xfrm xmlns:a="http://schemas.openxmlformats.org/drawingml/2006/main">
            <a:off x="713232" y="2272650"/>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Internal holding</a:t>
            </a:r>
            <a:endParaRPr sz="840"/>
          </a:p>
        </p:txBody>
      </p:sp>
      <p:sp>
        <p:nvSpPr>
          <p:cNvPr id="9" name="Text 7">
            <a:extLst xmlns:a="http://schemas.openxmlformats.org/drawingml/2006/main">
              <a:ext uri="{FF2B5EF4-FFF2-40B4-BE49-F238E27FC236}">
                <a16:creationId xmlns:a16="http://schemas.microsoft.com/office/drawing/2014/main" id="{482D3783-8BAA-49B3-9179-A1BCAE494964}"/>
              </a:ext>
            </a:extLst>
          </p:cNvPr>
          <p:cNvSpPr>
            <a:spLocks xmlns:a="http://schemas.openxmlformats.org/drawingml/2006/main" noGrp="1"/>
          </p:cNvSpPr>
          <p:nvPr/>
        </p:nvSpPr>
        <p:spPr>
          <a:xfrm xmlns:a="http://schemas.openxmlformats.org/drawingml/2006/main">
            <a:off x="713232" y="2460468"/>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Card funding</a:t>
            </a:r>
            <a:endParaRPr sz="840"/>
          </a:p>
        </p:txBody>
      </p:sp>
      <p:sp>
        <p:nvSpPr>
          <p:cNvPr id="10" name="Text 8">
            <a:extLst xmlns:a="http://schemas.openxmlformats.org/drawingml/2006/main">
              <a:ext uri="{FF2B5EF4-FFF2-40B4-BE49-F238E27FC236}">
                <a16:creationId xmlns:a16="http://schemas.microsoft.com/office/drawing/2014/main" id="{F527061D-83C1-4F39-94D6-4F960C09B13E}"/>
              </a:ext>
            </a:extLst>
          </p:cNvPr>
          <p:cNvSpPr>
            <a:spLocks xmlns:a="http://schemas.openxmlformats.org/drawingml/2006/main" noGrp="1"/>
          </p:cNvSpPr>
          <p:nvPr/>
        </p:nvSpPr>
        <p:spPr>
          <a:xfrm xmlns:a="http://schemas.openxmlformats.org/drawingml/2006/main">
            <a:off x="713232" y="2648285"/>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Scheduled first funding</a:t>
            </a:r>
            <a:endParaRPr sz="840"/>
          </a:p>
        </p:txBody>
      </p:sp>
      <p:sp>
        <p:nvSpPr>
          <p:cNvPr id="11" name="Text 9">
            <a:extLst xmlns:a="http://schemas.openxmlformats.org/drawingml/2006/main">
              <a:ext uri="{FF2B5EF4-FFF2-40B4-BE49-F238E27FC236}">
                <a16:creationId xmlns:a16="http://schemas.microsoft.com/office/drawing/2014/main" id="{84E55821-9AD5-4EAB-80FD-39C33A528A6B}"/>
              </a:ext>
            </a:extLst>
          </p:cNvPr>
          <p:cNvSpPr>
            <a:spLocks xmlns:a="http://schemas.openxmlformats.org/drawingml/2006/main" noGrp="1"/>
          </p:cNvSpPr>
          <p:nvPr/>
        </p:nvSpPr>
        <p:spPr>
          <a:xfrm xmlns:a="http://schemas.openxmlformats.org/drawingml/2006/main">
            <a:off x="713232" y="2836103"/>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Reversal and retry</a:t>
            </a:r>
            <a:endParaRPr sz="840"/>
          </a:p>
        </p:txBody>
      </p:sp>
      <p:sp>
        <p:nvSpPr>
          <p:cNvPr id="12" name="Shape 10">
            <a:extLst xmlns:a="http://schemas.openxmlformats.org/drawingml/2006/main">
              <a:ext uri="{FF2B5EF4-FFF2-40B4-BE49-F238E27FC236}">
                <a16:creationId xmlns:a16="http://schemas.microsoft.com/office/drawing/2014/main" id="{7CE0DD50-BA58-4DE2-92AE-5E4EB6F5887C}"/>
              </a:ext>
            </a:extLst>
          </p:cNvPr>
          <p:cNvSpPr>
            <a:spLocks xmlns:a="http://schemas.openxmlformats.org/drawingml/2006/main" noGrp="1"/>
          </p:cNvSpPr>
          <p:nvPr/>
        </p:nvSpPr>
        <p:spPr>
          <a:xfrm xmlns:a="http://schemas.openxmlformats.org/drawingml/2006/main">
            <a:off x="2428189" y="1335024"/>
            <a:ext cx="1751533" cy="3529584"/>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2E4DE737-9C46-4B6C-8873-B8275AA16EF6}"/>
              </a:ext>
            </a:extLst>
          </p:cNvPr>
          <p:cNvSpPr>
            <a:spLocks xmlns:a="http://schemas.openxmlformats.org/drawingml/2006/main" noGrp="1"/>
          </p:cNvSpPr>
          <p:nvPr/>
        </p:nvSpPr>
        <p:spPr>
          <a:xfrm xmlns:a="http://schemas.openxmlformats.org/drawingml/2006/main">
            <a:off x="2574493" y="1481328"/>
            <a:ext cx="14589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Loan servicing self-help</a:t>
            </a:r>
            <a:endParaRPr sz="1000"/>
          </a:p>
          <a:p xmlns:a="http://schemas.openxmlformats.org/drawingml/2006/main">
            <a:pPr marL="0" indent="0">
              <a:lnSpc>
                <a:spcPts val="1200"/>
              </a:lnSpc>
              <a:buNone/>
            </a:pPr>
            <a:r>
              <a:rPr sz="1000" b="1">
                <a:solidFill>
                  <a:srgbClr val="486581"/>
                </a:solidFill>
                <a:latin typeface="Arial"/>
                <a:ea typeface="Arial"/>
                <a:cs typeface="Arial"/>
              </a:rPr>
              <a:t>11 use cases</a:t>
            </a:r>
            <a:endParaRPr sz="1000"/>
          </a:p>
        </p:txBody>
      </p:sp>
      <p:sp>
        <p:nvSpPr>
          <p:cNvPr id="14" name="Shape 12">
            <a:extLst xmlns:a="http://schemas.openxmlformats.org/drawingml/2006/main">
              <a:ext uri="{FF2B5EF4-FFF2-40B4-BE49-F238E27FC236}">
                <a16:creationId xmlns:a16="http://schemas.microsoft.com/office/drawing/2014/main" id="{7A254F7D-1AA8-4689-A937-7785085B53A1}"/>
              </a:ext>
            </a:extLst>
          </p:cNvPr>
          <p:cNvSpPr>
            <a:spLocks xmlns:a="http://schemas.openxmlformats.org/drawingml/2006/main" noGrp="1"/>
          </p:cNvSpPr>
          <p:nvPr/>
        </p:nvSpPr>
        <p:spPr>
          <a:xfrm xmlns:a="http://schemas.openxmlformats.org/drawingml/2006/main">
            <a:off x="2574493" y="1956816"/>
            <a:ext cx="1458925" cy="20117"/>
          </a:xfrm>
          <a:prstGeom xmlns:a="http://schemas.openxmlformats.org/drawingml/2006/main" prst="rect">
            <a:avLst/>
          </a:prstGeom>
          <a:solidFill xmlns:a="http://schemas.openxmlformats.org/drawingml/2006/main">
            <a:srgbClr val="486581"/>
          </a:solidFill>
        </p:spPr>
      </p:sp>
      <p:sp>
        <p:nvSpPr>
          <p:cNvPr id="15" name="Text 13">
            <a:extLst xmlns:a="http://schemas.openxmlformats.org/drawingml/2006/main">
              <a:ext uri="{FF2B5EF4-FFF2-40B4-BE49-F238E27FC236}">
                <a16:creationId xmlns:a16="http://schemas.microsoft.com/office/drawing/2014/main" id="{EF6108BA-CC39-4D85-96FC-F72C3118A6CF}"/>
              </a:ext>
            </a:extLst>
          </p:cNvPr>
          <p:cNvSpPr>
            <a:spLocks xmlns:a="http://schemas.openxmlformats.org/drawingml/2006/main" noGrp="1"/>
          </p:cNvSpPr>
          <p:nvPr/>
        </p:nvSpPr>
        <p:spPr>
          <a:xfrm xmlns:a="http://schemas.openxmlformats.org/drawingml/2006/main">
            <a:off x="2574493" y="2084832"/>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Statement / summary</a:t>
            </a:r>
            <a:endParaRPr sz="840"/>
          </a:p>
        </p:txBody>
      </p:sp>
      <p:sp>
        <p:nvSpPr>
          <p:cNvPr id="16" name="Text 14">
            <a:extLst xmlns:a="http://schemas.openxmlformats.org/drawingml/2006/main">
              <a:ext uri="{FF2B5EF4-FFF2-40B4-BE49-F238E27FC236}">
                <a16:creationId xmlns:a16="http://schemas.microsoft.com/office/drawing/2014/main" id="{36EC3E3C-4D1A-4972-8497-0A5C1F68B3A6}"/>
              </a:ext>
            </a:extLst>
          </p:cNvPr>
          <p:cNvSpPr>
            <a:spLocks xmlns:a="http://schemas.openxmlformats.org/drawingml/2006/main" noGrp="1"/>
          </p:cNvSpPr>
          <p:nvPr/>
        </p:nvSpPr>
        <p:spPr>
          <a:xfrm xmlns:a="http://schemas.openxmlformats.org/drawingml/2006/main">
            <a:off x="2574493" y="2272650"/>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Interest certificate</a:t>
            </a:r>
            <a:endParaRPr sz="840"/>
          </a:p>
        </p:txBody>
      </p:sp>
      <p:sp>
        <p:nvSpPr>
          <p:cNvPr id="17" name="Text 15">
            <a:extLst xmlns:a="http://schemas.openxmlformats.org/drawingml/2006/main">
              <a:ext uri="{FF2B5EF4-FFF2-40B4-BE49-F238E27FC236}">
                <a16:creationId xmlns:a16="http://schemas.microsoft.com/office/drawing/2014/main" id="{8F19ED8E-5F5E-49FD-827B-D6724ABF93C0}"/>
              </a:ext>
            </a:extLst>
          </p:cNvPr>
          <p:cNvSpPr>
            <a:spLocks xmlns:a="http://schemas.openxmlformats.org/drawingml/2006/main" noGrp="1"/>
          </p:cNvSpPr>
          <p:nvPr/>
        </p:nvSpPr>
        <p:spPr>
          <a:xfrm xmlns:a="http://schemas.openxmlformats.org/drawingml/2006/main">
            <a:off x="2574493" y="2460468"/>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Repayment schedule</a:t>
            </a:r>
            <a:endParaRPr sz="840"/>
          </a:p>
        </p:txBody>
      </p:sp>
      <p:sp>
        <p:nvSpPr>
          <p:cNvPr id="18" name="Text 16">
            <a:extLst xmlns:a="http://schemas.openxmlformats.org/drawingml/2006/main">
              <a:ext uri="{FF2B5EF4-FFF2-40B4-BE49-F238E27FC236}">
                <a16:creationId xmlns:a16="http://schemas.microsoft.com/office/drawing/2014/main" id="{D0FA794D-A6DA-489D-98D7-D8AC65B05115}"/>
              </a:ext>
            </a:extLst>
          </p:cNvPr>
          <p:cNvSpPr>
            <a:spLocks xmlns:a="http://schemas.openxmlformats.org/drawingml/2006/main" noGrp="1"/>
          </p:cNvSpPr>
          <p:nvPr/>
        </p:nvSpPr>
        <p:spPr>
          <a:xfrm xmlns:a="http://schemas.openxmlformats.org/drawingml/2006/main">
            <a:off x="2574493" y="2648285"/>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EMI date change</a:t>
            </a:r>
            <a:endParaRPr sz="840"/>
          </a:p>
        </p:txBody>
      </p:sp>
      <p:sp>
        <p:nvSpPr>
          <p:cNvPr id="19" name="Text 17">
            <a:extLst xmlns:a="http://schemas.openxmlformats.org/drawingml/2006/main">
              <a:ext uri="{FF2B5EF4-FFF2-40B4-BE49-F238E27FC236}">
                <a16:creationId xmlns:a16="http://schemas.microsoft.com/office/drawing/2014/main" id="{A63D362D-83B4-4590-B2B0-411EE3405461}"/>
              </a:ext>
            </a:extLst>
          </p:cNvPr>
          <p:cNvSpPr>
            <a:spLocks xmlns:a="http://schemas.openxmlformats.org/drawingml/2006/main" noGrp="1"/>
          </p:cNvSpPr>
          <p:nvPr/>
        </p:nvSpPr>
        <p:spPr>
          <a:xfrm xmlns:a="http://schemas.openxmlformats.org/drawingml/2006/main">
            <a:off x="2574493" y="2836103"/>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Part-prepayment quote</a:t>
            </a:r>
            <a:endParaRPr sz="840"/>
          </a:p>
        </p:txBody>
      </p:sp>
      <p:sp>
        <p:nvSpPr>
          <p:cNvPr id="20" name="Text 18">
            <a:extLst xmlns:a="http://schemas.openxmlformats.org/drawingml/2006/main">
              <a:ext uri="{FF2B5EF4-FFF2-40B4-BE49-F238E27FC236}">
                <a16:creationId xmlns:a16="http://schemas.microsoft.com/office/drawing/2014/main" id="{C9ADF938-CE82-48B5-B44F-EC2BD2367BCA}"/>
              </a:ext>
            </a:extLst>
          </p:cNvPr>
          <p:cNvSpPr>
            <a:spLocks xmlns:a="http://schemas.openxmlformats.org/drawingml/2006/main" noGrp="1"/>
          </p:cNvSpPr>
          <p:nvPr/>
        </p:nvSpPr>
        <p:spPr>
          <a:xfrm xmlns:a="http://schemas.openxmlformats.org/drawingml/2006/main">
            <a:off x="2574493" y="3023921"/>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Foreclosure quote</a:t>
            </a:r>
            <a:endParaRPr sz="840"/>
          </a:p>
        </p:txBody>
      </p:sp>
      <p:sp>
        <p:nvSpPr>
          <p:cNvPr id="21" name="Text 19">
            <a:extLst xmlns:a="http://schemas.openxmlformats.org/drawingml/2006/main">
              <a:ext uri="{FF2B5EF4-FFF2-40B4-BE49-F238E27FC236}">
                <a16:creationId xmlns:a16="http://schemas.microsoft.com/office/drawing/2014/main" id="{F855C53E-D082-4435-9F33-A65F10912228}"/>
              </a:ext>
            </a:extLst>
          </p:cNvPr>
          <p:cNvSpPr>
            <a:spLocks xmlns:a="http://schemas.openxmlformats.org/drawingml/2006/main" noGrp="1"/>
          </p:cNvSpPr>
          <p:nvPr/>
        </p:nvSpPr>
        <p:spPr>
          <a:xfrm xmlns:a="http://schemas.openxmlformats.org/drawingml/2006/main">
            <a:off x="2574493" y="3211739"/>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No-objection certificate</a:t>
            </a:r>
            <a:endParaRPr sz="840"/>
          </a:p>
        </p:txBody>
      </p:sp>
      <p:sp>
        <p:nvSpPr>
          <p:cNvPr id="22" name="Text 20">
            <a:extLst xmlns:a="http://schemas.openxmlformats.org/drawingml/2006/main">
              <a:ext uri="{FF2B5EF4-FFF2-40B4-BE49-F238E27FC236}">
                <a16:creationId xmlns:a16="http://schemas.microsoft.com/office/drawing/2014/main" id="{4DE6B58F-79CE-4C93-931C-E80B874B3314}"/>
              </a:ext>
            </a:extLst>
          </p:cNvPr>
          <p:cNvSpPr>
            <a:spLocks xmlns:a="http://schemas.openxmlformats.org/drawingml/2006/main" noGrp="1"/>
          </p:cNvSpPr>
          <p:nvPr/>
        </p:nvSpPr>
        <p:spPr>
          <a:xfrm xmlns:a="http://schemas.openxmlformats.org/drawingml/2006/main">
            <a:off x="2574493" y="3399556"/>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Auto-debit mandate</a:t>
            </a:r>
            <a:endParaRPr sz="840"/>
          </a:p>
        </p:txBody>
      </p:sp>
      <p:sp>
        <p:nvSpPr>
          <p:cNvPr id="23" name="Text 21">
            <a:extLst xmlns:a="http://schemas.openxmlformats.org/drawingml/2006/main">
              <a:ext uri="{FF2B5EF4-FFF2-40B4-BE49-F238E27FC236}">
                <a16:creationId xmlns:a16="http://schemas.microsoft.com/office/drawing/2014/main" id="{2C77EB39-F4ED-4C2E-8949-8D634F91B24B}"/>
              </a:ext>
            </a:extLst>
          </p:cNvPr>
          <p:cNvSpPr>
            <a:spLocks xmlns:a="http://schemas.openxmlformats.org/drawingml/2006/main" noGrp="1"/>
          </p:cNvSpPr>
          <p:nvPr/>
        </p:nvSpPr>
        <p:spPr>
          <a:xfrm xmlns:a="http://schemas.openxmlformats.org/drawingml/2006/main">
            <a:off x="2574493" y="3587374"/>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Contact / address update</a:t>
            </a:r>
            <a:endParaRPr sz="840"/>
          </a:p>
        </p:txBody>
      </p:sp>
      <p:sp>
        <p:nvSpPr>
          <p:cNvPr id="24" name="Text 22">
            <a:extLst xmlns:a="http://schemas.openxmlformats.org/drawingml/2006/main">
              <a:ext uri="{FF2B5EF4-FFF2-40B4-BE49-F238E27FC236}">
                <a16:creationId xmlns:a16="http://schemas.microsoft.com/office/drawing/2014/main" id="{65A71C6F-0CDC-46C5-8B89-AD37EB1316F5}"/>
              </a:ext>
            </a:extLst>
          </p:cNvPr>
          <p:cNvSpPr>
            <a:spLocks xmlns:a="http://schemas.openxmlformats.org/drawingml/2006/main" noGrp="1"/>
          </p:cNvSpPr>
          <p:nvPr/>
        </p:nvSpPr>
        <p:spPr>
          <a:xfrm xmlns:a="http://schemas.openxmlformats.org/drawingml/2006/main">
            <a:off x="2574493" y="3775192"/>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Disbursement status</a:t>
            </a:r>
            <a:endParaRPr sz="840"/>
          </a:p>
        </p:txBody>
      </p:sp>
      <p:sp>
        <p:nvSpPr>
          <p:cNvPr id="25" name="Text 23">
            <a:extLst xmlns:a="http://schemas.openxmlformats.org/drawingml/2006/main">
              <a:ext uri="{FF2B5EF4-FFF2-40B4-BE49-F238E27FC236}">
                <a16:creationId xmlns:a16="http://schemas.microsoft.com/office/drawing/2014/main" id="{CF310F99-A39B-49E7-99CF-18C04C9EF967}"/>
              </a:ext>
            </a:extLst>
          </p:cNvPr>
          <p:cNvSpPr>
            <a:spLocks xmlns:a="http://schemas.openxmlformats.org/drawingml/2006/main" noGrp="1"/>
          </p:cNvSpPr>
          <p:nvPr/>
        </p:nvSpPr>
        <p:spPr>
          <a:xfrm xmlns:a="http://schemas.openxmlformats.org/drawingml/2006/main">
            <a:off x="2574493" y="3963010"/>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Charges and penalties</a:t>
            </a:r>
            <a:endParaRPr sz="840"/>
          </a:p>
        </p:txBody>
      </p:sp>
      <p:sp>
        <p:nvSpPr>
          <p:cNvPr id="26" name="Shape 24">
            <a:extLst xmlns:a="http://schemas.openxmlformats.org/drawingml/2006/main">
              <a:ext uri="{FF2B5EF4-FFF2-40B4-BE49-F238E27FC236}">
                <a16:creationId xmlns:a16="http://schemas.microsoft.com/office/drawing/2014/main" id="{EC74C8E7-BA0A-4757-985E-A340206E654A}"/>
              </a:ext>
            </a:extLst>
          </p:cNvPr>
          <p:cNvSpPr>
            <a:spLocks xmlns:a="http://schemas.openxmlformats.org/drawingml/2006/main" noGrp="1"/>
          </p:cNvSpPr>
          <p:nvPr/>
        </p:nvSpPr>
        <p:spPr>
          <a:xfrm xmlns:a="http://schemas.openxmlformats.org/drawingml/2006/main">
            <a:off x="4289450" y="1335024"/>
            <a:ext cx="1751533" cy="352958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F23FBFD6-F55D-4CC9-B34B-9F49AE71CAAE}"/>
              </a:ext>
            </a:extLst>
          </p:cNvPr>
          <p:cNvSpPr>
            <a:spLocks xmlns:a="http://schemas.openxmlformats.org/drawingml/2006/main" noGrp="1"/>
          </p:cNvSpPr>
          <p:nvPr/>
        </p:nvSpPr>
        <p:spPr>
          <a:xfrm xmlns:a="http://schemas.openxmlformats.org/drawingml/2006/main">
            <a:off x="4435754" y="1481328"/>
            <a:ext cx="14589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Depository KYC</a:t>
            </a:r>
            <a:endParaRPr sz="1000"/>
          </a:p>
          <a:p xmlns:a="http://schemas.openxmlformats.org/drawingml/2006/main">
            <a:pPr marL="0" indent="0">
              <a:lnSpc>
                <a:spcPts val="1200"/>
              </a:lnSpc>
              <a:buNone/>
            </a:pPr>
            <a:r>
              <a:rPr sz="1000" b="1">
                <a:solidFill>
                  <a:srgbClr val="486581"/>
                </a:solidFill>
                <a:latin typeface="Arial"/>
                <a:ea typeface="Arial"/>
                <a:cs typeface="Arial"/>
              </a:rPr>
              <a:t>4 use cases</a:t>
            </a:r>
            <a:endParaRPr sz="1000"/>
          </a:p>
        </p:txBody>
      </p:sp>
      <p:sp>
        <p:nvSpPr>
          <p:cNvPr id="28" name="Shape 26">
            <a:extLst xmlns:a="http://schemas.openxmlformats.org/drawingml/2006/main">
              <a:ext uri="{FF2B5EF4-FFF2-40B4-BE49-F238E27FC236}">
                <a16:creationId xmlns:a16="http://schemas.microsoft.com/office/drawing/2014/main" id="{4F614AD7-3077-4CF3-B1B7-719D429C8408}"/>
              </a:ext>
            </a:extLst>
          </p:cNvPr>
          <p:cNvSpPr>
            <a:spLocks xmlns:a="http://schemas.openxmlformats.org/drawingml/2006/main" noGrp="1"/>
          </p:cNvSpPr>
          <p:nvPr/>
        </p:nvSpPr>
        <p:spPr>
          <a:xfrm xmlns:a="http://schemas.openxmlformats.org/drawingml/2006/main">
            <a:off x="4435754" y="1956816"/>
            <a:ext cx="1458925" cy="20117"/>
          </a:xfrm>
          <a:prstGeom xmlns:a="http://schemas.openxmlformats.org/drawingml/2006/main" prst="rect">
            <a:avLst/>
          </a:prstGeom>
          <a:solidFill xmlns:a="http://schemas.openxmlformats.org/drawingml/2006/main">
            <a:srgbClr val="486581"/>
          </a:solidFill>
        </p:spPr>
      </p:sp>
      <p:sp>
        <p:nvSpPr>
          <p:cNvPr id="29" name="Text 27">
            <a:extLst xmlns:a="http://schemas.openxmlformats.org/drawingml/2006/main">
              <a:ext uri="{FF2B5EF4-FFF2-40B4-BE49-F238E27FC236}">
                <a16:creationId xmlns:a16="http://schemas.microsoft.com/office/drawing/2014/main" id="{06186F72-054F-4EC4-BFAD-D296A4362577}"/>
              </a:ext>
            </a:extLst>
          </p:cNvPr>
          <p:cNvSpPr>
            <a:spLocks xmlns:a="http://schemas.openxmlformats.org/drawingml/2006/main" noGrp="1"/>
          </p:cNvSpPr>
          <p:nvPr/>
        </p:nvSpPr>
        <p:spPr>
          <a:xfrm xmlns:a="http://schemas.openxmlformats.org/drawingml/2006/main">
            <a:off x="4435754" y="2084832"/>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Address and contact</a:t>
            </a:r>
            <a:endParaRPr sz="840"/>
          </a:p>
        </p:txBody>
      </p:sp>
      <p:sp>
        <p:nvSpPr>
          <p:cNvPr id="30" name="Text 28">
            <a:extLst xmlns:a="http://schemas.openxmlformats.org/drawingml/2006/main">
              <a:ext uri="{FF2B5EF4-FFF2-40B4-BE49-F238E27FC236}">
                <a16:creationId xmlns:a16="http://schemas.microsoft.com/office/drawing/2014/main" id="{18DA2D36-42FD-451F-951B-6D226A6DC471}"/>
              </a:ext>
            </a:extLst>
          </p:cNvPr>
          <p:cNvSpPr>
            <a:spLocks xmlns:a="http://schemas.openxmlformats.org/drawingml/2006/main" noGrp="1"/>
          </p:cNvSpPr>
          <p:nvPr/>
        </p:nvSpPr>
        <p:spPr>
          <a:xfrm xmlns:a="http://schemas.openxmlformats.org/drawingml/2006/main">
            <a:off x="4435754" y="2272650"/>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Bank mandate re-linking</a:t>
            </a:r>
            <a:endParaRPr sz="840"/>
          </a:p>
        </p:txBody>
      </p:sp>
      <p:sp>
        <p:nvSpPr>
          <p:cNvPr id="31" name="Text 29">
            <a:extLst xmlns:a="http://schemas.openxmlformats.org/drawingml/2006/main">
              <a:ext uri="{FF2B5EF4-FFF2-40B4-BE49-F238E27FC236}">
                <a16:creationId xmlns:a16="http://schemas.microsoft.com/office/drawing/2014/main" id="{064083E1-99BB-49B0-B41F-CC1A2C2CA5F4}"/>
              </a:ext>
            </a:extLst>
          </p:cNvPr>
          <p:cNvSpPr>
            <a:spLocks xmlns:a="http://schemas.openxmlformats.org/drawingml/2006/main" noGrp="1"/>
          </p:cNvSpPr>
          <p:nvPr/>
        </p:nvSpPr>
        <p:spPr>
          <a:xfrm xmlns:a="http://schemas.openxmlformats.org/drawingml/2006/main">
            <a:off x="4435754" y="2460468"/>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Nominee update</a:t>
            </a:r>
            <a:endParaRPr sz="840"/>
          </a:p>
        </p:txBody>
      </p:sp>
      <p:sp>
        <p:nvSpPr>
          <p:cNvPr id="32" name="Text 30">
            <a:extLst xmlns:a="http://schemas.openxmlformats.org/drawingml/2006/main">
              <a:ext uri="{FF2B5EF4-FFF2-40B4-BE49-F238E27FC236}">
                <a16:creationId xmlns:a16="http://schemas.microsoft.com/office/drawing/2014/main" id="{D2C0586A-31DA-46F4-979A-5F7DA6626047}"/>
              </a:ext>
            </a:extLst>
          </p:cNvPr>
          <p:cNvSpPr>
            <a:spLocks xmlns:a="http://schemas.openxmlformats.org/drawingml/2006/main" noGrp="1"/>
          </p:cNvSpPr>
          <p:nvPr/>
        </p:nvSpPr>
        <p:spPr>
          <a:xfrm xmlns:a="http://schemas.openxmlformats.org/drawingml/2006/main">
            <a:off x="4435754" y="2648285"/>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Periodic re-KYC refresh</a:t>
            </a:r>
            <a:endParaRPr sz="840"/>
          </a:p>
        </p:txBody>
      </p:sp>
      <p:sp>
        <p:nvSpPr>
          <p:cNvPr id="33" name="Shape 31">
            <a:extLst xmlns:a="http://schemas.openxmlformats.org/drawingml/2006/main">
              <a:ext uri="{FF2B5EF4-FFF2-40B4-BE49-F238E27FC236}">
                <a16:creationId xmlns:a16="http://schemas.microsoft.com/office/drawing/2014/main" id="{1B1D7BFD-DED4-4E6A-BA9B-C23D01A98E15}"/>
              </a:ext>
            </a:extLst>
          </p:cNvPr>
          <p:cNvSpPr>
            <a:spLocks xmlns:a="http://schemas.openxmlformats.org/drawingml/2006/main" noGrp="1"/>
          </p:cNvSpPr>
          <p:nvPr/>
        </p:nvSpPr>
        <p:spPr>
          <a:xfrm xmlns:a="http://schemas.openxmlformats.org/drawingml/2006/main">
            <a:off x="6150712" y="1335024"/>
            <a:ext cx="1751533" cy="3529584"/>
          </a:xfrm>
          <a:prstGeom xmlns:a="http://schemas.openxmlformats.org/drawingml/2006/main" prst="rect">
            <a:avLst/>
          </a:prstGeom>
          <a:solidFill xmlns:a="http://schemas.openxmlformats.org/drawingml/2006/main">
            <a:srgbClr val="F3E6E0"/>
          </a:solidFill>
        </p:spPr>
      </p:sp>
      <p:sp>
        <p:nvSpPr>
          <p:cNvPr id="34" name="Text 32">
            <a:extLst xmlns:a="http://schemas.openxmlformats.org/drawingml/2006/main">
              <a:ext uri="{FF2B5EF4-FFF2-40B4-BE49-F238E27FC236}">
                <a16:creationId xmlns:a16="http://schemas.microsoft.com/office/drawing/2014/main" id="{7CD88E7B-2190-4744-B93F-8987701EEA66}"/>
              </a:ext>
            </a:extLst>
          </p:cNvPr>
          <p:cNvSpPr>
            <a:spLocks xmlns:a="http://schemas.openxmlformats.org/drawingml/2006/main" noGrp="1"/>
          </p:cNvSpPr>
          <p:nvPr/>
        </p:nvSpPr>
        <p:spPr>
          <a:xfrm xmlns:a="http://schemas.openxmlformats.org/drawingml/2006/main">
            <a:off x="6297016" y="1481328"/>
            <a:ext cx="14589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Group health insurance</a:t>
            </a:r>
            <a:endParaRPr sz="1000"/>
          </a:p>
          <a:p xmlns:a="http://schemas.openxmlformats.org/drawingml/2006/main">
            <a:pPr marL="0" indent="0">
              <a:lnSpc>
                <a:spcPts val="1200"/>
              </a:lnSpc>
              <a:buNone/>
            </a:pPr>
            <a:r>
              <a:rPr sz="1000" b="1">
                <a:solidFill>
                  <a:srgbClr val="B04A25"/>
                </a:solidFill>
                <a:latin typeface="Arial"/>
                <a:ea typeface="Arial"/>
                <a:cs typeface="Arial"/>
              </a:rPr>
              <a:t>6 use cases</a:t>
            </a:r>
            <a:endParaRPr sz="1000"/>
          </a:p>
        </p:txBody>
      </p:sp>
      <p:sp>
        <p:nvSpPr>
          <p:cNvPr id="35" name="Shape 33">
            <a:extLst xmlns:a="http://schemas.openxmlformats.org/drawingml/2006/main">
              <a:ext uri="{FF2B5EF4-FFF2-40B4-BE49-F238E27FC236}">
                <a16:creationId xmlns:a16="http://schemas.microsoft.com/office/drawing/2014/main" id="{EFFC4FC3-2A2B-4033-93F4-385CE3C7F132}"/>
              </a:ext>
            </a:extLst>
          </p:cNvPr>
          <p:cNvSpPr>
            <a:spLocks xmlns:a="http://schemas.openxmlformats.org/drawingml/2006/main" noGrp="1"/>
          </p:cNvSpPr>
          <p:nvPr/>
        </p:nvSpPr>
        <p:spPr>
          <a:xfrm xmlns:a="http://schemas.openxmlformats.org/drawingml/2006/main">
            <a:off x="6297016" y="1956816"/>
            <a:ext cx="1458925" cy="20117"/>
          </a:xfrm>
          <a:prstGeom xmlns:a="http://schemas.openxmlformats.org/drawingml/2006/main" prst="rect">
            <a:avLst/>
          </a:prstGeom>
          <a:solidFill xmlns:a="http://schemas.openxmlformats.org/drawingml/2006/main">
            <a:srgbClr val="B04A25"/>
          </a:solidFill>
        </p:spPr>
      </p:sp>
      <p:sp>
        <p:nvSpPr>
          <p:cNvPr id="36" name="Text 34">
            <a:extLst xmlns:a="http://schemas.openxmlformats.org/drawingml/2006/main">
              <a:ext uri="{FF2B5EF4-FFF2-40B4-BE49-F238E27FC236}">
                <a16:creationId xmlns:a16="http://schemas.microsoft.com/office/drawing/2014/main" id="{B5F133B8-D5E2-4225-B392-6CA8B257AF8E}"/>
              </a:ext>
            </a:extLst>
          </p:cNvPr>
          <p:cNvSpPr>
            <a:spLocks xmlns:a="http://schemas.openxmlformats.org/drawingml/2006/main" noGrp="1"/>
          </p:cNvSpPr>
          <p:nvPr/>
        </p:nvSpPr>
        <p:spPr>
          <a:xfrm xmlns:a="http://schemas.openxmlformats.org/drawingml/2006/main">
            <a:off x="6297016" y="2084832"/>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Eligibility screening</a:t>
            </a:r>
            <a:endParaRPr sz="840"/>
          </a:p>
        </p:txBody>
      </p:sp>
      <p:sp>
        <p:nvSpPr>
          <p:cNvPr id="37" name="Text 35">
            <a:extLst xmlns:a="http://schemas.openxmlformats.org/drawingml/2006/main">
              <a:ext uri="{FF2B5EF4-FFF2-40B4-BE49-F238E27FC236}">
                <a16:creationId xmlns:a16="http://schemas.microsoft.com/office/drawing/2014/main" id="{046CC9B3-BBF2-4788-9D20-55F13538FDB1}"/>
              </a:ext>
            </a:extLst>
          </p:cNvPr>
          <p:cNvSpPr>
            <a:spLocks xmlns:a="http://schemas.openxmlformats.org/drawingml/2006/main" noGrp="1"/>
          </p:cNvSpPr>
          <p:nvPr/>
        </p:nvSpPr>
        <p:spPr>
          <a:xfrm xmlns:a="http://schemas.openxmlformats.org/drawingml/2006/main">
            <a:off x="6297016" y="2272650"/>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Product and cover</a:t>
            </a:r>
            <a:endParaRPr sz="840"/>
          </a:p>
        </p:txBody>
      </p:sp>
      <p:sp>
        <p:nvSpPr>
          <p:cNvPr id="38" name="Text 36">
            <a:extLst xmlns:a="http://schemas.openxmlformats.org/drawingml/2006/main">
              <a:ext uri="{FF2B5EF4-FFF2-40B4-BE49-F238E27FC236}">
                <a16:creationId xmlns:a16="http://schemas.microsoft.com/office/drawing/2014/main" id="{B730BD0C-BF3B-4F34-8921-EAF00AF06B37}"/>
              </a:ext>
            </a:extLst>
          </p:cNvPr>
          <p:cNvSpPr>
            <a:spLocks xmlns:a="http://schemas.openxmlformats.org/drawingml/2006/main" noGrp="1"/>
          </p:cNvSpPr>
          <p:nvPr/>
        </p:nvSpPr>
        <p:spPr>
          <a:xfrm xmlns:a="http://schemas.openxmlformats.org/drawingml/2006/main">
            <a:off x="6297016" y="2460468"/>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Cross-entity consent</a:t>
            </a:r>
            <a:endParaRPr sz="840"/>
          </a:p>
        </p:txBody>
      </p:sp>
      <p:sp>
        <p:nvSpPr>
          <p:cNvPr id="39" name="Text 37">
            <a:extLst xmlns:a="http://schemas.openxmlformats.org/drawingml/2006/main">
              <a:ext uri="{FF2B5EF4-FFF2-40B4-BE49-F238E27FC236}">
                <a16:creationId xmlns:a16="http://schemas.microsoft.com/office/drawing/2014/main" id="{1619DC4F-9322-42F6-80F0-05FFF3856421}"/>
              </a:ext>
            </a:extLst>
          </p:cNvPr>
          <p:cNvSpPr>
            <a:spLocks xmlns:a="http://schemas.openxmlformats.org/drawingml/2006/main" noGrp="1"/>
          </p:cNvSpPr>
          <p:nvPr/>
        </p:nvSpPr>
        <p:spPr>
          <a:xfrm xmlns:a="http://schemas.openxmlformats.org/drawingml/2006/main">
            <a:off x="6297016" y="2648285"/>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Dependant enrolment</a:t>
            </a:r>
            <a:endParaRPr sz="840"/>
          </a:p>
        </p:txBody>
      </p:sp>
      <p:sp>
        <p:nvSpPr>
          <p:cNvPr id="40" name="Text 38">
            <a:extLst xmlns:a="http://schemas.openxmlformats.org/drawingml/2006/main">
              <a:ext uri="{FF2B5EF4-FFF2-40B4-BE49-F238E27FC236}">
                <a16:creationId xmlns:a16="http://schemas.microsoft.com/office/drawing/2014/main" id="{25B8F92A-8AD4-4F8F-B4B3-02E873488E00}"/>
              </a:ext>
            </a:extLst>
          </p:cNvPr>
          <p:cNvSpPr>
            <a:spLocks xmlns:a="http://schemas.openxmlformats.org/drawingml/2006/main" noGrp="1"/>
          </p:cNvSpPr>
          <p:nvPr/>
        </p:nvSpPr>
        <p:spPr>
          <a:xfrm xmlns:a="http://schemas.openxmlformats.org/drawingml/2006/main">
            <a:off x="6297016" y="2836103"/>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Premium and issuance</a:t>
            </a:r>
            <a:endParaRPr sz="840"/>
          </a:p>
        </p:txBody>
      </p:sp>
      <p:sp>
        <p:nvSpPr>
          <p:cNvPr id="41" name="Text 39">
            <a:extLst xmlns:a="http://schemas.openxmlformats.org/drawingml/2006/main">
              <a:ext uri="{FF2B5EF4-FFF2-40B4-BE49-F238E27FC236}">
                <a16:creationId xmlns:a16="http://schemas.microsoft.com/office/drawing/2014/main" id="{1D043186-78E1-4924-AD7A-5294DBB1A0AF}"/>
              </a:ext>
            </a:extLst>
          </p:cNvPr>
          <p:cNvSpPr>
            <a:spLocks xmlns:a="http://schemas.openxmlformats.org/drawingml/2006/main" noGrp="1"/>
          </p:cNvSpPr>
          <p:nvPr/>
        </p:nvSpPr>
        <p:spPr>
          <a:xfrm xmlns:a="http://schemas.openxmlformats.org/drawingml/2006/main">
            <a:off x="6297016" y="3023921"/>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Post-issue servicing</a:t>
            </a:r>
            <a:endParaRPr sz="840"/>
          </a:p>
        </p:txBody>
      </p:sp>
      <p:sp>
        <p:nvSpPr>
          <p:cNvPr id="42" name="Shape 40">
            <a:extLst xmlns:a="http://schemas.openxmlformats.org/drawingml/2006/main">
              <a:ext uri="{FF2B5EF4-FFF2-40B4-BE49-F238E27FC236}">
                <a16:creationId xmlns:a16="http://schemas.microsoft.com/office/drawing/2014/main" id="{09236E18-407C-4E34-8881-E3B411EFD307}"/>
              </a:ext>
            </a:extLst>
          </p:cNvPr>
          <p:cNvSpPr>
            <a:spLocks xmlns:a="http://schemas.openxmlformats.org/drawingml/2006/main" noGrp="1"/>
          </p:cNvSpPr>
          <p:nvPr/>
        </p:nvSpPr>
        <p:spPr>
          <a:xfrm xmlns:a="http://schemas.openxmlformats.org/drawingml/2006/main">
            <a:off x="8011973" y="1335024"/>
            <a:ext cx="1751533" cy="3529584"/>
          </a:xfrm>
          <a:prstGeom xmlns:a="http://schemas.openxmlformats.org/drawingml/2006/main" prst="rect">
            <a:avLst/>
          </a:prstGeom>
          <a:solidFill xmlns:a="http://schemas.openxmlformats.org/drawingml/2006/main">
            <a:srgbClr val="F3E6E0"/>
          </a:solidFill>
        </p:spPr>
      </p:sp>
      <p:sp>
        <p:nvSpPr>
          <p:cNvPr id="43" name="Text 41">
            <a:extLst xmlns:a="http://schemas.openxmlformats.org/drawingml/2006/main">
              <a:ext uri="{FF2B5EF4-FFF2-40B4-BE49-F238E27FC236}">
                <a16:creationId xmlns:a16="http://schemas.microsoft.com/office/drawing/2014/main" id="{CD2A0497-4C4E-4536-93B6-64A383CA7224}"/>
              </a:ext>
            </a:extLst>
          </p:cNvPr>
          <p:cNvSpPr>
            <a:spLocks xmlns:a="http://schemas.openxmlformats.org/drawingml/2006/main" noGrp="1"/>
          </p:cNvSpPr>
          <p:nvPr/>
        </p:nvSpPr>
        <p:spPr>
          <a:xfrm xmlns:a="http://schemas.openxmlformats.org/drawingml/2006/main">
            <a:off x="8158277" y="1481328"/>
            <a:ext cx="14589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Commercial card</a:t>
            </a:r>
            <a:endParaRPr sz="1000"/>
          </a:p>
          <a:p xmlns:a="http://schemas.openxmlformats.org/drawingml/2006/main">
            <a:pPr marL="0" indent="0">
              <a:lnSpc>
                <a:spcPts val="1200"/>
              </a:lnSpc>
              <a:buNone/>
            </a:pPr>
            <a:r>
              <a:rPr sz="1000" b="1">
                <a:solidFill>
                  <a:srgbClr val="B04A25"/>
                </a:solidFill>
                <a:latin typeface="Arial"/>
                <a:ea typeface="Arial"/>
                <a:cs typeface="Arial"/>
              </a:rPr>
              <a:t>5 use cases</a:t>
            </a:r>
            <a:endParaRPr sz="1000"/>
          </a:p>
        </p:txBody>
      </p:sp>
      <p:sp>
        <p:nvSpPr>
          <p:cNvPr id="44" name="Shape 42">
            <a:extLst xmlns:a="http://schemas.openxmlformats.org/drawingml/2006/main">
              <a:ext uri="{FF2B5EF4-FFF2-40B4-BE49-F238E27FC236}">
                <a16:creationId xmlns:a16="http://schemas.microsoft.com/office/drawing/2014/main" id="{82CD23E4-B8A5-42D5-B6E8-D858949A64F3}"/>
              </a:ext>
            </a:extLst>
          </p:cNvPr>
          <p:cNvSpPr>
            <a:spLocks xmlns:a="http://schemas.openxmlformats.org/drawingml/2006/main" noGrp="1"/>
          </p:cNvSpPr>
          <p:nvPr/>
        </p:nvSpPr>
        <p:spPr>
          <a:xfrm xmlns:a="http://schemas.openxmlformats.org/drawingml/2006/main">
            <a:off x="8158277" y="1956816"/>
            <a:ext cx="1458925" cy="20117"/>
          </a:xfrm>
          <a:prstGeom xmlns:a="http://schemas.openxmlformats.org/drawingml/2006/main" prst="rect">
            <a:avLst/>
          </a:prstGeom>
          <a:solidFill xmlns:a="http://schemas.openxmlformats.org/drawingml/2006/main">
            <a:srgbClr val="B04A25"/>
          </a:solidFill>
        </p:spPr>
      </p:sp>
      <p:sp>
        <p:nvSpPr>
          <p:cNvPr id="45" name="Text 43">
            <a:extLst xmlns:a="http://schemas.openxmlformats.org/drawingml/2006/main">
              <a:ext uri="{FF2B5EF4-FFF2-40B4-BE49-F238E27FC236}">
                <a16:creationId xmlns:a16="http://schemas.microsoft.com/office/drawing/2014/main" id="{5F2FB8E4-43C5-4C80-80A9-044BD2A83DCE}"/>
              </a:ext>
            </a:extLst>
          </p:cNvPr>
          <p:cNvSpPr>
            <a:spLocks xmlns:a="http://schemas.openxmlformats.org/drawingml/2006/main" noGrp="1"/>
          </p:cNvSpPr>
          <p:nvPr/>
        </p:nvSpPr>
        <p:spPr>
          <a:xfrm xmlns:a="http://schemas.openxmlformats.org/drawingml/2006/main">
            <a:off x="8158277" y="2084832"/>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Pre-qualified (ETB)</a:t>
            </a:r>
            <a:endParaRPr sz="840"/>
          </a:p>
        </p:txBody>
      </p:sp>
      <p:sp>
        <p:nvSpPr>
          <p:cNvPr id="46" name="Text 44">
            <a:extLst xmlns:a="http://schemas.openxmlformats.org/drawingml/2006/main">
              <a:ext uri="{FF2B5EF4-FFF2-40B4-BE49-F238E27FC236}">
                <a16:creationId xmlns:a16="http://schemas.microsoft.com/office/drawing/2014/main" id="{3066E0FD-B042-485E-87CB-4334F97D3348}"/>
              </a:ext>
            </a:extLst>
          </p:cNvPr>
          <p:cNvSpPr>
            <a:spLocks xmlns:a="http://schemas.openxmlformats.org/drawingml/2006/main" noGrp="1"/>
          </p:cNvSpPr>
          <p:nvPr/>
        </p:nvSpPr>
        <p:spPr>
          <a:xfrm xmlns:a="http://schemas.openxmlformats.org/drawingml/2006/main">
            <a:off x="8158277" y="2272650"/>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Full application (NTB)</a:t>
            </a:r>
            <a:endParaRPr sz="840"/>
          </a:p>
        </p:txBody>
      </p:sp>
      <p:sp>
        <p:nvSpPr>
          <p:cNvPr id="47" name="Text 45">
            <a:extLst xmlns:a="http://schemas.openxmlformats.org/drawingml/2006/main">
              <a:ext uri="{FF2B5EF4-FFF2-40B4-BE49-F238E27FC236}">
                <a16:creationId xmlns:a16="http://schemas.microsoft.com/office/drawing/2014/main" id="{703C4CEE-52D1-453B-99FC-6844CE7566E4}"/>
              </a:ext>
            </a:extLst>
          </p:cNvPr>
          <p:cNvSpPr>
            <a:spLocks xmlns:a="http://schemas.openxmlformats.org/drawingml/2006/main" noGrp="1"/>
          </p:cNvSpPr>
          <p:nvPr/>
        </p:nvSpPr>
        <p:spPr>
          <a:xfrm xmlns:a="http://schemas.openxmlformats.org/drawingml/2006/main">
            <a:off x="8158277" y="2460468"/>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Signatory and limits</a:t>
            </a:r>
            <a:endParaRPr sz="840"/>
          </a:p>
        </p:txBody>
      </p:sp>
      <p:sp>
        <p:nvSpPr>
          <p:cNvPr id="48" name="Text 46">
            <a:extLst xmlns:a="http://schemas.openxmlformats.org/drawingml/2006/main">
              <a:ext uri="{FF2B5EF4-FFF2-40B4-BE49-F238E27FC236}">
                <a16:creationId xmlns:a16="http://schemas.microsoft.com/office/drawing/2014/main" id="{91F0E0D7-31AC-4122-BE4F-FEF4B6D8D2AF}"/>
              </a:ext>
            </a:extLst>
          </p:cNvPr>
          <p:cNvSpPr>
            <a:spLocks xmlns:a="http://schemas.openxmlformats.org/drawingml/2006/main" noGrp="1"/>
          </p:cNvSpPr>
          <p:nvPr/>
        </p:nvSpPr>
        <p:spPr>
          <a:xfrm xmlns:a="http://schemas.openxmlformats.org/drawingml/2006/main">
            <a:off x="8158277" y="2648285"/>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Documents and evidence</a:t>
            </a:r>
            <a:endParaRPr sz="840"/>
          </a:p>
        </p:txBody>
      </p:sp>
      <p:sp>
        <p:nvSpPr>
          <p:cNvPr id="49" name="Text 47">
            <a:extLst xmlns:a="http://schemas.openxmlformats.org/drawingml/2006/main">
              <a:ext uri="{FF2B5EF4-FFF2-40B4-BE49-F238E27FC236}">
                <a16:creationId xmlns:a16="http://schemas.microsoft.com/office/drawing/2014/main" id="{23D72173-D76A-4320-AD87-8C04879FF895}"/>
              </a:ext>
            </a:extLst>
          </p:cNvPr>
          <p:cNvSpPr>
            <a:spLocks xmlns:a="http://schemas.openxmlformats.org/drawingml/2006/main" noGrp="1"/>
          </p:cNvSpPr>
          <p:nvPr/>
        </p:nvSpPr>
        <p:spPr>
          <a:xfrm xmlns:a="http://schemas.openxmlformats.org/drawingml/2006/main">
            <a:off x="8158277" y="2836103"/>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Status and fulfilment</a:t>
            </a:r>
            <a:endParaRPr sz="840"/>
          </a:p>
        </p:txBody>
      </p:sp>
      <p:sp>
        <p:nvSpPr>
          <p:cNvPr id="50" name="Shape 48">
            <a:extLst xmlns:a="http://schemas.openxmlformats.org/drawingml/2006/main">
              <a:ext uri="{FF2B5EF4-FFF2-40B4-BE49-F238E27FC236}">
                <a16:creationId xmlns:a16="http://schemas.microsoft.com/office/drawing/2014/main" id="{9F8987AE-5C8F-4712-A0F1-0522630B2B09}"/>
              </a:ext>
            </a:extLst>
          </p:cNvPr>
          <p:cNvSpPr>
            <a:spLocks xmlns:a="http://schemas.openxmlformats.org/drawingml/2006/main" noGrp="1"/>
          </p:cNvSpPr>
          <p:nvPr/>
        </p:nvSpPr>
        <p:spPr>
          <a:xfrm xmlns:a="http://schemas.openxmlformats.org/drawingml/2006/main">
            <a:off x="9873234" y="1335024"/>
            <a:ext cx="1751533" cy="3529584"/>
          </a:xfrm>
          <a:prstGeom xmlns:a="http://schemas.openxmlformats.org/drawingml/2006/main" prst="rect">
            <a:avLst/>
          </a:prstGeom>
          <a:solidFill xmlns:a="http://schemas.openxmlformats.org/drawingml/2006/main">
            <a:srgbClr val="F0F4F8"/>
          </a:solidFill>
        </p:spPr>
      </p:sp>
      <p:sp>
        <p:nvSpPr>
          <p:cNvPr id="51" name="Text 49">
            <a:extLst xmlns:a="http://schemas.openxmlformats.org/drawingml/2006/main">
              <a:ext uri="{FF2B5EF4-FFF2-40B4-BE49-F238E27FC236}">
                <a16:creationId xmlns:a16="http://schemas.microsoft.com/office/drawing/2014/main" id="{83CE543C-2098-43C8-968A-9981494060B3}"/>
              </a:ext>
            </a:extLst>
          </p:cNvPr>
          <p:cNvSpPr>
            <a:spLocks xmlns:a="http://schemas.openxmlformats.org/drawingml/2006/main" noGrp="1"/>
          </p:cNvSpPr>
          <p:nvPr/>
        </p:nvSpPr>
        <p:spPr>
          <a:xfrm xmlns:a="http://schemas.openxmlformats.org/drawingml/2006/main">
            <a:off x="10019538" y="1481328"/>
            <a:ext cx="145892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Beneficial ownership</a:t>
            </a:r>
            <a:endParaRPr sz="1000"/>
          </a:p>
          <a:p xmlns:a="http://schemas.openxmlformats.org/drawingml/2006/main">
            <a:pPr marL="0" indent="0">
              <a:lnSpc>
                <a:spcPts val="1200"/>
              </a:lnSpc>
              <a:buNone/>
            </a:pPr>
            <a:r>
              <a:rPr sz="1000" b="1">
                <a:solidFill>
                  <a:srgbClr val="486581"/>
                </a:solidFill>
                <a:latin typeface="Arial"/>
                <a:ea typeface="Arial"/>
                <a:cs typeface="Arial"/>
              </a:rPr>
              <a:t>4 use cases</a:t>
            </a:r>
            <a:endParaRPr sz="1000"/>
          </a:p>
        </p:txBody>
      </p:sp>
      <p:sp>
        <p:nvSpPr>
          <p:cNvPr id="52" name="Shape 50">
            <a:extLst xmlns:a="http://schemas.openxmlformats.org/drawingml/2006/main">
              <a:ext uri="{FF2B5EF4-FFF2-40B4-BE49-F238E27FC236}">
                <a16:creationId xmlns:a16="http://schemas.microsoft.com/office/drawing/2014/main" id="{8C48F28C-EA04-4065-9411-6E6718F80135}"/>
              </a:ext>
            </a:extLst>
          </p:cNvPr>
          <p:cNvSpPr>
            <a:spLocks xmlns:a="http://schemas.openxmlformats.org/drawingml/2006/main" noGrp="1"/>
          </p:cNvSpPr>
          <p:nvPr/>
        </p:nvSpPr>
        <p:spPr>
          <a:xfrm xmlns:a="http://schemas.openxmlformats.org/drawingml/2006/main">
            <a:off x="10019538" y="1956816"/>
            <a:ext cx="1458925" cy="20117"/>
          </a:xfrm>
          <a:prstGeom xmlns:a="http://schemas.openxmlformats.org/drawingml/2006/main" prst="rect">
            <a:avLst/>
          </a:prstGeom>
          <a:solidFill xmlns:a="http://schemas.openxmlformats.org/drawingml/2006/main">
            <a:srgbClr val="486581"/>
          </a:solidFill>
        </p:spPr>
      </p:sp>
      <p:sp>
        <p:nvSpPr>
          <p:cNvPr id="53" name="Text 51">
            <a:extLst xmlns:a="http://schemas.openxmlformats.org/drawingml/2006/main">
              <a:ext uri="{FF2B5EF4-FFF2-40B4-BE49-F238E27FC236}">
                <a16:creationId xmlns:a16="http://schemas.microsoft.com/office/drawing/2014/main" id="{1DCD36A7-00D0-459B-900A-0DF8A1270C7B}"/>
              </a:ext>
            </a:extLst>
          </p:cNvPr>
          <p:cNvSpPr>
            <a:spLocks xmlns:a="http://schemas.openxmlformats.org/drawingml/2006/main" noGrp="1"/>
          </p:cNvSpPr>
          <p:nvPr/>
        </p:nvSpPr>
        <p:spPr>
          <a:xfrm xmlns:a="http://schemas.openxmlformats.org/drawingml/2006/main">
            <a:off x="10019538" y="2084832"/>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Obligation flagging</a:t>
            </a:r>
            <a:endParaRPr sz="840"/>
          </a:p>
        </p:txBody>
      </p:sp>
      <p:sp>
        <p:nvSpPr>
          <p:cNvPr id="54" name="Text 52">
            <a:extLst xmlns:a="http://schemas.openxmlformats.org/drawingml/2006/main">
              <a:ext uri="{FF2B5EF4-FFF2-40B4-BE49-F238E27FC236}">
                <a16:creationId xmlns:a16="http://schemas.microsoft.com/office/drawing/2014/main" id="{BDA8923E-A945-4E4B-8F03-C63D1942212C}"/>
              </a:ext>
            </a:extLst>
          </p:cNvPr>
          <p:cNvSpPr>
            <a:spLocks xmlns:a="http://schemas.openxmlformats.org/drawingml/2006/main" noGrp="1"/>
          </p:cNvSpPr>
          <p:nvPr/>
        </p:nvSpPr>
        <p:spPr>
          <a:xfrm xmlns:a="http://schemas.openxmlformats.org/drawingml/2006/main">
            <a:off x="10019538" y="2272650"/>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UBO and directors</a:t>
            </a:r>
            <a:endParaRPr sz="840"/>
          </a:p>
        </p:txBody>
      </p:sp>
      <p:sp>
        <p:nvSpPr>
          <p:cNvPr id="55" name="Text 53">
            <a:extLst xmlns:a="http://schemas.openxmlformats.org/drawingml/2006/main">
              <a:ext uri="{FF2B5EF4-FFF2-40B4-BE49-F238E27FC236}">
                <a16:creationId xmlns:a16="http://schemas.microsoft.com/office/drawing/2014/main" id="{B3ECCCD0-3DB9-4884-88C9-6F37470CDC0A}"/>
              </a:ext>
            </a:extLst>
          </p:cNvPr>
          <p:cNvSpPr>
            <a:spLocks xmlns:a="http://schemas.openxmlformats.org/drawingml/2006/main" noGrp="1"/>
          </p:cNvSpPr>
          <p:nvPr/>
        </p:nvSpPr>
        <p:spPr>
          <a:xfrm xmlns:a="http://schemas.openxmlformats.org/drawingml/2006/main">
            <a:off x="10019538" y="2460468"/>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Supporting documents</a:t>
            </a:r>
            <a:endParaRPr sz="840"/>
          </a:p>
        </p:txBody>
      </p:sp>
      <p:sp>
        <p:nvSpPr>
          <p:cNvPr id="56" name="Text 54">
            <a:extLst xmlns:a="http://schemas.openxmlformats.org/drawingml/2006/main">
              <a:ext uri="{FF2B5EF4-FFF2-40B4-BE49-F238E27FC236}">
                <a16:creationId xmlns:a16="http://schemas.microsoft.com/office/drawing/2014/main" id="{EECA3170-AF80-45D3-B55F-2A8A33E477EA}"/>
              </a:ext>
            </a:extLst>
          </p:cNvPr>
          <p:cNvSpPr>
            <a:spLocks xmlns:a="http://schemas.openxmlformats.org/drawingml/2006/main" noGrp="1"/>
          </p:cNvSpPr>
          <p:nvPr/>
        </p:nvSpPr>
        <p:spPr>
          <a:xfrm xmlns:a="http://schemas.openxmlformats.org/drawingml/2006/main">
            <a:off x="10019538" y="2648285"/>
            <a:ext cx="1458925" cy="17867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34"/>
              </a:lnSpc>
              <a:buNone/>
            </a:pPr>
            <a:r>
              <a:rPr sz="840">
                <a:solidFill>
                  <a:srgbClr val="1A1A1A"/>
                </a:solidFill>
                <a:latin typeface="Arial"/>
                <a:ea typeface="Arial"/>
                <a:cs typeface="Arial"/>
              </a:rPr>
              <a:t>Re-declaration / expiry</a:t>
            </a:r>
            <a:endParaRPr sz="840"/>
          </a:p>
        </p:txBody>
      </p:sp>
      <p:sp>
        <p:nvSpPr>
          <p:cNvPr id="57" name="Shape 55">
            <a:extLst xmlns:a="http://schemas.openxmlformats.org/drawingml/2006/main">
              <a:ext uri="{FF2B5EF4-FFF2-40B4-BE49-F238E27FC236}">
                <a16:creationId xmlns:a16="http://schemas.microsoft.com/office/drawing/2014/main" id="{E8EB9042-C1E7-48F9-91FC-FE628DB1F109}"/>
              </a:ext>
            </a:extLst>
          </p:cNvPr>
          <p:cNvSpPr>
            <a:spLocks xmlns:a="http://schemas.openxmlformats.org/drawingml/2006/main" noGrp="1"/>
          </p:cNvSpPr>
          <p:nvPr/>
        </p:nvSpPr>
        <p:spPr>
          <a:xfrm xmlns:a="http://schemas.openxmlformats.org/drawingml/2006/main">
            <a:off x="566928" y="5102352"/>
            <a:ext cx="2682164" cy="859536"/>
          </a:xfrm>
          <a:prstGeom xmlns:a="http://schemas.openxmlformats.org/drawingml/2006/main" prst="rect">
            <a:avLst/>
          </a:prstGeom>
          <a:solidFill xmlns:a="http://schemas.openxmlformats.org/drawingml/2006/main">
            <a:srgbClr val="F0F4F8"/>
          </a:solidFill>
        </p:spPr>
      </p:sp>
      <p:sp>
        <p:nvSpPr>
          <p:cNvPr id="58" name="Text 56">
            <a:extLst xmlns:a="http://schemas.openxmlformats.org/drawingml/2006/main">
              <a:ext uri="{FF2B5EF4-FFF2-40B4-BE49-F238E27FC236}">
                <a16:creationId xmlns:a16="http://schemas.microsoft.com/office/drawing/2014/main" id="{38968B38-4867-4D60-81C9-98EDAA2199BC}"/>
              </a:ext>
            </a:extLst>
          </p:cNvPr>
          <p:cNvSpPr>
            <a:spLocks xmlns:a="http://schemas.openxmlformats.org/drawingml/2006/main" noGrp="1"/>
          </p:cNvSpPr>
          <p:nvPr/>
        </p:nvSpPr>
        <p:spPr>
          <a:xfrm xmlns:a="http://schemas.openxmlformats.org/drawingml/2006/main">
            <a:off x="694944" y="5221224"/>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35</a:t>
            </a:r>
            <a:endParaRPr sz="2200"/>
          </a:p>
        </p:txBody>
      </p:sp>
      <p:sp>
        <p:nvSpPr>
          <p:cNvPr id="59" name="Text 57">
            <a:extLst xmlns:a="http://schemas.openxmlformats.org/drawingml/2006/main">
              <a:ext uri="{FF2B5EF4-FFF2-40B4-BE49-F238E27FC236}">
                <a16:creationId xmlns:a16="http://schemas.microsoft.com/office/drawing/2014/main" id="{4FDB2B3B-CCD2-472F-B9DC-C7902A915B68}"/>
              </a:ext>
            </a:extLst>
          </p:cNvPr>
          <p:cNvSpPr>
            <a:spLocks xmlns:a="http://schemas.openxmlformats.org/drawingml/2006/main" noGrp="1"/>
          </p:cNvSpPr>
          <p:nvPr/>
        </p:nvSpPr>
        <p:spPr>
          <a:xfrm xmlns:a="http://schemas.openxmlformats.org/drawingml/2006/main">
            <a:off x="694944" y="5614416"/>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use cases delivered</a:t>
            </a:r>
            <a:endParaRPr sz="860"/>
          </a:p>
        </p:txBody>
      </p:sp>
      <p:sp>
        <p:nvSpPr>
          <p:cNvPr id="60" name="Shape 58">
            <a:extLst xmlns:a="http://schemas.openxmlformats.org/drawingml/2006/main">
              <a:ext uri="{FF2B5EF4-FFF2-40B4-BE49-F238E27FC236}">
                <a16:creationId xmlns:a16="http://schemas.microsoft.com/office/drawing/2014/main" id="{820DA3D8-888D-491E-B0AB-D9E172D1FAD6}"/>
              </a:ext>
            </a:extLst>
          </p:cNvPr>
          <p:cNvSpPr>
            <a:spLocks xmlns:a="http://schemas.openxmlformats.org/drawingml/2006/main" noGrp="1"/>
          </p:cNvSpPr>
          <p:nvPr/>
        </p:nvSpPr>
        <p:spPr>
          <a:xfrm xmlns:a="http://schemas.openxmlformats.org/drawingml/2006/main">
            <a:off x="3358820" y="5102352"/>
            <a:ext cx="2682164" cy="859536"/>
          </a:xfrm>
          <a:prstGeom xmlns:a="http://schemas.openxmlformats.org/drawingml/2006/main" prst="rect">
            <a:avLst/>
          </a:prstGeom>
          <a:solidFill xmlns:a="http://schemas.openxmlformats.org/drawingml/2006/main">
            <a:srgbClr val="F0F4F8"/>
          </a:solidFill>
        </p:spPr>
      </p:sp>
      <p:sp>
        <p:nvSpPr>
          <p:cNvPr id="61" name="Text 59">
            <a:extLst xmlns:a="http://schemas.openxmlformats.org/drawingml/2006/main">
              <a:ext uri="{FF2B5EF4-FFF2-40B4-BE49-F238E27FC236}">
                <a16:creationId xmlns:a16="http://schemas.microsoft.com/office/drawing/2014/main" id="{895ADFCE-4683-4D5C-AF7C-5FAA8A10974A}"/>
              </a:ext>
            </a:extLst>
          </p:cNvPr>
          <p:cNvSpPr>
            <a:spLocks xmlns:a="http://schemas.openxmlformats.org/drawingml/2006/main" noGrp="1"/>
          </p:cNvSpPr>
          <p:nvPr/>
        </p:nvSpPr>
        <p:spPr>
          <a:xfrm xmlns:a="http://schemas.openxmlformats.org/drawingml/2006/main">
            <a:off x="3486836" y="5221224"/>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28</a:t>
            </a:r>
            <a:endParaRPr sz="2200"/>
          </a:p>
        </p:txBody>
      </p:sp>
      <p:sp>
        <p:nvSpPr>
          <p:cNvPr id="62" name="Text 60">
            <a:extLst xmlns:a="http://schemas.openxmlformats.org/drawingml/2006/main">
              <a:ext uri="{FF2B5EF4-FFF2-40B4-BE49-F238E27FC236}">
                <a16:creationId xmlns:a16="http://schemas.microsoft.com/office/drawing/2014/main" id="{3DD0E93F-B6C6-47F8-9888-7ECB822121BA}"/>
              </a:ext>
            </a:extLst>
          </p:cNvPr>
          <p:cNvSpPr>
            <a:spLocks xmlns:a="http://schemas.openxmlformats.org/drawingml/2006/main" noGrp="1"/>
          </p:cNvSpPr>
          <p:nvPr/>
        </p:nvSpPr>
        <p:spPr>
          <a:xfrm xmlns:a="http://schemas.openxmlformats.org/drawingml/2006/main">
            <a:off x="3486836" y="5614416"/>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reused the spine as-is</a:t>
            </a:r>
            <a:endParaRPr sz="860"/>
          </a:p>
        </p:txBody>
      </p:sp>
      <p:sp>
        <p:nvSpPr>
          <p:cNvPr id="63" name="Shape 61">
            <a:extLst xmlns:a="http://schemas.openxmlformats.org/drawingml/2006/main">
              <a:ext uri="{FF2B5EF4-FFF2-40B4-BE49-F238E27FC236}">
                <a16:creationId xmlns:a16="http://schemas.microsoft.com/office/drawing/2014/main" id="{29BA709A-722E-4589-A752-AA7F065BDB78}"/>
              </a:ext>
            </a:extLst>
          </p:cNvPr>
          <p:cNvSpPr>
            <a:spLocks xmlns:a="http://schemas.openxmlformats.org/drawingml/2006/main" noGrp="1"/>
          </p:cNvSpPr>
          <p:nvPr/>
        </p:nvSpPr>
        <p:spPr>
          <a:xfrm xmlns:a="http://schemas.openxmlformats.org/drawingml/2006/main">
            <a:off x="6150712" y="5102352"/>
            <a:ext cx="2682164" cy="859536"/>
          </a:xfrm>
          <a:prstGeom xmlns:a="http://schemas.openxmlformats.org/drawingml/2006/main" prst="rect">
            <a:avLst/>
          </a:prstGeom>
          <a:solidFill xmlns:a="http://schemas.openxmlformats.org/drawingml/2006/main">
            <a:srgbClr val="F0F4F8"/>
          </a:solidFill>
        </p:spPr>
      </p:sp>
      <p:sp>
        <p:nvSpPr>
          <p:cNvPr id="64" name="Text 62">
            <a:extLst xmlns:a="http://schemas.openxmlformats.org/drawingml/2006/main">
              <a:ext uri="{FF2B5EF4-FFF2-40B4-BE49-F238E27FC236}">
                <a16:creationId xmlns:a16="http://schemas.microsoft.com/office/drawing/2014/main" id="{1212691E-134D-4D70-940D-B8D4875EBA6C}"/>
              </a:ext>
            </a:extLst>
          </p:cNvPr>
          <p:cNvSpPr>
            <a:spLocks xmlns:a="http://schemas.openxmlformats.org/drawingml/2006/main" noGrp="1"/>
          </p:cNvSpPr>
          <p:nvPr/>
        </p:nvSpPr>
        <p:spPr>
          <a:xfrm xmlns:a="http://schemas.openxmlformats.org/drawingml/2006/main">
            <a:off x="6278728" y="5221224"/>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7</a:t>
            </a:r>
            <a:endParaRPr sz="2200"/>
          </a:p>
        </p:txBody>
      </p:sp>
      <p:sp>
        <p:nvSpPr>
          <p:cNvPr id="65" name="Text 63">
            <a:extLst xmlns:a="http://schemas.openxmlformats.org/drawingml/2006/main">
              <a:ext uri="{FF2B5EF4-FFF2-40B4-BE49-F238E27FC236}">
                <a16:creationId xmlns:a16="http://schemas.microsoft.com/office/drawing/2014/main" id="{10C471A1-2CA3-4BC0-BAE1-9B2B80E09576}"/>
              </a:ext>
            </a:extLst>
          </p:cNvPr>
          <p:cNvSpPr>
            <a:spLocks xmlns:a="http://schemas.openxmlformats.org/drawingml/2006/main" noGrp="1"/>
          </p:cNvSpPr>
          <p:nvPr/>
        </p:nvSpPr>
        <p:spPr>
          <a:xfrm xmlns:a="http://schemas.openxmlformats.org/drawingml/2006/main">
            <a:off x="6278728" y="5614416"/>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needed a spine extension</a:t>
            </a:r>
            <a:endParaRPr sz="860"/>
          </a:p>
        </p:txBody>
      </p:sp>
      <p:sp>
        <p:nvSpPr>
          <p:cNvPr id="66" name="Shape 64">
            <a:extLst xmlns:a="http://schemas.openxmlformats.org/drawingml/2006/main">
              <a:ext uri="{FF2B5EF4-FFF2-40B4-BE49-F238E27FC236}">
                <a16:creationId xmlns:a16="http://schemas.microsoft.com/office/drawing/2014/main" id="{DFE0F9A5-9E17-4E38-8F26-DF91C557FB0E}"/>
              </a:ext>
            </a:extLst>
          </p:cNvPr>
          <p:cNvSpPr>
            <a:spLocks xmlns:a="http://schemas.openxmlformats.org/drawingml/2006/main" noGrp="1"/>
          </p:cNvSpPr>
          <p:nvPr/>
        </p:nvSpPr>
        <p:spPr>
          <a:xfrm xmlns:a="http://schemas.openxmlformats.org/drawingml/2006/main">
            <a:off x="8942603" y="5102352"/>
            <a:ext cx="2682164" cy="859536"/>
          </a:xfrm>
          <a:prstGeom xmlns:a="http://schemas.openxmlformats.org/drawingml/2006/main" prst="rect">
            <a:avLst/>
          </a:prstGeom>
          <a:solidFill xmlns:a="http://schemas.openxmlformats.org/drawingml/2006/main">
            <a:srgbClr val="F0F4F8"/>
          </a:solidFill>
        </p:spPr>
      </p:sp>
      <p:sp>
        <p:nvSpPr>
          <p:cNvPr id="67" name="Text 65">
            <a:extLst xmlns:a="http://schemas.openxmlformats.org/drawingml/2006/main">
              <a:ext uri="{FF2B5EF4-FFF2-40B4-BE49-F238E27FC236}">
                <a16:creationId xmlns:a16="http://schemas.microsoft.com/office/drawing/2014/main" id="{CED1E8F5-97A5-41C6-8E9B-D49006A45F5B}"/>
              </a:ext>
            </a:extLst>
          </p:cNvPr>
          <p:cNvSpPr>
            <a:spLocks xmlns:a="http://schemas.openxmlformats.org/drawingml/2006/main" noGrp="1"/>
          </p:cNvSpPr>
          <p:nvPr/>
        </p:nvSpPr>
        <p:spPr>
          <a:xfrm xmlns:a="http://schemas.openxmlformats.org/drawingml/2006/main">
            <a:off x="9070619" y="5221224"/>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27685A"/>
                </a:solidFill>
                <a:latin typeface="Arial"/>
                <a:ea typeface="Arial"/>
                <a:cs typeface="Arial"/>
              </a:rPr>
              <a:t>0</a:t>
            </a:r>
            <a:endParaRPr sz="2200"/>
          </a:p>
        </p:txBody>
      </p:sp>
      <p:sp>
        <p:nvSpPr>
          <p:cNvPr id="68" name="Text 66">
            <a:extLst xmlns:a="http://schemas.openxmlformats.org/drawingml/2006/main">
              <a:ext uri="{FF2B5EF4-FFF2-40B4-BE49-F238E27FC236}">
                <a16:creationId xmlns:a16="http://schemas.microsoft.com/office/drawing/2014/main" id="{56AC40DC-E6FD-440C-A046-46170880013F}"/>
              </a:ext>
            </a:extLst>
          </p:cNvPr>
          <p:cNvSpPr>
            <a:spLocks xmlns:a="http://schemas.openxmlformats.org/drawingml/2006/main" noGrp="1"/>
          </p:cNvSpPr>
          <p:nvPr/>
        </p:nvSpPr>
        <p:spPr>
          <a:xfrm xmlns:a="http://schemas.openxmlformats.org/drawingml/2006/main">
            <a:off x="9070619" y="5614416"/>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forked a shared component</a:t>
            </a:r>
            <a:endParaRPr sz="860"/>
          </a:p>
        </p:txBody>
      </p:sp>
      <p:sp>
        <p:nvSpPr>
          <p:cNvPr id="69" name="Shape 67">
            <a:extLst xmlns:a="http://schemas.openxmlformats.org/drawingml/2006/main">
              <a:ext uri="{FF2B5EF4-FFF2-40B4-BE49-F238E27FC236}">
                <a16:creationId xmlns:a16="http://schemas.microsoft.com/office/drawing/2014/main" id="{D21667CA-D7BA-4998-8DB8-C719905654B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70" name="Text 68">
            <a:extLst xmlns:a="http://schemas.openxmlformats.org/drawingml/2006/main">
              <a:ext uri="{FF2B5EF4-FFF2-40B4-BE49-F238E27FC236}">
                <a16:creationId xmlns:a16="http://schemas.microsoft.com/office/drawing/2014/main" id="{441C5416-D3CD-452E-980D-5CE2203C41E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a:t>
            </a:r>
            <a:endParaRPr sz="850"/>
          </a:p>
        </p:txBody>
      </p:sp>
      <p:sp>
        <p:nvSpPr>
          <p:cNvPr id="71" name="Text 69">
            <a:extLst xmlns:a="http://schemas.openxmlformats.org/drawingml/2006/main">
              <a:ext uri="{FF2B5EF4-FFF2-40B4-BE49-F238E27FC236}">
                <a16:creationId xmlns:a16="http://schemas.microsoft.com/office/drawing/2014/main" id="{77D62C06-D2F6-430A-A7A5-826B2ABE93B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470023309"/>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364226-F737-4C46-A776-0C2C306B47A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JOURNEY TEARDOWN 01  ·  GROW</a:t>
            </a:r>
            <a:endParaRPr sz="950"/>
          </a:p>
        </p:txBody>
      </p:sp>
      <p:sp>
        <p:nvSpPr>
          <p:cNvPr id="3" name="Text 1">
            <a:extLst xmlns:a="http://schemas.openxmlformats.org/drawingml/2006/main">
              <a:ext uri="{FF2B5EF4-FFF2-40B4-BE49-F238E27FC236}">
                <a16:creationId xmlns:a16="http://schemas.microsoft.com/office/drawing/2014/main" id="{81AA9282-A7F7-4486-B66B-8616CD9E6C3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Digital account funding closes the gap between “account opened” and “account</a:t>
            </a:r>
            <a:endParaRPr sz="1900"/>
          </a:p>
          <a:p xmlns:a="http://schemas.openxmlformats.org/drawingml/2006/main">
            <a:pPr marL="0" indent="0">
              <a:lnSpc>
                <a:spcPts val="2400"/>
              </a:lnSpc>
              <a:buNone/>
            </a:pPr>
            <a:r>
              <a:rPr sz="1900" b="1">
                <a:solidFill>
                  <a:srgbClr val="102A43"/>
                </a:solidFill>
                <a:latin typeface="Arial"/>
                <a:ea typeface="Arial"/>
                <a:cs typeface="Arial"/>
              </a:rPr>
              <a:t>usable” — the point where new relationships silently stall</a:t>
            </a:r>
            <a:endParaRPr sz="1900"/>
          </a:p>
        </p:txBody>
      </p:sp>
      <p:sp>
        <p:nvSpPr>
          <p:cNvPr id="4" name="Shape 2">
            <a:extLst xmlns:a="http://schemas.openxmlformats.org/drawingml/2006/main">
              <a:ext uri="{FF2B5EF4-FFF2-40B4-BE49-F238E27FC236}">
                <a16:creationId xmlns:a16="http://schemas.microsoft.com/office/drawing/2014/main" id="{FDFAEDC2-5F7E-4EC1-9727-01006A143147}"/>
              </a:ext>
            </a:extLst>
          </p:cNvPr>
          <p:cNvSpPr>
            <a:spLocks xmlns:a="http://schemas.openxmlformats.org/drawingml/2006/main" noGrp="1"/>
          </p:cNvSpPr>
          <p:nvPr/>
        </p:nvSpPr>
        <p:spPr>
          <a:xfrm xmlns:a="http://schemas.openxmlformats.org/drawingml/2006/main">
            <a:off x="566928" y="1335024"/>
            <a:ext cx="1751533" cy="124358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48393682-E25C-4373-A6D5-603C923E6ACB}"/>
              </a:ext>
            </a:extLst>
          </p:cNvPr>
          <p:cNvSpPr>
            <a:spLocks xmlns:a="http://schemas.openxmlformats.org/drawingml/2006/main" noGrp="1"/>
          </p:cNvSpPr>
          <p:nvPr/>
        </p:nvSpPr>
        <p:spPr>
          <a:xfrm xmlns:a="http://schemas.openxmlformats.org/drawingml/2006/main">
            <a:off x="694944"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4413D064-997D-411A-A078-28845AF74578}"/>
              </a:ext>
            </a:extLst>
          </p:cNvPr>
          <p:cNvSpPr>
            <a:spLocks xmlns:a="http://schemas.openxmlformats.org/drawingml/2006/main" noGrp="1"/>
          </p:cNvSpPr>
          <p:nvPr/>
        </p:nvSpPr>
        <p:spPr>
          <a:xfrm xmlns:a="http://schemas.openxmlformats.org/drawingml/2006/main">
            <a:off x="694944"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Account opened</a:t>
            </a:r>
            <a:endParaRPr sz="980"/>
          </a:p>
        </p:txBody>
      </p:sp>
      <p:sp>
        <p:nvSpPr>
          <p:cNvPr id="7" name="Text 5">
            <a:extLst xmlns:a="http://schemas.openxmlformats.org/drawingml/2006/main">
              <a:ext uri="{FF2B5EF4-FFF2-40B4-BE49-F238E27FC236}">
                <a16:creationId xmlns:a16="http://schemas.microsoft.com/office/drawing/2014/main" id="{4944C6A2-DFA4-4FA0-BAB7-6C305DB95049}"/>
              </a:ext>
            </a:extLst>
          </p:cNvPr>
          <p:cNvSpPr>
            <a:spLocks xmlns:a="http://schemas.openxmlformats.org/drawingml/2006/main" noGrp="1"/>
          </p:cNvSpPr>
          <p:nvPr/>
        </p:nvSpPr>
        <p:spPr>
          <a:xfrm xmlns:a="http://schemas.openxmlformats.org/drawingml/2006/main">
            <a:off x="694944"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New account exists, zero balance, no history</a:t>
            </a:r>
            <a:endParaRPr sz="840"/>
          </a:p>
        </p:txBody>
      </p:sp>
      <p:sp>
        <p:nvSpPr>
          <p:cNvPr id="8" name="Shape 6">
            <a:extLst xmlns:a="http://schemas.openxmlformats.org/drawingml/2006/main">
              <a:ext uri="{FF2B5EF4-FFF2-40B4-BE49-F238E27FC236}">
                <a16:creationId xmlns:a16="http://schemas.microsoft.com/office/drawing/2014/main" id="{915BA24F-C616-4A14-B7AF-BA7AE6852B66}"/>
              </a:ext>
            </a:extLst>
          </p:cNvPr>
          <p:cNvSpPr>
            <a:spLocks xmlns:a="http://schemas.openxmlformats.org/drawingml/2006/main" noGrp="1"/>
          </p:cNvSpPr>
          <p:nvPr/>
        </p:nvSpPr>
        <p:spPr>
          <a:xfrm xmlns:a="http://schemas.openxmlformats.org/drawingml/2006/main">
            <a:off x="2428189" y="1335024"/>
            <a:ext cx="1751533" cy="1243584"/>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A6781F16-6A95-4011-B47D-EE89EC7890DF}"/>
              </a:ext>
            </a:extLst>
          </p:cNvPr>
          <p:cNvSpPr>
            <a:spLocks xmlns:a="http://schemas.openxmlformats.org/drawingml/2006/main" noGrp="1"/>
          </p:cNvSpPr>
          <p:nvPr/>
        </p:nvSpPr>
        <p:spPr>
          <a:xfrm xmlns:a="http://schemas.openxmlformats.org/drawingml/2006/main">
            <a:off x="2556205"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E404C48C-613E-4CE4-A3C0-CD41CD5030A4}"/>
              </a:ext>
            </a:extLst>
          </p:cNvPr>
          <p:cNvSpPr>
            <a:spLocks xmlns:a="http://schemas.openxmlformats.org/drawingml/2006/main" noGrp="1"/>
          </p:cNvSpPr>
          <p:nvPr/>
        </p:nvSpPr>
        <p:spPr>
          <a:xfrm xmlns:a="http://schemas.openxmlformats.org/drawingml/2006/main">
            <a:off x="2556205"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Funding prompt</a:t>
            </a:r>
            <a:endParaRPr sz="980"/>
          </a:p>
        </p:txBody>
      </p:sp>
      <p:sp>
        <p:nvSpPr>
          <p:cNvPr id="11" name="Text 9">
            <a:extLst xmlns:a="http://schemas.openxmlformats.org/drawingml/2006/main">
              <a:ext uri="{FF2B5EF4-FFF2-40B4-BE49-F238E27FC236}">
                <a16:creationId xmlns:a16="http://schemas.microsoft.com/office/drawing/2014/main" id="{5F006658-5E18-449B-93FC-7A88BA8EE9F5}"/>
              </a:ext>
            </a:extLst>
          </p:cNvPr>
          <p:cNvSpPr>
            <a:spLocks xmlns:a="http://schemas.openxmlformats.org/drawingml/2006/main" noGrp="1"/>
          </p:cNvSpPr>
          <p:nvPr/>
        </p:nvSpPr>
        <p:spPr>
          <a:xfrm xmlns:a="http://schemas.openxmlformats.org/drawingml/2006/main">
            <a:off x="2556205"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Offered in session, not deferred to email</a:t>
            </a:r>
            <a:endParaRPr sz="840"/>
          </a:p>
        </p:txBody>
      </p:sp>
      <p:sp>
        <p:nvSpPr>
          <p:cNvPr id="12" name="Shape 10">
            <a:extLst xmlns:a="http://schemas.openxmlformats.org/drawingml/2006/main">
              <a:ext uri="{FF2B5EF4-FFF2-40B4-BE49-F238E27FC236}">
                <a16:creationId xmlns:a16="http://schemas.microsoft.com/office/drawing/2014/main" id="{FB0A500B-A1A2-4559-A592-16C7AD083141}"/>
              </a:ext>
            </a:extLst>
          </p:cNvPr>
          <p:cNvSpPr>
            <a:spLocks xmlns:a="http://schemas.openxmlformats.org/drawingml/2006/main" noGrp="1"/>
          </p:cNvSpPr>
          <p:nvPr/>
        </p:nvSpPr>
        <p:spPr>
          <a:xfrm xmlns:a="http://schemas.openxmlformats.org/drawingml/2006/main">
            <a:off x="4289450" y="1335024"/>
            <a:ext cx="1751533" cy="1243584"/>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312B4CA6-D9A8-4EE4-B5DE-237563496704}"/>
              </a:ext>
            </a:extLst>
          </p:cNvPr>
          <p:cNvSpPr>
            <a:spLocks xmlns:a="http://schemas.openxmlformats.org/drawingml/2006/main" noGrp="1"/>
          </p:cNvSpPr>
          <p:nvPr/>
        </p:nvSpPr>
        <p:spPr>
          <a:xfrm xmlns:a="http://schemas.openxmlformats.org/drawingml/2006/main">
            <a:off x="4417466"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6596F04D-5A87-4F8D-A5B6-56319BD54F4F}"/>
              </a:ext>
            </a:extLst>
          </p:cNvPr>
          <p:cNvSpPr>
            <a:spLocks xmlns:a="http://schemas.openxmlformats.org/drawingml/2006/main" noGrp="1"/>
          </p:cNvSpPr>
          <p:nvPr/>
        </p:nvSpPr>
        <p:spPr>
          <a:xfrm xmlns:a="http://schemas.openxmlformats.org/drawingml/2006/main">
            <a:off x="4417466"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Source selection</a:t>
            </a:r>
            <a:endParaRPr sz="980"/>
          </a:p>
        </p:txBody>
      </p:sp>
      <p:sp>
        <p:nvSpPr>
          <p:cNvPr id="15" name="Text 13">
            <a:extLst xmlns:a="http://schemas.openxmlformats.org/drawingml/2006/main">
              <a:ext uri="{FF2B5EF4-FFF2-40B4-BE49-F238E27FC236}">
                <a16:creationId xmlns:a16="http://schemas.microsoft.com/office/drawing/2014/main" id="{C212806F-A8FE-45E1-ABC9-3F63FCE913D8}"/>
              </a:ext>
            </a:extLst>
          </p:cNvPr>
          <p:cNvSpPr>
            <a:spLocks xmlns:a="http://schemas.openxmlformats.org/drawingml/2006/main" noGrp="1"/>
          </p:cNvSpPr>
          <p:nvPr/>
        </p:nvSpPr>
        <p:spPr>
          <a:xfrm xmlns:a="http://schemas.openxmlformats.org/drawingml/2006/main">
            <a:off x="4417466"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External bank, card, or internal holding</a:t>
            </a:r>
            <a:endParaRPr sz="840"/>
          </a:p>
        </p:txBody>
      </p:sp>
      <p:sp>
        <p:nvSpPr>
          <p:cNvPr id="16" name="Shape 14">
            <a:extLst xmlns:a="http://schemas.openxmlformats.org/drawingml/2006/main">
              <a:ext uri="{FF2B5EF4-FFF2-40B4-BE49-F238E27FC236}">
                <a16:creationId xmlns:a16="http://schemas.microsoft.com/office/drawing/2014/main" id="{AB508F97-CF15-4761-B517-B655F6DDF963}"/>
              </a:ext>
            </a:extLst>
          </p:cNvPr>
          <p:cNvSpPr>
            <a:spLocks xmlns:a="http://schemas.openxmlformats.org/drawingml/2006/main" noGrp="1"/>
          </p:cNvSpPr>
          <p:nvPr/>
        </p:nvSpPr>
        <p:spPr>
          <a:xfrm xmlns:a="http://schemas.openxmlformats.org/drawingml/2006/main">
            <a:off x="6150712" y="1335024"/>
            <a:ext cx="1751533" cy="1243584"/>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7F13FB96-F9B7-40D6-A573-1918FCC2FE08}"/>
              </a:ext>
            </a:extLst>
          </p:cNvPr>
          <p:cNvSpPr>
            <a:spLocks xmlns:a="http://schemas.openxmlformats.org/drawingml/2006/main" noGrp="1"/>
          </p:cNvSpPr>
          <p:nvPr/>
        </p:nvSpPr>
        <p:spPr>
          <a:xfrm xmlns:a="http://schemas.openxmlformats.org/drawingml/2006/main">
            <a:off x="6278728"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3187AFF7-4C1D-4819-9870-07F2AD00CD1E}"/>
              </a:ext>
            </a:extLst>
          </p:cNvPr>
          <p:cNvSpPr>
            <a:spLocks xmlns:a="http://schemas.openxmlformats.org/drawingml/2006/main" noGrp="1"/>
          </p:cNvSpPr>
          <p:nvPr/>
        </p:nvSpPr>
        <p:spPr>
          <a:xfrm xmlns:a="http://schemas.openxmlformats.org/drawingml/2006/main">
            <a:off x="6278728"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Authorisation</a:t>
            </a:r>
            <a:endParaRPr sz="980"/>
          </a:p>
        </p:txBody>
      </p:sp>
      <p:sp>
        <p:nvSpPr>
          <p:cNvPr id="19" name="Text 17">
            <a:extLst xmlns:a="http://schemas.openxmlformats.org/drawingml/2006/main">
              <a:ext uri="{FF2B5EF4-FFF2-40B4-BE49-F238E27FC236}">
                <a16:creationId xmlns:a16="http://schemas.microsoft.com/office/drawing/2014/main" id="{61F81393-88DB-4AAD-803A-8978BF280C88}"/>
              </a:ext>
            </a:extLst>
          </p:cNvPr>
          <p:cNvSpPr>
            <a:spLocks xmlns:a="http://schemas.openxmlformats.org/drawingml/2006/main" noGrp="1"/>
          </p:cNvSpPr>
          <p:nvPr/>
        </p:nvSpPr>
        <p:spPr>
          <a:xfrm xmlns:a="http://schemas.openxmlformats.org/drawingml/2006/main">
            <a:off x="6278728"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Consent against the specific instrument and amount</a:t>
            </a:r>
            <a:endParaRPr sz="840"/>
          </a:p>
        </p:txBody>
      </p:sp>
      <p:sp>
        <p:nvSpPr>
          <p:cNvPr id="20" name="Shape 18">
            <a:extLst xmlns:a="http://schemas.openxmlformats.org/drawingml/2006/main">
              <a:ext uri="{FF2B5EF4-FFF2-40B4-BE49-F238E27FC236}">
                <a16:creationId xmlns:a16="http://schemas.microsoft.com/office/drawing/2014/main" id="{805D4FE6-AB0A-44D5-AB51-265C3EF48082}"/>
              </a:ext>
            </a:extLst>
          </p:cNvPr>
          <p:cNvSpPr>
            <a:spLocks xmlns:a="http://schemas.openxmlformats.org/drawingml/2006/main" noGrp="1"/>
          </p:cNvSpPr>
          <p:nvPr/>
        </p:nvSpPr>
        <p:spPr>
          <a:xfrm xmlns:a="http://schemas.openxmlformats.org/drawingml/2006/main">
            <a:off x="8011973" y="1335024"/>
            <a:ext cx="1751533" cy="1243584"/>
          </a:xfrm>
          <a:prstGeom xmlns:a="http://schemas.openxmlformats.org/drawingml/2006/main" prst="rect">
            <a:avLst/>
          </a:prstGeom>
          <a:solidFill xmlns:a="http://schemas.openxmlformats.org/drawingml/2006/main">
            <a:srgbClr val="F3E6E0"/>
          </a:solidFill>
        </p:spPr>
      </p:sp>
      <p:sp>
        <p:nvSpPr>
          <p:cNvPr id="21" name="Text 19">
            <a:extLst xmlns:a="http://schemas.openxmlformats.org/drawingml/2006/main">
              <a:ext uri="{FF2B5EF4-FFF2-40B4-BE49-F238E27FC236}">
                <a16:creationId xmlns:a16="http://schemas.microsoft.com/office/drawing/2014/main" id="{1EDD87B0-8648-44BB-B95A-DFDBF2A737FA}"/>
              </a:ext>
            </a:extLst>
          </p:cNvPr>
          <p:cNvSpPr>
            <a:spLocks xmlns:a="http://schemas.openxmlformats.org/drawingml/2006/main" noGrp="1"/>
          </p:cNvSpPr>
          <p:nvPr/>
        </p:nvSpPr>
        <p:spPr>
          <a:xfrm xmlns:a="http://schemas.openxmlformats.org/drawingml/2006/main">
            <a:off x="8139989"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DCC64816-9536-482B-937A-E78B36DDAD4F}"/>
              </a:ext>
            </a:extLst>
          </p:cNvPr>
          <p:cNvSpPr>
            <a:spLocks xmlns:a="http://schemas.openxmlformats.org/drawingml/2006/main" noGrp="1"/>
          </p:cNvSpPr>
          <p:nvPr/>
        </p:nvSpPr>
        <p:spPr>
          <a:xfrm xmlns:a="http://schemas.openxmlformats.org/drawingml/2006/main">
            <a:off x="8139989"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Settlement</a:t>
            </a:r>
            <a:endParaRPr sz="980"/>
          </a:p>
        </p:txBody>
      </p:sp>
      <p:sp>
        <p:nvSpPr>
          <p:cNvPr id="23" name="Text 21">
            <a:extLst xmlns:a="http://schemas.openxmlformats.org/drawingml/2006/main">
              <a:ext uri="{FF2B5EF4-FFF2-40B4-BE49-F238E27FC236}">
                <a16:creationId xmlns:a16="http://schemas.microsoft.com/office/drawing/2014/main" id="{DDEC86BE-EC86-4300-8A73-D399963C39BC}"/>
              </a:ext>
            </a:extLst>
          </p:cNvPr>
          <p:cNvSpPr>
            <a:spLocks xmlns:a="http://schemas.openxmlformats.org/drawingml/2006/main" noGrp="1"/>
          </p:cNvSpPr>
          <p:nvPr/>
        </p:nvSpPr>
        <p:spPr>
          <a:xfrm xmlns:a="http://schemas.openxmlformats.org/drawingml/2006/main">
            <a:off x="8139989"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The rail's clock is not the session's clock</a:t>
            </a:r>
            <a:endParaRPr sz="840"/>
          </a:p>
        </p:txBody>
      </p:sp>
      <p:sp>
        <p:nvSpPr>
          <p:cNvPr id="24" name="Shape 22">
            <a:extLst xmlns:a="http://schemas.openxmlformats.org/drawingml/2006/main">
              <a:ext uri="{FF2B5EF4-FFF2-40B4-BE49-F238E27FC236}">
                <a16:creationId xmlns:a16="http://schemas.microsoft.com/office/drawing/2014/main" id="{33DAC825-4E3A-4ED8-B758-835617CA936D}"/>
              </a:ext>
            </a:extLst>
          </p:cNvPr>
          <p:cNvSpPr>
            <a:spLocks xmlns:a="http://schemas.openxmlformats.org/drawingml/2006/main" noGrp="1"/>
          </p:cNvSpPr>
          <p:nvPr/>
        </p:nvSpPr>
        <p:spPr>
          <a:xfrm xmlns:a="http://schemas.openxmlformats.org/drawingml/2006/main">
            <a:off x="9873234" y="1335024"/>
            <a:ext cx="1751533" cy="1243584"/>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2E9756EF-6D2E-4CED-8108-1BB10D997CFB}"/>
              </a:ext>
            </a:extLst>
          </p:cNvPr>
          <p:cNvSpPr>
            <a:spLocks xmlns:a="http://schemas.openxmlformats.org/drawingml/2006/main" noGrp="1"/>
          </p:cNvSpPr>
          <p:nvPr/>
        </p:nvSpPr>
        <p:spPr>
          <a:xfrm xmlns:a="http://schemas.openxmlformats.org/drawingml/2006/main">
            <a:off x="10001250"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06</a:t>
            </a:r>
            <a:endParaRPr sz="840"/>
          </a:p>
        </p:txBody>
      </p:sp>
      <p:sp>
        <p:nvSpPr>
          <p:cNvPr id="26" name="Text 24">
            <a:extLst xmlns:a="http://schemas.openxmlformats.org/drawingml/2006/main">
              <a:ext uri="{FF2B5EF4-FFF2-40B4-BE49-F238E27FC236}">
                <a16:creationId xmlns:a16="http://schemas.microsoft.com/office/drawing/2014/main" id="{AAEEE95F-439F-412E-BDB8-141A9EB4675E}"/>
              </a:ext>
            </a:extLst>
          </p:cNvPr>
          <p:cNvSpPr>
            <a:spLocks xmlns:a="http://schemas.openxmlformats.org/drawingml/2006/main" noGrp="1"/>
          </p:cNvSpPr>
          <p:nvPr/>
        </p:nvSpPr>
        <p:spPr>
          <a:xfrm xmlns:a="http://schemas.openxmlformats.org/drawingml/2006/main">
            <a:off x="10001250"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Confirm / reverse</a:t>
            </a:r>
            <a:endParaRPr sz="980"/>
          </a:p>
        </p:txBody>
      </p:sp>
      <p:sp>
        <p:nvSpPr>
          <p:cNvPr id="27" name="Text 25">
            <a:extLst xmlns:a="http://schemas.openxmlformats.org/drawingml/2006/main">
              <a:ext uri="{FF2B5EF4-FFF2-40B4-BE49-F238E27FC236}">
                <a16:creationId xmlns:a16="http://schemas.microsoft.com/office/drawing/2014/main" id="{8C4E00FA-D634-48A1-BE23-92543A4770E7}"/>
              </a:ext>
            </a:extLst>
          </p:cNvPr>
          <p:cNvSpPr>
            <a:spLocks xmlns:a="http://schemas.openxmlformats.org/drawingml/2006/main" noGrp="1"/>
          </p:cNvSpPr>
          <p:nvPr/>
        </p:nvSpPr>
        <p:spPr>
          <a:xfrm xmlns:a="http://schemas.openxmlformats.org/drawingml/2006/main">
            <a:off x="10001250"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Deterministic reversal with a visible state</a:t>
            </a:r>
            <a:endParaRPr sz="840"/>
          </a:p>
        </p:txBody>
      </p:sp>
      <p:sp>
        <p:nvSpPr>
          <p:cNvPr id="28" name="Text 26">
            <a:extLst xmlns:a="http://schemas.openxmlformats.org/drawingml/2006/main">
              <a:ext uri="{FF2B5EF4-FFF2-40B4-BE49-F238E27FC236}">
                <a16:creationId xmlns:a16="http://schemas.microsoft.com/office/drawing/2014/main" id="{81BDE412-69EF-4C75-8712-C1BE94ABC272}"/>
              </a:ext>
            </a:extLst>
          </p:cNvPr>
          <p:cNvSpPr>
            <a:spLocks xmlns:a="http://schemas.openxmlformats.org/drawingml/2006/main" noGrp="1"/>
          </p:cNvSpPr>
          <p:nvPr/>
        </p:nvSpPr>
        <p:spPr>
          <a:xfrm xmlns:a="http://schemas.openxmlformats.org/drawingml/2006/main">
            <a:off x="566928" y="2670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i="1">
                <a:solidFill>
                  <a:srgbClr val="627D98"/>
                </a:solidFill>
                <a:latin typeface="Arial"/>
                <a:ea typeface="Arial"/>
                <a:cs typeface="Arial"/>
              </a:rPr>
              <a:t>Step 05 is the hard one: the payment rail settles on its own timetable while the customer sits in a session that will expire.</a:t>
            </a:r>
            <a:endParaRPr sz="900"/>
          </a:p>
        </p:txBody>
      </p:sp>
      <p:graphicFrame>
        <p:nvGraphicFramePr>
          <p:cNvPr id="70" name="Chart 0"/>
          <p:cNvGraphicFramePr/>
          <p:nvPr/>
        </p:nvGraphicFramePr>
        <p:xfrm>
          <a:off xmlns:a="http://schemas.openxmlformats.org/drawingml/2006/main" x="566928" y="2999232"/>
          <a:ext xmlns:a="http://schemas.openxmlformats.org/drawingml/2006/main" cx="5029200" cy="2377440"/>
        </p:xfrm>
        <a:graphic xmlns:a="http://schemas.openxmlformats.org/drawingml/2006/main">
          <a:graphicData uri="http://schemas.openxmlformats.org/drawingml/2006/chart">
            <c:chart xmlns:r="http://schemas.openxmlformats.org/officeDocument/2006/relationships" xmlns:c="http://schemas.openxmlformats.org/drawingml/2006/chart" r:id="Rae8123ab022c4a60"/>
          </a:graphicData>
        </a:graphic>
      </p:graphicFrame>
      <p:sp>
        <p:nvSpPr>
          <p:cNvPr id="30" name="Text 27">
            <a:extLst xmlns:a="http://schemas.openxmlformats.org/drawingml/2006/main">
              <a:ext uri="{FF2B5EF4-FFF2-40B4-BE49-F238E27FC236}">
                <a16:creationId xmlns:a16="http://schemas.microsoft.com/office/drawing/2014/main" id="{47CCC087-EFD4-4AC2-9D4D-80CBB5488553}"/>
              </a:ext>
            </a:extLst>
          </p:cNvPr>
          <p:cNvSpPr>
            <a:spLocks xmlns:a="http://schemas.openxmlformats.org/drawingml/2006/main" noGrp="1"/>
          </p:cNvSpPr>
          <p:nvPr/>
        </p:nvSpPr>
        <p:spPr>
          <a:xfrm xmlns:a="http://schemas.openxmlformats.org/drawingml/2006/main">
            <a:off x="566928" y="5431536"/>
            <a:ext cx="5029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i="1">
                <a:solidFill>
                  <a:srgbClr val="627D98"/>
                </a:solidFill>
                <a:latin typeface="Arial"/>
                <a:ea typeface="Arial"/>
                <a:cs typeface="Arial"/>
              </a:rPr>
              <a:t>% of newly opened accounts — calibrated to published abandonment and funding-uplift benchmarks</a:t>
            </a:r>
            <a:endParaRPr sz="860"/>
          </a:p>
        </p:txBody>
      </p:sp>
      <p:sp>
        <p:nvSpPr>
          <p:cNvPr id="31" name="Text 28">
            <a:extLst xmlns:a="http://schemas.openxmlformats.org/drawingml/2006/main">
              <a:ext uri="{FF2B5EF4-FFF2-40B4-BE49-F238E27FC236}">
                <a16:creationId xmlns:a16="http://schemas.microsoft.com/office/drawing/2014/main" id="{FDA51868-75B7-46A8-9BDA-1324A5F350A5}"/>
              </a:ext>
            </a:extLst>
          </p:cNvPr>
          <p:cNvSpPr>
            <a:spLocks xmlns:a="http://schemas.openxmlformats.org/drawingml/2006/main" noGrp="1"/>
          </p:cNvSpPr>
          <p:nvPr/>
        </p:nvSpPr>
        <p:spPr>
          <a:xfrm xmlns:a="http://schemas.openxmlformats.org/drawingml/2006/main">
            <a:off x="5961888" y="2999232"/>
            <a:ext cx="272171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design problem</a:t>
            </a:r>
            <a:endParaRPr sz="1100"/>
          </a:p>
        </p:txBody>
      </p:sp>
      <p:sp>
        <p:nvSpPr>
          <p:cNvPr id="32" name="Shape 29">
            <a:extLst xmlns:a="http://schemas.openxmlformats.org/drawingml/2006/main">
              <a:ext uri="{FF2B5EF4-FFF2-40B4-BE49-F238E27FC236}">
                <a16:creationId xmlns:a16="http://schemas.microsoft.com/office/drawing/2014/main" id="{E6FE661C-3F7A-461E-90AD-EB725E0E741F}"/>
              </a:ext>
            </a:extLst>
          </p:cNvPr>
          <p:cNvSpPr>
            <a:spLocks xmlns:a="http://schemas.openxmlformats.org/drawingml/2006/main" noGrp="1"/>
          </p:cNvSpPr>
          <p:nvPr/>
        </p:nvSpPr>
        <p:spPr>
          <a:xfrm xmlns:a="http://schemas.openxmlformats.org/drawingml/2006/main">
            <a:off x="5961888" y="3255264"/>
            <a:ext cx="2721712" cy="20117"/>
          </a:xfrm>
          <a:prstGeom xmlns:a="http://schemas.openxmlformats.org/drawingml/2006/main" prst="rect">
            <a:avLst/>
          </a:prstGeom>
          <a:solidFill xmlns:a="http://schemas.openxmlformats.org/drawingml/2006/main">
            <a:srgbClr val="B04A25"/>
          </a:solidFill>
        </p:spPr>
      </p:sp>
      <p:sp>
        <p:nvSpPr>
          <p:cNvPr id="33" name="Text 30">
            <a:extLst xmlns:a="http://schemas.openxmlformats.org/drawingml/2006/main">
              <a:ext uri="{FF2B5EF4-FFF2-40B4-BE49-F238E27FC236}">
                <a16:creationId xmlns:a16="http://schemas.microsoft.com/office/drawing/2014/main" id="{093D071D-0A52-4481-99D3-A3159B95DC8A}"/>
              </a:ext>
            </a:extLst>
          </p:cNvPr>
          <p:cNvSpPr>
            <a:spLocks xmlns:a="http://schemas.openxmlformats.org/drawingml/2006/main" noGrp="1"/>
          </p:cNvSpPr>
          <p:nvPr/>
        </p:nvSpPr>
        <p:spPr>
          <a:xfrm xmlns:a="http://schemas.openxmlformats.org/drawingml/2006/main">
            <a:off x="5961888" y="3383280"/>
            <a:ext cx="2721712"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Settlement finality and session lifetime are governed by different systems and different clocks.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A pending state invisible to the customer produces a duplicate attempt and a support call.</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Reversal is not an edge case here — it is a first-class outcome that must be designed.</a:t>
            </a:r>
            <a:endParaRPr sz="940"/>
          </a:p>
        </p:txBody>
      </p:sp>
      <p:sp>
        <p:nvSpPr>
          <p:cNvPr id="34" name="Text 31">
            <a:extLst xmlns:a="http://schemas.openxmlformats.org/drawingml/2006/main">
              <a:ext uri="{FF2B5EF4-FFF2-40B4-BE49-F238E27FC236}">
                <a16:creationId xmlns:a16="http://schemas.microsoft.com/office/drawing/2014/main" id="{A0B113FF-9653-436C-AD6F-70E02D2A4101}"/>
              </a:ext>
            </a:extLst>
          </p:cNvPr>
          <p:cNvSpPr>
            <a:spLocks xmlns:a="http://schemas.openxmlformats.org/drawingml/2006/main" noGrp="1"/>
          </p:cNvSpPr>
          <p:nvPr/>
        </p:nvSpPr>
        <p:spPr>
          <a:xfrm xmlns:a="http://schemas.openxmlformats.org/drawingml/2006/main">
            <a:off x="8903056" y="2999232"/>
            <a:ext cx="272171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How it was resolved</a:t>
            </a:r>
            <a:endParaRPr sz="1100"/>
          </a:p>
        </p:txBody>
      </p:sp>
      <p:sp>
        <p:nvSpPr>
          <p:cNvPr id="35" name="Shape 32">
            <a:extLst xmlns:a="http://schemas.openxmlformats.org/drawingml/2006/main">
              <a:ext uri="{FF2B5EF4-FFF2-40B4-BE49-F238E27FC236}">
                <a16:creationId xmlns:a16="http://schemas.microsoft.com/office/drawing/2014/main" id="{F18BD7BB-2F67-474C-BE16-BC1EA89557BF}"/>
              </a:ext>
            </a:extLst>
          </p:cNvPr>
          <p:cNvSpPr>
            <a:spLocks xmlns:a="http://schemas.openxmlformats.org/drawingml/2006/main" noGrp="1"/>
          </p:cNvSpPr>
          <p:nvPr/>
        </p:nvSpPr>
        <p:spPr>
          <a:xfrm xmlns:a="http://schemas.openxmlformats.org/drawingml/2006/main">
            <a:off x="8903056" y="3255264"/>
            <a:ext cx="2721712" cy="20117"/>
          </a:xfrm>
          <a:prstGeom xmlns:a="http://schemas.openxmlformats.org/drawingml/2006/main" prst="rect">
            <a:avLst/>
          </a:prstGeom>
          <a:solidFill xmlns:a="http://schemas.openxmlformats.org/drawingml/2006/main">
            <a:srgbClr val="102A43"/>
          </a:solidFill>
        </p:spPr>
      </p:sp>
      <p:sp>
        <p:nvSpPr>
          <p:cNvPr id="36" name="Text 33">
            <a:extLst xmlns:a="http://schemas.openxmlformats.org/drawingml/2006/main">
              <a:ext uri="{FF2B5EF4-FFF2-40B4-BE49-F238E27FC236}">
                <a16:creationId xmlns:a16="http://schemas.microsoft.com/office/drawing/2014/main" id="{30B9D07F-6746-43D8-8641-FD42CC7F53D3}"/>
              </a:ext>
            </a:extLst>
          </p:cNvPr>
          <p:cNvSpPr>
            <a:spLocks xmlns:a="http://schemas.openxmlformats.org/drawingml/2006/main" noGrp="1"/>
          </p:cNvSpPr>
          <p:nvPr/>
        </p:nvSpPr>
        <p:spPr>
          <a:xfrm xmlns:a="http://schemas.openxmlformats.org/drawingml/2006/main">
            <a:off x="8903056" y="3383280"/>
            <a:ext cx="2721712"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Funding modelled as its own state machine, not a field on the account record.</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Every intermediate state given a customer-visible label and expected resolution time.</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Reversal path built and tested before the happy path was signed off.</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Idempotency enforced at authorisation so a retry cannot double-debit.</a:t>
            </a:r>
            <a:endParaRPr sz="940"/>
          </a:p>
        </p:txBody>
      </p:sp>
      <p:sp>
        <p:nvSpPr>
          <p:cNvPr id="37" name="Shape 34">
            <a:extLst xmlns:a="http://schemas.openxmlformats.org/drawingml/2006/main">
              <a:ext uri="{FF2B5EF4-FFF2-40B4-BE49-F238E27FC236}">
                <a16:creationId xmlns:a16="http://schemas.microsoft.com/office/drawing/2014/main" id="{AC03CC02-43AD-4B24-AF47-D612C4B78D75}"/>
              </a:ext>
            </a:extLst>
          </p:cNvPr>
          <p:cNvSpPr>
            <a:spLocks xmlns:a="http://schemas.openxmlformats.org/drawingml/2006/main" noGrp="1"/>
          </p:cNvSpPr>
          <p:nvPr/>
        </p:nvSpPr>
        <p:spPr>
          <a:xfrm xmlns:a="http://schemas.openxmlformats.org/drawingml/2006/main">
            <a:off x="566928" y="5705856"/>
            <a:ext cx="11057839" cy="457200"/>
          </a:xfrm>
          <a:prstGeom xmlns:a="http://schemas.openxmlformats.org/drawingml/2006/main" prst="rect">
            <a:avLst/>
          </a:prstGeom>
          <a:solidFill xmlns:a="http://schemas.openxmlformats.org/drawingml/2006/main">
            <a:srgbClr val="F0F4F8"/>
          </a:solidFill>
        </p:spPr>
      </p:sp>
      <p:sp>
        <p:nvSpPr>
          <p:cNvPr id="38" name="Text 35">
            <a:extLst xmlns:a="http://schemas.openxmlformats.org/drawingml/2006/main">
              <a:ext uri="{FF2B5EF4-FFF2-40B4-BE49-F238E27FC236}">
                <a16:creationId xmlns:a16="http://schemas.microsoft.com/office/drawing/2014/main" id="{74732A45-DB71-4BA2-9DAE-96B9D51FA26E}"/>
              </a:ext>
            </a:extLst>
          </p:cNvPr>
          <p:cNvSpPr>
            <a:spLocks xmlns:a="http://schemas.openxmlformats.org/drawingml/2006/main" noGrp="1"/>
          </p:cNvSpPr>
          <p:nvPr/>
        </p:nvSpPr>
        <p:spPr>
          <a:xfrm xmlns:a="http://schemas.openxmlformats.org/drawingml/2006/main">
            <a:off x="786384" y="5833872"/>
            <a:ext cx="10618927"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40" b="1">
                <a:solidFill>
                  <a:srgbClr val="102A43"/>
                </a:solidFill>
                <a:latin typeface="Arial"/>
                <a:ea typeface="Arial"/>
                <a:cs typeface="Arial"/>
              </a:rPr>
              <a:t>Reused from the spine:  </a:t>
            </a:r>
            <a:r>
              <a:rPr sz="940">
                <a:solidFill>
                  <a:srgbClr val="1A1A1A"/>
                </a:solidFill>
                <a:latin typeface="Arial"/>
                <a:ea typeface="Arial"/>
                <a:cs typeface="Arial"/>
              </a:rPr>
              <a:t>identity · consent · document store · exception queue · notifications · audit trail          </a:t>
            </a:r>
            <a:r>
              <a:rPr sz="940" b="1">
                <a:solidFill>
                  <a:srgbClr val="B04A25"/>
                </a:solidFill>
                <a:latin typeface="Arial"/>
                <a:ea typeface="Arial"/>
                <a:cs typeface="Arial"/>
              </a:rPr>
              <a:t>New to the spine:  </a:t>
            </a:r>
            <a:r>
              <a:rPr sz="940">
                <a:solidFill>
                  <a:srgbClr val="1A1A1A"/>
                </a:solidFill>
                <a:latin typeface="Arial"/>
                <a:ea typeface="Arial"/>
                <a:cs typeface="Arial"/>
              </a:rPr>
              <a:t>reversible-transaction state machine, inherited by the card and insurance journeys</a:t>
            </a:r>
            <a:endParaRPr sz="940"/>
          </a:p>
        </p:txBody>
      </p:sp>
      <p:sp>
        <p:nvSpPr>
          <p:cNvPr id="39" name="Shape 36">
            <a:extLst xmlns:a="http://schemas.openxmlformats.org/drawingml/2006/main">
              <a:ext uri="{FF2B5EF4-FFF2-40B4-BE49-F238E27FC236}">
                <a16:creationId xmlns:a16="http://schemas.microsoft.com/office/drawing/2014/main" id="{612CFAC0-1D31-4508-8B57-AADEB1B58F2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0" name="Text 37">
            <a:extLst xmlns:a="http://schemas.openxmlformats.org/drawingml/2006/main">
              <a:ext uri="{FF2B5EF4-FFF2-40B4-BE49-F238E27FC236}">
                <a16:creationId xmlns:a16="http://schemas.microsoft.com/office/drawing/2014/main" id="{71AD2C53-0A2A-4FCD-81AC-8F173771669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model, calibrated to published digital account-opening benchmarks — 51–68% abandonment, instant funding converting materially above deferred</a:t>
            </a:r>
            <a:endParaRPr sz="850"/>
          </a:p>
        </p:txBody>
      </p:sp>
      <p:sp>
        <p:nvSpPr>
          <p:cNvPr id="41" name="Text 38">
            <a:extLst xmlns:a="http://schemas.openxmlformats.org/drawingml/2006/main">
              <a:ext uri="{FF2B5EF4-FFF2-40B4-BE49-F238E27FC236}">
                <a16:creationId xmlns:a16="http://schemas.microsoft.com/office/drawing/2014/main" id="{A3A196CD-C90A-4D3D-99BE-4D5020AC1A2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589152406"/>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FDA10E-8449-4ABA-A44B-BBEB04E418E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JOURNEY TEARDOWN 02  ·  SERVE</a:t>
            </a:r>
            <a:endParaRPr sz="950"/>
          </a:p>
        </p:txBody>
      </p:sp>
      <p:sp>
        <p:nvSpPr>
          <p:cNvPr id="3" name="Text 1">
            <a:extLst xmlns:a="http://schemas.openxmlformats.org/drawingml/2006/main">
              <a:ext uri="{FF2B5EF4-FFF2-40B4-BE49-F238E27FC236}">
                <a16:creationId xmlns:a16="http://schemas.microsoft.com/office/drawing/2014/main" id="{12A5863F-534D-4521-B65E-E4C5EFE1AFE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Loan servicing self-help moved 11 request categories out of the agent queue — by</a:t>
            </a:r>
            <a:endParaRPr sz="1900"/>
          </a:p>
          <a:p xmlns:a="http://schemas.openxmlformats.org/drawingml/2006/main">
            <a:pPr marL="0" indent="0">
              <a:lnSpc>
                <a:spcPts val="2400"/>
              </a:lnSpc>
              <a:buNone/>
            </a:pPr>
            <a:r>
              <a:rPr sz="1900" b="1">
                <a:solidFill>
                  <a:srgbClr val="102A43"/>
                </a:solidFill>
                <a:latin typeface="Arial"/>
                <a:ea typeface="Arial"/>
                <a:cs typeface="Arial"/>
              </a:rPr>
              <a:t>fixing the taxonomy first and building the interface second</a:t>
            </a:r>
            <a:endParaRPr sz="1900"/>
          </a:p>
        </p:txBody>
      </p:sp>
      <p:sp>
        <p:nvSpPr>
          <p:cNvPr id="4" name="Shape 2">
            <a:extLst xmlns:a="http://schemas.openxmlformats.org/drawingml/2006/main">
              <a:ext uri="{FF2B5EF4-FFF2-40B4-BE49-F238E27FC236}">
                <a16:creationId xmlns:a16="http://schemas.microsoft.com/office/drawing/2014/main" id="{FB3C7F16-F1D3-47A5-B02F-7BC5F59586FB}"/>
              </a:ext>
            </a:extLst>
          </p:cNvPr>
          <p:cNvSpPr>
            <a:spLocks xmlns:a="http://schemas.openxmlformats.org/drawingml/2006/main" noGrp="1"/>
          </p:cNvSpPr>
          <p:nvPr/>
        </p:nvSpPr>
        <p:spPr>
          <a:xfrm xmlns:a="http://schemas.openxmlformats.org/drawingml/2006/main">
            <a:off x="566928" y="1335024"/>
            <a:ext cx="1751533" cy="124358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D35CFD8D-625A-43CF-9E5D-CE6215714CB9}"/>
              </a:ext>
            </a:extLst>
          </p:cNvPr>
          <p:cNvSpPr>
            <a:spLocks xmlns:a="http://schemas.openxmlformats.org/drawingml/2006/main" noGrp="1"/>
          </p:cNvSpPr>
          <p:nvPr/>
        </p:nvSpPr>
        <p:spPr>
          <a:xfrm xmlns:a="http://schemas.openxmlformats.org/drawingml/2006/main">
            <a:off x="694944"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FDED3975-BFFF-431D-B02E-42831F2213A4}"/>
              </a:ext>
            </a:extLst>
          </p:cNvPr>
          <p:cNvSpPr>
            <a:spLocks xmlns:a="http://schemas.openxmlformats.org/drawingml/2006/main" noGrp="1"/>
          </p:cNvSpPr>
          <p:nvPr/>
        </p:nvSpPr>
        <p:spPr>
          <a:xfrm xmlns:a="http://schemas.openxmlformats.org/drawingml/2006/main">
            <a:off x="694944"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Taxonomy audit</a:t>
            </a:r>
            <a:endParaRPr sz="980"/>
          </a:p>
        </p:txBody>
      </p:sp>
      <p:sp>
        <p:nvSpPr>
          <p:cNvPr id="7" name="Text 5">
            <a:extLst xmlns:a="http://schemas.openxmlformats.org/drawingml/2006/main">
              <a:ext uri="{FF2B5EF4-FFF2-40B4-BE49-F238E27FC236}">
                <a16:creationId xmlns:a16="http://schemas.microsoft.com/office/drawing/2014/main" id="{2075C019-627B-41DB-A6C4-B7E4EC93E635}"/>
              </a:ext>
            </a:extLst>
          </p:cNvPr>
          <p:cNvSpPr>
            <a:spLocks xmlns:a="http://schemas.openxmlformats.org/drawingml/2006/main" noGrp="1"/>
          </p:cNvSpPr>
          <p:nvPr/>
        </p:nvSpPr>
        <p:spPr>
          <a:xfrm xmlns:a="http://schemas.openxmlformats.org/drawingml/2006/main">
            <a:off x="694944"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Catalogue what customers ask, not what systems are called</a:t>
            </a:r>
            <a:endParaRPr sz="840"/>
          </a:p>
        </p:txBody>
      </p:sp>
      <p:sp>
        <p:nvSpPr>
          <p:cNvPr id="8" name="Shape 6">
            <a:extLst xmlns:a="http://schemas.openxmlformats.org/drawingml/2006/main">
              <a:ext uri="{FF2B5EF4-FFF2-40B4-BE49-F238E27FC236}">
                <a16:creationId xmlns:a16="http://schemas.microsoft.com/office/drawing/2014/main" id="{1C32935D-7E80-4B45-ADD7-AD9FBD0BBBCC}"/>
              </a:ext>
            </a:extLst>
          </p:cNvPr>
          <p:cNvSpPr>
            <a:spLocks xmlns:a="http://schemas.openxmlformats.org/drawingml/2006/main" noGrp="1"/>
          </p:cNvSpPr>
          <p:nvPr/>
        </p:nvSpPr>
        <p:spPr>
          <a:xfrm xmlns:a="http://schemas.openxmlformats.org/drawingml/2006/main">
            <a:off x="2428189" y="1335024"/>
            <a:ext cx="1751533" cy="1243584"/>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F58EDB46-2380-4CFC-BFBE-18CBFF30EAE3}"/>
              </a:ext>
            </a:extLst>
          </p:cNvPr>
          <p:cNvSpPr>
            <a:spLocks xmlns:a="http://schemas.openxmlformats.org/drawingml/2006/main" noGrp="1"/>
          </p:cNvSpPr>
          <p:nvPr/>
        </p:nvSpPr>
        <p:spPr>
          <a:xfrm xmlns:a="http://schemas.openxmlformats.org/drawingml/2006/main">
            <a:off x="2556205"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97B21C30-064C-444D-8810-0783FCD754A6}"/>
              </a:ext>
            </a:extLst>
          </p:cNvPr>
          <p:cNvSpPr>
            <a:spLocks xmlns:a="http://schemas.openxmlformats.org/drawingml/2006/main" noGrp="1"/>
          </p:cNvSpPr>
          <p:nvPr/>
        </p:nvSpPr>
        <p:spPr>
          <a:xfrm xmlns:a="http://schemas.openxmlformats.org/drawingml/2006/main">
            <a:off x="2556205"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Collapse and merge</a:t>
            </a:r>
            <a:endParaRPr sz="980"/>
          </a:p>
        </p:txBody>
      </p:sp>
      <p:sp>
        <p:nvSpPr>
          <p:cNvPr id="11" name="Text 9">
            <a:extLst xmlns:a="http://schemas.openxmlformats.org/drawingml/2006/main">
              <a:ext uri="{FF2B5EF4-FFF2-40B4-BE49-F238E27FC236}">
                <a16:creationId xmlns:a16="http://schemas.microsoft.com/office/drawing/2014/main" id="{9DBBB6F3-14D6-4F42-8191-F9E6A731F41E}"/>
              </a:ext>
            </a:extLst>
          </p:cNvPr>
          <p:cNvSpPr>
            <a:spLocks xmlns:a="http://schemas.openxmlformats.org/drawingml/2006/main" noGrp="1"/>
          </p:cNvSpPr>
          <p:nvPr/>
        </p:nvSpPr>
        <p:spPr>
          <a:xfrm xmlns:a="http://schemas.openxmlformats.org/drawingml/2006/main">
            <a:off x="2556205"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Reduce overlapping types to a navigable set</a:t>
            </a:r>
            <a:endParaRPr sz="840"/>
          </a:p>
        </p:txBody>
      </p:sp>
      <p:sp>
        <p:nvSpPr>
          <p:cNvPr id="12" name="Shape 10">
            <a:extLst xmlns:a="http://schemas.openxmlformats.org/drawingml/2006/main">
              <a:ext uri="{FF2B5EF4-FFF2-40B4-BE49-F238E27FC236}">
                <a16:creationId xmlns:a16="http://schemas.microsoft.com/office/drawing/2014/main" id="{3E7E99EC-BD2B-4536-AE6F-27E1FF17C47F}"/>
              </a:ext>
            </a:extLst>
          </p:cNvPr>
          <p:cNvSpPr>
            <a:spLocks xmlns:a="http://schemas.openxmlformats.org/drawingml/2006/main" noGrp="1"/>
          </p:cNvSpPr>
          <p:nvPr/>
        </p:nvSpPr>
        <p:spPr>
          <a:xfrm xmlns:a="http://schemas.openxmlformats.org/drawingml/2006/main">
            <a:off x="4289450" y="1335024"/>
            <a:ext cx="1751533" cy="1243584"/>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1BCB62B1-6F34-480B-B24B-B8C7927216DE}"/>
              </a:ext>
            </a:extLst>
          </p:cNvPr>
          <p:cNvSpPr>
            <a:spLocks xmlns:a="http://schemas.openxmlformats.org/drawingml/2006/main" noGrp="1"/>
          </p:cNvSpPr>
          <p:nvPr/>
        </p:nvSpPr>
        <p:spPr>
          <a:xfrm xmlns:a="http://schemas.openxmlformats.org/drawingml/2006/main">
            <a:off x="4417466"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203B7419-CB79-4D82-B6B4-8C409F5C61AC}"/>
              </a:ext>
            </a:extLst>
          </p:cNvPr>
          <p:cNvSpPr>
            <a:spLocks xmlns:a="http://schemas.openxmlformats.org/drawingml/2006/main" noGrp="1"/>
          </p:cNvSpPr>
          <p:nvPr/>
        </p:nvSpPr>
        <p:spPr>
          <a:xfrm xmlns:a="http://schemas.openxmlformats.org/drawingml/2006/main">
            <a:off x="4417466"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Eligibility rules</a:t>
            </a:r>
            <a:endParaRPr sz="980"/>
          </a:p>
        </p:txBody>
      </p:sp>
      <p:sp>
        <p:nvSpPr>
          <p:cNvPr id="15" name="Text 13">
            <a:extLst xmlns:a="http://schemas.openxmlformats.org/drawingml/2006/main">
              <a:ext uri="{FF2B5EF4-FFF2-40B4-BE49-F238E27FC236}">
                <a16:creationId xmlns:a16="http://schemas.microsoft.com/office/drawing/2014/main" id="{44012D79-06DF-4EB6-A902-0690A79A5443}"/>
              </a:ext>
            </a:extLst>
          </p:cNvPr>
          <p:cNvSpPr>
            <a:spLocks xmlns:a="http://schemas.openxmlformats.org/drawingml/2006/main" noGrp="1"/>
          </p:cNvSpPr>
          <p:nvPr/>
        </p:nvSpPr>
        <p:spPr>
          <a:xfrm xmlns:a="http://schemas.openxmlformats.org/drawingml/2006/main">
            <a:off x="4417466"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Decide per request what can safely self-serve</a:t>
            </a:r>
            <a:endParaRPr sz="840"/>
          </a:p>
        </p:txBody>
      </p:sp>
      <p:sp>
        <p:nvSpPr>
          <p:cNvPr id="16" name="Shape 14">
            <a:extLst xmlns:a="http://schemas.openxmlformats.org/drawingml/2006/main">
              <a:ext uri="{FF2B5EF4-FFF2-40B4-BE49-F238E27FC236}">
                <a16:creationId xmlns:a16="http://schemas.microsoft.com/office/drawing/2014/main" id="{400DF438-AB5E-49ED-8763-BA06A1900F77}"/>
              </a:ext>
            </a:extLst>
          </p:cNvPr>
          <p:cNvSpPr>
            <a:spLocks xmlns:a="http://schemas.openxmlformats.org/drawingml/2006/main" noGrp="1"/>
          </p:cNvSpPr>
          <p:nvPr/>
        </p:nvSpPr>
        <p:spPr>
          <a:xfrm xmlns:a="http://schemas.openxmlformats.org/drawingml/2006/main">
            <a:off x="6150712" y="1335024"/>
            <a:ext cx="1751533" cy="1243584"/>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1C7CF954-986E-4F59-9493-36EAC2D4042B}"/>
              </a:ext>
            </a:extLst>
          </p:cNvPr>
          <p:cNvSpPr>
            <a:spLocks xmlns:a="http://schemas.openxmlformats.org/drawingml/2006/main" noGrp="1"/>
          </p:cNvSpPr>
          <p:nvPr/>
        </p:nvSpPr>
        <p:spPr>
          <a:xfrm xmlns:a="http://schemas.openxmlformats.org/drawingml/2006/main">
            <a:off x="6278728"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CFFF7AB1-B1B5-48D3-BA04-66E35058F2A7}"/>
              </a:ext>
            </a:extLst>
          </p:cNvPr>
          <p:cNvSpPr>
            <a:spLocks xmlns:a="http://schemas.openxmlformats.org/drawingml/2006/main" noGrp="1"/>
          </p:cNvSpPr>
          <p:nvPr/>
        </p:nvSpPr>
        <p:spPr>
          <a:xfrm xmlns:a="http://schemas.openxmlformats.org/drawingml/2006/main">
            <a:off x="6278728"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Self-service flow</a:t>
            </a:r>
            <a:endParaRPr sz="980"/>
          </a:p>
        </p:txBody>
      </p:sp>
      <p:sp>
        <p:nvSpPr>
          <p:cNvPr id="19" name="Text 17">
            <a:extLst xmlns:a="http://schemas.openxmlformats.org/drawingml/2006/main">
              <a:ext uri="{FF2B5EF4-FFF2-40B4-BE49-F238E27FC236}">
                <a16:creationId xmlns:a16="http://schemas.microsoft.com/office/drawing/2014/main" id="{26A8C685-3C6B-4CC8-A5DF-A65CA38DD838}"/>
              </a:ext>
            </a:extLst>
          </p:cNvPr>
          <p:cNvSpPr>
            <a:spLocks xmlns:a="http://schemas.openxmlformats.org/drawingml/2006/main" noGrp="1"/>
          </p:cNvSpPr>
          <p:nvPr/>
        </p:nvSpPr>
        <p:spPr>
          <a:xfrm xmlns:a="http://schemas.openxmlformats.org/drawingml/2006/main">
            <a:off x="6278728"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One shape across all eleven categories</a:t>
            </a:r>
            <a:endParaRPr sz="840"/>
          </a:p>
        </p:txBody>
      </p:sp>
      <p:sp>
        <p:nvSpPr>
          <p:cNvPr id="20" name="Shape 18">
            <a:extLst xmlns:a="http://schemas.openxmlformats.org/drawingml/2006/main">
              <a:ext uri="{FF2B5EF4-FFF2-40B4-BE49-F238E27FC236}">
                <a16:creationId xmlns:a16="http://schemas.microsoft.com/office/drawing/2014/main" id="{736E9EE1-49F2-43FF-86FE-DD1463C0FAE5}"/>
              </a:ext>
            </a:extLst>
          </p:cNvPr>
          <p:cNvSpPr>
            <a:spLocks xmlns:a="http://schemas.openxmlformats.org/drawingml/2006/main" noGrp="1"/>
          </p:cNvSpPr>
          <p:nvPr/>
        </p:nvSpPr>
        <p:spPr>
          <a:xfrm xmlns:a="http://schemas.openxmlformats.org/drawingml/2006/main">
            <a:off x="8011973" y="1335024"/>
            <a:ext cx="1751533" cy="124358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715A415F-F770-4C42-BC97-CB518518D728}"/>
              </a:ext>
            </a:extLst>
          </p:cNvPr>
          <p:cNvSpPr>
            <a:spLocks xmlns:a="http://schemas.openxmlformats.org/drawingml/2006/main" noGrp="1"/>
          </p:cNvSpPr>
          <p:nvPr/>
        </p:nvSpPr>
        <p:spPr>
          <a:xfrm xmlns:a="http://schemas.openxmlformats.org/drawingml/2006/main">
            <a:off x="8139989"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393762CC-7D36-4188-A5CB-A827730FF224}"/>
              </a:ext>
            </a:extLst>
          </p:cNvPr>
          <p:cNvSpPr>
            <a:spLocks xmlns:a="http://schemas.openxmlformats.org/drawingml/2006/main" noGrp="1"/>
          </p:cNvSpPr>
          <p:nvPr/>
        </p:nvSpPr>
        <p:spPr>
          <a:xfrm xmlns:a="http://schemas.openxmlformats.org/drawingml/2006/main">
            <a:off x="8139989"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Fulfilment routing</a:t>
            </a:r>
            <a:endParaRPr sz="980"/>
          </a:p>
        </p:txBody>
      </p:sp>
      <p:sp>
        <p:nvSpPr>
          <p:cNvPr id="23" name="Text 21">
            <a:extLst xmlns:a="http://schemas.openxmlformats.org/drawingml/2006/main">
              <a:ext uri="{FF2B5EF4-FFF2-40B4-BE49-F238E27FC236}">
                <a16:creationId xmlns:a16="http://schemas.microsoft.com/office/drawing/2014/main" id="{72F7B8A8-B31E-42AD-BD4F-1F2470B2F4A6}"/>
              </a:ext>
            </a:extLst>
          </p:cNvPr>
          <p:cNvSpPr>
            <a:spLocks xmlns:a="http://schemas.openxmlformats.org/drawingml/2006/main" noGrp="1"/>
          </p:cNvSpPr>
          <p:nvPr/>
        </p:nvSpPr>
        <p:spPr>
          <a:xfrm xmlns:a="http://schemas.openxmlformats.org/drawingml/2006/main">
            <a:off x="8139989"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Each category routed to its owning system</a:t>
            </a:r>
            <a:endParaRPr sz="840"/>
          </a:p>
        </p:txBody>
      </p:sp>
      <p:sp>
        <p:nvSpPr>
          <p:cNvPr id="24" name="Shape 22">
            <a:extLst xmlns:a="http://schemas.openxmlformats.org/drawingml/2006/main">
              <a:ext uri="{FF2B5EF4-FFF2-40B4-BE49-F238E27FC236}">
                <a16:creationId xmlns:a16="http://schemas.microsoft.com/office/drawing/2014/main" id="{B7EE876A-AC5B-4D8D-965E-9E7D98420EE4}"/>
              </a:ext>
            </a:extLst>
          </p:cNvPr>
          <p:cNvSpPr>
            <a:spLocks xmlns:a="http://schemas.openxmlformats.org/drawingml/2006/main" noGrp="1"/>
          </p:cNvSpPr>
          <p:nvPr/>
        </p:nvSpPr>
        <p:spPr>
          <a:xfrm xmlns:a="http://schemas.openxmlformats.org/drawingml/2006/main">
            <a:off x="9873234" y="1335024"/>
            <a:ext cx="1751533" cy="1243584"/>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FCFB398F-CE15-4AE8-8CB7-9BC13B8F56AE}"/>
              </a:ext>
            </a:extLst>
          </p:cNvPr>
          <p:cNvSpPr>
            <a:spLocks xmlns:a="http://schemas.openxmlformats.org/drawingml/2006/main" noGrp="1"/>
          </p:cNvSpPr>
          <p:nvPr/>
        </p:nvSpPr>
        <p:spPr>
          <a:xfrm xmlns:a="http://schemas.openxmlformats.org/drawingml/2006/main">
            <a:off x="10001250"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06</a:t>
            </a:r>
            <a:endParaRPr sz="840"/>
          </a:p>
        </p:txBody>
      </p:sp>
      <p:sp>
        <p:nvSpPr>
          <p:cNvPr id="26" name="Text 24">
            <a:extLst xmlns:a="http://schemas.openxmlformats.org/drawingml/2006/main">
              <a:ext uri="{FF2B5EF4-FFF2-40B4-BE49-F238E27FC236}">
                <a16:creationId xmlns:a16="http://schemas.microsoft.com/office/drawing/2014/main" id="{2443B75D-10DB-4C45-AD32-44F8CD096179}"/>
              </a:ext>
            </a:extLst>
          </p:cNvPr>
          <p:cNvSpPr>
            <a:spLocks xmlns:a="http://schemas.openxmlformats.org/drawingml/2006/main" noGrp="1"/>
          </p:cNvSpPr>
          <p:nvPr/>
        </p:nvSpPr>
        <p:spPr>
          <a:xfrm xmlns:a="http://schemas.openxmlformats.org/drawingml/2006/main">
            <a:off x="10001250"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Disposition capture</a:t>
            </a:r>
            <a:endParaRPr sz="980"/>
          </a:p>
        </p:txBody>
      </p:sp>
      <p:sp>
        <p:nvSpPr>
          <p:cNvPr id="27" name="Text 25">
            <a:extLst xmlns:a="http://schemas.openxmlformats.org/drawingml/2006/main">
              <a:ext uri="{FF2B5EF4-FFF2-40B4-BE49-F238E27FC236}">
                <a16:creationId xmlns:a16="http://schemas.microsoft.com/office/drawing/2014/main" id="{10B68D28-8433-4353-8765-0D4AB8FAFE89}"/>
              </a:ext>
            </a:extLst>
          </p:cNvPr>
          <p:cNvSpPr>
            <a:spLocks xmlns:a="http://schemas.openxmlformats.org/drawingml/2006/main" noGrp="1"/>
          </p:cNvSpPr>
          <p:nvPr/>
        </p:nvSpPr>
        <p:spPr>
          <a:xfrm xmlns:a="http://schemas.openxmlformats.org/drawingml/2006/main">
            <a:off x="10001250"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Structured outcome recorded once, channel-agnostic</a:t>
            </a:r>
            <a:endParaRPr sz="840"/>
          </a:p>
        </p:txBody>
      </p:sp>
      <p:sp>
        <p:nvSpPr>
          <p:cNvPr id="28" name="Text 26">
            <a:extLst xmlns:a="http://schemas.openxmlformats.org/drawingml/2006/main">
              <a:ext uri="{FF2B5EF4-FFF2-40B4-BE49-F238E27FC236}">
                <a16:creationId xmlns:a16="http://schemas.microsoft.com/office/drawing/2014/main" id="{0EB4272A-CDEA-487E-9B86-8EE05F5E6402}"/>
              </a:ext>
            </a:extLst>
          </p:cNvPr>
          <p:cNvSpPr>
            <a:spLocks xmlns:a="http://schemas.openxmlformats.org/drawingml/2006/main" noGrp="1"/>
          </p:cNvSpPr>
          <p:nvPr/>
        </p:nvSpPr>
        <p:spPr>
          <a:xfrm xmlns:a="http://schemas.openxmlformats.org/drawingml/2006/main">
            <a:off x="566928" y="2670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i="1">
                <a:solidFill>
                  <a:srgbClr val="627D98"/>
                </a:solidFill>
                <a:latin typeface="Arial"/>
                <a:ea typeface="Arial"/>
                <a:cs typeface="Arial"/>
              </a:rPr>
              <a:t>The work that made this succeed happened at step 01. Shipping the interface over an unfixed taxonomy would have moved confusion, not workload.</a:t>
            </a:r>
            <a:endParaRPr sz="900"/>
          </a:p>
        </p:txBody>
      </p:sp>
      <p:graphicFrame>
        <p:nvGraphicFramePr>
          <p:cNvPr id="71" name="Chart 0"/>
          <p:cNvGraphicFramePr/>
          <p:nvPr/>
        </p:nvGraphicFramePr>
        <p:xfrm>
          <a:off xmlns:a="http://schemas.openxmlformats.org/drawingml/2006/main" x="566928" y="2980944"/>
          <a:ext xmlns:a="http://schemas.openxmlformats.org/drawingml/2006/main" cx="6126480" cy="3017520"/>
        </p:xfrm>
        <a:graphic xmlns:a="http://schemas.openxmlformats.org/drawingml/2006/main">
          <a:graphicData uri="http://schemas.openxmlformats.org/drawingml/2006/chart">
            <c:chart xmlns:r="http://schemas.openxmlformats.org/officeDocument/2006/relationships" xmlns:c="http://schemas.openxmlformats.org/drawingml/2006/chart" r:id="Rc3a11120fb414d8f"/>
          </a:graphicData>
        </a:graphic>
      </p:graphicFrame>
      <p:sp>
        <p:nvSpPr>
          <p:cNvPr id="30" name="Text 27">
            <a:extLst xmlns:a="http://schemas.openxmlformats.org/drawingml/2006/main">
              <a:ext uri="{FF2B5EF4-FFF2-40B4-BE49-F238E27FC236}">
                <a16:creationId xmlns:a16="http://schemas.microsoft.com/office/drawing/2014/main" id="{5735F3E0-8894-4CD4-9947-B86630D2C205}"/>
              </a:ext>
            </a:extLst>
          </p:cNvPr>
          <p:cNvSpPr>
            <a:spLocks xmlns:a="http://schemas.openxmlformats.org/drawingml/2006/main" noGrp="1"/>
          </p:cNvSpPr>
          <p:nvPr/>
        </p:nvSpPr>
        <p:spPr>
          <a:xfrm xmlns:a="http://schemas.openxmlformats.org/drawingml/2006/main">
            <a:off x="566928" y="6053328"/>
            <a:ext cx="6126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i="1">
                <a:solidFill>
                  <a:srgbClr val="627D98"/>
                </a:solidFill>
                <a:latin typeface="Arial"/>
                <a:ea typeface="Arial"/>
                <a:cs typeface="Arial"/>
              </a:rPr>
              <a:t>Deflection by category, calibrated to published benchmarks — the spread is the insight, not the average</a:t>
            </a:r>
            <a:endParaRPr sz="860"/>
          </a:p>
        </p:txBody>
      </p:sp>
      <p:sp>
        <p:nvSpPr>
          <p:cNvPr id="31" name="Shape 28">
            <a:extLst xmlns:a="http://schemas.openxmlformats.org/drawingml/2006/main">
              <a:ext uri="{FF2B5EF4-FFF2-40B4-BE49-F238E27FC236}">
                <a16:creationId xmlns:a16="http://schemas.microsoft.com/office/drawing/2014/main" id="{E2C48F10-B850-4599-A808-D91FDE24986E}"/>
              </a:ext>
            </a:extLst>
          </p:cNvPr>
          <p:cNvSpPr>
            <a:spLocks xmlns:a="http://schemas.openxmlformats.org/drawingml/2006/main" noGrp="1"/>
          </p:cNvSpPr>
          <p:nvPr/>
        </p:nvSpPr>
        <p:spPr>
          <a:xfrm xmlns:a="http://schemas.openxmlformats.org/drawingml/2006/main">
            <a:off x="7059168" y="2980944"/>
            <a:ext cx="2194560" cy="859536"/>
          </a:xfrm>
          <a:prstGeom xmlns:a="http://schemas.openxmlformats.org/drawingml/2006/main" prst="rect">
            <a:avLst/>
          </a:prstGeom>
          <a:solidFill xmlns:a="http://schemas.openxmlformats.org/drawingml/2006/main">
            <a:srgbClr val="F0F4F8"/>
          </a:solidFill>
        </p:spPr>
      </p:sp>
      <p:sp>
        <p:nvSpPr>
          <p:cNvPr id="32" name="Text 29">
            <a:extLst xmlns:a="http://schemas.openxmlformats.org/drawingml/2006/main">
              <a:ext uri="{FF2B5EF4-FFF2-40B4-BE49-F238E27FC236}">
                <a16:creationId xmlns:a16="http://schemas.microsoft.com/office/drawing/2014/main" id="{F5654629-2618-45B6-9DF6-27A093C7D78F}"/>
              </a:ext>
            </a:extLst>
          </p:cNvPr>
          <p:cNvSpPr>
            <a:spLocks xmlns:a="http://schemas.openxmlformats.org/drawingml/2006/main" noGrp="1"/>
          </p:cNvSpPr>
          <p:nvPr/>
        </p:nvSpPr>
        <p:spPr>
          <a:xfrm xmlns:a="http://schemas.openxmlformats.org/drawingml/2006/main">
            <a:off x="7187184" y="3099816"/>
            <a:ext cx="19385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B04A25"/>
                </a:solidFill>
                <a:latin typeface="Arial"/>
                <a:ea typeface="Arial"/>
                <a:cs typeface="Arial"/>
              </a:rPr>
              <a:t>38%</a:t>
            </a:r>
            <a:endParaRPr sz="2400"/>
          </a:p>
        </p:txBody>
      </p:sp>
      <p:sp>
        <p:nvSpPr>
          <p:cNvPr id="33" name="Text 30">
            <a:extLst xmlns:a="http://schemas.openxmlformats.org/drawingml/2006/main">
              <a:ext uri="{FF2B5EF4-FFF2-40B4-BE49-F238E27FC236}">
                <a16:creationId xmlns:a16="http://schemas.microsoft.com/office/drawing/2014/main" id="{AAFB6943-B219-4773-A3D8-AD46DAA7A400}"/>
              </a:ext>
            </a:extLst>
          </p:cNvPr>
          <p:cNvSpPr>
            <a:spLocks xmlns:a="http://schemas.openxmlformats.org/drawingml/2006/main" noGrp="1"/>
          </p:cNvSpPr>
          <p:nvPr/>
        </p:nvSpPr>
        <p:spPr>
          <a:xfrm xmlns:a="http://schemas.openxmlformats.org/drawingml/2006/main">
            <a:off x="7187184" y="3493008"/>
            <a:ext cx="193852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blended deflection</a:t>
            </a:r>
            <a:endParaRPr sz="860"/>
          </a:p>
          <a:p xmlns:a="http://schemas.openxmlformats.org/drawingml/2006/main">
            <a:pPr marL="0" indent="0">
              <a:lnSpc>
                <a:spcPts val="1050"/>
              </a:lnSpc>
              <a:buNone/>
            </a:pPr>
            <a:r>
              <a:rPr sz="860">
                <a:solidFill>
                  <a:srgbClr val="486581"/>
                </a:solidFill>
                <a:latin typeface="Arial"/>
                <a:ea typeface="Arial"/>
                <a:cs typeface="Arial"/>
              </a:rPr>
              <a:t>across 11 categories</a:t>
            </a:r>
            <a:endParaRPr sz="860"/>
          </a:p>
        </p:txBody>
      </p:sp>
      <p:sp>
        <p:nvSpPr>
          <p:cNvPr id="34" name="Shape 31">
            <a:extLst xmlns:a="http://schemas.openxmlformats.org/drawingml/2006/main">
              <a:ext uri="{FF2B5EF4-FFF2-40B4-BE49-F238E27FC236}">
                <a16:creationId xmlns:a16="http://schemas.microsoft.com/office/drawing/2014/main" id="{780A84B6-9ABE-4578-80E8-F84DD3839FF4}"/>
              </a:ext>
            </a:extLst>
          </p:cNvPr>
          <p:cNvSpPr>
            <a:spLocks xmlns:a="http://schemas.openxmlformats.org/drawingml/2006/main" noGrp="1"/>
          </p:cNvSpPr>
          <p:nvPr/>
        </p:nvSpPr>
        <p:spPr>
          <a:xfrm xmlns:a="http://schemas.openxmlformats.org/drawingml/2006/main">
            <a:off x="9345168" y="2980944"/>
            <a:ext cx="2276856" cy="859536"/>
          </a:xfrm>
          <a:prstGeom xmlns:a="http://schemas.openxmlformats.org/drawingml/2006/main" prst="rect">
            <a:avLst/>
          </a:prstGeom>
          <a:solidFill xmlns:a="http://schemas.openxmlformats.org/drawingml/2006/main">
            <a:srgbClr val="F0F4F8"/>
          </a:solidFill>
        </p:spPr>
      </p:sp>
      <p:sp>
        <p:nvSpPr>
          <p:cNvPr id="35" name="Text 32">
            <a:extLst xmlns:a="http://schemas.openxmlformats.org/drawingml/2006/main">
              <a:ext uri="{FF2B5EF4-FFF2-40B4-BE49-F238E27FC236}">
                <a16:creationId xmlns:a16="http://schemas.microsoft.com/office/drawing/2014/main" id="{9F825A40-2CA3-4111-9CEE-61328E17F6B9}"/>
              </a:ext>
            </a:extLst>
          </p:cNvPr>
          <p:cNvSpPr>
            <a:spLocks xmlns:a="http://schemas.openxmlformats.org/drawingml/2006/main" noGrp="1"/>
          </p:cNvSpPr>
          <p:nvPr/>
        </p:nvSpPr>
        <p:spPr>
          <a:xfrm xmlns:a="http://schemas.openxmlformats.org/drawingml/2006/main">
            <a:off x="9473184" y="3099816"/>
            <a:ext cx="202082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02A43"/>
                </a:solidFill>
                <a:latin typeface="Arial"/>
                <a:ea typeface="Arial"/>
                <a:cs typeface="Arial"/>
              </a:rPr>
              <a:t>3</a:t>
            </a:r>
            <a:endParaRPr sz="2400"/>
          </a:p>
        </p:txBody>
      </p:sp>
      <p:sp>
        <p:nvSpPr>
          <p:cNvPr id="36" name="Text 33">
            <a:extLst xmlns:a="http://schemas.openxmlformats.org/drawingml/2006/main">
              <a:ext uri="{FF2B5EF4-FFF2-40B4-BE49-F238E27FC236}">
                <a16:creationId xmlns:a16="http://schemas.microsoft.com/office/drawing/2014/main" id="{D1A306E8-872A-4FB2-819F-019C3446A60B}"/>
              </a:ext>
            </a:extLst>
          </p:cNvPr>
          <p:cNvSpPr>
            <a:spLocks xmlns:a="http://schemas.openxmlformats.org/drawingml/2006/main" noGrp="1"/>
          </p:cNvSpPr>
          <p:nvPr/>
        </p:nvSpPr>
        <p:spPr>
          <a:xfrm xmlns:a="http://schemas.openxmlformats.org/drawingml/2006/main">
            <a:off x="9473184" y="3493008"/>
            <a:ext cx="202082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categories carry over</a:t>
            </a:r>
            <a:endParaRPr sz="860"/>
          </a:p>
          <a:p xmlns:a="http://schemas.openxmlformats.org/drawingml/2006/main">
            <a:pPr marL="0" indent="0">
              <a:lnSpc>
                <a:spcPts val="1050"/>
              </a:lnSpc>
              <a:buNone/>
            </a:pPr>
            <a:r>
              <a:rPr sz="860">
                <a:solidFill>
                  <a:srgbClr val="486581"/>
                </a:solidFill>
                <a:latin typeface="Arial"/>
                <a:ea typeface="Arial"/>
                <a:cs typeface="Arial"/>
              </a:rPr>
              <a:t>half the total benefit</a:t>
            </a:r>
            <a:endParaRPr sz="860"/>
          </a:p>
        </p:txBody>
      </p:sp>
      <p:sp>
        <p:nvSpPr>
          <p:cNvPr id="37" name="Text 34">
            <a:extLst xmlns:a="http://schemas.openxmlformats.org/drawingml/2006/main">
              <a:ext uri="{FF2B5EF4-FFF2-40B4-BE49-F238E27FC236}">
                <a16:creationId xmlns:a16="http://schemas.microsoft.com/office/drawing/2014/main" id="{2DC72B2F-5203-4CEB-A60D-098665B738A6}"/>
              </a:ext>
            </a:extLst>
          </p:cNvPr>
          <p:cNvSpPr>
            <a:spLocks xmlns:a="http://schemas.openxmlformats.org/drawingml/2006/main" noGrp="1"/>
          </p:cNvSpPr>
          <p:nvPr/>
        </p:nvSpPr>
        <p:spPr>
          <a:xfrm xmlns:a="http://schemas.openxmlformats.org/drawingml/2006/main">
            <a:off x="7059168" y="4023360"/>
            <a:ext cx="4562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the spread matters more than the average</a:t>
            </a:r>
            <a:endParaRPr sz="1100"/>
          </a:p>
        </p:txBody>
      </p:sp>
      <p:sp>
        <p:nvSpPr>
          <p:cNvPr id="38" name="Shape 35">
            <a:extLst xmlns:a="http://schemas.openxmlformats.org/drawingml/2006/main">
              <a:ext uri="{FF2B5EF4-FFF2-40B4-BE49-F238E27FC236}">
                <a16:creationId xmlns:a16="http://schemas.microsoft.com/office/drawing/2014/main" id="{87E442EE-E1A6-4FC9-BD8F-F37A26619312}"/>
              </a:ext>
            </a:extLst>
          </p:cNvPr>
          <p:cNvSpPr>
            <a:spLocks xmlns:a="http://schemas.openxmlformats.org/drawingml/2006/main" noGrp="1"/>
          </p:cNvSpPr>
          <p:nvPr/>
        </p:nvSpPr>
        <p:spPr>
          <a:xfrm xmlns:a="http://schemas.openxmlformats.org/drawingml/2006/main">
            <a:off x="7059168" y="4279392"/>
            <a:ext cx="4562856" cy="20117"/>
          </a:xfrm>
          <a:prstGeom xmlns:a="http://schemas.openxmlformats.org/drawingml/2006/main" prst="rect">
            <a:avLst/>
          </a:prstGeom>
          <a:solidFill xmlns:a="http://schemas.openxmlformats.org/drawingml/2006/main">
            <a:srgbClr val="102A43"/>
          </a:solidFill>
        </p:spPr>
      </p:sp>
      <p:sp>
        <p:nvSpPr>
          <p:cNvPr id="39" name="Text 36">
            <a:extLst xmlns:a="http://schemas.openxmlformats.org/drawingml/2006/main">
              <a:ext uri="{FF2B5EF4-FFF2-40B4-BE49-F238E27FC236}">
                <a16:creationId xmlns:a16="http://schemas.microsoft.com/office/drawing/2014/main" id="{6E5D1848-7B1D-4A12-ACB8-43682CE19337}"/>
              </a:ext>
            </a:extLst>
          </p:cNvPr>
          <p:cNvSpPr>
            <a:spLocks xmlns:a="http://schemas.openxmlformats.org/drawingml/2006/main" noGrp="1"/>
          </p:cNvSpPr>
          <p:nvPr/>
        </p:nvSpPr>
        <p:spPr>
          <a:xfrm xmlns:a="http://schemas.openxmlformats.org/drawingml/2006/main">
            <a:off x="7059168" y="4425696"/>
            <a:ext cx="4562856"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Document-retrieval requests deflect almost completely — no judgement, no exception, no downstream owner.</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Money-movement requests (foreclosure, prepayment) barely deflect, and should not have been forced to.</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A blended target would have hidden both facts and produced the wrong roadmap for phase two.</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Eligibility was configurable per category, so a category could be opened or closed without a release.</a:t>
            </a:r>
            <a:endParaRPr sz="940"/>
          </a:p>
        </p:txBody>
      </p:sp>
      <p:sp>
        <p:nvSpPr>
          <p:cNvPr id="40" name="Shape 37">
            <a:extLst xmlns:a="http://schemas.openxmlformats.org/drawingml/2006/main">
              <a:ext uri="{FF2B5EF4-FFF2-40B4-BE49-F238E27FC236}">
                <a16:creationId xmlns:a16="http://schemas.microsoft.com/office/drawing/2014/main" id="{351EBA3B-0BC6-43AD-9FCC-8FCD1996B77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1" name="Text 38">
            <a:extLst xmlns:a="http://schemas.openxmlformats.org/drawingml/2006/main">
              <a:ext uri="{FF2B5EF4-FFF2-40B4-BE49-F238E27FC236}">
                <a16:creationId xmlns:a16="http://schemas.microsoft.com/office/drawing/2014/main" id="{2C7E0116-BB40-4541-AAED-C79CA25CE33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model, calibrated to published financial-services deflection benchmarks — 25–45% blended, simple retrieval intents above 70%, judgement-based rarely above 25%</a:t>
            </a:r>
            <a:endParaRPr sz="850"/>
          </a:p>
        </p:txBody>
      </p:sp>
      <p:sp>
        <p:nvSpPr>
          <p:cNvPr id="42" name="Text 39">
            <a:extLst xmlns:a="http://schemas.openxmlformats.org/drawingml/2006/main">
              <a:ext uri="{FF2B5EF4-FFF2-40B4-BE49-F238E27FC236}">
                <a16:creationId xmlns:a16="http://schemas.microsoft.com/office/drawing/2014/main" id="{F06D408B-800C-41CD-88B1-20E1B057B41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154992790"/>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092669-A590-4F15-8DA8-C616B35D303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JOURNEY TEARDOWN 03  ·  CROSS</a:t>
            </a:r>
            <a:endParaRPr sz="950"/>
          </a:p>
        </p:txBody>
      </p:sp>
      <p:sp>
        <p:nvSpPr>
          <p:cNvPr id="3" name="Text 1">
            <a:extLst xmlns:a="http://schemas.openxmlformats.org/drawingml/2006/main">
              <a:ext uri="{FF2B5EF4-FFF2-40B4-BE49-F238E27FC236}">
                <a16:creationId xmlns:a16="http://schemas.microsoft.com/office/drawing/2014/main" id="{F71C0B39-8E83-4BEC-A3D1-51C211666D4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Group health insurance crossed a legal-entity boundary — two regulators and two</a:t>
            </a:r>
            <a:endParaRPr sz="1900"/>
          </a:p>
          <a:p xmlns:a="http://schemas.openxmlformats.org/drawingml/2006/main">
            <a:pPr marL="0" indent="0">
              <a:lnSpc>
                <a:spcPts val="2400"/>
              </a:lnSpc>
              <a:buNone/>
            </a:pPr>
            <a:r>
              <a:rPr sz="1900" b="1">
                <a:solidFill>
                  <a:srgbClr val="102A43"/>
                </a:solidFill>
                <a:latin typeface="Arial"/>
                <a:ea typeface="Arial"/>
                <a:cs typeface="Arial"/>
              </a:rPr>
              <a:t>systems of record, presented to the customer as one continuous flow</a:t>
            </a:r>
            <a:endParaRPr sz="1900"/>
          </a:p>
        </p:txBody>
      </p:sp>
      <p:sp>
        <p:nvSpPr>
          <p:cNvPr id="4" name="Shape 2">
            <a:extLst xmlns:a="http://schemas.openxmlformats.org/drawingml/2006/main">
              <a:ext uri="{FF2B5EF4-FFF2-40B4-BE49-F238E27FC236}">
                <a16:creationId xmlns:a16="http://schemas.microsoft.com/office/drawing/2014/main" id="{B983050F-21D9-47A8-AF08-99561C89FE61}"/>
              </a:ext>
            </a:extLst>
          </p:cNvPr>
          <p:cNvSpPr>
            <a:spLocks xmlns:a="http://schemas.openxmlformats.org/drawingml/2006/main" noGrp="1"/>
          </p:cNvSpPr>
          <p:nvPr/>
        </p:nvSpPr>
        <p:spPr>
          <a:xfrm xmlns:a="http://schemas.openxmlformats.org/drawingml/2006/main">
            <a:off x="566928" y="1335024"/>
            <a:ext cx="1751533" cy="124358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8AFEC319-4E2F-479B-B0D5-28054D5DA434}"/>
              </a:ext>
            </a:extLst>
          </p:cNvPr>
          <p:cNvSpPr>
            <a:spLocks xmlns:a="http://schemas.openxmlformats.org/drawingml/2006/main" noGrp="1"/>
          </p:cNvSpPr>
          <p:nvPr/>
        </p:nvSpPr>
        <p:spPr>
          <a:xfrm xmlns:a="http://schemas.openxmlformats.org/drawingml/2006/main">
            <a:off x="694944"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3D5E759D-666F-47C6-A6F7-74D2DEDDCA8A}"/>
              </a:ext>
            </a:extLst>
          </p:cNvPr>
          <p:cNvSpPr>
            <a:spLocks xmlns:a="http://schemas.openxmlformats.org/drawingml/2006/main" noGrp="1"/>
          </p:cNvSpPr>
          <p:nvPr/>
        </p:nvSpPr>
        <p:spPr>
          <a:xfrm xmlns:a="http://schemas.openxmlformats.org/drawingml/2006/main">
            <a:off x="694944"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Eligibility</a:t>
            </a:r>
            <a:endParaRPr sz="980"/>
          </a:p>
        </p:txBody>
      </p:sp>
      <p:sp>
        <p:nvSpPr>
          <p:cNvPr id="7" name="Text 5">
            <a:extLst xmlns:a="http://schemas.openxmlformats.org/drawingml/2006/main">
              <a:ext uri="{FF2B5EF4-FFF2-40B4-BE49-F238E27FC236}">
                <a16:creationId xmlns:a16="http://schemas.microsoft.com/office/drawing/2014/main" id="{9EBBC2EC-A275-4612-A841-98C3D8C7D558}"/>
              </a:ext>
            </a:extLst>
          </p:cNvPr>
          <p:cNvSpPr>
            <a:spLocks xmlns:a="http://schemas.openxmlformats.org/drawingml/2006/main" noGrp="1"/>
          </p:cNvSpPr>
          <p:nvPr/>
        </p:nvSpPr>
        <p:spPr>
          <a:xfrm xmlns:a="http://schemas.openxmlformats.org/drawingml/2006/main">
            <a:off x="694944"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Bank-side segment and relationship checks</a:t>
            </a:r>
            <a:endParaRPr sz="840"/>
          </a:p>
        </p:txBody>
      </p:sp>
      <p:sp>
        <p:nvSpPr>
          <p:cNvPr id="8" name="Shape 6">
            <a:extLst xmlns:a="http://schemas.openxmlformats.org/drawingml/2006/main">
              <a:ext uri="{FF2B5EF4-FFF2-40B4-BE49-F238E27FC236}">
                <a16:creationId xmlns:a16="http://schemas.microsoft.com/office/drawing/2014/main" id="{82E0B0A2-8B06-4726-9815-318EE4BB1552}"/>
              </a:ext>
            </a:extLst>
          </p:cNvPr>
          <p:cNvSpPr>
            <a:spLocks xmlns:a="http://schemas.openxmlformats.org/drawingml/2006/main" noGrp="1"/>
          </p:cNvSpPr>
          <p:nvPr/>
        </p:nvSpPr>
        <p:spPr>
          <a:xfrm xmlns:a="http://schemas.openxmlformats.org/drawingml/2006/main">
            <a:off x="2428189" y="1335024"/>
            <a:ext cx="1751533" cy="1243584"/>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C7CD5B24-C3B8-47DD-A789-42719A41E802}"/>
              </a:ext>
            </a:extLst>
          </p:cNvPr>
          <p:cNvSpPr>
            <a:spLocks xmlns:a="http://schemas.openxmlformats.org/drawingml/2006/main" noGrp="1"/>
          </p:cNvSpPr>
          <p:nvPr/>
        </p:nvSpPr>
        <p:spPr>
          <a:xfrm xmlns:a="http://schemas.openxmlformats.org/drawingml/2006/main">
            <a:off x="2556205"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D0551605-BEE3-4731-B7AA-83A1528E0C7A}"/>
              </a:ext>
            </a:extLst>
          </p:cNvPr>
          <p:cNvSpPr>
            <a:spLocks xmlns:a="http://schemas.openxmlformats.org/drawingml/2006/main" noGrp="1"/>
          </p:cNvSpPr>
          <p:nvPr/>
        </p:nvSpPr>
        <p:spPr>
          <a:xfrm xmlns:a="http://schemas.openxmlformats.org/drawingml/2006/main">
            <a:off x="2556205"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Product and cover</a:t>
            </a:r>
            <a:endParaRPr sz="980"/>
          </a:p>
        </p:txBody>
      </p:sp>
      <p:sp>
        <p:nvSpPr>
          <p:cNvPr id="11" name="Text 9">
            <a:extLst xmlns:a="http://schemas.openxmlformats.org/drawingml/2006/main">
              <a:ext uri="{FF2B5EF4-FFF2-40B4-BE49-F238E27FC236}">
                <a16:creationId xmlns:a16="http://schemas.microsoft.com/office/drawing/2014/main" id="{B3689832-C87D-400C-801A-214DB6E0FA1C}"/>
              </a:ext>
            </a:extLst>
          </p:cNvPr>
          <p:cNvSpPr>
            <a:spLocks xmlns:a="http://schemas.openxmlformats.org/drawingml/2006/main" noGrp="1"/>
          </p:cNvSpPr>
          <p:nvPr/>
        </p:nvSpPr>
        <p:spPr>
          <a:xfrm xmlns:a="http://schemas.openxmlformats.org/drawingml/2006/main">
            <a:off x="2556205"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The insurer's catalogue, rules and pricing</a:t>
            </a:r>
            <a:endParaRPr sz="840"/>
          </a:p>
        </p:txBody>
      </p:sp>
      <p:sp>
        <p:nvSpPr>
          <p:cNvPr id="12" name="Shape 10">
            <a:extLst xmlns:a="http://schemas.openxmlformats.org/drawingml/2006/main">
              <a:ext uri="{FF2B5EF4-FFF2-40B4-BE49-F238E27FC236}">
                <a16:creationId xmlns:a16="http://schemas.microsoft.com/office/drawing/2014/main" id="{21369C40-876C-4940-BCA7-0E4CC6A3F3CF}"/>
              </a:ext>
            </a:extLst>
          </p:cNvPr>
          <p:cNvSpPr>
            <a:spLocks xmlns:a="http://schemas.openxmlformats.org/drawingml/2006/main" noGrp="1"/>
          </p:cNvSpPr>
          <p:nvPr/>
        </p:nvSpPr>
        <p:spPr>
          <a:xfrm xmlns:a="http://schemas.openxmlformats.org/drawingml/2006/main">
            <a:off x="4289450" y="1335024"/>
            <a:ext cx="1751533" cy="1243584"/>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F1BB0FFC-701C-4C7E-AB3A-2FE662701F13}"/>
              </a:ext>
            </a:extLst>
          </p:cNvPr>
          <p:cNvSpPr>
            <a:spLocks xmlns:a="http://schemas.openxmlformats.org/drawingml/2006/main" noGrp="1"/>
          </p:cNvSpPr>
          <p:nvPr/>
        </p:nvSpPr>
        <p:spPr>
          <a:xfrm xmlns:a="http://schemas.openxmlformats.org/drawingml/2006/main">
            <a:off x="4417466"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7D3527D4-049F-4A2B-8D19-D4B81451DFD8}"/>
              </a:ext>
            </a:extLst>
          </p:cNvPr>
          <p:cNvSpPr>
            <a:spLocks xmlns:a="http://schemas.openxmlformats.org/drawingml/2006/main" noGrp="1"/>
          </p:cNvSpPr>
          <p:nvPr/>
        </p:nvSpPr>
        <p:spPr>
          <a:xfrm xmlns:a="http://schemas.openxmlformats.org/drawingml/2006/main">
            <a:off x="4417466"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Disclosure and consent</a:t>
            </a:r>
            <a:endParaRPr sz="980"/>
          </a:p>
        </p:txBody>
      </p:sp>
      <p:sp>
        <p:nvSpPr>
          <p:cNvPr id="15" name="Text 13">
            <a:extLst xmlns:a="http://schemas.openxmlformats.org/drawingml/2006/main">
              <a:ext uri="{FF2B5EF4-FFF2-40B4-BE49-F238E27FC236}">
                <a16:creationId xmlns:a16="http://schemas.microsoft.com/office/drawing/2014/main" id="{453E45D9-2E68-470D-A9D0-D38961026157}"/>
              </a:ext>
            </a:extLst>
          </p:cNvPr>
          <p:cNvSpPr>
            <a:spLocks xmlns:a="http://schemas.openxmlformats.org/drawingml/2006/main" noGrp="1"/>
          </p:cNvSpPr>
          <p:nvPr/>
        </p:nvSpPr>
        <p:spPr>
          <a:xfrm xmlns:a="http://schemas.openxmlformats.org/drawingml/2006/main">
            <a:off x="4417466"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Two consents: data sharing, and the contract</a:t>
            </a:r>
            <a:endParaRPr sz="840"/>
          </a:p>
        </p:txBody>
      </p:sp>
      <p:sp>
        <p:nvSpPr>
          <p:cNvPr id="16" name="Shape 14">
            <a:extLst xmlns:a="http://schemas.openxmlformats.org/drawingml/2006/main">
              <a:ext uri="{FF2B5EF4-FFF2-40B4-BE49-F238E27FC236}">
                <a16:creationId xmlns:a16="http://schemas.microsoft.com/office/drawing/2014/main" id="{02E3875E-23A5-4340-A0B6-A4BF9BEF2D54}"/>
              </a:ext>
            </a:extLst>
          </p:cNvPr>
          <p:cNvSpPr>
            <a:spLocks xmlns:a="http://schemas.openxmlformats.org/drawingml/2006/main" noGrp="1"/>
          </p:cNvSpPr>
          <p:nvPr/>
        </p:nvSpPr>
        <p:spPr>
          <a:xfrm xmlns:a="http://schemas.openxmlformats.org/drawingml/2006/main">
            <a:off x="6150712" y="1335024"/>
            <a:ext cx="1751533" cy="1243584"/>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B2595C81-3B67-4D84-956A-729EFBEF801D}"/>
              </a:ext>
            </a:extLst>
          </p:cNvPr>
          <p:cNvSpPr>
            <a:spLocks xmlns:a="http://schemas.openxmlformats.org/drawingml/2006/main" noGrp="1"/>
          </p:cNvSpPr>
          <p:nvPr/>
        </p:nvSpPr>
        <p:spPr>
          <a:xfrm xmlns:a="http://schemas.openxmlformats.org/drawingml/2006/main">
            <a:off x="6278728"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529B2F2F-F091-4B54-A835-2CB144197DFF}"/>
              </a:ext>
            </a:extLst>
          </p:cNvPr>
          <p:cNvSpPr>
            <a:spLocks xmlns:a="http://schemas.openxmlformats.org/drawingml/2006/main" noGrp="1"/>
          </p:cNvSpPr>
          <p:nvPr/>
        </p:nvSpPr>
        <p:spPr>
          <a:xfrm xmlns:a="http://schemas.openxmlformats.org/drawingml/2006/main">
            <a:off x="6278728"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Data handover</a:t>
            </a:r>
            <a:endParaRPr sz="980"/>
          </a:p>
        </p:txBody>
      </p:sp>
      <p:sp>
        <p:nvSpPr>
          <p:cNvPr id="19" name="Text 17">
            <a:extLst xmlns:a="http://schemas.openxmlformats.org/drawingml/2006/main">
              <a:ext uri="{FF2B5EF4-FFF2-40B4-BE49-F238E27FC236}">
                <a16:creationId xmlns:a16="http://schemas.microsoft.com/office/drawing/2014/main" id="{4FBBF2F2-37B7-4E82-99A4-9A51E3025052}"/>
              </a:ext>
            </a:extLst>
          </p:cNvPr>
          <p:cNvSpPr>
            <a:spLocks xmlns:a="http://schemas.openxmlformats.org/drawingml/2006/main" noGrp="1"/>
          </p:cNvSpPr>
          <p:nvPr/>
        </p:nvSpPr>
        <p:spPr>
          <a:xfrm xmlns:a="http://schemas.openxmlformats.org/drawingml/2006/main">
            <a:off x="6278728"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Only entitled fields, purpose recorded per attribute</a:t>
            </a:r>
            <a:endParaRPr sz="840"/>
          </a:p>
        </p:txBody>
      </p:sp>
      <p:sp>
        <p:nvSpPr>
          <p:cNvPr id="20" name="Shape 18">
            <a:extLst xmlns:a="http://schemas.openxmlformats.org/drawingml/2006/main">
              <a:ext uri="{FF2B5EF4-FFF2-40B4-BE49-F238E27FC236}">
                <a16:creationId xmlns:a16="http://schemas.microsoft.com/office/drawing/2014/main" id="{04D6E2D2-7408-4BE8-824F-5B4810EA2F16}"/>
              </a:ext>
            </a:extLst>
          </p:cNvPr>
          <p:cNvSpPr>
            <a:spLocks xmlns:a="http://schemas.openxmlformats.org/drawingml/2006/main" noGrp="1"/>
          </p:cNvSpPr>
          <p:nvPr/>
        </p:nvSpPr>
        <p:spPr>
          <a:xfrm xmlns:a="http://schemas.openxmlformats.org/drawingml/2006/main">
            <a:off x="8011973" y="1335024"/>
            <a:ext cx="1751533" cy="124358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4F4D62F0-6A9F-42F1-A71D-7D9177CEACC7}"/>
              </a:ext>
            </a:extLst>
          </p:cNvPr>
          <p:cNvSpPr>
            <a:spLocks xmlns:a="http://schemas.openxmlformats.org/drawingml/2006/main" noGrp="1"/>
          </p:cNvSpPr>
          <p:nvPr/>
        </p:nvSpPr>
        <p:spPr>
          <a:xfrm xmlns:a="http://schemas.openxmlformats.org/drawingml/2006/main">
            <a:off x="8139989"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EB649093-1129-4212-AC09-A9B69E0877FD}"/>
              </a:ext>
            </a:extLst>
          </p:cNvPr>
          <p:cNvSpPr>
            <a:spLocks xmlns:a="http://schemas.openxmlformats.org/drawingml/2006/main" noGrp="1"/>
          </p:cNvSpPr>
          <p:nvPr/>
        </p:nvSpPr>
        <p:spPr>
          <a:xfrm xmlns:a="http://schemas.openxmlformats.org/drawingml/2006/main">
            <a:off x="8139989"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Underwriting</a:t>
            </a:r>
            <a:endParaRPr sz="980"/>
          </a:p>
        </p:txBody>
      </p:sp>
      <p:sp>
        <p:nvSpPr>
          <p:cNvPr id="23" name="Text 21">
            <a:extLst xmlns:a="http://schemas.openxmlformats.org/drawingml/2006/main">
              <a:ext uri="{FF2B5EF4-FFF2-40B4-BE49-F238E27FC236}">
                <a16:creationId xmlns:a16="http://schemas.microsoft.com/office/drawing/2014/main" id="{C80D75CB-01A7-4D06-AD4B-C002A54B4D98}"/>
              </a:ext>
            </a:extLst>
          </p:cNvPr>
          <p:cNvSpPr>
            <a:spLocks xmlns:a="http://schemas.openxmlformats.org/drawingml/2006/main" noGrp="1"/>
          </p:cNvSpPr>
          <p:nvPr/>
        </p:nvSpPr>
        <p:spPr>
          <a:xfrm xmlns:a="http://schemas.openxmlformats.org/drawingml/2006/main">
            <a:off x="8139989"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Owned by the insurer; the bank surfaces status only</a:t>
            </a:r>
            <a:endParaRPr sz="840"/>
          </a:p>
        </p:txBody>
      </p:sp>
      <p:sp>
        <p:nvSpPr>
          <p:cNvPr id="24" name="Shape 22">
            <a:extLst xmlns:a="http://schemas.openxmlformats.org/drawingml/2006/main">
              <a:ext uri="{FF2B5EF4-FFF2-40B4-BE49-F238E27FC236}">
                <a16:creationId xmlns:a16="http://schemas.microsoft.com/office/drawing/2014/main" id="{DC44D38D-0031-4CEC-9C35-E4297614732D}"/>
              </a:ext>
            </a:extLst>
          </p:cNvPr>
          <p:cNvSpPr>
            <a:spLocks xmlns:a="http://schemas.openxmlformats.org/drawingml/2006/main" noGrp="1"/>
          </p:cNvSpPr>
          <p:nvPr/>
        </p:nvSpPr>
        <p:spPr>
          <a:xfrm xmlns:a="http://schemas.openxmlformats.org/drawingml/2006/main">
            <a:off x="9873234" y="1335024"/>
            <a:ext cx="1751533" cy="1243584"/>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8BE60B9E-3A13-4A38-BD3D-BE4F4EEC17FD}"/>
              </a:ext>
            </a:extLst>
          </p:cNvPr>
          <p:cNvSpPr>
            <a:spLocks xmlns:a="http://schemas.openxmlformats.org/drawingml/2006/main" noGrp="1"/>
          </p:cNvSpPr>
          <p:nvPr/>
        </p:nvSpPr>
        <p:spPr>
          <a:xfrm xmlns:a="http://schemas.openxmlformats.org/drawingml/2006/main">
            <a:off x="10001250" y="1444752"/>
            <a:ext cx="149550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06</a:t>
            </a:r>
            <a:endParaRPr sz="840"/>
          </a:p>
        </p:txBody>
      </p:sp>
      <p:sp>
        <p:nvSpPr>
          <p:cNvPr id="26" name="Text 24">
            <a:extLst xmlns:a="http://schemas.openxmlformats.org/drawingml/2006/main">
              <a:ext uri="{FF2B5EF4-FFF2-40B4-BE49-F238E27FC236}">
                <a16:creationId xmlns:a16="http://schemas.microsoft.com/office/drawing/2014/main" id="{284B0B9F-058D-452B-87C3-AB0B4E2FF37D}"/>
              </a:ext>
            </a:extLst>
          </p:cNvPr>
          <p:cNvSpPr>
            <a:spLocks xmlns:a="http://schemas.openxmlformats.org/drawingml/2006/main" noGrp="1"/>
          </p:cNvSpPr>
          <p:nvPr/>
        </p:nvSpPr>
        <p:spPr>
          <a:xfrm xmlns:a="http://schemas.openxmlformats.org/drawingml/2006/main">
            <a:off x="10001250" y="1627632"/>
            <a:ext cx="149550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80" b="1">
                <a:solidFill>
                  <a:srgbClr val="102A43"/>
                </a:solidFill>
                <a:latin typeface="Arial"/>
                <a:ea typeface="Arial"/>
                <a:cs typeface="Arial"/>
              </a:rPr>
              <a:t>Policy and servicing</a:t>
            </a:r>
            <a:endParaRPr sz="980"/>
          </a:p>
        </p:txBody>
      </p:sp>
      <p:sp>
        <p:nvSpPr>
          <p:cNvPr id="27" name="Text 25">
            <a:extLst xmlns:a="http://schemas.openxmlformats.org/drawingml/2006/main">
              <a:ext uri="{FF2B5EF4-FFF2-40B4-BE49-F238E27FC236}">
                <a16:creationId xmlns:a16="http://schemas.microsoft.com/office/drawing/2014/main" id="{7C19A7E7-0C52-4964-B186-F87295A6F396}"/>
              </a:ext>
            </a:extLst>
          </p:cNvPr>
          <p:cNvSpPr>
            <a:spLocks xmlns:a="http://schemas.openxmlformats.org/drawingml/2006/main" noGrp="1"/>
          </p:cNvSpPr>
          <p:nvPr/>
        </p:nvSpPr>
        <p:spPr>
          <a:xfrm xmlns:a="http://schemas.openxmlformats.org/drawingml/2006/main">
            <a:off x="10001250" y="2029968"/>
            <a:ext cx="149550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050"/>
              </a:lnSpc>
              <a:buNone/>
            </a:pPr>
            <a:r>
              <a:rPr sz="840">
                <a:solidFill>
                  <a:srgbClr val="486581"/>
                </a:solidFill>
                <a:latin typeface="Arial"/>
                <a:ea typeface="Arial"/>
                <a:cs typeface="Arial"/>
              </a:rPr>
              <a:t>Insurer owns the policy; bank keeps a servicing view</a:t>
            </a:r>
            <a:endParaRPr sz="840"/>
          </a:p>
        </p:txBody>
      </p:sp>
      <p:sp>
        <p:nvSpPr>
          <p:cNvPr id="28" name="Text 26">
            <a:extLst xmlns:a="http://schemas.openxmlformats.org/drawingml/2006/main">
              <a:ext uri="{FF2B5EF4-FFF2-40B4-BE49-F238E27FC236}">
                <a16:creationId xmlns:a16="http://schemas.microsoft.com/office/drawing/2014/main" id="{8ED79F6C-F9A5-433A-964E-7B43EF88910B}"/>
              </a:ext>
            </a:extLst>
          </p:cNvPr>
          <p:cNvSpPr>
            <a:spLocks xmlns:a="http://schemas.openxmlformats.org/drawingml/2006/main" noGrp="1"/>
          </p:cNvSpPr>
          <p:nvPr/>
        </p:nvSpPr>
        <p:spPr>
          <a:xfrm xmlns:a="http://schemas.openxmlformats.org/drawingml/2006/main">
            <a:off x="566928" y="2670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i="1">
                <a:solidFill>
                  <a:srgbClr val="627D98"/>
                </a:solidFill>
                <a:latin typeface="Arial"/>
                <a:ea typeface="Arial"/>
                <a:cs typeface="Arial"/>
              </a:rPr>
              <a:t>Step 03 is where most cross-entity journeys fail: a single blanket consent is quicker to build and does not survive scrutiny from either regulator.</a:t>
            </a:r>
            <a:endParaRPr sz="900"/>
          </a:p>
        </p:txBody>
      </p:sp>
      <p:sp>
        <p:nvSpPr>
          <p:cNvPr id="29" name="Shape 27">
            <a:extLst xmlns:a="http://schemas.openxmlformats.org/drawingml/2006/main">
              <a:ext uri="{FF2B5EF4-FFF2-40B4-BE49-F238E27FC236}">
                <a16:creationId xmlns:a16="http://schemas.microsoft.com/office/drawing/2014/main" id="{A80C1373-BF2A-4CB7-BD17-E15F10913ACD}"/>
              </a:ext>
            </a:extLst>
          </p:cNvPr>
          <p:cNvSpPr>
            <a:spLocks xmlns:a="http://schemas.openxmlformats.org/drawingml/2006/main" noGrp="1"/>
          </p:cNvSpPr>
          <p:nvPr/>
        </p:nvSpPr>
        <p:spPr>
          <a:xfrm xmlns:a="http://schemas.openxmlformats.org/drawingml/2006/main">
            <a:off x="566928" y="2889504"/>
            <a:ext cx="11057839" cy="124358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1F11E1BB-B237-4F43-A54D-2BB0BDE995E5}"/>
              </a:ext>
            </a:extLst>
          </p:cNvPr>
          <p:cNvSpPr>
            <a:spLocks xmlns:a="http://schemas.openxmlformats.org/drawingml/2006/main" noGrp="1"/>
          </p:cNvSpPr>
          <p:nvPr/>
        </p:nvSpPr>
        <p:spPr>
          <a:xfrm xmlns:a="http://schemas.openxmlformats.org/drawingml/2006/main">
            <a:off x="713232" y="3017520"/>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50"/>
              </a:lnSpc>
              <a:buNone/>
            </a:pPr>
            <a:r>
              <a:rPr sz="760" b="1">
                <a:solidFill>
                  <a:srgbClr val="486581"/>
                </a:solidFill>
                <a:latin typeface="Arial"/>
                <a:ea typeface="Arial"/>
                <a:cs typeface="Arial"/>
              </a:rPr>
              <a:t>BANK</a:t>
            </a:r>
            <a:endParaRPr sz="760"/>
          </a:p>
          <a:p xmlns:a="http://schemas.openxmlformats.org/drawingml/2006/main">
            <a:pPr marL="0" indent="0" algn="l">
              <a:lnSpc>
                <a:spcPts val="950"/>
              </a:lnSpc>
              <a:buNone/>
            </a:pPr>
            <a:r>
              <a:rPr sz="760" b="1">
                <a:solidFill>
                  <a:srgbClr val="486581"/>
                </a:solidFill>
                <a:latin typeface="Arial"/>
                <a:ea typeface="Arial"/>
                <a:cs typeface="Arial"/>
              </a:rPr>
              <a:t>ENTITY</a:t>
            </a:r>
            <a:endParaRPr sz="760"/>
          </a:p>
        </p:txBody>
      </p:sp>
      <p:sp>
        <p:nvSpPr>
          <p:cNvPr id="31" name="Text 29">
            <a:extLst xmlns:a="http://schemas.openxmlformats.org/drawingml/2006/main">
              <a:ext uri="{FF2B5EF4-FFF2-40B4-BE49-F238E27FC236}">
                <a16:creationId xmlns:a16="http://schemas.microsoft.com/office/drawing/2014/main" id="{CB47036A-E3D5-446D-B668-64F816DF75B3}"/>
              </a:ext>
            </a:extLst>
          </p:cNvPr>
          <p:cNvSpPr>
            <a:spLocks xmlns:a="http://schemas.openxmlformats.org/drawingml/2006/main" noGrp="1"/>
          </p:cNvSpPr>
          <p:nvPr/>
        </p:nvSpPr>
        <p:spPr>
          <a:xfrm xmlns:a="http://schemas.openxmlformats.org/drawingml/2006/main">
            <a:off x="713232" y="3602736"/>
            <a:ext cx="1280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50"/>
              </a:lnSpc>
              <a:buNone/>
            </a:pPr>
            <a:r>
              <a:rPr sz="760" b="1">
                <a:solidFill>
                  <a:srgbClr val="B04A25"/>
                </a:solidFill>
                <a:latin typeface="Arial"/>
                <a:ea typeface="Arial"/>
                <a:cs typeface="Arial"/>
              </a:rPr>
              <a:t>INSURER</a:t>
            </a:r>
            <a:endParaRPr sz="760"/>
          </a:p>
          <a:p xmlns:a="http://schemas.openxmlformats.org/drawingml/2006/main">
            <a:pPr marL="0" indent="0" algn="l">
              <a:lnSpc>
                <a:spcPts val="950"/>
              </a:lnSpc>
              <a:buNone/>
            </a:pPr>
            <a:r>
              <a:rPr sz="760" b="1">
                <a:solidFill>
                  <a:srgbClr val="B04A25"/>
                </a:solidFill>
                <a:latin typeface="Arial"/>
                <a:ea typeface="Arial"/>
                <a:cs typeface="Arial"/>
              </a:rPr>
              <a:t>ENTITY</a:t>
            </a:r>
            <a:endParaRPr sz="760"/>
          </a:p>
        </p:txBody>
      </p:sp>
      <p:sp>
        <p:nvSpPr>
          <p:cNvPr id="32" name="Shape 30">
            <a:extLst xmlns:a="http://schemas.openxmlformats.org/drawingml/2006/main">
              <a:ext uri="{FF2B5EF4-FFF2-40B4-BE49-F238E27FC236}">
                <a16:creationId xmlns:a16="http://schemas.microsoft.com/office/drawing/2014/main" id="{022FF87B-6FC2-4817-99C5-55080D3C967D}"/>
              </a:ext>
            </a:extLst>
          </p:cNvPr>
          <p:cNvSpPr>
            <a:spLocks xmlns:a="http://schemas.openxmlformats.org/drawingml/2006/main" noGrp="1"/>
          </p:cNvSpPr>
          <p:nvPr/>
        </p:nvSpPr>
        <p:spPr>
          <a:xfrm xmlns:a="http://schemas.openxmlformats.org/drawingml/2006/main">
            <a:off x="2103120" y="2999232"/>
            <a:ext cx="1461973" cy="457200"/>
          </a:xfrm>
          <a:prstGeom xmlns:a="http://schemas.openxmlformats.org/drawingml/2006/main" prst="rect">
            <a:avLst/>
          </a:prstGeom>
          <a:solidFill xmlns:a="http://schemas.openxmlformats.org/drawingml/2006/main">
            <a:srgbClr val="DCE5EE"/>
          </a:solidFill>
        </p:spPr>
      </p:sp>
      <p:sp>
        <p:nvSpPr>
          <p:cNvPr id="33" name="Text 31">
            <a:extLst xmlns:a="http://schemas.openxmlformats.org/drawingml/2006/main">
              <a:ext uri="{FF2B5EF4-FFF2-40B4-BE49-F238E27FC236}">
                <a16:creationId xmlns:a16="http://schemas.microsoft.com/office/drawing/2014/main" id="{510B7391-6197-4154-B299-22F18192C321}"/>
              </a:ext>
            </a:extLst>
          </p:cNvPr>
          <p:cNvSpPr>
            <a:spLocks xmlns:a="http://schemas.openxmlformats.org/drawingml/2006/main" noGrp="1"/>
          </p:cNvSpPr>
          <p:nvPr/>
        </p:nvSpPr>
        <p:spPr>
          <a:xfrm xmlns:a="http://schemas.openxmlformats.org/drawingml/2006/main">
            <a:off x="2157984" y="3136392"/>
            <a:ext cx="13522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880" b="1">
                <a:solidFill>
                  <a:srgbClr val="102A43"/>
                </a:solidFill>
                <a:latin typeface="Arial"/>
                <a:ea typeface="Arial"/>
                <a:cs typeface="Arial"/>
              </a:rPr>
              <a:t>Eligibility</a:t>
            </a:r>
            <a:endParaRPr sz="880"/>
          </a:p>
        </p:txBody>
      </p:sp>
      <p:sp>
        <p:nvSpPr>
          <p:cNvPr id="34" name="Shape 32">
            <a:extLst xmlns:a="http://schemas.openxmlformats.org/drawingml/2006/main">
              <a:ext uri="{FF2B5EF4-FFF2-40B4-BE49-F238E27FC236}">
                <a16:creationId xmlns:a16="http://schemas.microsoft.com/office/drawing/2014/main" id="{5F98F0AF-B15A-4D7B-A6E9-A647E8683E2C}"/>
              </a:ext>
            </a:extLst>
          </p:cNvPr>
          <p:cNvSpPr>
            <a:spLocks xmlns:a="http://schemas.openxmlformats.org/drawingml/2006/main" noGrp="1"/>
          </p:cNvSpPr>
          <p:nvPr/>
        </p:nvSpPr>
        <p:spPr>
          <a:xfrm xmlns:a="http://schemas.openxmlformats.org/drawingml/2006/main">
            <a:off x="3674821" y="2999232"/>
            <a:ext cx="1461973" cy="457200"/>
          </a:xfrm>
          <a:prstGeom xmlns:a="http://schemas.openxmlformats.org/drawingml/2006/main" prst="rect">
            <a:avLst/>
          </a:prstGeom>
          <a:solidFill xmlns:a="http://schemas.openxmlformats.org/drawingml/2006/main">
            <a:srgbClr val="DCE5EE"/>
          </a:solidFill>
        </p:spPr>
      </p:sp>
      <p:sp>
        <p:nvSpPr>
          <p:cNvPr id="35" name="Text 33">
            <a:extLst xmlns:a="http://schemas.openxmlformats.org/drawingml/2006/main">
              <a:ext uri="{FF2B5EF4-FFF2-40B4-BE49-F238E27FC236}">
                <a16:creationId xmlns:a16="http://schemas.microsoft.com/office/drawing/2014/main" id="{E9EB8BDD-FBFA-428D-9B6D-89F260E0DD69}"/>
              </a:ext>
            </a:extLst>
          </p:cNvPr>
          <p:cNvSpPr>
            <a:spLocks xmlns:a="http://schemas.openxmlformats.org/drawingml/2006/main" noGrp="1"/>
          </p:cNvSpPr>
          <p:nvPr/>
        </p:nvSpPr>
        <p:spPr>
          <a:xfrm xmlns:a="http://schemas.openxmlformats.org/drawingml/2006/main">
            <a:off x="3729685" y="3136392"/>
            <a:ext cx="13522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880" b="1">
                <a:solidFill>
                  <a:srgbClr val="102A43"/>
                </a:solidFill>
                <a:latin typeface="Arial"/>
                <a:ea typeface="Arial"/>
                <a:cs typeface="Arial"/>
              </a:rPr>
              <a:t>Consent capture</a:t>
            </a:r>
            <a:endParaRPr sz="880"/>
          </a:p>
        </p:txBody>
      </p:sp>
      <p:sp>
        <p:nvSpPr>
          <p:cNvPr id="36" name="Shape 34">
            <a:extLst xmlns:a="http://schemas.openxmlformats.org/drawingml/2006/main">
              <a:ext uri="{FF2B5EF4-FFF2-40B4-BE49-F238E27FC236}">
                <a16:creationId xmlns:a16="http://schemas.microsoft.com/office/drawing/2014/main" id="{BC55CC18-3F76-4CBA-A81C-9DC6F94C3000}"/>
              </a:ext>
            </a:extLst>
          </p:cNvPr>
          <p:cNvSpPr>
            <a:spLocks xmlns:a="http://schemas.openxmlformats.org/drawingml/2006/main" noGrp="1"/>
          </p:cNvSpPr>
          <p:nvPr/>
        </p:nvSpPr>
        <p:spPr>
          <a:xfrm xmlns:a="http://schemas.openxmlformats.org/drawingml/2006/main">
            <a:off x="9961626" y="2999232"/>
            <a:ext cx="1461973" cy="457200"/>
          </a:xfrm>
          <a:prstGeom xmlns:a="http://schemas.openxmlformats.org/drawingml/2006/main" prst="rect">
            <a:avLst/>
          </a:prstGeom>
          <a:solidFill xmlns:a="http://schemas.openxmlformats.org/drawingml/2006/main">
            <a:srgbClr val="DCE5EE"/>
          </a:solidFill>
        </p:spPr>
      </p:sp>
      <p:sp>
        <p:nvSpPr>
          <p:cNvPr id="37" name="Text 35">
            <a:extLst xmlns:a="http://schemas.openxmlformats.org/drawingml/2006/main">
              <a:ext uri="{FF2B5EF4-FFF2-40B4-BE49-F238E27FC236}">
                <a16:creationId xmlns:a16="http://schemas.microsoft.com/office/drawing/2014/main" id="{E8EF42EA-451D-4338-BECE-258D43149069}"/>
              </a:ext>
            </a:extLst>
          </p:cNvPr>
          <p:cNvSpPr>
            <a:spLocks xmlns:a="http://schemas.openxmlformats.org/drawingml/2006/main" noGrp="1"/>
          </p:cNvSpPr>
          <p:nvPr/>
        </p:nvSpPr>
        <p:spPr>
          <a:xfrm xmlns:a="http://schemas.openxmlformats.org/drawingml/2006/main">
            <a:off x="10016490" y="3136392"/>
            <a:ext cx="13522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880" b="1">
                <a:solidFill>
                  <a:srgbClr val="102A43"/>
                </a:solidFill>
                <a:latin typeface="Arial"/>
                <a:ea typeface="Arial"/>
                <a:cs typeface="Arial"/>
              </a:rPr>
              <a:t>Servicing view</a:t>
            </a:r>
            <a:endParaRPr sz="880"/>
          </a:p>
        </p:txBody>
      </p:sp>
      <p:sp>
        <p:nvSpPr>
          <p:cNvPr id="38" name="Shape 36">
            <a:extLst xmlns:a="http://schemas.openxmlformats.org/drawingml/2006/main">
              <a:ext uri="{FF2B5EF4-FFF2-40B4-BE49-F238E27FC236}">
                <a16:creationId xmlns:a16="http://schemas.microsoft.com/office/drawing/2014/main" id="{19581763-1391-4E0D-BD99-E7CFB608AA94}"/>
              </a:ext>
            </a:extLst>
          </p:cNvPr>
          <p:cNvSpPr>
            <a:spLocks xmlns:a="http://schemas.openxmlformats.org/drawingml/2006/main" noGrp="1"/>
          </p:cNvSpPr>
          <p:nvPr/>
        </p:nvSpPr>
        <p:spPr>
          <a:xfrm xmlns:a="http://schemas.openxmlformats.org/drawingml/2006/main">
            <a:off x="5246522" y="3566160"/>
            <a:ext cx="1461973" cy="457200"/>
          </a:xfrm>
          <a:prstGeom xmlns:a="http://schemas.openxmlformats.org/drawingml/2006/main" prst="rect">
            <a:avLst/>
          </a:prstGeom>
          <a:solidFill xmlns:a="http://schemas.openxmlformats.org/drawingml/2006/main">
            <a:srgbClr val="EFD9CF"/>
          </a:solidFill>
        </p:spPr>
      </p:sp>
      <p:sp>
        <p:nvSpPr>
          <p:cNvPr id="39" name="Text 37">
            <a:extLst xmlns:a="http://schemas.openxmlformats.org/drawingml/2006/main">
              <a:ext uri="{FF2B5EF4-FFF2-40B4-BE49-F238E27FC236}">
                <a16:creationId xmlns:a16="http://schemas.microsoft.com/office/drawing/2014/main" id="{57D59947-7156-4DAC-ABB5-1186E1A70A78}"/>
              </a:ext>
            </a:extLst>
          </p:cNvPr>
          <p:cNvSpPr>
            <a:spLocks xmlns:a="http://schemas.openxmlformats.org/drawingml/2006/main" noGrp="1"/>
          </p:cNvSpPr>
          <p:nvPr/>
        </p:nvSpPr>
        <p:spPr>
          <a:xfrm xmlns:a="http://schemas.openxmlformats.org/drawingml/2006/main">
            <a:off x="5301386" y="3703320"/>
            <a:ext cx="13522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880" b="1">
                <a:solidFill>
                  <a:srgbClr val="B04A25"/>
                </a:solidFill>
                <a:latin typeface="Arial"/>
                <a:ea typeface="Arial"/>
                <a:cs typeface="Arial"/>
              </a:rPr>
              <a:t>Product &amp; pricing</a:t>
            </a:r>
            <a:endParaRPr sz="880"/>
          </a:p>
        </p:txBody>
      </p:sp>
      <p:sp>
        <p:nvSpPr>
          <p:cNvPr id="40" name="Shape 38">
            <a:extLst xmlns:a="http://schemas.openxmlformats.org/drawingml/2006/main">
              <a:ext uri="{FF2B5EF4-FFF2-40B4-BE49-F238E27FC236}">
                <a16:creationId xmlns:a16="http://schemas.microsoft.com/office/drawing/2014/main" id="{41D87315-2A6E-4AFD-9AD2-0A898CBB78FF}"/>
              </a:ext>
            </a:extLst>
          </p:cNvPr>
          <p:cNvSpPr>
            <a:spLocks xmlns:a="http://schemas.openxmlformats.org/drawingml/2006/main" noGrp="1"/>
          </p:cNvSpPr>
          <p:nvPr/>
        </p:nvSpPr>
        <p:spPr>
          <a:xfrm xmlns:a="http://schemas.openxmlformats.org/drawingml/2006/main">
            <a:off x="6818224" y="3566160"/>
            <a:ext cx="1461973" cy="457200"/>
          </a:xfrm>
          <a:prstGeom xmlns:a="http://schemas.openxmlformats.org/drawingml/2006/main" prst="rect">
            <a:avLst/>
          </a:prstGeom>
          <a:solidFill xmlns:a="http://schemas.openxmlformats.org/drawingml/2006/main">
            <a:srgbClr val="EFD9CF"/>
          </a:solidFill>
        </p:spPr>
      </p:sp>
      <p:sp>
        <p:nvSpPr>
          <p:cNvPr id="41" name="Text 39">
            <a:extLst xmlns:a="http://schemas.openxmlformats.org/drawingml/2006/main">
              <a:ext uri="{FF2B5EF4-FFF2-40B4-BE49-F238E27FC236}">
                <a16:creationId xmlns:a16="http://schemas.microsoft.com/office/drawing/2014/main" id="{A94B1A61-5826-4151-B5EE-D4AB31F5217D}"/>
              </a:ext>
            </a:extLst>
          </p:cNvPr>
          <p:cNvSpPr>
            <a:spLocks xmlns:a="http://schemas.openxmlformats.org/drawingml/2006/main" noGrp="1"/>
          </p:cNvSpPr>
          <p:nvPr/>
        </p:nvSpPr>
        <p:spPr>
          <a:xfrm xmlns:a="http://schemas.openxmlformats.org/drawingml/2006/main">
            <a:off x="6873088" y="3703320"/>
            <a:ext cx="13522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880" b="1">
                <a:solidFill>
                  <a:srgbClr val="B04A25"/>
                </a:solidFill>
                <a:latin typeface="Arial"/>
                <a:ea typeface="Arial"/>
                <a:cs typeface="Arial"/>
              </a:rPr>
              <a:t>Underwriting</a:t>
            </a:r>
            <a:endParaRPr sz="880"/>
          </a:p>
        </p:txBody>
      </p:sp>
      <p:sp>
        <p:nvSpPr>
          <p:cNvPr id="42" name="Shape 40">
            <a:extLst xmlns:a="http://schemas.openxmlformats.org/drawingml/2006/main">
              <a:ext uri="{FF2B5EF4-FFF2-40B4-BE49-F238E27FC236}">
                <a16:creationId xmlns:a16="http://schemas.microsoft.com/office/drawing/2014/main" id="{F5061551-9381-49D3-A39D-A459812D6DC5}"/>
              </a:ext>
            </a:extLst>
          </p:cNvPr>
          <p:cNvSpPr>
            <a:spLocks xmlns:a="http://schemas.openxmlformats.org/drawingml/2006/main" noGrp="1"/>
          </p:cNvSpPr>
          <p:nvPr/>
        </p:nvSpPr>
        <p:spPr>
          <a:xfrm xmlns:a="http://schemas.openxmlformats.org/drawingml/2006/main">
            <a:off x="8389925" y="3566160"/>
            <a:ext cx="1461973" cy="457200"/>
          </a:xfrm>
          <a:prstGeom xmlns:a="http://schemas.openxmlformats.org/drawingml/2006/main" prst="rect">
            <a:avLst/>
          </a:prstGeom>
          <a:solidFill xmlns:a="http://schemas.openxmlformats.org/drawingml/2006/main">
            <a:srgbClr val="EFD9CF"/>
          </a:solidFill>
        </p:spPr>
      </p:sp>
      <p:sp>
        <p:nvSpPr>
          <p:cNvPr id="43" name="Text 41">
            <a:extLst xmlns:a="http://schemas.openxmlformats.org/drawingml/2006/main">
              <a:ext uri="{FF2B5EF4-FFF2-40B4-BE49-F238E27FC236}">
                <a16:creationId xmlns:a16="http://schemas.microsoft.com/office/drawing/2014/main" id="{301EF618-EFCE-4C84-B301-0C8CA1B65136}"/>
              </a:ext>
            </a:extLst>
          </p:cNvPr>
          <p:cNvSpPr>
            <a:spLocks xmlns:a="http://schemas.openxmlformats.org/drawingml/2006/main" noGrp="1"/>
          </p:cNvSpPr>
          <p:nvPr/>
        </p:nvSpPr>
        <p:spPr>
          <a:xfrm xmlns:a="http://schemas.openxmlformats.org/drawingml/2006/main">
            <a:off x="8444789" y="3703320"/>
            <a:ext cx="135224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880" b="1">
                <a:solidFill>
                  <a:srgbClr val="B04A25"/>
                </a:solidFill>
                <a:latin typeface="Arial"/>
                <a:ea typeface="Arial"/>
                <a:cs typeface="Arial"/>
              </a:rPr>
              <a:t>Policy issuance</a:t>
            </a:r>
            <a:endParaRPr sz="880"/>
          </a:p>
        </p:txBody>
      </p:sp>
      <p:sp>
        <p:nvSpPr>
          <p:cNvPr id="44" name="Shape 42">
            <a:extLst xmlns:a="http://schemas.openxmlformats.org/drawingml/2006/main">
              <a:ext uri="{FF2B5EF4-FFF2-40B4-BE49-F238E27FC236}">
                <a16:creationId xmlns:a16="http://schemas.microsoft.com/office/drawing/2014/main" id="{4EA8747F-B031-4706-B219-AE7703F370EC}"/>
              </a:ext>
            </a:extLst>
          </p:cNvPr>
          <p:cNvSpPr>
            <a:spLocks xmlns:a="http://schemas.openxmlformats.org/drawingml/2006/main" noGrp="1"/>
          </p:cNvSpPr>
          <p:nvPr/>
        </p:nvSpPr>
        <p:spPr>
          <a:xfrm xmlns:a="http://schemas.openxmlformats.org/drawingml/2006/main">
            <a:off x="5177942" y="2980944"/>
            <a:ext cx="27432" cy="1060704"/>
          </a:xfrm>
          <a:prstGeom xmlns:a="http://schemas.openxmlformats.org/drawingml/2006/main" prst="rect">
            <a:avLst/>
          </a:prstGeom>
          <a:solidFill xmlns:a="http://schemas.openxmlformats.org/drawingml/2006/main">
            <a:srgbClr val="B04A25"/>
          </a:solidFill>
        </p:spPr>
      </p:sp>
      <p:sp>
        <p:nvSpPr>
          <p:cNvPr id="45" name="Text 43">
            <a:extLst xmlns:a="http://schemas.openxmlformats.org/drawingml/2006/main">
              <a:ext uri="{FF2B5EF4-FFF2-40B4-BE49-F238E27FC236}">
                <a16:creationId xmlns:a16="http://schemas.microsoft.com/office/drawing/2014/main" id="{4D549806-D28D-457C-A50F-50B3EE526658}"/>
              </a:ext>
            </a:extLst>
          </p:cNvPr>
          <p:cNvSpPr>
            <a:spLocks xmlns:a="http://schemas.openxmlformats.org/drawingml/2006/main" noGrp="1"/>
          </p:cNvSpPr>
          <p:nvPr/>
        </p:nvSpPr>
        <p:spPr>
          <a:xfrm xmlns:a="http://schemas.openxmlformats.org/drawingml/2006/main">
            <a:off x="4606442" y="4059936"/>
            <a:ext cx="11430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900"/>
              </a:lnSpc>
              <a:buNone/>
            </a:pPr>
            <a:r>
              <a:rPr sz="740" i="1">
                <a:solidFill>
                  <a:srgbClr val="B04A25"/>
                </a:solidFill>
                <a:latin typeface="Arial"/>
                <a:ea typeface="Arial"/>
                <a:cs typeface="Arial"/>
              </a:rPr>
              <a:t>the boundary</a:t>
            </a:r>
            <a:endParaRPr sz="740"/>
          </a:p>
        </p:txBody>
      </p:sp>
      <p:sp>
        <p:nvSpPr>
          <p:cNvPr id="46" name="Text 44">
            <a:extLst xmlns:a="http://schemas.openxmlformats.org/drawingml/2006/main">
              <a:ext uri="{FF2B5EF4-FFF2-40B4-BE49-F238E27FC236}">
                <a16:creationId xmlns:a16="http://schemas.microsoft.com/office/drawing/2014/main" id="{901FCA0D-A160-4C0F-871C-CA11006438EC}"/>
              </a:ext>
            </a:extLst>
          </p:cNvPr>
          <p:cNvSpPr>
            <a:spLocks xmlns:a="http://schemas.openxmlformats.org/drawingml/2006/main" noGrp="1"/>
          </p:cNvSpPr>
          <p:nvPr/>
        </p:nvSpPr>
        <p:spPr>
          <a:xfrm xmlns:a="http://schemas.openxmlformats.org/drawingml/2006/main">
            <a:off x="566928" y="424281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design problem</a:t>
            </a:r>
            <a:endParaRPr sz="1100"/>
          </a:p>
        </p:txBody>
      </p:sp>
      <p:sp>
        <p:nvSpPr>
          <p:cNvPr id="47" name="Shape 45">
            <a:extLst xmlns:a="http://schemas.openxmlformats.org/drawingml/2006/main">
              <a:ext uri="{FF2B5EF4-FFF2-40B4-BE49-F238E27FC236}">
                <a16:creationId xmlns:a16="http://schemas.microsoft.com/office/drawing/2014/main" id="{E20FA3E0-C96E-46F7-AD8D-4011ABA2EBEE}"/>
              </a:ext>
            </a:extLst>
          </p:cNvPr>
          <p:cNvSpPr>
            <a:spLocks xmlns:a="http://schemas.openxmlformats.org/drawingml/2006/main" noGrp="1"/>
          </p:cNvSpPr>
          <p:nvPr/>
        </p:nvSpPr>
        <p:spPr>
          <a:xfrm xmlns:a="http://schemas.openxmlformats.org/drawingml/2006/main">
            <a:off x="566928" y="4498848"/>
            <a:ext cx="3551834" cy="20117"/>
          </a:xfrm>
          <a:prstGeom xmlns:a="http://schemas.openxmlformats.org/drawingml/2006/main" prst="rect">
            <a:avLst/>
          </a:prstGeom>
          <a:solidFill xmlns:a="http://schemas.openxmlformats.org/drawingml/2006/main">
            <a:srgbClr val="B04A25"/>
          </a:solidFill>
        </p:spPr>
      </p:sp>
      <p:sp>
        <p:nvSpPr>
          <p:cNvPr id="48" name="Text 46">
            <a:extLst xmlns:a="http://schemas.openxmlformats.org/drawingml/2006/main">
              <a:ext uri="{FF2B5EF4-FFF2-40B4-BE49-F238E27FC236}">
                <a16:creationId xmlns:a16="http://schemas.microsoft.com/office/drawing/2014/main" id="{BF0394E8-81D3-4FE6-AC64-9D7A6B3FCDC1}"/>
              </a:ext>
            </a:extLst>
          </p:cNvPr>
          <p:cNvSpPr>
            <a:spLocks xmlns:a="http://schemas.openxmlformats.org/drawingml/2006/main" noGrp="1"/>
          </p:cNvSpPr>
          <p:nvPr/>
        </p:nvSpPr>
        <p:spPr>
          <a:xfrm xmlns:a="http://schemas.openxmlformats.org/drawingml/2006/main">
            <a:off x="566928" y="4626864"/>
            <a:ext cx="3551834"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Two regulated entities, two supervisors, two definitions of who owns the customer record.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customer experiences one journey; the data must not behave as though it is one entity.</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 blanket consent is faster to build and fails the first time either supervisor examines it.</a:t>
            </a:r>
            <a:endParaRPr sz="920"/>
          </a:p>
        </p:txBody>
      </p:sp>
      <p:sp>
        <p:nvSpPr>
          <p:cNvPr id="49" name="Text 47">
            <a:extLst xmlns:a="http://schemas.openxmlformats.org/drawingml/2006/main">
              <a:ext uri="{FF2B5EF4-FFF2-40B4-BE49-F238E27FC236}">
                <a16:creationId xmlns:a16="http://schemas.microsoft.com/office/drawing/2014/main" id="{252A4041-673E-4696-B3D8-127A440F4055}"/>
              </a:ext>
            </a:extLst>
          </p:cNvPr>
          <p:cNvSpPr>
            <a:spLocks xmlns:a="http://schemas.openxmlformats.org/drawingml/2006/main" noGrp="1"/>
          </p:cNvSpPr>
          <p:nvPr/>
        </p:nvSpPr>
        <p:spPr>
          <a:xfrm xmlns:a="http://schemas.openxmlformats.org/drawingml/2006/main">
            <a:off x="4319930" y="424281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How it was resolved</a:t>
            </a:r>
            <a:endParaRPr sz="1100"/>
          </a:p>
        </p:txBody>
      </p:sp>
      <p:sp>
        <p:nvSpPr>
          <p:cNvPr id="50" name="Shape 48">
            <a:extLst xmlns:a="http://schemas.openxmlformats.org/drawingml/2006/main">
              <a:ext uri="{FF2B5EF4-FFF2-40B4-BE49-F238E27FC236}">
                <a16:creationId xmlns:a16="http://schemas.microsoft.com/office/drawing/2014/main" id="{AC70AFF9-88B7-483D-B278-5D025CD7F191}"/>
              </a:ext>
            </a:extLst>
          </p:cNvPr>
          <p:cNvSpPr>
            <a:spLocks xmlns:a="http://schemas.openxmlformats.org/drawingml/2006/main" noGrp="1"/>
          </p:cNvSpPr>
          <p:nvPr/>
        </p:nvSpPr>
        <p:spPr>
          <a:xfrm xmlns:a="http://schemas.openxmlformats.org/drawingml/2006/main">
            <a:off x="4319930" y="4498848"/>
            <a:ext cx="3551834" cy="20117"/>
          </a:xfrm>
          <a:prstGeom xmlns:a="http://schemas.openxmlformats.org/drawingml/2006/main" prst="rect">
            <a:avLst/>
          </a:prstGeom>
          <a:solidFill xmlns:a="http://schemas.openxmlformats.org/drawingml/2006/main">
            <a:srgbClr val="102A43"/>
          </a:solidFill>
        </p:spPr>
      </p:sp>
      <p:sp>
        <p:nvSpPr>
          <p:cNvPr id="51" name="Text 49">
            <a:extLst xmlns:a="http://schemas.openxmlformats.org/drawingml/2006/main">
              <a:ext uri="{FF2B5EF4-FFF2-40B4-BE49-F238E27FC236}">
                <a16:creationId xmlns:a16="http://schemas.microsoft.com/office/drawing/2014/main" id="{12F95D76-8746-42D7-8DED-59AC2C820ECB}"/>
              </a:ext>
            </a:extLst>
          </p:cNvPr>
          <p:cNvSpPr>
            <a:spLocks xmlns:a="http://schemas.openxmlformats.org/drawingml/2006/main" noGrp="1"/>
          </p:cNvSpPr>
          <p:nvPr/>
        </p:nvSpPr>
        <p:spPr>
          <a:xfrm xmlns:a="http://schemas.openxmlformats.org/drawingml/2006/main">
            <a:off x="4319930" y="4626864"/>
            <a:ext cx="3551834"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Consent split: cross-entity data sharing separated from the insurance contract itself.</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Field-level handover, purpose recorded per attribute — minimum necessary, not bulk.</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System-of-record split: insurer owns the policy, bank owns the servicing view.</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Underwriting is a black box by design — status shown, not reasoning.</a:t>
            </a:r>
            <a:endParaRPr sz="920"/>
          </a:p>
        </p:txBody>
      </p:sp>
      <p:sp>
        <p:nvSpPr>
          <p:cNvPr id="52" name="Text 50">
            <a:extLst xmlns:a="http://schemas.openxmlformats.org/drawingml/2006/main">
              <a:ext uri="{FF2B5EF4-FFF2-40B4-BE49-F238E27FC236}">
                <a16:creationId xmlns:a16="http://schemas.microsoft.com/office/drawing/2014/main" id="{37679AB3-7040-4F9E-B192-7F064629DF3D}"/>
              </a:ext>
            </a:extLst>
          </p:cNvPr>
          <p:cNvSpPr>
            <a:spLocks xmlns:a="http://schemas.openxmlformats.org/drawingml/2006/main" noGrp="1"/>
          </p:cNvSpPr>
          <p:nvPr/>
        </p:nvSpPr>
        <p:spPr>
          <a:xfrm xmlns:a="http://schemas.openxmlformats.org/drawingml/2006/main">
            <a:off x="8072933" y="424281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Why it mattered</a:t>
            </a:r>
            <a:endParaRPr sz="1100"/>
          </a:p>
        </p:txBody>
      </p:sp>
      <p:sp>
        <p:nvSpPr>
          <p:cNvPr id="53" name="Shape 51">
            <a:extLst xmlns:a="http://schemas.openxmlformats.org/drawingml/2006/main">
              <a:ext uri="{FF2B5EF4-FFF2-40B4-BE49-F238E27FC236}">
                <a16:creationId xmlns:a16="http://schemas.microsoft.com/office/drawing/2014/main" id="{C418055E-A7EB-449A-8B09-5B42160CEC30}"/>
              </a:ext>
            </a:extLst>
          </p:cNvPr>
          <p:cNvSpPr>
            <a:spLocks xmlns:a="http://schemas.openxmlformats.org/drawingml/2006/main" noGrp="1"/>
          </p:cNvSpPr>
          <p:nvPr/>
        </p:nvSpPr>
        <p:spPr>
          <a:xfrm xmlns:a="http://schemas.openxmlformats.org/drawingml/2006/main">
            <a:off x="8072933" y="4498848"/>
            <a:ext cx="3551834" cy="20117"/>
          </a:xfrm>
          <a:prstGeom xmlns:a="http://schemas.openxmlformats.org/drawingml/2006/main" prst="rect">
            <a:avLst/>
          </a:prstGeom>
          <a:solidFill xmlns:a="http://schemas.openxmlformats.org/drawingml/2006/main">
            <a:srgbClr val="27685A"/>
          </a:solidFill>
        </p:spPr>
      </p:sp>
      <p:sp>
        <p:nvSpPr>
          <p:cNvPr id="54" name="Text 52">
            <a:extLst xmlns:a="http://schemas.openxmlformats.org/drawingml/2006/main">
              <a:ext uri="{FF2B5EF4-FFF2-40B4-BE49-F238E27FC236}">
                <a16:creationId xmlns:a16="http://schemas.microsoft.com/office/drawing/2014/main" id="{DF9180E4-A47F-49D5-93A1-E0FAE9825DDA}"/>
              </a:ext>
            </a:extLst>
          </p:cNvPr>
          <p:cNvSpPr>
            <a:spLocks xmlns:a="http://schemas.openxmlformats.org/drawingml/2006/main" noGrp="1"/>
          </p:cNvSpPr>
          <p:nvPr/>
        </p:nvSpPr>
        <p:spPr>
          <a:xfrm xmlns:a="http://schemas.openxmlformats.org/drawingml/2006/main">
            <a:off x="8072933" y="4626864"/>
            <a:ext cx="3551834"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Group cross-sell is where bancassurance value sits — and where it usually leaks.</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 defensible consent model is the difference between a launched journey and a withdrawn one.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pattern generalises to any group-entity product sold through a bank channel.</a:t>
            </a:r>
            <a:endParaRPr sz="920"/>
          </a:p>
        </p:txBody>
      </p:sp>
      <p:sp>
        <p:nvSpPr>
          <p:cNvPr id="55" name="Shape 53">
            <a:extLst xmlns:a="http://schemas.openxmlformats.org/drawingml/2006/main">
              <a:ext uri="{FF2B5EF4-FFF2-40B4-BE49-F238E27FC236}">
                <a16:creationId xmlns:a16="http://schemas.microsoft.com/office/drawing/2014/main" id="{B9824FD9-D0C2-46E4-AC11-3633835CF67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6" name="Text 54">
            <a:extLst xmlns:a="http://schemas.openxmlformats.org/drawingml/2006/main">
              <a:ext uri="{FF2B5EF4-FFF2-40B4-BE49-F238E27FC236}">
                <a16:creationId xmlns:a16="http://schemas.microsoft.com/office/drawing/2014/main" id="{E21E12D8-B7B3-4F39-8AE0-B748149A5D05}"/>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a:t>
            </a:r>
            <a:endParaRPr sz="850"/>
          </a:p>
        </p:txBody>
      </p:sp>
      <p:sp>
        <p:nvSpPr>
          <p:cNvPr id="57" name="Text 55">
            <a:extLst xmlns:a="http://schemas.openxmlformats.org/drawingml/2006/main">
              <a:ext uri="{FF2B5EF4-FFF2-40B4-BE49-F238E27FC236}">
                <a16:creationId xmlns:a16="http://schemas.microsoft.com/office/drawing/2014/main" id="{2BF54BFA-0F4A-4729-BFC4-8FCEF39D6AD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11</a:t>
            </a:r>
            <a:endParaRPr sz="850"/>
          </a:p>
        </p:txBody>
      </p:sp>
    </p:spTree>
    <p:extLst>
      <p:ext uri="{BB962C8B-B14F-4D97-AF65-F5344CB8AC3E}">
        <p14:creationId xmlns:p14="http://schemas.microsoft.com/office/powerpoint/2010/main" val="802132720"/>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9130FA-2444-4E05-9F6D-13ACDFEA756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REUSE ECONOMICS</a:t>
            </a:r>
            <a:endParaRPr sz="950"/>
          </a:p>
        </p:txBody>
      </p:sp>
      <p:sp>
        <p:nvSpPr>
          <p:cNvPr id="3" name="Text 1">
            <a:extLst xmlns:a="http://schemas.openxmlformats.org/drawingml/2006/main">
              <a:ext uri="{FF2B5EF4-FFF2-40B4-BE49-F238E27FC236}">
                <a16:creationId xmlns:a16="http://schemas.microsoft.com/office/drawing/2014/main" id="{6879E979-E230-4D72-A339-889969905D2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Build effort fell roughly sixfold from the first journey to the sixth — the case for</a:t>
            </a:r>
            <a:endParaRPr sz="1900"/>
          </a:p>
          <a:p xmlns:a="http://schemas.openxmlformats.org/drawingml/2006/main">
            <a:pPr marL="0" indent="0">
              <a:lnSpc>
                <a:spcPts val="2400"/>
              </a:lnSpc>
              <a:buNone/>
            </a:pPr>
            <a:r>
              <a:rPr sz="1900" b="1">
                <a:solidFill>
                  <a:srgbClr val="102A43"/>
                </a:solidFill>
                <a:latin typeface="Arial"/>
                <a:ea typeface="Arial"/>
                <a:cs typeface="Arial"/>
              </a:rPr>
              <a:t>the seventh is now stronger than the case for the first ever was</a:t>
            </a:r>
            <a:endParaRPr sz="1900"/>
          </a:p>
        </p:txBody>
      </p:sp>
      <p:graphicFrame>
        <p:nvGraphicFramePr>
          <p:cNvPr id="30" name="Chart 0"/>
          <p:cNvGraphicFramePr/>
          <p:nvPr/>
        </p:nvGraphicFramePr>
        <p:xfrm>
          <a:off xmlns:a="http://schemas.openxmlformats.org/drawingml/2006/main" x="566928" y="1426464"/>
          <a:ext xmlns:a="http://schemas.openxmlformats.org/drawingml/2006/main" cx="6675120" cy="3017520"/>
        </p:xfrm>
        <a:graphic xmlns:a="http://schemas.openxmlformats.org/drawingml/2006/main">
          <a:graphicData uri="http://schemas.openxmlformats.org/drawingml/2006/chart">
            <c:chart xmlns:r="http://schemas.openxmlformats.org/officeDocument/2006/relationships" xmlns:c="http://schemas.openxmlformats.org/drawingml/2006/chart" r:id="R9103069e3b8f42e2"/>
          </a:graphicData>
        </a:graphic>
      </p:graphicFrame>
      <p:sp>
        <p:nvSpPr>
          <p:cNvPr id="5" name="Text 2">
            <a:extLst xmlns:a="http://schemas.openxmlformats.org/drawingml/2006/main">
              <a:ext uri="{FF2B5EF4-FFF2-40B4-BE49-F238E27FC236}">
                <a16:creationId xmlns:a16="http://schemas.microsoft.com/office/drawing/2014/main" id="{4DCA2D17-7472-4CE4-8854-CA08B3F9826A}"/>
              </a:ext>
            </a:extLst>
          </p:cNvPr>
          <p:cNvSpPr>
            <a:spLocks xmlns:a="http://schemas.openxmlformats.org/drawingml/2006/main" noGrp="1"/>
          </p:cNvSpPr>
          <p:nvPr/>
        </p:nvSpPr>
        <p:spPr>
          <a:xfrm xmlns:a="http://schemas.openxmlformats.org/drawingml/2006/main">
            <a:off x="566928" y="4517136"/>
            <a:ext cx="6675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Person-weeks per journey, illustrative model — spine investment front-loaded into journeys one and two</a:t>
            </a:r>
            <a:endParaRPr sz="880"/>
          </a:p>
        </p:txBody>
      </p:sp>
      <p:sp>
        <p:nvSpPr>
          <p:cNvPr id="6" name="Shape 3">
            <a:extLst xmlns:a="http://schemas.openxmlformats.org/drawingml/2006/main">
              <a:ext uri="{FF2B5EF4-FFF2-40B4-BE49-F238E27FC236}">
                <a16:creationId xmlns:a16="http://schemas.microsoft.com/office/drawing/2014/main" id="{E53D3A15-680A-4FAA-95F4-ECD3979BA276}"/>
              </a:ext>
            </a:extLst>
          </p:cNvPr>
          <p:cNvSpPr>
            <a:spLocks xmlns:a="http://schemas.openxmlformats.org/drawingml/2006/main" noGrp="1"/>
          </p:cNvSpPr>
          <p:nvPr/>
        </p:nvSpPr>
        <p:spPr>
          <a:xfrm xmlns:a="http://schemas.openxmlformats.org/drawingml/2006/main">
            <a:off x="7607808" y="1426464"/>
            <a:ext cx="1956816" cy="896112"/>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26F08956-AE5F-4D19-8C0B-6CFFF2BD2898}"/>
              </a:ext>
            </a:extLst>
          </p:cNvPr>
          <p:cNvSpPr>
            <a:spLocks xmlns:a="http://schemas.openxmlformats.org/drawingml/2006/main" noGrp="1"/>
          </p:cNvSpPr>
          <p:nvPr/>
        </p:nvSpPr>
        <p:spPr>
          <a:xfrm xmlns:a="http://schemas.openxmlformats.org/drawingml/2006/main">
            <a:off x="7735824" y="1545336"/>
            <a:ext cx="1700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26</a:t>
            </a:r>
            <a:endParaRPr sz="2200"/>
          </a:p>
        </p:txBody>
      </p:sp>
      <p:sp>
        <p:nvSpPr>
          <p:cNvPr id="8" name="Text 5">
            <a:extLst xmlns:a="http://schemas.openxmlformats.org/drawingml/2006/main">
              <a:ext uri="{FF2B5EF4-FFF2-40B4-BE49-F238E27FC236}">
                <a16:creationId xmlns:a16="http://schemas.microsoft.com/office/drawing/2014/main" id="{F418EE86-D761-438B-B339-D4D5DCECB545}"/>
              </a:ext>
            </a:extLst>
          </p:cNvPr>
          <p:cNvSpPr>
            <a:spLocks xmlns:a="http://schemas.openxmlformats.org/drawingml/2006/main" noGrp="1"/>
          </p:cNvSpPr>
          <p:nvPr/>
        </p:nvSpPr>
        <p:spPr>
          <a:xfrm xmlns:a="http://schemas.openxmlformats.org/drawingml/2006/main">
            <a:off x="7735824" y="1938528"/>
            <a:ext cx="1700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person-weeks</a:t>
            </a:r>
            <a:endParaRPr sz="860"/>
          </a:p>
          <a:p xmlns:a="http://schemas.openxmlformats.org/drawingml/2006/main">
            <a:pPr marL="0" indent="0">
              <a:lnSpc>
                <a:spcPts val="1050"/>
              </a:lnSpc>
              <a:buNone/>
            </a:pPr>
            <a:r>
              <a:rPr sz="860">
                <a:solidFill>
                  <a:srgbClr val="486581"/>
                </a:solidFill>
                <a:latin typeface="Arial"/>
                <a:ea typeface="Arial"/>
                <a:cs typeface="Arial"/>
              </a:rPr>
              <a:t>journey 1</a:t>
            </a:r>
            <a:endParaRPr sz="860"/>
          </a:p>
        </p:txBody>
      </p:sp>
      <p:sp>
        <p:nvSpPr>
          <p:cNvPr id="9" name="Shape 6">
            <a:extLst xmlns:a="http://schemas.openxmlformats.org/drawingml/2006/main">
              <a:ext uri="{FF2B5EF4-FFF2-40B4-BE49-F238E27FC236}">
                <a16:creationId xmlns:a16="http://schemas.microsoft.com/office/drawing/2014/main" id="{99F7A4DF-516D-47A7-A86F-5508BD3A1437}"/>
              </a:ext>
            </a:extLst>
          </p:cNvPr>
          <p:cNvSpPr>
            <a:spLocks xmlns:a="http://schemas.openxmlformats.org/drawingml/2006/main" noGrp="1"/>
          </p:cNvSpPr>
          <p:nvPr/>
        </p:nvSpPr>
        <p:spPr>
          <a:xfrm xmlns:a="http://schemas.openxmlformats.org/drawingml/2006/main">
            <a:off x="9701784" y="1426464"/>
            <a:ext cx="1956816" cy="896112"/>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8677236B-22CB-40FC-A9E1-0847EE2046BC}"/>
              </a:ext>
            </a:extLst>
          </p:cNvPr>
          <p:cNvSpPr>
            <a:spLocks xmlns:a="http://schemas.openxmlformats.org/drawingml/2006/main" noGrp="1"/>
          </p:cNvSpPr>
          <p:nvPr/>
        </p:nvSpPr>
        <p:spPr>
          <a:xfrm xmlns:a="http://schemas.openxmlformats.org/drawingml/2006/main">
            <a:off x="9829800" y="1545336"/>
            <a:ext cx="1700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4</a:t>
            </a:r>
            <a:endParaRPr sz="2200"/>
          </a:p>
        </p:txBody>
      </p:sp>
      <p:sp>
        <p:nvSpPr>
          <p:cNvPr id="11" name="Text 8">
            <a:extLst xmlns:a="http://schemas.openxmlformats.org/drawingml/2006/main">
              <a:ext uri="{FF2B5EF4-FFF2-40B4-BE49-F238E27FC236}">
                <a16:creationId xmlns:a16="http://schemas.microsoft.com/office/drawing/2014/main" id="{619C7133-8255-4EBE-9DD3-865B4747DC89}"/>
              </a:ext>
            </a:extLst>
          </p:cNvPr>
          <p:cNvSpPr>
            <a:spLocks xmlns:a="http://schemas.openxmlformats.org/drawingml/2006/main" noGrp="1"/>
          </p:cNvSpPr>
          <p:nvPr/>
        </p:nvSpPr>
        <p:spPr>
          <a:xfrm xmlns:a="http://schemas.openxmlformats.org/drawingml/2006/main">
            <a:off x="9829800" y="1938528"/>
            <a:ext cx="1700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person-weeks</a:t>
            </a:r>
            <a:endParaRPr sz="860"/>
          </a:p>
          <a:p xmlns:a="http://schemas.openxmlformats.org/drawingml/2006/main">
            <a:pPr marL="0" indent="0">
              <a:lnSpc>
                <a:spcPts val="1050"/>
              </a:lnSpc>
              <a:buNone/>
            </a:pPr>
            <a:r>
              <a:rPr sz="860">
                <a:solidFill>
                  <a:srgbClr val="486581"/>
                </a:solidFill>
                <a:latin typeface="Arial"/>
                <a:ea typeface="Arial"/>
                <a:cs typeface="Arial"/>
              </a:rPr>
              <a:t>journey 6</a:t>
            </a:r>
            <a:endParaRPr sz="860"/>
          </a:p>
        </p:txBody>
      </p:sp>
      <p:sp>
        <p:nvSpPr>
          <p:cNvPr id="12" name="Shape 9">
            <a:extLst xmlns:a="http://schemas.openxmlformats.org/drawingml/2006/main">
              <a:ext uri="{FF2B5EF4-FFF2-40B4-BE49-F238E27FC236}">
                <a16:creationId xmlns:a16="http://schemas.microsoft.com/office/drawing/2014/main" id="{E7812E28-78C5-408B-8C8E-32F3FB99CE65}"/>
              </a:ext>
            </a:extLst>
          </p:cNvPr>
          <p:cNvSpPr>
            <a:spLocks xmlns:a="http://schemas.openxmlformats.org/drawingml/2006/main" noGrp="1"/>
          </p:cNvSpPr>
          <p:nvPr/>
        </p:nvSpPr>
        <p:spPr>
          <a:xfrm xmlns:a="http://schemas.openxmlformats.org/drawingml/2006/main">
            <a:off x="7607808" y="2414016"/>
            <a:ext cx="1956816" cy="896112"/>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56E2600C-2F7A-498C-B9E0-246C7D48F939}"/>
              </a:ext>
            </a:extLst>
          </p:cNvPr>
          <p:cNvSpPr>
            <a:spLocks xmlns:a="http://schemas.openxmlformats.org/drawingml/2006/main" noGrp="1"/>
          </p:cNvSpPr>
          <p:nvPr/>
        </p:nvSpPr>
        <p:spPr>
          <a:xfrm xmlns:a="http://schemas.openxmlformats.org/drawingml/2006/main">
            <a:off x="7735824" y="2532888"/>
            <a:ext cx="1700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6×</a:t>
            </a:r>
            <a:endParaRPr sz="2200"/>
          </a:p>
        </p:txBody>
      </p:sp>
      <p:sp>
        <p:nvSpPr>
          <p:cNvPr id="14" name="Text 11">
            <a:extLst xmlns:a="http://schemas.openxmlformats.org/drawingml/2006/main">
              <a:ext uri="{FF2B5EF4-FFF2-40B4-BE49-F238E27FC236}">
                <a16:creationId xmlns:a16="http://schemas.microsoft.com/office/drawing/2014/main" id="{AA19BFEE-6D34-4A97-BB9E-A88F9E435789}"/>
              </a:ext>
            </a:extLst>
          </p:cNvPr>
          <p:cNvSpPr>
            <a:spLocks xmlns:a="http://schemas.openxmlformats.org/drawingml/2006/main" noGrp="1"/>
          </p:cNvSpPr>
          <p:nvPr/>
        </p:nvSpPr>
        <p:spPr>
          <a:xfrm xmlns:a="http://schemas.openxmlformats.org/drawingml/2006/main">
            <a:off x="7735824" y="2926080"/>
            <a:ext cx="1700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effort reduction</a:t>
            </a:r>
            <a:endParaRPr sz="860"/>
          </a:p>
          <a:p xmlns:a="http://schemas.openxmlformats.org/drawingml/2006/main">
            <a:pPr marL="0" indent="0">
              <a:lnSpc>
                <a:spcPts val="1050"/>
              </a:lnSpc>
              <a:buNone/>
            </a:pPr>
            <a:r>
              <a:rPr sz="860">
                <a:solidFill>
                  <a:srgbClr val="486581"/>
                </a:solidFill>
                <a:latin typeface="Arial"/>
                <a:ea typeface="Arial"/>
                <a:cs typeface="Arial"/>
              </a:rPr>
              <a:t>across the set</a:t>
            </a:r>
            <a:endParaRPr sz="860"/>
          </a:p>
        </p:txBody>
      </p:sp>
      <p:sp>
        <p:nvSpPr>
          <p:cNvPr id="15" name="Shape 12">
            <a:extLst xmlns:a="http://schemas.openxmlformats.org/drawingml/2006/main">
              <a:ext uri="{FF2B5EF4-FFF2-40B4-BE49-F238E27FC236}">
                <a16:creationId xmlns:a16="http://schemas.microsoft.com/office/drawing/2014/main" id="{6126BEFA-BC83-4145-A966-7DDE14ADCBCF}"/>
              </a:ext>
            </a:extLst>
          </p:cNvPr>
          <p:cNvSpPr>
            <a:spLocks xmlns:a="http://schemas.openxmlformats.org/drawingml/2006/main" noGrp="1"/>
          </p:cNvSpPr>
          <p:nvPr/>
        </p:nvSpPr>
        <p:spPr>
          <a:xfrm xmlns:a="http://schemas.openxmlformats.org/drawingml/2006/main">
            <a:off x="9701784" y="2414016"/>
            <a:ext cx="1956816" cy="896112"/>
          </a:xfrm>
          <a:prstGeom xmlns:a="http://schemas.openxmlformats.org/drawingml/2006/main" prst="rect">
            <a:avLst/>
          </a:prstGeom>
          <a:solidFill xmlns:a="http://schemas.openxmlformats.org/drawingml/2006/main">
            <a:srgbClr val="F0F4F8"/>
          </a:solidFill>
        </p:spPr>
      </p:sp>
      <p:sp>
        <p:nvSpPr>
          <p:cNvPr id="16" name="Text 13">
            <a:extLst xmlns:a="http://schemas.openxmlformats.org/drawingml/2006/main">
              <a:ext uri="{FF2B5EF4-FFF2-40B4-BE49-F238E27FC236}">
                <a16:creationId xmlns:a16="http://schemas.microsoft.com/office/drawing/2014/main" id="{5048B160-679D-4338-A107-3F51CC76ED82}"/>
              </a:ext>
            </a:extLst>
          </p:cNvPr>
          <p:cNvSpPr>
            <a:spLocks xmlns:a="http://schemas.openxmlformats.org/drawingml/2006/main" noGrp="1"/>
          </p:cNvSpPr>
          <p:nvPr/>
        </p:nvSpPr>
        <p:spPr>
          <a:xfrm xmlns:a="http://schemas.openxmlformats.org/drawingml/2006/main">
            <a:off x="9829800" y="2532888"/>
            <a:ext cx="1700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22</a:t>
            </a:r>
            <a:endParaRPr sz="2200"/>
          </a:p>
        </p:txBody>
      </p:sp>
      <p:sp>
        <p:nvSpPr>
          <p:cNvPr id="17" name="Text 14">
            <a:extLst xmlns:a="http://schemas.openxmlformats.org/drawingml/2006/main">
              <a:ext uri="{FF2B5EF4-FFF2-40B4-BE49-F238E27FC236}">
                <a16:creationId xmlns:a16="http://schemas.microsoft.com/office/drawing/2014/main" id="{50E7C34C-CE94-40E2-B62A-26EEAD457B24}"/>
              </a:ext>
            </a:extLst>
          </p:cNvPr>
          <p:cNvSpPr>
            <a:spLocks xmlns:a="http://schemas.openxmlformats.org/drawingml/2006/main" noGrp="1"/>
          </p:cNvSpPr>
          <p:nvPr/>
        </p:nvSpPr>
        <p:spPr>
          <a:xfrm xmlns:a="http://schemas.openxmlformats.org/drawingml/2006/main">
            <a:off x="9829800" y="2926080"/>
            <a:ext cx="1700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spine person-weeks</a:t>
            </a:r>
            <a:endParaRPr sz="860"/>
          </a:p>
          <a:p xmlns:a="http://schemas.openxmlformats.org/drawingml/2006/main">
            <a:pPr marL="0" indent="0">
              <a:lnSpc>
                <a:spcPts val="1050"/>
              </a:lnSpc>
              <a:buNone/>
            </a:pPr>
            <a:r>
              <a:rPr sz="860">
                <a:solidFill>
                  <a:srgbClr val="486581"/>
                </a:solidFill>
                <a:latin typeface="Arial"/>
                <a:ea typeface="Arial"/>
                <a:cs typeface="Arial"/>
              </a:rPr>
              <a:t>invested in total</a:t>
            </a:r>
            <a:endParaRPr sz="860"/>
          </a:p>
        </p:txBody>
      </p:sp>
      <p:sp>
        <p:nvSpPr>
          <p:cNvPr id="18" name="Text 15">
            <a:extLst xmlns:a="http://schemas.openxmlformats.org/drawingml/2006/main">
              <a:ext uri="{FF2B5EF4-FFF2-40B4-BE49-F238E27FC236}">
                <a16:creationId xmlns:a16="http://schemas.microsoft.com/office/drawing/2014/main" id="{E1984270-330C-4A0D-873C-447741BAED61}"/>
              </a:ext>
            </a:extLst>
          </p:cNvPr>
          <p:cNvSpPr>
            <a:spLocks xmlns:a="http://schemas.openxmlformats.org/drawingml/2006/main" noGrp="1"/>
          </p:cNvSpPr>
          <p:nvPr/>
        </p:nvSpPr>
        <p:spPr>
          <a:xfrm xmlns:a="http://schemas.openxmlformats.org/drawingml/2006/main">
            <a:off x="7607808" y="3493008"/>
            <a:ext cx="40142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curve does and does not prove</a:t>
            </a:r>
            <a:endParaRPr sz="1100"/>
          </a:p>
        </p:txBody>
      </p:sp>
      <p:sp>
        <p:nvSpPr>
          <p:cNvPr id="19" name="Shape 16">
            <a:extLst xmlns:a="http://schemas.openxmlformats.org/drawingml/2006/main">
              <a:ext uri="{FF2B5EF4-FFF2-40B4-BE49-F238E27FC236}">
                <a16:creationId xmlns:a16="http://schemas.microsoft.com/office/drawing/2014/main" id="{CDA00930-7946-4895-9572-49A4345A36EC}"/>
              </a:ext>
            </a:extLst>
          </p:cNvPr>
          <p:cNvSpPr>
            <a:spLocks xmlns:a="http://schemas.openxmlformats.org/drawingml/2006/main" noGrp="1"/>
          </p:cNvSpPr>
          <p:nvPr/>
        </p:nvSpPr>
        <p:spPr>
          <a:xfrm xmlns:a="http://schemas.openxmlformats.org/drawingml/2006/main">
            <a:off x="7607808" y="3749040"/>
            <a:ext cx="4014216" cy="20117"/>
          </a:xfrm>
          <a:prstGeom xmlns:a="http://schemas.openxmlformats.org/drawingml/2006/main" prst="rect">
            <a:avLst/>
          </a:prstGeom>
          <a:solidFill xmlns:a="http://schemas.openxmlformats.org/drawingml/2006/main">
            <a:srgbClr val="102A43"/>
          </a:solidFill>
        </p:spPr>
      </p:sp>
      <p:sp>
        <p:nvSpPr>
          <p:cNvPr id="20" name="Text 17">
            <a:extLst xmlns:a="http://schemas.openxmlformats.org/drawingml/2006/main">
              <a:ext uri="{FF2B5EF4-FFF2-40B4-BE49-F238E27FC236}">
                <a16:creationId xmlns:a16="http://schemas.microsoft.com/office/drawing/2014/main" id="{EB178F76-D1F0-483E-916D-7965EFA4A346}"/>
              </a:ext>
            </a:extLst>
          </p:cNvPr>
          <p:cNvSpPr>
            <a:spLocks xmlns:a="http://schemas.openxmlformats.org/drawingml/2006/main" noGrp="1"/>
          </p:cNvSpPr>
          <p:nvPr/>
        </p:nvSpPr>
        <p:spPr>
          <a:xfrm xmlns:a="http://schemas.openxmlformats.org/drawingml/2006/main">
            <a:off x="7607808" y="3895344"/>
            <a:ext cx="401421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It proves reuse held. A rising curve would have meant the spine was being forked under delivery pressure.</a:t>
            </a:r>
            <a:endParaRPr sz="940"/>
          </a:p>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It does not prove the journeys got easier — journey four was the hardest, and its bar reflects real new complexity.</a:t>
            </a:r>
            <a:endParaRPr sz="940"/>
          </a:p>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The spine cost is visible, not hidden: 22 person-weeks, paid mostly in the first two journeys.</a:t>
            </a:r>
            <a:endParaRPr sz="940"/>
          </a:p>
        </p:txBody>
      </p:sp>
      <p:sp>
        <p:nvSpPr>
          <p:cNvPr id="21" name="Shape 18">
            <a:extLst xmlns:a="http://schemas.openxmlformats.org/drawingml/2006/main">
              <a:ext uri="{FF2B5EF4-FFF2-40B4-BE49-F238E27FC236}">
                <a16:creationId xmlns:a16="http://schemas.microsoft.com/office/drawing/2014/main" id="{2512E051-551D-44E4-B404-261AF6E04764}"/>
              </a:ext>
            </a:extLst>
          </p:cNvPr>
          <p:cNvSpPr>
            <a:spLocks xmlns:a="http://schemas.openxmlformats.org/drawingml/2006/main" noGrp="1"/>
          </p:cNvSpPr>
          <p:nvPr/>
        </p:nvSpPr>
        <p:spPr>
          <a:xfrm xmlns:a="http://schemas.openxmlformats.org/drawingml/2006/main">
            <a:off x="566928" y="4919472"/>
            <a:ext cx="6675120" cy="1188720"/>
          </a:xfrm>
          <a:prstGeom xmlns:a="http://schemas.openxmlformats.org/drawingml/2006/main" prst="rect">
            <a:avLst/>
          </a:prstGeom>
          <a:solidFill xmlns:a="http://schemas.openxmlformats.org/drawingml/2006/main">
            <a:srgbClr val="F3E6E0"/>
          </a:solidFill>
        </p:spPr>
      </p:sp>
      <p:sp>
        <p:nvSpPr>
          <p:cNvPr id="22" name="Text 19">
            <a:extLst xmlns:a="http://schemas.openxmlformats.org/drawingml/2006/main">
              <a:ext uri="{FF2B5EF4-FFF2-40B4-BE49-F238E27FC236}">
                <a16:creationId xmlns:a16="http://schemas.microsoft.com/office/drawing/2014/main" id="{7ABF566B-A8BC-4CB2-A793-D28FE8C21DE3}"/>
              </a:ext>
            </a:extLst>
          </p:cNvPr>
          <p:cNvSpPr>
            <a:spLocks xmlns:a="http://schemas.openxmlformats.org/drawingml/2006/main" noGrp="1"/>
          </p:cNvSpPr>
          <p:nvPr/>
        </p:nvSpPr>
        <p:spPr>
          <a:xfrm xmlns:a="http://schemas.openxmlformats.org/drawingml/2006/main">
            <a:off x="786384" y="5065776"/>
            <a:ext cx="623620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argument this makes to a sponsor</a:t>
            </a:r>
            <a:endParaRPr sz="1100"/>
          </a:p>
        </p:txBody>
      </p:sp>
      <p:sp>
        <p:nvSpPr>
          <p:cNvPr id="23" name="Text 20">
            <a:extLst xmlns:a="http://schemas.openxmlformats.org/drawingml/2006/main">
              <a:ext uri="{FF2B5EF4-FFF2-40B4-BE49-F238E27FC236}">
                <a16:creationId xmlns:a16="http://schemas.microsoft.com/office/drawing/2014/main" id="{DF867C81-149A-458C-804B-AE7A049CE977}"/>
              </a:ext>
            </a:extLst>
          </p:cNvPr>
          <p:cNvSpPr>
            <a:spLocks xmlns:a="http://schemas.openxmlformats.org/drawingml/2006/main" noGrp="1"/>
          </p:cNvSpPr>
          <p:nvPr/>
        </p:nvSpPr>
        <p:spPr>
          <a:xfrm xmlns:a="http://schemas.openxmlformats.org/drawingml/2006/main">
            <a:off x="786384" y="5340096"/>
            <a:ext cx="6236208"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80">
                <a:solidFill>
                  <a:srgbClr val="1A1A1A"/>
                </a:solidFill>
                <a:latin typeface="Arial"/>
                <a:ea typeface="Arial"/>
                <a:cs typeface="Arial"/>
              </a:rPr>
              <a:t>The spine looks like overhead on journey one and pays for itself by journey three. Sponsors who fund journeys individually never see that curve, because each business case is written as though it were the first. Funding the portfolio rather than the journey is the decision that unlocks it.</a:t>
            </a:r>
            <a:endParaRPr sz="980"/>
          </a:p>
        </p:txBody>
      </p:sp>
      <p:sp>
        <p:nvSpPr>
          <p:cNvPr id="24" name="Shape 21">
            <a:extLst xmlns:a="http://schemas.openxmlformats.org/drawingml/2006/main">
              <a:ext uri="{FF2B5EF4-FFF2-40B4-BE49-F238E27FC236}">
                <a16:creationId xmlns:a16="http://schemas.microsoft.com/office/drawing/2014/main" id="{D08B116C-066F-437B-8F71-C971D69FE98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5" name="Text 22">
            <a:extLst xmlns:a="http://schemas.openxmlformats.org/drawingml/2006/main">
              <a:ext uri="{FF2B5EF4-FFF2-40B4-BE49-F238E27FC236}">
                <a16:creationId xmlns:a16="http://schemas.microsoft.com/office/drawing/2014/main" id="{34A49F47-1F0B-4B1B-BBCE-F1A203DD4B9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value model — illustrative volumes, stated assumptions; replace with bank actuals</a:t>
            </a:r>
            <a:endParaRPr sz="850"/>
          </a:p>
        </p:txBody>
      </p:sp>
      <p:sp>
        <p:nvSpPr>
          <p:cNvPr id="26" name="Text 23">
            <a:extLst xmlns:a="http://schemas.openxmlformats.org/drawingml/2006/main">
              <a:ext uri="{FF2B5EF4-FFF2-40B4-BE49-F238E27FC236}">
                <a16:creationId xmlns:a16="http://schemas.microsoft.com/office/drawing/2014/main" id="{DE96A208-F6A3-4019-A33E-DB462FBAC5A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12</a:t>
            </a:r>
            <a:endParaRPr sz="850"/>
          </a:p>
        </p:txBody>
      </p:sp>
    </p:spTree>
    <p:extLst>
      <p:ext uri="{BB962C8B-B14F-4D97-AF65-F5344CB8AC3E}">
        <p14:creationId xmlns:p14="http://schemas.microsoft.com/office/powerpoint/2010/main" val="1568781046"/>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6A23D2-9054-4AC3-B3CA-4C22AD698B8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OPERATING PATTERN</a:t>
            </a:r>
            <a:endParaRPr sz="950"/>
          </a:p>
        </p:txBody>
      </p:sp>
      <p:sp>
        <p:nvSpPr>
          <p:cNvPr id="3" name="Text 1">
            <a:extLst xmlns:a="http://schemas.openxmlformats.org/drawingml/2006/main">
              <a:ext uri="{FF2B5EF4-FFF2-40B4-BE49-F238E27FC236}">
                <a16:creationId xmlns:a16="http://schemas.microsoft.com/office/drawing/2014/main" id="{FB57EE81-F28B-48A4-AF7B-BBBC8D58505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shared components carried all 35 use cases — each journey contributed only</a:t>
            </a:r>
            <a:endParaRPr sz="1900"/>
          </a:p>
          <a:p xmlns:a="http://schemas.openxmlformats.org/drawingml/2006/main">
            <a:pPr marL="0" indent="0">
              <a:lnSpc>
                <a:spcPts val="2400"/>
              </a:lnSpc>
              <a:buNone/>
            </a:pPr>
            <a:r>
              <a:rPr sz="1900" b="1">
                <a:solidFill>
                  <a:srgbClr val="102A43"/>
                </a:solidFill>
                <a:latin typeface="Arial"/>
                <a:ea typeface="Arial"/>
                <a:cs typeface="Arial"/>
              </a:rPr>
              <a:t>its boundary crossing, and none forked the spine</a:t>
            </a:r>
            <a:endParaRPr sz="1900"/>
          </a:p>
        </p:txBody>
      </p:sp>
      <p:sp>
        <p:nvSpPr>
          <p:cNvPr id="4" name="Shape 2">
            <a:extLst xmlns:a="http://schemas.openxmlformats.org/drawingml/2006/main">
              <a:ext uri="{FF2B5EF4-FFF2-40B4-BE49-F238E27FC236}">
                <a16:creationId xmlns:a16="http://schemas.microsoft.com/office/drawing/2014/main" id="{EEC71482-8AB6-400E-93FD-8D81FD52DAE0}"/>
              </a:ext>
            </a:extLst>
          </p:cNvPr>
          <p:cNvSpPr>
            <a:spLocks xmlns:a="http://schemas.openxmlformats.org/drawingml/2006/main" noGrp="1"/>
          </p:cNvSpPr>
          <p:nvPr/>
        </p:nvSpPr>
        <p:spPr>
          <a:xfrm xmlns:a="http://schemas.openxmlformats.org/drawingml/2006/main">
            <a:off x="566928" y="1335024"/>
            <a:ext cx="1736293" cy="69494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F733A207-8E4F-4C9B-B54E-83DBFE6FC14F}"/>
              </a:ext>
            </a:extLst>
          </p:cNvPr>
          <p:cNvSpPr>
            <a:spLocks xmlns:a="http://schemas.openxmlformats.org/drawingml/2006/main" noGrp="1"/>
          </p:cNvSpPr>
          <p:nvPr/>
        </p:nvSpPr>
        <p:spPr>
          <a:xfrm xmlns:a="http://schemas.openxmlformats.org/drawingml/2006/main">
            <a:off x="658368" y="1463040"/>
            <a:ext cx="155341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50"/>
              </a:lnSpc>
              <a:buNone/>
            </a:pPr>
            <a:r>
              <a:rPr sz="940" b="1">
                <a:solidFill>
                  <a:srgbClr val="B04A25"/>
                </a:solidFill>
                <a:latin typeface="Arial"/>
                <a:ea typeface="Arial"/>
                <a:cs typeface="Arial"/>
              </a:rPr>
              <a:t>Account</a:t>
            </a:r>
            <a:endParaRPr sz="940"/>
          </a:p>
          <a:p xmlns:a="http://schemas.openxmlformats.org/drawingml/2006/main">
            <a:pPr marL="0" indent="0" algn="ctr">
              <a:lnSpc>
                <a:spcPts val="1150"/>
              </a:lnSpc>
              <a:buNone/>
            </a:pPr>
            <a:r>
              <a:rPr sz="940" b="1">
                <a:solidFill>
                  <a:srgbClr val="B04A25"/>
                </a:solidFill>
                <a:latin typeface="Arial"/>
                <a:ea typeface="Arial"/>
                <a:cs typeface="Arial"/>
              </a:rPr>
              <a:t>funding</a:t>
            </a:r>
            <a:endParaRPr sz="940"/>
          </a:p>
        </p:txBody>
      </p:sp>
      <p:sp>
        <p:nvSpPr>
          <p:cNvPr id="6" name="Shape 4">
            <a:extLst xmlns:a="http://schemas.openxmlformats.org/drawingml/2006/main">
              <a:ext uri="{FF2B5EF4-FFF2-40B4-BE49-F238E27FC236}">
                <a16:creationId xmlns:a16="http://schemas.microsoft.com/office/drawing/2014/main" id="{99761B2E-44B9-4850-B66B-74A14FE9EED9}"/>
              </a:ext>
            </a:extLst>
          </p:cNvPr>
          <p:cNvSpPr>
            <a:spLocks xmlns:a="http://schemas.openxmlformats.org/drawingml/2006/main" noGrp="1"/>
          </p:cNvSpPr>
          <p:nvPr/>
        </p:nvSpPr>
        <p:spPr>
          <a:xfrm xmlns:a="http://schemas.openxmlformats.org/drawingml/2006/main">
            <a:off x="2431237" y="1335024"/>
            <a:ext cx="1736293" cy="694944"/>
          </a:xfrm>
          <a:prstGeom xmlns:a="http://schemas.openxmlformats.org/drawingml/2006/main" prst="rect">
            <a:avLst/>
          </a:prstGeom>
          <a:solidFill xmlns:a="http://schemas.openxmlformats.org/drawingml/2006/main">
            <a:srgbClr val="F3E6E0"/>
          </a:solidFill>
        </p:spPr>
      </p:sp>
      <p:sp>
        <p:nvSpPr>
          <p:cNvPr id="7" name="Text 5">
            <a:extLst xmlns:a="http://schemas.openxmlformats.org/drawingml/2006/main">
              <a:ext uri="{FF2B5EF4-FFF2-40B4-BE49-F238E27FC236}">
                <a16:creationId xmlns:a16="http://schemas.microsoft.com/office/drawing/2014/main" id="{3CB8468A-E702-402D-99B6-D820E46540FA}"/>
              </a:ext>
            </a:extLst>
          </p:cNvPr>
          <p:cNvSpPr>
            <a:spLocks xmlns:a="http://schemas.openxmlformats.org/drawingml/2006/main" noGrp="1"/>
          </p:cNvSpPr>
          <p:nvPr/>
        </p:nvSpPr>
        <p:spPr>
          <a:xfrm xmlns:a="http://schemas.openxmlformats.org/drawingml/2006/main">
            <a:off x="2522677" y="1463040"/>
            <a:ext cx="155341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50"/>
              </a:lnSpc>
              <a:buNone/>
            </a:pPr>
            <a:r>
              <a:rPr sz="940" b="1">
                <a:solidFill>
                  <a:srgbClr val="B04A25"/>
                </a:solidFill>
                <a:latin typeface="Arial"/>
                <a:ea typeface="Arial"/>
                <a:cs typeface="Arial"/>
              </a:rPr>
              <a:t>Loan</a:t>
            </a:r>
            <a:endParaRPr sz="940"/>
          </a:p>
          <a:p xmlns:a="http://schemas.openxmlformats.org/drawingml/2006/main">
            <a:pPr marL="0" indent="0" algn="ctr">
              <a:lnSpc>
                <a:spcPts val="1150"/>
              </a:lnSpc>
              <a:buNone/>
            </a:pPr>
            <a:r>
              <a:rPr sz="940" b="1">
                <a:solidFill>
                  <a:srgbClr val="B04A25"/>
                </a:solidFill>
                <a:latin typeface="Arial"/>
                <a:ea typeface="Arial"/>
                <a:cs typeface="Arial"/>
              </a:rPr>
              <a:t>servicing</a:t>
            </a:r>
            <a:endParaRPr sz="940"/>
          </a:p>
        </p:txBody>
      </p:sp>
      <p:sp>
        <p:nvSpPr>
          <p:cNvPr id="8" name="Shape 6">
            <a:extLst xmlns:a="http://schemas.openxmlformats.org/drawingml/2006/main">
              <a:ext uri="{FF2B5EF4-FFF2-40B4-BE49-F238E27FC236}">
                <a16:creationId xmlns:a16="http://schemas.microsoft.com/office/drawing/2014/main" id="{ED41BA45-75F8-46C1-BC88-D8D3F80BF68D}"/>
              </a:ext>
            </a:extLst>
          </p:cNvPr>
          <p:cNvSpPr>
            <a:spLocks xmlns:a="http://schemas.openxmlformats.org/drawingml/2006/main" noGrp="1"/>
          </p:cNvSpPr>
          <p:nvPr/>
        </p:nvSpPr>
        <p:spPr>
          <a:xfrm xmlns:a="http://schemas.openxmlformats.org/drawingml/2006/main">
            <a:off x="4295546" y="1335024"/>
            <a:ext cx="1736293" cy="694944"/>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5733E9CA-5C06-49C1-9E6B-8484DE50E4FC}"/>
              </a:ext>
            </a:extLst>
          </p:cNvPr>
          <p:cNvSpPr>
            <a:spLocks xmlns:a="http://schemas.openxmlformats.org/drawingml/2006/main" noGrp="1"/>
          </p:cNvSpPr>
          <p:nvPr/>
        </p:nvSpPr>
        <p:spPr>
          <a:xfrm xmlns:a="http://schemas.openxmlformats.org/drawingml/2006/main">
            <a:off x="4386986" y="1463040"/>
            <a:ext cx="155341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50"/>
              </a:lnSpc>
              <a:buNone/>
            </a:pPr>
            <a:r>
              <a:rPr sz="940" b="1">
                <a:solidFill>
                  <a:srgbClr val="B04A25"/>
                </a:solidFill>
                <a:latin typeface="Arial"/>
                <a:ea typeface="Arial"/>
                <a:cs typeface="Arial"/>
              </a:rPr>
              <a:t>Depository</a:t>
            </a:r>
            <a:endParaRPr sz="940"/>
          </a:p>
          <a:p xmlns:a="http://schemas.openxmlformats.org/drawingml/2006/main">
            <a:pPr marL="0" indent="0" algn="ctr">
              <a:lnSpc>
                <a:spcPts val="1150"/>
              </a:lnSpc>
              <a:buNone/>
            </a:pPr>
            <a:r>
              <a:rPr sz="940" b="1">
                <a:solidFill>
                  <a:srgbClr val="B04A25"/>
                </a:solidFill>
                <a:latin typeface="Arial"/>
                <a:ea typeface="Arial"/>
                <a:cs typeface="Arial"/>
              </a:rPr>
              <a:t>KYC</a:t>
            </a:r>
            <a:endParaRPr sz="940"/>
          </a:p>
        </p:txBody>
      </p:sp>
      <p:sp>
        <p:nvSpPr>
          <p:cNvPr id="10" name="Shape 8">
            <a:extLst xmlns:a="http://schemas.openxmlformats.org/drawingml/2006/main">
              <a:ext uri="{FF2B5EF4-FFF2-40B4-BE49-F238E27FC236}">
                <a16:creationId xmlns:a16="http://schemas.microsoft.com/office/drawing/2014/main" id="{7C827D3F-1F3C-40F6-A737-8957836B585F}"/>
              </a:ext>
            </a:extLst>
          </p:cNvPr>
          <p:cNvSpPr>
            <a:spLocks xmlns:a="http://schemas.openxmlformats.org/drawingml/2006/main" noGrp="1"/>
          </p:cNvSpPr>
          <p:nvPr/>
        </p:nvSpPr>
        <p:spPr>
          <a:xfrm xmlns:a="http://schemas.openxmlformats.org/drawingml/2006/main">
            <a:off x="6159856" y="1335024"/>
            <a:ext cx="1736293" cy="694944"/>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2094781C-04DC-4BCD-8905-96CAFF982F5E}"/>
              </a:ext>
            </a:extLst>
          </p:cNvPr>
          <p:cNvSpPr>
            <a:spLocks xmlns:a="http://schemas.openxmlformats.org/drawingml/2006/main" noGrp="1"/>
          </p:cNvSpPr>
          <p:nvPr/>
        </p:nvSpPr>
        <p:spPr>
          <a:xfrm xmlns:a="http://schemas.openxmlformats.org/drawingml/2006/main">
            <a:off x="6251296" y="1463040"/>
            <a:ext cx="155341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50"/>
              </a:lnSpc>
              <a:buNone/>
            </a:pPr>
            <a:r>
              <a:rPr sz="940" b="1">
                <a:solidFill>
                  <a:srgbClr val="B04A25"/>
                </a:solidFill>
                <a:latin typeface="Arial"/>
                <a:ea typeface="Arial"/>
                <a:cs typeface="Arial"/>
              </a:rPr>
              <a:t>Group</a:t>
            </a:r>
            <a:endParaRPr sz="940"/>
          </a:p>
          <a:p xmlns:a="http://schemas.openxmlformats.org/drawingml/2006/main">
            <a:pPr marL="0" indent="0" algn="ctr">
              <a:lnSpc>
                <a:spcPts val="1150"/>
              </a:lnSpc>
              <a:buNone/>
            </a:pPr>
            <a:r>
              <a:rPr sz="940" b="1">
                <a:solidFill>
                  <a:srgbClr val="B04A25"/>
                </a:solidFill>
                <a:latin typeface="Arial"/>
                <a:ea typeface="Arial"/>
                <a:cs typeface="Arial"/>
              </a:rPr>
              <a:t>health</a:t>
            </a:r>
            <a:endParaRPr sz="940"/>
          </a:p>
        </p:txBody>
      </p:sp>
      <p:sp>
        <p:nvSpPr>
          <p:cNvPr id="12" name="Shape 10">
            <a:extLst xmlns:a="http://schemas.openxmlformats.org/drawingml/2006/main">
              <a:ext uri="{FF2B5EF4-FFF2-40B4-BE49-F238E27FC236}">
                <a16:creationId xmlns:a16="http://schemas.microsoft.com/office/drawing/2014/main" id="{0FC124A7-7F2D-4D2C-AC49-7A3F2F7AFD34}"/>
              </a:ext>
            </a:extLst>
          </p:cNvPr>
          <p:cNvSpPr>
            <a:spLocks xmlns:a="http://schemas.openxmlformats.org/drawingml/2006/main" noGrp="1"/>
          </p:cNvSpPr>
          <p:nvPr/>
        </p:nvSpPr>
        <p:spPr>
          <a:xfrm xmlns:a="http://schemas.openxmlformats.org/drawingml/2006/main">
            <a:off x="8024165" y="1335024"/>
            <a:ext cx="1736293" cy="694944"/>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C1909B85-C857-4D42-A109-BDC18D6DB187}"/>
              </a:ext>
            </a:extLst>
          </p:cNvPr>
          <p:cNvSpPr>
            <a:spLocks xmlns:a="http://schemas.openxmlformats.org/drawingml/2006/main" noGrp="1"/>
          </p:cNvSpPr>
          <p:nvPr/>
        </p:nvSpPr>
        <p:spPr>
          <a:xfrm xmlns:a="http://schemas.openxmlformats.org/drawingml/2006/main">
            <a:off x="8115605" y="1463040"/>
            <a:ext cx="155341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50"/>
              </a:lnSpc>
              <a:buNone/>
            </a:pPr>
            <a:r>
              <a:rPr sz="940" b="1">
                <a:solidFill>
                  <a:srgbClr val="B04A25"/>
                </a:solidFill>
                <a:latin typeface="Arial"/>
                <a:ea typeface="Arial"/>
                <a:cs typeface="Arial"/>
              </a:rPr>
              <a:t>Commercial</a:t>
            </a:r>
            <a:endParaRPr sz="940"/>
          </a:p>
          <a:p xmlns:a="http://schemas.openxmlformats.org/drawingml/2006/main">
            <a:pPr marL="0" indent="0" algn="ctr">
              <a:lnSpc>
                <a:spcPts val="1150"/>
              </a:lnSpc>
              <a:buNone/>
            </a:pPr>
            <a:r>
              <a:rPr sz="940" b="1">
                <a:solidFill>
                  <a:srgbClr val="B04A25"/>
                </a:solidFill>
                <a:latin typeface="Arial"/>
                <a:ea typeface="Arial"/>
                <a:cs typeface="Arial"/>
              </a:rPr>
              <a:t>card</a:t>
            </a:r>
            <a:endParaRPr sz="940"/>
          </a:p>
        </p:txBody>
      </p:sp>
      <p:sp>
        <p:nvSpPr>
          <p:cNvPr id="14" name="Shape 12">
            <a:extLst xmlns:a="http://schemas.openxmlformats.org/drawingml/2006/main">
              <a:ext uri="{FF2B5EF4-FFF2-40B4-BE49-F238E27FC236}">
                <a16:creationId xmlns:a16="http://schemas.microsoft.com/office/drawing/2014/main" id="{DCC71AB1-4025-4D84-8374-2E620599A0BB}"/>
              </a:ext>
            </a:extLst>
          </p:cNvPr>
          <p:cNvSpPr>
            <a:spLocks xmlns:a="http://schemas.openxmlformats.org/drawingml/2006/main" noGrp="1"/>
          </p:cNvSpPr>
          <p:nvPr/>
        </p:nvSpPr>
        <p:spPr>
          <a:xfrm xmlns:a="http://schemas.openxmlformats.org/drawingml/2006/main">
            <a:off x="9888474" y="1335024"/>
            <a:ext cx="1736293" cy="694944"/>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CF5149C5-1B5C-4DA1-81D0-C7ECF3AA89A2}"/>
              </a:ext>
            </a:extLst>
          </p:cNvPr>
          <p:cNvSpPr>
            <a:spLocks xmlns:a="http://schemas.openxmlformats.org/drawingml/2006/main" noGrp="1"/>
          </p:cNvSpPr>
          <p:nvPr/>
        </p:nvSpPr>
        <p:spPr>
          <a:xfrm xmlns:a="http://schemas.openxmlformats.org/drawingml/2006/main">
            <a:off x="9979914" y="1463040"/>
            <a:ext cx="155341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50"/>
              </a:lnSpc>
              <a:buNone/>
            </a:pPr>
            <a:r>
              <a:rPr sz="940" b="1">
                <a:solidFill>
                  <a:srgbClr val="B04A25"/>
                </a:solidFill>
                <a:latin typeface="Arial"/>
                <a:ea typeface="Arial"/>
                <a:cs typeface="Arial"/>
              </a:rPr>
              <a:t>Beneficial</a:t>
            </a:r>
            <a:endParaRPr sz="940"/>
          </a:p>
          <a:p xmlns:a="http://schemas.openxmlformats.org/drawingml/2006/main">
            <a:pPr marL="0" indent="0" algn="ctr">
              <a:lnSpc>
                <a:spcPts val="1150"/>
              </a:lnSpc>
              <a:buNone/>
            </a:pPr>
            <a:r>
              <a:rPr sz="940" b="1">
                <a:solidFill>
                  <a:srgbClr val="B04A25"/>
                </a:solidFill>
                <a:latin typeface="Arial"/>
                <a:ea typeface="Arial"/>
                <a:cs typeface="Arial"/>
              </a:rPr>
              <a:t>ownership</a:t>
            </a:r>
            <a:endParaRPr sz="940"/>
          </a:p>
        </p:txBody>
      </p:sp>
      <p:sp>
        <p:nvSpPr>
          <p:cNvPr id="16" name="Text 14">
            <a:extLst xmlns:a="http://schemas.openxmlformats.org/drawingml/2006/main">
              <a:ext uri="{FF2B5EF4-FFF2-40B4-BE49-F238E27FC236}">
                <a16:creationId xmlns:a16="http://schemas.microsoft.com/office/drawing/2014/main" id="{215B93A0-E63A-4951-BB59-E6A8696325F2}"/>
              </a:ext>
            </a:extLst>
          </p:cNvPr>
          <p:cNvSpPr>
            <a:spLocks xmlns:a="http://schemas.openxmlformats.org/drawingml/2006/main" noGrp="1"/>
          </p:cNvSpPr>
          <p:nvPr/>
        </p:nvSpPr>
        <p:spPr>
          <a:xfrm xmlns:a="http://schemas.openxmlformats.org/drawingml/2006/main">
            <a:off x="566928" y="2103120"/>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920" i="1">
                <a:solidFill>
                  <a:srgbClr val="B04A25"/>
                </a:solidFill>
                <a:latin typeface="Arial"/>
                <a:ea typeface="Arial"/>
                <a:cs typeface="Arial"/>
              </a:rPr>
              <a:t>Journey-specific:  the boundary crossing, its rules, and its counterparty — nothing else</a:t>
            </a:r>
            <a:endParaRPr sz="920"/>
          </a:p>
        </p:txBody>
      </p:sp>
      <p:sp>
        <p:nvSpPr>
          <p:cNvPr id="17" name="Text 15">
            <a:extLst xmlns:a="http://schemas.openxmlformats.org/drawingml/2006/main">
              <a:ext uri="{FF2B5EF4-FFF2-40B4-BE49-F238E27FC236}">
                <a16:creationId xmlns:a16="http://schemas.microsoft.com/office/drawing/2014/main" id="{17DA3599-7068-4654-8E21-493BD453FC6E}"/>
              </a:ext>
            </a:extLst>
          </p:cNvPr>
          <p:cNvSpPr>
            <a:spLocks xmlns:a="http://schemas.openxmlformats.org/drawingml/2006/main" noGrp="1"/>
          </p:cNvSpPr>
          <p:nvPr/>
        </p:nvSpPr>
        <p:spPr>
          <a:xfrm xmlns:a="http://schemas.openxmlformats.org/drawingml/2006/main">
            <a:off x="566928" y="2359152"/>
            <a:ext cx="173629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050">
                <a:solidFill>
                  <a:srgbClr val="C9B0A5"/>
                </a:solidFill>
                <a:latin typeface="Arial"/>
                <a:ea typeface="Arial"/>
                <a:cs typeface="Arial"/>
              </a:rPr>
              <a:t>▼</a:t>
            </a:r>
            <a:endParaRPr sz="1050"/>
          </a:p>
        </p:txBody>
      </p:sp>
      <p:sp>
        <p:nvSpPr>
          <p:cNvPr id="18" name="Text 16">
            <a:extLst xmlns:a="http://schemas.openxmlformats.org/drawingml/2006/main">
              <a:ext uri="{FF2B5EF4-FFF2-40B4-BE49-F238E27FC236}">
                <a16:creationId xmlns:a16="http://schemas.microsoft.com/office/drawing/2014/main" id="{245A7F97-4A24-4FF8-A682-AF146FE9D370}"/>
              </a:ext>
            </a:extLst>
          </p:cNvPr>
          <p:cNvSpPr>
            <a:spLocks xmlns:a="http://schemas.openxmlformats.org/drawingml/2006/main" noGrp="1"/>
          </p:cNvSpPr>
          <p:nvPr/>
        </p:nvSpPr>
        <p:spPr>
          <a:xfrm xmlns:a="http://schemas.openxmlformats.org/drawingml/2006/main">
            <a:off x="2431237" y="2359152"/>
            <a:ext cx="173629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050">
                <a:solidFill>
                  <a:srgbClr val="C9B0A5"/>
                </a:solidFill>
                <a:latin typeface="Arial"/>
                <a:ea typeface="Arial"/>
                <a:cs typeface="Arial"/>
              </a:rPr>
              <a:t>▼</a:t>
            </a:r>
            <a:endParaRPr sz="1050"/>
          </a:p>
        </p:txBody>
      </p:sp>
      <p:sp>
        <p:nvSpPr>
          <p:cNvPr id="19" name="Text 17">
            <a:extLst xmlns:a="http://schemas.openxmlformats.org/drawingml/2006/main">
              <a:ext uri="{FF2B5EF4-FFF2-40B4-BE49-F238E27FC236}">
                <a16:creationId xmlns:a16="http://schemas.microsoft.com/office/drawing/2014/main" id="{39791339-A737-4EB1-8D46-FB57E69AD1DD}"/>
              </a:ext>
            </a:extLst>
          </p:cNvPr>
          <p:cNvSpPr>
            <a:spLocks xmlns:a="http://schemas.openxmlformats.org/drawingml/2006/main" noGrp="1"/>
          </p:cNvSpPr>
          <p:nvPr/>
        </p:nvSpPr>
        <p:spPr>
          <a:xfrm xmlns:a="http://schemas.openxmlformats.org/drawingml/2006/main">
            <a:off x="4295546" y="2359152"/>
            <a:ext cx="173629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050">
                <a:solidFill>
                  <a:srgbClr val="C9B0A5"/>
                </a:solidFill>
                <a:latin typeface="Arial"/>
                <a:ea typeface="Arial"/>
                <a:cs typeface="Arial"/>
              </a:rPr>
              <a:t>▼</a:t>
            </a:r>
            <a:endParaRPr sz="1050"/>
          </a:p>
        </p:txBody>
      </p:sp>
      <p:sp>
        <p:nvSpPr>
          <p:cNvPr id="20" name="Text 18">
            <a:extLst xmlns:a="http://schemas.openxmlformats.org/drawingml/2006/main">
              <a:ext uri="{FF2B5EF4-FFF2-40B4-BE49-F238E27FC236}">
                <a16:creationId xmlns:a16="http://schemas.microsoft.com/office/drawing/2014/main" id="{A969382C-4E3A-4617-940B-F2B3ABBC0B2A}"/>
              </a:ext>
            </a:extLst>
          </p:cNvPr>
          <p:cNvSpPr>
            <a:spLocks xmlns:a="http://schemas.openxmlformats.org/drawingml/2006/main" noGrp="1"/>
          </p:cNvSpPr>
          <p:nvPr/>
        </p:nvSpPr>
        <p:spPr>
          <a:xfrm xmlns:a="http://schemas.openxmlformats.org/drawingml/2006/main">
            <a:off x="6159856" y="2359152"/>
            <a:ext cx="173629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050">
                <a:solidFill>
                  <a:srgbClr val="C9B0A5"/>
                </a:solidFill>
                <a:latin typeface="Arial"/>
                <a:ea typeface="Arial"/>
                <a:cs typeface="Arial"/>
              </a:rPr>
              <a:t>▼</a:t>
            </a:r>
            <a:endParaRPr sz="1050"/>
          </a:p>
        </p:txBody>
      </p:sp>
      <p:sp>
        <p:nvSpPr>
          <p:cNvPr id="21" name="Text 19">
            <a:extLst xmlns:a="http://schemas.openxmlformats.org/drawingml/2006/main">
              <a:ext uri="{FF2B5EF4-FFF2-40B4-BE49-F238E27FC236}">
                <a16:creationId xmlns:a16="http://schemas.microsoft.com/office/drawing/2014/main" id="{4BDFCF1D-30BF-42EA-923B-4D715D574DC6}"/>
              </a:ext>
            </a:extLst>
          </p:cNvPr>
          <p:cNvSpPr>
            <a:spLocks xmlns:a="http://schemas.openxmlformats.org/drawingml/2006/main" noGrp="1"/>
          </p:cNvSpPr>
          <p:nvPr/>
        </p:nvSpPr>
        <p:spPr>
          <a:xfrm xmlns:a="http://schemas.openxmlformats.org/drawingml/2006/main">
            <a:off x="8024165" y="2359152"/>
            <a:ext cx="173629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050">
                <a:solidFill>
                  <a:srgbClr val="C9B0A5"/>
                </a:solidFill>
                <a:latin typeface="Arial"/>
                <a:ea typeface="Arial"/>
                <a:cs typeface="Arial"/>
              </a:rPr>
              <a:t>▼</a:t>
            </a:r>
            <a:endParaRPr sz="1050"/>
          </a:p>
        </p:txBody>
      </p:sp>
      <p:sp>
        <p:nvSpPr>
          <p:cNvPr id="22" name="Text 20">
            <a:extLst xmlns:a="http://schemas.openxmlformats.org/drawingml/2006/main">
              <a:ext uri="{FF2B5EF4-FFF2-40B4-BE49-F238E27FC236}">
                <a16:creationId xmlns:a16="http://schemas.microsoft.com/office/drawing/2014/main" id="{63106528-A622-4FFE-BAEF-4E7FFFD31697}"/>
              </a:ext>
            </a:extLst>
          </p:cNvPr>
          <p:cNvSpPr>
            <a:spLocks xmlns:a="http://schemas.openxmlformats.org/drawingml/2006/main" noGrp="1"/>
          </p:cNvSpPr>
          <p:nvPr/>
        </p:nvSpPr>
        <p:spPr>
          <a:xfrm xmlns:a="http://schemas.openxmlformats.org/drawingml/2006/main">
            <a:off x="9888474" y="2359152"/>
            <a:ext cx="1736293"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050">
                <a:solidFill>
                  <a:srgbClr val="C9B0A5"/>
                </a:solidFill>
                <a:latin typeface="Arial"/>
                <a:ea typeface="Arial"/>
                <a:cs typeface="Arial"/>
              </a:rPr>
              <a:t>▼</a:t>
            </a:r>
            <a:endParaRPr sz="1050"/>
          </a:p>
        </p:txBody>
      </p:sp>
      <p:sp>
        <p:nvSpPr>
          <p:cNvPr id="23" name="Shape 21">
            <a:extLst xmlns:a="http://schemas.openxmlformats.org/drawingml/2006/main">
              <a:ext uri="{FF2B5EF4-FFF2-40B4-BE49-F238E27FC236}">
                <a16:creationId xmlns:a16="http://schemas.microsoft.com/office/drawing/2014/main" id="{7795C333-A167-4814-AA93-4EF64FBBBE8C}"/>
              </a:ext>
            </a:extLst>
          </p:cNvPr>
          <p:cNvSpPr>
            <a:spLocks xmlns:a="http://schemas.openxmlformats.org/drawingml/2006/main" noGrp="1"/>
          </p:cNvSpPr>
          <p:nvPr/>
        </p:nvSpPr>
        <p:spPr>
          <a:xfrm xmlns:a="http://schemas.openxmlformats.org/drawingml/2006/main">
            <a:off x="566928" y="2633472"/>
            <a:ext cx="2094525" cy="160934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CEEEB999-87B1-4527-809C-E22863CF1F26}"/>
              </a:ext>
            </a:extLst>
          </p:cNvPr>
          <p:cNvSpPr>
            <a:spLocks xmlns:a="http://schemas.openxmlformats.org/drawingml/2006/main" noGrp="1"/>
          </p:cNvSpPr>
          <p:nvPr/>
        </p:nvSpPr>
        <p:spPr>
          <a:xfrm xmlns:a="http://schemas.openxmlformats.org/drawingml/2006/main">
            <a:off x="713232" y="2761488"/>
            <a:ext cx="1801917"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Identity and</a:t>
            </a:r>
            <a:endParaRPr sz="1060"/>
          </a:p>
          <a:p xmlns:a="http://schemas.openxmlformats.org/drawingml/2006/main">
            <a:pPr marL="0" indent="0" algn="l">
              <a:lnSpc>
                <a:spcPts val="1300"/>
              </a:lnSpc>
              <a:buNone/>
            </a:pPr>
            <a:r>
              <a:rPr sz="1060" b="1">
                <a:solidFill>
                  <a:srgbClr val="102A43"/>
                </a:solidFill>
                <a:latin typeface="Arial"/>
                <a:ea typeface="Arial"/>
                <a:cs typeface="Arial"/>
              </a:rPr>
              <a:t>entitlement</a:t>
            </a:r>
            <a:endParaRPr sz="1060"/>
          </a:p>
        </p:txBody>
      </p:sp>
      <p:sp>
        <p:nvSpPr>
          <p:cNvPr id="25" name="Text 23">
            <a:extLst xmlns:a="http://schemas.openxmlformats.org/drawingml/2006/main">
              <a:ext uri="{FF2B5EF4-FFF2-40B4-BE49-F238E27FC236}">
                <a16:creationId xmlns:a16="http://schemas.microsoft.com/office/drawing/2014/main" id="{3FE13EDE-D13B-48E4-9554-CEA63D38AE8F}"/>
              </a:ext>
            </a:extLst>
          </p:cNvPr>
          <p:cNvSpPr>
            <a:spLocks xmlns:a="http://schemas.openxmlformats.org/drawingml/2006/main" noGrp="1"/>
          </p:cNvSpPr>
          <p:nvPr/>
        </p:nvSpPr>
        <p:spPr>
          <a:xfrm xmlns:a="http://schemas.openxmlformats.org/drawingml/2006/main">
            <a:off x="713232" y="3310128"/>
            <a:ext cx="1801917"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Who the customer is, what they hold, what they may see</a:t>
            </a:r>
            <a:endParaRPr sz="880"/>
          </a:p>
        </p:txBody>
      </p:sp>
      <p:sp>
        <p:nvSpPr>
          <p:cNvPr id="26" name="Text 24">
            <a:extLst xmlns:a="http://schemas.openxmlformats.org/drawingml/2006/main">
              <a:ext uri="{FF2B5EF4-FFF2-40B4-BE49-F238E27FC236}">
                <a16:creationId xmlns:a16="http://schemas.microsoft.com/office/drawing/2014/main" id="{DCB77FD5-90D1-4623-8CE9-D82979795C6A}"/>
              </a:ext>
            </a:extLst>
          </p:cNvPr>
          <p:cNvSpPr>
            <a:spLocks xmlns:a="http://schemas.openxmlformats.org/drawingml/2006/main" noGrp="1"/>
          </p:cNvSpPr>
          <p:nvPr/>
        </p:nvSpPr>
        <p:spPr>
          <a:xfrm xmlns:a="http://schemas.openxmlformats.org/drawingml/2006/main">
            <a:off x="713232" y="3950208"/>
            <a:ext cx="180191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27685A"/>
                </a:solidFill>
                <a:latin typeface="Arial"/>
                <a:ea typeface="Arial"/>
                <a:cs typeface="Arial"/>
              </a:rPr>
              <a:t>35 / 35  use cases</a:t>
            </a:r>
            <a:endParaRPr sz="900"/>
          </a:p>
        </p:txBody>
      </p:sp>
      <p:sp>
        <p:nvSpPr>
          <p:cNvPr id="27" name="Shape 25">
            <a:extLst xmlns:a="http://schemas.openxmlformats.org/drawingml/2006/main">
              <a:ext uri="{FF2B5EF4-FFF2-40B4-BE49-F238E27FC236}">
                <a16:creationId xmlns:a16="http://schemas.microsoft.com/office/drawing/2014/main" id="{0652415C-A9B3-4A8C-9361-C82D0E245981}"/>
              </a:ext>
            </a:extLst>
          </p:cNvPr>
          <p:cNvSpPr>
            <a:spLocks xmlns:a="http://schemas.openxmlformats.org/drawingml/2006/main" noGrp="1"/>
          </p:cNvSpPr>
          <p:nvPr/>
        </p:nvSpPr>
        <p:spPr>
          <a:xfrm xmlns:a="http://schemas.openxmlformats.org/drawingml/2006/main">
            <a:off x="2807757" y="2633472"/>
            <a:ext cx="2094525" cy="1609344"/>
          </a:xfrm>
          <a:prstGeom xmlns:a="http://schemas.openxmlformats.org/drawingml/2006/main" prst="rect">
            <a:avLst/>
          </a:prstGeom>
          <a:solidFill xmlns:a="http://schemas.openxmlformats.org/drawingml/2006/main">
            <a:srgbClr val="F0F4F8"/>
          </a:solidFill>
        </p:spPr>
      </p:sp>
      <p:sp>
        <p:nvSpPr>
          <p:cNvPr id="28" name="Text 26">
            <a:extLst xmlns:a="http://schemas.openxmlformats.org/drawingml/2006/main">
              <a:ext uri="{FF2B5EF4-FFF2-40B4-BE49-F238E27FC236}">
                <a16:creationId xmlns:a16="http://schemas.microsoft.com/office/drawing/2014/main" id="{F81B002B-FDE4-4277-94F5-AEE569FD5513}"/>
              </a:ext>
            </a:extLst>
          </p:cNvPr>
          <p:cNvSpPr>
            <a:spLocks xmlns:a="http://schemas.openxmlformats.org/drawingml/2006/main" noGrp="1"/>
          </p:cNvSpPr>
          <p:nvPr/>
        </p:nvSpPr>
        <p:spPr>
          <a:xfrm xmlns:a="http://schemas.openxmlformats.org/drawingml/2006/main">
            <a:off x="2954061" y="2761488"/>
            <a:ext cx="1801917"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Consent</a:t>
            </a:r>
            <a:endParaRPr sz="1060"/>
          </a:p>
        </p:txBody>
      </p:sp>
      <p:sp>
        <p:nvSpPr>
          <p:cNvPr id="29" name="Text 27">
            <a:extLst xmlns:a="http://schemas.openxmlformats.org/drawingml/2006/main">
              <a:ext uri="{FF2B5EF4-FFF2-40B4-BE49-F238E27FC236}">
                <a16:creationId xmlns:a16="http://schemas.microsoft.com/office/drawing/2014/main" id="{55131B6A-AEE9-46BF-933F-0010D63922A4}"/>
              </a:ext>
            </a:extLst>
          </p:cNvPr>
          <p:cNvSpPr>
            <a:spLocks xmlns:a="http://schemas.openxmlformats.org/drawingml/2006/main" noGrp="1"/>
          </p:cNvSpPr>
          <p:nvPr/>
        </p:nvSpPr>
        <p:spPr>
          <a:xfrm xmlns:a="http://schemas.openxmlformats.org/drawingml/2006/main">
            <a:off x="2954061" y="3310128"/>
            <a:ext cx="1801917"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Purpose-bound, timestamped, revocable, separable per counterparty</a:t>
            </a:r>
            <a:endParaRPr sz="880"/>
          </a:p>
        </p:txBody>
      </p:sp>
      <p:sp>
        <p:nvSpPr>
          <p:cNvPr id="30" name="Text 28">
            <a:extLst xmlns:a="http://schemas.openxmlformats.org/drawingml/2006/main">
              <a:ext uri="{FF2B5EF4-FFF2-40B4-BE49-F238E27FC236}">
                <a16:creationId xmlns:a16="http://schemas.microsoft.com/office/drawing/2014/main" id="{AE6A92B8-3086-40B0-A321-74FEE2D6FFED}"/>
              </a:ext>
            </a:extLst>
          </p:cNvPr>
          <p:cNvSpPr>
            <a:spLocks xmlns:a="http://schemas.openxmlformats.org/drawingml/2006/main" noGrp="1"/>
          </p:cNvSpPr>
          <p:nvPr/>
        </p:nvSpPr>
        <p:spPr>
          <a:xfrm xmlns:a="http://schemas.openxmlformats.org/drawingml/2006/main">
            <a:off x="2954061" y="3950208"/>
            <a:ext cx="180191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27685A"/>
                </a:solidFill>
                <a:latin typeface="Arial"/>
                <a:ea typeface="Arial"/>
                <a:cs typeface="Arial"/>
              </a:rPr>
              <a:t>35 / 35  use cases</a:t>
            </a:r>
            <a:endParaRPr sz="900"/>
          </a:p>
        </p:txBody>
      </p:sp>
      <p:sp>
        <p:nvSpPr>
          <p:cNvPr id="31" name="Shape 29">
            <a:extLst xmlns:a="http://schemas.openxmlformats.org/drawingml/2006/main">
              <a:ext uri="{FF2B5EF4-FFF2-40B4-BE49-F238E27FC236}">
                <a16:creationId xmlns:a16="http://schemas.microsoft.com/office/drawing/2014/main" id="{D6849D12-80A3-4C16-B63D-ACA688346DA1}"/>
              </a:ext>
            </a:extLst>
          </p:cNvPr>
          <p:cNvSpPr>
            <a:spLocks xmlns:a="http://schemas.openxmlformats.org/drawingml/2006/main" noGrp="1"/>
          </p:cNvSpPr>
          <p:nvPr/>
        </p:nvSpPr>
        <p:spPr>
          <a:xfrm xmlns:a="http://schemas.openxmlformats.org/drawingml/2006/main">
            <a:off x="5048585" y="2633472"/>
            <a:ext cx="2094525" cy="1609344"/>
          </a:xfrm>
          <a:prstGeom xmlns:a="http://schemas.openxmlformats.org/drawingml/2006/main" prst="rect">
            <a:avLst/>
          </a:prstGeom>
          <a:solidFill xmlns:a="http://schemas.openxmlformats.org/drawingml/2006/main">
            <a:srgbClr val="F0F4F8"/>
          </a:solidFill>
        </p:spPr>
      </p:sp>
      <p:sp>
        <p:nvSpPr>
          <p:cNvPr id="32" name="Text 30">
            <a:extLst xmlns:a="http://schemas.openxmlformats.org/drawingml/2006/main">
              <a:ext uri="{FF2B5EF4-FFF2-40B4-BE49-F238E27FC236}">
                <a16:creationId xmlns:a16="http://schemas.microsoft.com/office/drawing/2014/main" id="{72818466-CDE1-4BB6-B966-C2DCA9720C20}"/>
              </a:ext>
            </a:extLst>
          </p:cNvPr>
          <p:cNvSpPr>
            <a:spLocks xmlns:a="http://schemas.openxmlformats.org/drawingml/2006/main" noGrp="1"/>
          </p:cNvSpPr>
          <p:nvPr/>
        </p:nvSpPr>
        <p:spPr>
          <a:xfrm xmlns:a="http://schemas.openxmlformats.org/drawingml/2006/main">
            <a:off x="5194889" y="2761488"/>
            <a:ext cx="1801917"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Document</a:t>
            </a:r>
            <a:endParaRPr sz="1060"/>
          </a:p>
          <a:p xmlns:a="http://schemas.openxmlformats.org/drawingml/2006/main">
            <a:pPr marL="0" indent="0" algn="l">
              <a:lnSpc>
                <a:spcPts val="1300"/>
              </a:lnSpc>
              <a:buNone/>
            </a:pPr>
            <a:r>
              <a:rPr sz="1060" b="1">
                <a:solidFill>
                  <a:srgbClr val="102A43"/>
                </a:solidFill>
                <a:latin typeface="Arial"/>
                <a:ea typeface="Arial"/>
                <a:cs typeface="Arial"/>
              </a:rPr>
              <a:t>and evidence</a:t>
            </a:r>
            <a:endParaRPr sz="1060"/>
          </a:p>
        </p:txBody>
      </p:sp>
      <p:sp>
        <p:nvSpPr>
          <p:cNvPr id="33" name="Text 31">
            <a:extLst xmlns:a="http://schemas.openxmlformats.org/drawingml/2006/main">
              <a:ext uri="{FF2B5EF4-FFF2-40B4-BE49-F238E27FC236}">
                <a16:creationId xmlns:a16="http://schemas.microsoft.com/office/drawing/2014/main" id="{80FFC35B-19D3-4602-80A0-9CEDCCF39E79}"/>
              </a:ext>
            </a:extLst>
          </p:cNvPr>
          <p:cNvSpPr>
            <a:spLocks xmlns:a="http://schemas.openxmlformats.org/drawingml/2006/main" noGrp="1"/>
          </p:cNvSpPr>
          <p:nvPr/>
        </p:nvSpPr>
        <p:spPr>
          <a:xfrm xmlns:a="http://schemas.openxmlformats.org/drawingml/2006/main">
            <a:off x="5194889" y="3310128"/>
            <a:ext cx="1801917"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One store, one retention policy, one audit surface</a:t>
            </a:r>
            <a:endParaRPr sz="880"/>
          </a:p>
        </p:txBody>
      </p:sp>
      <p:sp>
        <p:nvSpPr>
          <p:cNvPr id="34" name="Text 32">
            <a:extLst xmlns:a="http://schemas.openxmlformats.org/drawingml/2006/main">
              <a:ext uri="{FF2B5EF4-FFF2-40B4-BE49-F238E27FC236}">
                <a16:creationId xmlns:a16="http://schemas.microsoft.com/office/drawing/2014/main" id="{4E7354BB-FAAA-4A51-BCE9-502904539034}"/>
              </a:ext>
            </a:extLst>
          </p:cNvPr>
          <p:cNvSpPr>
            <a:spLocks xmlns:a="http://schemas.openxmlformats.org/drawingml/2006/main" noGrp="1"/>
          </p:cNvSpPr>
          <p:nvPr/>
        </p:nvSpPr>
        <p:spPr>
          <a:xfrm xmlns:a="http://schemas.openxmlformats.org/drawingml/2006/main">
            <a:off x="5194889" y="3950208"/>
            <a:ext cx="180191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27685A"/>
                </a:solidFill>
                <a:latin typeface="Arial"/>
                <a:ea typeface="Arial"/>
                <a:cs typeface="Arial"/>
              </a:rPr>
              <a:t>31 / 35  use cases</a:t>
            </a:r>
            <a:endParaRPr sz="900"/>
          </a:p>
        </p:txBody>
      </p:sp>
      <p:sp>
        <p:nvSpPr>
          <p:cNvPr id="35" name="Shape 33">
            <a:extLst xmlns:a="http://schemas.openxmlformats.org/drawingml/2006/main">
              <a:ext uri="{FF2B5EF4-FFF2-40B4-BE49-F238E27FC236}">
                <a16:creationId xmlns:a16="http://schemas.microsoft.com/office/drawing/2014/main" id="{8E095D6F-8A7F-44F3-AA81-B9437CDD0F72}"/>
              </a:ext>
            </a:extLst>
          </p:cNvPr>
          <p:cNvSpPr>
            <a:spLocks xmlns:a="http://schemas.openxmlformats.org/drawingml/2006/main" noGrp="1"/>
          </p:cNvSpPr>
          <p:nvPr/>
        </p:nvSpPr>
        <p:spPr>
          <a:xfrm xmlns:a="http://schemas.openxmlformats.org/drawingml/2006/main">
            <a:off x="7289414" y="2633472"/>
            <a:ext cx="2094525" cy="1609344"/>
          </a:xfrm>
          <a:prstGeom xmlns:a="http://schemas.openxmlformats.org/drawingml/2006/main" prst="rect">
            <a:avLst/>
          </a:prstGeom>
          <a:solidFill xmlns:a="http://schemas.openxmlformats.org/drawingml/2006/main">
            <a:srgbClr val="F0F4F8"/>
          </a:solidFill>
        </p:spPr>
      </p:sp>
      <p:sp>
        <p:nvSpPr>
          <p:cNvPr id="36" name="Text 34">
            <a:extLst xmlns:a="http://schemas.openxmlformats.org/drawingml/2006/main">
              <a:ext uri="{FF2B5EF4-FFF2-40B4-BE49-F238E27FC236}">
                <a16:creationId xmlns:a16="http://schemas.microsoft.com/office/drawing/2014/main" id="{EB1CD4BC-A284-4327-86EA-870268C14275}"/>
              </a:ext>
            </a:extLst>
          </p:cNvPr>
          <p:cNvSpPr>
            <a:spLocks xmlns:a="http://schemas.openxmlformats.org/drawingml/2006/main" noGrp="1"/>
          </p:cNvSpPr>
          <p:nvPr/>
        </p:nvSpPr>
        <p:spPr>
          <a:xfrm xmlns:a="http://schemas.openxmlformats.org/drawingml/2006/main">
            <a:off x="7435718" y="2761488"/>
            <a:ext cx="1801917"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State and</a:t>
            </a:r>
            <a:endParaRPr sz="1060"/>
          </a:p>
          <a:p xmlns:a="http://schemas.openxmlformats.org/drawingml/2006/main">
            <a:pPr marL="0" indent="0" algn="l">
              <a:lnSpc>
                <a:spcPts val="1300"/>
              </a:lnSpc>
              <a:buNone/>
            </a:pPr>
            <a:r>
              <a:rPr sz="1060" b="1">
                <a:solidFill>
                  <a:srgbClr val="102A43"/>
                </a:solidFill>
                <a:latin typeface="Arial"/>
                <a:ea typeface="Arial"/>
                <a:cs typeface="Arial"/>
              </a:rPr>
              <a:t>SLA</a:t>
            </a:r>
            <a:endParaRPr sz="1060"/>
          </a:p>
        </p:txBody>
      </p:sp>
      <p:sp>
        <p:nvSpPr>
          <p:cNvPr id="37" name="Text 35">
            <a:extLst xmlns:a="http://schemas.openxmlformats.org/drawingml/2006/main">
              <a:ext uri="{FF2B5EF4-FFF2-40B4-BE49-F238E27FC236}">
                <a16:creationId xmlns:a16="http://schemas.microsoft.com/office/drawing/2014/main" id="{DAFD027C-9678-488D-8841-DCEC4BD95142}"/>
              </a:ext>
            </a:extLst>
          </p:cNvPr>
          <p:cNvSpPr>
            <a:spLocks xmlns:a="http://schemas.openxmlformats.org/drawingml/2006/main" noGrp="1"/>
          </p:cNvSpPr>
          <p:nvPr/>
        </p:nvSpPr>
        <p:spPr>
          <a:xfrm xmlns:a="http://schemas.openxmlformats.org/drawingml/2006/main">
            <a:off x="7435718" y="3310128"/>
            <a:ext cx="1801917"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A common status model, so every journey is visible to enterprise reporting</a:t>
            </a:r>
            <a:endParaRPr sz="880"/>
          </a:p>
        </p:txBody>
      </p:sp>
      <p:sp>
        <p:nvSpPr>
          <p:cNvPr id="38" name="Text 36">
            <a:extLst xmlns:a="http://schemas.openxmlformats.org/drawingml/2006/main">
              <a:ext uri="{FF2B5EF4-FFF2-40B4-BE49-F238E27FC236}">
                <a16:creationId xmlns:a16="http://schemas.microsoft.com/office/drawing/2014/main" id="{BC703DE8-1536-45BF-BA18-1EBBE7DCFD58}"/>
              </a:ext>
            </a:extLst>
          </p:cNvPr>
          <p:cNvSpPr>
            <a:spLocks xmlns:a="http://schemas.openxmlformats.org/drawingml/2006/main" noGrp="1"/>
          </p:cNvSpPr>
          <p:nvPr/>
        </p:nvSpPr>
        <p:spPr>
          <a:xfrm xmlns:a="http://schemas.openxmlformats.org/drawingml/2006/main">
            <a:off x="7435718" y="3950208"/>
            <a:ext cx="180191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27685A"/>
                </a:solidFill>
                <a:latin typeface="Arial"/>
                <a:ea typeface="Arial"/>
                <a:cs typeface="Arial"/>
              </a:rPr>
              <a:t>35 / 35  use cases</a:t>
            </a:r>
            <a:endParaRPr sz="900"/>
          </a:p>
        </p:txBody>
      </p:sp>
      <p:sp>
        <p:nvSpPr>
          <p:cNvPr id="39" name="Shape 37">
            <a:extLst xmlns:a="http://schemas.openxmlformats.org/drawingml/2006/main">
              <a:ext uri="{FF2B5EF4-FFF2-40B4-BE49-F238E27FC236}">
                <a16:creationId xmlns:a16="http://schemas.microsoft.com/office/drawing/2014/main" id="{4191682E-7A9C-4A24-8E46-8633CC77C71C}"/>
              </a:ext>
            </a:extLst>
          </p:cNvPr>
          <p:cNvSpPr>
            <a:spLocks xmlns:a="http://schemas.openxmlformats.org/drawingml/2006/main" noGrp="1"/>
          </p:cNvSpPr>
          <p:nvPr/>
        </p:nvSpPr>
        <p:spPr>
          <a:xfrm xmlns:a="http://schemas.openxmlformats.org/drawingml/2006/main">
            <a:off x="9530243" y="2633472"/>
            <a:ext cx="2094525" cy="1609344"/>
          </a:xfrm>
          <a:prstGeom xmlns:a="http://schemas.openxmlformats.org/drawingml/2006/main" prst="rect">
            <a:avLst/>
          </a:prstGeom>
          <a:solidFill xmlns:a="http://schemas.openxmlformats.org/drawingml/2006/main">
            <a:srgbClr val="F0F4F8"/>
          </a:solidFill>
        </p:spPr>
      </p:sp>
      <p:sp>
        <p:nvSpPr>
          <p:cNvPr id="40" name="Text 38">
            <a:extLst xmlns:a="http://schemas.openxmlformats.org/drawingml/2006/main">
              <a:ext uri="{FF2B5EF4-FFF2-40B4-BE49-F238E27FC236}">
                <a16:creationId xmlns:a16="http://schemas.microsoft.com/office/drawing/2014/main" id="{5A68D1C0-62A4-4B4C-9BAA-7319A0D3989B}"/>
              </a:ext>
            </a:extLst>
          </p:cNvPr>
          <p:cNvSpPr>
            <a:spLocks xmlns:a="http://schemas.openxmlformats.org/drawingml/2006/main" noGrp="1"/>
          </p:cNvSpPr>
          <p:nvPr/>
        </p:nvSpPr>
        <p:spPr>
          <a:xfrm xmlns:a="http://schemas.openxmlformats.org/drawingml/2006/main">
            <a:off x="9676547" y="2761488"/>
            <a:ext cx="1801917"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Exception</a:t>
            </a:r>
            <a:endParaRPr sz="1060"/>
          </a:p>
          <a:p xmlns:a="http://schemas.openxmlformats.org/drawingml/2006/main">
            <a:pPr marL="0" indent="0" algn="l">
              <a:lnSpc>
                <a:spcPts val="1300"/>
              </a:lnSpc>
              <a:buNone/>
            </a:pPr>
            <a:r>
              <a:rPr sz="1060" b="1">
                <a:solidFill>
                  <a:srgbClr val="102A43"/>
                </a:solidFill>
                <a:latin typeface="Arial"/>
                <a:ea typeface="Arial"/>
                <a:cs typeface="Arial"/>
              </a:rPr>
              <a:t>and escalation</a:t>
            </a:r>
            <a:endParaRPr sz="1060"/>
          </a:p>
        </p:txBody>
      </p:sp>
      <p:sp>
        <p:nvSpPr>
          <p:cNvPr id="41" name="Text 39">
            <a:extLst xmlns:a="http://schemas.openxmlformats.org/drawingml/2006/main">
              <a:ext uri="{FF2B5EF4-FFF2-40B4-BE49-F238E27FC236}">
                <a16:creationId xmlns:a16="http://schemas.microsoft.com/office/drawing/2014/main" id="{528B5F0D-8720-4F96-9686-65C4F3CA62A8}"/>
              </a:ext>
            </a:extLst>
          </p:cNvPr>
          <p:cNvSpPr>
            <a:spLocks xmlns:a="http://schemas.openxmlformats.org/drawingml/2006/main" noGrp="1"/>
          </p:cNvSpPr>
          <p:nvPr/>
        </p:nvSpPr>
        <p:spPr>
          <a:xfrm xmlns:a="http://schemas.openxmlformats.org/drawingml/2006/main">
            <a:off x="9676547" y="3310128"/>
            <a:ext cx="1801917"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80">
                <a:solidFill>
                  <a:srgbClr val="486581"/>
                </a:solidFill>
                <a:latin typeface="Arial"/>
                <a:ea typeface="Arial"/>
                <a:cs typeface="Arial"/>
              </a:rPr>
              <a:t>One queue, one ownership model, one route back to a human</a:t>
            </a:r>
            <a:endParaRPr sz="880"/>
          </a:p>
        </p:txBody>
      </p:sp>
      <p:sp>
        <p:nvSpPr>
          <p:cNvPr id="42" name="Text 40">
            <a:extLst xmlns:a="http://schemas.openxmlformats.org/drawingml/2006/main">
              <a:ext uri="{FF2B5EF4-FFF2-40B4-BE49-F238E27FC236}">
                <a16:creationId xmlns:a16="http://schemas.microsoft.com/office/drawing/2014/main" id="{4120CE7A-3382-42B2-8B5A-2A1ABDB2C2B4}"/>
              </a:ext>
            </a:extLst>
          </p:cNvPr>
          <p:cNvSpPr>
            <a:spLocks xmlns:a="http://schemas.openxmlformats.org/drawingml/2006/main" noGrp="1"/>
          </p:cNvSpPr>
          <p:nvPr/>
        </p:nvSpPr>
        <p:spPr>
          <a:xfrm xmlns:a="http://schemas.openxmlformats.org/drawingml/2006/main">
            <a:off x="9676547" y="3950208"/>
            <a:ext cx="1801917"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27685A"/>
                </a:solidFill>
                <a:latin typeface="Arial"/>
                <a:ea typeface="Arial"/>
                <a:cs typeface="Arial"/>
              </a:rPr>
              <a:t>35 / 35  use cases</a:t>
            </a:r>
            <a:endParaRPr sz="900"/>
          </a:p>
        </p:txBody>
      </p:sp>
      <p:sp>
        <p:nvSpPr>
          <p:cNvPr id="43" name="Text 41">
            <a:extLst xmlns:a="http://schemas.openxmlformats.org/drawingml/2006/main">
              <a:ext uri="{FF2B5EF4-FFF2-40B4-BE49-F238E27FC236}">
                <a16:creationId xmlns:a16="http://schemas.microsoft.com/office/drawing/2014/main" id="{3CAFF0AF-12CB-4A22-AC97-76DA1C66DA1F}"/>
              </a:ext>
            </a:extLst>
          </p:cNvPr>
          <p:cNvSpPr>
            <a:spLocks xmlns:a="http://schemas.openxmlformats.org/drawingml/2006/main" noGrp="1"/>
          </p:cNvSpPr>
          <p:nvPr/>
        </p:nvSpPr>
        <p:spPr>
          <a:xfrm xmlns:a="http://schemas.openxmlformats.org/drawingml/2006/main">
            <a:off x="566928" y="431596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920" i="1">
                <a:solidFill>
                  <a:srgbClr val="486581"/>
                </a:solidFill>
                <a:latin typeface="Arial"/>
                <a:ea typeface="Arial"/>
                <a:cs typeface="Arial"/>
              </a:rPr>
              <a:t>Shared spine:  built once, governed once, audited once</a:t>
            </a:r>
            <a:endParaRPr sz="920"/>
          </a:p>
        </p:txBody>
      </p:sp>
      <p:sp>
        <p:nvSpPr>
          <p:cNvPr id="44" name="Text 42">
            <a:extLst xmlns:a="http://schemas.openxmlformats.org/drawingml/2006/main">
              <a:ext uri="{FF2B5EF4-FFF2-40B4-BE49-F238E27FC236}">
                <a16:creationId xmlns:a16="http://schemas.microsoft.com/office/drawing/2014/main" id="{957BC275-3763-4EE7-8E15-2C53377A8A3E}"/>
              </a:ext>
            </a:extLst>
          </p:cNvPr>
          <p:cNvSpPr>
            <a:spLocks xmlns:a="http://schemas.openxmlformats.org/drawingml/2006/main" noGrp="1"/>
          </p:cNvSpPr>
          <p:nvPr/>
        </p:nvSpPr>
        <p:spPr>
          <a:xfrm xmlns:a="http://schemas.openxmlformats.org/drawingml/2006/main">
            <a:off x="566928" y="4681728"/>
            <a:ext cx="539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Why this is an operating-model decision, not a technical one</a:t>
            </a:r>
            <a:endParaRPr sz="1250"/>
          </a:p>
        </p:txBody>
      </p:sp>
      <p:sp>
        <p:nvSpPr>
          <p:cNvPr id="45" name="Text 43">
            <a:extLst xmlns:a="http://schemas.openxmlformats.org/drawingml/2006/main">
              <a:ext uri="{FF2B5EF4-FFF2-40B4-BE49-F238E27FC236}">
                <a16:creationId xmlns:a16="http://schemas.microsoft.com/office/drawing/2014/main" id="{A2A182E4-82AE-42FE-B944-A78E9D5CD7EA}"/>
              </a:ext>
            </a:extLst>
          </p:cNvPr>
          <p:cNvSpPr>
            <a:spLocks xmlns:a="http://schemas.openxmlformats.org/drawingml/2006/main" noGrp="1"/>
          </p:cNvSpPr>
          <p:nvPr/>
        </p:nvSpPr>
        <p:spPr>
          <a:xfrm xmlns:a="http://schemas.openxmlformats.org/drawingml/2006/main">
            <a:off x="566928" y="4956048"/>
            <a:ext cx="5391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Reuse survives only if someone owns the shared components and can refuse a journey-specific fork.</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That ownership must sit above any single journey's delivery date, or it loses every deadline argument.</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The governance cost is real and worth naming — it is paid in review time, not licence fees.</a:t>
            </a:r>
            <a:endParaRPr sz="980"/>
          </a:p>
        </p:txBody>
      </p:sp>
      <p:sp>
        <p:nvSpPr>
          <p:cNvPr id="46" name="Text 44">
            <a:extLst xmlns:a="http://schemas.openxmlformats.org/drawingml/2006/main">
              <a:ext uri="{FF2B5EF4-FFF2-40B4-BE49-F238E27FC236}">
                <a16:creationId xmlns:a16="http://schemas.microsoft.com/office/drawing/2014/main" id="{91AECB8B-62E8-41EE-969C-A05A62F91E94}"/>
              </a:ext>
            </a:extLst>
          </p:cNvPr>
          <p:cNvSpPr>
            <a:spLocks xmlns:a="http://schemas.openxmlformats.org/drawingml/2006/main" noGrp="1"/>
          </p:cNvSpPr>
          <p:nvPr/>
        </p:nvSpPr>
        <p:spPr>
          <a:xfrm xmlns:a="http://schemas.openxmlformats.org/drawingml/2006/main">
            <a:off x="6233008" y="4681728"/>
            <a:ext cx="53917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Where the payoff shows up</a:t>
            </a:r>
            <a:endParaRPr sz="1250"/>
          </a:p>
        </p:txBody>
      </p:sp>
      <p:sp>
        <p:nvSpPr>
          <p:cNvPr id="47" name="Text 45">
            <a:extLst xmlns:a="http://schemas.openxmlformats.org/drawingml/2006/main">
              <a:ext uri="{FF2B5EF4-FFF2-40B4-BE49-F238E27FC236}">
                <a16:creationId xmlns:a16="http://schemas.microsoft.com/office/drawing/2014/main" id="{4C4C8ABB-7ACB-4C6F-91E8-7F61F788A92A}"/>
              </a:ext>
            </a:extLst>
          </p:cNvPr>
          <p:cNvSpPr>
            <a:spLocks xmlns:a="http://schemas.openxmlformats.org/drawingml/2006/main" noGrp="1"/>
          </p:cNvSpPr>
          <p:nvPr/>
        </p:nvSpPr>
        <p:spPr>
          <a:xfrm xmlns:a="http://schemas.openxmlformats.org/drawingml/2006/main">
            <a:off x="6233008" y="4956048"/>
            <a:ext cx="539176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Assurance effort per journey falls, because the control evidence is already established.</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Enterprise reporting stays intact — no journey introduces a private status vocabulary.</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The marginal journey gets cheaper, so the seventh business case is stronger than the first.</a:t>
            </a:r>
            <a:endParaRPr sz="980"/>
          </a:p>
        </p:txBody>
      </p:sp>
      <p:sp>
        <p:nvSpPr>
          <p:cNvPr id="48" name="Shape 46">
            <a:extLst xmlns:a="http://schemas.openxmlformats.org/drawingml/2006/main">
              <a:ext uri="{FF2B5EF4-FFF2-40B4-BE49-F238E27FC236}">
                <a16:creationId xmlns:a16="http://schemas.microsoft.com/office/drawing/2014/main" id="{471E01D5-6487-49EB-8F1B-6902E2EC2DF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9" name="Text 47">
            <a:extLst xmlns:a="http://schemas.openxmlformats.org/drawingml/2006/main">
              <a:ext uri="{FF2B5EF4-FFF2-40B4-BE49-F238E27FC236}">
                <a16:creationId xmlns:a16="http://schemas.microsoft.com/office/drawing/2014/main" id="{38149B8E-FDC4-4EF5-A3E5-F91BF9D1232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50" name="Text 48">
            <a:extLst xmlns:a="http://schemas.openxmlformats.org/drawingml/2006/main">
              <a:ext uri="{FF2B5EF4-FFF2-40B4-BE49-F238E27FC236}">
                <a16:creationId xmlns:a16="http://schemas.microsoft.com/office/drawing/2014/main" id="{4D76B147-7AF8-47B1-BAA2-D386F86B8BA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13</a:t>
            </a:r>
            <a:endParaRPr sz="850"/>
          </a:p>
        </p:txBody>
      </p:sp>
    </p:spTree>
    <p:extLst>
      <p:ext uri="{BB962C8B-B14F-4D97-AF65-F5344CB8AC3E}">
        <p14:creationId xmlns:p14="http://schemas.microsoft.com/office/powerpoint/2010/main" val="1812357691"/>
      </p:ext>
    </p:extLst>
  </p:cSld>
</p:sld>
</file>

<file path=ppt/slides/slide5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D7C1DB-4ACB-47A9-89D8-F551120EA54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CONTROL</a:t>
            </a:r>
            <a:endParaRPr sz="950"/>
          </a:p>
        </p:txBody>
      </p:sp>
      <p:sp>
        <p:nvSpPr>
          <p:cNvPr id="3" name="Text 1">
            <a:extLst xmlns:a="http://schemas.openxmlformats.org/drawingml/2006/main">
              <a:ext uri="{FF2B5EF4-FFF2-40B4-BE49-F238E27FC236}">
                <a16:creationId xmlns:a16="http://schemas.microsoft.com/office/drawing/2014/main" id="{63457B92-C015-446A-AE27-FABFCC69A97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controls applied to every journey before release — designed in from the first</a:t>
            </a:r>
            <a:endParaRPr sz="1900"/>
          </a:p>
          <a:p xmlns:a="http://schemas.openxmlformats.org/drawingml/2006/main">
            <a:pPr marL="0" indent="0">
              <a:lnSpc>
                <a:spcPts val="2400"/>
              </a:lnSpc>
              <a:buNone/>
            </a:pPr>
            <a:r>
              <a:rPr sz="1900" b="1">
                <a:solidFill>
                  <a:srgbClr val="102A43"/>
                </a:solidFill>
                <a:latin typeface="Arial"/>
                <a:ea typeface="Arial"/>
                <a:cs typeface="Arial"/>
              </a:rPr>
              <a:t>sprint, because assurance capacity was scarcer than engineering capacity</a:t>
            </a:r>
            <a:endParaRPr sz="1900"/>
          </a:p>
        </p:txBody>
      </p:sp>
      <p:sp>
        <p:nvSpPr>
          <p:cNvPr id="4" name="Text 2">
            <a:extLst xmlns:a="http://schemas.openxmlformats.org/drawingml/2006/main">
              <a:ext uri="{FF2B5EF4-FFF2-40B4-BE49-F238E27FC236}">
                <a16:creationId xmlns:a16="http://schemas.microsoft.com/office/drawing/2014/main" id="{621417E1-2F9D-46B2-80E9-9C7869B5B548}"/>
              </a:ext>
            </a:extLst>
          </p:cNvPr>
          <p:cNvSpPr>
            <a:spLocks xmlns:a="http://schemas.openxmlformats.org/drawingml/2006/main" noGrp="1"/>
          </p:cNvSpPr>
          <p:nvPr/>
        </p:nvSpPr>
        <p:spPr>
          <a:xfrm xmlns:a="http://schemas.openxmlformats.org/drawingml/2006/main">
            <a:off x="4681728" y="1335024"/>
            <a:ext cx="115717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486581"/>
                </a:solidFill>
                <a:latin typeface="Arial"/>
                <a:ea typeface="Arial"/>
                <a:cs typeface="Arial"/>
              </a:rPr>
              <a:t>Account</a:t>
            </a:r>
            <a:endParaRPr sz="860"/>
          </a:p>
          <a:p xmlns:a="http://schemas.openxmlformats.org/drawingml/2006/main">
            <a:pPr marL="0" indent="0" algn="ctr">
              <a:lnSpc>
                <a:spcPts val="1050"/>
              </a:lnSpc>
              <a:buNone/>
            </a:pPr>
            <a:r>
              <a:rPr sz="860" b="1">
                <a:solidFill>
                  <a:srgbClr val="486581"/>
                </a:solidFill>
                <a:latin typeface="Arial"/>
                <a:ea typeface="Arial"/>
                <a:cs typeface="Arial"/>
              </a:rPr>
              <a:t>funding</a:t>
            </a:r>
            <a:endParaRPr sz="860"/>
          </a:p>
        </p:txBody>
      </p:sp>
      <p:sp>
        <p:nvSpPr>
          <p:cNvPr id="5" name="Text 3">
            <a:extLst xmlns:a="http://schemas.openxmlformats.org/drawingml/2006/main">
              <a:ext uri="{FF2B5EF4-FFF2-40B4-BE49-F238E27FC236}">
                <a16:creationId xmlns:a16="http://schemas.microsoft.com/office/drawing/2014/main" id="{7F549FB8-4641-4325-98B3-AE611C6B9F39}"/>
              </a:ext>
            </a:extLst>
          </p:cNvPr>
          <p:cNvSpPr>
            <a:spLocks xmlns:a="http://schemas.openxmlformats.org/drawingml/2006/main" noGrp="1"/>
          </p:cNvSpPr>
          <p:nvPr/>
        </p:nvSpPr>
        <p:spPr>
          <a:xfrm xmlns:a="http://schemas.openxmlformats.org/drawingml/2006/main">
            <a:off x="5838901" y="1335024"/>
            <a:ext cx="115717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486581"/>
                </a:solidFill>
                <a:latin typeface="Arial"/>
                <a:ea typeface="Arial"/>
                <a:cs typeface="Arial"/>
              </a:rPr>
              <a:t>Loan</a:t>
            </a:r>
            <a:endParaRPr sz="860"/>
          </a:p>
          <a:p xmlns:a="http://schemas.openxmlformats.org/drawingml/2006/main">
            <a:pPr marL="0" indent="0" algn="ctr">
              <a:lnSpc>
                <a:spcPts val="1050"/>
              </a:lnSpc>
              <a:buNone/>
            </a:pPr>
            <a:r>
              <a:rPr sz="860" b="1">
                <a:solidFill>
                  <a:srgbClr val="486581"/>
                </a:solidFill>
                <a:latin typeface="Arial"/>
                <a:ea typeface="Arial"/>
                <a:cs typeface="Arial"/>
              </a:rPr>
              <a:t>servicing</a:t>
            </a:r>
            <a:endParaRPr sz="860"/>
          </a:p>
        </p:txBody>
      </p:sp>
      <p:sp>
        <p:nvSpPr>
          <p:cNvPr id="6" name="Text 4">
            <a:extLst xmlns:a="http://schemas.openxmlformats.org/drawingml/2006/main">
              <a:ext uri="{FF2B5EF4-FFF2-40B4-BE49-F238E27FC236}">
                <a16:creationId xmlns:a16="http://schemas.microsoft.com/office/drawing/2014/main" id="{552ED054-A77A-4E23-A07F-C992A99C54E9}"/>
              </a:ext>
            </a:extLst>
          </p:cNvPr>
          <p:cNvSpPr>
            <a:spLocks xmlns:a="http://schemas.openxmlformats.org/drawingml/2006/main" noGrp="1"/>
          </p:cNvSpPr>
          <p:nvPr/>
        </p:nvSpPr>
        <p:spPr>
          <a:xfrm xmlns:a="http://schemas.openxmlformats.org/drawingml/2006/main">
            <a:off x="6996074" y="1335024"/>
            <a:ext cx="115717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486581"/>
                </a:solidFill>
                <a:latin typeface="Arial"/>
                <a:ea typeface="Arial"/>
                <a:cs typeface="Arial"/>
              </a:rPr>
              <a:t>Depository</a:t>
            </a:r>
            <a:endParaRPr sz="860"/>
          </a:p>
          <a:p xmlns:a="http://schemas.openxmlformats.org/drawingml/2006/main">
            <a:pPr marL="0" indent="0" algn="ctr">
              <a:lnSpc>
                <a:spcPts val="1050"/>
              </a:lnSpc>
              <a:buNone/>
            </a:pPr>
            <a:r>
              <a:rPr sz="860" b="1">
                <a:solidFill>
                  <a:srgbClr val="486581"/>
                </a:solidFill>
                <a:latin typeface="Arial"/>
                <a:ea typeface="Arial"/>
                <a:cs typeface="Arial"/>
              </a:rPr>
              <a:t>KYC</a:t>
            </a:r>
            <a:endParaRPr sz="860"/>
          </a:p>
        </p:txBody>
      </p:sp>
      <p:sp>
        <p:nvSpPr>
          <p:cNvPr id="7" name="Text 5">
            <a:extLst xmlns:a="http://schemas.openxmlformats.org/drawingml/2006/main">
              <a:ext uri="{FF2B5EF4-FFF2-40B4-BE49-F238E27FC236}">
                <a16:creationId xmlns:a16="http://schemas.microsoft.com/office/drawing/2014/main" id="{2BA0BA8C-66C0-4C48-B30B-0D075D0EA859}"/>
              </a:ext>
            </a:extLst>
          </p:cNvPr>
          <p:cNvSpPr>
            <a:spLocks xmlns:a="http://schemas.openxmlformats.org/drawingml/2006/main" noGrp="1"/>
          </p:cNvSpPr>
          <p:nvPr/>
        </p:nvSpPr>
        <p:spPr>
          <a:xfrm xmlns:a="http://schemas.openxmlformats.org/drawingml/2006/main">
            <a:off x="8153248" y="1335024"/>
            <a:ext cx="115717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486581"/>
                </a:solidFill>
                <a:latin typeface="Arial"/>
                <a:ea typeface="Arial"/>
                <a:cs typeface="Arial"/>
              </a:rPr>
              <a:t>Group</a:t>
            </a:r>
            <a:endParaRPr sz="860"/>
          </a:p>
          <a:p xmlns:a="http://schemas.openxmlformats.org/drawingml/2006/main">
            <a:pPr marL="0" indent="0" algn="ctr">
              <a:lnSpc>
                <a:spcPts val="1050"/>
              </a:lnSpc>
              <a:buNone/>
            </a:pPr>
            <a:r>
              <a:rPr sz="860" b="1">
                <a:solidFill>
                  <a:srgbClr val="486581"/>
                </a:solidFill>
                <a:latin typeface="Arial"/>
                <a:ea typeface="Arial"/>
                <a:cs typeface="Arial"/>
              </a:rPr>
              <a:t>health</a:t>
            </a:r>
            <a:endParaRPr sz="860"/>
          </a:p>
        </p:txBody>
      </p:sp>
      <p:sp>
        <p:nvSpPr>
          <p:cNvPr id="8" name="Text 6">
            <a:extLst xmlns:a="http://schemas.openxmlformats.org/drawingml/2006/main">
              <a:ext uri="{FF2B5EF4-FFF2-40B4-BE49-F238E27FC236}">
                <a16:creationId xmlns:a16="http://schemas.microsoft.com/office/drawing/2014/main" id="{6C07F07B-44B5-42FC-AF99-E62535062540}"/>
              </a:ext>
            </a:extLst>
          </p:cNvPr>
          <p:cNvSpPr>
            <a:spLocks xmlns:a="http://schemas.openxmlformats.org/drawingml/2006/main" noGrp="1"/>
          </p:cNvSpPr>
          <p:nvPr/>
        </p:nvSpPr>
        <p:spPr>
          <a:xfrm xmlns:a="http://schemas.openxmlformats.org/drawingml/2006/main">
            <a:off x="9310421" y="1335024"/>
            <a:ext cx="115717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486581"/>
                </a:solidFill>
                <a:latin typeface="Arial"/>
                <a:ea typeface="Arial"/>
                <a:cs typeface="Arial"/>
              </a:rPr>
              <a:t>Commercial</a:t>
            </a:r>
            <a:endParaRPr sz="860"/>
          </a:p>
          <a:p xmlns:a="http://schemas.openxmlformats.org/drawingml/2006/main">
            <a:pPr marL="0" indent="0" algn="ctr">
              <a:lnSpc>
                <a:spcPts val="1050"/>
              </a:lnSpc>
              <a:buNone/>
            </a:pPr>
            <a:r>
              <a:rPr sz="860" b="1">
                <a:solidFill>
                  <a:srgbClr val="486581"/>
                </a:solidFill>
                <a:latin typeface="Arial"/>
                <a:ea typeface="Arial"/>
                <a:cs typeface="Arial"/>
              </a:rPr>
              <a:t>card</a:t>
            </a:r>
            <a:endParaRPr sz="860"/>
          </a:p>
        </p:txBody>
      </p:sp>
      <p:sp>
        <p:nvSpPr>
          <p:cNvPr id="9" name="Text 7">
            <a:extLst xmlns:a="http://schemas.openxmlformats.org/drawingml/2006/main">
              <a:ext uri="{FF2B5EF4-FFF2-40B4-BE49-F238E27FC236}">
                <a16:creationId xmlns:a16="http://schemas.microsoft.com/office/drawing/2014/main" id="{41D23406-D819-4B5E-A278-14BAFBB7EF7A}"/>
              </a:ext>
            </a:extLst>
          </p:cNvPr>
          <p:cNvSpPr>
            <a:spLocks xmlns:a="http://schemas.openxmlformats.org/drawingml/2006/main" noGrp="1"/>
          </p:cNvSpPr>
          <p:nvPr/>
        </p:nvSpPr>
        <p:spPr>
          <a:xfrm xmlns:a="http://schemas.openxmlformats.org/drawingml/2006/main">
            <a:off x="10467594" y="1335024"/>
            <a:ext cx="115717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486581"/>
                </a:solidFill>
                <a:latin typeface="Arial"/>
                <a:ea typeface="Arial"/>
                <a:cs typeface="Arial"/>
              </a:rPr>
              <a:t>Beneficial</a:t>
            </a:r>
            <a:endParaRPr sz="860"/>
          </a:p>
          <a:p xmlns:a="http://schemas.openxmlformats.org/drawingml/2006/main">
            <a:pPr marL="0" indent="0" algn="ctr">
              <a:lnSpc>
                <a:spcPts val="1050"/>
              </a:lnSpc>
              <a:buNone/>
            </a:pPr>
            <a:r>
              <a:rPr sz="860" b="1">
                <a:solidFill>
                  <a:srgbClr val="486581"/>
                </a:solidFill>
                <a:latin typeface="Arial"/>
                <a:ea typeface="Arial"/>
                <a:cs typeface="Arial"/>
              </a:rPr>
              <a:t>ownership</a:t>
            </a:r>
            <a:endParaRPr sz="860"/>
          </a:p>
        </p:txBody>
      </p:sp>
      <p:sp>
        <p:nvSpPr>
          <p:cNvPr id="10" name="Text 8">
            <a:extLst xmlns:a="http://schemas.openxmlformats.org/drawingml/2006/main">
              <a:ext uri="{FF2B5EF4-FFF2-40B4-BE49-F238E27FC236}">
                <a16:creationId xmlns:a16="http://schemas.microsoft.com/office/drawing/2014/main" id="{C7EF6A5F-F97B-4B8A-99A0-9317A9B1B364}"/>
              </a:ext>
            </a:extLst>
          </p:cNvPr>
          <p:cNvSpPr>
            <a:spLocks xmlns:a="http://schemas.openxmlformats.org/drawingml/2006/main" noGrp="1"/>
          </p:cNvSpPr>
          <p:nvPr/>
        </p:nvSpPr>
        <p:spPr>
          <a:xfrm xmlns:a="http://schemas.openxmlformats.org/drawingml/2006/main">
            <a:off x="676656" y="1938528"/>
            <a:ext cx="3840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40" b="1">
                <a:solidFill>
                  <a:srgbClr val="102A43"/>
                </a:solidFill>
                <a:latin typeface="Arial"/>
                <a:ea typeface="Arial"/>
                <a:cs typeface="Arial"/>
              </a:rPr>
              <a:t>Consent</a:t>
            </a:r>
            <a:endParaRPr sz="1040"/>
          </a:p>
        </p:txBody>
      </p:sp>
      <p:sp>
        <p:nvSpPr>
          <p:cNvPr id="11" name="Text 9">
            <a:extLst xmlns:a="http://schemas.openxmlformats.org/drawingml/2006/main">
              <a:ext uri="{FF2B5EF4-FFF2-40B4-BE49-F238E27FC236}">
                <a16:creationId xmlns:a16="http://schemas.microsoft.com/office/drawing/2014/main" id="{32B7E392-0B55-4D33-A15C-44787C396575}"/>
              </a:ext>
            </a:extLst>
          </p:cNvPr>
          <p:cNvSpPr>
            <a:spLocks xmlns:a="http://schemas.openxmlformats.org/drawingml/2006/main" noGrp="1"/>
          </p:cNvSpPr>
          <p:nvPr/>
        </p:nvSpPr>
        <p:spPr>
          <a:xfrm xmlns:a="http://schemas.openxmlformats.org/drawingml/2006/main">
            <a:off x="676656" y="2157984"/>
            <a:ext cx="3840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486581"/>
                </a:solidFill>
                <a:latin typeface="Arial"/>
                <a:ea typeface="Arial"/>
                <a:cs typeface="Arial"/>
              </a:rPr>
              <a:t>Purpose-bound and timestamped</a:t>
            </a:r>
            <a:endParaRPr sz="880"/>
          </a:p>
        </p:txBody>
      </p:sp>
      <p:sp>
        <p:nvSpPr>
          <p:cNvPr id="12" name="Text 10">
            <a:extLst xmlns:a="http://schemas.openxmlformats.org/drawingml/2006/main">
              <a:ext uri="{FF2B5EF4-FFF2-40B4-BE49-F238E27FC236}">
                <a16:creationId xmlns:a16="http://schemas.microsoft.com/office/drawing/2014/main" id="{E8E16732-6D2E-479F-8704-44B4C80F9AEF}"/>
              </a:ext>
            </a:extLst>
          </p:cNvPr>
          <p:cNvSpPr>
            <a:spLocks xmlns:a="http://schemas.openxmlformats.org/drawingml/2006/main" noGrp="1"/>
          </p:cNvSpPr>
          <p:nvPr/>
        </p:nvSpPr>
        <p:spPr>
          <a:xfrm xmlns:a="http://schemas.openxmlformats.org/drawingml/2006/main">
            <a:off x="4681728" y="197510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13" name="Text 11">
            <a:extLst xmlns:a="http://schemas.openxmlformats.org/drawingml/2006/main">
              <a:ext uri="{FF2B5EF4-FFF2-40B4-BE49-F238E27FC236}">
                <a16:creationId xmlns:a16="http://schemas.microsoft.com/office/drawing/2014/main" id="{A28B4AA4-C3D5-4E20-B2B0-CCD04D68CAC6}"/>
              </a:ext>
            </a:extLst>
          </p:cNvPr>
          <p:cNvSpPr>
            <a:spLocks xmlns:a="http://schemas.openxmlformats.org/drawingml/2006/main" noGrp="1"/>
          </p:cNvSpPr>
          <p:nvPr/>
        </p:nvSpPr>
        <p:spPr>
          <a:xfrm xmlns:a="http://schemas.openxmlformats.org/drawingml/2006/main">
            <a:off x="5838901" y="197510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14" name="Text 12">
            <a:extLst xmlns:a="http://schemas.openxmlformats.org/drawingml/2006/main">
              <a:ext uri="{FF2B5EF4-FFF2-40B4-BE49-F238E27FC236}">
                <a16:creationId xmlns:a16="http://schemas.microsoft.com/office/drawing/2014/main" id="{760539D4-9B2A-410B-B13D-7E2F1F7EF59A}"/>
              </a:ext>
            </a:extLst>
          </p:cNvPr>
          <p:cNvSpPr>
            <a:spLocks xmlns:a="http://schemas.openxmlformats.org/drawingml/2006/main" noGrp="1"/>
          </p:cNvSpPr>
          <p:nvPr/>
        </p:nvSpPr>
        <p:spPr>
          <a:xfrm xmlns:a="http://schemas.openxmlformats.org/drawingml/2006/main">
            <a:off x="6996074" y="197510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15" name="Shape 13">
            <a:extLst xmlns:a="http://schemas.openxmlformats.org/drawingml/2006/main">
              <a:ext uri="{FF2B5EF4-FFF2-40B4-BE49-F238E27FC236}">
                <a16:creationId xmlns:a16="http://schemas.microsoft.com/office/drawing/2014/main" id="{A606A7A3-65D8-414C-9BD6-105035B4C4F8}"/>
              </a:ext>
            </a:extLst>
          </p:cNvPr>
          <p:cNvSpPr>
            <a:spLocks xmlns:a="http://schemas.openxmlformats.org/drawingml/2006/main" noGrp="1"/>
          </p:cNvSpPr>
          <p:nvPr/>
        </p:nvSpPr>
        <p:spPr>
          <a:xfrm xmlns:a="http://schemas.openxmlformats.org/drawingml/2006/main">
            <a:off x="8329498" y="1984248"/>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16" name="Text 14">
            <a:extLst xmlns:a="http://schemas.openxmlformats.org/drawingml/2006/main">
              <a:ext uri="{FF2B5EF4-FFF2-40B4-BE49-F238E27FC236}">
                <a16:creationId xmlns:a16="http://schemas.microsoft.com/office/drawing/2014/main" id="{75EC8461-94BF-493C-A29A-072E2F637D7E}"/>
              </a:ext>
            </a:extLst>
          </p:cNvPr>
          <p:cNvSpPr>
            <a:spLocks xmlns:a="http://schemas.openxmlformats.org/drawingml/2006/main" noGrp="1"/>
          </p:cNvSpPr>
          <p:nvPr/>
        </p:nvSpPr>
        <p:spPr>
          <a:xfrm xmlns:a="http://schemas.openxmlformats.org/drawingml/2006/main">
            <a:off x="8329498" y="2034540"/>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17" name="Text 15">
            <a:extLst xmlns:a="http://schemas.openxmlformats.org/drawingml/2006/main">
              <a:ext uri="{FF2B5EF4-FFF2-40B4-BE49-F238E27FC236}">
                <a16:creationId xmlns:a16="http://schemas.microsoft.com/office/drawing/2014/main" id="{BBF94626-1BD6-4C4C-9D76-43D63E15F0EE}"/>
              </a:ext>
            </a:extLst>
          </p:cNvPr>
          <p:cNvSpPr>
            <a:spLocks xmlns:a="http://schemas.openxmlformats.org/drawingml/2006/main" noGrp="1"/>
          </p:cNvSpPr>
          <p:nvPr/>
        </p:nvSpPr>
        <p:spPr>
          <a:xfrm xmlns:a="http://schemas.openxmlformats.org/drawingml/2006/main">
            <a:off x="9310421" y="197510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18" name="Text 16">
            <a:extLst xmlns:a="http://schemas.openxmlformats.org/drawingml/2006/main">
              <a:ext uri="{FF2B5EF4-FFF2-40B4-BE49-F238E27FC236}">
                <a16:creationId xmlns:a16="http://schemas.microsoft.com/office/drawing/2014/main" id="{50F23E62-0615-4488-89B5-12D5AEECDF01}"/>
              </a:ext>
            </a:extLst>
          </p:cNvPr>
          <p:cNvSpPr>
            <a:spLocks xmlns:a="http://schemas.openxmlformats.org/drawingml/2006/main" noGrp="1"/>
          </p:cNvSpPr>
          <p:nvPr/>
        </p:nvSpPr>
        <p:spPr>
          <a:xfrm xmlns:a="http://schemas.openxmlformats.org/drawingml/2006/main">
            <a:off x="10467594" y="197510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19" name="Shape 17">
            <a:extLst xmlns:a="http://schemas.openxmlformats.org/drawingml/2006/main">
              <a:ext uri="{FF2B5EF4-FFF2-40B4-BE49-F238E27FC236}">
                <a16:creationId xmlns:a16="http://schemas.microsoft.com/office/drawing/2014/main" id="{F94845A7-859B-46BE-9783-69FFCAA6A45A}"/>
              </a:ext>
            </a:extLst>
          </p:cNvPr>
          <p:cNvSpPr>
            <a:spLocks xmlns:a="http://schemas.openxmlformats.org/drawingml/2006/main" noGrp="1"/>
          </p:cNvSpPr>
          <p:nvPr/>
        </p:nvSpPr>
        <p:spPr>
          <a:xfrm xmlns:a="http://schemas.openxmlformats.org/drawingml/2006/main">
            <a:off x="566928" y="2377440"/>
            <a:ext cx="11057839" cy="7315"/>
          </a:xfrm>
          <a:prstGeom xmlns:a="http://schemas.openxmlformats.org/drawingml/2006/main" prst="rect">
            <a:avLst/>
          </a:prstGeom>
          <a:solidFill xmlns:a="http://schemas.openxmlformats.org/drawingml/2006/main">
            <a:srgbClr val="CBD5E0"/>
          </a:solidFill>
        </p:spPr>
      </p:sp>
      <p:sp>
        <p:nvSpPr>
          <p:cNvPr id="20" name="Shape 18">
            <a:extLst xmlns:a="http://schemas.openxmlformats.org/drawingml/2006/main">
              <a:ext uri="{FF2B5EF4-FFF2-40B4-BE49-F238E27FC236}">
                <a16:creationId xmlns:a16="http://schemas.microsoft.com/office/drawing/2014/main" id="{A11AD34D-B10E-4C68-9015-ADE58B527F71}"/>
              </a:ext>
            </a:extLst>
          </p:cNvPr>
          <p:cNvSpPr>
            <a:spLocks xmlns:a="http://schemas.openxmlformats.org/drawingml/2006/main" noGrp="1"/>
          </p:cNvSpPr>
          <p:nvPr/>
        </p:nvSpPr>
        <p:spPr>
          <a:xfrm xmlns:a="http://schemas.openxmlformats.org/drawingml/2006/main">
            <a:off x="566928" y="2377440"/>
            <a:ext cx="11057839" cy="530352"/>
          </a:xfrm>
          <a:prstGeom xmlns:a="http://schemas.openxmlformats.org/drawingml/2006/main" prst="rect">
            <a:avLst/>
          </a:prstGeom>
          <a:solidFill xmlns:a="http://schemas.openxmlformats.org/drawingml/2006/main">
            <a:srgbClr val="F7F9FB"/>
          </a:solidFill>
        </p:spPr>
      </p:sp>
      <p:sp>
        <p:nvSpPr>
          <p:cNvPr id="21" name="Text 19">
            <a:extLst xmlns:a="http://schemas.openxmlformats.org/drawingml/2006/main">
              <a:ext uri="{FF2B5EF4-FFF2-40B4-BE49-F238E27FC236}">
                <a16:creationId xmlns:a16="http://schemas.microsoft.com/office/drawing/2014/main" id="{F5454DC7-A0C3-4D56-BAE2-818EA8137D13}"/>
              </a:ext>
            </a:extLst>
          </p:cNvPr>
          <p:cNvSpPr>
            <a:spLocks xmlns:a="http://schemas.openxmlformats.org/drawingml/2006/main" noGrp="1"/>
          </p:cNvSpPr>
          <p:nvPr/>
        </p:nvSpPr>
        <p:spPr>
          <a:xfrm xmlns:a="http://schemas.openxmlformats.org/drawingml/2006/main">
            <a:off x="676656" y="2468880"/>
            <a:ext cx="3840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40" b="1">
                <a:solidFill>
                  <a:srgbClr val="102A43"/>
                </a:solidFill>
                <a:latin typeface="Arial"/>
                <a:ea typeface="Arial"/>
                <a:cs typeface="Arial"/>
              </a:rPr>
              <a:t>Identity assurance</a:t>
            </a:r>
            <a:endParaRPr sz="1040"/>
          </a:p>
        </p:txBody>
      </p:sp>
      <p:sp>
        <p:nvSpPr>
          <p:cNvPr id="22" name="Text 20">
            <a:extLst xmlns:a="http://schemas.openxmlformats.org/drawingml/2006/main">
              <a:ext uri="{FF2B5EF4-FFF2-40B4-BE49-F238E27FC236}">
                <a16:creationId xmlns:a16="http://schemas.microsoft.com/office/drawing/2014/main" id="{5B69EFFF-984D-4823-B7D5-8046715AAC9A}"/>
              </a:ext>
            </a:extLst>
          </p:cNvPr>
          <p:cNvSpPr>
            <a:spLocks xmlns:a="http://schemas.openxmlformats.org/drawingml/2006/main" noGrp="1"/>
          </p:cNvSpPr>
          <p:nvPr/>
        </p:nvSpPr>
        <p:spPr>
          <a:xfrm xmlns:a="http://schemas.openxmlformats.org/drawingml/2006/main">
            <a:off x="676656" y="2688336"/>
            <a:ext cx="3840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486581"/>
                </a:solidFill>
                <a:latin typeface="Arial"/>
                <a:ea typeface="Arial"/>
                <a:cs typeface="Arial"/>
              </a:rPr>
              <a:t>Proportionate to the action, not the channel</a:t>
            </a:r>
            <a:endParaRPr sz="880"/>
          </a:p>
        </p:txBody>
      </p:sp>
      <p:sp>
        <p:nvSpPr>
          <p:cNvPr id="23" name="Shape 21">
            <a:extLst xmlns:a="http://schemas.openxmlformats.org/drawingml/2006/main">
              <a:ext uri="{FF2B5EF4-FFF2-40B4-BE49-F238E27FC236}">
                <a16:creationId xmlns:a16="http://schemas.microsoft.com/office/drawing/2014/main" id="{A445EF7F-21E5-4F78-A28D-8431170A641D}"/>
              </a:ext>
            </a:extLst>
          </p:cNvPr>
          <p:cNvSpPr>
            <a:spLocks xmlns:a="http://schemas.openxmlformats.org/drawingml/2006/main" noGrp="1"/>
          </p:cNvSpPr>
          <p:nvPr/>
        </p:nvSpPr>
        <p:spPr>
          <a:xfrm xmlns:a="http://schemas.openxmlformats.org/drawingml/2006/main">
            <a:off x="4857979" y="2514600"/>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24" name="Text 22">
            <a:extLst xmlns:a="http://schemas.openxmlformats.org/drawingml/2006/main">
              <a:ext uri="{FF2B5EF4-FFF2-40B4-BE49-F238E27FC236}">
                <a16:creationId xmlns:a16="http://schemas.microsoft.com/office/drawing/2014/main" id="{4D496B63-6330-423A-9491-B4FB01F7F559}"/>
              </a:ext>
            </a:extLst>
          </p:cNvPr>
          <p:cNvSpPr>
            <a:spLocks xmlns:a="http://schemas.openxmlformats.org/drawingml/2006/main" noGrp="1"/>
          </p:cNvSpPr>
          <p:nvPr/>
        </p:nvSpPr>
        <p:spPr>
          <a:xfrm xmlns:a="http://schemas.openxmlformats.org/drawingml/2006/main">
            <a:off x="4857979" y="2564892"/>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25" name="Text 23">
            <a:extLst xmlns:a="http://schemas.openxmlformats.org/drawingml/2006/main">
              <a:ext uri="{FF2B5EF4-FFF2-40B4-BE49-F238E27FC236}">
                <a16:creationId xmlns:a16="http://schemas.microsoft.com/office/drawing/2014/main" id="{45BD5485-A25F-4F2C-A2D4-6E46FA90C5B8}"/>
              </a:ext>
            </a:extLst>
          </p:cNvPr>
          <p:cNvSpPr>
            <a:spLocks xmlns:a="http://schemas.openxmlformats.org/drawingml/2006/main" noGrp="1"/>
          </p:cNvSpPr>
          <p:nvPr/>
        </p:nvSpPr>
        <p:spPr>
          <a:xfrm xmlns:a="http://schemas.openxmlformats.org/drawingml/2006/main">
            <a:off x="5838901" y="2505456"/>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26" name="Text 24">
            <a:extLst xmlns:a="http://schemas.openxmlformats.org/drawingml/2006/main">
              <a:ext uri="{FF2B5EF4-FFF2-40B4-BE49-F238E27FC236}">
                <a16:creationId xmlns:a16="http://schemas.microsoft.com/office/drawing/2014/main" id="{0191737B-BE03-4AA3-A238-70359A028F0B}"/>
              </a:ext>
            </a:extLst>
          </p:cNvPr>
          <p:cNvSpPr>
            <a:spLocks xmlns:a="http://schemas.openxmlformats.org/drawingml/2006/main" noGrp="1"/>
          </p:cNvSpPr>
          <p:nvPr/>
        </p:nvSpPr>
        <p:spPr>
          <a:xfrm xmlns:a="http://schemas.openxmlformats.org/drawingml/2006/main">
            <a:off x="6996074" y="2505456"/>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27" name="Text 25">
            <a:extLst xmlns:a="http://schemas.openxmlformats.org/drawingml/2006/main">
              <a:ext uri="{FF2B5EF4-FFF2-40B4-BE49-F238E27FC236}">
                <a16:creationId xmlns:a16="http://schemas.microsoft.com/office/drawing/2014/main" id="{741C56DD-E9B1-4D38-8DD4-DA208C957E09}"/>
              </a:ext>
            </a:extLst>
          </p:cNvPr>
          <p:cNvSpPr>
            <a:spLocks xmlns:a="http://schemas.openxmlformats.org/drawingml/2006/main" noGrp="1"/>
          </p:cNvSpPr>
          <p:nvPr/>
        </p:nvSpPr>
        <p:spPr>
          <a:xfrm xmlns:a="http://schemas.openxmlformats.org/drawingml/2006/main">
            <a:off x="8153248" y="2505456"/>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28" name="Shape 26">
            <a:extLst xmlns:a="http://schemas.openxmlformats.org/drawingml/2006/main">
              <a:ext uri="{FF2B5EF4-FFF2-40B4-BE49-F238E27FC236}">
                <a16:creationId xmlns:a16="http://schemas.microsoft.com/office/drawing/2014/main" id="{D1516700-7F45-4C3F-B5A9-8B7DBA1B4031}"/>
              </a:ext>
            </a:extLst>
          </p:cNvPr>
          <p:cNvSpPr>
            <a:spLocks xmlns:a="http://schemas.openxmlformats.org/drawingml/2006/main" noGrp="1"/>
          </p:cNvSpPr>
          <p:nvPr/>
        </p:nvSpPr>
        <p:spPr>
          <a:xfrm xmlns:a="http://schemas.openxmlformats.org/drawingml/2006/main">
            <a:off x="9486671" y="2514600"/>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29" name="Text 27">
            <a:extLst xmlns:a="http://schemas.openxmlformats.org/drawingml/2006/main">
              <a:ext uri="{FF2B5EF4-FFF2-40B4-BE49-F238E27FC236}">
                <a16:creationId xmlns:a16="http://schemas.microsoft.com/office/drawing/2014/main" id="{18FEF128-CF00-4BB3-99C4-27C5107A4261}"/>
              </a:ext>
            </a:extLst>
          </p:cNvPr>
          <p:cNvSpPr>
            <a:spLocks xmlns:a="http://schemas.openxmlformats.org/drawingml/2006/main" noGrp="1"/>
          </p:cNvSpPr>
          <p:nvPr/>
        </p:nvSpPr>
        <p:spPr>
          <a:xfrm xmlns:a="http://schemas.openxmlformats.org/drawingml/2006/main">
            <a:off x="9486671" y="2564892"/>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30" name="Text 28">
            <a:extLst xmlns:a="http://schemas.openxmlformats.org/drawingml/2006/main">
              <a:ext uri="{FF2B5EF4-FFF2-40B4-BE49-F238E27FC236}">
                <a16:creationId xmlns:a16="http://schemas.microsoft.com/office/drawing/2014/main" id="{76D6FC78-391A-4753-AE38-66F68A5C974E}"/>
              </a:ext>
            </a:extLst>
          </p:cNvPr>
          <p:cNvSpPr>
            <a:spLocks xmlns:a="http://schemas.openxmlformats.org/drawingml/2006/main" noGrp="1"/>
          </p:cNvSpPr>
          <p:nvPr/>
        </p:nvSpPr>
        <p:spPr>
          <a:xfrm xmlns:a="http://schemas.openxmlformats.org/drawingml/2006/main">
            <a:off x="10467594" y="2505456"/>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31" name="Shape 29">
            <a:extLst xmlns:a="http://schemas.openxmlformats.org/drawingml/2006/main">
              <a:ext uri="{FF2B5EF4-FFF2-40B4-BE49-F238E27FC236}">
                <a16:creationId xmlns:a16="http://schemas.microsoft.com/office/drawing/2014/main" id="{252F2ED0-1B3C-4F50-841F-02158D09F9E4}"/>
              </a:ext>
            </a:extLst>
          </p:cNvPr>
          <p:cNvSpPr>
            <a:spLocks xmlns:a="http://schemas.openxmlformats.org/drawingml/2006/main" noGrp="1"/>
          </p:cNvSpPr>
          <p:nvPr/>
        </p:nvSpPr>
        <p:spPr>
          <a:xfrm xmlns:a="http://schemas.openxmlformats.org/drawingml/2006/main">
            <a:off x="566928" y="2907792"/>
            <a:ext cx="11057839" cy="7315"/>
          </a:xfrm>
          <a:prstGeom xmlns:a="http://schemas.openxmlformats.org/drawingml/2006/main" prst="rect">
            <a:avLst/>
          </a:prstGeom>
          <a:solidFill xmlns:a="http://schemas.openxmlformats.org/drawingml/2006/main">
            <a:srgbClr val="CBD5E0"/>
          </a:solidFill>
        </p:spPr>
      </p:sp>
      <p:sp>
        <p:nvSpPr>
          <p:cNvPr id="32" name="Text 30">
            <a:extLst xmlns:a="http://schemas.openxmlformats.org/drawingml/2006/main">
              <a:ext uri="{FF2B5EF4-FFF2-40B4-BE49-F238E27FC236}">
                <a16:creationId xmlns:a16="http://schemas.microsoft.com/office/drawing/2014/main" id="{AD4505FA-E5BF-4185-9413-70B6EDB2017D}"/>
              </a:ext>
            </a:extLst>
          </p:cNvPr>
          <p:cNvSpPr>
            <a:spLocks xmlns:a="http://schemas.openxmlformats.org/drawingml/2006/main" noGrp="1"/>
          </p:cNvSpPr>
          <p:nvPr/>
        </p:nvSpPr>
        <p:spPr>
          <a:xfrm xmlns:a="http://schemas.openxmlformats.org/drawingml/2006/main">
            <a:off x="676656" y="2999232"/>
            <a:ext cx="3840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40" b="1">
                <a:solidFill>
                  <a:srgbClr val="102A43"/>
                </a:solidFill>
                <a:latin typeface="Arial"/>
                <a:ea typeface="Arial"/>
                <a:cs typeface="Arial"/>
              </a:rPr>
              <a:t>Maker–checker</a:t>
            </a:r>
            <a:endParaRPr sz="1040"/>
          </a:p>
        </p:txBody>
      </p:sp>
      <p:sp>
        <p:nvSpPr>
          <p:cNvPr id="33" name="Text 31">
            <a:extLst xmlns:a="http://schemas.openxmlformats.org/drawingml/2006/main">
              <a:ext uri="{FF2B5EF4-FFF2-40B4-BE49-F238E27FC236}">
                <a16:creationId xmlns:a16="http://schemas.microsoft.com/office/drawing/2014/main" id="{87291775-A8D6-4CD5-9C87-F07BA73BD6BE}"/>
              </a:ext>
            </a:extLst>
          </p:cNvPr>
          <p:cNvSpPr>
            <a:spLocks xmlns:a="http://schemas.openxmlformats.org/drawingml/2006/main" noGrp="1"/>
          </p:cNvSpPr>
          <p:nvPr/>
        </p:nvSpPr>
        <p:spPr>
          <a:xfrm xmlns:a="http://schemas.openxmlformats.org/drawingml/2006/main">
            <a:off x="676656" y="3218688"/>
            <a:ext cx="3840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486581"/>
                </a:solidFill>
                <a:latin typeface="Arial"/>
                <a:ea typeface="Arial"/>
                <a:cs typeface="Arial"/>
              </a:rPr>
              <a:t>Where an action is irreversible</a:t>
            </a:r>
            <a:endParaRPr sz="880"/>
          </a:p>
        </p:txBody>
      </p:sp>
      <p:sp>
        <p:nvSpPr>
          <p:cNvPr id="34" name="Shape 32">
            <a:extLst xmlns:a="http://schemas.openxmlformats.org/drawingml/2006/main">
              <a:ext uri="{FF2B5EF4-FFF2-40B4-BE49-F238E27FC236}">
                <a16:creationId xmlns:a16="http://schemas.microsoft.com/office/drawing/2014/main" id="{1FF85D4B-CD48-482F-8ECB-2584BBCE3FB4}"/>
              </a:ext>
            </a:extLst>
          </p:cNvPr>
          <p:cNvSpPr>
            <a:spLocks xmlns:a="http://schemas.openxmlformats.org/drawingml/2006/main" noGrp="1"/>
          </p:cNvSpPr>
          <p:nvPr/>
        </p:nvSpPr>
        <p:spPr>
          <a:xfrm xmlns:a="http://schemas.openxmlformats.org/drawingml/2006/main">
            <a:off x="4857979" y="3044952"/>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35" name="Text 33">
            <a:extLst xmlns:a="http://schemas.openxmlformats.org/drawingml/2006/main">
              <a:ext uri="{FF2B5EF4-FFF2-40B4-BE49-F238E27FC236}">
                <a16:creationId xmlns:a16="http://schemas.microsoft.com/office/drawing/2014/main" id="{55A9D9AB-7122-4537-9D4F-486A517910CC}"/>
              </a:ext>
            </a:extLst>
          </p:cNvPr>
          <p:cNvSpPr>
            <a:spLocks xmlns:a="http://schemas.openxmlformats.org/drawingml/2006/main" noGrp="1"/>
          </p:cNvSpPr>
          <p:nvPr/>
        </p:nvSpPr>
        <p:spPr>
          <a:xfrm xmlns:a="http://schemas.openxmlformats.org/drawingml/2006/main">
            <a:off x="4857979" y="3095244"/>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36" name="Text 34">
            <a:extLst xmlns:a="http://schemas.openxmlformats.org/drawingml/2006/main">
              <a:ext uri="{FF2B5EF4-FFF2-40B4-BE49-F238E27FC236}">
                <a16:creationId xmlns:a16="http://schemas.microsoft.com/office/drawing/2014/main" id="{61C362C4-A7D5-4D27-91E3-AC0B1CD64284}"/>
              </a:ext>
            </a:extLst>
          </p:cNvPr>
          <p:cNvSpPr>
            <a:spLocks xmlns:a="http://schemas.openxmlformats.org/drawingml/2006/main" noGrp="1"/>
          </p:cNvSpPr>
          <p:nvPr/>
        </p:nvSpPr>
        <p:spPr>
          <a:xfrm xmlns:a="http://schemas.openxmlformats.org/drawingml/2006/main">
            <a:off x="5838901" y="3035808"/>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37" name="Text 35">
            <a:extLst xmlns:a="http://schemas.openxmlformats.org/drawingml/2006/main">
              <a:ext uri="{FF2B5EF4-FFF2-40B4-BE49-F238E27FC236}">
                <a16:creationId xmlns:a16="http://schemas.microsoft.com/office/drawing/2014/main" id="{065740B2-F075-4327-8349-89EFC534711D}"/>
              </a:ext>
            </a:extLst>
          </p:cNvPr>
          <p:cNvSpPr>
            <a:spLocks xmlns:a="http://schemas.openxmlformats.org/drawingml/2006/main" noGrp="1"/>
          </p:cNvSpPr>
          <p:nvPr/>
        </p:nvSpPr>
        <p:spPr>
          <a:xfrm xmlns:a="http://schemas.openxmlformats.org/drawingml/2006/main">
            <a:off x="6996074" y="3035808"/>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200">
                <a:solidFill>
                  <a:srgbClr val="CBD5E0"/>
                </a:solidFill>
                <a:latin typeface="Arial"/>
                <a:ea typeface="Arial"/>
                <a:cs typeface="Arial"/>
              </a:rPr>
              <a:t>–</a:t>
            </a:r>
            <a:endParaRPr sz="1200"/>
          </a:p>
        </p:txBody>
      </p:sp>
      <p:sp>
        <p:nvSpPr>
          <p:cNvPr id="38" name="Text 36">
            <a:extLst xmlns:a="http://schemas.openxmlformats.org/drawingml/2006/main">
              <a:ext uri="{FF2B5EF4-FFF2-40B4-BE49-F238E27FC236}">
                <a16:creationId xmlns:a16="http://schemas.microsoft.com/office/drawing/2014/main" id="{98C15326-E45F-475A-B780-E9BBA05D98BF}"/>
              </a:ext>
            </a:extLst>
          </p:cNvPr>
          <p:cNvSpPr>
            <a:spLocks xmlns:a="http://schemas.openxmlformats.org/drawingml/2006/main" noGrp="1"/>
          </p:cNvSpPr>
          <p:nvPr/>
        </p:nvSpPr>
        <p:spPr>
          <a:xfrm xmlns:a="http://schemas.openxmlformats.org/drawingml/2006/main">
            <a:off x="8153248" y="3035808"/>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39" name="Shape 37">
            <a:extLst xmlns:a="http://schemas.openxmlformats.org/drawingml/2006/main">
              <a:ext uri="{FF2B5EF4-FFF2-40B4-BE49-F238E27FC236}">
                <a16:creationId xmlns:a16="http://schemas.microsoft.com/office/drawing/2014/main" id="{CEFDF76B-BEC9-44BC-B6E9-57151D6411F9}"/>
              </a:ext>
            </a:extLst>
          </p:cNvPr>
          <p:cNvSpPr>
            <a:spLocks xmlns:a="http://schemas.openxmlformats.org/drawingml/2006/main" noGrp="1"/>
          </p:cNvSpPr>
          <p:nvPr/>
        </p:nvSpPr>
        <p:spPr>
          <a:xfrm xmlns:a="http://schemas.openxmlformats.org/drawingml/2006/main">
            <a:off x="9486671" y="3044952"/>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40" name="Text 38">
            <a:extLst xmlns:a="http://schemas.openxmlformats.org/drawingml/2006/main">
              <a:ext uri="{FF2B5EF4-FFF2-40B4-BE49-F238E27FC236}">
                <a16:creationId xmlns:a16="http://schemas.microsoft.com/office/drawing/2014/main" id="{A7FA540B-6B19-4759-882B-705C64578162}"/>
              </a:ext>
            </a:extLst>
          </p:cNvPr>
          <p:cNvSpPr>
            <a:spLocks xmlns:a="http://schemas.openxmlformats.org/drawingml/2006/main" noGrp="1"/>
          </p:cNvSpPr>
          <p:nvPr/>
        </p:nvSpPr>
        <p:spPr>
          <a:xfrm xmlns:a="http://schemas.openxmlformats.org/drawingml/2006/main">
            <a:off x="9486671" y="3095244"/>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41" name="Text 39">
            <a:extLst xmlns:a="http://schemas.openxmlformats.org/drawingml/2006/main">
              <a:ext uri="{FF2B5EF4-FFF2-40B4-BE49-F238E27FC236}">
                <a16:creationId xmlns:a16="http://schemas.microsoft.com/office/drawing/2014/main" id="{7C66B5BE-039D-49DC-99C8-FBAD6B596EC7}"/>
              </a:ext>
            </a:extLst>
          </p:cNvPr>
          <p:cNvSpPr>
            <a:spLocks xmlns:a="http://schemas.openxmlformats.org/drawingml/2006/main" noGrp="1"/>
          </p:cNvSpPr>
          <p:nvPr/>
        </p:nvSpPr>
        <p:spPr>
          <a:xfrm xmlns:a="http://schemas.openxmlformats.org/drawingml/2006/main">
            <a:off x="10467594" y="3035808"/>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200">
                <a:solidFill>
                  <a:srgbClr val="CBD5E0"/>
                </a:solidFill>
                <a:latin typeface="Arial"/>
                <a:ea typeface="Arial"/>
                <a:cs typeface="Arial"/>
              </a:rPr>
              <a:t>–</a:t>
            </a:r>
            <a:endParaRPr sz="1200"/>
          </a:p>
        </p:txBody>
      </p:sp>
      <p:sp>
        <p:nvSpPr>
          <p:cNvPr id="42" name="Shape 40">
            <a:extLst xmlns:a="http://schemas.openxmlformats.org/drawingml/2006/main">
              <a:ext uri="{FF2B5EF4-FFF2-40B4-BE49-F238E27FC236}">
                <a16:creationId xmlns:a16="http://schemas.microsoft.com/office/drawing/2014/main" id="{C4BC24F7-404A-420E-9997-7402F604E261}"/>
              </a:ext>
            </a:extLst>
          </p:cNvPr>
          <p:cNvSpPr>
            <a:spLocks xmlns:a="http://schemas.openxmlformats.org/drawingml/2006/main" noGrp="1"/>
          </p:cNvSpPr>
          <p:nvPr/>
        </p:nvSpPr>
        <p:spPr>
          <a:xfrm xmlns:a="http://schemas.openxmlformats.org/drawingml/2006/main">
            <a:off x="566928" y="3438144"/>
            <a:ext cx="11057839" cy="7315"/>
          </a:xfrm>
          <a:prstGeom xmlns:a="http://schemas.openxmlformats.org/drawingml/2006/main" prst="rect">
            <a:avLst/>
          </a:prstGeom>
          <a:solidFill xmlns:a="http://schemas.openxmlformats.org/drawingml/2006/main">
            <a:srgbClr val="CBD5E0"/>
          </a:solidFill>
        </p:spPr>
      </p:sp>
      <p:sp>
        <p:nvSpPr>
          <p:cNvPr id="43" name="Shape 41">
            <a:extLst xmlns:a="http://schemas.openxmlformats.org/drawingml/2006/main">
              <a:ext uri="{FF2B5EF4-FFF2-40B4-BE49-F238E27FC236}">
                <a16:creationId xmlns:a16="http://schemas.microsoft.com/office/drawing/2014/main" id="{B3D65670-7852-4976-B41C-274447199ED9}"/>
              </a:ext>
            </a:extLst>
          </p:cNvPr>
          <p:cNvSpPr>
            <a:spLocks xmlns:a="http://schemas.openxmlformats.org/drawingml/2006/main" noGrp="1"/>
          </p:cNvSpPr>
          <p:nvPr/>
        </p:nvSpPr>
        <p:spPr>
          <a:xfrm xmlns:a="http://schemas.openxmlformats.org/drawingml/2006/main">
            <a:off x="566928" y="3438144"/>
            <a:ext cx="11057839" cy="530352"/>
          </a:xfrm>
          <a:prstGeom xmlns:a="http://schemas.openxmlformats.org/drawingml/2006/main" prst="rect">
            <a:avLst/>
          </a:prstGeom>
          <a:solidFill xmlns:a="http://schemas.openxmlformats.org/drawingml/2006/main">
            <a:srgbClr val="F7F9FB"/>
          </a:solidFill>
        </p:spPr>
      </p:sp>
      <p:sp>
        <p:nvSpPr>
          <p:cNvPr id="44" name="Text 42">
            <a:extLst xmlns:a="http://schemas.openxmlformats.org/drawingml/2006/main">
              <a:ext uri="{FF2B5EF4-FFF2-40B4-BE49-F238E27FC236}">
                <a16:creationId xmlns:a16="http://schemas.microsoft.com/office/drawing/2014/main" id="{BD75CD57-55F8-4F02-AA79-24ABC1BB23CF}"/>
              </a:ext>
            </a:extLst>
          </p:cNvPr>
          <p:cNvSpPr>
            <a:spLocks xmlns:a="http://schemas.openxmlformats.org/drawingml/2006/main" noGrp="1"/>
          </p:cNvSpPr>
          <p:nvPr/>
        </p:nvSpPr>
        <p:spPr>
          <a:xfrm xmlns:a="http://schemas.openxmlformats.org/drawingml/2006/main">
            <a:off x="676656" y="3529584"/>
            <a:ext cx="3840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40" b="1">
                <a:solidFill>
                  <a:srgbClr val="102A43"/>
                </a:solidFill>
                <a:latin typeface="Arial"/>
                <a:ea typeface="Arial"/>
                <a:cs typeface="Arial"/>
              </a:rPr>
              <a:t>Audit trail</a:t>
            </a:r>
            <a:endParaRPr sz="1040"/>
          </a:p>
        </p:txBody>
      </p:sp>
      <p:sp>
        <p:nvSpPr>
          <p:cNvPr id="45" name="Text 43">
            <a:extLst xmlns:a="http://schemas.openxmlformats.org/drawingml/2006/main">
              <a:ext uri="{FF2B5EF4-FFF2-40B4-BE49-F238E27FC236}">
                <a16:creationId xmlns:a16="http://schemas.microsoft.com/office/drawing/2014/main" id="{F0F497C9-3176-467C-8F58-BBA743F941A7}"/>
              </a:ext>
            </a:extLst>
          </p:cNvPr>
          <p:cNvSpPr>
            <a:spLocks xmlns:a="http://schemas.openxmlformats.org/drawingml/2006/main" noGrp="1"/>
          </p:cNvSpPr>
          <p:nvPr/>
        </p:nvSpPr>
        <p:spPr>
          <a:xfrm xmlns:a="http://schemas.openxmlformats.org/drawingml/2006/main">
            <a:off x="676656" y="3749040"/>
            <a:ext cx="3840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486581"/>
                </a:solidFill>
                <a:latin typeface="Arial"/>
                <a:ea typeface="Arial"/>
                <a:cs typeface="Arial"/>
              </a:rPr>
              <a:t>Continuous across the boundary</a:t>
            </a:r>
            <a:endParaRPr sz="880"/>
          </a:p>
        </p:txBody>
      </p:sp>
      <p:sp>
        <p:nvSpPr>
          <p:cNvPr id="46" name="Text 44">
            <a:extLst xmlns:a="http://schemas.openxmlformats.org/drawingml/2006/main">
              <a:ext uri="{FF2B5EF4-FFF2-40B4-BE49-F238E27FC236}">
                <a16:creationId xmlns:a16="http://schemas.microsoft.com/office/drawing/2014/main" id="{2FFF1D2C-ADCD-4D9F-96E0-780A1EFC1070}"/>
              </a:ext>
            </a:extLst>
          </p:cNvPr>
          <p:cNvSpPr>
            <a:spLocks xmlns:a="http://schemas.openxmlformats.org/drawingml/2006/main" noGrp="1"/>
          </p:cNvSpPr>
          <p:nvPr/>
        </p:nvSpPr>
        <p:spPr>
          <a:xfrm xmlns:a="http://schemas.openxmlformats.org/drawingml/2006/main">
            <a:off x="4681728" y="3566160"/>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47" name="Text 45">
            <a:extLst xmlns:a="http://schemas.openxmlformats.org/drawingml/2006/main">
              <a:ext uri="{FF2B5EF4-FFF2-40B4-BE49-F238E27FC236}">
                <a16:creationId xmlns:a16="http://schemas.microsoft.com/office/drawing/2014/main" id="{26680467-C7A2-4C29-8875-FA9C154018CD}"/>
              </a:ext>
            </a:extLst>
          </p:cNvPr>
          <p:cNvSpPr>
            <a:spLocks xmlns:a="http://schemas.openxmlformats.org/drawingml/2006/main" noGrp="1"/>
          </p:cNvSpPr>
          <p:nvPr/>
        </p:nvSpPr>
        <p:spPr>
          <a:xfrm xmlns:a="http://schemas.openxmlformats.org/drawingml/2006/main">
            <a:off x="5838901" y="3566160"/>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48" name="Text 46">
            <a:extLst xmlns:a="http://schemas.openxmlformats.org/drawingml/2006/main">
              <a:ext uri="{FF2B5EF4-FFF2-40B4-BE49-F238E27FC236}">
                <a16:creationId xmlns:a16="http://schemas.microsoft.com/office/drawing/2014/main" id="{B6D9CE70-2203-493E-90B7-EFA47FD8FAF5}"/>
              </a:ext>
            </a:extLst>
          </p:cNvPr>
          <p:cNvSpPr>
            <a:spLocks xmlns:a="http://schemas.openxmlformats.org/drawingml/2006/main" noGrp="1"/>
          </p:cNvSpPr>
          <p:nvPr/>
        </p:nvSpPr>
        <p:spPr>
          <a:xfrm xmlns:a="http://schemas.openxmlformats.org/drawingml/2006/main">
            <a:off x="6996074" y="3566160"/>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49" name="Shape 47">
            <a:extLst xmlns:a="http://schemas.openxmlformats.org/drawingml/2006/main">
              <a:ext uri="{FF2B5EF4-FFF2-40B4-BE49-F238E27FC236}">
                <a16:creationId xmlns:a16="http://schemas.microsoft.com/office/drawing/2014/main" id="{DB81B33A-7272-43A0-97F5-BF70E4D0B961}"/>
              </a:ext>
            </a:extLst>
          </p:cNvPr>
          <p:cNvSpPr>
            <a:spLocks xmlns:a="http://schemas.openxmlformats.org/drawingml/2006/main" noGrp="1"/>
          </p:cNvSpPr>
          <p:nvPr/>
        </p:nvSpPr>
        <p:spPr>
          <a:xfrm xmlns:a="http://schemas.openxmlformats.org/drawingml/2006/main">
            <a:off x="8329498" y="3575304"/>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50" name="Text 48">
            <a:extLst xmlns:a="http://schemas.openxmlformats.org/drawingml/2006/main">
              <a:ext uri="{FF2B5EF4-FFF2-40B4-BE49-F238E27FC236}">
                <a16:creationId xmlns:a16="http://schemas.microsoft.com/office/drawing/2014/main" id="{DDBD2FAB-35D7-41CD-8972-D7C23CD0A16B}"/>
              </a:ext>
            </a:extLst>
          </p:cNvPr>
          <p:cNvSpPr>
            <a:spLocks xmlns:a="http://schemas.openxmlformats.org/drawingml/2006/main" noGrp="1"/>
          </p:cNvSpPr>
          <p:nvPr/>
        </p:nvSpPr>
        <p:spPr>
          <a:xfrm xmlns:a="http://schemas.openxmlformats.org/drawingml/2006/main">
            <a:off x="8329498" y="3625596"/>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51" name="Text 49">
            <a:extLst xmlns:a="http://schemas.openxmlformats.org/drawingml/2006/main">
              <a:ext uri="{FF2B5EF4-FFF2-40B4-BE49-F238E27FC236}">
                <a16:creationId xmlns:a16="http://schemas.microsoft.com/office/drawing/2014/main" id="{F330D831-2886-4F0D-8C10-875BC2E6733D}"/>
              </a:ext>
            </a:extLst>
          </p:cNvPr>
          <p:cNvSpPr>
            <a:spLocks xmlns:a="http://schemas.openxmlformats.org/drawingml/2006/main" noGrp="1"/>
          </p:cNvSpPr>
          <p:nvPr/>
        </p:nvSpPr>
        <p:spPr>
          <a:xfrm xmlns:a="http://schemas.openxmlformats.org/drawingml/2006/main">
            <a:off x="9310421" y="3566160"/>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52" name="Text 50">
            <a:extLst xmlns:a="http://schemas.openxmlformats.org/drawingml/2006/main">
              <a:ext uri="{FF2B5EF4-FFF2-40B4-BE49-F238E27FC236}">
                <a16:creationId xmlns:a16="http://schemas.microsoft.com/office/drawing/2014/main" id="{3B4E2393-7CDC-4722-AAEF-9A28C85AF2F4}"/>
              </a:ext>
            </a:extLst>
          </p:cNvPr>
          <p:cNvSpPr>
            <a:spLocks xmlns:a="http://schemas.openxmlformats.org/drawingml/2006/main" noGrp="1"/>
          </p:cNvSpPr>
          <p:nvPr/>
        </p:nvSpPr>
        <p:spPr>
          <a:xfrm xmlns:a="http://schemas.openxmlformats.org/drawingml/2006/main">
            <a:off x="10467594" y="3566160"/>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53" name="Shape 51">
            <a:extLst xmlns:a="http://schemas.openxmlformats.org/drawingml/2006/main">
              <a:ext uri="{FF2B5EF4-FFF2-40B4-BE49-F238E27FC236}">
                <a16:creationId xmlns:a16="http://schemas.microsoft.com/office/drawing/2014/main" id="{00D394D4-2238-4408-87F9-29AA8C10BFE5}"/>
              </a:ext>
            </a:extLst>
          </p:cNvPr>
          <p:cNvSpPr>
            <a:spLocks xmlns:a="http://schemas.openxmlformats.org/drawingml/2006/main" noGrp="1"/>
          </p:cNvSpPr>
          <p:nvPr/>
        </p:nvSpPr>
        <p:spPr>
          <a:xfrm xmlns:a="http://schemas.openxmlformats.org/drawingml/2006/main">
            <a:off x="566928" y="3968496"/>
            <a:ext cx="11057839" cy="7315"/>
          </a:xfrm>
          <a:prstGeom xmlns:a="http://schemas.openxmlformats.org/drawingml/2006/main" prst="rect">
            <a:avLst/>
          </a:prstGeom>
          <a:solidFill xmlns:a="http://schemas.openxmlformats.org/drawingml/2006/main">
            <a:srgbClr val="CBD5E0"/>
          </a:solidFill>
        </p:spPr>
      </p:sp>
      <p:sp>
        <p:nvSpPr>
          <p:cNvPr id="54" name="Text 52">
            <a:extLst xmlns:a="http://schemas.openxmlformats.org/drawingml/2006/main">
              <a:ext uri="{FF2B5EF4-FFF2-40B4-BE49-F238E27FC236}">
                <a16:creationId xmlns:a16="http://schemas.microsoft.com/office/drawing/2014/main" id="{F7D98E0B-AFB2-41E2-877E-8FB3CC132154}"/>
              </a:ext>
            </a:extLst>
          </p:cNvPr>
          <p:cNvSpPr>
            <a:spLocks xmlns:a="http://schemas.openxmlformats.org/drawingml/2006/main" noGrp="1"/>
          </p:cNvSpPr>
          <p:nvPr/>
        </p:nvSpPr>
        <p:spPr>
          <a:xfrm xmlns:a="http://schemas.openxmlformats.org/drawingml/2006/main">
            <a:off x="676656" y="4059936"/>
            <a:ext cx="3840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40" b="1">
                <a:solidFill>
                  <a:srgbClr val="102A43"/>
                </a:solidFill>
                <a:latin typeface="Arial"/>
                <a:ea typeface="Arial"/>
                <a:cs typeface="Arial"/>
              </a:rPr>
              <a:t>Data minimisation</a:t>
            </a:r>
            <a:endParaRPr sz="1040"/>
          </a:p>
        </p:txBody>
      </p:sp>
      <p:sp>
        <p:nvSpPr>
          <p:cNvPr id="55" name="Text 53">
            <a:extLst xmlns:a="http://schemas.openxmlformats.org/drawingml/2006/main">
              <a:ext uri="{FF2B5EF4-FFF2-40B4-BE49-F238E27FC236}">
                <a16:creationId xmlns:a16="http://schemas.microsoft.com/office/drawing/2014/main" id="{02A26C6F-239E-4642-9128-A93128F4C5AF}"/>
              </a:ext>
            </a:extLst>
          </p:cNvPr>
          <p:cNvSpPr>
            <a:spLocks xmlns:a="http://schemas.openxmlformats.org/drawingml/2006/main" noGrp="1"/>
          </p:cNvSpPr>
          <p:nvPr/>
        </p:nvSpPr>
        <p:spPr>
          <a:xfrm xmlns:a="http://schemas.openxmlformats.org/drawingml/2006/main">
            <a:off x="676656" y="4279392"/>
            <a:ext cx="3840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486581"/>
                </a:solidFill>
                <a:latin typeface="Arial"/>
                <a:ea typeface="Arial"/>
                <a:cs typeface="Arial"/>
              </a:rPr>
              <a:t>Field-level, purpose recorded</a:t>
            </a:r>
            <a:endParaRPr sz="880"/>
          </a:p>
        </p:txBody>
      </p:sp>
      <p:sp>
        <p:nvSpPr>
          <p:cNvPr id="56" name="Text 54">
            <a:extLst xmlns:a="http://schemas.openxmlformats.org/drawingml/2006/main">
              <a:ext uri="{FF2B5EF4-FFF2-40B4-BE49-F238E27FC236}">
                <a16:creationId xmlns:a16="http://schemas.microsoft.com/office/drawing/2014/main" id="{B201015B-05CF-4CF8-B2BC-F4425669FD56}"/>
              </a:ext>
            </a:extLst>
          </p:cNvPr>
          <p:cNvSpPr>
            <a:spLocks xmlns:a="http://schemas.openxmlformats.org/drawingml/2006/main" noGrp="1"/>
          </p:cNvSpPr>
          <p:nvPr/>
        </p:nvSpPr>
        <p:spPr>
          <a:xfrm xmlns:a="http://schemas.openxmlformats.org/drawingml/2006/main">
            <a:off x="4681728" y="4096512"/>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57" name="Text 55">
            <a:extLst xmlns:a="http://schemas.openxmlformats.org/drawingml/2006/main">
              <a:ext uri="{FF2B5EF4-FFF2-40B4-BE49-F238E27FC236}">
                <a16:creationId xmlns:a16="http://schemas.microsoft.com/office/drawing/2014/main" id="{E99C1A99-94AB-4E6C-A7B4-9AA51BA4D3D3}"/>
              </a:ext>
            </a:extLst>
          </p:cNvPr>
          <p:cNvSpPr>
            <a:spLocks xmlns:a="http://schemas.openxmlformats.org/drawingml/2006/main" noGrp="1"/>
          </p:cNvSpPr>
          <p:nvPr/>
        </p:nvSpPr>
        <p:spPr>
          <a:xfrm xmlns:a="http://schemas.openxmlformats.org/drawingml/2006/main">
            <a:off x="5838901" y="4096512"/>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58" name="Text 56">
            <a:extLst xmlns:a="http://schemas.openxmlformats.org/drawingml/2006/main">
              <a:ext uri="{FF2B5EF4-FFF2-40B4-BE49-F238E27FC236}">
                <a16:creationId xmlns:a16="http://schemas.microsoft.com/office/drawing/2014/main" id="{C342274A-07D8-4EC9-8C83-BFD0004343A1}"/>
              </a:ext>
            </a:extLst>
          </p:cNvPr>
          <p:cNvSpPr>
            <a:spLocks xmlns:a="http://schemas.openxmlformats.org/drawingml/2006/main" noGrp="1"/>
          </p:cNvSpPr>
          <p:nvPr/>
        </p:nvSpPr>
        <p:spPr>
          <a:xfrm xmlns:a="http://schemas.openxmlformats.org/drawingml/2006/main">
            <a:off x="6996074" y="4096512"/>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59" name="Shape 57">
            <a:extLst xmlns:a="http://schemas.openxmlformats.org/drawingml/2006/main">
              <a:ext uri="{FF2B5EF4-FFF2-40B4-BE49-F238E27FC236}">
                <a16:creationId xmlns:a16="http://schemas.microsoft.com/office/drawing/2014/main" id="{D275713A-4BB1-4F6C-A208-8F4EC90FF05F}"/>
              </a:ext>
            </a:extLst>
          </p:cNvPr>
          <p:cNvSpPr>
            <a:spLocks xmlns:a="http://schemas.openxmlformats.org/drawingml/2006/main" noGrp="1"/>
          </p:cNvSpPr>
          <p:nvPr/>
        </p:nvSpPr>
        <p:spPr>
          <a:xfrm xmlns:a="http://schemas.openxmlformats.org/drawingml/2006/main">
            <a:off x="8329498" y="4105656"/>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60" name="Text 58">
            <a:extLst xmlns:a="http://schemas.openxmlformats.org/drawingml/2006/main">
              <a:ext uri="{FF2B5EF4-FFF2-40B4-BE49-F238E27FC236}">
                <a16:creationId xmlns:a16="http://schemas.microsoft.com/office/drawing/2014/main" id="{78334EE8-A157-47E3-80B9-BF1A479E2437}"/>
              </a:ext>
            </a:extLst>
          </p:cNvPr>
          <p:cNvSpPr>
            <a:spLocks xmlns:a="http://schemas.openxmlformats.org/drawingml/2006/main" noGrp="1"/>
          </p:cNvSpPr>
          <p:nvPr/>
        </p:nvSpPr>
        <p:spPr>
          <a:xfrm xmlns:a="http://schemas.openxmlformats.org/drawingml/2006/main">
            <a:off x="8329498" y="4155948"/>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61" name="Text 59">
            <a:extLst xmlns:a="http://schemas.openxmlformats.org/drawingml/2006/main">
              <a:ext uri="{FF2B5EF4-FFF2-40B4-BE49-F238E27FC236}">
                <a16:creationId xmlns:a16="http://schemas.microsoft.com/office/drawing/2014/main" id="{B8DF58D5-0C41-4CB6-9372-1056A195DD89}"/>
              </a:ext>
            </a:extLst>
          </p:cNvPr>
          <p:cNvSpPr>
            <a:spLocks xmlns:a="http://schemas.openxmlformats.org/drawingml/2006/main" noGrp="1"/>
          </p:cNvSpPr>
          <p:nvPr/>
        </p:nvSpPr>
        <p:spPr>
          <a:xfrm xmlns:a="http://schemas.openxmlformats.org/drawingml/2006/main">
            <a:off x="9310421" y="4096512"/>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62" name="Shape 60">
            <a:extLst xmlns:a="http://schemas.openxmlformats.org/drawingml/2006/main">
              <a:ext uri="{FF2B5EF4-FFF2-40B4-BE49-F238E27FC236}">
                <a16:creationId xmlns:a16="http://schemas.microsoft.com/office/drawing/2014/main" id="{A0C1BBF8-FE4B-49DC-A563-15C4D06C78AC}"/>
              </a:ext>
            </a:extLst>
          </p:cNvPr>
          <p:cNvSpPr>
            <a:spLocks xmlns:a="http://schemas.openxmlformats.org/drawingml/2006/main" noGrp="1"/>
          </p:cNvSpPr>
          <p:nvPr/>
        </p:nvSpPr>
        <p:spPr>
          <a:xfrm xmlns:a="http://schemas.openxmlformats.org/drawingml/2006/main">
            <a:off x="10643845" y="4105656"/>
            <a:ext cx="804672" cy="274320"/>
          </a:xfrm>
          <a:prstGeom xmlns:a="http://schemas.openxmlformats.org/drawingml/2006/main" prst="roundRect">
            <a:avLst>
              <a:gd name="adj" fmla="val 33333"/>
            </a:avLst>
          </a:prstGeom>
          <a:solidFill xmlns:a="http://schemas.openxmlformats.org/drawingml/2006/main">
            <a:srgbClr val="B04A25"/>
          </a:solidFill>
        </p:spPr>
      </p:sp>
      <p:sp>
        <p:nvSpPr>
          <p:cNvPr id="63" name="Text 61">
            <a:extLst xmlns:a="http://schemas.openxmlformats.org/drawingml/2006/main">
              <a:ext uri="{FF2B5EF4-FFF2-40B4-BE49-F238E27FC236}">
                <a16:creationId xmlns:a16="http://schemas.microsoft.com/office/drawing/2014/main" id="{4C0214C9-3602-469E-8504-25464B1AB07F}"/>
              </a:ext>
            </a:extLst>
          </p:cNvPr>
          <p:cNvSpPr>
            <a:spLocks xmlns:a="http://schemas.openxmlformats.org/drawingml/2006/main" noGrp="1"/>
          </p:cNvSpPr>
          <p:nvPr/>
        </p:nvSpPr>
        <p:spPr>
          <a:xfrm xmlns:a="http://schemas.openxmlformats.org/drawingml/2006/main">
            <a:off x="10643845" y="4155948"/>
            <a:ext cx="8046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800"/>
              </a:lnSpc>
              <a:buNone/>
            </a:pPr>
            <a:r>
              <a:rPr sz="680" b="1">
                <a:solidFill>
                  <a:srgbClr val="FFFFFF"/>
                </a:solidFill>
                <a:latin typeface="Arial"/>
                <a:ea typeface="Arial"/>
                <a:cs typeface="Arial"/>
              </a:rPr>
              <a:t>EXTENDED</a:t>
            </a:r>
            <a:endParaRPr sz="680"/>
          </a:p>
        </p:txBody>
      </p:sp>
      <p:sp>
        <p:nvSpPr>
          <p:cNvPr id="64" name="Shape 62">
            <a:extLst xmlns:a="http://schemas.openxmlformats.org/drawingml/2006/main">
              <a:ext uri="{FF2B5EF4-FFF2-40B4-BE49-F238E27FC236}">
                <a16:creationId xmlns:a16="http://schemas.microsoft.com/office/drawing/2014/main" id="{90814A08-3746-46A5-84B3-A05DA898BF01}"/>
              </a:ext>
            </a:extLst>
          </p:cNvPr>
          <p:cNvSpPr>
            <a:spLocks xmlns:a="http://schemas.openxmlformats.org/drawingml/2006/main" noGrp="1"/>
          </p:cNvSpPr>
          <p:nvPr/>
        </p:nvSpPr>
        <p:spPr>
          <a:xfrm xmlns:a="http://schemas.openxmlformats.org/drawingml/2006/main">
            <a:off x="566928" y="4498848"/>
            <a:ext cx="11057839" cy="7315"/>
          </a:xfrm>
          <a:prstGeom xmlns:a="http://schemas.openxmlformats.org/drawingml/2006/main" prst="rect">
            <a:avLst/>
          </a:prstGeom>
          <a:solidFill xmlns:a="http://schemas.openxmlformats.org/drawingml/2006/main">
            <a:srgbClr val="CBD5E0"/>
          </a:solidFill>
        </p:spPr>
      </p:sp>
      <p:sp>
        <p:nvSpPr>
          <p:cNvPr id="65" name="Shape 63">
            <a:extLst xmlns:a="http://schemas.openxmlformats.org/drawingml/2006/main">
              <a:ext uri="{FF2B5EF4-FFF2-40B4-BE49-F238E27FC236}">
                <a16:creationId xmlns:a16="http://schemas.microsoft.com/office/drawing/2014/main" id="{48BF59A5-5075-4963-B1B4-D50619D12601}"/>
              </a:ext>
            </a:extLst>
          </p:cNvPr>
          <p:cNvSpPr>
            <a:spLocks xmlns:a="http://schemas.openxmlformats.org/drawingml/2006/main" noGrp="1"/>
          </p:cNvSpPr>
          <p:nvPr/>
        </p:nvSpPr>
        <p:spPr>
          <a:xfrm xmlns:a="http://schemas.openxmlformats.org/drawingml/2006/main">
            <a:off x="566928" y="4498848"/>
            <a:ext cx="11057839" cy="530352"/>
          </a:xfrm>
          <a:prstGeom xmlns:a="http://schemas.openxmlformats.org/drawingml/2006/main" prst="rect">
            <a:avLst/>
          </a:prstGeom>
          <a:solidFill xmlns:a="http://schemas.openxmlformats.org/drawingml/2006/main">
            <a:srgbClr val="F7F9FB"/>
          </a:solidFill>
        </p:spPr>
      </p:sp>
      <p:sp>
        <p:nvSpPr>
          <p:cNvPr id="66" name="Text 64">
            <a:extLst xmlns:a="http://schemas.openxmlformats.org/drawingml/2006/main">
              <a:ext uri="{FF2B5EF4-FFF2-40B4-BE49-F238E27FC236}">
                <a16:creationId xmlns:a16="http://schemas.microsoft.com/office/drawing/2014/main" id="{0424B392-7E6A-4C61-BF90-4109E4439973}"/>
              </a:ext>
            </a:extLst>
          </p:cNvPr>
          <p:cNvSpPr>
            <a:spLocks xmlns:a="http://schemas.openxmlformats.org/drawingml/2006/main" noGrp="1"/>
          </p:cNvSpPr>
          <p:nvPr/>
        </p:nvSpPr>
        <p:spPr>
          <a:xfrm xmlns:a="http://schemas.openxmlformats.org/drawingml/2006/main">
            <a:off x="676656" y="4590288"/>
            <a:ext cx="3840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40" b="1">
                <a:solidFill>
                  <a:srgbClr val="102A43"/>
                </a:solidFill>
                <a:latin typeface="Arial"/>
                <a:ea typeface="Arial"/>
                <a:cs typeface="Arial"/>
              </a:rPr>
              <a:t>Exception path</a:t>
            </a:r>
            <a:endParaRPr sz="1040"/>
          </a:p>
        </p:txBody>
      </p:sp>
      <p:sp>
        <p:nvSpPr>
          <p:cNvPr id="67" name="Text 65">
            <a:extLst xmlns:a="http://schemas.openxmlformats.org/drawingml/2006/main">
              <a:ext uri="{FF2B5EF4-FFF2-40B4-BE49-F238E27FC236}">
                <a16:creationId xmlns:a16="http://schemas.microsoft.com/office/drawing/2014/main" id="{C37B8D17-FAF6-46E5-9680-F37D8128C382}"/>
              </a:ext>
            </a:extLst>
          </p:cNvPr>
          <p:cNvSpPr>
            <a:spLocks xmlns:a="http://schemas.openxmlformats.org/drawingml/2006/main" noGrp="1"/>
          </p:cNvSpPr>
          <p:nvPr/>
        </p:nvSpPr>
        <p:spPr>
          <a:xfrm xmlns:a="http://schemas.openxmlformats.org/drawingml/2006/main">
            <a:off x="676656" y="4809744"/>
            <a:ext cx="384048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486581"/>
                </a:solidFill>
                <a:latin typeface="Arial"/>
                <a:ea typeface="Arial"/>
                <a:cs typeface="Arial"/>
              </a:rPr>
              <a:t>A designed route back to a human</a:t>
            </a:r>
            <a:endParaRPr sz="880"/>
          </a:p>
        </p:txBody>
      </p:sp>
      <p:sp>
        <p:nvSpPr>
          <p:cNvPr id="68" name="Text 66">
            <a:extLst xmlns:a="http://schemas.openxmlformats.org/drawingml/2006/main">
              <a:ext uri="{FF2B5EF4-FFF2-40B4-BE49-F238E27FC236}">
                <a16:creationId xmlns:a16="http://schemas.microsoft.com/office/drawing/2014/main" id="{A14B3F46-DC7A-4762-96D3-B87EEA6322BC}"/>
              </a:ext>
            </a:extLst>
          </p:cNvPr>
          <p:cNvSpPr>
            <a:spLocks xmlns:a="http://schemas.openxmlformats.org/drawingml/2006/main" noGrp="1"/>
          </p:cNvSpPr>
          <p:nvPr/>
        </p:nvSpPr>
        <p:spPr>
          <a:xfrm xmlns:a="http://schemas.openxmlformats.org/drawingml/2006/main">
            <a:off x="4681728" y="462686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69" name="Text 67">
            <a:extLst xmlns:a="http://schemas.openxmlformats.org/drawingml/2006/main">
              <a:ext uri="{FF2B5EF4-FFF2-40B4-BE49-F238E27FC236}">
                <a16:creationId xmlns:a16="http://schemas.microsoft.com/office/drawing/2014/main" id="{EBBFC05F-BCB1-488A-AABA-65AA083B4E64}"/>
              </a:ext>
            </a:extLst>
          </p:cNvPr>
          <p:cNvSpPr>
            <a:spLocks xmlns:a="http://schemas.openxmlformats.org/drawingml/2006/main" noGrp="1"/>
          </p:cNvSpPr>
          <p:nvPr/>
        </p:nvSpPr>
        <p:spPr>
          <a:xfrm xmlns:a="http://schemas.openxmlformats.org/drawingml/2006/main">
            <a:off x="5838901" y="462686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70" name="Text 68">
            <a:extLst xmlns:a="http://schemas.openxmlformats.org/drawingml/2006/main">
              <a:ext uri="{FF2B5EF4-FFF2-40B4-BE49-F238E27FC236}">
                <a16:creationId xmlns:a16="http://schemas.microsoft.com/office/drawing/2014/main" id="{44F094CB-3FF1-48CA-BBB3-19B346E84F5D}"/>
              </a:ext>
            </a:extLst>
          </p:cNvPr>
          <p:cNvSpPr>
            <a:spLocks xmlns:a="http://schemas.openxmlformats.org/drawingml/2006/main" noGrp="1"/>
          </p:cNvSpPr>
          <p:nvPr/>
        </p:nvSpPr>
        <p:spPr>
          <a:xfrm xmlns:a="http://schemas.openxmlformats.org/drawingml/2006/main">
            <a:off x="6996074" y="462686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71" name="Text 69">
            <a:extLst xmlns:a="http://schemas.openxmlformats.org/drawingml/2006/main">
              <a:ext uri="{FF2B5EF4-FFF2-40B4-BE49-F238E27FC236}">
                <a16:creationId xmlns:a16="http://schemas.microsoft.com/office/drawing/2014/main" id="{978974E4-8CB3-4C99-8F50-FF33AFA4186D}"/>
              </a:ext>
            </a:extLst>
          </p:cNvPr>
          <p:cNvSpPr>
            <a:spLocks xmlns:a="http://schemas.openxmlformats.org/drawingml/2006/main" noGrp="1"/>
          </p:cNvSpPr>
          <p:nvPr/>
        </p:nvSpPr>
        <p:spPr>
          <a:xfrm xmlns:a="http://schemas.openxmlformats.org/drawingml/2006/main">
            <a:off x="8153248" y="462686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72" name="Text 70">
            <a:extLst xmlns:a="http://schemas.openxmlformats.org/drawingml/2006/main">
              <a:ext uri="{FF2B5EF4-FFF2-40B4-BE49-F238E27FC236}">
                <a16:creationId xmlns:a16="http://schemas.microsoft.com/office/drawing/2014/main" id="{803F3160-0734-4C6C-9595-E8153BB90EB6}"/>
              </a:ext>
            </a:extLst>
          </p:cNvPr>
          <p:cNvSpPr>
            <a:spLocks xmlns:a="http://schemas.openxmlformats.org/drawingml/2006/main" noGrp="1"/>
          </p:cNvSpPr>
          <p:nvPr/>
        </p:nvSpPr>
        <p:spPr>
          <a:xfrm xmlns:a="http://schemas.openxmlformats.org/drawingml/2006/main">
            <a:off x="9310421" y="462686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73" name="Text 71">
            <a:extLst xmlns:a="http://schemas.openxmlformats.org/drawingml/2006/main">
              <a:ext uri="{FF2B5EF4-FFF2-40B4-BE49-F238E27FC236}">
                <a16:creationId xmlns:a16="http://schemas.microsoft.com/office/drawing/2014/main" id="{16450F5E-7E95-4135-B4F3-123B230F0142}"/>
              </a:ext>
            </a:extLst>
          </p:cNvPr>
          <p:cNvSpPr>
            <a:spLocks xmlns:a="http://schemas.openxmlformats.org/drawingml/2006/main" noGrp="1"/>
          </p:cNvSpPr>
          <p:nvPr/>
        </p:nvSpPr>
        <p:spPr>
          <a:xfrm xmlns:a="http://schemas.openxmlformats.org/drawingml/2006/main">
            <a:off x="10467594" y="4626864"/>
            <a:ext cx="1157173"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400">
                <a:solidFill>
                  <a:srgbClr val="486581"/>
                </a:solidFill>
                <a:latin typeface="Arial"/>
                <a:ea typeface="Arial"/>
                <a:cs typeface="Arial"/>
              </a:rPr>
              <a:t>●</a:t>
            </a:r>
            <a:endParaRPr sz="1400"/>
          </a:p>
        </p:txBody>
      </p:sp>
      <p:sp>
        <p:nvSpPr>
          <p:cNvPr id="74" name="Shape 72">
            <a:extLst xmlns:a="http://schemas.openxmlformats.org/drawingml/2006/main">
              <a:ext uri="{FF2B5EF4-FFF2-40B4-BE49-F238E27FC236}">
                <a16:creationId xmlns:a16="http://schemas.microsoft.com/office/drawing/2014/main" id="{ED5A8338-6767-4BFB-BD27-FF6A00D14D2C}"/>
              </a:ext>
            </a:extLst>
          </p:cNvPr>
          <p:cNvSpPr>
            <a:spLocks xmlns:a="http://schemas.openxmlformats.org/drawingml/2006/main" noGrp="1"/>
          </p:cNvSpPr>
          <p:nvPr/>
        </p:nvSpPr>
        <p:spPr>
          <a:xfrm xmlns:a="http://schemas.openxmlformats.org/drawingml/2006/main">
            <a:off x="566928" y="5029200"/>
            <a:ext cx="11057839" cy="7315"/>
          </a:xfrm>
          <a:prstGeom xmlns:a="http://schemas.openxmlformats.org/drawingml/2006/main" prst="rect">
            <a:avLst/>
          </a:prstGeom>
          <a:solidFill xmlns:a="http://schemas.openxmlformats.org/drawingml/2006/main">
            <a:srgbClr val="CBD5E0"/>
          </a:solidFill>
        </p:spPr>
      </p:sp>
      <p:sp>
        <p:nvSpPr>
          <p:cNvPr id="75" name="Text 73">
            <a:extLst xmlns:a="http://schemas.openxmlformats.org/drawingml/2006/main">
              <a:ext uri="{FF2B5EF4-FFF2-40B4-BE49-F238E27FC236}">
                <a16:creationId xmlns:a16="http://schemas.microsoft.com/office/drawing/2014/main" id="{2C3E35C8-260C-479E-A35F-86C2561B964F}"/>
              </a:ext>
            </a:extLst>
          </p:cNvPr>
          <p:cNvSpPr>
            <a:spLocks xmlns:a="http://schemas.openxmlformats.org/drawingml/2006/main" noGrp="1"/>
          </p:cNvSpPr>
          <p:nvPr/>
        </p:nvSpPr>
        <p:spPr>
          <a:xfrm xmlns:a="http://schemas.openxmlformats.org/drawingml/2006/main">
            <a:off x="566928" y="5157216"/>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a:solidFill>
                  <a:srgbClr val="627D98"/>
                </a:solidFill>
                <a:latin typeface="Arial"/>
                <a:ea typeface="Arial"/>
                <a:cs typeface="Arial"/>
              </a:rPr>
              <a:t>●  standard control applied as-is          EXTENDED  control extended for this journey          –  not applicable</a:t>
            </a:r>
            <a:endParaRPr sz="860"/>
          </a:p>
        </p:txBody>
      </p:sp>
      <p:sp>
        <p:nvSpPr>
          <p:cNvPr id="76" name="Shape 74">
            <a:extLst xmlns:a="http://schemas.openxmlformats.org/drawingml/2006/main">
              <a:ext uri="{FF2B5EF4-FFF2-40B4-BE49-F238E27FC236}">
                <a16:creationId xmlns:a16="http://schemas.microsoft.com/office/drawing/2014/main" id="{19FB0099-8B55-463A-83D6-2702837D9675}"/>
              </a:ext>
            </a:extLst>
          </p:cNvPr>
          <p:cNvSpPr>
            <a:spLocks xmlns:a="http://schemas.openxmlformats.org/drawingml/2006/main" noGrp="1"/>
          </p:cNvSpPr>
          <p:nvPr/>
        </p:nvSpPr>
        <p:spPr>
          <a:xfrm xmlns:a="http://schemas.openxmlformats.org/drawingml/2006/main">
            <a:off x="566928" y="5449824"/>
            <a:ext cx="11057839" cy="768096"/>
          </a:xfrm>
          <a:prstGeom xmlns:a="http://schemas.openxmlformats.org/drawingml/2006/main" prst="rect">
            <a:avLst/>
          </a:prstGeom>
          <a:solidFill xmlns:a="http://schemas.openxmlformats.org/drawingml/2006/main">
            <a:srgbClr val="F3E6E0"/>
          </a:solidFill>
        </p:spPr>
      </p:sp>
      <p:sp>
        <p:nvSpPr>
          <p:cNvPr id="77" name="Text 75">
            <a:extLst xmlns:a="http://schemas.openxmlformats.org/drawingml/2006/main">
              <a:ext uri="{FF2B5EF4-FFF2-40B4-BE49-F238E27FC236}">
                <a16:creationId xmlns:a16="http://schemas.microsoft.com/office/drawing/2014/main" id="{0F7CF75C-CDBA-4047-8FB3-500873FA34E3}"/>
              </a:ext>
            </a:extLst>
          </p:cNvPr>
          <p:cNvSpPr>
            <a:spLocks xmlns:a="http://schemas.openxmlformats.org/drawingml/2006/main" noGrp="1"/>
          </p:cNvSpPr>
          <p:nvPr/>
        </p:nvSpPr>
        <p:spPr>
          <a:xfrm xmlns:a="http://schemas.openxmlformats.org/drawingml/2006/main">
            <a:off x="804672" y="5577840"/>
            <a:ext cx="10582351"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 cross-entity journey extended four of six controls — which is exactly where the design time went, and why it was the last of the six to ship despite being commissioned second. Designing controls in from sprint one was the speed strategy, not a constraint on it: a journey that arrives at review with controls bolted on goes to the back of the assurance queue.</a:t>
            </a:r>
            <a:endParaRPr sz="1000"/>
          </a:p>
        </p:txBody>
      </p:sp>
      <p:sp>
        <p:nvSpPr>
          <p:cNvPr id="78" name="Shape 76">
            <a:extLst xmlns:a="http://schemas.openxmlformats.org/drawingml/2006/main">
              <a:ext uri="{FF2B5EF4-FFF2-40B4-BE49-F238E27FC236}">
                <a16:creationId xmlns:a16="http://schemas.microsoft.com/office/drawing/2014/main" id="{56ED6465-BC68-45B1-B673-9DA24CEC202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79" name="Text 77">
            <a:extLst xmlns:a="http://schemas.openxmlformats.org/drawingml/2006/main">
              <a:ext uri="{FF2B5EF4-FFF2-40B4-BE49-F238E27FC236}">
                <a16:creationId xmlns:a16="http://schemas.microsoft.com/office/drawing/2014/main" id="{1C6ABF53-5B5D-459D-B28D-922BF97D6D1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a:t>
            </a:r>
            <a:endParaRPr sz="850"/>
          </a:p>
        </p:txBody>
      </p:sp>
      <p:sp>
        <p:nvSpPr>
          <p:cNvPr id="80" name="Text 78">
            <a:extLst xmlns:a="http://schemas.openxmlformats.org/drawingml/2006/main">
              <a:ext uri="{FF2B5EF4-FFF2-40B4-BE49-F238E27FC236}">
                <a16:creationId xmlns:a16="http://schemas.microsoft.com/office/drawing/2014/main" id="{A122DB4D-B2A7-4466-9FA5-54B8AA3A1AB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14</a:t>
            </a:r>
            <a:endParaRPr sz="850"/>
          </a:p>
        </p:txBody>
      </p:sp>
    </p:spTree>
    <p:extLst>
      <p:ext uri="{BB962C8B-B14F-4D97-AF65-F5344CB8AC3E}">
        <p14:creationId xmlns:p14="http://schemas.microsoft.com/office/powerpoint/2010/main" val="1036429336"/>
      </p:ext>
    </p:extLst>
  </p:cSld>
</p:sld>
</file>

<file path=ppt/slides/slide5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74B4AEF-447E-4E1A-800B-42BF1020FBA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VALUE MODEL  ·  ILLUSTRATIVE</a:t>
            </a:r>
            <a:endParaRPr sz="950"/>
          </a:p>
        </p:txBody>
      </p:sp>
      <p:sp>
        <p:nvSpPr>
          <p:cNvPr id="3" name="Text 1">
            <a:extLst xmlns:a="http://schemas.openxmlformats.org/drawingml/2006/main">
              <a:ext uri="{FF2B5EF4-FFF2-40B4-BE49-F238E27FC236}">
                <a16:creationId xmlns:a16="http://schemas.microsoft.com/office/drawing/2014/main" id="{C4B2FD49-577D-4308-84DC-75FECE2E66E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business case was built bottom-up per journey — volume × rate change × unit</a:t>
            </a:r>
            <a:endParaRPr sz="1900"/>
          </a:p>
          <a:p xmlns:a="http://schemas.openxmlformats.org/drawingml/2006/main">
            <a:pPr marL="0" indent="0">
              <a:lnSpc>
                <a:spcPts val="2400"/>
              </a:lnSpc>
              <a:buNone/>
            </a:pPr>
            <a:r>
              <a:rPr sz="1900" b="1">
                <a:solidFill>
                  <a:srgbClr val="102A43"/>
                </a:solidFill>
                <a:latin typeface="Arial"/>
                <a:ea typeface="Arial"/>
                <a:cs typeface="Arial"/>
              </a:rPr>
              <a:t>value — so every number traces to an assumption a sponsor can challenge</a:t>
            </a:r>
            <a:endParaRPr sz="1900"/>
          </a:p>
        </p:txBody>
      </p:sp>
      <p:sp>
        <p:nvSpPr>
          <p:cNvPr id="4" name="Shape 2">
            <a:extLst xmlns:a="http://schemas.openxmlformats.org/drawingml/2006/main">
              <a:ext uri="{FF2B5EF4-FFF2-40B4-BE49-F238E27FC236}">
                <a16:creationId xmlns:a16="http://schemas.microsoft.com/office/drawing/2014/main" id="{32FBE3F6-884B-43E6-8424-E0E01091409B}"/>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A809E47F-2178-4E95-8B0B-B676460794A1}"/>
              </a:ext>
            </a:extLst>
          </p:cNvPr>
          <p:cNvSpPr>
            <a:spLocks xmlns:a="http://schemas.openxmlformats.org/drawingml/2006/main" noGrp="1"/>
          </p:cNvSpPr>
          <p:nvPr/>
        </p:nvSpPr>
        <p:spPr>
          <a:xfrm xmlns:a="http://schemas.openxmlformats.org/drawingml/2006/main">
            <a:off x="676656" y="1444752"/>
            <a:ext cx="28895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Journey</a:t>
            </a:r>
            <a:endParaRPr sz="920"/>
          </a:p>
        </p:txBody>
      </p:sp>
      <p:sp>
        <p:nvSpPr>
          <p:cNvPr id="6" name="Text 4">
            <a:extLst xmlns:a="http://schemas.openxmlformats.org/drawingml/2006/main">
              <a:ext uri="{FF2B5EF4-FFF2-40B4-BE49-F238E27FC236}">
                <a16:creationId xmlns:a16="http://schemas.microsoft.com/office/drawing/2014/main" id="{95803FF8-9F48-4A1F-9118-3A5EC6BBDED3}"/>
              </a:ext>
            </a:extLst>
          </p:cNvPr>
          <p:cNvSpPr>
            <a:spLocks xmlns:a="http://schemas.openxmlformats.org/drawingml/2006/main" noGrp="1"/>
          </p:cNvSpPr>
          <p:nvPr/>
        </p:nvSpPr>
        <p:spPr>
          <a:xfrm xmlns:a="http://schemas.openxmlformats.org/drawingml/2006/main">
            <a:off x="3877056" y="1444752"/>
            <a:ext cx="2112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Volume assumption</a:t>
            </a:r>
            <a:endParaRPr sz="920"/>
          </a:p>
        </p:txBody>
      </p:sp>
      <p:sp>
        <p:nvSpPr>
          <p:cNvPr id="7" name="Text 5">
            <a:extLst xmlns:a="http://schemas.openxmlformats.org/drawingml/2006/main">
              <a:ext uri="{FF2B5EF4-FFF2-40B4-BE49-F238E27FC236}">
                <a16:creationId xmlns:a16="http://schemas.microsoft.com/office/drawing/2014/main" id="{389D45C8-D673-48CB-AEBC-808B77EAF922}"/>
              </a:ext>
            </a:extLst>
          </p:cNvPr>
          <p:cNvSpPr>
            <a:spLocks xmlns:a="http://schemas.openxmlformats.org/drawingml/2006/main" noGrp="1"/>
          </p:cNvSpPr>
          <p:nvPr/>
        </p:nvSpPr>
        <p:spPr>
          <a:xfrm xmlns:a="http://schemas.openxmlformats.org/drawingml/2006/main">
            <a:off x="6300216" y="1444752"/>
            <a:ext cx="26609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Rate change modelled</a:t>
            </a:r>
            <a:endParaRPr sz="920"/>
          </a:p>
        </p:txBody>
      </p:sp>
      <p:sp>
        <p:nvSpPr>
          <p:cNvPr id="8" name="Text 6">
            <a:extLst xmlns:a="http://schemas.openxmlformats.org/drawingml/2006/main">
              <a:ext uri="{FF2B5EF4-FFF2-40B4-BE49-F238E27FC236}">
                <a16:creationId xmlns:a16="http://schemas.microsoft.com/office/drawing/2014/main" id="{3FB5A221-A0CE-4DA8-80D0-9D8167742B65}"/>
              </a:ext>
            </a:extLst>
          </p:cNvPr>
          <p:cNvSpPr>
            <a:spLocks xmlns:a="http://schemas.openxmlformats.org/drawingml/2006/main" noGrp="1"/>
          </p:cNvSpPr>
          <p:nvPr/>
        </p:nvSpPr>
        <p:spPr>
          <a:xfrm xmlns:a="http://schemas.openxmlformats.org/drawingml/2006/main">
            <a:off x="9272016" y="1444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Modelled monthly effect</a:t>
            </a:r>
            <a:endParaRPr sz="920"/>
          </a:p>
        </p:txBody>
      </p:sp>
      <p:sp>
        <p:nvSpPr>
          <p:cNvPr id="9" name="Text 7">
            <a:extLst xmlns:a="http://schemas.openxmlformats.org/drawingml/2006/main">
              <a:ext uri="{FF2B5EF4-FFF2-40B4-BE49-F238E27FC236}">
                <a16:creationId xmlns:a16="http://schemas.microsoft.com/office/drawing/2014/main" id="{17061D67-1933-4477-9919-5B26415B4ABB}"/>
              </a:ext>
            </a:extLst>
          </p:cNvPr>
          <p:cNvSpPr>
            <a:spLocks xmlns:a="http://schemas.openxmlformats.org/drawingml/2006/main" noGrp="1"/>
          </p:cNvSpPr>
          <p:nvPr/>
        </p:nvSpPr>
        <p:spPr>
          <a:xfrm xmlns:a="http://schemas.openxmlformats.org/drawingml/2006/main">
            <a:off x="676656" y="1828800"/>
            <a:ext cx="28895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Digital account funding</a:t>
            </a:r>
            <a:endParaRPr sz="1000"/>
          </a:p>
        </p:txBody>
      </p:sp>
      <p:sp>
        <p:nvSpPr>
          <p:cNvPr id="10" name="Text 8">
            <a:extLst xmlns:a="http://schemas.openxmlformats.org/drawingml/2006/main">
              <a:ext uri="{FF2B5EF4-FFF2-40B4-BE49-F238E27FC236}">
                <a16:creationId xmlns:a16="http://schemas.microsoft.com/office/drawing/2014/main" id="{916240C0-6779-4864-9337-9C19744BD2BA}"/>
              </a:ext>
            </a:extLst>
          </p:cNvPr>
          <p:cNvSpPr>
            <a:spLocks xmlns:a="http://schemas.openxmlformats.org/drawingml/2006/main" noGrp="1"/>
          </p:cNvSpPr>
          <p:nvPr/>
        </p:nvSpPr>
        <p:spPr>
          <a:xfrm xmlns:a="http://schemas.openxmlformats.org/drawingml/2006/main">
            <a:off x="3877056" y="1828800"/>
            <a:ext cx="21122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200,000 accounts / mo</a:t>
            </a:r>
            <a:endParaRPr sz="940"/>
          </a:p>
        </p:txBody>
      </p:sp>
      <p:sp>
        <p:nvSpPr>
          <p:cNvPr id="11" name="Text 9">
            <a:extLst xmlns:a="http://schemas.openxmlformats.org/drawingml/2006/main">
              <a:ext uri="{FF2B5EF4-FFF2-40B4-BE49-F238E27FC236}">
                <a16:creationId xmlns:a16="http://schemas.microsoft.com/office/drawing/2014/main" id="{E64E4C2B-C604-4973-95E9-A35D32F37438}"/>
              </a:ext>
            </a:extLst>
          </p:cNvPr>
          <p:cNvSpPr>
            <a:spLocks xmlns:a="http://schemas.openxmlformats.org/drawingml/2006/main" noGrp="1"/>
          </p:cNvSpPr>
          <p:nvPr/>
        </p:nvSpPr>
        <p:spPr>
          <a:xfrm xmlns:a="http://schemas.openxmlformats.org/drawingml/2006/main">
            <a:off x="6300216" y="1828800"/>
            <a:ext cx="26609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34% → 61% funded in session</a:t>
            </a:r>
            <a:endParaRPr sz="940"/>
          </a:p>
        </p:txBody>
      </p:sp>
      <p:sp>
        <p:nvSpPr>
          <p:cNvPr id="12" name="Text 10">
            <a:extLst xmlns:a="http://schemas.openxmlformats.org/drawingml/2006/main">
              <a:ext uri="{FF2B5EF4-FFF2-40B4-BE49-F238E27FC236}">
                <a16:creationId xmlns:a16="http://schemas.microsoft.com/office/drawing/2014/main" id="{57B3E35F-8595-4AAE-BB4C-4E41396C8123}"/>
              </a:ext>
            </a:extLst>
          </p:cNvPr>
          <p:cNvSpPr>
            <a:spLocks xmlns:a="http://schemas.openxmlformats.org/drawingml/2006/main" noGrp="1"/>
          </p:cNvSpPr>
          <p:nvPr/>
        </p:nvSpPr>
        <p:spPr>
          <a:xfrm xmlns:a="http://schemas.openxmlformats.org/drawingml/2006/main">
            <a:off x="9272016" y="181051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B04A25"/>
                </a:solidFill>
                <a:latin typeface="Arial"/>
                <a:ea typeface="Arial"/>
                <a:cs typeface="Arial"/>
              </a:rPr>
              <a:t>+54,000 funded / mo</a:t>
            </a:r>
            <a:endParaRPr sz="1000"/>
          </a:p>
        </p:txBody>
      </p:sp>
      <p:sp>
        <p:nvSpPr>
          <p:cNvPr id="13" name="Shape 11">
            <a:extLst xmlns:a="http://schemas.openxmlformats.org/drawingml/2006/main">
              <a:ext uri="{FF2B5EF4-FFF2-40B4-BE49-F238E27FC236}">
                <a16:creationId xmlns:a16="http://schemas.microsoft.com/office/drawing/2014/main" id="{D18E81B3-246C-4A1D-8CDA-99B33CF83A6D}"/>
              </a:ext>
            </a:extLst>
          </p:cNvPr>
          <p:cNvSpPr>
            <a:spLocks xmlns:a="http://schemas.openxmlformats.org/drawingml/2006/main" noGrp="1"/>
          </p:cNvSpPr>
          <p:nvPr/>
        </p:nvSpPr>
        <p:spPr>
          <a:xfrm xmlns:a="http://schemas.openxmlformats.org/drawingml/2006/main">
            <a:off x="566928" y="2157984"/>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106BD96C-DD4E-4FFB-B780-E9047B633827}"/>
              </a:ext>
            </a:extLst>
          </p:cNvPr>
          <p:cNvSpPr>
            <a:spLocks xmlns:a="http://schemas.openxmlformats.org/drawingml/2006/main" noGrp="1"/>
          </p:cNvSpPr>
          <p:nvPr/>
        </p:nvSpPr>
        <p:spPr>
          <a:xfrm xmlns:a="http://schemas.openxmlformats.org/drawingml/2006/main">
            <a:off x="566928" y="2157984"/>
            <a:ext cx="11057839" cy="457200"/>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AADBDACF-F93B-4160-A737-688FE5108E4B}"/>
              </a:ext>
            </a:extLst>
          </p:cNvPr>
          <p:cNvSpPr>
            <a:spLocks xmlns:a="http://schemas.openxmlformats.org/drawingml/2006/main" noGrp="1"/>
          </p:cNvSpPr>
          <p:nvPr/>
        </p:nvSpPr>
        <p:spPr>
          <a:xfrm xmlns:a="http://schemas.openxmlformats.org/drawingml/2006/main">
            <a:off x="676656" y="2286000"/>
            <a:ext cx="28895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Loan servicing self-help</a:t>
            </a:r>
            <a:endParaRPr sz="1000"/>
          </a:p>
        </p:txBody>
      </p:sp>
      <p:sp>
        <p:nvSpPr>
          <p:cNvPr id="16" name="Text 14">
            <a:extLst xmlns:a="http://schemas.openxmlformats.org/drawingml/2006/main">
              <a:ext uri="{FF2B5EF4-FFF2-40B4-BE49-F238E27FC236}">
                <a16:creationId xmlns:a16="http://schemas.microsoft.com/office/drawing/2014/main" id="{8A92FEAC-7635-48F7-9063-8B54990C6417}"/>
              </a:ext>
            </a:extLst>
          </p:cNvPr>
          <p:cNvSpPr>
            <a:spLocks xmlns:a="http://schemas.openxmlformats.org/drawingml/2006/main" noGrp="1"/>
          </p:cNvSpPr>
          <p:nvPr/>
        </p:nvSpPr>
        <p:spPr>
          <a:xfrm xmlns:a="http://schemas.openxmlformats.org/drawingml/2006/main">
            <a:off x="3877056" y="2286000"/>
            <a:ext cx="21122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420,000 requests / mo</a:t>
            </a:r>
            <a:endParaRPr sz="940"/>
          </a:p>
        </p:txBody>
      </p:sp>
      <p:sp>
        <p:nvSpPr>
          <p:cNvPr id="17" name="Text 15">
            <a:extLst xmlns:a="http://schemas.openxmlformats.org/drawingml/2006/main">
              <a:ext uri="{FF2B5EF4-FFF2-40B4-BE49-F238E27FC236}">
                <a16:creationId xmlns:a16="http://schemas.microsoft.com/office/drawing/2014/main" id="{6CE3E5E8-5938-474B-A81C-0256E382E49F}"/>
              </a:ext>
            </a:extLst>
          </p:cNvPr>
          <p:cNvSpPr>
            <a:spLocks xmlns:a="http://schemas.openxmlformats.org/drawingml/2006/main" noGrp="1"/>
          </p:cNvSpPr>
          <p:nvPr/>
        </p:nvSpPr>
        <p:spPr>
          <a:xfrm xmlns:a="http://schemas.openxmlformats.org/drawingml/2006/main">
            <a:off x="6300216" y="2286000"/>
            <a:ext cx="26609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38% blended deflection</a:t>
            </a:r>
            <a:endParaRPr sz="940"/>
          </a:p>
        </p:txBody>
      </p:sp>
      <p:sp>
        <p:nvSpPr>
          <p:cNvPr id="18" name="Text 16">
            <a:extLst xmlns:a="http://schemas.openxmlformats.org/drawingml/2006/main">
              <a:ext uri="{FF2B5EF4-FFF2-40B4-BE49-F238E27FC236}">
                <a16:creationId xmlns:a16="http://schemas.microsoft.com/office/drawing/2014/main" id="{18D7E49E-3A89-4645-9398-6D2107511EF6}"/>
              </a:ext>
            </a:extLst>
          </p:cNvPr>
          <p:cNvSpPr>
            <a:spLocks xmlns:a="http://schemas.openxmlformats.org/drawingml/2006/main" noGrp="1"/>
          </p:cNvSpPr>
          <p:nvPr/>
        </p:nvSpPr>
        <p:spPr>
          <a:xfrm xmlns:a="http://schemas.openxmlformats.org/drawingml/2006/main">
            <a:off x="9272016" y="226771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486581"/>
                </a:solidFill>
                <a:latin typeface="Arial"/>
                <a:ea typeface="Arial"/>
                <a:cs typeface="Arial"/>
              </a:rPr>
              <a:t>≈17,300 agent-hours / mo</a:t>
            </a:r>
            <a:endParaRPr sz="1000"/>
          </a:p>
        </p:txBody>
      </p:sp>
      <p:sp>
        <p:nvSpPr>
          <p:cNvPr id="19" name="Shape 17">
            <a:extLst xmlns:a="http://schemas.openxmlformats.org/drawingml/2006/main">
              <a:ext uri="{FF2B5EF4-FFF2-40B4-BE49-F238E27FC236}">
                <a16:creationId xmlns:a16="http://schemas.microsoft.com/office/drawing/2014/main" id="{71261372-7FE2-47EF-9D77-08C44930652B}"/>
              </a:ext>
            </a:extLst>
          </p:cNvPr>
          <p:cNvSpPr>
            <a:spLocks xmlns:a="http://schemas.openxmlformats.org/drawingml/2006/main" noGrp="1"/>
          </p:cNvSpPr>
          <p:nvPr/>
        </p:nvSpPr>
        <p:spPr>
          <a:xfrm xmlns:a="http://schemas.openxmlformats.org/drawingml/2006/main">
            <a:off x="566928" y="2615184"/>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ACA90B40-2721-44CD-AEBA-45FFCBD5B24D}"/>
              </a:ext>
            </a:extLst>
          </p:cNvPr>
          <p:cNvSpPr>
            <a:spLocks xmlns:a="http://schemas.openxmlformats.org/drawingml/2006/main" noGrp="1"/>
          </p:cNvSpPr>
          <p:nvPr/>
        </p:nvSpPr>
        <p:spPr>
          <a:xfrm xmlns:a="http://schemas.openxmlformats.org/drawingml/2006/main">
            <a:off x="676656" y="2743200"/>
            <a:ext cx="28895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Depository KYC update</a:t>
            </a:r>
            <a:endParaRPr sz="1000"/>
          </a:p>
        </p:txBody>
      </p:sp>
      <p:sp>
        <p:nvSpPr>
          <p:cNvPr id="21" name="Text 19">
            <a:extLst xmlns:a="http://schemas.openxmlformats.org/drawingml/2006/main">
              <a:ext uri="{FF2B5EF4-FFF2-40B4-BE49-F238E27FC236}">
                <a16:creationId xmlns:a16="http://schemas.microsoft.com/office/drawing/2014/main" id="{2EA60255-E1C5-4B1B-8988-23215C57D54C}"/>
              </a:ext>
            </a:extLst>
          </p:cNvPr>
          <p:cNvSpPr>
            <a:spLocks xmlns:a="http://schemas.openxmlformats.org/drawingml/2006/main" noGrp="1"/>
          </p:cNvSpPr>
          <p:nvPr/>
        </p:nvSpPr>
        <p:spPr>
          <a:xfrm xmlns:a="http://schemas.openxmlformats.org/drawingml/2006/main">
            <a:off x="3877056" y="2743200"/>
            <a:ext cx="21122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95,000 updates / mo</a:t>
            </a:r>
            <a:endParaRPr sz="940"/>
          </a:p>
        </p:txBody>
      </p:sp>
      <p:sp>
        <p:nvSpPr>
          <p:cNvPr id="22" name="Text 20">
            <a:extLst xmlns:a="http://schemas.openxmlformats.org/drawingml/2006/main">
              <a:ext uri="{FF2B5EF4-FFF2-40B4-BE49-F238E27FC236}">
                <a16:creationId xmlns:a16="http://schemas.microsoft.com/office/drawing/2014/main" id="{175438D3-5502-4118-9F8B-E199430B555E}"/>
              </a:ext>
            </a:extLst>
          </p:cNvPr>
          <p:cNvSpPr>
            <a:spLocks xmlns:a="http://schemas.openxmlformats.org/drawingml/2006/main" noGrp="1"/>
          </p:cNvSpPr>
          <p:nvPr/>
        </p:nvSpPr>
        <p:spPr>
          <a:xfrm xmlns:a="http://schemas.openxmlformats.org/drawingml/2006/main">
            <a:off x="6300216" y="2743200"/>
            <a:ext cx="26609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72% straight-through</a:t>
            </a:r>
            <a:endParaRPr sz="940"/>
          </a:p>
        </p:txBody>
      </p:sp>
      <p:sp>
        <p:nvSpPr>
          <p:cNvPr id="23" name="Text 21">
            <a:extLst xmlns:a="http://schemas.openxmlformats.org/drawingml/2006/main">
              <a:ext uri="{FF2B5EF4-FFF2-40B4-BE49-F238E27FC236}">
                <a16:creationId xmlns:a16="http://schemas.microsoft.com/office/drawing/2014/main" id="{ED673722-8C70-45DA-8ECC-6385B63B4636}"/>
              </a:ext>
            </a:extLst>
          </p:cNvPr>
          <p:cNvSpPr>
            <a:spLocks xmlns:a="http://schemas.openxmlformats.org/drawingml/2006/main" noGrp="1"/>
          </p:cNvSpPr>
          <p:nvPr/>
        </p:nvSpPr>
        <p:spPr>
          <a:xfrm xmlns:a="http://schemas.openxmlformats.org/drawingml/2006/main">
            <a:off x="9272016" y="272491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486581"/>
                </a:solidFill>
                <a:latin typeface="Arial"/>
                <a:ea typeface="Arial"/>
                <a:cs typeface="Arial"/>
              </a:rPr>
              <a:t>≈68,000 branch touches removed</a:t>
            </a:r>
            <a:endParaRPr sz="1000"/>
          </a:p>
        </p:txBody>
      </p:sp>
      <p:sp>
        <p:nvSpPr>
          <p:cNvPr id="24" name="Shape 22">
            <a:extLst xmlns:a="http://schemas.openxmlformats.org/drawingml/2006/main">
              <a:ext uri="{FF2B5EF4-FFF2-40B4-BE49-F238E27FC236}">
                <a16:creationId xmlns:a16="http://schemas.microsoft.com/office/drawing/2014/main" id="{005943AF-CBE3-417D-A796-BADB40BB82CF}"/>
              </a:ext>
            </a:extLst>
          </p:cNvPr>
          <p:cNvSpPr>
            <a:spLocks xmlns:a="http://schemas.openxmlformats.org/drawingml/2006/main" noGrp="1"/>
          </p:cNvSpPr>
          <p:nvPr/>
        </p:nvSpPr>
        <p:spPr>
          <a:xfrm xmlns:a="http://schemas.openxmlformats.org/drawingml/2006/main">
            <a:off x="566928" y="3072384"/>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118A7935-C9EF-4FEB-A26F-6F70F2B7E357}"/>
              </a:ext>
            </a:extLst>
          </p:cNvPr>
          <p:cNvSpPr>
            <a:spLocks xmlns:a="http://schemas.openxmlformats.org/drawingml/2006/main" noGrp="1"/>
          </p:cNvSpPr>
          <p:nvPr/>
        </p:nvSpPr>
        <p:spPr>
          <a:xfrm xmlns:a="http://schemas.openxmlformats.org/drawingml/2006/main">
            <a:off x="566928" y="3072384"/>
            <a:ext cx="11057839" cy="457200"/>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DB2C09ED-18D0-4D21-A8BE-D83403075AA9}"/>
              </a:ext>
            </a:extLst>
          </p:cNvPr>
          <p:cNvSpPr>
            <a:spLocks xmlns:a="http://schemas.openxmlformats.org/drawingml/2006/main" noGrp="1"/>
          </p:cNvSpPr>
          <p:nvPr/>
        </p:nvSpPr>
        <p:spPr>
          <a:xfrm xmlns:a="http://schemas.openxmlformats.org/drawingml/2006/main">
            <a:off x="676656" y="3200400"/>
            <a:ext cx="28895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Group health insurance</a:t>
            </a:r>
            <a:endParaRPr sz="1000"/>
          </a:p>
        </p:txBody>
      </p:sp>
      <p:sp>
        <p:nvSpPr>
          <p:cNvPr id="27" name="Text 25">
            <a:extLst xmlns:a="http://schemas.openxmlformats.org/drawingml/2006/main">
              <a:ext uri="{FF2B5EF4-FFF2-40B4-BE49-F238E27FC236}">
                <a16:creationId xmlns:a16="http://schemas.microsoft.com/office/drawing/2014/main" id="{B2359F0A-A057-4307-9DEB-1A5B88D45E4B}"/>
              </a:ext>
            </a:extLst>
          </p:cNvPr>
          <p:cNvSpPr>
            <a:spLocks xmlns:a="http://schemas.openxmlformats.org/drawingml/2006/main" noGrp="1"/>
          </p:cNvSpPr>
          <p:nvPr/>
        </p:nvSpPr>
        <p:spPr>
          <a:xfrm xmlns:a="http://schemas.openxmlformats.org/drawingml/2006/main">
            <a:off x="3877056" y="3200400"/>
            <a:ext cx="21122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85,000 offers / mo</a:t>
            </a:r>
            <a:endParaRPr sz="940"/>
          </a:p>
        </p:txBody>
      </p:sp>
      <p:sp>
        <p:nvSpPr>
          <p:cNvPr id="28" name="Text 26">
            <a:extLst xmlns:a="http://schemas.openxmlformats.org/drawingml/2006/main">
              <a:ext uri="{FF2B5EF4-FFF2-40B4-BE49-F238E27FC236}">
                <a16:creationId xmlns:a16="http://schemas.microsoft.com/office/drawing/2014/main" id="{B348B05E-D4DA-436B-82A6-3B3DE4F92682}"/>
              </a:ext>
            </a:extLst>
          </p:cNvPr>
          <p:cNvSpPr>
            <a:spLocks xmlns:a="http://schemas.openxmlformats.org/drawingml/2006/main" noGrp="1"/>
          </p:cNvSpPr>
          <p:nvPr/>
        </p:nvSpPr>
        <p:spPr>
          <a:xfrm xmlns:a="http://schemas.openxmlformats.org/drawingml/2006/main">
            <a:off x="6300216" y="3200400"/>
            <a:ext cx="26609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2.1% → 3.4% issued</a:t>
            </a:r>
            <a:endParaRPr sz="940"/>
          </a:p>
        </p:txBody>
      </p:sp>
      <p:sp>
        <p:nvSpPr>
          <p:cNvPr id="29" name="Text 27">
            <a:extLst xmlns:a="http://schemas.openxmlformats.org/drawingml/2006/main">
              <a:ext uri="{FF2B5EF4-FFF2-40B4-BE49-F238E27FC236}">
                <a16:creationId xmlns:a16="http://schemas.microsoft.com/office/drawing/2014/main" id="{A98C9789-D481-448F-8ADF-BAAC31DB1014}"/>
              </a:ext>
            </a:extLst>
          </p:cNvPr>
          <p:cNvSpPr>
            <a:spLocks xmlns:a="http://schemas.openxmlformats.org/drawingml/2006/main" noGrp="1"/>
          </p:cNvSpPr>
          <p:nvPr/>
        </p:nvSpPr>
        <p:spPr>
          <a:xfrm xmlns:a="http://schemas.openxmlformats.org/drawingml/2006/main">
            <a:off x="9272016" y="318211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B04A25"/>
                </a:solidFill>
                <a:latin typeface="Arial"/>
                <a:ea typeface="Arial"/>
                <a:cs typeface="Arial"/>
              </a:rPr>
              <a:t>+1,100 policies / mo</a:t>
            </a:r>
            <a:endParaRPr sz="1000"/>
          </a:p>
        </p:txBody>
      </p:sp>
      <p:sp>
        <p:nvSpPr>
          <p:cNvPr id="30" name="Shape 28">
            <a:extLst xmlns:a="http://schemas.openxmlformats.org/drawingml/2006/main">
              <a:ext uri="{FF2B5EF4-FFF2-40B4-BE49-F238E27FC236}">
                <a16:creationId xmlns:a16="http://schemas.microsoft.com/office/drawing/2014/main" id="{006BA8B3-E23A-49EA-A27B-E10328C4794C}"/>
              </a:ext>
            </a:extLst>
          </p:cNvPr>
          <p:cNvSpPr>
            <a:spLocks xmlns:a="http://schemas.openxmlformats.org/drawingml/2006/main" noGrp="1"/>
          </p:cNvSpPr>
          <p:nvPr/>
        </p:nvSpPr>
        <p:spPr>
          <a:xfrm xmlns:a="http://schemas.openxmlformats.org/drawingml/2006/main">
            <a:off x="566928" y="3529584"/>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236B348E-5436-44F1-BC15-B08E5B105BA4}"/>
              </a:ext>
            </a:extLst>
          </p:cNvPr>
          <p:cNvSpPr>
            <a:spLocks xmlns:a="http://schemas.openxmlformats.org/drawingml/2006/main" noGrp="1"/>
          </p:cNvSpPr>
          <p:nvPr/>
        </p:nvSpPr>
        <p:spPr>
          <a:xfrm xmlns:a="http://schemas.openxmlformats.org/drawingml/2006/main">
            <a:off x="676656" y="3657600"/>
            <a:ext cx="28895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Commercial card application</a:t>
            </a:r>
            <a:endParaRPr sz="1000"/>
          </a:p>
        </p:txBody>
      </p:sp>
      <p:sp>
        <p:nvSpPr>
          <p:cNvPr id="32" name="Text 30">
            <a:extLst xmlns:a="http://schemas.openxmlformats.org/drawingml/2006/main">
              <a:ext uri="{FF2B5EF4-FFF2-40B4-BE49-F238E27FC236}">
                <a16:creationId xmlns:a16="http://schemas.microsoft.com/office/drawing/2014/main" id="{7E17E665-AD95-43A9-A100-C799C5A83A4E}"/>
              </a:ext>
            </a:extLst>
          </p:cNvPr>
          <p:cNvSpPr>
            <a:spLocks xmlns:a="http://schemas.openxmlformats.org/drawingml/2006/main" noGrp="1"/>
          </p:cNvSpPr>
          <p:nvPr/>
        </p:nvSpPr>
        <p:spPr>
          <a:xfrm xmlns:a="http://schemas.openxmlformats.org/drawingml/2006/main">
            <a:off x="3877056" y="3657600"/>
            <a:ext cx="21122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12,000 applications / mo</a:t>
            </a:r>
            <a:endParaRPr sz="940"/>
          </a:p>
        </p:txBody>
      </p:sp>
      <p:sp>
        <p:nvSpPr>
          <p:cNvPr id="33" name="Text 31">
            <a:extLst xmlns:a="http://schemas.openxmlformats.org/drawingml/2006/main">
              <a:ext uri="{FF2B5EF4-FFF2-40B4-BE49-F238E27FC236}">
                <a16:creationId xmlns:a16="http://schemas.microsoft.com/office/drawing/2014/main" id="{09FE593A-A78A-4A0D-B6D7-16C17D40C577}"/>
              </a:ext>
            </a:extLst>
          </p:cNvPr>
          <p:cNvSpPr>
            <a:spLocks xmlns:a="http://schemas.openxmlformats.org/drawingml/2006/main" noGrp="1"/>
          </p:cNvSpPr>
          <p:nvPr/>
        </p:nvSpPr>
        <p:spPr>
          <a:xfrm xmlns:a="http://schemas.openxmlformats.org/drawingml/2006/main">
            <a:off x="6300216" y="3657600"/>
            <a:ext cx="26609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ETB 71% · NTB 43% completion</a:t>
            </a:r>
            <a:endParaRPr sz="940"/>
          </a:p>
        </p:txBody>
      </p:sp>
      <p:sp>
        <p:nvSpPr>
          <p:cNvPr id="34" name="Text 32">
            <a:extLst xmlns:a="http://schemas.openxmlformats.org/drawingml/2006/main">
              <a:ext uri="{FF2B5EF4-FFF2-40B4-BE49-F238E27FC236}">
                <a16:creationId xmlns:a16="http://schemas.microsoft.com/office/drawing/2014/main" id="{F42B52F9-7CD0-4A39-8264-BFAC39DB31D7}"/>
              </a:ext>
            </a:extLst>
          </p:cNvPr>
          <p:cNvSpPr>
            <a:spLocks xmlns:a="http://schemas.openxmlformats.org/drawingml/2006/main" noGrp="1"/>
          </p:cNvSpPr>
          <p:nvPr/>
        </p:nvSpPr>
        <p:spPr>
          <a:xfrm xmlns:a="http://schemas.openxmlformats.org/drawingml/2006/main">
            <a:off x="9272016" y="363931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B04A25"/>
                </a:solidFill>
                <a:latin typeface="Arial"/>
                <a:ea typeface="Arial"/>
                <a:cs typeface="Arial"/>
              </a:rPr>
              <a:t>+1,900 completions / mo</a:t>
            </a:r>
            <a:endParaRPr sz="1000"/>
          </a:p>
        </p:txBody>
      </p:sp>
      <p:sp>
        <p:nvSpPr>
          <p:cNvPr id="35" name="Shape 33">
            <a:extLst xmlns:a="http://schemas.openxmlformats.org/drawingml/2006/main">
              <a:ext uri="{FF2B5EF4-FFF2-40B4-BE49-F238E27FC236}">
                <a16:creationId xmlns:a16="http://schemas.microsoft.com/office/drawing/2014/main" id="{DC5DFE9B-E258-44B5-969F-59CD4EF3A642}"/>
              </a:ext>
            </a:extLst>
          </p:cNvPr>
          <p:cNvSpPr>
            <a:spLocks xmlns:a="http://schemas.openxmlformats.org/drawingml/2006/main" noGrp="1"/>
          </p:cNvSpPr>
          <p:nvPr/>
        </p:nvSpPr>
        <p:spPr>
          <a:xfrm xmlns:a="http://schemas.openxmlformats.org/drawingml/2006/main">
            <a:off x="566928" y="398678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4E126BDF-6843-4C95-B67B-AAEE09B7F114}"/>
              </a:ext>
            </a:extLst>
          </p:cNvPr>
          <p:cNvSpPr>
            <a:spLocks xmlns:a="http://schemas.openxmlformats.org/drawingml/2006/main" noGrp="1"/>
          </p:cNvSpPr>
          <p:nvPr/>
        </p:nvSpPr>
        <p:spPr>
          <a:xfrm xmlns:a="http://schemas.openxmlformats.org/drawingml/2006/main">
            <a:off x="566928" y="3986784"/>
            <a:ext cx="11057839" cy="457200"/>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30DD3AB9-146E-4856-B251-E7EEB542A0F3}"/>
              </a:ext>
            </a:extLst>
          </p:cNvPr>
          <p:cNvSpPr>
            <a:spLocks xmlns:a="http://schemas.openxmlformats.org/drawingml/2006/main" noGrp="1"/>
          </p:cNvSpPr>
          <p:nvPr/>
        </p:nvSpPr>
        <p:spPr>
          <a:xfrm xmlns:a="http://schemas.openxmlformats.org/drawingml/2006/main">
            <a:off x="676656" y="4114800"/>
            <a:ext cx="28895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102A43"/>
                </a:solidFill>
                <a:latin typeface="Arial"/>
                <a:ea typeface="Arial"/>
                <a:cs typeface="Arial"/>
              </a:rPr>
              <a:t>Beneficial ownership</a:t>
            </a:r>
            <a:endParaRPr sz="1000"/>
          </a:p>
        </p:txBody>
      </p:sp>
      <p:sp>
        <p:nvSpPr>
          <p:cNvPr id="38" name="Text 36">
            <a:extLst xmlns:a="http://schemas.openxmlformats.org/drawingml/2006/main">
              <a:ext uri="{FF2B5EF4-FFF2-40B4-BE49-F238E27FC236}">
                <a16:creationId xmlns:a16="http://schemas.microsoft.com/office/drawing/2014/main" id="{440310B3-72E1-424E-B0D6-1239E39B54A4}"/>
              </a:ext>
            </a:extLst>
          </p:cNvPr>
          <p:cNvSpPr>
            <a:spLocks xmlns:a="http://schemas.openxmlformats.org/drawingml/2006/main" noGrp="1"/>
          </p:cNvSpPr>
          <p:nvPr/>
        </p:nvSpPr>
        <p:spPr>
          <a:xfrm xmlns:a="http://schemas.openxmlformats.org/drawingml/2006/main">
            <a:off x="3877056" y="4114800"/>
            <a:ext cx="211226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1.4M obligated customers</a:t>
            </a:r>
            <a:endParaRPr sz="940"/>
          </a:p>
        </p:txBody>
      </p:sp>
      <p:sp>
        <p:nvSpPr>
          <p:cNvPr id="39" name="Text 37">
            <a:extLst xmlns:a="http://schemas.openxmlformats.org/drawingml/2006/main">
              <a:ext uri="{FF2B5EF4-FFF2-40B4-BE49-F238E27FC236}">
                <a16:creationId xmlns:a16="http://schemas.microsoft.com/office/drawing/2014/main" id="{047C045A-B120-472F-9883-65EDD8E2F7B2}"/>
              </a:ext>
            </a:extLst>
          </p:cNvPr>
          <p:cNvSpPr>
            <a:spLocks xmlns:a="http://schemas.openxmlformats.org/drawingml/2006/main" noGrp="1"/>
          </p:cNvSpPr>
          <p:nvPr/>
        </p:nvSpPr>
        <p:spPr>
          <a:xfrm xmlns:a="http://schemas.openxmlformats.org/drawingml/2006/main">
            <a:off x="6300216" y="4114800"/>
            <a:ext cx="266090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31% → 68% self-declared</a:t>
            </a:r>
            <a:endParaRPr sz="940"/>
          </a:p>
        </p:txBody>
      </p:sp>
      <p:sp>
        <p:nvSpPr>
          <p:cNvPr id="40" name="Text 38">
            <a:extLst xmlns:a="http://schemas.openxmlformats.org/drawingml/2006/main">
              <a:ext uri="{FF2B5EF4-FFF2-40B4-BE49-F238E27FC236}">
                <a16:creationId xmlns:a16="http://schemas.microsoft.com/office/drawing/2014/main" id="{01955977-EE9D-4E00-9869-6DE5A2F1D6CF}"/>
              </a:ext>
            </a:extLst>
          </p:cNvPr>
          <p:cNvSpPr>
            <a:spLocks xmlns:a="http://schemas.openxmlformats.org/drawingml/2006/main" noGrp="1"/>
          </p:cNvSpPr>
          <p:nvPr/>
        </p:nvSpPr>
        <p:spPr>
          <a:xfrm xmlns:a="http://schemas.openxmlformats.org/drawingml/2006/main">
            <a:off x="9272016" y="409651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b="1">
                <a:solidFill>
                  <a:srgbClr val="486581"/>
                </a:solidFill>
                <a:latin typeface="Arial"/>
                <a:ea typeface="Arial"/>
                <a:cs typeface="Arial"/>
              </a:rPr>
              <a:t>≈518,000 chases avoided</a:t>
            </a:r>
            <a:endParaRPr sz="1000"/>
          </a:p>
        </p:txBody>
      </p:sp>
      <p:sp>
        <p:nvSpPr>
          <p:cNvPr id="41" name="Shape 39">
            <a:extLst xmlns:a="http://schemas.openxmlformats.org/drawingml/2006/main">
              <a:ext uri="{FF2B5EF4-FFF2-40B4-BE49-F238E27FC236}">
                <a16:creationId xmlns:a16="http://schemas.microsoft.com/office/drawing/2014/main" id="{0DE3540C-477F-4E4C-B232-D79C9EAF2B79}"/>
              </a:ext>
            </a:extLst>
          </p:cNvPr>
          <p:cNvSpPr>
            <a:spLocks xmlns:a="http://schemas.openxmlformats.org/drawingml/2006/main" noGrp="1"/>
          </p:cNvSpPr>
          <p:nvPr/>
        </p:nvSpPr>
        <p:spPr>
          <a:xfrm xmlns:a="http://schemas.openxmlformats.org/drawingml/2006/main">
            <a:off x="566928" y="4443984"/>
            <a:ext cx="11057839" cy="7315"/>
          </a:xfrm>
          <a:prstGeom xmlns:a="http://schemas.openxmlformats.org/drawingml/2006/main" prst="rect">
            <a:avLst/>
          </a:prstGeom>
          <a:solidFill xmlns:a="http://schemas.openxmlformats.org/drawingml/2006/main">
            <a:srgbClr val="CBD5E0"/>
          </a:solidFill>
        </p:spPr>
      </p:sp>
      <p:sp>
        <p:nvSpPr>
          <p:cNvPr id="42" name="Shape 40">
            <a:extLst xmlns:a="http://schemas.openxmlformats.org/drawingml/2006/main">
              <a:ext uri="{FF2B5EF4-FFF2-40B4-BE49-F238E27FC236}">
                <a16:creationId xmlns:a16="http://schemas.microsoft.com/office/drawing/2014/main" id="{F8AF8753-BF60-413E-B0C4-AA70E9403CDC}"/>
              </a:ext>
            </a:extLst>
          </p:cNvPr>
          <p:cNvSpPr>
            <a:spLocks xmlns:a="http://schemas.openxmlformats.org/drawingml/2006/main" noGrp="1"/>
          </p:cNvSpPr>
          <p:nvPr/>
        </p:nvSpPr>
        <p:spPr>
          <a:xfrm xmlns:a="http://schemas.openxmlformats.org/drawingml/2006/main">
            <a:off x="566928" y="4663440"/>
            <a:ext cx="5391760" cy="1481328"/>
          </a:xfrm>
          <a:prstGeom xmlns:a="http://schemas.openxmlformats.org/drawingml/2006/main" prst="rect">
            <a:avLst/>
          </a:prstGeom>
          <a:solidFill xmlns:a="http://schemas.openxmlformats.org/drawingml/2006/main">
            <a:srgbClr val="F0F4F8"/>
          </a:solidFill>
        </p:spPr>
      </p:sp>
      <p:sp>
        <p:nvSpPr>
          <p:cNvPr id="43" name="Text 41">
            <a:extLst xmlns:a="http://schemas.openxmlformats.org/drawingml/2006/main">
              <a:ext uri="{FF2B5EF4-FFF2-40B4-BE49-F238E27FC236}">
                <a16:creationId xmlns:a16="http://schemas.microsoft.com/office/drawing/2014/main" id="{52C59C2F-5A63-4072-A913-DCF49665F49B}"/>
              </a:ext>
            </a:extLst>
          </p:cNvPr>
          <p:cNvSpPr>
            <a:spLocks xmlns:a="http://schemas.openxmlformats.org/drawingml/2006/main" noGrp="1"/>
          </p:cNvSpPr>
          <p:nvPr/>
        </p:nvSpPr>
        <p:spPr>
          <a:xfrm xmlns:a="http://schemas.openxmlformats.org/drawingml/2006/main">
            <a:off x="786384" y="4809744"/>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How the model was used</a:t>
            </a:r>
            <a:endParaRPr sz="1250"/>
          </a:p>
        </p:txBody>
      </p:sp>
      <p:sp>
        <p:nvSpPr>
          <p:cNvPr id="44" name="Text 42">
            <a:extLst xmlns:a="http://schemas.openxmlformats.org/drawingml/2006/main">
              <a:ext uri="{FF2B5EF4-FFF2-40B4-BE49-F238E27FC236}">
                <a16:creationId xmlns:a16="http://schemas.microsoft.com/office/drawing/2014/main" id="{33511778-647A-4957-9CD0-043A1F0BE3C9}"/>
              </a:ext>
            </a:extLst>
          </p:cNvPr>
          <p:cNvSpPr>
            <a:spLocks xmlns:a="http://schemas.openxmlformats.org/drawingml/2006/main" noGrp="1"/>
          </p:cNvSpPr>
          <p:nvPr/>
        </p:nvSpPr>
        <p:spPr>
          <a:xfrm xmlns:a="http://schemas.openxmlformats.org/drawingml/2006/main">
            <a:off x="786384" y="5065776"/>
            <a:ext cx="495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Each rate change was the journey's owner metric — the number the post-launch review measured.</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Volumes came from the bank; rate changes were the contested assumption and were negotiated explicitly.</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Sensitivity ran on the rate, never the volume — that is where disagreement sits.</a:t>
            </a:r>
            <a:endParaRPr sz="940"/>
          </a:p>
        </p:txBody>
      </p:sp>
      <p:sp>
        <p:nvSpPr>
          <p:cNvPr id="45" name="Shape 43">
            <a:extLst xmlns:a="http://schemas.openxmlformats.org/drawingml/2006/main">
              <a:ext uri="{FF2B5EF4-FFF2-40B4-BE49-F238E27FC236}">
                <a16:creationId xmlns:a16="http://schemas.microsoft.com/office/drawing/2014/main" id="{560E64B6-8A83-43E4-AE5D-A96C18EABC42}"/>
              </a:ext>
            </a:extLst>
          </p:cNvPr>
          <p:cNvSpPr>
            <a:spLocks xmlns:a="http://schemas.openxmlformats.org/drawingml/2006/main" noGrp="1"/>
          </p:cNvSpPr>
          <p:nvPr/>
        </p:nvSpPr>
        <p:spPr>
          <a:xfrm xmlns:a="http://schemas.openxmlformats.org/drawingml/2006/main">
            <a:off x="6233008" y="4663440"/>
            <a:ext cx="5391760" cy="1481328"/>
          </a:xfrm>
          <a:prstGeom xmlns:a="http://schemas.openxmlformats.org/drawingml/2006/main" prst="rect">
            <a:avLst/>
          </a:prstGeom>
          <a:solidFill xmlns:a="http://schemas.openxmlformats.org/drawingml/2006/main">
            <a:srgbClr val="F3E6E0"/>
          </a:solidFill>
        </p:spPr>
      </p:sp>
      <p:sp>
        <p:nvSpPr>
          <p:cNvPr id="46" name="Text 44">
            <a:extLst xmlns:a="http://schemas.openxmlformats.org/drawingml/2006/main">
              <a:ext uri="{FF2B5EF4-FFF2-40B4-BE49-F238E27FC236}">
                <a16:creationId xmlns:a16="http://schemas.microsoft.com/office/drawing/2014/main" id="{B299180B-D0BA-4F20-9F4A-702C0DA7E47C}"/>
              </a:ext>
            </a:extLst>
          </p:cNvPr>
          <p:cNvSpPr>
            <a:spLocks xmlns:a="http://schemas.openxmlformats.org/drawingml/2006/main" noGrp="1"/>
          </p:cNvSpPr>
          <p:nvPr/>
        </p:nvSpPr>
        <p:spPr>
          <a:xfrm xmlns:a="http://schemas.openxmlformats.org/drawingml/2006/main">
            <a:off x="6452464" y="4809744"/>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Why it is shown as a model, not a result</a:t>
            </a:r>
            <a:endParaRPr sz="1250"/>
          </a:p>
        </p:txBody>
      </p:sp>
      <p:sp>
        <p:nvSpPr>
          <p:cNvPr id="47" name="Text 45">
            <a:extLst xmlns:a="http://schemas.openxmlformats.org/drawingml/2006/main">
              <a:ext uri="{FF2B5EF4-FFF2-40B4-BE49-F238E27FC236}">
                <a16:creationId xmlns:a16="http://schemas.microsoft.com/office/drawing/2014/main" id="{55A8693E-4237-47E8-9FAF-D78292E08BFA}"/>
              </a:ext>
            </a:extLst>
          </p:cNvPr>
          <p:cNvSpPr>
            <a:spLocks xmlns:a="http://schemas.openxmlformats.org/drawingml/2006/main" noGrp="1"/>
          </p:cNvSpPr>
          <p:nvPr/>
        </p:nvSpPr>
        <p:spPr>
          <a:xfrm xmlns:a="http://schemas.openxmlformats.org/drawingml/2006/main">
            <a:off x="6452464" y="5065776"/>
            <a:ext cx="495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Volumes and rates here are illustrative. What transfers is the structure: one owner metric per journey, a baseline captured before release, a rate change that is explicitly the thing being argued about, and an effect expressed in the unit the sponsoring function already manages — funded accounts, agent-hours, policies, chases. Substitute the bank's actuals and the arithmetic is unchanged.</a:t>
            </a:r>
            <a:endParaRPr sz="940"/>
          </a:p>
        </p:txBody>
      </p:sp>
      <p:sp>
        <p:nvSpPr>
          <p:cNvPr id="48" name="Shape 46">
            <a:extLst xmlns:a="http://schemas.openxmlformats.org/drawingml/2006/main">
              <a:ext uri="{FF2B5EF4-FFF2-40B4-BE49-F238E27FC236}">
                <a16:creationId xmlns:a16="http://schemas.microsoft.com/office/drawing/2014/main" id="{761D4539-0934-4DF0-971D-74E90DFDC19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9" name="Text 47">
            <a:extLst xmlns:a="http://schemas.openxmlformats.org/drawingml/2006/main">
              <a:ext uri="{FF2B5EF4-FFF2-40B4-BE49-F238E27FC236}">
                <a16:creationId xmlns:a16="http://schemas.microsoft.com/office/drawing/2014/main" id="{8129A244-4532-4454-A3AC-18FDE392FD7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value model — illustrative volumes, stated assumptions; replace with bank actuals</a:t>
            </a:r>
            <a:endParaRPr sz="850"/>
          </a:p>
        </p:txBody>
      </p:sp>
      <p:sp>
        <p:nvSpPr>
          <p:cNvPr id="50" name="Text 48">
            <a:extLst xmlns:a="http://schemas.openxmlformats.org/drawingml/2006/main">
              <a:ext uri="{FF2B5EF4-FFF2-40B4-BE49-F238E27FC236}">
                <a16:creationId xmlns:a16="http://schemas.microsoft.com/office/drawing/2014/main" id="{2ACFD49A-4723-4401-98B0-6BFDE78C907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15</a:t>
            </a:r>
            <a:endParaRPr sz="850"/>
          </a:p>
        </p:txBody>
      </p:sp>
    </p:spTree>
    <p:extLst>
      <p:ext uri="{BB962C8B-B14F-4D97-AF65-F5344CB8AC3E}">
        <p14:creationId xmlns:p14="http://schemas.microsoft.com/office/powerpoint/2010/main" val="1473347083"/>
      </p:ext>
    </p:extLst>
  </p:cSld>
</p:sld>
</file>

<file path=ppt/slides/slide5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16CB41-6BC9-41D8-A47E-3516B69B91E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MEASUREMENT</a:t>
            </a:r>
            <a:endParaRPr sz="950"/>
          </a:p>
        </p:txBody>
      </p:sp>
      <p:sp>
        <p:nvSpPr>
          <p:cNvPr id="3" name="Text 1">
            <a:extLst xmlns:a="http://schemas.openxmlformats.org/drawingml/2006/main">
              <a:ext uri="{FF2B5EF4-FFF2-40B4-BE49-F238E27FC236}">
                <a16:creationId xmlns:a16="http://schemas.microsoft.com/office/drawing/2014/main" id="{1EE6DB0C-9379-4FF1-9FF9-97451022040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Every journey was instrumented against a pre-release baseline — so the result could</a:t>
            </a:r>
            <a:endParaRPr sz="1900"/>
          </a:p>
          <a:p xmlns:a="http://schemas.openxmlformats.org/drawingml/2006/main">
            <a:pPr marL="0" indent="0">
              <a:lnSpc>
                <a:spcPts val="2400"/>
              </a:lnSpc>
              <a:buNone/>
            </a:pPr>
            <a:r>
              <a:rPr sz="1900" b="1">
                <a:solidFill>
                  <a:srgbClr val="102A43"/>
                </a:solidFill>
                <a:latin typeface="Arial"/>
                <a:ea typeface="Arial"/>
                <a:cs typeface="Arial"/>
              </a:rPr>
              <a:t>be attributed to the journey rather than to the quarter</a:t>
            </a:r>
            <a:endParaRPr sz="1900"/>
          </a:p>
        </p:txBody>
      </p:sp>
      <p:sp>
        <p:nvSpPr>
          <p:cNvPr id="4" name="Shape 2">
            <a:extLst xmlns:a="http://schemas.openxmlformats.org/drawingml/2006/main">
              <a:ext uri="{FF2B5EF4-FFF2-40B4-BE49-F238E27FC236}">
                <a16:creationId xmlns:a16="http://schemas.microsoft.com/office/drawing/2014/main" id="{12EBE280-15A0-4329-A7E6-912B75330EC9}"/>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2638860A-FFB3-44AB-A5C6-4968BCCDE3C3}"/>
              </a:ext>
            </a:extLst>
          </p:cNvPr>
          <p:cNvSpPr>
            <a:spLocks xmlns:a="http://schemas.openxmlformats.org/drawingml/2006/main" noGrp="1"/>
          </p:cNvSpPr>
          <p:nvPr/>
        </p:nvSpPr>
        <p:spPr>
          <a:xfrm xmlns:a="http://schemas.openxmlformats.org/drawingml/2006/main">
            <a:off x="658368" y="1444752"/>
            <a:ext cx="2514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102A43"/>
                </a:solidFill>
                <a:latin typeface="Arial"/>
                <a:ea typeface="Arial"/>
                <a:cs typeface="Arial"/>
              </a:rPr>
              <a:t>Journey</a:t>
            </a:r>
            <a:endParaRPr sz="900"/>
          </a:p>
        </p:txBody>
      </p:sp>
      <p:sp>
        <p:nvSpPr>
          <p:cNvPr id="6" name="Text 4">
            <a:extLst xmlns:a="http://schemas.openxmlformats.org/drawingml/2006/main">
              <a:ext uri="{FF2B5EF4-FFF2-40B4-BE49-F238E27FC236}">
                <a16:creationId xmlns:a16="http://schemas.microsoft.com/office/drawing/2014/main" id="{62B8948E-2B94-488F-BC26-8D58A8AD386E}"/>
              </a:ext>
            </a:extLst>
          </p:cNvPr>
          <p:cNvSpPr>
            <a:spLocks xmlns:a="http://schemas.openxmlformats.org/drawingml/2006/main" noGrp="1"/>
          </p:cNvSpPr>
          <p:nvPr/>
        </p:nvSpPr>
        <p:spPr>
          <a:xfrm xmlns:a="http://schemas.openxmlformats.org/drawingml/2006/main">
            <a:off x="3447288" y="1444752"/>
            <a:ext cx="6400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102A43"/>
                </a:solidFill>
                <a:latin typeface="Arial"/>
                <a:ea typeface="Arial"/>
                <a:cs typeface="Arial"/>
              </a:rPr>
              <a:t>Obj.</a:t>
            </a:r>
            <a:endParaRPr sz="900"/>
          </a:p>
        </p:txBody>
      </p:sp>
      <p:sp>
        <p:nvSpPr>
          <p:cNvPr id="7" name="Text 5">
            <a:extLst xmlns:a="http://schemas.openxmlformats.org/drawingml/2006/main">
              <a:ext uri="{FF2B5EF4-FFF2-40B4-BE49-F238E27FC236}">
                <a16:creationId xmlns:a16="http://schemas.microsoft.com/office/drawing/2014/main" id="{A32C9282-C596-41DA-8136-B4BE11583805}"/>
              </a:ext>
            </a:extLst>
          </p:cNvPr>
          <p:cNvSpPr>
            <a:spLocks xmlns:a="http://schemas.openxmlformats.org/drawingml/2006/main" noGrp="1"/>
          </p:cNvSpPr>
          <p:nvPr/>
        </p:nvSpPr>
        <p:spPr>
          <a:xfrm xmlns:a="http://schemas.openxmlformats.org/drawingml/2006/main">
            <a:off x="4315968" y="1444752"/>
            <a:ext cx="2788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102A43"/>
                </a:solidFill>
                <a:latin typeface="Arial"/>
                <a:ea typeface="Arial"/>
                <a:cs typeface="Arial"/>
              </a:rPr>
              <a:t>Primary metric</a:t>
            </a:r>
            <a:endParaRPr sz="900"/>
          </a:p>
        </p:txBody>
      </p:sp>
      <p:sp>
        <p:nvSpPr>
          <p:cNvPr id="8" name="Text 6">
            <a:extLst xmlns:a="http://schemas.openxmlformats.org/drawingml/2006/main">
              <a:ext uri="{FF2B5EF4-FFF2-40B4-BE49-F238E27FC236}">
                <a16:creationId xmlns:a16="http://schemas.microsoft.com/office/drawing/2014/main" id="{C116593B-B4B0-4BEE-BF19-FAA17E7E8489}"/>
              </a:ext>
            </a:extLst>
          </p:cNvPr>
          <p:cNvSpPr>
            <a:spLocks xmlns:a="http://schemas.openxmlformats.org/drawingml/2006/main" noGrp="1"/>
          </p:cNvSpPr>
          <p:nvPr/>
        </p:nvSpPr>
        <p:spPr>
          <a:xfrm xmlns:a="http://schemas.openxmlformats.org/drawingml/2006/main">
            <a:off x="7333488" y="1444752"/>
            <a:ext cx="2103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102A43"/>
                </a:solidFill>
                <a:latin typeface="Arial"/>
                <a:ea typeface="Arial"/>
                <a:cs typeface="Arial"/>
              </a:rPr>
              <a:t>Baseline captured before release</a:t>
            </a:r>
            <a:endParaRPr sz="900"/>
          </a:p>
        </p:txBody>
      </p:sp>
      <p:sp>
        <p:nvSpPr>
          <p:cNvPr id="9" name="Text 7">
            <a:extLst xmlns:a="http://schemas.openxmlformats.org/drawingml/2006/main">
              <a:ext uri="{FF2B5EF4-FFF2-40B4-BE49-F238E27FC236}">
                <a16:creationId xmlns:a16="http://schemas.microsoft.com/office/drawing/2014/main" id="{68C3DF36-B96A-45C6-A031-4DC118878292}"/>
              </a:ext>
            </a:extLst>
          </p:cNvPr>
          <p:cNvSpPr>
            <a:spLocks xmlns:a="http://schemas.openxmlformats.org/drawingml/2006/main" noGrp="1"/>
          </p:cNvSpPr>
          <p:nvPr/>
        </p:nvSpPr>
        <p:spPr>
          <a:xfrm xmlns:a="http://schemas.openxmlformats.org/drawingml/2006/main">
            <a:off x="9665208" y="1444752"/>
            <a:ext cx="685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b="1">
                <a:solidFill>
                  <a:srgbClr val="102A43"/>
                </a:solidFill>
                <a:latin typeface="Arial"/>
                <a:ea typeface="Arial"/>
                <a:cs typeface="Arial"/>
              </a:rPr>
              <a:t>Base</a:t>
            </a:r>
            <a:endParaRPr sz="900"/>
          </a:p>
        </p:txBody>
      </p:sp>
      <p:sp>
        <p:nvSpPr>
          <p:cNvPr id="10" name="Text 8">
            <a:extLst xmlns:a="http://schemas.openxmlformats.org/drawingml/2006/main">
              <a:ext uri="{FF2B5EF4-FFF2-40B4-BE49-F238E27FC236}">
                <a16:creationId xmlns:a16="http://schemas.microsoft.com/office/drawing/2014/main" id="{BA9E5222-616E-4211-B5C7-F4B49E6B620F}"/>
              </a:ext>
            </a:extLst>
          </p:cNvPr>
          <p:cNvSpPr>
            <a:spLocks xmlns:a="http://schemas.openxmlformats.org/drawingml/2006/main" noGrp="1"/>
          </p:cNvSpPr>
          <p:nvPr/>
        </p:nvSpPr>
        <p:spPr>
          <a:xfrm xmlns:a="http://schemas.openxmlformats.org/drawingml/2006/main">
            <a:off x="10579608" y="1444752"/>
            <a:ext cx="95371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b="1">
                <a:solidFill>
                  <a:srgbClr val="102A43"/>
                </a:solidFill>
                <a:latin typeface="Arial"/>
                <a:ea typeface="Arial"/>
                <a:cs typeface="Arial"/>
              </a:rPr>
              <a:t>Target</a:t>
            </a:r>
            <a:endParaRPr sz="900"/>
          </a:p>
        </p:txBody>
      </p:sp>
      <p:sp>
        <p:nvSpPr>
          <p:cNvPr id="11" name="Text 9">
            <a:extLst xmlns:a="http://schemas.openxmlformats.org/drawingml/2006/main">
              <a:ext uri="{FF2B5EF4-FFF2-40B4-BE49-F238E27FC236}">
                <a16:creationId xmlns:a16="http://schemas.microsoft.com/office/drawing/2014/main" id="{55A4BB23-7EC2-4716-9EB9-7EEFF948C9B7}"/>
              </a:ext>
            </a:extLst>
          </p:cNvPr>
          <p:cNvSpPr>
            <a:spLocks xmlns:a="http://schemas.openxmlformats.org/drawingml/2006/main" noGrp="1"/>
          </p:cNvSpPr>
          <p:nvPr/>
        </p:nvSpPr>
        <p:spPr>
          <a:xfrm xmlns:a="http://schemas.openxmlformats.org/drawingml/2006/main">
            <a:off x="658368" y="186537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Digital account funding</a:t>
            </a:r>
            <a:endParaRPr sz="980"/>
          </a:p>
        </p:txBody>
      </p:sp>
      <p:sp>
        <p:nvSpPr>
          <p:cNvPr id="12" name="Shape 10">
            <a:extLst xmlns:a="http://schemas.openxmlformats.org/drawingml/2006/main">
              <a:ext uri="{FF2B5EF4-FFF2-40B4-BE49-F238E27FC236}">
                <a16:creationId xmlns:a16="http://schemas.microsoft.com/office/drawing/2014/main" id="{B71D55D3-CF49-4852-8AFD-57137FED6974}"/>
              </a:ext>
            </a:extLst>
          </p:cNvPr>
          <p:cNvSpPr>
            <a:spLocks xmlns:a="http://schemas.openxmlformats.org/drawingml/2006/main" noGrp="1"/>
          </p:cNvSpPr>
          <p:nvPr/>
        </p:nvSpPr>
        <p:spPr>
          <a:xfrm xmlns:a="http://schemas.openxmlformats.org/drawingml/2006/main">
            <a:off x="3355848" y="1847088"/>
            <a:ext cx="694944" cy="237744"/>
          </a:xfrm>
          <a:prstGeom xmlns:a="http://schemas.openxmlformats.org/drawingml/2006/main" prst="roundRect">
            <a:avLst>
              <a:gd name="adj" fmla="val 30769"/>
            </a:avLst>
          </a:prstGeom>
          <a:solidFill xmlns:a="http://schemas.openxmlformats.org/drawingml/2006/main">
            <a:srgbClr val="E3EAF2"/>
          </a:solidFill>
        </p:spPr>
      </p:sp>
      <p:sp>
        <p:nvSpPr>
          <p:cNvPr id="13" name="Text 11">
            <a:extLst xmlns:a="http://schemas.openxmlformats.org/drawingml/2006/main">
              <a:ext uri="{FF2B5EF4-FFF2-40B4-BE49-F238E27FC236}">
                <a16:creationId xmlns:a16="http://schemas.microsoft.com/office/drawing/2014/main" id="{1946EB96-9FAF-4120-8C83-989A4C4EC639}"/>
              </a:ext>
            </a:extLst>
          </p:cNvPr>
          <p:cNvSpPr>
            <a:spLocks xmlns:a="http://schemas.openxmlformats.org/drawingml/2006/main" noGrp="1"/>
          </p:cNvSpPr>
          <p:nvPr/>
        </p:nvSpPr>
        <p:spPr>
          <a:xfrm xmlns:a="http://schemas.openxmlformats.org/drawingml/2006/main">
            <a:off x="3355848" y="1879092"/>
            <a:ext cx="6949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GROW</a:t>
            </a:r>
            <a:endParaRPr sz="820"/>
          </a:p>
        </p:txBody>
      </p:sp>
      <p:sp>
        <p:nvSpPr>
          <p:cNvPr id="14" name="Text 12">
            <a:extLst xmlns:a="http://schemas.openxmlformats.org/drawingml/2006/main">
              <a:ext uri="{FF2B5EF4-FFF2-40B4-BE49-F238E27FC236}">
                <a16:creationId xmlns:a16="http://schemas.microsoft.com/office/drawing/2014/main" id="{333E976B-3241-46A4-8A3E-AE447EEF632D}"/>
              </a:ext>
            </a:extLst>
          </p:cNvPr>
          <p:cNvSpPr>
            <a:spLocks xmlns:a="http://schemas.openxmlformats.org/drawingml/2006/main" noGrp="1"/>
          </p:cNvSpPr>
          <p:nvPr/>
        </p:nvSpPr>
        <p:spPr>
          <a:xfrm xmlns:a="http://schemas.openxmlformats.org/drawingml/2006/main">
            <a:off x="4315968" y="1865376"/>
            <a:ext cx="2788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 funded within the opening session</a:t>
            </a:r>
            <a:endParaRPr sz="940"/>
          </a:p>
        </p:txBody>
      </p:sp>
      <p:sp>
        <p:nvSpPr>
          <p:cNvPr id="15" name="Text 13">
            <a:extLst xmlns:a="http://schemas.openxmlformats.org/drawingml/2006/main">
              <a:ext uri="{FF2B5EF4-FFF2-40B4-BE49-F238E27FC236}">
                <a16:creationId xmlns:a16="http://schemas.microsoft.com/office/drawing/2014/main" id="{A4139D04-8874-46E4-9C70-8EEACE0A6FBB}"/>
              </a:ext>
            </a:extLst>
          </p:cNvPr>
          <p:cNvSpPr>
            <a:spLocks xmlns:a="http://schemas.openxmlformats.org/drawingml/2006/main" noGrp="1"/>
          </p:cNvSpPr>
          <p:nvPr/>
        </p:nvSpPr>
        <p:spPr>
          <a:xfrm xmlns:a="http://schemas.openxmlformats.org/drawingml/2006/main">
            <a:off x="7333488" y="1865376"/>
            <a:ext cx="2103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Funded-within-7-days rate</a:t>
            </a:r>
            <a:endParaRPr sz="940"/>
          </a:p>
        </p:txBody>
      </p:sp>
      <p:sp>
        <p:nvSpPr>
          <p:cNvPr id="16" name="Text 14">
            <a:extLst xmlns:a="http://schemas.openxmlformats.org/drawingml/2006/main">
              <a:ext uri="{FF2B5EF4-FFF2-40B4-BE49-F238E27FC236}">
                <a16:creationId xmlns:a16="http://schemas.microsoft.com/office/drawing/2014/main" id="{6DB7D191-3D21-404C-B64E-E23A661CF7B7}"/>
              </a:ext>
            </a:extLst>
          </p:cNvPr>
          <p:cNvSpPr>
            <a:spLocks xmlns:a="http://schemas.openxmlformats.org/drawingml/2006/main" noGrp="1"/>
          </p:cNvSpPr>
          <p:nvPr/>
        </p:nvSpPr>
        <p:spPr>
          <a:xfrm xmlns:a="http://schemas.openxmlformats.org/drawingml/2006/main">
            <a:off x="9665208" y="1856232"/>
            <a:ext cx="685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627D98"/>
                </a:solidFill>
                <a:latin typeface="Arial"/>
                <a:ea typeface="Arial"/>
                <a:cs typeface="Arial"/>
              </a:rPr>
              <a:t>34%</a:t>
            </a:r>
            <a:endParaRPr sz="1000"/>
          </a:p>
        </p:txBody>
      </p:sp>
      <p:sp>
        <p:nvSpPr>
          <p:cNvPr id="17" name="Text 15">
            <a:extLst xmlns:a="http://schemas.openxmlformats.org/drawingml/2006/main">
              <a:ext uri="{FF2B5EF4-FFF2-40B4-BE49-F238E27FC236}">
                <a16:creationId xmlns:a16="http://schemas.microsoft.com/office/drawing/2014/main" id="{BE4BE5D3-D8CB-49A9-B34A-F3A3695BE6CD}"/>
              </a:ext>
            </a:extLst>
          </p:cNvPr>
          <p:cNvSpPr>
            <a:spLocks xmlns:a="http://schemas.openxmlformats.org/drawingml/2006/main" noGrp="1"/>
          </p:cNvSpPr>
          <p:nvPr/>
        </p:nvSpPr>
        <p:spPr>
          <a:xfrm xmlns:a="http://schemas.openxmlformats.org/drawingml/2006/main">
            <a:off x="10579608" y="1837944"/>
            <a:ext cx="95371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150" b="1">
                <a:solidFill>
                  <a:srgbClr val="B04A25"/>
                </a:solidFill>
                <a:latin typeface="Arial"/>
                <a:ea typeface="Arial"/>
                <a:cs typeface="Arial"/>
              </a:rPr>
              <a:t>61%</a:t>
            </a:r>
            <a:endParaRPr sz="1150"/>
          </a:p>
        </p:txBody>
      </p:sp>
      <p:sp>
        <p:nvSpPr>
          <p:cNvPr id="18" name="Shape 16">
            <a:extLst xmlns:a="http://schemas.openxmlformats.org/drawingml/2006/main">
              <a:ext uri="{FF2B5EF4-FFF2-40B4-BE49-F238E27FC236}">
                <a16:creationId xmlns:a16="http://schemas.microsoft.com/office/drawing/2014/main" id="{2B7E6A52-6A71-4C2F-9B72-EB70CAA8B0A1}"/>
              </a:ext>
            </a:extLst>
          </p:cNvPr>
          <p:cNvSpPr>
            <a:spLocks xmlns:a="http://schemas.openxmlformats.org/drawingml/2006/main" noGrp="1"/>
          </p:cNvSpPr>
          <p:nvPr/>
        </p:nvSpPr>
        <p:spPr>
          <a:xfrm xmlns:a="http://schemas.openxmlformats.org/drawingml/2006/main">
            <a:off x="566928" y="2249424"/>
            <a:ext cx="11057839" cy="7315"/>
          </a:xfrm>
          <a:prstGeom xmlns:a="http://schemas.openxmlformats.org/drawingml/2006/main" prst="rect">
            <a:avLst/>
          </a:prstGeom>
          <a:solidFill xmlns:a="http://schemas.openxmlformats.org/drawingml/2006/main">
            <a:srgbClr val="CBD5E0"/>
          </a:solidFill>
        </p:spPr>
      </p:sp>
      <p:sp>
        <p:nvSpPr>
          <p:cNvPr id="19" name="Shape 17">
            <a:extLst xmlns:a="http://schemas.openxmlformats.org/drawingml/2006/main">
              <a:ext uri="{FF2B5EF4-FFF2-40B4-BE49-F238E27FC236}">
                <a16:creationId xmlns:a16="http://schemas.microsoft.com/office/drawing/2014/main" id="{ADED571F-EE27-47AF-9E51-A4B60B0F1A51}"/>
              </a:ext>
            </a:extLst>
          </p:cNvPr>
          <p:cNvSpPr>
            <a:spLocks xmlns:a="http://schemas.openxmlformats.org/drawingml/2006/main" noGrp="1"/>
          </p:cNvSpPr>
          <p:nvPr/>
        </p:nvSpPr>
        <p:spPr>
          <a:xfrm xmlns:a="http://schemas.openxmlformats.org/drawingml/2006/main">
            <a:off x="566928" y="2249424"/>
            <a:ext cx="11057839" cy="548640"/>
          </a:xfrm>
          <a:prstGeom xmlns:a="http://schemas.openxmlformats.org/drawingml/2006/main" prst="rect">
            <a:avLst/>
          </a:prstGeom>
          <a:solidFill xmlns:a="http://schemas.openxmlformats.org/drawingml/2006/main">
            <a:srgbClr val="F7F9FB"/>
          </a:solidFill>
        </p:spPr>
      </p:sp>
      <p:sp>
        <p:nvSpPr>
          <p:cNvPr id="20" name="Text 18">
            <a:extLst xmlns:a="http://schemas.openxmlformats.org/drawingml/2006/main">
              <a:ext uri="{FF2B5EF4-FFF2-40B4-BE49-F238E27FC236}">
                <a16:creationId xmlns:a16="http://schemas.microsoft.com/office/drawing/2014/main" id="{1D06F5B0-BFFD-4918-936B-E43DF635A219}"/>
              </a:ext>
            </a:extLst>
          </p:cNvPr>
          <p:cNvSpPr>
            <a:spLocks xmlns:a="http://schemas.openxmlformats.org/drawingml/2006/main" noGrp="1"/>
          </p:cNvSpPr>
          <p:nvPr/>
        </p:nvSpPr>
        <p:spPr>
          <a:xfrm xmlns:a="http://schemas.openxmlformats.org/drawingml/2006/main">
            <a:off x="658368" y="241401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Loan servicing self-help</a:t>
            </a:r>
            <a:endParaRPr sz="980"/>
          </a:p>
        </p:txBody>
      </p:sp>
      <p:sp>
        <p:nvSpPr>
          <p:cNvPr id="21" name="Shape 19">
            <a:extLst xmlns:a="http://schemas.openxmlformats.org/drawingml/2006/main">
              <a:ext uri="{FF2B5EF4-FFF2-40B4-BE49-F238E27FC236}">
                <a16:creationId xmlns:a16="http://schemas.microsoft.com/office/drawing/2014/main" id="{8BED8918-1C4B-4421-8716-7DFD95930DFC}"/>
              </a:ext>
            </a:extLst>
          </p:cNvPr>
          <p:cNvSpPr>
            <a:spLocks xmlns:a="http://schemas.openxmlformats.org/drawingml/2006/main" noGrp="1"/>
          </p:cNvSpPr>
          <p:nvPr/>
        </p:nvSpPr>
        <p:spPr>
          <a:xfrm xmlns:a="http://schemas.openxmlformats.org/drawingml/2006/main">
            <a:off x="3355848" y="2395728"/>
            <a:ext cx="694944" cy="237744"/>
          </a:xfrm>
          <a:prstGeom xmlns:a="http://schemas.openxmlformats.org/drawingml/2006/main" prst="roundRect">
            <a:avLst>
              <a:gd name="adj" fmla="val 30769"/>
            </a:avLst>
          </a:prstGeom>
          <a:solidFill xmlns:a="http://schemas.openxmlformats.org/drawingml/2006/main">
            <a:srgbClr val="E3EAF2"/>
          </a:solidFill>
        </p:spPr>
      </p:sp>
      <p:sp>
        <p:nvSpPr>
          <p:cNvPr id="22" name="Text 20">
            <a:extLst xmlns:a="http://schemas.openxmlformats.org/drawingml/2006/main">
              <a:ext uri="{FF2B5EF4-FFF2-40B4-BE49-F238E27FC236}">
                <a16:creationId xmlns:a16="http://schemas.microsoft.com/office/drawing/2014/main" id="{089494D9-1476-4519-9A0A-D61EB1F069AD}"/>
              </a:ext>
            </a:extLst>
          </p:cNvPr>
          <p:cNvSpPr>
            <a:spLocks xmlns:a="http://schemas.openxmlformats.org/drawingml/2006/main" noGrp="1"/>
          </p:cNvSpPr>
          <p:nvPr/>
        </p:nvSpPr>
        <p:spPr>
          <a:xfrm xmlns:a="http://schemas.openxmlformats.org/drawingml/2006/main">
            <a:off x="3355848" y="2427732"/>
            <a:ext cx="6949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SERVE</a:t>
            </a:r>
            <a:endParaRPr sz="820"/>
          </a:p>
        </p:txBody>
      </p:sp>
      <p:sp>
        <p:nvSpPr>
          <p:cNvPr id="23" name="Text 21">
            <a:extLst xmlns:a="http://schemas.openxmlformats.org/drawingml/2006/main">
              <a:ext uri="{FF2B5EF4-FFF2-40B4-BE49-F238E27FC236}">
                <a16:creationId xmlns:a16="http://schemas.microsoft.com/office/drawing/2014/main" id="{08A07F45-114A-4285-8960-EBA0C15538D4}"/>
              </a:ext>
            </a:extLst>
          </p:cNvPr>
          <p:cNvSpPr>
            <a:spLocks xmlns:a="http://schemas.openxmlformats.org/drawingml/2006/main" noGrp="1"/>
          </p:cNvSpPr>
          <p:nvPr/>
        </p:nvSpPr>
        <p:spPr>
          <a:xfrm xmlns:a="http://schemas.openxmlformats.org/drawingml/2006/main">
            <a:off x="4315968" y="2414016"/>
            <a:ext cx="2788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 of 11 categories completed without an agent</a:t>
            </a:r>
            <a:endParaRPr sz="940"/>
          </a:p>
        </p:txBody>
      </p:sp>
      <p:sp>
        <p:nvSpPr>
          <p:cNvPr id="24" name="Text 22">
            <a:extLst xmlns:a="http://schemas.openxmlformats.org/drawingml/2006/main">
              <a:ext uri="{FF2B5EF4-FFF2-40B4-BE49-F238E27FC236}">
                <a16:creationId xmlns:a16="http://schemas.microsoft.com/office/drawing/2014/main" id="{2E164A8D-5AA9-4D4D-916F-AF7732A3ED80}"/>
              </a:ext>
            </a:extLst>
          </p:cNvPr>
          <p:cNvSpPr>
            <a:spLocks xmlns:a="http://schemas.openxmlformats.org/drawingml/2006/main" noGrp="1"/>
          </p:cNvSpPr>
          <p:nvPr/>
        </p:nvSpPr>
        <p:spPr>
          <a:xfrm xmlns:a="http://schemas.openxmlformats.org/drawingml/2006/main">
            <a:off x="7333488" y="2414016"/>
            <a:ext cx="2103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Agent-handled volume by category</a:t>
            </a:r>
            <a:endParaRPr sz="940"/>
          </a:p>
        </p:txBody>
      </p:sp>
      <p:sp>
        <p:nvSpPr>
          <p:cNvPr id="25" name="Text 23">
            <a:extLst xmlns:a="http://schemas.openxmlformats.org/drawingml/2006/main">
              <a:ext uri="{FF2B5EF4-FFF2-40B4-BE49-F238E27FC236}">
                <a16:creationId xmlns:a16="http://schemas.microsoft.com/office/drawing/2014/main" id="{8840D118-CC09-45E5-8F22-25AB7B409D66}"/>
              </a:ext>
            </a:extLst>
          </p:cNvPr>
          <p:cNvSpPr>
            <a:spLocks xmlns:a="http://schemas.openxmlformats.org/drawingml/2006/main" noGrp="1"/>
          </p:cNvSpPr>
          <p:nvPr/>
        </p:nvSpPr>
        <p:spPr>
          <a:xfrm xmlns:a="http://schemas.openxmlformats.org/drawingml/2006/main">
            <a:off x="9665208" y="2404872"/>
            <a:ext cx="685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627D98"/>
                </a:solidFill>
                <a:latin typeface="Arial"/>
                <a:ea typeface="Arial"/>
                <a:cs typeface="Arial"/>
              </a:rPr>
              <a:t>0%</a:t>
            </a:r>
            <a:endParaRPr sz="1000"/>
          </a:p>
        </p:txBody>
      </p:sp>
      <p:sp>
        <p:nvSpPr>
          <p:cNvPr id="26" name="Text 24">
            <a:extLst xmlns:a="http://schemas.openxmlformats.org/drawingml/2006/main">
              <a:ext uri="{FF2B5EF4-FFF2-40B4-BE49-F238E27FC236}">
                <a16:creationId xmlns:a16="http://schemas.microsoft.com/office/drawing/2014/main" id="{E6AEF2E5-C247-4419-A835-203BCAC4E0F2}"/>
              </a:ext>
            </a:extLst>
          </p:cNvPr>
          <p:cNvSpPr>
            <a:spLocks xmlns:a="http://schemas.openxmlformats.org/drawingml/2006/main" noGrp="1"/>
          </p:cNvSpPr>
          <p:nvPr/>
        </p:nvSpPr>
        <p:spPr>
          <a:xfrm xmlns:a="http://schemas.openxmlformats.org/drawingml/2006/main">
            <a:off x="10579608" y="2386584"/>
            <a:ext cx="95371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150" b="1">
                <a:solidFill>
                  <a:srgbClr val="B04A25"/>
                </a:solidFill>
                <a:latin typeface="Arial"/>
                <a:ea typeface="Arial"/>
                <a:cs typeface="Arial"/>
              </a:rPr>
              <a:t>38%</a:t>
            </a:r>
            <a:endParaRPr sz="1150"/>
          </a:p>
        </p:txBody>
      </p:sp>
      <p:sp>
        <p:nvSpPr>
          <p:cNvPr id="27" name="Shape 25">
            <a:extLst xmlns:a="http://schemas.openxmlformats.org/drawingml/2006/main">
              <a:ext uri="{FF2B5EF4-FFF2-40B4-BE49-F238E27FC236}">
                <a16:creationId xmlns:a16="http://schemas.microsoft.com/office/drawing/2014/main" id="{0BF1FFE7-E48D-4E01-9935-BC775F15CE0C}"/>
              </a:ext>
            </a:extLst>
          </p:cNvPr>
          <p:cNvSpPr>
            <a:spLocks xmlns:a="http://schemas.openxmlformats.org/drawingml/2006/main" noGrp="1"/>
          </p:cNvSpPr>
          <p:nvPr/>
        </p:nvSpPr>
        <p:spPr>
          <a:xfrm xmlns:a="http://schemas.openxmlformats.org/drawingml/2006/main">
            <a:off x="566928" y="2798064"/>
            <a:ext cx="11057839" cy="7315"/>
          </a:xfrm>
          <a:prstGeom xmlns:a="http://schemas.openxmlformats.org/drawingml/2006/main" prst="rect">
            <a:avLst/>
          </a:prstGeom>
          <a:solidFill xmlns:a="http://schemas.openxmlformats.org/drawingml/2006/main">
            <a:srgbClr val="CBD5E0"/>
          </a:solidFill>
        </p:spPr>
      </p:sp>
      <p:sp>
        <p:nvSpPr>
          <p:cNvPr id="28" name="Text 26">
            <a:extLst xmlns:a="http://schemas.openxmlformats.org/drawingml/2006/main">
              <a:ext uri="{FF2B5EF4-FFF2-40B4-BE49-F238E27FC236}">
                <a16:creationId xmlns:a16="http://schemas.microsoft.com/office/drawing/2014/main" id="{441B1644-C28B-486F-A2AB-D2F6B79FACA3}"/>
              </a:ext>
            </a:extLst>
          </p:cNvPr>
          <p:cNvSpPr>
            <a:spLocks xmlns:a="http://schemas.openxmlformats.org/drawingml/2006/main" noGrp="1"/>
          </p:cNvSpPr>
          <p:nvPr/>
        </p:nvSpPr>
        <p:spPr>
          <a:xfrm xmlns:a="http://schemas.openxmlformats.org/drawingml/2006/main">
            <a:off x="658368" y="296265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Depository KYC update</a:t>
            </a:r>
            <a:endParaRPr sz="980"/>
          </a:p>
        </p:txBody>
      </p:sp>
      <p:sp>
        <p:nvSpPr>
          <p:cNvPr id="29" name="Shape 27">
            <a:extLst xmlns:a="http://schemas.openxmlformats.org/drawingml/2006/main">
              <a:ext uri="{FF2B5EF4-FFF2-40B4-BE49-F238E27FC236}">
                <a16:creationId xmlns:a16="http://schemas.microsoft.com/office/drawing/2014/main" id="{C44AE35E-F5A0-4FFA-A064-FEFEE9EAA5C8}"/>
              </a:ext>
            </a:extLst>
          </p:cNvPr>
          <p:cNvSpPr>
            <a:spLocks xmlns:a="http://schemas.openxmlformats.org/drawingml/2006/main" noGrp="1"/>
          </p:cNvSpPr>
          <p:nvPr/>
        </p:nvSpPr>
        <p:spPr>
          <a:xfrm xmlns:a="http://schemas.openxmlformats.org/drawingml/2006/main">
            <a:off x="3355848" y="2944368"/>
            <a:ext cx="694944" cy="237744"/>
          </a:xfrm>
          <a:prstGeom xmlns:a="http://schemas.openxmlformats.org/drawingml/2006/main" prst="roundRect">
            <a:avLst>
              <a:gd name="adj" fmla="val 30769"/>
            </a:avLst>
          </a:prstGeom>
          <a:solidFill xmlns:a="http://schemas.openxmlformats.org/drawingml/2006/main">
            <a:srgbClr val="E3EAF2"/>
          </a:solidFill>
        </p:spPr>
      </p:sp>
      <p:sp>
        <p:nvSpPr>
          <p:cNvPr id="30" name="Text 28">
            <a:extLst xmlns:a="http://schemas.openxmlformats.org/drawingml/2006/main">
              <a:ext uri="{FF2B5EF4-FFF2-40B4-BE49-F238E27FC236}">
                <a16:creationId xmlns:a16="http://schemas.microsoft.com/office/drawing/2014/main" id="{8C94E625-39A0-4093-A24F-993CFE8D061C}"/>
              </a:ext>
            </a:extLst>
          </p:cNvPr>
          <p:cNvSpPr>
            <a:spLocks xmlns:a="http://schemas.openxmlformats.org/drawingml/2006/main" noGrp="1"/>
          </p:cNvSpPr>
          <p:nvPr/>
        </p:nvSpPr>
        <p:spPr>
          <a:xfrm xmlns:a="http://schemas.openxmlformats.org/drawingml/2006/main">
            <a:off x="3355848" y="2976372"/>
            <a:ext cx="6949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SERVE</a:t>
            </a:r>
            <a:endParaRPr sz="820"/>
          </a:p>
        </p:txBody>
      </p:sp>
      <p:sp>
        <p:nvSpPr>
          <p:cNvPr id="31" name="Text 29">
            <a:extLst xmlns:a="http://schemas.openxmlformats.org/drawingml/2006/main">
              <a:ext uri="{FF2B5EF4-FFF2-40B4-BE49-F238E27FC236}">
                <a16:creationId xmlns:a16="http://schemas.microsoft.com/office/drawing/2014/main" id="{DA7A422A-265E-4F9C-BCA0-6B3BD5B588D6}"/>
              </a:ext>
            </a:extLst>
          </p:cNvPr>
          <p:cNvSpPr>
            <a:spLocks xmlns:a="http://schemas.openxmlformats.org/drawingml/2006/main" noGrp="1"/>
          </p:cNvSpPr>
          <p:nvPr/>
        </p:nvSpPr>
        <p:spPr>
          <a:xfrm xmlns:a="http://schemas.openxmlformats.org/drawingml/2006/main">
            <a:off x="4315968" y="2962656"/>
            <a:ext cx="2788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Straight-through completion rate</a:t>
            </a:r>
            <a:endParaRPr sz="940"/>
          </a:p>
        </p:txBody>
      </p:sp>
      <p:sp>
        <p:nvSpPr>
          <p:cNvPr id="32" name="Text 30">
            <a:extLst xmlns:a="http://schemas.openxmlformats.org/drawingml/2006/main">
              <a:ext uri="{FF2B5EF4-FFF2-40B4-BE49-F238E27FC236}">
                <a16:creationId xmlns:a16="http://schemas.microsoft.com/office/drawing/2014/main" id="{5277A062-64BC-4821-B1C6-5465C85ECB8A}"/>
              </a:ext>
            </a:extLst>
          </p:cNvPr>
          <p:cNvSpPr>
            <a:spLocks xmlns:a="http://schemas.openxmlformats.org/drawingml/2006/main" noGrp="1"/>
          </p:cNvSpPr>
          <p:nvPr/>
        </p:nvSpPr>
        <p:spPr>
          <a:xfrm xmlns:a="http://schemas.openxmlformats.org/drawingml/2006/main">
            <a:off x="7333488" y="2962656"/>
            <a:ext cx="2103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Branch-handled update volume</a:t>
            </a:r>
            <a:endParaRPr sz="940"/>
          </a:p>
        </p:txBody>
      </p:sp>
      <p:sp>
        <p:nvSpPr>
          <p:cNvPr id="33" name="Text 31">
            <a:extLst xmlns:a="http://schemas.openxmlformats.org/drawingml/2006/main">
              <a:ext uri="{FF2B5EF4-FFF2-40B4-BE49-F238E27FC236}">
                <a16:creationId xmlns:a16="http://schemas.microsoft.com/office/drawing/2014/main" id="{8588982D-41DF-49BC-BB80-A81AAA8B59D2}"/>
              </a:ext>
            </a:extLst>
          </p:cNvPr>
          <p:cNvSpPr>
            <a:spLocks xmlns:a="http://schemas.openxmlformats.org/drawingml/2006/main" noGrp="1"/>
          </p:cNvSpPr>
          <p:nvPr/>
        </p:nvSpPr>
        <p:spPr>
          <a:xfrm xmlns:a="http://schemas.openxmlformats.org/drawingml/2006/main">
            <a:off x="9665208" y="2953512"/>
            <a:ext cx="685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627D98"/>
                </a:solidFill>
                <a:latin typeface="Arial"/>
                <a:ea typeface="Arial"/>
                <a:cs typeface="Arial"/>
              </a:rPr>
              <a:t>0%</a:t>
            </a:r>
            <a:endParaRPr sz="1000"/>
          </a:p>
        </p:txBody>
      </p:sp>
      <p:sp>
        <p:nvSpPr>
          <p:cNvPr id="34" name="Text 32">
            <a:extLst xmlns:a="http://schemas.openxmlformats.org/drawingml/2006/main">
              <a:ext uri="{FF2B5EF4-FFF2-40B4-BE49-F238E27FC236}">
                <a16:creationId xmlns:a16="http://schemas.microsoft.com/office/drawing/2014/main" id="{14C129D3-AFCB-4C0B-8133-E0E14C4BFFD0}"/>
              </a:ext>
            </a:extLst>
          </p:cNvPr>
          <p:cNvSpPr>
            <a:spLocks xmlns:a="http://schemas.openxmlformats.org/drawingml/2006/main" noGrp="1"/>
          </p:cNvSpPr>
          <p:nvPr/>
        </p:nvSpPr>
        <p:spPr>
          <a:xfrm xmlns:a="http://schemas.openxmlformats.org/drawingml/2006/main">
            <a:off x="10579608" y="2935224"/>
            <a:ext cx="95371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150" b="1">
                <a:solidFill>
                  <a:srgbClr val="B04A25"/>
                </a:solidFill>
                <a:latin typeface="Arial"/>
                <a:ea typeface="Arial"/>
                <a:cs typeface="Arial"/>
              </a:rPr>
              <a:t>72%</a:t>
            </a:r>
            <a:endParaRPr sz="1150"/>
          </a:p>
        </p:txBody>
      </p:sp>
      <p:sp>
        <p:nvSpPr>
          <p:cNvPr id="35" name="Shape 33">
            <a:extLst xmlns:a="http://schemas.openxmlformats.org/drawingml/2006/main">
              <a:ext uri="{FF2B5EF4-FFF2-40B4-BE49-F238E27FC236}">
                <a16:creationId xmlns:a16="http://schemas.microsoft.com/office/drawing/2014/main" id="{E48602C8-CF58-4997-9F0F-3FF792B9E471}"/>
              </a:ext>
            </a:extLst>
          </p:cNvPr>
          <p:cNvSpPr>
            <a:spLocks xmlns:a="http://schemas.openxmlformats.org/drawingml/2006/main" noGrp="1"/>
          </p:cNvSpPr>
          <p:nvPr/>
        </p:nvSpPr>
        <p:spPr>
          <a:xfrm xmlns:a="http://schemas.openxmlformats.org/drawingml/2006/main">
            <a:off x="566928" y="334670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3E321DA0-2DE2-466C-A6E3-041C3D5F45AD}"/>
              </a:ext>
            </a:extLst>
          </p:cNvPr>
          <p:cNvSpPr>
            <a:spLocks xmlns:a="http://schemas.openxmlformats.org/drawingml/2006/main" noGrp="1"/>
          </p:cNvSpPr>
          <p:nvPr/>
        </p:nvSpPr>
        <p:spPr>
          <a:xfrm xmlns:a="http://schemas.openxmlformats.org/drawingml/2006/main">
            <a:off x="566928" y="3346704"/>
            <a:ext cx="11057839" cy="548640"/>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3DDFBCC5-DB6A-40B2-A428-CF2EADC6A8A9}"/>
              </a:ext>
            </a:extLst>
          </p:cNvPr>
          <p:cNvSpPr>
            <a:spLocks xmlns:a="http://schemas.openxmlformats.org/drawingml/2006/main" noGrp="1"/>
          </p:cNvSpPr>
          <p:nvPr/>
        </p:nvSpPr>
        <p:spPr>
          <a:xfrm xmlns:a="http://schemas.openxmlformats.org/drawingml/2006/main">
            <a:off x="658368" y="351129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Group health insurance</a:t>
            </a:r>
            <a:endParaRPr sz="980"/>
          </a:p>
        </p:txBody>
      </p:sp>
      <p:sp>
        <p:nvSpPr>
          <p:cNvPr id="38" name="Shape 36">
            <a:extLst xmlns:a="http://schemas.openxmlformats.org/drawingml/2006/main">
              <a:ext uri="{FF2B5EF4-FFF2-40B4-BE49-F238E27FC236}">
                <a16:creationId xmlns:a16="http://schemas.microsoft.com/office/drawing/2014/main" id="{FC2E6AE9-D0A6-4206-AE16-D698DF13DF6B}"/>
              </a:ext>
            </a:extLst>
          </p:cNvPr>
          <p:cNvSpPr>
            <a:spLocks xmlns:a="http://schemas.openxmlformats.org/drawingml/2006/main" noGrp="1"/>
          </p:cNvSpPr>
          <p:nvPr/>
        </p:nvSpPr>
        <p:spPr>
          <a:xfrm xmlns:a="http://schemas.openxmlformats.org/drawingml/2006/main">
            <a:off x="3355848" y="3493008"/>
            <a:ext cx="694944" cy="237744"/>
          </a:xfrm>
          <a:prstGeom xmlns:a="http://schemas.openxmlformats.org/drawingml/2006/main" prst="roundRect">
            <a:avLst>
              <a:gd name="adj" fmla="val 30769"/>
            </a:avLst>
          </a:prstGeom>
          <a:solidFill xmlns:a="http://schemas.openxmlformats.org/drawingml/2006/main">
            <a:srgbClr val="E3EAF2"/>
          </a:solidFill>
        </p:spPr>
      </p:sp>
      <p:sp>
        <p:nvSpPr>
          <p:cNvPr id="39" name="Text 37">
            <a:extLst xmlns:a="http://schemas.openxmlformats.org/drawingml/2006/main">
              <a:ext uri="{FF2B5EF4-FFF2-40B4-BE49-F238E27FC236}">
                <a16:creationId xmlns:a16="http://schemas.microsoft.com/office/drawing/2014/main" id="{CEF5F07A-D363-4A51-937E-D2E4D60D985D}"/>
              </a:ext>
            </a:extLst>
          </p:cNvPr>
          <p:cNvSpPr>
            <a:spLocks xmlns:a="http://schemas.openxmlformats.org/drawingml/2006/main" noGrp="1"/>
          </p:cNvSpPr>
          <p:nvPr/>
        </p:nvSpPr>
        <p:spPr>
          <a:xfrm xmlns:a="http://schemas.openxmlformats.org/drawingml/2006/main">
            <a:off x="3355848" y="3525012"/>
            <a:ext cx="6949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CROSS</a:t>
            </a:r>
            <a:endParaRPr sz="820"/>
          </a:p>
        </p:txBody>
      </p:sp>
      <p:sp>
        <p:nvSpPr>
          <p:cNvPr id="40" name="Text 38">
            <a:extLst xmlns:a="http://schemas.openxmlformats.org/drawingml/2006/main">
              <a:ext uri="{FF2B5EF4-FFF2-40B4-BE49-F238E27FC236}">
                <a16:creationId xmlns:a16="http://schemas.microsoft.com/office/drawing/2014/main" id="{6523D01E-EAC0-4F86-BBA4-DC44EA40A013}"/>
              </a:ext>
            </a:extLst>
          </p:cNvPr>
          <p:cNvSpPr>
            <a:spLocks xmlns:a="http://schemas.openxmlformats.org/drawingml/2006/main" noGrp="1"/>
          </p:cNvSpPr>
          <p:nvPr/>
        </p:nvSpPr>
        <p:spPr>
          <a:xfrm xmlns:a="http://schemas.openxmlformats.org/drawingml/2006/main">
            <a:off x="4315968" y="3511296"/>
            <a:ext cx="2788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Offer-to-issued conversion</a:t>
            </a:r>
            <a:endParaRPr sz="940"/>
          </a:p>
        </p:txBody>
      </p:sp>
      <p:sp>
        <p:nvSpPr>
          <p:cNvPr id="41" name="Text 39">
            <a:extLst xmlns:a="http://schemas.openxmlformats.org/drawingml/2006/main">
              <a:ext uri="{FF2B5EF4-FFF2-40B4-BE49-F238E27FC236}">
                <a16:creationId xmlns:a16="http://schemas.microsoft.com/office/drawing/2014/main" id="{6DBFF84B-E855-4B38-82FE-DA8F933092EB}"/>
              </a:ext>
            </a:extLst>
          </p:cNvPr>
          <p:cNvSpPr>
            <a:spLocks xmlns:a="http://schemas.openxmlformats.org/drawingml/2006/main" noGrp="1"/>
          </p:cNvSpPr>
          <p:nvPr/>
        </p:nvSpPr>
        <p:spPr>
          <a:xfrm xmlns:a="http://schemas.openxmlformats.org/drawingml/2006/main">
            <a:off x="7333488" y="3511296"/>
            <a:ext cx="2103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Assisted bancassurance conversion</a:t>
            </a:r>
            <a:endParaRPr sz="940"/>
          </a:p>
        </p:txBody>
      </p:sp>
      <p:sp>
        <p:nvSpPr>
          <p:cNvPr id="42" name="Text 40">
            <a:extLst xmlns:a="http://schemas.openxmlformats.org/drawingml/2006/main">
              <a:ext uri="{FF2B5EF4-FFF2-40B4-BE49-F238E27FC236}">
                <a16:creationId xmlns:a16="http://schemas.microsoft.com/office/drawing/2014/main" id="{FD825F22-5AE8-4C68-8E98-61170EF4DDF7}"/>
              </a:ext>
            </a:extLst>
          </p:cNvPr>
          <p:cNvSpPr>
            <a:spLocks xmlns:a="http://schemas.openxmlformats.org/drawingml/2006/main" noGrp="1"/>
          </p:cNvSpPr>
          <p:nvPr/>
        </p:nvSpPr>
        <p:spPr>
          <a:xfrm xmlns:a="http://schemas.openxmlformats.org/drawingml/2006/main">
            <a:off x="9665208" y="3502152"/>
            <a:ext cx="685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627D98"/>
                </a:solidFill>
                <a:latin typeface="Arial"/>
                <a:ea typeface="Arial"/>
                <a:cs typeface="Arial"/>
              </a:rPr>
              <a:t>2.1%</a:t>
            </a:r>
            <a:endParaRPr sz="1000"/>
          </a:p>
        </p:txBody>
      </p:sp>
      <p:sp>
        <p:nvSpPr>
          <p:cNvPr id="43" name="Text 41">
            <a:extLst xmlns:a="http://schemas.openxmlformats.org/drawingml/2006/main">
              <a:ext uri="{FF2B5EF4-FFF2-40B4-BE49-F238E27FC236}">
                <a16:creationId xmlns:a16="http://schemas.microsoft.com/office/drawing/2014/main" id="{E9E50154-1FC6-4CCD-A4A9-CCE911AFF024}"/>
              </a:ext>
            </a:extLst>
          </p:cNvPr>
          <p:cNvSpPr>
            <a:spLocks xmlns:a="http://schemas.openxmlformats.org/drawingml/2006/main" noGrp="1"/>
          </p:cNvSpPr>
          <p:nvPr/>
        </p:nvSpPr>
        <p:spPr>
          <a:xfrm xmlns:a="http://schemas.openxmlformats.org/drawingml/2006/main">
            <a:off x="10579608" y="3483864"/>
            <a:ext cx="95371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150" b="1">
                <a:solidFill>
                  <a:srgbClr val="B04A25"/>
                </a:solidFill>
                <a:latin typeface="Arial"/>
                <a:ea typeface="Arial"/>
                <a:cs typeface="Arial"/>
              </a:rPr>
              <a:t>3.4%</a:t>
            </a:r>
            <a:endParaRPr sz="1150"/>
          </a:p>
        </p:txBody>
      </p:sp>
      <p:sp>
        <p:nvSpPr>
          <p:cNvPr id="44" name="Shape 42">
            <a:extLst xmlns:a="http://schemas.openxmlformats.org/drawingml/2006/main">
              <a:ext uri="{FF2B5EF4-FFF2-40B4-BE49-F238E27FC236}">
                <a16:creationId xmlns:a16="http://schemas.microsoft.com/office/drawing/2014/main" id="{883DA47C-14E7-442D-B43C-B39F68D13040}"/>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45" name="Text 43">
            <a:extLst xmlns:a="http://schemas.openxmlformats.org/drawingml/2006/main">
              <a:ext uri="{FF2B5EF4-FFF2-40B4-BE49-F238E27FC236}">
                <a16:creationId xmlns:a16="http://schemas.microsoft.com/office/drawing/2014/main" id="{6BABB6E5-D67D-4EB1-AA75-7CAB6E9DBB25}"/>
              </a:ext>
            </a:extLst>
          </p:cNvPr>
          <p:cNvSpPr>
            <a:spLocks xmlns:a="http://schemas.openxmlformats.org/drawingml/2006/main" noGrp="1"/>
          </p:cNvSpPr>
          <p:nvPr/>
        </p:nvSpPr>
        <p:spPr>
          <a:xfrm xmlns:a="http://schemas.openxmlformats.org/drawingml/2006/main">
            <a:off x="658368" y="405993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Commercial card application</a:t>
            </a:r>
            <a:endParaRPr sz="980"/>
          </a:p>
        </p:txBody>
      </p:sp>
      <p:sp>
        <p:nvSpPr>
          <p:cNvPr id="46" name="Shape 44">
            <a:extLst xmlns:a="http://schemas.openxmlformats.org/drawingml/2006/main">
              <a:ext uri="{FF2B5EF4-FFF2-40B4-BE49-F238E27FC236}">
                <a16:creationId xmlns:a16="http://schemas.microsoft.com/office/drawing/2014/main" id="{9F04421C-F6E0-434C-8115-D105EEC67279}"/>
              </a:ext>
            </a:extLst>
          </p:cNvPr>
          <p:cNvSpPr>
            <a:spLocks xmlns:a="http://schemas.openxmlformats.org/drawingml/2006/main" noGrp="1"/>
          </p:cNvSpPr>
          <p:nvPr/>
        </p:nvSpPr>
        <p:spPr>
          <a:xfrm xmlns:a="http://schemas.openxmlformats.org/drawingml/2006/main">
            <a:off x="3355848" y="4041648"/>
            <a:ext cx="694944" cy="237744"/>
          </a:xfrm>
          <a:prstGeom xmlns:a="http://schemas.openxmlformats.org/drawingml/2006/main" prst="roundRect">
            <a:avLst>
              <a:gd name="adj" fmla="val 30769"/>
            </a:avLst>
          </a:prstGeom>
          <a:solidFill xmlns:a="http://schemas.openxmlformats.org/drawingml/2006/main">
            <a:srgbClr val="E3EAF2"/>
          </a:solidFill>
        </p:spPr>
      </p:sp>
      <p:sp>
        <p:nvSpPr>
          <p:cNvPr id="47" name="Text 45">
            <a:extLst xmlns:a="http://schemas.openxmlformats.org/drawingml/2006/main">
              <a:ext uri="{FF2B5EF4-FFF2-40B4-BE49-F238E27FC236}">
                <a16:creationId xmlns:a16="http://schemas.microsoft.com/office/drawing/2014/main" id="{EF8FF267-8803-4AD2-B4BE-8A00040733B5}"/>
              </a:ext>
            </a:extLst>
          </p:cNvPr>
          <p:cNvSpPr>
            <a:spLocks xmlns:a="http://schemas.openxmlformats.org/drawingml/2006/main" noGrp="1"/>
          </p:cNvSpPr>
          <p:nvPr/>
        </p:nvSpPr>
        <p:spPr>
          <a:xfrm xmlns:a="http://schemas.openxmlformats.org/drawingml/2006/main">
            <a:off x="3355848" y="4073652"/>
            <a:ext cx="6949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GROW</a:t>
            </a:r>
            <a:endParaRPr sz="820"/>
          </a:p>
        </p:txBody>
      </p:sp>
      <p:sp>
        <p:nvSpPr>
          <p:cNvPr id="48" name="Text 46">
            <a:extLst xmlns:a="http://schemas.openxmlformats.org/drawingml/2006/main">
              <a:ext uri="{FF2B5EF4-FFF2-40B4-BE49-F238E27FC236}">
                <a16:creationId xmlns:a16="http://schemas.microsoft.com/office/drawing/2014/main" id="{89A4A4AC-B539-445E-96E9-EB0BC97A2CAC}"/>
              </a:ext>
            </a:extLst>
          </p:cNvPr>
          <p:cNvSpPr>
            <a:spLocks xmlns:a="http://schemas.openxmlformats.org/drawingml/2006/main" noGrp="1"/>
          </p:cNvSpPr>
          <p:nvPr/>
        </p:nvSpPr>
        <p:spPr>
          <a:xfrm xmlns:a="http://schemas.openxmlformats.org/drawingml/2006/main">
            <a:off x="4315968" y="4059936"/>
            <a:ext cx="2788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Completion by customer state</a:t>
            </a:r>
            <a:endParaRPr sz="940"/>
          </a:p>
        </p:txBody>
      </p:sp>
      <p:sp>
        <p:nvSpPr>
          <p:cNvPr id="49" name="Text 47">
            <a:extLst xmlns:a="http://schemas.openxmlformats.org/drawingml/2006/main">
              <a:ext uri="{FF2B5EF4-FFF2-40B4-BE49-F238E27FC236}">
                <a16:creationId xmlns:a16="http://schemas.microsoft.com/office/drawing/2014/main" id="{DC28CA32-E96B-4443-AFE3-4789C17C864D}"/>
              </a:ext>
            </a:extLst>
          </p:cNvPr>
          <p:cNvSpPr>
            <a:spLocks xmlns:a="http://schemas.openxmlformats.org/drawingml/2006/main" noGrp="1"/>
          </p:cNvSpPr>
          <p:nvPr/>
        </p:nvSpPr>
        <p:spPr>
          <a:xfrm xmlns:a="http://schemas.openxmlformats.org/drawingml/2006/main">
            <a:off x="7333488" y="4059936"/>
            <a:ext cx="2103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Assisted completion, split by state</a:t>
            </a:r>
            <a:endParaRPr sz="940"/>
          </a:p>
        </p:txBody>
      </p:sp>
      <p:sp>
        <p:nvSpPr>
          <p:cNvPr id="50" name="Text 48">
            <a:extLst xmlns:a="http://schemas.openxmlformats.org/drawingml/2006/main">
              <a:ext uri="{FF2B5EF4-FFF2-40B4-BE49-F238E27FC236}">
                <a16:creationId xmlns:a16="http://schemas.microsoft.com/office/drawing/2014/main" id="{40321DEF-1569-4621-A605-40C8224DDE52}"/>
              </a:ext>
            </a:extLst>
          </p:cNvPr>
          <p:cNvSpPr>
            <a:spLocks xmlns:a="http://schemas.openxmlformats.org/drawingml/2006/main" noGrp="1"/>
          </p:cNvSpPr>
          <p:nvPr/>
        </p:nvSpPr>
        <p:spPr>
          <a:xfrm xmlns:a="http://schemas.openxmlformats.org/drawingml/2006/main">
            <a:off x="9665208" y="4050792"/>
            <a:ext cx="685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627D98"/>
                </a:solidFill>
                <a:latin typeface="Arial"/>
                <a:ea typeface="Arial"/>
                <a:cs typeface="Arial"/>
              </a:rPr>
              <a:t>52%</a:t>
            </a:r>
            <a:endParaRPr sz="1000"/>
          </a:p>
        </p:txBody>
      </p:sp>
      <p:sp>
        <p:nvSpPr>
          <p:cNvPr id="51" name="Text 49">
            <a:extLst xmlns:a="http://schemas.openxmlformats.org/drawingml/2006/main">
              <a:ext uri="{FF2B5EF4-FFF2-40B4-BE49-F238E27FC236}">
                <a16:creationId xmlns:a16="http://schemas.microsoft.com/office/drawing/2014/main" id="{5348C643-9A8F-48E5-847F-59831F116877}"/>
              </a:ext>
            </a:extLst>
          </p:cNvPr>
          <p:cNvSpPr>
            <a:spLocks xmlns:a="http://schemas.openxmlformats.org/drawingml/2006/main" noGrp="1"/>
          </p:cNvSpPr>
          <p:nvPr/>
        </p:nvSpPr>
        <p:spPr>
          <a:xfrm xmlns:a="http://schemas.openxmlformats.org/drawingml/2006/main">
            <a:off x="10579608" y="4032504"/>
            <a:ext cx="95371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150" b="1">
                <a:solidFill>
                  <a:srgbClr val="B04A25"/>
                </a:solidFill>
                <a:latin typeface="Arial"/>
                <a:ea typeface="Arial"/>
                <a:cs typeface="Arial"/>
              </a:rPr>
              <a:t>71 / 43%</a:t>
            </a:r>
            <a:endParaRPr sz="1150"/>
          </a:p>
        </p:txBody>
      </p:sp>
      <p:sp>
        <p:nvSpPr>
          <p:cNvPr id="52" name="Shape 50">
            <a:extLst xmlns:a="http://schemas.openxmlformats.org/drawingml/2006/main">
              <a:ext uri="{FF2B5EF4-FFF2-40B4-BE49-F238E27FC236}">
                <a16:creationId xmlns:a16="http://schemas.microsoft.com/office/drawing/2014/main" id="{063D1DD9-3FCF-4073-874B-1DFEA9B80855}"/>
              </a:ext>
            </a:extLst>
          </p:cNvPr>
          <p:cNvSpPr>
            <a:spLocks xmlns:a="http://schemas.openxmlformats.org/drawingml/2006/main" noGrp="1"/>
          </p:cNvSpPr>
          <p:nvPr/>
        </p:nvSpPr>
        <p:spPr>
          <a:xfrm xmlns:a="http://schemas.openxmlformats.org/drawingml/2006/main">
            <a:off x="566928" y="4443984"/>
            <a:ext cx="11057839" cy="7315"/>
          </a:xfrm>
          <a:prstGeom xmlns:a="http://schemas.openxmlformats.org/drawingml/2006/main" prst="rect">
            <a:avLst/>
          </a:prstGeom>
          <a:solidFill xmlns:a="http://schemas.openxmlformats.org/drawingml/2006/main">
            <a:srgbClr val="CBD5E0"/>
          </a:solidFill>
        </p:spPr>
      </p:sp>
      <p:sp>
        <p:nvSpPr>
          <p:cNvPr id="53" name="Shape 51">
            <a:extLst xmlns:a="http://schemas.openxmlformats.org/drawingml/2006/main">
              <a:ext uri="{FF2B5EF4-FFF2-40B4-BE49-F238E27FC236}">
                <a16:creationId xmlns:a16="http://schemas.microsoft.com/office/drawing/2014/main" id="{42D067CB-909D-4861-B5D9-6467480BC1DE}"/>
              </a:ext>
            </a:extLst>
          </p:cNvPr>
          <p:cNvSpPr>
            <a:spLocks xmlns:a="http://schemas.openxmlformats.org/drawingml/2006/main" noGrp="1"/>
          </p:cNvSpPr>
          <p:nvPr/>
        </p:nvSpPr>
        <p:spPr>
          <a:xfrm xmlns:a="http://schemas.openxmlformats.org/drawingml/2006/main">
            <a:off x="566928" y="4443984"/>
            <a:ext cx="11057839" cy="548640"/>
          </a:xfrm>
          <a:prstGeom xmlns:a="http://schemas.openxmlformats.org/drawingml/2006/main" prst="rect">
            <a:avLst/>
          </a:prstGeom>
          <a:solidFill xmlns:a="http://schemas.openxmlformats.org/drawingml/2006/main">
            <a:srgbClr val="F7F9FB"/>
          </a:solidFill>
        </p:spPr>
      </p:sp>
      <p:sp>
        <p:nvSpPr>
          <p:cNvPr id="54" name="Text 52">
            <a:extLst xmlns:a="http://schemas.openxmlformats.org/drawingml/2006/main">
              <a:ext uri="{FF2B5EF4-FFF2-40B4-BE49-F238E27FC236}">
                <a16:creationId xmlns:a16="http://schemas.microsoft.com/office/drawing/2014/main" id="{136DB793-F8DF-4097-A7FF-F391518E48A1}"/>
              </a:ext>
            </a:extLst>
          </p:cNvPr>
          <p:cNvSpPr>
            <a:spLocks xmlns:a="http://schemas.openxmlformats.org/drawingml/2006/main" noGrp="1"/>
          </p:cNvSpPr>
          <p:nvPr/>
        </p:nvSpPr>
        <p:spPr>
          <a:xfrm xmlns:a="http://schemas.openxmlformats.org/drawingml/2006/main">
            <a:off x="658368" y="4608576"/>
            <a:ext cx="2514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Beneficial ownership</a:t>
            </a:r>
            <a:endParaRPr sz="980"/>
          </a:p>
        </p:txBody>
      </p:sp>
      <p:sp>
        <p:nvSpPr>
          <p:cNvPr id="55" name="Shape 53">
            <a:extLst xmlns:a="http://schemas.openxmlformats.org/drawingml/2006/main">
              <a:ext uri="{FF2B5EF4-FFF2-40B4-BE49-F238E27FC236}">
                <a16:creationId xmlns:a16="http://schemas.microsoft.com/office/drawing/2014/main" id="{81C93119-D770-4F95-9E10-CCFA1549A326}"/>
              </a:ext>
            </a:extLst>
          </p:cNvPr>
          <p:cNvSpPr>
            <a:spLocks xmlns:a="http://schemas.openxmlformats.org/drawingml/2006/main" noGrp="1"/>
          </p:cNvSpPr>
          <p:nvPr/>
        </p:nvSpPr>
        <p:spPr>
          <a:xfrm xmlns:a="http://schemas.openxmlformats.org/drawingml/2006/main">
            <a:off x="3355848" y="4590288"/>
            <a:ext cx="694944" cy="237744"/>
          </a:xfrm>
          <a:prstGeom xmlns:a="http://schemas.openxmlformats.org/drawingml/2006/main" prst="roundRect">
            <a:avLst>
              <a:gd name="adj" fmla="val 30769"/>
            </a:avLst>
          </a:prstGeom>
          <a:solidFill xmlns:a="http://schemas.openxmlformats.org/drawingml/2006/main">
            <a:srgbClr val="E3EAF2"/>
          </a:solidFill>
        </p:spPr>
      </p:sp>
      <p:sp>
        <p:nvSpPr>
          <p:cNvPr id="56" name="Text 54">
            <a:extLst xmlns:a="http://schemas.openxmlformats.org/drawingml/2006/main">
              <a:ext uri="{FF2B5EF4-FFF2-40B4-BE49-F238E27FC236}">
                <a16:creationId xmlns:a16="http://schemas.microsoft.com/office/drawing/2014/main" id="{8F47E1FC-7BA7-46AF-AFCF-485C53A3A7A4}"/>
              </a:ext>
            </a:extLst>
          </p:cNvPr>
          <p:cNvSpPr>
            <a:spLocks xmlns:a="http://schemas.openxmlformats.org/drawingml/2006/main" noGrp="1"/>
          </p:cNvSpPr>
          <p:nvPr/>
        </p:nvSpPr>
        <p:spPr>
          <a:xfrm xmlns:a="http://schemas.openxmlformats.org/drawingml/2006/main">
            <a:off x="3355848" y="4622292"/>
            <a:ext cx="6949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COMPLY</a:t>
            </a:r>
            <a:endParaRPr sz="820"/>
          </a:p>
        </p:txBody>
      </p:sp>
      <p:sp>
        <p:nvSpPr>
          <p:cNvPr id="57" name="Text 55">
            <a:extLst xmlns:a="http://schemas.openxmlformats.org/drawingml/2006/main">
              <a:ext uri="{FF2B5EF4-FFF2-40B4-BE49-F238E27FC236}">
                <a16:creationId xmlns:a16="http://schemas.microsoft.com/office/drawing/2014/main" id="{F16CC405-F00C-43EA-A692-6A2C934311AD}"/>
              </a:ext>
            </a:extLst>
          </p:cNvPr>
          <p:cNvSpPr>
            <a:spLocks xmlns:a="http://schemas.openxmlformats.org/drawingml/2006/main" noGrp="1"/>
          </p:cNvSpPr>
          <p:nvPr/>
        </p:nvSpPr>
        <p:spPr>
          <a:xfrm xmlns:a="http://schemas.openxmlformats.org/drawingml/2006/main">
            <a:off x="4315968" y="4608576"/>
            <a:ext cx="2788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Self-declaration coverage</a:t>
            </a:r>
            <a:endParaRPr sz="940"/>
          </a:p>
        </p:txBody>
      </p:sp>
      <p:sp>
        <p:nvSpPr>
          <p:cNvPr id="58" name="Text 56">
            <a:extLst xmlns:a="http://schemas.openxmlformats.org/drawingml/2006/main">
              <a:ext uri="{FF2B5EF4-FFF2-40B4-BE49-F238E27FC236}">
                <a16:creationId xmlns:a16="http://schemas.microsoft.com/office/drawing/2014/main" id="{479B25D3-1EC9-474D-AC62-1E67C1D1A406}"/>
              </a:ext>
            </a:extLst>
          </p:cNvPr>
          <p:cNvSpPr>
            <a:spLocks xmlns:a="http://schemas.openxmlformats.org/drawingml/2006/main" noGrp="1"/>
          </p:cNvSpPr>
          <p:nvPr/>
        </p:nvSpPr>
        <p:spPr>
          <a:xfrm xmlns:a="http://schemas.openxmlformats.org/drawingml/2006/main">
            <a:off x="7333488" y="4608576"/>
            <a:ext cx="21031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Manual chase completion rate</a:t>
            </a:r>
            <a:endParaRPr sz="940"/>
          </a:p>
        </p:txBody>
      </p:sp>
      <p:sp>
        <p:nvSpPr>
          <p:cNvPr id="59" name="Text 57">
            <a:extLst xmlns:a="http://schemas.openxmlformats.org/drawingml/2006/main">
              <a:ext uri="{FF2B5EF4-FFF2-40B4-BE49-F238E27FC236}">
                <a16:creationId xmlns:a16="http://schemas.microsoft.com/office/drawing/2014/main" id="{3C028568-BFF8-4355-B2DA-C3F366B3CC90}"/>
              </a:ext>
            </a:extLst>
          </p:cNvPr>
          <p:cNvSpPr>
            <a:spLocks xmlns:a="http://schemas.openxmlformats.org/drawingml/2006/main" noGrp="1"/>
          </p:cNvSpPr>
          <p:nvPr/>
        </p:nvSpPr>
        <p:spPr>
          <a:xfrm xmlns:a="http://schemas.openxmlformats.org/drawingml/2006/main">
            <a:off x="9665208" y="4599432"/>
            <a:ext cx="6858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627D98"/>
                </a:solidFill>
                <a:latin typeface="Arial"/>
                <a:ea typeface="Arial"/>
                <a:cs typeface="Arial"/>
              </a:rPr>
              <a:t>31%</a:t>
            </a:r>
            <a:endParaRPr sz="1000"/>
          </a:p>
        </p:txBody>
      </p:sp>
      <p:sp>
        <p:nvSpPr>
          <p:cNvPr id="60" name="Text 58">
            <a:extLst xmlns:a="http://schemas.openxmlformats.org/drawingml/2006/main">
              <a:ext uri="{FF2B5EF4-FFF2-40B4-BE49-F238E27FC236}">
                <a16:creationId xmlns:a16="http://schemas.microsoft.com/office/drawing/2014/main" id="{D38CDF9C-2D93-46DA-9AF2-E790F1FEE41A}"/>
              </a:ext>
            </a:extLst>
          </p:cNvPr>
          <p:cNvSpPr>
            <a:spLocks xmlns:a="http://schemas.openxmlformats.org/drawingml/2006/main" noGrp="1"/>
          </p:cNvSpPr>
          <p:nvPr/>
        </p:nvSpPr>
        <p:spPr>
          <a:xfrm xmlns:a="http://schemas.openxmlformats.org/drawingml/2006/main">
            <a:off x="10579608" y="4581144"/>
            <a:ext cx="95371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150" b="1">
                <a:solidFill>
                  <a:srgbClr val="B04A25"/>
                </a:solidFill>
                <a:latin typeface="Arial"/>
                <a:ea typeface="Arial"/>
                <a:cs typeface="Arial"/>
              </a:rPr>
              <a:t>68%</a:t>
            </a:r>
            <a:endParaRPr sz="1150"/>
          </a:p>
        </p:txBody>
      </p:sp>
      <p:sp>
        <p:nvSpPr>
          <p:cNvPr id="61" name="Shape 59">
            <a:extLst xmlns:a="http://schemas.openxmlformats.org/drawingml/2006/main">
              <a:ext uri="{FF2B5EF4-FFF2-40B4-BE49-F238E27FC236}">
                <a16:creationId xmlns:a16="http://schemas.microsoft.com/office/drawing/2014/main" id="{631B739C-0CCD-4F8D-ADD1-3E9CA874CDD7}"/>
              </a:ext>
            </a:extLst>
          </p:cNvPr>
          <p:cNvSpPr>
            <a:spLocks xmlns:a="http://schemas.openxmlformats.org/drawingml/2006/main" noGrp="1"/>
          </p:cNvSpPr>
          <p:nvPr/>
        </p:nvSpPr>
        <p:spPr>
          <a:xfrm xmlns:a="http://schemas.openxmlformats.org/drawingml/2006/main">
            <a:off x="566928" y="4992624"/>
            <a:ext cx="11057839" cy="7315"/>
          </a:xfrm>
          <a:prstGeom xmlns:a="http://schemas.openxmlformats.org/drawingml/2006/main" prst="rect">
            <a:avLst/>
          </a:prstGeom>
          <a:solidFill xmlns:a="http://schemas.openxmlformats.org/drawingml/2006/main">
            <a:srgbClr val="CBD5E0"/>
          </a:solidFill>
        </p:spPr>
      </p:sp>
      <p:sp>
        <p:nvSpPr>
          <p:cNvPr id="62" name="Shape 60">
            <a:extLst xmlns:a="http://schemas.openxmlformats.org/drawingml/2006/main">
              <a:ext uri="{FF2B5EF4-FFF2-40B4-BE49-F238E27FC236}">
                <a16:creationId xmlns:a16="http://schemas.microsoft.com/office/drawing/2014/main" id="{EF186BB8-D8C9-429B-B78E-31E1ECB1D419}"/>
              </a:ext>
            </a:extLst>
          </p:cNvPr>
          <p:cNvSpPr>
            <a:spLocks xmlns:a="http://schemas.openxmlformats.org/drawingml/2006/main" noGrp="1"/>
          </p:cNvSpPr>
          <p:nvPr/>
        </p:nvSpPr>
        <p:spPr>
          <a:xfrm xmlns:a="http://schemas.openxmlformats.org/drawingml/2006/main">
            <a:off x="566928" y="5266944"/>
            <a:ext cx="11057839" cy="932688"/>
          </a:xfrm>
          <a:prstGeom xmlns:a="http://schemas.openxmlformats.org/drawingml/2006/main" prst="rect">
            <a:avLst/>
          </a:prstGeom>
          <a:solidFill xmlns:a="http://schemas.openxmlformats.org/drawingml/2006/main">
            <a:srgbClr val="F3E6E0"/>
          </a:solidFill>
        </p:spPr>
      </p:sp>
      <p:sp>
        <p:nvSpPr>
          <p:cNvPr id="63" name="Text 61">
            <a:extLst xmlns:a="http://schemas.openxmlformats.org/drawingml/2006/main">
              <a:ext uri="{FF2B5EF4-FFF2-40B4-BE49-F238E27FC236}">
                <a16:creationId xmlns:a16="http://schemas.microsoft.com/office/drawing/2014/main" id="{6BD4F325-406F-46C5-AB03-AEE2EB58A602}"/>
              </a:ext>
            </a:extLst>
          </p:cNvPr>
          <p:cNvSpPr>
            <a:spLocks xmlns:a="http://schemas.openxmlformats.org/drawingml/2006/main" noGrp="1"/>
          </p:cNvSpPr>
          <p:nvPr/>
        </p:nvSpPr>
        <p:spPr>
          <a:xfrm xmlns:a="http://schemas.openxmlformats.org/drawingml/2006/main">
            <a:off x="804672" y="541324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baseline mattered more than the number</a:t>
            </a:r>
            <a:endParaRPr sz="1100"/>
          </a:p>
        </p:txBody>
      </p:sp>
      <p:sp>
        <p:nvSpPr>
          <p:cNvPr id="64" name="Text 62">
            <a:extLst xmlns:a="http://schemas.openxmlformats.org/drawingml/2006/main">
              <a:ext uri="{FF2B5EF4-FFF2-40B4-BE49-F238E27FC236}">
                <a16:creationId xmlns:a16="http://schemas.microsoft.com/office/drawing/2014/main" id="{A0DFDFD7-2579-4C90-9BA6-78C30BF80D3D}"/>
              </a:ext>
            </a:extLst>
          </p:cNvPr>
          <p:cNvSpPr>
            <a:spLocks xmlns:a="http://schemas.openxmlformats.org/drawingml/2006/main" noGrp="1"/>
          </p:cNvSpPr>
          <p:nvPr/>
        </p:nvSpPr>
        <p:spPr>
          <a:xfrm xmlns:a="http://schemas.openxmlformats.org/drawingml/2006/main">
            <a:off x="804672" y="5669280"/>
            <a:ext cx="1058235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80">
                <a:solidFill>
                  <a:srgbClr val="1A1A1A"/>
                </a:solidFill>
                <a:latin typeface="Arial"/>
                <a:ea typeface="Arial"/>
                <a:cs typeface="Arial"/>
              </a:rPr>
              <a:t>Six journeys launched into a bank running dozens of other changes in the same quarter. Without a per-journey baseline captured before release, any post-launch movement is arguable — and in a steering review an arguable number is worth less than no number at all. Instrumenting first is what makes the result defensible afterwards, and it is the discipline that transfers to any programme.</a:t>
            </a:r>
            <a:endParaRPr sz="980"/>
          </a:p>
        </p:txBody>
      </p:sp>
      <p:sp>
        <p:nvSpPr>
          <p:cNvPr id="65" name="Shape 63">
            <a:extLst xmlns:a="http://schemas.openxmlformats.org/drawingml/2006/main">
              <a:ext uri="{FF2B5EF4-FFF2-40B4-BE49-F238E27FC236}">
                <a16:creationId xmlns:a16="http://schemas.microsoft.com/office/drawing/2014/main" id="{E6985931-DD7A-4300-8F91-C832CF249A7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66" name="Text 64">
            <a:extLst xmlns:a="http://schemas.openxmlformats.org/drawingml/2006/main">
              <a:ext uri="{FF2B5EF4-FFF2-40B4-BE49-F238E27FC236}">
                <a16:creationId xmlns:a16="http://schemas.microsoft.com/office/drawing/2014/main" id="{1C19AF5E-AFD3-4B29-A823-557F0430720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 · targets from the value model</a:t>
            </a:r>
            <a:endParaRPr sz="850"/>
          </a:p>
        </p:txBody>
      </p:sp>
      <p:sp>
        <p:nvSpPr>
          <p:cNvPr id="67" name="Text 65">
            <a:extLst xmlns:a="http://schemas.openxmlformats.org/drawingml/2006/main">
              <a:ext uri="{FF2B5EF4-FFF2-40B4-BE49-F238E27FC236}">
                <a16:creationId xmlns:a16="http://schemas.microsoft.com/office/drawing/2014/main" id="{AECB9937-CD6C-4C58-9373-39445A9F8FB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16</a:t>
            </a:r>
            <a:endParaRPr sz="850"/>
          </a:p>
        </p:txBody>
      </p:sp>
    </p:spTree>
    <p:extLst>
      <p:ext uri="{BB962C8B-B14F-4D97-AF65-F5344CB8AC3E}">
        <p14:creationId xmlns:p14="http://schemas.microsoft.com/office/powerpoint/2010/main" val="1033089710"/>
      </p:ext>
    </p:extLst>
  </p:cSld>
</p:sld>
</file>

<file path=ppt/slides/slide5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CD973E-7850-4F44-9A9D-25437F65D6E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RETROSPECTIVE</a:t>
            </a:r>
            <a:endParaRPr sz="950"/>
          </a:p>
        </p:txBody>
      </p:sp>
      <p:sp>
        <p:nvSpPr>
          <p:cNvPr id="3" name="Text 1">
            <a:extLst xmlns:a="http://schemas.openxmlformats.org/drawingml/2006/main">
              <a:ext uri="{FF2B5EF4-FFF2-40B4-BE49-F238E27FC236}">
                <a16:creationId xmlns:a16="http://schemas.microsoft.com/office/drawing/2014/main" id="{E3472453-853E-4EE3-8991-9A5A44580E2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What held, what did not, and what I would do differently on the next estate</a:t>
            </a:r>
            <a:endParaRPr sz="1900"/>
          </a:p>
          <a:p xmlns:a="http://schemas.openxmlformats.org/drawingml/2006/main">
            <a:pPr marL="0" indent="0">
              <a:lnSpc>
                <a:spcPts val="2400"/>
              </a:lnSpc>
              <a:buNone/>
            </a:pPr>
            <a:r>
              <a:rPr sz="1900" b="1">
                <a:solidFill>
                  <a:srgbClr val="102A43"/>
                </a:solidFill>
                <a:latin typeface="Arial"/>
                <a:ea typeface="Arial"/>
                <a:cs typeface="Arial"/>
              </a:rPr>
              <a:t>of this size</a:t>
            </a:r>
            <a:endParaRPr sz="1900"/>
          </a:p>
        </p:txBody>
      </p:sp>
      <p:sp>
        <p:nvSpPr>
          <p:cNvPr id="4" name="Text 2">
            <a:extLst xmlns:a="http://schemas.openxmlformats.org/drawingml/2006/main">
              <a:ext uri="{FF2B5EF4-FFF2-40B4-BE49-F238E27FC236}">
                <a16:creationId xmlns:a16="http://schemas.microsoft.com/office/drawing/2014/main" id="{00F5EF35-7C5A-436C-80DC-FFDDA664C941}"/>
              </a:ext>
            </a:extLst>
          </p:cNvPr>
          <p:cNvSpPr>
            <a:spLocks xmlns:a="http://schemas.openxmlformats.org/drawingml/2006/main" noGrp="1"/>
          </p:cNvSpPr>
          <p:nvPr/>
        </p:nvSpPr>
        <p:spPr>
          <a:xfrm xmlns:a="http://schemas.openxmlformats.org/drawingml/2006/main">
            <a:off x="566928"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7685A"/>
                </a:solidFill>
                <a:latin typeface="Arial"/>
                <a:ea typeface="Arial"/>
                <a:cs typeface="Arial"/>
              </a:rPr>
              <a:t>What held</a:t>
            </a:r>
            <a:endParaRPr sz="1300"/>
          </a:p>
        </p:txBody>
      </p:sp>
      <p:sp>
        <p:nvSpPr>
          <p:cNvPr id="5" name="Shape 3">
            <a:extLst xmlns:a="http://schemas.openxmlformats.org/drawingml/2006/main">
              <a:ext uri="{FF2B5EF4-FFF2-40B4-BE49-F238E27FC236}">
                <a16:creationId xmlns:a16="http://schemas.microsoft.com/office/drawing/2014/main" id="{B96910E1-CD5C-4140-AE85-9B5D252AF9F7}"/>
              </a:ext>
            </a:extLst>
          </p:cNvPr>
          <p:cNvSpPr>
            <a:spLocks xmlns:a="http://schemas.openxmlformats.org/drawingml/2006/main" noGrp="1"/>
          </p:cNvSpPr>
          <p:nvPr/>
        </p:nvSpPr>
        <p:spPr>
          <a:xfrm xmlns:a="http://schemas.openxmlformats.org/drawingml/2006/main">
            <a:off x="566928" y="1627632"/>
            <a:ext cx="3551834" cy="22860"/>
          </a:xfrm>
          <a:prstGeom xmlns:a="http://schemas.openxmlformats.org/drawingml/2006/main" prst="rect">
            <a:avLst/>
          </a:prstGeom>
          <a:solidFill xmlns:a="http://schemas.openxmlformats.org/drawingml/2006/main">
            <a:srgbClr val="27685A"/>
          </a:solidFill>
        </p:spPr>
      </p:sp>
      <p:sp>
        <p:nvSpPr>
          <p:cNvPr id="6" name="Text 4">
            <a:extLst xmlns:a="http://schemas.openxmlformats.org/drawingml/2006/main">
              <a:ext uri="{FF2B5EF4-FFF2-40B4-BE49-F238E27FC236}">
                <a16:creationId xmlns:a16="http://schemas.microsoft.com/office/drawing/2014/main" id="{23662BE6-AB42-4588-A941-3AA5E5F130FA}"/>
              </a:ext>
            </a:extLst>
          </p:cNvPr>
          <p:cNvSpPr>
            <a:spLocks xmlns:a="http://schemas.openxmlformats.org/drawingml/2006/main" noGrp="1"/>
          </p:cNvSpPr>
          <p:nvPr/>
        </p:nvSpPr>
        <p:spPr>
          <a:xfrm xmlns:a="http://schemas.openxmlformats.org/drawingml/2006/main">
            <a:off x="566928"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Building the shared spine before journey two. By journey four the marginal cost of a new one had dropped roughly sixfold.</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Fixing the servicing taxonomy before building its interface — the single highest-return decision in the programme.</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Splitting consent across the entity boundary. It cost design time and saved far more in review.</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Designing the reversal path before the happy path on the funding journey.</a:t>
            </a:r>
            <a:endParaRPr sz="1000"/>
          </a:p>
        </p:txBody>
      </p:sp>
      <p:sp>
        <p:nvSpPr>
          <p:cNvPr id="7" name="Text 5">
            <a:extLst xmlns:a="http://schemas.openxmlformats.org/drawingml/2006/main">
              <a:ext uri="{FF2B5EF4-FFF2-40B4-BE49-F238E27FC236}">
                <a16:creationId xmlns:a16="http://schemas.microsoft.com/office/drawing/2014/main" id="{BD5A5A49-ACE9-4709-8C0C-1297A02242CC}"/>
              </a:ext>
            </a:extLst>
          </p:cNvPr>
          <p:cNvSpPr>
            <a:spLocks xmlns:a="http://schemas.openxmlformats.org/drawingml/2006/main" noGrp="1"/>
          </p:cNvSpPr>
          <p:nvPr/>
        </p:nvSpPr>
        <p:spPr>
          <a:xfrm xmlns:a="http://schemas.openxmlformats.org/drawingml/2006/main">
            <a:off x="4319930"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B04A25"/>
                </a:solidFill>
                <a:latin typeface="Arial"/>
                <a:ea typeface="Arial"/>
                <a:cs typeface="Arial"/>
              </a:rPr>
              <a:t>What did not</a:t>
            </a:r>
            <a:endParaRPr sz="1300"/>
          </a:p>
        </p:txBody>
      </p:sp>
      <p:sp>
        <p:nvSpPr>
          <p:cNvPr id="8" name="Shape 6">
            <a:extLst xmlns:a="http://schemas.openxmlformats.org/drawingml/2006/main">
              <a:ext uri="{FF2B5EF4-FFF2-40B4-BE49-F238E27FC236}">
                <a16:creationId xmlns:a16="http://schemas.microsoft.com/office/drawing/2014/main" id="{E9F52F46-04C0-4D5D-90C7-2A174CFD82C4}"/>
              </a:ext>
            </a:extLst>
          </p:cNvPr>
          <p:cNvSpPr>
            <a:spLocks xmlns:a="http://schemas.openxmlformats.org/drawingml/2006/main" noGrp="1"/>
          </p:cNvSpPr>
          <p:nvPr/>
        </p:nvSpPr>
        <p:spPr>
          <a:xfrm xmlns:a="http://schemas.openxmlformats.org/drawingml/2006/main">
            <a:off x="4319930" y="1627632"/>
            <a:ext cx="3551834" cy="22860"/>
          </a:xfrm>
          <a:prstGeom xmlns:a="http://schemas.openxmlformats.org/drawingml/2006/main" prst="rect">
            <a:avLst/>
          </a:prstGeom>
          <a:solidFill xmlns:a="http://schemas.openxmlformats.org/drawingml/2006/main">
            <a:srgbClr val="B04A25"/>
          </a:solidFill>
        </p:spPr>
      </p:sp>
      <p:sp>
        <p:nvSpPr>
          <p:cNvPr id="9" name="Text 7">
            <a:extLst xmlns:a="http://schemas.openxmlformats.org/drawingml/2006/main">
              <a:ext uri="{FF2B5EF4-FFF2-40B4-BE49-F238E27FC236}">
                <a16:creationId xmlns:a16="http://schemas.microsoft.com/office/drawing/2014/main" id="{DCE54A21-1317-4272-8DE6-5C0B4ADE49AC}"/>
              </a:ext>
            </a:extLst>
          </p:cNvPr>
          <p:cNvSpPr>
            <a:spLocks xmlns:a="http://schemas.openxmlformats.org/drawingml/2006/main" noGrp="1"/>
          </p:cNvSpPr>
          <p:nvPr/>
        </p:nvSpPr>
        <p:spPr>
          <a:xfrm xmlns:a="http://schemas.openxmlformats.org/drawingml/2006/main">
            <a:off x="4319930"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Cross-entity data agreements were run as a legal workstream alongside design. They are a design input and should have been sequenced first — it is why journey four shipped last.</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Eligibility rules were configurable but the approval path to change them was not, so configurability delivered less speed than promised.</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Assurance capacity was planned per journey rather than as a shared, scheduled constraint across all six.</a:t>
            </a:r>
            <a:endParaRPr sz="1000"/>
          </a:p>
        </p:txBody>
      </p:sp>
      <p:sp>
        <p:nvSpPr>
          <p:cNvPr id="10" name="Text 8">
            <a:extLst xmlns:a="http://schemas.openxmlformats.org/drawingml/2006/main">
              <a:ext uri="{FF2B5EF4-FFF2-40B4-BE49-F238E27FC236}">
                <a16:creationId xmlns:a16="http://schemas.microsoft.com/office/drawing/2014/main" id="{9D498226-837F-43C2-82B9-1F84DA9A7CD6}"/>
              </a:ext>
            </a:extLst>
          </p:cNvPr>
          <p:cNvSpPr>
            <a:spLocks xmlns:a="http://schemas.openxmlformats.org/drawingml/2006/main" noGrp="1"/>
          </p:cNvSpPr>
          <p:nvPr/>
        </p:nvSpPr>
        <p:spPr>
          <a:xfrm xmlns:a="http://schemas.openxmlformats.org/drawingml/2006/main">
            <a:off x="8072933"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486581"/>
                </a:solidFill>
                <a:latin typeface="Arial"/>
                <a:ea typeface="Arial"/>
                <a:cs typeface="Arial"/>
              </a:rPr>
              <a:t>What I would change</a:t>
            </a:r>
            <a:endParaRPr sz="1300"/>
          </a:p>
        </p:txBody>
      </p:sp>
      <p:sp>
        <p:nvSpPr>
          <p:cNvPr id="11" name="Shape 9">
            <a:extLst xmlns:a="http://schemas.openxmlformats.org/drawingml/2006/main">
              <a:ext uri="{FF2B5EF4-FFF2-40B4-BE49-F238E27FC236}">
                <a16:creationId xmlns:a16="http://schemas.microsoft.com/office/drawing/2014/main" id="{03D19E1E-D20D-4F7F-A0E0-BBAF00BE4EEE}"/>
              </a:ext>
            </a:extLst>
          </p:cNvPr>
          <p:cNvSpPr>
            <a:spLocks xmlns:a="http://schemas.openxmlformats.org/drawingml/2006/main" noGrp="1"/>
          </p:cNvSpPr>
          <p:nvPr/>
        </p:nvSpPr>
        <p:spPr>
          <a:xfrm xmlns:a="http://schemas.openxmlformats.org/drawingml/2006/main">
            <a:off x="8072933" y="1627632"/>
            <a:ext cx="3551834" cy="22860"/>
          </a:xfrm>
          <a:prstGeom xmlns:a="http://schemas.openxmlformats.org/drawingml/2006/main" prst="rect">
            <a:avLst/>
          </a:prstGeom>
          <a:solidFill xmlns:a="http://schemas.openxmlformats.org/drawingml/2006/main">
            <a:srgbClr val="486581"/>
          </a:solidFill>
        </p:spPr>
      </p:sp>
      <p:sp>
        <p:nvSpPr>
          <p:cNvPr id="12" name="Text 10">
            <a:extLst xmlns:a="http://schemas.openxmlformats.org/drawingml/2006/main">
              <a:ext uri="{FF2B5EF4-FFF2-40B4-BE49-F238E27FC236}">
                <a16:creationId xmlns:a16="http://schemas.microsoft.com/office/drawing/2014/main" id="{2EA693BB-4F65-412E-9721-7DCFC60A7CAC}"/>
              </a:ext>
            </a:extLst>
          </p:cNvPr>
          <p:cNvSpPr>
            <a:spLocks xmlns:a="http://schemas.openxmlformats.org/drawingml/2006/main" noGrp="1"/>
          </p:cNvSpPr>
          <p:nvPr/>
        </p:nvSpPr>
        <p:spPr>
          <a:xfrm xmlns:a="http://schemas.openxmlformats.org/drawingml/2006/main">
            <a:off x="8072933"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Start with the counterparty, not the customer. The hardest constraints in five of six journeys came from the other side of the boundary.</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Treat the change-approval path as part of the configurability requirement — configurable but unapprovable is not configurable.</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Book assurance capacity as a programme-level resource sequenced with releases, not requested per journey.</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Publish the shared-spine contract early so journey teams design against it rather than negotiate with it.</a:t>
            </a:r>
            <a:endParaRPr sz="1000"/>
          </a:p>
        </p:txBody>
      </p:sp>
      <p:sp>
        <p:nvSpPr>
          <p:cNvPr id="13" name="Shape 11">
            <a:extLst xmlns:a="http://schemas.openxmlformats.org/drawingml/2006/main">
              <a:ext uri="{FF2B5EF4-FFF2-40B4-BE49-F238E27FC236}">
                <a16:creationId xmlns:a16="http://schemas.microsoft.com/office/drawing/2014/main" id="{AEC7DA00-F16D-4E3D-8148-4E410622F332}"/>
              </a:ext>
            </a:extLst>
          </p:cNvPr>
          <p:cNvSpPr>
            <a:spLocks xmlns:a="http://schemas.openxmlformats.org/drawingml/2006/main" noGrp="1"/>
          </p:cNvSpPr>
          <p:nvPr/>
        </p:nvSpPr>
        <p:spPr>
          <a:xfrm xmlns:a="http://schemas.openxmlformats.org/drawingml/2006/main">
            <a:off x="566928" y="5047488"/>
            <a:ext cx="11057839" cy="1207008"/>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EF51E63D-4D35-4C89-B48C-866E3C204E0D}"/>
              </a:ext>
            </a:extLst>
          </p:cNvPr>
          <p:cNvSpPr>
            <a:spLocks xmlns:a="http://schemas.openxmlformats.org/drawingml/2006/main" noGrp="1"/>
          </p:cNvSpPr>
          <p:nvPr/>
        </p:nvSpPr>
        <p:spPr>
          <a:xfrm xmlns:a="http://schemas.openxmlformats.org/drawingml/2006/main">
            <a:off x="841248" y="5230368"/>
            <a:ext cx="10509199"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The pattern behind all three columns</a:t>
            </a:r>
            <a:endParaRPr sz="1200"/>
          </a:p>
        </p:txBody>
      </p:sp>
      <p:sp>
        <p:nvSpPr>
          <p:cNvPr id="15" name="Text 13">
            <a:extLst xmlns:a="http://schemas.openxmlformats.org/drawingml/2006/main">
              <a:ext uri="{FF2B5EF4-FFF2-40B4-BE49-F238E27FC236}">
                <a16:creationId xmlns:a16="http://schemas.microsoft.com/office/drawing/2014/main" id="{BF01AC76-913E-4C4B-9300-48CF053FC760}"/>
              </a:ext>
            </a:extLst>
          </p:cNvPr>
          <p:cNvSpPr>
            <a:spLocks xmlns:a="http://schemas.openxmlformats.org/drawingml/2006/main" noGrp="1"/>
          </p:cNvSpPr>
          <p:nvPr/>
        </p:nvSpPr>
        <p:spPr>
          <a:xfrm xmlns:a="http://schemas.openxmlformats.org/drawingml/2006/main">
            <a:off x="841248" y="5522976"/>
            <a:ext cx="10509199"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040">
                <a:solidFill>
                  <a:srgbClr val="1A1A1A"/>
                </a:solidFill>
                <a:latin typeface="Arial"/>
                <a:ea typeface="Arial"/>
                <a:cs typeface="Arial"/>
              </a:rPr>
              <a:t>Everything that held was a sequencing decision taken early — spine before journey two, taxonomy before interface, reversal before happy path. Everything that did not hold was a dependency discovered late and then managed as a parallel workstream rather than as an input. On an estate this size the constraint is almost never capability; it is the order in which decisions are taken, and how early the hardest constraint is allowed to shape the design.</a:t>
            </a:r>
            <a:endParaRPr sz="1040"/>
          </a:p>
        </p:txBody>
      </p:sp>
      <p:sp>
        <p:nvSpPr>
          <p:cNvPr id="16" name="Shape 14">
            <a:extLst xmlns:a="http://schemas.openxmlformats.org/drawingml/2006/main">
              <a:ext uri="{FF2B5EF4-FFF2-40B4-BE49-F238E27FC236}">
                <a16:creationId xmlns:a16="http://schemas.microsoft.com/office/drawing/2014/main" id="{1D81E5E8-D5D7-4ABF-949E-F73418E7A47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7" name="Text 15">
            <a:extLst xmlns:a="http://schemas.openxmlformats.org/drawingml/2006/main">
              <a:ext uri="{FF2B5EF4-FFF2-40B4-BE49-F238E27FC236}">
                <a16:creationId xmlns:a16="http://schemas.microsoft.com/office/drawing/2014/main" id="{D29211DA-AC20-425E-AE9C-20D994C3457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18" name="Text 16">
            <a:extLst xmlns:a="http://schemas.openxmlformats.org/drawingml/2006/main">
              <a:ext uri="{FF2B5EF4-FFF2-40B4-BE49-F238E27FC236}">
                <a16:creationId xmlns:a16="http://schemas.microsoft.com/office/drawing/2014/main" id="{113498EF-727F-4B18-A8A8-8C6A588884E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17</a:t>
            </a:r>
            <a:endParaRPr sz="850"/>
          </a:p>
        </p:txBody>
      </p:sp>
    </p:spTree>
    <p:extLst>
      <p:ext uri="{BB962C8B-B14F-4D97-AF65-F5344CB8AC3E}">
        <p14:creationId xmlns:p14="http://schemas.microsoft.com/office/powerpoint/2010/main" val="286458358"/>
      </p:ext>
    </p:extLst>
  </p:cSld>
</p:sld>
</file>

<file path=ppt/slides/slide5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8FD191-3ED2-44AF-A329-50E3F83CE02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1DFFCD7F-1603-4530-AB72-B93CF50F33C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decisions carried the programme — and none of them were about the platform</a:t>
            </a:r>
            <a:endParaRPr sz="1900"/>
          </a:p>
        </p:txBody>
      </p:sp>
      <p:sp>
        <p:nvSpPr>
          <p:cNvPr id="4" name="Text 2">
            <a:extLst xmlns:a="http://schemas.openxmlformats.org/drawingml/2006/main">
              <a:ext uri="{FF2B5EF4-FFF2-40B4-BE49-F238E27FC236}">
                <a16:creationId xmlns:a16="http://schemas.microsoft.com/office/drawing/2014/main" id="{5C6CBD50-929A-4B35-BE17-F985E8E35A19}"/>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6DDCC61B-D368-4FD2-A2D1-507675FC10FB}"/>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Govern the portfolio by owner metric</a:t>
            </a:r>
            <a:endParaRPr sz="1200"/>
          </a:p>
        </p:txBody>
      </p:sp>
      <p:sp>
        <p:nvSpPr>
          <p:cNvPr id="6" name="Text 4">
            <a:extLst xmlns:a="http://schemas.openxmlformats.org/drawingml/2006/main">
              <a:ext uri="{FF2B5EF4-FFF2-40B4-BE49-F238E27FC236}">
                <a16:creationId xmlns:a16="http://schemas.microsoft.com/office/drawing/2014/main" id="{4EB93EB4-3890-4D70-B899-0972D5ED7207}"/>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No journey enters the backlog without a named business objective and a single owner metric. Scope arguments are then settled by which option moves the number, not by who asks loudest.</a:t>
            </a:r>
            <a:endParaRPr sz="1000"/>
          </a:p>
        </p:txBody>
      </p:sp>
      <p:sp>
        <p:nvSpPr>
          <p:cNvPr id="7" name="Shape 5">
            <a:extLst xmlns:a="http://schemas.openxmlformats.org/drawingml/2006/main">
              <a:ext uri="{FF2B5EF4-FFF2-40B4-BE49-F238E27FC236}">
                <a16:creationId xmlns:a16="http://schemas.microsoft.com/office/drawing/2014/main" id="{C0A6D996-6E41-4947-BAF9-E9D3755E8D6D}"/>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CAD587B-5EB5-4A3C-A508-866491591507}"/>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7267AF04-7556-47F0-9A57-AC6B5AEB1C7B}"/>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Treat the boundary as the design unit</a:t>
            </a:r>
            <a:endParaRPr sz="1200"/>
          </a:p>
        </p:txBody>
      </p:sp>
      <p:sp>
        <p:nvSpPr>
          <p:cNvPr id="10" name="Text 8">
            <a:extLst xmlns:a="http://schemas.openxmlformats.org/drawingml/2006/main">
              <a:ext uri="{FF2B5EF4-FFF2-40B4-BE49-F238E27FC236}">
                <a16:creationId xmlns:a16="http://schemas.microsoft.com/office/drawing/2014/main" id="{F09B3CF0-71E9-46D6-9467-BEF0EDB734B1}"/>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Journeys look unrelated on a roadmap and are structurally identical behind the boundary. Group them by what they cross and the reuse case makes itself — a sixfold effort reduction across six journeys.</a:t>
            </a:r>
            <a:endParaRPr sz="1000"/>
          </a:p>
        </p:txBody>
      </p:sp>
      <p:sp>
        <p:nvSpPr>
          <p:cNvPr id="11" name="Shape 9">
            <a:extLst xmlns:a="http://schemas.openxmlformats.org/drawingml/2006/main">
              <a:ext uri="{FF2B5EF4-FFF2-40B4-BE49-F238E27FC236}">
                <a16:creationId xmlns:a16="http://schemas.microsoft.com/office/drawing/2014/main" id="{E1A84979-4A83-47F3-AD66-4F9D58B6BC1B}"/>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0A71551E-C60B-4C55-915A-8EDDC8E67AB9}"/>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AD4975BB-4AAB-4114-A98A-F2F6B77B01C8}"/>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Fix the taxonomy before the interface</a:t>
            </a:r>
            <a:endParaRPr sz="1200"/>
          </a:p>
        </p:txBody>
      </p:sp>
      <p:sp>
        <p:nvSpPr>
          <p:cNvPr id="14" name="Text 12">
            <a:extLst xmlns:a="http://schemas.openxmlformats.org/drawingml/2006/main">
              <a:ext uri="{FF2B5EF4-FFF2-40B4-BE49-F238E27FC236}">
                <a16:creationId xmlns:a16="http://schemas.microsoft.com/office/drawing/2014/main" id="{DD288844-368B-4923-8A5B-6E9AE43509DA}"/>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self-service front end over a broken request taxonomy relocates confusion to the customer and calls it deflection. The spread across the eleven categories, not the blended average, is what sets the next roadmap.</a:t>
            </a:r>
            <a:endParaRPr sz="1000"/>
          </a:p>
        </p:txBody>
      </p:sp>
      <p:sp>
        <p:nvSpPr>
          <p:cNvPr id="15" name="Shape 13">
            <a:extLst xmlns:a="http://schemas.openxmlformats.org/drawingml/2006/main">
              <a:ext uri="{FF2B5EF4-FFF2-40B4-BE49-F238E27FC236}">
                <a16:creationId xmlns:a16="http://schemas.microsoft.com/office/drawing/2014/main" id="{7DCE3729-92E1-4D73-90C5-C2568D03A37D}"/>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F9B5187B-C607-4E7A-89AF-25D872751F28}"/>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BC83471F-7408-4FCE-A42B-6D537A2B7FFE}"/>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controls the speed strategy</a:t>
            </a:r>
            <a:endParaRPr sz="1200"/>
          </a:p>
        </p:txBody>
      </p:sp>
      <p:sp>
        <p:nvSpPr>
          <p:cNvPr id="18" name="Text 16">
            <a:extLst xmlns:a="http://schemas.openxmlformats.org/drawingml/2006/main">
              <a:ext uri="{FF2B5EF4-FFF2-40B4-BE49-F238E27FC236}">
                <a16:creationId xmlns:a16="http://schemas.microsoft.com/office/drawing/2014/main" id="{1266A9A1-D08B-40AB-B0B1-C471558EEB0A}"/>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In a large estate assurance capacity is scarcer than engineering capacity. Journeys arriving at review with controls designed in ship sooner than journeys that arrive fast and dirty.</a:t>
            </a:r>
            <a:endParaRPr sz="1000"/>
          </a:p>
        </p:txBody>
      </p:sp>
      <p:sp>
        <p:nvSpPr>
          <p:cNvPr id="19" name="Shape 17">
            <a:extLst xmlns:a="http://schemas.openxmlformats.org/drawingml/2006/main">
              <a:ext uri="{FF2B5EF4-FFF2-40B4-BE49-F238E27FC236}">
                <a16:creationId xmlns:a16="http://schemas.microsoft.com/office/drawing/2014/main" id="{9EE79C8D-7BF3-4EDF-8307-6CA3741B7682}"/>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10347DB5-527D-441B-BD65-042BA4082E0E}"/>
              </a:ext>
            </a:extLst>
          </p:cNvPr>
          <p:cNvSpPr>
            <a:spLocks xmlns:a="http://schemas.openxmlformats.org/drawingml/2006/main" noGrp="1"/>
          </p:cNvSpPr>
          <p:nvPr/>
        </p:nvSpPr>
        <p:spPr>
          <a:xfrm xmlns:a="http://schemas.openxmlformats.org/drawingml/2006/main">
            <a:off x="841248" y="5669280"/>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None of the four depend on the platform, the vendor or the bank. They are why the sixth journey cost roughly a sixth of the first — and why the seventh business case would have been the easiest one to write.</a:t>
            </a:r>
            <a:endParaRPr sz="1200"/>
          </a:p>
        </p:txBody>
      </p:sp>
      <p:sp>
        <p:nvSpPr>
          <p:cNvPr id="21" name="Shape 19">
            <a:extLst xmlns:a="http://schemas.openxmlformats.org/drawingml/2006/main">
              <a:ext uri="{FF2B5EF4-FFF2-40B4-BE49-F238E27FC236}">
                <a16:creationId xmlns:a16="http://schemas.microsoft.com/office/drawing/2014/main" id="{5D6DE47F-962C-4635-8D92-D0A8A7E4280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D4C1ADD0-4720-4027-A9DF-366AAB45D8B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742F5121-31A9-4752-A98F-30F0316C54F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18</a:t>
            </a:r>
            <a:endParaRPr sz="850"/>
          </a:p>
        </p:txBody>
      </p:sp>
    </p:spTree>
    <p:extLst>
      <p:ext uri="{BB962C8B-B14F-4D97-AF65-F5344CB8AC3E}">
        <p14:creationId xmlns:p14="http://schemas.microsoft.com/office/powerpoint/2010/main" val="1703529361"/>
      </p:ext>
    </p:extLst>
  </p:cSld>
</p:sld>
</file>

<file path=ppt/slides/slide5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18DA4A-3BF6-426A-BC2B-8532E0491BDB}"/>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JOURNEY TEARDOWN  ·  02 OF 30</a:t>
            </a:r>
            <a:endParaRPr sz="950"/>
          </a:p>
        </p:txBody>
      </p:sp>
      <p:sp>
        <p:nvSpPr>
          <p:cNvPr id="3" name="Text 1">
            <a:extLst xmlns:a="http://schemas.openxmlformats.org/drawingml/2006/main">
              <a:ext uri="{FF2B5EF4-FFF2-40B4-BE49-F238E27FC236}">
                <a16:creationId xmlns:a16="http://schemas.microsoft.com/office/drawing/2014/main" id="{032ACE50-3E64-43DA-A88E-599B4F90360E}"/>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HDFC Bank</a:t>
            </a:r>
            <a:endParaRPr sz="3800"/>
          </a:p>
        </p:txBody>
      </p:sp>
      <p:sp>
        <p:nvSpPr>
          <p:cNvPr id="4" name="Text 2">
            <a:extLst xmlns:a="http://schemas.openxmlformats.org/drawingml/2006/main">
              <a:ext uri="{FF2B5EF4-FFF2-40B4-BE49-F238E27FC236}">
                <a16:creationId xmlns:a16="http://schemas.microsoft.com/office/drawing/2014/main" id="{18117E93-4818-427E-9601-C81F461F1DB4}"/>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Two self-service journeys, opposite risk profiles — money out and information out</a:t>
            </a:r>
            <a:endParaRPr sz="1800"/>
          </a:p>
        </p:txBody>
      </p:sp>
      <p:sp>
        <p:nvSpPr>
          <p:cNvPr id="5" name="Text 3">
            <a:extLst xmlns:a="http://schemas.openxmlformats.org/drawingml/2006/main">
              <a:ext uri="{FF2B5EF4-FFF2-40B4-BE49-F238E27FC236}">
                <a16:creationId xmlns:a16="http://schemas.microsoft.com/office/drawing/2014/main" id="{3D5C69D3-D627-4F07-BDBC-E90969DFBF00}"/>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Both journeys move work away from a human. One moves money and cannot be undone casually; the other moves information and can. That single difference changes the design at every layer, and treating them as one class of problem is where self-service programmes go wrong.</a:t>
            </a:r>
            <a:endParaRPr sz="1150"/>
          </a:p>
        </p:txBody>
      </p:sp>
      <p:sp>
        <p:nvSpPr>
          <p:cNvPr id="6" name="Shape 4">
            <a:extLst xmlns:a="http://schemas.openxmlformats.org/drawingml/2006/main">
              <a:ext uri="{FF2B5EF4-FFF2-40B4-BE49-F238E27FC236}">
                <a16:creationId xmlns:a16="http://schemas.microsoft.com/office/drawing/2014/main" id="{119F9116-B01E-4A43-A36D-84EFDD627AA2}"/>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8C25B3F9-0D91-41EC-8B38-D64C8D2976D7}"/>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8" name="Text 6">
            <a:extLst xmlns:a="http://schemas.openxmlformats.org/drawingml/2006/main">
              <a:ext uri="{FF2B5EF4-FFF2-40B4-BE49-F238E27FC236}">
                <a16:creationId xmlns:a16="http://schemas.microsoft.com/office/drawing/2014/main" id="{3666DFD1-0035-4B84-8C7F-F407504F04BB}"/>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journeys, one</a:t>
            </a:r>
            <a:endParaRPr sz="900"/>
          </a:p>
          <a:p xmlns:a="http://schemas.openxmlformats.org/drawingml/2006/main">
            <a:pPr marL="0" indent="0">
              <a:lnSpc>
                <a:spcPts val="1100"/>
              </a:lnSpc>
              <a:buNone/>
            </a:pPr>
            <a:r>
              <a:rPr sz="900">
                <a:solidFill>
                  <a:srgbClr val="8FA9C4"/>
                </a:solidFill>
                <a:latin typeface="Arial"/>
                <a:ea typeface="Arial"/>
                <a:cs typeface="Arial"/>
              </a:rPr>
              <a:t>shared spine</a:t>
            </a:r>
            <a:endParaRPr sz="900"/>
          </a:p>
        </p:txBody>
      </p:sp>
      <p:sp>
        <p:nvSpPr>
          <p:cNvPr id="9" name="Text 7">
            <a:extLst xmlns:a="http://schemas.openxmlformats.org/drawingml/2006/main">
              <a:ext uri="{FF2B5EF4-FFF2-40B4-BE49-F238E27FC236}">
                <a16:creationId xmlns:a16="http://schemas.microsoft.com/office/drawing/2014/main" id="{F826B108-D74D-4686-95DD-FCCEB2284065}"/>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16</a:t>
            </a:r>
            <a:endParaRPr sz="2600"/>
          </a:p>
        </p:txBody>
      </p:sp>
      <p:sp>
        <p:nvSpPr>
          <p:cNvPr id="10" name="Text 8">
            <a:extLst xmlns:a="http://schemas.openxmlformats.org/drawingml/2006/main">
              <a:ext uri="{FF2B5EF4-FFF2-40B4-BE49-F238E27FC236}">
                <a16:creationId xmlns:a16="http://schemas.microsoft.com/office/drawing/2014/main" id="{32166067-BEA4-4652-A3B0-93EA42A71722}"/>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use cases</a:t>
            </a:r>
            <a:endParaRPr sz="900"/>
          </a:p>
          <a:p xmlns:a="http://schemas.openxmlformats.org/drawingml/2006/main">
            <a:pPr marL="0" indent="0">
              <a:lnSpc>
                <a:spcPts val="1100"/>
              </a:lnSpc>
              <a:buNone/>
            </a:pPr>
            <a:r>
              <a:rPr sz="900">
                <a:solidFill>
                  <a:srgbClr val="8FA9C4"/>
                </a:solidFill>
                <a:latin typeface="Arial"/>
                <a:ea typeface="Arial"/>
                <a:cs typeface="Arial"/>
              </a:rPr>
              <a:t>between them</a:t>
            </a:r>
            <a:endParaRPr sz="900"/>
          </a:p>
        </p:txBody>
      </p:sp>
      <p:sp>
        <p:nvSpPr>
          <p:cNvPr id="11" name="Text 9">
            <a:extLst xmlns:a="http://schemas.openxmlformats.org/drawingml/2006/main">
              <a:ext uri="{FF2B5EF4-FFF2-40B4-BE49-F238E27FC236}">
                <a16:creationId xmlns:a16="http://schemas.microsoft.com/office/drawing/2014/main" id="{8BE1968D-A5AF-4424-9621-5071738B0017}"/>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11</a:t>
            </a:r>
            <a:endParaRPr sz="2600"/>
          </a:p>
        </p:txBody>
      </p:sp>
      <p:sp>
        <p:nvSpPr>
          <p:cNvPr id="12" name="Text 10">
            <a:extLst xmlns:a="http://schemas.openxmlformats.org/drawingml/2006/main">
              <a:ext uri="{FF2B5EF4-FFF2-40B4-BE49-F238E27FC236}">
                <a16:creationId xmlns:a16="http://schemas.microsoft.com/office/drawing/2014/main" id="{625B006A-B908-4F29-81AD-2CF548901309}"/>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request categories</a:t>
            </a:r>
            <a:endParaRPr sz="900"/>
          </a:p>
          <a:p xmlns:a="http://schemas.openxmlformats.org/drawingml/2006/main">
            <a:pPr marL="0" indent="0">
              <a:lnSpc>
                <a:spcPts val="1100"/>
              </a:lnSpc>
              <a:buNone/>
            </a:pPr>
            <a:r>
              <a:rPr sz="900">
                <a:solidFill>
                  <a:srgbClr val="8FA9C4"/>
                </a:solidFill>
                <a:latin typeface="Arial"/>
                <a:ea typeface="Arial"/>
                <a:cs typeface="Arial"/>
              </a:rPr>
              <a:t>in one journey</a:t>
            </a:r>
            <a:endParaRPr sz="900"/>
          </a:p>
        </p:txBody>
      </p:sp>
      <p:sp>
        <p:nvSpPr>
          <p:cNvPr id="13" name="Text 11">
            <a:extLst xmlns:a="http://schemas.openxmlformats.org/drawingml/2006/main">
              <a:ext uri="{FF2B5EF4-FFF2-40B4-BE49-F238E27FC236}">
                <a16:creationId xmlns:a16="http://schemas.microsoft.com/office/drawing/2014/main" id="{B8A9555E-BA1E-4877-A5C3-0CA96D766058}"/>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4" name="Text 12">
            <a:extLst xmlns:a="http://schemas.openxmlformats.org/drawingml/2006/main">
              <a:ext uri="{FF2B5EF4-FFF2-40B4-BE49-F238E27FC236}">
                <a16:creationId xmlns:a16="http://schemas.microsoft.com/office/drawing/2014/main" id="{E12BC20F-55F1-4A84-9CDC-E2B8BCDBC3F5}"/>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irreversible</a:t>
            </a:r>
            <a:endParaRPr sz="900"/>
          </a:p>
          <a:p xmlns:a="http://schemas.openxmlformats.org/drawingml/2006/main">
            <a:pPr marL="0" indent="0">
              <a:lnSpc>
                <a:spcPts val="1100"/>
              </a:lnSpc>
              <a:buNone/>
            </a:pPr>
            <a:r>
              <a:rPr sz="900">
                <a:solidFill>
                  <a:srgbClr val="8FA9C4"/>
                </a:solidFill>
                <a:latin typeface="Arial"/>
                <a:ea typeface="Arial"/>
                <a:cs typeface="Arial"/>
              </a:rPr>
              <a:t>action</a:t>
            </a:r>
            <a:endParaRPr sz="900"/>
          </a:p>
        </p:txBody>
      </p:sp>
      <p:sp>
        <p:nvSpPr>
          <p:cNvPr id="15" name="Text 13">
            <a:extLst xmlns:a="http://schemas.openxmlformats.org/drawingml/2006/main">
              <a:ext uri="{FF2B5EF4-FFF2-40B4-BE49-F238E27FC236}">
                <a16:creationId xmlns:a16="http://schemas.microsoft.com/office/drawing/2014/main" id="{4545B6B4-2593-4443-AF60-C5A783651A26}"/>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16" name="Text 14">
            <a:extLst xmlns:a="http://schemas.openxmlformats.org/drawingml/2006/main">
              <a:ext uri="{FF2B5EF4-FFF2-40B4-BE49-F238E27FC236}">
                <a16:creationId xmlns:a16="http://schemas.microsoft.com/office/drawing/2014/main" id="{1C110F70-E2A1-4CA6-81C0-AF590C1D7E0B}"/>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design layers</a:t>
            </a:r>
            <a:endParaRPr sz="900"/>
          </a:p>
          <a:p xmlns:a="http://schemas.openxmlformats.org/drawingml/2006/main">
            <a:pPr marL="0" indent="0">
              <a:lnSpc>
                <a:spcPts val="1100"/>
              </a:lnSpc>
              <a:buNone/>
            </a:pPr>
            <a:r>
              <a:rPr sz="900">
                <a:solidFill>
                  <a:srgbClr val="8FA9C4"/>
                </a:solidFill>
                <a:latin typeface="Arial"/>
                <a:ea typeface="Arial"/>
                <a:cs typeface="Arial"/>
              </a:rPr>
              <a:t>that diverge</a:t>
            </a:r>
            <a:endParaRPr sz="900"/>
          </a:p>
        </p:txBody>
      </p:sp>
      <p:sp>
        <p:nvSpPr>
          <p:cNvPr id="17" name="Text 15">
            <a:extLst xmlns:a="http://schemas.openxmlformats.org/drawingml/2006/main">
              <a:ext uri="{FF2B5EF4-FFF2-40B4-BE49-F238E27FC236}">
                <a16:creationId xmlns:a16="http://schemas.microsoft.com/office/drawing/2014/main" id="{720F0A97-330C-4784-A789-E00AB901C773}"/>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5238474C-9C69-469B-9E3C-CFD1E81CAB41}"/>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shared components</a:t>
            </a:r>
            <a:endParaRPr sz="900"/>
          </a:p>
          <a:p xmlns:a="http://schemas.openxmlformats.org/drawingml/2006/main">
            <a:pPr marL="0" indent="0">
              <a:lnSpc>
                <a:spcPts val="1100"/>
              </a:lnSpc>
              <a:buNone/>
            </a:pPr>
            <a:r>
              <a:rPr sz="900">
                <a:solidFill>
                  <a:srgbClr val="8FA9C4"/>
                </a:solidFill>
                <a:latin typeface="Arial"/>
                <a:ea typeface="Arial"/>
                <a:cs typeface="Arial"/>
              </a:rPr>
              <a:t>forked</a:t>
            </a:r>
            <a:endParaRPr sz="900"/>
          </a:p>
        </p:txBody>
      </p:sp>
      <p:sp>
        <p:nvSpPr>
          <p:cNvPr id="19" name="Shape 17">
            <a:extLst xmlns:a="http://schemas.openxmlformats.org/drawingml/2006/main">
              <a:ext uri="{FF2B5EF4-FFF2-40B4-BE49-F238E27FC236}">
                <a16:creationId xmlns:a16="http://schemas.microsoft.com/office/drawing/2014/main" id="{8AF045BF-6D47-44AF-A456-E4CFC1F346EB}"/>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CC773075-03FF-4970-B52D-AF4101959A79}"/>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JOURNEY SCOPE  ·  UNASSISTED SELF-SERVICE</a:t>
            </a:r>
            <a:endParaRPr sz="800"/>
          </a:p>
        </p:txBody>
      </p:sp>
      <p:sp>
        <p:nvSpPr>
          <p:cNvPr id="21" name="Text 19">
            <a:extLst xmlns:a="http://schemas.openxmlformats.org/drawingml/2006/main">
              <a:ext uri="{FF2B5EF4-FFF2-40B4-BE49-F238E27FC236}">
                <a16:creationId xmlns:a16="http://schemas.microsoft.com/office/drawing/2014/main" id="{C70AD5C1-0D05-4BE0-BBDB-C5559C484B48}"/>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Digital account funding — money movement in session    ·    loan servicing self-help — information and request handling across eleven categories</a:t>
            </a:r>
            <a:endParaRPr sz="1050"/>
          </a:p>
        </p:txBody>
      </p:sp>
      <p:sp>
        <p:nvSpPr>
          <p:cNvPr id="22" name="Text 20">
            <a:extLst xmlns:a="http://schemas.openxmlformats.org/drawingml/2006/main">
              <a:ext uri="{FF2B5EF4-FFF2-40B4-BE49-F238E27FC236}">
                <a16:creationId xmlns:a16="http://schemas.microsoft.com/office/drawing/2014/main" id="{E126EA28-1DDF-4555-A14D-C12D46E795D9}"/>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Programme and delivery ownership, digital journey portfolio  ·  2024</a:t>
            </a:r>
            <a:endParaRPr sz="1200"/>
          </a:p>
        </p:txBody>
      </p:sp>
      <p:sp>
        <p:nvSpPr>
          <p:cNvPr id="23" name="Text 21">
            <a:extLst xmlns:a="http://schemas.openxmlformats.org/drawingml/2006/main">
              <a:ext uri="{FF2B5EF4-FFF2-40B4-BE49-F238E27FC236}">
                <a16:creationId xmlns:a16="http://schemas.microsoft.com/office/drawing/2014/main" id="{BE7DB2A1-943C-460F-93B5-963D892D20E2}"/>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Journey scope is from the delivery record; funnel and deflection figures are an illustrative model.</a:t>
            </a:r>
            <a:endParaRPr sz="850"/>
          </a:p>
        </p:txBody>
      </p:sp>
    </p:spTree>
    <p:extLst>
      <p:ext uri="{BB962C8B-B14F-4D97-AF65-F5344CB8AC3E}">
        <p14:creationId xmlns:p14="http://schemas.microsoft.com/office/powerpoint/2010/main" val="983126939"/>
      </p:ext>
    </p:extLst>
  </p:cSld>
</p:sld>
</file>

<file path=ppt/slides/slide5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69066F-B480-4091-9DA8-0660378448D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A33527A7-D6DF-47E5-B144-2051BC8C184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Reversibility is the axis that should decide a self-service design — not channel,</a:t>
            </a:r>
            <a:endParaRPr sz="1900"/>
          </a:p>
          <a:p xmlns:a="http://schemas.openxmlformats.org/drawingml/2006/main">
            <a:pPr marL="0" indent="0">
              <a:lnSpc>
                <a:spcPts val="2400"/>
              </a:lnSpc>
              <a:buNone/>
            </a:pPr>
            <a:r>
              <a:rPr sz="1900" b="1">
                <a:solidFill>
                  <a:srgbClr val="102A43"/>
                </a:solidFill>
                <a:latin typeface="Arial"/>
                <a:ea typeface="Arial"/>
                <a:cs typeface="Arial"/>
              </a:rPr>
              <a:t>not volume, and not how similar two journeys look on a roadmap</a:t>
            </a:r>
            <a:endParaRPr sz="1900"/>
          </a:p>
        </p:txBody>
      </p:sp>
      <p:sp>
        <p:nvSpPr>
          <p:cNvPr id="4" name="Shape 2">
            <a:extLst xmlns:a="http://schemas.openxmlformats.org/drawingml/2006/main">
              <a:ext uri="{FF2B5EF4-FFF2-40B4-BE49-F238E27FC236}">
                <a16:creationId xmlns:a16="http://schemas.microsoft.com/office/drawing/2014/main" id="{136C2CA2-7152-48F2-9BC1-7E566B04FC85}"/>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37136CF2-2C9A-48A9-AA04-BFA773BB0612}"/>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806AA8A7-BA08-42CC-9D17-66FF93053F7C}"/>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Two unassisted journeys delivered in the same year, on the same platform, for the same bank. Both remove work from an assisted channel. Both were scoped and funded as self-service builds.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On a portfolio roadmap they are the same kind of item.</a:t>
            </a:r>
            <a:endParaRPr sz="980"/>
          </a:p>
        </p:txBody>
      </p:sp>
      <p:sp>
        <p:nvSpPr>
          <p:cNvPr id="7" name="Shape 5">
            <a:extLst xmlns:a="http://schemas.openxmlformats.org/drawingml/2006/main">
              <a:ext uri="{FF2B5EF4-FFF2-40B4-BE49-F238E27FC236}">
                <a16:creationId xmlns:a16="http://schemas.microsoft.com/office/drawing/2014/main" id="{B7FA609B-5B55-4FF8-9DA3-42DDF588D809}"/>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6A240715-8A0C-443F-AEDF-877872386707}"/>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0605D9AB-0774-4EE0-982E-0E09DE6658BC}"/>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One of them moves real money on an external payment rail, in a session that will expire, with a settlement clock the bank does not control. A mistake there is a reversal, a support call and a potential duplicate debit.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other retrieves documents and raises requests across eleven categories. A mistake there is a re-run. Designing both to the same standard means either over-engineering the second or under-engineering the first.</a:t>
            </a:r>
            <a:endParaRPr sz="980"/>
          </a:p>
        </p:txBody>
      </p:sp>
      <p:sp>
        <p:nvSpPr>
          <p:cNvPr id="10" name="Shape 8">
            <a:extLst xmlns:a="http://schemas.openxmlformats.org/drawingml/2006/main">
              <a:ext uri="{FF2B5EF4-FFF2-40B4-BE49-F238E27FC236}">
                <a16:creationId xmlns:a16="http://schemas.microsoft.com/office/drawing/2014/main" id="{2237A0FC-7DA0-493A-B8CE-9E51A8493239}"/>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56116407-AAF9-4B12-B1B0-2118292AE4D6}"/>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organising axis</a:t>
            </a:r>
            <a:endParaRPr sz="1250"/>
          </a:p>
        </p:txBody>
      </p:sp>
      <p:sp>
        <p:nvSpPr>
          <p:cNvPr id="12" name="Text 10">
            <a:extLst xmlns:a="http://schemas.openxmlformats.org/drawingml/2006/main">
              <a:ext uri="{FF2B5EF4-FFF2-40B4-BE49-F238E27FC236}">
                <a16:creationId xmlns:a16="http://schemas.microsoft.com/office/drawing/2014/main" id="{0FB4655E-707A-40CB-9277-E9EA049335E3}"/>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Classify by reversibility first. An irreversible action needs a state machine, idempotency and a designed reversal path before the happy path is signed off. A reversible one needs a clean taxonomy and per-category eligibility, and nothing heavier.</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Everything else — identity, consent, documents, status, exceptions — is shared, and was.</a:t>
            </a:r>
            <a:endParaRPr sz="980"/>
          </a:p>
        </p:txBody>
      </p:sp>
      <p:sp>
        <p:nvSpPr>
          <p:cNvPr id="13" name="Text 11">
            <a:extLst xmlns:a="http://schemas.openxmlformats.org/drawingml/2006/main">
              <a:ext uri="{FF2B5EF4-FFF2-40B4-BE49-F238E27FC236}">
                <a16:creationId xmlns:a16="http://schemas.microsoft.com/office/drawing/2014/main" id="{2ABFED59-E63F-40D1-9D04-1292ED84EB2A}"/>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199EA55E-D328-4A25-8E8A-CC5221D0FEC7}"/>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5F09C7A3-6F02-4564-9E64-9051A042673F}"/>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6" name="Text 14">
            <a:extLst xmlns:a="http://schemas.openxmlformats.org/drawingml/2006/main">
              <a:ext uri="{FF2B5EF4-FFF2-40B4-BE49-F238E27FC236}">
                <a16:creationId xmlns:a16="http://schemas.microsoft.com/office/drawing/2014/main" id="{D0479BC6-F896-400F-A72C-FBE22F08DE51}"/>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axis that decides the design</a:t>
            </a:r>
            <a:endParaRPr sz="860"/>
          </a:p>
        </p:txBody>
      </p:sp>
      <p:sp>
        <p:nvSpPr>
          <p:cNvPr id="17" name="Shape 15">
            <a:extLst xmlns:a="http://schemas.openxmlformats.org/drawingml/2006/main">
              <a:ext uri="{FF2B5EF4-FFF2-40B4-BE49-F238E27FC236}">
                <a16:creationId xmlns:a16="http://schemas.microsoft.com/office/drawing/2014/main" id="{67588182-27E9-4372-AED2-F8BCB942A930}"/>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000E0BBC-BA4B-42D0-8F5B-FAB30D901BA3}"/>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19" name="Text 17">
            <a:extLst xmlns:a="http://schemas.openxmlformats.org/drawingml/2006/main">
              <a:ext uri="{FF2B5EF4-FFF2-40B4-BE49-F238E27FC236}">
                <a16:creationId xmlns:a16="http://schemas.microsoft.com/office/drawing/2014/main" id="{04CBF0AF-C971-4B32-B58C-AEE4F78A65D6}"/>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layers where they diverge</a:t>
            </a:r>
            <a:endParaRPr sz="860"/>
          </a:p>
        </p:txBody>
      </p:sp>
      <p:sp>
        <p:nvSpPr>
          <p:cNvPr id="20" name="Shape 18">
            <a:extLst xmlns:a="http://schemas.openxmlformats.org/drawingml/2006/main">
              <a:ext uri="{FF2B5EF4-FFF2-40B4-BE49-F238E27FC236}">
                <a16:creationId xmlns:a16="http://schemas.microsoft.com/office/drawing/2014/main" id="{0D6BFB67-7ADB-45EF-8882-5B540AFB965D}"/>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5A27362D-94F3-4049-A9FC-45E9A4E721FD}"/>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2" name="Text 20">
            <a:extLst xmlns:a="http://schemas.openxmlformats.org/drawingml/2006/main">
              <a:ext uri="{FF2B5EF4-FFF2-40B4-BE49-F238E27FC236}">
                <a16:creationId xmlns:a16="http://schemas.microsoft.com/office/drawing/2014/main" id="{98F30C60-A2BB-43DB-91B3-8894A0FE1398}"/>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components they shared</a:t>
            </a:r>
            <a:endParaRPr sz="860"/>
          </a:p>
        </p:txBody>
      </p:sp>
      <p:sp>
        <p:nvSpPr>
          <p:cNvPr id="23" name="Shape 21">
            <a:extLst xmlns:a="http://schemas.openxmlformats.org/drawingml/2006/main">
              <a:ext uri="{FF2B5EF4-FFF2-40B4-BE49-F238E27FC236}">
                <a16:creationId xmlns:a16="http://schemas.microsoft.com/office/drawing/2014/main" id="{8EA81979-E92F-4E1C-BA61-C94A0BFAC7C4}"/>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2E4BC473-D5D9-4534-8BC5-5AEE1535DFDA}"/>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11</a:t>
            </a:r>
            <a:endParaRPr sz="2100"/>
          </a:p>
        </p:txBody>
      </p:sp>
      <p:sp>
        <p:nvSpPr>
          <p:cNvPr id="25" name="Text 23">
            <a:extLst xmlns:a="http://schemas.openxmlformats.org/drawingml/2006/main">
              <a:ext uri="{FF2B5EF4-FFF2-40B4-BE49-F238E27FC236}">
                <a16:creationId xmlns:a16="http://schemas.microsoft.com/office/drawing/2014/main" id="{2B6DCF4B-DA2B-4AAD-86B5-84304F893B1C}"/>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categories in the reversible journey</a:t>
            </a:r>
            <a:endParaRPr sz="860"/>
          </a:p>
        </p:txBody>
      </p:sp>
      <p:sp>
        <p:nvSpPr>
          <p:cNvPr id="26" name="Shape 24">
            <a:extLst xmlns:a="http://schemas.openxmlformats.org/drawingml/2006/main">
              <a:ext uri="{FF2B5EF4-FFF2-40B4-BE49-F238E27FC236}">
                <a16:creationId xmlns:a16="http://schemas.microsoft.com/office/drawing/2014/main" id="{DA0E12C9-F157-4B37-9ABC-51C2817B7607}"/>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08CA9835-3076-4E1B-98BF-A7326400BBD9}"/>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8" name="Text 26">
            <a:extLst xmlns:a="http://schemas.openxmlformats.org/drawingml/2006/main">
              <a:ext uri="{FF2B5EF4-FFF2-40B4-BE49-F238E27FC236}">
                <a16:creationId xmlns:a16="http://schemas.microsoft.com/office/drawing/2014/main" id="{108285D9-899A-45B7-85E9-5715FBE6B538}"/>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state machine, reused later</a:t>
            </a:r>
            <a:endParaRPr sz="860"/>
          </a:p>
        </p:txBody>
      </p:sp>
      <p:sp>
        <p:nvSpPr>
          <p:cNvPr id="29" name="Shape 27">
            <a:extLst xmlns:a="http://schemas.openxmlformats.org/drawingml/2006/main">
              <a:ext uri="{FF2B5EF4-FFF2-40B4-BE49-F238E27FC236}">
                <a16:creationId xmlns:a16="http://schemas.microsoft.com/office/drawing/2014/main" id="{305DA7DF-ACB5-440A-860D-02E9F09ABF6C}"/>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9AEAFE72-3C1F-44A8-BB3E-D33E7635FC4F}"/>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31" name="Text 29">
            <a:extLst xmlns:a="http://schemas.openxmlformats.org/drawingml/2006/main">
              <a:ext uri="{FF2B5EF4-FFF2-40B4-BE49-F238E27FC236}">
                <a16:creationId xmlns:a16="http://schemas.microsoft.com/office/drawing/2014/main" id="{C1538B67-8F53-493A-B722-4C06C49E62B4}"/>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spine components forked</a:t>
            </a:r>
            <a:endParaRPr sz="860"/>
          </a:p>
        </p:txBody>
      </p:sp>
      <p:sp>
        <p:nvSpPr>
          <p:cNvPr id="32" name="Text 30">
            <a:extLst xmlns:a="http://schemas.openxmlformats.org/drawingml/2006/main">
              <a:ext uri="{FF2B5EF4-FFF2-40B4-BE49-F238E27FC236}">
                <a16:creationId xmlns:a16="http://schemas.microsoft.com/office/drawing/2014/main" id="{A10C2CD5-17D8-4CB6-A75B-3D8B8A530494}"/>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this matters at portfolio level:  self-service programmes are usually planned by channel or by business area. Planning them by reversibility groups the journeys that genuinely share a design problem, and separates the ones that only look similar — which is what stops a payments-grade design being applied to a document download.</a:t>
            </a:r>
            <a:endParaRPr sz="1000"/>
          </a:p>
        </p:txBody>
      </p:sp>
      <p:sp>
        <p:nvSpPr>
          <p:cNvPr id="33" name="Shape 31">
            <a:extLst xmlns:a="http://schemas.openxmlformats.org/drawingml/2006/main">
              <a:ext uri="{FF2B5EF4-FFF2-40B4-BE49-F238E27FC236}">
                <a16:creationId xmlns:a16="http://schemas.microsoft.com/office/drawing/2014/main" id="{2D7BCDB5-B2A5-4FE4-B493-C230B560ECA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63A267F0-60D4-4B7A-8AB2-AE4C54019F8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35" name="Text 33">
            <a:extLst xmlns:a="http://schemas.openxmlformats.org/drawingml/2006/main">
              <a:ext uri="{FF2B5EF4-FFF2-40B4-BE49-F238E27FC236}">
                <a16:creationId xmlns:a16="http://schemas.microsoft.com/office/drawing/2014/main" id="{06D792EB-63EA-4AA1-BC78-2AF5F6F6423D}"/>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774140642"/>
      </p:ext>
    </p:extLst>
  </p:cSld>
</p:sld>
</file>

<file path=ppt/slides/slide6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B3236D-0F2A-4567-A868-5F1BB2FC861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E2ECB490-605C-42EF-9514-D80B245A231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journeys and their scope come from the delivery record; the comparison</a:t>
            </a:r>
            <a:endParaRPr sz="1900"/>
          </a:p>
          <a:p xmlns:a="http://schemas.openxmlformats.org/drawingml/2006/main">
            <a:pPr marL="0" indent="0">
              <a:lnSpc>
                <a:spcPts val="2400"/>
              </a:lnSpc>
              <a:buNone/>
            </a:pPr>
            <a:r>
              <a:rPr sz="1900" b="1">
                <a:solidFill>
                  <a:srgbClr val="102A43"/>
                </a:solidFill>
                <a:latin typeface="Arial"/>
                <a:ea typeface="Arial"/>
                <a:cs typeface="Arial"/>
              </a:rPr>
              <a:t>framework and the funnel figures are analysis</a:t>
            </a:r>
            <a:endParaRPr sz="1900"/>
          </a:p>
        </p:txBody>
      </p:sp>
      <p:sp>
        <p:nvSpPr>
          <p:cNvPr id="4" name="Shape 2">
            <a:extLst xmlns:a="http://schemas.openxmlformats.org/drawingml/2006/main">
              <a:ext uri="{FF2B5EF4-FFF2-40B4-BE49-F238E27FC236}">
                <a16:creationId xmlns:a16="http://schemas.microsoft.com/office/drawing/2014/main" id="{653A6406-F9D8-43CE-AF43-9748E1F331C9}"/>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8366E690-E535-41ED-89CB-188DC836D430}"/>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BD0823EE-3CDE-45E1-8EC1-C45244D1A517}"/>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DELIVERED SCOPE</a:t>
            </a:r>
            <a:endParaRPr sz="740"/>
          </a:p>
        </p:txBody>
      </p:sp>
      <p:sp>
        <p:nvSpPr>
          <p:cNvPr id="7" name="Text 5">
            <a:extLst xmlns:a="http://schemas.openxmlformats.org/drawingml/2006/main">
              <a:ext uri="{FF2B5EF4-FFF2-40B4-BE49-F238E27FC236}">
                <a16:creationId xmlns:a16="http://schemas.microsoft.com/office/drawing/2014/main" id="{7CEB331B-5588-4B82-8D1A-5C9660490399}"/>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AD34B55D-BFC9-495A-A774-0FFC3E32EA12}"/>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two journeys, their scope and the estate they landed in, as delivered during the 2024 engagement.</a:t>
            </a:r>
            <a:endParaRPr sz="920"/>
          </a:p>
        </p:txBody>
      </p:sp>
      <p:sp>
        <p:nvSpPr>
          <p:cNvPr id="9" name="Shape 7">
            <a:extLst xmlns:a="http://schemas.openxmlformats.org/drawingml/2006/main">
              <a:ext uri="{FF2B5EF4-FFF2-40B4-BE49-F238E27FC236}">
                <a16:creationId xmlns:a16="http://schemas.microsoft.com/office/drawing/2014/main" id="{8B3A41A4-AF0E-4FD1-A328-759196DCCB73}"/>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1E4BDEBB-611C-4676-A60E-9A376CA66A45}"/>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Two unassisted journeys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Eleven servicing request categories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External payment-rail integration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Shared platform and estate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Existing consent and document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Enterprise status and reporting model</a:t>
            </a:r>
            <a:endParaRPr sz="930"/>
          </a:p>
        </p:txBody>
      </p:sp>
      <p:sp>
        <p:nvSpPr>
          <p:cNvPr id="11" name="Shape 9">
            <a:extLst xmlns:a="http://schemas.openxmlformats.org/drawingml/2006/main">
              <a:ext uri="{FF2B5EF4-FFF2-40B4-BE49-F238E27FC236}">
                <a16:creationId xmlns:a16="http://schemas.microsoft.com/office/drawing/2014/main" id="{349E02DC-7F5C-4F18-92A6-FC31E4A392DF}"/>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3655E83B-03D8-440A-AB2A-4D54F990459F}"/>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E6FF89ED-767C-4F47-B7E9-C32F845CDD42}"/>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A00A71EF-CC26-44DD-A184-518A754273DB}"/>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26D372C2-A9BB-4D5E-8062-D9B6624C743D}"/>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Journey design, data model and delivery to production for both journeys.</a:t>
            </a:r>
            <a:endParaRPr sz="920"/>
          </a:p>
        </p:txBody>
      </p:sp>
      <p:sp>
        <p:nvSpPr>
          <p:cNvPr id="16" name="Shape 14">
            <a:extLst xmlns:a="http://schemas.openxmlformats.org/drawingml/2006/main">
              <a:ext uri="{FF2B5EF4-FFF2-40B4-BE49-F238E27FC236}">
                <a16:creationId xmlns:a16="http://schemas.microsoft.com/office/drawing/2014/main" id="{1A6E1522-F661-4563-9F49-E049EC10A5F5}"/>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9402C5A2-FDE7-44F3-A308-109E128E21DD}"/>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Reversible-transaction state machine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Servicing request taxonomy rebuild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Per-category eligibility rules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Idempotency and reversal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Disposition and reporting continuity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F6319F6F-6B87-4211-83E5-5C88A08FAB6D}"/>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FE86DA8C-6BA0-4032-BF53-CEFBEE779A47}"/>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88885C13-F27D-4E88-9BE0-DF18E0AF1F56}"/>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EEC2A564-5A02-4CE4-ABF3-19FB1D52A450}"/>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A1282E7C-9DFC-4334-9114-A0AEE274ACA2}"/>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Funnel, deflection and effort figures illustrate the argument. Directional, not measured outcomes.</a:t>
            </a:r>
            <a:endParaRPr sz="920"/>
          </a:p>
        </p:txBody>
      </p:sp>
      <p:sp>
        <p:nvSpPr>
          <p:cNvPr id="23" name="Shape 21">
            <a:extLst xmlns:a="http://schemas.openxmlformats.org/drawingml/2006/main">
              <a:ext uri="{FF2B5EF4-FFF2-40B4-BE49-F238E27FC236}">
                <a16:creationId xmlns:a16="http://schemas.microsoft.com/office/drawing/2014/main" id="{ADF3C9A2-84D8-4057-8A0D-89960C202639}"/>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C456F9FB-34C4-4892-9BEF-94607DDD8E6F}"/>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Funding funnel figures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Per-category deflection spread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Design-effort comparison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bank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665AD0E6-5287-4940-AECA-4892C86E68A2}"/>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FA000EF9-C744-4393-83F7-A934D1E624F6}"/>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3ECB1472-4870-4614-8558-241967E7F2B2}"/>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7A4E59DA-8AEC-4EF8-8CB6-B2BA34EBF65B}"/>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D4175DE3-507B-4104-857B-C9CEFBB82F2D}"/>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Explicitly excluded so the boundary is unambiguous.</a:t>
            </a:r>
            <a:endParaRPr sz="920"/>
          </a:p>
        </p:txBody>
      </p:sp>
      <p:sp>
        <p:nvSpPr>
          <p:cNvPr id="30" name="Shape 28">
            <a:extLst xmlns:a="http://schemas.openxmlformats.org/drawingml/2006/main">
              <a:ext uri="{FF2B5EF4-FFF2-40B4-BE49-F238E27FC236}">
                <a16:creationId xmlns:a16="http://schemas.microsoft.com/office/drawing/2014/main" id="{FEB42A2F-C7D3-41F3-8C80-D05F7394D285}"/>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5EB8DF1C-0119-4200-8F37-4CD6C652D246}"/>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Enterprise transformation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screen or flow</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Bank payment or servicing volumes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Independently audited results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Platform or architecture selection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engagement</a:t>
            </a:r>
            <a:endParaRPr sz="930"/>
          </a:p>
        </p:txBody>
      </p:sp>
      <p:sp>
        <p:nvSpPr>
          <p:cNvPr id="32" name="Shape 30">
            <a:extLst xmlns:a="http://schemas.openxmlformats.org/drawingml/2006/main">
              <a:ext uri="{FF2B5EF4-FFF2-40B4-BE49-F238E27FC236}">
                <a16:creationId xmlns:a16="http://schemas.microsoft.com/office/drawing/2014/main" id="{8A5A5676-3D9C-442D-BA93-D9CF3725386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E1B9A8A3-93D2-4E81-A41C-A9F1C1C28AF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author's design analysis (comparison and models)</a:t>
            </a:r>
            <a:endParaRPr sz="850"/>
          </a:p>
        </p:txBody>
      </p:sp>
      <p:sp>
        <p:nvSpPr>
          <p:cNvPr id="34" name="Text 32">
            <a:extLst xmlns:a="http://schemas.openxmlformats.org/drawingml/2006/main">
              <a:ext uri="{FF2B5EF4-FFF2-40B4-BE49-F238E27FC236}">
                <a16:creationId xmlns:a16="http://schemas.microsoft.com/office/drawing/2014/main" id="{78F21346-988B-46A2-8969-B230CE152BF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578603373"/>
      </p:ext>
    </p:extLst>
  </p:cSld>
</p:sld>
</file>

<file path=ppt/slides/slide6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C60F53-3215-4F5B-AA8E-34ED0240262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CONTRAST</a:t>
            </a:r>
            <a:endParaRPr sz="950"/>
          </a:p>
        </p:txBody>
      </p:sp>
      <p:sp>
        <p:nvSpPr>
          <p:cNvPr id="3" name="Text 1">
            <a:extLst xmlns:a="http://schemas.openxmlformats.org/drawingml/2006/main">
              <a:ext uri="{FF2B5EF4-FFF2-40B4-BE49-F238E27FC236}">
                <a16:creationId xmlns:a16="http://schemas.microsoft.com/office/drawing/2014/main" id="{68112B60-369F-4A98-BA5B-0BF80EB669B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Same channel, same platform, same year — and almost nothing about the two designs</a:t>
            </a:r>
            <a:endParaRPr sz="1900"/>
          </a:p>
          <a:p xmlns:a="http://schemas.openxmlformats.org/drawingml/2006/main">
            <a:pPr marL="0" indent="0">
              <a:lnSpc>
                <a:spcPts val="2400"/>
              </a:lnSpc>
              <a:buNone/>
            </a:pPr>
            <a:r>
              <a:rPr sz="1900" b="1">
                <a:solidFill>
                  <a:srgbClr val="102A43"/>
                </a:solidFill>
                <a:latin typeface="Arial"/>
                <a:ea typeface="Arial"/>
                <a:cs typeface="Arial"/>
              </a:rPr>
              <a:t>is the same once you look past the interface</a:t>
            </a:r>
            <a:endParaRPr sz="1900"/>
          </a:p>
        </p:txBody>
      </p:sp>
      <p:sp>
        <p:nvSpPr>
          <p:cNvPr id="4" name="Shape 2">
            <a:extLst xmlns:a="http://schemas.openxmlformats.org/drawingml/2006/main">
              <a:ext uri="{FF2B5EF4-FFF2-40B4-BE49-F238E27FC236}">
                <a16:creationId xmlns:a16="http://schemas.microsoft.com/office/drawing/2014/main" id="{0DDEFEE7-25DD-4498-8B12-839D6791FEDC}"/>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4E32F67B-2926-4E7D-8B19-CBC523FCF330}"/>
              </a:ext>
            </a:extLst>
          </p:cNvPr>
          <p:cNvSpPr>
            <a:spLocks xmlns:a="http://schemas.openxmlformats.org/drawingml/2006/main" noGrp="1"/>
          </p:cNvSpPr>
          <p:nvPr/>
        </p:nvSpPr>
        <p:spPr>
          <a:xfrm xmlns:a="http://schemas.openxmlformats.org/drawingml/2006/main">
            <a:off x="676656" y="1444752"/>
            <a:ext cx="26151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Design layer</a:t>
            </a:r>
            <a:endParaRPr sz="920"/>
          </a:p>
        </p:txBody>
      </p:sp>
      <p:sp>
        <p:nvSpPr>
          <p:cNvPr id="6" name="Text 4">
            <a:extLst xmlns:a="http://schemas.openxmlformats.org/drawingml/2006/main">
              <a:ext uri="{FF2B5EF4-FFF2-40B4-BE49-F238E27FC236}">
                <a16:creationId xmlns:a16="http://schemas.microsoft.com/office/drawing/2014/main" id="{E11664B0-2355-47EC-BB10-D9BF1B7EE652}"/>
              </a:ext>
            </a:extLst>
          </p:cNvPr>
          <p:cNvSpPr>
            <a:spLocks xmlns:a="http://schemas.openxmlformats.org/drawingml/2006/main" noGrp="1"/>
          </p:cNvSpPr>
          <p:nvPr/>
        </p:nvSpPr>
        <p:spPr>
          <a:xfrm xmlns:a="http://schemas.openxmlformats.org/drawingml/2006/main">
            <a:off x="3602736" y="1444752"/>
            <a:ext cx="38039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Money movement — account funding</a:t>
            </a:r>
            <a:endParaRPr sz="920"/>
          </a:p>
        </p:txBody>
      </p:sp>
      <p:sp>
        <p:nvSpPr>
          <p:cNvPr id="7" name="Text 5">
            <a:extLst xmlns:a="http://schemas.openxmlformats.org/drawingml/2006/main">
              <a:ext uri="{FF2B5EF4-FFF2-40B4-BE49-F238E27FC236}">
                <a16:creationId xmlns:a16="http://schemas.microsoft.com/office/drawing/2014/main" id="{13C01121-46A8-4668-9FB5-6B161E1B23F0}"/>
              </a:ext>
            </a:extLst>
          </p:cNvPr>
          <p:cNvSpPr>
            <a:spLocks xmlns:a="http://schemas.openxmlformats.org/drawingml/2006/main" noGrp="1"/>
          </p:cNvSpPr>
          <p:nvPr/>
        </p:nvSpPr>
        <p:spPr>
          <a:xfrm xmlns:a="http://schemas.openxmlformats.org/drawingml/2006/main">
            <a:off x="7717536" y="1444752"/>
            <a:ext cx="37947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Information and requests — loan servicing</a:t>
            </a:r>
            <a:endParaRPr sz="920"/>
          </a:p>
        </p:txBody>
      </p:sp>
      <p:sp>
        <p:nvSpPr>
          <p:cNvPr id="8" name="Text 6">
            <a:extLst xmlns:a="http://schemas.openxmlformats.org/drawingml/2006/main">
              <a:ext uri="{FF2B5EF4-FFF2-40B4-BE49-F238E27FC236}">
                <a16:creationId xmlns:a16="http://schemas.microsoft.com/office/drawing/2014/main" id="{DF9039F2-D2DF-4EE7-ACAD-50480C2F4347}"/>
              </a:ext>
            </a:extLst>
          </p:cNvPr>
          <p:cNvSpPr>
            <a:spLocks xmlns:a="http://schemas.openxmlformats.org/drawingml/2006/main" noGrp="1"/>
          </p:cNvSpPr>
          <p:nvPr/>
        </p:nvSpPr>
        <p:spPr>
          <a:xfrm xmlns:a="http://schemas.openxmlformats.org/drawingml/2006/main">
            <a:off x="676656" y="1773936"/>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Failure cost</a:t>
            </a:r>
            <a:endParaRPr sz="980"/>
          </a:p>
        </p:txBody>
      </p:sp>
      <p:sp>
        <p:nvSpPr>
          <p:cNvPr id="9" name="Text 7">
            <a:extLst xmlns:a="http://schemas.openxmlformats.org/drawingml/2006/main">
              <a:ext uri="{FF2B5EF4-FFF2-40B4-BE49-F238E27FC236}">
                <a16:creationId xmlns:a16="http://schemas.microsoft.com/office/drawing/2014/main" id="{BDC98579-F711-4B43-9BD4-CE060C59CFFC}"/>
              </a:ext>
            </a:extLst>
          </p:cNvPr>
          <p:cNvSpPr>
            <a:spLocks xmlns:a="http://schemas.openxmlformats.org/drawingml/2006/main" noGrp="1"/>
          </p:cNvSpPr>
          <p:nvPr/>
        </p:nvSpPr>
        <p:spPr>
          <a:xfrm xmlns:a="http://schemas.openxmlformats.org/drawingml/2006/main">
            <a:off x="3602736" y="1773936"/>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B04A25"/>
                </a:solidFill>
                <a:latin typeface="Arial"/>
                <a:ea typeface="Arial"/>
                <a:cs typeface="Arial"/>
              </a:rPr>
              <a:t>A wrong debit, a duplicate, or money in limbo</a:t>
            </a:r>
            <a:endParaRPr sz="930"/>
          </a:p>
        </p:txBody>
      </p:sp>
      <p:sp>
        <p:nvSpPr>
          <p:cNvPr id="10" name="Text 8">
            <a:extLst xmlns:a="http://schemas.openxmlformats.org/drawingml/2006/main">
              <a:ext uri="{FF2B5EF4-FFF2-40B4-BE49-F238E27FC236}">
                <a16:creationId xmlns:a16="http://schemas.microsoft.com/office/drawing/2014/main" id="{AEC16CED-039B-4BA4-9504-536D655B56EB}"/>
              </a:ext>
            </a:extLst>
          </p:cNvPr>
          <p:cNvSpPr>
            <a:spLocks xmlns:a="http://schemas.openxmlformats.org/drawingml/2006/main" noGrp="1"/>
          </p:cNvSpPr>
          <p:nvPr/>
        </p:nvSpPr>
        <p:spPr>
          <a:xfrm xmlns:a="http://schemas.openxmlformats.org/drawingml/2006/main">
            <a:off x="7717536" y="1773936"/>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 re-run and a few wasted minutes</a:t>
            </a:r>
            <a:endParaRPr sz="930"/>
          </a:p>
        </p:txBody>
      </p:sp>
      <p:sp>
        <p:nvSpPr>
          <p:cNvPr id="11" name="Shape 9">
            <a:extLst xmlns:a="http://schemas.openxmlformats.org/drawingml/2006/main">
              <a:ext uri="{FF2B5EF4-FFF2-40B4-BE49-F238E27FC236}">
                <a16:creationId xmlns:a16="http://schemas.microsoft.com/office/drawing/2014/main" id="{B89A919C-26F4-4D35-9401-6CF00C5F6B3B}"/>
              </a:ext>
            </a:extLst>
          </p:cNvPr>
          <p:cNvSpPr>
            <a:spLocks xmlns:a="http://schemas.openxmlformats.org/drawingml/2006/main" noGrp="1"/>
          </p:cNvSpPr>
          <p:nvPr/>
        </p:nvSpPr>
        <p:spPr>
          <a:xfrm xmlns:a="http://schemas.openxmlformats.org/drawingml/2006/main">
            <a:off x="566928" y="2121408"/>
            <a:ext cx="11057839" cy="7315"/>
          </a:xfrm>
          <a:prstGeom xmlns:a="http://schemas.openxmlformats.org/drawingml/2006/main" prst="rect">
            <a:avLst/>
          </a:prstGeom>
          <a:solidFill xmlns:a="http://schemas.openxmlformats.org/drawingml/2006/main">
            <a:srgbClr val="CBD5E0"/>
          </a:solidFill>
        </p:spPr>
      </p:sp>
      <p:sp>
        <p:nvSpPr>
          <p:cNvPr id="12" name="Shape 10">
            <a:extLst xmlns:a="http://schemas.openxmlformats.org/drawingml/2006/main">
              <a:ext uri="{FF2B5EF4-FFF2-40B4-BE49-F238E27FC236}">
                <a16:creationId xmlns:a16="http://schemas.microsoft.com/office/drawing/2014/main" id="{BAAEECD2-942D-45C4-B7B0-D18C46158162}"/>
              </a:ext>
            </a:extLst>
          </p:cNvPr>
          <p:cNvSpPr>
            <a:spLocks xmlns:a="http://schemas.openxmlformats.org/drawingml/2006/main" noGrp="1"/>
          </p:cNvSpPr>
          <p:nvPr/>
        </p:nvSpPr>
        <p:spPr>
          <a:xfrm xmlns:a="http://schemas.openxmlformats.org/drawingml/2006/main">
            <a:off x="566928" y="2121408"/>
            <a:ext cx="11057839" cy="420624"/>
          </a:xfrm>
          <a:prstGeom xmlns:a="http://schemas.openxmlformats.org/drawingml/2006/main" prst="rect">
            <a:avLst/>
          </a:prstGeom>
          <a:solidFill xmlns:a="http://schemas.openxmlformats.org/drawingml/2006/main">
            <a:srgbClr val="F7F9FB"/>
          </a:solidFill>
        </p:spPr>
      </p:sp>
      <p:sp>
        <p:nvSpPr>
          <p:cNvPr id="13" name="Text 11">
            <a:extLst xmlns:a="http://schemas.openxmlformats.org/drawingml/2006/main">
              <a:ext uri="{FF2B5EF4-FFF2-40B4-BE49-F238E27FC236}">
                <a16:creationId xmlns:a16="http://schemas.microsoft.com/office/drawing/2014/main" id="{7F591CCC-6B1F-4B43-B868-1C55318DD2D9}"/>
              </a:ext>
            </a:extLst>
          </p:cNvPr>
          <p:cNvSpPr>
            <a:spLocks xmlns:a="http://schemas.openxmlformats.org/drawingml/2006/main" noGrp="1"/>
          </p:cNvSpPr>
          <p:nvPr/>
        </p:nvSpPr>
        <p:spPr>
          <a:xfrm xmlns:a="http://schemas.openxmlformats.org/drawingml/2006/main">
            <a:off x="676656" y="2194560"/>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State model</a:t>
            </a:r>
            <a:endParaRPr sz="980"/>
          </a:p>
        </p:txBody>
      </p:sp>
      <p:sp>
        <p:nvSpPr>
          <p:cNvPr id="14" name="Text 12">
            <a:extLst xmlns:a="http://schemas.openxmlformats.org/drawingml/2006/main">
              <a:ext uri="{FF2B5EF4-FFF2-40B4-BE49-F238E27FC236}">
                <a16:creationId xmlns:a16="http://schemas.microsoft.com/office/drawing/2014/main" id="{E16B3C72-FB09-4183-A2ED-37755A642DC1}"/>
              </a:ext>
            </a:extLst>
          </p:cNvPr>
          <p:cNvSpPr>
            <a:spLocks xmlns:a="http://schemas.openxmlformats.org/drawingml/2006/main" noGrp="1"/>
          </p:cNvSpPr>
          <p:nvPr/>
        </p:nvSpPr>
        <p:spPr>
          <a:xfrm xmlns:a="http://schemas.openxmlformats.org/drawingml/2006/main">
            <a:off x="3602736" y="2194560"/>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B04A25"/>
                </a:solidFill>
                <a:latin typeface="Arial"/>
                <a:ea typeface="Arial"/>
                <a:cs typeface="Arial"/>
              </a:rPr>
              <a:t>Its own state machine with intermediate states</a:t>
            </a:r>
            <a:endParaRPr sz="930"/>
          </a:p>
        </p:txBody>
      </p:sp>
      <p:sp>
        <p:nvSpPr>
          <p:cNvPr id="15" name="Text 13">
            <a:extLst xmlns:a="http://schemas.openxmlformats.org/drawingml/2006/main">
              <a:ext uri="{FF2B5EF4-FFF2-40B4-BE49-F238E27FC236}">
                <a16:creationId xmlns:a16="http://schemas.microsoft.com/office/drawing/2014/main" id="{96EB0B7A-F870-446D-8281-6A614ACE2A61}"/>
              </a:ext>
            </a:extLst>
          </p:cNvPr>
          <p:cNvSpPr>
            <a:spLocks xmlns:a="http://schemas.openxmlformats.org/drawingml/2006/main" noGrp="1"/>
          </p:cNvSpPr>
          <p:nvPr/>
        </p:nvSpPr>
        <p:spPr>
          <a:xfrm xmlns:a="http://schemas.openxmlformats.org/drawingml/2006/main">
            <a:off x="7717536" y="2194560"/>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Simple request states on a shared model</a:t>
            </a:r>
            <a:endParaRPr sz="930"/>
          </a:p>
        </p:txBody>
      </p:sp>
      <p:sp>
        <p:nvSpPr>
          <p:cNvPr id="16" name="Shape 14">
            <a:extLst xmlns:a="http://schemas.openxmlformats.org/drawingml/2006/main">
              <a:ext uri="{FF2B5EF4-FFF2-40B4-BE49-F238E27FC236}">
                <a16:creationId xmlns:a16="http://schemas.microsoft.com/office/drawing/2014/main" id="{1AE48B7F-A236-42F7-8615-BB5486552830}"/>
              </a:ext>
            </a:extLst>
          </p:cNvPr>
          <p:cNvSpPr>
            <a:spLocks xmlns:a="http://schemas.openxmlformats.org/drawingml/2006/main" noGrp="1"/>
          </p:cNvSpPr>
          <p:nvPr/>
        </p:nvSpPr>
        <p:spPr>
          <a:xfrm xmlns:a="http://schemas.openxmlformats.org/drawingml/2006/main">
            <a:off x="566928" y="2542032"/>
            <a:ext cx="11057839" cy="7315"/>
          </a:xfrm>
          <a:prstGeom xmlns:a="http://schemas.openxmlformats.org/drawingml/2006/main" prst="rect">
            <a:avLst/>
          </a:prstGeom>
          <a:solidFill xmlns:a="http://schemas.openxmlformats.org/drawingml/2006/main">
            <a:srgbClr val="CBD5E0"/>
          </a:solidFill>
        </p:spPr>
      </p:sp>
      <p:sp>
        <p:nvSpPr>
          <p:cNvPr id="17" name="Text 15">
            <a:extLst xmlns:a="http://schemas.openxmlformats.org/drawingml/2006/main">
              <a:ext uri="{FF2B5EF4-FFF2-40B4-BE49-F238E27FC236}">
                <a16:creationId xmlns:a16="http://schemas.microsoft.com/office/drawing/2014/main" id="{9CB8AF79-5756-49A8-9F0D-947A273567F2}"/>
              </a:ext>
            </a:extLst>
          </p:cNvPr>
          <p:cNvSpPr>
            <a:spLocks xmlns:a="http://schemas.openxmlformats.org/drawingml/2006/main" noGrp="1"/>
          </p:cNvSpPr>
          <p:nvPr/>
        </p:nvSpPr>
        <p:spPr>
          <a:xfrm xmlns:a="http://schemas.openxmlformats.org/drawingml/2006/main">
            <a:off x="676656" y="261518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Idempotency</a:t>
            </a:r>
            <a:endParaRPr sz="980"/>
          </a:p>
        </p:txBody>
      </p:sp>
      <p:sp>
        <p:nvSpPr>
          <p:cNvPr id="18" name="Text 16">
            <a:extLst xmlns:a="http://schemas.openxmlformats.org/drawingml/2006/main">
              <a:ext uri="{FF2B5EF4-FFF2-40B4-BE49-F238E27FC236}">
                <a16:creationId xmlns:a16="http://schemas.microsoft.com/office/drawing/2014/main" id="{ADC60F3D-D0D2-446C-A896-D37D0EAF0AA1}"/>
              </a:ext>
            </a:extLst>
          </p:cNvPr>
          <p:cNvSpPr>
            <a:spLocks xmlns:a="http://schemas.openxmlformats.org/drawingml/2006/main" noGrp="1"/>
          </p:cNvSpPr>
          <p:nvPr/>
        </p:nvSpPr>
        <p:spPr>
          <a:xfrm xmlns:a="http://schemas.openxmlformats.org/drawingml/2006/main">
            <a:off x="3602736" y="2615184"/>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B04A25"/>
                </a:solidFill>
                <a:latin typeface="Arial"/>
                <a:ea typeface="Arial"/>
                <a:cs typeface="Arial"/>
              </a:rPr>
              <a:t>Enforced at authorisation — a retry must not double-debit</a:t>
            </a:r>
            <a:endParaRPr sz="930"/>
          </a:p>
        </p:txBody>
      </p:sp>
      <p:sp>
        <p:nvSpPr>
          <p:cNvPr id="19" name="Text 17">
            <a:extLst xmlns:a="http://schemas.openxmlformats.org/drawingml/2006/main">
              <a:ext uri="{FF2B5EF4-FFF2-40B4-BE49-F238E27FC236}">
                <a16:creationId xmlns:a16="http://schemas.microsoft.com/office/drawing/2014/main" id="{BE160176-A02C-48FB-8DFE-7722F8E1D660}"/>
              </a:ext>
            </a:extLst>
          </p:cNvPr>
          <p:cNvSpPr>
            <a:spLocks xmlns:a="http://schemas.openxmlformats.org/drawingml/2006/main" noGrp="1"/>
          </p:cNvSpPr>
          <p:nvPr/>
        </p:nvSpPr>
        <p:spPr>
          <a:xfrm xmlns:a="http://schemas.openxmlformats.org/drawingml/2006/main">
            <a:off x="7717536" y="2615184"/>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Not required; repeat requests are harmless</a:t>
            </a:r>
            <a:endParaRPr sz="930"/>
          </a:p>
        </p:txBody>
      </p:sp>
      <p:sp>
        <p:nvSpPr>
          <p:cNvPr id="20" name="Shape 18">
            <a:extLst xmlns:a="http://schemas.openxmlformats.org/drawingml/2006/main">
              <a:ext uri="{FF2B5EF4-FFF2-40B4-BE49-F238E27FC236}">
                <a16:creationId xmlns:a16="http://schemas.microsoft.com/office/drawing/2014/main" id="{248F5929-60D7-465F-BDCA-D90CE50C8991}"/>
              </a:ext>
            </a:extLst>
          </p:cNvPr>
          <p:cNvSpPr>
            <a:spLocks xmlns:a="http://schemas.openxmlformats.org/drawingml/2006/main" noGrp="1"/>
          </p:cNvSpPr>
          <p:nvPr/>
        </p:nvSpPr>
        <p:spPr>
          <a:xfrm xmlns:a="http://schemas.openxmlformats.org/drawingml/2006/main">
            <a:off x="566928" y="2962656"/>
            <a:ext cx="11057839" cy="7315"/>
          </a:xfrm>
          <a:prstGeom xmlns:a="http://schemas.openxmlformats.org/drawingml/2006/main" prst="rect">
            <a:avLst/>
          </a:prstGeom>
          <a:solidFill xmlns:a="http://schemas.openxmlformats.org/drawingml/2006/main">
            <a:srgbClr val="CBD5E0"/>
          </a:solidFill>
        </p:spPr>
      </p:sp>
      <p:sp>
        <p:nvSpPr>
          <p:cNvPr id="21" name="Shape 19">
            <a:extLst xmlns:a="http://schemas.openxmlformats.org/drawingml/2006/main">
              <a:ext uri="{FF2B5EF4-FFF2-40B4-BE49-F238E27FC236}">
                <a16:creationId xmlns:a16="http://schemas.microsoft.com/office/drawing/2014/main" id="{F8D4EA50-D168-4851-B903-98E91CF03A08}"/>
              </a:ext>
            </a:extLst>
          </p:cNvPr>
          <p:cNvSpPr>
            <a:spLocks xmlns:a="http://schemas.openxmlformats.org/drawingml/2006/main" noGrp="1"/>
          </p:cNvSpPr>
          <p:nvPr/>
        </p:nvSpPr>
        <p:spPr>
          <a:xfrm xmlns:a="http://schemas.openxmlformats.org/drawingml/2006/main">
            <a:off x="566928" y="2962656"/>
            <a:ext cx="11057839" cy="420624"/>
          </a:xfrm>
          <a:prstGeom xmlns:a="http://schemas.openxmlformats.org/drawingml/2006/main" prst="rect">
            <a:avLst/>
          </a:prstGeom>
          <a:solidFill xmlns:a="http://schemas.openxmlformats.org/drawingml/2006/main">
            <a:srgbClr val="F7F9FB"/>
          </a:solidFill>
        </p:spPr>
      </p:sp>
      <p:sp>
        <p:nvSpPr>
          <p:cNvPr id="22" name="Text 20">
            <a:extLst xmlns:a="http://schemas.openxmlformats.org/drawingml/2006/main">
              <a:ext uri="{FF2B5EF4-FFF2-40B4-BE49-F238E27FC236}">
                <a16:creationId xmlns:a16="http://schemas.microsoft.com/office/drawing/2014/main" id="{49CD83AF-22AF-404F-AE9A-A1AFCE64072A}"/>
              </a:ext>
            </a:extLst>
          </p:cNvPr>
          <p:cNvSpPr>
            <a:spLocks xmlns:a="http://schemas.openxmlformats.org/drawingml/2006/main" noGrp="1"/>
          </p:cNvSpPr>
          <p:nvPr/>
        </p:nvSpPr>
        <p:spPr>
          <a:xfrm xmlns:a="http://schemas.openxmlformats.org/drawingml/2006/main">
            <a:off x="676656" y="3035808"/>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Reversal</a:t>
            </a:r>
            <a:endParaRPr sz="980"/>
          </a:p>
        </p:txBody>
      </p:sp>
      <p:sp>
        <p:nvSpPr>
          <p:cNvPr id="23" name="Text 21">
            <a:extLst xmlns:a="http://schemas.openxmlformats.org/drawingml/2006/main">
              <a:ext uri="{FF2B5EF4-FFF2-40B4-BE49-F238E27FC236}">
                <a16:creationId xmlns:a16="http://schemas.microsoft.com/office/drawing/2014/main" id="{B9902069-09BB-438A-B49D-A68E83C2B20D}"/>
              </a:ext>
            </a:extLst>
          </p:cNvPr>
          <p:cNvSpPr>
            <a:spLocks xmlns:a="http://schemas.openxmlformats.org/drawingml/2006/main" noGrp="1"/>
          </p:cNvSpPr>
          <p:nvPr/>
        </p:nvSpPr>
        <p:spPr>
          <a:xfrm xmlns:a="http://schemas.openxmlformats.org/drawingml/2006/main">
            <a:off x="3602736" y="3035808"/>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B04A25"/>
                </a:solidFill>
                <a:latin typeface="Arial"/>
                <a:ea typeface="Arial"/>
                <a:cs typeface="Arial"/>
              </a:rPr>
              <a:t>Designed and tested before the happy path</a:t>
            </a:r>
            <a:endParaRPr sz="930"/>
          </a:p>
        </p:txBody>
      </p:sp>
      <p:sp>
        <p:nvSpPr>
          <p:cNvPr id="24" name="Text 22">
            <a:extLst xmlns:a="http://schemas.openxmlformats.org/drawingml/2006/main">
              <a:ext uri="{FF2B5EF4-FFF2-40B4-BE49-F238E27FC236}">
                <a16:creationId xmlns:a16="http://schemas.microsoft.com/office/drawing/2014/main" id="{6294467B-045A-45B5-9AFB-23A1C07EB668}"/>
              </a:ext>
            </a:extLst>
          </p:cNvPr>
          <p:cNvSpPr>
            <a:spLocks xmlns:a="http://schemas.openxmlformats.org/drawingml/2006/main" noGrp="1"/>
          </p:cNvSpPr>
          <p:nvPr/>
        </p:nvSpPr>
        <p:spPr>
          <a:xfrm xmlns:a="http://schemas.openxmlformats.org/drawingml/2006/main">
            <a:off x="7717536" y="3035808"/>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Not applicable</a:t>
            </a:r>
            <a:endParaRPr sz="930"/>
          </a:p>
        </p:txBody>
      </p:sp>
      <p:sp>
        <p:nvSpPr>
          <p:cNvPr id="25" name="Shape 23">
            <a:extLst xmlns:a="http://schemas.openxmlformats.org/drawingml/2006/main">
              <a:ext uri="{FF2B5EF4-FFF2-40B4-BE49-F238E27FC236}">
                <a16:creationId xmlns:a16="http://schemas.microsoft.com/office/drawing/2014/main" id="{72B7FC4C-104D-44E1-A6D4-173AB3A9B70B}"/>
              </a:ext>
            </a:extLst>
          </p:cNvPr>
          <p:cNvSpPr>
            <a:spLocks xmlns:a="http://schemas.openxmlformats.org/drawingml/2006/main" noGrp="1"/>
          </p:cNvSpPr>
          <p:nvPr/>
        </p:nvSpPr>
        <p:spPr>
          <a:xfrm xmlns:a="http://schemas.openxmlformats.org/drawingml/2006/main">
            <a:off x="566928" y="3383280"/>
            <a:ext cx="11057839" cy="7315"/>
          </a:xfrm>
          <a:prstGeom xmlns:a="http://schemas.openxmlformats.org/drawingml/2006/main" prst="rect">
            <a:avLst/>
          </a:prstGeom>
          <a:solidFill xmlns:a="http://schemas.openxmlformats.org/drawingml/2006/main">
            <a:srgbClr val="CBD5E0"/>
          </a:solidFill>
        </p:spPr>
      </p:sp>
      <p:sp>
        <p:nvSpPr>
          <p:cNvPr id="26" name="Text 24">
            <a:extLst xmlns:a="http://schemas.openxmlformats.org/drawingml/2006/main">
              <a:ext uri="{FF2B5EF4-FFF2-40B4-BE49-F238E27FC236}">
                <a16:creationId xmlns:a16="http://schemas.microsoft.com/office/drawing/2014/main" id="{855F35B5-05D1-47B6-8FBF-1982677D4EA0}"/>
              </a:ext>
            </a:extLst>
          </p:cNvPr>
          <p:cNvSpPr>
            <a:spLocks xmlns:a="http://schemas.openxmlformats.org/drawingml/2006/main" noGrp="1"/>
          </p:cNvSpPr>
          <p:nvPr/>
        </p:nvSpPr>
        <p:spPr>
          <a:xfrm xmlns:a="http://schemas.openxmlformats.org/drawingml/2006/main">
            <a:off x="676656" y="345643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Timing</a:t>
            </a:r>
            <a:endParaRPr sz="980"/>
          </a:p>
        </p:txBody>
      </p:sp>
      <p:sp>
        <p:nvSpPr>
          <p:cNvPr id="27" name="Text 25">
            <a:extLst xmlns:a="http://schemas.openxmlformats.org/drawingml/2006/main">
              <a:ext uri="{FF2B5EF4-FFF2-40B4-BE49-F238E27FC236}">
                <a16:creationId xmlns:a16="http://schemas.microsoft.com/office/drawing/2014/main" id="{7A09BB10-188D-4E5E-A194-5A2507C7E387}"/>
              </a:ext>
            </a:extLst>
          </p:cNvPr>
          <p:cNvSpPr>
            <a:spLocks xmlns:a="http://schemas.openxmlformats.org/drawingml/2006/main" noGrp="1"/>
          </p:cNvSpPr>
          <p:nvPr/>
        </p:nvSpPr>
        <p:spPr>
          <a:xfrm xmlns:a="http://schemas.openxmlformats.org/drawingml/2006/main">
            <a:off x="3602736" y="3456432"/>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B04A25"/>
                </a:solidFill>
                <a:latin typeface="Arial"/>
                <a:ea typeface="Arial"/>
                <a:cs typeface="Arial"/>
              </a:rPr>
              <a:t>Bounded by an external settlement clock</a:t>
            </a:r>
            <a:endParaRPr sz="930"/>
          </a:p>
        </p:txBody>
      </p:sp>
      <p:sp>
        <p:nvSpPr>
          <p:cNvPr id="28" name="Text 26">
            <a:extLst xmlns:a="http://schemas.openxmlformats.org/drawingml/2006/main">
              <a:ext uri="{FF2B5EF4-FFF2-40B4-BE49-F238E27FC236}">
                <a16:creationId xmlns:a16="http://schemas.microsoft.com/office/drawing/2014/main" id="{6AFB377C-9EEA-4D70-9B44-1EE973286CDC}"/>
              </a:ext>
            </a:extLst>
          </p:cNvPr>
          <p:cNvSpPr>
            <a:spLocks xmlns:a="http://schemas.openxmlformats.org/drawingml/2006/main" noGrp="1"/>
          </p:cNvSpPr>
          <p:nvPr/>
        </p:nvSpPr>
        <p:spPr>
          <a:xfrm xmlns:a="http://schemas.openxmlformats.org/drawingml/2006/main">
            <a:off x="7717536" y="3456432"/>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Bounded only by the fulfilment system's own service level</a:t>
            </a:r>
            <a:endParaRPr sz="930"/>
          </a:p>
        </p:txBody>
      </p:sp>
      <p:sp>
        <p:nvSpPr>
          <p:cNvPr id="29" name="Shape 27">
            <a:extLst xmlns:a="http://schemas.openxmlformats.org/drawingml/2006/main">
              <a:ext uri="{FF2B5EF4-FFF2-40B4-BE49-F238E27FC236}">
                <a16:creationId xmlns:a16="http://schemas.microsoft.com/office/drawing/2014/main" id="{305687B7-E558-4DC3-965F-8D9AB7F2A029}"/>
              </a:ext>
            </a:extLst>
          </p:cNvPr>
          <p:cNvSpPr>
            <a:spLocks xmlns:a="http://schemas.openxmlformats.org/drawingml/2006/main" noGrp="1"/>
          </p:cNvSpPr>
          <p:nvPr/>
        </p:nvSpPr>
        <p:spPr>
          <a:xfrm xmlns:a="http://schemas.openxmlformats.org/drawingml/2006/main">
            <a:off x="566928" y="3803904"/>
            <a:ext cx="11057839" cy="7315"/>
          </a:xfrm>
          <a:prstGeom xmlns:a="http://schemas.openxmlformats.org/drawingml/2006/main" prst="rect">
            <a:avLst/>
          </a:prstGeom>
          <a:solidFill xmlns:a="http://schemas.openxmlformats.org/drawingml/2006/main">
            <a:srgbClr val="CBD5E0"/>
          </a:solidFill>
        </p:spPr>
      </p:sp>
      <p:sp>
        <p:nvSpPr>
          <p:cNvPr id="30" name="Shape 28">
            <a:extLst xmlns:a="http://schemas.openxmlformats.org/drawingml/2006/main">
              <a:ext uri="{FF2B5EF4-FFF2-40B4-BE49-F238E27FC236}">
                <a16:creationId xmlns:a16="http://schemas.microsoft.com/office/drawing/2014/main" id="{56AFF089-DAEB-4BAB-B94C-40199A1BCD75}"/>
              </a:ext>
            </a:extLst>
          </p:cNvPr>
          <p:cNvSpPr>
            <a:spLocks xmlns:a="http://schemas.openxmlformats.org/drawingml/2006/main" noGrp="1"/>
          </p:cNvSpPr>
          <p:nvPr/>
        </p:nvSpPr>
        <p:spPr>
          <a:xfrm xmlns:a="http://schemas.openxmlformats.org/drawingml/2006/main">
            <a:off x="566928" y="3803904"/>
            <a:ext cx="11057839" cy="420624"/>
          </a:xfrm>
          <a:prstGeom xmlns:a="http://schemas.openxmlformats.org/drawingml/2006/main" prst="rect">
            <a:avLst/>
          </a:prstGeom>
          <a:solidFill xmlns:a="http://schemas.openxmlformats.org/drawingml/2006/main">
            <a:srgbClr val="F7F9FB"/>
          </a:solidFill>
        </p:spPr>
      </p:sp>
      <p:sp>
        <p:nvSpPr>
          <p:cNvPr id="31" name="Text 29">
            <a:extLst xmlns:a="http://schemas.openxmlformats.org/drawingml/2006/main">
              <a:ext uri="{FF2B5EF4-FFF2-40B4-BE49-F238E27FC236}">
                <a16:creationId xmlns:a16="http://schemas.microsoft.com/office/drawing/2014/main" id="{E853BA7A-690A-4F12-9BD0-EB387C6CB84F}"/>
              </a:ext>
            </a:extLst>
          </p:cNvPr>
          <p:cNvSpPr>
            <a:spLocks xmlns:a="http://schemas.openxmlformats.org/drawingml/2006/main" noGrp="1"/>
          </p:cNvSpPr>
          <p:nvPr/>
        </p:nvSpPr>
        <p:spPr>
          <a:xfrm xmlns:a="http://schemas.openxmlformats.org/drawingml/2006/main">
            <a:off x="676656" y="3877056"/>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Eligibility</a:t>
            </a:r>
            <a:endParaRPr sz="980"/>
          </a:p>
        </p:txBody>
      </p:sp>
      <p:sp>
        <p:nvSpPr>
          <p:cNvPr id="32" name="Text 30">
            <a:extLst xmlns:a="http://schemas.openxmlformats.org/drawingml/2006/main">
              <a:ext uri="{FF2B5EF4-FFF2-40B4-BE49-F238E27FC236}">
                <a16:creationId xmlns:a16="http://schemas.microsoft.com/office/drawing/2014/main" id="{CE45EAA4-408D-4012-BBD0-33DEED46711D}"/>
              </a:ext>
            </a:extLst>
          </p:cNvPr>
          <p:cNvSpPr>
            <a:spLocks xmlns:a="http://schemas.openxmlformats.org/drawingml/2006/main" noGrp="1"/>
          </p:cNvSpPr>
          <p:nvPr/>
        </p:nvSpPr>
        <p:spPr>
          <a:xfrm xmlns:a="http://schemas.openxmlformats.org/drawingml/2006/main">
            <a:off x="3602736" y="3877056"/>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B04A25"/>
                </a:solidFill>
                <a:latin typeface="Arial"/>
                <a:ea typeface="Arial"/>
                <a:cs typeface="Arial"/>
              </a:rPr>
              <a:t>One rule set — can this instrument fund this account</a:t>
            </a:r>
            <a:endParaRPr sz="930"/>
          </a:p>
        </p:txBody>
      </p:sp>
      <p:sp>
        <p:nvSpPr>
          <p:cNvPr id="33" name="Text 31">
            <a:extLst xmlns:a="http://schemas.openxmlformats.org/drawingml/2006/main">
              <a:ext uri="{FF2B5EF4-FFF2-40B4-BE49-F238E27FC236}">
                <a16:creationId xmlns:a16="http://schemas.microsoft.com/office/drawing/2014/main" id="{6921FF64-421F-4DB6-B1B7-04FC1481445D}"/>
              </a:ext>
            </a:extLst>
          </p:cNvPr>
          <p:cNvSpPr>
            <a:spLocks xmlns:a="http://schemas.openxmlformats.org/drawingml/2006/main" noGrp="1"/>
          </p:cNvSpPr>
          <p:nvPr/>
        </p:nvSpPr>
        <p:spPr>
          <a:xfrm xmlns:a="http://schemas.openxmlformats.org/drawingml/2006/main">
            <a:off x="7717536" y="3877056"/>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Eleven rule sets, one per request category</a:t>
            </a:r>
            <a:endParaRPr sz="930"/>
          </a:p>
        </p:txBody>
      </p:sp>
      <p:sp>
        <p:nvSpPr>
          <p:cNvPr id="34" name="Shape 32">
            <a:extLst xmlns:a="http://schemas.openxmlformats.org/drawingml/2006/main">
              <a:ext uri="{FF2B5EF4-FFF2-40B4-BE49-F238E27FC236}">
                <a16:creationId xmlns:a16="http://schemas.microsoft.com/office/drawing/2014/main" id="{7C631A11-0B21-4799-BC2F-CB0EEE94CB4B}"/>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35" name="Text 33">
            <a:extLst xmlns:a="http://schemas.openxmlformats.org/drawingml/2006/main">
              <a:ext uri="{FF2B5EF4-FFF2-40B4-BE49-F238E27FC236}">
                <a16:creationId xmlns:a16="http://schemas.microsoft.com/office/drawing/2014/main" id="{5C1461E4-E4CC-4A0A-9BA9-BECFD9C93D6B}"/>
              </a:ext>
            </a:extLst>
          </p:cNvPr>
          <p:cNvSpPr>
            <a:spLocks xmlns:a="http://schemas.openxmlformats.org/drawingml/2006/main" noGrp="1"/>
          </p:cNvSpPr>
          <p:nvPr/>
        </p:nvSpPr>
        <p:spPr>
          <a:xfrm xmlns:a="http://schemas.openxmlformats.org/drawingml/2006/main">
            <a:off x="676656" y="4297680"/>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Hardest problem</a:t>
            </a:r>
            <a:endParaRPr sz="980"/>
          </a:p>
        </p:txBody>
      </p:sp>
      <p:sp>
        <p:nvSpPr>
          <p:cNvPr id="36" name="Text 34">
            <a:extLst xmlns:a="http://schemas.openxmlformats.org/drawingml/2006/main">
              <a:ext uri="{FF2B5EF4-FFF2-40B4-BE49-F238E27FC236}">
                <a16:creationId xmlns:a16="http://schemas.microsoft.com/office/drawing/2014/main" id="{B01AFA09-67F9-4A0B-B386-167001E3CDCA}"/>
              </a:ext>
            </a:extLst>
          </p:cNvPr>
          <p:cNvSpPr>
            <a:spLocks xmlns:a="http://schemas.openxmlformats.org/drawingml/2006/main" noGrp="1"/>
          </p:cNvSpPr>
          <p:nvPr/>
        </p:nvSpPr>
        <p:spPr>
          <a:xfrm xmlns:a="http://schemas.openxmlformats.org/drawingml/2006/main">
            <a:off x="3602736" y="4297680"/>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B04A25"/>
                </a:solidFill>
                <a:latin typeface="Arial"/>
                <a:ea typeface="Arial"/>
                <a:cs typeface="Arial"/>
              </a:rPr>
              <a:t>The clock conflict between rail and session</a:t>
            </a:r>
            <a:endParaRPr sz="930"/>
          </a:p>
        </p:txBody>
      </p:sp>
      <p:sp>
        <p:nvSpPr>
          <p:cNvPr id="37" name="Text 35">
            <a:extLst xmlns:a="http://schemas.openxmlformats.org/drawingml/2006/main">
              <a:ext uri="{FF2B5EF4-FFF2-40B4-BE49-F238E27FC236}">
                <a16:creationId xmlns:a16="http://schemas.microsoft.com/office/drawing/2014/main" id="{4DF081B8-41D4-4890-A432-97298A7189DB}"/>
              </a:ext>
            </a:extLst>
          </p:cNvPr>
          <p:cNvSpPr>
            <a:spLocks xmlns:a="http://schemas.openxmlformats.org/drawingml/2006/main" noGrp="1"/>
          </p:cNvSpPr>
          <p:nvPr/>
        </p:nvSpPr>
        <p:spPr>
          <a:xfrm xmlns:a="http://schemas.openxmlformats.org/drawingml/2006/main">
            <a:off x="7717536" y="4297680"/>
            <a:ext cx="3794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The taxonomy, upstream of any interface work</a:t>
            </a:r>
            <a:endParaRPr sz="930"/>
          </a:p>
        </p:txBody>
      </p:sp>
      <p:sp>
        <p:nvSpPr>
          <p:cNvPr id="38" name="Shape 36">
            <a:extLst xmlns:a="http://schemas.openxmlformats.org/drawingml/2006/main">
              <a:ext uri="{FF2B5EF4-FFF2-40B4-BE49-F238E27FC236}">
                <a16:creationId xmlns:a16="http://schemas.microsoft.com/office/drawing/2014/main" id="{FD47389F-FE02-4240-B0DA-0502A908099B}"/>
              </a:ext>
            </a:extLst>
          </p:cNvPr>
          <p:cNvSpPr>
            <a:spLocks xmlns:a="http://schemas.openxmlformats.org/drawingml/2006/main" noGrp="1"/>
          </p:cNvSpPr>
          <p:nvPr/>
        </p:nvSpPr>
        <p:spPr>
          <a:xfrm xmlns:a="http://schemas.openxmlformats.org/drawingml/2006/main">
            <a:off x="566928" y="4645152"/>
            <a:ext cx="11057839" cy="7315"/>
          </a:xfrm>
          <a:prstGeom xmlns:a="http://schemas.openxmlformats.org/drawingml/2006/main" prst="rect">
            <a:avLst/>
          </a:prstGeom>
          <a:solidFill xmlns:a="http://schemas.openxmlformats.org/drawingml/2006/main">
            <a:srgbClr val="CBD5E0"/>
          </a:solidFill>
        </p:spPr>
      </p:sp>
      <p:sp>
        <p:nvSpPr>
          <p:cNvPr id="39" name="Text 37">
            <a:extLst xmlns:a="http://schemas.openxmlformats.org/drawingml/2006/main">
              <a:ext uri="{FF2B5EF4-FFF2-40B4-BE49-F238E27FC236}">
                <a16:creationId xmlns:a16="http://schemas.microsoft.com/office/drawing/2014/main" id="{6552106A-5B21-4F13-B8AB-D89F13432ADE}"/>
              </a:ext>
            </a:extLst>
          </p:cNvPr>
          <p:cNvSpPr>
            <a:spLocks xmlns:a="http://schemas.openxmlformats.org/drawingml/2006/main" noGrp="1"/>
          </p:cNvSpPr>
          <p:nvPr/>
        </p:nvSpPr>
        <p:spPr>
          <a:xfrm xmlns:a="http://schemas.openxmlformats.org/drawingml/2006/main">
            <a:off x="566928" y="48463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the table shows</a:t>
            </a:r>
            <a:endParaRPr sz="1100"/>
          </a:p>
        </p:txBody>
      </p:sp>
      <p:sp>
        <p:nvSpPr>
          <p:cNvPr id="40" name="Shape 38">
            <a:extLst xmlns:a="http://schemas.openxmlformats.org/drawingml/2006/main">
              <a:ext uri="{FF2B5EF4-FFF2-40B4-BE49-F238E27FC236}">
                <a16:creationId xmlns:a16="http://schemas.microsoft.com/office/drawing/2014/main" id="{8CEFEDF2-9EA1-415B-BB51-BF181F2FA3FC}"/>
              </a:ext>
            </a:extLst>
          </p:cNvPr>
          <p:cNvSpPr>
            <a:spLocks xmlns:a="http://schemas.openxmlformats.org/drawingml/2006/main" noGrp="1"/>
          </p:cNvSpPr>
          <p:nvPr/>
        </p:nvSpPr>
        <p:spPr>
          <a:xfrm xmlns:a="http://schemas.openxmlformats.org/drawingml/2006/main">
            <a:off x="566928" y="5102352"/>
            <a:ext cx="3551834" cy="20117"/>
          </a:xfrm>
          <a:prstGeom xmlns:a="http://schemas.openxmlformats.org/drawingml/2006/main" prst="rect">
            <a:avLst/>
          </a:prstGeom>
          <a:solidFill xmlns:a="http://schemas.openxmlformats.org/drawingml/2006/main">
            <a:srgbClr val="B04A25"/>
          </a:solidFill>
        </p:spPr>
      </p:sp>
      <p:sp>
        <p:nvSpPr>
          <p:cNvPr id="41" name="Text 39">
            <a:extLst xmlns:a="http://schemas.openxmlformats.org/drawingml/2006/main">
              <a:ext uri="{FF2B5EF4-FFF2-40B4-BE49-F238E27FC236}">
                <a16:creationId xmlns:a16="http://schemas.microsoft.com/office/drawing/2014/main" id="{DC6BAC14-02F6-41C7-8085-9BD7C4418B3D}"/>
              </a:ext>
            </a:extLst>
          </p:cNvPr>
          <p:cNvSpPr>
            <a:spLocks xmlns:a="http://schemas.openxmlformats.org/drawingml/2006/main" noGrp="1"/>
          </p:cNvSpPr>
          <p:nvPr/>
        </p:nvSpPr>
        <p:spPr>
          <a:xfrm xmlns:a="http://schemas.openxmlformats.org/drawingml/2006/main">
            <a:off x="566928" y="5230368"/>
            <a:ext cx="3551834"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Only the top rows of a requirements document would look alike.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Every row below that is a different problem with a different solution.</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One self-service standard would be wrong for one of them.</a:t>
            </a:r>
            <a:endParaRPr sz="920"/>
          </a:p>
        </p:txBody>
      </p:sp>
      <p:sp>
        <p:nvSpPr>
          <p:cNvPr id="42" name="Text 40">
            <a:extLst xmlns:a="http://schemas.openxmlformats.org/drawingml/2006/main">
              <a:ext uri="{FF2B5EF4-FFF2-40B4-BE49-F238E27FC236}">
                <a16:creationId xmlns:a16="http://schemas.microsoft.com/office/drawing/2014/main" id="{D911870E-EED2-49EB-953A-2388E41FDF49}"/>
              </a:ext>
            </a:extLst>
          </p:cNvPr>
          <p:cNvSpPr>
            <a:spLocks xmlns:a="http://schemas.openxmlformats.org/drawingml/2006/main" noGrp="1"/>
          </p:cNvSpPr>
          <p:nvPr/>
        </p:nvSpPr>
        <p:spPr>
          <a:xfrm xmlns:a="http://schemas.openxmlformats.org/drawingml/2006/main">
            <a:off x="4319930" y="48463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Where the effort actually went</a:t>
            </a:r>
            <a:endParaRPr sz="1100"/>
          </a:p>
        </p:txBody>
      </p:sp>
      <p:sp>
        <p:nvSpPr>
          <p:cNvPr id="43" name="Shape 41">
            <a:extLst xmlns:a="http://schemas.openxmlformats.org/drawingml/2006/main">
              <a:ext uri="{FF2B5EF4-FFF2-40B4-BE49-F238E27FC236}">
                <a16:creationId xmlns:a16="http://schemas.microsoft.com/office/drawing/2014/main" id="{092C985C-75A3-4194-A658-4D667F76D3B3}"/>
              </a:ext>
            </a:extLst>
          </p:cNvPr>
          <p:cNvSpPr>
            <a:spLocks xmlns:a="http://schemas.openxmlformats.org/drawingml/2006/main" noGrp="1"/>
          </p:cNvSpPr>
          <p:nvPr/>
        </p:nvSpPr>
        <p:spPr>
          <a:xfrm xmlns:a="http://schemas.openxmlformats.org/drawingml/2006/main">
            <a:off x="4319930" y="5102352"/>
            <a:ext cx="3551834" cy="20117"/>
          </a:xfrm>
          <a:prstGeom xmlns:a="http://schemas.openxmlformats.org/drawingml/2006/main" prst="rect">
            <a:avLst/>
          </a:prstGeom>
          <a:solidFill xmlns:a="http://schemas.openxmlformats.org/drawingml/2006/main">
            <a:srgbClr val="102A43"/>
          </a:solidFill>
        </p:spPr>
      </p:sp>
      <p:sp>
        <p:nvSpPr>
          <p:cNvPr id="44" name="Text 42">
            <a:extLst xmlns:a="http://schemas.openxmlformats.org/drawingml/2006/main">
              <a:ext uri="{FF2B5EF4-FFF2-40B4-BE49-F238E27FC236}">
                <a16:creationId xmlns:a16="http://schemas.microsoft.com/office/drawing/2014/main" id="{B3214769-D708-4BC6-A2C1-99B90B4F40CE}"/>
              </a:ext>
            </a:extLst>
          </p:cNvPr>
          <p:cNvSpPr>
            <a:spLocks xmlns:a="http://schemas.openxmlformats.org/drawingml/2006/main" noGrp="1"/>
          </p:cNvSpPr>
          <p:nvPr/>
        </p:nvSpPr>
        <p:spPr>
          <a:xfrm xmlns:a="http://schemas.openxmlformats.org/drawingml/2006/main">
            <a:off x="4319930" y="5230368"/>
            <a:ext cx="3551834"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Funding: the state machine, reversal and idempotency — roughly two-thirds of the build.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Servicing: the taxonomy rebuild and eligibility rules — roughly two-thirds of the build.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In both cases almost none of it was the interface.</a:t>
            </a:r>
            <a:endParaRPr sz="920"/>
          </a:p>
        </p:txBody>
      </p:sp>
      <p:sp>
        <p:nvSpPr>
          <p:cNvPr id="45" name="Text 43">
            <a:extLst xmlns:a="http://schemas.openxmlformats.org/drawingml/2006/main">
              <a:ext uri="{FF2B5EF4-FFF2-40B4-BE49-F238E27FC236}">
                <a16:creationId xmlns:a16="http://schemas.microsoft.com/office/drawing/2014/main" id="{41855C51-CE27-4836-9348-2BD0941BD67B}"/>
              </a:ext>
            </a:extLst>
          </p:cNvPr>
          <p:cNvSpPr>
            <a:spLocks xmlns:a="http://schemas.openxmlformats.org/drawingml/2006/main" noGrp="1"/>
          </p:cNvSpPr>
          <p:nvPr/>
        </p:nvSpPr>
        <p:spPr>
          <a:xfrm xmlns:a="http://schemas.openxmlformats.org/drawingml/2006/main">
            <a:off x="8072933" y="48463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The planning implication</a:t>
            </a:r>
            <a:endParaRPr sz="1100"/>
          </a:p>
        </p:txBody>
      </p:sp>
      <p:sp>
        <p:nvSpPr>
          <p:cNvPr id="46" name="Shape 44">
            <a:extLst xmlns:a="http://schemas.openxmlformats.org/drawingml/2006/main">
              <a:ext uri="{FF2B5EF4-FFF2-40B4-BE49-F238E27FC236}">
                <a16:creationId xmlns:a16="http://schemas.microsoft.com/office/drawing/2014/main" id="{1DB9203C-0C31-41B6-8D7C-4E3945C84B8C}"/>
              </a:ext>
            </a:extLst>
          </p:cNvPr>
          <p:cNvSpPr>
            <a:spLocks xmlns:a="http://schemas.openxmlformats.org/drawingml/2006/main" noGrp="1"/>
          </p:cNvSpPr>
          <p:nvPr/>
        </p:nvSpPr>
        <p:spPr>
          <a:xfrm xmlns:a="http://schemas.openxmlformats.org/drawingml/2006/main">
            <a:off x="8072933" y="5102352"/>
            <a:ext cx="3551834" cy="20117"/>
          </a:xfrm>
          <a:prstGeom xmlns:a="http://schemas.openxmlformats.org/drawingml/2006/main" prst="rect">
            <a:avLst/>
          </a:prstGeom>
          <a:solidFill xmlns:a="http://schemas.openxmlformats.org/drawingml/2006/main">
            <a:srgbClr val="27685A"/>
          </a:solidFill>
        </p:spPr>
      </p:sp>
      <p:sp>
        <p:nvSpPr>
          <p:cNvPr id="47" name="Text 45">
            <a:extLst xmlns:a="http://schemas.openxmlformats.org/drawingml/2006/main">
              <a:ext uri="{FF2B5EF4-FFF2-40B4-BE49-F238E27FC236}">
                <a16:creationId xmlns:a16="http://schemas.microsoft.com/office/drawing/2014/main" id="{F8741533-A496-430D-B3F2-A67DC226B172}"/>
              </a:ext>
            </a:extLst>
          </p:cNvPr>
          <p:cNvSpPr>
            <a:spLocks xmlns:a="http://schemas.openxmlformats.org/drawingml/2006/main" noGrp="1"/>
          </p:cNvSpPr>
          <p:nvPr/>
        </p:nvSpPr>
        <p:spPr>
          <a:xfrm xmlns:a="http://schemas.openxmlformats.org/drawingml/2006/main">
            <a:off x="8072933" y="5230368"/>
            <a:ext cx="3551834"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Group self-service work by reversibility, not by channel or business area.</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Reversible journeys can be batched and delivered quickly by one squad.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Irreversible ones need payments-grade attention however small.</a:t>
            </a:r>
            <a:endParaRPr sz="920"/>
          </a:p>
        </p:txBody>
      </p:sp>
      <p:sp>
        <p:nvSpPr>
          <p:cNvPr id="48" name="Shape 46">
            <a:extLst xmlns:a="http://schemas.openxmlformats.org/drawingml/2006/main">
              <a:ext uri="{FF2B5EF4-FFF2-40B4-BE49-F238E27FC236}">
                <a16:creationId xmlns:a16="http://schemas.microsoft.com/office/drawing/2014/main" id="{77E24DB1-ADE4-43D5-8486-95BD7F3816F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9" name="Text 47">
            <a:extLst xmlns:a="http://schemas.openxmlformats.org/drawingml/2006/main">
              <a:ext uri="{FF2B5EF4-FFF2-40B4-BE49-F238E27FC236}">
                <a16:creationId xmlns:a16="http://schemas.microsoft.com/office/drawing/2014/main" id="{B5289544-448E-49B3-9082-4A2D0366503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50" name="Text 48">
            <a:extLst xmlns:a="http://schemas.openxmlformats.org/drawingml/2006/main">
              <a:ext uri="{FF2B5EF4-FFF2-40B4-BE49-F238E27FC236}">
                <a16:creationId xmlns:a16="http://schemas.microsoft.com/office/drawing/2014/main" id="{939A341D-900E-4F24-B204-CFC3B4D0B2C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012427103"/>
      </p:ext>
    </p:extLst>
  </p:cSld>
</p:sld>
</file>

<file path=ppt/slides/slide6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717A6CF-8C2B-45E7-BDDC-91DB6308F30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JOURNEY A  ·  MONEY MOVEMENT</a:t>
            </a:r>
            <a:endParaRPr sz="950"/>
          </a:p>
        </p:txBody>
      </p:sp>
      <p:sp>
        <p:nvSpPr>
          <p:cNvPr id="3" name="Text 1">
            <a:extLst xmlns:a="http://schemas.openxmlformats.org/drawingml/2006/main">
              <a:ext uri="{FF2B5EF4-FFF2-40B4-BE49-F238E27FC236}">
                <a16:creationId xmlns:a16="http://schemas.microsoft.com/office/drawing/2014/main" id="{E0CCB2B7-19E5-4982-B01D-802FED84BF7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Funding is a state machine, not a field — and the reversal path was built and tested</a:t>
            </a:r>
            <a:endParaRPr sz="1900"/>
          </a:p>
          <a:p xmlns:a="http://schemas.openxmlformats.org/drawingml/2006/main">
            <a:pPr marL="0" indent="0">
              <a:lnSpc>
                <a:spcPts val="2400"/>
              </a:lnSpc>
              <a:buNone/>
            </a:pPr>
            <a:r>
              <a:rPr sz="1900" b="1">
                <a:solidFill>
                  <a:srgbClr val="102A43"/>
                </a:solidFill>
                <a:latin typeface="Arial"/>
                <a:ea typeface="Arial"/>
                <a:cs typeface="Arial"/>
              </a:rPr>
              <a:t>before the happy path was signed off</a:t>
            </a:r>
            <a:endParaRPr sz="1900"/>
          </a:p>
        </p:txBody>
      </p:sp>
      <p:sp>
        <p:nvSpPr>
          <p:cNvPr id="4" name="Shape 2">
            <a:extLst xmlns:a="http://schemas.openxmlformats.org/drawingml/2006/main">
              <a:ext uri="{FF2B5EF4-FFF2-40B4-BE49-F238E27FC236}">
                <a16:creationId xmlns:a16="http://schemas.microsoft.com/office/drawing/2014/main" id="{02FB6D51-9A44-4B71-9977-12589DBD4244}"/>
              </a:ext>
            </a:extLst>
          </p:cNvPr>
          <p:cNvSpPr>
            <a:spLocks xmlns:a="http://schemas.openxmlformats.org/drawingml/2006/main" noGrp="1"/>
          </p:cNvSpPr>
          <p:nvPr/>
        </p:nvSpPr>
        <p:spPr>
          <a:xfrm xmlns:a="http://schemas.openxmlformats.org/drawingml/2006/main">
            <a:off x="566928" y="1335024"/>
            <a:ext cx="1736293" cy="137160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A37AA203-1395-4DAF-A319-5993C2F0083F}"/>
              </a:ext>
            </a:extLst>
          </p:cNvPr>
          <p:cNvSpPr>
            <a:spLocks xmlns:a="http://schemas.openxmlformats.org/drawingml/2006/main" noGrp="1"/>
          </p:cNvSpPr>
          <p:nvPr/>
        </p:nvSpPr>
        <p:spPr>
          <a:xfrm xmlns:a="http://schemas.openxmlformats.org/drawingml/2006/main">
            <a:off x="713232" y="1463040"/>
            <a:ext cx="144368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BC93A72D-3EA5-44F9-A53D-A176FAF65D57}"/>
              </a:ext>
            </a:extLst>
          </p:cNvPr>
          <p:cNvSpPr>
            <a:spLocks xmlns:a="http://schemas.openxmlformats.org/drawingml/2006/main" noGrp="1"/>
          </p:cNvSpPr>
          <p:nvPr/>
        </p:nvSpPr>
        <p:spPr>
          <a:xfrm xmlns:a="http://schemas.openxmlformats.org/drawingml/2006/main">
            <a:off x="713232" y="1664208"/>
            <a:ext cx="144368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Initiated</a:t>
            </a:r>
            <a:endParaRPr sz="1100"/>
          </a:p>
        </p:txBody>
      </p:sp>
      <p:sp>
        <p:nvSpPr>
          <p:cNvPr id="7" name="Text 5">
            <a:extLst xmlns:a="http://schemas.openxmlformats.org/drawingml/2006/main">
              <a:ext uri="{FF2B5EF4-FFF2-40B4-BE49-F238E27FC236}">
                <a16:creationId xmlns:a16="http://schemas.microsoft.com/office/drawing/2014/main" id="{CBE99225-F052-460A-AE14-0BEEDFBC7636}"/>
              </a:ext>
            </a:extLst>
          </p:cNvPr>
          <p:cNvSpPr>
            <a:spLocks xmlns:a="http://schemas.openxmlformats.org/drawingml/2006/main" noGrp="1"/>
          </p:cNvSpPr>
          <p:nvPr/>
        </p:nvSpPr>
        <p:spPr>
          <a:xfrm xmlns:a="http://schemas.openxmlformats.org/drawingml/2006/main">
            <a:off x="713232" y="1938528"/>
            <a:ext cx="144368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a:solidFill>
                  <a:srgbClr val="486581"/>
                </a:solidFill>
                <a:latin typeface="Arial"/>
                <a:ea typeface="Arial"/>
                <a:cs typeface="Arial"/>
              </a:rPr>
              <a:t>Instrument selected, amount set, nothing committed</a:t>
            </a:r>
            <a:endParaRPr sz="880"/>
          </a:p>
        </p:txBody>
      </p:sp>
      <p:sp>
        <p:nvSpPr>
          <p:cNvPr id="8" name="Shape 6">
            <a:extLst xmlns:a="http://schemas.openxmlformats.org/drawingml/2006/main">
              <a:ext uri="{FF2B5EF4-FFF2-40B4-BE49-F238E27FC236}">
                <a16:creationId xmlns:a16="http://schemas.microsoft.com/office/drawing/2014/main" id="{DE8C1CB1-DFD0-44AB-9D77-27FF2C99D817}"/>
              </a:ext>
            </a:extLst>
          </p:cNvPr>
          <p:cNvSpPr>
            <a:spLocks xmlns:a="http://schemas.openxmlformats.org/drawingml/2006/main" noGrp="1"/>
          </p:cNvSpPr>
          <p:nvPr/>
        </p:nvSpPr>
        <p:spPr>
          <a:xfrm xmlns:a="http://schemas.openxmlformats.org/drawingml/2006/main">
            <a:off x="2431237" y="1335024"/>
            <a:ext cx="1736293" cy="1371600"/>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25BD671C-E8B7-4E14-BED0-30C87493B711}"/>
              </a:ext>
            </a:extLst>
          </p:cNvPr>
          <p:cNvSpPr>
            <a:spLocks xmlns:a="http://schemas.openxmlformats.org/drawingml/2006/main" noGrp="1"/>
          </p:cNvSpPr>
          <p:nvPr/>
        </p:nvSpPr>
        <p:spPr>
          <a:xfrm xmlns:a="http://schemas.openxmlformats.org/drawingml/2006/main">
            <a:off x="2577541" y="1463040"/>
            <a:ext cx="144368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0139DBBC-0109-4D4D-848E-6E6ADB750E2A}"/>
              </a:ext>
            </a:extLst>
          </p:cNvPr>
          <p:cNvSpPr>
            <a:spLocks xmlns:a="http://schemas.openxmlformats.org/drawingml/2006/main" noGrp="1"/>
          </p:cNvSpPr>
          <p:nvPr/>
        </p:nvSpPr>
        <p:spPr>
          <a:xfrm xmlns:a="http://schemas.openxmlformats.org/drawingml/2006/main">
            <a:off x="2577541" y="1664208"/>
            <a:ext cx="144368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Authorised</a:t>
            </a:r>
            <a:endParaRPr sz="1100"/>
          </a:p>
        </p:txBody>
      </p:sp>
      <p:sp>
        <p:nvSpPr>
          <p:cNvPr id="11" name="Text 9">
            <a:extLst xmlns:a="http://schemas.openxmlformats.org/drawingml/2006/main">
              <a:ext uri="{FF2B5EF4-FFF2-40B4-BE49-F238E27FC236}">
                <a16:creationId xmlns:a16="http://schemas.microsoft.com/office/drawing/2014/main" id="{7585C081-011C-4BC2-A931-3AD7FB44752B}"/>
              </a:ext>
            </a:extLst>
          </p:cNvPr>
          <p:cNvSpPr>
            <a:spLocks xmlns:a="http://schemas.openxmlformats.org/drawingml/2006/main" noGrp="1"/>
          </p:cNvSpPr>
          <p:nvPr/>
        </p:nvSpPr>
        <p:spPr>
          <a:xfrm xmlns:a="http://schemas.openxmlformats.org/drawingml/2006/main">
            <a:off x="2577541" y="1938528"/>
            <a:ext cx="144368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a:solidFill>
                  <a:srgbClr val="486581"/>
                </a:solidFill>
                <a:latin typeface="Arial"/>
                <a:ea typeface="Arial"/>
                <a:cs typeface="Arial"/>
              </a:rPr>
              <a:t>Consent captured against this instrument and amount; idempotency key issued</a:t>
            </a:r>
            <a:endParaRPr sz="880"/>
          </a:p>
        </p:txBody>
      </p:sp>
      <p:sp>
        <p:nvSpPr>
          <p:cNvPr id="12" name="Shape 10">
            <a:extLst xmlns:a="http://schemas.openxmlformats.org/drawingml/2006/main">
              <a:ext uri="{FF2B5EF4-FFF2-40B4-BE49-F238E27FC236}">
                <a16:creationId xmlns:a16="http://schemas.microsoft.com/office/drawing/2014/main" id="{954D4358-89BD-4E3C-B81A-FF59A93B5A2D}"/>
              </a:ext>
            </a:extLst>
          </p:cNvPr>
          <p:cNvSpPr>
            <a:spLocks xmlns:a="http://schemas.openxmlformats.org/drawingml/2006/main" noGrp="1"/>
          </p:cNvSpPr>
          <p:nvPr/>
        </p:nvSpPr>
        <p:spPr>
          <a:xfrm xmlns:a="http://schemas.openxmlformats.org/drawingml/2006/main">
            <a:off x="4295546" y="1335024"/>
            <a:ext cx="1736293" cy="1371600"/>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21334A65-B5C0-4F59-A163-217D094416F1}"/>
              </a:ext>
            </a:extLst>
          </p:cNvPr>
          <p:cNvSpPr>
            <a:spLocks xmlns:a="http://schemas.openxmlformats.org/drawingml/2006/main" noGrp="1"/>
          </p:cNvSpPr>
          <p:nvPr/>
        </p:nvSpPr>
        <p:spPr>
          <a:xfrm xmlns:a="http://schemas.openxmlformats.org/drawingml/2006/main">
            <a:off x="4441850" y="1463040"/>
            <a:ext cx="144368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3A3A58CF-EC5A-4CC0-BEC2-37202577E28D}"/>
              </a:ext>
            </a:extLst>
          </p:cNvPr>
          <p:cNvSpPr>
            <a:spLocks xmlns:a="http://schemas.openxmlformats.org/drawingml/2006/main" noGrp="1"/>
          </p:cNvSpPr>
          <p:nvPr/>
        </p:nvSpPr>
        <p:spPr>
          <a:xfrm xmlns:a="http://schemas.openxmlformats.org/drawingml/2006/main">
            <a:off x="4441850" y="1664208"/>
            <a:ext cx="144368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Submitted</a:t>
            </a:r>
            <a:endParaRPr sz="1100"/>
          </a:p>
        </p:txBody>
      </p:sp>
      <p:sp>
        <p:nvSpPr>
          <p:cNvPr id="15" name="Text 13">
            <a:extLst xmlns:a="http://schemas.openxmlformats.org/drawingml/2006/main">
              <a:ext uri="{FF2B5EF4-FFF2-40B4-BE49-F238E27FC236}">
                <a16:creationId xmlns:a16="http://schemas.microsoft.com/office/drawing/2014/main" id="{9D2DF684-C32E-489E-AD54-F5E066D5DF6E}"/>
              </a:ext>
            </a:extLst>
          </p:cNvPr>
          <p:cNvSpPr>
            <a:spLocks xmlns:a="http://schemas.openxmlformats.org/drawingml/2006/main" noGrp="1"/>
          </p:cNvSpPr>
          <p:nvPr/>
        </p:nvSpPr>
        <p:spPr>
          <a:xfrm xmlns:a="http://schemas.openxmlformats.org/drawingml/2006/main">
            <a:off x="4441850" y="1938528"/>
            <a:ext cx="144368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a:solidFill>
                  <a:srgbClr val="486581"/>
                </a:solidFill>
                <a:latin typeface="Arial"/>
                <a:ea typeface="Arial"/>
                <a:cs typeface="Arial"/>
              </a:rPr>
              <a:t>Sent to the rail; the bank no longer controls the clock</a:t>
            </a:r>
            <a:endParaRPr sz="880"/>
          </a:p>
        </p:txBody>
      </p:sp>
      <p:sp>
        <p:nvSpPr>
          <p:cNvPr id="16" name="Shape 14">
            <a:extLst xmlns:a="http://schemas.openxmlformats.org/drawingml/2006/main">
              <a:ext uri="{FF2B5EF4-FFF2-40B4-BE49-F238E27FC236}">
                <a16:creationId xmlns:a16="http://schemas.microsoft.com/office/drawing/2014/main" id="{802E27AF-AFED-4CF9-9FD9-7D4295EA57B2}"/>
              </a:ext>
            </a:extLst>
          </p:cNvPr>
          <p:cNvSpPr>
            <a:spLocks xmlns:a="http://schemas.openxmlformats.org/drawingml/2006/main" noGrp="1"/>
          </p:cNvSpPr>
          <p:nvPr/>
        </p:nvSpPr>
        <p:spPr>
          <a:xfrm xmlns:a="http://schemas.openxmlformats.org/drawingml/2006/main">
            <a:off x="6159856" y="1335024"/>
            <a:ext cx="1736293" cy="1371600"/>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52AF5248-6399-461A-90AA-C0AB60A42899}"/>
              </a:ext>
            </a:extLst>
          </p:cNvPr>
          <p:cNvSpPr>
            <a:spLocks xmlns:a="http://schemas.openxmlformats.org/drawingml/2006/main" noGrp="1"/>
          </p:cNvSpPr>
          <p:nvPr/>
        </p:nvSpPr>
        <p:spPr>
          <a:xfrm xmlns:a="http://schemas.openxmlformats.org/drawingml/2006/main">
            <a:off x="6306160" y="1463040"/>
            <a:ext cx="144368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A1C6B04C-F6DC-4FAE-AAA2-9AB05C6131AB}"/>
              </a:ext>
            </a:extLst>
          </p:cNvPr>
          <p:cNvSpPr>
            <a:spLocks xmlns:a="http://schemas.openxmlformats.org/drawingml/2006/main" noGrp="1"/>
          </p:cNvSpPr>
          <p:nvPr/>
        </p:nvSpPr>
        <p:spPr>
          <a:xfrm xmlns:a="http://schemas.openxmlformats.org/drawingml/2006/main">
            <a:off x="6306160" y="1664208"/>
            <a:ext cx="144368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Pending</a:t>
            </a:r>
            <a:endParaRPr sz="1100"/>
          </a:p>
        </p:txBody>
      </p:sp>
      <p:sp>
        <p:nvSpPr>
          <p:cNvPr id="19" name="Text 17">
            <a:extLst xmlns:a="http://schemas.openxmlformats.org/drawingml/2006/main">
              <a:ext uri="{FF2B5EF4-FFF2-40B4-BE49-F238E27FC236}">
                <a16:creationId xmlns:a16="http://schemas.microsoft.com/office/drawing/2014/main" id="{C21CCACA-C61B-4615-B921-FCD069DC5C86}"/>
              </a:ext>
            </a:extLst>
          </p:cNvPr>
          <p:cNvSpPr>
            <a:spLocks xmlns:a="http://schemas.openxmlformats.org/drawingml/2006/main" noGrp="1"/>
          </p:cNvSpPr>
          <p:nvPr/>
        </p:nvSpPr>
        <p:spPr>
          <a:xfrm xmlns:a="http://schemas.openxmlformats.org/drawingml/2006/main">
            <a:off x="6306160" y="1938528"/>
            <a:ext cx="144368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a:solidFill>
                  <a:srgbClr val="486581"/>
                </a:solidFill>
                <a:latin typeface="Arial"/>
                <a:ea typeface="Arial"/>
                <a:cs typeface="Arial"/>
              </a:rPr>
              <a:t>Customer-visible, with an expected resolution time</a:t>
            </a:r>
            <a:endParaRPr sz="880"/>
          </a:p>
        </p:txBody>
      </p:sp>
      <p:sp>
        <p:nvSpPr>
          <p:cNvPr id="20" name="Shape 18">
            <a:extLst xmlns:a="http://schemas.openxmlformats.org/drawingml/2006/main">
              <a:ext uri="{FF2B5EF4-FFF2-40B4-BE49-F238E27FC236}">
                <a16:creationId xmlns:a16="http://schemas.microsoft.com/office/drawing/2014/main" id="{C25036E9-E482-462E-A437-CFF0218355EA}"/>
              </a:ext>
            </a:extLst>
          </p:cNvPr>
          <p:cNvSpPr>
            <a:spLocks xmlns:a="http://schemas.openxmlformats.org/drawingml/2006/main" noGrp="1"/>
          </p:cNvSpPr>
          <p:nvPr/>
        </p:nvSpPr>
        <p:spPr>
          <a:xfrm xmlns:a="http://schemas.openxmlformats.org/drawingml/2006/main">
            <a:off x="8024165" y="1335024"/>
            <a:ext cx="1736293" cy="1371600"/>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FAA8320B-67C8-4275-B7F4-2B553473EEF5}"/>
              </a:ext>
            </a:extLst>
          </p:cNvPr>
          <p:cNvSpPr>
            <a:spLocks xmlns:a="http://schemas.openxmlformats.org/drawingml/2006/main" noGrp="1"/>
          </p:cNvSpPr>
          <p:nvPr/>
        </p:nvSpPr>
        <p:spPr>
          <a:xfrm xmlns:a="http://schemas.openxmlformats.org/drawingml/2006/main">
            <a:off x="8170469" y="1463040"/>
            <a:ext cx="144368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0CA97746-5353-4A39-A4D3-8CD644CE311A}"/>
              </a:ext>
            </a:extLst>
          </p:cNvPr>
          <p:cNvSpPr>
            <a:spLocks xmlns:a="http://schemas.openxmlformats.org/drawingml/2006/main" noGrp="1"/>
          </p:cNvSpPr>
          <p:nvPr/>
        </p:nvSpPr>
        <p:spPr>
          <a:xfrm xmlns:a="http://schemas.openxmlformats.org/drawingml/2006/main">
            <a:off x="8170469" y="1664208"/>
            <a:ext cx="144368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Settled</a:t>
            </a:r>
            <a:endParaRPr sz="1100"/>
          </a:p>
        </p:txBody>
      </p:sp>
      <p:sp>
        <p:nvSpPr>
          <p:cNvPr id="23" name="Text 21">
            <a:extLst xmlns:a="http://schemas.openxmlformats.org/drawingml/2006/main">
              <a:ext uri="{FF2B5EF4-FFF2-40B4-BE49-F238E27FC236}">
                <a16:creationId xmlns:a16="http://schemas.microsoft.com/office/drawing/2014/main" id="{B34CDF29-72F8-4769-A2FE-2558796F04CC}"/>
              </a:ext>
            </a:extLst>
          </p:cNvPr>
          <p:cNvSpPr>
            <a:spLocks xmlns:a="http://schemas.openxmlformats.org/drawingml/2006/main" noGrp="1"/>
          </p:cNvSpPr>
          <p:nvPr/>
        </p:nvSpPr>
        <p:spPr>
          <a:xfrm xmlns:a="http://schemas.openxmlformats.org/drawingml/2006/main">
            <a:off x="8170469" y="1938528"/>
            <a:ext cx="144368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a:solidFill>
                  <a:srgbClr val="486581"/>
                </a:solidFill>
                <a:latin typeface="Arial"/>
                <a:ea typeface="Arial"/>
                <a:cs typeface="Arial"/>
              </a:rPr>
              <a:t>Funds confirmed; account transitions to funded</a:t>
            </a:r>
            <a:endParaRPr sz="880"/>
          </a:p>
        </p:txBody>
      </p:sp>
      <p:sp>
        <p:nvSpPr>
          <p:cNvPr id="24" name="Shape 22">
            <a:extLst xmlns:a="http://schemas.openxmlformats.org/drawingml/2006/main">
              <a:ext uri="{FF2B5EF4-FFF2-40B4-BE49-F238E27FC236}">
                <a16:creationId xmlns:a16="http://schemas.microsoft.com/office/drawing/2014/main" id="{9A6BF203-4ED3-487B-9D06-CA18C5DBC7AD}"/>
              </a:ext>
            </a:extLst>
          </p:cNvPr>
          <p:cNvSpPr>
            <a:spLocks xmlns:a="http://schemas.openxmlformats.org/drawingml/2006/main" noGrp="1"/>
          </p:cNvSpPr>
          <p:nvPr/>
        </p:nvSpPr>
        <p:spPr>
          <a:xfrm xmlns:a="http://schemas.openxmlformats.org/drawingml/2006/main">
            <a:off x="9888474" y="1335024"/>
            <a:ext cx="1736293" cy="1371600"/>
          </a:xfrm>
          <a:prstGeom xmlns:a="http://schemas.openxmlformats.org/drawingml/2006/main" prst="rect">
            <a:avLst/>
          </a:prstGeom>
          <a:solidFill xmlns:a="http://schemas.openxmlformats.org/drawingml/2006/main">
            <a:srgbClr val="F3E6E0"/>
          </a:solidFill>
        </p:spPr>
      </p:sp>
      <p:sp>
        <p:nvSpPr>
          <p:cNvPr id="25" name="Text 23">
            <a:extLst xmlns:a="http://schemas.openxmlformats.org/drawingml/2006/main">
              <a:ext uri="{FF2B5EF4-FFF2-40B4-BE49-F238E27FC236}">
                <a16:creationId xmlns:a16="http://schemas.microsoft.com/office/drawing/2014/main" id="{730ABC68-9FCF-4747-B9FD-04E095DB71C8}"/>
              </a:ext>
            </a:extLst>
          </p:cNvPr>
          <p:cNvSpPr>
            <a:spLocks xmlns:a="http://schemas.openxmlformats.org/drawingml/2006/main" noGrp="1"/>
          </p:cNvSpPr>
          <p:nvPr/>
        </p:nvSpPr>
        <p:spPr>
          <a:xfrm xmlns:a="http://schemas.openxmlformats.org/drawingml/2006/main">
            <a:off x="10034778" y="1463040"/>
            <a:ext cx="144368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06</a:t>
            </a:r>
            <a:endParaRPr sz="840"/>
          </a:p>
        </p:txBody>
      </p:sp>
      <p:sp>
        <p:nvSpPr>
          <p:cNvPr id="26" name="Text 24">
            <a:extLst xmlns:a="http://schemas.openxmlformats.org/drawingml/2006/main">
              <a:ext uri="{FF2B5EF4-FFF2-40B4-BE49-F238E27FC236}">
                <a16:creationId xmlns:a16="http://schemas.microsoft.com/office/drawing/2014/main" id="{422B72EE-FB74-48B7-A6E9-1AC4591F6F92}"/>
              </a:ext>
            </a:extLst>
          </p:cNvPr>
          <p:cNvSpPr>
            <a:spLocks xmlns:a="http://schemas.openxmlformats.org/drawingml/2006/main" noGrp="1"/>
          </p:cNvSpPr>
          <p:nvPr/>
        </p:nvSpPr>
        <p:spPr>
          <a:xfrm xmlns:a="http://schemas.openxmlformats.org/drawingml/2006/main">
            <a:off x="10034778" y="1664208"/>
            <a:ext cx="1443685"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Reversed</a:t>
            </a:r>
            <a:endParaRPr sz="1100"/>
          </a:p>
        </p:txBody>
      </p:sp>
      <p:sp>
        <p:nvSpPr>
          <p:cNvPr id="27" name="Text 25">
            <a:extLst xmlns:a="http://schemas.openxmlformats.org/drawingml/2006/main">
              <a:ext uri="{FF2B5EF4-FFF2-40B4-BE49-F238E27FC236}">
                <a16:creationId xmlns:a16="http://schemas.microsoft.com/office/drawing/2014/main" id="{731C24C3-F498-46B8-9E9E-6904C20079E8}"/>
              </a:ext>
            </a:extLst>
          </p:cNvPr>
          <p:cNvSpPr>
            <a:spLocks xmlns:a="http://schemas.openxmlformats.org/drawingml/2006/main" noGrp="1"/>
          </p:cNvSpPr>
          <p:nvPr/>
        </p:nvSpPr>
        <p:spPr>
          <a:xfrm xmlns:a="http://schemas.openxmlformats.org/drawingml/2006/main">
            <a:off x="10034778" y="1938528"/>
            <a:ext cx="1443685"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a:solidFill>
                  <a:srgbClr val="486581"/>
                </a:solidFill>
                <a:latin typeface="Arial"/>
                <a:ea typeface="Arial"/>
                <a:cs typeface="Arial"/>
              </a:rPr>
              <a:t>Deterministic unwind with a visible state and a stated reason</a:t>
            </a:r>
            <a:endParaRPr sz="880"/>
          </a:p>
        </p:txBody>
      </p:sp>
      <p:sp>
        <p:nvSpPr>
          <p:cNvPr id="28" name="Text 26">
            <a:extLst xmlns:a="http://schemas.openxmlformats.org/drawingml/2006/main">
              <a:ext uri="{FF2B5EF4-FFF2-40B4-BE49-F238E27FC236}">
                <a16:creationId xmlns:a16="http://schemas.microsoft.com/office/drawing/2014/main" id="{96FD3DB7-7CB6-4F32-8094-633FDF17C53C}"/>
              </a:ext>
            </a:extLst>
          </p:cNvPr>
          <p:cNvSpPr>
            <a:spLocks xmlns:a="http://schemas.openxmlformats.org/drawingml/2006/main" noGrp="1"/>
          </p:cNvSpPr>
          <p:nvPr/>
        </p:nvSpPr>
        <p:spPr>
          <a:xfrm xmlns:a="http://schemas.openxmlformats.org/drawingml/2006/main">
            <a:off x="566928" y="2798064"/>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i="1">
                <a:solidFill>
                  <a:srgbClr val="627D98"/>
                </a:solidFill>
                <a:latin typeface="Arial"/>
                <a:ea typeface="Arial"/>
                <a:cs typeface="Arial"/>
              </a:rPr>
              <a:t>The two highlighted states are the ones a naive design omits — and they are the two that generate support calls.</a:t>
            </a:r>
            <a:endParaRPr sz="920"/>
          </a:p>
        </p:txBody>
      </p:sp>
      <p:sp>
        <p:nvSpPr>
          <p:cNvPr id="29" name="Text 27">
            <a:extLst xmlns:a="http://schemas.openxmlformats.org/drawingml/2006/main">
              <a:ext uri="{FF2B5EF4-FFF2-40B4-BE49-F238E27FC236}">
                <a16:creationId xmlns:a16="http://schemas.microsoft.com/office/drawing/2014/main" id="{AD491247-AC27-4F9B-88BB-E111E63CDA9F}"/>
              </a:ext>
            </a:extLst>
          </p:cNvPr>
          <p:cNvSpPr>
            <a:spLocks xmlns:a="http://schemas.openxmlformats.org/drawingml/2006/main" noGrp="1"/>
          </p:cNvSpPr>
          <p:nvPr/>
        </p:nvSpPr>
        <p:spPr>
          <a:xfrm xmlns:a="http://schemas.openxmlformats.org/drawingml/2006/main">
            <a:off x="566928" y="312724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Pending is a customer-facing state</a:t>
            </a:r>
            <a:endParaRPr sz="1100"/>
          </a:p>
        </p:txBody>
      </p:sp>
      <p:sp>
        <p:nvSpPr>
          <p:cNvPr id="30" name="Shape 28">
            <a:extLst xmlns:a="http://schemas.openxmlformats.org/drawingml/2006/main">
              <a:ext uri="{FF2B5EF4-FFF2-40B4-BE49-F238E27FC236}">
                <a16:creationId xmlns:a16="http://schemas.microsoft.com/office/drawing/2014/main" id="{D794C813-71CD-4A0F-90AB-EBF1442E1809}"/>
              </a:ext>
            </a:extLst>
          </p:cNvPr>
          <p:cNvSpPr>
            <a:spLocks xmlns:a="http://schemas.openxmlformats.org/drawingml/2006/main" noGrp="1"/>
          </p:cNvSpPr>
          <p:nvPr/>
        </p:nvSpPr>
        <p:spPr>
          <a:xfrm xmlns:a="http://schemas.openxmlformats.org/drawingml/2006/main">
            <a:off x="566928" y="3383280"/>
            <a:ext cx="3551834" cy="20117"/>
          </a:xfrm>
          <a:prstGeom xmlns:a="http://schemas.openxmlformats.org/drawingml/2006/main" prst="rect">
            <a:avLst/>
          </a:prstGeom>
          <a:solidFill xmlns:a="http://schemas.openxmlformats.org/drawingml/2006/main">
            <a:srgbClr val="B04A25"/>
          </a:solidFill>
        </p:spPr>
      </p:sp>
      <p:sp>
        <p:nvSpPr>
          <p:cNvPr id="31" name="Text 29">
            <a:extLst xmlns:a="http://schemas.openxmlformats.org/drawingml/2006/main">
              <a:ext uri="{FF2B5EF4-FFF2-40B4-BE49-F238E27FC236}">
                <a16:creationId xmlns:a16="http://schemas.microsoft.com/office/drawing/2014/main" id="{65E895FA-F83A-4C7E-AAF0-FEC91260A1FD}"/>
              </a:ext>
            </a:extLst>
          </p:cNvPr>
          <p:cNvSpPr>
            <a:spLocks xmlns:a="http://schemas.openxmlformats.org/drawingml/2006/main" noGrp="1"/>
          </p:cNvSpPr>
          <p:nvPr/>
        </p:nvSpPr>
        <p:spPr>
          <a:xfrm xmlns:a="http://schemas.openxmlformats.org/drawingml/2006/main">
            <a:off x="566928" y="3511296"/>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rail that settles on its own timetable produces a window where the money has left and not arrived.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If that window is invisible, the customer retries — and a retry without idempotency is a second debit.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Naming the state, showing it, and giving it an expected resolution time removes most of the support volume.</a:t>
            </a:r>
            <a:endParaRPr sz="950"/>
          </a:p>
        </p:txBody>
      </p:sp>
      <p:sp>
        <p:nvSpPr>
          <p:cNvPr id="32" name="Text 30">
            <a:extLst xmlns:a="http://schemas.openxmlformats.org/drawingml/2006/main">
              <a:ext uri="{FF2B5EF4-FFF2-40B4-BE49-F238E27FC236}">
                <a16:creationId xmlns:a16="http://schemas.microsoft.com/office/drawing/2014/main" id="{F4AD346E-36C0-4477-B225-DF7AA1FF787D}"/>
              </a:ext>
            </a:extLst>
          </p:cNvPr>
          <p:cNvSpPr>
            <a:spLocks xmlns:a="http://schemas.openxmlformats.org/drawingml/2006/main" noGrp="1"/>
          </p:cNvSpPr>
          <p:nvPr/>
        </p:nvSpPr>
        <p:spPr>
          <a:xfrm xmlns:a="http://schemas.openxmlformats.org/drawingml/2006/main">
            <a:off x="4319930" y="312724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Reversal is a first-class outcome</a:t>
            </a:r>
            <a:endParaRPr sz="1100"/>
          </a:p>
        </p:txBody>
      </p:sp>
      <p:sp>
        <p:nvSpPr>
          <p:cNvPr id="33" name="Shape 31">
            <a:extLst xmlns:a="http://schemas.openxmlformats.org/drawingml/2006/main">
              <a:ext uri="{FF2B5EF4-FFF2-40B4-BE49-F238E27FC236}">
                <a16:creationId xmlns:a16="http://schemas.microsoft.com/office/drawing/2014/main" id="{89C497DE-CDE6-4451-81B3-CA73547B1D0B}"/>
              </a:ext>
            </a:extLst>
          </p:cNvPr>
          <p:cNvSpPr>
            <a:spLocks xmlns:a="http://schemas.openxmlformats.org/drawingml/2006/main" noGrp="1"/>
          </p:cNvSpPr>
          <p:nvPr/>
        </p:nvSpPr>
        <p:spPr>
          <a:xfrm xmlns:a="http://schemas.openxmlformats.org/drawingml/2006/main">
            <a:off x="4319930" y="3383280"/>
            <a:ext cx="3551834" cy="20117"/>
          </a:xfrm>
          <a:prstGeom xmlns:a="http://schemas.openxmlformats.org/drawingml/2006/main" prst="rect">
            <a:avLst/>
          </a:prstGeom>
          <a:solidFill xmlns:a="http://schemas.openxmlformats.org/drawingml/2006/main">
            <a:srgbClr val="102A43"/>
          </a:solidFill>
        </p:spPr>
      </p:sp>
      <p:sp>
        <p:nvSpPr>
          <p:cNvPr id="34" name="Text 32">
            <a:extLst xmlns:a="http://schemas.openxmlformats.org/drawingml/2006/main">
              <a:ext uri="{FF2B5EF4-FFF2-40B4-BE49-F238E27FC236}">
                <a16:creationId xmlns:a16="http://schemas.microsoft.com/office/drawing/2014/main" id="{2A44134D-25B0-4BA8-BA98-9BFB98934464}"/>
              </a:ext>
            </a:extLst>
          </p:cNvPr>
          <p:cNvSpPr>
            <a:spLocks xmlns:a="http://schemas.openxmlformats.org/drawingml/2006/main" noGrp="1"/>
          </p:cNvSpPr>
          <p:nvPr/>
        </p:nvSpPr>
        <p:spPr>
          <a:xfrm xmlns:a="http://schemas.openxmlformats.org/drawingml/2006/main">
            <a:off x="4319930" y="3511296"/>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Not an error path. A defined outcome with its own state, its own notification and its own reason code.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Built and tested first, because a reversal discovered in production is discovered by a customer.</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It also has to be idempotent — a reversal retried must not credit twice.</a:t>
            </a:r>
            <a:endParaRPr sz="950"/>
          </a:p>
        </p:txBody>
      </p:sp>
      <p:sp>
        <p:nvSpPr>
          <p:cNvPr id="35" name="Text 33">
            <a:extLst xmlns:a="http://schemas.openxmlformats.org/drawingml/2006/main">
              <a:ext uri="{FF2B5EF4-FFF2-40B4-BE49-F238E27FC236}">
                <a16:creationId xmlns:a16="http://schemas.microsoft.com/office/drawing/2014/main" id="{45BBE97E-81BE-4673-B57B-EA0129AE01C8}"/>
              </a:ext>
            </a:extLst>
          </p:cNvPr>
          <p:cNvSpPr>
            <a:spLocks xmlns:a="http://schemas.openxmlformats.org/drawingml/2006/main" noGrp="1"/>
          </p:cNvSpPr>
          <p:nvPr/>
        </p:nvSpPr>
        <p:spPr>
          <a:xfrm xmlns:a="http://schemas.openxmlformats.org/drawingml/2006/main">
            <a:off x="8072933" y="312724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Idempotency at authorisation</a:t>
            </a:r>
            <a:endParaRPr sz="1100"/>
          </a:p>
        </p:txBody>
      </p:sp>
      <p:sp>
        <p:nvSpPr>
          <p:cNvPr id="36" name="Shape 34">
            <a:extLst xmlns:a="http://schemas.openxmlformats.org/drawingml/2006/main">
              <a:ext uri="{FF2B5EF4-FFF2-40B4-BE49-F238E27FC236}">
                <a16:creationId xmlns:a16="http://schemas.microsoft.com/office/drawing/2014/main" id="{5CA04704-6E1C-40CF-823E-727C9785F4AD}"/>
              </a:ext>
            </a:extLst>
          </p:cNvPr>
          <p:cNvSpPr>
            <a:spLocks xmlns:a="http://schemas.openxmlformats.org/drawingml/2006/main" noGrp="1"/>
          </p:cNvSpPr>
          <p:nvPr/>
        </p:nvSpPr>
        <p:spPr>
          <a:xfrm xmlns:a="http://schemas.openxmlformats.org/drawingml/2006/main">
            <a:off x="8072933" y="3383280"/>
            <a:ext cx="3551834" cy="20117"/>
          </a:xfrm>
          <a:prstGeom xmlns:a="http://schemas.openxmlformats.org/drawingml/2006/main" prst="rect">
            <a:avLst/>
          </a:prstGeom>
          <a:solidFill xmlns:a="http://schemas.openxmlformats.org/drawingml/2006/main">
            <a:srgbClr val="27685A"/>
          </a:solidFill>
        </p:spPr>
      </p:sp>
      <p:sp>
        <p:nvSpPr>
          <p:cNvPr id="37" name="Text 35">
            <a:extLst xmlns:a="http://schemas.openxmlformats.org/drawingml/2006/main">
              <a:ext uri="{FF2B5EF4-FFF2-40B4-BE49-F238E27FC236}">
                <a16:creationId xmlns:a16="http://schemas.microsoft.com/office/drawing/2014/main" id="{A09A9D7D-0762-4BCA-9FC3-6B7574CAABCE}"/>
              </a:ext>
            </a:extLst>
          </p:cNvPr>
          <p:cNvSpPr>
            <a:spLocks xmlns:a="http://schemas.openxmlformats.org/drawingml/2006/main" noGrp="1"/>
          </p:cNvSpPr>
          <p:nvPr/>
        </p:nvSpPr>
        <p:spPr>
          <a:xfrm xmlns:a="http://schemas.openxmlformats.org/drawingml/2006/main">
            <a:off x="8072933" y="3511296"/>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key is issued when consent is captured, not when the request is submitted.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That way a network failure between the two cannot produce two authorised intents.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This is the single detail that distinguishes a payments design from a form.</a:t>
            </a:r>
            <a:endParaRPr sz="950"/>
          </a:p>
        </p:txBody>
      </p:sp>
      <p:sp>
        <p:nvSpPr>
          <p:cNvPr id="38" name="Shape 36">
            <a:extLst xmlns:a="http://schemas.openxmlformats.org/drawingml/2006/main">
              <a:ext uri="{FF2B5EF4-FFF2-40B4-BE49-F238E27FC236}">
                <a16:creationId xmlns:a16="http://schemas.microsoft.com/office/drawing/2014/main" id="{3C052003-133D-404F-8C89-E8FF695CA7CE}"/>
              </a:ext>
            </a:extLst>
          </p:cNvPr>
          <p:cNvSpPr>
            <a:spLocks xmlns:a="http://schemas.openxmlformats.org/drawingml/2006/main" noGrp="1"/>
          </p:cNvSpPr>
          <p:nvPr/>
        </p:nvSpPr>
        <p:spPr>
          <a:xfrm xmlns:a="http://schemas.openxmlformats.org/drawingml/2006/main">
            <a:off x="566928" y="5084064"/>
            <a:ext cx="11057839" cy="987552"/>
          </a:xfrm>
          <a:prstGeom xmlns:a="http://schemas.openxmlformats.org/drawingml/2006/main" prst="rect">
            <a:avLst/>
          </a:prstGeom>
          <a:solidFill xmlns:a="http://schemas.openxmlformats.org/drawingml/2006/main">
            <a:srgbClr val="F3E6E0"/>
          </a:solidFill>
        </p:spPr>
      </p:sp>
      <p:sp>
        <p:nvSpPr>
          <p:cNvPr id="39" name="Text 37">
            <a:extLst xmlns:a="http://schemas.openxmlformats.org/drawingml/2006/main">
              <a:ext uri="{FF2B5EF4-FFF2-40B4-BE49-F238E27FC236}">
                <a16:creationId xmlns:a16="http://schemas.microsoft.com/office/drawing/2014/main" id="{4C4E9D62-9478-4E22-ABE6-A9CC2C5C23E4}"/>
              </a:ext>
            </a:extLst>
          </p:cNvPr>
          <p:cNvSpPr>
            <a:spLocks xmlns:a="http://schemas.openxmlformats.org/drawingml/2006/main" noGrp="1"/>
          </p:cNvSpPr>
          <p:nvPr/>
        </p:nvSpPr>
        <p:spPr>
          <a:xfrm xmlns:a="http://schemas.openxmlformats.org/drawingml/2006/main">
            <a:off x="804672" y="5266944"/>
            <a:ext cx="1058235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state machine built here was inherited unchanged by the commercial card and group insurance journeys later in the year. That was not planned — it emerged because reversible-transaction handling turned out to be the shape of every journey that commits something on the customer's behalf. It is the clearest example in the portfolio of a component earning reuse by being built properly once.</a:t>
            </a:r>
            <a:endParaRPr sz="990"/>
          </a:p>
        </p:txBody>
      </p:sp>
      <p:sp>
        <p:nvSpPr>
          <p:cNvPr id="40" name="Shape 38">
            <a:extLst xmlns:a="http://schemas.openxmlformats.org/drawingml/2006/main">
              <a:ext uri="{FF2B5EF4-FFF2-40B4-BE49-F238E27FC236}">
                <a16:creationId xmlns:a16="http://schemas.microsoft.com/office/drawing/2014/main" id="{2DCFC2A8-28DA-44FA-B17E-BE2581A5345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1" name="Text 39">
            <a:extLst xmlns:a="http://schemas.openxmlformats.org/drawingml/2006/main">
              <a:ext uri="{FF2B5EF4-FFF2-40B4-BE49-F238E27FC236}">
                <a16:creationId xmlns:a16="http://schemas.microsoft.com/office/drawing/2014/main" id="{3FA9228E-1BA9-4F8D-9579-4CA321C5A5F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 · author's design</a:t>
            </a:r>
            <a:endParaRPr sz="850"/>
          </a:p>
        </p:txBody>
      </p:sp>
      <p:sp>
        <p:nvSpPr>
          <p:cNvPr id="42" name="Text 40">
            <a:extLst xmlns:a="http://schemas.openxmlformats.org/drawingml/2006/main">
              <a:ext uri="{FF2B5EF4-FFF2-40B4-BE49-F238E27FC236}">
                <a16:creationId xmlns:a16="http://schemas.microsoft.com/office/drawing/2014/main" id="{62374116-6328-44A5-8B6A-A556F058271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591177345"/>
      </p:ext>
    </p:extLst>
  </p:cSld>
</p:sld>
</file>

<file path=ppt/slides/slide6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CE89AC-E258-49BE-BD0C-F97F97324F3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JOURNEY B  ·  INFORMATION AND REQUESTS</a:t>
            </a:r>
            <a:endParaRPr sz="950"/>
          </a:p>
        </p:txBody>
      </p:sp>
      <p:sp>
        <p:nvSpPr>
          <p:cNvPr id="3" name="Text 1">
            <a:extLst xmlns:a="http://schemas.openxmlformats.org/drawingml/2006/main">
              <a:ext uri="{FF2B5EF4-FFF2-40B4-BE49-F238E27FC236}">
                <a16:creationId xmlns:a16="http://schemas.microsoft.com/office/drawing/2014/main" id="{931AD03D-80F2-471D-AEE1-5FB0CF24228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Eleven categories deflect at wildly different rates — and the spread, not the average,</a:t>
            </a:r>
            <a:endParaRPr sz="1900"/>
          </a:p>
          <a:p xmlns:a="http://schemas.openxmlformats.org/drawingml/2006/main">
            <a:pPr marL="0" indent="0">
              <a:lnSpc>
                <a:spcPts val="2400"/>
              </a:lnSpc>
              <a:buNone/>
            </a:pPr>
            <a:r>
              <a:rPr sz="1900" b="1">
                <a:solidFill>
                  <a:srgbClr val="102A43"/>
                </a:solidFill>
                <a:latin typeface="Arial"/>
                <a:ea typeface="Arial"/>
                <a:cs typeface="Arial"/>
              </a:rPr>
              <a:t>is what should have set the phase-two roadmap</a:t>
            </a:r>
            <a:endParaRPr sz="1900"/>
          </a:p>
        </p:txBody>
      </p:sp>
      <p:graphicFrame>
        <p:nvGraphicFramePr>
          <p:cNvPr id="18" name="Chart 0"/>
          <p:cNvGraphicFramePr/>
          <p:nvPr/>
        </p:nvGraphicFramePr>
        <p:xfrm>
          <a:off xmlns:a="http://schemas.openxmlformats.org/drawingml/2006/main" x="566928" y="1426464"/>
          <a:ext xmlns:a="http://schemas.openxmlformats.org/drawingml/2006/main" cx="5852160" cy="3017520"/>
        </p:xfrm>
        <a:graphic xmlns:a="http://schemas.openxmlformats.org/drawingml/2006/main">
          <a:graphicData uri="http://schemas.openxmlformats.org/drawingml/2006/chart">
            <c:chart xmlns:r="http://schemas.openxmlformats.org/officeDocument/2006/relationships" xmlns:c="http://schemas.openxmlformats.org/drawingml/2006/chart" r:id="Rd67094b9c29e4e28"/>
          </a:graphicData>
        </a:graphic>
      </p:graphicFrame>
      <p:sp>
        <p:nvSpPr>
          <p:cNvPr id="5" name="Text 2">
            <a:extLst xmlns:a="http://schemas.openxmlformats.org/drawingml/2006/main">
              <a:ext uri="{FF2B5EF4-FFF2-40B4-BE49-F238E27FC236}">
                <a16:creationId xmlns:a16="http://schemas.microsoft.com/office/drawing/2014/main" id="{14BDE76F-FF21-4B98-9191-6C7F62207A0D}"/>
              </a:ext>
            </a:extLst>
          </p:cNvPr>
          <p:cNvSpPr>
            <a:spLocks xmlns:a="http://schemas.openxmlformats.org/drawingml/2006/main" noGrp="1"/>
          </p:cNvSpPr>
          <p:nvPr/>
        </p:nvSpPr>
        <p:spPr>
          <a:xfrm xmlns:a="http://schemas.openxmlformats.org/drawingml/2006/main">
            <a:off x="566928" y="4517136"/>
            <a:ext cx="58521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Deflection by category, calibrated to published financial-services benchmarks</a:t>
            </a:r>
            <a:endParaRPr sz="880"/>
          </a:p>
        </p:txBody>
      </p:sp>
      <p:sp>
        <p:nvSpPr>
          <p:cNvPr id="6" name="Text 3">
            <a:extLst xmlns:a="http://schemas.openxmlformats.org/drawingml/2006/main">
              <a:ext uri="{FF2B5EF4-FFF2-40B4-BE49-F238E27FC236}">
                <a16:creationId xmlns:a16="http://schemas.microsoft.com/office/drawing/2014/main" id="{1C10634E-E994-4F9D-9C38-0DC53D882B71}"/>
              </a:ext>
            </a:extLst>
          </p:cNvPr>
          <p:cNvSpPr>
            <a:spLocks xmlns:a="http://schemas.openxmlformats.org/drawingml/2006/main" noGrp="1"/>
          </p:cNvSpPr>
          <p:nvPr/>
        </p:nvSpPr>
        <p:spPr>
          <a:xfrm xmlns:a="http://schemas.openxmlformats.org/drawingml/2006/main">
            <a:off x="6784848" y="1426464"/>
            <a:ext cx="483717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pattern in the spread</a:t>
            </a:r>
            <a:endParaRPr sz="1100"/>
          </a:p>
        </p:txBody>
      </p:sp>
      <p:sp>
        <p:nvSpPr>
          <p:cNvPr id="7" name="Shape 4">
            <a:extLst xmlns:a="http://schemas.openxmlformats.org/drawingml/2006/main">
              <a:ext uri="{FF2B5EF4-FFF2-40B4-BE49-F238E27FC236}">
                <a16:creationId xmlns:a16="http://schemas.microsoft.com/office/drawing/2014/main" id="{06C392E9-AF21-4F14-BCBA-E744076E082F}"/>
              </a:ext>
            </a:extLst>
          </p:cNvPr>
          <p:cNvSpPr>
            <a:spLocks xmlns:a="http://schemas.openxmlformats.org/drawingml/2006/main" noGrp="1"/>
          </p:cNvSpPr>
          <p:nvPr/>
        </p:nvSpPr>
        <p:spPr>
          <a:xfrm xmlns:a="http://schemas.openxmlformats.org/drawingml/2006/main">
            <a:off x="6784848" y="1682496"/>
            <a:ext cx="483717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18F6C792-ADDA-4FE3-B4D1-E45C0D8DA45E}"/>
              </a:ext>
            </a:extLst>
          </p:cNvPr>
          <p:cNvSpPr>
            <a:spLocks xmlns:a="http://schemas.openxmlformats.org/drawingml/2006/main" noGrp="1"/>
          </p:cNvSpPr>
          <p:nvPr/>
        </p:nvSpPr>
        <p:spPr>
          <a:xfrm xmlns:a="http://schemas.openxmlformats.org/drawingml/2006/main">
            <a:off x="6784848" y="1828800"/>
            <a:ext cx="4837176"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top four are pure document retrieval — no judgement, no exception, no downstream owner. They approach full deflection.</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middle band involves a change to a record, so they carry validation and occasionally a review.</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bottom three move money or end a contract. They barely deflect, and forcing them to would have been a mistake.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ordering is almost exactly reversibility again — the same axis that separated the two journeys separates the categories inside one of them.</a:t>
            </a:r>
            <a:endParaRPr sz="950"/>
          </a:p>
        </p:txBody>
      </p:sp>
      <p:sp>
        <p:nvSpPr>
          <p:cNvPr id="9" name="Shape 6">
            <a:extLst xmlns:a="http://schemas.openxmlformats.org/drawingml/2006/main">
              <a:ext uri="{FF2B5EF4-FFF2-40B4-BE49-F238E27FC236}">
                <a16:creationId xmlns:a16="http://schemas.microsoft.com/office/drawing/2014/main" id="{C9A2A523-F854-412B-BB5E-3A55E3DCF5CC}"/>
              </a:ext>
            </a:extLst>
          </p:cNvPr>
          <p:cNvSpPr>
            <a:spLocks xmlns:a="http://schemas.openxmlformats.org/drawingml/2006/main" noGrp="1"/>
          </p:cNvSpPr>
          <p:nvPr/>
        </p:nvSpPr>
        <p:spPr>
          <a:xfrm xmlns:a="http://schemas.openxmlformats.org/drawingml/2006/main">
            <a:off x="566928" y="4773168"/>
            <a:ext cx="11057839" cy="1298448"/>
          </a:xfrm>
          <a:prstGeom xmlns:a="http://schemas.openxmlformats.org/drawingml/2006/main" prst="rect">
            <a:avLst/>
          </a:prstGeom>
          <a:solidFill xmlns:a="http://schemas.openxmlformats.org/drawingml/2006/main">
            <a:srgbClr val="F3E6E0"/>
          </a:solidFill>
        </p:spPr>
      </p:sp>
      <p:sp>
        <p:nvSpPr>
          <p:cNvPr id="10" name="Text 7">
            <a:extLst xmlns:a="http://schemas.openxmlformats.org/drawingml/2006/main">
              <a:ext uri="{FF2B5EF4-FFF2-40B4-BE49-F238E27FC236}">
                <a16:creationId xmlns:a16="http://schemas.microsoft.com/office/drawing/2014/main" id="{CD7ABF21-F3A4-4D7F-A65D-70F0F1C52AB6}"/>
              </a:ext>
            </a:extLst>
          </p:cNvPr>
          <p:cNvSpPr>
            <a:spLocks xmlns:a="http://schemas.openxmlformats.org/drawingml/2006/main" noGrp="1"/>
          </p:cNvSpPr>
          <p:nvPr/>
        </p:nvSpPr>
        <p:spPr>
          <a:xfrm xmlns:a="http://schemas.openxmlformats.org/drawingml/2006/main">
            <a:off x="804672" y="491947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taxonomy work came first</a:t>
            </a:r>
            <a:endParaRPr sz="1100"/>
          </a:p>
        </p:txBody>
      </p:sp>
      <p:sp>
        <p:nvSpPr>
          <p:cNvPr id="11" name="Text 8">
            <a:extLst xmlns:a="http://schemas.openxmlformats.org/drawingml/2006/main">
              <a:ext uri="{FF2B5EF4-FFF2-40B4-BE49-F238E27FC236}">
                <a16:creationId xmlns:a16="http://schemas.microsoft.com/office/drawing/2014/main" id="{40D88909-4037-4F22-9841-5244FCBE652F}"/>
              </a:ext>
            </a:extLst>
          </p:cNvPr>
          <p:cNvSpPr>
            <a:spLocks xmlns:a="http://schemas.openxmlformats.org/drawingml/2006/main" noGrp="1"/>
          </p:cNvSpPr>
          <p:nvPr/>
        </p:nvSpPr>
        <p:spPr>
          <a:xfrm xmlns:a="http://schemas.openxmlformats.org/drawingml/2006/main">
            <a:off x="804672" y="5175504"/>
            <a:ext cx="10582351"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eleven categories did not arrive as eleven. They arrived as an accreted set built around back-end system boundaries, with overlapping definitions and no consistent notion of what completion meant.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Rebuilding the taxonomy from customer language, then mapping back to owning systems, was roughly two-thirds of the effort and none of the demonstration. It is also the only reason the deflection spread is interpretable at all — a spread measured across badly defined categories tells you nothing about what to do next.</a:t>
            </a:r>
            <a:endParaRPr sz="990"/>
          </a:p>
        </p:txBody>
      </p:sp>
      <p:sp>
        <p:nvSpPr>
          <p:cNvPr id="12" name="Shape 9">
            <a:extLst xmlns:a="http://schemas.openxmlformats.org/drawingml/2006/main">
              <a:ext uri="{FF2B5EF4-FFF2-40B4-BE49-F238E27FC236}">
                <a16:creationId xmlns:a16="http://schemas.microsoft.com/office/drawing/2014/main" id="{760034E0-E62E-4719-BF54-40B8F955DD4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3" name="Text 10">
            <a:extLst xmlns:a="http://schemas.openxmlformats.org/drawingml/2006/main">
              <a:ext uri="{FF2B5EF4-FFF2-40B4-BE49-F238E27FC236}">
                <a16:creationId xmlns:a16="http://schemas.microsoft.com/office/drawing/2014/main" id="{AF6B8502-69CD-4092-800F-2571D04364E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model, calibrated to published financial-services deflection benchmarks — 25–45% blended, simple retrieval above 70%, judgement-based rarely above 25%</a:t>
            </a:r>
            <a:endParaRPr sz="850"/>
          </a:p>
        </p:txBody>
      </p:sp>
      <p:sp>
        <p:nvSpPr>
          <p:cNvPr id="14" name="Text 11">
            <a:extLst xmlns:a="http://schemas.openxmlformats.org/drawingml/2006/main">
              <a:ext uri="{FF2B5EF4-FFF2-40B4-BE49-F238E27FC236}">
                <a16:creationId xmlns:a16="http://schemas.microsoft.com/office/drawing/2014/main" id="{124EF68F-CC63-4721-B273-718AD9D194C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663216521"/>
      </p:ext>
    </p:extLst>
  </p:cSld>
</p:sld>
</file>

<file path=ppt/slides/slide6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A15B0AB-96CB-4FC2-A136-40591CD7167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THEY SHARED</a:t>
            </a:r>
            <a:endParaRPr sz="950"/>
          </a:p>
        </p:txBody>
      </p:sp>
      <p:sp>
        <p:nvSpPr>
          <p:cNvPr id="3" name="Text 1">
            <a:extLst xmlns:a="http://schemas.openxmlformats.org/drawingml/2006/main">
              <a:ext uri="{FF2B5EF4-FFF2-40B4-BE49-F238E27FC236}">
                <a16:creationId xmlns:a16="http://schemas.microsoft.com/office/drawing/2014/main" id="{8D33E0A2-188D-476C-A2DC-30DEFCEF06B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components carried both journeys unchanged — the divergence was entirely in</a:t>
            </a:r>
            <a:endParaRPr sz="1900"/>
          </a:p>
          <a:p xmlns:a="http://schemas.openxmlformats.org/drawingml/2006/main">
            <a:pPr marL="0" indent="0">
              <a:lnSpc>
                <a:spcPts val="2400"/>
              </a:lnSpc>
              <a:buNone/>
            </a:pPr>
            <a:r>
              <a:rPr sz="1900" b="1">
                <a:solidFill>
                  <a:srgbClr val="102A43"/>
                </a:solidFill>
                <a:latin typeface="Arial"/>
                <a:ea typeface="Arial"/>
                <a:cs typeface="Arial"/>
              </a:rPr>
              <a:t>the layer above them</a:t>
            </a:r>
            <a:endParaRPr sz="1900"/>
          </a:p>
        </p:txBody>
      </p:sp>
      <p:sp>
        <p:nvSpPr>
          <p:cNvPr id="4" name="Shape 2">
            <a:extLst xmlns:a="http://schemas.openxmlformats.org/drawingml/2006/main">
              <a:ext uri="{FF2B5EF4-FFF2-40B4-BE49-F238E27FC236}">
                <a16:creationId xmlns:a16="http://schemas.microsoft.com/office/drawing/2014/main" id="{A823CA41-FB81-4B42-ABF3-C7FBCDBCF15B}"/>
              </a:ext>
            </a:extLst>
          </p:cNvPr>
          <p:cNvSpPr>
            <a:spLocks xmlns:a="http://schemas.openxmlformats.org/drawingml/2006/main" noGrp="1"/>
          </p:cNvSpPr>
          <p:nvPr/>
        </p:nvSpPr>
        <p:spPr>
          <a:xfrm xmlns:a="http://schemas.openxmlformats.org/drawingml/2006/main">
            <a:off x="566928" y="1335024"/>
            <a:ext cx="2094525" cy="20116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3E7C460-FDC2-4E1D-9CC9-37EAB96FC9A4}"/>
              </a:ext>
            </a:extLst>
          </p:cNvPr>
          <p:cNvSpPr>
            <a:spLocks xmlns:a="http://schemas.openxmlformats.org/drawingml/2006/main" noGrp="1"/>
          </p:cNvSpPr>
          <p:nvPr/>
        </p:nvSpPr>
        <p:spPr>
          <a:xfrm xmlns:a="http://schemas.openxmlformats.org/drawingml/2006/main">
            <a:off x="731520"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Identity and entitlement</a:t>
            </a:r>
            <a:endParaRPr sz="1120"/>
          </a:p>
        </p:txBody>
      </p:sp>
      <p:sp>
        <p:nvSpPr>
          <p:cNvPr id="6" name="Text 4">
            <a:extLst xmlns:a="http://schemas.openxmlformats.org/drawingml/2006/main">
              <a:ext uri="{FF2B5EF4-FFF2-40B4-BE49-F238E27FC236}">
                <a16:creationId xmlns:a16="http://schemas.microsoft.com/office/drawing/2014/main" id="{403C62CC-297C-49EE-AB2C-E77F61AB48CA}"/>
              </a:ext>
            </a:extLst>
          </p:cNvPr>
          <p:cNvSpPr>
            <a:spLocks xmlns:a="http://schemas.openxmlformats.org/drawingml/2006/main" noGrp="1"/>
          </p:cNvSpPr>
          <p:nvPr/>
        </p:nvSpPr>
        <p:spPr>
          <a:xfrm xmlns:a="http://schemas.openxmlformats.org/drawingml/2006/main">
            <a:off x="731520"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Who the customer is and what they hold. Identical requirement in both.</a:t>
            </a:r>
            <a:endParaRPr sz="910"/>
          </a:p>
        </p:txBody>
      </p:sp>
      <p:sp>
        <p:nvSpPr>
          <p:cNvPr id="7" name="Shape 5">
            <a:extLst xmlns:a="http://schemas.openxmlformats.org/drawingml/2006/main">
              <a:ext uri="{FF2B5EF4-FFF2-40B4-BE49-F238E27FC236}">
                <a16:creationId xmlns:a16="http://schemas.microsoft.com/office/drawing/2014/main" id="{A86DA678-06E3-42AB-9F60-066D29AE2BEF}"/>
              </a:ext>
            </a:extLst>
          </p:cNvPr>
          <p:cNvSpPr>
            <a:spLocks xmlns:a="http://schemas.openxmlformats.org/drawingml/2006/main" noGrp="1"/>
          </p:cNvSpPr>
          <p:nvPr/>
        </p:nvSpPr>
        <p:spPr>
          <a:xfrm xmlns:a="http://schemas.openxmlformats.org/drawingml/2006/main">
            <a:off x="2807757" y="1335024"/>
            <a:ext cx="2094525" cy="20116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2B32E00E-46E8-4C17-9F22-786F956A0F17}"/>
              </a:ext>
            </a:extLst>
          </p:cNvPr>
          <p:cNvSpPr>
            <a:spLocks xmlns:a="http://schemas.openxmlformats.org/drawingml/2006/main" noGrp="1"/>
          </p:cNvSpPr>
          <p:nvPr/>
        </p:nvSpPr>
        <p:spPr>
          <a:xfrm xmlns:a="http://schemas.openxmlformats.org/drawingml/2006/main">
            <a:off x="2972349"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Consent</a:t>
            </a:r>
            <a:endParaRPr sz="1120"/>
          </a:p>
        </p:txBody>
      </p:sp>
      <p:sp>
        <p:nvSpPr>
          <p:cNvPr id="9" name="Text 7">
            <a:extLst xmlns:a="http://schemas.openxmlformats.org/drawingml/2006/main">
              <a:ext uri="{FF2B5EF4-FFF2-40B4-BE49-F238E27FC236}">
                <a16:creationId xmlns:a16="http://schemas.microsoft.com/office/drawing/2014/main" id="{151C402C-2BE9-430E-8C1A-9D5BB5E21DAE}"/>
              </a:ext>
            </a:extLst>
          </p:cNvPr>
          <p:cNvSpPr>
            <a:spLocks xmlns:a="http://schemas.openxmlformats.org/drawingml/2006/main" noGrp="1"/>
          </p:cNvSpPr>
          <p:nvPr/>
        </p:nvSpPr>
        <p:spPr>
          <a:xfrm xmlns:a="http://schemas.openxmlformats.org/drawingml/2006/main">
            <a:off x="2972349"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Purpose-bound and timestamped. The funding journey captures consent per instrument; the servicing journey per request. Same mechanism.</a:t>
            </a:r>
            <a:endParaRPr sz="910"/>
          </a:p>
        </p:txBody>
      </p:sp>
      <p:sp>
        <p:nvSpPr>
          <p:cNvPr id="10" name="Shape 8">
            <a:extLst xmlns:a="http://schemas.openxmlformats.org/drawingml/2006/main">
              <a:ext uri="{FF2B5EF4-FFF2-40B4-BE49-F238E27FC236}">
                <a16:creationId xmlns:a16="http://schemas.microsoft.com/office/drawing/2014/main" id="{72B55249-55D3-4BF9-BAAE-E0276E5EEF54}"/>
              </a:ext>
            </a:extLst>
          </p:cNvPr>
          <p:cNvSpPr>
            <a:spLocks xmlns:a="http://schemas.openxmlformats.org/drawingml/2006/main" noGrp="1"/>
          </p:cNvSpPr>
          <p:nvPr/>
        </p:nvSpPr>
        <p:spPr>
          <a:xfrm xmlns:a="http://schemas.openxmlformats.org/drawingml/2006/main">
            <a:off x="5048585" y="1335024"/>
            <a:ext cx="2094525" cy="2011680"/>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0A33D3F4-C717-417F-A4EF-5BF5FC376A8E}"/>
              </a:ext>
            </a:extLst>
          </p:cNvPr>
          <p:cNvSpPr>
            <a:spLocks xmlns:a="http://schemas.openxmlformats.org/drawingml/2006/main" noGrp="1"/>
          </p:cNvSpPr>
          <p:nvPr/>
        </p:nvSpPr>
        <p:spPr>
          <a:xfrm xmlns:a="http://schemas.openxmlformats.org/drawingml/2006/main">
            <a:off x="5213177"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Document and evidence</a:t>
            </a:r>
            <a:endParaRPr sz="1120"/>
          </a:p>
        </p:txBody>
      </p:sp>
      <p:sp>
        <p:nvSpPr>
          <p:cNvPr id="12" name="Text 10">
            <a:extLst xmlns:a="http://schemas.openxmlformats.org/drawingml/2006/main">
              <a:ext uri="{FF2B5EF4-FFF2-40B4-BE49-F238E27FC236}">
                <a16:creationId xmlns:a16="http://schemas.microsoft.com/office/drawing/2014/main" id="{66CF9BAE-CC00-476F-831A-65C371859DBF}"/>
              </a:ext>
            </a:extLst>
          </p:cNvPr>
          <p:cNvSpPr>
            <a:spLocks xmlns:a="http://schemas.openxmlformats.org/drawingml/2006/main" noGrp="1"/>
          </p:cNvSpPr>
          <p:nvPr/>
        </p:nvSpPr>
        <p:spPr>
          <a:xfrm xmlns:a="http://schemas.openxmlformats.org/drawingml/2006/main">
            <a:off x="5213177"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One store, one retention policy. Servicing retrieves from it; funding writes authorisation evidence to it.</a:t>
            </a:r>
            <a:endParaRPr sz="910"/>
          </a:p>
        </p:txBody>
      </p:sp>
      <p:sp>
        <p:nvSpPr>
          <p:cNvPr id="13" name="Shape 11">
            <a:extLst xmlns:a="http://schemas.openxmlformats.org/drawingml/2006/main">
              <a:ext uri="{FF2B5EF4-FFF2-40B4-BE49-F238E27FC236}">
                <a16:creationId xmlns:a16="http://schemas.microsoft.com/office/drawing/2014/main" id="{565C4A0D-1A18-461D-B23C-7A6E0D8DC53C}"/>
              </a:ext>
            </a:extLst>
          </p:cNvPr>
          <p:cNvSpPr>
            <a:spLocks xmlns:a="http://schemas.openxmlformats.org/drawingml/2006/main" noGrp="1"/>
          </p:cNvSpPr>
          <p:nvPr/>
        </p:nvSpPr>
        <p:spPr>
          <a:xfrm xmlns:a="http://schemas.openxmlformats.org/drawingml/2006/main">
            <a:off x="7289414" y="1335024"/>
            <a:ext cx="2094525" cy="2011680"/>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47179751-F1AE-4FFE-9000-0B226549B87F}"/>
              </a:ext>
            </a:extLst>
          </p:cNvPr>
          <p:cNvSpPr>
            <a:spLocks xmlns:a="http://schemas.openxmlformats.org/drawingml/2006/main" noGrp="1"/>
          </p:cNvSpPr>
          <p:nvPr/>
        </p:nvSpPr>
        <p:spPr>
          <a:xfrm xmlns:a="http://schemas.openxmlformats.org/drawingml/2006/main">
            <a:off x="7454006"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State and service level</a:t>
            </a:r>
            <a:endParaRPr sz="1120"/>
          </a:p>
        </p:txBody>
      </p:sp>
      <p:sp>
        <p:nvSpPr>
          <p:cNvPr id="15" name="Text 13">
            <a:extLst xmlns:a="http://schemas.openxmlformats.org/drawingml/2006/main">
              <a:ext uri="{FF2B5EF4-FFF2-40B4-BE49-F238E27FC236}">
                <a16:creationId xmlns:a16="http://schemas.microsoft.com/office/drawing/2014/main" id="{3BDBE015-A7B2-44DF-87D1-73356BDD3389}"/>
              </a:ext>
            </a:extLst>
          </p:cNvPr>
          <p:cNvSpPr>
            <a:spLocks xmlns:a="http://schemas.openxmlformats.org/drawingml/2006/main" noGrp="1"/>
          </p:cNvSpPr>
          <p:nvPr/>
        </p:nvSpPr>
        <p:spPr>
          <a:xfrm xmlns:a="http://schemas.openxmlformats.org/drawingml/2006/main">
            <a:off x="7454006"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A common status vocabulary, so both journeys stay visible to enterprise reporting without inventing private states.</a:t>
            </a:r>
            <a:endParaRPr sz="910"/>
          </a:p>
        </p:txBody>
      </p:sp>
      <p:sp>
        <p:nvSpPr>
          <p:cNvPr id="16" name="Shape 14">
            <a:extLst xmlns:a="http://schemas.openxmlformats.org/drawingml/2006/main">
              <a:ext uri="{FF2B5EF4-FFF2-40B4-BE49-F238E27FC236}">
                <a16:creationId xmlns:a16="http://schemas.microsoft.com/office/drawing/2014/main" id="{9B9C3281-E5D4-41D4-BD23-D06472F8F459}"/>
              </a:ext>
            </a:extLst>
          </p:cNvPr>
          <p:cNvSpPr>
            <a:spLocks xmlns:a="http://schemas.openxmlformats.org/drawingml/2006/main" noGrp="1"/>
          </p:cNvSpPr>
          <p:nvPr/>
        </p:nvSpPr>
        <p:spPr>
          <a:xfrm xmlns:a="http://schemas.openxmlformats.org/drawingml/2006/main">
            <a:off x="9530243" y="1335024"/>
            <a:ext cx="2094525" cy="2011680"/>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80885224-C04A-4EC5-A632-A9E346806A8C}"/>
              </a:ext>
            </a:extLst>
          </p:cNvPr>
          <p:cNvSpPr>
            <a:spLocks xmlns:a="http://schemas.openxmlformats.org/drawingml/2006/main" noGrp="1"/>
          </p:cNvSpPr>
          <p:nvPr/>
        </p:nvSpPr>
        <p:spPr>
          <a:xfrm xmlns:a="http://schemas.openxmlformats.org/drawingml/2006/main">
            <a:off x="9694835"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Exception and escalation</a:t>
            </a:r>
            <a:endParaRPr sz="1120"/>
          </a:p>
        </p:txBody>
      </p:sp>
      <p:sp>
        <p:nvSpPr>
          <p:cNvPr id="18" name="Text 16">
            <a:extLst xmlns:a="http://schemas.openxmlformats.org/drawingml/2006/main">
              <a:ext uri="{FF2B5EF4-FFF2-40B4-BE49-F238E27FC236}">
                <a16:creationId xmlns:a16="http://schemas.microsoft.com/office/drawing/2014/main" id="{DEA9FFA5-26AB-454C-958D-FE422B824899}"/>
              </a:ext>
            </a:extLst>
          </p:cNvPr>
          <p:cNvSpPr>
            <a:spLocks xmlns:a="http://schemas.openxmlformats.org/drawingml/2006/main" noGrp="1"/>
          </p:cNvSpPr>
          <p:nvPr/>
        </p:nvSpPr>
        <p:spPr>
          <a:xfrm xmlns:a="http://schemas.openxmlformats.org/drawingml/2006/main">
            <a:off x="9694835"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One queue, one route back to a human. Used heavily by funding reversals and by the low-deflection servicing categories.</a:t>
            </a:r>
            <a:endParaRPr sz="910"/>
          </a:p>
        </p:txBody>
      </p:sp>
      <p:sp>
        <p:nvSpPr>
          <p:cNvPr id="19" name="Text 17">
            <a:extLst xmlns:a="http://schemas.openxmlformats.org/drawingml/2006/main">
              <a:ext uri="{FF2B5EF4-FFF2-40B4-BE49-F238E27FC236}">
                <a16:creationId xmlns:a16="http://schemas.microsoft.com/office/drawing/2014/main" id="{3C21FE7A-0058-4E99-A723-A53C290CE7F8}"/>
              </a:ext>
            </a:extLst>
          </p:cNvPr>
          <p:cNvSpPr>
            <a:spLocks xmlns:a="http://schemas.openxmlformats.org/drawingml/2006/main" noGrp="1"/>
          </p:cNvSpPr>
          <p:nvPr/>
        </p:nvSpPr>
        <p:spPr>
          <a:xfrm xmlns:a="http://schemas.openxmlformats.org/drawingml/2006/main">
            <a:off x="566928" y="3621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ratio that matters</a:t>
            </a:r>
            <a:endParaRPr sz="1100"/>
          </a:p>
        </p:txBody>
      </p:sp>
      <p:sp>
        <p:nvSpPr>
          <p:cNvPr id="20" name="Shape 18">
            <a:extLst xmlns:a="http://schemas.openxmlformats.org/drawingml/2006/main">
              <a:ext uri="{FF2B5EF4-FFF2-40B4-BE49-F238E27FC236}">
                <a16:creationId xmlns:a16="http://schemas.microsoft.com/office/drawing/2014/main" id="{B0431F51-F8A9-40AD-AF96-6EB85F89C7D0}"/>
              </a:ext>
            </a:extLst>
          </p:cNvPr>
          <p:cNvSpPr>
            <a:spLocks xmlns:a="http://schemas.openxmlformats.org/drawingml/2006/main" noGrp="1"/>
          </p:cNvSpPr>
          <p:nvPr/>
        </p:nvSpPr>
        <p:spPr>
          <a:xfrm xmlns:a="http://schemas.openxmlformats.org/drawingml/2006/main">
            <a:off x="566928" y="3877056"/>
            <a:ext cx="3551834" cy="20117"/>
          </a:xfrm>
          <a:prstGeom xmlns:a="http://schemas.openxmlformats.org/drawingml/2006/main" prst="rect">
            <a:avLst/>
          </a:prstGeom>
          <a:solidFill xmlns:a="http://schemas.openxmlformats.org/drawingml/2006/main">
            <a:srgbClr val="B04A25"/>
          </a:solidFill>
        </p:spPr>
      </p:sp>
      <p:sp>
        <p:nvSpPr>
          <p:cNvPr id="21" name="Text 19">
            <a:extLst xmlns:a="http://schemas.openxmlformats.org/drawingml/2006/main">
              <a:ext uri="{FF2B5EF4-FFF2-40B4-BE49-F238E27FC236}">
                <a16:creationId xmlns:a16="http://schemas.microsoft.com/office/drawing/2014/main" id="{6E8F07BB-F0BA-4ED1-B5FE-44992BAEA7D9}"/>
              </a:ext>
            </a:extLst>
          </p:cNvPr>
          <p:cNvSpPr>
            <a:spLocks xmlns:a="http://schemas.openxmlformats.org/drawingml/2006/main" noGrp="1"/>
          </p:cNvSpPr>
          <p:nvPr/>
        </p:nvSpPr>
        <p:spPr>
          <a:xfrm xmlns:a="http://schemas.openxmlformats.org/drawingml/2006/main">
            <a:off x="566928" y="400507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Roughly eighty per cent of what each journey needed was already in production before either started.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twenty per cent that was specific is where all the design difficulty sat — and it was completely different in each case.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That ratio is the argument for building the spine before the second journey, not the fifth.</a:t>
            </a:r>
            <a:endParaRPr sz="950"/>
          </a:p>
        </p:txBody>
      </p:sp>
      <p:sp>
        <p:nvSpPr>
          <p:cNvPr id="22" name="Text 20">
            <a:extLst xmlns:a="http://schemas.openxmlformats.org/drawingml/2006/main">
              <a:ext uri="{FF2B5EF4-FFF2-40B4-BE49-F238E27FC236}">
                <a16:creationId xmlns:a16="http://schemas.microsoft.com/office/drawing/2014/main" id="{C660898C-0ED6-4E95-B0AB-E9C4E8803D7E}"/>
              </a:ext>
            </a:extLst>
          </p:cNvPr>
          <p:cNvSpPr>
            <a:spLocks xmlns:a="http://schemas.openxmlformats.org/drawingml/2006/main" noGrp="1"/>
          </p:cNvSpPr>
          <p:nvPr/>
        </p:nvSpPr>
        <p:spPr>
          <a:xfrm xmlns:a="http://schemas.openxmlformats.org/drawingml/2006/main">
            <a:off x="4319930" y="3621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would have happened otherwise</a:t>
            </a:r>
            <a:endParaRPr sz="1100"/>
          </a:p>
        </p:txBody>
      </p:sp>
      <p:sp>
        <p:nvSpPr>
          <p:cNvPr id="23" name="Shape 21">
            <a:extLst xmlns:a="http://schemas.openxmlformats.org/drawingml/2006/main">
              <a:ext uri="{FF2B5EF4-FFF2-40B4-BE49-F238E27FC236}">
                <a16:creationId xmlns:a16="http://schemas.microsoft.com/office/drawing/2014/main" id="{B230DD74-DFEE-4005-AB3E-FF9F1EC3DB40}"/>
              </a:ext>
            </a:extLst>
          </p:cNvPr>
          <p:cNvSpPr>
            <a:spLocks xmlns:a="http://schemas.openxmlformats.org/drawingml/2006/main" noGrp="1"/>
          </p:cNvSpPr>
          <p:nvPr/>
        </p:nvSpPr>
        <p:spPr>
          <a:xfrm xmlns:a="http://schemas.openxmlformats.org/drawingml/2006/main">
            <a:off x="4319930" y="3877056"/>
            <a:ext cx="3551834" cy="20117"/>
          </a:xfrm>
          <a:prstGeom xmlns:a="http://schemas.openxmlformats.org/drawingml/2006/main" prst="rect">
            <a:avLst/>
          </a:prstGeom>
          <a:solidFill xmlns:a="http://schemas.openxmlformats.org/drawingml/2006/main">
            <a:srgbClr val="102A43"/>
          </a:solidFill>
        </p:spPr>
      </p:sp>
      <p:sp>
        <p:nvSpPr>
          <p:cNvPr id="24" name="Text 22">
            <a:extLst xmlns:a="http://schemas.openxmlformats.org/drawingml/2006/main">
              <a:ext uri="{FF2B5EF4-FFF2-40B4-BE49-F238E27FC236}">
                <a16:creationId xmlns:a16="http://schemas.microsoft.com/office/drawing/2014/main" id="{B9ECB7E8-F32B-4112-9BEB-1E99150917DF}"/>
              </a:ext>
            </a:extLst>
          </p:cNvPr>
          <p:cNvSpPr>
            <a:spLocks xmlns:a="http://schemas.openxmlformats.org/drawingml/2006/main" noGrp="1"/>
          </p:cNvSpPr>
          <p:nvPr/>
        </p:nvSpPr>
        <p:spPr>
          <a:xfrm xmlns:a="http://schemas.openxmlformats.org/drawingml/2006/main">
            <a:off x="4319930" y="400507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Two consent implementations, two document stores, two status vocabularies and two exception queues.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Enterprise reporting would have needed a translation layer within a quarter.</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And the second journey would have cost roughly what the first did, rather than substantially less.</a:t>
            </a:r>
            <a:endParaRPr sz="950"/>
          </a:p>
        </p:txBody>
      </p:sp>
      <p:sp>
        <p:nvSpPr>
          <p:cNvPr id="25" name="Text 23">
            <a:extLst xmlns:a="http://schemas.openxmlformats.org/drawingml/2006/main">
              <a:ext uri="{FF2B5EF4-FFF2-40B4-BE49-F238E27FC236}">
                <a16:creationId xmlns:a16="http://schemas.microsoft.com/office/drawing/2014/main" id="{1F138FBB-BAE4-4ED2-A059-677BD56F5E92}"/>
              </a:ext>
            </a:extLst>
          </p:cNvPr>
          <p:cNvSpPr>
            <a:spLocks xmlns:a="http://schemas.openxmlformats.org/drawingml/2006/main" noGrp="1"/>
          </p:cNvSpPr>
          <p:nvPr/>
        </p:nvSpPr>
        <p:spPr>
          <a:xfrm xmlns:a="http://schemas.openxmlformats.org/drawingml/2006/main">
            <a:off x="8072933" y="3621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discipline this needed</a:t>
            </a:r>
            <a:endParaRPr sz="1100"/>
          </a:p>
        </p:txBody>
      </p:sp>
      <p:sp>
        <p:nvSpPr>
          <p:cNvPr id="26" name="Shape 24">
            <a:extLst xmlns:a="http://schemas.openxmlformats.org/drawingml/2006/main">
              <a:ext uri="{FF2B5EF4-FFF2-40B4-BE49-F238E27FC236}">
                <a16:creationId xmlns:a16="http://schemas.microsoft.com/office/drawing/2014/main" id="{437CD67F-70E2-48C1-B762-69E55A770A7A}"/>
              </a:ext>
            </a:extLst>
          </p:cNvPr>
          <p:cNvSpPr>
            <a:spLocks xmlns:a="http://schemas.openxmlformats.org/drawingml/2006/main" noGrp="1"/>
          </p:cNvSpPr>
          <p:nvPr/>
        </p:nvSpPr>
        <p:spPr>
          <a:xfrm xmlns:a="http://schemas.openxmlformats.org/drawingml/2006/main">
            <a:off x="8072933" y="3877056"/>
            <a:ext cx="3551834" cy="20117"/>
          </a:xfrm>
          <a:prstGeom xmlns:a="http://schemas.openxmlformats.org/drawingml/2006/main" prst="rect">
            <a:avLst/>
          </a:prstGeom>
          <a:solidFill xmlns:a="http://schemas.openxmlformats.org/drawingml/2006/main">
            <a:srgbClr val="486581"/>
          </a:solidFill>
        </p:spPr>
      </p:sp>
      <p:sp>
        <p:nvSpPr>
          <p:cNvPr id="27" name="Text 25">
            <a:extLst xmlns:a="http://schemas.openxmlformats.org/drawingml/2006/main">
              <a:ext uri="{FF2B5EF4-FFF2-40B4-BE49-F238E27FC236}">
                <a16:creationId xmlns:a16="http://schemas.microsoft.com/office/drawing/2014/main" id="{3403915F-A48C-4D90-91E0-1BEDA4957C3C}"/>
              </a:ext>
            </a:extLst>
          </p:cNvPr>
          <p:cNvSpPr>
            <a:spLocks xmlns:a="http://schemas.openxmlformats.org/drawingml/2006/main" noGrp="1"/>
          </p:cNvSpPr>
          <p:nvPr/>
        </p:nvSpPr>
        <p:spPr>
          <a:xfrm xmlns:a="http://schemas.openxmlformats.org/drawingml/2006/main">
            <a:off x="8072933" y="400507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Neither journey was allowed to fork a shared component, including when a fork would have been faster that sprint.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servicing journey did extend the exception queue with per-category routing, which is the right kind of change.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Extending is healthy. Forking is the failure.</a:t>
            </a:r>
            <a:endParaRPr sz="950"/>
          </a:p>
        </p:txBody>
      </p:sp>
      <p:sp>
        <p:nvSpPr>
          <p:cNvPr id="28" name="Shape 26">
            <a:extLst xmlns:a="http://schemas.openxmlformats.org/drawingml/2006/main">
              <a:ext uri="{FF2B5EF4-FFF2-40B4-BE49-F238E27FC236}">
                <a16:creationId xmlns:a16="http://schemas.microsoft.com/office/drawing/2014/main" id="{D8480ACB-07EF-439C-9542-0685254CAC7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ABF1D168-A6C6-49ED-9F95-05869C574A5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a:t>
            </a:r>
            <a:endParaRPr sz="850"/>
          </a:p>
        </p:txBody>
      </p:sp>
      <p:sp>
        <p:nvSpPr>
          <p:cNvPr id="30" name="Text 28">
            <a:extLst xmlns:a="http://schemas.openxmlformats.org/drawingml/2006/main">
              <a:ext uri="{FF2B5EF4-FFF2-40B4-BE49-F238E27FC236}">
                <a16:creationId xmlns:a16="http://schemas.microsoft.com/office/drawing/2014/main" id="{A14DEB93-BBEB-479A-B3DB-2486960D02A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696782241"/>
      </p:ext>
    </p:extLst>
  </p:cSld>
</p:sld>
</file>

<file path=ppt/slides/slide6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0970C7-10D9-4BAE-BEF5-A4299527334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6D80552B-F523-475D-99BC-1E98D66310F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judgements for designing self-service at portfolio scale</a:t>
            </a:r>
            <a:endParaRPr sz="1900"/>
          </a:p>
        </p:txBody>
      </p:sp>
      <p:sp>
        <p:nvSpPr>
          <p:cNvPr id="4" name="Text 2">
            <a:extLst xmlns:a="http://schemas.openxmlformats.org/drawingml/2006/main">
              <a:ext uri="{FF2B5EF4-FFF2-40B4-BE49-F238E27FC236}">
                <a16:creationId xmlns:a16="http://schemas.microsoft.com/office/drawing/2014/main" id="{B1714C9B-F55E-48F1-B5C6-7FC2E78697C0}"/>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0EF9632F-7DA7-4729-8576-E872981B2503}"/>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Classify by reversibility, not by channel</a:t>
            </a:r>
            <a:endParaRPr sz="1200"/>
          </a:p>
        </p:txBody>
      </p:sp>
      <p:sp>
        <p:nvSpPr>
          <p:cNvPr id="6" name="Text 4">
            <a:extLst xmlns:a="http://schemas.openxmlformats.org/drawingml/2006/main">
              <a:ext uri="{FF2B5EF4-FFF2-40B4-BE49-F238E27FC236}">
                <a16:creationId xmlns:a16="http://schemas.microsoft.com/office/drawing/2014/main" id="{1320ED1F-EBF5-4242-A557-304C49D4C9BF}"/>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Two journeys in the same channel can need completely different design standards. Reversibility predicts which one needs a state machine, idempotency and a designed reversal — and which needs none of it.</a:t>
            </a:r>
            <a:endParaRPr sz="1000"/>
          </a:p>
        </p:txBody>
      </p:sp>
      <p:sp>
        <p:nvSpPr>
          <p:cNvPr id="7" name="Shape 5">
            <a:extLst xmlns:a="http://schemas.openxmlformats.org/drawingml/2006/main">
              <a:ext uri="{FF2B5EF4-FFF2-40B4-BE49-F238E27FC236}">
                <a16:creationId xmlns:a16="http://schemas.microsoft.com/office/drawing/2014/main" id="{27E59DEF-9B29-4DC2-86E6-6093F530BFB5}"/>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694DA86C-8C97-4FBE-B354-97F11CD83FAF}"/>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B321ABAD-8CF2-484C-A303-C92318C9A008}"/>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Design the reversal before the happy path</a:t>
            </a:r>
            <a:endParaRPr sz="1200"/>
          </a:p>
        </p:txBody>
      </p:sp>
      <p:sp>
        <p:nvSpPr>
          <p:cNvPr id="10" name="Text 8">
            <a:extLst xmlns:a="http://schemas.openxmlformats.org/drawingml/2006/main">
              <a:ext uri="{FF2B5EF4-FFF2-40B4-BE49-F238E27FC236}">
                <a16:creationId xmlns:a16="http://schemas.microsoft.com/office/drawing/2014/main" id="{5185EE72-9DAF-4F7E-B769-A28974128876}"/>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For anything irreversible, the unwind is a first-class outcome with its own state, notification and reason code. A reversal path discovered in production is discovered by a customer.</a:t>
            </a:r>
            <a:endParaRPr sz="1000"/>
          </a:p>
        </p:txBody>
      </p:sp>
      <p:sp>
        <p:nvSpPr>
          <p:cNvPr id="11" name="Shape 9">
            <a:extLst xmlns:a="http://schemas.openxmlformats.org/drawingml/2006/main">
              <a:ext uri="{FF2B5EF4-FFF2-40B4-BE49-F238E27FC236}">
                <a16:creationId xmlns:a16="http://schemas.microsoft.com/office/drawing/2014/main" id="{97E29876-A73F-4344-B007-6D3BBE622510}"/>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B33AFD7F-690A-4712-B520-F86A26B7F7D4}"/>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1C21A550-FA57-4EE5-8AC9-546576999DE2}"/>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Fix the taxonomy before the interface</a:t>
            </a:r>
            <a:endParaRPr sz="1200"/>
          </a:p>
        </p:txBody>
      </p:sp>
      <p:sp>
        <p:nvSpPr>
          <p:cNvPr id="14" name="Text 12">
            <a:extLst xmlns:a="http://schemas.openxmlformats.org/drawingml/2006/main">
              <a:ext uri="{FF2B5EF4-FFF2-40B4-BE49-F238E27FC236}">
                <a16:creationId xmlns:a16="http://schemas.microsoft.com/office/drawing/2014/main" id="{A5941344-C7CE-406E-9C81-B71C22C46B83}"/>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Where a journey spans many request types, the category definitions are the work. A deflection rate measured across badly defined categories cannot tell you what to build next.</a:t>
            </a:r>
            <a:endParaRPr sz="1000"/>
          </a:p>
        </p:txBody>
      </p:sp>
      <p:sp>
        <p:nvSpPr>
          <p:cNvPr id="15" name="Shape 13">
            <a:extLst xmlns:a="http://schemas.openxmlformats.org/drawingml/2006/main">
              <a:ext uri="{FF2B5EF4-FFF2-40B4-BE49-F238E27FC236}">
                <a16:creationId xmlns:a16="http://schemas.microsoft.com/office/drawing/2014/main" id="{B6298C4C-ACF5-435F-8176-B398A5475D99}"/>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5565272F-6E4B-4787-9FE0-BA4FBB83DDA1}"/>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CB6FDF6D-7AB4-4538-AC2C-780A0730FCD2}"/>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Read the spread, never the average</a:t>
            </a:r>
            <a:endParaRPr sz="1200"/>
          </a:p>
        </p:txBody>
      </p:sp>
      <p:sp>
        <p:nvSpPr>
          <p:cNvPr id="18" name="Text 16">
            <a:extLst xmlns:a="http://schemas.openxmlformats.org/drawingml/2006/main">
              <a:ext uri="{FF2B5EF4-FFF2-40B4-BE49-F238E27FC236}">
                <a16:creationId xmlns:a16="http://schemas.microsoft.com/office/drawing/2014/main" id="{633E279F-924B-4012-BCE1-0D9AA4B2EECA}"/>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blended deflection figure hides both the categories that deflect completely and the ones that never will. The spread is what sets the next phase; the average is what gets reported.</a:t>
            </a:r>
            <a:endParaRPr sz="1000"/>
          </a:p>
        </p:txBody>
      </p:sp>
      <p:sp>
        <p:nvSpPr>
          <p:cNvPr id="19" name="Shape 17">
            <a:extLst xmlns:a="http://schemas.openxmlformats.org/drawingml/2006/main">
              <a:ext uri="{FF2B5EF4-FFF2-40B4-BE49-F238E27FC236}">
                <a16:creationId xmlns:a16="http://schemas.microsoft.com/office/drawing/2014/main" id="{415E9074-8BBE-45A4-8023-5B04FE7C5087}"/>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70AF6FE1-FB9C-409D-AC3F-6715A120B815}"/>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Both journeys removed work from a human. Only one of them could take money from a customer and fail to give it back — and every meaningful design difference between them follows from that single fact.</a:t>
            </a:r>
            <a:endParaRPr sz="1200"/>
          </a:p>
        </p:txBody>
      </p:sp>
      <p:sp>
        <p:nvSpPr>
          <p:cNvPr id="21" name="Shape 19">
            <a:extLst xmlns:a="http://schemas.openxmlformats.org/drawingml/2006/main">
              <a:ext uri="{FF2B5EF4-FFF2-40B4-BE49-F238E27FC236}">
                <a16:creationId xmlns:a16="http://schemas.microsoft.com/office/drawing/2014/main" id="{414CC00F-2763-4EBD-B2AC-5AC3D057264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4B6CFC82-591D-4886-8256-985C73CE747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23" name="Text 21">
            <a:extLst xmlns:a="http://schemas.openxmlformats.org/drawingml/2006/main">
              <a:ext uri="{FF2B5EF4-FFF2-40B4-BE49-F238E27FC236}">
                <a16:creationId xmlns:a16="http://schemas.microsoft.com/office/drawing/2014/main" id="{02DEE8C8-2B13-4663-A69D-CA8DD69615F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435431983"/>
      </p:ext>
    </p:extLst>
  </p:cSld>
</p:sld>
</file>

<file path=ppt/slides/slide66.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676A06C-4FD9-4351-9113-E1B230951573}"/>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INTEGRATION CASE  ·  03 OF 30</a:t>
            </a:r>
            <a:endParaRPr sz="950"/>
          </a:p>
        </p:txBody>
      </p:sp>
      <p:sp>
        <p:nvSpPr>
          <p:cNvPr id="3" name="Text 1">
            <a:extLst xmlns:a="http://schemas.openxmlformats.org/drawingml/2006/main">
              <a:ext uri="{FF2B5EF4-FFF2-40B4-BE49-F238E27FC236}">
                <a16:creationId xmlns:a16="http://schemas.microsoft.com/office/drawing/2014/main" id="{1AF1969E-A43C-4EA9-A3FD-DCB459B730D7}"/>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HDFC Bank</a:t>
            </a:r>
            <a:endParaRPr sz="3800"/>
          </a:p>
        </p:txBody>
      </p:sp>
      <p:sp>
        <p:nvSpPr>
          <p:cNvPr id="4" name="Text 2">
            <a:extLst xmlns:a="http://schemas.openxmlformats.org/drawingml/2006/main">
              <a:ext uri="{FF2B5EF4-FFF2-40B4-BE49-F238E27FC236}">
                <a16:creationId xmlns:a16="http://schemas.microsoft.com/office/drawing/2014/main" id="{99CD48D5-3300-473D-AE5F-C9358410BF1E}"/>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Cross-entity by design — selling a sister insurer's product inside a bank journey</a:t>
            </a:r>
            <a:endParaRPr sz="1800"/>
          </a:p>
        </p:txBody>
      </p:sp>
      <p:sp>
        <p:nvSpPr>
          <p:cNvPr id="5" name="Text 3">
            <a:extLst xmlns:a="http://schemas.openxmlformats.org/drawingml/2006/main">
              <a:ext uri="{FF2B5EF4-FFF2-40B4-BE49-F238E27FC236}">
                <a16:creationId xmlns:a16="http://schemas.microsoft.com/office/drawing/2014/main" id="{27F96BEB-6163-4297-BD1F-DB34218A9EED}"/>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One continuous journey for the customer. Two regulated entities, two supervisors and two systems of record underneath it. The consent model, not the product, is what decides whether a journey like this launches or is withdrawn.</a:t>
            </a:r>
            <a:endParaRPr sz="1150"/>
          </a:p>
        </p:txBody>
      </p:sp>
      <p:sp>
        <p:nvSpPr>
          <p:cNvPr id="6" name="Shape 4">
            <a:extLst xmlns:a="http://schemas.openxmlformats.org/drawingml/2006/main">
              <a:ext uri="{FF2B5EF4-FFF2-40B4-BE49-F238E27FC236}">
                <a16:creationId xmlns:a16="http://schemas.microsoft.com/office/drawing/2014/main" id="{05F00AC0-AF44-455C-8EA6-682C02FA522C}"/>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FDDFB827-5713-40E8-BB2A-E71ABB755148}"/>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8" name="Text 6">
            <a:extLst xmlns:a="http://schemas.openxmlformats.org/drawingml/2006/main">
              <a:ext uri="{FF2B5EF4-FFF2-40B4-BE49-F238E27FC236}">
                <a16:creationId xmlns:a16="http://schemas.microsoft.com/office/drawing/2014/main" id="{8C6A66C3-04D5-402B-85BC-47A49F4626AB}"/>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regulated entities,</a:t>
            </a:r>
            <a:endParaRPr sz="900"/>
          </a:p>
          <a:p xmlns:a="http://schemas.openxmlformats.org/drawingml/2006/main">
            <a:pPr marL="0" indent="0">
              <a:lnSpc>
                <a:spcPts val="1100"/>
              </a:lnSpc>
              <a:buNone/>
            </a:pPr>
            <a:r>
              <a:rPr sz="900">
                <a:solidFill>
                  <a:srgbClr val="8FA9C4"/>
                </a:solidFill>
                <a:latin typeface="Arial"/>
                <a:ea typeface="Arial"/>
                <a:cs typeface="Arial"/>
              </a:rPr>
              <a:t>one flow</a:t>
            </a:r>
            <a:endParaRPr sz="900"/>
          </a:p>
        </p:txBody>
      </p:sp>
      <p:sp>
        <p:nvSpPr>
          <p:cNvPr id="9" name="Text 7">
            <a:extLst xmlns:a="http://schemas.openxmlformats.org/drawingml/2006/main">
              <a:ext uri="{FF2B5EF4-FFF2-40B4-BE49-F238E27FC236}">
                <a16:creationId xmlns:a16="http://schemas.microsoft.com/office/drawing/2014/main" id="{B69A94C8-ABFD-421E-AFAA-830CD30ABCE0}"/>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10" name="Text 8">
            <a:extLst xmlns:a="http://schemas.openxmlformats.org/drawingml/2006/main">
              <a:ext uri="{FF2B5EF4-FFF2-40B4-BE49-F238E27FC236}">
                <a16:creationId xmlns:a16="http://schemas.microsoft.com/office/drawing/2014/main" id="{6767B310-89F5-4CF8-9BC1-8C96397E7527}"/>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supervisors to</a:t>
            </a:r>
            <a:endParaRPr sz="900"/>
          </a:p>
          <a:p xmlns:a="http://schemas.openxmlformats.org/drawingml/2006/main">
            <a:pPr marL="0" indent="0">
              <a:lnSpc>
                <a:spcPts val="1100"/>
              </a:lnSpc>
              <a:buNone/>
            </a:pPr>
            <a:r>
              <a:rPr sz="900">
                <a:solidFill>
                  <a:srgbClr val="8FA9C4"/>
                </a:solidFill>
                <a:latin typeface="Arial"/>
                <a:ea typeface="Arial"/>
                <a:cs typeface="Arial"/>
              </a:rPr>
              <a:t>satisfy</a:t>
            </a:r>
            <a:endParaRPr sz="900"/>
          </a:p>
        </p:txBody>
      </p:sp>
      <p:sp>
        <p:nvSpPr>
          <p:cNvPr id="11" name="Text 9">
            <a:extLst xmlns:a="http://schemas.openxmlformats.org/drawingml/2006/main">
              <a:ext uri="{FF2B5EF4-FFF2-40B4-BE49-F238E27FC236}">
                <a16:creationId xmlns:a16="http://schemas.microsoft.com/office/drawing/2014/main" id="{4044948A-D3FE-4359-89B2-B5416A1AEE32}"/>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12" name="Text 10">
            <a:extLst xmlns:a="http://schemas.openxmlformats.org/drawingml/2006/main">
              <a:ext uri="{FF2B5EF4-FFF2-40B4-BE49-F238E27FC236}">
                <a16:creationId xmlns:a16="http://schemas.microsoft.com/office/drawing/2014/main" id="{7B6674EE-20F3-458C-907C-870A8B8EFF22}"/>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consents, deliberately</a:t>
            </a:r>
            <a:endParaRPr sz="900"/>
          </a:p>
          <a:p xmlns:a="http://schemas.openxmlformats.org/drawingml/2006/main">
            <a:pPr marL="0" indent="0">
              <a:lnSpc>
                <a:spcPts val="1100"/>
              </a:lnSpc>
              <a:buNone/>
            </a:pPr>
            <a:r>
              <a:rPr sz="900">
                <a:solidFill>
                  <a:srgbClr val="8FA9C4"/>
                </a:solidFill>
                <a:latin typeface="Arial"/>
                <a:ea typeface="Arial"/>
                <a:cs typeface="Arial"/>
              </a:rPr>
              <a:t>separated</a:t>
            </a:r>
            <a:endParaRPr sz="900"/>
          </a:p>
        </p:txBody>
      </p:sp>
      <p:sp>
        <p:nvSpPr>
          <p:cNvPr id="13" name="Text 11">
            <a:extLst xmlns:a="http://schemas.openxmlformats.org/drawingml/2006/main">
              <a:ext uri="{FF2B5EF4-FFF2-40B4-BE49-F238E27FC236}">
                <a16:creationId xmlns:a16="http://schemas.microsoft.com/office/drawing/2014/main" id="{2C3410C1-811B-4FB3-A379-2D2082247D40}"/>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14" name="Text 12">
            <a:extLst xmlns:a="http://schemas.openxmlformats.org/drawingml/2006/main">
              <a:ext uri="{FF2B5EF4-FFF2-40B4-BE49-F238E27FC236}">
                <a16:creationId xmlns:a16="http://schemas.microsoft.com/office/drawing/2014/main" id="{0A14D9A4-EDFB-4603-A235-6B6EE637B718}"/>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use cases</a:t>
            </a:r>
            <a:endParaRPr sz="900"/>
          </a:p>
          <a:p xmlns:a="http://schemas.openxmlformats.org/drawingml/2006/main">
            <a:pPr marL="0" indent="0">
              <a:lnSpc>
                <a:spcPts val="1100"/>
              </a:lnSpc>
              <a:buNone/>
            </a:pPr>
            <a:r>
              <a:rPr sz="900">
                <a:solidFill>
                  <a:srgbClr val="8FA9C4"/>
                </a:solidFill>
                <a:latin typeface="Arial"/>
                <a:ea typeface="Arial"/>
                <a:cs typeface="Arial"/>
              </a:rPr>
              <a:t>delivered</a:t>
            </a:r>
            <a:endParaRPr sz="900"/>
          </a:p>
        </p:txBody>
      </p:sp>
      <p:sp>
        <p:nvSpPr>
          <p:cNvPr id="15" name="Text 13">
            <a:extLst xmlns:a="http://schemas.openxmlformats.org/drawingml/2006/main">
              <a:ext uri="{FF2B5EF4-FFF2-40B4-BE49-F238E27FC236}">
                <a16:creationId xmlns:a16="http://schemas.microsoft.com/office/drawing/2014/main" id="{572FE66B-BF25-4912-A24C-E3D7BC61DFAD}"/>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6670130F-4460-4423-BC21-83B046B4035F}"/>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system of record</a:t>
            </a:r>
            <a:endParaRPr sz="900"/>
          </a:p>
          <a:p xmlns:a="http://schemas.openxmlformats.org/drawingml/2006/main">
            <a:pPr marL="0" indent="0">
              <a:lnSpc>
                <a:spcPts val="1100"/>
              </a:lnSpc>
              <a:buNone/>
            </a:pPr>
            <a:r>
              <a:rPr sz="900">
                <a:solidFill>
                  <a:srgbClr val="8FA9C4"/>
                </a:solidFill>
                <a:latin typeface="Arial"/>
                <a:ea typeface="Arial"/>
                <a:cs typeface="Arial"/>
              </a:rPr>
              <a:t>per artefact</a:t>
            </a:r>
            <a:endParaRPr sz="900"/>
          </a:p>
        </p:txBody>
      </p:sp>
      <p:sp>
        <p:nvSpPr>
          <p:cNvPr id="17" name="Text 15">
            <a:extLst xmlns:a="http://schemas.openxmlformats.org/drawingml/2006/main">
              <a:ext uri="{FF2B5EF4-FFF2-40B4-BE49-F238E27FC236}">
                <a16:creationId xmlns:a16="http://schemas.microsoft.com/office/drawing/2014/main" id="{6B1FF3BD-EB9B-426B-9CB8-07262A86583D}"/>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2369BB40-DB46-44C8-9052-B3C87B037680}"/>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blanket consents</a:t>
            </a:r>
            <a:endParaRPr sz="900"/>
          </a:p>
        </p:txBody>
      </p:sp>
      <p:sp>
        <p:nvSpPr>
          <p:cNvPr id="19" name="Shape 17">
            <a:extLst xmlns:a="http://schemas.openxmlformats.org/drawingml/2006/main">
              <a:ext uri="{FF2B5EF4-FFF2-40B4-BE49-F238E27FC236}">
                <a16:creationId xmlns:a16="http://schemas.microsoft.com/office/drawing/2014/main" id="{9452AD15-607C-40BB-BB57-FECC13DED1D9}"/>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BE8ADEBD-EAA0-4AA2-BF3A-E6B77139F11F}"/>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JOURNEY SCOPE  ·  GROUP HEALTH INSURANCE THROUGH A BANK CHANNEL</a:t>
            </a:r>
            <a:endParaRPr sz="800"/>
          </a:p>
        </p:txBody>
      </p:sp>
      <p:sp>
        <p:nvSpPr>
          <p:cNvPr id="21" name="Text 19">
            <a:extLst xmlns:a="http://schemas.openxmlformats.org/drawingml/2006/main">
              <a:ext uri="{FF2B5EF4-FFF2-40B4-BE49-F238E27FC236}">
                <a16:creationId xmlns:a16="http://schemas.microsoft.com/office/drawing/2014/main" id="{4FCFC432-91A2-4CBD-B29F-FF58E890C3BD}"/>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Eligibility and screening    ·    product and cover selection    ·    cross-entity consent    ·    member enrolment    ·    premium and issuance    ·    post-issue servicing view</a:t>
            </a:r>
            <a:endParaRPr sz="1050"/>
          </a:p>
        </p:txBody>
      </p:sp>
      <p:sp>
        <p:nvSpPr>
          <p:cNvPr id="22" name="Text 20">
            <a:extLst xmlns:a="http://schemas.openxmlformats.org/drawingml/2006/main">
              <a:ext uri="{FF2B5EF4-FFF2-40B4-BE49-F238E27FC236}">
                <a16:creationId xmlns:a16="http://schemas.microsoft.com/office/drawing/2014/main" id="{998CCD38-2D5D-4F27-BA0C-F7CA3BF696C5}"/>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Programme and delivery ownership, digital journey portfolio  ·  2024</a:t>
            </a:r>
            <a:endParaRPr sz="1200"/>
          </a:p>
        </p:txBody>
      </p:sp>
      <p:sp>
        <p:nvSpPr>
          <p:cNvPr id="23" name="Text 21">
            <a:extLst xmlns:a="http://schemas.openxmlformats.org/drawingml/2006/main">
              <a:ext uri="{FF2B5EF4-FFF2-40B4-BE49-F238E27FC236}">
                <a16:creationId xmlns:a16="http://schemas.microsoft.com/office/drawing/2014/main" id="{4BF92343-52BC-4372-A9DA-0F2AC45DA002}"/>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Journey scope is from the delivery record; the consent architecture and failure-mode analysis are design work, not legal advice.</a:t>
            </a:r>
            <a:endParaRPr sz="850"/>
          </a:p>
        </p:txBody>
      </p:sp>
    </p:spTree>
    <p:extLst>
      <p:ext uri="{BB962C8B-B14F-4D97-AF65-F5344CB8AC3E}">
        <p14:creationId xmlns:p14="http://schemas.microsoft.com/office/powerpoint/2010/main" val="202077816"/>
      </p:ext>
    </p:extLst>
  </p:cSld>
</p:sld>
</file>

<file path=ppt/slides/slide6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80DEC1B-C257-4DD9-80DF-938B4F891A1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F5A67CE4-1CF6-4B82-9C56-12057FCF533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customer experiences one journey; the data must never behave as though it is</a:t>
            </a:r>
            <a:endParaRPr sz="1900"/>
          </a:p>
          <a:p xmlns:a="http://schemas.openxmlformats.org/drawingml/2006/main">
            <a:pPr marL="0" indent="0">
              <a:lnSpc>
                <a:spcPts val="2400"/>
              </a:lnSpc>
              <a:buNone/>
            </a:pPr>
            <a:r>
              <a:rPr sz="1900" b="1">
                <a:solidFill>
                  <a:srgbClr val="102A43"/>
                </a:solidFill>
                <a:latin typeface="Arial"/>
                <a:ea typeface="Arial"/>
                <a:cs typeface="Arial"/>
              </a:rPr>
              <a:t>one entity — and a single blanket consent is the fastest way to fail that test</a:t>
            </a:r>
            <a:endParaRPr sz="1900"/>
          </a:p>
        </p:txBody>
      </p:sp>
      <p:sp>
        <p:nvSpPr>
          <p:cNvPr id="4" name="Shape 2">
            <a:extLst xmlns:a="http://schemas.openxmlformats.org/drawingml/2006/main">
              <a:ext uri="{FF2B5EF4-FFF2-40B4-BE49-F238E27FC236}">
                <a16:creationId xmlns:a16="http://schemas.microsoft.com/office/drawing/2014/main" id="{0C5B5136-433A-4017-A3CF-C99FB690F9F7}"/>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DAAF1E54-9CAF-4E10-A847-36D896DE175E}"/>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FB4DF0B7-B115-46BB-954B-4C6BB25FDB34}"/>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bank selling a group health insurance product underwritten by a sister company within the same group. The customer sees one flow inside the bank's channel: eligibility, cover selection, enrolment, payment, policy.</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Behind it are two separately regulated entities with different supervisors, different obligations and different systems of record.</a:t>
            </a:r>
            <a:endParaRPr sz="980"/>
          </a:p>
        </p:txBody>
      </p:sp>
      <p:sp>
        <p:nvSpPr>
          <p:cNvPr id="7" name="Shape 5">
            <a:extLst xmlns:a="http://schemas.openxmlformats.org/drawingml/2006/main">
              <a:ext uri="{FF2B5EF4-FFF2-40B4-BE49-F238E27FC236}">
                <a16:creationId xmlns:a16="http://schemas.microsoft.com/office/drawing/2014/main" id="{13DC09DC-6263-4566-95DB-4F75FC680E47}"/>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02781EC0-7F58-48D5-A370-70C436F6B1E0}"/>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1FB7CC03-7953-4B3A-AE65-4C3B63677976}"/>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commercially attractive design is the seamless one — a single consent at the start, data flowing freely between entities, one apparent system.</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That design is faster to build, tests better in user research, and does not survive the first supervisory examination from either side. Group structure does not make two entities one entity in data terms, and a consent that does not distinguish the two purposes cannot evidence either.</a:t>
            </a:r>
            <a:endParaRPr sz="980"/>
          </a:p>
        </p:txBody>
      </p:sp>
      <p:sp>
        <p:nvSpPr>
          <p:cNvPr id="10" name="Shape 8">
            <a:extLst xmlns:a="http://schemas.openxmlformats.org/drawingml/2006/main">
              <a:ext uri="{FF2B5EF4-FFF2-40B4-BE49-F238E27FC236}">
                <a16:creationId xmlns:a16="http://schemas.microsoft.com/office/drawing/2014/main" id="{FF58DDC8-3842-4571-96BC-64EF28432F80}"/>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3B9CFD3C-B3C0-43AC-AC40-4099626771D1}"/>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design</a:t>
            </a:r>
            <a:endParaRPr sz="1250"/>
          </a:p>
        </p:txBody>
      </p:sp>
      <p:sp>
        <p:nvSpPr>
          <p:cNvPr id="12" name="Text 10">
            <a:extLst xmlns:a="http://schemas.openxmlformats.org/drawingml/2006/main">
              <a:ext uri="{FF2B5EF4-FFF2-40B4-BE49-F238E27FC236}">
                <a16:creationId xmlns:a16="http://schemas.microsoft.com/office/drawing/2014/main" id="{99E12052-4F9E-49AC-B2FD-0CCEC597E6AF}"/>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Split the consent explicitly: cross-entity data sharing is one purpose, the insurance contract is another, and they are captured, evidenced and revocable separately.</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Hand over data at field level with the purpose recorded per attribute. Draw the system-of-record boundary once and keep it — the insurer owns the policy, the bank owns a servicing view, and neither pretends otherwise.</a:t>
            </a:r>
            <a:endParaRPr sz="980"/>
          </a:p>
        </p:txBody>
      </p:sp>
      <p:sp>
        <p:nvSpPr>
          <p:cNvPr id="13" name="Text 11">
            <a:extLst xmlns:a="http://schemas.openxmlformats.org/drawingml/2006/main">
              <a:ext uri="{FF2B5EF4-FFF2-40B4-BE49-F238E27FC236}">
                <a16:creationId xmlns:a16="http://schemas.microsoft.com/office/drawing/2014/main" id="{AED3F1C5-E14B-468C-91FE-5E1DD467A533}"/>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E33C0CD8-BBE9-4D7A-8ABA-FDAD7623848E}"/>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279B0419-0854-4C5B-831C-5405D24600C6}"/>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16" name="Text 14">
            <a:extLst xmlns:a="http://schemas.openxmlformats.org/drawingml/2006/main">
              <a:ext uri="{FF2B5EF4-FFF2-40B4-BE49-F238E27FC236}">
                <a16:creationId xmlns:a16="http://schemas.microsoft.com/office/drawing/2014/main" id="{04B60BAD-8A87-4513-B723-217B9CE3D6CB}"/>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consents, separately evidenced</a:t>
            </a:r>
            <a:endParaRPr sz="860"/>
          </a:p>
        </p:txBody>
      </p:sp>
      <p:sp>
        <p:nvSpPr>
          <p:cNvPr id="17" name="Shape 15">
            <a:extLst xmlns:a="http://schemas.openxmlformats.org/drawingml/2006/main">
              <a:ext uri="{FF2B5EF4-FFF2-40B4-BE49-F238E27FC236}">
                <a16:creationId xmlns:a16="http://schemas.microsoft.com/office/drawing/2014/main" id="{D3E9D81E-2941-497A-A268-8420A68D6E45}"/>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9C2FB1E8-7477-49B0-81F2-BBD615382041}"/>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923D56E1-6DAB-47CE-8397-0B5972D24678}"/>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purpose recorded per field</a:t>
            </a:r>
            <a:endParaRPr sz="860"/>
          </a:p>
        </p:txBody>
      </p:sp>
      <p:sp>
        <p:nvSpPr>
          <p:cNvPr id="20" name="Shape 18">
            <a:extLst xmlns:a="http://schemas.openxmlformats.org/drawingml/2006/main">
              <a:ext uri="{FF2B5EF4-FFF2-40B4-BE49-F238E27FC236}">
                <a16:creationId xmlns:a16="http://schemas.microsoft.com/office/drawing/2014/main" id="{AFCDE1F6-0C63-4F73-9B00-0EABF570C790}"/>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50F09C32-7140-4643-866F-B39648C882CD}"/>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21E69BE6-A997-4700-A4C4-17B851767B4A}"/>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system of record per artefact</a:t>
            </a:r>
            <a:endParaRPr sz="860"/>
          </a:p>
        </p:txBody>
      </p:sp>
      <p:sp>
        <p:nvSpPr>
          <p:cNvPr id="23" name="Shape 21">
            <a:extLst xmlns:a="http://schemas.openxmlformats.org/drawingml/2006/main">
              <a:ext uri="{FF2B5EF4-FFF2-40B4-BE49-F238E27FC236}">
                <a16:creationId xmlns:a16="http://schemas.microsoft.com/office/drawing/2014/main" id="{3BF8AACD-0DBA-42D4-A324-FDCF8FE7525D}"/>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901F4B26-1DA3-4DA1-8B72-094BA0BBBE7D}"/>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5" name="Text 23">
            <a:extLst xmlns:a="http://schemas.openxmlformats.org/drawingml/2006/main">
              <a:ext uri="{FF2B5EF4-FFF2-40B4-BE49-F238E27FC236}">
                <a16:creationId xmlns:a16="http://schemas.microsoft.com/office/drawing/2014/main" id="{F53D92D8-3C0A-4406-B5B1-A744A11C11C1}"/>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underwriting logic in the bank</a:t>
            </a:r>
            <a:endParaRPr sz="860"/>
          </a:p>
        </p:txBody>
      </p:sp>
      <p:sp>
        <p:nvSpPr>
          <p:cNvPr id="26" name="Shape 24">
            <a:extLst xmlns:a="http://schemas.openxmlformats.org/drawingml/2006/main">
              <a:ext uri="{FF2B5EF4-FFF2-40B4-BE49-F238E27FC236}">
                <a16:creationId xmlns:a16="http://schemas.microsoft.com/office/drawing/2014/main" id="{EAE47EA4-17EE-4F97-9D8E-2EE9CC36AE84}"/>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486C0F72-AA87-4E77-9F8D-AAFDCEF257C4}"/>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28" name="Text 26">
            <a:extLst xmlns:a="http://schemas.openxmlformats.org/drawingml/2006/main">
              <a:ext uri="{FF2B5EF4-FFF2-40B4-BE49-F238E27FC236}">
                <a16:creationId xmlns:a16="http://schemas.microsoft.com/office/drawing/2014/main" id="{C91C67D1-EF2D-431D-BE63-05B3022AC85D}"/>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use cases delivered</a:t>
            </a:r>
            <a:endParaRPr sz="860"/>
          </a:p>
        </p:txBody>
      </p:sp>
      <p:sp>
        <p:nvSpPr>
          <p:cNvPr id="29" name="Shape 27">
            <a:extLst xmlns:a="http://schemas.openxmlformats.org/drawingml/2006/main">
              <a:ext uri="{FF2B5EF4-FFF2-40B4-BE49-F238E27FC236}">
                <a16:creationId xmlns:a16="http://schemas.microsoft.com/office/drawing/2014/main" id="{B35DCE2A-43E4-4586-A498-D527958733A2}"/>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919BDCE1-54E3-429D-ABE3-D702EC35188A}"/>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31" name="Text 29">
            <a:extLst xmlns:a="http://schemas.openxmlformats.org/drawingml/2006/main">
              <a:ext uri="{FF2B5EF4-FFF2-40B4-BE49-F238E27FC236}">
                <a16:creationId xmlns:a16="http://schemas.microsoft.com/office/drawing/2014/main" id="{6C2B4CF7-C945-463E-B448-35B16BE4869E}"/>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failure modes designed out</a:t>
            </a:r>
            <a:endParaRPr sz="860"/>
          </a:p>
        </p:txBody>
      </p:sp>
      <p:sp>
        <p:nvSpPr>
          <p:cNvPr id="32" name="Text 30">
            <a:extLst xmlns:a="http://schemas.openxmlformats.org/drawingml/2006/main">
              <a:ext uri="{FF2B5EF4-FFF2-40B4-BE49-F238E27FC236}">
                <a16:creationId xmlns:a16="http://schemas.microsoft.com/office/drawing/2014/main" id="{666642DD-ECEC-4046-8EE3-6EB8E317DE4F}"/>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this pattern is worth generalising:  any product sold by one regulated entity through another's channel has this shape — bancassurance, group wealth, embedded lending, partner distribution. The commercial value is real and it is exactly where the value leaks, because the seam is a consent and data-ownership problem that looks like a user-experience problem.</a:t>
            </a:r>
            <a:endParaRPr sz="1000"/>
          </a:p>
        </p:txBody>
      </p:sp>
      <p:sp>
        <p:nvSpPr>
          <p:cNvPr id="33" name="Shape 31">
            <a:extLst xmlns:a="http://schemas.openxmlformats.org/drawingml/2006/main">
              <a:ext uri="{FF2B5EF4-FFF2-40B4-BE49-F238E27FC236}">
                <a16:creationId xmlns:a16="http://schemas.microsoft.com/office/drawing/2014/main" id="{71D0C2F5-F019-4447-9F65-88E75D1445B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9BA28110-3268-40DC-BD2B-D72ED461C0A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35" name="Text 33">
            <a:extLst xmlns:a="http://schemas.openxmlformats.org/drawingml/2006/main">
              <a:ext uri="{FF2B5EF4-FFF2-40B4-BE49-F238E27FC236}">
                <a16:creationId xmlns:a16="http://schemas.microsoft.com/office/drawing/2014/main" id="{70628527-795F-4EBA-BCB6-8BB5E0C80AE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843053647"/>
      </p:ext>
    </p:extLst>
  </p:cSld>
</p:sld>
</file>

<file path=ppt/slides/slide6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6E0D85-507E-4D8A-9EF5-C4D8BDF6267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A044D62A-F4FE-4910-9202-FF5A00AA4E0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journey and its scope come from the delivery record; the consent architecture</a:t>
            </a:r>
            <a:endParaRPr sz="1900"/>
          </a:p>
          <a:p xmlns:a="http://schemas.openxmlformats.org/drawingml/2006/main">
            <a:pPr marL="0" indent="0">
              <a:lnSpc>
                <a:spcPts val="2400"/>
              </a:lnSpc>
              <a:buNone/>
            </a:pPr>
            <a:r>
              <a:rPr sz="1900" b="1">
                <a:solidFill>
                  <a:srgbClr val="102A43"/>
                </a:solidFill>
                <a:latin typeface="Arial"/>
                <a:ea typeface="Arial"/>
                <a:cs typeface="Arial"/>
              </a:rPr>
              <a:t>and failure-mode analysis are design work, not legal advice</a:t>
            </a:r>
            <a:endParaRPr sz="1900"/>
          </a:p>
        </p:txBody>
      </p:sp>
      <p:sp>
        <p:nvSpPr>
          <p:cNvPr id="4" name="Shape 2">
            <a:extLst xmlns:a="http://schemas.openxmlformats.org/drawingml/2006/main">
              <a:ext uri="{FF2B5EF4-FFF2-40B4-BE49-F238E27FC236}">
                <a16:creationId xmlns:a16="http://schemas.microsoft.com/office/drawing/2014/main" id="{EF39C1A9-E3B0-4CA6-A1D3-38D39403A15E}"/>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1CE5769A-61B2-4E97-A9D8-07A8302B2DAC}"/>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2BFA195A-7CC5-4FE6-AE30-8F5DF35B4413}"/>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DELIVERED SCOPE</a:t>
            </a:r>
            <a:endParaRPr sz="740"/>
          </a:p>
        </p:txBody>
      </p:sp>
      <p:sp>
        <p:nvSpPr>
          <p:cNvPr id="7" name="Text 5">
            <a:extLst xmlns:a="http://schemas.openxmlformats.org/drawingml/2006/main">
              <a:ext uri="{FF2B5EF4-FFF2-40B4-BE49-F238E27FC236}">
                <a16:creationId xmlns:a16="http://schemas.microsoft.com/office/drawing/2014/main" id="{74C936CB-BD37-426E-AB08-4E19C7280C8D}"/>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2709C20B-4C70-4EB3-8C08-D95D1DFE459E}"/>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journey, its six use cases and the entity structure, as delivered during the 2024 engagement.</a:t>
            </a:r>
            <a:endParaRPr sz="920"/>
          </a:p>
        </p:txBody>
      </p:sp>
      <p:sp>
        <p:nvSpPr>
          <p:cNvPr id="9" name="Shape 7">
            <a:extLst xmlns:a="http://schemas.openxmlformats.org/drawingml/2006/main">
              <a:ext uri="{FF2B5EF4-FFF2-40B4-BE49-F238E27FC236}">
                <a16:creationId xmlns:a16="http://schemas.microsoft.com/office/drawing/2014/main" id="{C025562E-8955-43C4-A4D7-726B4AE5FF6D}"/>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4D96C202-620A-463C-B909-969CE06B8DA6}"/>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Group health product, bank channel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Sister insurer within the group</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Six use cases end to end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Existing bank consent framework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Insurer policy administration in place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Post-issue servicing requirement</a:t>
            </a:r>
            <a:endParaRPr sz="930"/>
          </a:p>
        </p:txBody>
      </p:sp>
      <p:sp>
        <p:nvSpPr>
          <p:cNvPr id="11" name="Shape 9">
            <a:extLst xmlns:a="http://schemas.openxmlformats.org/drawingml/2006/main">
              <a:ext uri="{FF2B5EF4-FFF2-40B4-BE49-F238E27FC236}">
                <a16:creationId xmlns:a16="http://schemas.microsoft.com/office/drawing/2014/main" id="{BC884C08-ADDB-4D8A-AEB3-5C5E48CAB725}"/>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C86F616B-7F07-430C-B7BF-2DE25EB872F9}"/>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407E137E-1C11-4FD9-86DD-757801B68E65}"/>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487DFE1B-4F76-4D6D-A5AE-0657CBCF630A}"/>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14359985-9793-4B2B-A7EA-BC079D76826B}"/>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Journey design, consent architecture, data-handover model and delivery to production.</a:t>
            </a:r>
            <a:endParaRPr sz="920"/>
          </a:p>
        </p:txBody>
      </p:sp>
      <p:sp>
        <p:nvSpPr>
          <p:cNvPr id="16" name="Shape 14">
            <a:extLst xmlns:a="http://schemas.openxmlformats.org/drawingml/2006/main">
              <a:ext uri="{FF2B5EF4-FFF2-40B4-BE49-F238E27FC236}">
                <a16:creationId xmlns:a16="http://schemas.microsoft.com/office/drawing/2014/main" id="{C8B095B5-6F18-46EB-A33C-18BCC3B8F23C}"/>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FDE131CF-F59D-4DA9-B331-FAAFC4850974}"/>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Split-consent architecture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Field-level handover with purpose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System-of-record boundary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Servicing-view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Underwriting-as-black-box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204F00E6-7890-467B-9536-9C0A490C8976}"/>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15BE75E1-D6DF-4EE4-B81F-AC78421789EC}"/>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D3199325-1638-4A51-AE29-76B98B4CF139}"/>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DESIGN JUDGEMENT</a:t>
            </a:r>
            <a:endParaRPr sz="740"/>
          </a:p>
        </p:txBody>
      </p:sp>
      <p:sp>
        <p:nvSpPr>
          <p:cNvPr id="21" name="Text 19">
            <a:extLst xmlns:a="http://schemas.openxmlformats.org/drawingml/2006/main">
              <a:ext uri="{FF2B5EF4-FFF2-40B4-BE49-F238E27FC236}">
                <a16:creationId xmlns:a16="http://schemas.microsoft.com/office/drawing/2014/main" id="{EE7765E7-8F55-48F8-9D71-AEC9EB6EC1FB}"/>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Assessed</a:t>
            </a:r>
            <a:endParaRPr sz="1200"/>
          </a:p>
        </p:txBody>
      </p:sp>
      <p:sp>
        <p:nvSpPr>
          <p:cNvPr id="22" name="Text 20">
            <a:extLst xmlns:a="http://schemas.openxmlformats.org/drawingml/2006/main">
              <a:ext uri="{FF2B5EF4-FFF2-40B4-BE49-F238E27FC236}">
                <a16:creationId xmlns:a16="http://schemas.microsoft.com/office/drawing/2014/main" id="{547FB2F3-5E9F-48C3-A8B0-0A1369DEFEC7}"/>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Regulatory considerations summarised at the level needed for design decisions, not as a legal analysis.</a:t>
            </a:r>
            <a:endParaRPr sz="920"/>
          </a:p>
        </p:txBody>
      </p:sp>
      <p:sp>
        <p:nvSpPr>
          <p:cNvPr id="23" name="Shape 21">
            <a:extLst xmlns:a="http://schemas.openxmlformats.org/drawingml/2006/main">
              <a:ext uri="{FF2B5EF4-FFF2-40B4-BE49-F238E27FC236}">
                <a16:creationId xmlns:a16="http://schemas.microsoft.com/office/drawing/2014/main" id="{11CAC026-34A7-40FB-A3F8-AC3DF1E62569}"/>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BEF46942-CC2A-4025-9A06-23568956BBCF}"/>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Design-level obligation summary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Failure modes from practice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legal opinion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regulatory submission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Confirm with counsel before filing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88086F0E-2E52-4C8F-B4ED-40A42ABBC670}"/>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2FA71FDD-35B7-42F8-BE67-9F519A85752B}"/>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3231668A-3406-4E31-AFDD-A9157BA7971F}"/>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7357AB64-2EFF-45AF-9043-28D919D0B885}"/>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5664A555-B86B-4111-9B14-8ACDCDD7C2E6}"/>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particularly anything touching the insurer's own domain.</a:t>
            </a:r>
            <a:endParaRPr sz="920"/>
          </a:p>
        </p:txBody>
      </p:sp>
      <p:sp>
        <p:nvSpPr>
          <p:cNvPr id="30" name="Shape 28">
            <a:extLst xmlns:a="http://schemas.openxmlformats.org/drawingml/2006/main">
              <a:ext uri="{FF2B5EF4-FFF2-40B4-BE49-F238E27FC236}">
                <a16:creationId xmlns:a16="http://schemas.microsoft.com/office/drawing/2014/main" id="{9DE65225-7592-4ECA-9BD0-E4A2AAE38F4A}"/>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28B99170-BF1B-4E00-A41B-261C2623B0E3}"/>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underwriting rule or decision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policy, premium or claims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Either supervisor's actual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group's legal or data agreements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design artefact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Measured conversion outcomes</a:t>
            </a:r>
            <a:endParaRPr sz="930"/>
          </a:p>
        </p:txBody>
      </p:sp>
      <p:sp>
        <p:nvSpPr>
          <p:cNvPr id="32" name="Shape 30">
            <a:extLst xmlns:a="http://schemas.openxmlformats.org/drawingml/2006/main">
              <a:ext uri="{FF2B5EF4-FFF2-40B4-BE49-F238E27FC236}">
                <a16:creationId xmlns:a16="http://schemas.microsoft.com/office/drawing/2014/main" id="{BEE0D827-C3F2-4C0B-967B-63296CA9400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A760E7C6-43EA-4019-892B-E2D1B5B4FDE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author's design analysis (architecture and failure modes)</a:t>
            </a:r>
            <a:endParaRPr sz="850"/>
          </a:p>
        </p:txBody>
      </p:sp>
      <p:sp>
        <p:nvSpPr>
          <p:cNvPr id="34" name="Text 32">
            <a:extLst xmlns:a="http://schemas.openxmlformats.org/drawingml/2006/main">
              <a:ext uri="{FF2B5EF4-FFF2-40B4-BE49-F238E27FC236}">
                <a16:creationId xmlns:a16="http://schemas.microsoft.com/office/drawing/2014/main" id="{592B9836-103E-4D78-B2E4-6F43827C59C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709976360"/>
      </p:ext>
    </p:extLst>
  </p:cSld>
</p:sld>
</file>

<file path=ppt/slides/slide6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8A47451-B0B2-44BE-B711-E3F1B7BE8E7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STRUCTURE</a:t>
            </a:r>
            <a:endParaRPr sz="950"/>
          </a:p>
        </p:txBody>
      </p:sp>
      <p:sp>
        <p:nvSpPr>
          <p:cNvPr id="3" name="Text 1">
            <a:extLst xmlns:a="http://schemas.openxmlformats.org/drawingml/2006/main">
              <a:ext uri="{FF2B5EF4-FFF2-40B4-BE49-F238E27FC236}">
                <a16:creationId xmlns:a16="http://schemas.microsoft.com/office/drawing/2014/main" id="{0B947256-68B4-462E-B0E4-A49B6A11CC2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steps, one boundary — and what crosses it, in which direction, is the entire</a:t>
            </a:r>
            <a:endParaRPr sz="1900"/>
          </a:p>
          <a:p xmlns:a="http://schemas.openxmlformats.org/drawingml/2006/main">
            <a:pPr marL="0" indent="0">
              <a:lnSpc>
                <a:spcPts val="2400"/>
              </a:lnSpc>
              <a:buNone/>
            </a:pPr>
            <a:r>
              <a:rPr sz="1900" b="1">
                <a:solidFill>
                  <a:srgbClr val="102A43"/>
                </a:solidFill>
                <a:latin typeface="Arial"/>
                <a:ea typeface="Arial"/>
                <a:cs typeface="Arial"/>
              </a:rPr>
              <a:t>design question</a:t>
            </a:r>
            <a:endParaRPr sz="1900"/>
          </a:p>
        </p:txBody>
      </p:sp>
      <p:sp>
        <p:nvSpPr>
          <p:cNvPr id="4" name="Shape 2">
            <a:extLst xmlns:a="http://schemas.openxmlformats.org/drawingml/2006/main">
              <a:ext uri="{FF2B5EF4-FFF2-40B4-BE49-F238E27FC236}">
                <a16:creationId xmlns:a16="http://schemas.microsoft.com/office/drawing/2014/main" id="{D0395EAF-B930-49B5-B940-D2343427789B}"/>
              </a:ext>
            </a:extLst>
          </p:cNvPr>
          <p:cNvSpPr>
            <a:spLocks xmlns:a="http://schemas.openxmlformats.org/drawingml/2006/main" noGrp="1"/>
          </p:cNvSpPr>
          <p:nvPr/>
        </p:nvSpPr>
        <p:spPr>
          <a:xfrm xmlns:a="http://schemas.openxmlformats.org/drawingml/2006/main">
            <a:off x="566928" y="1335024"/>
            <a:ext cx="11057839" cy="137160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0A10E5F-E53C-4BD0-B74F-1F9A07477E3B}"/>
              </a:ext>
            </a:extLst>
          </p:cNvPr>
          <p:cNvSpPr>
            <a:spLocks xmlns:a="http://schemas.openxmlformats.org/drawingml/2006/main" noGrp="1"/>
          </p:cNvSpPr>
          <p:nvPr/>
        </p:nvSpPr>
        <p:spPr>
          <a:xfrm xmlns:a="http://schemas.openxmlformats.org/drawingml/2006/main">
            <a:off x="713232" y="1481328"/>
            <a:ext cx="11887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50"/>
              </a:lnSpc>
              <a:buNone/>
            </a:pPr>
            <a:r>
              <a:rPr sz="760" b="1">
                <a:solidFill>
                  <a:srgbClr val="486581"/>
                </a:solidFill>
                <a:latin typeface="Arial"/>
                <a:ea typeface="Arial"/>
                <a:cs typeface="Arial"/>
              </a:rPr>
              <a:t>BANK</a:t>
            </a:r>
            <a:endParaRPr sz="760"/>
          </a:p>
          <a:p xmlns:a="http://schemas.openxmlformats.org/drawingml/2006/main">
            <a:pPr marL="0" indent="0" algn="l">
              <a:lnSpc>
                <a:spcPts val="950"/>
              </a:lnSpc>
              <a:buNone/>
            </a:pPr>
            <a:r>
              <a:rPr sz="760" b="1">
                <a:solidFill>
                  <a:srgbClr val="486581"/>
                </a:solidFill>
                <a:latin typeface="Arial"/>
                <a:ea typeface="Arial"/>
                <a:cs typeface="Arial"/>
              </a:rPr>
              <a:t>ENTITY</a:t>
            </a:r>
            <a:endParaRPr sz="760"/>
          </a:p>
        </p:txBody>
      </p:sp>
      <p:sp>
        <p:nvSpPr>
          <p:cNvPr id="6" name="Text 4">
            <a:extLst xmlns:a="http://schemas.openxmlformats.org/drawingml/2006/main">
              <a:ext uri="{FF2B5EF4-FFF2-40B4-BE49-F238E27FC236}">
                <a16:creationId xmlns:a16="http://schemas.microsoft.com/office/drawing/2014/main" id="{1BE9F544-75FF-440F-96FE-618B7E1DC82C}"/>
              </a:ext>
            </a:extLst>
          </p:cNvPr>
          <p:cNvSpPr>
            <a:spLocks xmlns:a="http://schemas.openxmlformats.org/drawingml/2006/main" noGrp="1"/>
          </p:cNvSpPr>
          <p:nvPr/>
        </p:nvSpPr>
        <p:spPr>
          <a:xfrm xmlns:a="http://schemas.openxmlformats.org/drawingml/2006/main">
            <a:off x="713232" y="2121408"/>
            <a:ext cx="11887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950"/>
              </a:lnSpc>
              <a:buNone/>
            </a:pPr>
            <a:r>
              <a:rPr sz="760" b="1">
                <a:solidFill>
                  <a:srgbClr val="B04A25"/>
                </a:solidFill>
                <a:latin typeface="Arial"/>
                <a:ea typeface="Arial"/>
                <a:cs typeface="Arial"/>
              </a:rPr>
              <a:t>INSURER</a:t>
            </a:r>
            <a:endParaRPr sz="760"/>
          </a:p>
          <a:p xmlns:a="http://schemas.openxmlformats.org/drawingml/2006/main">
            <a:pPr marL="0" indent="0" algn="l">
              <a:lnSpc>
                <a:spcPts val="950"/>
              </a:lnSpc>
              <a:buNone/>
            </a:pPr>
            <a:r>
              <a:rPr sz="760" b="1">
                <a:solidFill>
                  <a:srgbClr val="B04A25"/>
                </a:solidFill>
                <a:latin typeface="Arial"/>
                <a:ea typeface="Arial"/>
                <a:cs typeface="Arial"/>
              </a:rPr>
              <a:t>ENTITY</a:t>
            </a:r>
            <a:endParaRPr sz="760"/>
          </a:p>
        </p:txBody>
      </p:sp>
      <p:sp>
        <p:nvSpPr>
          <p:cNvPr id="7" name="Shape 5">
            <a:extLst xmlns:a="http://schemas.openxmlformats.org/drawingml/2006/main">
              <a:ext uri="{FF2B5EF4-FFF2-40B4-BE49-F238E27FC236}">
                <a16:creationId xmlns:a16="http://schemas.microsoft.com/office/drawing/2014/main" id="{92367545-FD7D-4A1B-98ED-672A0EC281AF}"/>
              </a:ext>
            </a:extLst>
          </p:cNvPr>
          <p:cNvSpPr>
            <a:spLocks xmlns:a="http://schemas.openxmlformats.org/drawingml/2006/main" noGrp="1"/>
          </p:cNvSpPr>
          <p:nvPr/>
        </p:nvSpPr>
        <p:spPr>
          <a:xfrm xmlns:a="http://schemas.openxmlformats.org/drawingml/2006/main">
            <a:off x="2029968" y="1463040"/>
            <a:ext cx="1474165" cy="493776"/>
          </a:xfrm>
          <a:prstGeom xmlns:a="http://schemas.openxmlformats.org/drawingml/2006/main" prst="rect">
            <a:avLst/>
          </a:prstGeom>
          <a:solidFill xmlns:a="http://schemas.openxmlformats.org/drawingml/2006/main">
            <a:srgbClr val="DCE5EE"/>
          </a:solidFill>
        </p:spPr>
      </p:sp>
      <p:sp>
        <p:nvSpPr>
          <p:cNvPr id="8" name="Text 6">
            <a:extLst xmlns:a="http://schemas.openxmlformats.org/drawingml/2006/main">
              <a:ext uri="{FF2B5EF4-FFF2-40B4-BE49-F238E27FC236}">
                <a16:creationId xmlns:a16="http://schemas.microsoft.com/office/drawing/2014/main" id="{4A1D7548-2907-4ACA-AF4E-FD7FACE0073C}"/>
              </a:ext>
            </a:extLst>
          </p:cNvPr>
          <p:cNvSpPr>
            <a:spLocks xmlns:a="http://schemas.openxmlformats.org/drawingml/2006/main" noGrp="1"/>
          </p:cNvSpPr>
          <p:nvPr/>
        </p:nvSpPr>
        <p:spPr>
          <a:xfrm xmlns:a="http://schemas.openxmlformats.org/drawingml/2006/main">
            <a:off x="2084832" y="1618488"/>
            <a:ext cx="136443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20" b="1">
                <a:solidFill>
                  <a:srgbClr val="102A43"/>
                </a:solidFill>
                <a:latin typeface="Arial"/>
                <a:ea typeface="Arial"/>
                <a:cs typeface="Arial"/>
              </a:rPr>
              <a:t>Eligibility</a:t>
            </a:r>
            <a:endParaRPr sz="920"/>
          </a:p>
        </p:txBody>
      </p:sp>
      <p:sp>
        <p:nvSpPr>
          <p:cNvPr id="9" name="Shape 7">
            <a:extLst xmlns:a="http://schemas.openxmlformats.org/drawingml/2006/main">
              <a:ext uri="{FF2B5EF4-FFF2-40B4-BE49-F238E27FC236}">
                <a16:creationId xmlns:a16="http://schemas.microsoft.com/office/drawing/2014/main" id="{57583C35-0591-446F-BC5A-1FC824B1FA31}"/>
              </a:ext>
            </a:extLst>
          </p:cNvPr>
          <p:cNvSpPr>
            <a:spLocks xmlns:a="http://schemas.openxmlformats.org/drawingml/2006/main" noGrp="1"/>
          </p:cNvSpPr>
          <p:nvPr/>
        </p:nvSpPr>
        <p:spPr>
          <a:xfrm xmlns:a="http://schemas.openxmlformats.org/drawingml/2006/main">
            <a:off x="3613861" y="1463040"/>
            <a:ext cx="1474165" cy="493776"/>
          </a:xfrm>
          <a:prstGeom xmlns:a="http://schemas.openxmlformats.org/drawingml/2006/main" prst="rect">
            <a:avLst/>
          </a:prstGeom>
          <a:solidFill xmlns:a="http://schemas.openxmlformats.org/drawingml/2006/main">
            <a:srgbClr val="DCE5EE"/>
          </a:solidFill>
        </p:spPr>
      </p:sp>
      <p:sp>
        <p:nvSpPr>
          <p:cNvPr id="10" name="Text 8">
            <a:extLst xmlns:a="http://schemas.openxmlformats.org/drawingml/2006/main">
              <a:ext uri="{FF2B5EF4-FFF2-40B4-BE49-F238E27FC236}">
                <a16:creationId xmlns:a16="http://schemas.microsoft.com/office/drawing/2014/main" id="{B4EFB9B4-E00F-4C06-AB09-F0ACECC443A9}"/>
              </a:ext>
            </a:extLst>
          </p:cNvPr>
          <p:cNvSpPr>
            <a:spLocks xmlns:a="http://schemas.openxmlformats.org/drawingml/2006/main" noGrp="1"/>
          </p:cNvSpPr>
          <p:nvPr/>
        </p:nvSpPr>
        <p:spPr>
          <a:xfrm xmlns:a="http://schemas.openxmlformats.org/drawingml/2006/main">
            <a:off x="3668725" y="1618488"/>
            <a:ext cx="136443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20" b="1">
                <a:solidFill>
                  <a:srgbClr val="102A43"/>
                </a:solidFill>
                <a:latin typeface="Arial"/>
                <a:ea typeface="Arial"/>
                <a:cs typeface="Arial"/>
              </a:rPr>
              <a:t>Consent capture</a:t>
            </a:r>
            <a:endParaRPr sz="920"/>
          </a:p>
        </p:txBody>
      </p:sp>
      <p:sp>
        <p:nvSpPr>
          <p:cNvPr id="11" name="Shape 9">
            <a:extLst xmlns:a="http://schemas.openxmlformats.org/drawingml/2006/main">
              <a:ext uri="{FF2B5EF4-FFF2-40B4-BE49-F238E27FC236}">
                <a16:creationId xmlns:a16="http://schemas.microsoft.com/office/drawing/2014/main" id="{8B65A871-93E6-4CC8-8E47-C1EA02205317}"/>
              </a:ext>
            </a:extLst>
          </p:cNvPr>
          <p:cNvSpPr>
            <a:spLocks xmlns:a="http://schemas.openxmlformats.org/drawingml/2006/main" noGrp="1"/>
          </p:cNvSpPr>
          <p:nvPr/>
        </p:nvSpPr>
        <p:spPr>
          <a:xfrm xmlns:a="http://schemas.openxmlformats.org/drawingml/2006/main">
            <a:off x="9949434" y="1463040"/>
            <a:ext cx="1474165" cy="493776"/>
          </a:xfrm>
          <a:prstGeom xmlns:a="http://schemas.openxmlformats.org/drawingml/2006/main" prst="rect">
            <a:avLst/>
          </a:prstGeom>
          <a:solidFill xmlns:a="http://schemas.openxmlformats.org/drawingml/2006/main">
            <a:srgbClr val="DCE5EE"/>
          </a:solidFill>
        </p:spPr>
      </p:sp>
      <p:sp>
        <p:nvSpPr>
          <p:cNvPr id="12" name="Text 10">
            <a:extLst xmlns:a="http://schemas.openxmlformats.org/drawingml/2006/main">
              <a:ext uri="{FF2B5EF4-FFF2-40B4-BE49-F238E27FC236}">
                <a16:creationId xmlns:a16="http://schemas.microsoft.com/office/drawing/2014/main" id="{180A195C-566E-4828-9E70-7342AA9A19E6}"/>
              </a:ext>
            </a:extLst>
          </p:cNvPr>
          <p:cNvSpPr>
            <a:spLocks xmlns:a="http://schemas.openxmlformats.org/drawingml/2006/main" noGrp="1"/>
          </p:cNvSpPr>
          <p:nvPr/>
        </p:nvSpPr>
        <p:spPr>
          <a:xfrm xmlns:a="http://schemas.openxmlformats.org/drawingml/2006/main">
            <a:off x="10004298" y="1618488"/>
            <a:ext cx="136443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20" b="1">
                <a:solidFill>
                  <a:srgbClr val="102A43"/>
                </a:solidFill>
                <a:latin typeface="Arial"/>
                <a:ea typeface="Arial"/>
                <a:cs typeface="Arial"/>
              </a:rPr>
              <a:t>Servicing view</a:t>
            </a:r>
            <a:endParaRPr sz="920"/>
          </a:p>
        </p:txBody>
      </p:sp>
      <p:sp>
        <p:nvSpPr>
          <p:cNvPr id="13" name="Shape 11">
            <a:extLst xmlns:a="http://schemas.openxmlformats.org/drawingml/2006/main">
              <a:ext uri="{FF2B5EF4-FFF2-40B4-BE49-F238E27FC236}">
                <a16:creationId xmlns:a16="http://schemas.microsoft.com/office/drawing/2014/main" id="{94D7AB6A-E773-4B7D-BB11-38E5B971452A}"/>
              </a:ext>
            </a:extLst>
          </p:cNvPr>
          <p:cNvSpPr>
            <a:spLocks xmlns:a="http://schemas.openxmlformats.org/drawingml/2006/main" noGrp="1"/>
          </p:cNvSpPr>
          <p:nvPr/>
        </p:nvSpPr>
        <p:spPr>
          <a:xfrm xmlns:a="http://schemas.openxmlformats.org/drawingml/2006/main">
            <a:off x="5197754" y="2084832"/>
            <a:ext cx="1474165" cy="493776"/>
          </a:xfrm>
          <a:prstGeom xmlns:a="http://schemas.openxmlformats.org/drawingml/2006/main" prst="rect">
            <a:avLst/>
          </a:prstGeom>
          <a:solidFill xmlns:a="http://schemas.openxmlformats.org/drawingml/2006/main">
            <a:srgbClr val="EFD9CF"/>
          </a:solidFill>
        </p:spPr>
      </p:sp>
      <p:sp>
        <p:nvSpPr>
          <p:cNvPr id="14" name="Text 12">
            <a:extLst xmlns:a="http://schemas.openxmlformats.org/drawingml/2006/main">
              <a:ext uri="{FF2B5EF4-FFF2-40B4-BE49-F238E27FC236}">
                <a16:creationId xmlns:a16="http://schemas.microsoft.com/office/drawing/2014/main" id="{099E5CE0-A7E0-43DB-A5A1-29BD2EBD64E3}"/>
              </a:ext>
            </a:extLst>
          </p:cNvPr>
          <p:cNvSpPr>
            <a:spLocks xmlns:a="http://schemas.openxmlformats.org/drawingml/2006/main" noGrp="1"/>
          </p:cNvSpPr>
          <p:nvPr/>
        </p:nvSpPr>
        <p:spPr>
          <a:xfrm xmlns:a="http://schemas.openxmlformats.org/drawingml/2006/main">
            <a:off x="5252618" y="2240280"/>
            <a:ext cx="136443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20" b="1">
                <a:solidFill>
                  <a:srgbClr val="B04A25"/>
                </a:solidFill>
                <a:latin typeface="Arial"/>
                <a:ea typeface="Arial"/>
                <a:cs typeface="Arial"/>
              </a:rPr>
              <a:t>Product &amp; pricing</a:t>
            </a:r>
            <a:endParaRPr sz="920"/>
          </a:p>
        </p:txBody>
      </p:sp>
      <p:sp>
        <p:nvSpPr>
          <p:cNvPr id="15" name="Shape 13">
            <a:extLst xmlns:a="http://schemas.openxmlformats.org/drawingml/2006/main">
              <a:ext uri="{FF2B5EF4-FFF2-40B4-BE49-F238E27FC236}">
                <a16:creationId xmlns:a16="http://schemas.microsoft.com/office/drawing/2014/main" id="{16F3E2DE-44CF-4A24-B114-78CC0BD73C22}"/>
              </a:ext>
            </a:extLst>
          </p:cNvPr>
          <p:cNvSpPr>
            <a:spLocks xmlns:a="http://schemas.openxmlformats.org/drawingml/2006/main" noGrp="1"/>
          </p:cNvSpPr>
          <p:nvPr/>
        </p:nvSpPr>
        <p:spPr>
          <a:xfrm xmlns:a="http://schemas.openxmlformats.org/drawingml/2006/main">
            <a:off x="6781648" y="2084832"/>
            <a:ext cx="1474165" cy="493776"/>
          </a:xfrm>
          <a:prstGeom xmlns:a="http://schemas.openxmlformats.org/drawingml/2006/main" prst="rect">
            <a:avLst/>
          </a:prstGeom>
          <a:solidFill xmlns:a="http://schemas.openxmlformats.org/drawingml/2006/main">
            <a:srgbClr val="EFD9CF"/>
          </a:solidFill>
        </p:spPr>
      </p:sp>
      <p:sp>
        <p:nvSpPr>
          <p:cNvPr id="16" name="Text 14">
            <a:extLst xmlns:a="http://schemas.openxmlformats.org/drawingml/2006/main">
              <a:ext uri="{FF2B5EF4-FFF2-40B4-BE49-F238E27FC236}">
                <a16:creationId xmlns:a16="http://schemas.microsoft.com/office/drawing/2014/main" id="{10C61F88-B1BF-4E95-9804-DCA4F44A98E3}"/>
              </a:ext>
            </a:extLst>
          </p:cNvPr>
          <p:cNvSpPr>
            <a:spLocks xmlns:a="http://schemas.openxmlformats.org/drawingml/2006/main" noGrp="1"/>
          </p:cNvSpPr>
          <p:nvPr/>
        </p:nvSpPr>
        <p:spPr>
          <a:xfrm xmlns:a="http://schemas.openxmlformats.org/drawingml/2006/main">
            <a:off x="6836512" y="2240280"/>
            <a:ext cx="136443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20" b="1">
                <a:solidFill>
                  <a:srgbClr val="B04A25"/>
                </a:solidFill>
                <a:latin typeface="Arial"/>
                <a:ea typeface="Arial"/>
                <a:cs typeface="Arial"/>
              </a:rPr>
              <a:t>Underwriting</a:t>
            </a:r>
            <a:endParaRPr sz="920"/>
          </a:p>
        </p:txBody>
      </p:sp>
      <p:sp>
        <p:nvSpPr>
          <p:cNvPr id="17" name="Shape 15">
            <a:extLst xmlns:a="http://schemas.openxmlformats.org/drawingml/2006/main">
              <a:ext uri="{FF2B5EF4-FFF2-40B4-BE49-F238E27FC236}">
                <a16:creationId xmlns:a16="http://schemas.microsoft.com/office/drawing/2014/main" id="{A3FB91DD-A05E-410A-84F1-BFC947E282F2}"/>
              </a:ext>
            </a:extLst>
          </p:cNvPr>
          <p:cNvSpPr>
            <a:spLocks xmlns:a="http://schemas.openxmlformats.org/drawingml/2006/main" noGrp="1"/>
          </p:cNvSpPr>
          <p:nvPr/>
        </p:nvSpPr>
        <p:spPr>
          <a:xfrm xmlns:a="http://schemas.openxmlformats.org/drawingml/2006/main">
            <a:off x="8365541" y="2084832"/>
            <a:ext cx="1474165" cy="493776"/>
          </a:xfrm>
          <a:prstGeom xmlns:a="http://schemas.openxmlformats.org/drawingml/2006/main" prst="rect">
            <a:avLst/>
          </a:prstGeom>
          <a:solidFill xmlns:a="http://schemas.openxmlformats.org/drawingml/2006/main">
            <a:srgbClr val="EFD9CF"/>
          </a:solidFill>
        </p:spPr>
      </p:sp>
      <p:sp>
        <p:nvSpPr>
          <p:cNvPr id="18" name="Text 16">
            <a:extLst xmlns:a="http://schemas.openxmlformats.org/drawingml/2006/main">
              <a:ext uri="{FF2B5EF4-FFF2-40B4-BE49-F238E27FC236}">
                <a16:creationId xmlns:a16="http://schemas.microsoft.com/office/drawing/2014/main" id="{13C55723-9D6A-4944-86F9-A762FE6372CC}"/>
              </a:ext>
            </a:extLst>
          </p:cNvPr>
          <p:cNvSpPr>
            <a:spLocks xmlns:a="http://schemas.openxmlformats.org/drawingml/2006/main" noGrp="1"/>
          </p:cNvSpPr>
          <p:nvPr/>
        </p:nvSpPr>
        <p:spPr>
          <a:xfrm xmlns:a="http://schemas.openxmlformats.org/drawingml/2006/main">
            <a:off x="8420405" y="2240280"/>
            <a:ext cx="1364437"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20" b="1">
                <a:solidFill>
                  <a:srgbClr val="B04A25"/>
                </a:solidFill>
                <a:latin typeface="Arial"/>
                <a:ea typeface="Arial"/>
                <a:cs typeface="Arial"/>
              </a:rPr>
              <a:t>Policy issuance</a:t>
            </a:r>
            <a:endParaRPr sz="920"/>
          </a:p>
        </p:txBody>
      </p:sp>
      <p:sp>
        <p:nvSpPr>
          <p:cNvPr id="19" name="Shape 17">
            <a:extLst xmlns:a="http://schemas.openxmlformats.org/drawingml/2006/main">
              <a:ext uri="{FF2B5EF4-FFF2-40B4-BE49-F238E27FC236}">
                <a16:creationId xmlns:a16="http://schemas.microsoft.com/office/drawing/2014/main" id="{56579352-EC39-46FA-A71B-8F0AC7774D6B}"/>
              </a:ext>
            </a:extLst>
          </p:cNvPr>
          <p:cNvSpPr>
            <a:spLocks xmlns:a="http://schemas.openxmlformats.org/drawingml/2006/main" noGrp="1"/>
          </p:cNvSpPr>
          <p:nvPr/>
        </p:nvSpPr>
        <p:spPr>
          <a:xfrm xmlns:a="http://schemas.openxmlformats.org/drawingml/2006/main">
            <a:off x="5124602" y="1444752"/>
            <a:ext cx="27432" cy="1170432"/>
          </a:xfrm>
          <a:prstGeom xmlns:a="http://schemas.openxmlformats.org/drawingml/2006/main" prst="rect">
            <a:avLst/>
          </a:prstGeom>
          <a:solidFill xmlns:a="http://schemas.openxmlformats.org/drawingml/2006/main">
            <a:srgbClr val="B04A25"/>
          </a:solidFill>
        </p:spPr>
      </p:sp>
      <p:sp>
        <p:nvSpPr>
          <p:cNvPr id="20" name="Shape 18">
            <a:extLst xmlns:a="http://schemas.openxmlformats.org/drawingml/2006/main">
              <a:ext uri="{FF2B5EF4-FFF2-40B4-BE49-F238E27FC236}">
                <a16:creationId xmlns:a16="http://schemas.microsoft.com/office/drawing/2014/main" id="{68849103-FBC6-435E-9120-DDCB6594D965}"/>
              </a:ext>
            </a:extLst>
          </p:cNvPr>
          <p:cNvSpPr>
            <a:spLocks xmlns:a="http://schemas.openxmlformats.org/drawingml/2006/main" noGrp="1"/>
          </p:cNvSpPr>
          <p:nvPr/>
        </p:nvSpPr>
        <p:spPr>
          <a:xfrm xmlns:a="http://schemas.openxmlformats.org/drawingml/2006/main">
            <a:off x="566928" y="2907792"/>
            <a:ext cx="11057839" cy="365760"/>
          </a:xfrm>
          <a:prstGeom xmlns:a="http://schemas.openxmlformats.org/drawingml/2006/main" prst="rect">
            <a:avLst/>
          </a:prstGeom>
          <a:solidFill xmlns:a="http://schemas.openxmlformats.org/drawingml/2006/main">
            <a:srgbClr val="E3EAF2"/>
          </a:solidFill>
        </p:spPr>
      </p:sp>
      <p:sp>
        <p:nvSpPr>
          <p:cNvPr id="21" name="Text 19">
            <a:extLst xmlns:a="http://schemas.openxmlformats.org/drawingml/2006/main">
              <a:ext uri="{FF2B5EF4-FFF2-40B4-BE49-F238E27FC236}">
                <a16:creationId xmlns:a16="http://schemas.microsoft.com/office/drawing/2014/main" id="{649C06D3-8479-481E-876B-FFF89003F9F7}"/>
              </a:ext>
            </a:extLst>
          </p:cNvPr>
          <p:cNvSpPr>
            <a:spLocks xmlns:a="http://schemas.openxmlformats.org/drawingml/2006/main" noGrp="1"/>
          </p:cNvSpPr>
          <p:nvPr/>
        </p:nvSpPr>
        <p:spPr>
          <a:xfrm xmlns:a="http://schemas.openxmlformats.org/drawingml/2006/main">
            <a:off x="676656" y="3017520"/>
            <a:ext cx="24323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crosses</a:t>
            </a:r>
            <a:endParaRPr sz="920"/>
          </a:p>
        </p:txBody>
      </p:sp>
      <p:sp>
        <p:nvSpPr>
          <p:cNvPr id="22" name="Text 20">
            <a:extLst xmlns:a="http://schemas.openxmlformats.org/drawingml/2006/main">
              <a:ext uri="{FF2B5EF4-FFF2-40B4-BE49-F238E27FC236}">
                <a16:creationId xmlns:a16="http://schemas.microsoft.com/office/drawing/2014/main" id="{D806C705-406E-4378-B68F-AD655B3010AB}"/>
              </a:ext>
            </a:extLst>
          </p:cNvPr>
          <p:cNvSpPr>
            <a:spLocks xmlns:a="http://schemas.openxmlformats.org/drawingml/2006/main" noGrp="1"/>
          </p:cNvSpPr>
          <p:nvPr/>
        </p:nvSpPr>
        <p:spPr>
          <a:xfrm xmlns:a="http://schemas.openxmlformats.org/drawingml/2006/main">
            <a:off x="3419856" y="3017520"/>
            <a:ext cx="29809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Direction</a:t>
            </a:r>
            <a:endParaRPr sz="920"/>
          </a:p>
        </p:txBody>
      </p:sp>
      <p:sp>
        <p:nvSpPr>
          <p:cNvPr id="23" name="Text 21">
            <a:extLst xmlns:a="http://schemas.openxmlformats.org/drawingml/2006/main">
              <a:ext uri="{FF2B5EF4-FFF2-40B4-BE49-F238E27FC236}">
                <a16:creationId xmlns:a16="http://schemas.microsoft.com/office/drawing/2014/main" id="{13AE0D6D-BC74-4F85-85FF-02DBCB1665A9}"/>
              </a:ext>
            </a:extLst>
          </p:cNvPr>
          <p:cNvSpPr>
            <a:spLocks xmlns:a="http://schemas.openxmlformats.org/drawingml/2006/main" noGrp="1"/>
          </p:cNvSpPr>
          <p:nvPr/>
        </p:nvSpPr>
        <p:spPr>
          <a:xfrm xmlns:a="http://schemas.openxmlformats.org/drawingml/2006/main">
            <a:off x="6711696" y="3017520"/>
            <a:ext cx="26151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is recorded with it</a:t>
            </a:r>
            <a:endParaRPr sz="920"/>
          </a:p>
        </p:txBody>
      </p:sp>
      <p:sp>
        <p:nvSpPr>
          <p:cNvPr id="24" name="Text 22">
            <a:extLst xmlns:a="http://schemas.openxmlformats.org/drawingml/2006/main">
              <a:ext uri="{FF2B5EF4-FFF2-40B4-BE49-F238E27FC236}">
                <a16:creationId xmlns:a16="http://schemas.microsoft.com/office/drawing/2014/main" id="{2C1B1D3B-CA49-4F6E-A033-6A005A9FB3C4}"/>
              </a:ext>
            </a:extLst>
          </p:cNvPr>
          <p:cNvSpPr>
            <a:spLocks xmlns:a="http://schemas.openxmlformats.org/drawingml/2006/main" noGrp="1"/>
          </p:cNvSpPr>
          <p:nvPr/>
        </p:nvSpPr>
        <p:spPr>
          <a:xfrm xmlns:a="http://schemas.openxmlformats.org/drawingml/2006/main">
            <a:off x="9637776" y="3017520"/>
            <a:ext cx="18745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Owned by</a:t>
            </a:r>
            <a:endParaRPr sz="920"/>
          </a:p>
        </p:txBody>
      </p:sp>
      <p:sp>
        <p:nvSpPr>
          <p:cNvPr id="25" name="Text 23">
            <a:extLst xmlns:a="http://schemas.openxmlformats.org/drawingml/2006/main">
              <a:ext uri="{FF2B5EF4-FFF2-40B4-BE49-F238E27FC236}">
                <a16:creationId xmlns:a16="http://schemas.microsoft.com/office/drawing/2014/main" id="{841B47FA-AE11-475F-BE5A-00EF3C879237}"/>
              </a:ext>
            </a:extLst>
          </p:cNvPr>
          <p:cNvSpPr>
            <a:spLocks xmlns:a="http://schemas.openxmlformats.org/drawingml/2006/main" noGrp="1"/>
          </p:cNvSpPr>
          <p:nvPr/>
        </p:nvSpPr>
        <p:spPr>
          <a:xfrm xmlns:a="http://schemas.openxmlformats.org/drawingml/2006/main">
            <a:off x="676656" y="33649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Eligibility outcome</a:t>
            </a:r>
            <a:endParaRPr sz="960"/>
          </a:p>
        </p:txBody>
      </p:sp>
      <p:sp>
        <p:nvSpPr>
          <p:cNvPr id="26" name="Text 24">
            <a:extLst xmlns:a="http://schemas.openxmlformats.org/drawingml/2006/main">
              <a:ext uri="{FF2B5EF4-FFF2-40B4-BE49-F238E27FC236}">
                <a16:creationId xmlns:a16="http://schemas.microsoft.com/office/drawing/2014/main" id="{6AC93310-9655-44F9-9550-E06CB0DB88FD}"/>
              </a:ext>
            </a:extLst>
          </p:cNvPr>
          <p:cNvSpPr>
            <a:spLocks xmlns:a="http://schemas.openxmlformats.org/drawingml/2006/main" noGrp="1"/>
          </p:cNvSpPr>
          <p:nvPr/>
        </p:nvSpPr>
        <p:spPr>
          <a:xfrm xmlns:a="http://schemas.openxmlformats.org/drawingml/2006/main">
            <a:off x="3419856" y="33649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Stays with the bank — never sent</a:t>
            </a:r>
            <a:endParaRPr sz="920"/>
          </a:p>
        </p:txBody>
      </p:sp>
      <p:sp>
        <p:nvSpPr>
          <p:cNvPr id="27" name="Text 25">
            <a:extLst xmlns:a="http://schemas.openxmlformats.org/drawingml/2006/main">
              <a:ext uri="{FF2B5EF4-FFF2-40B4-BE49-F238E27FC236}">
                <a16:creationId xmlns:a16="http://schemas.microsoft.com/office/drawing/2014/main" id="{9309D4AE-44B0-4594-A0C1-A5EDE95D5FD0}"/>
              </a:ext>
            </a:extLst>
          </p:cNvPr>
          <p:cNvSpPr>
            <a:spLocks xmlns:a="http://schemas.openxmlformats.org/drawingml/2006/main" noGrp="1"/>
          </p:cNvSpPr>
          <p:nvPr/>
        </p:nvSpPr>
        <p:spPr>
          <a:xfrm xmlns:a="http://schemas.openxmlformats.org/drawingml/2006/main">
            <a:off x="6711696" y="336499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Segment logic is bank intellectual property</a:t>
            </a:r>
            <a:endParaRPr sz="920"/>
          </a:p>
        </p:txBody>
      </p:sp>
      <p:sp>
        <p:nvSpPr>
          <p:cNvPr id="28" name="Text 26">
            <a:extLst xmlns:a="http://schemas.openxmlformats.org/drawingml/2006/main">
              <a:ext uri="{FF2B5EF4-FFF2-40B4-BE49-F238E27FC236}">
                <a16:creationId xmlns:a16="http://schemas.microsoft.com/office/drawing/2014/main" id="{3B623A5B-9A7D-4E57-A401-C1206E9EC27D}"/>
              </a:ext>
            </a:extLst>
          </p:cNvPr>
          <p:cNvSpPr>
            <a:spLocks xmlns:a="http://schemas.openxmlformats.org/drawingml/2006/main" noGrp="1"/>
          </p:cNvSpPr>
          <p:nvPr/>
        </p:nvSpPr>
        <p:spPr>
          <a:xfrm xmlns:a="http://schemas.openxmlformats.org/drawingml/2006/main">
            <a:off x="9637776" y="336499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Bank</a:t>
            </a:r>
            <a:endParaRPr sz="930"/>
          </a:p>
        </p:txBody>
      </p:sp>
      <p:sp>
        <p:nvSpPr>
          <p:cNvPr id="29" name="Shape 27">
            <a:extLst xmlns:a="http://schemas.openxmlformats.org/drawingml/2006/main">
              <a:ext uri="{FF2B5EF4-FFF2-40B4-BE49-F238E27FC236}">
                <a16:creationId xmlns:a16="http://schemas.microsoft.com/office/drawing/2014/main" id="{696FEBB9-E2E3-4FD7-A125-E30B8334B4D2}"/>
              </a:ext>
            </a:extLst>
          </p:cNvPr>
          <p:cNvSpPr>
            <a:spLocks xmlns:a="http://schemas.openxmlformats.org/drawingml/2006/main" noGrp="1"/>
          </p:cNvSpPr>
          <p:nvPr/>
        </p:nvSpPr>
        <p:spPr>
          <a:xfrm xmlns:a="http://schemas.openxmlformats.org/drawingml/2006/main">
            <a:off x="566928" y="3730752"/>
            <a:ext cx="11057839" cy="7315"/>
          </a:xfrm>
          <a:prstGeom xmlns:a="http://schemas.openxmlformats.org/drawingml/2006/main" prst="rect">
            <a:avLst/>
          </a:prstGeom>
          <a:solidFill xmlns:a="http://schemas.openxmlformats.org/drawingml/2006/main">
            <a:srgbClr val="CBD5E0"/>
          </a:solidFill>
        </p:spPr>
      </p:sp>
      <p:sp>
        <p:nvSpPr>
          <p:cNvPr id="30" name="Shape 28">
            <a:extLst xmlns:a="http://schemas.openxmlformats.org/drawingml/2006/main">
              <a:ext uri="{FF2B5EF4-FFF2-40B4-BE49-F238E27FC236}">
                <a16:creationId xmlns:a16="http://schemas.microsoft.com/office/drawing/2014/main" id="{65CA7B9E-D7CE-4890-9176-66462C55094F}"/>
              </a:ext>
            </a:extLst>
          </p:cNvPr>
          <p:cNvSpPr>
            <a:spLocks xmlns:a="http://schemas.openxmlformats.org/drawingml/2006/main" noGrp="1"/>
          </p:cNvSpPr>
          <p:nvPr/>
        </p:nvSpPr>
        <p:spPr>
          <a:xfrm xmlns:a="http://schemas.openxmlformats.org/drawingml/2006/main">
            <a:off x="566928" y="3730752"/>
            <a:ext cx="11057839" cy="457200"/>
          </a:xfrm>
          <a:prstGeom xmlns:a="http://schemas.openxmlformats.org/drawingml/2006/main" prst="rect">
            <a:avLst/>
          </a:prstGeom>
          <a:solidFill xmlns:a="http://schemas.openxmlformats.org/drawingml/2006/main">
            <a:srgbClr val="F7F9FB"/>
          </a:solidFill>
        </p:spPr>
      </p:sp>
      <p:sp>
        <p:nvSpPr>
          <p:cNvPr id="31" name="Text 29">
            <a:extLst xmlns:a="http://schemas.openxmlformats.org/drawingml/2006/main">
              <a:ext uri="{FF2B5EF4-FFF2-40B4-BE49-F238E27FC236}">
                <a16:creationId xmlns:a16="http://schemas.microsoft.com/office/drawing/2014/main" id="{AFD8A0A3-6633-49E7-872D-A4AA81B9A4C0}"/>
              </a:ext>
            </a:extLst>
          </p:cNvPr>
          <p:cNvSpPr>
            <a:spLocks xmlns:a="http://schemas.openxmlformats.org/drawingml/2006/main" noGrp="1"/>
          </p:cNvSpPr>
          <p:nvPr/>
        </p:nvSpPr>
        <p:spPr>
          <a:xfrm xmlns:a="http://schemas.openxmlformats.org/drawingml/2006/main">
            <a:off x="676656" y="38221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Customer attributes</a:t>
            </a:r>
            <a:endParaRPr sz="960"/>
          </a:p>
        </p:txBody>
      </p:sp>
      <p:sp>
        <p:nvSpPr>
          <p:cNvPr id="32" name="Text 30">
            <a:extLst xmlns:a="http://schemas.openxmlformats.org/drawingml/2006/main">
              <a:ext uri="{FF2B5EF4-FFF2-40B4-BE49-F238E27FC236}">
                <a16:creationId xmlns:a16="http://schemas.microsoft.com/office/drawing/2014/main" id="{2BCBA10B-D752-46A5-B6A1-15FF565E642F}"/>
              </a:ext>
            </a:extLst>
          </p:cNvPr>
          <p:cNvSpPr>
            <a:spLocks xmlns:a="http://schemas.openxmlformats.org/drawingml/2006/main" noGrp="1"/>
          </p:cNvSpPr>
          <p:nvPr/>
        </p:nvSpPr>
        <p:spPr>
          <a:xfrm xmlns:a="http://schemas.openxmlformats.org/drawingml/2006/main">
            <a:off x="3419856" y="38221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Bank to insurer, field level</a:t>
            </a:r>
            <a:endParaRPr sz="920"/>
          </a:p>
        </p:txBody>
      </p:sp>
      <p:sp>
        <p:nvSpPr>
          <p:cNvPr id="33" name="Text 31">
            <a:extLst xmlns:a="http://schemas.openxmlformats.org/drawingml/2006/main">
              <a:ext uri="{FF2B5EF4-FFF2-40B4-BE49-F238E27FC236}">
                <a16:creationId xmlns:a16="http://schemas.microsoft.com/office/drawing/2014/main" id="{F4483932-623B-49B2-A693-F52808CD248E}"/>
              </a:ext>
            </a:extLst>
          </p:cNvPr>
          <p:cNvSpPr>
            <a:spLocks xmlns:a="http://schemas.openxmlformats.org/drawingml/2006/main" noGrp="1"/>
          </p:cNvSpPr>
          <p:nvPr/>
        </p:nvSpPr>
        <p:spPr>
          <a:xfrm xmlns:a="http://schemas.openxmlformats.org/drawingml/2006/main">
            <a:off x="6711696" y="382219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Purpose recorded per attribute</a:t>
            </a:r>
            <a:endParaRPr sz="920"/>
          </a:p>
        </p:txBody>
      </p:sp>
      <p:sp>
        <p:nvSpPr>
          <p:cNvPr id="34" name="Text 32">
            <a:extLst xmlns:a="http://schemas.openxmlformats.org/drawingml/2006/main">
              <a:ext uri="{FF2B5EF4-FFF2-40B4-BE49-F238E27FC236}">
                <a16:creationId xmlns:a16="http://schemas.microsoft.com/office/drawing/2014/main" id="{2ECAE110-CF62-4BD3-B1C4-00D942DBA5DB}"/>
              </a:ext>
            </a:extLst>
          </p:cNvPr>
          <p:cNvSpPr>
            <a:spLocks xmlns:a="http://schemas.openxmlformats.org/drawingml/2006/main" noGrp="1"/>
          </p:cNvSpPr>
          <p:nvPr/>
        </p:nvSpPr>
        <p:spPr>
          <a:xfrm xmlns:a="http://schemas.openxmlformats.org/drawingml/2006/main">
            <a:off x="9637776" y="382219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Bank, shared</a:t>
            </a:r>
            <a:endParaRPr sz="930"/>
          </a:p>
        </p:txBody>
      </p:sp>
      <p:sp>
        <p:nvSpPr>
          <p:cNvPr id="35" name="Shape 33">
            <a:extLst xmlns:a="http://schemas.openxmlformats.org/drawingml/2006/main">
              <a:ext uri="{FF2B5EF4-FFF2-40B4-BE49-F238E27FC236}">
                <a16:creationId xmlns:a16="http://schemas.microsoft.com/office/drawing/2014/main" id="{6E0F5BDA-815A-4DAB-A568-20244C0B539F}"/>
              </a:ext>
            </a:extLst>
          </p:cNvPr>
          <p:cNvSpPr>
            <a:spLocks xmlns:a="http://schemas.openxmlformats.org/drawingml/2006/main" noGrp="1"/>
          </p:cNvSpPr>
          <p:nvPr/>
        </p:nvSpPr>
        <p:spPr>
          <a:xfrm xmlns:a="http://schemas.openxmlformats.org/drawingml/2006/main">
            <a:off x="566928" y="4187952"/>
            <a:ext cx="11057839" cy="7315"/>
          </a:xfrm>
          <a:prstGeom xmlns:a="http://schemas.openxmlformats.org/drawingml/2006/main" prst="rect">
            <a:avLst/>
          </a:prstGeom>
          <a:solidFill xmlns:a="http://schemas.openxmlformats.org/drawingml/2006/main">
            <a:srgbClr val="CBD5E0"/>
          </a:solidFill>
        </p:spPr>
      </p:sp>
      <p:sp>
        <p:nvSpPr>
          <p:cNvPr id="36" name="Text 34">
            <a:extLst xmlns:a="http://schemas.openxmlformats.org/drawingml/2006/main">
              <a:ext uri="{FF2B5EF4-FFF2-40B4-BE49-F238E27FC236}">
                <a16:creationId xmlns:a16="http://schemas.microsoft.com/office/drawing/2014/main" id="{34BB7AFB-FAE8-4BD7-8D76-EF2ADA1D94B3}"/>
              </a:ext>
            </a:extLst>
          </p:cNvPr>
          <p:cNvSpPr>
            <a:spLocks xmlns:a="http://schemas.openxmlformats.org/drawingml/2006/main" noGrp="1"/>
          </p:cNvSpPr>
          <p:nvPr/>
        </p:nvSpPr>
        <p:spPr>
          <a:xfrm xmlns:a="http://schemas.openxmlformats.org/drawingml/2006/main">
            <a:off x="676656" y="42793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Cover selection</a:t>
            </a:r>
            <a:endParaRPr sz="960"/>
          </a:p>
        </p:txBody>
      </p:sp>
      <p:sp>
        <p:nvSpPr>
          <p:cNvPr id="37" name="Text 35">
            <a:extLst xmlns:a="http://schemas.openxmlformats.org/drawingml/2006/main">
              <a:ext uri="{FF2B5EF4-FFF2-40B4-BE49-F238E27FC236}">
                <a16:creationId xmlns:a16="http://schemas.microsoft.com/office/drawing/2014/main" id="{698C55EA-84FA-405B-AA58-945ED3F13178}"/>
              </a:ext>
            </a:extLst>
          </p:cNvPr>
          <p:cNvSpPr>
            <a:spLocks xmlns:a="http://schemas.openxmlformats.org/drawingml/2006/main" noGrp="1"/>
          </p:cNvSpPr>
          <p:nvPr/>
        </p:nvSpPr>
        <p:spPr>
          <a:xfrm xmlns:a="http://schemas.openxmlformats.org/drawingml/2006/main">
            <a:off x="3419856" y="42793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Insurer catalogue rendered in bank channel</a:t>
            </a:r>
            <a:endParaRPr sz="920"/>
          </a:p>
        </p:txBody>
      </p:sp>
      <p:sp>
        <p:nvSpPr>
          <p:cNvPr id="38" name="Text 36">
            <a:extLst xmlns:a="http://schemas.openxmlformats.org/drawingml/2006/main">
              <a:ext uri="{FF2B5EF4-FFF2-40B4-BE49-F238E27FC236}">
                <a16:creationId xmlns:a16="http://schemas.microsoft.com/office/drawing/2014/main" id="{2215656B-8B58-4E6B-A355-00ACE0877445}"/>
              </a:ext>
            </a:extLst>
          </p:cNvPr>
          <p:cNvSpPr>
            <a:spLocks xmlns:a="http://schemas.openxmlformats.org/drawingml/2006/main" noGrp="1"/>
          </p:cNvSpPr>
          <p:nvPr/>
        </p:nvSpPr>
        <p:spPr>
          <a:xfrm xmlns:a="http://schemas.openxmlformats.org/drawingml/2006/main">
            <a:off x="6711696" y="427939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Product terms remain the insurer's</a:t>
            </a:r>
            <a:endParaRPr sz="920"/>
          </a:p>
        </p:txBody>
      </p:sp>
      <p:sp>
        <p:nvSpPr>
          <p:cNvPr id="39" name="Text 37">
            <a:extLst xmlns:a="http://schemas.openxmlformats.org/drawingml/2006/main">
              <a:ext uri="{FF2B5EF4-FFF2-40B4-BE49-F238E27FC236}">
                <a16:creationId xmlns:a16="http://schemas.microsoft.com/office/drawing/2014/main" id="{684655D2-02F6-41C9-8764-32817C9567DC}"/>
              </a:ext>
            </a:extLst>
          </p:cNvPr>
          <p:cNvSpPr>
            <a:spLocks xmlns:a="http://schemas.openxmlformats.org/drawingml/2006/main" noGrp="1"/>
          </p:cNvSpPr>
          <p:nvPr/>
        </p:nvSpPr>
        <p:spPr>
          <a:xfrm xmlns:a="http://schemas.openxmlformats.org/drawingml/2006/main">
            <a:off x="9637776" y="427939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Insurer</a:t>
            </a:r>
            <a:endParaRPr sz="930"/>
          </a:p>
        </p:txBody>
      </p:sp>
      <p:sp>
        <p:nvSpPr>
          <p:cNvPr id="40" name="Shape 38">
            <a:extLst xmlns:a="http://schemas.openxmlformats.org/drawingml/2006/main">
              <a:ext uri="{FF2B5EF4-FFF2-40B4-BE49-F238E27FC236}">
                <a16:creationId xmlns:a16="http://schemas.microsoft.com/office/drawing/2014/main" id="{8AC1113D-E715-4956-9CC4-ECB13A01EEC3}"/>
              </a:ext>
            </a:extLst>
          </p:cNvPr>
          <p:cNvSpPr>
            <a:spLocks xmlns:a="http://schemas.openxmlformats.org/drawingml/2006/main" noGrp="1"/>
          </p:cNvSpPr>
          <p:nvPr/>
        </p:nvSpPr>
        <p:spPr>
          <a:xfrm xmlns:a="http://schemas.openxmlformats.org/drawingml/2006/main">
            <a:off x="566928" y="4645152"/>
            <a:ext cx="11057839" cy="7315"/>
          </a:xfrm>
          <a:prstGeom xmlns:a="http://schemas.openxmlformats.org/drawingml/2006/main" prst="rect">
            <a:avLst/>
          </a:prstGeom>
          <a:solidFill xmlns:a="http://schemas.openxmlformats.org/drawingml/2006/main">
            <a:srgbClr val="CBD5E0"/>
          </a:solidFill>
        </p:spPr>
      </p:sp>
      <p:sp>
        <p:nvSpPr>
          <p:cNvPr id="41" name="Shape 39">
            <a:extLst xmlns:a="http://schemas.openxmlformats.org/drawingml/2006/main">
              <a:ext uri="{FF2B5EF4-FFF2-40B4-BE49-F238E27FC236}">
                <a16:creationId xmlns:a16="http://schemas.microsoft.com/office/drawing/2014/main" id="{FC8894F5-046F-4284-BDB1-CC6694637491}"/>
              </a:ext>
            </a:extLst>
          </p:cNvPr>
          <p:cNvSpPr>
            <a:spLocks xmlns:a="http://schemas.openxmlformats.org/drawingml/2006/main" noGrp="1"/>
          </p:cNvSpPr>
          <p:nvPr/>
        </p:nvSpPr>
        <p:spPr>
          <a:xfrm xmlns:a="http://schemas.openxmlformats.org/drawingml/2006/main">
            <a:off x="566928" y="4645152"/>
            <a:ext cx="11057839" cy="457200"/>
          </a:xfrm>
          <a:prstGeom xmlns:a="http://schemas.openxmlformats.org/drawingml/2006/main" prst="rect">
            <a:avLst/>
          </a:prstGeom>
          <a:solidFill xmlns:a="http://schemas.openxmlformats.org/drawingml/2006/main">
            <a:srgbClr val="F7F9FB"/>
          </a:solidFill>
        </p:spPr>
      </p:sp>
      <p:sp>
        <p:nvSpPr>
          <p:cNvPr id="42" name="Text 40">
            <a:extLst xmlns:a="http://schemas.openxmlformats.org/drawingml/2006/main">
              <a:ext uri="{FF2B5EF4-FFF2-40B4-BE49-F238E27FC236}">
                <a16:creationId xmlns:a16="http://schemas.microsoft.com/office/drawing/2014/main" id="{D0735739-C82B-4F7D-9DC0-B41F2236EE14}"/>
              </a:ext>
            </a:extLst>
          </p:cNvPr>
          <p:cNvSpPr>
            <a:spLocks xmlns:a="http://schemas.openxmlformats.org/drawingml/2006/main" noGrp="1"/>
          </p:cNvSpPr>
          <p:nvPr/>
        </p:nvSpPr>
        <p:spPr>
          <a:xfrm xmlns:a="http://schemas.openxmlformats.org/drawingml/2006/main">
            <a:off x="676656" y="47365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Underwriting outcome</a:t>
            </a:r>
            <a:endParaRPr sz="960"/>
          </a:p>
        </p:txBody>
      </p:sp>
      <p:sp>
        <p:nvSpPr>
          <p:cNvPr id="43" name="Text 41">
            <a:extLst xmlns:a="http://schemas.openxmlformats.org/drawingml/2006/main">
              <a:ext uri="{FF2B5EF4-FFF2-40B4-BE49-F238E27FC236}">
                <a16:creationId xmlns:a16="http://schemas.microsoft.com/office/drawing/2014/main" id="{E5CC6315-FD1C-4D90-8AD4-6DEF16AEF3A3}"/>
              </a:ext>
            </a:extLst>
          </p:cNvPr>
          <p:cNvSpPr>
            <a:spLocks xmlns:a="http://schemas.openxmlformats.org/drawingml/2006/main" noGrp="1"/>
          </p:cNvSpPr>
          <p:nvPr/>
        </p:nvSpPr>
        <p:spPr>
          <a:xfrm xmlns:a="http://schemas.openxmlformats.org/drawingml/2006/main">
            <a:off x="3419856" y="47365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Insurer to bank, status only</a:t>
            </a:r>
            <a:endParaRPr sz="920"/>
          </a:p>
        </p:txBody>
      </p:sp>
      <p:sp>
        <p:nvSpPr>
          <p:cNvPr id="44" name="Text 42">
            <a:extLst xmlns:a="http://schemas.openxmlformats.org/drawingml/2006/main">
              <a:ext uri="{FF2B5EF4-FFF2-40B4-BE49-F238E27FC236}">
                <a16:creationId xmlns:a16="http://schemas.microsoft.com/office/drawing/2014/main" id="{BF630DC4-3D9A-406D-ABF7-D981970FAAB7}"/>
              </a:ext>
            </a:extLst>
          </p:cNvPr>
          <p:cNvSpPr>
            <a:spLocks xmlns:a="http://schemas.openxmlformats.org/drawingml/2006/main" noGrp="1"/>
          </p:cNvSpPr>
          <p:nvPr/>
        </p:nvSpPr>
        <p:spPr>
          <a:xfrm xmlns:a="http://schemas.openxmlformats.org/drawingml/2006/main">
            <a:off x="6711696" y="473659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No reasoning, no rules, no scores</a:t>
            </a:r>
            <a:endParaRPr sz="920"/>
          </a:p>
        </p:txBody>
      </p:sp>
      <p:sp>
        <p:nvSpPr>
          <p:cNvPr id="45" name="Text 43">
            <a:extLst xmlns:a="http://schemas.openxmlformats.org/drawingml/2006/main">
              <a:ext uri="{FF2B5EF4-FFF2-40B4-BE49-F238E27FC236}">
                <a16:creationId xmlns:a16="http://schemas.microsoft.com/office/drawing/2014/main" id="{6BF6F3DC-AA9F-4B9E-9B92-B0D849F2F929}"/>
              </a:ext>
            </a:extLst>
          </p:cNvPr>
          <p:cNvSpPr>
            <a:spLocks xmlns:a="http://schemas.openxmlformats.org/drawingml/2006/main" noGrp="1"/>
          </p:cNvSpPr>
          <p:nvPr/>
        </p:nvSpPr>
        <p:spPr>
          <a:xfrm xmlns:a="http://schemas.openxmlformats.org/drawingml/2006/main">
            <a:off x="9637776" y="473659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Insurer</a:t>
            </a:r>
            <a:endParaRPr sz="930"/>
          </a:p>
        </p:txBody>
      </p:sp>
      <p:sp>
        <p:nvSpPr>
          <p:cNvPr id="46" name="Shape 44">
            <a:extLst xmlns:a="http://schemas.openxmlformats.org/drawingml/2006/main">
              <a:ext uri="{FF2B5EF4-FFF2-40B4-BE49-F238E27FC236}">
                <a16:creationId xmlns:a16="http://schemas.microsoft.com/office/drawing/2014/main" id="{4D005AFC-0A66-4FA6-8D38-DE0F02C5A2FD}"/>
              </a:ext>
            </a:extLst>
          </p:cNvPr>
          <p:cNvSpPr>
            <a:spLocks xmlns:a="http://schemas.openxmlformats.org/drawingml/2006/main" noGrp="1"/>
          </p:cNvSpPr>
          <p:nvPr/>
        </p:nvSpPr>
        <p:spPr>
          <a:xfrm xmlns:a="http://schemas.openxmlformats.org/drawingml/2006/main">
            <a:off x="566928" y="5102352"/>
            <a:ext cx="11057839" cy="7315"/>
          </a:xfrm>
          <a:prstGeom xmlns:a="http://schemas.openxmlformats.org/drawingml/2006/main" prst="rect">
            <a:avLst/>
          </a:prstGeom>
          <a:solidFill xmlns:a="http://schemas.openxmlformats.org/drawingml/2006/main">
            <a:srgbClr val="CBD5E0"/>
          </a:solidFill>
        </p:spPr>
      </p:sp>
      <p:sp>
        <p:nvSpPr>
          <p:cNvPr id="47" name="Text 45">
            <a:extLst xmlns:a="http://schemas.openxmlformats.org/drawingml/2006/main">
              <a:ext uri="{FF2B5EF4-FFF2-40B4-BE49-F238E27FC236}">
                <a16:creationId xmlns:a16="http://schemas.microsoft.com/office/drawing/2014/main" id="{CE22D07D-2BDE-4656-889B-F928D779BF00}"/>
              </a:ext>
            </a:extLst>
          </p:cNvPr>
          <p:cNvSpPr>
            <a:spLocks xmlns:a="http://schemas.openxmlformats.org/drawingml/2006/main" noGrp="1"/>
          </p:cNvSpPr>
          <p:nvPr/>
        </p:nvSpPr>
        <p:spPr>
          <a:xfrm xmlns:a="http://schemas.openxmlformats.org/drawingml/2006/main">
            <a:off x="676656" y="51937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Policy record</a:t>
            </a:r>
            <a:endParaRPr sz="960"/>
          </a:p>
        </p:txBody>
      </p:sp>
      <p:sp>
        <p:nvSpPr>
          <p:cNvPr id="48" name="Text 46">
            <a:extLst xmlns:a="http://schemas.openxmlformats.org/drawingml/2006/main">
              <a:ext uri="{FF2B5EF4-FFF2-40B4-BE49-F238E27FC236}">
                <a16:creationId xmlns:a16="http://schemas.microsoft.com/office/drawing/2014/main" id="{6B74FC18-3356-4E32-ACE3-847E500414D5}"/>
              </a:ext>
            </a:extLst>
          </p:cNvPr>
          <p:cNvSpPr>
            <a:spLocks xmlns:a="http://schemas.openxmlformats.org/drawingml/2006/main" noGrp="1"/>
          </p:cNvSpPr>
          <p:nvPr/>
        </p:nvSpPr>
        <p:spPr>
          <a:xfrm xmlns:a="http://schemas.openxmlformats.org/drawingml/2006/main">
            <a:off x="3419856" y="51937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Never moves</a:t>
            </a:r>
            <a:endParaRPr sz="920"/>
          </a:p>
        </p:txBody>
      </p:sp>
      <p:sp>
        <p:nvSpPr>
          <p:cNvPr id="49" name="Text 47">
            <a:extLst xmlns:a="http://schemas.openxmlformats.org/drawingml/2006/main">
              <a:ext uri="{FF2B5EF4-FFF2-40B4-BE49-F238E27FC236}">
                <a16:creationId xmlns:a16="http://schemas.microsoft.com/office/drawing/2014/main" id="{57457FAC-3558-4415-BAA5-A12698B5EC43}"/>
              </a:ext>
            </a:extLst>
          </p:cNvPr>
          <p:cNvSpPr>
            <a:spLocks xmlns:a="http://schemas.openxmlformats.org/drawingml/2006/main" noGrp="1"/>
          </p:cNvSpPr>
          <p:nvPr/>
        </p:nvSpPr>
        <p:spPr>
          <a:xfrm xmlns:a="http://schemas.openxmlformats.org/drawingml/2006/main">
            <a:off x="6711696" y="519379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Bank holds a reference and a servicing view</a:t>
            </a:r>
            <a:endParaRPr sz="920"/>
          </a:p>
        </p:txBody>
      </p:sp>
      <p:sp>
        <p:nvSpPr>
          <p:cNvPr id="50" name="Text 48">
            <a:extLst xmlns:a="http://schemas.openxmlformats.org/drawingml/2006/main">
              <a:ext uri="{FF2B5EF4-FFF2-40B4-BE49-F238E27FC236}">
                <a16:creationId xmlns:a16="http://schemas.microsoft.com/office/drawing/2014/main" id="{BFCE2F93-65FB-4524-8015-F44AE34BA3CD}"/>
              </a:ext>
            </a:extLst>
          </p:cNvPr>
          <p:cNvSpPr>
            <a:spLocks xmlns:a="http://schemas.openxmlformats.org/drawingml/2006/main" noGrp="1"/>
          </p:cNvSpPr>
          <p:nvPr/>
        </p:nvSpPr>
        <p:spPr>
          <a:xfrm xmlns:a="http://schemas.openxmlformats.org/drawingml/2006/main">
            <a:off x="9637776" y="519379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Insurer</a:t>
            </a:r>
            <a:endParaRPr sz="930"/>
          </a:p>
        </p:txBody>
      </p:sp>
      <p:sp>
        <p:nvSpPr>
          <p:cNvPr id="51" name="Shape 49">
            <a:extLst xmlns:a="http://schemas.openxmlformats.org/drawingml/2006/main">
              <a:ext uri="{FF2B5EF4-FFF2-40B4-BE49-F238E27FC236}">
                <a16:creationId xmlns:a16="http://schemas.microsoft.com/office/drawing/2014/main" id="{7CF03081-93BB-44BA-BDED-C2A70FFD4D1D}"/>
              </a:ext>
            </a:extLst>
          </p:cNvPr>
          <p:cNvSpPr>
            <a:spLocks xmlns:a="http://schemas.openxmlformats.org/drawingml/2006/main" noGrp="1"/>
          </p:cNvSpPr>
          <p:nvPr/>
        </p:nvSpPr>
        <p:spPr>
          <a:xfrm xmlns:a="http://schemas.openxmlformats.org/drawingml/2006/main">
            <a:off x="566928" y="5559552"/>
            <a:ext cx="11057839" cy="7315"/>
          </a:xfrm>
          <a:prstGeom xmlns:a="http://schemas.openxmlformats.org/drawingml/2006/main" prst="rect">
            <a:avLst/>
          </a:prstGeom>
          <a:solidFill xmlns:a="http://schemas.openxmlformats.org/drawingml/2006/main">
            <a:srgbClr val="CBD5E0"/>
          </a:solidFill>
        </p:spPr>
      </p:sp>
      <p:sp>
        <p:nvSpPr>
          <p:cNvPr id="52" name="Shape 50">
            <a:extLst xmlns:a="http://schemas.openxmlformats.org/drawingml/2006/main">
              <a:ext uri="{FF2B5EF4-FFF2-40B4-BE49-F238E27FC236}">
                <a16:creationId xmlns:a16="http://schemas.microsoft.com/office/drawing/2014/main" id="{1C0B77ED-2F27-455D-A4A8-00C7FF3BF641}"/>
              </a:ext>
            </a:extLst>
          </p:cNvPr>
          <p:cNvSpPr>
            <a:spLocks xmlns:a="http://schemas.openxmlformats.org/drawingml/2006/main" noGrp="1"/>
          </p:cNvSpPr>
          <p:nvPr/>
        </p:nvSpPr>
        <p:spPr>
          <a:xfrm xmlns:a="http://schemas.openxmlformats.org/drawingml/2006/main">
            <a:off x="566928" y="5559552"/>
            <a:ext cx="11057839" cy="457200"/>
          </a:xfrm>
          <a:prstGeom xmlns:a="http://schemas.openxmlformats.org/drawingml/2006/main" prst="rect">
            <a:avLst/>
          </a:prstGeom>
          <a:solidFill xmlns:a="http://schemas.openxmlformats.org/drawingml/2006/main">
            <a:srgbClr val="F7F9FB"/>
          </a:solidFill>
        </p:spPr>
      </p:sp>
      <p:sp>
        <p:nvSpPr>
          <p:cNvPr id="53" name="Text 51">
            <a:extLst xmlns:a="http://schemas.openxmlformats.org/drawingml/2006/main">
              <a:ext uri="{FF2B5EF4-FFF2-40B4-BE49-F238E27FC236}">
                <a16:creationId xmlns:a16="http://schemas.microsoft.com/office/drawing/2014/main" id="{8BF9FA88-9E93-437F-8E02-0CD82AF2F047}"/>
              </a:ext>
            </a:extLst>
          </p:cNvPr>
          <p:cNvSpPr>
            <a:spLocks xmlns:a="http://schemas.openxmlformats.org/drawingml/2006/main" noGrp="1"/>
          </p:cNvSpPr>
          <p:nvPr/>
        </p:nvSpPr>
        <p:spPr>
          <a:xfrm xmlns:a="http://schemas.openxmlformats.org/drawingml/2006/main">
            <a:off x="676656" y="56509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Servicing interactions</a:t>
            </a:r>
            <a:endParaRPr sz="960"/>
          </a:p>
        </p:txBody>
      </p:sp>
      <p:sp>
        <p:nvSpPr>
          <p:cNvPr id="54" name="Text 52">
            <a:extLst xmlns:a="http://schemas.openxmlformats.org/drawingml/2006/main">
              <a:ext uri="{FF2B5EF4-FFF2-40B4-BE49-F238E27FC236}">
                <a16:creationId xmlns:a16="http://schemas.microsoft.com/office/drawing/2014/main" id="{75789268-D1C6-4E9C-B605-5A22E60F975E}"/>
              </a:ext>
            </a:extLst>
          </p:cNvPr>
          <p:cNvSpPr>
            <a:spLocks xmlns:a="http://schemas.openxmlformats.org/drawingml/2006/main" noGrp="1"/>
          </p:cNvSpPr>
          <p:nvPr/>
        </p:nvSpPr>
        <p:spPr>
          <a:xfrm xmlns:a="http://schemas.openxmlformats.org/drawingml/2006/main">
            <a:off x="3419856" y="56509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Bank to insurer as cases</a:t>
            </a:r>
            <a:endParaRPr sz="920"/>
          </a:p>
        </p:txBody>
      </p:sp>
      <p:sp>
        <p:nvSpPr>
          <p:cNvPr id="55" name="Text 53">
            <a:extLst xmlns:a="http://schemas.openxmlformats.org/drawingml/2006/main">
              <a:ext uri="{FF2B5EF4-FFF2-40B4-BE49-F238E27FC236}">
                <a16:creationId xmlns:a16="http://schemas.microsoft.com/office/drawing/2014/main" id="{16512462-D84F-4A44-8EE1-5C93528D38EA}"/>
              </a:ext>
            </a:extLst>
          </p:cNvPr>
          <p:cNvSpPr>
            <a:spLocks xmlns:a="http://schemas.openxmlformats.org/drawingml/2006/main" noGrp="1"/>
          </p:cNvSpPr>
          <p:nvPr/>
        </p:nvSpPr>
        <p:spPr>
          <a:xfrm xmlns:a="http://schemas.openxmlformats.org/drawingml/2006/main">
            <a:off x="6711696" y="565099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Bank retains the interaction, insurer the resolution</a:t>
            </a:r>
            <a:endParaRPr sz="920"/>
          </a:p>
        </p:txBody>
      </p:sp>
      <p:sp>
        <p:nvSpPr>
          <p:cNvPr id="56" name="Text 54">
            <a:extLst xmlns:a="http://schemas.openxmlformats.org/drawingml/2006/main">
              <a:ext uri="{FF2B5EF4-FFF2-40B4-BE49-F238E27FC236}">
                <a16:creationId xmlns:a16="http://schemas.microsoft.com/office/drawing/2014/main" id="{D7FD4697-0FDC-4967-9E2E-F393EA9D6027}"/>
              </a:ext>
            </a:extLst>
          </p:cNvPr>
          <p:cNvSpPr>
            <a:spLocks xmlns:a="http://schemas.openxmlformats.org/drawingml/2006/main" noGrp="1"/>
          </p:cNvSpPr>
          <p:nvPr/>
        </p:nvSpPr>
        <p:spPr>
          <a:xfrm xmlns:a="http://schemas.openxmlformats.org/drawingml/2006/main">
            <a:off x="9637776" y="5650992"/>
            <a:ext cx="18745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Split</a:t>
            </a:r>
            <a:endParaRPr sz="930"/>
          </a:p>
        </p:txBody>
      </p:sp>
      <p:sp>
        <p:nvSpPr>
          <p:cNvPr id="57" name="Shape 55">
            <a:extLst xmlns:a="http://schemas.openxmlformats.org/drawingml/2006/main">
              <a:ext uri="{FF2B5EF4-FFF2-40B4-BE49-F238E27FC236}">
                <a16:creationId xmlns:a16="http://schemas.microsoft.com/office/drawing/2014/main" id="{1C66F008-9FCB-4600-ACBB-7F6D4320E7BD}"/>
              </a:ext>
            </a:extLst>
          </p:cNvPr>
          <p:cNvSpPr>
            <a:spLocks xmlns:a="http://schemas.openxmlformats.org/drawingml/2006/main" noGrp="1"/>
          </p:cNvSpPr>
          <p:nvPr/>
        </p:nvSpPr>
        <p:spPr>
          <a:xfrm xmlns:a="http://schemas.openxmlformats.org/drawingml/2006/main">
            <a:off x="566928" y="6016752"/>
            <a:ext cx="11057839" cy="7315"/>
          </a:xfrm>
          <a:prstGeom xmlns:a="http://schemas.openxmlformats.org/drawingml/2006/main" prst="rect">
            <a:avLst/>
          </a:prstGeom>
          <a:solidFill xmlns:a="http://schemas.openxmlformats.org/drawingml/2006/main">
            <a:srgbClr val="CBD5E0"/>
          </a:solidFill>
        </p:spPr>
      </p:sp>
      <p:sp>
        <p:nvSpPr>
          <p:cNvPr id="58" name="Shape 56">
            <a:extLst xmlns:a="http://schemas.openxmlformats.org/drawingml/2006/main">
              <a:ext uri="{FF2B5EF4-FFF2-40B4-BE49-F238E27FC236}">
                <a16:creationId xmlns:a16="http://schemas.microsoft.com/office/drawing/2014/main" id="{550DA1EA-49E0-4FBC-9C69-421AF1EDDBC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9" name="Text 57">
            <a:extLst xmlns:a="http://schemas.openxmlformats.org/drawingml/2006/main">
              <a:ext uri="{FF2B5EF4-FFF2-40B4-BE49-F238E27FC236}">
                <a16:creationId xmlns:a16="http://schemas.microsoft.com/office/drawing/2014/main" id="{734E9827-7A8C-4A0D-A6D7-D85D1B27A63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 · author's design</a:t>
            </a:r>
            <a:endParaRPr sz="850"/>
          </a:p>
        </p:txBody>
      </p:sp>
      <p:sp>
        <p:nvSpPr>
          <p:cNvPr id="60" name="Text 58">
            <a:extLst xmlns:a="http://schemas.openxmlformats.org/drawingml/2006/main">
              <a:ext uri="{FF2B5EF4-FFF2-40B4-BE49-F238E27FC236}">
                <a16:creationId xmlns:a16="http://schemas.microsoft.com/office/drawing/2014/main" id="{BC0A1DDF-23E9-46D3-8A1F-1501AB9ACCB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61362999"/>
      </p:ext>
    </p:extLst>
  </p:cSld>
</p:sld>
</file>

<file path=ppt/slides/slide7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4594C7-C96B-4729-90AA-5211876864B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CONSENT ARCHITECTURE</a:t>
            </a:r>
            <a:endParaRPr sz="950"/>
          </a:p>
        </p:txBody>
      </p:sp>
      <p:sp>
        <p:nvSpPr>
          <p:cNvPr id="3" name="Text 1">
            <a:extLst xmlns:a="http://schemas.openxmlformats.org/drawingml/2006/main">
              <a:ext uri="{FF2B5EF4-FFF2-40B4-BE49-F238E27FC236}">
                <a16:creationId xmlns:a16="http://schemas.microsoft.com/office/drawing/2014/main" id="{D6DB5AA2-B086-4A85-842A-7B3C77D80F4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Two consents, two purposes, two lifecycles — because one consent cannot evidence</a:t>
            </a:r>
            <a:endParaRPr sz="1900"/>
          </a:p>
          <a:p xmlns:a="http://schemas.openxmlformats.org/drawingml/2006/main">
            <a:pPr marL="0" indent="0">
              <a:lnSpc>
                <a:spcPts val="2400"/>
              </a:lnSpc>
              <a:buNone/>
            </a:pPr>
            <a:r>
              <a:rPr sz="1900" b="1">
                <a:solidFill>
                  <a:srgbClr val="102A43"/>
                </a:solidFill>
                <a:latin typeface="Arial"/>
                <a:ea typeface="Arial"/>
                <a:cs typeface="Arial"/>
              </a:rPr>
              <a:t>two different things to two different supervisors</a:t>
            </a:r>
            <a:endParaRPr sz="1900"/>
          </a:p>
        </p:txBody>
      </p:sp>
      <p:sp>
        <p:nvSpPr>
          <p:cNvPr id="4" name="Shape 2">
            <a:extLst xmlns:a="http://schemas.openxmlformats.org/drawingml/2006/main">
              <a:ext uri="{FF2B5EF4-FFF2-40B4-BE49-F238E27FC236}">
                <a16:creationId xmlns:a16="http://schemas.microsoft.com/office/drawing/2014/main" id="{B02CA29B-7CE7-4EDE-838F-B07BDE463F22}"/>
              </a:ext>
            </a:extLst>
          </p:cNvPr>
          <p:cNvSpPr>
            <a:spLocks xmlns:a="http://schemas.openxmlformats.org/drawingml/2006/main" noGrp="1"/>
          </p:cNvSpPr>
          <p:nvPr/>
        </p:nvSpPr>
        <p:spPr>
          <a:xfrm xmlns:a="http://schemas.openxmlformats.org/drawingml/2006/main">
            <a:off x="566928" y="1335024"/>
            <a:ext cx="5373472" cy="265176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9A4B82D8-4603-488E-A8AB-1172B9476E8F}"/>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CONSENT ONE</a:t>
            </a:r>
            <a:endParaRPr sz="840"/>
          </a:p>
        </p:txBody>
      </p:sp>
      <p:sp>
        <p:nvSpPr>
          <p:cNvPr id="6" name="Text 4">
            <a:extLst xmlns:a="http://schemas.openxmlformats.org/drawingml/2006/main">
              <a:ext uri="{FF2B5EF4-FFF2-40B4-BE49-F238E27FC236}">
                <a16:creationId xmlns:a16="http://schemas.microsoft.com/office/drawing/2014/main" id="{4A88EAAD-C02E-4E38-9011-30F8C78F37B6}"/>
              </a:ext>
            </a:extLst>
          </p:cNvPr>
          <p:cNvSpPr>
            <a:spLocks xmlns:a="http://schemas.openxmlformats.org/drawingml/2006/main" noGrp="1"/>
          </p:cNvSpPr>
          <p:nvPr/>
        </p:nvSpPr>
        <p:spPr>
          <a:xfrm xmlns:a="http://schemas.openxmlformats.org/drawingml/2006/main">
            <a:off x="804672"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Cross-entity data sharing</a:t>
            </a:r>
            <a:endParaRPr sz="1500"/>
          </a:p>
        </p:txBody>
      </p:sp>
      <p:sp>
        <p:nvSpPr>
          <p:cNvPr id="7" name="Text 5">
            <a:extLst xmlns:a="http://schemas.openxmlformats.org/drawingml/2006/main">
              <a:ext uri="{FF2B5EF4-FFF2-40B4-BE49-F238E27FC236}">
                <a16:creationId xmlns:a16="http://schemas.microsoft.com/office/drawing/2014/main" id="{972BBA5F-9841-4CE8-8E92-014CE6C9CB02}"/>
              </a:ext>
            </a:extLst>
          </p:cNvPr>
          <p:cNvSpPr>
            <a:spLocks xmlns:a="http://schemas.openxmlformats.org/drawingml/2006/main" noGrp="1"/>
          </p:cNvSpPr>
          <p:nvPr/>
        </p:nvSpPr>
        <p:spPr>
          <a:xfrm xmlns:a="http://schemas.openxmlformats.org/drawingml/2006/main">
            <a:off x="804672" y="2139696"/>
            <a:ext cx="489798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Purpose: to allow the insurer to assess and, if accepted, issue cover</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Scope: named attributes only, with the purpose recorded against each</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Captured by the bank, evidenced in the bank's consent record</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Revocable — and revocation must be meaningful, which requires knowing what was already shared</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Survives the customer declining the insurance itself</a:t>
            </a:r>
            <a:endParaRPr sz="960"/>
          </a:p>
        </p:txBody>
      </p:sp>
      <p:sp>
        <p:nvSpPr>
          <p:cNvPr id="8" name="Shape 6">
            <a:extLst xmlns:a="http://schemas.openxmlformats.org/drawingml/2006/main">
              <a:ext uri="{FF2B5EF4-FFF2-40B4-BE49-F238E27FC236}">
                <a16:creationId xmlns:a16="http://schemas.microsoft.com/office/drawing/2014/main" id="{98D516DF-D00C-4788-8880-35E60B554A9A}"/>
              </a:ext>
            </a:extLst>
          </p:cNvPr>
          <p:cNvSpPr>
            <a:spLocks xmlns:a="http://schemas.openxmlformats.org/drawingml/2006/main" noGrp="1"/>
          </p:cNvSpPr>
          <p:nvPr/>
        </p:nvSpPr>
        <p:spPr>
          <a:xfrm xmlns:a="http://schemas.openxmlformats.org/drawingml/2006/main">
            <a:off x="6251296" y="1335024"/>
            <a:ext cx="5373472" cy="265176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51657996-8AF8-46E3-A71E-989DBC6DB5E1}"/>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CONSENT TWO</a:t>
            </a:r>
            <a:endParaRPr sz="840"/>
          </a:p>
        </p:txBody>
      </p:sp>
      <p:sp>
        <p:nvSpPr>
          <p:cNvPr id="10" name="Text 8">
            <a:extLst xmlns:a="http://schemas.openxmlformats.org/drawingml/2006/main">
              <a:ext uri="{FF2B5EF4-FFF2-40B4-BE49-F238E27FC236}">
                <a16:creationId xmlns:a16="http://schemas.microsoft.com/office/drawing/2014/main" id="{8A07A749-A7A7-47D3-A697-EFD22413D289}"/>
              </a:ext>
            </a:extLst>
          </p:cNvPr>
          <p:cNvSpPr>
            <a:spLocks xmlns:a="http://schemas.openxmlformats.org/drawingml/2006/main" noGrp="1"/>
          </p:cNvSpPr>
          <p:nvPr/>
        </p:nvSpPr>
        <p:spPr>
          <a:xfrm xmlns:a="http://schemas.openxmlformats.org/drawingml/2006/main">
            <a:off x="6489040"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The insurance contract</a:t>
            </a:r>
            <a:endParaRPr sz="1500"/>
          </a:p>
        </p:txBody>
      </p:sp>
      <p:sp>
        <p:nvSpPr>
          <p:cNvPr id="11" name="Text 9">
            <a:extLst xmlns:a="http://schemas.openxmlformats.org/drawingml/2006/main">
              <a:ext uri="{FF2B5EF4-FFF2-40B4-BE49-F238E27FC236}">
                <a16:creationId xmlns:a16="http://schemas.microsoft.com/office/drawing/2014/main" id="{31039AF5-EF93-4790-ACA4-113917F98349}"/>
              </a:ext>
            </a:extLst>
          </p:cNvPr>
          <p:cNvSpPr>
            <a:spLocks xmlns:a="http://schemas.openxmlformats.org/drawingml/2006/main" noGrp="1"/>
          </p:cNvSpPr>
          <p:nvPr/>
        </p:nvSpPr>
        <p:spPr>
          <a:xfrm xmlns:a="http://schemas.openxmlformats.org/drawingml/2006/main">
            <a:off x="6489040" y="2139696"/>
            <a:ext cx="489798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Purpose: to enter into a contract of insurance with the insurer</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Scope: disclosures, declarations, terms and the premium mandate</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Captured on the insurer's behalf, evidenced in the insurer's record</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Governed by insurance conduct rules, not by data-protection rules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Cannot be given before consent one, because assessment precedes offer</a:t>
            </a:r>
            <a:endParaRPr sz="960"/>
          </a:p>
        </p:txBody>
      </p:sp>
      <p:sp>
        <p:nvSpPr>
          <p:cNvPr id="12" name="Shape 10">
            <a:extLst xmlns:a="http://schemas.openxmlformats.org/drawingml/2006/main">
              <a:ext uri="{FF2B5EF4-FFF2-40B4-BE49-F238E27FC236}">
                <a16:creationId xmlns:a16="http://schemas.microsoft.com/office/drawing/2014/main" id="{B5CF3FE8-2D68-4F96-8333-423E070B3BEA}"/>
              </a:ext>
            </a:extLst>
          </p:cNvPr>
          <p:cNvSpPr>
            <a:spLocks xmlns:a="http://schemas.openxmlformats.org/drawingml/2006/main" noGrp="1"/>
          </p:cNvSpPr>
          <p:nvPr/>
        </p:nvSpPr>
        <p:spPr>
          <a:xfrm xmlns:a="http://schemas.openxmlformats.org/drawingml/2006/main">
            <a:off x="566928" y="4242816"/>
            <a:ext cx="11057839" cy="1828800"/>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6B6081AB-44F6-4CF8-B5A7-4DA532BAEE80}"/>
              </a:ext>
            </a:extLst>
          </p:cNvPr>
          <p:cNvSpPr>
            <a:spLocks xmlns:a="http://schemas.openxmlformats.org/drawingml/2006/main" noGrp="1"/>
          </p:cNvSpPr>
          <p:nvPr/>
        </p:nvSpPr>
        <p:spPr>
          <a:xfrm xmlns:a="http://schemas.openxmlformats.org/drawingml/2006/main">
            <a:off x="804672" y="438912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blanket consent is the design that fails</a:t>
            </a:r>
            <a:endParaRPr sz="1100"/>
          </a:p>
        </p:txBody>
      </p:sp>
      <p:sp>
        <p:nvSpPr>
          <p:cNvPr id="14" name="Text 12">
            <a:extLst xmlns:a="http://schemas.openxmlformats.org/drawingml/2006/main">
              <a:ext uri="{FF2B5EF4-FFF2-40B4-BE49-F238E27FC236}">
                <a16:creationId xmlns:a16="http://schemas.microsoft.com/office/drawing/2014/main" id="{530AC283-AFEB-4114-8C95-7E825616B2CD}"/>
              </a:ext>
            </a:extLst>
          </p:cNvPr>
          <p:cNvSpPr>
            <a:spLocks xmlns:a="http://schemas.openxmlformats.org/drawingml/2006/main" noGrp="1"/>
          </p:cNvSpPr>
          <p:nvPr/>
        </p:nvSpPr>
        <p:spPr>
          <a:xfrm xmlns:a="http://schemas.openxmlformats.org/drawingml/2006/main">
            <a:off x="804672" y="4645152"/>
            <a:ext cx="10582351"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 single acceptance at the start of the journey is quicker to build, produces a cleaner interface, and tests better with customers. It also produces a record that cannot answer either supervisor's question.</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data-protection question is: on what basis was this attribute shared with a separate legal entity, and can the customer withdraw that basis? The conduct question is: did the customer understand and accept the terms of an insurance contract? A blanket consent evidences neither, because it conflates a data-sharing purpose with a contractual acceptance — and a customer who withdraws it has withdrawn something ambiguous.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Splitting it costs perhaps a day of interface design and one additional record. It is the cheapest insurance in the whole journey, and it is the difference between a launched product and a withdrawn one.</a:t>
            </a:r>
            <a:endParaRPr sz="990"/>
          </a:p>
        </p:txBody>
      </p:sp>
      <p:sp>
        <p:nvSpPr>
          <p:cNvPr id="15" name="Shape 13">
            <a:extLst xmlns:a="http://schemas.openxmlformats.org/drawingml/2006/main">
              <a:ext uri="{FF2B5EF4-FFF2-40B4-BE49-F238E27FC236}">
                <a16:creationId xmlns:a16="http://schemas.microsoft.com/office/drawing/2014/main" id="{FBC29171-0948-48DA-B504-2110BBC15E9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6" name="Text 14">
            <a:extLst xmlns:a="http://schemas.openxmlformats.org/drawingml/2006/main">
              <a:ext uri="{FF2B5EF4-FFF2-40B4-BE49-F238E27FC236}">
                <a16:creationId xmlns:a16="http://schemas.microsoft.com/office/drawing/2014/main" id="{67413C51-B815-419F-A4E8-19665EDE86C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 · design analysis, not legal advice</a:t>
            </a:r>
            <a:endParaRPr sz="850"/>
          </a:p>
        </p:txBody>
      </p:sp>
      <p:sp>
        <p:nvSpPr>
          <p:cNvPr id="17" name="Text 15">
            <a:extLst xmlns:a="http://schemas.openxmlformats.org/drawingml/2006/main">
              <a:ext uri="{FF2B5EF4-FFF2-40B4-BE49-F238E27FC236}">
                <a16:creationId xmlns:a16="http://schemas.microsoft.com/office/drawing/2014/main" id="{2A96DAEF-7D2A-4BEF-9225-44C0EC90438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052901933"/>
      </p:ext>
    </p:extLst>
  </p:cSld>
</p:sld>
</file>

<file path=ppt/slides/slide7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197411-4E9B-43B3-8E53-2AEFDEEBB1D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FAILURE MODES</a:t>
            </a:r>
            <a:endParaRPr sz="950"/>
          </a:p>
        </p:txBody>
      </p:sp>
      <p:sp>
        <p:nvSpPr>
          <p:cNvPr id="3" name="Text 1">
            <a:extLst xmlns:a="http://schemas.openxmlformats.org/drawingml/2006/main">
              <a:ext uri="{FF2B5EF4-FFF2-40B4-BE49-F238E27FC236}">
                <a16:creationId xmlns:a16="http://schemas.microsoft.com/office/drawing/2014/main" id="{65339F4D-3FCC-44EC-84F2-2AB8F340B12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ways cross-entity journeys fail — three are designed out cheaply at the start</a:t>
            </a:r>
            <a:endParaRPr sz="1900"/>
          </a:p>
          <a:p xmlns:a="http://schemas.openxmlformats.org/drawingml/2006/main">
            <a:pPr marL="0" indent="0">
              <a:lnSpc>
                <a:spcPts val="2400"/>
              </a:lnSpc>
              <a:buNone/>
            </a:pPr>
            <a:r>
              <a:rPr sz="1900" b="1">
                <a:solidFill>
                  <a:srgbClr val="102A43"/>
                </a:solidFill>
                <a:latin typeface="Arial"/>
                <a:ea typeface="Arial"/>
                <a:cs typeface="Arial"/>
              </a:rPr>
              <a:t>and expensively at any point afterwards</a:t>
            </a:r>
            <a:endParaRPr sz="1900"/>
          </a:p>
        </p:txBody>
      </p:sp>
      <p:sp>
        <p:nvSpPr>
          <p:cNvPr id="4" name="Shape 2">
            <a:extLst xmlns:a="http://schemas.openxmlformats.org/drawingml/2006/main">
              <a:ext uri="{FF2B5EF4-FFF2-40B4-BE49-F238E27FC236}">
                <a16:creationId xmlns:a16="http://schemas.microsoft.com/office/drawing/2014/main" id="{8DAA58C7-5623-4B8C-AFB9-226DD7BE8D7C}"/>
              </a:ext>
            </a:extLst>
          </p:cNvPr>
          <p:cNvSpPr>
            <a:spLocks xmlns:a="http://schemas.openxmlformats.org/drawingml/2006/main" noGrp="1"/>
          </p:cNvSpPr>
          <p:nvPr/>
        </p:nvSpPr>
        <p:spPr>
          <a:xfrm xmlns:a="http://schemas.openxmlformats.org/drawingml/2006/main">
            <a:off x="566928" y="1335024"/>
            <a:ext cx="5327752" cy="192024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31C87AED-6EF2-4FD0-BE18-EC0EED2E41A8}"/>
              </a:ext>
            </a:extLst>
          </p:cNvPr>
          <p:cNvSpPr>
            <a:spLocks xmlns:a="http://schemas.openxmlformats.org/drawingml/2006/main" noGrp="1"/>
          </p:cNvSpPr>
          <p:nvPr/>
        </p:nvSpPr>
        <p:spPr>
          <a:xfrm xmlns:a="http://schemas.openxmlformats.org/drawingml/2006/main">
            <a:off x="786384" y="1481328"/>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01</a:t>
            </a:r>
            <a:endParaRPr sz="1500"/>
          </a:p>
        </p:txBody>
      </p:sp>
      <p:sp>
        <p:nvSpPr>
          <p:cNvPr id="6" name="Text 4">
            <a:extLst xmlns:a="http://schemas.openxmlformats.org/drawingml/2006/main">
              <a:ext uri="{FF2B5EF4-FFF2-40B4-BE49-F238E27FC236}">
                <a16:creationId xmlns:a16="http://schemas.microsoft.com/office/drawing/2014/main" id="{0032FCCF-5F40-416A-8FC5-6A2237ED293B}"/>
              </a:ext>
            </a:extLst>
          </p:cNvPr>
          <p:cNvSpPr>
            <a:spLocks xmlns:a="http://schemas.openxmlformats.org/drawingml/2006/main" noGrp="1"/>
          </p:cNvSpPr>
          <p:nvPr/>
        </p:nvSpPr>
        <p:spPr>
          <a:xfrm xmlns:a="http://schemas.openxmlformats.org/drawingml/2006/main">
            <a:off x="1316736" y="1481328"/>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The blanket consent</a:t>
            </a:r>
            <a:endParaRPr sz="1250"/>
          </a:p>
        </p:txBody>
      </p:sp>
      <p:sp>
        <p:nvSpPr>
          <p:cNvPr id="7" name="Text 5">
            <a:extLst xmlns:a="http://schemas.openxmlformats.org/drawingml/2006/main">
              <a:ext uri="{FF2B5EF4-FFF2-40B4-BE49-F238E27FC236}">
                <a16:creationId xmlns:a16="http://schemas.microsoft.com/office/drawing/2014/main" id="{DF4185D8-0F66-47EC-AB46-3BC0EC35C3CF}"/>
              </a:ext>
            </a:extLst>
          </p:cNvPr>
          <p:cNvSpPr>
            <a:spLocks xmlns:a="http://schemas.openxmlformats.org/drawingml/2006/main" noGrp="1"/>
          </p:cNvSpPr>
          <p:nvPr/>
        </p:nvSpPr>
        <p:spPr>
          <a:xfrm xmlns:a="http://schemas.openxmlformats.org/drawingml/2006/main">
            <a:off x="786384" y="1847088"/>
            <a:ext cx="48888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One acceptance covering data sharing and the contract. Evidences neither cleanly, and revocation is ambiguous.</a:t>
            </a:r>
            <a:endParaRPr sz="940"/>
          </a:p>
        </p:txBody>
      </p:sp>
      <p:sp>
        <p:nvSpPr>
          <p:cNvPr id="8" name="Shape 6">
            <a:extLst xmlns:a="http://schemas.openxmlformats.org/drawingml/2006/main">
              <a:ext uri="{FF2B5EF4-FFF2-40B4-BE49-F238E27FC236}">
                <a16:creationId xmlns:a16="http://schemas.microsoft.com/office/drawing/2014/main" id="{41070103-D50B-4B8C-8F97-3C7A8BA18507}"/>
              </a:ext>
            </a:extLst>
          </p:cNvPr>
          <p:cNvSpPr>
            <a:spLocks xmlns:a="http://schemas.openxmlformats.org/drawingml/2006/main" noGrp="1"/>
          </p:cNvSpPr>
          <p:nvPr/>
        </p:nvSpPr>
        <p:spPr>
          <a:xfrm xmlns:a="http://schemas.openxmlformats.org/drawingml/2006/main">
            <a:off x="786384" y="2578608"/>
            <a:ext cx="4888840" cy="13716"/>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4D50FA20-03FC-484A-8E8F-CBDC7279D224}"/>
              </a:ext>
            </a:extLst>
          </p:cNvPr>
          <p:cNvSpPr>
            <a:spLocks xmlns:a="http://schemas.openxmlformats.org/drawingml/2006/main" noGrp="1"/>
          </p:cNvSpPr>
          <p:nvPr/>
        </p:nvSpPr>
        <p:spPr>
          <a:xfrm xmlns:a="http://schemas.openxmlformats.org/drawingml/2006/main">
            <a:off x="786384" y="268833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10" name="Text 8">
            <a:extLst xmlns:a="http://schemas.openxmlformats.org/drawingml/2006/main">
              <a:ext uri="{FF2B5EF4-FFF2-40B4-BE49-F238E27FC236}">
                <a16:creationId xmlns:a16="http://schemas.microsoft.com/office/drawing/2014/main" id="{412E639E-004A-4158-BEA6-420914A9F549}"/>
              </a:ext>
            </a:extLst>
          </p:cNvPr>
          <p:cNvSpPr>
            <a:spLocks xmlns:a="http://schemas.openxmlformats.org/drawingml/2006/main" noGrp="1"/>
          </p:cNvSpPr>
          <p:nvPr/>
        </p:nvSpPr>
        <p:spPr>
          <a:xfrm xmlns:a="http://schemas.openxmlformats.org/drawingml/2006/main">
            <a:off x="786384" y="2871216"/>
            <a:ext cx="488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B04A25"/>
                </a:solidFill>
                <a:latin typeface="Arial"/>
                <a:ea typeface="Arial"/>
                <a:cs typeface="Arial"/>
              </a:rPr>
              <a:t>Split by purpose, evidence separately, and make each independently revocable.</a:t>
            </a:r>
            <a:endParaRPr sz="930"/>
          </a:p>
        </p:txBody>
      </p:sp>
      <p:sp>
        <p:nvSpPr>
          <p:cNvPr id="11" name="Shape 9">
            <a:extLst xmlns:a="http://schemas.openxmlformats.org/drawingml/2006/main">
              <a:ext uri="{FF2B5EF4-FFF2-40B4-BE49-F238E27FC236}">
                <a16:creationId xmlns:a16="http://schemas.microsoft.com/office/drawing/2014/main" id="{A23D7506-ADF1-46E8-908B-A59D839F0390}"/>
              </a:ext>
            </a:extLst>
          </p:cNvPr>
          <p:cNvSpPr>
            <a:spLocks xmlns:a="http://schemas.openxmlformats.org/drawingml/2006/main" noGrp="1"/>
          </p:cNvSpPr>
          <p:nvPr/>
        </p:nvSpPr>
        <p:spPr>
          <a:xfrm xmlns:a="http://schemas.openxmlformats.org/drawingml/2006/main">
            <a:off x="6297016" y="1335024"/>
            <a:ext cx="5327752" cy="1920240"/>
          </a:xfrm>
          <a:prstGeom xmlns:a="http://schemas.openxmlformats.org/drawingml/2006/main" prst="rect">
            <a:avLst/>
          </a:prstGeom>
          <a:solidFill xmlns:a="http://schemas.openxmlformats.org/drawingml/2006/main">
            <a:srgbClr val="F3E6E0"/>
          </a:solidFill>
        </p:spPr>
      </p:sp>
      <p:sp>
        <p:nvSpPr>
          <p:cNvPr id="12" name="Text 10">
            <a:extLst xmlns:a="http://schemas.openxmlformats.org/drawingml/2006/main">
              <a:ext uri="{FF2B5EF4-FFF2-40B4-BE49-F238E27FC236}">
                <a16:creationId xmlns:a16="http://schemas.microsoft.com/office/drawing/2014/main" id="{17A471B8-8BE8-4218-A33D-467265EAD603}"/>
              </a:ext>
            </a:extLst>
          </p:cNvPr>
          <p:cNvSpPr>
            <a:spLocks xmlns:a="http://schemas.openxmlformats.org/drawingml/2006/main" noGrp="1"/>
          </p:cNvSpPr>
          <p:nvPr/>
        </p:nvSpPr>
        <p:spPr>
          <a:xfrm xmlns:a="http://schemas.openxmlformats.org/drawingml/2006/main">
            <a:off x="6516472" y="1481328"/>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02</a:t>
            </a:r>
            <a:endParaRPr sz="1500"/>
          </a:p>
        </p:txBody>
      </p:sp>
      <p:sp>
        <p:nvSpPr>
          <p:cNvPr id="13" name="Text 11">
            <a:extLst xmlns:a="http://schemas.openxmlformats.org/drawingml/2006/main">
              <a:ext uri="{FF2B5EF4-FFF2-40B4-BE49-F238E27FC236}">
                <a16:creationId xmlns:a16="http://schemas.microsoft.com/office/drawing/2014/main" id="{D59D51C2-39FF-4A13-9C75-F836255B1A8A}"/>
              </a:ext>
            </a:extLst>
          </p:cNvPr>
          <p:cNvSpPr>
            <a:spLocks xmlns:a="http://schemas.openxmlformats.org/drawingml/2006/main" noGrp="1"/>
          </p:cNvSpPr>
          <p:nvPr/>
        </p:nvSpPr>
        <p:spPr>
          <a:xfrm xmlns:a="http://schemas.openxmlformats.org/drawingml/2006/main">
            <a:off x="7046824" y="1481328"/>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Convenient bulk handover</a:t>
            </a:r>
            <a:endParaRPr sz="1250"/>
          </a:p>
        </p:txBody>
      </p:sp>
      <p:sp>
        <p:nvSpPr>
          <p:cNvPr id="14" name="Text 12">
            <a:extLst xmlns:a="http://schemas.openxmlformats.org/drawingml/2006/main">
              <a:ext uri="{FF2B5EF4-FFF2-40B4-BE49-F238E27FC236}">
                <a16:creationId xmlns:a16="http://schemas.microsoft.com/office/drawing/2014/main" id="{DA95113D-31CC-464A-9C70-16F111E356D2}"/>
              </a:ext>
            </a:extLst>
          </p:cNvPr>
          <p:cNvSpPr>
            <a:spLocks xmlns:a="http://schemas.openxmlformats.org/drawingml/2006/main" noGrp="1"/>
          </p:cNvSpPr>
          <p:nvPr/>
        </p:nvSpPr>
        <p:spPr>
          <a:xfrm xmlns:a="http://schemas.openxmlformats.org/drawingml/2006/main">
            <a:off x="6516472" y="1847088"/>
            <a:ext cx="48888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Sending the full customer profile because the interface is easier to build that way, then filtering on the receiving side.</a:t>
            </a:r>
            <a:endParaRPr sz="940"/>
          </a:p>
        </p:txBody>
      </p:sp>
      <p:sp>
        <p:nvSpPr>
          <p:cNvPr id="15" name="Shape 13">
            <a:extLst xmlns:a="http://schemas.openxmlformats.org/drawingml/2006/main">
              <a:ext uri="{FF2B5EF4-FFF2-40B4-BE49-F238E27FC236}">
                <a16:creationId xmlns:a16="http://schemas.microsoft.com/office/drawing/2014/main" id="{8B064623-284F-41FA-B2B3-1B1D94156276}"/>
              </a:ext>
            </a:extLst>
          </p:cNvPr>
          <p:cNvSpPr>
            <a:spLocks xmlns:a="http://schemas.openxmlformats.org/drawingml/2006/main" noGrp="1"/>
          </p:cNvSpPr>
          <p:nvPr/>
        </p:nvSpPr>
        <p:spPr>
          <a:xfrm xmlns:a="http://schemas.openxmlformats.org/drawingml/2006/main">
            <a:off x="6516472" y="2578608"/>
            <a:ext cx="4888840" cy="13716"/>
          </a:xfrm>
          <a:prstGeom xmlns:a="http://schemas.openxmlformats.org/drawingml/2006/main" prst="rect">
            <a:avLst/>
          </a:prstGeom>
          <a:solidFill xmlns:a="http://schemas.openxmlformats.org/drawingml/2006/main">
            <a:srgbClr val="C6D2DE"/>
          </a:solidFill>
        </p:spPr>
      </p:sp>
      <p:sp>
        <p:nvSpPr>
          <p:cNvPr id="16" name="Text 14">
            <a:extLst xmlns:a="http://schemas.openxmlformats.org/drawingml/2006/main">
              <a:ext uri="{FF2B5EF4-FFF2-40B4-BE49-F238E27FC236}">
                <a16:creationId xmlns:a16="http://schemas.microsoft.com/office/drawing/2014/main" id="{2E12878D-5854-4714-8B3D-C5B3B1B8287A}"/>
              </a:ext>
            </a:extLst>
          </p:cNvPr>
          <p:cNvSpPr>
            <a:spLocks xmlns:a="http://schemas.openxmlformats.org/drawingml/2006/main" noGrp="1"/>
          </p:cNvSpPr>
          <p:nvPr/>
        </p:nvSpPr>
        <p:spPr>
          <a:xfrm xmlns:a="http://schemas.openxmlformats.org/drawingml/2006/main">
            <a:off x="6516472" y="268833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17" name="Text 15">
            <a:extLst xmlns:a="http://schemas.openxmlformats.org/drawingml/2006/main">
              <a:ext uri="{FF2B5EF4-FFF2-40B4-BE49-F238E27FC236}">
                <a16:creationId xmlns:a16="http://schemas.microsoft.com/office/drawing/2014/main" id="{57DC7B0C-173D-486E-BE33-07D7A4F15B23}"/>
              </a:ext>
            </a:extLst>
          </p:cNvPr>
          <p:cNvSpPr>
            <a:spLocks xmlns:a="http://schemas.openxmlformats.org/drawingml/2006/main" noGrp="1"/>
          </p:cNvSpPr>
          <p:nvPr/>
        </p:nvSpPr>
        <p:spPr>
          <a:xfrm xmlns:a="http://schemas.openxmlformats.org/drawingml/2006/main">
            <a:off x="6516472" y="2871216"/>
            <a:ext cx="488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B04A25"/>
                </a:solidFill>
                <a:latin typeface="Arial"/>
                <a:ea typeface="Arial"/>
                <a:cs typeface="Arial"/>
              </a:rPr>
              <a:t>Field-level handover with purpose recorded per attribute. Minimum necessary is a design constraint, not a policy aspiration.</a:t>
            </a:r>
            <a:endParaRPr sz="930"/>
          </a:p>
        </p:txBody>
      </p:sp>
      <p:sp>
        <p:nvSpPr>
          <p:cNvPr id="18" name="Shape 16">
            <a:extLst xmlns:a="http://schemas.openxmlformats.org/drawingml/2006/main">
              <a:ext uri="{FF2B5EF4-FFF2-40B4-BE49-F238E27FC236}">
                <a16:creationId xmlns:a16="http://schemas.microsoft.com/office/drawing/2014/main" id="{4652216F-BCFC-4427-AFF7-7192DF7CCCFA}"/>
              </a:ext>
            </a:extLst>
          </p:cNvPr>
          <p:cNvSpPr>
            <a:spLocks xmlns:a="http://schemas.openxmlformats.org/drawingml/2006/main" noGrp="1"/>
          </p:cNvSpPr>
          <p:nvPr/>
        </p:nvSpPr>
        <p:spPr>
          <a:xfrm xmlns:a="http://schemas.openxmlformats.org/drawingml/2006/main">
            <a:off x="566928" y="3438144"/>
            <a:ext cx="5327752" cy="1920240"/>
          </a:xfrm>
          <a:prstGeom xmlns:a="http://schemas.openxmlformats.org/drawingml/2006/main" prst="rect">
            <a:avLst/>
          </a:prstGeom>
          <a:solidFill xmlns:a="http://schemas.openxmlformats.org/drawingml/2006/main">
            <a:srgbClr val="F0F4F8"/>
          </a:solidFill>
        </p:spPr>
      </p:sp>
      <p:sp>
        <p:nvSpPr>
          <p:cNvPr id="19" name="Text 17">
            <a:extLst xmlns:a="http://schemas.openxmlformats.org/drawingml/2006/main">
              <a:ext uri="{FF2B5EF4-FFF2-40B4-BE49-F238E27FC236}">
                <a16:creationId xmlns:a16="http://schemas.microsoft.com/office/drawing/2014/main" id="{7D48BEA6-B1DD-4484-8A98-9E5E2821D762}"/>
              </a:ext>
            </a:extLst>
          </p:cNvPr>
          <p:cNvSpPr>
            <a:spLocks xmlns:a="http://schemas.openxmlformats.org/drawingml/2006/main" noGrp="1"/>
          </p:cNvSpPr>
          <p:nvPr/>
        </p:nvSpPr>
        <p:spPr>
          <a:xfrm xmlns:a="http://schemas.openxmlformats.org/drawingml/2006/main">
            <a:off x="786384" y="3584448"/>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03</a:t>
            </a:r>
            <a:endParaRPr sz="1500"/>
          </a:p>
        </p:txBody>
      </p:sp>
      <p:sp>
        <p:nvSpPr>
          <p:cNvPr id="20" name="Text 18">
            <a:extLst xmlns:a="http://schemas.openxmlformats.org/drawingml/2006/main">
              <a:ext uri="{FF2B5EF4-FFF2-40B4-BE49-F238E27FC236}">
                <a16:creationId xmlns:a16="http://schemas.microsoft.com/office/drawing/2014/main" id="{E1E88646-8DE1-499D-AC0F-F3FD043C29DC}"/>
              </a:ext>
            </a:extLst>
          </p:cNvPr>
          <p:cNvSpPr>
            <a:spLocks xmlns:a="http://schemas.openxmlformats.org/drawingml/2006/main" noGrp="1"/>
          </p:cNvSpPr>
          <p:nvPr/>
        </p:nvSpPr>
        <p:spPr>
          <a:xfrm xmlns:a="http://schemas.openxmlformats.org/drawingml/2006/main">
            <a:off x="1316736" y="3584448"/>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Leaked underwriting logic</a:t>
            </a:r>
            <a:endParaRPr sz="1250"/>
          </a:p>
        </p:txBody>
      </p:sp>
      <p:sp>
        <p:nvSpPr>
          <p:cNvPr id="21" name="Text 19">
            <a:extLst xmlns:a="http://schemas.openxmlformats.org/drawingml/2006/main">
              <a:ext uri="{FF2B5EF4-FFF2-40B4-BE49-F238E27FC236}">
                <a16:creationId xmlns:a16="http://schemas.microsoft.com/office/drawing/2014/main" id="{3907E6C5-C973-4BC4-A36F-07C50F210CEC}"/>
              </a:ext>
            </a:extLst>
          </p:cNvPr>
          <p:cNvSpPr>
            <a:spLocks xmlns:a="http://schemas.openxmlformats.org/drawingml/2006/main" noGrp="1"/>
          </p:cNvSpPr>
          <p:nvPr/>
        </p:nvSpPr>
        <p:spPr>
          <a:xfrm xmlns:a="http://schemas.openxmlformats.org/drawingml/2006/main">
            <a:off x="786384" y="3950208"/>
            <a:ext cx="48888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bank surfaces why a case was declined or rated, usually to help the relationship manager have a better conversation.</a:t>
            </a:r>
            <a:endParaRPr sz="940"/>
          </a:p>
        </p:txBody>
      </p:sp>
      <p:sp>
        <p:nvSpPr>
          <p:cNvPr id="22" name="Shape 20">
            <a:extLst xmlns:a="http://schemas.openxmlformats.org/drawingml/2006/main">
              <a:ext uri="{FF2B5EF4-FFF2-40B4-BE49-F238E27FC236}">
                <a16:creationId xmlns:a16="http://schemas.microsoft.com/office/drawing/2014/main" id="{B31AA578-123E-46AF-BE9E-BAF65306AE45}"/>
              </a:ext>
            </a:extLst>
          </p:cNvPr>
          <p:cNvSpPr>
            <a:spLocks xmlns:a="http://schemas.openxmlformats.org/drawingml/2006/main" noGrp="1"/>
          </p:cNvSpPr>
          <p:nvPr/>
        </p:nvSpPr>
        <p:spPr>
          <a:xfrm xmlns:a="http://schemas.openxmlformats.org/drawingml/2006/main">
            <a:off x="786384" y="4681728"/>
            <a:ext cx="4888840"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18E2065C-DC54-4E38-BDDB-D714547F1B3C}"/>
              </a:ext>
            </a:extLst>
          </p:cNvPr>
          <p:cNvSpPr>
            <a:spLocks xmlns:a="http://schemas.openxmlformats.org/drawingml/2006/main" noGrp="1"/>
          </p:cNvSpPr>
          <p:nvPr/>
        </p:nvSpPr>
        <p:spPr>
          <a:xfrm xmlns:a="http://schemas.openxmlformats.org/drawingml/2006/main">
            <a:off x="786384" y="479145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24" name="Text 22">
            <a:extLst xmlns:a="http://schemas.openxmlformats.org/drawingml/2006/main">
              <a:ext uri="{FF2B5EF4-FFF2-40B4-BE49-F238E27FC236}">
                <a16:creationId xmlns:a16="http://schemas.microsoft.com/office/drawing/2014/main" id="{AE7858EC-E42E-429E-956D-9A22DD2B4728}"/>
              </a:ext>
            </a:extLst>
          </p:cNvPr>
          <p:cNvSpPr>
            <a:spLocks xmlns:a="http://schemas.openxmlformats.org/drawingml/2006/main" noGrp="1"/>
          </p:cNvSpPr>
          <p:nvPr/>
        </p:nvSpPr>
        <p:spPr>
          <a:xfrm xmlns:a="http://schemas.openxmlformats.org/drawingml/2006/main">
            <a:off x="786384" y="4974336"/>
            <a:ext cx="488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Treat underwriting as a black box by design. Show status, never reasoning — the bank is not the entity that made the decision.</a:t>
            </a:r>
            <a:endParaRPr sz="930"/>
          </a:p>
        </p:txBody>
      </p:sp>
      <p:sp>
        <p:nvSpPr>
          <p:cNvPr id="25" name="Shape 23">
            <a:extLst xmlns:a="http://schemas.openxmlformats.org/drawingml/2006/main">
              <a:ext uri="{FF2B5EF4-FFF2-40B4-BE49-F238E27FC236}">
                <a16:creationId xmlns:a16="http://schemas.microsoft.com/office/drawing/2014/main" id="{274BCCFC-3EED-401D-AC1A-F5BE35A4BAAB}"/>
              </a:ext>
            </a:extLst>
          </p:cNvPr>
          <p:cNvSpPr>
            <a:spLocks xmlns:a="http://schemas.openxmlformats.org/drawingml/2006/main" noGrp="1"/>
          </p:cNvSpPr>
          <p:nvPr/>
        </p:nvSpPr>
        <p:spPr>
          <a:xfrm xmlns:a="http://schemas.openxmlformats.org/drawingml/2006/main">
            <a:off x="6297016" y="3438144"/>
            <a:ext cx="5327752" cy="1920240"/>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816B9569-8D94-40BA-A272-546F133063A7}"/>
              </a:ext>
            </a:extLst>
          </p:cNvPr>
          <p:cNvSpPr>
            <a:spLocks xmlns:a="http://schemas.openxmlformats.org/drawingml/2006/main" noGrp="1"/>
          </p:cNvSpPr>
          <p:nvPr/>
        </p:nvSpPr>
        <p:spPr>
          <a:xfrm xmlns:a="http://schemas.openxmlformats.org/drawingml/2006/main">
            <a:off x="6516472" y="3584448"/>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04</a:t>
            </a:r>
            <a:endParaRPr sz="1500"/>
          </a:p>
        </p:txBody>
      </p:sp>
      <p:sp>
        <p:nvSpPr>
          <p:cNvPr id="27" name="Text 25">
            <a:extLst xmlns:a="http://schemas.openxmlformats.org/drawingml/2006/main">
              <a:ext uri="{FF2B5EF4-FFF2-40B4-BE49-F238E27FC236}">
                <a16:creationId xmlns:a16="http://schemas.microsoft.com/office/drawing/2014/main" id="{CA254DA8-6155-43A6-9996-357883962E22}"/>
              </a:ext>
            </a:extLst>
          </p:cNvPr>
          <p:cNvSpPr>
            <a:spLocks xmlns:a="http://schemas.openxmlformats.org/drawingml/2006/main" noGrp="1"/>
          </p:cNvSpPr>
          <p:nvPr/>
        </p:nvSpPr>
        <p:spPr>
          <a:xfrm xmlns:a="http://schemas.openxmlformats.org/drawingml/2006/main">
            <a:off x="7046824" y="3584448"/>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Ambiguous servicing ownership</a:t>
            </a:r>
            <a:endParaRPr sz="1250"/>
          </a:p>
        </p:txBody>
      </p:sp>
      <p:sp>
        <p:nvSpPr>
          <p:cNvPr id="28" name="Text 26">
            <a:extLst xmlns:a="http://schemas.openxmlformats.org/drawingml/2006/main">
              <a:ext uri="{FF2B5EF4-FFF2-40B4-BE49-F238E27FC236}">
                <a16:creationId xmlns:a16="http://schemas.microsoft.com/office/drawing/2014/main" id="{D1223584-29B3-43B8-A9F0-464CCF6DFD40}"/>
              </a:ext>
            </a:extLst>
          </p:cNvPr>
          <p:cNvSpPr>
            <a:spLocks xmlns:a="http://schemas.openxmlformats.org/drawingml/2006/main" noGrp="1"/>
          </p:cNvSpPr>
          <p:nvPr/>
        </p:nvSpPr>
        <p:spPr>
          <a:xfrm xmlns:a="http://schemas.openxmlformats.org/drawingml/2006/main">
            <a:off x="6516472" y="3950208"/>
            <a:ext cx="48888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customer raises a policy question in the bank channel and nobody has decided who answers it, so both do, differently.</a:t>
            </a:r>
            <a:endParaRPr sz="940"/>
          </a:p>
        </p:txBody>
      </p:sp>
      <p:sp>
        <p:nvSpPr>
          <p:cNvPr id="29" name="Shape 27">
            <a:extLst xmlns:a="http://schemas.openxmlformats.org/drawingml/2006/main">
              <a:ext uri="{FF2B5EF4-FFF2-40B4-BE49-F238E27FC236}">
                <a16:creationId xmlns:a16="http://schemas.microsoft.com/office/drawing/2014/main" id="{0F3B9DF5-7E14-4AAB-BD11-EE44FBF42D08}"/>
              </a:ext>
            </a:extLst>
          </p:cNvPr>
          <p:cNvSpPr>
            <a:spLocks xmlns:a="http://schemas.openxmlformats.org/drawingml/2006/main" noGrp="1"/>
          </p:cNvSpPr>
          <p:nvPr/>
        </p:nvSpPr>
        <p:spPr>
          <a:xfrm xmlns:a="http://schemas.openxmlformats.org/drawingml/2006/main">
            <a:off x="6516472" y="4681728"/>
            <a:ext cx="4888840" cy="13716"/>
          </a:xfrm>
          <a:prstGeom xmlns:a="http://schemas.openxmlformats.org/drawingml/2006/main" prst="rect">
            <a:avLst/>
          </a:prstGeom>
          <a:solidFill xmlns:a="http://schemas.openxmlformats.org/drawingml/2006/main">
            <a:srgbClr val="C6D2DE"/>
          </a:solidFill>
        </p:spPr>
      </p:sp>
      <p:sp>
        <p:nvSpPr>
          <p:cNvPr id="30" name="Text 28">
            <a:extLst xmlns:a="http://schemas.openxmlformats.org/drawingml/2006/main">
              <a:ext uri="{FF2B5EF4-FFF2-40B4-BE49-F238E27FC236}">
                <a16:creationId xmlns:a16="http://schemas.microsoft.com/office/drawing/2014/main" id="{C0881C53-8404-4CDA-BE56-8DF3BFAAE2C3}"/>
              </a:ext>
            </a:extLst>
          </p:cNvPr>
          <p:cNvSpPr>
            <a:spLocks xmlns:a="http://schemas.openxmlformats.org/drawingml/2006/main" noGrp="1"/>
          </p:cNvSpPr>
          <p:nvPr/>
        </p:nvSpPr>
        <p:spPr>
          <a:xfrm xmlns:a="http://schemas.openxmlformats.org/drawingml/2006/main">
            <a:off x="6516472" y="479145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31" name="Text 29">
            <a:extLst xmlns:a="http://schemas.openxmlformats.org/drawingml/2006/main">
              <a:ext uri="{FF2B5EF4-FFF2-40B4-BE49-F238E27FC236}">
                <a16:creationId xmlns:a16="http://schemas.microsoft.com/office/drawing/2014/main" id="{D851F10B-56B3-44DF-B863-808ED06D9DE6}"/>
              </a:ext>
            </a:extLst>
          </p:cNvPr>
          <p:cNvSpPr>
            <a:spLocks xmlns:a="http://schemas.openxmlformats.org/drawingml/2006/main" noGrp="1"/>
          </p:cNvSpPr>
          <p:nvPr/>
        </p:nvSpPr>
        <p:spPr>
          <a:xfrm xmlns:a="http://schemas.openxmlformats.org/drawingml/2006/main">
            <a:off x="6516472" y="4974336"/>
            <a:ext cx="4888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Bank owns the interaction and its record; insurer owns the resolution and the policy. Routing is explicit, not implied.</a:t>
            </a:r>
            <a:endParaRPr sz="930"/>
          </a:p>
        </p:txBody>
      </p:sp>
      <p:sp>
        <p:nvSpPr>
          <p:cNvPr id="32" name="Shape 30">
            <a:extLst xmlns:a="http://schemas.openxmlformats.org/drawingml/2006/main">
              <a:ext uri="{FF2B5EF4-FFF2-40B4-BE49-F238E27FC236}">
                <a16:creationId xmlns:a16="http://schemas.microsoft.com/office/drawing/2014/main" id="{69E8F434-1121-403E-8E50-F49A6C2B999F}"/>
              </a:ext>
            </a:extLst>
          </p:cNvPr>
          <p:cNvSpPr>
            <a:spLocks xmlns:a="http://schemas.openxmlformats.org/drawingml/2006/main" noGrp="1"/>
          </p:cNvSpPr>
          <p:nvPr/>
        </p:nvSpPr>
        <p:spPr>
          <a:xfrm xmlns:a="http://schemas.openxmlformats.org/drawingml/2006/main">
            <a:off x="566928" y="5596128"/>
            <a:ext cx="11057839" cy="475488"/>
          </a:xfrm>
          <a:prstGeom xmlns:a="http://schemas.openxmlformats.org/drawingml/2006/main" prst="rect">
            <a:avLst/>
          </a:prstGeom>
          <a:solidFill xmlns:a="http://schemas.openxmlformats.org/drawingml/2006/main">
            <a:srgbClr val="102A43"/>
          </a:solidFill>
        </p:spPr>
      </p:sp>
      <p:sp>
        <p:nvSpPr>
          <p:cNvPr id="33" name="Text 31">
            <a:extLst xmlns:a="http://schemas.openxmlformats.org/drawingml/2006/main">
              <a:ext uri="{FF2B5EF4-FFF2-40B4-BE49-F238E27FC236}">
                <a16:creationId xmlns:a16="http://schemas.microsoft.com/office/drawing/2014/main" id="{7467E790-F587-41DB-A506-AE2780D39B52}"/>
              </a:ext>
            </a:extLst>
          </p:cNvPr>
          <p:cNvSpPr>
            <a:spLocks xmlns:a="http://schemas.openxmlformats.org/drawingml/2006/main" noGrp="1"/>
          </p:cNvSpPr>
          <p:nvPr/>
        </p:nvSpPr>
        <p:spPr>
          <a:xfrm xmlns:a="http://schemas.openxmlformats.org/drawingml/2006/main">
            <a:off x="804672" y="5779008"/>
            <a:ext cx="10582351"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The third is the one that gets argued hardest internally, because explaining a decline genuinely helps the conversation — and it is the one that is not the bank's to explain.</a:t>
            </a:r>
            <a:endParaRPr sz="990"/>
          </a:p>
        </p:txBody>
      </p:sp>
      <p:sp>
        <p:nvSpPr>
          <p:cNvPr id="34" name="Shape 32">
            <a:extLst xmlns:a="http://schemas.openxmlformats.org/drawingml/2006/main">
              <a:ext uri="{FF2B5EF4-FFF2-40B4-BE49-F238E27FC236}">
                <a16:creationId xmlns:a16="http://schemas.microsoft.com/office/drawing/2014/main" id="{94774C34-CB8A-481B-9654-C045C5498F1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5" name="Text 33">
            <a:extLst xmlns:a="http://schemas.openxmlformats.org/drawingml/2006/main">
              <a:ext uri="{FF2B5EF4-FFF2-40B4-BE49-F238E27FC236}">
                <a16:creationId xmlns:a16="http://schemas.microsoft.com/office/drawing/2014/main" id="{6364A4BE-F6D7-4CA9-B76F-7D3837A75E1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36" name="Text 34">
            <a:extLst xmlns:a="http://schemas.openxmlformats.org/drawingml/2006/main">
              <a:ext uri="{FF2B5EF4-FFF2-40B4-BE49-F238E27FC236}">
                <a16:creationId xmlns:a16="http://schemas.microsoft.com/office/drawing/2014/main" id="{633AEAF6-2DD7-4720-B84E-AA16480A1E2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937876892"/>
      </p:ext>
    </p:extLst>
  </p:cSld>
</p:sld>
</file>

<file path=ppt/slides/slide7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8574D42-B008-417A-AB8A-11B2A3815D1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AFTER ISSUANCE</a:t>
            </a:r>
            <a:endParaRPr sz="950"/>
          </a:p>
        </p:txBody>
      </p:sp>
      <p:sp>
        <p:nvSpPr>
          <p:cNvPr id="3" name="Text 1">
            <a:extLst xmlns:a="http://schemas.openxmlformats.org/drawingml/2006/main">
              <a:ext uri="{FF2B5EF4-FFF2-40B4-BE49-F238E27FC236}">
                <a16:creationId xmlns:a16="http://schemas.microsoft.com/office/drawing/2014/main" id="{8FF971EA-D04D-49AE-8E0D-DAF3FB91FE4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servicing view is where the boundary is tested daily — the customer does not</a:t>
            </a:r>
            <a:endParaRPr sz="1900"/>
          </a:p>
          <a:p xmlns:a="http://schemas.openxmlformats.org/drawingml/2006/main">
            <a:pPr marL="0" indent="0">
              <a:lnSpc>
                <a:spcPts val="2400"/>
              </a:lnSpc>
              <a:buNone/>
            </a:pPr>
            <a:r>
              <a:rPr sz="1900" b="1">
                <a:solidFill>
                  <a:srgbClr val="102A43"/>
                </a:solidFill>
                <a:latin typeface="Arial"/>
                <a:ea typeface="Arial"/>
                <a:cs typeface="Arial"/>
              </a:rPr>
              <a:t>know which entity they are talking to, and should not have to</a:t>
            </a:r>
            <a:endParaRPr sz="1900"/>
          </a:p>
        </p:txBody>
      </p:sp>
      <p:sp>
        <p:nvSpPr>
          <p:cNvPr id="4" name="Shape 2">
            <a:extLst xmlns:a="http://schemas.openxmlformats.org/drawingml/2006/main">
              <a:ext uri="{FF2B5EF4-FFF2-40B4-BE49-F238E27FC236}">
                <a16:creationId xmlns:a16="http://schemas.microsoft.com/office/drawing/2014/main" id="{DB73A6CD-8D1B-4AC6-9970-17B5F0A3BBF0}"/>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B739133C-6210-4F91-ADD8-F5E0536FE369}"/>
              </a:ext>
            </a:extLst>
          </p:cNvPr>
          <p:cNvSpPr>
            <a:spLocks xmlns:a="http://schemas.openxmlformats.org/drawingml/2006/main" noGrp="1"/>
          </p:cNvSpPr>
          <p:nvPr/>
        </p:nvSpPr>
        <p:spPr>
          <a:xfrm xmlns:a="http://schemas.openxmlformats.org/drawingml/2006/main">
            <a:off x="676656" y="1444752"/>
            <a:ext cx="2798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Customer asks</a:t>
            </a:r>
            <a:endParaRPr sz="920"/>
          </a:p>
        </p:txBody>
      </p:sp>
      <p:sp>
        <p:nvSpPr>
          <p:cNvPr id="6" name="Text 4">
            <a:extLst xmlns:a="http://schemas.openxmlformats.org/drawingml/2006/main">
              <a:ext uri="{FF2B5EF4-FFF2-40B4-BE49-F238E27FC236}">
                <a16:creationId xmlns:a16="http://schemas.microsoft.com/office/drawing/2014/main" id="{84171EA7-8245-442B-9DD1-AC0C42251A26}"/>
              </a:ext>
            </a:extLst>
          </p:cNvPr>
          <p:cNvSpPr>
            <a:spLocks xmlns:a="http://schemas.openxmlformats.org/drawingml/2006/main" noGrp="1"/>
          </p:cNvSpPr>
          <p:nvPr/>
        </p:nvSpPr>
        <p:spPr>
          <a:xfrm xmlns:a="http://schemas.openxmlformats.org/drawingml/2006/main">
            <a:off x="3785616" y="1444752"/>
            <a:ext cx="29809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Who can answer</a:t>
            </a:r>
            <a:endParaRPr sz="920"/>
          </a:p>
        </p:txBody>
      </p:sp>
      <p:sp>
        <p:nvSpPr>
          <p:cNvPr id="7" name="Text 5">
            <a:extLst xmlns:a="http://schemas.openxmlformats.org/drawingml/2006/main">
              <a:ext uri="{FF2B5EF4-FFF2-40B4-BE49-F238E27FC236}">
                <a16:creationId xmlns:a16="http://schemas.microsoft.com/office/drawing/2014/main" id="{82FCAE29-7BA2-4355-B82F-748F1C0967BE}"/>
              </a:ext>
            </a:extLst>
          </p:cNvPr>
          <p:cNvSpPr>
            <a:spLocks xmlns:a="http://schemas.openxmlformats.org/drawingml/2006/main" noGrp="1"/>
          </p:cNvSpPr>
          <p:nvPr/>
        </p:nvSpPr>
        <p:spPr>
          <a:xfrm xmlns:a="http://schemas.openxmlformats.org/drawingml/2006/main">
            <a:off x="707745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How it is handled</a:t>
            </a:r>
            <a:endParaRPr sz="920"/>
          </a:p>
        </p:txBody>
      </p:sp>
      <p:sp>
        <p:nvSpPr>
          <p:cNvPr id="8" name="Text 6">
            <a:extLst xmlns:a="http://schemas.openxmlformats.org/drawingml/2006/main">
              <a:ext uri="{FF2B5EF4-FFF2-40B4-BE49-F238E27FC236}">
                <a16:creationId xmlns:a16="http://schemas.microsoft.com/office/drawing/2014/main" id="{C62C207F-1A5A-4E76-88E7-79B950674477}"/>
              </a:ext>
            </a:extLst>
          </p:cNvPr>
          <p:cNvSpPr>
            <a:spLocks xmlns:a="http://schemas.openxmlformats.org/drawingml/2006/main" noGrp="1"/>
          </p:cNvSpPr>
          <p:nvPr/>
        </p:nvSpPr>
        <p:spPr>
          <a:xfrm xmlns:a="http://schemas.openxmlformats.org/drawingml/2006/main">
            <a:off x="10094976" y="1444752"/>
            <a:ext cx="14173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Resolved by</a:t>
            </a:r>
            <a:endParaRPr sz="920"/>
          </a:p>
        </p:txBody>
      </p:sp>
      <p:sp>
        <p:nvSpPr>
          <p:cNvPr id="9" name="Text 7">
            <a:extLst xmlns:a="http://schemas.openxmlformats.org/drawingml/2006/main">
              <a:ext uri="{FF2B5EF4-FFF2-40B4-BE49-F238E27FC236}">
                <a16:creationId xmlns:a16="http://schemas.microsoft.com/office/drawing/2014/main" id="{AC98CC04-C46C-45E5-875A-A6E238364BDF}"/>
              </a:ext>
            </a:extLst>
          </p:cNvPr>
          <p:cNvSpPr>
            <a:spLocks xmlns:a="http://schemas.openxmlformats.org/drawingml/2006/main" noGrp="1"/>
          </p:cNvSpPr>
          <p:nvPr/>
        </p:nvSpPr>
        <p:spPr>
          <a:xfrm xmlns:a="http://schemas.openxmlformats.org/drawingml/2006/main">
            <a:off x="676656" y="1783080"/>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What cover do I have?</a:t>
            </a:r>
            <a:endParaRPr sz="970"/>
          </a:p>
        </p:txBody>
      </p:sp>
      <p:sp>
        <p:nvSpPr>
          <p:cNvPr id="10" name="Text 8">
            <a:extLst xmlns:a="http://schemas.openxmlformats.org/drawingml/2006/main">
              <a:ext uri="{FF2B5EF4-FFF2-40B4-BE49-F238E27FC236}">
                <a16:creationId xmlns:a16="http://schemas.microsoft.com/office/drawing/2014/main" id="{30D18E8F-861A-4520-8654-6E17185FA3CF}"/>
              </a:ext>
            </a:extLst>
          </p:cNvPr>
          <p:cNvSpPr>
            <a:spLocks xmlns:a="http://schemas.openxmlformats.org/drawingml/2006/main" noGrp="1"/>
          </p:cNvSpPr>
          <p:nvPr/>
        </p:nvSpPr>
        <p:spPr>
          <a:xfrm xmlns:a="http://schemas.openxmlformats.org/drawingml/2006/main">
            <a:off x="3785616" y="1783080"/>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Either — the bank holds a servicing view</a:t>
            </a:r>
            <a:endParaRPr sz="920"/>
          </a:p>
        </p:txBody>
      </p:sp>
      <p:sp>
        <p:nvSpPr>
          <p:cNvPr id="11" name="Text 9">
            <a:extLst xmlns:a="http://schemas.openxmlformats.org/drawingml/2006/main">
              <a:ext uri="{FF2B5EF4-FFF2-40B4-BE49-F238E27FC236}">
                <a16:creationId xmlns:a16="http://schemas.microsoft.com/office/drawing/2014/main" id="{A4B3EF47-9901-4981-9687-450D202D92DC}"/>
              </a:ext>
            </a:extLst>
          </p:cNvPr>
          <p:cNvSpPr>
            <a:spLocks xmlns:a="http://schemas.openxmlformats.org/drawingml/2006/main" noGrp="1"/>
          </p:cNvSpPr>
          <p:nvPr/>
        </p:nvSpPr>
        <p:spPr>
          <a:xfrm xmlns:a="http://schemas.openxmlformats.org/drawingml/2006/main">
            <a:off x="7077456" y="1783080"/>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Answered in channel from the reference view</a:t>
            </a:r>
            <a:endParaRPr sz="920"/>
          </a:p>
        </p:txBody>
      </p:sp>
      <p:sp>
        <p:nvSpPr>
          <p:cNvPr id="12" name="Text 10">
            <a:extLst xmlns:a="http://schemas.openxmlformats.org/drawingml/2006/main">
              <a:ext uri="{FF2B5EF4-FFF2-40B4-BE49-F238E27FC236}">
                <a16:creationId xmlns:a16="http://schemas.microsoft.com/office/drawing/2014/main" id="{95082B20-003B-4147-B625-69371D447E75}"/>
              </a:ext>
            </a:extLst>
          </p:cNvPr>
          <p:cNvSpPr>
            <a:spLocks xmlns:a="http://schemas.openxmlformats.org/drawingml/2006/main" noGrp="1"/>
          </p:cNvSpPr>
          <p:nvPr/>
        </p:nvSpPr>
        <p:spPr>
          <a:xfrm xmlns:a="http://schemas.openxmlformats.org/drawingml/2006/main">
            <a:off x="10094976" y="1783080"/>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Bank</a:t>
            </a:r>
            <a:endParaRPr sz="930"/>
          </a:p>
        </p:txBody>
      </p:sp>
      <p:sp>
        <p:nvSpPr>
          <p:cNvPr id="13" name="Shape 11">
            <a:extLst xmlns:a="http://schemas.openxmlformats.org/drawingml/2006/main">
              <a:ext uri="{FF2B5EF4-FFF2-40B4-BE49-F238E27FC236}">
                <a16:creationId xmlns:a16="http://schemas.microsoft.com/office/drawing/2014/main" id="{193F6813-04C6-43AB-ADA2-C861A1D66B7D}"/>
              </a:ext>
            </a:extLst>
          </p:cNvPr>
          <p:cNvSpPr>
            <a:spLocks xmlns:a="http://schemas.openxmlformats.org/drawingml/2006/main" noGrp="1"/>
          </p:cNvSpPr>
          <p:nvPr/>
        </p:nvSpPr>
        <p:spPr>
          <a:xfrm xmlns:a="http://schemas.openxmlformats.org/drawingml/2006/main">
            <a:off x="566928" y="2139696"/>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D9AF021F-AFDB-40E3-9FAB-D1D6F04C0183}"/>
              </a:ext>
            </a:extLst>
          </p:cNvPr>
          <p:cNvSpPr>
            <a:spLocks xmlns:a="http://schemas.openxmlformats.org/drawingml/2006/main" noGrp="1"/>
          </p:cNvSpPr>
          <p:nvPr/>
        </p:nvSpPr>
        <p:spPr>
          <a:xfrm xmlns:a="http://schemas.openxmlformats.org/drawingml/2006/main">
            <a:off x="566928" y="2139696"/>
            <a:ext cx="11057839" cy="438912"/>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AB721FEE-7AF6-4969-A456-718D9A23F4C0}"/>
              </a:ext>
            </a:extLst>
          </p:cNvPr>
          <p:cNvSpPr>
            <a:spLocks xmlns:a="http://schemas.openxmlformats.org/drawingml/2006/main" noGrp="1"/>
          </p:cNvSpPr>
          <p:nvPr/>
        </p:nvSpPr>
        <p:spPr>
          <a:xfrm xmlns:a="http://schemas.openxmlformats.org/drawingml/2006/main">
            <a:off x="676656" y="2221992"/>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When is my premium due?</a:t>
            </a:r>
            <a:endParaRPr sz="970"/>
          </a:p>
        </p:txBody>
      </p:sp>
      <p:sp>
        <p:nvSpPr>
          <p:cNvPr id="16" name="Text 14">
            <a:extLst xmlns:a="http://schemas.openxmlformats.org/drawingml/2006/main">
              <a:ext uri="{FF2B5EF4-FFF2-40B4-BE49-F238E27FC236}">
                <a16:creationId xmlns:a16="http://schemas.microsoft.com/office/drawing/2014/main" id="{97E56D24-EC96-4254-B2B1-6D8777C58ACC}"/>
              </a:ext>
            </a:extLst>
          </p:cNvPr>
          <p:cNvSpPr>
            <a:spLocks xmlns:a="http://schemas.openxmlformats.org/drawingml/2006/main" noGrp="1"/>
          </p:cNvSpPr>
          <p:nvPr/>
        </p:nvSpPr>
        <p:spPr>
          <a:xfrm xmlns:a="http://schemas.openxmlformats.org/drawingml/2006/main">
            <a:off x="3785616" y="22219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Either — schedule is in the servicing view</a:t>
            </a:r>
            <a:endParaRPr sz="920"/>
          </a:p>
        </p:txBody>
      </p:sp>
      <p:sp>
        <p:nvSpPr>
          <p:cNvPr id="17" name="Text 15">
            <a:extLst xmlns:a="http://schemas.openxmlformats.org/drawingml/2006/main">
              <a:ext uri="{FF2B5EF4-FFF2-40B4-BE49-F238E27FC236}">
                <a16:creationId xmlns:a16="http://schemas.microsoft.com/office/drawing/2014/main" id="{6D2F00CC-DB9A-4460-A5E1-99936ACFD7EA}"/>
              </a:ext>
            </a:extLst>
          </p:cNvPr>
          <p:cNvSpPr>
            <a:spLocks xmlns:a="http://schemas.openxmlformats.org/drawingml/2006/main" noGrp="1"/>
          </p:cNvSpPr>
          <p:nvPr/>
        </p:nvSpPr>
        <p:spPr>
          <a:xfrm xmlns:a="http://schemas.openxmlformats.org/drawingml/2006/main">
            <a:off x="7077456" y="2221992"/>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Answered in channel, sourced from the insurer</a:t>
            </a:r>
            <a:endParaRPr sz="920"/>
          </a:p>
        </p:txBody>
      </p:sp>
      <p:sp>
        <p:nvSpPr>
          <p:cNvPr id="18" name="Text 16">
            <a:extLst xmlns:a="http://schemas.openxmlformats.org/drawingml/2006/main">
              <a:ext uri="{FF2B5EF4-FFF2-40B4-BE49-F238E27FC236}">
                <a16:creationId xmlns:a16="http://schemas.microsoft.com/office/drawing/2014/main" id="{6B0A5E3A-A132-4E1D-BF52-F70D71FA27E8}"/>
              </a:ext>
            </a:extLst>
          </p:cNvPr>
          <p:cNvSpPr>
            <a:spLocks xmlns:a="http://schemas.openxmlformats.org/drawingml/2006/main" noGrp="1"/>
          </p:cNvSpPr>
          <p:nvPr/>
        </p:nvSpPr>
        <p:spPr>
          <a:xfrm xmlns:a="http://schemas.openxmlformats.org/drawingml/2006/main">
            <a:off x="10094976" y="2221992"/>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Bank</a:t>
            </a:r>
            <a:endParaRPr sz="930"/>
          </a:p>
        </p:txBody>
      </p:sp>
      <p:sp>
        <p:nvSpPr>
          <p:cNvPr id="19" name="Shape 17">
            <a:extLst xmlns:a="http://schemas.openxmlformats.org/drawingml/2006/main">
              <a:ext uri="{FF2B5EF4-FFF2-40B4-BE49-F238E27FC236}">
                <a16:creationId xmlns:a16="http://schemas.microsoft.com/office/drawing/2014/main" id="{486C3BE3-AB15-444B-8A23-6899ECAE4F7D}"/>
              </a:ext>
            </a:extLst>
          </p:cNvPr>
          <p:cNvSpPr>
            <a:spLocks xmlns:a="http://schemas.openxmlformats.org/drawingml/2006/main" noGrp="1"/>
          </p:cNvSpPr>
          <p:nvPr/>
        </p:nvSpPr>
        <p:spPr>
          <a:xfrm xmlns:a="http://schemas.openxmlformats.org/drawingml/2006/main">
            <a:off x="566928" y="2578608"/>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04D836FB-3CB1-4962-85AB-F9BAC53FA525}"/>
              </a:ext>
            </a:extLst>
          </p:cNvPr>
          <p:cNvSpPr>
            <a:spLocks xmlns:a="http://schemas.openxmlformats.org/drawingml/2006/main" noGrp="1"/>
          </p:cNvSpPr>
          <p:nvPr/>
        </p:nvSpPr>
        <p:spPr>
          <a:xfrm xmlns:a="http://schemas.openxmlformats.org/drawingml/2006/main">
            <a:off x="676656" y="2660904"/>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Can I add a dependant?</a:t>
            </a:r>
            <a:endParaRPr sz="970"/>
          </a:p>
        </p:txBody>
      </p:sp>
      <p:sp>
        <p:nvSpPr>
          <p:cNvPr id="21" name="Text 19">
            <a:extLst xmlns:a="http://schemas.openxmlformats.org/drawingml/2006/main">
              <a:ext uri="{FF2B5EF4-FFF2-40B4-BE49-F238E27FC236}">
                <a16:creationId xmlns:a16="http://schemas.microsoft.com/office/drawing/2014/main" id="{FEA28968-0F76-4AEB-B1D6-5C01FA6D5AAB}"/>
              </a:ext>
            </a:extLst>
          </p:cNvPr>
          <p:cNvSpPr>
            <a:spLocks xmlns:a="http://schemas.openxmlformats.org/drawingml/2006/main" noGrp="1"/>
          </p:cNvSpPr>
          <p:nvPr/>
        </p:nvSpPr>
        <p:spPr>
          <a:xfrm xmlns:a="http://schemas.openxmlformats.org/drawingml/2006/main">
            <a:off x="3785616" y="2660904"/>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Insurer — this changes the contract</a:t>
            </a:r>
            <a:endParaRPr sz="920"/>
          </a:p>
        </p:txBody>
      </p:sp>
      <p:sp>
        <p:nvSpPr>
          <p:cNvPr id="22" name="Text 20">
            <a:extLst xmlns:a="http://schemas.openxmlformats.org/drawingml/2006/main">
              <a:ext uri="{FF2B5EF4-FFF2-40B4-BE49-F238E27FC236}">
                <a16:creationId xmlns:a16="http://schemas.microsoft.com/office/drawing/2014/main" id="{28FF14F7-5A6D-4CE3-B16A-4CBA460F6563}"/>
              </a:ext>
            </a:extLst>
          </p:cNvPr>
          <p:cNvSpPr>
            <a:spLocks xmlns:a="http://schemas.openxmlformats.org/drawingml/2006/main" noGrp="1"/>
          </p:cNvSpPr>
          <p:nvPr/>
        </p:nvSpPr>
        <p:spPr>
          <a:xfrm xmlns:a="http://schemas.openxmlformats.org/drawingml/2006/main">
            <a:off x="7077456" y="266090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Case raised in the bank channel, routed to the insurer</a:t>
            </a:r>
            <a:endParaRPr sz="920"/>
          </a:p>
        </p:txBody>
      </p:sp>
      <p:sp>
        <p:nvSpPr>
          <p:cNvPr id="23" name="Text 21">
            <a:extLst xmlns:a="http://schemas.openxmlformats.org/drawingml/2006/main">
              <a:ext uri="{FF2B5EF4-FFF2-40B4-BE49-F238E27FC236}">
                <a16:creationId xmlns:a16="http://schemas.microsoft.com/office/drawing/2014/main" id="{51F346AF-7B46-48C7-8D37-0FB4A97FA81F}"/>
              </a:ext>
            </a:extLst>
          </p:cNvPr>
          <p:cNvSpPr>
            <a:spLocks xmlns:a="http://schemas.openxmlformats.org/drawingml/2006/main" noGrp="1"/>
          </p:cNvSpPr>
          <p:nvPr/>
        </p:nvSpPr>
        <p:spPr>
          <a:xfrm xmlns:a="http://schemas.openxmlformats.org/drawingml/2006/main">
            <a:off x="10094976" y="266090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Insurer</a:t>
            </a:r>
            <a:endParaRPr sz="930"/>
          </a:p>
        </p:txBody>
      </p:sp>
      <p:sp>
        <p:nvSpPr>
          <p:cNvPr id="24" name="Shape 22">
            <a:extLst xmlns:a="http://schemas.openxmlformats.org/drawingml/2006/main">
              <a:ext uri="{FF2B5EF4-FFF2-40B4-BE49-F238E27FC236}">
                <a16:creationId xmlns:a16="http://schemas.microsoft.com/office/drawing/2014/main" id="{B12E1A2B-3243-4F8C-A3FD-7951DBB2867A}"/>
              </a:ext>
            </a:extLst>
          </p:cNvPr>
          <p:cNvSpPr>
            <a:spLocks xmlns:a="http://schemas.openxmlformats.org/drawingml/2006/main" noGrp="1"/>
          </p:cNvSpPr>
          <p:nvPr/>
        </p:nvSpPr>
        <p:spPr>
          <a:xfrm xmlns:a="http://schemas.openxmlformats.org/drawingml/2006/main">
            <a:off x="566928" y="3017520"/>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34134E4A-4CBB-41B5-BAA8-7C9DBAB21869}"/>
              </a:ext>
            </a:extLst>
          </p:cNvPr>
          <p:cNvSpPr>
            <a:spLocks xmlns:a="http://schemas.openxmlformats.org/drawingml/2006/main" noGrp="1"/>
          </p:cNvSpPr>
          <p:nvPr/>
        </p:nvSpPr>
        <p:spPr>
          <a:xfrm xmlns:a="http://schemas.openxmlformats.org/drawingml/2006/main">
            <a:off x="566928" y="3017520"/>
            <a:ext cx="11057839" cy="438912"/>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A08CBDC5-87AB-4505-B117-EEB8E01EF1C3}"/>
              </a:ext>
            </a:extLst>
          </p:cNvPr>
          <p:cNvSpPr>
            <a:spLocks xmlns:a="http://schemas.openxmlformats.org/drawingml/2006/main" noGrp="1"/>
          </p:cNvSpPr>
          <p:nvPr/>
        </p:nvSpPr>
        <p:spPr>
          <a:xfrm xmlns:a="http://schemas.openxmlformats.org/drawingml/2006/main">
            <a:off x="676656" y="3099816"/>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Why was my claim assessed that way?</a:t>
            </a:r>
            <a:endParaRPr sz="970"/>
          </a:p>
        </p:txBody>
      </p:sp>
      <p:sp>
        <p:nvSpPr>
          <p:cNvPr id="27" name="Text 25">
            <a:extLst xmlns:a="http://schemas.openxmlformats.org/drawingml/2006/main">
              <a:ext uri="{FF2B5EF4-FFF2-40B4-BE49-F238E27FC236}">
                <a16:creationId xmlns:a16="http://schemas.microsoft.com/office/drawing/2014/main" id="{91C39E94-358E-4F60-9774-C403EBA40E8B}"/>
              </a:ext>
            </a:extLst>
          </p:cNvPr>
          <p:cNvSpPr>
            <a:spLocks xmlns:a="http://schemas.openxmlformats.org/drawingml/2006/main" noGrp="1"/>
          </p:cNvSpPr>
          <p:nvPr/>
        </p:nvSpPr>
        <p:spPr>
          <a:xfrm xmlns:a="http://schemas.openxmlformats.org/drawingml/2006/main">
            <a:off x="3785616" y="3099816"/>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Insurer only</a:t>
            </a:r>
            <a:endParaRPr sz="920"/>
          </a:p>
        </p:txBody>
      </p:sp>
      <p:sp>
        <p:nvSpPr>
          <p:cNvPr id="28" name="Text 26">
            <a:extLst xmlns:a="http://schemas.openxmlformats.org/drawingml/2006/main">
              <a:ext uri="{FF2B5EF4-FFF2-40B4-BE49-F238E27FC236}">
                <a16:creationId xmlns:a16="http://schemas.microsoft.com/office/drawing/2014/main" id="{341DEBC2-FB3F-44B4-BB15-E524E918EC79}"/>
              </a:ext>
            </a:extLst>
          </p:cNvPr>
          <p:cNvSpPr>
            <a:spLocks xmlns:a="http://schemas.openxmlformats.org/drawingml/2006/main" noGrp="1"/>
          </p:cNvSpPr>
          <p:nvPr/>
        </p:nvSpPr>
        <p:spPr>
          <a:xfrm xmlns:a="http://schemas.openxmlformats.org/drawingml/2006/main">
            <a:off x="7077456" y="3099816"/>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Handed over with context; the bank does not interpret</a:t>
            </a:r>
            <a:endParaRPr sz="920"/>
          </a:p>
        </p:txBody>
      </p:sp>
      <p:sp>
        <p:nvSpPr>
          <p:cNvPr id="29" name="Text 27">
            <a:extLst xmlns:a="http://schemas.openxmlformats.org/drawingml/2006/main">
              <a:ext uri="{FF2B5EF4-FFF2-40B4-BE49-F238E27FC236}">
                <a16:creationId xmlns:a16="http://schemas.microsoft.com/office/drawing/2014/main" id="{C2321BF4-FF7A-4F8D-9832-875AE931DEDD}"/>
              </a:ext>
            </a:extLst>
          </p:cNvPr>
          <p:cNvSpPr>
            <a:spLocks xmlns:a="http://schemas.openxmlformats.org/drawingml/2006/main" noGrp="1"/>
          </p:cNvSpPr>
          <p:nvPr/>
        </p:nvSpPr>
        <p:spPr>
          <a:xfrm xmlns:a="http://schemas.openxmlformats.org/drawingml/2006/main">
            <a:off x="10094976" y="3099816"/>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Insurer</a:t>
            </a:r>
            <a:endParaRPr sz="930"/>
          </a:p>
        </p:txBody>
      </p:sp>
      <p:sp>
        <p:nvSpPr>
          <p:cNvPr id="30" name="Shape 28">
            <a:extLst xmlns:a="http://schemas.openxmlformats.org/drawingml/2006/main">
              <a:ext uri="{FF2B5EF4-FFF2-40B4-BE49-F238E27FC236}">
                <a16:creationId xmlns:a16="http://schemas.microsoft.com/office/drawing/2014/main" id="{599E7E7A-DCB0-48BA-BC4A-2BABDC2AC43E}"/>
              </a:ext>
            </a:extLst>
          </p:cNvPr>
          <p:cNvSpPr>
            <a:spLocks xmlns:a="http://schemas.openxmlformats.org/drawingml/2006/main" noGrp="1"/>
          </p:cNvSpPr>
          <p:nvPr/>
        </p:nvSpPr>
        <p:spPr>
          <a:xfrm xmlns:a="http://schemas.openxmlformats.org/drawingml/2006/main">
            <a:off x="566928" y="3456432"/>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3AC276A2-5E12-4FE2-88DD-69CA8136EA01}"/>
              </a:ext>
            </a:extLst>
          </p:cNvPr>
          <p:cNvSpPr>
            <a:spLocks xmlns:a="http://schemas.openxmlformats.org/drawingml/2006/main" noGrp="1"/>
          </p:cNvSpPr>
          <p:nvPr/>
        </p:nvSpPr>
        <p:spPr>
          <a:xfrm xmlns:a="http://schemas.openxmlformats.org/drawingml/2006/main">
            <a:off x="676656" y="3538728"/>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Can I cancel?</a:t>
            </a:r>
            <a:endParaRPr sz="970"/>
          </a:p>
        </p:txBody>
      </p:sp>
      <p:sp>
        <p:nvSpPr>
          <p:cNvPr id="32" name="Text 30">
            <a:extLst xmlns:a="http://schemas.openxmlformats.org/drawingml/2006/main">
              <a:ext uri="{FF2B5EF4-FFF2-40B4-BE49-F238E27FC236}">
                <a16:creationId xmlns:a16="http://schemas.microsoft.com/office/drawing/2014/main" id="{93B47FB9-D0A7-47A5-99A3-08B9BE5D86EF}"/>
              </a:ext>
            </a:extLst>
          </p:cNvPr>
          <p:cNvSpPr>
            <a:spLocks xmlns:a="http://schemas.openxmlformats.org/drawingml/2006/main" noGrp="1"/>
          </p:cNvSpPr>
          <p:nvPr/>
        </p:nvSpPr>
        <p:spPr>
          <a:xfrm xmlns:a="http://schemas.openxmlformats.org/drawingml/2006/main">
            <a:off x="3785616" y="3538728"/>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Insurer — contractual, with conduct obligations</a:t>
            </a:r>
            <a:endParaRPr sz="920"/>
          </a:p>
        </p:txBody>
      </p:sp>
      <p:sp>
        <p:nvSpPr>
          <p:cNvPr id="33" name="Text 31">
            <a:extLst xmlns:a="http://schemas.openxmlformats.org/drawingml/2006/main">
              <a:ext uri="{FF2B5EF4-FFF2-40B4-BE49-F238E27FC236}">
                <a16:creationId xmlns:a16="http://schemas.microsoft.com/office/drawing/2014/main" id="{14E8AEF0-CA46-485E-B41F-CF78CD9C9AE7}"/>
              </a:ext>
            </a:extLst>
          </p:cNvPr>
          <p:cNvSpPr>
            <a:spLocks xmlns:a="http://schemas.openxmlformats.org/drawingml/2006/main" noGrp="1"/>
          </p:cNvSpPr>
          <p:nvPr/>
        </p:nvSpPr>
        <p:spPr>
          <a:xfrm xmlns:a="http://schemas.openxmlformats.org/drawingml/2006/main">
            <a:off x="7077456" y="3538728"/>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Case raised, routed, and tracked to closure in channel</a:t>
            </a:r>
            <a:endParaRPr sz="920"/>
          </a:p>
        </p:txBody>
      </p:sp>
      <p:sp>
        <p:nvSpPr>
          <p:cNvPr id="34" name="Text 32">
            <a:extLst xmlns:a="http://schemas.openxmlformats.org/drawingml/2006/main">
              <a:ext uri="{FF2B5EF4-FFF2-40B4-BE49-F238E27FC236}">
                <a16:creationId xmlns:a16="http://schemas.microsoft.com/office/drawing/2014/main" id="{F5B23C26-7426-4C9F-872C-C95463100CC4}"/>
              </a:ext>
            </a:extLst>
          </p:cNvPr>
          <p:cNvSpPr>
            <a:spLocks xmlns:a="http://schemas.openxmlformats.org/drawingml/2006/main" noGrp="1"/>
          </p:cNvSpPr>
          <p:nvPr/>
        </p:nvSpPr>
        <p:spPr>
          <a:xfrm xmlns:a="http://schemas.openxmlformats.org/drawingml/2006/main">
            <a:off x="10094976" y="3538728"/>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Insurer</a:t>
            </a:r>
            <a:endParaRPr sz="930"/>
          </a:p>
        </p:txBody>
      </p:sp>
      <p:sp>
        <p:nvSpPr>
          <p:cNvPr id="35" name="Shape 33">
            <a:extLst xmlns:a="http://schemas.openxmlformats.org/drawingml/2006/main">
              <a:ext uri="{FF2B5EF4-FFF2-40B4-BE49-F238E27FC236}">
                <a16:creationId xmlns:a16="http://schemas.microsoft.com/office/drawing/2014/main" id="{520C9108-E5BE-4537-B249-0E546DC16444}"/>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21BDCF7E-4181-4004-8783-228CB01FC8A6}"/>
              </a:ext>
            </a:extLst>
          </p:cNvPr>
          <p:cNvSpPr>
            <a:spLocks xmlns:a="http://schemas.openxmlformats.org/drawingml/2006/main" noGrp="1"/>
          </p:cNvSpPr>
          <p:nvPr/>
        </p:nvSpPr>
        <p:spPr>
          <a:xfrm xmlns:a="http://schemas.openxmlformats.org/drawingml/2006/main">
            <a:off x="566928" y="3895344"/>
            <a:ext cx="11057839" cy="438912"/>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5963A683-E24F-4403-8B65-FB792A6F9F76}"/>
              </a:ext>
            </a:extLst>
          </p:cNvPr>
          <p:cNvSpPr>
            <a:spLocks xmlns:a="http://schemas.openxmlformats.org/drawingml/2006/main" noGrp="1"/>
          </p:cNvSpPr>
          <p:nvPr/>
        </p:nvSpPr>
        <p:spPr>
          <a:xfrm xmlns:a="http://schemas.openxmlformats.org/drawingml/2006/main">
            <a:off x="676656" y="3977640"/>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Update my address</a:t>
            </a:r>
            <a:endParaRPr sz="970"/>
          </a:p>
        </p:txBody>
      </p:sp>
      <p:sp>
        <p:nvSpPr>
          <p:cNvPr id="38" name="Text 36">
            <a:extLst xmlns:a="http://schemas.openxmlformats.org/drawingml/2006/main">
              <a:ext uri="{FF2B5EF4-FFF2-40B4-BE49-F238E27FC236}">
                <a16:creationId xmlns:a16="http://schemas.microsoft.com/office/drawing/2014/main" id="{114A4590-2301-4130-9B52-99F2F61438B1}"/>
              </a:ext>
            </a:extLst>
          </p:cNvPr>
          <p:cNvSpPr>
            <a:spLocks xmlns:a="http://schemas.openxmlformats.org/drawingml/2006/main" noGrp="1"/>
          </p:cNvSpPr>
          <p:nvPr/>
        </p:nvSpPr>
        <p:spPr>
          <a:xfrm xmlns:a="http://schemas.openxmlformats.org/drawingml/2006/main">
            <a:off x="3785616" y="3977640"/>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Both, and they must not diverge</a:t>
            </a:r>
            <a:endParaRPr sz="920"/>
          </a:p>
        </p:txBody>
      </p:sp>
      <p:sp>
        <p:nvSpPr>
          <p:cNvPr id="39" name="Text 37">
            <a:extLst xmlns:a="http://schemas.openxmlformats.org/drawingml/2006/main">
              <a:ext uri="{FF2B5EF4-FFF2-40B4-BE49-F238E27FC236}">
                <a16:creationId xmlns:a16="http://schemas.microsoft.com/office/drawing/2014/main" id="{C1D1D3BB-FC11-4A97-9CCB-33A30ECF54DE}"/>
              </a:ext>
            </a:extLst>
          </p:cNvPr>
          <p:cNvSpPr>
            <a:spLocks xmlns:a="http://schemas.openxmlformats.org/drawingml/2006/main" noGrp="1"/>
          </p:cNvSpPr>
          <p:nvPr/>
        </p:nvSpPr>
        <p:spPr>
          <a:xfrm xmlns:a="http://schemas.openxmlformats.org/drawingml/2006/main">
            <a:off x="7077456" y="3977640"/>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Captured once, propagated, with a single source of truth</a:t>
            </a:r>
            <a:endParaRPr sz="920"/>
          </a:p>
        </p:txBody>
      </p:sp>
      <p:sp>
        <p:nvSpPr>
          <p:cNvPr id="40" name="Text 38">
            <a:extLst xmlns:a="http://schemas.openxmlformats.org/drawingml/2006/main">
              <a:ext uri="{FF2B5EF4-FFF2-40B4-BE49-F238E27FC236}">
                <a16:creationId xmlns:a16="http://schemas.microsoft.com/office/drawing/2014/main" id="{C280B70F-0129-43BD-9491-6739F49279C9}"/>
              </a:ext>
            </a:extLst>
          </p:cNvPr>
          <p:cNvSpPr>
            <a:spLocks xmlns:a="http://schemas.openxmlformats.org/drawingml/2006/main" noGrp="1"/>
          </p:cNvSpPr>
          <p:nvPr/>
        </p:nvSpPr>
        <p:spPr>
          <a:xfrm xmlns:a="http://schemas.openxmlformats.org/drawingml/2006/main">
            <a:off x="10094976" y="3977640"/>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Bank, shared</a:t>
            </a:r>
            <a:endParaRPr sz="930"/>
          </a:p>
        </p:txBody>
      </p:sp>
      <p:sp>
        <p:nvSpPr>
          <p:cNvPr id="41" name="Shape 39">
            <a:extLst xmlns:a="http://schemas.openxmlformats.org/drawingml/2006/main">
              <a:ext uri="{FF2B5EF4-FFF2-40B4-BE49-F238E27FC236}">
                <a16:creationId xmlns:a16="http://schemas.microsoft.com/office/drawing/2014/main" id="{06205D3A-E103-4373-B425-6E39CD580B95}"/>
              </a:ext>
            </a:extLst>
          </p:cNvPr>
          <p:cNvSpPr>
            <a:spLocks xmlns:a="http://schemas.openxmlformats.org/drawingml/2006/main" noGrp="1"/>
          </p:cNvSpPr>
          <p:nvPr/>
        </p:nvSpPr>
        <p:spPr>
          <a:xfrm xmlns:a="http://schemas.openxmlformats.org/drawingml/2006/main">
            <a:off x="566928" y="4334256"/>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5EFE2CC4-EE9C-46C5-B442-64C9146E06B1}"/>
              </a:ext>
            </a:extLst>
          </p:cNvPr>
          <p:cNvSpPr>
            <a:spLocks xmlns:a="http://schemas.openxmlformats.org/drawingml/2006/main" noGrp="1"/>
          </p:cNvSpPr>
          <p:nvPr/>
        </p:nvSpPr>
        <p:spPr>
          <a:xfrm xmlns:a="http://schemas.openxmlformats.org/drawingml/2006/main">
            <a:off x="566928"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rule applied</a:t>
            </a:r>
            <a:endParaRPr sz="1100"/>
          </a:p>
        </p:txBody>
      </p:sp>
      <p:sp>
        <p:nvSpPr>
          <p:cNvPr id="43" name="Shape 41">
            <a:extLst xmlns:a="http://schemas.openxmlformats.org/drawingml/2006/main">
              <a:ext uri="{FF2B5EF4-FFF2-40B4-BE49-F238E27FC236}">
                <a16:creationId xmlns:a16="http://schemas.microsoft.com/office/drawing/2014/main" id="{281A6C72-6B39-47DA-A0A8-DF67594FBA63}"/>
              </a:ext>
            </a:extLst>
          </p:cNvPr>
          <p:cNvSpPr>
            <a:spLocks xmlns:a="http://schemas.openxmlformats.org/drawingml/2006/main" noGrp="1"/>
          </p:cNvSpPr>
          <p:nvPr/>
        </p:nvSpPr>
        <p:spPr>
          <a:xfrm xmlns:a="http://schemas.openxmlformats.org/drawingml/2006/main">
            <a:off x="566928" y="4791456"/>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BBF5050E-E882-4EB1-A4B5-83724DFE1D7C}"/>
              </a:ext>
            </a:extLst>
          </p:cNvPr>
          <p:cNvSpPr>
            <a:spLocks xmlns:a="http://schemas.openxmlformats.org/drawingml/2006/main" noGrp="1"/>
          </p:cNvSpPr>
          <p:nvPr/>
        </p:nvSpPr>
        <p:spPr>
          <a:xfrm xmlns:a="http://schemas.openxmlformats.org/drawingml/2006/main">
            <a:off x="566928" y="4919472"/>
            <a:ext cx="3551834"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bank answers anything it can answer from a reference view it did not author.</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Anything that changes the contract or interprets a decision is routed, not answered.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customer sees one conversation, because the case is tracked in one place.</a:t>
            </a:r>
            <a:endParaRPr sz="920"/>
          </a:p>
        </p:txBody>
      </p:sp>
      <p:sp>
        <p:nvSpPr>
          <p:cNvPr id="45" name="Text 43">
            <a:extLst xmlns:a="http://schemas.openxmlformats.org/drawingml/2006/main">
              <a:ext uri="{FF2B5EF4-FFF2-40B4-BE49-F238E27FC236}">
                <a16:creationId xmlns:a16="http://schemas.microsoft.com/office/drawing/2014/main" id="{89C098D2-067F-4B54-BD4C-C67C44B01AB4}"/>
              </a:ext>
            </a:extLst>
          </p:cNvPr>
          <p:cNvSpPr>
            <a:spLocks xmlns:a="http://schemas.openxmlformats.org/drawingml/2006/main" noGrp="1"/>
          </p:cNvSpPr>
          <p:nvPr/>
        </p:nvSpPr>
        <p:spPr>
          <a:xfrm xmlns:a="http://schemas.openxmlformats.org/drawingml/2006/main">
            <a:off x="4319930"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row that causes the most trouble</a:t>
            </a:r>
            <a:endParaRPr sz="1100"/>
          </a:p>
        </p:txBody>
      </p:sp>
      <p:sp>
        <p:nvSpPr>
          <p:cNvPr id="46" name="Shape 44">
            <a:extLst xmlns:a="http://schemas.openxmlformats.org/drawingml/2006/main">
              <a:ext uri="{FF2B5EF4-FFF2-40B4-BE49-F238E27FC236}">
                <a16:creationId xmlns:a16="http://schemas.microsoft.com/office/drawing/2014/main" id="{4AB81A28-617C-4F7D-857C-32818E87C3D2}"/>
              </a:ext>
            </a:extLst>
          </p:cNvPr>
          <p:cNvSpPr>
            <a:spLocks xmlns:a="http://schemas.openxmlformats.org/drawingml/2006/main" noGrp="1"/>
          </p:cNvSpPr>
          <p:nvPr/>
        </p:nvSpPr>
        <p:spPr>
          <a:xfrm xmlns:a="http://schemas.openxmlformats.org/drawingml/2006/main">
            <a:off x="4319930" y="4791456"/>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F814E349-7A14-45CD-8CBE-27CCAA479FF7}"/>
              </a:ext>
            </a:extLst>
          </p:cNvPr>
          <p:cNvSpPr>
            <a:spLocks xmlns:a="http://schemas.openxmlformats.org/drawingml/2006/main" noGrp="1"/>
          </p:cNvSpPr>
          <p:nvPr/>
        </p:nvSpPr>
        <p:spPr>
          <a:xfrm xmlns:a="http://schemas.openxmlformats.org/drawingml/2006/main">
            <a:off x="4319930" y="4919472"/>
            <a:ext cx="3551834"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Address updates. Both entities need it, both have a record, and divergence is silent.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Captured once with a defined source of truth and propagated — never captured twice.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most common cross-entity data-quality defect in practice.</a:t>
            </a:r>
            <a:endParaRPr sz="920"/>
          </a:p>
        </p:txBody>
      </p:sp>
      <p:sp>
        <p:nvSpPr>
          <p:cNvPr id="48" name="Text 46">
            <a:extLst xmlns:a="http://schemas.openxmlformats.org/drawingml/2006/main">
              <a:ext uri="{FF2B5EF4-FFF2-40B4-BE49-F238E27FC236}">
                <a16:creationId xmlns:a16="http://schemas.microsoft.com/office/drawing/2014/main" id="{9B6FC0F9-F135-472A-8DB7-A22D4F4A8D35}"/>
              </a:ext>
            </a:extLst>
          </p:cNvPr>
          <p:cNvSpPr>
            <a:spLocks xmlns:a="http://schemas.openxmlformats.org/drawingml/2006/main" noGrp="1"/>
          </p:cNvSpPr>
          <p:nvPr/>
        </p:nvSpPr>
        <p:spPr>
          <a:xfrm xmlns:a="http://schemas.openxmlformats.org/drawingml/2006/main">
            <a:off x="8072933"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Why the servicing view is a reference</a:t>
            </a:r>
            <a:endParaRPr sz="1100"/>
          </a:p>
        </p:txBody>
      </p:sp>
      <p:sp>
        <p:nvSpPr>
          <p:cNvPr id="49" name="Shape 47">
            <a:extLst xmlns:a="http://schemas.openxmlformats.org/drawingml/2006/main">
              <a:ext uri="{FF2B5EF4-FFF2-40B4-BE49-F238E27FC236}">
                <a16:creationId xmlns:a16="http://schemas.microsoft.com/office/drawing/2014/main" id="{3C5D2070-A3F0-4A17-8044-69420690D198}"/>
              </a:ext>
            </a:extLst>
          </p:cNvPr>
          <p:cNvSpPr>
            <a:spLocks xmlns:a="http://schemas.openxmlformats.org/drawingml/2006/main" noGrp="1"/>
          </p:cNvSpPr>
          <p:nvPr/>
        </p:nvSpPr>
        <p:spPr>
          <a:xfrm xmlns:a="http://schemas.openxmlformats.org/drawingml/2006/main">
            <a:off x="8072933" y="4791456"/>
            <a:ext cx="3551834" cy="20117"/>
          </a:xfrm>
          <a:prstGeom xmlns:a="http://schemas.openxmlformats.org/drawingml/2006/main" prst="rect">
            <a:avLst/>
          </a:prstGeom>
          <a:solidFill xmlns:a="http://schemas.openxmlformats.org/drawingml/2006/main">
            <a:srgbClr val="486581"/>
          </a:solidFill>
        </p:spPr>
      </p:sp>
      <p:sp>
        <p:nvSpPr>
          <p:cNvPr id="50" name="Text 48">
            <a:extLst xmlns:a="http://schemas.openxmlformats.org/drawingml/2006/main">
              <a:ext uri="{FF2B5EF4-FFF2-40B4-BE49-F238E27FC236}">
                <a16:creationId xmlns:a16="http://schemas.microsoft.com/office/drawing/2014/main" id="{964707B0-3CA1-41ED-ACA6-D444343F1135}"/>
              </a:ext>
            </a:extLst>
          </p:cNvPr>
          <p:cNvSpPr>
            <a:spLocks xmlns:a="http://schemas.openxmlformats.org/drawingml/2006/main" noGrp="1"/>
          </p:cNvSpPr>
          <p:nvPr/>
        </p:nvSpPr>
        <p:spPr>
          <a:xfrm xmlns:a="http://schemas.openxmlformats.org/drawingml/2006/main">
            <a:off x="8072933" y="4919472"/>
            <a:ext cx="3551834"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is a read model sourced from the insurer, not a second policy record.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can be stale, so it carries its own freshness indicator rather than pretending to be authoritative.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Built as a copy it becomes a second policy record that eventually disagrees.</a:t>
            </a:r>
            <a:endParaRPr sz="920"/>
          </a:p>
        </p:txBody>
      </p:sp>
      <p:sp>
        <p:nvSpPr>
          <p:cNvPr id="51" name="Shape 49">
            <a:extLst xmlns:a="http://schemas.openxmlformats.org/drawingml/2006/main">
              <a:ext uri="{FF2B5EF4-FFF2-40B4-BE49-F238E27FC236}">
                <a16:creationId xmlns:a16="http://schemas.microsoft.com/office/drawing/2014/main" id="{693B128E-A05A-4498-BA77-037EB725E50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BA83E526-24FF-4864-9CEB-5564CEB29D4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2024 engagement · author's design</a:t>
            </a:r>
            <a:endParaRPr sz="850"/>
          </a:p>
        </p:txBody>
      </p:sp>
      <p:sp>
        <p:nvSpPr>
          <p:cNvPr id="53" name="Text 51">
            <a:extLst xmlns:a="http://schemas.openxmlformats.org/drawingml/2006/main">
              <a:ext uri="{FF2B5EF4-FFF2-40B4-BE49-F238E27FC236}">
                <a16:creationId xmlns:a16="http://schemas.microsoft.com/office/drawing/2014/main" id="{FFE2DDC8-0D60-487E-9002-CB7D56C6C9A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438909102"/>
      </p:ext>
    </p:extLst>
  </p:cSld>
</p:sld>
</file>

<file path=ppt/slides/slide7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5A93D0-D96D-463D-B360-861E28170AE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E7BC2773-D587-4DF9-8247-56CCBD317C2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any product sold across a regulated entity boundary</a:t>
            </a:r>
            <a:endParaRPr sz="1900"/>
          </a:p>
        </p:txBody>
      </p:sp>
      <p:sp>
        <p:nvSpPr>
          <p:cNvPr id="4" name="Text 2">
            <a:extLst xmlns:a="http://schemas.openxmlformats.org/drawingml/2006/main">
              <a:ext uri="{FF2B5EF4-FFF2-40B4-BE49-F238E27FC236}">
                <a16:creationId xmlns:a16="http://schemas.microsoft.com/office/drawing/2014/main" id="{FC841219-1DFF-4851-B20F-C2B6A9DE3B97}"/>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1E960DAE-2261-4961-A43F-550D13679C3E}"/>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Split consent by purpose, always</a:t>
            </a:r>
            <a:endParaRPr sz="1200"/>
          </a:p>
        </p:txBody>
      </p:sp>
      <p:sp>
        <p:nvSpPr>
          <p:cNvPr id="6" name="Text 4">
            <a:extLst xmlns:a="http://schemas.openxmlformats.org/drawingml/2006/main">
              <a:ext uri="{FF2B5EF4-FFF2-40B4-BE49-F238E27FC236}">
                <a16:creationId xmlns:a16="http://schemas.microsoft.com/office/drawing/2014/main" id="{F4FF1C0D-3F35-453B-9B50-F5BAD270B581}"/>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Data sharing across entities and entry into a contract are two different things with two different supervisors. One acceptance covering both evidences neither, and makes revocation ambiguous for everybody.</a:t>
            </a:r>
            <a:endParaRPr sz="1000"/>
          </a:p>
        </p:txBody>
      </p:sp>
      <p:sp>
        <p:nvSpPr>
          <p:cNvPr id="7" name="Shape 5">
            <a:extLst xmlns:a="http://schemas.openxmlformats.org/drawingml/2006/main">
              <a:ext uri="{FF2B5EF4-FFF2-40B4-BE49-F238E27FC236}">
                <a16:creationId xmlns:a16="http://schemas.microsoft.com/office/drawing/2014/main" id="{643B84D8-D0DF-4C62-894C-1026B5124B0A}"/>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CAA6503-EFE1-4F3A-B0DF-D60241C12862}"/>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F169A00B-9C16-45C6-89FD-3554A9A88141}"/>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Hand over fields, not profiles</a:t>
            </a:r>
            <a:endParaRPr sz="1200"/>
          </a:p>
        </p:txBody>
      </p:sp>
      <p:sp>
        <p:nvSpPr>
          <p:cNvPr id="10" name="Text 8">
            <a:extLst xmlns:a="http://schemas.openxmlformats.org/drawingml/2006/main">
              <a:ext uri="{FF2B5EF4-FFF2-40B4-BE49-F238E27FC236}">
                <a16:creationId xmlns:a16="http://schemas.microsoft.com/office/drawing/2014/main" id="{BA1875E5-B535-4F4F-B351-01741094A6CB}"/>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Minimum necessary is a design constraint, not a policy aspiration. Purpose recorded per attribute is what turns a data transfer into something either side can defend.</a:t>
            </a:r>
            <a:endParaRPr sz="1000"/>
          </a:p>
        </p:txBody>
      </p:sp>
      <p:sp>
        <p:nvSpPr>
          <p:cNvPr id="11" name="Shape 9">
            <a:extLst xmlns:a="http://schemas.openxmlformats.org/drawingml/2006/main">
              <a:ext uri="{FF2B5EF4-FFF2-40B4-BE49-F238E27FC236}">
                <a16:creationId xmlns:a16="http://schemas.microsoft.com/office/drawing/2014/main" id="{C428E00C-B7F5-44AE-A1B3-5D2F7C003A8A}"/>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EFBC07B3-6114-4DDD-ACC8-FAAB3F582540}"/>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D501F935-0461-405E-9018-7AE3F478CAC3}"/>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Treat the counterparty's decision as a black box</a:t>
            </a:r>
            <a:endParaRPr sz="1200"/>
          </a:p>
        </p:txBody>
      </p:sp>
      <p:sp>
        <p:nvSpPr>
          <p:cNvPr id="14" name="Text 12">
            <a:extLst xmlns:a="http://schemas.openxmlformats.org/drawingml/2006/main">
              <a:ext uri="{FF2B5EF4-FFF2-40B4-BE49-F238E27FC236}">
                <a16:creationId xmlns:a16="http://schemas.microsoft.com/office/drawing/2014/main" id="{56134DCC-4D08-4EB8-9A1D-10DA6F9305C7}"/>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Show status, never reasoning. Explaining another entity's underwriting is helpful in the moment and indefensible in review — the bank did not make the decision and cannot stand behind the explanation.</a:t>
            </a:r>
            <a:endParaRPr sz="1000"/>
          </a:p>
        </p:txBody>
      </p:sp>
      <p:sp>
        <p:nvSpPr>
          <p:cNvPr id="15" name="Shape 13">
            <a:extLst xmlns:a="http://schemas.openxmlformats.org/drawingml/2006/main">
              <a:ext uri="{FF2B5EF4-FFF2-40B4-BE49-F238E27FC236}">
                <a16:creationId xmlns:a16="http://schemas.microsoft.com/office/drawing/2014/main" id="{96798493-3AF3-4FEB-A236-7120144BB8B8}"/>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0A7BCD1B-BC84-42EB-90E4-A8E0B87A5ED1}"/>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46DC4614-3C16-4A07-AAAD-A2D8FC9FC446}"/>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the servicing view a reference, not a copy</a:t>
            </a:r>
            <a:endParaRPr sz="1200"/>
          </a:p>
        </p:txBody>
      </p:sp>
      <p:sp>
        <p:nvSpPr>
          <p:cNvPr id="18" name="Text 16">
            <a:extLst xmlns:a="http://schemas.openxmlformats.org/drawingml/2006/main">
              <a:ext uri="{FF2B5EF4-FFF2-40B4-BE49-F238E27FC236}">
                <a16:creationId xmlns:a16="http://schemas.microsoft.com/office/drawing/2014/main" id="{0FEA04B8-F728-4AF3-9F0E-3528F68A6EC0}"/>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read model with a freshness indicator stays honest. A copy becomes a second system of record within a quarter, and the two records diverge silently from there.</a:t>
            </a:r>
            <a:endParaRPr sz="1000"/>
          </a:p>
        </p:txBody>
      </p:sp>
      <p:sp>
        <p:nvSpPr>
          <p:cNvPr id="19" name="Shape 17">
            <a:extLst xmlns:a="http://schemas.openxmlformats.org/drawingml/2006/main">
              <a:ext uri="{FF2B5EF4-FFF2-40B4-BE49-F238E27FC236}">
                <a16:creationId xmlns:a16="http://schemas.microsoft.com/office/drawing/2014/main" id="{2423D0B3-4673-4F2B-AF04-B8845A4EE6D6}"/>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93B34C27-CB24-4231-8873-CEA974885D0C}"/>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customer should experience one journey. The data must never behave as though it is one entity. Holding both at once is the entire design problem, and it is a consent and ownership question long before it is a technical one.</a:t>
            </a:r>
            <a:endParaRPr sz="1200"/>
          </a:p>
        </p:txBody>
      </p:sp>
      <p:sp>
        <p:nvSpPr>
          <p:cNvPr id="21" name="Shape 19">
            <a:extLst xmlns:a="http://schemas.openxmlformats.org/drawingml/2006/main">
              <a:ext uri="{FF2B5EF4-FFF2-40B4-BE49-F238E27FC236}">
                <a16:creationId xmlns:a16="http://schemas.microsoft.com/office/drawing/2014/main" id="{8FDD49C0-4FE6-4B44-87C4-65E5EC86BA9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3EA2BBAA-5DA6-47C8-8B7F-48A31C38DFB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23" name="Text 21">
            <a:extLst xmlns:a="http://schemas.openxmlformats.org/drawingml/2006/main">
              <a:ext uri="{FF2B5EF4-FFF2-40B4-BE49-F238E27FC236}">
                <a16:creationId xmlns:a16="http://schemas.microsoft.com/office/drawing/2014/main" id="{60606740-E228-445D-BCD6-90B89DECED5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736402716"/>
      </p:ext>
    </p:extLst>
  </p:cSld>
</p:sld>
</file>

<file path=ppt/slides/slide7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77DA13-D432-4854-ACA5-6A6AD0832CC5}"/>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REFERENCE ANALYSIS  ·  04 OF 30</a:t>
            </a:r>
            <a:endParaRPr sz="950"/>
          </a:p>
        </p:txBody>
      </p:sp>
      <p:sp>
        <p:nvSpPr>
          <p:cNvPr id="3" name="Text 1">
            <a:extLst xmlns:a="http://schemas.openxmlformats.org/drawingml/2006/main">
              <a:ext uri="{FF2B5EF4-FFF2-40B4-BE49-F238E27FC236}">
                <a16:creationId xmlns:a16="http://schemas.microsoft.com/office/drawing/2014/main" id="{85232732-B60F-4780-9CEF-1682273BA355}"/>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State Bank of India</a:t>
            </a:r>
            <a:endParaRPr sz="3800"/>
          </a:p>
        </p:txBody>
      </p:sp>
      <p:sp>
        <p:nvSpPr>
          <p:cNvPr id="4" name="Text 2">
            <a:extLst xmlns:a="http://schemas.openxmlformats.org/drawingml/2006/main">
              <a:ext uri="{FF2B5EF4-FFF2-40B4-BE49-F238E27FC236}">
                <a16:creationId xmlns:a16="http://schemas.microsoft.com/office/drawing/2014/main" id="{0C282EF5-B47E-4859-AF78-16F2837FF19F}"/>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Operating CRM at 300,000 users — what enterprise scale actually changes</a:t>
            </a:r>
            <a:endParaRPr sz="1800"/>
          </a:p>
        </p:txBody>
      </p:sp>
      <p:sp>
        <p:nvSpPr>
          <p:cNvPr id="5" name="Text 3">
            <a:extLst xmlns:a="http://schemas.openxmlformats.org/drawingml/2006/main">
              <a:ext uri="{FF2B5EF4-FFF2-40B4-BE49-F238E27FC236}">
                <a16:creationId xmlns:a16="http://schemas.microsoft.com/office/drawing/2014/main" id="{4F7ABF0B-D9A0-4982-92BE-6A1F5C016715}"/>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structural analysis of the largest CRM deployment in Indian banking: where scale stops being a capacity question and becomes an architecture, integration and governance question.</a:t>
            </a:r>
            <a:endParaRPr sz="1150"/>
          </a:p>
        </p:txBody>
      </p:sp>
      <p:sp>
        <p:nvSpPr>
          <p:cNvPr id="6" name="Shape 4">
            <a:extLst xmlns:a="http://schemas.openxmlformats.org/drawingml/2006/main">
              <a:ext uri="{FF2B5EF4-FFF2-40B4-BE49-F238E27FC236}">
                <a16:creationId xmlns:a16="http://schemas.microsoft.com/office/drawing/2014/main" id="{97A816F1-E93D-4A63-9566-13FC4CFFF40F}"/>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498D3E6E-F4A2-45AE-91DB-FA28BECC6849}"/>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300K+</a:t>
            </a:r>
            <a:endParaRPr sz="2600"/>
          </a:p>
        </p:txBody>
      </p:sp>
      <p:sp>
        <p:nvSpPr>
          <p:cNvPr id="8" name="Text 6">
            <a:extLst xmlns:a="http://schemas.openxmlformats.org/drawingml/2006/main">
              <a:ext uri="{FF2B5EF4-FFF2-40B4-BE49-F238E27FC236}">
                <a16:creationId xmlns:a16="http://schemas.microsoft.com/office/drawing/2014/main" id="{3485082E-7D94-40FE-A375-788067BC3CC7}"/>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platform users</a:t>
            </a:r>
            <a:endParaRPr sz="900"/>
          </a:p>
        </p:txBody>
      </p:sp>
      <p:sp>
        <p:nvSpPr>
          <p:cNvPr id="9" name="Text 7">
            <a:extLst xmlns:a="http://schemas.openxmlformats.org/drawingml/2006/main">
              <a:ext uri="{FF2B5EF4-FFF2-40B4-BE49-F238E27FC236}">
                <a16:creationId xmlns:a16="http://schemas.microsoft.com/office/drawing/2014/main" id="{14BAFA3B-A91B-4954-971D-938FB38DD6BB}"/>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45 Cr+</a:t>
            </a:r>
            <a:endParaRPr sz="2600"/>
          </a:p>
        </p:txBody>
      </p:sp>
      <p:sp>
        <p:nvSpPr>
          <p:cNvPr id="10" name="Text 8">
            <a:extLst xmlns:a="http://schemas.openxmlformats.org/drawingml/2006/main">
              <a:ext uri="{FF2B5EF4-FFF2-40B4-BE49-F238E27FC236}">
                <a16:creationId xmlns:a16="http://schemas.microsoft.com/office/drawing/2014/main" id="{7FEDA5A3-052F-44F9-89CD-DD6D279C472C}"/>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customers</a:t>
            </a:r>
            <a:endParaRPr sz="900"/>
          </a:p>
        </p:txBody>
      </p:sp>
      <p:sp>
        <p:nvSpPr>
          <p:cNvPr id="11" name="Text 9">
            <a:extLst xmlns:a="http://schemas.openxmlformats.org/drawingml/2006/main">
              <a:ext uri="{FF2B5EF4-FFF2-40B4-BE49-F238E27FC236}">
                <a16:creationId xmlns:a16="http://schemas.microsoft.com/office/drawing/2014/main" id="{CB7802B7-320B-4031-B207-A74872E65141}"/>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23,000+</a:t>
            </a:r>
            <a:endParaRPr sz="2600"/>
          </a:p>
        </p:txBody>
      </p:sp>
      <p:sp>
        <p:nvSpPr>
          <p:cNvPr id="12" name="Text 10">
            <a:extLst xmlns:a="http://schemas.openxmlformats.org/drawingml/2006/main">
              <a:ext uri="{FF2B5EF4-FFF2-40B4-BE49-F238E27FC236}">
                <a16:creationId xmlns:a16="http://schemas.microsoft.com/office/drawing/2014/main" id="{F26FC747-7AA9-4BD3-BE19-E3DD7FE77B87}"/>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branches</a:t>
            </a:r>
            <a:endParaRPr sz="900"/>
          </a:p>
        </p:txBody>
      </p:sp>
      <p:sp>
        <p:nvSpPr>
          <p:cNvPr id="13" name="Text 11">
            <a:extLst xmlns:a="http://schemas.openxmlformats.org/drawingml/2006/main">
              <a:ext uri="{FF2B5EF4-FFF2-40B4-BE49-F238E27FC236}">
                <a16:creationId xmlns:a16="http://schemas.microsoft.com/office/drawing/2014/main" id="{74CE3752-774C-4AF5-8E6D-F7EF5F9F03E9}"/>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19</a:t>
            </a:r>
            <a:endParaRPr sz="2600"/>
          </a:p>
        </p:txBody>
      </p:sp>
      <p:sp>
        <p:nvSpPr>
          <p:cNvPr id="14" name="Text 12">
            <a:extLst xmlns:a="http://schemas.openxmlformats.org/drawingml/2006/main">
              <a:ext uri="{FF2B5EF4-FFF2-40B4-BE49-F238E27FC236}">
                <a16:creationId xmlns:a16="http://schemas.microsoft.com/office/drawing/2014/main" id="{D4DCA3DC-5BEA-4B3E-9F4B-84CC66E0D48A}"/>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countries</a:t>
            </a:r>
            <a:endParaRPr sz="900"/>
          </a:p>
        </p:txBody>
      </p:sp>
      <p:sp>
        <p:nvSpPr>
          <p:cNvPr id="15" name="Text 13">
            <a:extLst xmlns:a="http://schemas.openxmlformats.org/drawingml/2006/main">
              <a:ext uri="{FF2B5EF4-FFF2-40B4-BE49-F238E27FC236}">
                <a16:creationId xmlns:a16="http://schemas.microsoft.com/office/drawing/2014/main" id="{C8EC2EB1-2149-4AC2-9010-4F1A9543EDD9}"/>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250+</a:t>
            </a:r>
            <a:endParaRPr sz="2600"/>
          </a:p>
        </p:txBody>
      </p:sp>
      <p:sp>
        <p:nvSpPr>
          <p:cNvPr id="16" name="Text 14">
            <a:extLst xmlns:a="http://schemas.openxmlformats.org/drawingml/2006/main">
              <a:ext uri="{FF2B5EF4-FFF2-40B4-BE49-F238E27FC236}">
                <a16:creationId xmlns:a16="http://schemas.microsoft.com/office/drawing/2014/main" id="{050ECB4D-9D02-4C2C-9CDF-260DB7614EA8}"/>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integration</a:t>
            </a:r>
            <a:endParaRPr sz="900"/>
          </a:p>
          <a:p xmlns:a="http://schemas.openxmlformats.org/drawingml/2006/main">
            <a:pPr marL="0" indent="0">
              <a:lnSpc>
                <a:spcPts val="1100"/>
              </a:lnSpc>
              <a:buNone/>
            </a:pPr>
            <a:r>
              <a:rPr sz="900">
                <a:solidFill>
                  <a:srgbClr val="8FA9C4"/>
                </a:solidFill>
                <a:latin typeface="Arial"/>
                <a:ea typeface="Arial"/>
                <a:cs typeface="Arial"/>
              </a:rPr>
              <a:t>touchpoints</a:t>
            </a:r>
            <a:endParaRPr sz="900"/>
          </a:p>
        </p:txBody>
      </p:sp>
      <p:sp>
        <p:nvSpPr>
          <p:cNvPr id="17" name="Text 15">
            <a:extLst xmlns:a="http://schemas.openxmlformats.org/drawingml/2006/main">
              <a:ext uri="{FF2B5EF4-FFF2-40B4-BE49-F238E27FC236}">
                <a16:creationId xmlns:a16="http://schemas.microsoft.com/office/drawing/2014/main" id="{5F57D4AF-F075-43E2-9D42-345949F814DD}"/>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8</a:t>
            </a:r>
            <a:endParaRPr sz="2600"/>
          </a:p>
        </p:txBody>
      </p:sp>
      <p:sp>
        <p:nvSpPr>
          <p:cNvPr id="18" name="Text 16">
            <a:extLst xmlns:a="http://schemas.openxmlformats.org/drawingml/2006/main">
              <a:ext uri="{FF2B5EF4-FFF2-40B4-BE49-F238E27FC236}">
                <a16:creationId xmlns:a16="http://schemas.microsoft.com/office/drawing/2014/main" id="{40B2296C-D061-4006-AA4F-04D5D306F56A}"/>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lines of</a:t>
            </a:r>
            <a:endParaRPr sz="900"/>
          </a:p>
          <a:p xmlns:a="http://schemas.openxmlformats.org/drawingml/2006/main">
            <a:pPr marL="0" indent="0">
              <a:lnSpc>
                <a:spcPts val="1100"/>
              </a:lnSpc>
              <a:buNone/>
            </a:pPr>
            <a:r>
              <a:rPr sz="900">
                <a:solidFill>
                  <a:srgbClr val="8FA9C4"/>
                </a:solidFill>
                <a:latin typeface="Arial"/>
                <a:ea typeface="Arial"/>
                <a:cs typeface="Arial"/>
              </a:rPr>
              <a:t>business</a:t>
            </a:r>
            <a:endParaRPr sz="900"/>
          </a:p>
        </p:txBody>
      </p:sp>
      <p:sp>
        <p:nvSpPr>
          <p:cNvPr id="19" name="Shape 17">
            <a:extLst xmlns:a="http://schemas.openxmlformats.org/drawingml/2006/main">
              <a:ext uri="{FF2B5EF4-FFF2-40B4-BE49-F238E27FC236}">
                <a16:creationId xmlns:a16="http://schemas.microsoft.com/office/drawing/2014/main" id="{3E83CB04-C7E1-4958-A226-6E969930121B}"/>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9BA70A1E-7FC4-4FFA-B6AC-1B607CFFCCAE}"/>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REFERENCE DEPLOYMENT  ·  VENDOR-PUBLISHED FIGURES</a:t>
            </a:r>
            <a:endParaRPr sz="800"/>
          </a:p>
        </p:txBody>
      </p:sp>
      <p:sp>
        <p:nvSpPr>
          <p:cNvPr id="21" name="Text 19">
            <a:extLst xmlns:a="http://schemas.openxmlformats.org/drawingml/2006/main">
              <a:ext uri="{FF2B5EF4-FFF2-40B4-BE49-F238E27FC236}">
                <a16:creationId xmlns:a16="http://schemas.microsoft.com/office/drawing/2014/main" id="{03DA75D6-A9B6-482D-92C0-B9AC9F6DA0BB}"/>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30,000+ concurrent users    ·    50+ integrated systems    ·    178 real-time APIs    ·    13 international go-lives</a:t>
            </a:r>
            <a:endParaRPr sz="1050"/>
          </a:p>
        </p:txBody>
      </p:sp>
      <p:sp>
        <p:nvSpPr>
          <p:cNvPr id="22" name="Text 20">
            <a:extLst xmlns:a="http://schemas.openxmlformats.org/drawingml/2006/main">
              <a:ext uri="{FF2B5EF4-FFF2-40B4-BE49-F238E27FC236}">
                <a16:creationId xmlns:a16="http://schemas.microsoft.com/office/drawing/2014/main" id="{78C34BB7-739B-4D17-AC0F-8A4BC517F0B5}"/>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Analysis authored for solution and bid strategy  ·  2026</a:t>
            </a:r>
            <a:endParaRPr sz="1200"/>
          </a:p>
        </p:txBody>
      </p:sp>
      <p:sp>
        <p:nvSpPr>
          <p:cNvPr id="23" name="Text 21">
            <a:extLst xmlns:a="http://schemas.openxmlformats.org/drawingml/2006/main">
              <a:ext uri="{FF2B5EF4-FFF2-40B4-BE49-F238E27FC236}">
                <a16:creationId xmlns:a16="http://schemas.microsoft.com/office/drawing/2014/main" id="{ADD3E736-2F13-4C9A-87A2-9CB0FDFE0620}"/>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This is an analysis of a reference deployment, not a claim of delivery ownership — see slide 3.</a:t>
            </a:r>
            <a:endParaRPr sz="850"/>
          </a:p>
        </p:txBody>
      </p:sp>
    </p:spTree>
    <p:extLst>
      <p:ext uri="{BB962C8B-B14F-4D97-AF65-F5344CB8AC3E}">
        <p14:creationId xmlns:p14="http://schemas.microsoft.com/office/powerpoint/2010/main" val="283343579"/>
      </p:ext>
    </p:extLst>
  </p:cSld>
</p:sld>
</file>

<file path=ppt/slides/slide7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65C6774-25C4-4C79-9A4B-F8600C976D9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ECA722BD-A425-4407-8235-B0720100A7C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At 300,000 users the hard problems stop being functional and become structural —</a:t>
            </a:r>
            <a:endParaRPr sz="1900"/>
          </a:p>
          <a:p xmlns:a="http://schemas.openxmlformats.org/drawingml/2006/main">
            <a:pPr marL="0" indent="0">
              <a:lnSpc>
                <a:spcPts val="2400"/>
              </a:lnSpc>
              <a:buNone/>
            </a:pPr>
            <a:r>
              <a:rPr sz="1900" b="1">
                <a:solidFill>
                  <a:srgbClr val="102A43"/>
                </a:solidFill>
                <a:latin typeface="Arial"/>
                <a:ea typeface="Arial"/>
                <a:cs typeface="Arial"/>
              </a:rPr>
              <a:t>integration surface, concurrency, jurisdiction and change throughput</a:t>
            </a:r>
            <a:endParaRPr sz="1900"/>
          </a:p>
        </p:txBody>
      </p:sp>
      <p:sp>
        <p:nvSpPr>
          <p:cNvPr id="4" name="Shape 2">
            <a:extLst xmlns:a="http://schemas.openxmlformats.org/drawingml/2006/main">
              <a:ext uri="{FF2B5EF4-FFF2-40B4-BE49-F238E27FC236}">
                <a16:creationId xmlns:a16="http://schemas.microsoft.com/office/drawing/2014/main" id="{1F3F3608-6D88-4A25-960C-4FD32298CAD3}"/>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E3F1074B-6EAF-42D8-851C-0C1665ADD204}"/>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D321EE6B-9042-4A3A-950C-53D5C96F1C17}"/>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single CRM instance serving 300,000+ users and roughly 45 crore customers across 23,000+ branches, eight lines of business and nineteen countries.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Functionally it does what any bank CRM does: leads, activities, service requests, campaigns, dashboards.</a:t>
            </a:r>
            <a:endParaRPr sz="980"/>
          </a:p>
        </p:txBody>
      </p:sp>
      <p:sp>
        <p:nvSpPr>
          <p:cNvPr id="7" name="Shape 5">
            <a:extLst xmlns:a="http://schemas.openxmlformats.org/drawingml/2006/main">
              <a:ext uri="{FF2B5EF4-FFF2-40B4-BE49-F238E27FC236}">
                <a16:creationId xmlns:a16="http://schemas.microsoft.com/office/drawing/2014/main" id="{DCA932B8-6AE6-444F-B690-8C32384E2743}"/>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4A661079-1435-4A51-A9B8-712124BA53C8}"/>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B0B1C315-F926-4D61-9A20-5CFED625C993}"/>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None of the difficulty is in the feature list. It sits in four places that only appear above a certain size: 30,000 concurrent sessions, 250+ integration touchpoints, thirteen jurisdictions with different data rules, and a change queue shared by eight businesses.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of these fails in a different way, and none is solved by adding capacity.</a:t>
            </a:r>
            <a:endParaRPr sz="980"/>
          </a:p>
        </p:txBody>
      </p:sp>
      <p:sp>
        <p:nvSpPr>
          <p:cNvPr id="10" name="Shape 8">
            <a:extLst xmlns:a="http://schemas.openxmlformats.org/drawingml/2006/main">
              <a:ext uri="{FF2B5EF4-FFF2-40B4-BE49-F238E27FC236}">
                <a16:creationId xmlns:a16="http://schemas.microsoft.com/office/drawing/2014/main" id="{3B192DB1-3DD3-464A-96ED-3E77065CB02B}"/>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A0F0CB5E-6390-4CBF-B5B2-272271BB3AFF}"/>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argument</a:t>
            </a:r>
            <a:endParaRPr sz="1250"/>
          </a:p>
        </p:txBody>
      </p:sp>
      <p:sp>
        <p:nvSpPr>
          <p:cNvPr id="12" name="Text 10">
            <a:extLst xmlns:a="http://schemas.openxmlformats.org/drawingml/2006/main">
              <a:ext uri="{FF2B5EF4-FFF2-40B4-BE49-F238E27FC236}">
                <a16:creationId xmlns:a16="http://schemas.microsoft.com/office/drawing/2014/main" id="{C0A76D21-A9CC-4D8E-8E7C-A6913A37846B}"/>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Above a threshold, scale converts three design choices from preferences into constraints: the integration contract, the tenancy and residency model, and who owns the change queue.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Get those wrong and no amount of engineering recovers it — the deployment becomes unchangeable rather than slow.</a:t>
            </a:r>
            <a:endParaRPr sz="980"/>
          </a:p>
        </p:txBody>
      </p:sp>
      <p:sp>
        <p:nvSpPr>
          <p:cNvPr id="13" name="Text 11">
            <a:extLst xmlns:a="http://schemas.openxmlformats.org/drawingml/2006/main">
              <a:ext uri="{FF2B5EF4-FFF2-40B4-BE49-F238E27FC236}">
                <a16:creationId xmlns:a16="http://schemas.microsoft.com/office/drawing/2014/main" id="{AD1F188D-A108-4EE0-81A7-BE31B0F4077D}"/>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701EC7FA-3837-4390-ACAD-FD96DB48B96B}"/>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4309F1BE-1977-4F52-A449-BC4F58E9BB89}"/>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300K+</a:t>
            </a:r>
            <a:endParaRPr sz="2100"/>
          </a:p>
        </p:txBody>
      </p:sp>
      <p:sp>
        <p:nvSpPr>
          <p:cNvPr id="16" name="Text 14">
            <a:extLst xmlns:a="http://schemas.openxmlformats.org/drawingml/2006/main">
              <a:ext uri="{FF2B5EF4-FFF2-40B4-BE49-F238E27FC236}">
                <a16:creationId xmlns:a16="http://schemas.microsoft.com/office/drawing/2014/main" id="{8ACE20BF-7577-4836-9CBA-03A616E98FB1}"/>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platform users</a:t>
            </a:r>
            <a:endParaRPr sz="860"/>
          </a:p>
        </p:txBody>
      </p:sp>
      <p:sp>
        <p:nvSpPr>
          <p:cNvPr id="17" name="Shape 15">
            <a:extLst xmlns:a="http://schemas.openxmlformats.org/drawingml/2006/main">
              <a:ext uri="{FF2B5EF4-FFF2-40B4-BE49-F238E27FC236}">
                <a16:creationId xmlns:a16="http://schemas.microsoft.com/office/drawing/2014/main" id="{2D3D6D3E-B8C4-4EAE-A5CF-9F641E540A11}"/>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47C82ED8-B69D-4AA3-87B1-C6FD63384B62}"/>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30K+</a:t>
            </a:r>
            <a:endParaRPr sz="2100"/>
          </a:p>
        </p:txBody>
      </p:sp>
      <p:sp>
        <p:nvSpPr>
          <p:cNvPr id="19" name="Text 17">
            <a:extLst xmlns:a="http://schemas.openxmlformats.org/drawingml/2006/main">
              <a:ext uri="{FF2B5EF4-FFF2-40B4-BE49-F238E27FC236}">
                <a16:creationId xmlns:a16="http://schemas.microsoft.com/office/drawing/2014/main" id="{CF571F8C-EC17-40D1-9800-629584048AFD}"/>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concurrent sessions</a:t>
            </a:r>
            <a:endParaRPr sz="860"/>
          </a:p>
        </p:txBody>
      </p:sp>
      <p:sp>
        <p:nvSpPr>
          <p:cNvPr id="20" name="Shape 18">
            <a:extLst xmlns:a="http://schemas.openxmlformats.org/drawingml/2006/main">
              <a:ext uri="{FF2B5EF4-FFF2-40B4-BE49-F238E27FC236}">
                <a16:creationId xmlns:a16="http://schemas.microsoft.com/office/drawing/2014/main" id="{1082DD1A-C689-4A20-9CA3-FFB0244C0595}"/>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960A90B5-B66F-4468-A4F0-3C311C1AD145}"/>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250+</a:t>
            </a:r>
            <a:endParaRPr sz="2100"/>
          </a:p>
        </p:txBody>
      </p:sp>
      <p:sp>
        <p:nvSpPr>
          <p:cNvPr id="22" name="Text 20">
            <a:extLst xmlns:a="http://schemas.openxmlformats.org/drawingml/2006/main">
              <a:ext uri="{FF2B5EF4-FFF2-40B4-BE49-F238E27FC236}">
                <a16:creationId xmlns:a16="http://schemas.microsoft.com/office/drawing/2014/main" id="{85DB41B7-7D88-40A4-A20E-A8832A8B612A}"/>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integration touchpoints</a:t>
            </a:r>
            <a:endParaRPr sz="860"/>
          </a:p>
        </p:txBody>
      </p:sp>
      <p:sp>
        <p:nvSpPr>
          <p:cNvPr id="23" name="Shape 21">
            <a:extLst xmlns:a="http://schemas.openxmlformats.org/drawingml/2006/main">
              <a:ext uri="{FF2B5EF4-FFF2-40B4-BE49-F238E27FC236}">
                <a16:creationId xmlns:a16="http://schemas.microsoft.com/office/drawing/2014/main" id="{F7E07152-61A5-4264-852D-2EE77C5DF746}"/>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022E2FC0-4086-4DAB-AD29-6E97CDB1962A}"/>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178</a:t>
            </a:r>
            <a:endParaRPr sz="2100"/>
          </a:p>
        </p:txBody>
      </p:sp>
      <p:sp>
        <p:nvSpPr>
          <p:cNvPr id="25" name="Text 23">
            <a:extLst xmlns:a="http://schemas.openxmlformats.org/drawingml/2006/main">
              <a:ext uri="{FF2B5EF4-FFF2-40B4-BE49-F238E27FC236}">
                <a16:creationId xmlns:a16="http://schemas.microsoft.com/office/drawing/2014/main" id="{1F0BA87A-FA75-42D1-BEE1-883099F92D7E}"/>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real-time APIs</a:t>
            </a:r>
            <a:endParaRPr sz="860"/>
          </a:p>
        </p:txBody>
      </p:sp>
      <p:sp>
        <p:nvSpPr>
          <p:cNvPr id="26" name="Shape 24">
            <a:extLst xmlns:a="http://schemas.openxmlformats.org/drawingml/2006/main">
              <a:ext uri="{FF2B5EF4-FFF2-40B4-BE49-F238E27FC236}">
                <a16:creationId xmlns:a16="http://schemas.microsoft.com/office/drawing/2014/main" id="{046AD817-1A01-4867-8F51-5CD27BFDCFD5}"/>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E9C8AD82-0C25-4DF3-833A-21D274302D46}"/>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19</a:t>
            </a:r>
            <a:endParaRPr sz="2100"/>
          </a:p>
        </p:txBody>
      </p:sp>
      <p:sp>
        <p:nvSpPr>
          <p:cNvPr id="28" name="Text 26">
            <a:extLst xmlns:a="http://schemas.openxmlformats.org/drawingml/2006/main">
              <a:ext uri="{FF2B5EF4-FFF2-40B4-BE49-F238E27FC236}">
                <a16:creationId xmlns:a16="http://schemas.microsoft.com/office/drawing/2014/main" id="{A67C5C64-66CA-430B-8C4C-89B475C727BE}"/>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countries, 13 live</a:t>
            </a:r>
            <a:endParaRPr sz="860"/>
          </a:p>
        </p:txBody>
      </p:sp>
      <p:sp>
        <p:nvSpPr>
          <p:cNvPr id="29" name="Shape 27">
            <a:extLst xmlns:a="http://schemas.openxmlformats.org/drawingml/2006/main">
              <a:ext uri="{FF2B5EF4-FFF2-40B4-BE49-F238E27FC236}">
                <a16:creationId xmlns:a16="http://schemas.microsoft.com/office/drawing/2014/main" id="{5A9DDF21-948B-44CD-995B-7795856144AD}"/>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BEAFF129-BCE9-41B2-9B29-BACE6D449FC4}"/>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8</a:t>
            </a:r>
            <a:endParaRPr sz="2100"/>
          </a:p>
        </p:txBody>
      </p:sp>
      <p:sp>
        <p:nvSpPr>
          <p:cNvPr id="31" name="Text 29">
            <a:extLst xmlns:a="http://schemas.openxmlformats.org/drawingml/2006/main">
              <a:ext uri="{FF2B5EF4-FFF2-40B4-BE49-F238E27FC236}">
                <a16:creationId xmlns:a16="http://schemas.microsoft.com/office/drawing/2014/main" id="{7CB941EC-69BE-4FF9-B8C8-59880DDF1210}"/>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lines of business</a:t>
            </a:r>
            <a:endParaRPr sz="860"/>
          </a:p>
        </p:txBody>
      </p:sp>
      <p:sp>
        <p:nvSpPr>
          <p:cNvPr id="32" name="Text 30">
            <a:extLst xmlns:a="http://schemas.openxmlformats.org/drawingml/2006/main">
              <a:ext uri="{FF2B5EF4-FFF2-40B4-BE49-F238E27FC236}">
                <a16:creationId xmlns:a16="http://schemas.microsoft.com/office/drawing/2014/main" id="{E0AE2873-CF6E-47DE-BA74-32DDE567225D}"/>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this analysis matters:  most CRM programmes are sized for the user count and then surprised by the integration surface, the jurisdictional spread and the change-throughput ceiling. Those three, not concurrency, are what actually decide whether a deployment of this size stays viable.</a:t>
            </a:r>
            <a:endParaRPr sz="1000"/>
          </a:p>
        </p:txBody>
      </p:sp>
      <p:sp>
        <p:nvSpPr>
          <p:cNvPr id="33" name="Shape 31">
            <a:extLst xmlns:a="http://schemas.openxmlformats.org/drawingml/2006/main">
              <a:ext uri="{FF2B5EF4-FFF2-40B4-BE49-F238E27FC236}">
                <a16:creationId xmlns:a16="http://schemas.microsoft.com/office/drawing/2014/main" id="{2B510B77-35B8-4B89-A9AF-AC903FB5744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64CADB5C-66C1-469E-970C-EBDDA384CDE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Reference-deployment figures published by the platform vendor, retained with attribution</a:t>
            </a:r>
            <a:endParaRPr sz="850"/>
          </a:p>
        </p:txBody>
      </p:sp>
      <p:sp>
        <p:nvSpPr>
          <p:cNvPr id="35" name="Text 33">
            <a:extLst xmlns:a="http://schemas.openxmlformats.org/drawingml/2006/main">
              <a:ext uri="{FF2B5EF4-FFF2-40B4-BE49-F238E27FC236}">
                <a16:creationId xmlns:a16="http://schemas.microsoft.com/office/drawing/2014/main" id="{78DF2EC8-DE67-4916-9A69-AAA4DC06663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389755721"/>
      </p:ext>
    </p:extLst>
  </p:cSld>
</p:sld>
</file>

<file path=ppt/slides/slide7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0222D7-44CD-49C6-9BDF-793B53A8E87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FD1C53C1-CA04-4155-A362-590FB8A8084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This is analysis of a reference deployment, not a delivery claim — the boundary is</a:t>
            </a:r>
            <a:endParaRPr sz="1900"/>
          </a:p>
          <a:p xmlns:a="http://schemas.openxmlformats.org/drawingml/2006/main">
            <a:pPr marL="0" indent="0">
              <a:lnSpc>
                <a:spcPts val="2400"/>
              </a:lnSpc>
              <a:buNone/>
            </a:pPr>
            <a:r>
              <a:rPr sz="1900" b="1">
                <a:solidFill>
                  <a:srgbClr val="102A43"/>
                </a:solidFill>
                <a:latin typeface="Arial"/>
                <a:ea typeface="Arial"/>
                <a:cs typeface="Arial"/>
              </a:rPr>
              <a:t>stated here so nothing in the deck has to be inferred</a:t>
            </a:r>
            <a:endParaRPr sz="1900"/>
          </a:p>
        </p:txBody>
      </p:sp>
      <p:sp>
        <p:nvSpPr>
          <p:cNvPr id="4" name="Shape 2">
            <a:extLst xmlns:a="http://schemas.openxmlformats.org/drawingml/2006/main">
              <a:ext uri="{FF2B5EF4-FFF2-40B4-BE49-F238E27FC236}">
                <a16:creationId xmlns:a16="http://schemas.microsoft.com/office/drawing/2014/main" id="{4A4BB4BE-2321-42E7-851D-38AD14C0F9AF}"/>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70B0FACE-60D1-42F5-90A3-75FA755C9CF6}"/>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F3D97F53-C75A-4437-AB3A-88006B827261}"/>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VENDOR-PUBLISHED</a:t>
            </a:r>
            <a:endParaRPr sz="740"/>
          </a:p>
        </p:txBody>
      </p:sp>
      <p:sp>
        <p:nvSpPr>
          <p:cNvPr id="7" name="Text 5">
            <a:extLst xmlns:a="http://schemas.openxmlformats.org/drawingml/2006/main">
              <a:ext uri="{FF2B5EF4-FFF2-40B4-BE49-F238E27FC236}">
                <a16:creationId xmlns:a16="http://schemas.microsoft.com/office/drawing/2014/main" id="{44C9A84E-8DAD-42F3-B1F8-18E5E3660A6C}"/>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Reference context</a:t>
            </a:r>
            <a:endParaRPr sz="1200"/>
          </a:p>
        </p:txBody>
      </p:sp>
      <p:sp>
        <p:nvSpPr>
          <p:cNvPr id="8" name="Text 6">
            <a:extLst xmlns:a="http://schemas.openxmlformats.org/drawingml/2006/main">
              <a:ext uri="{FF2B5EF4-FFF2-40B4-BE49-F238E27FC236}">
                <a16:creationId xmlns:a16="http://schemas.microsoft.com/office/drawing/2014/main" id="{12384E66-D809-4CEF-AA5C-4E07FBE71D68}"/>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Deployment figures published by the platform vendor. Retained with attribution and not independently audited.</a:t>
            </a:r>
            <a:endParaRPr sz="920"/>
          </a:p>
        </p:txBody>
      </p:sp>
      <p:sp>
        <p:nvSpPr>
          <p:cNvPr id="9" name="Shape 7">
            <a:extLst xmlns:a="http://schemas.openxmlformats.org/drawingml/2006/main">
              <a:ext uri="{FF2B5EF4-FFF2-40B4-BE49-F238E27FC236}">
                <a16:creationId xmlns:a16="http://schemas.microsoft.com/office/drawing/2014/main" id="{EBB85C38-EDBE-4C66-85D9-0C605E132385}"/>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05A42A13-E9B6-4AC4-B76C-A1F978920492}"/>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300,000+ platform users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45 crore+ customers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23,000+ branches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30,000+ user concurrency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50+ integrated systems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19 countries, 13 go-lives</a:t>
            </a:r>
            <a:endParaRPr sz="930"/>
          </a:p>
        </p:txBody>
      </p:sp>
      <p:sp>
        <p:nvSpPr>
          <p:cNvPr id="11" name="Shape 9">
            <a:extLst xmlns:a="http://schemas.openxmlformats.org/drawingml/2006/main">
              <a:ext uri="{FF2B5EF4-FFF2-40B4-BE49-F238E27FC236}">
                <a16:creationId xmlns:a16="http://schemas.microsoft.com/office/drawing/2014/main" id="{52D57907-F9EA-4F1B-BDDA-581F2DCA114F}"/>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7D52D363-C2AD-4D2E-AEBE-CD7D39DE527F}"/>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6AFCCD8B-5EF1-46D5-8D70-AE36D1C26D1C}"/>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ANALYSIS</a:t>
            </a:r>
            <a:endParaRPr sz="740"/>
          </a:p>
        </p:txBody>
      </p:sp>
      <p:sp>
        <p:nvSpPr>
          <p:cNvPr id="14" name="Text 12">
            <a:extLst xmlns:a="http://schemas.openxmlformats.org/drawingml/2006/main">
              <a:ext uri="{FF2B5EF4-FFF2-40B4-BE49-F238E27FC236}">
                <a16:creationId xmlns:a16="http://schemas.microsoft.com/office/drawing/2014/main" id="{AA85CD5D-5DD2-473F-9A60-221E8DD32D0E}"/>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41F4A8F8-ED41-43A9-8B0D-118B6AC776C2}"/>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structural argument, the threshold model and the design rules. Authored to support solution and bid strategy on comparable enterprise pursuits.</a:t>
            </a:r>
            <a:endParaRPr sz="920"/>
          </a:p>
        </p:txBody>
      </p:sp>
      <p:sp>
        <p:nvSpPr>
          <p:cNvPr id="16" name="Shape 14">
            <a:extLst xmlns:a="http://schemas.openxmlformats.org/drawingml/2006/main">
              <a:ext uri="{FF2B5EF4-FFF2-40B4-BE49-F238E27FC236}">
                <a16:creationId xmlns:a16="http://schemas.microsoft.com/office/drawing/2014/main" id="{A680AFF5-0329-4A4D-9258-44FEA4537155}"/>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C8B26636-BA8E-4589-B7D6-026CC949A29D}"/>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four-threshold framework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Integration-surface decomposition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Change-throughput ceiling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Jurisdiction and residency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Design rules at this scale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Applied to live enterprise bids</a:t>
            </a:r>
            <a:endParaRPr sz="930"/>
          </a:p>
        </p:txBody>
      </p:sp>
      <p:sp>
        <p:nvSpPr>
          <p:cNvPr id="18" name="Shape 16">
            <a:extLst xmlns:a="http://schemas.openxmlformats.org/drawingml/2006/main">
              <a:ext uri="{FF2B5EF4-FFF2-40B4-BE49-F238E27FC236}">
                <a16:creationId xmlns:a16="http://schemas.microsoft.com/office/drawing/2014/main" id="{43034F21-8351-4513-B2D0-460B720F7FC2}"/>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CB234C72-E707-4D75-A4FD-79CA55C24C2E}"/>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76698BB6-2725-47A9-ABF8-FE80A4B9AAA3}"/>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3B46E048-29A2-4465-A498-8E243B0C5C13}"/>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9D90C164-71D2-4238-8FC3-994A4AA66E48}"/>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Curves and thresholds used to make the structural point. Directionally argued from the published figures, not measured.</a:t>
            </a:r>
            <a:endParaRPr sz="920"/>
          </a:p>
        </p:txBody>
      </p:sp>
      <p:sp>
        <p:nvSpPr>
          <p:cNvPr id="23" name="Shape 21">
            <a:extLst xmlns:a="http://schemas.openxmlformats.org/drawingml/2006/main">
              <a:ext uri="{FF2B5EF4-FFF2-40B4-BE49-F238E27FC236}">
                <a16:creationId xmlns:a16="http://schemas.microsoft.com/office/drawing/2014/main" id="{815A39CC-7611-4337-A7A8-F06D0C5D92D1}"/>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934D2E0A-C90B-4145-B9C9-D0822727C058}"/>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Superlinear cost curve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Change-queue contention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Concurrency failure modes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Rollout sequencing logic</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programme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Argument holds either way</a:t>
            </a:r>
            <a:endParaRPr sz="930"/>
          </a:p>
        </p:txBody>
      </p:sp>
      <p:sp>
        <p:nvSpPr>
          <p:cNvPr id="25" name="Shape 23">
            <a:extLst xmlns:a="http://schemas.openxmlformats.org/drawingml/2006/main">
              <a:ext uri="{FF2B5EF4-FFF2-40B4-BE49-F238E27FC236}">
                <a16:creationId xmlns:a16="http://schemas.microsoft.com/office/drawing/2014/main" id="{241CB11A-8E27-42B4-A376-D855767310B3}"/>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04F3511-2492-40D7-8D8B-3096AFA295D3}"/>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7EEC7A9E-19D9-4BC8-9F54-83AAF72B906F}"/>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D60CB313-C319-4B71-862C-EB4711D1997C}"/>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5ECDC22E-16FD-48A1-A581-E515244577B7}"/>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Explicitly outside this deck. Stated so the boundary is unambiguous rather than left to the reader.</a:t>
            </a:r>
            <a:endParaRPr sz="920"/>
          </a:p>
        </p:txBody>
      </p:sp>
      <p:sp>
        <p:nvSpPr>
          <p:cNvPr id="30" name="Shape 28">
            <a:extLst xmlns:a="http://schemas.openxmlformats.org/drawingml/2006/main">
              <a:ext uri="{FF2B5EF4-FFF2-40B4-BE49-F238E27FC236}">
                <a16:creationId xmlns:a16="http://schemas.microsoft.com/office/drawing/2014/main" id="{72E86DD4-250E-4920-BA43-55095EE9F06E}"/>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5BE77339-E847-4728-91E4-2DF7D252CA38}"/>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ownership of this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role on the implementation team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Access to the bank's internal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design artefact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Independently audited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the engagement</a:t>
            </a:r>
            <a:endParaRPr sz="930"/>
          </a:p>
        </p:txBody>
      </p:sp>
      <p:sp>
        <p:nvSpPr>
          <p:cNvPr id="32" name="Shape 30">
            <a:extLst xmlns:a="http://schemas.openxmlformats.org/drawingml/2006/main">
              <a:ext uri="{FF2B5EF4-FFF2-40B4-BE49-F238E27FC236}">
                <a16:creationId xmlns:a16="http://schemas.microsoft.com/office/drawing/2014/main" id="{EE700B0F-1D92-44A1-B371-2F84EDBD4A6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6AAA0C02-92A2-4EF9-9553-1A62CF96921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Vendor-published reference figures (context) · author's analysis (argument and models)</a:t>
            </a:r>
            <a:endParaRPr sz="850"/>
          </a:p>
        </p:txBody>
      </p:sp>
      <p:sp>
        <p:nvSpPr>
          <p:cNvPr id="34" name="Text 32">
            <a:extLst xmlns:a="http://schemas.openxmlformats.org/drawingml/2006/main">
              <a:ext uri="{FF2B5EF4-FFF2-40B4-BE49-F238E27FC236}">
                <a16:creationId xmlns:a16="http://schemas.microsoft.com/office/drawing/2014/main" id="{8DC01119-1CA6-4C0A-90E5-36753D15EBB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411866155"/>
      </p:ext>
    </p:extLst>
  </p:cSld>
</p:sld>
</file>

<file path=ppt/slides/slide7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13C351-D622-47D1-B758-99BD0E3C822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SCALE</a:t>
            </a:r>
            <a:endParaRPr sz="950"/>
          </a:p>
        </p:txBody>
      </p:sp>
      <p:sp>
        <p:nvSpPr>
          <p:cNvPr id="3" name="Text 1">
            <a:extLst xmlns:a="http://schemas.openxmlformats.org/drawingml/2006/main">
              <a:ext uri="{FF2B5EF4-FFF2-40B4-BE49-F238E27FC236}">
                <a16:creationId xmlns:a16="http://schemas.microsoft.com/office/drawing/2014/main" id="{D8A0432A-FE14-44D1-86C0-F6F9D4FC85A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Every dimension is an order of magnitude above a typical enterprise CRM — which is</a:t>
            </a:r>
            <a:endParaRPr sz="1900"/>
          </a:p>
          <a:p xmlns:a="http://schemas.openxmlformats.org/drawingml/2006/main">
            <a:pPr marL="0" indent="0">
              <a:lnSpc>
                <a:spcPts val="2400"/>
              </a:lnSpc>
              <a:buNone/>
            </a:pPr>
            <a:r>
              <a:rPr sz="1900" b="1">
                <a:solidFill>
                  <a:srgbClr val="102A43"/>
                </a:solidFill>
                <a:latin typeface="Arial"/>
                <a:ea typeface="Arial"/>
                <a:cs typeface="Arial"/>
              </a:rPr>
              <a:t>why the usual design intuitions stop applying</a:t>
            </a:r>
            <a:endParaRPr sz="1900"/>
          </a:p>
        </p:txBody>
      </p:sp>
      <p:sp>
        <p:nvSpPr>
          <p:cNvPr id="4" name="Shape 2">
            <a:extLst xmlns:a="http://schemas.openxmlformats.org/drawingml/2006/main">
              <a:ext uri="{FF2B5EF4-FFF2-40B4-BE49-F238E27FC236}">
                <a16:creationId xmlns:a16="http://schemas.microsoft.com/office/drawing/2014/main" id="{B0B35FA5-8C09-4AF9-B857-1EE19E47B71F}"/>
              </a:ext>
            </a:extLst>
          </p:cNvPr>
          <p:cNvSpPr>
            <a:spLocks xmlns:a="http://schemas.openxmlformats.org/drawingml/2006/main" noGrp="1"/>
          </p:cNvSpPr>
          <p:nvPr/>
        </p:nvSpPr>
        <p:spPr>
          <a:xfrm xmlns:a="http://schemas.openxmlformats.org/drawingml/2006/main">
            <a:off x="566928" y="1335024"/>
            <a:ext cx="1302220" cy="932688"/>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3BDD598C-69D5-4806-9AD1-28A3590E25C3}"/>
              </a:ext>
            </a:extLst>
          </p:cNvPr>
          <p:cNvSpPr>
            <a:spLocks xmlns:a="http://schemas.openxmlformats.org/drawingml/2006/main" noGrp="1"/>
          </p:cNvSpPr>
          <p:nvPr/>
        </p:nvSpPr>
        <p:spPr>
          <a:xfrm xmlns:a="http://schemas.openxmlformats.org/drawingml/2006/main">
            <a:off x="6949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300K+</a:t>
            </a:r>
            <a:endParaRPr sz="1600"/>
          </a:p>
        </p:txBody>
      </p:sp>
      <p:sp>
        <p:nvSpPr>
          <p:cNvPr id="6" name="Text 4">
            <a:extLst xmlns:a="http://schemas.openxmlformats.org/drawingml/2006/main">
              <a:ext uri="{FF2B5EF4-FFF2-40B4-BE49-F238E27FC236}">
                <a16:creationId xmlns:a16="http://schemas.microsoft.com/office/drawing/2014/main" id="{D9114CAC-0AB7-4011-9C03-52BA9B6494E6}"/>
              </a:ext>
            </a:extLst>
          </p:cNvPr>
          <p:cNvSpPr>
            <a:spLocks xmlns:a="http://schemas.openxmlformats.org/drawingml/2006/main" noGrp="1"/>
          </p:cNvSpPr>
          <p:nvPr/>
        </p:nvSpPr>
        <p:spPr>
          <a:xfrm xmlns:a="http://schemas.openxmlformats.org/drawingml/2006/main">
            <a:off x="69494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platform users</a:t>
            </a:r>
            <a:endParaRPr sz="860"/>
          </a:p>
        </p:txBody>
      </p:sp>
      <p:sp>
        <p:nvSpPr>
          <p:cNvPr id="7" name="Shape 5">
            <a:extLst xmlns:a="http://schemas.openxmlformats.org/drawingml/2006/main">
              <a:ext uri="{FF2B5EF4-FFF2-40B4-BE49-F238E27FC236}">
                <a16:creationId xmlns:a16="http://schemas.microsoft.com/office/drawing/2014/main" id="{B1EBACAA-707C-4B0A-BDF7-8F6C0C1903CC}"/>
              </a:ext>
            </a:extLst>
          </p:cNvPr>
          <p:cNvSpPr>
            <a:spLocks xmlns:a="http://schemas.openxmlformats.org/drawingml/2006/main" noGrp="1"/>
          </p:cNvSpPr>
          <p:nvPr/>
        </p:nvSpPr>
        <p:spPr>
          <a:xfrm xmlns:a="http://schemas.openxmlformats.org/drawingml/2006/main">
            <a:off x="1960588" y="1335024"/>
            <a:ext cx="1302220" cy="932688"/>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0FB5185C-56A4-4FEA-82EA-A1F80D62F36F}"/>
              </a:ext>
            </a:extLst>
          </p:cNvPr>
          <p:cNvSpPr>
            <a:spLocks xmlns:a="http://schemas.openxmlformats.org/drawingml/2006/main" noGrp="1"/>
          </p:cNvSpPr>
          <p:nvPr/>
        </p:nvSpPr>
        <p:spPr>
          <a:xfrm xmlns:a="http://schemas.openxmlformats.org/drawingml/2006/main">
            <a:off x="208860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30K+</a:t>
            </a:r>
            <a:endParaRPr sz="1600"/>
          </a:p>
        </p:txBody>
      </p:sp>
      <p:sp>
        <p:nvSpPr>
          <p:cNvPr id="9" name="Text 7">
            <a:extLst xmlns:a="http://schemas.openxmlformats.org/drawingml/2006/main">
              <a:ext uri="{FF2B5EF4-FFF2-40B4-BE49-F238E27FC236}">
                <a16:creationId xmlns:a16="http://schemas.microsoft.com/office/drawing/2014/main" id="{D37BAFBA-0CC7-46B4-AE95-B7325D4C82AB}"/>
              </a:ext>
            </a:extLst>
          </p:cNvPr>
          <p:cNvSpPr>
            <a:spLocks xmlns:a="http://schemas.openxmlformats.org/drawingml/2006/main" noGrp="1"/>
          </p:cNvSpPr>
          <p:nvPr/>
        </p:nvSpPr>
        <p:spPr>
          <a:xfrm xmlns:a="http://schemas.openxmlformats.org/drawingml/2006/main">
            <a:off x="208860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concurrent sessions</a:t>
            </a:r>
            <a:endParaRPr sz="860"/>
          </a:p>
        </p:txBody>
      </p:sp>
      <p:sp>
        <p:nvSpPr>
          <p:cNvPr id="10" name="Shape 8">
            <a:extLst xmlns:a="http://schemas.openxmlformats.org/drawingml/2006/main">
              <a:ext uri="{FF2B5EF4-FFF2-40B4-BE49-F238E27FC236}">
                <a16:creationId xmlns:a16="http://schemas.microsoft.com/office/drawing/2014/main" id="{AF2EE6B6-8CE1-41FB-AD60-01C28DB8DB51}"/>
              </a:ext>
            </a:extLst>
          </p:cNvPr>
          <p:cNvSpPr>
            <a:spLocks xmlns:a="http://schemas.openxmlformats.org/drawingml/2006/main" noGrp="1"/>
          </p:cNvSpPr>
          <p:nvPr/>
        </p:nvSpPr>
        <p:spPr>
          <a:xfrm xmlns:a="http://schemas.openxmlformats.org/drawingml/2006/main">
            <a:off x="3354248" y="1335024"/>
            <a:ext cx="1302220" cy="932688"/>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FDF65A4A-9E1D-407C-A2C1-6D28A209D2FE}"/>
              </a:ext>
            </a:extLst>
          </p:cNvPr>
          <p:cNvSpPr>
            <a:spLocks xmlns:a="http://schemas.openxmlformats.org/drawingml/2006/main" noGrp="1"/>
          </p:cNvSpPr>
          <p:nvPr/>
        </p:nvSpPr>
        <p:spPr>
          <a:xfrm xmlns:a="http://schemas.openxmlformats.org/drawingml/2006/main">
            <a:off x="348226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45 Cr+</a:t>
            </a:r>
            <a:endParaRPr sz="1600"/>
          </a:p>
        </p:txBody>
      </p:sp>
      <p:sp>
        <p:nvSpPr>
          <p:cNvPr id="12" name="Text 10">
            <a:extLst xmlns:a="http://schemas.openxmlformats.org/drawingml/2006/main">
              <a:ext uri="{FF2B5EF4-FFF2-40B4-BE49-F238E27FC236}">
                <a16:creationId xmlns:a16="http://schemas.microsoft.com/office/drawing/2014/main" id="{83BAF8E4-0375-4C85-ADA0-BF8CE0063DC6}"/>
              </a:ext>
            </a:extLst>
          </p:cNvPr>
          <p:cNvSpPr>
            <a:spLocks xmlns:a="http://schemas.openxmlformats.org/drawingml/2006/main" noGrp="1"/>
          </p:cNvSpPr>
          <p:nvPr/>
        </p:nvSpPr>
        <p:spPr>
          <a:xfrm xmlns:a="http://schemas.openxmlformats.org/drawingml/2006/main">
            <a:off x="348226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customers</a:t>
            </a:r>
            <a:endParaRPr sz="860"/>
          </a:p>
        </p:txBody>
      </p:sp>
      <p:sp>
        <p:nvSpPr>
          <p:cNvPr id="13" name="Shape 11">
            <a:extLst xmlns:a="http://schemas.openxmlformats.org/drawingml/2006/main">
              <a:ext uri="{FF2B5EF4-FFF2-40B4-BE49-F238E27FC236}">
                <a16:creationId xmlns:a16="http://schemas.microsoft.com/office/drawing/2014/main" id="{7F08D4E5-ACE2-4D3B-B177-C6339632D2FA}"/>
              </a:ext>
            </a:extLst>
          </p:cNvPr>
          <p:cNvSpPr>
            <a:spLocks xmlns:a="http://schemas.openxmlformats.org/drawingml/2006/main" noGrp="1"/>
          </p:cNvSpPr>
          <p:nvPr/>
        </p:nvSpPr>
        <p:spPr>
          <a:xfrm xmlns:a="http://schemas.openxmlformats.org/drawingml/2006/main">
            <a:off x="4747908" y="1335024"/>
            <a:ext cx="1302220" cy="932688"/>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C54EFE32-5BCD-43B6-B9A2-0CF39806DDFA}"/>
              </a:ext>
            </a:extLst>
          </p:cNvPr>
          <p:cNvSpPr>
            <a:spLocks xmlns:a="http://schemas.openxmlformats.org/drawingml/2006/main" noGrp="1"/>
          </p:cNvSpPr>
          <p:nvPr/>
        </p:nvSpPr>
        <p:spPr>
          <a:xfrm xmlns:a="http://schemas.openxmlformats.org/drawingml/2006/main">
            <a:off x="487592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23,000+</a:t>
            </a:r>
            <a:endParaRPr sz="1600"/>
          </a:p>
        </p:txBody>
      </p:sp>
      <p:sp>
        <p:nvSpPr>
          <p:cNvPr id="15" name="Text 13">
            <a:extLst xmlns:a="http://schemas.openxmlformats.org/drawingml/2006/main">
              <a:ext uri="{FF2B5EF4-FFF2-40B4-BE49-F238E27FC236}">
                <a16:creationId xmlns:a16="http://schemas.microsoft.com/office/drawing/2014/main" id="{0A2C34C6-E08C-4771-BD2D-A3BD58A9B243}"/>
              </a:ext>
            </a:extLst>
          </p:cNvPr>
          <p:cNvSpPr>
            <a:spLocks xmlns:a="http://schemas.openxmlformats.org/drawingml/2006/main" noGrp="1"/>
          </p:cNvSpPr>
          <p:nvPr/>
        </p:nvSpPr>
        <p:spPr>
          <a:xfrm xmlns:a="http://schemas.openxmlformats.org/drawingml/2006/main">
            <a:off x="487592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branches</a:t>
            </a:r>
            <a:endParaRPr sz="860"/>
          </a:p>
        </p:txBody>
      </p:sp>
      <p:sp>
        <p:nvSpPr>
          <p:cNvPr id="16" name="Shape 14">
            <a:extLst xmlns:a="http://schemas.openxmlformats.org/drawingml/2006/main">
              <a:ext uri="{FF2B5EF4-FFF2-40B4-BE49-F238E27FC236}">
                <a16:creationId xmlns:a16="http://schemas.microsoft.com/office/drawing/2014/main" id="{76FE479E-A8D5-4C5C-97E1-CFA65D68D62D}"/>
              </a:ext>
            </a:extLst>
          </p:cNvPr>
          <p:cNvSpPr>
            <a:spLocks xmlns:a="http://schemas.openxmlformats.org/drawingml/2006/main" noGrp="1"/>
          </p:cNvSpPr>
          <p:nvPr/>
        </p:nvSpPr>
        <p:spPr>
          <a:xfrm xmlns:a="http://schemas.openxmlformats.org/drawingml/2006/main">
            <a:off x="6141568" y="1335024"/>
            <a:ext cx="1302220" cy="932688"/>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B74B1D8D-1387-4732-908A-A7D534FA9C92}"/>
              </a:ext>
            </a:extLst>
          </p:cNvPr>
          <p:cNvSpPr>
            <a:spLocks xmlns:a="http://schemas.openxmlformats.org/drawingml/2006/main" noGrp="1"/>
          </p:cNvSpPr>
          <p:nvPr/>
        </p:nvSpPr>
        <p:spPr>
          <a:xfrm xmlns:a="http://schemas.openxmlformats.org/drawingml/2006/main">
            <a:off x="626958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50+</a:t>
            </a:r>
            <a:endParaRPr sz="1600"/>
          </a:p>
        </p:txBody>
      </p:sp>
      <p:sp>
        <p:nvSpPr>
          <p:cNvPr id="18" name="Text 16">
            <a:extLst xmlns:a="http://schemas.openxmlformats.org/drawingml/2006/main">
              <a:ext uri="{FF2B5EF4-FFF2-40B4-BE49-F238E27FC236}">
                <a16:creationId xmlns:a16="http://schemas.microsoft.com/office/drawing/2014/main" id="{EF6E1F4B-F982-4C7F-B1A7-548A6FDE51AE}"/>
              </a:ext>
            </a:extLst>
          </p:cNvPr>
          <p:cNvSpPr>
            <a:spLocks xmlns:a="http://schemas.openxmlformats.org/drawingml/2006/main" noGrp="1"/>
          </p:cNvSpPr>
          <p:nvPr/>
        </p:nvSpPr>
        <p:spPr>
          <a:xfrm xmlns:a="http://schemas.openxmlformats.org/drawingml/2006/main">
            <a:off x="626958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integrated systems</a:t>
            </a:r>
            <a:endParaRPr sz="860"/>
          </a:p>
        </p:txBody>
      </p:sp>
      <p:sp>
        <p:nvSpPr>
          <p:cNvPr id="19" name="Shape 17">
            <a:extLst xmlns:a="http://schemas.openxmlformats.org/drawingml/2006/main">
              <a:ext uri="{FF2B5EF4-FFF2-40B4-BE49-F238E27FC236}">
                <a16:creationId xmlns:a16="http://schemas.microsoft.com/office/drawing/2014/main" id="{6703AFCD-21B9-479D-98EA-02D99FFF721A}"/>
              </a:ext>
            </a:extLst>
          </p:cNvPr>
          <p:cNvSpPr>
            <a:spLocks xmlns:a="http://schemas.openxmlformats.org/drawingml/2006/main" noGrp="1"/>
          </p:cNvSpPr>
          <p:nvPr/>
        </p:nvSpPr>
        <p:spPr>
          <a:xfrm xmlns:a="http://schemas.openxmlformats.org/drawingml/2006/main">
            <a:off x="7535228" y="1335024"/>
            <a:ext cx="1302220" cy="932688"/>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B24CC088-E04E-40F2-B9D9-30862AA7FEC4}"/>
              </a:ext>
            </a:extLst>
          </p:cNvPr>
          <p:cNvSpPr>
            <a:spLocks xmlns:a="http://schemas.openxmlformats.org/drawingml/2006/main" noGrp="1"/>
          </p:cNvSpPr>
          <p:nvPr/>
        </p:nvSpPr>
        <p:spPr>
          <a:xfrm xmlns:a="http://schemas.openxmlformats.org/drawingml/2006/main">
            <a:off x="76632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250+</a:t>
            </a:r>
            <a:endParaRPr sz="1600"/>
          </a:p>
        </p:txBody>
      </p:sp>
      <p:sp>
        <p:nvSpPr>
          <p:cNvPr id="21" name="Text 19">
            <a:extLst xmlns:a="http://schemas.openxmlformats.org/drawingml/2006/main">
              <a:ext uri="{FF2B5EF4-FFF2-40B4-BE49-F238E27FC236}">
                <a16:creationId xmlns:a16="http://schemas.microsoft.com/office/drawing/2014/main" id="{EBB99AF2-F0E3-479A-B383-BF6F1F4469AD}"/>
              </a:ext>
            </a:extLst>
          </p:cNvPr>
          <p:cNvSpPr>
            <a:spLocks xmlns:a="http://schemas.openxmlformats.org/drawingml/2006/main" noGrp="1"/>
          </p:cNvSpPr>
          <p:nvPr/>
        </p:nvSpPr>
        <p:spPr>
          <a:xfrm xmlns:a="http://schemas.openxmlformats.org/drawingml/2006/main">
            <a:off x="7663244"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integration touchpoints</a:t>
            </a:r>
            <a:endParaRPr sz="860"/>
          </a:p>
        </p:txBody>
      </p:sp>
      <p:sp>
        <p:nvSpPr>
          <p:cNvPr id="22" name="Shape 20">
            <a:extLst xmlns:a="http://schemas.openxmlformats.org/drawingml/2006/main">
              <a:ext uri="{FF2B5EF4-FFF2-40B4-BE49-F238E27FC236}">
                <a16:creationId xmlns:a16="http://schemas.microsoft.com/office/drawing/2014/main" id="{7259B967-11BD-422E-836F-C0EEB7AD4DE7}"/>
              </a:ext>
            </a:extLst>
          </p:cNvPr>
          <p:cNvSpPr>
            <a:spLocks xmlns:a="http://schemas.openxmlformats.org/drawingml/2006/main" noGrp="1"/>
          </p:cNvSpPr>
          <p:nvPr/>
        </p:nvSpPr>
        <p:spPr>
          <a:xfrm xmlns:a="http://schemas.openxmlformats.org/drawingml/2006/main">
            <a:off x="8928887" y="1335024"/>
            <a:ext cx="1302220" cy="932688"/>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81E758DB-9B93-4225-B342-F388067F9AD4}"/>
              </a:ext>
            </a:extLst>
          </p:cNvPr>
          <p:cNvSpPr>
            <a:spLocks xmlns:a="http://schemas.openxmlformats.org/drawingml/2006/main" noGrp="1"/>
          </p:cNvSpPr>
          <p:nvPr/>
        </p:nvSpPr>
        <p:spPr>
          <a:xfrm xmlns:a="http://schemas.openxmlformats.org/drawingml/2006/main">
            <a:off x="905690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19</a:t>
            </a:r>
            <a:endParaRPr sz="1600"/>
          </a:p>
        </p:txBody>
      </p:sp>
      <p:sp>
        <p:nvSpPr>
          <p:cNvPr id="24" name="Text 22">
            <a:extLst xmlns:a="http://schemas.openxmlformats.org/drawingml/2006/main">
              <a:ext uri="{FF2B5EF4-FFF2-40B4-BE49-F238E27FC236}">
                <a16:creationId xmlns:a16="http://schemas.microsoft.com/office/drawing/2014/main" id="{4014A3CF-D238-4236-AA52-DD45B21AE220}"/>
              </a:ext>
            </a:extLst>
          </p:cNvPr>
          <p:cNvSpPr>
            <a:spLocks xmlns:a="http://schemas.openxmlformats.org/drawingml/2006/main" noGrp="1"/>
          </p:cNvSpPr>
          <p:nvPr/>
        </p:nvSpPr>
        <p:spPr>
          <a:xfrm xmlns:a="http://schemas.openxmlformats.org/drawingml/2006/main">
            <a:off x="9056903"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countries in scope</a:t>
            </a:r>
            <a:endParaRPr sz="860"/>
          </a:p>
        </p:txBody>
      </p:sp>
      <p:sp>
        <p:nvSpPr>
          <p:cNvPr id="25" name="Shape 23">
            <a:extLst xmlns:a="http://schemas.openxmlformats.org/drawingml/2006/main">
              <a:ext uri="{FF2B5EF4-FFF2-40B4-BE49-F238E27FC236}">
                <a16:creationId xmlns:a16="http://schemas.microsoft.com/office/drawing/2014/main" id="{AE9F99DC-C412-4FED-95D7-1EF57E1A2B0D}"/>
              </a:ext>
            </a:extLst>
          </p:cNvPr>
          <p:cNvSpPr>
            <a:spLocks xmlns:a="http://schemas.openxmlformats.org/drawingml/2006/main" noGrp="1"/>
          </p:cNvSpPr>
          <p:nvPr/>
        </p:nvSpPr>
        <p:spPr>
          <a:xfrm xmlns:a="http://schemas.openxmlformats.org/drawingml/2006/main">
            <a:off x="10322547" y="1335024"/>
            <a:ext cx="1302220" cy="932688"/>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3B9EE178-8D1C-42B1-B8F5-2FF747BF1E06}"/>
              </a:ext>
            </a:extLst>
          </p:cNvPr>
          <p:cNvSpPr>
            <a:spLocks xmlns:a="http://schemas.openxmlformats.org/drawingml/2006/main" noGrp="1"/>
          </p:cNvSpPr>
          <p:nvPr/>
        </p:nvSpPr>
        <p:spPr>
          <a:xfrm xmlns:a="http://schemas.openxmlformats.org/drawingml/2006/main">
            <a:off x="1045056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13</a:t>
            </a:r>
            <a:endParaRPr sz="1600"/>
          </a:p>
        </p:txBody>
      </p:sp>
      <p:sp>
        <p:nvSpPr>
          <p:cNvPr id="27" name="Text 25">
            <a:extLst xmlns:a="http://schemas.openxmlformats.org/drawingml/2006/main">
              <a:ext uri="{FF2B5EF4-FFF2-40B4-BE49-F238E27FC236}">
                <a16:creationId xmlns:a16="http://schemas.microsoft.com/office/drawing/2014/main" id="{C259C026-6C43-4476-BCCD-E9CA86188F62}"/>
              </a:ext>
            </a:extLst>
          </p:cNvPr>
          <p:cNvSpPr>
            <a:spLocks xmlns:a="http://schemas.openxmlformats.org/drawingml/2006/main" noGrp="1"/>
          </p:cNvSpPr>
          <p:nvPr/>
        </p:nvSpPr>
        <p:spPr>
          <a:xfrm xmlns:a="http://schemas.openxmlformats.org/drawingml/2006/main">
            <a:off x="10450563" y="1847088"/>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international go-lives</a:t>
            </a:r>
            <a:endParaRPr sz="860"/>
          </a:p>
        </p:txBody>
      </p:sp>
      <p:graphicFrame>
        <p:nvGraphicFramePr>
          <p:cNvPr id="65" name="Chart 0"/>
          <p:cNvGraphicFramePr/>
          <p:nvPr/>
        </p:nvGraphicFramePr>
        <p:xfrm>
          <a:off xmlns:a="http://schemas.openxmlformats.org/drawingml/2006/main" x="566928" y="2523744"/>
          <a:ext xmlns:a="http://schemas.openxmlformats.org/drawingml/2006/main" cx="5943600" cy="2651760"/>
        </p:xfrm>
        <a:graphic xmlns:a="http://schemas.openxmlformats.org/drawingml/2006/main">
          <a:graphicData uri="http://schemas.openxmlformats.org/drawingml/2006/chart">
            <c:chart xmlns:r="http://schemas.openxmlformats.org/officeDocument/2006/relationships" xmlns:c="http://schemas.openxmlformats.org/drawingml/2006/chart" r:id="R8830d82dfcdd43dd"/>
          </a:graphicData>
        </a:graphic>
      </p:graphicFrame>
      <p:sp>
        <p:nvSpPr>
          <p:cNvPr id="29" name="Text 26">
            <a:extLst xmlns:a="http://schemas.openxmlformats.org/drawingml/2006/main">
              <a:ext uri="{FF2B5EF4-FFF2-40B4-BE49-F238E27FC236}">
                <a16:creationId xmlns:a16="http://schemas.microsoft.com/office/drawing/2014/main" id="{0AEAF550-B64E-4698-A563-6783C696845A}"/>
              </a:ext>
            </a:extLst>
          </p:cNvPr>
          <p:cNvSpPr>
            <a:spLocks xmlns:a="http://schemas.openxmlformats.org/drawingml/2006/main" noGrp="1"/>
          </p:cNvSpPr>
          <p:nvPr/>
        </p:nvSpPr>
        <p:spPr>
          <a:xfrm xmlns:a="http://schemas.openxmlformats.org/drawingml/2006/main">
            <a:off x="566928" y="5248656"/>
            <a:ext cx="5943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i="1">
                <a:solidFill>
                  <a:srgbClr val="627D98"/>
                </a:solidFill>
                <a:latin typeface="Arial"/>
                <a:ea typeface="Arial"/>
                <a:cs typeface="Arial"/>
              </a:rPr>
              <a:t>Decomposition of the integration surface — 250+ touchpoints across five interface classes</a:t>
            </a:r>
            <a:endParaRPr sz="900"/>
          </a:p>
        </p:txBody>
      </p:sp>
      <p:sp>
        <p:nvSpPr>
          <p:cNvPr id="30" name="Shape 27">
            <a:extLst xmlns:a="http://schemas.openxmlformats.org/drawingml/2006/main">
              <a:ext uri="{FF2B5EF4-FFF2-40B4-BE49-F238E27FC236}">
                <a16:creationId xmlns:a16="http://schemas.microsoft.com/office/drawing/2014/main" id="{245DAF16-7A27-4ED6-AF35-7D4D33555CD8}"/>
              </a:ext>
            </a:extLst>
          </p:cNvPr>
          <p:cNvSpPr>
            <a:spLocks xmlns:a="http://schemas.openxmlformats.org/drawingml/2006/main" noGrp="1"/>
          </p:cNvSpPr>
          <p:nvPr/>
        </p:nvSpPr>
        <p:spPr>
          <a:xfrm xmlns:a="http://schemas.openxmlformats.org/drawingml/2006/main">
            <a:off x="6876288" y="2523744"/>
            <a:ext cx="4745736" cy="2651760"/>
          </a:xfrm>
          <a:prstGeom xmlns:a="http://schemas.openxmlformats.org/drawingml/2006/main" prst="rect">
            <a:avLst/>
          </a:prstGeom>
          <a:solidFill xmlns:a="http://schemas.openxmlformats.org/drawingml/2006/main">
            <a:srgbClr val="F0F4F8"/>
          </a:solidFill>
        </p:spPr>
      </p:sp>
      <p:sp>
        <p:nvSpPr>
          <p:cNvPr id="31" name="Text 28">
            <a:extLst xmlns:a="http://schemas.openxmlformats.org/drawingml/2006/main">
              <a:ext uri="{FF2B5EF4-FFF2-40B4-BE49-F238E27FC236}">
                <a16:creationId xmlns:a16="http://schemas.microsoft.com/office/drawing/2014/main" id="{682C8E4C-098E-4FCA-A98C-9F4EB6EC88B1}"/>
              </a:ext>
            </a:extLst>
          </p:cNvPr>
          <p:cNvSpPr>
            <a:spLocks xmlns:a="http://schemas.openxmlformats.org/drawingml/2006/main" noGrp="1"/>
          </p:cNvSpPr>
          <p:nvPr/>
        </p:nvSpPr>
        <p:spPr>
          <a:xfrm xmlns:a="http://schemas.openxmlformats.org/drawingml/2006/main">
            <a:off x="7095744" y="2724912"/>
            <a:ext cx="43068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Why the surface matters more than the size</a:t>
            </a:r>
            <a:endParaRPr sz="1250"/>
          </a:p>
        </p:txBody>
      </p:sp>
      <p:sp>
        <p:nvSpPr>
          <p:cNvPr id="32" name="Text 29">
            <a:extLst xmlns:a="http://schemas.openxmlformats.org/drawingml/2006/main">
              <a:ext uri="{FF2B5EF4-FFF2-40B4-BE49-F238E27FC236}">
                <a16:creationId xmlns:a16="http://schemas.microsoft.com/office/drawing/2014/main" id="{6364419F-40B8-4FDE-B2EB-AEDD8BFCB09C}"/>
              </a:ext>
            </a:extLst>
          </p:cNvPr>
          <p:cNvSpPr>
            <a:spLocks xmlns:a="http://schemas.openxmlformats.org/drawingml/2006/main" noGrp="1"/>
          </p:cNvSpPr>
          <p:nvPr/>
        </p:nvSpPr>
        <p:spPr>
          <a:xfrm xmlns:a="http://schemas.openxmlformats.org/drawingml/2006/main">
            <a:off x="7095744" y="3072384"/>
            <a:ext cx="4306824"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User count drives infrastructure cost, which is the cheapest problem on the list to solve.</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integration surface drives regression scope — every release must prove 250+ contracts still hold.</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178 real-time interfaces mean the CRM inherits the availability of everything behind it.</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44 table-to-table interfaces are the ones that fail silently and are discovered by a reconciliation, not an alert.</a:t>
            </a:r>
            <a:endParaRPr sz="960"/>
          </a:p>
        </p:txBody>
      </p:sp>
      <p:sp>
        <p:nvSpPr>
          <p:cNvPr id="33" name="Shape 30">
            <a:extLst xmlns:a="http://schemas.openxmlformats.org/drawingml/2006/main">
              <a:ext uri="{FF2B5EF4-FFF2-40B4-BE49-F238E27FC236}">
                <a16:creationId xmlns:a16="http://schemas.microsoft.com/office/drawing/2014/main" id="{76D4C412-C4E9-4D2B-8378-6B50C0DE1672}"/>
              </a:ext>
            </a:extLst>
          </p:cNvPr>
          <p:cNvSpPr>
            <a:spLocks xmlns:a="http://schemas.openxmlformats.org/drawingml/2006/main" noGrp="1"/>
          </p:cNvSpPr>
          <p:nvPr/>
        </p:nvSpPr>
        <p:spPr>
          <a:xfrm xmlns:a="http://schemas.openxmlformats.org/drawingml/2006/main">
            <a:off x="566928" y="5504688"/>
            <a:ext cx="11057839" cy="603504"/>
          </a:xfrm>
          <a:prstGeom xmlns:a="http://schemas.openxmlformats.org/drawingml/2006/main" prst="rect">
            <a:avLst/>
          </a:prstGeom>
          <a:solidFill xmlns:a="http://schemas.openxmlformats.org/drawingml/2006/main">
            <a:srgbClr val="F3E6E0"/>
          </a:solidFill>
        </p:spPr>
      </p:sp>
      <p:sp>
        <p:nvSpPr>
          <p:cNvPr id="34" name="Text 31">
            <a:extLst xmlns:a="http://schemas.openxmlformats.org/drawingml/2006/main">
              <a:ext uri="{FF2B5EF4-FFF2-40B4-BE49-F238E27FC236}">
                <a16:creationId xmlns:a16="http://schemas.microsoft.com/office/drawing/2014/main" id="{D800D013-FE00-4716-A18C-E10E812ECB2E}"/>
              </a:ext>
            </a:extLst>
          </p:cNvPr>
          <p:cNvSpPr>
            <a:spLocks xmlns:a="http://schemas.openxmlformats.org/drawingml/2006/main" noGrp="1"/>
          </p:cNvSpPr>
          <p:nvPr/>
        </p:nvSpPr>
        <p:spPr>
          <a:xfrm xmlns:a="http://schemas.openxmlformats.org/drawingml/2006/main">
            <a:off x="804672" y="5687568"/>
            <a:ext cx="10582351"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number that should worry a programme director is not 300,000 users. It is 178 real-time interfaces, because that is the number that determines how long a release takes to regression-test and how many other systems can take the CRM down.</a:t>
            </a:r>
            <a:endParaRPr sz="990"/>
          </a:p>
        </p:txBody>
      </p:sp>
      <p:sp>
        <p:nvSpPr>
          <p:cNvPr id="35" name="Shape 32">
            <a:extLst xmlns:a="http://schemas.openxmlformats.org/drawingml/2006/main">
              <a:ext uri="{FF2B5EF4-FFF2-40B4-BE49-F238E27FC236}">
                <a16:creationId xmlns:a16="http://schemas.microsoft.com/office/drawing/2014/main" id="{4B480185-8135-4389-B418-DD081075C4F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6" name="Text 33">
            <a:extLst xmlns:a="http://schemas.openxmlformats.org/drawingml/2006/main">
              <a:ext uri="{FF2B5EF4-FFF2-40B4-BE49-F238E27FC236}">
                <a16:creationId xmlns:a16="http://schemas.microsoft.com/office/drawing/2014/main" id="{14091267-0A15-4618-BDC0-3CCD35BB140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Reference-deployment figures published by the platform vendor, retained with attribution</a:t>
            </a:r>
            <a:endParaRPr sz="850"/>
          </a:p>
        </p:txBody>
      </p:sp>
      <p:sp>
        <p:nvSpPr>
          <p:cNvPr id="37" name="Text 34">
            <a:extLst xmlns:a="http://schemas.openxmlformats.org/drawingml/2006/main">
              <a:ext uri="{FF2B5EF4-FFF2-40B4-BE49-F238E27FC236}">
                <a16:creationId xmlns:a16="http://schemas.microsoft.com/office/drawing/2014/main" id="{E8FFCA0E-5B35-433F-8CED-973B83A710A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180052096"/>
      </p:ext>
    </p:extLst>
  </p:cSld>
</p:sld>
</file>

<file path=ppt/slides/slide7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DD83CB-794C-4315-908D-1C25F7E4B46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ARGUMENT</a:t>
            </a:r>
            <a:endParaRPr sz="950"/>
          </a:p>
        </p:txBody>
      </p:sp>
      <p:sp>
        <p:nvSpPr>
          <p:cNvPr id="3" name="Text 1">
            <a:extLst xmlns:a="http://schemas.openxmlformats.org/drawingml/2006/main">
              <a:ext uri="{FF2B5EF4-FFF2-40B4-BE49-F238E27FC236}">
                <a16:creationId xmlns:a16="http://schemas.microsoft.com/office/drawing/2014/main" id="{13A5F419-DF5B-496D-BD05-60FEBFAFA12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thresholds turn design preferences into hard constraints — and each one fails</a:t>
            </a:r>
            <a:endParaRPr sz="1900"/>
          </a:p>
          <a:p xmlns:a="http://schemas.openxmlformats.org/drawingml/2006/main">
            <a:pPr marL="0" indent="0">
              <a:lnSpc>
                <a:spcPts val="2400"/>
              </a:lnSpc>
              <a:buNone/>
            </a:pPr>
            <a:r>
              <a:rPr sz="1900" b="1">
                <a:solidFill>
                  <a:srgbClr val="102A43"/>
                </a:solidFill>
                <a:latin typeface="Arial"/>
                <a:ea typeface="Arial"/>
                <a:cs typeface="Arial"/>
              </a:rPr>
              <a:t>in a completely different way</a:t>
            </a:r>
            <a:endParaRPr sz="1900"/>
          </a:p>
        </p:txBody>
      </p:sp>
      <p:sp>
        <p:nvSpPr>
          <p:cNvPr id="4" name="Shape 2">
            <a:extLst xmlns:a="http://schemas.openxmlformats.org/drawingml/2006/main">
              <a:ext uri="{FF2B5EF4-FFF2-40B4-BE49-F238E27FC236}">
                <a16:creationId xmlns:a16="http://schemas.microsoft.com/office/drawing/2014/main" id="{336AAF11-9FFF-4FB5-A34E-64F7B5C4FC37}"/>
              </a:ext>
            </a:extLst>
          </p:cNvPr>
          <p:cNvSpPr>
            <a:spLocks xmlns:a="http://schemas.openxmlformats.org/drawingml/2006/main" noGrp="1"/>
          </p:cNvSpPr>
          <p:nvPr/>
        </p:nvSpPr>
        <p:spPr>
          <a:xfrm xmlns:a="http://schemas.openxmlformats.org/drawingml/2006/main">
            <a:off x="566928" y="1335024"/>
            <a:ext cx="2641016" cy="402336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622FE327-1D62-4BFE-8D94-550424E51AF9}"/>
              </a:ext>
            </a:extLst>
          </p:cNvPr>
          <p:cNvSpPr>
            <a:spLocks xmlns:a="http://schemas.openxmlformats.org/drawingml/2006/main" noGrp="1"/>
          </p:cNvSpPr>
          <p:nvPr/>
        </p:nvSpPr>
        <p:spPr>
          <a:xfrm xmlns:a="http://schemas.openxmlformats.org/drawingml/2006/main">
            <a:off x="768096" y="1499616"/>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00"/>
              </a:lnSpc>
              <a:buNone/>
            </a:pPr>
            <a:r>
              <a:rPr sz="2600" b="1">
                <a:solidFill>
                  <a:srgbClr val="486581"/>
                </a:solidFill>
                <a:latin typeface="Arial"/>
                <a:ea typeface="Arial"/>
                <a:cs typeface="Arial"/>
              </a:rPr>
              <a:t>30,000+</a:t>
            </a:r>
            <a:endParaRPr sz="2600"/>
          </a:p>
        </p:txBody>
      </p:sp>
      <p:sp>
        <p:nvSpPr>
          <p:cNvPr id="6" name="Text 4">
            <a:extLst xmlns:a="http://schemas.openxmlformats.org/drawingml/2006/main">
              <a:ext uri="{FF2B5EF4-FFF2-40B4-BE49-F238E27FC236}">
                <a16:creationId xmlns:a16="http://schemas.microsoft.com/office/drawing/2014/main" id="{BC290A21-E114-4D62-8A09-B3B3E5F73364}"/>
              </a:ext>
            </a:extLst>
          </p:cNvPr>
          <p:cNvSpPr>
            <a:spLocks xmlns:a="http://schemas.openxmlformats.org/drawingml/2006/main" noGrp="1"/>
          </p:cNvSpPr>
          <p:nvPr/>
        </p:nvSpPr>
        <p:spPr>
          <a:xfrm xmlns:a="http://schemas.openxmlformats.org/drawingml/2006/main">
            <a:off x="768096" y="1956816"/>
            <a:ext cx="2238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Concurrency</a:t>
            </a:r>
            <a:endParaRPr sz="1250"/>
          </a:p>
        </p:txBody>
      </p:sp>
      <p:sp>
        <p:nvSpPr>
          <p:cNvPr id="7" name="Text 5">
            <a:extLst xmlns:a="http://schemas.openxmlformats.org/drawingml/2006/main">
              <a:ext uri="{FF2B5EF4-FFF2-40B4-BE49-F238E27FC236}">
                <a16:creationId xmlns:a16="http://schemas.microsoft.com/office/drawing/2014/main" id="{EA40B999-272E-432F-A7F6-9B5CA93C9AD9}"/>
              </a:ext>
            </a:extLst>
          </p:cNvPr>
          <p:cNvSpPr>
            <a:spLocks xmlns:a="http://schemas.openxmlformats.org/drawingml/2006/main" noGrp="1"/>
          </p:cNvSpPr>
          <p:nvPr/>
        </p:nvSpPr>
        <p:spPr>
          <a:xfrm xmlns:a="http://schemas.openxmlformats.org/drawingml/2006/main">
            <a:off x="768096" y="22494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Simultaneous sessions against one logical instance.</a:t>
            </a:r>
            <a:endParaRPr sz="940"/>
          </a:p>
        </p:txBody>
      </p:sp>
      <p:sp>
        <p:nvSpPr>
          <p:cNvPr id="8" name="Shape 6">
            <a:extLst xmlns:a="http://schemas.openxmlformats.org/drawingml/2006/main">
              <a:ext uri="{FF2B5EF4-FFF2-40B4-BE49-F238E27FC236}">
                <a16:creationId xmlns:a16="http://schemas.microsoft.com/office/drawing/2014/main" id="{E753D535-0434-4A36-9868-F7CFFA864D43}"/>
              </a:ext>
            </a:extLst>
          </p:cNvPr>
          <p:cNvSpPr>
            <a:spLocks xmlns:a="http://schemas.openxmlformats.org/drawingml/2006/main" noGrp="1"/>
          </p:cNvSpPr>
          <p:nvPr/>
        </p:nvSpPr>
        <p:spPr>
          <a:xfrm xmlns:a="http://schemas.openxmlformats.org/drawingml/2006/main">
            <a:off x="768096" y="2871216"/>
            <a:ext cx="2238680" cy="13716"/>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9FBBE9D0-8DF7-467D-8946-5AA38D1ED79D}"/>
              </a:ext>
            </a:extLst>
          </p:cNvPr>
          <p:cNvSpPr>
            <a:spLocks xmlns:a="http://schemas.openxmlformats.org/drawingml/2006/main" noGrp="1"/>
          </p:cNvSpPr>
          <p:nvPr/>
        </p:nvSpPr>
        <p:spPr>
          <a:xfrm xmlns:a="http://schemas.openxmlformats.org/drawingml/2006/main">
            <a:off x="768096" y="298094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HOW IT FAILS</a:t>
            </a:r>
            <a:endParaRPr sz="740"/>
          </a:p>
        </p:txBody>
      </p:sp>
      <p:sp>
        <p:nvSpPr>
          <p:cNvPr id="10" name="Text 8">
            <a:extLst xmlns:a="http://schemas.openxmlformats.org/drawingml/2006/main">
              <a:ext uri="{FF2B5EF4-FFF2-40B4-BE49-F238E27FC236}">
                <a16:creationId xmlns:a16="http://schemas.microsoft.com/office/drawing/2014/main" id="{C9E72B2B-4D09-4229-9E5F-50DA30B2F9F4}"/>
              </a:ext>
            </a:extLst>
          </p:cNvPr>
          <p:cNvSpPr>
            <a:spLocks xmlns:a="http://schemas.openxmlformats.org/drawingml/2006/main" noGrp="1"/>
          </p:cNvSpPr>
          <p:nvPr/>
        </p:nvSpPr>
        <p:spPr>
          <a:xfrm xmlns:a="http://schemas.openxmlformats.org/drawingml/2006/main">
            <a:off x="768096" y="3182112"/>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Fails as latency, then as timeouts, then as duplicate records when users retry.</a:t>
            </a:r>
            <a:endParaRPr sz="940"/>
          </a:p>
        </p:txBody>
      </p:sp>
      <p:sp>
        <p:nvSpPr>
          <p:cNvPr id="11" name="Text 9">
            <a:extLst xmlns:a="http://schemas.openxmlformats.org/drawingml/2006/main">
              <a:ext uri="{FF2B5EF4-FFF2-40B4-BE49-F238E27FC236}">
                <a16:creationId xmlns:a16="http://schemas.microsoft.com/office/drawing/2014/main" id="{0C82EB86-BFB9-4D39-8F5B-6CB9717C204E}"/>
              </a:ext>
            </a:extLst>
          </p:cNvPr>
          <p:cNvSpPr>
            <a:spLocks xmlns:a="http://schemas.openxmlformats.org/drawingml/2006/main" noGrp="1"/>
          </p:cNvSpPr>
          <p:nvPr/>
        </p:nvSpPr>
        <p:spPr>
          <a:xfrm xmlns:a="http://schemas.openxmlformats.org/drawingml/2006/main">
            <a:off x="768096" y="40416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DESIGN RESPONSE</a:t>
            </a:r>
            <a:endParaRPr sz="740"/>
          </a:p>
        </p:txBody>
      </p:sp>
      <p:sp>
        <p:nvSpPr>
          <p:cNvPr id="12" name="Text 10">
            <a:extLst xmlns:a="http://schemas.openxmlformats.org/drawingml/2006/main">
              <a:ext uri="{FF2B5EF4-FFF2-40B4-BE49-F238E27FC236}">
                <a16:creationId xmlns:a16="http://schemas.microsoft.com/office/drawing/2014/main" id="{12A86BED-DD32-4320-802B-1B1A5F6A8DC2}"/>
              </a:ext>
            </a:extLst>
          </p:cNvPr>
          <p:cNvSpPr>
            <a:spLocks xmlns:a="http://schemas.openxmlformats.org/drawingml/2006/main" noGrp="1"/>
          </p:cNvSpPr>
          <p:nvPr/>
        </p:nvSpPr>
        <p:spPr>
          <a:xfrm xmlns:a="http://schemas.openxmlformats.org/drawingml/2006/main">
            <a:off x="768096" y="4242816"/>
            <a:ext cx="2238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Isolate high-volume transaction paths; separate read and write workloads; cap synchronous chains.</a:t>
            </a:r>
            <a:endParaRPr sz="940"/>
          </a:p>
        </p:txBody>
      </p:sp>
      <p:sp>
        <p:nvSpPr>
          <p:cNvPr id="13" name="Shape 11">
            <a:extLst xmlns:a="http://schemas.openxmlformats.org/drawingml/2006/main">
              <a:ext uri="{FF2B5EF4-FFF2-40B4-BE49-F238E27FC236}">
                <a16:creationId xmlns:a16="http://schemas.microsoft.com/office/drawing/2014/main" id="{5EFCD3A7-8A6D-4DDB-A059-B924A4F823FB}"/>
              </a:ext>
            </a:extLst>
          </p:cNvPr>
          <p:cNvSpPr>
            <a:spLocks xmlns:a="http://schemas.openxmlformats.org/drawingml/2006/main" noGrp="1"/>
          </p:cNvSpPr>
          <p:nvPr/>
        </p:nvSpPr>
        <p:spPr>
          <a:xfrm xmlns:a="http://schemas.openxmlformats.org/drawingml/2006/main">
            <a:off x="3372536" y="1335024"/>
            <a:ext cx="2641016" cy="402336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E8C4D8EC-0DAB-4E30-B351-6C79F39B7403}"/>
              </a:ext>
            </a:extLst>
          </p:cNvPr>
          <p:cNvSpPr>
            <a:spLocks xmlns:a="http://schemas.openxmlformats.org/drawingml/2006/main" noGrp="1"/>
          </p:cNvSpPr>
          <p:nvPr/>
        </p:nvSpPr>
        <p:spPr>
          <a:xfrm xmlns:a="http://schemas.openxmlformats.org/drawingml/2006/main">
            <a:off x="3573704" y="1499616"/>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00"/>
              </a:lnSpc>
              <a:buNone/>
            </a:pPr>
            <a:r>
              <a:rPr sz="2600" b="1">
                <a:solidFill>
                  <a:srgbClr val="B04A25"/>
                </a:solidFill>
                <a:latin typeface="Arial"/>
                <a:ea typeface="Arial"/>
                <a:cs typeface="Arial"/>
              </a:rPr>
              <a:t>250+</a:t>
            </a:r>
            <a:endParaRPr sz="2600"/>
          </a:p>
        </p:txBody>
      </p:sp>
      <p:sp>
        <p:nvSpPr>
          <p:cNvPr id="15" name="Text 13">
            <a:extLst xmlns:a="http://schemas.openxmlformats.org/drawingml/2006/main">
              <a:ext uri="{FF2B5EF4-FFF2-40B4-BE49-F238E27FC236}">
                <a16:creationId xmlns:a16="http://schemas.microsoft.com/office/drawing/2014/main" id="{B8CC9FA5-25C6-4B25-AEE4-15662E80B78B}"/>
              </a:ext>
            </a:extLst>
          </p:cNvPr>
          <p:cNvSpPr>
            <a:spLocks xmlns:a="http://schemas.openxmlformats.org/drawingml/2006/main" noGrp="1"/>
          </p:cNvSpPr>
          <p:nvPr/>
        </p:nvSpPr>
        <p:spPr>
          <a:xfrm xmlns:a="http://schemas.openxmlformats.org/drawingml/2006/main">
            <a:off x="3573704" y="1956816"/>
            <a:ext cx="2238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Integration surface</a:t>
            </a:r>
            <a:endParaRPr sz="1250"/>
          </a:p>
        </p:txBody>
      </p:sp>
      <p:sp>
        <p:nvSpPr>
          <p:cNvPr id="16" name="Text 14">
            <a:extLst xmlns:a="http://schemas.openxmlformats.org/drawingml/2006/main">
              <a:ext uri="{FF2B5EF4-FFF2-40B4-BE49-F238E27FC236}">
                <a16:creationId xmlns:a16="http://schemas.microsoft.com/office/drawing/2014/main" id="{A905C3AA-AA16-4AE3-A100-93F3568C0F96}"/>
              </a:ext>
            </a:extLst>
          </p:cNvPr>
          <p:cNvSpPr>
            <a:spLocks xmlns:a="http://schemas.openxmlformats.org/drawingml/2006/main" noGrp="1"/>
          </p:cNvSpPr>
          <p:nvPr/>
        </p:nvSpPr>
        <p:spPr>
          <a:xfrm xmlns:a="http://schemas.openxmlformats.org/drawingml/2006/main">
            <a:off x="3573704" y="22494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Touchpoints across 50+ systems, 178 of them real-time.</a:t>
            </a:r>
            <a:endParaRPr sz="940"/>
          </a:p>
        </p:txBody>
      </p:sp>
      <p:sp>
        <p:nvSpPr>
          <p:cNvPr id="17" name="Shape 15">
            <a:extLst xmlns:a="http://schemas.openxmlformats.org/drawingml/2006/main">
              <a:ext uri="{FF2B5EF4-FFF2-40B4-BE49-F238E27FC236}">
                <a16:creationId xmlns:a16="http://schemas.microsoft.com/office/drawing/2014/main" id="{4A0FB80F-7CB2-43EE-8EF4-F34D85935950}"/>
              </a:ext>
            </a:extLst>
          </p:cNvPr>
          <p:cNvSpPr>
            <a:spLocks xmlns:a="http://schemas.openxmlformats.org/drawingml/2006/main" noGrp="1"/>
          </p:cNvSpPr>
          <p:nvPr/>
        </p:nvSpPr>
        <p:spPr>
          <a:xfrm xmlns:a="http://schemas.openxmlformats.org/drawingml/2006/main">
            <a:off x="3573704" y="2871216"/>
            <a:ext cx="2238680"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E72989A4-C550-45CF-8390-EA2AE9E6B8D5}"/>
              </a:ext>
            </a:extLst>
          </p:cNvPr>
          <p:cNvSpPr>
            <a:spLocks xmlns:a="http://schemas.openxmlformats.org/drawingml/2006/main" noGrp="1"/>
          </p:cNvSpPr>
          <p:nvPr/>
        </p:nvSpPr>
        <p:spPr>
          <a:xfrm xmlns:a="http://schemas.openxmlformats.org/drawingml/2006/main">
            <a:off x="3573704" y="298094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HOW IT FAILS</a:t>
            </a:r>
            <a:endParaRPr sz="740"/>
          </a:p>
        </p:txBody>
      </p:sp>
      <p:sp>
        <p:nvSpPr>
          <p:cNvPr id="19" name="Text 17">
            <a:extLst xmlns:a="http://schemas.openxmlformats.org/drawingml/2006/main">
              <a:ext uri="{FF2B5EF4-FFF2-40B4-BE49-F238E27FC236}">
                <a16:creationId xmlns:a16="http://schemas.microsoft.com/office/drawing/2014/main" id="{E9734DAE-DE75-472A-A7E9-5ADA7A923851}"/>
              </a:ext>
            </a:extLst>
          </p:cNvPr>
          <p:cNvSpPr>
            <a:spLocks xmlns:a="http://schemas.openxmlformats.org/drawingml/2006/main" noGrp="1"/>
          </p:cNvSpPr>
          <p:nvPr/>
        </p:nvSpPr>
        <p:spPr>
          <a:xfrm xmlns:a="http://schemas.openxmlformats.org/drawingml/2006/main">
            <a:off x="3573704" y="3182112"/>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Fails as regression cost — releases slow until change effectively stops.</a:t>
            </a:r>
            <a:endParaRPr sz="940"/>
          </a:p>
        </p:txBody>
      </p:sp>
      <p:sp>
        <p:nvSpPr>
          <p:cNvPr id="20" name="Text 18">
            <a:extLst xmlns:a="http://schemas.openxmlformats.org/drawingml/2006/main">
              <a:ext uri="{FF2B5EF4-FFF2-40B4-BE49-F238E27FC236}">
                <a16:creationId xmlns:a16="http://schemas.microsoft.com/office/drawing/2014/main" id="{40F11215-7CC9-4EFC-9C66-93E100FA2C27}"/>
              </a:ext>
            </a:extLst>
          </p:cNvPr>
          <p:cNvSpPr>
            <a:spLocks xmlns:a="http://schemas.openxmlformats.org/drawingml/2006/main" noGrp="1"/>
          </p:cNvSpPr>
          <p:nvPr/>
        </p:nvSpPr>
        <p:spPr>
          <a:xfrm xmlns:a="http://schemas.openxmlformats.org/drawingml/2006/main">
            <a:off x="3573704" y="40416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DESIGN RESPONSE</a:t>
            </a:r>
            <a:endParaRPr sz="740"/>
          </a:p>
        </p:txBody>
      </p:sp>
      <p:sp>
        <p:nvSpPr>
          <p:cNvPr id="21" name="Text 19">
            <a:extLst xmlns:a="http://schemas.openxmlformats.org/drawingml/2006/main">
              <a:ext uri="{FF2B5EF4-FFF2-40B4-BE49-F238E27FC236}">
                <a16:creationId xmlns:a16="http://schemas.microsoft.com/office/drawing/2014/main" id="{AD86E1E7-F8B0-4B32-BC19-67BEF64E76DC}"/>
              </a:ext>
            </a:extLst>
          </p:cNvPr>
          <p:cNvSpPr>
            <a:spLocks xmlns:a="http://schemas.openxmlformats.org/drawingml/2006/main" noGrp="1"/>
          </p:cNvSpPr>
          <p:nvPr/>
        </p:nvSpPr>
        <p:spPr>
          <a:xfrm xmlns:a="http://schemas.openxmlformats.org/drawingml/2006/main">
            <a:off x="3573704" y="4242816"/>
            <a:ext cx="2238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Contract-first interfaces, versioned; no interface without an owner and a test.</a:t>
            </a:r>
            <a:endParaRPr sz="940"/>
          </a:p>
        </p:txBody>
      </p:sp>
      <p:sp>
        <p:nvSpPr>
          <p:cNvPr id="22" name="Shape 20">
            <a:extLst xmlns:a="http://schemas.openxmlformats.org/drawingml/2006/main">
              <a:ext uri="{FF2B5EF4-FFF2-40B4-BE49-F238E27FC236}">
                <a16:creationId xmlns:a16="http://schemas.microsoft.com/office/drawing/2014/main" id="{613E329F-A945-4242-A92B-2969ACC931ED}"/>
              </a:ext>
            </a:extLst>
          </p:cNvPr>
          <p:cNvSpPr>
            <a:spLocks xmlns:a="http://schemas.openxmlformats.org/drawingml/2006/main" noGrp="1"/>
          </p:cNvSpPr>
          <p:nvPr/>
        </p:nvSpPr>
        <p:spPr>
          <a:xfrm xmlns:a="http://schemas.openxmlformats.org/drawingml/2006/main">
            <a:off x="6178144" y="1335024"/>
            <a:ext cx="2641016" cy="4023360"/>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63BB4BA3-18BA-4AED-BF25-A3A65236A1CF}"/>
              </a:ext>
            </a:extLst>
          </p:cNvPr>
          <p:cNvSpPr>
            <a:spLocks xmlns:a="http://schemas.openxmlformats.org/drawingml/2006/main" noGrp="1"/>
          </p:cNvSpPr>
          <p:nvPr/>
        </p:nvSpPr>
        <p:spPr>
          <a:xfrm xmlns:a="http://schemas.openxmlformats.org/drawingml/2006/main">
            <a:off x="6379312" y="1499616"/>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00"/>
              </a:lnSpc>
              <a:buNone/>
            </a:pPr>
            <a:r>
              <a:rPr sz="2600" b="1">
                <a:solidFill>
                  <a:srgbClr val="B04A25"/>
                </a:solidFill>
                <a:latin typeface="Arial"/>
                <a:ea typeface="Arial"/>
                <a:cs typeface="Arial"/>
              </a:rPr>
              <a:t>19</a:t>
            </a:r>
            <a:endParaRPr sz="2600"/>
          </a:p>
        </p:txBody>
      </p:sp>
      <p:sp>
        <p:nvSpPr>
          <p:cNvPr id="24" name="Text 22">
            <a:extLst xmlns:a="http://schemas.openxmlformats.org/drawingml/2006/main">
              <a:ext uri="{FF2B5EF4-FFF2-40B4-BE49-F238E27FC236}">
                <a16:creationId xmlns:a16="http://schemas.microsoft.com/office/drawing/2014/main" id="{6BD09C58-932A-4B97-829D-247E686DDCF5}"/>
              </a:ext>
            </a:extLst>
          </p:cNvPr>
          <p:cNvSpPr>
            <a:spLocks xmlns:a="http://schemas.openxmlformats.org/drawingml/2006/main" noGrp="1"/>
          </p:cNvSpPr>
          <p:nvPr/>
        </p:nvSpPr>
        <p:spPr>
          <a:xfrm xmlns:a="http://schemas.openxmlformats.org/drawingml/2006/main">
            <a:off x="6379312" y="1956816"/>
            <a:ext cx="2238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Jurisdiction</a:t>
            </a:r>
            <a:endParaRPr sz="1250"/>
          </a:p>
        </p:txBody>
      </p:sp>
      <p:sp>
        <p:nvSpPr>
          <p:cNvPr id="25" name="Text 23">
            <a:extLst xmlns:a="http://schemas.openxmlformats.org/drawingml/2006/main">
              <a:ext uri="{FF2B5EF4-FFF2-40B4-BE49-F238E27FC236}">
                <a16:creationId xmlns:a16="http://schemas.microsoft.com/office/drawing/2014/main" id="{ABF7674C-6AC1-40FE-9A4D-457CAD3A6D09}"/>
              </a:ext>
            </a:extLst>
          </p:cNvPr>
          <p:cNvSpPr>
            <a:spLocks xmlns:a="http://schemas.openxmlformats.org/drawingml/2006/main" noGrp="1"/>
          </p:cNvSpPr>
          <p:nvPr/>
        </p:nvSpPr>
        <p:spPr>
          <a:xfrm xmlns:a="http://schemas.openxmlformats.org/drawingml/2006/main">
            <a:off x="6379312" y="22494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Countries in scope, thirteen live, a subset under data-protection regimes.</a:t>
            </a:r>
            <a:endParaRPr sz="940"/>
          </a:p>
        </p:txBody>
      </p:sp>
      <p:sp>
        <p:nvSpPr>
          <p:cNvPr id="26" name="Shape 24">
            <a:extLst xmlns:a="http://schemas.openxmlformats.org/drawingml/2006/main">
              <a:ext uri="{FF2B5EF4-FFF2-40B4-BE49-F238E27FC236}">
                <a16:creationId xmlns:a16="http://schemas.microsoft.com/office/drawing/2014/main" id="{E9BABD3D-F1AE-43E4-B84E-C3F969626D61}"/>
              </a:ext>
            </a:extLst>
          </p:cNvPr>
          <p:cNvSpPr>
            <a:spLocks xmlns:a="http://schemas.openxmlformats.org/drawingml/2006/main" noGrp="1"/>
          </p:cNvSpPr>
          <p:nvPr/>
        </p:nvSpPr>
        <p:spPr>
          <a:xfrm xmlns:a="http://schemas.openxmlformats.org/drawingml/2006/main">
            <a:off x="6379312" y="2871216"/>
            <a:ext cx="2238680" cy="13716"/>
          </a:xfrm>
          <a:prstGeom xmlns:a="http://schemas.openxmlformats.org/drawingml/2006/main" prst="rect">
            <a:avLst/>
          </a:prstGeom>
          <a:solidFill xmlns:a="http://schemas.openxmlformats.org/drawingml/2006/main">
            <a:srgbClr val="C6D2DE"/>
          </a:solidFill>
        </p:spPr>
      </p:sp>
      <p:sp>
        <p:nvSpPr>
          <p:cNvPr id="27" name="Text 25">
            <a:extLst xmlns:a="http://schemas.openxmlformats.org/drawingml/2006/main">
              <a:ext uri="{FF2B5EF4-FFF2-40B4-BE49-F238E27FC236}">
                <a16:creationId xmlns:a16="http://schemas.microsoft.com/office/drawing/2014/main" id="{C09E54A7-96B5-461B-A9C8-734EE16CBD58}"/>
              </a:ext>
            </a:extLst>
          </p:cNvPr>
          <p:cNvSpPr>
            <a:spLocks xmlns:a="http://schemas.openxmlformats.org/drawingml/2006/main" noGrp="1"/>
          </p:cNvSpPr>
          <p:nvPr/>
        </p:nvSpPr>
        <p:spPr>
          <a:xfrm xmlns:a="http://schemas.openxmlformats.org/drawingml/2006/main">
            <a:off x="6379312" y="298094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HOW IT FAILS</a:t>
            </a:r>
            <a:endParaRPr sz="740"/>
          </a:p>
        </p:txBody>
      </p:sp>
      <p:sp>
        <p:nvSpPr>
          <p:cNvPr id="28" name="Text 26">
            <a:extLst xmlns:a="http://schemas.openxmlformats.org/drawingml/2006/main">
              <a:ext uri="{FF2B5EF4-FFF2-40B4-BE49-F238E27FC236}">
                <a16:creationId xmlns:a16="http://schemas.microsoft.com/office/drawing/2014/main" id="{24CB0227-1507-4036-B499-0F737A258039}"/>
              </a:ext>
            </a:extLst>
          </p:cNvPr>
          <p:cNvSpPr>
            <a:spLocks xmlns:a="http://schemas.openxmlformats.org/drawingml/2006/main" noGrp="1"/>
          </p:cNvSpPr>
          <p:nvPr/>
        </p:nvSpPr>
        <p:spPr>
          <a:xfrm xmlns:a="http://schemas.openxmlformats.org/drawingml/2006/main">
            <a:off x="6379312" y="3182112"/>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Fails at audit, not in production — and remediation is a re-architecture.</a:t>
            </a:r>
            <a:endParaRPr sz="940"/>
          </a:p>
        </p:txBody>
      </p:sp>
      <p:sp>
        <p:nvSpPr>
          <p:cNvPr id="29" name="Text 27">
            <a:extLst xmlns:a="http://schemas.openxmlformats.org/drawingml/2006/main">
              <a:ext uri="{FF2B5EF4-FFF2-40B4-BE49-F238E27FC236}">
                <a16:creationId xmlns:a16="http://schemas.microsoft.com/office/drawing/2014/main" id="{1B81D8C1-DB82-4FC0-AD5B-CEF5415C73D6}"/>
              </a:ext>
            </a:extLst>
          </p:cNvPr>
          <p:cNvSpPr>
            <a:spLocks xmlns:a="http://schemas.openxmlformats.org/drawingml/2006/main" noGrp="1"/>
          </p:cNvSpPr>
          <p:nvPr/>
        </p:nvSpPr>
        <p:spPr>
          <a:xfrm xmlns:a="http://schemas.openxmlformats.org/drawingml/2006/main">
            <a:off x="6379312" y="40416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DESIGN RESPONSE</a:t>
            </a:r>
            <a:endParaRPr sz="740"/>
          </a:p>
        </p:txBody>
      </p:sp>
      <p:sp>
        <p:nvSpPr>
          <p:cNvPr id="30" name="Text 28">
            <a:extLst xmlns:a="http://schemas.openxmlformats.org/drawingml/2006/main">
              <a:ext uri="{FF2B5EF4-FFF2-40B4-BE49-F238E27FC236}">
                <a16:creationId xmlns:a16="http://schemas.microsoft.com/office/drawing/2014/main" id="{2A596998-25A7-4384-8851-FF328A85ADD3}"/>
              </a:ext>
            </a:extLst>
          </p:cNvPr>
          <p:cNvSpPr>
            <a:spLocks xmlns:a="http://schemas.openxmlformats.org/drawingml/2006/main" noGrp="1"/>
          </p:cNvSpPr>
          <p:nvPr/>
        </p:nvSpPr>
        <p:spPr>
          <a:xfrm xmlns:a="http://schemas.openxmlformats.org/drawingml/2006/main">
            <a:off x="6379312" y="4242816"/>
            <a:ext cx="2238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Residency and tenancy decided before the first go-live, never retrofitted.</a:t>
            </a:r>
            <a:endParaRPr sz="940"/>
          </a:p>
        </p:txBody>
      </p:sp>
      <p:sp>
        <p:nvSpPr>
          <p:cNvPr id="31" name="Shape 29">
            <a:extLst xmlns:a="http://schemas.openxmlformats.org/drawingml/2006/main">
              <a:ext uri="{FF2B5EF4-FFF2-40B4-BE49-F238E27FC236}">
                <a16:creationId xmlns:a16="http://schemas.microsoft.com/office/drawing/2014/main" id="{EED73AEE-DC82-4AA1-ACC9-25D4A44B0072}"/>
              </a:ext>
            </a:extLst>
          </p:cNvPr>
          <p:cNvSpPr>
            <a:spLocks xmlns:a="http://schemas.openxmlformats.org/drawingml/2006/main" noGrp="1"/>
          </p:cNvSpPr>
          <p:nvPr/>
        </p:nvSpPr>
        <p:spPr>
          <a:xfrm xmlns:a="http://schemas.openxmlformats.org/drawingml/2006/main">
            <a:off x="8983751" y="1335024"/>
            <a:ext cx="2641016" cy="4023360"/>
          </a:xfrm>
          <a:prstGeom xmlns:a="http://schemas.openxmlformats.org/drawingml/2006/main" prst="rect">
            <a:avLst/>
          </a:prstGeom>
          <a:solidFill xmlns:a="http://schemas.openxmlformats.org/drawingml/2006/main">
            <a:srgbClr val="F3E6E0"/>
          </a:solidFill>
        </p:spPr>
      </p:sp>
      <p:sp>
        <p:nvSpPr>
          <p:cNvPr id="32" name="Text 30">
            <a:extLst xmlns:a="http://schemas.openxmlformats.org/drawingml/2006/main">
              <a:ext uri="{FF2B5EF4-FFF2-40B4-BE49-F238E27FC236}">
                <a16:creationId xmlns:a16="http://schemas.microsoft.com/office/drawing/2014/main" id="{EC181AD7-A4E8-4159-81D1-0A399CF14EA3}"/>
              </a:ext>
            </a:extLst>
          </p:cNvPr>
          <p:cNvSpPr>
            <a:spLocks xmlns:a="http://schemas.openxmlformats.org/drawingml/2006/main" noGrp="1"/>
          </p:cNvSpPr>
          <p:nvPr/>
        </p:nvSpPr>
        <p:spPr>
          <a:xfrm xmlns:a="http://schemas.openxmlformats.org/drawingml/2006/main">
            <a:off x="9184919" y="1499616"/>
            <a:ext cx="2238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3100"/>
              </a:lnSpc>
              <a:buNone/>
            </a:pPr>
            <a:r>
              <a:rPr sz="2600" b="1">
                <a:solidFill>
                  <a:srgbClr val="486581"/>
                </a:solidFill>
                <a:latin typeface="Arial"/>
                <a:ea typeface="Arial"/>
                <a:cs typeface="Arial"/>
              </a:rPr>
              <a:t>8</a:t>
            </a:r>
            <a:endParaRPr sz="2600"/>
          </a:p>
        </p:txBody>
      </p:sp>
      <p:sp>
        <p:nvSpPr>
          <p:cNvPr id="33" name="Text 31">
            <a:extLst xmlns:a="http://schemas.openxmlformats.org/drawingml/2006/main">
              <a:ext uri="{FF2B5EF4-FFF2-40B4-BE49-F238E27FC236}">
                <a16:creationId xmlns:a16="http://schemas.microsoft.com/office/drawing/2014/main" id="{368D2958-1CFE-45FB-893C-A5266B86E165}"/>
              </a:ext>
            </a:extLst>
          </p:cNvPr>
          <p:cNvSpPr>
            <a:spLocks xmlns:a="http://schemas.openxmlformats.org/drawingml/2006/main" noGrp="1"/>
          </p:cNvSpPr>
          <p:nvPr/>
        </p:nvSpPr>
        <p:spPr>
          <a:xfrm xmlns:a="http://schemas.openxmlformats.org/drawingml/2006/main">
            <a:off x="9184919" y="1956816"/>
            <a:ext cx="223868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Change throughput</a:t>
            </a:r>
            <a:endParaRPr sz="1250"/>
          </a:p>
        </p:txBody>
      </p:sp>
      <p:sp>
        <p:nvSpPr>
          <p:cNvPr id="34" name="Text 32">
            <a:extLst xmlns:a="http://schemas.openxmlformats.org/drawingml/2006/main">
              <a:ext uri="{FF2B5EF4-FFF2-40B4-BE49-F238E27FC236}">
                <a16:creationId xmlns:a16="http://schemas.microsoft.com/office/drawing/2014/main" id="{E1723806-EE01-4E12-BF5B-57F644F716DC}"/>
              </a:ext>
            </a:extLst>
          </p:cNvPr>
          <p:cNvSpPr>
            <a:spLocks xmlns:a="http://schemas.openxmlformats.org/drawingml/2006/main" noGrp="1"/>
          </p:cNvSpPr>
          <p:nvPr/>
        </p:nvSpPr>
        <p:spPr>
          <a:xfrm xmlns:a="http://schemas.openxmlformats.org/drawingml/2006/main">
            <a:off x="9184919" y="22494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Lines of business sharing one change queue and one release train.</a:t>
            </a:r>
            <a:endParaRPr sz="940"/>
          </a:p>
        </p:txBody>
      </p:sp>
      <p:sp>
        <p:nvSpPr>
          <p:cNvPr id="35" name="Shape 33">
            <a:extLst xmlns:a="http://schemas.openxmlformats.org/drawingml/2006/main">
              <a:ext uri="{FF2B5EF4-FFF2-40B4-BE49-F238E27FC236}">
                <a16:creationId xmlns:a16="http://schemas.microsoft.com/office/drawing/2014/main" id="{9E13F799-62C8-4D2D-B24C-D89620461D64}"/>
              </a:ext>
            </a:extLst>
          </p:cNvPr>
          <p:cNvSpPr>
            <a:spLocks xmlns:a="http://schemas.openxmlformats.org/drawingml/2006/main" noGrp="1"/>
          </p:cNvSpPr>
          <p:nvPr/>
        </p:nvSpPr>
        <p:spPr>
          <a:xfrm xmlns:a="http://schemas.openxmlformats.org/drawingml/2006/main">
            <a:off x="9184919" y="2871216"/>
            <a:ext cx="2238680" cy="13716"/>
          </a:xfrm>
          <a:prstGeom xmlns:a="http://schemas.openxmlformats.org/drawingml/2006/main" prst="rect">
            <a:avLst/>
          </a:prstGeom>
          <a:solidFill xmlns:a="http://schemas.openxmlformats.org/drawingml/2006/main">
            <a:srgbClr val="C6D2DE"/>
          </a:solidFill>
        </p:spPr>
      </p:sp>
      <p:sp>
        <p:nvSpPr>
          <p:cNvPr id="36" name="Text 34">
            <a:extLst xmlns:a="http://schemas.openxmlformats.org/drawingml/2006/main">
              <a:ext uri="{FF2B5EF4-FFF2-40B4-BE49-F238E27FC236}">
                <a16:creationId xmlns:a16="http://schemas.microsoft.com/office/drawing/2014/main" id="{8B002413-EA93-4412-8B29-86C32DA528A5}"/>
              </a:ext>
            </a:extLst>
          </p:cNvPr>
          <p:cNvSpPr>
            <a:spLocks xmlns:a="http://schemas.openxmlformats.org/drawingml/2006/main" noGrp="1"/>
          </p:cNvSpPr>
          <p:nvPr/>
        </p:nvSpPr>
        <p:spPr>
          <a:xfrm xmlns:a="http://schemas.openxmlformats.org/drawingml/2006/main">
            <a:off x="9184919" y="2980944"/>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HOW IT FAILS</a:t>
            </a:r>
            <a:endParaRPr sz="740"/>
          </a:p>
        </p:txBody>
      </p:sp>
      <p:sp>
        <p:nvSpPr>
          <p:cNvPr id="37" name="Text 35">
            <a:extLst xmlns:a="http://schemas.openxmlformats.org/drawingml/2006/main">
              <a:ext uri="{FF2B5EF4-FFF2-40B4-BE49-F238E27FC236}">
                <a16:creationId xmlns:a16="http://schemas.microsoft.com/office/drawing/2014/main" id="{FE9783B2-13F4-4D85-B160-C1C536B4B298}"/>
              </a:ext>
            </a:extLst>
          </p:cNvPr>
          <p:cNvSpPr>
            <a:spLocks xmlns:a="http://schemas.openxmlformats.org/drawingml/2006/main" noGrp="1"/>
          </p:cNvSpPr>
          <p:nvPr/>
        </p:nvSpPr>
        <p:spPr>
          <a:xfrm xmlns:a="http://schemas.openxmlformats.org/drawingml/2006/main">
            <a:off x="9184919" y="3182112"/>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Fails politically — the largest business wins every slot and the rest fork.</a:t>
            </a:r>
            <a:endParaRPr sz="940"/>
          </a:p>
        </p:txBody>
      </p:sp>
      <p:sp>
        <p:nvSpPr>
          <p:cNvPr id="38" name="Text 36">
            <a:extLst xmlns:a="http://schemas.openxmlformats.org/drawingml/2006/main">
              <a:ext uri="{FF2B5EF4-FFF2-40B4-BE49-F238E27FC236}">
                <a16:creationId xmlns:a16="http://schemas.microsoft.com/office/drawing/2014/main" id="{DFFDC2C3-4128-4631-A9A1-AEAEB201383D}"/>
              </a:ext>
            </a:extLst>
          </p:cNvPr>
          <p:cNvSpPr>
            <a:spLocks xmlns:a="http://schemas.openxmlformats.org/drawingml/2006/main" noGrp="1"/>
          </p:cNvSpPr>
          <p:nvPr/>
        </p:nvSpPr>
        <p:spPr>
          <a:xfrm xmlns:a="http://schemas.openxmlformats.org/drawingml/2006/main">
            <a:off x="9184919" y="40416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DESIGN RESPONSE</a:t>
            </a:r>
            <a:endParaRPr sz="740"/>
          </a:p>
        </p:txBody>
      </p:sp>
      <p:sp>
        <p:nvSpPr>
          <p:cNvPr id="39" name="Text 37">
            <a:extLst xmlns:a="http://schemas.openxmlformats.org/drawingml/2006/main">
              <a:ext uri="{FF2B5EF4-FFF2-40B4-BE49-F238E27FC236}">
                <a16:creationId xmlns:a16="http://schemas.microsoft.com/office/drawing/2014/main" id="{75A29C88-FEE1-494C-BF0E-3D29F456C12C}"/>
              </a:ext>
            </a:extLst>
          </p:cNvPr>
          <p:cNvSpPr>
            <a:spLocks xmlns:a="http://schemas.openxmlformats.org/drawingml/2006/main" noGrp="1"/>
          </p:cNvSpPr>
          <p:nvPr/>
        </p:nvSpPr>
        <p:spPr>
          <a:xfrm xmlns:a="http://schemas.openxmlformats.org/drawingml/2006/main">
            <a:off x="9184919" y="4242816"/>
            <a:ext cx="223868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Allocate release capacity by rule, not by escalation; publish the queue.</a:t>
            </a:r>
            <a:endParaRPr sz="940"/>
          </a:p>
        </p:txBody>
      </p:sp>
      <p:sp>
        <p:nvSpPr>
          <p:cNvPr id="40" name="Shape 38">
            <a:extLst xmlns:a="http://schemas.openxmlformats.org/drawingml/2006/main">
              <a:ext uri="{FF2B5EF4-FFF2-40B4-BE49-F238E27FC236}">
                <a16:creationId xmlns:a16="http://schemas.microsoft.com/office/drawing/2014/main" id="{341EEAE8-31BB-43E3-84AE-AF099F895E12}"/>
              </a:ext>
            </a:extLst>
          </p:cNvPr>
          <p:cNvSpPr>
            <a:spLocks xmlns:a="http://schemas.openxmlformats.org/drawingml/2006/main" noGrp="1"/>
          </p:cNvSpPr>
          <p:nvPr/>
        </p:nvSpPr>
        <p:spPr>
          <a:xfrm xmlns:a="http://schemas.openxmlformats.org/drawingml/2006/main">
            <a:off x="566928" y="5596128"/>
            <a:ext cx="11057839" cy="548640"/>
          </a:xfrm>
          <a:prstGeom xmlns:a="http://schemas.openxmlformats.org/drawingml/2006/main" prst="rect">
            <a:avLst/>
          </a:prstGeom>
          <a:solidFill xmlns:a="http://schemas.openxmlformats.org/drawingml/2006/main">
            <a:srgbClr val="102A43"/>
          </a:solidFill>
        </p:spPr>
      </p:sp>
      <p:sp>
        <p:nvSpPr>
          <p:cNvPr id="41" name="Text 39">
            <a:extLst xmlns:a="http://schemas.openxmlformats.org/drawingml/2006/main">
              <a:ext uri="{FF2B5EF4-FFF2-40B4-BE49-F238E27FC236}">
                <a16:creationId xmlns:a16="http://schemas.microsoft.com/office/drawing/2014/main" id="{AAB4F45B-35DF-401C-834B-BDD4E54A52F8}"/>
              </a:ext>
            </a:extLst>
          </p:cNvPr>
          <p:cNvSpPr>
            <a:spLocks xmlns:a="http://schemas.openxmlformats.org/drawingml/2006/main" noGrp="1"/>
          </p:cNvSpPr>
          <p:nvPr/>
        </p:nvSpPr>
        <p:spPr>
          <a:xfrm xmlns:a="http://schemas.openxmlformats.org/drawingml/2006/main">
            <a:off x="804672" y="577900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Only the first is an engineering problem. The other three are decided by architecture and governance, and all three are irreversible once the first country is live.</a:t>
            </a:r>
            <a:endParaRPr sz="990"/>
          </a:p>
        </p:txBody>
      </p:sp>
      <p:sp>
        <p:nvSpPr>
          <p:cNvPr id="42" name="Shape 40">
            <a:extLst xmlns:a="http://schemas.openxmlformats.org/drawingml/2006/main">
              <a:ext uri="{FF2B5EF4-FFF2-40B4-BE49-F238E27FC236}">
                <a16:creationId xmlns:a16="http://schemas.microsoft.com/office/drawing/2014/main" id="{EB906B92-3412-4559-A856-6C7F8756956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3" name="Text 41">
            <a:extLst xmlns:a="http://schemas.openxmlformats.org/drawingml/2006/main">
              <a:ext uri="{FF2B5EF4-FFF2-40B4-BE49-F238E27FC236}">
                <a16:creationId xmlns:a16="http://schemas.microsoft.com/office/drawing/2014/main" id="{ADB4E63F-28C9-41BE-BC89-8444D121213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the reference deployment</a:t>
            </a:r>
            <a:endParaRPr sz="850"/>
          </a:p>
        </p:txBody>
      </p:sp>
      <p:sp>
        <p:nvSpPr>
          <p:cNvPr id="44" name="Text 42">
            <a:extLst xmlns:a="http://schemas.openxmlformats.org/drawingml/2006/main">
              <a:ext uri="{FF2B5EF4-FFF2-40B4-BE49-F238E27FC236}">
                <a16:creationId xmlns:a16="http://schemas.microsoft.com/office/drawing/2014/main" id="{7A2949DC-2518-441F-B23C-3EFF34AAB97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824443388"/>
      </p:ext>
    </p:extLst>
  </p:cSld>
</p:sld>
</file>

<file path=ppt/slides/slide7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D206F47-0CC0-4F6E-8534-99DF5DBE71F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JURISDICTION</a:t>
            </a:r>
            <a:endParaRPr sz="950"/>
          </a:p>
        </p:txBody>
      </p:sp>
      <p:sp>
        <p:nvSpPr>
          <p:cNvPr id="3" name="Text 1">
            <a:extLst xmlns:a="http://schemas.openxmlformats.org/drawingml/2006/main">
              <a:ext uri="{FF2B5EF4-FFF2-40B4-BE49-F238E27FC236}">
                <a16:creationId xmlns:a16="http://schemas.microsoft.com/office/drawing/2014/main" id="{145DE81C-53DE-474A-9454-1EC6295770B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Nineteen countries on one platform means thirteen live regulators — and a data-</a:t>
            </a:r>
            <a:endParaRPr sz="1900"/>
          </a:p>
          <a:p xmlns:a="http://schemas.openxmlformats.org/drawingml/2006/main">
            <a:pPr marL="0" indent="0">
              <a:lnSpc>
                <a:spcPts val="2400"/>
              </a:lnSpc>
              <a:buNone/>
            </a:pPr>
            <a:r>
              <a:rPr sz="1900" b="1">
                <a:solidFill>
                  <a:srgbClr val="102A43"/>
                </a:solidFill>
                <a:latin typeface="Arial"/>
                <a:ea typeface="Arial"/>
                <a:cs typeface="Arial"/>
              </a:rPr>
              <a:t>residency decision that cannot be revisited after the first go-live</a:t>
            </a:r>
            <a:endParaRPr sz="1900"/>
          </a:p>
        </p:txBody>
      </p:sp>
      <p:sp>
        <p:nvSpPr>
          <p:cNvPr id="4" name="Shape 2">
            <a:extLst xmlns:a="http://schemas.openxmlformats.org/drawingml/2006/main">
              <a:ext uri="{FF2B5EF4-FFF2-40B4-BE49-F238E27FC236}">
                <a16:creationId xmlns:a16="http://schemas.microsoft.com/office/drawing/2014/main" id="{C0A97EDB-32A6-40EB-8755-B7783B077D56}"/>
              </a:ext>
            </a:extLst>
          </p:cNvPr>
          <p:cNvSpPr>
            <a:spLocks xmlns:a="http://schemas.openxmlformats.org/drawingml/2006/main" noGrp="1"/>
          </p:cNvSpPr>
          <p:nvPr/>
        </p:nvSpPr>
        <p:spPr>
          <a:xfrm xmlns:a="http://schemas.openxmlformats.org/drawingml/2006/main">
            <a:off x="566928" y="1335024"/>
            <a:ext cx="2641016" cy="197510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159002A2-00C2-4DF5-A759-35C581BACD8C}"/>
              </a:ext>
            </a:extLst>
          </p:cNvPr>
          <p:cNvSpPr>
            <a:spLocks xmlns:a="http://schemas.openxmlformats.org/drawingml/2006/main" noGrp="1"/>
          </p:cNvSpPr>
          <p:nvPr/>
        </p:nvSpPr>
        <p:spPr>
          <a:xfrm xmlns:a="http://schemas.openxmlformats.org/drawingml/2006/main">
            <a:off x="749808"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South Asia</a:t>
            </a:r>
            <a:endParaRPr sz="1000"/>
          </a:p>
        </p:txBody>
      </p:sp>
      <p:sp>
        <p:nvSpPr>
          <p:cNvPr id="6" name="Shape 4">
            <a:extLst xmlns:a="http://schemas.openxmlformats.org/drawingml/2006/main">
              <a:ext uri="{FF2B5EF4-FFF2-40B4-BE49-F238E27FC236}">
                <a16:creationId xmlns:a16="http://schemas.microsoft.com/office/drawing/2014/main" id="{9355E2F5-161C-4B4A-AB8D-F8EF146FC14F}"/>
              </a:ext>
            </a:extLst>
          </p:cNvPr>
          <p:cNvSpPr>
            <a:spLocks xmlns:a="http://schemas.openxmlformats.org/drawingml/2006/main" noGrp="1"/>
          </p:cNvSpPr>
          <p:nvPr/>
        </p:nvSpPr>
        <p:spPr>
          <a:xfrm xmlns:a="http://schemas.openxmlformats.org/drawingml/2006/main">
            <a:off x="749808" y="1956816"/>
            <a:ext cx="2275256" cy="20117"/>
          </a:xfrm>
          <a:prstGeom xmlns:a="http://schemas.openxmlformats.org/drawingml/2006/main" prst="rect">
            <a:avLst/>
          </a:prstGeom>
          <a:solidFill xmlns:a="http://schemas.openxmlformats.org/drawingml/2006/main">
            <a:srgbClr val="486581"/>
          </a:solidFill>
        </p:spPr>
      </p:sp>
      <p:sp>
        <p:nvSpPr>
          <p:cNvPr id="7" name="Text 5">
            <a:extLst xmlns:a="http://schemas.openxmlformats.org/drawingml/2006/main">
              <a:ext uri="{FF2B5EF4-FFF2-40B4-BE49-F238E27FC236}">
                <a16:creationId xmlns:a16="http://schemas.microsoft.com/office/drawing/2014/main" id="{8BD7C385-212F-4083-B53E-BF6542CB360A}"/>
              </a:ext>
            </a:extLst>
          </p:cNvPr>
          <p:cNvSpPr>
            <a:spLocks xmlns:a="http://schemas.openxmlformats.org/drawingml/2006/main" noGrp="1"/>
          </p:cNvSpPr>
          <p:nvPr/>
        </p:nvSpPr>
        <p:spPr>
          <a:xfrm xmlns:a="http://schemas.openxmlformats.org/drawingml/2006/main">
            <a:off x="749808" y="2084832"/>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Nepal</a:t>
            </a:r>
            <a:endParaRPr sz="920"/>
          </a:p>
        </p:txBody>
      </p:sp>
      <p:sp>
        <p:nvSpPr>
          <p:cNvPr id="8" name="Text 6">
            <a:extLst xmlns:a="http://schemas.openxmlformats.org/drawingml/2006/main">
              <a:ext uri="{FF2B5EF4-FFF2-40B4-BE49-F238E27FC236}">
                <a16:creationId xmlns:a16="http://schemas.microsoft.com/office/drawing/2014/main" id="{62654F62-BB1E-4DA7-BDC0-C158F80E9BD4}"/>
              </a:ext>
            </a:extLst>
          </p:cNvPr>
          <p:cNvSpPr>
            <a:spLocks xmlns:a="http://schemas.openxmlformats.org/drawingml/2006/main" noGrp="1"/>
          </p:cNvSpPr>
          <p:nvPr/>
        </p:nvSpPr>
        <p:spPr>
          <a:xfrm xmlns:a="http://schemas.openxmlformats.org/drawingml/2006/main">
            <a:off x="749808" y="2286183"/>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Bangladesh</a:t>
            </a:r>
            <a:endParaRPr sz="920"/>
          </a:p>
        </p:txBody>
      </p:sp>
      <p:sp>
        <p:nvSpPr>
          <p:cNvPr id="9" name="Text 7">
            <a:extLst xmlns:a="http://schemas.openxmlformats.org/drawingml/2006/main">
              <a:ext uri="{FF2B5EF4-FFF2-40B4-BE49-F238E27FC236}">
                <a16:creationId xmlns:a16="http://schemas.microsoft.com/office/drawing/2014/main" id="{05C80A2D-924F-4298-886C-300C463FB529}"/>
              </a:ext>
            </a:extLst>
          </p:cNvPr>
          <p:cNvSpPr>
            <a:spLocks xmlns:a="http://schemas.openxmlformats.org/drawingml/2006/main" noGrp="1"/>
          </p:cNvSpPr>
          <p:nvPr/>
        </p:nvSpPr>
        <p:spPr>
          <a:xfrm xmlns:a="http://schemas.openxmlformats.org/drawingml/2006/main">
            <a:off x="749808" y="2487534"/>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Sri Lanka</a:t>
            </a:r>
            <a:endParaRPr sz="920"/>
          </a:p>
        </p:txBody>
      </p:sp>
      <p:sp>
        <p:nvSpPr>
          <p:cNvPr id="10" name="Text 8">
            <a:extLst xmlns:a="http://schemas.openxmlformats.org/drawingml/2006/main">
              <a:ext uri="{FF2B5EF4-FFF2-40B4-BE49-F238E27FC236}">
                <a16:creationId xmlns:a16="http://schemas.microsoft.com/office/drawing/2014/main" id="{94B9FC96-953F-4878-9B69-CF2CF4F61307}"/>
              </a:ext>
            </a:extLst>
          </p:cNvPr>
          <p:cNvSpPr>
            <a:spLocks xmlns:a="http://schemas.openxmlformats.org/drawingml/2006/main" noGrp="1"/>
          </p:cNvSpPr>
          <p:nvPr/>
        </p:nvSpPr>
        <p:spPr>
          <a:xfrm xmlns:a="http://schemas.openxmlformats.org/drawingml/2006/main">
            <a:off x="749808" y="2688885"/>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Maldives</a:t>
            </a:r>
            <a:endParaRPr sz="920"/>
          </a:p>
        </p:txBody>
      </p:sp>
      <p:sp>
        <p:nvSpPr>
          <p:cNvPr id="11" name="Shape 9">
            <a:extLst xmlns:a="http://schemas.openxmlformats.org/drawingml/2006/main">
              <a:ext uri="{FF2B5EF4-FFF2-40B4-BE49-F238E27FC236}">
                <a16:creationId xmlns:a16="http://schemas.microsoft.com/office/drawing/2014/main" id="{1A83F880-A8E6-4E7C-86C4-5EFAFA5E0BEB}"/>
              </a:ext>
            </a:extLst>
          </p:cNvPr>
          <p:cNvSpPr>
            <a:spLocks xmlns:a="http://schemas.openxmlformats.org/drawingml/2006/main" noGrp="1"/>
          </p:cNvSpPr>
          <p:nvPr/>
        </p:nvSpPr>
        <p:spPr>
          <a:xfrm xmlns:a="http://schemas.openxmlformats.org/drawingml/2006/main">
            <a:off x="3372536" y="1335024"/>
            <a:ext cx="2641016" cy="1975104"/>
          </a:xfrm>
          <a:prstGeom xmlns:a="http://schemas.openxmlformats.org/drawingml/2006/main" prst="rect">
            <a:avLst/>
          </a:prstGeom>
          <a:solidFill xmlns:a="http://schemas.openxmlformats.org/drawingml/2006/main">
            <a:srgbClr val="F0F4F8"/>
          </a:solidFill>
        </p:spPr>
      </p:sp>
      <p:sp>
        <p:nvSpPr>
          <p:cNvPr id="12" name="Text 10">
            <a:extLst xmlns:a="http://schemas.openxmlformats.org/drawingml/2006/main">
              <a:ext uri="{FF2B5EF4-FFF2-40B4-BE49-F238E27FC236}">
                <a16:creationId xmlns:a16="http://schemas.microsoft.com/office/drawing/2014/main" id="{B6BF71EE-D901-4967-8E5B-EC6D60698AB1}"/>
              </a:ext>
            </a:extLst>
          </p:cNvPr>
          <p:cNvSpPr>
            <a:spLocks xmlns:a="http://schemas.openxmlformats.org/drawingml/2006/main" noGrp="1"/>
          </p:cNvSpPr>
          <p:nvPr/>
        </p:nvSpPr>
        <p:spPr>
          <a:xfrm xmlns:a="http://schemas.openxmlformats.org/drawingml/2006/main">
            <a:off x="3555416"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Asia Pacific</a:t>
            </a:r>
            <a:endParaRPr sz="1000"/>
          </a:p>
        </p:txBody>
      </p:sp>
      <p:sp>
        <p:nvSpPr>
          <p:cNvPr id="13" name="Shape 11">
            <a:extLst xmlns:a="http://schemas.openxmlformats.org/drawingml/2006/main">
              <a:ext uri="{FF2B5EF4-FFF2-40B4-BE49-F238E27FC236}">
                <a16:creationId xmlns:a16="http://schemas.microsoft.com/office/drawing/2014/main" id="{3EFCBA80-32F3-43C2-8D71-871F49B05CD1}"/>
              </a:ext>
            </a:extLst>
          </p:cNvPr>
          <p:cNvSpPr>
            <a:spLocks xmlns:a="http://schemas.openxmlformats.org/drawingml/2006/main" noGrp="1"/>
          </p:cNvSpPr>
          <p:nvPr/>
        </p:nvSpPr>
        <p:spPr>
          <a:xfrm xmlns:a="http://schemas.openxmlformats.org/drawingml/2006/main">
            <a:off x="3555416" y="1956816"/>
            <a:ext cx="2275256" cy="20117"/>
          </a:xfrm>
          <a:prstGeom xmlns:a="http://schemas.openxmlformats.org/drawingml/2006/main" prst="rect">
            <a:avLst/>
          </a:prstGeom>
          <a:solidFill xmlns:a="http://schemas.openxmlformats.org/drawingml/2006/main">
            <a:srgbClr val="486581"/>
          </a:solidFill>
        </p:spPr>
      </p:sp>
      <p:sp>
        <p:nvSpPr>
          <p:cNvPr id="14" name="Text 12">
            <a:extLst xmlns:a="http://schemas.openxmlformats.org/drawingml/2006/main">
              <a:ext uri="{FF2B5EF4-FFF2-40B4-BE49-F238E27FC236}">
                <a16:creationId xmlns:a16="http://schemas.microsoft.com/office/drawing/2014/main" id="{55E1FA02-FB1B-4107-8CE9-76852991E08A}"/>
              </a:ext>
            </a:extLst>
          </p:cNvPr>
          <p:cNvSpPr>
            <a:spLocks xmlns:a="http://schemas.openxmlformats.org/drawingml/2006/main" noGrp="1"/>
          </p:cNvSpPr>
          <p:nvPr/>
        </p:nvSpPr>
        <p:spPr>
          <a:xfrm xmlns:a="http://schemas.openxmlformats.org/drawingml/2006/main">
            <a:off x="3555416" y="2084832"/>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Singapore</a:t>
            </a:r>
            <a:endParaRPr sz="920"/>
          </a:p>
        </p:txBody>
      </p:sp>
      <p:sp>
        <p:nvSpPr>
          <p:cNvPr id="15" name="Text 13">
            <a:extLst xmlns:a="http://schemas.openxmlformats.org/drawingml/2006/main">
              <a:ext uri="{FF2B5EF4-FFF2-40B4-BE49-F238E27FC236}">
                <a16:creationId xmlns:a16="http://schemas.microsoft.com/office/drawing/2014/main" id="{8E0733F9-4060-48BB-90B8-B99B81E0E687}"/>
              </a:ext>
            </a:extLst>
          </p:cNvPr>
          <p:cNvSpPr>
            <a:spLocks xmlns:a="http://schemas.openxmlformats.org/drawingml/2006/main" noGrp="1"/>
          </p:cNvSpPr>
          <p:nvPr/>
        </p:nvSpPr>
        <p:spPr>
          <a:xfrm xmlns:a="http://schemas.openxmlformats.org/drawingml/2006/main">
            <a:off x="3555416" y="2286183"/>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Hong Kong</a:t>
            </a:r>
            <a:endParaRPr sz="920"/>
          </a:p>
        </p:txBody>
      </p:sp>
      <p:sp>
        <p:nvSpPr>
          <p:cNvPr id="16" name="Text 14">
            <a:extLst xmlns:a="http://schemas.openxmlformats.org/drawingml/2006/main">
              <a:ext uri="{FF2B5EF4-FFF2-40B4-BE49-F238E27FC236}">
                <a16:creationId xmlns:a16="http://schemas.microsoft.com/office/drawing/2014/main" id="{3D85F732-7EBF-4B39-81A0-3A800B14C23A}"/>
              </a:ext>
            </a:extLst>
          </p:cNvPr>
          <p:cNvSpPr>
            <a:spLocks xmlns:a="http://schemas.openxmlformats.org/drawingml/2006/main" noGrp="1"/>
          </p:cNvSpPr>
          <p:nvPr/>
        </p:nvSpPr>
        <p:spPr>
          <a:xfrm xmlns:a="http://schemas.openxmlformats.org/drawingml/2006/main">
            <a:off x="3555416" y="2487534"/>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Shanghai</a:t>
            </a:r>
            <a:endParaRPr sz="920"/>
          </a:p>
        </p:txBody>
      </p:sp>
      <p:sp>
        <p:nvSpPr>
          <p:cNvPr id="17" name="Text 15">
            <a:extLst xmlns:a="http://schemas.openxmlformats.org/drawingml/2006/main">
              <a:ext uri="{FF2B5EF4-FFF2-40B4-BE49-F238E27FC236}">
                <a16:creationId xmlns:a16="http://schemas.microsoft.com/office/drawing/2014/main" id="{17AC5597-C2CE-4921-A3A1-D8E2D86D182F}"/>
              </a:ext>
            </a:extLst>
          </p:cNvPr>
          <p:cNvSpPr>
            <a:spLocks xmlns:a="http://schemas.openxmlformats.org/drawingml/2006/main" noGrp="1"/>
          </p:cNvSpPr>
          <p:nvPr/>
        </p:nvSpPr>
        <p:spPr>
          <a:xfrm xmlns:a="http://schemas.openxmlformats.org/drawingml/2006/main">
            <a:off x="3555416" y="2688885"/>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Japan</a:t>
            </a:r>
            <a:endParaRPr sz="920"/>
          </a:p>
        </p:txBody>
      </p:sp>
      <p:sp>
        <p:nvSpPr>
          <p:cNvPr id="18" name="Text 16">
            <a:extLst xmlns:a="http://schemas.openxmlformats.org/drawingml/2006/main">
              <a:ext uri="{FF2B5EF4-FFF2-40B4-BE49-F238E27FC236}">
                <a16:creationId xmlns:a16="http://schemas.microsoft.com/office/drawing/2014/main" id="{D5ACFA81-AAED-4327-8CB4-361493793C90}"/>
              </a:ext>
            </a:extLst>
          </p:cNvPr>
          <p:cNvSpPr>
            <a:spLocks xmlns:a="http://schemas.openxmlformats.org/drawingml/2006/main" noGrp="1"/>
          </p:cNvSpPr>
          <p:nvPr/>
        </p:nvSpPr>
        <p:spPr>
          <a:xfrm xmlns:a="http://schemas.openxmlformats.org/drawingml/2006/main">
            <a:off x="3555416" y="2890236"/>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Indonesia</a:t>
            </a:r>
            <a:endParaRPr sz="920"/>
          </a:p>
        </p:txBody>
      </p:sp>
      <p:sp>
        <p:nvSpPr>
          <p:cNvPr id="19" name="Text 17">
            <a:extLst xmlns:a="http://schemas.openxmlformats.org/drawingml/2006/main">
              <a:ext uri="{FF2B5EF4-FFF2-40B4-BE49-F238E27FC236}">
                <a16:creationId xmlns:a16="http://schemas.microsoft.com/office/drawing/2014/main" id="{76303AB4-40AE-41B0-9C11-7624E6959141}"/>
              </a:ext>
            </a:extLst>
          </p:cNvPr>
          <p:cNvSpPr>
            <a:spLocks xmlns:a="http://schemas.openxmlformats.org/drawingml/2006/main" noGrp="1"/>
          </p:cNvSpPr>
          <p:nvPr/>
        </p:nvSpPr>
        <p:spPr>
          <a:xfrm xmlns:a="http://schemas.openxmlformats.org/drawingml/2006/main">
            <a:off x="3555416" y="3091586"/>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Australia</a:t>
            </a:r>
            <a:endParaRPr sz="920"/>
          </a:p>
        </p:txBody>
      </p:sp>
      <p:sp>
        <p:nvSpPr>
          <p:cNvPr id="20" name="Shape 18">
            <a:extLst xmlns:a="http://schemas.openxmlformats.org/drawingml/2006/main">
              <a:ext uri="{FF2B5EF4-FFF2-40B4-BE49-F238E27FC236}">
                <a16:creationId xmlns:a16="http://schemas.microsoft.com/office/drawing/2014/main" id="{2C431E4F-F2D7-4AE6-988A-F419D9C39DF6}"/>
              </a:ext>
            </a:extLst>
          </p:cNvPr>
          <p:cNvSpPr>
            <a:spLocks xmlns:a="http://schemas.openxmlformats.org/drawingml/2006/main" noGrp="1"/>
          </p:cNvSpPr>
          <p:nvPr/>
        </p:nvSpPr>
        <p:spPr>
          <a:xfrm xmlns:a="http://schemas.openxmlformats.org/drawingml/2006/main">
            <a:off x="6178144" y="1335024"/>
            <a:ext cx="2641016" cy="1975104"/>
          </a:xfrm>
          <a:prstGeom xmlns:a="http://schemas.openxmlformats.org/drawingml/2006/main" prst="rect">
            <a:avLst/>
          </a:prstGeom>
          <a:solidFill xmlns:a="http://schemas.openxmlformats.org/drawingml/2006/main">
            <a:srgbClr val="F3E6E0"/>
          </a:solidFill>
        </p:spPr>
      </p:sp>
      <p:sp>
        <p:nvSpPr>
          <p:cNvPr id="21" name="Text 19">
            <a:extLst xmlns:a="http://schemas.openxmlformats.org/drawingml/2006/main">
              <a:ext uri="{FF2B5EF4-FFF2-40B4-BE49-F238E27FC236}">
                <a16:creationId xmlns:a16="http://schemas.microsoft.com/office/drawing/2014/main" id="{2D6DC0D6-64C5-403F-BA7E-BE5D5E966FEA}"/>
              </a:ext>
            </a:extLst>
          </p:cNvPr>
          <p:cNvSpPr>
            <a:spLocks xmlns:a="http://schemas.openxmlformats.org/drawingml/2006/main" noGrp="1"/>
          </p:cNvSpPr>
          <p:nvPr/>
        </p:nvSpPr>
        <p:spPr>
          <a:xfrm xmlns:a="http://schemas.openxmlformats.org/drawingml/2006/main">
            <a:off x="6361024"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Middle East &amp; Africa</a:t>
            </a:r>
            <a:endParaRPr sz="1000"/>
          </a:p>
        </p:txBody>
      </p:sp>
      <p:sp>
        <p:nvSpPr>
          <p:cNvPr id="22" name="Shape 20">
            <a:extLst xmlns:a="http://schemas.openxmlformats.org/drawingml/2006/main">
              <a:ext uri="{FF2B5EF4-FFF2-40B4-BE49-F238E27FC236}">
                <a16:creationId xmlns:a16="http://schemas.microsoft.com/office/drawing/2014/main" id="{3FCC29F8-AB89-4E0D-99BE-C20FF7FD6F86}"/>
              </a:ext>
            </a:extLst>
          </p:cNvPr>
          <p:cNvSpPr>
            <a:spLocks xmlns:a="http://schemas.openxmlformats.org/drawingml/2006/main" noGrp="1"/>
          </p:cNvSpPr>
          <p:nvPr/>
        </p:nvSpPr>
        <p:spPr>
          <a:xfrm xmlns:a="http://schemas.openxmlformats.org/drawingml/2006/main">
            <a:off x="6361024" y="1956816"/>
            <a:ext cx="2275256" cy="20117"/>
          </a:xfrm>
          <a:prstGeom xmlns:a="http://schemas.openxmlformats.org/drawingml/2006/main" prst="rect">
            <a:avLst/>
          </a:prstGeom>
          <a:solidFill xmlns:a="http://schemas.openxmlformats.org/drawingml/2006/main">
            <a:srgbClr val="B04A25"/>
          </a:solidFill>
        </p:spPr>
      </p:sp>
      <p:sp>
        <p:nvSpPr>
          <p:cNvPr id="23" name="Text 21">
            <a:extLst xmlns:a="http://schemas.openxmlformats.org/drawingml/2006/main">
              <a:ext uri="{FF2B5EF4-FFF2-40B4-BE49-F238E27FC236}">
                <a16:creationId xmlns:a16="http://schemas.microsoft.com/office/drawing/2014/main" id="{E0C78BC6-D375-4C29-B55F-1CAED61B8860}"/>
              </a:ext>
            </a:extLst>
          </p:cNvPr>
          <p:cNvSpPr>
            <a:spLocks xmlns:a="http://schemas.openxmlformats.org/drawingml/2006/main" noGrp="1"/>
          </p:cNvSpPr>
          <p:nvPr/>
        </p:nvSpPr>
        <p:spPr>
          <a:xfrm xmlns:a="http://schemas.openxmlformats.org/drawingml/2006/main">
            <a:off x="6361024" y="2084832"/>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Dubai</a:t>
            </a:r>
            <a:endParaRPr sz="920"/>
          </a:p>
        </p:txBody>
      </p:sp>
      <p:sp>
        <p:nvSpPr>
          <p:cNvPr id="24" name="Text 22">
            <a:extLst xmlns:a="http://schemas.openxmlformats.org/drawingml/2006/main">
              <a:ext uri="{FF2B5EF4-FFF2-40B4-BE49-F238E27FC236}">
                <a16:creationId xmlns:a16="http://schemas.microsoft.com/office/drawing/2014/main" id="{D7ED1444-F882-4178-9320-7EE22A0FF17B}"/>
              </a:ext>
            </a:extLst>
          </p:cNvPr>
          <p:cNvSpPr>
            <a:spLocks xmlns:a="http://schemas.openxmlformats.org/drawingml/2006/main" noGrp="1"/>
          </p:cNvSpPr>
          <p:nvPr/>
        </p:nvSpPr>
        <p:spPr>
          <a:xfrm xmlns:a="http://schemas.openxmlformats.org/drawingml/2006/main">
            <a:off x="6361024" y="2286183"/>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Bahrain</a:t>
            </a:r>
            <a:endParaRPr sz="920"/>
          </a:p>
        </p:txBody>
      </p:sp>
      <p:sp>
        <p:nvSpPr>
          <p:cNvPr id="25" name="Text 23">
            <a:extLst xmlns:a="http://schemas.openxmlformats.org/drawingml/2006/main">
              <a:ext uri="{FF2B5EF4-FFF2-40B4-BE49-F238E27FC236}">
                <a16:creationId xmlns:a16="http://schemas.microsoft.com/office/drawing/2014/main" id="{54F9AD93-9BDC-420A-964D-4803A14F7A1F}"/>
              </a:ext>
            </a:extLst>
          </p:cNvPr>
          <p:cNvSpPr>
            <a:spLocks xmlns:a="http://schemas.openxmlformats.org/drawingml/2006/main" noGrp="1"/>
          </p:cNvSpPr>
          <p:nvPr/>
        </p:nvSpPr>
        <p:spPr>
          <a:xfrm xmlns:a="http://schemas.openxmlformats.org/drawingml/2006/main">
            <a:off x="6361024" y="2487534"/>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South Africa</a:t>
            </a:r>
            <a:endParaRPr sz="920"/>
          </a:p>
        </p:txBody>
      </p:sp>
      <p:sp>
        <p:nvSpPr>
          <p:cNvPr id="26" name="Text 24">
            <a:extLst xmlns:a="http://schemas.openxmlformats.org/drawingml/2006/main">
              <a:ext uri="{FF2B5EF4-FFF2-40B4-BE49-F238E27FC236}">
                <a16:creationId xmlns:a16="http://schemas.microsoft.com/office/drawing/2014/main" id="{CEA6DAE3-74F0-472C-BE5C-55C7333E5FEC}"/>
              </a:ext>
            </a:extLst>
          </p:cNvPr>
          <p:cNvSpPr>
            <a:spLocks xmlns:a="http://schemas.openxmlformats.org/drawingml/2006/main" noGrp="1"/>
          </p:cNvSpPr>
          <p:nvPr/>
        </p:nvSpPr>
        <p:spPr>
          <a:xfrm xmlns:a="http://schemas.openxmlformats.org/drawingml/2006/main">
            <a:off x="6361024" y="2688885"/>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Mauritius</a:t>
            </a:r>
            <a:endParaRPr sz="920"/>
          </a:p>
        </p:txBody>
      </p:sp>
      <p:sp>
        <p:nvSpPr>
          <p:cNvPr id="27" name="Shape 25">
            <a:extLst xmlns:a="http://schemas.openxmlformats.org/drawingml/2006/main">
              <a:ext uri="{FF2B5EF4-FFF2-40B4-BE49-F238E27FC236}">
                <a16:creationId xmlns:a16="http://schemas.microsoft.com/office/drawing/2014/main" id="{8EDCAFF4-2D8E-4EDD-9DD2-7737C5F3C733}"/>
              </a:ext>
            </a:extLst>
          </p:cNvPr>
          <p:cNvSpPr>
            <a:spLocks xmlns:a="http://schemas.openxmlformats.org/drawingml/2006/main" noGrp="1"/>
          </p:cNvSpPr>
          <p:nvPr/>
        </p:nvSpPr>
        <p:spPr>
          <a:xfrm xmlns:a="http://schemas.openxmlformats.org/drawingml/2006/main">
            <a:off x="8983751" y="1335024"/>
            <a:ext cx="2641016" cy="1975104"/>
          </a:xfrm>
          <a:prstGeom xmlns:a="http://schemas.openxmlformats.org/drawingml/2006/main" prst="rect">
            <a:avLst/>
          </a:prstGeom>
          <a:solidFill xmlns:a="http://schemas.openxmlformats.org/drawingml/2006/main">
            <a:srgbClr val="F3E6E0"/>
          </a:solidFill>
        </p:spPr>
      </p:sp>
      <p:sp>
        <p:nvSpPr>
          <p:cNvPr id="28" name="Text 26">
            <a:extLst xmlns:a="http://schemas.openxmlformats.org/drawingml/2006/main">
              <a:ext uri="{FF2B5EF4-FFF2-40B4-BE49-F238E27FC236}">
                <a16:creationId xmlns:a16="http://schemas.microsoft.com/office/drawing/2014/main" id="{FD633553-23AD-465C-B462-27497FC94399}"/>
              </a:ext>
            </a:extLst>
          </p:cNvPr>
          <p:cNvSpPr>
            <a:spLocks xmlns:a="http://schemas.openxmlformats.org/drawingml/2006/main" noGrp="1"/>
          </p:cNvSpPr>
          <p:nvPr/>
        </p:nvSpPr>
        <p:spPr>
          <a:xfrm xmlns:a="http://schemas.openxmlformats.org/drawingml/2006/main">
            <a:off x="9166631" y="1481328"/>
            <a:ext cx="2275256"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Europe &amp; Americas</a:t>
            </a:r>
            <a:endParaRPr sz="1000"/>
          </a:p>
        </p:txBody>
      </p:sp>
      <p:sp>
        <p:nvSpPr>
          <p:cNvPr id="29" name="Shape 27">
            <a:extLst xmlns:a="http://schemas.openxmlformats.org/drawingml/2006/main">
              <a:ext uri="{FF2B5EF4-FFF2-40B4-BE49-F238E27FC236}">
                <a16:creationId xmlns:a16="http://schemas.microsoft.com/office/drawing/2014/main" id="{03433806-6390-40CD-98FB-BD7F10A0C31E}"/>
              </a:ext>
            </a:extLst>
          </p:cNvPr>
          <p:cNvSpPr>
            <a:spLocks xmlns:a="http://schemas.openxmlformats.org/drawingml/2006/main" noGrp="1"/>
          </p:cNvSpPr>
          <p:nvPr/>
        </p:nvSpPr>
        <p:spPr>
          <a:xfrm xmlns:a="http://schemas.openxmlformats.org/drawingml/2006/main">
            <a:off x="9166631" y="1956816"/>
            <a:ext cx="2275256" cy="20117"/>
          </a:xfrm>
          <a:prstGeom xmlns:a="http://schemas.openxmlformats.org/drawingml/2006/main" prst="rect">
            <a:avLst/>
          </a:prstGeom>
          <a:solidFill xmlns:a="http://schemas.openxmlformats.org/drawingml/2006/main">
            <a:srgbClr val="B04A25"/>
          </a:solidFill>
        </p:spPr>
      </p:sp>
      <p:sp>
        <p:nvSpPr>
          <p:cNvPr id="30" name="Text 28">
            <a:extLst xmlns:a="http://schemas.openxmlformats.org/drawingml/2006/main">
              <a:ext uri="{FF2B5EF4-FFF2-40B4-BE49-F238E27FC236}">
                <a16:creationId xmlns:a16="http://schemas.microsoft.com/office/drawing/2014/main" id="{DC642A3D-E49B-4EB6-823B-331E00D9FD21}"/>
              </a:ext>
            </a:extLst>
          </p:cNvPr>
          <p:cNvSpPr>
            <a:spLocks xmlns:a="http://schemas.openxmlformats.org/drawingml/2006/main" noGrp="1"/>
          </p:cNvSpPr>
          <p:nvPr/>
        </p:nvSpPr>
        <p:spPr>
          <a:xfrm xmlns:a="http://schemas.openxmlformats.org/drawingml/2006/main">
            <a:off x="9166631" y="2084832"/>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UK Retail</a:t>
            </a:r>
            <a:endParaRPr sz="920"/>
          </a:p>
        </p:txBody>
      </p:sp>
      <p:sp>
        <p:nvSpPr>
          <p:cNvPr id="31" name="Text 29">
            <a:extLst xmlns:a="http://schemas.openxmlformats.org/drawingml/2006/main">
              <a:ext uri="{FF2B5EF4-FFF2-40B4-BE49-F238E27FC236}">
                <a16:creationId xmlns:a16="http://schemas.microsoft.com/office/drawing/2014/main" id="{9799F223-8902-4B0A-B61A-43DBDC23BC75}"/>
              </a:ext>
            </a:extLst>
          </p:cNvPr>
          <p:cNvSpPr>
            <a:spLocks xmlns:a="http://schemas.openxmlformats.org/drawingml/2006/main" noGrp="1"/>
          </p:cNvSpPr>
          <p:nvPr/>
        </p:nvSpPr>
        <p:spPr>
          <a:xfrm xmlns:a="http://schemas.openxmlformats.org/drawingml/2006/main">
            <a:off x="9166631" y="2286183"/>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UK Corporate</a:t>
            </a:r>
            <a:endParaRPr sz="920"/>
          </a:p>
        </p:txBody>
      </p:sp>
      <p:sp>
        <p:nvSpPr>
          <p:cNvPr id="32" name="Text 30">
            <a:extLst xmlns:a="http://schemas.openxmlformats.org/drawingml/2006/main">
              <a:ext uri="{FF2B5EF4-FFF2-40B4-BE49-F238E27FC236}">
                <a16:creationId xmlns:a16="http://schemas.microsoft.com/office/drawing/2014/main" id="{B12B6B99-7916-43D2-9D0F-617EA8474F77}"/>
              </a:ext>
            </a:extLst>
          </p:cNvPr>
          <p:cNvSpPr>
            <a:spLocks xmlns:a="http://schemas.openxmlformats.org/drawingml/2006/main" noGrp="1"/>
          </p:cNvSpPr>
          <p:nvPr/>
        </p:nvSpPr>
        <p:spPr>
          <a:xfrm xmlns:a="http://schemas.openxmlformats.org/drawingml/2006/main">
            <a:off x="9166631" y="2487534"/>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Frankfurt</a:t>
            </a:r>
            <a:endParaRPr sz="920"/>
          </a:p>
        </p:txBody>
      </p:sp>
      <p:sp>
        <p:nvSpPr>
          <p:cNvPr id="33" name="Text 31">
            <a:extLst xmlns:a="http://schemas.openxmlformats.org/drawingml/2006/main">
              <a:ext uri="{FF2B5EF4-FFF2-40B4-BE49-F238E27FC236}">
                <a16:creationId xmlns:a16="http://schemas.microsoft.com/office/drawing/2014/main" id="{4CB7A1A8-3DEB-40E9-B4F9-E7A96765C869}"/>
              </a:ext>
            </a:extLst>
          </p:cNvPr>
          <p:cNvSpPr>
            <a:spLocks xmlns:a="http://schemas.openxmlformats.org/drawingml/2006/main" noGrp="1"/>
          </p:cNvSpPr>
          <p:nvPr/>
        </p:nvSpPr>
        <p:spPr>
          <a:xfrm xmlns:a="http://schemas.openxmlformats.org/drawingml/2006/main">
            <a:off x="9166631" y="2688885"/>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USA</a:t>
            </a:r>
            <a:endParaRPr sz="920"/>
          </a:p>
        </p:txBody>
      </p:sp>
      <p:sp>
        <p:nvSpPr>
          <p:cNvPr id="34" name="Text 32">
            <a:extLst xmlns:a="http://schemas.openxmlformats.org/drawingml/2006/main">
              <a:ext uri="{FF2B5EF4-FFF2-40B4-BE49-F238E27FC236}">
                <a16:creationId xmlns:a16="http://schemas.microsoft.com/office/drawing/2014/main" id="{F223E943-46EB-4076-8247-70D877A33FA9}"/>
              </a:ext>
            </a:extLst>
          </p:cNvPr>
          <p:cNvSpPr>
            <a:spLocks xmlns:a="http://schemas.openxmlformats.org/drawingml/2006/main" noGrp="1"/>
          </p:cNvSpPr>
          <p:nvPr/>
        </p:nvSpPr>
        <p:spPr>
          <a:xfrm xmlns:a="http://schemas.openxmlformats.org/drawingml/2006/main">
            <a:off x="9166631" y="2890236"/>
            <a:ext cx="2275256" cy="19220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42"/>
              </a:lnSpc>
              <a:buNone/>
            </a:pPr>
            <a:r>
              <a:rPr sz="920">
                <a:solidFill>
                  <a:srgbClr val="1A1A1A"/>
                </a:solidFill>
                <a:latin typeface="Arial"/>
                <a:ea typeface="Arial"/>
                <a:cs typeface="Arial"/>
              </a:rPr>
              <a:t>Canada</a:t>
            </a:r>
            <a:endParaRPr sz="920"/>
          </a:p>
        </p:txBody>
      </p:sp>
      <p:sp>
        <p:nvSpPr>
          <p:cNvPr id="35" name="Shape 33">
            <a:extLst xmlns:a="http://schemas.openxmlformats.org/drawingml/2006/main">
              <a:ext uri="{FF2B5EF4-FFF2-40B4-BE49-F238E27FC236}">
                <a16:creationId xmlns:a16="http://schemas.microsoft.com/office/drawing/2014/main" id="{4A9B6E93-AA40-4B4E-B5D9-E8745C970738}"/>
              </a:ext>
            </a:extLst>
          </p:cNvPr>
          <p:cNvSpPr>
            <a:spLocks xmlns:a="http://schemas.openxmlformats.org/drawingml/2006/main" noGrp="1"/>
          </p:cNvSpPr>
          <p:nvPr/>
        </p:nvSpPr>
        <p:spPr>
          <a:xfrm xmlns:a="http://schemas.openxmlformats.org/drawingml/2006/main">
            <a:off x="566928" y="3511296"/>
            <a:ext cx="2682164" cy="859536"/>
          </a:xfrm>
          <a:prstGeom xmlns:a="http://schemas.openxmlformats.org/drawingml/2006/main" prst="rect">
            <a:avLst/>
          </a:prstGeom>
          <a:solidFill xmlns:a="http://schemas.openxmlformats.org/drawingml/2006/main">
            <a:srgbClr val="F0F4F8"/>
          </a:solidFill>
        </p:spPr>
      </p:sp>
      <p:sp>
        <p:nvSpPr>
          <p:cNvPr id="36" name="Text 34">
            <a:extLst xmlns:a="http://schemas.openxmlformats.org/drawingml/2006/main">
              <a:ext uri="{FF2B5EF4-FFF2-40B4-BE49-F238E27FC236}">
                <a16:creationId xmlns:a16="http://schemas.microsoft.com/office/drawing/2014/main" id="{B610806F-9087-458A-A421-E0B90A215B2D}"/>
              </a:ext>
            </a:extLst>
          </p:cNvPr>
          <p:cNvSpPr>
            <a:spLocks xmlns:a="http://schemas.openxmlformats.org/drawingml/2006/main" noGrp="1"/>
          </p:cNvSpPr>
          <p:nvPr/>
        </p:nvSpPr>
        <p:spPr>
          <a:xfrm xmlns:a="http://schemas.openxmlformats.org/drawingml/2006/main">
            <a:off x="694944" y="3630168"/>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19</a:t>
            </a:r>
            <a:endParaRPr sz="2200"/>
          </a:p>
        </p:txBody>
      </p:sp>
      <p:sp>
        <p:nvSpPr>
          <p:cNvPr id="37" name="Text 35">
            <a:extLst xmlns:a="http://schemas.openxmlformats.org/drawingml/2006/main">
              <a:ext uri="{FF2B5EF4-FFF2-40B4-BE49-F238E27FC236}">
                <a16:creationId xmlns:a16="http://schemas.microsoft.com/office/drawing/2014/main" id="{AD45CC78-022A-40C3-9162-68D3F354C7B3}"/>
              </a:ext>
            </a:extLst>
          </p:cNvPr>
          <p:cNvSpPr>
            <a:spLocks xmlns:a="http://schemas.openxmlformats.org/drawingml/2006/main" noGrp="1"/>
          </p:cNvSpPr>
          <p:nvPr/>
        </p:nvSpPr>
        <p:spPr>
          <a:xfrm xmlns:a="http://schemas.openxmlformats.org/drawingml/2006/main">
            <a:off x="694944" y="4023360"/>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countries in scope</a:t>
            </a:r>
            <a:endParaRPr sz="860"/>
          </a:p>
        </p:txBody>
      </p:sp>
      <p:sp>
        <p:nvSpPr>
          <p:cNvPr id="38" name="Shape 36">
            <a:extLst xmlns:a="http://schemas.openxmlformats.org/drawingml/2006/main">
              <a:ext uri="{FF2B5EF4-FFF2-40B4-BE49-F238E27FC236}">
                <a16:creationId xmlns:a16="http://schemas.microsoft.com/office/drawing/2014/main" id="{34479E65-3DFD-46DE-9393-AB20516EEFF0}"/>
              </a:ext>
            </a:extLst>
          </p:cNvPr>
          <p:cNvSpPr>
            <a:spLocks xmlns:a="http://schemas.openxmlformats.org/drawingml/2006/main" noGrp="1"/>
          </p:cNvSpPr>
          <p:nvPr/>
        </p:nvSpPr>
        <p:spPr>
          <a:xfrm xmlns:a="http://schemas.openxmlformats.org/drawingml/2006/main">
            <a:off x="3358820" y="3511296"/>
            <a:ext cx="2682164" cy="859536"/>
          </a:xfrm>
          <a:prstGeom xmlns:a="http://schemas.openxmlformats.org/drawingml/2006/main" prst="rect">
            <a:avLst/>
          </a:prstGeom>
          <a:solidFill xmlns:a="http://schemas.openxmlformats.org/drawingml/2006/main">
            <a:srgbClr val="F0F4F8"/>
          </a:solidFill>
        </p:spPr>
      </p:sp>
      <p:sp>
        <p:nvSpPr>
          <p:cNvPr id="39" name="Text 37">
            <a:extLst xmlns:a="http://schemas.openxmlformats.org/drawingml/2006/main">
              <a:ext uri="{FF2B5EF4-FFF2-40B4-BE49-F238E27FC236}">
                <a16:creationId xmlns:a16="http://schemas.microsoft.com/office/drawing/2014/main" id="{B15C8AB3-FE3C-45F7-BE95-79E4149671D4}"/>
              </a:ext>
            </a:extLst>
          </p:cNvPr>
          <p:cNvSpPr>
            <a:spLocks xmlns:a="http://schemas.openxmlformats.org/drawingml/2006/main" noGrp="1"/>
          </p:cNvSpPr>
          <p:nvPr/>
        </p:nvSpPr>
        <p:spPr>
          <a:xfrm xmlns:a="http://schemas.openxmlformats.org/drawingml/2006/main">
            <a:off x="3486836" y="3630168"/>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13</a:t>
            </a:r>
            <a:endParaRPr sz="2200"/>
          </a:p>
        </p:txBody>
      </p:sp>
      <p:sp>
        <p:nvSpPr>
          <p:cNvPr id="40" name="Text 38">
            <a:extLst xmlns:a="http://schemas.openxmlformats.org/drawingml/2006/main">
              <a:ext uri="{FF2B5EF4-FFF2-40B4-BE49-F238E27FC236}">
                <a16:creationId xmlns:a16="http://schemas.microsoft.com/office/drawing/2014/main" id="{4E1092DD-6EEA-421F-B448-291E82B9EBA0}"/>
              </a:ext>
            </a:extLst>
          </p:cNvPr>
          <p:cNvSpPr>
            <a:spLocks xmlns:a="http://schemas.openxmlformats.org/drawingml/2006/main" noGrp="1"/>
          </p:cNvSpPr>
          <p:nvPr/>
        </p:nvSpPr>
        <p:spPr>
          <a:xfrm xmlns:a="http://schemas.openxmlformats.org/drawingml/2006/main">
            <a:off x="3486836" y="4023360"/>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go-lives completed</a:t>
            </a:r>
            <a:endParaRPr sz="860"/>
          </a:p>
        </p:txBody>
      </p:sp>
      <p:sp>
        <p:nvSpPr>
          <p:cNvPr id="41" name="Shape 39">
            <a:extLst xmlns:a="http://schemas.openxmlformats.org/drawingml/2006/main">
              <a:ext uri="{FF2B5EF4-FFF2-40B4-BE49-F238E27FC236}">
                <a16:creationId xmlns:a16="http://schemas.microsoft.com/office/drawing/2014/main" id="{191ECD6A-A93E-4B0A-98AE-42B96636D5B3}"/>
              </a:ext>
            </a:extLst>
          </p:cNvPr>
          <p:cNvSpPr>
            <a:spLocks xmlns:a="http://schemas.openxmlformats.org/drawingml/2006/main" noGrp="1"/>
          </p:cNvSpPr>
          <p:nvPr/>
        </p:nvSpPr>
        <p:spPr>
          <a:xfrm xmlns:a="http://schemas.openxmlformats.org/drawingml/2006/main">
            <a:off x="6150712" y="3511296"/>
            <a:ext cx="2682164" cy="859536"/>
          </a:xfrm>
          <a:prstGeom xmlns:a="http://schemas.openxmlformats.org/drawingml/2006/main" prst="rect">
            <a:avLst/>
          </a:prstGeom>
          <a:solidFill xmlns:a="http://schemas.openxmlformats.org/drawingml/2006/main">
            <a:srgbClr val="F0F4F8"/>
          </a:solidFill>
        </p:spPr>
      </p:sp>
      <p:sp>
        <p:nvSpPr>
          <p:cNvPr id="42" name="Text 40">
            <a:extLst xmlns:a="http://schemas.openxmlformats.org/drawingml/2006/main">
              <a:ext uri="{FF2B5EF4-FFF2-40B4-BE49-F238E27FC236}">
                <a16:creationId xmlns:a16="http://schemas.microsoft.com/office/drawing/2014/main" id="{F63FFB2C-285A-4B7A-9314-A5A04CEA75B8}"/>
              </a:ext>
            </a:extLst>
          </p:cNvPr>
          <p:cNvSpPr>
            <a:spLocks xmlns:a="http://schemas.openxmlformats.org/drawingml/2006/main" noGrp="1"/>
          </p:cNvSpPr>
          <p:nvPr/>
        </p:nvSpPr>
        <p:spPr>
          <a:xfrm xmlns:a="http://schemas.openxmlformats.org/drawingml/2006/main">
            <a:off x="6278728" y="3630168"/>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6</a:t>
            </a:r>
            <a:endParaRPr sz="2200"/>
          </a:p>
        </p:txBody>
      </p:sp>
      <p:sp>
        <p:nvSpPr>
          <p:cNvPr id="43" name="Text 41">
            <a:extLst xmlns:a="http://schemas.openxmlformats.org/drawingml/2006/main">
              <a:ext uri="{FF2B5EF4-FFF2-40B4-BE49-F238E27FC236}">
                <a16:creationId xmlns:a16="http://schemas.microsoft.com/office/drawing/2014/main" id="{4914EED2-AC66-4FF9-A7D0-ADD7407B6AF4}"/>
              </a:ext>
            </a:extLst>
          </p:cNvPr>
          <p:cNvSpPr>
            <a:spLocks xmlns:a="http://schemas.openxmlformats.org/drawingml/2006/main" noGrp="1"/>
          </p:cNvSpPr>
          <p:nvPr/>
        </p:nvSpPr>
        <p:spPr>
          <a:xfrm xmlns:a="http://schemas.openxmlformats.org/drawingml/2006/main">
            <a:off x="6278728" y="4023360"/>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under data-protection dependency</a:t>
            </a:r>
            <a:endParaRPr sz="860"/>
          </a:p>
        </p:txBody>
      </p:sp>
      <p:sp>
        <p:nvSpPr>
          <p:cNvPr id="44" name="Shape 42">
            <a:extLst xmlns:a="http://schemas.openxmlformats.org/drawingml/2006/main">
              <a:ext uri="{FF2B5EF4-FFF2-40B4-BE49-F238E27FC236}">
                <a16:creationId xmlns:a16="http://schemas.microsoft.com/office/drawing/2014/main" id="{DC2F2865-D140-4C3E-821C-3B6FFCBE679C}"/>
              </a:ext>
            </a:extLst>
          </p:cNvPr>
          <p:cNvSpPr>
            <a:spLocks xmlns:a="http://schemas.openxmlformats.org/drawingml/2006/main" noGrp="1"/>
          </p:cNvSpPr>
          <p:nvPr/>
        </p:nvSpPr>
        <p:spPr>
          <a:xfrm xmlns:a="http://schemas.openxmlformats.org/drawingml/2006/main">
            <a:off x="8942603" y="3511296"/>
            <a:ext cx="2682164" cy="859536"/>
          </a:xfrm>
          <a:prstGeom xmlns:a="http://schemas.openxmlformats.org/drawingml/2006/main" prst="rect">
            <a:avLst/>
          </a:prstGeom>
          <a:solidFill xmlns:a="http://schemas.openxmlformats.org/drawingml/2006/main">
            <a:srgbClr val="F0F4F8"/>
          </a:solidFill>
        </p:spPr>
      </p:sp>
      <p:sp>
        <p:nvSpPr>
          <p:cNvPr id="45" name="Text 43">
            <a:extLst xmlns:a="http://schemas.openxmlformats.org/drawingml/2006/main">
              <a:ext uri="{FF2B5EF4-FFF2-40B4-BE49-F238E27FC236}">
                <a16:creationId xmlns:a16="http://schemas.microsoft.com/office/drawing/2014/main" id="{687E61C5-EF35-4311-A3D2-7CE660E93602}"/>
              </a:ext>
            </a:extLst>
          </p:cNvPr>
          <p:cNvSpPr>
            <a:spLocks xmlns:a="http://schemas.openxmlformats.org/drawingml/2006/main" noGrp="1"/>
          </p:cNvSpPr>
          <p:nvPr/>
        </p:nvSpPr>
        <p:spPr>
          <a:xfrm xmlns:a="http://schemas.openxmlformats.org/drawingml/2006/main">
            <a:off x="9070619" y="3630168"/>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1</a:t>
            </a:r>
            <a:endParaRPr sz="2200"/>
          </a:p>
        </p:txBody>
      </p:sp>
      <p:sp>
        <p:nvSpPr>
          <p:cNvPr id="46" name="Text 44">
            <a:extLst xmlns:a="http://schemas.openxmlformats.org/drawingml/2006/main">
              <a:ext uri="{FF2B5EF4-FFF2-40B4-BE49-F238E27FC236}">
                <a16:creationId xmlns:a16="http://schemas.microsoft.com/office/drawing/2014/main" id="{D5044042-DCC9-4C9E-8DC8-E54AFC0ED3FE}"/>
              </a:ext>
            </a:extLst>
          </p:cNvPr>
          <p:cNvSpPr>
            <a:spLocks xmlns:a="http://schemas.openxmlformats.org/drawingml/2006/main" noGrp="1"/>
          </p:cNvSpPr>
          <p:nvPr/>
        </p:nvSpPr>
        <p:spPr>
          <a:xfrm xmlns:a="http://schemas.openxmlformats.org/drawingml/2006/main">
            <a:off x="9070619" y="4023360"/>
            <a:ext cx="24261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logical platform serving all of them</a:t>
            </a:r>
            <a:endParaRPr sz="860"/>
          </a:p>
        </p:txBody>
      </p:sp>
      <p:sp>
        <p:nvSpPr>
          <p:cNvPr id="47" name="Text 45">
            <a:extLst xmlns:a="http://schemas.openxmlformats.org/drawingml/2006/main">
              <a:ext uri="{FF2B5EF4-FFF2-40B4-BE49-F238E27FC236}">
                <a16:creationId xmlns:a16="http://schemas.microsoft.com/office/drawing/2014/main" id="{B778B5E5-7635-44D2-ACB9-8F3B5B9437DB}"/>
              </a:ext>
            </a:extLst>
          </p:cNvPr>
          <p:cNvSpPr>
            <a:spLocks xmlns:a="http://schemas.openxmlformats.org/drawingml/2006/main" noGrp="1"/>
          </p:cNvSpPr>
          <p:nvPr/>
        </p:nvSpPr>
        <p:spPr>
          <a:xfrm xmlns:a="http://schemas.openxmlformats.org/drawingml/2006/main">
            <a:off x="566928" y="455371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multi-jurisdiction actually forces</a:t>
            </a:r>
            <a:endParaRPr sz="1100"/>
          </a:p>
        </p:txBody>
      </p:sp>
      <p:sp>
        <p:nvSpPr>
          <p:cNvPr id="48" name="Shape 46">
            <a:extLst xmlns:a="http://schemas.openxmlformats.org/drawingml/2006/main">
              <a:ext uri="{FF2B5EF4-FFF2-40B4-BE49-F238E27FC236}">
                <a16:creationId xmlns:a16="http://schemas.microsoft.com/office/drawing/2014/main" id="{00EB6872-9FC4-47AD-A3C8-FF8542C20961}"/>
              </a:ext>
            </a:extLst>
          </p:cNvPr>
          <p:cNvSpPr>
            <a:spLocks xmlns:a="http://schemas.openxmlformats.org/drawingml/2006/main" noGrp="1"/>
          </p:cNvSpPr>
          <p:nvPr/>
        </p:nvSpPr>
        <p:spPr>
          <a:xfrm xmlns:a="http://schemas.openxmlformats.org/drawingml/2006/main">
            <a:off x="566928" y="4809744"/>
            <a:ext cx="3551834" cy="20117"/>
          </a:xfrm>
          <a:prstGeom xmlns:a="http://schemas.openxmlformats.org/drawingml/2006/main" prst="rect">
            <a:avLst/>
          </a:prstGeom>
          <a:solidFill xmlns:a="http://schemas.openxmlformats.org/drawingml/2006/main">
            <a:srgbClr val="102A43"/>
          </a:solidFill>
        </p:spPr>
      </p:sp>
      <p:sp>
        <p:nvSpPr>
          <p:cNvPr id="49" name="Text 47">
            <a:extLst xmlns:a="http://schemas.openxmlformats.org/drawingml/2006/main">
              <a:ext uri="{FF2B5EF4-FFF2-40B4-BE49-F238E27FC236}">
                <a16:creationId xmlns:a16="http://schemas.microsoft.com/office/drawing/2014/main" id="{46FC5810-AE82-45AC-966E-948648A1A313}"/>
              </a:ext>
            </a:extLst>
          </p:cNvPr>
          <p:cNvSpPr>
            <a:spLocks xmlns:a="http://schemas.openxmlformats.org/drawingml/2006/main" noGrp="1"/>
          </p:cNvSpPr>
          <p:nvPr/>
        </p:nvSpPr>
        <p:spPr>
          <a:xfrm xmlns:a="http://schemas.openxmlformats.org/drawingml/2006/main">
            <a:off x="566928" y="4937760"/>
            <a:ext cx="35518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residency decision per country before the first record exists there.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tenancy model that can isolate one country without cloning the platform.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Consent and retention rules that differ by jurisdiction on one data model.</a:t>
            </a:r>
            <a:endParaRPr sz="950"/>
          </a:p>
        </p:txBody>
      </p:sp>
      <p:sp>
        <p:nvSpPr>
          <p:cNvPr id="50" name="Text 48">
            <a:extLst xmlns:a="http://schemas.openxmlformats.org/drawingml/2006/main">
              <a:ext uri="{FF2B5EF4-FFF2-40B4-BE49-F238E27FC236}">
                <a16:creationId xmlns:a16="http://schemas.microsoft.com/office/drawing/2014/main" id="{B6811488-623E-489A-9CEC-6570376EEF6D}"/>
              </a:ext>
            </a:extLst>
          </p:cNvPr>
          <p:cNvSpPr>
            <a:spLocks xmlns:a="http://schemas.openxmlformats.org/drawingml/2006/main" noGrp="1"/>
          </p:cNvSpPr>
          <p:nvPr/>
        </p:nvSpPr>
        <p:spPr>
          <a:xfrm xmlns:a="http://schemas.openxmlformats.org/drawingml/2006/main">
            <a:off x="4319930" y="455371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it cannot be retrofitted</a:t>
            </a:r>
            <a:endParaRPr sz="1100"/>
          </a:p>
        </p:txBody>
      </p:sp>
      <p:sp>
        <p:nvSpPr>
          <p:cNvPr id="51" name="Shape 49">
            <a:extLst xmlns:a="http://schemas.openxmlformats.org/drawingml/2006/main">
              <a:ext uri="{FF2B5EF4-FFF2-40B4-BE49-F238E27FC236}">
                <a16:creationId xmlns:a16="http://schemas.microsoft.com/office/drawing/2014/main" id="{6EE58E0B-8C1E-42D3-B2A0-1C7887D465E7}"/>
              </a:ext>
            </a:extLst>
          </p:cNvPr>
          <p:cNvSpPr>
            <a:spLocks xmlns:a="http://schemas.openxmlformats.org/drawingml/2006/main" noGrp="1"/>
          </p:cNvSpPr>
          <p:nvPr/>
        </p:nvSpPr>
        <p:spPr>
          <a:xfrm xmlns:a="http://schemas.openxmlformats.org/drawingml/2006/main">
            <a:off x="4319930" y="4809744"/>
            <a:ext cx="3551834" cy="20117"/>
          </a:xfrm>
          <a:prstGeom xmlns:a="http://schemas.openxmlformats.org/drawingml/2006/main" prst="rect">
            <a:avLst/>
          </a:prstGeom>
          <a:solidFill xmlns:a="http://schemas.openxmlformats.org/drawingml/2006/main">
            <a:srgbClr val="B04A25"/>
          </a:solidFill>
        </p:spPr>
      </p:sp>
      <p:sp>
        <p:nvSpPr>
          <p:cNvPr id="52" name="Text 50">
            <a:extLst xmlns:a="http://schemas.openxmlformats.org/drawingml/2006/main">
              <a:ext uri="{FF2B5EF4-FFF2-40B4-BE49-F238E27FC236}">
                <a16:creationId xmlns:a16="http://schemas.microsoft.com/office/drawing/2014/main" id="{1518D26A-684B-4865-956E-42B43A733794}"/>
              </a:ext>
            </a:extLst>
          </p:cNvPr>
          <p:cNvSpPr>
            <a:spLocks xmlns:a="http://schemas.openxmlformats.org/drawingml/2006/main" noGrp="1"/>
          </p:cNvSpPr>
          <p:nvPr/>
        </p:nvSpPr>
        <p:spPr>
          <a:xfrm xmlns:a="http://schemas.openxmlformats.org/drawingml/2006/main">
            <a:off x="4319930" y="4937760"/>
            <a:ext cx="35518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Residency is a storage-location property; changing it means migrating live production data under supervision.</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regulator's first question is where the data has been, not where it is now.</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Six of nineteen carrying a data-protection dependency means the strictest regime sets the design.</a:t>
            </a:r>
            <a:endParaRPr sz="950"/>
          </a:p>
        </p:txBody>
      </p:sp>
      <p:sp>
        <p:nvSpPr>
          <p:cNvPr id="53" name="Text 51">
            <a:extLst xmlns:a="http://schemas.openxmlformats.org/drawingml/2006/main">
              <a:ext uri="{FF2B5EF4-FFF2-40B4-BE49-F238E27FC236}">
                <a16:creationId xmlns:a16="http://schemas.microsoft.com/office/drawing/2014/main" id="{3BA58991-0E15-4421-A24E-A5CC2288A9BC}"/>
              </a:ext>
            </a:extLst>
          </p:cNvPr>
          <p:cNvSpPr>
            <a:spLocks xmlns:a="http://schemas.openxmlformats.org/drawingml/2006/main" noGrp="1"/>
          </p:cNvSpPr>
          <p:nvPr/>
        </p:nvSpPr>
        <p:spPr>
          <a:xfrm xmlns:a="http://schemas.openxmlformats.org/drawingml/2006/main">
            <a:off x="8072933" y="455371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The rule this produces</a:t>
            </a:r>
            <a:endParaRPr sz="1100"/>
          </a:p>
        </p:txBody>
      </p:sp>
      <p:sp>
        <p:nvSpPr>
          <p:cNvPr id="54" name="Shape 52">
            <a:extLst xmlns:a="http://schemas.openxmlformats.org/drawingml/2006/main">
              <a:ext uri="{FF2B5EF4-FFF2-40B4-BE49-F238E27FC236}">
                <a16:creationId xmlns:a16="http://schemas.microsoft.com/office/drawing/2014/main" id="{632F0A18-3656-4FDD-9FFA-FB39744A2BE6}"/>
              </a:ext>
            </a:extLst>
          </p:cNvPr>
          <p:cNvSpPr>
            <a:spLocks xmlns:a="http://schemas.openxmlformats.org/drawingml/2006/main" noGrp="1"/>
          </p:cNvSpPr>
          <p:nvPr/>
        </p:nvSpPr>
        <p:spPr>
          <a:xfrm xmlns:a="http://schemas.openxmlformats.org/drawingml/2006/main">
            <a:off x="8072933" y="4809744"/>
            <a:ext cx="3551834" cy="20117"/>
          </a:xfrm>
          <a:prstGeom xmlns:a="http://schemas.openxmlformats.org/drawingml/2006/main" prst="rect">
            <a:avLst/>
          </a:prstGeom>
          <a:solidFill xmlns:a="http://schemas.openxmlformats.org/drawingml/2006/main">
            <a:srgbClr val="27685A"/>
          </a:solidFill>
        </p:spPr>
      </p:sp>
      <p:sp>
        <p:nvSpPr>
          <p:cNvPr id="55" name="Text 53">
            <a:extLst xmlns:a="http://schemas.openxmlformats.org/drawingml/2006/main">
              <a:ext uri="{FF2B5EF4-FFF2-40B4-BE49-F238E27FC236}">
                <a16:creationId xmlns:a16="http://schemas.microsoft.com/office/drawing/2014/main" id="{5B4498E7-E376-4406-B216-CFBD4512647D}"/>
              </a:ext>
            </a:extLst>
          </p:cNvPr>
          <p:cNvSpPr>
            <a:spLocks xmlns:a="http://schemas.openxmlformats.org/drawingml/2006/main" noGrp="1"/>
          </p:cNvSpPr>
          <p:nvPr/>
        </p:nvSpPr>
        <p:spPr>
          <a:xfrm xmlns:a="http://schemas.openxmlformats.org/drawingml/2006/main">
            <a:off x="8072933" y="4937760"/>
            <a:ext cx="35518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Design for the strictest jurisdiction in scope, then relax by exception — never the reverse.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Sequence go-lives so the hardest regulator is early, not last.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Keep one data model; vary policy, not structure.</a:t>
            </a:r>
            <a:endParaRPr sz="950"/>
          </a:p>
        </p:txBody>
      </p:sp>
      <p:sp>
        <p:nvSpPr>
          <p:cNvPr id="56" name="Shape 54">
            <a:extLst xmlns:a="http://schemas.openxmlformats.org/drawingml/2006/main">
              <a:ext uri="{FF2B5EF4-FFF2-40B4-BE49-F238E27FC236}">
                <a16:creationId xmlns:a16="http://schemas.microsoft.com/office/drawing/2014/main" id="{1A035AE8-2B2B-413A-B189-935CCD44350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7" name="Text 55">
            <a:extLst xmlns:a="http://schemas.openxmlformats.org/drawingml/2006/main">
              <a:ext uri="{FF2B5EF4-FFF2-40B4-BE49-F238E27FC236}">
                <a16:creationId xmlns:a16="http://schemas.microsoft.com/office/drawing/2014/main" id="{35C59361-DABE-4604-9901-3013F4CF93B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Reference-deployment figures published by the platform vendor, retained with attribution · author's analysis</a:t>
            </a:r>
            <a:endParaRPr sz="850"/>
          </a:p>
        </p:txBody>
      </p:sp>
      <p:sp>
        <p:nvSpPr>
          <p:cNvPr id="58" name="Text 56">
            <a:extLst xmlns:a="http://schemas.openxmlformats.org/drawingml/2006/main">
              <a:ext uri="{FF2B5EF4-FFF2-40B4-BE49-F238E27FC236}">
                <a16:creationId xmlns:a16="http://schemas.microsoft.com/office/drawing/2014/main" id="{0460E8CD-D4D8-449C-ABE1-4BFFEC7EF88D}"/>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364352894"/>
      </p:ext>
    </p:extLst>
  </p:cSld>
</p:sld>
</file>

<file path=ppt/slides/slide8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431234-A9C0-4F2A-83E3-9CF5369726E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CHANGE THROUGHPUT</a:t>
            </a:r>
            <a:endParaRPr sz="950"/>
          </a:p>
        </p:txBody>
      </p:sp>
      <p:sp>
        <p:nvSpPr>
          <p:cNvPr id="3" name="Text 1">
            <a:extLst xmlns:a="http://schemas.openxmlformats.org/drawingml/2006/main">
              <a:ext uri="{FF2B5EF4-FFF2-40B4-BE49-F238E27FC236}">
                <a16:creationId xmlns:a16="http://schemas.microsoft.com/office/drawing/2014/main" id="{BB82EC4A-8BC4-4DF8-AC5F-36E4E120E99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Eight lines of business share one release train — which makes release capacity,</a:t>
            </a:r>
            <a:endParaRPr sz="1900"/>
          </a:p>
          <a:p xmlns:a="http://schemas.openxmlformats.org/drawingml/2006/main">
            <a:pPr marL="0" indent="0">
              <a:lnSpc>
                <a:spcPts val="2400"/>
              </a:lnSpc>
              <a:buNone/>
            </a:pPr>
            <a:r>
              <a:rPr sz="1900" b="1">
                <a:solidFill>
                  <a:srgbClr val="102A43"/>
                </a:solidFill>
                <a:latin typeface="Arial"/>
                <a:ea typeface="Arial"/>
                <a:cs typeface="Arial"/>
              </a:rPr>
              <a:t>not engineering capacity, the scarcest resource in the programme</a:t>
            </a:r>
            <a:endParaRPr sz="1900"/>
          </a:p>
        </p:txBody>
      </p:sp>
      <p:sp>
        <p:nvSpPr>
          <p:cNvPr id="4" name="Shape 2">
            <a:extLst xmlns:a="http://schemas.openxmlformats.org/drawingml/2006/main">
              <a:ext uri="{FF2B5EF4-FFF2-40B4-BE49-F238E27FC236}">
                <a16:creationId xmlns:a16="http://schemas.microsoft.com/office/drawing/2014/main" id="{9E482619-B8AC-466F-8CDC-3FD26503579B}"/>
              </a:ext>
            </a:extLst>
          </p:cNvPr>
          <p:cNvSpPr>
            <a:spLocks xmlns:a="http://schemas.openxmlformats.org/drawingml/2006/main" noGrp="1"/>
          </p:cNvSpPr>
          <p:nvPr/>
        </p:nvSpPr>
        <p:spPr>
          <a:xfrm xmlns:a="http://schemas.openxmlformats.org/drawingml/2006/main">
            <a:off x="566928" y="1335024"/>
            <a:ext cx="1270216" cy="60350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B9E448DA-C704-4BA0-B3AA-29E8A06A7791}"/>
              </a:ext>
            </a:extLst>
          </p:cNvPr>
          <p:cNvSpPr>
            <a:spLocks xmlns:a="http://schemas.openxmlformats.org/drawingml/2006/main" noGrp="1"/>
          </p:cNvSpPr>
          <p:nvPr/>
        </p:nvSpPr>
        <p:spPr>
          <a:xfrm xmlns:a="http://schemas.openxmlformats.org/drawingml/2006/main">
            <a:off x="640080"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Personal Banking</a:t>
            </a:r>
            <a:endParaRPr sz="860"/>
          </a:p>
        </p:txBody>
      </p:sp>
      <p:sp>
        <p:nvSpPr>
          <p:cNvPr id="6" name="Shape 4">
            <a:extLst xmlns:a="http://schemas.openxmlformats.org/drawingml/2006/main">
              <a:ext uri="{FF2B5EF4-FFF2-40B4-BE49-F238E27FC236}">
                <a16:creationId xmlns:a16="http://schemas.microsoft.com/office/drawing/2014/main" id="{AEE91B8F-DECE-462E-9AD3-6BE2B317BBDC}"/>
              </a:ext>
            </a:extLst>
          </p:cNvPr>
          <p:cNvSpPr>
            <a:spLocks xmlns:a="http://schemas.openxmlformats.org/drawingml/2006/main" noGrp="1"/>
          </p:cNvSpPr>
          <p:nvPr/>
        </p:nvSpPr>
        <p:spPr>
          <a:xfrm xmlns:a="http://schemas.openxmlformats.org/drawingml/2006/main">
            <a:off x="1965160" y="1335024"/>
            <a:ext cx="1270216" cy="603504"/>
          </a:xfrm>
          <a:prstGeom xmlns:a="http://schemas.openxmlformats.org/drawingml/2006/main" prst="rect">
            <a:avLst/>
          </a:prstGeom>
          <a:solidFill xmlns:a="http://schemas.openxmlformats.org/drawingml/2006/main">
            <a:srgbClr val="F3E6E0"/>
          </a:solidFill>
        </p:spPr>
      </p:sp>
      <p:sp>
        <p:nvSpPr>
          <p:cNvPr id="7" name="Text 5">
            <a:extLst xmlns:a="http://schemas.openxmlformats.org/drawingml/2006/main">
              <a:ext uri="{FF2B5EF4-FFF2-40B4-BE49-F238E27FC236}">
                <a16:creationId xmlns:a16="http://schemas.microsoft.com/office/drawing/2014/main" id="{E6ECAAA4-831A-47BA-9E2F-ACC9A1D467C1}"/>
              </a:ext>
            </a:extLst>
          </p:cNvPr>
          <p:cNvSpPr>
            <a:spLocks xmlns:a="http://schemas.openxmlformats.org/drawingml/2006/main" noGrp="1"/>
          </p:cNvSpPr>
          <p:nvPr/>
        </p:nvSpPr>
        <p:spPr>
          <a:xfrm xmlns:a="http://schemas.openxmlformats.org/drawingml/2006/main">
            <a:off x="2038312"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Corporate Banking</a:t>
            </a:r>
            <a:endParaRPr sz="860"/>
          </a:p>
        </p:txBody>
      </p:sp>
      <p:sp>
        <p:nvSpPr>
          <p:cNvPr id="8" name="Shape 6">
            <a:extLst xmlns:a="http://schemas.openxmlformats.org/drawingml/2006/main">
              <a:ext uri="{FF2B5EF4-FFF2-40B4-BE49-F238E27FC236}">
                <a16:creationId xmlns:a16="http://schemas.microsoft.com/office/drawing/2014/main" id="{6E6269D0-2739-435E-9160-F0E628181A03}"/>
              </a:ext>
            </a:extLst>
          </p:cNvPr>
          <p:cNvSpPr>
            <a:spLocks xmlns:a="http://schemas.openxmlformats.org/drawingml/2006/main" noGrp="1"/>
          </p:cNvSpPr>
          <p:nvPr/>
        </p:nvSpPr>
        <p:spPr>
          <a:xfrm xmlns:a="http://schemas.openxmlformats.org/drawingml/2006/main">
            <a:off x="3363392" y="1335024"/>
            <a:ext cx="1270216" cy="603504"/>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A29BB585-DE52-4FF1-8368-13189F233B69}"/>
              </a:ext>
            </a:extLst>
          </p:cNvPr>
          <p:cNvSpPr>
            <a:spLocks xmlns:a="http://schemas.openxmlformats.org/drawingml/2006/main" noGrp="1"/>
          </p:cNvSpPr>
          <p:nvPr/>
        </p:nvSpPr>
        <p:spPr>
          <a:xfrm xmlns:a="http://schemas.openxmlformats.org/drawingml/2006/main">
            <a:off x="3436544"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NRI Banking</a:t>
            </a:r>
            <a:endParaRPr sz="860"/>
          </a:p>
        </p:txBody>
      </p:sp>
      <p:sp>
        <p:nvSpPr>
          <p:cNvPr id="10" name="Shape 8">
            <a:extLst xmlns:a="http://schemas.openxmlformats.org/drawingml/2006/main">
              <a:ext uri="{FF2B5EF4-FFF2-40B4-BE49-F238E27FC236}">
                <a16:creationId xmlns:a16="http://schemas.microsoft.com/office/drawing/2014/main" id="{B8A7E7E2-DD2F-4762-964B-550471F8FDFA}"/>
              </a:ext>
            </a:extLst>
          </p:cNvPr>
          <p:cNvSpPr>
            <a:spLocks xmlns:a="http://schemas.openxmlformats.org/drawingml/2006/main" noGrp="1"/>
          </p:cNvSpPr>
          <p:nvPr/>
        </p:nvSpPr>
        <p:spPr>
          <a:xfrm xmlns:a="http://schemas.openxmlformats.org/drawingml/2006/main">
            <a:off x="4761624" y="1335024"/>
            <a:ext cx="1270216" cy="603504"/>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4E36C206-7EF6-4A5E-A27A-FCA985F6FA33}"/>
              </a:ext>
            </a:extLst>
          </p:cNvPr>
          <p:cNvSpPr>
            <a:spLocks xmlns:a="http://schemas.openxmlformats.org/drawingml/2006/main" noGrp="1"/>
          </p:cNvSpPr>
          <p:nvPr/>
        </p:nvSpPr>
        <p:spPr>
          <a:xfrm xmlns:a="http://schemas.openxmlformats.org/drawingml/2006/main">
            <a:off x="4834776"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Agri Banking</a:t>
            </a:r>
            <a:endParaRPr sz="860"/>
          </a:p>
        </p:txBody>
      </p:sp>
      <p:sp>
        <p:nvSpPr>
          <p:cNvPr id="12" name="Shape 10">
            <a:extLst xmlns:a="http://schemas.openxmlformats.org/drawingml/2006/main">
              <a:ext uri="{FF2B5EF4-FFF2-40B4-BE49-F238E27FC236}">
                <a16:creationId xmlns:a16="http://schemas.microsoft.com/office/drawing/2014/main" id="{04842DBB-D4CB-425F-8C1A-3D176A32AAEF}"/>
              </a:ext>
            </a:extLst>
          </p:cNvPr>
          <p:cNvSpPr>
            <a:spLocks xmlns:a="http://schemas.openxmlformats.org/drawingml/2006/main" noGrp="1"/>
          </p:cNvSpPr>
          <p:nvPr/>
        </p:nvSpPr>
        <p:spPr>
          <a:xfrm xmlns:a="http://schemas.openxmlformats.org/drawingml/2006/main">
            <a:off x="6159856" y="1335024"/>
            <a:ext cx="1270216" cy="603504"/>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785A00B7-46D9-4786-92F0-597497634317}"/>
              </a:ext>
            </a:extLst>
          </p:cNvPr>
          <p:cNvSpPr>
            <a:spLocks xmlns:a="http://schemas.openxmlformats.org/drawingml/2006/main" noGrp="1"/>
          </p:cNvSpPr>
          <p:nvPr/>
        </p:nvSpPr>
        <p:spPr>
          <a:xfrm xmlns:a="http://schemas.openxmlformats.org/drawingml/2006/main">
            <a:off x="6233008"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SME Banking</a:t>
            </a:r>
            <a:endParaRPr sz="860"/>
          </a:p>
        </p:txBody>
      </p:sp>
      <p:sp>
        <p:nvSpPr>
          <p:cNvPr id="14" name="Shape 12">
            <a:extLst xmlns:a="http://schemas.openxmlformats.org/drawingml/2006/main">
              <a:ext uri="{FF2B5EF4-FFF2-40B4-BE49-F238E27FC236}">
                <a16:creationId xmlns:a16="http://schemas.microsoft.com/office/drawing/2014/main" id="{B54C0E94-7B4D-4741-BDA1-A8409BD4DB1F}"/>
              </a:ext>
            </a:extLst>
          </p:cNvPr>
          <p:cNvSpPr>
            <a:spLocks xmlns:a="http://schemas.openxmlformats.org/drawingml/2006/main" noGrp="1"/>
          </p:cNvSpPr>
          <p:nvPr/>
        </p:nvSpPr>
        <p:spPr>
          <a:xfrm xmlns:a="http://schemas.openxmlformats.org/drawingml/2006/main">
            <a:off x="7558088" y="1335024"/>
            <a:ext cx="1270216" cy="603504"/>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7EB84134-0A6E-4133-AB65-D7DFE797FEF7}"/>
              </a:ext>
            </a:extLst>
          </p:cNvPr>
          <p:cNvSpPr>
            <a:spLocks xmlns:a="http://schemas.openxmlformats.org/drawingml/2006/main" noGrp="1"/>
          </p:cNvSpPr>
          <p:nvPr/>
        </p:nvSpPr>
        <p:spPr>
          <a:xfrm xmlns:a="http://schemas.openxmlformats.org/drawingml/2006/main">
            <a:off x="7631240"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MCS Banking</a:t>
            </a:r>
            <a:endParaRPr sz="860"/>
          </a:p>
        </p:txBody>
      </p:sp>
      <p:sp>
        <p:nvSpPr>
          <p:cNvPr id="16" name="Shape 14">
            <a:extLst xmlns:a="http://schemas.openxmlformats.org/drawingml/2006/main">
              <a:ext uri="{FF2B5EF4-FFF2-40B4-BE49-F238E27FC236}">
                <a16:creationId xmlns:a16="http://schemas.microsoft.com/office/drawing/2014/main" id="{9961E51D-128A-49F9-A739-C44138A8E3DB}"/>
              </a:ext>
            </a:extLst>
          </p:cNvPr>
          <p:cNvSpPr>
            <a:spLocks xmlns:a="http://schemas.openxmlformats.org/drawingml/2006/main" noGrp="1"/>
          </p:cNvSpPr>
          <p:nvPr/>
        </p:nvSpPr>
        <p:spPr>
          <a:xfrm xmlns:a="http://schemas.openxmlformats.org/drawingml/2006/main">
            <a:off x="8956319" y="1335024"/>
            <a:ext cx="1270216" cy="603504"/>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FBACE603-2237-4730-AA45-CAC924FC7226}"/>
              </a:ext>
            </a:extLst>
          </p:cNvPr>
          <p:cNvSpPr>
            <a:spLocks xmlns:a="http://schemas.openxmlformats.org/drawingml/2006/main" noGrp="1"/>
          </p:cNvSpPr>
          <p:nvPr/>
        </p:nvSpPr>
        <p:spPr>
          <a:xfrm xmlns:a="http://schemas.openxmlformats.org/drawingml/2006/main">
            <a:off x="9029471"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Global Markets</a:t>
            </a:r>
            <a:endParaRPr sz="860"/>
          </a:p>
        </p:txBody>
      </p:sp>
      <p:sp>
        <p:nvSpPr>
          <p:cNvPr id="18" name="Shape 16">
            <a:extLst xmlns:a="http://schemas.openxmlformats.org/drawingml/2006/main">
              <a:ext uri="{FF2B5EF4-FFF2-40B4-BE49-F238E27FC236}">
                <a16:creationId xmlns:a16="http://schemas.microsoft.com/office/drawing/2014/main" id="{7B3EEA4B-7A4B-4A9C-8783-68B20A7B2F4E}"/>
              </a:ext>
            </a:extLst>
          </p:cNvPr>
          <p:cNvSpPr>
            <a:spLocks xmlns:a="http://schemas.openxmlformats.org/drawingml/2006/main" noGrp="1"/>
          </p:cNvSpPr>
          <p:nvPr/>
        </p:nvSpPr>
        <p:spPr>
          <a:xfrm xmlns:a="http://schemas.openxmlformats.org/drawingml/2006/main">
            <a:off x="10354551" y="1335024"/>
            <a:ext cx="1270216" cy="603504"/>
          </a:xfrm>
          <a:prstGeom xmlns:a="http://schemas.openxmlformats.org/drawingml/2006/main" prst="rect">
            <a:avLst/>
          </a:prstGeom>
          <a:solidFill xmlns:a="http://schemas.openxmlformats.org/drawingml/2006/main">
            <a:srgbClr val="F3E6E0"/>
          </a:solidFill>
        </p:spPr>
      </p:sp>
      <p:sp>
        <p:nvSpPr>
          <p:cNvPr id="19" name="Text 17">
            <a:extLst xmlns:a="http://schemas.openxmlformats.org/drawingml/2006/main">
              <a:ext uri="{FF2B5EF4-FFF2-40B4-BE49-F238E27FC236}">
                <a16:creationId xmlns:a16="http://schemas.microsoft.com/office/drawing/2014/main" id="{10F984B5-A994-4A7D-BD4C-77B2F9EF6387}"/>
              </a:ext>
            </a:extLst>
          </p:cNvPr>
          <p:cNvSpPr>
            <a:spLocks xmlns:a="http://schemas.openxmlformats.org/drawingml/2006/main" noGrp="1"/>
          </p:cNvSpPr>
          <p:nvPr/>
        </p:nvSpPr>
        <p:spPr>
          <a:xfrm xmlns:a="http://schemas.openxmlformats.org/drawingml/2006/main">
            <a:off x="10427703" y="1463040"/>
            <a:ext cx="11239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050"/>
              </a:lnSpc>
              <a:buNone/>
            </a:pPr>
            <a:r>
              <a:rPr sz="860" b="1">
                <a:solidFill>
                  <a:srgbClr val="B04A25"/>
                </a:solidFill>
                <a:latin typeface="Arial"/>
                <a:ea typeface="Arial"/>
                <a:cs typeface="Arial"/>
              </a:rPr>
              <a:t>Government Business</a:t>
            </a:r>
            <a:endParaRPr sz="860"/>
          </a:p>
        </p:txBody>
      </p:sp>
      <p:sp>
        <p:nvSpPr>
          <p:cNvPr id="20" name="Text 18">
            <a:extLst xmlns:a="http://schemas.openxmlformats.org/drawingml/2006/main">
              <a:ext uri="{FF2B5EF4-FFF2-40B4-BE49-F238E27FC236}">
                <a16:creationId xmlns:a16="http://schemas.microsoft.com/office/drawing/2014/main" id="{18F6A71B-A564-442B-98F9-4BE5E83967C2}"/>
              </a:ext>
            </a:extLst>
          </p:cNvPr>
          <p:cNvSpPr>
            <a:spLocks xmlns:a="http://schemas.openxmlformats.org/drawingml/2006/main" noGrp="1"/>
          </p:cNvSpPr>
          <p:nvPr/>
        </p:nvSpPr>
        <p:spPr>
          <a:xfrm xmlns:a="http://schemas.openxmlformats.org/drawingml/2006/main">
            <a:off x="566928" y="202996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920" i="1">
                <a:solidFill>
                  <a:srgbClr val="486581"/>
                </a:solidFill>
                <a:latin typeface="Arial"/>
                <a:ea typeface="Arial"/>
                <a:cs typeface="Arial"/>
              </a:rPr>
              <a:t>Eight businesses  ·  one logical platform  ·  one change queue  ·  one release train</a:t>
            </a:r>
            <a:endParaRPr sz="920"/>
          </a:p>
        </p:txBody>
      </p:sp>
      <p:graphicFrame>
        <p:nvGraphicFramePr>
          <p:cNvPr id="52" name="Chart 0"/>
          <p:cNvGraphicFramePr/>
          <p:nvPr/>
        </p:nvGraphicFramePr>
        <p:xfrm>
          <a:off xmlns:a="http://schemas.openxmlformats.org/drawingml/2006/main" x="566928" y="2377440"/>
          <a:ext xmlns:a="http://schemas.openxmlformats.org/drawingml/2006/main" cx="5852160" cy="2560320"/>
        </p:xfrm>
        <a:graphic xmlns:a="http://schemas.openxmlformats.org/drawingml/2006/main">
          <a:graphicData uri="http://schemas.openxmlformats.org/drawingml/2006/chart">
            <c:chart xmlns:r="http://schemas.openxmlformats.org/officeDocument/2006/relationships" xmlns:c="http://schemas.openxmlformats.org/drawingml/2006/chart" r:id="Rd72f30bf199649b5"/>
          </a:graphicData>
        </a:graphic>
      </p:graphicFrame>
      <p:sp>
        <p:nvSpPr>
          <p:cNvPr id="22" name="Text 19">
            <a:extLst xmlns:a="http://schemas.openxmlformats.org/drawingml/2006/main">
              <a:ext uri="{FF2B5EF4-FFF2-40B4-BE49-F238E27FC236}">
                <a16:creationId xmlns:a16="http://schemas.microsoft.com/office/drawing/2014/main" id="{6B034706-1DE6-42FB-8CDD-A06EFECCDF55}"/>
              </a:ext>
            </a:extLst>
          </p:cNvPr>
          <p:cNvSpPr>
            <a:spLocks xmlns:a="http://schemas.openxmlformats.org/drawingml/2006/main" noGrp="1"/>
          </p:cNvSpPr>
          <p:nvPr/>
        </p:nvSpPr>
        <p:spPr>
          <a:xfrm xmlns:a="http://schemas.openxmlformats.org/drawingml/2006/main">
            <a:off x="566928" y="5010912"/>
            <a:ext cx="5852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change-queue contention: demand grows with the business count, throughput does not</a:t>
            </a:r>
            <a:endParaRPr sz="880"/>
          </a:p>
        </p:txBody>
      </p:sp>
      <p:sp>
        <p:nvSpPr>
          <p:cNvPr id="23" name="Text 20">
            <a:extLst xmlns:a="http://schemas.openxmlformats.org/drawingml/2006/main">
              <a:ext uri="{FF2B5EF4-FFF2-40B4-BE49-F238E27FC236}">
                <a16:creationId xmlns:a16="http://schemas.microsoft.com/office/drawing/2014/main" id="{C849701D-5A52-4376-96F5-F6FD1CB42F3D}"/>
              </a:ext>
            </a:extLst>
          </p:cNvPr>
          <p:cNvSpPr>
            <a:spLocks xmlns:a="http://schemas.openxmlformats.org/drawingml/2006/main" noGrp="1"/>
          </p:cNvSpPr>
          <p:nvPr/>
        </p:nvSpPr>
        <p:spPr>
          <a:xfrm xmlns:a="http://schemas.openxmlformats.org/drawingml/2006/main">
            <a:off x="6784848" y="2377440"/>
            <a:ext cx="483717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How the queue actually gets allocated</a:t>
            </a:r>
            <a:endParaRPr sz="1100"/>
          </a:p>
        </p:txBody>
      </p:sp>
      <p:sp>
        <p:nvSpPr>
          <p:cNvPr id="24" name="Shape 21">
            <a:extLst xmlns:a="http://schemas.openxmlformats.org/drawingml/2006/main">
              <a:ext uri="{FF2B5EF4-FFF2-40B4-BE49-F238E27FC236}">
                <a16:creationId xmlns:a16="http://schemas.microsoft.com/office/drawing/2014/main" id="{1EF0E8F4-84E6-47D0-9A51-0356D25DB2DC}"/>
              </a:ext>
            </a:extLst>
          </p:cNvPr>
          <p:cNvSpPr>
            <a:spLocks xmlns:a="http://schemas.openxmlformats.org/drawingml/2006/main" noGrp="1"/>
          </p:cNvSpPr>
          <p:nvPr/>
        </p:nvSpPr>
        <p:spPr>
          <a:xfrm xmlns:a="http://schemas.openxmlformats.org/drawingml/2006/main">
            <a:off x="6784848" y="2633472"/>
            <a:ext cx="4837176" cy="20117"/>
          </a:xfrm>
          <a:prstGeom xmlns:a="http://schemas.openxmlformats.org/drawingml/2006/main" prst="rect">
            <a:avLst/>
          </a:prstGeom>
          <a:solidFill xmlns:a="http://schemas.openxmlformats.org/drawingml/2006/main">
            <a:srgbClr val="102A43"/>
          </a:solidFill>
        </p:spPr>
      </p:sp>
      <p:sp>
        <p:nvSpPr>
          <p:cNvPr id="25" name="Text 22">
            <a:extLst xmlns:a="http://schemas.openxmlformats.org/drawingml/2006/main">
              <a:ext uri="{FF2B5EF4-FFF2-40B4-BE49-F238E27FC236}">
                <a16:creationId xmlns:a16="http://schemas.microsoft.com/office/drawing/2014/main" id="{856DEEB9-DC69-4C35-8BAE-84985737D512}"/>
              </a:ext>
            </a:extLst>
          </p:cNvPr>
          <p:cNvSpPr>
            <a:spLocks xmlns:a="http://schemas.openxmlformats.org/drawingml/2006/main" noGrp="1"/>
          </p:cNvSpPr>
          <p:nvPr/>
        </p:nvSpPr>
        <p:spPr>
          <a:xfrm xmlns:a="http://schemas.openxmlformats.org/drawingml/2006/main">
            <a:off x="6784848" y="2779776"/>
            <a:ext cx="4837176"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Without a rule, capacity goes to whoever escalates highest — usually the largest business.</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The businesses that lose stop asking and start building shadow systems, which reappear later as integration debt.</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Published, rule-based allocation is less efficient per release and far more stable across a year.</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Reserving a fixed share for platform work is the only way the shared spine survives contact with delivery dates.</a:t>
            </a:r>
            <a:endParaRPr sz="960"/>
          </a:p>
        </p:txBody>
      </p:sp>
      <p:sp>
        <p:nvSpPr>
          <p:cNvPr id="26" name="Shape 23">
            <a:extLst xmlns:a="http://schemas.openxmlformats.org/drawingml/2006/main">
              <a:ext uri="{FF2B5EF4-FFF2-40B4-BE49-F238E27FC236}">
                <a16:creationId xmlns:a16="http://schemas.microsoft.com/office/drawing/2014/main" id="{B20F1D9B-519D-4927-B6E8-4EED5F435BCA}"/>
              </a:ext>
            </a:extLst>
          </p:cNvPr>
          <p:cNvSpPr>
            <a:spLocks xmlns:a="http://schemas.openxmlformats.org/drawingml/2006/main" noGrp="1"/>
          </p:cNvSpPr>
          <p:nvPr/>
        </p:nvSpPr>
        <p:spPr>
          <a:xfrm xmlns:a="http://schemas.openxmlformats.org/drawingml/2006/main">
            <a:off x="566928" y="5321808"/>
            <a:ext cx="11057839" cy="749808"/>
          </a:xfrm>
          <a:prstGeom xmlns:a="http://schemas.openxmlformats.org/drawingml/2006/main" prst="rect">
            <a:avLst/>
          </a:prstGeom>
          <a:solidFill xmlns:a="http://schemas.openxmlformats.org/drawingml/2006/main">
            <a:srgbClr val="F3E6E0"/>
          </a:solidFill>
        </p:spPr>
      </p:sp>
      <p:sp>
        <p:nvSpPr>
          <p:cNvPr id="27" name="Text 24">
            <a:extLst xmlns:a="http://schemas.openxmlformats.org/drawingml/2006/main">
              <a:ext uri="{FF2B5EF4-FFF2-40B4-BE49-F238E27FC236}">
                <a16:creationId xmlns:a16="http://schemas.microsoft.com/office/drawing/2014/main" id="{5091C8BF-C7DF-4746-AADF-3A5AEFC0E65F}"/>
              </a:ext>
            </a:extLst>
          </p:cNvPr>
          <p:cNvSpPr>
            <a:spLocks xmlns:a="http://schemas.openxmlformats.org/drawingml/2006/main" noGrp="1"/>
          </p:cNvSpPr>
          <p:nvPr/>
        </p:nvSpPr>
        <p:spPr>
          <a:xfrm xmlns:a="http://schemas.openxmlformats.org/drawingml/2006/main">
            <a:off x="804672" y="546811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governance point</a:t>
            </a:r>
            <a:endParaRPr sz="1100"/>
          </a:p>
        </p:txBody>
      </p:sp>
      <p:sp>
        <p:nvSpPr>
          <p:cNvPr id="28" name="Text 25">
            <a:extLst xmlns:a="http://schemas.openxmlformats.org/drawingml/2006/main">
              <a:ext uri="{FF2B5EF4-FFF2-40B4-BE49-F238E27FC236}">
                <a16:creationId xmlns:a16="http://schemas.microsoft.com/office/drawing/2014/main" id="{4E4DD1C3-7623-48A7-BCEA-7F292836CB1D}"/>
              </a:ext>
            </a:extLst>
          </p:cNvPr>
          <p:cNvSpPr>
            <a:spLocks xmlns:a="http://schemas.openxmlformats.org/drawingml/2006/main" noGrp="1"/>
          </p:cNvSpPr>
          <p:nvPr/>
        </p:nvSpPr>
        <p:spPr>
          <a:xfrm xmlns:a="http://schemas.openxmlformats.org/drawingml/2006/main">
            <a:off x="804672" y="5724144"/>
            <a:ext cx="10582351"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At eight businesses, the release train is a scarce shared resource being allocated by negotiation. Converting that to a published rule is not bureaucracy — it is the mechanism that stops the platform fragmenting into eight forks over three years.</a:t>
            </a:r>
            <a:endParaRPr sz="990"/>
          </a:p>
        </p:txBody>
      </p:sp>
      <p:sp>
        <p:nvSpPr>
          <p:cNvPr id="29" name="Shape 26">
            <a:extLst xmlns:a="http://schemas.openxmlformats.org/drawingml/2006/main">
              <a:ext uri="{FF2B5EF4-FFF2-40B4-BE49-F238E27FC236}">
                <a16:creationId xmlns:a16="http://schemas.microsoft.com/office/drawing/2014/main" id="{DB16D3D1-1887-4115-A432-FCEF767F291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0" name="Text 27">
            <a:extLst xmlns:a="http://schemas.openxmlformats.org/drawingml/2006/main">
              <a:ext uri="{FF2B5EF4-FFF2-40B4-BE49-F238E27FC236}">
                <a16:creationId xmlns:a16="http://schemas.microsoft.com/office/drawing/2014/main" id="{46D232E1-DCCA-4E33-9F05-8C8CB9A4BF6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the reference deployment</a:t>
            </a:r>
            <a:endParaRPr sz="850"/>
          </a:p>
        </p:txBody>
      </p:sp>
      <p:sp>
        <p:nvSpPr>
          <p:cNvPr id="31" name="Text 28">
            <a:extLst xmlns:a="http://schemas.openxmlformats.org/drawingml/2006/main">
              <a:ext uri="{FF2B5EF4-FFF2-40B4-BE49-F238E27FC236}">
                <a16:creationId xmlns:a16="http://schemas.microsoft.com/office/drawing/2014/main" id="{FEB7F9FB-D635-4E01-87B1-A18BB68D345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2051311365"/>
      </p:ext>
    </p:extLst>
  </p:cSld>
</p:sld>
</file>

<file path=ppt/slides/slide8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ECFC3F-3B04-4354-BC26-95F81C11389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FOOTPRINT</a:t>
            </a:r>
            <a:endParaRPr sz="950"/>
          </a:p>
        </p:txBody>
      </p:sp>
      <p:sp>
        <p:nvSpPr>
          <p:cNvPr id="3" name="Text 1">
            <a:extLst xmlns:a="http://schemas.openxmlformats.org/drawingml/2006/main">
              <a:ext uri="{FF2B5EF4-FFF2-40B4-BE49-F238E27FC236}">
                <a16:creationId xmlns:a16="http://schemas.microsoft.com/office/drawing/2014/main" id="{0BC4F1FC-D7C1-4592-BCD5-C4BA54077EF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functional scope is unremarkable — which is the point: nothing on this slide</a:t>
            </a:r>
            <a:endParaRPr sz="1900"/>
          </a:p>
          <a:p xmlns:a="http://schemas.openxmlformats.org/drawingml/2006/main">
            <a:pPr marL="0" indent="0">
              <a:lnSpc>
                <a:spcPts val="2400"/>
              </a:lnSpc>
              <a:buNone/>
            </a:pPr>
            <a:r>
              <a:rPr sz="1900" b="1">
                <a:solidFill>
                  <a:srgbClr val="102A43"/>
                </a:solidFill>
                <a:latin typeface="Arial"/>
                <a:ea typeface="Arial"/>
                <a:cs typeface="Arial"/>
              </a:rPr>
              <a:t>explains the difficulty, and that is where programmes misjudge the estimate</a:t>
            </a:r>
            <a:endParaRPr sz="1900"/>
          </a:p>
        </p:txBody>
      </p:sp>
      <p:sp>
        <p:nvSpPr>
          <p:cNvPr id="4" name="Shape 2">
            <a:extLst xmlns:a="http://schemas.openxmlformats.org/drawingml/2006/main">
              <a:ext uri="{FF2B5EF4-FFF2-40B4-BE49-F238E27FC236}">
                <a16:creationId xmlns:a16="http://schemas.microsoft.com/office/drawing/2014/main" id="{645F5BE5-6CF8-4E4B-83B7-288190CA88CE}"/>
              </a:ext>
            </a:extLst>
          </p:cNvPr>
          <p:cNvSpPr>
            <a:spLocks xmlns:a="http://schemas.openxmlformats.org/drawingml/2006/main" noGrp="1"/>
          </p:cNvSpPr>
          <p:nvPr/>
        </p:nvSpPr>
        <p:spPr>
          <a:xfrm xmlns:a="http://schemas.openxmlformats.org/drawingml/2006/main">
            <a:off x="566928" y="1335024"/>
            <a:ext cx="2094525" cy="210312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563FF6B1-2BC9-4B21-B866-64D9F46125C4}"/>
              </a:ext>
            </a:extLst>
          </p:cNvPr>
          <p:cNvSpPr>
            <a:spLocks xmlns:a="http://schemas.openxmlformats.org/drawingml/2006/main" noGrp="1"/>
          </p:cNvSpPr>
          <p:nvPr/>
        </p:nvSpPr>
        <p:spPr>
          <a:xfrm xmlns:a="http://schemas.openxmlformats.org/drawingml/2006/main">
            <a:off x="749808"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Sales automation</a:t>
            </a:r>
            <a:endParaRPr sz="1000"/>
          </a:p>
        </p:txBody>
      </p:sp>
      <p:sp>
        <p:nvSpPr>
          <p:cNvPr id="6" name="Shape 4">
            <a:extLst xmlns:a="http://schemas.openxmlformats.org/drawingml/2006/main">
              <a:ext uri="{FF2B5EF4-FFF2-40B4-BE49-F238E27FC236}">
                <a16:creationId xmlns:a16="http://schemas.microsoft.com/office/drawing/2014/main" id="{A1DF91E5-04BD-422E-BFF2-8F57E6535651}"/>
              </a:ext>
            </a:extLst>
          </p:cNvPr>
          <p:cNvSpPr>
            <a:spLocks xmlns:a="http://schemas.openxmlformats.org/drawingml/2006/main" noGrp="1"/>
          </p:cNvSpPr>
          <p:nvPr/>
        </p:nvSpPr>
        <p:spPr>
          <a:xfrm xmlns:a="http://schemas.openxmlformats.org/drawingml/2006/main">
            <a:off x="749808" y="1956816"/>
            <a:ext cx="1728765" cy="20117"/>
          </a:xfrm>
          <a:prstGeom xmlns:a="http://schemas.openxmlformats.org/drawingml/2006/main" prst="rect">
            <a:avLst/>
          </a:prstGeom>
          <a:solidFill xmlns:a="http://schemas.openxmlformats.org/drawingml/2006/main">
            <a:srgbClr val="486581"/>
          </a:solidFill>
        </p:spPr>
      </p:sp>
      <p:sp>
        <p:nvSpPr>
          <p:cNvPr id="7" name="Text 5">
            <a:extLst xmlns:a="http://schemas.openxmlformats.org/drawingml/2006/main">
              <a:ext uri="{FF2B5EF4-FFF2-40B4-BE49-F238E27FC236}">
                <a16:creationId xmlns:a16="http://schemas.microsoft.com/office/drawing/2014/main" id="{F538EA03-9E46-438C-8BDE-11F1A926B22B}"/>
              </a:ext>
            </a:extLst>
          </p:cNvPr>
          <p:cNvSpPr>
            <a:spLocks xmlns:a="http://schemas.openxmlformats.org/drawingml/2006/main" noGrp="1"/>
          </p:cNvSpPr>
          <p:nvPr/>
        </p:nvSpPr>
        <p:spPr>
          <a:xfrm xmlns:a="http://schemas.openxmlformats.org/drawingml/2006/main">
            <a:off x="749808"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Lead management</a:t>
            </a:r>
            <a:endParaRPr sz="900"/>
          </a:p>
        </p:txBody>
      </p:sp>
      <p:sp>
        <p:nvSpPr>
          <p:cNvPr id="8" name="Text 6">
            <a:extLst xmlns:a="http://schemas.openxmlformats.org/drawingml/2006/main">
              <a:ext uri="{FF2B5EF4-FFF2-40B4-BE49-F238E27FC236}">
                <a16:creationId xmlns:a16="http://schemas.microsoft.com/office/drawing/2014/main" id="{47FF5361-58AB-47D9-A5CE-01EE78DCA2C3}"/>
              </a:ext>
            </a:extLst>
          </p:cNvPr>
          <p:cNvSpPr>
            <a:spLocks xmlns:a="http://schemas.openxmlformats.org/drawingml/2006/main" noGrp="1"/>
          </p:cNvSpPr>
          <p:nvPr/>
        </p:nvSpPr>
        <p:spPr>
          <a:xfrm xmlns:a="http://schemas.openxmlformats.org/drawingml/2006/main">
            <a:off x="749808"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Sales planning</a:t>
            </a:r>
            <a:endParaRPr sz="900"/>
          </a:p>
        </p:txBody>
      </p:sp>
      <p:sp>
        <p:nvSpPr>
          <p:cNvPr id="9" name="Text 7">
            <a:extLst xmlns:a="http://schemas.openxmlformats.org/drawingml/2006/main">
              <a:ext uri="{FF2B5EF4-FFF2-40B4-BE49-F238E27FC236}">
                <a16:creationId xmlns:a16="http://schemas.microsoft.com/office/drawing/2014/main" id="{B6EAD86C-1542-414D-A424-847DB39BB456}"/>
              </a:ext>
            </a:extLst>
          </p:cNvPr>
          <p:cNvSpPr>
            <a:spLocks xmlns:a="http://schemas.openxmlformats.org/drawingml/2006/main" noGrp="1"/>
          </p:cNvSpPr>
          <p:nvPr/>
        </p:nvSpPr>
        <p:spPr>
          <a:xfrm xmlns:a="http://schemas.openxmlformats.org/drawingml/2006/main">
            <a:off x="749808"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Activity management</a:t>
            </a:r>
            <a:endParaRPr sz="900"/>
          </a:p>
        </p:txBody>
      </p:sp>
      <p:sp>
        <p:nvSpPr>
          <p:cNvPr id="10" name="Text 8">
            <a:extLst xmlns:a="http://schemas.openxmlformats.org/drawingml/2006/main">
              <a:ext uri="{FF2B5EF4-FFF2-40B4-BE49-F238E27FC236}">
                <a16:creationId xmlns:a16="http://schemas.microsoft.com/office/drawing/2014/main" id="{2B5B308D-0C3D-4E44-8B38-76A7AE3275F0}"/>
              </a:ext>
            </a:extLst>
          </p:cNvPr>
          <p:cNvSpPr>
            <a:spLocks xmlns:a="http://schemas.openxmlformats.org/drawingml/2006/main" noGrp="1"/>
          </p:cNvSpPr>
          <p:nvPr/>
        </p:nvSpPr>
        <p:spPr>
          <a:xfrm xmlns:a="http://schemas.openxmlformats.org/drawingml/2006/main">
            <a:off x="749808"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Field mobility</a:t>
            </a:r>
            <a:endParaRPr sz="900"/>
          </a:p>
        </p:txBody>
      </p:sp>
      <p:sp>
        <p:nvSpPr>
          <p:cNvPr id="11" name="Shape 9">
            <a:extLst xmlns:a="http://schemas.openxmlformats.org/drawingml/2006/main">
              <a:ext uri="{FF2B5EF4-FFF2-40B4-BE49-F238E27FC236}">
                <a16:creationId xmlns:a16="http://schemas.microsoft.com/office/drawing/2014/main" id="{326B93A3-C798-4059-ACC9-D692D36B9710}"/>
              </a:ext>
            </a:extLst>
          </p:cNvPr>
          <p:cNvSpPr>
            <a:spLocks xmlns:a="http://schemas.openxmlformats.org/drawingml/2006/main" noGrp="1"/>
          </p:cNvSpPr>
          <p:nvPr/>
        </p:nvSpPr>
        <p:spPr>
          <a:xfrm xmlns:a="http://schemas.openxmlformats.org/drawingml/2006/main">
            <a:off x="2807757" y="1335024"/>
            <a:ext cx="2094525" cy="2103120"/>
          </a:xfrm>
          <a:prstGeom xmlns:a="http://schemas.openxmlformats.org/drawingml/2006/main" prst="rect">
            <a:avLst/>
          </a:prstGeom>
          <a:solidFill xmlns:a="http://schemas.openxmlformats.org/drawingml/2006/main">
            <a:srgbClr val="F0F4F8"/>
          </a:solidFill>
        </p:spPr>
      </p:sp>
      <p:sp>
        <p:nvSpPr>
          <p:cNvPr id="12" name="Text 10">
            <a:extLst xmlns:a="http://schemas.openxmlformats.org/drawingml/2006/main">
              <a:ext uri="{FF2B5EF4-FFF2-40B4-BE49-F238E27FC236}">
                <a16:creationId xmlns:a16="http://schemas.microsoft.com/office/drawing/2014/main" id="{E651122C-C7A3-418C-937F-2AF8FFB4CF7F}"/>
              </a:ext>
            </a:extLst>
          </p:cNvPr>
          <p:cNvSpPr>
            <a:spLocks xmlns:a="http://schemas.openxmlformats.org/drawingml/2006/main" noGrp="1"/>
          </p:cNvSpPr>
          <p:nvPr/>
        </p:nvSpPr>
        <p:spPr>
          <a:xfrm xmlns:a="http://schemas.openxmlformats.org/drawingml/2006/main">
            <a:off x="2990637"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Relationship mgmt</a:t>
            </a:r>
            <a:endParaRPr sz="1000"/>
          </a:p>
        </p:txBody>
      </p:sp>
      <p:sp>
        <p:nvSpPr>
          <p:cNvPr id="13" name="Shape 11">
            <a:extLst xmlns:a="http://schemas.openxmlformats.org/drawingml/2006/main">
              <a:ext uri="{FF2B5EF4-FFF2-40B4-BE49-F238E27FC236}">
                <a16:creationId xmlns:a16="http://schemas.microsoft.com/office/drawing/2014/main" id="{F8622187-EA3E-471A-8F13-3DD1D8322733}"/>
              </a:ext>
            </a:extLst>
          </p:cNvPr>
          <p:cNvSpPr>
            <a:spLocks xmlns:a="http://schemas.openxmlformats.org/drawingml/2006/main" noGrp="1"/>
          </p:cNvSpPr>
          <p:nvPr/>
        </p:nvSpPr>
        <p:spPr>
          <a:xfrm xmlns:a="http://schemas.openxmlformats.org/drawingml/2006/main">
            <a:off x="2990637" y="1956816"/>
            <a:ext cx="1728765" cy="20117"/>
          </a:xfrm>
          <a:prstGeom xmlns:a="http://schemas.openxmlformats.org/drawingml/2006/main" prst="rect">
            <a:avLst/>
          </a:prstGeom>
          <a:solidFill xmlns:a="http://schemas.openxmlformats.org/drawingml/2006/main">
            <a:srgbClr val="486581"/>
          </a:solidFill>
        </p:spPr>
      </p:sp>
      <p:sp>
        <p:nvSpPr>
          <p:cNvPr id="14" name="Text 12">
            <a:extLst xmlns:a="http://schemas.openxmlformats.org/drawingml/2006/main">
              <a:ext uri="{FF2B5EF4-FFF2-40B4-BE49-F238E27FC236}">
                <a16:creationId xmlns:a16="http://schemas.microsoft.com/office/drawing/2014/main" id="{32212E66-84CA-479D-9CFF-12AAE1C63983}"/>
              </a:ext>
            </a:extLst>
          </p:cNvPr>
          <p:cNvSpPr>
            <a:spLocks xmlns:a="http://schemas.openxmlformats.org/drawingml/2006/main" noGrp="1"/>
          </p:cNvSpPr>
          <p:nvPr/>
        </p:nvSpPr>
        <p:spPr>
          <a:xfrm xmlns:a="http://schemas.openxmlformats.org/drawingml/2006/main">
            <a:off x="2990637"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Retail relationships</a:t>
            </a:r>
            <a:endParaRPr sz="900"/>
          </a:p>
        </p:txBody>
      </p:sp>
      <p:sp>
        <p:nvSpPr>
          <p:cNvPr id="15" name="Text 13">
            <a:extLst xmlns:a="http://schemas.openxmlformats.org/drawingml/2006/main">
              <a:ext uri="{FF2B5EF4-FFF2-40B4-BE49-F238E27FC236}">
                <a16:creationId xmlns:a16="http://schemas.microsoft.com/office/drawing/2014/main" id="{04E008C4-E057-45EB-9927-254E9E4B230E}"/>
              </a:ext>
            </a:extLst>
          </p:cNvPr>
          <p:cNvSpPr>
            <a:spLocks xmlns:a="http://schemas.openxmlformats.org/drawingml/2006/main" noGrp="1"/>
          </p:cNvSpPr>
          <p:nvPr/>
        </p:nvSpPr>
        <p:spPr>
          <a:xfrm xmlns:a="http://schemas.openxmlformats.org/drawingml/2006/main">
            <a:off x="2990637"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Corporate relationships</a:t>
            </a:r>
            <a:endParaRPr sz="900"/>
          </a:p>
        </p:txBody>
      </p:sp>
      <p:sp>
        <p:nvSpPr>
          <p:cNvPr id="16" name="Text 14">
            <a:extLst xmlns:a="http://schemas.openxmlformats.org/drawingml/2006/main">
              <a:ext uri="{FF2B5EF4-FFF2-40B4-BE49-F238E27FC236}">
                <a16:creationId xmlns:a16="http://schemas.microsoft.com/office/drawing/2014/main" id="{5742F63F-F332-4E0E-88AE-70E7C8FD0FDC}"/>
              </a:ext>
            </a:extLst>
          </p:cNvPr>
          <p:cNvSpPr>
            <a:spLocks xmlns:a="http://schemas.openxmlformats.org/drawingml/2006/main" noGrp="1"/>
          </p:cNvSpPr>
          <p:nvPr/>
        </p:nvSpPr>
        <p:spPr>
          <a:xfrm xmlns:a="http://schemas.openxmlformats.org/drawingml/2006/main">
            <a:off x="2990637"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SME relationships</a:t>
            </a:r>
            <a:endParaRPr sz="900"/>
          </a:p>
        </p:txBody>
      </p:sp>
      <p:sp>
        <p:nvSpPr>
          <p:cNvPr id="17" name="Text 15">
            <a:extLst xmlns:a="http://schemas.openxmlformats.org/drawingml/2006/main">
              <a:ext uri="{FF2B5EF4-FFF2-40B4-BE49-F238E27FC236}">
                <a16:creationId xmlns:a16="http://schemas.microsoft.com/office/drawing/2014/main" id="{0F23A84D-2907-4DC0-8AF0-13D3F23B804E}"/>
              </a:ext>
            </a:extLst>
          </p:cNvPr>
          <p:cNvSpPr>
            <a:spLocks xmlns:a="http://schemas.openxmlformats.org/drawingml/2006/main" noGrp="1"/>
          </p:cNvSpPr>
          <p:nvPr/>
        </p:nvSpPr>
        <p:spPr>
          <a:xfrm xmlns:a="http://schemas.openxmlformats.org/drawingml/2006/main">
            <a:off x="2990637"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Agri relationships</a:t>
            </a:r>
            <a:endParaRPr sz="900"/>
          </a:p>
        </p:txBody>
      </p:sp>
      <p:sp>
        <p:nvSpPr>
          <p:cNvPr id="18" name="Shape 16">
            <a:extLst xmlns:a="http://schemas.openxmlformats.org/drawingml/2006/main">
              <a:ext uri="{FF2B5EF4-FFF2-40B4-BE49-F238E27FC236}">
                <a16:creationId xmlns:a16="http://schemas.microsoft.com/office/drawing/2014/main" id="{D9C65ABF-061A-4E10-BE83-9E874FBB35AF}"/>
              </a:ext>
            </a:extLst>
          </p:cNvPr>
          <p:cNvSpPr>
            <a:spLocks xmlns:a="http://schemas.openxmlformats.org/drawingml/2006/main" noGrp="1"/>
          </p:cNvSpPr>
          <p:nvPr/>
        </p:nvSpPr>
        <p:spPr>
          <a:xfrm xmlns:a="http://schemas.openxmlformats.org/drawingml/2006/main">
            <a:off x="5048585" y="1335024"/>
            <a:ext cx="2094525" cy="2103120"/>
          </a:xfrm>
          <a:prstGeom xmlns:a="http://schemas.openxmlformats.org/drawingml/2006/main" prst="rect">
            <a:avLst/>
          </a:prstGeom>
          <a:solidFill xmlns:a="http://schemas.openxmlformats.org/drawingml/2006/main">
            <a:srgbClr val="F3E6E0"/>
          </a:solidFill>
        </p:spPr>
      </p:sp>
      <p:sp>
        <p:nvSpPr>
          <p:cNvPr id="19" name="Text 17">
            <a:extLst xmlns:a="http://schemas.openxmlformats.org/drawingml/2006/main">
              <a:ext uri="{FF2B5EF4-FFF2-40B4-BE49-F238E27FC236}">
                <a16:creationId xmlns:a16="http://schemas.microsoft.com/office/drawing/2014/main" id="{778A4CE7-0C21-4463-B71C-72DD045FBC9E}"/>
              </a:ext>
            </a:extLst>
          </p:cNvPr>
          <p:cNvSpPr>
            <a:spLocks xmlns:a="http://schemas.openxmlformats.org/drawingml/2006/main" noGrp="1"/>
          </p:cNvSpPr>
          <p:nvPr/>
        </p:nvSpPr>
        <p:spPr>
          <a:xfrm xmlns:a="http://schemas.openxmlformats.org/drawingml/2006/main">
            <a:off x="5231465"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Service automation</a:t>
            </a:r>
            <a:endParaRPr sz="1000"/>
          </a:p>
        </p:txBody>
      </p:sp>
      <p:sp>
        <p:nvSpPr>
          <p:cNvPr id="20" name="Shape 18">
            <a:extLst xmlns:a="http://schemas.openxmlformats.org/drawingml/2006/main">
              <a:ext uri="{FF2B5EF4-FFF2-40B4-BE49-F238E27FC236}">
                <a16:creationId xmlns:a16="http://schemas.microsoft.com/office/drawing/2014/main" id="{255A4DC6-6F39-4AEA-88EC-91007F9CDA75}"/>
              </a:ext>
            </a:extLst>
          </p:cNvPr>
          <p:cNvSpPr>
            <a:spLocks xmlns:a="http://schemas.openxmlformats.org/drawingml/2006/main" noGrp="1"/>
          </p:cNvSpPr>
          <p:nvPr/>
        </p:nvSpPr>
        <p:spPr>
          <a:xfrm xmlns:a="http://schemas.openxmlformats.org/drawingml/2006/main">
            <a:off x="5231465" y="1956816"/>
            <a:ext cx="1728765" cy="20117"/>
          </a:xfrm>
          <a:prstGeom xmlns:a="http://schemas.openxmlformats.org/drawingml/2006/main" prst="rect">
            <a:avLst/>
          </a:prstGeom>
          <a:solidFill xmlns:a="http://schemas.openxmlformats.org/drawingml/2006/main">
            <a:srgbClr val="B04A25"/>
          </a:solidFill>
        </p:spPr>
      </p:sp>
      <p:sp>
        <p:nvSpPr>
          <p:cNvPr id="21" name="Text 19">
            <a:extLst xmlns:a="http://schemas.openxmlformats.org/drawingml/2006/main">
              <a:ext uri="{FF2B5EF4-FFF2-40B4-BE49-F238E27FC236}">
                <a16:creationId xmlns:a16="http://schemas.microsoft.com/office/drawing/2014/main" id="{E059B4A8-82C2-4467-B62F-796FE36B8700}"/>
              </a:ext>
            </a:extLst>
          </p:cNvPr>
          <p:cNvSpPr>
            <a:spLocks xmlns:a="http://schemas.openxmlformats.org/drawingml/2006/main" noGrp="1"/>
          </p:cNvSpPr>
          <p:nvPr/>
        </p:nvSpPr>
        <p:spPr>
          <a:xfrm xmlns:a="http://schemas.openxmlformats.org/drawingml/2006/main">
            <a:off x="5231465"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Contact centre</a:t>
            </a:r>
            <a:endParaRPr sz="900"/>
          </a:p>
        </p:txBody>
      </p:sp>
      <p:sp>
        <p:nvSpPr>
          <p:cNvPr id="22" name="Text 20">
            <a:extLst xmlns:a="http://schemas.openxmlformats.org/drawingml/2006/main">
              <a:ext uri="{FF2B5EF4-FFF2-40B4-BE49-F238E27FC236}">
                <a16:creationId xmlns:a16="http://schemas.microsoft.com/office/drawing/2014/main" id="{36DEFCD3-718B-4A3B-AFCD-DB48A9AFABDC}"/>
              </a:ext>
            </a:extLst>
          </p:cNvPr>
          <p:cNvSpPr>
            <a:spLocks xmlns:a="http://schemas.openxmlformats.org/drawingml/2006/main" noGrp="1"/>
          </p:cNvSpPr>
          <p:nvPr/>
        </p:nvSpPr>
        <p:spPr>
          <a:xfrm xmlns:a="http://schemas.openxmlformats.org/drawingml/2006/main">
            <a:off x="5231465"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Complaint management</a:t>
            </a:r>
            <a:endParaRPr sz="900"/>
          </a:p>
        </p:txBody>
      </p:sp>
      <p:sp>
        <p:nvSpPr>
          <p:cNvPr id="23" name="Text 21">
            <a:extLst xmlns:a="http://schemas.openxmlformats.org/drawingml/2006/main">
              <a:ext uri="{FF2B5EF4-FFF2-40B4-BE49-F238E27FC236}">
                <a16:creationId xmlns:a16="http://schemas.microsoft.com/office/drawing/2014/main" id="{1F9CADC1-5228-4859-AEF1-9A87A5DF8D58}"/>
              </a:ext>
            </a:extLst>
          </p:cNvPr>
          <p:cNvSpPr>
            <a:spLocks xmlns:a="http://schemas.openxmlformats.org/drawingml/2006/main" noGrp="1"/>
          </p:cNvSpPr>
          <p:nvPr/>
        </p:nvSpPr>
        <p:spPr>
          <a:xfrm xmlns:a="http://schemas.openxmlformats.org/drawingml/2006/main">
            <a:off x="5231465"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Request tracking</a:t>
            </a:r>
            <a:endParaRPr sz="900"/>
          </a:p>
        </p:txBody>
      </p:sp>
      <p:sp>
        <p:nvSpPr>
          <p:cNvPr id="24" name="Text 22">
            <a:extLst xmlns:a="http://schemas.openxmlformats.org/drawingml/2006/main">
              <a:ext uri="{FF2B5EF4-FFF2-40B4-BE49-F238E27FC236}">
                <a16:creationId xmlns:a16="http://schemas.microsoft.com/office/drawing/2014/main" id="{5664C290-9569-4496-9A0D-92A2D9B1FC52}"/>
              </a:ext>
            </a:extLst>
          </p:cNvPr>
          <p:cNvSpPr>
            <a:spLocks xmlns:a="http://schemas.openxmlformats.org/drawingml/2006/main" noGrp="1"/>
          </p:cNvSpPr>
          <p:nvPr/>
        </p:nvSpPr>
        <p:spPr>
          <a:xfrm xmlns:a="http://schemas.openxmlformats.org/drawingml/2006/main">
            <a:off x="5231465"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SLA and escalation</a:t>
            </a:r>
            <a:endParaRPr sz="900"/>
          </a:p>
        </p:txBody>
      </p:sp>
      <p:sp>
        <p:nvSpPr>
          <p:cNvPr id="25" name="Shape 23">
            <a:extLst xmlns:a="http://schemas.openxmlformats.org/drawingml/2006/main">
              <a:ext uri="{FF2B5EF4-FFF2-40B4-BE49-F238E27FC236}">
                <a16:creationId xmlns:a16="http://schemas.microsoft.com/office/drawing/2014/main" id="{432A8E86-168E-4C10-A42B-08F9C8D1741C}"/>
              </a:ext>
            </a:extLst>
          </p:cNvPr>
          <p:cNvSpPr>
            <a:spLocks xmlns:a="http://schemas.openxmlformats.org/drawingml/2006/main" noGrp="1"/>
          </p:cNvSpPr>
          <p:nvPr/>
        </p:nvSpPr>
        <p:spPr>
          <a:xfrm xmlns:a="http://schemas.openxmlformats.org/drawingml/2006/main">
            <a:off x="7289414" y="1335024"/>
            <a:ext cx="2094525" cy="2103120"/>
          </a:xfrm>
          <a:prstGeom xmlns:a="http://schemas.openxmlformats.org/drawingml/2006/main" prst="rect">
            <a:avLst/>
          </a:prstGeom>
          <a:solidFill xmlns:a="http://schemas.openxmlformats.org/drawingml/2006/main">
            <a:srgbClr val="F3E6E0"/>
          </a:solidFill>
        </p:spPr>
      </p:sp>
      <p:sp>
        <p:nvSpPr>
          <p:cNvPr id="26" name="Text 24">
            <a:extLst xmlns:a="http://schemas.openxmlformats.org/drawingml/2006/main">
              <a:ext uri="{FF2B5EF4-FFF2-40B4-BE49-F238E27FC236}">
                <a16:creationId xmlns:a16="http://schemas.microsoft.com/office/drawing/2014/main" id="{344B022B-87FE-48BC-9143-AF503596E589}"/>
              </a:ext>
            </a:extLst>
          </p:cNvPr>
          <p:cNvSpPr>
            <a:spLocks xmlns:a="http://schemas.openxmlformats.org/drawingml/2006/main" noGrp="1"/>
          </p:cNvSpPr>
          <p:nvPr/>
        </p:nvSpPr>
        <p:spPr>
          <a:xfrm xmlns:a="http://schemas.openxmlformats.org/drawingml/2006/main">
            <a:off x="7472294"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Marketing</a:t>
            </a:r>
            <a:endParaRPr sz="1000"/>
          </a:p>
        </p:txBody>
      </p:sp>
      <p:sp>
        <p:nvSpPr>
          <p:cNvPr id="27" name="Shape 25">
            <a:extLst xmlns:a="http://schemas.openxmlformats.org/drawingml/2006/main">
              <a:ext uri="{FF2B5EF4-FFF2-40B4-BE49-F238E27FC236}">
                <a16:creationId xmlns:a16="http://schemas.microsoft.com/office/drawing/2014/main" id="{FCCC93D5-BECE-4F45-B7D9-DD0D906CE32C}"/>
              </a:ext>
            </a:extLst>
          </p:cNvPr>
          <p:cNvSpPr>
            <a:spLocks xmlns:a="http://schemas.openxmlformats.org/drawingml/2006/main" noGrp="1"/>
          </p:cNvSpPr>
          <p:nvPr/>
        </p:nvSpPr>
        <p:spPr>
          <a:xfrm xmlns:a="http://schemas.openxmlformats.org/drawingml/2006/main">
            <a:off x="7472294" y="1956816"/>
            <a:ext cx="1728765" cy="20117"/>
          </a:xfrm>
          <a:prstGeom xmlns:a="http://schemas.openxmlformats.org/drawingml/2006/main" prst="rect">
            <a:avLst/>
          </a:prstGeom>
          <a:solidFill xmlns:a="http://schemas.openxmlformats.org/drawingml/2006/main">
            <a:srgbClr val="B04A25"/>
          </a:solidFill>
        </p:spPr>
      </p:sp>
      <p:sp>
        <p:nvSpPr>
          <p:cNvPr id="28" name="Text 26">
            <a:extLst xmlns:a="http://schemas.openxmlformats.org/drawingml/2006/main">
              <a:ext uri="{FF2B5EF4-FFF2-40B4-BE49-F238E27FC236}">
                <a16:creationId xmlns:a16="http://schemas.microsoft.com/office/drawing/2014/main" id="{9E5E856C-2268-4318-AF2D-BA91333EB652}"/>
              </a:ext>
            </a:extLst>
          </p:cNvPr>
          <p:cNvSpPr>
            <a:spLocks xmlns:a="http://schemas.openxmlformats.org/drawingml/2006/main" noGrp="1"/>
          </p:cNvSpPr>
          <p:nvPr/>
        </p:nvSpPr>
        <p:spPr>
          <a:xfrm xmlns:a="http://schemas.openxmlformats.org/drawingml/2006/main">
            <a:off x="7472294"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Campaign repository</a:t>
            </a:r>
            <a:endParaRPr sz="900"/>
          </a:p>
        </p:txBody>
      </p:sp>
      <p:sp>
        <p:nvSpPr>
          <p:cNvPr id="29" name="Text 27">
            <a:extLst xmlns:a="http://schemas.openxmlformats.org/drawingml/2006/main">
              <a:ext uri="{FF2B5EF4-FFF2-40B4-BE49-F238E27FC236}">
                <a16:creationId xmlns:a16="http://schemas.microsoft.com/office/drawing/2014/main" id="{9DC3B3DE-02EF-41F2-A0FA-C1C8C8704612}"/>
              </a:ext>
            </a:extLst>
          </p:cNvPr>
          <p:cNvSpPr>
            <a:spLocks xmlns:a="http://schemas.openxmlformats.org/drawingml/2006/main" noGrp="1"/>
          </p:cNvSpPr>
          <p:nvPr/>
        </p:nvSpPr>
        <p:spPr>
          <a:xfrm xmlns:a="http://schemas.openxmlformats.org/drawingml/2006/main">
            <a:off x="7472294"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Campaign execution</a:t>
            </a:r>
            <a:endParaRPr sz="900"/>
          </a:p>
        </p:txBody>
      </p:sp>
      <p:sp>
        <p:nvSpPr>
          <p:cNvPr id="30" name="Text 28">
            <a:extLst xmlns:a="http://schemas.openxmlformats.org/drawingml/2006/main">
              <a:ext uri="{FF2B5EF4-FFF2-40B4-BE49-F238E27FC236}">
                <a16:creationId xmlns:a16="http://schemas.microsoft.com/office/drawing/2014/main" id="{64AE06BD-2539-4DB3-B248-721F6B51EED2}"/>
              </a:ext>
            </a:extLst>
          </p:cNvPr>
          <p:cNvSpPr>
            <a:spLocks xmlns:a="http://schemas.openxmlformats.org/drawingml/2006/main" noGrp="1"/>
          </p:cNvSpPr>
          <p:nvPr/>
        </p:nvSpPr>
        <p:spPr>
          <a:xfrm xmlns:a="http://schemas.openxmlformats.org/drawingml/2006/main">
            <a:off x="7472294"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Budget and expense</a:t>
            </a:r>
            <a:endParaRPr sz="900"/>
          </a:p>
        </p:txBody>
      </p:sp>
      <p:sp>
        <p:nvSpPr>
          <p:cNvPr id="31" name="Text 29">
            <a:extLst xmlns:a="http://schemas.openxmlformats.org/drawingml/2006/main">
              <a:ext uri="{FF2B5EF4-FFF2-40B4-BE49-F238E27FC236}">
                <a16:creationId xmlns:a16="http://schemas.microsoft.com/office/drawing/2014/main" id="{436BC755-30F0-46C8-A054-75DA6C43F422}"/>
              </a:ext>
            </a:extLst>
          </p:cNvPr>
          <p:cNvSpPr>
            <a:spLocks xmlns:a="http://schemas.openxmlformats.org/drawingml/2006/main" noGrp="1"/>
          </p:cNvSpPr>
          <p:nvPr/>
        </p:nvSpPr>
        <p:spPr>
          <a:xfrm xmlns:a="http://schemas.openxmlformats.org/drawingml/2006/main">
            <a:off x="7472294"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Response capture</a:t>
            </a:r>
            <a:endParaRPr sz="900"/>
          </a:p>
        </p:txBody>
      </p:sp>
      <p:sp>
        <p:nvSpPr>
          <p:cNvPr id="32" name="Shape 30">
            <a:extLst xmlns:a="http://schemas.openxmlformats.org/drawingml/2006/main">
              <a:ext uri="{FF2B5EF4-FFF2-40B4-BE49-F238E27FC236}">
                <a16:creationId xmlns:a16="http://schemas.microsoft.com/office/drawing/2014/main" id="{90430476-A177-4310-B66A-E523D4117B9A}"/>
              </a:ext>
            </a:extLst>
          </p:cNvPr>
          <p:cNvSpPr>
            <a:spLocks xmlns:a="http://schemas.openxmlformats.org/drawingml/2006/main" noGrp="1"/>
          </p:cNvSpPr>
          <p:nvPr/>
        </p:nvSpPr>
        <p:spPr>
          <a:xfrm xmlns:a="http://schemas.openxmlformats.org/drawingml/2006/main">
            <a:off x="9530243" y="1335024"/>
            <a:ext cx="2094525" cy="2103120"/>
          </a:xfrm>
          <a:prstGeom xmlns:a="http://schemas.openxmlformats.org/drawingml/2006/main" prst="rect">
            <a:avLst/>
          </a:prstGeom>
          <a:solidFill xmlns:a="http://schemas.openxmlformats.org/drawingml/2006/main">
            <a:srgbClr val="F0F4F8"/>
          </a:solidFill>
        </p:spPr>
      </p:sp>
      <p:sp>
        <p:nvSpPr>
          <p:cNvPr id="33" name="Text 31">
            <a:extLst xmlns:a="http://schemas.openxmlformats.org/drawingml/2006/main">
              <a:ext uri="{FF2B5EF4-FFF2-40B4-BE49-F238E27FC236}">
                <a16:creationId xmlns:a16="http://schemas.microsoft.com/office/drawing/2014/main" id="{F0276B2F-BADE-4BF2-B48E-BCCB3AE7E63B}"/>
              </a:ext>
            </a:extLst>
          </p:cNvPr>
          <p:cNvSpPr>
            <a:spLocks xmlns:a="http://schemas.openxmlformats.org/drawingml/2006/main" noGrp="1"/>
          </p:cNvSpPr>
          <p:nvPr/>
        </p:nvSpPr>
        <p:spPr>
          <a:xfrm xmlns:a="http://schemas.openxmlformats.org/drawingml/2006/main">
            <a:off x="9713123"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Reporting</a:t>
            </a:r>
            <a:endParaRPr sz="1000"/>
          </a:p>
        </p:txBody>
      </p:sp>
      <p:sp>
        <p:nvSpPr>
          <p:cNvPr id="34" name="Shape 32">
            <a:extLst xmlns:a="http://schemas.openxmlformats.org/drawingml/2006/main">
              <a:ext uri="{FF2B5EF4-FFF2-40B4-BE49-F238E27FC236}">
                <a16:creationId xmlns:a16="http://schemas.microsoft.com/office/drawing/2014/main" id="{53344C8C-2551-468F-AC3C-6A2CF4873556}"/>
              </a:ext>
            </a:extLst>
          </p:cNvPr>
          <p:cNvSpPr>
            <a:spLocks xmlns:a="http://schemas.openxmlformats.org/drawingml/2006/main" noGrp="1"/>
          </p:cNvSpPr>
          <p:nvPr/>
        </p:nvSpPr>
        <p:spPr>
          <a:xfrm xmlns:a="http://schemas.openxmlformats.org/drawingml/2006/main">
            <a:off x="9713123" y="1956816"/>
            <a:ext cx="1728765" cy="20117"/>
          </a:xfrm>
          <a:prstGeom xmlns:a="http://schemas.openxmlformats.org/drawingml/2006/main" prst="rect">
            <a:avLst/>
          </a:prstGeom>
          <a:solidFill xmlns:a="http://schemas.openxmlformats.org/drawingml/2006/main">
            <a:srgbClr val="486581"/>
          </a:solidFill>
        </p:spPr>
      </p:sp>
      <p:sp>
        <p:nvSpPr>
          <p:cNvPr id="35" name="Text 33">
            <a:extLst xmlns:a="http://schemas.openxmlformats.org/drawingml/2006/main">
              <a:ext uri="{FF2B5EF4-FFF2-40B4-BE49-F238E27FC236}">
                <a16:creationId xmlns:a16="http://schemas.microsoft.com/office/drawing/2014/main" id="{03227086-130A-434A-BAA3-6225EB775BD1}"/>
              </a:ext>
            </a:extLst>
          </p:cNvPr>
          <p:cNvSpPr>
            <a:spLocks xmlns:a="http://schemas.openxmlformats.org/drawingml/2006/main" noGrp="1"/>
          </p:cNvSpPr>
          <p:nvPr/>
        </p:nvSpPr>
        <p:spPr>
          <a:xfrm xmlns:a="http://schemas.openxmlformats.org/drawingml/2006/main">
            <a:off x="9713123"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Pipeline reporting</a:t>
            </a:r>
            <a:endParaRPr sz="900"/>
          </a:p>
        </p:txBody>
      </p:sp>
      <p:sp>
        <p:nvSpPr>
          <p:cNvPr id="36" name="Text 34">
            <a:extLst xmlns:a="http://schemas.openxmlformats.org/drawingml/2006/main">
              <a:ext uri="{FF2B5EF4-FFF2-40B4-BE49-F238E27FC236}">
                <a16:creationId xmlns:a16="http://schemas.microsoft.com/office/drawing/2014/main" id="{8E34EC3F-D526-45C4-B0E0-910C90DF7D9C}"/>
              </a:ext>
            </a:extLst>
          </p:cNvPr>
          <p:cNvSpPr>
            <a:spLocks xmlns:a="http://schemas.openxmlformats.org/drawingml/2006/main" noGrp="1"/>
          </p:cNvSpPr>
          <p:nvPr/>
        </p:nvSpPr>
        <p:spPr>
          <a:xfrm xmlns:a="http://schemas.openxmlformats.org/drawingml/2006/main">
            <a:off x="9713123"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Executive dashboards</a:t>
            </a:r>
            <a:endParaRPr sz="900"/>
          </a:p>
        </p:txBody>
      </p:sp>
      <p:sp>
        <p:nvSpPr>
          <p:cNvPr id="37" name="Text 35">
            <a:extLst xmlns:a="http://schemas.openxmlformats.org/drawingml/2006/main">
              <a:ext uri="{FF2B5EF4-FFF2-40B4-BE49-F238E27FC236}">
                <a16:creationId xmlns:a16="http://schemas.microsoft.com/office/drawing/2014/main" id="{CE8B6E90-E263-4AE1-BF2E-FFD15FAC58CC}"/>
              </a:ext>
            </a:extLst>
          </p:cNvPr>
          <p:cNvSpPr>
            <a:spLocks xmlns:a="http://schemas.openxmlformats.org/drawingml/2006/main" noGrp="1"/>
          </p:cNvSpPr>
          <p:nvPr/>
        </p:nvSpPr>
        <p:spPr>
          <a:xfrm xmlns:a="http://schemas.openxmlformats.org/drawingml/2006/main">
            <a:off x="9713123"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SLA tracking</a:t>
            </a:r>
            <a:endParaRPr sz="900"/>
          </a:p>
        </p:txBody>
      </p:sp>
      <p:sp>
        <p:nvSpPr>
          <p:cNvPr id="38" name="Text 36">
            <a:extLst xmlns:a="http://schemas.openxmlformats.org/drawingml/2006/main">
              <a:ext uri="{FF2B5EF4-FFF2-40B4-BE49-F238E27FC236}">
                <a16:creationId xmlns:a16="http://schemas.microsoft.com/office/drawing/2014/main" id="{F0FE17C5-4E5A-450B-B931-B5537628ABD2}"/>
              </a:ext>
            </a:extLst>
          </p:cNvPr>
          <p:cNvSpPr>
            <a:spLocks xmlns:a="http://schemas.openxmlformats.org/drawingml/2006/main" noGrp="1"/>
          </p:cNvSpPr>
          <p:nvPr/>
        </p:nvSpPr>
        <p:spPr>
          <a:xfrm xmlns:a="http://schemas.openxmlformats.org/drawingml/2006/main">
            <a:off x="9713123"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Performance views</a:t>
            </a:r>
            <a:endParaRPr sz="900"/>
          </a:p>
        </p:txBody>
      </p:sp>
      <p:sp>
        <p:nvSpPr>
          <p:cNvPr id="39" name="Text 37">
            <a:extLst xmlns:a="http://schemas.openxmlformats.org/drawingml/2006/main">
              <a:ext uri="{FF2B5EF4-FFF2-40B4-BE49-F238E27FC236}">
                <a16:creationId xmlns:a16="http://schemas.microsoft.com/office/drawing/2014/main" id="{04F98DFA-F5F8-40A4-9281-9EDA07CF6698}"/>
              </a:ext>
            </a:extLst>
          </p:cNvPr>
          <p:cNvSpPr>
            <a:spLocks xmlns:a="http://schemas.openxmlformats.org/drawingml/2006/main" noGrp="1"/>
          </p:cNvSpPr>
          <p:nvPr/>
        </p:nvSpPr>
        <p:spPr>
          <a:xfrm xmlns:a="http://schemas.openxmlformats.org/drawingml/2006/main">
            <a:off x="566928" y="373075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What the feature list predicts</a:t>
            </a:r>
            <a:endParaRPr sz="1100"/>
          </a:p>
        </p:txBody>
      </p:sp>
      <p:sp>
        <p:nvSpPr>
          <p:cNvPr id="40" name="Shape 38">
            <a:extLst xmlns:a="http://schemas.openxmlformats.org/drawingml/2006/main">
              <a:ext uri="{FF2B5EF4-FFF2-40B4-BE49-F238E27FC236}">
                <a16:creationId xmlns:a16="http://schemas.microsoft.com/office/drawing/2014/main" id="{13F954DC-6E07-4A76-8FAB-EC2CA8E390B6}"/>
              </a:ext>
            </a:extLst>
          </p:cNvPr>
          <p:cNvSpPr>
            <a:spLocks xmlns:a="http://schemas.openxmlformats.org/drawingml/2006/main" noGrp="1"/>
          </p:cNvSpPr>
          <p:nvPr/>
        </p:nvSpPr>
        <p:spPr>
          <a:xfrm xmlns:a="http://schemas.openxmlformats.org/drawingml/2006/main">
            <a:off x="566928" y="3986784"/>
            <a:ext cx="3551834" cy="20117"/>
          </a:xfrm>
          <a:prstGeom xmlns:a="http://schemas.openxmlformats.org/drawingml/2006/main" prst="rect">
            <a:avLst/>
          </a:prstGeom>
          <a:solidFill xmlns:a="http://schemas.openxmlformats.org/drawingml/2006/main">
            <a:srgbClr val="486581"/>
          </a:solidFill>
        </p:spPr>
      </p:sp>
      <p:sp>
        <p:nvSpPr>
          <p:cNvPr id="41" name="Text 39">
            <a:extLst xmlns:a="http://schemas.openxmlformats.org/drawingml/2006/main">
              <a:ext uri="{FF2B5EF4-FFF2-40B4-BE49-F238E27FC236}">
                <a16:creationId xmlns:a16="http://schemas.microsoft.com/office/drawing/2014/main" id="{529FCD1E-716D-46C9-9197-70A7EBE0194D}"/>
              </a:ext>
            </a:extLst>
          </p:cNvPr>
          <p:cNvSpPr>
            <a:spLocks xmlns:a="http://schemas.openxmlformats.org/drawingml/2006/main" noGrp="1"/>
          </p:cNvSpPr>
          <p:nvPr/>
        </p:nvSpPr>
        <p:spPr>
          <a:xfrm xmlns:a="http://schemas.openxmlformats.org/drawingml/2006/main">
            <a:off x="566928" y="4114800"/>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A standard enterprise CRM build: five module families, familiar objects, well-understood workflows.</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An estimate driven by user count, module count and configuration volume.</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A timeline that looks like every other CRM programme, scaled by headcount.</a:t>
            </a:r>
            <a:endParaRPr sz="980"/>
          </a:p>
        </p:txBody>
      </p:sp>
      <p:sp>
        <p:nvSpPr>
          <p:cNvPr id="42" name="Text 40">
            <a:extLst xmlns:a="http://schemas.openxmlformats.org/drawingml/2006/main">
              <a:ext uri="{FF2B5EF4-FFF2-40B4-BE49-F238E27FC236}">
                <a16:creationId xmlns:a16="http://schemas.microsoft.com/office/drawing/2014/main" id="{94FD34C7-3531-4DE9-AA03-10350FD5A254}"/>
              </a:ext>
            </a:extLst>
          </p:cNvPr>
          <p:cNvSpPr>
            <a:spLocks xmlns:a="http://schemas.openxmlformats.org/drawingml/2006/main" noGrp="1"/>
          </p:cNvSpPr>
          <p:nvPr/>
        </p:nvSpPr>
        <p:spPr>
          <a:xfrm xmlns:a="http://schemas.openxmlformats.org/drawingml/2006/main">
            <a:off x="4319930" y="373075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actually drives the effort</a:t>
            </a:r>
            <a:endParaRPr sz="1100"/>
          </a:p>
        </p:txBody>
      </p:sp>
      <p:sp>
        <p:nvSpPr>
          <p:cNvPr id="43" name="Shape 41">
            <a:extLst xmlns:a="http://schemas.openxmlformats.org/drawingml/2006/main">
              <a:ext uri="{FF2B5EF4-FFF2-40B4-BE49-F238E27FC236}">
                <a16:creationId xmlns:a16="http://schemas.microsoft.com/office/drawing/2014/main" id="{63B53C32-35EA-4BAA-99EE-50DB0E274D58}"/>
              </a:ext>
            </a:extLst>
          </p:cNvPr>
          <p:cNvSpPr>
            <a:spLocks xmlns:a="http://schemas.openxmlformats.org/drawingml/2006/main" noGrp="1"/>
          </p:cNvSpPr>
          <p:nvPr/>
        </p:nvSpPr>
        <p:spPr>
          <a:xfrm xmlns:a="http://schemas.openxmlformats.org/drawingml/2006/main">
            <a:off x="4319930" y="3986784"/>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49FDD9A8-4499-4C1A-8B7E-7D66C1F78A5F}"/>
              </a:ext>
            </a:extLst>
          </p:cNvPr>
          <p:cNvSpPr>
            <a:spLocks xmlns:a="http://schemas.openxmlformats.org/drawingml/2006/main" noGrp="1"/>
          </p:cNvSpPr>
          <p:nvPr/>
        </p:nvSpPr>
        <p:spPr>
          <a:xfrm xmlns:a="http://schemas.openxmlformats.org/drawingml/2006/main">
            <a:off x="4319930" y="4114800"/>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Regression across 250+ integration contracts on every release.</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Residency and tenancy work that has no visible feature output at all.</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Reconciling eight businesses onto one object model without forking it.</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Thirteen go-lives, each with its own regulator, cutover and support model.</a:t>
            </a:r>
            <a:endParaRPr sz="980"/>
          </a:p>
        </p:txBody>
      </p:sp>
      <p:sp>
        <p:nvSpPr>
          <p:cNvPr id="45" name="Text 43">
            <a:extLst xmlns:a="http://schemas.openxmlformats.org/drawingml/2006/main">
              <a:ext uri="{FF2B5EF4-FFF2-40B4-BE49-F238E27FC236}">
                <a16:creationId xmlns:a16="http://schemas.microsoft.com/office/drawing/2014/main" id="{6AEA843E-048E-48B6-91E2-AC51E1B99E69}"/>
              </a:ext>
            </a:extLst>
          </p:cNvPr>
          <p:cNvSpPr>
            <a:spLocks xmlns:a="http://schemas.openxmlformats.org/drawingml/2006/main" noGrp="1"/>
          </p:cNvSpPr>
          <p:nvPr/>
        </p:nvSpPr>
        <p:spPr>
          <a:xfrm xmlns:a="http://schemas.openxmlformats.org/drawingml/2006/main">
            <a:off x="8072933" y="373075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The estimating error this causes</a:t>
            </a:r>
            <a:endParaRPr sz="1100"/>
          </a:p>
        </p:txBody>
      </p:sp>
      <p:sp>
        <p:nvSpPr>
          <p:cNvPr id="46" name="Shape 44">
            <a:extLst xmlns:a="http://schemas.openxmlformats.org/drawingml/2006/main">
              <a:ext uri="{FF2B5EF4-FFF2-40B4-BE49-F238E27FC236}">
                <a16:creationId xmlns:a16="http://schemas.microsoft.com/office/drawing/2014/main" id="{88E46CF6-5EA9-4001-B2D2-62DA3D8BE193}"/>
              </a:ext>
            </a:extLst>
          </p:cNvPr>
          <p:cNvSpPr>
            <a:spLocks xmlns:a="http://schemas.openxmlformats.org/drawingml/2006/main" noGrp="1"/>
          </p:cNvSpPr>
          <p:nvPr/>
        </p:nvSpPr>
        <p:spPr>
          <a:xfrm xmlns:a="http://schemas.openxmlformats.org/drawingml/2006/main">
            <a:off x="8072933" y="3986784"/>
            <a:ext cx="3551834" cy="20117"/>
          </a:xfrm>
          <a:prstGeom xmlns:a="http://schemas.openxmlformats.org/drawingml/2006/main" prst="rect">
            <a:avLst/>
          </a:prstGeom>
          <a:solidFill xmlns:a="http://schemas.openxmlformats.org/drawingml/2006/main">
            <a:srgbClr val="27685A"/>
          </a:solidFill>
        </p:spPr>
      </p:sp>
      <p:sp>
        <p:nvSpPr>
          <p:cNvPr id="47" name="Text 45">
            <a:extLst xmlns:a="http://schemas.openxmlformats.org/drawingml/2006/main">
              <a:ext uri="{FF2B5EF4-FFF2-40B4-BE49-F238E27FC236}">
                <a16:creationId xmlns:a16="http://schemas.microsoft.com/office/drawing/2014/main" id="{35F2C71E-7265-48DF-B910-EBD123FDCB93}"/>
              </a:ext>
            </a:extLst>
          </p:cNvPr>
          <p:cNvSpPr>
            <a:spLocks xmlns:a="http://schemas.openxmlformats.org/drawingml/2006/main" noGrp="1"/>
          </p:cNvSpPr>
          <p:nvPr/>
        </p:nvSpPr>
        <p:spPr>
          <a:xfrm xmlns:a="http://schemas.openxmlformats.org/drawingml/2006/main">
            <a:off x="8072933" y="4114800"/>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Sizing by functional scope understates a programme of this shape by a wide margin.</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The invisible work — contracts, residency, governance — is most of the cost and none of the demo.</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Sponsors approve the visible half and are then surprised twice: at go-live, and again at the first major upgrade.</a:t>
            </a:r>
            <a:endParaRPr sz="980"/>
          </a:p>
        </p:txBody>
      </p:sp>
      <p:sp>
        <p:nvSpPr>
          <p:cNvPr id="48" name="Shape 46">
            <a:extLst xmlns:a="http://schemas.openxmlformats.org/drawingml/2006/main">
              <a:ext uri="{FF2B5EF4-FFF2-40B4-BE49-F238E27FC236}">
                <a16:creationId xmlns:a16="http://schemas.microsoft.com/office/drawing/2014/main" id="{D8885893-404D-4C1C-8357-8968E3F587B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9" name="Text 47">
            <a:extLst xmlns:a="http://schemas.openxmlformats.org/drawingml/2006/main">
              <a:ext uri="{FF2B5EF4-FFF2-40B4-BE49-F238E27FC236}">
                <a16:creationId xmlns:a16="http://schemas.microsoft.com/office/drawing/2014/main" id="{46414BF2-43ED-491B-9625-59F6CFA4802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Reference-deployment figures published by the platform vendor, retained with attribution · author's analysis</a:t>
            </a:r>
            <a:endParaRPr sz="850"/>
          </a:p>
        </p:txBody>
      </p:sp>
      <p:sp>
        <p:nvSpPr>
          <p:cNvPr id="50" name="Text 48">
            <a:extLst xmlns:a="http://schemas.openxmlformats.org/drawingml/2006/main">
              <a:ext uri="{FF2B5EF4-FFF2-40B4-BE49-F238E27FC236}">
                <a16:creationId xmlns:a16="http://schemas.microsoft.com/office/drawing/2014/main" id="{78AE7042-5047-457E-AE18-2EBE7F9C0EB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7927519"/>
      </p:ext>
    </p:extLst>
  </p:cSld>
</p:sld>
</file>

<file path=ppt/slides/slide8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01D4EC4-30C3-43CD-BB06-AA68613C1F9A}"/>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ECONOMICS</a:t>
            </a:r>
            <a:endParaRPr sz="950"/>
          </a:p>
        </p:txBody>
      </p:sp>
      <p:sp>
        <p:nvSpPr>
          <p:cNvPr id="3" name="Text 1">
            <a:extLst xmlns:a="http://schemas.openxmlformats.org/drawingml/2006/main">
              <a:ext uri="{FF2B5EF4-FFF2-40B4-BE49-F238E27FC236}">
                <a16:creationId xmlns:a16="http://schemas.microsoft.com/office/drawing/2014/main" id="{80A9E446-D9FA-4F14-9317-DAD3D6E114E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cost lines scale linearly with users and three scale with the square of the</a:t>
            </a:r>
            <a:endParaRPr sz="1900"/>
          </a:p>
          <a:p xmlns:a="http://schemas.openxmlformats.org/drawingml/2006/main">
            <a:pPr marL="0" indent="0">
              <a:lnSpc>
                <a:spcPts val="2400"/>
              </a:lnSpc>
              <a:buNone/>
            </a:pPr>
            <a:r>
              <a:rPr sz="1900" b="1">
                <a:solidFill>
                  <a:srgbClr val="102A43"/>
                </a:solidFill>
                <a:latin typeface="Arial"/>
                <a:ea typeface="Arial"/>
                <a:cs typeface="Arial"/>
              </a:rPr>
              <a:t>integration surface — only the first three are in most business cases</a:t>
            </a:r>
            <a:endParaRPr sz="1900"/>
          </a:p>
        </p:txBody>
      </p:sp>
      <p:graphicFrame>
        <p:nvGraphicFramePr>
          <p:cNvPr id="21" name="Chart 0"/>
          <p:cNvGraphicFramePr/>
          <p:nvPr/>
        </p:nvGraphicFramePr>
        <p:xfrm>
          <a:off xmlns:a="http://schemas.openxmlformats.org/drawingml/2006/main" x="566928" y="1426464"/>
          <a:ext xmlns:a="http://schemas.openxmlformats.org/drawingml/2006/main" cx="6035040" cy="2834640"/>
        </p:xfrm>
        <a:graphic xmlns:a="http://schemas.openxmlformats.org/drawingml/2006/main">
          <a:graphicData uri="http://schemas.openxmlformats.org/drawingml/2006/chart">
            <c:chart xmlns:r="http://schemas.openxmlformats.org/officeDocument/2006/relationships" xmlns:c="http://schemas.openxmlformats.org/drawingml/2006/chart" r:id="R603b4e337b9247cb"/>
          </a:graphicData>
        </a:graphic>
      </p:graphicFrame>
      <p:sp>
        <p:nvSpPr>
          <p:cNvPr id="5" name="Text 2">
            <a:extLst xmlns:a="http://schemas.openxmlformats.org/drawingml/2006/main">
              <a:ext uri="{FF2B5EF4-FFF2-40B4-BE49-F238E27FC236}">
                <a16:creationId xmlns:a16="http://schemas.microsoft.com/office/drawing/2014/main" id="{C9130F52-8D5F-499D-B676-5E06E6E9F93A}"/>
              </a:ext>
            </a:extLst>
          </p:cNvPr>
          <p:cNvSpPr>
            <a:spLocks xmlns:a="http://schemas.openxmlformats.org/drawingml/2006/main" noGrp="1"/>
          </p:cNvSpPr>
          <p:nvPr/>
        </p:nvSpPr>
        <p:spPr>
          <a:xfrm xmlns:a="http://schemas.openxmlformats.org/drawingml/2006/main">
            <a:off x="566928" y="4352544"/>
            <a:ext cx="60350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cost index by platform user count — the shape is the argument, not the values</a:t>
            </a:r>
            <a:endParaRPr sz="880"/>
          </a:p>
        </p:txBody>
      </p:sp>
      <p:sp>
        <p:nvSpPr>
          <p:cNvPr id="6" name="Text 3">
            <a:extLst xmlns:a="http://schemas.openxmlformats.org/drawingml/2006/main">
              <a:ext uri="{FF2B5EF4-FFF2-40B4-BE49-F238E27FC236}">
                <a16:creationId xmlns:a16="http://schemas.microsoft.com/office/drawing/2014/main" id="{ED4AB9DB-9905-4422-9FD7-3BB08B495BD1}"/>
              </a:ext>
            </a:extLst>
          </p:cNvPr>
          <p:cNvSpPr>
            <a:spLocks xmlns:a="http://schemas.openxmlformats.org/drawingml/2006/main" noGrp="1"/>
          </p:cNvSpPr>
          <p:nvPr/>
        </p:nvSpPr>
        <p:spPr>
          <a:xfrm xmlns:a="http://schemas.openxmlformats.org/drawingml/2006/main">
            <a:off x="6967728" y="1426464"/>
            <a:ext cx="46542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Linear — usually costed</a:t>
            </a:r>
            <a:endParaRPr sz="1100"/>
          </a:p>
        </p:txBody>
      </p:sp>
      <p:sp>
        <p:nvSpPr>
          <p:cNvPr id="7" name="Shape 4">
            <a:extLst xmlns:a="http://schemas.openxmlformats.org/drawingml/2006/main">
              <a:ext uri="{FF2B5EF4-FFF2-40B4-BE49-F238E27FC236}">
                <a16:creationId xmlns:a16="http://schemas.microsoft.com/office/drawing/2014/main" id="{9714683C-EC9E-49A5-A8D7-84A93A5ADB3E}"/>
              </a:ext>
            </a:extLst>
          </p:cNvPr>
          <p:cNvSpPr>
            <a:spLocks xmlns:a="http://schemas.openxmlformats.org/drawingml/2006/main" noGrp="1"/>
          </p:cNvSpPr>
          <p:nvPr/>
        </p:nvSpPr>
        <p:spPr>
          <a:xfrm xmlns:a="http://schemas.openxmlformats.org/drawingml/2006/main">
            <a:off x="6967728" y="1682496"/>
            <a:ext cx="4654296" cy="20117"/>
          </a:xfrm>
          <a:prstGeom xmlns:a="http://schemas.openxmlformats.org/drawingml/2006/main" prst="rect">
            <a:avLst/>
          </a:prstGeom>
          <a:solidFill xmlns:a="http://schemas.openxmlformats.org/drawingml/2006/main">
            <a:srgbClr val="486581"/>
          </a:solidFill>
        </p:spPr>
      </p:sp>
      <p:sp>
        <p:nvSpPr>
          <p:cNvPr id="8" name="Text 5">
            <a:extLst xmlns:a="http://schemas.openxmlformats.org/drawingml/2006/main">
              <a:ext uri="{FF2B5EF4-FFF2-40B4-BE49-F238E27FC236}">
                <a16:creationId xmlns:a16="http://schemas.microsoft.com/office/drawing/2014/main" id="{FBB90A35-1B37-4E81-A25C-2877A526B9A5}"/>
              </a:ext>
            </a:extLst>
          </p:cNvPr>
          <p:cNvSpPr>
            <a:spLocks xmlns:a="http://schemas.openxmlformats.org/drawingml/2006/main" noGrp="1"/>
          </p:cNvSpPr>
          <p:nvPr/>
        </p:nvSpPr>
        <p:spPr>
          <a:xfrm xmlns:a="http://schemas.openxmlformats.org/drawingml/2006/main">
            <a:off x="6967728" y="1810512"/>
            <a:ext cx="4654296"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Infrastructure and licensing</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Training and rollout</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Level-one support capacity</a:t>
            </a:r>
            <a:endParaRPr sz="980"/>
          </a:p>
        </p:txBody>
      </p:sp>
      <p:sp>
        <p:nvSpPr>
          <p:cNvPr id="9" name="Text 6">
            <a:extLst xmlns:a="http://schemas.openxmlformats.org/drawingml/2006/main">
              <a:ext uri="{FF2B5EF4-FFF2-40B4-BE49-F238E27FC236}">
                <a16:creationId xmlns:a16="http://schemas.microsoft.com/office/drawing/2014/main" id="{C2666443-CC3A-4BAE-AC55-8AB6942B2D63}"/>
              </a:ext>
            </a:extLst>
          </p:cNvPr>
          <p:cNvSpPr>
            <a:spLocks xmlns:a="http://schemas.openxmlformats.org/drawingml/2006/main" noGrp="1"/>
          </p:cNvSpPr>
          <p:nvPr/>
        </p:nvSpPr>
        <p:spPr>
          <a:xfrm xmlns:a="http://schemas.openxmlformats.org/drawingml/2006/main">
            <a:off x="6967728" y="2724912"/>
            <a:ext cx="46542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Superlinear — usually missed</a:t>
            </a:r>
            <a:endParaRPr sz="1100"/>
          </a:p>
        </p:txBody>
      </p:sp>
      <p:sp>
        <p:nvSpPr>
          <p:cNvPr id="10" name="Shape 7">
            <a:extLst xmlns:a="http://schemas.openxmlformats.org/drawingml/2006/main">
              <a:ext uri="{FF2B5EF4-FFF2-40B4-BE49-F238E27FC236}">
                <a16:creationId xmlns:a16="http://schemas.microsoft.com/office/drawing/2014/main" id="{5C5CDA4E-2E0F-40D9-8086-C4102DD11B59}"/>
              </a:ext>
            </a:extLst>
          </p:cNvPr>
          <p:cNvSpPr>
            <a:spLocks xmlns:a="http://schemas.openxmlformats.org/drawingml/2006/main" noGrp="1"/>
          </p:cNvSpPr>
          <p:nvPr/>
        </p:nvSpPr>
        <p:spPr>
          <a:xfrm xmlns:a="http://schemas.openxmlformats.org/drawingml/2006/main">
            <a:off x="6967728" y="2980944"/>
            <a:ext cx="4654296" cy="20117"/>
          </a:xfrm>
          <a:prstGeom xmlns:a="http://schemas.openxmlformats.org/drawingml/2006/main" prst="rect">
            <a:avLst/>
          </a:prstGeom>
          <a:solidFill xmlns:a="http://schemas.openxmlformats.org/drawingml/2006/main">
            <a:srgbClr val="B04A25"/>
          </a:solidFill>
        </p:spPr>
      </p:sp>
      <p:sp>
        <p:nvSpPr>
          <p:cNvPr id="11" name="Text 8">
            <a:extLst xmlns:a="http://schemas.openxmlformats.org/drawingml/2006/main">
              <a:ext uri="{FF2B5EF4-FFF2-40B4-BE49-F238E27FC236}">
                <a16:creationId xmlns:a16="http://schemas.microsoft.com/office/drawing/2014/main" id="{830B8106-B6AC-45D5-A76A-8E4D2A152199}"/>
              </a:ext>
            </a:extLst>
          </p:cNvPr>
          <p:cNvSpPr>
            <a:spLocks xmlns:a="http://schemas.openxmlformats.org/drawingml/2006/main" noGrp="1"/>
          </p:cNvSpPr>
          <p:nvPr/>
        </p:nvSpPr>
        <p:spPr>
          <a:xfrm xmlns:a="http://schemas.openxmlformats.org/drawingml/2006/main">
            <a:off x="6967728" y="3108960"/>
            <a:ext cx="4654296"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Regression and assurance — grows with interface count, not user count</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Environment and test-data management across jurisdictions</a:t>
            </a:r>
            <a:endParaRPr sz="980"/>
          </a:p>
          <a:p xmlns:a="http://schemas.openxmlformats.org/drawingml/2006/main">
            <a:pPr marL="152400" indent="-152400">
              <a:lnSpc>
                <a:spcPts val="1400"/>
              </a:lnSpc>
              <a:spcAft>
                <a:spcPts val="600"/>
              </a:spcAft>
              <a:buSzPct val="100000"/>
              <a:buChar char="•"/>
            </a:pPr>
            <a:r>
              <a:rPr sz="980">
                <a:solidFill>
                  <a:srgbClr val="1A1A1A"/>
                </a:solidFill>
                <a:latin typeface="Arial"/>
                <a:ea typeface="Arial"/>
                <a:cs typeface="Arial"/>
              </a:rPr>
              <a:t>Coordination cost across eight businesses and thirteen country teams</a:t>
            </a:r>
            <a:endParaRPr sz="980"/>
          </a:p>
        </p:txBody>
      </p:sp>
      <p:sp>
        <p:nvSpPr>
          <p:cNvPr id="12" name="Shape 9">
            <a:extLst xmlns:a="http://schemas.openxmlformats.org/drawingml/2006/main">
              <a:ext uri="{FF2B5EF4-FFF2-40B4-BE49-F238E27FC236}">
                <a16:creationId xmlns:a16="http://schemas.microsoft.com/office/drawing/2014/main" id="{B7B7FB97-1950-40B5-87A5-D68C7526ABEB}"/>
              </a:ext>
            </a:extLst>
          </p:cNvPr>
          <p:cNvSpPr>
            <a:spLocks xmlns:a="http://schemas.openxmlformats.org/drawingml/2006/main" noGrp="1"/>
          </p:cNvSpPr>
          <p:nvPr/>
        </p:nvSpPr>
        <p:spPr>
          <a:xfrm xmlns:a="http://schemas.openxmlformats.org/drawingml/2006/main">
            <a:off x="566928" y="4681728"/>
            <a:ext cx="11057839" cy="1097280"/>
          </a:xfrm>
          <a:prstGeom xmlns:a="http://schemas.openxmlformats.org/drawingml/2006/main" prst="rect">
            <a:avLst/>
          </a:prstGeom>
          <a:solidFill xmlns:a="http://schemas.openxmlformats.org/drawingml/2006/main">
            <a:srgbClr val="F3E6E0"/>
          </a:solidFill>
        </p:spPr>
      </p:sp>
      <p:sp>
        <p:nvSpPr>
          <p:cNvPr id="13" name="Text 10">
            <a:extLst xmlns:a="http://schemas.openxmlformats.org/drawingml/2006/main">
              <a:ext uri="{FF2B5EF4-FFF2-40B4-BE49-F238E27FC236}">
                <a16:creationId xmlns:a16="http://schemas.microsoft.com/office/drawing/2014/main" id="{D525B582-4571-4EA0-84AD-A66B4E06CFDC}"/>
              </a:ext>
            </a:extLst>
          </p:cNvPr>
          <p:cNvSpPr>
            <a:spLocks xmlns:a="http://schemas.openxmlformats.org/drawingml/2006/main" noGrp="1"/>
          </p:cNvSpPr>
          <p:nvPr/>
        </p:nvSpPr>
        <p:spPr>
          <a:xfrm xmlns:a="http://schemas.openxmlformats.org/drawingml/2006/main">
            <a:off x="804672" y="482803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this is the most common business-case error at scale</a:t>
            </a:r>
            <a:endParaRPr sz="1100"/>
          </a:p>
        </p:txBody>
      </p:sp>
      <p:sp>
        <p:nvSpPr>
          <p:cNvPr id="14" name="Text 11">
            <a:extLst xmlns:a="http://schemas.openxmlformats.org/drawingml/2006/main">
              <a:ext uri="{FF2B5EF4-FFF2-40B4-BE49-F238E27FC236}">
                <a16:creationId xmlns:a16="http://schemas.microsoft.com/office/drawing/2014/main" id="{6EE4A626-A9EC-4113-B616-96365E0960C8}"/>
              </a:ext>
            </a:extLst>
          </p:cNvPr>
          <p:cNvSpPr>
            <a:spLocks xmlns:a="http://schemas.openxmlformats.org/drawingml/2006/main" noGrp="1"/>
          </p:cNvSpPr>
          <p:nvPr/>
        </p:nvSpPr>
        <p:spPr>
          <a:xfrm xmlns:a="http://schemas.openxmlformats.org/drawingml/2006/main">
            <a:off x="804672" y="5084064"/>
            <a:ext cx="10582351"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 programme costed on the linear lines looks affordable and is approved. The superlinear lines then appear as overruns in year two, get labelled delivery underperformance, and are managed by cutting scope — which raises cost per unit of change and makes the curve worse. The correct response is to reduce the integration surface, not the scope.</a:t>
            </a:r>
            <a:endParaRPr sz="990"/>
          </a:p>
        </p:txBody>
      </p:sp>
      <p:sp>
        <p:nvSpPr>
          <p:cNvPr id="15" name="Shape 12">
            <a:extLst xmlns:a="http://schemas.openxmlformats.org/drawingml/2006/main">
              <a:ext uri="{FF2B5EF4-FFF2-40B4-BE49-F238E27FC236}">
                <a16:creationId xmlns:a16="http://schemas.microsoft.com/office/drawing/2014/main" id="{7EC4C43C-6779-4497-B65A-86A27BE86BB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6" name="Text 13">
            <a:extLst xmlns:a="http://schemas.openxmlformats.org/drawingml/2006/main">
              <a:ext uri="{FF2B5EF4-FFF2-40B4-BE49-F238E27FC236}">
                <a16:creationId xmlns:a16="http://schemas.microsoft.com/office/drawing/2014/main" id="{B9D57F03-BDCB-4A5A-99AC-D9144E45B05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cost model — illustrative index, structural argument</a:t>
            </a:r>
            <a:endParaRPr sz="850"/>
          </a:p>
        </p:txBody>
      </p:sp>
      <p:sp>
        <p:nvSpPr>
          <p:cNvPr id="17" name="Text 14">
            <a:extLst xmlns:a="http://schemas.openxmlformats.org/drawingml/2006/main">
              <a:ext uri="{FF2B5EF4-FFF2-40B4-BE49-F238E27FC236}">
                <a16:creationId xmlns:a16="http://schemas.microsoft.com/office/drawing/2014/main" id="{BF8A3517-FFBD-42D3-A29C-A71A19857F5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549098932"/>
      </p:ext>
    </p:extLst>
  </p:cSld>
</p:sld>
</file>

<file path=ppt/slides/slide8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0F227D-72F2-4AA6-A250-2ECBB777361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DESIGN RULES</a:t>
            </a:r>
            <a:endParaRPr sz="950"/>
          </a:p>
        </p:txBody>
      </p:sp>
      <p:sp>
        <p:nvSpPr>
          <p:cNvPr id="3" name="Text 1">
            <a:extLst xmlns:a="http://schemas.openxmlformats.org/drawingml/2006/main">
              <a:ext uri="{FF2B5EF4-FFF2-40B4-BE49-F238E27FC236}">
                <a16:creationId xmlns:a16="http://schemas.microsoft.com/office/drawing/2014/main" id="{60659971-E569-429A-B381-857F5B29A1E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Seven rules that are optional below 50,000 users and non-negotiable above it</a:t>
            </a:r>
            <a:endParaRPr sz="1900"/>
          </a:p>
        </p:txBody>
      </p:sp>
      <p:sp>
        <p:nvSpPr>
          <p:cNvPr id="4" name="Shape 2">
            <a:extLst xmlns:a="http://schemas.openxmlformats.org/drawingml/2006/main">
              <a:ext uri="{FF2B5EF4-FFF2-40B4-BE49-F238E27FC236}">
                <a16:creationId xmlns:a16="http://schemas.microsoft.com/office/drawing/2014/main" id="{DF907D82-0369-4BB6-8AE5-3F69B5F0EBDA}"/>
              </a:ext>
            </a:extLst>
          </p:cNvPr>
          <p:cNvSpPr>
            <a:spLocks xmlns:a="http://schemas.openxmlformats.org/drawingml/2006/main" noGrp="1"/>
          </p:cNvSpPr>
          <p:nvPr/>
        </p:nvSpPr>
        <p:spPr>
          <a:xfrm xmlns:a="http://schemas.openxmlformats.org/drawingml/2006/main">
            <a:off x="566928" y="1335024"/>
            <a:ext cx="5391760" cy="950976"/>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FD6D81F1-5D21-42E6-8DA6-DC1C7549C209}"/>
              </a:ext>
            </a:extLst>
          </p:cNvPr>
          <p:cNvSpPr>
            <a:spLocks xmlns:a="http://schemas.openxmlformats.org/drawingml/2006/main" noGrp="1"/>
          </p:cNvSpPr>
          <p:nvPr/>
        </p:nvSpPr>
        <p:spPr>
          <a:xfrm xmlns:a="http://schemas.openxmlformats.org/drawingml/2006/main">
            <a:off x="786384" y="148132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Contract-first interfaces</a:t>
            </a:r>
            <a:endParaRPr sz="1150"/>
          </a:p>
        </p:txBody>
      </p:sp>
      <p:sp>
        <p:nvSpPr>
          <p:cNvPr id="6" name="Text 4">
            <a:extLst xmlns:a="http://schemas.openxmlformats.org/drawingml/2006/main">
              <a:ext uri="{FF2B5EF4-FFF2-40B4-BE49-F238E27FC236}">
                <a16:creationId xmlns:a16="http://schemas.microsoft.com/office/drawing/2014/main" id="{F71B1397-13DE-4308-BF5B-5995EDBFF3B2}"/>
              </a:ext>
            </a:extLst>
          </p:cNvPr>
          <p:cNvSpPr>
            <a:spLocks xmlns:a="http://schemas.openxmlformats.org/drawingml/2006/main" noGrp="1"/>
          </p:cNvSpPr>
          <p:nvPr/>
        </p:nvSpPr>
        <p:spPr>
          <a:xfrm xmlns:a="http://schemas.openxmlformats.org/drawingml/2006/main">
            <a:off x="786384" y="1755648"/>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Every interface versioned, owned and independently testable. No interface enters production without a named owner and an automated contract test.</a:t>
            </a:r>
            <a:endParaRPr sz="960"/>
          </a:p>
        </p:txBody>
      </p:sp>
      <p:sp>
        <p:nvSpPr>
          <p:cNvPr id="7" name="Shape 5">
            <a:extLst xmlns:a="http://schemas.openxmlformats.org/drawingml/2006/main">
              <a:ext uri="{FF2B5EF4-FFF2-40B4-BE49-F238E27FC236}">
                <a16:creationId xmlns:a16="http://schemas.microsoft.com/office/drawing/2014/main" id="{25DA1794-34BD-4B02-B819-3A223230311F}"/>
              </a:ext>
            </a:extLst>
          </p:cNvPr>
          <p:cNvSpPr>
            <a:spLocks xmlns:a="http://schemas.openxmlformats.org/drawingml/2006/main" noGrp="1"/>
          </p:cNvSpPr>
          <p:nvPr/>
        </p:nvSpPr>
        <p:spPr>
          <a:xfrm xmlns:a="http://schemas.openxmlformats.org/drawingml/2006/main">
            <a:off x="6233008" y="1335024"/>
            <a:ext cx="5391760" cy="950976"/>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CC42CC06-00B9-4E1B-8CA5-4D5D1C46B2FE}"/>
              </a:ext>
            </a:extLst>
          </p:cNvPr>
          <p:cNvSpPr>
            <a:spLocks xmlns:a="http://schemas.openxmlformats.org/drawingml/2006/main" noGrp="1"/>
          </p:cNvSpPr>
          <p:nvPr/>
        </p:nvSpPr>
        <p:spPr>
          <a:xfrm xmlns:a="http://schemas.openxmlformats.org/drawingml/2006/main">
            <a:off x="6452464" y="148132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One object model, varied policy</a:t>
            </a:r>
            <a:endParaRPr sz="1150"/>
          </a:p>
        </p:txBody>
      </p:sp>
      <p:sp>
        <p:nvSpPr>
          <p:cNvPr id="9" name="Text 7">
            <a:extLst xmlns:a="http://schemas.openxmlformats.org/drawingml/2006/main">
              <a:ext uri="{FF2B5EF4-FFF2-40B4-BE49-F238E27FC236}">
                <a16:creationId xmlns:a16="http://schemas.microsoft.com/office/drawing/2014/main" id="{1E6DF5A9-03ED-4412-942B-E727FCC0AFCA}"/>
              </a:ext>
            </a:extLst>
          </p:cNvPr>
          <p:cNvSpPr>
            <a:spLocks xmlns:a="http://schemas.openxmlformats.org/drawingml/2006/main" noGrp="1"/>
          </p:cNvSpPr>
          <p:nvPr/>
        </p:nvSpPr>
        <p:spPr>
          <a:xfrm xmlns:a="http://schemas.openxmlformats.org/drawingml/2006/main">
            <a:off x="6452464" y="1755648"/>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Eight businesses and nineteen countries share one structure. Difference is expressed as configuration and policy, never as a schema fork.</a:t>
            </a:r>
            <a:endParaRPr sz="960"/>
          </a:p>
        </p:txBody>
      </p:sp>
      <p:sp>
        <p:nvSpPr>
          <p:cNvPr id="10" name="Shape 8">
            <a:extLst xmlns:a="http://schemas.openxmlformats.org/drawingml/2006/main">
              <a:ext uri="{FF2B5EF4-FFF2-40B4-BE49-F238E27FC236}">
                <a16:creationId xmlns:a16="http://schemas.microsoft.com/office/drawing/2014/main" id="{748A92FD-6E79-4ACC-BB4C-5E88DA86466E}"/>
              </a:ext>
            </a:extLst>
          </p:cNvPr>
          <p:cNvSpPr>
            <a:spLocks xmlns:a="http://schemas.openxmlformats.org/drawingml/2006/main" noGrp="1"/>
          </p:cNvSpPr>
          <p:nvPr/>
        </p:nvSpPr>
        <p:spPr>
          <a:xfrm xmlns:a="http://schemas.openxmlformats.org/drawingml/2006/main">
            <a:off x="566928" y="2432304"/>
            <a:ext cx="5391760" cy="950976"/>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D2DF30B3-D048-4E64-B842-476603844633}"/>
              </a:ext>
            </a:extLst>
          </p:cNvPr>
          <p:cNvSpPr>
            <a:spLocks xmlns:a="http://schemas.openxmlformats.org/drawingml/2006/main" noGrp="1"/>
          </p:cNvSpPr>
          <p:nvPr/>
        </p:nvSpPr>
        <p:spPr>
          <a:xfrm xmlns:a="http://schemas.openxmlformats.org/drawingml/2006/main">
            <a:off x="786384" y="257860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Residency decided before record one</a:t>
            </a:r>
            <a:endParaRPr sz="1150"/>
          </a:p>
        </p:txBody>
      </p:sp>
      <p:sp>
        <p:nvSpPr>
          <p:cNvPr id="12" name="Text 10">
            <a:extLst xmlns:a="http://schemas.openxmlformats.org/drawingml/2006/main">
              <a:ext uri="{FF2B5EF4-FFF2-40B4-BE49-F238E27FC236}">
                <a16:creationId xmlns:a16="http://schemas.microsoft.com/office/drawing/2014/main" id="{1622443F-77B6-4EEB-8EE2-9497CE053B14}"/>
              </a:ext>
            </a:extLst>
          </p:cNvPr>
          <p:cNvSpPr>
            <a:spLocks xmlns:a="http://schemas.openxmlformats.org/drawingml/2006/main" noGrp="1"/>
          </p:cNvSpPr>
          <p:nvPr/>
        </p:nvSpPr>
        <p:spPr>
          <a:xfrm xmlns:a="http://schemas.openxmlformats.org/drawingml/2006/main">
            <a:off x="786384" y="2852928"/>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Storage location and tenancy fixed before the first go-live in any jurisdiction. Retrofitting means migrating live production data under supervision.</a:t>
            </a:r>
            <a:endParaRPr sz="960"/>
          </a:p>
        </p:txBody>
      </p:sp>
      <p:sp>
        <p:nvSpPr>
          <p:cNvPr id="13" name="Shape 11">
            <a:extLst xmlns:a="http://schemas.openxmlformats.org/drawingml/2006/main">
              <a:ext uri="{FF2B5EF4-FFF2-40B4-BE49-F238E27FC236}">
                <a16:creationId xmlns:a16="http://schemas.microsoft.com/office/drawing/2014/main" id="{68AED553-7110-4A07-BC53-436E3C3F5282}"/>
              </a:ext>
            </a:extLst>
          </p:cNvPr>
          <p:cNvSpPr>
            <a:spLocks xmlns:a="http://schemas.openxmlformats.org/drawingml/2006/main" noGrp="1"/>
          </p:cNvSpPr>
          <p:nvPr/>
        </p:nvSpPr>
        <p:spPr>
          <a:xfrm xmlns:a="http://schemas.openxmlformats.org/drawingml/2006/main">
            <a:off x="6233008" y="2432304"/>
            <a:ext cx="5391760" cy="950976"/>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C702E6B4-53FA-4AB4-AFEC-58F906B175DD}"/>
              </a:ext>
            </a:extLst>
          </p:cNvPr>
          <p:cNvSpPr>
            <a:spLocks xmlns:a="http://schemas.openxmlformats.org/drawingml/2006/main" noGrp="1"/>
          </p:cNvSpPr>
          <p:nvPr/>
        </p:nvSpPr>
        <p:spPr>
          <a:xfrm xmlns:a="http://schemas.openxmlformats.org/drawingml/2006/main">
            <a:off x="6452464" y="257860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Published release allocation</a:t>
            </a:r>
            <a:endParaRPr sz="1150"/>
          </a:p>
        </p:txBody>
      </p:sp>
      <p:sp>
        <p:nvSpPr>
          <p:cNvPr id="15" name="Text 13">
            <a:extLst xmlns:a="http://schemas.openxmlformats.org/drawingml/2006/main">
              <a:ext uri="{FF2B5EF4-FFF2-40B4-BE49-F238E27FC236}">
                <a16:creationId xmlns:a16="http://schemas.microsoft.com/office/drawing/2014/main" id="{F934D4D5-DFBA-4309-89A9-D57CDFC43B58}"/>
              </a:ext>
            </a:extLst>
          </p:cNvPr>
          <p:cNvSpPr>
            <a:spLocks xmlns:a="http://schemas.openxmlformats.org/drawingml/2006/main" noGrp="1"/>
          </p:cNvSpPr>
          <p:nvPr/>
        </p:nvSpPr>
        <p:spPr>
          <a:xfrm xmlns:a="http://schemas.openxmlformats.org/drawingml/2006/main">
            <a:off x="6452464" y="2852928"/>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Change capacity allocated by rule, with a fixed reserve for platform work. Escalation-based allocation guarantees fragmentation within three years.</a:t>
            </a:r>
            <a:endParaRPr sz="960"/>
          </a:p>
        </p:txBody>
      </p:sp>
      <p:sp>
        <p:nvSpPr>
          <p:cNvPr id="16" name="Shape 14">
            <a:extLst xmlns:a="http://schemas.openxmlformats.org/drawingml/2006/main">
              <a:ext uri="{FF2B5EF4-FFF2-40B4-BE49-F238E27FC236}">
                <a16:creationId xmlns:a16="http://schemas.microsoft.com/office/drawing/2014/main" id="{DD9A4DB5-19F3-4B05-B26D-99AEEB6A323E}"/>
              </a:ext>
            </a:extLst>
          </p:cNvPr>
          <p:cNvSpPr>
            <a:spLocks xmlns:a="http://schemas.openxmlformats.org/drawingml/2006/main" noGrp="1"/>
          </p:cNvSpPr>
          <p:nvPr/>
        </p:nvSpPr>
        <p:spPr>
          <a:xfrm xmlns:a="http://schemas.openxmlformats.org/drawingml/2006/main">
            <a:off x="566928" y="3529584"/>
            <a:ext cx="5391760" cy="950976"/>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6885BC29-035B-4531-8E43-225D63B77CFD}"/>
              </a:ext>
            </a:extLst>
          </p:cNvPr>
          <p:cNvSpPr>
            <a:spLocks xmlns:a="http://schemas.openxmlformats.org/drawingml/2006/main" noGrp="1"/>
          </p:cNvSpPr>
          <p:nvPr/>
        </p:nvSpPr>
        <p:spPr>
          <a:xfrm xmlns:a="http://schemas.openxmlformats.org/drawingml/2006/main">
            <a:off x="786384" y="367588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Synchronous chains capped</a:t>
            </a:r>
            <a:endParaRPr sz="1150"/>
          </a:p>
        </p:txBody>
      </p:sp>
      <p:sp>
        <p:nvSpPr>
          <p:cNvPr id="18" name="Text 16">
            <a:extLst xmlns:a="http://schemas.openxmlformats.org/drawingml/2006/main">
              <a:ext uri="{FF2B5EF4-FFF2-40B4-BE49-F238E27FC236}">
                <a16:creationId xmlns:a16="http://schemas.microsoft.com/office/drawing/2014/main" id="{BFA5DA2C-6CDF-4C1F-9585-9646584E5960}"/>
              </a:ext>
            </a:extLst>
          </p:cNvPr>
          <p:cNvSpPr>
            <a:spLocks xmlns:a="http://schemas.openxmlformats.org/drawingml/2006/main" noGrp="1"/>
          </p:cNvSpPr>
          <p:nvPr/>
        </p:nvSpPr>
        <p:spPr>
          <a:xfrm xmlns:a="http://schemas.openxmlformats.org/drawingml/2006/main">
            <a:off x="786384" y="3950208"/>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No user action may depend on more than a bounded number of real-time hops. Beyond that, the CRM inherits the availability of everything behind it.</a:t>
            </a:r>
            <a:endParaRPr sz="960"/>
          </a:p>
        </p:txBody>
      </p:sp>
      <p:sp>
        <p:nvSpPr>
          <p:cNvPr id="19" name="Shape 17">
            <a:extLst xmlns:a="http://schemas.openxmlformats.org/drawingml/2006/main">
              <a:ext uri="{FF2B5EF4-FFF2-40B4-BE49-F238E27FC236}">
                <a16:creationId xmlns:a16="http://schemas.microsoft.com/office/drawing/2014/main" id="{211AE31E-FD13-405C-911E-7E8928AA4D31}"/>
              </a:ext>
            </a:extLst>
          </p:cNvPr>
          <p:cNvSpPr>
            <a:spLocks xmlns:a="http://schemas.openxmlformats.org/drawingml/2006/main" noGrp="1"/>
          </p:cNvSpPr>
          <p:nvPr/>
        </p:nvSpPr>
        <p:spPr>
          <a:xfrm xmlns:a="http://schemas.openxmlformats.org/drawingml/2006/main">
            <a:off x="6233008" y="3529584"/>
            <a:ext cx="5391760" cy="950976"/>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8A115248-579F-41AB-B71F-03B15CCB3886}"/>
              </a:ext>
            </a:extLst>
          </p:cNvPr>
          <p:cNvSpPr>
            <a:spLocks xmlns:a="http://schemas.openxmlformats.org/drawingml/2006/main" noGrp="1"/>
          </p:cNvSpPr>
          <p:nvPr/>
        </p:nvSpPr>
        <p:spPr>
          <a:xfrm xmlns:a="http://schemas.openxmlformats.org/drawingml/2006/main">
            <a:off x="6452464" y="3675888"/>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Reconciliation as a first-class control</a:t>
            </a:r>
            <a:endParaRPr sz="1150"/>
          </a:p>
        </p:txBody>
      </p:sp>
      <p:sp>
        <p:nvSpPr>
          <p:cNvPr id="21" name="Text 19">
            <a:extLst xmlns:a="http://schemas.openxmlformats.org/drawingml/2006/main">
              <a:ext uri="{FF2B5EF4-FFF2-40B4-BE49-F238E27FC236}">
                <a16:creationId xmlns:a16="http://schemas.microsoft.com/office/drawing/2014/main" id="{731C4A4C-7939-47A8-A891-DA2DA8BE346A}"/>
              </a:ext>
            </a:extLst>
          </p:cNvPr>
          <p:cNvSpPr>
            <a:spLocks xmlns:a="http://schemas.openxmlformats.org/drawingml/2006/main" noGrp="1"/>
          </p:cNvSpPr>
          <p:nvPr/>
        </p:nvSpPr>
        <p:spPr>
          <a:xfrm xmlns:a="http://schemas.openxmlformats.org/drawingml/2006/main">
            <a:off x="6452464" y="3950208"/>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Table-to-table interfaces fail silently. Every one needs a scheduled reconciliation and an owner, not an alert nobody reads.</a:t>
            </a:r>
            <a:endParaRPr sz="960"/>
          </a:p>
        </p:txBody>
      </p:sp>
      <p:sp>
        <p:nvSpPr>
          <p:cNvPr id="22" name="Shape 20">
            <a:extLst xmlns:a="http://schemas.openxmlformats.org/drawingml/2006/main">
              <a:ext uri="{FF2B5EF4-FFF2-40B4-BE49-F238E27FC236}">
                <a16:creationId xmlns:a16="http://schemas.microsoft.com/office/drawing/2014/main" id="{B7BE1EDD-3455-4E98-BC98-3D25C6738B41}"/>
              </a:ext>
            </a:extLst>
          </p:cNvPr>
          <p:cNvSpPr>
            <a:spLocks xmlns:a="http://schemas.openxmlformats.org/drawingml/2006/main" noGrp="1"/>
          </p:cNvSpPr>
          <p:nvPr/>
        </p:nvSpPr>
        <p:spPr>
          <a:xfrm xmlns:a="http://schemas.openxmlformats.org/drawingml/2006/main">
            <a:off x="566928" y="4626864"/>
            <a:ext cx="11057839" cy="950976"/>
          </a:xfrm>
          <a:prstGeom xmlns:a="http://schemas.openxmlformats.org/drawingml/2006/main" prst="rect">
            <a:avLst/>
          </a:prstGeom>
          <a:solidFill xmlns:a="http://schemas.openxmlformats.org/drawingml/2006/main">
            <a:srgbClr val="F3E6E0"/>
          </a:solidFill>
        </p:spPr>
      </p:sp>
      <p:sp>
        <p:nvSpPr>
          <p:cNvPr id="23" name="Text 21">
            <a:extLst xmlns:a="http://schemas.openxmlformats.org/drawingml/2006/main">
              <a:ext uri="{FF2B5EF4-FFF2-40B4-BE49-F238E27FC236}">
                <a16:creationId xmlns:a16="http://schemas.microsoft.com/office/drawing/2014/main" id="{A2CF7FCA-176E-4F1B-937B-88E70B8F91C2}"/>
              </a:ext>
            </a:extLst>
          </p:cNvPr>
          <p:cNvSpPr>
            <a:spLocks xmlns:a="http://schemas.openxmlformats.org/drawingml/2006/main" noGrp="1"/>
          </p:cNvSpPr>
          <p:nvPr/>
        </p:nvSpPr>
        <p:spPr>
          <a:xfrm xmlns:a="http://schemas.openxmlformats.org/drawingml/2006/main">
            <a:off x="786384" y="4773168"/>
            <a:ext cx="10618927"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B04A25"/>
                </a:solidFill>
                <a:latin typeface="Arial"/>
                <a:ea typeface="Arial"/>
                <a:cs typeface="Arial"/>
              </a:rPr>
              <a:t>Hardest regulator first</a:t>
            </a:r>
            <a:endParaRPr sz="1150"/>
          </a:p>
        </p:txBody>
      </p:sp>
      <p:sp>
        <p:nvSpPr>
          <p:cNvPr id="24" name="Text 22">
            <a:extLst xmlns:a="http://schemas.openxmlformats.org/drawingml/2006/main">
              <a:ext uri="{FF2B5EF4-FFF2-40B4-BE49-F238E27FC236}">
                <a16:creationId xmlns:a16="http://schemas.microsoft.com/office/drawing/2014/main" id="{A76DA7A1-396C-4F03-8ED2-0349EF2229C2}"/>
              </a:ext>
            </a:extLst>
          </p:cNvPr>
          <p:cNvSpPr>
            <a:spLocks xmlns:a="http://schemas.openxmlformats.org/drawingml/2006/main" noGrp="1"/>
          </p:cNvSpPr>
          <p:nvPr/>
        </p:nvSpPr>
        <p:spPr>
          <a:xfrm xmlns:a="http://schemas.openxmlformats.org/drawingml/2006/main">
            <a:off x="786384" y="5047488"/>
            <a:ext cx="10618927"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80">
                <a:solidFill>
                  <a:srgbClr val="1A1A1A"/>
                </a:solidFill>
                <a:latin typeface="Arial"/>
                <a:ea typeface="Arial"/>
                <a:cs typeface="Arial"/>
              </a:rPr>
              <a:t>Sequence go-lives so the strictest jurisdiction is early. Designing for the easiest and generalising later is the most expensive possible order.</a:t>
            </a:r>
            <a:endParaRPr sz="980"/>
          </a:p>
        </p:txBody>
      </p:sp>
      <p:sp>
        <p:nvSpPr>
          <p:cNvPr id="25" name="Shape 23">
            <a:extLst xmlns:a="http://schemas.openxmlformats.org/drawingml/2006/main">
              <a:ext uri="{FF2B5EF4-FFF2-40B4-BE49-F238E27FC236}">
                <a16:creationId xmlns:a16="http://schemas.microsoft.com/office/drawing/2014/main" id="{1B83B9A3-EBD9-4933-8D02-07D689DDB91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6" name="Text 24">
            <a:extLst xmlns:a="http://schemas.openxmlformats.org/drawingml/2006/main">
              <a:ext uri="{FF2B5EF4-FFF2-40B4-BE49-F238E27FC236}">
                <a16:creationId xmlns:a16="http://schemas.microsoft.com/office/drawing/2014/main" id="{224B8968-CFB5-4B22-B5B1-8CD6EF85AF3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the reference deployment</a:t>
            </a:r>
            <a:endParaRPr sz="850"/>
          </a:p>
        </p:txBody>
      </p:sp>
      <p:sp>
        <p:nvSpPr>
          <p:cNvPr id="27" name="Text 25">
            <a:extLst xmlns:a="http://schemas.openxmlformats.org/drawingml/2006/main">
              <a:ext uri="{FF2B5EF4-FFF2-40B4-BE49-F238E27FC236}">
                <a16:creationId xmlns:a16="http://schemas.microsoft.com/office/drawing/2014/main" id="{A733BC19-702D-4A25-8408-50ADE6CC409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49695556"/>
      </p:ext>
    </p:extLst>
  </p:cSld>
</p:sld>
</file>

<file path=ppt/slides/slide8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FC2476-2D30-4CA1-97DF-92BABE63A9E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0865553A-23CA-4168-BDBD-FD3989657BF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judgements that carry to any platform above this threshold</a:t>
            </a:r>
            <a:endParaRPr sz="1900"/>
          </a:p>
        </p:txBody>
      </p:sp>
      <p:sp>
        <p:nvSpPr>
          <p:cNvPr id="4" name="Text 2">
            <a:extLst xmlns:a="http://schemas.openxmlformats.org/drawingml/2006/main">
              <a:ext uri="{FF2B5EF4-FFF2-40B4-BE49-F238E27FC236}">
                <a16:creationId xmlns:a16="http://schemas.microsoft.com/office/drawing/2014/main" id="{FEF949C4-BE1B-4B64-935C-C3CBC209F716}"/>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AE6452A6-301B-4811-9068-F68399970730}"/>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Size the surface, not the seats</a:t>
            </a:r>
            <a:endParaRPr sz="1200"/>
          </a:p>
        </p:txBody>
      </p:sp>
      <p:sp>
        <p:nvSpPr>
          <p:cNvPr id="6" name="Text 4">
            <a:extLst xmlns:a="http://schemas.openxmlformats.org/drawingml/2006/main">
              <a:ext uri="{FF2B5EF4-FFF2-40B4-BE49-F238E27FC236}">
                <a16:creationId xmlns:a16="http://schemas.microsoft.com/office/drawing/2014/main" id="{984BA294-F1F7-44EC-9F3D-802F8835EBDA}"/>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User count is the cheapest constraint to solve and the one every business case leads with. Interface count determines regression scope, release cadence and, eventually, whether the platform can change at all.</a:t>
            </a:r>
            <a:endParaRPr sz="1000"/>
          </a:p>
        </p:txBody>
      </p:sp>
      <p:sp>
        <p:nvSpPr>
          <p:cNvPr id="7" name="Shape 5">
            <a:extLst xmlns:a="http://schemas.openxmlformats.org/drawingml/2006/main">
              <a:ext uri="{FF2B5EF4-FFF2-40B4-BE49-F238E27FC236}">
                <a16:creationId xmlns:a16="http://schemas.microsoft.com/office/drawing/2014/main" id="{83427F82-3A0E-406B-8414-9C61911FFD56}"/>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680CFA2B-AF23-4584-A585-C210E31AF517}"/>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F23E6D21-F1EA-4D1D-BED7-A7C97CE6A84D}"/>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Decide the irreversible things first</a:t>
            </a:r>
            <a:endParaRPr sz="1200"/>
          </a:p>
        </p:txBody>
      </p:sp>
      <p:sp>
        <p:nvSpPr>
          <p:cNvPr id="10" name="Text 8">
            <a:extLst xmlns:a="http://schemas.openxmlformats.org/drawingml/2006/main">
              <a:ext uri="{FF2B5EF4-FFF2-40B4-BE49-F238E27FC236}">
                <a16:creationId xmlns:a16="http://schemas.microsoft.com/office/drawing/2014/main" id="{B04B6CD7-288C-4344-AF30-15E845D272BD}"/>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Residency, tenancy and the object model cannot be revisited after the first go-live. Everything else can. Sequence design attention accordingly rather than by what is most visible.</a:t>
            </a:r>
            <a:endParaRPr sz="1000"/>
          </a:p>
        </p:txBody>
      </p:sp>
      <p:sp>
        <p:nvSpPr>
          <p:cNvPr id="11" name="Shape 9">
            <a:extLst xmlns:a="http://schemas.openxmlformats.org/drawingml/2006/main">
              <a:ext uri="{FF2B5EF4-FFF2-40B4-BE49-F238E27FC236}">
                <a16:creationId xmlns:a16="http://schemas.microsoft.com/office/drawing/2014/main" id="{01B913CF-5E60-40F2-8C7C-CFCA8EF15314}"/>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9534EF70-A250-4FE2-8C4A-5751B29D745D}"/>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B77F8B4E-F6F3-492A-ACF9-AE463AA9114A}"/>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Allocate change capacity by rule</a:t>
            </a:r>
            <a:endParaRPr sz="1200"/>
          </a:p>
        </p:txBody>
      </p:sp>
      <p:sp>
        <p:nvSpPr>
          <p:cNvPr id="14" name="Text 12">
            <a:extLst xmlns:a="http://schemas.openxmlformats.org/drawingml/2006/main">
              <a:ext uri="{FF2B5EF4-FFF2-40B4-BE49-F238E27FC236}">
                <a16:creationId xmlns:a16="http://schemas.microsoft.com/office/drawing/2014/main" id="{C3935146-9255-46AD-BE82-74B026FDB6A9}"/>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At eight businesses on one release train, capacity is a contested shared resource. A published allocation rule with a platform reserve is what prevents the fork.</a:t>
            </a:r>
            <a:endParaRPr sz="1000"/>
          </a:p>
        </p:txBody>
      </p:sp>
      <p:sp>
        <p:nvSpPr>
          <p:cNvPr id="15" name="Shape 13">
            <a:extLst xmlns:a="http://schemas.openxmlformats.org/drawingml/2006/main">
              <a:ext uri="{FF2B5EF4-FFF2-40B4-BE49-F238E27FC236}">
                <a16:creationId xmlns:a16="http://schemas.microsoft.com/office/drawing/2014/main" id="{A1AAF348-3765-49C6-ABE5-5F4D24215521}"/>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DEAF5CF4-92EE-4DD2-A3E7-A8E413755E34}"/>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56EF6206-68B3-44E3-916A-C0942B734DC7}"/>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Design for the strictest regulator</a:t>
            </a:r>
            <a:endParaRPr sz="1200"/>
          </a:p>
        </p:txBody>
      </p:sp>
      <p:sp>
        <p:nvSpPr>
          <p:cNvPr id="18" name="Text 16">
            <a:extLst xmlns:a="http://schemas.openxmlformats.org/drawingml/2006/main">
              <a:ext uri="{FF2B5EF4-FFF2-40B4-BE49-F238E27FC236}">
                <a16:creationId xmlns:a16="http://schemas.microsoft.com/office/drawing/2014/main" id="{928A490C-3EA2-4F9F-8FE6-25BC89A38EB9}"/>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Then relax by exception, and sequence the hardest jurisdiction early. Designing for the easiest and generalising later is the most expensive order available.</a:t>
            </a:r>
            <a:endParaRPr sz="1000"/>
          </a:p>
        </p:txBody>
      </p:sp>
      <p:sp>
        <p:nvSpPr>
          <p:cNvPr id="19" name="Shape 17">
            <a:extLst xmlns:a="http://schemas.openxmlformats.org/drawingml/2006/main">
              <a:ext uri="{FF2B5EF4-FFF2-40B4-BE49-F238E27FC236}">
                <a16:creationId xmlns:a16="http://schemas.microsoft.com/office/drawing/2014/main" id="{3084F078-0E1F-4CDF-BCD6-026BFE4A8196}"/>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BD417BB4-547F-4C8B-A13F-2F5333D8058B}"/>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None of the four is a technology choice. All four are decided in the first quarter of a programme and determine its cost in year three.</a:t>
            </a:r>
            <a:endParaRPr sz="1200"/>
          </a:p>
        </p:txBody>
      </p:sp>
      <p:sp>
        <p:nvSpPr>
          <p:cNvPr id="21" name="Shape 19">
            <a:extLst xmlns:a="http://schemas.openxmlformats.org/drawingml/2006/main">
              <a:ext uri="{FF2B5EF4-FFF2-40B4-BE49-F238E27FC236}">
                <a16:creationId xmlns:a16="http://schemas.microsoft.com/office/drawing/2014/main" id="{B56A3CF3-9C8A-4A27-88E6-379105DF468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FE802C88-32DB-4C9A-88C4-ABC249BD11D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the reference deployment</a:t>
            </a:r>
            <a:endParaRPr sz="850"/>
          </a:p>
        </p:txBody>
      </p:sp>
      <p:sp>
        <p:nvSpPr>
          <p:cNvPr id="23" name="Text 21">
            <a:extLst xmlns:a="http://schemas.openxmlformats.org/drawingml/2006/main">
              <a:ext uri="{FF2B5EF4-FFF2-40B4-BE49-F238E27FC236}">
                <a16:creationId xmlns:a16="http://schemas.microsoft.com/office/drawing/2014/main" id="{EB8475F8-3324-4BA5-873B-0E2AB8BCA1D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11</a:t>
            </a:r>
            <a:endParaRPr sz="850"/>
          </a:p>
        </p:txBody>
      </p:sp>
    </p:spTree>
    <p:extLst>
      <p:ext uri="{BB962C8B-B14F-4D97-AF65-F5344CB8AC3E}">
        <p14:creationId xmlns:p14="http://schemas.microsoft.com/office/powerpoint/2010/main" val="281842276"/>
      </p:ext>
    </p:extLst>
  </p:cSld>
</p:sld>
</file>

<file path=ppt/slides/slide85.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43D67FE-5640-430C-B94A-D3EE05E0FE12}"/>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METHOD  ·  05 OF 30</a:t>
            </a:r>
            <a:endParaRPr sz="950"/>
          </a:p>
        </p:txBody>
      </p:sp>
      <p:sp>
        <p:nvSpPr>
          <p:cNvPr id="3" name="Text 1">
            <a:extLst xmlns:a="http://schemas.openxmlformats.org/drawingml/2006/main">
              <a:ext uri="{FF2B5EF4-FFF2-40B4-BE49-F238E27FC236}">
                <a16:creationId xmlns:a16="http://schemas.microsoft.com/office/drawing/2014/main" id="{1E98C4E3-8EB9-4B3D-84B4-42999A407581}"/>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Enterprise AI Platform RFP</a:t>
            </a:r>
            <a:endParaRPr sz="3800"/>
          </a:p>
        </p:txBody>
      </p:sp>
      <p:sp>
        <p:nvSpPr>
          <p:cNvPr id="4" name="Text 2">
            <a:extLst xmlns:a="http://schemas.openxmlformats.org/drawingml/2006/main">
              <a:ext uri="{FF2B5EF4-FFF2-40B4-BE49-F238E27FC236}">
                <a16:creationId xmlns:a16="http://schemas.microsoft.com/office/drawing/2014/main" id="{4F7C5566-F280-4126-97E8-F3E06A71CD7F}"/>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Reading an enterprise AI RFP like an evaluator, not a bidder</a:t>
            </a:r>
            <a:endParaRPr sz="1800"/>
          </a:p>
        </p:txBody>
      </p:sp>
      <p:sp>
        <p:nvSpPr>
          <p:cNvPr id="5" name="Text 3">
            <a:extLst xmlns:a="http://schemas.openxmlformats.org/drawingml/2006/main">
              <a:ext uri="{FF2B5EF4-FFF2-40B4-BE49-F238E27FC236}">
                <a16:creationId xmlns:a16="http://schemas.microsoft.com/office/drawing/2014/main" id="{E8417AA5-2E19-4212-82E9-145983F0D4B8}"/>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worked deconstruction of a multi-year, SI-scale enterprise AI tender at India's largest bank — reverse-engineering the scoring sheet before writing a word of response.</a:t>
            </a:r>
            <a:endParaRPr sz="1150"/>
          </a:p>
        </p:txBody>
      </p:sp>
      <p:sp>
        <p:nvSpPr>
          <p:cNvPr id="6" name="Shape 4">
            <a:extLst xmlns:a="http://schemas.openxmlformats.org/drawingml/2006/main">
              <a:ext uri="{FF2B5EF4-FFF2-40B4-BE49-F238E27FC236}">
                <a16:creationId xmlns:a16="http://schemas.microsoft.com/office/drawing/2014/main" id="{04DD784F-929C-40A2-904B-1C2E100F0E91}"/>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BEC31A37-F889-4304-AA0A-1D88C85303A0}"/>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 + 2</a:t>
            </a:r>
            <a:endParaRPr sz="2600"/>
          </a:p>
        </p:txBody>
      </p:sp>
      <p:sp>
        <p:nvSpPr>
          <p:cNvPr id="8" name="Text 6">
            <a:extLst xmlns:a="http://schemas.openxmlformats.org/drawingml/2006/main">
              <a:ext uri="{FF2B5EF4-FFF2-40B4-BE49-F238E27FC236}">
                <a16:creationId xmlns:a16="http://schemas.microsoft.com/office/drawing/2014/main" id="{D038D2EB-E133-42E6-9711-13E34ACBB87D}"/>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year term</a:t>
            </a:r>
            <a:endParaRPr sz="900"/>
          </a:p>
        </p:txBody>
      </p:sp>
      <p:sp>
        <p:nvSpPr>
          <p:cNvPr id="9" name="Text 7">
            <a:extLst xmlns:a="http://schemas.openxmlformats.org/drawingml/2006/main">
              <a:ext uri="{FF2B5EF4-FFF2-40B4-BE49-F238E27FC236}">
                <a16:creationId xmlns:a16="http://schemas.microsoft.com/office/drawing/2014/main" id="{999EAB78-ACD1-4357-AD10-8EB2306CF368}"/>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~75</a:t>
            </a:r>
            <a:endParaRPr sz="2600"/>
          </a:p>
        </p:txBody>
      </p:sp>
      <p:sp>
        <p:nvSpPr>
          <p:cNvPr id="10" name="Text 8">
            <a:extLst xmlns:a="http://schemas.openxmlformats.org/drawingml/2006/main">
              <a:ext uri="{FF2B5EF4-FFF2-40B4-BE49-F238E27FC236}">
                <a16:creationId xmlns:a16="http://schemas.microsoft.com/office/drawing/2014/main" id="{7815B99F-7B1B-46FE-AEAD-C58C5E86FDE8}"/>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AI use cases</a:t>
            </a:r>
            <a:endParaRPr sz="900"/>
          </a:p>
        </p:txBody>
      </p:sp>
      <p:sp>
        <p:nvSpPr>
          <p:cNvPr id="11" name="Text 9">
            <a:extLst xmlns:a="http://schemas.openxmlformats.org/drawingml/2006/main">
              <a:ext uri="{FF2B5EF4-FFF2-40B4-BE49-F238E27FC236}">
                <a16:creationId xmlns:a16="http://schemas.microsoft.com/office/drawing/2014/main" id="{AB460E8A-0FCB-4755-9081-24515E2F3247}"/>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80:20</a:t>
            </a:r>
            <a:endParaRPr sz="2600"/>
          </a:p>
        </p:txBody>
      </p:sp>
      <p:sp>
        <p:nvSpPr>
          <p:cNvPr id="12" name="Text 10">
            <a:extLst xmlns:a="http://schemas.openxmlformats.org/drawingml/2006/main">
              <a:ext uri="{FF2B5EF4-FFF2-40B4-BE49-F238E27FC236}">
                <a16:creationId xmlns:a16="http://schemas.microsoft.com/office/drawing/2014/main" id="{865ACB2C-E8B4-41E9-98B3-E5E7AB4027AF}"/>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QCBS weighting</a:t>
            </a:r>
            <a:endParaRPr sz="900"/>
          </a:p>
        </p:txBody>
      </p:sp>
      <p:sp>
        <p:nvSpPr>
          <p:cNvPr id="13" name="Text 11">
            <a:extLst xmlns:a="http://schemas.openxmlformats.org/drawingml/2006/main">
              <a:ext uri="{FF2B5EF4-FFF2-40B4-BE49-F238E27FC236}">
                <a16:creationId xmlns:a16="http://schemas.microsoft.com/office/drawing/2014/main" id="{1399AB8F-B7B3-4288-B87B-21593F844399}"/>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70%</a:t>
            </a:r>
            <a:endParaRPr sz="2600"/>
          </a:p>
        </p:txBody>
      </p:sp>
      <p:sp>
        <p:nvSpPr>
          <p:cNvPr id="14" name="Text 12">
            <a:extLst xmlns:a="http://schemas.openxmlformats.org/drawingml/2006/main">
              <a:ext uri="{FF2B5EF4-FFF2-40B4-BE49-F238E27FC236}">
                <a16:creationId xmlns:a16="http://schemas.microsoft.com/office/drawing/2014/main" id="{571B3250-33B9-4C35-B5C3-8BA8B4245D65}"/>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technical qualifying bar</a:t>
            </a:r>
            <a:endParaRPr sz="900"/>
          </a:p>
        </p:txBody>
      </p:sp>
      <p:sp>
        <p:nvSpPr>
          <p:cNvPr id="15" name="Text 13">
            <a:extLst xmlns:a="http://schemas.openxmlformats.org/drawingml/2006/main">
              <a:ext uri="{FF2B5EF4-FFF2-40B4-BE49-F238E27FC236}">
                <a16:creationId xmlns:a16="http://schemas.microsoft.com/office/drawing/2014/main" id="{63187AED-2592-4874-B8CA-D4CD5DD77384}"/>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≈130</a:t>
            </a:r>
            <a:endParaRPr sz="2600"/>
          </a:p>
        </p:txBody>
      </p:sp>
      <p:sp>
        <p:nvSpPr>
          <p:cNvPr id="16" name="Text 14">
            <a:extLst xmlns:a="http://schemas.openxmlformats.org/drawingml/2006/main">
              <a:ext uri="{FF2B5EF4-FFF2-40B4-BE49-F238E27FC236}">
                <a16:creationId xmlns:a16="http://schemas.microsoft.com/office/drawing/2014/main" id="{AE77A485-D7B2-461B-9651-55F38C3FF5C6}"/>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technical marks</a:t>
            </a:r>
            <a:endParaRPr sz="900"/>
          </a:p>
        </p:txBody>
      </p:sp>
      <p:sp>
        <p:nvSpPr>
          <p:cNvPr id="17" name="Text 15">
            <a:extLst xmlns:a="http://schemas.openxmlformats.org/drawingml/2006/main">
              <a:ext uri="{FF2B5EF4-FFF2-40B4-BE49-F238E27FC236}">
                <a16:creationId xmlns:a16="http://schemas.microsoft.com/office/drawing/2014/main" id="{8A7D09A6-53E7-447A-9C3C-B8C7F1937B10}"/>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14</a:t>
            </a:r>
            <a:endParaRPr sz="2600"/>
          </a:p>
        </p:txBody>
      </p:sp>
      <p:sp>
        <p:nvSpPr>
          <p:cNvPr id="18" name="Text 16">
            <a:extLst xmlns:a="http://schemas.openxmlformats.org/drawingml/2006/main">
              <a:ext uri="{FF2B5EF4-FFF2-40B4-BE49-F238E27FC236}">
                <a16:creationId xmlns:a16="http://schemas.microsoft.com/office/drawing/2014/main" id="{4F1B824A-672C-44EE-9846-819F87824FA6}"/>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organisations at</a:t>
            </a:r>
            <a:endParaRPr sz="900"/>
          </a:p>
          <a:p xmlns:a="http://schemas.openxmlformats.org/drawingml/2006/main">
            <a:pPr marL="0" indent="0">
              <a:lnSpc>
                <a:spcPts val="1100"/>
              </a:lnSpc>
              <a:buNone/>
            </a:pPr>
            <a:r>
              <a:rPr sz="900">
                <a:solidFill>
                  <a:srgbClr val="8FA9C4"/>
                </a:solidFill>
                <a:latin typeface="Arial"/>
                <a:ea typeface="Arial"/>
                <a:cs typeface="Arial"/>
              </a:rPr>
              <a:t>pre-bid</a:t>
            </a:r>
            <a:endParaRPr sz="900"/>
          </a:p>
        </p:txBody>
      </p:sp>
      <p:sp>
        <p:nvSpPr>
          <p:cNvPr id="19" name="Shape 17">
            <a:extLst xmlns:a="http://schemas.openxmlformats.org/drawingml/2006/main">
              <a:ext uri="{FF2B5EF4-FFF2-40B4-BE49-F238E27FC236}">
                <a16:creationId xmlns:a16="http://schemas.microsoft.com/office/drawing/2014/main" id="{A275E20E-91E8-45B3-80B7-E8353F52605D}"/>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57468699-777E-4DED-B8E3-3A5850396D80}"/>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TENDER PARAMETERS  ·  PUBLISHED IN THE RFP AND PRE-BID MINUTES</a:t>
            </a:r>
            <a:endParaRPr sz="800"/>
          </a:p>
        </p:txBody>
      </p:sp>
      <p:sp>
        <p:nvSpPr>
          <p:cNvPr id="21" name="Text 19">
            <a:extLst xmlns:a="http://schemas.openxmlformats.org/drawingml/2006/main">
              <a:ext uri="{FF2B5EF4-FFF2-40B4-BE49-F238E27FC236}">
                <a16:creationId xmlns:a16="http://schemas.microsoft.com/office/drawing/2014/main" id="{FCD4E489-A4A5-4862-9230-E2A7989D9A09}"/>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On-premise AI platform    ·    ~75 GenAI and agentic use cases    ·    150–200 staff trained    ·    managed services and capability transfer</a:t>
            </a:r>
            <a:endParaRPr sz="1050"/>
          </a:p>
        </p:txBody>
      </p:sp>
      <p:sp>
        <p:nvSpPr>
          <p:cNvPr id="22" name="Text 20">
            <a:extLst xmlns:a="http://schemas.openxmlformats.org/drawingml/2006/main">
              <a:ext uri="{FF2B5EF4-FFF2-40B4-BE49-F238E27FC236}">
                <a16:creationId xmlns:a16="http://schemas.microsoft.com/office/drawing/2014/main" id="{2AB6B5DD-723D-4778-9D9D-F922830BB49D}"/>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Bid analysis authored for leadership bid / no-bid review  ·  2026</a:t>
            </a:r>
            <a:endParaRPr sz="1200"/>
          </a:p>
        </p:txBody>
      </p:sp>
      <p:sp>
        <p:nvSpPr>
          <p:cNvPr id="23" name="Text 21">
            <a:extLst xmlns:a="http://schemas.openxmlformats.org/drawingml/2006/main">
              <a:ext uri="{FF2B5EF4-FFF2-40B4-BE49-F238E27FC236}">
                <a16:creationId xmlns:a16="http://schemas.microsoft.com/office/drawing/2014/main" id="{E1C88813-8702-468B-9A65-A1629A073EF1}"/>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Bank, vendor and platform names removed. Built from published tender documents; no confidential bid material is reproduced.</a:t>
            </a:r>
            <a:endParaRPr sz="850"/>
          </a:p>
        </p:txBody>
      </p:sp>
    </p:spTree>
    <p:extLst>
      <p:ext uri="{BB962C8B-B14F-4D97-AF65-F5344CB8AC3E}">
        <p14:creationId xmlns:p14="http://schemas.microsoft.com/office/powerpoint/2010/main" val="1423993229"/>
      </p:ext>
    </p:extLst>
  </p:cSld>
</p:sld>
</file>

<file path=ppt/slides/slide8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DE8CE-12F7-4334-93C9-7A3E5EE82BC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813A8600-53EF-4AA1-8C77-0EEEF8A49D7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Most bid teams read an RFP as a list of requirements — an evaluator reads it as a</a:t>
            </a:r>
            <a:endParaRPr sz="1900"/>
          </a:p>
          <a:p xmlns:a="http://schemas.openxmlformats.org/drawingml/2006/main">
            <a:pPr marL="0" indent="0">
              <a:lnSpc>
                <a:spcPts val="2400"/>
              </a:lnSpc>
              <a:buNone/>
            </a:pPr>
            <a:r>
              <a:rPr sz="1900" b="1">
                <a:solidFill>
                  <a:srgbClr val="102A43"/>
                </a:solidFill>
                <a:latin typeface="Arial"/>
                <a:ea typeface="Arial"/>
                <a:cs typeface="Arial"/>
              </a:rPr>
              <a:t>scoring sheet with gates in front of it, and the two produce different bids</a:t>
            </a:r>
            <a:endParaRPr sz="1900"/>
          </a:p>
        </p:txBody>
      </p:sp>
      <p:sp>
        <p:nvSpPr>
          <p:cNvPr id="4" name="Shape 2">
            <a:extLst xmlns:a="http://schemas.openxmlformats.org/drawingml/2006/main">
              <a:ext uri="{FF2B5EF4-FFF2-40B4-BE49-F238E27FC236}">
                <a16:creationId xmlns:a16="http://schemas.microsoft.com/office/drawing/2014/main" id="{309C4434-5BC7-46D2-87B1-13999F10C401}"/>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9091DF61-84DF-4DD0-B079-8A1D13DF6A30}"/>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BC2CAC1E-8A59-434D-907E-617091D07996}"/>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landmark tender: a single system integrator to build an on-premise enterprise AI platform and deliver roughly 75 GenAI and agentic use cases over three years, extendable by two.</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Six workstreams, five milestones, payment tied to each, and a competitive field spanning global SIs and BFSI-AI specialists.</a:t>
            </a:r>
            <a:endParaRPr sz="980"/>
          </a:p>
        </p:txBody>
      </p:sp>
      <p:sp>
        <p:nvSpPr>
          <p:cNvPr id="7" name="Shape 5">
            <a:extLst xmlns:a="http://schemas.openxmlformats.org/drawingml/2006/main">
              <a:ext uri="{FF2B5EF4-FFF2-40B4-BE49-F238E27FC236}">
                <a16:creationId xmlns:a16="http://schemas.microsoft.com/office/drawing/2014/main" id="{5410DE78-64EA-46C5-A766-C474E94FFFBA}"/>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24515726-686F-47C1-9B19-9055F553B54C}"/>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6DAD5940-C242-44C2-9389-56592F5E016C}"/>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Read as requirements, the document invites a capability response — everything the bidder can do. That response loses.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marks are unevenly distributed, several are pass/fail gates that sit before the technical evaluation, and two published requirements contradict each other. None of that is visible from a requirements reading.</a:t>
            </a:r>
            <a:endParaRPr sz="980"/>
          </a:p>
        </p:txBody>
      </p:sp>
      <p:sp>
        <p:nvSpPr>
          <p:cNvPr id="10" name="Shape 8">
            <a:extLst xmlns:a="http://schemas.openxmlformats.org/drawingml/2006/main">
              <a:ext uri="{FF2B5EF4-FFF2-40B4-BE49-F238E27FC236}">
                <a16:creationId xmlns:a16="http://schemas.microsoft.com/office/drawing/2014/main" id="{1CC5CC7C-B647-4904-A853-0DD8BC06BD95}"/>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F8354ADE-F2FC-493F-BA1B-1864AD458676}"/>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method</a:t>
            </a:r>
            <a:endParaRPr sz="1250"/>
          </a:p>
        </p:txBody>
      </p:sp>
      <p:sp>
        <p:nvSpPr>
          <p:cNvPr id="12" name="Text 10">
            <a:extLst xmlns:a="http://schemas.openxmlformats.org/drawingml/2006/main">
              <a:ext uri="{FF2B5EF4-FFF2-40B4-BE49-F238E27FC236}">
                <a16:creationId xmlns:a16="http://schemas.microsoft.com/office/drawing/2014/main" id="{EB42923F-EB6F-40FD-9131-B0466A94DE48}"/>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Four passes in a fixed order: score the gates, map the marks, find the contradictions, then price. Only after all four is a bid / no-bid position meaningful.</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Applied here, the method surfaced the go/no-go pivot on day one rather than three weeks in.</a:t>
            </a:r>
            <a:endParaRPr sz="980"/>
          </a:p>
        </p:txBody>
      </p:sp>
      <p:sp>
        <p:nvSpPr>
          <p:cNvPr id="13" name="Text 11">
            <a:extLst xmlns:a="http://schemas.openxmlformats.org/drawingml/2006/main">
              <a:ext uri="{FF2B5EF4-FFF2-40B4-BE49-F238E27FC236}">
                <a16:creationId xmlns:a16="http://schemas.microsoft.com/office/drawing/2014/main" id="{F8A21DDE-8C5C-477B-9BD0-E79BC104ACA2}"/>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28BE1B5E-3BE0-4009-A58C-6FD1FF69DDF8}"/>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AE7B258B-016D-44B2-A06F-CD34B67740F2}"/>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6" name="Text 14">
            <a:extLst xmlns:a="http://schemas.openxmlformats.org/drawingml/2006/main">
              <a:ext uri="{FF2B5EF4-FFF2-40B4-BE49-F238E27FC236}">
                <a16:creationId xmlns:a16="http://schemas.microsoft.com/office/drawing/2014/main" id="{14DEAACC-9DEB-4903-94B4-6CC1402E70ED}"/>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reading passes, in order</a:t>
            </a:r>
            <a:endParaRPr sz="860"/>
          </a:p>
        </p:txBody>
      </p:sp>
      <p:sp>
        <p:nvSpPr>
          <p:cNvPr id="17" name="Shape 15">
            <a:extLst xmlns:a="http://schemas.openxmlformats.org/drawingml/2006/main">
              <a:ext uri="{FF2B5EF4-FFF2-40B4-BE49-F238E27FC236}">
                <a16:creationId xmlns:a16="http://schemas.microsoft.com/office/drawing/2014/main" id="{2608DC29-221B-40B8-843A-3D12517D38F9}"/>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796DC419-AD3C-40D9-BA8F-93BEA42F8BCB}"/>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19" name="Text 17">
            <a:extLst xmlns:a="http://schemas.openxmlformats.org/drawingml/2006/main">
              <a:ext uri="{FF2B5EF4-FFF2-40B4-BE49-F238E27FC236}">
                <a16:creationId xmlns:a16="http://schemas.microsoft.com/office/drawing/2014/main" id="{8FAA1071-D230-4623-9804-79B8A16A080E}"/>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eligibility gates</a:t>
            </a:r>
            <a:endParaRPr sz="860"/>
          </a:p>
        </p:txBody>
      </p:sp>
      <p:sp>
        <p:nvSpPr>
          <p:cNvPr id="20" name="Shape 18">
            <a:extLst xmlns:a="http://schemas.openxmlformats.org/drawingml/2006/main">
              <a:ext uri="{FF2B5EF4-FFF2-40B4-BE49-F238E27FC236}">
                <a16:creationId xmlns:a16="http://schemas.microsoft.com/office/drawing/2014/main" id="{1605EC19-DBC9-46CF-8544-A72B6A14581E}"/>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6F1B3447-8E74-43C7-A4AE-9A29468E4EA6}"/>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≈130</a:t>
            </a:r>
            <a:endParaRPr sz="2100"/>
          </a:p>
        </p:txBody>
      </p:sp>
      <p:sp>
        <p:nvSpPr>
          <p:cNvPr id="22" name="Text 20">
            <a:extLst xmlns:a="http://schemas.openxmlformats.org/drawingml/2006/main">
              <a:ext uri="{FF2B5EF4-FFF2-40B4-BE49-F238E27FC236}">
                <a16:creationId xmlns:a16="http://schemas.microsoft.com/office/drawing/2014/main" id="{49DCC0B2-A23B-4555-A0CC-87498EF35862}"/>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technical marks mapped</a:t>
            </a:r>
            <a:endParaRPr sz="860"/>
          </a:p>
        </p:txBody>
      </p:sp>
      <p:sp>
        <p:nvSpPr>
          <p:cNvPr id="23" name="Shape 21">
            <a:extLst xmlns:a="http://schemas.openxmlformats.org/drawingml/2006/main">
              <a:ext uri="{FF2B5EF4-FFF2-40B4-BE49-F238E27FC236}">
                <a16:creationId xmlns:a16="http://schemas.microsoft.com/office/drawing/2014/main" id="{5584885C-F3FE-4EE4-815E-D909E3284B89}"/>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7B1CC1E0-1D35-4EC1-81C5-F11A83FFFD2B}"/>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5" name="Text 23">
            <a:extLst xmlns:a="http://schemas.openxmlformats.org/drawingml/2006/main">
              <a:ext uri="{FF2B5EF4-FFF2-40B4-BE49-F238E27FC236}">
                <a16:creationId xmlns:a16="http://schemas.microsoft.com/office/drawing/2014/main" id="{283232A3-BC0E-49B3-B732-54CAF5A7EBD3}"/>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published contradictions</a:t>
            </a:r>
            <a:endParaRPr sz="860"/>
          </a:p>
        </p:txBody>
      </p:sp>
      <p:sp>
        <p:nvSpPr>
          <p:cNvPr id="26" name="Shape 24">
            <a:extLst xmlns:a="http://schemas.openxmlformats.org/drawingml/2006/main">
              <a:ext uri="{FF2B5EF4-FFF2-40B4-BE49-F238E27FC236}">
                <a16:creationId xmlns:a16="http://schemas.microsoft.com/office/drawing/2014/main" id="{CB4E4F78-6349-4675-B560-FF8A77507164}"/>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7A5340DA-EFCA-4A80-ABBF-1762DC032588}"/>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40</a:t>
            </a:r>
            <a:endParaRPr sz="2100"/>
          </a:p>
        </p:txBody>
      </p:sp>
      <p:sp>
        <p:nvSpPr>
          <p:cNvPr id="28" name="Text 26">
            <a:extLst xmlns:a="http://schemas.openxmlformats.org/drawingml/2006/main">
              <a:ext uri="{FF2B5EF4-FFF2-40B4-BE49-F238E27FC236}">
                <a16:creationId xmlns:a16="http://schemas.microsoft.com/office/drawing/2014/main" id="{C7097B1A-18B2-4FB6-A41C-8555F8A67653}"/>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marks in one cluster</a:t>
            </a:r>
            <a:endParaRPr sz="860"/>
          </a:p>
        </p:txBody>
      </p:sp>
      <p:sp>
        <p:nvSpPr>
          <p:cNvPr id="29" name="Shape 27">
            <a:extLst xmlns:a="http://schemas.openxmlformats.org/drawingml/2006/main">
              <a:ext uri="{FF2B5EF4-FFF2-40B4-BE49-F238E27FC236}">
                <a16:creationId xmlns:a16="http://schemas.microsoft.com/office/drawing/2014/main" id="{BBE1ACF8-0279-4241-843C-6D79D91F1532}"/>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7EBA5BE0-CDD4-4AC5-8D38-8A8DAFF15BF7}"/>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832A4C85-60D1-40E7-B13B-7BB2759E14F0}"/>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genuine go/no-go pivot</a:t>
            </a:r>
            <a:endParaRPr sz="860"/>
          </a:p>
        </p:txBody>
      </p:sp>
      <p:sp>
        <p:nvSpPr>
          <p:cNvPr id="32" name="Text 30">
            <a:extLst xmlns:a="http://schemas.openxmlformats.org/drawingml/2006/main">
              <a:ext uri="{FF2B5EF4-FFF2-40B4-BE49-F238E27FC236}">
                <a16:creationId xmlns:a16="http://schemas.microsoft.com/office/drawing/2014/main" id="{5E0C8D95-B50A-4156-9CDB-03EFE7C64ADA}"/>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discipline this enforces:  effort is committed only after the gates are cleared and the marks are mapped. A bid team that writes first and checks eligibility later spends its most expensive weeks on a response it may not be permitted to submit.</a:t>
            </a:r>
            <a:endParaRPr sz="1000"/>
          </a:p>
        </p:txBody>
      </p:sp>
      <p:sp>
        <p:nvSpPr>
          <p:cNvPr id="33" name="Shape 31">
            <a:extLst xmlns:a="http://schemas.openxmlformats.org/drawingml/2006/main">
              <a:ext uri="{FF2B5EF4-FFF2-40B4-BE49-F238E27FC236}">
                <a16:creationId xmlns:a16="http://schemas.microsoft.com/office/drawing/2014/main" id="{5C7F4C6F-B6CA-404B-AA17-52ED02BDF4B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80125628-D59A-40B3-BBE3-9920069B72D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bid analysis, prepared for leadership review</a:t>
            </a:r>
            <a:endParaRPr sz="850"/>
          </a:p>
        </p:txBody>
      </p:sp>
      <p:sp>
        <p:nvSpPr>
          <p:cNvPr id="35" name="Text 33">
            <a:extLst xmlns:a="http://schemas.openxmlformats.org/drawingml/2006/main">
              <a:ext uri="{FF2B5EF4-FFF2-40B4-BE49-F238E27FC236}">
                <a16:creationId xmlns:a16="http://schemas.microsoft.com/office/drawing/2014/main" id="{E9C93EFC-4855-4694-89E3-57D4E91261C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455368740"/>
      </p:ext>
    </p:extLst>
  </p:cSld>
</p:sld>
</file>

<file path=ppt/slides/slide8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13F1F9A-B36C-4249-A550-582857B9ADD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8953A68C-1EB8-4578-A3BF-7AC872AEE67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Built entirely from published tender documents — no confidential bid material,</a:t>
            </a:r>
            <a:endParaRPr sz="1900"/>
          </a:p>
          <a:p xmlns:a="http://schemas.openxmlformats.org/drawingml/2006/main">
            <a:pPr marL="0" indent="0">
              <a:lnSpc>
                <a:spcPts val="2400"/>
              </a:lnSpc>
              <a:buNone/>
            </a:pPr>
            <a:r>
              <a:rPr sz="1900" b="1">
                <a:solidFill>
                  <a:srgbClr val="102A43"/>
                </a:solidFill>
                <a:latin typeface="Arial"/>
                <a:ea typeface="Arial"/>
                <a:cs typeface="Arial"/>
              </a:rPr>
              <a:t>no commercial position, no client-identifying detail</a:t>
            </a:r>
            <a:endParaRPr sz="1900"/>
          </a:p>
        </p:txBody>
      </p:sp>
      <p:sp>
        <p:nvSpPr>
          <p:cNvPr id="4" name="Shape 2">
            <a:extLst xmlns:a="http://schemas.openxmlformats.org/drawingml/2006/main">
              <a:ext uri="{FF2B5EF4-FFF2-40B4-BE49-F238E27FC236}">
                <a16:creationId xmlns:a16="http://schemas.microsoft.com/office/drawing/2014/main" id="{985CDFBA-466F-4583-BFA2-CB632585C9E3}"/>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B910F9A4-F094-44E2-92B2-CDEAF444768A}"/>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1E5D57C4-B4C4-4544-8C2E-BC4747FD338D}"/>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TENDER DOCUMENTS</a:t>
            </a:r>
            <a:endParaRPr sz="740"/>
          </a:p>
        </p:txBody>
      </p:sp>
      <p:sp>
        <p:nvSpPr>
          <p:cNvPr id="7" name="Text 5">
            <a:extLst xmlns:a="http://schemas.openxmlformats.org/drawingml/2006/main">
              <a:ext uri="{FF2B5EF4-FFF2-40B4-BE49-F238E27FC236}">
                <a16:creationId xmlns:a16="http://schemas.microsoft.com/office/drawing/2014/main" id="{4A875D98-0E0C-40B5-BD52-66E7C0D646C9}"/>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Published context</a:t>
            </a:r>
            <a:endParaRPr sz="1200"/>
          </a:p>
        </p:txBody>
      </p:sp>
      <p:sp>
        <p:nvSpPr>
          <p:cNvPr id="8" name="Text 6">
            <a:extLst xmlns:a="http://schemas.openxmlformats.org/drawingml/2006/main">
              <a:ext uri="{FF2B5EF4-FFF2-40B4-BE49-F238E27FC236}">
                <a16:creationId xmlns:a16="http://schemas.microsoft.com/office/drawing/2014/main" id="{5D160E51-10C1-4808-B5BD-27D554ED569B}"/>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Facts published in the RFP, its appendices and the pre-bid minutes. Available to every bidder in the field.</a:t>
            </a:r>
            <a:endParaRPr sz="920"/>
          </a:p>
        </p:txBody>
      </p:sp>
      <p:sp>
        <p:nvSpPr>
          <p:cNvPr id="9" name="Shape 7">
            <a:extLst xmlns:a="http://schemas.openxmlformats.org/drawingml/2006/main">
              <a:ext uri="{FF2B5EF4-FFF2-40B4-BE49-F238E27FC236}">
                <a16:creationId xmlns:a16="http://schemas.microsoft.com/office/drawing/2014/main" id="{076722A8-5BF4-49F8-B41C-F2F041CA597A}"/>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C10F5728-1586-44A9-ACB5-024EAEDB1284}"/>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Scope, term and milestone structure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Eligibility criteria and thresholds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Technical scoring parameters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structure and instruments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Pre-bid attendance list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Published timeline</a:t>
            </a:r>
            <a:endParaRPr sz="930"/>
          </a:p>
        </p:txBody>
      </p:sp>
      <p:sp>
        <p:nvSpPr>
          <p:cNvPr id="11" name="Shape 9">
            <a:extLst xmlns:a="http://schemas.openxmlformats.org/drawingml/2006/main">
              <a:ext uri="{FF2B5EF4-FFF2-40B4-BE49-F238E27FC236}">
                <a16:creationId xmlns:a16="http://schemas.microsoft.com/office/drawing/2014/main" id="{34400BE7-CA63-4E76-B968-4DB4ECF556E0}"/>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172B96D6-82A1-4429-AFB4-22E6979E4071}"/>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46D6334E-5B59-4084-A718-ED09B797AB5E}"/>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BID ANALYSIS</a:t>
            </a:r>
            <a:endParaRPr sz="740"/>
          </a:p>
        </p:txBody>
      </p:sp>
      <p:sp>
        <p:nvSpPr>
          <p:cNvPr id="14" name="Text 12">
            <a:extLst xmlns:a="http://schemas.openxmlformats.org/drawingml/2006/main">
              <a:ext uri="{FF2B5EF4-FFF2-40B4-BE49-F238E27FC236}">
                <a16:creationId xmlns:a16="http://schemas.microsoft.com/office/drawing/2014/main" id="{2FD3EB4B-1D6F-489D-9638-3C0302FDB86B}"/>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B5C3838F-1686-4BCF-8D31-A9A25A52B330}"/>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four-pass method, the mark map, the contradiction test and the decision framework. Authored for leadership bid / no-bid review.</a:t>
            </a:r>
            <a:endParaRPr sz="920"/>
          </a:p>
        </p:txBody>
      </p:sp>
      <p:sp>
        <p:nvSpPr>
          <p:cNvPr id="16" name="Shape 14">
            <a:extLst xmlns:a="http://schemas.openxmlformats.org/drawingml/2006/main">
              <a:ext uri="{FF2B5EF4-FFF2-40B4-BE49-F238E27FC236}">
                <a16:creationId xmlns:a16="http://schemas.microsoft.com/office/drawing/2014/main" id="{627F5A33-3CB6-4017-8F11-D2765EF791AA}"/>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45003301-803E-4730-A203-CEBAE2D7995B}"/>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Four-pass reading method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Mark distribution reconstruction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Gate assessment framework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Contradiction identification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Pre-bid question set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Bid / no-bid decision structure</a:t>
            </a:r>
            <a:endParaRPr sz="930"/>
          </a:p>
        </p:txBody>
      </p:sp>
      <p:sp>
        <p:nvSpPr>
          <p:cNvPr id="18" name="Shape 16">
            <a:extLst xmlns:a="http://schemas.openxmlformats.org/drawingml/2006/main">
              <a:ext uri="{FF2B5EF4-FFF2-40B4-BE49-F238E27FC236}">
                <a16:creationId xmlns:a16="http://schemas.microsoft.com/office/drawing/2014/main" id="{A8110951-FF42-43EA-8872-C969338817D9}"/>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F8175803-B4BD-4717-AD75-67AA4E4014FE}"/>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7B476BEF-68F5-4DD0-8722-10B19BCA111C}"/>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74772B27-AA3A-44CC-AE0A-CD05D654D156}"/>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1FB505F1-ADEE-4B92-8401-15ED621127EE}"/>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Self-assessment scoring shown to demonstrate the method. Values are a worked example, not a real organisation's position.</a:t>
            </a:r>
            <a:endParaRPr sz="920"/>
          </a:p>
        </p:txBody>
      </p:sp>
      <p:sp>
        <p:nvSpPr>
          <p:cNvPr id="23" name="Shape 21">
            <a:extLst xmlns:a="http://schemas.openxmlformats.org/drawingml/2006/main">
              <a:ext uri="{FF2B5EF4-FFF2-40B4-BE49-F238E27FC236}">
                <a16:creationId xmlns:a16="http://schemas.microsoft.com/office/drawing/2014/main" id="{49C37502-52B9-4F50-9388-EA0ABB4686FD}"/>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394F09C5-3F36-40C7-B8E9-07AF238DD74E}"/>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Self-scoring worked example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Gate-clearance illustration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Effort allocation by mark yield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Sensitivity on qualifying threshold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a real assessment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D6034D15-337B-4BCC-B5B7-3959D22A241F}"/>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A5435B9E-A408-40EE-9834-5266125CCF19}"/>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631CFC13-4CCC-4B09-ACAA-05714BE3DB42}"/>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9AC766FF-BF68-443D-81FA-8C73B0C05038}"/>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63EAC8DB-2D1D-4620-8498-D07EC5E03D1A}"/>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Deliberately excluded. This deck teaches a reading method; it is not a bid document and takes no commercial position.</a:t>
            </a:r>
            <a:endParaRPr sz="920"/>
          </a:p>
        </p:txBody>
      </p:sp>
      <p:sp>
        <p:nvSpPr>
          <p:cNvPr id="30" name="Shape 28">
            <a:extLst xmlns:a="http://schemas.openxmlformats.org/drawingml/2006/main">
              <a:ext uri="{FF2B5EF4-FFF2-40B4-BE49-F238E27FC236}">
                <a16:creationId xmlns:a16="http://schemas.microsoft.com/office/drawing/2014/main" id="{1061ACDF-CD7C-46C0-B1CE-C2B4CDB04904}"/>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F4931F0F-4099-4A12-98D8-04FDC3165C72}"/>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employer's actual bid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pricing or commercial strategy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Whether a bid was submitted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internal assessment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competitor's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tender outcome</a:t>
            </a:r>
            <a:endParaRPr sz="930"/>
          </a:p>
        </p:txBody>
      </p:sp>
      <p:sp>
        <p:nvSpPr>
          <p:cNvPr id="32" name="Shape 30">
            <a:extLst xmlns:a="http://schemas.openxmlformats.org/drawingml/2006/main">
              <a:ext uri="{FF2B5EF4-FFF2-40B4-BE49-F238E27FC236}">
                <a16:creationId xmlns:a16="http://schemas.microsoft.com/office/drawing/2014/main" id="{9AD175EF-5BF0-4BA8-BD74-C6B297B6E25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57747E8C-DBBF-4225-A1A8-DCE60C7E3E2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tender documents (context) · author's bid analysis (method and assessment)</a:t>
            </a:r>
            <a:endParaRPr sz="850"/>
          </a:p>
        </p:txBody>
      </p:sp>
      <p:sp>
        <p:nvSpPr>
          <p:cNvPr id="34" name="Text 32">
            <a:extLst xmlns:a="http://schemas.openxmlformats.org/drawingml/2006/main">
              <a:ext uri="{FF2B5EF4-FFF2-40B4-BE49-F238E27FC236}">
                <a16:creationId xmlns:a16="http://schemas.microsoft.com/office/drawing/2014/main" id="{487136CF-DF17-4907-AE50-5496E7EF9F8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23857162"/>
      </p:ext>
    </p:extLst>
  </p:cSld>
</p:sld>
</file>

<file path=ppt/slides/slide8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8F40568-E0B1-4D6C-A25F-1E7E1C0CF2E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PASS ZERO  ·  ANATOMY</a:t>
            </a:r>
            <a:endParaRPr sz="950"/>
          </a:p>
        </p:txBody>
      </p:sp>
      <p:sp>
        <p:nvSpPr>
          <p:cNvPr id="3" name="Text 1">
            <a:extLst xmlns:a="http://schemas.openxmlformats.org/drawingml/2006/main">
              <a:ext uri="{FF2B5EF4-FFF2-40B4-BE49-F238E27FC236}">
                <a16:creationId xmlns:a16="http://schemas.microsoft.com/office/drawing/2014/main" id="{C1B9F1DF-627E-4A41-865B-75FB5093DF2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workstreams, five milestones and two price components — the shape of the deal</a:t>
            </a:r>
            <a:endParaRPr sz="1900"/>
          </a:p>
          <a:p xmlns:a="http://schemas.openxmlformats.org/drawingml/2006/main">
            <a:pPr marL="0" indent="0">
              <a:lnSpc>
                <a:spcPts val="2400"/>
              </a:lnSpc>
              <a:buNone/>
            </a:pPr>
            <a:r>
              <a:rPr sz="1900" b="1">
                <a:solidFill>
                  <a:srgbClr val="102A43"/>
                </a:solidFill>
                <a:latin typeface="Arial"/>
                <a:ea typeface="Arial"/>
                <a:cs typeface="Arial"/>
              </a:rPr>
              <a:t>before any judgement about whether to chase it</a:t>
            </a:r>
            <a:endParaRPr sz="1900"/>
          </a:p>
        </p:txBody>
      </p:sp>
      <p:sp>
        <p:nvSpPr>
          <p:cNvPr id="4" name="Shape 2">
            <a:extLst xmlns:a="http://schemas.openxmlformats.org/drawingml/2006/main">
              <a:ext uri="{FF2B5EF4-FFF2-40B4-BE49-F238E27FC236}">
                <a16:creationId xmlns:a16="http://schemas.microsoft.com/office/drawing/2014/main" id="{A72E1879-9C3C-44BA-A07D-45A80351E6C8}"/>
              </a:ext>
            </a:extLst>
          </p:cNvPr>
          <p:cNvSpPr>
            <a:spLocks xmlns:a="http://schemas.openxmlformats.org/drawingml/2006/main" noGrp="1"/>
          </p:cNvSpPr>
          <p:nvPr/>
        </p:nvSpPr>
        <p:spPr>
          <a:xfrm xmlns:a="http://schemas.openxmlformats.org/drawingml/2006/main">
            <a:off x="566928" y="1335024"/>
            <a:ext cx="3564026" cy="987552"/>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4DB4FDFC-EC0E-4F92-9B09-7F8585FDBD42}"/>
              </a:ext>
            </a:extLst>
          </p:cNvPr>
          <p:cNvSpPr>
            <a:spLocks xmlns:a="http://schemas.openxmlformats.org/drawingml/2006/main" noGrp="1"/>
          </p:cNvSpPr>
          <p:nvPr/>
        </p:nvSpPr>
        <p:spPr>
          <a:xfrm xmlns:a="http://schemas.openxmlformats.org/drawingml/2006/main">
            <a:off x="768096" y="1481328"/>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B04A25"/>
                </a:solidFill>
                <a:latin typeface="Arial"/>
                <a:ea typeface="Arial"/>
                <a:cs typeface="Arial"/>
              </a:rPr>
              <a:t>Platform build &amp; operate</a:t>
            </a:r>
            <a:endParaRPr sz="1150"/>
          </a:p>
        </p:txBody>
      </p:sp>
      <p:sp>
        <p:nvSpPr>
          <p:cNvPr id="6" name="Text 4">
            <a:extLst xmlns:a="http://schemas.openxmlformats.org/drawingml/2006/main">
              <a:ext uri="{FF2B5EF4-FFF2-40B4-BE49-F238E27FC236}">
                <a16:creationId xmlns:a16="http://schemas.microsoft.com/office/drawing/2014/main" id="{B07A2941-E655-4C5C-9CB7-83CBD5491A35}"/>
              </a:ext>
            </a:extLst>
          </p:cNvPr>
          <p:cNvSpPr>
            <a:spLocks xmlns:a="http://schemas.openxmlformats.org/drawingml/2006/main" noGrp="1"/>
          </p:cNvSpPr>
          <p:nvPr/>
        </p:nvSpPr>
        <p:spPr>
          <a:xfrm xmlns:a="http://schemas.openxmlformats.org/drawingml/2006/main">
            <a:off x="768096" y="1755648"/>
            <a:ext cx="316169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On-premise AI platform: GPU pooling, multi-tenancy, full lifecycle from train to govern</a:t>
            </a:r>
            <a:endParaRPr sz="940"/>
          </a:p>
        </p:txBody>
      </p:sp>
      <p:sp>
        <p:nvSpPr>
          <p:cNvPr id="7" name="Shape 5">
            <a:extLst xmlns:a="http://schemas.openxmlformats.org/drawingml/2006/main">
              <a:ext uri="{FF2B5EF4-FFF2-40B4-BE49-F238E27FC236}">
                <a16:creationId xmlns:a16="http://schemas.microsoft.com/office/drawing/2014/main" id="{CC403BA8-0442-4540-8165-618E72E229DC}"/>
              </a:ext>
            </a:extLst>
          </p:cNvPr>
          <p:cNvSpPr>
            <a:spLocks xmlns:a="http://schemas.openxmlformats.org/drawingml/2006/main" noGrp="1"/>
          </p:cNvSpPr>
          <p:nvPr/>
        </p:nvSpPr>
        <p:spPr>
          <a:xfrm xmlns:a="http://schemas.openxmlformats.org/drawingml/2006/main">
            <a:off x="4313834" y="1335024"/>
            <a:ext cx="3564026" cy="987552"/>
          </a:xfrm>
          <a:prstGeom xmlns:a="http://schemas.openxmlformats.org/drawingml/2006/main" prst="rect">
            <a:avLst/>
          </a:prstGeom>
          <a:solidFill xmlns:a="http://schemas.openxmlformats.org/drawingml/2006/main">
            <a:srgbClr val="F3E6E0"/>
          </a:solidFill>
        </p:spPr>
      </p:sp>
      <p:sp>
        <p:nvSpPr>
          <p:cNvPr id="8" name="Text 6">
            <a:extLst xmlns:a="http://schemas.openxmlformats.org/drawingml/2006/main">
              <a:ext uri="{FF2B5EF4-FFF2-40B4-BE49-F238E27FC236}">
                <a16:creationId xmlns:a16="http://schemas.microsoft.com/office/drawing/2014/main" id="{534B6074-8C55-48D2-A4B7-9A34493E8A68}"/>
              </a:ext>
            </a:extLst>
          </p:cNvPr>
          <p:cNvSpPr>
            <a:spLocks xmlns:a="http://schemas.openxmlformats.org/drawingml/2006/main" noGrp="1"/>
          </p:cNvSpPr>
          <p:nvPr/>
        </p:nvSpPr>
        <p:spPr>
          <a:xfrm xmlns:a="http://schemas.openxmlformats.org/drawingml/2006/main">
            <a:off x="4515002" y="1481328"/>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B04A25"/>
                </a:solidFill>
                <a:latin typeface="Arial"/>
                <a:ea typeface="Arial"/>
                <a:cs typeface="Arial"/>
              </a:rPr>
              <a:t>AI use-case delivery</a:t>
            </a:r>
            <a:endParaRPr sz="1150"/>
          </a:p>
        </p:txBody>
      </p:sp>
      <p:sp>
        <p:nvSpPr>
          <p:cNvPr id="9" name="Text 7">
            <a:extLst xmlns:a="http://schemas.openxmlformats.org/drawingml/2006/main">
              <a:ext uri="{FF2B5EF4-FFF2-40B4-BE49-F238E27FC236}">
                <a16:creationId xmlns:a16="http://schemas.microsoft.com/office/drawing/2014/main" id="{85FCA29D-1F9F-4A9A-B230-875A07BF293F}"/>
              </a:ext>
            </a:extLst>
          </p:cNvPr>
          <p:cNvSpPr>
            <a:spLocks xmlns:a="http://schemas.openxmlformats.org/drawingml/2006/main" noGrp="1"/>
          </p:cNvSpPr>
          <p:nvPr/>
        </p:nvSpPr>
        <p:spPr>
          <a:xfrm xmlns:a="http://schemas.openxmlformats.org/drawingml/2006/main">
            <a:off x="4515002" y="1755648"/>
            <a:ext cx="316169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~75 GenAI, agentic and ML use cases, bank-identified, co-developed, production-grade</a:t>
            </a:r>
            <a:endParaRPr sz="940"/>
          </a:p>
        </p:txBody>
      </p:sp>
      <p:sp>
        <p:nvSpPr>
          <p:cNvPr id="10" name="Shape 8">
            <a:extLst xmlns:a="http://schemas.openxmlformats.org/drawingml/2006/main">
              <a:ext uri="{FF2B5EF4-FFF2-40B4-BE49-F238E27FC236}">
                <a16:creationId xmlns:a16="http://schemas.microsoft.com/office/drawing/2014/main" id="{EBD37F9D-B43D-439B-8572-E7F99E39D5B3}"/>
              </a:ext>
            </a:extLst>
          </p:cNvPr>
          <p:cNvSpPr>
            <a:spLocks xmlns:a="http://schemas.openxmlformats.org/drawingml/2006/main" noGrp="1"/>
          </p:cNvSpPr>
          <p:nvPr/>
        </p:nvSpPr>
        <p:spPr>
          <a:xfrm xmlns:a="http://schemas.openxmlformats.org/drawingml/2006/main">
            <a:off x="8060741" y="1335024"/>
            <a:ext cx="3564026" cy="987552"/>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BBAA596E-3E10-4066-8E71-38D34C77ABFA}"/>
              </a:ext>
            </a:extLst>
          </p:cNvPr>
          <p:cNvSpPr>
            <a:spLocks xmlns:a="http://schemas.openxmlformats.org/drawingml/2006/main" noGrp="1"/>
          </p:cNvSpPr>
          <p:nvPr/>
        </p:nvSpPr>
        <p:spPr>
          <a:xfrm xmlns:a="http://schemas.openxmlformats.org/drawingml/2006/main">
            <a:off x="8261909" y="1481328"/>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B04A25"/>
                </a:solidFill>
                <a:latin typeface="Arial"/>
                <a:ea typeface="Arial"/>
                <a:cs typeface="Arial"/>
              </a:rPr>
              <a:t>Managed services</a:t>
            </a:r>
            <a:endParaRPr sz="1150"/>
          </a:p>
        </p:txBody>
      </p:sp>
      <p:sp>
        <p:nvSpPr>
          <p:cNvPr id="12" name="Text 10">
            <a:extLst xmlns:a="http://schemas.openxmlformats.org/drawingml/2006/main">
              <a:ext uri="{FF2B5EF4-FFF2-40B4-BE49-F238E27FC236}">
                <a16:creationId xmlns:a16="http://schemas.microsoft.com/office/drawing/2014/main" id="{16B3BF9A-B611-4169-B963-A8AC6F491F89}"/>
              </a:ext>
            </a:extLst>
          </p:cNvPr>
          <p:cNvSpPr>
            <a:spLocks xmlns:a="http://schemas.openxmlformats.org/drawingml/2006/main" noGrp="1"/>
          </p:cNvSpPr>
          <p:nvPr/>
        </p:nvSpPr>
        <p:spPr>
          <a:xfrm xmlns:a="http://schemas.openxmlformats.org/drawingml/2006/main">
            <a:off x="8261909" y="1755648"/>
            <a:ext cx="316169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Run the platform through the term — monitoring, maintenance, incident and issue support</a:t>
            </a:r>
            <a:endParaRPr sz="940"/>
          </a:p>
        </p:txBody>
      </p:sp>
      <p:sp>
        <p:nvSpPr>
          <p:cNvPr id="13" name="Shape 11">
            <a:extLst xmlns:a="http://schemas.openxmlformats.org/drawingml/2006/main">
              <a:ext uri="{FF2B5EF4-FFF2-40B4-BE49-F238E27FC236}">
                <a16:creationId xmlns:a16="http://schemas.microsoft.com/office/drawing/2014/main" id="{BD15C1F3-00CF-43C6-8F0C-19E8F27B863F}"/>
              </a:ext>
            </a:extLst>
          </p:cNvPr>
          <p:cNvSpPr>
            <a:spLocks xmlns:a="http://schemas.openxmlformats.org/drawingml/2006/main" noGrp="1"/>
          </p:cNvSpPr>
          <p:nvPr/>
        </p:nvSpPr>
        <p:spPr>
          <a:xfrm xmlns:a="http://schemas.openxmlformats.org/drawingml/2006/main">
            <a:off x="566928" y="2468880"/>
            <a:ext cx="3564026" cy="987552"/>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56336E56-F1AD-49A9-888F-EBEFB2B5232F}"/>
              </a:ext>
            </a:extLst>
          </p:cNvPr>
          <p:cNvSpPr>
            <a:spLocks xmlns:a="http://schemas.openxmlformats.org/drawingml/2006/main" noGrp="1"/>
          </p:cNvSpPr>
          <p:nvPr/>
        </p:nvSpPr>
        <p:spPr>
          <a:xfrm xmlns:a="http://schemas.openxmlformats.org/drawingml/2006/main">
            <a:off x="768096" y="2615184"/>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Independent QA</a:t>
            </a:r>
            <a:endParaRPr sz="1150"/>
          </a:p>
        </p:txBody>
      </p:sp>
      <p:sp>
        <p:nvSpPr>
          <p:cNvPr id="15" name="Text 13">
            <a:extLst xmlns:a="http://schemas.openxmlformats.org/drawingml/2006/main">
              <a:ext uri="{FF2B5EF4-FFF2-40B4-BE49-F238E27FC236}">
                <a16:creationId xmlns:a16="http://schemas.microsoft.com/office/drawing/2014/main" id="{BC354478-CAF4-4ED7-8A87-FCC4A7485F9B}"/>
              </a:ext>
            </a:extLst>
          </p:cNvPr>
          <p:cNvSpPr>
            <a:spLocks xmlns:a="http://schemas.openxmlformats.org/drawingml/2006/main" noGrp="1"/>
          </p:cNvSpPr>
          <p:nvPr/>
        </p:nvSpPr>
        <p:spPr>
          <a:xfrm xmlns:a="http://schemas.openxmlformats.org/drawingml/2006/main">
            <a:off x="768096" y="2889504"/>
            <a:ext cx="316169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A service-assurance team separate from delivery, at a minimum one QA per three developers</a:t>
            </a:r>
            <a:endParaRPr sz="940"/>
          </a:p>
        </p:txBody>
      </p:sp>
      <p:sp>
        <p:nvSpPr>
          <p:cNvPr id="16" name="Shape 14">
            <a:extLst xmlns:a="http://schemas.openxmlformats.org/drawingml/2006/main">
              <a:ext uri="{FF2B5EF4-FFF2-40B4-BE49-F238E27FC236}">
                <a16:creationId xmlns:a16="http://schemas.microsoft.com/office/drawing/2014/main" id="{FC0D2290-C8F1-4E9E-9186-A18C6E17B9FA}"/>
              </a:ext>
            </a:extLst>
          </p:cNvPr>
          <p:cNvSpPr>
            <a:spLocks xmlns:a="http://schemas.openxmlformats.org/drawingml/2006/main" noGrp="1"/>
          </p:cNvSpPr>
          <p:nvPr/>
        </p:nvSpPr>
        <p:spPr>
          <a:xfrm xmlns:a="http://schemas.openxmlformats.org/drawingml/2006/main">
            <a:off x="4313834" y="2468880"/>
            <a:ext cx="3564026" cy="987552"/>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DD088276-5EA0-45E6-BBD7-91ABC7A5278E}"/>
              </a:ext>
            </a:extLst>
          </p:cNvPr>
          <p:cNvSpPr>
            <a:spLocks xmlns:a="http://schemas.openxmlformats.org/drawingml/2006/main" noGrp="1"/>
          </p:cNvSpPr>
          <p:nvPr/>
        </p:nvSpPr>
        <p:spPr>
          <a:xfrm xmlns:a="http://schemas.openxmlformats.org/drawingml/2006/main">
            <a:off x="4515002" y="2615184"/>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AI red team</a:t>
            </a:r>
            <a:endParaRPr sz="1150"/>
          </a:p>
        </p:txBody>
      </p:sp>
      <p:sp>
        <p:nvSpPr>
          <p:cNvPr id="18" name="Text 16">
            <a:extLst xmlns:a="http://schemas.openxmlformats.org/drawingml/2006/main">
              <a:ext uri="{FF2B5EF4-FFF2-40B4-BE49-F238E27FC236}">
                <a16:creationId xmlns:a16="http://schemas.microsoft.com/office/drawing/2014/main" id="{8E2FBAA2-338A-441A-AA3D-1A14096A2382}"/>
              </a:ext>
            </a:extLst>
          </p:cNvPr>
          <p:cNvSpPr>
            <a:spLocks xmlns:a="http://schemas.openxmlformats.org/drawingml/2006/main" noGrp="1"/>
          </p:cNvSpPr>
          <p:nvPr/>
        </p:nvSpPr>
        <p:spPr>
          <a:xfrm xmlns:a="http://schemas.openxmlformats.org/drawingml/2006/main">
            <a:off x="4515002" y="2889504"/>
            <a:ext cx="316169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Standing adversarial capability, exercised at least half-yearly against injection and agent misuse</a:t>
            </a:r>
            <a:endParaRPr sz="940"/>
          </a:p>
        </p:txBody>
      </p:sp>
      <p:sp>
        <p:nvSpPr>
          <p:cNvPr id="19" name="Shape 17">
            <a:extLst xmlns:a="http://schemas.openxmlformats.org/drawingml/2006/main">
              <a:ext uri="{FF2B5EF4-FFF2-40B4-BE49-F238E27FC236}">
                <a16:creationId xmlns:a16="http://schemas.microsoft.com/office/drawing/2014/main" id="{75763772-6E0F-4971-81F4-E89EDE588B53}"/>
              </a:ext>
            </a:extLst>
          </p:cNvPr>
          <p:cNvSpPr>
            <a:spLocks xmlns:a="http://schemas.openxmlformats.org/drawingml/2006/main" noGrp="1"/>
          </p:cNvSpPr>
          <p:nvPr/>
        </p:nvSpPr>
        <p:spPr>
          <a:xfrm xmlns:a="http://schemas.openxmlformats.org/drawingml/2006/main">
            <a:off x="8060741" y="2468880"/>
            <a:ext cx="3564026" cy="987552"/>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CC8943D0-D011-4ECC-AC38-19A96467D77C}"/>
              </a:ext>
            </a:extLst>
          </p:cNvPr>
          <p:cNvSpPr>
            <a:spLocks xmlns:a="http://schemas.openxmlformats.org/drawingml/2006/main" noGrp="1"/>
          </p:cNvSpPr>
          <p:nvPr/>
        </p:nvSpPr>
        <p:spPr>
          <a:xfrm xmlns:a="http://schemas.openxmlformats.org/drawingml/2006/main">
            <a:off x="8261909" y="2615184"/>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Training &amp; transfer</a:t>
            </a:r>
            <a:endParaRPr sz="1150"/>
          </a:p>
        </p:txBody>
      </p:sp>
      <p:sp>
        <p:nvSpPr>
          <p:cNvPr id="21" name="Text 19">
            <a:extLst xmlns:a="http://schemas.openxmlformats.org/drawingml/2006/main">
              <a:ext uri="{FF2B5EF4-FFF2-40B4-BE49-F238E27FC236}">
                <a16:creationId xmlns:a16="http://schemas.microsoft.com/office/drawing/2014/main" id="{387C4C19-0175-451E-AD1F-C866F3A4C5F6}"/>
              </a:ext>
            </a:extLst>
          </p:cNvPr>
          <p:cNvSpPr>
            <a:spLocks xmlns:a="http://schemas.openxmlformats.org/drawingml/2006/main" noGrp="1"/>
          </p:cNvSpPr>
          <p:nvPr/>
        </p:nvSpPr>
        <p:spPr>
          <a:xfrm xmlns:a="http://schemas.openxmlformats.org/drawingml/2006/main">
            <a:off x="8261909" y="2889504"/>
            <a:ext cx="316169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150–200 staff trained, with SOPs, runbooks and a full handover across three years</a:t>
            </a:r>
            <a:endParaRPr sz="940"/>
          </a:p>
        </p:txBody>
      </p:sp>
      <p:graphicFrame>
        <p:nvGraphicFramePr>
          <p:cNvPr id="51" name="Chart 0"/>
          <p:cNvGraphicFramePr/>
          <p:nvPr/>
        </p:nvGraphicFramePr>
        <p:xfrm>
          <a:off xmlns:a="http://schemas.openxmlformats.org/drawingml/2006/main" x="566928" y="3767328"/>
          <a:ext xmlns:a="http://schemas.openxmlformats.org/drawingml/2006/main" cx="5760720" cy="2103120"/>
        </p:xfrm>
        <a:graphic xmlns:a="http://schemas.openxmlformats.org/drawingml/2006/main">
          <a:graphicData uri="http://schemas.openxmlformats.org/drawingml/2006/chart">
            <c:chart xmlns:r="http://schemas.openxmlformats.org/officeDocument/2006/relationships" xmlns:c="http://schemas.openxmlformats.org/drawingml/2006/chart" r:id="R03fa37c1638749ad"/>
          </a:graphicData>
        </a:graphic>
      </p:graphicFrame>
      <p:sp>
        <p:nvSpPr>
          <p:cNvPr id="23" name="Text 20">
            <a:extLst xmlns:a="http://schemas.openxmlformats.org/drawingml/2006/main">
              <a:ext uri="{FF2B5EF4-FFF2-40B4-BE49-F238E27FC236}">
                <a16:creationId xmlns:a16="http://schemas.microsoft.com/office/drawing/2014/main" id="{2C155A18-5E8A-420D-8CCD-C17698AAB9BD}"/>
              </a:ext>
            </a:extLst>
          </p:cNvPr>
          <p:cNvSpPr>
            <a:spLocks xmlns:a="http://schemas.openxmlformats.org/drawingml/2006/main" noGrp="1"/>
          </p:cNvSpPr>
          <p:nvPr/>
        </p:nvSpPr>
        <p:spPr>
          <a:xfrm xmlns:a="http://schemas.openxmlformats.org/drawingml/2006/main">
            <a:off x="566928" y="5943600"/>
            <a:ext cx="5760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Payment released against milestone, with a share of each tied to SLA satisfaction</a:t>
            </a:r>
            <a:endParaRPr sz="880"/>
          </a:p>
        </p:txBody>
      </p:sp>
      <p:sp>
        <p:nvSpPr>
          <p:cNvPr id="24" name="Text 21">
            <a:extLst xmlns:a="http://schemas.openxmlformats.org/drawingml/2006/main">
              <a:ext uri="{FF2B5EF4-FFF2-40B4-BE49-F238E27FC236}">
                <a16:creationId xmlns:a16="http://schemas.microsoft.com/office/drawing/2014/main" id="{C1C25248-0DDF-4FC4-B808-E2BBCA487C10}"/>
              </a:ext>
            </a:extLst>
          </p:cNvPr>
          <p:cNvSpPr>
            <a:spLocks xmlns:a="http://schemas.openxmlformats.org/drawingml/2006/main" noGrp="1"/>
          </p:cNvSpPr>
          <p:nvPr/>
        </p:nvSpPr>
        <p:spPr>
          <a:xfrm xmlns:a="http://schemas.openxmlformats.org/drawingml/2006/main">
            <a:off x="6693408" y="3767328"/>
            <a:ext cx="49286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shape already tells you</a:t>
            </a:r>
            <a:endParaRPr sz="1100"/>
          </a:p>
        </p:txBody>
      </p:sp>
      <p:sp>
        <p:nvSpPr>
          <p:cNvPr id="25" name="Shape 22">
            <a:extLst xmlns:a="http://schemas.openxmlformats.org/drawingml/2006/main">
              <a:ext uri="{FF2B5EF4-FFF2-40B4-BE49-F238E27FC236}">
                <a16:creationId xmlns:a16="http://schemas.microsoft.com/office/drawing/2014/main" id="{9742806E-8DC1-496B-85AC-DC28045E13B3}"/>
              </a:ext>
            </a:extLst>
          </p:cNvPr>
          <p:cNvSpPr>
            <a:spLocks xmlns:a="http://schemas.openxmlformats.org/drawingml/2006/main" noGrp="1"/>
          </p:cNvSpPr>
          <p:nvPr/>
        </p:nvSpPr>
        <p:spPr>
          <a:xfrm xmlns:a="http://schemas.openxmlformats.org/drawingml/2006/main">
            <a:off x="6693408" y="4023360"/>
            <a:ext cx="4928616" cy="20117"/>
          </a:xfrm>
          <a:prstGeom xmlns:a="http://schemas.openxmlformats.org/drawingml/2006/main" prst="rect">
            <a:avLst/>
          </a:prstGeom>
          <a:solidFill xmlns:a="http://schemas.openxmlformats.org/drawingml/2006/main">
            <a:srgbClr val="102A43"/>
          </a:solidFill>
        </p:spPr>
      </p:sp>
      <p:sp>
        <p:nvSpPr>
          <p:cNvPr id="26" name="Text 23">
            <a:extLst xmlns:a="http://schemas.openxmlformats.org/drawingml/2006/main">
              <a:ext uri="{FF2B5EF4-FFF2-40B4-BE49-F238E27FC236}">
                <a16:creationId xmlns:a16="http://schemas.microsoft.com/office/drawing/2014/main" id="{DAA9818A-A096-4BB0-880A-AE97587A6975}"/>
              </a:ext>
            </a:extLst>
          </p:cNvPr>
          <p:cNvSpPr>
            <a:spLocks xmlns:a="http://schemas.openxmlformats.org/drawingml/2006/main" noGrp="1"/>
          </p:cNvSpPr>
          <p:nvPr/>
        </p:nvSpPr>
        <p:spPr>
          <a:xfrm xmlns:a="http://schemas.openxmlformats.org/drawingml/2006/main">
            <a:off x="6693408" y="4151376"/>
            <a:ext cx="4928616"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Sixty per cent of value sits behind use-case delivery and managed services — this is a run engagement wearing a build engagement's clothes.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Only twenty per cent is released for standing the platform up, so platform cost must be recovered across three years of delivery.</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Independent QA at one-to-three and a standing red team are cost lines most capability responses forget to price.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Intellectual property, the orchestration layer and all licences vest in the bank — which removes the usual product-annuity argument entirely.</a:t>
            </a:r>
            <a:endParaRPr sz="950"/>
          </a:p>
        </p:txBody>
      </p:sp>
      <p:sp>
        <p:nvSpPr>
          <p:cNvPr id="27" name="Shape 24">
            <a:extLst xmlns:a="http://schemas.openxmlformats.org/drawingml/2006/main">
              <a:ext uri="{FF2B5EF4-FFF2-40B4-BE49-F238E27FC236}">
                <a16:creationId xmlns:a16="http://schemas.microsoft.com/office/drawing/2014/main" id="{421E6FF9-DA34-4D4F-804E-E762940E306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8" name="Text 25">
            <a:extLst xmlns:a="http://schemas.openxmlformats.org/drawingml/2006/main">
              <a:ext uri="{FF2B5EF4-FFF2-40B4-BE49-F238E27FC236}">
                <a16:creationId xmlns:a16="http://schemas.microsoft.com/office/drawing/2014/main" id="{989852D8-C765-4801-BC69-DA58D456085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RFP and pre-bid minutes for the enterprise AI platform tender</a:t>
            </a:r>
            <a:endParaRPr sz="850"/>
          </a:p>
        </p:txBody>
      </p:sp>
      <p:sp>
        <p:nvSpPr>
          <p:cNvPr id="29" name="Text 26">
            <a:extLst xmlns:a="http://schemas.openxmlformats.org/drawingml/2006/main">
              <a:ext uri="{FF2B5EF4-FFF2-40B4-BE49-F238E27FC236}">
                <a16:creationId xmlns:a16="http://schemas.microsoft.com/office/drawing/2014/main" id="{2E5EFA08-5E85-44E1-A85A-7206418CB56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880033482"/>
      </p:ext>
    </p:extLst>
  </p:cSld>
</p:sld>
</file>

<file path=ppt/slides/slide8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726D634-A136-4884-8341-088983ABB82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PASS TWO  ·  WHERE THE MARKS ARE</a:t>
            </a:r>
            <a:endParaRPr sz="950"/>
          </a:p>
        </p:txBody>
      </p:sp>
      <p:sp>
        <p:nvSpPr>
          <p:cNvPr id="3" name="Text 1">
            <a:extLst xmlns:a="http://schemas.openxmlformats.org/drawingml/2006/main">
              <a:ext uri="{FF2B5EF4-FFF2-40B4-BE49-F238E27FC236}">
                <a16:creationId xmlns:a16="http://schemas.microsoft.com/office/drawing/2014/main" id="{88D6966C-F51F-450C-AC33-0CB87446739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Two clusters carry 40 of roughly 130 technical marks — and neither is the capability</a:t>
            </a:r>
            <a:endParaRPr sz="1900"/>
          </a:p>
          <a:p xmlns:a="http://schemas.openxmlformats.org/drawingml/2006/main">
            <a:pPr marL="0" indent="0">
              <a:lnSpc>
                <a:spcPts val="2400"/>
              </a:lnSpc>
              <a:buNone/>
            </a:pPr>
            <a:r>
              <a:rPr sz="1900" b="1">
                <a:solidFill>
                  <a:srgbClr val="102A43"/>
                </a:solidFill>
                <a:latin typeface="Arial"/>
                <a:ea typeface="Arial"/>
                <a:cs typeface="Arial"/>
              </a:rPr>
              <a:t>narrative most bidders lead with</a:t>
            </a:r>
            <a:endParaRPr sz="1900"/>
          </a:p>
        </p:txBody>
      </p:sp>
      <p:graphicFrame>
        <p:nvGraphicFramePr>
          <p:cNvPr id="24" name="Chart 0"/>
          <p:cNvGraphicFramePr/>
          <p:nvPr/>
        </p:nvGraphicFramePr>
        <p:xfrm>
          <a:off xmlns:a="http://schemas.openxmlformats.org/drawingml/2006/main" x="566928" y="1426464"/>
          <a:ext xmlns:a="http://schemas.openxmlformats.org/drawingml/2006/main" cx="6217920" cy="3200400"/>
        </p:xfrm>
        <a:graphic xmlns:a="http://schemas.openxmlformats.org/drawingml/2006/main">
          <a:graphicData uri="http://schemas.openxmlformats.org/drawingml/2006/chart">
            <c:chart xmlns:r="http://schemas.openxmlformats.org/officeDocument/2006/relationships" xmlns:c="http://schemas.openxmlformats.org/drawingml/2006/chart" r:id="R0c6cf52b0ef54433"/>
          </a:graphicData>
        </a:graphic>
      </p:graphicFrame>
      <p:sp>
        <p:nvSpPr>
          <p:cNvPr id="5" name="Text 2">
            <a:extLst xmlns:a="http://schemas.openxmlformats.org/drawingml/2006/main">
              <a:ext uri="{FF2B5EF4-FFF2-40B4-BE49-F238E27FC236}">
                <a16:creationId xmlns:a16="http://schemas.microsoft.com/office/drawing/2014/main" id="{D0BE68CC-437F-4B06-968B-0D3432A47ED4}"/>
              </a:ext>
            </a:extLst>
          </p:cNvPr>
          <p:cNvSpPr>
            <a:spLocks xmlns:a="http://schemas.openxmlformats.org/drawingml/2006/main" noGrp="1"/>
          </p:cNvSpPr>
          <p:nvPr/>
        </p:nvSpPr>
        <p:spPr>
          <a:xfrm xmlns:a="http://schemas.openxmlformats.org/drawingml/2006/main">
            <a:off x="566928" y="4700016"/>
            <a:ext cx="6217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Reconstructed distribution of technical marks from the published evaluation parameters</a:t>
            </a:r>
            <a:endParaRPr sz="880"/>
          </a:p>
        </p:txBody>
      </p:sp>
      <p:sp>
        <p:nvSpPr>
          <p:cNvPr id="6" name="Shape 3">
            <a:extLst xmlns:a="http://schemas.openxmlformats.org/drawingml/2006/main">
              <a:ext uri="{FF2B5EF4-FFF2-40B4-BE49-F238E27FC236}">
                <a16:creationId xmlns:a16="http://schemas.microsoft.com/office/drawing/2014/main" id="{FD7247FB-7DD2-4F44-8BDD-9AD7077D2605}"/>
              </a:ext>
            </a:extLst>
          </p:cNvPr>
          <p:cNvSpPr>
            <a:spLocks xmlns:a="http://schemas.openxmlformats.org/drawingml/2006/main" noGrp="1"/>
          </p:cNvSpPr>
          <p:nvPr/>
        </p:nvSpPr>
        <p:spPr>
          <a:xfrm xmlns:a="http://schemas.openxmlformats.org/drawingml/2006/main">
            <a:off x="7150608" y="1426464"/>
            <a:ext cx="2194560" cy="877824"/>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863F065F-8746-4CD1-94E0-63E4512E8BC4}"/>
              </a:ext>
            </a:extLst>
          </p:cNvPr>
          <p:cNvSpPr>
            <a:spLocks xmlns:a="http://schemas.openxmlformats.org/drawingml/2006/main" noGrp="1"/>
          </p:cNvSpPr>
          <p:nvPr/>
        </p:nvSpPr>
        <p:spPr>
          <a:xfrm xmlns:a="http://schemas.openxmlformats.org/drawingml/2006/main">
            <a:off x="7278624" y="1545336"/>
            <a:ext cx="19385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B04A25"/>
                </a:solidFill>
                <a:latin typeface="Arial"/>
                <a:ea typeface="Arial"/>
                <a:cs typeface="Arial"/>
              </a:rPr>
              <a:t>40</a:t>
            </a:r>
            <a:endParaRPr sz="2400"/>
          </a:p>
        </p:txBody>
      </p:sp>
      <p:sp>
        <p:nvSpPr>
          <p:cNvPr id="8" name="Text 5">
            <a:extLst xmlns:a="http://schemas.openxmlformats.org/drawingml/2006/main">
              <a:ext uri="{FF2B5EF4-FFF2-40B4-BE49-F238E27FC236}">
                <a16:creationId xmlns:a16="http://schemas.microsoft.com/office/drawing/2014/main" id="{4FC09590-0529-4B22-A16A-4E3A6E39D058}"/>
              </a:ext>
            </a:extLst>
          </p:cNvPr>
          <p:cNvSpPr>
            <a:spLocks xmlns:a="http://schemas.openxmlformats.org/drawingml/2006/main" noGrp="1"/>
          </p:cNvSpPr>
          <p:nvPr/>
        </p:nvSpPr>
        <p:spPr>
          <a:xfrm xmlns:a="http://schemas.openxmlformats.org/drawingml/2006/main">
            <a:off x="7278624" y="1938528"/>
            <a:ext cx="19385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marks in architecture</a:t>
            </a:r>
            <a:endParaRPr sz="860"/>
          </a:p>
          <a:p xmlns:a="http://schemas.openxmlformats.org/drawingml/2006/main">
            <a:pPr marL="0" indent="0">
              <a:lnSpc>
                <a:spcPts val="1050"/>
              </a:lnSpc>
              <a:buNone/>
            </a:pPr>
            <a:r>
              <a:rPr sz="860">
                <a:solidFill>
                  <a:srgbClr val="486581"/>
                </a:solidFill>
                <a:latin typeface="Arial"/>
                <a:ea typeface="Arial"/>
                <a:cs typeface="Arial"/>
              </a:rPr>
              <a:t>plus the presentation</a:t>
            </a:r>
            <a:endParaRPr sz="860"/>
          </a:p>
        </p:txBody>
      </p:sp>
      <p:sp>
        <p:nvSpPr>
          <p:cNvPr id="9" name="Shape 6">
            <a:extLst xmlns:a="http://schemas.openxmlformats.org/drawingml/2006/main">
              <a:ext uri="{FF2B5EF4-FFF2-40B4-BE49-F238E27FC236}">
                <a16:creationId xmlns:a16="http://schemas.microsoft.com/office/drawing/2014/main" id="{56D05628-948F-4840-B64A-C40AA5CFF4DF}"/>
              </a:ext>
            </a:extLst>
          </p:cNvPr>
          <p:cNvSpPr>
            <a:spLocks xmlns:a="http://schemas.openxmlformats.org/drawingml/2006/main" noGrp="1"/>
          </p:cNvSpPr>
          <p:nvPr/>
        </p:nvSpPr>
        <p:spPr>
          <a:xfrm xmlns:a="http://schemas.openxmlformats.org/drawingml/2006/main">
            <a:off x="9427464" y="1426464"/>
            <a:ext cx="2194560" cy="877824"/>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3D47ECBC-6ADD-4FC3-9411-27C30A049ACD}"/>
              </a:ext>
            </a:extLst>
          </p:cNvPr>
          <p:cNvSpPr>
            <a:spLocks xmlns:a="http://schemas.openxmlformats.org/drawingml/2006/main" noGrp="1"/>
          </p:cNvSpPr>
          <p:nvPr/>
        </p:nvSpPr>
        <p:spPr>
          <a:xfrm xmlns:a="http://schemas.openxmlformats.org/drawingml/2006/main">
            <a:off x="9555480" y="1545336"/>
            <a:ext cx="193852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02A43"/>
                </a:solidFill>
                <a:latin typeface="Arial"/>
                <a:ea typeface="Arial"/>
                <a:cs typeface="Arial"/>
              </a:rPr>
              <a:t>50</a:t>
            </a:r>
            <a:endParaRPr sz="2400"/>
          </a:p>
        </p:txBody>
      </p:sp>
      <p:sp>
        <p:nvSpPr>
          <p:cNvPr id="11" name="Text 8">
            <a:extLst xmlns:a="http://schemas.openxmlformats.org/drawingml/2006/main">
              <a:ext uri="{FF2B5EF4-FFF2-40B4-BE49-F238E27FC236}">
                <a16:creationId xmlns:a16="http://schemas.microsoft.com/office/drawing/2014/main" id="{452B7579-401E-4222-9689-1C4CDFDFFEF8}"/>
              </a:ext>
            </a:extLst>
          </p:cNvPr>
          <p:cNvSpPr>
            <a:spLocks xmlns:a="http://schemas.openxmlformats.org/drawingml/2006/main" noGrp="1"/>
          </p:cNvSpPr>
          <p:nvPr/>
        </p:nvSpPr>
        <p:spPr>
          <a:xfrm xmlns:a="http://schemas.openxmlformats.org/drawingml/2006/main">
            <a:off x="9555480" y="1938528"/>
            <a:ext cx="19385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marks awarded on</a:t>
            </a:r>
            <a:endParaRPr sz="860"/>
          </a:p>
          <a:p xmlns:a="http://schemas.openxmlformats.org/drawingml/2006/main">
            <a:pPr marL="0" indent="0">
              <a:lnSpc>
                <a:spcPts val="1050"/>
              </a:lnSpc>
              <a:buNone/>
            </a:pPr>
            <a:r>
              <a:rPr sz="860">
                <a:solidFill>
                  <a:srgbClr val="486581"/>
                </a:solidFill>
                <a:latin typeface="Arial"/>
                <a:ea typeface="Arial"/>
                <a:cs typeface="Arial"/>
              </a:rPr>
              <a:t>counted track record</a:t>
            </a:r>
            <a:endParaRPr sz="860"/>
          </a:p>
        </p:txBody>
      </p:sp>
      <p:sp>
        <p:nvSpPr>
          <p:cNvPr id="12" name="Text 9">
            <a:extLst xmlns:a="http://schemas.openxmlformats.org/drawingml/2006/main">
              <a:ext uri="{FF2B5EF4-FFF2-40B4-BE49-F238E27FC236}">
                <a16:creationId xmlns:a16="http://schemas.microsoft.com/office/drawing/2014/main" id="{142CBA17-55D1-446A-AD35-0D6CE072BA80}"/>
              </a:ext>
            </a:extLst>
          </p:cNvPr>
          <p:cNvSpPr>
            <a:spLocks xmlns:a="http://schemas.openxmlformats.org/drawingml/2006/main" noGrp="1"/>
          </p:cNvSpPr>
          <p:nvPr/>
        </p:nvSpPr>
        <p:spPr>
          <a:xfrm xmlns:a="http://schemas.openxmlformats.org/drawingml/2006/main">
            <a:off x="7150608" y="2450592"/>
            <a:ext cx="44714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distribution actually implies</a:t>
            </a:r>
            <a:endParaRPr sz="1100"/>
          </a:p>
        </p:txBody>
      </p:sp>
      <p:sp>
        <p:nvSpPr>
          <p:cNvPr id="13" name="Shape 10">
            <a:extLst xmlns:a="http://schemas.openxmlformats.org/drawingml/2006/main">
              <a:ext uri="{FF2B5EF4-FFF2-40B4-BE49-F238E27FC236}">
                <a16:creationId xmlns:a16="http://schemas.microsoft.com/office/drawing/2014/main" id="{FEC4FA51-68C6-400D-BDA6-F23248F00647}"/>
              </a:ext>
            </a:extLst>
          </p:cNvPr>
          <p:cNvSpPr>
            <a:spLocks xmlns:a="http://schemas.openxmlformats.org/drawingml/2006/main" noGrp="1"/>
          </p:cNvSpPr>
          <p:nvPr/>
        </p:nvSpPr>
        <p:spPr>
          <a:xfrm xmlns:a="http://schemas.openxmlformats.org/drawingml/2006/main">
            <a:off x="7150608" y="2706624"/>
            <a:ext cx="4471416" cy="20117"/>
          </a:xfrm>
          <a:prstGeom xmlns:a="http://schemas.openxmlformats.org/drawingml/2006/main" prst="rect">
            <a:avLst/>
          </a:prstGeom>
          <a:solidFill xmlns:a="http://schemas.openxmlformats.org/drawingml/2006/main">
            <a:srgbClr val="102A43"/>
          </a:solidFill>
        </p:spPr>
      </p:sp>
      <p:sp>
        <p:nvSpPr>
          <p:cNvPr id="14" name="Text 11">
            <a:extLst xmlns:a="http://schemas.openxmlformats.org/drawingml/2006/main">
              <a:ext uri="{FF2B5EF4-FFF2-40B4-BE49-F238E27FC236}">
                <a16:creationId xmlns:a16="http://schemas.microsoft.com/office/drawing/2014/main" id="{92A7F99E-621D-4664-818B-29DCF79B57C6}"/>
              </a:ext>
            </a:extLst>
          </p:cNvPr>
          <p:cNvSpPr>
            <a:spLocks xmlns:a="http://schemas.openxmlformats.org/drawingml/2006/main" noGrp="1"/>
          </p:cNvSpPr>
          <p:nvPr/>
        </p:nvSpPr>
        <p:spPr>
          <a:xfrm xmlns:a="http://schemas.openxmlformats.org/drawingml/2006/main">
            <a:off x="7150608" y="2852928"/>
            <a:ext cx="4471416"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Architecture and the live presentation are the same argument scored twice — write them together, not in separate workstreams.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Fifty marks are counted, not argued: numbers of deployments, banks, GPU-stack builds, years of experience. No amount of writing moves them.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That split decides effort allocation. Roughly half the score is fixed on the day the bid opens; the other half is genuinely winnable.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Risk, governance and the site visit carry 15 marks and are usually assigned to whoever is least busy.</a:t>
            </a:r>
            <a:endParaRPr sz="950"/>
          </a:p>
        </p:txBody>
      </p:sp>
      <p:sp>
        <p:nvSpPr>
          <p:cNvPr id="15" name="Shape 12">
            <a:extLst xmlns:a="http://schemas.openxmlformats.org/drawingml/2006/main">
              <a:ext uri="{FF2B5EF4-FFF2-40B4-BE49-F238E27FC236}">
                <a16:creationId xmlns:a16="http://schemas.microsoft.com/office/drawing/2014/main" id="{2C4D4C0D-750D-4156-B3D6-246A5645F036}"/>
              </a:ext>
            </a:extLst>
          </p:cNvPr>
          <p:cNvSpPr>
            <a:spLocks xmlns:a="http://schemas.openxmlformats.org/drawingml/2006/main" noGrp="1"/>
          </p:cNvSpPr>
          <p:nvPr/>
        </p:nvSpPr>
        <p:spPr>
          <a:xfrm xmlns:a="http://schemas.openxmlformats.org/drawingml/2006/main">
            <a:off x="566928" y="5029200"/>
            <a:ext cx="11057839" cy="1042416"/>
          </a:xfrm>
          <a:prstGeom xmlns:a="http://schemas.openxmlformats.org/drawingml/2006/main" prst="rect">
            <a:avLst/>
          </a:prstGeom>
          <a:solidFill xmlns:a="http://schemas.openxmlformats.org/drawingml/2006/main">
            <a:srgbClr val="F3E6E0"/>
          </a:solidFill>
        </p:spPr>
      </p:sp>
      <p:sp>
        <p:nvSpPr>
          <p:cNvPr id="16" name="Text 13">
            <a:extLst xmlns:a="http://schemas.openxmlformats.org/drawingml/2006/main">
              <a:ext uri="{FF2B5EF4-FFF2-40B4-BE49-F238E27FC236}">
                <a16:creationId xmlns:a16="http://schemas.microsoft.com/office/drawing/2014/main" id="{CA6ACD3B-0071-4ED6-A15B-8F7E5CBF28F2}"/>
              </a:ext>
            </a:extLst>
          </p:cNvPr>
          <p:cNvSpPr>
            <a:spLocks xmlns:a="http://schemas.openxmlformats.org/drawingml/2006/main" noGrp="1"/>
          </p:cNvSpPr>
          <p:nvPr/>
        </p:nvSpPr>
        <p:spPr>
          <a:xfrm xmlns:a="http://schemas.openxmlformats.org/drawingml/2006/main">
            <a:off x="804672" y="517550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allocation rule this produces</a:t>
            </a:r>
            <a:endParaRPr sz="1100"/>
          </a:p>
        </p:txBody>
      </p:sp>
      <p:sp>
        <p:nvSpPr>
          <p:cNvPr id="17" name="Text 14">
            <a:extLst xmlns:a="http://schemas.openxmlformats.org/drawingml/2006/main">
              <a:ext uri="{FF2B5EF4-FFF2-40B4-BE49-F238E27FC236}">
                <a16:creationId xmlns:a16="http://schemas.microsoft.com/office/drawing/2014/main" id="{E860B50E-96D9-4175-B122-3CBF59D1F7FA}"/>
              </a:ext>
            </a:extLst>
          </p:cNvPr>
          <p:cNvSpPr>
            <a:spLocks xmlns:a="http://schemas.openxmlformats.org/drawingml/2006/main" noGrp="1"/>
          </p:cNvSpPr>
          <p:nvPr/>
        </p:nvSpPr>
        <p:spPr>
          <a:xfrm xmlns:a="http://schemas.openxmlformats.org/drawingml/2006/main">
            <a:off x="804672" y="5431536"/>
            <a:ext cx="10582351"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Spend proportionally to winnable marks, not to page count. If half the technical score is fixed by countable history, the bid team's effort belongs almost entirely in architecture, the implementation plan, the showcase use cases and the presentation — and the counted parameters belong in a partnering decision made before the bid starts, not in the writing.</a:t>
            </a:r>
            <a:endParaRPr sz="990"/>
          </a:p>
        </p:txBody>
      </p:sp>
      <p:sp>
        <p:nvSpPr>
          <p:cNvPr id="18" name="Shape 15">
            <a:extLst xmlns:a="http://schemas.openxmlformats.org/drawingml/2006/main">
              <a:ext uri="{FF2B5EF4-FFF2-40B4-BE49-F238E27FC236}">
                <a16:creationId xmlns:a16="http://schemas.microsoft.com/office/drawing/2014/main" id="{5C933CA7-D89C-41C0-8F88-192EC2FF164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9" name="Text 16">
            <a:extLst xmlns:a="http://schemas.openxmlformats.org/drawingml/2006/main">
              <a:ext uri="{FF2B5EF4-FFF2-40B4-BE49-F238E27FC236}">
                <a16:creationId xmlns:a16="http://schemas.microsoft.com/office/drawing/2014/main" id="{47D159FA-84DC-4575-A8DF-07AC7B6432C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bid analysis, prepared for leadership review</a:t>
            </a:r>
            <a:endParaRPr sz="850"/>
          </a:p>
        </p:txBody>
      </p:sp>
      <p:sp>
        <p:nvSpPr>
          <p:cNvPr id="20" name="Text 17">
            <a:extLst xmlns:a="http://schemas.openxmlformats.org/drawingml/2006/main">
              <a:ext uri="{FF2B5EF4-FFF2-40B4-BE49-F238E27FC236}">
                <a16:creationId xmlns:a16="http://schemas.microsoft.com/office/drawing/2014/main" id="{EB1246DD-17DA-43A4-AF2B-F01B4794A19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873946296"/>
      </p:ext>
    </p:extLst>
  </p:cSld>
</p:sld>
</file>

<file path=ppt/slides/slide9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6A85F7-40F4-40CA-9226-5994165B8D4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PASS ONE  ·  THE GATES</a:t>
            </a:r>
            <a:endParaRPr sz="950"/>
          </a:p>
        </p:txBody>
      </p:sp>
      <p:sp>
        <p:nvSpPr>
          <p:cNvPr id="3" name="Text 1">
            <a:extLst xmlns:a="http://schemas.openxmlformats.org/drawingml/2006/main">
              <a:ext uri="{FF2B5EF4-FFF2-40B4-BE49-F238E27FC236}">
                <a16:creationId xmlns:a16="http://schemas.microsoft.com/office/drawing/2014/main" id="{EF2B492B-20EF-469E-B35E-51171BBD3EA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pass/fail gates sit in front of the technical evaluation — and two of them decide</a:t>
            </a:r>
            <a:endParaRPr sz="1900"/>
          </a:p>
          <a:p xmlns:a="http://schemas.openxmlformats.org/drawingml/2006/main">
            <a:pPr marL="0" indent="0">
              <a:lnSpc>
                <a:spcPts val="2400"/>
              </a:lnSpc>
              <a:buNone/>
            </a:pPr>
            <a:r>
              <a:rPr sz="1900" b="1">
                <a:solidFill>
                  <a:srgbClr val="102A43"/>
                </a:solidFill>
                <a:latin typeface="Arial"/>
                <a:ea typeface="Arial"/>
                <a:cs typeface="Arial"/>
              </a:rPr>
              <a:t>the entire field before a single mark is awarded</a:t>
            </a:r>
            <a:endParaRPr sz="1900"/>
          </a:p>
        </p:txBody>
      </p:sp>
      <p:sp>
        <p:nvSpPr>
          <p:cNvPr id="4" name="Shape 2">
            <a:extLst xmlns:a="http://schemas.openxmlformats.org/drawingml/2006/main">
              <a:ext uri="{FF2B5EF4-FFF2-40B4-BE49-F238E27FC236}">
                <a16:creationId xmlns:a16="http://schemas.microsoft.com/office/drawing/2014/main" id="{EC015623-D994-4B6D-8845-24256AB1B2C9}"/>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DDC2A39A-8A7E-491D-9596-2415EF8FD66D}"/>
              </a:ext>
            </a:extLst>
          </p:cNvPr>
          <p:cNvSpPr>
            <a:spLocks xmlns:a="http://schemas.openxmlformats.org/drawingml/2006/main" noGrp="1"/>
          </p:cNvSpPr>
          <p:nvPr/>
        </p:nvSpPr>
        <p:spPr>
          <a:xfrm xmlns:a="http://schemas.openxmlformats.org/drawingml/2006/main">
            <a:off x="676656" y="1444752"/>
            <a:ext cx="28895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Gate</a:t>
            </a:r>
            <a:endParaRPr sz="920"/>
          </a:p>
        </p:txBody>
      </p:sp>
      <p:sp>
        <p:nvSpPr>
          <p:cNvPr id="6" name="Text 4">
            <a:extLst xmlns:a="http://schemas.openxmlformats.org/drawingml/2006/main">
              <a:ext uri="{FF2B5EF4-FFF2-40B4-BE49-F238E27FC236}">
                <a16:creationId xmlns:a16="http://schemas.microsoft.com/office/drawing/2014/main" id="{26C936D9-E981-4712-90FD-927948E248EB}"/>
              </a:ext>
            </a:extLst>
          </p:cNvPr>
          <p:cNvSpPr>
            <a:spLocks xmlns:a="http://schemas.openxmlformats.org/drawingml/2006/main" noGrp="1"/>
          </p:cNvSpPr>
          <p:nvPr/>
        </p:nvSpPr>
        <p:spPr>
          <a:xfrm xmlns:a="http://schemas.openxmlformats.org/drawingml/2006/main">
            <a:off x="3877056" y="1444752"/>
            <a:ext cx="3255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Threshold as published</a:t>
            </a:r>
            <a:endParaRPr sz="920"/>
          </a:p>
        </p:txBody>
      </p:sp>
      <p:sp>
        <p:nvSpPr>
          <p:cNvPr id="7" name="Text 5">
            <a:extLst xmlns:a="http://schemas.openxmlformats.org/drawingml/2006/main">
              <a:ext uri="{FF2B5EF4-FFF2-40B4-BE49-F238E27FC236}">
                <a16:creationId xmlns:a16="http://schemas.microsoft.com/office/drawing/2014/main" id="{F16AB4A7-3B7D-49FD-9D17-F6F425011F73}"/>
              </a:ext>
            </a:extLst>
          </p:cNvPr>
          <p:cNvSpPr>
            <a:spLocks xmlns:a="http://schemas.openxmlformats.org/drawingml/2006/main" noGrp="1"/>
          </p:cNvSpPr>
          <p:nvPr/>
        </p:nvSpPr>
        <p:spPr>
          <a:xfrm xmlns:a="http://schemas.openxmlformats.org/drawingml/2006/main">
            <a:off x="7443216" y="1444752"/>
            <a:ext cx="23408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Nature</a:t>
            </a:r>
            <a:endParaRPr sz="920"/>
          </a:p>
        </p:txBody>
      </p:sp>
      <p:sp>
        <p:nvSpPr>
          <p:cNvPr id="8" name="Text 6">
            <a:extLst xmlns:a="http://schemas.openxmlformats.org/drawingml/2006/main">
              <a:ext uri="{FF2B5EF4-FFF2-40B4-BE49-F238E27FC236}">
                <a16:creationId xmlns:a16="http://schemas.microsoft.com/office/drawing/2014/main" id="{241D499E-E1E5-4FFE-8439-5CB6FB472184}"/>
              </a:ext>
            </a:extLst>
          </p:cNvPr>
          <p:cNvSpPr>
            <a:spLocks xmlns:a="http://schemas.openxmlformats.org/drawingml/2006/main" noGrp="1"/>
          </p:cNvSpPr>
          <p:nvPr/>
        </p:nvSpPr>
        <p:spPr>
          <a:xfrm xmlns:a="http://schemas.openxmlformats.org/drawingml/2006/main">
            <a:off x="10094976" y="1444752"/>
            <a:ext cx="14173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Decisive?</a:t>
            </a:r>
            <a:endParaRPr sz="920"/>
          </a:p>
        </p:txBody>
      </p:sp>
      <p:sp>
        <p:nvSpPr>
          <p:cNvPr id="9" name="Text 7">
            <a:extLst xmlns:a="http://schemas.openxmlformats.org/drawingml/2006/main">
              <a:ext uri="{FF2B5EF4-FFF2-40B4-BE49-F238E27FC236}">
                <a16:creationId xmlns:a16="http://schemas.microsoft.com/office/drawing/2014/main" id="{7BF46AD4-683E-4F0D-ABB1-D2A42950B4CD}"/>
              </a:ext>
            </a:extLst>
          </p:cNvPr>
          <p:cNvSpPr>
            <a:spLocks xmlns:a="http://schemas.openxmlformats.org/drawingml/2006/main" noGrp="1"/>
          </p:cNvSpPr>
          <p:nvPr/>
        </p:nvSpPr>
        <p:spPr>
          <a:xfrm xmlns:a="http://schemas.openxmlformats.org/drawingml/2006/main">
            <a:off x="676656" y="183794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90" b="1">
                <a:solidFill>
                  <a:srgbClr val="102A43"/>
                </a:solidFill>
                <a:latin typeface="Arial"/>
                <a:ea typeface="Arial"/>
                <a:cs typeface="Arial"/>
              </a:rPr>
              <a:t>Prior platform track record</a:t>
            </a:r>
            <a:endParaRPr sz="990"/>
          </a:p>
        </p:txBody>
      </p:sp>
      <p:sp>
        <p:nvSpPr>
          <p:cNvPr id="10" name="Text 8">
            <a:extLst xmlns:a="http://schemas.openxmlformats.org/drawingml/2006/main">
              <a:ext uri="{FF2B5EF4-FFF2-40B4-BE49-F238E27FC236}">
                <a16:creationId xmlns:a16="http://schemas.microsoft.com/office/drawing/2014/main" id="{F5D69065-FBD4-4330-A796-06E7E87EBCF7}"/>
              </a:ext>
            </a:extLst>
          </p:cNvPr>
          <p:cNvSpPr>
            <a:spLocks xmlns:a="http://schemas.openxmlformats.org/drawingml/2006/main" noGrp="1"/>
          </p:cNvSpPr>
          <p:nvPr/>
        </p:nvSpPr>
        <p:spPr>
          <a:xfrm xmlns:a="http://schemas.openxmlformats.org/drawingml/2006/main">
            <a:off x="3877056" y="183794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Three or more BFSI enterprise AI platform builds, each above a stated crore threshold</a:t>
            </a:r>
            <a:endParaRPr sz="940"/>
          </a:p>
        </p:txBody>
      </p:sp>
      <p:sp>
        <p:nvSpPr>
          <p:cNvPr id="11" name="Text 9">
            <a:extLst xmlns:a="http://schemas.openxmlformats.org/drawingml/2006/main">
              <a:ext uri="{FF2B5EF4-FFF2-40B4-BE49-F238E27FC236}">
                <a16:creationId xmlns:a16="http://schemas.microsoft.com/office/drawing/2014/main" id="{00C7375F-7263-49DD-AFEA-0C1B743AD3FD}"/>
              </a:ext>
            </a:extLst>
          </p:cNvPr>
          <p:cNvSpPr>
            <a:spLocks xmlns:a="http://schemas.openxmlformats.org/drawingml/2006/main" noGrp="1"/>
          </p:cNvSpPr>
          <p:nvPr/>
        </p:nvSpPr>
        <p:spPr>
          <a:xfrm xmlns:a="http://schemas.openxmlformats.org/drawingml/2006/main">
            <a:off x="7443216" y="183794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Countable history</a:t>
            </a:r>
            <a:endParaRPr sz="940"/>
          </a:p>
        </p:txBody>
      </p:sp>
      <p:sp>
        <p:nvSpPr>
          <p:cNvPr id="12" name="Text 10">
            <a:extLst xmlns:a="http://schemas.openxmlformats.org/drawingml/2006/main">
              <a:ext uri="{FF2B5EF4-FFF2-40B4-BE49-F238E27FC236}">
                <a16:creationId xmlns:a16="http://schemas.microsoft.com/office/drawing/2014/main" id="{8312A4B5-E0A3-4985-9083-9A296D0A5FC0}"/>
              </a:ext>
            </a:extLst>
          </p:cNvPr>
          <p:cNvSpPr>
            <a:spLocks xmlns:a="http://schemas.openxmlformats.org/drawingml/2006/main" noGrp="1"/>
          </p:cNvSpPr>
          <p:nvPr/>
        </p:nvSpPr>
        <p:spPr>
          <a:xfrm xmlns:a="http://schemas.openxmlformats.org/drawingml/2006/main">
            <a:off x="10094976" y="183794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1A1A1A"/>
                </a:solidFill>
                <a:latin typeface="Arial"/>
                <a:ea typeface="Arial"/>
                <a:cs typeface="Arial"/>
              </a:rPr>
              <a:t>Decisive</a:t>
            </a:r>
            <a:endParaRPr sz="960"/>
          </a:p>
        </p:txBody>
      </p:sp>
      <p:sp>
        <p:nvSpPr>
          <p:cNvPr id="13" name="Shape 11">
            <a:extLst xmlns:a="http://schemas.openxmlformats.org/drawingml/2006/main">
              <a:ext uri="{FF2B5EF4-FFF2-40B4-BE49-F238E27FC236}">
                <a16:creationId xmlns:a16="http://schemas.microsoft.com/office/drawing/2014/main" id="{D8BED8CE-E3E4-467A-AC61-CECAEE540C27}"/>
              </a:ext>
            </a:extLst>
          </p:cNvPr>
          <p:cNvSpPr>
            <a:spLocks xmlns:a="http://schemas.openxmlformats.org/drawingml/2006/main" noGrp="1"/>
          </p:cNvSpPr>
          <p:nvPr/>
        </p:nvSpPr>
        <p:spPr>
          <a:xfrm xmlns:a="http://schemas.openxmlformats.org/drawingml/2006/main">
            <a:off x="566928" y="2249424"/>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32E060AF-8A6B-4146-AB8A-FC4775FDA238}"/>
              </a:ext>
            </a:extLst>
          </p:cNvPr>
          <p:cNvSpPr>
            <a:spLocks xmlns:a="http://schemas.openxmlformats.org/drawingml/2006/main" noGrp="1"/>
          </p:cNvSpPr>
          <p:nvPr/>
        </p:nvSpPr>
        <p:spPr>
          <a:xfrm xmlns:a="http://schemas.openxmlformats.org/drawingml/2006/main">
            <a:off x="566928" y="2249424"/>
            <a:ext cx="11057839" cy="548640"/>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1E45272F-BD45-4639-8FB0-0EDF5154ABB0}"/>
              </a:ext>
            </a:extLst>
          </p:cNvPr>
          <p:cNvSpPr>
            <a:spLocks xmlns:a="http://schemas.openxmlformats.org/drawingml/2006/main" noGrp="1"/>
          </p:cNvSpPr>
          <p:nvPr/>
        </p:nvSpPr>
        <p:spPr>
          <a:xfrm xmlns:a="http://schemas.openxmlformats.org/drawingml/2006/main">
            <a:off x="676656" y="238658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90" b="1">
                <a:solidFill>
                  <a:srgbClr val="102A43"/>
                </a:solidFill>
                <a:latin typeface="Arial"/>
                <a:ea typeface="Arial"/>
                <a:cs typeface="Arial"/>
              </a:rPr>
              <a:t>Named GPU-stack build</a:t>
            </a:r>
            <a:endParaRPr sz="990"/>
          </a:p>
        </p:txBody>
      </p:sp>
      <p:sp>
        <p:nvSpPr>
          <p:cNvPr id="16" name="Text 14">
            <a:extLst xmlns:a="http://schemas.openxmlformats.org/drawingml/2006/main">
              <a:ext uri="{FF2B5EF4-FFF2-40B4-BE49-F238E27FC236}">
                <a16:creationId xmlns:a16="http://schemas.microsoft.com/office/drawing/2014/main" id="{79004B8D-54FF-456B-83E3-0E079C149774}"/>
              </a:ext>
            </a:extLst>
          </p:cNvPr>
          <p:cNvSpPr>
            <a:spLocks xmlns:a="http://schemas.openxmlformats.org/drawingml/2006/main" noGrp="1"/>
          </p:cNvSpPr>
          <p:nvPr/>
        </p:nvSpPr>
        <p:spPr>
          <a:xfrm xmlns:a="http://schemas.openxmlformats.org/drawingml/2006/main">
            <a:off x="3877056" y="238658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At least one successful enterprise AI platform on the named accelerator stack</a:t>
            </a:r>
            <a:endParaRPr sz="940"/>
          </a:p>
        </p:txBody>
      </p:sp>
      <p:sp>
        <p:nvSpPr>
          <p:cNvPr id="17" name="Text 15">
            <a:extLst xmlns:a="http://schemas.openxmlformats.org/drawingml/2006/main">
              <a:ext uri="{FF2B5EF4-FFF2-40B4-BE49-F238E27FC236}">
                <a16:creationId xmlns:a16="http://schemas.microsoft.com/office/drawing/2014/main" id="{398695E8-0ADE-4653-946C-A6D34D893E45}"/>
              </a:ext>
            </a:extLst>
          </p:cNvPr>
          <p:cNvSpPr>
            <a:spLocks xmlns:a="http://schemas.openxmlformats.org/drawingml/2006/main" noGrp="1"/>
          </p:cNvSpPr>
          <p:nvPr/>
        </p:nvSpPr>
        <p:spPr>
          <a:xfrm xmlns:a="http://schemas.openxmlformats.org/drawingml/2006/main">
            <a:off x="7443216" y="238658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Countable history</a:t>
            </a:r>
            <a:endParaRPr sz="940"/>
          </a:p>
        </p:txBody>
      </p:sp>
      <p:sp>
        <p:nvSpPr>
          <p:cNvPr id="18" name="Text 16">
            <a:extLst xmlns:a="http://schemas.openxmlformats.org/drawingml/2006/main">
              <a:ext uri="{FF2B5EF4-FFF2-40B4-BE49-F238E27FC236}">
                <a16:creationId xmlns:a16="http://schemas.microsoft.com/office/drawing/2014/main" id="{A07BD8D2-8596-489E-BCCE-D9D710C05D40}"/>
              </a:ext>
            </a:extLst>
          </p:cNvPr>
          <p:cNvSpPr>
            <a:spLocks xmlns:a="http://schemas.openxmlformats.org/drawingml/2006/main" noGrp="1"/>
          </p:cNvSpPr>
          <p:nvPr/>
        </p:nvSpPr>
        <p:spPr>
          <a:xfrm xmlns:a="http://schemas.openxmlformats.org/drawingml/2006/main">
            <a:off x="10094976" y="238658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1A1A1A"/>
                </a:solidFill>
                <a:latin typeface="Arial"/>
                <a:ea typeface="Arial"/>
                <a:cs typeface="Arial"/>
              </a:rPr>
              <a:t>Decisive</a:t>
            </a:r>
            <a:endParaRPr sz="960"/>
          </a:p>
        </p:txBody>
      </p:sp>
      <p:sp>
        <p:nvSpPr>
          <p:cNvPr id="19" name="Shape 17">
            <a:extLst xmlns:a="http://schemas.openxmlformats.org/drawingml/2006/main">
              <a:ext uri="{FF2B5EF4-FFF2-40B4-BE49-F238E27FC236}">
                <a16:creationId xmlns:a16="http://schemas.microsoft.com/office/drawing/2014/main" id="{A05E3732-0DAC-4E49-A5B7-ACAFF5A822F3}"/>
              </a:ext>
            </a:extLst>
          </p:cNvPr>
          <p:cNvSpPr>
            <a:spLocks xmlns:a="http://schemas.openxmlformats.org/drawingml/2006/main" noGrp="1"/>
          </p:cNvSpPr>
          <p:nvPr/>
        </p:nvSpPr>
        <p:spPr>
          <a:xfrm xmlns:a="http://schemas.openxmlformats.org/drawingml/2006/main">
            <a:off x="566928" y="2798064"/>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6D290118-ADDF-4999-B047-C2E1C4A82082}"/>
              </a:ext>
            </a:extLst>
          </p:cNvPr>
          <p:cNvSpPr>
            <a:spLocks xmlns:a="http://schemas.openxmlformats.org/drawingml/2006/main" noGrp="1"/>
          </p:cNvSpPr>
          <p:nvPr/>
        </p:nvSpPr>
        <p:spPr>
          <a:xfrm xmlns:a="http://schemas.openxmlformats.org/drawingml/2006/main">
            <a:off x="676656" y="293522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90" b="1">
                <a:solidFill>
                  <a:srgbClr val="102A43"/>
                </a:solidFill>
                <a:latin typeface="Arial"/>
                <a:ea typeface="Arial"/>
                <a:cs typeface="Arial"/>
              </a:rPr>
              <a:t>Turnover</a:t>
            </a:r>
            <a:endParaRPr sz="990"/>
          </a:p>
        </p:txBody>
      </p:sp>
      <p:sp>
        <p:nvSpPr>
          <p:cNvPr id="21" name="Text 19">
            <a:extLst xmlns:a="http://schemas.openxmlformats.org/drawingml/2006/main">
              <a:ext uri="{FF2B5EF4-FFF2-40B4-BE49-F238E27FC236}">
                <a16:creationId xmlns:a16="http://schemas.microsoft.com/office/drawing/2014/main" id="{8F196C22-A5B0-48B7-A5DE-A5B50A9C2767}"/>
              </a:ext>
            </a:extLst>
          </p:cNvPr>
          <p:cNvSpPr>
            <a:spLocks xmlns:a="http://schemas.openxmlformats.org/drawingml/2006/main" noGrp="1"/>
          </p:cNvSpPr>
          <p:nvPr/>
        </p:nvSpPr>
        <p:spPr>
          <a:xfrm xmlns:a="http://schemas.openxmlformats.org/drawingml/2006/main">
            <a:off x="3877056" y="29352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A three-year average well into the hundreds of crores</a:t>
            </a:r>
            <a:endParaRPr sz="940"/>
          </a:p>
        </p:txBody>
      </p:sp>
      <p:sp>
        <p:nvSpPr>
          <p:cNvPr id="22" name="Text 20">
            <a:extLst xmlns:a="http://schemas.openxmlformats.org/drawingml/2006/main">
              <a:ext uri="{FF2B5EF4-FFF2-40B4-BE49-F238E27FC236}">
                <a16:creationId xmlns:a16="http://schemas.microsoft.com/office/drawing/2014/main" id="{A843FB79-04FF-4BFE-9B41-0380EA8CB129}"/>
              </a:ext>
            </a:extLst>
          </p:cNvPr>
          <p:cNvSpPr>
            <a:spLocks xmlns:a="http://schemas.openxmlformats.org/drawingml/2006/main" noGrp="1"/>
          </p:cNvSpPr>
          <p:nvPr/>
        </p:nvSpPr>
        <p:spPr>
          <a:xfrm xmlns:a="http://schemas.openxmlformats.org/drawingml/2006/main">
            <a:off x="7443216" y="293522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Audited financials</a:t>
            </a:r>
            <a:endParaRPr sz="940"/>
          </a:p>
        </p:txBody>
      </p:sp>
      <p:sp>
        <p:nvSpPr>
          <p:cNvPr id="23" name="Text 21">
            <a:extLst xmlns:a="http://schemas.openxmlformats.org/drawingml/2006/main">
              <a:ext uri="{FF2B5EF4-FFF2-40B4-BE49-F238E27FC236}">
                <a16:creationId xmlns:a16="http://schemas.microsoft.com/office/drawing/2014/main" id="{41E3CE60-9B97-4E55-8D8A-EDA0C80BC17F}"/>
              </a:ext>
            </a:extLst>
          </p:cNvPr>
          <p:cNvSpPr>
            <a:spLocks xmlns:a="http://schemas.openxmlformats.org/drawingml/2006/main" noGrp="1"/>
          </p:cNvSpPr>
          <p:nvPr/>
        </p:nvSpPr>
        <p:spPr>
          <a:xfrm xmlns:a="http://schemas.openxmlformats.org/drawingml/2006/main">
            <a:off x="10094976" y="293522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1A1A1A"/>
                </a:solidFill>
                <a:latin typeface="Arial"/>
                <a:ea typeface="Arial"/>
                <a:cs typeface="Arial"/>
              </a:rPr>
              <a:t>Decisive</a:t>
            </a:r>
            <a:endParaRPr sz="960"/>
          </a:p>
        </p:txBody>
      </p:sp>
      <p:sp>
        <p:nvSpPr>
          <p:cNvPr id="24" name="Shape 22">
            <a:extLst xmlns:a="http://schemas.openxmlformats.org/drawingml/2006/main">
              <a:ext uri="{FF2B5EF4-FFF2-40B4-BE49-F238E27FC236}">
                <a16:creationId xmlns:a16="http://schemas.microsoft.com/office/drawing/2014/main" id="{33774506-E91A-4065-AAF1-E1C09E7893B4}"/>
              </a:ext>
            </a:extLst>
          </p:cNvPr>
          <p:cNvSpPr>
            <a:spLocks xmlns:a="http://schemas.openxmlformats.org/drawingml/2006/main" noGrp="1"/>
          </p:cNvSpPr>
          <p:nvPr/>
        </p:nvSpPr>
        <p:spPr>
          <a:xfrm xmlns:a="http://schemas.openxmlformats.org/drawingml/2006/main">
            <a:off x="566928" y="3346704"/>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A8F95E96-EE76-4D9F-9171-2ED589E3369A}"/>
              </a:ext>
            </a:extLst>
          </p:cNvPr>
          <p:cNvSpPr>
            <a:spLocks xmlns:a="http://schemas.openxmlformats.org/drawingml/2006/main" noGrp="1"/>
          </p:cNvSpPr>
          <p:nvPr/>
        </p:nvSpPr>
        <p:spPr>
          <a:xfrm xmlns:a="http://schemas.openxmlformats.org/drawingml/2006/main">
            <a:off x="566928" y="3346704"/>
            <a:ext cx="11057839" cy="548640"/>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EF2887BD-F519-445D-897B-CD62847FB996}"/>
              </a:ext>
            </a:extLst>
          </p:cNvPr>
          <p:cNvSpPr>
            <a:spLocks xmlns:a="http://schemas.openxmlformats.org/drawingml/2006/main" noGrp="1"/>
          </p:cNvSpPr>
          <p:nvPr/>
        </p:nvSpPr>
        <p:spPr>
          <a:xfrm xmlns:a="http://schemas.openxmlformats.org/drawingml/2006/main">
            <a:off x="676656" y="348386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90" b="1">
                <a:solidFill>
                  <a:srgbClr val="102A43"/>
                </a:solidFill>
                <a:latin typeface="Arial"/>
                <a:ea typeface="Arial"/>
                <a:cs typeface="Arial"/>
              </a:rPr>
              <a:t>Profitability</a:t>
            </a:r>
            <a:endParaRPr sz="990"/>
          </a:p>
        </p:txBody>
      </p:sp>
      <p:sp>
        <p:nvSpPr>
          <p:cNvPr id="27" name="Text 25">
            <a:extLst xmlns:a="http://schemas.openxmlformats.org/drawingml/2006/main">
              <a:ext uri="{FF2B5EF4-FFF2-40B4-BE49-F238E27FC236}">
                <a16:creationId xmlns:a16="http://schemas.microsoft.com/office/drawing/2014/main" id="{2E77C9B5-4B86-4F2F-94AA-B5211BBA1D3A}"/>
              </a:ext>
            </a:extLst>
          </p:cNvPr>
          <p:cNvSpPr>
            <a:spLocks xmlns:a="http://schemas.openxmlformats.org/drawingml/2006/main" noGrp="1"/>
          </p:cNvSpPr>
          <p:nvPr/>
        </p:nvSpPr>
        <p:spPr>
          <a:xfrm xmlns:a="http://schemas.openxmlformats.org/drawingml/2006/main">
            <a:off x="3877056" y="348386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Profit before tax positive in two of the last three years</a:t>
            </a:r>
            <a:endParaRPr sz="940"/>
          </a:p>
        </p:txBody>
      </p:sp>
      <p:sp>
        <p:nvSpPr>
          <p:cNvPr id="28" name="Text 26">
            <a:extLst xmlns:a="http://schemas.openxmlformats.org/drawingml/2006/main">
              <a:ext uri="{FF2B5EF4-FFF2-40B4-BE49-F238E27FC236}">
                <a16:creationId xmlns:a16="http://schemas.microsoft.com/office/drawing/2014/main" id="{29C664C4-479D-476C-8ED7-A1BDDC115048}"/>
              </a:ext>
            </a:extLst>
          </p:cNvPr>
          <p:cNvSpPr>
            <a:spLocks xmlns:a="http://schemas.openxmlformats.org/drawingml/2006/main" noGrp="1"/>
          </p:cNvSpPr>
          <p:nvPr/>
        </p:nvSpPr>
        <p:spPr>
          <a:xfrm xmlns:a="http://schemas.openxmlformats.org/drawingml/2006/main">
            <a:off x="7443216" y="348386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Audited financials</a:t>
            </a:r>
            <a:endParaRPr sz="940"/>
          </a:p>
        </p:txBody>
      </p:sp>
      <p:sp>
        <p:nvSpPr>
          <p:cNvPr id="29" name="Text 27">
            <a:extLst xmlns:a="http://schemas.openxmlformats.org/drawingml/2006/main">
              <a:ext uri="{FF2B5EF4-FFF2-40B4-BE49-F238E27FC236}">
                <a16:creationId xmlns:a16="http://schemas.microsoft.com/office/drawing/2014/main" id="{12CDF4D8-BFE5-48DE-B04A-4312F530A445}"/>
              </a:ext>
            </a:extLst>
          </p:cNvPr>
          <p:cNvSpPr>
            <a:spLocks xmlns:a="http://schemas.openxmlformats.org/drawingml/2006/main" noGrp="1"/>
          </p:cNvSpPr>
          <p:nvPr/>
        </p:nvSpPr>
        <p:spPr>
          <a:xfrm xmlns:a="http://schemas.openxmlformats.org/drawingml/2006/main">
            <a:off x="10094976" y="348386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1A1A1A"/>
                </a:solidFill>
                <a:latin typeface="Arial"/>
                <a:ea typeface="Arial"/>
                <a:cs typeface="Arial"/>
              </a:rPr>
              <a:t>Standard</a:t>
            </a:r>
            <a:endParaRPr sz="960"/>
          </a:p>
        </p:txBody>
      </p:sp>
      <p:sp>
        <p:nvSpPr>
          <p:cNvPr id="30" name="Shape 28">
            <a:extLst xmlns:a="http://schemas.openxmlformats.org/drawingml/2006/main">
              <a:ext uri="{FF2B5EF4-FFF2-40B4-BE49-F238E27FC236}">
                <a16:creationId xmlns:a16="http://schemas.microsoft.com/office/drawing/2014/main" id="{EC471983-B28C-48FD-9239-E4B505A11D85}"/>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A3FD0F5A-2235-4BA2-AB92-267F487FD81D}"/>
              </a:ext>
            </a:extLst>
          </p:cNvPr>
          <p:cNvSpPr>
            <a:spLocks xmlns:a="http://schemas.openxmlformats.org/drawingml/2006/main" noGrp="1"/>
          </p:cNvSpPr>
          <p:nvPr/>
        </p:nvSpPr>
        <p:spPr>
          <a:xfrm xmlns:a="http://schemas.openxmlformats.org/drawingml/2006/main">
            <a:off x="676656" y="403250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90" b="1">
                <a:solidFill>
                  <a:srgbClr val="102A43"/>
                </a:solidFill>
                <a:latin typeface="Arial"/>
                <a:ea typeface="Arial"/>
                <a:cs typeface="Arial"/>
              </a:rPr>
              <a:t>Client references</a:t>
            </a:r>
            <a:endParaRPr sz="990"/>
          </a:p>
        </p:txBody>
      </p:sp>
      <p:sp>
        <p:nvSpPr>
          <p:cNvPr id="32" name="Text 30">
            <a:extLst xmlns:a="http://schemas.openxmlformats.org/drawingml/2006/main">
              <a:ext uri="{FF2B5EF4-FFF2-40B4-BE49-F238E27FC236}">
                <a16:creationId xmlns:a16="http://schemas.microsoft.com/office/drawing/2014/main" id="{E8547594-6565-45A7-A2CB-912B64D7B0BA}"/>
              </a:ext>
            </a:extLst>
          </p:cNvPr>
          <p:cNvSpPr>
            <a:spLocks xmlns:a="http://schemas.openxmlformats.org/drawingml/2006/main" noGrp="1"/>
          </p:cNvSpPr>
          <p:nvPr/>
        </p:nvSpPr>
        <p:spPr>
          <a:xfrm xmlns:a="http://schemas.openxmlformats.org/drawingml/2006/main">
            <a:off x="3877056" y="403250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Three or more, a majority domestic, for enterprise AI platform delivery</a:t>
            </a:r>
            <a:endParaRPr sz="940"/>
          </a:p>
        </p:txBody>
      </p:sp>
      <p:sp>
        <p:nvSpPr>
          <p:cNvPr id="33" name="Text 31">
            <a:extLst xmlns:a="http://schemas.openxmlformats.org/drawingml/2006/main">
              <a:ext uri="{FF2B5EF4-FFF2-40B4-BE49-F238E27FC236}">
                <a16:creationId xmlns:a16="http://schemas.microsoft.com/office/drawing/2014/main" id="{251C4E8E-DFA6-49CF-B451-A155CC9EBD12}"/>
              </a:ext>
            </a:extLst>
          </p:cNvPr>
          <p:cNvSpPr>
            <a:spLocks xmlns:a="http://schemas.openxmlformats.org/drawingml/2006/main" noGrp="1"/>
          </p:cNvSpPr>
          <p:nvPr/>
        </p:nvSpPr>
        <p:spPr>
          <a:xfrm xmlns:a="http://schemas.openxmlformats.org/drawingml/2006/main">
            <a:off x="7443216" y="403250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Countable history</a:t>
            </a:r>
            <a:endParaRPr sz="940"/>
          </a:p>
        </p:txBody>
      </p:sp>
      <p:sp>
        <p:nvSpPr>
          <p:cNvPr id="34" name="Text 32">
            <a:extLst xmlns:a="http://schemas.openxmlformats.org/drawingml/2006/main">
              <a:ext uri="{FF2B5EF4-FFF2-40B4-BE49-F238E27FC236}">
                <a16:creationId xmlns:a16="http://schemas.microsoft.com/office/drawing/2014/main" id="{D1CAD178-4959-48E9-866B-06AD545C32DF}"/>
              </a:ext>
            </a:extLst>
          </p:cNvPr>
          <p:cNvSpPr>
            <a:spLocks xmlns:a="http://schemas.openxmlformats.org/drawingml/2006/main" noGrp="1"/>
          </p:cNvSpPr>
          <p:nvPr/>
        </p:nvSpPr>
        <p:spPr>
          <a:xfrm xmlns:a="http://schemas.openxmlformats.org/drawingml/2006/main">
            <a:off x="10094976" y="403250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1A1A1A"/>
                </a:solidFill>
                <a:latin typeface="Arial"/>
                <a:ea typeface="Arial"/>
                <a:cs typeface="Arial"/>
              </a:rPr>
              <a:t>Standard</a:t>
            </a:r>
            <a:endParaRPr sz="960"/>
          </a:p>
        </p:txBody>
      </p:sp>
      <p:sp>
        <p:nvSpPr>
          <p:cNvPr id="35" name="Shape 33">
            <a:extLst xmlns:a="http://schemas.openxmlformats.org/drawingml/2006/main">
              <a:ext uri="{FF2B5EF4-FFF2-40B4-BE49-F238E27FC236}">
                <a16:creationId xmlns:a16="http://schemas.microsoft.com/office/drawing/2014/main" id="{878B0C54-A6E1-426A-8DB3-362C5974DE8B}"/>
              </a:ext>
            </a:extLst>
          </p:cNvPr>
          <p:cNvSpPr>
            <a:spLocks xmlns:a="http://schemas.openxmlformats.org/drawingml/2006/main" noGrp="1"/>
          </p:cNvSpPr>
          <p:nvPr/>
        </p:nvSpPr>
        <p:spPr>
          <a:xfrm xmlns:a="http://schemas.openxmlformats.org/drawingml/2006/main">
            <a:off x="566928" y="444398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39EEF622-EB30-4F68-8D87-E49F446DB5FD}"/>
              </a:ext>
            </a:extLst>
          </p:cNvPr>
          <p:cNvSpPr>
            <a:spLocks xmlns:a="http://schemas.openxmlformats.org/drawingml/2006/main" noGrp="1"/>
          </p:cNvSpPr>
          <p:nvPr/>
        </p:nvSpPr>
        <p:spPr>
          <a:xfrm xmlns:a="http://schemas.openxmlformats.org/drawingml/2006/main">
            <a:off x="566928" y="4443984"/>
            <a:ext cx="11057839" cy="548640"/>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C9DB834C-C187-4C9C-9D4D-991672447E83}"/>
              </a:ext>
            </a:extLst>
          </p:cNvPr>
          <p:cNvSpPr>
            <a:spLocks xmlns:a="http://schemas.openxmlformats.org/drawingml/2006/main" noGrp="1"/>
          </p:cNvSpPr>
          <p:nvPr/>
        </p:nvSpPr>
        <p:spPr>
          <a:xfrm xmlns:a="http://schemas.openxmlformats.org/drawingml/2006/main">
            <a:off x="676656" y="458114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90" b="1">
                <a:solidFill>
                  <a:srgbClr val="102A43"/>
                </a:solidFill>
                <a:latin typeface="Arial"/>
                <a:ea typeface="Arial"/>
                <a:cs typeface="Arial"/>
              </a:rPr>
              <a:t>Entity and compliance</a:t>
            </a:r>
            <a:endParaRPr sz="990"/>
          </a:p>
        </p:txBody>
      </p:sp>
      <p:sp>
        <p:nvSpPr>
          <p:cNvPr id="38" name="Text 36">
            <a:extLst xmlns:a="http://schemas.openxmlformats.org/drawingml/2006/main">
              <a:ext uri="{FF2B5EF4-FFF2-40B4-BE49-F238E27FC236}">
                <a16:creationId xmlns:a16="http://schemas.microsoft.com/office/drawing/2014/main" id="{D5E63FF8-D42C-44E1-8F92-1AD128CEAD3B}"/>
              </a:ext>
            </a:extLst>
          </p:cNvPr>
          <p:cNvSpPr>
            <a:spLocks xmlns:a="http://schemas.openxmlformats.org/drawingml/2006/main" noGrp="1"/>
          </p:cNvSpPr>
          <p:nvPr/>
        </p:nvSpPr>
        <p:spPr>
          <a:xfrm xmlns:a="http://schemas.openxmlformats.org/drawingml/2006/main">
            <a:off x="3877056" y="458114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1A1A1A"/>
                </a:solidFill>
                <a:latin typeface="Arial"/>
                <a:ea typeface="Arial"/>
                <a:cs typeface="Arial"/>
              </a:rPr>
              <a:t>Domestic entity, procurement-policy compliant, no debarment or unsigned SLA overhang</a:t>
            </a:r>
            <a:endParaRPr sz="940"/>
          </a:p>
        </p:txBody>
      </p:sp>
      <p:sp>
        <p:nvSpPr>
          <p:cNvPr id="39" name="Text 37">
            <a:extLst xmlns:a="http://schemas.openxmlformats.org/drawingml/2006/main">
              <a:ext uri="{FF2B5EF4-FFF2-40B4-BE49-F238E27FC236}">
                <a16:creationId xmlns:a16="http://schemas.microsoft.com/office/drawing/2014/main" id="{1988988F-C4C9-4612-AEBF-6B4AAC87CD55}"/>
              </a:ext>
            </a:extLst>
          </p:cNvPr>
          <p:cNvSpPr>
            <a:spLocks xmlns:a="http://schemas.openxmlformats.org/drawingml/2006/main" noGrp="1"/>
          </p:cNvSpPr>
          <p:nvPr/>
        </p:nvSpPr>
        <p:spPr>
          <a:xfrm xmlns:a="http://schemas.openxmlformats.org/drawingml/2006/main">
            <a:off x="7443216" y="458114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Documentary</a:t>
            </a:r>
            <a:endParaRPr sz="940"/>
          </a:p>
        </p:txBody>
      </p:sp>
      <p:sp>
        <p:nvSpPr>
          <p:cNvPr id="40" name="Text 38">
            <a:extLst xmlns:a="http://schemas.openxmlformats.org/drawingml/2006/main">
              <a:ext uri="{FF2B5EF4-FFF2-40B4-BE49-F238E27FC236}">
                <a16:creationId xmlns:a16="http://schemas.microsoft.com/office/drawing/2014/main" id="{80E47BA4-9B31-4BD0-A7BE-36617550ABA0}"/>
              </a:ext>
            </a:extLst>
          </p:cNvPr>
          <p:cNvSpPr>
            <a:spLocks xmlns:a="http://schemas.openxmlformats.org/drawingml/2006/main" noGrp="1"/>
          </p:cNvSpPr>
          <p:nvPr/>
        </p:nvSpPr>
        <p:spPr>
          <a:xfrm xmlns:a="http://schemas.openxmlformats.org/drawingml/2006/main">
            <a:off x="10094976" y="458114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1A1A1A"/>
                </a:solidFill>
                <a:latin typeface="Arial"/>
                <a:ea typeface="Arial"/>
                <a:cs typeface="Arial"/>
              </a:rPr>
              <a:t>Standard</a:t>
            </a:r>
            <a:endParaRPr sz="960"/>
          </a:p>
        </p:txBody>
      </p:sp>
      <p:sp>
        <p:nvSpPr>
          <p:cNvPr id="41" name="Shape 39">
            <a:extLst xmlns:a="http://schemas.openxmlformats.org/drawingml/2006/main">
              <a:ext uri="{FF2B5EF4-FFF2-40B4-BE49-F238E27FC236}">
                <a16:creationId xmlns:a16="http://schemas.microsoft.com/office/drawing/2014/main" id="{EDC30C59-3810-417F-9CA0-30AC363CE6A9}"/>
              </a:ext>
            </a:extLst>
          </p:cNvPr>
          <p:cNvSpPr>
            <a:spLocks xmlns:a="http://schemas.openxmlformats.org/drawingml/2006/main" noGrp="1"/>
          </p:cNvSpPr>
          <p:nvPr/>
        </p:nvSpPr>
        <p:spPr>
          <a:xfrm xmlns:a="http://schemas.openxmlformats.org/drawingml/2006/main">
            <a:off x="566928" y="4992624"/>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12E4A175-26D5-4F76-947C-79F2564D9826}"/>
              </a:ext>
            </a:extLst>
          </p:cNvPr>
          <p:cNvSpPr>
            <a:spLocks xmlns:a="http://schemas.openxmlformats.org/drawingml/2006/main" noGrp="1"/>
          </p:cNvSpPr>
          <p:nvPr/>
        </p:nvSpPr>
        <p:spPr>
          <a:xfrm xmlns:a="http://schemas.openxmlformats.org/drawingml/2006/main">
            <a:off x="566928" y="526694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the gates come first</a:t>
            </a:r>
            <a:endParaRPr sz="1100"/>
          </a:p>
        </p:txBody>
      </p:sp>
      <p:sp>
        <p:nvSpPr>
          <p:cNvPr id="43" name="Shape 41">
            <a:extLst xmlns:a="http://schemas.openxmlformats.org/drawingml/2006/main">
              <a:ext uri="{FF2B5EF4-FFF2-40B4-BE49-F238E27FC236}">
                <a16:creationId xmlns:a16="http://schemas.microsoft.com/office/drawing/2014/main" id="{8E581D26-97F5-4687-84FD-B8B26AB4101B}"/>
              </a:ext>
            </a:extLst>
          </p:cNvPr>
          <p:cNvSpPr>
            <a:spLocks xmlns:a="http://schemas.openxmlformats.org/drawingml/2006/main" noGrp="1"/>
          </p:cNvSpPr>
          <p:nvPr/>
        </p:nvSpPr>
        <p:spPr>
          <a:xfrm xmlns:a="http://schemas.openxmlformats.org/drawingml/2006/main">
            <a:off x="566928" y="5522976"/>
            <a:ext cx="3551834" cy="20117"/>
          </a:xfrm>
          <a:prstGeom xmlns:a="http://schemas.openxmlformats.org/drawingml/2006/main" prst="rect">
            <a:avLst/>
          </a:prstGeom>
          <a:solidFill xmlns:a="http://schemas.openxmlformats.org/drawingml/2006/main">
            <a:srgbClr val="102A43"/>
          </a:solidFill>
        </p:spPr>
      </p:sp>
      <p:sp>
        <p:nvSpPr>
          <p:cNvPr id="44" name="Text 42">
            <a:extLst xmlns:a="http://schemas.openxmlformats.org/drawingml/2006/main">
              <a:ext uri="{FF2B5EF4-FFF2-40B4-BE49-F238E27FC236}">
                <a16:creationId xmlns:a16="http://schemas.microsoft.com/office/drawing/2014/main" id="{B3273B7C-D438-4BB7-A7AD-18F3F092E088}"/>
              </a:ext>
            </a:extLst>
          </p:cNvPr>
          <p:cNvSpPr>
            <a:spLocks xmlns:a="http://schemas.openxmlformats.org/drawingml/2006/main" noGrp="1"/>
          </p:cNvSpPr>
          <p:nvPr/>
        </p:nvSpPr>
        <p:spPr>
          <a:xfrm xmlns:a="http://schemas.openxmlformats.org/drawingml/2006/main">
            <a:off x="566928" y="5650992"/>
            <a:ext cx="35518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They are pass/fail. A bidder failing any one is never scored, however strong the response.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They are the cheapest thing in the document to assess — an afternoon, not a workstream.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They are also the only part that cannot be improved by effort during the bid window.</a:t>
            </a:r>
            <a:endParaRPr sz="950"/>
          </a:p>
        </p:txBody>
      </p:sp>
      <p:sp>
        <p:nvSpPr>
          <p:cNvPr id="45" name="Text 43">
            <a:extLst xmlns:a="http://schemas.openxmlformats.org/drawingml/2006/main">
              <a:ext uri="{FF2B5EF4-FFF2-40B4-BE49-F238E27FC236}">
                <a16:creationId xmlns:a16="http://schemas.microsoft.com/office/drawing/2014/main" id="{F9F6CD2D-587D-46B5-BD11-28FDC07FF154}"/>
              </a:ext>
            </a:extLst>
          </p:cNvPr>
          <p:cNvSpPr>
            <a:spLocks xmlns:a="http://schemas.openxmlformats.org/drawingml/2006/main" noGrp="1"/>
          </p:cNvSpPr>
          <p:nvPr/>
        </p:nvSpPr>
        <p:spPr>
          <a:xfrm xmlns:a="http://schemas.openxmlformats.org/drawingml/2006/main">
            <a:off x="4319930" y="526694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these particular gates signal</a:t>
            </a:r>
            <a:endParaRPr sz="1100"/>
          </a:p>
        </p:txBody>
      </p:sp>
      <p:sp>
        <p:nvSpPr>
          <p:cNvPr id="46" name="Shape 44">
            <a:extLst xmlns:a="http://schemas.openxmlformats.org/drawingml/2006/main">
              <a:ext uri="{FF2B5EF4-FFF2-40B4-BE49-F238E27FC236}">
                <a16:creationId xmlns:a16="http://schemas.microsoft.com/office/drawing/2014/main" id="{F27BE9BD-063B-49E5-BC47-9A8DD91C0FB5}"/>
              </a:ext>
            </a:extLst>
          </p:cNvPr>
          <p:cNvSpPr>
            <a:spLocks xmlns:a="http://schemas.openxmlformats.org/drawingml/2006/main" noGrp="1"/>
          </p:cNvSpPr>
          <p:nvPr/>
        </p:nvSpPr>
        <p:spPr>
          <a:xfrm xmlns:a="http://schemas.openxmlformats.org/drawingml/2006/main">
            <a:off x="4319930" y="5522976"/>
            <a:ext cx="3551834" cy="20117"/>
          </a:xfrm>
          <a:prstGeom xmlns:a="http://schemas.openxmlformats.org/drawingml/2006/main" prst="rect">
            <a:avLst/>
          </a:prstGeom>
          <a:solidFill xmlns:a="http://schemas.openxmlformats.org/drawingml/2006/main">
            <a:srgbClr val="B04A25"/>
          </a:solidFill>
        </p:spPr>
      </p:sp>
      <p:sp>
        <p:nvSpPr>
          <p:cNvPr id="47" name="Text 45">
            <a:extLst xmlns:a="http://schemas.openxmlformats.org/drawingml/2006/main">
              <a:ext uri="{FF2B5EF4-FFF2-40B4-BE49-F238E27FC236}">
                <a16:creationId xmlns:a16="http://schemas.microsoft.com/office/drawing/2014/main" id="{C064E5B3-403B-41C3-AC0A-8E867FE3C03F}"/>
              </a:ext>
            </a:extLst>
          </p:cNvPr>
          <p:cNvSpPr>
            <a:spLocks xmlns:a="http://schemas.openxmlformats.org/drawingml/2006/main" noGrp="1"/>
          </p:cNvSpPr>
          <p:nvPr/>
        </p:nvSpPr>
        <p:spPr>
          <a:xfrm xmlns:a="http://schemas.openxmlformats.org/drawingml/2006/main">
            <a:off x="4319930" y="5650992"/>
            <a:ext cx="35518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turnover bar and the three-build threshold together pitch this squarely at the large system-integrator tier.</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named-stack requirement narrows the field again, to organisations with a specific prior build.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specialist clears the capability test and fails the arithmetic — which is a partnering question, not a writing one.</a:t>
            </a:r>
            <a:endParaRPr sz="950"/>
          </a:p>
        </p:txBody>
      </p:sp>
      <p:sp>
        <p:nvSpPr>
          <p:cNvPr id="48" name="Text 46">
            <a:extLst xmlns:a="http://schemas.openxmlformats.org/drawingml/2006/main">
              <a:ext uri="{FF2B5EF4-FFF2-40B4-BE49-F238E27FC236}">
                <a16:creationId xmlns:a16="http://schemas.microsoft.com/office/drawing/2014/main" id="{455F8BAA-2A7D-4BFC-94D3-693F9DD27B60}"/>
              </a:ext>
            </a:extLst>
          </p:cNvPr>
          <p:cNvSpPr>
            <a:spLocks xmlns:a="http://schemas.openxmlformats.org/drawingml/2006/main" noGrp="1"/>
          </p:cNvSpPr>
          <p:nvPr/>
        </p:nvSpPr>
        <p:spPr>
          <a:xfrm xmlns:a="http://schemas.openxmlformats.org/drawingml/2006/main">
            <a:off x="8072933" y="526694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The three routes out</a:t>
            </a:r>
            <a:endParaRPr sz="1100"/>
          </a:p>
        </p:txBody>
      </p:sp>
      <p:sp>
        <p:nvSpPr>
          <p:cNvPr id="49" name="Shape 47">
            <a:extLst xmlns:a="http://schemas.openxmlformats.org/drawingml/2006/main">
              <a:ext uri="{FF2B5EF4-FFF2-40B4-BE49-F238E27FC236}">
                <a16:creationId xmlns:a16="http://schemas.microsoft.com/office/drawing/2014/main" id="{692E8C42-1090-4763-89BD-63569CD592BB}"/>
              </a:ext>
            </a:extLst>
          </p:cNvPr>
          <p:cNvSpPr>
            <a:spLocks xmlns:a="http://schemas.openxmlformats.org/drawingml/2006/main" noGrp="1"/>
          </p:cNvSpPr>
          <p:nvPr/>
        </p:nvSpPr>
        <p:spPr>
          <a:xfrm xmlns:a="http://schemas.openxmlformats.org/drawingml/2006/main">
            <a:off x="8072933" y="5522976"/>
            <a:ext cx="3551834" cy="20117"/>
          </a:xfrm>
          <a:prstGeom xmlns:a="http://schemas.openxmlformats.org/drawingml/2006/main" prst="rect">
            <a:avLst/>
          </a:prstGeom>
          <a:solidFill xmlns:a="http://schemas.openxmlformats.org/drawingml/2006/main">
            <a:srgbClr val="27685A"/>
          </a:solidFill>
        </p:spPr>
      </p:sp>
      <p:sp>
        <p:nvSpPr>
          <p:cNvPr id="50" name="Text 48">
            <a:extLst xmlns:a="http://schemas.openxmlformats.org/drawingml/2006/main">
              <a:ext uri="{FF2B5EF4-FFF2-40B4-BE49-F238E27FC236}">
                <a16:creationId xmlns:a16="http://schemas.microsoft.com/office/drawing/2014/main" id="{FFC44D3C-573E-49D6-B1FA-49A1159DC79C}"/>
              </a:ext>
            </a:extLst>
          </p:cNvPr>
          <p:cNvSpPr>
            <a:spLocks xmlns:a="http://schemas.openxmlformats.org/drawingml/2006/main" noGrp="1"/>
          </p:cNvSpPr>
          <p:nvPr/>
        </p:nvSpPr>
        <p:spPr>
          <a:xfrm xmlns:a="http://schemas.openxmlformats.org/drawingml/2006/main">
            <a:off x="8072933" y="5650992"/>
            <a:ext cx="3551834"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Bid direct, if every gate clears on the organisation's own numbers.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Bid as part of a consortium or under an SI, where the gates are met by the lead entity.</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Decline, and redirect the bid team to a pursuit where the gates are winnable.</a:t>
            </a:r>
            <a:endParaRPr sz="950"/>
          </a:p>
        </p:txBody>
      </p:sp>
      <p:sp>
        <p:nvSpPr>
          <p:cNvPr id="51" name="Shape 49">
            <a:extLst xmlns:a="http://schemas.openxmlformats.org/drawingml/2006/main">
              <a:ext uri="{FF2B5EF4-FFF2-40B4-BE49-F238E27FC236}">
                <a16:creationId xmlns:a16="http://schemas.microsoft.com/office/drawing/2014/main" id="{BD1A9405-F036-4E2F-9A55-99830BF1E4E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1610D605-E5A9-4908-8F53-FF8F09D976B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RFP and pre-bid minutes for the enterprise AI platform tender · author's assessment</a:t>
            </a:r>
            <a:endParaRPr sz="850"/>
          </a:p>
        </p:txBody>
      </p:sp>
      <p:sp>
        <p:nvSpPr>
          <p:cNvPr id="53" name="Text 51">
            <a:extLst xmlns:a="http://schemas.openxmlformats.org/drawingml/2006/main">
              <a:ext uri="{FF2B5EF4-FFF2-40B4-BE49-F238E27FC236}">
                <a16:creationId xmlns:a16="http://schemas.microsoft.com/office/drawing/2014/main" id="{DEA9B0E8-CD44-4C88-8F8C-43CAB70A835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379790355"/>
      </p:ext>
    </p:extLst>
  </p:cSld>
</p:sld>
</file>

<file path=ppt/slides/slide9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694E7BB-170D-4F71-A9D7-D32F6DBE703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PASS THREE  ·  THE CONTRADICTION TEST</a:t>
            </a:r>
            <a:endParaRPr sz="950"/>
          </a:p>
        </p:txBody>
      </p:sp>
      <p:sp>
        <p:nvSpPr>
          <p:cNvPr id="3" name="Text 1">
            <a:extLst xmlns:a="http://schemas.openxmlformats.org/drawingml/2006/main">
              <a:ext uri="{FF2B5EF4-FFF2-40B4-BE49-F238E27FC236}">
                <a16:creationId xmlns:a16="http://schemas.microsoft.com/office/drawing/2014/main" id="{0D3FA524-8126-47D5-8946-49713DB2B22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published requirements contradict each other — finding them is worth more</a:t>
            </a:r>
            <a:endParaRPr sz="1900"/>
          </a:p>
          <a:p xmlns:a="http://schemas.openxmlformats.org/drawingml/2006/main">
            <a:pPr marL="0" indent="0">
              <a:lnSpc>
                <a:spcPts val="2400"/>
              </a:lnSpc>
              <a:buNone/>
            </a:pPr>
            <a:r>
              <a:rPr sz="1900" b="1">
                <a:solidFill>
                  <a:srgbClr val="102A43"/>
                </a:solidFill>
                <a:latin typeface="Arial"/>
                <a:ea typeface="Arial"/>
                <a:cs typeface="Arial"/>
              </a:rPr>
              <a:t>than another page of capability narrative</a:t>
            </a:r>
            <a:endParaRPr sz="1900"/>
          </a:p>
        </p:txBody>
      </p:sp>
      <p:sp>
        <p:nvSpPr>
          <p:cNvPr id="4" name="Shape 2">
            <a:extLst xmlns:a="http://schemas.openxmlformats.org/drawingml/2006/main">
              <a:ext uri="{FF2B5EF4-FFF2-40B4-BE49-F238E27FC236}">
                <a16:creationId xmlns:a16="http://schemas.microsoft.com/office/drawing/2014/main" id="{7E7ABD30-D754-4BB4-9647-04C87F6506A7}"/>
              </a:ext>
            </a:extLst>
          </p:cNvPr>
          <p:cNvSpPr>
            <a:spLocks xmlns:a="http://schemas.openxmlformats.org/drawingml/2006/main" noGrp="1"/>
          </p:cNvSpPr>
          <p:nvPr/>
        </p:nvSpPr>
        <p:spPr>
          <a:xfrm xmlns:a="http://schemas.openxmlformats.org/drawingml/2006/main">
            <a:off x="566928" y="1335024"/>
            <a:ext cx="3551834" cy="41148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2F6D6A44-737D-4B64-8477-30126BA97B82}"/>
              </a:ext>
            </a:extLst>
          </p:cNvPr>
          <p:cNvSpPr>
            <a:spLocks xmlns:a="http://schemas.openxmlformats.org/drawingml/2006/main" noGrp="1"/>
          </p:cNvSpPr>
          <p:nvPr/>
        </p:nvSpPr>
        <p:spPr>
          <a:xfrm xmlns:a="http://schemas.openxmlformats.org/drawingml/2006/main">
            <a:off x="768096" y="1481328"/>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00"/>
              </a:lnSpc>
              <a:buNone/>
            </a:pPr>
            <a:r>
              <a:rPr sz="1800" b="1">
                <a:solidFill>
                  <a:srgbClr val="B04A25"/>
                </a:solidFill>
                <a:latin typeface="Arial"/>
                <a:ea typeface="Arial"/>
                <a:cs typeface="Arial"/>
              </a:rPr>
              <a:t>01</a:t>
            </a:r>
            <a:endParaRPr sz="1800"/>
          </a:p>
        </p:txBody>
      </p:sp>
      <p:sp>
        <p:nvSpPr>
          <p:cNvPr id="6" name="Text 4">
            <a:extLst xmlns:a="http://schemas.openxmlformats.org/drawingml/2006/main">
              <a:ext uri="{FF2B5EF4-FFF2-40B4-BE49-F238E27FC236}">
                <a16:creationId xmlns:a16="http://schemas.microsoft.com/office/drawing/2014/main" id="{B2CBE86F-770B-4B46-87FE-EB56B69EBD00}"/>
              </a:ext>
            </a:extLst>
          </p:cNvPr>
          <p:cNvSpPr>
            <a:spLocks xmlns:a="http://schemas.openxmlformats.org/drawingml/2006/main" noGrp="1"/>
          </p:cNvSpPr>
          <p:nvPr/>
        </p:nvSpPr>
        <p:spPr>
          <a:xfrm xmlns:a="http://schemas.openxmlformats.org/drawingml/2006/main">
            <a:off x="768096" y="1810512"/>
            <a:ext cx="314949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Vendor neutrality versus a counted stack</a:t>
            </a:r>
            <a:endParaRPr sz="1200"/>
          </a:p>
        </p:txBody>
      </p:sp>
      <p:sp>
        <p:nvSpPr>
          <p:cNvPr id="7" name="Text 5">
            <a:extLst xmlns:a="http://schemas.openxmlformats.org/drawingml/2006/main">
              <a:ext uri="{FF2B5EF4-FFF2-40B4-BE49-F238E27FC236}">
                <a16:creationId xmlns:a16="http://schemas.microsoft.com/office/drawing/2014/main" id="{BB623B21-1D3D-48B1-9AAE-9C690B948E66}"/>
              </a:ext>
            </a:extLst>
          </p:cNvPr>
          <p:cNvSpPr>
            <a:spLocks xmlns:a="http://schemas.openxmlformats.org/drawingml/2006/main" noGrp="1"/>
          </p:cNvSpPr>
          <p:nvPr/>
        </p:nvSpPr>
        <p:spPr>
          <a:xfrm xmlns:a="http://schemas.openxmlformats.org/drawingml/2006/main">
            <a:off x="768096" y="2395728"/>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DOCUMENT SAYS</a:t>
            </a:r>
            <a:endParaRPr sz="740"/>
          </a:p>
        </p:txBody>
      </p:sp>
      <p:sp>
        <p:nvSpPr>
          <p:cNvPr id="8" name="Text 6">
            <a:extLst xmlns:a="http://schemas.openxmlformats.org/drawingml/2006/main">
              <a:ext uri="{FF2B5EF4-FFF2-40B4-BE49-F238E27FC236}">
                <a16:creationId xmlns:a16="http://schemas.microsoft.com/office/drawing/2014/main" id="{EC189FD4-A227-4280-A41C-C2B64C105A7C}"/>
              </a:ext>
            </a:extLst>
          </p:cNvPr>
          <p:cNvSpPr>
            <a:spLocks xmlns:a="http://schemas.openxmlformats.org/drawingml/2006/main" noGrp="1"/>
          </p:cNvSpPr>
          <p:nvPr/>
        </p:nvSpPr>
        <p:spPr>
          <a:xfrm xmlns:a="http://schemas.openxmlformats.org/drawingml/2006/main">
            <a:off x="768096" y="2596896"/>
            <a:ext cx="314949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document requires an architecture with no OEM lock-in, and states that equivalents to the named accelerator stack are acceptable.</a:t>
            </a:r>
            <a:endParaRPr sz="930"/>
          </a:p>
        </p:txBody>
      </p:sp>
      <p:sp>
        <p:nvSpPr>
          <p:cNvPr id="9" name="Text 7">
            <a:extLst xmlns:a="http://schemas.openxmlformats.org/drawingml/2006/main">
              <a:ext uri="{FF2B5EF4-FFF2-40B4-BE49-F238E27FC236}">
                <a16:creationId xmlns:a16="http://schemas.microsoft.com/office/drawing/2014/main" id="{8F28FC30-4A16-4A85-88BD-DD3A98BE4D22}"/>
              </a:ext>
            </a:extLst>
          </p:cNvPr>
          <p:cNvSpPr>
            <a:spLocks xmlns:a="http://schemas.openxmlformats.org/drawingml/2006/main" noGrp="1"/>
          </p:cNvSpPr>
          <p:nvPr/>
        </p:nvSpPr>
        <p:spPr>
          <a:xfrm xmlns:a="http://schemas.openxmlformats.org/drawingml/2006/main">
            <a:off x="768096" y="334670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AND ALSO SAYS</a:t>
            </a:r>
            <a:endParaRPr sz="740"/>
          </a:p>
        </p:txBody>
      </p:sp>
      <p:sp>
        <p:nvSpPr>
          <p:cNvPr id="10" name="Text 8">
            <a:extLst xmlns:a="http://schemas.openxmlformats.org/drawingml/2006/main">
              <a:ext uri="{FF2B5EF4-FFF2-40B4-BE49-F238E27FC236}">
                <a16:creationId xmlns:a16="http://schemas.microsoft.com/office/drawing/2014/main" id="{9D588D59-58C3-4C26-8BC8-59DD371B826A}"/>
              </a:ext>
            </a:extLst>
          </p:cNvPr>
          <p:cNvSpPr>
            <a:spLocks xmlns:a="http://schemas.openxmlformats.org/drawingml/2006/main" noGrp="1"/>
          </p:cNvSpPr>
          <p:nvPr/>
        </p:nvSpPr>
        <p:spPr>
          <a:xfrm xmlns:a="http://schemas.openxmlformats.org/drawingml/2006/main">
            <a:off x="768096" y="3547872"/>
            <a:ext cx="314949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A scoring parameter awards marks for the number of implementations on that specific named stack.</a:t>
            </a:r>
            <a:endParaRPr sz="930"/>
          </a:p>
        </p:txBody>
      </p:sp>
      <p:sp>
        <p:nvSpPr>
          <p:cNvPr id="11" name="Shape 9">
            <a:extLst xmlns:a="http://schemas.openxmlformats.org/drawingml/2006/main">
              <a:ext uri="{FF2B5EF4-FFF2-40B4-BE49-F238E27FC236}">
                <a16:creationId xmlns:a16="http://schemas.microsoft.com/office/drawing/2014/main" id="{B9EE42BA-A6A2-440C-B1C8-3FF0A14D1E73}"/>
              </a:ext>
            </a:extLst>
          </p:cNvPr>
          <p:cNvSpPr>
            <a:spLocks xmlns:a="http://schemas.openxmlformats.org/drawingml/2006/main" noGrp="1"/>
          </p:cNvSpPr>
          <p:nvPr/>
        </p:nvSpPr>
        <p:spPr>
          <a:xfrm xmlns:a="http://schemas.openxmlformats.org/drawingml/2006/main">
            <a:off x="768096" y="4315968"/>
            <a:ext cx="3149498" cy="13716"/>
          </a:xfrm>
          <a:prstGeom xmlns:a="http://schemas.openxmlformats.org/drawingml/2006/main" prst="rect">
            <a:avLst/>
          </a:prstGeom>
          <a:solidFill xmlns:a="http://schemas.openxmlformats.org/drawingml/2006/main">
            <a:srgbClr val="C6D2DE"/>
          </a:solidFill>
        </p:spPr>
      </p:sp>
      <p:sp>
        <p:nvSpPr>
          <p:cNvPr id="12" name="Text 10">
            <a:extLst xmlns:a="http://schemas.openxmlformats.org/drawingml/2006/main">
              <a:ext uri="{FF2B5EF4-FFF2-40B4-BE49-F238E27FC236}">
                <a16:creationId xmlns:a16="http://schemas.microsoft.com/office/drawing/2014/main" id="{36B01C4A-61F5-4C23-AC26-725080CAECE2}"/>
              </a:ext>
            </a:extLst>
          </p:cNvPr>
          <p:cNvSpPr>
            <a:spLocks xmlns:a="http://schemas.openxmlformats.org/drawingml/2006/main" noGrp="1"/>
          </p:cNvSpPr>
          <p:nvPr/>
        </p:nvSpPr>
        <p:spPr>
          <a:xfrm xmlns:a="http://schemas.openxmlformats.org/drawingml/2006/main">
            <a:off x="768096" y="4443984"/>
            <a:ext cx="314949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B04A25"/>
                </a:solidFill>
                <a:latin typeface="Arial"/>
                <a:ea typeface="Arial"/>
                <a:cs typeface="Arial"/>
              </a:rPr>
              <a:t>A bidder cannot optimise for both. Raising it at pre-bid forces a clarification that either opens the field or confirms it is closed — and either answer changes the bid decision.</a:t>
            </a:r>
            <a:endParaRPr sz="930"/>
          </a:p>
        </p:txBody>
      </p:sp>
      <p:sp>
        <p:nvSpPr>
          <p:cNvPr id="13" name="Shape 11">
            <a:extLst xmlns:a="http://schemas.openxmlformats.org/drawingml/2006/main">
              <a:ext uri="{FF2B5EF4-FFF2-40B4-BE49-F238E27FC236}">
                <a16:creationId xmlns:a16="http://schemas.microsoft.com/office/drawing/2014/main" id="{6A6F824C-FBBE-474C-9DFE-2FFF36EF5B2D}"/>
              </a:ext>
            </a:extLst>
          </p:cNvPr>
          <p:cNvSpPr>
            <a:spLocks xmlns:a="http://schemas.openxmlformats.org/drawingml/2006/main" noGrp="1"/>
          </p:cNvSpPr>
          <p:nvPr/>
        </p:nvSpPr>
        <p:spPr>
          <a:xfrm xmlns:a="http://schemas.openxmlformats.org/drawingml/2006/main">
            <a:off x="4319930" y="1335024"/>
            <a:ext cx="3551834" cy="4114800"/>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F5E8D3DA-2D4E-49E3-90C2-842EB30F8C94}"/>
              </a:ext>
            </a:extLst>
          </p:cNvPr>
          <p:cNvSpPr>
            <a:spLocks xmlns:a="http://schemas.openxmlformats.org/drawingml/2006/main" noGrp="1"/>
          </p:cNvSpPr>
          <p:nvPr/>
        </p:nvSpPr>
        <p:spPr>
          <a:xfrm xmlns:a="http://schemas.openxmlformats.org/drawingml/2006/main">
            <a:off x="4521098" y="1481328"/>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00"/>
              </a:lnSpc>
              <a:buNone/>
            </a:pPr>
            <a:r>
              <a:rPr sz="1800" b="1">
                <a:solidFill>
                  <a:srgbClr val="9FB3C8"/>
                </a:solidFill>
                <a:latin typeface="Arial"/>
                <a:ea typeface="Arial"/>
                <a:cs typeface="Arial"/>
              </a:rPr>
              <a:t>02</a:t>
            </a:r>
            <a:endParaRPr sz="1800"/>
          </a:p>
        </p:txBody>
      </p:sp>
      <p:sp>
        <p:nvSpPr>
          <p:cNvPr id="15" name="Text 13">
            <a:extLst xmlns:a="http://schemas.openxmlformats.org/drawingml/2006/main">
              <a:ext uri="{FF2B5EF4-FFF2-40B4-BE49-F238E27FC236}">
                <a16:creationId xmlns:a16="http://schemas.microsoft.com/office/drawing/2014/main" id="{0E300CA0-2A73-4F22-AD47-664E027D879D}"/>
              </a:ext>
            </a:extLst>
          </p:cNvPr>
          <p:cNvSpPr>
            <a:spLocks xmlns:a="http://schemas.openxmlformats.org/drawingml/2006/main" noGrp="1"/>
          </p:cNvSpPr>
          <p:nvPr/>
        </p:nvSpPr>
        <p:spPr>
          <a:xfrm xmlns:a="http://schemas.openxmlformats.org/drawingml/2006/main">
            <a:off x="4521098" y="1810512"/>
            <a:ext cx="314949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Volume versus the delivery window</a:t>
            </a:r>
            <a:endParaRPr sz="1200"/>
          </a:p>
        </p:txBody>
      </p:sp>
      <p:sp>
        <p:nvSpPr>
          <p:cNvPr id="16" name="Text 14">
            <a:extLst xmlns:a="http://schemas.openxmlformats.org/drawingml/2006/main">
              <a:ext uri="{FF2B5EF4-FFF2-40B4-BE49-F238E27FC236}">
                <a16:creationId xmlns:a16="http://schemas.microsoft.com/office/drawing/2014/main" id="{8AF309F6-E4B7-48C9-83EE-87471D15F5B3}"/>
              </a:ext>
            </a:extLst>
          </p:cNvPr>
          <p:cNvSpPr>
            <a:spLocks xmlns:a="http://schemas.openxmlformats.org/drawingml/2006/main" noGrp="1"/>
          </p:cNvSpPr>
          <p:nvPr/>
        </p:nvSpPr>
        <p:spPr>
          <a:xfrm xmlns:a="http://schemas.openxmlformats.org/drawingml/2006/main">
            <a:off x="4521098" y="2395728"/>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DOCUMENT SAYS</a:t>
            </a:r>
            <a:endParaRPr sz="740"/>
          </a:p>
        </p:txBody>
      </p:sp>
      <p:sp>
        <p:nvSpPr>
          <p:cNvPr id="17" name="Text 15">
            <a:extLst xmlns:a="http://schemas.openxmlformats.org/drawingml/2006/main">
              <a:ext uri="{FF2B5EF4-FFF2-40B4-BE49-F238E27FC236}">
                <a16:creationId xmlns:a16="http://schemas.microsoft.com/office/drawing/2014/main" id="{26DEF84B-1EA1-40BB-AB1E-FB1CFCF230F0}"/>
              </a:ext>
            </a:extLst>
          </p:cNvPr>
          <p:cNvSpPr>
            <a:spLocks xmlns:a="http://schemas.openxmlformats.org/drawingml/2006/main" noGrp="1"/>
          </p:cNvSpPr>
          <p:nvPr/>
        </p:nvSpPr>
        <p:spPr>
          <a:xfrm xmlns:a="http://schemas.openxmlformats.org/drawingml/2006/main">
            <a:off x="4521098" y="2596896"/>
            <a:ext cx="314949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Roughly seventy-five use cases are to be delivered, in waves, over three years.</a:t>
            </a:r>
            <a:endParaRPr sz="930"/>
          </a:p>
        </p:txBody>
      </p:sp>
      <p:sp>
        <p:nvSpPr>
          <p:cNvPr id="18" name="Text 16">
            <a:extLst xmlns:a="http://schemas.openxmlformats.org/drawingml/2006/main">
              <a:ext uri="{FF2B5EF4-FFF2-40B4-BE49-F238E27FC236}">
                <a16:creationId xmlns:a16="http://schemas.microsoft.com/office/drawing/2014/main" id="{362ABF31-314F-4997-83D2-FCBF7BD93974}"/>
              </a:ext>
            </a:extLst>
          </p:cNvPr>
          <p:cNvSpPr>
            <a:spLocks xmlns:a="http://schemas.openxmlformats.org/drawingml/2006/main" noGrp="1"/>
          </p:cNvSpPr>
          <p:nvPr/>
        </p:nvSpPr>
        <p:spPr>
          <a:xfrm xmlns:a="http://schemas.openxmlformats.org/drawingml/2006/main">
            <a:off x="4521098" y="334670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AND ALSO SAYS</a:t>
            </a:r>
            <a:endParaRPr sz="740"/>
          </a:p>
        </p:txBody>
      </p:sp>
      <p:sp>
        <p:nvSpPr>
          <p:cNvPr id="19" name="Text 17">
            <a:extLst xmlns:a="http://schemas.openxmlformats.org/drawingml/2006/main">
              <a:ext uri="{FF2B5EF4-FFF2-40B4-BE49-F238E27FC236}">
                <a16:creationId xmlns:a16="http://schemas.microsoft.com/office/drawing/2014/main" id="{E629199C-35B7-4943-9CF4-168E2DA7864C}"/>
              </a:ext>
            </a:extLst>
          </p:cNvPr>
          <p:cNvSpPr>
            <a:spLocks xmlns:a="http://schemas.openxmlformats.org/drawingml/2006/main" noGrp="1"/>
          </p:cNvSpPr>
          <p:nvPr/>
        </p:nvSpPr>
        <p:spPr>
          <a:xfrm xmlns:a="http://schemas.openxmlformats.org/drawingml/2006/main">
            <a:off x="4521098" y="3547872"/>
            <a:ext cx="314949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published phase-three window is materially shorter than that volume implies at any credible per-use-case effort.</a:t>
            </a:r>
            <a:endParaRPr sz="930"/>
          </a:p>
        </p:txBody>
      </p:sp>
      <p:sp>
        <p:nvSpPr>
          <p:cNvPr id="20" name="Shape 18">
            <a:extLst xmlns:a="http://schemas.openxmlformats.org/drawingml/2006/main">
              <a:ext uri="{FF2B5EF4-FFF2-40B4-BE49-F238E27FC236}">
                <a16:creationId xmlns:a16="http://schemas.microsoft.com/office/drawing/2014/main" id="{13D8D011-811E-4224-834A-53D1604012D2}"/>
              </a:ext>
            </a:extLst>
          </p:cNvPr>
          <p:cNvSpPr>
            <a:spLocks xmlns:a="http://schemas.openxmlformats.org/drawingml/2006/main" noGrp="1"/>
          </p:cNvSpPr>
          <p:nvPr/>
        </p:nvSpPr>
        <p:spPr>
          <a:xfrm xmlns:a="http://schemas.openxmlformats.org/drawingml/2006/main">
            <a:off x="4521098" y="4315968"/>
            <a:ext cx="3149498" cy="13716"/>
          </a:xfrm>
          <a:prstGeom xmlns:a="http://schemas.openxmlformats.org/drawingml/2006/main" prst="rect">
            <a:avLst/>
          </a:prstGeom>
          <a:solidFill xmlns:a="http://schemas.openxmlformats.org/drawingml/2006/main">
            <a:srgbClr val="C6D2DE"/>
          </a:solidFill>
        </p:spPr>
      </p:sp>
      <p:sp>
        <p:nvSpPr>
          <p:cNvPr id="21" name="Text 19">
            <a:extLst xmlns:a="http://schemas.openxmlformats.org/drawingml/2006/main">
              <a:ext uri="{FF2B5EF4-FFF2-40B4-BE49-F238E27FC236}">
                <a16:creationId xmlns:a16="http://schemas.microsoft.com/office/drawing/2014/main" id="{ACDCDE3A-71BE-4FD0-8C59-2D5E0F92D7E2}"/>
              </a:ext>
            </a:extLst>
          </p:cNvPr>
          <p:cNvSpPr>
            <a:spLocks xmlns:a="http://schemas.openxmlformats.org/drawingml/2006/main" noGrp="1"/>
          </p:cNvSpPr>
          <p:nvPr/>
        </p:nvSpPr>
        <p:spPr>
          <a:xfrm xmlns:a="http://schemas.openxmlformats.org/drawingml/2006/main">
            <a:off x="4521098" y="4443984"/>
            <a:ext cx="314949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Either the envelope is elastic or the effort assumption is much lower than a bidder would price. Clarifying it is the difference between a priced bid and a loss-making one.</a:t>
            </a:r>
            <a:endParaRPr sz="930"/>
          </a:p>
        </p:txBody>
      </p:sp>
      <p:sp>
        <p:nvSpPr>
          <p:cNvPr id="22" name="Shape 20">
            <a:extLst xmlns:a="http://schemas.openxmlformats.org/drawingml/2006/main">
              <a:ext uri="{FF2B5EF4-FFF2-40B4-BE49-F238E27FC236}">
                <a16:creationId xmlns:a16="http://schemas.microsoft.com/office/drawing/2014/main" id="{E2A3447B-894D-4E68-914E-E62416017861}"/>
              </a:ext>
            </a:extLst>
          </p:cNvPr>
          <p:cNvSpPr>
            <a:spLocks xmlns:a="http://schemas.openxmlformats.org/drawingml/2006/main" noGrp="1"/>
          </p:cNvSpPr>
          <p:nvPr/>
        </p:nvSpPr>
        <p:spPr>
          <a:xfrm xmlns:a="http://schemas.openxmlformats.org/drawingml/2006/main">
            <a:off x="8072933" y="1335024"/>
            <a:ext cx="3551834" cy="4114800"/>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3D9A1E50-2B7D-4122-A8AB-B20D44244556}"/>
              </a:ext>
            </a:extLst>
          </p:cNvPr>
          <p:cNvSpPr>
            <a:spLocks xmlns:a="http://schemas.openxmlformats.org/drawingml/2006/main" noGrp="1"/>
          </p:cNvSpPr>
          <p:nvPr/>
        </p:nvSpPr>
        <p:spPr>
          <a:xfrm xmlns:a="http://schemas.openxmlformats.org/drawingml/2006/main">
            <a:off x="8274101" y="1481328"/>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200"/>
              </a:lnSpc>
              <a:buNone/>
            </a:pPr>
            <a:r>
              <a:rPr sz="1800" b="1">
                <a:solidFill>
                  <a:srgbClr val="9FB3C8"/>
                </a:solidFill>
                <a:latin typeface="Arial"/>
                <a:ea typeface="Arial"/>
                <a:cs typeface="Arial"/>
              </a:rPr>
              <a:t>03</a:t>
            </a:r>
            <a:endParaRPr sz="1800"/>
          </a:p>
        </p:txBody>
      </p:sp>
      <p:sp>
        <p:nvSpPr>
          <p:cNvPr id="24" name="Text 22">
            <a:extLst xmlns:a="http://schemas.openxmlformats.org/drawingml/2006/main">
              <a:ext uri="{FF2B5EF4-FFF2-40B4-BE49-F238E27FC236}">
                <a16:creationId xmlns:a16="http://schemas.microsoft.com/office/drawing/2014/main" id="{B917A17C-677A-40E7-99B5-188C0D6FED10}"/>
              </a:ext>
            </a:extLst>
          </p:cNvPr>
          <p:cNvSpPr>
            <a:spLocks xmlns:a="http://schemas.openxmlformats.org/drawingml/2006/main" noGrp="1"/>
          </p:cNvSpPr>
          <p:nvPr/>
        </p:nvSpPr>
        <p:spPr>
          <a:xfrm xmlns:a="http://schemas.openxmlformats.org/drawingml/2006/main">
            <a:off x="8274101" y="1810512"/>
            <a:ext cx="314949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Reuse-first versus new-build ownership</a:t>
            </a:r>
            <a:endParaRPr sz="1200"/>
          </a:p>
        </p:txBody>
      </p:sp>
      <p:sp>
        <p:nvSpPr>
          <p:cNvPr id="25" name="Text 23">
            <a:extLst xmlns:a="http://schemas.openxmlformats.org/drawingml/2006/main">
              <a:ext uri="{FF2B5EF4-FFF2-40B4-BE49-F238E27FC236}">
                <a16:creationId xmlns:a16="http://schemas.microsoft.com/office/drawing/2014/main" id="{77E300ED-CD92-4EB1-A059-E941F67AFABE}"/>
              </a:ext>
            </a:extLst>
          </p:cNvPr>
          <p:cNvSpPr>
            <a:spLocks xmlns:a="http://schemas.openxmlformats.org/drawingml/2006/main" noGrp="1"/>
          </p:cNvSpPr>
          <p:nvPr/>
        </p:nvSpPr>
        <p:spPr>
          <a:xfrm xmlns:a="http://schemas.openxmlformats.org/drawingml/2006/main">
            <a:off x="8274101" y="2395728"/>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DOCUMENT SAYS</a:t>
            </a:r>
            <a:endParaRPr sz="740"/>
          </a:p>
        </p:txBody>
      </p:sp>
      <p:sp>
        <p:nvSpPr>
          <p:cNvPr id="26" name="Text 24">
            <a:extLst xmlns:a="http://schemas.openxmlformats.org/drawingml/2006/main">
              <a:ext uri="{FF2B5EF4-FFF2-40B4-BE49-F238E27FC236}">
                <a16:creationId xmlns:a16="http://schemas.microsoft.com/office/drawing/2014/main" id="{90E4EEBE-A4A5-4FDB-9124-3E26AC5D3F46}"/>
              </a:ext>
            </a:extLst>
          </p:cNvPr>
          <p:cNvSpPr>
            <a:spLocks xmlns:a="http://schemas.openxmlformats.org/drawingml/2006/main" noGrp="1"/>
          </p:cNvSpPr>
          <p:nvPr/>
        </p:nvSpPr>
        <p:spPr>
          <a:xfrm xmlns:a="http://schemas.openxmlformats.org/drawingml/2006/main">
            <a:off x="8274101" y="2596896"/>
            <a:ext cx="314949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Bidders must maximise reuse of the bank's existing lakehouse, infrastructure and platforms.</a:t>
            </a:r>
            <a:endParaRPr sz="930"/>
          </a:p>
        </p:txBody>
      </p:sp>
      <p:sp>
        <p:nvSpPr>
          <p:cNvPr id="27" name="Text 25">
            <a:extLst xmlns:a="http://schemas.openxmlformats.org/drawingml/2006/main">
              <a:ext uri="{FF2B5EF4-FFF2-40B4-BE49-F238E27FC236}">
                <a16:creationId xmlns:a16="http://schemas.microsoft.com/office/drawing/2014/main" id="{F3FFBF7E-5BC9-4BFF-B656-DD4D4C45B247}"/>
              </a:ext>
            </a:extLst>
          </p:cNvPr>
          <p:cNvSpPr>
            <a:spLocks xmlns:a="http://schemas.openxmlformats.org/drawingml/2006/main" noGrp="1"/>
          </p:cNvSpPr>
          <p:nvPr/>
        </p:nvSpPr>
        <p:spPr>
          <a:xfrm xmlns:a="http://schemas.openxmlformats.org/drawingml/2006/main">
            <a:off x="8274101" y="334670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AND ALSO SAYS</a:t>
            </a:r>
            <a:endParaRPr sz="740"/>
          </a:p>
        </p:txBody>
      </p:sp>
      <p:sp>
        <p:nvSpPr>
          <p:cNvPr id="28" name="Text 26">
            <a:extLst xmlns:a="http://schemas.openxmlformats.org/drawingml/2006/main">
              <a:ext uri="{FF2B5EF4-FFF2-40B4-BE49-F238E27FC236}">
                <a16:creationId xmlns:a16="http://schemas.microsoft.com/office/drawing/2014/main" id="{86270CEE-F50A-4DFB-A93C-D6E54FEBA9B9}"/>
              </a:ext>
            </a:extLst>
          </p:cNvPr>
          <p:cNvSpPr>
            <a:spLocks xmlns:a="http://schemas.openxmlformats.org/drawingml/2006/main" noGrp="1"/>
          </p:cNvSpPr>
          <p:nvPr/>
        </p:nvSpPr>
        <p:spPr>
          <a:xfrm xmlns:a="http://schemas.openxmlformats.org/drawingml/2006/main">
            <a:off x="8274101" y="3547872"/>
            <a:ext cx="314949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Intellectual property for anything newly built, plus the orchestration layer and licences, vests entirely with the bank.</a:t>
            </a:r>
            <a:endParaRPr sz="930"/>
          </a:p>
        </p:txBody>
      </p:sp>
      <p:sp>
        <p:nvSpPr>
          <p:cNvPr id="29" name="Shape 27">
            <a:extLst xmlns:a="http://schemas.openxmlformats.org/drawingml/2006/main">
              <a:ext uri="{FF2B5EF4-FFF2-40B4-BE49-F238E27FC236}">
                <a16:creationId xmlns:a16="http://schemas.microsoft.com/office/drawing/2014/main" id="{8A2C575F-562C-48EE-8511-1D1F46798829}"/>
              </a:ext>
            </a:extLst>
          </p:cNvPr>
          <p:cNvSpPr>
            <a:spLocks xmlns:a="http://schemas.openxmlformats.org/drawingml/2006/main" noGrp="1"/>
          </p:cNvSpPr>
          <p:nvPr/>
        </p:nvSpPr>
        <p:spPr>
          <a:xfrm xmlns:a="http://schemas.openxmlformats.org/drawingml/2006/main">
            <a:off x="8274101" y="4315968"/>
            <a:ext cx="3149498" cy="13716"/>
          </a:xfrm>
          <a:prstGeom xmlns:a="http://schemas.openxmlformats.org/drawingml/2006/main" prst="rect">
            <a:avLst/>
          </a:prstGeom>
          <a:solidFill xmlns:a="http://schemas.openxmlformats.org/drawingml/2006/main">
            <a:srgbClr val="C6D2DE"/>
          </a:solidFill>
        </p:spPr>
      </p:sp>
      <p:sp>
        <p:nvSpPr>
          <p:cNvPr id="30" name="Text 28">
            <a:extLst xmlns:a="http://schemas.openxmlformats.org/drawingml/2006/main">
              <a:ext uri="{FF2B5EF4-FFF2-40B4-BE49-F238E27FC236}">
                <a16:creationId xmlns:a16="http://schemas.microsoft.com/office/drawing/2014/main" id="{C76A6BAD-EDC2-41E1-AD50-45BF1B3988F6}"/>
              </a:ext>
            </a:extLst>
          </p:cNvPr>
          <p:cNvSpPr>
            <a:spLocks xmlns:a="http://schemas.openxmlformats.org/drawingml/2006/main" noGrp="1"/>
          </p:cNvSpPr>
          <p:nvPr/>
        </p:nvSpPr>
        <p:spPr>
          <a:xfrm xmlns:a="http://schemas.openxmlformats.org/drawingml/2006/main">
            <a:off x="8274101" y="4443984"/>
            <a:ext cx="314949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The boundary between reused and newly supplied components is undefined, and it determines both the scope of the IP transfer and what the SI can carry to its next client.</a:t>
            </a:r>
            <a:endParaRPr sz="930"/>
          </a:p>
        </p:txBody>
      </p:sp>
      <p:sp>
        <p:nvSpPr>
          <p:cNvPr id="31" name="Shape 29">
            <a:extLst xmlns:a="http://schemas.openxmlformats.org/drawingml/2006/main">
              <a:ext uri="{FF2B5EF4-FFF2-40B4-BE49-F238E27FC236}">
                <a16:creationId xmlns:a16="http://schemas.microsoft.com/office/drawing/2014/main" id="{3209CC8E-EBAA-4593-9B92-437856C261EC}"/>
              </a:ext>
            </a:extLst>
          </p:cNvPr>
          <p:cNvSpPr>
            <a:spLocks xmlns:a="http://schemas.openxmlformats.org/drawingml/2006/main" noGrp="1"/>
          </p:cNvSpPr>
          <p:nvPr/>
        </p:nvSpPr>
        <p:spPr>
          <a:xfrm xmlns:a="http://schemas.openxmlformats.org/drawingml/2006/main">
            <a:off x="566928" y="5687568"/>
            <a:ext cx="11057839" cy="475488"/>
          </a:xfrm>
          <a:prstGeom xmlns:a="http://schemas.openxmlformats.org/drawingml/2006/main" prst="rect">
            <a:avLst/>
          </a:prstGeom>
          <a:solidFill xmlns:a="http://schemas.openxmlformats.org/drawingml/2006/main">
            <a:srgbClr val="102A43"/>
          </a:solidFill>
        </p:spPr>
      </p:sp>
      <p:sp>
        <p:nvSpPr>
          <p:cNvPr id="32" name="Text 30">
            <a:extLst xmlns:a="http://schemas.openxmlformats.org/drawingml/2006/main">
              <a:ext uri="{FF2B5EF4-FFF2-40B4-BE49-F238E27FC236}">
                <a16:creationId xmlns:a16="http://schemas.microsoft.com/office/drawing/2014/main" id="{CD448C99-FE46-4726-9A00-AEB87D098A4D}"/>
              </a:ext>
            </a:extLst>
          </p:cNvPr>
          <p:cNvSpPr>
            <a:spLocks xmlns:a="http://schemas.openxmlformats.org/drawingml/2006/main" noGrp="1"/>
          </p:cNvSpPr>
          <p:nvPr/>
        </p:nvSpPr>
        <p:spPr>
          <a:xfrm xmlns:a="http://schemas.openxmlformats.org/drawingml/2006/main">
            <a:off x="804672" y="5870448"/>
            <a:ext cx="10582351" cy="146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A contradiction found before the clarification deadline is free. The same contradiction found after award is a change request nobody has budgeted for.</a:t>
            </a:r>
            <a:endParaRPr sz="990"/>
          </a:p>
        </p:txBody>
      </p:sp>
      <p:sp>
        <p:nvSpPr>
          <p:cNvPr id="33" name="Shape 31">
            <a:extLst xmlns:a="http://schemas.openxmlformats.org/drawingml/2006/main">
              <a:ext uri="{FF2B5EF4-FFF2-40B4-BE49-F238E27FC236}">
                <a16:creationId xmlns:a16="http://schemas.microsoft.com/office/drawing/2014/main" id="{DEE18C7F-03F0-4370-8AB0-B9D0B502AA3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EB9DDED2-7384-4D78-81BF-D7B03E80996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bid analysis, prepared for leadership review</a:t>
            </a:r>
            <a:endParaRPr sz="850"/>
          </a:p>
        </p:txBody>
      </p:sp>
      <p:sp>
        <p:nvSpPr>
          <p:cNvPr id="35" name="Text 33">
            <a:extLst xmlns:a="http://schemas.openxmlformats.org/drawingml/2006/main">
              <a:ext uri="{FF2B5EF4-FFF2-40B4-BE49-F238E27FC236}">
                <a16:creationId xmlns:a16="http://schemas.microsoft.com/office/drawing/2014/main" id="{087F0ACF-56D7-4256-B992-55009D5B4ED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754908329"/>
      </p:ext>
    </p:extLst>
  </p:cSld>
</p:sld>
</file>

<file path=ppt/slides/slide9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DC860FE-6542-4D12-A648-A0DB5A3C48F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PASS FOUR  ·  SCORE YOURSELF FIRST</a:t>
            </a:r>
            <a:endParaRPr sz="950"/>
          </a:p>
        </p:txBody>
      </p:sp>
      <p:sp>
        <p:nvSpPr>
          <p:cNvPr id="3" name="Text 1">
            <a:extLst xmlns:a="http://schemas.openxmlformats.org/drawingml/2006/main">
              <a:ext uri="{FF2B5EF4-FFF2-40B4-BE49-F238E27FC236}">
                <a16:creationId xmlns:a16="http://schemas.microsoft.com/office/drawing/2014/main" id="{191BC151-7525-402E-9CA3-D734A9DD27A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Scoring your own bid against the published sheet before writing turns a capability</a:t>
            </a:r>
            <a:endParaRPr sz="1900"/>
          </a:p>
          <a:p xmlns:a="http://schemas.openxmlformats.org/drawingml/2006/main">
            <a:pPr marL="0" indent="0">
              <a:lnSpc>
                <a:spcPts val="2400"/>
              </a:lnSpc>
              <a:buNone/>
            </a:pPr>
            <a:r>
              <a:rPr sz="1900" b="1">
                <a:solidFill>
                  <a:srgbClr val="102A43"/>
                </a:solidFill>
                <a:latin typeface="Arial"/>
                <a:ea typeface="Arial"/>
                <a:cs typeface="Arial"/>
              </a:rPr>
              <a:t>debate into an arithmetic one</a:t>
            </a:r>
            <a:endParaRPr sz="1900"/>
          </a:p>
        </p:txBody>
      </p:sp>
      <p:sp>
        <p:nvSpPr>
          <p:cNvPr id="4" name="Shape 2">
            <a:extLst xmlns:a="http://schemas.openxmlformats.org/drawingml/2006/main">
              <a:ext uri="{FF2B5EF4-FFF2-40B4-BE49-F238E27FC236}">
                <a16:creationId xmlns:a16="http://schemas.microsoft.com/office/drawing/2014/main" id="{2ADD632F-EF78-459B-B1FA-61AEC6155D9B}"/>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0C36EDE1-7D54-415F-9DC9-6652241F91E3}"/>
              </a:ext>
            </a:extLst>
          </p:cNvPr>
          <p:cNvSpPr>
            <a:spLocks xmlns:a="http://schemas.openxmlformats.org/drawingml/2006/main" noGrp="1"/>
          </p:cNvSpPr>
          <p:nvPr/>
        </p:nvSpPr>
        <p:spPr>
          <a:xfrm xmlns:a="http://schemas.openxmlformats.org/drawingml/2006/main">
            <a:off x="676656" y="1444752"/>
            <a:ext cx="3895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Scoring parameter</a:t>
            </a:r>
            <a:endParaRPr sz="920"/>
          </a:p>
        </p:txBody>
      </p:sp>
      <p:sp>
        <p:nvSpPr>
          <p:cNvPr id="6" name="Text 4">
            <a:extLst xmlns:a="http://schemas.openxmlformats.org/drawingml/2006/main">
              <a:ext uri="{FF2B5EF4-FFF2-40B4-BE49-F238E27FC236}">
                <a16:creationId xmlns:a16="http://schemas.microsoft.com/office/drawing/2014/main" id="{C4B804D5-45E3-430D-8F5F-8BAD030B0D7C}"/>
              </a:ext>
            </a:extLst>
          </p:cNvPr>
          <p:cNvSpPr>
            <a:spLocks xmlns:a="http://schemas.openxmlformats.org/drawingml/2006/main" noGrp="1"/>
          </p:cNvSpPr>
          <p:nvPr/>
        </p:nvSpPr>
        <p:spPr>
          <a:xfrm xmlns:a="http://schemas.openxmlformats.org/drawingml/2006/main">
            <a:off x="4882896" y="1444752"/>
            <a:ext cx="7863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Available</a:t>
            </a:r>
            <a:endParaRPr sz="920"/>
          </a:p>
        </p:txBody>
      </p:sp>
      <p:sp>
        <p:nvSpPr>
          <p:cNvPr id="7" name="Text 5">
            <a:extLst xmlns:a="http://schemas.openxmlformats.org/drawingml/2006/main">
              <a:ext uri="{FF2B5EF4-FFF2-40B4-BE49-F238E27FC236}">
                <a16:creationId xmlns:a16="http://schemas.microsoft.com/office/drawing/2014/main" id="{D10566E8-FE77-45D6-B5DD-8A26B825CA7F}"/>
              </a:ext>
            </a:extLst>
          </p:cNvPr>
          <p:cNvSpPr>
            <a:spLocks xmlns:a="http://schemas.openxmlformats.org/drawingml/2006/main" noGrp="1"/>
          </p:cNvSpPr>
          <p:nvPr/>
        </p:nvSpPr>
        <p:spPr>
          <a:xfrm xmlns:a="http://schemas.openxmlformats.org/drawingml/2006/main">
            <a:off x="5980176" y="1444752"/>
            <a:ext cx="7863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Realistic</a:t>
            </a:r>
            <a:endParaRPr sz="920"/>
          </a:p>
        </p:txBody>
      </p:sp>
      <p:sp>
        <p:nvSpPr>
          <p:cNvPr id="8" name="Text 6">
            <a:extLst xmlns:a="http://schemas.openxmlformats.org/drawingml/2006/main">
              <a:ext uri="{FF2B5EF4-FFF2-40B4-BE49-F238E27FC236}">
                <a16:creationId xmlns:a16="http://schemas.microsoft.com/office/drawing/2014/main" id="{47EF1E25-A4A3-45DC-91C6-B7214AD28F2C}"/>
              </a:ext>
            </a:extLst>
          </p:cNvPr>
          <p:cNvSpPr>
            <a:spLocks xmlns:a="http://schemas.openxmlformats.org/drawingml/2006/main" noGrp="1"/>
          </p:cNvSpPr>
          <p:nvPr/>
        </p:nvSpPr>
        <p:spPr>
          <a:xfrm xmlns:a="http://schemas.openxmlformats.org/drawingml/2006/main">
            <a:off x="7077456" y="1444752"/>
            <a:ext cx="8778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Movable?</a:t>
            </a:r>
            <a:endParaRPr sz="920"/>
          </a:p>
        </p:txBody>
      </p:sp>
      <p:sp>
        <p:nvSpPr>
          <p:cNvPr id="9" name="Text 7">
            <a:extLst xmlns:a="http://schemas.openxmlformats.org/drawingml/2006/main">
              <a:ext uri="{FF2B5EF4-FFF2-40B4-BE49-F238E27FC236}">
                <a16:creationId xmlns:a16="http://schemas.microsoft.com/office/drawing/2014/main" id="{93703CE9-3CE1-4C97-95DB-5C2EAAF0423B}"/>
              </a:ext>
            </a:extLst>
          </p:cNvPr>
          <p:cNvSpPr>
            <a:spLocks xmlns:a="http://schemas.openxmlformats.org/drawingml/2006/main" noGrp="1"/>
          </p:cNvSpPr>
          <p:nvPr/>
        </p:nvSpPr>
        <p:spPr>
          <a:xfrm xmlns:a="http://schemas.openxmlformats.org/drawingml/2006/main">
            <a:off x="8266176" y="1444752"/>
            <a:ext cx="32461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would move it</a:t>
            </a:r>
            <a:endParaRPr sz="920"/>
          </a:p>
        </p:txBody>
      </p:sp>
      <p:sp>
        <p:nvSpPr>
          <p:cNvPr id="10" name="Text 8">
            <a:extLst xmlns:a="http://schemas.openxmlformats.org/drawingml/2006/main">
              <a:ext uri="{FF2B5EF4-FFF2-40B4-BE49-F238E27FC236}">
                <a16:creationId xmlns:a16="http://schemas.microsoft.com/office/drawing/2014/main" id="{E17FE19E-79E3-428E-80A1-EDBCB750190C}"/>
              </a:ext>
            </a:extLst>
          </p:cNvPr>
          <p:cNvSpPr>
            <a:spLocks xmlns:a="http://schemas.openxmlformats.org/drawingml/2006/main" noGrp="1"/>
          </p:cNvSpPr>
          <p:nvPr/>
        </p:nvSpPr>
        <p:spPr>
          <a:xfrm xmlns:a="http://schemas.openxmlformats.org/drawingml/2006/main">
            <a:off x="676656" y="1810512"/>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Architecture &amp; integration</a:t>
            </a:r>
            <a:endParaRPr sz="960"/>
          </a:p>
        </p:txBody>
      </p:sp>
      <p:sp>
        <p:nvSpPr>
          <p:cNvPr id="11" name="Text 9">
            <a:extLst xmlns:a="http://schemas.openxmlformats.org/drawingml/2006/main">
              <a:ext uri="{FF2B5EF4-FFF2-40B4-BE49-F238E27FC236}">
                <a16:creationId xmlns:a16="http://schemas.microsoft.com/office/drawing/2014/main" id="{D77A3446-943F-46CE-8494-E78DF6C66A16}"/>
              </a:ext>
            </a:extLst>
          </p:cNvPr>
          <p:cNvSpPr>
            <a:spLocks xmlns:a="http://schemas.openxmlformats.org/drawingml/2006/main" noGrp="1"/>
          </p:cNvSpPr>
          <p:nvPr/>
        </p:nvSpPr>
        <p:spPr>
          <a:xfrm xmlns:a="http://schemas.openxmlformats.org/drawingml/2006/main">
            <a:off x="4882896" y="1810512"/>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20</a:t>
            </a:r>
            <a:endParaRPr sz="1000"/>
          </a:p>
        </p:txBody>
      </p:sp>
      <p:sp>
        <p:nvSpPr>
          <p:cNvPr id="12" name="Text 10">
            <a:extLst xmlns:a="http://schemas.openxmlformats.org/drawingml/2006/main">
              <a:ext uri="{FF2B5EF4-FFF2-40B4-BE49-F238E27FC236}">
                <a16:creationId xmlns:a16="http://schemas.microsoft.com/office/drawing/2014/main" id="{E99EB78F-6B24-4239-ABD7-7C5DEDA0F201}"/>
              </a:ext>
            </a:extLst>
          </p:cNvPr>
          <p:cNvSpPr>
            <a:spLocks xmlns:a="http://schemas.openxmlformats.org/drawingml/2006/main" noGrp="1"/>
          </p:cNvSpPr>
          <p:nvPr/>
        </p:nvSpPr>
        <p:spPr>
          <a:xfrm xmlns:a="http://schemas.openxmlformats.org/drawingml/2006/main">
            <a:off x="5980176" y="1810512"/>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16</a:t>
            </a:r>
            <a:endParaRPr sz="1000"/>
          </a:p>
        </p:txBody>
      </p:sp>
      <p:sp>
        <p:nvSpPr>
          <p:cNvPr id="13" name="Text 11">
            <a:extLst xmlns:a="http://schemas.openxmlformats.org/drawingml/2006/main">
              <a:ext uri="{FF2B5EF4-FFF2-40B4-BE49-F238E27FC236}">
                <a16:creationId xmlns:a16="http://schemas.microsoft.com/office/drawing/2014/main" id="{644599A0-F7FF-4D5E-9B45-465DA03F293B}"/>
              </a:ext>
            </a:extLst>
          </p:cNvPr>
          <p:cNvSpPr>
            <a:spLocks xmlns:a="http://schemas.openxmlformats.org/drawingml/2006/main" noGrp="1"/>
          </p:cNvSpPr>
          <p:nvPr/>
        </p:nvSpPr>
        <p:spPr>
          <a:xfrm xmlns:a="http://schemas.openxmlformats.org/drawingml/2006/main">
            <a:off x="7077456" y="1810512"/>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Yes</a:t>
            </a:r>
            <a:endParaRPr sz="920"/>
          </a:p>
        </p:txBody>
      </p:sp>
      <p:sp>
        <p:nvSpPr>
          <p:cNvPr id="14" name="Text 12">
            <a:extLst xmlns:a="http://schemas.openxmlformats.org/drawingml/2006/main">
              <a:ext uri="{FF2B5EF4-FFF2-40B4-BE49-F238E27FC236}">
                <a16:creationId xmlns:a16="http://schemas.microsoft.com/office/drawing/2014/main" id="{3C72674F-ADF8-438C-9E14-AE2D4977E604}"/>
              </a:ext>
            </a:extLst>
          </p:cNvPr>
          <p:cNvSpPr>
            <a:spLocks xmlns:a="http://schemas.openxmlformats.org/drawingml/2006/main" noGrp="1"/>
          </p:cNvSpPr>
          <p:nvPr/>
        </p:nvSpPr>
        <p:spPr>
          <a:xfrm xmlns:a="http://schemas.openxmlformats.org/drawingml/2006/main">
            <a:off x="8266176" y="1810512"/>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Depth on MLOps, observability and the control tower</a:t>
            </a:r>
            <a:endParaRPr sz="920"/>
          </a:p>
        </p:txBody>
      </p:sp>
      <p:sp>
        <p:nvSpPr>
          <p:cNvPr id="15" name="Shape 13">
            <a:extLst xmlns:a="http://schemas.openxmlformats.org/drawingml/2006/main">
              <a:ext uri="{FF2B5EF4-FFF2-40B4-BE49-F238E27FC236}">
                <a16:creationId xmlns:a16="http://schemas.microsoft.com/office/drawing/2014/main" id="{8223081C-CC0E-4CBE-8315-8D6F9C2B9EDF}"/>
              </a:ext>
            </a:extLst>
          </p:cNvPr>
          <p:cNvSpPr>
            <a:spLocks xmlns:a="http://schemas.openxmlformats.org/drawingml/2006/main" noGrp="1"/>
          </p:cNvSpPr>
          <p:nvPr/>
        </p:nvSpPr>
        <p:spPr>
          <a:xfrm xmlns:a="http://schemas.openxmlformats.org/drawingml/2006/main">
            <a:off x="566928" y="2194560"/>
            <a:ext cx="11057839" cy="7315"/>
          </a:xfrm>
          <a:prstGeom xmlns:a="http://schemas.openxmlformats.org/drawingml/2006/main" prst="rect">
            <a:avLst/>
          </a:prstGeom>
          <a:solidFill xmlns:a="http://schemas.openxmlformats.org/drawingml/2006/main">
            <a:srgbClr val="CBD5E0"/>
          </a:solidFill>
        </p:spPr>
      </p:sp>
      <p:sp>
        <p:nvSpPr>
          <p:cNvPr id="16" name="Shape 14">
            <a:extLst xmlns:a="http://schemas.openxmlformats.org/drawingml/2006/main">
              <a:ext uri="{FF2B5EF4-FFF2-40B4-BE49-F238E27FC236}">
                <a16:creationId xmlns:a16="http://schemas.microsoft.com/office/drawing/2014/main" id="{9FCF00C0-E77F-415A-93A9-91C5C40C6A0D}"/>
              </a:ext>
            </a:extLst>
          </p:cNvPr>
          <p:cNvSpPr>
            <a:spLocks xmlns:a="http://schemas.openxmlformats.org/drawingml/2006/main" noGrp="1"/>
          </p:cNvSpPr>
          <p:nvPr/>
        </p:nvSpPr>
        <p:spPr>
          <a:xfrm xmlns:a="http://schemas.openxmlformats.org/drawingml/2006/main">
            <a:off x="566928" y="2194560"/>
            <a:ext cx="11057839" cy="493776"/>
          </a:xfrm>
          <a:prstGeom xmlns:a="http://schemas.openxmlformats.org/drawingml/2006/main" prst="rect">
            <a:avLst/>
          </a:prstGeom>
          <a:solidFill xmlns:a="http://schemas.openxmlformats.org/drawingml/2006/main">
            <a:srgbClr val="F7F9FB"/>
          </a:solidFill>
        </p:spPr>
      </p:sp>
      <p:sp>
        <p:nvSpPr>
          <p:cNvPr id="17" name="Text 15">
            <a:extLst xmlns:a="http://schemas.openxmlformats.org/drawingml/2006/main">
              <a:ext uri="{FF2B5EF4-FFF2-40B4-BE49-F238E27FC236}">
                <a16:creationId xmlns:a16="http://schemas.microsoft.com/office/drawing/2014/main" id="{9C359616-A6E5-4F90-BADD-6FD1B3FB8184}"/>
              </a:ext>
            </a:extLst>
          </p:cNvPr>
          <p:cNvSpPr>
            <a:spLocks xmlns:a="http://schemas.openxmlformats.org/drawingml/2006/main" noGrp="1"/>
          </p:cNvSpPr>
          <p:nvPr/>
        </p:nvSpPr>
        <p:spPr>
          <a:xfrm xmlns:a="http://schemas.openxmlformats.org/drawingml/2006/main">
            <a:off x="676656" y="2304288"/>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Technical presentation</a:t>
            </a:r>
            <a:endParaRPr sz="960"/>
          </a:p>
        </p:txBody>
      </p:sp>
      <p:sp>
        <p:nvSpPr>
          <p:cNvPr id="18" name="Text 16">
            <a:extLst xmlns:a="http://schemas.openxmlformats.org/drawingml/2006/main">
              <a:ext uri="{FF2B5EF4-FFF2-40B4-BE49-F238E27FC236}">
                <a16:creationId xmlns:a16="http://schemas.microsoft.com/office/drawing/2014/main" id="{6E894BC0-BE8F-4D18-A693-3612CFA91684}"/>
              </a:ext>
            </a:extLst>
          </p:cNvPr>
          <p:cNvSpPr>
            <a:spLocks xmlns:a="http://schemas.openxmlformats.org/drawingml/2006/main" noGrp="1"/>
          </p:cNvSpPr>
          <p:nvPr/>
        </p:nvSpPr>
        <p:spPr>
          <a:xfrm xmlns:a="http://schemas.openxmlformats.org/drawingml/2006/main">
            <a:off x="4882896" y="2304288"/>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20</a:t>
            </a:r>
            <a:endParaRPr sz="1000"/>
          </a:p>
        </p:txBody>
      </p:sp>
      <p:sp>
        <p:nvSpPr>
          <p:cNvPr id="19" name="Text 17">
            <a:extLst xmlns:a="http://schemas.openxmlformats.org/drawingml/2006/main">
              <a:ext uri="{FF2B5EF4-FFF2-40B4-BE49-F238E27FC236}">
                <a16:creationId xmlns:a16="http://schemas.microsoft.com/office/drawing/2014/main" id="{42F192FE-6B2D-42AD-B751-B303EBEC01A7}"/>
              </a:ext>
            </a:extLst>
          </p:cNvPr>
          <p:cNvSpPr>
            <a:spLocks xmlns:a="http://schemas.openxmlformats.org/drawingml/2006/main" noGrp="1"/>
          </p:cNvSpPr>
          <p:nvPr/>
        </p:nvSpPr>
        <p:spPr>
          <a:xfrm xmlns:a="http://schemas.openxmlformats.org/drawingml/2006/main">
            <a:off x="5980176" y="2304288"/>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16</a:t>
            </a:r>
            <a:endParaRPr sz="1000"/>
          </a:p>
        </p:txBody>
      </p:sp>
      <p:sp>
        <p:nvSpPr>
          <p:cNvPr id="20" name="Text 18">
            <a:extLst xmlns:a="http://schemas.openxmlformats.org/drawingml/2006/main">
              <a:ext uri="{FF2B5EF4-FFF2-40B4-BE49-F238E27FC236}">
                <a16:creationId xmlns:a16="http://schemas.microsoft.com/office/drawing/2014/main" id="{33908D27-CA83-4125-BBA9-E737C0722606}"/>
              </a:ext>
            </a:extLst>
          </p:cNvPr>
          <p:cNvSpPr>
            <a:spLocks xmlns:a="http://schemas.openxmlformats.org/drawingml/2006/main" noGrp="1"/>
          </p:cNvSpPr>
          <p:nvPr/>
        </p:nvSpPr>
        <p:spPr>
          <a:xfrm xmlns:a="http://schemas.openxmlformats.org/drawingml/2006/main">
            <a:off x="7077456" y="2304288"/>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Yes</a:t>
            </a:r>
            <a:endParaRPr sz="920"/>
          </a:p>
        </p:txBody>
      </p:sp>
      <p:sp>
        <p:nvSpPr>
          <p:cNvPr id="21" name="Text 19">
            <a:extLst xmlns:a="http://schemas.openxmlformats.org/drawingml/2006/main">
              <a:ext uri="{FF2B5EF4-FFF2-40B4-BE49-F238E27FC236}">
                <a16:creationId xmlns:a16="http://schemas.microsoft.com/office/drawing/2014/main" id="{45513A0A-1FF3-407E-9BD1-5A09437450CA}"/>
              </a:ext>
            </a:extLst>
          </p:cNvPr>
          <p:cNvSpPr>
            <a:spLocks xmlns:a="http://schemas.openxmlformats.org/drawingml/2006/main" noGrp="1"/>
          </p:cNvSpPr>
          <p:nvPr/>
        </p:nvSpPr>
        <p:spPr>
          <a:xfrm xmlns:a="http://schemas.openxmlformats.org/drawingml/2006/main">
            <a:off x="8266176" y="2304288"/>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Rehearsal, and the same story as the architecture section</a:t>
            </a:r>
            <a:endParaRPr sz="920"/>
          </a:p>
        </p:txBody>
      </p:sp>
      <p:sp>
        <p:nvSpPr>
          <p:cNvPr id="22" name="Shape 20">
            <a:extLst xmlns:a="http://schemas.openxmlformats.org/drawingml/2006/main">
              <a:ext uri="{FF2B5EF4-FFF2-40B4-BE49-F238E27FC236}">
                <a16:creationId xmlns:a16="http://schemas.microsoft.com/office/drawing/2014/main" id="{0D594EF8-F80B-4638-A623-28638050516A}"/>
              </a:ext>
            </a:extLst>
          </p:cNvPr>
          <p:cNvSpPr>
            <a:spLocks xmlns:a="http://schemas.openxmlformats.org/drawingml/2006/main" noGrp="1"/>
          </p:cNvSpPr>
          <p:nvPr/>
        </p:nvSpPr>
        <p:spPr>
          <a:xfrm xmlns:a="http://schemas.openxmlformats.org/drawingml/2006/main">
            <a:off x="566928" y="2688336"/>
            <a:ext cx="11057839" cy="7315"/>
          </a:xfrm>
          <a:prstGeom xmlns:a="http://schemas.openxmlformats.org/drawingml/2006/main" prst="rect">
            <a:avLst/>
          </a:prstGeom>
          <a:solidFill xmlns:a="http://schemas.openxmlformats.org/drawingml/2006/main">
            <a:srgbClr val="CBD5E0"/>
          </a:solidFill>
        </p:spPr>
      </p:sp>
      <p:sp>
        <p:nvSpPr>
          <p:cNvPr id="23" name="Text 21">
            <a:extLst xmlns:a="http://schemas.openxmlformats.org/drawingml/2006/main">
              <a:ext uri="{FF2B5EF4-FFF2-40B4-BE49-F238E27FC236}">
                <a16:creationId xmlns:a16="http://schemas.microsoft.com/office/drawing/2014/main" id="{8461C46C-C3FD-436C-B18C-BE8488DF2626}"/>
              </a:ext>
            </a:extLst>
          </p:cNvPr>
          <p:cNvSpPr>
            <a:spLocks xmlns:a="http://schemas.openxmlformats.org/drawingml/2006/main" noGrp="1"/>
          </p:cNvSpPr>
          <p:nvPr/>
        </p:nvSpPr>
        <p:spPr>
          <a:xfrm xmlns:a="http://schemas.openxmlformats.org/drawingml/2006/main">
            <a:off x="676656" y="2798064"/>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Implementation approach</a:t>
            </a:r>
            <a:endParaRPr sz="960"/>
          </a:p>
        </p:txBody>
      </p:sp>
      <p:sp>
        <p:nvSpPr>
          <p:cNvPr id="24" name="Text 22">
            <a:extLst xmlns:a="http://schemas.openxmlformats.org/drawingml/2006/main">
              <a:ext uri="{FF2B5EF4-FFF2-40B4-BE49-F238E27FC236}">
                <a16:creationId xmlns:a16="http://schemas.microsoft.com/office/drawing/2014/main" id="{6335D832-8E30-4AAD-AAF7-DAF742504436}"/>
              </a:ext>
            </a:extLst>
          </p:cNvPr>
          <p:cNvSpPr>
            <a:spLocks xmlns:a="http://schemas.openxmlformats.org/drawingml/2006/main" noGrp="1"/>
          </p:cNvSpPr>
          <p:nvPr/>
        </p:nvSpPr>
        <p:spPr>
          <a:xfrm xmlns:a="http://schemas.openxmlformats.org/drawingml/2006/main">
            <a:off x="4882896" y="2798064"/>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15</a:t>
            </a:r>
            <a:endParaRPr sz="1000"/>
          </a:p>
        </p:txBody>
      </p:sp>
      <p:sp>
        <p:nvSpPr>
          <p:cNvPr id="25" name="Text 23">
            <a:extLst xmlns:a="http://schemas.openxmlformats.org/drawingml/2006/main">
              <a:ext uri="{FF2B5EF4-FFF2-40B4-BE49-F238E27FC236}">
                <a16:creationId xmlns:a16="http://schemas.microsoft.com/office/drawing/2014/main" id="{D9E43B3D-688A-4F86-8394-37B761A3663C}"/>
              </a:ext>
            </a:extLst>
          </p:cNvPr>
          <p:cNvSpPr>
            <a:spLocks xmlns:a="http://schemas.openxmlformats.org/drawingml/2006/main" noGrp="1"/>
          </p:cNvSpPr>
          <p:nvPr/>
        </p:nvSpPr>
        <p:spPr>
          <a:xfrm xmlns:a="http://schemas.openxmlformats.org/drawingml/2006/main">
            <a:off x="5980176" y="2798064"/>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12</a:t>
            </a:r>
            <a:endParaRPr sz="1000"/>
          </a:p>
        </p:txBody>
      </p:sp>
      <p:sp>
        <p:nvSpPr>
          <p:cNvPr id="26" name="Text 24">
            <a:extLst xmlns:a="http://schemas.openxmlformats.org/drawingml/2006/main">
              <a:ext uri="{FF2B5EF4-FFF2-40B4-BE49-F238E27FC236}">
                <a16:creationId xmlns:a16="http://schemas.microsoft.com/office/drawing/2014/main" id="{D8D1F9C1-3074-400C-93DC-9FE37A222DD4}"/>
              </a:ext>
            </a:extLst>
          </p:cNvPr>
          <p:cNvSpPr>
            <a:spLocks xmlns:a="http://schemas.openxmlformats.org/drawingml/2006/main" noGrp="1"/>
          </p:cNvSpPr>
          <p:nvPr/>
        </p:nvSpPr>
        <p:spPr>
          <a:xfrm xmlns:a="http://schemas.openxmlformats.org/drawingml/2006/main">
            <a:off x="7077456" y="2798064"/>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Yes</a:t>
            </a:r>
            <a:endParaRPr sz="920"/>
          </a:p>
        </p:txBody>
      </p:sp>
      <p:sp>
        <p:nvSpPr>
          <p:cNvPr id="27" name="Text 25">
            <a:extLst xmlns:a="http://schemas.openxmlformats.org/drawingml/2006/main">
              <a:ext uri="{FF2B5EF4-FFF2-40B4-BE49-F238E27FC236}">
                <a16:creationId xmlns:a16="http://schemas.microsoft.com/office/drawing/2014/main" id="{81290BA7-165F-48E9-B273-9A976AF66045}"/>
              </a:ext>
            </a:extLst>
          </p:cNvPr>
          <p:cNvSpPr>
            <a:spLocks xmlns:a="http://schemas.openxmlformats.org/drawingml/2006/main" noGrp="1"/>
          </p:cNvSpPr>
          <p:nvPr/>
        </p:nvSpPr>
        <p:spPr>
          <a:xfrm xmlns:a="http://schemas.openxmlformats.org/drawingml/2006/main">
            <a:off x="8266176" y="2798064"/>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Wave plan, named resourcing, credible governance model</a:t>
            </a:r>
            <a:endParaRPr sz="920"/>
          </a:p>
        </p:txBody>
      </p:sp>
      <p:sp>
        <p:nvSpPr>
          <p:cNvPr id="28" name="Shape 26">
            <a:extLst xmlns:a="http://schemas.openxmlformats.org/drawingml/2006/main">
              <a:ext uri="{FF2B5EF4-FFF2-40B4-BE49-F238E27FC236}">
                <a16:creationId xmlns:a16="http://schemas.microsoft.com/office/drawing/2014/main" id="{5DF88166-7FAB-49BA-924D-993D98DA44B1}"/>
              </a:ext>
            </a:extLst>
          </p:cNvPr>
          <p:cNvSpPr>
            <a:spLocks xmlns:a="http://schemas.openxmlformats.org/drawingml/2006/main" noGrp="1"/>
          </p:cNvSpPr>
          <p:nvPr/>
        </p:nvSpPr>
        <p:spPr>
          <a:xfrm xmlns:a="http://schemas.openxmlformats.org/drawingml/2006/main">
            <a:off x="566928" y="3182112"/>
            <a:ext cx="11057839" cy="7315"/>
          </a:xfrm>
          <a:prstGeom xmlns:a="http://schemas.openxmlformats.org/drawingml/2006/main" prst="rect">
            <a:avLst/>
          </a:prstGeom>
          <a:solidFill xmlns:a="http://schemas.openxmlformats.org/drawingml/2006/main">
            <a:srgbClr val="CBD5E0"/>
          </a:solidFill>
        </p:spPr>
      </p:sp>
      <p:sp>
        <p:nvSpPr>
          <p:cNvPr id="29" name="Shape 27">
            <a:extLst xmlns:a="http://schemas.openxmlformats.org/drawingml/2006/main">
              <a:ext uri="{FF2B5EF4-FFF2-40B4-BE49-F238E27FC236}">
                <a16:creationId xmlns:a16="http://schemas.microsoft.com/office/drawing/2014/main" id="{68DAA49E-3AC6-4AE5-8D3F-FD32E7369E7F}"/>
              </a:ext>
            </a:extLst>
          </p:cNvPr>
          <p:cNvSpPr>
            <a:spLocks xmlns:a="http://schemas.openxmlformats.org/drawingml/2006/main" noGrp="1"/>
          </p:cNvSpPr>
          <p:nvPr/>
        </p:nvSpPr>
        <p:spPr>
          <a:xfrm xmlns:a="http://schemas.openxmlformats.org/drawingml/2006/main">
            <a:off x="566928" y="3182112"/>
            <a:ext cx="11057839" cy="493776"/>
          </a:xfrm>
          <a:prstGeom xmlns:a="http://schemas.openxmlformats.org/drawingml/2006/main" prst="rect">
            <a:avLst/>
          </a:prstGeom>
          <a:solidFill xmlns:a="http://schemas.openxmlformats.org/drawingml/2006/main">
            <a:srgbClr val="F7F9FB"/>
          </a:solidFill>
        </p:spPr>
      </p:sp>
      <p:sp>
        <p:nvSpPr>
          <p:cNvPr id="30" name="Text 28">
            <a:extLst xmlns:a="http://schemas.openxmlformats.org/drawingml/2006/main">
              <a:ext uri="{FF2B5EF4-FFF2-40B4-BE49-F238E27FC236}">
                <a16:creationId xmlns:a16="http://schemas.microsoft.com/office/drawing/2014/main" id="{6F74EB83-4319-469B-82AE-A91828A22C9D}"/>
              </a:ext>
            </a:extLst>
          </p:cNvPr>
          <p:cNvSpPr>
            <a:spLocks xmlns:a="http://schemas.openxmlformats.org/drawingml/2006/main" noGrp="1"/>
          </p:cNvSpPr>
          <p:nvPr/>
        </p:nvSpPr>
        <p:spPr>
          <a:xfrm xmlns:a="http://schemas.openxmlformats.org/drawingml/2006/main">
            <a:off x="676656" y="3291840"/>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Risk, governance &amp; site visit</a:t>
            </a:r>
            <a:endParaRPr sz="960"/>
          </a:p>
        </p:txBody>
      </p:sp>
      <p:sp>
        <p:nvSpPr>
          <p:cNvPr id="31" name="Text 29">
            <a:extLst xmlns:a="http://schemas.openxmlformats.org/drawingml/2006/main">
              <a:ext uri="{FF2B5EF4-FFF2-40B4-BE49-F238E27FC236}">
                <a16:creationId xmlns:a16="http://schemas.microsoft.com/office/drawing/2014/main" id="{696FFB66-EB1C-4B69-B2FE-BBC764C52240}"/>
              </a:ext>
            </a:extLst>
          </p:cNvPr>
          <p:cNvSpPr>
            <a:spLocks xmlns:a="http://schemas.openxmlformats.org/drawingml/2006/main" noGrp="1"/>
          </p:cNvSpPr>
          <p:nvPr/>
        </p:nvSpPr>
        <p:spPr>
          <a:xfrm xmlns:a="http://schemas.openxmlformats.org/drawingml/2006/main">
            <a:off x="4882896" y="3291840"/>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15</a:t>
            </a:r>
            <a:endParaRPr sz="1000"/>
          </a:p>
        </p:txBody>
      </p:sp>
      <p:sp>
        <p:nvSpPr>
          <p:cNvPr id="32" name="Text 30">
            <a:extLst xmlns:a="http://schemas.openxmlformats.org/drawingml/2006/main">
              <a:ext uri="{FF2B5EF4-FFF2-40B4-BE49-F238E27FC236}">
                <a16:creationId xmlns:a16="http://schemas.microsoft.com/office/drawing/2014/main" id="{B51100B7-AD06-4EEE-84A1-121030D4D37B}"/>
              </a:ext>
            </a:extLst>
          </p:cNvPr>
          <p:cNvSpPr>
            <a:spLocks xmlns:a="http://schemas.openxmlformats.org/drawingml/2006/main" noGrp="1"/>
          </p:cNvSpPr>
          <p:nvPr/>
        </p:nvSpPr>
        <p:spPr>
          <a:xfrm xmlns:a="http://schemas.openxmlformats.org/drawingml/2006/main">
            <a:off x="5980176" y="3291840"/>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12</a:t>
            </a:r>
            <a:endParaRPr sz="1000"/>
          </a:p>
        </p:txBody>
      </p:sp>
      <p:sp>
        <p:nvSpPr>
          <p:cNvPr id="33" name="Text 31">
            <a:extLst xmlns:a="http://schemas.openxmlformats.org/drawingml/2006/main">
              <a:ext uri="{FF2B5EF4-FFF2-40B4-BE49-F238E27FC236}">
                <a16:creationId xmlns:a16="http://schemas.microsoft.com/office/drawing/2014/main" id="{911B8AB8-AB51-4216-8824-F9483A34CCB5}"/>
              </a:ext>
            </a:extLst>
          </p:cNvPr>
          <p:cNvSpPr>
            <a:spLocks xmlns:a="http://schemas.openxmlformats.org/drawingml/2006/main" noGrp="1"/>
          </p:cNvSpPr>
          <p:nvPr/>
        </p:nvSpPr>
        <p:spPr>
          <a:xfrm xmlns:a="http://schemas.openxmlformats.org/drawingml/2006/main">
            <a:off x="7077456" y="3291840"/>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Yes</a:t>
            </a:r>
            <a:endParaRPr sz="920"/>
          </a:p>
        </p:txBody>
      </p:sp>
      <p:sp>
        <p:nvSpPr>
          <p:cNvPr id="34" name="Text 32">
            <a:extLst xmlns:a="http://schemas.openxmlformats.org/drawingml/2006/main">
              <a:ext uri="{FF2B5EF4-FFF2-40B4-BE49-F238E27FC236}">
                <a16:creationId xmlns:a16="http://schemas.microsoft.com/office/drawing/2014/main" id="{F4BAD4FC-5A49-487B-B71F-8221CFD1FC91}"/>
              </a:ext>
            </a:extLst>
          </p:cNvPr>
          <p:cNvSpPr>
            <a:spLocks xmlns:a="http://schemas.openxmlformats.org/drawingml/2006/main" noGrp="1"/>
          </p:cNvSpPr>
          <p:nvPr/>
        </p:nvSpPr>
        <p:spPr>
          <a:xfrm xmlns:a="http://schemas.openxmlformats.org/drawingml/2006/main">
            <a:off x="8266176" y="3291840"/>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Responsible-AI and model-risk mapping done properly</a:t>
            </a:r>
            <a:endParaRPr sz="920"/>
          </a:p>
        </p:txBody>
      </p:sp>
      <p:sp>
        <p:nvSpPr>
          <p:cNvPr id="35" name="Shape 33">
            <a:extLst xmlns:a="http://schemas.openxmlformats.org/drawingml/2006/main">
              <a:ext uri="{FF2B5EF4-FFF2-40B4-BE49-F238E27FC236}">
                <a16:creationId xmlns:a16="http://schemas.microsoft.com/office/drawing/2014/main" id="{DDFAED75-E5FA-4A27-AE79-66C0AC6205D3}"/>
              </a:ext>
            </a:extLst>
          </p:cNvPr>
          <p:cNvSpPr>
            <a:spLocks xmlns:a="http://schemas.openxmlformats.org/drawingml/2006/main" noGrp="1"/>
          </p:cNvSpPr>
          <p:nvPr/>
        </p:nvSpPr>
        <p:spPr>
          <a:xfrm xmlns:a="http://schemas.openxmlformats.org/drawingml/2006/main">
            <a:off x="566928" y="3675888"/>
            <a:ext cx="11057839" cy="7315"/>
          </a:xfrm>
          <a:prstGeom xmlns:a="http://schemas.openxmlformats.org/drawingml/2006/main" prst="rect">
            <a:avLst/>
          </a:prstGeom>
          <a:solidFill xmlns:a="http://schemas.openxmlformats.org/drawingml/2006/main">
            <a:srgbClr val="CBD5E0"/>
          </a:solidFill>
        </p:spPr>
      </p:sp>
      <p:sp>
        <p:nvSpPr>
          <p:cNvPr id="36" name="Text 34">
            <a:extLst xmlns:a="http://schemas.openxmlformats.org/drawingml/2006/main">
              <a:ext uri="{FF2B5EF4-FFF2-40B4-BE49-F238E27FC236}">
                <a16:creationId xmlns:a16="http://schemas.microsoft.com/office/drawing/2014/main" id="{4451C54B-499D-460C-92BC-73DAF7F45448}"/>
              </a:ext>
            </a:extLst>
          </p:cNvPr>
          <p:cNvSpPr>
            <a:spLocks xmlns:a="http://schemas.openxmlformats.org/drawingml/2006/main" noGrp="1"/>
          </p:cNvSpPr>
          <p:nvPr/>
        </p:nvSpPr>
        <p:spPr>
          <a:xfrm xmlns:a="http://schemas.openxmlformats.org/drawingml/2006/main">
            <a:off x="676656" y="3785616"/>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Three showcase use cases</a:t>
            </a:r>
            <a:endParaRPr sz="960"/>
          </a:p>
        </p:txBody>
      </p:sp>
      <p:sp>
        <p:nvSpPr>
          <p:cNvPr id="37" name="Text 35">
            <a:extLst xmlns:a="http://schemas.openxmlformats.org/drawingml/2006/main">
              <a:ext uri="{FF2B5EF4-FFF2-40B4-BE49-F238E27FC236}">
                <a16:creationId xmlns:a16="http://schemas.microsoft.com/office/drawing/2014/main" id="{D316BF58-1D5F-4CF4-9BC7-2F931CB73149}"/>
              </a:ext>
            </a:extLst>
          </p:cNvPr>
          <p:cNvSpPr>
            <a:spLocks xmlns:a="http://schemas.openxmlformats.org/drawingml/2006/main" noGrp="1"/>
          </p:cNvSpPr>
          <p:nvPr/>
        </p:nvSpPr>
        <p:spPr>
          <a:xfrm xmlns:a="http://schemas.openxmlformats.org/drawingml/2006/main">
            <a:off x="4882896" y="3785616"/>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10</a:t>
            </a:r>
            <a:endParaRPr sz="1000"/>
          </a:p>
        </p:txBody>
      </p:sp>
      <p:sp>
        <p:nvSpPr>
          <p:cNvPr id="38" name="Text 36">
            <a:extLst xmlns:a="http://schemas.openxmlformats.org/drawingml/2006/main">
              <a:ext uri="{FF2B5EF4-FFF2-40B4-BE49-F238E27FC236}">
                <a16:creationId xmlns:a16="http://schemas.microsoft.com/office/drawing/2014/main" id="{96D06ACE-4EC1-4015-ACBB-4577596D5815}"/>
              </a:ext>
            </a:extLst>
          </p:cNvPr>
          <p:cNvSpPr>
            <a:spLocks xmlns:a="http://schemas.openxmlformats.org/drawingml/2006/main" noGrp="1"/>
          </p:cNvSpPr>
          <p:nvPr/>
        </p:nvSpPr>
        <p:spPr>
          <a:xfrm xmlns:a="http://schemas.openxmlformats.org/drawingml/2006/main">
            <a:off x="5980176" y="3785616"/>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8</a:t>
            </a:r>
            <a:endParaRPr sz="1000"/>
          </a:p>
        </p:txBody>
      </p:sp>
      <p:sp>
        <p:nvSpPr>
          <p:cNvPr id="39" name="Text 37">
            <a:extLst xmlns:a="http://schemas.openxmlformats.org/drawingml/2006/main">
              <a:ext uri="{FF2B5EF4-FFF2-40B4-BE49-F238E27FC236}">
                <a16:creationId xmlns:a16="http://schemas.microsoft.com/office/drawing/2014/main" id="{95979740-453F-4FF1-B087-A985CC8BD5D3}"/>
              </a:ext>
            </a:extLst>
          </p:cNvPr>
          <p:cNvSpPr>
            <a:spLocks xmlns:a="http://schemas.openxmlformats.org/drawingml/2006/main" noGrp="1"/>
          </p:cNvSpPr>
          <p:nvPr/>
        </p:nvSpPr>
        <p:spPr>
          <a:xfrm xmlns:a="http://schemas.openxmlformats.org/drawingml/2006/main">
            <a:off x="7077456" y="3785616"/>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Yes</a:t>
            </a:r>
            <a:endParaRPr sz="920"/>
          </a:p>
        </p:txBody>
      </p:sp>
      <p:sp>
        <p:nvSpPr>
          <p:cNvPr id="40" name="Text 38">
            <a:extLst xmlns:a="http://schemas.openxmlformats.org/drawingml/2006/main">
              <a:ext uri="{FF2B5EF4-FFF2-40B4-BE49-F238E27FC236}">
                <a16:creationId xmlns:a16="http://schemas.microsoft.com/office/drawing/2014/main" id="{DA989419-AE72-4A56-B84B-1AD4A63202C7}"/>
              </a:ext>
            </a:extLst>
          </p:cNvPr>
          <p:cNvSpPr>
            <a:spLocks xmlns:a="http://schemas.openxmlformats.org/drawingml/2006/main" noGrp="1"/>
          </p:cNvSpPr>
          <p:nvPr/>
        </p:nvSpPr>
        <p:spPr>
          <a:xfrm xmlns:a="http://schemas.openxmlformats.org/drawingml/2006/main">
            <a:off x="8266176" y="3785616"/>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Working demonstrations with quantified impact</a:t>
            </a:r>
            <a:endParaRPr sz="920"/>
          </a:p>
        </p:txBody>
      </p:sp>
      <p:sp>
        <p:nvSpPr>
          <p:cNvPr id="41" name="Shape 39">
            <a:extLst xmlns:a="http://schemas.openxmlformats.org/drawingml/2006/main">
              <a:ext uri="{FF2B5EF4-FFF2-40B4-BE49-F238E27FC236}">
                <a16:creationId xmlns:a16="http://schemas.microsoft.com/office/drawing/2014/main" id="{CBF8933A-676B-492D-89AB-A956D77347C9}"/>
              </a:ext>
            </a:extLst>
          </p:cNvPr>
          <p:cNvSpPr>
            <a:spLocks xmlns:a="http://schemas.openxmlformats.org/drawingml/2006/main" noGrp="1"/>
          </p:cNvSpPr>
          <p:nvPr/>
        </p:nvSpPr>
        <p:spPr>
          <a:xfrm xmlns:a="http://schemas.openxmlformats.org/drawingml/2006/main">
            <a:off x="566928" y="4169664"/>
            <a:ext cx="11057839" cy="7315"/>
          </a:xfrm>
          <a:prstGeom xmlns:a="http://schemas.openxmlformats.org/drawingml/2006/main" prst="rect">
            <a:avLst/>
          </a:prstGeom>
          <a:solidFill xmlns:a="http://schemas.openxmlformats.org/drawingml/2006/main">
            <a:srgbClr val="CBD5E0"/>
          </a:solidFill>
        </p:spPr>
      </p:sp>
      <p:sp>
        <p:nvSpPr>
          <p:cNvPr id="42" name="Shape 40">
            <a:extLst xmlns:a="http://schemas.openxmlformats.org/drawingml/2006/main">
              <a:ext uri="{FF2B5EF4-FFF2-40B4-BE49-F238E27FC236}">
                <a16:creationId xmlns:a16="http://schemas.microsoft.com/office/drawing/2014/main" id="{C83DD682-F1E9-417C-8129-A8531792810E}"/>
              </a:ext>
            </a:extLst>
          </p:cNvPr>
          <p:cNvSpPr>
            <a:spLocks xmlns:a="http://schemas.openxmlformats.org/drawingml/2006/main" noGrp="1"/>
          </p:cNvSpPr>
          <p:nvPr/>
        </p:nvSpPr>
        <p:spPr>
          <a:xfrm xmlns:a="http://schemas.openxmlformats.org/drawingml/2006/main">
            <a:off x="566928" y="4169664"/>
            <a:ext cx="11057839" cy="493776"/>
          </a:xfrm>
          <a:prstGeom xmlns:a="http://schemas.openxmlformats.org/drawingml/2006/main" prst="rect">
            <a:avLst/>
          </a:prstGeom>
          <a:solidFill xmlns:a="http://schemas.openxmlformats.org/drawingml/2006/main">
            <a:srgbClr val="F7F9FB"/>
          </a:solidFill>
        </p:spPr>
      </p:sp>
      <p:sp>
        <p:nvSpPr>
          <p:cNvPr id="43" name="Text 41">
            <a:extLst xmlns:a="http://schemas.openxmlformats.org/drawingml/2006/main">
              <a:ext uri="{FF2B5EF4-FFF2-40B4-BE49-F238E27FC236}">
                <a16:creationId xmlns:a16="http://schemas.microsoft.com/office/drawing/2014/main" id="{D521B5CC-CF80-40F2-A7F5-BEED5D3B3ED3}"/>
              </a:ext>
            </a:extLst>
          </p:cNvPr>
          <p:cNvSpPr>
            <a:spLocks xmlns:a="http://schemas.openxmlformats.org/drawingml/2006/main" noGrp="1"/>
          </p:cNvSpPr>
          <p:nvPr/>
        </p:nvSpPr>
        <p:spPr>
          <a:xfrm xmlns:a="http://schemas.openxmlformats.org/drawingml/2006/main">
            <a:off x="676656" y="4279392"/>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AI-ML org experience</a:t>
            </a:r>
            <a:endParaRPr sz="960"/>
          </a:p>
        </p:txBody>
      </p:sp>
      <p:sp>
        <p:nvSpPr>
          <p:cNvPr id="44" name="Text 42">
            <a:extLst xmlns:a="http://schemas.openxmlformats.org/drawingml/2006/main">
              <a:ext uri="{FF2B5EF4-FFF2-40B4-BE49-F238E27FC236}">
                <a16:creationId xmlns:a16="http://schemas.microsoft.com/office/drawing/2014/main" id="{3AF84C47-453C-4F31-BB06-1C9DD2A44CF3}"/>
              </a:ext>
            </a:extLst>
          </p:cNvPr>
          <p:cNvSpPr>
            <a:spLocks xmlns:a="http://schemas.openxmlformats.org/drawingml/2006/main" noGrp="1"/>
          </p:cNvSpPr>
          <p:nvPr/>
        </p:nvSpPr>
        <p:spPr>
          <a:xfrm xmlns:a="http://schemas.openxmlformats.org/drawingml/2006/main">
            <a:off x="4882896" y="4279392"/>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10</a:t>
            </a:r>
            <a:endParaRPr sz="1000"/>
          </a:p>
        </p:txBody>
      </p:sp>
      <p:sp>
        <p:nvSpPr>
          <p:cNvPr id="45" name="Text 43">
            <a:extLst xmlns:a="http://schemas.openxmlformats.org/drawingml/2006/main">
              <a:ext uri="{FF2B5EF4-FFF2-40B4-BE49-F238E27FC236}">
                <a16:creationId xmlns:a16="http://schemas.microsoft.com/office/drawing/2014/main" id="{D682B07F-5F77-4F9D-A2BB-880F1A9A9C13}"/>
              </a:ext>
            </a:extLst>
          </p:cNvPr>
          <p:cNvSpPr>
            <a:spLocks xmlns:a="http://schemas.openxmlformats.org/drawingml/2006/main" noGrp="1"/>
          </p:cNvSpPr>
          <p:nvPr/>
        </p:nvSpPr>
        <p:spPr>
          <a:xfrm xmlns:a="http://schemas.openxmlformats.org/drawingml/2006/main">
            <a:off x="5980176" y="4279392"/>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6</a:t>
            </a:r>
            <a:endParaRPr sz="1000"/>
          </a:p>
        </p:txBody>
      </p:sp>
      <p:sp>
        <p:nvSpPr>
          <p:cNvPr id="46" name="Text 44">
            <a:extLst xmlns:a="http://schemas.openxmlformats.org/drawingml/2006/main">
              <a:ext uri="{FF2B5EF4-FFF2-40B4-BE49-F238E27FC236}">
                <a16:creationId xmlns:a16="http://schemas.microsoft.com/office/drawing/2014/main" id="{84083142-5A5B-48B1-A2EF-381E4D92B19F}"/>
              </a:ext>
            </a:extLst>
          </p:cNvPr>
          <p:cNvSpPr>
            <a:spLocks xmlns:a="http://schemas.openxmlformats.org/drawingml/2006/main" noGrp="1"/>
          </p:cNvSpPr>
          <p:nvPr/>
        </p:nvSpPr>
        <p:spPr>
          <a:xfrm xmlns:a="http://schemas.openxmlformats.org/drawingml/2006/main">
            <a:off x="7077456" y="4279392"/>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No</a:t>
            </a:r>
            <a:endParaRPr sz="920"/>
          </a:p>
        </p:txBody>
      </p:sp>
      <p:sp>
        <p:nvSpPr>
          <p:cNvPr id="47" name="Text 45">
            <a:extLst xmlns:a="http://schemas.openxmlformats.org/drawingml/2006/main">
              <a:ext uri="{FF2B5EF4-FFF2-40B4-BE49-F238E27FC236}">
                <a16:creationId xmlns:a16="http://schemas.microsoft.com/office/drawing/2014/main" id="{E6852661-E0BC-4A1D-9783-78F5ECD2964C}"/>
              </a:ext>
            </a:extLst>
          </p:cNvPr>
          <p:cNvSpPr>
            <a:spLocks xmlns:a="http://schemas.openxmlformats.org/drawingml/2006/main" noGrp="1"/>
          </p:cNvSpPr>
          <p:nvPr/>
        </p:nvSpPr>
        <p:spPr>
          <a:xfrm xmlns:a="http://schemas.openxmlformats.org/drawingml/2006/main">
            <a:off x="8266176" y="4279392"/>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Years elapsed — fixed at bid open</a:t>
            </a:r>
            <a:endParaRPr sz="920"/>
          </a:p>
        </p:txBody>
      </p:sp>
      <p:sp>
        <p:nvSpPr>
          <p:cNvPr id="48" name="Shape 46">
            <a:extLst xmlns:a="http://schemas.openxmlformats.org/drawingml/2006/main">
              <a:ext uri="{FF2B5EF4-FFF2-40B4-BE49-F238E27FC236}">
                <a16:creationId xmlns:a16="http://schemas.microsoft.com/office/drawing/2014/main" id="{2E00A7D6-3059-4388-97B2-31EC5D1ECBA5}"/>
              </a:ext>
            </a:extLst>
          </p:cNvPr>
          <p:cNvSpPr>
            <a:spLocks xmlns:a="http://schemas.openxmlformats.org/drawingml/2006/main" noGrp="1"/>
          </p:cNvSpPr>
          <p:nvPr/>
        </p:nvSpPr>
        <p:spPr>
          <a:xfrm xmlns:a="http://schemas.openxmlformats.org/drawingml/2006/main">
            <a:off x="566928" y="4663440"/>
            <a:ext cx="11057839" cy="7315"/>
          </a:xfrm>
          <a:prstGeom xmlns:a="http://schemas.openxmlformats.org/drawingml/2006/main" prst="rect">
            <a:avLst/>
          </a:prstGeom>
          <a:solidFill xmlns:a="http://schemas.openxmlformats.org/drawingml/2006/main">
            <a:srgbClr val="CBD5E0"/>
          </a:solidFill>
        </p:spPr>
      </p:sp>
      <p:sp>
        <p:nvSpPr>
          <p:cNvPr id="49" name="Text 47">
            <a:extLst xmlns:a="http://schemas.openxmlformats.org/drawingml/2006/main">
              <a:ext uri="{FF2B5EF4-FFF2-40B4-BE49-F238E27FC236}">
                <a16:creationId xmlns:a16="http://schemas.microsoft.com/office/drawing/2014/main" id="{5D0D681A-7429-48EB-8DD1-B41FD3FB4E95}"/>
              </a:ext>
            </a:extLst>
          </p:cNvPr>
          <p:cNvSpPr>
            <a:spLocks xmlns:a="http://schemas.openxmlformats.org/drawingml/2006/main" noGrp="1"/>
          </p:cNvSpPr>
          <p:nvPr/>
        </p:nvSpPr>
        <p:spPr>
          <a:xfrm xmlns:a="http://schemas.openxmlformats.org/drawingml/2006/main">
            <a:off x="676656" y="4773168"/>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Platform deploys — references</a:t>
            </a:r>
            <a:endParaRPr sz="960"/>
          </a:p>
        </p:txBody>
      </p:sp>
      <p:sp>
        <p:nvSpPr>
          <p:cNvPr id="50" name="Text 48">
            <a:extLst xmlns:a="http://schemas.openxmlformats.org/drawingml/2006/main">
              <a:ext uri="{FF2B5EF4-FFF2-40B4-BE49-F238E27FC236}">
                <a16:creationId xmlns:a16="http://schemas.microsoft.com/office/drawing/2014/main" id="{C7F670D4-7A62-4DE4-8ABA-EBF7DAFDB4E2}"/>
              </a:ext>
            </a:extLst>
          </p:cNvPr>
          <p:cNvSpPr>
            <a:spLocks xmlns:a="http://schemas.openxmlformats.org/drawingml/2006/main" noGrp="1"/>
          </p:cNvSpPr>
          <p:nvPr/>
        </p:nvSpPr>
        <p:spPr>
          <a:xfrm xmlns:a="http://schemas.openxmlformats.org/drawingml/2006/main">
            <a:off x="4882896" y="4773168"/>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10</a:t>
            </a:r>
            <a:endParaRPr sz="1000"/>
          </a:p>
        </p:txBody>
      </p:sp>
      <p:sp>
        <p:nvSpPr>
          <p:cNvPr id="51" name="Text 49">
            <a:extLst xmlns:a="http://schemas.openxmlformats.org/drawingml/2006/main">
              <a:ext uri="{FF2B5EF4-FFF2-40B4-BE49-F238E27FC236}">
                <a16:creationId xmlns:a16="http://schemas.microsoft.com/office/drawing/2014/main" id="{BDEC4AF7-AFB6-47F4-BEC4-8568B2E9E1F2}"/>
              </a:ext>
            </a:extLst>
          </p:cNvPr>
          <p:cNvSpPr>
            <a:spLocks xmlns:a="http://schemas.openxmlformats.org/drawingml/2006/main" noGrp="1"/>
          </p:cNvSpPr>
          <p:nvPr/>
        </p:nvSpPr>
        <p:spPr>
          <a:xfrm xmlns:a="http://schemas.openxmlformats.org/drawingml/2006/main">
            <a:off x="5980176" y="4773168"/>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5</a:t>
            </a:r>
            <a:endParaRPr sz="1000"/>
          </a:p>
        </p:txBody>
      </p:sp>
      <p:sp>
        <p:nvSpPr>
          <p:cNvPr id="52" name="Text 50">
            <a:extLst xmlns:a="http://schemas.openxmlformats.org/drawingml/2006/main">
              <a:ext uri="{FF2B5EF4-FFF2-40B4-BE49-F238E27FC236}">
                <a16:creationId xmlns:a16="http://schemas.microsoft.com/office/drawing/2014/main" id="{51DE47E4-386B-4A8D-9202-85BB1FAB01F8}"/>
              </a:ext>
            </a:extLst>
          </p:cNvPr>
          <p:cNvSpPr>
            <a:spLocks xmlns:a="http://schemas.openxmlformats.org/drawingml/2006/main" noGrp="1"/>
          </p:cNvSpPr>
          <p:nvPr/>
        </p:nvSpPr>
        <p:spPr>
          <a:xfrm xmlns:a="http://schemas.openxmlformats.org/drawingml/2006/main">
            <a:off x="7077456" y="4773168"/>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No</a:t>
            </a:r>
            <a:endParaRPr sz="920"/>
          </a:p>
        </p:txBody>
      </p:sp>
      <p:sp>
        <p:nvSpPr>
          <p:cNvPr id="53" name="Text 51">
            <a:extLst xmlns:a="http://schemas.openxmlformats.org/drawingml/2006/main">
              <a:ext uri="{FF2B5EF4-FFF2-40B4-BE49-F238E27FC236}">
                <a16:creationId xmlns:a16="http://schemas.microsoft.com/office/drawing/2014/main" id="{6BF65341-FC06-470E-81C4-D38FAA11B527}"/>
              </a:ext>
            </a:extLst>
          </p:cNvPr>
          <p:cNvSpPr>
            <a:spLocks xmlns:a="http://schemas.openxmlformats.org/drawingml/2006/main" noGrp="1"/>
          </p:cNvSpPr>
          <p:nvPr/>
        </p:nvSpPr>
        <p:spPr>
          <a:xfrm xmlns:a="http://schemas.openxmlformats.org/drawingml/2006/main">
            <a:off x="8266176" y="4773168"/>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Prior delivery count — fixed</a:t>
            </a:r>
            <a:endParaRPr sz="920"/>
          </a:p>
        </p:txBody>
      </p:sp>
      <p:sp>
        <p:nvSpPr>
          <p:cNvPr id="54" name="Shape 52">
            <a:extLst xmlns:a="http://schemas.openxmlformats.org/drawingml/2006/main">
              <a:ext uri="{FF2B5EF4-FFF2-40B4-BE49-F238E27FC236}">
                <a16:creationId xmlns:a16="http://schemas.microsoft.com/office/drawing/2014/main" id="{1D91601C-29E1-46D3-B323-9421E90E9DB8}"/>
              </a:ext>
            </a:extLst>
          </p:cNvPr>
          <p:cNvSpPr>
            <a:spLocks xmlns:a="http://schemas.openxmlformats.org/drawingml/2006/main" noGrp="1"/>
          </p:cNvSpPr>
          <p:nvPr/>
        </p:nvSpPr>
        <p:spPr>
          <a:xfrm xmlns:a="http://schemas.openxmlformats.org/drawingml/2006/main">
            <a:off x="566928" y="5157216"/>
            <a:ext cx="11057839" cy="7315"/>
          </a:xfrm>
          <a:prstGeom xmlns:a="http://schemas.openxmlformats.org/drawingml/2006/main" prst="rect">
            <a:avLst/>
          </a:prstGeom>
          <a:solidFill xmlns:a="http://schemas.openxmlformats.org/drawingml/2006/main">
            <a:srgbClr val="CBD5E0"/>
          </a:solidFill>
        </p:spPr>
      </p:sp>
      <p:sp>
        <p:nvSpPr>
          <p:cNvPr id="55" name="Shape 53">
            <a:extLst xmlns:a="http://schemas.openxmlformats.org/drawingml/2006/main">
              <a:ext uri="{FF2B5EF4-FFF2-40B4-BE49-F238E27FC236}">
                <a16:creationId xmlns:a16="http://schemas.microsoft.com/office/drawing/2014/main" id="{B2D5F9BC-F103-4679-9170-31856D9B7E59}"/>
              </a:ext>
            </a:extLst>
          </p:cNvPr>
          <p:cNvSpPr>
            <a:spLocks xmlns:a="http://schemas.openxmlformats.org/drawingml/2006/main" noGrp="1"/>
          </p:cNvSpPr>
          <p:nvPr/>
        </p:nvSpPr>
        <p:spPr>
          <a:xfrm xmlns:a="http://schemas.openxmlformats.org/drawingml/2006/main">
            <a:off x="566928" y="5157216"/>
            <a:ext cx="11057839" cy="493776"/>
          </a:xfrm>
          <a:prstGeom xmlns:a="http://schemas.openxmlformats.org/drawingml/2006/main" prst="rect">
            <a:avLst/>
          </a:prstGeom>
          <a:solidFill xmlns:a="http://schemas.openxmlformats.org/drawingml/2006/main">
            <a:srgbClr val="F7F9FB"/>
          </a:solidFill>
        </p:spPr>
      </p:sp>
      <p:sp>
        <p:nvSpPr>
          <p:cNvPr id="56" name="Text 54">
            <a:extLst xmlns:a="http://schemas.openxmlformats.org/drawingml/2006/main">
              <a:ext uri="{FF2B5EF4-FFF2-40B4-BE49-F238E27FC236}">
                <a16:creationId xmlns:a16="http://schemas.microsoft.com/office/drawing/2014/main" id="{36C204B9-B238-4749-B370-101B6EC8554C}"/>
              </a:ext>
            </a:extLst>
          </p:cNvPr>
          <p:cNvSpPr>
            <a:spLocks xmlns:a="http://schemas.openxmlformats.org/drawingml/2006/main" noGrp="1"/>
          </p:cNvSpPr>
          <p:nvPr/>
        </p:nvSpPr>
        <p:spPr>
          <a:xfrm xmlns:a="http://schemas.openxmlformats.org/drawingml/2006/main">
            <a:off x="676656" y="5266944"/>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Deploys in banks</a:t>
            </a:r>
            <a:endParaRPr sz="960"/>
          </a:p>
        </p:txBody>
      </p:sp>
      <p:sp>
        <p:nvSpPr>
          <p:cNvPr id="57" name="Text 55">
            <a:extLst xmlns:a="http://schemas.openxmlformats.org/drawingml/2006/main">
              <a:ext uri="{FF2B5EF4-FFF2-40B4-BE49-F238E27FC236}">
                <a16:creationId xmlns:a16="http://schemas.microsoft.com/office/drawing/2014/main" id="{CC0886FD-B4EC-43FC-A37B-1FBD4646AAD1}"/>
              </a:ext>
            </a:extLst>
          </p:cNvPr>
          <p:cNvSpPr>
            <a:spLocks xmlns:a="http://schemas.openxmlformats.org/drawingml/2006/main" noGrp="1"/>
          </p:cNvSpPr>
          <p:nvPr/>
        </p:nvSpPr>
        <p:spPr>
          <a:xfrm xmlns:a="http://schemas.openxmlformats.org/drawingml/2006/main">
            <a:off x="4882896" y="5266944"/>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10</a:t>
            </a:r>
            <a:endParaRPr sz="1000"/>
          </a:p>
        </p:txBody>
      </p:sp>
      <p:sp>
        <p:nvSpPr>
          <p:cNvPr id="58" name="Text 56">
            <a:extLst xmlns:a="http://schemas.openxmlformats.org/drawingml/2006/main">
              <a:ext uri="{FF2B5EF4-FFF2-40B4-BE49-F238E27FC236}">
                <a16:creationId xmlns:a16="http://schemas.microsoft.com/office/drawing/2014/main" id="{34828783-7800-462B-911D-22CB8B6DDE6C}"/>
              </a:ext>
            </a:extLst>
          </p:cNvPr>
          <p:cNvSpPr>
            <a:spLocks xmlns:a="http://schemas.openxmlformats.org/drawingml/2006/main" noGrp="1"/>
          </p:cNvSpPr>
          <p:nvPr/>
        </p:nvSpPr>
        <p:spPr>
          <a:xfrm xmlns:a="http://schemas.openxmlformats.org/drawingml/2006/main">
            <a:off x="5980176" y="5266944"/>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5</a:t>
            </a:r>
            <a:endParaRPr sz="1000"/>
          </a:p>
        </p:txBody>
      </p:sp>
      <p:sp>
        <p:nvSpPr>
          <p:cNvPr id="59" name="Text 57">
            <a:extLst xmlns:a="http://schemas.openxmlformats.org/drawingml/2006/main">
              <a:ext uri="{FF2B5EF4-FFF2-40B4-BE49-F238E27FC236}">
                <a16:creationId xmlns:a16="http://schemas.microsoft.com/office/drawing/2014/main" id="{CA8283EB-E735-48D7-8688-A3FEB2399FD0}"/>
              </a:ext>
            </a:extLst>
          </p:cNvPr>
          <p:cNvSpPr>
            <a:spLocks xmlns:a="http://schemas.openxmlformats.org/drawingml/2006/main" noGrp="1"/>
          </p:cNvSpPr>
          <p:nvPr/>
        </p:nvSpPr>
        <p:spPr>
          <a:xfrm xmlns:a="http://schemas.openxmlformats.org/drawingml/2006/main">
            <a:off x="7077456" y="5266944"/>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No</a:t>
            </a:r>
            <a:endParaRPr sz="920"/>
          </a:p>
        </p:txBody>
      </p:sp>
      <p:sp>
        <p:nvSpPr>
          <p:cNvPr id="60" name="Text 58">
            <a:extLst xmlns:a="http://schemas.openxmlformats.org/drawingml/2006/main">
              <a:ext uri="{FF2B5EF4-FFF2-40B4-BE49-F238E27FC236}">
                <a16:creationId xmlns:a16="http://schemas.microsoft.com/office/drawing/2014/main" id="{E08FD24A-0386-41AC-A3E8-35C7AD8766D3}"/>
              </a:ext>
            </a:extLst>
          </p:cNvPr>
          <p:cNvSpPr>
            <a:spLocks xmlns:a="http://schemas.openxmlformats.org/drawingml/2006/main" noGrp="1"/>
          </p:cNvSpPr>
          <p:nvPr/>
        </p:nvSpPr>
        <p:spPr>
          <a:xfrm xmlns:a="http://schemas.openxmlformats.org/drawingml/2006/main">
            <a:off x="8266176" y="5266944"/>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Prior delivery count — fixed</a:t>
            </a:r>
            <a:endParaRPr sz="920"/>
          </a:p>
        </p:txBody>
      </p:sp>
      <p:sp>
        <p:nvSpPr>
          <p:cNvPr id="61" name="Shape 59">
            <a:extLst xmlns:a="http://schemas.openxmlformats.org/drawingml/2006/main">
              <a:ext uri="{FF2B5EF4-FFF2-40B4-BE49-F238E27FC236}">
                <a16:creationId xmlns:a16="http://schemas.microsoft.com/office/drawing/2014/main" id="{7397E44A-5E76-4560-AEC3-F3EB148E4B4C}"/>
              </a:ext>
            </a:extLst>
          </p:cNvPr>
          <p:cNvSpPr>
            <a:spLocks xmlns:a="http://schemas.openxmlformats.org/drawingml/2006/main" noGrp="1"/>
          </p:cNvSpPr>
          <p:nvPr/>
        </p:nvSpPr>
        <p:spPr>
          <a:xfrm xmlns:a="http://schemas.openxmlformats.org/drawingml/2006/main">
            <a:off x="566928" y="5650992"/>
            <a:ext cx="11057839" cy="7315"/>
          </a:xfrm>
          <a:prstGeom xmlns:a="http://schemas.openxmlformats.org/drawingml/2006/main" prst="rect">
            <a:avLst/>
          </a:prstGeom>
          <a:solidFill xmlns:a="http://schemas.openxmlformats.org/drawingml/2006/main">
            <a:srgbClr val="CBD5E0"/>
          </a:solidFill>
        </p:spPr>
      </p:sp>
      <p:sp>
        <p:nvSpPr>
          <p:cNvPr id="62" name="Text 60">
            <a:extLst xmlns:a="http://schemas.openxmlformats.org/drawingml/2006/main">
              <a:ext uri="{FF2B5EF4-FFF2-40B4-BE49-F238E27FC236}">
                <a16:creationId xmlns:a16="http://schemas.microsoft.com/office/drawing/2014/main" id="{B76DA677-FB2D-4736-B4DA-5B1C6EE31C48}"/>
              </a:ext>
            </a:extLst>
          </p:cNvPr>
          <p:cNvSpPr>
            <a:spLocks xmlns:a="http://schemas.openxmlformats.org/drawingml/2006/main" noGrp="1"/>
          </p:cNvSpPr>
          <p:nvPr/>
        </p:nvSpPr>
        <p:spPr>
          <a:xfrm xmlns:a="http://schemas.openxmlformats.org/drawingml/2006/main">
            <a:off x="676656" y="5760720"/>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GPU-stack implementations</a:t>
            </a:r>
            <a:endParaRPr sz="960"/>
          </a:p>
        </p:txBody>
      </p:sp>
      <p:sp>
        <p:nvSpPr>
          <p:cNvPr id="63" name="Text 61">
            <a:extLst xmlns:a="http://schemas.openxmlformats.org/drawingml/2006/main">
              <a:ext uri="{FF2B5EF4-FFF2-40B4-BE49-F238E27FC236}">
                <a16:creationId xmlns:a16="http://schemas.microsoft.com/office/drawing/2014/main" id="{3A5EED36-4528-4156-B5FC-1AA5C831B8E5}"/>
              </a:ext>
            </a:extLst>
          </p:cNvPr>
          <p:cNvSpPr>
            <a:spLocks xmlns:a="http://schemas.openxmlformats.org/drawingml/2006/main" noGrp="1"/>
          </p:cNvSpPr>
          <p:nvPr/>
        </p:nvSpPr>
        <p:spPr>
          <a:xfrm xmlns:a="http://schemas.openxmlformats.org/drawingml/2006/main">
            <a:off x="4882896" y="5760720"/>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10</a:t>
            </a:r>
            <a:endParaRPr sz="1000"/>
          </a:p>
        </p:txBody>
      </p:sp>
      <p:sp>
        <p:nvSpPr>
          <p:cNvPr id="64" name="Text 62">
            <a:extLst xmlns:a="http://schemas.openxmlformats.org/drawingml/2006/main">
              <a:ext uri="{FF2B5EF4-FFF2-40B4-BE49-F238E27FC236}">
                <a16:creationId xmlns:a16="http://schemas.microsoft.com/office/drawing/2014/main" id="{30F90408-788F-47F2-8490-94682FFE739B}"/>
              </a:ext>
            </a:extLst>
          </p:cNvPr>
          <p:cNvSpPr>
            <a:spLocks xmlns:a="http://schemas.openxmlformats.org/drawingml/2006/main" noGrp="1"/>
          </p:cNvSpPr>
          <p:nvPr/>
        </p:nvSpPr>
        <p:spPr>
          <a:xfrm xmlns:a="http://schemas.openxmlformats.org/drawingml/2006/main">
            <a:off x="5980176" y="5760720"/>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2</a:t>
            </a:r>
            <a:endParaRPr sz="1000"/>
          </a:p>
        </p:txBody>
      </p:sp>
      <p:sp>
        <p:nvSpPr>
          <p:cNvPr id="65" name="Text 63">
            <a:extLst xmlns:a="http://schemas.openxmlformats.org/drawingml/2006/main">
              <a:ext uri="{FF2B5EF4-FFF2-40B4-BE49-F238E27FC236}">
                <a16:creationId xmlns:a16="http://schemas.microsoft.com/office/drawing/2014/main" id="{4F839701-9FB4-494D-B8EF-186A8333A51B}"/>
              </a:ext>
            </a:extLst>
          </p:cNvPr>
          <p:cNvSpPr>
            <a:spLocks xmlns:a="http://schemas.openxmlformats.org/drawingml/2006/main" noGrp="1"/>
          </p:cNvSpPr>
          <p:nvPr/>
        </p:nvSpPr>
        <p:spPr>
          <a:xfrm xmlns:a="http://schemas.openxmlformats.org/drawingml/2006/main">
            <a:off x="7077456" y="5760720"/>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Partly</a:t>
            </a:r>
            <a:endParaRPr sz="920"/>
          </a:p>
        </p:txBody>
      </p:sp>
      <p:sp>
        <p:nvSpPr>
          <p:cNvPr id="66" name="Text 64">
            <a:extLst xmlns:a="http://schemas.openxmlformats.org/drawingml/2006/main">
              <a:ext uri="{FF2B5EF4-FFF2-40B4-BE49-F238E27FC236}">
                <a16:creationId xmlns:a16="http://schemas.microsoft.com/office/drawing/2014/main" id="{CE84AE66-ED06-4B24-8AC4-FEEC5E5F0D5E}"/>
              </a:ext>
            </a:extLst>
          </p:cNvPr>
          <p:cNvSpPr>
            <a:spLocks xmlns:a="http://schemas.openxmlformats.org/drawingml/2006/main" noGrp="1"/>
          </p:cNvSpPr>
          <p:nvPr/>
        </p:nvSpPr>
        <p:spPr>
          <a:xfrm xmlns:a="http://schemas.openxmlformats.org/drawingml/2006/main">
            <a:off x="8266176" y="5760720"/>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A partner or consortium lead who has them</a:t>
            </a:r>
            <a:endParaRPr sz="920"/>
          </a:p>
        </p:txBody>
      </p:sp>
      <p:sp>
        <p:nvSpPr>
          <p:cNvPr id="67" name="Shape 65">
            <a:extLst xmlns:a="http://schemas.openxmlformats.org/drawingml/2006/main">
              <a:ext uri="{FF2B5EF4-FFF2-40B4-BE49-F238E27FC236}">
                <a16:creationId xmlns:a16="http://schemas.microsoft.com/office/drawing/2014/main" id="{C6DE973A-9F81-4954-A437-66C66EC16D2E}"/>
              </a:ext>
            </a:extLst>
          </p:cNvPr>
          <p:cNvSpPr>
            <a:spLocks xmlns:a="http://schemas.openxmlformats.org/drawingml/2006/main" noGrp="1"/>
          </p:cNvSpPr>
          <p:nvPr/>
        </p:nvSpPr>
        <p:spPr>
          <a:xfrm xmlns:a="http://schemas.openxmlformats.org/drawingml/2006/main">
            <a:off x="566928" y="6144768"/>
            <a:ext cx="11057839" cy="7315"/>
          </a:xfrm>
          <a:prstGeom xmlns:a="http://schemas.openxmlformats.org/drawingml/2006/main" prst="rect">
            <a:avLst/>
          </a:prstGeom>
          <a:solidFill xmlns:a="http://schemas.openxmlformats.org/drawingml/2006/main">
            <a:srgbClr val="CBD5E0"/>
          </a:solidFill>
        </p:spPr>
      </p:sp>
      <p:sp>
        <p:nvSpPr>
          <p:cNvPr id="68" name="Shape 66">
            <a:extLst xmlns:a="http://schemas.openxmlformats.org/drawingml/2006/main">
              <a:ext uri="{FF2B5EF4-FFF2-40B4-BE49-F238E27FC236}">
                <a16:creationId xmlns:a16="http://schemas.microsoft.com/office/drawing/2014/main" id="{4DA320CB-A315-4249-8C67-D81C7B0DEAE7}"/>
              </a:ext>
            </a:extLst>
          </p:cNvPr>
          <p:cNvSpPr>
            <a:spLocks xmlns:a="http://schemas.openxmlformats.org/drawingml/2006/main" noGrp="1"/>
          </p:cNvSpPr>
          <p:nvPr/>
        </p:nvSpPr>
        <p:spPr>
          <a:xfrm xmlns:a="http://schemas.openxmlformats.org/drawingml/2006/main">
            <a:off x="566928" y="6144768"/>
            <a:ext cx="11057839" cy="493776"/>
          </a:xfrm>
          <a:prstGeom xmlns:a="http://schemas.openxmlformats.org/drawingml/2006/main" prst="rect">
            <a:avLst/>
          </a:prstGeom>
          <a:solidFill xmlns:a="http://schemas.openxmlformats.org/drawingml/2006/main">
            <a:srgbClr val="F7F9FB"/>
          </a:solidFill>
        </p:spPr>
      </p:sp>
      <p:sp>
        <p:nvSpPr>
          <p:cNvPr id="69" name="Text 67">
            <a:extLst xmlns:a="http://schemas.openxmlformats.org/drawingml/2006/main">
              <a:ext uri="{FF2B5EF4-FFF2-40B4-BE49-F238E27FC236}">
                <a16:creationId xmlns:a16="http://schemas.microsoft.com/office/drawing/2014/main" id="{9472CF5D-A90A-40F6-A9F8-841358294D1F}"/>
              </a:ext>
            </a:extLst>
          </p:cNvPr>
          <p:cNvSpPr>
            <a:spLocks xmlns:a="http://schemas.openxmlformats.org/drawingml/2006/main" noGrp="1"/>
          </p:cNvSpPr>
          <p:nvPr/>
        </p:nvSpPr>
        <p:spPr>
          <a:xfrm xmlns:a="http://schemas.openxmlformats.org/drawingml/2006/main">
            <a:off x="676656" y="6254496"/>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GenAI / agentic experience</a:t>
            </a:r>
            <a:endParaRPr sz="960"/>
          </a:p>
        </p:txBody>
      </p:sp>
      <p:sp>
        <p:nvSpPr>
          <p:cNvPr id="70" name="Text 68">
            <a:extLst xmlns:a="http://schemas.openxmlformats.org/drawingml/2006/main">
              <a:ext uri="{FF2B5EF4-FFF2-40B4-BE49-F238E27FC236}">
                <a16:creationId xmlns:a16="http://schemas.microsoft.com/office/drawing/2014/main" id="{E5170CA5-63BE-48BF-A173-EF0A1F74A18A}"/>
              </a:ext>
            </a:extLst>
          </p:cNvPr>
          <p:cNvSpPr>
            <a:spLocks xmlns:a="http://schemas.openxmlformats.org/drawingml/2006/main" noGrp="1"/>
          </p:cNvSpPr>
          <p:nvPr/>
        </p:nvSpPr>
        <p:spPr>
          <a:xfrm xmlns:a="http://schemas.openxmlformats.org/drawingml/2006/main">
            <a:off x="4882896" y="6254496"/>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10</a:t>
            </a:r>
            <a:endParaRPr sz="1000"/>
          </a:p>
        </p:txBody>
      </p:sp>
      <p:sp>
        <p:nvSpPr>
          <p:cNvPr id="71" name="Text 69">
            <a:extLst xmlns:a="http://schemas.openxmlformats.org/drawingml/2006/main">
              <a:ext uri="{FF2B5EF4-FFF2-40B4-BE49-F238E27FC236}">
                <a16:creationId xmlns:a16="http://schemas.microsoft.com/office/drawing/2014/main" id="{6017A052-80DB-425C-9D22-610326352E54}"/>
              </a:ext>
            </a:extLst>
          </p:cNvPr>
          <p:cNvSpPr>
            <a:spLocks xmlns:a="http://schemas.openxmlformats.org/drawingml/2006/main" noGrp="1"/>
          </p:cNvSpPr>
          <p:nvPr/>
        </p:nvSpPr>
        <p:spPr>
          <a:xfrm xmlns:a="http://schemas.openxmlformats.org/drawingml/2006/main">
            <a:off x="5980176" y="6254496"/>
            <a:ext cx="7863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7</a:t>
            </a:r>
            <a:endParaRPr sz="1000"/>
          </a:p>
        </p:txBody>
      </p:sp>
      <p:sp>
        <p:nvSpPr>
          <p:cNvPr id="72" name="Text 70">
            <a:extLst xmlns:a="http://schemas.openxmlformats.org/drawingml/2006/main">
              <a:ext uri="{FF2B5EF4-FFF2-40B4-BE49-F238E27FC236}">
                <a16:creationId xmlns:a16="http://schemas.microsoft.com/office/drawing/2014/main" id="{F526C2C0-034E-4368-8D81-74A45C17C629}"/>
              </a:ext>
            </a:extLst>
          </p:cNvPr>
          <p:cNvSpPr>
            <a:spLocks xmlns:a="http://schemas.openxmlformats.org/drawingml/2006/main" noGrp="1"/>
          </p:cNvSpPr>
          <p:nvPr/>
        </p:nvSpPr>
        <p:spPr>
          <a:xfrm xmlns:a="http://schemas.openxmlformats.org/drawingml/2006/main">
            <a:off x="7077456" y="6254496"/>
            <a:ext cx="877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a:solidFill>
                  <a:srgbClr val="486581"/>
                </a:solidFill>
                <a:latin typeface="Arial"/>
                <a:ea typeface="Arial"/>
                <a:cs typeface="Arial"/>
              </a:rPr>
              <a:t>Partly</a:t>
            </a:r>
            <a:endParaRPr sz="920"/>
          </a:p>
        </p:txBody>
      </p:sp>
      <p:sp>
        <p:nvSpPr>
          <p:cNvPr id="73" name="Text 71">
            <a:extLst xmlns:a="http://schemas.openxmlformats.org/drawingml/2006/main">
              <a:ext uri="{FF2B5EF4-FFF2-40B4-BE49-F238E27FC236}">
                <a16:creationId xmlns:a16="http://schemas.microsoft.com/office/drawing/2014/main" id="{4786BB83-753D-439C-BBEB-D753B5804849}"/>
              </a:ext>
            </a:extLst>
          </p:cNvPr>
          <p:cNvSpPr>
            <a:spLocks xmlns:a="http://schemas.openxmlformats.org/drawingml/2006/main" noGrp="1"/>
          </p:cNvSpPr>
          <p:nvPr/>
        </p:nvSpPr>
        <p:spPr>
          <a:xfrm xmlns:a="http://schemas.openxmlformats.org/drawingml/2006/main">
            <a:off x="8266176" y="6254496"/>
            <a:ext cx="3246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Production references, not pilots</a:t>
            </a:r>
            <a:endParaRPr sz="920"/>
          </a:p>
        </p:txBody>
      </p:sp>
      <p:sp>
        <p:nvSpPr>
          <p:cNvPr id="74" name="Shape 72">
            <a:extLst xmlns:a="http://schemas.openxmlformats.org/drawingml/2006/main">
              <a:ext uri="{FF2B5EF4-FFF2-40B4-BE49-F238E27FC236}">
                <a16:creationId xmlns:a16="http://schemas.microsoft.com/office/drawing/2014/main" id="{D8FE45FB-593A-4DF0-B7F8-CC2393E0A1B2}"/>
              </a:ext>
            </a:extLst>
          </p:cNvPr>
          <p:cNvSpPr>
            <a:spLocks xmlns:a="http://schemas.openxmlformats.org/drawingml/2006/main" noGrp="1"/>
          </p:cNvSpPr>
          <p:nvPr/>
        </p:nvSpPr>
        <p:spPr>
          <a:xfrm xmlns:a="http://schemas.openxmlformats.org/drawingml/2006/main">
            <a:off x="566928" y="6638544"/>
            <a:ext cx="11057839" cy="7315"/>
          </a:xfrm>
          <a:prstGeom xmlns:a="http://schemas.openxmlformats.org/drawingml/2006/main" prst="rect">
            <a:avLst/>
          </a:prstGeom>
          <a:solidFill xmlns:a="http://schemas.openxmlformats.org/drawingml/2006/main">
            <a:srgbClr val="CBD5E0"/>
          </a:solidFill>
        </p:spPr>
      </p:sp>
      <p:sp>
        <p:nvSpPr>
          <p:cNvPr id="75" name="Shape 73">
            <a:extLst xmlns:a="http://schemas.openxmlformats.org/drawingml/2006/main">
              <a:ext uri="{FF2B5EF4-FFF2-40B4-BE49-F238E27FC236}">
                <a16:creationId xmlns:a16="http://schemas.microsoft.com/office/drawing/2014/main" id="{5363D808-A04D-4EC2-BA5A-2B466592ADEA}"/>
              </a:ext>
            </a:extLst>
          </p:cNvPr>
          <p:cNvSpPr>
            <a:spLocks xmlns:a="http://schemas.openxmlformats.org/drawingml/2006/main" noGrp="1"/>
          </p:cNvSpPr>
          <p:nvPr/>
        </p:nvSpPr>
        <p:spPr>
          <a:xfrm xmlns:a="http://schemas.openxmlformats.org/drawingml/2006/main">
            <a:off x="566928" y="6858000"/>
            <a:ext cx="2682164" cy="822960"/>
          </a:xfrm>
          <a:prstGeom xmlns:a="http://schemas.openxmlformats.org/drawingml/2006/main" prst="rect">
            <a:avLst/>
          </a:prstGeom>
          <a:solidFill xmlns:a="http://schemas.openxmlformats.org/drawingml/2006/main">
            <a:srgbClr val="F0F4F8"/>
          </a:solidFill>
        </p:spPr>
      </p:sp>
      <p:sp>
        <p:nvSpPr>
          <p:cNvPr id="76" name="Text 74">
            <a:extLst xmlns:a="http://schemas.openxmlformats.org/drawingml/2006/main">
              <a:ext uri="{FF2B5EF4-FFF2-40B4-BE49-F238E27FC236}">
                <a16:creationId xmlns:a16="http://schemas.microsoft.com/office/drawing/2014/main" id="{61604A70-9529-4D59-8969-CD8E120FB496}"/>
              </a:ext>
            </a:extLst>
          </p:cNvPr>
          <p:cNvSpPr>
            <a:spLocks xmlns:a="http://schemas.openxmlformats.org/drawingml/2006/main" noGrp="1"/>
          </p:cNvSpPr>
          <p:nvPr/>
        </p:nvSpPr>
        <p:spPr>
          <a:xfrm xmlns:a="http://schemas.openxmlformats.org/drawingml/2006/main">
            <a:off x="694944" y="697687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130</a:t>
            </a:r>
            <a:endParaRPr sz="2100"/>
          </a:p>
        </p:txBody>
      </p:sp>
      <p:sp>
        <p:nvSpPr>
          <p:cNvPr id="77" name="Text 75">
            <a:extLst xmlns:a="http://schemas.openxmlformats.org/drawingml/2006/main">
              <a:ext uri="{FF2B5EF4-FFF2-40B4-BE49-F238E27FC236}">
                <a16:creationId xmlns:a16="http://schemas.microsoft.com/office/drawing/2014/main" id="{E9F75C77-C92A-47E2-9926-D3E76A038510}"/>
              </a:ext>
            </a:extLst>
          </p:cNvPr>
          <p:cNvSpPr>
            <a:spLocks xmlns:a="http://schemas.openxmlformats.org/drawingml/2006/main" noGrp="1"/>
          </p:cNvSpPr>
          <p:nvPr/>
        </p:nvSpPr>
        <p:spPr>
          <a:xfrm xmlns:a="http://schemas.openxmlformats.org/drawingml/2006/main">
            <a:off x="694944" y="7370064"/>
            <a:ext cx="24261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marks available</a:t>
            </a:r>
            <a:endParaRPr sz="860"/>
          </a:p>
        </p:txBody>
      </p:sp>
      <p:sp>
        <p:nvSpPr>
          <p:cNvPr id="78" name="Shape 76">
            <a:extLst xmlns:a="http://schemas.openxmlformats.org/drawingml/2006/main">
              <a:ext uri="{FF2B5EF4-FFF2-40B4-BE49-F238E27FC236}">
                <a16:creationId xmlns:a16="http://schemas.microsoft.com/office/drawing/2014/main" id="{F13C9A22-6DAE-4264-BCBC-91D2F2871159}"/>
              </a:ext>
            </a:extLst>
          </p:cNvPr>
          <p:cNvSpPr>
            <a:spLocks xmlns:a="http://schemas.openxmlformats.org/drawingml/2006/main" noGrp="1"/>
          </p:cNvSpPr>
          <p:nvPr/>
        </p:nvSpPr>
        <p:spPr>
          <a:xfrm xmlns:a="http://schemas.openxmlformats.org/drawingml/2006/main">
            <a:off x="3358820" y="6858000"/>
            <a:ext cx="2682164" cy="822960"/>
          </a:xfrm>
          <a:prstGeom xmlns:a="http://schemas.openxmlformats.org/drawingml/2006/main" prst="rect">
            <a:avLst/>
          </a:prstGeom>
          <a:solidFill xmlns:a="http://schemas.openxmlformats.org/drawingml/2006/main">
            <a:srgbClr val="F0F4F8"/>
          </a:solidFill>
        </p:spPr>
      </p:sp>
      <p:sp>
        <p:nvSpPr>
          <p:cNvPr id="79" name="Text 77">
            <a:extLst xmlns:a="http://schemas.openxmlformats.org/drawingml/2006/main">
              <a:ext uri="{FF2B5EF4-FFF2-40B4-BE49-F238E27FC236}">
                <a16:creationId xmlns:a16="http://schemas.microsoft.com/office/drawing/2014/main" id="{9AE144C4-5257-4842-990D-BDBFE4E1290B}"/>
              </a:ext>
            </a:extLst>
          </p:cNvPr>
          <p:cNvSpPr>
            <a:spLocks xmlns:a="http://schemas.openxmlformats.org/drawingml/2006/main" noGrp="1"/>
          </p:cNvSpPr>
          <p:nvPr/>
        </p:nvSpPr>
        <p:spPr>
          <a:xfrm xmlns:a="http://schemas.openxmlformats.org/drawingml/2006/main">
            <a:off x="3486836" y="697687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89</a:t>
            </a:r>
            <a:endParaRPr sz="2100"/>
          </a:p>
        </p:txBody>
      </p:sp>
      <p:sp>
        <p:nvSpPr>
          <p:cNvPr id="80" name="Text 78">
            <a:extLst xmlns:a="http://schemas.openxmlformats.org/drawingml/2006/main">
              <a:ext uri="{FF2B5EF4-FFF2-40B4-BE49-F238E27FC236}">
                <a16:creationId xmlns:a16="http://schemas.microsoft.com/office/drawing/2014/main" id="{F51D71C3-048D-4324-A9A8-45A7524CDC1B}"/>
              </a:ext>
            </a:extLst>
          </p:cNvPr>
          <p:cNvSpPr>
            <a:spLocks xmlns:a="http://schemas.openxmlformats.org/drawingml/2006/main" noGrp="1"/>
          </p:cNvSpPr>
          <p:nvPr/>
        </p:nvSpPr>
        <p:spPr>
          <a:xfrm xmlns:a="http://schemas.openxmlformats.org/drawingml/2006/main">
            <a:off x="3486836" y="7370064"/>
            <a:ext cx="24261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realistic self-score</a:t>
            </a:r>
            <a:endParaRPr sz="860"/>
          </a:p>
        </p:txBody>
      </p:sp>
      <p:sp>
        <p:nvSpPr>
          <p:cNvPr id="81" name="Shape 79">
            <a:extLst xmlns:a="http://schemas.openxmlformats.org/drawingml/2006/main">
              <a:ext uri="{FF2B5EF4-FFF2-40B4-BE49-F238E27FC236}">
                <a16:creationId xmlns:a16="http://schemas.microsoft.com/office/drawing/2014/main" id="{2BE2B309-1ACA-4AE1-9375-0E155E43A163}"/>
              </a:ext>
            </a:extLst>
          </p:cNvPr>
          <p:cNvSpPr>
            <a:spLocks xmlns:a="http://schemas.openxmlformats.org/drawingml/2006/main" noGrp="1"/>
          </p:cNvSpPr>
          <p:nvPr/>
        </p:nvSpPr>
        <p:spPr>
          <a:xfrm xmlns:a="http://schemas.openxmlformats.org/drawingml/2006/main">
            <a:off x="6150712" y="6858000"/>
            <a:ext cx="2682164" cy="822960"/>
          </a:xfrm>
          <a:prstGeom xmlns:a="http://schemas.openxmlformats.org/drawingml/2006/main" prst="rect">
            <a:avLst/>
          </a:prstGeom>
          <a:solidFill xmlns:a="http://schemas.openxmlformats.org/drawingml/2006/main">
            <a:srgbClr val="F0F4F8"/>
          </a:solidFill>
        </p:spPr>
      </p:sp>
      <p:sp>
        <p:nvSpPr>
          <p:cNvPr id="82" name="Text 80">
            <a:extLst xmlns:a="http://schemas.openxmlformats.org/drawingml/2006/main">
              <a:ext uri="{FF2B5EF4-FFF2-40B4-BE49-F238E27FC236}">
                <a16:creationId xmlns:a16="http://schemas.microsoft.com/office/drawing/2014/main" id="{EFFC3D47-A3F6-46E1-9205-57A093806907}"/>
              </a:ext>
            </a:extLst>
          </p:cNvPr>
          <p:cNvSpPr>
            <a:spLocks xmlns:a="http://schemas.openxmlformats.org/drawingml/2006/main" noGrp="1"/>
          </p:cNvSpPr>
          <p:nvPr/>
        </p:nvSpPr>
        <p:spPr>
          <a:xfrm xmlns:a="http://schemas.openxmlformats.org/drawingml/2006/main">
            <a:off x="6278728" y="697687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68%</a:t>
            </a:r>
            <a:endParaRPr sz="2100"/>
          </a:p>
        </p:txBody>
      </p:sp>
      <p:sp>
        <p:nvSpPr>
          <p:cNvPr id="83" name="Text 81">
            <a:extLst xmlns:a="http://schemas.openxmlformats.org/drawingml/2006/main">
              <a:ext uri="{FF2B5EF4-FFF2-40B4-BE49-F238E27FC236}">
                <a16:creationId xmlns:a16="http://schemas.microsoft.com/office/drawing/2014/main" id="{C3CE8283-99BB-448A-8558-8ED396435DE7}"/>
              </a:ext>
            </a:extLst>
          </p:cNvPr>
          <p:cNvSpPr>
            <a:spLocks xmlns:a="http://schemas.openxmlformats.org/drawingml/2006/main" noGrp="1"/>
          </p:cNvSpPr>
          <p:nvPr/>
        </p:nvSpPr>
        <p:spPr>
          <a:xfrm xmlns:a="http://schemas.openxmlformats.org/drawingml/2006/main">
            <a:off x="6278728" y="7370064"/>
            <a:ext cx="24261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against a 70% bar</a:t>
            </a:r>
            <a:endParaRPr sz="860"/>
          </a:p>
        </p:txBody>
      </p:sp>
      <p:sp>
        <p:nvSpPr>
          <p:cNvPr id="84" name="Shape 82">
            <a:extLst xmlns:a="http://schemas.openxmlformats.org/drawingml/2006/main">
              <a:ext uri="{FF2B5EF4-FFF2-40B4-BE49-F238E27FC236}">
                <a16:creationId xmlns:a16="http://schemas.microsoft.com/office/drawing/2014/main" id="{CC9FC131-2E76-4596-823C-D5D23F9AE594}"/>
              </a:ext>
            </a:extLst>
          </p:cNvPr>
          <p:cNvSpPr>
            <a:spLocks xmlns:a="http://schemas.openxmlformats.org/drawingml/2006/main" noGrp="1"/>
          </p:cNvSpPr>
          <p:nvPr/>
        </p:nvSpPr>
        <p:spPr>
          <a:xfrm xmlns:a="http://schemas.openxmlformats.org/drawingml/2006/main">
            <a:off x="8942603" y="6858000"/>
            <a:ext cx="2682164" cy="822960"/>
          </a:xfrm>
          <a:prstGeom xmlns:a="http://schemas.openxmlformats.org/drawingml/2006/main" prst="rect">
            <a:avLst/>
          </a:prstGeom>
          <a:solidFill xmlns:a="http://schemas.openxmlformats.org/drawingml/2006/main">
            <a:srgbClr val="F0F4F8"/>
          </a:solidFill>
        </p:spPr>
      </p:sp>
      <p:sp>
        <p:nvSpPr>
          <p:cNvPr id="85" name="Text 83">
            <a:extLst xmlns:a="http://schemas.openxmlformats.org/drawingml/2006/main">
              <a:ext uri="{FF2B5EF4-FFF2-40B4-BE49-F238E27FC236}">
                <a16:creationId xmlns:a16="http://schemas.microsoft.com/office/drawing/2014/main" id="{6B192FA7-AC96-4B7E-B650-ACDBCA76887C}"/>
              </a:ext>
            </a:extLst>
          </p:cNvPr>
          <p:cNvSpPr>
            <a:spLocks xmlns:a="http://schemas.openxmlformats.org/drawingml/2006/main" noGrp="1"/>
          </p:cNvSpPr>
          <p:nvPr/>
        </p:nvSpPr>
        <p:spPr>
          <a:xfrm xmlns:a="http://schemas.openxmlformats.org/drawingml/2006/main">
            <a:off x="9070619" y="697687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12</a:t>
            </a:r>
            <a:endParaRPr sz="2100"/>
          </a:p>
        </p:txBody>
      </p:sp>
      <p:sp>
        <p:nvSpPr>
          <p:cNvPr id="86" name="Text 84">
            <a:extLst xmlns:a="http://schemas.openxmlformats.org/drawingml/2006/main">
              <a:ext uri="{FF2B5EF4-FFF2-40B4-BE49-F238E27FC236}">
                <a16:creationId xmlns:a16="http://schemas.microsoft.com/office/drawing/2014/main" id="{9D91187B-6522-4EAD-ABFC-B5057CD8A9D5}"/>
              </a:ext>
            </a:extLst>
          </p:cNvPr>
          <p:cNvSpPr>
            <a:spLocks xmlns:a="http://schemas.openxmlformats.org/drawingml/2006/main" noGrp="1"/>
          </p:cNvSpPr>
          <p:nvPr/>
        </p:nvSpPr>
        <p:spPr>
          <a:xfrm xmlns:a="http://schemas.openxmlformats.org/drawingml/2006/main">
            <a:off x="9070619" y="7370064"/>
            <a:ext cx="2426132"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marks short — from two parameters</a:t>
            </a:r>
            <a:endParaRPr sz="860"/>
          </a:p>
        </p:txBody>
      </p:sp>
      <p:sp>
        <p:nvSpPr>
          <p:cNvPr id="87" name="Shape 85">
            <a:extLst xmlns:a="http://schemas.openxmlformats.org/drawingml/2006/main">
              <a:ext uri="{FF2B5EF4-FFF2-40B4-BE49-F238E27FC236}">
                <a16:creationId xmlns:a16="http://schemas.microsoft.com/office/drawing/2014/main" id="{85603BEA-CFA3-4C23-BABC-1E27681E08E9}"/>
              </a:ext>
            </a:extLst>
          </p:cNvPr>
          <p:cNvSpPr>
            <a:spLocks xmlns:a="http://schemas.openxmlformats.org/drawingml/2006/main" noGrp="1"/>
          </p:cNvSpPr>
          <p:nvPr/>
        </p:nvSpPr>
        <p:spPr>
          <a:xfrm xmlns:a="http://schemas.openxmlformats.org/drawingml/2006/main">
            <a:off x="566928" y="7808976"/>
            <a:ext cx="11057839" cy="566928"/>
          </a:xfrm>
          <a:prstGeom xmlns:a="http://schemas.openxmlformats.org/drawingml/2006/main" prst="rect">
            <a:avLst/>
          </a:prstGeom>
          <a:solidFill xmlns:a="http://schemas.openxmlformats.org/drawingml/2006/main">
            <a:srgbClr val="F3E6E0"/>
          </a:solidFill>
        </p:spPr>
      </p:sp>
      <p:sp>
        <p:nvSpPr>
          <p:cNvPr id="88" name="Text 86">
            <a:extLst xmlns:a="http://schemas.openxmlformats.org/drawingml/2006/main">
              <a:ext uri="{FF2B5EF4-FFF2-40B4-BE49-F238E27FC236}">
                <a16:creationId xmlns:a16="http://schemas.microsoft.com/office/drawing/2014/main" id="{3721DC4E-631B-46DE-B451-DDE588B50D93}"/>
              </a:ext>
            </a:extLst>
          </p:cNvPr>
          <p:cNvSpPr>
            <a:spLocks xmlns:a="http://schemas.openxmlformats.org/drawingml/2006/main" noGrp="1"/>
          </p:cNvSpPr>
          <p:nvPr/>
        </p:nvSpPr>
        <p:spPr>
          <a:xfrm xmlns:a="http://schemas.openxmlformats.org/drawingml/2006/main">
            <a:off x="804672" y="7991856"/>
            <a:ext cx="10582351"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Worked example, not a real organisation's position. The value is the shape of the answer: a bid failing the qualifying bar by twelve marks concentrated in two counted parameters is not a writing problem — it is a partnering decision, and it should be taken in week one.</a:t>
            </a:r>
            <a:endParaRPr sz="990"/>
          </a:p>
        </p:txBody>
      </p:sp>
      <p:sp>
        <p:nvSpPr>
          <p:cNvPr id="89" name="Shape 87">
            <a:extLst xmlns:a="http://schemas.openxmlformats.org/drawingml/2006/main">
              <a:ext uri="{FF2B5EF4-FFF2-40B4-BE49-F238E27FC236}">
                <a16:creationId xmlns:a16="http://schemas.microsoft.com/office/drawing/2014/main" id="{314E14E5-98A7-4BEC-9466-C2BCCA724F2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90" name="Text 88">
            <a:extLst xmlns:a="http://schemas.openxmlformats.org/drawingml/2006/main">
              <a:ext uri="{FF2B5EF4-FFF2-40B4-BE49-F238E27FC236}">
                <a16:creationId xmlns:a16="http://schemas.microsoft.com/office/drawing/2014/main" id="{CA85C7B0-12BF-48CE-B8A7-C95068F4252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method — self-assessment values are an illustrative worked example</a:t>
            </a:r>
            <a:endParaRPr sz="850"/>
          </a:p>
        </p:txBody>
      </p:sp>
      <p:sp>
        <p:nvSpPr>
          <p:cNvPr id="91" name="Text 89">
            <a:extLst xmlns:a="http://schemas.openxmlformats.org/drawingml/2006/main">
              <a:ext uri="{FF2B5EF4-FFF2-40B4-BE49-F238E27FC236}">
                <a16:creationId xmlns:a16="http://schemas.microsoft.com/office/drawing/2014/main" id="{289531A7-B5D1-49EE-8D6F-BCCFA91A135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088171559"/>
      </p:ext>
    </p:extLst>
  </p:cSld>
</p:sld>
</file>

<file path=ppt/slides/slide9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C2B67E8-843D-4388-9CE7-EFD44F2842C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COMMERCIAL SHAPE AND THE FIELD</a:t>
            </a:r>
            <a:endParaRPr sz="950"/>
          </a:p>
        </p:txBody>
      </p:sp>
      <p:sp>
        <p:nvSpPr>
          <p:cNvPr id="3" name="Text 1">
            <a:extLst xmlns:a="http://schemas.openxmlformats.org/drawingml/2006/main">
              <a:ext uri="{FF2B5EF4-FFF2-40B4-BE49-F238E27FC236}">
                <a16:creationId xmlns:a16="http://schemas.microsoft.com/office/drawing/2014/main" id="{3DBF190B-2CE0-43A4-9B5A-659CAADB6CC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two-component price against a top-tier field — the commercial structure tells you</a:t>
            </a:r>
            <a:endParaRPr sz="1900"/>
          </a:p>
          <a:p xmlns:a="http://schemas.openxmlformats.org/drawingml/2006/main">
            <a:pPr marL="0" indent="0">
              <a:lnSpc>
                <a:spcPts val="2400"/>
              </a:lnSpc>
              <a:buNone/>
            </a:pPr>
            <a:r>
              <a:rPr sz="1900" b="1">
                <a:solidFill>
                  <a:srgbClr val="102A43"/>
                </a:solidFill>
                <a:latin typeface="Arial"/>
                <a:ea typeface="Arial"/>
                <a:cs typeface="Arial"/>
              </a:rPr>
              <a:t>who the tender was written for</a:t>
            </a:r>
            <a:endParaRPr sz="1900"/>
          </a:p>
        </p:txBody>
      </p:sp>
      <p:sp>
        <p:nvSpPr>
          <p:cNvPr id="4" name="Shape 2">
            <a:extLst xmlns:a="http://schemas.openxmlformats.org/drawingml/2006/main">
              <a:ext uri="{FF2B5EF4-FFF2-40B4-BE49-F238E27FC236}">
                <a16:creationId xmlns:a16="http://schemas.microsoft.com/office/drawing/2014/main" id="{6112F9F4-EBC8-4086-8484-8B2A83749A8B}"/>
              </a:ext>
            </a:extLst>
          </p:cNvPr>
          <p:cNvSpPr>
            <a:spLocks xmlns:a="http://schemas.openxmlformats.org/drawingml/2006/main" noGrp="1"/>
          </p:cNvSpPr>
          <p:nvPr/>
        </p:nvSpPr>
        <p:spPr>
          <a:xfrm xmlns:a="http://schemas.openxmlformats.org/drawingml/2006/main">
            <a:off x="566928" y="1335024"/>
            <a:ext cx="5391760" cy="228600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DC4DC2A1-CB44-4391-A030-7268030E55F1}"/>
              </a:ext>
            </a:extLst>
          </p:cNvPr>
          <p:cNvSpPr>
            <a:spLocks xmlns:a="http://schemas.openxmlformats.org/drawingml/2006/main" noGrp="1"/>
          </p:cNvSpPr>
          <p:nvPr/>
        </p:nvSpPr>
        <p:spPr>
          <a:xfrm xmlns:a="http://schemas.openxmlformats.org/drawingml/2006/main">
            <a:off x="786384" y="1499616"/>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Component A — fixed, three years</a:t>
            </a:r>
            <a:endParaRPr sz="1250"/>
          </a:p>
        </p:txBody>
      </p:sp>
      <p:sp>
        <p:nvSpPr>
          <p:cNvPr id="6" name="Text 4">
            <a:extLst xmlns:a="http://schemas.openxmlformats.org/drawingml/2006/main">
              <a:ext uri="{FF2B5EF4-FFF2-40B4-BE49-F238E27FC236}">
                <a16:creationId xmlns:a16="http://schemas.microsoft.com/office/drawing/2014/main" id="{BACFA648-75D3-4527-B9A7-DB43C43B1474}"/>
              </a:ext>
            </a:extLst>
          </p:cNvPr>
          <p:cNvSpPr>
            <a:spLocks xmlns:a="http://schemas.openxmlformats.org/drawingml/2006/main" noGrp="1"/>
          </p:cNvSpPr>
          <p:nvPr/>
        </p:nvSpPr>
        <p:spPr>
          <a:xfrm xmlns:a="http://schemas.openxmlformats.org/drawingml/2006/main">
            <a:off x="786384" y="1828800"/>
            <a:ext cx="4952848"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60">
                <a:solidFill>
                  <a:srgbClr val="1A1A1A"/>
                </a:solidFill>
                <a:latin typeface="Arial"/>
                <a:ea typeface="Arial"/>
                <a:cs typeface="Arial"/>
              </a:rPr>
              <a:t>Platform implementation</a:t>
            </a:r>
            <a:endParaRPr sz="960"/>
          </a:p>
          <a:p xmlns:a="http://schemas.openxmlformats.org/drawingml/2006/main">
            <a:pPr marL="152400" indent="-152400">
              <a:lnSpc>
                <a:spcPts val="1400"/>
              </a:lnSpc>
              <a:spcAft>
                <a:spcPts val="500"/>
              </a:spcAft>
              <a:buSzPct val="100000"/>
              <a:buChar char="•"/>
            </a:pPr>
            <a:r>
              <a:rPr sz="960">
                <a:solidFill>
                  <a:srgbClr val="1A1A1A"/>
                </a:solidFill>
                <a:latin typeface="Arial"/>
                <a:ea typeface="Arial"/>
                <a:cs typeface="Arial"/>
              </a:rPr>
              <a:t>Use-case implementation across the full programme</a:t>
            </a:r>
            <a:endParaRPr sz="960"/>
          </a:p>
          <a:p xmlns:a="http://schemas.openxmlformats.org/drawingml/2006/main">
            <a:pPr marL="152400" indent="-152400">
              <a:lnSpc>
                <a:spcPts val="1400"/>
              </a:lnSpc>
              <a:spcAft>
                <a:spcPts val="500"/>
              </a:spcAft>
              <a:buSzPct val="100000"/>
              <a:buChar char="•"/>
            </a:pPr>
            <a:r>
              <a:rPr sz="960">
                <a:solidFill>
                  <a:srgbClr val="1A1A1A"/>
                </a:solidFill>
                <a:latin typeface="Arial"/>
                <a:ea typeface="Arial"/>
                <a:cs typeface="Arial"/>
              </a:rPr>
              <a:t>Future use-case development</a:t>
            </a:r>
            <a:endParaRPr sz="960"/>
          </a:p>
          <a:p xmlns:a="http://schemas.openxmlformats.org/drawingml/2006/main">
            <a:pPr marL="152400" indent="-152400">
              <a:lnSpc>
                <a:spcPts val="1400"/>
              </a:lnSpc>
              <a:spcAft>
                <a:spcPts val="500"/>
              </a:spcAft>
              <a:buSzPct val="100000"/>
              <a:buChar char="•"/>
            </a:pPr>
            <a:r>
              <a:rPr sz="960">
                <a:solidFill>
                  <a:srgbClr val="1A1A1A"/>
                </a:solidFill>
                <a:latin typeface="Arial"/>
                <a:ea typeface="Arial"/>
                <a:cs typeface="Arial"/>
              </a:rPr>
              <a:t>Priced in full and evaluated in full</a:t>
            </a:r>
            <a:endParaRPr sz="960"/>
          </a:p>
        </p:txBody>
      </p:sp>
      <p:sp>
        <p:nvSpPr>
          <p:cNvPr id="7" name="Text 5">
            <a:extLst xmlns:a="http://schemas.openxmlformats.org/drawingml/2006/main">
              <a:ext uri="{FF2B5EF4-FFF2-40B4-BE49-F238E27FC236}">
                <a16:creationId xmlns:a16="http://schemas.microsoft.com/office/drawing/2014/main" id="{C062AD51-B364-42DC-8773-A697559187A1}"/>
              </a:ext>
            </a:extLst>
          </p:cNvPr>
          <p:cNvSpPr>
            <a:spLocks xmlns:a="http://schemas.openxmlformats.org/drawingml/2006/main" noGrp="1"/>
          </p:cNvSpPr>
          <p:nvPr/>
        </p:nvSpPr>
        <p:spPr>
          <a:xfrm xmlns:a="http://schemas.openxmlformats.org/drawingml/2006/main">
            <a:off x="786384" y="2816352"/>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Component B — blended day rate</a:t>
            </a:r>
            <a:endParaRPr sz="1250"/>
          </a:p>
        </p:txBody>
      </p:sp>
      <p:sp>
        <p:nvSpPr>
          <p:cNvPr id="8" name="Text 6">
            <a:extLst xmlns:a="http://schemas.openxmlformats.org/drawingml/2006/main">
              <a:ext uri="{FF2B5EF4-FFF2-40B4-BE49-F238E27FC236}">
                <a16:creationId xmlns:a16="http://schemas.microsoft.com/office/drawing/2014/main" id="{77F1A1A6-B2CD-4C22-AC70-0B7F9D6D5FE5}"/>
              </a:ext>
            </a:extLst>
          </p:cNvPr>
          <p:cNvSpPr>
            <a:spLocks xmlns:a="http://schemas.openxmlformats.org/drawingml/2006/main" noGrp="1"/>
          </p:cNvSpPr>
          <p:nvPr/>
        </p:nvSpPr>
        <p:spPr>
          <a:xfrm xmlns:a="http://schemas.openxmlformats.org/drawingml/2006/main">
            <a:off x="786384" y="3127248"/>
            <a:ext cx="4952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Managed services, training and handholding, priced against an indicative man-day pool taken for evaluation only — actual effort per use case is agreed jointly after award.</a:t>
            </a:r>
            <a:endParaRPr sz="960"/>
          </a:p>
        </p:txBody>
      </p:sp>
      <p:sp>
        <p:nvSpPr>
          <p:cNvPr id="9" name="Shape 7">
            <a:extLst xmlns:a="http://schemas.openxmlformats.org/drawingml/2006/main">
              <a:ext uri="{FF2B5EF4-FFF2-40B4-BE49-F238E27FC236}">
                <a16:creationId xmlns:a16="http://schemas.microsoft.com/office/drawing/2014/main" id="{919D0545-32E0-47A0-92B9-48810E8A6009}"/>
              </a:ext>
            </a:extLst>
          </p:cNvPr>
          <p:cNvSpPr>
            <a:spLocks xmlns:a="http://schemas.openxmlformats.org/drawingml/2006/main" noGrp="1"/>
          </p:cNvSpPr>
          <p:nvPr/>
        </p:nvSpPr>
        <p:spPr>
          <a:xfrm xmlns:a="http://schemas.openxmlformats.org/drawingml/2006/main">
            <a:off x="6233008" y="1335024"/>
            <a:ext cx="5391760" cy="2286000"/>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19A406AF-BF22-4647-BEE7-037F353A10F3}"/>
              </a:ext>
            </a:extLst>
          </p:cNvPr>
          <p:cNvSpPr>
            <a:spLocks xmlns:a="http://schemas.openxmlformats.org/drawingml/2006/main" noGrp="1"/>
          </p:cNvSpPr>
          <p:nvPr/>
        </p:nvSpPr>
        <p:spPr>
          <a:xfrm xmlns:a="http://schemas.openxmlformats.org/drawingml/2006/main">
            <a:off x="6452464" y="1499616"/>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What the instruments signal</a:t>
            </a:r>
            <a:endParaRPr sz="1250"/>
          </a:p>
        </p:txBody>
      </p:sp>
      <p:sp>
        <p:nvSpPr>
          <p:cNvPr id="11" name="Text 9">
            <a:extLst xmlns:a="http://schemas.openxmlformats.org/drawingml/2006/main">
              <a:ext uri="{FF2B5EF4-FFF2-40B4-BE49-F238E27FC236}">
                <a16:creationId xmlns:a16="http://schemas.microsoft.com/office/drawing/2014/main" id="{594C1CE2-821F-41DC-81EA-E12313E028B4}"/>
              </a:ext>
            </a:extLst>
          </p:cNvPr>
          <p:cNvSpPr>
            <a:spLocks xmlns:a="http://schemas.openxmlformats.org/drawingml/2006/main" noGrp="1"/>
          </p:cNvSpPr>
          <p:nvPr/>
        </p:nvSpPr>
        <p:spPr>
          <a:xfrm xmlns:a="http://schemas.openxmlformats.org/drawingml/2006/main">
            <a:off x="6452464" y="1828800"/>
            <a:ext cx="4952848" cy="17007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substantial earnest-money deposit and a five per cent performance guarantee — both scale-filters in themselves.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Single currency, no deviations permitted: the response must be fully compliant or it is not evaluated.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An indicative man-day pool used for comparison means the commercial score is partly a bidding artefact, not a cost estimate.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Commercial envelopes are opened only for bidders who clear both eligibility and the technical bar.</a:t>
            </a:r>
            <a:endParaRPr sz="950"/>
          </a:p>
        </p:txBody>
      </p:sp>
      <p:sp>
        <p:nvSpPr>
          <p:cNvPr id="12" name="Text 10">
            <a:extLst xmlns:a="http://schemas.openxmlformats.org/drawingml/2006/main">
              <a:ext uri="{FF2B5EF4-FFF2-40B4-BE49-F238E27FC236}">
                <a16:creationId xmlns:a16="http://schemas.microsoft.com/office/drawing/2014/main" id="{63E088AB-5217-40F4-BA76-47AEA8741568}"/>
              </a:ext>
            </a:extLst>
          </p:cNvPr>
          <p:cNvSpPr>
            <a:spLocks xmlns:a="http://schemas.openxmlformats.org/drawingml/2006/main" noGrp="1"/>
          </p:cNvSpPr>
          <p:nvPr/>
        </p:nvSpPr>
        <p:spPr>
          <a:xfrm xmlns:a="http://schemas.openxmlformats.org/drawingml/2006/main">
            <a:off x="566928" y="385876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WHO ATTENDED THE PRE-BID — FOURTEEN ORGANISATIONS</a:t>
            </a:r>
            <a:endParaRPr sz="800"/>
          </a:p>
        </p:txBody>
      </p:sp>
      <p:sp>
        <p:nvSpPr>
          <p:cNvPr id="13" name="Shape 11">
            <a:extLst xmlns:a="http://schemas.openxmlformats.org/drawingml/2006/main">
              <a:ext uri="{FF2B5EF4-FFF2-40B4-BE49-F238E27FC236}">
                <a16:creationId xmlns:a16="http://schemas.microsoft.com/office/drawing/2014/main" id="{441AFBB6-8703-4A1A-AD1C-A15F0DF2C965}"/>
              </a:ext>
            </a:extLst>
          </p:cNvPr>
          <p:cNvSpPr>
            <a:spLocks xmlns:a="http://schemas.openxmlformats.org/drawingml/2006/main" noGrp="1"/>
          </p:cNvSpPr>
          <p:nvPr/>
        </p:nvSpPr>
        <p:spPr>
          <a:xfrm xmlns:a="http://schemas.openxmlformats.org/drawingml/2006/main">
            <a:off x="566928" y="4096512"/>
            <a:ext cx="5391760" cy="786384"/>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B783B3C5-EF21-497F-BB3B-458B52884A1D}"/>
              </a:ext>
            </a:extLst>
          </p:cNvPr>
          <p:cNvSpPr>
            <a:spLocks xmlns:a="http://schemas.openxmlformats.org/drawingml/2006/main" noGrp="1"/>
          </p:cNvSpPr>
          <p:nvPr/>
        </p:nvSpPr>
        <p:spPr>
          <a:xfrm xmlns:a="http://schemas.openxmlformats.org/drawingml/2006/main">
            <a:off x="786384" y="4224528"/>
            <a:ext cx="640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900"/>
              </a:lnSpc>
              <a:buNone/>
            </a:pPr>
            <a:r>
              <a:rPr sz="2400" b="1">
                <a:solidFill>
                  <a:srgbClr val="486581"/>
                </a:solidFill>
                <a:latin typeface="Arial"/>
                <a:ea typeface="Arial"/>
                <a:cs typeface="Arial"/>
              </a:rPr>
              <a:t>9</a:t>
            </a:r>
            <a:endParaRPr sz="2400"/>
          </a:p>
        </p:txBody>
      </p:sp>
      <p:sp>
        <p:nvSpPr>
          <p:cNvPr id="15" name="Text 13">
            <a:extLst xmlns:a="http://schemas.openxmlformats.org/drawingml/2006/main">
              <a:ext uri="{FF2B5EF4-FFF2-40B4-BE49-F238E27FC236}">
                <a16:creationId xmlns:a16="http://schemas.microsoft.com/office/drawing/2014/main" id="{227983E6-75F3-4391-BC96-CE8312FAC760}"/>
              </a:ext>
            </a:extLst>
          </p:cNvPr>
          <p:cNvSpPr>
            <a:spLocks xmlns:a="http://schemas.openxmlformats.org/drawingml/2006/main" noGrp="1"/>
          </p:cNvSpPr>
          <p:nvPr/>
        </p:nvSpPr>
        <p:spPr>
          <a:xfrm xmlns:a="http://schemas.openxmlformats.org/drawingml/2006/main">
            <a:off x="1481328" y="4315968"/>
            <a:ext cx="4203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Global and large system integrators</a:t>
            </a:r>
            <a:endParaRPr sz="1100"/>
          </a:p>
        </p:txBody>
      </p:sp>
      <p:sp>
        <p:nvSpPr>
          <p:cNvPr id="16" name="Shape 14">
            <a:extLst xmlns:a="http://schemas.openxmlformats.org/drawingml/2006/main">
              <a:ext uri="{FF2B5EF4-FFF2-40B4-BE49-F238E27FC236}">
                <a16:creationId xmlns:a16="http://schemas.microsoft.com/office/drawing/2014/main" id="{83841D81-0E49-41BE-8A49-28BF4A8B3807}"/>
              </a:ext>
            </a:extLst>
          </p:cNvPr>
          <p:cNvSpPr>
            <a:spLocks xmlns:a="http://schemas.openxmlformats.org/drawingml/2006/main" noGrp="1"/>
          </p:cNvSpPr>
          <p:nvPr/>
        </p:nvSpPr>
        <p:spPr>
          <a:xfrm xmlns:a="http://schemas.openxmlformats.org/drawingml/2006/main">
            <a:off x="6233008" y="4096512"/>
            <a:ext cx="5391760" cy="786384"/>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F04106D4-FADC-4F5C-994E-3D8FD4DC38E3}"/>
              </a:ext>
            </a:extLst>
          </p:cNvPr>
          <p:cNvSpPr>
            <a:spLocks xmlns:a="http://schemas.openxmlformats.org/drawingml/2006/main" noGrp="1"/>
          </p:cNvSpPr>
          <p:nvPr/>
        </p:nvSpPr>
        <p:spPr>
          <a:xfrm xmlns:a="http://schemas.openxmlformats.org/drawingml/2006/main">
            <a:off x="6452464" y="4224528"/>
            <a:ext cx="6400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900"/>
              </a:lnSpc>
              <a:buNone/>
            </a:pPr>
            <a:r>
              <a:rPr sz="2400" b="1">
                <a:solidFill>
                  <a:srgbClr val="B04A25"/>
                </a:solidFill>
                <a:latin typeface="Arial"/>
                <a:ea typeface="Arial"/>
                <a:cs typeface="Arial"/>
              </a:rPr>
              <a:t>5</a:t>
            </a:r>
            <a:endParaRPr sz="2400"/>
          </a:p>
        </p:txBody>
      </p:sp>
      <p:sp>
        <p:nvSpPr>
          <p:cNvPr id="18" name="Text 16">
            <a:extLst xmlns:a="http://schemas.openxmlformats.org/drawingml/2006/main">
              <a:ext uri="{FF2B5EF4-FFF2-40B4-BE49-F238E27FC236}">
                <a16:creationId xmlns:a16="http://schemas.microsoft.com/office/drawing/2014/main" id="{DB733E7E-9728-4DAC-AEFA-103B7C373248}"/>
              </a:ext>
            </a:extLst>
          </p:cNvPr>
          <p:cNvSpPr>
            <a:spLocks xmlns:a="http://schemas.openxmlformats.org/drawingml/2006/main" noGrp="1"/>
          </p:cNvSpPr>
          <p:nvPr/>
        </p:nvSpPr>
        <p:spPr>
          <a:xfrm xmlns:a="http://schemas.openxmlformats.org/drawingml/2006/main">
            <a:off x="7147408" y="4315968"/>
            <a:ext cx="42030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BFSI-AI and product specialists</a:t>
            </a:r>
            <a:endParaRPr sz="1100"/>
          </a:p>
        </p:txBody>
      </p:sp>
      <p:sp>
        <p:nvSpPr>
          <p:cNvPr id="19" name="Shape 17">
            <a:extLst xmlns:a="http://schemas.openxmlformats.org/drawingml/2006/main">
              <a:ext uri="{FF2B5EF4-FFF2-40B4-BE49-F238E27FC236}">
                <a16:creationId xmlns:a16="http://schemas.microsoft.com/office/drawing/2014/main" id="{EA82AAA9-453B-4DF0-ABFC-A1F72F7A71A3}"/>
              </a:ext>
            </a:extLst>
          </p:cNvPr>
          <p:cNvSpPr>
            <a:spLocks xmlns:a="http://schemas.openxmlformats.org/drawingml/2006/main" noGrp="1"/>
          </p:cNvSpPr>
          <p:nvPr/>
        </p:nvSpPr>
        <p:spPr>
          <a:xfrm xmlns:a="http://schemas.openxmlformats.org/drawingml/2006/main">
            <a:off x="566928" y="5047488"/>
            <a:ext cx="11057839" cy="1005840"/>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E0A3AC4A-FC02-4267-AC37-6C23D400E282}"/>
              </a:ext>
            </a:extLst>
          </p:cNvPr>
          <p:cNvSpPr>
            <a:spLocks xmlns:a="http://schemas.openxmlformats.org/drawingml/2006/main" noGrp="1"/>
          </p:cNvSpPr>
          <p:nvPr/>
        </p:nvSpPr>
        <p:spPr>
          <a:xfrm xmlns:a="http://schemas.openxmlformats.org/drawingml/2006/main">
            <a:off x="804672" y="519379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What the field composition actually tells a bidder</a:t>
            </a:r>
            <a:endParaRPr sz="1100"/>
          </a:p>
        </p:txBody>
      </p:sp>
      <p:sp>
        <p:nvSpPr>
          <p:cNvPr id="21" name="Text 19">
            <a:extLst xmlns:a="http://schemas.openxmlformats.org/drawingml/2006/main">
              <a:ext uri="{FF2B5EF4-FFF2-40B4-BE49-F238E27FC236}">
                <a16:creationId xmlns:a16="http://schemas.microsoft.com/office/drawing/2014/main" id="{79484A77-5778-49C8-9899-722F71CC7381}"/>
              </a:ext>
            </a:extLst>
          </p:cNvPr>
          <p:cNvSpPr>
            <a:spLocks xmlns:a="http://schemas.openxmlformats.org/drawingml/2006/main" noGrp="1"/>
          </p:cNvSpPr>
          <p:nvPr/>
        </p:nvSpPr>
        <p:spPr>
          <a:xfrm xmlns:a="http://schemas.openxmlformats.org/drawingml/2006/main">
            <a:off x="804672" y="5449824"/>
            <a:ext cx="1058235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Nine global SIs alongside five BFSI-AI specialists is not a mixed field — it is two different bids being written against one document. The SIs will compete on scale, references and the counted parameters. The specialists can only win on the parts that are argued rather than counted: architecture depth, responsible-AI governance and demonstrable production use cases. A specialist writing a scale-and-breadth response is competing on the axis it cannot win.</a:t>
            </a:r>
            <a:endParaRPr sz="990"/>
          </a:p>
        </p:txBody>
      </p:sp>
      <p:sp>
        <p:nvSpPr>
          <p:cNvPr id="22" name="Shape 20">
            <a:extLst xmlns:a="http://schemas.openxmlformats.org/drawingml/2006/main">
              <a:ext uri="{FF2B5EF4-FFF2-40B4-BE49-F238E27FC236}">
                <a16:creationId xmlns:a16="http://schemas.microsoft.com/office/drawing/2014/main" id="{3F6B62E9-028D-4F2E-8E7F-261E7A22C1B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3" name="Text 21">
            <a:extLst xmlns:a="http://schemas.openxmlformats.org/drawingml/2006/main">
              <a:ext uri="{FF2B5EF4-FFF2-40B4-BE49-F238E27FC236}">
                <a16:creationId xmlns:a16="http://schemas.microsoft.com/office/drawing/2014/main" id="{547473B4-7CE0-4C8F-BFFE-CE9702A5EBE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RFP and pre-bid minutes for the enterprise AI platform tender · author's analysis</a:t>
            </a:r>
            <a:endParaRPr sz="850"/>
          </a:p>
        </p:txBody>
      </p:sp>
      <p:sp>
        <p:nvSpPr>
          <p:cNvPr id="24" name="Text 22">
            <a:extLst xmlns:a="http://schemas.openxmlformats.org/drawingml/2006/main">
              <a:ext uri="{FF2B5EF4-FFF2-40B4-BE49-F238E27FC236}">
                <a16:creationId xmlns:a16="http://schemas.microsoft.com/office/drawing/2014/main" id="{E73CDE22-5D60-4A72-8742-B35A1791114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649803082"/>
      </p:ext>
    </p:extLst>
  </p:cSld>
</p:sld>
</file>

<file path=ppt/slides/slide9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B8B5407-597E-423C-BFBE-54CBF1E948D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OUTPUT</a:t>
            </a:r>
            <a:endParaRPr sz="950"/>
          </a:p>
        </p:txBody>
      </p:sp>
      <p:sp>
        <p:nvSpPr>
          <p:cNvPr id="3" name="Text 1">
            <a:extLst xmlns:a="http://schemas.openxmlformats.org/drawingml/2006/main">
              <a:ext uri="{FF2B5EF4-FFF2-40B4-BE49-F238E27FC236}">
                <a16:creationId xmlns:a16="http://schemas.microsoft.com/office/drawing/2014/main" id="{A45BC862-8972-4906-89DD-D211A4EA64D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method's real deliverable is a short, high-yield question set — filed before the</a:t>
            </a:r>
            <a:endParaRPr sz="1900"/>
          </a:p>
          <a:p xmlns:a="http://schemas.openxmlformats.org/drawingml/2006/main">
            <a:pPr marL="0" indent="0">
              <a:lnSpc>
                <a:spcPts val="2400"/>
              </a:lnSpc>
              <a:buNone/>
            </a:pPr>
            <a:r>
              <a:rPr sz="1900" b="1">
                <a:solidFill>
                  <a:srgbClr val="102A43"/>
                </a:solidFill>
                <a:latin typeface="Arial"/>
                <a:ea typeface="Arial"/>
                <a:cs typeface="Arial"/>
              </a:rPr>
              <a:t>clarification deadline, when answers are still free</a:t>
            </a:r>
            <a:endParaRPr sz="1900"/>
          </a:p>
        </p:txBody>
      </p:sp>
      <p:sp>
        <p:nvSpPr>
          <p:cNvPr id="4" name="Shape 2">
            <a:extLst xmlns:a="http://schemas.openxmlformats.org/drawingml/2006/main">
              <a:ext uri="{FF2B5EF4-FFF2-40B4-BE49-F238E27FC236}">
                <a16:creationId xmlns:a16="http://schemas.microsoft.com/office/drawing/2014/main" id="{239709F0-9A1A-4F10-B2DE-6E377E5D52AE}"/>
              </a:ext>
            </a:extLst>
          </p:cNvPr>
          <p:cNvSpPr>
            <a:spLocks xmlns:a="http://schemas.openxmlformats.org/drawingml/2006/main" noGrp="1"/>
          </p:cNvSpPr>
          <p:nvPr/>
        </p:nvSpPr>
        <p:spPr>
          <a:xfrm xmlns:a="http://schemas.openxmlformats.org/drawingml/2006/main">
            <a:off x="566928" y="1335024"/>
            <a:ext cx="11057839" cy="78638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66160192-8006-4D17-8B59-00D30D6D212B}"/>
              </a:ext>
            </a:extLst>
          </p:cNvPr>
          <p:cNvSpPr>
            <a:spLocks xmlns:a="http://schemas.openxmlformats.org/drawingml/2006/main" noGrp="1"/>
          </p:cNvSpPr>
          <p:nvPr/>
        </p:nvSpPr>
        <p:spPr>
          <a:xfrm xmlns:a="http://schemas.openxmlformats.org/drawingml/2006/main">
            <a:off x="768096" y="1572768"/>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01</a:t>
            </a:r>
            <a:endParaRPr sz="1500"/>
          </a:p>
        </p:txBody>
      </p:sp>
      <p:sp>
        <p:nvSpPr>
          <p:cNvPr id="6" name="Text 4">
            <a:extLst xmlns:a="http://schemas.openxmlformats.org/drawingml/2006/main">
              <a:ext uri="{FF2B5EF4-FFF2-40B4-BE49-F238E27FC236}">
                <a16:creationId xmlns:a16="http://schemas.microsoft.com/office/drawing/2014/main" id="{30349AE6-F1F6-49A6-B366-94ADB0EE8F1E}"/>
              </a:ext>
            </a:extLst>
          </p:cNvPr>
          <p:cNvSpPr>
            <a:spLocks xmlns:a="http://schemas.openxmlformats.org/drawingml/2006/main" noGrp="1"/>
          </p:cNvSpPr>
          <p:nvPr/>
        </p:nvSpPr>
        <p:spPr>
          <a:xfrm xmlns:a="http://schemas.openxmlformats.org/drawingml/2006/main">
            <a:off x="1225296" y="1463040"/>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Reconcile neutrality with the counted stack</a:t>
            </a:r>
            <a:endParaRPr sz="1060"/>
          </a:p>
        </p:txBody>
      </p:sp>
      <p:sp>
        <p:nvSpPr>
          <p:cNvPr id="7" name="Text 5">
            <a:extLst xmlns:a="http://schemas.openxmlformats.org/drawingml/2006/main">
              <a:ext uri="{FF2B5EF4-FFF2-40B4-BE49-F238E27FC236}">
                <a16:creationId xmlns:a16="http://schemas.microsoft.com/office/drawing/2014/main" id="{BE9C4312-5A47-4149-8059-9C39AE31C845}"/>
              </a:ext>
            </a:extLst>
          </p:cNvPr>
          <p:cNvSpPr>
            <a:spLocks xmlns:a="http://schemas.openxmlformats.org/drawingml/2006/main" noGrp="1"/>
          </p:cNvSpPr>
          <p:nvPr/>
        </p:nvSpPr>
        <p:spPr>
          <a:xfrm xmlns:a="http://schemas.openxmlformats.org/drawingml/2006/main">
            <a:off x="4590288" y="1481328"/>
            <a:ext cx="4114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1A1A1A"/>
                </a:solidFill>
                <a:latin typeface="Arial"/>
                <a:ea typeface="Arial"/>
                <a:cs typeface="Arial"/>
              </a:rPr>
              <a:t>Does an equivalent implementation on a different accelerator stack score under the named-stack parameter, or only implementations on that specific stack?</a:t>
            </a:r>
            <a:endParaRPr sz="920"/>
          </a:p>
        </p:txBody>
      </p:sp>
      <p:sp>
        <p:nvSpPr>
          <p:cNvPr id="8" name="Text 6">
            <a:extLst xmlns:a="http://schemas.openxmlformats.org/drawingml/2006/main">
              <a:ext uri="{FF2B5EF4-FFF2-40B4-BE49-F238E27FC236}">
                <a16:creationId xmlns:a16="http://schemas.microsoft.com/office/drawing/2014/main" id="{21D50F1D-3F01-44D5-BECF-E310B0180FDB}"/>
              </a:ext>
            </a:extLst>
          </p:cNvPr>
          <p:cNvSpPr>
            <a:spLocks xmlns:a="http://schemas.openxmlformats.org/drawingml/2006/main" noGrp="1"/>
          </p:cNvSpPr>
          <p:nvPr/>
        </p:nvSpPr>
        <p:spPr>
          <a:xfrm xmlns:a="http://schemas.openxmlformats.org/drawingml/2006/main">
            <a:off x="8887968" y="1481328"/>
            <a:ext cx="2606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B04A25"/>
                </a:solidFill>
                <a:latin typeface="Arial"/>
                <a:ea typeface="Arial"/>
                <a:cs typeface="Arial"/>
              </a:rPr>
              <a:t>Opens or closes the field. Highest-value question in the set.</a:t>
            </a:r>
            <a:endParaRPr sz="920"/>
          </a:p>
        </p:txBody>
      </p:sp>
      <p:sp>
        <p:nvSpPr>
          <p:cNvPr id="9" name="Shape 7">
            <a:extLst xmlns:a="http://schemas.openxmlformats.org/drawingml/2006/main">
              <a:ext uri="{FF2B5EF4-FFF2-40B4-BE49-F238E27FC236}">
                <a16:creationId xmlns:a16="http://schemas.microsoft.com/office/drawing/2014/main" id="{D4816CE1-3907-44EE-BE88-9027BF737A53}"/>
              </a:ext>
            </a:extLst>
          </p:cNvPr>
          <p:cNvSpPr>
            <a:spLocks xmlns:a="http://schemas.openxmlformats.org/drawingml/2006/main" noGrp="1"/>
          </p:cNvSpPr>
          <p:nvPr/>
        </p:nvSpPr>
        <p:spPr>
          <a:xfrm xmlns:a="http://schemas.openxmlformats.org/drawingml/2006/main">
            <a:off x="566928" y="2231136"/>
            <a:ext cx="11057839" cy="786384"/>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11D51D21-925B-457A-8856-84E7B3B888DF}"/>
              </a:ext>
            </a:extLst>
          </p:cNvPr>
          <p:cNvSpPr>
            <a:spLocks xmlns:a="http://schemas.openxmlformats.org/drawingml/2006/main" noGrp="1"/>
          </p:cNvSpPr>
          <p:nvPr/>
        </p:nvSpPr>
        <p:spPr>
          <a:xfrm xmlns:a="http://schemas.openxmlformats.org/drawingml/2006/main">
            <a:off x="768096" y="246888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02</a:t>
            </a:r>
            <a:endParaRPr sz="1500"/>
          </a:p>
        </p:txBody>
      </p:sp>
      <p:sp>
        <p:nvSpPr>
          <p:cNvPr id="11" name="Text 9">
            <a:extLst xmlns:a="http://schemas.openxmlformats.org/drawingml/2006/main">
              <a:ext uri="{FF2B5EF4-FFF2-40B4-BE49-F238E27FC236}">
                <a16:creationId xmlns:a16="http://schemas.microsoft.com/office/drawing/2014/main" id="{9E2D4275-9429-4DBC-9639-088A5591E497}"/>
              </a:ext>
            </a:extLst>
          </p:cNvPr>
          <p:cNvSpPr>
            <a:spLocks xmlns:a="http://schemas.openxmlformats.org/drawingml/2006/main" noGrp="1"/>
          </p:cNvSpPr>
          <p:nvPr/>
        </p:nvSpPr>
        <p:spPr>
          <a:xfrm xmlns:a="http://schemas.openxmlformats.org/drawingml/2006/main">
            <a:off x="1225296" y="2359152"/>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Confirm the delivery envelope</a:t>
            </a:r>
            <a:endParaRPr sz="1060"/>
          </a:p>
        </p:txBody>
      </p:sp>
      <p:sp>
        <p:nvSpPr>
          <p:cNvPr id="12" name="Text 10">
            <a:extLst xmlns:a="http://schemas.openxmlformats.org/drawingml/2006/main">
              <a:ext uri="{FF2B5EF4-FFF2-40B4-BE49-F238E27FC236}">
                <a16:creationId xmlns:a16="http://schemas.microsoft.com/office/drawing/2014/main" id="{B3531B17-94B8-4EAA-96E2-82ABF0E2ED5F}"/>
              </a:ext>
            </a:extLst>
          </p:cNvPr>
          <p:cNvSpPr>
            <a:spLocks xmlns:a="http://schemas.openxmlformats.org/drawingml/2006/main" noGrp="1"/>
          </p:cNvSpPr>
          <p:nvPr/>
        </p:nvSpPr>
        <p:spPr>
          <a:xfrm xmlns:a="http://schemas.openxmlformats.org/drawingml/2006/main">
            <a:off x="4590288" y="2377440"/>
            <a:ext cx="4114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1A1A1A"/>
                </a:solidFill>
                <a:latin typeface="Arial"/>
                <a:ea typeface="Arial"/>
                <a:cs typeface="Arial"/>
              </a:rPr>
              <a:t>Is the published phase-three window the full envelope for the stated use-case volume, or does it govern only the first wave?</a:t>
            </a:r>
            <a:endParaRPr sz="920"/>
          </a:p>
        </p:txBody>
      </p:sp>
      <p:sp>
        <p:nvSpPr>
          <p:cNvPr id="13" name="Text 11">
            <a:extLst xmlns:a="http://schemas.openxmlformats.org/drawingml/2006/main">
              <a:ext uri="{FF2B5EF4-FFF2-40B4-BE49-F238E27FC236}">
                <a16:creationId xmlns:a16="http://schemas.microsoft.com/office/drawing/2014/main" id="{1DA55FFF-6C70-4191-A849-86419506BC40}"/>
              </a:ext>
            </a:extLst>
          </p:cNvPr>
          <p:cNvSpPr>
            <a:spLocks xmlns:a="http://schemas.openxmlformats.org/drawingml/2006/main" noGrp="1"/>
          </p:cNvSpPr>
          <p:nvPr/>
        </p:nvSpPr>
        <p:spPr>
          <a:xfrm xmlns:a="http://schemas.openxmlformats.org/drawingml/2006/main">
            <a:off x="8887968" y="2377440"/>
            <a:ext cx="2606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Determines whether the programme can be priced without a loss.</a:t>
            </a:r>
            <a:endParaRPr sz="920"/>
          </a:p>
        </p:txBody>
      </p:sp>
      <p:sp>
        <p:nvSpPr>
          <p:cNvPr id="14" name="Shape 12">
            <a:extLst xmlns:a="http://schemas.openxmlformats.org/drawingml/2006/main">
              <a:ext uri="{FF2B5EF4-FFF2-40B4-BE49-F238E27FC236}">
                <a16:creationId xmlns:a16="http://schemas.microsoft.com/office/drawing/2014/main" id="{CFAD59B1-15E8-481E-BDA9-C8A15FFD7F38}"/>
              </a:ext>
            </a:extLst>
          </p:cNvPr>
          <p:cNvSpPr>
            <a:spLocks xmlns:a="http://schemas.openxmlformats.org/drawingml/2006/main" noGrp="1"/>
          </p:cNvSpPr>
          <p:nvPr/>
        </p:nvSpPr>
        <p:spPr>
          <a:xfrm xmlns:a="http://schemas.openxmlformats.org/drawingml/2006/main">
            <a:off x="566928" y="3127248"/>
            <a:ext cx="11057839" cy="78638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C10BED40-6110-4E71-9DAA-688A13F2FB8F}"/>
              </a:ext>
            </a:extLst>
          </p:cNvPr>
          <p:cNvSpPr>
            <a:spLocks xmlns:a="http://schemas.openxmlformats.org/drawingml/2006/main" noGrp="1"/>
          </p:cNvSpPr>
          <p:nvPr/>
        </p:nvSpPr>
        <p:spPr>
          <a:xfrm xmlns:a="http://schemas.openxmlformats.org/drawingml/2006/main">
            <a:off x="768096" y="3364992"/>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03</a:t>
            </a:r>
            <a:endParaRPr sz="1500"/>
          </a:p>
        </p:txBody>
      </p:sp>
      <p:sp>
        <p:nvSpPr>
          <p:cNvPr id="16" name="Text 14">
            <a:extLst xmlns:a="http://schemas.openxmlformats.org/drawingml/2006/main">
              <a:ext uri="{FF2B5EF4-FFF2-40B4-BE49-F238E27FC236}">
                <a16:creationId xmlns:a16="http://schemas.microsoft.com/office/drawing/2014/main" id="{1C43C17E-8889-4DF6-A198-575AFC18ECAF}"/>
              </a:ext>
            </a:extLst>
          </p:cNvPr>
          <p:cNvSpPr>
            <a:spLocks xmlns:a="http://schemas.openxmlformats.org/drawingml/2006/main" noGrp="1"/>
          </p:cNvSpPr>
          <p:nvPr/>
        </p:nvSpPr>
        <p:spPr>
          <a:xfrm xmlns:a="http://schemas.openxmlformats.org/drawingml/2006/main">
            <a:off x="1225296" y="3255264"/>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Define the reuse boundary</a:t>
            </a:r>
            <a:endParaRPr sz="1060"/>
          </a:p>
        </p:txBody>
      </p:sp>
      <p:sp>
        <p:nvSpPr>
          <p:cNvPr id="17" name="Text 15">
            <a:extLst xmlns:a="http://schemas.openxmlformats.org/drawingml/2006/main">
              <a:ext uri="{FF2B5EF4-FFF2-40B4-BE49-F238E27FC236}">
                <a16:creationId xmlns:a16="http://schemas.microsoft.com/office/drawing/2014/main" id="{236F1AB1-F29F-477B-B47C-E4351E7A5DA1}"/>
              </a:ext>
            </a:extLst>
          </p:cNvPr>
          <p:cNvSpPr>
            <a:spLocks xmlns:a="http://schemas.openxmlformats.org/drawingml/2006/main" noGrp="1"/>
          </p:cNvSpPr>
          <p:nvPr/>
        </p:nvSpPr>
        <p:spPr>
          <a:xfrm xmlns:a="http://schemas.openxmlformats.org/drawingml/2006/main">
            <a:off x="4590288" y="3273552"/>
            <a:ext cx="4114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1A1A1A"/>
                </a:solidFill>
                <a:latin typeface="Arial"/>
                <a:ea typeface="Arial"/>
                <a:cs typeface="Arial"/>
              </a:rPr>
              <a:t>Where does the boundary sit between reused bank components and newly supplied ones, and how does that map to the IP transfer?</a:t>
            </a:r>
            <a:endParaRPr sz="920"/>
          </a:p>
        </p:txBody>
      </p:sp>
      <p:sp>
        <p:nvSpPr>
          <p:cNvPr id="18" name="Text 16">
            <a:extLst xmlns:a="http://schemas.openxmlformats.org/drawingml/2006/main">
              <a:ext uri="{FF2B5EF4-FFF2-40B4-BE49-F238E27FC236}">
                <a16:creationId xmlns:a16="http://schemas.microsoft.com/office/drawing/2014/main" id="{9D82C8B4-6DAC-44B7-951B-BEEE70CEBD0A}"/>
              </a:ext>
            </a:extLst>
          </p:cNvPr>
          <p:cNvSpPr>
            <a:spLocks xmlns:a="http://schemas.openxmlformats.org/drawingml/2006/main" noGrp="1"/>
          </p:cNvSpPr>
          <p:nvPr/>
        </p:nvSpPr>
        <p:spPr>
          <a:xfrm xmlns:a="http://schemas.openxmlformats.org/drawingml/2006/main">
            <a:off x="8887968" y="3273552"/>
            <a:ext cx="2606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Determines scope, IP obligations and what carries to the next client.</a:t>
            </a:r>
            <a:endParaRPr sz="920"/>
          </a:p>
        </p:txBody>
      </p:sp>
      <p:sp>
        <p:nvSpPr>
          <p:cNvPr id="19" name="Shape 17">
            <a:extLst xmlns:a="http://schemas.openxmlformats.org/drawingml/2006/main">
              <a:ext uri="{FF2B5EF4-FFF2-40B4-BE49-F238E27FC236}">
                <a16:creationId xmlns:a16="http://schemas.microsoft.com/office/drawing/2014/main" id="{EE1AD87D-D621-4845-A9ED-6F96B0F8293C}"/>
              </a:ext>
            </a:extLst>
          </p:cNvPr>
          <p:cNvSpPr>
            <a:spLocks xmlns:a="http://schemas.openxmlformats.org/drawingml/2006/main" noGrp="1"/>
          </p:cNvSpPr>
          <p:nvPr/>
        </p:nvSpPr>
        <p:spPr>
          <a:xfrm xmlns:a="http://schemas.openxmlformats.org/drawingml/2006/main">
            <a:off x="566928" y="4023360"/>
            <a:ext cx="11057839" cy="786384"/>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0304BDDB-6591-42C9-9B02-2E26B2EC8823}"/>
              </a:ext>
            </a:extLst>
          </p:cNvPr>
          <p:cNvSpPr>
            <a:spLocks xmlns:a="http://schemas.openxmlformats.org/drawingml/2006/main" noGrp="1"/>
          </p:cNvSpPr>
          <p:nvPr/>
        </p:nvSpPr>
        <p:spPr>
          <a:xfrm xmlns:a="http://schemas.openxmlformats.org/drawingml/2006/main">
            <a:off x="768096" y="4261104"/>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04</a:t>
            </a:r>
            <a:endParaRPr sz="1500"/>
          </a:p>
        </p:txBody>
      </p:sp>
      <p:sp>
        <p:nvSpPr>
          <p:cNvPr id="21" name="Text 19">
            <a:extLst xmlns:a="http://schemas.openxmlformats.org/drawingml/2006/main">
              <a:ext uri="{FF2B5EF4-FFF2-40B4-BE49-F238E27FC236}">
                <a16:creationId xmlns:a16="http://schemas.microsoft.com/office/drawing/2014/main" id="{B6AF39C8-7C57-4887-B9F2-55F6AE572FF4}"/>
              </a:ext>
            </a:extLst>
          </p:cNvPr>
          <p:cNvSpPr>
            <a:spLocks xmlns:a="http://schemas.openxmlformats.org/drawingml/2006/main" noGrp="1"/>
          </p:cNvSpPr>
          <p:nvPr/>
        </p:nvSpPr>
        <p:spPr>
          <a:xfrm xmlns:a="http://schemas.openxmlformats.org/drawingml/2006/main">
            <a:off x="1225296" y="4151376"/>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Clarify infrastructure ownership</a:t>
            </a:r>
            <a:endParaRPr sz="1060"/>
          </a:p>
        </p:txBody>
      </p:sp>
      <p:sp>
        <p:nvSpPr>
          <p:cNvPr id="22" name="Text 20">
            <a:extLst xmlns:a="http://schemas.openxmlformats.org/drawingml/2006/main">
              <a:ext uri="{FF2B5EF4-FFF2-40B4-BE49-F238E27FC236}">
                <a16:creationId xmlns:a16="http://schemas.microsoft.com/office/drawing/2014/main" id="{9A3ECF55-7753-4915-B51C-1D320776DA47}"/>
              </a:ext>
            </a:extLst>
          </p:cNvPr>
          <p:cNvSpPr>
            <a:spLocks xmlns:a="http://schemas.openxmlformats.org/drawingml/2006/main" noGrp="1"/>
          </p:cNvSpPr>
          <p:nvPr/>
        </p:nvSpPr>
        <p:spPr>
          <a:xfrm xmlns:a="http://schemas.openxmlformats.org/drawingml/2006/main">
            <a:off x="4590288" y="4169664"/>
            <a:ext cx="4114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1A1A1A"/>
                </a:solidFill>
                <a:latin typeface="Arial"/>
                <a:ea typeface="Arial"/>
                <a:cs typeface="Arial"/>
              </a:rPr>
              <a:t>Is GPU infrastructure supplied by the bank, or must the bidder size, price and supply it?</a:t>
            </a:r>
            <a:endParaRPr sz="920"/>
          </a:p>
        </p:txBody>
      </p:sp>
      <p:sp>
        <p:nvSpPr>
          <p:cNvPr id="23" name="Text 21">
            <a:extLst xmlns:a="http://schemas.openxmlformats.org/drawingml/2006/main">
              <a:ext uri="{FF2B5EF4-FFF2-40B4-BE49-F238E27FC236}">
                <a16:creationId xmlns:a16="http://schemas.microsoft.com/office/drawing/2014/main" id="{E4B468F9-7929-4907-8BB9-B8174AA26F1D}"/>
              </a:ext>
            </a:extLst>
          </p:cNvPr>
          <p:cNvSpPr>
            <a:spLocks xmlns:a="http://schemas.openxmlformats.org/drawingml/2006/main" noGrp="1"/>
          </p:cNvSpPr>
          <p:nvPr/>
        </p:nvSpPr>
        <p:spPr>
          <a:xfrm xmlns:a="http://schemas.openxmlformats.org/drawingml/2006/main">
            <a:off x="8887968" y="4169664"/>
            <a:ext cx="2606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Materially changes the capital shape of the bid.</a:t>
            </a:r>
            <a:endParaRPr sz="920"/>
          </a:p>
        </p:txBody>
      </p:sp>
      <p:sp>
        <p:nvSpPr>
          <p:cNvPr id="24" name="Shape 22">
            <a:extLst xmlns:a="http://schemas.openxmlformats.org/drawingml/2006/main">
              <a:ext uri="{FF2B5EF4-FFF2-40B4-BE49-F238E27FC236}">
                <a16:creationId xmlns:a16="http://schemas.microsoft.com/office/drawing/2014/main" id="{87858B5C-CB0C-4327-B890-F74B3F722D1A}"/>
              </a:ext>
            </a:extLst>
          </p:cNvPr>
          <p:cNvSpPr>
            <a:spLocks xmlns:a="http://schemas.openxmlformats.org/drawingml/2006/main" noGrp="1"/>
          </p:cNvSpPr>
          <p:nvPr/>
        </p:nvSpPr>
        <p:spPr>
          <a:xfrm xmlns:a="http://schemas.openxmlformats.org/drawingml/2006/main">
            <a:off x="566928" y="4919472"/>
            <a:ext cx="11057839" cy="786384"/>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262437B5-AC97-4BB1-A06E-F9971B337E2B}"/>
              </a:ext>
            </a:extLst>
          </p:cNvPr>
          <p:cNvSpPr>
            <a:spLocks xmlns:a="http://schemas.openxmlformats.org/drawingml/2006/main" noGrp="1"/>
          </p:cNvSpPr>
          <p:nvPr/>
        </p:nvSpPr>
        <p:spPr>
          <a:xfrm xmlns:a="http://schemas.openxmlformats.org/drawingml/2006/main">
            <a:off x="768096" y="5157216"/>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05</a:t>
            </a:r>
            <a:endParaRPr sz="1500"/>
          </a:p>
        </p:txBody>
      </p:sp>
      <p:sp>
        <p:nvSpPr>
          <p:cNvPr id="26" name="Text 24">
            <a:extLst xmlns:a="http://schemas.openxmlformats.org/drawingml/2006/main">
              <a:ext uri="{FF2B5EF4-FFF2-40B4-BE49-F238E27FC236}">
                <a16:creationId xmlns:a16="http://schemas.microsoft.com/office/drawing/2014/main" id="{06D88F51-9C36-4767-954E-F99F51D19AB1}"/>
              </a:ext>
            </a:extLst>
          </p:cNvPr>
          <p:cNvSpPr>
            <a:spLocks xmlns:a="http://schemas.openxmlformats.org/drawingml/2006/main" noGrp="1"/>
          </p:cNvSpPr>
          <p:nvPr/>
        </p:nvSpPr>
        <p:spPr>
          <a:xfrm xmlns:a="http://schemas.openxmlformats.org/drawingml/2006/main">
            <a:off x="1225296" y="5047488"/>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Fix the managed-services term and exit</a:t>
            </a:r>
            <a:endParaRPr sz="1060"/>
          </a:p>
        </p:txBody>
      </p:sp>
      <p:sp>
        <p:nvSpPr>
          <p:cNvPr id="27" name="Text 25">
            <a:extLst xmlns:a="http://schemas.openxmlformats.org/drawingml/2006/main">
              <a:ext uri="{FF2B5EF4-FFF2-40B4-BE49-F238E27FC236}">
                <a16:creationId xmlns:a16="http://schemas.microsoft.com/office/drawing/2014/main" id="{E2D14BC1-4BA0-446B-8DC3-90595EE8BEE6}"/>
              </a:ext>
            </a:extLst>
          </p:cNvPr>
          <p:cNvSpPr>
            <a:spLocks xmlns:a="http://schemas.openxmlformats.org/drawingml/2006/main" noGrp="1"/>
          </p:cNvSpPr>
          <p:nvPr/>
        </p:nvSpPr>
        <p:spPr>
          <a:xfrm xmlns:a="http://schemas.openxmlformats.org/drawingml/2006/main">
            <a:off x="4590288" y="5065776"/>
            <a:ext cx="41148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1A1A1A"/>
                </a:solidFill>
                <a:latin typeface="Arial"/>
                <a:ea typeface="Arial"/>
                <a:cs typeface="Arial"/>
              </a:rPr>
              <a:t>What is the term of managed services, and what are the exit criteria for capability transfer?</a:t>
            </a:r>
            <a:endParaRPr sz="920"/>
          </a:p>
        </p:txBody>
      </p:sp>
      <p:sp>
        <p:nvSpPr>
          <p:cNvPr id="28" name="Text 26">
            <a:extLst xmlns:a="http://schemas.openxmlformats.org/drawingml/2006/main">
              <a:ext uri="{FF2B5EF4-FFF2-40B4-BE49-F238E27FC236}">
                <a16:creationId xmlns:a16="http://schemas.microsoft.com/office/drawing/2014/main" id="{EC0C0DDB-647B-4989-8BE0-5022DD226306}"/>
              </a:ext>
            </a:extLst>
          </p:cNvPr>
          <p:cNvSpPr>
            <a:spLocks xmlns:a="http://schemas.openxmlformats.org/drawingml/2006/main" noGrp="1"/>
          </p:cNvSpPr>
          <p:nvPr/>
        </p:nvSpPr>
        <p:spPr>
          <a:xfrm xmlns:a="http://schemas.openxmlformats.org/drawingml/2006/main">
            <a:off x="8887968" y="5065776"/>
            <a:ext cx="2606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Determines the annuity and the end-state obligation.</a:t>
            </a:r>
            <a:endParaRPr sz="920"/>
          </a:p>
        </p:txBody>
      </p:sp>
      <p:sp>
        <p:nvSpPr>
          <p:cNvPr id="29" name="Shape 27">
            <a:extLst xmlns:a="http://schemas.openxmlformats.org/drawingml/2006/main">
              <a:ext uri="{FF2B5EF4-FFF2-40B4-BE49-F238E27FC236}">
                <a16:creationId xmlns:a16="http://schemas.microsoft.com/office/drawing/2014/main" id="{A50C59F7-B237-4AC0-99AF-CD8F1D19EDD6}"/>
              </a:ext>
            </a:extLst>
          </p:cNvPr>
          <p:cNvSpPr>
            <a:spLocks xmlns:a="http://schemas.openxmlformats.org/drawingml/2006/main" noGrp="1"/>
          </p:cNvSpPr>
          <p:nvPr/>
        </p:nvSpPr>
        <p:spPr>
          <a:xfrm xmlns:a="http://schemas.openxmlformats.org/drawingml/2006/main">
            <a:off x="566928" y="5907024"/>
            <a:ext cx="11057839" cy="402336"/>
          </a:xfrm>
          <a:prstGeom xmlns:a="http://schemas.openxmlformats.org/drawingml/2006/main" prst="rect">
            <a:avLst/>
          </a:prstGeom>
          <a:solidFill xmlns:a="http://schemas.openxmlformats.org/drawingml/2006/main">
            <a:srgbClr val="F3E6E0"/>
          </a:solidFill>
        </p:spPr>
      </p:sp>
      <p:sp>
        <p:nvSpPr>
          <p:cNvPr id="30" name="Text 28">
            <a:extLst xmlns:a="http://schemas.openxmlformats.org/drawingml/2006/main">
              <a:ext uri="{FF2B5EF4-FFF2-40B4-BE49-F238E27FC236}">
                <a16:creationId xmlns:a16="http://schemas.microsoft.com/office/drawing/2014/main" id="{A61CEE85-39F3-4D2C-AFAD-933A0E53C61A}"/>
              </a:ext>
            </a:extLst>
          </p:cNvPr>
          <p:cNvSpPr>
            <a:spLocks xmlns:a="http://schemas.openxmlformats.org/drawingml/2006/main" noGrp="1"/>
          </p:cNvSpPr>
          <p:nvPr/>
        </p:nvSpPr>
        <p:spPr>
          <a:xfrm xmlns:a="http://schemas.openxmlformats.org/drawingml/2006/main">
            <a:off x="804672" y="6089904"/>
            <a:ext cx="10582351" cy="73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Five questions, filed on time, are worth more to a bid than a hundred additional pages of capability narrative.</a:t>
            </a:r>
            <a:endParaRPr sz="990"/>
          </a:p>
        </p:txBody>
      </p:sp>
      <p:sp>
        <p:nvSpPr>
          <p:cNvPr id="31" name="Shape 29">
            <a:extLst xmlns:a="http://schemas.openxmlformats.org/drawingml/2006/main">
              <a:ext uri="{FF2B5EF4-FFF2-40B4-BE49-F238E27FC236}">
                <a16:creationId xmlns:a16="http://schemas.microsoft.com/office/drawing/2014/main" id="{1868F6D0-F409-48CF-8005-D4C47194A91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2" name="Text 30">
            <a:extLst xmlns:a="http://schemas.openxmlformats.org/drawingml/2006/main">
              <a:ext uri="{FF2B5EF4-FFF2-40B4-BE49-F238E27FC236}">
                <a16:creationId xmlns:a16="http://schemas.microsoft.com/office/drawing/2014/main" id="{C194806E-DBB2-4419-8147-FDEEA570311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bid analysis, prepared for leadership review</a:t>
            </a:r>
            <a:endParaRPr sz="850"/>
          </a:p>
        </p:txBody>
      </p:sp>
      <p:sp>
        <p:nvSpPr>
          <p:cNvPr id="33" name="Text 31">
            <a:extLst xmlns:a="http://schemas.openxmlformats.org/drawingml/2006/main">
              <a:ext uri="{FF2B5EF4-FFF2-40B4-BE49-F238E27FC236}">
                <a16:creationId xmlns:a16="http://schemas.microsoft.com/office/drawing/2014/main" id="{C22EC750-5B82-4D41-8088-2A8CFE1CD4C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260344665"/>
      </p:ext>
    </p:extLst>
  </p:cSld>
</p:sld>
</file>

<file path=ppt/slides/slide9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88E45DC-B75F-4209-AD34-B2A5DD7D213A}"/>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4B4BC4CB-FE2C-4161-90E6-E7FD7B0DC12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reading any large competitive tender</a:t>
            </a:r>
            <a:endParaRPr sz="1900"/>
          </a:p>
        </p:txBody>
      </p:sp>
      <p:sp>
        <p:nvSpPr>
          <p:cNvPr id="4" name="Text 2">
            <a:extLst xmlns:a="http://schemas.openxmlformats.org/drawingml/2006/main">
              <a:ext uri="{FF2B5EF4-FFF2-40B4-BE49-F238E27FC236}">
                <a16:creationId xmlns:a16="http://schemas.microsoft.com/office/drawing/2014/main" id="{A359FB00-841F-4A88-8D12-752386ADDBFA}"/>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E9BB4E14-3649-4BCC-A6BC-C3FE1C7A84D2}"/>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Score the gates in the first afternoon</a:t>
            </a:r>
            <a:endParaRPr sz="1200"/>
          </a:p>
        </p:txBody>
      </p:sp>
      <p:sp>
        <p:nvSpPr>
          <p:cNvPr id="6" name="Text 4">
            <a:extLst xmlns:a="http://schemas.openxmlformats.org/drawingml/2006/main">
              <a:ext uri="{FF2B5EF4-FFF2-40B4-BE49-F238E27FC236}">
                <a16:creationId xmlns:a16="http://schemas.microsoft.com/office/drawing/2014/main" id="{E60BE109-ECB7-41E2-AAA3-7C06D9EA9AC2}"/>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Pass/fail criteria are the cheapest part of the document to assess and the only part effort cannot change. Assess them before a bid team is stood up, not after three weeks of writing.</a:t>
            </a:r>
            <a:endParaRPr sz="1000"/>
          </a:p>
        </p:txBody>
      </p:sp>
      <p:sp>
        <p:nvSpPr>
          <p:cNvPr id="7" name="Shape 5">
            <a:extLst xmlns:a="http://schemas.openxmlformats.org/drawingml/2006/main">
              <a:ext uri="{FF2B5EF4-FFF2-40B4-BE49-F238E27FC236}">
                <a16:creationId xmlns:a16="http://schemas.microsoft.com/office/drawing/2014/main" id="{6C350AE4-3E86-4AE6-ABB8-643D665B7C11}"/>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CB44DC6F-0D7B-4C70-B7D4-419749E71EC2}"/>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5AC63229-8CA5-4E3B-8890-4144BC79C8E5}"/>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Reconstruct the scoring sheet before writing</a:t>
            </a:r>
            <a:endParaRPr sz="1200"/>
          </a:p>
        </p:txBody>
      </p:sp>
      <p:sp>
        <p:nvSpPr>
          <p:cNvPr id="10" name="Text 8">
            <a:extLst xmlns:a="http://schemas.openxmlformats.org/drawingml/2006/main">
              <a:ext uri="{FF2B5EF4-FFF2-40B4-BE49-F238E27FC236}">
                <a16:creationId xmlns:a16="http://schemas.microsoft.com/office/drawing/2014/main" id="{19D0EC62-8534-46C2-8221-27370944682E}"/>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Marks are unevenly distributed and a large share is usually fixed by countable history. Effort should follow winnable marks, not page count or requirement count.</a:t>
            </a:r>
            <a:endParaRPr sz="1000"/>
          </a:p>
        </p:txBody>
      </p:sp>
      <p:sp>
        <p:nvSpPr>
          <p:cNvPr id="11" name="Shape 9">
            <a:extLst xmlns:a="http://schemas.openxmlformats.org/drawingml/2006/main">
              <a:ext uri="{FF2B5EF4-FFF2-40B4-BE49-F238E27FC236}">
                <a16:creationId xmlns:a16="http://schemas.microsoft.com/office/drawing/2014/main" id="{A20A66C0-1084-431F-875C-0E5CE3B9C0F8}"/>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27F4CF25-3E2B-49BB-84EB-F258116A971E}"/>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932A59F9-C5A3-4206-9539-EFD89C5BDF14}"/>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Hunt the contradictions</a:t>
            </a:r>
            <a:endParaRPr sz="1200"/>
          </a:p>
        </p:txBody>
      </p:sp>
      <p:sp>
        <p:nvSpPr>
          <p:cNvPr id="14" name="Text 12">
            <a:extLst xmlns:a="http://schemas.openxmlformats.org/drawingml/2006/main">
              <a:ext uri="{FF2B5EF4-FFF2-40B4-BE49-F238E27FC236}">
                <a16:creationId xmlns:a16="http://schemas.microsoft.com/office/drawing/2014/main" id="{C07C9211-E84B-49AC-B762-9D3BC7995BB0}"/>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Large documents are written by several people. Where two published requirements cannot both be optimised for, the clarification is free before the deadline and expensive after award.</a:t>
            </a:r>
            <a:endParaRPr sz="1000"/>
          </a:p>
        </p:txBody>
      </p:sp>
      <p:sp>
        <p:nvSpPr>
          <p:cNvPr id="15" name="Shape 13">
            <a:extLst xmlns:a="http://schemas.openxmlformats.org/drawingml/2006/main">
              <a:ext uri="{FF2B5EF4-FFF2-40B4-BE49-F238E27FC236}">
                <a16:creationId xmlns:a16="http://schemas.microsoft.com/office/drawing/2014/main" id="{016CA911-77D7-482F-B68E-A5805F432F45}"/>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2967D50E-E896-460D-9CFB-79E5182133EF}"/>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8243B847-629F-4554-BB8C-ADD7BF3B8502}"/>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Score yourself before you argue</a:t>
            </a:r>
            <a:endParaRPr sz="1200"/>
          </a:p>
        </p:txBody>
      </p:sp>
      <p:sp>
        <p:nvSpPr>
          <p:cNvPr id="18" name="Text 16">
            <a:extLst xmlns:a="http://schemas.openxmlformats.org/drawingml/2006/main">
              <a:ext uri="{FF2B5EF4-FFF2-40B4-BE49-F238E27FC236}">
                <a16:creationId xmlns:a16="http://schemas.microsoft.com/office/drawing/2014/main" id="{E0F8BEB5-16BC-4FFC-A110-8C8675C684DC}"/>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self-assessment against the published sheet turns a capability debate into arithmetic — and shows in week one whether the gap is a writing problem or a partnering decision.</a:t>
            </a:r>
            <a:endParaRPr sz="1000"/>
          </a:p>
        </p:txBody>
      </p:sp>
      <p:sp>
        <p:nvSpPr>
          <p:cNvPr id="19" name="Shape 17">
            <a:extLst xmlns:a="http://schemas.openxmlformats.org/drawingml/2006/main">
              <a:ext uri="{FF2B5EF4-FFF2-40B4-BE49-F238E27FC236}">
                <a16:creationId xmlns:a16="http://schemas.microsoft.com/office/drawing/2014/main" id="{F480E495-92BF-410B-BED4-3FA06BE8FAEA}"/>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E56D0A4C-5E33-4E80-AC94-EFDC9F60BFFF}"/>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method is four passes in a fixed order: gates, marks, contradictions, price. Reversing the order is how bid teams spend their most expensive weeks on a response they were never permitted to submit.</a:t>
            </a:r>
            <a:endParaRPr sz="1200"/>
          </a:p>
        </p:txBody>
      </p:sp>
      <p:sp>
        <p:nvSpPr>
          <p:cNvPr id="21" name="Shape 19">
            <a:extLst xmlns:a="http://schemas.openxmlformats.org/drawingml/2006/main">
              <a:ext uri="{FF2B5EF4-FFF2-40B4-BE49-F238E27FC236}">
                <a16:creationId xmlns:a16="http://schemas.microsoft.com/office/drawing/2014/main" id="{BA3DFA5A-BE05-4FA5-966F-F6542BDED38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49CBC87D-9283-4D8C-BFD4-30D418C03E7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bid analysis, prepared for leadership review</a:t>
            </a:r>
            <a:endParaRPr sz="850"/>
          </a:p>
        </p:txBody>
      </p:sp>
      <p:sp>
        <p:nvSpPr>
          <p:cNvPr id="23" name="Text 21">
            <a:extLst xmlns:a="http://schemas.openxmlformats.org/drawingml/2006/main">
              <a:ext uri="{FF2B5EF4-FFF2-40B4-BE49-F238E27FC236}">
                <a16:creationId xmlns:a16="http://schemas.microsoft.com/office/drawing/2014/main" id="{6F8D3434-9855-4AB8-A853-A7CDF40B394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11</a:t>
            </a:r>
            <a:endParaRPr sz="850"/>
          </a:p>
        </p:txBody>
      </p:sp>
    </p:spTree>
    <p:extLst>
      <p:ext uri="{BB962C8B-B14F-4D97-AF65-F5344CB8AC3E}">
        <p14:creationId xmlns:p14="http://schemas.microsoft.com/office/powerpoint/2010/main" val="249491142"/>
      </p:ext>
    </p:extLst>
  </p:cSld>
</p:sld>
</file>

<file path=ppt/slides/slide96.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BD4CBE3-D596-4294-A249-47BCE97382F9}"/>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PROGRAMME DESIGN  ·  06 OF 30</a:t>
            </a:r>
            <a:endParaRPr sz="950"/>
          </a:p>
        </p:txBody>
      </p:sp>
      <p:sp>
        <p:nvSpPr>
          <p:cNvPr id="3" name="Text 1">
            <a:extLst xmlns:a="http://schemas.openxmlformats.org/drawingml/2006/main">
              <a:ext uri="{FF2B5EF4-FFF2-40B4-BE49-F238E27FC236}">
                <a16:creationId xmlns:a16="http://schemas.microsoft.com/office/drawing/2014/main" id="{8BB3F395-19E9-46E8-A68A-CA72AE3031FD}"/>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Enterprise AI Use-Case Programme</a:t>
            </a:r>
            <a:endParaRPr sz="3800"/>
          </a:p>
        </p:txBody>
      </p:sp>
      <p:sp>
        <p:nvSpPr>
          <p:cNvPr id="4" name="Text 2">
            <a:extLst xmlns:a="http://schemas.openxmlformats.org/drawingml/2006/main">
              <a:ext uri="{FF2B5EF4-FFF2-40B4-BE49-F238E27FC236}">
                <a16:creationId xmlns:a16="http://schemas.microsoft.com/office/drawing/2014/main" id="{2A283BD8-4065-46CE-A08D-CC3E2662F715}"/>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Seventy-five use cases in three years — designing a programme that survives contact with delivery</a:t>
            </a:r>
            <a:endParaRPr sz="1800"/>
          </a:p>
        </p:txBody>
      </p:sp>
      <p:sp>
        <p:nvSpPr>
          <p:cNvPr id="5" name="Text 3">
            <a:extLst xmlns:a="http://schemas.openxmlformats.org/drawingml/2006/main">
              <a:ext uri="{FF2B5EF4-FFF2-40B4-BE49-F238E27FC236}">
                <a16:creationId xmlns:a16="http://schemas.microsoft.com/office/drawing/2014/main" id="{69D60578-CD68-4A4E-9B6C-6F035F839927}"/>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Most enterprise AI programmes are scoped as a use-case count and a timeline. That is not a design. This is the arithmetic, the wave structure and the governance that decide whether the number is achievable.</a:t>
            </a:r>
            <a:endParaRPr sz="1150"/>
          </a:p>
        </p:txBody>
      </p:sp>
      <p:sp>
        <p:nvSpPr>
          <p:cNvPr id="6" name="Shape 4">
            <a:extLst xmlns:a="http://schemas.openxmlformats.org/drawingml/2006/main">
              <a:ext uri="{FF2B5EF4-FFF2-40B4-BE49-F238E27FC236}">
                <a16:creationId xmlns:a16="http://schemas.microsoft.com/office/drawing/2014/main" id="{E58B9288-1F3D-4A71-B2AF-1D28F1F31E6B}"/>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6E1810B5-D239-4C0A-9EDB-700125F8521A}"/>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~75</a:t>
            </a:r>
            <a:endParaRPr sz="2600"/>
          </a:p>
        </p:txBody>
      </p:sp>
      <p:sp>
        <p:nvSpPr>
          <p:cNvPr id="8" name="Text 6">
            <a:extLst xmlns:a="http://schemas.openxmlformats.org/drawingml/2006/main">
              <a:ext uri="{FF2B5EF4-FFF2-40B4-BE49-F238E27FC236}">
                <a16:creationId xmlns:a16="http://schemas.microsoft.com/office/drawing/2014/main" id="{A5C71220-8A4D-49C5-96C4-79A04811EF22}"/>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use cases to deliver</a:t>
            </a:r>
            <a:endParaRPr sz="900"/>
          </a:p>
        </p:txBody>
      </p:sp>
      <p:sp>
        <p:nvSpPr>
          <p:cNvPr id="9" name="Text 7">
            <a:extLst xmlns:a="http://schemas.openxmlformats.org/drawingml/2006/main">
              <a:ext uri="{FF2B5EF4-FFF2-40B4-BE49-F238E27FC236}">
                <a16:creationId xmlns:a16="http://schemas.microsoft.com/office/drawing/2014/main" id="{F7A544E0-F4E6-40BD-9485-8213C3EE6660}"/>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27</a:t>
            </a:r>
            <a:endParaRPr sz="2600"/>
          </a:p>
        </p:txBody>
      </p:sp>
      <p:sp>
        <p:nvSpPr>
          <p:cNvPr id="10" name="Text 8">
            <a:extLst xmlns:a="http://schemas.openxmlformats.org/drawingml/2006/main">
              <a:ext uri="{FF2B5EF4-FFF2-40B4-BE49-F238E27FC236}">
                <a16:creationId xmlns:a16="http://schemas.microsoft.com/office/drawing/2014/main" id="{7ADCBD89-0FB9-4EAC-986F-96CF998FB4E5}"/>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published as indicative</a:t>
            </a:r>
            <a:endParaRPr sz="900"/>
          </a:p>
        </p:txBody>
      </p:sp>
      <p:sp>
        <p:nvSpPr>
          <p:cNvPr id="11" name="Text 9">
            <a:extLst xmlns:a="http://schemas.openxmlformats.org/drawingml/2006/main">
              <a:ext uri="{FF2B5EF4-FFF2-40B4-BE49-F238E27FC236}">
                <a16:creationId xmlns:a16="http://schemas.microsoft.com/office/drawing/2014/main" id="{9FB64444-AEFD-4920-9FC1-68355CCC991B}"/>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12" name="Text 10">
            <a:extLst xmlns:a="http://schemas.openxmlformats.org/drawingml/2006/main">
              <a:ext uri="{FF2B5EF4-FFF2-40B4-BE49-F238E27FC236}">
                <a16:creationId xmlns:a16="http://schemas.microsoft.com/office/drawing/2014/main" id="{F7897717-85BE-4ACE-B090-5AE94F0A1AB2}"/>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banking domains</a:t>
            </a:r>
            <a:endParaRPr sz="900"/>
          </a:p>
        </p:txBody>
      </p:sp>
      <p:sp>
        <p:nvSpPr>
          <p:cNvPr id="13" name="Text 11">
            <a:extLst xmlns:a="http://schemas.openxmlformats.org/drawingml/2006/main">
              <a:ext uri="{FF2B5EF4-FFF2-40B4-BE49-F238E27FC236}">
                <a16:creationId xmlns:a16="http://schemas.microsoft.com/office/drawing/2014/main" id="{006CB733-1065-48E5-AB5D-09A74A3C1AAE}"/>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4" name="Text 12">
            <a:extLst xmlns:a="http://schemas.openxmlformats.org/drawingml/2006/main">
              <a:ext uri="{FF2B5EF4-FFF2-40B4-BE49-F238E27FC236}">
                <a16:creationId xmlns:a16="http://schemas.microsoft.com/office/drawing/2014/main" id="{97D694E8-35C2-4D6F-AB07-CA87C736664E}"/>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delivery waves</a:t>
            </a:r>
            <a:endParaRPr sz="900"/>
          </a:p>
        </p:txBody>
      </p:sp>
      <p:sp>
        <p:nvSpPr>
          <p:cNvPr id="15" name="Text 13">
            <a:extLst xmlns:a="http://schemas.openxmlformats.org/drawingml/2006/main">
              <a:ext uri="{FF2B5EF4-FFF2-40B4-BE49-F238E27FC236}">
                <a16:creationId xmlns:a16="http://schemas.microsoft.com/office/drawing/2014/main" id="{3A06FCFB-53B9-4670-8AAE-278F192B0E43}"/>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6" name="Text 14">
            <a:extLst xmlns:a="http://schemas.openxmlformats.org/drawingml/2006/main">
              <a:ext uri="{FF2B5EF4-FFF2-40B4-BE49-F238E27FC236}">
                <a16:creationId xmlns:a16="http://schemas.microsoft.com/office/drawing/2014/main" id="{F1F74D8E-48FB-4DB2-9226-486259549332}"/>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showcase use cases</a:t>
            </a:r>
            <a:endParaRPr sz="900"/>
          </a:p>
        </p:txBody>
      </p:sp>
      <p:sp>
        <p:nvSpPr>
          <p:cNvPr id="17" name="Text 15">
            <a:extLst xmlns:a="http://schemas.openxmlformats.org/drawingml/2006/main">
              <a:ext uri="{FF2B5EF4-FFF2-40B4-BE49-F238E27FC236}">
                <a16:creationId xmlns:a16="http://schemas.microsoft.com/office/drawing/2014/main" id="{50B91017-7902-433F-9F1E-E081896A7325}"/>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150–200</a:t>
            </a:r>
            <a:endParaRPr sz="2600"/>
          </a:p>
        </p:txBody>
      </p:sp>
      <p:sp>
        <p:nvSpPr>
          <p:cNvPr id="18" name="Text 16">
            <a:extLst xmlns:a="http://schemas.openxmlformats.org/drawingml/2006/main">
              <a:ext uri="{FF2B5EF4-FFF2-40B4-BE49-F238E27FC236}">
                <a16:creationId xmlns:a16="http://schemas.microsoft.com/office/drawing/2014/main" id="{1C190898-E1C2-41AA-8768-DD18A939A605}"/>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staff to train</a:t>
            </a:r>
            <a:endParaRPr sz="900"/>
          </a:p>
        </p:txBody>
      </p:sp>
      <p:sp>
        <p:nvSpPr>
          <p:cNvPr id="19" name="Shape 17">
            <a:extLst xmlns:a="http://schemas.openxmlformats.org/drawingml/2006/main">
              <a:ext uri="{FF2B5EF4-FFF2-40B4-BE49-F238E27FC236}">
                <a16:creationId xmlns:a16="http://schemas.microsoft.com/office/drawing/2014/main" id="{8C3F8203-F763-4625-8FB6-118D14EEC90E}"/>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DD8C3E1E-F52C-48B4-AEE0-48D9F31AA4B2}"/>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PROGRAMME PARAMETERS  ·  PUBLISHED IN THE TENDER SCOPE OF WORK</a:t>
            </a:r>
            <a:endParaRPr sz="800"/>
          </a:p>
        </p:txBody>
      </p:sp>
      <p:sp>
        <p:nvSpPr>
          <p:cNvPr id="21" name="Text 19">
            <a:extLst xmlns:a="http://schemas.openxmlformats.org/drawingml/2006/main">
              <a:ext uri="{FF2B5EF4-FFF2-40B4-BE49-F238E27FC236}">
                <a16:creationId xmlns:a16="http://schemas.microsoft.com/office/drawing/2014/main" id="{03F05D22-22EC-46BA-BED3-CDB69BD68A80}"/>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Production-grade, not pilots    ·    co-delivered with bank teams    ·    independent QA at one per three developers    ·    full capability transfer in three years</a:t>
            </a:r>
            <a:endParaRPr sz="1050"/>
          </a:p>
        </p:txBody>
      </p:sp>
      <p:sp>
        <p:nvSpPr>
          <p:cNvPr id="22" name="Text 20">
            <a:extLst xmlns:a="http://schemas.openxmlformats.org/drawingml/2006/main">
              <a:ext uri="{FF2B5EF4-FFF2-40B4-BE49-F238E27FC236}">
                <a16:creationId xmlns:a16="http://schemas.microsoft.com/office/drawing/2014/main" id="{BADC0224-64AB-4E80-BCC1-22B6D43AAAA0}"/>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Programme-design analysis authored for solution and bid strategy  ·  2026</a:t>
            </a:r>
            <a:endParaRPr sz="1200"/>
          </a:p>
        </p:txBody>
      </p:sp>
      <p:sp>
        <p:nvSpPr>
          <p:cNvPr id="23" name="Text 21">
            <a:extLst xmlns:a="http://schemas.openxmlformats.org/drawingml/2006/main">
              <a:ext uri="{FF2B5EF4-FFF2-40B4-BE49-F238E27FC236}">
                <a16:creationId xmlns:a16="http://schemas.microsoft.com/office/drawing/2014/main" id="{0E034726-D2AA-45A1-9C6A-E6832948050A}"/>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Bank, vendor and platform names removed. Built from published tender documents; effort and complexity models are explicitly illustrative.</a:t>
            </a:r>
            <a:endParaRPr sz="850"/>
          </a:p>
        </p:txBody>
      </p:sp>
    </p:spTree>
    <p:extLst>
      <p:ext uri="{BB962C8B-B14F-4D97-AF65-F5344CB8AC3E}">
        <p14:creationId xmlns:p14="http://schemas.microsoft.com/office/powerpoint/2010/main" val="251900700"/>
      </p:ext>
    </p:extLst>
  </p:cSld>
</p:sld>
</file>

<file path=ppt/slides/slide9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400379-7D4E-433B-BFAE-1E582B348FE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0230C97D-28C6-44CE-9CDC-F94A7AA6505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Seventy-five use cases is a procurement number — the delivery question is the mix,</a:t>
            </a:r>
            <a:endParaRPr sz="1900"/>
          </a:p>
          <a:p xmlns:a="http://schemas.openxmlformats.org/drawingml/2006/main">
            <a:pPr marL="0" indent="0">
              <a:lnSpc>
                <a:spcPts val="2400"/>
              </a:lnSpc>
              <a:buNone/>
            </a:pPr>
            <a:r>
              <a:rPr sz="1900" b="1">
                <a:solidFill>
                  <a:srgbClr val="102A43"/>
                </a:solidFill>
                <a:latin typeface="Arial"/>
                <a:ea typeface="Arial"/>
                <a:cs typeface="Arial"/>
              </a:rPr>
              <a:t>the wave structure and who is capable of running it at the end</a:t>
            </a:r>
            <a:endParaRPr sz="1900"/>
          </a:p>
        </p:txBody>
      </p:sp>
      <p:sp>
        <p:nvSpPr>
          <p:cNvPr id="4" name="Shape 2">
            <a:extLst xmlns:a="http://schemas.openxmlformats.org/drawingml/2006/main">
              <a:ext uri="{FF2B5EF4-FFF2-40B4-BE49-F238E27FC236}">
                <a16:creationId xmlns:a16="http://schemas.microsoft.com/office/drawing/2014/main" id="{10D041E6-DC5A-4543-8EDB-BFB9C1D09A05}"/>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7673B291-CD33-4379-A532-F33619CC1CC1}"/>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5FB59CAC-067E-41D2-9176-230B7EC148E2}"/>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three-year programme to deliver roughly seventy-five GenAI, agentic and machine-learning use cases across five banking domains, on a platform being built in parallel.</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Twenty-seven are published as indicative. The rest will be identified by the bank in waves.</a:t>
            </a:r>
            <a:endParaRPr sz="980"/>
          </a:p>
        </p:txBody>
      </p:sp>
      <p:sp>
        <p:nvSpPr>
          <p:cNvPr id="7" name="Shape 5">
            <a:extLst xmlns:a="http://schemas.openxmlformats.org/drawingml/2006/main">
              <a:ext uri="{FF2B5EF4-FFF2-40B4-BE49-F238E27FC236}">
                <a16:creationId xmlns:a16="http://schemas.microsoft.com/office/drawing/2014/main" id="{22E4D7F1-73AF-4432-BFDE-70DAAA389368}"/>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FF70F8DE-97B6-4987-B1A9-0BA21BEA945A}"/>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2840980D-2E9E-4449-A97D-F83877A79545}"/>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Three things make the number harder than it looks. The use cases are not equivalent — an enterprise RAG build and a policy-search assistant differ by an order of magnitude. The delivery window is shorter than the volume implies. And they must be co-delivered, which is slower than delivering them yourself.</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 programme priced on an average use case is priced on a use case that does not exist.</a:t>
            </a:r>
            <a:endParaRPr sz="980"/>
          </a:p>
        </p:txBody>
      </p:sp>
      <p:sp>
        <p:nvSpPr>
          <p:cNvPr id="10" name="Shape 8">
            <a:extLst xmlns:a="http://schemas.openxmlformats.org/drawingml/2006/main">
              <a:ext uri="{FF2B5EF4-FFF2-40B4-BE49-F238E27FC236}">
                <a16:creationId xmlns:a16="http://schemas.microsoft.com/office/drawing/2014/main" id="{5E7B672D-770F-4E9D-A507-D5259639239E}"/>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51B6827F-B192-4FFF-80D0-07322E0D3E5E}"/>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design</a:t>
            </a:r>
            <a:endParaRPr sz="1250"/>
          </a:p>
        </p:txBody>
      </p:sp>
      <p:sp>
        <p:nvSpPr>
          <p:cNvPr id="12" name="Text 10">
            <a:extLst xmlns:a="http://schemas.openxmlformats.org/drawingml/2006/main">
              <a:ext uri="{FF2B5EF4-FFF2-40B4-BE49-F238E27FC236}">
                <a16:creationId xmlns:a16="http://schemas.microsoft.com/office/drawing/2014/main" id="{2206DCE1-1515-4807-BCF7-EC7A4B1EB1FD}"/>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Size by complexity tier, not by count. Structure the waves so the platform is proven by the first, and the bank's own teams are leading by the third.</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Then make capability transfer a delivery constraint with its own acceptance criteria — not a training line item at the end.</a:t>
            </a:r>
            <a:endParaRPr sz="980"/>
          </a:p>
        </p:txBody>
      </p:sp>
      <p:sp>
        <p:nvSpPr>
          <p:cNvPr id="13" name="Text 11">
            <a:extLst xmlns:a="http://schemas.openxmlformats.org/drawingml/2006/main">
              <a:ext uri="{FF2B5EF4-FFF2-40B4-BE49-F238E27FC236}">
                <a16:creationId xmlns:a16="http://schemas.microsoft.com/office/drawing/2014/main" id="{B55AC31E-5B5E-4005-B899-182CA59532B4}"/>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57B1C3C7-2112-4B90-BEFF-CEF8BBE230E5}"/>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E8DA5F6A-37C0-4F4E-9D5D-94638D2F738D}"/>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~75</a:t>
            </a:r>
            <a:endParaRPr sz="2100"/>
          </a:p>
        </p:txBody>
      </p:sp>
      <p:sp>
        <p:nvSpPr>
          <p:cNvPr id="16" name="Text 14">
            <a:extLst xmlns:a="http://schemas.openxmlformats.org/drawingml/2006/main">
              <a:ext uri="{FF2B5EF4-FFF2-40B4-BE49-F238E27FC236}">
                <a16:creationId xmlns:a16="http://schemas.microsoft.com/office/drawing/2014/main" id="{23EDF77A-F51E-4503-BC01-A1DACD5F63B1}"/>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use cases in scope</a:t>
            </a:r>
            <a:endParaRPr sz="860"/>
          </a:p>
        </p:txBody>
      </p:sp>
      <p:sp>
        <p:nvSpPr>
          <p:cNvPr id="17" name="Shape 15">
            <a:extLst xmlns:a="http://schemas.openxmlformats.org/drawingml/2006/main">
              <a:ext uri="{FF2B5EF4-FFF2-40B4-BE49-F238E27FC236}">
                <a16:creationId xmlns:a16="http://schemas.microsoft.com/office/drawing/2014/main" id="{256A7450-48B2-405B-96A8-347015B061E4}"/>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B7EFE6E5-B9FB-49F7-9C0B-8FE12B7CC927}"/>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9" name="Text 17">
            <a:extLst xmlns:a="http://schemas.openxmlformats.org/drawingml/2006/main">
              <a:ext uri="{FF2B5EF4-FFF2-40B4-BE49-F238E27FC236}">
                <a16:creationId xmlns:a16="http://schemas.microsoft.com/office/drawing/2014/main" id="{37EDA51E-CE87-444A-AC80-F86A4ADECDDC}"/>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complexity tiers</a:t>
            </a:r>
            <a:endParaRPr sz="860"/>
          </a:p>
        </p:txBody>
      </p:sp>
      <p:sp>
        <p:nvSpPr>
          <p:cNvPr id="20" name="Shape 18">
            <a:extLst xmlns:a="http://schemas.openxmlformats.org/drawingml/2006/main">
              <a:ext uri="{FF2B5EF4-FFF2-40B4-BE49-F238E27FC236}">
                <a16:creationId xmlns:a16="http://schemas.microsoft.com/office/drawing/2014/main" id="{F910FE82-5FEB-47E4-905D-A3B21B9096B4}"/>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FBF21D7E-AF4E-4DD5-A080-57D2011214CD}"/>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22" name="Text 20">
            <a:extLst xmlns:a="http://schemas.openxmlformats.org/drawingml/2006/main">
              <a:ext uri="{FF2B5EF4-FFF2-40B4-BE49-F238E27FC236}">
                <a16:creationId xmlns:a16="http://schemas.microsoft.com/office/drawing/2014/main" id="{DC76044D-E9AD-4B5B-BAF6-69EAE3C1EC2A}"/>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waves over 3 years</a:t>
            </a:r>
            <a:endParaRPr sz="860"/>
          </a:p>
        </p:txBody>
      </p:sp>
      <p:sp>
        <p:nvSpPr>
          <p:cNvPr id="23" name="Shape 21">
            <a:extLst xmlns:a="http://schemas.openxmlformats.org/drawingml/2006/main">
              <a:ext uri="{FF2B5EF4-FFF2-40B4-BE49-F238E27FC236}">
                <a16:creationId xmlns:a16="http://schemas.microsoft.com/office/drawing/2014/main" id="{20DF46F2-4E5F-4334-A9FA-B8007DEA7381}"/>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03A7AB0C-CDFD-4906-96B3-2D9ADDA5A0A1}"/>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1:3</a:t>
            </a:r>
            <a:endParaRPr sz="2100"/>
          </a:p>
        </p:txBody>
      </p:sp>
      <p:sp>
        <p:nvSpPr>
          <p:cNvPr id="25" name="Text 23">
            <a:extLst xmlns:a="http://schemas.openxmlformats.org/drawingml/2006/main">
              <a:ext uri="{FF2B5EF4-FFF2-40B4-BE49-F238E27FC236}">
                <a16:creationId xmlns:a16="http://schemas.microsoft.com/office/drawing/2014/main" id="{7479C4FD-EFD0-4A3C-BB57-1CF9663BEDE1}"/>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QA to developer ratio</a:t>
            </a:r>
            <a:endParaRPr sz="860"/>
          </a:p>
        </p:txBody>
      </p:sp>
      <p:sp>
        <p:nvSpPr>
          <p:cNvPr id="26" name="Shape 24">
            <a:extLst xmlns:a="http://schemas.openxmlformats.org/drawingml/2006/main">
              <a:ext uri="{FF2B5EF4-FFF2-40B4-BE49-F238E27FC236}">
                <a16:creationId xmlns:a16="http://schemas.microsoft.com/office/drawing/2014/main" id="{D494E5B2-6094-45DC-BCD3-BC06E5008F3F}"/>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EEFA3C22-9B7D-4822-ABFA-04A57D3C043F}"/>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8" name="Text 26">
            <a:extLst xmlns:a="http://schemas.openxmlformats.org/drawingml/2006/main">
              <a:ext uri="{FF2B5EF4-FFF2-40B4-BE49-F238E27FC236}">
                <a16:creationId xmlns:a16="http://schemas.microsoft.com/office/drawing/2014/main" id="{8C3A35FB-AE9D-42EB-9BD7-50A029817816}"/>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showcase demonstrations</a:t>
            </a:r>
            <a:endParaRPr sz="860"/>
          </a:p>
        </p:txBody>
      </p:sp>
      <p:sp>
        <p:nvSpPr>
          <p:cNvPr id="29" name="Shape 27">
            <a:extLst xmlns:a="http://schemas.openxmlformats.org/drawingml/2006/main">
              <a:ext uri="{FF2B5EF4-FFF2-40B4-BE49-F238E27FC236}">
                <a16:creationId xmlns:a16="http://schemas.microsoft.com/office/drawing/2014/main" id="{D722B5C3-5E08-40A1-8E7B-38BC1CEA1257}"/>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B3F211B7-35E7-4D7C-BA71-66D56F10AFEF}"/>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100%</a:t>
            </a:r>
            <a:endParaRPr sz="2100"/>
          </a:p>
        </p:txBody>
      </p:sp>
      <p:sp>
        <p:nvSpPr>
          <p:cNvPr id="31" name="Text 29">
            <a:extLst xmlns:a="http://schemas.openxmlformats.org/drawingml/2006/main">
              <a:ext uri="{FF2B5EF4-FFF2-40B4-BE49-F238E27FC236}">
                <a16:creationId xmlns:a16="http://schemas.microsoft.com/office/drawing/2014/main" id="{F5DCD124-E5AA-442C-9A6D-94C26A9032F8}"/>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training completion, twice</a:t>
            </a:r>
            <a:endParaRPr sz="860"/>
          </a:p>
        </p:txBody>
      </p:sp>
      <p:sp>
        <p:nvSpPr>
          <p:cNvPr id="32" name="Text 30">
            <a:extLst xmlns:a="http://schemas.openxmlformats.org/drawingml/2006/main">
              <a:ext uri="{FF2B5EF4-FFF2-40B4-BE49-F238E27FC236}">
                <a16:creationId xmlns:a16="http://schemas.microsoft.com/office/drawing/2014/main" id="{AC3C063A-68A3-4C3B-9F87-15121F3ED6E9}"/>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central claim:  a use-case programme fails on mix and transfer, not on technology. Sizing by count produces a plan that is wrong on day one; sizing by complexity tier and designing the exit from the start produces one that survives.</a:t>
            </a:r>
            <a:endParaRPr sz="1000"/>
          </a:p>
        </p:txBody>
      </p:sp>
      <p:sp>
        <p:nvSpPr>
          <p:cNvPr id="33" name="Shape 31">
            <a:extLst xmlns:a="http://schemas.openxmlformats.org/drawingml/2006/main">
              <a:ext uri="{FF2B5EF4-FFF2-40B4-BE49-F238E27FC236}">
                <a16:creationId xmlns:a16="http://schemas.microsoft.com/office/drawing/2014/main" id="{1720C24D-B563-486C-BAEB-10318671F2B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17F59A9B-5F25-44AD-838F-CE2DE48E6A4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programme-design analysis</a:t>
            </a:r>
            <a:endParaRPr sz="850"/>
          </a:p>
        </p:txBody>
      </p:sp>
      <p:sp>
        <p:nvSpPr>
          <p:cNvPr id="35" name="Text 33">
            <a:extLst xmlns:a="http://schemas.openxmlformats.org/drawingml/2006/main">
              <a:ext uri="{FF2B5EF4-FFF2-40B4-BE49-F238E27FC236}">
                <a16:creationId xmlns:a16="http://schemas.microsoft.com/office/drawing/2014/main" id="{CA310C1C-04A9-443E-8085-2EF5510392DC}"/>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522605237"/>
      </p:ext>
    </p:extLst>
  </p:cSld>
</p:sld>
</file>

<file path=ppt/slides/slide9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05FC6E-6DA1-4B3C-84C7-DA239EDD934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E24ADB52-4CCC-4A83-83A7-C39D319913C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Programme parameters are published; the sizing models are explicitly illustrative</a:t>
            </a:r>
            <a:endParaRPr sz="1900"/>
          </a:p>
          <a:p xmlns:a="http://schemas.openxmlformats.org/drawingml/2006/main">
            <a:pPr marL="0" indent="0">
              <a:lnSpc>
                <a:spcPts val="2400"/>
              </a:lnSpc>
              <a:buNone/>
            </a:pPr>
            <a:r>
              <a:rPr sz="1900" b="1">
                <a:solidFill>
                  <a:srgbClr val="102A43"/>
                </a:solidFill>
                <a:latin typeface="Arial"/>
                <a:ea typeface="Arial"/>
                <a:cs typeface="Arial"/>
              </a:rPr>
              <a:t>and exist to show the method rather than to state a result</a:t>
            </a:r>
            <a:endParaRPr sz="1900"/>
          </a:p>
        </p:txBody>
      </p:sp>
      <p:sp>
        <p:nvSpPr>
          <p:cNvPr id="4" name="Shape 2">
            <a:extLst xmlns:a="http://schemas.openxmlformats.org/drawingml/2006/main">
              <a:ext uri="{FF2B5EF4-FFF2-40B4-BE49-F238E27FC236}">
                <a16:creationId xmlns:a16="http://schemas.microsoft.com/office/drawing/2014/main" id="{D7246BA9-DDF3-4D3C-9956-3D699DBB8221}"/>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C5C1E396-D9C5-4719-9D27-27DB711D3862}"/>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297DDF9E-DA6A-4243-84A5-BA3C33EA3922}"/>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TENDER DOCUMENTS</a:t>
            </a:r>
            <a:endParaRPr sz="740"/>
          </a:p>
        </p:txBody>
      </p:sp>
      <p:sp>
        <p:nvSpPr>
          <p:cNvPr id="7" name="Text 5">
            <a:extLst xmlns:a="http://schemas.openxmlformats.org/drawingml/2006/main">
              <a:ext uri="{FF2B5EF4-FFF2-40B4-BE49-F238E27FC236}">
                <a16:creationId xmlns:a16="http://schemas.microsoft.com/office/drawing/2014/main" id="{6E9A725E-A8C6-49F0-9160-499730A1D054}"/>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Published context</a:t>
            </a:r>
            <a:endParaRPr sz="1200"/>
          </a:p>
        </p:txBody>
      </p:sp>
      <p:sp>
        <p:nvSpPr>
          <p:cNvPr id="8" name="Text 6">
            <a:extLst xmlns:a="http://schemas.openxmlformats.org/drawingml/2006/main">
              <a:ext uri="{FF2B5EF4-FFF2-40B4-BE49-F238E27FC236}">
                <a16:creationId xmlns:a16="http://schemas.microsoft.com/office/drawing/2014/main" id="{8010D74C-3699-49D0-8048-7319ABF147E7}"/>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Scope, volumes, domains and delivery obligations as published in the tender and pre-bid minutes.</a:t>
            </a:r>
            <a:endParaRPr sz="920"/>
          </a:p>
        </p:txBody>
      </p:sp>
      <p:sp>
        <p:nvSpPr>
          <p:cNvPr id="9" name="Shape 7">
            <a:extLst xmlns:a="http://schemas.openxmlformats.org/drawingml/2006/main">
              <a:ext uri="{FF2B5EF4-FFF2-40B4-BE49-F238E27FC236}">
                <a16:creationId xmlns:a16="http://schemas.microsoft.com/office/drawing/2014/main" id="{41EF7C1F-2287-41D1-B741-DE9C5E25ACB7}"/>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6D8563AE-81BC-41DC-B0DA-9D407A838E23}"/>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~75 use cases over three years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27 indicative, across 5 domains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3 named showcase use cases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Wave structure and milestones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QA ratio and red-team cadence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Training and transfer obligations</a:t>
            </a:r>
            <a:endParaRPr sz="930"/>
          </a:p>
        </p:txBody>
      </p:sp>
      <p:sp>
        <p:nvSpPr>
          <p:cNvPr id="11" name="Shape 9">
            <a:extLst xmlns:a="http://schemas.openxmlformats.org/drawingml/2006/main">
              <a:ext uri="{FF2B5EF4-FFF2-40B4-BE49-F238E27FC236}">
                <a16:creationId xmlns:a16="http://schemas.microsoft.com/office/drawing/2014/main" id="{B02CEA79-D0FB-42A4-A7D5-5E5EA4DB7210}"/>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AA08F6E9-EE3C-400C-B485-20191F71D8D2}"/>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D2242039-AF38-4D87-8D2E-2F451952871E}"/>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PROGRAMME DESIGN</a:t>
            </a:r>
            <a:endParaRPr sz="740"/>
          </a:p>
        </p:txBody>
      </p:sp>
      <p:sp>
        <p:nvSpPr>
          <p:cNvPr id="14" name="Text 12">
            <a:extLst xmlns:a="http://schemas.openxmlformats.org/drawingml/2006/main">
              <a:ext uri="{FF2B5EF4-FFF2-40B4-BE49-F238E27FC236}">
                <a16:creationId xmlns:a16="http://schemas.microsoft.com/office/drawing/2014/main" id="{C2194E47-8BE5-4C98-8CEA-4857F5C769A3}"/>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D3DD97BE-B2CF-4EDE-9CDD-4C25C731B643}"/>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complexity tiering, wave design, resourcing arithmetic and transfer-as-constraint argument.</a:t>
            </a:r>
            <a:endParaRPr sz="920"/>
          </a:p>
        </p:txBody>
      </p:sp>
      <p:sp>
        <p:nvSpPr>
          <p:cNvPr id="16" name="Shape 14">
            <a:extLst xmlns:a="http://schemas.openxmlformats.org/drawingml/2006/main">
              <a:ext uri="{FF2B5EF4-FFF2-40B4-BE49-F238E27FC236}">
                <a16:creationId xmlns:a16="http://schemas.microsoft.com/office/drawing/2014/main" id="{31803782-FDF6-4A35-B165-9D70995BCB9A}"/>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D6570FA9-7FBA-473B-853D-36DCF1BBFA52}"/>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Three-tier complexity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Wave sequencing logic</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Resourcing arithmetic and the gap</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Capability-transfer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Governance and acceptance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Applied to live enterprise bids</a:t>
            </a:r>
            <a:endParaRPr sz="930"/>
          </a:p>
        </p:txBody>
      </p:sp>
      <p:sp>
        <p:nvSpPr>
          <p:cNvPr id="18" name="Shape 16">
            <a:extLst xmlns:a="http://schemas.openxmlformats.org/drawingml/2006/main">
              <a:ext uri="{FF2B5EF4-FFF2-40B4-BE49-F238E27FC236}">
                <a16:creationId xmlns:a16="http://schemas.microsoft.com/office/drawing/2014/main" id="{03A0FA18-D8BD-4BCC-B448-A43346DA3143}"/>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20E79BC7-C815-4E7C-9B98-E5E3D0D76CE5}"/>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72D19311-077C-427B-B44F-0C6514FDB253}"/>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49CEDCF1-7154-4576-B048-6EEEF4648736}"/>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A949AE4F-5E77-4741-8D6D-B0DC56E525DE}"/>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Effort, mix and throughput figures used to demonstrate the arithmetic. Directional, not measured.</a:t>
            </a:r>
            <a:endParaRPr sz="920"/>
          </a:p>
        </p:txBody>
      </p:sp>
      <p:sp>
        <p:nvSpPr>
          <p:cNvPr id="23" name="Shape 21">
            <a:extLst xmlns:a="http://schemas.openxmlformats.org/drawingml/2006/main">
              <a:ext uri="{FF2B5EF4-FFF2-40B4-BE49-F238E27FC236}">
                <a16:creationId xmlns:a16="http://schemas.microsoft.com/office/drawing/2014/main" id="{255884DF-D439-420C-8BE2-6165C6779457}"/>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C8FAFAEF-3037-4BBB-A4E3-52063CDFD811}"/>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Effort per complexity tier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Mix assumption across 75</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Throughput and pod maths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Wave capacity curve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programme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9308AA05-931A-4E5A-A2CE-79792274542F}"/>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5B203B39-487D-40E3-8754-2B3F8B531875}"/>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F1811C49-48D8-4757-9836-BDA0B78070CF}"/>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E64D4220-26D1-43DE-B4B2-C9BA717F0427}"/>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FA1BADF6-25DA-4972-9EF4-3F152F407A3D}"/>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This is a design method, not a bid response and not a delivery record.</a:t>
            </a:r>
            <a:endParaRPr sz="920"/>
          </a:p>
        </p:txBody>
      </p:sp>
      <p:sp>
        <p:nvSpPr>
          <p:cNvPr id="30" name="Shape 28">
            <a:extLst xmlns:a="http://schemas.openxmlformats.org/drawingml/2006/main">
              <a:ext uri="{FF2B5EF4-FFF2-40B4-BE49-F238E27FC236}">
                <a16:creationId xmlns:a16="http://schemas.microsoft.com/office/drawing/2014/main" id="{BA4F2273-8366-4465-9EE7-34D6DA824512}"/>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FA5A0A3A-681D-4FA8-98B0-F852D84DF5E3}"/>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employer's bid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of this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pricing or rate assumption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assessment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tender outcome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client-identifying detail</a:t>
            </a:r>
            <a:endParaRPr sz="930"/>
          </a:p>
        </p:txBody>
      </p:sp>
      <p:sp>
        <p:nvSpPr>
          <p:cNvPr id="32" name="Shape 30">
            <a:extLst xmlns:a="http://schemas.openxmlformats.org/drawingml/2006/main">
              <a:ext uri="{FF2B5EF4-FFF2-40B4-BE49-F238E27FC236}">
                <a16:creationId xmlns:a16="http://schemas.microsoft.com/office/drawing/2014/main" id="{A24D399D-885F-4F9B-857C-5595065D628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8F002DDE-29A4-467A-97E2-D94576681D6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tender documents (context) · author's programme-design analysis (models and rules)</a:t>
            </a:r>
            <a:endParaRPr sz="850"/>
          </a:p>
        </p:txBody>
      </p:sp>
      <p:sp>
        <p:nvSpPr>
          <p:cNvPr id="34" name="Text 32">
            <a:extLst xmlns:a="http://schemas.openxmlformats.org/drawingml/2006/main">
              <a:ext uri="{FF2B5EF4-FFF2-40B4-BE49-F238E27FC236}">
                <a16:creationId xmlns:a16="http://schemas.microsoft.com/office/drawing/2014/main" id="{94C22DC6-34F7-41A6-8F62-B35AF1A395B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220642361"/>
      </p:ext>
    </p:extLst>
  </p:cSld>
</p:sld>
</file>

<file path=ppt/slides/slide9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465BDE-4E11-457E-9A6F-8741D49E5D5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PORTFOLIO</a:t>
            </a:r>
            <a:endParaRPr sz="950"/>
          </a:p>
        </p:txBody>
      </p:sp>
      <p:sp>
        <p:nvSpPr>
          <p:cNvPr id="3" name="Text 1">
            <a:extLst xmlns:a="http://schemas.openxmlformats.org/drawingml/2006/main">
              <a:ext uri="{FF2B5EF4-FFF2-40B4-BE49-F238E27FC236}">
                <a16:creationId xmlns:a16="http://schemas.microsoft.com/office/drawing/2014/main" id="{E4872490-BA22-45A5-9BA0-70D905A8D3B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Twenty-seven indicative use cases across five domains — and the domains differ far</a:t>
            </a:r>
            <a:endParaRPr sz="1900"/>
          </a:p>
          <a:p xmlns:a="http://schemas.openxmlformats.org/drawingml/2006/main">
            <a:pPr marL="0" indent="0">
              <a:lnSpc>
                <a:spcPts val="2400"/>
              </a:lnSpc>
              <a:buNone/>
            </a:pPr>
            <a:r>
              <a:rPr sz="1900" b="1">
                <a:solidFill>
                  <a:srgbClr val="102A43"/>
                </a:solidFill>
                <a:latin typeface="Arial"/>
                <a:ea typeface="Arial"/>
                <a:cs typeface="Arial"/>
              </a:rPr>
              <a:t>more in delivery difficulty than the count suggests</a:t>
            </a:r>
            <a:endParaRPr sz="1900"/>
          </a:p>
        </p:txBody>
      </p:sp>
      <p:sp>
        <p:nvSpPr>
          <p:cNvPr id="4" name="Shape 2">
            <a:extLst xmlns:a="http://schemas.openxmlformats.org/drawingml/2006/main">
              <a:ext uri="{FF2B5EF4-FFF2-40B4-BE49-F238E27FC236}">
                <a16:creationId xmlns:a16="http://schemas.microsoft.com/office/drawing/2014/main" id="{ED12E206-9407-4067-A297-7FB71ECFD890}"/>
              </a:ext>
            </a:extLst>
          </p:cNvPr>
          <p:cNvSpPr>
            <a:spLocks xmlns:a="http://schemas.openxmlformats.org/drawingml/2006/main" noGrp="1"/>
          </p:cNvSpPr>
          <p:nvPr/>
        </p:nvSpPr>
        <p:spPr>
          <a:xfrm xmlns:a="http://schemas.openxmlformats.org/drawingml/2006/main">
            <a:off x="566928" y="1335024"/>
            <a:ext cx="2094525" cy="237744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5465C094-2E0F-4F3A-8DB5-903A46481AF3}"/>
              </a:ext>
            </a:extLst>
          </p:cNvPr>
          <p:cNvSpPr>
            <a:spLocks xmlns:a="http://schemas.openxmlformats.org/drawingml/2006/main" noGrp="1"/>
          </p:cNvSpPr>
          <p:nvPr/>
        </p:nvSpPr>
        <p:spPr>
          <a:xfrm xmlns:a="http://schemas.openxmlformats.org/drawingml/2006/main">
            <a:off x="749808"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Credit lifecycle</a:t>
            </a:r>
            <a:endParaRPr sz="1000"/>
          </a:p>
          <a:p xmlns:a="http://schemas.openxmlformats.org/drawingml/2006/main">
            <a:pPr marL="0" indent="0">
              <a:lnSpc>
                <a:spcPts val="1200"/>
              </a:lnSpc>
              <a:buNone/>
            </a:pPr>
            <a:r>
              <a:rPr sz="1000" b="1">
                <a:solidFill>
                  <a:srgbClr val="B04A25"/>
                </a:solidFill>
                <a:latin typeface="Arial"/>
                <a:ea typeface="Arial"/>
                <a:cs typeface="Arial"/>
              </a:rPr>
              <a:t>6 indicative</a:t>
            </a:r>
            <a:endParaRPr sz="1000"/>
          </a:p>
        </p:txBody>
      </p:sp>
      <p:sp>
        <p:nvSpPr>
          <p:cNvPr id="6" name="Shape 4">
            <a:extLst xmlns:a="http://schemas.openxmlformats.org/drawingml/2006/main">
              <a:ext uri="{FF2B5EF4-FFF2-40B4-BE49-F238E27FC236}">
                <a16:creationId xmlns:a16="http://schemas.microsoft.com/office/drawing/2014/main" id="{C7D828C8-A174-4EDE-BF84-BA055EF9E076}"/>
              </a:ext>
            </a:extLst>
          </p:cNvPr>
          <p:cNvSpPr>
            <a:spLocks xmlns:a="http://schemas.openxmlformats.org/drawingml/2006/main" noGrp="1"/>
          </p:cNvSpPr>
          <p:nvPr/>
        </p:nvSpPr>
        <p:spPr>
          <a:xfrm xmlns:a="http://schemas.openxmlformats.org/drawingml/2006/main">
            <a:off x="749808" y="1956816"/>
            <a:ext cx="1728765" cy="20117"/>
          </a:xfrm>
          <a:prstGeom xmlns:a="http://schemas.openxmlformats.org/drawingml/2006/main" prst="rect">
            <a:avLst/>
          </a:prstGeom>
          <a:solidFill xmlns:a="http://schemas.openxmlformats.org/drawingml/2006/main">
            <a:srgbClr val="B04A25"/>
          </a:solidFill>
        </p:spPr>
      </p:sp>
      <p:sp>
        <p:nvSpPr>
          <p:cNvPr id="7" name="Text 5">
            <a:extLst xmlns:a="http://schemas.openxmlformats.org/drawingml/2006/main">
              <a:ext uri="{FF2B5EF4-FFF2-40B4-BE49-F238E27FC236}">
                <a16:creationId xmlns:a16="http://schemas.microsoft.com/office/drawing/2014/main" id="{6D3CFF6E-68CF-4B36-8C13-47155866EDC4}"/>
              </a:ext>
            </a:extLst>
          </p:cNvPr>
          <p:cNvSpPr>
            <a:spLocks xmlns:a="http://schemas.openxmlformats.org/drawingml/2006/main" noGrp="1"/>
          </p:cNvSpPr>
          <p:nvPr/>
        </p:nvSpPr>
        <p:spPr>
          <a:xfrm xmlns:a="http://schemas.openxmlformats.org/drawingml/2006/main">
            <a:off x="749808"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Underwriting support</a:t>
            </a:r>
            <a:endParaRPr sz="900"/>
          </a:p>
        </p:txBody>
      </p:sp>
      <p:sp>
        <p:nvSpPr>
          <p:cNvPr id="8" name="Text 6">
            <a:extLst xmlns:a="http://schemas.openxmlformats.org/drawingml/2006/main">
              <a:ext uri="{FF2B5EF4-FFF2-40B4-BE49-F238E27FC236}">
                <a16:creationId xmlns:a16="http://schemas.microsoft.com/office/drawing/2014/main" id="{ADDC6B5F-C0AD-47E3-B78D-8FA984B01320}"/>
              </a:ext>
            </a:extLst>
          </p:cNvPr>
          <p:cNvSpPr>
            <a:spLocks xmlns:a="http://schemas.openxmlformats.org/drawingml/2006/main" noGrp="1"/>
          </p:cNvSpPr>
          <p:nvPr/>
        </p:nvSpPr>
        <p:spPr>
          <a:xfrm xmlns:a="http://schemas.openxmlformats.org/drawingml/2006/main">
            <a:off x="749808"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Risk assessment</a:t>
            </a:r>
            <a:endParaRPr sz="900"/>
          </a:p>
        </p:txBody>
      </p:sp>
      <p:sp>
        <p:nvSpPr>
          <p:cNvPr id="9" name="Text 7">
            <a:extLst xmlns:a="http://schemas.openxmlformats.org/drawingml/2006/main">
              <a:ext uri="{FF2B5EF4-FFF2-40B4-BE49-F238E27FC236}">
                <a16:creationId xmlns:a16="http://schemas.microsoft.com/office/drawing/2014/main" id="{B1D9181B-35B6-42BB-BB0E-C89B72CF84D6}"/>
              </a:ext>
            </a:extLst>
          </p:cNvPr>
          <p:cNvSpPr>
            <a:spLocks xmlns:a="http://schemas.openxmlformats.org/drawingml/2006/main" noGrp="1"/>
          </p:cNvSpPr>
          <p:nvPr/>
        </p:nvSpPr>
        <p:spPr>
          <a:xfrm xmlns:a="http://schemas.openxmlformats.org/drawingml/2006/main">
            <a:off x="749808"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Credit scoring</a:t>
            </a:r>
            <a:endParaRPr sz="900"/>
          </a:p>
        </p:txBody>
      </p:sp>
      <p:sp>
        <p:nvSpPr>
          <p:cNvPr id="10" name="Text 8">
            <a:extLst xmlns:a="http://schemas.openxmlformats.org/drawingml/2006/main">
              <a:ext uri="{FF2B5EF4-FFF2-40B4-BE49-F238E27FC236}">
                <a16:creationId xmlns:a16="http://schemas.microsoft.com/office/drawing/2014/main" id="{E7AFA85A-8E0B-4D2F-A790-29E49404795A}"/>
              </a:ext>
            </a:extLst>
          </p:cNvPr>
          <p:cNvSpPr>
            <a:spLocks xmlns:a="http://schemas.openxmlformats.org/drawingml/2006/main" noGrp="1"/>
          </p:cNvSpPr>
          <p:nvPr/>
        </p:nvSpPr>
        <p:spPr>
          <a:xfrm xmlns:a="http://schemas.openxmlformats.org/drawingml/2006/main">
            <a:off x="749808"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Collections optimisation</a:t>
            </a:r>
            <a:endParaRPr sz="900"/>
          </a:p>
        </p:txBody>
      </p:sp>
      <p:sp>
        <p:nvSpPr>
          <p:cNvPr id="11" name="Text 9">
            <a:extLst xmlns:a="http://schemas.openxmlformats.org/drawingml/2006/main">
              <a:ext uri="{FF2B5EF4-FFF2-40B4-BE49-F238E27FC236}">
                <a16:creationId xmlns:a16="http://schemas.microsoft.com/office/drawing/2014/main" id="{C56DEC4C-527C-42B9-891F-E0BBB52AF3A6}"/>
              </a:ext>
            </a:extLst>
          </p:cNvPr>
          <p:cNvSpPr>
            <a:spLocks xmlns:a="http://schemas.openxmlformats.org/drawingml/2006/main" noGrp="1"/>
          </p:cNvSpPr>
          <p:nvPr/>
        </p:nvSpPr>
        <p:spPr>
          <a:xfrm xmlns:a="http://schemas.openxmlformats.org/drawingml/2006/main">
            <a:off x="749808" y="287670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Early-warning signals</a:t>
            </a:r>
            <a:endParaRPr sz="900"/>
          </a:p>
        </p:txBody>
      </p:sp>
      <p:sp>
        <p:nvSpPr>
          <p:cNvPr id="12" name="Text 10">
            <a:extLst xmlns:a="http://schemas.openxmlformats.org/drawingml/2006/main">
              <a:ext uri="{FF2B5EF4-FFF2-40B4-BE49-F238E27FC236}">
                <a16:creationId xmlns:a16="http://schemas.microsoft.com/office/drawing/2014/main" id="{33E4042D-6E0E-4A71-AE16-D40FBCFA9E25}"/>
              </a:ext>
            </a:extLst>
          </p:cNvPr>
          <p:cNvSpPr>
            <a:spLocks xmlns:a="http://schemas.openxmlformats.org/drawingml/2006/main" noGrp="1"/>
          </p:cNvSpPr>
          <p:nvPr/>
        </p:nvSpPr>
        <p:spPr>
          <a:xfrm xmlns:a="http://schemas.openxmlformats.org/drawingml/2006/main">
            <a:off x="749808" y="307467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Decision support</a:t>
            </a:r>
            <a:endParaRPr sz="900"/>
          </a:p>
        </p:txBody>
      </p:sp>
      <p:sp>
        <p:nvSpPr>
          <p:cNvPr id="13" name="Shape 11">
            <a:extLst xmlns:a="http://schemas.openxmlformats.org/drawingml/2006/main">
              <a:ext uri="{FF2B5EF4-FFF2-40B4-BE49-F238E27FC236}">
                <a16:creationId xmlns:a16="http://schemas.microsoft.com/office/drawing/2014/main" id="{C2356E34-0BD4-46F0-91AD-B46A1AB0E179}"/>
              </a:ext>
            </a:extLst>
          </p:cNvPr>
          <p:cNvSpPr>
            <a:spLocks xmlns:a="http://schemas.openxmlformats.org/drawingml/2006/main" noGrp="1"/>
          </p:cNvSpPr>
          <p:nvPr/>
        </p:nvSpPr>
        <p:spPr>
          <a:xfrm xmlns:a="http://schemas.openxmlformats.org/drawingml/2006/main">
            <a:off x="2807757" y="1335024"/>
            <a:ext cx="2094525" cy="237744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39EFD74F-93E7-482F-96D3-6C304856F33E}"/>
              </a:ext>
            </a:extLst>
          </p:cNvPr>
          <p:cNvSpPr>
            <a:spLocks xmlns:a="http://schemas.openxmlformats.org/drawingml/2006/main" noGrp="1"/>
          </p:cNvSpPr>
          <p:nvPr/>
        </p:nvSpPr>
        <p:spPr>
          <a:xfrm xmlns:a="http://schemas.openxmlformats.org/drawingml/2006/main">
            <a:off x="2990637"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Risk &amp; compliance</a:t>
            </a:r>
            <a:endParaRPr sz="1000"/>
          </a:p>
          <a:p xmlns:a="http://schemas.openxmlformats.org/drawingml/2006/main">
            <a:pPr marL="0" indent="0">
              <a:lnSpc>
                <a:spcPts val="1200"/>
              </a:lnSpc>
              <a:buNone/>
            </a:pPr>
            <a:r>
              <a:rPr sz="1000" b="1">
                <a:solidFill>
                  <a:srgbClr val="B04A25"/>
                </a:solidFill>
                <a:latin typeface="Arial"/>
                <a:ea typeface="Arial"/>
                <a:cs typeface="Arial"/>
              </a:rPr>
              <a:t>6 indicative</a:t>
            </a:r>
            <a:endParaRPr sz="1000"/>
          </a:p>
        </p:txBody>
      </p:sp>
      <p:sp>
        <p:nvSpPr>
          <p:cNvPr id="15" name="Shape 13">
            <a:extLst xmlns:a="http://schemas.openxmlformats.org/drawingml/2006/main">
              <a:ext uri="{FF2B5EF4-FFF2-40B4-BE49-F238E27FC236}">
                <a16:creationId xmlns:a16="http://schemas.microsoft.com/office/drawing/2014/main" id="{B91B225C-4902-4798-9EB6-30EDD0DC42DA}"/>
              </a:ext>
            </a:extLst>
          </p:cNvPr>
          <p:cNvSpPr>
            <a:spLocks xmlns:a="http://schemas.openxmlformats.org/drawingml/2006/main" noGrp="1"/>
          </p:cNvSpPr>
          <p:nvPr/>
        </p:nvSpPr>
        <p:spPr>
          <a:xfrm xmlns:a="http://schemas.openxmlformats.org/drawingml/2006/main">
            <a:off x="2990637" y="1956816"/>
            <a:ext cx="1728765" cy="20117"/>
          </a:xfrm>
          <a:prstGeom xmlns:a="http://schemas.openxmlformats.org/drawingml/2006/main" prst="rect">
            <a:avLst/>
          </a:prstGeom>
          <a:solidFill xmlns:a="http://schemas.openxmlformats.org/drawingml/2006/main">
            <a:srgbClr val="B04A25"/>
          </a:solidFill>
        </p:spPr>
      </p:sp>
      <p:sp>
        <p:nvSpPr>
          <p:cNvPr id="16" name="Text 14">
            <a:extLst xmlns:a="http://schemas.openxmlformats.org/drawingml/2006/main">
              <a:ext uri="{FF2B5EF4-FFF2-40B4-BE49-F238E27FC236}">
                <a16:creationId xmlns:a16="http://schemas.microsoft.com/office/drawing/2014/main" id="{AD281268-C4D9-48E5-8CE7-7CC9B1981CCD}"/>
              </a:ext>
            </a:extLst>
          </p:cNvPr>
          <p:cNvSpPr>
            <a:spLocks xmlns:a="http://schemas.openxmlformats.org/drawingml/2006/main" noGrp="1"/>
          </p:cNvSpPr>
          <p:nvPr/>
        </p:nvSpPr>
        <p:spPr>
          <a:xfrm xmlns:a="http://schemas.openxmlformats.org/drawingml/2006/main">
            <a:off x="2990637"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Risk monitoring</a:t>
            </a:r>
            <a:endParaRPr sz="900"/>
          </a:p>
        </p:txBody>
      </p:sp>
      <p:sp>
        <p:nvSpPr>
          <p:cNvPr id="17" name="Text 15">
            <a:extLst xmlns:a="http://schemas.openxmlformats.org/drawingml/2006/main">
              <a:ext uri="{FF2B5EF4-FFF2-40B4-BE49-F238E27FC236}">
                <a16:creationId xmlns:a16="http://schemas.microsoft.com/office/drawing/2014/main" id="{D5A49DED-896F-46E1-AF96-6B0CF2DC752F}"/>
              </a:ext>
            </a:extLst>
          </p:cNvPr>
          <p:cNvSpPr>
            <a:spLocks xmlns:a="http://schemas.openxmlformats.org/drawingml/2006/main" noGrp="1"/>
          </p:cNvSpPr>
          <p:nvPr/>
        </p:nvSpPr>
        <p:spPr>
          <a:xfrm xmlns:a="http://schemas.openxmlformats.org/drawingml/2006/main">
            <a:off x="2990637"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Regulatory reporting</a:t>
            </a:r>
            <a:endParaRPr sz="900"/>
          </a:p>
        </p:txBody>
      </p:sp>
      <p:sp>
        <p:nvSpPr>
          <p:cNvPr id="18" name="Text 16">
            <a:extLst xmlns:a="http://schemas.openxmlformats.org/drawingml/2006/main">
              <a:ext uri="{FF2B5EF4-FFF2-40B4-BE49-F238E27FC236}">
                <a16:creationId xmlns:a16="http://schemas.microsoft.com/office/drawing/2014/main" id="{9707C528-DA32-4F19-B4D0-99D3CB6D23AB}"/>
              </a:ext>
            </a:extLst>
          </p:cNvPr>
          <p:cNvSpPr>
            <a:spLocks xmlns:a="http://schemas.openxmlformats.org/drawingml/2006/main" noGrp="1"/>
          </p:cNvSpPr>
          <p:nvPr/>
        </p:nvSpPr>
        <p:spPr>
          <a:xfrm xmlns:a="http://schemas.openxmlformats.org/drawingml/2006/main">
            <a:off x="2990637"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Anti-money-laundering</a:t>
            </a:r>
            <a:endParaRPr sz="900"/>
          </a:p>
        </p:txBody>
      </p:sp>
      <p:sp>
        <p:nvSpPr>
          <p:cNvPr id="19" name="Text 17">
            <a:extLst xmlns:a="http://schemas.openxmlformats.org/drawingml/2006/main">
              <a:ext uri="{FF2B5EF4-FFF2-40B4-BE49-F238E27FC236}">
                <a16:creationId xmlns:a16="http://schemas.microsoft.com/office/drawing/2014/main" id="{F6D97360-86D6-4939-AFB4-3080724E0B75}"/>
              </a:ext>
            </a:extLst>
          </p:cNvPr>
          <p:cNvSpPr>
            <a:spLocks xmlns:a="http://schemas.openxmlformats.org/drawingml/2006/main" noGrp="1"/>
          </p:cNvSpPr>
          <p:nvPr/>
        </p:nvSpPr>
        <p:spPr>
          <a:xfrm xmlns:a="http://schemas.openxmlformats.org/drawingml/2006/main">
            <a:off x="2990637"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Know-your-customer</a:t>
            </a:r>
            <a:endParaRPr sz="900"/>
          </a:p>
        </p:txBody>
      </p:sp>
      <p:sp>
        <p:nvSpPr>
          <p:cNvPr id="20" name="Text 18">
            <a:extLst xmlns:a="http://schemas.openxmlformats.org/drawingml/2006/main">
              <a:ext uri="{FF2B5EF4-FFF2-40B4-BE49-F238E27FC236}">
                <a16:creationId xmlns:a16="http://schemas.microsoft.com/office/drawing/2014/main" id="{0D5CB616-05FF-4B6C-B9D2-99FB8EE64D09}"/>
              </a:ext>
            </a:extLst>
          </p:cNvPr>
          <p:cNvSpPr>
            <a:spLocks xmlns:a="http://schemas.openxmlformats.org/drawingml/2006/main" noGrp="1"/>
          </p:cNvSpPr>
          <p:nvPr/>
        </p:nvSpPr>
        <p:spPr>
          <a:xfrm xmlns:a="http://schemas.openxmlformats.org/drawingml/2006/main">
            <a:off x="2990637" y="287670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Fraud and anomaly</a:t>
            </a:r>
            <a:endParaRPr sz="900"/>
          </a:p>
        </p:txBody>
      </p:sp>
      <p:sp>
        <p:nvSpPr>
          <p:cNvPr id="21" name="Text 19">
            <a:extLst xmlns:a="http://schemas.openxmlformats.org/drawingml/2006/main">
              <a:ext uri="{FF2B5EF4-FFF2-40B4-BE49-F238E27FC236}">
                <a16:creationId xmlns:a16="http://schemas.microsoft.com/office/drawing/2014/main" id="{06E11FEA-0B74-4F46-B8F6-1BEAD487F5F1}"/>
              </a:ext>
            </a:extLst>
          </p:cNvPr>
          <p:cNvSpPr>
            <a:spLocks xmlns:a="http://schemas.openxmlformats.org/drawingml/2006/main" noGrp="1"/>
          </p:cNvSpPr>
          <p:nvPr/>
        </p:nvSpPr>
        <p:spPr>
          <a:xfrm xmlns:a="http://schemas.openxmlformats.org/drawingml/2006/main">
            <a:off x="2990637" y="307467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Surveillance</a:t>
            </a:r>
            <a:endParaRPr sz="900"/>
          </a:p>
        </p:txBody>
      </p:sp>
      <p:sp>
        <p:nvSpPr>
          <p:cNvPr id="22" name="Shape 20">
            <a:extLst xmlns:a="http://schemas.openxmlformats.org/drawingml/2006/main">
              <a:ext uri="{FF2B5EF4-FFF2-40B4-BE49-F238E27FC236}">
                <a16:creationId xmlns:a16="http://schemas.microsoft.com/office/drawing/2014/main" id="{82CDED10-D904-413F-B876-9F084EB7AD60}"/>
              </a:ext>
            </a:extLst>
          </p:cNvPr>
          <p:cNvSpPr>
            <a:spLocks xmlns:a="http://schemas.openxmlformats.org/drawingml/2006/main" noGrp="1"/>
          </p:cNvSpPr>
          <p:nvPr/>
        </p:nvSpPr>
        <p:spPr>
          <a:xfrm xmlns:a="http://schemas.openxmlformats.org/drawingml/2006/main">
            <a:off x="5048585" y="1335024"/>
            <a:ext cx="2094525" cy="2377440"/>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FA871D0B-8FC7-4E92-A44A-2E368C3B4274}"/>
              </a:ext>
            </a:extLst>
          </p:cNvPr>
          <p:cNvSpPr>
            <a:spLocks xmlns:a="http://schemas.openxmlformats.org/drawingml/2006/main" noGrp="1"/>
          </p:cNvSpPr>
          <p:nvPr/>
        </p:nvSpPr>
        <p:spPr>
          <a:xfrm xmlns:a="http://schemas.openxmlformats.org/drawingml/2006/main">
            <a:off x="5231465"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Banking operations</a:t>
            </a:r>
            <a:endParaRPr sz="1000"/>
          </a:p>
          <a:p xmlns:a="http://schemas.openxmlformats.org/drawingml/2006/main">
            <a:pPr marL="0" indent="0">
              <a:lnSpc>
                <a:spcPts val="1200"/>
              </a:lnSpc>
              <a:buNone/>
            </a:pPr>
            <a:r>
              <a:rPr sz="1000" b="1">
                <a:solidFill>
                  <a:srgbClr val="486581"/>
                </a:solidFill>
                <a:latin typeface="Arial"/>
                <a:ea typeface="Arial"/>
                <a:cs typeface="Arial"/>
              </a:rPr>
              <a:t>5 indicative</a:t>
            </a:r>
            <a:endParaRPr sz="1000"/>
          </a:p>
        </p:txBody>
      </p:sp>
      <p:sp>
        <p:nvSpPr>
          <p:cNvPr id="24" name="Shape 22">
            <a:extLst xmlns:a="http://schemas.openxmlformats.org/drawingml/2006/main">
              <a:ext uri="{FF2B5EF4-FFF2-40B4-BE49-F238E27FC236}">
                <a16:creationId xmlns:a16="http://schemas.microsoft.com/office/drawing/2014/main" id="{9BA699BF-FF0B-40CF-A4DE-2D19DF2A8BB6}"/>
              </a:ext>
            </a:extLst>
          </p:cNvPr>
          <p:cNvSpPr>
            <a:spLocks xmlns:a="http://schemas.openxmlformats.org/drawingml/2006/main" noGrp="1"/>
          </p:cNvSpPr>
          <p:nvPr/>
        </p:nvSpPr>
        <p:spPr>
          <a:xfrm xmlns:a="http://schemas.openxmlformats.org/drawingml/2006/main">
            <a:off x="5231465" y="1956816"/>
            <a:ext cx="1728765" cy="20117"/>
          </a:xfrm>
          <a:prstGeom xmlns:a="http://schemas.openxmlformats.org/drawingml/2006/main" prst="rect">
            <a:avLst/>
          </a:prstGeom>
          <a:solidFill xmlns:a="http://schemas.openxmlformats.org/drawingml/2006/main">
            <a:srgbClr val="486581"/>
          </a:solidFill>
        </p:spPr>
      </p:sp>
      <p:sp>
        <p:nvSpPr>
          <p:cNvPr id="25" name="Text 23">
            <a:extLst xmlns:a="http://schemas.openxmlformats.org/drawingml/2006/main">
              <a:ext uri="{FF2B5EF4-FFF2-40B4-BE49-F238E27FC236}">
                <a16:creationId xmlns:a16="http://schemas.microsoft.com/office/drawing/2014/main" id="{DB5A3AB6-E672-436A-9C76-185975E578AA}"/>
              </a:ext>
            </a:extLst>
          </p:cNvPr>
          <p:cNvSpPr>
            <a:spLocks xmlns:a="http://schemas.openxmlformats.org/drawingml/2006/main" noGrp="1"/>
          </p:cNvSpPr>
          <p:nvPr/>
        </p:nvSpPr>
        <p:spPr>
          <a:xfrm xmlns:a="http://schemas.openxmlformats.org/drawingml/2006/main">
            <a:off x="5231465"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Service automation</a:t>
            </a:r>
            <a:endParaRPr sz="900"/>
          </a:p>
        </p:txBody>
      </p:sp>
      <p:sp>
        <p:nvSpPr>
          <p:cNvPr id="26" name="Text 24">
            <a:extLst xmlns:a="http://schemas.openxmlformats.org/drawingml/2006/main">
              <a:ext uri="{FF2B5EF4-FFF2-40B4-BE49-F238E27FC236}">
                <a16:creationId xmlns:a16="http://schemas.microsoft.com/office/drawing/2014/main" id="{127E03CD-C7CB-4EC0-9075-C9FAC365E8E9}"/>
              </a:ext>
            </a:extLst>
          </p:cNvPr>
          <p:cNvSpPr>
            <a:spLocks xmlns:a="http://schemas.openxmlformats.org/drawingml/2006/main" noGrp="1"/>
          </p:cNvSpPr>
          <p:nvPr/>
        </p:nvSpPr>
        <p:spPr>
          <a:xfrm xmlns:a="http://schemas.openxmlformats.org/drawingml/2006/main">
            <a:off x="5231465"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Document processing</a:t>
            </a:r>
            <a:endParaRPr sz="900"/>
          </a:p>
        </p:txBody>
      </p:sp>
      <p:sp>
        <p:nvSpPr>
          <p:cNvPr id="27" name="Text 25">
            <a:extLst xmlns:a="http://schemas.openxmlformats.org/drawingml/2006/main">
              <a:ext uri="{FF2B5EF4-FFF2-40B4-BE49-F238E27FC236}">
                <a16:creationId xmlns:a16="http://schemas.microsoft.com/office/drawing/2014/main" id="{805CE74C-5EA7-478D-9036-1990C119D7D4}"/>
              </a:ext>
            </a:extLst>
          </p:cNvPr>
          <p:cNvSpPr>
            <a:spLocks xmlns:a="http://schemas.openxmlformats.org/drawingml/2006/main" noGrp="1"/>
          </p:cNvSpPr>
          <p:nvPr/>
        </p:nvSpPr>
        <p:spPr>
          <a:xfrm xmlns:a="http://schemas.openxmlformats.org/drawingml/2006/main">
            <a:off x="5231465"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Workflow automation</a:t>
            </a:r>
            <a:endParaRPr sz="900"/>
          </a:p>
        </p:txBody>
      </p:sp>
      <p:sp>
        <p:nvSpPr>
          <p:cNvPr id="28" name="Text 26">
            <a:extLst xmlns:a="http://schemas.openxmlformats.org/drawingml/2006/main">
              <a:ext uri="{FF2B5EF4-FFF2-40B4-BE49-F238E27FC236}">
                <a16:creationId xmlns:a16="http://schemas.microsoft.com/office/drawing/2014/main" id="{FFA9CED6-D018-4782-A8DD-98EC79C52D02}"/>
              </a:ext>
            </a:extLst>
          </p:cNvPr>
          <p:cNvSpPr>
            <a:spLocks xmlns:a="http://schemas.openxmlformats.org/drawingml/2006/main" noGrp="1"/>
          </p:cNvSpPr>
          <p:nvPr/>
        </p:nvSpPr>
        <p:spPr>
          <a:xfrm xmlns:a="http://schemas.openxmlformats.org/drawingml/2006/main">
            <a:off x="5231465"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Exception management</a:t>
            </a:r>
            <a:endParaRPr sz="900"/>
          </a:p>
        </p:txBody>
      </p:sp>
      <p:sp>
        <p:nvSpPr>
          <p:cNvPr id="29" name="Text 27">
            <a:extLst xmlns:a="http://schemas.openxmlformats.org/drawingml/2006/main">
              <a:ext uri="{FF2B5EF4-FFF2-40B4-BE49-F238E27FC236}">
                <a16:creationId xmlns:a16="http://schemas.microsoft.com/office/drawing/2014/main" id="{7F582182-03B2-4828-96A8-846BFADECFD0}"/>
              </a:ext>
            </a:extLst>
          </p:cNvPr>
          <p:cNvSpPr>
            <a:spLocks xmlns:a="http://schemas.openxmlformats.org/drawingml/2006/main" noGrp="1"/>
          </p:cNvSpPr>
          <p:nvPr/>
        </p:nvSpPr>
        <p:spPr>
          <a:xfrm xmlns:a="http://schemas.openxmlformats.org/drawingml/2006/main">
            <a:off x="5231465" y="287670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Process optimisation</a:t>
            </a:r>
            <a:endParaRPr sz="900"/>
          </a:p>
        </p:txBody>
      </p:sp>
      <p:sp>
        <p:nvSpPr>
          <p:cNvPr id="30" name="Shape 28">
            <a:extLst xmlns:a="http://schemas.openxmlformats.org/drawingml/2006/main">
              <a:ext uri="{FF2B5EF4-FFF2-40B4-BE49-F238E27FC236}">
                <a16:creationId xmlns:a16="http://schemas.microsoft.com/office/drawing/2014/main" id="{A21102EC-E11C-4DEA-A371-7CD1994B98AB}"/>
              </a:ext>
            </a:extLst>
          </p:cNvPr>
          <p:cNvSpPr>
            <a:spLocks xmlns:a="http://schemas.openxmlformats.org/drawingml/2006/main" noGrp="1"/>
          </p:cNvSpPr>
          <p:nvPr/>
        </p:nvSpPr>
        <p:spPr>
          <a:xfrm xmlns:a="http://schemas.openxmlformats.org/drawingml/2006/main">
            <a:off x="7289414" y="1335024"/>
            <a:ext cx="2094525" cy="2377440"/>
          </a:xfrm>
          <a:prstGeom xmlns:a="http://schemas.openxmlformats.org/drawingml/2006/main" prst="rect">
            <a:avLst/>
          </a:prstGeom>
          <a:solidFill xmlns:a="http://schemas.openxmlformats.org/drawingml/2006/main">
            <a:srgbClr val="F0F4F8"/>
          </a:solidFill>
        </p:spPr>
      </p:sp>
      <p:sp>
        <p:nvSpPr>
          <p:cNvPr id="31" name="Text 29">
            <a:extLst xmlns:a="http://schemas.openxmlformats.org/drawingml/2006/main">
              <a:ext uri="{FF2B5EF4-FFF2-40B4-BE49-F238E27FC236}">
                <a16:creationId xmlns:a16="http://schemas.microsoft.com/office/drawing/2014/main" id="{6DD72494-AC20-463A-A45E-757A778F50AC}"/>
              </a:ext>
            </a:extLst>
          </p:cNvPr>
          <p:cNvSpPr>
            <a:spLocks xmlns:a="http://schemas.openxmlformats.org/drawingml/2006/main" noGrp="1"/>
          </p:cNvSpPr>
          <p:nvPr/>
        </p:nvSpPr>
        <p:spPr>
          <a:xfrm xmlns:a="http://schemas.openxmlformats.org/drawingml/2006/main">
            <a:off x="7472294"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Technology &amp; IT ops</a:t>
            </a:r>
            <a:endParaRPr sz="1000"/>
          </a:p>
          <a:p xmlns:a="http://schemas.openxmlformats.org/drawingml/2006/main">
            <a:pPr marL="0" indent="0">
              <a:lnSpc>
                <a:spcPts val="1200"/>
              </a:lnSpc>
              <a:buNone/>
            </a:pPr>
            <a:r>
              <a:rPr sz="1000" b="1">
                <a:solidFill>
                  <a:srgbClr val="486581"/>
                </a:solidFill>
                <a:latin typeface="Arial"/>
                <a:ea typeface="Arial"/>
                <a:cs typeface="Arial"/>
              </a:rPr>
              <a:t>5 indicative</a:t>
            </a:r>
            <a:endParaRPr sz="1000"/>
          </a:p>
        </p:txBody>
      </p:sp>
      <p:sp>
        <p:nvSpPr>
          <p:cNvPr id="32" name="Shape 30">
            <a:extLst xmlns:a="http://schemas.openxmlformats.org/drawingml/2006/main">
              <a:ext uri="{FF2B5EF4-FFF2-40B4-BE49-F238E27FC236}">
                <a16:creationId xmlns:a16="http://schemas.microsoft.com/office/drawing/2014/main" id="{7CC03F02-C30C-4593-8B16-A1B7A7DE9AC1}"/>
              </a:ext>
            </a:extLst>
          </p:cNvPr>
          <p:cNvSpPr>
            <a:spLocks xmlns:a="http://schemas.openxmlformats.org/drawingml/2006/main" noGrp="1"/>
          </p:cNvSpPr>
          <p:nvPr/>
        </p:nvSpPr>
        <p:spPr>
          <a:xfrm xmlns:a="http://schemas.openxmlformats.org/drawingml/2006/main">
            <a:off x="7472294" y="1956816"/>
            <a:ext cx="1728765" cy="20117"/>
          </a:xfrm>
          <a:prstGeom xmlns:a="http://schemas.openxmlformats.org/drawingml/2006/main" prst="rect">
            <a:avLst/>
          </a:prstGeom>
          <a:solidFill xmlns:a="http://schemas.openxmlformats.org/drawingml/2006/main">
            <a:srgbClr val="486581"/>
          </a:solidFill>
        </p:spPr>
      </p:sp>
      <p:sp>
        <p:nvSpPr>
          <p:cNvPr id="33" name="Text 31">
            <a:extLst xmlns:a="http://schemas.openxmlformats.org/drawingml/2006/main">
              <a:ext uri="{FF2B5EF4-FFF2-40B4-BE49-F238E27FC236}">
                <a16:creationId xmlns:a16="http://schemas.microsoft.com/office/drawing/2014/main" id="{B9038A95-5589-4D42-B9E5-F34C80FE90D4}"/>
              </a:ext>
            </a:extLst>
          </p:cNvPr>
          <p:cNvSpPr>
            <a:spLocks xmlns:a="http://schemas.openxmlformats.org/drawingml/2006/main" noGrp="1"/>
          </p:cNvSpPr>
          <p:nvPr/>
        </p:nvSpPr>
        <p:spPr>
          <a:xfrm xmlns:a="http://schemas.openxmlformats.org/drawingml/2006/main">
            <a:off x="7472294"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Code assistants</a:t>
            </a:r>
            <a:endParaRPr sz="900"/>
          </a:p>
        </p:txBody>
      </p:sp>
      <p:sp>
        <p:nvSpPr>
          <p:cNvPr id="34" name="Text 32">
            <a:extLst xmlns:a="http://schemas.openxmlformats.org/drawingml/2006/main">
              <a:ext uri="{FF2B5EF4-FFF2-40B4-BE49-F238E27FC236}">
                <a16:creationId xmlns:a16="http://schemas.microsoft.com/office/drawing/2014/main" id="{39CDB100-9D9D-4CC7-9574-3D00EBBAC0F3}"/>
              </a:ext>
            </a:extLst>
          </p:cNvPr>
          <p:cNvSpPr>
            <a:spLocks xmlns:a="http://schemas.openxmlformats.org/drawingml/2006/main" noGrp="1"/>
          </p:cNvSpPr>
          <p:nvPr/>
        </p:nvSpPr>
        <p:spPr>
          <a:xfrm xmlns:a="http://schemas.openxmlformats.org/drawingml/2006/main">
            <a:off x="7472294"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IT operations support</a:t>
            </a:r>
            <a:endParaRPr sz="900"/>
          </a:p>
        </p:txBody>
      </p:sp>
      <p:sp>
        <p:nvSpPr>
          <p:cNvPr id="35" name="Text 33">
            <a:extLst xmlns:a="http://schemas.openxmlformats.org/drawingml/2006/main">
              <a:ext uri="{FF2B5EF4-FFF2-40B4-BE49-F238E27FC236}">
                <a16:creationId xmlns:a16="http://schemas.microsoft.com/office/drawing/2014/main" id="{B082F960-7F77-4015-A855-608976FCAAE6}"/>
              </a:ext>
            </a:extLst>
          </p:cNvPr>
          <p:cNvSpPr>
            <a:spLocks xmlns:a="http://schemas.openxmlformats.org/drawingml/2006/main" noGrp="1"/>
          </p:cNvSpPr>
          <p:nvPr/>
        </p:nvSpPr>
        <p:spPr>
          <a:xfrm xmlns:a="http://schemas.openxmlformats.org/drawingml/2006/main">
            <a:off x="7472294"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Knowledge operations</a:t>
            </a:r>
            <a:endParaRPr sz="900"/>
          </a:p>
        </p:txBody>
      </p:sp>
      <p:sp>
        <p:nvSpPr>
          <p:cNvPr id="36" name="Text 34">
            <a:extLst xmlns:a="http://schemas.openxmlformats.org/drawingml/2006/main">
              <a:ext uri="{FF2B5EF4-FFF2-40B4-BE49-F238E27FC236}">
                <a16:creationId xmlns:a16="http://schemas.microsoft.com/office/drawing/2014/main" id="{5465576A-9DEA-487C-A013-7A17A00FE508}"/>
              </a:ext>
            </a:extLst>
          </p:cNvPr>
          <p:cNvSpPr>
            <a:spLocks xmlns:a="http://schemas.openxmlformats.org/drawingml/2006/main" noGrp="1"/>
          </p:cNvSpPr>
          <p:nvPr/>
        </p:nvSpPr>
        <p:spPr>
          <a:xfrm xmlns:a="http://schemas.openxmlformats.org/drawingml/2006/main">
            <a:off x="7472294"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Incident analysis</a:t>
            </a:r>
            <a:endParaRPr sz="900"/>
          </a:p>
        </p:txBody>
      </p:sp>
      <p:sp>
        <p:nvSpPr>
          <p:cNvPr id="37" name="Text 35">
            <a:extLst xmlns:a="http://schemas.openxmlformats.org/drawingml/2006/main">
              <a:ext uri="{FF2B5EF4-FFF2-40B4-BE49-F238E27FC236}">
                <a16:creationId xmlns:a16="http://schemas.microsoft.com/office/drawing/2014/main" id="{150FB6B5-B8F3-4689-BE7C-C59B2EC9A33A}"/>
              </a:ext>
            </a:extLst>
          </p:cNvPr>
          <p:cNvSpPr>
            <a:spLocks xmlns:a="http://schemas.openxmlformats.org/drawingml/2006/main" noGrp="1"/>
          </p:cNvSpPr>
          <p:nvPr/>
        </p:nvSpPr>
        <p:spPr>
          <a:xfrm xmlns:a="http://schemas.openxmlformats.org/drawingml/2006/main">
            <a:off x="7472294" y="287670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Service automation</a:t>
            </a:r>
            <a:endParaRPr sz="900"/>
          </a:p>
        </p:txBody>
      </p:sp>
      <p:sp>
        <p:nvSpPr>
          <p:cNvPr id="38" name="Shape 36">
            <a:extLst xmlns:a="http://schemas.openxmlformats.org/drawingml/2006/main">
              <a:ext uri="{FF2B5EF4-FFF2-40B4-BE49-F238E27FC236}">
                <a16:creationId xmlns:a16="http://schemas.microsoft.com/office/drawing/2014/main" id="{21E3A6EB-E3DC-4BF9-802D-4374C2C600B0}"/>
              </a:ext>
            </a:extLst>
          </p:cNvPr>
          <p:cNvSpPr>
            <a:spLocks xmlns:a="http://schemas.openxmlformats.org/drawingml/2006/main" noGrp="1"/>
          </p:cNvSpPr>
          <p:nvPr/>
        </p:nvSpPr>
        <p:spPr>
          <a:xfrm xmlns:a="http://schemas.openxmlformats.org/drawingml/2006/main">
            <a:off x="9530243" y="1335024"/>
            <a:ext cx="2094525" cy="2377440"/>
          </a:xfrm>
          <a:prstGeom xmlns:a="http://schemas.openxmlformats.org/drawingml/2006/main" prst="rect">
            <a:avLst/>
          </a:prstGeom>
          <a:solidFill xmlns:a="http://schemas.openxmlformats.org/drawingml/2006/main">
            <a:srgbClr val="F0F4F8"/>
          </a:solidFill>
        </p:spPr>
      </p:sp>
      <p:sp>
        <p:nvSpPr>
          <p:cNvPr id="39" name="Text 37">
            <a:extLst xmlns:a="http://schemas.openxmlformats.org/drawingml/2006/main">
              <a:ext uri="{FF2B5EF4-FFF2-40B4-BE49-F238E27FC236}">
                <a16:creationId xmlns:a16="http://schemas.microsoft.com/office/drawing/2014/main" id="{F5ED0B28-423E-4D33-9348-0568C748C233}"/>
              </a:ext>
            </a:extLst>
          </p:cNvPr>
          <p:cNvSpPr>
            <a:spLocks xmlns:a="http://schemas.openxmlformats.org/drawingml/2006/main" noGrp="1"/>
          </p:cNvSpPr>
          <p:nvPr/>
        </p:nvSpPr>
        <p:spPr>
          <a:xfrm xmlns:a="http://schemas.openxmlformats.org/drawingml/2006/main">
            <a:off x="9713123"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HR &amp; enterprise</a:t>
            </a:r>
            <a:endParaRPr sz="1000"/>
          </a:p>
          <a:p xmlns:a="http://schemas.openxmlformats.org/drawingml/2006/main">
            <a:pPr marL="0" indent="0">
              <a:lnSpc>
                <a:spcPts val="1200"/>
              </a:lnSpc>
              <a:buNone/>
            </a:pPr>
            <a:r>
              <a:rPr sz="1000" b="1">
                <a:solidFill>
                  <a:srgbClr val="486581"/>
                </a:solidFill>
                <a:latin typeface="Arial"/>
                <a:ea typeface="Arial"/>
                <a:cs typeface="Arial"/>
              </a:rPr>
              <a:t>5 indicative</a:t>
            </a:r>
            <a:endParaRPr sz="1000"/>
          </a:p>
        </p:txBody>
      </p:sp>
      <p:sp>
        <p:nvSpPr>
          <p:cNvPr id="40" name="Shape 38">
            <a:extLst xmlns:a="http://schemas.openxmlformats.org/drawingml/2006/main">
              <a:ext uri="{FF2B5EF4-FFF2-40B4-BE49-F238E27FC236}">
                <a16:creationId xmlns:a16="http://schemas.microsoft.com/office/drawing/2014/main" id="{FF0E171E-ECBC-4FA8-977C-BAA887DBF666}"/>
              </a:ext>
            </a:extLst>
          </p:cNvPr>
          <p:cNvSpPr>
            <a:spLocks xmlns:a="http://schemas.openxmlformats.org/drawingml/2006/main" noGrp="1"/>
          </p:cNvSpPr>
          <p:nvPr/>
        </p:nvSpPr>
        <p:spPr>
          <a:xfrm xmlns:a="http://schemas.openxmlformats.org/drawingml/2006/main">
            <a:off x="9713123" y="1956816"/>
            <a:ext cx="1728765" cy="20117"/>
          </a:xfrm>
          <a:prstGeom xmlns:a="http://schemas.openxmlformats.org/drawingml/2006/main" prst="rect">
            <a:avLst/>
          </a:prstGeom>
          <a:solidFill xmlns:a="http://schemas.openxmlformats.org/drawingml/2006/main">
            <a:srgbClr val="486581"/>
          </a:solidFill>
        </p:spPr>
      </p:sp>
      <p:sp>
        <p:nvSpPr>
          <p:cNvPr id="41" name="Text 39">
            <a:extLst xmlns:a="http://schemas.openxmlformats.org/drawingml/2006/main">
              <a:ext uri="{FF2B5EF4-FFF2-40B4-BE49-F238E27FC236}">
                <a16:creationId xmlns:a16="http://schemas.microsoft.com/office/drawing/2014/main" id="{AA784E78-0E48-413C-8DD9-04588300C7D0}"/>
              </a:ext>
            </a:extLst>
          </p:cNvPr>
          <p:cNvSpPr>
            <a:spLocks xmlns:a="http://schemas.openxmlformats.org/drawingml/2006/main" noGrp="1"/>
          </p:cNvSpPr>
          <p:nvPr/>
        </p:nvSpPr>
        <p:spPr>
          <a:xfrm xmlns:a="http://schemas.openxmlformats.org/drawingml/2006/main">
            <a:off x="9713123" y="208483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HR assistant</a:t>
            </a:r>
            <a:endParaRPr sz="900"/>
          </a:p>
        </p:txBody>
      </p:sp>
      <p:sp>
        <p:nvSpPr>
          <p:cNvPr id="42" name="Text 40">
            <a:extLst xmlns:a="http://schemas.openxmlformats.org/drawingml/2006/main">
              <a:ext uri="{FF2B5EF4-FFF2-40B4-BE49-F238E27FC236}">
                <a16:creationId xmlns:a16="http://schemas.microsoft.com/office/drawing/2014/main" id="{CF29537D-E419-4E92-B34A-2D7A84161453}"/>
              </a:ext>
            </a:extLst>
          </p:cNvPr>
          <p:cNvSpPr>
            <a:spLocks xmlns:a="http://schemas.openxmlformats.org/drawingml/2006/main" noGrp="1"/>
          </p:cNvSpPr>
          <p:nvPr/>
        </p:nvSpPr>
        <p:spPr>
          <a:xfrm xmlns:a="http://schemas.openxmlformats.org/drawingml/2006/main">
            <a:off x="9713123" y="2282800"/>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Policy search</a:t>
            </a:r>
            <a:endParaRPr sz="900"/>
          </a:p>
        </p:txBody>
      </p:sp>
      <p:sp>
        <p:nvSpPr>
          <p:cNvPr id="43" name="Text 41">
            <a:extLst xmlns:a="http://schemas.openxmlformats.org/drawingml/2006/main">
              <a:ext uri="{FF2B5EF4-FFF2-40B4-BE49-F238E27FC236}">
                <a16:creationId xmlns:a16="http://schemas.microsoft.com/office/drawing/2014/main" id="{E753B3E7-A805-40C5-A2A4-F9649A5F8B28}"/>
              </a:ext>
            </a:extLst>
          </p:cNvPr>
          <p:cNvSpPr>
            <a:spLocks xmlns:a="http://schemas.openxmlformats.org/drawingml/2006/main" noGrp="1"/>
          </p:cNvSpPr>
          <p:nvPr/>
        </p:nvSpPr>
        <p:spPr>
          <a:xfrm xmlns:a="http://schemas.openxmlformats.org/drawingml/2006/main">
            <a:off x="9713123" y="2480767"/>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Procurement intelligence</a:t>
            </a:r>
            <a:endParaRPr sz="900"/>
          </a:p>
        </p:txBody>
      </p:sp>
      <p:sp>
        <p:nvSpPr>
          <p:cNvPr id="44" name="Text 42">
            <a:extLst xmlns:a="http://schemas.openxmlformats.org/drawingml/2006/main">
              <a:ext uri="{FF2B5EF4-FFF2-40B4-BE49-F238E27FC236}">
                <a16:creationId xmlns:a16="http://schemas.microsoft.com/office/drawing/2014/main" id="{B63114CC-1BB0-4766-9670-19BF2B75306A}"/>
              </a:ext>
            </a:extLst>
          </p:cNvPr>
          <p:cNvSpPr>
            <a:spLocks xmlns:a="http://schemas.openxmlformats.org/drawingml/2006/main" noGrp="1"/>
          </p:cNvSpPr>
          <p:nvPr/>
        </p:nvSpPr>
        <p:spPr>
          <a:xfrm xmlns:a="http://schemas.openxmlformats.org/drawingml/2006/main">
            <a:off x="9713123" y="2678735"/>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Employee knowledge</a:t>
            </a:r>
            <a:endParaRPr sz="900"/>
          </a:p>
        </p:txBody>
      </p:sp>
      <p:sp>
        <p:nvSpPr>
          <p:cNvPr id="45" name="Text 43">
            <a:extLst xmlns:a="http://schemas.openxmlformats.org/drawingml/2006/main">
              <a:ext uri="{FF2B5EF4-FFF2-40B4-BE49-F238E27FC236}">
                <a16:creationId xmlns:a16="http://schemas.microsoft.com/office/drawing/2014/main" id="{1CCDB0CC-C4F5-4535-A32D-D04989DD95B8}"/>
              </a:ext>
            </a:extLst>
          </p:cNvPr>
          <p:cNvSpPr>
            <a:spLocks xmlns:a="http://schemas.openxmlformats.org/drawingml/2006/main" noGrp="1"/>
          </p:cNvSpPr>
          <p:nvPr/>
        </p:nvSpPr>
        <p:spPr>
          <a:xfrm xmlns:a="http://schemas.openxmlformats.org/drawingml/2006/main">
            <a:off x="9713123" y="2876702"/>
            <a:ext cx="1728765" cy="188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15"/>
              </a:lnSpc>
              <a:buNone/>
            </a:pPr>
            <a:r>
              <a:rPr sz="900">
                <a:solidFill>
                  <a:srgbClr val="1A1A1A"/>
                </a:solidFill>
                <a:latin typeface="Arial"/>
                <a:ea typeface="Arial"/>
                <a:cs typeface="Arial"/>
              </a:rPr>
              <a:t>Admin automation</a:t>
            </a:r>
            <a:endParaRPr sz="900"/>
          </a:p>
        </p:txBody>
      </p:sp>
      <p:sp>
        <p:nvSpPr>
          <p:cNvPr id="46" name="Text 44">
            <a:extLst xmlns:a="http://schemas.openxmlformats.org/drawingml/2006/main">
              <a:ext uri="{FF2B5EF4-FFF2-40B4-BE49-F238E27FC236}">
                <a16:creationId xmlns:a16="http://schemas.microsoft.com/office/drawing/2014/main" id="{80284017-8F2B-4F80-B617-9016250409FA}"/>
              </a:ext>
            </a:extLst>
          </p:cNvPr>
          <p:cNvSpPr>
            <a:spLocks xmlns:a="http://schemas.openxmlformats.org/drawingml/2006/main" noGrp="1"/>
          </p:cNvSpPr>
          <p:nvPr/>
        </p:nvSpPr>
        <p:spPr>
          <a:xfrm xmlns:a="http://schemas.openxmlformats.org/drawingml/2006/main">
            <a:off x="566928" y="396849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Where the difficulty concentrates</a:t>
            </a:r>
            <a:endParaRPr sz="1100"/>
          </a:p>
        </p:txBody>
      </p:sp>
      <p:sp>
        <p:nvSpPr>
          <p:cNvPr id="47" name="Shape 45">
            <a:extLst xmlns:a="http://schemas.openxmlformats.org/drawingml/2006/main">
              <a:ext uri="{FF2B5EF4-FFF2-40B4-BE49-F238E27FC236}">
                <a16:creationId xmlns:a16="http://schemas.microsoft.com/office/drawing/2014/main" id="{D18FC375-A431-4266-B700-88A8BAFF847A}"/>
              </a:ext>
            </a:extLst>
          </p:cNvPr>
          <p:cNvSpPr>
            <a:spLocks xmlns:a="http://schemas.openxmlformats.org/drawingml/2006/main" noGrp="1"/>
          </p:cNvSpPr>
          <p:nvPr/>
        </p:nvSpPr>
        <p:spPr>
          <a:xfrm xmlns:a="http://schemas.openxmlformats.org/drawingml/2006/main">
            <a:off x="566928" y="4224528"/>
            <a:ext cx="3551834" cy="20117"/>
          </a:xfrm>
          <a:prstGeom xmlns:a="http://schemas.openxmlformats.org/drawingml/2006/main" prst="rect">
            <a:avLst/>
          </a:prstGeom>
          <a:solidFill xmlns:a="http://schemas.openxmlformats.org/drawingml/2006/main">
            <a:srgbClr val="B04A25"/>
          </a:solidFill>
        </p:spPr>
      </p:sp>
      <p:sp>
        <p:nvSpPr>
          <p:cNvPr id="48" name="Text 46">
            <a:extLst xmlns:a="http://schemas.openxmlformats.org/drawingml/2006/main">
              <a:ext uri="{FF2B5EF4-FFF2-40B4-BE49-F238E27FC236}">
                <a16:creationId xmlns:a16="http://schemas.microsoft.com/office/drawing/2014/main" id="{C39CBB30-7431-4FA4-8027-FC9B2D6F5D1E}"/>
              </a:ext>
            </a:extLst>
          </p:cNvPr>
          <p:cNvSpPr>
            <a:spLocks xmlns:a="http://schemas.openxmlformats.org/drawingml/2006/main" noGrp="1"/>
          </p:cNvSpPr>
          <p:nvPr/>
        </p:nvSpPr>
        <p:spPr>
          <a:xfrm xmlns:a="http://schemas.openxmlformats.org/drawingml/2006/main">
            <a:off x="566928" y="4352544"/>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Credit and risk use cases touch regulated decisions, so every one carries model-risk governance, explainability and audit obligations.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They also need the most sensitive data, which means the longest access approvals.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Twelve of twenty-seven sit in these two domains — nearly half the published portfolio.</a:t>
            </a:r>
            <a:endParaRPr sz="960"/>
          </a:p>
        </p:txBody>
      </p:sp>
      <p:sp>
        <p:nvSpPr>
          <p:cNvPr id="49" name="Text 47">
            <a:extLst xmlns:a="http://schemas.openxmlformats.org/drawingml/2006/main">
              <a:ext uri="{FF2B5EF4-FFF2-40B4-BE49-F238E27FC236}">
                <a16:creationId xmlns:a16="http://schemas.microsoft.com/office/drawing/2014/main" id="{75226E80-8494-44D7-ACA2-3500651580F0}"/>
              </a:ext>
            </a:extLst>
          </p:cNvPr>
          <p:cNvSpPr>
            <a:spLocks xmlns:a="http://schemas.openxmlformats.org/drawingml/2006/main" noGrp="1"/>
          </p:cNvSpPr>
          <p:nvPr/>
        </p:nvSpPr>
        <p:spPr>
          <a:xfrm xmlns:a="http://schemas.openxmlformats.org/drawingml/2006/main">
            <a:off x="4319930" y="396849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Where it is genuinely lighter</a:t>
            </a:r>
            <a:endParaRPr sz="1100"/>
          </a:p>
        </p:txBody>
      </p:sp>
      <p:sp>
        <p:nvSpPr>
          <p:cNvPr id="50" name="Shape 48">
            <a:extLst xmlns:a="http://schemas.openxmlformats.org/drawingml/2006/main">
              <a:ext uri="{FF2B5EF4-FFF2-40B4-BE49-F238E27FC236}">
                <a16:creationId xmlns:a16="http://schemas.microsoft.com/office/drawing/2014/main" id="{BDD11101-69E6-4FF7-8392-0E9AA3826F86}"/>
              </a:ext>
            </a:extLst>
          </p:cNvPr>
          <p:cNvSpPr>
            <a:spLocks xmlns:a="http://schemas.openxmlformats.org/drawingml/2006/main" noGrp="1"/>
          </p:cNvSpPr>
          <p:nvPr/>
        </p:nvSpPr>
        <p:spPr>
          <a:xfrm xmlns:a="http://schemas.openxmlformats.org/drawingml/2006/main">
            <a:off x="4319930" y="4224528"/>
            <a:ext cx="3551834" cy="20117"/>
          </a:xfrm>
          <a:prstGeom xmlns:a="http://schemas.openxmlformats.org/drawingml/2006/main" prst="rect">
            <a:avLst/>
          </a:prstGeom>
          <a:solidFill xmlns:a="http://schemas.openxmlformats.org/drawingml/2006/main">
            <a:srgbClr val="486581"/>
          </a:solidFill>
        </p:spPr>
      </p:sp>
      <p:sp>
        <p:nvSpPr>
          <p:cNvPr id="51" name="Text 49">
            <a:extLst xmlns:a="http://schemas.openxmlformats.org/drawingml/2006/main">
              <a:ext uri="{FF2B5EF4-FFF2-40B4-BE49-F238E27FC236}">
                <a16:creationId xmlns:a16="http://schemas.microsoft.com/office/drawing/2014/main" id="{A16A30AF-D85F-471B-A77D-6E37A8D6DD62}"/>
              </a:ext>
            </a:extLst>
          </p:cNvPr>
          <p:cNvSpPr>
            <a:spLocks xmlns:a="http://schemas.openxmlformats.org/drawingml/2006/main" noGrp="1"/>
          </p:cNvSpPr>
          <p:nvPr/>
        </p:nvSpPr>
        <p:spPr>
          <a:xfrm xmlns:a="http://schemas.openxmlformats.org/drawingml/2006/main">
            <a:off x="4319930" y="4352544"/>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HR, enterprise and IT-operations use cases are mostly retrieval and assistance over internal content.</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They carry real value and low regulatory weight, and they are where a programme can build velocity early.</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Ten of twenty-seven — and they should not be sequenced last.</a:t>
            </a:r>
            <a:endParaRPr sz="960"/>
          </a:p>
        </p:txBody>
      </p:sp>
      <p:sp>
        <p:nvSpPr>
          <p:cNvPr id="52" name="Text 50">
            <a:extLst xmlns:a="http://schemas.openxmlformats.org/drawingml/2006/main">
              <a:ext uri="{FF2B5EF4-FFF2-40B4-BE49-F238E27FC236}">
                <a16:creationId xmlns:a16="http://schemas.microsoft.com/office/drawing/2014/main" id="{69DBD214-D4EA-4B95-A752-E4FE58934EDC}"/>
              </a:ext>
            </a:extLst>
          </p:cNvPr>
          <p:cNvSpPr>
            <a:spLocks xmlns:a="http://schemas.openxmlformats.org/drawingml/2006/main" noGrp="1"/>
          </p:cNvSpPr>
          <p:nvPr/>
        </p:nvSpPr>
        <p:spPr>
          <a:xfrm xmlns:a="http://schemas.openxmlformats.org/drawingml/2006/main">
            <a:off x="8072933" y="396849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The sequencing implication</a:t>
            </a:r>
            <a:endParaRPr sz="1100"/>
          </a:p>
        </p:txBody>
      </p:sp>
      <p:sp>
        <p:nvSpPr>
          <p:cNvPr id="53" name="Shape 51">
            <a:extLst xmlns:a="http://schemas.openxmlformats.org/drawingml/2006/main">
              <a:ext uri="{FF2B5EF4-FFF2-40B4-BE49-F238E27FC236}">
                <a16:creationId xmlns:a16="http://schemas.microsoft.com/office/drawing/2014/main" id="{3A9B58FE-3E9E-4C35-81FD-16DC6D609446}"/>
              </a:ext>
            </a:extLst>
          </p:cNvPr>
          <p:cNvSpPr>
            <a:spLocks xmlns:a="http://schemas.openxmlformats.org/drawingml/2006/main" noGrp="1"/>
          </p:cNvSpPr>
          <p:nvPr/>
        </p:nvSpPr>
        <p:spPr>
          <a:xfrm xmlns:a="http://schemas.openxmlformats.org/drawingml/2006/main">
            <a:off x="8072933" y="4224528"/>
            <a:ext cx="3551834" cy="20117"/>
          </a:xfrm>
          <a:prstGeom xmlns:a="http://schemas.openxmlformats.org/drawingml/2006/main" prst="rect">
            <a:avLst/>
          </a:prstGeom>
          <a:solidFill xmlns:a="http://schemas.openxmlformats.org/drawingml/2006/main">
            <a:srgbClr val="27685A"/>
          </a:solidFill>
        </p:spPr>
      </p:sp>
      <p:sp>
        <p:nvSpPr>
          <p:cNvPr id="54" name="Text 52">
            <a:extLst xmlns:a="http://schemas.openxmlformats.org/drawingml/2006/main">
              <a:ext uri="{FF2B5EF4-FFF2-40B4-BE49-F238E27FC236}">
                <a16:creationId xmlns:a16="http://schemas.microsoft.com/office/drawing/2014/main" id="{FABA190D-7BAC-4EFE-AF28-CEBF552343B4}"/>
              </a:ext>
            </a:extLst>
          </p:cNvPr>
          <p:cNvSpPr>
            <a:spLocks xmlns:a="http://schemas.openxmlformats.org/drawingml/2006/main" noGrp="1"/>
          </p:cNvSpPr>
          <p:nvPr/>
        </p:nvSpPr>
        <p:spPr>
          <a:xfrm xmlns:a="http://schemas.openxmlformats.org/drawingml/2006/main">
            <a:off x="8072933" y="4352544"/>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Lead with the lighter domains to prove the platform, the pipeline and the governance model in production.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Use that proof to earn the data access the credit and risk use cases need.</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Sequencing the hardest domain first is a common and expensive instinct — it stalls the whole programme at the access-approval stage.</a:t>
            </a:r>
            <a:endParaRPr sz="960"/>
          </a:p>
        </p:txBody>
      </p:sp>
      <p:sp>
        <p:nvSpPr>
          <p:cNvPr id="55" name="Shape 53">
            <a:extLst xmlns:a="http://schemas.openxmlformats.org/drawingml/2006/main">
              <a:ext uri="{FF2B5EF4-FFF2-40B4-BE49-F238E27FC236}">
                <a16:creationId xmlns:a16="http://schemas.microsoft.com/office/drawing/2014/main" id="{08B0CFBE-2839-41A8-87D9-B2F64D8CAE3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6" name="Text 54">
            <a:extLst xmlns:a="http://schemas.openxmlformats.org/drawingml/2006/main">
              <a:ext uri="{FF2B5EF4-FFF2-40B4-BE49-F238E27FC236}">
                <a16:creationId xmlns:a16="http://schemas.microsoft.com/office/drawing/2014/main" id="{A0662177-46D9-4000-87AB-26FD7B41F3F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tender scope of work and pre-bid minutes · author's analysis</a:t>
            </a:r>
            <a:endParaRPr sz="850"/>
          </a:p>
        </p:txBody>
      </p:sp>
      <p:sp>
        <p:nvSpPr>
          <p:cNvPr id="57" name="Text 55">
            <a:extLst xmlns:a="http://schemas.openxmlformats.org/drawingml/2006/main">
              <a:ext uri="{FF2B5EF4-FFF2-40B4-BE49-F238E27FC236}">
                <a16:creationId xmlns:a16="http://schemas.microsoft.com/office/drawing/2014/main" id="{3481AB1A-D315-41A5-810D-42F940E0C2C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86304302"/>
      </p:ext>
    </p:extLst>
  </p:cSld>
</p:sld>
</file>

<file path=ppt/slides/slide10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FD39A6-5271-45DD-B205-1CB627D31E8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SIZING</a:t>
            </a:r>
            <a:endParaRPr sz="950"/>
          </a:p>
        </p:txBody>
      </p:sp>
      <p:sp>
        <p:nvSpPr>
          <p:cNvPr id="3" name="Text 1">
            <a:extLst xmlns:a="http://schemas.openxmlformats.org/drawingml/2006/main">
              <a:ext uri="{FF2B5EF4-FFF2-40B4-BE49-F238E27FC236}">
                <a16:creationId xmlns:a16="http://schemas.microsoft.com/office/drawing/2014/main" id="{7CC13D93-ABCF-4E1A-B854-9A6E750392E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complexity tiers differ by roughly an order of magnitude — which is why sizing</a:t>
            </a:r>
            <a:endParaRPr sz="1900"/>
          </a:p>
          <a:p xmlns:a="http://schemas.openxmlformats.org/drawingml/2006/main">
            <a:pPr marL="0" indent="0">
              <a:lnSpc>
                <a:spcPts val="2400"/>
              </a:lnSpc>
              <a:buNone/>
            </a:pPr>
            <a:r>
              <a:rPr sz="1900" b="1">
                <a:solidFill>
                  <a:srgbClr val="102A43"/>
                </a:solidFill>
                <a:latin typeface="Arial"/>
                <a:ea typeface="Arial"/>
                <a:cs typeface="Arial"/>
              </a:rPr>
              <a:t>by use-case count produces a plan that is wrong on day one</a:t>
            </a:r>
            <a:endParaRPr sz="1900"/>
          </a:p>
        </p:txBody>
      </p:sp>
      <p:graphicFrame>
        <p:nvGraphicFramePr>
          <p:cNvPr id="24" name="Chart 0"/>
          <p:cNvGraphicFramePr/>
          <p:nvPr/>
        </p:nvGraphicFramePr>
        <p:xfrm>
          <a:off xmlns:a="http://schemas.openxmlformats.org/drawingml/2006/main" x="566928" y="1426464"/>
          <a:ext xmlns:a="http://schemas.openxmlformats.org/drawingml/2006/main" cx="5120640" cy="2560320"/>
        </p:xfrm>
        <a:graphic xmlns:a="http://schemas.openxmlformats.org/drawingml/2006/main">
          <a:graphicData uri="http://schemas.openxmlformats.org/drawingml/2006/chart">
            <c:chart xmlns:r="http://schemas.openxmlformats.org/officeDocument/2006/relationships" xmlns:c="http://schemas.openxmlformats.org/drawingml/2006/chart" r:id="R5dc58651b20e480f"/>
          </a:graphicData>
        </a:graphic>
      </p:graphicFrame>
      <p:sp>
        <p:nvSpPr>
          <p:cNvPr id="5" name="Text 2">
            <a:extLst xmlns:a="http://schemas.openxmlformats.org/drawingml/2006/main">
              <a:ext uri="{FF2B5EF4-FFF2-40B4-BE49-F238E27FC236}">
                <a16:creationId xmlns:a16="http://schemas.microsoft.com/office/drawing/2014/main" id="{B428DFA6-9C90-4365-A7C0-4A8B7D0BC870}"/>
              </a:ext>
            </a:extLst>
          </p:cNvPr>
          <p:cNvSpPr>
            <a:spLocks xmlns:a="http://schemas.openxmlformats.org/drawingml/2006/main" noGrp="1"/>
          </p:cNvSpPr>
          <p:nvPr/>
        </p:nvSpPr>
        <p:spPr>
          <a:xfrm xmlns:a="http://schemas.openxmlformats.org/drawingml/2006/main">
            <a:off x="566928" y="4059936"/>
            <a:ext cx="5120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effort by tier — the ratio between tiers is the argument, not the absolute values</a:t>
            </a:r>
            <a:endParaRPr sz="880"/>
          </a:p>
        </p:txBody>
      </p:sp>
      <p:sp>
        <p:nvSpPr>
          <p:cNvPr id="6" name="Shape 3">
            <a:extLst xmlns:a="http://schemas.openxmlformats.org/drawingml/2006/main">
              <a:ext uri="{FF2B5EF4-FFF2-40B4-BE49-F238E27FC236}">
                <a16:creationId xmlns:a16="http://schemas.microsoft.com/office/drawing/2014/main" id="{97E0FC9A-E241-4A23-9188-545EE4134EF6}"/>
              </a:ext>
            </a:extLst>
          </p:cNvPr>
          <p:cNvSpPr>
            <a:spLocks xmlns:a="http://schemas.openxmlformats.org/drawingml/2006/main" noGrp="1"/>
          </p:cNvSpPr>
          <p:nvPr/>
        </p:nvSpPr>
        <p:spPr>
          <a:xfrm xmlns:a="http://schemas.openxmlformats.org/drawingml/2006/main">
            <a:off x="6053328" y="1426464"/>
            <a:ext cx="5568696" cy="822960"/>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F2CA34F5-7A9E-4845-8B58-6DFAD97CE84E}"/>
              </a:ext>
            </a:extLst>
          </p:cNvPr>
          <p:cNvSpPr>
            <a:spLocks xmlns:a="http://schemas.openxmlformats.org/drawingml/2006/main" noGrp="1"/>
          </p:cNvSpPr>
          <p:nvPr/>
        </p:nvSpPr>
        <p:spPr>
          <a:xfrm xmlns:a="http://schemas.openxmlformats.org/drawingml/2006/main">
            <a:off x="6254496" y="1545336"/>
            <a:ext cx="5166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Tier 1 · Assisted retrieval</a:t>
            </a:r>
            <a:endParaRPr sz="1100"/>
          </a:p>
        </p:txBody>
      </p:sp>
      <p:sp>
        <p:nvSpPr>
          <p:cNvPr id="8" name="Text 5">
            <a:extLst xmlns:a="http://schemas.openxmlformats.org/drawingml/2006/main">
              <a:ext uri="{FF2B5EF4-FFF2-40B4-BE49-F238E27FC236}">
                <a16:creationId xmlns:a16="http://schemas.microsoft.com/office/drawing/2014/main" id="{56652DA7-F472-435D-9058-394CA414F718}"/>
              </a:ext>
            </a:extLst>
          </p:cNvPr>
          <p:cNvSpPr>
            <a:spLocks xmlns:a="http://schemas.openxmlformats.org/drawingml/2006/main" noGrp="1"/>
          </p:cNvSpPr>
          <p:nvPr/>
        </p:nvSpPr>
        <p:spPr>
          <a:xfrm xmlns:a="http://schemas.openxmlformats.org/drawingml/2006/main">
            <a:off x="6254496" y="1792224"/>
            <a:ext cx="5166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Policy search, knowledge assistance, employee Q&amp;A. Retrieval over internal content with a human reading the answer. No decision is automated.</a:t>
            </a:r>
            <a:endParaRPr sz="930"/>
          </a:p>
        </p:txBody>
      </p:sp>
      <p:sp>
        <p:nvSpPr>
          <p:cNvPr id="9" name="Shape 6">
            <a:extLst xmlns:a="http://schemas.openxmlformats.org/drawingml/2006/main">
              <a:ext uri="{FF2B5EF4-FFF2-40B4-BE49-F238E27FC236}">
                <a16:creationId xmlns:a16="http://schemas.microsoft.com/office/drawing/2014/main" id="{09120ECC-3E3A-49C8-AFDA-45D1C179307F}"/>
              </a:ext>
            </a:extLst>
          </p:cNvPr>
          <p:cNvSpPr>
            <a:spLocks xmlns:a="http://schemas.openxmlformats.org/drawingml/2006/main" noGrp="1"/>
          </p:cNvSpPr>
          <p:nvPr/>
        </p:nvSpPr>
        <p:spPr>
          <a:xfrm xmlns:a="http://schemas.openxmlformats.org/drawingml/2006/main">
            <a:off x="6053328" y="2359152"/>
            <a:ext cx="5568696" cy="822960"/>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2E1E37F1-EAD3-4E66-9337-0D329C9C33F4}"/>
              </a:ext>
            </a:extLst>
          </p:cNvPr>
          <p:cNvSpPr>
            <a:spLocks xmlns:a="http://schemas.openxmlformats.org/drawingml/2006/main" noGrp="1"/>
          </p:cNvSpPr>
          <p:nvPr/>
        </p:nvSpPr>
        <p:spPr>
          <a:xfrm xmlns:a="http://schemas.openxmlformats.org/drawingml/2006/main">
            <a:off x="6254496" y="2478024"/>
            <a:ext cx="5166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Tier 2 · Document and workflow</a:t>
            </a:r>
            <a:endParaRPr sz="1100"/>
          </a:p>
        </p:txBody>
      </p:sp>
      <p:sp>
        <p:nvSpPr>
          <p:cNvPr id="11" name="Text 8">
            <a:extLst xmlns:a="http://schemas.openxmlformats.org/drawingml/2006/main">
              <a:ext uri="{FF2B5EF4-FFF2-40B4-BE49-F238E27FC236}">
                <a16:creationId xmlns:a16="http://schemas.microsoft.com/office/drawing/2014/main" id="{BC79322F-D375-4D2E-BFD0-8CA4C495EAEF}"/>
              </a:ext>
            </a:extLst>
          </p:cNvPr>
          <p:cNvSpPr>
            <a:spLocks xmlns:a="http://schemas.openxmlformats.org/drawingml/2006/main" noGrp="1"/>
          </p:cNvSpPr>
          <p:nvPr/>
        </p:nvSpPr>
        <p:spPr>
          <a:xfrm xmlns:a="http://schemas.openxmlformats.org/drawingml/2006/main">
            <a:off x="6254496" y="2724912"/>
            <a:ext cx="5166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Document extraction, exception handling, service automation. A machine output enters a process, so accuracy thresholds and fallbacks are required.</a:t>
            </a:r>
            <a:endParaRPr sz="930"/>
          </a:p>
        </p:txBody>
      </p:sp>
      <p:sp>
        <p:nvSpPr>
          <p:cNvPr id="12" name="Shape 9">
            <a:extLst xmlns:a="http://schemas.openxmlformats.org/drawingml/2006/main">
              <a:ext uri="{FF2B5EF4-FFF2-40B4-BE49-F238E27FC236}">
                <a16:creationId xmlns:a16="http://schemas.microsoft.com/office/drawing/2014/main" id="{ABA7564E-53F0-4A4D-A543-CA5670AC28CB}"/>
              </a:ext>
            </a:extLst>
          </p:cNvPr>
          <p:cNvSpPr>
            <a:spLocks xmlns:a="http://schemas.openxmlformats.org/drawingml/2006/main" noGrp="1"/>
          </p:cNvSpPr>
          <p:nvPr/>
        </p:nvSpPr>
        <p:spPr>
          <a:xfrm xmlns:a="http://schemas.openxmlformats.org/drawingml/2006/main">
            <a:off x="6053328" y="3291840"/>
            <a:ext cx="5568696" cy="822960"/>
          </a:xfrm>
          <a:prstGeom xmlns:a="http://schemas.openxmlformats.org/drawingml/2006/main" prst="rect">
            <a:avLst/>
          </a:prstGeom>
          <a:solidFill xmlns:a="http://schemas.openxmlformats.org/drawingml/2006/main">
            <a:srgbClr val="F3E6E0"/>
          </a:solidFill>
        </p:spPr>
      </p:sp>
      <p:sp>
        <p:nvSpPr>
          <p:cNvPr id="13" name="Text 10">
            <a:extLst xmlns:a="http://schemas.openxmlformats.org/drawingml/2006/main">
              <a:ext uri="{FF2B5EF4-FFF2-40B4-BE49-F238E27FC236}">
                <a16:creationId xmlns:a16="http://schemas.microsoft.com/office/drawing/2014/main" id="{1AC04467-5AC3-420D-B1B1-FE0CAA557131}"/>
              </a:ext>
            </a:extLst>
          </p:cNvPr>
          <p:cNvSpPr>
            <a:spLocks xmlns:a="http://schemas.openxmlformats.org/drawingml/2006/main" noGrp="1"/>
          </p:cNvSpPr>
          <p:nvPr/>
        </p:nvSpPr>
        <p:spPr>
          <a:xfrm xmlns:a="http://schemas.openxmlformats.org/drawingml/2006/main">
            <a:off x="6254496" y="3410712"/>
            <a:ext cx="5166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Tier 3 · Regulated decisioning</a:t>
            </a:r>
            <a:endParaRPr sz="1100"/>
          </a:p>
        </p:txBody>
      </p:sp>
      <p:sp>
        <p:nvSpPr>
          <p:cNvPr id="14" name="Text 11">
            <a:extLst xmlns:a="http://schemas.openxmlformats.org/drawingml/2006/main">
              <a:ext uri="{FF2B5EF4-FFF2-40B4-BE49-F238E27FC236}">
                <a16:creationId xmlns:a16="http://schemas.microsoft.com/office/drawing/2014/main" id="{DB09D3E5-812F-4E54-B200-C8DA411BCB35}"/>
              </a:ext>
            </a:extLst>
          </p:cNvPr>
          <p:cNvSpPr>
            <a:spLocks xmlns:a="http://schemas.openxmlformats.org/drawingml/2006/main" noGrp="1"/>
          </p:cNvSpPr>
          <p:nvPr/>
        </p:nvSpPr>
        <p:spPr>
          <a:xfrm xmlns:a="http://schemas.openxmlformats.org/drawingml/2006/main">
            <a:off x="6254496" y="3657600"/>
            <a:ext cx="5166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Underwriting support, scoring, surveillance. The output influences a regulated decision, so model risk, explainability, challenger models and audit apply in full.</a:t>
            </a:r>
            <a:endParaRPr sz="930"/>
          </a:p>
        </p:txBody>
      </p:sp>
      <p:sp>
        <p:nvSpPr>
          <p:cNvPr id="15" name="Shape 12">
            <a:extLst xmlns:a="http://schemas.openxmlformats.org/drawingml/2006/main">
              <a:ext uri="{FF2B5EF4-FFF2-40B4-BE49-F238E27FC236}">
                <a16:creationId xmlns:a16="http://schemas.microsoft.com/office/drawing/2014/main" id="{F5693CC0-D79E-472C-B1AB-F09AC2523087}"/>
              </a:ext>
            </a:extLst>
          </p:cNvPr>
          <p:cNvSpPr>
            <a:spLocks xmlns:a="http://schemas.openxmlformats.org/drawingml/2006/main" noGrp="1"/>
          </p:cNvSpPr>
          <p:nvPr/>
        </p:nvSpPr>
        <p:spPr>
          <a:xfrm xmlns:a="http://schemas.openxmlformats.org/drawingml/2006/main">
            <a:off x="566928" y="4389120"/>
            <a:ext cx="11057839" cy="1371600"/>
          </a:xfrm>
          <a:prstGeom xmlns:a="http://schemas.openxmlformats.org/drawingml/2006/main" prst="rect">
            <a:avLst/>
          </a:prstGeom>
          <a:solidFill xmlns:a="http://schemas.openxmlformats.org/drawingml/2006/main">
            <a:srgbClr val="F3E6E0"/>
          </a:solidFill>
        </p:spPr>
      </p:sp>
      <p:sp>
        <p:nvSpPr>
          <p:cNvPr id="16" name="Text 13">
            <a:extLst xmlns:a="http://schemas.openxmlformats.org/drawingml/2006/main">
              <a:ext uri="{FF2B5EF4-FFF2-40B4-BE49-F238E27FC236}">
                <a16:creationId xmlns:a16="http://schemas.microsoft.com/office/drawing/2014/main" id="{58A8AABC-C39E-45C8-8CCF-7056FC0C21EE}"/>
              </a:ext>
            </a:extLst>
          </p:cNvPr>
          <p:cNvSpPr>
            <a:spLocks xmlns:a="http://schemas.openxmlformats.org/drawingml/2006/main" noGrp="1"/>
          </p:cNvSpPr>
          <p:nvPr/>
        </p:nvSpPr>
        <p:spPr>
          <a:xfrm xmlns:a="http://schemas.openxmlformats.org/drawingml/2006/main">
            <a:off x="804672" y="453542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arithmetic that decides the programme</a:t>
            </a:r>
            <a:endParaRPr sz="1100"/>
          </a:p>
        </p:txBody>
      </p:sp>
      <p:sp>
        <p:nvSpPr>
          <p:cNvPr id="17" name="Text 14">
            <a:extLst xmlns:a="http://schemas.openxmlformats.org/drawingml/2006/main">
              <a:ext uri="{FF2B5EF4-FFF2-40B4-BE49-F238E27FC236}">
                <a16:creationId xmlns:a16="http://schemas.microsoft.com/office/drawing/2014/main" id="{C0D07AE5-9DDB-43C1-80F0-81BD498A91F5}"/>
              </a:ext>
            </a:extLst>
          </p:cNvPr>
          <p:cNvSpPr>
            <a:spLocks xmlns:a="http://schemas.openxmlformats.org/drawingml/2006/main" noGrp="1"/>
          </p:cNvSpPr>
          <p:nvPr/>
        </p:nvSpPr>
        <p:spPr>
          <a:xfrm xmlns:a="http://schemas.openxmlformats.org/drawingml/2006/main">
            <a:off x="804672" y="4791456"/>
            <a:ext cx="1058235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Take seventy-five use cases at a plausible mix — say forty per cent tier one, forty per cent tier two and twenty per cent tier three. That is roughly 120 plus 360 plus 510 person-weeks, near a thousand in total, before co-delivery overhead, independent QA at one per three developers, and red-team cycles.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same seventy-five sized at an average of ten person-weeks comes to 750 — a third less, and the shortfall lands entirely in the tier-three use cases, which are the regulated ones the bank cares most about. Sizing by count does not produce a slightly optimistic plan. It produces a plan that fails precisely where failure is most visible.</a:t>
            </a:r>
            <a:endParaRPr sz="990"/>
          </a:p>
        </p:txBody>
      </p:sp>
      <p:sp>
        <p:nvSpPr>
          <p:cNvPr id="18" name="Shape 15">
            <a:extLst xmlns:a="http://schemas.openxmlformats.org/drawingml/2006/main">
              <a:ext uri="{FF2B5EF4-FFF2-40B4-BE49-F238E27FC236}">
                <a16:creationId xmlns:a16="http://schemas.microsoft.com/office/drawing/2014/main" id="{92C89869-E3B3-4DCA-ABFB-24FDFA3D1B4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9" name="Text 16">
            <a:extLst xmlns:a="http://schemas.openxmlformats.org/drawingml/2006/main">
              <a:ext uri="{FF2B5EF4-FFF2-40B4-BE49-F238E27FC236}">
                <a16:creationId xmlns:a16="http://schemas.microsoft.com/office/drawing/2014/main" id="{14D0CB6C-525C-44BE-81BB-59F6D4B9994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sizing model — illustrative effort values, structural argument</a:t>
            </a:r>
            <a:endParaRPr sz="850"/>
          </a:p>
        </p:txBody>
      </p:sp>
      <p:sp>
        <p:nvSpPr>
          <p:cNvPr id="20" name="Text 17">
            <a:extLst xmlns:a="http://schemas.openxmlformats.org/drawingml/2006/main">
              <a:ext uri="{FF2B5EF4-FFF2-40B4-BE49-F238E27FC236}">
                <a16:creationId xmlns:a16="http://schemas.microsoft.com/office/drawing/2014/main" id="{612B7145-9696-4E3A-8677-979C8F58631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140815131"/>
      </p:ext>
    </p:extLst>
  </p:cSld>
</p:sld>
</file>

<file path=ppt/slides/slide10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BAC1E1-3C93-4E0C-AF25-B7EC3DD5CFE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SHOWCASE THREE</a:t>
            </a:r>
            <a:endParaRPr sz="950"/>
          </a:p>
        </p:txBody>
      </p:sp>
      <p:sp>
        <p:nvSpPr>
          <p:cNvPr id="3" name="Text 1">
            <a:extLst xmlns:a="http://schemas.openxmlformats.org/drawingml/2006/main">
              <a:ext uri="{FF2B5EF4-FFF2-40B4-BE49-F238E27FC236}">
                <a16:creationId xmlns:a16="http://schemas.microsoft.com/office/drawing/2014/main" id="{FAEE25B7-9B38-49CB-A1C1-EC1296425CC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named use cases must be demonstrated by every bidder — and each one tests</a:t>
            </a:r>
            <a:endParaRPr sz="1900"/>
          </a:p>
          <a:p xmlns:a="http://schemas.openxmlformats.org/drawingml/2006/main">
            <a:pPr marL="0" indent="0">
              <a:lnSpc>
                <a:spcPts val="2400"/>
              </a:lnSpc>
              <a:buNone/>
            </a:pPr>
            <a:r>
              <a:rPr sz="1900" b="1">
                <a:solidFill>
                  <a:srgbClr val="102A43"/>
                </a:solidFill>
                <a:latin typeface="Arial"/>
                <a:ea typeface="Arial"/>
                <a:cs typeface="Arial"/>
              </a:rPr>
              <a:t>a different capability the rest of the programme depends on</a:t>
            </a:r>
            <a:endParaRPr sz="1900"/>
          </a:p>
        </p:txBody>
      </p:sp>
      <p:sp>
        <p:nvSpPr>
          <p:cNvPr id="4" name="Shape 2">
            <a:extLst xmlns:a="http://schemas.openxmlformats.org/drawingml/2006/main">
              <a:ext uri="{FF2B5EF4-FFF2-40B4-BE49-F238E27FC236}">
                <a16:creationId xmlns:a16="http://schemas.microsoft.com/office/drawing/2014/main" id="{63EE5E60-FD3D-4D79-9D8E-78CD201DDD17}"/>
              </a:ext>
            </a:extLst>
          </p:cNvPr>
          <p:cNvSpPr>
            <a:spLocks xmlns:a="http://schemas.openxmlformats.org/drawingml/2006/main" noGrp="1"/>
          </p:cNvSpPr>
          <p:nvPr/>
        </p:nvSpPr>
        <p:spPr>
          <a:xfrm xmlns:a="http://schemas.openxmlformats.org/drawingml/2006/main">
            <a:off x="566928" y="1335024"/>
            <a:ext cx="3551834" cy="426110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99F6CFBF-C4C0-4335-98BD-F7858757D9E1}"/>
              </a:ext>
            </a:extLst>
          </p:cNvPr>
          <p:cNvSpPr>
            <a:spLocks xmlns:a="http://schemas.openxmlformats.org/drawingml/2006/main" noGrp="1"/>
          </p:cNvSpPr>
          <p:nvPr/>
        </p:nvSpPr>
        <p:spPr>
          <a:xfrm xmlns:a="http://schemas.openxmlformats.org/drawingml/2006/main">
            <a:off x="768096" y="1499616"/>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60" b="1">
                <a:solidFill>
                  <a:srgbClr val="486581"/>
                </a:solidFill>
                <a:latin typeface="Arial"/>
                <a:ea typeface="Arial"/>
                <a:cs typeface="Arial"/>
              </a:rPr>
              <a:t>GENERATIVE AI</a:t>
            </a:r>
            <a:endParaRPr sz="760"/>
          </a:p>
        </p:txBody>
      </p:sp>
      <p:sp>
        <p:nvSpPr>
          <p:cNvPr id="6" name="Text 4">
            <a:extLst xmlns:a="http://schemas.openxmlformats.org/drawingml/2006/main">
              <a:ext uri="{FF2B5EF4-FFF2-40B4-BE49-F238E27FC236}">
                <a16:creationId xmlns:a16="http://schemas.microsoft.com/office/drawing/2014/main" id="{F0E853A3-1C43-4B0D-B30F-C55C34C1156C}"/>
              </a:ext>
            </a:extLst>
          </p:cNvPr>
          <p:cNvSpPr>
            <a:spLocks xmlns:a="http://schemas.openxmlformats.org/drawingml/2006/main" noGrp="1"/>
          </p:cNvSpPr>
          <p:nvPr/>
        </p:nvSpPr>
        <p:spPr>
          <a:xfrm xmlns:a="http://schemas.openxmlformats.org/drawingml/2006/main">
            <a:off x="768096" y="1719072"/>
            <a:ext cx="314949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180" b="1">
                <a:solidFill>
                  <a:srgbClr val="102A43"/>
                </a:solidFill>
                <a:latin typeface="Arial"/>
                <a:ea typeface="Arial"/>
                <a:cs typeface="Arial"/>
              </a:rPr>
              <a:t>Enterprise retrieval over tens of thousands of pages</a:t>
            </a:r>
            <a:endParaRPr sz="1180"/>
          </a:p>
        </p:txBody>
      </p:sp>
      <p:sp>
        <p:nvSpPr>
          <p:cNvPr id="7" name="Text 5">
            <a:extLst xmlns:a="http://schemas.openxmlformats.org/drawingml/2006/main">
              <a:ext uri="{FF2B5EF4-FFF2-40B4-BE49-F238E27FC236}">
                <a16:creationId xmlns:a16="http://schemas.microsoft.com/office/drawing/2014/main" id="{E90A6C65-D370-4218-BF8C-D74A27315E9E}"/>
              </a:ext>
            </a:extLst>
          </p:cNvPr>
          <p:cNvSpPr>
            <a:spLocks xmlns:a="http://schemas.openxmlformats.org/drawingml/2006/main" noGrp="1"/>
          </p:cNvSpPr>
          <p:nvPr/>
        </p:nvSpPr>
        <p:spPr>
          <a:xfrm xmlns:a="http://schemas.openxmlformats.org/drawingml/2006/main">
            <a:off x="768096" y="2395728"/>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Retrieval-augmented generation across a very large internal corpus, answering with citation and refusing when the corpus does not support an answer.</a:t>
            </a:r>
            <a:endParaRPr sz="930"/>
          </a:p>
        </p:txBody>
      </p:sp>
      <p:sp>
        <p:nvSpPr>
          <p:cNvPr id="8" name="Text 6">
            <a:extLst xmlns:a="http://schemas.openxmlformats.org/drawingml/2006/main">
              <a:ext uri="{FF2B5EF4-FFF2-40B4-BE49-F238E27FC236}">
                <a16:creationId xmlns:a16="http://schemas.microsoft.com/office/drawing/2014/main" id="{83F8CE3F-CD1E-4F65-8F1F-C36D93A0E889}"/>
              </a:ext>
            </a:extLst>
          </p:cNvPr>
          <p:cNvSpPr>
            <a:spLocks xmlns:a="http://schemas.openxmlformats.org/drawingml/2006/main" noGrp="1"/>
          </p:cNvSpPr>
          <p:nvPr/>
        </p:nvSpPr>
        <p:spPr>
          <a:xfrm xmlns:a="http://schemas.openxmlformats.org/drawingml/2006/main">
            <a:off x="768096" y="316382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IT ACTUALLY TESTS</a:t>
            </a:r>
            <a:endParaRPr sz="740"/>
          </a:p>
        </p:txBody>
      </p:sp>
      <p:sp>
        <p:nvSpPr>
          <p:cNvPr id="9" name="Text 7">
            <a:extLst xmlns:a="http://schemas.openxmlformats.org/drawingml/2006/main">
              <a:ext uri="{FF2B5EF4-FFF2-40B4-BE49-F238E27FC236}">
                <a16:creationId xmlns:a16="http://schemas.microsoft.com/office/drawing/2014/main" id="{0D965D9F-E68D-453E-BC04-DBD75DA9B813}"/>
              </a:ext>
            </a:extLst>
          </p:cNvPr>
          <p:cNvSpPr>
            <a:spLocks xmlns:a="http://schemas.openxmlformats.org/drawingml/2006/main" noGrp="1"/>
          </p:cNvSpPr>
          <p:nvPr/>
        </p:nvSpPr>
        <p:spPr>
          <a:xfrm xmlns:a="http://schemas.openxmlformats.org/drawingml/2006/main">
            <a:off x="768096" y="3364992"/>
            <a:ext cx="314949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Corpus preparation and chunking at scale</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Retrieval quality, not model quality</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Grounding, citation and refusal behaviour</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Latency at enterprise document volume</a:t>
            </a:r>
            <a:endParaRPr sz="920"/>
          </a:p>
        </p:txBody>
      </p:sp>
      <p:sp>
        <p:nvSpPr>
          <p:cNvPr id="10" name="Shape 8">
            <a:extLst xmlns:a="http://schemas.openxmlformats.org/drawingml/2006/main">
              <a:ext uri="{FF2B5EF4-FFF2-40B4-BE49-F238E27FC236}">
                <a16:creationId xmlns:a16="http://schemas.microsoft.com/office/drawing/2014/main" id="{33B786A2-081E-4522-87E0-E7A6F06500C1}"/>
              </a:ext>
            </a:extLst>
          </p:cNvPr>
          <p:cNvSpPr>
            <a:spLocks xmlns:a="http://schemas.openxmlformats.org/drawingml/2006/main" noGrp="1"/>
          </p:cNvSpPr>
          <p:nvPr/>
        </p:nvSpPr>
        <p:spPr>
          <a:xfrm xmlns:a="http://schemas.openxmlformats.org/drawingml/2006/main">
            <a:off x="768096" y="4626864"/>
            <a:ext cx="3149498" cy="13716"/>
          </a:xfrm>
          <a:prstGeom xmlns:a="http://schemas.openxmlformats.org/drawingml/2006/main" prst="rect">
            <a:avLst/>
          </a:prstGeom>
          <a:solidFill xmlns:a="http://schemas.openxmlformats.org/drawingml/2006/main">
            <a:srgbClr val="C6D2DE"/>
          </a:solidFill>
        </p:spPr>
      </p:sp>
      <p:sp>
        <p:nvSpPr>
          <p:cNvPr id="11" name="Text 9">
            <a:extLst xmlns:a="http://schemas.openxmlformats.org/drawingml/2006/main">
              <a:ext uri="{FF2B5EF4-FFF2-40B4-BE49-F238E27FC236}">
                <a16:creationId xmlns:a16="http://schemas.microsoft.com/office/drawing/2014/main" id="{6ED2C7ED-549F-4103-93D7-36E4CFD7D2F5}"/>
              </a:ext>
            </a:extLst>
          </p:cNvPr>
          <p:cNvSpPr>
            <a:spLocks xmlns:a="http://schemas.openxmlformats.org/drawingml/2006/main" noGrp="1"/>
          </p:cNvSpPr>
          <p:nvPr/>
        </p:nvSpPr>
        <p:spPr>
          <a:xfrm xmlns:a="http://schemas.openxmlformats.org/drawingml/2006/main">
            <a:off x="768096" y="4754880"/>
            <a:ext cx="314949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Tests whether the platform can be trusted with unstructured internal knowledge. Almost every tier-one use case in the programme is a variant of this.</a:t>
            </a:r>
            <a:endParaRPr sz="930"/>
          </a:p>
        </p:txBody>
      </p:sp>
      <p:sp>
        <p:nvSpPr>
          <p:cNvPr id="12" name="Shape 10">
            <a:extLst xmlns:a="http://schemas.openxmlformats.org/drawingml/2006/main">
              <a:ext uri="{FF2B5EF4-FFF2-40B4-BE49-F238E27FC236}">
                <a16:creationId xmlns:a16="http://schemas.microsoft.com/office/drawing/2014/main" id="{E40E285B-831D-4DDA-AA7B-8C2F2EBBF233}"/>
              </a:ext>
            </a:extLst>
          </p:cNvPr>
          <p:cNvSpPr>
            <a:spLocks xmlns:a="http://schemas.openxmlformats.org/drawingml/2006/main" noGrp="1"/>
          </p:cNvSpPr>
          <p:nvPr/>
        </p:nvSpPr>
        <p:spPr>
          <a:xfrm xmlns:a="http://schemas.openxmlformats.org/drawingml/2006/main">
            <a:off x="4319930" y="1335024"/>
            <a:ext cx="3551834" cy="4261104"/>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8BAD1C1C-E7A2-4F6B-9749-EB37551352DD}"/>
              </a:ext>
            </a:extLst>
          </p:cNvPr>
          <p:cNvSpPr>
            <a:spLocks xmlns:a="http://schemas.openxmlformats.org/drawingml/2006/main" noGrp="1"/>
          </p:cNvSpPr>
          <p:nvPr/>
        </p:nvSpPr>
        <p:spPr>
          <a:xfrm xmlns:a="http://schemas.openxmlformats.org/drawingml/2006/main">
            <a:off x="4521098" y="1499616"/>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60" b="1">
                <a:solidFill>
                  <a:srgbClr val="486581"/>
                </a:solidFill>
                <a:latin typeface="Arial"/>
                <a:ea typeface="Arial"/>
                <a:cs typeface="Arial"/>
              </a:rPr>
              <a:t>AGENTIC AI</a:t>
            </a:r>
            <a:endParaRPr sz="760"/>
          </a:p>
        </p:txBody>
      </p:sp>
      <p:sp>
        <p:nvSpPr>
          <p:cNvPr id="14" name="Text 12">
            <a:extLst xmlns:a="http://schemas.openxmlformats.org/drawingml/2006/main">
              <a:ext uri="{FF2B5EF4-FFF2-40B4-BE49-F238E27FC236}">
                <a16:creationId xmlns:a16="http://schemas.microsoft.com/office/drawing/2014/main" id="{F4AF96E1-99B0-4CFA-93D3-8575C3806768}"/>
              </a:ext>
            </a:extLst>
          </p:cNvPr>
          <p:cNvSpPr>
            <a:spLocks xmlns:a="http://schemas.openxmlformats.org/drawingml/2006/main" noGrp="1"/>
          </p:cNvSpPr>
          <p:nvPr/>
        </p:nvSpPr>
        <p:spPr>
          <a:xfrm xmlns:a="http://schemas.openxmlformats.org/drawingml/2006/main">
            <a:off x="4521098" y="1719072"/>
            <a:ext cx="314949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180" b="1">
                <a:solidFill>
                  <a:srgbClr val="102A43"/>
                </a:solidFill>
                <a:latin typeface="Arial"/>
                <a:ea typeface="Arial"/>
                <a:cs typeface="Arial"/>
              </a:rPr>
              <a:t>Scanned-document processing with government-API verification</a:t>
            </a:r>
            <a:endParaRPr sz="1180"/>
          </a:p>
        </p:txBody>
      </p:sp>
      <p:sp>
        <p:nvSpPr>
          <p:cNvPr id="15" name="Text 13">
            <a:extLst xmlns:a="http://schemas.openxmlformats.org/drawingml/2006/main">
              <a:ext uri="{FF2B5EF4-FFF2-40B4-BE49-F238E27FC236}">
                <a16:creationId xmlns:a16="http://schemas.microsoft.com/office/drawing/2014/main" id="{D986A67F-F09F-40AA-B2B4-D8C89FD3EDAE}"/>
              </a:ext>
            </a:extLst>
          </p:cNvPr>
          <p:cNvSpPr>
            <a:spLocks xmlns:a="http://schemas.openxmlformats.org/drawingml/2006/main" noGrp="1"/>
          </p:cNvSpPr>
          <p:nvPr/>
        </p:nvSpPr>
        <p:spPr>
          <a:xfrm xmlns:a="http://schemas.openxmlformats.org/drawingml/2006/main">
            <a:off x="4521098" y="2395728"/>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An agent reads scanned identity and entity documents, extracts structured fields, and verifies them against external government interfaces end to end.</a:t>
            </a:r>
            <a:endParaRPr sz="930"/>
          </a:p>
        </p:txBody>
      </p:sp>
      <p:sp>
        <p:nvSpPr>
          <p:cNvPr id="16" name="Text 14">
            <a:extLst xmlns:a="http://schemas.openxmlformats.org/drawingml/2006/main">
              <a:ext uri="{FF2B5EF4-FFF2-40B4-BE49-F238E27FC236}">
                <a16:creationId xmlns:a16="http://schemas.microsoft.com/office/drawing/2014/main" id="{4B991B5F-4C31-499F-B639-4B1CCBCF16C7}"/>
              </a:ext>
            </a:extLst>
          </p:cNvPr>
          <p:cNvSpPr>
            <a:spLocks xmlns:a="http://schemas.openxmlformats.org/drawingml/2006/main" noGrp="1"/>
          </p:cNvSpPr>
          <p:nvPr/>
        </p:nvSpPr>
        <p:spPr>
          <a:xfrm xmlns:a="http://schemas.openxmlformats.org/drawingml/2006/main">
            <a:off x="4521098" y="316382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IT ACTUALLY TESTS</a:t>
            </a:r>
            <a:endParaRPr sz="740"/>
          </a:p>
        </p:txBody>
      </p:sp>
      <p:sp>
        <p:nvSpPr>
          <p:cNvPr id="17" name="Text 15">
            <a:extLst xmlns:a="http://schemas.openxmlformats.org/drawingml/2006/main">
              <a:ext uri="{FF2B5EF4-FFF2-40B4-BE49-F238E27FC236}">
                <a16:creationId xmlns:a16="http://schemas.microsoft.com/office/drawing/2014/main" id="{D52F952B-A5AA-4B8B-8F0D-085BA280FA06}"/>
              </a:ext>
            </a:extLst>
          </p:cNvPr>
          <p:cNvSpPr>
            <a:spLocks xmlns:a="http://schemas.openxmlformats.org/drawingml/2006/main" noGrp="1"/>
          </p:cNvSpPr>
          <p:nvPr/>
        </p:nvSpPr>
        <p:spPr>
          <a:xfrm xmlns:a="http://schemas.openxmlformats.org/drawingml/2006/main">
            <a:off x="4521098" y="3364992"/>
            <a:ext cx="314949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Extraction accuracy on poor-quality scans</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Agentic orchestration across external calls</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Failure handling when a source is unavailable</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Auditability of an autonomous sequence</a:t>
            </a:r>
            <a:endParaRPr sz="920"/>
          </a:p>
        </p:txBody>
      </p:sp>
      <p:sp>
        <p:nvSpPr>
          <p:cNvPr id="18" name="Shape 16">
            <a:extLst xmlns:a="http://schemas.openxmlformats.org/drawingml/2006/main">
              <a:ext uri="{FF2B5EF4-FFF2-40B4-BE49-F238E27FC236}">
                <a16:creationId xmlns:a16="http://schemas.microsoft.com/office/drawing/2014/main" id="{1B3B98D2-A1BF-4401-AE4D-4DA931C8927B}"/>
              </a:ext>
            </a:extLst>
          </p:cNvPr>
          <p:cNvSpPr>
            <a:spLocks xmlns:a="http://schemas.openxmlformats.org/drawingml/2006/main" noGrp="1"/>
          </p:cNvSpPr>
          <p:nvPr/>
        </p:nvSpPr>
        <p:spPr>
          <a:xfrm xmlns:a="http://schemas.openxmlformats.org/drawingml/2006/main">
            <a:off x="4521098" y="4626864"/>
            <a:ext cx="3149498" cy="13716"/>
          </a:xfrm>
          <a:prstGeom xmlns:a="http://schemas.openxmlformats.org/drawingml/2006/main" prst="rect">
            <a:avLst/>
          </a:prstGeom>
          <a:solidFill xmlns:a="http://schemas.openxmlformats.org/drawingml/2006/main">
            <a:srgbClr val="C6D2DE"/>
          </a:solidFill>
        </p:spPr>
      </p:sp>
      <p:sp>
        <p:nvSpPr>
          <p:cNvPr id="19" name="Text 17">
            <a:extLst xmlns:a="http://schemas.openxmlformats.org/drawingml/2006/main">
              <a:ext uri="{FF2B5EF4-FFF2-40B4-BE49-F238E27FC236}">
                <a16:creationId xmlns:a16="http://schemas.microsoft.com/office/drawing/2014/main" id="{1F79EA03-1629-40DC-9E2B-6276E887D779}"/>
              </a:ext>
            </a:extLst>
          </p:cNvPr>
          <p:cNvSpPr>
            <a:spLocks xmlns:a="http://schemas.openxmlformats.org/drawingml/2006/main" noGrp="1"/>
          </p:cNvSpPr>
          <p:nvPr/>
        </p:nvSpPr>
        <p:spPr>
          <a:xfrm xmlns:a="http://schemas.openxmlformats.org/drawingml/2006/main">
            <a:off x="4521098" y="4754880"/>
            <a:ext cx="314949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Tests whether agents can act, not just answer. This is the capability that separates an assistant platform from an automation platform.</a:t>
            </a:r>
            <a:endParaRPr sz="930"/>
          </a:p>
        </p:txBody>
      </p:sp>
      <p:sp>
        <p:nvSpPr>
          <p:cNvPr id="20" name="Shape 18">
            <a:extLst xmlns:a="http://schemas.openxmlformats.org/drawingml/2006/main">
              <a:ext uri="{FF2B5EF4-FFF2-40B4-BE49-F238E27FC236}">
                <a16:creationId xmlns:a16="http://schemas.microsoft.com/office/drawing/2014/main" id="{74031DEC-3071-4A1E-835A-8C3BB7A589FD}"/>
              </a:ext>
            </a:extLst>
          </p:cNvPr>
          <p:cNvSpPr>
            <a:spLocks xmlns:a="http://schemas.openxmlformats.org/drawingml/2006/main" noGrp="1"/>
          </p:cNvSpPr>
          <p:nvPr/>
        </p:nvSpPr>
        <p:spPr>
          <a:xfrm xmlns:a="http://schemas.openxmlformats.org/drawingml/2006/main">
            <a:off x="8072933" y="1335024"/>
            <a:ext cx="3551834" cy="4261104"/>
          </a:xfrm>
          <a:prstGeom xmlns:a="http://schemas.openxmlformats.org/drawingml/2006/main" prst="rect">
            <a:avLst/>
          </a:prstGeom>
          <a:solidFill xmlns:a="http://schemas.openxmlformats.org/drawingml/2006/main">
            <a:srgbClr val="F3E6E0"/>
          </a:solidFill>
        </p:spPr>
      </p:sp>
      <p:sp>
        <p:nvSpPr>
          <p:cNvPr id="21" name="Text 19">
            <a:extLst xmlns:a="http://schemas.openxmlformats.org/drawingml/2006/main">
              <a:ext uri="{FF2B5EF4-FFF2-40B4-BE49-F238E27FC236}">
                <a16:creationId xmlns:a16="http://schemas.microsoft.com/office/drawing/2014/main" id="{43E837F5-C559-4384-B44F-4081529D266C}"/>
              </a:ext>
            </a:extLst>
          </p:cNvPr>
          <p:cNvSpPr>
            <a:spLocks xmlns:a="http://schemas.openxmlformats.org/drawingml/2006/main" noGrp="1"/>
          </p:cNvSpPr>
          <p:nvPr/>
        </p:nvSpPr>
        <p:spPr>
          <a:xfrm xmlns:a="http://schemas.openxmlformats.org/drawingml/2006/main">
            <a:off x="8274101" y="1499616"/>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60" b="1">
                <a:solidFill>
                  <a:srgbClr val="B04A25"/>
                </a:solidFill>
                <a:latin typeface="Arial"/>
                <a:ea typeface="Arial"/>
                <a:cs typeface="Arial"/>
              </a:rPr>
              <a:t>MACHINE LEARNING</a:t>
            </a:r>
            <a:endParaRPr sz="760"/>
          </a:p>
        </p:txBody>
      </p:sp>
      <p:sp>
        <p:nvSpPr>
          <p:cNvPr id="22" name="Text 20">
            <a:extLst xmlns:a="http://schemas.openxmlformats.org/drawingml/2006/main">
              <a:ext uri="{FF2B5EF4-FFF2-40B4-BE49-F238E27FC236}">
                <a16:creationId xmlns:a16="http://schemas.microsoft.com/office/drawing/2014/main" id="{0842B7F7-3971-41C9-9FA2-C599D0B18D43}"/>
              </a:ext>
            </a:extLst>
          </p:cNvPr>
          <p:cNvSpPr>
            <a:spLocks xmlns:a="http://schemas.openxmlformats.org/drawingml/2006/main" noGrp="1"/>
          </p:cNvSpPr>
          <p:nvPr/>
        </p:nvSpPr>
        <p:spPr>
          <a:xfrm xmlns:a="http://schemas.openxmlformats.org/drawingml/2006/main">
            <a:off x="8274101" y="1719072"/>
            <a:ext cx="314949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180" b="1">
                <a:solidFill>
                  <a:srgbClr val="102A43"/>
                </a:solidFill>
                <a:latin typeface="Arial"/>
                <a:ea typeface="Arial"/>
                <a:cs typeface="Arial"/>
              </a:rPr>
              <a:t>Real-time cash-flow underwriting from consented financial data</a:t>
            </a:r>
            <a:endParaRPr sz="1180"/>
          </a:p>
        </p:txBody>
      </p:sp>
      <p:sp>
        <p:nvSpPr>
          <p:cNvPr id="23" name="Text 21">
            <a:extLst xmlns:a="http://schemas.openxmlformats.org/drawingml/2006/main">
              <a:ext uri="{FF2B5EF4-FFF2-40B4-BE49-F238E27FC236}">
                <a16:creationId xmlns:a16="http://schemas.microsoft.com/office/drawing/2014/main" id="{9AB0A533-37EC-4A0E-9BFC-500D8EED9171}"/>
              </a:ext>
            </a:extLst>
          </p:cNvPr>
          <p:cNvSpPr>
            <a:spLocks xmlns:a="http://schemas.openxmlformats.org/drawingml/2006/main" noGrp="1"/>
          </p:cNvSpPr>
          <p:nvPr/>
        </p:nvSpPr>
        <p:spPr>
          <a:xfrm xmlns:a="http://schemas.openxmlformats.org/drawingml/2006/main">
            <a:off x="8274101" y="2395728"/>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Cash-flow-based credit assessment built on consented account-aggregator and tax-return data, produced in real time at the point of decision.</a:t>
            </a:r>
            <a:endParaRPr sz="930"/>
          </a:p>
        </p:txBody>
      </p:sp>
      <p:sp>
        <p:nvSpPr>
          <p:cNvPr id="24" name="Text 22">
            <a:extLst xmlns:a="http://schemas.openxmlformats.org/drawingml/2006/main">
              <a:ext uri="{FF2B5EF4-FFF2-40B4-BE49-F238E27FC236}">
                <a16:creationId xmlns:a16="http://schemas.microsoft.com/office/drawing/2014/main" id="{99105EA2-C71B-47C5-AA89-0BEFDD3E4E36}"/>
              </a:ext>
            </a:extLst>
          </p:cNvPr>
          <p:cNvSpPr>
            <a:spLocks xmlns:a="http://schemas.openxmlformats.org/drawingml/2006/main" noGrp="1"/>
          </p:cNvSpPr>
          <p:nvPr/>
        </p:nvSpPr>
        <p:spPr>
          <a:xfrm xmlns:a="http://schemas.openxmlformats.org/drawingml/2006/main">
            <a:off x="8274101" y="316382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IT ACTUALLY TESTS</a:t>
            </a:r>
            <a:endParaRPr sz="740"/>
          </a:p>
        </p:txBody>
      </p:sp>
      <p:sp>
        <p:nvSpPr>
          <p:cNvPr id="25" name="Text 23">
            <a:extLst xmlns:a="http://schemas.openxmlformats.org/drawingml/2006/main">
              <a:ext uri="{FF2B5EF4-FFF2-40B4-BE49-F238E27FC236}">
                <a16:creationId xmlns:a16="http://schemas.microsoft.com/office/drawing/2014/main" id="{F01B8941-9797-4FA9-9760-733BD6901928}"/>
              </a:ext>
            </a:extLst>
          </p:cNvPr>
          <p:cNvSpPr>
            <a:spLocks xmlns:a="http://schemas.openxmlformats.org/drawingml/2006/main" noGrp="1"/>
          </p:cNvSpPr>
          <p:nvPr/>
        </p:nvSpPr>
        <p:spPr>
          <a:xfrm xmlns:a="http://schemas.openxmlformats.org/drawingml/2006/main">
            <a:off x="8274101" y="3364992"/>
            <a:ext cx="314949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Consented-data ingestion and normalisation</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Feature engineering on messy real inputs</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Model risk, explainability and challengers</a:t>
            </a:r>
            <a:endParaRPr sz="920"/>
          </a:p>
          <a:p xmlns:a="http://schemas.openxmlformats.org/drawingml/2006/main">
            <a:pPr marL="152400" indent="-152400">
              <a:lnSpc>
                <a:spcPts val="1400"/>
              </a:lnSpc>
              <a:spcAft>
                <a:spcPts val="400"/>
              </a:spcAft>
              <a:buSzPct val="100000"/>
              <a:buChar char="•"/>
            </a:pPr>
            <a:r>
              <a:rPr sz="920">
                <a:solidFill>
                  <a:srgbClr val="1A1A1A"/>
                </a:solidFill>
                <a:latin typeface="Arial"/>
                <a:ea typeface="Arial"/>
                <a:cs typeface="Arial"/>
              </a:rPr>
              <a:t>Real-time inference inside a credit flow</a:t>
            </a:r>
            <a:endParaRPr sz="920"/>
          </a:p>
        </p:txBody>
      </p:sp>
      <p:sp>
        <p:nvSpPr>
          <p:cNvPr id="26" name="Shape 24">
            <a:extLst xmlns:a="http://schemas.openxmlformats.org/drawingml/2006/main">
              <a:ext uri="{FF2B5EF4-FFF2-40B4-BE49-F238E27FC236}">
                <a16:creationId xmlns:a16="http://schemas.microsoft.com/office/drawing/2014/main" id="{D5C4774A-CFD6-475D-AB40-65DF8442A1FA}"/>
              </a:ext>
            </a:extLst>
          </p:cNvPr>
          <p:cNvSpPr>
            <a:spLocks xmlns:a="http://schemas.openxmlformats.org/drawingml/2006/main" noGrp="1"/>
          </p:cNvSpPr>
          <p:nvPr/>
        </p:nvSpPr>
        <p:spPr>
          <a:xfrm xmlns:a="http://schemas.openxmlformats.org/drawingml/2006/main">
            <a:off x="8274101" y="4626864"/>
            <a:ext cx="3149498" cy="13716"/>
          </a:xfrm>
          <a:prstGeom xmlns:a="http://schemas.openxmlformats.org/drawingml/2006/main" prst="rect">
            <a:avLst/>
          </a:prstGeom>
          <a:solidFill xmlns:a="http://schemas.openxmlformats.org/drawingml/2006/main">
            <a:srgbClr val="C6D2DE"/>
          </a:solidFill>
        </p:spPr>
      </p:sp>
      <p:sp>
        <p:nvSpPr>
          <p:cNvPr id="27" name="Text 25">
            <a:extLst xmlns:a="http://schemas.openxmlformats.org/drawingml/2006/main">
              <a:ext uri="{FF2B5EF4-FFF2-40B4-BE49-F238E27FC236}">
                <a16:creationId xmlns:a16="http://schemas.microsoft.com/office/drawing/2014/main" id="{DC1F096A-F102-427E-A854-DCFF55EEA6E5}"/>
              </a:ext>
            </a:extLst>
          </p:cNvPr>
          <p:cNvSpPr>
            <a:spLocks xmlns:a="http://schemas.openxmlformats.org/drawingml/2006/main" noGrp="1"/>
          </p:cNvSpPr>
          <p:nvPr/>
        </p:nvSpPr>
        <p:spPr>
          <a:xfrm xmlns:a="http://schemas.openxmlformats.org/drawingml/2006/main">
            <a:off x="8274101" y="4754880"/>
            <a:ext cx="3149498"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B04A25"/>
                </a:solidFill>
                <a:latin typeface="Arial"/>
                <a:ea typeface="Arial"/>
                <a:cs typeface="Arial"/>
              </a:rPr>
              <a:t>Tests whether the platform can carry a regulated decision. This is the hardest tier-three pattern and the one with the clearest commercial value.</a:t>
            </a:r>
            <a:endParaRPr sz="930"/>
          </a:p>
        </p:txBody>
      </p:sp>
      <p:sp>
        <p:nvSpPr>
          <p:cNvPr id="28" name="Shape 26">
            <a:extLst xmlns:a="http://schemas.openxmlformats.org/drawingml/2006/main">
              <a:ext uri="{FF2B5EF4-FFF2-40B4-BE49-F238E27FC236}">
                <a16:creationId xmlns:a16="http://schemas.microsoft.com/office/drawing/2014/main" id="{10ABC2D7-0C1E-468F-BCF0-BFB3F4FE9AA2}"/>
              </a:ext>
            </a:extLst>
          </p:cNvPr>
          <p:cNvSpPr>
            <a:spLocks xmlns:a="http://schemas.openxmlformats.org/drawingml/2006/main" noGrp="1"/>
          </p:cNvSpPr>
          <p:nvPr/>
        </p:nvSpPr>
        <p:spPr>
          <a:xfrm xmlns:a="http://schemas.openxmlformats.org/drawingml/2006/main">
            <a:off x="566928" y="5815584"/>
            <a:ext cx="11057839" cy="384048"/>
          </a:xfrm>
          <a:prstGeom xmlns:a="http://schemas.openxmlformats.org/drawingml/2006/main" prst="rect">
            <a:avLst/>
          </a:prstGeom>
          <a:solidFill xmlns:a="http://schemas.openxmlformats.org/drawingml/2006/main">
            <a:srgbClr val="102A43"/>
          </a:solidFill>
        </p:spPr>
      </p:sp>
      <p:sp>
        <p:nvSpPr>
          <p:cNvPr id="29" name="Text 27">
            <a:extLst xmlns:a="http://schemas.openxmlformats.org/drawingml/2006/main">
              <a:ext uri="{FF2B5EF4-FFF2-40B4-BE49-F238E27FC236}">
                <a16:creationId xmlns:a16="http://schemas.microsoft.com/office/drawing/2014/main" id="{DE4C9BE8-7A5C-4776-9A01-45FC321A84F1}"/>
              </a:ext>
            </a:extLst>
          </p:cNvPr>
          <p:cNvSpPr>
            <a:spLocks xmlns:a="http://schemas.openxmlformats.org/drawingml/2006/main" noGrp="1"/>
          </p:cNvSpPr>
          <p:nvPr/>
        </p:nvSpPr>
        <p:spPr>
          <a:xfrm xmlns:a="http://schemas.openxmlformats.org/drawingml/2006/main">
            <a:off x="804672" y="5998464"/>
            <a:ext cx="10582351" cy="548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The three are not a sample of the programme. They are a test of the three capability classes every remaining use case will draw on.</a:t>
            </a:r>
            <a:endParaRPr sz="990"/>
          </a:p>
        </p:txBody>
      </p:sp>
      <p:sp>
        <p:nvSpPr>
          <p:cNvPr id="30" name="Shape 28">
            <a:extLst xmlns:a="http://schemas.openxmlformats.org/drawingml/2006/main">
              <a:ext uri="{FF2B5EF4-FFF2-40B4-BE49-F238E27FC236}">
                <a16:creationId xmlns:a16="http://schemas.microsoft.com/office/drawing/2014/main" id="{83518B37-0982-40AC-83E3-9B0FCDCE00E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1" name="Text 29">
            <a:extLst xmlns:a="http://schemas.openxmlformats.org/drawingml/2006/main">
              <a:ext uri="{FF2B5EF4-FFF2-40B4-BE49-F238E27FC236}">
                <a16:creationId xmlns:a16="http://schemas.microsoft.com/office/drawing/2014/main" id="{0D5290D2-21C6-4929-9AD9-15394FF8CCB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tender scope of work and pre-bid minutes · author's analysis</a:t>
            </a:r>
            <a:endParaRPr sz="850"/>
          </a:p>
        </p:txBody>
      </p:sp>
      <p:sp>
        <p:nvSpPr>
          <p:cNvPr id="32" name="Text 30">
            <a:extLst xmlns:a="http://schemas.openxmlformats.org/drawingml/2006/main">
              <a:ext uri="{FF2B5EF4-FFF2-40B4-BE49-F238E27FC236}">
                <a16:creationId xmlns:a16="http://schemas.microsoft.com/office/drawing/2014/main" id="{403C46A5-6247-45AF-8A4B-D9374B51B05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2115242864"/>
      </p:ext>
    </p:extLst>
  </p:cSld>
</p:sld>
</file>

<file path=ppt/slides/slide10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1193A26-5DCD-4F39-8673-4AC50665FF9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WAVE DESIGN</a:t>
            </a:r>
            <a:endParaRPr sz="950"/>
          </a:p>
        </p:txBody>
      </p:sp>
      <p:sp>
        <p:nvSpPr>
          <p:cNvPr id="3" name="Text 1">
            <a:extLst xmlns:a="http://schemas.openxmlformats.org/drawingml/2006/main">
              <a:ext uri="{FF2B5EF4-FFF2-40B4-BE49-F238E27FC236}">
                <a16:creationId xmlns:a16="http://schemas.microsoft.com/office/drawing/2014/main" id="{FDC9CFAB-3629-46C4-8053-6A8DD363154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waves, but the capacity curve is not flat — the first wave carries platform proof</a:t>
            </a:r>
            <a:endParaRPr sz="1900"/>
          </a:p>
          <a:p xmlns:a="http://schemas.openxmlformats.org/drawingml/2006/main">
            <a:pPr marL="0" indent="0">
              <a:lnSpc>
                <a:spcPts val="2400"/>
              </a:lnSpc>
              <a:buNone/>
            </a:pPr>
            <a:r>
              <a:rPr sz="1900" b="1">
                <a:solidFill>
                  <a:srgbClr val="102A43"/>
                </a:solidFill>
                <a:latin typeface="Arial"/>
                <a:ea typeface="Arial"/>
                <a:cs typeface="Arial"/>
              </a:rPr>
              <a:t>and the last carries the bank running it alone</a:t>
            </a:r>
            <a:endParaRPr sz="1900"/>
          </a:p>
        </p:txBody>
      </p:sp>
      <p:graphicFrame>
        <p:nvGraphicFramePr>
          <p:cNvPr id="27" name="Chart 0"/>
          <p:cNvGraphicFramePr/>
          <p:nvPr/>
        </p:nvGraphicFramePr>
        <p:xfrm>
          <a:off xmlns:a="http://schemas.openxmlformats.org/drawingml/2006/main" x="566928" y="1426464"/>
          <a:ext xmlns:a="http://schemas.openxmlformats.org/drawingml/2006/main" cx="6035040" cy="2743200"/>
        </p:xfrm>
        <a:graphic xmlns:a="http://schemas.openxmlformats.org/drawingml/2006/main">
          <a:graphicData uri="http://schemas.openxmlformats.org/drawingml/2006/chart">
            <c:chart xmlns:r="http://schemas.openxmlformats.org/officeDocument/2006/relationships" xmlns:c="http://schemas.openxmlformats.org/drawingml/2006/chart" r:id="R0aefb74d014f46d5"/>
          </a:graphicData>
        </a:graphic>
      </p:graphicFrame>
      <p:sp>
        <p:nvSpPr>
          <p:cNvPr id="5" name="Text 2">
            <a:extLst xmlns:a="http://schemas.openxmlformats.org/drawingml/2006/main">
              <a:ext uri="{FF2B5EF4-FFF2-40B4-BE49-F238E27FC236}">
                <a16:creationId xmlns:a16="http://schemas.microsoft.com/office/drawing/2014/main" id="{6A1A4AF4-7A08-4BE3-8AF6-B32F4B9B9F27}"/>
              </a:ext>
            </a:extLst>
          </p:cNvPr>
          <p:cNvSpPr>
            <a:spLocks xmlns:a="http://schemas.openxmlformats.org/drawingml/2006/main" noGrp="1"/>
          </p:cNvSpPr>
          <p:nvPr/>
        </p:nvSpPr>
        <p:spPr>
          <a:xfrm xmlns:a="http://schemas.openxmlformats.org/drawingml/2006/main">
            <a:off x="566928" y="4242816"/>
            <a:ext cx="60350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wave design — the shift in who delivers is the design, not the volume</a:t>
            </a:r>
            <a:endParaRPr sz="880"/>
          </a:p>
        </p:txBody>
      </p:sp>
      <p:sp>
        <p:nvSpPr>
          <p:cNvPr id="6" name="Shape 3">
            <a:extLst xmlns:a="http://schemas.openxmlformats.org/drawingml/2006/main">
              <a:ext uri="{FF2B5EF4-FFF2-40B4-BE49-F238E27FC236}">
                <a16:creationId xmlns:a16="http://schemas.microsoft.com/office/drawing/2014/main" id="{78598C28-7E30-406D-A3BA-F2C91EBA31DA}"/>
              </a:ext>
            </a:extLst>
          </p:cNvPr>
          <p:cNvSpPr>
            <a:spLocks xmlns:a="http://schemas.openxmlformats.org/drawingml/2006/main" noGrp="1"/>
          </p:cNvSpPr>
          <p:nvPr/>
        </p:nvSpPr>
        <p:spPr>
          <a:xfrm xmlns:a="http://schemas.openxmlformats.org/drawingml/2006/main">
            <a:off x="6967728" y="1426464"/>
            <a:ext cx="4654296" cy="676656"/>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BD1061E3-D88B-4A34-95DB-D3A65EA55DF2}"/>
              </a:ext>
            </a:extLst>
          </p:cNvPr>
          <p:cNvSpPr>
            <a:spLocks xmlns:a="http://schemas.openxmlformats.org/drawingml/2006/main" noGrp="1"/>
          </p:cNvSpPr>
          <p:nvPr/>
        </p:nvSpPr>
        <p:spPr>
          <a:xfrm xmlns:a="http://schemas.openxmlformats.org/drawingml/2006/main">
            <a:off x="7150608" y="1517904"/>
            <a:ext cx="42885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20" b="1">
                <a:solidFill>
                  <a:srgbClr val="102A43"/>
                </a:solidFill>
                <a:latin typeface="Arial"/>
                <a:ea typeface="Arial"/>
                <a:cs typeface="Arial"/>
              </a:rPr>
              <a:t>Wave 1 — prove the platform</a:t>
            </a:r>
            <a:endParaRPr sz="1020"/>
          </a:p>
        </p:txBody>
      </p:sp>
      <p:sp>
        <p:nvSpPr>
          <p:cNvPr id="8" name="Text 5">
            <a:extLst xmlns:a="http://schemas.openxmlformats.org/drawingml/2006/main">
              <a:ext uri="{FF2B5EF4-FFF2-40B4-BE49-F238E27FC236}">
                <a16:creationId xmlns:a16="http://schemas.microsoft.com/office/drawing/2014/main" id="{DF192667-BE0C-4F9A-B2F8-B85C62A087DC}"/>
              </a:ext>
            </a:extLst>
          </p:cNvPr>
          <p:cNvSpPr>
            <a:spLocks xmlns:a="http://schemas.openxmlformats.org/drawingml/2006/main" noGrp="1"/>
          </p:cNvSpPr>
          <p:nvPr/>
        </p:nvSpPr>
        <p:spPr>
          <a:xfrm xmlns:a="http://schemas.openxmlformats.org/drawingml/2006/main">
            <a:off x="7150608" y="1737360"/>
            <a:ext cx="428853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Lighter tiers only. Establish the pipeline, the governance path and the acceptance model in production.</a:t>
            </a:r>
            <a:endParaRPr sz="900"/>
          </a:p>
        </p:txBody>
      </p:sp>
      <p:sp>
        <p:nvSpPr>
          <p:cNvPr id="9" name="Shape 6">
            <a:extLst xmlns:a="http://schemas.openxmlformats.org/drawingml/2006/main">
              <a:ext uri="{FF2B5EF4-FFF2-40B4-BE49-F238E27FC236}">
                <a16:creationId xmlns:a16="http://schemas.microsoft.com/office/drawing/2014/main" id="{6190768D-C530-4246-BC09-1F2F87AEF896}"/>
              </a:ext>
            </a:extLst>
          </p:cNvPr>
          <p:cNvSpPr>
            <a:spLocks xmlns:a="http://schemas.openxmlformats.org/drawingml/2006/main" noGrp="1"/>
          </p:cNvSpPr>
          <p:nvPr/>
        </p:nvSpPr>
        <p:spPr>
          <a:xfrm xmlns:a="http://schemas.openxmlformats.org/drawingml/2006/main">
            <a:off x="6967728" y="2212848"/>
            <a:ext cx="4654296" cy="676656"/>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D8AC41C9-1870-46C6-8604-95BE8A1B3086}"/>
              </a:ext>
            </a:extLst>
          </p:cNvPr>
          <p:cNvSpPr>
            <a:spLocks xmlns:a="http://schemas.openxmlformats.org/drawingml/2006/main" noGrp="1"/>
          </p:cNvSpPr>
          <p:nvPr/>
        </p:nvSpPr>
        <p:spPr>
          <a:xfrm xmlns:a="http://schemas.openxmlformats.org/drawingml/2006/main">
            <a:off x="7150608" y="2304288"/>
            <a:ext cx="42885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20" b="1">
                <a:solidFill>
                  <a:srgbClr val="102A43"/>
                </a:solidFill>
                <a:latin typeface="Arial"/>
                <a:ea typeface="Arial"/>
                <a:cs typeface="Arial"/>
              </a:rPr>
              <a:t>Wave 2 — introduce complexity</a:t>
            </a:r>
            <a:endParaRPr sz="1020"/>
          </a:p>
        </p:txBody>
      </p:sp>
      <p:sp>
        <p:nvSpPr>
          <p:cNvPr id="11" name="Text 8">
            <a:extLst xmlns:a="http://schemas.openxmlformats.org/drawingml/2006/main">
              <a:ext uri="{FF2B5EF4-FFF2-40B4-BE49-F238E27FC236}">
                <a16:creationId xmlns:a16="http://schemas.microsoft.com/office/drawing/2014/main" id="{286D20BD-6EC0-4892-9011-154C83F48A91}"/>
              </a:ext>
            </a:extLst>
          </p:cNvPr>
          <p:cNvSpPr>
            <a:spLocks xmlns:a="http://schemas.openxmlformats.org/drawingml/2006/main" noGrp="1"/>
          </p:cNvSpPr>
          <p:nvPr/>
        </p:nvSpPr>
        <p:spPr>
          <a:xfrm xmlns:a="http://schemas.openxmlformats.org/drawingml/2006/main">
            <a:off x="7150608" y="2523744"/>
            <a:ext cx="428853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First regulated use cases. Bank engineers pair on delivery rather than observe it.</a:t>
            </a:r>
            <a:endParaRPr sz="900"/>
          </a:p>
        </p:txBody>
      </p:sp>
      <p:sp>
        <p:nvSpPr>
          <p:cNvPr id="12" name="Shape 9">
            <a:extLst xmlns:a="http://schemas.openxmlformats.org/drawingml/2006/main">
              <a:ext uri="{FF2B5EF4-FFF2-40B4-BE49-F238E27FC236}">
                <a16:creationId xmlns:a16="http://schemas.microsoft.com/office/drawing/2014/main" id="{D4B1D9D3-42EA-4176-922A-E0E40F390204}"/>
              </a:ext>
            </a:extLst>
          </p:cNvPr>
          <p:cNvSpPr>
            <a:spLocks xmlns:a="http://schemas.openxmlformats.org/drawingml/2006/main" noGrp="1"/>
          </p:cNvSpPr>
          <p:nvPr/>
        </p:nvSpPr>
        <p:spPr>
          <a:xfrm xmlns:a="http://schemas.openxmlformats.org/drawingml/2006/main">
            <a:off x="6967728" y="2999232"/>
            <a:ext cx="4654296" cy="676656"/>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7CC87436-E3B0-49E5-A22B-83EE129E9EC6}"/>
              </a:ext>
            </a:extLst>
          </p:cNvPr>
          <p:cNvSpPr>
            <a:spLocks xmlns:a="http://schemas.openxmlformats.org/drawingml/2006/main" noGrp="1"/>
          </p:cNvSpPr>
          <p:nvPr/>
        </p:nvSpPr>
        <p:spPr>
          <a:xfrm xmlns:a="http://schemas.openxmlformats.org/drawingml/2006/main">
            <a:off x="7150608" y="3090672"/>
            <a:ext cx="42885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20" b="1">
                <a:solidFill>
                  <a:srgbClr val="102A43"/>
                </a:solidFill>
                <a:latin typeface="Arial"/>
                <a:ea typeface="Arial"/>
                <a:cs typeface="Arial"/>
              </a:rPr>
              <a:t>Wave 3 — invert the ratio</a:t>
            </a:r>
            <a:endParaRPr sz="1020"/>
          </a:p>
        </p:txBody>
      </p:sp>
      <p:sp>
        <p:nvSpPr>
          <p:cNvPr id="14" name="Text 11">
            <a:extLst xmlns:a="http://schemas.openxmlformats.org/drawingml/2006/main">
              <a:ext uri="{FF2B5EF4-FFF2-40B4-BE49-F238E27FC236}">
                <a16:creationId xmlns:a16="http://schemas.microsoft.com/office/drawing/2014/main" id="{BA795B57-2215-4253-A512-A482C8176A95}"/>
              </a:ext>
            </a:extLst>
          </p:cNvPr>
          <p:cNvSpPr>
            <a:spLocks xmlns:a="http://schemas.openxmlformats.org/drawingml/2006/main" noGrp="1"/>
          </p:cNvSpPr>
          <p:nvPr/>
        </p:nvSpPr>
        <p:spPr>
          <a:xfrm xmlns:a="http://schemas.openxmlformats.org/drawingml/2006/main">
            <a:off x="7150608" y="3310128"/>
            <a:ext cx="428853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Bank teams lead, the SI reviews. This is the wave where transfer either happens or visibly has not.</a:t>
            </a:r>
            <a:endParaRPr sz="900"/>
          </a:p>
        </p:txBody>
      </p:sp>
      <p:sp>
        <p:nvSpPr>
          <p:cNvPr id="15" name="Shape 12">
            <a:extLst xmlns:a="http://schemas.openxmlformats.org/drawingml/2006/main">
              <a:ext uri="{FF2B5EF4-FFF2-40B4-BE49-F238E27FC236}">
                <a16:creationId xmlns:a16="http://schemas.microsoft.com/office/drawing/2014/main" id="{8D30CAAB-5E5A-4443-AEE9-4C75BAA91FC2}"/>
              </a:ext>
            </a:extLst>
          </p:cNvPr>
          <p:cNvSpPr>
            <a:spLocks xmlns:a="http://schemas.openxmlformats.org/drawingml/2006/main" noGrp="1"/>
          </p:cNvSpPr>
          <p:nvPr/>
        </p:nvSpPr>
        <p:spPr>
          <a:xfrm xmlns:a="http://schemas.openxmlformats.org/drawingml/2006/main">
            <a:off x="6967728" y="3785616"/>
            <a:ext cx="4654296" cy="676656"/>
          </a:xfrm>
          <a:prstGeom xmlns:a="http://schemas.openxmlformats.org/drawingml/2006/main" prst="rect">
            <a:avLst/>
          </a:prstGeom>
          <a:solidFill xmlns:a="http://schemas.openxmlformats.org/drawingml/2006/main">
            <a:srgbClr val="F3E6E0"/>
          </a:solidFill>
        </p:spPr>
      </p:sp>
      <p:sp>
        <p:nvSpPr>
          <p:cNvPr id="16" name="Text 13">
            <a:extLst xmlns:a="http://schemas.openxmlformats.org/drawingml/2006/main">
              <a:ext uri="{FF2B5EF4-FFF2-40B4-BE49-F238E27FC236}">
                <a16:creationId xmlns:a16="http://schemas.microsoft.com/office/drawing/2014/main" id="{C89B1C45-B620-4AA0-84F6-60C9005528C4}"/>
              </a:ext>
            </a:extLst>
          </p:cNvPr>
          <p:cNvSpPr>
            <a:spLocks xmlns:a="http://schemas.openxmlformats.org/drawingml/2006/main" noGrp="1"/>
          </p:cNvSpPr>
          <p:nvPr/>
        </p:nvSpPr>
        <p:spPr>
          <a:xfrm xmlns:a="http://schemas.openxmlformats.org/drawingml/2006/main">
            <a:off x="7150608" y="3877056"/>
            <a:ext cx="428853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20" b="1">
                <a:solidFill>
                  <a:srgbClr val="B04A25"/>
                </a:solidFill>
                <a:latin typeface="Arial"/>
                <a:ea typeface="Arial"/>
                <a:cs typeface="Arial"/>
              </a:rPr>
              <a:t>Wave 4 — withdraw</a:t>
            </a:r>
            <a:endParaRPr sz="1020"/>
          </a:p>
        </p:txBody>
      </p:sp>
      <p:sp>
        <p:nvSpPr>
          <p:cNvPr id="17" name="Text 14">
            <a:extLst xmlns:a="http://schemas.openxmlformats.org/drawingml/2006/main">
              <a:ext uri="{FF2B5EF4-FFF2-40B4-BE49-F238E27FC236}">
                <a16:creationId xmlns:a16="http://schemas.microsoft.com/office/drawing/2014/main" id="{FFD3F16D-E2B2-4610-B640-AEF397DB8849}"/>
              </a:ext>
            </a:extLst>
          </p:cNvPr>
          <p:cNvSpPr>
            <a:spLocks xmlns:a="http://schemas.openxmlformats.org/drawingml/2006/main" noGrp="1"/>
          </p:cNvSpPr>
          <p:nvPr/>
        </p:nvSpPr>
        <p:spPr>
          <a:xfrm xmlns:a="http://schemas.openxmlformats.org/drawingml/2006/main">
            <a:off x="7150608" y="4096512"/>
            <a:ext cx="428853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The SI delivers only the hardest remainder. If the bank cannot carry the rest here, the exit criteria were never real.</a:t>
            </a:r>
            <a:endParaRPr sz="900"/>
          </a:p>
        </p:txBody>
      </p:sp>
      <p:sp>
        <p:nvSpPr>
          <p:cNvPr id="18" name="Shape 15">
            <a:extLst xmlns:a="http://schemas.openxmlformats.org/drawingml/2006/main">
              <a:ext uri="{FF2B5EF4-FFF2-40B4-BE49-F238E27FC236}">
                <a16:creationId xmlns:a16="http://schemas.microsoft.com/office/drawing/2014/main" id="{6E6E03C9-A77B-4F11-8EC1-B9E8D7C07A3A}"/>
              </a:ext>
            </a:extLst>
          </p:cNvPr>
          <p:cNvSpPr>
            <a:spLocks xmlns:a="http://schemas.openxmlformats.org/drawingml/2006/main" noGrp="1"/>
          </p:cNvSpPr>
          <p:nvPr/>
        </p:nvSpPr>
        <p:spPr>
          <a:xfrm xmlns:a="http://schemas.openxmlformats.org/drawingml/2006/main">
            <a:off x="566928" y="4590288"/>
            <a:ext cx="11057839" cy="1133856"/>
          </a:xfrm>
          <a:prstGeom xmlns:a="http://schemas.openxmlformats.org/drawingml/2006/main" prst="rect">
            <a:avLst/>
          </a:prstGeom>
          <a:solidFill xmlns:a="http://schemas.openxmlformats.org/drawingml/2006/main">
            <a:srgbClr val="F3E6E0"/>
          </a:solidFill>
        </p:spPr>
      </p:sp>
      <p:sp>
        <p:nvSpPr>
          <p:cNvPr id="19" name="Text 16">
            <a:extLst xmlns:a="http://schemas.openxmlformats.org/drawingml/2006/main">
              <a:ext uri="{FF2B5EF4-FFF2-40B4-BE49-F238E27FC236}">
                <a16:creationId xmlns:a16="http://schemas.microsoft.com/office/drawing/2014/main" id="{A17167ED-CF28-47AC-A5B4-85E62DECCF92}"/>
              </a:ext>
            </a:extLst>
          </p:cNvPr>
          <p:cNvSpPr>
            <a:spLocks xmlns:a="http://schemas.openxmlformats.org/drawingml/2006/main" noGrp="1"/>
          </p:cNvSpPr>
          <p:nvPr/>
        </p:nvSpPr>
        <p:spPr>
          <a:xfrm xmlns:a="http://schemas.openxmlformats.org/drawingml/2006/main">
            <a:off x="804672" y="473659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delivery split matters more than the volume split</a:t>
            </a:r>
            <a:endParaRPr sz="1100"/>
          </a:p>
        </p:txBody>
      </p:sp>
      <p:sp>
        <p:nvSpPr>
          <p:cNvPr id="20" name="Text 17">
            <a:extLst xmlns:a="http://schemas.openxmlformats.org/drawingml/2006/main">
              <a:ext uri="{FF2B5EF4-FFF2-40B4-BE49-F238E27FC236}">
                <a16:creationId xmlns:a16="http://schemas.microsoft.com/office/drawing/2014/main" id="{0958C629-A7D0-4271-AD8D-2C105378D230}"/>
              </a:ext>
            </a:extLst>
          </p:cNvPr>
          <p:cNvSpPr>
            <a:spLocks xmlns:a="http://schemas.openxmlformats.org/drawingml/2006/main" noGrp="1"/>
          </p:cNvSpPr>
          <p:nvPr/>
        </p:nvSpPr>
        <p:spPr>
          <a:xfrm xmlns:a="http://schemas.openxmlformats.org/drawingml/2006/main">
            <a:off x="804672" y="4992624"/>
            <a:ext cx="10582351"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Every programme of this shape publishes a volume curve. Almost none publishes an ownership curve. But the contract's actual end-state obligation is that the bank can build, deploy, govern and run use cases independently — which is a statement about wave four, not about the total. Designing the ownership shift explicitly, wave by wave, with acceptance criteria attached, is the only way that obligation is met on time rather than discovered at the handover.</a:t>
            </a:r>
            <a:endParaRPr sz="990"/>
          </a:p>
        </p:txBody>
      </p:sp>
      <p:sp>
        <p:nvSpPr>
          <p:cNvPr id="21" name="Shape 18">
            <a:extLst xmlns:a="http://schemas.openxmlformats.org/drawingml/2006/main">
              <a:ext uri="{FF2B5EF4-FFF2-40B4-BE49-F238E27FC236}">
                <a16:creationId xmlns:a16="http://schemas.microsoft.com/office/drawing/2014/main" id="{7054DD2C-3B2D-4AC6-AF11-9BF06BA0D39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19">
            <a:extLst xmlns:a="http://schemas.openxmlformats.org/drawingml/2006/main">
              <a:ext uri="{FF2B5EF4-FFF2-40B4-BE49-F238E27FC236}">
                <a16:creationId xmlns:a16="http://schemas.microsoft.com/office/drawing/2014/main" id="{D2EEA13A-7EB4-43CE-8173-6BF5CCFF1F3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programme-design analysis</a:t>
            </a:r>
            <a:endParaRPr sz="850"/>
          </a:p>
        </p:txBody>
      </p:sp>
      <p:sp>
        <p:nvSpPr>
          <p:cNvPr id="23" name="Text 20">
            <a:extLst xmlns:a="http://schemas.openxmlformats.org/drawingml/2006/main">
              <a:ext uri="{FF2B5EF4-FFF2-40B4-BE49-F238E27FC236}">
                <a16:creationId xmlns:a16="http://schemas.microsoft.com/office/drawing/2014/main" id="{66C1AF93-994E-4763-AFA1-D64C02C8E71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482541258"/>
      </p:ext>
    </p:extLst>
  </p:cSld>
</p:sld>
</file>

<file path=ppt/slides/slide10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FD40776-8869-4106-B070-28BF6AB016D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ARITHMETIC</a:t>
            </a:r>
            <a:endParaRPr sz="950"/>
          </a:p>
        </p:txBody>
      </p:sp>
      <p:sp>
        <p:nvSpPr>
          <p:cNvPr id="3" name="Text 1">
            <a:extLst xmlns:a="http://schemas.openxmlformats.org/drawingml/2006/main">
              <a:ext uri="{FF2B5EF4-FFF2-40B4-BE49-F238E27FC236}">
                <a16:creationId xmlns:a16="http://schemas.microsoft.com/office/drawing/2014/main" id="{3507DB9D-620E-44C1-9AA9-4B631FEA843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published window and the published volume do not reconcile at any credible</a:t>
            </a:r>
            <a:endParaRPr sz="1900"/>
          </a:p>
          <a:p xmlns:a="http://schemas.openxmlformats.org/drawingml/2006/main">
            <a:pPr marL="0" indent="0">
              <a:lnSpc>
                <a:spcPts val="2400"/>
              </a:lnSpc>
              <a:buNone/>
            </a:pPr>
            <a:r>
              <a:rPr sz="1900" b="1">
                <a:solidFill>
                  <a:srgbClr val="102A43"/>
                </a:solidFill>
                <a:latin typeface="Arial"/>
                <a:ea typeface="Arial"/>
                <a:cs typeface="Arial"/>
              </a:rPr>
              <a:t>effort assumption — which makes it the first question to ask, not the last</a:t>
            </a:r>
            <a:endParaRPr sz="1900"/>
          </a:p>
        </p:txBody>
      </p:sp>
      <p:sp>
        <p:nvSpPr>
          <p:cNvPr id="4" name="Shape 2">
            <a:extLst xmlns:a="http://schemas.openxmlformats.org/drawingml/2006/main">
              <a:ext uri="{FF2B5EF4-FFF2-40B4-BE49-F238E27FC236}">
                <a16:creationId xmlns:a16="http://schemas.microsoft.com/office/drawing/2014/main" id="{11185CA7-99B1-470F-A78E-2172CFD35B0C}"/>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9DD51DF6-D523-440E-9BD2-EC7C0738F561}"/>
              </a:ext>
            </a:extLst>
          </p:cNvPr>
          <p:cNvSpPr>
            <a:spLocks xmlns:a="http://schemas.openxmlformats.org/drawingml/2006/main" noGrp="1"/>
          </p:cNvSpPr>
          <p:nvPr/>
        </p:nvSpPr>
        <p:spPr>
          <a:xfrm xmlns:a="http://schemas.openxmlformats.org/drawingml/2006/main">
            <a:off x="676656" y="1444752"/>
            <a:ext cx="3255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Assumption</a:t>
            </a:r>
            <a:endParaRPr sz="920"/>
          </a:p>
        </p:txBody>
      </p:sp>
      <p:sp>
        <p:nvSpPr>
          <p:cNvPr id="6" name="Text 4">
            <a:extLst xmlns:a="http://schemas.openxmlformats.org/drawingml/2006/main">
              <a:ext uri="{FF2B5EF4-FFF2-40B4-BE49-F238E27FC236}">
                <a16:creationId xmlns:a16="http://schemas.microsoft.com/office/drawing/2014/main" id="{9A4F8E49-0ED6-44EA-8D59-1612689AD6D1}"/>
              </a:ext>
            </a:extLst>
          </p:cNvPr>
          <p:cNvSpPr>
            <a:spLocks xmlns:a="http://schemas.openxmlformats.org/drawingml/2006/main" noGrp="1"/>
          </p:cNvSpPr>
          <p:nvPr/>
        </p:nvSpPr>
        <p:spPr>
          <a:xfrm xmlns:a="http://schemas.openxmlformats.org/drawingml/2006/main">
            <a:off x="4242816" y="1444752"/>
            <a:ext cx="19751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Optimistic</a:t>
            </a:r>
            <a:endParaRPr sz="920"/>
          </a:p>
        </p:txBody>
      </p:sp>
      <p:sp>
        <p:nvSpPr>
          <p:cNvPr id="7" name="Text 5">
            <a:extLst xmlns:a="http://schemas.openxmlformats.org/drawingml/2006/main">
              <a:ext uri="{FF2B5EF4-FFF2-40B4-BE49-F238E27FC236}">
                <a16:creationId xmlns:a16="http://schemas.microsoft.com/office/drawing/2014/main" id="{E1D7C6C6-C3C9-4C52-B87C-BA6EAE71D02A}"/>
              </a:ext>
            </a:extLst>
          </p:cNvPr>
          <p:cNvSpPr>
            <a:spLocks xmlns:a="http://schemas.openxmlformats.org/drawingml/2006/main" noGrp="1"/>
          </p:cNvSpPr>
          <p:nvPr/>
        </p:nvSpPr>
        <p:spPr>
          <a:xfrm xmlns:a="http://schemas.openxmlformats.org/drawingml/2006/main">
            <a:off x="6437376" y="1444752"/>
            <a:ext cx="19751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Plausible</a:t>
            </a:r>
            <a:endParaRPr sz="920"/>
          </a:p>
        </p:txBody>
      </p:sp>
      <p:sp>
        <p:nvSpPr>
          <p:cNvPr id="8" name="Text 6">
            <a:extLst xmlns:a="http://schemas.openxmlformats.org/drawingml/2006/main">
              <a:ext uri="{FF2B5EF4-FFF2-40B4-BE49-F238E27FC236}">
                <a16:creationId xmlns:a16="http://schemas.microsoft.com/office/drawing/2014/main" id="{DB36E4FA-F06A-4ABC-8ADE-35DB9BDEF782}"/>
              </a:ext>
            </a:extLst>
          </p:cNvPr>
          <p:cNvSpPr>
            <a:spLocks xmlns:a="http://schemas.openxmlformats.org/drawingml/2006/main" noGrp="1"/>
          </p:cNvSpPr>
          <p:nvPr/>
        </p:nvSpPr>
        <p:spPr>
          <a:xfrm xmlns:a="http://schemas.openxmlformats.org/drawingml/2006/main">
            <a:off x="8631936" y="1444752"/>
            <a:ext cx="15179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Regulated-heavy</a:t>
            </a:r>
            <a:endParaRPr sz="920"/>
          </a:p>
        </p:txBody>
      </p:sp>
      <p:sp>
        <p:nvSpPr>
          <p:cNvPr id="9" name="Text 7">
            <a:extLst xmlns:a="http://schemas.openxmlformats.org/drawingml/2006/main">
              <a:ext uri="{FF2B5EF4-FFF2-40B4-BE49-F238E27FC236}">
                <a16:creationId xmlns:a16="http://schemas.microsoft.com/office/drawing/2014/main" id="{70635FAA-5512-4465-BE90-C51D5C7AC1AE}"/>
              </a:ext>
            </a:extLst>
          </p:cNvPr>
          <p:cNvSpPr>
            <a:spLocks xmlns:a="http://schemas.openxmlformats.org/drawingml/2006/main" noGrp="1"/>
          </p:cNvSpPr>
          <p:nvPr/>
        </p:nvSpPr>
        <p:spPr>
          <a:xfrm xmlns:a="http://schemas.openxmlformats.org/drawingml/2006/main">
            <a:off x="10369296" y="1444752"/>
            <a:ext cx="1143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Unit</a:t>
            </a:r>
            <a:endParaRPr sz="920"/>
          </a:p>
        </p:txBody>
      </p:sp>
      <p:sp>
        <p:nvSpPr>
          <p:cNvPr id="10" name="Text 8">
            <a:extLst xmlns:a="http://schemas.openxmlformats.org/drawingml/2006/main">
              <a:ext uri="{FF2B5EF4-FFF2-40B4-BE49-F238E27FC236}">
                <a16:creationId xmlns:a16="http://schemas.microsoft.com/office/drawing/2014/main" id="{0636BE25-5A74-4D68-9CE4-FFFFBB27EC00}"/>
              </a:ext>
            </a:extLst>
          </p:cNvPr>
          <p:cNvSpPr>
            <a:spLocks xmlns:a="http://schemas.openxmlformats.org/drawingml/2006/main" noGrp="1"/>
          </p:cNvSpPr>
          <p:nvPr/>
        </p:nvSpPr>
        <p:spPr>
          <a:xfrm xmlns:a="http://schemas.openxmlformats.org/drawingml/2006/main">
            <a:off x="676656" y="1801368"/>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Average effort per use case</a:t>
            </a:r>
            <a:endParaRPr sz="980"/>
          </a:p>
        </p:txBody>
      </p:sp>
      <p:sp>
        <p:nvSpPr>
          <p:cNvPr id="11" name="Text 9">
            <a:extLst xmlns:a="http://schemas.openxmlformats.org/drawingml/2006/main">
              <a:ext uri="{FF2B5EF4-FFF2-40B4-BE49-F238E27FC236}">
                <a16:creationId xmlns:a16="http://schemas.microsoft.com/office/drawing/2014/main" id="{22559B19-7F15-4FF0-A0E2-AB95B29F0CD1}"/>
              </a:ext>
            </a:extLst>
          </p:cNvPr>
          <p:cNvSpPr>
            <a:spLocks xmlns:a="http://schemas.openxmlformats.org/drawingml/2006/main" noGrp="1"/>
          </p:cNvSpPr>
          <p:nvPr/>
        </p:nvSpPr>
        <p:spPr>
          <a:xfrm xmlns:a="http://schemas.openxmlformats.org/drawingml/2006/main">
            <a:off x="4242816" y="1801368"/>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8</a:t>
            </a:r>
            <a:endParaRPr sz="1000"/>
          </a:p>
        </p:txBody>
      </p:sp>
      <p:sp>
        <p:nvSpPr>
          <p:cNvPr id="12" name="Text 10">
            <a:extLst xmlns:a="http://schemas.openxmlformats.org/drawingml/2006/main">
              <a:ext uri="{FF2B5EF4-FFF2-40B4-BE49-F238E27FC236}">
                <a16:creationId xmlns:a16="http://schemas.microsoft.com/office/drawing/2014/main" id="{73EA257D-2A0C-491D-B9D1-50F04C2936B6}"/>
              </a:ext>
            </a:extLst>
          </p:cNvPr>
          <p:cNvSpPr>
            <a:spLocks xmlns:a="http://schemas.openxmlformats.org/drawingml/2006/main" noGrp="1"/>
          </p:cNvSpPr>
          <p:nvPr/>
        </p:nvSpPr>
        <p:spPr>
          <a:xfrm xmlns:a="http://schemas.openxmlformats.org/drawingml/2006/main">
            <a:off x="6437376" y="1801368"/>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13</a:t>
            </a:r>
            <a:endParaRPr sz="1000"/>
          </a:p>
        </p:txBody>
      </p:sp>
      <p:sp>
        <p:nvSpPr>
          <p:cNvPr id="13" name="Text 11">
            <a:extLst xmlns:a="http://schemas.openxmlformats.org/drawingml/2006/main">
              <a:ext uri="{FF2B5EF4-FFF2-40B4-BE49-F238E27FC236}">
                <a16:creationId xmlns:a16="http://schemas.microsoft.com/office/drawing/2014/main" id="{CA8CDF09-6C16-4D3B-8AC6-C649F05EBB24}"/>
              </a:ext>
            </a:extLst>
          </p:cNvPr>
          <p:cNvSpPr>
            <a:spLocks xmlns:a="http://schemas.openxmlformats.org/drawingml/2006/main" noGrp="1"/>
          </p:cNvSpPr>
          <p:nvPr/>
        </p:nvSpPr>
        <p:spPr>
          <a:xfrm xmlns:a="http://schemas.openxmlformats.org/drawingml/2006/main">
            <a:off x="8631936" y="1801368"/>
            <a:ext cx="1517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19</a:t>
            </a:r>
            <a:endParaRPr sz="1000"/>
          </a:p>
        </p:txBody>
      </p:sp>
      <p:sp>
        <p:nvSpPr>
          <p:cNvPr id="14" name="Text 12">
            <a:extLst xmlns:a="http://schemas.openxmlformats.org/drawingml/2006/main">
              <a:ext uri="{FF2B5EF4-FFF2-40B4-BE49-F238E27FC236}">
                <a16:creationId xmlns:a16="http://schemas.microsoft.com/office/drawing/2014/main" id="{78EF2F4B-8D83-4B1A-B2DD-2D95C50A6EBE}"/>
              </a:ext>
            </a:extLst>
          </p:cNvPr>
          <p:cNvSpPr>
            <a:spLocks xmlns:a="http://schemas.openxmlformats.org/drawingml/2006/main" noGrp="1"/>
          </p:cNvSpPr>
          <p:nvPr/>
        </p:nvSpPr>
        <p:spPr>
          <a:xfrm xmlns:a="http://schemas.openxmlformats.org/drawingml/2006/main">
            <a:off x="10369296" y="1801368"/>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a:solidFill>
                  <a:srgbClr val="627D98"/>
                </a:solidFill>
                <a:latin typeface="Arial"/>
                <a:ea typeface="Arial"/>
                <a:cs typeface="Arial"/>
              </a:rPr>
              <a:t>person-weeks</a:t>
            </a:r>
            <a:endParaRPr sz="900"/>
          </a:p>
        </p:txBody>
      </p:sp>
      <p:sp>
        <p:nvSpPr>
          <p:cNvPr id="15" name="Shape 13">
            <a:extLst xmlns:a="http://schemas.openxmlformats.org/drawingml/2006/main">
              <a:ext uri="{FF2B5EF4-FFF2-40B4-BE49-F238E27FC236}">
                <a16:creationId xmlns:a16="http://schemas.microsoft.com/office/drawing/2014/main" id="{DB7FE5E8-69BC-4CC9-BD27-5139AC997E81}"/>
              </a:ext>
            </a:extLst>
          </p:cNvPr>
          <p:cNvSpPr>
            <a:spLocks xmlns:a="http://schemas.openxmlformats.org/drawingml/2006/main" noGrp="1"/>
          </p:cNvSpPr>
          <p:nvPr/>
        </p:nvSpPr>
        <p:spPr>
          <a:xfrm xmlns:a="http://schemas.openxmlformats.org/drawingml/2006/main">
            <a:off x="566928" y="2176272"/>
            <a:ext cx="11057839" cy="7315"/>
          </a:xfrm>
          <a:prstGeom xmlns:a="http://schemas.openxmlformats.org/drawingml/2006/main" prst="rect">
            <a:avLst/>
          </a:prstGeom>
          <a:solidFill xmlns:a="http://schemas.openxmlformats.org/drawingml/2006/main">
            <a:srgbClr val="CBD5E0"/>
          </a:solidFill>
        </p:spPr>
      </p:sp>
      <p:sp>
        <p:nvSpPr>
          <p:cNvPr id="16" name="Shape 14">
            <a:extLst xmlns:a="http://schemas.openxmlformats.org/drawingml/2006/main">
              <a:ext uri="{FF2B5EF4-FFF2-40B4-BE49-F238E27FC236}">
                <a16:creationId xmlns:a16="http://schemas.microsoft.com/office/drawing/2014/main" id="{C9CCE048-0858-42FF-921C-C49F0C823114}"/>
              </a:ext>
            </a:extLst>
          </p:cNvPr>
          <p:cNvSpPr>
            <a:spLocks xmlns:a="http://schemas.openxmlformats.org/drawingml/2006/main" noGrp="1"/>
          </p:cNvSpPr>
          <p:nvPr/>
        </p:nvSpPr>
        <p:spPr>
          <a:xfrm xmlns:a="http://schemas.openxmlformats.org/drawingml/2006/main">
            <a:off x="566928" y="2176272"/>
            <a:ext cx="11057839" cy="475488"/>
          </a:xfrm>
          <a:prstGeom xmlns:a="http://schemas.openxmlformats.org/drawingml/2006/main" prst="rect">
            <a:avLst/>
          </a:prstGeom>
          <a:solidFill xmlns:a="http://schemas.openxmlformats.org/drawingml/2006/main">
            <a:srgbClr val="F7F9FB"/>
          </a:solidFill>
        </p:spPr>
      </p:sp>
      <p:sp>
        <p:nvSpPr>
          <p:cNvPr id="17" name="Text 15">
            <a:extLst xmlns:a="http://schemas.openxmlformats.org/drawingml/2006/main">
              <a:ext uri="{FF2B5EF4-FFF2-40B4-BE49-F238E27FC236}">
                <a16:creationId xmlns:a16="http://schemas.microsoft.com/office/drawing/2014/main" id="{C0B28BFB-B7AD-48E0-8E2C-A4B824D469C4}"/>
              </a:ext>
            </a:extLst>
          </p:cNvPr>
          <p:cNvSpPr>
            <a:spLocks xmlns:a="http://schemas.openxmlformats.org/drawingml/2006/main" noGrp="1"/>
          </p:cNvSpPr>
          <p:nvPr/>
        </p:nvSpPr>
        <p:spPr>
          <a:xfrm xmlns:a="http://schemas.openxmlformats.org/drawingml/2006/main">
            <a:off x="676656" y="2276856"/>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Total delivery effort</a:t>
            </a:r>
            <a:endParaRPr sz="980"/>
          </a:p>
        </p:txBody>
      </p:sp>
      <p:sp>
        <p:nvSpPr>
          <p:cNvPr id="18" name="Text 16">
            <a:extLst xmlns:a="http://schemas.openxmlformats.org/drawingml/2006/main">
              <a:ext uri="{FF2B5EF4-FFF2-40B4-BE49-F238E27FC236}">
                <a16:creationId xmlns:a16="http://schemas.microsoft.com/office/drawing/2014/main" id="{A6B3352A-670F-4147-AB8C-71D5DCA02769}"/>
              </a:ext>
            </a:extLst>
          </p:cNvPr>
          <p:cNvSpPr>
            <a:spLocks xmlns:a="http://schemas.openxmlformats.org/drawingml/2006/main" noGrp="1"/>
          </p:cNvSpPr>
          <p:nvPr/>
        </p:nvSpPr>
        <p:spPr>
          <a:xfrm xmlns:a="http://schemas.openxmlformats.org/drawingml/2006/main">
            <a:off x="4242816" y="2276856"/>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600</a:t>
            </a:r>
            <a:endParaRPr sz="1000"/>
          </a:p>
        </p:txBody>
      </p:sp>
      <p:sp>
        <p:nvSpPr>
          <p:cNvPr id="19" name="Text 17">
            <a:extLst xmlns:a="http://schemas.openxmlformats.org/drawingml/2006/main">
              <a:ext uri="{FF2B5EF4-FFF2-40B4-BE49-F238E27FC236}">
                <a16:creationId xmlns:a16="http://schemas.microsoft.com/office/drawing/2014/main" id="{D8BEC32C-0E40-4C57-8859-11A242E084CC}"/>
              </a:ext>
            </a:extLst>
          </p:cNvPr>
          <p:cNvSpPr>
            <a:spLocks xmlns:a="http://schemas.openxmlformats.org/drawingml/2006/main" noGrp="1"/>
          </p:cNvSpPr>
          <p:nvPr/>
        </p:nvSpPr>
        <p:spPr>
          <a:xfrm xmlns:a="http://schemas.openxmlformats.org/drawingml/2006/main">
            <a:off x="6437376" y="2276856"/>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975</a:t>
            </a:r>
            <a:endParaRPr sz="1000"/>
          </a:p>
        </p:txBody>
      </p:sp>
      <p:sp>
        <p:nvSpPr>
          <p:cNvPr id="20" name="Text 18">
            <a:extLst xmlns:a="http://schemas.openxmlformats.org/drawingml/2006/main">
              <a:ext uri="{FF2B5EF4-FFF2-40B4-BE49-F238E27FC236}">
                <a16:creationId xmlns:a16="http://schemas.microsoft.com/office/drawing/2014/main" id="{57FC5EB7-E8C6-4539-ABFF-7DD74110C833}"/>
              </a:ext>
            </a:extLst>
          </p:cNvPr>
          <p:cNvSpPr>
            <a:spLocks xmlns:a="http://schemas.openxmlformats.org/drawingml/2006/main" noGrp="1"/>
          </p:cNvSpPr>
          <p:nvPr/>
        </p:nvSpPr>
        <p:spPr>
          <a:xfrm xmlns:a="http://schemas.openxmlformats.org/drawingml/2006/main">
            <a:off x="8631936" y="2276856"/>
            <a:ext cx="1517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1,425</a:t>
            </a:r>
            <a:endParaRPr sz="1000"/>
          </a:p>
        </p:txBody>
      </p:sp>
      <p:sp>
        <p:nvSpPr>
          <p:cNvPr id="21" name="Text 19">
            <a:extLst xmlns:a="http://schemas.openxmlformats.org/drawingml/2006/main">
              <a:ext uri="{FF2B5EF4-FFF2-40B4-BE49-F238E27FC236}">
                <a16:creationId xmlns:a16="http://schemas.microsoft.com/office/drawing/2014/main" id="{472AA37E-1FCC-4A20-BEE2-8BAE7A617456}"/>
              </a:ext>
            </a:extLst>
          </p:cNvPr>
          <p:cNvSpPr>
            <a:spLocks xmlns:a="http://schemas.openxmlformats.org/drawingml/2006/main" noGrp="1"/>
          </p:cNvSpPr>
          <p:nvPr/>
        </p:nvSpPr>
        <p:spPr>
          <a:xfrm xmlns:a="http://schemas.openxmlformats.org/drawingml/2006/main">
            <a:off x="10369296" y="2276856"/>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a:solidFill>
                  <a:srgbClr val="627D98"/>
                </a:solidFill>
                <a:latin typeface="Arial"/>
                <a:ea typeface="Arial"/>
                <a:cs typeface="Arial"/>
              </a:rPr>
              <a:t>person-weeks</a:t>
            </a:r>
            <a:endParaRPr sz="900"/>
          </a:p>
        </p:txBody>
      </p:sp>
      <p:sp>
        <p:nvSpPr>
          <p:cNvPr id="22" name="Shape 20">
            <a:extLst xmlns:a="http://schemas.openxmlformats.org/drawingml/2006/main">
              <a:ext uri="{FF2B5EF4-FFF2-40B4-BE49-F238E27FC236}">
                <a16:creationId xmlns:a16="http://schemas.microsoft.com/office/drawing/2014/main" id="{1092D393-0E8E-4ACD-A9E8-6C064E9F441F}"/>
              </a:ext>
            </a:extLst>
          </p:cNvPr>
          <p:cNvSpPr>
            <a:spLocks xmlns:a="http://schemas.openxmlformats.org/drawingml/2006/main" noGrp="1"/>
          </p:cNvSpPr>
          <p:nvPr/>
        </p:nvSpPr>
        <p:spPr>
          <a:xfrm xmlns:a="http://schemas.openxmlformats.org/drawingml/2006/main">
            <a:off x="566928" y="2651760"/>
            <a:ext cx="11057839" cy="7315"/>
          </a:xfrm>
          <a:prstGeom xmlns:a="http://schemas.openxmlformats.org/drawingml/2006/main" prst="rect">
            <a:avLst/>
          </a:prstGeom>
          <a:solidFill xmlns:a="http://schemas.openxmlformats.org/drawingml/2006/main">
            <a:srgbClr val="CBD5E0"/>
          </a:solidFill>
        </p:spPr>
      </p:sp>
      <p:sp>
        <p:nvSpPr>
          <p:cNvPr id="23" name="Text 21">
            <a:extLst xmlns:a="http://schemas.openxmlformats.org/drawingml/2006/main">
              <a:ext uri="{FF2B5EF4-FFF2-40B4-BE49-F238E27FC236}">
                <a16:creationId xmlns:a16="http://schemas.microsoft.com/office/drawing/2014/main" id="{A78BDB09-EF15-4B36-BC46-92345F32E1A4}"/>
              </a:ext>
            </a:extLst>
          </p:cNvPr>
          <p:cNvSpPr>
            <a:spLocks xmlns:a="http://schemas.openxmlformats.org/drawingml/2006/main" noGrp="1"/>
          </p:cNvSpPr>
          <p:nvPr/>
        </p:nvSpPr>
        <p:spPr>
          <a:xfrm xmlns:a="http://schemas.openxmlformats.org/drawingml/2006/main">
            <a:off x="676656" y="275234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Co-delivery overhead at 25%</a:t>
            </a:r>
            <a:endParaRPr sz="980"/>
          </a:p>
        </p:txBody>
      </p:sp>
      <p:sp>
        <p:nvSpPr>
          <p:cNvPr id="24" name="Text 22">
            <a:extLst xmlns:a="http://schemas.openxmlformats.org/drawingml/2006/main">
              <a:ext uri="{FF2B5EF4-FFF2-40B4-BE49-F238E27FC236}">
                <a16:creationId xmlns:a16="http://schemas.microsoft.com/office/drawing/2014/main" id="{8E970A5D-5982-4DDB-86D9-66EFB02AB7CB}"/>
              </a:ext>
            </a:extLst>
          </p:cNvPr>
          <p:cNvSpPr>
            <a:spLocks xmlns:a="http://schemas.openxmlformats.org/drawingml/2006/main" noGrp="1"/>
          </p:cNvSpPr>
          <p:nvPr/>
        </p:nvSpPr>
        <p:spPr>
          <a:xfrm xmlns:a="http://schemas.openxmlformats.org/drawingml/2006/main">
            <a:off x="4242816" y="2752344"/>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150</a:t>
            </a:r>
            <a:endParaRPr sz="1000"/>
          </a:p>
        </p:txBody>
      </p:sp>
      <p:sp>
        <p:nvSpPr>
          <p:cNvPr id="25" name="Text 23">
            <a:extLst xmlns:a="http://schemas.openxmlformats.org/drawingml/2006/main">
              <a:ext uri="{FF2B5EF4-FFF2-40B4-BE49-F238E27FC236}">
                <a16:creationId xmlns:a16="http://schemas.microsoft.com/office/drawing/2014/main" id="{E3A4B7EC-BD7B-4E0B-BDA4-B61336BEB32F}"/>
              </a:ext>
            </a:extLst>
          </p:cNvPr>
          <p:cNvSpPr>
            <a:spLocks xmlns:a="http://schemas.openxmlformats.org/drawingml/2006/main" noGrp="1"/>
          </p:cNvSpPr>
          <p:nvPr/>
        </p:nvSpPr>
        <p:spPr>
          <a:xfrm xmlns:a="http://schemas.openxmlformats.org/drawingml/2006/main">
            <a:off x="6437376" y="2752344"/>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244</a:t>
            </a:r>
            <a:endParaRPr sz="1000"/>
          </a:p>
        </p:txBody>
      </p:sp>
      <p:sp>
        <p:nvSpPr>
          <p:cNvPr id="26" name="Text 24">
            <a:extLst xmlns:a="http://schemas.openxmlformats.org/drawingml/2006/main">
              <a:ext uri="{FF2B5EF4-FFF2-40B4-BE49-F238E27FC236}">
                <a16:creationId xmlns:a16="http://schemas.microsoft.com/office/drawing/2014/main" id="{2D4B3A48-D25D-4E21-9A57-6D2B06B41AD0}"/>
              </a:ext>
            </a:extLst>
          </p:cNvPr>
          <p:cNvSpPr>
            <a:spLocks xmlns:a="http://schemas.openxmlformats.org/drawingml/2006/main" noGrp="1"/>
          </p:cNvSpPr>
          <p:nvPr/>
        </p:nvSpPr>
        <p:spPr>
          <a:xfrm xmlns:a="http://schemas.openxmlformats.org/drawingml/2006/main">
            <a:off x="8631936" y="2752344"/>
            <a:ext cx="1517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356</a:t>
            </a:r>
            <a:endParaRPr sz="1000"/>
          </a:p>
        </p:txBody>
      </p:sp>
      <p:sp>
        <p:nvSpPr>
          <p:cNvPr id="27" name="Text 25">
            <a:extLst xmlns:a="http://schemas.openxmlformats.org/drawingml/2006/main">
              <a:ext uri="{FF2B5EF4-FFF2-40B4-BE49-F238E27FC236}">
                <a16:creationId xmlns:a16="http://schemas.microsoft.com/office/drawing/2014/main" id="{E90FC789-550E-42C3-98BC-E171CF2E0F97}"/>
              </a:ext>
            </a:extLst>
          </p:cNvPr>
          <p:cNvSpPr>
            <a:spLocks xmlns:a="http://schemas.openxmlformats.org/drawingml/2006/main" noGrp="1"/>
          </p:cNvSpPr>
          <p:nvPr/>
        </p:nvSpPr>
        <p:spPr>
          <a:xfrm xmlns:a="http://schemas.openxmlformats.org/drawingml/2006/main">
            <a:off x="10369296" y="275234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a:solidFill>
                  <a:srgbClr val="627D98"/>
                </a:solidFill>
                <a:latin typeface="Arial"/>
                <a:ea typeface="Arial"/>
                <a:cs typeface="Arial"/>
              </a:rPr>
              <a:t>person-weeks</a:t>
            </a:r>
            <a:endParaRPr sz="900"/>
          </a:p>
        </p:txBody>
      </p:sp>
      <p:sp>
        <p:nvSpPr>
          <p:cNvPr id="28" name="Shape 26">
            <a:extLst xmlns:a="http://schemas.openxmlformats.org/drawingml/2006/main">
              <a:ext uri="{FF2B5EF4-FFF2-40B4-BE49-F238E27FC236}">
                <a16:creationId xmlns:a16="http://schemas.microsoft.com/office/drawing/2014/main" id="{16B81616-4D0B-458F-956F-76AA5FC8651A}"/>
              </a:ext>
            </a:extLst>
          </p:cNvPr>
          <p:cNvSpPr>
            <a:spLocks xmlns:a="http://schemas.openxmlformats.org/drawingml/2006/main" noGrp="1"/>
          </p:cNvSpPr>
          <p:nvPr/>
        </p:nvSpPr>
        <p:spPr>
          <a:xfrm xmlns:a="http://schemas.openxmlformats.org/drawingml/2006/main">
            <a:off x="566928" y="3127248"/>
            <a:ext cx="11057839" cy="7315"/>
          </a:xfrm>
          <a:prstGeom xmlns:a="http://schemas.openxmlformats.org/drawingml/2006/main" prst="rect">
            <a:avLst/>
          </a:prstGeom>
          <a:solidFill xmlns:a="http://schemas.openxmlformats.org/drawingml/2006/main">
            <a:srgbClr val="CBD5E0"/>
          </a:solidFill>
        </p:spPr>
      </p:sp>
      <p:sp>
        <p:nvSpPr>
          <p:cNvPr id="29" name="Shape 27">
            <a:extLst xmlns:a="http://schemas.openxmlformats.org/drawingml/2006/main">
              <a:ext uri="{FF2B5EF4-FFF2-40B4-BE49-F238E27FC236}">
                <a16:creationId xmlns:a16="http://schemas.microsoft.com/office/drawing/2014/main" id="{427EF614-33FE-4CE4-9067-F408003B2940}"/>
              </a:ext>
            </a:extLst>
          </p:cNvPr>
          <p:cNvSpPr>
            <a:spLocks xmlns:a="http://schemas.openxmlformats.org/drawingml/2006/main" noGrp="1"/>
          </p:cNvSpPr>
          <p:nvPr/>
        </p:nvSpPr>
        <p:spPr>
          <a:xfrm xmlns:a="http://schemas.openxmlformats.org/drawingml/2006/main">
            <a:off x="566928" y="3127248"/>
            <a:ext cx="11057839" cy="475488"/>
          </a:xfrm>
          <a:prstGeom xmlns:a="http://schemas.openxmlformats.org/drawingml/2006/main" prst="rect">
            <a:avLst/>
          </a:prstGeom>
          <a:solidFill xmlns:a="http://schemas.openxmlformats.org/drawingml/2006/main">
            <a:srgbClr val="F7F9FB"/>
          </a:solidFill>
        </p:spPr>
      </p:sp>
      <p:sp>
        <p:nvSpPr>
          <p:cNvPr id="30" name="Text 28">
            <a:extLst xmlns:a="http://schemas.openxmlformats.org/drawingml/2006/main">
              <a:ext uri="{FF2B5EF4-FFF2-40B4-BE49-F238E27FC236}">
                <a16:creationId xmlns:a16="http://schemas.microsoft.com/office/drawing/2014/main" id="{41E3886C-E911-4427-86E2-E1E74EA3D685}"/>
              </a:ext>
            </a:extLst>
          </p:cNvPr>
          <p:cNvSpPr>
            <a:spLocks xmlns:a="http://schemas.openxmlformats.org/drawingml/2006/main" noGrp="1"/>
          </p:cNvSpPr>
          <p:nvPr/>
        </p:nvSpPr>
        <p:spPr>
          <a:xfrm xmlns:a="http://schemas.openxmlformats.org/drawingml/2006/main">
            <a:off x="676656" y="3227832"/>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Independent QA at one per three</a:t>
            </a:r>
            <a:endParaRPr sz="980"/>
          </a:p>
        </p:txBody>
      </p:sp>
      <p:sp>
        <p:nvSpPr>
          <p:cNvPr id="31" name="Text 29">
            <a:extLst xmlns:a="http://schemas.openxmlformats.org/drawingml/2006/main">
              <a:ext uri="{FF2B5EF4-FFF2-40B4-BE49-F238E27FC236}">
                <a16:creationId xmlns:a16="http://schemas.microsoft.com/office/drawing/2014/main" id="{0C530AD0-8D91-4F9A-BA81-B7325D2E9D56}"/>
              </a:ext>
            </a:extLst>
          </p:cNvPr>
          <p:cNvSpPr>
            <a:spLocks xmlns:a="http://schemas.openxmlformats.org/drawingml/2006/main" noGrp="1"/>
          </p:cNvSpPr>
          <p:nvPr/>
        </p:nvSpPr>
        <p:spPr>
          <a:xfrm xmlns:a="http://schemas.openxmlformats.org/drawingml/2006/main">
            <a:off x="4242816" y="3227832"/>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250</a:t>
            </a:r>
            <a:endParaRPr sz="1000"/>
          </a:p>
        </p:txBody>
      </p:sp>
      <p:sp>
        <p:nvSpPr>
          <p:cNvPr id="32" name="Text 30">
            <a:extLst xmlns:a="http://schemas.openxmlformats.org/drawingml/2006/main">
              <a:ext uri="{FF2B5EF4-FFF2-40B4-BE49-F238E27FC236}">
                <a16:creationId xmlns:a16="http://schemas.microsoft.com/office/drawing/2014/main" id="{56D900A7-A045-45BA-A455-AC411E796E5E}"/>
              </a:ext>
            </a:extLst>
          </p:cNvPr>
          <p:cNvSpPr>
            <a:spLocks xmlns:a="http://schemas.openxmlformats.org/drawingml/2006/main" noGrp="1"/>
          </p:cNvSpPr>
          <p:nvPr/>
        </p:nvSpPr>
        <p:spPr>
          <a:xfrm xmlns:a="http://schemas.openxmlformats.org/drawingml/2006/main">
            <a:off x="6437376" y="3227832"/>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406</a:t>
            </a:r>
            <a:endParaRPr sz="1000"/>
          </a:p>
        </p:txBody>
      </p:sp>
      <p:sp>
        <p:nvSpPr>
          <p:cNvPr id="33" name="Text 31">
            <a:extLst xmlns:a="http://schemas.openxmlformats.org/drawingml/2006/main">
              <a:ext uri="{FF2B5EF4-FFF2-40B4-BE49-F238E27FC236}">
                <a16:creationId xmlns:a16="http://schemas.microsoft.com/office/drawing/2014/main" id="{C4D50207-4B8F-4A4B-8124-23A19E08272C}"/>
              </a:ext>
            </a:extLst>
          </p:cNvPr>
          <p:cNvSpPr>
            <a:spLocks xmlns:a="http://schemas.openxmlformats.org/drawingml/2006/main" noGrp="1"/>
          </p:cNvSpPr>
          <p:nvPr/>
        </p:nvSpPr>
        <p:spPr>
          <a:xfrm xmlns:a="http://schemas.openxmlformats.org/drawingml/2006/main">
            <a:off x="8631936" y="3227832"/>
            <a:ext cx="1517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594</a:t>
            </a:r>
            <a:endParaRPr sz="1000"/>
          </a:p>
        </p:txBody>
      </p:sp>
      <p:sp>
        <p:nvSpPr>
          <p:cNvPr id="34" name="Text 32">
            <a:extLst xmlns:a="http://schemas.openxmlformats.org/drawingml/2006/main">
              <a:ext uri="{FF2B5EF4-FFF2-40B4-BE49-F238E27FC236}">
                <a16:creationId xmlns:a16="http://schemas.microsoft.com/office/drawing/2014/main" id="{738164C4-4FAA-4F4A-B5E9-7EC7C470E259}"/>
              </a:ext>
            </a:extLst>
          </p:cNvPr>
          <p:cNvSpPr>
            <a:spLocks xmlns:a="http://schemas.openxmlformats.org/drawingml/2006/main" noGrp="1"/>
          </p:cNvSpPr>
          <p:nvPr/>
        </p:nvSpPr>
        <p:spPr>
          <a:xfrm xmlns:a="http://schemas.openxmlformats.org/drawingml/2006/main">
            <a:off x="10369296" y="3227832"/>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a:solidFill>
                  <a:srgbClr val="627D98"/>
                </a:solidFill>
                <a:latin typeface="Arial"/>
                <a:ea typeface="Arial"/>
                <a:cs typeface="Arial"/>
              </a:rPr>
              <a:t>person-weeks</a:t>
            </a:r>
            <a:endParaRPr sz="900"/>
          </a:p>
        </p:txBody>
      </p:sp>
      <p:sp>
        <p:nvSpPr>
          <p:cNvPr id="35" name="Shape 33">
            <a:extLst xmlns:a="http://schemas.openxmlformats.org/drawingml/2006/main">
              <a:ext uri="{FF2B5EF4-FFF2-40B4-BE49-F238E27FC236}">
                <a16:creationId xmlns:a16="http://schemas.microsoft.com/office/drawing/2014/main" id="{6521ED0D-5893-48FA-A8A0-FCE084B0DFFD}"/>
              </a:ext>
            </a:extLst>
          </p:cNvPr>
          <p:cNvSpPr>
            <a:spLocks xmlns:a="http://schemas.openxmlformats.org/drawingml/2006/main" noGrp="1"/>
          </p:cNvSpPr>
          <p:nvPr/>
        </p:nvSpPr>
        <p:spPr>
          <a:xfrm xmlns:a="http://schemas.openxmlformats.org/drawingml/2006/main">
            <a:off x="566928" y="3602736"/>
            <a:ext cx="11057839" cy="7315"/>
          </a:xfrm>
          <a:prstGeom xmlns:a="http://schemas.openxmlformats.org/drawingml/2006/main" prst="rect">
            <a:avLst/>
          </a:prstGeom>
          <a:solidFill xmlns:a="http://schemas.openxmlformats.org/drawingml/2006/main">
            <a:srgbClr val="CBD5E0"/>
          </a:solidFill>
        </p:spPr>
      </p:sp>
      <p:sp>
        <p:nvSpPr>
          <p:cNvPr id="36" name="Text 34">
            <a:extLst xmlns:a="http://schemas.openxmlformats.org/drawingml/2006/main">
              <a:ext uri="{FF2B5EF4-FFF2-40B4-BE49-F238E27FC236}">
                <a16:creationId xmlns:a16="http://schemas.microsoft.com/office/drawing/2014/main" id="{40025A5F-BAC0-4F0E-AB74-582F96755D7D}"/>
              </a:ext>
            </a:extLst>
          </p:cNvPr>
          <p:cNvSpPr>
            <a:spLocks xmlns:a="http://schemas.openxmlformats.org/drawingml/2006/main" noGrp="1"/>
          </p:cNvSpPr>
          <p:nvPr/>
        </p:nvSpPr>
        <p:spPr>
          <a:xfrm xmlns:a="http://schemas.openxmlformats.org/drawingml/2006/main">
            <a:off x="676656" y="3703320"/>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Total programme effort</a:t>
            </a:r>
            <a:endParaRPr sz="980"/>
          </a:p>
        </p:txBody>
      </p:sp>
      <p:sp>
        <p:nvSpPr>
          <p:cNvPr id="37" name="Text 35">
            <a:extLst xmlns:a="http://schemas.openxmlformats.org/drawingml/2006/main">
              <a:ext uri="{FF2B5EF4-FFF2-40B4-BE49-F238E27FC236}">
                <a16:creationId xmlns:a16="http://schemas.microsoft.com/office/drawing/2014/main" id="{FCB1A094-4DE6-4AFB-8511-B7F130F945E1}"/>
              </a:ext>
            </a:extLst>
          </p:cNvPr>
          <p:cNvSpPr>
            <a:spLocks xmlns:a="http://schemas.openxmlformats.org/drawingml/2006/main" noGrp="1"/>
          </p:cNvSpPr>
          <p:nvPr/>
        </p:nvSpPr>
        <p:spPr>
          <a:xfrm xmlns:a="http://schemas.openxmlformats.org/drawingml/2006/main">
            <a:off x="4242816" y="3703320"/>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1,000</a:t>
            </a:r>
            <a:endParaRPr sz="1000"/>
          </a:p>
        </p:txBody>
      </p:sp>
      <p:sp>
        <p:nvSpPr>
          <p:cNvPr id="38" name="Text 36">
            <a:extLst xmlns:a="http://schemas.openxmlformats.org/drawingml/2006/main">
              <a:ext uri="{FF2B5EF4-FFF2-40B4-BE49-F238E27FC236}">
                <a16:creationId xmlns:a16="http://schemas.microsoft.com/office/drawing/2014/main" id="{1C9E8621-546A-48BB-955D-8991AF1DEDCC}"/>
              </a:ext>
            </a:extLst>
          </p:cNvPr>
          <p:cNvSpPr>
            <a:spLocks xmlns:a="http://schemas.openxmlformats.org/drawingml/2006/main" noGrp="1"/>
          </p:cNvSpPr>
          <p:nvPr/>
        </p:nvSpPr>
        <p:spPr>
          <a:xfrm xmlns:a="http://schemas.openxmlformats.org/drawingml/2006/main">
            <a:off x="6437376" y="3703320"/>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1,625</a:t>
            </a:r>
            <a:endParaRPr sz="1000"/>
          </a:p>
        </p:txBody>
      </p:sp>
      <p:sp>
        <p:nvSpPr>
          <p:cNvPr id="39" name="Text 37">
            <a:extLst xmlns:a="http://schemas.openxmlformats.org/drawingml/2006/main">
              <a:ext uri="{FF2B5EF4-FFF2-40B4-BE49-F238E27FC236}">
                <a16:creationId xmlns:a16="http://schemas.microsoft.com/office/drawing/2014/main" id="{E4165977-733B-473F-828F-0679DDB46CE6}"/>
              </a:ext>
            </a:extLst>
          </p:cNvPr>
          <p:cNvSpPr>
            <a:spLocks xmlns:a="http://schemas.openxmlformats.org/drawingml/2006/main" noGrp="1"/>
          </p:cNvSpPr>
          <p:nvPr/>
        </p:nvSpPr>
        <p:spPr>
          <a:xfrm xmlns:a="http://schemas.openxmlformats.org/drawingml/2006/main">
            <a:off x="8631936" y="3703320"/>
            <a:ext cx="1517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2,375</a:t>
            </a:r>
            <a:endParaRPr sz="1000"/>
          </a:p>
        </p:txBody>
      </p:sp>
      <p:sp>
        <p:nvSpPr>
          <p:cNvPr id="40" name="Text 38">
            <a:extLst xmlns:a="http://schemas.openxmlformats.org/drawingml/2006/main">
              <a:ext uri="{FF2B5EF4-FFF2-40B4-BE49-F238E27FC236}">
                <a16:creationId xmlns:a16="http://schemas.microsoft.com/office/drawing/2014/main" id="{C0B62574-7D91-4EF9-AE9D-13407BF47026}"/>
              </a:ext>
            </a:extLst>
          </p:cNvPr>
          <p:cNvSpPr>
            <a:spLocks xmlns:a="http://schemas.openxmlformats.org/drawingml/2006/main" noGrp="1"/>
          </p:cNvSpPr>
          <p:nvPr/>
        </p:nvSpPr>
        <p:spPr>
          <a:xfrm xmlns:a="http://schemas.openxmlformats.org/drawingml/2006/main">
            <a:off x="10369296" y="3703320"/>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a:solidFill>
                  <a:srgbClr val="627D98"/>
                </a:solidFill>
                <a:latin typeface="Arial"/>
                <a:ea typeface="Arial"/>
                <a:cs typeface="Arial"/>
              </a:rPr>
              <a:t>person-weeks</a:t>
            </a:r>
            <a:endParaRPr sz="900"/>
          </a:p>
        </p:txBody>
      </p:sp>
      <p:sp>
        <p:nvSpPr>
          <p:cNvPr id="41" name="Shape 39">
            <a:extLst xmlns:a="http://schemas.openxmlformats.org/drawingml/2006/main">
              <a:ext uri="{FF2B5EF4-FFF2-40B4-BE49-F238E27FC236}">
                <a16:creationId xmlns:a16="http://schemas.microsoft.com/office/drawing/2014/main" id="{CEC57E77-4C90-4D8B-905A-FEB8B29506ED}"/>
              </a:ext>
            </a:extLst>
          </p:cNvPr>
          <p:cNvSpPr>
            <a:spLocks xmlns:a="http://schemas.openxmlformats.org/drawingml/2006/main" noGrp="1"/>
          </p:cNvSpPr>
          <p:nvPr/>
        </p:nvSpPr>
        <p:spPr>
          <a:xfrm xmlns:a="http://schemas.openxmlformats.org/drawingml/2006/main">
            <a:off x="566928" y="4078224"/>
            <a:ext cx="11057839" cy="7315"/>
          </a:xfrm>
          <a:prstGeom xmlns:a="http://schemas.openxmlformats.org/drawingml/2006/main" prst="rect">
            <a:avLst/>
          </a:prstGeom>
          <a:solidFill xmlns:a="http://schemas.openxmlformats.org/drawingml/2006/main">
            <a:srgbClr val="CBD5E0"/>
          </a:solidFill>
        </p:spPr>
      </p:sp>
      <p:sp>
        <p:nvSpPr>
          <p:cNvPr id="42" name="Shape 40">
            <a:extLst xmlns:a="http://schemas.openxmlformats.org/drawingml/2006/main">
              <a:ext uri="{FF2B5EF4-FFF2-40B4-BE49-F238E27FC236}">
                <a16:creationId xmlns:a16="http://schemas.microsoft.com/office/drawing/2014/main" id="{17E23D63-F8FD-42EB-AE17-F495BD9D73FE}"/>
              </a:ext>
            </a:extLst>
          </p:cNvPr>
          <p:cNvSpPr>
            <a:spLocks xmlns:a="http://schemas.openxmlformats.org/drawingml/2006/main" noGrp="1"/>
          </p:cNvSpPr>
          <p:nvPr/>
        </p:nvSpPr>
        <p:spPr>
          <a:xfrm xmlns:a="http://schemas.openxmlformats.org/drawingml/2006/main">
            <a:off x="566928" y="4078224"/>
            <a:ext cx="11057839" cy="475488"/>
          </a:xfrm>
          <a:prstGeom xmlns:a="http://schemas.openxmlformats.org/drawingml/2006/main" prst="rect">
            <a:avLst/>
          </a:prstGeom>
          <a:solidFill xmlns:a="http://schemas.openxmlformats.org/drawingml/2006/main">
            <a:srgbClr val="F7F9FB"/>
          </a:solidFill>
        </p:spPr>
      </p:sp>
      <p:sp>
        <p:nvSpPr>
          <p:cNvPr id="43" name="Text 41">
            <a:extLst xmlns:a="http://schemas.openxmlformats.org/drawingml/2006/main">
              <a:ext uri="{FF2B5EF4-FFF2-40B4-BE49-F238E27FC236}">
                <a16:creationId xmlns:a16="http://schemas.microsoft.com/office/drawing/2014/main" id="{1BB91DDA-F249-4FFC-BAE9-FE95D74F4514}"/>
              </a:ext>
            </a:extLst>
          </p:cNvPr>
          <p:cNvSpPr>
            <a:spLocks xmlns:a="http://schemas.openxmlformats.org/drawingml/2006/main" noGrp="1"/>
          </p:cNvSpPr>
          <p:nvPr/>
        </p:nvSpPr>
        <p:spPr>
          <a:xfrm xmlns:a="http://schemas.openxmlformats.org/drawingml/2006/main">
            <a:off x="676656" y="4178808"/>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Sustained team required</a:t>
            </a:r>
            <a:endParaRPr sz="980"/>
          </a:p>
        </p:txBody>
      </p:sp>
      <p:sp>
        <p:nvSpPr>
          <p:cNvPr id="44" name="Text 42">
            <a:extLst xmlns:a="http://schemas.openxmlformats.org/drawingml/2006/main">
              <a:ext uri="{FF2B5EF4-FFF2-40B4-BE49-F238E27FC236}">
                <a16:creationId xmlns:a16="http://schemas.microsoft.com/office/drawing/2014/main" id="{020928A3-6D3C-4128-8EF7-631953DF6716}"/>
              </a:ext>
            </a:extLst>
          </p:cNvPr>
          <p:cNvSpPr>
            <a:spLocks xmlns:a="http://schemas.openxmlformats.org/drawingml/2006/main" noGrp="1"/>
          </p:cNvSpPr>
          <p:nvPr/>
        </p:nvSpPr>
        <p:spPr>
          <a:xfrm xmlns:a="http://schemas.openxmlformats.org/drawingml/2006/main">
            <a:off x="4242816" y="4178808"/>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16</a:t>
            </a:r>
            <a:endParaRPr sz="1000"/>
          </a:p>
        </p:txBody>
      </p:sp>
      <p:sp>
        <p:nvSpPr>
          <p:cNvPr id="45" name="Text 43">
            <a:extLst xmlns:a="http://schemas.openxmlformats.org/drawingml/2006/main">
              <a:ext uri="{FF2B5EF4-FFF2-40B4-BE49-F238E27FC236}">
                <a16:creationId xmlns:a16="http://schemas.microsoft.com/office/drawing/2014/main" id="{0ECCCA48-6642-441F-BEE9-079267B1B242}"/>
              </a:ext>
            </a:extLst>
          </p:cNvPr>
          <p:cNvSpPr>
            <a:spLocks xmlns:a="http://schemas.openxmlformats.org/drawingml/2006/main" noGrp="1"/>
          </p:cNvSpPr>
          <p:nvPr/>
        </p:nvSpPr>
        <p:spPr>
          <a:xfrm xmlns:a="http://schemas.openxmlformats.org/drawingml/2006/main">
            <a:off x="6437376" y="4178808"/>
            <a:ext cx="19751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b="1">
                <a:solidFill>
                  <a:srgbClr val="B04A25"/>
                </a:solidFill>
                <a:latin typeface="Arial"/>
                <a:ea typeface="Arial"/>
                <a:cs typeface="Arial"/>
              </a:rPr>
              <a:t>26</a:t>
            </a:r>
            <a:endParaRPr sz="1000"/>
          </a:p>
        </p:txBody>
      </p:sp>
      <p:sp>
        <p:nvSpPr>
          <p:cNvPr id="46" name="Text 44">
            <a:extLst xmlns:a="http://schemas.openxmlformats.org/drawingml/2006/main">
              <a:ext uri="{FF2B5EF4-FFF2-40B4-BE49-F238E27FC236}">
                <a16:creationId xmlns:a16="http://schemas.microsoft.com/office/drawing/2014/main" id="{280AFBCA-41EF-4D24-851A-86DC513C25FE}"/>
              </a:ext>
            </a:extLst>
          </p:cNvPr>
          <p:cNvSpPr>
            <a:spLocks xmlns:a="http://schemas.openxmlformats.org/drawingml/2006/main" noGrp="1"/>
          </p:cNvSpPr>
          <p:nvPr/>
        </p:nvSpPr>
        <p:spPr>
          <a:xfrm xmlns:a="http://schemas.openxmlformats.org/drawingml/2006/main">
            <a:off x="8631936" y="4178808"/>
            <a:ext cx="1517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1000">
                <a:solidFill>
                  <a:srgbClr val="486581"/>
                </a:solidFill>
                <a:latin typeface="Arial"/>
                <a:ea typeface="Arial"/>
                <a:cs typeface="Arial"/>
              </a:rPr>
              <a:t>38</a:t>
            </a:r>
            <a:endParaRPr sz="1000"/>
          </a:p>
        </p:txBody>
      </p:sp>
      <p:sp>
        <p:nvSpPr>
          <p:cNvPr id="47" name="Text 45">
            <a:extLst xmlns:a="http://schemas.openxmlformats.org/drawingml/2006/main">
              <a:ext uri="{FF2B5EF4-FFF2-40B4-BE49-F238E27FC236}">
                <a16:creationId xmlns:a16="http://schemas.microsoft.com/office/drawing/2014/main" id="{90DFCE72-4CBF-4752-A423-07047846EAF7}"/>
              </a:ext>
            </a:extLst>
          </p:cNvPr>
          <p:cNvSpPr>
            <a:spLocks xmlns:a="http://schemas.openxmlformats.org/drawingml/2006/main" noGrp="1"/>
          </p:cNvSpPr>
          <p:nvPr/>
        </p:nvSpPr>
        <p:spPr>
          <a:xfrm xmlns:a="http://schemas.openxmlformats.org/drawingml/2006/main">
            <a:off x="10369296" y="4178808"/>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a:solidFill>
                  <a:srgbClr val="627D98"/>
                </a:solidFill>
                <a:latin typeface="Arial"/>
                <a:ea typeface="Arial"/>
                <a:cs typeface="Arial"/>
              </a:rPr>
              <a:t>people, 3 years</a:t>
            </a:r>
            <a:endParaRPr sz="900"/>
          </a:p>
        </p:txBody>
      </p:sp>
      <p:sp>
        <p:nvSpPr>
          <p:cNvPr id="48" name="Shape 46">
            <a:extLst xmlns:a="http://schemas.openxmlformats.org/drawingml/2006/main">
              <a:ext uri="{FF2B5EF4-FFF2-40B4-BE49-F238E27FC236}">
                <a16:creationId xmlns:a16="http://schemas.microsoft.com/office/drawing/2014/main" id="{0AFFCC59-ADAC-4466-B35D-D41E94346318}"/>
              </a:ext>
            </a:extLst>
          </p:cNvPr>
          <p:cNvSpPr>
            <a:spLocks xmlns:a="http://schemas.openxmlformats.org/drawingml/2006/main" noGrp="1"/>
          </p:cNvSpPr>
          <p:nvPr/>
        </p:nvSpPr>
        <p:spPr>
          <a:xfrm xmlns:a="http://schemas.openxmlformats.org/drawingml/2006/main">
            <a:off x="566928" y="4553712"/>
            <a:ext cx="11057839" cy="7315"/>
          </a:xfrm>
          <a:prstGeom xmlns:a="http://schemas.openxmlformats.org/drawingml/2006/main" prst="rect">
            <a:avLst/>
          </a:prstGeom>
          <a:solidFill xmlns:a="http://schemas.openxmlformats.org/drawingml/2006/main">
            <a:srgbClr val="CBD5E0"/>
          </a:solidFill>
        </p:spPr>
      </p:sp>
      <p:sp>
        <p:nvSpPr>
          <p:cNvPr id="49" name="Shape 47">
            <a:extLst xmlns:a="http://schemas.openxmlformats.org/drawingml/2006/main">
              <a:ext uri="{FF2B5EF4-FFF2-40B4-BE49-F238E27FC236}">
                <a16:creationId xmlns:a16="http://schemas.microsoft.com/office/drawing/2014/main" id="{4401FE89-50FA-4CD1-85BE-223D7CA693E6}"/>
              </a:ext>
            </a:extLst>
          </p:cNvPr>
          <p:cNvSpPr>
            <a:spLocks xmlns:a="http://schemas.openxmlformats.org/drawingml/2006/main" noGrp="1"/>
          </p:cNvSpPr>
          <p:nvPr/>
        </p:nvSpPr>
        <p:spPr>
          <a:xfrm xmlns:a="http://schemas.openxmlformats.org/drawingml/2006/main">
            <a:off x="566928" y="4754880"/>
            <a:ext cx="2682164" cy="804672"/>
          </a:xfrm>
          <a:prstGeom xmlns:a="http://schemas.openxmlformats.org/drawingml/2006/main" prst="rect">
            <a:avLst/>
          </a:prstGeom>
          <a:solidFill xmlns:a="http://schemas.openxmlformats.org/drawingml/2006/main">
            <a:srgbClr val="F0F4F8"/>
          </a:solidFill>
        </p:spPr>
      </p:sp>
      <p:sp>
        <p:nvSpPr>
          <p:cNvPr id="50" name="Text 48">
            <a:extLst xmlns:a="http://schemas.openxmlformats.org/drawingml/2006/main">
              <a:ext uri="{FF2B5EF4-FFF2-40B4-BE49-F238E27FC236}">
                <a16:creationId xmlns:a16="http://schemas.microsoft.com/office/drawing/2014/main" id="{97F1336F-3B23-4D35-A00F-7291E9B7693D}"/>
              </a:ext>
            </a:extLst>
          </p:cNvPr>
          <p:cNvSpPr>
            <a:spLocks xmlns:a="http://schemas.openxmlformats.org/drawingml/2006/main" noGrp="1"/>
          </p:cNvSpPr>
          <p:nvPr/>
        </p:nvSpPr>
        <p:spPr>
          <a:xfrm xmlns:a="http://schemas.openxmlformats.org/drawingml/2006/main">
            <a:off x="694944" y="487375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1,625</a:t>
            </a:r>
            <a:endParaRPr sz="2100"/>
          </a:p>
        </p:txBody>
      </p:sp>
      <p:sp>
        <p:nvSpPr>
          <p:cNvPr id="51" name="Text 49">
            <a:extLst xmlns:a="http://schemas.openxmlformats.org/drawingml/2006/main">
              <a:ext uri="{FF2B5EF4-FFF2-40B4-BE49-F238E27FC236}">
                <a16:creationId xmlns:a16="http://schemas.microsoft.com/office/drawing/2014/main" id="{280DF725-8914-4E49-8A9D-3CB26FD58BF7}"/>
              </a:ext>
            </a:extLst>
          </p:cNvPr>
          <p:cNvSpPr>
            <a:spLocks xmlns:a="http://schemas.openxmlformats.org/drawingml/2006/main" noGrp="1"/>
          </p:cNvSpPr>
          <p:nvPr/>
        </p:nvSpPr>
        <p:spPr>
          <a:xfrm xmlns:a="http://schemas.openxmlformats.org/drawingml/2006/main">
            <a:off x="694944" y="5266944"/>
            <a:ext cx="24261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person-weeks at a plausible mix</a:t>
            </a:r>
            <a:endParaRPr sz="860"/>
          </a:p>
        </p:txBody>
      </p:sp>
      <p:sp>
        <p:nvSpPr>
          <p:cNvPr id="52" name="Shape 50">
            <a:extLst xmlns:a="http://schemas.openxmlformats.org/drawingml/2006/main">
              <a:ext uri="{FF2B5EF4-FFF2-40B4-BE49-F238E27FC236}">
                <a16:creationId xmlns:a16="http://schemas.microsoft.com/office/drawing/2014/main" id="{E39F3E00-4314-427D-8967-B17AC2D354FE}"/>
              </a:ext>
            </a:extLst>
          </p:cNvPr>
          <p:cNvSpPr>
            <a:spLocks xmlns:a="http://schemas.openxmlformats.org/drawingml/2006/main" noGrp="1"/>
          </p:cNvSpPr>
          <p:nvPr/>
        </p:nvSpPr>
        <p:spPr>
          <a:xfrm xmlns:a="http://schemas.openxmlformats.org/drawingml/2006/main">
            <a:off x="3358820" y="4754880"/>
            <a:ext cx="2682164" cy="804672"/>
          </a:xfrm>
          <a:prstGeom xmlns:a="http://schemas.openxmlformats.org/drawingml/2006/main" prst="rect">
            <a:avLst/>
          </a:prstGeom>
          <a:solidFill xmlns:a="http://schemas.openxmlformats.org/drawingml/2006/main">
            <a:srgbClr val="F0F4F8"/>
          </a:solidFill>
        </p:spPr>
      </p:sp>
      <p:sp>
        <p:nvSpPr>
          <p:cNvPr id="53" name="Text 51">
            <a:extLst xmlns:a="http://schemas.openxmlformats.org/drawingml/2006/main">
              <a:ext uri="{FF2B5EF4-FFF2-40B4-BE49-F238E27FC236}">
                <a16:creationId xmlns:a16="http://schemas.microsoft.com/office/drawing/2014/main" id="{02B1A5CB-58AE-4888-A482-AB39672F3DA1}"/>
              </a:ext>
            </a:extLst>
          </p:cNvPr>
          <p:cNvSpPr>
            <a:spLocks xmlns:a="http://schemas.openxmlformats.org/drawingml/2006/main" noGrp="1"/>
          </p:cNvSpPr>
          <p:nvPr/>
        </p:nvSpPr>
        <p:spPr>
          <a:xfrm xmlns:a="http://schemas.openxmlformats.org/drawingml/2006/main">
            <a:off x="3486836" y="487375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26</a:t>
            </a:r>
            <a:endParaRPr sz="2100"/>
          </a:p>
        </p:txBody>
      </p:sp>
      <p:sp>
        <p:nvSpPr>
          <p:cNvPr id="54" name="Text 52">
            <a:extLst xmlns:a="http://schemas.openxmlformats.org/drawingml/2006/main">
              <a:ext uri="{FF2B5EF4-FFF2-40B4-BE49-F238E27FC236}">
                <a16:creationId xmlns:a16="http://schemas.microsoft.com/office/drawing/2014/main" id="{3B105470-671F-4B35-B7DF-EDD6C1C24AE2}"/>
              </a:ext>
            </a:extLst>
          </p:cNvPr>
          <p:cNvSpPr>
            <a:spLocks xmlns:a="http://schemas.openxmlformats.org/drawingml/2006/main" noGrp="1"/>
          </p:cNvSpPr>
          <p:nvPr/>
        </p:nvSpPr>
        <p:spPr>
          <a:xfrm xmlns:a="http://schemas.openxmlformats.org/drawingml/2006/main">
            <a:off x="3486836" y="5266944"/>
            <a:ext cx="24261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people sustained for three years</a:t>
            </a:r>
            <a:endParaRPr sz="860"/>
          </a:p>
        </p:txBody>
      </p:sp>
      <p:sp>
        <p:nvSpPr>
          <p:cNvPr id="55" name="Shape 53">
            <a:extLst xmlns:a="http://schemas.openxmlformats.org/drawingml/2006/main">
              <a:ext uri="{FF2B5EF4-FFF2-40B4-BE49-F238E27FC236}">
                <a16:creationId xmlns:a16="http://schemas.microsoft.com/office/drawing/2014/main" id="{C6910657-BEB4-478C-B198-8652487F2D67}"/>
              </a:ext>
            </a:extLst>
          </p:cNvPr>
          <p:cNvSpPr>
            <a:spLocks xmlns:a="http://schemas.openxmlformats.org/drawingml/2006/main" noGrp="1"/>
          </p:cNvSpPr>
          <p:nvPr/>
        </p:nvSpPr>
        <p:spPr>
          <a:xfrm xmlns:a="http://schemas.openxmlformats.org/drawingml/2006/main">
            <a:off x="6150712" y="4754880"/>
            <a:ext cx="2682164" cy="804672"/>
          </a:xfrm>
          <a:prstGeom xmlns:a="http://schemas.openxmlformats.org/drawingml/2006/main" prst="rect">
            <a:avLst/>
          </a:prstGeom>
          <a:solidFill xmlns:a="http://schemas.openxmlformats.org/drawingml/2006/main">
            <a:srgbClr val="F0F4F8"/>
          </a:solidFill>
        </p:spPr>
      </p:sp>
      <p:sp>
        <p:nvSpPr>
          <p:cNvPr id="56" name="Text 54">
            <a:extLst xmlns:a="http://schemas.openxmlformats.org/drawingml/2006/main">
              <a:ext uri="{FF2B5EF4-FFF2-40B4-BE49-F238E27FC236}">
                <a16:creationId xmlns:a16="http://schemas.microsoft.com/office/drawing/2014/main" id="{3919FB0D-DADF-4BDA-B7BE-2B583A6B0F29}"/>
              </a:ext>
            </a:extLst>
          </p:cNvPr>
          <p:cNvSpPr>
            <a:spLocks xmlns:a="http://schemas.openxmlformats.org/drawingml/2006/main" noGrp="1"/>
          </p:cNvSpPr>
          <p:nvPr/>
        </p:nvSpPr>
        <p:spPr>
          <a:xfrm xmlns:a="http://schemas.openxmlformats.org/drawingml/2006/main">
            <a:off x="6278728" y="487375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2.7×</a:t>
            </a:r>
            <a:endParaRPr sz="2100"/>
          </a:p>
        </p:txBody>
      </p:sp>
      <p:sp>
        <p:nvSpPr>
          <p:cNvPr id="57" name="Text 55">
            <a:extLst xmlns:a="http://schemas.openxmlformats.org/drawingml/2006/main">
              <a:ext uri="{FF2B5EF4-FFF2-40B4-BE49-F238E27FC236}">
                <a16:creationId xmlns:a16="http://schemas.microsoft.com/office/drawing/2014/main" id="{8BBD44FD-0998-4DF7-B8EC-D08ACDA77977}"/>
              </a:ext>
            </a:extLst>
          </p:cNvPr>
          <p:cNvSpPr>
            <a:spLocks xmlns:a="http://schemas.openxmlformats.org/drawingml/2006/main" noGrp="1"/>
          </p:cNvSpPr>
          <p:nvPr/>
        </p:nvSpPr>
        <p:spPr>
          <a:xfrm xmlns:a="http://schemas.openxmlformats.org/drawingml/2006/main">
            <a:off x="6278728" y="5266944"/>
            <a:ext cx="24261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the optimistic estimate at the top end</a:t>
            </a:r>
            <a:endParaRPr sz="860"/>
          </a:p>
        </p:txBody>
      </p:sp>
      <p:sp>
        <p:nvSpPr>
          <p:cNvPr id="58" name="Shape 56">
            <a:extLst xmlns:a="http://schemas.openxmlformats.org/drawingml/2006/main">
              <a:ext uri="{FF2B5EF4-FFF2-40B4-BE49-F238E27FC236}">
                <a16:creationId xmlns:a16="http://schemas.microsoft.com/office/drawing/2014/main" id="{1F9D62D4-EC53-4B3E-9166-D2E7FD24B980}"/>
              </a:ext>
            </a:extLst>
          </p:cNvPr>
          <p:cNvSpPr>
            <a:spLocks xmlns:a="http://schemas.openxmlformats.org/drawingml/2006/main" noGrp="1"/>
          </p:cNvSpPr>
          <p:nvPr/>
        </p:nvSpPr>
        <p:spPr>
          <a:xfrm xmlns:a="http://schemas.openxmlformats.org/drawingml/2006/main">
            <a:off x="8942603" y="4754880"/>
            <a:ext cx="2682164" cy="804672"/>
          </a:xfrm>
          <a:prstGeom xmlns:a="http://schemas.openxmlformats.org/drawingml/2006/main" prst="rect">
            <a:avLst/>
          </a:prstGeom>
          <a:solidFill xmlns:a="http://schemas.openxmlformats.org/drawingml/2006/main">
            <a:srgbClr val="F0F4F8"/>
          </a:solidFill>
        </p:spPr>
      </p:sp>
      <p:sp>
        <p:nvSpPr>
          <p:cNvPr id="59" name="Text 57">
            <a:extLst xmlns:a="http://schemas.openxmlformats.org/drawingml/2006/main">
              <a:ext uri="{FF2B5EF4-FFF2-40B4-BE49-F238E27FC236}">
                <a16:creationId xmlns:a16="http://schemas.microsoft.com/office/drawing/2014/main" id="{14201A38-4B97-4EA3-97CE-62D4A1ED828E}"/>
              </a:ext>
            </a:extLst>
          </p:cNvPr>
          <p:cNvSpPr>
            <a:spLocks xmlns:a="http://schemas.openxmlformats.org/drawingml/2006/main" noGrp="1"/>
          </p:cNvSpPr>
          <p:nvPr/>
        </p:nvSpPr>
        <p:spPr>
          <a:xfrm xmlns:a="http://schemas.openxmlformats.org/drawingml/2006/main">
            <a:off x="9070619" y="4873752"/>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60" name="Text 58">
            <a:extLst xmlns:a="http://schemas.openxmlformats.org/drawingml/2006/main">
              <a:ext uri="{FF2B5EF4-FFF2-40B4-BE49-F238E27FC236}">
                <a16:creationId xmlns:a16="http://schemas.microsoft.com/office/drawing/2014/main" id="{941E6442-1846-4804-BA04-44F7A057B48D}"/>
              </a:ext>
            </a:extLst>
          </p:cNvPr>
          <p:cNvSpPr>
            <a:spLocks xmlns:a="http://schemas.openxmlformats.org/drawingml/2006/main" noGrp="1"/>
          </p:cNvSpPr>
          <p:nvPr/>
        </p:nvSpPr>
        <p:spPr>
          <a:xfrm xmlns:a="http://schemas.openxmlformats.org/drawingml/2006/main">
            <a:off x="9070619" y="5266944"/>
            <a:ext cx="242613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question that resolves it</a:t>
            </a:r>
            <a:endParaRPr sz="860"/>
          </a:p>
        </p:txBody>
      </p:sp>
      <p:sp>
        <p:nvSpPr>
          <p:cNvPr id="61" name="Shape 59">
            <a:extLst xmlns:a="http://schemas.openxmlformats.org/drawingml/2006/main">
              <a:ext uri="{FF2B5EF4-FFF2-40B4-BE49-F238E27FC236}">
                <a16:creationId xmlns:a16="http://schemas.microsoft.com/office/drawing/2014/main" id="{DD25BBCB-EB17-41EA-9C02-8CCE0AB7389E}"/>
              </a:ext>
            </a:extLst>
          </p:cNvPr>
          <p:cNvSpPr>
            <a:spLocks xmlns:a="http://schemas.openxmlformats.org/drawingml/2006/main" noGrp="1"/>
          </p:cNvSpPr>
          <p:nvPr/>
        </p:nvSpPr>
        <p:spPr>
          <a:xfrm xmlns:a="http://schemas.openxmlformats.org/drawingml/2006/main">
            <a:off x="566928" y="5650992"/>
            <a:ext cx="11057839" cy="640080"/>
          </a:xfrm>
          <a:prstGeom xmlns:a="http://schemas.openxmlformats.org/drawingml/2006/main" prst="rect">
            <a:avLst/>
          </a:prstGeom>
          <a:solidFill xmlns:a="http://schemas.openxmlformats.org/drawingml/2006/main">
            <a:srgbClr val="F3E6E0"/>
          </a:solidFill>
        </p:spPr>
      </p:sp>
      <p:sp>
        <p:nvSpPr>
          <p:cNvPr id="62" name="Text 60">
            <a:extLst xmlns:a="http://schemas.openxmlformats.org/drawingml/2006/main">
              <a:ext uri="{FF2B5EF4-FFF2-40B4-BE49-F238E27FC236}">
                <a16:creationId xmlns:a16="http://schemas.microsoft.com/office/drawing/2014/main" id="{CC92B2CD-0900-4748-A3FD-9FA3B8E5AFFE}"/>
              </a:ext>
            </a:extLst>
          </p:cNvPr>
          <p:cNvSpPr>
            <a:spLocks xmlns:a="http://schemas.openxmlformats.org/drawingml/2006/main" noGrp="1"/>
          </p:cNvSpPr>
          <p:nvPr/>
        </p:nvSpPr>
        <p:spPr>
          <a:xfrm xmlns:a="http://schemas.openxmlformats.org/drawingml/2006/main">
            <a:off x="804672" y="5833872"/>
            <a:ext cx="10582351"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twofold spread is driven almost entirely by the assumed complexity mix, which the tender does not state. Asking costs one clarification question before the deadline; guessing costs the difference between a viable programme and a loss-making one for three years.</a:t>
            </a:r>
            <a:endParaRPr sz="990"/>
          </a:p>
        </p:txBody>
      </p:sp>
      <p:sp>
        <p:nvSpPr>
          <p:cNvPr id="63" name="Shape 61">
            <a:extLst xmlns:a="http://schemas.openxmlformats.org/drawingml/2006/main">
              <a:ext uri="{FF2B5EF4-FFF2-40B4-BE49-F238E27FC236}">
                <a16:creationId xmlns:a16="http://schemas.microsoft.com/office/drawing/2014/main" id="{2C0C9CD3-B195-4EF6-B287-21053DE5CAE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64" name="Text 62">
            <a:extLst xmlns:a="http://schemas.openxmlformats.org/drawingml/2006/main">
              <a:ext uri="{FF2B5EF4-FFF2-40B4-BE49-F238E27FC236}">
                <a16:creationId xmlns:a16="http://schemas.microsoft.com/office/drawing/2014/main" id="{2EA0A0E6-B2B7-4A91-973E-9830BD94C48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resourcing model — illustrative effort assumptions, structural argument</a:t>
            </a:r>
            <a:endParaRPr sz="850"/>
          </a:p>
        </p:txBody>
      </p:sp>
      <p:sp>
        <p:nvSpPr>
          <p:cNvPr id="65" name="Text 63">
            <a:extLst xmlns:a="http://schemas.openxmlformats.org/drawingml/2006/main">
              <a:ext uri="{FF2B5EF4-FFF2-40B4-BE49-F238E27FC236}">
                <a16:creationId xmlns:a16="http://schemas.microsoft.com/office/drawing/2014/main" id="{DD279398-03F5-4052-B9FC-FF554BFDEED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447041247"/>
      </p:ext>
    </p:extLst>
  </p:cSld>
</p:sld>
</file>

<file path=ppt/slides/slide10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188960B-12A1-480F-8595-84CECA81045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GOVERNANCE</a:t>
            </a:r>
            <a:endParaRPr sz="950"/>
          </a:p>
        </p:txBody>
      </p:sp>
      <p:sp>
        <p:nvSpPr>
          <p:cNvPr id="3" name="Text 1">
            <a:extLst xmlns:a="http://schemas.openxmlformats.org/drawingml/2006/main">
              <a:ext uri="{FF2B5EF4-FFF2-40B4-BE49-F238E27FC236}">
                <a16:creationId xmlns:a16="http://schemas.microsoft.com/office/drawing/2014/main" id="{F2BD25E6-02D4-4F15-AE88-4E4F60E5596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obligations sit outside the use-case count and are routinely under-priced —</a:t>
            </a:r>
            <a:endParaRPr sz="1900"/>
          </a:p>
          <a:p xmlns:a="http://schemas.openxmlformats.org/drawingml/2006/main">
            <a:pPr marL="0" indent="0">
              <a:lnSpc>
                <a:spcPts val="2400"/>
              </a:lnSpc>
              <a:buNone/>
            </a:pPr>
            <a:r>
              <a:rPr sz="1900" b="1">
                <a:solidFill>
                  <a:srgbClr val="102A43"/>
                </a:solidFill>
                <a:latin typeface="Arial"/>
                <a:ea typeface="Arial"/>
                <a:cs typeface="Arial"/>
              </a:rPr>
              <a:t>together they are a substantial share of programme cost</a:t>
            </a:r>
            <a:endParaRPr sz="1900"/>
          </a:p>
        </p:txBody>
      </p:sp>
      <p:sp>
        <p:nvSpPr>
          <p:cNvPr id="4" name="Shape 2">
            <a:extLst xmlns:a="http://schemas.openxmlformats.org/drawingml/2006/main">
              <a:ext uri="{FF2B5EF4-FFF2-40B4-BE49-F238E27FC236}">
                <a16:creationId xmlns:a16="http://schemas.microsoft.com/office/drawing/2014/main" id="{EA30D0A8-C6A2-4226-B5A3-C4A7BDE6FA9F}"/>
              </a:ext>
            </a:extLst>
          </p:cNvPr>
          <p:cNvSpPr>
            <a:spLocks xmlns:a="http://schemas.openxmlformats.org/drawingml/2006/main" noGrp="1"/>
          </p:cNvSpPr>
          <p:nvPr/>
        </p:nvSpPr>
        <p:spPr>
          <a:xfrm xmlns:a="http://schemas.openxmlformats.org/drawingml/2006/main">
            <a:off x="566928" y="1335024"/>
            <a:ext cx="5391760" cy="1810512"/>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320463F4-E86E-4F67-8292-B2CE5B2AE4E1}"/>
              </a:ext>
            </a:extLst>
          </p:cNvPr>
          <p:cNvSpPr>
            <a:spLocks xmlns:a="http://schemas.openxmlformats.org/drawingml/2006/main" noGrp="1"/>
          </p:cNvSpPr>
          <p:nvPr/>
        </p:nvSpPr>
        <p:spPr>
          <a:xfrm xmlns:a="http://schemas.openxmlformats.org/drawingml/2006/main">
            <a:off x="786384" y="1499616"/>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Independent quality assurance</a:t>
            </a:r>
            <a:endParaRPr sz="1200"/>
          </a:p>
        </p:txBody>
      </p:sp>
      <p:sp>
        <p:nvSpPr>
          <p:cNvPr id="6" name="Text 4">
            <a:extLst xmlns:a="http://schemas.openxmlformats.org/drawingml/2006/main">
              <a:ext uri="{FF2B5EF4-FFF2-40B4-BE49-F238E27FC236}">
                <a16:creationId xmlns:a16="http://schemas.microsoft.com/office/drawing/2014/main" id="{8161015F-D48B-4CD4-AB17-98D0ED00F352}"/>
              </a:ext>
            </a:extLst>
          </p:cNvPr>
          <p:cNvSpPr>
            <a:spLocks xmlns:a="http://schemas.openxmlformats.org/drawingml/2006/main" noGrp="1"/>
          </p:cNvSpPr>
          <p:nvPr/>
        </p:nvSpPr>
        <p:spPr>
          <a:xfrm xmlns:a="http://schemas.openxmlformats.org/drawingml/2006/main">
            <a:off x="786384" y="1792224"/>
            <a:ext cx="495284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A service-assurance team structurally separate from delivery, at a minimum of one QA per three developers, owning SLAs, audits and continuous improvement.</a:t>
            </a:r>
            <a:endParaRPr sz="950"/>
          </a:p>
        </p:txBody>
      </p:sp>
      <p:sp>
        <p:nvSpPr>
          <p:cNvPr id="7" name="Shape 5">
            <a:extLst xmlns:a="http://schemas.openxmlformats.org/drawingml/2006/main">
              <a:ext uri="{FF2B5EF4-FFF2-40B4-BE49-F238E27FC236}">
                <a16:creationId xmlns:a16="http://schemas.microsoft.com/office/drawing/2014/main" id="{E9D1C350-F859-4BD3-B80D-8BA5B04D574A}"/>
              </a:ext>
            </a:extLst>
          </p:cNvPr>
          <p:cNvSpPr>
            <a:spLocks xmlns:a="http://schemas.openxmlformats.org/drawingml/2006/main" noGrp="1"/>
          </p:cNvSpPr>
          <p:nvPr/>
        </p:nvSpPr>
        <p:spPr>
          <a:xfrm xmlns:a="http://schemas.openxmlformats.org/drawingml/2006/main">
            <a:off x="786384" y="2523744"/>
            <a:ext cx="4952848"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B22BC1C5-41A4-4AD6-BADF-EEA420F346C4}"/>
              </a:ext>
            </a:extLst>
          </p:cNvPr>
          <p:cNvSpPr>
            <a:spLocks xmlns:a="http://schemas.openxmlformats.org/drawingml/2006/main" noGrp="1"/>
          </p:cNvSpPr>
          <p:nvPr/>
        </p:nvSpPr>
        <p:spPr>
          <a:xfrm xmlns:a="http://schemas.openxmlformats.org/drawingml/2006/main">
            <a:off x="786384" y="2651760"/>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Roughly a quarter of delivery effort again — and it cannot be absorbed into the delivery pods, because independence is the requirement.</a:t>
            </a:r>
            <a:endParaRPr sz="930"/>
          </a:p>
        </p:txBody>
      </p:sp>
      <p:sp>
        <p:nvSpPr>
          <p:cNvPr id="9" name="Shape 7">
            <a:extLst xmlns:a="http://schemas.openxmlformats.org/drawingml/2006/main">
              <a:ext uri="{FF2B5EF4-FFF2-40B4-BE49-F238E27FC236}">
                <a16:creationId xmlns:a16="http://schemas.microsoft.com/office/drawing/2014/main" id="{76198A5E-AA4F-4034-AEB1-60A66DD2F282}"/>
              </a:ext>
            </a:extLst>
          </p:cNvPr>
          <p:cNvSpPr>
            <a:spLocks xmlns:a="http://schemas.openxmlformats.org/drawingml/2006/main" noGrp="1"/>
          </p:cNvSpPr>
          <p:nvPr/>
        </p:nvSpPr>
        <p:spPr>
          <a:xfrm xmlns:a="http://schemas.openxmlformats.org/drawingml/2006/main">
            <a:off x="6233008" y="1335024"/>
            <a:ext cx="5391760" cy="1810512"/>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97DDB262-24C4-440F-BEE4-1BA6E349BA63}"/>
              </a:ext>
            </a:extLst>
          </p:cNvPr>
          <p:cNvSpPr>
            <a:spLocks xmlns:a="http://schemas.openxmlformats.org/drawingml/2006/main" noGrp="1"/>
          </p:cNvSpPr>
          <p:nvPr/>
        </p:nvSpPr>
        <p:spPr>
          <a:xfrm xmlns:a="http://schemas.openxmlformats.org/drawingml/2006/main">
            <a:off x="6452464" y="1499616"/>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Standing AI red team</a:t>
            </a:r>
            <a:endParaRPr sz="1200"/>
          </a:p>
        </p:txBody>
      </p:sp>
      <p:sp>
        <p:nvSpPr>
          <p:cNvPr id="11" name="Text 9">
            <a:extLst xmlns:a="http://schemas.openxmlformats.org/drawingml/2006/main">
              <a:ext uri="{FF2B5EF4-FFF2-40B4-BE49-F238E27FC236}">
                <a16:creationId xmlns:a16="http://schemas.microsoft.com/office/drawing/2014/main" id="{A3BAC104-5462-4179-95E5-A8E88A312285}"/>
              </a:ext>
            </a:extLst>
          </p:cNvPr>
          <p:cNvSpPr>
            <a:spLocks xmlns:a="http://schemas.openxmlformats.org/drawingml/2006/main" noGrp="1"/>
          </p:cNvSpPr>
          <p:nvPr/>
        </p:nvSpPr>
        <p:spPr>
          <a:xfrm xmlns:a="http://schemas.openxmlformats.org/drawingml/2006/main">
            <a:off x="6452464" y="1792224"/>
            <a:ext cx="495284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Adversarial exercises at least half-yearly against prompt injection, jailbreaks, agent misuse and data leakage, at critical-infrastructure security standard.</a:t>
            </a:r>
            <a:endParaRPr sz="950"/>
          </a:p>
        </p:txBody>
      </p:sp>
      <p:sp>
        <p:nvSpPr>
          <p:cNvPr id="12" name="Shape 10">
            <a:extLst xmlns:a="http://schemas.openxmlformats.org/drawingml/2006/main">
              <a:ext uri="{FF2B5EF4-FFF2-40B4-BE49-F238E27FC236}">
                <a16:creationId xmlns:a16="http://schemas.microsoft.com/office/drawing/2014/main" id="{8161C951-9BE3-4C73-86D9-199B6CA7A4A9}"/>
              </a:ext>
            </a:extLst>
          </p:cNvPr>
          <p:cNvSpPr>
            <a:spLocks xmlns:a="http://schemas.openxmlformats.org/drawingml/2006/main" noGrp="1"/>
          </p:cNvSpPr>
          <p:nvPr/>
        </p:nvSpPr>
        <p:spPr>
          <a:xfrm xmlns:a="http://schemas.openxmlformats.org/drawingml/2006/main">
            <a:off x="6452464" y="2523744"/>
            <a:ext cx="4952848"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CC634D4C-8957-48DE-996A-1A8DA75C392E}"/>
              </a:ext>
            </a:extLst>
          </p:cNvPr>
          <p:cNvSpPr>
            <a:spLocks xmlns:a="http://schemas.openxmlformats.org/drawingml/2006/main" noGrp="1"/>
          </p:cNvSpPr>
          <p:nvPr/>
        </p:nvSpPr>
        <p:spPr>
          <a:xfrm xmlns:a="http://schemas.openxmlformats.org/drawingml/2006/main">
            <a:off x="6452464" y="2651760"/>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A specialist capability that must exist continuously, not a penetration test bought once at go-live.</a:t>
            </a:r>
            <a:endParaRPr sz="930"/>
          </a:p>
        </p:txBody>
      </p:sp>
      <p:sp>
        <p:nvSpPr>
          <p:cNvPr id="14" name="Shape 12">
            <a:extLst xmlns:a="http://schemas.openxmlformats.org/drawingml/2006/main">
              <a:ext uri="{FF2B5EF4-FFF2-40B4-BE49-F238E27FC236}">
                <a16:creationId xmlns:a16="http://schemas.microsoft.com/office/drawing/2014/main" id="{847AAF0F-2C9D-4AAC-BF24-FE796942297B}"/>
              </a:ext>
            </a:extLst>
          </p:cNvPr>
          <p:cNvSpPr>
            <a:spLocks xmlns:a="http://schemas.openxmlformats.org/drawingml/2006/main" noGrp="1"/>
          </p:cNvSpPr>
          <p:nvPr/>
        </p:nvSpPr>
        <p:spPr>
          <a:xfrm xmlns:a="http://schemas.openxmlformats.org/drawingml/2006/main">
            <a:off x="566928" y="3310128"/>
            <a:ext cx="5391760" cy="1810512"/>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47680C5B-3B02-4149-B570-018A401E9AA1}"/>
              </a:ext>
            </a:extLst>
          </p:cNvPr>
          <p:cNvSpPr>
            <a:spLocks xmlns:a="http://schemas.openxmlformats.org/drawingml/2006/main" noGrp="1"/>
          </p:cNvSpPr>
          <p:nvPr/>
        </p:nvSpPr>
        <p:spPr>
          <a:xfrm xmlns:a="http://schemas.openxmlformats.org/drawingml/2006/main">
            <a:off x="786384" y="3474720"/>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B04A25"/>
                </a:solidFill>
                <a:latin typeface="Arial"/>
                <a:ea typeface="Arial"/>
                <a:cs typeface="Arial"/>
              </a:rPr>
              <a:t>AI control tower</a:t>
            </a:r>
            <a:endParaRPr sz="1200"/>
          </a:p>
        </p:txBody>
      </p:sp>
      <p:sp>
        <p:nvSpPr>
          <p:cNvPr id="16" name="Text 14">
            <a:extLst xmlns:a="http://schemas.openxmlformats.org/drawingml/2006/main">
              <a:ext uri="{FF2B5EF4-FFF2-40B4-BE49-F238E27FC236}">
                <a16:creationId xmlns:a16="http://schemas.microsoft.com/office/drawing/2014/main" id="{89461F24-0D90-47D9-B649-403CD83DEBC8}"/>
              </a:ext>
            </a:extLst>
          </p:cNvPr>
          <p:cNvSpPr>
            <a:spLocks xmlns:a="http://schemas.openxmlformats.org/drawingml/2006/main" noGrp="1"/>
          </p:cNvSpPr>
          <p:nvPr/>
        </p:nvSpPr>
        <p:spPr>
          <a:xfrm xmlns:a="http://schemas.openxmlformats.org/drawingml/2006/main">
            <a:off x="786384" y="3767328"/>
            <a:ext cx="495284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Use-case portfolio monitoring, model inventory and lifecycle, drift and performance, risk and compliance oversight, cost and consumption management.</a:t>
            </a:r>
            <a:endParaRPr sz="950"/>
          </a:p>
        </p:txBody>
      </p:sp>
      <p:sp>
        <p:nvSpPr>
          <p:cNvPr id="17" name="Shape 15">
            <a:extLst xmlns:a="http://schemas.openxmlformats.org/drawingml/2006/main">
              <a:ext uri="{FF2B5EF4-FFF2-40B4-BE49-F238E27FC236}">
                <a16:creationId xmlns:a16="http://schemas.microsoft.com/office/drawing/2014/main" id="{9B926728-EA95-40BB-A36A-89FD17E2D7A8}"/>
              </a:ext>
            </a:extLst>
          </p:cNvPr>
          <p:cNvSpPr>
            <a:spLocks xmlns:a="http://schemas.openxmlformats.org/drawingml/2006/main" noGrp="1"/>
          </p:cNvSpPr>
          <p:nvPr/>
        </p:nvSpPr>
        <p:spPr>
          <a:xfrm xmlns:a="http://schemas.openxmlformats.org/drawingml/2006/main">
            <a:off x="786384" y="4498848"/>
            <a:ext cx="4952848"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6F9857BC-9938-4E2D-9A1C-F871A110042B}"/>
              </a:ext>
            </a:extLst>
          </p:cNvPr>
          <p:cNvSpPr>
            <a:spLocks xmlns:a="http://schemas.openxmlformats.org/drawingml/2006/main" noGrp="1"/>
          </p:cNvSpPr>
          <p:nvPr/>
        </p:nvSpPr>
        <p:spPr>
          <a:xfrm xmlns:a="http://schemas.openxmlformats.org/drawingml/2006/main">
            <a:off x="786384" y="4626864"/>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A distinct product deliverable with its own build and run cost, frequently mistaken for a dashboard.</a:t>
            </a:r>
            <a:endParaRPr sz="930"/>
          </a:p>
        </p:txBody>
      </p:sp>
      <p:sp>
        <p:nvSpPr>
          <p:cNvPr id="19" name="Shape 17">
            <a:extLst xmlns:a="http://schemas.openxmlformats.org/drawingml/2006/main">
              <a:ext uri="{FF2B5EF4-FFF2-40B4-BE49-F238E27FC236}">
                <a16:creationId xmlns:a16="http://schemas.microsoft.com/office/drawing/2014/main" id="{1B03DC9A-CE51-48F1-9852-D4AA8072A655}"/>
              </a:ext>
            </a:extLst>
          </p:cNvPr>
          <p:cNvSpPr>
            <a:spLocks xmlns:a="http://schemas.openxmlformats.org/drawingml/2006/main" noGrp="1"/>
          </p:cNvSpPr>
          <p:nvPr/>
        </p:nvSpPr>
        <p:spPr>
          <a:xfrm xmlns:a="http://schemas.openxmlformats.org/drawingml/2006/main">
            <a:off x="6233008" y="3310128"/>
            <a:ext cx="5391760" cy="1810512"/>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A673B939-E380-4F47-8C92-93099A0C6059}"/>
              </a:ext>
            </a:extLst>
          </p:cNvPr>
          <p:cNvSpPr>
            <a:spLocks xmlns:a="http://schemas.openxmlformats.org/drawingml/2006/main" noGrp="1"/>
          </p:cNvSpPr>
          <p:nvPr/>
        </p:nvSpPr>
        <p:spPr>
          <a:xfrm xmlns:a="http://schemas.openxmlformats.org/drawingml/2006/main">
            <a:off x="6452464" y="3474720"/>
            <a:ext cx="495284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B04A25"/>
                </a:solidFill>
                <a:latin typeface="Arial"/>
                <a:ea typeface="Arial"/>
                <a:cs typeface="Arial"/>
              </a:rPr>
              <a:t>Capability transfer</a:t>
            </a:r>
            <a:endParaRPr sz="1200"/>
          </a:p>
        </p:txBody>
      </p:sp>
      <p:sp>
        <p:nvSpPr>
          <p:cNvPr id="21" name="Text 19">
            <a:extLst xmlns:a="http://schemas.openxmlformats.org/drawingml/2006/main">
              <a:ext uri="{FF2B5EF4-FFF2-40B4-BE49-F238E27FC236}">
                <a16:creationId xmlns:a16="http://schemas.microsoft.com/office/drawing/2014/main" id="{1462431D-6E16-49B9-91B9-BB2660BADB3B}"/>
              </a:ext>
            </a:extLst>
          </p:cNvPr>
          <p:cNvSpPr>
            <a:spLocks xmlns:a="http://schemas.openxmlformats.org/drawingml/2006/main" noGrp="1"/>
          </p:cNvSpPr>
          <p:nvPr/>
        </p:nvSpPr>
        <p:spPr>
          <a:xfrm xmlns:a="http://schemas.openxmlformats.org/drawingml/2006/main">
            <a:off x="6452464" y="3767328"/>
            <a:ext cx="4952848"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Two full training cycles — platform, then use-case delivery — with SOPs, runbooks, documentation and an end state where bank teams operate independently.</a:t>
            </a:r>
            <a:endParaRPr sz="950"/>
          </a:p>
        </p:txBody>
      </p:sp>
      <p:sp>
        <p:nvSpPr>
          <p:cNvPr id="22" name="Shape 20">
            <a:extLst xmlns:a="http://schemas.openxmlformats.org/drawingml/2006/main">
              <a:ext uri="{FF2B5EF4-FFF2-40B4-BE49-F238E27FC236}">
                <a16:creationId xmlns:a16="http://schemas.microsoft.com/office/drawing/2014/main" id="{D4C71B52-6EA3-4516-9FD0-94654922A2F9}"/>
              </a:ext>
            </a:extLst>
          </p:cNvPr>
          <p:cNvSpPr>
            <a:spLocks xmlns:a="http://schemas.openxmlformats.org/drawingml/2006/main" noGrp="1"/>
          </p:cNvSpPr>
          <p:nvPr/>
        </p:nvSpPr>
        <p:spPr>
          <a:xfrm xmlns:a="http://schemas.openxmlformats.org/drawingml/2006/main">
            <a:off x="6452464" y="4498848"/>
            <a:ext cx="4952848"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51FA7630-44E1-4A0B-8223-65686237A475}"/>
              </a:ext>
            </a:extLst>
          </p:cNvPr>
          <p:cNvSpPr>
            <a:spLocks xmlns:a="http://schemas.openxmlformats.org/drawingml/2006/main" noGrp="1"/>
          </p:cNvSpPr>
          <p:nvPr/>
        </p:nvSpPr>
        <p:spPr>
          <a:xfrm xmlns:a="http://schemas.openxmlformats.org/drawingml/2006/main">
            <a:off x="6452464" y="4626864"/>
            <a:ext cx="4952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Priced as a training line, delivered as a two-year constraint on how every use case is built.</a:t>
            </a:r>
            <a:endParaRPr sz="930"/>
          </a:p>
        </p:txBody>
      </p:sp>
      <p:sp>
        <p:nvSpPr>
          <p:cNvPr id="24" name="Shape 22">
            <a:extLst xmlns:a="http://schemas.openxmlformats.org/drawingml/2006/main">
              <a:ext uri="{FF2B5EF4-FFF2-40B4-BE49-F238E27FC236}">
                <a16:creationId xmlns:a16="http://schemas.microsoft.com/office/drawing/2014/main" id="{795BF431-2167-4A40-8F96-9511578B2761}"/>
              </a:ext>
            </a:extLst>
          </p:cNvPr>
          <p:cNvSpPr>
            <a:spLocks xmlns:a="http://schemas.openxmlformats.org/drawingml/2006/main" noGrp="1"/>
          </p:cNvSpPr>
          <p:nvPr/>
        </p:nvSpPr>
        <p:spPr>
          <a:xfrm xmlns:a="http://schemas.openxmlformats.org/drawingml/2006/main">
            <a:off x="566928" y="5394960"/>
            <a:ext cx="11057839" cy="694944"/>
          </a:xfrm>
          <a:prstGeom xmlns:a="http://schemas.openxmlformats.org/drawingml/2006/main" prst="rect">
            <a:avLst/>
          </a:prstGeom>
          <a:solidFill xmlns:a="http://schemas.openxmlformats.org/drawingml/2006/main">
            <a:srgbClr val="F3E6E0"/>
          </a:solidFill>
        </p:spPr>
      </p:sp>
      <p:sp>
        <p:nvSpPr>
          <p:cNvPr id="25" name="Text 23">
            <a:extLst xmlns:a="http://schemas.openxmlformats.org/drawingml/2006/main">
              <a:ext uri="{FF2B5EF4-FFF2-40B4-BE49-F238E27FC236}">
                <a16:creationId xmlns:a16="http://schemas.microsoft.com/office/drawing/2014/main" id="{AF849AB3-066B-4251-9F29-DF37FCCAC2C4}"/>
              </a:ext>
            </a:extLst>
          </p:cNvPr>
          <p:cNvSpPr>
            <a:spLocks xmlns:a="http://schemas.openxmlformats.org/drawingml/2006/main" noGrp="1"/>
          </p:cNvSpPr>
          <p:nvPr/>
        </p:nvSpPr>
        <p:spPr>
          <a:xfrm xmlns:a="http://schemas.openxmlformats.org/drawingml/2006/main">
            <a:off x="804672" y="5577840"/>
            <a:ext cx="1058235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None of the four appears in the use-case count, and all four run for the full term. A bid that prices seventy-five use cases and treats these as overhead has under-priced the programme by a margin that no delivery efficiency can recover.</a:t>
            </a:r>
            <a:endParaRPr sz="990"/>
          </a:p>
        </p:txBody>
      </p:sp>
      <p:sp>
        <p:nvSpPr>
          <p:cNvPr id="26" name="Shape 24">
            <a:extLst xmlns:a="http://schemas.openxmlformats.org/drawingml/2006/main">
              <a:ext uri="{FF2B5EF4-FFF2-40B4-BE49-F238E27FC236}">
                <a16:creationId xmlns:a16="http://schemas.microsoft.com/office/drawing/2014/main" id="{629033E3-632B-41DF-B38D-6B991A3AE36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7" name="Text 25">
            <a:extLst xmlns:a="http://schemas.openxmlformats.org/drawingml/2006/main">
              <a:ext uri="{FF2B5EF4-FFF2-40B4-BE49-F238E27FC236}">
                <a16:creationId xmlns:a16="http://schemas.microsoft.com/office/drawing/2014/main" id="{96D8B573-B27B-4CC0-B61D-AA0E90B759D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tender scope of work and pre-bid minutes · author's analysis</a:t>
            </a:r>
            <a:endParaRPr sz="850"/>
          </a:p>
        </p:txBody>
      </p:sp>
      <p:sp>
        <p:nvSpPr>
          <p:cNvPr id="28" name="Text 26">
            <a:extLst xmlns:a="http://schemas.openxmlformats.org/drawingml/2006/main">
              <a:ext uri="{FF2B5EF4-FFF2-40B4-BE49-F238E27FC236}">
                <a16:creationId xmlns:a16="http://schemas.microsoft.com/office/drawing/2014/main" id="{48548A45-9467-43E9-9FF8-4B15E7798F6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80574217"/>
      </p:ext>
    </p:extLst>
  </p:cSld>
</p:sld>
</file>

<file path=ppt/slides/slide10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B4A6580-9FF4-440F-ADF3-76D93B2744B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52483F07-DB42-4381-9E3E-F1FF37CAB04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designing a large AI use-case programme</a:t>
            </a:r>
            <a:endParaRPr sz="1900"/>
          </a:p>
        </p:txBody>
      </p:sp>
      <p:sp>
        <p:nvSpPr>
          <p:cNvPr id="4" name="Text 2">
            <a:extLst xmlns:a="http://schemas.openxmlformats.org/drawingml/2006/main">
              <a:ext uri="{FF2B5EF4-FFF2-40B4-BE49-F238E27FC236}">
                <a16:creationId xmlns:a16="http://schemas.microsoft.com/office/drawing/2014/main" id="{979DA48F-53ED-46CF-A755-E9F482B7FCAB}"/>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511E3E51-2653-48D6-B5A5-2D958888A7BE}"/>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Size by tier, never by count</a:t>
            </a:r>
            <a:endParaRPr sz="1200"/>
          </a:p>
        </p:txBody>
      </p:sp>
      <p:sp>
        <p:nvSpPr>
          <p:cNvPr id="6" name="Text 4">
            <a:extLst xmlns:a="http://schemas.openxmlformats.org/drawingml/2006/main">
              <a:ext uri="{FF2B5EF4-FFF2-40B4-BE49-F238E27FC236}">
                <a16:creationId xmlns:a16="http://schemas.microsoft.com/office/drawing/2014/main" id="{8EB718D8-05B2-43B9-A599-1B178A053784}"/>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Use cases differ by close to an order of magnitude in effort. An average is a number that describes no actual use case, and the shortfall always lands on the regulated ones.</a:t>
            </a:r>
            <a:endParaRPr sz="1000"/>
          </a:p>
        </p:txBody>
      </p:sp>
      <p:sp>
        <p:nvSpPr>
          <p:cNvPr id="7" name="Shape 5">
            <a:extLst xmlns:a="http://schemas.openxmlformats.org/drawingml/2006/main">
              <a:ext uri="{FF2B5EF4-FFF2-40B4-BE49-F238E27FC236}">
                <a16:creationId xmlns:a16="http://schemas.microsoft.com/office/drawing/2014/main" id="{351BDDAD-A268-4F2F-A7E5-ADDA154F2551}"/>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8C595203-613A-478A-B12F-7FC22ED0730B}"/>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9BCB1CF3-251D-4ADF-96A4-C9D313F62583}"/>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Design the ownership curve, not just the volume curve</a:t>
            </a:r>
            <a:endParaRPr sz="1200"/>
          </a:p>
        </p:txBody>
      </p:sp>
      <p:sp>
        <p:nvSpPr>
          <p:cNvPr id="10" name="Text 8">
            <a:extLst xmlns:a="http://schemas.openxmlformats.org/drawingml/2006/main">
              <a:ext uri="{FF2B5EF4-FFF2-40B4-BE49-F238E27FC236}">
                <a16:creationId xmlns:a16="http://schemas.microsoft.com/office/drawing/2014/main" id="{B37561AB-EEE0-4741-85B9-79EDB1391B76}"/>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Every programme publishes how many use cases land per wave. The contract's real end state is who is delivering them by the final wave — design that shift explicitly, with acceptance criteria.</a:t>
            </a:r>
            <a:endParaRPr sz="1000"/>
          </a:p>
        </p:txBody>
      </p:sp>
      <p:sp>
        <p:nvSpPr>
          <p:cNvPr id="11" name="Shape 9">
            <a:extLst xmlns:a="http://schemas.openxmlformats.org/drawingml/2006/main">
              <a:ext uri="{FF2B5EF4-FFF2-40B4-BE49-F238E27FC236}">
                <a16:creationId xmlns:a16="http://schemas.microsoft.com/office/drawing/2014/main" id="{76A14A6E-6F77-4CC4-A4B5-D6F9B36DD184}"/>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6EF5267A-1331-4570-98B3-2A0372A99606}"/>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17958528-587E-4DA2-9C0B-F5622AB44DA2}"/>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Sequence for access, not for value</a:t>
            </a:r>
            <a:endParaRPr sz="1200"/>
          </a:p>
        </p:txBody>
      </p:sp>
      <p:sp>
        <p:nvSpPr>
          <p:cNvPr id="14" name="Text 12">
            <a:extLst xmlns:a="http://schemas.openxmlformats.org/drawingml/2006/main">
              <a:ext uri="{FF2B5EF4-FFF2-40B4-BE49-F238E27FC236}">
                <a16:creationId xmlns:a16="http://schemas.microsoft.com/office/drawing/2014/main" id="{87368915-85ED-4506-A29A-B98D5B85F5EE}"/>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 highest-value use cases usually need the most sensitive data and the longest approvals. Lead with lighter domains to prove the platform, then use that proof to earn the access.</a:t>
            </a:r>
            <a:endParaRPr sz="1000"/>
          </a:p>
        </p:txBody>
      </p:sp>
      <p:sp>
        <p:nvSpPr>
          <p:cNvPr id="15" name="Shape 13">
            <a:extLst xmlns:a="http://schemas.openxmlformats.org/drawingml/2006/main">
              <a:ext uri="{FF2B5EF4-FFF2-40B4-BE49-F238E27FC236}">
                <a16:creationId xmlns:a16="http://schemas.microsoft.com/office/drawing/2014/main" id="{F83CEFC0-9CDB-42D2-A4CB-489DA7E70B59}"/>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F77E21EE-BC15-46CD-8ED6-92958BE4D481}"/>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3FBB5CA2-31F2-4ED7-8C9F-8B1E2A163A55}"/>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Price the obligations outside the count</a:t>
            </a:r>
            <a:endParaRPr sz="1200"/>
          </a:p>
        </p:txBody>
      </p:sp>
      <p:sp>
        <p:nvSpPr>
          <p:cNvPr id="18" name="Text 16">
            <a:extLst xmlns:a="http://schemas.openxmlformats.org/drawingml/2006/main">
              <a:ext uri="{FF2B5EF4-FFF2-40B4-BE49-F238E27FC236}">
                <a16:creationId xmlns:a16="http://schemas.microsoft.com/office/drawing/2014/main" id="{9A545D80-D352-4351-BD35-610566DC02E4}"/>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Independent QA, a standing red team, the control tower and two training cycles run for the full term and appear nowhere in the use-case number. They are a large share of the cost.</a:t>
            </a:r>
            <a:endParaRPr sz="1000"/>
          </a:p>
        </p:txBody>
      </p:sp>
      <p:sp>
        <p:nvSpPr>
          <p:cNvPr id="19" name="Shape 17">
            <a:extLst xmlns:a="http://schemas.openxmlformats.org/drawingml/2006/main">
              <a:ext uri="{FF2B5EF4-FFF2-40B4-BE49-F238E27FC236}">
                <a16:creationId xmlns:a16="http://schemas.microsoft.com/office/drawing/2014/main" id="{2CC0E417-6D70-4F2A-8DB8-17A237B8FD9D}"/>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B83C623E-3138-4683-85BC-61C1B0A10CEE}"/>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Seventy-five is a procurement number. The mix, the ownership curve and the obligations outside the count are what determine whether it is a plan or a wish.</a:t>
            </a:r>
            <a:endParaRPr sz="1200"/>
          </a:p>
        </p:txBody>
      </p:sp>
      <p:sp>
        <p:nvSpPr>
          <p:cNvPr id="21" name="Shape 19">
            <a:extLst xmlns:a="http://schemas.openxmlformats.org/drawingml/2006/main">
              <a:ext uri="{FF2B5EF4-FFF2-40B4-BE49-F238E27FC236}">
                <a16:creationId xmlns:a16="http://schemas.microsoft.com/office/drawing/2014/main" id="{8AF93CC1-C8F3-4F4E-AD3D-92BD7BB047A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ECE87923-9F8B-4112-82DF-3E708B570AF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programme-design analysis</a:t>
            </a:r>
            <a:endParaRPr sz="850"/>
          </a:p>
        </p:txBody>
      </p:sp>
      <p:sp>
        <p:nvSpPr>
          <p:cNvPr id="23" name="Text 21">
            <a:extLst xmlns:a="http://schemas.openxmlformats.org/drawingml/2006/main">
              <a:ext uri="{FF2B5EF4-FFF2-40B4-BE49-F238E27FC236}">
                <a16:creationId xmlns:a16="http://schemas.microsoft.com/office/drawing/2014/main" id="{55B74505-ED9B-4488-9677-B8358914DF2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1958668367"/>
      </p:ext>
    </p:extLst>
  </p:cSld>
</p:sld>
</file>

<file path=ppt/slides/slide106.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9BD944-AF90-4A43-B97F-579BB209238A}"/>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DEAL STRATEGY  ·  07 OF 30</a:t>
            </a:r>
            <a:endParaRPr sz="950"/>
          </a:p>
        </p:txBody>
      </p:sp>
      <p:sp>
        <p:nvSpPr>
          <p:cNvPr id="3" name="Text 1">
            <a:extLst xmlns:a="http://schemas.openxmlformats.org/drawingml/2006/main">
              <a:ext uri="{FF2B5EF4-FFF2-40B4-BE49-F238E27FC236}">
                <a16:creationId xmlns:a16="http://schemas.microsoft.com/office/drawing/2014/main" id="{D556EF57-2107-4A6D-9138-A4934973275B}"/>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Axis Max Life</a:t>
            </a:r>
            <a:endParaRPr sz="3800"/>
          </a:p>
        </p:txBody>
      </p:sp>
      <p:sp>
        <p:nvSpPr>
          <p:cNvPr id="4" name="Text 2">
            <a:extLst xmlns:a="http://schemas.openxmlformats.org/drawingml/2006/main">
              <a:ext uri="{FF2B5EF4-FFF2-40B4-BE49-F238E27FC236}">
                <a16:creationId xmlns:a16="http://schemas.microsoft.com/office/drawing/2014/main" id="{21BF4B40-256C-4CFF-B111-F9619B724B60}"/>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Displacing the incumbent — a build-versus-configure bid inside a distribution super app</a:t>
            </a:r>
            <a:endParaRPr sz="1800"/>
          </a:p>
        </p:txBody>
      </p:sp>
      <p:sp>
        <p:nvSpPr>
          <p:cNvPr id="5" name="Text 3">
            <a:extLst xmlns:a="http://schemas.openxmlformats.org/drawingml/2006/main">
              <a:ext uri="{FF2B5EF4-FFF2-40B4-BE49-F238E27FC236}">
                <a16:creationId xmlns:a16="http://schemas.microsoft.com/office/drawing/2014/main" id="{75A14AD8-15B1-405F-8BC5-AE4B184255C5}"/>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Replacing an entrenched SaaS activity and lead platform for 125,000 sellers across ten distribution channels — where the functional fit was never the hard part.</a:t>
            </a:r>
            <a:endParaRPr sz="1150"/>
          </a:p>
        </p:txBody>
      </p:sp>
      <p:sp>
        <p:nvSpPr>
          <p:cNvPr id="6" name="Shape 4">
            <a:extLst xmlns:a="http://schemas.openxmlformats.org/drawingml/2006/main">
              <a:ext uri="{FF2B5EF4-FFF2-40B4-BE49-F238E27FC236}">
                <a16:creationId xmlns:a16="http://schemas.microsoft.com/office/drawing/2014/main" id="{1C296FA2-4C87-4D51-96CD-9771F328EEC0}"/>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D439FDBB-597B-4621-A282-7C73B3638106}"/>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125K</a:t>
            </a:r>
            <a:endParaRPr sz="2600"/>
          </a:p>
        </p:txBody>
      </p:sp>
      <p:sp>
        <p:nvSpPr>
          <p:cNvPr id="8" name="Text 6">
            <a:extLst xmlns:a="http://schemas.openxmlformats.org/drawingml/2006/main">
              <a:ext uri="{FF2B5EF4-FFF2-40B4-BE49-F238E27FC236}">
                <a16:creationId xmlns:a16="http://schemas.microsoft.com/office/drawing/2014/main" id="{47B09FC2-C2C4-4642-972C-849328FAD72E}"/>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sellers in</a:t>
            </a:r>
            <a:endParaRPr sz="900"/>
          </a:p>
          <a:p xmlns:a="http://schemas.openxmlformats.org/drawingml/2006/main">
            <a:pPr marL="0" indent="0">
              <a:lnSpc>
                <a:spcPts val="1100"/>
              </a:lnSpc>
              <a:buNone/>
            </a:pPr>
            <a:r>
              <a:rPr sz="900">
                <a:solidFill>
                  <a:srgbClr val="8FA9C4"/>
                </a:solidFill>
                <a:latin typeface="Arial"/>
                <a:ea typeface="Arial"/>
                <a:cs typeface="Arial"/>
              </a:rPr>
              <a:t>scope</a:t>
            </a:r>
            <a:endParaRPr sz="900"/>
          </a:p>
        </p:txBody>
      </p:sp>
      <p:sp>
        <p:nvSpPr>
          <p:cNvPr id="9" name="Text 7">
            <a:extLst xmlns:a="http://schemas.openxmlformats.org/drawingml/2006/main">
              <a:ext uri="{FF2B5EF4-FFF2-40B4-BE49-F238E27FC236}">
                <a16:creationId xmlns:a16="http://schemas.microsoft.com/office/drawing/2014/main" id="{5620813B-554B-44B2-9FB7-D83891DD0327}"/>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10+</a:t>
            </a:r>
            <a:endParaRPr sz="2600"/>
          </a:p>
        </p:txBody>
      </p:sp>
      <p:sp>
        <p:nvSpPr>
          <p:cNvPr id="10" name="Text 8">
            <a:extLst xmlns:a="http://schemas.openxmlformats.org/drawingml/2006/main">
              <a:ext uri="{FF2B5EF4-FFF2-40B4-BE49-F238E27FC236}">
                <a16:creationId xmlns:a16="http://schemas.microsoft.com/office/drawing/2014/main" id="{835FF24A-C9FC-41A1-A320-B692FF410344}"/>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distribution</a:t>
            </a:r>
            <a:endParaRPr sz="900"/>
          </a:p>
          <a:p xmlns:a="http://schemas.openxmlformats.org/drawingml/2006/main">
            <a:pPr marL="0" indent="0">
              <a:lnSpc>
                <a:spcPts val="1100"/>
              </a:lnSpc>
              <a:buNone/>
            </a:pPr>
            <a:r>
              <a:rPr sz="900">
                <a:solidFill>
                  <a:srgbClr val="8FA9C4"/>
                </a:solidFill>
                <a:latin typeface="Arial"/>
                <a:ea typeface="Arial"/>
                <a:cs typeface="Arial"/>
              </a:rPr>
              <a:t>channels</a:t>
            </a:r>
            <a:endParaRPr sz="900"/>
          </a:p>
        </p:txBody>
      </p:sp>
      <p:sp>
        <p:nvSpPr>
          <p:cNvPr id="11" name="Text 9">
            <a:extLst xmlns:a="http://schemas.openxmlformats.org/drawingml/2006/main">
              <a:ext uri="{FF2B5EF4-FFF2-40B4-BE49-F238E27FC236}">
                <a16:creationId xmlns:a16="http://schemas.microsoft.com/office/drawing/2014/main" id="{BE510E94-AD52-4217-B7B2-0AC31C2AD0DA}"/>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58–84K</a:t>
            </a:r>
            <a:endParaRPr sz="2600"/>
          </a:p>
        </p:txBody>
      </p:sp>
      <p:sp>
        <p:nvSpPr>
          <p:cNvPr id="12" name="Text 10">
            <a:extLst xmlns:a="http://schemas.openxmlformats.org/drawingml/2006/main">
              <a:ext uri="{FF2B5EF4-FFF2-40B4-BE49-F238E27FC236}">
                <a16:creationId xmlns:a16="http://schemas.microsoft.com/office/drawing/2014/main" id="{DE6DC57B-A10E-4439-9B75-7A05DBF7863D}"/>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leads per</a:t>
            </a:r>
            <a:endParaRPr sz="900"/>
          </a:p>
          <a:p xmlns:a="http://schemas.openxmlformats.org/drawingml/2006/main">
            <a:pPr marL="0" indent="0">
              <a:lnSpc>
                <a:spcPts val="1100"/>
              </a:lnSpc>
              <a:buNone/>
            </a:pPr>
            <a:r>
              <a:rPr sz="900">
                <a:solidFill>
                  <a:srgbClr val="8FA9C4"/>
                </a:solidFill>
                <a:latin typeface="Arial"/>
                <a:ea typeface="Arial"/>
                <a:cs typeface="Arial"/>
              </a:rPr>
              <a:t>month</a:t>
            </a:r>
            <a:endParaRPr sz="900"/>
          </a:p>
        </p:txBody>
      </p:sp>
      <p:sp>
        <p:nvSpPr>
          <p:cNvPr id="13" name="Text 11">
            <a:extLst xmlns:a="http://schemas.openxmlformats.org/drawingml/2006/main">
              <a:ext uri="{FF2B5EF4-FFF2-40B4-BE49-F238E27FC236}">
                <a16:creationId xmlns:a16="http://schemas.microsoft.com/office/drawing/2014/main" id="{141D2478-0C33-48CF-AE1A-24EED8182F28}"/>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17</a:t>
            </a:r>
            <a:endParaRPr sz="2600"/>
          </a:p>
        </p:txBody>
      </p:sp>
      <p:sp>
        <p:nvSpPr>
          <p:cNvPr id="14" name="Text 12">
            <a:extLst xmlns:a="http://schemas.openxmlformats.org/drawingml/2006/main">
              <a:ext uri="{FF2B5EF4-FFF2-40B4-BE49-F238E27FC236}">
                <a16:creationId xmlns:a16="http://schemas.microsoft.com/office/drawing/2014/main" id="{88567F1D-ABFD-4DD1-8096-2534B9831878}"/>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months, ten</a:t>
            </a:r>
            <a:endParaRPr sz="900"/>
          </a:p>
          <a:p xmlns:a="http://schemas.openxmlformats.org/drawingml/2006/main">
            <a:pPr marL="0" indent="0">
              <a:lnSpc>
                <a:spcPts val="1100"/>
              </a:lnSpc>
              <a:buNone/>
            </a:pPr>
            <a:r>
              <a:rPr sz="900">
                <a:solidFill>
                  <a:srgbClr val="8FA9C4"/>
                </a:solidFill>
                <a:latin typeface="Arial"/>
                <a:ea typeface="Arial"/>
                <a:cs typeface="Arial"/>
              </a:rPr>
              <a:t>milestones</a:t>
            </a:r>
            <a:endParaRPr sz="900"/>
          </a:p>
        </p:txBody>
      </p:sp>
      <p:sp>
        <p:nvSpPr>
          <p:cNvPr id="15" name="Text 13">
            <a:extLst xmlns:a="http://schemas.openxmlformats.org/drawingml/2006/main">
              <a:ext uri="{FF2B5EF4-FFF2-40B4-BE49-F238E27FC236}">
                <a16:creationId xmlns:a16="http://schemas.microsoft.com/office/drawing/2014/main" id="{A674519D-DDE3-427A-8D04-1D5DCD62DB77}"/>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158</a:t>
            </a:r>
            <a:endParaRPr sz="2600"/>
          </a:p>
        </p:txBody>
      </p:sp>
      <p:sp>
        <p:nvSpPr>
          <p:cNvPr id="16" name="Text 14">
            <a:extLst xmlns:a="http://schemas.openxmlformats.org/drawingml/2006/main">
              <a:ext uri="{FF2B5EF4-FFF2-40B4-BE49-F238E27FC236}">
                <a16:creationId xmlns:a16="http://schemas.microsoft.com/office/drawing/2014/main" id="{9CFD15BD-378B-421A-9382-8DFC02010404}"/>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person-months</a:t>
            </a:r>
            <a:endParaRPr sz="900"/>
          </a:p>
          <a:p xmlns:a="http://schemas.openxmlformats.org/drawingml/2006/main">
            <a:pPr marL="0" indent="0">
              <a:lnSpc>
                <a:spcPts val="1100"/>
              </a:lnSpc>
              <a:buNone/>
            </a:pPr>
            <a:r>
              <a:rPr sz="900">
                <a:solidFill>
                  <a:srgbClr val="8FA9C4"/>
                </a:solidFill>
                <a:latin typeface="Arial"/>
                <a:ea typeface="Arial"/>
                <a:cs typeface="Arial"/>
              </a:rPr>
              <a:t>estimated</a:t>
            </a:r>
            <a:endParaRPr sz="900"/>
          </a:p>
        </p:txBody>
      </p:sp>
      <p:sp>
        <p:nvSpPr>
          <p:cNvPr id="17" name="Text 15">
            <a:extLst xmlns:a="http://schemas.openxmlformats.org/drawingml/2006/main">
              <a:ext uri="{FF2B5EF4-FFF2-40B4-BE49-F238E27FC236}">
                <a16:creationId xmlns:a16="http://schemas.microsoft.com/office/drawing/2014/main" id="{BC0BBB63-1E81-4A1E-A8E9-0151BD0B2F48}"/>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8" name="Text 16">
            <a:extLst xmlns:a="http://schemas.openxmlformats.org/drawingml/2006/main">
              <a:ext uri="{FF2B5EF4-FFF2-40B4-BE49-F238E27FC236}">
                <a16:creationId xmlns:a16="http://schemas.microsoft.com/office/drawing/2014/main" id="{73A6808A-A469-4446-BA1A-C4D46B3E70F1}"/>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incumbent to</a:t>
            </a:r>
            <a:endParaRPr sz="900"/>
          </a:p>
          <a:p xmlns:a="http://schemas.openxmlformats.org/drawingml/2006/main">
            <a:pPr marL="0" indent="0">
              <a:lnSpc>
                <a:spcPts val="1100"/>
              </a:lnSpc>
              <a:buNone/>
            </a:pPr>
            <a:r>
              <a:rPr sz="900">
                <a:solidFill>
                  <a:srgbClr val="8FA9C4"/>
                </a:solidFill>
                <a:latin typeface="Arial"/>
                <a:ea typeface="Arial"/>
                <a:cs typeface="Arial"/>
              </a:rPr>
              <a:t>displace</a:t>
            </a:r>
            <a:endParaRPr sz="900"/>
          </a:p>
        </p:txBody>
      </p:sp>
      <p:sp>
        <p:nvSpPr>
          <p:cNvPr id="19" name="Shape 17">
            <a:extLst xmlns:a="http://schemas.openxmlformats.org/drawingml/2006/main">
              <a:ext uri="{FF2B5EF4-FFF2-40B4-BE49-F238E27FC236}">
                <a16:creationId xmlns:a16="http://schemas.microsoft.com/office/drawing/2014/main" id="{593046D5-014A-40F5-B3A7-16793F605630}"/>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F9C884CD-DA12-4895-A230-FF56A9CDC065}"/>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PROGRAMME PARAMETERS  ·  AS ISSUED BY THE CLIENT</a:t>
            </a:r>
            <a:endParaRPr sz="800"/>
          </a:p>
        </p:txBody>
      </p:sp>
      <p:sp>
        <p:nvSpPr>
          <p:cNvPr id="21" name="Text 19">
            <a:extLst xmlns:a="http://schemas.openxmlformats.org/drawingml/2006/main">
              <a:ext uri="{FF2B5EF4-FFF2-40B4-BE49-F238E27FC236}">
                <a16:creationId xmlns:a16="http://schemas.microsoft.com/office/drawing/2014/main" id="{D2A32C91-AF0F-49B8-B22D-777AA57A0822}"/>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Activity, lead and renewal management    ·    embedded in the group super app    ·    fixed-bid implementation    ·    named and retained delivery team</a:t>
            </a:r>
            <a:endParaRPr sz="1050"/>
          </a:p>
        </p:txBody>
      </p:sp>
      <p:sp>
        <p:nvSpPr>
          <p:cNvPr id="22" name="Text 20">
            <a:extLst xmlns:a="http://schemas.openxmlformats.org/drawingml/2006/main">
              <a:ext uri="{FF2B5EF4-FFF2-40B4-BE49-F238E27FC236}">
                <a16:creationId xmlns:a16="http://schemas.microsoft.com/office/drawing/2014/main" id="{6E9CC23A-E822-47D6-B2AB-DA93C2FB823C}"/>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Solution and deal analysis authored for leadership deal review  ·  2026</a:t>
            </a:r>
            <a:endParaRPr sz="1200"/>
          </a:p>
        </p:txBody>
      </p:sp>
      <p:sp>
        <p:nvSpPr>
          <p:cNvPr id="23" name="Text 21">
            <a:extLst xmlns:a="http://schemas.openxmlformats.org/drawingml/2006/main">
              <a:ext uri="{FF2B5EF4-FFF2-40B4-BE49-F238E27FC236}">
                <a16:creationId xmlns:a16="http://schemas.microsoft.com/office/drawing/2014/main" id="{80B3D7BD-37EB-4824-B856-0F2D1B9352C1}"/>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incumbent names removed. Commercial positions are generalised into clause families; no live negotiating position is disclosed.</a:t>
            </a:r>
            <a:endParaRPr sz="850"/>
          </a:p>
        </p:txBody>
      </p:sp>
    </p:spTree>
    <p:extLst>
      <p:ext uri="{BB962C8B-B14F-4D97-AF65-F5344CB8AC3E}">
        <p14:creationId xmlns:p14="http://schemas.microsoft.com/office/powerpoint/2010/main" val="1645905208"/>
      </p:ext>
    </p:extLst>
  </p:cSld>
</p:sld>
</file>

<file path=ppt/slides/slide10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0CD29D4-6089-486D-BD34-4D773975738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CCC82B7F-1455-4343-9716-0823C7A19E6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functional fit was never the question — a displacement bid is won or lost on the</a:t>
            </a:r>
            <a:endParaRPr sz="1900"/>
          </a:p>
          <a:p xmlns:a="http://schemas.openxmlformats.org/drawingml/2006/main">
            <a:pPr marL="0" indent="0">
              <a:lnSpc>
                <a:spcPts val="2400"/>
              </a:lnSpc>
              <a:buNone/>
            </a:pPr>
            <a:r>
              <a:rPr sz="1900" b="1">
                <a:solidFill>
                  <a:srgbClr val="102A43"/>
                </a:solidFill>
                <a:latin typeface="Arial"/>
                <a:ea typeface="Arial"/>
                <a:cs typeface="Arial"/>
              </a:rPr>
              <a:t>commercial model, and this one had five open clauses before it had a scope debate</a:t>
            </a:r>
            <a:endParaRPr sz="1900"/>
          </a:p>
        </p:txBody>
      </p:sp>
      <p:sp>
        <p:nvSpPr>
          <p:cNvPr id="4" name="Shape 2">
            <a:extLst xmlns:a="http://schemas.openxmlformats.org/drawingml/2006/main">
              <a:ext uri="{FF2B5EF4-FFF2-40B4-BE49-F238E27FC236}">
                <a16:creationId xmlns:a16="http://schemas.microsoft.com/office/drawing/2014/main" id="{19D20322-CD18-4E7F-A25C-0242023E4A81}"/>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A34721F3-22B0-4132-859A-A495049681CE}"/>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EC172A58-BA8E-430C-89EA-631F25445AF8}"/>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major life insurer runs activity and lead management for roughly 125,000 on-roll and off-role sellers on an entrenched third-party SaaS platform, deep-linked into its own super app.</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It wants that capability rebuilt in-house, inside the app, across ten-plus distribution channels.</a:t>
            </a:r>
            <a:endParaRPr sz="980"/>
          </a:p>
        </p:txBody>
      </p:sp>
      <p:sp>
        <p:nvSpPr>
          <p:cNvPr id="7" name="Shape 5">
            <a:extLst xmlns:a="http://schemas.openxmlformats.org/drawingml/2006/main">
              <a:ext uri="{FF2B5EF4-FFF2-40B4-BE49-F238E27FC236}">
                <a16:creationId xmlns:a16="http://schemas.microsoft.com/office/drawing/2014/main" id="{023BFF31-4089-467F-AF59-084DB4287273}"/>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5F06B922-84D0-414E-8871-01B3D785E23D}"/>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DD89BFB6-7462-42A8-B1B8-40386333D4CC}"/>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Assessed as a solution, this is a good fit: activity catalogues, lead lifecycles and allocation engines are core product territory.</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Assessed as a deal it is far harder. The client asks for a bespoke in-house build with full intellectual-property transfer; a product vendor answers with configuration and retains its IP. Those are not two positions on a spectrum — they are different contracts.</a:t>
            </a:r>
            <a:endParaRPr sz="980"/>
          </a:p>
        </p:txBody>
      </p:sp>
      <p:sp>
        <p:nvSpPr>
          <p:cNvPr id="10" name="Shape 8">
            <a:extLst xmlns:a="http://schemas.openxmlformats.org/drawingml/2006/main">
              <a:ext uri="{FF2B5EF4-FFF2-40B4-BE49-F238E27FC236}">
                <a16:creationId xmlns:a16="http://schemas.microsoft.com/office/drawing/2014/main" id="{28E59B50-5FCD-40E7-A679-6536D37ECA90}"/>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35C63964-6E33-4FBA-86DD-85BDF0BE4059}"/>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position taken</a:t>
            </a:r>
            <a:endParaRPr sz="1250"/>
          </a:p>
        </p:txBody>
      </p:sp>
      <p:sp>
        <p:nvSpPr>
          <p:cNvPr id="12" name="Text 10">
            <a:extLst xmlns:a="http://schemas.openxmlformats.org/drawingml/2006/main">
              <a:ext uri="{FF2B5EF4-FFF2-40B4-BE49-F238E27FC236}">
                <a16:creationId xmlns:a16="http://schemas.microsoft.com/office/drawing/2014/main" id="{78787741-D55D-4E38-9EEB-607A3993AE12}"/>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Bid it as a productised, configuration-led delivery that gives the client the in-house feel, the modularity and the delivery speed it is actually asking for — while resolving IP through escrow or perpetual licence rather than transfer.</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And resolve the commercial model before the solution, because no amount of functional fit rescues a contract nobody can sign.</a:t>
            </a:r>
            <a:endParaRPr sz="980"/>
          </a:p>
        </p:txBody>
      </p:sp>
      <p:sp>
        <p:nvSpPr>
          <p:cNvPr id="13" name="Text 11">
            <a:extLst xmlns:a="http://schemas.openxmlformats.org/drawingml/2006/main">
              <a:ext uri="{FF2B5EF4-FFF2-40B4-BE49-F238E27FC236}">
                <a16:creationId xmlns:a16="http://schemas.microsoft.com/office/drawing/2014/main" id="{9B760722-6E1D-44ED-8C0B-16667C83CFEA}"/>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99D6F39C-5227-4F96-8928-53D6F877CC10}"/>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38125B6C-90D7-4DA9-BA5F-DE97F3D57CE7}"/>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16" name="Text 14">
            <a:extLst xmlns:a="http://schemas.openxmlformats.org/drawingml/2006/main">
              <a:ext uri="{FF2B5EF4-FFF2-40B4-BE49-F238E27FC236}">
                <a16:creationId xmlns:a16="http://schemas.microsoft.com/office/drawing/2014/main" id="{2ECED253-473A-44B3-8AF6-0FBC29107740}"/>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clause families open</a:t>
            </a:r>
            <a:endParaRPr sz="860"/>
          </a:p>
        </p:txBody>
      </p:sp>
      <p:sp>
        <p:nvSpPr>
          <p:cNvPr id="17" name="Shape 15">
            <a:extLst xmlns:a="http://schemas.openxmlformats.org/drawingml/2006/main">
              <a:ext uri="{FF2B5EF4-FFF2-40B4-BE49-F238E27FC236}">
                <a16:creationId xmlns:a16="http://schemas.microsoft.com/office/drawing/2014/main" id="{B343A57E-39C8-4EB4-A12E-344972984D35}"/>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1DFA22BC-B6B4-4AC9-9478-35774763E30B}"/>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9" name="Text 17">
            <a:extLst xmlns:a="http://schemas.openxmlformats.org/drawingml/2006/main">
              <a:ext uri="{FF2B5EF4-FFF2-40B4-BE49-F238E27FC236}">
                <a16:creationId xmlns:a16="http://schemas.microsoft.com/office/drawing/2014/main" id="{BC8C9119-A8C8-4C3D-B11F-72D8F5A05741}"/>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capability gaps to close</a:t>
            </a:r>
            <a:endParaRPr sz="860"/>
          </a:p>
        </p:txBody>
      </p:sp>
      <p:sp>
        <p:nvSpPr>
          <p:cNvPr id="20" name="Shape 18">
            <a:extLst xmlns:a="http://schemas.openxmlformats.org/drawingml/2006/main">
              <a:ext uri="{FF2B5EF4-FFF2-40B4-BE49-F238E27FC236}">
                <a16:creationId xmlns:a16="http://schemas.microsoft.com/office/drawing/2014/main" id="{9D8BBED0-9EDF-4139-8B19-D5253F374EAD}"/>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48F95494-EC3D-4C78-A8CE-77C756E41C1B}"/>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10</a:t>
            </a:r>
            <a:endParaRPr sz="2100"/>
          </a:p>
        </p:txBody>
      </p:sp>
      <p:sp>
        <p:nvSpPr>
          <p:cNvPr id="22" name="Text 20">
            <a:extLst xmlns:a="http://schemas.openxmlformats.org/drawingml/2006/main">
              <a:ext uri="{FF2B5EF4-FFF2-40B4-BE49-F238E27FC236}">
                <a16:creationId xmlns:a16="http://schemas.microsoft.com/office/drawing/2014/main" id="{AB1CC954-A7E3-4A5F-B957-2243BDD009CF}"/>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milestones, 17 months</a:t>
            </a:r>
            <a:endParaRPr sz="860"/>
          </a:p>
        </p:txBody>
      </p:sp>
      <p:sp>
        <p:nvSpPr>
          <p:cNvPr id="23" name="Shape 21">
            <a:extLst xmlns:a="http://schemas.openxmlformats.org/drawingml/2006/main">
              <a:ext uri="{FF2B5EF4-FFF2-40B4-BE49-F238E27FC236}">
                <a16:creationId xmlns:a16="http://schemas.microsoft.com/office/drawing/2014/main" id="{0134A5FA-8E93-4EBB-AE6A-308871DC50CB}"/>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79866403-404C-468A-A0B2-A7E372514B1E}"/>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158</a:t>
            </a:r>
            <a:endParaRPr sz="2100"/>
          </a:p>
        </p:txBody>
      </p:sp>
      <p:sp>
        <p:nvSpPr>
          <p:cNvPr id="25" name="Text 23">
            <a:extLst xmlns:a="http://schemas.openxmlformats.org/drawingml/2006/main">
              <a:ext uri="{FF2B5EF4-FFF2-40B4-BE49-F238E27FC236}">
                <a16:creationId xmlns:a16="http://schemas.microsoft.com/office/drawing/2014/main" id="{73BED153-3AC5-4BF0-9CED-B22D6265C87B}"/>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person-months</a:t>
            </a:r>
            <a:endParaRPr sz="860"/>
          </a:p>
        </p:txBody>
      </p:sp>
      <p:sp>
        <p:nvSpPr>
          <p:cNvPr id="26" name="Shape 24">
            <a:extLst xmlns:a="http://schemas.openxmlformats.org/drawingml/2006/main">
              <a:ext uri="{FF2B5EF4-FFF2-40B4-BE49-F238E27FC236}">
                <a16:creationId xmlns:a16="http://schemas.microsoft.com/office/drawing/2014/main" id="{2C7A4FA4-4AE0-4EFB-A368-6E6DE5C631D4}"/>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DE20FEFF-A379-4ADF-AD3F-C775FCEA9AB8}"/>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8" name="Text 26">
            <a:extLst xmlns:a="http://schemas.openxmlformats.org/drawingml/2006/main">
              <a:ext uri="{FF2B5EF4-FFF2-40B4-BE49-F238E27FC236}">
                <a16:creationId xmlns:a16="http://schemas.microsoft.com/office/drawing/2014/main" id="{B44BE5D3-0FFD-4CF7-8E69-663A891ACC03}"/>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change requests targeted</a:t>
            </a:r>
            <a:endParaRPr sz="860"/>
          </a:p>
        </p:txBody>
      </p:sp>
      <p:sp>
        <p:nvSpPr>
          <p:cNvPr id="29" name="Shape 27">
            <a:extLst xmlns:a="http://schemas.openxmlformats.org/drawingml/2006/main">
              <a:ext uri="{FF2B5EF4-FFF2-40B4-BE49-F238E27FC236}">
                <a16:creationId xmlns:a16="http://schemas.microsoft.com/office/drawing/2014/main" id="{16485512-F9E0-454C-ABF7-8462BCBB024C}"/>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8EE8B6D3-5A36-42C5-BCFE-FB9D22719132}"/>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4EA53D76-7848-4356-82EF-54F1751FA4C8}"/>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decision that gates the rest</a:t>
            </a:r>
            <a:endParaRPr sz="860"/>
          </a:p>
        </p:txBody>
      </p:sp>
      <p:sp>
        <p:nvSpPr>
          <p:cNvPr id="32" name="Text 30">
            <a:extLst xmlns:a="http://schemas.openxmlformats.org/drawingml/2006/main">
              <a:ext uri="{FF2B5EF4-FFF2-40B4-BE49-F238E27FC236}">
                <a16:creationId xmlns:a16="http://schemas.microsoft.com/office/drawing/2014/main" id="{6D8159AE-60F0-48C8-8734-9BD882035312}"/>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judgement this deck argues:  in a displacement bid the incumbent is not the competitor — inertia is. The client is not choosing between two products; it is choosing whether to absorb the cost of change at all, which makes the commercial terms the real battleground.</a:t>
            </a:r>
            <a:endParaRPr sz="1000"/>
          </a:p>
        </p:txBody>
      </p:sp>
      <p:sp>
        <p:nvSpPr>
          <p:cNvPr id="33" name="Shape 31">
            <a:extLst xmlns:a="http://schemas.openxmlformats.org/drawingml/2006/main">
              <a:ext uri="{FF2B5EF4-FFF2-40B4-BE49-F238E27FC236}">
                <a16:creationId xmlns:a16="http://schemas.microsoft.com/office/drawing/2014/main" id="{F2E9545A-A003-40E0-8AFC-F02497D6179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EE3AC087-657D-409A-A915-B63C3206DB8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solution and deal analysis</a:t>
            </a:r>
            <a:endParaRPr sz="850"/>
          </a:p>
        </p:txBody>
      </p:sp>
      <p:sp>
        <p:nvSpPr>
          <p:cNvPr id="35" name="Text 33">
            <a:extLst xmlns:a="http://schemas.openxmlformats.org/drawingml/2006/main">
              <a:ext uri="{FF2B5EF4-FFF2-40B4-BE49-F238E27FC236}">
                <a16:creationId xmlns:a16="http://schemas.microsoft.com/office/drawing/2014/main" id="{9D8FE818-A398-4FF0-8DAF-AF5757A94A6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210380988"/>
      </p:ext>
    </p:extLst>
  </p:cSld>
</p:sld>
</file>

<file path=ppt/slides/slide10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112D6B9-2EDD-488C-B254-9FA45305EDB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B7509FA0-6FCF-499F-B3DA-5D3500347C1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Scope and volumetrics are the client's; the fit assessment, the deal reading and the</a:t>
            </a:r>
            <a:endParaRPr sz="1900"/>
          </a:p>
          <a:p xmlns:a="http://schemas.openxmlformats.org/drawingml/2006/main">
            <a:pPr marL="0" indent="0">
              <a:lnSpc>
                <a:spcPts val="2400"/>
              </a:lnSpc>
              <a:buNone/>
            </a:pPr>
            <a:r>
              <a:rPr sz="1900" b="1">
                <a:solidFill>
                  <a:srgbClr val="102A43"/>
                </a:solidFill>
                <a:latin typeface="Arial"/>
                <a:ea typeface="Arial"/>
                <a:cs typeface="Arial"/>
              </a:rPr>
              <a:t>recommended position are mine — no live commercial position is disclosed</a:t>
            </a:r>
            <a:endParaRPr sz="1900"/>
          </a:p>
        </p:txBody>
      </p:sp>
      <p:sp>
        <p:nvSpPr>
          <p:cNvPr id="4" name="Shape 2">
            <a:extLst xmlns:a="http://schemas.openxmlformats.org/drawingml/2006/main">
              <a:ext uri="{FF2B5EF4-FFF2-40B4-BE49-F238E27FC236}">
                <a16:creationId xmlns:a16="http://schemas.microsoft.com/office/drawing/2014/main" id="{4CC6DACB-56E7-493B-AF2C-342726C073B1}"/>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37BCA745-74FF-4419-9AEA-E35D4917DE9D}"/>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BD9A72AA-5249-4070-A5F3-38AB3832F806}"/>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SCOPE OF WORK</a:t>
            </a:r>
            <a:endParaRPr sz="740"/>
          </a:p>
        </p:txBody>
      </p:sp>
      <p:sp>
        <p:nvSpPr>
          <p:cNvPr id="7" name="Text 5">
            <a:extLst xmlns:a="http://schemas.openxmlformats.org/drawingml/2006/main">
              <a:ext uri="{FF2B5EF4-FFF2-40B4-BE49-F238E27FC236}">
                <a16:creationId xmlns:a16="http://schemas.microsoft.com/office/drawing/2014/main" id="{68222A99-4F2B-4070-912B-EFB058D2B1D0}"/>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Client context</a:t>
            </a:r>
            <a:endParaRPr sz="1200"/>
          </a:p>
        </p:txBody>
      </p:sp>
      <p:sp>
        <p:nvSpPr>
          <p:cNvPr id="8" name="Text 6">
            <a:extLst xmlns:a="http://schemas.openxmlformats.org/drawingml/2006/main">
              <a:ext uri="{FF2B5EF4-FFF2-40B4-BE49-F238E27FC236}">
                <a16:creationId xmlns:a16="http://schemas.microsoft.com/office/drawing/2014/main" id="{CE523E46-630C-4B05-95E2-EC8D598ED2A7}"/>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Requirements, volumes and delivery expectations as issued by the client in the tender pack.</a:t>
            </a:r>
            <a:endParaRPr sz="920"/>
          </a:p>
        </p:txBody>
      </p:sp>
      <p:sp>
        <p:nvSpPr>
          <p:cNvPr id="9" name="Shape 7">
            <a:extLst xmlns:a="http://schemas.openxmlformats.org/drawingml/2006/main">
              <a:ext uri="{FF2B5EF4-FFF2-40B4-BE49-F238E27FC236}">
                <a16:creationId xmlns:a16="http://schemas.microsoft.com/office/drawing/2014/main" id="{AF1327C3-F357-4BE7-8606-5F5497D24163}"/>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7361988F-084A-4216-B5C6-8993579C3900}"/>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Functional scope across three domains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Seller and channel volumetrics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Integration inventory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Non-functional and security targets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Milestone and phasing expectations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Vendor eligibility conditions</a:t>
            </a:r>
            <a:endParaRPr sz="930"/>
          </a:p>
        </p:txBody>
      </p:sp>
      <p:sp>
        <p:nvSpPr>
          <p:cNvPr id="11" name="Shape 9">
            <a:extLst xmlns:a="http://schemas.openxmlformats.org/drawingml/2006/main">
              <a:ext uri="{FF2B5EF4-FFF2-40B4-BE49-F238E27FC236}">
                <a16:creationId xmlns:a16="http://schemas.microsoft.com/office/drawing/2014/main" id="{310B479E-67F4-4CE0-AFB0-C87813258A90}"/>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DC317329-AD0F-4400-B06C-C2C9FA0ED088}"/>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4ACDF469-5907-4063-81A5-AC0264434177}"/>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SOLUTION &amp; DEAL ANALYSIS</a:t>
            </a:r>
            <a:endParaRPr sz="740"/>
          </a:p>
        </p:txBody>
      </p:sp>
      <p:sp>
        <p:nvSpPr>
          <p:cNvPr id="14" name="Text 12">
            <a:extLst xmlns:a="http://schemas.openxmlformats.org/drawingml/2006/main">
              <a:ext uri="{FF2B5EF4-FFF2-40B4-BE49-F238E27FC236}">
                <a16:creationId xmlns:a16="http://schemas.microsoft.com/office/drawing/2014/main" id="{6FE2540D-2299-48E7-B813-9C5463022150}"/>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7F491022-CD6F-48D7-84D3-C852B5ED0E18}"/>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capability fit matrix, the build-versus-configure reading, the effort shape and the recommended commercial position.</a:t>
            </a:r>
            <a:endParaRPr sz="920"/>
          </a:p>
        </p:txBody>
      </p:sp>
      <p:sp>
        <p:nvSpPr>
          <p:cNvPr id="16" name="Shape 14">
            <a:extLst xmlns:a="http://schemas.openxmlformats.org/drawingml/2006/main">
              <a:ext uri="{FF2B5EF4-FFF2-40B4-BE49-F238E27FC236}">
                <a16:creationId xmlns:a16="http://schemas.microsoft.com/office/drawing/2014/main" id="{0951E04F-66AC-4385-8314-32066FF46A79}"/>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1A1D4370-50ED-48B4-A7BC-9119881B88F5}"/>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Four-level fit assessment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Build / buy / configure framing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Clause-family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Effort and role-mix estimate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Displacement playbook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Recommendation to leadership</a:t>
            </a:r>
            <a:endParaRPr sz="930"/>
          </a:p>
        </p:txBody>
      </p:sp>
      <p:sp>
        <p:nvSpPr>
          <p:cNvPr id="18" name="Shape 16">
            <a:extLst xmlns:a="http://schemas.openxmlformats.org/drawingml/2006/main">
              <a:ext uri="{FF2B5EF4-FFF2-40B4-BE49-F238E27FC236}">
                <a16:creationId xmlns:a16="http://schemas.microsoft.com/office/drawing/2014/main" id="{812B688A-B981-448C-A042-7E6567D5E5FA}"/>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29479247-96EB-45AD-BB83-7FFB226B3757}"/>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23B75189-684F-44CF-A362-51D738A236C6}"/>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PRE-AWARD ESTIMATE</a:t>
            </a:r>
            <a:endParaRPr sz="740"/>
          </a:p>
        </p:txBody>
      </p:sp>
      <p:sp>
        <p:nvSpPr>
          <p:cNvPr id="21" name="Text 19">
            <a:extLst xmlns:a="http://schemas.openxmlformats.org/drawingml/2006/main">
              <a:ext uri="{FF2B5EF4-FFF2-40B4-BE49-F238E27FC236}">
                <a16:creationId xmlns:a16="http://schemas.microsoft.com/office/drawing/2014/main" id="{285B15CF-7D4C-4B36-BF9D-25DFCAEAB153}"/>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Estimated</a:t>
            </a:r>
            <a:endParaRPr sz="1200"/>
          </a:p>
        </p:txBody>
      </p:sp>
      <p:sp>
        <p:nvSpPr>
          <p:cNvPr id="22" name="Text 20">
            <a:extLst xmlns:a="http://schemas.openxmlformats.org/drawingml/2006/main">
              <a:ext uri="{FF2B5EF4-FFF2-40B4-BE49-F238E27FC236}">
                <a16:creationId xmlns:a16="http://schemas.microsoft.com/office/drawing/2014/main" id="{DDED33F4-EE34-4B00-B51C-5AC8A3343B4A}"/>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Effort and role mix are a pre-award estimate from the issued scope, not an actual delivery record.</a:t>
            </a:r>
            <a:endParaRPr sz="920"/>
          </a:p>
        </p:txBody>
      </p:sp>
      <p:sp>
        <p:nvSpPr>
          <p:cNvPr id="23" name="Shape 21">
            <a:extLst xmlns:a="http://schemas.openxmlformats.org/drawingml/2006/main">
              <a:ext uri="{FF2B5EF4-FFF2-40B4-BE49-F238E27FC236}">
                <a16:creationId xmlns:a16="http://schemas.microsoft.com/office/drawing/2014/main" id="{17F49117-BC76-443C-8BA4-C83940AC524B}"/>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26C2D6A9-B73C-486A-86B4-0202F4DC1CC3}"/>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158 person-months across 7 roles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Milestone phasing across 17 months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Team shape and pod structure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Sensitive to final scope freeze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delivered outcome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priced commercial offer</a:t>
            </a:r>
            <a:endParaRPr sz="930"/>
          </a:p>
        </p:txBody>
      </p:sp>
      <p:sp>
        <p:nvSpPr>
          <p:cNvPr id="25" name="Shape 23">
            <a:extLst xmlns:a="http://schemas.openxmlformats.org/drawingml/2006/main">
              <a:ext uri="{FF2B5EF4-FFF2-40B4-BE49-F238E27FC236}">
                <a16:creationId xmlns:a16="http://schemas.microsoft.com/office/drawing/2014/main" id="{B653770D-DCE3-4BCC-9D7F-1CA0EADD5E24}"/>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DEF7A06-5489-488F-96F8-FFE74CE390D8}"/>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CA23C174-EFCD-431B-8262-A148C0994BDD}"/>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2BA2489E-B2A2-4FD3-A249-9BADD8CBAA0F}"/>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FEECF9D2-197C-439B-BB38-E43A355BC1D3}"/>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Deliberately excluded. This is a solution and deal analysis, not a bid document and not a delivery record.</a:t>
            </a:r>
            <a:endParaRPr sz="920"/>
          </a:p>
        </p:txBody>
      </p:sp>
      <p:sp>
        <p:nvSpPr>
          <p:cNvPr id="30" name="Shape 28">
            <a:extLst xmlns:a="http://schemas.openxmlformats.org/drawingml/2006/main">
              <a:ext uri="{FF2B5EF4-FFF2-40B4-BE49-F238E27FC236}">
                <a16:creationId xmlns:a16="http://schemas.microsoft.com/office/drawing/2014/main" id="{5FFF8BDC-924C-4F2B-8826-1509ED1CF12F}"/>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E055DF05-1F25-4590-BC1D-C5B64EEA67CF}"/>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live negotiating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price or rate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Whether the deal was won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of this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incumbent's identity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client document</a:t>
            </a:r>
            <a:endParaRPr sz="930"/>
          </a:p>
        </p:txBody>
      </p:sp>
      <p:sp>
        <p:nvSpPr>
          <p:cNvPr id="32" name="Shape 30">
            <a:extLst xmlns:a="http://schemas.openxmlformats.org/drawingml/2006/main">
              <a:ext uri="{FF2B5EF4-FFF2-40B4-BE49-F238E27FC236}">
                <a16:creationId xmlns:a16="http://schemas.microsoft.com/office/drawing/2014/main" id="{7D7E088E-202B-41D0-9199-E6FA7AE5B35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5CA55AB2-263F-4FD7-9BEC-74658C864AB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scope of work (context) · author's solution and deal analysis (assessment and recommendation)</a:t>
            </a:r>
            <a:endParaRPr sz="850"/>
          </a:p>
        </p:txBody>
      </p:sp>
      <p:sp>
        <p:nvSpPr>
          <p:cNvPr id="34" name="Text 32">
            <a:extLst xmlns:a="http://schemas.openxmlformats.org/drawingml/2006/main">
              <a:ext uri="{FF2B5EF4-FFF2-40B4-BE49-F238E27FC236}">
                <a16:creationId xmlns:a16="http://schemas.microsoft.com/office/drawing/2014/main" id="{529CF77E-E686-43ED-AFE7-8C0476A4550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898474046"/>
      </p:ext>
    </p:extLst>
  </p:cSld>
</p:sld>
</file>

<file path=ppt/slides/slide10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4B47300-B1E0-4DD4-A0C3-1EB198CB243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CASE FOR CHANGE</a:t>
            </a:r>
            <a:endParaRPr sz="950"/>
          </a:p>
        </p:txBody>
      </p:sp>
      <p:sp>
        <p:nvSpPr>
          <p:cNvPr id="3" name="Text 1">
            <a:extLst xmlns:a="http://schemas.openxmlformats.org/drawingml/2006/main">
              <a:ext uri="{FF2B5EF4-FFF2-40B4-BE49-F238E27FC236}">
                <a16:creationId xmlns:a16="http://schemas.microsoft.com/office/drawing/2014/main" id="{B642FA01-187A-4D77-A147-127C48D6A6A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structural failures drive the displacement — and none of them is a complaint</a:t>
            </a:r>
            <a:endParaRPr sz="1900"/>
          </a:p>
          <a:p xmlns:a="http://schemas.openxmlformats.org/drawingml/2006/main">
            <a:pPr marL="0" indent="0">
              <a:lnSpc>
                <a:spcPts val="2400"/>
              </a:lnSpc>
              <a:buNone/>
            </a:pPr>
            <a:r>
              <a:rPr sz="1900" b="1">
                <a:solidFill>
                  <a:srgbClr val="102A43"/>
                </a:solidFill>
                <a:latin typeface="Arial"/>
                <a:ea typeface="Arial"/>
                <a:cs typeface="Arial"/>
              </a:rPr>
              <a:t>about the incumbent's features</a:t>
            </a:r>
            <a:endParaRPr sz="1900"/>
          </a:p>
        </p:txBody>
      </p:sp>
      <p:sp>
        <p:nvSpPr>
          <p:cNvPr id="4" name="Shape 2">
            <a:extLst xmlns:a="http://schemas.openxmlformats.org/drawingml/2006/main">
              <a:ext uri="{FF2B5EF4-FFF2-40B4-BE49-F238E27FC236}">
                <a16:creationId xmlns:a16="http://schemas.microsoft.com/office/drawing/2014/main" id="{BE6FDABD-AA5D-425E-8D2F-2625998CE28A}"/>
              </a:ext>
            </a:extLst>
          </p:cNvPr>
          <p:cNvSpPr>
            <a:spLocks xmlns:a="http://schemas.openxmlformats.org/drawingml/2006/main" noGrp="1"/>
          </p:cNvSpPr>
          <p:nvPr/>
        </p:nvSpPr>
        <p:spPr>
          <a:xfrm xmlns:a="http://schemas.openxmlformats.org/drawingml/2006/main">
            <a:off x="566928" y="1335024"/>
            <a:ext cx="2123785" cy="2139696"/>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4C4607AD-1FA0-4559-B88A-3CA163D3CDB4}"/>
              </a:ext>
            </a:extLst>
          </p:cNvPr>
          <p:cNvSpPr>
            <a:spLocks xmlns:a="http://schemas.openxmlformats.org/drawingml/2006/main" noGrp="1"/>
          </p:cNvSpPr>
          <p:nvPr/>
        </p:nvSpPr>
        <p:spPr>
          <a:xfrm xmlns:a="http://schemas.openxmlformats.org/drawingml/2006/main">
            <a:off x="749808"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99055D67-99BB-423C-BAE3-1E554D029ACA}"/>
              </a:ext>
            </a:extLst>
          </p:cNvPr>
          <p:cNvSpPr>
            <a:spLocks xmlns:a="http://schemas.openxmlformats.org/drawingml/2006/main" noGrp="1"/>
          </p:cNvSpPr>
          <p:nvPr/>
        </p:nvSpPr>
        <p:spPr>
          <a:xfrm xmlns:a="http://schemas.openxmlformats.org/drawingml/2006/main">
            <a:off x="749808" y="1700784"/>
            <a:ext cx="175802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No single source of truth</a:t>
            </a:r>
            <a:endParaRPr sz="1120"/>
          </a:p>
        </p:txBody>
      </p:sp>
      <p:sp>
        <p:nvSpPr>
          <p:cNvPr id="7" name="Text 5">
            <a:extLst xmlns:a="http://schemas.openxmlformats.org/drawingml/2006/main">
              <a:ext uri="{FF2B5EF4-FFF2-40B4-BE49-F238E27FC236}">
                <a16:creationId xmlns:a16="http://schemas.microsoft.com/office/drawing/2014/main" id="{4165A742-723C-4FB1-B2A5-5921260A8E46}"/>
              </a:ext>
            </a:extLst>
          </p:cNvPr>
          <p:cNvSpPr>
            <a:spLocks xmlns:a="http://schemas.openxmlformats.org/drawingml/2006/main" noGrp="1"/>
          </p:cNvSpPr>
          <p:nvPr/>
        </p:nvSpPr>
        <p:spPr>
          <a:xfrm xmlns:a="http://schemas.openxmlformats.org/drawingml/2006/main">
            <a:off x="749808" y="2267712"/>
            <a:ext cx="1758025"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Lead and activity records are fragmented across the incumbent platform and peripheral apps. There is no unified record of either.</a:t>
            </a:r>
            <a:endParaRPr sz="920"/>
          </a:p>
        </p:txBody>
      </p:sp>
      <p:sp>
        <p:nvSpPr>
          <p:cNvPr id="8" name="Shape 6">
            <a:extLst xmlns:a="http://schemas.openxmlformats.org/drawingml/2006/main">
              <a:ext uri="{FF2B5EF4-FFF2-40B4-BE49-F238E27FC236}">
                <a16:creationId xmlns:a16="http://schemas.microsoft.com/office/drawing/2014/main" id="{99B75E6E-1DCF-422B-956F-4236FEBD1ED2}"/>
              </a:ext>
            </a:extLst>
          </p:cNvPr>
          <p:cNvSpPr>
            <a:spLocks xmlns:a="http://schemas.openxmlformats.org/drawingml/2006/main" noGrp="1"/>
          </p:cNvSpPr>
          <p:nvPr/>
        </p:nvSpPr>
        <p:spPr>
          <a:xfrm xmlns:a="http://schemas.openxmlformats.org/drawingml/2006/main">
            <a:off x="2800441" y="1335024"/>
            <a:ext cx="2123785" cy="2139696"/>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5BBCE543-BC4B-4128-90E4-BB19864959E9}"/>
              </a:ext>
            </a:extLst>
          </p:cNvPr>
          <p:cNvSpPr>
            <a:spLocks xmlns:a="http://schemas.openxmlformats.org/drawingml/2006/main" noGrp="1"/>
          </p:cNvSpPr>
          <p:nvPr/>
        </p:nvSpPr>
        <p:spPr>
          <a:xfrm xmlns:a="http://schemas.openxmlformats.org/drawingml/2006/main">
            <a:off x="2983321"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57FE3DB3-38A5-4BCD-9F28-3F28468C3F91}"/>
              </a:ext>
            </a:extLst>
          </p:cNvPr>
          <p:cNvSpPr>
            <a:spLocks xmlns:a="http://schemas.openxmlformats.org/drawingml/2006/main" noGrp="1"/>
          </p:cNvSpPr>
          <p:nvPr/>
        </p:nvSpPr>
        <p:spPr>
          <a:xfrm xmlns:a="http://schemas.openxmlformats.org/drawingml/2006/main">
            <a:off x="2983321" y="1700784"/>
            <a:ext cx="175802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No seller or lead 360</a:t>
            </a:r>
            <a:endParaRPr sz="1120"/>
          </a:p>
        </p:txBody>
      </p:sp>
      <p:sp>
        <p:nvSpPr>
          <p:cNvPr id="11" name="Text 9">
            <a:extLst xmlns:a="http://schemas.openxmlformats.org/drawingml/2006/main">
              <a:ext uri="{FF2B5EF4-FFF2-40B4-BE49-F238E27FC236}">
                <a16:creationId xmlns:a16="http://schemas.microsoft.com/office/drawing/2014/main" id="{FC5D02AD-6083-46FA-B734-D659E7F07E07}"/>
              </a:ext>
            </a:extLst>
          </p:cNvPr>
          <p:cNvSpPr>
            <a:spLocks xmlns:a="http://schemas.openxmlformats.org/drawingml/2006/main" noGrp="1"/>
          </p:cNvSpPr>
          <p:nvPr/>
        </p:nvSpPr>
        <p:spPr>
          <a:xfrm xmlns:a="http://schemas.openxmlformats.org/drawingml/2006/main">
            <a:off x="2983321" y="2267712"/>
            <a:ext cx="1758025"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No consolidated view of the seller or the lead across the pre-sales to servicing lifecycle — each system holds a fragment.</a:t>
            </a:r>
            <a:endParaRPr sz="920"/>
          </a:p>
        </p:txBody>
      </p:sp>
      <p:sp>
        <p:nvSpPr>
          <p:cNvPr id="12" name="Shape 10">
            <a:extLst xmlns:a="http://schemas.openxmlformats.org/drawingml/2006/main">
              <a:ext uri="{FF2B5EF4-FFF2-40B4-BE49-F238E27FC236}">
                <a16:creationId xmlns:a16="http://schemas.microsoft.com/office/drawing/2014/main" id="{49EF586C-E5B2-4AC7-B4FD-1F0D6E5BA4F3}"/>
              </a:ext>
            </a:extLst>
          </p:cNvPr>
          <p:cNvSpPr>
            <a:spLocks xmlns:a="http://schemas.openxmlformats.org/drawingml/2006/main" noGrp="1"/>
          </p:cNvSpPr>
          <p:nvPr/>
        </p:nvSpPr>
        <p:spPr>
          <a:xfrm xmlns:a="http://schemas.openxmlformats.org/drawingml/2006/main">
            <a:off x="5033955" y="1335024"/>
            <a:ext cx="2123785" cy="2139696"/>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A966F81C-BB3E-4B16-A4B1-1E8044DAAD42}"/>
              </a:ext>
            </a:extLst>
          </p:cNvPr>
          <p:cNvSpPr>
            <a:spLocks xmlns:a="http://schemas.openxmlformats.org/drawingml/2006/main" noGrp="1"/>
          </p:cNvSpPr>
          <p:nvPr/>
        </p:nvSpPr>
        <p:spPr>
          <a:xfrm xmlns:a="http://schemas.openxmlformats.org/drawingml/2006/main">
            <a:off x="5216835"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8438E690-AB9C-43ED-BFD2-69E417C6F804}"/>
              </a:ext>
            </a:extLst>
          </p:cNvPr>
          <p:cNvSpPr>
            <a:spLocks xmlns:a="http://schemas.openxmlformats.org/drawingml/2006/main" noGrp="1"/>
          </p:cNvSpPr>
          <p:nvPr/>
        </p:nvSpPr>
        <p:spPr>
          <a:xfrm xmlns:a="http://schemas.openxmlformats.org/drawingml/2006/main">
            <a:off x="5216835" y="1700784"/>
            <a:ext cx="175802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Transaction and experience overlap</a:t>
            </a:r>
            <a:endParaRPr sz="1120"/>
          </a:p>
        </p:txBody>
      </p:sp>
      <p:sp>
        <p:nvSpPr>
          <p:cNvPr id="15" name="Text 13">
            <a:extLst xmlns:a="http://schemas.openxmlformats.org/drawingml/2006/main">
              <a:ext uri="{FF2B5EF4-FFF2-40B4-BE49-F238E27FC236}">
                <a16:creationId xmlns:a16="http://schemas.microsoft.com/office/drawing/2014/main" id="{FAFC2DE6-E9D8-4EB1-9F03-1262709466D9}"/>
              </a:ext>
            </a:extLst>
          </p:cNvPr>
          <p:cNvSpPr>
            <a:spLocks xmlns:a="http://schemas.openxmlformats.org/drawingml/2006/main" noGrp="1"/>
          </p:cNvSpPr>
          <p:nvPr/>
        </p:nvSpPr>
        <p:spPr>
          <a:xfrm xmlns:a="http://schemas.openxmlformats.org/drawingml/2006/main">
            <a:off x="5216835" y="2267712"/>
            <a:ext cx="1758025"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Transaction systems overlap with experience platforms across several disparate peripheral applications, with no clear ownership boundary.</a:t>
            </a:r>
            <a:endParaRPr sz="920"/>
          </a:p>
        </p:txBody>
      </p:sp>
      <p:sp>
        <p:nvSpPr>
          <p:cNvPr id="16" name="Shape 14">
            <a:extLst xmlns:a="http://schemas.openxmlformats.org/drawingml/2006/main">
              <a:ext uri="{FF2B5EF4-FFF2-40B4-BE49-F238E27FC236}">
                <a16:creationId xmlns:a16="http://schemas.microsoft.com/office/drawing/2014/main" id="{B146E872-C29D-43A3-AF4D-DE4C7FD445CB}"/>
              </a:ext>
            </a:extLst>
          </p:cNvPr>
          <p:cNvSpPr>
            <a:spLocks xmlns:a="http://schemas.openxmlformats.org/drawingml/2006/main" noGrp="1"/>
          </p:cNvSpPr>
          <p:nvPr/>
        </p:nvSpPr>
        <p:spPr>
          <a:xfrm xmlns:a="http://schemas.openxmlformats.org/drawingml/2006/main">
            <a:off x="7267468" y="1335024"/>
            <a:ext cx="2123785" cy="2139696"/>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3583C518-F5BD-440C-B232-81485886480D}"/>
              </a:ext>
            </a:extLst>
          </p:cNvPr>
          <p:cNvSpPr>
            <a:spLocks xmlns:a="http://schemas.openxmlformats.org/drawingml/2006/main" noGrp="1"/>
          </p:cNvSpPr>
          <p:nvPr/>
        </p:nvSpPr>
        <p:spPr>
          <a:xfrm xmlns:a="http://schemas.openxmlformats.org/drawingml/2006/main">
            <a:off x="7450348"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A2548656-9903-40DB-8758-131E1A8E5CC6}"/>
              </a:ext>
            </a:extLst>
          </p:cNvPr>
          <p:cNvSpPr>
            <a:spLocks xmlns:a="http://schemas.openxmlformats.org/drawingml/2006/main" noGrp="1"/>
          </p:cNvSpPr>
          <p:nvPr/>
        </p:nvSpPr>
        <p:spPr>
          <a:xfrm xmlns:a="http://schemas.openxmlformats.org/drawingml/2006/main">
            <a:off x="7450348" y="1700784"/>
            <a:ext cx="175802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No CRM-integrated lead view</a:t>
            </a:r>
            <a:endParaRPr sz="1120"/>
          </a:p>
        </p:txBody>
      </p:sp>
      <p:sp>
        <p:nvSpPr>
          <p:cNvPr id="19" name="Text 17">
            <a:extLst xmlns:a="http://schemas.openxmlformats.org/drawingml/2006/main">
              <a:ext uri="{FF2B5EF4-FFF2-40B4-BE49-F238E27FC236}">
                <a16:creationId xmlns:a16="http://schemas.microsoft.com/office/drawing/2014/main" id="{A12E7EFD-58F3-41D4-8836-464B966BE796}"/>
              </a:ext>
            </a:extLst>
          </p:cNvPr>
          <p:cNvSpPr>
            <a:spLocks xmlns:a="http://schemas.openxmlformats.org/drawingml/2006/main" noGrp="1"/>
          </p:cNvSpPr>
          <p:nvPr/>
        </p:nvSpPr>
        <p:spPr>
          <a:xfrm xmlns:a="http://schemas.openxmlformats.org/drawingml/2006/main">
            <a:off x="7450348" y="2267712"/>
            <a:ext cx="1758025"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Transactions are not recorded in the CRM, so no end-to-end view of a lead exists anywhere in the estate.</a:t>
            </a:r>
            <a:endParaRPr sz="920"/>
          </a:p>
        </p:txBody>
      </p:sp>
      <p:sp>
        <p:nvSpPr>
          <p:cNvPr id="20" name="Shape 18">
            <a:extLst xmlns:a="http://schemas.openxmlformats.org/drawingml/2006/main">
              <a:ext uri="{FF2B5EF4-FFF2-40B4-BE49-F238E27FC236}">
                <a16:creationId xmlns:a16="http://schemas.microsoft.com/office/drawing/2014/main" id="{436DF8ED-AD22-4214-8D58-E9A7940956F0}"/>
              </a:ext>
            </a:extLst>
          </p:cNvPr>
          <p:cNvSpPr>
            <a:spLocks xmlns:a="http://schemas.openxmlformats.org/drawingml/2006/main" noGrp="1"/>
          </p:cNvSpPr>
          <p:nvPr/>
        </p:nvSpPr>
        <p:spPr>
          <a:xfrm xmlns:a="http://schemas.openxmlformats.org/drawingml/2006/main">
            <a:off x="9500982" y="1335024"/>
            <a:ext cx="2123785" cy="2139696"/>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151906E0-1E91-4FD4-9357-4F46416716AE}"/>
              </a:ext>
            </a:extLst>
          </p:cNvPr>
          <p:cNvSpPr>
            <a:spLocks xmlns:a="http://schemas.openxmlformats.org/drawingml/2006/main" noGrp="1"/>
          </p:cNvSpPr>
          <p:nvPr/>
        </p:nvSpPr>
        <p:spPr>
          <a:xfrm xmlns:a="http://schemas.openxmlformats.org/drawingml/2006/main">
            <a:off x="9683862"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1E8ABC3D-332C-4EA1-8511-0C70BC2B2A84}"/>
              </a:ext>
            </a:extLst>
          </p:cNvPr>
          <p:cNvSpPr>
            <a:spLocks xmlns:a="http://schemas.openxmlformats.org/drawingml/2006/main" noGrp="1"/>
          </p:cNvSpPr>
          <p:nvPr/>
        </p:nvSpPr>
        <p:spPr>
          <a:xfrm xmlns:a="http://schemas.openxmlformats.org/drawingml/2006/main">
            <a:off x="9683862" y="1700784"/>
            <a:ext cx="1758025"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No intelligence in the flow</a:t>
            </a:r>
            <a:endParaRPr sz="1120"/>
          </a:p>
        </p:txBody>
      </p:sp>
      <p:sp>
        <p:nvSpPr>
          <p:cNvPr id="23" name="Text 21">
            <a:extLst xmlns:a="http://schemas.openxmlformats.org/drawingml/2006/main">
              <a:ext uri="{FF2B5EF4-FFF2-40B4-BE49-F238E27FC236}">
                <a16:creationId xmlns:a16="http://schemas.microsoft.com/office/drawing/2014/main" id="{0EE95556-E54E-437C-91E4-DC260720D708}"/>
              </a:ext>
            </a:extLst>
          </p:cNvPr>
          <p:cNvSpPr>
            <a:spLocks xmlns:a="http://schemas.openxmlformats.org/drawingml/2006/main" noGrp="1"/>
          </p:cNvSpPr>
          <p:nvPr/>
        </p:nvSpPr>
        <p:spPr>
          <a:xfrm xmlns:a="http://schemas.openxmlformats.org/drawingml/2006/main">
            <a:off x="9683862" y="2267712"/>
            <a:ext cx="1758025"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current stack offers sellers no next-best-action, no prioritisation and no AI assistance at the point of work.</a:t>
            </a:r>
            <a:endParaRPr sz="920"/>
          </a:p>
        </p:txBody>
      </p:sp>
      <p:sp>
        <p:nvSpPr>
          <p:cNvPr id="24" name="Text 22">
            <a:extLst xmlns:a="http://schemas.openxmlformats.org/drawingml/2006/main">
              <a:ext uri="{FF2B5EF4-FFF2-40B4-BE49-F238E27FC236}">
                <a16:creationId xmlns:a16="http://schemas.microsoft.com/office/drawing/2014/main" id="{134BB262-2D19-4941-A08C-A101C3022360}"/>
              </a:ext>
            </a:extLst>
          </p:cNvPr>
          <p:cNvSpPr>
            <a:spLocks xmlns:a="http://schemas.openxmlformats.org/drawingml/2006/main" noGrp="1"/>
          </p:cNvSpPr>
          <p:nvPr/>
        </p:nvSpPr>
        <p:spPr>
          <a:xfrm xmlns:a="http://schemas.openxmlformats.org/drawingml/2006/main">
            <a:off x="566928" y="373075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the list has in common</a:t>
            </a:r>
            <a:endParaRPr sz="1100"/>
          </a:p>
        </p:txBody>
      </p:sp>
      <p:sp>
        <p:nvSpPr>
          <p:cNvPr id="25" name="Shape 23">
            <a:extLst xmlns:a="http://schemas.openxmlformats.org/drawingml/2006/main">
              <a:ext uri="{FF2B5EF4-FFF2-40B4-BE49-F238E27FC236}">
                <a16:creationId xmlns:a16="http://schemas.microsoft.com/office/drawing/2014/main" id="{B613E5E4-54B8-4119-B04D-341ED9C5B4D1}"/>
              </a:ext>
            </a:extLst>
          </p:cNvPr>
          <p:cNvSpPr>
            <a:spLocks xmlns:a="http://schemas.openxmlformats.org/drawingml/2006/main" noGrp="1"/>
          </p:cNvSpPr>
          <p:nvPr/>
        </p:nvSpPr>
        <p:spPr>
          <a:xfrm xmlns:a="http://schemas.openxmlformats.org/drawingml/2006/main">
            <a:off x="566928" y="3986784"/>
            <a:ext cx="3551834" cy="20117"/>
          </a:xfrm>
          <a:prstGeom xmlns:a="http://schemas.openxmlformats.org/drawingml/2006/main" prst="rect">
            <a:avLst/>
          </a:prstGeom>
          <a:solidFill xmlns:a="http://schemas.openxmlformats.org/drawingml/2006/main">
            <a:srgbClr val="B04A25"/>
          </a:solidFill>
        </p:spPr>
      </p:sp>
      <p:sp>
        <p:nvSpPr>
          <p:cNvPr id="26" name="Text 24">
            <a:extLst xmlns:a="http://schemas.openxmlformats.org/drawingml/2006/main">
              <a:ext uri="{FF2B5EF4-FFF2-40B4-BE49-F238E27FC236}">
                <a16:creationId xmlns:a16="http://schemas.microsoft.com/office/drawing/2014/main" id="{E57BD4F3-EB19-4387-AFD7-090F21D4B81A}"/>
              </a:ext>
            </a:extLst>
          </p:cNvPr>
          <p:cNvSpPr>
            <a:spLocks xmlns:a="http://schemas.openxmlformats.org/drawingml/2006/main" noGrp="1"/>
          </p:cNvSpPr>
          <p:nvPr/>
        </p:nvSpPr>
        <p:spPr>
          <a:xfrm xmlns:a="http://schemas.openxmlformats.org/drawingml/2006/main">
            <a:off x="566928" y="4114800"/>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Every failure is an integration or data-model failure, not a functional gap.</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incumbent does activity and lead management perfectly well — inside its own boundary.</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problem is that the boundary exists at all: it sits between the seller's tools and the insurer's record of the customer.</a:t>
            </a:r>
            <a:endParaRPr sz="960"/>
          </a:p>
        </p:txBody>
      </p:sp>
      <p:sp>
        <p:nvSpPr>
          <p:cNvPr id="27" name="Text 25">
            <a:extLst xmlns:a="http://schemas.openxmlformats.org/drawingml/2006/main">
              <a:ext uri="{FF2B5EF4-FFF2-40B4-BE49-F238E27FC236}">
                <a16:creationId xmlns:a16="http://schemas.microsoft.com/office/drawing/2014/main" id="{1B9C8E83-0988-4687-A7CD-723AAA24F802}"/>
              </a:ext>
            </a:extLst>
          </p:cNvPr>
          <p:cNvSpPr>
            <a:spLocks xmlns:a="http://schemas.openxmlformats.org/drawingml/2006/main" noGrp="1"/>
          </p:cNvSpPr>
          <p:nvPr/>
        </p:nvSpPr>
        <p:spPr>
          <a:xfrm xmlns:a="http://schemas.openxmlformats.org/drawingml/2006/main">
            <a:off x="4319930" y="373075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that matters to the bid</a:t>
            </a:r>
            <a:endParaRPr sz="1100"/>
          </a:p>
        </p:txBody>
      </p:sp>
      <p:sp>
        <p:nvSpPr>
          <p:cNvPr id="28" name="Shape 26">
            <a:extLst xmlns:a="http://schemas.openxmlformats.org/drawingml/2006/main">
              <a:ext uri="{FF2B5EF4-FFF2-40B4-BE49-F238E27FC236}">
                <a16:creationId xmlns:a16="http://schemas.microsoft.com/office/drawing/2014/main" id="{40621E71-DB2C-4AB3-A5E5-EE55090CCF3E}"/>
              </a:ext>
            </a:extLst>
          </p:cNvPr>
          <p:cNvSpPr>
            <a:spLocks xmlns:a="http://schemas.openxmlformats.org/drawingml/2006/main" noGrp="1"/>
          </p:cNvSpPr>
          <p:nvPr/>
        </p:nvSpPr>
        <p:spPr>
          <a:xfrm xmlns:a="http://schemas.openxmlformats.org/drawingml/2006/main">
            <a:off x="4319930" y="3986784"/>
            <a:ext cx="3551834" cy="20117"/>
          </a:xfrm>
          <a:prstGeom xmlns:a="http://schemas.openxmlformats.org/drawingml/2006/main" prst="rect">
            <a:avLst/>
          </a:prstGeom>
          <a:solidFill xmlns:a="http://schemas.openxmlformats.org/drawingml/2006/main">
            <a:srgbClr val="102A43"/>
          </a:solidFill>
        </p:spPr>
      </p:sp>
      <p:sp>
        <p:nvSpPr>
          <p:cNvPr id="29" name="Text 27">
            <a:extLst xmlns:a="http://schemas.openxmlformats.org/drawingml/2006/main">
              <a:ext uri="{FF2B5EF4-FFF2-40B4-BE49-F238E27FC236}">
                <a16:creationId xmlns:a16="http://schemas.microsoft.com/office/drawing/2014/main" id="{59268F03-D06B-4327-8E5F-473A9DA8DDDF}"/>
              </a:ext>
            </a:extLst>
          </p:cNvPr>
          <p:cNvSpPr>
            <a:spLocks xmlns:a="http://schemas.openxmlformats.org/drawingml/2006/main" noGrp="1"/>
          </p:cNvSpPr>
          <p:nvPr/>
        </p:nvSpPr>
        <p:spPr>
          <a:xfrm xmlns:a="http://schemas.openxmlformats.org/drawingml/2006/main">
            <a:off x="4319930" y="4114800"/>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A response that competes on activity and lead features is answering a question nobody asked.</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winning argument is about where the record lives and what else it connects to.</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That reframes a functional bake-off into an architecture conversation — which is where a platform beats a point solution.</a:t>
            </a:r>
            <a:endParaRPr sz="960"/>
          </a:p>
        </p:txBody>
      </p:sp>
      <p:sp>
        <p:nvSpPr>
          <p:cNvPr id="30" name="Text 28">
            <a:extLst xmlns:a="http://schemas.openxmlformats.org/drawingml/2006/main">
              <a:ext uri="{FF2B5EF4-FFF2-40B4-BE49-F238E27FC236}">
                <a16:creationId xmlns:a16="http://schemas.microsoft.com/office/drawing/2014/main" id="{9B374AFF-974E-4A1E-B3E5-2120E4758E6D}"/>
              </a:ext>
            </a:extLst>
          </p:cNvPr>
          <p:cNvSpPr>
            <a:spLocks xmlns:a="http://schemas.openxmlformats.org/drawingml/2006/main" noGrp="1"/>
          </p:cNvSpPr>
          <p:nvPr/>
        </p:nvSpPr>
        <p:spPr>
          <a:xfrm xmlns:a="http://schemas.openxmlformats.org/drawingml/2006/main">
            <a:off x="8072933" y="373075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What it also implies about risk</a:t>
            </a:r>
            <a:endParaRPr sz="1100"/>
          </a:p>
        </p:txBody>
      </p:sp>
      <p:sp>
        <p:nvSpPr>
          <p:cNvPr id="31" name="Shape 29">
            <a:extLst xmlns:a="http://schemas.openxmlformats.org/drawingml/2006/main">
              <a:ext uri="{FF2B5EF4-FFF2-40B4-BE49-F238E27FC236}">
                <a16:creationId xmlns:a16="http://schemas.microsoft.com/office/drawing/2014/main" id="{88157A1D-6A29-4C39-9CCA-AA2841237DB7}"/>
              </a:ext>
            </a:extLst>
          </p:cNvPr>
          <p:cNvSpPr>
            <a:spLocks xmlns:a="http://schemas.openxmlformats.org/drawingml/2006/main" noGrp="1"/>
          </p:cNvSpPr>
          <p:nvPr/>
        </p:nvSpPr>
        <p:spPr>
          <a:xfrm xmlns:a="http://schemas.openxmlformats.org/drawingml/2006/main">
            <a:off x="8072933" y="3986784"/>
            <a:ext cx="3551834" cy="20117"/>
          </a:xfrm>
          <a:prstGeom xmlns:a="http://schemas.openxmlformats.org/drawingml/2006/main" prst="rect">
            <a:avLst/>
          </a:prstGeom>
          <a:solidFill xmlns:a="http://schemas.openxmlformats.org/drawingml/2006/main">
            <a:srgbClr val="486581"/>
          </a:solidFill>
        </p:spPr>
      </p:sp>
      <p:sp>
        <p:nvSpPr>
          <p:cNvPr id="32" name="Text 30">
            <a:extLst xmlns:a="http://schemas.openxmlformats.org/drawingml/2006/main">
              <a:ext uri="{FF2B5EF4-FFF2-40B4-BE49-F238E27FC236}">
                <a16:creationId xmlns:a16="http://schemas.microsoft.com/office/drawing/2014/main" id="{80D529A3-6ADD-4AC9-A9AB-EF6B70B5D814}"/>
              </a:ext>
            </a:extLst>
          </p:cNvPr>
          <p:cNvSpPr>
            <a:spLocks xmlns:a="http://schemas.openxmlformats.org/drawingml/2006/main" noGrp="1"/>
          </p:cNvSpPr>
          <p:nvPr/>
        </p:nvSpPr>
        <p:spPr>
          <a:xfrm xmlns:a="http://schemas.openxmlformats.org/drawingml/2006/main">
            <a:off x="8072933" y="4114800"/>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If the failures are integration failures, the replacement inherits every one of those integrations on day one.</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incumbent's scope was narrow, which is partly why it worked. The replacement's scope is not.</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That asymmetry is the single biggest delivery risk in the programme and belongs in the estimate, not the appendix.</a:t>
            </a:r>
            <a:endParaRPr sz="960"/>
          </a:p>
        </p:txBody>
      </p:sp>
      <p:sp>
        <p:nvSpPr>
          <p:cNvPr id="33" name="Shape 31">
            <a:extLst xmlns:a="http://schemas.openxmlformats.org/drawingml/2006/main">
              <a:ext uri="{FF2B5EF4-FFF2-40B4-BE49-F238E27FC236}">
                <a16:creationId xmlns:a16="http://schemas.microsoft.com/office/drawing/2014/main" id="{822D4240-06B5-431C-862D-7AF53521C69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BAE3EAF6-9938-4D67-B6C8-89A9925C0D2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scope of work and volumetrics as issued · author's analysis</a:t>
            </a:r>
            <a:endParaRPr sz="850"/>
          </a:p>
        </p:txBody>
      </p:sp>
      <p:sp>
        <p:nvSpPr>
          <p:cNvPr id="35" name="Text 33">
            <a:extLst xmlns:a="http://schemas.openxmlformats.org/drawingml/2006/main">
              <a:ext uri="{FF2B5EF4-FFF2-40B4-BE49-F238E27FC236}">
                <a16:creationId xmlns:a16="http://schemas.microsoft.com/office/drawing/2014/main" id="{21B128FB-0031-43BF-B265-A44CD3002D1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833845399"/>
      </p:ext>
    </p:extLst>
  </p:cSld>
</p:sld>
</file>

<file path=ppt/slides/slide1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0A30DD-9EAB-40E5-B3B9-923BA3B9783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FOOTPRINT</a:t>
            </a:r>
            <a:endParaRPr sz="950"/>
          </a:p>
        </p:txBody>
      </p:sp>
      <p:sp>
        <p:nvSpPr>
          <p:cNvPr id="3" name="Text 1">
            <a:extLst xmlns:a="http://schemas.openxmlformats.org/drawingml/2006/main">
              <a:ext uri="{FF2B5EF4-FFF2-40B4-BE49-F238E27FC236}">
                <a16:creationId xmlns:a16="http://schemas.microsoft.com/office/drawing/2014/main" id="{0384C93F-56F3-473B-A977-71F2CA6E27D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One hundred and twenty-five thousand sellers across ten-plus channels — the scale</a:t>
            </a:r>
            <a:endParaRPr sz="1900"/>
          </a:p>
          <a:p xmlns:a="http://schemas.openxmlformats.org/drawingml/2006/main">
            <a:pPr marL="0" indent="0">
              <a:lnSpc>
                <a:spcPts val="2400"/>
              </a:lnSpc>
              <a:buNone/>
            </a:pPr>
            <a:r>
              <a:rPr sz="1900" b="1">
                <a:solidFill>
                  <a:srgbClr val="102A43"/>
                </a:solidFill>
                <a:latin typeface="Arial"/>
                <a:ea typeface="Arial"/>
                <a:cs typeface="Arial"/>
              </a:rPr>
              <a:t>is what makes configurability an architectural requirement rather than a preference</a:t>
            </a:r>
            <a:endParaRPr sz="1900"/>
          </a:p>
        </p:txBody>
      </p:sp>
      <p:sp>
        <p:nvSpPr>
          <p:cNvPr id="4" name="Shape 2">
            <a:extLst xmlns:a="http://schemas.openxmlformats.org/drawingml/2006/main">
              <a:ext uri="{FF2B5EF4-FFF2-40B4-BE49-F238E27FC236}">
                <a16:creationId xmlns:a16="http://schemas.microsoft.com/office/drawing/2014/main" id="{DD74A23C-77A7-409D-9123-6738911800B5}"/>
              </a:ext>
            </a:extLst>
          </p:cNvPr>
          <p:cNvSpPr>
            <a:spLocks xmlns:a="http://schemas.openxmlformats.org/drawingml/2006/main" noGrp="1"/>
          </p:cNvSpPr>
          <p:nvPr/>
        </p:nvSpPr>
        <p:spPr>
          <a:xfrm xmlns:a="http://schemas.openxmlformats.org/drawingml/2006/main">
            <a:off x="566928" y="1335024"/>
            <a:ext cx="1302220" cy="96926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531B0743-9B42-4785-9828-8400E8BBCB14}"/>
              </a:ext>
            </a:extLst>
          </p:cNvPr>
          <p:cNvSpPr>
            <a:spLocks xmlns:a="http://schemas.openxmlformats.org/drawingml/2006/main" noGrp="1"/>
          </p:cNvSpPr>
          <p:nvPr/>
        </p:nvSpPr>
        <p:spPr>
          <a:xfrm xmlns:a="http://schemas.openxmlformats.org/drawingml/2006/main">
            <a:off x="6949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B04A25"/>
                </a:solidFill>
                <a:latin typeface="Arial"/>
                <a:ea typeface="Arial"/>
                <a:cs typeface="Arial"/>
              </a:rPr>
              <a:t>22–25K</a:t>
            </a:r>
            <a:endParaRPr sz="1600"/>
          </a:p>
        </p:txBody>
      </p:sp>
      <p:sp>
        <p:nvSpPr>
          <p:cNvPr id="6" name="Text 4">
            <a:extLst xmlns:a="http://schemas.openxmlformats.org/drawingml/2006/main">
              <a:ext uri="{FF2B5EF4-FFF2-40B4-BE49-F238E27FC236}">
                <a16:creationId xmlns:a16="http://schemas.microsoft.com/office/drawing/2014/main" id="{8E63E3E7-C6BD-4CEB-81B5-30210F775FD9}"/>
              </a:ext>
            </a:extLst>
          </p:cNvPr>
          <p:cNvSpPr>
            <a:spLocks xmlns:a="http://schemas.openxmlformats.org/drawingml/2006/main" noGrp="1"/>
          </p:cNvSpPr>
          <p:nvPr/>
        </p:nvSpPr>
        <p:spPr>
          <a:xfrm xmlns:a="http://schemas.openxmlformats.org/drawingml/2006/main">
            <a:off x="694944"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on-roll employees</a:t>
            </a:r>
            <a:endParaRPr sz="860"/>
          </a:p>
        </p:txBody>
      </p:sp>
      <p:sp>
        <p:nvSpPr>
          <p:cNvPr id="7" name="Shape 5">
            <a:extLst xmlns:a="http://schemas.openxmlformats.org/drawingml/2006/main">
              <a:ext uri="{FF2B5EF4-FFF2-40B4-BE49-F238E27FC236}">
                <a16:creationId xmlns:a16="http://schemas.microsoft.com/office/drawing/2014/main" id="{0C3620EA-7193-464E-8BDB-37B2BD35713C}"/>
              </a:ext>
            </a:extLst>
          </p:cNvPr>
          <p:cNvSpPr>
            <a:spLocks xmlns:a="http://schemas.openxmlformats.org/drawingml/2006/main" noGrp="1"/>
          </p:cNvSpPr>
          <p:nvPr/>
        </p:nvSpPr>
        <p:spPr>
          <a:xfrm xmlns:a="http://schemas.openxmlformats.org/drawingml/2006/main">
            <a:off x="1960588" y="1335024"/>
            <a:ext cx="1302220" cy="969264"/>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D7C4E0E3-6640-4C9A-9701-7372A2085ED0}"/>
              </a:ext>
            </a:extLst>
          </p:cNvPr>
          <p:cNvSpPr>
            <a:spLocks xmlns:a="http://schemas.openxmlformats.org/drawingml/2006/main" noGrp="1"/>
          </p:cNvSpPr>
          <p:nvPr/>
        </p:nvSpPr>
        <p:spPr>
          <a:xfrm xmlns:a="http://schemas.openxmlformats.org/drawingml/2006/main">
            <a:off x="208860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B04A25"/>
                </a:solidFill>
                <a:latin typeface="Arial"/>
                <a:ea typeface="Arial"/>
                <a:cs typeface="Arial"/>
              </a:rPr>
              <a:t>~100K</a:t>
            </a:r>
            <a:endParaRPr sz="1600"/>
          </a:p>
        </p:txBody>
      </p:sp>
      <p:sp>
        <p:nvSpPr>
          <p:cNvPr id="9" name="Text 7">
            <a:extLst xmlns:a="http://schemas.openxmlformats.org/drawingml/2006/main">
              <a:ext uri="{FF2B5EF4-FFF2-40B4-BE49-F238E27FC236}">
                <a16:creationId xmlns:a16="http://schemas.microsoft.com/office/drawing/2014/main" id="{C2EBA778-B4AE-4632-A551-A4B24DA82E3C}"/>
              </a:ext>
            </a:extLst>
          </p:cNvPr>
          <p:cNvSpPr>
            <a:spLocks xmlns:a="http://schemas.openxmlformats.org/drawingml/2006/main" noGrp="1"/>
          </p:cNvSpPr>
          <p:nvPr/>
        </p:nvSpPr>
        <p:spPr>
          <a:xfrm xmlns:a="http://schemas.openxmlformats.org/drawingml/2006/main">
            <a:off x="2088604"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off-role field force</a:t>
            </a:r>
            <a:endParaRPr sz="860"/>
          </a:p>
        </p:txBody>
      </p:sp>
      <p:sp>
        <p:nvSpPr>
          <p:cNvPr id="10" name="Shape 8">
            <a:extLst xmlns:a="http://schemas.openxmlformats.org/drawingml/2006/main">
              <a:ext uri="{FF2B5EF4-FFF2-40B4-BE49-F238E27FC236}">
                <a16:creationId xmlns:a16="http://schemas.microsoft.com/office/drawing/2014/main" id="{47E34F61-E0D4-4A9E-8811-C49A198F514B}"/>
              </a:ext>
            </a:extLst>
          </p:cNvPr>
          <p:cNvSpPr>
            <a:spLocks xmlns:a="http://schemas.openxmlformats.org/drawingml/2006/main" noGrp="1"/>
          </p:cNvSpPr>
          <p:nvPr/>
        </p:nvSpPr>
        <p:spPr>
          <a:xfrm xmlns:a="http://schemas.openxmlformats.org/drawingml/2006/main">
            <a:off x="3354248" y="1335024"/>
            <a:ext cx="1302220" cy="969264"/>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EA9A332C-5E80-435B-ADCE-5DF74BCDADE7}"/>
              </a:ext>
            </a:extLst>
          </p:cNvPr>
          <p:cNvSpPr>
            <a:spLocks xmlns:a="http://schemas.openxmlformats.org/drawingml/2006/main" noGrp="1"/>
          </p:cNvSpPr>
          <p:nvPr/>
        </p:nvSpPr>
        <p:spPr>
          <a:xfrm xmlns:a="http://schemas.openxmlformats.org/drawingml/2006/main">
            <a:off x="348226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~6K</a:t>
            </a:r>
            <a:endParaRPr sz="1600"/>
          </a:p>
        </p:txBody>
      </p:sp>
      <p:sp>
        <p:nvSpPr>
          <p:cNvPr id="12" name="Text 10">
            <a:extLst xmlns:a="http://schemas.openxmlformats.org/drawingml/2006/main">
              <a:ext uri="{FF2B5EF4-FFF2-40B4-BE49-F238E27FC236}">
                <a16:creationId xmlns:a16="http://schemas.microsoft.com/office/drawing/2014/main" id="{CAFA3149-89FD-4721-9C35-229670B6FBC8}"/>
              </a:ext>
            </a:extLst>
          </p:cNvPr>
          <p:cNvSpPr>
            <a:spLocks xmlns:a="http://schemas.openxmlformats.org/drawingml/2006/main" noGrp="1"/>
          </p:cNvSpPr>
          <p:nvPr/>
        </p:nvSpPr>
        <p:spPr>
          <a:xfrm xmlns:a="http://schemas.openxmlformats.org/drawingml/2006/main">
            <a:off x="3482264"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mapped branches</a:t>
            </a:r>
            <a:endParaRPr sz="860"/>
          </a:p>
        </p:txBody>
      </p:sp>
      <p:sp>
        <p:nvSpPr>
          <p:cNvPr id="13" name="Shape 11">
            <a:extLst xmlns:a="http://schemas.openxmlformats.org/drawingml/2006/main">
              <a:ext uri="{FF2B5EF4-FFF2-40B4-BE49-F238E27FC236}">
                <a16:creationId xmlns:a16="http://schemas.microsoft.com/office/drawing/2014/main" id="{4CAADA6F-FC79-40BE-92DB-D6E434A62FBE}"/>
              </a:ext>
            </a:extLst>
          </p:cNvPr>
          <p:cNvSpPr>
            <a:spLocks xmlns:a="http://schemas.openxmlformats.org/drawingml/2006/main" noGrp="1"/>
          </p:cNvSpPr>
          <p:nvPr/>
        </p:nvSpPr>
        <p:spPr>
          <a:xfrm xmlns:a="http://schemas.openxmlformats.org/drawingml/2006/main">
            <a:off x="4747908" y="1335024"/>
            <a:ext cx="1302220" cy="969264"/>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E9DB31EC-8224-4189-B2B6-9D06D829E0AE}"/>
              </a:ext>
            </a:extLst>
          </p:cNvPr>
          <p:cNvSpPr>
            <a:spLocks xmlns:a="http://schemas.openxmlformats.org/drawingml/2006/main" noGrp="1"/>
          </p:cNvSpPr>
          <p:nvPr/>
        </p:nvSpPr>
        <p:spPr>
          <a:xfrm xmlns:a="http://schemas.openxmlformats.org/drawingml/2006/main">
            <a:off x="487592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~50K</a:t>
            </a:r>
            <a:endParaRPr sz="1600"/>
          </a:p>
        </p:txBody>
      </p:sp>
      <p:sp>
        <p:nvSpPr>
          <p:cNvPr id="15" name="Text 13">
            <a:extLst xmlns:a="http://schemas.openxmlformats.org/drawingml/2006/main">
              <a:ext uri="{FF2B5EF4-FFF2-40B4-BE49-F238E27FC236}">
                <a16:creationId xmlns:a16="http://schemas.microsoft.com/office/drawing/2014/main" id="{86C7B5A0-FCC1-492D-8F91-4FA67B1658B2}"/>
              </a:ext>
            </a:extLst>
          </p:cNvPr>
          <p:cNvSpPr>
            <a:spLocks xmlns:a="http://schemas.openxmlformats.org/drawingml/2006/main" noGrp="1"/>
          </p:cNvSpPr>
          <p:nvPr/>
        </p:nvSpPr>
        <p:spPr>
          <a:xfrm xmlns:a="http://schemas.openxmlformats.org/drawingml/2006/main">
            <a:off x="4875924"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partners and distributors</a:t>
            </a:r>
            <a:endParaRPr sz="860"/>
          </a:p>
        </p:txBody>
      </p:sp>
      <p:sp>
        <p:nvSpPr>
          <p:cNvPr id="16" name="Shape 14">
            <a:extLst xmlns:a="http://schemas.openxmlformats.org/drawingml/2006/main">
              <a:ext uri="{FF2B5EF4-FFF2-40B4-BE49-F238E27FC236}">
                <a16:creationId xmlns:a16="http://schemas.microsoft.com/office/drawing/2014/main" id="{9F39198B-96F3-4C12-88CC-352AC3698046}"/>
              </a:ext>
            </a:extLst>
          </p:cNvPr>
          <p:cNvSpPr>
            <a:spLocks xmlns:a="http://schemas.openxmlformats.org/drawingml/2006/main" noGrp="1"/>
          </p:cNvSpPr>
          <p:nvPr/>
        </p:nvSpPr>
        <p:spPr>
          <a:xfrm xmlns:a="http://schemas.openxmlformats.org/drawingml/2006/main">
            <a:off x="6141568" y="1335024"/>
            <a:ext cx="1302220" cy="969264"/>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0402D2D1-3DCD-415F-ADEA-5F1AFDFA2765}"/>
              </a:ext>
            </a:extLst>
          </p:cNvPr>
          <p:cNvSpPr>
            <a:spLocks xmlns:a="http://schemas.openxmlformats.org/drawingml/2006/main" noGrp="1"/>
          </p:cNvSpPr>
          <p:nvPr/>
        </p:nvSpPr>
        <p:spPr>
          <a:xfrm xmlns:a="http://schemas.openxmlformats.org/drawingml/2006/main">
            <a:off x="626958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10+</a:t>
            </a:r>
            <a:endParaRPr sz="1600"/>
          </a:p>
        </p:txBody>
      </p:sp>
      <p:sp>
        <p:nvSpPr>
          <p:cNvPr id="18" name="Text 16">
            <a:extLst xmlns:a="http://schemas.openxmlformats.org/drawingml/2006/main">
              <a:ext uri="{FF2B5EF4-FFF2-40B4-BE49-F238E27FC236}">
                <a16:creationId xmlns:a16="http://schemas.microsoft.com/office/drawing/2014/main" id="{CC172BEE-CCFA-41DC-863F-A257868DF3E4}"/>
              </a:ext>
            </a:extLst>
          </p:cNvPr>
          <p:cNvSpPr>
            <a:spLocks xmlns:a="http://schemas.openxmlformats.org/drawingml/2006/main" noGrp="1"/>
          </p:cNvSpPr>
          <p:nvPr/>
        </p:nvSpPr>
        <p:spPr>
          <a:xfrm xmlns:a="http://schemas.openxmlformats.org/drawingml/2006/main">
            <a:off x="6269584"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distribution channels</a:t>
            </a:r>
            <a:endParaRPr sz="860"/>
          </a:p>
        </p:txBody>
      </p:sp>
      <p:sp>
        <p:nvSpPr>
          <p:cNvPr id="19" name="Shape 17">
            <a:extLst xmlns:a="http://schemas.openxmlformats.org/drawingml/2006/main">
              <a:ext uri="{FF2B5EF4-FFF2-40B4-BE49-F238E27FC236}">
                <a16:creationId xmlns:a16="http://schemas.microsoft.com/office/drawing/2014/main" id="{B16AC9FE-F347-413A-8F16-86033B7DF6C7}"/>
              </a:ext>
            </a:extLst>
          </p:cNvPr>
          <p:cNvSpPr>
            <a:spLocks xmlns:a="http://schemas.openxmlformats.org/drawingml/2006/main" noGrp="1"/>
          </p:cNvSpPr>
          <p:nvPr/>
        </p:nvSpPr>
        <p:spPr>
          <a:xfrm xmlns:a="http://schemas.openxmlformats.org/drawingml/2006/main">
            <a:off x="7535228" y="1335024"/>
            <a:ext cx="1302220" cy="969264"/>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5B1724D5-7EA2-49EC-BE88-86E960F79AF1}"/>
              </a:ext>
            </a:extLst>
          </p:cNvPr>
          <p:cNvSpPr>
            <a:spLocks xmlns:a="http://schemas.openxmlformats.org/drawingml/2006/main" noGrp="1"/>
          </p:cNvSpPr>
          <p:nvPr/>
        </p:nvSpPr>
        <p:spPr>
          <a:xfrm xmlns:a="http://schemas.openxmlformats.org/drawingml/2006/main">
            <a:off x="76632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58–84K</a:t>
            </a:r>
            <a:endParaRPr sz="1600"/>
          </a:p>
        </p:txBody>
      </p:sp>
      <p:sp>
        <p:nvSpPr>
          <p:cNvPr id="21" name="Text 19">
            <a:extLst xmlns:a="http://schemas.openxmlformats.org/drawingml/2006/main">
              <a:ext uri="{FF2B5EF4-FFF2-40B4-BE49-F238E27FC236}">
                <a16:creationId xmlns:a16="http://schemas.microsoft.com/office/drawing/2014/main" id="{C6CF409D-F136-492F-B5BC-AEBC75F61DA6}"/>
              </a:ext>
            </a:extLst>
          </p:cNvPr>
          <p:cNvSpPr>
            <a:spLocks xmlns:a="http://schemas.openxmlformats.org/drawingml/2006/main" noGrp="1"/>
          </p:cNvSpPr>
          <p:nvPr/>
        </p:nvSpPr>
        <p:spPr>
          <a:xfrm xmlns:a="http://schemas.openxmlformats.org/drawingml/2006/main">
            <a:off x="7663244"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leads per month</a:t>
            </a:r>
            <a:endParaRPr sz="860"/>
          </a:p>
        </p:txBody>
      </p:sp>
      <p:sp>
        <p:nvSpPr>
          <p:cNvPr id="22" name="Shape 20">
            <a:extLst xmlns:a="http://schemas.openxmlformats.org/drawingml/2006/main">
              <a:ext uri="{FF2B5EF4-FFF2-40B4-BE49-F238E27FC236}">
                <a16:creationId xmlns:a16="http://schemas.microsoft.com/office/drawing/2014/main" id="{38DEA131-AC3B-4238-86C6-8C23FDCFA178}"/>
              </a:ext>
            </a:extLst>
          </p:cNvPr>
          <p:cNvSpPr>
            <a:spLocks xmlns:a="http://schemas.openxmlformats.org/drawingml/2006/main" noGrp="1"/>
          </p:cNvSpPr>
          <p:nvPr/>
        </p:nvSpPr>
        <p:spPr>
          <a:xfrm xmlns:a="http://schemas.openxmlformats.org/drawingml/2006/main">
            <a:off x="8928887" y="1335024"/>
            <a:ext cx="1302220" cy="969264"/>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424EEAE1-2465-4225-868E-B944BD3E5955}"/>
              </a:ext>
            </a:extLst>
          </p:cNvPr>
          <p:cNvSpPr>
            <a:spLocks xmlns:a="http://schemas.openxmlformats.org/drawingml/2006/main" noGrp="1"/>
          </p:cNvSpPr>
          <p:nvPr/>
        </p:nvSpPr>
        <p:spPr>
          <a:xfrm xmlns:a="http://schemas.openxmlformats.org/drawingml/2006/main">
            <a:off x="905690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8,000</a:t>
            </a:r>
            <a:endParaRPr sz="1600"/>
          </a:p>
        </p:txBody>
      </p:sp>
      <p:sp>
        <p:nvSpPr>
          <p:cNvPr id="24" name="Text 22">
            <a:extLst xmlns:a="http://schemas.openxmlformats.org/drawingml/2006/main">
              <a:ext uri="{FF2B5EF4-FFF2-40B4-BE49-F238E27FC236}">
                <a16:creationId xmlns:a16="http://schemas.microsoft.com/office/drawing/2014/main" id="{FD835F8A-5CF8-47DA-AF9E-7E53ED106FBF}"/>
              </a:ext>
            </a:extLst>
          </p:cNvPr>
          <p:cNvSpPr>
            <a:spLocks xmlns:a="http://schemas.openxmlformats.org/drawingml/2006/main" noGrp="1"/>
          </p:cNvSpPr>
          <p:nvPr/>
        </p:nvSpPr>
        <p:spPr>
          <a:xfrm xmlns:a="http://schemas.openxmlformats.org/drawingml/2006/main">
            <a:off x="9056903"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users on the incumbent today</a:t>
            </a:r>
            <a:endParaRPr sz="860"/>
          </a:p>
        </p:txBody>
      </p:sp>
      <p:sp>
        <p:nvSpPr>
          <p:cNvPr id="25" name="Shape 23">
            <a:extLst xmlns:a="http://schemas.openxmlformats.org/drawingml/2006/main">
              <a:ext uri="{FF2B5EF4-FFF2-40B4-BE49-F238E27FC236}">
                <a16:creationId xmlns:a16="http://schemas.microsoft.com/office/drawing/2014/main" id="{465B245C-9DDB-4BCD-BE81-35F77470294E}"/>
              </a:ext>
            </a:extLst>
          </p:cNvPr>
          <p:cNvSpPr>
            <a:spLocks xmlns:a="http://schemas.openxmlformats.org/drawingml/2006/main" noGrp="1"/>
          </p:cNvSpPr>
          <p:nvPr/>
        </p:nvSpPr>
        <p:spPr>
          <a:xfrm xmlns:a="http://schemas.openxmlformats.org/drawingml/2006/main">
            <a:off x="10322547" y="1335024"/>
            <a:ext cx="1302220" cy="969264"/>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F5BC971A-7F57-4FAF-8990-A3BAEAA2B46A}"/>
              </a:ext>
            </a:extLst>
          </p:cNvPr>
          <p:cNvSpPr>
            <a:spLocks xmlns:a="http://schemas.openxmlformats.org/drawingml/2006/main" noGrp="1"/>
          </p:cNvSpPr>
          <p:nvPr/>
        </p:nvSpPr>
        <p:spPr>
          <a:xfrm xmlns:a="http://schemas.openxmlformats.org/drawingml/2006/main">
            <a:off x="1045056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rgbClr val="102A43"/>
                </a:solidFill>
                <a:latin typeface="Arial"/>
                <a:ea typeface="Arial"/>
                <a:cs typeface="Arial"/>
              </a:rPr>
              <a:t>12</a:t>
            </a:r>
            <a:endParaRPr sz="1600"/>
          </a:p>
        </p:txBody>
      </p:sp>
      <p:sp>
        <p:nvSpPr>
          <p:cNvPr id="27" name="Text 25">
            <a:extLst xmlns:a="http://schemas.openxmlformats.org/drawingml/2006/main">
              <a:ext uri="{FF2B5EF4-FFF2-40B4-BE49-F238E27FC236}">
                <a16:creationId xmlns:a16="http://schemas.microsoft.com/office/drawing/2014/main" id="{6263B9D3-F75F-431B-BB1C-F51F3549F408}"/>
              </a:ext>
            </a:extLst>
          </p:cNvPr>
          <p:cNvSpPr>
            <a:spLocks xmlns:a="http://schemas.openxmlformats.org/drawingml/2006/main" noGrp="1"/>
          </p:cNvSpPr>
          <p:nvPr/>
        </p:nvSpPr>
        <p:spPr>
          <a:xfrm xmlns:a="http://schemas.openxmlformats.org/drawingml/2006/main">
            <a:off x="10450563" y="1847088"/>
            <a:ext cx="104618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reports in active use</a:t>
            </a:r>
            <a:endParaRPr sz="860"/>
          </a:p>
        </p:txBody>
      </p:sp>
      <p:graphicFrame>
        <p:nvGraphicFramePr>
          <p:cNvPr id="65" name="Chart 0"/>
          <p:cNvGraphicFramePr/>
          <p:nvPr/>
        </p:nvGraphicFramePr>
        <p:xfrm>
          <a:off xmlns:a="http://schemas.openxmlformats.org/drawingml/2006/main" x="566928" y="2560320"/>
          <a:ext xmlns:a="http://schemas.openxmlformats.org/drawingml/2006/main" cx="5760720" cy="2468880"/>
        </p:xfrm>
        <a:graphic xmlns:a="http://schemas.openxmlformats.org/drawingml/2006/main">
          <a:graphicData uri="http://schemas.openxmlformats.org/drawingml/2006/chart">
            <c:chart xmlns:r="http://schemas.openxmlformats.org/officeDocument/2006/relationships" xmlns:c="http://schemas.openxmlformats.org/drawingml/2006/chart" r:id="R652a4661c548413a"/>
          </a:graphicData>
        </a:graphic>
      </p:graphicFrame>
      <p:sp>
        <p:nvSpPr>
          <p:cNvPr id="29" name="Text 26">
            <a:extLst xmlns:a="http://schemas.openxmlformats.org/drawingml/2006/main">
              <a:ext uri="{FF2B5EF4-FFF2-40B4-BE49-F238E27FC236}">
                <a16:creationId xmlns:a16="http://schemas.microsoft.com/office/drawing/2014/main" id="{6E0B1E85-E323-4DBB-BF63-0CB3A5E79B4F}"/>
              </a:ext>
            </a:extLst>
          </p:cNvPr>
          <p:cNvSpPr>
            <a:spLocks xmlns:a="http://schemas.openxmlformats.org/drawingml/2006/main" noGrp="1"/>
          </p:cNvSpPr>
          <p:nvPr/>
        </p:nvSpPr>
        <p:spPr>
          <a:xfrm xmlns:a="http://schemas.openxmlformats.org/drawingml/2006/main">
            <a:off x="566928" y="5102352"/>
            <a:ext cx="5760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Population by seller type — the incumbent footprint is a fraction of the target estate</a:t>
            </a:r>
            <a:endParaRPr sz="880"/>
          </a:p>
        </p:txBody>
      </p:sp>
      <p:sp>
        <p:nvSpPr>
          <p:cNvPr id="30" name="Shape 27">
            <a:extLst xmlns:a="http://schemas.openxmlformats.org/drawingml/2006/main">
              <a:ext uri="{FF2B5EF4-FFF2-40B4-BE49-F238E27FC236}">
                <a16:creationId xmlns:a16="http://schemas.microsoft.com/office/drawing/2014/main" id="{4623AF84-0E1D-4827-844B-6E41E308A45D}"/>
              </a:ext>
            </a:extLst>
          </p:cNvPr>
          <p:cNvSpPr>
            <a:spLocks xmlns:a="http://schemas.openxmlformats.org/drawingml/2006/main" noGrp="1"/>
          </p:cNvSpPr>
          <p:nvPr/>
        </p:nvSpPr>
        <p:spPr>
          <a:xfrm xmlns:a="http://schemas.openxmlformats.org/drawingml/2006/main">
            <a:off x="6693408" y="2560320"/>
            <a:ext cx="4928616" cy="2468880"/>
          </a:xfrm>
          <a:prstGeom xmlns:a="http://schemas.openxmlformats.org/drawingml/2006/main" prst="rect">
            <a:avLst/>
          </a:prstGeom>
          <a:solidFill xmlns:a="http://schemas.openxmlformats.org/drawingml/2006/main">
            <a:srgbClr val="F0F4F8"/>
          </a:solidFill>
        </p:spPr>
      </p:sp>
      <p:sp>
        <p:nvSpPr>
          <p:cNvPr id="31" name="Text 28">
            <a:extLst xmlns:a="http://schemas.openxmlformats.org/drawingml/2006/main">
              <a:ext uri="{FF2B5EF4-FFF2-40B4-BE49-F238E27FC236}">
                <a16:creationId xmlns:a16="http://schemas.microsoft.com/office/drawing/2014/main" id="{1AA19559-9C2C-47CB-BC5F-C12300F71712}"/>
              </a:ext>
            </a:extLst>
          </p:cNvPr>
          <p:cNvSpPr>
            <a:spLocks xmlns:a="http://schemas.openxmlformats.org/drawingml/2006/main" noGrp="1"/>
          </p:cNvSpPr>
          <p:nvPr/>
        </p:nvSpPr>
        <p:spPr>
          <a:xfrm xmlns:a="http://schemas.openxmlformats.org/drawingml/2006/main">
            <a:off x="6912864" y="2761488"/>
            <a:ext cx="448970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What the gap between 8,000 and 125,000 means</a:t>
            </a:r>
            <a:endParaRPr sz="1250"/>
          </a:p>
        </p:txBody>
      </p:sp>
      <p:sp>
        <p:nvSpPr>
          <p:cNvPr id="32" name="Text 29">
            <a:extLst xmlns:a="http://schemas.openxmlformats.org/drawingml/2006/main">
              <a:ext uri="{FF2B5EF4-FFF2-40B4-BE49-F238E27FC236}">
                <a16:creationId xmlns:a16="http://schemas.microsoft.com/office/drawing/2014/main" id="{A77C979A-1CCF-4202-B1FB-4EF2AB90D8E4}"/>
              </a:ext>
            </a:extLst>
          </p:cNvPr>
          <p:cNvSpPr>
            <a:spLocks xmlns:a="http://schemas.openxmlformats.org/drawingml/2006/main" noGrp="1"/>
          </p:cNvSpPr>
          <p:nvPr/>
        </p:nvSpPr>
        <p:spPr>
          <a:xfrm xmlns:a="http://schemas.openxmlformats.org/drawingml/2006/main">
            <a:off x="6912864" y="3108960"/>
            <a:ext cx="4489704"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replacement is not a like-for-like migration. It is a fifteenfold expansion of the served population, on the same programme.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off-role field force is the largest group and the least controllable — low-end devices, poor connectivity, high churn.</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Ten-plus channels each have their own hierarchy, allocation logic and disposition vocabulary.</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At this spread, a change that requires an engineering release is a change that will not happen. Configurability stops being a nice-to-have.</a:t>
            </a:r>
            <a:endParaRPr sz="950"/>
          </a:p>
        </p:txBody>
      </p:sp>
      <p:sp>
        <p:nvSpPr>
          <p:cNvPr id="33" name="Shape 30">
            <a:extLst xmlns:a="http://schemas.openxmlformats.org/drawingml/2006/main">
              <a:ext uri="{FF2B5EF4-FFF2-40B4-BE49-F238E27FC236}">
                <a16:creationId xmlns:a16="http://schemas.microsoft.com/office/drawing/2014/main" id="{B2FDF255-A3ED-4869-B242-6F1F8092BDB6}"/>
              </a:ext>
            </a:extLst>
          </p:cNvPr>
          <p:cNvSpPr>
            <a:spLocks xmlns:a="http://schemas.openxmlformats.org/drawingml/2006/main" noGrp="1"/>
          </p:cNvSpPr>
          <p:nvPr/>
        </p:nvSpPr>
        <p:spPr>
          <a:xfrm xmlns:a="http://schemas.openxmlformats.org/drawingml/2006/main">
            <a:off x="566928" y="5358384"/>
            <a:ext cx="11057839" cy="713232"/>
          </a:xfrm>
          <a:prstGeom xmlns:a="http://schemas.openxmlformats.org/drawingml/2006/main" prst="rect">
            <a:avLst/>
          </a:prstGeom>
          <a:solidFill xmlns:a="http://schemas.openxmlformats.org/drawingml/2006/main">
            <a:srgbClr val="F3E6E0"/>
          </a:solidFill>
        </p:spPr>
      </p:sp>
      <p:sp>
        <p:nvSpPr>
          <p:cNvPr id="34" name="Text 31">
            <a:extLst xmlns:a="http://schemas.openxmlformats.org/drawingml/2006/main">
              <a:ext uri="{FF2B5EF4-FFF2-40B4-BE49-F238E27FC236}">
                <a16:creationId xmlns:a16="http://schemas.microsoft.com/office/drawing/2014/main" id="{C793C5F0-442A-4A7F-8952-97FEC515C601}"/>
              </a:ext>
            </a:extLst>
          </p:cNvPr>
          <p:cNvSpPr>
            <a:spLocks xmlns:a="http://schemas.openxmlformats.org/drawingml/2006/main" noGrp="1"/>
          </p:cNvSpPr>
          <p:nvPr/>
        </p:nvSpPr>
        <p:spPr>
          <a:xfrm xmlns:a="http://schemas.openxmlformats.org/drawingml/2006/main">
            <a:off x="804672" y="5541264"/>
            <a:ext cx="1058235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number that should shape the solution is not 125,000. It is the ratio: the incumbent serves 8,000 users in one channel; the replacement serves fifteen times that across ten. Sizing the replacement against the incumbent's footprint is the estimating error this programme most invites.</a:t>
            </a:r>
            <a:endParaRPr sz="990"/>
          </a:p>
        </p:txBody>
      </p:sp>
      <p:sp>
        <p:nvSpPr>
          <p:cNvPr id="35" name="Shape 32">
            <a:extLst xmlns:a="http://schemas.openxmlformats.org/drawingml/2006/main">
              <a:ext uri="{FF2B5EF4-FFF2-40B4-BE49-F238E27FC236}">
                <a16:creationId xmlns:a16="http://schemas.microsoft.com/office/drawing/2014/main" id="{25289D50-3705-4AAB-B678-5169A426796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6" name="Text 33">
            <a:extLst xmlns:a="http://schemas.openxmlformats.org/drawingml/2006/main">
              <a:ext uri="{FF2B5EF4-FFF2-40B4-BE49-F238E27FC236}">
                <a16:creationId xmlns:a16="http://schemas.microsoft.com/office/drawing/2014/main" id="{2DCAEF8F-B731-4988-AFE4-C23F5A58E7A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scope of work and volumetrics as issued</a:t>
            </a:r>
            <a:endParaRPr sz="850"/>
          </a:p>
        </p:txBody>
      </p:sp>
      <p:sp>
        <p:nvSpPr>
          <p:cNvPr id="37" name="Text 34">
            <a:extLst xmlns:a="http://schemas.openxmlformats.org/drawingml/2006/main">
              <a:ext uri="{FF2B5EF4-FFF2-40B4-BE49-F238E27FC236}">
                <a16:creationId xmlns:a16="http://schemas.microsoft.com/office/drawing/2014/main" id="{5EE0497F-8B78-4265-8A49-F61F4A2B850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742343878"/>
      </p:ext>
    </p:extLst>
  </p:cSld>
</p:sld>
</file>

<file path=ppt/slides/slide1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E09AAC-E640-4C07-9AE9-8F568F4C7AB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SCOPE</a:t>
            </a:r>
            <a:endParaRPr sz="950"/>
          </a:p>
        </p:txBody>
      </p:sp>
      <p:sp>
        <p:nvSpPr>
          <p:cNvPr id="3" name="Text 1">
            <a:extLst xmlns:a="http://schemas.openxmlformats.org/drawingml/2006/main">
              <a:ext uri="{FF2B5EF4-FFF2-40B4-BE49-F238E27FC236}">
                <a16:creationId xmlns:a16="http://schemas.microsoft.com/office/drawing/2014/main" id="{B0B94A96-4624-4935-981F-9CC583F2B8E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functional domains, two enabling layers — and the enabling layers are where</a:t>
            </a:r>
            <a:endParaRPr sz="1900"/>
          </a:p>
          <a:p xmlns:a="http://schemas.openxmlformats.org/drawingml/2006/main">
            <a:pPr marL="0" indent="0">
              <a:lnSpc>
                <a:spcPts val="2400"/>
              </a:lnSpc>
              <a:buNone/>
            </a:pPr>
            <a:r>
              <a:rPr sz="1900" b="1">
                <a:solidFill>
                  <a:srgbClr val="102A43"/>
                </a:solidFill>
                <a:latin typeface="Arial"/>
                <a:ea typeface="Arial"/>
                <a:cs typeface="Arial"/>
              </a:rPr>
              <a:t>the effort actually concentrates</a:t>
            </a:r>
            <a:endParaRPr sz="1900"/>
          </a:p>
        </p:txBody>
      </p:sp>
      <p:sp>
        <p:nvSpPr>
          <p:cNvPr id="4" name="Shape 2">
            <a:extLst xmlns:a="http://schemas.openxmlformats.org/drawingml/2006/main">
              <a:ext uri="{FF2B5EF4-FFF2-40B4-BE49-F238E27FC236}">
                <a16:creationId xmlns:a16="http://schemas.microsoft.com/office/drawing/2014/main" id="{171B42DE-32A6-47E4-8818-445CF150EA50}"/>
              </a:ext>
            </a:extLst>
          </p:cNvPr>
          <p:cNvSpPr>
            <a:spLocks xmlns:a="http://schemas.openxmlformats.org/drawingml/2006/main" noGrp="1"/>
          </p:cNvSpPr>
          <p:nvPr/>
        </p:nvSpPr>
        <p:spPr>
          <a:xfrm xmlns:a="http://schemas.openxmlformats.org/drawingml/2006/main">
            <a:off x="566928" y="1335024"/>
            <a:ext cx="2094525" cy="243230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5CE5BAC6-A060-49D0-9F53-3EDB861516F0}"/>
              </a:ext>
            </a:extLst>
          </p:cNvPr>
          <p:cNvSpPr>
            <a:spLocks xmlns:a="http://schemas.openxmlformats.org/drawingml/2006/main" noGrp="1"/>
          </p:cNvSpPr>
          <p:nvPr/>
        </p:nvSpPr>
        <p:spPr>
          <a:xfrm xmlns:a="http://schemas.openxmlformats.org/drawingml/2006/main">
            <a:off x="749808"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Activity management</a:t>
            </a:r>
            <a:endParaRPr sz="1000"/>
          </a:p>
        </p:txBody>
      </p:sp>
      <p:sp>
        <p:nvSpPr>
          <p:cNvPr id="6" name="Shape 4">
            <a:extLst xmlns:a="http://schemas.openxmlformats.org/drawingml/2006/main">
              <a:ext uri="{FF2B5EF4-FFF2-40B4-BE49-F238E27FC236}">
                <a16:creationId xmlns:a16="http://schemas.microsoft.com/office/drawing/2014/main" id="{0837F5F8-29F6-4AB5-9A44-4B7A1415EB3B}"/>
              </a:ext>
            </a:extLst>
          </p:cNvPr>
          <p:cNvSpPr>
            <a:spLocks xmlns:a="http://schemas.openxmlformats.org/drawingml/2006/main" noGrp="1"/>
          </p:cNvSpPr>
          <p:nvPr/>
        </p:nvSpPr>
        <p:spPr>
          <a:xfrm xmlns:a="http://schemas.openxmlformats.org/drawingml/2006/main">
            <a:off x="749808" y="1956816"/>
            <a:ext cx="1728765" cy="20117"/>
          </a:xfrm>
          <a:prstGeom xmlns:a="http://schemas.openxmlformats.org/drawingml/2006/main" prst="rect">
            <a:avLst/>
          </a:prstGeom>
          <a:solidFill xmlns:a="http://schemas.openxmlformats.org/drawingml/2006/main">
            <a:srgbClr val="B04A25"/>
          </a:solidFill>
        </p:spPr>
      </p:sp>
      <p:sp>
        <p:nvSpPr>
          <p:cNvPr id="7" name="Text 5">
            <a:extLst xmlns:a="http://schemas.openxmlformats.org/drawingml/2006/main">
              <a:ext uri="{FF2B5EF4-FFF2-40B4-BE49-F238E27FC236}">
                <a16:creationId xmlns:a16="http://schemas.microsoft.com/office/drawing/2014/main" id="{FAF2045B-C65F-4F46-9AEF-F08DAB6F67F7}"/>
              </a:ext>
            </a:extLst>
          </p:cNvPr>
          <p:cNvSpPr>
            <a:spLocks xmlns:a="http://schemas.openxmlformats.org/drawingml/2006/main" noGrp="1"/>
          </p:cNvSpPr>
          <p:nvPr/>
        </p:nvSpPr>
        <p:spPr>
          <a:xfrm xmlns:a="http://schemas.openxmlformats.org/drawingml/2006/main">
            <a:off x="749808" y="2084832"/>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Configurable activity catalogue</a:t>
            </a:r>
            <a:endParaRPr sz="880"/>
          </a:p>
        </p:txBody>
      </p:sp>
      <p:sp>
        <p:nvSpPr>
          <p:cNvPr id="8" name="Text 6">
            <a:extLst xmlns:a="http://schemas.openxmlformats.org/drawingml/2006/main">
              <a:ext uri="{FF2B5EF4-FFF2-40B4-BE49-F238E27FC236}">
                <a16:creationId xmlns:a16="http://schemas.microsoft.com/office/drawing/2014/main" id="{506BA6C3-2406-41BB-AA73-779516310162}"/>
              </a:ext>
            </a:extLst>
          </p:cNvPr>
          <p:cNvSpPr>
            <a:spLocks xmlns:a="http://schemas.openxmlformats.org/drawingml/2006/main" noGrp="1"/>
          </p:cNvSpPr>
          <p:nvPr/>
        </p:nvSpPr>
        <p:spPr>
          <a:xfrm xmlns:a="http://schemas.openxmlformats.org/drawingml/2006/main">
            <a:off x="749808" y="2279416"/>
            <a:ext cx="1728765" cy="33430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Attributes, validations, statuses</a:t>
            </a:r>
            <a:endParaRPr sz="880"/>
          </a:p>
        </p:txBody>
      </p:sp>
      <p:sp>
        <p:nvSpPr>
          <p:cNvPr id="9" name="Text 7">
            <a:extLst xmlns:a="http://schemas.openxmlformats.org/drawingml/2006/main">
              <a:ext uri="{FF2B5EF4-FFF2-40B4-BE49-F238E27FC236}">
                <a16:creationId xmlns:a16="http://schemas.microsoft.com/office/drawing/2014/main" id="{CEA66F99-95A4-4ADB-8769-5564EC4A43D9}"/>
              </a:ext>
            </a:extLst>
          </p:cNvPr>
          <p:cNvSpPr>
            <a:spLocks xmlns:a="http://schemas.openxmlformats.org/drawingml/2006/main" noGrp="1"/>
          </p:cNvSpPr>
          <p:nvPr/>
        </p:nvSpPr>
        <p:spPr>
          <a:xfrm xmlns:a="http://schemas.openxmlformats.org/drawingml/2006/main">
            <a:off x="749808" y="2622865"/>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SLAs, escalations, geo-controls</a:t>
            </a:r>
            <a:endParaRPr sz="880"/>
          </a:p>
        </p:txBody>
      </p:sp>
      <p:sp>
        <p:nvSpPr>
          <p:cNvPr id="10" name="Text 8">
            <a:extLst xmlns:a="http://schemas.openxmlformats.org/drawingml/2006/main">
              <a:ext uri="{FF2B5EF4-FFF2-40B4-BE49-F238E27FC236}">
                <a16:creationId xmlns:a16="http://schemas.microsoft.com/office/drawing/2014/main" id="{B44BAFC8-723A-4E61-81E9-E882944FD1D7}"/>
              </a:ext>
            </a:extLst>
          </p:cNvPr>
          <p:cNvSpPr>
            <a:spLocks xmlns:a="http://schemas.openxmlformats.org/drawingml/2006/main" noGrp="1"/>
          </p:cNvSpPr>
          <p:nvPr/>
        </p:nvSpPr>
        <p:spPr>
          <a:xfrm xmlns:a="http://schemas.openxmlformats.org/drawingml/2006/main">
            <a:off x="749808" y="2817449"/>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Offline capture and sync</a:t>
            </a:r>
            <a:endParaRPr sz="880"/>
          </a:p>
        </p:txBody>
      </p:sp>
      <p:sp>
        <p:nvSpPr>
          <p:cNvPr id="11" name="Text 9">
            <a:extLst xmlns:a="http://schemas.openxmlformats.org/drawingml/2006/main">
              <a:ext uri="{FF2B5EF4-FFF2-40B4-BE49-F238E27FC236}">
                <a16:creationId xmlns:a16="http://schemas.microsoft.com/office/drawing/2014/main" id="{66D7B053-0C65-4240-BE9C-539C894953CB}"/>
              </a:ext>
            </a:extLst>
          </p:cNvPr>
          <p:cNvSpPr>
            <a:spLocks xmlns:a="http://schemas.openxmlformats.org/drawingml/2006/main" noGrp="1"/>
          </p:cNvSpPr>
          <p:nvPr/>
        </p:nvSpPr>
        <p:spPr>
          <a:xfrm xmlns:a="http://schemas.openxmlformats.org/drawingml/2006/main">
            <a:off x="749808" y="3012034"/>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Planner and shared calendars</a:t>
            </a:r>
            <a:endParaRPr sz="880"/>
          </a:p>
        </p:txBody>
      </p:sp>
      <p:sp>
        <p:nvSpPr>
          <p:cNvPr id="12" name="Text 10">
            <a:extLst xmlns:a="http://schemas.openxmlformats.org/drawingml/2006/main">
              <a:ext uri="{FF2B5EF4-FFF2-40B4-BE49-F238E27FC236}">
                <a16:creationId xmlns:a16="http://schemas.microsoft.com/office/drawing/2014/main" id="{6ED5BEA2-022C-49D0-9117-FF5F1C64EE59}"/>
              </a:ext>
            </a:extLst>
          </p:cNvPr>
          <p:cNvSpPr>
            <a:spLocks xmlns:a="http://schemas.openxmlformats.org/drawingml/2006/main" noGrp="1"/>
          </p:cNvSpPr>
          <p:nvPr/>
        </p:nvSpPr>
        <p:spPr>
          <a:xfrm xmlns:a="http://schemas.openxmlformats.org/drawingml/2006/main">
            <a:off x="749808" y="3206618"/>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Next-action prompts</a:t>
            </a:r>
            <a:endParaRPr sz="880"/>
          </a:p>
        </p:txBody>
      </p:sp>
      <p:sp>
        <p:nvSpPr>
          <p:cNvPr id="13" name="Shape 11">
            <a:extLst xmlns:a="http://schemas.openxmlformats.org/drawingml/2006/main">
              <a:ext uri="{FF2B5EF4-FFF2-40B4-BE49-F238E27FC236}">
                <a16:creationId xmlns:a16="http://schemas.microsoft.com/office/drawing/2014/main" id="{F505FEEA-A9E7-4599-8563-C561C142144E}"/>
              </a:ext>
            </a:extLst>
          </p:cNvPr>
          <p:cNvSpPr>
            <a:spLocks xmlns:a="http://schemas.openxmlformats.org/drawingml/2006/main" noGrp="1"/>
          </p:cNvSpPr>
          <p:nvPr/>
        </p:nvSpPr>
        <p:spPr>
          <a:xfrm xmlns:a="http://schemas.openxmlformats.org/drawingml/2006/main">
            <a:off x="2807757" y="1335024"/>
            <a:ext cx="2094525" cy="2432304"/>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552B6CBD-E7B1-4996-81C4-1E2E19B93E80}"/>
              </a:ext>
            </a:extLst>
          </p:cNvPr>
          <p:cNvSpPr>
            <a:spLocks xmlns:a="http://schemas.openxmlformats.org/drawingml/2006/main" noGrp="1"/>
          </p:cNvSpPr>
          <p:nvPr/>
        </p:nvSpPr>
        <p:spPr>
          <a:xfrm xmlns:a="http://schemas.openxmlformats.org/drawingml/2006/main">
            <a:off x="2990637"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B04A25"/>
                </a:solidFill>
                <a:latin typeface="Arial"/>
                <a:ea typeface="Arial"/>
                <a:cs typeface="Arial"/>
              </a:rPr>
              <a:t>Lead management</a:t>
            </a:r>
            <a:endParaRPr sz="1000"/>
          </a:p>
        </p:txBody>
      </p:sp>
      <p:sp>
        <p:nvSpPr>
          <p:cNvPr id="15" name="Shape 13">
            <a:extLst xmlns:a="http://schemas.openxmlformats.org/drawingml/2006/main">
              <a:ext uri="{FF2B5EF4-FFF2-40B4-BE49-F238E27FC236}">
                <a16:creationId xmlns:a16="http://schemas.microsoft.com/office/drawing/2014/main" id="{7FAA9529-B75B-4A8E-94AA-81B9B04CC1D1}"/>
              </a:ext>
            </a:extLst>
          </p:cNvPr>
          <p:cNvSpPr>
            <a:spLocks xmlns:a="http://schemas.openxmlformats.org/drawingml/2006/main" noGrp="1"/>
          </p:cNvSpPr>
          <p:nvPr/>
        </p:nvSpPr>
        <p:spPr>
          <a:xfrm xmlns:a="http://schemas.openxmlformats.org/drawingml/2006/main">
            <a:off x="2990637" y="1956816"/>
            <a:ext cx="1728765" cy="20117"/>
          </a:xfrm>
          <a:prstGeom xmlns:a="http://schemas.openxmlformats.org/drawingml/2006/main" prst="rect">
            <a:avLst/>
          </a:prstGeom>
          <a:solidFill xmlns:a="http://schemas.openxmlformats.org/drawingml/2006/main">
            <a:srgbClr val="B04A25"/>
          </a:solidFill>
        </p:spPr>
      </p:sp>
      <p:sp>
        <p:nvSpPr>
          <p:cNvPr id="16" name="Text 14">
            <a:extLst xmlns:a="http://schemas.openxmlformats.org/drawingml/2006/main">
              <a:ext uri="{FF2B5EF4-FFF2-40B4-BE49-F238E27FC236}">
                <a16:creationId xmlns:a16="http://schemas.microsoft.com/office/drawing/2014/main" id="{39B66DF1-327F-4EFE-AEE2-AA778DA97D24}"/>
              </a:ext>
            </a:extLst>
          </p:cNvPr>
          <p:cNvSpPr>
            <a:spLocks xmlns:a="http://schemas.openxmlformats.org/drawingml/2006/main" noGrp="1"/>
          </p:cNvSpPr>
          <p:nvPr/>
        </p:nvSpPr>
        <p:spPr>
          <a:xfrm xmlns:a="http://schemas.openxmlformats.org/drawingml/2006/main">
            <a:off x="2990637" y="2084832"/>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Ingestion and deduplication</a:t>
            </a:r>
            <a:endParaRPr sz="880"/>
          </a:p>
        </p:txBody>
      </p:sp>
      <p:sp>
        <p:nvSpPr>
          <p:cNvPr id="17" name="Text 15">
            <a:extLst xmlns:a="http://schemas.openxmlformats.org/drawingml/2006/main">
              <a:ext uri="{FF2B5EF4-FFF2-40B4-BE49-F238E27FC236}">
                <a16:creationId xmlns:a16="http://schemas.microsoft.com/office/drawing/2014/main" id="{93068841-DE7F-484D-8101-97694CC6ACDF}"/>
              </a:ext>
            </a:extLst>
          </p:cNvPr>
          <p:cNvSpPr>
            <a:spLocks xmlns:a="http://schemas.openxmlformats.org/drawingml/2006/main" noGrp="1"/>
          </p:cNvSpPr>
          <p:nvPr/>
        </p:nvSpPr>
        <p:spPr>
          <a:xfrm xmlns:a="http://schemas.openxmlformats.org/drawingml/2006/main">
            <a:off x="2990637" y="2279416"/>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Allocation and ownership</a:t>
            </a:r>
            <a:endParaRPr sz="880"/>
          </a:p>
        </p:txBody>
      </p:sp>
      <p:sp>
        <p:nvSpPr>
          <p:cNvPr id="18" name="Text 16">
            <a:extLst xmlns:a="http://schemas.openxmlformats.org/drawingml/2006/main">
              <a:ext uri="{FF2B5EF4-FFF2-40B4-BE49-F238E27FC236}">
                <a16:creationId xmlns:a16="http://schemas.microsoft.com/office/drawing/2014/main" id="{F91A7444-47D9-41B4-BB21-2CFF27285168}"/>
              </a:ext>
            </a:extLst>
          </p:cNvPr>
          <p:cNvSpPr>
            <a:spLocks xmlns:a="http://schemas.openxmlformats.org/drawingml/2006/main" noGrp="1"/>
          </p:cNvSpPr>
          <p:nvPr/>
        </p:nvSpPr>
        <p:spPr>
          <a:xfrm xmlns:a="http://schemas.openxmlformats.org/drawingml/2006/main">
            <a:off x="2990637" y="2474001"/>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Lifecycle state machine</a:t>
            </a:r>
            <a:endParaRPr sz="880"/>
          </a:p>
        </p:txBody>
      </p:sp>
      <p:sp>
        <p:nvSpPr>
          <p:cNvPr id="19" name="Text 17">
            <a:extLst xmlns:a="http://schemas.openxmlformats.org/drawingml/2006/main">
              <a:ext uri="{FF2B5EF4-FFF2-40B4-BE49-F238E27FC236}">
                <a16:creationId xmlns:a16="http://schemas.microsoft.com/office/drawing/2014/main" id="{C830ECEE-8FEC-48E5-B89C-5C982C5B04DE}"/>
              </a:ext>
            </a:extLst>
          </p:cNvPr>
          <p:cNvSpPr>
            <a:spLocks xmlns:a="http://schemas.openxmlformats.org/drawingml/2006/main" noGrp="1"/>
          </p:cNvSpPr>
          <p:nvPr/>
        </p:nvSpPr>
        <p:spPr>
          <a:xfrm xmlns:a="http://schemas.openxmlformats.org/drawingml/2006/main">
            <a:off x="2990637" y="2668585"/>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Dispositions and recycling</a:t>
            </a:r>
            <a:endParaRPr sz="880"/>
          </a:p>
        </p:txBody>
      </p:sp>
      <p:sp>
        <p:nvSpPr>
          <p:cNvPr id="20" name="Text 18">
            <a:extLst xmlns:a="http://schemas.openxmlformats.org/drawingml/2006/main">
              <a:ext uri="{FF2B5EF4-FFF2-40B4-BE49-F238E27FC236}">
                <a16:creationId xmlns:a16="http://schemas.microsoft.com/office/drawing/2014/main" id="{9B5E8004-8BB4-4563-BD94-62600701139D}"/>
              </a:ext>
            </a:extLst>
          </p:cNvPr>
          <p:cNvSpPr>
            <a:spLocks xmlns:a="http://schemas.openxmlformats.org/drawingml/2006/main" noGrp="1"/>
          </p:cNvSpPr>
          <p:nvPr/>
        </p:nvSpPr>
        <p:spPr>
          <a:xfrm xmlns:a="http://schemas.openxmlformats.org/drawingml/2006/main">
            <a:off x="2990637" y="2863169"/>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Consent and lead ageing</a:t>
            </a:r>
            <a:endParaRPr sz="880"/>
          </a:p>
        </p:txBody>
      </p:sp>
      <p:sp>
        <p:nvSpPr>
          <p:cNvPr id="21" name="Text 19">
            <a:extLst xmlns:a="http://schemas.openxmlformats.org/drawingml/2006/main">
              <a:ext uri="{FF2B5EF4-FFF2-40B4-BE49-F238E27FC236}">
                <a16:creationId xmlns:a16="http://schemas.microsoft.com/office/drawing/2014/main" id="{8DF31CB3-8EBC-41E4-AE49-AA36AF148D12}"/>
              </a:ext>
            </a:extLst>
          </p:cNvPr>
          <p:cNvSpPr>
            <a:spLocks xmlns:a="http://schemas.openxmlformats.org/drawingml/2006/main" noGrp="1"/>
          </p:cNvSpPr>
          <p:nvPr/>
        </p:nvSpPr>
        <p:spPr>
          <a:xfrm xmlns:a="http://schemas.openxmlformats.org/drawingml/2006/main">
            <a:off x="2990637" y="3057754"/>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Channel-wise journeys</a:t>
            </a:r>
            <a:endParaRPr sz="880"/>
          </a:p>
        </p:txBody>
      </p:sp>
      <p:sp>
        <p:nvSpPr>
          <p:cNvPr id="22" name="Shape 20">
            <a:extLst xmlns:a="http://schemas.openxmlformats.org/drawingml/2006/main">
              <a:ext uri="{FF2B5EF4-FFF2-40B4-BE49-F238E27FC236}">
                <a16:creationId xmlns:a16="http://schemas.microsoft.com/office/drawing/2014/main" id="{730F1E1B-55DF-44D5-8C31-2951CA5CE701}"/>
              </a:ext>
            </a:extLst>
          </p:cNvPr>
          <p:cNvSpPr>
            <a:spLocks xmlns:a="http://schemas.openxmlformats.org/drawingml/2006/main" noGrp="1"/>
          </p:cNvSpPr>
          <p:nvPr/>
        </p:nvSpPr>
        <p:spPr>
          <a:xfrm xmlns:a="http://schemas.openxmlformats.org/drawingml/2006/main">
            <a:off x="5048585" y="1335024"/>
            <a:ext cx="2094525" cy="2432304"/>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1E6D8C54-3F73-4D3C-A1DD-1E7A8BC3F525}"/>
              </a:ext>
            </a:extLst>
          </p:cNvPr>
          <p:cNvSpPr>
            <a:spLocks xmlns:a="http://schemas.openxmlformats.org/drawingml/2006/main" noGrp="1"/>
          </p:cNvSpPr>
          <p:nvPr/>
        </p:nvSpPr>
        <p:spPr>
          <a:xfrm xmlns:a="http://schemas.openxmlformats.org/drawingml/2006/main">
            <a:off x="5231465"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Renewal management</a:t>
            </a:r>
            <a:endParaRPr sz="1000"/>
          </a:p>
        </p:txBody>
      </p:sp>
      <p:sp>
        <p:nvSpPr>
          <p:cNvPr id="24" name="Shape 22">
            <a:extLst xmlns:a="http://schemas.openxmlformats.org/drawingml/2006/main">
              <a:ext uri="{FF2B5EF4-FFF2-40B4-BE49-F238E27FC236}">
                <a16:creationId xmlns:a16="http://schemas.microsoft.com/office/drawing/2014/main" id="{E37F4547-AA5C-4CB5-A2EF-5A333F91C5D6}"/>
              </a:ext>
            </a:extLst>
          </p:cNvPr>
          <p:cNvSpPr>
            <a:spLocks xmlns:a="http://schemas.openxmlformats.org/drawingml/2006/main" noGrp="1"/>
          </p:cNvSpPr>
          <p:nvPr/>
        </p:nvSpPr>
        <p:spPr>
          <a:xfrm xmlns:a="http://schemas.openxmlformats.org/drawingml/2006/main">
            <a:off x="5231465" y="1956816"/>
            <a:ext cx="1728765" cy="20117"/>
          </a:xfrm>
          <a:prstGeom xmlns:a="http://schemas.openxmlformats.org/drawingml/2006/main" prst="rect">
            <a:avLst/>
          </a:prstGeom>
          <a:solidFill xmlns:a="http://schemas.openxmlformats.org/drawingml/2006/main">
            <a:srgbClr val="486581"/>
          </a:solidFill>
        </p:spPr>
      </p:sp>
      <p:sp>
        <p:nvSpPr>
          <p:cNvPr id="25" name="Text 23">
            <a:extLst xmlns:a="http://schemas.openxmlformats.org/drawingml/2006/main">
              <a:ext uri="{FF2B5EF4-FFF2-40B4-BE49-F238E27FC236}">
                <a16:creationId xmlns:a16="http://schemas.microsoft.com/office/drawing/2014/main" id="{CC00A950-2A62-43DB-9093-A6590F66B4C8}"/>
              </a:ext>
            </a:extLst>
          </p:cNvPr>
          <p:cNvSpPr>
            <a:spLocks xmlns:a="http://schemas.openxmlformats.org/drawingml/2006/main" noGrp="1"/>
          </p:cNvSpPr>
          <p:nvPr/>
        </p:nvSpPr>
        <p:spPr>
          <a:xfrm xmlns:a="http://schemas.openxmlformats.org/drawingml/2006/main">
            <a:off x="5231465" y="2084832"/>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Renewal lead tracking</a:t>
            </a:r>
            <a:endParaRPr sz="880"/>
          </a:p>
        </p:txBody>
      </p:sp>
      <p:sp>
        <p:nvSpPr>
          <p:cNvPr id="26" name="Text 24">
            <a:extLst xmlns:a="http://schemas.openxmlformats.org/drawingml/2006/main">
              <a:ext uri="{FF2B5EF4-FFF2-40B4-BE49-F238E27FC236}">
                <a16:creationId xmlns:a16="http://schemas.microsoft.com/office/drawing/2014/main" id="{26226E35-A996-41F7-8127-4F8CFE6046CB}"/>
              </a:ext>
            </a:extLst>
          </p:cNvPr>
          <p:cNvSpPr>
            <a:spLocks xmlns:a="http://schemas.openxmlformats.org/drawingml/2006/main" noGrp="1"/>
          </p:cNvSpPr>
          <p:nvPr/>
        </p:nvSpPr>
        <p:spPr>
          <a:xfrm xmlns:a="http://schemas.openxmlformats.org/drawingml/2006/main">
            <a:off x="5231465" y="2279416"/>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Disposition updates</a:t>
            </a:r>
            <a:endParaRPr sz="880"/>
          </a:p>
        </p:txBody>
      </p:sp>
      <p:sp>
        <p:nvSpPr>
          <p:cNvPr id="27" name="Text 25">
            <a:extLst xmlns:a="http://schemas.openxmlformats.org/drawingml/2006/main">
              <a:ext uri="{FF2B5EF4-FFF2-40B4-BE49-F238E27FC236}">
                <a16:creationId xmlns:a16="http://schemas.microsoft.com/office/drawing/2014/main" id="{48F470DB-74BE-4CC4-9BE3-1BB2ED492713}"/>
              </a:ext>
            </a:extLst>
          </p:cNvPr>
          <p:cNvSpPr>
            <a:spLocks xmlns:a="http://schemas.openxmlformats.org/drawingml/2006/main" noGrp="1"/>
          </p:cNvSpPr>
          <p:nvPr/>
        </p:nvSpPr>
        <p:spPr>
          <a:xfrm xmlns:a="http://schemas.openxmlformats.org/drawingml/2006/main">
            <a:off x="5231465" y="2474001"/>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Free-look and grievance</a:t>
            </a:r>
            <a:endParaRPr sz="880"/>
          </a:p>
        </p:txBody>
      </p:sp>
      <p:sp>
        <p:nvSpPr>
          <p:cNvPr id="28" name="Text 26">
            <a:extLst xmlns:a="http://schemas.openxmlformats.org/drawingml/2006/main">
              <a:ext uri="{FF2B5EF4-FFF2-40B4-BE49-F238E27FC236}">
                <a16:creationId xmlns:a16="http://schemas.microsoft.com/office/drawing/2014/main" id="{5B6DB168-ABD4-4522-BB0E-845EE77A1F14}"/>
              </a:ext>
            </a:extLst>
          </p:cNvPr>
          <p:cNvSpPr>
            <a:spLocks xmlns:a="http://schemas.openxmlformats.org/drawingml/2006/main" noGrp="1"/>
          </p:cNvSpPr>
          <p:nvPr/>
        </p:nvSpPr>
        <p:spPr>
          <a:xfrm xmlns:a="http://schemas.openxmlformats.org/drawingml/2006/main">
            <a:off x="5231465" y="2668585"/>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Admin bulk upload</a:t>
            </a:r>
            <a:endParaRPr sz="880"/>
          </a:p>
        </p:txBody>
      </p:sp>
      <p:sp>
        <p:nvSpPr>
          <p:cNvPr id="29" name="Text 27">
            <a:extLst xmlns:a="http://schemas.openxmlformats.org/drawingml/2006/main">
              <a:ext uri="{FF2B5EF4-FFF2-40B4-BE49-F238E27FC236}">
                <a16:creationId xmlns:a16="http://schemas.microsoft.com/office/drawing/2014/main" id="{D410922A-6B5A-4F65-9F97-9AFB7965AF7C}"/>
              </a:ext>
            </a:extLst>
          </p:cNvPr>
          <p:cNvSpPr>
            <a:spLocks xmlns:a="http://schemas.openxmlformats.org/drawingml/2006/main" noGrp="1"/>
          </p:cNvSpPr>
          <p:nvPr/>
        </p:nvSpPr>
        <p:spPr>
          <a:xfrm xmlns:a="http://schemas.openxmlformats.org/drawingml/2006/main">
            <a:off x="5231465" y="2863169"/>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Bulk reassignment</a:t>
            </a:r>
            <a:endParaRPr sz="880"/>
          </a:p>
        </p:txBody>
      </p:sp>
      <p:sp>
        <p:nvSpPr>
          <p:cNvPr id="30" name="Text 28">
            <a:extLst xmlns:a="http://schemas.openxmlformats.org/drawingml/2006/main">
              <a:ext uri="{FF2B5EF4-FFF2-40B4-BE49-F238E27FC236}">
                <a16:creationId xmlns:a16="http://schemas.microsoft.com/office/drawing/2014/main" id="{5AEBA0AA-6B8D-4F66-BD88-1214F37FA62E}"/>
              </a:ext>
            </a:extLst>
          </p:cNvPr>
          <p:cNvSpPr>
            <a:spLocks xmlns:a="http://schemas.openxmlformats.org/drawingml/2006/main" noGrp="1"/>
          </p:cNvSpPr>
          <p:nvPr/>
        </p:nvSpPr>
        <p:spPr>
          <a:xfrm xmlns:a="http://schemas.openxmlformats.org/drawingml/2006/main">
            <a:off x="5231465" y="3057754"/>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Campaigns and suppression</a:t>
            </a:r>
            <a:endParaRPr sz="880"/>
          </a:p>
        </p:txBody>
      </p:sp>
      <p:sp>
        <p:nvSpPr>
          <p:cNvPr id="31" name="Shape 29">
            <a:extLst xmlns:a="http://schemas.openxmlformats.org/drawingml/2006/main">
              <a:ext uri="{FF2B5EF4-FFF2-40B4-BE49-F238E27FC236}">
                <a16:creationId xmlns:a16="http://schemas.microsoft.com/office/drawing/2014/main" id="{A2E1838A-91A6-4EA9-9299-28DF7C298B98}"/>
              </a:ext>
            </a:extLst>
          </p:cNvPr>
          <p:cNvSpPr>
            <a:spLocks xmlns:a="http://schemas.openxmlformats.org/drawingml/2006/main" noGrp="1"/>
          </p:cNvSpPr>
          <p:nvPr/>
        </p:nvSpPr>
        <p:spPr>
          <a:xfrm xmlns:a="http://schemas.openxmlformats.org/drawingml/2006/main">
            <a:off x="7289414" y="1335024"/>
            <a:ext cx="2094525" cy="2432304"/>
          </a:xfrm>
          <a:prstGeom xmlns:a="http://schemas.openxmlformats.org/drawingml/2006/main" prst="rect">
            <a:avLst/>
          </a:prstGeom>
          <a:solidFill xmlns:a="http://schemas.openxmlformats.org/drawingml/2006/main">
            <a:srgbClr val="F0F4F8"/>
          </a:solidFill>
        </p:spPr>
      </p:sp>
      <p:sp>
        <p:nvSpPr>
          <p:cNvPr id="32" name="Text 30">
            <a:extLst xmlns:a="http://schemas.openxmlformats.org/drawingml/2006/main">
              <a:ext uri="{FF2B5EF4-FFF2-40B4-BE49-F238E27FC236}">
                <a16:creationId xmlns:a16="http://schemas.microsoft.com/office/drawing/2014/main" id="{7886FC2C-09F5-46F8-92D7-B8554F7B3697}"/>
              </a:ext>
            </a:extLst>
          </p:cNvPr>
          <p:cNvSpPr>
            <a:spLocks xmlns:a="http://schemas.openxmlformats.org/drawingml/2006/main" noGrp="1"/>
          </p:cNvSpPr>
          <p:nvPr/>
        </p:nvSpPr>
        <p:spPr>
          <a:xfrm xmlns:a="http://schemas.openxmlformats.org/drawingml/2006/main">
            <a:off x="7472294"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Integration layer</a:t>
            </a:r>
            <a:endParaRPr sz="1000"/>
          </a:p>
        </p:txBody>
      </p:sp>
      <p:sp>
        <p:nvSpPr>
          <p:cNvPr id="33" name="Shape 31">
            <a:extLst xmlns:a="http://schemas.openxmlformats.org/drawingml/2006/main">
              <a:ext uri="{FF2B5EF4-FFF2-40B4-BE49-F238E27FC236}">
                <a16:creationId xmlns:a16="http://schemas.microsoft.com/office/drawing/2014/main" id="{CC9EDD86-D20C-49E5-9F5F-5D25480D70F5}"/>
              </a:ext>
            </a:extLst>
          </p:cNvPr>
          <p:cNvSpPr>
            <a:spLocks xmlns:a="http://schemas.openxmlformats.org/drawingml/2006/main" noGrp="1"/>
          </p:cNvSpPr>
          <p:nvPr/>
        </p:nvSpPr>
        <p:spPr>
          <a:xfrm xmlns:a="http://schemas.openxmlformats.org/drawingml/2006/main">
            <a:off x="7472294" y="1956816"/>
            <a:ext cx="1728765" cy="20117"/>
          </a:xfrm>
          <a:prstGeom xmlns:a="http://schemas.openxmlformats.org/drawingml/2006/main" prst="rect">
            <a:avLst/>
          </a:prstGeom>
          <a:solidFill xmlns:a="http://schemas.openxmlformats.org/drawingml/2006/main">
            <a:srgbClr val="486581"/>
          </a:solidFill>
        </p:spPr>
      </p:sp>
      <p:sp>
        <p:nvSpPr>
          <p:cNvPr id="34" name="Text 32">
            <a:extLst xmlns:a="http://schemas.openxmlformats.org/drawingml/2006/main">
              <a:ext uri="{FF2B5EF4-FFF2-40B4-BE49-F238E27FC236}">
                <a16:creationId xmlns:a16="http://schemas.microsoft.com/office/drawing/2014/main" id="{EE8BDC5B-A95C-4F2B-A0D9-64B28266B0BA}"/>
              </a:ext>
            </a:extLst>
          </p:cNvPr>
          <p:cNvSpPr>
            <a:spLocks xmlns:a="http://schemas.openxmlformats.org/drawingml/2006/main" noGrp="1"/>
          </p:cNvSpPr>
          <p:nvPr/>
        </p:nvSpPr>
        <p:spPr>
          <a:xfrm xmlns:a="http://schemas.openxmlformats.org/drawingml/2006/main">
            <a:off x="7472294" y="2084832"/>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Single sign-on and app services</a:t>
            </a:r>
            <a:endParaRPr sz="880"/>
          </a:p>
        </p:txBody>
      </p:sp>
      <p:sp>
        <p:nvSpPr>
          <p:cNvPr id="35" name="Text 33">
            <a:extLst xmlns:a="http://schemas.openxmlformats.org/drawingml/2006/main">
              <a:ext uri="{FF2B5EF4-FFF2-40B4-BE49-F238E27FC236}">
                <a16:creationId xmlns:a16="http://schemas.microsoft.com/office/drawing/2014/main" id="{719EF4CD-4F42-42CD-BC34-E4541A7B0EE2}"/>
              </a:ext>
            </a:extLst>
          </p:cNvPr>
          <p:cNvSpPr>
            <a:spLocks xmlns:a="http://schemas.openxmlformats.org/drawingml/2006/main" noGrp="1"/>
          </p:cNvSpPr>
          <p:nvPr/>
        </p:nvSpPr>
        <p:spPr>
          <a:xfrm xmlns:a="http://schemas.openxmlformats.org/drawingml/2006/main">
            <a:off x="7472294" y="2279416"/>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CRM and sales systems</a:t>
            </a:r>
            <a:endParaRPr sz="880"/>
          </a:p>
        </p:txBody>
      </p:sp>
      <p:sp>
        <p:nvSpPr>
          <p:cNvPr id="36" name="Text 34">
            <a:extLst xmlns:a="http://schemas.openxmlformats.org/drawingml/2006/main">
              <a:ext uri="{FF2B5EF4-FFF2-40B4-BE49-F238E27FC236}">
                <a16:creationId xmlns:a16="http://schemas.microsoft.com/office/drawing/2014/main" id="{9314C460-4C13-4487-84EC-0705693B6282}"/>
              </a:ext>
            </a:extLst>
          </p:cNvPr>
          <p:cNvSpPr>
            <a:spLocks xmlns:a="http://schemas.openxmlformats.org/drawingml/2006/main" noGrp="1"/>
          </p:cNvSpPr>
          <p:nvPr/>
        </p:nvSpPr>
        <p:spPr>
          <a:xfrm xmlns:a="http://schemas.openxmlformats.org/drawingml/2006/main">
            <a:off x="7472294" y="2474001"/>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Quotation and illustration tools</a:t>
            </a:r>
            <a:endParaRPr sz="880"/>
          </a:p>
        </p:txBody>
      </p:sp>
      <p:sp>
        <p:nvSpPr>
          <p:cNvPr id="37" name="Text 35">
            <a:extLst xmlns:a="http://schemas.openxmlformats.org/drawingml/2006/main">
              <a:ext uri="{FF2B5EF4-FFF2-40B4-BE49-F238E27FC236}">
                <a16:creationId xmlns:a16="http://schemas.microsoft.com/office/drawing/2014/main" id="{23C6BACA-563C-4867-A379-30C87DB07A8E}"/>
              </a:ext>
            </a:extLst>
          </p:cNvPr>
          <p:cNvSpPr>
            <a:spLocks xmlns:a="http://schemas.openxmlformats.org/drawingml/2006/main" noGrp="1"/>
          </p:cNvSpPr>
          <p:nvPr/>
        </p:nvSpPr>
        <p:spPr>
          <a:xfrm xmlns:a="http://schemas.openxmlformats.org/drawingml/2006/main">
            <a:off x="7472294" y="2668585"/>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Dialer and notification gateways</a:t>
            </a:r>
            <a:endParaRPr sz="880"/>
          </a:p>
        </p:txBody>
      </p:sp>
      <p:sp>
        <p:nvSpPr>
          <p:cNvPr id="38" name="Text 36">
            <a:extLst xmlns:a="http://schemas.openxmlformats.org/drawingml/2006/main">
              <a:ext uri="{FF2B5EF4-FFF2-40B4-BE49-F238E27FC236}">
                <a16:creationId xmlns:a16="http://schemas.microsoft.com/office/drawing/2014/main" id="{95BAA521-7618-40FB-89BB-BDFD285B84E1}"/>
              </a:ext>
            </a:extLst>
          </p:cNvPr>
          <p:cNvSpPr>
            <a:spLocks xmlns:a="http://schemas.openxmlformats.org/drawingml/2006/main" noGrp="1"/>
          </p:cNvSpPr>
          <p:nvPr/>
        </p:nvSpPr>
        <p:spPr>
          <a:xfrm xmlns:a="http://schemas.openxmlformats.org/drawingml/2006/main">
            <a:off x="7472294" y="2863169"/>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Data lake and reporting feeds</a:t>
            </a:r>
            <a:endParaRPr sz="880"/>
          </a:p>
        </p:txBody>
      </p:sp>
      <p:sp>
        <p:nvSpPr>
          <p:cNvPr id="39" name="Text 37">
            <a:extLst xmlns:a="http://schemas.openxmlformats.org/drawingml/2006/main">
              <a:ext uri="{FF2B5EF4-FFF2-40B4-BE49-F238E27FC236}">
                <a16:creationId xmlns:a16="http://schemas.microsoft.com/office/drawing/2014/main" id="{302D56F8-40DB-4681-B2E8-D5B114A86B69}"/>
              </a:ext>
            </a:extLst>
          </p:cNvPr>
          <p:cNvSpPr>
            <a:spLocks xmlns:a="http://schemas.openxmlformats.org/drawingml/2006/main" noGrp="1"/>
          </p:cNvSpPr>
          <p:nvPr/>
        </p:nvSpPr>
        <p:spPr>
          <a:xfrm xmlns:a="http://schemas.openxmlformats.org/drawingml/2006/main">
            <a:off x="7472294" y="3057754"/>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Master data management</a:t>
            </a:r>
            <a:endParaRPr sz="880"/>
          </a:p>
        </p:txBody>
      </p:sp>
      <p:sp>
        <p:nvSpPr>
          <p:cNvPr id="40" name="Shape 38">
            <a:extLst xmlns:a="http://schemas.openxmlformats.org/drawingml/2006/main">
              <a:ext uri="{FF2B5EF4-FFF2-40B4-BE49-F238E27FC236}">
                <a16:creationId xmlns:a16="http://schemas.microsoft.com/office/drawing/2014/main" id="{4797737D-AF29-40F9-9951-8B7916897AEC}"/>
              </a:ext>
            </a:extLst>
          </p:cNvPr>
          <p:cNvSpPr>
            <a:spLocks xmlns:a="http://schemas.openxmlformats.org/drawingml/2006/main" noGrp="1"/>
          </p:cNvSpPr>
          <p:nvPr/>
        </p:nvSpPr>
        <p:spPr>
          <a:xfrm xmlns:a="http://schemas.openxmlformats.org/drawingml/2006/main">
            <a:off x="9530243" y="1335024"/>
            <a:ext cx="2094525" cy="2432304"/>
          </a:xfrm>
          <a:prstGeom xmlns:a="http://schemas.openxmlformats.org/drawingml/2006/main" prst="rect">
            <a:avLst/>
          </a:prstGeom>
          <a:solidFill xmlns:a="http://schemas.openxmlformats.org/drawingml/2006/main">
            <a:srgbClr val="F0F4F8"/>
          </a:solidFill>
        </p:spPr>
      </p:sp>
      <p:sp>
        <p:nvSpPr>
          <p:cNvPr id="41" name="Text 39">
            <a:extLst xmlns:a="http://schemas.openxmlformats.org/drawingml/2006/main">
              <a:ext uri="{FF2B5EF4-FFF2-40B4-BE49-F238E27FC236}">
                <a16:creationId xmlns:a16="http://schemas.microsoft.com/office/drawing/2014/main" id="{DC985A4D-8242-407D-9846-4D5EE4D626F7}"/>
              </a:ext>
            </a:extLst>
          </p:cNvPr>
          <p:cNvSpPr>
            <a:spLocks xmlns:a="http://schemas.openxmlformats.org/drawingml/2006/main" noGrp="1"/>
          </p:cNvSpPr>
          <p:nvPr/>
        </p:nvSpPr>
        <p:spPr>
          <a:xfrm xmlns:a="http://schemas.openxmlformats.org/drawingml/2006/main">
            <a:off x="9713123" y="1481328"/>
            <a:ext cx="172876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200"/>
              </a:lnSpc>
              <a:buNone/>
            </a:pPr>
            <a:r>
              <a:rPr sz="1000" b="1">
                <a:solidFill>
                  <a:srgbClr val="486581"/>
                </a:solidFill>
                <a:latin typeface="Arial"/>
                <a:ea typeface="Arial"/>
                <a:cs typeface="Arial"/>
              </a:rPr>
              <a:t>Platform and NFR</a:t>
            </a:r>
            <a:endParaRPr sz="1000"/>
          </a:p>
        </p:txBody>
      </p:sp>
      <p:sp>
        <p:nvSpPr>
          <p:cNvPr id="42" name="Shape 40">
            <a:extLst xmlns:a="http://schemas.openxmlformats.org/drawingml/2006/main">
              <a:ext uri="{FF2B5EF4-FFF2-40B4-BE49-F238E27FC236}">
                <a16:creationId xmlns:a16="http://schemas.microsoft.com/office/drawing/2014/main" id="{F731AE1C-B654-4F4A-BC53-F3CF72581CCD}"/>
              </a:ext>
            </a:extLst>
          </p:cNvPr>
          <p:cNvSpPr>
            <a:spLocks xmlns:a="http://schemas.openxmlformats.org/drawingml/2006/main" noGrp="1"/>
          </p:cNvSpPr>
          <p:nvPr/>
        </p:nvSpPr>
        <p:spPr>
          <a:xfrm xmlns:a="http://schemas.openxmlformats.org/drawingml/2006/main">
            <a:off x="9713123" y="1956816"/>
            <a:ext cx="1728765" cy="20117"/>
          </a:xfrm>
          <a:prstGeom xmlns:a="http://schemas.openxmlformats.org/drawingml/2006/main" prst="rect">
            <a:avLst/>
          </a:prstGeom>
          <a:solidFill xmlns:a="http://schemas.openxmlformats.org/drawingml/2006/main">
            <a:srgbClr val="486581"/>
          </a:solidFill>
        </p:spPr>
      </p:sp>
      <p:sp>
        <p:nvSpPr>
          <p:cNvPr id="43" name="Text 41">
            <a:extLst xmlns:a="http://schemas.openxmlformats.org/drawingml/2006/main">
              <a:ext uri="{FF2B5EF4-FFF2-40B4-BE49-F238E27FC236}">
                <a16:creationId xmlns:a16="http://schemas.microsoft.com/office/drawing/2014/main" id="{EA5E38BF-529D-4E13-B7A4-9B1950B05C06}"/>
              </a:ext>
            </a:extLst>
          </p:cNvPr>
          <p:cNvSpPr>
            <a:spLocks xmlns:a="http://schemas.openxmlformats.org/drawingml/2006/main" noGrp="1"/>
          </p:cNvSpPr>
          <p:nvPr/>
        </p:nvSpPr>
        <p:spPr>
          <a:xfrm xmlns:a="http://schemas.openxmlformats.org/drawingml/2006/main">
            <a:off x="9713123" y="2084832"/>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Admin console and access control</a:t>
            </a:r>
            <a:endParaRPr sz="880"/>
          </a:p>
        </p:txBody>
      </p:sp>
      <p:sp>
        <p:nvSpPr>
          <p:cNvPr id="44" name="Text 42">
            <a:extLst xmlns:a="http://schemas.openxmlformats.org/drawingml/2006/main">
              <a:ext uri="{FF2B5EF4-FFF2-40B4-BE49-F238E27FC236}">
                <a16:creationId xmlns:a16="http://schemas.microsoft.com/office/drawing/2014/main" id="{D721B718-059D-432E-A09E-1B1915F8DEAB}"/>
              </a:ext>
            </a:extLst>
          </p:cNvPr>
          <p:cNvSpPr>
            <a:spLocks xmlns:a="http://schemas.openxmlformats.org/drawingml/2006/main" noGrp="1"/>
          </p:cNvSpPr>
          <p:nvPr/>
        </p:nvSpPr>
        <p:spPr>
          <a:xfrm xmlns:a="http://schemas.openxmlformats.org/drawingml/2006/main">
            <a:off x="9713123" y="2279416"/>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Reporting layer and exports</a:t>
            </a:r>
            <a:endParaRPr sz="880"/>
          </a:p>
        </p:txBody>
      </p:sp>
      <p:sp>
        <p:nvSpPr>
          <p:cNvPr id="45" name="Text 43">
            <a:extLst xmlns:a="http://schemas.openxmlformats.org/drawingml/2006/main">
              <a:ext uri="{FF2B5EF4-FFF2-40B4-BE49-F238E27FC236}">
                <a16:creationId xmlns:a16="http://schemas.microsoft.com/office/drawing/2014/main" id="{D49F09F5-344E-4F05-ABAE-27BC1D983368}"/>
              </a:ext>
            </a:extLst>
          </p:cNvPr>
          <p:cNvSpPr>
            <a:spLocks xmlns:a="http://schemas.openxmlformats.org/drawingml/2006/main" noGrp="1"/>
          </p:cNvSpPr>
          <p:nvPr/>
        </p:nvSpPr>
        <p:spPr>
          <a:xfrm xmlns:a="http://schemas.openxmlformats.org/drawingml/2006/main">
            <a:off x="9713123" y="2474001"/>
            <a:ext cx="1728765" cy="334305"/>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Environments, pipelines, observability</a:t>
            </a:r>
            <a:endParaRPr sz="880"/>
          </a:p>
        </p:txBody>
      </p:sp>
      <p:sp>
        <p:nvSpPr>
          <p:cNvPr id="46" name="Text 44">
            <a:extLst xmlns:a="http://schemas.openxmlformats.org/drawingml/2006/main">
              <a:ext uri="{FF2B5EF4-FFF2-40B4-BE49-F238E27FC236}">
                <a16:creationId xmlns:a16="http://schemas.microsoft.com/office/drawing/2014/main" id="{B24DE114-7F64-448F-99AC-FA5146A969AD}"/>
              </a:ext>
            </a:extLst>
          </p:cNvPr>
          <p:cNvSpPr>
            <a:spLocks xmlns:a="http://schemas.openxmlformats.org/drawingml/2006/main" noGrp="1"/>
          </p:cNvSpPr>
          <p:nvPr/>
        </p:nvSpPr>
        <p:spPr>
          <a:xfrm xmlns:a="http://schemas.openxmlformats.org/drawingml/2006/main">
            <a:off x="9713123" y="2817449"/>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Security hardening and testing</a:t>
            </a:r>
            <a:endParaRPr sz="880"/>
          </a:p>
        </p:txBody>
      </p:sp>
      <p:sp>
        <p:nvSpPr>
          <p:cNvPr id="47" name="Text 45">
            <a:extLst xmlns:a="http://schemas.openxmlformats.org/drawingml/2006/main">
              <a:ext uri="{FF2B5EF4-FFF2-40B4-BE49-F238E27FC236}">
                <a16:creationId xmlns:a16="http://schemas.microsoft.com/office/drawing/2014/main" id="{601C1230-2C8B-466D-9FB2-D44C65CC1241}"/>
              </a:ext>
            </a:extLst>
          </p:cNvPr>
          <p:cNvSpPr>
            <a:spLocks xmlns:a="http://schemas.openxmlformats.org/drawingml/2006/main" noGrp="1"/>
          </p:cNvSpPr>
          <p:nvPr/>
        </p:nvSpPr>
        <p:spPr>
          <a:xfrm xmlns:a="http://schemas.openxmlformats.org/drawingml/2006/main">
            <a:off x="9713123" y="3012034"/>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Performance and resilience</a:t>
            </a:r>
            <a:endParaRPr sz="880"/>
          </a:p>
        </p:txBody>
      </p:sp>
      <p:sp>
        <p:nvSpPr>
          <p:cNvPr id="48" name="Text 46">
            <a:extLst xmlns:a="http://schemas.openxmlformats.org/drawingml/2006/main">
              <a:ext uri="{FF2B5EF4-FFF2-40B4-BE49-F238E27FC236}">
                <a16:creationId xmlns:a16="http://schemas.microsoft.com/office/drawing/2014/main" id="{916668A3-0C39-4076-82B7-8F3FA6865C10}"/>
              </a:ext>
            </a:extLst>
          </p:cNvPr>
          <p:cNvSpPr>
            <a:spLocks xmlns:a="http://schemas.openxmlformats.org/drawingml/2006/main" noGrp="1"/>
          </p:cNvSpPr>
          <p:nvPr/>
        </p:nvSpPr>
        <p:spPr>
          <a:xfrm xmlns:a="http://schemas.openxmlformats.org/drawingml/2006/main">
            <a:off x="9713123" y="3206618"/>
            <a:ext cx="1728765" cy="185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188"/>
              </a:lnSpc>
              <a:buNone/>
            </a:pPr>
            <a:r>
              <a:rPr sz="880">
                <a:solidFill>
                  <a:srgbClr val="1A1A1A"/>
                </a:solidFill>
                <a:latin typeface="Arial"/>
                <a:ea typeface="Arial"/>
                <a:cs typeface="Arial"/>
              </a:rPr>
              <a:t>Documentation and hypercare</a:t>
            </a:r>
            <a:endParaRPr sz="880"/>
          </a:p>
        </p:txBody>
      </p:sp>
      <p:sp>
        <p:nvSpPr>
          <p:cNvPr id="49" name="Text 47">
            <a:extLst xmlns:a="http://schemas.openxmlformats.org/drawingml/2006/main">
              <a:ext uri="{FF2B5EF4-FFF2-40B4-BE49-F238E27FC236}">
                <a16:creationId xmlns:a16="http://schemas.microsoft.com/office/drawing/2014/main" id="{F0300AFB-7E17-4321-8F73-FD8C35CCB718}"/>
              </a:ext>
            </a:extLst>
          </p:cNvPr>
          <p:cNvSpPr>
            <a:spLocks xmlns:a="http://schemas.openxmlformats.org/drawingml/2006/main" noGrp="1"/>
          </p:cNvSpPr>
          <p:nvPr/>
        </p:nvSpPr>
        <p:spPr>
          <a:xfrm xmlns:a="http://schemas.openxmlformats.org/drawingml/2006/main">
            <a:off x="566928" y="402336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the client is buying</a:t>
            </a:r>
            <a:endParaRPr sz="1100"/>
          </a:p>
        </p:txBody>
      </p:sp>
      <p:sp>
        <p:nvSpPr>
          <p:cNvPr id="50" name="Shape 48">
            <a:extLst xmlns:a="http://schemas.openxmlformats.org/drawingml/2006/main">
              <a:ext uri="{FF2B5EF4-FFF2-40B4-BE49-F238E27FC236}">
                <a16:creationId xmlns:a16="http://schemas.microsoft.com/office/drawing/2014/main" id="{24427DCC-B9CF-4CE1-8981-A810D4BAFCDD}"/>
              </a:ext>
            </a:extLst>
          </p:cNvPr>
          <p:cNvSpPr>
            <a:spLocks xmlns:a="http://schemas.openxmlformats.org/drawingml/2006/main" noGrp="1"/>
          </p:cNvSpPr>
          <p:nvPr/>
        </p:nvSpPr>
        <p:spPr>
          <a:xfrm xmlns:a="http://schemas.openxmlformats.org/drawingml/2006/main">
            <a:off x="566928" y="4279392"/>
            <a:ext cx="3551834" cy="20117"/>
          </a:xfrm>
          <a:prstGeom xmlns:a="http://schemas.openxmlformats.org/drawingml/2006/main" prst="rect">
            <a:avLst/>
          </a:prstGeom>
          <a:solidFill xmlns:a="http://schemas.openxmlformats.org/drawingml/2006/main">
            <a:srgbClr val="B04A25"/>
          </a:solidFill>
        </p:spPr>
      </p:sp>
      <p:sp>
        <p:nvSpPr>
          <p:cNvPr id="51" name="Text 49">
            <a:extLst xmlns:a="http://schemas.openxmlformats.org/drawingml/2006/main">
              <a:ext uri="{FF2B5EF4-FFF2-40B4-BE49-F238E27FC236}">
                <a16:creationId xmlns:a16="http://schemas.microsoft.com/office/drawing/2014/main" id="{3BB2EF7B-9787-4319-9061-05E64060DD2F}"/>
              </a:ext>
            </a:extLst>
          </p:cNvPr>
          <p:cNvSpPr>
            <a:spLocks xmlns:a="http://schemas.openxmlformats.org/drawingml/2006/main" noGrp="1"/>
          </p:cNvSpPr>
          <p:nvPr/>
        </p:nvSpPr>
        <p:spPr>
          <a:xfrm xmlns:a="http://schemas.openxmlformats.org/drawingml/2006/main">
            <a:off x="566928" y="4407408"/>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three functional domains — this is what the requirement document is about and where the demonstrations will focus.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It is also the part a product covers natively, which is why the fit assessment looks comfortable.</a:t>
            </a:r>
            <a:endParaRPr sz="960"/>
          </a:p>
        </p:txBody>
      </p:sp>
      <p:sp>
        <p:nvSpPr>
          <p:cNvPr id="52" name="Text 50">
            <a:extLst xmlns:a="http://schemas.openxmlformats.org/drawingml/2006/main">
              <a:ext uri="{FF2B5EF4-FFF2-40B4-BE49-F238E27FC236}">
                <a16:creationId xmlns:a16="http://schemas.microsoft.com/office/drawing/2014/main" id="{CD86B8C3-151E-4D66-910E-FA05A0C6A41F}"/>
              </a:ext>
            </a:extLst>
          </p:cNvPr>
          <p:cNvSpPr>
            <a:spLocks xmlns:a="http://schemas.openxmlformats.org/drawingml/2006/main" noGrp="1"/>
          </p:cNvSpPr>
          <p:nvPr/>
        </p:nvSpPr>
        <p:spPr>
          <a:xfrm xmlns:a="http://schemas.openxmlformats.org/drawingml/2006/main">
            <a:off x="4319930" y="402336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supplier is delivering</a:t>
            </a:r>
            <a:endParaRPr sz="1100"/>
          </a:p>
        </p:txBody>
      </p:sp>
      <p:sp>
        <p:nvSpPr>
          <p:cNvPr id="53" name="Shape 51">
            <a:extLst xmlns:a="http://schemas.openxmlformats.org/drawingml/2006/main">
              <a:ext uri="{FF2B5EF4-FFF2-40B4-BE49-F238E27FC236}">
                <a16:creationId xmlns:a16="http://schemas.microsoft.com/office/drawing/2014/main" id="{EB76281E-A7F2-4D41-A5E3-D5A1FBA9C1E1}"/>
              </a:ext>
            </a:extLst>
          </p:cNvPr>
          <p:cNvSpPr>
            <a:spLocks xmlns:a="http://schemas.openxmlformats.org/drawingml/2006/main" noGrp="1"/>
          </p:cNvSpPr>
          <p:nvPr/>
        </p:nvSpPr>
        <p:spPr>
          <a:xfrm xmlns:a="http://schemas.openxmlformats.org/drawingml/2006/main">
            <a:off x="4319930" y="4279392"/>
            <a:ext cx="3551834" cy="20117"/>
          </a:xfrm>
          <a:prstGeom xmlns:a="http://schemas.openxmlformats.org/drawingml/2006/main" prst="rect">
            <a:avLst/>
          </a:prstGeom>
          <a:solidFill xmlns:a="http://schemas.openxmlformats.org/drawingml/2006/main">
            <a:srgbClr val="102A43"/>
          </a:solidFill>
        </p:spPr>
      </p:sp>
      <p:sp>
        <p:nvSpPr>
          <p:cNvPr id="54" name="Text 52">
            <a:extLst xmlns:a="http://schemas.openxmlformats.org/drawingml/2006/main">
              <a:ext uri="{FF2B5EF4-FFF2-40B4-BE49-F238E27FC236}">
                <a16:creationId xmlns:a16="http://schemas.microsoft.com/office/drawing/2014/main" id="{64A537C4-A0FF-45FE-8054-036D88011BAC}"/>
              </a:ext>
            </a:extLst>
          </p:cNvPr>
          <p:cNvSpPr>
            <a:spLocks xmlns:a="http://schemas.openxmlformats.org/drawingml/2006/main" noGrp="1"/>
          </p:cNvSpPr>
          <p:nvPr/>
        </p:nvSpPr>
        <p:spPr>
          <a:xfrm xmlns:a="http://schemas.openxmlformats.org/drawingml/2006/main">
            <a:off x="4319930" y="4407408"/>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two enabling layers, which carry most of the risk and a disproportionate share of the effort.</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Embedding inside the group super app, offline capture across a large low-connectivity field force, and a wide integration inventory.</a:t>
            </a:r>
            <a:endParaRPr sz="960"/>
          </a:p>
        </p:txBody>
      </p:sp>
      <p:sp>
        <p:nvSpPr>
          <p:cNvPr id="55" name="Text 53">
            <a:extLst xmlns:a="http://schemas.openxmlformats.org/drawingml/2006/main">
              <a:ext uri="{FF2B5EF4-FFF2-40B4-BE49-F238E27FC236}">
                <a16:creationId xmlns:a16="http://schemas.microsoft.com/office/drawing/2014/main" id="{B9F1D529-049D-4C8A-8A46-326EBE184FAC}"/>
              </a:ext>
            </a:extLst>
          </p:cNvPr>
          <p:cNvSpPr>
            <a:spLocks xmlns:a="http://schemas.openxmlformats.org/drawingml/2006/main" noGrp="1"/>
          </p:cNvSpPr>
          <p:nvPr/>
        </p:nvSpPr>
        <p:spPr>
          <a:xfrm xmlns:a="http://schemas.openxmlformats.org/drawingml/2006/main">
            <a:off x="8072933" y="402336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Where bids go wrong</a:t>
            </a:r>
            <a:endParaRPr sz="1100"/>
          </a:p>
        </p:txBody>
      </p:sp>
      <p:sp>
        <p:nvSpPr>
          <p:cNvPr id="56" name="Shape 54">
            <a:extLst xmlns:a="http://schemas.openxmlformats.org/drawingml/2006/main">
              <a:ext uri="{FF2B5EF4-FFF2-40B4-BE49-F238E27FC236}">
                <a16:creationId xmlns:a16="http://schemas.microsoft.com/office/drawing/2014/main" id="{3F62FB74-253B-4955-A3BA-11009A2AA581}"/>
              </a:ext>
            </a:extLst>
          </p:cNvPr>
          <p:cNvSpPr>
            <a:spLocks xmlns:a="http://schemas.openxmlformats.org/drawingml/2006/main" noGrp="1"/>
          </p:cNvSpPr>
          <p:nvPr/>
        </p:nvSpPr>
        <p:spPr>
          <a:xfrm xmlns:a="http://schemas.openxmlformats.org/drawingml/2006/main">
            <a:off x="8072933" y="4279392"/>
            <a:ext cx="3551834" cy="20117"/>
          </a:xfrm>
          <a:prstGeom xmlns:a="http://schemas.openxmlformats.org/drawingml/2006/main" prst="rect">
            <a:avLst/>
          </a:prstGeom>
          <a:solidFill xmlns:a="http://schemas.openxmlformats.org/drawingml/2006/main">
            <a:srgbClr val="486581"/>
          </a:solidFill>
        </p:spPr>
      </p:sp>
      <p:sp>
        <p:nvSpPr>
          <p:cNvPr id="57" name="Text 55">
            <a:extLst xmlns:a="http://schemas.openxmlformats.org/drawingml/2006/main">
              <a:ext uri="{FF2B5EF4-FFF2-40B4-BE49-F238E27FC236}">
                <a16:creationId xmlns:a16="http://schemas.microsoft.com/office/drawing/2014/main" id="{0A846706-0223-415F-854E-B58306793F7A}"/>
              </a:ext>
            </a:extLst>
          </p:cNvPr>
          <p:cNvSpPr>
            <a:spLocks xmlns:a="http://schemas.openxmlformats.org/drawingml/2006/main" noGrp="1"/>
          </p:cNvSpPr>
          <p:nvPr/>
        </p:nvSpPr>
        <p:spPr>
          <a:xfrm xmlns:a="http://schemas.openxmlformats.org/drawingml/2006/main">
            <a:off x="8072933" y="4407408"/>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Estimating from the functional domains, because that is what the document emphasises and what the demonstration shows.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Then discovering that the container integration, the offline model and the reporting feeds are the actual programme.</a:t>
            </a:r>
            <a:endParaRPr sz="960"/>
          </a:p>
        </p:txBody>
      </p:sp>
      <p:sp>
        <p:nvSpPr>
          <p:cNvPr id="58" name="Shape 56">
            <a:extLst xmlns:a="http://schemas.openxmlformats.org/drawingml/2006/main">
              <a:ext uri="{FF2B5EF4-FFF2-40B4-BE49-F238E27FC236}">
                <a16:creationId xmlns:a16="http://schemas.microsoft.com/office/drawing/2014/main" id="{6216E4DC-B73B-4457-AF65-33705C25E70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9" name="Text 57">
            <a:extLst xmlns:a="http://schemas.openxmlformats.org/drawingml/2006/main">
              <a:ext uri="{FF2B5EF4-FFF2-40B4-BE49-F238E27FC236}">
                <a16:creationId xmlns:a16="http://schemas.microsoft.com/office/drawing/2014/main" id="{5B10E7A7-0BD3-445B-BF78-D562E0C114A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scope of work and volumetrics as issued · author's analysis</a:t>
            </a:r>
            <a:endParaRPr sz="850"/>
          </a:p>
        </p:txBody>
      </p:sp>
      <p:sp>
        <p:nvSpPr>
          <p:cNvPr id="60" name="Text 58">
            <a:extLst xmlns:a="http://schemas.openxmlformats.org/drawingml/2006/main">
              <a:ext uri="{FF2B5EF4-FFF2-40B4-BE49-F238E27FC236}">
                <a16:creationId xmlns:a16="http://schemas.microsoft.com/office/drawing/2014/main" id="{080DE531-0015-4F98-B678-4874B013975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268320947"/>
      </p:ext>
    </p:extLst>
  </p:cSld>
</p:sld>
</file>

<file path=ppt/slides/slide1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4E1576-945A-4A37-B265-AA2FB6D7C62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FIT ASSESSMENT</a:t>
            </a:r>
            <a:endParaRPr sz="950"/>
          </a:p>
        </p:txBody>
      </p:sp>
      <p:sp>
        <p:nvSpPr>
          <p:cNvPr id="3" name="Text 1">
            <a:extLst xmlns:a="http://schemas.openxmlformats.org/drawingml/2006/main">
              <a:ext uri="{FF2B5EF4-FFF2-40B4-BE49-F238E27FC236}">
                <a16:creationId xmlns:a16="http://schemas.microsoft.com/office/drawing/2014/main" id="{C5F8EE37-6A5B-45DB-A04F-CA636C16C6B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requirements are native or configurable, three need genuine build, and one is</a:t>
            </a:r>
            <a:endParaRPr sz="1900"/>
          </a:p>
          <a:p xmlns:a="http://schemas.openxmlformats.org/drawingml/2006/main">
            <a:pPr marL="0" indent="0">
              <a:lnSpc>
                <a:spcPts val="2400"/>
              </a:lnSpc>
              <a:buNone/>
            </a:pPr>
            <a:r>
              <a:rPr sz="1900" b="1">
                <a:solidFill>
                  <a:srgbClr val="102A43"/>
                </a:solidFill>
                <a:latin typeface="Arial"/>
                <a:ea typeface="Arial"/>
                <a:cs typeface="Arial"/>
              </a:rPr>
              <a:t>not a technical question at all</a:t>
            </a:r>
            <a:endParaRPr sz="1900"/>
          </a:p>
        </p:txBody>
      </p:sp>
      <p:sp>
        <p:nvSpPr>
          <p:cNvPr id="4" name="Shape 2">
            <a:extLst xmlns:a="http://schemas.openxmlformats.org/drawingml/2006/main">
              <a:ext uri="{FF2B5EF4-FFF2-40B4-BE49-F238E27FC236}">
                <a16:creationId xmlns:a16="http://schemas.microsoft.com/office/drawing/2014/main" id="{90AB52BA-042D-468C-A8E8-9C880965858E}"/>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BD6FD4AA-204C-4316-B1AF-0D53F3A7D9BD}"/>
              </a:ext>
            </a:extLst>
          </p:cNvPr>
          <p:cNvSpPr>
            <a:spLocks xmlns:a="http://schemas.openxmlformats.org/drawingml/2006/main" noGrp="1"/>
          </p:cNvSpPr>
          <p:nvPr/>
        </p:nvSpPr>
        <p:spPr>
          <a:xfrm xmlns:a="http://schemas.openxmlformats.org/drawingml/2006/main">
            <a:off x="676656" y="1444752"/>
            <a:ext cx="37124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Requirement</a:t>
            </a:r>
            <a:endParaRPr sz="920"/>
          </a:p>
        </p:txBody>
      </p:sp>
      <p:sp>
        <p:nvSpPr>
          <p:cNvPr id="6" name="Text 4">
            <a:extLst xmlns:a="http://schemas.openxmlformats.org/drawingml/2006/main">
              <a:ext uri="{FF2B5EF4-FFF2-40B4-BE49-F238E27FC236}">
                <a16:creationId xmlns:a16="http://schemas.microsoft.com/office/drawing/2014/main" id="{28985372-E687-4D94-8FC2-24E60C143BAF}"/>
              </a:ext>
            </a:extLst>
          </p:cNvPr>
          <p:cNvSpPr>
            <a:spLocks xmlns:a="http://schemas.openxmlformats.org/drawingml/2006/main" noGrp="1"/>
          </p:cNvSpPr>
          <p:nvPr/>
        </p:nvSpPr>
        <p:spPr>
          <a:xfrm xmlns:a="http://schemas.openxmlformats.org/drawingml/2006/main">
            <a:off x="4700016" y="1444752"/>
            <a:ext cx="35295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Assessment</a:t>
            </a:r>
            <a:endParaRPr sz="920"/>
          </a:p>
        </p:txBody>
      </p:sp>
      <p:sp>
        <p:nvSpPr>
          <p:cNvPr id="7" name="Text 5">
            <a:extLst xmlns:a="http://schemas.openxmlformats.org/drawingml/2006/main">
              <a:ext uri="{FF2B5EF4-FFF2-40B4-BE49-F238E27FC236}">
                <a16:creationId xmlns:a16="http://schemas.microsoft.com/office/drawing/2014/main" id="{87E6FF9E-14D9-40E1-A9B6-A05A1BFC86DE}"/>
              </a:ext>
            </a:extLst>
          </p:cNvPr>
          <p:cNvSpPr>
            <a:spLocks xmlns:a="http://schemas.openxmlformats.org/drawingml/2006/main" noGrp="1"/>
          </p:cNvSpPr>
          <p:nvPr/>
        </p:nvSpPr>
        <p:spPr>
          <a:xfrm xmlns:a="http://schemas.openxmlformats.org/drawingml/2006/main">
            <a:off x="8540496" y="1444752"/>
            <a:ext cx="15179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Fit</a:t>
            </a:r>
            <a:endParaRPr sz="920"/>
          </a:p>
        </p:txBody>
      </p:sp>
      <p:sp>
        <p:nvSpPr>
          <p:cNvPr id="8" name="Text 6">
            <a:extLst xmlns:a="http://schemas.openxmlformats.org/drawingml/2006/main">
              <a:ext uri="{FF2B5EF4-FFF2-40B4-BE49-F238E27FC236}">
                <a16:creationId xmlns:a16="http://schemas.microsoft.com/office/drawing/2014/main" id="{74BD374F-C92B-4408-9579-8724914E17B6}"/>
              </a:ext>
            </a:extLst>
          </p:cNvPr>
          <p:cNvSpPr>
            <a:spLocks xmlns:a="http://schemas.openxmlformats.org/drawingml/2006/main" noGrp="1"/>
          </p:cNvSpPr>
          <p:nvPr/>
        </p:nvSpPr>
        <p:spPr>
          <a:xfrm xmlns:a="http://schemas.openxmlformats.org/drawingml/2006/main">
            <a:off x="10369296" y="1444752"/>
            <a:ext cx="1143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Risk</a:t>
            </a:r>
            <a:endParaRPr sz="920"/>
          </a:p>
        </p:txBody>
      </p:sp>
      <p:sp>
        <p:nvSpPr>
          <p:cNvPr id="9" name="Text 7">
            <a:extLst xmlns:a="http://schemas.openxmlformats.org/drawingml/2006/main">
              <a:ext uri="{FF2B5EF4-FFF2-40B4-BE49-F238E27FC236}">
                <a16:creationId xmlns:a16="http://schemas.microsoft.com/office/drawing/2014/main" id="{ADC30F6B-0FB4-48C4-8AF9-174D6CFDA1EB}"/>
              </a:ext>
            </a:extLst>
          </p:cNvPr>
          <p:cNvSpPr>
            <a:spLocks xmlns:a="http://schemas.openxmlformats.org/drawingml/2006/main" noGrp="1"/>
          </p:cNvSpPr>
          <p:nvPr/>
        </p:nvSpPr>
        <p:spPr>
          <a:xfrm xmlns:a="http://schemas.openxmlformats.org/drawingml/2006/main">
            <a:off x="676656" y="1755648"/>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Activity management</a:t>
            </a:r>
            <a:endParaRPr sz="960"/>
          </a:p>
        </p:txBody>
      </p:sp>
      <p:sp>
        <p:nvSpPr>
          <p:cNvPr id="10" name="Text 8">
            <a:extLst xmlns:a="http://schemas.openxmlformats.org/drawingml/2006/main">
              <a:ext uri="{FF2B5EF4-FFF2-40B4-BE49-F238E27FC236}">
                <a16:creationId xmlns:a16="http://schemas.microsoft.com/office/drawing/2014/main" id="{6D245F79-F67D-43C8-B2A6-5423BBDA0963}"/>
              </a:ext>
            </a:extLst>
          </p:cNvPr>
          <p:cNvSpPr>
            <a:spLocks xmlns:a="http://schemas.openxmlformats.org/drawingml/2006/main" noGrp="1"/>
          </p:cNvSpPr>
          <p:nvPr/>
        </p:nvSpPr>
        <p:spPr>
          <a:xfrm xmlns:a="http://schemas.openxmlformats.org/drawingml/2006/main">
            <a:off x="4700016" y="1755648"/>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Configuration-driven activity engine — catalogue, templates, SLAs, assignment rules</a:t>
            </a:r>
            <a:endParaRPr sz="920"/>
          </a:p>
        </p:txBody>
      </p:sp>
      <p:sp>
        <p:nvSpPr>
          <p:cNvPr id="11" name="Shape 9">
            <a:extLst xmlns:a="http://schemas.openxmlformats.org/drawingml/2006/main">
              <a:ext uri="{FF2B5EF4-FFF2-40B4-BE49-F238E27FC236}">
                <a16:creationId xmlns:a16="http://schemas.microsoft.com/office/drawing/2014/main" id="{FEE791B3-2F19-49E7-A9D8-C35E007F7930}"/>
              </a:ext>
            </a:extLst>
          </p:cNvPr>
          <p:cNvSpPr>
            <a:spLocks xmlns:a="http://schemas.openxmlformats.org/drawingml/2006/main" noGrp="1"/>
          </p:cNvSpPr>
          <p:nvPr/>
        </p:nvSpPr>
        <p:spPr>
          <a:xfrm xmlns:a="http://schemas.openxmlformats.org/drawingml/2006/main">
            <a:off x="8430768" y="1773936"/>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12" name="Text 10">
            <a:extLst xmlns:a="http://schemas.openxmlformats.org/drawingml/2006/main">
              <a:ext uri="{FF2B5EF4-FFF2-40B4-BE49-F238E27FC236}">
                <a16:creationId xmlns:a16="http://schemas.microsoft.com/office/drawing/2014/main" id="{7DF1A552-30AB-4F1F-8196-FEBBCF365025}"/>
              </a:ext>
            </a:extLst>
          </p:cNvPr>
          <p:cNvSpPr>
            <a:spLocks xmlns:a="http://schemas.openxmlformats.org/drawingml/2006/main" noGrp="1"/>
          </p:cNvSpPr>
          <p:nvPr/>
        </p:nvSpPr>
        <p:spPr>
          <a:xfrm xmlns:a="http://schemas.openxmlformats.org/drawingml/2006/main">
            <a:off x="8430768" y="1805940"/>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NATIVE</a:t>
            </a:r>
            <a:endParaRPr sz="820"/>
          </a:p>
        </p:txBody>
      </p:sp>
      <p:sp>
        <p:nvSpPr>
          <p:cNvPr id="13" name="Text 11">
            <a:extLst xmlns:a="http://schemas.openxmlformats.org/drawingml/2006/main">
              <a:ext uri="{FF2B5EF4-FFF2-40B4-BE49-F238E27FC236}">
                <a16:creationId xmlns:a16="http://schemas.microsoft.com/office/drawing/2014/main" id="{213E2BBD-FEEF-4108-A89F-923DFDC84BF1}"/>
              </a:ext>
            </a:extLst>
          </p:cNvPr>
          <p:cNvSpPr>
            <a:spLocks xmlns:a="http://schemas.openxmlformats.org/drawingml/2006/main" noGrp="1"/>
          </p:cNvSpPr>
          <p:nvPr/>
        </p:nvSpPr>
        <p:spPr>
          <a:xfrm xmlns:a="http://schemas.openxmlformats.org/drawingml/2006/main">
            <a:off x="10369296" y="1755648"/>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Low</a:t>
            </a:r>
            <a:endParaRPr sz="940"/>
          </a:p>
        </p:txBody>
      </p:sp>
      <p:sp>
        <p:nvSpPr>
          <p:cNvPr id="14" name="Shape 12">
            <a:extLst xmlns:a="http://schemas.openxmlformats.org/drawingml/2006/main">
              <a:ext uri="{FF2B5EF4-FFF2-40B4-BE49-F238E27FC236}">
                <a16:creationId xmlns:a16="http://schemas.microsoft.com/office/drawing/2014/main" id="{A3C71B6F-134D-4EA3-B200-5B48DF39D7C5}"/>
              </a:ext>
            </a:extLst>
          </p:cNvPr>
          <p:cNvSpPr>
            <a:spLocks xmlns:a="http://schemas.openxmlformats.org/drawingml/2006/main" noGrp="1"/>
          </p:cNvSpPr>
          <p:nvPr/>
        </p:nvSpPr>
        <p:spPr>
          <a:xfrm xmlns:a="http://schemas.openxmlformats.org/drawingml/2006/main">
            <a:off x="566928" y="2084832"/>
            <a:ext cx="11057839" cy="7315"/>
          </a:xfrm>
          <a:prstGeom xmlns:a="http://schemas.openxmlformats.org/drawingml/2006/main" prst="rect">
            <a:avLst/>
          </a:prstGeom>
          <a:solidFill xmlns:a="http://schemas.openxmlformats.org/drawingml/2006/main">
            <a:srgbClr val="CBD5E0"/>
          </a:solidFill>
        </p:spPr>
      </p:sp>
      <p:sp>
        <p:nvSpPr>
          <p:cNvPr id="15" name="Shape 13">
            <a:extLst xmlns:a="http://schemas.openxmlformats.org/drawingml/2006/main">
              <a:ext uri="{FF2B5EF4-FFF2-40B4-BE49-F238E27FC236}">
                <a16:creationId xmlns:a16="http://schemas.microsoft.com/office/drawing/2014/main" id="{C24C04A8-1E71-47BC-89EA-9986C4B21448}"/>
              </a:ext>
            </a:extLst>
          </p:cNvPr>
          <p:cNvSpPr>
            <a:spLocks xmlns:a="http://schemas.openxmlformats.org/drawingml/2006/main" noGrp="1"/>
          </p:cNvSpPr>
          <p:nvPr/>
        </p:nvSpPr>
        <p:spPr>
          <a:xfrm xmlns:a="http://schemas.openxmlformats.org/drawingml/2006/main">
            <a:off x="566928" y="2084832"/>
            <a:ext cx="11057839" cy="384048"/>
          </a:xfrm>
          <a:prstGeom xmlns:a="http://schemas.openxmlformats.org/drawingml/2006/main" prst="rect">
            <a:avLst/>
          </a:prstGeom>
          <a:solidFill xmlns:a="http://schemas.openxmlformats.org/drawingml/2006/main">
            <a:srgbClr val="F7F9FB"/>
          </a:solidFill>
        </p:spPr>
      </p:sp>
      <p:sp>
        <p:nvSpPr>
          <p:cNvPr id="16" name="Text 14">
            <a:extLst xmlns:a="http://schemas.openxmlformats.org/drawingml/2006/main">
              <a:ext uri="{FF2B5EF4-FFF2-40B4-BE49-F238E27FC236}">
                <a16:creationId xmlns:a16="http://schemas.microsoft.com/office/drawing/2014/main" id="{5BDAD0E6-F2D5-4BAE-BE1E-82AA7D575150}"/>
              </a:ext>
            </a:extLst>
          </p:cNvPr>
          <p:cNvSpPr>
            <a:spLocks xmlns:a="http://schemas.openxmlformats.org/drawingml/2006/main" noGrp="1"/>
          </p:cNvSpPr>
          <p:nvPr/>
        </p:nvSpPr>
        <p:spPr>
          <a:xfrm xmlns:a="http://schemas.openxmlformats.org/drawingml/2006/main">
            <a:off x="676656" y="213969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Lead management</a:t>
            </a:r>
            <a:endParaRPr sz="960"/>
          </a:p>
        </p:txBody>
      </p:sp>
      <p:sp>
        <p:nvSpPr>
          <p:cNvPr id="17" name="Text 15">
            <a:extLst xmlns:a="http://schemas.openxmlformats.org/drawingml/2006/main">
              <a:ext uri="{FF2B5EF4-FFF2-40B4-BE49-F238E27FC236}">
                <a16:creationId xmlns:a16="http://schemas.microsoft.com/office/drawing/2014/main" id="{C572FCB7-E147-4C8A-AC2C-06DC6EC47ACC}"/>
              </a:ext>
            </a:extLst>
          </p:cNvPr>
          <p:cNvSpPr>
            <a:spLocks xmlns:a="http://schemas.openxmlformats.org/drawingml/2006/main" noGrp="1"/>
          </p:cNvSpPr>
          <p:nvPr/>
        </p:nvSpPr>
        <p:spPr>
          <a:xfrm xmlns:a="http://schemas.openxmlformats.org/drawingml/2006/main">
            <a:off x="4700016" y="2139696"/>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Ingestion, deduplication, allocation rule engine, lifecycle and recycling — product core</a:t>
            </a:r>
            <a:endParaRPr sz="920"/>
          </a:p>
        </p:txBody>
      </p:sp>
      <p:sp>
        <p:nvSpPr>
          <p:cNvPr id="18" name="Shape 16">
            <a:extLst xmlns:a="http://schemas.openxmlformats.org/drawingml/2006/main">
              <a:ext uri="{FF2B5EF4-FFF2-40B4-BE49-F238E27FC236}">
                <a16:creationId xmlns:a16="http://schemas.microsoft.com/office/drawing/2014/main" id="{2DC701C5-6962-4987-8BA2-F69225A14F48}"/>
              </a:ext>
            </a:extLst>
          </p:cNvPr>
          <p:cNvSpPr>
            <a:spLocks xmlns:a="http://schemas.openxmlformats.org/drawingml/2006/main" noGrp="1"/>
          </p:cNvSpPr>
          <p:nvPr/>
        </p:nvSpPr>
        <p:spPr>
          <a:xfrm xmlns:a="http://schemas.openxmlformats.org/drawingml/2006/main">
            <a:off x="8430768" y="2157984"/>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19" name="Text 17">
            <a:extLst xmlns:a="http://schemas.openxmlformats.org/drawingml/2006/main">
              <a:ext uri="{FF2B5EF4-FFF2-40B4-BE49-F238E27FC236}">
                <a16:creationId xmlns:a16="http://schemas.microsoft.com/office/drawing/2014/main" id="{B8FCC892-5026-4841-8D3A-B11B50A85097}"/>
              </a:ext>
            </a:extLst>
          </p:cNvPr>
          <p:cNvSpPr>
            <a:spLocks xmlns:a="http://schemas.openxmlformats.org/drawingml/2006/main" noGrp="1"/>
          </p:cNvSpPr>
          <p:nvPr/>
        </p:nvSpPr>
        <p:spPr>
          <a:xfrm xmlns:a="http://schemas.openxmlformats.org/drawingml/2006/main">
            <a:off x="8430768" y="2189988"/>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NATIVE</a:t>
            </a:r>
            <a:endParaRPr sz="820"/>
          </a:p>
        </p:txBody>
      </p:sp>
      <p:sp>
        <p:nvSpPr>
          <p:cNvPr id="20" name="Text 18">
            <a:extLst xmlns:a="http://schemas.openxmlformats.org/drawingml/2006/main">
              <a:ext uri="{FF2B5EF4-FFF2-40B4-BE49-F238E27FC236}">
                <a16:creationId xmlns:a16="http://schemas.microsoft.com/office/drawing/2014/main" id="{6A11F2D1-F7FB-4397-85BA-D8BA51C4A417}"/>
              </a:ext>
            </a:extLst>
          </p:cNvPr>
          <p:cNvSpPr>
            <a:spLocks xmlns:a="http://schemas.openxmlformats.org/drawingml/2006/main" noGrp="1"/>
          </p:cNvSpPr>
          <p:nvPr/>
        </p:nvSpPr>
        <p:spPr>
          <a:xfrm xmlns:a="http://schemas.openxmlformats.org/drawingml/2006/main">
            <a:off x="10369296" y="2139696"/>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Low</a:t>
            </a:r>
            <a:endParaRPr sz="940"/>
          </a:p>
        </p:txBody>
      </p:sp>
      <p:sp>
        <p:nvSpPr>
          <p:cNvPr id="21" name="Shape 19">
            <a:extLst xmlns:a="http://schemas.openxmlformats.org/drawingml/2006/main">
              <a:ext uri="{FF2B5EF4-FFF2-40B4-BE49-F238E27FC236}">
                <a16:creationId xmlns:a16="http://schemas.microsoft.com/office/drawing/2014/main" id="{948303EF-B90C-4D2A-BB83-0F7E43D00A91}"/>
              </a:ext>
            </a:extLst>
          </p:cNvPr>
          <p:cNvSpPr>
            <a:spLocks xmlns:a="http://schemas.openxmlformats.org/drawingml/2006/main" noGrp="1"/>
          </p:cNvSpPr>
          <p:nvPr/>
        </p:nvSpPr>
        <p:spPr>
          <a:xfrm xmlns:a="http://schemas.openxmlformats.org/drawingml/2006/main">
            <a:off x="566928" y="2468880"/>
            <a:ext cx="11057839" cy="7315"/>
          </a:xfrm>
          <a:prstGeom xmlns:a="http://schemas.openxmlformats.org/drawingml/2006/main" prst="rect">
            <a:avLst/>
          </a:prstGeom>
          <a:solidFill xmlns:a="http://schemas.openxmlformats.org/drawingml/2006/main">
            <a:srgbClr val="CBD5E0"/>
          </a:solidFill>
        </p:spPr>
      </p:sp>
      <p:sp>
        <p:nvSpPr>
          <p:cNvPr id="22" name="Text 20">
            <a:extLst xmlns:a="http://schemas.openxmlformats.org/drawingml/2006/main">
              <a:ext uri="{FF2B5EF4-FFF2-40B4-BE49-F238E27FC236}">
                <a16:creationId xmlns:a16="http://schemas.microsoft.com/office/drawing/2014/main" id="{BE8602A6-5F50-46CC-A2FE-C4AE972C7BD6}"/>
              </a:ext>
            </a:extLst>
          </p:cNvPr>
          <p:cNvSpPr>
            <a:spLocks xmlns:a="http://schemas.openxmlformats.org/drawingml/2006/main" noGrp="1"/>
          </p:cNvSpPr>
          <p:nvPr/>
        </p:nvSpPr>
        <p:spPr>
          <a:xfrm xmlns:a="http://schemas.openxmlformats.org/drawingml/2006/main">
            <a:off x="676656" y="252374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No-code configurability</a:t>
            </a:r>
            <a:endParaRPr sz="960"/>
          </a:p>
        </p:txBody>
      </p:sp>
      <p:sp>
        <p:nvSpPr>
          <p:cNvPr id="23" name="Text 21">
            <a:extLst xmlns:a="http://schemas.openxmlformats.org/drawingml/2006/main">
              <a:ext uri="{FF2B5EF4-FFF2-40B4-BE49-F238E27FC236}">
                <a16:creationId xmlns:a16="http://schemas.microsoft.com/office/drawing/2014/main" id="{F2453904-331F-4C83-BC2A-1FBD0F01593C}"/>
              </a:ext>
            </a:extLst>
          </p:cNvPr>
          <p:cNvSpPr>
            <a:spLocks xmlns:a="http://schemas.openxmlformats.org/drawingml/2006/main" noGrp="1"/>
          </p:cNvSpPr>
          <p:nvPr/>
        </p:nvSpPr>
        <p:spPr>
          <a:xfrm xmlns:a="http://schemas.openxmlformats.org/drawingml/2006/main">
            <a:off x="4700016" y="2523744"/>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Field, workflow and rule configuration via admin; changes in days rather than releases</a:t>
            </a:r>
            <a:endParaRPr sz="920"/>
          </a:p>
        </p:txBody>
      </p:sp>
      <p:sp>
        <p:nvSpPr>
          <p:cNvPr id="24" name="Shape 22">
            <a:extLst xmlns:a="http://schemas.openxmlformats.org/drawingml/2006/main">
              <a:ext uri="{FF2B5EF4-FFF2-40B4-BE49-F238E27FC236}">
                <a16:creationId xmlns:a16="http://schemas.microsoft.com/office/drawing/2014/main" id="{3733DC48-FF70-4039-BCBD-DFCFBB64E2FE}"/>
              </a:ext>
            </a:extLst>
          </p:cNvPr>
          <p:cNvSpPr>
            <a:spLocks xmlns:a="http://schemas.openxmlformats.org/drawingml/2006/main" noGrp="1"/>
          </p:cNvSpPr>
          <p:nvPr/>
        </p:nvSpPr>
        <p:spPr>
          <a:xfrm xmlns:a="http://schemas.openxmlformats.org/drawingml/2006/main">
            <a:off x="8430768" y="2542032"/>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25" name="Text 23">
            <a:extLst xmlns:a="http://schemas.openxmlformats.org/drawingml/2006/main">
              <a:ext uri="{FF2B5EF4-FFF2-40B4-BE49-F238E27FC236}">
                <a16:creationId xmlns:a16="http://schemas.microsoft.com/office/drawing/2014/main" id="{C1030636-BBD8-493C-BF87-654D598377E9}"/>
              </a:ext>
            </a:extLst>
          </p:cNvPr>
          <p:cNvSpPr>
            <a:spLocks xmlns:a="http://schemas.openxmlformats.org/drawingml/2006/main" noGrp="1"/>
          </p:cNvSpPr>
          <p:nvPr/>
        </p:nvSpPr>
        <p:spPr>
          <a:xfrm xmlns:a="http://schemas.openxmlformats.org/drawingml/2006/main">
            <a:off x="8430768" y="2574036"/>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NATIVE</a:t>
            </a:r>
            <a:endParaRPr sz="820"/>
          </a:p>
        </p:txBody>
      </p:sp>
      <p:sp>
        <p:nvSpPr>
          <p:cNvPr id="26" name="Text 24">
            <a:extLst xmlns:a="http://schemas.openxmlformats.org/drawingml/2006/main">
              <a:ext uri="{FF2B5EF4-FFF2-40B4-BE49-F238E27FC236}">
                <a16:creationId xmlns:a16="http://schemas.microsoft.com/office/drawing/2014/main" id="{AB11FC76-7060-4C85-9AA5-98D76DFE28C0}"/>
              </a:ext>
            </a:extLst>
          </p:cNvPr>
          <p:cNvSpPr>
            <a:spLocks xmlns:a="http://schemas.openxmlformats.org/drawingml/2006/main" noGrp="1"/>
          </p:cNvSpPr>
          <p:nvPr/>
        </p:nvSpPr>
        <p:spPr>
          <a:xfrm xmlns:a="http://schemas.openxmlformats.org/drawingml/2006/main">
            <a:off x="10369296" y="252374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Low</a:t>
            </a:r>
            <a:endParaRPr sz="940"/>
          </a:p>
        </p:txBody>
      </p:sp>
      <p:sp>
        <p:nvSpPr>
          <p:cNvPr id="27" name="Shape 25">
            <a:extLst xmlns:a="http://schemas.openxmlformats.org/drawingml/2006/main">
              <a:ext uri="{FF2B5EF4-FFF2-40B4-BE49-F238E27FC236}">
                <a16:creationId xmlns:a16="http://schemas.microsoft.com/office/drawing/2014/main" id="{A9E26795-5FA1-496B-A7E5-52D498E63ACC}"/>
              </a:ext>
            </a:extLst>
          </p:cNvPr>
          <p:cNvSpPr>
            <a:spLocks xmlns:a="http://schemas.openxmlformats.org/drawingml/2006/main" noGrp="1"/>
          </p:cNvSpPr>
          <p:nvPr/>
        </p:nvSpPr>
        <p:spPr>
          <a:xfrm xmlns:a="http://schemas.openxmlformats.org/drawingml/2006/main">
            <a:off x="566928" y="2852928"/>
            <a:ext cx="11057839" cy="7315"/>
          </a:xfrm>
          <a:prstGeom xmlns:a="http://schemas.openxmlformats.org/drawingml/2006/main" prst="rect">
            <a:avLst/>
          </a:prstGeom>
          <a:solidFill xmlns:a="http://schemas.openxmlformats.org/drawingml/2006/main">
            <a:srgbClr val="CBD5E0"/>
          </a:solidFill>
        </p:spPr>
      </p:sp>
      <p:sp>
        <p:nvSpPr>
          <p:cNvPr id="28" name="Shape 26">
            <a:extLst xmlns:a="http://schemas.openxmlformats.org/drawingml/2006/main">
              <a:ext uri="{FF2B5EF4-FFF2-40B4-BE49-F238E27FC236}">
                <a16:creationId xmlns:a16="http://schemas.microsoft.com/office/drawing/2014/main" id="{9AD63141-EE71-4BEB-8F3E-AC9221D32EEC}"/>
              </a:ext>
            </a:extLst>
          </p:cNvPr>
          <p:cNvSpPr>
            <a:spLocks xmlns:a="http://schemas.openxmlformats.org/drawingml/2006/main" noGrp="1"/>
          </p:cNvSpPr>
          <p:nvPr/>
        </p:nvSpPr>
        <p:spPr>
          <a:xfrm xmlns:a="http://schemas.openxmlformats.org/drawingml/2006/main">
            <a:off x="566928" y="2852928"/>
            <a:ext cx="11057839" cy="384048"/>
          </a:xfrm>
          <a:prstGeom xmlns:a="http://schemas.openxmlformats.org/drawingml/2006/main" prst="rect">
            <a:avLst/>
          </a:prstGeom>
          <a:solidFill xmlns:a="http://schemas.openxmlformats.org/drawingml/2006/main">
            <a:srgbClr val="F7F9FB"/>
          </a:solidFill>
        </p:spPr>
      </p:sp>
      <p:sp>
        <p:nvSpPr>
          <p:cNvPr id="29" name="Text 27">
            <a:extLst xmlns:a="http://schemas.openxmlformats.org/drawingml/2006/main">
              <a:ext uri="{FF2B5EF4-FFF2-40B4-BE49-F238E27FC236}">
                <a16:creationId xmlns:a16="http://schemas.microsoft.com/office/drawing/2014/main" id="{67FE389F-E028-41A6-BEDA-18A10273950E}"/>
              </a:ext>
            </a:extLst>
          </p:cNvPr>
          <p:cNvSpPr>
            <a:spLocks xmlns:a="http://schemas.openxmlformats.org/drawingml/2006/main" noGrp="1"/>
          </p:cNvSpPr>
          <p:nvPr/>
        </p:nvSpPr>
        <p:spPr>
          <a:xfrm xmlns:a="http://schemas.openxmlformats.org/drawingml/2006/main">
            <a:off x="676656" y="2907792"/>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Renewal, free-look, grievance</a:t>
            </a:r>
            <a:endParaRPr sz="960"/>
          </a:p>
        </p:txBody>
      </p:sp>
      <p:sp>
        <p:nvSpPr>
          <p:cNvPr id="30" name="Text 28">
            <a:extLst xmlns:a="http://schemas.openxmlformats.org/drawingml/2006/main">
              <a:ext uri="{FF2B5EF4-FFF2-40B4-BE49-F238E27FC236}">
                <a16:creationId xmlns:a16="http://schemas.microsoft.com/office/drawing/2014/main" id="{B97ED3FF-4D4A-41C8-BBF8-F5ABCBA822E3}"/>
              </a:ext>
            </a:extLst>
          </p:cNvPr>
          <p:cNvSpPr>
            <a:spLocks xmlns:a="http://schemas.openxmlformats.org/drawingml/2006/main" noGrp="1"/>
          </p:cNvSpPr>
          <p:nvPr/>
        </p:nvSpPr>
        <p:spPr>
          <a:xfrm xmlns:a="http://schemas.openxmlformats.org/drawingml/2006/main">
            <a:off x="4700016" y="2907792"/>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Lead model extends to renewals; disposition, bulk upload and suppression</a:t>
            </a:r>
            <a:endParaRPr sz="920"/>
          </a:p>
        </p:txBody>
      </p:sp>
      <p:sp>
        <p:nvSpPr>
          <p:cNvPr id="31" name="Shape 29">
            <a:extLst xmlns:a="http://schemas.openxmlformats.org/drawingml/2006/main">
              <a:ext uri="{FF2B5EF4-FFF2-40B4-BE49-F238E27FC236}">
                <a16:creationId xmlns:a16="http://schemas.microsoft.com/office/drawing/2014/main" id="{5C0CAA9D-FC4F-4D58-A6A5-6CA7BE4252BE}"/>
              </a:ext>
            </a:extLst>
          </p:cNvPr>
          <p:cNvSpPr>
            <a:spLocks xmlns:a="http://schemas.openxmlformats.org/drawingml/2006/main" noGrp="1"/>
          </p:cNvSpPr>
          <p:nvPr/>
        </p:nvSpPr>
        <p:spPr>
          <a:xfrm xmlns:a="http://schemas.openxmlformats.org/drawingml/2006/main">
            <a:off x="8430768" y="2926080"/>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32" name="Text 30">
            <a:extLst xmlns:a="http://schemas.openxmlformats.org/drawingml/2006/main">
              <a:ext uri="{FF2B5EF4-FFF2-40B4-BE49-F238E27FC236}">
                <a16:creationId xmlns:a16="http://schemas.microsoft.com/office/drawing/2014/main" id="{589F307F-554F-4821-B8D0-CC4A1A8D5FF2}"/>
              </a:ext>
            </a:extLst>
          </p:cNvPr>
          <p:cNvSpPr>
            <a:spLocks xmlns:a="http://schemas.openxmlformats.org/drawingml/2006/main" noGrp="1"/>
          </p:cNvSpPr>
          <p:nvPr/>
        </p:nvSpPr>
        <p:spPr>
          <a:xfrm xmlns:a="http://schemas.openxmlformats.org/drawingml/2006/main">
            <a:off x="8430768" y="2958084"/>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CONFIGURABLE</a:t>
            </a:r>
            <a:endParaRPr sz="820"/>
          </a:p>
        </p:txBody>
      </p:sp>
      <p:sp>
        <p:nvSpPr>
          <p:cNvPr id="33" name="Text 31">
            <a:extLst xmlns:a="http://schemas.openxmlformats.org/drawingml/2006/main">
              <a:ext uri="{FF2B5EF4-FFF2-40B4-BE49-F238E27FC236}">
                <a16:creationId xmlns:a16="http://schemas.microsoft.com/office/drawing/2014/main" id="{65F10FFF-E1AD-4482-810C-DE1F6C5CA1DE}"/>
              </a:ext>
            </a:extLst>
          </p:cNvPr>
          <p:cNvSpPr>
            <a:spLocks xmlns:a="http://schemas.openxmlformats.org/drawingml/2006/main" noGrp="1"/>
          </p:cNvSpPr>
          <p:nvPr/>
        </p:nvSpPr>
        <p:spPr>
          <a:xfrm xmlns:a="http://schemas.openxmlformats.org/drawingml/2006/main">
            <a:off x="10369296" y="2907792"/>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Low</a:t>
            </a:r>
            <a:endParaRPr sz="940"/>
          </a:p>
        </p:txBody>
      </p:sp>
      <p:sp>
        <p:nvSpPr>
          <p:cNvPr id="34" name="Shape 32">
            <a:extLst xmlns:a="http://schemas.openxmlformats.org/drawingml/2006/main">
              <a:ext uri="{FF2B5EF4-FFF2-40B4-BE49-F238E27FC236}">
                <a16:creationId xmlns:a16="http://schemas.microsoft.com/office/drawing/2014/main" id="{1B3F6B85-23D7-43CE-9E11-5B94799F9C85}"/>
              </a:ext>
            </a:extLst>
          </p:cNvPr>
          <p:cNvSpPr>
            <a:spLocks xmlns:a="http://schemas.openxmlformats.org/drawingml/2006/main" noGrp="1"/>
          </p:cNvSpPr>
          <p:nvPr/>
        </p:nvSpPr>
        <p:spPr>
          <a:xfrm xmlns:a="http://schemas.openxmlformats.org/drawingml/2006/main">
            <a:off x="566928" y="3236976"/>
            <a:ext cx="11057839" cy="7315"/>
          </a:xfrm>
          <a:prstGeom xmlns:a="http://schemas.openxmlformats.org/drawingml/2006/main" prst="rect">
            <a:avLst/>
          </a:prstGeom>
          <a:solidFill xmlns:a="http://schemas.openxmlformats.org/drawingml/2006/main">
            <a:srgbClr val="CBD5E0"/>
          </a:solidFill>
        </p:spPr>
      </p:sp>
      <p:sp>
        <p:nvSpPr>
          <p:cNvPr id="35" name="Text 33">
            <a:extLst xmlns:a="http://schemas.openxmlformats.org/drawingml/2006/main">
              <a:ext uri="{FF2B5EF4-FFF2-40B4-BE49-F238E27FC236}">
                <a16:creationId xmlns:a16="http://schemas.microsoft.com/office/drawing/2014/main" id="{EEBF080F-726D-4CAF-A66A-7721C2831397}"/>
              </a:ext>
            </a:extLst>
          </p:cNvPr>
          <p:cNvSpPr>
            <a:spLocks xmlns:a="http://schemas.openxmlformats.org/drawingml/2006/main" noGrp="1"/>
          </p:cNvSpPr>
          <p:nvPr/>
        </p:nvSpPr>
        <p:spPr>
          <a:xfrm xmlns:a="http://schemas.openxmlformats.org/drawingml/2006/main">
            <a:off x="676656" y="329184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Integration inventory</a:t>
            </a:r>
            <a:endParaRPr sz="960"/>
          </a:p>
        </p:txBody>
      </p:sp>
      <p:sp>
        <p:nvSpPr>
          <p:cNvPr id="36" name="Text 34">
            <a:extLst xmlns:a="http://schemas.openxmlformats.org/drawingml/2006/main">
              <a:ext uri="{FF2B5EF4-FFF2-40B4-BE49-F238E27FC236}">
                <a16:creationId xmlns:a16="http://schemas.microsoft.com/office/drawing/2014/main" id="{D8346683-4DD7-4BCC-AB36-49F7AE949C2B}"/>
              </a:ext>
            </a:extLst>
          </p:cNvPr>
          <p:cNvSpPr>
            <a:spLocks xmlns:a="http://schemas.openxmlformats.org/drawingml/2006/main" noGrp="1"/>
          </p:cNvSpPr>
          <p:nvPr/>
        </p:nvSpPr>
        <p:spPr>
          <a:xfrm xmlns:a="http://schemas.openxmlformats.org/drawingml/2006/main">
            <a:off x="4700016" y="3291840"/>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Interface-first connectors, gateway and queues across the app estate</a:t>
            </a:r>
            <a:endParaRPr sz="920"/>
          </a:p>
        </p:txBody>
      </p:sp>
      <p:sp>
        <p:nvSpPr>
          <p:cNvPr id="37" name="Shape 35">
            <a:extLst xmlns:a="http://schemas.openxmlformats.org/drawingml/2006/main">
              <a:ext uri="{FF2B5EF4-FFF2-40B4-BE49-F238E27FC236}">
                <a16:creationId xmlns:a16="http://schemas.microsoft.com/office/drawing/2014/main" id="{3D99C711-ABB6-49AC-A670-5F455DE228EB}"/>
              </a:ext>
            </a:extLst>
          </p:cNvPr>
          <p:cNvSpPr>
            <a:spLocks xmlns:a="http://schemas.openxmlformats.org/drawingml/2006/main" noGrp="1"/>
          </p:cNvSpPr>
          <p:nvPr/>
        </p:nvSpPr>
        <p:spPr>
          <a:xfrm xmlns:a="http://schemas.openxmlformats.org/drawingml/2006/main">
            <a:off x="8430768" y="3310128"/>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38" name="Text 36">
            <a:extLst xmlns:a="http://schemas.openxmlformats.org/drawingml/2006/main">
              <a:ext uri="{FF2B5EF4-FFF2-40B4-BE49-F238E27FC236}">
                <a16:creationId xmlns:a16="http://schemas.microsoft.com/office/drawing/2014/main" id="{89F0A7A7-A24B-4A84-B167-5D59BC5D860B}"/>
              </a:ext>
            </a:extLst>
          </p:cNvPr>
          <p:cNvSpPr>
            <a:spLocks xmlns:a="http://schemas.openxmlformats.org/drawingml/2006/main" noGrp="1"/>
          </p:cNvSpPr>
          <p:nvPr/>
        </p:nvSpPr>
        <p:spPr>
          <a:xfrm xmlns:a="http://schemas.openxmlformats.org/drawingml/2006/main">
            <a:off x="8430768" y="3342132"/>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CONFIGURABLE</a:t>
            </a:r>
            <a:endParaRPr sz="820"/>
          </a:p>
        </p:txBody>
      </p:sp>
      <p:sp>
        <p:nvSpPr>
          <p:cNvPr id="39" name="Text 37">
            <a:extLst xmlns:a="http://schemas.openxmlformats.org/drawingml/2006/main">
              <a:ext uri="{FF2B5EF4-FFF2-40B4-BE49-F238E27FC236}">
                <a16:creationId xmlns:a16="http://schemas.microsoft.com/office/drawing/2014/main" id="{5FBE79F7-AEB0-4303-A821-94524024383A}"/>
              </a:ext>
            </a:extLst>
          </p:cNvPr>
          <p:cNvSpPr>
            <a:spLocks xmlns:a="http://schemas.openxmlformats.org/drawingml/2006/main" noGrp="1"/>
          </p:cNvSpPr>
          <p:nvPr/>
        </p:nvSpPr>
        <p:spPr>
          <a:xfrm xmlns:a="http://schemas.openxmlformats.org/drawingml/2006/main">
            <a:off x="10369296" y="3291840"/>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Medium</a:t>
            </a:r>
            <a:endParaRPr sz="940"/>
          </a:p>
        </p:txBody>
      </p:sp>
      <p:sp>
        <p:nvSpPr>
          <p:cNvPr id="40" name="Shape 38">
            <a:extLst xmlns:a="http://schemas.openxmlformats.org/drawingml/2006/main">
              <a:ext uri="{FF2B5EF4-FFF2-40B4-BE49-F238E27FC236}">
                <a16:creationId xmlns:a16="http://schemas.microsoft.com/office/drawing/2014/main" id="{D689FB8E-44D7-4305-87EF-7E3894C13422}"/>
              </a:ext>
            </a:extLst>
          </p:cNvPr>
          <p:cNvSpPr>
            <a:spLocks xmlns:a="http://schemas.openxmlformats.org/drawingml/2006/main" noGrp="1"/>
          </p:cNvSpPr>
          <p:nvPr/>
        </p:nvSpPr>
        <p:spPr>
          <a:xfrm xmlns:a="http://schemas.openxmlformats.org/drawingml/2006/main">
            <a:off x="566928" y="3621024"/>
            <a:ext cx="11057839" cy="7315"/>
          </a:xfrm>
          <a:prstGeom xmlns:a="http://schemas.openxmlformats.org/drawingml/2006/main" prst="rect">
            <a:avLst/>
          </a:prstGeom>
          <a:solidFill xmlns:a="http://schemas.openxmlformats.org/drawingml/2006/main">
            <a:srgbClr val="CBD5E0"/>
          </a:solidFill>
        </p:spPr>
      </p:sp>
      <p:sp>
        <p:nvSpPr>
          <p:cNvPr id="41" name="Shape 39">
            <a:extLst xmlns:a="http://schemas.openxmlformats.org/drawingml/2006/main">
              <a:ext uri="{FF2B5EF4-FFF2-40B4-BE49-F238E27FC236}">
                <a16:creationId xmlns:a16="http://schemas.microsoft.com/office/drawing/2014/main" id="{F86E6B53-62A2-4674-B9DE-8924653DBCA3}"/>
              </a:ext>
            </a:extLst>
          </p:cNvPr>
          <p:cNvSpPr>
            <a:spLocks xmlns:a="http://schemas.openxmlformats.org/drawingml/2006/main" noGrp="1"/>
          </p:cNvSpPr>
          <p:nvPr/>
        </p:nvSpPr>
        <p:spPr>
          <a:xfrm xmlns:a="http://schemas.openxmlformats.org/drawingml/2006/main">
            <a:off x="566928" y="3621024"/>
            <a:ext cx="11057839" cy="384048"/>
          </a:xfrm>
          <a:prstGeom xmlns:a="http://schemas.openxmlformats.org/drawingml/2006/main" prst="rect">
            <a:avLst/>
          </a:prstGeom>
          <a:solidFill xmlns:a="http://schemas.openxmlformats.org/drawingml/2006/main">
            <a:srgbClr val="F7F9FB"/>
          </a:solidFill>
        </p:spPr>
      </p:sp>
      <p:sp>
        <p:nvSpPr>
          <p:cNvPr id="42" name="Text 40">
            <a:extLst xmlns:a="http://schemas.openxmlformats.org/drawingml/2006/main">
              <a:ext uri="{FF2B5EF4-FFF2-40B4-BE49-F238E27FC236}">
                <a16:creationId xmlns:a16="http://schemas.microsoft.com/office/drawing/2014/main" id="{E5F7753C-DDDA-4577-82CB-094753D3E328}"/>
              </a:ext>
            </a:extLst>
          </p:cNvPr>
          <p:cNvSpPr>
            <a:spLocks xmlns:a="http://schemas.openxmlformats.org/drawingml/2006/main" noGrp="1"/>
          </p:cNvSpPr>
          <p:nvPr/>
        </p:nvSpPr>
        <p:spPr>
          <a:xfrm xmlns:a="http://schemas.openxmlformats.org/drawingml/2006/main">
            <a:off x="676656" y="3675888"/>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Reporting and role dashboards</a:t>
            </a:r>
            <a:endParaRPr sz="960"/>
          </a:p>
        </p:txBody>
      </p:sp>
      <p:sp>
        <p:nvSpPr>
          <p:cNvPr id="43" name="Text 41">
            <a:extLst xmlns:a="http://schemas.openxmlformats.org/drawingml/2006/main">
              <a:ext uri="{FF2B5EF4-FFF2-40B4-BE49-F238E27FC236}">
                <a16:creationId xmlns:a16="http://schemas.microsoft.com/office/drawing/2014/main" id="{12446237-4BEE-451F-B0EE-A4A089CE56A4}"/>
              </a:ext>
            </a:extLst>
          </p:cNvPr>
          <p:cNvSpPr>
            <a:spLocks xmlns:a="http://schemas.openxmlformats.org/drawingml/2006/main" noGrp="1"/>
          </p:cNvSpPr>
          <p:nvPr/>
        </p:nvSpPr>
        <p:spPr>
          <a:xfrm xmlns:a="http://schemas.openxmlformats.org/drawingml/2006/main">
            <a:off x="4700016" y="3675888"/>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Report templates, exports, role KPIs, data-lake and scheduled feeds</a:t>
            </a:r>
            <a:endParaRPr sz="920"/>
          </a:p>
        </p:txBody>
      </p:sp>
      <p:sp>
        <p:nvSpPr>
          <p:cNvPr id="44" name="Shape 42">
            <a:extLst xmlns:a="http://schemas.openxmlformats.org/drawingml/2006/main">
              <a:ext uri="{FF2B5EF4-FFF2-40B4-BE49-F238E27FC236}">
                <a16:creationId xmlns:a16="http://schemas.microsoft.com/office/drawing/2014/main" id="{22AE296A-849D-4559-9154-A5BF1D901C44}"/>
              </a:ext>
            </a:extLst>
          </p:cNvPr>
          <p:cNvSpPr>
            <a:spLocks xmlns:a="http://schemas.openxmlformats.org/drawingml/2006/main" noGrp="1"/>
          </p:cNvSpPr>
          <p:nvPr/>
        </p:nvSpPr>
        <p:spPr>
          <a:xfrm xmlns:a="http://schemas.openxmlformats.org/drawingml/2006/main">
            <a:off x="8430768" y="3694176"/>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45" name="Text 43">
            <a:extLst xmlns:a="http://schemas.openxmlformats.org/drawingml/2006/main">
              <a:ext uri="{FF2B5EF4-FFF2-40B4-BE49-F238E27FC236}">
                <a16:creationId xmlns:a16="http://schemas.microsoft.com/office/drawing/2014/main" id="{DDEEAC4B-E19E-43D5-B950-96D820A1F011}"/>
              </a:ext>
            </a:extLst>
          </p:cNvPr>
          <p:cNvSpPr>
            <a:spLocks xmlns:a="http://schemas.openxmlformats.org/drawingml/2006/main" noGrp="1"/>
          </p:cNvSpPr>
          <p:nvPr/>
        </p:nvSpPr>
        <p:spPr>
          <a:xfrm xmlns:a="http://schemas.openxmlformats.org/drawingml/2006/main">
            <a:off x="8430768" y="3726180"/>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CONFIGURABLE</a:t>
            </a:r>
            <a:endParaRPr sz="820"/>
          </a:p>
        </p:txBody>
      </p:sp>
      <p:sp>
        <p:nvSpPr>
          <p:cNvPr id="46" name="Text 44">
            <a:extLst xmlns:a="http://schemas.openxmlformats.org/drawingml/2006/main">
              <a:ext uri="{FF2B5EF4-FFF2-40B4-BE49-F238E27FC236}">
                <a16:creationId xmlns:a16="http://schemas.microsoft.com/office/drawing/2014/main" id="{3C78529F-6A03-4F90-A089-75604EAC4DD7}"/>
              </a:ext>
            </a:extLst>
          </p:cNvPr>
          <p:cNvSpPr>
            <a:spLocks xmlns:a="http://schemas.openxmlformats.org/drawingml/2006/main" noGrp="1"/>
          </p:cNvSpPr>
          <p:nvPr/>
        </p:nvSpPr>
        <p:spPr>
          <a:xfrm xmlns:a="http://schemas.openxmlformats.org/drawingml/2006/main">
            <a:off x="10369296" y="3675888"/>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Medium</a:t>
            </a:r>
            <a:endParaRPr sz="940"/>
          </a:p>
        </p:txBody>
      </p:sp>
      <p:sp>
        <p:nvSpPr>
          <p:cNvPr id="47" name="Shape 45">
            <a:extLst xmlns:a="http://schemas.openxmlformats.org/drawingml/2006/main">
              <a:ext uri="{FF2B5EF4-FFF2-40B4-BE49-F238E27FC236}">
                <a16:creationId xmlns:a16="http://schemas.microsoft.com/office/drawing/2014/main" id="{062D78E8-5769-4D0E-8FE8-4E028CB75889}"/>
              </a:ext>
            </a:extLst>
          </p:cNvPr>
          <p:cNvSpPr>
            <a:spLocks xmlns:a="http://schemas.openxmlformats.org/drawingml/2006/main" noGrp="1"/>
          </p:cNvSpPr>
          <p:nvPr/>
        </p:nvSpPr>
        <p:spPr>
          <a:xfrm xmlns:a="http://schemas.openxmlformats.org/drawingml/2006/main">
            <a:off x="566928" y="4005072"/>
            <a:ext cx="11057839" cy="7315"/>
          </a:xfrm>
          <a:prstGeom xmlns:a="http://schemas.openxmlformats.org/drawingml/2006/main" prst="rect">
            <a:avLst/>
          </a:prstGeom>
          <a:solidFill xmlns:a="http://schemas.openxmlformats.org/drawingml/2006/main">
            <a:srgbClr val="CBD5E0"/>
          </a:solidFill>
        </p:spPr>
      </p:sp>
      <p:sp>
        <p:nvSpPr>
          <p:cNvPr id="48" name="Text 46">
            <a:extLst xmlns:a="http://schemas.openxmlformats.org/drawingml/2006/main">
              <a:ext uri="{FF2B5EF4-FFF2-40B4-BE49-F238E27FC236}">
                <a16:creationId xmlns:a16="http://schemas.microsoft.com/office/drawing/2014/main" id="{66132C01-9A47-430D-992A-720BB6115509}"/>
              </a:ext>
            </a:extLst>
          </p:cNvPr>
          <p:cNvSpPr>
            <a:spLocks xmlns:a="http://schemas.openxmlformats.org/drawingml/2006/main" noGrp="1"/>
          </p:cNvSpPr>
          <p:nvPr/>
        </p:nvSpPr>
        <p:spPr>
          <a:xfrm xmlns:a="http://schemas.openxmlformats.org/drawingml/2006/main">
            <a:off x="676656" y="405993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Embed inside the super app</a:t>
            </a:r>
            <a:endParaRPr sz="960"/>
          </a:p>
        </p:txBody>
      </p:sp>
      <p:sp>
        <p:nvSpPr>
          <p:cNvPr id="49" name="Text 47">
            <a:extLst xmlns:a="http://schemas.openxmlformats.org/drawingml/2006/main">
              <a:ext uri="{FF2B5EF4-FFF2-40B4-BE49-F238E27FC236}">
                <a16:creationId xmlns:a16="http://schemas.microsoft.com/office/drawing/2014/main" id="{7EF84224-17CC-4DA9-969E-14686E783E51}"/>
              </a:ext>
            </a:extLst>
          </p:cNvPr>
          <p:cNvSpPr>
            <a:spLocks xmlns:a="http://schemas.openxmlformats.org/drawingml/2006/main" noGrp="1"/>
          </p:cNvSpPr>
          <p:nvPr/>
        </p:nvSpPr>
        <p:spPr>
          <a:xfrm xmlns:a="http://schemas.openxmlformats.org/drawingml/2006/main">
            <a:off x="4700016" y="4059936"/>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Runs within the client's own container — requires software-development-kit integration work</a:t>
            </a:r>
            <a:endParaRPr sz="920"/>
          </a:p>
        </p:txBody>
      </p:sp>
      <p:sp>
        <p:nvSpPr>
          <p:cNvPr id="50" name="Shape 48">
            <a:extLst xmlns:a="http://schemas.openxmlformats.org/drawingml/2006/main">
              <a:ext uri="{FF2B5EF4-FFF2-40B4-BE49-F238E27FC236}">
                <a16:creationId xmlns:a16="http://schemas.microsoft.com/office/drawing/2014/main" id="{03FEF6B5-F7CE-45FC-A56F-306E4D3AA2F4}"/>
              </a:ext>
            </a:extLst>
          </p:cNvPr>
          <p:cNvSpPr>
            <a:spLocks xmlns:a="http://schemas.openxmlformats.org/drawingml/2006/main" noGrp="1"/>
          </p:cNvSpPr>
          <p:nvPr/>
        </p:nvSpPr>
        <p:spPr>
          <a:xfrm xmlns:a="http://schemas.openxmlformats.org/drawingml/2006/main">
            <a:off x="8430768" y="4078224"/>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51" name="Text 49">
            <a:extLst xmlns:a="http://schemas.openxmlformats.org/drawingml/2006/main">
              <a:ext uri="{FF2B5EF4-FFF2-40B4-BE49-F238E27FC236}">
                <a16:creationId xmlns:a16="http://schemas.microsoft.com/office/drawing/2014/main" id="{FD74B972-DE50-4F7A-BC29-DFA2CA421813}"/>
              </a:ext>
            </a:extLst>
          </p:cNvPr>
          <p:cNvSpPr>
            <a:spLocks xmlns:a="http://schemas.openxmlformats.org/drawingml/2006/main" noGrp="1"/>
          </p:cNvSpPr>
          <p:nvPr/>
        </p:nvSpPr>
        <p:spPr>
          <a:xfrm xmlns:a="http://schemas.openxmlformats.org/drawingml/2006/main">
            <a:off x="8430768" y="4110228"/>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BUILD</a:t>
            </a:r>
            <a:endParaRPr sz="820"/>
          </a:p>
        </p:txBody>
      </p:sp>
      <p:sp>
        <p:nvSpPr>
          <p:cNvPr id="52" name="Text 50">
            <a:extLst xmlns:a="http://schemas.openxmlformats.org/drawingml/2006/main">
              <a:ext uri="{FF2B5EF4-FFF2-40B4-BE49-F238E27FC236}">
                <a16:creationId xmlns:a16="http://schemas.microsoft.com/office/drawing/2014/main" id="{5AD84AE2-A758-40E8-8FB9-8FC8B39D9DFB}"/>
              </a:ext>
            </a:extLst>
          </p:cNvPr>
          <p:cNvSpPr>
            <a:spLocks xmlns:a="http://schemas.openxmlformats.org/drawingml/2006/main" noGrp="1"/>
          </p:cNvSpPr>
          <p:nvPr/>
        </p:nvSpPr>
        <p:spPr>
          <a:xfrm xmlns:a="http://schemas.openxmlformats.org/drawingml/2006/main">
            <a:off x="10369296" y="4059936"/>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High</a:t>
            </a:r>
            <a:endParaRPr sz="940"/>
          </a:p>
        </p:txBody>
      </p:sp>
      <p:sp>
        <p:nvSpPr>
          <p:cNvPr id="53" name="Shape 51">
            <a:extLst xmlns:a="http://schemas.openxmlformats.org/drawingml/2006/main">
              <a:ext uri="{FF2B5EF4-FFF2-40B4-BE49-F238E27FC236}">
                <a16:creationId xmlns:a16="http://schemas.microsoft.com/office/drawing/2014/main" id="{355713F4-857C-4C20-A265-E32C7D56FE13}"/>
              </a:ext>
            </a:extLst>
          </p:cNvPr>
          <p:cNvSpPr>
            <a:spLocks xmlns:a="http://schemas.openxmlformats.org/drawingml/2006/main" noGrp="1"/>
          </p:cNvSpPr>
          <p:nvPr/>
        </p:nvSpPr>
        <p:spPr>
          <a:xfrm xmlns:a="http://schemas.openxmlformats.org/drawingml/2006/main">
            <a:off x="566928" y="4389120"/>
            <a:ext cx="11057839" cy="7315"/>
          </a:xfrm>
          <a:prstGeom xmlns:a="http://schemas.openxmlformats.org/drawingml/2006/main" prst="rect">
            <a:avLst/>
          </a:prstGeom>
          <a:solidFill xmlns:a="http://schemas.openxmlformats.org/drawingml/2006/main">
            <a:srgbClr val="CBD5E0"/>
          </a:solidFill>
        </p:spPr>
      </p:sp>
      <p:sp>
        <p:nvSpPr>
          <p:cNvPr id="54" name="Shape 52">
            <a:extLst xmlns:a="http://schemas.openxmlformats.org/drawingml/2006/main">
              <a:ext uri="{FF2B5EF4-FFF2-40B4-BE49-F238E27FC236}">
                <a16:creationId xmlns:a16="http://schemas.microsoft.com/office/drawing/2014/main" id="{42C29EB0-7439-4FFF-A006-0CF0DD2BC51E}"/>
              </a:ext>
            </a:extLst>
          </p:cNvPr>
          <p:cNvSpPr>
            <a:spLocks xmlns:a="http://schemas.openxmlformats.org/drawingml/2006/main" noGrp="1"/>
          </p:cNvSpPr>
          <p:nvPr/>
        </p:nvSpPr>
        <p:spPr>
          <a:xfrm xmlns:a="http://schemas.openxmlformats.org/drawingml/2006/main">
            <a:off x="566928" y="4389120"/>
            <a:ext cx="11057839" cy="384048"/>
          </a:xfrm>
          <a:prstGeom xmlns:a="http://schemas.openxmlformats.org/drawingml/2006/main" prst="rect">
            <a:avLst/>
          </a:prstGeom>
          <a:solidFill xmlns:a="http://schemas.openxmlformats.org/drawingml/2006/main">
            <a:srgbClr val="F7F9FB"/>
          </a:solidFill>
        </p:spPr>
      </p:sp>
      <p:sp>
        <p:nvSpPr>
          <p:cNvPr id="55" name="Text 53">
            <a:extLst xmlns:a="http://schemas.openxmlformats.org/drawingml/2006/main">
              <a:ext uri="{FF2B5EF4-FFF2-40B4-BE49-F238E27FC236}">
                <a16:creationId xmlns:a16="http://schemas.microsoft.com/office/drawing/2014/main" id="{ADB7ED8B-0E3D-4824-9832-D7E186AC8C73}"/>
              </a:ext>
            </a:extLst>
          </p:cNvPr>
          <p:cNvSpPr>
            <a:spLocks xmlns:a="http://schemas.openxmlformats.org/drawingml/2006/main" noGrp="1"/>
          </p:cNvSpPr>
          <p:nvPr/>
        </p:nvSpPr>
        <p:spPr>
          <a:xfrm xmlns:a="http://schemas.openxmlformats.org/drawingml/2006/main">
            <a:off x="676656" y="444398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Offline-first mobile capture</a:t>
            </a:r>
            <a:endParaRPr sz="960"/>
          </a:p>
        </p:txBody>
      </p:sp>
      <p:sp>
        <p:nvSpPr>
          <p:cNvPr id="56" name="Text 54">
            <a:extLst xmlns:a="http://schemas.openxmlformats.org/drawingml/2006/main">
              <a:ext uri="{FF2B5EF4-FFF2-40B4-BE49-F238E27FC236}">
                <a16:creationId xmlns:a16="http://schemas.microsoft.com/office/drawing/2014/main" id="{F6376AF2-4B95-409B-B757-76C08F1247FB}"/>
              </a:ext>
            </a:extLst>
          </p:cNvPr>
          <p:cNvSpPr>
            <a:spLocks xmlns:a="http://schemas.openxmlformats.org/drawingml/2006/main" noGrp="1"/>
          </p:cNvSpPr>
          <p:nvPr/>
        </p:nvSpPr>
        <p:spPr>
          <a:xfrm xmlns:a="http://schemas.openxmlformats.org/drawingml/2006/main">
            <a:off x="4700016" y="4443984"/>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Offline sync for low-connectivity field flows — engineering effort per channel</a:t>
            </a:r>
            <a:endParaRPr sz="920"/>
          </a:p>
        </p:txBody>
      </p:sp>
      <p:sp>
        <p:nvSpPr>
          <p:cNvPr id="57" name="Shape 55">
            <a:extLst xmlns:a="http://schemas.openxmlformats.org/drawingml/2006/main">
              <a:ext uri="{FF2B5EF4-FFF2-40B4-BE49-F238E27FC236}">
                <a16:creationId xmlns:a16="http://schemas.microsoft.com/office/drawing/2014/main" id="{55CC4224-F98D-4353-819D-380E72B21F26}"/>
              </a:ext>
            </a:extLst>
          </p:cNvPr>
          <p:cNvSpPr>
            <a:spLocks xmlns:a="http://schemas.openxmlformats.org/drawingml/2006/main" noGrp="1"/>
          </p:cNvSpPr>
          <p:nvPr/>
        </p:nvSpPr>
        <p:spPr>
          <a:xfrm xmlns:a="http://schemas.openxmlformats.org/drawingml/2006/main">
            <a:off x="8430768" y="4462272"/>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58" name="Text 56">
            <a:extLst xmlns:a="http://schemas.openxmlformats.org/drawingml/2006/main">
              <a:ext uri="{FF2B5EF4-FFF2-40B4-BE49-F238E27FC236}">
                <a16:creationId xmlns:a16="http://schemas.microsoft.com/office/drawing/2014/main" id="{D3AC4B21-F9EB-4B1E-A0E3-15A58AFF451C}"/>
              </a:ext>
            </a:extLst>
          </p:cNvPr>
          <p:cNvSpPr>
            <a:spLocks xmlns:a="http://schemas.openxmlformats.org/drawingml/2006/main" noGrp="1"/>
          </p:cNvSpPr>
          <p:nvPr/>
        </p:nvSpPr>
        <p:spPr>
          <a:xfrm xmlns:a="http://schemas.openxmlformats.org/drawingml/2006/main">
            <a:off x="8430768" y="4494276"/>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BUILD</a:t>
            </a:r>
            <a:endParaRPr sz="820"/>
          </a:p>
        </p:txBody>
      </p:sp>
      <p:sp>
        <p:nvSpPr>
          <p:cNvPr id="59" name="Text 57">
            <a:extLst xmlns:a="http://schemas.openxmlformats.org/drawingml/2006/main">
              <a:ext uri="{FF2B5EF4-FFF2-40B4-BE49-F238E27FC236}">
                <a16:creationId xmlns:a16="http://schemas.microsoft.com/office/drawing/2014/main" id="{EA05B397-F245-493B-8C72-60C7C036BBD5}"/>
              </a:ext>
            </a:extLst>
          </p:cNvPr>
          <p:cNvSpPr>
            <a:spLocks xmlns:a="http://schemas.openxmlformats.org/drawingml/2006/main" noGrp="1"/>
          </p:cNvSpPr>
          <p:nvPr/>
        </p:nvSpPr>
        <p:spPr>
          <a:xfrm xmlns:a="http://schemas.openxmlformats.org/drawingml/2006/main">
            <a:off x="10369296" y="444398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High</a:t>
            </a:r>
            <a:endParaRPr sz="940"/>
          </a:p>
        </p:txBody>
      </p:sp>
      <p:sp>
        <p:nvSpPr>
          <p:cNvPr id="60" name="Shape 58">
            <a:extLst xmlns:a="http://schemas.openxmlformats.org/drawingml/2006/main">
              <a:ext uri="{FF2B5EF4-FFF2-40B4-BE49-F238E27FC236}">
                <a16:creationId xmlns:a16="http://schemas.microsoft.com/office/drawing/2014/main" id="{655E691C-918F-4A42-8177-14F169F94194}"/>
              </a:ext>
            </a:extLst>
          </p:cNvPr>
          <p:cNvSpPr>
            <a:spLocks xmlns:a="http://schemas.openxmlformats.org/drawingml/2006/main" noGrp="1"/>
          </p:cNvSpPr>
          <p:nvPr/>
        </p:nvSpPr>
        <p:spPr>
          <a:xfrm xmlns:a="http://schemas.openxmlformats.org/drawingml/2006/main">
            <a:off x="566928" y="4773168"/>
            <a:ext cx="11057839" cy="7315"/>
          </a:xfrm>
          <a:prstGeom xmlns:a="http://schemas.openxmlformats.org/drawingml/2006/main" prst="rect">
            <a:avLst/>
          </a:prstGeom>
          <a:solidFill xmlns:a="http://schemas.openxmlformats.org/drawingml/2006/main">
            <a:srgbClr val="CBD5E0"/>
          </a:solidFill>
        </p:spPr>
      </p:sp>
      <p:sp>
        <p:nvSpPr>
          <p:cNvPr id="61" name="Text 59">
            <a:extLst xmlns:a="http://schemas.openxmlformats.org/drawingml/2006/main">
              <a:ext uri="{FF2B5EF4-FFF2-40B4-BE49-F238E27FC236}">
                <a16:creationId xmlns:a16="http://schemas.microsoft.com/office/drawing/2014/main" id="{73A862D9-9C7C-4169-B31F-0B64870089F3}"/>
              </a:ext>
            </a:extLst>
          </p:cNvPr>
          <p:cNvSpPr>
            <a:spLocks xmlns:a="http://schemas.openxmlformats.org/drawingml/2006/main" noGrp="1"/>
          </p:cNvSpPr>
          <p:nvPr/>
        </p:nvSpPr>
        <p:spPr>
          <a:xfrm xmlns:a="http://schemas.openxmlformats.org/drawingml/2006/main">
            <a:off x="676656" y="4828032"/>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AI, GenAI and agentic assist</a:t>
            </a:r>
            <a:endParaRPr sz="960"/>
          </a:p>
        </p:txBody>
      </p:sp>
      <p:sp>
        <p:nvSpPr>
          <p:cNvPr id="62" name="Text 60">
            <a:extLst xmlns:a="http://schemas.openxmlformats.org/drawingml/2006/main">
              <a:ext uri="{FF2B5EF4-FFF2-40B4-BE49-F238E27FC236}">
                <a16:creationId xmlns:a16="http://schemas.microsoft.com/office/drawing/2014/main" id="{16E6CFE9-A66C-47FF-B194-989FA67EA52A}"/>
              </a:ext>
            </a:extLst>
          </p:cNvPr>
          <p:cNvSpPr>
            <a:spLocks xmlns:a="http://schemas.openxmlformats.org/drawingml/2006/main" noGrp="1"/>
          </p:cNvSpPr>
          <p:nvPr/>
        </p:nvSpPr>
        <p:spPr>
          <a:xfrm xmlns:a="http://schemas.openxmlformats.org/drawingml/2006/main">
            <a:off x="4700016" y="4828032"/>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Predictive scoring, next-best-action, coaching and agentic workflows — build plus operations</a:t>
            </a:r>
            <a:endParaRPr sz="920"/>
          </a:p>
        </p:txBody>
      </p:sp>
      <p:sp>
        <p:nvSpPr>
          <p:cNvPr id="63" name="Shape 61">
            <a:extLst xmlns:a="http://schemas.openxmlformats.org/drawingml/2006/main">
              <a:ext uri="{FF2B5EF4-FFF2-40B4-BE49-F238E27FC236}">
                <a16:creationId xmlns:a16="http://schemas.microsoft.com/office/drawing/2014/main" id="{1B7D5AFF-5673-4F4A-9C75-F801DA1DB8A0}"/>
              </a:ext>
            </a:extLst>
          </p:cNvPr>
          <p:cNvSpPr>
            <a:spLocks xmlns:a="http://schemas.openxmlformats.org/drawingml/2006/main" noGrp="1"/>
          </p:cNvSpPr>
          <p:nvPr/>
        </p:nvSpPr>
        <p:spPr>
          <a:xfrm xmlns:a="http://schemas.openxmlformats.org/drawingml/2006/main">
            <a:off x="8430768" y="4846320"/>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64" name="Text 62">
            <a:extLst xmlns:a="http://schemas.openxmlformats.org/drawingml/2006/main">
              <a:ext uri="{FF2B5EF4-FFF2-40B4-BE49-F238E27FC236}">
                <a16:creationId xmlns:a16="http://schemas.microsoft.com/office/drawing/2014/main" id="{DE858937-9A6F-48E1-8D40-503ECD31D411}"/>
              </a:ext>
            </a:extLst>
          </p:cNvPr>
          <p:cNvSpPr>
            <a:spLocks xmlns:a="http://schemas.openxmlformats.org/drawingml/2006/main" noGrp="1"/>
          </p:cNvSpPr>
          <p:nvPr/>
        </p:nvSpPr>
        <p:spPr>
          <a:xfrm xmlns:a="http://schemas.openxmlformats.org/drawingml/2006/main">
            <a:off x="8430768" y="4878324"/>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BUILD</a:t>
            </a:r>
            <a:endParaRPr sz="820"/>
          </a:p>
        </p:txBody>
      </p:sp>
      <p:sp>
        <p:nvSpPr>
          <p:cNvPr id="65" name="Text 63">
            <a:extLst xmlns:a="http://schemas.openxmlformats.org/drawingml/2006/main">
              <a:ext uri="{FF2B5EF4-FFF2-40B4-BE49-F238E27FC236}">
                <a16:creationId xmlns:a16="http://schemas.microsoft.com/office/drawing/2014/main" id="{D80F6772-3F67-4ED9-8C4F-AB7EF16ECE50}"/>
              </a:ext>
            </a:extLst>
          </p:cNvPr>
          <p:cNvSpPr>
            <a:spLocks xmlns:a="http://schemas.openxmlformats.org/drawingml/2006/main" noGrp="1"/>
          </p:cNvSpPr>
          <p:nvPr/>
        </p:nvSpPr>
        <p:spPr>
          <a:xfrm xmlns:a="http://schemas.openxmlformats.org/drawingml/2006/main">
            <a:off x="10369296" y="4828032"/>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High</a:t>
            </a:r>
            <a:endParaRPr sz="940"/>
          </a:p>
        </p:txBody>
      </p:sp>
      <p:sp>
        <p:nvSpPr>
          <p:cNvPr id="66" name="Shape 64">
            <a:extLst xmlns:a="http://schemas.openxmlformats.org/drawingml/2006/main">
              <a:ext uri="{FF2B5EF4-FFF2-40B4-BE49-F238E27FC236}">
                <a16:creationId xmlns:a16="http://schemas.microsoft.com/office/drawing/2014/main" id="{3DF16AEC-71FC-465F-98D3-B36E015AA58B}"/>
              </a:ext>
            </a:extLst>
          </p:cNvPr>
          <p:cNvSpPr>
            <a:spLocks xmlns:a="http://schemas.openxmlformats.org/drawingml/2006/main" noGrp="1"/>
          </p:cNvSpPr>
          <p:nvPr/>
        </p:nvSpPr>
        <p:spPr>
          <a:xfrm xmlns:a="http://schemas.openxmlformats.org/drawingml/2006/main">
            <a:off x="566928" y="5157216"/>
            <a:ext cx="11057839" cy="7315"/>
          </a:xfrm>
          <a:prstGeom xmlns:a="http://schemas.openxmlformats.org/drawingml/2006/main" prst="rect">
            <a:avLst/>
          </a:prstGeom>
          <a:solidFill xmlns:a="http://schemas.openxmlformats.org/drawingml/2006/main">
            <a:srgbClr val="CBD5E0"/>
          </a:solidFill>
        </p:spPr>
      </p:sp>
      <p:sp>
        <p:nvSpPr>
          <p:cNvPr id="67" name="Shape 65">
            <a:extLst xmlns:a="http://schemas.openxmlformats.org/drawingml/2006/main">
              <a:ext uri="{FF2B5EF4-FFF2-40B4-BE49-F238E27FC236}">
                <a16:creationId xmlns:a16="http://schemas.microsoft.com/office/drawing/2014/main" id="{9B693519-FD15-4C0B-A96B-D596940BFCD2}"/>
              </a:ext>
            </a:extLst>
          </p:cNvPr>
          <p:cNvSpPr>
            <a:spLocks xmlns:a="http://schemas.openxmlformats.org/drawingml/2006/main" noGrp="1"/>
          </p:cNvSpPr>
          <p:nvPr/>
        </p:nvSpPr>
        <p:spPr>
          <a:xfrm xmlns:a="http://schemas.openxmlformats.org/drawingml/2006/main">
            <a:off x="566928" y="5157216"/>
            <a:ext cx="11057839" cy="384048"/>
          </a:xfrm>
          <a:prstGeom xmlns:a="http://schemas.openxmlformats.org/drawingml/2006/main" prst="rect">
            <a:avLst/>
          </a:prstGeom>
          <a:solidFill xmlns:a="http://schemas.openxmlformats.org/drawingml/2006/main">
            <a:srgbClr val="F7F9FB"/>
          </a:solidFill>
        </p:spPr>
      </p:sp>
      <p:sp>
        <p:nvSpPr>
          <p:cNvPr id="68" name="Text 66">
            <a:extLst xmlns:a="http://schemas.openxmlformats.org/drawingml/2006/main">
              <a:ext uri="{FF2B5EF4-FFF2-40B4-BE49-F238E27FC236}">
                <a16:creationId xmlns:a16="http://schemas.microsoft.com/office/drawing/2014/main" id="{48CE1BA0-55C8-46AF-B8BA-BE9AE1908374}"/>
              </a:ext>
            </a:extLst>
          </p:cNvPr>
          <p:cNvSpPr>
            <a:spLocks xmlns:a="http://schemas.openxmlformats.org/drawingml/2006/main" noGrp="1"/>
          </p:cNvSpPr>
          <p:nvPr/>
        </p:nvSpPr>
        <p:spPr>
          <a:xfrm xmlns:a="http://schemas.openxmlformats.org/drawingml/2006/main">
            <a:off x="676656" y="521208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Full IP and source handover</a:t>
            </a:r>
            <a:endParaRPr sz="960"/>
          </a:p>
        </p:txBody>
      </p:sp>
      <p:sp>
        <p:nvSpPr>
          <p:cNvPr id="69" name="Text 67">
            <a:extLst xmlns:a="http://schemas.openxmlformats.org/drawingml/2006/main">
              <a:ext uri="{FF2B5EF4-FFF2-40B4-BE49-F238E27FC236}">
                <a16:creationId xmlns:a16="http://schemas.microsoft.com/office/drawing/2014/main" id="{EB890595-E522-482F-BFB5-781A3F95DE6A}"/>
              </a:ext>
            </a:extLst>
          </p:cNvPr>
          <p:cNvSpPr>
            <a:spLocks xmlns:a="http://schemas.openxmlformats.org/drawingml/2006/main" noGrp="1"/>
          </p:cNvSpPr>
          <p:nvPr/>
        </p:nvSpPr>
        <p:spPr>
          <a:xfrm xmlns:a="http://schemas.openxmlformats.org/drawingml/2006/main">
            <a:off x="4700016" y="5212080"/>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Client requires ownership; a product supplier retains it — a contract question, not a technical one</a:t>
            </a:r>
            <a:endParaRPr sz="920"/>
          </a:p>
        </p:txBody>
      </p:sp>
      <p:sp>
        <p:nvSpPr>
          <p:cNvPr id="70" name="Shape 68">
            <a:extLst xmlns:a="http://schemas.openxmlformats.org/drawingml/2006/main">
              <a:ext uri="{FF2B5EF4-FFF2-40B4-BE49-F238E27FC236}">
                <a16:creationId xmlns:a16="http://schemas.microsoft.com/office/drawing/2014/main" id="{D0F1DA0B-2EBC-4519-BA1E-4418B09D20CF}"/>
              </a:ext>
            </a:extLst>
          </p:cNvPr>
          <p:cNvSpPr>
            <a:spLocks xmlns:a="http://schemas.openxmlformats.org/drawingml/2006/main" noGrp="1"/>
          </p:cNvSpPr>
          <p:nvPr/>
        </p:nvSpPr>
        <p:spPr>
          <a:xfrm xmlns:a="http://schemas.openxmlformats.org/drawingml/2006/main">
            <a:off x="8430768" y="5230368"/>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71" name="Text 69">
            <a:extLst xmlns:a="http://schemas.openxmlformats.org/drawingml/2006/main">
              <a:ext uri="{FF2B5EF4-FFF2-40B4-BE49-F238E27FC236}">
                <a16:creationId xmlns:a16="http://schemas.microsoft.com/office/drawing/2014/main" id="{830362EA-72E3-468B-85D6-017DA33EBCDB}"/>
              </a:ext>
            </a:extLst>
          </p:cNvPr>
          <p:cNvSpPr>
            <a:spLocks xmlns:a="http://schemas.openxmlformats.org/drawingml/2006/main" noGrp="1"/>
          </p:cNvSpPr>
          <p:nvPr/>
        </p:nvSpPr>
        <p:spPr>
          <a:xfrm xmlns:a="http://schemas.openxmlformats.org/drawingml/2006/main">
            <a:off x="8430768" y="5262372"/>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GAP</a:t>
            </a:r>
            <a:endParaRPr sz="820"/>
          </a:p>
        </p:txBody>
      </p:sp>
      <p:sp>
        <p:nvSpPr>
          <p:cNvPr id="72" name="Text 70">
            <a:extLst xmlns:a="http://schemas.openxmlformats.org/drawingml/2006/main">
              <a:ext uri="{FF2B5EF4-FFF2-40B4-BE49-F238E27FC236}">
                <a16:creationId xmlns:a16="http://schemas.microsoft.com/office/drawing/2014/main" id="{3FBDE077-6819-408D-BB0D-7A9379E89B19}"/>
              </a:ext>
            </a:extLst>
          </p:cNvPr>
          <p:cNvSpPr>
            <a:spLocks xmlns:a="http://schemas.openxmlformats.org/drawingml/2006/main" noGrp="1"/>
          </p:cNvSpPr>
          <p:nvPr/>
        </p:nvSpPr>
        <p:spPr>
          <a:xfrm xmlns:a="http://schemas.openxmlformats.org/drawingml/2006/main">
            <a:off x="10369296" y="5212080"/>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Blocking</a:t>
            </a:r>
            <a:endParaRPr sz="940"/>
          </a:p>
        </p:txBody>
      </p:sp>
      <p:sp>
        <p:nvSpPr>
          <p:cNvPr id="73" name="Shape 71">
            <a:extLst xmlns:a="http://schemas.openxmlformats.org/drawingml/2006/main">
              <a:ext uri="{FF2B5EF4-FFF2-40B4-BE49-F238E27FC236}">
                <a16:creationId xmlns:a16="http://schemas.microsoft.com/office/drawing/2014/main" id="{C018257C-44D8-4A28-ADCF-E8C88D4DF2E1}"/>
              </a:ext>
            </a:extLst>
          </p:cNvPr>
          <p:cNvSpPr>
            <a:spLocks xmlns:a="http://schemas.openxmlformats.org/drawingml/2006/main" noGrp="1"/>
          </p:cNvSpPr>
          <p:nvPr/>
        </p:nvSpPr>
        <p:spPr>
          <a:xfrm xmlns:a="http://schemas.openxmlformats.org/drawingml/2006/main">
            <a:off x="566928" y="5541264"/>
            <a:ext cx="11057839" cy="7315"/>
          </a:xfrm>
          <a:prstGeom xmlns:a="http://schemas.openxmlformats.org/drawingml/2006/main" prst="rect">
            <a:avLst/>
          </a:prstGeom>
          <a:solidFill xmlns:a="http://schemas.openxmlformats.org/drawingml/2006/main">
            <a:srgbClr val="CBD5E0"/>
          </a:solidFill>
        </p:spPr>
      </p:sp>
      <p:sp>
        <p:nvSpPr>
          <p:cNvPr id="74" name="Shape 72">
            <a:extLst xmlns:a="http://schemas.openxmlformats.org/drawingml/2006/main">
              <a:ext uri="{FF2B5EF4-FFF2-40B4-BE49-F238E27FC236}">
                <a16:creationId xmlns:a16="http://schemas.microsoft.com/office/drawing/2014/main" id="{639ECB96-1F1C-4CA0-B125-28A5D8C97D3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75" name="Text 73">
            <a:extLst xmlns:a="http://schemas.openxmlformats.org/drawingml/2006/main">
              <a:ext uri="{FF2B5EF4-FFF2-40B4-BE49-F238E27FC236}">
                <a16:creationId xmlns:a16="http://schemas.microsoft.com/office/drawing/2014/main" id="{6F1B7A5F-35A2-4392-938E-D94B3B4ACDE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solution and deal analysis</a:t>
            </a:r>
            <a:endParaRPr sz="850"/>
          </a:p>
        </p:txBody>
      </p:sp>
      <p:sp>
        <p:nvSpPr>
          <p:cNvPr id="76" name="Text 74">
            <a:extLst xmlns:a="http://schemas.openxmlformats.org/drawingml/2006/main">
              <a:ext uri="{FF2B5EF4-FFF2-40B4-BE49-F238E27FC236}">
                <a16:creationId xmlns:a16="http://schemas.microsoft.com/office/drawing/2014/main" id="{CDE44A6A-1B75-4F22-AD00-078D81334CC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
        <p:nvSpPr>
          <p:cNvPr id="77" name="Shape 75">
            <a:extLst xmlns:a="http://schemas.openxmlformats.org/drawingml/2006/main">
              <a:ext uri="{FF2B5EF4-FFF2-40B4-BE49-F238E27FC236}">
                <a16:creationId xmlns:a16="http://schemas.microsoft.com/office/drawing/2014/main" id="{F7225C61-D7E9-4E80-AA66-E01C2DAECC16}"/>
              </a:ext>
            </a:extLst>
          </p:cNvPr>
          <p:cNvSpPr>
            <a:spLocks xmlns:a="http://schemas.openxmlformats.org/drawingml/2006/main" noGrp="1"/>
          </p:cNvSpPr>
          <p:nvPr/>
        </p:nvSpPr>
        <p:spPr>
          <a:xfrm xmlns:a="http://schemas.openxmlformats.org/drawingml/2006/main">
            <a:off x="566928" y="5779008"/>
            <a:ext cx="11057839" cy="603504"/>
          </a:xfrm>
          <a:prstGeom xmlns:a="http://schemas.openxmlformats.org/drawingml/2006/main" prst="rect">
            <a:avLst/>
          </a:prstGeom>
          <a:solidFill xmlns:a="http://schemas.openxmlformats.org/drawingml/2006/main">
            <a:srgbClr val="F3E6E0"/>
          </a:solidFill>
        </p:spPr>
      </p:sp>
      <p:sp>
        <p:nvSpPr>
          <p:cNvPr id="78" name="Text 76">
            <a:extLst xmlns:a="http://schemas.openxmlformats.org/drawingml/2006/main">
              <a:ext uri="{FF2B5EF4-FFF2-40B4-BE49-F238E27FC236}">
                <a16:creationId xmlns:a16="http://schemas.microsoft.com/office/drawing/2014/main" id="{2699BFBF-64B5-448F-BF9B-2CC6AE669BAC}"/>
              </a:ext>
            </a:extLst>
          </p:cNvPr>
          <p:cNvSpPr>
            <a:spLocks xmlns:a="http://schemas.openxmlformats.org/drawingml/2006/main" noGrp="1"/>
          </p:cNvSpPr>
          <p:nvPr/>
        </p:nvSpPr>
        <p:spPr>
          <a:xfrm xmlns:a="http://schemas.openxmlformats.org/drawingml/2006/main">
            <a:off x="804672" y="5961888"/>
            <a:ext cx="10582351"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Six of ten are met by configuration and three need real engineering, priced as such. The tenth row is different in kind — a contractual incompatibility no amount of effort closes. Leaving it in a fit matrix as though it were a technical item is how it survives to contract stage unresolved.</a:t>
            </a:r>
            <a:endParaRPr sz="990"/>
          </a:p>
        </p:txBody>
      </p:sp>
    </p:spTree>
    <p:extLst>
      <p:ext uri="{BB962C8B-B14F-4D97-AF65-F5344CB8AC3E}">
        <p14:creationId xmlns:p14="http://schemas.microsoft.com/office/powerpoint/2010/main" val="740958855"/>
      </p:ext>
    </p:extLst>
  </p:cSld>
</p:sld>
</file>

<file path=ppt/slides/slide1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C1113F5-2B79-45DE-AF7F-F7AB14B6363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STRATEGIC QUESTION</a:t>
            </a:r>
            <a:endParaRPr sz="950"/>
          </a:p>
        </p:txBody>
      </p:sp>
      <p:sp>
        <p:nvSpPr>
          <p:cNvPr id="3" name="Text 1">
            <a:extLst xmlns:a="http://schemas.openxmlformats.org/drawingml/2006/main">
              <a:ext uri="{FF2B5EF4-FFF2-40B4-BE49-F238E27FC236}">
                <a16:creationId xmlns:a16="http://schemas.microsoft.com/office/drawing/2014/main" id="{7D1EB624-87F8-4759-9788-C3397D93BFD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Two framings of the same programme — and a third position that gives each side</a:t>
            </a:r>
            <a:endParaRPr sz="1900"/>
          </a:p>
          <a:p xmlns:a="http://schemas.openxmlformats.org/drawingml/2006/main">
            <a:pPr marL="0" indent="0">
              <a:lnSpc>
                <a:spcPts val="2400"/>
              </a:lnSpc>
              <a:buNone/>
            </a:pPr>
            <a:r>
              <a:rPr sz="1900" b="1">
                <a:solidFill>
                  <a:srgbClr val="102A43"/>
                </a:solidFill>
                <a:latin typeface="Arial"/>
                <a:ea typeface="Arial"/>
                <a:cs typeface="Arial"/>
              </a:rPr>
              <a:t>what it actually needs</a:t>
            </a:r>
            <a:endParaRPr sz="1900"/>
          </a:p>
        </p:txBody>
      </p:sp>
      <p:sp>
        <p:nvSpPr>
          <p:cNvPr id="4" name="Shape 2">
            <a:extLst xmlns:a="http://schemas.openxmlformats.org/drawingml/2006/main">
              <a:ext uri="{FF2B5EF4-FFF2-40B4-BE49-F238E27FC236}">
                <a16:creationId xmlns:a16="http://schemas.microsoft.com/office/drawing/2014/main" id="{8AAC36D7-C057-4D4C-A32F-74BCCDB17D83}"/>
              </a:ext>
            </a:extLst>
          </p:cNvPr>
          <p:cNvSpPr>
            <a:spLocks xmlns:a="http://schemas.openxmlformats.org/drawingml/2006/main" noGrp="1"/>
          </p:cNvSpPr>
          <p:nvPr/>
        </p:nvSpPr>
        <p:spPr>
          <a:xfrm xmlns:a="http://schemas.openxmlformats.org/drawingml/2006/main">
            <a:off x="566928" y="1335024"/>
            <a:ext cx="5373472" cy="219456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6BA505B7-BAEF-48F3-93B8-CC35BD2D5528}"/>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THE CLIENT'S FRAMING</a:t>
            </a:r>
            <a:endParaRPr sz="840"/>
          </a:p>
        </p:txBody>
      </p:sp>
      <p:sp>
        <p:nvSpPr>
          <p:cNvPr id="6" name="Text 4">
            <a:extLst xmlns:a="http://schemas.openxmlformats.org/drawingml/2006/main">
              <a:ext uri="{FF2B5EF4-FFF2-40B4-BE49-F238E27FC236}">
                <a16:creationId xmlns:a16="http://schemas.microsoft.com/office/drawing/2014/main" id="{99771A26-E312-4CE9-81FC-EE7B33359540}"/>
              </a:ext>
            </a:extLst>
          </p:cNvPr>
          <p:cNvSpPr>
            <a:spLocks xmlns:a="http://schemas.openxmlformats.org/drawingml/2006/main" noGrp="1"/>
          </p:cNvSpPr>
          <p:nvPr/>
        </p:nvSpPr>
        <p:spPr>
          <a:xfrm xmlns:a="http://schemas.openxmlformats.org/drawingml/2006/main">
            <a:off x="804672"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Build it in-house</a:t>
            </a:r>
            <a:endParaRPr sz="1500"/>
          </a:p>
        </p:txBody>
      </p:sp>
      <p:sp>
        <p:nvSpPr>
          <p:cNvPr id="7" name="Text 5">
            <a:extLst xmlns:a="http://schemas.openxmlformats.org/drawingml/2006/main">
              <a:ext uri="{FF2B5EF4-FFF2-40B4-BE49-F238E27FC236}">
                <a16:creationId xmlns:a16="http://schemas.microsoft.com/office/drawing/2014/main" id="{E3B0C5B8-8DFA-4CDD-B81D-F5BA87391E0B}"/>
              </a:ext>
            </a:extLst>
          </p:cNvPr>
          <p:cNvSpPr>
            <a:spLocks xmlns:a="http://schemas.openxmlformats.org/drawingml/2006/main" noGrp="1"/>
          </p:cNvSpPr>
          <p:nvPr/>
        </p:nvSpPr>
        <p:spPr>
          <a:xfrm xmlns:a="http://schemas.openxmlformats.org/drawingml/2006/main">
            <a:off x="804672" y="2121408"/>
            <a:ext cx="4897984"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A bespoke capability, replacing the SaaS incumbent</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Full intellectual property and source ownership</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Delivered in an AI-assisted, pod-based pattern</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Fixed bid, named resources, no change-request fees</a:t>
            </a:r>
            <a:endParaRPr sz="980"/>
          </a:p>
        </p:txBody>
      </p:sp>
      <p:sp>
        <p:nvSpPr>
          <p:cNvPr id="8" name="Shape 6">
            <a:extLst xmlns:a="http://schemas.openxmlformats.org/drawingml/2006/main">
              <a:ext uri="{FF2B5EF4-FFF2-40B4-BE49-F238E27FC236}">
                <a16:creationId xmlns:a16="http://schemas.microsoft.com/office/drawing/2014/main" id="{B2496866-BE40-4028-B457-CCE2AEE77130}"/>
              </a:ext>
            </a:extLst>
          </p:cNvPr>
          <p:cNvSpPr>
            <a:spLocks xmlns:a="http://schemas.openxmlformats.org/drawingml/2006/main" noGrp="1"/>
          </p:cNvSpPr>
          <p:nvPr/>
        </p:nvSpPr>
        <p:spPr>
          <a:xfrm xmlns:a="http://schemas.openxmlformats.org/drawingml/2006/main">
            <a:off x="6251296" y="1335024"/>
            <a:ext cx="5373472" cy="2194560"/>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4EC49D7D-89C2-4EB9-B2A2-FE0455655E37}"/>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THE SUPPLIER'S FRAMING</a:t>
            </a:r>
            <a:endParaRPr sz="840"/>
          </a:p>
        </p:txBody>
      </p:sp>
      <p:sp>
        <p:nvSpPr>
          <p:cNvPr id="10" name="Text 8">
            <a:extLst xmlns:a="http://schemas.openxmlformats.org/drawingml/2006/main">
              <a:ext uri="{FF2B5EF4-FFF2-40B4-BE49-F238E27FC236}">
                <a16:creationId xmlns:a16="http://schemas.microsoft.com/office/drawing/2014/main" id="{0F0448FC-1711-4833-86AA-675681428B12}"/>
              </a:ext>
            </a:extLst>
          </p:cNvPr>
          <p:cNvSpPr>
            <a:spLocks xmlns:a="http://schemas.openxmlformats.org/drawingml/2006/main" noGrp="1"/>
          </p:cNvSpPr>
          <p:nvPr/>
        </p:nvSpPr>
        <p:spPr>
          <a:xfrm xmlns:a="http://schemas.openxmlformats.org/drawingml/2006/main">
            <a:off x="6489040"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Configure the product</a:t>
            </a:r>
            <a:endParaRPr sz="1500"/>
          </a:p>
        </p:txBody>
      </p:sp>
      <p:sp>
        <p:nvSpPr>
          <p:cNvPr id="11" name="Text 9">
            <a:extLst xmlns:a="http://schemas.openxmlformats.org/drawingml/2006/main">
              <a:ext uri="{FF2B5EF4-FFF2-40B4-BE49-F238E27FC236}">
                <a16:creationId xmlns:a16="http://schemas.microsoft.com/office/drawing/2014/main" id="{E9FC9652-A777-484C-B8A8-A640B5C6F20D}"/>
              </a:ext>
            </a:extLst>
          </p:cNvPr>
          <p:cNvSpPr>
            <a:spLocks xmlns:a="http://schemas.openxmlformats.org/drawingml/2006/main" noGrp="1"/>
          </p:cNvSpPr>
          <p:nvPr/>
        </p:nvSpPr>
        <p:spPr>
          <a:xfrm xmlns:a="http://schemas.openxmlformats.org/drawingml/2006/main">
            <a:off x="6489040" y="2121408"/>
            <a:ext cx="4897984"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Configure an existing platform, not a ground-up build</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Licence priced separately from implementation</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Intellectual property remains with the supplier</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Third-party software and hosting procured by the client</a:t>
            </a:r>
            <a:endParaRPr sz="980"/>
          </a:p>
        </p:txBody>
      </p:sp>
      <p:sp>
        <p:nvSpPr>
          <p:cNvPr id="12" name="Text 10">
            <a:extLst xmlns:a="http://schemas.openxmlformats.org/drawingml/2006/main">
              <a:ext uri="{FF2B5EF4-FFF2-40B4-BE49-F238E27FC236}">
                <a16:creationId xmlns:a16="http://schemas.microsoft.com/office/drawing/2014/main" id="{8403B11D-7081-4717-B999-1AB5068273B6}"/>
              </a:ext>
            </a:extLst>
          </p:cNvPr>
          <p:cNvSpPr>
            <a:spLocks xmlns:a="http://schemas.openxmlformats.org/drawingml/2006/main" noGrp="1"/>
          </p:cNvSpPr>
          <p:nvPr/>
        </p:nvSpPr>
        <p:spPr>
          <a:xfrm xmlns:a="http://schemas.openxmlformats.org/drawingml/2006/main">
            <a:off x="566928" y="2340864"/>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1000" b="1">
                <a:solidFill>
                  <a:srgbClr val="B04A25"/>
                </a:solidFill>
                <a:latin typeface="Arial"/>
                <a:ea typeface="Arial"/>
                <a:cs typeface="Arial"/>
              </a:rPr>
              <a:t>VERSUS</a:t>
            </a:r>
            <a:endParaRPr sz="1000"/>
          </a:p>
        </p:txBody>
      </p:sp>
      <p:sp>
        <p:nvSpPr>
          <p:cNvPr id="13" name="Shape 11">
            <a:extLst xmlns:a="http://schemas.openxmlformats.org/drawingml/2006/main">
              <a:ext uri="{FF2B5EF4-FFF2-40B4-BE49-F238E27FC236}">
                <a16:creationId xmlns:a16="http://schemas.microsoft.com/office/drawing/2014/main" id="{7AD22DE2-06AA-4741-93D1-3A96BF062BFA}"/>
              </a:ext>
            </a:extLst>
          </p:cNvPr>
          <p:cNvSpPr>
            <a:spLocks xmlns:a="http://schemas.openxmlformats.org/drawingml/2006/main" noGrp="1"/>
          </p:cNvSpPr>
          <p:nvPr/>
        </p:nvSpPr>
        <p:spPr>
          <a:xfrm xmlns:a="http://schemas.openxmlformats.org/drawingml/2006/main">
            <a:off x="566928" y="3785616"/>
            <a:ext cx="11057839" cy="1225296"/>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1E516CA7-1D81-41E7-B60B-EBD7F6CCC6F1}"/>
              </a:ext>
            </a:extLst>
          </p:cNvPr>
          <p:cNvSpPr>
            <a:spLocks xmlns:a="http://schemas.openxmlformats.org/drawingml/2006/main" noGrp="1"/>
          </p:cNvSpPr>
          <p:nvPr/>
        </p:nvSpPr>
        <p:spPr>
          <a:xfrm xmlns:a="http://schemas.openxmlformats.org/drawingml/2006/main">
            <a:off x="804672" y="393192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third position — what each side actually needs</a:t>
            </a:r>
            <a:endParaRPr sz="1100"/>
          </a:p>
        </p:txBody>
      </p:sp>
      <p:sp>
        <p:nvSpPr>
          <p:cNvPr id="15" name="Text 13">
            <a:extLst xmlns:a="http://schemas.openxmlformats.org/drawingml/2006/main">
              <a:ext uri="{FF2B5EF4-FFF2-40B4-BE49-F238E27FC236}">
                <a16:creationId xmlns:a16="http://schemas.microsoft.com/office/drawing/2014/main" id="{26CA8E17-3E76-4362-8EFF-D509B54BC35A}"/>
              </a:ext>
            </a:extLst>
          </p:cNvPr>
          <p:cNvSpPr>
            <a:spLocks xmlns:a="http://schemas.openxmlformats.org/drawingml/2006/main" noGrp="1"/>
          </p:cNvSpPr>
          <p:nvPr/>
        </p:nvSpPr>
        <p:spPr>
          <a:xfrm xmlns:a="http://schemas.openxmlformats.org/drawingml/2006/main">
            <a:off x="804672" y="4187952"/>
            <a:ext cx="10582351"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client's underlying needs are control, speed of change and freedom from a vendor that can raise prices or withdraw a feature. None of those requires source-code ownership; all of them are satisfied by configurability the client operates itself, a perpetual licence, and source held in escrow against defined trigger events.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supplier's underlying need is to avoid handing over a product it also sells to the client's competitors. That is satisfied by transferring everything built specifically for the client, while retaining the platform beneath it — a boundary that must be drawn explicitly in the contract, not left to interpretation.</a:t>
            </a:r>
            <a:endParaRPr sz="990"/>
          </a:p>
        </p:txBody>
      </p:sp>
      <p:sp>
        <p:nvSpPr>
          <p:cNvPr id="16" name="Shape 14">
            <a:extLst xmlns:a="http://schemas.openxmlformats.org/drawingml/2006/main">
              <a:ext uri="{FF2B5EF4-FFF2-40B4-BE49-F238E27FC236}">
                <a16:creationId xmlns:a16="http://schemas.microsoft.com/office/drawing/2014/main" id="{7333A69E-4F4E-449C-9A8C-8C7755E97B23}"/>
              </a:ext>
            </a:extLst>
          </p:cNvPr>
          <p:cNvSpPr>
            <a:spLocks xmlns:a="http://schemas.openxmlformats.org/drawingml/2006/main" noGrp="1"/>
          </p:cNvSpPr>
          <p:nvPr/>
        </p:nvSpPr>
        <p:spPr>
          <a:xfrm xmlns:a="http://schemas.openxmlformats.org/drawingml/2006/main">
            <a:off x="566928" y="5157216"/>
            <a:ext cx="11057839" cy="914400"/>
          </a:xfrm>
          <a:prstGeom xmlns:a="http://schemas.openxmlformats.org/drawingml/2006/main" prst="rect">
            <a:avLst/>
          </a:prstGeom>
          <a:solidFill xmlns:a="http://schemas.openxmlformats.org/drawingml/2006/main">
            <a:srgbClr val="102A43"/>
          </a:solidFill>
        </p:spPr>
      </p:sp>
      <p:sp>
        <p:nvSpPr>
          <p:cNvPr id="17" name="Text 15">
            <a:extLst xmlns:a="http://schemas.openxmlformats.org/drawingml/2006/main">
              <a:ext uri="{FF2B5EF4-FFF2-40B4-BE49-F238E27FC236}">
                <a16:creationId xmlns:a16="http://schemas.microsoft.com/office/drawing/2014/main" id="{9B73BFE6-E9D9-40B1-BB2B-7DC7C9900E45}"/>
              </a:ext>
            </a:extLst>
          </p:cNvPr>
          <p:cNvSpPr>
            <a:spLocks xmlns:a="http://schemas.openxmlformats.org/drawingml/2006/main" noGrp="1"/>
          </p:cNvSpPr>
          <p:nvPr/>
        </p:nvSpPr>
        <p:spPr>
          <a:xfrm xmlns:a="http://schemas.openxmlformats.org/drawingml/2006/main">
            <a:off x="804672" y="5340096"/>
            <a:ext cx="10582351"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C9D8E8"/>
                </a:solidFill>
                <a:latin typeface="Arial"/>
                <a:ea typeface="Arial"/>
                <a:cs typeface="Arial"/>
              </a:rPr>
              <a:t>The recommended stance: position the programme as a productised, configuration-led delivery that gives the client the in-house feel, modularity and delivery speed it is asking for, while resolving ownership through escrow and perpetual licence. The gap is not technical fit. It is the commercial model, and it has to be resolved before the solution is finalised — not after.</a:t>
            </a:r>
            <a:endParaRPr sz="990"/>
          </a:p>
        </p:txBody>
      </p:sp>
      <p:sp>
        <p:nvSpPr>
          <p:cNvPr id="18" name="Shape 16">
            <a:extLst xmlns:a="http://schemas.openxmlformats.org/drawingml/2006/main">
              <a:ext uri="{FF2B5EF4-FFF2-40B4-BE49-F238E27FC236}">
                <a16:creationId xmlns:a16="http://schemas.microsoft.com/office/drawing/2014/main" id="{9F36E6A1-FC11-4471-9A2E-AEE6C232BF4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9" name="Text 17">
            <a:extLst xmlns:a="http://schemas.openxmlformats.org/drawingml/2006/main">
              <a:ext uri="{FF2B5EF4-FFF2-40B4-BE49-F238E27FC236}">
                <a16:creationId xmlns:a16="http://schemas.microsoft.com/office/drawing/2014/main" id="{9F71B42A-2813-4BD6-819F-6D73F46870E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solution and deal analysis</a:t>
            </a:r>
            <a:endParaRPr sz="850"/>
          </a:p>
        </p:txBody>
      </p:sp>
      <p:sp>
        <p:nvSpPr>
          <p:cNvPr id="20" name="Text 18">
            <a:extLst xmlns:a="http://schemas.openxmlformats.org/drawingml/2006/main">
              <a:ext uri="{FF2B5EF4-FFF2-40B4-BE49-F238E27FC236}">
                <a16:creationId xmlns:a16="http://schemas.microsoft.com/office/drawing/2014/main" id="{443570FF-4843-489E-989A-5E44680A77B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808559655"/>
      </p:ext>
    </p:extLst>
  </p:cSld>
</p:sld>
</file>

<file path=ppt/slides/slide1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9B3C891-DB9F-4653-91CF-37977FD3DD7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DELIVERY SHAPE</a:t>
            </a:r>
            <a:endParaRPr sz="950"/>
          </a:p>
        </p:txBody>
      </p:sp>
      <p:sp>
        <p:nvSpPr>
          <p:cNvPr id="3" name="Text 1">
            <a:extLst xmlns:a="http://schemas.openxmlformats.org/drawingml/2006/main">
              <a:ext uri="{FF2B5EF4-FFF2-40B4-BE49-F238E27FC236}">
                <a16:creationId xmlns:a16="http://schemas.microsoft.com/office/drawing/2014/main" id="{B0D22293-DB74-421E-AA0E-F0633112C03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One hundred and fifty-eight person-months across seven roles — and the mix says</a:t>
            </a:r>
            <a:endParaRPr sz="1900"/>
          </a:p>
          <a:p xmlns:a="http://schemas.openxmlformats.org/drawingml/2006/main">
            <a:pPr marL="0" indent="0">
              <a:lnSpc>
                <a:spcPts val="2400"/>
              </a:lnSpc>
              <a:buNone/>
            </a:pPr>
            <a:r>
              <a:rPr sz="1900" b="1">
                <a:solidFill>
                  <a:srgbClr val="102A43"/>
                </a:solidFill>
                <a:latin typeface="Arial"/>
                <a:ea typeface="Arial"/>
                <a:cs typeface="Arial"/>
              </a:rPr>
              <a:t>more about the programme than the total does</a:t>
            </a:r>
            <a:endParaRPr sz="1900"/>
          </a:p>
        </p:txBody>
      </p:sp>
      <p:graphicFrame>
        <p:nvGraphicFramePr>
          <p:cNvPr id="30" name="Chart 0"/>
          <p:cNvGraphicFramePr/>
          <p:nvPr/>
        </p:nvGraphicFramePr>
        <p:xfrm>
          <a:off xmlns:a="http://schemas.openxmlformats.org/drawingml/2006/main" x="566928" y="1426464"/>
          <a:ext xmlns:a="http://schemas.openxmlformats.org/drawingml/2006/main" cx="6126480" cy="2834640"/>
        </p:xfrm>
        <a:graphic xmlns:a="http://schemas.openxmlformats.org/drawingml/2006/main">
          <a:graphicData uri="http://schemas.openxmlformats.org/drawingml/2006/chart">
            <c:chart xmlns:r="http://schemas.openxmlformats.org/officeDocument/2006/relationships" xmlns:c="http://schemas.openxmlformats.org/drawingml/2006/chart" r:id="R2e0da9e22fab4f34"/>
          </a:graphicData>
        </a:graphic>
      </p:graphicFrame>
      <p:sp>
        <p:nvSpPr>
          <p:cNvPr id="5" name="Text 2">
            <a:extLst xmlns:a="http://schemas.openxmlformats.org/drawingml/2006/main">
              <a:ext uri="{FF2B5EF4-FFF2-40B4-BE49-F238E27FC236}">
                <a16:creationId xmlns:a16="http://schemas.microsoft.com/office/drawing/2014/main" id="{BF0FF6CA-0794-43C6-B614-7A55F95F8695}"/>
              </a:ext>
            </a:extLst>
          </p:cNvPr>
          <p:cNvSpPr>
            <a:spLocks xmlns:a="http://schemas.openxmlformats.org/drawingml/2006/main" noGrp="1"/>
          </p:cNvSpPr>
          <p:nvPr/>
        </p:nvSpPr>
        <p:spPr>
          <a:xfrm xmlns:a="http://schemas.openxmlformats.org/drawingml/2006/main">
            <a:off x="566928" y="4334256"/>
            <a:ext cx="6126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Estimated effort by role — pre-award estimate from the issued scope</a:t>
            </a:r>
            <a:endParaRPr sz="880"/>
          </a:p>
        </p:txBody>
      </p:sp>
      <p:sp>
        <p:nvSpPr>
          <p:cNvPr id="6" name="Shape 3">
            <a:extLst xmlns:a="http://schemas.openxmlformats.org/drawingml/2006/main">
              <a:ext uri="{FF2B5EF4-FFF2-40B4-BE49-F238E27FC236}">
                <a16:creationId xmlns:a16="http://schemas.microsoft.com/office/drawing/2014/main" id="{109E04AA-4905-47BA-BDA1-1AE288807EF0}"/>
              </a:ext>
            </a:extLst>
          </p:cNvPr>
          <p:cNvSpPr>
            <a:spLocks xmlns:a="http://schemas.openxmlformats.org/drawingml/2006/main" noGrp="1"/>
          </p:cNvSpPr>
          <p:nvPr/>
        </p:nvSpPr>
        <p:spPr>
          <a:xfrm xmlns:a="http://schemas.openxmlformats.org/drawingml/2006/main">
            <a:off x="7059168" y="1426464"/>
            <a:ext cx="2231136" cy="914400"/>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E3F8F115-3D3C-4E40-B2CD-E0EA0EBD5387}"/>
              </a:ext>
            </a:extLst>
          </p:cNvPr>
          <p:cNvSpPr>
            <a:spLocks xmlns:a="http://schemas.openxmlformats.org/drawingml/2006/main" noGrp="1"/>
          </p:cNvSpPr>
          <p:nvPr/>
        </p:nvSpPr>
        <p:spPr>
          <a:xfrm xmlns:a="http://schemas.openxmlformats.org/drawingml/2006/main">
            <a:off x="7187184" y="1545336"/>
            <a:ext cx="197510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158</a:t>
            </a:r>
            <a:endParaRPr sz="2200"/>
          </a:p>
        </p:txBody>
      </p:sp>
      <p:sp>
        <p:nvSpPr>
          <p:cNvPr id="8" name="Text 5">
            <a:extLst xmlns:a="http://schemas.openxmlformats.org/drawingml/2006/main">
              <a:ext uri="{FF2B5EF4-FFF2-40B4-BE49-F238E27FC236}">
                <a16:creationId xmlns:a16="http://schemas.microsoft.com/office/drawing/2014/main" id="{CBDA0331-90AD-496E-94A0-C186F061E0EA}"/>
              </a:ext>
            </a:extLst>
          </p:cNvPr>
          <p:cNvSpPr>
            <a:spLocks xmlns:a="http://schemas.openxmlformats.org/drawingml/2006/main" noGrp="1"/>
          </p:cNvSpPr>
          <p:nvPr/>
        </p:nvSpPr>
        <p:spPr>
          <a:xfrm xmlns:a="http://schemas.openxmlformats.org/drawingml/2006/main">
            <a:off x="7187184" y="1938528"/>
            <a:ext cx="197510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person-months</a:t>
            </a:r>
            <a:endParaRPr sz="860"/>
          </a:p>
          <a:p xmlns:a="http://schemas.openxmlformats.org/drawingml/2006/main">
            <a:pPr marL="0" indent="0">
              <a:lnSpc>
                <a:spcPts val="1050"/>
              </a:lnSpc>
              <a:buNone/>
            </a:pPr>
            <a:r>
              <a:rPr sz="860">
                <a:solidFill>
                  <a:srgbClr val="486581"/>
                </a:solidFill>
                <a:latin typeface="Arial"/>
                <a:ea typeface="Arial"/>
                <a:cs typeface="Arial"/>
              </a:rPr>
              <a:t>estimated</a:t>
            </a:r>
            <a:endParaRPr sz="860"/>
          </a:p>
        </p:txBody>
      </p:sp>
      <p:sp>
        <p:nvSpPr>
          <p:cNvPr id="9" name="Shape 6">
            <a:extLst xmlns:a="http://schemas.openxmlformats.org/drawingml/2006/main">
              <a:ext uri="{FF2B5EF4-FFF2-40B4-BE49-F238E27FC236}">
                <a16:creationId xmlns:a16="http://schemas.microsoft.com/office/drawing/2014/main" id="{EC4B4E4F-75D7-4BEF-8CB0-BCC3576A2CDC}"/>
              </a:ext>
            </a:extLst>
          </p:cNvPr>
          <p:cNvSpPr>
            <a:spLocks xmlns:a="http://schemas.openxmlformats.org/drawingml/2006/main" noGrp="1"/>
          </p:cNvSpPr>
          <p:nvPr/>
        </p:nvSpPr>
        <p:spPr>
          <a:xfrm xmlns:a="http://schemas.openxmlformats.org/drawingml/2006/main">
            <a:off x="9390888" y="1426464"/>
            <a:ext cx="2231136" cy="914400"/>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4C1AD1F6-1350-4CE9-BE24-DCA6796C8DED}"/>
              </a:ext>
            </a:extLst>
          </p:cNvPr>
          <p:cNvSpPr>
            <a:spLocks xmlns:a="http://schemas.openxmlformats.org/drawingml/2006/main" noGrp="1"/>
          </p:cNvSpPr>
          <p:nvPr/>
        </p:nvSpPr>
        <p:spPr>
          <a:xfrm xmlns:a="http://schemas.openxmlformats.org/drawingml/2006/main">
            <a:off x="9518904" y="1545336"/>
            <a:ext cx="197510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15</a:t>
            </a:r>
            <a:endParaRPr sz="2200"/>
          </a:p>
        </p:txBody>
      </p:sp>
      <p:sp>
        <p:nvSpPr>
          <p:cNvPr id="11" name="Text 8">
            <a:extLst xmlns:a="http://schemas.openxmlformats.org/drawingml/2006/main">
              <a:ext uri="{FF2B5EF4-FFF2-40B4-BE49-F238E27FC236}">
                <a16:creationId xmlns:a16="http://schemas.microsoft.com/office/drawing/2014/main" id="{9D54F6EB-8FFA-4C13-9AB5-2102990CF3EE}"/>
              </a:ext>
            </a:extLst>
          </p:cNvPr>
          <p:cNvSpPr>
            <a:spLocks xmlns:a="http://schemas.openxmlformats.org/drawingml/2006/main" noGrp="1"/>
          </p:cNvSpPr>
          <p:nvPr/>
        </p:nvSpPr>
        <p:spPr>
          <a:xfrm xmlns:a="http://schemas.openxmlformats.org/drawingml/2006/main">
            <a:off x="9518904" y="1938528"/>
            <a:ext cx="197510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resources across</a:t>
            </a:r>
            <a:endParaRPr sz="860"/>
          </a:p>
          <a:p xmlns:a="http://schemas.openxmlformats.org/drawingml/2006/main">
            <a:pPr marL="0" indent="0">
              <a:lnSpc>
                <a:spcPts val="1050"/>
              </a:lnSpc>
              <a:buNone/>
            </a:pPr>
            <a:r>
              <a:rPr sz="860">
                <a:solidFill>
                  <a:srgbClr val="486581"/>
                </a:solidFill>
                <a:latin typeface="Arial"/>
                <a:ea typeface="Arial"/>
                <a:cs typeface="Arial"/>
              </a:rPr>
              <a:t>seven roles</a:t>
            </a:r>
            <a:endParaRPr sz="860"/>
          </a:p>
        </p:txBody>
      </p:sp>
      <p:sp>
        <p:nvSpPr>
          <p:cNvPr id="12" name="Shape 9">
            <a:extLst xmlns:a="http://schemas.openxmlformats.org/drawingml/2006/main">
              <a:ext uri="{FF2B5EF4-FFF2-40B4-BE49-F238E27FC236}">
                <a16:creationId xmlns:a16="http://schemas.microsoft.com/office/drawing/2014/main" id="{E09B5552-C3EC-4541-A2A7-8F72CAB14B46}"/>
              </a:ext>
            </a:extLst>
          </p:cNvPr>
          <p:cNvSpPr>
            <a:spLocks xmlns:a="http://schemas.openxmlformats.org/drawingml/2006/main" noGrp="1"/>
          </p:cNvSpPr>
          <p:nvPr/>
        </p:nvSpPr>
        <p:spPr>
          <a:xfrm xmlns:a="http://schemas.openxmlformats.org/drawingml/2006/main">
            <a:off x="7059168" y="2432304"/>
            <a:ext cx="2231136" cy="914400"/>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C19409FE-231D-46D6-9A3D-8CACBE8BBB7A}"/>
              </a:ext>
            </a:extLst>
          </p:cNvPr>
          <p:cNvSpPr>
            <a:spLocks xmlns:a="http://schemas.openxmlformats.org/drawingml/2006/main" noGrp="1"/>
          </p:cNvSpPr>
          <p:nvPr/>
        </p:nvSpPr>
        <p:spPr>
          <a:xfrm xmlns:a="http://schemas.openxmlformats.org/drawingml/2006/main">
            <a:off x="7187184" y="2551176"/>
            <a:ext cx="197510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102A43"/>
                </a:solidFill>
                <a:latin typeface="Arial"/>
                <a:ea typeface="Arial"/>
                <a:cs typeface="Arial"/>
              </a:rPr>
              <a:t>17</a:t>
            </a:r>
            <a:endParaRPr sz="2200"/>
          </a:p>
        </p:txBody>
      </p:sp>
      <p:sp>
        <p:nvSpPr>
          <p:cNvPr id="14" name="Text 11">
            <a:extLst xmlns:a="http://schemas.openxmlformats.org/drawingml/2006/main">
              <a:ext uri="{FF2B5EF4-FFF2-40B4-BE49-F238E27FC236}">
                <a16:creationId xmlns:a16="http://schemas.microsoft.com/office/drawing/2014/main" id="{1AF60FEF-7E00-4CF5-8D4A-88DB030B8489}"/>
              </a:ext>
            </a:extLst>
          </p:cNvPr>
          <p:cNvSpPr>
            <a:spLocks xmlns:a="http://schemas.openxmlformats.org/drawingml/2006/main" noGrp="1"/>
          </p:cNvSpPr>
          <p:nvPr/>
        </p:nvSpPr>
        <p:spPr>
          <a:xfrm xmlns:a="http://schemas.openxmlformats.org/drawingml/2006/main">
            <a:off x="7187184" y="2944368"/>
            <a:ext cx="197510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months, ten</a:t>
            </a:r>
            <a:endParaRPr sz="860"/>
          </a:p>
          <a:p xmlns:a="http://schemas.openxmlformats.org/drawingml/2006/main">
            <a:pPr marL="0" indent="0">
              <a:lnSpc>
                <a:spcPts val="1050"/>
              </a:lnSpc>
              <a:buNone/>
            </a:pPr>
            <a:r>
              <a:rPr sz="860">
                <a:solidFill>
                  <a:srgbClr val="486581"/>
                </a:solidFill>
                <a:latin typeface="Arial"/>
                <a:ea typeface="Arial"/>
                <a:cs typeface="Arial"/>
              </a:rPr>
              <a:t>milestones</a:t>
            </a:r>
            <a:endParaRPr sz="860"/>
          </a:p>
        </p:txBody>
      </p:sp>
      <p:sp>
        <p:nvSpPr>
          <p:cNvPr id="15" name="Shape 12">
            <a:extLst xmlns:a="http://schemas.openxmlformats.org/drawingml/2006/main">
              <a:ext uri="{FF2B5EF4-FFF2-40B4-BE49-F238E27FC236}">
                <a16:creationId xmlns:a16="http://schemas.microsoft.com/office/drawing/2014/main" id="{4A7879EC-8374-434D-BA1D-347E28F3E0B8}"/>
              </a:ext>
            </a:extLst>
          </p:cNvPr>
          <p:cNvSpPr>
            <a:spLocks xmlns:a="http://schemas.openxmlformats.org/drawingml/2006/main" noGrp="1"/>
          </p:cNvSpPr>
          <p:nvPr/>
        </p:nvSpPr>
        <p:spPr>
          <a:xfrm xmlns:a="http://schemas.openxmlformats.org/drawingml/2006/main">
            <a:off x="9390888" y="2432304"/>
            <a:ext cx="2231136" cy="914400"/>
          </a:xfrm>
          <a:prstGeom xmlns:a="http://schemas.openxmlformats.org/drawingml/2006/main" prst="rect">
            <a:avLst/>
          </a:prstGeom>
          <a:solidFill xmlns:a="http://schemas.openxmlformats.org/drawingml/2006/main">
            <a:srgbClr val="F0F4F8"/>
          </a:solidFill>
        </p:spPr>
      </p:sp>
      <p:sp>
        <p:nvSpPr>
          <p:cNvPr id="16" name="Text 13">
            <a:extLst xmlns:a="http://schemas.openxmlformats.org/drawingml/2006/main">
              <a:ext uri="{FF2B5EF4-FFF2-40B4-BE49-F238E27FC236}">
                <a16:creationId xmlns:a16="http://schemas.microsoft.com/office/drawing/2014/main" id="{9F914974-1B8B-4FB0-A90B-BD88A25E8A0E}"/>
              </a:ext>
            </a:extLst>
          </p:cNvPr>
          <p:cNvSpPr>
            <a:spLocks xmlns:a="http://schemas.openxmlformats.org/drawingml/2006/main" noGrp="1"/>
          </p:cNvSpPr>
          <p:nvPr/>
        </p:nvSpPr>
        <p:spPr>
          <a:xfrm xmlns:a="http://schemas.openxmlformats.org/drawingml/2006/main">
            <a:off x="9518904" y="2551176"/>
            <a:ext cx="197510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17%</a:t>
            </a:r>
            <a:endParaRPr sz="2200"/>
          </a:p>
        </p:txBody>
      </p:sp>
      <p:sp>
        <p:nvSpPr>
          <p:cNvPr id="17" name="Text 14">
            <a:extLst xmlns:a="http://schemas.openxmlformats.org/drawingml/2006/main">
              <a:ext uri="{FF2B5EF4-FFF2-40B4-BE49-F238E27FC236}">
                <a16:creationId xmlns:a16="http://schemas.microsoft.com/office/drawing/2014/main" id="{353A2BCA-1FA1-46CE-B5D1-C91CFFDED3E6}"/>
              </a:ext>
            </a:extLst>
          </p:cNvPr>
          <p:cNvSpPr>
            <a:spLocks xmlns:a="http://schemas.openxmlformats.org/drawingml/2006/main" noGrp="1"/>
          </p:cNvSpPr>
          <p:nvPr/>
        </p:nvSpPr>
        <p:spPr>
          <a:xfrm xmlns:a="http://schemas.openxmlformats.org/drawingml/2006/main">
            <a:off x="9518904" y="2944368"/>
            <a:ext cx="197510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of effort in</a:t>
            </a:r>
            <a:endParaRPr sz="860"/>
          </a:p>
          <a:p xmlns:a="http://schemas.openxmlformats.org/drawingml/2006/main">
            <a:pPr marL="0" indent="0">
              <a:lnSpc>
                <a:spcPts val="1050"/>
              </a:lnSpc>
              <a:buNone/>
            </a:pPr>
            <a:r>
              <a:rPr sz="860">
                <a:solidFill>
                  <a:srgbClr val="486581"/>
                </a:solidFill>
                <a:latin typeface="Arial"/>
                <a:ea typeface="Arial"/>
                <a:cs typeface="Arial"/>
              </a:rPr>
              <a:t>AI and ML</a:t>
            </a:r>
            <a:endParaRPr sz="860"/>
          </a:p>
        </p:txBody>
      </p:sp>
      <p:sp>
        <p:nvSpPr>
          <p:cNvPr id="18" name="Text 15">
            <a:extLst xmlns:a="http://schemas.openxmlformats.org/drawingml/2006/main">
              <a:ext uri="{FF2B5EF4-FFF2-40B4-BE49-F238E27FC236}">
                <a16:creationId xmlns:a16="http://schemas.microsoft.com/office/drawing/2014/main" id="{070EA4BF-2258-475D-BFF6-B2B013A3D911}"/>
              </a:ext>
            </a:extLst>
          </p:cNvPr>
          <p:cNvSpPr>
            <a:spLocks xmlns:a="http://schemas.openxmlformats.org/drawingml/2006/main" noGrp="1"/>
          </p:cNvSpPr>
          <p:nvPr/>
        </p:nvSpPr>
        <p:spPr>
          <a:xfrm xmlns:a="http://schemas.openxmlformats.org/drawingml/2006/main">
            <a:off x="7059168" y="3493008"/>
            <a:ext cx="4562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mix reveals</a:t>
            </a:r>
            <a:endParaRPr sz="1100"/>
          </a:p>
        </p:txBody>
      </p:sp>
      <p:sp>
        <p:nvSpPr>
          <p:cNvPr id="19" name="Shape 16">
            <a:extLst xmlns:a="http://schemas.openxmlformats.org/drawingml/2006/main">
              <a:ext uri="{FF2B5EF4-FFF2-40B4-BE49-F238E27FC236}">
                <a16:creationId xmlns:a16="http://schemas.microsoft.com/office/drawing/2014/main" id="{8DAEE231-161F-4E7D-AD31-FE76089BC255}"/>
              </a:ext>
            </a:extLst>
          </p:cNvPr>
          <p:cNvSpPr>
            <a:spLocks xmlns:a="http://schemas.openxmlformats.org/drawingml/2006/main" noGrp="1"/>
          </p:cNvSpPr>
          <p:nvPr/>
        </p:nvSpPr>
        <p:spPr>
          <a:xfrm xmlns:a="http://schemas.openxmlformats.org/drawingml/2006/main">
            <a:off x="7059168" y="3749040"/>
            <a:ext cx="4562856" cy="20117"/>
          </a:xfrm>
          <a:prstGeom xmlns:a="http://schemas.openxmlformats.org/drawingml/2006/main" prst="rect">
            <a:avLst/>
          </a:prstGeom>
          <a:solidFill xmlns:a="http://schemas.openxmlformats.org/drawingml/2006/main">
            <a:srgbClr val="102A43"/>
          </a:solidFill>
        </p:spPr>
      </p:sp>
      <p:sp>
        <p:nvSpPr>
          <p:cNvPr id="20" name="Text 17">
            <a:extLst xmlns:a="http://schemas.openxmlformats.org/drawingml/2006/main">
              <a:ext uri="{FF2B5EF4-FFF2-40B4-BE49-F238E27FC236}">
                <a16:creationId xmlns:a16="http://schemas.microsoft.com/office/drawing/2014/main" id="{51608590-710D-43F4-A58B-487395E49FFC}"/>
              </a:ext>
            </a:extLst>
          </p:cNvPr>
          <p:cNvSpPr>
            <a:spLocks xmlns:a="http://schemas.openxmlformats.org/drawingml/2006/main" noGrp="1"/>
          </p:cNvSpPr>
          <p:nvPr/>
        </p:nvSpPr>
        <p:spPr>
          <a:xfrm xmlns:a="http://schemas.openxmlformats.org/drawingml/2006/main">
            <a:off x="7059168" y="3895344"/>
            <a:ext cx="4562856"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Functional effort exceeds technical — consistent with configuration-led delivery, not a ground-up build.</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A sixth of effort sits in AI and machine learning, the least certain line in the estimate.</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Two person-months of architecture is thin for work embedded in someone else's container.</a:t>
            </a:r>
            <a:endParaRPr sz="940"/>
          </a:p>
        </p:txBody>
      </p:sp>
      <p:sp>
        <p:nvSpPr>
          <p:cNvPr id="21" name="Shape 18">
            <a:extLst xmlns:a="http://schemas.openxmlformats.org/drawingml/2006/main">
              <a:ext uri="{FF2B5EF4-FFF2-40B4-BE49-F238E27FC236}">
                <a16:creationId xmlns:a16="http://schemas.microsoft.com/office/drawing/2014/main" id="{933EBA69-1CCB-4B48-BF92-6A517A539514}"/>
              </a:ext>
            </a:extLst>
          </p:cNvPr>
          <p:cNvSpPr>
            <a:spLocks xmlns:a="http://schemas.openxmlformats.org/drawingml/2006/main" noGrp="1"/>
          </p:cNvSpPr>
          <p:nvPr/>
        </p:nvSpPr>
        <p:spPr>
          <a:xfrm xmlns:a="http://schemas.openxmlformats.org/drawingml/2006/main">
            <a:off x="566928" y="4992624"/>
            <a:ext cx="11057839" cy="1078992"/>
          </a:xfrm>
          <a:prstGeom xmlns:a="http://schemas.openxmlformats.org/drawingml/2006/main" prst="rect">
            <a:avLst/>
          </a:prstGeom>
          <a:solidFill xmlns:a="http://schemas.openxmlformats.org/drawingml/2006/main">
            <a:srgbClr val="F3E6E0"/>
          </a:solidFill>
        </p:spPr>
      </p:sp>
      <p:sp>
        <p:nvSpPr>
          <p:cNvPr id="22" name="Text 19">
            <a:extLst xmlns:a="http://schemas.openxmlformats.org/drawingml/2006/main">
              <a:ext uri="{FF2B5EF4-FFF2-40B4-BE49-F238E27FC236}">
                <a16:creationId xmlns:a16="http://schemas.microsoft.com/office/drawing/2014/main" id="{34E1BE77-6798-4C13-A66B-E88517B4AFE0}"/>
              </a:ext>
            </a:extLst>
          </p:cNvPr>
          <p:cNvSpPr>
            <a:spLocks xmlns:a="http://schemas.openxmlformats.org/drawingml/2006/main" noGrp="1"/>
          </p:cNvSpPr>
          <p:nvPr/>
        </p:nvSpPr>
        <p:spPr>
          <a:xfrm xmlns:a="http://schemas.openxmlformats.org/drawingml/2006/main">
            <a:off x="804672" y="513892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Where I would challenge this estimate before submission</a:t>
            </a:r>
            <a:endParaRPr sz="1100"/>
          </a:p>
        </p:txBody>
      </p:sp>
      <p:sp>
        <p:nvSpPr>
          <p:cNvPr id="23" name="Text 20">
            <a:extLst xmlns:a="http://schemas.openxmlformats.org/drawingml/2006/main">
              <a:ext uri="{FF2B5EF4-FFF2-40B4-BE49-F238E27FC236}">
                <a16:creationId xmlns:a16="http://schemas.microsoft.com/office/drawing/2014/main" id="{8AC675C4-2109-4809-B934-8A6B8147FC58}"/>
              </a:ext>
            </a:extLst>
          </p:cNvPr>
          <p:cNvSpPr>
            <a:spLocks xmlns:a="http://schemas.openxmlformats.org/drawingml/2006/main" noGrp="1"/>
          </p:cNvSpPr>
          <p:nvPr/>
        </p:nvSpPr>
        <p:spPr>
          <a:xfrm xmlns:a="http://schemas.openxmlformats.org/drawingml/2006/main">
            <a:off x="804672" y="5394960"/>
            <a:ext cx="10582351"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Two lines look optimistic against the scope. Architecture at two person-months does not cover integration into a client-owned container plus offline synchronisation across ten channels — that is design work with a long approval path. And AI at twenty-seven assumes model operations are inherited rather than built; if scoring, next-best-action and agentic assist are genuinely new, that is a floor. Both belong in the risk register with a named contingency, not absorbed into the fixed bid.</a:t>
            </a:r>
            <a:endParaRPr sz="990"/>
          </a:p>
        </p:txBody>
      </p:sp>
      <p:sp>
        <p:nvSpPr>
          <p:cNvPr id="24" name="Shape 21">
            <a:extLst xmlns:a="http://schemas.openxmlformats.org/drawingml/2006/main">
              <a:ext uri="{FF2B5EF4-FFF2-40B4-BE49-F238E27FC236}">
                <a16:creationId xmlns:a16="http://schemas.microsoft.com/office/drawing/2014/main" id="{AEC42029-0D15-44C4-BCB9-8F9CC1670FF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5" name="Text 22">
            <a:extLst xmlns:a="http://schemas.openxmlformats.org/drawingml/2006/main">
              <a:ext uri="{FF2B5EF4-FFF2-40B4-BE49-F238E27FC236}">
                <a16:creationId xmlns:a16="http://schemas.microsoft.com/office/drawing/2014/main" id="{4A7B7BD1-0DA7-40EA-99CF-085DD980228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pre-award effort estimate — not a delivered outcome or a priced offer</a:t>
            </a:r>
            <a:endParaRPr sz="850"/>
          </a:p>
        </p:txBody>
      </p:sp>
      <p:sp>
        <p:nvSpPr>
          <p:cNvPr id="26" name="Text 23">
            <a:extLst xmlns:a="http://schemas.openxmlformats.org/drawingml/2006/main">
              <a:ext uri="{FF2B5EF4-FFF2-40B4-BE49-F238E27FC236}">
                <a16:creationId xmlns:a16="http://schemas.microsoft.com/office/drawing/2014/main" id="{0449E08A-11E4-4A00-9866-C8617566B6A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123375293"/>
      </p:ext>
    </p:extLst>
  </p:cSld>
</p:sld>
</file>

<file path=ppt/slides/slide1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97DB633-DFD5-42CC-B502-0E10B097EA1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PLAYBOOK</a:t>
            </a:r>
            <a:endParaRPr sz="950"/>
          </a:p>
        </p:txBody>
      </p:sp>
      <p:sp>
        <p:nvSpPr>
          <p:cNvPr id="3" name="Text 1">
            <a:extLst xmlns:a="http://schemas.openxmlformats.org/drawingml/2006/main">
              <a:ext uri="{FF2B5EF4-FFF2-40B4-BE49-F238E27FC236}">
                <a16:creationId xmlns:a16="http://schemas.microsoft.com/office/drawing/2014/main" id="{A5577ED6-DBE2-4AC0-851E-8DEF25C7265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things that make a displacement bid different from a greenfield one — and that</a:t>
            </a:r>
            <a:endParaRPr sz="1900"/>
          </a:p>
          <a:p xmlns:a="http://schemas.openxmlformats.org/drawingml/2006/main">
            <a:pPr marL="0" indent="0">
              <a:lnSpc>
                <a:spcPts val="2400"/>
              </a:lnSpc>
              <a:buNone/>
            </a:pPr>
            <a:r>
              <a:rPr sz="1900" b="1">
                <a:solidFill>
                  <a:srgbClr val="102A43"/>
                </a:solidFill>
                <a:latin typeface="Arial"/>
                <a:ea typeface="Arial"/>
                <a:cs typeface="Arial"/>
              </a:rPr>
              <a:t>most proposal templates get wrong</a:t>
            </a:r>
            <a:endParaRPr sz="1900"/>
          </a:p>
        </p:txBody>
      </p:sp>
      <p:sp>
        <p:nvSpPr>
          <p:cNvPr id="4" name="Shape 2">
            <a:extLst xmlns:a="http://schemas.openxmlformats.org/drawingml/2006/main">
              <a:ext uri="{FF2B5EF4-FFF2-40B4-BE49-F238E27FC236}">
                <a16:creationId xmlns:a16="http://schemas.microsoft.com/office/drawing/2014/main" id="{84854F38-43C9-4A39-BE40-56A6083114B9}"/>
              </a:ext>
            </a:extLst>
          </p:cNvPr>
          <p:cNvSpPr>
            <a:spLocks xmlns:a="http://schemas.openxmlformats.org/drawingml/2006/main" noGrp="1"/>
          </p:cNvSpPr>
          <p:nvPr/>
        </p:nvSpPr>
        <p:spPr>
          <a:xfrm xmlns:a="http://schemas.openxmlformats.org/drawingml/2006/main">
            <a:off x="566928" y="1335024"/>
            <a:ext cx="5391760" cy="1042416"/>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2D75C179-7355-4D3D-8AC5-98DC8FF361A1}"/>
              </a:ext>
            </a:extLst>
          </p:cNvPr>
          <p:cNvSpPr>
            <a:spLocks xmlns:a="http://schemas.openxmlformats.org/drawingml/2006/main" noGrp="1"/>
          </p:cNvSpPr>
          <p:nvPr/>
        </p:nvSpPr>
        <p:spPr>
          <a:xfrm xmlns:a="http://schemas.openxmlformats.org/drawingml/2006/main">
            <a:off x="786384" y="148132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01</a:t>
            </a:r>
            <a:endParaRPr sz="900"/>
          </a:p>
        </p:txBody>
      </p:sp>
      <p:sp>
        <p:nvSpPr>
          <p:cNvPr id="6" name="Text 4">
            <a:extLst xmlns:a="http://schemas.openxmlformats.org/drawingml/2006/main">
              <a:ext uri="{FF2B5EF4-FFF2-40B4-BE49-F238E27FC236}">
                <a16:creationId xmlns:a16="http://schemas.microsoft.com/office/drawing/2014/main" id="{5C666161-B138-4C18-8050-C77A8675695F}"/>
              </a:ext>
            </a:extLst>
          </p:cNvPr>
          <p:cNvSpPr>
            <a:spLocks xmlns:a="http://schemas.openxmlformats.org/drawingml/2006/main" noGrp="1"/>
          </p:cNvSpPr>
          <p:nvPr/>
        </p:nvSpPr>
        <p:spPr>
          <a:xfrm xmlns:a="http://schemas.openxmlformats.org/drawingml/2006/main">
            <a:off x="1207008" y="1463040"/>
            <a:ext cx="453222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102A43"/>
                </a:solidFill>
                <a:latin typeface="Arial"/>
                <a:ea typeface="Arial"/>
                <a:cs typeface="Arial"/>
              </a:rPr>
              <a:t>Compete against inertia, not the incumbent</a:t>
            </a:r>
            <a:endParaRPr sz="1140"/>
          </a:p>
        </p:txBody>
      </p:sp>
      <p:sp>
        <p:nvSpPr>
          <p:cNvPr id="7" name="Text 5">
            <a:extLst xmlns:a="http://schemas.openxmlformats.org/drawingml/2006/main">
              <a:ext uri="{FF2B5EF4-FFF2-40B4-BE49-F238E27FC236}">
                <a16:creationId xmlns:a16="http://schemas.microsoft.com/office/drawing/2014/main" id="{3708D1C1-BF94-40E6-9BE6-4E170B5A7EC3}"/>
              </a:ext>
            </a:extLst>
          </p:cNvPr>
          <p:cNvSpPr>
            <a:spLocks xmlns:a="http://schemas.openxmlformats.org/drawingml/2006/main" noGrp="1"/>
          </p:cNvSpPr>
          <p:nvPr/>
        </p:nvSpPr>
        <p:spPr>
          <a:xfrm xmlns:a="http://schemas.openxmlformats.org/drawingml/2006/main">
            <a:off x="1207008" y="1737360"/>
            <a:ext cx="453222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alternative to your bid is not the other vendor. It is doing nothing for another eighteen months. Every objection you answer should be an objection to changing at all.</a:t>
            </a:r>
            <a:endParaRPr sz="940"/>
          </a:p>
        </p:txBody>
      </p:sp>
      <p:sp>
        <p:nvSpPr>
          <p:cNvPr id="8" name="Shape 6">
            <a:extLst xmlns:a="http://schemas.openxmlformats.org/drawingml/2006/main">
              <a:ext uri="{FF2B5EF4-FFF2-40B4-BE49-F238E27FC236}">
                <a16:creationId xmlns:a16="http://schemas.microsoft.com/office/drawing/2014/main" id="{F60C8ECA-78D7-43C5-835D-C4B878A23294}"/>
              </a:ext>
            </a:extLst>
          </p:cNvPr>
          <p:cNvSpPr>
            <a:spLocks xmlns:a="http://schemas.openxmlformats.org/drawingml/2006/main" noGrp="1"/>
          </p:cNvSpPr>
          <p:nvPr/>
        </p:nvSpPr>
        <p:spPr>
          <a:xfrm xmlns:a="http://schemas.openxmlformats.org/drawingml/2006/main">
            <a:off x="6233008" y="1335024"/>
            <a:ext cx="5391760" cy="1042416"/>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2CD23765-8B94-4854-A806-C97ADE1A1789}"/>
              </a:ext>
            </a:extLst>
          </p:cNvPr>
          <p:cNvSpPr>
            <a:spLocks xmlns:a="http://schemas.openxmlformats.org/drawingml/2006/main" noGrp="1"/>
          </p:cNvSpPr>
          <p:nvPr/>
        </p:nvSpPr>
        <p:spPr>
          <a:xfrm xmlns:a="http://schemas.openxmlformats.org/drawingml/2006/main">
            <a:off x="6452464" y="148132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02</a:t>
            </a:r>
            <a:endParaRPr sz="900"/>
          </a:p>
        </p:txBody>
      </p:sp>
      <p:sp>
        <p:nvSpPr>
          <p:cNvPr id="10" name="Text 8">
            <a:extLst xmlns:a="http://schemas.openxmlformats.org/drawingml/2006/main">
              <a:ext uri="{FF2B5EF4-FFF2-40B4-BE49-F238E27FC236}">
                <a16:creationId xmlns:a16="http://schemas.microsoft.com/office/drawing/2014/main" id="{3CC77CCF-F8EA-408E-ABB9-28FFA1ECBA4A}"/>
              </a:ext>
            </a:extLst>
          </p:cNvPr>
          <p:cNvSpPr>
            <a:spLocks xmlns:a="http://schemas.openxmlformats.org/drawingml/2006/main" noGrp="1"/>
          </p:cNvSpPr>
          <p:nvPr/>
        </p:nvSpPr>
        <p:spPr>
          <a:xfrm xmlns:a="http://schemas.openxmlformats.org/drawingml/2006/main">
            <a:off x="6873088" y="1463040"/>
            <a:ext cx="453222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102A43"/>
                </a:solidFill>
                <a:latin typeface="Arial"/>
                <a:ea typeface="Arial"/>
                <a:cs typeface="Arial"/>
              </a:rPr>
              <a:t>Inherit the incumbent's scope, then some</a:t>
            </a:r>
            <a:endParaRPr sz="1140"/>
          </a:p>
        </p:txBody>
      </p:sp>
      <p:sp>
        <p:nvSpPr>
          <p:cNvPr id="11" name="Text 9">
            <a:extLst xmlns:a="http://schemas.openxmlformats.org/drawingml/2006/main">
              <a:ext uri="{FF2B5EF4-FFF2-40B4-BE49-F238E27FC236}">
                <a16:creationId xmlns:a16="http://schemas.microsoft.com/office/drawing/2014/main" id="{17BC2689-9628-4FD4-AA6D-46171DC2FAEE}"/>
              </a:ext>
            </a:extLst>
          </p:cNvPr>
          <p:cNvSpPr>
            <a:spLocks xmlns:a="http://schemas.openxmlformats.org/drawingml/2006/main" noGrp="1"/>
          </p:cNvSpPr>
          <p:nvPr/>
        </p:nvSpPr>
        <p:spPr>
          <a:xfrm xmlns:a="http://schemas.openxmlformats.org/drawingml/2006/main">
            <a:off x="6873088" y="1737360"/>
            <a:ext cx="453222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incumbent works partly because its boundary is narrow. Yours will not be. Size against the target estate, never against the deployment being replaced.</a:t>
            </a:r>
            <a:endParaRPr sz="940"/>
          </a:p>
        </p:txBody>
      </p:sp>
      <p:sp>
        <p:nvSpPr>
          <p:cNvPr id="12" name="Shape 10">
            <a:extLst xmlns:a="http://schemas.openxmlformats.org/drawingml/2006/main">
              <a:ext uri="{FF2B5EF4-FFF2-40B4-BE49-F238E27FC236}">
                <a16:creationId xmlns:a16="http://schemas.microsoft.com/office/drawing/2014/main" id="{40DC7C66-C203-4D63-B6B0-B772A5D4986D}"/>
              </a:ext>
            </a:extLst>
          </p:cNvPr>
          <p:cNvSpPr>
            <a:spLocks xmlns:a="http://schemas.openxmlformats.org/drawingml/2006/main" noGrp="1"/>
          </p:cNvSpPr>
          <p:nvPr/>
        </p:nvSpPr>
        <p:spPr>
          <a:xfrm xmlns:a="http://schemas.openxmlformats.org/drawingml/2006/main">
            <a:off x="566928" y="2523744"/>
            <a:ext cx="5391760" cy="1042416"/>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3F757127-0399-4EF7-8932-9671EA7C7ACF}"/>
              </a:ext>
            </a:extLst>
          </p:cNvPr>
          <p:cNvSpPr>
            <a:spLocks xmlns:a="http://schemas.openxmlformats.org/drawingml/2006/main" noGrp="1"/>
          </p:cNvSpPr>
          <p:nvPr/>
        </p:nvSpPr>
        <p:spPr>
          <a:xfrm xmlns:a="http://schemas.openxmlformats.org/drawingml/2006/main">
            <a:off x="786384" y="267004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03</a:t>
            </a:r>
            <a:endParaRPr sz="900"/>
          </a:p>
        </p:txBody>
      </p:sp>
      <p:sp>
        <p:nvSpPr>
          <p:cNvPr id="14" name="Text 12">
            <a:extLst xmlns:a="http://schemas.openxmlformats.org/drawingml/2006/main">
              <a:ext uri="{FF2B5EF4-FFF2-40B4-BE49-F238E27FC236}">
                <a16:creationId xmlns:a16="http://schemas.microsoft.com/office/drawing/2014/main" id="{1BD2B556-E1CC-45F8-BC1E-98D35919B587}"/>
              </a:ext>
            </a:extLst>
          </p:cNvPr>
          <p:cNvSpPr>
            <a:spLocks xmlns:a="http://schemas.openxmlformats.org/drawingml/2006/main" noGrp="1"/>
          </p:cNvSpPr>
          <p:nvPr/>
        </p:nvSpPr>
        <p:spPr>
          <a:xfrm xmlns:a="http://schemas.openxmlformats.org/drawingml/2006/main">
            <a:off x="1207008" y="2651760"/>
            <a:ext cx="453222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102A43"/>
                </a:solidFill>
                <a:latin typeface="Arial"/>
                <a:ea typeface="Arial"/>
                <a:cs typeface="Arial"/>
              </a:rPr>
              <a:t>Name the switching cost yourself</a:t>
            </a:r>
            <a:endParaRPr sz="1140"/>
          </a:p>
        </p:txBody>
      </p:sp>
      <p:sp>
        <p:nvSpPr>
          <p:cNvPr id="15" name="Text 13">
            <a:extLst xmlns:a="http://schemas.openxmlformats.org/drawingml/2006/main">
              <a:ext uri="{FF2B5EF4-FFF2-40B4-BE49-F238E27FC236}">
                <a16:creationId xmlns:a16="http://schemas.microsoft.com/office/drawing/2014/main" id="{47D2CEAF-7583-4B8E-8A41-574E65DDB308}"/>
              </a:ext>
            </a:extLst>
          </p:cNvPr>
          <p:cNvSpPr>
            <a:spLocks xmlns:a="http://schemas.openxmlformats.org/drawingml/2006/main" noGrp="1"/>
          </p:cNvSpPr>
          <p:nvPr/>
        </p:nvSpPr>
        <p:spPr>
          <a:xfrm xmlns:a="http://schemas.openxmlformats.org/drawingml/2006/main">
            <a:off x="1207008" y="2926080"/>
            <a:ext cx="453222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Migration, retraining, dual running and lost productivity are real and the client already knows it. Pricing them openly is more credible than a proposal that pretends they are zero.</a:t>
            </a:r>
            <a:endParaRPr sz="940"/>
          </a:p>
        </p:txBody>
      </p:sp>
      <p:sp>
        <p:nvSpPr>
          <p:cNvPr id="16" name="Shape 14">
            <a:extLst xmlns:a="http://schemas.openxmlformats.org/drawingml/2006/main">
              <a:ext uri="{FF2B5EF4-FFF2-40B4-BE49-F238E27FC236}">
                <a16:creationId xmlns:a16="http://schemas.microsoft.com/office/drawing/2014/main" id="{36A17E4E-56E4-4F33-A88E-B1AF625172CD}"/>
              </a:ext>
            </a:extLst>
          </p:cNvPr>
          <p:cNvSpPr>
            <a:spLocks xmlns:a="http://schemas.openxmlformats.org/drawingml/2006/main" noGrp="1"/>
          </p:cNvSpPr>
          <p:nvPr/>
        </p:nvSpPr>
        <p:spPr>
          <a:xfrm xmlns:a="http://schemas.openxmlformats.org/drawingml/2006/main">
            <a:off x="6233008" y="2523744"/>
            <a:ext cx="5391760" cy="1042416"/>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7241E908-36E2-4228-A286-12623B308439}"/>
              </a:ext>
            </a:extLst>
          </p:cNvPr>
          <p:cNvSpPr>
            <a:spLocks xmlns:a="http://schemas.openxmlformats.org/drawingml/2006/main" noGrp="1"/>
          </p:cNvSpPr>
          <p:nvPr/>
        </p:nvSpPr>
        <p:spPr>
          <a:xfrm xmlns:a="http://schemas.openxmlformats.org/drawingml/2006/main">
            <a:off x="6452464" y="267004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04</a:t>
            </a:r>
            <a:endParaRPr sz="900"/>
          </a:p>
        </p:txBody>
      </p:sp>
      <p:sp>
        <p:nvSpPr>
          <p:cNvPr id="18" name="Text 16">
            <a:extLst xmlns:a="http://schemas.openxmlformats.org/drawingml/2006/main">
              <a:ext uri="{FF2B5EF4-FFF2-40B4-BE49-F238E27FC236}">
                <a16:creationId xmlns:a16="http://schemas.microsoft.com/office/drawing/2014/main" id="{6F3CB0BF-AB61-4C7E-A581-0D988D8C604B}"/>
              </a:ext>
            </a:extLst>
          </p:cNvPr>
          <p:cNvSpPr>
            <a:spLocks xmlns:a="http://schemas.openxmlformats.org/drawingml/2006/main" noGrp="1"/>
          </p:cNvSpPr>
          <p:nvPr/>
        </p:nvSpPr>
        <p:spPr>
          <a:xfrm xmlns:a="http://schemas.openxmlformats.org/drawingml/2006/main">
            <a:off x="6873088" y="2651760"/>
            <a:ext cx="453222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102A43"/>
                </a:solidFill>
                <a:latin typeface="Arial"/>
                <a:ea typeface="Arial"/>
                <a:cs typeface="Arial"/>
              </a:rPr>
              <a:t>Make the first release smaller than asked</a:t>
            </a:r>
            <a:endParaRPr sz="1140"/>
          </a:p>
        </p:txBody>
      </p:sp>
      <p:sp>
        <p:nvSpPr>
          <p:cNvPr id="19" name="Text 17">
            <a:extLst xmlns:a="http://schemas.openxmlformats.org/drawingml/2006/main">
              <a:ext uri="{FF2B5EF4-FFF2-40B4-BE49-F238E27FC236}">
                <a16:creationId xmlns:a16="http://schemas.microsoft.com/office/drawing/2014/main" id="{9289212B-BAC7-4D9C-A513-A8E691F6F4EC}"/>
              </a:ext>
            </a:extLst>
          </p:cNvPr>
          <p:cNvSpPr>
            <a:spLocks xmlns:a="http://schemas.openxmlformats.org/drawingml/2006/main" noGrp="1"/>
          </p:cNvSpPr>
          <p:nvPr/>
        </p:nvSpPr>
        <p:spPr>
          <a:xfrm xmlns:a="http://schemas.openxmlformats.org/drawingml/2006/main">
            <a:off x="6873088" y="2926080"/>
            <a:ext cx="453222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A displacement is judged on whether the first cutover was painful. A narrow, boring, early go-live buys more credibility than a broad one that slips.</a:t>
            </a:r>
            <a:endParaRPr sz="940"/>
          </a:p>
        </p:txBody>
      </p:sp>
      <p:sp>
        <p:nvSpPr>
          <p:cNvPr id="20" name="Shape 18">
            <a:extLst xmlns:a="http://schemas.openxmlformats.org/drawingml/2006/main">
              <a:ext uri="{FF2B5EF4-FFF2-40B4-BE49-F238E27FC236}">
                <a16:creationId xmlns:a16="http://schemas.microsoft.com/office/drawing/2014/main" id="{98F34377-1621-440A-9C0C-F4274E9C717F}"/>
              </a:ext>
            </a:extLst>
          </p:cNvPr>
          <p:cNvSpPr>
            <a:spLocks xmlns:a="http://schemas.openxmlformats.org/drawingml/2006/main" noGrp="1"/>
          </p:cNvSpPr>
          <p:nvPr/>
        </p:nvSpPr>
        <p:spPr>
          <a:xfrm xmlns:a="http://schemas.openxmlformats.org/drawingml/2006/main">
            <a:off x="566928" y="3712464"/>
            <a:ext cx="5391760" cy="1042416"/>
          </a:xfrm>
          <a:prstGeom xmlns:a="http://schemas.openxmlformats.org/drawingml/2006/main" prst="rect">
            <a:avLst/>
          </a:prstGeom>
          <a:solidFill xmlns:a="http://schemas.openxmlformats.org/drawingml/2006/main">
            <a:srgbClr val="F3E6E0"/>
          </a:solidFill>
        </p:spPr>
      </p:sp>
      <p:sp>
        <p:nvSpPr>
          <p:cNvPr id="21" name="Text 19">
            <a:extLst xmlns:a="http://schemas.openxmlformats.org/drawingml/2006/main">
              <a:ext uri="{FF2B5EF4-FFF2-40B4-BE49-F238E27FC236}">
                <a16:creationId xmlns:a16="http://schemas.microsoft.com/office/drawing/2014/main" id="{80267D04-B2D3-47DD-AD96-6446A989DC89}"/>
              </a:ext>
            </a:extLst>
          </p:cNvPr>
          <p:cNvSpPr>
            <a:spLocks xmlns:a="http://schemas.openxmlformats.org/drawingml/2006/main" noGrp="1"/>
          </p:cNvSpPr>
          <p:nvPr/>
        </p:nvSpPr>
        <p:spPr>
          <a:xfrm xmlns:a="http://schemas.openxmlformats.org/drawingml/2006/main">
            <a:off x="786384" y="385876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B04A25"/>
                </a:solidFill>
                <a:latin typeface="Arial"/>
                <a:ea typeface="Arial"/>
                <a:cs typeface="Arial"/>
              </a:rPr>
              <a:t>05</a:t>
            </a:r>
            <a:endParaRPr sz="900"/>
          </a:p>
        </p:txBody>
      </p:sp>
      <p:sp>
        <p:nvSpPr>
          <p:cNvPr id="22" name="Text 20">
            <a:extLst xmlns:a="http://schemas.openxmlformats.org/drawingml/2006/main">
              <a:ext uri="{FF2B5EF4-FFF2-40B4-BE49-F238E27FC236}">
                <a16:creationId xmlns:a16="http://schemas.microsoft.com/office/drawing/2014/main" id="{7758CD74-3304-42AB-9C1E-E17CFD46022A}"/>
              </a:ext>
            </a:extLst>
          </p:cNvPr>
          <p:cNvSpPr>
            <a:spLocks xmlns:a="http://schemas.openxmlformats.org/drawingml/2006/main" noGrp="1"/>
          </p:cNvSpPr>
          <p:nvPr/>
        </p:nvSpPr>
        <p:spPr>
          <a:xfrm xmlns:a="http://schemas.openxmlformats.org/drawingml/2006/main">
            <a:off x="1207008" y="3840480"/>
            <a:ext cx="453222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102A43"/>
                </a:solidFill>
                <a:latin typeface="Arial"/>
                <a:ea typeface="Arial"/>
                <a:cs typeface="Arial"/>
              </a:rPr>
              <a:t>Resolve the contract before the solution</a:t>
            </a:r>
            <a:endParaRPr sz="1140"/>
          </a:p>
        </p:txBody>
      </p:sp>
      <p:sp>
        <p:nvSpPr>
          <p:cNvPr id="23" name="Text 21">
            <a:extLst xmlns:a="http://schemas.openxmlformats.org/drawingml/2006/main">
              <a:ext uri="{FF2B5EF4-FFF2-40B4-BE49-F238E27FC236}">
                <a16:creationId xmlns:a16="http://schemas.microsoft.com/office/drawing/2014/main" id="{F411EFDC-8D49-4E47-92FD-700FEBAEBFC8}"/>
              </a:ext>
            </a:extLst>
          </p:cNvPr>
          <p:cNvSpPr>
            <a:spLocks xmlns:a="http://schemas.openxmlformats.org/drawingml/2006/main" noGrp="1"/>
          </p:cNvSpPr>
          <p:nvPr/>
        </p:nvSpPr>
        <p:spPr>
          <a:xfrm xmlns:a="http://schemas.openxmlformats.org/drawingml/2006/main">
            <a:off x="1207008" y="4114800"/>
            <a:ext cx="453222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Functional fit gets you shortlisted. Clause families decide whether anyone can sign. Sequencing those the other way round is how good bids die at legal review.</a:t>
            </a:r>
            <a:endParaRPr sz="940"/>
          </a:p>
        </p:txBody>
      </p:sp>
      <p:sp>
        <p:nvSpPr>
          <p:cNvPr id="24" name="Shape 22">
            <a:extLst xmlns:a="http://schemas.openxmlformats.org/drawingml/2006/main">
              <a:ext uri="{FF2B5EF4-FFF2-40B4-BE49-F238E27FC236}">
                <a16:creationId xmlns:a16="http://schemas.microsoft.com/office/drawing/2014/main" id="{A0F6041B-D377-410D-AC89-08711C1DB053}"/>
              </a:ext>
            </a:extLst>
          </p:cNvPr>
          <p:cNvSpPr>
            <a:spLocks xmlns:a="http://schemas.openxmlformats.org/drawingml/2006/main" noGrp="1"/>
          </p:cNvSpPr>
          <p:nvPr/>
        </p:nvSpPr>
        <p:spPr>
          <a:xfrm xmlns:a="http://schemas.openxmlformats.org/drawingml/2006/main">
            <a:off x="6233008" y="3712464"/>
            <a:ext cx="5391760" cy="1042416"/>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F545F072-E7C9-4A5D-B53D-4CFF9340487C}"/>
              </a:ext>
            </a:extLst>
          </p:cNvPr>
          <p:cNvSpPr>
            <a:spLocks xmlns:a="http://schemas.openxmlformats.org/drawingml/2006/main" noGrp="1"/>
          </p:cNvSpPr>
          <p:nvPr/>
        </p:nvSpPr>
        <p:spPr>
          <a:xfrm xmlns:a="http://schemas.openxmlformats.org/drawingml/2006/main">
            <a:off x="6452464" y="385876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06</a:t>
            </a:r>
            <a:endParaRPr sz="900"/>
          </a:p>
        </p:txBody>
      </p:sp>
      <p:sp>
        <p:nvSpPr>
          <p:cNvPr id="26" name="Text 24">
            <a:extLst xmlns:a="http://schemas.openxmlformats.org/drawingml/2006/main">
              <a:ext uri="{FF2B5EF4-FFF2-40B4-BE49-F238E27FC236}">
                <a16:creationId xmlns:a16="http://schemas.microsoft.com/office/drawing/2014/main" id="{B694CDFA-FB22-489F-80B7-5EB72C491C3D}"/>
              </a:ext>
            </a:extLst>
          </p:cNvPr>
          <p:cNvSpPr>
            <a:spLocks xmlns:a="http://schemas.openxmlformats.org/drawingml/2006/main" noGrp="1"/>
          </p:cNvSpPr>
          <p:nvPr/>
        </p:nvSpPr>
        <p:spPr>
          <a:xfrm xmlns:a="http://schemas.openxmlformats.org/drawingml/2006/main">
            <a:off x="6873088" y="3840480"/>
            <a:ext cx="453222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102A43"/>
                </a:solidFill>
                <a:latin typeface="Arial"/>
                <a:ea typeface="Arial"/>
                <a:cs typeface="Arial"/>
              </a:rPr>
              <a:t>Design the incumbent's exit, not just your entry</a:t>
            </a:r>
            <a:endParaRPr sz="1140"/>
          </a:p>
        </p:txBody>
      </p:sp>
      <p:sp>
        <p:nvSpPr>
          <p:cNvPr id="27" name="Text 25">
            <a:extLst xmlns:a="http://schemas.openxmlformats.org/drawingml/2006/main">
              <a:ext uri="{FF2B5EF4-FFF2-40B4-BE49-F238E27FC236}">
                <a16:creationId xmlns:a16="http://schemas.microsoft.com/office/drawing/2014/main" id="{9F064D2F-D1E9-4239-96BB-2C86E65B90F5}"/>
              </a:ext>
            </a:extLst>
          </p:cNvPr>
          <p:cNvSpPr>
            <a:spLocks xmlns:a="http://schemas.openxmlformats.org/drawingml/2006/main" noGrp="1"/>
          </p:cNvSpPr>
          <p:nvPr/>
        </p:nvSpPr>
        <p:spPr>
          <a:xfrm xmlns:a="http://schemas.openxmlformats.org/drawingml/2006/main">
            <a:off x="6873088" y="4114800"/>
            <a:ext cx="4532224"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Data extraction, historical records and the disposition vocabulary all sit inside the platform being removed. Whoever plans that first controls the timeline.</a:t>
            </a:r>
            <a:endParaRPr sz="940"/>
          </a:p>
        </p:txBody>
      </p:sp>
      <p:sp>
        <p:nvSpPr>
          <p:cNvPr id="28" name="Shape 26">
            <a:extLst xmlns:a="http://schemas.openxmlformats.org/drawingml/2006/main">
              <a:ext uri="{FF2B5EF4-FFF2-40B4-BE49-F238E27FC236}">
                <a16:creationId xmlns:a16="http://schemas.microsoft.com/office/drawing/2014/main" id="{532476D2-A670-4880-AD21-F438FF0D83A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25E6E584-23CD-48B2-821F-0777CB4366A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solution and deal analysis</a:t>
            </a:r>
            <a:endParaRPr sz="850"/>
          </a:p>
        </p:txBody>
      </p:sp>
      <p:sp>
        <p:nvSpPr>
          <p:cNvPr id="30" name="Text 28">
            <a:extLst xmlns:a="http://schemas.openxmlformats.org/drawingml/2006/main">
              <a:ext uri="{FF2B5EF4-FFF2-40B4-BE49-F238E27FC236}">
                <a16:creationId xmlns:a16="http://schemas.microsoft.com/office/drawing/2014/main" id="{15CAD351-46BB-47F1-B5B6-9B953D7DE86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1665930018"/>
      </p:ext>
    </p:extLst>
  </p:cSld>
</p:sld>
</file>

<file path=ppt/slides/slide1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1D8D0F-8B86-4867-9123-56872A5B1B3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05159A99-E8F8-48F9-AA71-9AE2471F513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judgements that carry to any displacement pursuit</a:t>
            </a:r>
            <a:endParaRPr sz="1900"/>
          </a:p>
        </p:txBody>
      </p:sp>
      <p:sp>
        <p:nvSpPr>
          <p:cNvPr id="4" name="Text 2">
            <a:extLst xmlns:a="http://schemas.openxmlformats.org/drawingml/2006/main">
              <a:ext uri="{FF2B5EF4-FFF2-40B4-BE49-F238E27FC236}">
                <a16:creationId xmlns:a16="http://schemas.microsoft.com/office/drawing/2014/main" id="{A79C065D-ED37-4476-BB11-C14DF594FFF4}"/>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8F493F7E-4632-4AA0-954C-C0D985F18238}"/>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Separate the fit question from the deal question</a:t>
            </a:r>
            <a:endParaRPr sz="1200"/>
          </a:p>
        </p:txBody>
      </p:sp>
      <p:sp>
        <p:nvSpPr>
          <p:cNvPr id="6" name="Text 4">
            <a:extLst xmlns:a="http://schemas.openxmlformats.org/drawingml/2006/main">
              <a:ext uri="{FF2B5EF4-FFF2-40B4-BE49-F238E27FC236}">
                <a16:creationId xmlns:a16="http://schemas.microsoft.com/office/drawing/2014/main" id="{CAD9006E-B4CA-431F-8EF8-56F98AF75B0F}"/>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Functional fit and contractual fit are assessed differently and fail differently. A capability matrix that lists a contract incompatibility as though it were a feature gap will carry that problem all the way to signature.</a:t>
            </a:r>
            <a:endParaRPr sz="1000"/>
          </a:p>
        </p:txBody>
      </p:sp>
      <p:sp>
        <p:nvSpPr>
          <p:cNvPr id="7" name="Shape 5">
            <a:extLst xmlns:a="http://schemas.openxmlformats.org/drawingml/2006/main">
              <a:ext uri="{FF2B5EF4-FFF2-40B4-BE49-F238E27FC236}">
                <a16:creationId xmlns:a16="http://schemas.microsoft.com/office/drawing/2014/main" id="{38CDB835-FF52-473E-A751-680CEE6228FE}"/>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2839258F-7C78-49D8-A6CA-A01FD0F5FC48}"/>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97414C65-8C68-47DA-A2D7-A4EE3B7C0405}"/>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Read stated positions for underlying needs</a:t>
            </a:r>
            <a:endParaRPr sz="1200"/>
          </a:p>
        </p:txBody>
      </p:sp>
      <p:sp>
        <p:nvSpPr>
          <p:cNvPr id="10" name="Text 8">
            <a:extLst xmlns:a="http://schemas.openxmlformats.org/drawingml/2006/main">
              <a:ext uri="{FF2B5EF4-FFF2-40B4-BE49-F238E27FC236}">
                <a16:creationId xmlns:a16="http://schemas.microsoft.com/office/drawing/2014/main" id="{B3B37C52-E32C-439C-AA29-E2FC52F199F6}"/>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Full source ownership is a stated position. Control, speed of change and freedom from vendor risk are the underlying needs — and escrow plus a perpetual licence satisfies all three without transferring the product.</a:t>
            </a:r>
            <a:endParaRPr sz="1000"/>
          </a:p>
        </p:txBody>
      </p:sp>
      <p:sp>
        <p:nvSpPr>
          <p:cNvPr id="11" name="Shape 9">
            <a:extLst xmlns:a="http://schemas.openxmlformats.org/drawingml/2006/main">
              <a:ext uri="{FF2B5EF4-FFF2-40B4-BE49-F238E27FC236}">
                <a16:creationId xmlns:a16="http://schemas.microsoft.com/office/drawing/2014/main" id="{8DC77473-F8E1-4165-8E75-FF6EC0A641F3}"/>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BE7971BB-51D0-4731-97D6-AF130BD20E69}"/>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F87D798C-9B4E-4181-8D6E-FF0DFA2715F9}"/>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Size against the target, not the incumbent</a:t>
            </a:r>
            <a:endParaRPr sz="1200"/>
          </a:p>
        </p:txBody>
      </p:sp>
      <p:sp>
        <p:nvSpPr>
          <p:cNvPr id="14" name="Text 12">
            <a:extLst xmlns:a="http://schemas.openxmlformats.org/drawingml/2006/main">
              <a:ext uri="{FF2B5EF4-FFF2-40B4-BE49-F238E27FC236}">
                <a16:creationId xmlns:a16="http://schemas.microsoft.com/office/drawing/2014/main" id="{A1E450D9-AAB1-40A8-8548-1E5035B2D5A2}"/>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 platform being replaced usually serves a fraction of the target population in a fraction of the channels. Benchmarking effort against it is the most reliable way to under-price a displacement.</a:t>
            </a:r>
            <a:endParaRPr sz="1000"/>
          </a:p>
        </p:txBody>
      </p:sp>
      <p:sp>
        <p:nvSpPr>
          <p:cNvPr id="15" name="Shape 13">
            <a:extLst xmlns:a="http://schemas.openxmlformats.org/drawingml/2006/main">
              <a:ext uri="{FF2B5EF4-FFF2-40B4-BE49-F238E27FC236}">
                <a16:creationId xmlns:a16="http://schemas.microsoft.com/office/drawing/2014/main" id="{1DD64CBC-BD2E-4F8D-9DC2-D97EE6D780FE}"/>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6A3AD0AE-2BBF-4787-83F1-62C6157B4DFD}"/>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8E29BA00-8765-47EE-BC2C-77C8DBD35E85}"/>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Challenge your own estimate before the client does</a:t>
            </a:r>
            <a:endParaRPr sz="1200"/>
          </a:p>
        </p:txBody>
      </p:sp>
      <p:sp>
        <p:nvSpPr>
          <p:cNvPr id="18" name="Text 16">
            <a:extLst xmlns:a="http://schemas.openxmlformats.org/drawingml/2006/main">
              <a:ext uri="{FF2B5EF4-FFF2-40B4-BE49-F238E27FC236}">
                <a16:creationId xmlns:a16="http://schemas.microsoft.com/office/drawing/2014/main" id="{0EF9187F-0A41-43C1-9028-B721C126E40F}"/>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Two thin lines in an otherwise sound estimate — architecture and new AI capability — are worth naming in the risk register with a contingency, rather than absorbed silently into a fixed bid.</a:t>
            </a:r>
            <a:endParaRPr sz="1000"/>
          </a:p>
        </p:txBody>
      </p:sp>
      <p:sp>
        <p:nvSpPr>
          <p:cNvPr id="19" name="Shape 17">
            <a:extLst xmlns:a="http://schemas.openxmlformats.org/drawingml/2006/main">
              <a:ext uri="{FF2B5EF4-FFF2-40B4-BE49-F238E27FC236}">
                <a16:creationId xmlns:a16="http://schemas.microsoft.com/office/drawing/2014/main" id="{9010C6A5-A95E-4773-A775-D6D348C578EC}"/>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894F0E39-AC22-4970-93F9-21050EBF3D01}"/>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In a displacement, functional fit gets you shortlisted and the commercial model decides the outcome. Sequencing those the other way round is the most common and most expensive mistake in this kind of pursuit.</a:t>
            </a:r>
            <a:endParaRPr sz="1200"/>
          </a:p>
        </p:txBody>
      </p:sp>
      <p:sp>
        <p:nvSpPr>
          <p:cNvPr id="21" name="Shape 19">
            <a:extLst xmlns:a="http://schemas.openxmlformats.org/drawingml/2006/main">
              <a:ext uri="{FF2B5EF4-FFF2-40B4-BE49-F238E27FC236}">
                <a16:creationId xmlns:a16="http://schemas.microsoft.com/office/drawing/2014/main" id="{640ACAE0-3C4C-443B-84A4-A58DFDD934D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B0F51A7D-B92C-49E0-BFC6-E20EDA38A4A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solution and deal analysis</a:t>
            </a:r>
            <a:endParaRPr sz="850"/>
          </a:p>
        </p:txBody>
      </p:sp>
      <p:sp>
        <p:nvSpPr>
          <p:cNvPr id="23" name="Text 21">
            <a:extLst xmlns:a="http://schemas.openxmlformats.org/drawingml/2006/main">
              <a:ext uri="{FF2B5EF4-FFF2-40B4-BE49-F238E27FC236}">
                <a16:creationId xmlns:a16="http://schemas.microsoft.com/office/drawing/2014/main" id="{F27CFBC0-650E-4D5A-B330-E5F46D84646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11</a:t>
            </a:r>
            <a:endParaRPr sz="850"/>
          </a:p>
        </p:txBody>
      </p:sp>
    </p:spTree>
    <p:extLst>
      <p:ext uri="{BB962C8B-B14F-4D97-AF65-F5344CB8AC3E}">
        <p14:creationId xmlns:p14="http://schemas.microsoft.com/office/powerpoint/2010/main" val="76073290"/>
      </p:ext>
    </p:extLst>
  </p:cSld>
</p:sld>
</file>

<file path=ppt/slides/slide11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5B6D8A4-8335-4D6C-A32A-213C7539AB42}"/>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ARCHITECTURE  ·  08 OF 30</a:t>
            </a:r>
            <a:endParaRPr sz="950"/>
          </a:p>
        </p:txBody>
      </p:sp>
      <p:sp>
        <p:nvSpPr>
          <p:cNvPr id="3" name="Text 1">
            <a:extLst xmlns:a="http://schemas.openxmlformats.org/drawingml/2006/main">
              <a:ext uri="{FF2B5EF4-FFF2-40B4-BE49-F238E27FC236}">
                <a16:creationId xmlns:a16="http://schemas.microsoft.com/office/drawing/2014/main" id="{11362B19-885B-4E65-85EB-F654E9381F37}"/>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Axis Max Life</a:t>
            </a:r>
            <a:endParaRPr sz="3800"/>
          </a:p>
        </p:txBody>
      </p:sp>
      <p:sp>
        <p:nvSpPr>
          <p:cNvPr id="4" name="Text 2">
            <a:extLst xmlns:a="http://schemas.openxmlformats.org/drawingml/2006/main">
              <a:ext uri="{FF2B5EF4-FFF2-40B4-BE49-F238E27FC236}">
                <a16:creationId xmlns:a16="http://schemas.microsoft.com/office/drawing/2014/main" id="{600B4943-A583-4DAE-826B-09A5CA6F5D40}"/>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Configurability as an architectural requirement — when “no-code” is a KPI, not a feature</a:t>
            </a:r>
            <a:endParaRPr sz="1800"/>
          </a:p>
        </p:txBody>
      </p:sp>
      <p:sp>
        <p:nvSpPr>
          <p:cNvPr id="5" name="Text 3">
            <a:extLst xmlns:a="http://schemas.openxmlformats.org/drawingml/2006/main">
              <a:ext uri="{FF2B5EF4-FFF2-40B4-BE49-F238E27FC236}">
                <a16:creationId xmlns:a16="http://schemas.microsoft.com/office/drawing/2014/main" id="{FEF43283-B2B6-4AE3-8BDE-52D5D77CB679}"/>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client that specifies change velocity in days, across ten distribution channels and 125,000 sellers, has not asked for a configuration screen. It has specified an architecture — and most platforms fail the test in the same four places.</a:t>
            </a:r>
            <a:endParaRPr sz="1150"/>
          </a:p>
        </p:txBody>
      </p:sp>
      <p:sp>
        <p:nvSpPr>
          <p:cNvPr id="6" name="Shape 4">
            <a:extLst xmlns:a="http://schemas.openxmlformats.org/drawingml/2006/main">
              <a:ext uri="{FF2B5EF4-FFF2-40B4-BE49-F238E27FC236}">
                <a16:creationId xmlns:a16="http://schemas.microsoft.com/office/drawing/2014/main" id="{B0E4D1E0-EF23-425A-8038-0B54870055D1}"/>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AEBAECBD-E7B8-40C6-8CDA-DD84B013F083}"/>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1–2</a:t>
            </a:r>
            <a:endParaRPr sz="2600"/>
          </a:p>
        </p:txBody>
      </p:sp>
      <p:sp>
        <p:nvSpPr>
          <p:cNvPr id="8" name="Text 6">
            <a:extLst xmlns:a="http://schemas.openxmlformats.org/drawingml/2006/main">
              <a:ext uri="{FF2B5EF4-FFF2-40B4-BE49-F238E27FC236}">
                <a16:creationId xmlns:a16="http://schemas.microsoft.com/office/drawing/2014/main" id="{59A8FA62-4B5E-4E0C-8EE7-CE210943FE04}"/>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days to configure</a:t>
            </a:r>
            <a:endParaRPr sz="900"/>
          </a:p>
          <a:p xmlns:a="http://schemas.openxmlformats.org/drawingml/2006/main">
            <a:pPr marL="0" indent="0">
              <a:lnSpc>
                <a:spcPts val="1100"/>
              </a:lnSpc>
              <a:buNone/>
            </a:pPr>
            <a:r>
              <a:rPr sz="900">
                <a:solidFill>
                  <a:srgbClr val="8FA9C4"/>
                </a:solidFill>
                <a:latin typeface="Arial"/>
                <a:ea typeface="Arial"/>
                <a:cs typeface="Arial"/>
              </a:rPr>
              <a:t>a change</a:t>
            </a:r>
            <a:endParaRPr sz="900"/>
          </a:p>
        </p:txBody>
      </p:sp>
      <p:sp>
        <p:nvSpPr>
          <p:cNvPr id="9" name="Text 7">
            <a:extLst xmlns:a="http://schemas.openxmlformats.org/drawingml/2006/main">
              <a:ext uri="{FF2B5EF4-FFF2-40B4-BE49-F238E27FC236}">
                <a16:creationId xmlns:a16="http://schemas.microsoft.com/office/drawing/2014/main" id="{ACAFA713-8E76-4C1A-AB58-AA30AABDEF03}"/>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&lt;1</a:t>
            </a:r>
            <a:endParaRPr sz="2600"/>
          </a:p>
        </p:txBody>
      </p:sp>
      <p:sp>
        <p:nvSpPr>
          <p:cNvPr id="10" name="Text 8">
            <a:extLst xmlns:a="http://schemas.openxmlformats.org/drawingml/2006/main">
              <a:ext uri="{FF2B5EF4-FFF2-40B4-BE49-F238E27FC236}">
                <a16:creationId xmlns:a16="http://schemas.microsoft.com/office/drawing/2014/main" id="{8D6541CD-EEE2-4156-AE82-67355B39247B}"/>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week to modify</a:t>
            </a:r>
            <a:endParaRPr sz="900"/>
          </a:p>
          <a:p xmlns:a="http://schemas.openxmlformats.org/drawingml/2006/main">
            <a:pPr marL="0" indent="0">
              <a:lnSpc>
                <a:spcPts val="1100"/>
              </a:lnSpc>
              <a:buNone/>
            </a:pPr>
            <a:r>
              <a:rPr sz="900">
                <a:solidFill>
                  <a:srgbClr val="8FA9C4"/>
                </a:solidFill>
                <a:latin typeface="Arial"/>
                <a:ea typeface="Arial"/>
                <a:cs typeface="Arial"/>
              </a:rPr>
              <a:t>a workflow</a:t>
            </a:r>
            <a:endParaRPr sz="900"/>
          </a:p>
        </p:txBody>
      </p:sp>
      <p:sp>
        <p:nvSpPr>
          <p:cNvPr id="11" name="Text 9">
            <a:extLst xmlns:a="http://schemas.openxmlformats.org/drawingml/2006/main">
              <a:ext uri="{FF2B5EF4-FFF2-40B4-BE49-F238E27FC236}">
                <a16:creationId xmlns:a16="http://schemas.microsoft.com/office/drawing/2014/main" id="{749C188C-6908-4A93-99D8-DBCA62EE72B0}"/>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2" name="Text 10">
            <a:extLst xmlns:a="http://schemas.openxmlformats.org/drawingml/2006/main">
              <a:ext uri="{FF2B5EF4-FFF2-40B4-BE49-F238E27FC236}">
                <a16:creationId xmlns:a16="http://schemas.microsoft.com/office/drawing/2014/main" id="{6215236B-F7E4-4C91-A846-7036755A8003}"/>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change requests</a:t>
            </a:r>
            <a:endParaRPr sz="900"/>
          </a:p>
          <a:p xmlns:a="http://schemas.openxmlformats.org/drawingml/2006/main">
            <a:pPr marL="0" indent="0">
              <a:lnSpc>
                <a:spcPts val="1100"/>
              </a:lnSpc>
              <a:buNone/>
            </a:pPr>
            <a:r>
              <a:rPr sz="900">
                <a:solidFill>
                  <a:srgbClr val="8FA9C4"/>
                </a:solidFill>
                <a:latin typeface="Arial"/>
                <a:ea typeface="Arial"/>
                <a:cs typeface="Arial"/>
              </a:rPr>
              <a:t>targeted</a:t>
            </a:r>
            <a:endParaRPr sz="900"/>
          </a:p>
        </p:txBody>
      </p:sp>
      <p:sp>
        <p:nvSpPr>
          <p:cNvPr id="13" name="Text 11">
            <a:extLst xmlns:a="http://schemas.openxmlformats.org/drawingml/2006/main">
              <a:ext uri="{FF2B5EF4-FFF2-40B4-BE49-F238E27FC236}">
                <a16:creationId xmlns:a16="http://schemas.microsoft.com/office/drawing/2014/main" id="{7EE6FC04-2A5D-4ECE-ADAC-DA2D18512B9B}"/>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12</a:t>
            </a:r>
            <a:endParaRPr sz="2600"/>
          </a:p>
        </p:txBody>
      </p:sp>
      <p:sp>
        <p:nvSpPr>
          <p:cNvPr id="14" name="Text 12">
            <a:extLst xmlns:a="http://schemas.openxmlformats.org/drawingml/2006/main">
              <a:ext uri="{FF2B5EF4-FFF2-40B4-BE49-F238E27FC236}">
                <a16:creationId xmlns:a16="http://schemas.microsoft.com/office/drawing/2014/main" id="{E576EE4F-FBC4-4431-9E1D-8D69934292C8}"/>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configurability</a:t>
            </a:r>
            <a:endParaRPr sz="900"/>
          </a:p>
          <a:p xmlns:a="http://schemas.openxmlformats.org/drawingml/2006/main">
            <a:pPr marL="0" indent="0">
              <a:lnSpc>
                <a:spcPts val="1100"/>
              </a:lnSpc>
              <a:buNone/>
            </a:pPr>
            <a:r>
              <a:rPr sz="900">
                <a:solidFill>
                  <a:srgbClr val="8FA9C4"/>
                </a:solidFill>
                <a:latin typeface="Arial"/>
                <a:ea typeface="Arial"/>
                <a:cs typeface="Arial"/>
              </a:rPr>
              <a:t>domains</a:t>
            </a:r>
            <a:endParaRPr sz="900"/>
          </a:p>
        </p:txBody>
      </p:sp>
      <p:sp>
        <p:nvSpPr>
          <p:cNvPr id="15" name="Text 13">
            <a:extLst xmlns:a="http://schemas.openxmlformats.org/drawingml/2006/main">
              <a:ext uri="{FF2B5EF4-FFF2-40B4-BE49-F238E27FC236}">
                <a16:creationId xmlns:a16="http://schemas.microsoft.com/office/drawing/2014/main" id="{993A0513-5A33-4EC3-9A04-487718DCF97D}"/>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10+</a:t>
            </a:r>
            <a:endParaRPr sz="2600"/>
          </a:p>
        </p:txBody>
      </p:sp>
      <p:sp>
        <p:nvSpPr>
          <p:cNvPr id="16" name="Text 14">
            <a:extLst xmlns:a="http://schemas.openxmlformats.org/drawingml/2006/main">
              <a:ext uri="{FF2B5EF4-FFF2-40B4-BE49-F238E27FC236}">
                <a16:creationId xmlns:a16="http://schemas.microsoft.com/office/drawing/2014/main" id="{CD195B7A-A70F-4FB0-8DC8-2D8783FE54A6}"/>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channels, each</a:t>
            </a:r>
            <a:endParaRPr sz="900"/>
          </a:p>
          <a:p xmlns:a="http://schemas.openxmlformats.org/drawingml/2006/main">
            <a:pPr marL="0" indent="0">
              <a:lnSpc>
                <a:spcPts val="1100"/>
              </a:lnSpc>
              <a:buNone/>
            </a:pPr>
            <a:r>
              <a:rPr sz="900">
                <a:solidFill>
                  <a:srgbClr val="8FA9C4"/>
                </a:solidFill>
                <a:latin typeface="Arial"/>
                <a:ea typeface="Arial"/>
                <a:cs typeface="Arial"/>
              </a:rPr>
              <a:t>with its own rules</a:t>
            </a:r>
            <a:endParaRPr sz="900"/>
          </a:p>
        </p:txBody>
      </p:sp>
      <p:sp>
        <p:nvSpPr>
          <p:cNvPr id="17" name="Text 15">
            <a:extLst xmlns:a="http://schemas.openxmlformats.org/drawingml/2006/main">
              <a:ext uri="{FF2B5EF4-FFF2-40B4-BE49-F238E27FC236}">
                <a16:creationId xmlns:a16="http://schemas.microsoft.com/office/drawing/2014/main" id="{4E425A7E-6EC1-4868-96A5-97E792A077FB}"/>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18" name="Text 16">
            <a:extLst xmlns:a="http://schemas.openxmlformats.org/drawingml/2006/main">
              <a:ext uri="{FF2B5EF4-FFF2-40B4-BE49-F238E27FC236}">
                <a16:creationId xmlns:a16="http://schemas.microsoft.com/office/drawing/2014/main" id="{FDBF886F-811B-457B-AD8F-4A6B08A0B49A}"/>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lifecycle stages,</a:t>
            </a:r>
            <a:endParaRPr sz="900"/>
          </a:p>
          <a:p xmlns:a="http://schemas.openxmlformats.org/drawingml/2006/main">
            <a:pPr marL="0" indent="0">
              <a:lnSpc>
                <a:spcPts val="1100"/>
              </a:lnSpc>
              <a:buNone/>
            </a:pPr>
            <a:r>
              <a:rPr sz="900">
                <a:solidFill>
                  <a:srgbClr val="8FA9C4"/>
                </a:solidFill>
                <a:latin typeface="Arial"/>
                <a:ea typeface="Arial"/>
                <a:cs typeface="Arial"/>
              </a:rPr>
              <a:t>all configurable</a:t>
            </a:r>
            <a:endParaRPr sz="900"/>
          </a:p>
        </p:txBody>
      </p:sp>
      <p:sp>
        <p:nvSpPr>
          <p:cNvPr id="19" name="Shape 17">
            <a:extLst xmlns:a="http://schemas.openxmlformats.org/drawingml/2006/main">
              <a:ext uri="{FF2B5EF4-FFF2-40B4-BE49-F238E27FC236}">
                <a16:creationId xmlns:a16="http://schemas.microsoft.com/office/drawing/2014/main" id="{16815404-6DE4-4E0A-954A-02C59ADFAB7B}"/>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77AD942F-5454-454E-B2FF-E3A1AAE43712}"/>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CHANGE-VELOCITY TARGETS  ·  AS SPECIFIED BY THE CLIENT</a:t>
            </a:r>
            <a:endParaRPr sz="800"/>
          </a:p>
        </p:txBody>
      </p:sp>
      <p:sp>
        <p:nvSpPr>
          <p:cNvPr id="21" name="Text 19">
            <a:extLst xmlns:a="http://schemas.openxmlformats.org/drawingml/2006/main">
              <a:ext uri="{FF2B5EF4-FFF2-40B4-BE49-F238E27FC236}">
                <a16:creationId xmlns:a16="http://schemas.microsoft.com/office/drawing/2014/main" id="{87BA9474-EE5D-45D8-9930-941CE1DD2C53}"/>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Regulatory and operational change absorbed through configuration, not engineering    ·    time to market from three months to days</a:t>
            </a:r>
            <a:endParaRPr sz="1050"/>
          </a:p>
        </p:txBody>
      </p:sp>
      <p:sp>
        <p:nvSpPr>
          <p:cNvPr id="22" name="Text 20">
            <a:extLst xmlns:a="http://schemas.openxmlformats.org/drawingml/2006/main">
              <a:ext uri="{FF2B5EF4-FFF2-40B4-BE49-F238E27FC236}">
                <a16:creationId xmlns:a16="http://schemas.microsoft.com/office/drawing/2014/main" id="{3D9ED33D-8DEA-4870-94C3-A191913BD3D3}"/>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Architecture analysis authored for solution design  ·  2026</a:t>
            </a:r>
            <a:endParaRPr sz="1200"/>
          </a:p>
        </p:txBody>
      </p:sp>
      <p:sp>
        <p:nvSpPr>
          <p:cNvPr id="23" name="Text 21">
            <a:extLst xmlns:a="http://schemas.openxmlformats.org/drawingml/2006/main">
              <a:ext uri="{FF2B5EF4-FFF2-40B4-BE49-F238E27FC236}">
                <a16:creationId xmlns:a16="http://schemas.microsoft.com/office/drawing/2014/main" id="{72AC6764-7D78-4C9D-B852-1AA161ABD6B3}"/>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incumbent names removed. Targets are the client's; the architecture assessment and the four-level model are mine.</a:t>
            </a:r>
            <a:endParaRPr sz="850"/>
          </a:p>
        </p:txBody>
      </p:sp>
    </p:spTree>
    <p:extLst>
      <p:ext uri="{BB962C8B-B14F-4D97-AF65-F5344CB8AC3E}">
        <p14:creationId xmlns:p14="http://schemas.microsoft.com/office/powerpoint/2010/main" val="528217841"/>
      </p:ext>
    </p:extLst>
  </p:cSld>
</p:sld>
</file>

<file path=ppt/slides/slide1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AC2AA08-D8BB-4B05-8987-B55A22B9FB2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A69AF903-E7C4-4311-8ADA-46F3495E8CB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change-velocity target is an architecture specification — and it is failed far more</a:t>
            </a:r>
            <a:endParaRPr sz="1900"/>
          </a:p>
          <a:p xmlns:a="http://schemas.openxmlformats.org/drawingml/2006/main">
            <a:pPr marL="0" indent="0">
              <a:lnSpc>
                <a:spcPts val="2400"/>
              </a:lnSpc>
              <a:buNone/>
            </a:pPr>
            <a:r>
              <a:rPr sz="1900" b="1">
                <a:solidFill>
                  <a:srgbClr val="102A43"/>
                </a:solidFill>
                <a:latin typeface="Arial"/>
                <a:ea typeface="Arial"/>
                <a:cs typeface="Arial"/>
              </a:rPr>
              <a:t>often by the approval path than by the platform</a:t>
            </a:r>
            <a:endParaRPr sz="1900"/>
          </a:p>
        </p:txBody>
      </p:sp>
      <p:sp>
        <p:nvSpPr>
          <p:cNvPr id="4" name="Shape 2">
            <a:extLst xmlns:a="http://schemas.openxmlformats.org/drawingml/2006/main">
              <a:ext uri="{FF2B5EF4-FFF2-40B4-BE49-F238E27FC236}">
                <a16:creationId xmlns:a16="http://schemas.microsoft.com/office/drawing/2014/main" id="{EFD24DE8-2E4F-4C64-BE7E-38F900215FC5}"/>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86FC40A1-4586-4F02-9BB6-F590BDC57281}"/>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BFA7F9F5-A39B-41FD-B2E9-549E1DFF3F69}"/>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client specifies configuration in one to two days, workflow modification in under a week, near-zero change requests in business-as-usual, and time to market moving from three months to days.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These sit in the requirements document as business measures of success, alongside uptime and response time.</a:t>
            </a:r>
            <a:endParaRPr sz="980"/>
          </a:p>
        </p:txBody>
      </p:sp>
      <p:sp>
        <p:nvSpPr>
          <p:cNvPr id="7" name="Shape 5">
            <a:extLst xmlns:a="http://schemas.openxmlformats.org/drawingml/2006/main">
              <a:ext uri="{FF2B5EF4-FFF2-40B4-BE49-F238E27FC236}">
                <a16:creationId xmlns:a16="http://schemas.microsoft.com/office/drawing/2014/main" id="{5829F57A-6EAA-4FC6-AAC3-587E95C84487}"/>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BB955841-7DA2-4DEF-AAD0-7CF7AE33E393}"/>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4929F49F-4BA0-4A3F-98F9-207F19B7516F}"/>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Read as a feature request, they invite the usual answer: an administration console and a screenshot of a form builder. Every serious platform can show that.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Read literally, they are far more demanding. They require configurability at four distinct levels, and they require an approval path that can keep pace — which is where the target is actually missed, because a change that takes two days to configure and six weeks to approve took six weeks.</a:t>
            </a:r>
            <a:endParaRPr sz="980"/>
          </a:p>
        </p:txBody>
      </p:sp>
      <p:sp>
        <p:nvSpPr>
          <p:cNvPr id="10" name="Shape 8">
            <a:extLst xmlns:a="http://schemas.openxmlformats.org/drawingml/2006/main">
              <a:ext uri="{FF2B5EF4-FFF2-40B4-BE49-F238E27FC236}">
                <a16:creationId xmlns:a16="http://schemas.microsoft.com/office/drawing/2014/main" id="{95203B31-6A24-46C9-834B-EED57404E9C5}"/>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AC43A9FB-9EE4-48D9-8A80-8556CDF2C3A1}"/>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argument</a:t>
            </a:r>
            <a:endParaRPr sz="1250"/>
          </a:p>
        </p:txBody>
      </p:sp>
      <p:sp>
        <p:nvSpPr>
          <p:cNvPr id="12" name="Text 10">
            <a:extLst xmlns:a="http://schemas.openxmlformats.org/drawingml/2006/main">
              <a:ext uri="{FF2B5EF4-FFF2-40B4-BE49-F238E27FC236}">
                <a16:creationId xmlns:a16="http://schemas.microsoft.com/office/drawing/2014/main" id="{DCB56241-DC7D-47A0-827A-99DEA912CCF0}"/>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Treat the velocity target as the architecture requirement it is. Specify which of the four levels each domain needs, design the state machine so channel variation is data rather than code, and make the change-approval path part of the configurability design.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Otherwise the platform passes the demonstration and fails the KPI.</a:t>
            </a:r>
            <a:endParaRPr sz="980"/>
          </a:p>
        </p:txBody>
      </p:sp>
      <p:sp>
        <p:nvSpPr>
          <p:cNvPr id="13" name="Text 11">
            <a:extLst xmlns:a="http://schemas.openxmlformats.org/drawingml/2006/main">
              <a:ext uri="{FF2B5EF4-FFF2-40B4-BE49-F238E27FC236}">
                <a16:creationId xmlns:a16="http://schemas.microsoft.com/office/drawing/2014/main" id="{543F3ADA-8447-4BA1-89D7-D3CFBC3BF38F}"/>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9F6B89B2-C113-4BF5-8057-69DEA7582A66}"/>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999BC8F8-FDD2-4C4A-9CF1-CD8FA12535F3}"/>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6" name="Text 14">
            <a:extLst xmlns:a="http://schemas.openxmlformats.org/drawingml/2006/main">
              <a:ext uri="{FF2B5EF4-FFF2-40B4-BE49-F238E27FC236}">
                <a16:creationId xmlns:a16="http://schemas.microsoft.com/office/drawing/2014/main" id="{51BA8035-4E01-4912-8FF0-16CA63B9ADD5}"/>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levels of configurability</a:t>
            </a:r>
            <a:endParaRPr sz="860"/>
          </a:p>
        </p:txBody>
      </p:sp>
      <p:sp>
        <p:nvSpPr>
          <p:cNvPr id="17" name="Shape 15">
            <a:extLst xmlns:a="http://schemas.openxmlformats.org/drawingml/2006/main">
              <a:ext uri="{FF2B5EF4-FFF2-40B4-BE49-F238E27FC236}">
                <a16:creationId xmlns:a16="http://schemas.microsoft.com/office/drawing/2014/main" id="{EC7D2328-2180-4B31-8EEE-4E985D258479}"/>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FA59F4DB-6992-4477-AFEF-A4CC882DADC6}"/>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12</a:t>
            </a:r>
            <a:endParaRPr sz="2100"/>
          </a:p>
        </p:txBody>
      </p:sp>
      <p:sp>
        <p:nvSpPr>
          <p:cNvPr id="19" name="Text 17">
            <a:extLst xmlns:a="http://schemas.openxmlformats.org/drawingml/2006/main">
              <a:ext uri="{FF2B5EF4-FFF2-40B4-BE49-F238E27FC236}">
                <a16:creationId xmlns:a16="http://schemas.microsoft.com/office/drawing/2014/main" id="{D5A8B4C8-9D25-4146-8DCC-C9594F09FE5D}"/>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domains in scope</a:t>
            </a:r>
            <a:endParaRPr sz="860"/>
          </a:p>
        </p:txBody>
      </p:sp>
      <p:sp>
        <p:nvSpPr>
          <p:cNvPr id="20" name="Shape 18">
            <a:extLst xmlns:a="http://schemas.openxmlformats.org/drawingml/2006/main">
              <a:ext uri="{FF2B5EF4-FFF2-40B4-BE49-F238E27FC236}">
                <a16:creationId xmlns:a16="http://schemas.microsoft.com/office/drawing/2014/main" id="{FF4C5AA8-F9A3-41DD-89C8-1A4200A95952}"/>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D9773119-FC9D-45B9-AD3A-C6CDDBDE37AC}"/>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22" name="Text 20">
            <a:extLst xmlns:a="http://schemas.openxmlformats.org/drawingml/2006/main">
              <a:ext uri="{FF2B5EF4-FFF2-40B4-BE49-F238E27FC236}">
                <a16:creationId xmlns:a16="http://schemas.microsoft.com/office/drawing/2014/main" id="{C60443C3-C2E1-4794-BE39-A1F5894B37D7}"/>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lifecycle stages</a:t>
            </a:r>
            <a:endParaRPr sz="860"/>
          </a:p>
        </p:txBody>
      </p:sp>
      <p:sp>
        <p:nvSpPr>
          <p:cNvPr id="23" name="Shape 21">
            <a:extLst xmlns:a="http://schemas.openxmlformats.org/drawingml/2006/main">
              <a:ext uri="{FF2B5EF4-FFF2-40B4-BE49-F238E27FC236}">
                <a16:creationId xmlns:a16="http://schemas.microsoft.com/office/drawing/2014/main" id="{6A0D8EED-3197-4158-B9BE-D0321546E24A}"/>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80044F5F-F753-4C08-8E0A-ACAC6138C99F}"/>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10+</a:t>
            </a:r>
            <a:endParaRPr sz="2100"/>
          </a:p>
        </p:txBody>
      </p:sp>
      <p:sp>
        <p:nvSpPr>
          <p:cNvPr id="25" name="Text 23">
            <a:extLst xmlns:a="http://schemas.openxmlformats.org/drawingml/2006/main">
              <a:ext uri="{FF2B5EF4-FFF2-40B4-BE49-F238E27FC236}">
                <a16:creationId xmlns:a16="http://schemas.microsoft.com/office/drawing/2014/main" id="{1970286A-5101-45D3-9188-48F6A612F41F}"/>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channel variants</a:t>
            </a:r>
            <a:endParaRPr sz="860"/>
          </a:p>
        </p:txBody>
      </p:sp>
      <p:sp>
        <p:nvSpPr>
          <p:cNvPr id="26" name="Shape 24">
            <a:extLst xmlns:a="http://schemas.openxmlformats.org/drawingml/2006/main">
              <a:ext uri="{FF2B5EF4-FFF2-40B4-BE49-F238E27FC236}">
                <a16:creationId xmlns:a16="http://schemas.microsoft.com/office/drawing/2014/main" id="{3FA007A8-F4D6-424F-A88B-AA6D49CA7CA6}"/>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89C046E7-D4E2-40BB-B20A-A97AE3B71D7A}"/>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1–2</a:t>
            </a:r>
            <a:endParaRPr sz="2100"/>
          </a:p>
        </p:txBody>
      </p:sp>
      <p:sp>
        <p:nvSpPr>
          <p:cNvPr id="28" name="Text 26">
            <a:extLst xmlns:a="http://schemas.openxmlformats.org/drawingml/2006/main">
              <a:ext uri="{FF2B5EF4-FFF2-40B4-BE49-F238E27FC236}">
                <a16:creationId xmlns:a16="http://schemas.microsoft.com/office/drawing/2014/main" id="{55EAEDFC-2FD1-47F4-95D4-6498DE8682A3}"/>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days, the stated target</a:t>
            </a:r>
            <a:endParaRPr sz="860"/>
          </a:p>
        </p:txBody>
      </p:sp>
      <p:sp>
        <p:nvSpPr>
          <p:cNvPr id="29" name="Shape 27">
            <a:extLst xmlns:a="http://schemas.openxmlformats.org/drawingml/2006/main">
              <a:ext uri="{FF2B5EF4-FFF2-40B4-BE49-F238E27FC236}">
                <a16:creationId xmlns:a16="http://schemas.microsoft.com/office/drawing/2014/main" id="{BDF7EBEE-454F-48D1-8EE9-FC3DC31FFAA5}"/>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9B424F3B-E25D-46EF-9598-7C239364A934}"/>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351D173D-81A4-4E38-AE5D-B961A5826F9F}"/>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failure mode nobody designs for</a:t>
            </a:r>
            <a:endParaRPr sz="860"/>
          </a:p>
        </p:txBody>
      </p:sp>
      <p:sp>
        <p:nvSpPr>
          <p:cNvPr id="32" name="Text 30">
            <a:extLst xmlns:a="http://schemas.openxmlformats.org/drawingml/2006/main">
              <a:ext uri="{FF2B5EF4-FFF2-40B4-BE49-F238E27FC236}">
                <a16:creationId xmlns:a16="http://schemas.microsoft.com/office/drawing/2014/main" id="{1B23DFE6-8258-45E9-84D1-FEBAEC691ABC}"/>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central claim:  configurable but unapprovable is not configurable. A platform that can change a rule in an afternoon, inside a governance process that takes six weeks to authorise it, has delivered a demonstration rather than a capability.</a:t>
            </a:r>
            <a:endParaRPr sz="1000"/>
          </a:p>
        </p:txBody>
      </p:sp>
      <p:sp>
        <p:nvSpPr>
          <p:cNvPr id="33" name="Shape 31">
            <a:extLst xmlns:a="http://schemas.openxmlformats.org/drawingml/2006/main">
              <a:ext uri="{FF2B5EF4-FFF2-40B4-BE49-F238E27FC236}">
                <a16:creationId xmlns:a16="http://schemas.microsoft.com/office/drawing/2014/main" id="{0B1CAE3E-34F5-4589-85EC-B9E113FCA37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57F049EC-35F4-4B29-8531-4D98F9FB1B8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architecture analysis</a:t>
            </a:r>
            <a:endParaRPr sz="850"/>
          </a:p>
        </p:txBody>
      </p:sp>
      <p:sp>
        <p:nvSpPr>
          <p:cNvPr id="35" name="Text 33">
            <a:extLst xmlns:a="http://schemas.openxmlformats.org/drawingml/2006/main">
              <a:ext uri="{FF2B5EF4-FFF2-40B4-BE49-F238E27FC236}">
                <a16:creationId xmlns:a16="http://schemas.microsoft.com/office/drawing/2014/main" id="{30DCC35A-C3B8-4BC1-BE5A-E07CC90735A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221914789"/>
      </p:ext>
    </p:extLst>
  </p:cSld>
</p:sld>
</file>

<file path=ppt/slides/slide1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5BD308-F025-4082-A18D-8A89289DAD0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14AA563E-7E2D-408F-A15D-63F306053FC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velocity targets and domain list are the client's; the four-level model and the</a:t>
            </a:r>
            <a:endParaRPr sz="1900"/>
          </a:p>
          <a:p xmlns:a="http://schemas.openxmlformats.org/drawingml/2006/main">
            <a:pPr marL="0" indent="0">
              <a:lnSpc>
                <a:spcPts val="2400"/>
              </a:lnSpc>
              <a:buNone/>
            </a:pPr>
            <a:r>
              <a:rPr sz="1900" b="1">
                <a:solidFill>
                  <a:srgbClr val="102A43"/>
                </a:solidFill>
                <a:latin typeface="Arial"/>
                <a:ea typeface="Arial"/>
                <a:cs typeface="Arial"/>
              </a:rPr>
              <a:t>assessment against it are mine</a:t>
            </a:r>
            <a:endParaRPr sz="1900"/>
          </a:p>
        </p:txBody>
      </p:sp>
      <p:sp>
        <p:nvSpPr>
          <p:cNvPr id="4" name="Shape 2">
            <a:extLst xmlns:a="http://schemas.openxmlformats.org/drawingml/2006/main">
              <a:ext uri="{FF2B5EF4-FFF2-40B4-BE49-F238E27FC236}">
                <a16:creationId xmlns:a16="http://schemas.microsoft.com/office/drawing/2014/main" id="{3FB832E1-F658-473B-93EA-5481C5304BD9}"/>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07923D82-A94B-4490-BBC7-0E505EB70533}"/>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17922450-9F0B-4C13-9ED9-AFB2BCF51D0A}"/>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REQUIREMENTS</a:t>
            </a:r>
            <a:endParaRPr sz="740"/>
          </a:p>
        </p:txBody>
      </p:sp>
      <p:sp>
        <p:nvSpPr>
          <p:cNvPr id="7" name="Text 5">
            <a:extLst xmlns:a="http://schemas.openxmlformats.org/drawingml/2006/main">
              <a:ext uri="{FF2B5EF4-FFF2-40B4-BE49-F238E27FC236}">
                <a16:creationId xmlns:a16="http://schemas.microsoft.com/office/drawing/2014/main" id="{C58847AE-4538-47D1-BCE3-C1ED58E881E1}"/>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Client context</a:t>
            </a:r>
            <a:endParaRPr sz="1200"/>
          </a:p>
        </p:txBody>
      </p:sp>
      <p:sp>
        <p:nvSpPr>
          <p:cNvPr id="8" name="Text 6">
            <a:extLst xmlns:a="http://schemas.openxmlformats.org/drawingml/2006/main">
              <a:ext uri="{FF2B5EF4-FFF2-40B4-BE49-F238E27FC236}">
                <a16:creationId xmlns:a16="http://schemas.microsoft.com/office/drawing/2014/main" id="{C9D37D9D-BD96-4477-84DE-508166B9F769}"/>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Change-velocity targets and the configurability domains as specified in the client's requirements pack.</a:t>
            </a:r>
            <a:endParaRPr sz="920"/>
          </a:p>
        </p:txBody>
      </p:sp>
      <p:sp>
        <p:nvSpPr>
          <p:cNvPr id="9" name="Shape 7">
            <a:extLst xmlns:a="http://schemas.openxmlformats.org/drawingml/2006/main">
              <a:ext uri="{FF2B5EF4-FFF2-40B4-BE49-F238E27FC236}">
                <a16:creationId xmlns:a16="http://schemas.microsoft.com/office/drawing/2014/main" id="{38CC6B23-2677-4218-A19E-CD05D91242DB}"/>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91EE8E91-350D-4E23-BC27-23182E81F290}"/>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1–2 day configuration target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Sub-one-week workflow change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Near-zero change requests in BAU</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Twelve configurability domains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Six-stage lead lifecycle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Ten-plus channel variants</a:t>
            </a:r>
            <a:endParaRPr sz="930"/>
          </a:p>
        </p:txBody>
      </p:sp>
      <p:sp>
        <p:nvSpPr>
          <p:cNvPr id="11" name="Shape 9">
            <a:extLst xmlns:a="http://schemas.openxmlformats.org/drawingml/2006/main">
              <a:ext uri="{FF2B5EF4-FFF2-40B4-BE49-F238E27FC236}">
                <a16:creationId xmlns:a16="http://schemas.microsoft.com/office/drawing/2014/main" id="{9FB5980E-8926-49FB-978A-0228A2282FD7}"/>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5ABD29CB-B52F-4A79-BF35-2B442DAFB2A6}"/>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57E7C742-45EA-4DA8-AD3E-9FA52D3AA37C}"/>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ARCHITECTURE ANALYSIS</a:t>
            </a:r>
            <a:endParaRPr sz="740"/>
          </a:p>
        </p:txBody>
      </p:sp>
      <p:sp>
        <p:nvSpPr>
          <p:cNvPr id="14" name="Text 12">
            <a:extLst xmlns:a="http://schemas.openxmlformats.org/drawingml/2006/main">
              <a:ext uri="{FF2B5EF4-FFF2-40B4-BE49-F238E27FC236}">
                <a16:creationId xmlns:a16="http://schemas.microsoft.com/office/drawing/2014/main" id="{FD2E6EE3-061D-4F55-A589-A24E1B474A16}"/>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B528CCF0-1F7C-48DF-8006-F3FFD0DBE952}"/>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four-level configurability model, the domain assessment and the approval-path argument.</a:t>
            </a:r>
            <a:endParaRPr sz="920"/>
          </a:p>
        </p:txBody>
      </p:sp>
      <p:sp>
        <p:nvSpPr>
          <p:cNvPr id="16" name="Shape 14">
            <a:extLst xmlns:a="http://schemas.openxmlformats.org/drawingml/2006/main">
              <a:ext uri="{FF2B5EF4-FFF2-40B4-BE49-F238E27FC236}">
                <a16:creationId xmlns:a16="http://schemas.microsoft.com/office/drawing/2014/main" id="{BE233895-D43F-43EA-AA67-BE42FC7C0C49}"/>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A3E38FD8-CF73-4E80-A3B0-8D69A176E238}"/>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Four-level configurability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Level required per domain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State-machine design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Approval-path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Fit assessment against the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Applied to solution design</a:t>
            </a:r>
            <a:endParaRPr sz="930"/>
          </a:p>
        </p:txBody>
      </p:sp>
      <p:sp>
        <p:nvSpPr>
          <p:cNvPr id="18" name="Shape 16">
            <a:extLst xmlns:a="http://schemas.openxmlformats.org/drawingml/2006/main">
              <a:ext uri="{FF2B5EF4-FFF2-40B4-BE49-F238E27FC236}">
                <a16:creationId xmlns:a16="http://schemas.microsoft.com/office/drawing/2014/main" id="{247FEEF8-5DB7-46D1-A9AD-C818415383FC}"/>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5F5A80DA-4051-4A54-888E-C7BBFD1E885C}"/>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B2105B6C-5601-46F2-9483-D45D3085DE1D}"/>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JUDGEMENT</a:t>
            </a:r>
            <a:endParaRPr sz="740"/>
          </a:p>
        </p:txBody>
      </p:sp>
      <p:sp>
        <p:nvSpPr>
          <p:cNvPr id="21" name="Text 19">
            <a:extLst xmlns:a="http://schemas.openxmlformats.org/drawingml/2006/main">
              <a:ext uri="{FF2B5EF4-FFF2-40B4-BE49-F238E27FC236}">
                <a16:creationId xmlns:a16="http://schemas.microsoft.com/office/drawing/2014/main" id="{F830382E-1C59-4CC5-B520-C9E1A0132A8F}"/>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Assessed</a:t>
            </a:r>
            <a:endParaRPr sz="1200"/>
          </a:p>
        </p:txBody>
      </p:sp>
      <p:sp>
        <p:nvSpPr>
          <p:cNvPr id="22" name="Text 20">
            <a:extLst xmlns:a="http://schemas.openxmlformats.org/drawingml/2006/main">
              <a:ext uri="{FF2B5EF4-FFF2-40B4-BE49-F238E27FC236}">
                <a16:creationId xmlns:a16="http://schemas.microsoft.com/office/drawing/2014/main" id="{DA906636-18B5-4CBE-8F74-5CAC10AB21C1}"/>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Level assignments per domain are an architect's judgement from the stated requirements, not a measured benchmark.</a:t>
            </a:r>
            <a:endParaRPr sz="920"/>
          </a:p>
        </p:txBody>
      </p:sp>
      <p:sp>
        <p:nvSpPr>
          <p:cNvPr id="23" name="Shape 21">
            <a:extLst xmlns:a="http://schemas.openxmlformats.org/drawingml/2006/main">
              <a:ext uri="{FF2B5EF4-FFF2-40B4-BE49-F238E27FC236}">
                <a16:creationId xmlns:a16="http://schemas.microsoft.com/office/drawing/2014/main" id="{614DBD7A-3DC0-4B9F-B582-7916BB66D8C2}"/>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1CEE2786-06C5-4831-B496-B3A8533D0C9C}"/>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Level assignment per domain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Effort implication by level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Fit ratings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Sensitive to final requirements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product certification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7C437DC9-9F0A-44DA-BA1F-C30760E0DAD9}"/>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511E72C-70BB-435B-9957-0F345416081A}"/>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43DF3AD0-FD7A-4702-B5F6-15629540550F}"/>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BE578159-DF73-486A-AECD-66EEF13379E3}"/>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D22DA2E4-2C3D-4F4B-B4D4-282B8A741918}"/>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Deliberately excluded. This is an architecture position, not a product claim or a delivery record.</a:t>
            </a:r>
            <a:endParaRPr sz="920"/>
          </a:p>
        </p:txBody>
      </p:sp>
      <p:sp>
        <p:nvSpPr>
          <p:cNvPr id="30" name="Shape 28">
            <a:extLst xmlns:a="http://schemas.openxmlformats.org/drawingml/2006/main">
              <a:ext uri="{FF2B5EF4-FFF2-40B4-BE49-F238E27FC236}">
                <a16:creationId xmlns:a16="http://schemas.microsoft.com/office/drawing/2014/main" id="{7C1D2801-B423-4AE4-84C1-C410F364FF84}"/>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20531F91-2AD1-45C4-852E-25E902773F88}"/>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product's certified capability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of this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commercial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incumbent's architecture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Benchmark data against competitors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Whether the deal was won</a:t>
            </a:r>
            <a:endParaRPr sz="930"/>
          </a:p>
        </p:txBody>
      </p:sp>
      <p:sp>
        <p:nvSpPr>
          <p:cNvPr id="32" name="Shape 30">
            <a:extLst xmlns:a="http://schemas.openxmlformats.org/drawingml/2006/main">
              <a:ext uri="{FF2B5EF4-FFF2-40B4-BE49-F238E27FC236}">
                <a16:creationId xmlns:a16="http://schemas.microsoft.com/office/drawing/2014/main" id="{C88AF2ED-B642-4F72-925D-FC31315C84D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081D59F5-58E1-414E-BE8F-1117B3827F6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requirements (context) · author's architecture analysis (models and assessment)</a:t>
            </a:r>
            <a:endParaRPr sz="850"/>
          </a:p>
        </p:txBody>
      </p:sp>
      <p:sp>
        <p:nvSpPr>
          <p:cNvPr id="34" name="Text 32">
            <a:extLst xmlns:a="http://schemas.openxmlformats.org/drawingml/2006/main">
              <a:ext uri="{FF2B5EF4-FFF2-40B4-BE49-F238E27FC236}">
                <a16:creationId xmlns:a16="http://schemas.microsoft.com/office/drawing/2014/main" id="{B5582F84-D6FE-4933-83D6-C0046DE879B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83282362"/>
      </p:ext>
    </p:extLst>
  </p:cSld>
</p:sld>
</file>

<file path=ppt/slides/slide1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0280FE0-4759-4423-BB50-F8575D3B49D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REQUIREMENT</a:t>
            </a:r>
            <a:endParaRPr sz="950"/>
          </a:p>
        </p:txBody>
      </p:sp>
      <p:sp>
        <p:nvSpPr>
          <p:cNvPr id="3" name="Text 1">
            <a:extLst xmlns:a="http://schemas.openxmlformats.org/drawingml/2006/main">
              <a:ext uri="{FF2B5EF4-FFF2-40B4-BE49-F238E27FC236}">
                <a16:creationId xmlns:a16="http://schemas.microsoft.com/office/drawing/2014/main" id="{E8FF37A7-6658-4BBB-8DB9-833317B0461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client specified change velocity the way it specified uptime — as a measure of</a:t>
            </a:r>
            <a:endParaRPr sz="1900"/>
          </a:p>
          <a:p xmlns:a="http://schemas.openxmlformats.org/drawingml/2006/main">
            <a:pPr marL="0" indent="0">
              <a:lnSpc>
                <a:spcPts val="2400"/>
              </a:lnSpc>
              <a:buNone/>
            </a:pPr>
            <a:r>
              <a:rPr sz="1900" b="1">
                <a:solidFill>
                  <a:srgbClr val="102A43"/>
                </a:solidFill>
                <a:latin typeface="Arial"/>
                <a:ea typeface="Arial"/>
                <a:cs typeface="Arial"/>
              </a:rPr>
              <a:t>success with a number attached, not as a feature to demonstrate</a:t>
            </a:r>
            <a:endParaRPr sz="1900"/>
          </a:p>
        </p:txBody>
      </p:sp>
      <p:sp>
        <p:nvSpPr>
          <p:cNvPr id="4" name="Shape 2">
            <a:extLst xmlns:a="http://schemas.openxmlformats.org/drawingml/2006/main">
              <a:ext uri="{FF2B5EF4-FFF2-40B4-BE49-F238E27FC236}">
                <a16:creationId xmlns:a16="http://schemas.microsoft.com/office/drawing/2014/main" id="{EB9B463E-5502-4F15-AABB-93D37E863E18}"/>
              </a:ext>
            </a:extLst>
          </p:cNvPr>
          <p:cNvSpPr>
            <a:spLocks xmlns:a="http://schemas.openxmlformats.org/drawingml/2006/main" noGrp="1"/>
          </p:cNvSpPr>
          <p:nvPr/>
        </p:nvSpPr>
        <p:spPr>
          <a:xfrm xmlns:a="http://schemas.openxmlformats.org/drawingml/2006/main">
            <a:off x="566928" y="1335024"/>
            <a:ext cx="2682164" cy="109728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FC9D27F9-D779-4060-859A-E89D0F9B8ABE}"/>
              </a:ext>
            </a:extLst>
          </p:cNvPr>
          <p:cNvSpPr>
            <a:spLocks xmlns:a="http://schemas.openxmlformats.org/drawingml/2006/main" noGrp="1"/>
          </p:cNvSpPr>
          <p:nvPr/>
        </p:nvSpPr>
        <p:spPr>
          <a:xfrm xmlns:a="http://schemas.openxmlformats.org/drawingml/2006/main">
            <a:off x="694944"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1–2 days</a:t>
            </a:r>
            <a:endParaRPr sz="2200"/>
          </a:p>
        </p:txBody>
      </p:sp>
      <p:sp>
        <p:nvSpPr>
          <p:cNvPr id="6" name="Text 4">
            <a:extLst xmlns:a="http://schemas.openxmlformats.org/drawingml/2006/main">
              <a:ext uri="{FF2B5EF4-FFF2-40B4-BE49-F238E27FC236}">
                <a16:creationId xmlns:a16="http://schemas.microsoft.com/office/drawing/2014/main" id="{FBDBE243-665E-44B8-8E68-9F9F0CB3071C}"/>
              </a:ext>
            </a:extLst>
          </p:cNvPr>
          <p:cNvSpPr>
            <a:spLocks xmlns:a="http://schemas.openxmlformats.org/drawingml/2006/main" noGrp="1"/>
          </p:cNvSpPr>
          <p:nvPr/>
        </p:nvSpPr>
        <p:spPr>
          <a:xfrm xmlns:a="http://schemas.openxmlformats.org/drawingml/2006/main">
            <a:off x="694944" y="1847088"/>
            <a:ext cx="2426132"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to configure a change</a:t>
            </a:r>
            <a:endParaRPr sz="860"/>
          </a:p>
        </p:txBody>
      </p:sp>
      <p:sp>
        <p:nvSpPr>
          <p:cNvPr id="7" name="Shape 5">
            <a:extLst xmlns:a="http://schemas.openxmlformats.org/drawingml/2006/main">
              <a:ext uri="{FF2B5EF4-FFF2-40B4-BE49-F238E27FC236}">
                <a16:creationId xmlns:a16="http://schemas.microsoft.com/office/drawing/2014/main" id="{20998F8B-A6D4-40F7-ADCE-1402357CFE47}"/>
              </a:ext>
            </a:extLst>
          </p:cNvPr>
          <p:cNvSpPr>
            <a:spLocks xmlns:a="http://schemas.openxmlformats.org/drawingml/2006/main" noGrp="1"/>
          </p:cNvSpPr>
          <p:nvPr/>
        </p:nvSpPr>
        <p:spPr>
          <a:xfrm xmlns:a="http://schemas.openxmlformats.org/drawingml/2006/main">
            <a:off x="3358820" y="1335024"/>
            <a:ext cx="2682164" cy="1097280"/>
          </a:xfrm>
          <a:prstGeom xmlns:a="http://schemas.openxmlformats.org/drawingml/2006/main" prst="rect">
            <a:avLst/>
          </a:prstGeom>
          <a:solidFill xmlns:a="http://schemas.openxmlformats.org/drawingml/2006/main">
            <a:srgbClr val="F3E6E0"/>
          </a:solidFill>
        </p:spPr>
      </p:sp>
      <p:sp>
        <p:nvSpPr>
          <p:cNvPr id="8" name="Text 6">
            <a:extLst xmlns:a="http://schemas.openxmlformats.org/drawingml/2006/main">
              <a:ext uri="{FF2B5EF4-FFF2-40B4-BE49-F238E27FC236}">
                <a16:creationId xmlns:a16="http://schemas.microsoft.com/office/drawing/2014/main" id="{F74FF581-3641-4BE9-9C82-207627D3710F}"/>
              </a:ext>
            </a:extLst>
          </p:cNvPr>
          <p:cNvSpPr>
            <a:spLocks xmlns:a="http://schemas.openxmlformats.org/drawingml/2006/main" noGrp="1"/>
          </p:cNvSpPr>
          <p:nvPr/>
        </p:nvSpPr>
        <p:spPr>
          <a:xfrm xmlns:a="http://schemas.openxmlformats.org/drawingml/2006/main">
            <a:off x="3486836"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&lt; 1 week</a:t>
            </a:r>
            <a:endParaRPr sz="2200"/>
          </a:p>
        </p:txBody>
      </p:sp>
      <p:sp>
        <p:nvSpPr>
          <p:cNvPr id="9" name="Text 7">
            <a:extLst xmlns:a="http://schemas.openxmlformats.org/drawingml/2006/main">
              <a:ext uri="{FF2B5EF4-FFF2-40B4-BE49-F238E27FC236}">
                <a16:creationId xmlns:a16="http://schemas.microsoft.com/office/drawing/2014/main" id="{AA71BA27-4DAC-450B-B597-CE93BAFC8074}"/>
              </a:ext>
            </a:extLst>
          </p:cNvPr>
          <p:cNvSpPr>
            <a:spLocks xmlns:a="http://schemas.openxmlformats.org/drawingml/2006/main" noGrp="1"/>
          </p:cNvSpPr>
          <p:nvPr/>
        </p:nvSpPr>
        <p:spPr>
          <a:xfrm xmlns:a="http://schemas.openxmlformats.org/drawingml/2006/main">
            <a:off x="3486836" y="1847088"/>
            <a:ext cx="2426132"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to modify a workflow</a:t>
            </a:r>
            <a:endParaRPr sz="860"/>
          </a:p>
        </p:txBody>
      </p:sp>
      <p:sp>
        <p:nvSpPr>
          <p:cNvPr id="10" name="Shape 8">
            <a:extLst xmlns:a="http://schemas.openxmlformats.org/drawingml/2006/main">
              <a:ext uri="{FF2B5EF4-FFF2-40B4-BE49-F238E27FC236}">
                <a16:creationId xmlns:a16="http://schemas.microsoft.com/office/drawing/2014/main" id="{22D23825-D1BF-4956-93FB-FAE225877773}"/>
              </a:ext>
            </a:extLst>
          </p:cNvPr>
          <p:cNvSpPr>
            <a:spLocks xmlns:a="http://schemas.openxmlformats.org/drawingml/2006/main" noGrp="1"/>
          </p:cNvSpPr>
          <p:nvPr/>
        </p:nvSpPr>
        <p:spPr>
          <a:xfrm xmlns:a="http://schemas.openxmlformats.org/drawingml/2006/main">
            <a:off x="6150712" y="1335024"/>
            <a:ext cx="2682164" cy="10972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5FD4F081-747C-46E0-BA08-CEE04B05BDAD}"/>
              </a:ext>
            </a:extLst>
          </p:cNvPr>
          <p:cNvSpPr>
            <a:spLocks xmlns:a="http://schemas.openxmlformats.org/drawingml/2006/main" noGrp="1"/>
          </p:cNvSpPr>
          <p:nvPr/>
        </p:nvSpPr>
        <p:spPr>
          <a:xfrm xmlns:a="http://schemas.openxmlformats.org/drawingml/2006/main">
            <a:off x="6278728"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~0</a:t>
            </a:r>
            <a:endParaRPr sz="2200"/>
          </a:p>
        </p:txBody>
      </p:sp>
      <p:sp>
        <p:nvSpPr>
          <p:cNvPr id="12" name="Text 10">
            <a:extLst xmlns:a="http://schemas.openxmlformats.org/drawingml/2006/main">
              <a:ext uri="{FF2B5EF4-FFF2-40B4-BE49-F238E27FC236}">
                <a16:creationId xmlns:a16="http://schemas.microsoft.com/office/drawing/2014/main" id="{9FDF32A5-8BAA-427B-A711-651AC46B150F}"/>
              </a:ext>
            </a:extLst>
          </p:cNvPr>
          <p:cNvSpPr>
            <a:spLocks xmlns:a="http://schemas.openxmlformats.org/drawingml/2006/main" noGrp="1"/>
          </p:cNvSpPr>
          <p:nvPr/>
        </p:nvSpPr>
        <p:spPr>
          <a:xfrm xmlns:a="http://schemas.openxmlformats.org/drawingml/2006/main">
            <a:off x="6278728" y="1847088"/>
            <a:ext cx="2426132"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change requests in business-as-usual</a:t>
            </a:r>
            <a:endParaRPr sz="860"/>
          </a:p>
        </p:txBody>
      </p:sp>
      <p:sp>
        <p:nvSpPr>
          <p:cNvPr id="13" name="Shape 11">
            <a:extLst xmlns:a="http://schemas.openxmlformats.org/drawingml/2006/main">
              <a:ext uri="{FF2B5EF4-FFF2-40B4-BE49-F238E27FC236}">
                <a16:creationId xmlns:a16="http://schemas.microsoft.com/office/drawing/2014/main" id="{C6EEF0A5-539A-4A16-B90A-22832F0CCF69}"/>
              </a:ext>
            </a:extLst>
          </p:cNvPr>
          <p:cNvSpPr>
            <a:spLocks xmlns:a="http://schemas.openxmlformats.org/drawingml/2006/main" noGrp="1"/>
          </p:cNvSpPr>
          <p:nvPr/>
        </p:nvSpPr>
        <p:spPr>
          <a:xfrm xmlns:a="http://schemas.openxmlformats.org/drawingml/2006/main">
            <a:off x="8942603" y="1335024"/>
            <a:ext cx="2682164" cy="109728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5D6D06EC-B992-4D1F-8F60-3A28EEB3CE44}"/>
              </a:ext>
            </a:extLst>
          </p:cNvPr>
          <p:cNvSpPr>
            <a:spLocks xmlns:a="http://schemas.openxmlformats.org/drawingml/2006/main" noGrp="1"/>
          </p:cNvSpPr>
          <p:nvPr/>
        </p:nvSpPr>
        <p:spPr>
          <a:xfrm xmlns:a="http://schemas.openxmlformats.org/drawingml/2006/main">
            <a:off x="9070619"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b="1">
                <a:solidFill>
                  <a:srgbClr val="B04A25"/>
                </a:solidFill>
                <a:latin typeface="Arial"/>
                <a:ea typeface="Arial"/>
                <a:cs typeface="Arial"/>
              </a:rPr>
              <a:t>3 months → days</a:t>
            </a:r>
            <a:endParaRPr sz="1700"/>
          </a:p>
        </p:txBody>
      </p:sp>
      <p:sp>
        <p:nvSpPr>
          <p:cNvPr id="15" name="Text 13">
            <a:extLst xmlns:a="http://schemas.openxmlformats.org/drawingml/2006/main">
              <a:ext uri="{FF2B5EF4-FFF2-40B4-BE49-F238E27FC236}">
                <a16:creationId xmlns:a16="http://schemas.microsoft.com/office/drawing/2014/main" id="{224FF52F-1062-41BD-99FF-E0C8C953EF01}"/>
              </a:ext>
            </a:extLst>
          </p:cNvPr>
          <p:cNvSpPr>
            <a:spLocks xmlns:a="http://schemas.openxmlformats.org/drawingml/2006/main" noGrp="1"/>
          </p:cNvSpPr>
          <p:nvPr/>
        </p:nvSpPr>
        <p:spPr>
          <a:xfrm xmlns:a="http://schemas.openxmlformats.org/drawingml/2006/main">
            <a:off x="9070619" y="1847088"/>
            <a:ext cx="2426132"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time to market for a new journey</a:t>
            </a:r>
            <a:endParaRPr sz="860"/>
          </a:p>
        </p:txBody>
      </p:sp>
      <p:sp>
        <p:nvSpPr>
          <p:cNvPr id="16" name="Text 14">
            <a:extLst xmlns:a="http://schemas.openxmlformats.org/drawingml/2006/main">
              <a:ext uri="{FF2B5EF4-FFF2-40B4-BE49-F238E27FC236}">
                <a16:creationId xmlns:a16="http://schemas.microsoft.com/office/drawing/2014/main" id="{74F1D79D-9757-43FC-A89E-BFA55EC4B8BC}"/>
              </a:ext>
            </a:extLst>
          </p:cNvPr>
          <p:cNvSpPr>
            <a:spLocks xmlns:a="http://schemas.openxmlformats.org/drawingml/2006/main" noGrp="1"/>
          </p:cNvSpPr>
          <p:nvPr/>
        </p:nvSpPr>
        <p:spPr>
          <a:xfrm xmlns:a="http://schemas.openxmlformats.org/drawingml/2006/main">
            <a:off x="566928" y="267004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the client wrote it this way</a:t>
            </a:r>
            <a:endParaRPr sz="1100"/>
          </a:p>
        </p:txBody>
      </p:sp>
      <p:sp>
        <p:nvSpPr>
          <p:cNvPr id="17" name="Shape 15">
            <a:extLst xmlns:a="http://schemas.openxmlformats.org/drawingml/2006/main">
              <a:ext uri="{FF2B5EF4-FFF2-40B4-BE49-F238E27FC236}">
                <a16:creationId xmlns:a16="http://schemas.microsoft.com/office/drawing/2014/main" id="{797A9BD7-F6F0-4DEB-84D0-B0A49ABFE014}"/>
              </a:ext>
            </a:extLst>
          </p:cNvPr>
          <p:cNvSpPr>
            <a:spLocks xmlns:a="http://schemas.openxmlformats.org/drawingml/2006/main" noGrp="1"/>
          </p:cNvSpPr>
          <p:nvPr/>
        </p:nvSpPr>
        <p:spPr>
          <a:xfrm xmlns:a="http://schemas.openxmlformats.org/drawingml/2006/main">
            <a:off x="566928" y="2926080"/>
            <a:ext cx="3551834" cy="20117"/>
          </a:xfrm>
          <a:prstGeom xmlns:a="http://schemas.openxmlformats.org/drawingml/2006/main" prst="rect">
            <a:avLst/>
          </a:prstGeom>
          <a:solidFill xmlns:a="http://schemas.openxmlformats.org/drawingml/2006/main">
            <a:srgbClr val="102A43"/>
          </a:solidFill>
        </p:spPr>
      </p:sp>
      <p:sp>
        <p:nvSpPr>
          <p:cNvPr id="18" name="Text 16">
            <a:extLst xmlns:a="http://schemas.openxmlformats.org/drawingml/2006/main">
              <a:ext uri="{FF2B5EF4-FFF2-40B4-BE49-F238E27FC236}">
                <a16:creationId xmlns:a16="http://schemas.microsoft.com/office/drawing/2014/main" id="{749295FF-5972-42AF-9C96-4EC2ACE88BE8}"/>
              </a:ext>
            </a:extLst>
          </p:cNvPr>
          <p:cNvSpPr>
            <a:spLocks xmlns:a="http://schemas.openxmlformats.org/drawingml/2006/main" noGrp="1"/>
          </p:cNvSpPr>
          <p:nvPr/>
        </p:nvSpPr>
        <p:spPr>
          <a:xfrm xmlns:a="http://schemas.openxmlformats.org/drawingml/2006/main">
            <a:off x="566928" y="3054096"/>
            <a:ext cx="3551834"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Insurance distribution changes constantly — regulatory updates, channel restructures, incentive redesigns, new product launches.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On the incumbent platform each of those was a vendor change request with a fee and a queue position.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target is not a technical aspiration. It is a direct statement of what went wrong last time.</a:t>
            </a:r>
            <a:endParaRPr sz="960"/>
          </a:p>
        </p:txBody>
      </p:sp>
      <p:sp>
        <p:nvSpPr>
          <p:cNvPr id="19" name="Text 17">
            <a:extLst xmlns:a="http://schemas.openxmlformats.org/drawingml/2006/main">
              <a:ext uri="{FF2B5EF4-FFF2-40B4-BE49-F238E27FC236}">
                <a16:creationId xmlns:a16="http://schemas.microsoft.com/office/drawing/2014/main" id="{7D8F7251-D556-4997-80FE-3111C37BB3AE}"/>
              </a:ext>
            </a:extLst>
          </p:cNvPr>
          <p:cNvSpPr>
            <a:spLocks xmlns:a="http://schemas.openxmlformats.org/drawingml/2006/main" noGrp="1"/>
          </p:cNvSpPr>
          <p:nvPr/>
        </p:nvSpPr>
        <p:spPr>
          <a:xfrm xmlns:a="http://schemas.openxmlformats.org/drawingml/2006/main">
            <a:off x="4319930" y="267004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What most responses do with it</a:t>
            </a:r>
            <a:endParaRPr sz="1100"/>
          </a:p>
        </p:txBody>
      </p:sp>
      <p:sp>
        <p:nvSpPr>
          <p:cNvPr id="20" name="Shape 18">
            <a:extLst xmlns:a="http://schemas.openxmlformats.org/drawingml/2006/main">
              <a:ext uri="{FF2B5EF4-FFF2-40B4-BE49-F238E27FC236}">
                <a16:creationId xmlns:a16="http://schemas.microsoft.com/office/drawing/2014/main" id="{84EEEC15-5BFE-4E80-9254-E60F843050E1}"/>
              </a:ext>
            </a:extLst>
          </p:cNvPr>
          <p:cNvSpPr>
            <a:spLocks xmlns:a="http://schemas.openxmlformats.org/drawingml/2006/main" noGrp="1"/>
          </p:cNvSpPr>
          <p:nvPr/>
        </p:nvSpPr>
        <p:spPr>
          <a:xfrm xmlns:a="http://schemas.openxmlformats.org/drawingml/2006/main">
            <a:off x="4319930" y="2926080"/>
            <a:ext cx="3551834" cy="20117"/>
          </a:xfrm>
          <a:prstGeom xmlns:a="http://schemas.openxmlformats.org/drawingml/2006/main" prst="rect">
            <a:avLst/>
          </a:prstGeom>
          <a:solidFill xmlns:a="http://schemas.openxmlformats.org/drawingml/2006/main">
            <a:srgbClr val="486581"/>
          </a:solidFill>
        </p:spPr>
      </p:sp>
      <p:sp>
        <p:nvSpPr>
          <p:cNvPr id="21" name="Text 19">
            <a:extLst xmlns:a="http://schemas.openxmlformats.org/drawingml/2006/main">
              <a:ext uri="{FF2B5EF4-FFF2-40B4-BE49-F238E27FC236}">
                <a16:creationId xmlns:a16="http://schemas.microsoft.com/office/drawing/2014/main" id="{E20BC397-0AE7-4C43-B2C5-7C8E9BD4D49E}"/>
              </a:ext>
            </a:extLst>
          </p:cNvPr>
          <p:cNvSpPr>
            <a:spLocks xmlns:a="http://schemas.openxmlformats.org/drawingml/2006/main" noGrp="1"/>
          </p:cNvSpPr>
          <p:nvPr/>
        </p:nvSpPr>
        <p:spPr>
          <a:xfrm xmlns:a="http://schemas.openxmlformats.org/drawingml/2006/main">
            <a:off x="4319930" y="3054096"/>
            <a:ext cx="3551834"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Answer with an administration console and a form-builder screenshot, which every serious platform has.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Score well in the demonstration, because a demonstration only tests whether the screen exists.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Then miss the target in production, because the screen was never the constraint.</a:t>
            </a:r>
            <a:endParaRPr sz="960"/>
          </a:p>
        </p:txBody>
      </p:sp>
      <p:sp>
        <p:nvSpPr>
          <p:cNvPr id="22" name="Text 20">
            <a:extLst xmlns:a="http://schemas.openxmlformats.org/drawingml/2006/main">
              <a:ext uri="{FF2B5EF4-FFF2-40B4-BE49-F238E27FC236}">
                <a16:creationId xmlns:a16="http://schemas.microsoft.com/office/drawing/2014/main" id="{65BDF627-E6E5-46F3-816E-5A867E8E3D52}"/>
              </a:ext>
            </a:extLst>
          </p:cNvPr>
          <p:cNvSpPr>
            <a:spLocks xmlns:a="http://schemas.openxmlformats.org/drawingml/2006/main" noGrp="1"/>
          </p:cNvSpPr>
          <p:nvPr/>
        </p:nvSpPr>
        <p:spPr>
          <a:xfrm xmlns:a="http://schemas.openxmlformats.org/drawingml/2006/main">
            <a:off x="8072933" y="267004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taking it literally requires</a:t>
            </a:r>
            <a:endParaRPr sz="1100"/>
          </a:p>
        </p:txBody>
      </p:sp>
      <p:sp>
        <p:nvSpPr>
          <p:cNvPr id="23" name="Shape 21">
            <a:extLst xmlns:a="http://schemas.openxmlformats.org/drawingml/2006/main">
              <a:ext uri="{FF2B5EF4-FFF2-40B4-BE49-F238E27FC236}">
                <a16:creationId xmlns:a16="http://schemas.microsoft.com/office/drawing/2014/main" id="{B376302A-DD45-492F-B009-629F02E5490D}"/>
              </a:ext>
            </a:extLst>
          </p:cNvPr>
          <p:cNvSpPr>
            <a:spLocks xmlns:a="http://schemas.openxmlformats.org/drawingml/2006/main" noGrp="1"/>
          </p:cNvSpPr>
          <p:nvPr/>
        </p:nvSpPr>
        <p:spPr>
          <a:xfrm xmlns:a="http://schemas.openxmlformats.org/drawingml/2006/main">
            <a:off x="8072933" y="2926080"/>
            <a:ext cx="3551834" cy="20117"/>
          </a:xfrm>
          <a:prstGeom xmlns:a="http://schemas.openxmlformats.org/drawingml/2006/main" prst="rect">
            <a:avLst/>
          </a:prstGeom>
          <a:solidFill xmlns:a="http://schemas.openxmlformats.org/drawingml/2006/main">
            <a:srgbClr val="B04A25"/>
          </a:solidFill>
        </p:spPr>
      </p:sp>
      <p:sp>
        <p:nvSpPr>
          <p:cNvPr id="24" name="Text 22">
            <a:extLst xmlns:a="http://schemas.openxmlformats.org/drawingml/2006/main">
              <a:ext uri="{FF2B5EF4-FFF2-40B4-BE49-F238E27FC236}">
                <a16:creationId xmlns:a16="http://schemas.microsoft.com/office/drawing/2014/main" id="{1AB5F87A-3256-4DF3-A7E3-21E1B1ED6465}"/>
              </a:ext>
            </a:extLst>
          </p:cNvPr>
          <p:cNvSpPr>
            <a:spLocks xmlns:a="http://schemas.openxmlformats.org/drawingml/2006/main" noGrp="1"/>
          </p:cNvSpPr>
          <p:nvPr/>
        </p:nvSpPr>
        <p:spPr>
          <a:xfrm xmlns:a="http://schemas.openxmlformats.org/drawingml/2006/main">
            <a:off x="8072933" y="3054096"/>
            <a:ext cx="3551834"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Configurability specified at four distinct levels, with the required level named per domain.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Channel variation held as data in a state machine, not as branches in code.</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A change-approval path designed to the same target as the change itself.</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Acceptance criteria that measure elapsed time to production, not availability of a screen.</a:t>
            </a:r>
            <a:endParaRPr sz="960"/>
          </a:p>
        </p:txBody>
      </p:sp>
      <p:sp>
        <p:nvSpPr>
          <p:cNvPr id="25" name="Shape 23">
            <a:extLst xmlns:a="http://schemas.openxmlformats.org/drawingml/2006/main">
              <a:ext uri="{FF2B5EF4-FFF2-40B4-BE49-F238E27FC236}">
                <a16:creationId xmlns:a16="http://schemas.microsoft.com/office/drawing/2014/main" id="{6C8C2FD9-A574-43CD-8545-78C91045525C}"/>
              </a:ext>
            </a:extLst>
          </p:cNvPr>
          <p:cNvSpPr>
            <a:spLocks xmlns:a="http://schemas.openxmlformats.org/drawingml/2006/main" noGrp="1"/>
          </p:cNvSpPr>
          <p:nvPr/>
        </p:nvSpPr>
        <p:spPr>
          <a:xfrm xmlns:a="http://schemas.openxmlformats.org/drawingml/2006/main">
            <a:off x="566928" y="4864608"/>
            <a:ext cx="11057839" cy="1207008"/>
          </a:xfrm>
          <a:prstGeom xmlns:a="http://schemas.openxmlformats.org/drawingml/2006/main" prst="rect">
            <a:avLst/>
          </a:prstGeom>
          <a:solidFill xmlns:a="http://schemas.openxmlformats.org/drawingml/2006/main">
            <a:srgbClr val="F3E6E0"/>
          </a:solidFill>
        </p:spPr>
      </p:sp>
      <p:sp>
        <p:nvSpPr>
          <p:cNvPr id="26" name="Text 24">
            <a:extLst xmlns:a="http://schemas.openxmlformats.org/drawingml/2006/main">
              <a:ext uri="{FF2B5EF4-FFF2-40B4-BE49-F238E27FC236}">
                <a16:creationId xmlns:a16="http://schemas.microsoft.com/office/drawing/2014/main" id="{3362ACB9-DD23-4BDB-AB9F-AEE223C65DC0}"/>
              </a:ext>
            </a:extLst>
          </p:cNvPr>
          <p:cNvSpPr>
            <a:spLocks xmlns:a="http://schemas.openxmlformats.org/drawingml/2006/main" noGrp="1"/>
          </p:cNvSpPr>
          <p:nvPr/>
        </p:nvSpPr>
        <p:spPr>
          <a:xfrm xmlns:a="http://schemas.openxmlformats.org/drawingml/2006/main">
            <a:off x="804672" y="501091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test that separates a real answer from a demonstration</a:t>
            </a:r>
            <a:endParaRPr sz="1100"/>
          </a:p>
        </p:txBody>
      </p:sp>
      <p:sp>
        <p:nvSpPr>
          <p:cNvPr id="27" name="Text 25">
            <a:extLst xmlns:a="http://schemas.openxmlformats.org/drawingml/2006/main">
              <a:ext uri="{FF2B5EF4-FFF2-40B4-BE49-F238E27FC236}">
                <a16:creationId xmlns:a16="http://schemas.microsoft.com/office/drawing/2014/main" id="{2B80B954-16B5-4546-B2BC-CE4E076A60B5}"/>
              </a:ext>
            </a:extLst>
          </p:cNvPr>
          <p:cNvSpPr>
            <a:spLocks xmlns:a="http://schemas.openxmlformats.org/drawingml/2006/main" noGrp="1"/>
          </p:cNvSpPr>
          <p:nvPr/>
        </p:nvSpPr>
        <p:spPr>
          <a:xfrm xmlns:a="http://schemas.openxmlformats.org/drawingml/2006/main">
            <a:off x="804672" y="5266944"/>
            <a:ext cx="10582351"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Ask any platform to add a new lead source, visible to two of ten channels, with its own deduplication rule and its own disposition set — and then ask how long it takes to reach production, including approvals, regression and release.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form builder answers the first half in minutes. The second half is where the one-to-two-day target is won or lost, and it is almost never in the demonstration script.</a:t>
            </a:r>
            <a:endParaRPr sz="990"/>
          </a:p>
        </p:txBody>
      </p:sp>
      <p:sp>
        <p:nvSpPr>
          <p:cNvPr id="28" name="Shape 26">
            <a:extLst xmlns:a="http://schemas.openxmlformats.org/drawingml/2006/main">
              <a:ext uri="{FF2B5EF4-FFF2-40B4-BE49-F238E27FC236}">
                <a16:creationId xmlns:a16="http://schemas.microsoft.com/office/drawing/2014/main" id="{2A63C66E-4189-4CA9-BDBE-674C644C190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073244DC-5DEB-4473-BA84-5E1B2A351BF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requirements and stated change-velocity targets · author's analysis</a:t>
            </a:r>
            <a:endParaRPr sz="850"/>
          </a:p>
        </p:txBody>
      </p:sp>
      <p:sp>
        <p:nvSpPr>
          <p:cNvPr id="30" name="Text 28">
            <a:extLst xmlns:a="http://schemas.openxmlformats.org/drawingml/2006/main">
              <a:ext uri="{FF2B5EF4-FFF2-40B4-BE49-F238E27FC236}">
                <a16:creationId xmlns:a16="http://schemas.microsoft.com/office/drawing/2014/main" id="{3EF7BF19-343B-491C-BCB3-B41BA2F904E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156778765"/>
      </p:ext>
    </p:extLst>
  </p:cSld>
</p:sld>
</file>

<file path=ppt/slides/slide1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763FDC-5DA3-47C4-9EF9-8A95F9C59A9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MODEL</a:t>
            </a:r>
            <a:endParaRPr sz="950"/>
          </a:p>
        </p:txBody>
      </p:sp>
      <p:sp>
        <p:nvSpPr>
          <p:cNvPr id="3" name="Text 1">
            <a:extLst xmlns:a="http://schemas.openxmlformats.org/drawingml/2006/main">
              <a:ext uri="{FF2B5EF4-FFF2-40B4-BE49-F238E27FC236}">
                <a16:creationId xmlns:a16="http://schemas.microsoft.com/office/drawing/2014/main" id="{01A68641-D5E1-4D28-8F1A-E3A5450B79D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levels of configurability — and a platform that stops at level two will pass the</a:t>
            </a:r>
            <a:endParaRPr sz="1900"/>
          </a:p>
          <a:p xmlns:a="http://schemas.openxmlformats.org/drawingml/2006/main">
            <a:pPr marL="0" indent="0">
              <a:lnSpc>
                <a:spcPts val="2400"/>
              </a:lnSpc>
              <a:buNone/>
            </a:pPr>
            <a:r>
              <a:rPr sz="1900" b="1">
                <a:solidFill>
                  <a:srgbClr val="102A43"/>
                </a:solidFill>
                <a:latin typeface="Arial"/>
                <a:ea typeface="Arial"/>
                <a:cs typeface="Arial"/>
              </a:rPr>
              <a:t>demonstration and fail the target</a:t>
            </a:r>
            <a:endParaRPr sz="1900"/>
          </a:p>
        </p:txBody>
      </p:sp>
      <p:sp>
        <p:nvSpPr>
          <p:cNvPr id="4" name="Shape 2">
            <a:extLst xmlns:a="http://schemas.openxmlformats.org/drawingml/2006/main">
              <a:ext uri="{FF2B5EF4-FFF2-40B4-BE49-F238E27FC236}">
                <a16:creationId xmlns:a16="http://schemas.microsoft.com/office/drawing/2014/main" id="{C3375E8D-5D3E-40A7-8529-99D9F1C3A56D}"/>
              </a:ext>
            </a:extLst>
          </p:cNvPr>
          <p:cNvSpPr>
            <a:spLocks xmlns:a="http://schemas.openxmlformats.org/drawingml/2006/main" noGrp="1"/>
          </p:cNvSpPr>
          <p:nvPr/>
        </p:nvSpPr>
        <p:spPr>
          <a:xfrm xmlns:a="http://schemas.openxmlformats.org/drawingml/2006/main">
            <a:off x="566928" y="1335024"/>
            <a:ext cx="2641016" cy="320040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AD3FD9C5-21CC-4D65-98E3-D18E307CE78B}"/>
              </a:ext>
            </a:extLst>
          </p:cNvPr>
          <p:cNvSpPr>
            <a:spLocks xmlns:a="http://schemas.openxmlformats.org/drawingml/2006/main" noGrp="1"/>
          </p:cNvSpPr>
          <p:nvPr/>
        </p:nvSpPr>
        <p:spPr>
          <a:xfrm xmlns:a="http://schemas.openxmlformats.org/drawingml/2006/main">
            <a:off x="768096" y="1499616"/>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LEVEL 1</a:t>
            </a:r>
            <a:endParaRPr sz="840"/>
          </a:p>
        </p:txBody>
      </p:sp>
      <p:sp>
        <p:nvSpPr>
          <p:cNvPr id="6" name="Text 4">
            <a:extLst xmlns:a="http://schemas.openxmlformats.org/drawingml/2006/main">
              <a:ext uri="{FF2B5EF4-FFF2-40B4-BE49-F238E27FC236}">
                <a16:creationId xmlns:a16="http://schemas.microsoft.com/office/drawing/2014/main" id="{16CA2E8E-FAEE-4ACC-81C7-BB1784347AF6}"/>
              </a:ext>
            </a:extLst>
          </p:cNvPr>
          <p:cNvSpPr>
            <a:spLocks xmlns:a="http://schemas.openxmlformats.org/drawingml/2006/main" noGrp="1"/>
          </p:cNvSpPr>
          <p:nvPr/>
        </p:nvSpPr>
        <p:spPr>
          <a:xfrm xmlns:a="http://schemas.openxmlformats.org/drawingml/2006/main">
            <a:off x="768096" y="1737360"/>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102A43"/>
                </a:solidFill>
                <a:latin typeface="Arial"/>
                <a:ea typeface="Arial"/>
                <a:cs typeface="Arial"/>
              </a:rPr>
              <a:t>Data configuration</a:t>
            </a:r>
            <a:endParaRPr sz="1350"/>
          </a:p>
        </p:txBody>
      </p:sp>
      <p:sp>
        <p:nvSpPr>
          <p:cNvPr id="7" name="Text 5">
            <a:extLst xmlns:a="http://schemas.openxmlformats.org/drawingml/2006/main">
              <a:ext uri="{FF2B5EF4-FFF2-40B4-BE49-F238E27FC236}">
                <a16:creationId xmlns:a16="http://schemas.microsoft.com/office/drawing/2014/main" id="{D4E66D4D-F692-4BCE-AE71-2082BFBD8547}"/>
              </a:ext>
            </a:extLst>
          </p:cNvPr>
          <p:cNvSpPr>
            <a:spLocks xmlns:a="http://schemas.openxmlformats.org/drawingml/2006/main" noGrp="1"/>
          </p:cNvSpPr>
          <p:nvPr/>
        </p:nvSpPr>
        <p:spPr>
          <a:xfrm xmlns:a="http://schemas.openxmlformats.org/drawingml/2006/main">
            <a:off x="768096" y="2084832"/>
            <a:ext cx="223868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Values, lists, masters and reference data changed through an administration screen.</a:t>
            </a:r>
            <a:endParaRPr sz="940"/>
          </a:p>
        </p:txBody>
      </p:sp>
      <p:sp>
        <p:nvSpPr>
          <p:cNvPr id="8" name="Text 6">
            <a:extLst xmlns:a="http://schemas.openxmlformats.org/drawingml/2006/main">
              <a:ext uri="{FF2B5EF4-FFF2-40B4-BE49-F238E27FC236}">
                <a16:creationId xmlns:a16="http://schemas.microsoft.com/office/drawing/2014/main" id="{CE6A53DB-FF72-4FE9-BEB1-769621F009E6}"/>
              </a:ext>
            </a:extLst>
          </p:cNvPr>
          <p:cNvSpPr>
            <a:spLocks xmlns:a="http://schemas.openxmlformats.org/drawingml/2006/main" noGrp="1"/>
          </p:cNvSpPr>
          <p:nvPr/>
        </p:nvSpPr>
        <p:spPr>
          <a:xfrm xmlns:a="http://schemas.openxmlformats.org/drawingml/2006/main">
            <a:off x="768096" y="2926080"/>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EXAMPLE</a:t>
            </a:r>
            <a:endParaRPr sz="740"/>
          </a:p>
        </p:txBody>
      </p:sp>
      <p:sp>
        <p:nvSpPr>
          <p:cNvPr id="9" name="Text 7">
            <a:extLst xmlns:a="http://schemas.openxmlformats.org/drawingml/2006/main">
              <a:ext uri="{FF2B5EF4-FFF2-40B4-BE49-F238E27FC236}">
                <a16:creationId xmlns:a16="http://schemas.microsoft.com/office/drawing/2014/main" id="{03FF6297-B9F5-4049-8EBE-89CF35578E73}"/>
              </a:ext>
            </a:extLst>
          </p:cNvPr>
          <p:cNvSpPr>
            <a:spLocks xmlns:a="http://schemas.openxmlformats.org/drawingml/2006/main" noGrp="1"/>
          </p:cNvSpPr>
          <p:nvPr/>
        </p:nvSpPr>
        <p:spPr>
          <a:xfrm xmlns:a="http://schemas.openxmlformats.org/drawingml/2006/main">
            <a:off x="768096" y="3127248"/>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Add a disposition reason. Add a branch. Change an escalation threshold.</a:t>
            </a:r>
            <a:endParaRPr sz="930"/>
          </a:p>
        </p:txBody>
      </p:sp>
      <p:sp>
        <p:nvSpPr>
          <p:cNvPr id="10" name="Shape 8">
            <a:extLst xmlns:a="http://schemas.openxmlformats.org/drawingml/2006/main">
              <a:ext uri="{FF2B5EF4-FFF2-40B4-BE49-F238E27FC236}">
                <a16:creationId xmlns:a16="http://schemas.microsoft.com/office/drawing/2014/main" id="{C2F4A424-7E93-48E3-92A0-2058BD4F8EB9}"/>
              </a:ext>
            </a:extLst>
          </p:cNvPr>
          <p:cNvSpPr>
            <a:spLocks xmlns:a="http://schemas.openxmlformats.org/drawingml/2006/main" noGrp="1"/>
          </p:cNvSpPr>
          <p:nvPr/>
        </p:nvSpPr>
        <p:spPr>
          <a:xfrm xmlns:a="http://schemas.openxmlformats.org/drawingml/2006/main">
            <a:off x="768096" y="4005072"/>
            <a:ext cx="2238680" cy="13716"/>
          </a:xfrm>
          <a:prstGeom xmlns:a="http://schemas.openxmlformats.org/drawingml/2006/main" prst="rect">
            <a:avLst/>
          </a:prstGeom>
          <a:solidFill xmlns:a="http://schemas.openxmlformats.org/drawingml/2006/main">
            <a:srgbClr val="C6D2DE"/>
          </a:solidFill>
        </p:spPr>
      </p:sp>
      <p:sp>
        <p:nvSpPr>
          <p:cNvPr id="11" name="Text 9">
            <a:extLst xmlns:a="http://schemas.openxmlformats.org/drawingml/2006/main">
              <a:ext uri="{FF2B5EF4-FFF2-40B4-BE49-F238E27FC236}">
                <a16:creationId xmlns:a16="http://schemas.microsoft.com/office/drawing/2014/main" id="{5BBB8B26-5B4A-414F-81F1-1A31B91EF4B0}"/>
              </a:ext>
            </a:extLst>
          </p:cNvPr>
          <p:cNvSpPr>
            <a:spLocks xmlns:a="http://schemas.openxmlformats.org/drawingml/2006/main" noGrp="1"/>
          </p:cNvSpPr>
          <p:nvPr/>
        </p:nvSpPr>
        <p:spPr>
          <a:xfrm xmlns:a="http://schemas.openxmlformats.org/drawingml/2006/main">
            <a:off x="768096" y="4133088"/>
            <a:ext cx="2238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Business administrator, no release</a:t>
            </a:r>
            <a:endParaRPr sz="920"/>
          </a:p>
        </p:txBody>
      </p:sp>
      <p:sp>
        <p:nvSpPr>
          <p:cNvPr id="12" name="Shape 10">
            <a:extLst xmlns:a="http://schemas.openxmlformats.org/drawingml/2006/main">
              <a:ext uri="{FF2B5EF4-FFF2-40B4-BE49-F238E27FC236}">
                <a16:creationId xmlns:a16="http://schemas.microsoft.com/office/drawing/2014/main" id="{79C54CD0-86D7-424A-9640-807D478206AA}"/>
              </a:ext>
            </a:extLst>
          </p:cNvPr>
          <p:cNvSpPr>
            <a:spLocks xmlns:a="http://schemas.openxmlformats.org/drawingml/2006/main" noGrp="1"/>
          </p:cNvSpPr>
          <p:nvPr/>
        </p:nvSpPr>
        <p:spPr>
          <a:xfrm xmlns:a="http://schemas.openxmlformats.org/drawingml/2006/main">
            <a:off x="3372536" y="1335024"/>
            <a:ext cx="2641016" cy="3200400"/>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97E663A6-9E1A-43ED-B236-636B4C99F2F7}"/>
              </a:ext>
            </a:extLst>
          </p:cNvPr>
          <p:cNvSpPr>
            <a:spLocks xmlns:a="http://schemas.openxmlformats.org/drawingml/2006/main" noGrp="1"/>
          </p:cNvSpPr>
          <p:nvPr/>
        </p:nvSpPr>
        <p:spPr>
          <a:xfrm xmlns:a="http://schemas.openxmlformats.org/drawingml/2006/main">
            <a:off x="3573704" y="1499616"/>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LEVEL 2</a:t>
            </a:r>
            <a:endParaRPr sz="840"/>
          </a:p>
        </p:txBody>
      </p:sp>
      <p:sp>
        <p:nvSpPr>
          <p:cNvPr id="14" name="Text 12">
            <a:extLst xmlns:a="http://schemas.openxmlformats.org/drawingml/2006/main">
              <a:ext uri="{FF2B5EF4-FFF2-40B4-BE49-F238E27FC236}">
                <a16:creationId xmlns:a16="http://schemas.microsoft.com/office/drawing/2014/main" id="{0B05ED2C-348A-4D6F-9C3D-F092111E1191}"/>
              </a:ext>
            </a:extLst>
          </p:cNvPr>
          <p:cNvSpPr>
            <a:spLocks xmlns:a="http://schemas.openxmlformats.org/drawingml/2006/main" noGrp="1"/>
          </p:cNvSpPr>
          <p:nvPr/>
        </p:nvSpPr>
        <p:spPr>
          <a:xfrm xmlns:a="http://schemas.openxmlformats.org/drawingml/2006/main">
            <a:off x="3573704" y="1737360"/>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102A43"/>
                </a:solidFill>
                <a:latin typeface="Arial"/>
                <a:ea typeface="Arial"/>
                <a:cs typeface="Arial"/>
              </a:rPr>
              <a:t>Structure configuration</a:t>
            </a:r>
            <a:endParaRPr sz="1350"/>
          </a:p>
        </p:txBody>
      </p:sp>
      <p:sp>
        <p:nvSpPr>
          <p:cNvPr id="15" name="Text 13">
            <a:extLst xmlns:a="http://schemas.openxmlformats.org/drawingml/2006/main">
              <a:ext uri="{FF2B5EF4-FFF2-40B4-BE49-F238E27FC236}">
                <a16:creationId xmlns:a16="http://schemas.microsoft.com/office/drawing/2014/main" id="{0BA22061-08ED-44AB-AD2E-3EE95567DF26}"/>
              </a:ext>
            </a:extLst>
          </p:cNvPr>
          <p:cNvSpPr>
            <a:spLocks xmlns:a="http://schemas.openxmlformats.org/drawingml/2006/main" noGrp="1"/>
          </p:cNvSpPr>
          <p:nvPr/>
        </p:nvSpPr>
        <p:spPr>
          <a:xfrm xmlns:a="http://schemas.openxmlformats.org/drawingml/2006/main">
            <a:off x="3573704" y="2084832"/>
            <a:ext cx="223868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Fields, forms, layouts and validation rules defined through a designer rather than written.</a:t>
            </a:r>
            <a:endParaRPr sz="940"/>
          </a:p>
        </p:txBody>
      </p:sp>
      <p:sp>
        <p:nvSpPr>
          <p:cNvPr id="16" name="Text 14">
            <a:extLst xmlns:a="http://schemas.openxmlformats.org/drawingml/2006/main">
              <a:ext uri="{FF2B5EF4-FFF2-40B4-BE49-F238E27FC236}">
                <a16:creationId xmlns:a16="http://schemas.microsoft.com/office/drawing/2014/main" id="{0656707B-E5C9-4D6D-B73A-1D5AF7B9BFC5}"/>
              </a:ext>
            </a:extLst>
          </p:cNvPr>
          <p:cNvSpPr>
            <a:spLocks xmlns:a="http://schemas.openxmlformats.org/drawingml/2006/main" noGrp="1"/>
          </p:cNvSpPr>
          <p:nvPr/>
        </p:nvSpPr>
        <p:spPr>
          <a:xfrm xmlns:a="http://schemas.openxmlformats.org/drawingml/2006/main">
            <a:off x="3573704" y="2926080"/>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EXAMPLE</a:t>
            </a:r>
            <a:endParaRPr sz="740"/>
          </a:p>
        </p:txBody>
      </p:sp>
      <p:sp>
        <p:nvSpPr>
          <p:cNvPr id="17" name="Text 15">
            <a:extLst xmlns:a="http://schemas.openxmlformats.org/drawingml/2006/main">
              <a:ext uri="{FF2B5EF4-FFF2-40B4-BE49-F238E27FC236}">
                <a16:creationId xmlns:a16="http://schemas.microsoft.com/office/drawing/2014/main" id="{0E433407-7056-4E2E-B63B-8A3BD14392A6}"/>
              </a:ext>
            </a:extLst>
          </p:cNvPr>
          <p:cNvSpPr>
            <a:spLocks xmlns:a="http://schemas.openxmlformats.org/drawingml/2006/main" noGrp="1"/>
          </p:cNvSpPr>
          <p:nvPr/>
        </p:nvSpPr>
        <p:spPr>
          <a:xfrm xmlns:a="http://schemas.openxmlformats.org/drawingml/2006/main">
            <a:off x="3573704" y="3127248"/>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Add a field to the lead form, mandatory for one channel and hidden for another.</a:t>
            </a:r>
            <a:endParaRPr sz="930"/>
          </a:p>
        </p:txBody>
      </p:sp>
      <p:sp>
        <p:nvSpPr>
          <p:cNvPr id="18" name="Shape 16">
            <a:extLst xmlns:a="http://schemas.openxmlformats.org/drawingml/2006/main">
              <a:ext uri="{FF2B5EF4-FFF2-40B4-BE49-F238E27FC236}">
                <a16:creationId xmlns:a16="http://schemas.microsoft.com/office/drawing/2014/main" id="{63B162BD-ED8A-4F72-8BE8-449DC59212F4}"/>
              </a:ext>
            </a:extLst>
          </p:cNvPr>
          <p:cNvSpPr>
            <a:spLocks xmlns:a="http://schemas.openxmlformats.org/drawingml/2006/main" noGrp="1"/>
          </p:cNvSpPr>
          <p:nvPr/>
        </p:nvSpPr>
        <p:spPr>
          <a:xfrm xmlns:a="http://schemas.openxmlformats.org/drawingml/2006/main">
            <a:off x="3573704" y="4005072"/>
            <a:ext cx="2238680" cy="13716"/>
          </a:xfrm>
          <a:prstGeom xmlns:a="http://schemas.openxmlformats.org/drawingml/2006/main" prst="rect">
            <a:avLst/>
          </a:prstGeom>
          <a:solidFill xmlns:a="http://schemas.openxmlformats.org/drawingml/2006/main">
            <a:srgbClr val="C6D2DE"/>
          </a:solidFill>
        </p:spPr>
      </p:sp>
      <p:sp>
        <p:nvSpPr>
          <p:cNvPr id="19" name="Text 17">
            <a:extLst xmlns:a="http://schemas.openxmlformats.org/drawingml/2006/main">
              <a:ext uri="{FF2B5EF4-FFF2-40B4-BE49-F238E27FC236}">
                <a16:creationId xmlns:a16="http://schemas.microsoft.com/office/drawing/2014/main" id="{B4C81FC4-6B81-48DB-A563-5BBF66712B76}"/>
              </a:ext>
            </a:extLst>
          </p:cNvPr>
          <p:cNvSpPr>
            <a:spLocks xmlns:a="http://schemas.openxmlformats.org/drawingml/2006/main" noGrp="1"/>
          </p:cNvSpPr>
          <p:nvPr/>
        </p:nvSpPr>
        <p:spPr>
          <a:xfrm xmlns:a="http://schemas.openxmlformats.org/drawingml/2006/main">
            <a:off x="3573704" y="4133088"/>
            <a:ext cx="2238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Business administrator, no release</a:t>
            </a:r>
            <a:endParaRPr sz="920"/>
          </a:p>
        </p:txBody>
      </p:sp>
      <p:sp>
        <p:nvSpPr>
          <p:cNvPr id="20" name="Shape 18">
            <a:extLst xmlns:a="http://schemas.openxmlformats.org/drawingml/2006/main">
              <a:ext uri="{FF2B5EF4-FFF2-40B4-BE49-F238E27FC236}">
                <a16:creationId xmlns:a16="http://schemas.microsoft.com/office/drawing/2014/main" id="{1C71C08A-8523-423C-9ED3-92D80920243C}"/>
              </a:ext>
            </a:extLst>
          </p:cNvPr>
          <p:cNvSpPr>
            <a:spLocks xmlns:a="http://schemas.openxmlformats.org/drawingml/2006/main" noGrp="1"/>
          </p:cNvSpPr>
          <p:nvPr/>
        </p:nvSpPr>
        <p:spPr>
          <a:xfrm xmlns:a="http://schemas.openxmlformats.org/drawingml/2006/main">
            <a:off x="6178144" y="1335024"/>
            <a:ext cx="2641016" cy="3200400"/>
          </a:xfrm>
          <a:prstGeom xmlns:a="http://schemas.openxmlformats.org/drawingml/2006/main" prst="rect">
            <a:avLst/>
          </a:prstGeom>
          <a:solidFill xmlns:a="http://schemas.openxmlformats.org/drawingml/2006/main">
            <a:srgbClr val="F3E6E0"/>
          </a:solidFill>
        </p:spPr>
      </p:sp>
      <p:sp>
        <p:nvSpPr>
          <p:cNvPr id="21" name="Text 19">
            <a:extLst xmlns:a="http://schemas.openxmlformats.org/drawingml/2006/main">
              <a:ext uri="{FF2B5EF4-FFF2-40B4-BE49-F238E27FC236}">
                <a16:creationId xmlns:a16="http://schemas.microsoft.com/office/drawing/2014/main" id="{C824BACA-384D-45DB-936C-B8B9CBCEE50C}"/>
              </a:ext>
            </a:extLst>
          </p:cNvPr>
          <p:cNvSpPr>
            <a:spLocks xmlns:a="http://schemas.openxmlformats.org/drawingml/2006/main" noGrp="1"/>
          </p:cNvSpPr>
          <p:nvPr/>
        </p:nvSpPr>
        <p:spPr>
          <a:xfrm xmlns:a="http://schemas.openxmlformats.org/drawingml/2006/main">
            <a:off x="6379312" y="1499616"/>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LEVEL 3</a:t>
            </a:r>
            <a:endParaRPr sz="840"/>
          </a:p>
        </p:txBody>
      </p:sp>
      <p:sp>
        <p:nvSpPr>
          <p:cNvPr id="22" name="Text 20">
            <a:extLst xmlns:a="http://schemas.openxmlformats.org/drawingml/2006/main">
              <a:ext uri="{FF2B5EF4-FFF2-40B4-BE49-F238E27FC236}">
                <a16:creationId xmlns:a16="http://schemas.microsoft.com/office/drawing/2014/main" id="{91B78CD3-9DE0-4AB5-B808-78392F0F3F0F}"/>
              </a:ext>
            </a:extLst>
          </p:cNvPr>
          <p:cNvSpPr>
            <a:spLocks xmlns:a="http://schemas.openxmlformats.org/drawingml/2006/main" noGrp="1"/>
          </p:cNvSpPr>
          <p:nvPr/>
        </p:nvSpPr>
        <p:spPr>
          <a:xfrm xmlns:a="http://schemas.openxmlformats.org/drawingml/2006/main">
            <a:off x="6379312" y="1737360"/>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102A43"/>
                </a:solidFill>
                <a:latin typeface="Arial"/>
                <a:ea typeface="Arial"/>
                <a:cs typeface="Arial"/>
              </a:rPr>
              <a:t>Behaviour configuration</a:t>
            </a:r>
            <a:endParaRPr sz="1350"/>
          </a:p>
        </p:txBody>
      </p:sp>
      <p:sp>
        <p:nvSpPr>
          <p:cNvPr id="23" name="Text 21">
            <a:extLst xmlns:a="http://schemas.openxmlformats.org/drawingml/2006/main">
              <a:ext uri="{FF2B5EF4-FFF2-40B4-BE49-F238E27FC236}">
                <a16:creationId xmlns:a16="http://schemas.microsoft.com/office/drawing/2014/main" id="{24F1F938-1BA9-4776-94EC-E62E924FE02F}"/>
              </a:ext>
            </a:extLst>
          </p:cNvPr>
          <p:cNvSpPr>
            <a:spLocks xmlns:a="http://schemas.openxmlformats.org/drawingml/2006/main" noGrp="1"/>
          </p:cNvSpPr>
          <p:nvPr/>
        </p:nvSpPr>
        <p:spPr>
          <a:xfrm xmlns:a="http://schemas.openxmlformats.org/drawingml/2006/main">
            <a:off x="6379312" y="2084832"/>
            <a:ext cx="223868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Workflow, state transitions, allocation logic and eligibility rules expressed as configuration.</a:t>
            </a:r>
            <a:endParaRPr sz="940"/>
          </a:p>
        </p:txBody>
      </p:sp>
      <p:sp>
        <p:nvSpPr>
          <p:cNvPr id="24" name="Text 22">
            <a:extLst xmlns:a="http://schemas.openxmlformats.org/drawingml/2006/main">
              <a:ext uri="{FF2B5EF4-FFF2-40B4-BE49-F238E27FC236}">
                <a16:creationId xmlns:a16="http://schemas.microsoft.com/office/drawing/2014/main" id="{8871C04E-48E7-401C-BC29-FEB4580C6097}"/>
              </a:ext>
            </a:extLst>
          </p:cNvPr>
          <p:cNvSpPr>
            <a:spLocks xmlns:a="http://schemas.openxmlformats.org/drawingml/2006/main" noGrp="1"/>
          </p:cNvSpPr>
          <p:nvPr/>
        </p:nvSpPr>
        <p:spPr>
          <a:xfrm xmlns:a="http://schemas.openxmlformats.org/drawingml/2006/main">
            <a:off x="6379312" y="2926080"/>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EXAMPLE</a:t>
            </a:r>
            <a:endParaRPr sz="740"/>
          </a:p>
        </p:txBody>
      </p:sp>
      <p:sp>
        <p:nvSpPr>
          <p:cNvPr id="25" name="Text 23">
            <a:extLst xmlns:a="http://schemas.openxmlformats.org/drawingml/2006/main">
              <a:ext uri="{FF2B5EF4-FFF2-40B4-BE49-F238E27FC236}">
                <a16:creationId xmlns:a16="http://schemas.microsoft.com/office/drawing/2014/main" id="{A17A133D-FD77-4D50-AD4B-325684273775}"/>
              </a:ext>
            </a:extLst>
          </p:cNvPr>
          <p:cNvSpPr>
            <a:spLocks xmlns:a="http://schemas.openxmlformats.org/drawingml/2006/main" noGrp="1"/>
          </p:cNvSpPr>
          <p:nvPr/>
        </p:nvSpPr>
        <p:spPr>
          <a:xfrm xmlns:a="http://schemas.openxmlformats.org/drawingml/2006/main">
            <a:off x="6379312" y="3127248"/>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Change allocation from round-robin to capacity-weighted for one channel only.</a:t>
            </a:r>
            <a:endParaRPr sz="930"/>
          </a:p>
        </p:txBody>
      </p:sp>
      <p:sp>
        <p:nvSpPr>
          <p:cNvPr id="26" name="Shape 24">
            <a:extLst xmlns:a="http://schemas.openxmlformats.org/drawingml/2006/main">
              <a:ext uri="{FF2B5EF4-FFF2-40B4-BE49-F238E27FC236}">
                <a16:creationId xmlns:a16="http://schemas.microsoft.com/office/drawing/2014/main" id="{995D1F53-C4D9-43E7-8453-DB11E575E89D}"/>
              </a:ext>
            </a:extLst>
          </p:cNvPr>
          <p:cNvSpPr>
            <a:spLocks xmlns:a="http://schemas.openxmlformats.org/drawingml/2006/main" noGrp="1"/>
          </p:cNvSpPr>
          <p:nvPr/>
        </p:nvSpPr>
        <p:spPr>
          <a:xfrm xmlns:a="http://schemas.openxmlformats.org/drawingml/2006/main">
            <a:off x="6379312" y="4005072"/>
            <a:ext cx="2238680" cy="13716"/>
          </a:xfrm>
          <a:prstGeom xmlns:a="http://schemas.openxmlformats.org/drawingml/2006/main" prst="rect">
            <a:avLst/>
          </a:prstGeom>
          <a:solidFill xmlns:a="http://schemas.openxmlformats.org/drawingml/2006/main">
            <a:srgbClr val="C6D2DE"/>
          </a:solidFill>
        </p:spPr>
      </p:sp>
      <p:sp>
        <p:nvSpPr>
          <p:cNvPr id="27" name="Text 25">
            <a:extLst xmlns:a="http://schemas.openxmlformats.org/drawingml/2006/main">
              <a:ext uri="{FF2B5EF4-FFF2-40B4-BE49-F238E27FC236}">
                <a16:creationId xmlns:a16="http://schemas.microsoft.com/office/drawing/2014/main" id="{7A34FAD8-CB21-477A-926F-A9F638A6AC10}"/>
              </a:ext>
            </a:extLst>
          </p:cNvPr>
          <p:cNvSpPr>
            <a:spLocks xmlns:a="http://schemas.openxmlformats.org/drawingml/2006/main" noGrp="1"/>
          </p:cNvSpPr>
          <p:nvPr/>
        </p:nvSpPr>
        <p:spPr>
          <a:xfrm xmlns:a="http://schemas.openxmlformats.org/drawingml/2006/main">
            <a:off x="6379312" y="4133088"/>
            <a:ext cx="2238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B04A25"/>
                </a:solidFill>
                <a:latin typeface="Arial"/>
                <a:ea typeface="Arial"/>
                <a:cs typeface="Arial"/>
              </a:rPr>
              <a:t>Configurator with review, controlled release</a:t>
            </a:r>
            <a:endParaRPr sz="920"/>
          </a:p>
        </p:txBody>
      </p:sp>
      <p:sp>
        <p:nvSpPr>
          <p:cNvPr id="28" name="Shape 26">
            <a:extLst xmlns:a="http://schemas.openxmlformats.org/drawingml/2006/main">
              <a:ext uri="{FF2B5EF4-FFF2-40B4-BE49-F238E27FC236}">
                <a16:creationId xmlns:a16="http://schemas.microsoft.com/office/drawing/2014/main" id="{17455DAD-0D33-4992-A7A9-AB8C70AC881E}"/>
              </a:ext>
            </a:extLst>
          </p:cNvPr>
          <p:cNvSpPr>
            <a:spLocks xmlns:a="http://schemas.openxmlformats.org/drawingml/2006/main" noGrp="1"/>
          </p:cNvSpPr>
          <p:nvPr/>
        </p:nvSpPr>
        <p:spPr>
          <a:xfrm xmlns:a="http://schemas.openxmlformats.org/drawingml/2006/main">
            <a:off x="8983751" y="1335024"/>
            <a:ext cx="2641016" cy="3200400"/>
          </a:xfrm>
          <a:prstGeom xmlns:a="http://schemas.openxmlformats.org/drawingml/2006/main" prst="rect">
            <a:avLst/>
          </a:prstGeom>
          <a:solidFill xmlns:a="http://schemas.openxmlformats.org/drawingml/2006/main">
            <a:srgbClr val="F3E6E0"/>
          </a:solidFill>
        </p:spPr>
      </p:sp>
      <p:sp>
        <p:nvSpPr>
          <p:cNvPr id="29" name="Text 27">
            <a:extLst xmlns:a="http://schemas.openxmlformats.org/drawingml/2006/main">
              <a:ext uri="{FF2B5EF4-FFF2-40B4-BE49-F238E27FC236}">
                <a16:creationId xmlns:a16="http://schemas.microsoft.com/office/drawing/2014/main" id="{BDB36BF2-C3CB-4948-8BE9-5BD3A0452B7E}"/>
              </a:ext>
            </a:extLst>
          </p:cNvPr>
          <p:cNvSpPr>
            <a:spLocks xmlns:a="http://schemas.openxmlformats.org/drawingml/2006/main" noGrp="1"/>
          </p:cNvSpPr>
          <p:nvPr/>
        </p:nvSpPr>
        <p:spPr>
          <a:xfrm xmlns:a="http://schemas.openxmlformats.org/drawingml/2006/main">
            <a:off x="9184919" y="1499616"/>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LEVEL 4</a:t>
            </a:r>
            <a:endParaRPr sz="840"/>
          </a:p>
        </p:txBody>
      </p:sp>
      <p:sp>
        <p:nvSpPr>
          <p:cNvPr id="30" name="Text 28">
            <a:extLst xmlns:a="http://schemas.openxmlformats.org/drawingml/2006/main">
              <a:ext uri="{FF2B5EF4-FFF2-40B4-BE49-F238E27FC236}">
                <a16:creationId xmlns:a16="http://schemas.microsoft.com/office/drawing/2014/main" id="{537BFD64-182B-459C-984C-67280BC059D0}"/>
              </a:ext>
            </a:extLst>
          </p:cNvPr>
          <p:cNvSpPr>
            <a:spLocks xmlns:a="http://schemas.openxmlformats.org/drawingml/2006/main" noGrp="1"/>
          </p:cNvSpPr>
          <p:nvPr/>
        </p:nvSpPr>
        <p:spPr>
          <a:xfrm xmlns:a="http://schemas.openxmlformats.org/drawingml/2006/main">
            <a:off x="9184919" y="1737360"/>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102A43"/>
                </a:solidFill>
                <a:latin typeface="Arial"/>
                <a:ea typeface="Arial"/>
                <a:cs typeface="Arial"/>
              </a:rPr>
              <a:t>Composition</a:t>
            </a:r>
            <a:endParaRPr sz="1350"/>
          </a:p>
        </p:txBody>
      </p:sp>
      <p:sp>
        <p:nvSpPr>
          <p:cNvPr id="31" name="Text 29">
            <a:extLst xmlns:a="http://schemas.openxmlformats.org/drawingml/2006/main">
              <a:ext uri="{FF2B5EF4-FFF2-40B4-BE49-F238E27FC236}">
                <a16:creationId xmlns:a16="http://schemas.microsoft.com/office/drawing/2014/main" id="{EB0A9E8A-680A-4C50-9D7B-3F4E6563D6EF}"/>
              </a:ext>
            </a:extLst>
          </p:cNvPr>
          <p:cNvSpPr>
            <a:spLocks xmlns:a="http://schemas.openxmlformats.org/drawingml/2006/main" noGrp="1"/>
          </p:cNvSpPr>
          <p:nvPr/>
        </p:nvSpPr>
        <p:spPr>
          <a:xfrm xmlns:a="http://schemas.openxmlformats.org/drawingml/2006/main">
            <a:off x="9184919" y="2084832"/>
            <a:ext cx="223868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Whole journeys, sources and channel variants added as instances of existing patterns rather than new builds.</a:t>
            </a:r>
            <a:endParaRPr sz="940"/>
          </a:p>
        </p:txBody>
      </p:sp>
      <p:sp>
        <p:nvSpPr>
          <p:cNvPr id="32" name="Text 30">
            <a:extLst xmlns:a="http://schemas.openxmlformats.org/drawingml/2006/main">
              <a:ext uri="{FF2B5EF4-FFF2-40B4-BE49-F238E27FC236}">
                <a16:creationId xmlns:a16="http://schemas.microsoft.com/office/drawing/2014/main" id="{0194DF6F-CD30-42DA-987F-89FF04BE9A21}"/>
              </a:ext>
            </a:extLst>
          </p:cNvPr>
          <p:cNvSpPr>
            <a:spLocks xmlns:a="http://schemas.openxmlformats.org/drawingml/2006/main" noGrp="1"/>
          </p:cNvSpPr>
          <p:nvPr/>
        </p:nvSpPr>
        <p:spPr>
          <a:xfrm xmlns:a="http://schemas.openxmlformats.org/drawingml/2006/main">
            <a:off x="9184919" y="2926080"/>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EXAMPLE</a:t>
            </a:r>
            <a:endParaRPr sz="740"/>
          </a:p>
        </p:txBody>
      </p:sp>
      <p:sp>
        <p:nvSpPr>
          <p:cNvPr id="33" name="Text 31">
            <a:extLst xmlns:a="http://schemas.openxmlformats.org/drawingml/2006/main">
              <a:ext uri="{FF2B5EF4-FFF2-40B4-BE49-F238E27FC236}">
                <a16:creationId xmlns:a16="http://schemas.microsoft.com/office/drawing/2014/main" id="{5C55D9AF-644C-4CE5-BFCE-B7385AECB04B}"/>
              </a:ext>
            </a:extLst>
          </p:cNvPr>
          <p:cNvSpPr>
            <a:spLocks xmlns:a="http://schemas.openxmlformats.org/drawingml/2006/main" noGrp="1"/>
          </p:cNvSpPr>
          <p:nvPr/>
        </p:nvSpPr>
        <p:spPr>
          <a:xfrm xmlns:a="http://schemas.openxmlformats.org/drawingml/2006/main">
            <a:off x="9184919" y="3127248"/>
            <a:ext cx="22386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Add an eleventh distribution channel with its own hierarchy and journey, without code.</a:t>
            </a:r>
            <a:endParaRPr sz="930"/>
          </a:p>
        </p:txBody>
      </p:sp>
      <p:sp>
        <p:nvSpPr>
          <p:cNvPr id="34" name="Shape 32">
            <a:extLst xmlns:a="http://schemas.openxmlformats.org/drawingml/2006/main">
              <a:ext uri="{FF2B5EF4-FFF2-40B4-BE49-F238E27FC236}">
                <a16:creationId xmlns:a16="http://schemas.microsoft.com/office/drawing/2014/main" id="{DAB9770A-07A4-4052-A44C-7B01C7F3E769}"/>
              </a:ext>
            </a:extLst>
          </p:cNvPr>
          <p:cNvSpPr>
            <a:spLocks xmlns:a="http://schemas.openxmlformats.org/drawingml/2006/main" noGrp="1"/>
          </p:cNvSpPr>
          <p:nvPr/>
        </p:nvSpPr>
        <p:spPr>
          <a:xfrm xmlns:a="http://schemas.openxmlformats.org/drawingml/2006/main">
            <a:off x="9184919" y="4005072"/>
            <a:ext cx="2238680" cy="13716"/>
          </a:xfrm>
          <a:prstGeom xmlns:a="http://schemas.openxmlformats.org/drawingml/2006/main" prst="rect">
            <a:avLst/>
          </a:prstGeom>
          <a:solidFill xmlns:a="http://schemas.openxmlformats.org/drawingml/2006/main">
            <a:srgbClr val="C6D2DE"/>
          </a:solidFill>
        </p:spPr>
      </p:sp>
      <p:sp>
        <p:nvSpPr>
          <p:cNvPr id="35" name="Text 33">
            <a:extLst xmlns:a="http://schemas.openxmlformats.org/drawingml/2006/main">
              <a:ext uri="{FF2B5EF4-FFF2-40B4-BE49-F238E27FC236}">
                <a16:creationId xmlns:a16="http://schemas.microsoft.com/office/drawing/2014/main" id="{832278F0-BA5A-4E4F-AD9D-156EC45C0DA4}"/>
              </a:ext>
            </a:extLst>
          </p:cNvPr>
          <p:cNvSpPr>
            <a:spLocks xmlns:a="http://schemas.openxmlformats.org/drawingml/2006/main" noGrp="1"/>
          </p:cNvSpPr>
          <p:nvPr/>
        </p:nvSpPr>
        <p:spPr>
          <a:xfrm xmlns:a="http://schemas.openxmlformats.org/drawingml/2006/main">
            <a:off x="9184919" y="4133088"/>
            <a:ext cx="2238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B04A25"/>
                </a:solidFill>
                <a:latin typeface="Arial"/>
                <a:ea typeface="Arial"/>
                <a:cs typeface="Arial"/>
              </a:rPr>
              <a:t>Configurator with design review</a:t>
            </a:r>
            <a:endParaRPr sz="920"/>
          </a:p>
        </p:txBody>
      </p:sp>
      <p:sp>
        <p:nvSpPr>
          <p:cNvPr id="36" name="Shape 34">
            <a:extLst xmlns:a="http://schemas.openxmlformats.org/drawingml/2006/main">
              <a:ext uri="{FF2B5EF4-FFF2-40B4-BE49-F238E27FC236}">
                <a16:creationId xmlns:a16="http://schemas.microsoft.com/office/drawing/2014/main" id="{199ECB13-447A-426F-9BC1-A3ADE57EF7BC}"/>
              </a:ext>
            </a:extLst>
          </p:cNvPr>
          <p:cNvSpPr>
            <a:spLocks xmlns:a="http://schemas.openxmlformats.org/drawingml/2006/main" noGrp="1"/>
          </p:cNvSpPr>
          <p:nvPr/>
        </p:nvSpPr>
        <p:spPr>
          <a:xfrm xmlns:a="http://schemas.openxmlformats.org/drawingml/2006/main">
            <a:off x="566928" y="4791456"/>
            <a:ext cx="11057839" cy="1280160"/>
          </a:xfrm>
          <a:prstGeom xmlns:a="http://schemas.openxmlformats.org/drawingml/2006/main" prst="rect">
            <a:avLst/>
          </a:prstGeom>
          <a:solidFill xmlns:a="http://schemas.openxmlformats.org/drawingml/2006/main">
            <a:srgbClr val="F3E6E0"/>
          </a:solidFill>
        </p:spPr>
      </p:sp>
      <p:sp>
        <p:nvSpPr>
          <p:cNvPr id="37" name="Text 35">
            <a:extLst xmlns:a="http://schemas.openxmlformats.org/drawingml/2006/main">
              <a:ext uri="{FF2B5EF4-FFF2-40B4-BE49-F238E27FC236}">
                <a16:creationId xmlns:a16="http://schemas.microsoft.com/office/drawing/2014/main" id="{F8335945-83AC-4698-83E8-F817CF338E27}"/>
              </a:ext>
            </a:extLst>
          </p:cNvPr>
          <p:cNvSpPr>
            <a:spLocks xmlns:a="http://schemas.openxmlformats.org/drawingml/2006/main" noGrp="1"/>
          </p:cNvSpPr>
          <p:nvPr/>
        </p:nvSpPr>
        <p:spPr>
          <a:xfrm xmlns:a="http://schemas.openxmlformats.org/drawingml/2006/main">
            <a:off x="804672" y="493776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Where platforms actually stop, and why it matters here</a:t>
            </a:r>
            <a:endParaRPr sz="1100"/>
          </a:p>
        </p:txBody>
      </p:sp>
      <p:sp>
        <p:nvSpPr>
          <p:cNvPr id="38" name="Text 36">
            <a:extLst xmlns:a="http://schemas.openxmlformats.org/drawingml/2006/main">
              <a:ext uri="{FF2B5EF4-FFF2-40B4-BE49-F238E27FC236}">
                <a16:creationId xmlns:a16="http://schemas.microsoft.com/office/drawing/2014/main" id="{4E0B2849-E77A-44A7-A13E-7286F4AB6626}"/>
              </a:ext>
            </a:extLst>
          </p:cNvPr>
          <p:cNvSpPr>
            <a:spLocks xmlns:a="http://schemas.openxmlformats.org/drawingml/2006/main" noGrp="1"/>
          </p:cNvSpPr>
          <p:nvPr/>
        </p:nvSpPr>
        <p:spPr>
          <a:xfrm xmlns:a="http://schemas.openxmlformats.org/drawingml/2006/main">
            <a:off x="804672" y="5193792"/>
            <a:ext cx="10582351"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Almost every enterprise platform delivers levels one and two convincingly. A good number reach level three for simple workflows and then require engineering for anything involving allocation logic or conditional state transitions.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Level four is rare, and it is precisely what a ten-plus-channel distribution estate needs. If adding an eleventh channel is a project rather than a configuration, the near-zero change-request target cannot be met — not because the platform is weak, but because the requirement was assessed at the wrong level.</a:t>
            </a:r>
            <a:endParaRPr sz="990"/>
          </a:p>
        </p:txBody>
      </p:sp>
      <p:sp>
        <p:nvSpPr>
          <p:cNvPr id="39" name="Shape 37">
            <a:extLst xmlns:a="http://schemas.openxmlformats.org/drawingml/2006/main">
              <a:ext uri="{FF2B5EF4-FFF2-40B4-BE49-F238E27FC236}">
                <a16:creationId xmlns:a16="http://schemas.microsoft.com/office/drawing/2014/main" id="{4CF24A1C-4F89-4866-A6B5-895C08744BA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0" name="Text 38">
            <a:extLst xmlns:a="http://schemas.openxmlformats.org/drawingml/2006/main">
              <a:ext uri="{FF2B5EF4-FFF2-40B4-BE49-F238E27FC236}">
                <a16:creationId xmlns:a16="http://schemas.microsoft.com/office/drawing/2014/main" id="{29387DF5-215F-413B-AA89-511D4C2AB7B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architecture analysis</a:t>
            </a:r>
            <a:endParaRPr sz="850"/>
          </a:p>
        </p:txBody>
      </p:sp>
      <p:sp>
        <p:nvSpPr>
          <p:cNvPr id="41" name="Text 39">
            <a:extLst xmlns:a="http://schemas.openxmlformats.org/drawingml/2006/main">
              <a:ext uri="{FF2B5EF4-FFF2-40B4-BE49-F238E27FC236}">
                <a16:creationId xmlns:a16="http://schemas.microsoft.com/office/drawing/2014/main" id="{2D9B9830-F6E2-4220-B8AF-7A654876859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68688532"/>
      </p:ext>
    </p:extLst>
  </p:cSld>
</p:sld>
</file>

<file path=ppt/slides/slide1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52C9B4-E08A-44EB-8849-3CC2CE638FD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DOMAIN ASSESSMENT</a:t>
            </a:r>
            <a:endParaRPr sz="950"/>
          </a:p>
        </p:txBody>
      </p:sp>
      <p:sp>
        <p:nvSpPr>
          <p:cNvPr id="3" name="Text 1">
            <a:extLst xmlns:a="http://schemas.openxmlformats.org/drawingml/2006/main">
              <a:ext uri="{FF2B5EF4-FFF2-40B4-BE49-F238E27FC236}">
                <a16:creationId xmlns:a16="http://schemas.microsoft.com/office/drawing/2014/main" id="{9456861F-CFF2-43C5-A5A4-993B126FAC4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Twelve domains, each needing a different level — naming the level per domain is what</a:t>
            </a:r>
            <a:endParaRPr sz="1900"/>
          </a:p>
          <a:p xmlns:a="http://schemas.openxmlformats.org/drawingml/2006/main">
            <a:pPr marL="0" indent="0">
              <a:lnSpc>
                <a:spcPts val="2400"/>
              </a:lnSpc>
              <a:buNone/>
            </a:pPr>
            <a:r>
              <a:rPr sz="1900" b="1">
                <a:solidFill>
                  <a:srgbClr val="102A43"/>
                </a:solidFill>
                <a:latin typeface="Arial"/>
                <a:ea typeface="Arial"/>
                <a:cs typeface="Arial"/>
              </a:rPr>
              <a:t>turns a vague “no-code” requirement into something a supplier can be held to</a:t>
            </a:r>
            <a:endParaRPr sz="1900"/>
          </a:p>
        </p:txBody>
      </p:sp>
      <p:sp>
        <p:nvSpPr>
          <p:cNvPr id="4" name="Shape 2">
            <a:extLst xmlns:a="http://schemas.openxmlformats.org/drawingml/2006/main">
              <a:ext uri="{FF2B5EF4-FFF2-40B4-BE49-F238E27FC236}">
                <a16:creationId xmlns:a16="http://schemas.microsoft.com/office/drawing/2014/main" id="{4075FECE-31A7-4D84-8086-FBAD214E5F99}"/>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B2D953AB-5A7A-424A-95EB-6E5D61EBDF13}"/>
              </a:ext>
            </a:extLst>
          </p:cNvPr>
          <p:cNvSpPr>
            <a:spLocks xmlns:a="http://schemas.openxmlformats.org/drawingml/2006/main" noGrp="1"/>
          </p:cNvSpPr>
          <p:nvPr/>
        </p:nvSpPr>
        <p:spPr>
          <a:xfrm xmlns:a="http://schemas.openxmlformats.org/drawingml/2006/main">
            <a:off x="676656" y="1444752"/>
            <a:ext cx="3346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102A43"/>
                </a:solidFill>
                <a:latin typeface="Arial"/>
                <a:ea typeface="Arial"/>
                <a:cs typeface="Arial"/>
              </a:rPr>
              <a:t>Configurability domain</a:t>
            </a:r>
            <a:endParaRPr sz="900"/>
          </a:p>
        </p:txBody>
      </p:sp>
      <p:sp>
        <p:nvSpPr>
          <p:cNvPr id="6" name="Text 4">
            <a:extLst xmlns:a="http://schemas.openxmlformats.org/drawingml/2006/main">
              <a:ext uri="{FF2B5EF4-FFF2-40B4-BE49-F238E27FC236}">
                <a16:creationId xmlns:a16="http://schemas.microsoft.com/office/drawing/2014/main" id="{F5E8652D-4C3D-49A4-8069-50702295F793}"/>
              </a:ext>
            </a:extLst>
          </p:cNvPr>
          <p:cNvSpPr>
            <a:spLocks xmlns:a="http://schemas.openxmlformats.org/drawingml/2006/main" noGrp="1"/>
          </p:cNvSpPr>
          <p:nvPr/>
        </p:nvSpPr>
        <p:spPr>
          <a:xfrm xmlns:a="http://schemas.openxmlformats.org/drawingml/2006/main">
            <a:off x="4334256" y="1444752"/>
            <a:ext cx="1060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b="1">
                <a:solidFill>
                  <a:srgbClr val="102A43"/>
                </a:solidFill>
                <a:latin typeface="Arial"/>
                <a:ea typeface="Arial"/>
                <a:cs typeface="Arial"/>
              </a:rPr>
              <a:t>Level</a:t>
            </a:r>
            <a:endParaRPr sz="900"/>
          </a:p>
        </p:txBody>
      </p:sp>
      <p:sp>
        <p:nvSpPr>
          <p:cNvPr id="7" name="Text 5">
            <a:extLst xmlns:a="http://schemas.openxmlformats.org/drawingml/2006/main">
              <a:ext uri="{FF2B5EF4-FFF2-40B4-BE49-F238E27FC236}">
                <a16:creationId xmlns:a16="http://schemas.microsoft.com/office/drawing/2014/main" id="{8D0B5C35-497B-493B-AAF7-95B4E0B0BFD7}"/>
              </a:ext>
            </a:extLst>
          </p:cNvPr>
          <p:cNvSpPr>
            <a:spLocks xmlns:a="http://schemas.openxmlformats.org/drawingml/2006/main" noGrp="1"/>
          </p:cNvSpPr>
          <p:nvPr/>
        </p:nvSpPr>
        <p:spPr>
          <a:xfrm xmlns:a="http://schemas.openxmlformats.org/drawingml/2006/main">
            <a:off x="5614416" y="1444752"/>
            <a:ext cx="3346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102A43"/>
                </a:solidFill>
                <a:latin typeface="Arial"/>
                <a:ea typeface="Arial"/>
                <a:cs typeface="Arial"/>
              </a:rPr>
              <a:t>What changes without a release</a:t>
            </a:r>
            <a:endParaRPr sz="900"/>
          </a:p>
        </p:txBody>
      </p:sp>
      <p:sp>
        <p:nvSpPr>
          <p:cNvPr id="8" name="Text 6">
            <a:extLst xmlns:a="http://schemas.openxmlformats.org/drawingml/2006/main">
              <a:ext uri="{FF2B5EF4-FFF2-40B4-BE49-F238E27FC236}">
                <a16:creationId xmlns:a16="http://schemas.microsoft.com/office/drawing/2014/main" id="{8636F63D-FFF0-499C-8018-C17B61F8F721}"/>
              </a:ext>
            </a:extLst>
          </p:cNvPr>
          <p:cNvSpPr>
            <a:spLocks xmlns:a="http://schemas.openxmlformats.org/drawingml/2006/main" noGrp="1"/>
          </p:cNvSpPr>
          <p:nvPr/>
        </p:nvSpPr>
        <p:spPr>
          <a:xfrm xmlns:a="http://schemas.openxmlformats.org/drawingml/2006/main">
            <a:off x="9272016" y="1444752"/>
            <a:ext cx="2240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00" b="1">
                <a:solidFill>
                  <a:srgbClr val="102A43"/>
                </a:solidFill>
                <a:latin typeface="Arial"/>
                <a:ea typeface="Arial"/>
                <a:cs typeface="Arial"/>
              </a:rPr>
              <a:t>Change frequency</a:t>
            </a:r>
            <a:endParaRPr sz="900"/>
          </a:p>
        </p:txBody>
      </p:sp>
      <p:sp>
        <p:nvSpPr>
          <p:cNvPr id="9" name="Text 7">
            <a:extLst xmlns:a="http://schemas.openxmlformats.org/drawingml/2006/main">
              <a:ext uri="{FF2B5EF4-FFF2-40B4-BE49-F238E27FC236}">
                <a16:creationId xmlns:a16="http://schemas.microsoft.com/office/drawing/2014/main" id="{1E7CC647-5197-4FB3-9E48-699FA7351DF3}"/>
              </a:ext>
            </a:extLst>
          </p:cNvPr>
          <p:cNvSpPr>
            <a:spLocks xmlns:a="http://schemas.openxmlformats.org/drawingml/2006/main" noGrp="1"/>
          </p:cNvSpPr>
          <p:nvPr/>
        </p:nvSpPr>
        <p:spPr>
          <a:xfrm xmlns:a="http://schemas.openxmlformats.org/drawingml/2006/main">
            <a:off x="676656" y="175564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Lead capture and creation</a:t>
            </a:r>
            <a:endParaRPr sz="930"/>
          </a:p>
        </p:txBody>
      </p:sp>
      <p:sp>
        <p:nvSpPr>
          <p:cNvPr id="10" name="Text 8">
            <a:extLst xmlns:a="http://schemas.openxmlformats.org/drawingml/2006/main">
              <a:ext uri="{FF2B5EF4-FFF2-40B4-BE49-F238E27FC236}">
                <a16:creationId xmlns:a16="http://schemas.microsoft.com/office/drawing/2014/main" id="{1A7AD7C4-6141-4EB4-80AF-B0E3E6068CEA}"/>
              </a:ext>
            </a:extLst>
          </p:cNvPr>
          <p:cNvSpPr>
            <a:spLocks xmlns:a="http://schemas.openxmlformats.org/drawingml/2006/main" noGrp="1"/>
          </p:cNvSpPr>
          <p:nvPr/>
        </p:nvSpPr>
        <p:spPr>
          <a:xfrm xmlns:a="http://schemas.openxmlformats.org/drawingml/2006/main">
            <a:off x="4334256" y="1755648"/>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4</a:t>
            </a:r>
            <a:endParaRPr sz="960"/>
          </a:p>
        </p:txBody>
      </p:sp>
      <p:sp>
        <p:nvSpPr>
          <p:cNvPr id="11" name="Text 9">
            <a:extLst xmlns:a="http://schemas.openxmlformats.org/drawingml/2006/main">
              <a:ext uri="{FF2B5EF4-FFF2-40B4-BE49-F238E27FC236}">
                <a16:creationId xmlns:a16="http://schemas.microsoft.com/office/drawing/2014/main" id="{DF9B2F6C-7B28-4264-8BF3-835618D8ACB0}"/>
              </a:ext>
            </a:extLst>
          </p:cNvPr>
          <p:cNvSpPr>
            <a:spLocks xmlns:a="http://schemas.openxmlformats.org/drawingml/2006/main" noGrp="1"/>
          </p:cNvSpPr>
          <p:nvPr/>
        </p:nvSpPr>
        <p:spPr>
          <a:xfrm xmlns:a="http://schemas.openxmlformats.org/drawingml/2006/main">
            <a:off x="5614416" y="175564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New sources, per-channel visibility, capture forms</a:t>
            </a:r>
            <a:endParaRPr sz="910"/>
          </a:p>
        </p:txBody>
      </p:sp>
      <p:sp>
        <p:nvSpPr>
          <p:cNvPr id="12" name="Text 10">
            <a:extLst xmlns:a="http://schemas.openxmlformats.org/drawingml/2006/main">
              <a:ext uri="{FF2B5EF4-FFF2-40B4-BE49-F238E27FC236}">
                <a16:creationId xmlns:a16="http://schemas.microsoft.com/office/drawing/2014/main" id="{F63AD352-0581-4C7D-9302-A0E4509B162F}"/>
              </a:ext>
            </a:extLst>
          </p:cNvPr>
          <p:cNvSpPr>
            <a:spLocks xmlns:a="http://schemas.openxmlformats.org/drawingml/2006/main" noGrp="1"/>
          </p:cNvSpPr>
          <p:nvPr/>
        </p:nvSpPr>
        <p:spPr>
          <a:xfrm xmlns:a="http://schemas.openxmlformats.org/drawingml/2006/main">
            <a:off x="9272016" y="1755648"/>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Monthly</a:t>
            </a:r>
            <a:endParaRPr sz="910"/>
          </a:p>
        </p:txBody>
      </p:sp>
      <p:sp>
        <p:nvSpPr>
          <p:cNvPr id="13" name="Shape 11">
            <a:extLst xmlns:a="http://schemas.openxmlformats.org/drawingml/2006/main">
              <a:ext uri="{FF2B5EF4-FFF2-40B4-BE49-F238E27FC236}">
                <a16:creationId xmlns:a16="http://schemas.microsoft.com/office/drawing/2014/main" id="{123EB74A-CA99-41F9-8D61-01E93CF6EC41}"/>
              </a:ext>
            </a:extLst>
          </p:cNvPr>
          <p:cNvSpPr>
            <a:spLocks xmlns:a="http://schemas.openxmlformats.org/drawingml/2006/main" noGrp="1"/>
          </p:cNvSpPr>
          <p:nvPr/>
        </p:nvSpPr>
        <p:spPr>
          <a:xfrm xmlns:a="http://schemas.openxmlformats.org/drawingml/2006/main">
            <a:off x="566928" y="2084832"/>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12C3E132-E4D0-47F7-8DD2-9E9F5442EEA5}"/>
              </a:ext>
            </a:extLst>
          </p:cNvPr>
          <p:cNvSpPr>
            <a:spLocks xmlns:a="http://schemas.openxmlformats.org/drawingml/2006/main" noGrp="1"/>
          </p:cNvSpPr>
          <p:nvPr/>
        </p:nvSpPr>
        <p:spPr>
          <a:xfrm xmlns:a="http://schemas.openxmlformats.org/drawingml/2006/main">
            <a:off x="566928" y="2084832"/>
            <a:ext cx="11057839" cy="384048"/>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82257AB8-D6E3-4F74-8E2F-3340D78E6912}"/>
              </a:ext>
            </a:extLst>
          </p:cNvPr>
          <p:cNvSpPr>
            <a:spLocks xmlns:a="http://schemas.openxmlformats.org/drawingml/2006/main" noGrp="1"/>
          </p:cNvSpPr>
          <p:nvPr/>
        </p:nvSpPr>
        <p:spPr>
          <a:xfrm xmlns:a="http://schemas.openxmlformats.org/drawingml/2006/main">
            <a:off x="676656" y="213969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Activity and task management</a:t>
            </a:r>
            <a:endParaRPr sz="930"/>
          </a:p>
        </p:txBody>
      </p:sp>
      <p:sp>
        <p:nvSpPr>
          <p:cNvPr id="16" name="Text 14">
            <a:extLst xmlns:a="http://schemas.openxmlformats.org/drawingml/2006/main">
              <a:ext uri="{FF2B5EF4-FFF2-40B4-BE49-F238E27FC236}">
                <a16:creationId xmlns:a16="http://schemas.microsoft.com/office/drawing/2014/main" id="{C0BE162C-E2AE-4CA5-8916-A4F383E9CA51}"/>
              </a:ext>
            </a:extLst>
          </p:cNvPr>
          <p:cNvSpPr>
            <a:spLocks xmlns:a="http://schemas.openxmlformats.org/drawingml/2006/main" noGrp="1"/>
          </p:cNvSpPr>
          <p:nvPr/>
        </p:nvSpPr>
        <p:spPr>
          <a:xfrm xmlns:a="http://schemas.openxmlformats.org/drawingml/2006/main">
            <a:off x="4334256" y="2139696"/>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4</a:t>
            </a:r>
            <a:endParaRPr sz="960"/>
          </a:p>
        </p:txBody>
      </p:sp>
      <p:sp>
        <p:nvSpPr>
          <p:cNvPr id="17" name="Text 15">
            <a:extLst xmlns:a="http://schemas.openxmlformats.org/drawingml/2006/main">
              <a:ext uri="{FF2B5EF4-FFF2-40B4-BE49-F238E27FC236}">
                <a16:creationId xmlns:a16="http://schemas.microsoft.com/office/drawing/2014/main" id="{985D7127-22B3-4AFF-A2E9-4185F5F28393}"/>
              </a:ext>
            </a:extLst>
          </p:cNvPr>
          <p:cNvSpPr>
            <a:spLocks xmlns:a="http://schemas.openxmlformats.org/drawingml/2006/main" noGrp="1"/>
          </p:cNvSpPr>
          <p:nvPr/>
        </p:nvSpPr>
        <p:spPr>
          <a:xfrm xmlns:a="http://schemas.openxmlformats.org/drawingml/2006/main">
            <a:off x="5614416" y="213969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Activity types, templates, attributes, statuses</a:t>
            </a:r>
            <a:endParaRPr sz="910"/>
          </a:p>
        </p:txBody>
      </p:sp>
      <p:sp>
        <p:nvSpPr>
          <p:cNvPr id="18" name="Text 16">
            <a:extLst xmlns:a="http://schemas.openxmlformats.org/drawingml/2006/main">
              <a:ext uri="{FF2B5EF4-FFF2-40B4-BE49-F238E27FC236}">
                <a16:creationId xmlns:a16="http://schemas.microsoft.com/office/drawing/2014/main" id="{EA2657E0-266C-45D7-8B45-29811E1BB7FC}"/>
              </a:ext>
            </a:extLst>
          </p:cNvPr>
          <p:cNvSpPr>
            <a:spLocks xmlns:a="http://schemas.openxmlformats.org/drawingml/2006/main" noGrp="1"/>
          </p:cNvSpPr>
          <p:nvPr/>
        </p:nvSpPr>
        <p:spPr>
          <a:xfrm xmlns:a="http://schemas.openxmlformats.org/drawingml/2006/main">
            <a:off x="9272016" y="2139696"/>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Monthly</a:t>
            </a:r>
            <a:endParaRPr sz="910"/>
          </a:p>
        </p:txBody>
      </p:sp>
      <p:sp>
        <p:nvSpPr>
          <p:cNvPr id="19" name="Shape 17">
            <a:extLst xmlns:a="http://schemas.openxmlformats.org/drawingml/2006/main">
              <a:ext uri="{FF2B5EF4-FFF2-40B4-BE49-F238E27FC236}">
                <a16:creationId xmlns:a16="http://schemas.microsoft.com/office/drawing/2014/main" id="{09471159-6741-4523-B1F3-F8EE91240B69}"/>
              </a:ext>
            </a:extLst>
          </p:cNvPr>
          <p:cNvSpPr>
            <a:spLocks xmlns:a="http://schemas.openxmlformats.org/drawingml/2006/main" noGrp="1"/>
          </p:cNvSpPr>
          <p:nvPr/>
        </p:nvSpPr>
        <p:spPr>
          <a:xfrm xmlns:a="http://schemas.openxmlformats.org/drawingml/2006/main">
            <a:off x="566928" y="2468880"/>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05844E37-46E9-42A3-B371-92D504B0652D}"/>
              </a:ext>
            </a:extLst>
          </p:cNvPr>
          <p:cNvSpPr>
            <a:spLocks xmlns:a="http://schemas.openxmlformats.org/drawingml/2006/main" noGrp="1"/>
          </p:cNvSpPr>
          <p:nvPr/>
        </p:nvSpPr>
        <p:spPr>
          <a:xfrm xmlns:a="http://schemas.openxmlformats.org/drawingml/2006/main">
            <a:off x="676656" y="252374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Workflow and journeys</a:t>
            </a:r>
            <a:endParaRPr sz="930"/>
          </a:p>
        </p:txBody>
      </p:sp>
      <p:sp>
        <p:nvSpPr>
          <p:cNvPr id="21" name="Text 19">
            <a:extLst xmlns:a="http://schemas.openxmlformats.org/drawingml/2006/main">
              <a:ext uri="{FF2B5EF4-FFF2-40B4-BE49-F238E27FC236}">
                <a16:creationId xmlns:a16="http://schemas.microsoft.com/office/drawing/2014/main" id="{B0C328A1-6F47-49DE-A4AE-4A7D830202E6}"/>
              </a:ext>
            </a:extLst>
          </p:cNvPr>
          <p:cNvSpPr>
            <a:spLocks xmlns:a="http://schemas.openxmlformats.org/drawingml/2006/main" noGrp="1"/>
          </p:cNvSpPr>
          <p:nvPr/>
        </p:nvSpPr>
        <p:spPr>
          <a:xfrm xmlns:a="http://schemas.openxmlformats.org/drawingml/2006/main">
            <a:off x="4334256" y="2523744"/>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4</a:t>
            </a:r>
            <a:endParaRPr sz="960"/>
          </a:p>
        </p:txBody>
      </p:sp>
      <p:sp>
        <p:nvSpPr>
          <p:cNvPr id="22" name="Text 20">
            <a:extLst xmlns:a="http://schemas.openxmlformats.org/drawingml/2006/main">
              <a:ext uri="{FF2B5EF4-FFF2-40B4-BE49-F238E27FC236}">
                <a16:creationId xmlns:a16="http://schemas.microsoft.com/office/drawing/2014/main" id="{47CF1432-4D8D-4B88-B674-1A136D956BA6}"/>
              </a:ext>
            </a:extLst>
          </p:cNvPr>
          <p:cNvSpPr>
            <a:spLocks xmlns:a="http://schemas.openxmlformats.org/drawingml/2006/main" noGrp="1"/>
          </p:cNvSpPr>
          <p:nvPr/>
        </p:nvSpPr>
        <p:spPr>
          <a:xfrm xmlns:a="http://schemas.openxmlformats.org/drawingml/2006/main">
            <a:off x="5614416" y="252374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State transitions, per-channel journey variants</a:t>
            </a:r>
            <a:endParaRPr sz="910"/>
          </a:p>
        </p:txBody>
      </p:sp>
      <p:sp>
        <p:nvSpPr>
          <p:cNvPr id="23" name="Text 21">
            <a:extLst xmlns:a="http://schemas.openxmlformats.org/drawingml/2006/main">
              <a:ext uri="{FF2B5EF4-FFF2-40B4-BE49-F238E27FC236}">
                <a16:creationId xmlns:a16="http://schemas.microsoft.com/office/drawing/2014/main" id="{49448259-DBE9-4AC2-9981-9B5169471DFD}"/>
              </a:ext>
            </a:extLst>
          </p:cNvPr>
          <p:cNvSpPr>
            <a:spLocks xmlns:a="http://schemas.openxmlformats.org/drawingml/2006/main" noGrp="1"/>
          </p:cNvSpPr>
          <p:nvPr/>
        </p:nvSpPr>
        <p:spPr>
          <a:xfrm xmlns:a="http://schemas.openxmlformats.org/drawingml/2006/main">
            <a:off x="9272016" y="2523744"/>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Quarterly</a:t>
            </a:r>
            <a:endParaRPr sz="910"/>
          </a:p>
        </p:txBody>
      </p:sp>
      <p:sp>
        <p:nvSpPr>
          <p:cNvPr id="24" name="Shape 22">
            <a:extLst xmlns:a="http://schemas.openxmlformats.org/drawingml/2006/main">
              <a:ext uri="{FF2B5EF4-FFF2-40B4-BE49-F238E27FC236}">
                <a16:creationId xmlns:a16="http://schemas.microsoft.com/office/drawing/2014/main" id="{B97C808C-F216-4B29-8E84-74DB96A3AEC7}"/>
              </a:ext>
            </a:extLst>
          </p:cNvPr>
          <p:cNvSpPr>
            <a:spLocks xmlns:a="http://schemas.openxmlformats.org/drawingml/2006/main" noGrp="1"/>
          </p:cNvSpPr>
          <p:nvPr/>
        </p:nvSpPr>
        <p:spPr>
          <a:xfrm xmlns:a="http://schemas.openxmlformats.org/drawingml/2006/main">
            <a:off x="566928" y="2852928"/>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07387593-FEA4-4F31-B6B6-2C7D674B1497}"/>
              </a:ext>
            </a:extLst>
          </p:cNvPr>
          <p:cNvSpPr>
            <a:spLocks xmlns:a="http://schemas.openxmlformats.org/drawingml/2006/main" noGrp="1"/>
          </p:cNvSpPr>
          <p:nvPr/>
        </p:nvSpPr>
        <p:spPr>
          <a:xfrm xmlns:a="http://schemas.openxmlformats.org/drawingml/2006/main">
            <a:off x="566928" y="2852928"/>
            <a:ext cx="11057839" cy="384048"/>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5941DCD0-B633-41AC-B26B-D9A92C73C805}"/>
              </a:ext>
            </a:extLst>
          </p:cNvPr>
          <p:cNvSpPr>
            <a:spLocks xmlns:a="http://schemas.openxmlformats.org/drawingml/2006/main" noGrp="1"/>
          </p:cNvSpPr>
          <p:nvPr/>
        </p:nvSpPr>
        <p:spPr>
          <a:xfrm xmlns:a="http://schemas.openxmlformats.org/drawingml/2006/main">
            <a:off x="676656" y="290779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Role, access and visibility</a:t>
            </a:r>
            <a:endParaRPr sz="930"/>
          </a:p>
        </p:txBody>
      </p:sp>
      <p:sp>
        <p:nvSpPr>
          <p:cNvPr id="27" name="Text 25">
            <a:extLst xmlns:a="http://schemas.openxmlformats.org/drawingml/2006/main">
              <a:ext uri="{FF2B5EF4-FFF2-40B4-BE49-F238E27FC236}">
                <a16:creationId xmlns:a16="http://schemas.microsoft.com/office/drawing/2014/main" id="{E77C7194-7457-4D6E-AB94-5B7B1CC3E23D}"/>
              </a:ext>
            </a:extLst>
          </p:cNvPr>
          <p:cNvSpPr>
            <a:spLocks xmlns:a="http://schemas.openxmlformats.org/drawingml/2006/main" noGrp="1"/>
          </p:cNvSpPr>
          <p:nvPr/>
        </p:nvSpPr>
        <p:spPr>
          <a:xfrm xmlns:a="http://schemas.openxmlformats.org/drawingml/2006/main">
            <a:off x="4334256" y="2907792"/>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3</a:t>
            </a:r>
            <a:endParaRPr sz="960"/>
          </a:p>
        </p:txBody>
      </p:sp>
      <p:sp>
        <p:nvSpPr>
          <p:cNvPr id="28" name="Text 26">
            <a:extLst xmlns:a="http://schemas.openxmlformats.org/drawingml/2006/main">
              <a:ext uri="{FF2B5EF4-FFF2-40B4-BE49-F238E27FC236}">
                <a16:creationId xmlns:a16="http://schemas.microsoft.com/office/drawing/2014/main" id="{9BDB5571-4A30-4069-BCE5-7B103D15B593}"/>
              </a:ext>
            </a:extLst>
          </p:cNvPr>
          <p:cNvSpPr>
            <a:spLocks xmlns:a="http://schemas.openxmlformats.org/drawingml/2006/main" noGrp="1"/>
          </p:cNvSpPr>
          <p:nvPr/>
        </p:nvSpPr>
        <p:spPr>
          <a:xfrm xmlns:a="http://schemas.openxmlformats.org/drawingml/2006/main">
            <a:off x="5614416" y="290779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Hierarchy, data scoping, field-level permissions</a:t>
            </a:r>
            <a:endParaRPr sz="910"/>
          </a:p>
        </p:txBody>
      </p:sp>
      <p:sp>
        <p:nvSpPr>
          <p:cNvPr id="29" name="Text 27">
            <a:extLst xmlns:a="http://schemas.openxmlformats.org/drawingml/2006/main">
              <a:ext uri="{FF2B5EF4-FFF2-40B4-BE49-F238E27FC236}">
                <a16:creationId xmlns:a16="http://schemas.microsoft.com/office/drawing/2014/main" id="{E6909486-B243-4EA1-A904-1E45FBDC31B4}"/>
              </a:ext>
            </a:extLst>
          </p:cNvPr>
          <p:cNvSpPr>
            <a:spLocks xmlns:a="http://schemas.openxmlformats.org/drawingml/2006/main" noGrp="1"/>
          </p:cNvSpPr>
          <p:nvPr/>
        </p:nvSpPr>
        <p:spPr>
          <a:xfrm xmlns:a="http://schemas.openxmlformats.org/drawingml/2006/main">
            <a:off x="9272016" y="290779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Continuous</a:t>
            </a:r>
            <a:endParaRPr sz="910"/>
          </a:p>
        </p:txBody>
      </p:sp>
      <p:sp>
        <p:nvSpPr>
          <p:cNvPr id="30" name="Shape 28">
            <a:extLst xmlns:a="http://schemas.openxmlformats.org/drawingml/2006/main">
              <a:ext uri="{FF2B5EF4-FFF2-40B4-BE49-F238E27FC236}">
                <a16:creationId xmlns:a16="http://schemas.microsoft.com/office/drawing/2014/main" id="{16E80FF3-5097-487C-8FF7-1F5AD085D868}"/>
              </a:ext>
            </a:extLst>
          </p:cNvPr>
          <p:cNvSpPr>
            <a:spLocks xmlns:a="http://schemas.openxmlformats.org/drawingml/2006/main" noGrp="1"/>
          </p:cNvSpPr>
          <p:nvPr/>
        </p:nvSpPr>
        <p:spPr>
          <a:xfrm xmlns:a="http://schemas.openxmlformats.org/drawingml/2006/main">
            <a:off x="566928" y="3236976"/>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68650439-FCA4-4921-8156-43EFAB05F195}"/>
              </a:ext>
            </a:extLst>
          </p:cNvPr>
          <p:cNvSpPr>
            <a:spLocks xmlns:a="http://schemas.openxmlformats.org/drawingml/2006/main" noGrp="1"/>
          </p:cNvSpPr>
          <p:nvPr/>
        </p:nvSpPr>
        <p:spPr>
          <a:xfrm xmlns:a="http://schemas.openxmlformats.org/drawingml/2006/main">
            <a:off x="676656" y="329184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Geo and location controls</a:t>
            </a:r>
            <a:endParaRPr sz="930"/>
          </a:p>
        </p:txBody>
      </p:sp>
      <p:sp>
        <p:nvSpPr>
          <p:cNvPr id="32" name="Text 30">
            <a:extLst xmlns:a="http://schemas.openxmlformats.org/drawingml/2006/main">
              <a:ext uri="{FF2B5EF4-FFF2-40B4-BE49-F238E27FC236}">
                <a16:creationId xmlns:a16="http://schemas.microsoft.com/office/drawing/2014/main" id="{BC9BA68B-9989-48C8-BDC7-387488215048}"/>
              </a:ext>
            </a:extLst>
          </p:cNvPr>
          <p:cNvSpPr>
            <a:spLocks xmlns:a="http://schemas.openxmlformats.org/drawingml/2006/main" noGrp="1"/>
          </p:cNvSpPr>
          <p:nvPr/>
        </p:nvSpPr>
        <p:spPr>
          <a:xfrm xmlns:a="http://schemas.openxmlformats.org/drawingml/2006/main">
            <a:off x="4334256" y="3291840"/>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3</a:t>
            </a:r>
            <a:endParaRPr sz="960"/>
          </a:p>
        </p:txBody>
      </p:sp>
      <p:sp>
        <p:nvSpPr>
          <p:cNvPr id="33" name="Text 31">
            <a:extLst xmlns:a="http://schemas.openxmlformats.org/drawingml/2006/main">
              <a:ext uri="{FF2B5EF4-FFF2-40B4-BE49-F238E27FC236}">
                <a16:creationId xmlns:a16="http://schemas.microsoft.com/office/drawing/2014/main" id="{7B33835D-22BD-46D1-BC8E-67B204080E7F}"/>
              </a:ext>
            </a:extLst>
          </p:cNvPr>
          <p:cNvSpPr>
            <a:spLocks xmlns:a="http://schemas.openxmlformats.org/drawingml/2006/main" noGrp="1"/>
          </p:cNvSpPr>
          <p:nvPr/>
        </p:nvSpPr>
        <p:spPr>
          <a:xfrm xmlns:a="http://schemas.openxmlformats.org/drawingml/2006/main">
            <a:off x="5614416" y="329184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Geofence radius, mandatory tagging, spoof checks</a:t>
            </a:r>
            <a:endParaRPr sz="910"/>
          </a:p>
        </p:txBody>
      </p:sp>
      <p:sp>
        <p:nvSpPr>
          <p:cNvPr id="34" name="Text 32">
            <a:extLst xmlns:a="http://schemas.openxmlformats.org/drawingml/2006/main">
              <a:ext uri="{FF2B5EF4-FFF2-40B4-BE49-F238E27FC236}">
                <a16:creationId xmlns:a16="http://schemas.microsoft.com/office/drawing/2014/main" id="{DD93C98E-2B10-4B28-948E-36712DC18040}"/>
              </a:ext>
            </a:extLst>
          </p:cNvPr>
          <p:cNvSpPr>
            <a:spLocks xmlns:a="http://schemas.openxmlformats.org/drawingml/2006/main" noGrp="1"/>
          </p:cNvSpPr>
          <p:nvPr/>
        </p:nvSpPr>
        <p:spPr>
          <a:xfrm xmlns:a="http://schemas.openxmlformats.org/drawingml/2006/main">
            <a:off x="9272016" y="3291840"/>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Quarterly</a:t>
            </a:r>
            <a:endParaRPr sz="910"/>
          </a:p>
        </p:txBody>
      </p:sp>
      <p:sp>
        <p:nvSpPr>
          <p:cNvPr id="35" name="Shape 33">
            <a:extLst xmlns:a="http://schemas.openxmlformats.org/drawingml/2006/main">
              <a:ext uri="{FF2B5EF4-FFF2-40B4-BE49-F238E27FC236}">
                <a16:creationId xmlns:a16="http://schemas.microsoft.com/office/drawing/2014/main" id="{0C964824-16A4-4E46-9431-EBB89AFA8C7D}"/>
              </a:ext>
            </a:extLst>
          </p:cNvPr>
          <p:cNvSpPr>
            <a:spLocks xmlns:a="http://schemas.openxmlformats.org/drawingml/2006/main" noGrp="1"/>
          </p:cNvSpPr>
          <p:nvPr/>
        </p:nvSpPr>
        <p:spPr>
          <a:xfrm xmlns:a="http://schemas.openxmlformats.org/drawingml/2006/main">
            <a:off x="566928" y="362102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E894EBD7-3E69-44DF-A25D-5EB1A569E071}"/>
              </a:ext>
            </a:extLst>
          </p:cNvPr>
          <p:cNvSpPr>
            <a:spLocks xmlns:a="http://schemas.openxmlformats.org/drawingml/2006/main" noGrp="1"/>
          </p:cNvSpPr>
          <p:nvPr/>
        </p:nvSpPr>
        <p:spPr>
          <a:xfrm xmlns:a="http://schemas.openxmlformats.org/drawingml/2006/main">
            <a:off x="566928" y="3621024"/>
            <a:ext cx="11057839" cy="384048"/>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62711992-3F66-407A-A2D4-6F9CEC74DE92}"/>
              </a:ext>
            </a:extLst>
          </p:cNvPr>
          <p:cNvSpPr>
            <a:spLocks xmlns:a="http://schemas.openxmlformats.org/drawingml/2006/main" noGrp="1"/>
          </p:cNvSpPr>
          <p:nvPr/>
        </p:nvSpPr>
        <p:spPr>
          <a:xfrm xmlns:a="http://schemas.openxmlformats.org/drawingml/2006/main">
            <a:off x="676656" y="367588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Compliance and risk</a:t>
            </a:r>
            <a:endParaRPr sz="930"/>
          </a:p>
        </p:txBody>
      </p:sp>
      <p:sp>
        <p:nvSpPr>
          <p:cNvPr id="38" name="Text 36">
            <a:extLst xmlns:a="http://schemas.openxmlformats.org/drawingml/2006/main">
              <a:ext uri="{FF2B5EF4-FFF2-40B4-BE49-F238E27FC236}">
                <a16:creationId xmlns:a16="http://schemas.microsoft.com/office/drawing/2014/main" id="{2093AD67-6D64-4DBC-811F-5B3EADD5E862}"/>
              </a:ext>
            </a:extLst>
          </p:cNvPr>
          <p:cNvSpPr>
            <a:spLocks xmlns:a="http://schemas.openxmlformats.org/drawingml/2006/main" noGrp="1"/>
          </p:cNvSpPr>
          <p:nvPr/>
        </p:nvSpPr>
        <p:spPr>
          <a:xfrm xmlns:a="http://schemas.openxmlformats.org/drawingml/2006/main">
            <a:off x="4334256" y="3675888"/>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3</a:t>
            </a:r>
            <a:endParaRPr sz="960"/>
          </a:p>
        </p:txBody>
      </p:sp>
      <p:sp>
        <p:nvSpPr>
          <p:cNvPr id="39" name="Text 37">
            <a:extLst xmlns:a="http://schemas.openxmlformats.org/drawingml/2006/main">
              <a:ext uri="{FF2B5EF4-FFF2-40B4-BE49-F238E27FC236}">
                <a16:creationId xmlns:a16="http://schemas.microsoft.com/office/drawing/2014/main" id="{1D06A37C-4C9B-4D41-94D0-385E6C9FD1D2}"/>
              </a:ext>
            </a:extLst>
          </p:cNvPr>
          <p:cNvSpPr>
            <a:spLocks xmlns:a="http://schemas.openxmlformats.org/drawingml/2006/main" noGrp="1"/>
          </p:cNvSpPr>
          <p:nvPr/>
        </p:nvSpPr>
        <p:spPr>
          <a:xfrm xmlns:a="http://schemas.openxmlformats.org/drawingml/2006/main">
            <a:off x="5614416" y="367588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Consent capture, retention, mandatory evidence</a:t>
            </a:r>
            <a:endParaRPr sz="910"/>
          </a:p>
        </p:txBody>
      </p:sp>
      <p:sp>
        <p:nvSpPr>
          <p:cNvPr id="40" name="Text 38">
            <a:extLst xmlns:a="http://schemas.openxmlformats.org/drawingml/2006/main">
              <a:ext uri="{FF2B5EF4-FFF2-40B4-BE49-F238E27FC236}">
                <a16:creationId xmlns:a16="http://schemas.microsoft.com/office/drawing/2014/main" id="{4518376E-762C-455D-BDA3-B391A111483E}"/>
              </a:ext>
            </a:extLst>
          </p:cNvPr>
          <p:cNvSpPr>
            <a:spLocks xmlns:a="http://schemas.openxmlformats.org/drawingml/2006/main" noGrp="1"/>
          </p:cNvSpPr>
          <p:nvPr/>
        </p:nvSpPr>
        <p:spPr>
          <a:xfrm xmlns:a="http://schemas.openxmlformats.org/drawingml/2006/main">
            <a:off x="9272016" y="3675888"/>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Regulatory</a:t>
            </a:r>
            <a:endParaRPr sz="910"/>
          </a:p>
        </p:txBody>
      </p:sp>
      <p:sp>
        <p:nvSpPr>
          <p:cNvPr id="41" name="Shape 39">
            <a:extLst xmlns:a="http://schemas.openxmlformats.org/drawingml/2006/main">
              <a:ext uri="{FF2B5EF4-FFF2-40B4-BE49-F238E27FC236}">
                <a16:creationId xmlns:a16="http://schemas.microsoft.com/office/drawing/2014/main" id="{D786C3F4-3794-4CAB-976E-474EFEAE6B21}"/>
              </a:ext>
            </a:extLst>
          </p:cNvPr>
          <p:cNvSpPr>
            <a:spLocks xmlns:a="http://schemas.openxmlformats.org/drawingml/2006/main" noGrp="1"/>
          </p:cNvSpPr>
          <p:nvPr/>
        </p:nvSpPr>
        <p:spPr>
          <a:xfrm xmlns:a="http://schemas.openxmlformats.org/drawingml/2006/main">
            <a:off x="566928" y="4005072"/>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E3927224-9712-4D3C-9A93-65384A273419}"/>
              </a:ext>
            </a:extLst>
          </p:cNvPr>
          <p:cNvSpPr>
            <a:spLocks xmlns:a="http://schemas.openxmlformats.org/drawingml/2006/main" noGrp="1"/>
          </p:cNvSpPr>
          <p:nvPr/>
        </p:nvSpPr>
        <p:spPr>
          <a:xfrm xmlns:a="http://schemas.openxmlformats.org/drawingml/2006/main">
            <a:off x="676656" y="405993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Communication and outreach</a:t>
            </a:r>
            <a:endParaRPr sz="930"/>
          </a:p>
        </p:txBody>
      </p:sp>
      <p:sp>
        <p:nvSpPr>
          <p:cNvPr id="43" name="Text 41">
            <a:extLst xmlns:a="http://schemas.openxmlformats.org/drawingml/2006/main">
              <a:ext uri="{FF2B5EF4-FFF2-40B4-BE49-F238E27FC236}">
                <a16:creationId xmlns:a16="http://schemas.microsoft.com/office/drawing/2014/main" id="{B4DAC9B5-AB05-49AA-8F37-E110E1FC9883}"/>
              </a:ext>
            </a:extLst>
          </p:cNvPr>
          <p:cNvSpPr>
            <a:spLocks xmlns:a="http://schemas.openxmlformats.org/drawingml/2006/main" noGrp="1"/>
          </p:cNvSpPr>
          <p:nvPr/>
        </p:nvSpPr>
        <p:spPr>
          <a:xfrm xmlns:a="http://schemas.openxmlformats.org/drawingml/2006/main">
            <a:off x="4334256" y="4059936"/>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3</a:t>
            </a:r>
            <a:endParaRPr sz="960"/>
          </a:p>
        </p:txBody>
      </p:sp>
      <p:sp>
        <p:nvSpPr>
          <p:cNvPr id="44" name="Text 42">
            <a:extLst xmlns:a="http://schemas.openxmlformats.org/drawingml/2006/main">
              <a:ext uri="{FF2B5EF4-FFF2-40B4-BE49-F238E27FC236}">
                <a16:creationId xmlns:a16="http://schemas.microsoft.com/office/drawing/2014/main" id="{AA958F61-BFA0-4486-AFA2-8FEA73438012}"/>
              </a:ext>
            </a:extLst>
          </p:cNvPr>
          <p:cNvSpPr>
            <a:spLocks xmlns:a="http://schemas.openxmlformats.org/drawingml/2006/main" noGrp="1"/>
          </p:cNvSpPr>
          <p:nvPr/>
        </p:nvSpPr>
        <p:spPr>
          <a:xfrm xmlns:a="http://schemas.openxmlformats.org/drawingml/2006/main">
            <a:off x="5614416" y="405993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Templates, channels, throttles, suppression</a:t>
            </a:r>
            <a:endParaRPr sz="910"/>
          </a:p>
        </p:txBody>
      </p:sp>
      <p:sp>
        <p:nvSpPr>
          <p:cNvPr id="45" name="Text 43">
            <a:extLst xmlns:a="http://schemas.openxmlformats.org/drawingml/2006/main">
              <a:ext uri="{FF2B5EF4-FFF2-40B4-BE49-F238E27FC236}">
                <a16:creationId xmlns:a16="http://schemas.microsoft.com/office/drawing/2014/main" id="{F6A42E75-E674-4E42-BE54-2B87E31F67CB}"/>
              </a:ext>
            </a:extLst>
          </p:cNvPr>
          <p:cNvSpPr>
            <a:spLocks xmlns:a="http://schemas.openxmlformats.org/drawingml/2006/main" noGrp="1"/>
          </p:cNvSpPr>
          <p:nvPr/>
        </p:nvSpPr>
        <p:spPr>
          <a:xfrm xmlns:a="http://schemas.openxmlformats.org/drawingml/2006/main">
            <a:off x="9272016" y="4059936"/>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Continuous</a:t>
            </a:r>
            <a:endParaRPr sz="910"/>
          </a:p>
        </p:txBody>
      </p:sp>
      <p:sp>
        <p:nvSpPr>
          <p:cNvPr id="46" name="Shape 44">
            <a:extLst xmlns:a="http://schemas.openxmlformats.org/drawingml/2006/main">
              <a:ext uri="{FF2B5EF4-FFF2-40B4-BE49-F238E27FC236}">
                <a16:creationId xmlns:a16="http://schemas.microsoft.com/office/drawing/2014/main" id="{D5FC55AA-FA99-4025-AA37-2345F939B6D3}"/>
              </a:ext>
            </a:extLst>
          </p:cNvPr>
          <p:cNvSpPr>
            <a:spLocks xmlns:a="http://schemas.openxmlformats.org/drawingml/2006/main" noGrp="1"/>
          </p:cNvSpPr>
          <p:nvPr/>
        </p:nvSpPr>
        <p:spPr>
          <a:xfrm xmlns:a="http://schemas.openxmlformats.org/drawingml/2006/main">
            <a:off x="566928" y="4389120"/>
            <a:ext cx="11057839" cy="7315"/>
          </a:xfrm>
          <a:prstGeom xmlns:a="http://schemas.openxmlformats.org/drawingml/2006/main" prst="rect">
            <a:avLst/>
          </a:prstGeom>
          <a:solidFill xmlns:a="http://schemas.openxmlformats.org/drawingml/2006/main">
            <a:srgbClr val="CBD5E0"/>
          </a:solidFill>
        </p:spPr>
      </p:sp>
      <p:sp>
        <p:nvSpPr>
          <p:cNvPr id="47" name="Shape 45">
            <a:extLst xmlns:a="http://schemas.openxmlformats.org/drawingml/2006/main">
              <a:ext uri="{FF2B5EF4-FFF2-40B4-BE49-F238E27FC236}">
                <a16:creationId xmlns:a16="http://schemas.microsoft.com/office/drawing/2014/main" id="{BB5FDC7F-FA24-47AC-9C41-1D6306C31695}"/>
              </a:ext>
            </a:extLst>
          </p:cNvPr>
          <p:cNvSpPr>
            <a:spLocks xmlns:a="http://schemas.openxmlformats.org/drawingml/2006/main" noGrp="1"/>
          </p:cNvSpPr>
          <p:nvPr/>
        </p:nvSpPr>
        <p:spPr>
          <a:xfrm xmlns:a="http://schemas.openxmlformats.org/drawingml/2006/main">
            <a:off x="566928" y="4389120"/>
            <a:ext cx="11057839" cy="384048"/>
          </a:xfrm>
          <a:prstGeom xmlns:a="http://schemas.openxmlformats.org/drawingml/2006/main" prst="rect">
            <a:avLst/>
          </a:prstGeom>
          <a:solidFill xmlns:a="http://schemas.openxmlformats.org/drawingml/2006/main">
            <a:srgbClr val="F7F9FB"/>
          </a:solidFill>
        </p:spPr>
      </p:sp>
      <p:sp>
        <p:nvSpPr>
          <p:cNvPr id="48" name="Text 46">
            <a:extLst xmlns:a="http://schemas.openxmlformats.org/drawingml/2006/main">
              <a:ext uri="{FF2B5EF4-FFF2-40B4-BE49-F238E27FC236}">
                <a16:creationId xmlns:a16="http://schemas.microsoft.com/office/drawing/2014/main" id="{8E9A336E-752E-4F10-8642-D7D5AFA7B80E}"/>
              </a:ext>
            </a:extLst>
          </p:cNvPr>
          <p:cNvSpPr>
            <a:spLocks xmlns:a="http://schemas.openxmlformats.org/drawingml/2006/main" noGrp="1"/>
          </p:cNvSpPr>
          <p:nvPr/>
        </p:nvSpPr>
        <p:spPr>
          <a:xfrm xmlns:a="http://schemas.openxmlformats.org/drawingml/2006/main">
            <a:off x="676656" y="444398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Notifications and alerts</a:t>
            </a:r>
            <a:endParaRPr sz="930"/>
          </a:p>
        </p:txBody>
      </p:sp>
      <p:sp>
        <p:nvSpPr>
          <p:cNvPr id="49" name="Text 47">
            <a:extLst xmlns:a="http://schemas.openxmlformats.org/drawingml/2006/main">
              <a:ext uri="{FF2B5EF4-FFF2-40B4-BE49-F238E27FC236}">
                <a16:creationId xmlns:a16="http://schemas.microsoft.com/office/drawing/2014/main" id="{6BEE3E3A-C8E6-468C-A991-48D931115C35}"/>
              </a:ext>
            </a:extLst>
          </p:cNvPr>
          <p:cNvSpPr>
            <a:spLocks xmlns:a="http://schemas.openxmlformats.org/drawingml/2006/main" noGrp="1"/>
          </p:cNvSpPr>
          <p:nvPr/>
        </p:nvSpPr>
        <p:spPr>
          <a:xfrm xmlns:a="http://schemas.openxmlformats.org/drawingml/2006/main">
            <a:off x="4334256" y="4443984"/>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2</a:t>
            </a:r>
            <a:endParaRPr sz="960"/>
          </a:p>
        </p:txBody>
      </p:sp>
      <p:sp>
        <p:nvSpPr>
          <p:cNvPr id="50" name="Text 48">
            <a:extLst xmlns:a="http://schemas.openxmlformats.org/drawingml/2006/main">
              <a:ext uri="{FF2B5EF4-FFF2-40B4-BE49-F238E27FC236}">
                <a16:creationId xmlns:a16="http://schemas.microsoft.com/office/drawing/2014/main" id="{698B4221-FEC7-46B7-95CF-ED767E7024A6}"/>
              </a:ext>
            </a:extLst>
          </p:cNvPr>
          <p:cNvSpPr>
            <a:spLocks xmlns:a="http://schemas.openxmlformats.org/drawingml/2006/main" noGrp="1"/>
          </p:cNvSpPr>
          <p:nvPr/>
        </p:nvSpPr>
        <p:spPr>
          <a:xfrm xmlns:a="http://schemas.openxmlformats.org/drawingml/2006/main">
            <a:off x="5614416" y="444398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Triggers, recipients, escalation ladders</a:t>
            </a:r>
            <a:endParaRPr sz="910"/>
          </a:p>
        </p:txBody>
      </p:sp>
      <p:sp>
        <p:nvSpPr>
          <p:cNvPr id="51" name="Text 49">
            <a:extLst xmlns:a="http://schemas.openxmlformats.org/drawingml/2006/main">
              <a:ext uri="{FF2B5EF4-FFF2-40B4-BE49-F238E27FC236}">
                <a16:creationId xmlns:a16="http://schemas.microsoft.com/office/drawing/2014/main" id="{9696AD46-E4BA-4D1D-B12A-32E8A21D4A6D}"/>
              </a:ext>
            </a:extLst>
          </p:cNvPr>
          <p:cNvSpPr>
            <a:spLocks xmlns:a="http://schemas.openxmlformats.org/drawingml/2006/main" noGrp="1"/>
          </p:cNvSpPr>
          <p:nvPr/>
        </p:nvSpPr>
        <p:spPr>
          <a:xfrm xmlns:a="http://schemas.openxmlformats.org/drawingml/2006/main">
            <a:off x="9272016" y="4443984"/>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Monthly</a:t>
            </a:r>
            <a:endParaRPr sz="910"/>
          </a:p>
        </p:txBody>
      </p:sp>
      <p:sp>
        <p:nvSpPr>
          <p:cNvPr id="52" name="Shape 50">
            <a:extLst xmlns:a="http://schemas.openxmlformats.org/drawingml/2006/main">
              <a:ext uri="{FF2B5EF4-FFF2-40B4-BE49-F238E27FC236}">
                <a16:creationId xmlns:a16="http://schemas.microsoft.com/office/drawing/2014/main" id="{557BEEF8-3FA4-4D1A-B318-C43A21EB5171}"/>
              </a:ext>
            </a:extLst>
          </p:cNvPr>
          <p:cNvSpPr>
            <a:spLocks xmlns:a="http://schemas.openxmlformats.org/drawingml/2006/main" noGrp="1"/>
          </p:cNvSpPr>
          <p:nvPr/>
        </p:nvSpPr>
        <p:spPr>
          <a:xfrm xmlns:a="http://schemas.openxmlformats.org/drawingml/2006/main">
            <a:off x="566928" y="4773168"/>
            <a:ext cx="11057839" cy="7315"/>
          </a:xfrm>
          <a:prstGeom xmlns:a="http://schemas.openxmlformats.org/drawingml/2006/main" prst="rect">
            <a:avLst/>
          </a:prstGeom>
          <a:solidFill xmlns:a="http://schemas.openxmlformats.org/drawingml/2006/main">
            <a:srgbClr val="CBD5E0"/>
          </a:solidFill>
        </p:spPr>
      </p:sp>
      <p:sp>
        <p:nvSpPr>
          <p:cNvPr id="53" name="Text 51">
            <a:extLst xmlns:a="http://schemas.openxmlformats.org/drawingml/2006/main">
              <a:ext uri="{FF2B5EF4-FFF2-40B4-BE49-F238E27FC236}">
                <a16:creationId xmlns:a16="http://schemas.microsoft.com/office/drawing/2014/main" id="{732961A8-664B-4B17-BE00-B8FF986A5A34}"/>
              </a:ext>
            </a:extLst>
          </p:cNvPr>
          <p:cNvSpPr>
            <a:spLocks xmlns:a="http://schemas.openxmlformats.org/drawingml/2006/main" noGrp="1"/>
          </p:cNvSpPr>
          <p:nvPr/>
        </p:nvSpPr>
        <p:spPr>
          <a:xfrm xmlns:a="http://schemas.openxmlformats.org/drawingml/2006/main">
            <a:off x="676656" y="482803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Incentives and performance</a:t>
            </a:r>
            <a:endParaRPr sz="930"/>
          </a:p>
        </p:txBody>
      </p:sp>
      <p:sp>
        <p:nvSpPr>
          <p:cNvPr id="54" name="Text 52">
            <a:extLst xmlns:a="http://schemas.openxmlformats.org/drawingml/2006/main">
              <a:ext uri="{FF2B5EF4-FFF2-40B4-BE49-F238E27FC236}">
                <a16:creationId xmlns:a16="http://schemas.microsoft.com/office/drawing/2014/main" id="{BE22F056-D8A2-4410-92C5-6E51E734BE6F}"/>
              </a:ext>
            </a:extLst>
          </p:cNvPr>
          <p:cNvSpPr>
            <a:spLocks xmlns:a="http://schemas.openxmlformats.org/drawingml/2006/main" noGrp="1"/>
          </p:cNvSpPr>
          <p:nvPr/>
        </p:nvSpPr>
        <p:spPr>
          <a:xfrm xmlns:a="http://schemas.openxmlformats.org/drawingml/2006/main">
            <a:off x="4334256" y="4828032"/>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3</a:t>
            </a:r>
            <a:endParaRPr sz="960"/>
          </a:p>
        </p:txBody>
      </p:sp>
      <p:sp>
        <p:nvSpPr>
          <p:cNvPr id="55" name="Text 53">
            <a:extLst xmlns:a="http://schemas.openxmlformats.org/drawingml/2006/main">
              <a:ext uri="{FF2B5EF4-FFF2-40B4-BE49-F238E27FC236}">
                <a16:creationId xmlns:a16="http://schemas.microsoft.com/office/drawing/2014/main" id="{7DAFBE4A-2E4C-4726-BAC6-89477A7B6638}"/>
              </a:ext>
            </a:extLst>
          </p:cNvPr>
          <p:cNvSpPr>
            <a:spLocks xmlns:a="http://schemas.openxmlformats.org/drawingml/2006/main" noGrp="1"/>
          </p:cNvSpPr>
          <p:nvPr/>
        </p:nvSpPr>
        <p:spPr>
          <a:xfrm xmlns:a="http://schemas.openxmlformats.org/drawingml/2006/main">
            <a:off x="5614416" y="482803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Targets, scoring rules, leaderboard definitions</a:t>
            </a:r>
            <a:endParaRPr sz="910"/>
          </a:p>
        </p:txBody>
      </p:sp>
      <p:sp>
        <p:nvSpPr>
          <p:cNvPr id="56" name="Text 54">
            <a:extLst xmlns:a="http://schemas.openxmlformats.org/drawingml/2006/main">
              <a:ext uri="{FF2B5EF4-FFF2-40B4-BE49-F238E27FC236}">
                <a16:creationId xmlns:a16="http://schemas.microsoft.com/office/drawing/2014/main" id="{E84CF233-BCAF-400F-B52A-D7081F450DFE}"/>
              </a:ext>
            </a:extLst>
          </p:cNvPr>
          <p:cNvSpPr>
            <a:spLocks xmlns:a="http://schemas.openxmlformats.org/drawingml/2006/main" noGrp="1"/>
          </p:cNvSpPr>
          <p:nvPr/>
        </p:nvSpPr>
        <p:spPr>
          <a:xfrm xmlns:a="http://schemas.openxmlformats.org/drawingml/2006/main">
            <a:off x="9272016" y="4828032"/>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Quarterly</a:t>
            </a:r>
            <a:endParaRPr sz="910"/>
          </a:p>
        </p:txBody>
      </p:sp>
      <p:sp>
        <p:nvSpPr>
          <p:cNvPr id="57" name="Shape 55">
            <a:extLst xmlns:a="http://schemas.openxmlformats.org/drawingml/2006/main">
              <a:ext uri="{FF2B5EF4-FFF2-40B4-BE49-F238E27FC236}">
                <a16:creationId xmlns:a16="http://schemas.microsoft.com/office/drawing/2014/main" id="{D4197C6B-9CB9-4B37-97A6-B88924397BED}"/>
              </a:ext>
            </a:extLst>
          </p:cNvPr>
          <p:cNvSpPr>
            <a:spLocks xmlns:a="http://schemas.openxmlformats.org/drawingml/2006/main" noGrp="1"/>
          </p:cNvSpPr>
          <p:nvPr/>
        </p:nvSpPr>
        <p:spPr>
          <a:xfrm xmlns:a="http://schemas.openxmlformats.org/drawingml/2006/main">
            <a:off x="566928" y="5157216"/>
            <a:ext cx="11057839" cy="7315"/>
          </a:xfrm>
          <a:prstGeom xmlns:a="http://schemas.openxmlformats.org/drawingml/2006/main" prst="rect">
            <a:avLst/>
          </a:prstGeom>
          <a:solidFill xmlns:a="http://schemas.openxmlformats.org/drawingml/2006/main">
            <a:srgbClr val="CBD5E0"/>
          </a:solidFill>
        </p:spPr>
      </p:sp>
      <p:sp>
        <p:nvSpPr>
          <p:cNvPr id="58" name="Shape 56">
            <a:extLst xmlns:a="http://schemas.openxmlformats.org/drawingml/2006/main">
              <a:ext uri="{FF2B5EF4-FFF2-40B4-BE49-F238E27FC236}">
                <a16:creationId xmlns:a16="http://schemas.microsoft.com/office/drawing/2014/main" id="{AAE9E8E2-2E05-4164-9A9C-ED278B140596}"/>
              </a:ext>
            </a:extLst>
          </p:cNvPr>
          <p:cNvSpPr>
            <a:spLocks xmlns:a="http://schemas.openxmlformats.org/drawingml/2006/main" noGrp="1"/>
          </p:cNvSpPr>
          <p:nvPr/>
        </p:nvSpPr>
        <p:spPr>
          <a:xfrm xmlns:a="http://schemas.openxmlformats.org/drawingml/2006/main">
            <a:off x="566928" y="5157216"/>
            <a:ext cx="11057839" cy="384048"/>
          </a:xfrm>
          <a:prstGeom xmlns:a="http://schemas.openxmlformats.org/drawingml/2006/main" prst="rect">
            <a:avLst/>
          </a:prstGeom>
          <a:solidFill xmlns:a="http://schemas.openxmlformats.org/drawingml/2006/main">
            <a:srgbClr val="F7F9FB"/>
          </a:solidFill>
        </p:spPr>
      </p:sp>
      <p:sp>
        <p:nvSpPr>
          <p:cNvPr id="59" name="Text 57">
            <a:extLst xmlns:a="http://schemas.openxmlformats.org/drawingml/2006/main">
              <a:ext uri="{FF2B5EF4-FFF2-40B4-BE49-F238E27FC236}">
                <a16:creationId xmlns:a16="http://schemas.microsoft.com/office/drawing/2014/main" id="{53BEAB60-4C8B-4F4A-A15F-71A5ED7BC0BD}"/>
              </a:ext>
            </a:extLst>
          </p:cNvPr>
          <p:cNvSpPr>
            <a:spLocks xmlns:a="http://schemas.openxmlformats.org/drawingml/2006/main" noGrp="1"/>
          </p:cNvSpPr>
          <p:nvPr/>
        </p:nvSpPr>
        <p:spPr>
          <a:xfrm xmlns:a="http://schemas.openxmlformats.org/drawingml/2006/main">
            <a:off x="676656" y="521208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Reporting and analytics</a:t>
            </a:r>
            <a:endParaRPr sz="930"/>
          </a:p>
        </p:txBody>
      </p:sp>
      <p:sp>
        <p:nvSpPr>
          <p:cNvPr id="60" name="Text 58">
            <a:extLst xmlns:a="http://schemas.openxmlformats.org/drawingml/2006/main">
              <a:ext uri="{FF2B5EF4-FFF2-40B4-BE49-F238E27FC236}">
                <a16:creationId xmlns:a16="http://schemas.microsoft.com/office/drawing/2014/main" id="{B6E24FCC-50D7-4674-BD4E-759679265C61}"/>
              </a:ext>
            </a:extLst>
          </p:cNvPr>
          <p:cNvSpPr>
            <a:spLocks xmlns:a="http://schemas.openxmlformats.org/drawingml/2006/main" noGrp="1"/>
          </p:cNvSpPr>
          <p:nvPr/>
        </p:nvSpPr>
        <p:spPr>
          <a:xfrm xmlns:a="http://schemas.openxmlformats.org/drawingml/2006/main">
            <a:off x="4334256" y="5212080"/>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2</a:t>
            </a:r>
            <a:endParaRPr sz="960"/>
          </a:p>
        </p:txBody>
      </p:sp>
      <p:sp>
        <p:nvSpPr>
          <p:cNvPr id="61" name="Text 59">
            <a:extLst xmlns:a="http://schemas.openxmlformats.org/drawingml/2006/main">
              <a:ext uri="{FF2B5EF4-FFF2-40B4-BE49-F238E27FC236}">
                <a16:creationId xmlns:a16="http://schemas.microsoft.com/office/drawing/2014/main" id="{4AB9B013-C0C1-4C39-BEE7-1A31EF03A835}"/>
              </a:ext>
            </a:extLst>
          </p:cNvPr>
          <p:cNvSpPr>
            <a:spLocks xmlns:a="http://schemas.openxmlformats.org/drawingml/2006/main" noGrp="1"/>
          </p:cNvSpPr>
          <p:nvPr/>
        </p:nvSpPr>
        <p:spPr>
          <a:xfrm xmlns:a="http://schemas.openxmlformats.org/drawingml/2006/main">
            <a:off x="5614416" y="521208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Report definitions, exports, scheduled feeds</a:t>
            </a:r>
            <a:endParaRPr sz="910"/>
          </a:p>
        </p:txBody>
      </p:sp>
      <p:sp>
        <p:nvSpPr>
          <p:cNvPr id="62" name="Text 60">
            <a:extLst xmlns:a="http://schemas.openxmlformats.org/drawingml/2006/main">
              <a:ext uri="{FF2B5EF4-FFF2-40B4-BE49-F238E27FC236}">
                <a16:creationId xmlns:a16="http://schemas.microsoft.com/office/drawing/2014/main" id="{65C2B8BD-4472-40C5-ADE3-9C21CFC37DBF}"/>
              </a:ext>
            </a:extLst>
          </p:cNvPr>
          <p:cNvSpPr>
            <a:spLocks xmlns:a="http://schemas.openxmlformats.org/drawingml/2006/main" noGrp="1"/>
          </p:cNvSpPr>
          <p:nvPr/>
        </p:nvSpPr>
        <p:spPr>
          <a:xfrm xmlns:a="http://schemas.openxmlformats.org/drawingml/2006/main">
            <a:off x="9272016" y="5212080"/>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Continuous</a:t>
            </a:r>
            <a:endParaRPr sz="910"/>
          </a:p>
        </p:txBody>
      </p:sp>
      <p:sp>
        <p:nvSpPr>
          <p:cNvPr id="63" name="Shape 61">
            <a:extLst xmlns:a="http://schemas.openxmlformats.org/drawingml/2006/main">
              <a:ext uri="{FF2B5EF4-FFF2-40B4-BE49-F238E27FC236}">
                <a16:creationId xmlns:a16="http://schemas.microsoft.com/office/drawing/2014/main" id="{122B03FE-A82F-4039-95CB-E28D2864A819}"/>
              </a:ext>
            </a:extLst>
          </p:cNvPr>
          <p:cNvSpPr>
            <a:spLocks xmlns:a="http://schemas.openxmlformats.org/drawingml/2006/main" noGrp="1"/>
          </p:cNvSpPr>
          <p:nvPr/>
        </p:nvSpPr>
        <p:spPr>
          <a:xfrm xmlns:a="http://schemas.openxmlformats.org/drawingml/2006/main">
            <a:off x="566928" y="5541264"/>
            <a:ext cx="11057839" cy="7315"/>
          </a:xfrm>
          <a:prstGeom xmlns:a="http://schemas.openxmlformats.org/drawingml/2006/main" prst="rect">
            <a:avLst/>
          </a:prstGeom>
          <a:solidFill xmlns:a="http://schemas.openxmlformats.org/drawingml/2006/main">
            <a:srgbClr val="CBD5E0"/>
          </a:solidFill>
        </p:spPr>
      </p:sp>
      <p:sp>
        <p:nvSpPr>
          <p:cNvPr id="64" name="Text 62">
            <a:extLst xmlns:a="http://schemas.openxmlformats.org/drawingml/2006/main">
              <a:ext uri="{FF2B5EF4-FFF2-40B4-BE49-F238E27FC236}">
                <a16:creationId xmlns:a16="http://schemas.microsoft.com/office/drawing/2014/main" id="{514C5A5A-6B6E-4F6E-B182-FD86E93A63A5}"/>
              </a:ext>
            </a:extLst>
          </p:cNvPr>
          <p:cNvSpPr>
            <a:spLocks xmlns:a="http://schemas.openxmlformats.org/drawingml/2006/main" noGrp="1"/>
          </p:cNvSpPr>
          <p:nvPr/>
        </p:nvSpPr>
        <p:spPr>
          <a:xfrm xmlns:a="http://schemas.openxmlformats.org/drawingml/2006/main">
            <a:off x="676656" y="559612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Admin panel and masters</a:t>
            </a:r>
            <a:endParaRPr sz="930"/>
          </a:p>
        </p:txBody>
      </p:sp>
      <p:sp>
        <p:nvSpPr>
          <p:cNvPr id="65" name="Text 63">
            <a:extLst xmlns:a="http://schemas.openxmlformats.org/drawingml/2006/main">
              <a:ext uri="{FF2B5EF4-FFF2-40B4-BE49-F238E27FC236}">
                <a16:creationId xmlns:a16="http://schemas.microsoft.com/office/drawing/2014/main" id="{4B68D490-1B95-4458-A2A0-88E477E63217}"/>
              </a:ext>
            </a:extLst>
          </p:cNvPr>
          <p:cNvSpPr>
            <a:spLocks xmlns:a="http://schemas.openxmlformats.org/drawingml/2006/main" noGrp="1"/>
          </p:cNvSpPr>
          <p:nvPr/>
        </p:nvSpPr>
        <p:spPr>
          <a:xfrm xmlns:a="http://schemas.openxmlformats.org/drawingml/2006/main">
            <a:off x="4334256" y="5596128"/>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1</a:t>
            </a:r>
            <a:endParaRPr sz="960"/>
          </a:p>
        </p:txBody>
      </p:sp>
      <p:sp>
        <p:nvSpPr>
          <p:cNvPr id="66" name="Text 64">
            <a:extLst xmlns:a="http://schemas.openxmlformats.org/drawingml/2006/main">
              <a:ext uri="{FF2B5EF4-FFF2-40B4-BE49-F238E27FC236}">
                <a16:creationId xmlns:a16="http://schemas.microsoft.com/office/drawing/2014/main" id="{7C7EBB73-ED82-4D2C-AD62-317E63CBD6D7}"/>
              </a:ext>
            </a:extLst>
          </p:cNvPr>
          <p:cNvSpPr>
            <a:spLocks xmlns:a="http://schemas.openxmlformats.org/drawingml/2006/main" noGrp="1"/>
          </p:cNvSpPr>
          <p:nvPr/>
        </p:nvSpPr>
        <p:spPr>
          <a:xfrm xmlns:a="http://schemas.openxmlformats.org/drawingml/2006/main">
            <a:off x="5614416" y="559612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Reference data, branches, products, reasons</a:t>
            </a:r>
            <a:endParaRPr sz="910"/>
          </a:p>
        </p:txBody>
      </p:sp>
      <p:sp>
        <p:nvSpPr>
          <p:cNvPr id="67" name="Text 65">
            <a:extLst xmlns:a="http://schemas.openxmlformats.org/drawingml/2006/main">
              <a:ext uri="{FF2B5EF4-FFF2-40B4-BE49-F238E27FC236}">
                <a16:creationId xmlns:a16="http://schemas.microsoft.com/office/drawing/2014/main" id="{B4748F82-A7D5-472E-9332-49A07A5ECDB4}"/>
              </a:ext>
            </a:extLst>
          </p:cNvPr>
          <p:cNvSpPr>
            <a:spLocks xmlns:a="http://schemas.openxmlformats.org/drawingml/2006/main" noGrp="1"/>
          </p:cNvSpPr>
          <p:nvPr/>
        </p:nvSpPr>
        <p:spPr>
          <a:xfrm xmlns:a="http://schemas.openxmlformats.org/drawingml/2006/main">
            <a:off x="9272016" y="5596128"/>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Continuous</a:t>
            </a:r>
            <a:endParaRPr sz="910"/>
          </a:p>
        </p:txBody>
      </p:sp>
      <p:sp>
        <p:nvSpPr>
          <p:cNvPr id="68" name="Shape 66">
            <a:extLst xmlns:a="http://schemas.openxmlformats.org/drawingml/2006/main">
              <a:ext uri="{FF2B5EF4-FFF2-40B4-BE49-F238E27FC236}">
                <a16:creationId xmlns:a16="http://schemas.microsoft.com/office/drawing/2014/main" id="{BE957CD6-EB3E-4512-B52A-5A074B186B61}"/>
              </a:ext>
            </a:extLst>
          </p:cNvPr>
          <p:cNvSpPr>
            <a:spLocks xmlns:a="http://schemas.openxmlformats.org/drawingml/2006/main" noGrp="1"/>
          </p:cNvSpPr>
          <p:nvPr/>
        </p:nvSpPr>
        <p:spPr>
          <a:xfrm xmlns:a="http://schemas.openxmlformats.org/drawingml/2006/main">
            <a:off x="566928" y="5925312"/>
            <a:ext cx="11057839" cy="7315"/>
          </a:xfrm>
          <a:prstGeom xmlns:a="http://schemas.openxmlformats.org/drawingml/2006/main" prst="rect">
            <a:avLst/>
          </a:prstGeom>
          <a:solidFill xmlns:a="http://schemas.openxmlformats.org/drawingml/2006/main">
            <a:srgbClr val="CBD5E0"/>
          </a:solidFill>
        </p:spPr>
      </p:sp>
      <p:sp>
        <p:nvSpPr>
          <p:cNvPr id="69" name="Shape 67">
            <a:extLst xmlns:a="http://schemas.openxmlformats.org/drawingml/2006/main">
              <a:ext uri="{FF2B5EF4-FFF2-40B4-BE49-F238E27FC236}">
                <a16:creationId xmlns:a16="http://schemas.microsoft.com/office/drawing/2014/main" id="{484397C7-8AEA-442A-8EB3-422A00FDC342}"/>
              </a:ext>
            </a:extLst>
          </p:cNvPr>
          <p:cNvSpPr>
            <a:spLocks xmlns:a="http://schemas.openxmlformats.org/drawingml/2006/main" noGrp="1"/>
          </p:cNvSpPr>
          <p:nvPr/>
        </p:nvSpPr>
        <p:spPr>
          <a:xfrm xmlns:a="http://schemas.openxmlformats.org/drawingml/2006/main">
            <a:off x="566928" y="5925312"/>
            <a:ext cx="11057839" cy="384048"/>
          </a:xfrm>
          <a:prstGeom xmlns:a="http://schemas.openxmlformats.org/drawingml/2006/main" prst="rect">
            <a:avLst/>
          </a:prstGeom>
          <a:solidFill xmlns:a="http://schemas.openxmlformats.org/drawingml/2006/main">
            <a:srgbClr val="F7F9FB"/>
          </a:solidFill>
        </p:spPr>
      </p:sp>
      <p:sp>
        <p:nvSpPr>
          <p:cNvPr id="70" name="Text 68">
            <a:extLst xmlns:a="http://schemas.openxmlformats.org/drawingml/2006/main">
              <a:ext uri="{FF2B5EF4-FFF2-40B4-BE49-F238E27FC236}">
                <a16:creationId xmlns:a16="http://schemas.microsoft.com/office/drawing/2014/main" id="{3877DAAE-0A88-40D6-8BE4-C9E3037CE739}"/>
              </a:ext>
            </a:extLst>
          </p:cNvPr>
          <p:cNvSpPr>
            <a:spLocks xmlns:a="http://schemas.openxmlformats.org/drawingml/2006/main" noGrp="1"/>
          </p:cNvSpPr>
          <p:nvPr/>
        </p:nvSpPr>
        <p:spPr>
          <a:xfrm xmlns:a="http://schemas.openxmlformats.org/drawingml/2006/main">
            <a:off x="676656" y="598017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102A43"/>
                </a:solidFill>
                <a:latin typeface="Arial"/>
                <a:ea typeface="Arial"/>
                <a:cs typeface="Arial"/>
              </a:rPr>
              <a:t>System and integration</a:t>
            </a:r>
            <a:endParaRPr sz="930"/>
          </a:p>
        </p:txBody>
      </p:sp>
      <p:sp>
        <p:nvSpPr>
          <p:cNvPr id="71" name="Text 69">
            <a:extLst xmlns:a="http://schemas.openxmlformats.org/drawingml/2006/main">
              <a:ext uri="{FF2B5EF4-FFF2-40B4-BE49-F238E27FC236}">
                <a16:creationId xmlns:a16="http://schemas.microsoft.com/office/drawing/2014/main" id="{B49398F3-C129-4FB5-89FC-85E95537F107}"/>
              </a:ext>
            </a:extLst>
          </p:cNvPr>
          <p:cNvSpPr>
            <a:spLocks xmlns:a="http://schemas.openxmlformats.org/drawingml/2006/main" noGrp="1"/>
          </p:cNvSpPr>
          <p:nvPr/>
        </p:nvSpPr>
        <p:spPr>
          <a:xfrm xmlns:a="http://schemas.openxmlformats.org/drawingml/2006/main">
            <a:off x="4334256" y="5980176"/>
            <a:ext cx="1060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2</a:t>
            </a:r>
            <a:endParaRPr sz="960"/>
          </a:p>
        </p:txBody>
      </p:sp>
      <p:sp>
        <p:nvSpPr>
          <p:cNvPr id="72" name="Text 70">
            <a:extLst xmlns:a="http://schemas.openxmlformats.org/drawingml/2006/main">
              <a:ext uri="{FF2B5EF4-FFF2-40B4-BE49-F238E27FC236}">
                <a16:creationId xmlns:a16="http://schemas.microsoft.com/office/drawing/2014/main" id="{4458FD99-82CA-41C6-BAFF-128D4396CD8F}"/>
              </a:ext>
            </a:extLst>
          </p:cNvPr>
          <p:cNvSpPr>
            <a:spLocks xmlns:a="http://schemas.openxmlformats.org/drawingml/2006/main" noGrp="1"/>
          </p:cNvSpPr>
          <p:nvPr/>
        </p:nvSpPr>
        <p:spPr>
          <a:xfrm xmlns:a="http://schemas.openxmlformats.org/drawingml/2006/main">
            <a:off x="5614416" y="598017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Endpoints, mappings, retries, throttling</a:t>
            </a:r>
            <a:endParaRPr sz="910"/>
          </a:p>
        </p:txBody>
      </p:sp>
      <p:sp>
        <p:nvSpPr>
          <p:cNvPr id="73" name="Text 71">
            <a:extLst xmlns:a="http://schemas.openxmlformats.org/drawingml/2006/main">
              <a:ext uri="{FF2B5EF4-FFF2-40B4-BE49-F238E27FC236}">
                <a16:creationId xmlns:a16="http://schemas.microsoft.com/office/drawing/2014/main" id="{9F713B4C-5B6E-47D1-B4DB-768CF7721D9D}"/>
              </a:ext>
            </a:extLst>
          </p:cNvPr>
          <p:cNvSpPr>
            <a:spLocks xmlns:a="http://schemas.openxmlformats.org/drawingml/2006/main" noGrp="1"/>
          </p:cNvSpPr>
          <p:nvPr/>
        </p:nvSpPr>
        <p:spPr>
          <a:xfrm xmlns:a="http://schemas.openxmlformats.org/drawingml/2006/main">
            <a:off x="9272016" y="5980176"/>
            <a:ext cx="2240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10">
                <a:solidFill>
                  <a:srgbClr val="486581"/>
                </a:solidFill>
                <a:latin typeface="Arial"/>
                <a:ea typeface="Arial"/>
                <a:cs typeface="Arial"/>
              </a:rPr>
              <a:t>Rare</a:t>
            </a:r>
            <a:endParaRPr sz="910"/>
          </a:p>
        </p:txBody>
      </p:sp>
      <p:sp>
        <p:nvSpPr>
          <p:cNvPr id="74" name="Shape 72">
            <a:extLst xmlns:a="http://schemas.openxmlformats.org/drawingml/2006/main">
              <a:ext uri="{FF2B5EF4-FFF2-40B4-BE49-F238E27FC236}">
                <a16:creationId xmlns:a16="http://schemas.microsoft.com/office/drawing/2014/main" id="{EE22C1B8-149F-4613-8967-AC778EAB56E0}"/>
              </a:ext>
            </a:extLst>
          </p:cNvPr>
          <p:cNvSpPr>
            <a:spLocks xmlns:a="http://schemas.openxmlformats.org/drawingml/2006/main" noGrp="1"/>
          </p:cNvSpPr>
          <p:nvPr/>
        </p:nvSpPr>
        <p:spPr>
          <a:xfrm xmlns:a="http://schemas.openxmlformats.org/drawingml/2006/main">
            <a:off x="566928" y="6309360"/>
            <a:ext cx="11057839" cy="7315"/>
          </a:xfrm>
          <a:prstGeom xmlns:a="http://schemas.openxmlformats.org/drawingml/2006/main" prst="rect">
            <a:avLst/>
          </a:prstGeom>
          <a:solidFill xmlns:a="http://schemas.openxmlformats.org/drawingml/2006/main">
            <a:srgbClr val="CBD5E0"/>
          </a:solidFill>
        </p:spPr>
      </p:sp>
      <p:sp>
        <p:nvSpPr>
          <p:cNvPr id="75" name="Shape 73">
            <a:extLst xmlns:a="http://schemas.openxmlformats.org/drawingml/2006/main">
              <a:ext uri="{FF2B5EF4-FFF2-40B4-BE49-F238E27FC236}">
                <a16:creationId xmlns:a16="http://schemas.microsoft.com/office/drawing/2014/main" id="{00FB6531-2A81-47B4-867F-3C32592FAEE7}"/>
              </a:ext>
            </a:extLst>
          </p:cNvPr>
          <p:cNvSpPr>
            <a:spLocks xmlns:a="http://schemas.openxmlformats.org/drawingml/2006/main" noGrp="1"/>
          </p:cNvSpPr>
          <p:nvPr/>
        </p:nvSpPr>
        <p:spPr>
          <a:xfrm xmlns:a="http://schemas.openxmlformats.org/drawingml/2006/main">
            <a:off x="566928" y="6528816"/>
            <a:ext cx="11057839" cy="621792"/>
          </a:xfrm>
          <a:prstGeom xmlns:a="http://schemas.openxmlformats.org/drawingml/2006/main" prst="rect">
            <a:avLst/>
          </a:prstGeom>
          <a:solidFill xmlns:a="http://schemas.openxmlformats.org/drawingml/2006/main">
            <a:srgbClr val="F3E6E0"/>
          </a:solidFill>
        </p:spPr>
      </p:sp>
      <p:sp>
        <p:nvSpPr>
          <p:cNvPr id="76" name="Text 74">
            <a:extLst xmlns:a="http://schemas.openxmlformats.org/drawingml/2006/main">
              <a:ext uri="{FF2B5EF4-FFF2-40B4-BE49-F238E27FC236}">
                <a16:creationId xmlns:a16="http://schemas.microsoft.com/office/drawing/2014/main" id="{F78F90D3-9E1C-4FD7-83A3-F5CA69D550FC}"/>
              </a:ext>
            </a:extLst>
          </p:cNvPr>
          <p:cNvSpPr>
            <a:spLocks xmlns:a="http://schemas.openxmlformats.org/drawingml/2006/main" noGrp="1"/>
          </p:cNvSpPr>
          <p:nvPr/>
        </p:nvSpPr>
        <p:spPr>
          <a:xfrm xmlns:a="http://schemas.openxmlformats.org/drawingml/2006/main">
            <a:off x="804672" y="6711696"/>
            <a:ext cx="10582351"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Four domains need level four and four more need level three — which means eight of twelve require configurability beyond what a form builder provides. That distribution, not the domain count, is the requirement.</a:t>
            </a:r>
            <a:endParaRPr sz="990"/>
          </a:p>
        </p:txBody>
      </p:sp>
      <p:sp>
        <p:nvSpPr>
          <p:cNvPr id="77" name="Shape 75">
            <a:extLst xmlns:a="http://schemas.openxmlformats.org/drawingml/2006/main">
              <a:ext uri="{FF2B5EF4-FFF2-40B4-BE49-F238E27FC236}">
                <a16:creationId xmlns:a16="http://schemas.microsoft.com/office/drawing/2014/main" id="{C4CDC954-F8DC-47B0-9373-AFCD0F12F0C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78" name="Text 76">
            <a:extLst xmlns:a="http://schemas.openxmlformats.org/drawingml/2006/main">
              <a:ext uri="{FF2B5EF4-FFF2-40B4-BE49-F238E27FC236}">
                <a16:creationId xmlns:a16="http://schemas.microsoft.com/office/drawing/2014/main" id="{B3008FEB-D6DD-4994-ACEC-B4AB0A27252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requirements and stated change-velocity targets · author's level assessment</a:t>
            </a:r>
            <a:endParaRPr sz="850"/>
          </a:p>
        </p:txBody>
      </p:sp>
      <p:sp>
        <p:nvSpPr>
          <p:cNvPr id="79" name="Text 77">
            <a:extLst xmlns:a="http://schemas.openxmlformats.org/drawingml/2006/main">
              <a:ext uri="{FF2B5EF4-FFF2-40B4-BE49-F238E27FC236}">
                <a16:creationId xmlns:a16="http://schemas.microsoft.com/office/drawing/2014/main" id="{3F3AC236-A4AB-4D22-BC66-1A2D42FC9F0C}"/>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651265484"/>
      </p:ext>
    </p:extLst>
  </p:cSld>
</p:sld>
</file>

<file path=ppt/slides/slide12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B6118DF-0FB5-4377-9C2C-D3D7539778B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CORE MECHANISM</a:t>
            </a:r>
            <a:endParaRPr sz="950"/>
          </a:p>
        </p:txBody>
      </p:sp>
      <p:sp>
        <p:nvSpPr>
          <p:cNvPr id="3" name="Text 1">
            <a:extLst xmlns:a="http://schemas.openxmlformats.org/drawingml/2006/main">
              <a:ext uri="{FF2B5EF4-FFF2-40B4-BE49-F238E27FC236}">
                <a16:creationId xmlns:a16="http://schemas.microsoft.com/office/drawing/2014/main" id="{9765EEFB-2A6D-460D-AD9E-48340C55231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six-stage lead lifecycle held as a configurable state machine — channel variation</a:t>
            </a:r>
            <a:endParaRPr sz="1900"/>
          </a:p>
          <a:p xmlns:a="http://schemas.openxmlformats.org/drawingml/2006/main">
            <a:pPr marL="0" indent="0">
              <a:lnSpc>
                <a:spcPts val="2400"/>
              </a:lnSpc>
              <a:buNone/>
            </a:pPr>
            <a:r>
              <a:rPr sz="1900" b="1">
                <a:solidFill>
                  <a:srgbClr val="102A43"/>
                </a:solidFill>
                <a:latin typeface="Arial"/>
                <a:ea typeface="Arial"/>
                <a:cs typeface="Arial"/>
              </a:rPr>
              <a:t>becomes data, and adding a channel stops being a project</a:t>
            </a:r>
            <a:endParaRPr sz="1900"/>
          </a:p>
        </p:txBody>
      </p:sp>
      <p:sp>
        <p:nvSpPr>
          <p:cNvPr id="4" name="Shape 2">
            <a:extLst xmlns:a="http://schemas.openxmlformats.org/drawingml/2006/main">
              <a:ext uri="{FF2B5EF4-FFF2-40B4-BE49-F238E27FC236}">
                <a16:creationId xmlns:a16="http://schemas.microsoft.com/office/drawing/2014/main" id="{496E4F80-9F20-4534-B8FB-F46B0D1D1337}"/>
              </a:ext>
            </a:extLst>
          </p:cNvPr>
          <p:cNvSpPr>
            <a:spLocks xmlns:a="http://schemas.openxmlformats.org/drawingml/2006/main" noGrp="1"/>
          </p:cNvSpPr>
          <p:nvPr/>
        </p:nvSpPr>
        <p:spPr>
          <a:xfrm xmlns:a="http://schemas.openxmlformats.org/drawingml/2006/main">
            <a:off x="566928" y="1335024"/>
            <a:ext cx="1751533" cy="192024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F26D92E2-0CCF-4897-8A42-38F96B4F3F3C}"/>
              </a:ext>
            </a:extLst>
          </p:cNvPr>
          <p:cNvSpPr>
            <a:spLocks xmlns:a="http://schemas.openxmlformats.org/drawingml/2006/main" noGrp="1"/>
          </p:cNvSpPr>
          <p:nvPr/>
        </p:nvSpPr>
        <p:spPr>
          <a:xfrm xmlns:a="http://schemas.openxmlformats.org/drawingml/2006/main">
            <a:off x="713232" y="1463040"/>
            <a:ext cx="14589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AA09414E-2CD4-451D-8880-B2A5E545FA97}"/>
              </a:ext>
            </a:extLst>
          </p:cNvPr>
          <p:cNvSpPr>
            <a:spLocks xmlns:a="http://schemas.openxmlformats.org/drawingml/2006/main" noGrp="1"/>
          </p:cNvSpPr>
          <p:nvPr/>
        </p:nvSpPr>
        <p:spPr>
          <a:xfrm xmlns:a="http://schemas.openxmlformats.org/drawingml/2006/main">
            <a:off x="713232" y="1664208"/>
            <a:ext cx="14589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20" b="1">
                <a:solidFill>
                  <a:srgbClr val="102A43"/>
                </a:solidFill>
                <a:latin typeface="Arial"/>
                <a:ea typeface="Arial"/>
                <a:cs typeface="Arial"/>
              </a:rPr>
              <a:t>Capture and sources</a:t>
            </a:r>
            <a:endParaRPr sz="1020"/>
          </a:p>
        </p:txBody>
      </p:sp>
      <p:sp>
        <p:nvSpPr>
          <p:cNvPr id="7" name="Text 5">
            <a:extLst xmlns:a="http://schemas.openxmlformats.org/drawingml/2006/main">
              <a:ext uri="{FF2B5EF4-FFF2-40B4-BE49-F238E27FC236}">
                <a16:creationId xmlns:a16="http://schemas.microsoft.com/office/drawing/2014/main" id="{C7F799F2-5EB4-4815-9E3B-757F067F479C}"/>
              </a:ext>
            </a:extLst>
          </p:cNvPr>
          <p:cNvSpPr>
            <a:spLocks xmlns:a="http://schemas.openxmlformats.org/drawingml/2006/main" noGrp="1"/>
          </p:cNvSpPr>
          <p:nvPr/>
        </p:nvSpPr>
        <p:spPr>
          <a:xfrm xmlns:a="http://schemas.openxmlformats.org/drawingml/2006/main">
            <a:off x="713232" y="2121408"/>
            <a:ext cx="1458925"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Sources enabled or disabled per channel; form and field builder with channel, sub-channel and role visibility</a:t>
            </a:r>
            <a:endParaRPr sz="860"/>
          </a:p>
        </p:txBody>
      </p:sp>
      <p:sp>
        <p:nvSpPr>
          <p:cNvPr id="8" name="Shape 6">
            <a:extLst xmlns:a="http://schemas.openxmlformats.org/drawingml/2006/main">
              <a:ext uri="{FF2B5EF4-FFF2-40B4-BE49-F238E27FC236}">
                <a16:creationId xmlns:a16="http://schemas.microsoft.com/office/drawing/2014/main" id="{5BB43788-4F2E-40B9-81FC-524A1A99A521}"/>
              </a:ext>
            </a:extLst>
          </p:cNvPr>
          <p:cNvSpPr>
            <a:spLocks xmlns:a="http://schemas.openxmlformats.org/drawingml/2006/main" noGrp="1"/>
          </p:cNvSpPr>
          <p:nvPr/>
        </p:nvSpPr>
        <p:spPr>
          <a:xfrm xmlns:a="http://schemas.openxmlformats.org/drawingml/2006/main">
            <a:off x="2428189" y="1335024"/>
            <a:ext cx="1751533" cy="1920240"/>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958012CA-1AEF-41C8-9D1B-C3AE4E6C4198}"/>
              </a:ext>
            </a:extLst>
          </p:cNvPr>
          <p:cNvSpPr>
            <a:spLocks xmlns:a="http://schemas.openxmlformats.org/drawingml/2006/main" noGrp="1"/>
          </p:cNvSpPr>
          <p:nvPr/>
        </p:nvSpPr>
        <p:spPr>
          <a:xfrm xmlns:a="http://schemas.openxmlformats.org/drawingml/2006/main">
            <a:off x="2574493" y="1463040"/>
            <a:ext cx="14589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63745C11-E126-41CC-823A-1F1CB9AB4825}"/>
              </a:ext>
            </a:extLst>
          </p:cNvPr>
          <p:cNvSpPr>
            <a:spLocks xmlns:a="http://schemas.openxmlformats.org/drawingml/2006/main" noGrp="1"/>
          </p:cNvSpPr>
          <p:nvPr/>
        </p:nvSpPr>
        <p:spPr>
          <a:xfrm xmlns:a="http://schemas.openxmlformats.org/drawingml/2006/main">
            <a:off x="2574493" y="1664208"/>
            <a:ext cx="14589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20" b="1">
                <a:solidFill>
                  <a:srgbClr val="102A43"/>
                </a:solidFill>
                <a:latin typeface="Arial"/>
                <a:ea typeface="Arial"/>
                <a:cs typeface="Arial"/>
              </a:rPr>
              <a:t>Deduplicate and validate</a:t>
            </a:r>
            <a:endParaRPr sz="1020"/>
          </a:p>
        </p:txBody>
      </p:sp>
      <p:sp>
        <p:nvSpPr>
          <p:cNvPr id="11" name="Text 9">
            <a:extLst xmlns:a="http://schemas.openxmlformats.org/drawingml/2006/main">
              <a:ext uri="{FF2B5EF4-FFF2-40B4-BE49-F238E27FC236}">
                <a16:creationId xmlns:a16="http://schemas.microsoft.com/office/drawing/2014/main" id="{134C180E-2072-463A-8F43-68F6C8B77ED2}"/>
              </a:ext>
            </a:extLst>
          </p:cNvPr>
          <p:cNvSpPr>
            <a:spLocks xmlns:a="http://schemas.openxmlformats.org/drawingml/2006/main" noGrp="1"/>
          </p:cNvSpPr>
          <p:nvPr/>
        </p:nvSpPr>
        <p:spPr>
          <a:xfrm xmlns:a="http://schemas.openxmlformats.org/drawingml/2006/main">
            <a:off x="2574493" y="2121408"/>
            <a:ext cx="1458925"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Match rules on mobile, email or tax identity, each with hard-block, soft-warn or flag behaviour per source</a:t>
            </a:r>
            <a:endParaRPr sz="860"/>
          </a:p>
        </p:txBody>
      </p:sp>
      <p:sp>
        <p:nvSpPr>
          <p:cNvPr id="12" name="Shape 10">
            <a:extLst xmlns:a="http://schemas.openxmlformats.org/drawingml/2006/main">
              <a:ext uri="{FF2B5EF4-FFF2-40B4-BE49-F238E27FC236}">
                <a16:creationId xmlns:a16="http://schemas.microsoft.com/office/drawing/2014/main" id="{3953E1D9-4968-4BD7-BD53-FEFD2031E64E}"/>
              </a:ext>
            </a:extLst>
          </p:cNvPr>
          <p:cNvSpPr>
            <a:spLocks xmlns:a="http://schemas.openxmlformats.org/drawingml/2006/main" noGrp="1"/>
          </p:cNvSpPr>
          <p:nvPr/>
        </p:nvSpPr>
        <p:spPr>
          <a:xfrm xmlns:a="http://schemas.openxmlformats.org/drawingml/2006/main">
            <a:off x="4289450" y="1335024"/>
            <a:ext cx="1751533" cy="1920240"/>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4D76A792-6E4E-4B00-B71E-5447B1F3A113}"/>
              </a:ext>
            </a:extLst>
          </p:cNvPr>
          <p:cNvSpPr>
            <a:spLocks xmlns:a="http://schemas.openxmlformats.org/drawingml/2006/main" noGrp="1"/>
          </p:cNvSpPr>
          <p:nvPr/>
        </p:nvSpPr>
        <p:spPr>
          <a:xfrm xmlns:a="http://schemas.openxmlformats.org/drawingml/2006/main">
            <a:off x="4435754" y="1463040"/>
            <a:ext cx="14589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517B077C-CE20-4D60-8610-940E00E909BE}"/>
              </a:ext>
            </a:extLst>
          </p:cNvPr>
          <p:cNvSpPr>
            <a:spLocks xmlns:a="http://schemas.openxmlformats.org/drawingml/2006/main" noGrp="1"/>
          </p:cNvSpPr>
          <p:nvPr/>
        </p:nvSpPr>
        <p:spPr>
          <a:xfrm xmlns:a="http://schemas.openxmlformats.org/drawingml/2006/main">
            <a:off x="4435754" y="1664208"/>
            <a:ext cx="14589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20" b="1">
                <a:solidFill>
                  <a:srgbClr val="102A43"/>
                </a:solidFill>
                <a:latin typeface="Arial"/>
                <a:ea typeface="Arial"/>
                <a:cs typeface="Arial"/>
              </a:rPr>
              <a:t>Allocate and own</a:t>
            </a:r>
            <a:endParaRPr sz="1020"/>
          </a:p>
        </p:txBody>
      </p:sp>
      <p:sp>
        <p:nvSpPr>
          <p:cNvPr id="15" name="Text 13">
            <a:extLst xmlns:a="http://schemas.openxmlformats.org/drawingml/2006/main">
              <a:ext uri="{FF2B5EF4-FFF2-40B4-BE49-F238E27FC236}">
                <a16:creationId xmlns:a16="http://schemas.microsoft.com/office/drawing/2014/main" id="{D8445556-EE9D-40C3-B897-F1848E72B055}"/>
              </a:ext>
            </a:extLst>
          </p:cNvPr>
          <p:cNvSpPr>
            <a:spLocks xmlns:a="http://schemas.openxmlformats.org/drawingml/2006/main" noGrp="1"/>
          </p:cNvSpPr>
          <p:nvPr/>
        </p:nvSpPr>
        <p:spPr>
          <a:xfrm xmlns:a="http://schemas.openxmlformats.org/drawingml/2006/main">
            <a:off x="4435754" y="2121408"/>
            <a:ext cx="1458925"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Rule-engine allocation on geography, branch and role — round-robin, capacity or performance-weighted, with audited override</a:t>
            </a:r>
            <a:endParaRPr sz="860"/>
          </a:p>
        </p:txBody>
      </p:sp>
      <p:sp>
        <p:nvSpPr>
          <p:cNvPr id="16" name="Shape 14">
            <a:extLst xmlns:a="http://schemas.openxmlformats.org/drawingml/2006/main">
              <a:ext uri="{FF2B5EF4-FFF2-40B4-BE49-F238E27FC236}">
                <a16:creationId xmlns:a16="http://schemas.microsoft.com/office/drawing/2014/main" id="{CDAB8C70-8CB6-42C9-B5FE-DFDE346CA4F1}"/>
              </a:ext>
            </a:extLst>
          </p:cNvPr>
          <p:cNvSpPr>
            <a:spLocks xmlns:a="http://schemas.openxmlformats.org/drawingml/2006/main" noGrp="1"/>
          </p:cNvSpPr>
          <p:nvPr/>
        </p:nvSpPr>
        <p:spPr>
          <a:xfrm xmlns:a="http://schemas.openxmlformats.org/drawingml/2006/main">
            <a:off x="6150712" y="1335024"/>
            <a:ext cx="1751533" cy="1920240"/>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CB226D87-8167-4C33-B378-07BD91191A03}"/>
              </a:ext>
            </a:extLst>
          </p:cNvPr>
          <p:cNvSpPr>
            <a:spLocks xmlns:a="http://schemas.openxmlformats.org/drawingml/2006/main" noGrp="1"/>
          </p:cNvSpPr>
          <p:nvPr/>
        </p:nvSpPr>
        <p:spPr>
          <a:xfrm xmlns:a="http://schemas.openxmlformats.org/drawingml/2006/main">
            <a:off x="6297016" y="1463040"/>
            <a:ext cx="14589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3DD04FC0-B1BF-4F29-B781-FC581A06AE04}"/>
              </a:ext>
            </a:extLst>
          </p:cNvPr>
          <p:cNvSpPr>
            <a:spLocks xmlns:a="http://schemas.openxmlformats.org/drawingml/2006/main" noGrp="1"/>
          </p:cNvSpPr>
          <p:nvPr/>
        </p:nvSpPr>
        <p:spPr>
          <a:xfrm xmlns:a="http://schemas.openxmlformats.org/drawingml/2006/main">
            <a:off x="6297016" y="1664208"/>
            <a:ext cx="14589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20" b="1">
                <a:solidFill>
                  <a:srgbClr val="102A43"/>
                </a:solidFill>
                <a:latin typeface="Arial"/>
                <a:ea typeface="Arial"/>
                <a:cs typeface="Arial"/>
              </a:rPr>
              <a:t>Journey and disposition</a:t>
            </a:r>
            <a:endParaRPr sz="1020"/>
          </a:p>
        </p:txBody>
      </p:sp>
      <p:sp>
        <p:nvSpPr>
          <p:cNvPr id="19" name="Text 17">
            <a:extLst xmlns:a="http://schemas.openxmlformats.org/drawingml/2006/main">
              <a:ext uri="{FF2B5EF4-FFF2-40B4-BE49-F238E27FC236}">
                <a16:creationId xmlns:a16="http://schemas.microsoft.com/office/drawing/2014/main" id="{8303E7E9-B66E-4181-ACEC-CCFAF83E98A4}"/>
              </a:ext>
            </a:extLst>
          </p:cNvPr>
          <p:cNvSpPr>
            <a:spLocks xmlns:a="http://schemas.openxmlformats.org/drawingml/2006/main" noGrp="1"/>
          </p:cNvSpPr>
          <p:nvPr/>
        </p:nvSpPr>
        <p:spPr>
          <a:xfrm xmlns:a="http://schemas.openxmlformats.org/drawingml/2006/main">
            <a:off x="6297016" y="2121408"/>
            <a:ext cx="1458925"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Per-channel journey variants, disposition masters, ownership locks and anti-cherry-picking controls</a:t>
            </a:r>
            <a:endParaRPr sz="860"/>
          </a:p>
        </p:txBody>
      </p:sp>
      <p:sp>
        <p:nvSpPr>
          <p:cNvPr id="20" name="Shape 18">
            <a:extLst xmlns:a="http://schemas.openxmlformats.org/drawingml/2006/main">
              <a:ext uri="{FF2B5EF4-FFF2-40B4-BE49-F238E27FC236}">
                <a16:creationId xmlns:a16="http://schemas.microsoft.com/office/drawing/2014/main" id="{24D1E50A-6A29-4889-A3D9-CFA10283F098}"/>
              </a:ext>
            </a:extLst>
          </p:cNvPr>
          <p:cNvSpPr>
            <a:spLocks xmlns:a="http://schemas.openxmlformats.org/drawingml/2006/main" noGrp="1"/>
          </p:cNvSpPr>
          <p:nvPr/>
        </p:nvSpPr>
        <p:spPr>
          <a:xfrm xmlns:a="http://schemas.openxmlformats.org/drawingml/2006/main">
            <a:off x="8011973" y="1335024"/>
            <a:ext cx="1751533" cy="1920240"/>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CE49BF90-9C80-4C3F-BF78-2BF38809CDF7}"/>
              </a:ext>
            </a:extLst>
          </p:cNvPr>
          <p:cNvSpPr>
            <a:spLocks xmlns:a="http://schemas.openxmlformats.org/drawingml/2006/main" noGrp="1"/>
          </p:cNvSpPr>
          <p:nvPr/>
        </p:nvSpPr>
        <p:spPr>
          <a:xfrm xmlns:a="http://schemas.openxmlformats.org/drawingml/2006/main">
            <a:off x="8158277" y="1463040"/>
            <a:ext cx="14589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6FA1A3DD-B0C1-49BC-9725-B828E72F2958}"/>
              </a:ext>
            </a:extLst>
          </p:cNvPr>
          <p:cNvSpPr>
            <a:spLocks xmlns:a="http://schemas.openxmlformats.org/drawingml/2006/main" noGrp="1"/>
          </p:cNvSpPr>
          <p:nvPr/>
        </p:nvSpPr>
        <p:spPr>
          <a:xfrm xmlns:a="http://schemas.openxmlformats.org/drawingml/2006/main">
            <a:off x="8158277" y="1664208"/>
            <a:ext cx="14589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20" b="1">
                <a:solidFill>
                  <a:srgbClr val="102A43"/>
                </a:solidFill>
                <a:latin typeface="Arial"/>
                <a:ea typeface="Arial"/>
                <a:cs typeface="Arial"/>
              </a:rPr>
              <a:t>Age and recycle</a:t>
            </a:r>
            <a:endParaRPr sz="1020"/>
          </a:p>
        </p:txBody>
      </p:sp>
      <p:sp>
        <p:nvSpPr>
          <p:cNvPr id="23" name="Text 21">
            <a:extLst xmlns:a="http://schemas.openxmlformats.org/drawingml/2006/main">
              <a:ext uri="{FF2B5EF4-FFF2-40B4-BE49-F238E27FC236}">
                <a16:creationId xmlns:a16="http://schemas.microsoft.com/office/drawing/2014/main" id="{303C8474-FB44-4A01-AEFA-215D5AD4669C}"/>
              </a:ext>
            </a:extLst>
          </p:cNvPr>
          <p:cNvSpPr>
            <a:spLocks xmlns:a="http://schemas.openxmlformats.org/drawingml/2006/main" noGrp="1"/>
          </p:cNvSpPr>
          <p:nvPr/>
        </p:nvSpPr>
        <p:spPr>
          <a:xfrm xmlns:a="http://schemas.openxmlformats.org/drawingml/2006/main">
            <a:off x="8158277" y="2121408"/>
            <a:ext cx="1458925"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SLA timers, auto-recycle thresholds and re-allocation rules defined per lead type</a:t>
            </a:r>
            <a:endParaRPr sz="860"/>
          </a:p>
        </p:txBody>
      </p:sp>
      <p:sp>
        <p:nvSpPr>
          <p:cNvPr id="24" name="Shape 22">
            <a:extLst xmlns:a="http://schemas.openxmlformats.org/drawingml/2006/main">
              <a:ext uri="{FF2B5EF4-FFF2-40B4-BE49-F238E27FC236}">
                <a16:creationId xmlns:a16="http://schemas.microsoft.com/office/drawing/2014/main" id="{A5F31303-B2C4-44B7-BDD8-DE862FF12D03}"/>
              </a:ext>
            </a:extLst>
          </p:cNvPr>
          <p:cNvSpPr>
            <a:spLocks xmlns:a="http://schemas.openxmlformats.org/drawingml/2006/main" noGrp="1"/>
          </p:cNvSpPr>
          <p:nvPr/>
        </p:nvSpPr>
        <p:spPr>
          <a:xfrm xmlns:a="http://schemas.openxmlformats.org/drawingml/2006/main">
            <a:off x="9873234" y="1335024"/>
            <a:ext cx="1751533" cy="1920240"/>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6EBF79F2-B9AB-4775-93B2-2EB03D86C1EB}"/>
              </a:ext>
            </a:extLst>
          </p:cNvPr>
          <p:cNvSpPr>
            <a:spLocks xmlns:a="http://schemas.openxmlformats.org/drawingml/2006/main" noGrp="1"/>
          </p:cNvSpPr>
          <p:nvPr/>
        </p:nvSpPr>
        <p:spPr>
          <a:xfrm xmlns:a="http://schemas.openxmlformats.org/drawingml/2006/main">
            <a:off x="10019538" y="1463040"/>
            <a:ext cx="14589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06</a:t>
            </a:r>
            <a:endParaRPr sz="840"/>
          </a:p>
        </p:txBody>
      </p:sp>
      <p:sp>
        <p:nvSpPr>
          <p:cNvPr id="26" name="Text 24">
            <a:extLst xmlns:a="http://schemas.openxmlformats.org/drawingml/2006/main">
              <a:ext uri="{FF2B5EF4-FFF2-40B4-BE49-F238E27FC236}">
                <a16:creationId xmlns:a16="http://schemas.microsoft.com/office/drawing/2014/main" id="{A731573D-3D8F-4107-B8FB-B5F032492197}"/>
              </a:ext>
            </a:extLst>
          </p:cNvPr>
          <p:cNvSpPr>
            <a:spLocks xmlns:a="http://schemas.openxmlformats.org/drawingml/2006/main" noGrp="1"/>
          </p:cNvSpPr>
          <p:nvPr/>
        </p:nvSpPr>
        <p:spPr>
          <a:xfrm xmlns:a="http://schemas.openxmlformats.org/drawingml/2006/main">
            <a:off x="10019538" y="1664208"/>
            <a:ext cx="14589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20" b="1">
                <a:solidFill>
                  <a:srgbClr val="102A43"/>
                </a:solidFill>
                <a:latin typeface="Arial"/>
                <a:ea typeface="Arial"/>
                <a:cs typeface="Arial"/>
              </a:rPr>
              <a:t>Consent and closure</a:t>
            </a:r>
            <a:endParaRPr sz="1020"/>
          </a:p>
        </p:txBody>
      </p:sp>
      <p:sp>
        <p:nvSpPr>
          <p:cNvPr id="27" name="Text 25">
            <a:extLst xmlns:a="http://schemas.openxmlformats.org/drawingml/2006/main">
              <a:ext uri="{FF2B5EF4-FFF2-40B4-BE49-F238E27FC236}">
                <a16:creationId xmlns:a16="http://schemas.microsoft.com/office/drawing/2014/main" id="{B984A4C4-802D-4FC8-A55B-3F7D79D993D8}"/>
              </a:ext>
            </a:extLst>
          </p:cNvPr>
          <p:cNvSpPr>
            <a:spLocks xmlns:a="http://schemas.openxmlformats.org/drawingml/2006/main" noGrp="1"/>
          </p:cNvSpPr>
          <p:nvPr/>
        </p:nvSpPr>
        <p:spPr>
          <a:xfrm xmlns:a="http://schemas.openxmlformats.org/drawingml/2006/main">
            <a:off x="10019538" y="2121408"/>
            <a:ext cx="1458925"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Closure and drop-reason masters, consent state, suppression and retention rules</a:t>
            </a:r>
            <a:endParaRPr sz="860"/>
          </a:p>
        </p:txBody>
      </p:sp>
      <p:sp>
        <p:nvSpPr>
          <p:cNvPr id="28" name="Text 26">
            <a:extLst xmlns:a="http://schemas.openxmlformats.org/drawingml/2006/main">
              <a:ext uri="{FF2B5EF4-FFF2-40B4-BE49-F238E27FC236}">
                <a16:creationId xmlns:a16="http://schemas.microsoft.com/office/drawing/2014/main" id="{050D0A17-C694-460F-A4CD-F6773699929E}"/>
              </a:ext>
            </a:extLst>
          </p:cNvPr>
          <p:cNvSpPr>
            <a:spLocks xmlns:a="http://schemas.openxmlformats.org/drawingml/2006/main" noGrp="1"/>
          </p:cNvSpPr>
          <p:nvPr/>
        </p:nvSpPr>
        <p:spPr>
          <a:xfrm xmlns:a="http://schemas.openxmlformats.org/drawingml/2006/main">
            <a:off x="566928" y="35295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a state machine, specifically</a:t>
            </a:r>
            <a:endParaRPr sz="1100"/>
          </a:p>
        </p:txBody>
      </p:sp>
      <p:sp>
        <p:nvSpPr>
          <p:cNvPr id="29" name="Shape 27">
            <a:extLst xmlns:a="http://schemas.openxmlformats.org/drawingml/2006/main">
              <a:ext uri="{FF2B5EF4-FFF2-40B4-BE49-F238E27FC236}">
                <a16:creationId xmlns:a16="http://schemas.microsoft.com/office/drawing/2014/main" id="{B4242BDF-EA44-48B1-A522-25D291EE342B}"/>
              </a:ext>
            </a:extLst>
          </p:cNvPr>
          <p:cNvSpPr>
            <a:spLocks xmlns:a="http://schemas.openxmlformats.org/drawingml/2006/main" noGrp="1"/>
          </p:cNvSpPr>
          <p:nvPr/>
        </p:nvSpPr>
        <p:spPr>
          <a:xfrm xmlns:a="http://schemas.openxmlformats.org/drawingml/2006/main">
            <a:off x="566928" y="3785616"/>
            <a:ext cx="3551834" cy="20117"/>
          </a:xfrm>
          <a:prstGeom xmlns:a="http://schemas.openxmlformats.org/drawingml/2006/main" prst="rect">
            <a:avLst/>
          </a:prstGeom>
          <a:solidFill xmlns:a="http://schemas.openxmlformats.org/drawingml/2006/main">
            <a:srgbClr val="B04A25"/>
          </a:solidFill>
        </p:spPr>
      </p:sp>
      <p:sp>
        <p:nvSpPr>
          <p:cNvPr id="30" name="Text 28">
            <a:extLst xmlns:a="http://schemas.openxmlformats.org/drawingml/2006/main">
              <a:ext uri="{FF2B5EF4-FFF2-40B4-BE49-F238E27FC236}">
                <a16:creationId xmlns:a16="http://schemas.microsoft.com/office/drawing/2014/main" id="{DB3A029B-BB16-4AEC-BFAF-528B090384DF}"/>
              </a:ext>
            </a:extLst>
          </p:cNvPr>
          <p:cNvSpPr>
            <a:spLocks xmlns:a="http://schemas.openxmlformats.org/drawingml/2006/main" noGrp="1"/>
          </p:cNvSpPr>
          <p:nvPr/>
        </p:nvSpPr>
        <p:spPr>
          <a:xfrm xmlns:a="http://schemas.openxmlformats.org/drawingml/2006/main">
            <a:off x="566928" y="391363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Ten channels do not need ten journeys. They need one journey whose transitions, rules and vocabularies are parameterised.</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Every difference between channels becomes a row in configuration rather than a branch in code.</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An eleventh channel is then an instance of an existing pattern, which is the definition of level-four configurability.</a:t>
            </a:r>
            <a:endParaRPr sz="960"/>
          </a:p>
        </p:txBody>
      </p:sp>
      <p:sp>
        <p:nvSpPr>
          <p:cNvPr id="31" name="Text 29">
            <a:extLst xmlns:a="http://schemas.openxmlformats.org/drawingml/2006/main">
              <a:ext uri="{FF2B5EF4-FFF2-40B4-BE49-F238E27FC236}">
                <a16:creationId xmlns:a16="http://schemas.microsoft.com/office/drawing/2014/main" id="{84859A68-CA32-4CC7-8A12-50471CBFBB0F}"/>
              </a:ext>
            </a:extLst>
          </p:cNvPr>
          <p:cNvSpPr>
            <a:spLocks xmlns:a="http://schemas.openxmlformats.org/drawingml/2006/main" noGrp="1"/>
          </p:cNvSpPr>
          <p:nvPr/>
        </p:nvSpPr>
        <p:spPr>
          <a:xfrm xmlns:a="http://schemas.openxmlformats.org/drawingml/2006/main">
            <a:off x="4319930" y="35295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has to be true for it to work</a:t>
            </a:r>
            <a:endParaRPr sz="1100"/>
          </a:p>
        </p:txBody>
      </p:sp>
      <p:sp>
        <p:nvSpPr>
          <p:cNvPr id="32" name="Shape 30">
            <a:extLst xmlns:a="http://schemas.openxmlformats.org/drawingml/2006/main">
              <a:ext uri="{FF2B5EF4-FFF2-40B4-BE49-F238E27FC236}">
                <a16:creationId xmlns:a16="http://schemas.microsoft.com/office/drawing/2014/main" id="{CCF4CC32-7072-44DA-A7CD-EFFB766EB0D1}"/>
              </a:ext>
            </a:extLst>
          </p:cNvPr>
          <p:cNvSpPr>
            <a:spLocks xmlns:a="http://schemas.openxmlformats.org/drawingml/2006/main" noGrp="1"/>
          </p:cNvSpPr>
          <p:nvPr/>
        </p:nvSpPr>
        <p:spPr>
          <a:xfrm xmlns:a="http://schemas.openxmlformats.org/drawingml/2006/main">
            <a:off x="4319930" y="3785616"/>
            <a:ext cx="3551834" cy="20117"/>
          </a:xfrm>
          <a:prstGeom xmlns:a="http://schemas.openxmlformats.org/drawingml/2006/main" prst="rect">
            <a:avLst/>
          </a:prstGeom>
          <a:solidFill xmlns:a="http://schemas.openxmlformats.org/drawingml/2006/main">
            <a:srgbClr val="102A43"/>
          </a:solidFill>
        </p:spPr>
      </p:sp>
      <p:sp>
        <p:nvSpPr>
          <p:cNvPr id="33" name="Text 31">
            <a:extLst xmlns:a="http://schemas.openxmlformats.org/drawingml/2006/main">
              <a:ext uri="{FF2B5EF4-FFF2-40B4-BE49-F238E27FC236}">
                <a16:creationId xmlns:a16="http://schemas.microsoft.com/office/drawing/2014/main" id="{4F9121AC-0F67-4BEF-9F61-3B1325FB1784}"/>
              </a:ext>
            </a:extLst>
          </p:cNvPr>
          <p:cNvSpPr>
            <a:spLocks xmlns:a="http://schemas.openxmlformats.org/drawingml/2006/main" noGrp="1"/>
          </p:cNvSpPr>
          <p:nvPr/>
        </p:nvSpPr>
        <p:spPr>
          <a:xfrm xmlns:a="http://schemas.openxmlformats.org/drawingml/2006/main">
            <a:off x="4319930" y="391363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state set must be closed and shared — a channel that needs a private state has broken the model.</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Dispositions must be mastered centrally, or reporting fragments the moment a channel adds its own.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Allocation must be a rule engine, not a set of coded strategies with a dropdown in front of them.</a:t>
            </a:r>
            <a:endParaRPr sz="960"/>
          </a:p>
        </p:txBody>
      </p:sp>
      <p:sp>
        <p:nvSpPr>
          <p:cNvPr id="34" name="Text 32">
            <a:extLst xmlns:a="http://schemas.openxmlformats.org/drawingml/2006/main">
              <a:ext uri="{FF2B5EF4-FFF2-40B4-BE49-F238E27FC236}">
                <a16:creationId xmlns:a16="http://schemas.microsoft.com/office/drawing/2014/main" id="{1DB8C3A9-EAC8-4CD4-9E55-26744C35E58C}"/>
              </a:ext>
            </a:extLst>
          </p:cNvPr>
          <p:cNvSpPr>
            <a:spLocks xmlns:a="http://schemas.openxmlformats.org/drawingml/2006/main" noGrp="1"/>
          </p:cNvSpPr>
          <p:nvPr/>
        </p:nvSpPr>
        <p:spPr>
          <a:xfrm xmlns:a="http://schemas.openxmlformats.org/drawingml/2006/main">
            <a:off x="8072933" y="35295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failure mode to watch</a:t>
            </a:r>
            <a:endParaRPr sz="1100"/>
          </a:p>
        </p:txBody>
      </p:sp>
      <p:sp>
        <p:nvSpPr>
          <p:cNvPr id="35" name="Shape 33">
            <a:extLst xmlns:a="http://schemas.openxmlformats.org/drawingml/2006/main">
              <a:ext uri="{FF2B5EF4-FFF2-40B4-BE49-F238E27FC236}">
                <a16:creationId xmlns:a16="http://schemas.microsoft.com/office/drawing/2014/main" id="{BF7A1EF1-CFE4-450A-8AB8-793CEE77E46D}"/>
              </a:ext>
            </a:extLst>
          </p:cNvPr>
          <p:cNvSpPr>
            <a:spLocks xmlns:a="http://schemas.openxmlformats.org/drawingml/2006/main" noGrp="1"/>
          </p:cNvSpPr>
          <p:nvPr/>
        </p:nvSpPr>
        <p:spPr>
          <a:xfrm xmlns:a="http://schemas.openxmlformats.org/drawingml/2006/main">
            <a:off x="8072933" y="3785616"/>
            <a:ext cx="3551834" cy="20117"/>
          </a:xfrm>
          <a:prstGeom xmlns:a="http://schemas.openxmlformats.org/drawingml/2006/main" prst="rect">
            <a:avLst/>
          </a:prstGeom>
          <a:solidFill xmlns:a="http://schemas.openxmlformats.org/drawingml/2006/main">
            <a:srgbClr val="486581"/>
          </a:solidFill>
        </p:spPr>
      </p:sp>
      <p:sp>
        <p:nvSpPr>
          <p:cNvPr id="36" name="Text 34">
            <a:extLst xmlns:a="http://schemas.openxmlformats.org/drawingml/2006/main">
              <a:ext uri="{FF2B5EF4-FFF2-40B4-BE49-F238E27FC236}">
                <a16:creationId xmlns:a16="http://schemas.microsoft.com/office/drawing/2014/main" id="{77E39F01-49D5-4B16-B27E-3FFF1291056D}"/>
              </a:ext>
            </a:extLst>
          </p:cNvPr>
          <p:cNvSpPr>
            <a:spLocks xmlns:a="http://schemas.openxmlformats.org/drawingml/2006/main" noGrp="1"/>
          </p:cNvSpPr>
          <p:nvPr/>
        </p:nvSpPr>
        <p:spPr>
          <a:xfrm xmlns:a="http://schemas.openxmlformats.org/drawingml/2006/main">
            <a:off x="8072933" y="391363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first genuinely awkward channel requirement arrives under delivery pressure and is met with a code branch.</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That single exception ends the model — every subsequent channel gets its own branch because the precedent exists.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Refusing that first fork is a governance decision, not a technical one, and it usually has to be made at the worst moment.</a:t>
            </a:r>
            <a:endParaRPr sz="960"/>
          </a:p>
        </p:txBody>
      </p:sp>
      <p:sp>
        <p:nvSpPr>
          <p:cNvPr id="37" name="Shape 35">
            <a:extLst xmlns:a="http://schemas.openxmlformats.org/drawingml/2006/main">
              <a:ext uri="{FF2B5EF4-FFF2-40B4-BE49-F238E27FC236}">
                <a16:creationId xmlns:a16="http://schemas.microsoft.com/office/drawing/2014/main" id="{BB1E3E60-9EBF-43C1-943F-783125CAFC8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8" name="Text 36">
            <a:extLst xmlns:a="http://schemas.openxmlformats.org/drawingml/2006/main">
              <a:ext uri="{FF2B5EF4-FFF2-40B4-BE49-F238E27FC236}">
                <a16:creationId xmlns:a16="http://schemas.microsoft.com/office/drawing/2014/main" id="{68DDD865-DA41-43C1-9F20-BDFAAFC87B9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requirements and stated change-velocity targets · author's analysis</a:t>
            </a:r>
            <a:endParaRPr sz="850"/>
          </a:p>
        </p:txBody>
      </p:sp>
      <p:sp>
        <p:nvSpPr>
          <p:cNvPr id="39" name="Text 37">
            <a:extLst xmlns:a="http://schemas.openxmlformats.org/drawingml/2006/main">
              <a:ext uri="{FF2B5EF4-FFF2-40B4-BE49-F238E27FC236}">
                <a16:creationId xmlns:a16="http://schemas.microsoft.com/office/drawing/2014/main" id="{69CD668A-86A3-40D2-A42A-1869EC97FA3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273412561"/>
      </p:ext>
    </p:extLst>
  </p:cSld>
</p:sld>
</file>

<file path=ppt/slides/slide1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08B4A5-E7F3-4D4E-A5D9-93CBF041DA0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FAILURE NOBODY DESIGNS FOR</a:t>
            </a:r>
            <a:endParaRPr sz="950"/>
          </a:p>
        </p:txBody>
      </p:sp>
      <p:sp>
        <p:nvSpPr>
          <p:cNvPr id="3" name="Text 1">
            <a:extLst xmlns:a="http://schemas.openxmlformats.org/drawingml/2006/main">
              <a:ext uri="{FF2B5EF4-FFF2-40B4-BE49-F238E27FC236}">
                <a16:creationId xmlns:a16="http://schemas.microsoft.com/office/drawing/2014/main" id="{6D75FB8C-8607-49EC-B812-4CDB58D3F0A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change configurable in two days and approvable in six weeks took six weeks —</a:t>
            </a:r>
            <a:endParaRPr sz="1900"/>
          </a:p>
          <a:p xmlns:a="http://schemas.openxmlformats.org/drawingml/2006/main">
            <a:pPr marL="0" indent="0">
              <a:lnSpc>
                <a:spcPts val="2400"/>
              </a:lnSpc>
              <a:buNone/>
            </a:pPr>
            <a:r>
              <a:rPr sz="1900" b="1">
                <a:solidFill>
                  <a:srgbClr val="102A43"/>
                </a:solidFill>
                <a:latin typeface="Arial"/>
                <a:ea typeface="Arial"/>
                <a:cs typeface="Arial"/>
              </a:rPr>
              <a:t>the approval path is part of the configurability requirement</a:t>
            </a:r>
            <a:endParaRPr sz="1900"/>
          </a:p>
        </p:txBody>
      </p:sp>
      <p:graphicFrame>
        <p:nvGraphicFramePr>
          <p:cNvPr id="21" name="Chart 0"/>
          <p:cNvGraphicFramePr/>
          <p:nvPr/>
        </p:nvGraphicFramePr>
        <p:xfrm>
          <a:off xmlns:a="http://schemas.openxmlformats.org/drawingml/2006/main" x="566928" y="1426464"/>
          <a:ext xmlns:a="http://schemas.openxmlformats.org/drawingml/2006/main" cx="6126480" cy="2743200"/>
        </p:xfrm>
        <a:graphic xmlns:a="http://schemas.openxmlformats.org/drawingml/2006/main">
          <a:graphicData uri="http://schemas.openxmlformats.org/drawingml/2006/chart">
            <c:chart xmlns:r="http://schemas.openxmlformats.org/officeDocument/2006/relationships" xmlns:c="http://schemas.openxmlformats.org/drawingml/2006/chart" r:id="R29db9e922def4c1c"/>
          </a:graphicData>
        </a:graphic>
      </p:graphicFrame>
      <p:sp>
        <p:nvSpPr>
          <p:cNvPr id="5" name="Text 2">
            <a:extLst xmlns:a="http://schemas.openxmlformats.org/drawingml/2006/main">
              <a:ext uri="{FF2B5EF4-FFF2-40B4-BE49-F238E27FC236}">
                <a16:creationId xmlns:a16="http://schemas.microsoft.com/office/drawing/2014/main" id="{4743B2CD-D429-4C47-843A-D9C73DFC2F08}"/>
              </a:ext>
            </a:extLst>
          </p:cNvPr>
          <p:cNvSpPr>
            <a:spLocks xmlns:a="http://schemas.openxmlformats.org/drawingml/2006/main" noGrp="1"/>
          </p:cNvSpPr>
          <p:nvPr/>
        </p:nvSpPr>
        <p:spPr>
          <a:xfrm xmlns:a="http://schemas.openxmlformats.org/drawingml/2006/main">
            <a:off x="566928" y="4334256"/>
            <a:ext cx="6126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elapsed days by change type — configuration effort against everything that follows it</a:t>
            </a:r>
            <a:endParaRPr sz="880"/>
          </a:p>
        </p:txBody>
      </p:sp>
      <p:sp>
        <p:nvSpPr>
          <p:cNvPr id="6" name="Text 3">
            <a:extLst xmlns:a="http://schemas.openxmlformats.org/drawingml/2006/main">
              <a:ext uri="{FF2B5EF4-FFF2-40B4-BE49-F238E27FC236}">
                <a16:creationId xmlns:a16="http://schemas.microsoft.com/office/drawing/2014/main" id="{73788530-7D56-4A66-8BEB-24291CB77AEB}"/>
              </a:ext>
            </a:extLst>
          </p:cNvPr>
          <p:cNvSpPr>
            <a:spLocks xmlns:a="http://schemas.openxmlformats.org/drawingml/2006/main" noGrp="1"/>
          </p:cNvSpPr>
          <p:nvPr/>
        </p:nvSpPr>
        <p:spPr>
          <a:xfrm xmlns:a="http://schemas.openxmlformats.org/drawingml/2006/main">
            <a:off x="7059168" y="1426464"/>
            <a:ext cx="4562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Where the target is actually lost</a:t>
            </a:r>
            <a:endParaRPr sz="1100"/>
          </a:p>
        </p:txBody>
      </p:sp>
      <p:sp>
        <p:nvSpPr>
          <p:cNvPr id="7" name="Shape 4">
            <a:extLst xmlns:a="http://schemas.openxmlformats.org/drawingml/2006/main">
              <a:ext uri="{FF2B5EF4-FFF2-40B4-BE49-F238E27FC236}">
                <a16:creationId xmlns:a16="http://schemas.microsoft.com/office/drawing/2014/main" id="{3B1261D5-F8CD-4085-8313-20F99D0FC8E9}"/>
              </a:ext>
            </a:extLst>
          </p:cNvPr>
          <p:cNvSpPr>
            <a:spLocks xmlns:a="http://schemas.openxmlformats.org/drawingml/2006/main" noGrp="1"/>
          </p:cNvSpPr>
          <p:nvPr/>
        </p:nvSpPr>
        <p:spPr>
          <a:xfrm xmlns:a="http://schemas.openxmlformats.org/drawingml/2006/main">
            <a:off x="7059168" y="1682496"/>
            <a:ext cx="456285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69B15744-1237-4A69-B613-C542EC726A13}"/>
              </a:ext>
            </a:extLst>
          </p:cNvPr>
          <p:cNvSpPr>
            <a:spLocks xmlns:a="http://schemas.openxmlformats.org/drawingml/2006/main" noGrp="1"/>
          </p:cNvSpPr>
          <p:nvPr/>
        </p:nvSpPr>
        <p:spPr>
          <a:xfrm xmlns:a="http://schemas.openxmlformats.org/drawingml/2006/main">
            <a:off x="7059168" y="1828800"/>
            <a:ext cx="4562856"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Configuration effort is small and roughly linear. Approval and release effort grows with blast radius and dominates everything above a trivial change.</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 stated one-to-two-day target is achievable for the left-hand changes and unreachable for the right-hand ones under any conventional release process.</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 honest answer is not that the platform is slow. It is that the change-approval path was never designed to the same target.</a:t>
            </a:r>
            <a:endParaRPr sz="950"/>
          </a:p>
        </p:txBody>
      </p:sp>
      <p:sp>
        <p:nvSpPr>
          <p:cNvPr id="9" name="Text 6">
            <a:extLst xmlns:a="http://schemas.openxmlformats.org/drawingml/2006/main">
              <a:ext uri="{FF2B5EF4-FFF2-40B4-BE49-F238E27FC236}">
                <a16:creationId xmlns:a16="http://schemas.microsoft.com/office/drawing/2014/main" id="{0D154E8C-0D38-43BB-BC3D-FFB5B3B72C57}"/>
              </a:ext>
            </a:extLst>
          </p:cNvPr>
          <p:cNvSpPr>
            <a:spLocks xmlns:a="http://schemas.openxmlformats.org/drawingml/2006/main" noGrp="1"/>
          </p:cNvSpPr>
          <p:nvPr/>
        </p:nvSpPr>
        <p:spPr>
          <a:xfrm xmlns:a="http://schemas.openxmlformats.org/drawingml/2006/main">
            <a:off x="7059168" y="3621024"/>
            <a:ext cx="456285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the design has to include</a:t>
            </a:r>
            <a:endParaRPr sz="1100"/>
          </a:p>
        </p:txBody>
      </p:sp>
      <p:sp>
        <p:nvSpPr>
          <p:cNvPr id="10" name="Shape 7">
            <a:extLst xmlns:a="http://schemas.openxmlformats.org/drawingml/2006/main">
              <a:ext uri="{FF2B5EF4-FFF2-40B4-BE49-F238E27FC236}">
                <a16:creationId xmlns:a16="http://schemas.microsoft.com/office/drawing/2014/main" id="{D9B59D2E-1BEC-4C4A-B831-F6D5C4974190}"/>
              </a:ext>
            </a:extLst>
          </p:cNvPr>
          <p:cNvSpPr>
            <a:spLocks xmlns:a="http://schemas.openxmlformats.org/drawingml/2006/main" noGrp="1"/>
          </p:cNvSpPr>
          <p:nvPr/>
        </p:nvSpPr>
        <p:spPr>
          <a:xfrm xmlns:a="http://schemas.openxmlformats.org/drawingml/2006/main">
            <a:off x="7059168" y="3877056"/>
            <a:ext cx="4562856" cy="20117"/>
          </a:xfrm>
          <a:prstGeom xmlns:a="http://schemas.openxmlformats.org/drawingml/2006/main" prst="rect">
            <a:avLst/>
          </a:prstGeom>
          <a:solidFill xmlns:a="http://schemas.openxmlformats.org/drawingml/2006/main">
            <a:srgbClr val="B04A25"/>
          </a:solidFill>
        </p:spPr>
      </p:sp>
      <p:sp>
        <p:nvSpPr>
          <p:cNvPr id="11" name="Text 8">
            <a:extLst xmlns:a="http://schemas.openxmlformats.org/drawingml/2006/main">
              <a:ext uri="{FF2B5EF4-FFF2-40B4-BE49-F238E27FC236}">
                <a16:creationId xmlns:a16="http://schemas.microsoft.com/office/drawing/2014/main" id="{AFA799F0-F4F1-41AD-8670-EF311B9AB09D}"/>
              </a:ext>
            </a:extLst>
          </p:cNvPr>
          <p:cNvSpPr>
            <a:spLocks xmlns:a="http://schemas.openxmlformats.org/drawingml/2006/main" noGrp="1"/>
          </p:cNvSpPr>
          <p:nvPr/>
        </p:nvSpPr>
        <p:spPr>
          <a:xfrm xmlns:a="http://schemas.openxmlformats.org/drawingml/2006/main">
            <a:off x="7059168" y="4023360"/>
            <a:ext cx="456285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Change classes with pre-agreed approval paths, so low-risk configuration does not queue behind releases.</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Automated regression scoped to the blast radius of the change, not to the whole platform.</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 standing authority to approve within class, rather than an escalation to a monthly board.</a:t>
            </a:r>
            <a:endParaRPr sz="950"/>
          </a:p>
        </p:txBody>
      </p:sp>
      <p:sp>
        <p:nvSpPr>
          <p:cNvPr id="12" name="Shape 9">
            <a:extLst xmlns:a="http://schemas.openxmlformats.org/drawingml/2006/main">
              <a:ext uri="{FF2B5EF4-FFF2-40B4-BE49-F238E27FC236}">
                <a16:creationId xmlns:a16="http://schemas.microsoft.com/office/drawing/2014/main" id="{6C6B4ADD-E370-4E2D-8D6C-EA82CED04CA3}"/>
              </a:ext>
            </a:extLst>
          </p:cNvPr>
          <p:cNvSpPr>
            <a:spLocks xmlns:a="http://schemas.openxmlformats.org/drawingml/2006/main" noGrp="1"/>
          </p:cNvSpPr>
          <p:nvPr/>
        </p:nvSpPr>
        <p:spPr>
          <a:xfrm xmlns:a="http://schemas.openxmlformats.org/drawingml/2006/main">
            <a:off x="566928" y="4736592"/>
            <a:ext cx="11057839" cy="1335024"/>
          </a:xfrm>
          <a:prstGeom xmlns:a="http://schemas.openxmlformats.org/drawingml/2006/main" prst="rect">
            <a:avLst/>
          </a:prstGeom>
          <a:solidFill xmlns:a="http://schemas.openxmlformats.org/drawingml/2006/main">
            <a:srgbClr val="F3E6E0"/>
          </a:solidFill>
        </p:spPr>
      </p:sp>
      <p:sp>
        <p:nvSpPr>
          <p:cNvPr id="13" name="Text 10">
            <a:extLst xmlns:a="http://schemas.openxmlformats.org/drawingml/2006/main">
              <a:ext uri="{FF2B5EF4-FFF2-40B4-BE49-F238E27FC236}">
                <a16:creationId xmlns:a16="http://schemas.microsoft.com/office/drawing/2014/main" id="{FE61D2FA-5CBD-4A83-8810-2A6748FBD103}"/>
              </a:ext>
            </a:extLst>
          </p:cNvPr>
          <p:cNvSpPr>
            <a:spLocks xmlns:a="http://schemas.openxmlformats.org/drawingml/2006/main" noGrp="1"/>
          </p:cNvSpPr>
          <p:nvPr/>
        </p:nvSpPr>
        <p:spPr>
          <a:xfrm xmlns:a="http://schemas.openxmlformats.org/drawingml/2006/main">
            <a:off x="804672" y="4882896"/>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this belongs in the architecture, not the operating model annexe</a:t>
            </a:r>
            <a:endParaRPr sz="1100"/>
          </a:p>
        </p:txBody>
      </p:sp>
      <p:sp>
        <p:nvSpPr>
          <p:cNvPr id="14" name="Text 11">
            <a:extLst xmlns:a="http://schemas.openxmlformats.org/drawingml/2006/main">
              <a:ext uri="{FF2B5EF4-FFF2-40B4-BE49-F238E27FC236}">
                <a16:creationId xmlns:a16="http://schemas.microsoft.com/office/drawing/2014/main" id="{74772AED-7026-45EF-B2F2-7E8635DD839D}"/>
              </a:ext>
            </a:extLst>
          </p:cNvPr>
          <p:cNvSpPr>
            <a:spLocks xmlns:a="http://schemas.openxmlformats.org/drawingml/2006/main" noGrp="1"/>
          </p:cNvSpPr>
          <p:nvPr/>
        </p:nvSpPr>
        <p:spPr>
          <a:xfrm xmlns:a="http://schemas.openxmlformats.org/drawingml/2006/main">
            <a:off x="804672" y="5138928"/>
            <a:ext cx="1058235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change classes and their blast radii are determined by how the platform is built. If allocation logic and journey variants are genuinely data, their blast radius is small and a fast approval path is defensible to risk and audit. If they are code with a configuration screen in front of them, no governance design can safely approve them quickly.</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is why the approval path cannot be designed after the platform. The architecture decides what is safely approvable, and therefore what velocity is achievable at all.</a:t>
            </a:r>
            <a:endParaRPr sz="990"/>
          </a:p>
        </p:txBody>
      </p:sp>
      <p:sp>
        <p:nvSpPr>
          <p:cNvPr id="15" name="Shape 12">
            <a:extLst xmlns:a="http://schemas.openxmlformats.org/drawingml/2006/main">
              <a:ext uri="{FF2B5EF4-FFF2-40B4-BE49-F238E27FC236}">
                <a16:creationId xmlns:a16="http://schemas.microsoft.com/office/drawing/2014/main" id="{8F86D068-BE2D-4256-9018-1A80DBB3B61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6" name="Text 13">
            <a:extLst xmlns:a="http://schemas.openxmlformats.org/drawingml/2006/main">
              <a:ext uri="{FF2B5EF4-FFF2-40B4-BE49-F238E27FC236}">
                <a16:creationId xmlns:a16="http://schemas.microsoft.com/office/drawing/2014/main" id="{450620A9-6F2B-4C90-9274-8D6E6535F39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 elapsed-day figures are illustrative</a:t>
            </a:r>
            <a:endParaRPr sz="850"/>
          </a:p>
        </p:txBody>
      </p:sp>
      <p:sp>
        <p:nvSpPr>
          <p:cNvPr id="17" name="Text 14">
            <a:extLst xmlns:a="http://schemas.openxmlformats.org/drawingml/2006/main">
              <a:ext uri="{FF2B5EF4-FFF2-40B4-BE49-F238E27FC236}">
                <a16:creationId xmlns:a16="http://schemas.microsoft.com/office/drawing/2014/main" id="{4F2C44F0-F7F3-4E7A-8B49-1990436AFC4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309844990"/>
      </p:ext>
    </p:extLst>
  </p:cSld>
</p:sld>
</file>

<file path=ppt/slides/slide1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74F0B5E-8D18-4379-89CB-29022C2D779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FIT AGAINST THE MODEL</a:t>
            </a:r>
            <a:endParaRPr sz="950"/>
          </a:p>
        </p:txBody>
      </p:sp>
      <p:sp>
        <p:nvSpPr>
          <p:cNvPr id="3" name="Text 1">
            <a:extLst xmlns:a="http://schemas.openxmlformats.org/drawingml/2006/main">
              <a:ext uri="{FF2B5EF4-FFF2-40B4-BE49-F238E27FC236}">
                <a16:creationId xmlns:a16="http://schemas.microsoft.com/office/drawing/2014/main" id="{6DC76DF4-2A76-4986-958C-C7C9D73CB5A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Assessed level by level, the honest position is strong at one to three, real work at</a:t>
            </a:r>
            <a:endParaRPr sz="1900"/>
          </a:p>
          <a:p xmlns:a="http://schemas.openxmlformats.org/drawingml/2006/main">
            <a:pPr marL="0" indent="0">
              <a:lnSpc>
                <a:spcPts val="2400"/>
              </a:lnSpc>
              <a:buNone/>
            </a:pPr>
            <a:r>
              <a:rPr sz="1900" b="1">
                <a:solidFill>
                  <a:srgbClr val="102A43"/>
                </a:solidFill>
                <a:latin typeface="Arial"/>
                <a:ea typeface="Arial"/>
                <a:cs typeface="Arial"/>
              </a:rPr>
              <a:t>four, and an open question on the approval path</a:t>
            </a:r>
            <a:endParaRPr sz="1900"/>
          </a:p>
        </p:txBody>
      </p:sp>
      <p:sp>
        <p:nvSpPr>
          <p:cNvPr id="4" name="Shape 2">
            <a:extLst xmlns:a="http://schemas.openxmlformats.org/drawingml/2006/main">
              <a:ext uri="{FF2B5EF4-FFF2-40B4-BE49-F238E27FC236}">
                <a16:creationId xmlns:a16="http://schemas.microsoft.com/office/drawing/2014/main" id="{6D7C1876-A565-4A57-A325-10ECC8093200}"/>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F4D0321C-716A-48BD-A86C-BDC2A87F0AB5}"/>
              </a:ext>
            </a:extLst>
          </p:cNvPr>
          <p:cNvSpPr>
            <a:spLocks xmlns:a="http://schemas.openxmlformats.org/drawingml/2006/main" noGrp="1"/>
          </p:cNvSpPr>
          <p:nvPr/>
        </p:nvSpPr>
        <p:spPr>
          <a:xfrm xmlns:a="http://schemas.openxmlformats.org/drawingml/2006/main">
            <a:off x="676656" y="1444752"/>
            <a:ext cx="36210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Capability</a:t>
            </a:r>
            <a:endParaRPr sz="920"/>
          </a:p>
        </p:txBody>
      </p:sp>
      <p:sp>
        <p:nvSpPr>
          <p:cNvPr id="6" name="Text 4">
            <a:extLst xmlns:a="http://schemas.openxmlformats.org/drawingml/2006/main">
              <a:ext uri="{FF2B5EF4-FFF2-40B4-BE49-F238E27FC236}">
                <a16:creationId xmlns:a16="http://schemas.microsoft.com/office/drawing/2014/main" id="{E87AF7B8-FCD0-4B1D-8642-6849B12F4D02}"/>
              </a:ext>
            </a:extLst>
          </p:cNvPr>
          <p:cNvSpPr>
            <a:spLocks xmlns:a="http://schemas.openxmlformats.org/drawingml/2006/main" noGrp="1"/>
          </p:cNvSpPr>
          <p:nvPr/>
        </p:nvSpPr>
        <p:spPr>
          <a:xfrm xmlns:a="http://schemas.openxmlformats.org/drawingml/2006/main">
            <a:off x="4608576" y="1444752"/>
            <a:ext cx="38953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means here</a:t>
            </a:r>
            <a:endParaRPr sz="920"/>
          </a:p>
        </p:txBody>
      </p:sp>
      <p:sp>
        <p:nvSpPr>
          <p:cNvPr id="7" name="Text 5">
            <a:extLst xmlns:a="http://schemas.openxmlformats.org/drawingml/2006/main">
              <a:ext uri="{FF2B5EF4-FFF2-40B4-BE49-F238E27FC236}">
                <a16:creationId xmlns:a16="http://schemas.microsoft.com/office/drawing/2014/main" id="{06F4B457-2110-497A-AB9A-9B8308451F6B}"/>
              </a:ext>
            </a:extLst>
          </p:cNvPr>
          <p:cNvSpPr>
            <a:spLocks xmlns:a="http://schemas.openxmlformats.org/drawingml/2006/main" noGrp="1"/>
          </p:cNvSpPr>
          <p:nvPr/>
        </p:nvSpPr>
        <p:spPr>
          <a:xfrm xmlns:a="http://schemas.openxmlformats.org/drawingml/2006/main">
            <a:off x="8814816" y="1444752"/>
            <a:ext cx="15179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Fit</a:t>
            </a:r>
            <a:endParaRPr sz="920"/>
          </a:p>
        </p:txBody>
      </p:sp>
      <p:sp>
        <p:nvSpPr>
          <p:cNvPr id="8" name="Text 6">
            <a:extLst xmlns:a="http://schemas.openxmlformats.org/drawingml/2006/main">
              <a:ext uri="{FF2B5EF4-FFF2-40B4-BE49-F238E27FC236}">
                <a16:creationId xmlns:a16="http://schemas.microsoft.com/office/drawing/2014/main" id="{A1C41F54-07F6-4C21-8FD8-BF32DEEBC033}"/>
              </a:ext>
            </a:extLst>
          </p:cNvPr>
          <p:cNvSpPr>
            <a:spLocks xmlns:a="http://schemas.openxmlformats.org/drawingml/2006/main" noGrp="1"/>
          </p:cNvSpPr>
          <p:nvPr/>
        </p:nvSpPr>
        <p:spPr>
          <a:xfrm xmlns:a="http://schemas.openxmlformats.org/drawingml/2006/main">
            <a:off x="10643616" y="1444752"/>
            <a:ext cx="86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Status</a:t>
            </a:r>
            <a:endParaRPr sz="920"/>
          </a:p>
        </p:txBody>
      </p:sp>
      <p:sp>
        <p:nvSpPr>
          <p:cNvPr id="9" name="Text 7">
            <a:extLst xmlns:a="http://schemas.openxmlformats.org/drawingml/2006/main">
              <a:ext uri="{FF2B5EF4-FFF2-40B4-BE49-F238E27FC236}">
                <a16:creationId xmlns:a16="http://schemas.microsoft.com/office/drawing/2014/main" id="{92513FF5-502A-452B-A285-63B79757F9E9}"/>
              </a:ext>
            </a:extLst>
          </p:cNvPr>
          <p:cNvSpPr>
            <a:spLocks xmlns:a="http://schemas.openxmlformats.org/drawingml/2006/main" noGrp="1"/>
          </p:cNvSpPr>
          <p:nvPr/>
        </p:nvSpPr>
        <p:spPr>
          <a:xfrm xmlns:a="http://schemas.openxmlformats.org/drawingml/2006/main">
            <a:off x="676656" y="1783080"/>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Level 1 — data configuration</a:t>
            </a:r>
            <a:endParaRPr sz="960"/>
          </a:p>
        </p:txBody>
      </p:sp>
      <p:sp>
        <p:nvSpPr>
          <p:cNvPr id="10" name="Text 8">
            <a:extLst xmlns:a="http://schemas.openxmlformats.org/drawingml/2006/main">
              <a:ext uri="{FF2B5EF4-FFF2-40B4-BE49-F238E27FC236}">
                <a16:creationId xmlns:a16="http://schemas.microsoft.com/office/drawing/2014/main" id="{759FDB1A-BD55-4D06-82F1-F6962F4E5A95}"/>
              </a:ext>
            </a:extLst>
          </p:cNvPr>
          <p:cNvSpPr>
            <a:spLocks xmlns:a="http://schemas.openxmlformats.org/drawingml/2006/main" noGrp="1"/>
          </p:cNvSpPr>
          <p:nvPr/>
        </p:nvSpPr>
        <p:spPr>
          <a:xfrm xmlns:a="http://schemas.openxmlformats.org/drawingml/2006/main">
            <a:off x="4608576" y="1783080"/>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Masters, reference data, reasons and thresholds via administration</a:t>
            </a:r>
            <a:endParaRPr sz="920"/>
          </a:p>
        </p:txBody>
      </p:sp>
      <p:sp>
        <p:nvSpPr>
          <p:cNvPr id="11" name="Shape 9">
            <a:extLst xmlns:a="http://schemas.openxmlformats.org/drawingml/2006/main">
              <a:ext uri="{FF2B5EF4-FFF2-40B4-BE49-F238E27FC236}">
                <a16:creationId xmlns:a16="http://schemas.microsoft.com/office/drawing/2014/main" id="{D991F776-BF8C-47B7-BF71-F11EC6714379}"/>
              </a:ext>
            </a:extLst>
          </p:cNvPr>
          <p:cNvSpPr>
            <a:spLocks xmlns:a="http://schemas.openxmlformats.org/drawingml/2006/main" noGrp="1"/>
          </p:cNvSpPr>
          <p:nvPr/>
        </p:nvSpPr>
        <p:spPr>
          <a:xfrm xmlns:a="http://schemas.openxmlformats.org/drawingml/2006/main">
            <a:off x="8705088" y="1801368"/>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12" name="Text 10">
            <a:extLst xmlns:a="http://schemas.openxmlformats.org/drawingml/2006/main">
              <a:ext uri="{FF2B5EF4-FFF2-40B4-BE49-F238E27FC236}">
                <a16:creationId xmlns:a16="http://schemas.microsoft.com/office/drawing/2014/main" id="{EA3DC5BA-858A-4B65-BBF9-2A1DB8786823}"/>
              </a:ext>
            </a:extLst>
          </p:cNvPr>
          <p:cNvSpPr>
            <a:spLocks xmlns:a="http://schemas.openxmlformats.org/drawingml/2006/main" noGrp="1"/>
          </p:cNvSpPr>
          <p:nvPr/>
        </p:nvSpPr>
        <p:spPr>
          <a:xfrm xmlns:a="http://schemas.openxmlformats.org/drawingml/2006/main">
            <a:off x="8705088" y="1833372"/>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NATIVE</a:t>
            </a:r>
            <a:endParaRPr sz="820"/>
          </a:p>
        </p:txBody>
      </p:sp>
      <p:sp>
        <p:nvSpPr>
          <p:cNvPr id="13" name="Text 11">
            <a:extLst xmlns:a="http://schemas.openxmlformats.org/drawingml/2006/main">
              <a:ext uri="{FF2B5EF4-FFF2-40B4-BE49-F238E27FC236}">
                <a16:creationId xmlns:a16="http://schemas.microsoft.com/office/drawing/2014/main" id="{0974C0EF-2CA8-43B4-A3DB-3419721593EB}"/>
              </a:ext>
            </a:extLst>
          </p:cNvPr>
          <p:cNvSpPr>
            <a:spLocks xmlns:a="http://schemas.openxmlformats.org/drawingml/2006/main" noGrp="1"/>
          </p:cNvSpPr>
          <p:nvPr/>
        </p:nvSpPr>
        <p:spPr>
          <a:xfrm xmlns:a="http://schemas.openxmlformats.org/drawingml/2006/main">
            <a:off x="10643616" y="1783080"/>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Met</a:t>
            </a:r>
            <a:endParaRPr sz="940"/>
          </a:p>
        </p:txBody>
      </p:sp>
      <p:sp>
        <p:nvSpPr>
          <p:cNvPr id="14" name="Shape 12">
            <a:extLst xmlns:a="http://schemas.openxmlformats.org/drawingml/2006/main">
              <a:ext uri="{FF2B5EF4-FFF2-40B4-BE49-F238E27FC236}">
                <a16:creationId xmlns:a16="http://schemas.microsoft.com/office/drawing/2014/main" id="{025B49BA-650A-47D8-8243-DDDEC35009C3}"/>
              </a:ext>
            </a:extLst>
          </p:cNvPr>
          <p:cNvSpPr>
            <a:spLocks xmlns:a="http://schemas.openxmlformats.org/drawingml/2006/main" noGrp="1"/>
          </p:cNvSpPr>
          <p:nvPr/>
        </p:nvSpPr>
        <p:spPr>
          <a:xfrm xmlns:a="http://schemas.openxmlformats.org/drawingml/2006/main">
            <a:off x="566928" y="2139696"/>
            <a:ext cx="11057839" cy="7315"/>
          </a:xfrm>
          <a:prstGeom xmlns:a="http://schemas.openxmlformats.org/drawingml/2006/main" prst="rect">
            <a:avLst/>
          </a:prstGeom>
          <a:solidFill xmlns:a="http://schemas.openxmlformats.org/drawingml/2006/main">
            <a:srgbClr val="CBD5E0"/>
          </a:solidFill>
        </p:spPr>
      </p:sp>
      <p:sp>
        <p:nvSpPr>
          <p:cNvPr id="15" name="Shape 13">
            <a:extLst xmlns:a="http://schemas.openxmlformats.org/drawingml/2006/main">
              <a:ext uri="{FF2B5EF4-FFF2-40B4-BE49-F238E27FC236}">
                <a16:creationId xmlns:a16="http://schemas.microsoft.com/office/drawing/2014/main" id="{1CCAC90D-0049-4EFA-B00F-D42C096B14C7}"/>
              </a:ext>
            </a:extLst>
          </p:cNvPr>
          <p:cNvSpPr>
            <a:spLocks xmlns:a="http://schemas.openxmlformats.org/drawingml/2006/main" noGrp="1"/>
          </p:cNvSpPr>
          <p:nvPr/>
        </p:nvSpPr>
        <p:spPr>
          <a:xfrm xmlns:a="http://schemas.openxmlformats.org/drawingml/2006/main">
            <a:off x="566928" y="2139696"/>
            <a:ext cx="11057839" cy="438912"/>
          </a:xfrm>
          <a:prstGeom xmlns:a="http://schemas.openxmlformats.org/drawingml/2006/main" prst="rect">
            <a:avLst/>
          </a:prstGeom>
          <a:solidFill xmlns:a="http://schemas.openxmlformats.org/drawingml/2006/main">
            <a:srgbClr val="F7F9FB"/>
          </a:solidFill>
        </p:spPr>
      </p:sp>
      <p:sp>
        <p:nvSpPr>
          <p:cNvPr id="16" name="Text 14">
            <a:extLst xmlns:a="http://schemas.openxmlformats.org/drawingml/2006/main">
              <a:ext uri="{FF2B5EF4-FFF2-40B4-BE49-F238E27FC236}">
                <a16:creationId xmlns:a16="http://schemas.microsoft.com/office/drawing/2014/main" id="{9EC3C386-970F-47F4-A7E7-F05E49E54CFE}"/>
              </a:ext>
            </a:extLst>
          </p:cNvPr>
          <p:cNvSpPr>
            <a:spLocks xmlns:a="http://schemas.openxmlformats.org/drawingml/2006/main" noGrp="1"/>
          </p:cNvSpPr>
          <p:nvPr/>
        </p:nvSpPr>
        <p:spPr>
          <a:xfrm xmlns:a="http://schemas.openxmlformats.org/drawingml/2006/main">
            <a:off x="676656" y="2221992"/>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Level 2 — structure configuration</a:t>
            </a:r>
            <a:endParaRPr sz="960"/>
          </a:p>
        </p:txBody>
      </p:sp>
      <p:sp>
        <p:nvSpPr>
          <p:cNvPr id="17" name="Text 15">
            <a:extLst xmlns:a="http://schemas.openxmlformats.org/drawingml/2006/main">
              <a:ext uri="{FF2B5EF4-FFF2-40B4-BE49-F238E27FC236}">
                <a16:creationId xmlns:a16="http://schemas.microsoft.com/office/drawing/2014/main" id="{5A048E17-A695-4BA3-AB16-AB997C09B344}"/>
              </a:ext>
            </a:extLst>
          </p:cNvPr>
          <p:cNvSpPr>
            <a:spLocks xmlns:a="http://schemas.openxmlformats.org/drawingml/2006/main" noGrp="1"/>
          </p:cNvSpPr>
          <p:nvPr/>
        </p:nvSpPr>
        <p:spPr>
          <a:xfrm xmlns:a="http://schemas.openxmlformats.org/drawingml/2006/main">
            <a:off x="4608576" y="2221992"/>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Field, form and layout designers with role and channel visibility</a:t>
            </a:r>
            <a:endParaRPr sz="920"/>
          </a:p>
        </p:txBody>
      </p:sp>
      <p:sp>
        <p:nvSpPr>
          <p:cNvPr id="18" name="Shape 16">
            <a:extLst xmlns:a="http://schemas.openxmlformats.org/drawingml/2006/main">
              <a:ext uri="{FF2B5EF4-FFF2-40B4-BE49-F238E27FC236}">
                <a16:creationId xmlns:a16="http://schemas.microsoft.com/office/drawing/2014/main" id="{A7C9C591-103F-48EF-86D4-6BF7CAD94E4F}"/>
              </a:ext>
            </a:extLst>
          </p:cNvPr>
          <p:cNvSpPr>
            <a:spLocks xmlns:a="http://schemas.openxmlformats.org/drawingml/2006/main" noGrp="1"/>
          </p:cNvSpPr>
          <p:nvPr/>
        </p:nvSpPr>
        <p:spPr>
          <a:xfrm xmlns:a="http://schemas.openxmlformats.org/drawingml/2006/main">
            <a:off x="8705088" y="2240280"/>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19" name="Text 17">
            <a:extLst xmlns:a="http://schemas.openxmlformats.org/drawingml/2006/main">
              <a:ext uri="{FF2B5EF4-FFF2-40B4-BE49-F238E27FC236}">
                <a16:creationId xmlns:a16="http://schemas.microsoft.com/office/drawing/2014/main" id="{ECA68352-9C30-4CEA-ADC3-5CAB325019AC}"/>
              </a:ext>
            </a:extLst>
          </p:cNvPr>
          <p:cNvSpPr>
            <a:spLocks xmlns:a="http://schemas.openxmlformats.org/drawingml/2006/main" noGrp="1"/>
          </p:cNvSpPr>
          <p:nvPr/>
        </p:nvSpPr>
        <p:spPr>
          <a:xfrm xmlns:a="http://schemas.openxmlformats.org/drawingml/2006/main">
            <a:off x="8705088" y="2272284"/>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NATIVE</a:t>
            </a:r>
            <a:endParaRPr sz="820"/>
          </a:p>
        </p:txBody>
      </p:sp>
      <p:sp>
        <p:nvSpPr>
          <p:cNvPr id="20" name="Text 18">
            <a:extLst xmlns:a="http://schemas.openxmlformats.org/drawingml/2006/main">
              <a:ext uri="{FF2B5EF4-FFF2-40B4-BE49-F238E27FC236}">
                <a16:creationId xmlns:a16="http://schemas.microsoft.com/office/drawing/2014/main" id="{83B8936E-7143-4037-9DA6-81CADAF271C2}"/>
              </a:ext>
            </a:extLst>
          </p:cNvPr>
          <p:cNvSpPr>
            <a:spLocks xmlns:a="http://schemas.openxmlformats.org/drawingml/2006/main" noGrp="1"/>
          </p:cNvSpPr>
          <p:nvPr/>
        </p:nvSpPr>
        <p:spPr>
          <a:xfrm xmlns:a="http://schemas.openxmlformats.org/drawingml/2006/main">
            <a:off x="10643616" y="2221992"/>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Met</a:t>
            </a:r>
            <a:endParaRPr sz="940"/>
          </a:p>
        </p:txBody>
      </p:sp>
      <p:sp>
        <p:nvSpPr>
          <p:cNvPr id="21" name="Shape 19">
            <a:extLst xmlns:a="http://schemas.openxmlformats.org/drawingml/2006/main">
              <a:ext uri="{FF2B5EF4-FFF2-40B4-BE49-F238E27FC236}">
                <a16:creationId xmlns:a16="http://schemas.microsoft.com/office/drawing/2014/main" id="{83620929-503E-43A5-9C85-E3243189CD85}"/>
              </a:ext>
            </a:extLst>
          </p:cNvPr>
          <p:cNvSpPr>
            <a:spLocks xmlns:a="http://schemas.openxmlformats.org/drawingml/2006/main" noGrp="1"/>
          </p:cNvSpPr>
          <p:nvPr/>
        </p:nvSpPr>
        <p:spPr>
          <a:xfrm xmlns:a="http://schemas.openxmlformats.org/drawingml/2006/main">
            <a:off x="566928" y="2578608"/>
            <a:ext cx="11057839" cy="7315"/>
          </a:xfrm>
          <a:prstGeom xmlns:a="http://schemas.openxmlformats.org/drawingml/2006/main" prst="rect">
            <a:avLst/>
          </a:prstGeom>
          <a:solidFill xmlns:a="http://schemas.openxmlformats.org/drawingml/2006/main">
            <a:srgbClr val="CBD5E0"/>
          </a:solidFill>
        </p:spPr>
      </p:sp>
      <p:sp>
        <p:nvSpPr>
          <p:cNvPr id="22" name="Text 20">
            <a:extLst xmlns:a="http://schemas.openxmlformats.org/drawingml/2006/main">
              <a:ext uri="{FF2B5EF4-FFF2-40B4-BE49-F238E27FC236}">
                <a16:creationId xmlns:a16="http://schemas.microsoft.com/office/drawing/2014/main" id="{5C1B2834-E2DF-4869-AF21-52381E1A51ED}"/>
              </a:ext>
            </a:extLst>
          </p:cNvPr>
          <p:cNvSpPr>
            <a:spLocks xmlns:a="http://schemas.openxmlformats.org/drawingml/2006/main" noGrp="1"/>
          </p:cNvSpPr>
          <p:nvPr/>
        </p:nvSpPr>
        <p:spPr>
          <a:xfrm xmlns:a="http://schemas.openxmlformats.org/drawingml/2006/main">
            <a:off x="676656" y="266090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Level 3 — behaviour configuration</a:t>
            </a:r>
            <a:endParaRPr sz="960"/>
          </a:p>
        </p:txBody>
      </p:sp>
      <p:sp>
        <p:nvSpPr>
          <p:cNvPr id="23" name="Text 21">
            <a:extLst xmlns:a="http://schemas.openxmlformats.org/drawingml/2006/main">
              <a:ext uri="{FF2B5EF4-FFF2-40B4-BE49-F238E27FC236}">
                <a16:creationId xmlns:a16="http://schemas.microsoft.com/office/drawing/2014/main" id="{FCDBC67C-062E-4105-B852-535A5F14EC34}"/>
              </a:ext>
            </a:extLst>
          </p:cNvPr>
          <p:cNvSpPr>
            <a:spLocks xmlns:a="http://schemas.openxmlformats.org/drawingml/2006/main" noGrp="1"/>
          </p:cNvSpPr>
          <p:nvPr/>
        </p:nvSpPr>
        <p:spPr>
          <a:xfrm xmlns:a="http://schemas.openxmlformats.org/drawingml/2006/main">
            <a:off x="4608576" y="2660904"/>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Workflow, transitions, allocation and eligibility as rule configuration</a:t>
            </a:r>
            <a:endParaRPr sz="920"/>
          </a:p>
        </p:txBody>
      </p:sp>
      <p:sp>
        <p:nvSpPr>
          <p:cNvPr id="24" name="Shape 22">
            <a:extLst xmlns:a="http://schemas.openxmlformats.org/drawingml/2006/main">
              <a:ext uri="{FF2B5EF4-FFF2-40B4-BE49-F238E27FC236}">
                <a16:creationId xmlns:a16="http://schemas.microsoft.com/office/drawing/2014/main" id="{B41204C3-616F-427B-82CD-9CBF6BD283D6}"/>
              </a:ext>
            </a:extLst>
          </p:cNvPr>
          <p:cNvSpPr>
            <a:spLocks xmlns:a="http://schemas.openxmlformats.org/drawingml/2006/main" noGrp="1"/>
          </p:cNvSpPr>
          <p:nvPr/>
        </p:nvSpPr>
        <p:spPr>
          <a:xfrm xmlns:a="http://schemas.openxmlformats.org/drawingml/2006/main">
            <a:off x="8705088" y="2679192"/>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25" name="Text 23">
            <a:extLst xmlns:a="http://schemas.openxmlformats.org/drawingml/2006/main">
              <a:ext uri="{FF2B5EF4-FFF2-40B4-BE49-F238E27FC236}">
                <a16:creationId xmlns:a16="http://schemas.microsoft.com/office/drawing/2014/main" id="{76A51392-E1F3-4FAA-86AC-BA59BE157663}"/>
              </a:ext>
            </a:extLst>
          </p:cNvPr>
          <p:cNvSpPr>
            <a:spLocks xmlns:a="http://schemas.openxmlformats.org/drawingml/2006/main" noGrp="1"/>
          </p:cNvSpPr>
          <p:nvPr/>
        </p:nvSpPr>
        <p:spPr>
          <a:xfrm xmlns:a="http://schemas.openxmlformats.org/drawingml/2006/main">
            <a:off x="8705088" y="2711196"/>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NATIVE</a:t>
            </a:r>
            <a:endParaRPr sz="820"/>
          </a:p>
        </p:txBody>
      </p:sp>
      <p:sp>
        <p:nvSpPr>
          <p:cNvPr id="26" name="Text 24">
            <a:extLst xmlns:a="http://schemas.openxmlformats.org/drawingml/2006/main">
              <a:ext uri="{FF2B5EF4-FFF2-40B4-BE49-F238E27FC236}">
                <a16:creationId xmlns:a16="http://schemas.microsoft.com/office/drawing/2014/main" id="{EA74609B-E16E-43DB-AF5A-7494190329A9}"/>
              </a:ext>
            </a:extLst>
          </p:cNvPr>
          <p:cNvSpPr>
            <a:spLocks xmlns:a="http://schemas.openxmlformats.org/drawingml/2006/main" noGrp="1"/>
          </p:cNvSpPr>
          <p:nvPr/>
        </p:nvSpPr>
        <p:spPr>
          <a:xfrm xmlns:a="http://schemas.openxmlformats.org/drawingml/2006/main">
            <a:off x="10643616" y="2660904"/>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Met</a:t>
            </a:r>
            <a:endParaRPr sz="940"/>
          </a:p>
        </p:txBody>
      </p:sp>
      <p:sp>
        <p:nvSpPr>
          <p:cNvPr id="27" name="Shape 25">
            <a:extLst xmlns:a="http://schemas.openxmlformats.org/drawingml/2006/main">
              <a:ext uri="{FF2B5EF4-FFF2-40B4-BE49-F238E27FC236}">
                <a16:creationId xmlns:a16="http://schemas.microsoft.com/office/drawing/2014/main" id="{F2DBC7D6-AD81-4AD4-9AE8-9ACE123D50A9}"/>
              </a:ext>
            </a:extLst>
          </p:cNvPr>
          <p:cNvSpPr>
            <a:spLocks xmlns:a="http://schemas.openxmlformats.org/drawingml/2006/main" noGrp="1"/>
          </p:cNvSpPr>
          <p:nvPr/>
        </p:nvSpPr>
        <p:spPr>
          <a:xfrm xmlns:a="http://schemas.openxmlformats.org/drawingml/2006/main">
            <a:off x="566928" y="3017520"/>
            <a:ext cx="11057839" cy="7315"/>
          </a:xfrm>
          <a:prstGeom xmlns:a="http://schemas.openxmlformats.org/drawingml/2006/main" prst="rect">
            <a:avLst/>
          </a:prstGeom>
          <a:solidFill xmlns:a="http://schemas.openxmlformats.org/drawingml/2006/main">
            <a:srgbClr val="CBD5E0"/>
          </a:solidFill>
        </p:spPr>
      </p:sp>
      <p:sp>
        <p:nvSpPr>
          <p:cNvPr id="28" name="Shape 26">
            <a:extLst xmlns:a="http://schemas.openxmlformats.org/drawingml/2006/main">
              <a:ext uri="{FF2B5EF4-FFF2-40B4-BE49-F238E27FC236}">
                <a16:creationId xmlns:a16="http://schemas.microsoft.com/office/drawing/2014/main" id="{F5BB4135-6A55-4EFD-B8E0-7D6283644EE7}"/>
              </a:ext>
            </a:extLst>
          </p:cNvPr>
          <p:cNvSpPr>
            <a:spLocks xmlns:a="http://schemas.openxmlformats.org/drawingml/2006/main" noGrp="1"/>
          </p:cNvSpPr>
          <p:nvPr/>
        </p:nvSpPr>
        <p:spPr>
          <a:xfrm xmlns:a="http://schemas.openxmlformats.org/drawingml/2006/main">
            <a:off x="566928" y="3017520"/>
            <a:ext cx="11057839" cy="438912"/>
          </a:xfrm>
          <a:prstGeom xmlns:a="http://schemas.openxmlformats.org/drawingml/2006/main" prst="rect">
            <a:avLst/>
          </a:prstGeom>
          <a:solidFill xmlns:a="http://schemas.openxmlformats.org/drawingml/2006/main">
            <a:srgbClr val="F7F9FB"/>
          </a:solidFill>
        </p:spPr>
      </p:sp>
      <p:sp>
        <p:nvSpPr>
          <p:cNvPr id="29" name="Text 27">
            <a:extLst xmlns:a="http://schemas.openxmlformats.org/drawingml/2006/main">
              <a:ext uri="{FF2B5EF4-FFF2-40B4-BE49-F238E27FC236}">
                <a16:creationId xmlns:a16="http://schemas.microsoft.com/office/drawing/2014/main" id="{6C1800C4-BAA3-464F-B783-95D9BC6D1408}"/>
              </a:ext>
            </a:extLst>
          </p:cNvPr>
          <p:cNvSpPr>
            <a:spLocks xmlns:a="http://schemas.openxmlformats.org/drawingml/2006/main" noGrp="1"/>
          </p:cNvSpPr>
          <p:nvPr/>
        </p:nvSpPr>
        <p:spPr>
          <a:xfrm xmlns:a="http://schemas.openxmlformats.org/drawingml/2006/main">
            <a:off x="676656" y="3099816"/>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Level 4 — composition</a:t>
            </a:r>
            <a:endParaRPr sz="960"/>
          </a:p>
        </p:txBody>
      </p:sp>
      <p:sp>
        <p:nvSpPr>
          <p:cNvPr id="30" name="Text 28">
            <a:extLst xmlns:a="http://schemas.openxmlformats.org/drawingml/2006/main">
              <a:ext uri="{FF2B5EF4-FFF2-40B4-BE49-F238E27FC236}">
                <a16:creationId xmlns:a16="http://schemas.microsoft.com/office/drawing/2014/main" id="{FA044328-7B95-489A-B4CC-B3475F2676CE}"/>
              </a:ext>
            </a:extLst>
          </p:cNvPr>
          <p:cNvSpPr>
            <a:spLocks xmlns:a="http://schemas.openxmlformats.org/drawingml/2006/main" noGrp="1"/>
          </p:cNvSpPr>
          <p:nvPr/>
        </p:nvSpPr>
        <p:spPr>
          <a:xfrm xmlns:a="http://schemas.openxmlformats.org/drawingml/2006/main">
            <a:off x="4608576" y="3099816"/>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New channels and journeys as instances of existing patterns</a:t>
            </a:r>
            <a:endParaRPr sz="920"/>
          </a:p>
        </p:txBody>
      </p:sp>
      <p:sp>
        <p:nvSpPr>
          <p:cNvPr id="31" name="Shape 29">
            <a:extLst xmlns:a="http://schemas.openxmlformats.org/drawingml/2006/main">
              <a:ext uri="{FF2B5EF4-FFF2-40B4-BE49-F238E27FC236}">
                <a16:creationId xmlns:a16="http://schemas.microsoft.com/office/drawing/2014/main" id="{4A72CE4A-B7A0-4493-B1E6-07BC1B1258AF}"/>
              </a:ext>
            </a:extLst>
          </p:cNvPr>
          <p:cNvSpPr>
            <a:spLocks xmlns:a="http://schemas.openxmlformats.org/drawingml/2006/main" noGrp="1"/>
          </p:cNvSpPr>
          <p:nvPr/>
        </p:nvSpPr>
        <p:spPr>
          <a:xfrm xmlns:a="http://schemas.openxmlformats.org/drawingml/2006/main">
            <a:off x="8705088" y="3118104"/>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32" name="Text 30">
            <a:extLst xmlns:a="http://schemas.openxmlformats.org/drawingml/2006/main">
              <a:ext uri="{FF2B5EF4-FFF2-40B4-BE49-F238E27FC236}">
                <a16:creationId xmlns:a16="http://schemas.microsoft.com/office/drawing/2014/main" id="{A26F8F4F-90CD-4359-9226-B9C79DF2D483}"/>
              </a:ext>
            </a:extLst>
          </p:cNvPr>
          <p:cNvSpPr>
            <a:spLocks xmlns:a="http://schemas.openxmlformats.org/drawingml/2006/main" noGrp="1"/>
          </p:cNvSpPr>
          <p:nvPr/>
        </p:nvSpPr>
        <p:spPr>
          <a:xfrm xmlns:a="http://schemas.openxmlformats.org/drawingml/2006/main">
            <a:off x="8705088" y="3150108"/>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BUILD</a:t>
            </a:r>
            <a:endParaRPr sz="820"/>
          </a:p>
        </p:txBody>
      </p:sp>
      <p:sp>
        <p:nvSpPr>
          <p:cNvPr id="33" name="Text 31">
            <a:extLst xmlns:a="http://schemas.openxmlformats.org/drawingml/2006/main">
              <a:ext uri="{FF2B5EF4-FFF2-40B4-BE49-F238E27FC236}">
                <a16:creationId xmlns:a16="http://schemas.microsoft.com/office/drawing/2014/main" id="{133D1F86-ED51-4DDC-AC0F-20841413F57C}"/>
              </a:ext>
            </a:extLst>
          </p:cNvPr>
          <p:cNvSpPr>
            <a:spLocks xmlns:a="http://schemas.openxmlformats.org/drawingml/2006/main" noGrp="1"/>
          </p:cNvSpPr>
          <p:nvPr/>
        </p:nvSpPr>
        <p:spPr>
          <a:xfrm xmlns:a="http://schemas.openxmlformats.org/drawingml/2006/main">
            <a:off x="10643616" y="3099816"/>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Partly</a:t>
            </a:r>
            <a:endParaRPr sz="940"/>
          </a:p>
        </p:txBody>
      </p:sp>
      <p:sp>
        <p:nvSpPr>
          <p:cNvPr id="34" name="Shape 32">
            <a:extLst xmlns:a="http://schemas.openxmlformats.org/drawingml/2006/main">
              <a:ext uri="{FF2B5EF4-FFF2-40B4-BE49-F238E27FC236}">
                <a16:creationId xmlns:a16="http://schemas.microsoft.com/office/drawing/2014/main" id="{6612158F-5401-448F-993B-04E673C724A3}"/>
              </a:ext>
            </a:extLst>
          </p:cNvPr>
          <p:cNvSpPr>
            <a:spLocks xmlns:a="http://schemas.openxmlformats.org/drawingml/2006/main" noGrp="1"/>
          </p:cNvSpPr>
          <p:nvPr/>
        </p:nvSpPr>
        <p:spPr>
          <a:xfrm xmlns:a="http://schemas.openxmlformats.org/drawingml/2006/main">
            <a:off x="566928" y="3456432"/>
            <a:ext cx="11057839" cy="7315"/>
          </a:xfrm>
          <a:prstGeom xmlns:a="http://schemas.openxmlformats.org/drawingml/2006/main" prst="rect">
            <a:avLst/>
          </a:prstGeom>
          <a:solidFill xmlns:a="http://schemas.openxmlformats.org/drawingml/2006/main">
            <a:srgbClr val="CBD5E0"/>
          </a:solidFill>
        </p:spPr>
      </p:sp>
      <p:sp>
        <p:nvSpPr>
          <p:cNvPr id="35" name="Text 33">
            <a:extLst xmlns:a="http://schemas.openxmlformats.org/drawingml/2006/main">
              <a:ext uri="{FF2B5EF4-FFF2-40B4-BE49-F238E27FC236}">
                <a16:creationId xmlns:a16="http://schemas.microsoft.com/office/drawing/2014/main" id="{A90724DF-1054-4B2C-A76C-3CA275E2EB72}"/>
              </a:ext>
            </a:extLst>
          </p:cNvPr>
          <p:cNvSpPr>
            <a:spLocks xmlns:a="http://schemas.openxmlformats.org/drawingml/2006/main" noGrp="1"/>
          </p:cNvSpPr>
          <p:nvPr/>
        </p:nvSpPr>
        <p:spPr>
          <a:xfrm xmlns:a="http://schemas.openxmlformats.org/drawingml/2006/main">
            <a:off x="676656" y="3538728"/>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Channel variation as data</a:t>
            </a:r>
            <a:endParaRPr sz="960"/>
          </a:p>
        </p:txBody>
      </p:sp>
      <p:sp>
        <p:nvSpPr>
          <p:cNvPr id="36" name="Text 34">
            <a:extLst xmlns:a="http://schemas.openxmlformats.org/drawingml/2006/main">
              <a:ext uri="{FF2B5EF4-FFF2-40B4-BE49-F238E27FC236}">
                <a16:creationId xmlns:a16="http://schemas.microsoft.com/office/drawing/2014/main" id="{5EE523A9-8744-4EF2-96A1-560E4FEFB0DD}"/>
              </a:ext>
            </a:extLst>
          </p:cNvPr>
          <p:cNvSpPr>
            <a:spLocks xmlns:a="http://schemas.openxmlformats.org/drawingml/2006/main" noGrp="1"/>
          </p:cNvSpPr>
          <p:nvPr/>
        </p:nvSpPr>
        <p:spPr>
          <a:xfrm xmlns:a="http://schemas.openxmlformats.org/drawingml/2006/main">
            <a:off x="4608576" y="3538728"/>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One state machine, ten-plus parameterised variants, no per-channel branch</a:t>
            </a:r>
            <a:endParaRPr sz="920"/>
          </a:p>
        </p:txBody>
      </p:sp>
      <p:sp>
        <p:nvSpPr>
          <p:cNvPr id="37" name="Shape 35">
            <a:extLst xmlns:a="http://schemas.openxmlformats.org/drawingml/2006/main">
              <a:ext uri="{FF2B5EF4-FFF2-40B4-BE49-F238E27FC236}">
                <a16:creationId xmlns:a16="http://schemas.microsoft.com/office/drawing/2014/main" id="{09550D39-9E5E-4BC7-8BAD-8873BFF89EE3}"/>
              </a:ext>
            </a:extLst>
          </p:cNvPr>
          <p:cNvSpPr>
            <a:spLocks xmlns:a="http://schemas.openxmlformats.org/drawingml/2006/main" noGrp="1"/>
          </p:cNvSpPr>
          <p:nvPr/>
        </p:nvSpPr>
        <p:spPr>
          <a:xfrm xmlns:a="http://schemas.openxmlformats.org/drawingml/2006/main">
            <a:off x="8705088" y="3557016"/>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38" name="Text 36">
            <a:extLst xmlns:a="http://schemas.openxmlformats.org/drawingml/2006/main">
              <a:ext uri="{FF2B5EF4-FFF2-40B4-BE49-F238E27FC236}">
                <a16:creationId xmlns:a16="http://schemas.microsoft.com/office/drawing/2014/main" id="{4AB1C1A4-3EE5-4831-8828-9248A9FB8D6D}"/>
              </a:ext>
            </a:extLst>
          </p:cNvPr>
          <p:cNvSpPr>
            <a:spLocks xmlns:a="http://schemas.openxmlformats.org/drawingml/2006/main" noGrp="1"/>
          </p:cNvSpPr>
          <p:nvPr/>
        </p:nvSpPr>
        <p:spPr>
          <a:xfrm xmlns:a="http://schemas.openxmlformats.org/drawingml/2006/main">
            <a:off x="8705088" y="3589020"/>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CONFIGURABLE</a:t>
            </a:r>
            <a:endParaRPr sz="820"/>
          </a:p>
        </p:txBody>
      </p:sp>
      <p:sp>
        <p:nvSpPr>
          <p:cNvPr id="39" name="Text 37">
            <a:extLst xmlns:a="http://schemas.openxmlformats.org/drawingml/2006/main">
              <a:ext uri="{FF2B5EF4-FFF2-40B4-BE49-F238E27FC236}">
                <a16:creationId xmlns:a16="http://schemas.microsoft.com/office/drawing/2014/main" id="{EE1D6CBA-E463-4871-AFC1-AC8750338180}"/>
              </a:ext>
            </a:extLst>
          </p:cNvPr>
          <p:cNvSpPr>
            <a:spLocks xmlns:a="http://schemas.openxmlformats.org/drawingml/2006/main" noGrp="1"/>
          </p:cNvSpPr>
          <p:nvPr/>
        </p:nvSpPr>
        <p:spPr>
          <a:xfrm xmlns:a="http://schemas.openxmlformats.org/drawingml/2006/main">
            <a:off x="10643616" y="3538728"/>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Met</a:t>
            </a:r>
            <a:endParaRPr sz="940"/>
          </a:p>
        </p:txBody>
      </p:sp>
      <p:sp>
        <p:nvSpPr>
          <p:cNvPr id="40" name="Shape 38">
            <a:extLst xmlns:a="http://schemas.openxmlformats.org/drawingml/2006/main">
              <a:ext uri="{FF2B5EF4-FFF2-40B4-BE49-F238E27FC236}">
                <a16:creationId xmlns:a16="http://schemas.microsoft.com/office/drawing/2014/main" id="{82773356-185B-4F17-917F-8A9D81479872}"/>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41" name="Shape 39">
            <a:extLst xmlns:a="http://schemas.openxmlformats.org/drawingml/2006/main">
              <a:ext uri="{FF2B5EF4-FFF2-40B4-BE49-F238E27FC236}">
                <a16:creationId xmlns:a16="http://schemas.microsoft.com/office/drawing/2014/main" id="{83F064FE-C206-4A2F-A15B-CD247FFA4F5A}"/>
              </a:ext>
            </a:extLst>
          </p:cNvPr>
          <p:cNvSpPr>
            <a:spLocks xmlns:a="http://schemas.openxmlformats.org/drawingml/2006/main" noGrp="1"/>
          </p:cNvSpPr>
          <p:nvPr/>
        </p:nvSpPr>
        <p:spPr>
          <a:xfrm xmlns:a="http://schemas.openxmlformats.org/drawingml/2006/main">
            <a:off x="566928" y="3895344"/>
            <a:ext cx="11057839" cy="438912"/>
          </a:xfrm>
          <a:prstGeom xmlns:a="http://schemas.openxmlformats.org/drawingml/2006/main" prst="rect">
            <a:avLst/>
          </a:prstGeom>
          <a:solidFill xmlns:a="http://schemas.openxmlformats.org/drawingml/2006/main">
            <a:srgbClr val="F7F9FB"/>
          </a:solidFill>
        </p:spPr>
      </p:sp>
      <p:sp>
        <p:nvSpPr>
          <p:cNvPr id="42" name="Text 40">
            <a:extLst xmlns:a="http://schemas.openxmlformats.org/drawingml/2006/main">
              <a:ext uri="{FF2B5EF4-FFF2-40B4-BE49-F238E27FC236}">
                <a16:creationId xmlns:a16="http://schemas.microsoft.com/office/drawing/2014/main" id="{ACE251EB-7450-4381-840F-F93D66A62BFF}"/>
              </a:ext>
            </a:extLst>
          </p:cNvPr>
          <p:cNvSpPr>
            <a:spLocks xmlns:a="http://schemas.openxmlformats.org/drawingml/2006/main" noGrp="1"/>
          </p:cNvSpPr>
          <p:nvPr/>
        </p:nvSpPr>
        <p:spPr>
          <a:xfrm xmlns:a="http://schemas.openxmlformats.org/drawingml/2006/main">
            <a:off x="676656" y="3977640"/>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Blast-radius-scoped regression</a:t>
            </a:r>
            <a:endParaRPr sz="960"/>
          </a:p>
        </p:txBody>
      </p:sp>
      <p:sp>
        <p:nvSpPr>
          <p:cNvPr id="43" name="Text 41">
            <a:extLst xmlns:a="http://schemas.openxmlformats.org/drawingml/2006/main">
              <a:ext uri="{FF2B5EF4-FFF2-40B4-BE49-F238E27FC236}">
                <a16:creationId xmlns:a16="http://schemas.microsoft.com/office/drawing/2014/main" id="{32D23EC2-2739-42FC-962F-E5A51A9579C5}"/>
              </a:ext>
            </a:extLst>
          </p:cNvPr>
          <p:cNvSpPr>
            <a:spLocks xmlns:a="http://schemas.openxmlformats.org/drawingml/2006/main" noGrp="1"/>
          </p:cNvSpPr>
          <p:nvPr/>
        </p:nvSpPr>
        <p:spPr>
          <a:xfrm xmlns:a="http://schemas.openxmlformats.org/drawingml/2006/main">
            <a:off x="4608576" y="3977640"/>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Automated test selection driven by what the change touches</a:t>
            </a:r>
            <a:endParaRPr sz="920"/>
          </a:p>
        </p:txBody>
      </p:sp>
      <p:sp>
        <p:nvSpPr>
          <p:cNvPr id="44" name="Shape 42">
            <a:extLst xmlns:a="http://schemas.openxmlformats.org/drawingml/2006/main">
              <a:ext uri="{FF2B5EF4-FFF2-40B4-BE49-F238E27FC236}">
                <a16:creationId xmlns:a16="http://schemas.microsoft.com/office/drawing/2014/main" id="{2FCEB74C-2D11-49B8-A09D-93BDDEC743BE}"/>
              </a:ext>
            </a:extLst>
          </p:cNvPr>
          <p:cNvSpPr>
            <a:spLocks xmlns:a="http://schemas.openxmlformats.org/drawingml/2006/main" noGrp="1"/>
          </p:cNvSpPr>
          <p:nvPr/>
        </p:nvSpPr>
        <p:spPr>
          <a:xfrm xmlns:a="http://schemas.openxmlformats.org/drawingml/2006/main">
            <a:off x="8705088" y="3995928"/>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45" name="Text 43">
            <a:extLst xmlns:a="http://schemas.openxmlformats.org/drawingml/2006/main">
              <a:ext uri="{FF2B5EF4-FFF2-40B4-BE49-F238E27FC236}">
                <a16:creationId xmlns:a16="http://schemas.microsoft.com/office/drawing/2014/main" id="{6E873388-5C8E-4515-A52E-17FA625AE045}"/>
              </a:ext>
            </a:extLst>
          </p:cNvPr>
          <p:cNvSpPr>
            <a:spLocks xmlns:a="http://schemas.openxmlformats.org/drawingml/2006/main" noGrp="1"/>
          </p:cNvSpPr>
          <p:nvPr/>
        </p:nvSpPr>
        <p:spPr>
          <a:xfrm xmlns:a="http://schemas.openxmlformats.org/drawingml/2006/main">
            <a:off x="8705088" y="4027932"/>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BUILD</a:t>
            </a:r>
            <a:endParaRPr sz="820"/>
          </a:p>
        </p:txBody>
      </p:sp>
      <p:sp>
        <p:nvSpPr>
          <p:cNvPr id="46" name="Text 44">
            <a:extLst xmlns:a="http://schemas.openxmlformats.org/drawingml/2006/main">
              <a:ext uri="{FF2B5EF4-FFF2-40B4-BE49-F238E27FC236}">
                <a16:creationId xmlns:a16="http://schemas.microsoft.com/office/drawing/2014/main" id="{CFF8A720-42F9-4871-99AF-EB8026087CDE}"/>
              </a:ext>
            </a:extLst>
          </p:cNvPr>
          <p:cNvSpPr>
            <a:spLocks xmlns:a="http://schemas.openxmlformats.org/drawingml/2006/main" noGrp="1"/>
          </p:cNvSpPr>
          <p:nvPr/>
        </p:nvSpPr>
        <p:spPr>
          <a:xfrm xmlns:a="http://schemas.openxmlformats.org/drawingml/2006/main">
            <a:off x="10643616" y="3977640"/>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Gap</a:t>
            </a:r>
            <a:endParaRPr sz="940"/>
          </a:p>
        </p:txBody>
      </p:sp>
      <p:sp>
        <p:nvSpPr>
          <p:cNvPr id="47" name="Shape 45">
            <a:extLst xmlns:a="http://schemas.openxmlformats.org/drawingml/2006/main">
              <a:ext uri="{FF2B5EF4-FFF2-40B4-BE49-F238E27FC236}">
                <a16:creationId xmlns:a16="http://schemas.microsoft.com/office/drawing/2014/main" id="{7B0A5C8C-5610-4EE1-BE6F-77EC583A703B}"/>
              </a:ext>
            </a:extLst>
          </p:cNvPr>
          <p:cNvSpPr>
            <a:spLocks xmlns:a="http://schemas.openxmlformats.org/drawingml/2006/main" noGrp="1"/>
          </p:cNvSpPr>
          <p:nvPr/>
        </p:nvSpPr>
        <p:spPr>
          <a:xfrm xmlns:a="http://schemas.openxmlformats.org/drawingml/2006/main">
            <a:off x="566928" y="4334256"/>
            <a:ext cx="11057839" cy="7315"/>
          </a:xfrm>
          <a:prstGeom xmlns:a="http://schemas.openxmlformats.org/drawingml/2006/main" prst="rect">
            <a:avLst/>
          </a:prstGeom>
          <a:solidFill xmlns:a="http://schemas.openxmlformats.org/drawingml/2006/main">
            <a:srgbClr val="CBD5E0"/>
          </a:solidFill>
        </p:spPr>
      </p:sp>
      <p:sp>
        <p:nvSpPr>
          <p:cNvPr id="48" name="Text 46">
            <a:extLst xmlns:a="http://schemas.openxmlformats.org/drawingml/2006/main">
              <a:ext uri="{FF2B5EF4-FFF2-40B4-BE49-F238E27FC236}">
                <a16:creationId xmlns:a16="http://schemas.microsoft.com/office/drawing/2014/main" id="{F6303B8F-D530-4BF1-BCA5-B842F2B0B5B5}"/>
              </a:ext>
            </a:extLst>
          </p:cNvPr>
          <p:cNvSpPr>
            <a:spLocks xmlns:a="http://schemas.openxmlformats.org/drawingml/2006/main" noGrp="1"/>
          </p:cNvSpPr>
          <p:nvPr/>
        </p:nvSpPr>
        <p:spPr>
          <a:xfrm xmlns:a="http://schemas.openxmlformats.org/drawingml/2006/main">
            <a:off x="676656" y="4416552"/>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Change classes and approval paths</a:t>
            </a:r>
            <a:endParaRPr sz="960"/>
          </a:p>
        </p:txBody>
      </p:sp>
      <p:sp>
        <p:nvSpPr>
          <p:cNvPr id="49" name="Text 47">
            <a:extLst xmlns:a="http://schemas.openxmlformats.org/drawingml/2006/main">
              <a:ext uri="{FF2B5EF4-FFF2-40B4-BE49-F238E27FC236}">
                <a16:creationId xmlns:a16="http://schemas.microsoft.com/office/drawing/2014/main" id="{37764788-0B87-42A4-8391-2A02C19A7E49}"/>
              </a:ext>
            </a:extLst>
          </p:cNvPr>
          <p:cNvSpPr>
            <a:spLocks xmlns:a="http://schemas.openxmlformats.org/drawingml/2006/main" noGrp="1"/>
          </p:cNvSpPr>
          <p:nvPr/>
        </p:nvSpPr>
        <p:spPr>
          <a:xfrm xmlns:a="http://schemas.openxmlformats.org/drawingml/2006/main">
            <a:off x="4608576" y="4416552"/>
            <a:ext cx="38953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Pre-agreed authority per class — a joint design with the client's risk function</a:t>
            </a:r>
            <a:endParaRPr sz="920"/>
          </a:p>
        </p:txBody>
      </p:sp>
      <p:sp>
        <p:nvSpPr>
          <p:cNvPr id="50" name="Shape 48">
            <a:extLst xmlns:a="http://schemas.openxmlformats.org/drawingml/2006/main">
              <a:ext uri="{FF2B5EF4-FFF2-40B4-BE49-F238E27FC236}">
                <a16:creationId xmlns:a16="http://schemas.microsoft.com/office/drawing/2014/main" id="{2B1304A3-0F4A-46C8-9FBD-5889E805762B}"/>
              </a:ext>
            </a:extLst>
          </p:cNvPr>
          <p:cNvSpPr>
            <a:spLocks xmlns:a="http://schemas.openxmlformats.org/drawingml/2006/main" noGrp="1"/>
          </p:cNvSpPr>
          <p:nvPr/>
        </p:nvSpPr>
        <p:spPr>
          <a:xfrm xmlns:a="http://schemas.openxmlformats.org/drawingml/2006/main">
            <a:off x="8705088" y="4434840"/>
            <a:ext cx="1609344" cy="237744"/>
          </a:xfrm>
          <a:prstGeom xmlns:a="http://schemas.openxmlformats.org/drawingml/2006/main" prst="roundRect">
            <a:avLst>
              <a:gd name="adj" fmla="val 30769"/>
            </a:avLst>
          </a:prstGeom>
          <a:solidFill xmlns:a="http://schemas.openxmlformats.org/drawingml/2006/main">
            <a:srgbClr val="E3EAF2"/>
          </a:solidFill>
        </p:spPr>
      </p:sp>
      <p:sp>
        <p:nvSpPr>
          <p:cNvPr id="51" name="Text 49">
            <a:extLst xmlns:a="http://schemas.openxmlformats.org/drawingml/2006/main">
              <a:ext uri="{FF2B5EF4-FFF2-40B4-BE49-F238E27FC236}">
                <a16:creationId xmlns:a16="http://schemas.microsoft.com/office/drawing/2014/main" id="{FAFE95D1-E92D-49A1-924D-9989181F6310}"/>
              </a:ext>
            </a:extLst>
          </p:cNvPr>
          <p:cNvSpPr>
            <a:spLocks xmlns:a="http://schemas.openxmlformats.org/drawingml/2006/main" noGrp="1"/>
          </p:cNvSpPr>
          <p:nvPr/>
        </p:nvSpPr>
        <p:spPr>
          <a:xfrm xmlns:a="http://schemas.openxmlformats.org/drawingml/2006/main">
            <a:off x="8705088" y="4466844"/>
            <a:ext cx="160934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GAP</a:t>
            </a:r>
            <a:endParaRPr sz="820"/>
          </a:p>
        </p:txBody>
      </p:sp>
      <p:sp>
        <p:nvSpPr>
          <p:cNvPr id="52" name="Text 50">
            <a:extLst xmlns:a="http://schemas.openxmlformats.org/drawingml/2006/main">
              <a:ext uri="{FF2B5EF4-FFF2-40B4-BE49-F238E27FC236}">
                <a16:creationId xmlns:a16="http://schemas.microsoft.com/office/drawing/2014/main" id="{39CA1300-B276-45C0-AC26-B220075E7C8B}"/>
              </a:ext>
            </a:extLst>
          </p:cNvPr>
          <p:cNvSpPr>
            <a:spLocks xmlns:a="http://schemas.openxmlformats.org/drawingml/2006/main" noGrp="1"/>
          </p:cNvSpPr>
          <p:nvPr/>
        </p:nvSpPr>
        <p:spPr>
          <a:xfrm xmlns:a="http://schemas.openxmlformats.org/drawingml/2006/main">
            <a:off x="10643616" y="4416552"/>
            <a:ext cx="86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Open</a:t>
            </a:r>
            <a:endParaRPr sz="940"/>
          </a:p>
        </p:txBody>
      </p:sp>
      <p:sp>
        <p:nvSpPr>
          <p:cNvPr id="53" name="Shape 51">
            <a:extLst xmlns:a="http://schemas.openxmlformats.org/drawingml/2006/main">
              <a:ext uri="{FF2B5EF4-FFF2-40B4-BE49-F238E27FC236}">
                <a16:creationId xmlns:a16="http://schemas.microsoft.com/office/drawing/2014/main" id="{3C2DFDED-99D1-4CDF-A2CB-1C30AE061C01}"/>
              </a:ext>
            </a:extLst>
          </p:cNvPr>
          <p:cNvSpPr>
            <a:spLocks xmlns:a="http://schemas.openxmlformats.org/drawingml/2006/main" noGrp="1"/>
          </p:cNvSpPr>
          <p:nvPr/>
        </p:nvSpPr>
        <p:spPr>
          <a:xfrm xmlns:a="http://schemas.openxmlformats.org/drawingml/2006/main">
            <a:off x="566928" y="4773168"/>
            <a:ext cx="11057839" cy="7315"/>
          </a:xfrm>
          <a:prstGeom xmlns:a="http://schemas.openxmlformats.org/drawingml/2006/main" prst="rect">
            <a:avLst/>
          </a:prstGeom>
          <a:solidFill xmlns:a="http://schemas.openxmlformats.org/drawingml/2006/main">
            <a:srgbClr val="CBD5E0"/>
          </a:solidFill>
        </p:spPr>
      </p:sp>
      <p:sp>
        <p:nvSpPr>
          <p:cNvPr id="54" name="Shape 52">
            <a:extLst xmlns:a="http://schemas.openxmlformats.org/drawingml/2006/main">
              <a:ext uri="{FF2B5EF4-FFF2-40B4-BE49-F238E27FC236}">
                <a16:creationId xmlns:a16="http://schemas.microsoft.com/office/drawing/2014/main" id="{961D014E-CBDB-493C-A106-7FE9D7822354}"/>
              </a:ext>
            </a:extLst>
          </p:cNvPr>
          <p:cNvSpPr>
            <a:spLocks xmlns:a="http://schemas.openxmlformats.org/drawingml/2006/main" noGrp="1"/>
          </p:cNvSpPr>
          <p:nvPr/>
        </p:nvSpPr>
        <p:spPr>
          <a:xfrm xmlns:a="http://schemas.openxmlformats.org/drawingml/2006/main">
            <a:off x="566928" y="5010912"/>
            <a:ext cx="11057839" cy="1225296"/>
          </a:xfrm>
          <a:prstGeom xmlns:a="http://schemas.openxmlformats.org/drawingml/2006/main" prst="rect">
            <a:avLst/>
          </a:prstGeom>
          <a:solidFill xmlns:a="http://schemas.openxmlformats.org/drawingml/2006/main">
            <a:srgbClr val="F3E6E0"/>
          </a:solidFill>
        </p:spPr>
      </p:sp>
      <p:sp>
        <p:nvSpPr>
          <p:cNvPr id="55" name="Text 53">
            <a:extLst xmlns:a="http://schemas.openxmlformats.org/drawingml/2006/main">
              <a:ext uri="{FF2B5EF4-FFF2-40B4-BE49-F238E27FC236}">
                <a16:creationId xmlns:a16="http://schemas.microsoft.com/office/drawing/2014/main" id="{FAA0153D-2ECB-4D52-8920-98D6425E5F91}"/>
              </a:ext>
            </a:extLst>
          </p:cNvPr>
          <p:cNvSpPr>
            <a:spLocks xmlns:a="http://schemas.openxmlformats.org/drawingml/2006/main" noGrp="1"/>
          </p:cNvSpPr>
          <p:nvPr/>
        </p:nvSpPr>
        <p:spPr>
          <a:xfrm xmlns:a="http://schemas.openxmlformats.org/drawingml/2006/main">
            <a:off x="804672" y="5157216"/>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How I would present this to the client</a:t>
            </a:r>
            <a:endParaRPr sz="1100"/>
          </a:p>
        </p:txBody>
      </p:sp>
      <p:sp>
        <p:nvSpPr>
          <p:cNvPr id="56" name="Text 54">
            <a:extLst xmlns:a="http://schemas.openxmlformats.org/drawingml/2006/main">
              <a:ext uri="{FF2B5EF4-FFF2-40B4-BE49-F238E27FC236}">
                <a16:creationId xmlns:a16="http://schemas.microsoft.com/office/drawing/2014/main" id="{2F7C3ADD-C751-4663-989E-A1F51F537290}"/>
              </a:ext>
            </a:extLst>
          </p:cNvPr>
          <p:cNvSpPr>
            <a:spLocks xmlns:a="http://schemas.openxmlformats.org/drawingml/2006/main" noGrp="1"/>
          </p:cNvSpPr>
          <p:nvPr/>
        </p:nvSpPr>
        <p:spPr>
          <a:xfrm xmlns:a="http://schemas.openxmlformats.org/drawingml/2006/main">
            <a:off x="804672" y="5413248"/>
            <a:ext cx="10582351"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Not as a scorecard. The first five rows are a credible answer to the stated requirement and should be shown as such, with the level-four work priced honestly rather than claimed away.</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last two rows are more useful as a joint design question than as gaps. Blast-radius-scoped regression and pre-agreed change classes cannot be delivered by a supplier alone — they need the client's risk and release functions in the room. Proposing that workshop in the bid, rather than discovering the need in month four, is the difference between meeting the velocity target and explaining why it was never achievable.</a:t>
            </a:r>
            <a:endParaRPr sz="990"/>
          </a:p>
        </p:txBody>
      </p:sp>
      <p:sp>
        <p:nvSpPr>
          <p:cNvPr id="57" name="Shape 55">
            <a:extLst xmlns:a="http://schemas.openxmlformats.org/drawingml/2006/main">
              <a:ext uri="{FF2B5EF4-FFF2-40B4-BE49-F238E27FC236}">
                <a16:creationId xmlns:a16="http://schemas.microsoft.com/office/drawing/2014/main" id="{3DEA629A-9EB0-4C8C-B6E2-0E6E8179A17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8" name="Text 56">
            <a:extLst xmlns:a="http://schemas.openxmlformats.org/drawingml/2006/main">
              <a:ext uri="{FF2B5EF4-FFF2-40B4-BE49-F238E27FC236}">
                <a16:creationId xmlns:a16="http://schemas.microsoft.com/office/drawing/2014/main" id="{0CD3509C-F91D-40F5-811D-9AC20C2C28E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architecture analysis</a:t>
            </a:r>
            <a:endParaRPr sz="850"/>
          </a:p>
        </p:txBody>
      </p:sp>
      <p:sp>
        <p:nvSpPr>
          <p:cNvPr id="59" name="Text 57">
            <a:extLst xmlns:a="http://schemas.openxmlformats.org/drawingml/2006/main">
              <a:ext uri="{FF2B5EF4-FFF2-40B4-BE49-F238E27FC236}">
                <a16:creationId xmlns:a16="http://schemas.microsoft.com/office/drawing/2014/main" id="{9064730F-508B-4A68-AD28-66017AB6E04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304561960"/>
      </p:ext>
    </p:extLst>
  </p:cSld>
</p:sld>
</file>

<file path=ppt/slides/slide1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34704A-AC3F-473F-81C9-158C422F399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2B1292B0-B30F-4942-AE7E-83B0C822DDC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treating configurability as an architecture requirement</a:t>
            </a:r>
            <a:endParaRPr sz="1900"/>
          </a:p>
        </p:txBody>
      </p:sp>
      <p:sp>
        <p:nvSpPr>
          <p:cNvPr id="4" name="Text 2">
            <a:extLst xmlns:a="http://schemas.openxmlformats.org/drawingml/2006/main">
              <a:ext uri="{FF2B5EF4-FFF2-40B4-BE49-F238E27FC236}">
                <a16:creationId xmlns:a16="http://schemas.microsoft.com/office/drawing/2014/main" id="{377900BC-A713-4B35-A24D-5C25DB209886}"/>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FE9BE24E-E4CB-49CC-B616-0D674C3842C3}"/>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Name the level, not the word</a:t>
            </a:r>
            <a:endParaRPr sz="1200"/>
          </a:p>
        </p:txBody>
      </p:sp>
      <p:sp>
        <p:nvSpPr>
          <p:cNvPr id="6" name="Text 4">
            <a:extLst xmlns:a="http://schemas.openxmlformats.org/drawingml/2006/main">
              <a:ext uri="{FF2B5EF4-FFF2-40B4-BE49-F238E27FC236}">
                <a16:creationId xmlns:a16="http://schemas.microsoft.com/office/drawing/2014/main" id="{F1BAEA83-2986-417C-B393-7135D5B7DD71}"/>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“No-code” is unenforceable and every platform claims it. Specifying which of the four levels each domain requires makes the requirement contractible and testable at acceptance.</a:t>
            </a:r>
            <a:endParaRPr sz="1000"/>
          </a:p>
        </p:txBody>
      </p:sp>
      <p:sp>
        <p:nvSpPr>
          <p:cNvPr id="7" name="Shape 5">
            <a:extLst xmlns:a="http://schemas.openxmlformats.org/drawingml/2006/main">
              <a:ext uri="{FF2B5EF4-FFF2-40B4-BE49-F238E27FC236}">
                <a16:creationId xmlns:a16="http://schemas.microsoft.com/office/drawing/2014/main" id="{6A626A53-B11C-4B50-9C5D-14004F72E586}"/>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EFE17CBE-6EC5-40D4-9B18-A4010F478CAE}"/>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8B6B9781-F1FF-4408-8AF4-45826B82D533}"/>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channel variation data, never code</a:t>
            </a:r>
            <a:endParaRPr sz="1200"/>
          </a:p>
        </p:txBody>
      </p:sp>
      <p:sp>
        <p:nvSpPr>
          <p:cNvPr id="10" name="Text 8">
            <a:extLst xmlns:a="http://schemas.openxmlformats.org/drawingml/2006/main">
              <a:ext uri="{FF2B5EF4-FFF2-40B4-BE49-F238E27FC236}">
                <a16:creationId xmlns:a16="http://schemas.microsoft.com/office/drawing/2014/main" id="{08906C57-A92C-4AC7-A7F6-6EFBB6461AC1}"/>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One state machine with parameterised variants means the eleventh channel is configuration. One code branch per channel means it is a project — and the first branch sets the precedent for all the rest.</a:t>
            </a:r>
            <a:endParaRPr sz="1000"/>
          </a:p>
        </p:txBody>
      </p:sp>
      <p:sp>
        <p:nvSpPr>
          <p:cNvPr id="11" name="Shape 9">
            <a:extLst xmlns:a="http://schemas.openxmlformats.org/drawingml/2006/main">
              <a:ext uri="{FF2B5EF4-FFF2-40B4-BE49-F238E27FC236}">
                <a16:creationId xmlns:a16="http://schemas.microsoft.com/office/drawing/2014/main" id="{3D2A70A7-6A8C-4A8B-ACEF-355CA37DC9AD}"/>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6048FD6D-7E9C-4F8D-B6F9-20D0000CCE1D}"/>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88964F34-F225-4094-BDD5-2FE3CD8C4FF6}"/>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Design the approval path to the same target</a:t>
            </a:r>
            <a:endParaRPr sz="1200"/>
          </a:p>
        </p:txBody>
      </p:sp>
      <p:sp>
        <p:nvSpPr>
          <p:cNvPr id="14" name="Text 12">
            <a:extLst xmlns:a="http://schemas.openxmlformats.org/drawingml/2006/main">
              <a:ext uri="{FF2B5EF4-FFF2-40B4-BE49-F238E27FC236}">
                <a16:creationId xmlns:a16="http://schemas.microsoft.com/office/drawing/2014/main" id="{B7945CF1-A71E-4B54-8AED-221BD256DECE}"/>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change configurable in two days and approvable in six weeks took six weeks. The velocity target belongs to the whole path to production, not to the configuration step.</a:t>
            </a:r>
            <a:endParaRPr sz="1000"/>
          </a:p>
        </p:txBody>
      </p:sp>
      <p:sp>
        <p:nvSpPr>
          <p:cNvPr id="15" name="Shape 13">
            <a:extLst xmlns:a="http://schemas.openxmlformats.org/drawingml/2006/main">
              <a:ext uri="{FF2B5EF4-FFF2-40B4-BE49-F238E27FC236}">
                <a16:creationId xmlns:a16="http://schemas.microsoft.com/office/drawing/2014/main" id="{CF7263B0-39FD-4EF5-8BB6-277A375ED1A2}"/>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68E5AB6D-92D0-44EF-9029-1CD507641470}"/>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B6A27598-5011-4F16-972A-C88EB695E61F}"/>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Test with elapsed time, not with a screen</a:t>
            </a:r>
            <a:endParaRPr sz="1200"/>
          </a:p>
        </p:txBody>
      </p:sp>
      <p:sp>
        <p:nvSpPr>
          <p:cNvPr id="18" name="Text 16">
            <a:extLst xmlns:a="http://schemas.openxmlformats.org/drawingml/2006/main">
              <a:ext uri="{FF2B5EF4-FFF2-40B4-BE49-F238E27FC236}">
                <a16:creationId xmlns:a16="http://schemas.microsoft.com/office/drawing/2014/main" id="{CAABC8FE-BA0C-418A-81A7-0BA4798B1C1E}"/>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Acceptance should measure how long a representative change takes to reach production including approval and regression — not whether an administration screen exists.</a:t>
            </a:r>
            <a:endParaRPr sz="1000"/>
          </a:p>
        </p:txBody>
      </p:sp>
      <p:sp>
        <p:nvSpPr>
          <p:cNvPr id="19" name="Shape 17">
            <a:extLst xmlns:a="http://schemas.openxmlformats.org/drawingml/2006/main">
              <a:ext uri="{FF2B5EF4-FFF2-40B4-BE49-F238E27FC236}">
                <a16:creationId xmlns:a16="http://schemas.microsoft.com/office/drawing/2014/main" id="{DF99CCB7-1F1F-4009-A58D-4D5D5737C04A}"/>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997CFD29-7B4D-4B9F-A13F-60A91EAB8E41}"/>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Configurable but unapprovable is not configurable. The architecture decides what can safely be approved quickly, which means it decides the achievable change velocity — long before any governance design is written.</a:t>
            </a:r>
            <a:endParaRPr sz="1200"/>
          </a:p>
        </p:txBody>
      </p:sp>
      <p:sp>
        <p:nvSpPr>
          <p:cNvPr id="21" name="Shape 19">
            <a:extLst xmlns:a="http://schemas.openxmlformats.org/drawingml/2006/main">
              <a:ext uri="{FF2B5EF4-FFF2-40B4-BE49-F238E27FC236}">
                <a16:creationId xmlns:a16="http://schemas.microsoft.com/office/drawing/2014/main" id="{B39E4051-92E5-46B0-B507-1A7C488706A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2DC65B4E-FF99-4382-B2C0-93730DEEF74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architecture analysis</a:t>
            </a:r>
            <a:endParaRPr sz="850"/>
          </a:p>
        </p:txBody>
      </p:sp>
      <p:sp>
        <p:nvSpPr>
          <p:cNvPr id="23" name="Text 21">
            <a:extLst xmlns:a="http://schemas.openxmlformats.org/drawingml/2006/main">
              <a:ext uri="{FF2B5EF4-FFF2-40B4-BE49-F238E27FC236}">
                <a16:creationId xmlns:a16="http://schemas.microsoft.com/office/drawing/2014/main" id="{FA0C53C2-AFA8-4A7C-B116-37A5C17BBDE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1728433520"/>
      </p:ext>
    </p:extLst>
  </p:cSld>
</p:sld>
</file>

<file path=ppt/slides/slide12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F01FB8-6635-446B-A0F9-91E830D806B2}"/>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COMMERCIAL  ·  09 OF 30</a:t>
            </a:r>
            <a:endParaRPr sz="950"/>
          </a:p>
        </p:txBody>
      </p:sp>
      <p:sp>
        <p:nvSpPr>
          <p:cNvPr id="3" name="Text 1">
            <a:extLst xmlns:a="http://schemas.openxmlformats.org/drawingml/2006/main">
              <a:ext uri="{FF2B5EF4-FFF2-40B4-BE49-F238E27FC236}">
                <a16:creationId xmlns:a16="http://schemas.microsoft.com/office/drawing/2014/main" id="{2903D83F-A2FA-4379-A9B1-C3BB0E25C828}"/>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Axis Max Life</a:t>
            </a:r>
            <a:endParaRPr sz="3800"/>
          </a:p>
        </p:txBody>
      </p:sp>
      <p:sp>
        <p:nvSpPr>
          <p:cNvPr id="4" name="Text 2">
            <a:extLst xmlns:a="http://schemas.openxmlformats.org/drawingml/2006/main">
              <a:ext uri="{FF2B5EF4-FFF2-40B4-BE49-F238E27FC236}">
                <a16:creationId xmlns:a16="http://schemas.microsoft.com/office/drawing/2014/main" id="{923889E3-B29F-4260-883B-1AD4BFBF2561}"/>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Five blockers and a deal — negotiating IP, penalties and step-in on a fixed-bid build</a:t>
            </a:r>
            <a:endParaRPr sz="1800"/>
          </a:p>
        </p:txBody>
      </p:sp>
      <p:sp>
        <p:nvSpPr>
          <p:cNvPr id="5" name="Text 3">
            <a:extLst xmlns:a="http://schemas.openxmlformats.org/drawingml/2006/main">
              <a:ext uri="{FF2B5EF4-FFF2-40B4-BE49-F238E27FC236}">
                <a16:creationId xmlns:a16="http://schemas.microsoft.com/office/drawing/2014/main" id="{F2785D13-DFF2-492F-8326-8517A6EAA84D}"/>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Five clause families decided whether a technically strong bid could be signed at all. Each one has a legitimate interest on both sides, and each has a construct that resolves it — if it is raised before the solution is frozen rather than after.</a:t>
            </a:r>
            <a:endParaRPr sz="1150"/>
          </a:p>
        </p:txBody>
      </p:sp>
      <p:sp>
        <p:nvSpPr>
          <p:cNvPr id="6" name="Shape 4">
            <a:extLst xmlns:a="http://schemas.openxmlformats.org/drawingml/2006/main">
              <a:ext uri="{FF2B5EF4-FFF2-40B4-BE49-F238E27FC236}">
                <a16:creationId xmlns:a16="http://schemas.microsoft.com/office/drawing/2014/main" id="{078F6C45-F2D7-4DF1-8F89-5DED95D114BB}"/>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D1719B7D-1270-4E65-999D-D3BE8DA64347}"/>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8" name="Text 6">
            <a:extLst xmlns:a="http://schemas.openxmlformats.org/drawingml/2006/main">
              <a:ext uri="{FF2B5EF4-FFF2-40B4-BE49-F238E27FC236}">
                <a16:creationId xmlns:a16="http://schemas.microsoft.com/office/drawing/2014/main" id="{04F61B40-F1AC-45EA-A994-4CE4A64BB1E1}"/>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clause families</a:t>
            </a:r>
            <a:endParaRPr sz="900"/>
          </a:p>
          <a:p xmlns:a="http://schemas.openxmlformats.org/drawingml/2006/main">
            <a:pPr marL="0" indent="0">
              <a:lnSpc>
                <a:spcPts val="1100"/>
              </a:lnSpc>
              <a:buNone/>
            </a:pPr>
            <a:r>
              <a:rPr sz="900">
                <a:solidFill>
                  <a:srgbClr val="8FA9C4"/>
                </a:solidFill>
                <a:latin typeface="Arial"/>
                <a:ea typeface="Arial"/>
                <a:cs typeface="Arial"/>
              </a:rPr>
              <a:t>at impasse</a:t>
            </a:r>
            <a:endParaRPr sz="900"/>
          </a:p>
        </p:txBody>
      </p:sp>
      <p:sp>
        <p:nvSpPr>
          <p:cNvPr id="9" name="Text 7">
            <a:extLst xmlns:a="http://schemas.openxmlformats.org/drawingml/2006/main">
              <a:ext uri="{FF2B5EF4-FFF2-40B4-BE49-F238E27FC236}">
                <a16:creationId xmlns:a16="http://schemas.microsoft.com/office/drawing/2014/main" id="{C8EFBA49-5C2C-4862-887B-42A550831167}"/>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0" name="Text 8">
            <a:extLst xmlns:a="http://schemas.openxmlformats.org/drawingml/2006/main">
              <a:ext uri="{FF2B5EF4-FFF2-40B4-BE49-F238E27FC236}">
                <a16:creationId xmlns:a16="http://schemas.microsoft.com/office/drawing/2014/main" id="{8A6932DB-D97D-4DCF-8956-3D3B013915DA}"/>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internal</a:t>
            </a:r>
            <a:endParaRPr sz="900"/>
          </a:p>
          <a:p xmlns:a="http://schemas.openxmlformats.org/drawingml/2006/main">
            <a:pPr marL="0" indent="0">
              <a:lnSpc>
                <a:spcPts val="1100"/>
              </a:lnSpc>
              <a:buNone/>
            </a:pPr>
            <a:r>
              <a:rPr sz="900">
                <a:solidFill>
                  <a:srgbClr val="8FA9C4"/>
                </a:solidFill>
                <a:latin typeface="Arial"/>
                <a:ea typeface="Arial"/>
                <a:cs typeface="Arial"/>
              </a:rPr>
              <a:t>contradictions</a:t>
            </a:r>
            <a:endParaRPr sz="900"/>
          </a:p>
        </p:txBody>
      </p:sp>
      <p:sp>
        <p:nvSpPr>
          <p:cNvPr id="11" name="Text 9">
            <a:extLst xmlns:a="http://schemas.openxmlformats.org/drawingml/2006/main">
              <a:ext uri="{FF2B5EF4-FFF2-40B4-BE49-F238E27FC236}">
                <a16:creationId xmlns:a16="http://schemas.microsoft.com/office/drawing/2014/main" id="{2D836DD6-024D-4AB3-96D6-4362AE2398A3}"/>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12" name="Text 10">
            <a:extLst xmlns:a="http://schemas.openxmlformats.org/drawingml/2006/main">
              <a:ext uri="{FF2B5EF4-FFF2-40B4-BE49-F238E27FC236}">
                <a16:creationId xmlns:a16="http://schemas.microsoft.com/office/drawing/2014/main" id="{060DE2A1-867C-4E85-8B4F-276656028CF8}"/>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resolvable by</a:t>
            </a:r>
            <a:endParaRPr sz="900"/>
          </a:p>
          <a:p xmlns:a="http://schemas.openxmlformats.org/drawingml/2006/main">
            <a:pPr marL="0" indent="0">
              <a:lnSpc>
                <a:spcPts val="1100"/>
              </a:lnSpc>
              <a:buNone/>
            </a:pPr>
            <a:r>
              <a:rPr sz="900">
                <a:solidFill>
                  <a:srgbClr val="8FA9C4"/>
                </a:solidFill>
                <a:latin typeface="Arial"/>
                <a:ea typeface="Arial"/>
                <a:cs typeface="Arial"/>
              </a:rPr>
              <a:t>construct</a:t>
            </a:r>
            <a:endParaRPr sz="900"/>
          </a:p>
        </p:txBody>
      </p:sp>
      <p:sp>
        <p:nvSpPr>
          <p:cNvPr id="13" name="Text 11">
            <a:extLst xmlns:a="http://schemas.openxmlformats.org/drawingml/2006/main">
              <a:ext uri="{FF2B5EF4-FFF2-40B4-BE49-F238E27FC236}">
                <a16:creationId xmlns:a16="http://schemas.microsoft.com/office/drawing/2014/main" id="{3640A0B0-5AFA-467A-BE43-9838CF79AF80}"/>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4" name="Text 12">
            <a:extLst xmlns:a="http://schemas.openxmlformats.org/drawingml/2006/main">
              <a:ext uri="{FF2B5EF4-FFF2-40B4-BE49-F238E27FC236}">
                <a16:creationId xmlns:a16="http://schemas.microsoft.com/office/drawing/2014/main" id="{B132D219-2E0E-4229-A7FF-524944952185}"/>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genuine</a:t>
            </a:r>
            <a:endParaRPr sz="900"/>
          </a:p>
          <a:p xmlns:a="http://schemas.openxmlformats.org/drawingml/2006/main">
            <a:pPr marL="0" indent="0">
              <a:lnSpc>
                <a:spcPts val="1100"/>
              </a:lnSpc>
              <a:buNone/>
            </a:pPr>
            <a:r>
              <a:rPr sz="900">
                <a:solidFill>
                  <a:srgbClr val="8FA9C4"/>
                </a:solidFill>
                <a:latin typeface="Arial"/>
                <a:ea typeface="Arial"/>
                <a:cs typeface="Arial"/>
              </a:rPr>
              <a:t>walk-away test</a:t>
            </a:r>
            <a:endParaRPr sz="900"/>
          </a:p>
        </p:txBody>
      </p:sp>
      <p:sp>
        <p:nvSpPr>
          <p:cNvPr id="15" name="Text 13">
            <a:extLst xmlns:a="http://schemas.openxmlformats.org/drawingml/2006/main">
              <a:ext uri="{FF2B5EF4-FFF2-40B4-BE49-F238E27FC236}">
                <a16:creationId xmlns:a16="http://schemas.microsoft.com/office/drawing/2014/main" id="{6B442270-66FF-49E7-A903-F6A0AE6917EF}"/>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17</a:t>
            </a:r>
            <a:endParaRPr sz="2600"/>
          </a:p>
        </p:txBody>
      </p:sp>
      <p:sp>
        <p:nvSpPr>
          <p:cNvPr id="16" name="Text 14">
            <a:extLst xmlns:a="http://schemas.openxmlformats.org/drawingml/2006/main">
              <a:ext uri="{FF2B5EF4-FFF2-40B4-BE49-F238E27FC236}">
                <a16:creationId xmlns:a16="http://schemas.microsoft.com/office/drawing/2014/main" id="{7CD58E06-6F26-4418-B659-E02616D15680}"/>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month fixed-bid</a:t>
            </a:r>
            <a:endParaRPr sz="900"/>
          </a:p>
          <a:p xmlns:a="http://schemas.openxmlformats.org/drawingml/2006/main">
            <a:pPr marL="0" indent="0">
              <a:lnSpc>
                <a:spcPts val="1100"/>
              </a:lnSpc>
              <a:buNone/>
            </a:pPr>
            <a:r>
              <a:rPr sz="900">
                <a:solidFill>
                  <a:srgbClr val="8FA9C4"/>
                </a:solidFill>
                <a:latin typeface="Arial"/>
                <a:ea typeface="Arial"/>
                <a:cs typeface="Arial"/>
              </a:rPr>
              <a:t>term</a:t>
            </a:r>
            <a:endParaRPr sz="900"/>
          </a:p>
        </p:txBody>
      </p:sp>
      <p:sp>
        <p:nvSpPr>
          <p:cNvPr id="17" name="Text 15">
            <a:extLst xmlns:a="http://schemas.openxmlformats.org/drawingml/2006/main">
              <a:ext uri="{FF2B5EF4-FFF2-40B4-BE49-F238E27FC236}">
                <a16:creationId xmlns:a16="http://schemas.microsoft.com/office/drawing/2014/main" id="{D5006D83-0388-4CA3-B1C6-F33B0B15BFDC}"/>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D9063BE2-9B4B-4376-9749-75DFF8FDF7E6}"/>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resolvable after</a:t>
            </a:r>
            <a:endParaRPr sz="900"/>
          </a:p>
          <a:p xmlns:a="http://schemas.openxmlformats.org/drawingml/2006/main">
            <a:pPr marL="0" indent="0">
              <a:lnSpc>
                <a:spcPts val="1100"/>
              </a:lnSpc>
              <a:buNone/>
            </a:pPr>
            <a:r>
              <a:rPr sz="900">
                <a:solidFill>
                  <a:srgbClr val="8FA9C4"/>
                </a:solidFill>
                <a:latin typeface="Arial"/>
                <a:ea typeface="Arial"/>
                <a:cs typeface="Arial"/>
              </a:rPr>
              <a:t>signature</a:t>
            </a:r>
            <a:endParaRPr sz="900"/>
          </a:p>
        </p:txBody>
      </p:sp>
      <p:sp>
        <p:nvSpPr>
          <p:cNvPr id="19" name="Shape 17">
            <a:extLst xmlns:a="http://schemas.openxmlformats.org/drawingml/2006/main">
              <a:ext uri="{FF2B5EF4-FFF2-40B4-BE49-F238E27FC236}">
                <a16:creationId xmlns:a16="http://schemas.microsoft.com/office/drawing/2014/main" id="{5FA470CF-9B7B-4FAE-B1E8-73FE55B1FFEA}"/>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2C3C06B9-685F-445D-8E7A-11A5C0177FDA}"/>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DEAL SHAPE  ·  FIXED-BID IMPLEMENTATION, PRODUCT-BASED DELIVERY</a:t>
            </a:r>
            <a:endParaRPr sz="800"/>
          </a:p>
        </p:txBody>
      </p:sp>
      <p:sp>
        <p:nvSpPr>
          <p:cNvPr id="21" name="Text 19">
            <a:extLst xmlns:a="http://schemas.openxmlformats.org/drawingml/2006/main">
              <a:ext uri="{FF2B5EF4-FFF2-40B4-BE49-F238E27FC236}">
                <a16:creationId xmlns:a16="http://schemas.microsoft.com/office/drawing/2014/main" id="{64893D64-2B53-402E-AB5A-C5BF1E9633EA}"/>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Client requires a bespoke in-house build with full ownership    ·    supplier delivers a configured product and retains it</a:t>
            </a:r>
            <a:endParaRPr sz="1050"/>
          </a:p>
        </p:txBody>
      </p:sp>
      <p:sp>
        <p:nvSpPr>
          <p:cNvPr id="22" name="Text 20">
            <a:extLst xmlns:a="http://schemas.openxmlformats.org/drawingml/2006/main">
              <a:ext uri="{FF2B5EF4-FFF2-40B4-BE49-F238E27FC236}">
                <a16:creationId xmlns:a16="http://schemas.microsoft.com/office/drawing/2014/main" id="{10A234F5-CD7E-424C-804A-F1B53DA9D1E9}"/>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Commercial analysis authored for leadership deal review  ·  2026</a:t>
            </a:r>
            <a:endParaRPr sz="1200"/>
          </a:p>
        </p:txBody>
      </p:sp>
      <p:sp>
        <p:nvSpPr>
          <p:cNvPr id="23" name="Text 21">
            <a:extLst xmlns:a="http://schemas.openxmlformats.org/drawingml/2006/main">
              <a:ext uri="{FF2B5EF4-FFF2-40B4-BE49-F238E27FC236}">
                <a16:creationId xmlns:a16="http://schemas.microsoft.com/office/drawing/2014/main" id="{78731AD5-5D2A-44DD-8F60-B66CE0B16755}"/>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Client, vendor and incumbent positions are generalised into clause families. No live negotiating position, price or outcome is disclosed.</a:t>
            </a:r>
            <a:endParaRPr sz="850"/>
          </a:p>
        </p:txBody>
      </p:sp>
    </p:spTree>
    <p:extLst>
      <p:ext uri="{BB962C8B-B14F-4D97-AF65-F5344CB8AC3E}">
        <p14:creationId xmlns:p14="http://schemas.microsoft.com/office/powerpoint/2010/main" val="1115862480"/>
      </p:ext>
    </p:extLst>
  </p:cSld>
</p:sld>
</file>

<file path=ppt/slides/slide12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FAE4B2-D79B-4028-B149-2628A1E01E7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F8E3923C-5A08-44C8-8FA0-A7B41C04531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Every one of the five has a legitimate interest behind it — which is why they are</a:t>
            </a:r>
            <a:endParaRPr sz="1900"/>
          </a:p>
          <a:p xmlns:a="http://schemas.openxmlformats.org/drawingml/2006/main">
            <a:pPr marL="0" indent="0">
              <a:lnSpc>
                <a:spcPts val="2400"/>
              </a:lnSpc>
              <a:buNone/>
            </a:pPr>
            <a:r>
              <a:rPr sz="1900" b="1">
                <a:solidFill>
                  <a:srgbClr val="102A43"/>
                </a:solidFill>
                <a:latin typeface="Arial"/>
                <a:ea typeface="Arial"/>
                <a:cs typeface="Arial"/>
              </a:rPr>
              <a:t>resolvable by construct, and why treating them as positions makes them permanent</a:t>
            </a:r>
            <a:endParaRPr sz="1900"/>
          </a:p>
        </p:txBody>
      </p:sp>
      <p:sp>
        <p:nvSpPr>
          <p:cNvPr id="4" name="Shape 2">
            <a:extLst xmlns:a="http://schemas.openxmlformats.org/drawingml/2006/main">
              <a:ext uri="{FF2B5EF4-FFF2-40B4-BE49-F238E27FC236}">
                <a16:creationId xmlns:a16="http://schemas.microsoft.com/office/drawing/2014/main" id="{1128F002-C1F3-4050-87F5-1EB109F59B15}"/>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1FE86D5-474C-435F-B701-BE8D710D3F13}"/>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E85C0CA6-1BDF-49B7-8260-D50B6E5B15E5}"/>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fixed-bid implementation for a major insurer, delivered by configuring a product rather than building bespoke software.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Functional fit is strong. Effort, phasing and team shape are agreed in principle. The technical conversation is essentially finished.</a:t>
            </a:r>
            <a:endParaRPr sz="980"/>
          </a:p>
        </p:txBody>
      </p:sp>
      <p:sp>
        <p:nvSpPr>
          <p:cNvPr id="7" name="Shape 5">
            <a:extLst xmlns:a="http://schemas.openxmlformats.org/drawingml/2006/main">
              <a:ext uri="{FF2B5EF4-FFF2-40B4-BE49-F238E27FC236}">
                <a16:creationId xmlns:a16="http://schemas.microsoft.com/office/drawing/2014/main" id="{DC521DCC-1354-4BC8-A017-75363C801853}"/>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150CFB63-0BF0-4AB1-AAFB-1B96B99C3EFF}"/>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2800B088-BEF9-4951-9965-218EA2B0070C}"/>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Five clause families sit at impasse: intellectual-property and source ownership, exit and transfer assistance, refund on termination for cause, step-in rights, and delay penalties.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is stated as a position — the client requires it, the supplier does not accept it. Stated that way, none of them moves, and a deal with strong technical fit stalls at legal review.</a:t>
            </a:r>
            <a:endParaRPr sz="980"/>
          </a:p>
        </p:txBody>
      </p:sp>
      <p:sp>
        <p:nvSpPr>
          <p:cNvPr id="10" name="Shape 8">
            <a:extLst xmlns:a="http://schemas.openxmlformats.org/drawingml/2006/main">
              <a:ext uri="{FF2B5EF4-FFF2-40B4-BE49-F238E27FC236}">
                <a16:creationId xmlns:a16="http://schemas.microsoft.com/office/drawing/2014/main" id="{B4D25E4D-DAF1-4FD4-9BC3-637EF08B0219}"/>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1BB95B9B-B706-406A-8FDE-A49B07CDCF04}"/>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approach</a:t>
            </a:r>
            <a:endParaRPr sz="1250"/>
          </a:p>
        </p:txBody>
      </p:sp>
      <p:sp>
        <p:nvSpPr>
          <p:cNvPr id="12" name="Text 10">
            <a:extLst xmlns:a="http://schemas.openxmlformats.org/drawingml/2006/main">
              <a:ext uri="{FF2B5EF4-FFF2-40B4-BE49-F238E27FC236}">
                <a16:creationId xmlns:a16="http://schemas.microsoft.com/office/drawing/2014/main" id="{B38D7A3C-AFB6-4116-BB9A-39A97C14C286}"/>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Go behind each stated position to the interest it protects. Four of the five turn out to protect interests that a construct can satisfy without either side conceding the position.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fifth is a genuine walk-away test and should be treated as one — assessed on its own, early, rather than discovered at signature.</a:t>
            </a:r>
            <a:endParaRPr sz="980"/>
          </a:p>
        </p:txBody>
      </p:sp>
      <p:sp>
        <p:nvSpPr>
          <p:cNvPr id="13" name="Text 11">
            <a:extLst xmlns:a="http://schemas.openxmlformats.org/drawingml/2006/main">
              <a:ext uri="{FF2B5EF4-FFF2-40B4-BE49-F238E27FC236}">
                <a16:creationId xmlns:a16="http://schemas.microsoft.com/office/drawing/2014/main" id="{6ED83B03-643B-41E8-9F9D-B1D6C99BF8CB}"/>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4FE9FD2A-EBBD-435A-AB38-1FCB349A36AA}"/>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2ADAB49D-464F-497E-B72E-327AA6BD6849}"/>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16" name="Text 14">
            <a:extLst xmlns:a="http://schemas.openxmlformats.org/drawingml/2006/main">
              <a:ext uri="{FF2B5EF4-FFF2-40B4-BE49-F238E27FC236}">
                <a16:creationId xmlns:a16="http://schemas.microsoft.com/office/drawing/2014/main" id="{2DB52677-4F76-4F84-AF56-82930154C41B}"/>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clause families</a:t>
            </a:r>
            <a:endParaRPr sz="860"/>
          </a:p>
        </p:txBody>
      </p:sp>
      <p:sp>
        <p:nvSpPr>
          <p:cNvPr id="17" name="Shape 15">
            <a:extLst xmlns:a="http://schemas.openxmlformats.org/drawingml/2006/main">
              <a:ext uri="{FF2B5EF4-FFF2-40B4-BE49-F238E27FC236}">
                <a16:creationId xmlns:a16="http://schemas.microsoft.com/office/drawing/2014/main" id="{37D6D0E8-0B32-4544-AC1E-44214296486B}"/>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54910905-BBF0-4B66-9F11-DC1482BD46F5}"/>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9" name="Text 17">
            <a:extLst xmlns:a="http://schemas.openxmlformats.org/drawingml/2006/main">
              <a:ext uri="{FF2B5EF4-FFF2-40B4-BE49-F238E27FC236}">
                <a16:creationId xmlns:a16="http://schemas.microsoft.com/office/drawing/2014/main" id="{9BA07829-BF18-45BF-BB6B-F31B0A653BCB}"/>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resolvable by construct</a:t>
            </a:r>
            <a:endParaRPr sz="860"/>
          </a:p>
        </p:txBody>
      </p:sp>
      <p:sp>
        <p:nvSpPr>
          <p:cNvPr id="20" name="Shape 18">
            <a:extLst xmlns:a="http://schemas.openxmlformats.org/drawingml/2006/main">
              <a:ext uri="{FF2B5EF4-FFF2-40B4-BE49-F238E27FC236}">
                <a16:creationId xmlns:a16="http://schemas.microsoft.com/office/drawing/2014/main" id="{EF64284D-9DC7-4EAE-8D04-6A34FE58950B}"/>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81494082-EC3B-4EAD-9DC3-742416B5AAA7}"/>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1B1AA0C1-7FEB-4CCF-B6FA-FBFB108F0C07}"/>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genuine walk-away</a:t>
            </a:r>
            <a:endParaRPr sz="860"/>
          </a:p>
        </p:txBody>
      </p:sp>
      <p:sp>
        <p:nvSpPr>
          <p:cNvPr id="23" name="Shape 21">
            <a:extLst xmlns:a="http://schemas.openxmlformats.org/drawingml/2006/main">
              <a:ext uri="{FF2B5EF4-FFF2-40B4-BE49-F238E27FC236}">
                <a16:creationId xmlns:a16="http://schemas.microsoft.com/office/drawing/2014/main" id="{051F8A09-B7FA-4CF4-B7C0-A10E673847CA}"/>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7F2439C9-6B9B-4FA4-8610-4AE12C9F5DB7}"/>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5" name="Text 23">
            <a:extLst xmlns:a="http://schemas.openxmlformats.org/drawingml/2006/main">
              <a:ext uri="{FF2B5EF4-FFF2-40B4-BE49-F238E27FC236}">
                <a16:creationId xmlns:a16="http://schemas.microsoft.com/office/drawing/2014/main" id="{E5D84E82-33D4-4055-96C7-C298D7201963}"/>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internal contradictions</a:t>
            </a:r>
            <a:endParaRPr sz="860"/>
          </a:p>
        </p:txBody>
      </p:sp>
      <p:sp>
        <p:nvSpPr>
          <p:cNvPr id="26" name="Shape 24">
            <a:extLst xmlns:a="http://schemas.openxmlformats.org/drawingml/2006/main">
              <a:ext uri="{FF2B5EF4-FFF2-40B4-BE49-F238E27FC236}">
                <a16:creationId xmlns:a16="http://schemas.microsoft.com/office/drawing/2014/main" id="{EB533BCE-16E4-4FF5-B9C3-ED449C8E1525}"/>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76C7BB0D-9458-4CB2-BB79-870DFD8A5EC5}"/>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28" name="Text 26">
            <a:extLst xmlns:a="http://schemas.openxmlformats.org/drawingml/2006/main">
              <a:ext uri="{FF2B5EF4-FFF2-40B4-BE49-F238E27FC236}">
                <a16:creationId xmlns:a16="http://schemas.microsoft.com/office/drawing/2014/main" id="{CFDA3557-D2BD-4366-AB88-4E5F9AF52BF6}"/>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watch items behind them</a:t>
            </a:r>
            <a:endParaRPr sz="860"/>
          </a:p>
        </p:txBody>
      </p:sp>
      <p:sp>
        <p:nvSpPr>
          <p:cNvPr id="29" name="Shape 27">
            <a:extLst xmlns:a="http://schemas.openxmlformats.org/drawingml/2006/main">
              <a:ext uri="{FF2B5EF4-FFF2-40B4-BE49-F238E27FC236}">
                <a16:creationId xmlns:a16="http://schemas.microsoft.com/office/drawing/2014/main" id="{1F3375F2-0D24-4A7F-8498-128F7734630C}"/>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7E6D1214-CC21-4F5F-8043-E2629E4EDAE8}"/>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31" name="Text 29">
            <a:extLst xmlns:a="http://schemas.openxmlformats.org/drawingml/2006/main">
              <a:ext uri="{FF2B5EF4-FFF2-40B4-BE49-F238E27FC236}">
                <a16:creationId xmlns:a16="http://schemas.microsoft.com/office/drawing/2014/main" id="{7F3F1CC7-C3BC-45AE-87B2-C0AABB036347}"/>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that improve after signature</a:t>
            </a:r>
            <a:endParaRPr sz="860"/>
          </a:p>
        </p:txBody>
      </p:sp>
      <p:sp>
        <p:nvSpPr>
          <p:cNvPr id="32" name="Text 30">
            <a:extLst xmlns:a="http://schemas.openxmlformats.org/drawingml/2006/main">
              <a:ext uri="{FF2B5EF4-FFF2-40B4-BE49-F238E27FC236}">
                <a16:creationId xmlns:a16="http://schemas.microsoft.com/office/drawing/2014/main" id="{81273B1A-C3C3-4B3E-AAA4-7AC501DE33FD}"/>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discipline this argues for:  commercial terms are assessed in parallel with the solution, not after it. A clause family raised in week two is a design constraint; the same clause raised at contract review is a stalled deal with sunk bid cost behind it.</a:t>
            </a:r>
            <a:endParaRPr sz="1000"/>
          </a:p>
        </p:txBody>
      </p:sp>
      <p:sp>
        <p:nvSpPr>
          <p:cNvPr id="33" name="Shape 31">
            <a:extLst xmlns:a="http://schemas.openxmlformats.org/drawingml/2006/main">
              <a:ext uri="{FF2B5EF4-FFF2-40B4-BE49-F238E27FC236}">
                <a16:creationId xmlns:a16="http://schemas.microsoft.com/office/drawing/2014/main" id="{4AFFA424-7A0E-471C-A1F1-3DF72BE19D5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2A9A7571-2B5F-47A6-98A7-4516B1FC349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35" name="Text 33">
            <a:extLst xmlns:a="http://schemas.openxmlformats.org/drawingml/2006/main">
              <a:ext uri="{FF2B5EF4-FFF2-40B4-BE49-F238E27FC236}">
                <a16:creationId xmlns:a16="http://schemas.microsoft.com/office/drawing/2014/main" id="{C1E6C53C-F115-4472-918D-72AFEFF4634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354872041"/>
      </p:ext>
    </p:extLst>
  </p:cSld>
</p:sld>
</file>

<file path=ppt/slides/slide1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F1CBF5D-FD92-4876-8222-EDBEF0ED619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41C7CBF6-E88E-4AE1-B723-113502CF7CB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Clause families are generalised from a real negotiation; the interests, constructs and</a:t>
            </a:r>
            <a:endParaRPr sz="1900"/>
          </a:p>
          <a:p xmlns:a="http://schemas.openxmlformats.org/drawingml/2006/main">
            <a:pPr marL="0" indent="0">
              <a:lnSpc>
                <a:spcPts val="2400"/>
              </a:lnSpc>
              <a:buNone/>
            </a:pPr>
            <a:r>
              <a:rPr sz="1900" b="1">
                <a:solidFill>
                  <a:srgbClr val="102A43"/>
                </a:solidFill>
                <a:latin typeface="Arial"/>
                <a:ea typeface="Arial"/>
                <a:cs typeface="Arial"/>
              </a:rPr>
              <a:t>sequencing are analysis, and no live position or outcome is disclosed</a:t>
            </a:r>
            <a:endParaRPr sz="1900"/>
          </a:p>
        </p:txBody>
      </p:sp>
      <p:sp>
        <p:nvSpPr>
          <p:cNvPr id="4" name="Shape 2">
            <a:extLst xmlns:a="http://schemas.openxmlformats.org/drawingml/2006/main">
              <a:ext uri="{FF2B5EF4-FFF2-40B4-BE49-F238E27FC236}">
                <a16:creationId xmlns:a16="http://schemas.microsoft.com/office/drawing/2014/main" id="{7D79B91D-6A69-4273-9BB4-5C36F6967FF6}"/>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8B95AEF3-FC7A-4BF4-BF63-59C84692174B}"/>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4FE1D023-10F5-408F-A491-EBD42406C3E8}"/>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GENERALISED</a:t>
            </a:r>
            <a:endParaRPr sz="740"/>
          </a:p>
        </p:txBody>
      </p:sp>
      <p:sp>
        <p:nvSpPr>
          <p:cNvPr id="7" name="Text 5">
            <a:extLst xmlns:a="http://schemas.openxmlformats.org/drawingml/2006/main">
              <a:ext uri="{FF2B5EF4-FFF2-40B4-BE49-F238E27FC236}">
                <a16:creationId xmlns:a16="http://schemas.microsoft.com/office/drawing/2014/main" id="{64B9126A-B964-47C0-8CD4-243F2AD3B264}"/>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Deal context</a:t>
            </a:r>
            <a:endParaRPr sz="1200"/>
          </a:p>
        </p:txBody>
      </p:sp>
      <p:sp>
        <p:nvSpPr>
          <p:cNvPr id="8" name="Text 6">
            <a:extLst xmlns:a="http://schemas.openxmlformats.org/drawingml/2006/main">
              <a:ext uri="{FF2B5EF4-FFF2-40B4-BE49-F238E27FC236}">
                <a16:creationId xmlns:a16="http://schemas.microsoft.com/office/drawing/2014/main" id="{3E21BFA0-B2B1-4D0B-8ACC-AE91CED1F9F1}"/>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shape of the commercial impasse, generalised from a fixed-bid product implementation in insurance distribution.</a:t>
            </a:r>
            <a:endParaRPr sz="920"/>
          </a:p>
        </p:txBody>
      </p:sp>
      <p:sp>
        <p:nvSpPr>
          <p:cNvPr id="9" name="Shape 7">
            <a:extLst xmlns:a="http://schemas.openxmlformats.org/drawingml/2006/main">
              <a:ext uri="{FF2B5EF4-FFF2-40B4-BE49-F238E27FC236}">
                <a16:creationId xmlns:a16="http://schemas.microsoft.com/office/drawing/2014/main" id="{223C10DF-86F7-4525-A113-672771DB898A}"/>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924EDC97-D9FD-4290-860B-BA80BCA79453}"/>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Fixed-bid, product-based delivery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Client seeks bespoke-build terms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clause families at impasse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Two watch items behind them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Multi-year term with hypercare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Named and retained team required</a:t>
            </a:r>
            <a:endParaRPr sz="930"/>
          </a:p>
        </p:txBody>
      </p:sp>
      <p:sp>
        <p:nvSpPr>
          <p:cNvPr id="11" name="Shape 9">
            <a:extLst xmlns:a="http://schemas.openxmlformats.org/drawingml/2006/main">
              <a:ext uri="{FF2B5EF4-FFF2-40B4-BE49-F238E27FC236}">
                <a16:creationId xmlns:a16="http://schemas.microsoft.com/office/drawing/2014/main" id="{F0E8ABF8-EED5-42F2-B0F4-010CBF3DF7DD}"/>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E01487AA-E7FC-45DA-B372-7CD3985BF4EE}"/>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A3286D18-1B56-4F41-AAE8-B382D0A83078}"/>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COMMERCIAL ANALYSIS</a:t>
            </a:r>
            <a:endParaRPr sz="740"/>
          </a:p>
        </p:txBody>
      </p:sp>
      <p:sp>
        <p:nvSpPr>
          <p:cNvPr id="14" name="Text 12">
            <a:extLst xmlns:a="http://schemas.openxmlformats.org/drawingml/2006/main">
              <a:ext uri="{FF2B5EF4-FFF2-40B4-BE49-F238E27FC236}">
                <a16:creationId xmlns:a16="http://schemas.microsoft.com/office/drawing/2014/main" id="{8675E0F2-9BF0-4418-8EDA-09D5147BD395}"/>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F76617CB-B138-4A68-8D57-082FBA689193}"/>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interest analysis behind each position, the resolving constructs, the contradiction findings and the negotiation sequence.</a:t>
            </a:r>
            <a:endParaRPr sz="920"/>
          </a:p>
        </p:txBody>
      </p:sp>
      <p:sp>
        <p:nvSpPr>
          <p:cNvPr id="16" name="Shape 14">
            <a:extLst xmlns:a="http://schemas.openxmlformats.org/drawingml/2006/main">
              <a:ext uri="{FF2B5EF4-FFF2-40B4-BE49-F238E27FC236}">
                <a16:creationId xmlns:a16="http://schemas.microsoft.com/office/drawing/2014/main" id="{3B2BEA7C-580F-46A2-A5B1-6EA757C0CC0E}"/>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0BA3CE0C-BEDA-4C81-8761-702625CF419D}"/>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Position-to-interest mapping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Resolving construct per family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Contradiction identification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Concession sequencing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Walk-away test definition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Decision framework for leadership</a:t>
            </a:r>
            <a:endParaRPr sz="930"/>
          </a:p>
        </p:txBody>
      </p:sp>
      <p:sp>
        <p:nvSpPr>
          <p:cNvPr id="18" name="Shape 16">
            <a:extLst xmlns:a="http://schemas.openxmlformats.org/drawingml/2006/main">
              <a:ext uri="{FF2B5EF4-FFF2-40B4-BE49-F238E27FC236}">
                <a16:creationId xmlns:a16="http://schemas.microsoft.com/office/drawing/2014/main" id="{FEFBFCC3-D9A7-4D1D-A953-B16E22D62CA3}"/>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F479AAFE-B7F6-4B09-A724-EEDC7AF1613B}"/>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438B9E90-A17F-4208-A74A-B6B6FCA09FEA}"/>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JUDGEMENT</a:t>
            </a:r>
            <a:endParaRPr sz="740"/>
          </a:p>
        </p:txBody>
      </p:sp>
      <p:sp>
        <p:nvSpPr>
          <p:cNvPr id="21" name="Text 19">
            <a:extLst xmlns:a="http://schemas.openxmlformats.org/drawingml/2006/main">
              <a:ext uri="{FF2B5EF4-FFF2-40B4-BE49-F238E27FC236}">
                <a16:creationId xmlns:a16="http://schemas.microsoft.com/office/drawing/2014/main" id="{78BBB0D7-ECD9-4E46-A6EA-840A250B5D10}"/>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Assessed</a:t>
            </a:r>
            <a:endParaRPr sz="1200"/>
          </a:p>
        </p:txBody>
      </p:sp>
      <p:sp>
        <p:nvSpPr>
          <p:cNvPr id="22" name="Text 20">
            <a:extLst xmlns:a="http://schemas.openxmlformats.org/drawingml/2006/main">
              <a:ext uri="{FF2B5EF4-FFF2-40B4-BE49-F238E27FC236}">
                <a16:creationId xmlns:a16="http://schemas.microsoft.com/office/drawing/2014/main" id="{CC404B7F-D9BB-4D73-BA7C-D3FDF9D09474}"/>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Severity ratings and sequencing are commercial judgement, not legal advice and not a firm's standard position.</a:t>
            </a:r>
            <a:endParaRPr sz="920"/>
          </a:p>
        </p:txBody>
      </p:sp>
      <p:sp>
        <p:nvSpPr>
          <p:cNvPr id="23" name="Shape 21">
            <a:extLst xmlns:a="http://schemas.openxmlformats.org/drawingml/2006/main">
              <a:ext uri="{FF2B5EF4-FFF2-40B4-BE49-F238E27FC236}">
                <a16:creationId xmlns:a16="http://schemas.microsoft.com/office/drawing/2014/main" id="{813E7040-11E5-4505-AD07-105B0C2ED0FE}"/>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233212C6-D867-4A6F-B47C-F154B2E094AC}"/>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Severity and movability ratings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Recommended concession order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Construct suitability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legal advice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firm's policy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45ED1796-1E82-474F-9BB1-1AB62375C555}"/>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70D582B1-9A00-4D98-BC84-A14B2D32D3B7}"/>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21F43AED-40ED-4190-9204-E66EC864ED81}"/>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24478566-6EA8-4DB2-B53A-3B7A7CA16B35}"/>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04ABC70F-BD0A-4646-8C9F-1722644064BA}"/>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Deliberately excluded. This is a method deck about clause structure, not a record of a negotiation.</a:t>
            </a:r>
            <a:endParaRPr sz="920"/>
          </a:p>
        </p:txBody>
      </p:sp>
      <p:sp>
        <p:nvSpPr>
          <p:cNvPr id="30" name="Shape 28">
            <a:extLst xmlns:a="http://schemas.openxmlformats.org/drawingml/2006/main">
              <a:ext uri="{FF2B5EF4-FFF2-40B4-BE49-F238E27FC236}">
                <a16:creationId xmlns:a16="http://schemas.microsoft.com/office/drawing/2014/main" id="{73A6AE1C-3F2D-41B4-8EF6-0E4A50571137}"/>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41B9E3FB-14C5-4E6C-96CB-6D2036041DF6}"/>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party's actual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price, rate or liability figure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How the negotiation concluded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Whether the deal was signed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contract or legal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counsel's opinion</a:t>
            </a:r>
            <a:endParaRPr sz="930"/>
          </a:p>
        </p:txBody>
      </p:sp>
      <p:sp>
        <p:nvSpPr>
          <p:cNvPr id="32" name="Shape 30">
            <a:extLst xmlns:a="http://schemas.openxmlformats.org/drawingml/2006/main">
              <a:ext uri="{FF2B5EF4-FFF2-40B4-BE49-F238E27FC236}">
                <a16:creationId xmlns:a16="http://schemas.microsoft.com/office/drawing/2014/main" id="{C647D44E-5831-4737-A50E-6EB01DF3938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7B684351-F2C4-452C-AF92-A402A22FA7C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 clause structures generalised, no live position disclosed</a:t>
            </a:r>
            <a:endParaRPr sz="850"/>
          </a:p>
        </p:txBody>
      </p:sp>
      <p:sp>
        <p:nvSpPr>
          <p:cNvPr id="34" name="Text 32">
            <a:extLst xmlns:a="http://schemas.openxmlformats.org/drawingml/2006/main">
              <a:ext uri="{FF2B5EF4-FFF2-40B4-BE49-F238E27FC236}">
                <a16:creationId xmlns:a16="http://schemas.microsoft.com/office/drawing/2014/main" id="{74BE7005-B776-4C30-B6AA-5925FF8AD9C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416950037"/>
      </p:ext>
    </p:extLst>
  </p:cSld>
</p:sld>
</file>

<file path=ppt/slides/slide13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0064258-E6AE-4B40-9542-F3BE001F2FC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IMPASSE</a:t>
            </a:r>
            <a:endParaRPr sz="950"/>
          </a:p>
        </p:txBody>
      </p:sp>
      <p:sp>
        <p:nvSpPr>
          <p:cNvPr id="3" name="Text 1">
            <a:extLst xmlns:a="http://schemas.openxmlformats.org/drawingml/2006/main">
              <a:ext uri="{FF2B5EF4-FFF2-40B4-BE49-F238E27FC236}">
                <a16:creationId xmlns:a16="http://schemas.microsoft.com/office/drawing/2014/main" id="{3EE4DC9B-4AD2-41BB-832A-6CA7F222176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clause families, each asked for a reason and each resisted for a reason — none</a:t>
            </a:r>
            <a:endParaRPr sz="1900"/>
          </a:p>
          <a:p xmlns:a="http://schemas.openxmlformats.org/drawingml/2006/main">
            <a:pPr marL="0" indent="0">
              <a:lnSpc>
                <a:spcPts val="2400"/>
              </a:lnSpc>
              <a:buNone/>
            </a:pPr>
            <a:r>
              <a:rPr sz="1900" b="1">
                <a:solidFill>
                  <a:srgbClr val="102A43"/>
                </a:solidFill>
                <a:latin typeface="Arial"/>
                <a:ea typeface="Arial"/>
                <a:cs typeface="Arial"/>
              </a:rPr>
              <a:t>of which is visible while both sides state positions</a:t>
            </a:r>
            <a:endParaRPr sz="1900"/>
          </a:p>
        </p:txBody>
      </p:sp>
      <p:sp>
        <p:nvSpPr>
          <p:cNvPr id="4" name="Shape 2">
            <a:extLst xmlns:a="http://schemas.openxmlformats.org/drawingml/2006/main">
              <a:ext uri="{FF2B5EF4-FFF2-40B4-BE49-F238E27FC236}">
                <a16:creationId xmlns:a16="http://schemas.microsoft.com/office/drawing/2014/main" id="{DF990880-0614-4CC7-AF9A-1489FC8F4286}"/>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C86DDFB9-4A3D-4BE1-80B6-1E5979DE6B71}"/>
              </a:ext>
            </a:extLst>
          </p:cNvPr>
          <p:cNvSpPr>
            <a:spLocks xmlns:a="http://schemas.openxmlformats.org/drawingml/2006/main" noGrp="1"/>
          </p:cNvSpPr>
          <p:nvPr/>
        </p:nvSpPr>
        <p:spPr>
          <a:xfrm xmlns:a="http://schemas.openxmlformats.org/drawingml/2006/main">
            <a:off x="676656" y="1444752"/>
            <a:ext cx="25237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Clause family</a:t>
            </a:r>
            <a:endParaRPr sz="920"/>
          </a:p>
        </p:txBody>
      </p:sp>
      <p:sp>
        <p:nvSpPr>
          <p:cNvPr id="6" name="Text 4">
            <a:extLst xmlns:a="http://schemas.openxmlformats.org/drawingml/2006/main">
              <a:ext uri="{FF2B5EF4-FFF2-40B4-BE49-F238E27FC236}">
                <a16:creationId xmlns:a16="http://schemas.microsoft.com/office/drawing/2014/main" id="{5AC10191-3A84-4DE3-9546-A59949AC13D9}"/>
              </a:ext>
            </a:extLst>
          </p:cNvPr>
          <p:cNvSpPr>
            <a:spLocks xmlns:a="http://schemas.openxmlformats.org/drawingml/2006/main" noGrp="1"/>
          </p:cNvSpPr>
          <p:nvPr/>
        </p:nvSpPr>
        <p:spPr>
          <a:xfrm xmlns:a="http://schemas.openxmlformats.org/drawingml/2006/main">
            <a:off x="351129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the client asks for</a:t>
            </a:r>
            <a:endParaRPr sz="920"/>
          </a:p>
        </p:txBody>
      </p:sp>
      <p:sp>
        <p:nvSpPr>
          <p:cNvPr id="7" name="Text 5">
            <a:extLst xmlns:a="http://schemas.openxmlformats.org/drawingml/2006/main">
              <a:ext uri="{FF2B5EF4-FFF2-40B4-BE49-F238E27FC236}">
                <a16:creationId xmlns:a16="http://schemas.microsoft.com/office/drawing/2014/main" id="{81506886-092A-458A-8D3F-C55DF4515E64}"/>
              </a:ext>
            </a:extLst>
          </p:cNvPr>
          <p:cNvSpPr>
            <a:spLocks xmlns:a="http://schemas.openxmlformats.org/drawingml/2006/main" noGrp="1"/>
          </p:cNvSpPr>
          <p:nvPr/>
        </p:nvSpPr>
        <p:spPr>
          <a:xfrm xmlns:a="http://schemas.openxmlformats.org/drawingml/2006/main">
            <a:off x="652881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a product supplier resists</a:t>
            </a:r>
            <a:endParaRPr sz="920"/>
          </a:p>
        </p:txBody>
      </p:sp>
      <p:sp>
        <p:nvSpPr>
          <p:cNvPr id="8" name="Text 6">
            <a:extLst xmlns:a="http://schemas.openxmlformats.org/drawingml/2006/main">
              <a:ext uri="{FF2B5EF4-FFF2-40B4-BE49-F238E27FC236}">
                <a16:creationId xmlns:a16="http://schemas.microsoft.com/office/drawing/2014/main" id="{D5747F25-4F26-46A7-AF08-23F089DFC6C7}"/>
              </a:ext>
            </a:extLst>
          </p:cNvPr>
          <p:cNvSpPr>
            <a:spLocks xmlns:a="http://schemas.openxmlformats.org/drawingml/2006/main" noGrp="1"/>
          </p:cNvSpPr>
          <p:nvPr/>
        </p:nvSpPr>
        <p:spPr>
          <a:xfrm xmlns:a="http://schemas.openxmlformats.org/drawingml/2006/main">
            <a:off x="9546336" y="1444752"/>
            <a:ext cx="11521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Movability</a:t>
            </a:r>
            <a:endParaRPr sz="920"/>
          </a:p>
        </p:txBody>
      </p:sp>
      <p:sp>
        <p:nvSpPr>
          <p:cNvPr id="9" name="Text 7">
            <a:extLst xmlns:a="http://schemas.openxmlformats.org/drawingml/2006/main">
              <a:ext uri="{FF2B5EF4-FFF2-40B4-BE49-F238E27FC236}">
                <a16:creationId xmlns:a16="http://schemas.microsoft.com/office/drawing/2014/main" id="{3AD203EC-63E6-4ACC-81B2-1CE62DD62CA8}"/>
              </a:ext>
            </a:extLst>
          </p:cNvPr>
          <p:cNvSpPr>
            <a:spLocks xmlns:a="http://schemas.openxmlformats.org/drawingml/2006/main" noGrp="1"/>
          </p:cNvSpPr>
          <p:nvPr/>
        </p:nvSpPr>
        <p:spPr>
          <a:xfrm xmlns:a="http://schemas.openxmlformats.org/drawingml/2006/main">
            <a:off x="11009376" y="1444752"/>
            <a:ext cx="5029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endParaRPr sz="920"/>
          </a:p>
        </p:txBody>
      </p:sp>
      <p:sp>
        <p:nvSpPr>
          <p:cNvPr id="10" name="Text 8">
            <a:extLst xmlns:a="http://schemas.openxmlformats.org/drawingml/2006/main">
              <a:ext uri="{FF2B5EF4-FFF2-40B4-BE49-F238E27FC236}">
                <a16:creationId xmlns:a16="http://schemas.microsoft.com/office/drawing/2014/main" id="{99DB8CDB-6C82-4AFC-A677-F4BF9A38F250}"/>
              </a:ext>
            </a:extLst>
          </p:cNvPr>
          <p:cNvSpPr>
            <a:spLocks xmlns:a="http://schemas.openxmlformats.org/drawingml/2006/main" noGrp="1"/>
          </p:cNvSpPr>
          <p:nvPr/>
        </p:nvSpPr>
        <p:spPr>
          <a:xfrm xmlns:a="http://schemas.openxmlformats.org/drawingml/2006/main">
            <a:off x="676656" y="1847088"/>
            <a:ext cx="2523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Intellectual property and source</a:t>
            </a:r>
            <a:endParaRPr sz="980"/>
          </a:p>
        </p:txBody>
      </p:sp>
      <p:sp>
        <p:nvSpPr>
          <p:cNvPr id="11" name="Text 9">
            <a:extLst xmlns:a="http://schemas.openxmlformats.org/drawingml/2006/main">
              <a:ext uri="{FF2B5EF4-FFF2-40B4-BE49-F238E27FC236}">
                <a16:creationId xmlns:a16="http://schemas.microsoft.com/office/drawing/2014/main" id="{A45FFF82-3EC7-4863-86D7-D733AABD08CB}"/>
              </a:ext>
            </a:extLst>
          </p:cNvPr>
          <p:cNvSpPr>
            <a:spLocks xmlns:a="http://schemas.openxmlformats.org/drawingml/2006/main" noGrp="1"/>
          </p:cNvSpPr>
          <p:nvPr/>
        </p:nvSpPr>
        <p:spPr>
          <a:xfrm xmlns:a="http://schemas.openxmlformats.org/drawingml/2006/main">
            <a:off x="3511296" y="1847088"/>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All intellectual property and source code vest in the client</a:t>
            </a:r>
            <a:endParaRPr sz="920"/>
          </a:p>
        </p:txBody>
      </p:sp>
      <p:sp>
        <p:nvSpPr>
          <p:cNvPr id="12" name="Text 10">
            <a:extLst xmlns:a="http://schemas.openxmlformats.org/drawingml/2006/main">
              <a:ext uri="{FF2B5EF4-FFF2-40B4-BE49-F238E27FC236}">
                <a16:creationId xmlns:a16="http://schemas.microsoft.com/office/drawing/2014/main" id="{1E68DEB1-16F2-4238-A06B-6BF918845F9D}"/>
              </a:ext>
            </a:extLst>
          </p:cNvPr>
          <p:cNvSpPr>
            <a:spLocks xmlns:a="http://schemas.openxmlformats.org/drawingml/2006/main" noGrp="1"/>
          </p:cNvSpPr>
          <p:nvPr/>
        </p:nvSpPr>
        <p:spPr>
          <a:xfrm xmlns:a="http://schemas.openxmlformats.org/drawingml/2006/main">
            <a:off x="6528816" y="1847088"/>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Handing over a platform also sold to the client's competitors</a:t>
            </a:r>
            <a:endParaRPr sz="920"/>
          </a:p>
        </p:txBody>
      </p:sp>
      <p:sp>
        <p:nvSpPr>
          <p:cNvPr id="13" name="Text 11">
            <a:extLst xmlns:a="http://schemas.openxmlformats.org/drawingml/2006/main">
              <a:ext uri="{FF2B5EF4-FFF2-40B4-BE49-F238E27FC236}">
                <a16:creationId xmlns:a16="http://schemas.microsoft.com/office/drawing/2014/main" id="{1EA99BE8-79E3-4182-BE3B-E64DEDA11156}"/>
              </a:ext>
            </a:extLst>
          </p:cNvPr>
          <p:cNvSpPr>
            <a:spLocks xmlns:a="http://schemas.openxmlformats.org/drawingml/2006/main" noGrp="1"/>
          </p:cNvSpPr>
          <p:nvPr/>
        </p:nvSpPr>
        <p:spPr>
          <a:xfrm xmlns:a="http://schemas.openxmlformats.org/drawingml/2006/main">
            <a:off x="9546336" y="1847088"/>
            <a:ext cx="1152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By construct</a:t>
            </a:r>
            <a:endParaRPr sz="940"/>
          </a:p>
        </p:txBody>
      </p:sp>
      <p:sp>
        <p:nvSpPr>
          <p:cNvPr id="14" name="Shape 12">
            <a:extLst xmlns:a="http://schemas.openxmlformats.org/drawingml/2006/main">
              <a:ext uri="{FF2B5EF4-FFF2-40B4-BE49-F238E27FC236}">
                <a16:creationId xmlns:a16="http://schemas.microsoft.com/office/drawing/2014/main" id="{4706455E-6A69-4261-92D1-807EA3A52BE1}"/>
              </a:ext>
            </a:extLst>
          </p:cNvPr>
          <p:cNvSpPr>
            <a:spLocks xmlns:a="http://schemas.openxmlformats.org/drawingml/2006/main" noGrp="1"/>
          </p:cNvSpPr>
          <p:nvPr/>
        </p:nvSpPr>
        <p:spPr>
          <a:xfrm xmlns:a="http://schemas.openxmlformats.org/drawingml/2006/main">
            <a:off x="566928" y="2267712"/>
            <a:ext cx="11057839" cy="7315"/>
          </a:xfrm>
          <a:prstGeom xmlns:a="http://schemas.openxmlformats.org/drawingml/2006/main" prst="rect">
            <a:avLst/>
          </a:prstGeom>
          <a:solidFill xmlns:a="http://schemas.openxmlformats.org/drawingml/2006/main">
            <a:srgbClr val="CBD5E0"/>
          </a:solidFill>
        </p:spPr>
      </p:sp>
      <p:sp>
        <p:nvSpPr>
          <p:cNvPr id="15" name="Shape 13">
            <a:extLst xmlns:a="http://schemas.openxmlformats.org/drawingml/2006/main">
              <a:ext uri="{FF2B5EF4-FFF2-40B4-BE49-F238E27FC236}">
                <a16:creationId xmlns:a16="http://schemas.microsoft.com/office/drawing/2014/main" id="{F95804C8-B140-4F9D-ABFB-DFD376840524}"/>
              </a:ext>
            </a:extLst>
          </p:cNvPr>
          <p:cNvSpPr>
            <a:spLocks xmlns:a="http://schemas.openxmlformats.org/drawingml/2006/main" noGrp="1"/>
          </p:cNvSpPr>
          <p:nvPr/>
        </p:nvSpPr>
        <p:spPr>
          <a:xfrm xmlns:a="http://schemas.openxmlformats.org/drawingml/2006/main">
            <a:off x="566928" y="2267712"/>
            <a:ext cx="11057839" cy="566928"/>
          </a:xfrm>
          <a:prstGeom xmlns:a="http://schemas.openxmlformats.org/drawingml/2006/main" prst="rect">
            <a:avLst/>
          </a:prstGeom>
          <a:solidFill xmlns:a="http://schemas.openxmlformats.org/drawingml/2006/main">
            <a:srgbClr val="F7F9FB"/>
          </a:solidFill>
        </p:spPr>
      </p:sp>
      <p:sp>
        <p:nvSpPr>
          <p:cNvPr id="16" name="Text 14">
            <a:extLst xmlns:a="http://schemas.openxmlformats.org/drawingml/2006/main">
              <a:ext uri="{FF2B5EF4-FFF2-40B4-BE49-F238E27FC236}">
                <a16:creationId xmlns:a16="http://schemas.microsoft.com/office/drawing/2014/main" id="{127F7580-5149-4948-BEDB-F0CC9B35F756}"/>
              </a:ext>
            </a:extLst>
          </p:cNvPr>
          <p:cNvSpPr>
            <a:spLocks xmlns:a="http://schemas.openxmlformats.org/drawingml/2006/main" noGrp="1"/>
          </p:cNvSpPr>
          <p:nvPr/>
        </p:nvSpPr>
        <p:spPr>
          <a:xfrm xmlns:a="http://schemas.openxmlformats.org/drawingml/2006/main">
            <a:off x="676656" y="2414016"/>
            <a:ext cx="2523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Exit and transfer assistance</a:t>
            </a:r>
            <a:endParaRPr sz="980"/>
          </a:p>
        </p:txBody>
      </p:sp>
      <p:sp>
        <p:nvSpPr>
          <p:cNvPr id="17" name="Text 15">
            <a:extLst xmlns:a="http://schemas.openxmlformats.org/drawingml/2006/main">
              <a:ext uri="{FF2B5EF4-FFF2-40B4-BE49-F238E27FC236}">
                <a16:creationId xmlns:a16="http://schemas.microsoft.com/office/drawing/2014/main" id="{C47C87FB-3500-4C3B-85D5-15CBBC4E8D79}"/>
              </a:ext>
            </a:extLst>
          </p:cNvPr>
          <p:cNvSpPr>
            <a:spLocks xmlns:a="http://schemas.openxmlformats.org/drawingml/2006/main" noGrp="1"/>
          </p:cNvSpPr>
          <p:nvPr/>
        </p:nvSpPr>
        <p:spPr>
          <a:xfrm xmlns:a="http://schemas.openxmlformats.org/drawingml/2006/main">
            <a:off x="3511296" y="2414016"/>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Full transition support to the client or a successor at no cost</a:t>
            </a:r>
            <a:endParaRPr sz="920"/>
          </a:p>
        </p:txBody>
      </p:sp>
      <p:sp>
        <p:nvSpPr>
          <p:cNvPr id="18" name="Text 16">
            <a:extLst xmlns:a="http://schemas.openxmlformats.org/drawingml/2006/main">
              <a:ext uri="{FF2B5EF4-FFF2-40B4-BE49-F238E27FC236}">
                <a16:creationId xmlns:a16="http://schemas.microsoft.com/office/drawing/2014/main" id="{DEE61B27-C2E4-45F5-908F-D5A6189E6E77}"/>
              </a:ext>
            </a:extLst>
          </p:cNvPr>
          <p:cNvSpPr>
            <a:spLocks xmlns:a="http://schemas.openxmlformats.org/drawingml/2006/main" noGrp="1"/>
          </p:cNvSpPr>
          <p:nvPr/>
        </p:nvSpPr>
        <p:spPr>
          <a:xfrm xmlns:a="http://schemas.openxmlformats.org/drawingml/2006/main">
            <a:off x="6528816" y="2414016"/>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Open-ended obligation with no cap on effort or duration</a:t>
            </a:r>
            <a:endParaRPr sz="920"/>
          </a:p>
        </p:txBody>
      </p:sp>
      <p:sp>
        <p:nvSpPr>
          <p:cNvPr id="19" name="Text 17">
            <a:extLst xmlns:a="http://schemas.openxmlformats.org/drawingml/2006/main">
              <a:ext uri="{FF2B5EF4-FFF2-40B4-BE49-F238E27FC236}">
                <a16:creationId xmlns:a16="http://schemas.microsoft.com/office/drawing/2014/main" id="{D7C1DC38-4E1A-48EE-9F1F-761FC07A9185}"/>
              </a:ext>
            </a:extLst>
          </p:cNvPr>
          <p:cNvSpPr>
            <a:spLocks xmlns:a="http://schemas.openxmlformats.org/drawingml/2006/main" noGrp="1"/>
          </p:cNvSpPr>
          <p:nvPr/>
        </p:nvSpPr>
        <p:spPr>
          <a:xfrm xmlns:a="http://schemas.openxmlformats.org/drawingml/2006/main">
            <a:off x="9546336" y="2414016"/>
            <a:ext cx="1152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By construct</a:t>
            </a:r>
            <a:endParaRPr sz="940"/>
          </a:p>
        </p:txBody>
      </p:sp>
      <p:sp>
        <p:nvSpPr>
          <p:cNvPr id="20" name="Shape 18">
            <a:extLst xmlns:a="http://schemas.openxmlformats.org/drawingml/2006/main">
              <a:ext uri="{FF2B5EF4-FFF2-40B4-BE49-F238E27FC236}">
                <a16:creationId xmlns:a16="http://schemas.microsoft.com/office/drawing/2014/main" id="{E6827203-09E2-46A0-9800-0C98189CD26C}"/>
              </a:ext>
            </a:extLst>
          </p:cNvPr>
          <p:cNvSpPr>
            <a:spLocks xmlns:a="http://schemas.openxmlformats.org/drawingml/2006/main" noGrp="1"/>
          </p:cNvSpPr>
          <p:nvPr/>
        </p:nvSpPr>
        <p:spPr>
          <a:xfrm xmlns:a="http://schemas.openxmlformats.org/drawingml/2006/main">
            <a:off x="566928" y="2834640"/>
            <a:ext cx="11057839" cy="7315"/>
          </a:xfrm>
          <a:prstGeom xmlns:a="http://schemas.openxmlformats.org/drawingml/2006/main" prst="rect">
            <a:avLst/>
          </a:prstGeom>
          <a:solidFill xmlns:a="http://schemas.openxmlformats.org/drawingml/2006/main">
            <a:srgbClr val="CBD5E0"/>
          </a:solidFill>
        </p:spPr>
      </p:sp>
      <p:sp>
        <p:nvSpPr>
          <p:cNvPr id="21" name="Text 19">
            <a:extLst xmlns:a="http://schemas.openxmlformats.org/drawingml/2006/main">
              <a:ext uri="{FF2B5EF4-FFF2-40B4-BE49-F238E27FC236}">
                <a16:creationId xmlns:a16="http://schemas.microsoft.com/office/drawing/2014/main" id="{5B7F3F28-280F-4246-909E-D3FEB77C3087}"/>
              </a:ext>
            </a:extLst>
          </p:cNvPr>
          <p:cNvSpPr>
            <a:spLocks xmlns:a="http://schemas.openxmlformats.org/drawingml/2006/main" noGrp="1"/>
          </p:cNvSpPr>
          <p:nvPr/>
        </p:nvSpPr>
        <p:spPr>
          <a:xfrm xmlns:a="http://schemas.openxmlformats.org/drawingml/2006/main">
            <a:off x="676656" y="2980944"/>
            <a:ext cx="2523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Termination for cause</a:t>
            </a:r>
            <a:endParaRPr sz="980"/>
          </a:p>
        </p:txBody>
      </p:sp>
      <p:sp>
        <p:nvSpPr>
          <p:cNvPr id="22" name="Text 20">
            <a:extLst xmlns:a="http://schemas.openxmlformats.org/drawingml/2006/main">
              <a:ext uri="{FF2B5EF4-FFF2-40B4-BE49-F238E27FC236}">
                <a16:creationId xmlns:a16="http://schemas.microsoft.com/office/drawing/2014/main" id="{E8DB5FC1-F8A2-4A35-A345-F79F6A9091D2}"/>
              </a:ext>
            </a:extLst>
          </p:cNvPr>
          <p:cNvSpPr>
            <a:spLocks xmlns:a="http://schemas.openxmlformats.org/drawingml/2006/main" noGrp="1"/>
          </p:cNvSpPr>
          <p:nvPr/>
        </p:nvSpPr>
        <p:spPr>
          <a:xfrm xmlns:a="http://schemas.openxmlformats.org/drawingml/2006/main">
            <a:off x="3511296" y="298094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All payments treated as advances, fully refundable on cause</a:t>
            </a:r>
            <a:endParaRPr sz="920"/>
          </a:p>
        </p:txBody>
      </p:sp>
      <p:sp>
        <p:nvSpPr>
          <p:cNvPr id="23" name="Text 21">
            <a:extLst xmlns:a="http://schemas.openxmlformats.org/drawingml/2006/main">
              <a:ext uri="{FF2B5EF4-FFF2-40B4-BE49-F238E27FC236}">
                <a16:creationId xmlns:a16="http://schemas.microsoft.com/office/drawing/2014/main" id="{3BF98B73-1225-4473-B8FE-DDF70362C903}"/>
              </a:ext>
            </a:extLst>
          </p:cNvPr>
          <p:cNvSpPr>
            <a:spLocks xmlns:a="http://schemas.openxmlformats.org/drawingml/2006/main" noGrp="1"/>
          </p:cNvSpPr>
          <p:nvPr/>
        </p:nvSpPr>
        <p:spPr>
          <a:xfrm xmlns:a="http://schemas.openxmlformats.org/drawingml/2006/main">
            <a:off x="6528816" y="298094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Converts delivered, accepted work into contingent revenue</a:t>
            </a:r>
            <a:endParaRPr sz="920"/>
          </a:p>
        </p:txBody>
      </p:sp>
      <p:sp>
        <p:nvSpPr>
          <p:cNvPr id="24" name="Text 22">
            <a:extLst xmlns:a="http://schemas.openxmlformats.org/drawingml/2006/main">
              <a:ext uri="{FF2B5EF4-FFF2-40B4-BE49-F238E27FC236}">
                <a16:creationId xmlns:a16="http://schemas.microsoft.com/office/drawing/2014/main" id="{BEE1D8DB-23D6-4368-A4BA-C5790F0F72BF}"/>
              </a:ext>
            </a:extLst>
          </p:cNvPr>
          <p:cNvSpPr>
            <a:spLocks xmlns:a="http://schemas.openxmlformats.org/drawingml/2006/main" noGrp="1"/>
          </p:cNvSpPr>
          <p:nvPr/>
        </p:nvSpPr>
        <p:spPr>
          <a:xfrm xmlns:a="http://schemas.openxmlformats.org/drawingml/2006/main">
            <a:off x="9546336" y="2980944"/>
            <a:ext cx="1152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By construct</a:t>
            </a:r>
            <a:endParaRPr sz="940"/>
          </a:p>
        </p:txBody>
      </p:sp>
      <p:sp>
        <p:nvSpPr>
          <p:cNvPr id="25" name="Shape 23">
            <a:extLst xmlns:a="http://schemas.openxmlformats.org/drawingml/2006/main">
              <a:ext uri="{FF2B5EF4-FFF2-40B4-BE49-F238E27FC236}">
                <a16:creationId xmlns:a16="http://schemas.microsoft.com/office/drawing/2014/main" id="{3C8A39FA-5629-4EA7-9AC5-BF8DF215172C}"/>
              </a:ext>
            </a:extLst>
          </p:cNvPr>
          <p:cNvSpPr>
            <a:spLocks xmlns:a="http://schemas.openxmlformats.org/drawingml/2006/main" noGrp="1"/>
          </p:cNvSpPr>
          <p:nvPr/>
        </p:nvSpPr>
        <p:spPr>
          <a:xfrm xmlns:a="http://schemas.openxmlformats.org/drawingml/2006/main">
            <a:off x="566928" y="3401568"/>
            <a:ext cx="11057839" cy="7315"/>
          </a:xfrm>
          <a:prstGeom xmlns:a="http://schemas.openxmlformats.org/drawingml/2006/main" prst="rect">
            <a:avLst/>
          </a:prstGeom>
          <a:solidFill xmlns:a="http://schemas.openxmlformats.org/drawingml/2006/main">
            <a:srgbClr val="CBD5E0"/>
          </a:solidFill>
        </p:spPr>
      </p:sp>
      <p:sp>
        <p:nvSpPr>
          <p:cNvPr id="26" name="Shape 24">
            <a:extLst xmlns:a="http://schemas.openxmlformats.org/drawingml/2006/main">
              <a:ext uri="{FF2B5EF4-FFF2-40B4-BE49-F238E27FC236}">
                <a16:creationId xmlns:a16="http://schemas.microsoft.com/office/drawing/2014/main" id="{9952C754-9E83-4F8E-97E7-F8814408E931}"/>
              </a:ext>
            </a:extLst>
          </p:cNvPr>
          <p:cNvSpPr>
            <a:spLocks xmlns:a="http://schemas.openxmlformats.org/drawingml/2006/main" noGrp="1"/>
          </p:cNvSpPr>
          <p:nvPr/>
        </p:nvSpPr>
        <p:spPr>
          <a:xfrm xmlns:a="http://schemas.openxmlformats.org/drawingml/2006/main">
            <a:off x="566928" y="3401568"/>
            <a:ext cx="11057839" cy="566928"/>
          </a:xfrm>
          <a:prstGeom xmlns:a="http://schemas.openxmlformats.org/drawingml/2006/main" prst="rect">
            <a:avLst/>
          </a:prstGeom>
          <a:solidFill xmlns:a="http://schemas.openxmlformats.org/drawingml/2006/main">
            <a:srgbClr val="F7F9FB"/>
          </a:solidFill>
        </p:spPr>
      </p:sp>
      <p:sp>
        <p:nvSpPr>
          <p:cNvPr id="27" name="Text 25">
            <a:extLst xmlns:a="http://schemas.openxmlformats.org/drawingml/2006/main">
              <a:ext uri="{FF2B5EF4-FFF2-40B4-BE49-F238E27FC236}">
                <a16:creationId xmlns:a16="http://schemas.microsoft.com/office/drawing/2014/main" id="{F15D33FA-5DA5-46AD-BBB1-27F445FB980A}"/>
              </a:ext>
            </a:extLst>
          </p:cNvPr>
          <p:cNvSpPr>
            <a:spLocks xmlns:a="http://schemas.openxmlformats.org/drawingml/2006/main" noGrp="1"/>
          </p:cNvSpPr>
          <p:nvPr/>
        </p:nvSpPr>
        <p:spPr>
          <a:xfrm xmlns:a="http://schemas.openxmlformats.org/drawingml/2006/main">
            <a:off x="676656" y="3547872"/>
            <a:ext cx="2523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Step-in rights</a:t>
            </a:r>
            <a:endParaRPr sz="980"/>
          </a:p>
        </p:txBody>
      </p:sp>
      <p:sp>
        <p:nvSpPr>
          <p:cNvPr id="28" name="Text 26">
            <a:extLst xmlns:a="http://schemas.openxmlformats.org/drawingml/2006/main">
              <a:ext uri="{FF2B5EF4-FFF2-40B4-BE49-F238E27FC236}">
                <a16:creationId xmlns:a16="http://schemas.microsoft.com/office/drawing/2014/main" id="{06E5F213-122A-4B0F-8518-D4166EF902BC}"/>
              </a:ext>
            </a:extLst>
          </p:cNvPr>
          <p:cNvSpPr>
            <a:spLocks xmlns:a="http://schemas.openxmlformats.org/drawingml/2006/main" noGrp="1"/>
          </p:cNvSpPr>
          <p:nvPr/>
        </p:nvSpPr>
        <p:spPr>
          <a:xfrm xmlns:a="http://schemas.openxmlformats.org/drawingml/2006/main">
            <a:off x="3511296" y="3547872"/>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Client may deploy an alternate supplier at the incumbent's cost</a:t>
            </a:r>
            <a:endParaRPr sz="920"/>
          </a:p>
        </p:txBody>
      </p:sp>
      <p:sp>
        <p:nvSpPr>
          <p:cNvPr id="29" name="Text 27">
            <a:extLst xmlns:a="http://schemas.openxmlformats.org/drawingml/2006/main">
              <a:ext uri="{FF2B5EF4-FFF2-40B4-BE49-F238E27FC236}">
                <a16:creationId xmlns:a16="http://schemas.microsoft.com/office/drawing/2014/main" id="{C28079F8-9207-4AB7-9655-F3A27B3FB134}"/>
              </a:ext>
            </a:extLst>
          </p:cNvPr>
          <p:cNvSpPr>
            <a:spLocks xmlns:a="http://schemas.openxmlformats.org/drawingml/2006/main" noGrp="1"/>
          </p:cNvSpPr>
          <p:nvPr/>
        </p:nvSpPr>
        <p:spPr>
          <a:xfrm xmlns:a="http://schemas.openxmlformats.org/drawingml/2006/main">
            <a:off x="6528816" y="3547872"/>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Unbounded liability triggered by a unilateral determination</a:t>
            </a:r>
            <a:endParaRPr sz="920"/>
          </a:p>
        </p:txBody>
      </p:sp>
      <p:sp>
        <p:nvSpPr>
          <p:cNvPr id="30" name="Text 28">
            <a:extLst xmlns:a="http://schemas.openxmlformats.org/drawingml/2006/main">
              <a:ext uri="{FF2B5EF4-FFF2-40B4-BE49-F238E27FC236}">
                <a16:creationId xmlns:a16="http://schemas.microsoft.com/office/drawing/2014/main" id="{1BAD8479-9F78-4FB8-81E2-8243E07477A1}"/>
              </a:ext>
            </a:extLst>
          </p:cNvPr>
          <p:cNvSpPr>
            <a:spLocks xmlns:a="http://schemas.openxmlformats.org/drawingml/2006/main" noGrp="1"/>
          </p:cNvSpPr>
          <p:nvPr/>
        </p:nvSpPr>
        <p:spPr>
          <a:xfrm xmlns:a="http://schemas.openxmlformats.org/drawingml/2006/main">
            <a:off x="9546336" y="3547872"/>
            <a:ext cx="1152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By construct</a:t>
            </a:r>
            <a:endParaRPr sz="940"/>
          </a:p>
        </p:txBody>
      </p:sp>
      <p:sp>
        <p:nvSpPr>
          <p:cNvPr id="31" name="Shape 29">
            <a:extLst xmlns:a="http://schemas.openxmlformats.org/drawingml/2006/main">
              <a:ext uri="{FF2B5EF4-FFF2-40B4-BE49-F238E27FC236}">
                <a16:creationId xmlns:a16="http://schemas.microsoft.com/office/drawing/2014/main" id="{0F542716-26C1-456E-96D8-7D22A4C5EAF8}"/>
              </a:ext>
            </a:extLst>
          </p:cNvPr>
          <p:cNvSpPr>
            <a:spLocks xmlns:a="http://schemas.openxmlformats.org/drawingml/2006/main" noGrp="1"/>
          </p:cNvSpPr>
          <p:nvPr/>
        </p:nvSpPr>
        <p:spPr>
          <a:xfrm xmlns:a="http://schemas.openxmlformats.org/drawingml/2006/main">
            <a:off x="566928" y="3968496"/>
            <a:ext cx="11057839" cy="7315"/>
          </a:xfrm>
          <a:prstGeom xmlns:a="http://schemas.openxmlformats.org/drawingml/2006/main" prst="rect">
            <a:avLst/>
          </a:prstGeom>
          <a:solidFill xmlns:a="http://schemas.openxmlformats.org/drawingml/2006/main">
            <a:srgbClr val="CBD5E0"/>
          </a:solidFill>
        </p:spPr>
      </p:sp>
      <p:sp>
        <p:nvSpPr>
          <p:cNvPr id="32" name="Text 30">
            <a:extLst xmlns:a="http://schemas.openxmlformats.org/drawingml/2006/main">
              <a:ext uri="{FF2B5EF4-FFF2-40B4-BE49-F238E27FC236}">
                <a16:creationId xmlns:a16="http://schemas.microsoft.com/office/drawing/2014/main" id="{BFAFC706-5B42-4262-B6B2-231F009A151A}"/>
              </a:ext>
            </a:extLst>
          </p:cNvPr>
          <p:cNvSpPr>
            <a:spLocks xmlns:a="http://schemas.openxmlformats.org/drawingml/2006/main" noGrp="1"/>
          </p:cNvSpPr>
          <p:nvPr/>
        </p:nvSpPr>
        <p:spPr>
          <a:xfrm xmlns:a="http://schemas.openxmlformats.org/drawingml/2006/main">
            <a:off x="676656" y="4114800"/>
            <a:ext cx="25237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Delay penalties</a:t>
            </a:r>
            <a:endParaRPr sz="980"/>
          </a:p>
        </p:txBody>
      </p:sp>
      <p:sp>
        <p:nvSpPr>
          <p:cNvPr id="33" name="Text 31">
            <a:extLst xmlns:a="http://schemas.openxmlformats.org/drawingml/2006/main">
              <a:ext uri="{FF2B5EF4-FFF2-40B4-BE49-F238E27FC236}">
                <a16:creationId xmlns:a16="http://schemas.microsoft.com/office/drawing/2014/main" id="{F916D29E-79F2-470B-89F6-AEA9C885BAC6}"/>
              </a:ext>
            </a:extLst>
          </p:cNvPr>
          <p:cNvSpPr>
            <a:spLocks xmlns:a="http://schemas.openxmlformats.org/drawingml/2006/main" noGrp="1"/>
          </p:cNvSpPr>
          <p:nvPr/>
        </p:nvSpPr>
        <p:spPr>
          <a:xfrm xmlns:a="http://schemas.openxmlformats.org/drawingml/2006/main">
            <a:off x="3511296" y="4114800"/>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 percentage per week of delay, to a substantial cap</a:t>
            </a:r>
            <a:endParaRPr sz="920"/>
          </a:p>
        </p:txBody>
      </p:sp>
      <p:sp>
        <p:nvSpPr>
          <p:cNvPr id="34" name="Text 32">
            <a:extLst xmlns:a="http://schemas.openxmlformats.org/drawingml/2006/main">
              <a:ext uri="{FF2B5EF4-FFF2-40B4-BE49-F238E27FC236}">
                <a16:creationId xmlns:a16="http://schemas.microsoft.com/office/drawing/2014/main" id="{416D63CD-3D95-4952-BE8A-D8DD171EC2F5}"/>
              </a:ext>
            </a:extLst>
          </p:cNvPr>
          <p:cNvSpPr>
            <a:spLocks xmlns:a="http://schemas.openxmlformats.org/drawingml/2006/main" noGrp="1"/>
          </p:cNvSpPr>
          <p:nvPr/>
        </p:nvSpPr>
        <p:spPr>
          <a:xfrm xmlns:a="http://schemas.openxmlformats.org/drawingml/2006/main">
            <a:off x="6528816" y="4114800"/>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Penalises schedule risk the supplier does not solely control</a:t>
            </a:r>
            <a:endParaRPr sz="920"/>
          </a:p>
        </p:txBody>
      </p:sp>
      <p:sp>
        <p:nvSpPr>
          <p:cNvPr id="35" name="Text 33">
            <a:extLst xmlns:a="http://schemas.openxmlformats.org/drawingml/2006/main">
              <a:ext uri="{FF2B5EF4-FFF2-40B4-BE49-F238E27FC236}">
                <a16:creationId xmlns:a16="http://schemas.microsoft.com/office/drawing/2014/main" id="{AF100AB3-4F60-4224-98A6-0BF75BEDACAB}"/>
              </a:ext>
            </a:extLst>
          </p:cNvPr>
          <p:cNvSpPr>
            <a:spLocks xmlns:a="http://schemas.openxmlformats.org/drawingml/2006/main" noGrp="1"/>
          </p:cNvSpPr>
          <p:nvPr/>
        </p:nvSpPr>
        <p:spPr>
          <a:xfrm xmlns:a="http://schemas.openxmlformats.org/drawingml/2006/main">
            <a:off x="9546336" y="4114800"/>
            <a:ext cx="1152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Genuine test</a:t>
            </a:r>
            <a:endParaRPr sz="940"/>
          </a:p>
        </p:txBody>
      </p:sp>
      <p:sp>
        <p:nvSpPr>
          <p:cNvPr id="36" name="Shape 34">
            <a:extLst xmlns:a="http://schemas.openxmlformats.org/drawingml/2006/main">
              <a:ext uri="{FF2B5EF4-FFF2-40B4-BE49-F238E27FC236}">
                <a16:creationId xmlns:a16="http://schemas.microsoft.com/office/drawing/2014/main" id="{4E857968-29AA-4C40-86AB-CE8A5449230B}"/>
              </a:ext>
            </a:extLst>
          </p:cNvPr>
          <p:cNvSpPr>
            <a:spLocks xmlns:a="http://schemas.openxmlformats.org/drawingml/2006/main" noGrp="1"/>
          </p:cNvSpPr>
          <p:nvPr/>
        </p:nvSpPr>
        <p:spPr>
          <a:xfrm xmlns:a="http://schemas.openxmlformats.org/drawingml/2006/main">
            <a:off x="566928" y="4535424"/>
            <a:ext cx="11057839" cy="7315"/>
          </a:xfrm>
          <a:prstGeom xmlns:a="http://schemas.openxmlformats.org/drawingml/2006/main" prst="rect">
            <a:avLst/>
          </a:prstGeom>
          <a:solidFill xmlns:a="http://schemas.openxmlformats.org/drawingml/2006/main">
            <a:srgbClr val="CBD5E0"/>
          </a:solidFill>
        </p:spPr>
      </p:sp>
      <p:sp>
        <p:nvSpPr>
          <p:cNvPr id="37" name="Text 35">
            <a:extLst xmlns:a="http://schemas.openxmlformats.org/drawingml/2006/main">
              <a:ext uri="{FF2B5EF4-FFF2-40B4-BE49-F238E27FC236}">
                <a16:creationId xmlns:a16="http://schemas.microsoft.com/office/drawing/2014/main" id="{CD0703DD-CCB9-4CB9-8057-734E2BE36045}"/>
              </a:ext>
            </a:extLst>
          </p:cNvPr>
          <p:cNvSpPr>
            <a:spLocks xmlns:a="http://schemas.openxmlformats.org/drawingml/2006/main" noGrp="1"/>
          </p:cNvSpPr>
          <p:nvPr/>
        </p:nvSpPr>
        <p:spPr>
          <a:xfrm xmlns:a="http://schemas.openxmlformats.org/drawingml/2006/main">
            <a:off x="566928"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they have in common</a:t>
            </a:r>
            <a:endParaRPr sz="1100"/>
          </a:p>
        </p:txBody>
      </p:sp>
      <p:sp>
        <p:nvSpPr>
          <p:cNvPr id="38" name="Shape 36">
            <a:extLst xmlns:a="http://schemas.openxmlformats.org/drawingml/2006/main">
              <a:ext uri="{FF2B5EF4-FFF2-40B4-BE49-F238E27FC236}">
                <a16:creationId xmlns:a16="http://schemas.microsoft.com/office/drawing/2014/main" id="{96679510-22D5-47A2-8FBC-E61FEB7DDB06}"/>
              </a:ext>
            </a:extLst>
          </p:cNvPr>
          <p:cNvSpPr>
            <a:spLocks xmlns:a="http://schemas.openxmlformats.org/drawingml/2006/main" noGrp="1"/>
          </p:cNvSpPr>
          <p:nvPr/>
        </p:nvSpPr>
        <p:spPr>
          <a:xfrm xmlns:a="http://schemas.openxmlformats.org/drawingml/2006/main">
            <a:off x="566928" y="5029200"/>
            <a:ext cx="3551834" cy="20117"/>
          </a:xfrm>
          <a:prstGeom xmlns:a="http://schemas.openxmlformats.org/drawingml/2006/main" prst="rect">
            <a:avLst/>
          </a:prstGeom>
          <a:solidFill xmlns:a="http://schemas.openxmlformats.org/drawingml/2006/main">
            <a:srgbClr val="102A43"/>
          </a:solidFill>
        </p:spPr>
      </p:sp>
      <p:sp>
        <p:nvSpPr>
          <p:cNvPr id="39" name="Text 37">
            <a:extLst xmlns:a="http://schemas.openxmlformats.org/drawingml/2006/main">
              <a:ext uri="{FF2B5EF4-FFF2-40B4-BE49-F238E27FC236}">
                <a16:creationId xmlns:a16="http://schemas.microsoft.com/office/drawing/2014/main" id="{BEAFAD96-549A-4CBE-BB05-0C0132B59913}"/>
              </a:ext>
            </a:extLst>
          </p:cNvPr>
          <p:cNvSpPr>
            <a:spLocks xmlns:a="http://schemas.openxmlformats.org/drawingml/2006/main" noGrp="1"/>
          </p:cNvSpPr>
          <p:nvPr/>
        </p:nvSpPr>
        <p:spPr>
          <a:xfrm xmlns:a="http://schemas.openxmlformats.org/drawingml/2006/main">
            <a:off x="566928" y="5157216"/>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Every one is a risk-allocation clause. None is about scope, price or capability.</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Every one was written for a bespoke-build contract and applied unchanged to a product implementation.</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That mismatch, not bad faith, produces the impasse.</a:t>
            </a:r>
            <a:endParaRPr sz="940"/>
          </a:p>
        </p:txBody>
      </p:sp>
      <p:sp>
        <p:nvSpPr>
          <p:cNvPr id="40" name="Text 38">
            <a:extLst xmlns:a="http://schemas.openxmlformats.org/drawingml/2006/main">
              <a:ext uri="{FF2B5EF4-FFF2-40B4-BE49-F238E27FC236}">
                <a16:creationId xmlns:a16="http://schemas.microsoft.com/office/drawing/2014/main" id="{0DF0EE32-C994-4DBB-AB9B-DE38F7EE7304}"/>
              </a:ext>
            </a:extLst>
          </p:cNvPr>
          <p:cNvSpPr>
            <a:spLocks xmlns:a="http://schemas.openxmlformats.org/drawingml/2006/main" noGrp="1"/>
          </p:cNvSpPr>
          <p:nvPr/>
        </p:nvSpPr>
        <p:spPr>
          <a:xfrm xmlns:a="http://schemas.openxmlformats.org/drawingml/2006/main">
            <a:off x="4319930"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stating positions freezes them</a:t>
            </a:r>
            <a:endParaRPr sz="1100"/>
          </a:p>
        </p:txBody>
      </p:sp>
      <p:sp>
        <p:nvSpPr>
          <p:cNvPr id="41" name="Shape 39">
            <a:extLst xmlns:a="http://schemas.openxmlformats.org/drawingml/2006/main">
              <a:ext uri="{FF2B5EF4-FFF2-40B4-BE49-F238E27FC236}">
                <a16:creationId xmlns:a16="http://schemas.microsoft.com/office/drawing/2014/main" id="{D4F99319-7CE2-4617-87CC-AB5499B8C536}"/>
              </a:ext>
            </a:extLst>
          </p:cNvPr>
          <p:cNvSpPr>
            <a:spLocks xmlns:a="http://schemas.openxmlformats.org/drawingml/2006/main" noGrp="1"/>
          </p:cNvSpPr>
          <p:nvPr/>
        </p:nvSpPr>
        <p:spPr>
          <a:xfrm xmlns:a="http://schemas.openxmlformats.org/drawingml/2006/main">
            <a:off x="4319930" y="5029200"/>
            <a:ext cx="3551834" cy="20117"/>
          </a:xfrm>
          <a:prstGeom xmlns:a="http://schemas.openxmlformats.org/drawingml/2006/main" prst="rect">
            <a:avLst/>
          </a:prstGeom>
          <a:solidFill xmlns:a="http://schemas.openxmlformats.org/drawingml/2006/main">
            <a:srgbClr val="B04A25"/>
          </a:solidFill>
        </p:spPr>
      </p:sp>
      <p:sp>
        <p:nvSpPr>
          <p:cNvPr id="42" name="Text 40">
            <a:extLst xmlns:a="http://schemas.openxmlformats.org/drawingml/2006/main">
              <a:ext uri="{FF2B5EF4-FFF2-40B4-BE49-F238E27FC236}">
                <a16:creationId xmlns:a16="http://schemas.microsoft.com/office/drawing/2014/main" id="{87114E05-4843-48C8-BE85-2579167150F6}"/>
              </a:ext>
            </a:extLst>
          </p:cNvPr>
          <p:cNvSpPr>
            <a:spLocks xmlns:a="http://schemas.openxmlformats.org/drawingml/2006/main" noGrp="1"/>
          </p:cNvSpPr>
          <p:nvPr/>
        </p:nvSpPr>
        <p:spPr>
          <a:xfrm xmlns:a="http://schemas.openxmlformats.org/drawingml/2006/main">
            <a:off x="4319930" y="5157216"/>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“We require full ownership” and “we retain our IP” are both complete sentences with no overlap.</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Neither side can concede without conceding the whole point, so both hold.</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It then moves to escalation, which is slow and rarely produces a better clause.</a:t>
            </a:r>
            <a:endParaRPr sz="940"/>
          </a:p>
        </p:txBody>
      </p:sp>
      <p:sp>
        <p:nvSpPr>
          <p:cNvPr id="43" name="Text 41">
            <a:extLst xmlns:a="http://schemas.openxmlformats.org/drawingml/2006/main">
              <a:ext uri="{FF2B5EF4-FFF2-40B4-BE49-F238E27FC236}">
                <a16:creationId xmlns:a16="http://schemas.microsoft.com/office/drawing/2014/main" id="{60C845A8-D074-469A-8BEF-7FB1FE046AB7}"/>
              </a:ext>
            </a:extLst>
          </p:cNvPr>
          <p:cNvSpPr>
            <a:spLocks xmlns:a="http://schemas.openxmlformats.org/drawingml/2006/main" noGrp="1"/>
          </p:cNvSpPr>
          <p:nvPr/>
        </p:nvSpPr>
        <p:spPr>
          <a:xfrm xmlns:a="http://schemas.openxmlformats.org/drawingml/2006/main">
            <a:off x="8072933"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What moves them</a:t>
            </a:r>
            <a:endParaRPr sz="1100"/>
          </a:p>
        </p:txBody>
      </p:sp>
      <p:sp>
        <p:nvSpPr>
          <p:cNvPr id="44" name="Shape 42">
            <a:extLst xmlns:a="http://schemas.openxmlformats.org/drawingml/2006/main">
              <a:ext uri="{FF2B5EF4-FFF2-40B4-BE49-F238E27FC236}">
                <a16:creationId xmlns:a16="http://schemas.microsoft.com/office/drawing/2014/main" id="{71BE24BD-4259-452F-8046-B5DF8414497B}"/>
              </a:ext>
            </a:extLst>
          </p:cNvPr>
          <p:cNvSpPr>
            <a:spLocks xmlns:a="http://schemas.openxmlformats.org/drawingml/2006/main" noGrp="1"/>
          </p:cNvSpPr>
          <p:nvPr/>
        </p:nvSpPr>
        <p:spPr>
          <a:xfrm xmlns:a="http://schemas.openxmlformats.org/drawingml/2006/main">
            <a:off x="8072933" y="5029200"/>
            <a:ext cx="3551834" cy="20117"/>
          </a:xfrm>
          <a:prstGeom xmlns:a="http://schemas.openxmlformats.org/drawingml/2006/main" prst="rect">
            <a:avLst/>
          </a:prstGeom>
          <a:solidFill xmlns:a="http://schemas.openxmlformats.org/drawingml/2006/main">
            <a:srgbClr val="27685A"/>
          </a:solidFill>
        </p:spPr>
      </p:sp>
      <p:sp>
        <p:nvSpPr>
          <p:cNvPr id="45" name="Text 43">
            <a:extLst xmlns:a="http://schemas.openxmlformats.org/drawingml/2006/main">
              <a:ext uri="{FF2B5EF4-FFF2-40B4-BE49-F238E27FC236}">
                <a16:creationId xmlns:a16="http://schemas.microsoft.com/office/drawing/2014/main" id="{0207F2C5-7569-4498-9BB4-7A60FE058DB5}"/>
              </a:ext>
            </a:extLst>
          </p:cNvPr>
          <p:cNvSpPr>
            <a:spLocks xmlns:a="http://schemas.openxmlformats.org/drawingml/2006/main" noGrp="1"/>
          </p:cNvSpPr>
          <p:nvPr/>
        </p:nvSpPr>
        <p:spPr>
          <a:xfrm xmlns:a="http://schemas.openxmlformats.org/drawingml/2006/main">
            <a:off x="8072933" y="5157216"/>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Asking what each clause is protecting against, rather than what it says.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Four of the five protect against a specific failure that a narrower instrument also prevents.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The fifth protects something no construct removes — which makes it the actual decision.</a:t>
            </a:r>
            <a:endParaRPr sz="940"/>
          </a:p>
        </p:txBody>
      </p:sp>
      <p:sp>
        <p:nvSpPr>
          <p:cNvPr id="46" name="Shape 44">
            <a:extLst xmlns:a="http://schemas.openxmlformats.org/drawingml/2006/main">
              <a:ext uri="{FF2B5EF4-FFF2-40B4-BE49-F238E27FC236}">
                <a16:creationId xmlns:a16="http://schemas.microsoft.com/office/drawing/2014/main" id="{198C5AA1-AAF0-4D79-A8C1-8CC2E596C16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7" name="Text 45">
            <a:extLst xmlns:a="http://schemas.openxmlformats.org/drawingml/2006/main">
              <a:ext uri="{FF2B5EF4-FFF2-40B4-BE49-F238E27FC236}">
                <a16:creationId xmlns:a16="http://schemas.microsoft.com/office/drawing/2014/main" id="{BBD3985E-EF73-4700-B852-D100E83A5E2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48" name="Text 46">
            <a:extLst xmlns:a="http://schemas.openxmlformats.org/drawingml/2006/main">
              <a:ext uri="{FF2B5EF4-FFF2-40B4-BE49-F238E27FC236}">
                <a16:creationId xmlns:a16="http://schemas.microsoft.com/office/drawing/2014/main" id="{3C045097-CDBD-4F6D-A62E-3B8D6ADE288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39083648"/>
      </p:ext>
    </p:extLst>
  </p:cSld>
</p:sld>
</file>

<file path=ppt/slides/slide13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E2A09C-C2C6-4E0C-9971-C5AEA2A5E20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BEHIND THE POSITIONS</a:t>
            </a:r>
            <a:endParaRPr sz="950"/>
          </a:p>
        </p:txBody>
      </p:sp>
      <p:sp>
        <p:nvSpPr>
          <p:cNvPr id="3" name="Text 1">
            <a:extLst xmlns:a="http://schemas.openxmlformats.org/drawingml/2006/main">
              <a:ext uri="{FF2B5EF4-FFF2-40B4-BE49-F238E27FC236}">
                <a16:creationId xmlns:a16="http://schemas.microsoft.com/office/drawing/2014/main" id="{4A37F122-BF5D-46B4-993E-8C228F35C5B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Each stated position protects a narrower interest — and once the interest is named,</a:t>
            </a:r>
            <a:endParaRPr sz="1900"/>
          </a:p>
          <a:p xmlns:a="http://schemas.openxmlformats.org/drawingml/2006/main">
            <a:pPr marL="0" indent="0">
              <a:lnSpc>
                <a:spcPts val="2400"/>
              </a:lnSpc>
              <a:buNone/>
            </a:pPr>
            <a:r>
              <a:rPr sz="1900" b="1">
                <a:solidFill>
                  <a:srgbClr val="102A43"/>
                </a:solidFill>
                <a:latin typeface="Arial"/>
                <a:ea typeface="Arial"/>
                <a:cs typeface="Arial"/>
              </a:rPr>
              <a:t>the range of acceptable instruments widens considerably</a:t>
            </a:r>
            <a:endParaRPr sz="1900"/>
          </a:p>
        </p:txBody>
      </p:sp>
      <p:sp>
        <p:nvSpPr>
          <p:cNvPr id="4" name="Shape 2">
            <a:extLst xmlns:a="http://schemas.openxmlformats.org/drawingml/2006/main">
              <a:ext uri="{FF2B5EF4-FFF2-40B4-BE49-F238E27FC236}">
                <a16:creationId xmlns:a16="http://schemas.microsoft.com/office/drawing/2014/main" id="{9F94F8BE-26C6-4B80-84C8-C1CE7D63D9A0}"/>
              </a:ext>
            </a:extLst>
          </p:cNvPr>
          <p:cNvSpPr>
            <a:spLocks xmlns:a="http://schemas.openxmlformats.org/drawingml/2006/main" noGrp="1"/>
          </p:cNvSpPr>
          <p:nvPr/>
        </p:nvSpPr>
        <p:spPr>
          <a:xfrm xmlns:a="http://schemas.openxmlformats.org/drawingml/2006/main">
            <a:off x="566928" y="1335024"/>
            <a:ext cx="5327752" cy="2048256"/>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1A238B6-8D29-44E4-9802-B24438BCF9DD}"/>
              </a:ext>
            </a:extLst>
          </p:cNvPr>
          <p:cNvSpPr>
            <a:spLocks xmlns:a="http://schemas.openxmlformats.org/drawingml/2006/main" noGrp="1"/>
          </p:cNvSpPr>
          <p:nvPr/>
        </p:nvSpPr>
        <p:spPr>
          <a:xfrm xmlns:a="http://schemas.openxmlformats.org/drawingml/2006/main">
            <a:off x="786384" y="1481328"/>
            <a:ext cx="4888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Intellectual property and source</a:t>
            </a:r>
            <a:endParaRPr sz="1200"/>
          </a:p>
        </p:txBody>
      </p:sp>
      <p:sp>
        <p:nvSpPr>
          <p:cNvPr id="6" name="Text 4">
            <a:extLst xmlns:a="http://schemas.openxmlformats.org/drawingml/2006/main">
              <a:ext uri="{FF2B5EF4-FFF2-40B4-BE49-F238E27FC236}">
                <a16:creationId xmlns:a16="http://schemas.microsoft.com/office/drawing/2014/main" id="{A0207552-2356-4E37-AE1A-EBA2E2D986BE}"/>
              </a:ext>
            </a:extLst>
          </p:cNvPr>
          <p:cNvSpPr>
            <a:spLocks xmlns:a="http://schemas.openxmlformats.org/drawingml/2006/main" noGrp="1"/>
          </p:cNvSpPr>
          <p:nvPr/>
        </p:nvSpPr>
        <p:spPr>
          <a:xfrm xmlns:a="http://schemas.openxmlformats.org/drawingml/2006/main">
            <a:off x="786384" y="177393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INTEREST BEING PROTECTED</a:t>
            </a:r>
            <a:endParaRPr sz="740"/>
          </a:p>
        </p:txBody>
      </p:sp>
      <p:sp>
        <p:nvSpPr>
          <p:cNvPr id="7" name="Text 5">
            <a:extLst xmlns:a="http://schemas.openxmlformats.org/drawingml/2006/main">
              <a:ext uri="{FF2B5EF4-FFF2-40B4-BE49-F238E27FC236}">
                <a16:creationId xmlns:a16="http://schemas.microsoft.com/office/drawing/2014/main" id="{4A042163-2C09-4687-B1F1-185B9FF3A1B4}"/>
              </a:ext>
            </a:extLst>
          </p:cNvPr>
          <p:cNvSpPr>
            <a:spLocks xmlns:a="http://schemas.openxmlformats.org/drawingml/2006/main" noGrp="1"/>
          </p:cNvSpPr>
          <p:nvPr/>
        </p:nvSpPr>
        <p:spPr>
          <a:xfrm xmlns:a="http://schemas.openxmlformats.org/drawingml/2006/main">
            <a:off x="786384" y="1975104"/>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Continuity if the supplier fails, is acquired or withdraws the product. Freedom from unilateral price increases. Ability to change the system without permission.</a:t>
            </a:r>
            <a:endParaRPr sz="940"/>
          </a:p>
        </p:txBody>
      </p:sp>
      <p:sp>
        <p:nvSpPr>
          <p:cNvPr id="8" name="Shape 6">
            <a:extLst xmlns:a="http://schemas.openxmlformats.org/drawingml/2006/main">
              <a:ext uri="{FF2B5EF4-FFF2-40B4-BE49-F238E27FC236}">
                <a16:creationId xmlns:a16="http://schemas.microsoft.com/office/drawing/2014/main" id="{153FA717-E17B-4AA6-8D7C-AEAA24959AAF}"/>
              </a:ext>
            </a:extLst>
          </p:cNvPr>
          <p:cNvSpPr>
            <a:spLocks xmlns:a="http://schemas.openxmlformats.org/drawingml/2006/main" noGrp="1"/>
          </p:cNvSpPr>
          <p:nvPr/>
        </p:nvSpPr>
        <p:spPr>
          <a:xfrm xmlns:a="http://schemas.openxmlformats.org/drawingml/2006/main">
            <a:off x="786384" y="2633472"/>
            <a:ext cx="4888840" cy="13716"/>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FDE715E2-A0BE-4CB2-92A3-0AAE4ECCE3F4}"/>
              </a:ext>
            </a:extLst>
          </p:cNvPr>
          <p:cNvSpPr>
            <a:spLocks xmlns:a="http://schemas.openxmlformats.org/drawingml/2006/main" noGrp="1"/>
          </p:cNvSpPr>
          <p:nvPr/>
        </p:nvSpPr>
        <p:spPr>
          <a:xfrm xmlns:a="http://schemas.openxmlformats.org/drawingml/2006/main">
            <a:off x="786384" y="2743200"/>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WHAT ALSO SATISFIES IT</a:t>
            </a:r>
            <a:endParaRPr sz="740"/>
          </a:p>
        </p:txBody>
      </p:sp>
      <p:sp>
        <p:nvSpPr>
          <p:cNvPr id="10" name="Text 8">
            <a:extLst xmlns:a="http://schemas.openxmlformats.org/drawingml/2006/main">
              <a:ext uri="{FF2B5EF4-FFF2-40B4-BE49-F238E27FC236}">
                <a16:creationId xmlns:a16="http://schemas.microsoft.com/office/drawing/2014/main" id="{85E8244F-2ADF-4329-9B81-81AED837E581}"/>
              </a:ext>
            </a:extLst>
          </p:cNvPr>
          <p:cNvSpPr>
            <a:spLocks xmlns:a="http://schemas.openxmlformats.org/drawingml/2006/main" noGrp="1"/>
          </p:cNvSpPr>
          <p:nvPr/>
        </p:nvSpPr>
        <p:spPr>
          <a:xfrm xmlns:a="http://schemas.openxmlformats.org/drawingml/2006/main">
            <a:off x="786384" y="2944368"/>
            <a:ext cx="4888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None of these requires owning the source. All are satisfied by operational control, a perpetual licence and escrow with defined release triggers.</a:t>
            </a:r>
            <a:endParaRPr sz="940"/>
          </a:p>
        </p:txBody>
      </p:sp>
      <p:sp>
        <p:nvSpPr>
          <p:cNvPr id="11" name="Shape 9">
            <a:extLst xmlns:a="http://schemas.openxmlformats.org/drawingml/2006/main">
              <a:ext uri="{FF2B5EF4-FFF2-40B4-BE49-F238E27FC236}">
                <a16:creationId xmlns:a16="http://schemas.microsoft.com/office/drawing/2014/main" id="{EFDB29E4-2B42-462B-9BF7-B9A399C399BA}"/>
              </a:ext>
            </a:extLst>
          </p:cNvPr>
          <p:cNvSpPr>
            <a:spLocks xmlns:a="http://schemas.openxmlformats.org/drawingml/2006/main" noGrp="1"/>
          </p:cNvSpPr>
          <p:nvPr/>
        </p:nvSpPr>
        <p:spPr>
          <a:xfrm xmlns:a="http://schemas.openxmlformats.org/drawingml/2006/main">
            <a:off x="6297016" y="1335024"/>
            <a:ext cx="5327752" cy="2048256"/>
          </a:xfrm>
          <a:prstGeom xmlns:a="http://schemas.openxmlformats.org/drawingml/2006/main" prst="rect">
            <a:avLst/>
          </a:prstGeom>
          <a:solidFill xmlns:a="http://schemas.openxmlformats.org/drawingml/2006/main">
            <a:srgbClr val="F0F4F8"/>
          </a:solidFill>
        </p:spPr>
      </p:sp>
      <p:sp>
        <p:nvSpPr>
          <p:cNvPr id="12" name="Text 10">
            <a:extLst xmlns:a="http://schemas.openxmlformats.org/drawingml/2006/main">
              <a:ext uri="{FF2B5EF4-FFF2-40B4-BE49-F238E27FC236}">
                <a16:creationId xmlns:a16="http://schemas.microsoft.com/office/drawing/2014/main" id="{2954259B-53FD-472D-B2A6-F5D0194993D7}"/>
              </a:ext>
            </a:extLst>
          </p:cNvPr>
          <p:cNvSpPr>
            <a:spLocks xmlns:a="http://schemas.openxmlformats.org/drawingml/2006/main" noGrp="1"/>
          </p:cNvSpPr>
          <p:nvPr/>
        </p:nvSpPr>
        <p:spPr>
          <a:xfrm xmlns:a="http://schemas.openxmlformats.org/drawingml/2006/main">
            <a:off x="6516472" y="1481328"/>
            <a:ext cx="4888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Exit and transfer assistance</a:t>
            </a:r>
            <a:endParaRPr sz="1200"/>
          </a:p>
        </p:txBody>
      </p:sp>
      <p:sp>
        <p:nvSpPr>
          <p:cNvPr id="13" name="Text 11">
            <a:extLst xmlns:a="http://schemas.openxmlformats.org/drawingml/2006/main">
              <a:ext uri="{FF2B5EF4-FFF2-40B4-BE49-F238E27FC236}">
                <a16:creationId xmlns:a16="http://schemas.microsoft.com/office/drawing/2014/main" id="{DAB2197D-714D-44B7-AEEC-9BD78C7BFC6F}"/>
              </a:ext>
            </a:extLst>
          </p:cNvPr>
          <p:cNvSpPr>
            <a:spLocks xmlns:a="http://schemas.openxmlformats.org/drawingml/2006/main" noGrp="1"/>
          </p:cNvSpPr>
          <p:nvPr/>
        </p:nvSpPr>
        <p:spPr>
          <a:xfrm xmlns:a="http://schemas.openxmlformats.org/drawingml/2006/main">
            <a:off x="6516472" y="177393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INTEREST BEING PROTECTED</a:t>
            </a:r>
            <a:endParaRPr sz="740"/>
          </a:p>
        </p:txBody>
      </p:sp>
      <p:sp>
        <p:nvSpPr>
          <p:cNvPr id="14" name="Text 12">
            <a:extLst xmlns:a="http://schemas.openxmlformats.org/drawingml/2006/main">
              <a:ext uri="{FF2B5EF4-FFF2-40B4-BE49-F238E27FC236}">
                <a16:creationId xmlns:a16="http://schemas.microsoft.com/office/drawing/2014/main" id="{B89741A5-D5EA-4382-8AF6-5503357E95EE}"/>
              </a:ext>
            </a:extLst>
          </p:cNvPr>
          <p:cNvSpPr>
            <a:spLocks xmlns:a="http://schemas.openxmlformats.org/drawingml/2006/main" noGrp="1"/>
          </p:cNvSpPr>
          <p:nvPr/>
        </p:nvSpPr>
        <p:spPr>
          <a:xfrm xmlns:a="http://schemas.openxmlformats.org/drawingml/2006/main">
            <a:off x="6516472" y="1975104"/>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Not being held hostage at renewal. A successor supplier able to take over without a standing start. No punitive exit cost.</a:t>
            </a:r>
            <a:endParaRPr sz="940"/>
          </a:p>
        </p:txBody>
      </p:sp>
      <p:sp>
        <p:nvSpPr>
          <p:cNvPr id="15" name="Shape 13">
            <a:extLst xmlns:a="http://schemas.openxmlformats.org/drawingml/2006/main">
              <a:ext uri="{FF2B5EF4-FFF2-40B4-BE49-F238E27FC236}">
                <a16:creationId xmlns:a16="http://schemas.microsoft.com/office/drawing/2014/main" id="{B5767427-2813-4518-8B1F-3E906002D822}"/>
              </a:ext>
            </a:extLst>
          </p:cNvPr>
          <p:cNvSpPr>
            <a:spLocks xmlns:a="http://schemas.openxmlformats.org/drawingml/2006/main" noGrp="1"/>
          </p:cNvSpPr>
          <p:nvPr/>
        </p:nvSpPr>
        <p:spPr>
          <a:xfrm xmlns:a="http://schemas.openxmlformats.org/drawingml/2006/main">
            <a:off x="6516472" y="2633472"/>
            <a:ext cx="4888840" cy="13716"/>
          </a:xfrm>
          <a:prstGeom xmlns:a="http://schemas.openxmlformats.org/drawingml/2006/main" prst="rect">
            <a:avLst/>
          </a:prstGeom>
          <a:solidFill xmlns:a="http://schemas.openxmlformats.org/drawingml/2006/main">
            <a:srgbClr val="C6D2DE"/>
          </a:solidFill>
        </p:spPr>
      </p:sp>
      <p:sp>
        <p:nvSpPr>
          <p:cNvPr id="16" name="Text 14">
            <a:extLst xmlns:a="http://schemas.openxmlformats.org/drawingml/2006/main">
              <a:ext uri="{FF2B5EF4-FFF2-40B4-BE49-F238E27FC236}">
                <a16:creationId xmlns:a16="http://schemas.microsoft.com/office/drawing/2014/main" id="{0B66B77B-155A-45C4-B259-DCC8ADE63E87}"/>
              </a:ext>
            </a:extLst>
          </p:cNvPr>
          <p:cNvSpPr>
            <a:spLocks xmlns:a="http://schemas.openxmlformats.org/drawingml/2006/main" noGrp="1"/>
          </p:cNvSpPr>
          <p:nvPr/>
        </p:nvSpPr>
        <p:spPr>
          <a:xfrm xmlns:a="http://schemas.openxmlformats.org/drawingml/2006/main">
            <a:off x="6516472" y="2743200"/>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WHAT ALSO SATISFIES IT</a:t>
            </a:r>
            <a:endParaRPr sz="740"/>
          </a:p>
        </p:txBody>
      </p:sp>
      <p:sp>
        <p:nvSpPr>
          <p:cNvPr id="17" name="Text 15">
            <a:extLst xmlns:a="http://schemas.openxmlformats.org/drawingml/2006/main">
              <a:ext uri="{FF2B5EF4-FFF2-40B4-BE49-F238E27FC236}">
                <a16:creationId xmlns:a16="http://schemas.microsoft.com/office/drawing/2014/main" id="{9ED427C9-5018-4033-A478-A95A64655A6D}"/>
              </a:ext>
            </a:extLst>
          </p:cNvPr>
          <p:cNvSpPr>
            <a:spLocks xmlns:a="http://schemas.openxmlformats.org/drawingml/2006/main" noGrp="1"/>
          </p:cNvSpPr>
          <p:nvPr/>
        </p:nvSpPr>
        <p:spPr>
          <a:xfrm xmlns:a="http://schemas.openxmlformats.org/drawingml/2006/main">
            <a:off x="6516472" y="2944368"/>
            <a:ext cx="4888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Satisfied by a defined transition service with a scoped duration, a documented handover pack and pre-agreed rates — not by an uncapped free obligation.</a:t>
            </a:r>
            <a:endParaRPr sz="940"/>
          </a:p>
        </p:txBody>
      </p:sp>
      <p:sp>
        <p:nvSpPr>
          <p:cNvPr id="18" name="Shape 16">
            <a:extLst xmlns:a="http://schemas.openxmlformats.org/drawingml/2006/main">
              <a:ext uri="{FF2B5EF4-FFF2-40B4-BE49-F238E27FC236}">
                <a16:creationId xmlns:a16="http://schemas.microsoft.com/office/drawing/2014/main" id="{E57C9453-ED3F-43A3-A416-A030CF65EBDE}"/>
              </a:ext>
            </a:extLst>
          </p:cNvPr>
          <p:cNvSpPr>
            <a:spLocks xmlns:a="http://schemas.openxmlformats.org/drawingml/2006/main" noGrp="1"/>
          </p:cNvSpPr>
          <p:nvPr/>
        </p:nvSpPr>
        <p:spPr>
          <a:xfrm xmlns:a="http://schemas.openxmlformats.org/drawingml/2006/main">
            <a:off x="566928" y="3566160"/>
            <a:ext cx="5327752" cy="2048256"/>
          </a:xfrm>
          <a:prstGeom xmlns:a="http://schemas.openxmlformats.org/drawingml/2006/main" prst="rect">
            <a:avLst/>
          </a:prstGeom>
          <a:solidFill xmlns:a="http://schemas.openxmlformats.org/drawingml/2006/main">
            <a:srgbClr val="F3E6E0"/>
          </a:solidFill>
        </p:spPr>
      </p:sp>
      <p:sp>
        <p:nvSpPr>
          <p:cNvPr id="19" name="Text 17">
            <a:extLst xmlns:a="http://schemas.openxmlformats.org/drawingml/2006/main">
              <a:ext uri="{FF2B5EF4-FFF2-40B4-BE49-F238E27FC236}">
                <a16:creationId xmlns:a16="http://schemas.microsoft.com/office/drawing/2014/main" id="{055B7D36-9C32-4B7A-B17B-F648D4F1764C}"/>
              </a:ext>
            </a:extLst>
          </p:cNvPr>
          <p:cNvSpPr>
            <a:spLocks xmlns:a="http://schemas.openxmlformats.org/drawingml/2006/main" noGrp="1"/>
          </p:cNvSpPr>
          <p:nvPr/>
        </p:nvSpPr>
        <p:spPr>
          <a:xfrm xmlns:a="http://schemas.openxmlformats.org/drawingml/2006/main">
            <a:off x="786384" y="3712464"/>
            <a:ext cx="4888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Termination for cause</a:t>
            </a:r>
            <a:endParaRPr sz="1200"/>
          </a:p>
        </p:txBody>
      </p:sp>
      <p:sp>
        <p:nvSpPr>
          <p:cNvPr id="20" name="Text 18">
            <a:extLst xmlns:a="http://schemas.openxmlformats.org/drawingml/2006/main">
              <a:ext uri="{FF2B5EF4-FFF2-40B4-BE49-F238E27FC236}">
                <a16:creationId xmlns:a16="http://schemas.microsoft.com/office/drawing/2014/main" id="{A90479DB-009C-4084-967C-31AF41D09870}"/>
              </a:ext>
            </a:extLst>
          </p:cNvPr>
          <p:cNvSpPr>
            <a:spLocks xmlns:a="http://schemas.openxmlformats.org/drawingml/2006/main" noGrp="1"/>
          </p:cNvSpPr>
          <p:nvPr/>
        </p:nvSpPr>
        <p:spPr>
          <a:xfrm xmlns:a="http://schemas.openxmlformats.org/drawingml/2006/main">
            <a:off x="786384" y="4005072"/>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INTEREST BEING PROTECTED</a:t>
            </a:r>
            <a:endParaRPr sz="740"/>
          </a:p>
        </p:txBody>
      </p:sp>
      <p:sp>
        <p:nvSpPr>
          <p:cNvPr id="21" name="Text 19">
            <a:extLst xmlns:a="http://schemas.openxmlformats.org/drawingml/2006/main">
              <a:ext uri="{FF2B5EF4-FFF2-40B4-BE49-F238E27FC236}">
                <a16:creationId xmlns:a16="http://schemas.microsoft.com/office/drawing/2014/main" id="{825C8283-ED20-4041-AB2C-0683458970C7}"/>
              </a:ext>
            </a:extLst>
          </p:cNvPr>
          <p:cNvSpPr>
            <a:spLocks xmlns:a="http://schemas.openxmlformats.org/drawingml/2006/main" noGrp="1"/>
          </p:cNvSpPr>
          <p:nvPr/>
        </p:nvSpPr>
        <p:spPr>
          <a:xfrm xmlns:a="http://schemas.openxmlformats.org/drawingml/2006/main">
            <a:off x="786384" y="4206240"/>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Not paying for work that was never delivered or was delivered unusably. A real consequence for non-performance.</a:t>
            </a:r>
            <a:endParaRPr sz="940"/>
          </a:p>
        </p:txBody>
      </p:sp>
      <p:sp>
        <p:nvSpPr>
          <p:cNvPr id="22" name="Shape 20">
            <a:extLst xmlns:a="http://schemas.openxmlformats.org/drawingml/2006/main">
              <a:ext uri="{FF2B5EF4-FFF2-40B4-BE49-F238E27FC236}">
                <a16:creationId xmlns:a16="http://schemas.microsoft.com/office/drawing/2014/main" id="{22A824A3-2112-47AA-8E7D-FFC5114DCE2E}"/>
              </a:ext>
            </a:extLst>
          </p:cNvPr>
          <p:cNvSpPr>
            <a:spLocks xmlns:a="http://schemas.openxmlformats.org/drawingml/2006/main" noGrp="1"/>
          </p:cNvSpPr>
          <p:nvPr/>
        </p:nvSpPr>
        <p:spPr>
          <a:xfrm xmlns:a="http://schemas.openxmlformats.org/drawingml/2006/main">
            <a:off x="786384" y="4864608"/>
            <a:ext cx="4888840"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A54855F2-836D-4A90-B19E-7FF831AF36CD}"/>
              </a:ext>
            </a:extLst>
          </p:cNvPr>
          <p:cNvSpPr>
            <a:spLocks xmlns:a="http://schemas.openxmlformats.org/drawingml/2006/main" noGrp="1"/>
          </p:cNvSpPr>
          <p:nvPr/>
        </p:nvSpPr>
        <p:spPr>
          <a:xfrm xmlns:a="http://schemas.openxmlformats.org/drawingml/2006/main">
            <a:off x="786384" y="497433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WHAT ALSO SATISFIES IT</a:t>
            </a:r>
            <a:endParaRPr sz="740"/>
          </a:p>
        </p:txBody>
      </p:sp>
      <p:sp>
        <p:nvSpPr>
          <p:cNvPr id="24" name="Text 22">
            <a:extLst xmlns:a="http://schemas.openxmlformats.org/drawingml/2006/main">
              <a:ext uri="{FF2B5EF4-FFF2-40B4-BE49-F238E27FC236}">
                <a16:creationId xmlns:a16="http://schemas.microsoft.com/office/drawing/2014/main" id="{43511DBD-B1E4-4E33-A779-F2FBADFD438D}"/>
              </a:ext>
            </a:extLst>
          </p:cNvPr>
          <p:cNvSpPr>
            <a:spLocks xmlns:a="http://schemas.openxmlformats.org/drawingml/2006/main" noGrp="1"/>
          </p:cNvSpPr>
          <p:nvPr/>
        </p:nvSpPr>
        <p:spPr>
          <a:xfrm xmlns:a="http://schemas.openxmlformats.org/drawingml/2006/main">
            <a:off x="786384" y="5175504"/>
            <a:ext cx="4888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Satisfied by acceptance-linked milestone payments and a refund scope limited to unaccepted work — rather than treating all payments as advances.</a:t>
            </a:r>
            <a:endParaRPr sz="940"/>
          </a:p>
        </p:txBody>
      </p:sp>
      <p:sp>
        <p:nvSpPr>
          <p:cNvPr id="25" name="Shape 23">
            <a:extLst xmlns:a="http://schemas.openxmlformats.org/drawingml/2006/main">
              <a:ext uri="{FF2B5EF4-FFF2-40B4-BE49-F238E27FC236}">
                <a16:creationId xmlns:a16="http://schemas.microsoft.com/office/drawing/2014/main" id="{6245AB9E-15C3-43B3-BA73-7F644E4C5D97}"/>
              </a:ext>
            </a:extLst>
          </p:cNvPr>
          <p:cNvSpPr>
            <a:spLocks xmlns:a="http://schemas.openxmlformats.org/drawingml/2006/main" noGrp="1"/>
          </p:cNvSpPr>
          <p:nvPr/>
        </p:nvSpPr>
        <p:spPr>
          <a:xfrm xmlns:a="http://schemas.openxmlformats.org/drawingml/2006/main">
            <a:off x="6297016" y="3566160"/>
            <a:ext cx="5327752" cy="2048256"/>
          </a:xfrm>
          <a:prstGeom xmlns:a="http://schemas.openxmlformats.org/drawingml/2006/main" prst="rect">
            <a:avLst/>
          </a:prstGeom>
          <a:solidFill xmlns:a="http://schemas.openxmlformats.org/drawingml/2006/main">
            <a:srgbClr val="F3E6E0"/>
          </a:solidFill>
        </p:spPr>
      </p:sp>
      <p:sp>
        <p:nvSpPr>
          <p:cNvPr id="26" name="Text 24">
            <a:extLst xmlns:a="http://schemas.openxmlformats.org/drawingml/2006/main">
              <a:ext uri="{FF2B5EF4-FFF2-40B4-BE49-F238E27FC236}">
                <a16:creationId xmlns:a16="http://schemas.microsoft.com/office/drawing/2014/main" id="{FBDD5F62-E1AC-4F78-824B-D25B5D097927}"/>
              </a:ext>
            </a:extLst>
          </p:cNvPr>
          <p:cNvSpPr>
            <a:spLocks xmlns:a="http://schemas.openxmlformats.org/drawingml/2006/main" noGrp="1"/>
          </p:cNvSpPr>
          <p:nvPr/>
        </p:nvSpPr>
        <p:spPr>
          <a:xfrm xmlns:a="http://schemas.openxmlformats.org/drawingml/2006/main">
            <a:off x="6516472" y="3712464"/>
            <a:ext cx="4888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Step-in rights</a:t>
            </a:r>
            <a:endParaRPr sz="1200"/>
          </a:p>
        </p:txBody>
      </p:sp>
      <p:sp>
        <p:nvSpPr>
          <p:cNvPr id="27" name="Text 25">
            <a:extLst xmlns:a="http://schemas.openxmlformats.org/drawingml/2006/main">
              <a:ext uri="{FF2B5EF4-FFF2-40B4-BE49-F238E27FC236}">
                <a16:creationId xmlns:a16="http://schemas.microsoft.com/office/drawing/2014/main" id="{A3BC2902-4442-4F57-B1E4-4072BB2AD235}"/>
              </a:ext>
            </a:extLst>
          </p:cNvPr>
          <p:cNvSpPr>
            <a:spLocks xmlns:a="http://schemas.openxmlformats.org/drawingml/2006/main" noGrp="1"/>
          </p:cNvSpPr>
          <p:nvPr/>
        </p:nvSpPr>
        <p:spPr>
          <a:xfrm xmlns:a="http://schemas.openxmlformats.org/drawingml/2006/main">
            <a:off x="6516472" y="4005072"/>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INTEREST BEING PROTECTED</a:t>
            </a:r>
            <a:endParaRPr sz="740"/>
          </a:p>
        </p:txBody>
      </p:sp>
      <p:sp>
        <p:nvSpPr>
          <p:cNvPr id="28" name="Text 26">
            <a:extLst xmlns:a="http://schemas.openxmlformats.org/drawingml/2006/main">
              <a:ext uri="{FF2B5EF4-FFF2-40B4-BE49-F238E27FC236}">
                <a16:creationId xmlns:a16="http://schemas.microsoft.com/office/drawing/2014/main" id="{878871F4-305D-4D6A-92C4-7ABCFD5B1EBB}"/>
              </a:ext>
            </a:extLst>
          </p:cNvPr>
          <p:cNvSpPr>
            <a:spLocks xmlns:a="http://schemas.openxmlformats.org/drawingml/2006/main" noGrp="1"/>
          </p:cNvSpPr>
          <p:nvPr/>
        </p:nvSpPr>
        <p:spPr>
          <a:xfrm xmlns:a="http://schemas.openxmlformats.org/drawingml/2006/main">
            <a:off x="6516472" y="4206240"/>
            <a:ext cx="488884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programme not stalling if the supplier cannot continue. Access to the environment, code and knowledge needed to keep going.</a:t>
            </a:r>
            <a:endParaRPr sz="940"/>
          </a:p>
        </p:txBody>
      </p:sp>
      <p:sp>
        <p:nvSpPr>
          <p:cNvPr id="29" name="Shape 27">
            <a:extLst xmlns:a="http://schemas.openxmlformats.org/drawingml/2006/main">
              <a:ext uri="{FF2B5EF4-FFF2-40B4-BE49-F238E27FC236}">
                <a16:creationId xmlns:a16="http://schemas.microsoft.com/office/drawing/2014/main" id="{D8C271E1-F66A-4A56-A9E0-F6D925080585}"/>
              </a:ext>
            </a:extLst>
          </p:cNvPr>
          <p:cNvSpPr>
            <a:spLocks xmlns:a="http://schemas.openxmlformats.org/drawingml/2006/main" noGrp="1"/>
          </p:cNvSpPr>
          <p:nvPr/>
        </p:nvSpPr>
        <p:spPr>
          <a:xfrm xmlns:a="http://schemas.openxmlformats.org/drawingml/2006/main">
            <a:off x="6516472" y="4864608"/>
            <a:ext cx="4888840" cy="13716"/>
          </a:xfrm>
          <a:prstGeom xmlns:a="http://schemas.openxmlformats.org/drawingml/2006/main" prst="rect">
            <a:avLst/>
          </a:prstGeom>
          <a:solidFill xmlns:a="http://schemas.openxmlformats.org/drawingml/2006/main">
            <a:srgbClr val="C6D2DE"/>
          </a:solidFill>
        </p:spPr>
      </p:sp>
      <p:sp>
        <p:nvSpPr>
          <p:cNvPr id="30" name="Text 28">
            <a:extLst xmlns:a="http://schemas.openxmlformats.org/drawingml/2006/main">
              <a:ext uri="{FF2B5EF4-FFF2-40B4-BE49-F238E27FC236}">
                <a16:creationId xmlns:a16="http://schemas.microsoft.com/office/drawing/2014/main" id="{C2A44173-6C89-4566-8F17-D68BD4C885A7}"/>
              </a:ext>
            </a:extLst>
          </p:cNvPr>
          <p:cNvSpPr>
            <a:spLocks xmlns:a="http://schemas.openxmlformats.org/drawingml/2006/main" noGrp="1"/>
          </p:cNvSpPr>
          <p:nvPr/>
        </p:nvSpPr>
        <p:spPr>
          <a:xfrm xmlns:a="http://schemas.openxmlformats.org/drawingml/2006/main">
            <a:off x="6516472" y="497433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WHAT ALSO SATISFIES IT</a:t>
            </a:r>
            <a:endParaRPr sz="740"/>
          </a:p>
        </p:txBody>
      </p:sp>
      <p:sp>
        <p:nvSpPr>
          <p:cNvPr id="31" name="Text 29">
            <a:extLst xmlns:a="http://schemas.openxmlformats.org/drawingml/2006/main">
              <a:ext uri="{FF2B5EF4-FFF2-40B4-BE49-F238E27FC236}">
                <a16:creationId xmlns:a16="http://schemas.microsoft.com/office/drawing/2014/main" id="{00F127C3-2B10-45E4-A665-12FCFA3050DB}"/>
              </a:ext>
            </a:extLst>
          </p:cNvPr>
          <p:cNvSpPr>
            <a:spLocks xmlns:a="http://schemas.openxmlformats.org/drawingml/2006/main" noGrp="1"/>
          </p:cNvSpPr>
          <p:nvPr/>
        </p:nvSpPr>
        <p:spPr>
          <a:xfrm xmlns:a="http://schemas.openxmlformats.org/drawingml/2006/main">
            <a:off x="6516472" y="5175504"/>
            <a:ext cx="48888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Satisfied by escrow release triggers, documented environments and a named continuity plan — without an open-ended cost recovery attached.</a:t>
            </a:r>
            <a:endParaRPr sz="940"/>
          </a:p>
        </p:txBody>
      </p:sp>
      <p:sp>
        <p:nvSpPr>
          <p:cNvPr id="32" name="Shape 30">
            <a:extLst xmlns:a="http://schemas.openxmlformats.org/drawingml/2006/main">
              <a:ext uri="{FF2B5EF4-FFF2-40B4-BE49-F238E27FC236}">
                <a16:creationId xmlns:a16="http://schemas.microsoft.com/office/drawing/2014/main" id="{C9475E81-FD2F-4379-80AD-1565F832B00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A7DC2124-B4BA-4D8D-AB87-A7DE935A459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34" name="Text 32">
            <a:extLst xmlns:a="http://schemas.openxmlformats.org/drawingml/2006/main">
              <a:ext uri="{FF2B5EF4-FFF2-40B4-BE49-F238E27FC236}">
                <a16:creationId xmlns:a16="http://schemas.microsoft.com/office/drawing/2014/main" id="{A73B885F-E28A-4658-8186-964777E6F8F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091717026"/>
      </p:ext>
    </p:extLst>
  </p:cSld>
</p:sld>
</file>

<file path=ppt/slides/slide13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6051818-35B4-4D8B-88B9-84EC4192B18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RESOLUTION SPACE</a:t>
            </a:r>
            <a:endParaRPr sz="950"/>
          </a:p>
        </p:txBody>
      </p:sp>
      <p:sp>
        <p:nvSpPr>
          <p:cNvPr id="3" name="Text 1">
            <a:extLst xmlns:a="http://schemas.openxmlformats.org/drawingml/2006/main">
              <a:ext uri="{FF2B5EF4-FFF2-40B4-BE49-F238E27FC236}">
                <a16:creationId xmlns:a16="http://schemas.microsoft.com/office/drawing/2014/main" id="{4326526F-7F11-40FD-9100-EF124441D3E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constructs resolve four of the five families — each gives the client the protection</a:t>
            </a:r>
            <a:endParaRPr sz="1900"/>
          </a:p>
          <a:p xmlns:a="http://schemas.openxmlformats.org/drawingml/2006/main">
            <a:pPr marL="0" indent="0">
              <a:lnSpc>
                <a:spcPts val="2400"/>
              </a:lnSpc>
              <a:buNone/>
            </a:pPr>
            <a:r>
              <a:rPr sz="1900" b="1">
                <a:solidFill>
                  <a:srgbClr val="102A43"/>
                </a:solidFill>
                <a:latin typeface="Arial"/>
                <a:ea typeface="Arial"/>
                <a:cs typeface="Arial"/>
              </a:rPr>
              <a:t>it needs without asking the supplier to concede the position</a:t>
            </a:r>
            <a:endParaRPr sz="1900"/>
          </a:p>
        </p:txBody>
      </p:sp>
      <p:sp>
        <p:nvSpPr>
          <p:cNvPr id="4" name="Shape 2">
            <a:extLst xmlns:a="http://schemas.openxmlformats.org/drawingml/2006/main">
              <a:ext uri="{FF2B5EF4-FFF2-40B4-BE49-F238E27FC236}">
                <a16:creationId xmlns:a16="http://schemas.microsoft.com/office/drawing/2014/main" id="{CCB72242-AF1D-4BEB-8E08-0114A9640115}"/>
              </a:ext>
            </a:extLst>
          </p:cNvPr>
          <p:cNvSpPr>
            <a:spLocks xmlns:a="http://schemas.openxmlformats.org/drawingml/2006/main" noGrp="1"/>
          </p:cNvSpPr>
          <p:nvPr/>
        </p:nvSpPr>
        <p:spPr>
          <a:xfrm xmlns:a="http://schemas.openxmlformats.org/drawingml/2006/main">
            <a:off x="566928" y="1335024"/>
            <a:ext cx="2641016" cy="283464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7EE56028-4554-4F87-89E3-5429BFA9E96A}"/>
              </a:ext>
            </a:extLst>
          </p:cNvPr>
          <p:cNvSpPr>
            <a:spLocks xmlns:a="http://schemas.openxmlformats.org/drawingml/2006/main" noGrp="1"/>
          </p:cNvSpPr>
          <p:nvPr/>
        </p:nvSpPr>
        <p:spPr>
          <a:xfrm xmlns:a="http://schemas.openxmlformats.org/drawingml/2006/main">
            <a:off x="768096" y="1481328"/>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004209E3-D37E-459A-889A-B580B26DE034}"/>
              </a:ext>
            </a:extLst>
          </p:cNvPr>
          <p:cNvSpPr>
            <a:spLocks xmlns:a="http://schemas.openxmlformats.org/drawingml/2006/main" noGrp="1"/>
          </p:cNvSpPr>
          <p:nvPr/>
        </p:nvSpPr>
        <p:spPr>
          <a:xfrm xmlns:a="http://schemas.openxmlformats.org/drawingml/2006/main">
            <a:off x="768096" y="1719072"/>
            <a:ext cx="22386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Source escrow with defined triggers</a:t>
            </a:r>
            <a:endParaRPr sz="1200"/>
          </a:p>
        </p:txBody>
      </p:sp>
      <p:sp>
        <p:nvSpPr>
          <p:cNvPr id="7" name="Text 5">
            <a:extLst xmlns:a="http://schemas.openxmlformats.org/drawingml/2006/main">
              <a:ext uri="{FF2B5EF4-FFF2-40B4-BE49-F238E27FC236}">
                <a16:creationId xmlns:a16="http://schemas.microsoft.com/office/drawing/2014/main" id="{12C609E7-71F0-4A9B-A99B-2528E3AF76EB}"/>
              </a:ext>
            </a:extLst>
          </p:cNvPr>
          <p:cNvSpPr>
            <a:spLocks xmlns:a="http://schemas.openxmlformats.org/drawingml/2006/main" noGrp="1"/>
          </p:cNvSpPr>
          <p:nvPr/>
        </p:nvSpPr>
        <p:spPr>
          <a:xfrm xmlns:a="http://schemas.openxmlformats.org/drawingml/2006/main">
            <a:off x="768096" y="2395728"/>
            <a:ext cx="2238680"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Source deposited with a third party, released to the client on named events: insolvency, acquisition by a competitor, product withdrawal, or sustained unremedied breach.</a:t>
            </a:r>
            <a:endParaRPr sz="940"/>
          </a:p>
        </p:txBody>
      </p:sp>
      <p:sp>
        <p:nvSpPr>
          <p:cNvPr id="8" name="Shape 6">
            <a:extLst xmlns:a="http://schemas.openxmlformats.org/drawingml/2006/main">
              <a:ext uri="{FF2B5EF4-FFF2-40B4-BE49-F238E27FC236}">
                <a16:creationId xmlns:a16="http://schemas.microsoft.com/office/drawing/2014/main" id="{9DE5FEF8-BA35-439F-A6B9-7B1135DF3630}"/>
              </a:ext>
            </a:extLst>
          </p:cNvPr>
          <p:cNvSpPr>
            <a:spLocks xmlns:a="http://schemas.openxmlformats.org/drawingml/2006/main" noGrp="1"/>
          </p:cNvSpPr>
          <p:nvPr/>
        </p:nvSpPr>
        <p:spPr>
          <a:xfrm xmlns:a="http://schemas.openxmlformats.org/drawingml/2006/main">
            <a:off x="768096" y="3694176"/>
            <a:ext cx="2238680" cy="13716"/>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ECBEF4CC-BDD6-4A6B-B1FC-63C996487BB7}"/>
              </a:ext>
            </a:extLst>
          </p:cNvPr>
          <p:cNvSpPr>
            <a:spLocks xmlns:a="http://schemas.openxmlformats.org/drawingml/2006/main" noGrp="1"/>
          </p:cNvSpPr>
          <p:nvPr/>
        </p:nvSpPr>
        <p:spPr>
          <a:xfrm xmlns:a="http://schemas.openxmlformats.org/drawingml/2006/main">
            <a:off x="768096" y="3822192"/>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i="1">
                <a:solidFill>
                  <a:srgbClr val="B04A25"/>
                </a:solidFill>
                <a:latin typeface="Arial"/>
                <a:ea typeface="Arial"/>
                <a:cs typeface="Arial"/>
              </a:rPr>
              <a:t>Continuity without transfer</a:t>
            </a:r>
            <a:endParaRPr sz="960"/>
          </a:p>
        </p:txBody>
      </p:sp>
      <p:sp>
        <p:nvSpPr>
          <p:cNvPr id="10" name="Shape 8">
            <a:extLst xmlns:a="http://schemas.openxmlformats.org/drawingml/2006/main">
              <a:ext uri="{FF2B5EF4-FFF2-40B4-BE49-F238E27FC236}">
                <a16:creationId xmlns:a16="http://schemas.microsoft.com/office/drawing/2014/main" id="{FAD37123-F891-45AC-8A7E-A5C4FC310A40}"/>
              </a:ext>
            </a:extLst>
          </p:cNvPr>
          <p:cNvSpPr>
            <a:spLocks xmlns:a="http://schemas.openxmlformats.org/drawingml/2006/main" noGrp="1"/>
          </p:cNvSpPr>
          <p:nvPr/>
        </p:nvSpPr>
        <p:spPr>
          <a:xfrm xmlns:a="http://schemas.openxmlformats.org/drawingml/2006/main">
            <a:off x="3372536" y="1335024"/>
            <a:ext cx="2641016" cy="283464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8FAD021B-FAEC-4D04-AC16-D8B50133768B}"/>
              </a:ext>
            </a:extLst>
          </p:cNvPr>
          <p:cNvSpPr>
            <a:spLocks xmlns:a="http://schemas.openxmlformats.org/drawingml/2006/main" noGrp="1"/>
          </p:cNvSpPr>
          <p:nvPr/>
        </p:nvSpPr>
        <p:spPr>
          <a:xfrm xmlns:a="http://schemas.openxmlformats.org/drawingml/2006/main">
            <a:off x="3573704" y="1481328"/>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02</a:t>
            </a:r>
            <a:endParaRPr sz="840"/>
          </a:p>
        </p:txBody>
      </p:sp>
      <p:sp>
        <p:nvSpPr>
          <p:cNvPr id="12" name="Text 10">
            <a:extLst xmlns:a="http://schemas.openxmlformats.org/drawingml/2006/main">
              <a:ext uri="{FF2B5EF4-FFF2-40B4-BE49-F238E27FC236}">
                <a16:creationId xmlns:a16="http://schemas.microsoft.com/office/drawing/2014/main" id="{64BF2E05-27D9-4E98-ADD5-8827C2F6156A}"/>
              </a:ext>
            </a:extLst>
          </p:cNvPr>
          <p:cNvSpPr>
            <a:spLocks xmlns:a="http://schemas.openxmlformats.org/drawingml/2006/main" noGrp="1"/>
          </p:cNvSpPr>
          <p:nvPr/>
        </p:nvSpPr>
        <p:spPr>
          <a:xfrm xmlns:a="http://schemas.openxmlformats.org/drawingml/2006/main">
            <a:off x="3573704" y="1719072"/>
            <a:ext cx="22386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Perpetual, transferable licence</a:t>
            </a:r>
            <a:endParaRPr sz="1200"/>
          </a:p>
        </p:txBody>
      </p:sp>
      <p:sp>
        <p:nvSpPr>
          <p:cNvPr id="13" name="Text 11">
            <a:extLst xmlns:a="http://schemas.openxmlformats.org/drawingml/2006/main">
              <a:ext uri="{FF2B5EF4-FFF2-40B4-BE49-F238E27FC236}">
                <a16:creationId xmlns:a16="http://schemas.microsoft.com/office/drawing/2014/main" id="{CEBF150C-62EA-4D77-8CB6-9343E259F00A}"/>
              </a:ext>
            </a:extLst>
          </p:cNvPr>
          <p:cNvSpPr>
            <a:spLocks xmlns:a="http://schemas.openxmlformats.org/drawingml/2006/main" noGrp="1"/>
          </p:cNvSpPr>
          <p:nvPr/>
        </p:nvSpPr>
        <p:spPr>
          <a:xfrm xmlns:a="http://schemas.openxmlformats.org/drawingml/2006/main">
            <a:off x="3573704" y="2395728"/>
            <a:ext cx="2238680"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A licence that survives the relationship, cannot be unilaterally repriced for the deployed scope, and permits the client to operate and configure without further consent.</a:t>
            </a:r>
            <a:endParaRPr sz="940"/>
          </a:p>
        </p:txBody>
      </p:sp>
      <p:sp>
        <p:nvSpPr>
          <p:cNvPr id="14" name="Shape 12">
            <a:extLst xmlns:a="http://schemas.openxmlformats.org/drawingml/2006/main">
              <a:ext uri="{FF2B5EF4-FFF2-40B4-BE49-F238E27FC236}">
                <a16:creationId xmlns:a16="http://schemas.microsoft.com/office/drawing/2014/main" id="{D25380C7-D977-4D1C-82D0-4D74185ACC6D}"/>
              </a:ext>
            </a:extLst>
          </p:cNvPr>
          <p:cNvSpPr>
            <a:spLocks xmlns:a="http://schemas.openxmlformats.org/drawingml/2006/main" noGrp="1"/>
          </p:cNvSpPr>
          <p:nvPr/>
        </p:nvSpPr>
        <p:spPr>
          <a:xfrm xmlns:a="http://schemas.openxmlformats.org/drawingml/2006/main">
            <a:off x="3573704" y="3694176"/>
            <a:ext cx="2238680" cy="13716"/>
          </a:xfrm>
          <a:prstGeom xmlns:a="http://schemas.openxmlformats.org/drawingml/2006/main" prst="rect">
            <a:avLst/>
          </a:prstGeom>
          <a:solidFill xmlns:a="http://schemas.openxmlformats.org/drawingml/2006/main">
            <a:srgbClr val="C6D2DE"/>
          </a:solidFill>
        </p:spPr>
      </p:sp>
      <p:sp>
        <p:nvSpPr>
          <p:cNvPr id="15" name="Text 13">
            <a:extLst xmlns:a="http://schemas.openxmlformats.org/drawingml/2006/main">
              <a:ext uri="{FF2B5EF4-FFF2-40B4-BE49-F238E27FC236}">
                <a16:creationId xmlns:a16="http://schemas.microsoft.com/office/drawing/2014/main" id="{1B36A9B1-EB7C-44EF-A7A5-F4CD22164392}"/>
              </a:ext>
            </a:extLst>
          </p:cNvPr>
          <p:cNvSpPr>
            <a:spLocks xmlns:a="http://schemas.openxmlformats.org/drawingml/2006/main" noGrp="1"/>
          </p:cNvSpPr>
          <p:nvPr/>
        </p:nvSpPr>
        <p:spPr>
          <a:xfrm xmlns:a="http://schemas.openxmlformats.org/drawingml/2006/main">
            <a:off x="3573704" y="3822192"/>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i="1">
                <a:solidFill>
                  <a:srgbClr val="B04A25"/>
                </a:solidFill>
                <a:latin typeface="Arial"/>
                <a:ea typeface="Arial"/>
                <a:cs typeface="Arial"/>
              </a:rPr>
              <a:t>Control without ownership</a:t>
            </a:r>
            <a:endParaRPr sz="960"/>
          </a:p>
        </p:txBody>
      </p:sp>
      <p:sp>
        <p:nvSpPr>
          <p:cNvPr id="16" name="Shape 14">
            <a:extLst xmlns:a="http://schemas.openxmlformats.org/drawingml/2006/main">
              <a:ext uri="{FF2B5EF4-FFF2-40B4-BE49-F238E27FC236}">
                <a16:creationId xmlns:a16="http://schemas.microsoft.com/office/drawing/2014/main" id="{4016C855-0D2F-4535-94CA-4F1CE8D788C7}"/>
              </a:ext>
            </a:extLst>
          </p:cNvPr>
          <p:cNvSpPr>
            <a:spLocks xmlns:a="http://schemas.openxmlformats.org/drawingml/2006/main" noGrp="1"/>
          </p:cNvSpPr>
          <p:nvPr/>
        </p:nvSpPr>
        <p:spPr>
          <a:xfrm xmlns:a="http://schemas.openxmlformats.org/drawingml/2006/main">
            <a:off x="6178144" y="1335024"/>
            <a:ext cx="2641016" cy="2834640"/>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60816FFF-8049-4960-98E3-4507864D659D}"/>
              </a:ext>
            </a:extLst>
          </p:cNvPr>
          <p:cNvSpPr>
            <a:spLocks xmlns:a="http://schemas.openxmlformats.org/drawingml/2006/main" noGrp="1"/>
          </p:cNvSpPr>
          <p:nvPr/>
        </p:nvSpPr>
        <p:spPr>
          <a:xfrm xmlns:a="http://schemas.openxmlformats.org/drawingml/2006/main">
            <a:off x="6379312" y="1481328"/>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8" name="Text 16">
            <a:extLst xmlns:a="http://schemas.openxmlformats.org/drawingml/2006/main">
              <a:ext uri="{FF2B5EF4-FFF2-40B4-BE49-F238E27FC236}">
                <a16:creationId xmlns:a16="http://schemas.microsoft.com/office/drawing/2014/main" id="{52A109CB-2A1F-44E9-B557-767144BD2A9D}"/>
              </a:ext>
            </a:extLst>
          </p:cNvPr>
          <p:cNvSpPr>
            <a:spLocks xmlns:a="http://schemas.openxmlformats.org/drawingml/2006/main" noGrp="1"/>
          </p:cNvSpPr>
          <p:nvPr/>
        </p:nvSpPr>
        <p:spPr>
          <a:xfrm xmlns:a="http://schemas.openxmlformats.org/drawingml/2006/main">
            <a:off x="6379312" y="1719072"/>
            <a:ext cx="22386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Scoped transition service</a:t>
            </a:r>
            <a:endParaRPr sz="1200"/>
          </a:p>
        </p:txBody>
      </p:sp>
      <p:sp>
        <p:nvSpPr>
          <p:cNvPr id="19" name="Text 17">
            <a:extLst xmlns:a="http://schemas.openxmlformats.org/drawingml/2006/main">
              <a:ext uri="{FF2B5EF4-FFF2-40B4-BE49-F238E27FC236}">
                <a16:creationId xmlns:a16="http://schemas.microsoft.com/office/drawing/2014/main" id="{2A0ED5FE-D745-4179-9848-4041C3C506A1}"/>
              </a:ext>
            </a:extLst>
          </p:cNvPr>
          <p:cNvSpPr>
            <a:spLocks xmlns:a="http://schemas.openxmlformats.org/drawingml/2006/main" noGrp="1"/>
          </p:cNvSpPr>
          <p:nvPr/>
        </p:nvSpPr>
        <p:spPr>
          <a:xfrm xmlns:a="http://schemas.openxmlformats.org/drawingml/2006/main">
            <a:off x="6379312" y="2395728"/>
            <a:ext cx="2238680"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A defined exit package: duration, deliverables, knowledge transfer and pre-agreed rates. Priced, bounded and available on request rather than free and unlimited.</a:t>
            </a:r>
            <a:endParaRPr sz="940"/>
          </a:p>
        </p:txBody>
      </p:sp>
      <p:sp>
        <p:nvSpPr>
          <p:cNvPr id="20" name="Shape 18">
            <a:extLst xmlns:a="http://schemas.openxmlformats.org/drawingml/2006/main">
              <a:ext uri="{FF2B5EF4-FFF2-40B4-BE49-F238E27FC236}">
                <a16:creationId xmlns:a16="http://schemas.microsoft.com/office/drawing/2014/main" id="{7FC6A654-E71F-49AC-925A-D15D3C4C442D}"/>
              </a:ext>
            </a:extLst>
          </p:cNvPr>
          <p:cNvSpPr>
            <a:spLocks xmlns:a="http://schemas.openxmlformats.org/drawingml/2006/main" noGrp="1"/>
          </p:cNvSpPr>
          <p:nvPr/>
        </p:nvSpPr>
        <p:spPr>
          <a:xfrm xmlns:a="http://schemas.openxmlformats.org/drawingml/2006/main">
            <a:off x="6379312" y="3694176"/>
            <a:ext cx="2238680" cy="13716"/>
          </a:xfrm>
          <a:prstGeom xmlns:a="http://schemas.openxmlformats.org/drawingml/2006/main" prst="rect">
            <a:avLst/>
          </a:prstGeom>
          <a:solidFill xmlns:a="http://schemas.openxmlformats.org/drawingml/2006/main">
            <a:srgbClr val="C6D2DE"/>
          </a:solidFill>
        </p:spPr>
      </p:sp>
      <p:sp>
        <p:nvSpPr>
          <p:cNvPr id="21" name="Text 19">
            <a:extLst xmlns:a="http://schemas.openxmlformats.org/drawingml/2006/main">
              <a:ext uri="{FF2B5EF4-FFF2-40B4-BE49-F238E27FC236}">
                <a16:creationId xmlns:a16="http://schemas.microsoft.com/office/drawing/2014/main" id="{7DE43AED-0216-424D-B6B7-5B5602C0D9D2}"/>
              </a:ext>
            </a:extLst>
          </p:cNvPr>
          <p:cNvSpPr>
            <a:spLocks xmlns:a="http://schemas.openxmlformats.org/drawingml/2006/main" noGrp="1"/>
          </p:cNvSpPr>
          <p:nvPr/>
        </p:nvSpPr>
        <p:spPr>
          <a:xfrm xmlns:a="http://schemas.openxmlformats.org/drawingml/2006/main">
            <a:off x="6379312" y="3822192"/>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i="1">
                <a:solidFill>
                  <a:srgbClr val="486581"/>
                </a:solidFill>
                <a:latin typeface="Arial"/>
                <a:ea typeface="Arial"/>
                <a:cs typeface="Arial"/>
              </a:rPr>
              <a:t>Exit without hostage risk</a:t>
            </a:r>
            <a:endParaRPr sz="960"/>
          </a:p>
        </p:txBody>
      </p:sp>
      <p:sp>
        <p:nvSpPr>
          <p:cNvPr id="22" name="Shape 20">
            <a:extLst xmlns:a="http://schemas.openxmlformats.org/drawingml/2006/main">
              <a:ext uri="{FF2B5EF4-FFF2-40B4-BE49-F238E27FC236}">
                <a16:creationId xmlns:a16="http://schemas.microsoft.com/office/drawing/2014/main" id="{4D056CC9-BEDB-4491-B625-641A5ADBEBF7}"/>
              </a:ext>
            </a:extLst>
          </p:cNvPr>
          <p:cNvSpPr>
            <a:spLocks xmlns:a="http://schemas.openxmlformats.org/drawingml/2006/main" noGrp="1"/>
          </p:cNvSpPr>
          <p:nvPr/>
        </p:nvSpPr>
        <p:spPr>
          <a:xfrm xmlns:a="http://schemas.openxmlformats.org/drawingml/2006/main">
            <a:off x="8983751" y="1335024"/>
            <a:ext cx="2641016" cy="2834640"/>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9D2CD625-6CA0-47C3-A0EA-9EE90514A620}"/>
              </a:ext>
            </a:extLst>
          </p:cNvPr>
          <p:cNvSpPr>
            <a:spLocks xmlns:a="http://schemas.openxmlformats.org/drawingml/2006/main" noGrp="1"/>
          </p:cNvSpPr>
          <p:nvPr/>
        </p:nvSpPr>
        <p:spPr>
          <a:xfrm xmlns:a="http://schemas.openxmlformats.org/drawingml/2006/main">
            <a:off x="9184919" y="1481328"/>
            <a:ext cx="223868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24" name="Text 22">
            <a:extLst xmlns:a="http://schemas.openxmlformats.org/drawingml/2006/main">
              <a:ext uri="{FF2B5EF4-FFF2-40B4-BE49-F238E27FC236}">
                <a16:creationId xmlns:a16="http://schemas.microsoft.com/office/drawing/2014/main" id="{59107E0D-6C68-4632-A7CF-BAB1ECD23894}"/>
              </a:ext>
            </a:extLst>
          </p:cNvPr>
          <p:cNvSpPr>
            <a:spLocks xmlns:a="http://schemas.openxmlformats.org/drawingml/2006/main" noGrp="1"/>
          </p:cNvSpPr>
          <p:nvPr/>
        </p:nvSpPr>
        <p:spPr>
          <a:xfrm xmlns:a="http://schemas.openxmlformats.org/drawingml/2006/main">
            <a:off x="9184919" y="1719072"/>
            <a:ext cx="223868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Acceptance-linked milestones</a:t>
            </a:r>
            <a:endParaRPr sz="1200"/>
          </a:p>
        </p:txBody>
      </p:sp>
      <p:sp>
        <p:nvSpPr>
          <p:cNvPr id="25" name="Text 23">
            <a:extLst xmlns:a="http://schemas.openxmlformats.org/drawingml/2006/main">
              <a:ext uri="{FF2B5EF4-FFF2-40B4-BE49-F238E27FC236}">
                <a16:creationId xmlns:a16="http://schemas.microsoft.com/office/drawing/2014/main" id="{B1E92F72-BA03-4BD2-A410-20AEA8BF0B8B}"/>
              </a:ext>
            </a:extLst>
          </p:cNvPr>
          <p:cNvSpPr>
            <a:spLocks xmlns:a="http://schemas.openxmlformats.org/drawingml/2006/main" noGrp="1"/>
          </p:cNvSpPr>
          <p:nvPr/>
        </p:nvSpPr>
        <p:spPr>
          <a:xfrm xmlns:a="http://schemas.openxmlformats.org/drawingml/2006/main">
            <a:off x="9184919" y="2395728"/>
            <a:ext cx="2238680" cy="12435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Payment released against accepted milestones, with refund scope limited to work not accepted. Replaces treating every payment as a contingent advance.</a:t>
            </a:r>
            <a:endParaRPr sz="940"/>
          </a:p>
        </p:txBody>
      </p:sp>
      <p:sp>
        <p:nvSpPr>
          <p:cNvPr id="26" name="Shape 24">
            <a:extLst xmlns:a="http://schemas.openxmlformats.org/drawingml/2006/main">
              <a:ext uri="{FF2B5EF4-FFF2-40B4-BE49-F238E27FC236}">
                <a16:creationId xmlns:a16="http://schemas.microsoft.com/office/drawing/2014/main" id="{2F62D3EC-80EE-45F8-9E68-7860A7C63A3F}"/>
              </a:ext>
            </a:extLst>
          </p:cNvPr>
          <p:cNvSpPr>
            <a:spLocks xmlns:a="http://schemas.openxmlformats.org/drawingml/2006/main" noGrp="1"/>
          </p:cNvSpPr>
          <p:nvPr/>
        </p:nvSpPr>
        <p:spPr>
          <a:xfrm xmlns:a="http://schemas.openxmlformats.org/drawingml/2006/main">
            <a:off x="9184919" y="3694176"/>
            <a:ext cx="2238680" cy="13716"/>
          </a:xfrm>
          <a:prstGeom xmlns:a="http://schemas.openxmlformats.org/drawingml/2006/main" prst="rect">
            <a:avLst/>
          </a:prstGeom>
          <a:solidFill xmlns:a="http://schemas.openxmlformats.org/drawingml/2006/main">
            <a:srgbClr val="C6D2DE"/>
          </a:solidFill>
        </p:spPr>
      </p:sp>
      <p:sp>
        <p:nvSpPr>
          <p:cNvPr id="27" name="Text 25">
            <a:extLst xmlns:a="http://schemas.openxmlformats.org/drawingml/2006/main">
              <a:ext uri="{FF2B5EF4-FFF2-40B4-BE49-F238E27FC236}">
                <a16:creationId xmlns:a16="http://schemas.microsoft.com/office/drawing/2014/main" id="{B57D12BC-53D4-4D18-88DD-9A844C46FF72}"/>
              </a:ext>
            </a:extLst>
          </p:cNvPr>
          <p:cNvSpPr>
            <a:spLocks xmlns:a="http://schemas.openxmlformats.org/drawingml/2006/main" noGrp="1"/>
          </p:cNvSpPr>
          <p:nvPr/>
        </p:nvSpPr>
        <p:spPr>
          <a:xfrm xmlns:a="http://schemas.openxmlformats.org/drawingml/2006/main">
            <a:off x="9184919" y="3822192"/>
            <a:ext cx="2238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i="1">
                <a:solidFill>
                  <a:srgbClr val="486581"/>
                </a:solidFill>
                <a:latin typeface="Arial"/>
                <a:ea typeface="Arial"/>
                <a:cs typeface="Arial"/>
              </a:rPr>
              <a:t>Consequence without contingency</a:t>
            </a:r>
            <a:endParaRPr sz="960"/>
          </a:p>
        </p:txBody>
      </p:sp>
      <p:sp>
        <p:nvSpPr>
          <p:cNvPr id="28" name="Shape 26">
            <a:extLst xmlns:a="http://schemas.openxmlformats.org/drawingml/2006/main">
              <a:ext uri="{FF2B5EF4-FFF2-40B4-BE49-F238E27FC236}">
                <a16:creationId xmlns:a16="http://schemas.microsoft.com/office/drawing/2014/main" id="{D2B2B106-FFCA-4DA3-A382-04CBF07D19C5}"/>
              </a:ext>
            </a:extLst>
          </p:cNvPr>
          <p:cNvSpPr>
            <a:spLocks xmlns:a="http://schemas.openxmlformats.org/drawingml/2006/main" noGrp="1"/>
          </p:cNvSpPr>
          <p:nvPr/>
        </p:nvSpPr>
        <p:spPr>
          <a:xfrm xmlns:a="http://schemas.openxmlformats.org/drawingml/2006/main">
            <a:off x="566928" y="4425696"/>
            <a:ext cx="11057839" cy="1645920"/>
          </a:xfrm>
          <a:prstGeom xmlns:a="http://schemas.openxmlformats.org/drawingml/2006/main" prst="rect">
            <a:avLst/>
          </a:prstGeom>
          <a:solidFill xmlns:a="http://schemas.openxmlformats.org/drawingml/2006/main">
            <a:srgbClr val="F3E6E0"/>
          </a:solidFill>
        </p:spPr>
      </p:sp>
      <p:sp>
        <p:nvSpPr>
          <p:cNvPr id="29" name="Text 27">
            <a:extLst xmlns:a="http://schemas.openxmlformats.org/drawingml/2006/main">
              <a:ext uri="{FF2B5EF4-FFF2-40B4-BE49-F238E27FC236}">
                <a16:creationId xmlns:a16="http://schemas.microsoft.com/office/drawing/2014/main" id="{48161D2C-2236-4058-9FB2-DCC16281131A}"/>
              </a:ext>
            </a:extLst>
          </p:cNvPr>
          <p:cNvSpPr>
            <a:spLocks xmlns:a="http://schemas.openxmlformats.org/drawingml/2006/main" noGrp="1"/>
          </p:cNvSpPr>
          <p:nvPr/>
        </p:nvSpPr>
        <p:spPr>
          <a:xfrm xmlns:a="http://schemas.openxmlformats.org/drawingml/2006/main">
            <a:off x="804672" y="457200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fifth family — and why it is different</a:t>
            </a:r>
            <a:endParaRPr sz="1100"/>
          </a:p>
        </p:txBody>
      </p:sp>
      <p:sp>
        <p:nvSpPr>
          <p:cNvPr id="30" name="Text 28">
            <a:extLst xmlns:a="http://schemas.openxmlformats.org/drawingml/2006/main">
              <a:ext uri="{FF2B5EF4-FFF2-40B4-BE49-F238E27FC236}">
                <a16:creationId xmlns:a16="http://schemas.microsoft.com/office/drawing/2014/main" id="{54E81773-0282-40D0-9F51-9BBA5C67D738}"/>
              </a:ext>
            </a:extLst>
          </p:cNvPr>
          <p:cNvSpPr>
            <a:spLocks xmlns:a="http://schemas.openxmlformats.org/drawingml/2006/main" noGrp="1"/>
          </p:cNvSpPr>
          <p:nvPr/>
        </p:nvSpPr>
        <p:spPr>
          <a:xfrm xmlns:a="http://schemas.openxmlformats.org/drawingml/2006/main">
            <a:off x="804672" y="4828032"/>
            <a:ext cx="10582351"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Delay penalties are not resolved by a construct, because the interest behind them is genuine and unavoidable: the client is exposed to real cost if a distribution platform for 125,000 sellers arrives late, and it wants that exposure shared.</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supplier's resistance is equally genuine. On a programme embedded inside a client-owned application container, with client-side integration dependencies and client-side user acceptance, schedule risk is jointly held and a unilateral penalty allocates it to one party.</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There are partial answers — penalties tied only to supplier-controlled milestones, relief events defined for client-caused delay, a cap proportionate to the fee at risk. But the underlying disagreement about who owns schedule risk on a jointly delivered programme does not disappear. It should be decided deliberately, early, as a walk-away test — not discovered at contract review after the bid has been paid for.</a:t>
            </a:r>
            <a:endParaRPr sz="990"/>
          </a:p>
        </p:txBody>
      </p:sp>
      <p:sp>
        <p:nvSpPr>
          <p:cNvPr id="31" name="Shape 29">
            <a:extLst xmlns:a="http://schemas.openxmlformats.org/drawingml/2006/main">
              <a:ext uri="{FF2B5EF4-FFF2-40B4-BE49-F238E27FC236}">
                <a16:creationId xmlns:a16="http://schemas.microsoft.com/office/drawing/2014/main" id="{64403AB0-A741-40CD-93F9-202A4B1596B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2" name="Text 30">
            <a:extLst xmlns:a="http://schemas.openxmlformats.org/drawingml/2006/main">
              <a:ext uri="{FF2B5EF4-FFF2-40B4-BE49-F238E27FC236}">
                <a16:creationId xmlns:a16="http://schemas.microsoft.com/office/drawing/2014/main" id="{0A4002D5-5B7F-45B6-8911-63210BBC3D8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33" name="Text 31">
            <a:extLst xmlns:a="http://schemas.openxmlformats.org/drawingml/2006/main">
              <a:ext uri="{FF2B5EF4-FFF2-40B4-BE49-F238E27FC236}">
                <a16:creationId xmlns:a16="http://schemas.microsoft.com/office/drawing/2014/main" id="{6EFDBBEB-39A7-48AF-9639-1C2B78F48E4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8738320"/>
      </p:ext>
    </p:extLst>
  </p:cSld>
</p:sld>
</file>

<file path=ppt/slides/slide1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15BC3B9-F7CC-4625-8782-D78BD419D7B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INTERNAL CONTRADICTIONS</a:t>
            </a:r>
            <a:endParaRPr sz="950"/>
          </a:p>
        </p:txBody>
      </p:sp>
      <p:sp>
        <p:nvSpPr>
          <p:cNvPr id="3" name="Text 1">
            <a:extLst xmlns:a="http://schemas.openxmlformats.org/drawingml/2006/main">
              <a:ext uri="{FF2B5EF4-FFF2-40B4-BE49-F238E27FC236}">
                <a16:creationId xmlns:a16="http://schemas.microsoft.com/office/drawing/2014/main" id="{27A12B6E-788B-47E0-8B1B-27CBE3420777}"/>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requirements contradict each other inside the client's own documents — worth</a:t>
            </a:r>
            <a:endParaRPr sz="1900"/>
          </a:p>
          <a:p xmlns:a="http://schemas.openxmlformats.org/drawingml/2006/main">
            <a:pPr marL="0" indent="0">
              <a:lnSpc>
                <a:spcPts val="2400"/>
              </a:lnSpc>
              <a:buNone/>
            </a:pPr>
            <a:r>
              <a:rPr sz="1900" b="1">
                <a:solidFill>
                  <a:srgbClr val="102A43"/>
                </a:solidFill>
                <a:latin typeface="Arial"/>
                <a:ea typeface="Arial"/>
                <a:cs typeface="Arial"/>
              </a:rPr>
              <a:t>finding, because each one is an opening rather than a problem</a:t>
            </a:r>
            <a:endParaRPr sz="1900"/>
          </a:p>
        </p:txBody>
      </p:sp>
      <p:sp>
        <p:nvSpPr>
          <p:cNvPr id="4" name="Shape 2">
            <a:extLst xmlns:a="http://schemas.openxmlformats.org/drawingml/2006/main">
              <a:ext uri="{FF2B5EF4-FFF2-40B4-BE49-F238E27FC236}">
                <a16:creationId xmlns:a16="http://schemas.microsoft.com/office/drawing/2014/main" id="{874FB02B-C634-4F87-8B0E-56DC9F878155}"/>
              </a:ext>
            </a:extLst>
          </p:cNvPr>
          <p:cNvSpPr>
            <a:spLocks xmlns:a="http://schemas.openxmlformats.org/drawingml/2006/main" noGrp="1"/>
          </p:cNvSpPr>
          <p:nvPr/>
        </p:nvSpPr>
        <p:spPr>
          <a:xfrm xmlns:a="http://schemas.openxmlformats.org/drawingml/2006/main">
            <a:off x="566928" y="1335024"/>
            <a:ext cx="3551834" cy="411480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A47CBF3B-7C44-442E-9B6E-9F12FF280CDB}"/>
              </a:ext>
            </a:extLst>
          </p:cNvPr>
          <p:cNvSpPr>
            <a:spLocks xmlns:a="http://schemas.openxmlformats.org/drawingml/2006/main" noGrp="1"/>
          </p:cNvSpPr>
          <p:nvPr/>
        </p:nvSpPr>
        <p:spPr>
          <a:xfrm xmlns:a="http://schemas.openxmlformats.org/drawingml/2006/main">
            <a:off x="768096" y="1481328"/>
            <a:ext cx="314949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00"/>
              </a:lnSpc>
              <a:buNone/>
            </a:pPr>
            <a:r>
              <a:rPr sz="1700" b="1">
                <a:solidFill>
                  <a:srgbClr val="9FB3C8"/>
                </a:solidFill>
                <a:latin typeface="Arial"/>
                <a:ea typeface="Arial"/>
                <a:cs typeface="Arial"/>
              </a:rPr>
              <a:t>01</a:t>
            </a:r>
            <a:endParaRPr sz="1700"/>
          </a:p>
        </p:txBody>
      </p:sp>
      <p:sp>
        <p:nvSpPr>
          <p:cNvPr id="6" name="Text 4">
            <a:extLst xmlns:a="http://schemas.openxmlformats.org/drawingml/2006/main">
              <a:ext uri="{FF2B5EF4-FFF2-40B4-BE49-F238E27FC236}">
                <a16:creationId xmlns:a16="http://schemas.microsoft.com/office/drawing/2014/main" id="{813584E4-B3F4-48D2-8F81-7449DBB80528}"/>
              </a:ext>
            </a:extLst>
          </p:cNvPr>
          <p:cNvSpPr>
            <a:spLocks xmlns:a="http://schemas.openxmlformats.org/drawingml/2006/main" noGrp="1"/>
          </p:cNvSpPr>
          <p:nvPr/>
        </p:nvSpPr>
        <p:spPr>
          <a:xfrm xmlns:a="http://schemas.openxmlformats.org/drawingml/2006/main">
            <a:off x="768096" y="1810512"/>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Hypercare duration</a:t>
            </a:r>
            <a:endParaRPr sz="1250"/>
          </a:p>
        </p:txBody>
      </p:sp>
      <p:sp>
        <p:nvSpPr>
          <p:cNvPr id="7" name="Text 5">
            <a:extLst xmlns:a="http://schemas.openxmlformats.org/drawingml/2006/main">
              <a:ext uri="{FF2B5EF4-FFF2-40B4-BE49-F238E27FC236}">
                <a16:creationId xmlns:a16="http://schemas.microsoft.com/office/drawing/2014/main" id="{0EF87946-9534-44D7-BE7A-F7C4825FD924}"/>
              </a:ext>
            </a:extLst>
          </p:cNvPr>
          <p:cNvSpPr>
            <a:spLocks xmlns:a="http://schemas.openxmlformats.org/drawingml/2006/main" noGrp="1"/>
          </p:cNvSpPr>
          <p:nvPr/>
        </p:nvSpPr>
        <p:spPr>
          <a:xfrm xmlns:a="http://schemas.openxmlformats.org/drawingml/2006/main">
            <a:off x="768096" y="215798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ONE DOCUMENT SAYS</a:t>
            </a:r>
            <a:endParaRPr sz="740"/>
          </a:p>
        </p:txBody>
      </p:sp>
      <p:sp>
        <p:nvSpPr>
          <p:cNvPr id="8" name="Text 6">
            <a:extLst xmlns:a="http://schemas.openxmlformats.org/drawingml/2006/main">
              <a:ext uri="{FF2B5EF4-FFF2-40B4-BE49-F238E27FC236}">
                <a16:creationId xmlns:a16="http://schemas.microsoft.com/office/drawing/2014/main" id="{D9F7A68B-E4F4-439A-A7E3-B811FC884157}"/>
              </a:ext>
            </a:extLst>
          </p:cNvPr>
          <p:cNvSpPr>
            <a:spLocks xmlns:a="http://schemas.openxmlformats.org/drawingml/2006/main" noGrp="1"/>
          </p:cNvSpPr>
          <p:nvPr/>
        </p:nvSpPr>
        <p:spPr>
          <a:xfrm xmlns:a="http://schemas.openxmlformats.org/drawingml/2006/main">
            <a:off x="768096" y="2359152"/>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scope of work specifies a short hypercare window with on-call support for critical incidents.</a:t>
            </a:r>
            <a:endParaRPr sz="930"/>
          </a:p>
        </p:txBody>
      </p:sp>
      <p:sp>
        <p:nvSpPr>
          <p:cNvPr id="9" name="Text 7">
            <a:extLst xmlns:a="http://schemas.openxmlformats.org/drawingml/2006/main">
              <a:ext uri="{FF2B5EF4-FFF2-40B4-BE49-F238E27FC236}">
                <a16:creationId xmlns:a16="http://schemas.microsoft.com/office/drawing/2014/main" id="{AA40B09B-5C07-414B-ABB6-CB8CE3C52144}"/>
              </a:ext>
            </a:extLst>
          </p:cNvPr>
          <p:cNvSpPr>
            <a:spLocks xmlns:a="http://schemas.openxmlformats.org/drawingml/2006/main" noGrp="1"/>
          </p:cNvSpPr>
          <p:nvPr/>
        </p:nvSpPr>
        <p:spPr>
          <a:xfrm xmlns:a="http://schemas.openxmlformats.org/drawingml/2006/main">
            <a:off x="768096" y="3127248"/>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ANOTHER SAYS</a:t>
            </a:r>
            <a:endParaRPr sz="740"/>
          </a:p>
        </p:txBody>
      </p:sp>
      <p:sp>
        <p:nvSpPr>
          <p:cNvPr id="10" name="Text 8">
            <a:extLst xmlns:a="http://schemas.openxmlformats.org/drawingml/2006/main">
              <a:ext uri="{FF2B5EF4-FFF2-40B4-BE49-F238E27FC236}">
                <a16:creationId xmlns:a16="http://schemas.microsoft.com/office/drawing/2014/main" id="{25AB4117-80B5-4373-9096-7DB52298B951}"/>
              </a:ext>
            </a:extLst>
          </p:cNvPr>
          <p:cNvSpPr>
            <a:spLocks xmlns:a="http://schemas.openxmlformats.org/drawingml/2006/main" noGrp="1"/>
          </p:cNvSpPr>
          <p:nvPr/>
        </p:nvSpPr>
        <p:spPr>
          <a:xfrm xmlns:a="http://schemas.openxmlformats.org/drawingml/2006/main">
            <a:off x="768096" y="3328416"/>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terms and conditions specify a period several times longer, automatically extended for each open critical issue.</a:t>
            </a:r>
            <a:endParaRPr sz="930"/>
          </a:p>
        </p:txBody>
      </p:sp>
      <p:sp>
        <p:nvSpPr>
          <p:cNvPr id="11" name="Shape 9">
            <a:extLst xmlns:a="http://schemas.openxmlformats.org/drawingml/2006/main">
              <a:ext uri="{FF2B5EF4-FFF2-40B4-BE49-F238E27FC236}">
                <a16:creationId xmlns:a16="http://schemas.microsoft.com/office/drawing/2014/main" id="{70BF7AE7-D2C0-4F6A-86BE-A26E2C7D3B9F}"/>
              </a:ext>
            </a:extLst>
          </p:cNvPr>
          <p:cNvSpPr>
            <a:spLocks xmlns:a="http://schemas.openxmlformats.org/drawingml/2006/main" noGrp="1"/>
          </p:cNvSpPr>
          <p:nvPr/>
        </p:nvSpPr>
        <p:spPr>
          <a:xfrm xmlns:a="http://schemas.openxmlformats.org/drawingml/2006/main">
            <a:off x="768096" y="4114800"/>
            <a:ext cx="3149498" cy="13716"/>
          </a:xfrm>
          <a:prstGeom xmlns:a="http://schemas.openxmlformats.org/drawingml/2006/main" prst="rect">
            <a:avLst/>
          </a:prstGeom>
          <a:solidFill xmlns:a="http://schemas.openxmlformats.org/drawingml/2006/main">
            <a:srgbClr val="C6D2DE"/>
          </a:solidFill>
        </p:spPr>
      </p:sp>
      <p:sp>
        <p:nvSpPr>
          <p:cNvPr id="12" name="Text 10">
            <a:extLst xmlns:a="http://schemas.openxmlformats.org/drawingml/2006/main">
              <a:ext uri="{FF2B5EF4-FFF2-40B4-BE49-F238E27FC236}">
                <a16:creationId xmlns:a16="http://schemas.microsoft.com/office/drawing/2014/main" id="{B80C7948-37CB-4B4B-BB63-72A3EBA7567C}"/>
              </a:ext>
            </a:extLst>
          </p:cNvPr>
          <p:cNvSpPr>
            <a:spLocks xmlns:a="http://schemas.openxmlformats.org/drawingml/2006/main" noGrp="1"/>
          </p:cNvSpPr>
          <p:nvPr/>
        </p:nvSpPr>
        <p:spPr>
          <a:xfrm xmlns:a="http://schemas.openxmlformats.org/drawingml/2006/main">
            <a:off x="768096" y="4242816"/>
            <a:ext cx="314949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Not a trap — different authors. Raising it invites the client to pick one, and the shorter definition is usually defensible if the acceptance criteria are tight.</a:t>
            </a:r>
            <a:endParaRPr sz="930"/>
          </a:p>
        </p:txBody>
      </p:sp>
      <p:sp>
        <p:nvSpPr>
          <p:cNvPr id="13" name="Shape 11">
            <a:extLst xmlns:a="http://schemas.openxmlformats.org/drawingml/2006/main">
              <a:ext uri="{FF2B5EF4-FFF2-40B4-BE49-F238E27FC236}">
                <a16:creationId xmlns:a16="http://schemas.microsoft.com/office/drawing/2014/main" id="{839DD52C-5DEC-47EC-A900-D1CABAD5202A}"/>
              </a:ext>
            </a:extLst>
          </p:cNvPr>
          <p:cNvSpPr>
            <a:spLocks xmlns:a="http://schemas.openxmlformats.org/drawingml/2006/main" noGrp="1"/>
          </p:cNvSpPr>
          <p:nvPr/>
        </p:nvSpPr>
        <p:spPr>
          <a:xfrm xmlns:a="http://schemas.openxmlformats.org/drawingml/2006/main">
            <a:off x="4319930" y="1335024"/>
            <a:ext cx="3551834" cy="411480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E449B1F8-B3F1-4575-9295-A36476CAACC0}"/>
              </a:ext>
            </a:extLst>
          </p:cNvPr>
          <p:cNvSpPr>
            <a:spLocks xmlns:a="http://schemas.openxmlformats.org/drawingml/2006/main" noGrp="1"/>
          </p:cNvSpPr>
          <p:nvPr/>
        </p:nvSpPr>
        <p:spPr>
          <a:xfrm xmlns:a="http://schemas.openxmlformats.org/drawingml/2006/main">
            <a:off x="4521098" y="1481328"/>
            <a:ext cx="314949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00"/>
              </a:lnSpc>
              <a:buNone/>
            </a:pPr>
            <a:r>
              <a:rPr sz="1700" b="1">
                <a:solidFill>
                  <a:srgbClr val="B04A25"/>
                </a:solidFill>
                <a:latin typeface="Arial"/>
                <a:ea typeface="Arial"/>
                <a:cs typeface="Arial"/>
              </a:rPr>
              <a:t>02</a:t>
            </a:r>
            <a:endParaRPr sz="1700"/>
          </a:p>
        </p:txBody>
      </p:sp>
      <p:sp>
        <p:nvSpPr>
          <p:cNvPr id="15" name="Text 13">
            <a:extLst xmlns:a="http://schemas.openxmlformats.org/drawingml/2006/main">
              <a:ext uri="{FF2B5EF4-FFF2-40B4-BE49-F238E27FC236}">
                <a16:creationId xmlns:a16="http://schemas.microsoft.com/office/drawing/2014/main" id="{92D5906A-FC3C-486A-84E9-5B0941AC9FB7}"/>
              </a:ext>
            </a:extLst>
          </p:cNvPr>
          <p:cNvSpPr>
            <a:spLocks xmlns:a="http://schemas.openxmlformats.org/drawingml/2006/main" noGrp="1"/>
          </p:cNvSpPr>
          <p:nvPr/>
        </p:nvSpPr>
        <p:spPr>
          <a:xfrm xmlns:a="http://schemas.openxmlformats.org/drawingml/2006/main">
            <a:off x="4521098" y="1810512"/>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Availability target</a:t>
            </a:r>
            <a:endParaRPr sz="1250"/>
          </a:p>
        </p:txBody>
      </p:sp>
      <p:sp>
        <p:nvSpPr>
          <p:cNvPr id="16" name="Text 14">
            <a:extLst xmlns:a="http://schemas.openxmlformats.org/drawingml/2006/main">
              <a:ext uri="{FF2B5EF4-FFF2-40B4-BE49-F238E27FC236}">
                <a16:creationId xmlns:a16="http://schemas.microsoft.com/office/drawing/2014/main" id="{14C86954-140C-42E3-AD23-7016D27E75DA}"/>
              </a:ext>
            </a:extLst>
          </p:cNvPr>
          <p:cNvSpPr>
            <a:spLocks xmlns:a="http://schemas.openxmlformats.org/drawingml/2006/main" noGrp="1"/>
          </p:cNvSpPr>
          <p:nvPr/>
        </p:nvSpPr>
        <p:spPr>
          <a:xfrm xmlns:a="http://schemas.openxmlformats.org/drawingml/2006/main">
            <a:off x="4521098" y="215798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ONE DOCUMENT SAYS</a:t>
            </a:r>
            <a:endParaRPr sz="740"/>
          </a:p>
        </p:txBody>
      </p:sp>
      <p:sp>
        <p:nvSpPr>
          <p:cNvPr id="17" name="Text 15">
            <a:extLst xmlns:a="http://schemas.openxmlformats.org/drawingml/2006/main">
              <a:ext uri="{FF2B5EF4-FFF2-40B4-BE49-F238E27FC236}">
                <a16:creationId xmlns:a16="http://schemas.microsoft.com/office/drawing/2014/main" id="{3A72545A-829F-46BC-A00E-758014448403}"/>
              </a:ext>
            </a:extLst>
          </p:cNvPr>
          <p:cNvSpPr>
            <a:spLocks xmlns:a="http://schemas.openxmlformats.org/drawingml/2006/main" noGrp="1"/>
          </p:cNvSpPr>
          <p:nvPr/>
        </p:nvSpPr>
        <p:spPr>
          <a:xfrm xmlns:a="http://schemas.openxmlformats.org/drawingml/2006/main">
            <a:off x="4521098" y="2359152"/>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Non-functional requirements state one availability figure for production and a lower one for non-production.</a:t>
            </a:r>
            <a:endParaRPr sz="930"/>
          </a:p>
        </p:txBody>
      </p:sp>
      <p:sp>
        <p:nvSpPr>
          <p:cNvPr id="18" name="Text 16">
            <a:extLst xmlns:a="http://schemas.openxmlformats.org/drawingml/2006/main">
              <a:ext uri="{FF2B5EF4-FFF2-40B4-BE49-F238E27FC236}">
                <a16:creationId xmlns:a16="http://schemas.microsoft.com/office/drawing/2014/main" id="{6A6F4765-73C0-41A9-9655-C223EE3ED44D}"/>
              </a:ext>
            </a:extLst>
          </p:cNvPr>
          <p:cNvSpPr>
            <a:spLocks xmlns:a="http://schemas.openxmlformats.org/drawingml/2006/main" noGrp="1"/>
          </p:cNvSpPr>
          <p:nvPr/>
        </p:nvSpPr>
        <p:spPr>
          <a:xfrm xmlns:a="http://schemas.openxmlformats.org/drawingml/2006/main">
            <a:off x="4521098" y="3127248"/>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ANOTHER SAYS</a:t>
            </a:r>
            <a:endParaRPr sz="740"/>
          </a:p>
        </p:txBody>
      </p:sp>
      <p:sp>
        <p:nvSpPr>
          <p:cNvPr id="19" name="Text 17">
            <a:extLst xmlns:a="http://schemas.openxmlformats.org/drawingml/2006/main">
              <a:ext uri="{FF2B5EF4-FFF2-40B4-BE49-F238E27FC236}">
                <a16:creationId xmlns:a16="http://schemas.microsoft.com/office/drawing/2014/main" id="{7BF651A1-3569-46B0-93FC-94F181AB8587}"/>
              </a:ext>
            </a:extLst>
          </p:cNvPr>
          <p:cNvSpPr>
            <a:spLocks xmlns:a="http://schemas.openxmlformats.org/drawingml/2006/main" noGrp="1"/>
          </p:cNvSpPr>
          <p:nvPr/>
        </p:nvSpPr>
        <p:spPr>
          <a:xfrm xmlns:a="http://schemas.openxmlformats.org/drawingml/2006/main">
            <a:off x="4521098" y="3328416"/>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measures-of-success matrix elsewhere cites materially higher figures, up to five nines.</a:t>
            </a:r>
            <a:endParaRPr sz="930"/>
          </a:p>
        </p:txBody>
      </p:sp>
      <p:sp>
        <p:nvSpPr>
          <p:cNvPr id="20" name="Shape 18">
            <a:extLst xmlns:a="http://schemas.openxmlformats.org/drawingml/2006/main">
              <a:ext uri="{FF2B5EF4-FFF2-40B4-BE49-F238E27FC236}">
                <a16:creationId xmlns:a16="http://schemas.microsoft.com/office/drawing/2014/main" id="{41EAC8F7-2205-4A8B-BDAC-B0288B708A39}"/>
              </a:ext>
            </a:extLst>
          </p:cNvPr>
          <p:cNvSpPr>
            <a:spLocks xmlns:a="http://schemas.openxmlformats.org/drawingml/2006/main" noGrp="1"/>
          </p:cNvSpPr>
          <p:nvPr/>
        </p:nvSpPr>
        <p:spPr>
          <a:xfrm xmlns:a="http://schemas.openxmlformats.org/drawingml/2006/main">
            <a:off x="4521098" y="4114800"/>
            <a:ext cx="3149498" cy="13716"/>
          </a:xfrm>
          <a:prstGeom xmlns:a="http://schemas.openxmlformats.org/drawingml/2006/main" prst="rect">
            <a:avLst/>
          </a:prstGeom>
          <a:solidFill xmlns:a="http://schemas.openxmlformats.org/drawingml/2006/main">
            <a:srgbClr val="C6D2DE"/>
          </a:solidFill>
        </p:spPr>
      </p:sp>
      <p:sp>
        <p:nvSpPr>
          <p:cNvPr id="21" name="Text 19">
            <a:extLst xmlns:a="http://schemas.openxmlformats.org/drawingml/2006/main">
              <a:ext uri="{FF2B5EF4-FFF2-40B4-BE49-F238E27FC236}">
                <a16:creationId xmlns:a16="http://schemas.microsoft.com/office/drawing/2014/main" id="{57B0C6F1-E49D-4274-BD2A-22DF5EEAAC98}"/>
              </a:ext>
            </a:extLst>
          </p:cNvPr>
          <p:cNvSpPr>
            <a:spLocks xmlns:a="http://schemas.openxmlformats.org/drawingml/2006/main" noGrp="1"/>
          </p:cNvSpPr>
          <p:nvPr/>
        </p:nvSpPr>
        <p:spPr>
          <a:xfrm xmlns:a="http://schemas.openxmlformats.org/drawingml/2006/main">
            <a:off x="4521098" y="4242816"/>
            <a:ext cx="314949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B04A25"/>
                </a:solidFill>
                <a:latin typeface="Arial"/>
                <a:ea typeface="Arial"/>
                <a:cs typeface="Arial"/>
              </a:rPr>
              <a:t>The difference between these is an order of magnitude in architecture and cost. Pinning it in the scope of work is worth more than any wording concession.</a:t>
            </a:r>
            <a:endParaRPr sz="930"/>
          </a:p>
        </p:txBody>
      </p:sp>
      <p:sp>
        <p:nvSpPr>
          <p:cNvPr id="22" name="Shape 20">
            <a:extLst xmlns:a="http://schemas.openxmlformats.org/drawingml/2006/main">
              <a:ext uri="{FF2B5EF4-FFF2-40B4-BE49-F238E27FC236}">
                <a16:creationId xmlns:a16="http://schemas.microsoft.com/office/drawing/2014/main" id="{2322D572-D6C1-48DF-8A7B-BE05ACF26703}"/>
              </a:ext>
            </a:extLst>
          </p:cNvPr>
          <p:cNvSpPr>
            <a:spLocks xmlns:a="http://schemas.openxmlformats.org/drawingml/2006/main" noGrp="1"/>
          </p:cNvSpPr>
          <p:nvPr/>
        </p:nvSpPr>
        <p:spPr>
          <a:xfrm xmlns:a="http://schemas.openxmlformats.org/drawingml/2006/main">
            <a:off x="8072933" y="1335024"/>
            <a:ext cx="3551834" cy="4114800"/>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B6D09CC7-1436-4685-864D-336BD4C25B98}"/>
              </a:ext>
            </a:extLst>
          </p:cNvPr>
          <p:cNvSpPr>
            <a:spLocks xmlns:a="http://schemas.openxmlformats.org/drawingml/2006/main" noGrp="1"/>
          </p:cNvSpPr>
          <p:nvPr/>
        </p:nvSpPr>
        <p:spPr>
          <a:xfrm xmlns:a="http://schemas.openxmlformats.org/drawingml/2006/main">
            <a:off x="8274101" y="1481328"/>
            <a:ext cx="314949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00"/>
              </a:lnSpc>
              <a:buNone/>
            </a:pPr>
            <a:r>
              <a:rPr sz="1700" b="1">
                <a:solidFill>
                  <a:srgbClr val="9FB3C8"/>
                </a:solidFill>
                <a:latin typeface="Arial"/>
                <a:ea typeface="Arial"/>
                <a:cs typeface="Arial"/>
              </a:rPr>
              <a:t>03</a:t>
            </a:r>
            <a:endParaRPr sz="1700"/>
          </a:p>
        </p:txBody>
      </p:sp>
      <p:sp>
        <p:nvSpPr>
          <p:cNvPr id="24" name="Text 22">
            <a:extLst xmlns:a="http://schemas.openxmlformats.org/drawingml/2006/main">
              <a:ext uri="{FF2B5EF4-FFF2-40B4-BE49-F238E27FC236}">
                <a16:creationId xmlns:a16="http://schemas.microsoft.com/office/drawing/2014/main" id="{D77D7A27-3FB6-4CAA-8B4A-B4B9E610FF73}"/>
              </a:ext>
            </a:extLst>
          </p:cNvPr>
          <p:cNvSpPr>
            <a:spLocks xmlns:a="http://schemas.openxmlformats.org/drawingml/2006/main" noGrp="1"/>
          </p:cNvSpPr>
          <p:nvPr/>
        </p:nvSpPr>
        <p:spPr>
          <a:xfrm xmlns:a="http://schemas.openxmlformats.org/drawingml/2006/main">
            <a:off x="8274101" y="1810512"/>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Licence treatment</a:t>
            </a:r>
            <a:endParaRPr sz="1250"/>
          </a:p>
        </p:txBody>
      </p:sp>
      <p:sp>
        <p:nvSpPr>
          <p:cNvPr id="25" name="Text 23">
            <a:extLst xmlns:a="http://schemas.openxmlformats.org/drawingml/2006/main">
              <a:ext uri="{FF2B5EF4-FFF2-40B4-BE49-F238E27FC236}">
                <a16:creationId xmlns:a16="http://schemas.microsoft.com/office/drawing/2014/main" id="{F23D8C5A-B960-4BEE-BEBF-A126E00AA161}"/>
              </a:ext>
            </a:extLst>
          </p:cNvPr>
          <p:cNvSpPr>
            <a:spLocks xmlns:a="http://schemas.openxmlformats.org/drawingml/2006/main" noGrp="1"/>
          </p:cNvSpPr>
          <p:nvPr/>
        </p:nvSpPr>
        <p:spPr>
          <a:xfrm xmlns:a="http://schemas.openxmlformats.org/drawingml/2006/main">
            <a:off x="8274101" y="215798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ONE DOCUMENT SAYS</a:t>
            </a:r>
            <a:endParaRPr sz="740"/>
          </a:p>
        </p:txBody>
      </p:sp>
      <p:sp>
        <p:nvSpPr>
          <p:cNvPr id="26" name="Text 24">
            <a:extLst xmlns:a="http://schemas.openxmlformats.org/drawingml/2006/main">
              <a:ext uri="{FF2B5EF4-FFF2-40B4-BE49-F238E27FC236}">
                <a16:creationId xmlns:a16="http://schemas.microsoft.com/office/drawing/2014/main" id="{B4E72526-1FD4-411E-BBDD-D409A99BCDB1}"/>
              </a:ext>
            </a:extLst>
          </p:cNvPr>
          <p:cNvSpPr>
            <a:spLocks xmlns:a="http://schemas.openxmlformats.org/drawingml/2006/main" noGrp="1"/>
          </p:cNvSpPr>
          <p:nvPr/>
        </p:nvSpPr>
        <p:spPr>
          <a:xfrm xmlns:a="http://schemas.openxmlformats.org/drawingml/2006/main">
            <a:off x="8274101" y="2359152"/>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tender requires full compliance with the scope of work at a single price.</a:t>
            </a:r>
            <a:endParaRPr sz="930"/>
          </a:p>
        </p:txBody>
      </p:sp>
      <p:sp>
        <p:nvSpPr>
          <p:cNvPr id="27" name="Text 25">
            <a:extLst xmlns:a="http://schemas.openxmlformats.org/drawingml/2006/main">
              <a:ext uri="{FF2B5EF4-FFF2-40B4-BE49-F238E27FC236}">
                <a16:creationId xmlns:a16="http://schemas.microsoft.com/office/drawing/2014/main" id="{247B2D95-9589-4A32-A15A-ED8CD5CE5B52}"/>
              </a:ext>
            </a:extLst>
          </p:cNvPr>
          <p:cNvSpPr>
            <a:spLocks xmlns:a="http://schemas.openxmlformats.org/drawingml/2006/main" noGrp="1"/>
          </p:cNvSpPr>
          <p:nvPr/>
        </p:nvSpPr>
        <p:spPr>
          <a:xfrm xmlns:a="http://schemas.openxmlformats.org/drawingml/2006/main">
            <a:off x="8274101" y="3127248"/>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ANOTHER SAYS</a:t>
            </a:r>
            <a:endParaRPr sz="740"/>
          </a:p>
        </p:txBody>
      </p:sp>
      <p:sp>
        <p:nvSpPr>
          <p:cNvPr id="28" name="Text 26">
            <a:extLst xmlns:a="http://schemas.openxmlformats.org/drawingml/2006/main">
              <a:ext uri="{FF2B5EF4-FFF2-40B4-BE49-F238E27FC236}">
                <a16:creationId xmlns:a16="http://schemas.microsoft.com/office/drawing/2014/main" id="{05BB9256-74B1-41F7-AF87-90B7C846513D}"/>
              </a:ext>
            </a:extLst>
          </p:cNvPr>
          <p:cNvSpPr>
            <a:spLocks xmlns:a="http://schemas.openxmlformats.org/drawingml/2006/main" noGrp="1"/>
          </p:cNvSpPr>
          <p:nvPr/>
        </p:nvSpPr>
        <p:spPr>
          <a:xfrm xmlns:a="http://schemas.openxmlformats.org/drawingml/2006/main">
            <a:off x="8274101" y="3328416"/>
            <a:ext cx="3149498"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licence and infrastructure are explicitly excluded from that price and expected to be procured separately.</a:t>
            </a:r>
            <a:endParaRPr sz="930"/>
          </a:p>
        </p:txBody>
      </p:sp>
      <p:sp>
        <p:nvSpPr>
          <p:cNvPr id="29" name="Shape 27">
            <a:extLst xmlns:a="http://schemas.openxmlformats.org/drawingml/2006/main">
              <a:ext uri="{FF2B5EF4-FFF2-40B4-BE49-F238E27FC236}">
                <a16:creationId xmlns:a16="http://schemas.microsoft.com/office/drawing/2014/main" id="{CC267FEE-1BD6-4284-9856-3CA9BF5EE149}"/>
              </a:ext>
            </a:extLst>
          </p:cNvPr>
          <p:cNvSpPr>
            <a:spLocks xmlns:a="http://schemas.openxmlformats.org/drawingml/2006/main" noGrp="1"/>
          </p:cNvSpPr>
          <p:nvPr/>
        </p:nvSpPr>
        <p:spPr>
          <a:xfrm xmlns:a="http://schemas.openxmlformats.org/drawingml/2006/main">
            <a:off x="8274101" y="4114800"/>
            <a:ext cx="3149498" cy="13716"/>
          </a:xfrm>
          <a:prstGeom xmlns:a="http://schemas.openxmlformats.org/drawingml/2006/main" prst="rect">
            <a:avLst/>
          </a:prstGeom>
          <a:solidFill xmlns:a="http://schemas.openxmlformats.org/drawingml/2006/main">
            <a:srgbClr val="C6D2DE"/>
          </a:solidFill>
        </p:spPr>
      </p:sp>
      <p:sp>
        <p:nvSpPr>
          <p:cNvPr id="30" name="Text 28">
            <a:extLst xmlns:a="http://schemas.openxmlformats.org/drawingml/2006/main">
              <a:ext uri="{FF2B5EF4-FFF2-40B4-BE49-F238E27FC236}">
                <a16:creationId xmlns:a16="http://schemas.microsoft.com/office/drawing/2014/main" id="{76E714A9-1318-46FE-834B-BC85763A5D0B}"/>
              </a:ext>
            </a:extLst>
          </p:cNvPr>
          <p:cNvSpPr>
            <a:spLocks xmlns:a="http://schemas.openxmlformats.org/drawingml/2006/main" noGrp="1"/>
          </p:cNvSpPr>
          <p:nvPr/>
        </p:nvSpPr>
        <p:spPr>
          <a:xfrm xmlns:a="http://schemas.openxmlformats.org/drawingml/2006/main">
            <a:off x="8274101" y="4242816"/>
            <a:ext cx="3149498"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Left unresolved, this becomes a scope-versus-price argument after award. Naming the boundary in the response converts it into an agreed assumption.</a:t>
            </a:r>
            <a:endParaRPr sz="930"/>
          </a:p>
        </p:txBody>
      </p:sp>
      <p:sp>
        <p:nvSpPr>
          <p:cNvPr id="31" name="Shape 29">
            <a:extLst xmlns:a="http://schemas.openxmlformats.org/drawingml/2006/main">
              <a:ext uri="{FF2B5EF4-FFF2-40B4-BE49-F238E27FC236}">
                <a16:creationId xmlns:a16="http://schemas.microsoft.com/office/drawing/2014/main" id="{A15E236D-B229-4C01-A959-DB881C87A0CE}"/>
              </a:ext>
            </a:extLst>
          </p:cNvPr>
          <p:cNvSpPr>
            <a:spLocks xmlns:a="http://schemas.openxmlformats.org/drawingml/2006/main" noGrp="1"/>
          </p:cNvSpPr>
          <p:nvPr/>
        </p:nvSpPr>
        <p:spPr>
          <a:xfrm xmlns:a="http://schemas.openxmlformats.org/drawingml/2006/main">
            <a:off x="566928" y="5687568"/>
            <a:ext cx="11057839" cy="384048"/>
          </a:xfrm>
          <a:prstGeom xmlns:a="http://schemas.openxmlformats.org/drawingml/2006/main" prst="rect">
            <a:avLst/>
          </a:prstGeom>
          <a:solidFill xmlns:a="http://schemas.openxmlformats.org/drawingml/2006/main">
            <a:srgbClr val="102A43"/>
          </a:solidFill>
        </p:spPr>
      </p:sp>
      <p:sp>
        <p:nvSpPr>
          <p:cNvPr id="32" name="Text 30">
            <a:extLst xmlns:a="http://schemas.openxmlformats.org/drawingml/2006/main">
              <a:ext uri="{FF2B5EF4-FFF2-40B4-BE49-F238E27FC236}">
                <a16:creationId xmlns:a16="http://schemas.microsoft.com/office/drawing/2014/main" id="{C13F7B11-A8A2-45A2-968A-1EFC91594431}"/>
              </a:ext>
            </a:extLst>
          </p:cNvPr>
          <p:cNvSpPr>
            <a:spLocks xmlns:a="http://schemas.openxmlformats.org/drawingml/2006/main" noGrp="1"/>
          </p:cNvSpPr>
          <p:nvPr/>
        </p:nvSpPr>
        <p:spPr>
          <a:xfrm xmlns:a="http://schemas.openxmlformats.org/drawingml/2006/main">
            <a:off x="804672" y="5870448"/>
            <a:ext cx="10582351" cy="548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A contradiction inside the client's own documents is not an attack surface. It is an invitation to propose the version you can deliver.</a:t>
            </a:r>
            <a:endParaRPr sz="990"/>
          </a:p>
        </p:txBody>
      </p:sp>
      <p:sp>
        <p:nvSpPr>
          <p:cNvPr id="33" name="Shape 31">
            <a:extLst xmlns:a="http://schemas.openxmlformats.org/drawingml/2006/main">
              <a:ext uri="{FF2B5EF4-FFF2-40B4-BE49-F238E27FC236}">
                <a16:creationId xmlns:a16="http://schemas.microsoft.com/office/drawing/2014/main" id="{D419A731-F0C1-41B1-B94B-C450E67D604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8C883396-D640-43F6-BBEB-DB66B29B3A9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35" name="Text 33">
            <a:extLst xmlns:a="http://schemas.openxmlformats.org/drawingml/2006/main">
              <a:ext uri="{FF2B5EF4-FFF2-40B4-BE49-F238E27FC236}">
                <a16:creationId xmlns:a16="http://schemas.microsoft.com/office/drawing/2014/main" id="{06F99022-26F3-4F2D-BE1E-6284A7EAE03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725671126"/>
      </p:ext>
    </p:extLst>
  </p:cSld>
</p:sld>
</file>

<file path=ppt/slides/slide13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079A8B-597D-48A6-84A6-09661EB6B21A}"/>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NEGOTIATION SEQUENCE</a:t>
            </a:r>
            <a:endParaRPr sz="950"/>
          </a:p>
        </p:txBody>
      </p:sp>
      <p:sp>
        <p:nvSpPr>
          <p:cNvPr id="3" name="Text 1">
            <a:extLst xmlns:a="http://schemas.openxmlformats.org/drawingml/2006/main">
              <a:ext uri="{FF2B5EF4-FFF2-40B4-BE49-F238E27FC236}">
                <a16:creationId xmlns:a16="http://schemas.microsoft.com/office/drawing/2014/main" id="{30F6BB6B-5781-4428-8C05-D10D501B2967}"/>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What to move first, what to trade and what to hold — the order matters more than</a:t>
            </a:r>
            <a:endParaRPr sz="1900"/>
          </a:p>
          <a:p xmlns:a="http://schemas.openxmlformats.org/drawingml/2006/main">
            <a:pPr marL="0" indent="0">
              <a:lnSpc>
                <a:spcPts val="2400"/>
              </a:lnSpc>
              <a:buNone/>
            </a:pPr>
            <a:r>
              <a:rPr sz="1900" b="1">
                <a:solidFill>
                  <a:srgbClr val="102A43"/>
                </a:solidFill>
                <a:latin typeface="Arial"/>
                <a:ea typeface="Arial"/>
                <a:cs typeface="Arial"/>
              </a:rPr>
              <a:t>the content of any single concession</a:t>
            </a:r>
            <a:endParaRPr sz="1900"/>
          </a:p>
        </p:txBody>
      </p:sp>
      <p:sp>
        <p:nvSpPr>
          <p:cNvPr id="4" name="Shape 2">
            <a:extLst xmlns:a="http://schemas.openxmlformats.org/drawingml/2006/main">
              <a:ext uri="{FF2B5EF4-FFF2-40B4-BE49-F238E27FC236}">
                <a16:creationId xmlns:a16="http://schemas.microsoft.com/office/drawing/2014/main" id="{429EE886-6D2E-475A-A4CF-9D25F88EBC1E}"/>
              </a:ext>
            </a:extLst>
          </p:cNvPr>
          <p:cNvSpPr>
            <a:spLocks xmlns:a="http://schemas.openxmlformats.org/drawingml/2006/main" noGrp="1"/>
          </p:cNvSpPr>
          <p:nvPr/>
        </p:nvSpPr>
        <p:spPr>
          <a:xfrm xmlns:a="http://schemas.openxmlformats.org/drawingml/2006/main">
            <a:off x="566928" y="1335024"/>
            <a:ext cx="11057839" cy="987552"/>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65E7A675-7F90-4C56-B963-E850AEB095E5}"/>
              </a:ext>
            </a:extLst>
          </p:cNvPr>
          <p:cNvSpPr>
            <a:spLocks xmlns:a="http://schemas.openxmlformats.org/drawingml/2006/main" noGrp="1"/>
          </p:cNvSpPr>
          <p:nvPr/>
        </p:nvSpPr>
        <p:spPr>
          <a:xfrm xmlns:a="http://schemas.openxmlformats.org/drawingml/2006/main">
            <a:off x="786384" y="164592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0"/>
              </a:lnSpc>
              <a:buNone/>
            </a:pPr>
            <a:r>
              <a:rPr sz="1600" b="1">
                <a:solidFill>
                  <a:srgbClr val="9FB3C8"/>
                </a:solidFill>
                <a:latin typeface="Arial"/>
                <a:ea typeface="Arial"/>
                <a:cs typeface="Arial"/>
              </a:rPr>
              <a:t>01</a:t>
            </a:r>
            <a:endParaRPr sz="1600"/>
          </a:p>
        </p:txBody>
      </p:sp>
      <p:sp>
        <p:nvSpPr>
          <p:cNvPr id="6" name="Text 4">
            <a:extLst xmlns:a="http://schemas.openxmlformats.org/drawingml/2006/main">
              <a:ext uri="{FF2B5EF4-FFF2-40B4-BE49-F238E27FC236}">
                <a16:creationId xmlns:a16="http://schemas.microsoft.com/office/drawing/2014/main" id="{0F94A222-1143-4A33-8B3D-A57993353160}"/>
              </a:ext>
            </a:extLst>
          </p:cNvPr>
          <p:cNvSpPr>
            <a:spLocks xmlns:a="http://schemas.openxmlformats.org/drawingml/2006/main" noGrp="1"/>
          </p:cNvSpPr>
          <p:nvPr/>
        </p:nvSpPr>
        <p:spPr>
          <a:xfrm xmlns:a="http://schemas.openxmlformats.org/drawingml/2006/main">
            <a:off x="1353312" y="1481328"/>
            <a:ext cx="2286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27685A"/>
                </a:solidFill>
                <a:latin typeface="Arial"/>
                <a:ea typeface="Arial"/>
                <a:cs typeface="Arial"/>
              </a:rPr>
              <a:t>Move first, visibly</a:t>
            </a:r>
            <a:endParaRPr sz="1140"/>
          </a:p>
        </p:txBody>
      </p:sp>
      <p:sp>
        <p:nvSpPr>
          <p:cNvPr id="7" name="Text 5">
            <a:extLst xmlns:a="http://schemas.openxmlformats.org/drawingml/2006/main">
              <a:ext uri="{FF2B5EF4-FFF2-40B4-BE49-F238E27FC236}">
                <a16:creationId xmlns:a16="http://schemas.microsoft.com/office/drawing/2014/main" id="{9F795403-082F-4728-B8FB-79865EAAB705}"/>
              </a:ext>
            </a:extLst>
          </p:cNvPr>
          <p:cNvSpPr>
            <a:spLocks xmlns:a="http://schemas.openxmlformats.org/drawingml/2006/main" noGrp="1"/>
          </p:cNvSpPr>
          <p:nvPr/>
        </p:nvSpPr>
        <p:spPr>
          <a:xfrm xmlns:a="http://schemas.openxmlformats.org/drawingml/2006/main">
            <a:off x="1353312" y="1755648"/>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02A43"/>
                </a:solidFill>
                <a:latin typeface="Arial"/>
                <a:ea typeface="Arial"/>
                <a:cs typeface="Arial"/>
              </a:rPr>
              <a:t>Scoped transition service and acceptance-linked milestones</a:t>
            </a:r>
            <a:endParaRPr sz="940"/>
          </a:p>
        </p:txBody>
      </p:sp>
      <p:sp>
        <p:nvSpPr>
          <p:cNvPr id="8" name="Text 6">
            <a:extLst xmlns:a="http://schemas.openxmlformats.org/drawingml/2006/main">
              <a:ext uri="{FF2B5EF4-FFF2-40B4-BE49-F238E27FC236}">
                <a16:creationId xmlns:a16="http://schemas.microsoft.com/office/drawing/2014/main" id="{73B730FF-6A00-4944-B044-49643B0754B0}"/>
              </a:ext>
            </a:extLst>
          </p:cNvPr>
          <p:cNvSpPr>
            <a:spLocks xmlns:a="http://schemas.openxmlformats.org/drawingml/2006/main" noGrp="1"/>
          </p:cNvSpPr>
          <p:nvPr/>
        </p:nvSpPr>
        <p:spPr>
          <a:xfrm xmlns:a="http://schemas.openxmlformats.org/drawingml/2006/main">
            <a:off x="5138928" y="1517904"/>
            <a:ext cx="6211519"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50">
                <a:solidFill>
                  <a:srgbClr val="486581"/>
                </a:solidFill>
                <a:latin typeface="Arial"/>
                <a:ea typeface="Arial"/>
                <a:cs typeface="Arial"/>
              </a:rPr>
              <a:t>Both are reasonable, both cost little, and conceding them early establishes that the supplier is negotiating rather than refusing. It also buys standing to hold the harder lines.</a:t>
            </a:r>
            <a:endParaRPr sz="950"/>
          </a:p>
        </p:txBody>
      </p:sp>
      <p:sp>
        <p:nvSpPr>
          <p:cNvPr id="9" name="Shape 7">
            <a:extLst xmlns:a="http://schemas.openxmlformats.org/drawingml/2006/main">
              <a:ext uri="{FF2B5EF4-FFF2-40B4-BE49-F238E27FC236}">
                <a16:creationId xmlns:a16="http://schemas.microsoft.com/office/drawing/2014/main" id="{735E80C2-AF34-408E-B26E-40D6463A04A1}"/>
              </a:ext>
            </a:extLst>
          </p:cNvPr>
          <p:cNvSpPr>
            <a:spLocks xmlns:a="http://schemas.openxmlformats.org/drawingml/2006/main" noGrp="1"/>
          </p:cNvSpPr>
          <p:nvPr/>
        </p:nvSpPr>
        <p:spPr>
          <a:xfrm xmlns:a="http://schemas.openxmlformats.org/drawingml/2006/main">
            <a:off x="566928" y="2450592"/>
            <a:ext cx="11057839" cy="987552"/>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DBE900B4-FD39-4749-8C34-104106B5CF31}"/>
              </a:ext>
            </a:extLst>
          </p:cNvPr>
          <p:cNvSpPr>
            <a:spLocks xmlns:a="http://schemas.openxmlformats.org/drawingml/2006/main" noGrp="1"/>
          </p:cNvSpPr>
          <p:nvPr/>
        </p:nvSpPr>
        <p:spPr>
          <a:xfrm xmlns:a="http://schemas.openxmlformats.org/drawingml/2006/main">
            <a:off x="786384" y="2761488"/>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0"/>
              </a:lnSpc>
              <a:buNone/>
            </a:pPr>
            <a:r>
              <a:rPr sz="1600" b="1">
                <a:solidFill>
                  <a:srgbClr val="9FB3C8"/>
                </a:solidFill>
                <a:latin typeface="Arial"/>
                <a:ea typeface="Arial"/>
                <a:cs typeface="Arial"/>
              </a:rPr>
              <a:t>02</a:t>
            </a:r>
            <a:endParaRPr sz="1600"/>
          </a:p>
        </p:txBody>
      </p:sp>
      <p:sp>
        <p:nvSpPr>
          <p:cNvPr id="11" name="Text 9">
            <a:extLst xmlns:a="http://schemas.openxmlformats.org/drawingml/2006/main">
              <a:ext uri="{FF2B5EF4-FFF2-40B4-BE49-F238E27FC236}">
                <a16:creationId xmlns:a16="http://schemas.microsoft.com/office/drawing/2014/main" id="{7F55C095-1745-4B99-9609-76C7A0A66F09}"/>
              </a:ext>
            </a:extLst>
          </p:cNvPr>
          <p:cNvSpPr>
            <a:spLocks xmlns:a="http://schemas.openxmlformats.org/drawingml/2006/main" noGrp="1"/>
          </p:cNvSpPr>
          <p:nvPr/>
        </p:nvSpPr>
        <p:spPr>
          <a:xfrm xmlns:a="http://schemas.openxmlformats.org/drawingml/2006/main">
            <a:off x="1353312" y="2596896"/>
            <a:ext cx="2286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B04A25"/>
                </a:solidFill>
                <a:latin typeface="Arial"/>
                <a:ea typeface="Arial"/>
                <a:cs typeface="Arial"/>
              </a:rPr>
              <a:t>Trade, do not concede</a:t>
            </a:r>
            <a:endParaRPr sz="1140"/>
          </a:p>
        </p:txBody>
      </p:sp>
      <p:sp>
        <p:nvSpPr>
          <p:cNvPr id="12" name="Text 10">
            <a:extLst xmlns:a="http://schemas.openxmlformats.org/drawingml/2006/main">
              <a:ext uri="{FF2B5EF4-FFF2-40B4-BE49-F238E27FC236}">
                <a16:creationId xmlns:a16="http://schemas.microsoft.com/office/drawing/2014/main" id="{4DF531C2-1F50-47B4-9619-E9DDB70CED68}"/>
              </a:ext>
            </a:extLst>
          </p:cNvPr>
          <p:cNvSpPr>
            <a:spLocks xmlns:a="http://schemas.openxmlformats.org/drawingml/2006/main" noGrp="1"/>
          </p:cNvSpPr>
          <p:nvPr/>
        </p:nvSpPr>
        <p:spPr>
          <a:xfrm xmlns:a="http://schemas.openxmlformats.org/drawingml/2006/main">
            <a:off x="1353312" y="2871216"/>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02A43"/>
                </a:solidFill>
                <a:latin typeface="Arial"/>
                <a:ea typeface="Arial"/>
                <a:cs typeface="Arial"/>
              </a:rPr>
              <a:t>Escrow and perpetual licence in place of source transfer</a:t>
            </a:r>
            <a:endParaRPr sz="940"/>
          </a:p>
        </p:txBody>
      </p:sp>
      <p:sp>
        <p:nvSpPr>
          <p:cNvPr id="13" name="Text 11">
            <a:extLst xmlns:a="http://schemas.openxmlformats.org/drawingml/2006/main">
              <a:ext uri="{FF2B5EF4-FFF2-40B4-BE49-F238E27FC236}">
                <a16:creationId xmlns:a16="http://schemas.microsoft.com/office/drawing/2014/main" id="{B9BD2EF8-55AD-4B1C-8EE0-A5BFF7875C50}"/>
              </a:ext>
            </a:extLst>
          </p:cNvPr>
          <p:cNvSpPr>
            <a:spLocks xmlns:a="http://schemas.openxmlformats.org/drawingml/2006/main" noGrp="1"/>
          </p:cNvSpPr>
          <p:nvPr/>
        </p:nvSpPr>
        <p:spPr>
          <a:xfrm xmlns:a="http://schemas.openxmlformats.org/drawingml/2006/main">
            <a:off x="5138928" y="2633472"/>
            <a:ext cx="6211519"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50">
                <a:solidFill>
                  <a:srgbClr val="486581"/>
                </a:solidFill>
                <a:latin typeface="Arial"/>
                <a:ea typeface="Arial"/>
                <a:cs typeface="Arial"/>
              </a:rPr>
              <a:t>Offer these as a package answering the ownership requirement, and ask for the ownership clause to be replaced rather than supplemented. A construct offered alongside the original clause resolves nothing.</a:t>
            </a:r>
            <a:endParaRPr sz="950"/>
          </a:p>
        </p:txBody>
      </p:sp>
      <p:sp>
        <p:nvSpPr>
          <p:cNvPr id="14" name="Shape 12">
            <a:extLst xmlns:a="http://schemas.openxmlformats.org/drawingml/2006/main">
              <a:ext uri="{FF2B5EF4-FFF2-40B4-BE49-F238E27FC236}">
                <a16:creationId xmlns:a16="http://schemas.microsoft.com/office/drawing/2014/main" id="{C94D7C59-B4A2-40D2-A8A0-0096EE477E0C}"/>
              </a:ext>
            </a:extLst>
          </p:cNvPr>
          <p:cNvSpPr>
            <a:spLocks xmlns:a="http://schemas.openxmlformats.org/drawingml/2006/main" noGrp="1"/>
          </p:cNvSpPr>
          <p:nvPr/>
        </p:nvSpPr>
        <p:spPr>
          <a:xfrm xmlns:a="http://schemas.openxmlformats.org/drawingml/2006/main">
            <a:off x="566928" y="3566160"/>
            <a:ext cx="11057839" cy="987552"/>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4B0D32D1-8167-4E84-A1ED-01E7A861075B}"/>
              </a:ext>
            </a:extLst>
          </p:cNvPr>
          <p:cNvSpPr>
            <a:spLocks xmlns:a="http://schemas.openxmlformats.org/drawingml/2006/main" noGrp="1"/>
          </p:cNvSpPr>
          <p:nvPr/>
        </p:nvSpPr>
        <p:spPr>
          <a:xfrm xmlns:a="http://schemas.openxmlformats.org/drawingml/2006/main">
            <a:off x="786384" y="3877056"/>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0"/>
              </a:lnSpc>
              <a:buNone/>
            </a:pPr>
            <a:r>
              <a:rPr sz="1600" b="1">
                <a:solidFill>
                  <a:srgbClr val="9FB3C8"/>
                </a:solidFill>
                <a:latin typeface="Arial"/>
                <a:ea typeface="Arial"/>
                <a:cs typeface="Arial"/>
              </a:rPr>
              <a:t>03</a:t>
            </a:r>
            <a:endParaRPr sz="1600"/>
          </a:p>
        </p:txBody>
      </p:sp>
      <p:sp>
        <p:nvSpPr>
          <p:cNvPr id="16" name="Text 14">
            <a:extLst xmlns:a="http://schemas.openxmlformats.org/drawingml/2006/main">
              <a:ext uri="{FF2B5EF4-FFF2-40B4-BE49-F238E27FC236}">
                <a16:creationId xmlns:a16="http://schemas.microsoft.com/office/drawing/2014/main" id="{008B4BE2-E0D2-4B07-B41D-C4A8BE170F9C}"/>
              </a:ext>
            </a:extLst>
          </p:cNvPr>
          <p:cNvSpPr>
            <a:spLocks xmlns:a="http://schemas.openxmlformats.org/drawingml/2006/main" noGrp="1"/>
          </p:cNvSpPr>
          <p:nvPr/>
        </p:nvSpPr>
        <p:spPr>
          <a:xfrm xmlns:a="http://schemas.openxmlformats.org/drawingml/2006/main">
            <a:off x="1353312" y="3712464"/>
            <a:ext cx="2286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B04A25"/>
                </a:solidFill>
                <a:latin typeface="Arial"/>
                <a:ea typeface="Arial"/>
                <a:cs typeface="Arial"/>
              </a:rPr>
              <a:t>Bound, do not refuse</a:t>
            </a:r>
            <a:endParaRPr sz="1140"/>
          </a:p>
        </p:txBody>
      </p:sp>
      <p:sp>
        <p:nvSpPr>
          <p:cNvPr id="17" name="Text 15">
            <a:extLst xmlns:a="http://schemas.openxmlformats.org/drawingml/2006/main">
              <a:ext uri="{FF2B5EF4-FFF2-40B4-BE49-F238E27FC236}">
                <a16:creationId xmlns:a16="http://schemas.microsoft.com/office/drawing/2014/main" id="{F7FC8C64-934D-4597-B6B1-CFEAAF644E39}"/>
              </a:ext>
            </a:extLst>
          </p:cNvPr>
          <p:cNvSpPr>
            <a:spLocks xmlns:a="http://schemas.openxmlformats.org/drawingml/2006/main" noGrp="1"/>
          </p:cNvSpPr>
          <p:nvPr/>
        </p:nvSpPr>
        <p:spPr>
          <a:xfrm xmlns:a="http://schemas.openxmlformats.org/drawingml/2006/main">
            <a:off x="1353312" y="3986784"/>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02A43"/>
                </a:solidFill>
                <a:latin typeface="Arial"/>
                <a:ea typeface="Arial"/>
                <a:cs typeface="Arial"/>
              </a:rPr>
              <a:t>Step-in rights and liability cap</a:t>
            </a:r>
            <a:endParaRPr sz="940"/>
          </a:p>
        </p:txBody>
      </p:sp>
      <p:sp>
        <p:nvSpPr>
          <p:cNvPr id="18" name="Text 16">
            <a:extLst xmlns:a="http://schemas.openxmlformats.org/drawingml/2006/main">
              <a:ext uri="{FF2B5EF4-FFF2-40B4-BE49-F238E27FC236}">
                <a16:creationId xmlns:a16="http://schemas.microsoft.com/office/drawing/2014/main" id="{2F71E851-80C6-43AF-9EB5-4F5B7997C7C0}"/>
              </a:ext>
            </a:extLst>
          </p:cNvPr>
          <p:cNvSpPr>
            <a:spLocks xmlns:a="http://schemas.openxmlformats.org/drawingml/2006/main" noGrp="1"/>
          </p:cNvSpPr>
          <p:nvPr/>
        </p:nvSpPr>
        <p:spPr>
          <a:xfrm xmlns:a="http://schemas.openxmlformats.org/drawingml/2006/main">
            <a:off x="5138928" y="3749040"/>
            <a:ext cx="6211519"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50">
                <a:solidFill>
                  <a:srgbClr val="486581"/>
                </a:solidFill>
                <a:latin typeface="Arial"/>
                <a:ea typeface="Arial"/>
                <a:cs typeface="Arial"/>
              </a:rPr>
              <a:t>Accept the principle with defined triggers, notice, and a cost basis. A flat refusal reads as bad faith; a bounded version usually passes because the client's real concern was continuity.</a:t>
            </a:r>
            <a:endParaRPr sz="950"/>
          </a:p>
        </p:txBody>
      </p:sp>
      <p:sp>
        <p:nvSpPr>
          <p:cNvPr id="19" name="Shape 17">
            <a:extLst xmlns:a="http://schemas.openxmlformats.org/drawingml/2006/main">
              <a:ext uri="{FF2B5EF4-FFF2-40B4-BE49-F238E27FC236}">
                <a16:creationId xmlns:a16="http://schemas.microsoft.com/office/drawing/2014/main" id="{FE5BAFA1-1826-4443-9D62-E528CCC9A7B5}"/>
              </a:ext>
            </a:extLst>
          </p:cNvPr>
          <p:cNvSpPr>
            <a:spLocks xmlns:a="http://schemas.openxmlformats.org/drawingml/2006/main" noGrp="1"/>
          </p:cNvSpPr>
          <p:nvPr/>
        </p:nvSpPr>
        <p:spPr>
          <a:xfrm xmlns:a="http://schemas.openxmlformats.org/drawingml/2006/main">
            <a:off x="566928" y="4681728"/>
            <a:ext cx="11057839" cy="987552"/>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07950D97-40C1-4B8B-87C6-27F7B895EEE2}"/>
              </a:ext>
            </a:extLst>
          </p:cNvPr>
          <p:cNvSpPr>
            <a:spLocks xmlns:a="http://schemas.openxmlformats.org/drawingml/2006/main" noGrp="1"/>
          </p:cNvSpPr>
          <p:nvPr/>
        </p:nvSpPr>
        <p:spPr>
          <a:xfrm xmlns:a="http://schemas.openxmlformats.org/drawingml/2006/main">
            <a:off x="786384" y="4992624"/>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000"/>
              </a:lnSpc>
              <a:buNone/>
            </a:pPr>
            <a:r>
              <a:rPr sz="1600" b="1">
                <a:solidFill>
                  <a:srgbClr val="B04A25"/>
                </a:solidFill>
                <a:latin typeface="Arial"/>
                <a:ea typeface="Arial"/>
                <a:cs typeface="Arial"/>
              </a:rPr>
              <a:t>04</a:t>
            </a:r>
            <a:endParaRPr sz="1600"/>
          </a:p>
        </p:txBody>
      </p:sp>
      <p:sp>
        <p:nvSpPr>
          <p:cNvPr id="21" name="Text 19">
            <a:extLst xmlns:a="http://schemas.openxmlformats.org/drawingml/2006/main">
              <a:ext uri="{FF2B5EF4-FFF2-40B4-BE49-F238E27FC236}">
                <a16:creationId xmlns:a16="http://schemas.microsoft.com/office/drawing/2014/main" id="{0D91932A-AA6E-47FB-B482-699304710DF6}"/>
              </a:ext>
            </a:extLst>
          </p:cNvPr>
          <p:cNvSpPr>
            <a:spLocks xmlns:a="http://schemas.openxmlformats.org/drawingml/2006/main" noGrp="1"/>
          </p:cNvSpPr>
          <p:nvPr/>
        </p:nvSpPr>
        <p:spPr>
          <a:xfrm xmlns:a="http://schemas.openxmlformats.org/drawingml/2006/main">
            <a:off x="1353312" y="4828032"/>
            <a:ext cx="2286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40" b="1">
                <a:solidFill>
                  <a:srgbClr val="486581"/>
                </a:solidFill>
                <a:latin typeface="Arial"/>
                <a:ea typeface="Arial"/>
                <a:cs typeface="Arial"/>
              </a:rPr>
              <a:t>Decide, then hold</a:t>
            </a:r>
            <a:endParaRPr sz="1140"/>
          </a:p>
        </p:txBody>
      </p:sp>
      <p:sp>
        <p:nvSpPr>
          <p:cNvPr id="22" name="Text 20">
            <a:extLst xmlns:a="http://schemas.openxmlformats.org/drawingml/2006/main">
              <a:ext uri="{FF2B5EF4-FFF2-40B4-BE49-F238E27FC236}">
                <a16:creationId xmlns:a16="http://schemas.microsoft.com/office/drawing/2014/main" id="{39C4329C-97EF-4A3C-8E82-A38926CE4C33}"/>
              </a:ext>
            </a:extLst>
          </p:cNvPr>
          <p:cNvSpPr>
            <a:spLocks xmlns:a="http://schemas.openxmlformats.org/drawingml/2006/main" noGrp="1"/>
          </p:cNvSpPr>
          <p:nvPr/>
        </p:nvSpPr>
        <p:spPr>
          <a:xfrm xmlns:a="http://schemas.openxmlformats.org/drawingml/2006/main">
            <a:off x="1353312" y="510235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02A43"/>
                </a:solidFill>
                <a:latin typeface="Arial"/>
                <a:ea typeface="Arial"/>
                <a:cs typeface="Arial"/>
              </a:rPr>
              <a:t>Delay penalties tied to supplier-controlled milestones only</a:t>
            </a:r>
            <a:endParaRPr sz="940"/>
          </a:p>
        </p:txBody>
      </p:sp>
      <p:sp>
        <p:nvSpPr>
          <p:cNvPr id="23" name="Text 21">
            <a:extLst xmlns:a="http://schemas.openxmlformats.org/drawingml/2006/main">
              <a:ext uri="{FF2B5EF4-FFF2-40B4-BE49-F238E27FC236}">
                <a16:creationId xmlns:a16="http://schemas.microsoft.com/office/drawing/2014/main" id="{3A71E89C-4BED-45ED-A8A5-0827C31BFB2F}"/>
              </a:ext>
            </a:extLst>
          </p:cNvPr>
          <p:cNvSpPr>
            <a:spLocks xmlns:a="http://schemas.openxmlformats.org/drawingml/2006/main" noGrp="1"/>
          </p:cNvSpPr>
          <p:nvPr/>
        </p:nvSpPr>
        <p:spPr>
          <a:xfrm xmlns:a="http://schemas.openxmlformats.org/drawingml/2006/main">
            <a:off x="5138928" y="4864608"/>
            <a:ext cx="6211519"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50">
                <a:solidFill>
                  <a:srgbClr val="486581"/>
                </a:solidFill>
                <a:latin typeface="Arial"/>
                <a:ea typeface="Arial"/>
                <a:cs typeface="Arial"/>
              </a:rPr>
              <a:t>This is the walk-away test. Decide the position before the negotiation, with relief events and a proportionate cap defined — and then do not move it incrementally under pressure.</a:t>
            </a:r>
            <a:endParaRPr sz="950"/>
          </a:p>
        </p:txBody>
      </p:sp>
      <p:sp>
        <p:nvSpPr>
          <p:cNvPr id="24" name="Shape 22">
            <a:extLst xmlns:a="http://schemas.openxmlformats.org/drawingml/2006/main">
              <a:ext uri="{FF2B5EF4-FFF2-40B4-BE49-F238E27FC236}">
                <a16:creationId xmlns:a16="http://schemas.microsoft.com/office/drawing/2014/main" id="{4839FF4A-C04D-4E35-83A1-FC01FCF17321}"/>
              </a:ext>
            </a:extLst>
          </p:cNvPr>
          <p:cNvSpPr>
            <a:spLocks xmlns:a="http://schemas.openxmlformats.org/drawingml/2006/main" noGrp="1"/>
          </p:cNvSpPr>
          <p:nvPr/>
        </p:nvSpPr>
        <p:spPr>
          <a:xfrm xmlns:a="http://schemas.openxmlformats.org/drawingml/2006/main">
            <a:off x="566928" y="5852160"/>
            <a:ext cx="11057839" cy="402336"/>
          </a:xfrm>
          <a:prstGeom xmlns:a="http://schemas.openxmlformats.org/drawingml/2006/main" prst="rect">
            <a:avLst/>
          </a:prstGeom>
          <a:solidFill xmlns:a="http://schemas.openxmlformats.org/drawingml/2006/main">
            <a:srgbClr val="F3E6E0"/>
          </a:solidFill>
        </p:spPr>
      </p:sp>
      <p:sp>
        <p:nvSpPr>
          <p:cNvPr id="25" name="Text 23">
            <a:extLst xmlns:a="http://schemas.openxmlformats.org/drawingml/2006/main">
              <a:ext uri="{FF2B5EF4-FFF2-40B4-BE49-F238E27FC236}">
                <a16:creationId xmlns:a16="http://schemas.microsoft.com/office/drawing/2014/main" id="{2693D031-6354-466E-B23A-075BAC524880}"/>
              </a:ext>
            </a:extLst>
          </p:cNvPr>
          <p:cNvSpPr>
            <a:spLocks xmlns:a="http://schemas.openxmlformats.org/drawingml/2006/main" noGrp="1"/>
          </p:cNvSpPr>
          <p:nvPr/>
        </p:nvSpPr>
        <p:spPr>
          <a:xfrm xmlns:a="http://schemas.openxmlformats.org/drawingml/2006/main">
            <a:off x="804672" y="6035040"/>
            <a:ext cx="10582351" cy="731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sequence exists so that the one position worth holding is reached with credibility intact — a supplier that has conceded nothing has no standing when it finally says no.</a:t>
            </a:r>
            <a:endParaRPr sz="990"/>
          </a:p>
        </p:txBody>
      </p:sp>
      <p:sp>
        <p:nvSpPr>
          <p:cNvPr id="26" name="Shape 24">
            <a:extLst xmlns:a="http://schemas.openxmlformats.org/drawingml/2006/main">
              <a:ext uri="{FF2B5EF4-FFF2-40B4-BE49-F238E27FC236}">
                <a16:creationId xmlns:a16="http://schemas.microsoft.com/office/drawing/2014/main" id="{4A5FDC1C-CAD5-4833-8623-2CF4C076674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7" name="Text 25">
            <a:extLst xmlns:a="http://schemas.openxmlformats.org/drawingml/2006/main">
              <a:ext uri="{FF2B5EF4-FFF2-40B4-BE49-F238E27FC236}">
                <a16:creationId xmlns:a16="http://schemas.microsoft.com/office/drawing/2014/main" id="{64AB6D3E-3272-4513-9F07-8284746DAC1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28" name="Text 26">
            <a:extLst xmlns:a="http://schemas.openxmlformats.org/drawingml/2006/main">
              <a:ext uri="{FF2B5EF4-FFF2-40B4-BE49-F238E27FC236}">
                <a16:creationId xmlns:a16="http://schemas.microsoft.com/office/drawing/2014/main" id="{2A5B167D-9AD3-40AA-AB73-2956E99D110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780253055"/>
      </p:ext>
    </p:extLst>
  </p:cSld>
</p:sld>
</file>

<file path=ppt/slides/slide13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83174CD-0521-4DE9-A615-8A9CDA13A19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FOR LEADERSHIP</a:t>
            </a:r>
            <a:endParaRPr sz="950"/>
          </a:p>
        </p:txBody>
      </p:sp>
      <p:sp>
        <p:nvSpPr>
          <p:cNvPr id="3" name="Text 1">
            <a:extLst xmlns:a="http://schemas.openxmlformats.org/drawingml/2006/main">
              <a:ext uri="{FF2B5EF4-FFF2-40B4-BE49-F238E27FC236}">
                <a16:creationId xmlns:a16="http://schemas.microsoft.com/office/drawing/2014/main" id="{8AEE30A9-DBE6-4829-B253-2DC3C483403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questions that convert a clause debate into a decision — asked before the bid</a:t>
            </a:r>
            <a:endParaRPr sz="1900"/>
          </a:p>
          <a:p xmlns:a="http://schemas.openxmlformats.org/drawingml/2006/main">
            <a:pPr marL="0" indent="0">
              <a:lnSpc>
                <a:spcPts val="2400"/>
              </a:lnSpc>
              <a:buNone/>
            </a:pPr>
            <a:r>
              <a:rPr sz="1900" b="1">
                <a:solidFill>
                  <a:srgbClr val="102A43"/>
                </a:solidFill>
                <a:latin typeface="Arial"/>
                <a:ea typeface="Arial"/>
                <a:cs typeface="Arial"/>
              </a:rPr>
              <a:t>is finalised, not at contract review</a:t>
            </a:r>
            <a:endParaRPr sz="1900"/>
          </a:p>
        </p:txBody>
      </p:sp>
      <p:sp>
        <p:nvSpPr>
          <p:cNvPr id="4" name="Shape 2">
            <a:extLst xmlns:a="http://schemas.openxmlformats.org/drawingml/2006/main">
              <a:ext uri="{FF2B5EF4-FFF2-40B4-BE49-F238E27FC236}">
                <a16:creationId xmlns:a16="http://schemas.microsoft.com/office/drawing/2014/main" id="{1EA3953F-14D9-47E5-8307-611CFC57A784}"/>
              </a:ext>
            </a:extLst>
          </p:cNvPr>
          <p:cNvSpPr>
            <a:spLocks xmlns:a="http://schemas.openxmlformats.org/drawingml/2006/main" noGrp="1"/>
          </p:cNvSpPr>
          <p:nvPr/>
        </p:nvSpPr>
        <p:spPr>
          <a:xfrm xmlns:a="http://schemas.openxmlformats.org/drawingml/2006/main">
            <a:off x="566928" y="1335024"/>
            <a:ext cx="5391760" cy="1572768"/>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D1026102-77EB-4520-9B5C-36EA76DE3144}"/>
              </a:ext>
            </a:extLst>
          </p:cNvPr>
          <p:cNvSpPr>
            <a:spLocks xmlns:a="http://schemas.openxmlformats.org/drawingml/2006/main" noGrp="1"/>
          </p:cNvSpPr>
          <p:nvPr/>
        </p:nvSpPr>
        <p:spPr>
          <a:xfrm xmlns:a="http://schemas.openxmlformats.org/drawingml/2006/main">
            <a:off x="786384" y="148132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01</a:t>
            </a:r>
            <a:endParaRPr sz="900"/>
          </a:p>
        </p:txBody>
      </p:sp>
      <p:sp>
        <p:nvSpPr>
          <p:cNvPr id="6" name="Text 4">
            <a:extLst xmlns:a="http://schemas.openxmlformats.org/drawingml/2006/main">
              <a:ext uri="{FF2B5EF4-FFF2-40B4-BE49-F238E27FC236}">
                <a16:creationId xmlns:a16="http://schemas.microsoft.com/office/drawing/2014/main" id="{A076B357-2C2E-401D-A703-9A0A66755CB5}"/>
              </a:ext>
            </a:extLst>
          </p:cNvPr>
          <p:cNvSpPr>
            <a:spLocks xmlns:a="http://schemas.openxmlformats.org/drawingml/2006/main" noGrp="1"/>
          </p:cNvSpPr>
          <p:nvPr/>
        </p:nvSpPr>
        <p:spPr>
          <a:xfrm xmlns:a="http://schemas.openxmlformats.org/drawingml/2006/main">
            <a:off x="786384" y="1737360"/>
            <a:ext cx="495284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Is the interest behind this clause one we can satisfy another way?</a:t>
            </a:r>
            <a:endParaRPr sz="1160"/>
          </a:p>
        </p:txBody>
      </p:sp>
      <p:sp>
        <p:nvSpPr>
          <p:cNvPr id="7" name="Text 5">
            <a:extLst xmlns:a="http://schemas.openxmlformats.org/drawingml/2006/main">
              <a:ext uri="{FF2B5EF4-FFF2-40B4-BE49-F238E27FC236}">
                <a16:creationId xmlns:a16="http://schemas.microsoft.com/office/drawing/2014/main" id="{899F990A-0E7E-4BD3-88E3-B30BBBE7793F}"/>
              </a:ext>
            </a:extLst>
          </p:cNvPr>
          <p:cNvSpPr>
            <a:spLocks xmlns:a="http://schemas.openxmlformats.org/drawingml/2006/main" noGrp="1"/>
          </p:cNvSpPr>
          <p:nvPr/>
        </p:nvSpPr>
        <p:spPr>
          <a:xfrm xmlns:a="http://schemas.openxmlformats.org/drawingml/2006/main">
            <a:off x="786384" y="2286000"/>
            <a:ext cx="4952848"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If yes, it is a construct problem and belongs with commercial and legal, not with the deal team. If no, it is a genuine allocation of risk and needs an executive decision.</a:t>
            </a:r>
            <a:endParaRPr sz="950"/>
          </a:p>
        </p:txBody>
      </p:sp>
      <p:sp>
        <p:nvSpPr>
          <p:cNvPr id="8" name="Shape 6">
            <a:extLst xmlns:a="http://schemas.openxmlformats.org/drawingml/2006/main">
              <a:ext uri="{FF2B5EF4-FFF2-40B4-BE49-F238E27FC236}">
                <a16:creationId xmlns:a16="http://schemas.microsoft.com/office/drawing/2014/main" id="{84D22B0E-039A-4A48-A03E-7C3F2699C3AB}"/>
              </a:ext>
            </a:extLst>
          </p:cNvPr>
          <p:cNvSpPr>
            <a:spLocks xmlns:a="http://schemas.openxmlformats.org/drawingml/2006/main" noGrp="1"/>
          </p:cNvSpPr>
          <p:nvPr/>
        </p:nvSpPr>
        <p:spPr>
          <a:xfrm xmlns:a="http://schemas.openxmlformats.org/drawingml/2006/main">
            <a:off x="6233008" y="1335024"/>
            <a:ext cx="5391760" cy="1572768"/>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5EE5E851-FE3B-49F4-AD45-5F641D7A0110}"/>
              </a:ext>
            </a:extLst>
          </p:cNvPr>
          <p:cNvSpPr>
            <a:spLocks xmlns:a="http://schemas.openxmlformats.org/drawingml/2006/main" noGrp="1"/>
          </p:cNvSpPr>
          <p:nvPr/>
        </p:nvSpPr>
        <p:spPr>
          <a:xfrm xmlns:a="http://schemas.openxmlformats.org/drawingml/2006/main">
            <a:off x="6452464" y="148132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02</a:t>
            </a:r>
            <a:endParaRPr sz="900"/>
          </a:p>
        </p:txBody>
      </p:sp>
      <p:sp>
        <p:nvSpPr>
          <p:cNvPr id="10" name="Text 8">
            <a:extLst xmlns:a="http://schemas.openxmlformats.org/drawingml/2006/main">
              <a:ext uri="{FF2B5EF4-FFF2-40B4-BE49-F238E27FC236}">
                <a16:creationId xmlns:a16="http://schemas.microsoft.com/office/drawing/2014/main" id="{44B36153-105A-4783-BB17-75F957C55BB2}"/>
              </a:ext>
            </a:extLst>
          </p:cNvPr>
          <p:cNvSpPr>
            <a:spLocks xmlns:a="http://schemas.openxmlformats.org/drawingml/2006/main" noGrp="1"/>
          </p:cNvSpPr>
          <p:nvPr/>
        </p:nvSpPr>
        <p:spPr>
          <a:xfrm xmlns:a="http://schemas.openxmlformats.org/drawingml/2006/main">
            <a:off x="6452464" y="1737360"/>
            <a:ext cx="495284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What is the realistic cost if this clause is triggered?</a:t>
            </a:r>
            <a:endParaRPr sz="1160"/>
          </a:p>
        </p:txBody>
      </p:sp>
      <p:sp>
        <p:nvSpPr>
          <p:cNvPr id="11" name="Text 9">
            <a:extLst xmlns:a="http://schemas.openxmlformats.org/drawingml/2006/main">
              <a:ext uri="{FF2B5EF4-FFF2-40B4-BE49-F238E27FC236}">
                <a16:creationId xmlns:a16="http://schemas.microsoft.com/office/drawing/2014/main" id="{80D1412A-C9F7-422D-9107-A5FC9B20E5E6}"/>
              </a:ext>
            </a:extLst>
          </p:cNvPr>
          <p:cNvSpPr>
            <a:spLocks xmlns:a="http://schemas.openxmlformats.org/drawingml/2006/main" noGrp="1"/>
          </p:cNvSpPr>
          <p:nvPr/>
        </p:nvSpPr>
        <p:spPr>
          <a:xfrm xmlns:a="http://schemas.openxmlformats.org/drawingml/2006/main">
            <a:off x="6452464" y="2286000"/>
            <a:ext cx="4952848"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Unbounded clauses are not equally dangerous. Step-in on a well-documented programme is survivable; an uncapped refund on a multi-year fixed bid is not. Size before you argue.</a:t>
            </a:r>
            <a:endParaRPr sz="950"/>
          </a:p>
        </p:txBody>
      </p:sp>
      <p:sp>
        <p:nvSpPr>
          <p:cNvPr id="12" name="Shape 10">
            <a:extLst xmlns:a="http://schemas.openxmlformats.org/drawingml/2006/main">
              <a:ext uri="{FF2B5EF4-FFF2-40B4-BE49-F238E27FC236}">
                <a16:creationId xmlns:a16="http://schemas.microsoft.com/office/drawing/2014/main" id="{AC9684D4-96D4-4347-81F7-AC6E154D172D}"/>
              </a:ext>
            </a:extLst>
          </p:cNvPr>
          <p:cNvSpPr>
            <a:spLocks xmlns:a="http://schemas.openxmlformats.org/drawingml/2006/main" noGrp="1"/>
          </p:cNvSpPr>
          <p:nvPr/>
        </p:nvSpPr>
        <p:spPr>
          <a:xfrm xmlns:a="http://schemas.openxmlformats.org/drawingml/2006/main">
            <a:off x="566928" y="3072384"/>
            <a:ext cx="5391760" cy="1572768"/>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3A65B8A3-26EA-4E40-A9A2-71A89FF09E17}"/>
              </a:ext>
            </a:extLst>
          </p:cNvPr>
          <p:cNvSpPr>
            <a:spLocks xmlns:a="http://schemas.openxmlformats.org/drawingml/2006/main" noGrp="1"/>
          </p:cNvSpPr>
          <p:nvPr/>
        </p:nvSpPr>
        <p:spPr>
          <a:xfrm xmlns:a="http://schemas.openxmlformats.org/drawingml/2006/main">
            <a:off x="786384" y="32186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03</a:t>
            </a:r>
            <a:endParaRPr sz="900"/>
          </a:p>
        </p:txBody>
      </p:sp>
      <p:sp>
        <p:nvSpPr>
          <p:cNvPr id="14" name="Text 12">
            <a:extLst xmlns:a="http://schemas.openxmlformats.org/drawingml/2006/main">
              <a:ext uri="{FF2B5EF4-FFF2-40B4-BE49-F238E27FC236}">
                <a16:creationId xmlns:a16="http://schemas.microsoft.com/office/drawing/2014/main" id="{069A9437-2659-473B-AEB8-EBE66E7EEC2F}"/>
              </a:ext>
            </a:extLst>
          </p:cNvPr>
          <p:cNvSpPr>
            <a:spLocks xmlns:a="http://schemas.openxmlformats.org/drawingml/2006/main" noGrp="1"/>
          </p:cNvSpPr>
          <p:nvPr/>
        </p:nvSpPr>
        <p:spPr>
          <a:xfrm xmlns:a="http://schemas.openxmlformats.org/drawingml/2006/main">
            <a:off x="786384" y="3474720"/>
            <a:ext cx="495284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Would we accept this clause for a client half this size?</a:t>
            </a:r>
            <a:endParaRPr sz="1160"/>
          </a:p>
        </p:txBody>
      </p:sp>
      <p:sp>
        <p:nvSpPr>
          <p:cNvPr id="15" name="Text 13">
            <a:extLst xmlns:a="http://schemas.openxmlformats.org/drawingml/2006/main">
              <a:ext uri="{FF2B5EF4-FFF2-40B4-BE49-F238E27FC236}">
                <a16:creationId xmlns:a16="http://schemas.microsoft.com/office/drawing/2014/main" id="{7B504B75-1412-4311-9020-5CF24113B75E}"/>
              </a:ext>
            </a:extLst>
          </p:cNvPr>
          <p:cNvSpPr>
            <a:spLocks xmlns:a="http://schemas.openxmlformats.org/drawingml/2006/main" noGrp="1"/>
          </p:cNvSpPr>
          <p:nvPr/>
        </p:nvSpPr>
        <p:spPr>
          <a:xfrm xmlns:a="http://schemas.openxmlformats.org/drawingml/2006/main">
            <a:off x="786384" y="4023360"/>
            <a:ext cx="4952848"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If the answer is no, the clause is being tolerated for strategic value rather than accepted on merit. That is a legitimate choice, but it should be made explicitly and recorded as such.</a:t>
            </a:r>
            <a:endParaRPr sz="950"/>
          </a:p>
        </p:txBody>
      </p:sp>
      <p:sp>
        <p:nvSpPr>
          <p:cNvPr id="16" name="Shape 14">
            <a:extLst xmlns:a="http://schemas.openxmlformats.org/drawingml/2006/main">
              <a:ext uri="{FF2B5EF4-FFF2-40B4-BE49-F238E27FC236}">
                <a16:creationId xmlns:a16="http://schemas.microsoft.com/office/drawing/2014/main" id="{C26A1203-E532-4533-A891-F8EEE24BD661}"/>
              </a:ext>
            </a:extLst>
          </p:cNvPr>
          <p:cNvSpPr>
            <a:spLocks xmlns:a="http://schemas.openxmlformats.org/drawingml/2006/main" noGrp="1"/>
          </p:cNvSpPr>
          <p:nvPr/>
        </p:nvSpPr>
        <p:spPr>
          <a:xfrm xmlns:a="http://schemas.openxmlformats.org/drawingml/2006/main">
            <a:off x="6233008" y="3072384"/>
            <a:ext cx="5391760" cy="1572768"/>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C28429A4-C3C1-4786-8088-BE9618D0C6DC}"/>
              </a:ext>
            </a:extLst>
          </p:cNvPr>
          <p:cNvSpPr>
            <a:spLocks xmlns:a="http://schemas.openxmlformats.org/drawingml/2006/main" noGrp="1"/>
          </p:cNvSpPr>
          <p:nvPr/>
        </p:nvSpPr>
        <p:spPr>
          <a:xfrm xmlns:a="http://schemas.openxmlformats.org/drawingml/2006/main">
            <a:off x="6452464" y="32186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B04A25"/>
                </a:solidFill>
                <a:latin typeface="Arial"/>
                <a:ea typeface="Arial"/>
                <a:cs typeface="Arial"/>
              </a:rPr>
              <a:t>04</a:t>
            </a:r>
            <a:endParaRPr sz="900"/>
          </a:p>
        </p:txBody>
      </p:sp>
      <p:sp>
        <p:nvSpPr>
          <p:cNvPr id="18" name="Text 16">
            <a:extLst xmlns:a="http://schemas.openxmlformats.org/drawingml/2006/main">
              <a:ext uri="{FF2B5EF4-FFF2-40B4-BE49-F238E27FC236}">
                <a16:creationId xmlns:a16="http://schemas.microsoft.com/office/drawing/2014/main" id="{6C35E303-09E7-4493-B3BE-A8FF64AB0064}"/>
              </a:ext>
            </a:extLst>
          </p:cNvPr>
          <p:cNvSpPr>
            <a:spLocks xmlns:a="http://schemas.openxmlformats.org/drawingml/2006/main" noGrp="1"/>
          </p:cNvSpPr>
          <p:nvPr/>
        </p:nvSpPr>
        <p:spPr>
          <a:xfrm xmlns:a="http://schemas.openxmlformats.org/drawingml/2006/main">
            <a:off x="6452464" y="3474720"/>
            <a:ext cx="4952848"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What is the sunk cost if we walk at contract stage instead of now?</a:t>
            </a:r>
            <a:endParaRPr sz="1160"/>
          </a:p>
        </p:txBody>
      </p:sp>
      <p:sp>
        <p:nvSpPr>
          <p:cNvPr id="19" name="Text 17">
            <a:extLst xmlns:a="http://schemas.openxmlformats.org/drawingml/2006/main">
              <a:ext uri="{FF2B5EF4-FFF2-40B4-BE49-F238E27FC236}">
                <a16:creationId xmlns:a16="http://schemas.microsoft.com/office/drawing/2014/main" id="{0AD7EFDD-B425-4AB4-9B6B-4527E40951F5}"/>
              </a:ext>
            </a:extLst>
          </p:cNvPr>
          <p:cNvSpPr>
            <a:spLocks xmlns:a="http://schemas.openxmlformats.org/drawingml/2006/main" noGrp="1"/>
          </p:cNvSpPr>
          <p:nvPr/>
        </p:nvSpPr>
        <p:spPr>
          <a:xfrm xmlns:a="http://schemas.openxmlformats.org/drawingml/2006/main">
            <a:off x="6452464" y="4023360"/>
            <a:ext cx="4952848"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Bid cost, opportunity cost and the reputational cost of withdrawing late. This is the number that makes early clause assessment obviously worth doing.</a:t>
            </a:r>
            <a:endParaRPr sz="950"/>
          </a:p>
        </p:txBody>
      </p:sp>
      <p:sp>
        <p:nvSpPr>
          <p:cNvPr id="20" name="Shape 18">
            <a:extLst xmlns:a="http://schemas.openxmlformats.org/drawingml/2006/main">
              <a:ext uri="{FF2B5EF4-FFF2-40B4-BE49-F238E27FC236}">
                <a16:creationId xmlns:a16="http://schemas.microsoft.com/office/drawing/2014/main" id="{69F328FD-2607-4287-A1DA-D59E46B0F8D1}"/>
              </a:ext>
            </a:extLst>
          </p:cNvPr>
          <p:cNvSpPr>
            <a:spLocks xmlns:a="http://schemas.openxmlformats.org/drawingml/2006/main" noGrp="1"/>
          </p:cNvSpPr>
          <p:nvPr/>
        </p:nvSpPr>
        <p:spPr>
          <a:xfrm xmlns:a="http://schemas.openxmlformats.org/drawingml/2006/main">
            <a:off x="566928" y="4937760"/>
            <a:ext cx="11057839" cy="1133856"/>
          </a:xfrm>
          <a:prstGeom xmlns:a="http://schemas.openxmlformats.org/drawingml/2006/main" prst="rect">
            <a:avLst/>
          </a:prstGeom>
          <a:solidFill xmlns:a="http://schemas.openxmlformats.org/drawingml/2006/main">
            <a:srgbClr val="F3E6E0"/>
          </a:solidFill>
        </p:spPr>
      </p:sp>
      <p:sp>
        <p:nvSpPr>
          <p:cNvPr id="21" name="Text 19">
            <a:extLst xmlns:a="http://schemas.openxmlformats.org/drawingml/2006/main">
              <a:ext uri="{FF2B5EF4-FFF2-40B4-BE49-F238E27FC236}">
                <a16:creationId xmlns:a16="http://schemas.microsoft.com/office/drawing/2014/main" id="{9B833EA2-F9EA-4635-A58F-971222D844DA}"/>
              </a:ext>
            </a:extLst>
          </p:cNvPr>
          <p:cNvSpPr>
            <a:spLocks xmlns:a="http://schemas.openxmlformats.org/drawingml/2006/main" noGrp="1"/>
          </p:cNvSpPr>
          <p:nvPr/>
        </p:nvSpPr>
        <p:spPr>
          <a:xfrm xmlns:a="http://schemas.openxmlformats.org/drawingml/2006/main">
            <a:off x="804672" y="508406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recommendation this framework produced</a:t>
            </a:r>
            <a:endParaRPr sz="1100"/>
          </a:p>
        </p:txBody>
      </p:sp>
      <p:sp>
        <p:nvSpPr>
          <p:cNvPr id="22" name="Text 20">
            <a:extLst xmlns:a="http://schemas.openxmlformats.org/drawingml/2006/main">
              <a:ext uri="{FF2B5EF4-FFF2-40B4-BE49-F238E27FC236}">
                <a16:creationId xmlns:a16="http://schemas.microsoft.com/office/drawing/2014/main" id="{584EDE44-71BA-452F-BCCB-8E5803B50DD4}"/>
              </a:ext>
            </a:extLst>
          </p:cNvPr>
          <p:cNvSpPr>
            <a:spLocks xmlns:a="http://schemas.openxmlformats.org/drawingml/2006/main" noGrp="1"/>
          </p:cNvSpPr>
          <p:nvPr/>
        </p:nvSpPr>
        <p:spPr>
          <a:xfrm xmlns:a="http://schemas.openxmlformats.org/drawingml/2006/main">
            <a:off x="804672" y="5340096"/>
            <a:ext cx="10582351"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Pursue. The functional fit is strong, the footprint is strategically significant, and four of five clause families have a construct that satisfies the client's underlying interest without conceding the position.</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But resolve the commercial model before the solution is frozen. A construct proposed alongside a finished solution reads as a late caveat; the same construct proposed as part of the solution reads as design. That is a sequencing choice, and it is available only while the bid is still being written.</a:t>
            </a:r>
            <a:endParaRPr sz="990"/>
          </a:p>
        </p:txBody>
      </p:sp>
      <p:sp>
        <p:nvSpPr>
          <p:cNvPr id="23" name="Shape 21">
            <a:extLst xmlns:a="http://schemas.openxmlformats.org/drawingml/2006/main">
              <a:ext uri="{FF2B5EF4-FFF2-40B4-BE49-F238E27FC236}">
                <a16:creationId xmlns:a16="http://schemas.microsoft.com/office/drawing/2014/main" id="{B19F8636-EDDC-45D6-9477-B207C921EDE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4" name="Text 22">
            <a:extLst xmlns:a="http://schemas.openxmlformats.org/drawingml/2006/main">
              <a:ext uri="{FF2B5EF4-FFF2-40B4-BE49-F238E27FC236}">
                <a16:creationId xmlns:a16="http://schemas.microsoft.com/office/drawing/2014/main" id="{894A100A-D555-4527-8A77-D6928356E3D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25" name="Text 23">
            <a:extLst xmlns:a="http://schemas.openxmlformats.org/drawingml/2006/main">
              <a:ext uri="{FF2B5EF4-FFF2-40B4-BE49-F238E27FC236}">
                <a16:creationId xmlns:a16="http://schemas.microsoft.com/office/drawing/2014/main" id="{B31C1738-69F4-4B0D-8AA9-DA229403254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2091083387"/>
      </p:ext>
    </p:extLst>
  </p:cSld>
</p:sld>
</file>

<file path=ppt/slides/slide13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0C0FEC-58F8-4323-BB17-9FE7B2B4929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9CF73904-D86C-4614-B1E6-90E328F55DA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negotiating a fixed-bid product implementation</a:t>
            </a:r>
            <a:endParaRPr sz="1900"/>
          </a:p>
        </p:txBody>
      </p:sp>
      <p:sp>
        <p:nvSpPr>
          <p:cNvPr id="4" name="Text 2">
            <a:extLst xmlns:a="http://schemas.openxmlformats.org/drawingml/2006/main">
              <a:ext uri="{FF2B5EF4-FFF2-40B4-BE49-F238E27FC236}">
                <a16:creationId xmlns:a16="http://schemas.microsoft.com/office/drawing/2014/main" id="{13203F4B-3281-4B90-9FE5-E904A5FB7E76}"/>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0FAB8864-5C40-4CC8-B7A8-39986530ABF7}"/>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Go behind the position to the interest</a:t>
            </a:r>
            <a:endParaRPr sz="1200"/>
          </a:p>
        </p:txBody>
      </p:sp>
      <p:sp>
        <p:nvSpPr>
          <p:cNvPr id="6" name="Text 4">
            <a:extLst xmlns:a="http://schemas.openxmlformats.org/drawingml/2006/main">
              <a:ext uri="{FF2B5EF4-FFF2-40B4-BE49-F238E27FC236}">
                <a16:creationId xmlns:a16="http://schemas.microsoft.com/office/drawing/2014/main" id="{44029026-CCBE-4853-BC52-F8E0A6DBE3E2}"/>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“Full source ownership” is a position. Continuity, price protection and freedom to change are the interests — and escrow plus a perpetual licence satisfies all three without transferring the product.</a:t>
            </a:r>
            <a:endParaRPr sz="1000"/>
          </a:p>
        </p:txBody>
      </p:sp>
      <p:sp>
        <p:nvSpPr>
          <p:cNvPr id="7" name="Shape 5">
            <a:extLst xmlns:a="http://schemas.openxmlformats.org/drawingml/2006/main">
              <a:ext uri="{FF2B5EF4-FFF2-40B4-BE49-F238E27FC236}">
                <a16:creationId xmlns:a16="http://schemas.microsoft.com/office/drawing/2014/main" id="{3F6CCF88-59E2-4F2D-9404-6B0755739AE3}"/>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48550527-3430-4351-96EF-0B482B2C9E9F}"/>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511EE8FC-36EB-4ACB-8AEF-F3446B587EDB}"/>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Check whether the clauses fit the contract type</a:t>
            </a:r>
            <a:endParaRPr sz="1200"/>
          </a:p>
        </p:txBody>
      </p:sp>
      <p:sp>
        <p:nvSpPr>
          <p:cNvPr id="10" name="Text 8">
            <a:extLst xmlns:a="http://schemas.openxmlformats.org/drawingml/2006/main">
              <a:ext uri="{FF2B5EF4-FFF2-40B4-BE49-F238E27FC236}">
                <a16:creationId xmlns:a16="http://schemas.microsoft.com/office/drawing/2014/main" id="{477704DF-1BD5-4BBA-A687-66AF8328D5C7}"/>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Most impasses come from bespoke-build clauses applied unchanged to a product implementation. Naming that mismatch is more productive than arguing each clause on its wording.</a:t>
            </a:r>
            <a:endParaRPr sz="1000"/>
          </a:p>
        </p:txBody>
      </p:sp>
      <p:sp>
        <p:nvSpPr>
          <p:cNvPr id="11" name="Shape 9">
            <a:extLst xmlns:a="http://schemas.openxmlformats.org/drawingml/2006/main">
              <a:ext uri="{FF2B5EF4-FFF2-40B4-BE49-F238E27FC236}">
                <a16:creationId xmlns:a16="http://schemas.microsoft.com/office/drawing/2014/main" id="{0B13A4FA-EC56-4D76-8B9A-AFE1FAFDE792}"/>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4B26E14F-5737-4D71-A33C-15638F9A647E}"/>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B0B86D9E-22E4-4E51-BA39-861E9884CD0E}"/>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Sequence concessions to earn standing</a:t>
            </a:r>
            <a:endParaRPr sz="1200"/>
          </a:p>
        </p:txBody>
      </p:sp>
      <p:sp>
        <p:nvSpPr>
          <p:cNvPr id="14" name="Text 12">
            <a:extLst xmlns:a="http://schemas.openxmlformats.org/drawingml/2006/main">
              <a:ext uri="{FF2B5EF4-FFF2-40B4-BE49-F238E27FC236}">
                <a16:creationId xmlns:a16="http://schemas.microsoft.com/office/drawing/2014/main" id="{2C1ECC20-1338-4A4F-9194-949B9067F2BB}"/>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Move first on the reasonable, low-cost families. A supplier that has conceded nothing has no credibility when it finally refuses — and the one refusal that matters needs that credibility.</a:t>
            </a:r>
            <a:endParaRPr sz="1000"/>
          </a:p>
        </p:txBody>
      </p:sp>
      <p:sp>
        <p:nvSpPr>
          <p:cNvPr id="15" name="Shape 13">
            <a:extLst xmlns:a="http://schemas.openxmlformats.org/drawingml/2006/main">
              <a:ext uri="{FF2B5EF4-FFF2-40B4-BE49-F238E27FC236}">
                <a16:creationId xmlns:a16="http://schemas.microsoft.com/office/drawing/2014/main" id="{D6BE9DF6-BBA6-4AA8-A119-04FC3111CFBE}"/>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33B96561-7A33-40FB-A1AB-307F788DEB1E}"/>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53947E0A-C402-41BD-8AEA-461CBEDDD450}"/>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Assess clauses in parallel with the solution</a:t>
            </a:r>
            <a:endParaRPr sz="1200"/>
          </a:p>
        </p:txBody>
      </p:sp>
      <p:sp>
        <p:nvSpPr>
          <p:cNvPr id="18" name="Text 16">
            <a:extLst xmlns:a="http://schemas.openxmlformats.org/drawingml/2006/main">
              <a:ext uri="{FF2B5EF4-FFF2-40B4-BE49-F238E27FC236}">
                <a16:creationId xmlns:a16="http://schemas.microsoft.com/office/drawing/2014/main" id="{E5FF8A26-FE77-4A0D-A7DE-56B24617BD23}"/>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clause family raised in week two is a design constraint. The same clause at contract review is a stalled deal with the whole bid cost already sunk behind it.</a:t>
            </a:r>
            <a:endParaRPr sz="1000"/>
          </a:p>
        </p:txBody>
      </p:sp>
      <p:sp>
        <p:nvSpPr>
          <p:cNvPr id="19" name="Shape 17">
            <a:extLst xmlns:a="http://schemas.openxmlformats.org/drawingml/2006/main">
              <a:ext uri="{FF2B5EF4-FFF2-40B4-BE49-F238E27FC236}">
                <a16:creationId xmlns:a16="http://schemas.microsoft.com/office/drawing/2014/main" id="{8C879677-01D0-4AB0-BCF9-3D78CC7951F8}"/>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ECD20B15-B460-4F32-9589-91A814E26DEB}"/>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Four of five commercial impasses are constructs waiting to be found. The fifth is a real decision about who owns risk — and it deserves to be taken deliberately and early, not discovered at signature.</a:t>
            </a:r>
            <a:endParaRPr sz="1200"/>
          </a:p>
        </p:txBody>
      </p:sp>
      <p:sp>
        <p:nvSpPr>
          <p:cNvPr id="21" name="Shape 19">
            <a:extLst xmlns:a="http://schemas.openxmlformats.org/drawingml/2006/main">
              <a:ext uri="{FF2B5EF4-FFF2-40B4-BE49-F238E27FC236}">
                <a16:creationId xmlns:a16="http://schemas.microsoft.com/office/drawing/2014/main" id="{FEA75212-E4FD-4A2E-8354-984111CEB00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6B9E5451-6220-49B6-8590-42908ED79B8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commercial analysis of the clause structure</a:t>
            </a:r>
            <a:endParaRPr sz="850"/>
          </a:p>
        </p:txBody>
      </p:sp>
      <p:sp>
        <p:nvSpPr>
          <p:cNvPr id="23" name="Text 21">
            <a:extLst xmlns:a="http://schemas.openxmlformats.org/drawingml/2006/main">
              <a:ext uri="{FF2B5EF4-FFF2-40B4-BE49-F238E27FC236}">
                <a16:creationId xmlns:a16="http://schemas.microsoft.com/office/drawing/2014/main" id="{B23C3E9E-2FC2-4DCB-9AC3-C878ED16161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1701425638"/>
      </p:ext>
    </p:extLst>
  </p:cSld>
</p:sld>
</file>

<file path=ppt/slides/slide13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F776911-D7FB-4DF4-AF9C-3245D7664EAB}"/>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DECISIONING ARCHITECTURE  ·  10 OF 30</a:t>
            </a:r>
            <a:endParaRPr sz="950"/>
          </a:p>
        </p:txBody>
      </p:sp>
      <p:sp>
        <p:nvSpPr>
          <p:cNvPr id="3" name="Text 1">
            <a:extLst xmlns:a="http://schemas.openxmlformats.org/drawingml/2006/main">
              <a:ext uri="{FF2B5EF4-FFF2-40B4-BE49-F238E27FC236}">
                <a16:creationId xmlns:a16="http://schemas.microsoft.com/office/drawing/2014/main" id="{338C3551-10E0-4D3E-9F92-E5922705BAA6}"/>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Punjab National Bank</a:t>
            </a:r>
            <a:endParaRPr sz="3800"/>
          </a:p>
        </p:txBody>
      </p:sp>
      <p:sp>
        <p:nvSpPr>
          <p:cNvPr id="4" name="Text 2">
            <a:extLst xmlns:a="http://schemas.openxmlformats.org/drawingml/2006/main">
              <a:ext uri="{FF2B5EF4-FFF2-40B4-BE49-F238E27FC236}">
                <a16:creationId xmlns:a16="http://schemas.microsoft.com/office/drawing/2014/main" id="{AD4EC66F-9EAD-4BF8-974A-63CDE0CDB528}"/>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Two clocks, one engine — planned and reactive next-best-action from a single decisioning core</a:t>
            </a:r>
            <a:endParaRPr sz="1800"/>
          </a:p>
        </p:txBody>
      </p:sp>
      <p:sp>
        <p:nvSpPr>
          <p:cNvPr id="5" name="Text 3">
            <a:extLst xmlns:a="http://schemas.openxmlformats.org/drawingml/2006/main">
              <a:ext uri="{FF2B5EF4-FFF2-40B4-BE49-F238E27FC236}">
                <a16:creationId xmlns:a16="http://schemas.microsoft.com/office/drawing/2014/main" id="{AE710CB9-A861-4918-B5CC-A5A149F895A9}"/>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day plan computed overnight and a nudge fired in seconds look like two systems. They are two clocks on one engine — and building them separately is how banks end up with two versions of what to say to the same customer.</a:t>
            </a:r>
            <a:endParaRPr sz="1150"/>
          </a:p>
        </p:txBody>
      </p:sp>
      <p:sp>
        <p:nvSpPr>
          <p:cNvPr id="6" name="Shape 4">
            <a:extLst xmlns:a="http://schemas.openxmlformats.org/drawingml/2006/main">
              <a:ext uri="{FF2B5EF4-FFF2-40B4-BE49-F238E27FC236}">
                <a16:creationId xmlns:a16="http://schemas.microsoft.com/office/drawing/2014/main" id="{DF65FA4C-8F09-492B-8F51-CF8A61B16DD7}"/>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FF80B045-D636-48CE-AAE0-D9B3DFF7CCC4}"/>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8" name="Text 6">
            <a:extLst xmlns:a="http://schemas.openxmlformats.org/drawingml/2006/main">
              <a:ext uri="{FF2B5EF4-FFF2-40B4-BE49-F238E27FC236}">
                <a16:creationId xmlns:a16="http://schemas.microsoft.com/office/drawing/2014/main" id="{88B2C7AE-CE34-49D5-BB21-406C2A9E55B1}"/>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clocks, one</a:t>
            </a:r>
            <a:endParaRPr sz="900"/>
          </a:p>
          <a:p xmlns:a="http://schemas.openxmlformats.org/drawingml/2006/main">
            <a:pPr marL="0" indent="0">
              <a:lnSpc>
                <a:spcPts val="1100"/>
              </a:lnSpc>
              <a:buNone/>
            </a:pPr>
            <a:r>
              <a:rPr sz="900">
                <a:solidFill>
                  <a:srgbClr val="8FA9C4"/>
                </a:solidFill>
                <a:latin typeface="Arial"/>
                <a:ea typeface="Arial"/>
                <a:cs typeface="Arial"/>
              </a:rPr>
              <a:t>decisioning core</a:t>
            </a:r>
            <a:endParaRPr sz="900"/>
          </a:p>
        </p:txBody>
      </p:sp>
      <p:sp>
        <p:nvSpPr>
          <p:cNvPr id="9" name="Text 7">
            <a:extLst xmlns:a="http://schemas.openxmlformats.org/drawingml/2006/main">
              <a:ext uri="{FF2B5EF4-FFF2-40B4-BE49-F238E27FC236}">
                <a16:creationId xmlns:a16="http://schemas.microsoft.com/office/drawing/2014/main" id="{B7DBEE4D-A477-420A-94F4-EEBDD21764C8}"/>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0" name="Text 8">
            <a:extLst xmlns:a="http://schemas.openxmlformats.org/drawingml/2006/main">
              <a:ext uri="{FF2B5EF4-FFF2-40B4-BE49-F238E27FC236}">
                <a16:creationId xmlns:a16="http://schemas.microsoft.com/office/drawing/2014/main" id="{AD18B8FB-8D17-458A-8D51-DBE3A07E35DE}"/>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arbiter for</a:t>
            </a:r>
            <a:endParaRPr sz="900"/>
          </a:p>
          <a:p xmlns:a="http://schemas.openxmlformats.org/drawingml/2006/main">
            <a:pPr marL="0" indent="0">
              <a:lnSpc>
                <a:spcPts val="1100"/>
              </a:lnSpc>
              <a:buNone/>
            </a:pPr>
            <a:r>
              <a:rPr sz="900">
                <a:solidFill>
                  <a:srgbClr val="8FA9C4"/>
                </a:solidFill>
                <a:latin typeface="Arial"/>
                <a:ea typeface="Arial"/>
                <a:cs typeface="Arial"/>
              </a:rPr>
              <a:t>both</a:t>
            </a:r>
            <a:endParaRPr sz="900"/>
          </a:p>
        </p:txBody>
      </p:sp>
      <p:sp>
        <p:nvSpPr>
          <p:cNvPr id="11" name="Text 9">
            <a:extLst xmlns:a="http://schemas.openxmlformats.org/drawingml/2006/main">
              <a:ext uri="{FF2B5EF4-FFF2-40B4-BE49-F238E27FC236}">
                <a16:creationId xmlns:a16="http://schemas.microsoft.com/office/drawing/2014/main" id="{EF3D29EA-B0CD-469A-A5EC-B811CADF7363}"/>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2" name="Text 10">
            <a:extLst xmlns:a="http://schemas.openxmlformats.org/drawingml/2006/main">
              <a:ext uri="{FF2B5EF4-FFF2-40B4-BE49-F238E27FC236}">
                <a16:creationId xmlns:a16="http://schemas.microsoft.com/office/drawing/2014/main" id="{6A7CC70C-58A8-4234-92B4-1A0311342ADD}"/>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hard gates that</a:t>
            </a:r>
            <a:endParaRPr sz="900"/>
          </a:p>
          <a:p xmlns:a="http://schemas.openxmlformats.org/drawingml/2006/main">
            <a:pPr marL="0" indent="0">
              <a:lnSpc>
                <a:spcPts val="1100"/>
              </a:lnSpc>
              <a:buNone/>
            </a:pPr>
            <a:r>
              <a:rPr sz="900">
                <a:solidFill>
                  <a:srgbClr val="8FA9C4"/>
                </a:solidFill>
                <a:latin typeface="Arial"/>
                <a:ea typeface="Arial"/>
                <a:cs typeface="Arial"/>
              </a:rPr>
              <a:t>remove actions</a:t>
            </a:r>
            <a:endParaRPr sz="900"/>
          </a:p>
        </p:txBody>
      </p:sp>
      <p:sp>
        <p:nvSpPr>
          <p:cNvPr id="13" name="Text 11">
            <a:extLst xmlns:a="http://schemas.openxmlformats.org/drawingml/2006/main">
              <a:ext uri="{FF2B5EF4-FFF2-40B4-BE49-F238E27FC236}">
                <a16:creationId xmlns:a16="http://schemas.microsoft.com/office/drawing/2014/main" id="{714C9001-F8F3-4DB9-B911-D163FA89C129}"/>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4" name="Text 12">
            <a:extLst xmlns:a="http://schemas.openxmlformats.org/drawingml/2006/main">
              <a:ext uri="{FF2B5EF4-FFF2-40B4-BE49-F238E27FC236}">
                <a16:creationId xmlns:a16="http://schemas.microsoft.com/office/drawing/2014/main" id="{AF16B7EC-15B5-429D-88C1-DEE1B8DBA532}"/>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override that</a:t>
            </a:r>
            <a:endParaRPr sz="900"/>
          </a:p>
          <a:p xmlns:a="http://schemas.openxmlformats.org/drawingml/2006/main">
            <a:pPr marL="0" indent="0">
              <a:lnSpc>
                <a:spcPts val="1100"/>
              </a:lnSpc>
              <a:buNone/>
            </a:pPr>
            <a:r>
              <a:rPr sz="900">
                <a:solidFill>
                  <a:srgbClr val="8FA9C4"/>
                </a:solidFill>
                <a:latin typeface="Arial"/>
                <a:ea typeface="Arial"/>
                <a:cs typeface="Arial"/>
              </a:rPr>
              <a:t>beats margin</a:t>
            </a:r>
            <a:endParaRPr sz="900"/>
          </a:p>
        </p:txBody>
      </p:sp>
      <p:sp>
        <p:nvSpPr>
          <p:cNvPr id="15" name="Text 13">
            <a:extLst xmlns:a="http://schemas.openxmlformats.org/drawingml/2006/main">
              <a:ext uri="{FF2B5EF4-FFF2-40B4-BE49-F238E27FC236}">
                <a16:creationId xmlns:a16="http://schemas.microsoft.com/office/drawing/2014/main" id="{0ED49B76-3FA4-46DF-97C9-F0EEFE847957}"/>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6" name="Text 14">
            <a:extLst xmlns:a="http://schemas.openxmlformats.org/drawingml/2006/main">
              <a:ext uri="{FF2B5EF4-FFF2-40B4-BE49-F238E27FC236}">
                <a16:creationId xmlns:a16="http://schemas.microsoft.com/office/drawing/2014/main" id="{91E64F2A-E7EA-4353-B3A2-BF8B853283C8}"/>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duplicate</a:t>
            </a:r>
            <a:endParaRPr sz="900"/>
          </a:p>
          <a:p xmlns:a="http://schemas.openxmlformats.org/drawingml/2006/main">
            <a:pPr marL="0" indent="0">
              <a:lnSpc>
                <a:spcPts val="1100"/>
              </a:lnSpc>
              <a:buNone/>
            </a:pPr>
            <a:r>
              <a:rPr sz="900">
                <a:solidFill>
                  <a:srgbClr val="8FA9C4"/>
                </a:solidFill>
                <a:latin typeface="Arial"/>
                <a:ea typeface="Arial"/>
                <a:cs typeface="Arial"/>
              </a:rPr>
              <a:t>ranking logic</a:t>
            </a:r>
            <a:endParaRPr sz="900"/>
          </a:p>
        </p:txBody>
      </p:sp>
      <p:sp>
        <p:nvSpPr>
          <p:cNvPr id="17" name="Text 15">
            <a:extLst xmlns:a="http://schemas.openxmlformats.org/drawingml/2006/main">
              <a:ext uri="{FF2B5EF4-FFF2-40B4-BE49-F238E27FC236}">
                <a16:creationId xmlns:a16="http://schemas.microsoft.com/office/drawing/2014/main" id="{01C2F1CE-0D1E-408E-A4AB-DE1DEA40AF7C}"/>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8" name="Text 16">
            <a:extLst xmlns:a="http://schemas.openxmlformats.org/drawingml/2006/main">
              <a:ext uri="{FF2B5EF4-FFF2-40B4-BE49-F238E27FC236}">
                <a16:creationId xmlns:a16="http://schemas.microsoft.com/office/drawing/2014/main" id="{6E31AFAA-ACB2-4676-B0A5-CF289E290E01}"/>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closed loop</a:t>
            </a:r>
            <a:endParaRPr sz="900"/>
          </a:p>
          <a:p xmlns:a="http://schemas.openxmlformats.org/drawingml/2006/main">
            <a:pPr marL="0" indent="0">
              <a:lnSpc>
                <a:spcPts val="1100"/>
              </a:lnSpc>
              <a:buNone/>
            </a:pPr>
            <a:r>
              <a:rPr sz="900">
                <a:solidFill>
                  <a:srgbClr val="8FA9C4"/>
                </a:solidFill>
                <a:latin typeface="Arial"/>
                <a:ea typeface="Arial"/>
                <a:cs typeface="Arial"/>
              </a:rPr>
              <a:t>feeding both</a:t>
            </a:r>
            <a:endParaRPr sz="900"/>
          </a:p>
        </p:txBody>
      </p:sp>
      <p:sp>
        <p:nvSpPr>
          <p:cNvPr id="19" name="Shape 17">
            <a:extLst xmlns:a="http://schemas.openxmlformats.org/drawingml/2006/main">
              <a:ext uri="{FF2B5EF4-FFF2-40B4-BE49-F238E27FC236}">
                <a16:creationId xmlns:a16="http://schemas.microsoft.com/office/drawing/2014/main" id="{A7BC16FF-02A3-4E36-8508-2E9A5B227CDE}"/>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42210422-20B0-4CEE-8043-7F08B422CF5F}"/>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SCOPE CONTEXT  ·  RELATIONSHIP-MANAGER WORKBENCH ON AN EXISTING PLATFORM</a:t>
            </a:r>
            <a:endParaRPr sz="800"/>
          </a:p>
        </p:txBody>
      </p:sp>
      <p:sp>
        <p:nvSpPr>
          <p:cNvPr id="21" name="Text 19">
            <a:extLst xmlns:a="http://schemas.openxmlformats.org/drawingml/2006/main">
              <a:ext uri="{FF2B5EF4-FFF2-40B4-BE49-F238E27FC236}">
                <a16:creationId xmlns:a16="http://schemas.microsoft.com/office/drawing/2014/main" id="{685F71DA-2EEB-4570-A067-998A4C144654}"/>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Customer profile and offer management    ·    intelligent insights and nudges for cross-sell and up-sell    ·    an additive layer on the CRM already owned</a:t>
            </a:r>
            <a:endParaRPr sz="1050"/>
          </a:p>
        </p:txBody>
      </p:sp>
      <p:sp>
        <p:nvSpPr>
          <p:cNvPr id="22" name="Text 20">
            <a:extLst xmlns:a="http://schemas.openxmlformats.org/drawingml/2006/main">
              <a:ext uri="{FF2B5EF4-FFF2-40B4-BE49-F238E27FC236}">
                <a16:creationId xmlns:a16="http://schemas.microsoft.com/office/drawing/2014/main" id="{34029F12-0315-473B-871C-CB333A5EACAF}"/>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Solution analysis authored for pre-demonstration executive briefing  ·  2026</a:t>
            </a:r>
            <a:endParaRPr sz="1200"/>
          </a:p>
        </p:txBody>
      </p:sp>
      <p:sp>
        <p:nvSpPr>
          <p:cNvPr id="23" name="Text 21">
            <a:extLst xmlns:a="http://schemas.openxmlformats.org/drawingml/2006/main">
              <a:ext uri="{FF2B5EF4-FFF2-40B4-BE49-F238E27FC236}">
                <a16:creationId xmlns:a16="http://schemas.microsoft.com/office/drawing/2014/main" id="{D3ED4136-1C08-4BFC-B5AC-022B850EBC32}"/>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Scope items are the client's; the two-clock architecture, arbiter design and gating model are mine.</a:t>
            </a:r>
            <a:endParaRPr sz="850"/>
          </a:p>
        </p:txBody>
      </p:sp>
    </p:spTree>
    <p:extLst>
      <p:ext uri="{BB962C8B-B14F-4D97-AF65-F5344CB8AC3E}">
        <p14:creationId xmlns:p14="http://schemas.microsoft.com/office/powerpoint/2010/main" val="1501705087"/>
      </p:ext>
    </p:extLst>
  </p:cSld>
</p:sld>
</file>

<file path=ppt/slides/slide13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33390A-0FDE-48D9-9841-A2B09BF3F75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7D0ACE9C-87F0-4E67-A3F5-898D82C40CD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Two scope items that read as separate builds are one decisioning core on two clocks —</a:t>
            </a:r>
            <a:endParaRPr sz="1900"/>
          </a:p>
          <a:p xmlns:a="http://schemas.openxmlformats.org/drawingml/2006/main">
            <a:pPr marL="0" indent="0">
              <a:lnSpc>
                <a:spcPts val="2400"/>
              </a:lnSpc>
              <a:buNone/>
            </a:pPr>
            <a:r>
              <a:rPr sz="1900" b="1">
                <a:solidFill>
                  <a:srgbClr val="102A43"/>
                </a:solidFill>
                <a:latin typeface="Arial"/>
                <a:ea typeface="Arial"/>
                <a:cs typeface="Arial"/>
              </a:rPr>
              <a:t>and keeping them together is what stops the bank saying two things at once</a:t>
            </a:r>
            <a:endParaRPr sz="1900"/>
          </a:p>
        </p:txBody>
      </p:sp>
      <p:sp>
        <p:nvSpPr>
          <p:cNvPr id="4" name="Shape 2">
            <a:extLst xmlns:a="http://schemas.openxmlformats.org/drawingml/2006/main">
              <a:ext uri="{FF2B5EF4-FFF2-40B4-BE49-F238E27FC236}">
                <a16:creationId xmlns:a16="http://schemas.microsoft.com/office/drawing/2014/main" id="{FB619C43-FA6C-494E-ACBB-339ACDD5631A}"/>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39E88987-5658-4F63-8289-2A7C932EC565}"/>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FF5D4AAB-5F56-4B8F-BAD2-79D5F0893FDB}"/>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large bank already owns its relationship platform. Two capabilities were prioritised: customer profile with offer management and next-best-action, and intelligent insights and nudges for cross-sell and up-sell.</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Read separately, the first is a planning capability and the second is an alerting one.</a:t>
            </a:r>
            <a:endParaRPr sz="980"/>
          </a:p>
        </p:txBody>
      </p:sp>
      <p:sp>
        <p:nvSpPr>
          <p:cNvPr id="7" name="Shape 5">
            <a:extLst xmlns:a="http://schemas.openxmlformats.org/drawingml/2006/main">
              <a:ext uri="{FF2B5EF4-FFF2-40B4-BE49-F238E27FC236}">
                <a16:creationId xmlns:a16="http://schemas.microsoft.com/office/drawing/2014/main" id="{3E7C3025-A555-45C0-92B8-DAFE63414A3A}"/>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458F5A8E-B25F-446B-B59C-2D23A901932F}"/>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BCEE0B99-CC5D-4219-AB56-9155F6ADD885}"/>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Built separately, they each need customer context, eligibility rules, propensity scoring, value estimation, channel fitting and fatigue management. So both get built, twice.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Worse, they will disagree. A day plan says call this customer about a deposit; a nudge two hours later says offer an overdraft. Both are individually reasonable and together they are noise, because nothing arbitrated between them.</a:t>
            </a:r>
            <a:endParaRPr sz="980"/>
          </a:p>
        </p:txBody>
      </p:sp>
      <p:sp>
        <p:nvSpPr>
          <p:cNvPr id="10" name="Shape 8">
            <a:extLst xmlns:a="http://schemas.openxmlformats.org/drawingml/2006/main">
              <a:ext uri="{FF2B5EF4-FFF2-40B4-BE49-F238E27FC236}">
                <a16:creationId xmlns:a16="http://schemas.microsoft.com/office/drawing/2014/main" id="{72F101A3-DC91-486A-82B1-274FCB91D4F4}"/>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38F37FD0-FD05-4AAC-BCF2-14808A284D36}"/>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architecture</a:t>
            </a:r>
            <a:endParaRPr sz="1250"/>
          </a:p>
        </p:txBody>
      </p:sp>
      <p:sp>
        <p:nvSpPr>
          <p:cNvPr id="12" name="Text 10">
            <a:extLst xmlns:a="http://schemas.openxmlformats.org/drawingml/2006/main">
              <a:ext uri="{FF2B5EF4-FFF2-40B4-BE49-F238E27FC236}">
                <a16:creationId xmlns:a16="http://schemas.microsoft.com/office/drawing/2014/main" id="{C4DBC957-FDDB-4FF1-A13F-1B80C2311561}"/>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One decisioning core, two clocks. A planned clock scores the portfolio overnight and delivers a ranked day plan by the time the relationship manager logs in. A reactive clock listens for events and fires a nudge within seconds while the situation is still live.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Same candidate generation, same scoring, same arbiter, same gates, same fatigue rules. Only the trigger and the latency differ.</a:t>
            </a:r>
            <a:endParaRPr sz="980"/>
          </a:p>
        </p:txBody>
      </p:sp>
      <p:sp>
        <p:nvSpPr>
          <p:cNvPr id="13" name="Text 11">
            <a:extLst xmlns:a="http://schemas.openxmlformats.org/drawingml/2006/main">
              <a:ext uri="{FF2B5EF4-FFF2-40B4-BE49-F238E27FC236}">
                <a16:creationId xmlns:a16="http://schemas.microsoft.com/office/drawing/2014/main" id="{0BBE8CB4-FF3A-401E-8CDC-FDD6EAC0A62D}"/>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38EE8833-8B12-4BCE-BF17-993B31882044}"/>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79B848B5-93D8-44CC-BA1E-78F425534932}"/>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6" name="Text 14">
            <a:extLst xmlns:a="http://schemas.openxmlformats.org/drawingml/2006/main">
              <a:ext uri="{FF2B5EF4-FFF2-40B4-BE49-F238E27FC236}">
                <a16:creationId xmlns:a16="http://schemas.microsoft.com/office/drawing/2014/main" id="{C2B627B3-9FF2-44E3-B2CE-9347E6005C20}"/>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engine, two triggers</a:t>
            </a:r>
            <a:endParaRPr sz="860"/>
          </a:p>
        </p:txBody>
      </p:sp>
      <p:sp>
        <p:nvSpPr>
          <p:cNvPr id="17" name="Shape 15">
            <a:extLst xmlns:a="http://schemas.openxmlformats.org/drawingml/2006/main">
              <a:ext uri="{FF2B5EF4-FFF2-40B4-BE49-F238E27FC236}">
                <a16:creationId xmlns:a16="http://schemas.microsoft.com/office/drawing/2014/main" id="{B3AE4A5E-D531-4B09-81A5-C7B1D23106D3}"/>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CB5C52E3-788F-44C0-9444-73E7EDDA2252}"/>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68B931C1-8B11-4E15-BA40-8847A5455B90}"/>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arbiter, one ranking</a:t>
            </a:r>
            <a:endParaRPr sz="860"/>
          </a:p>
        </p:txBody>
      </p:sp>
      <p:sp>
        <p:nvSpPr>
          <p:cNvPr id="20" name="Shape 18">
            <a:extLst xmlns:a="http://schemas.openxmlformats.org/drawingml/2006/main">
              <a:ext uri="{FF2B5EF4-FFF2-40B4-BE49-F238E27FC236}">
                <a16:creationId xmlns:a16="http://schemas.microsoft.com/office/drawing/2014/main" id="{8CBEC97A-3C82-41A8-B1B6-00737CD15BE4}"/>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402034DF-45A7-46B7-BAF4-A9EE5D97D290}"/>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2" name="Text 20">
            <a:extLst xmlns:a="http://schemas.openxmlformats.org/drawingml/2006/main">
              <a:ext uri="{FF2B5EF4-FFF2-40B4-BE49-F238E27FC236}">
                <a16:creationId xmlns:a16="http://schemas.microsoft.com/office/drawing/2014/main" id="{5BD44A35-0B7C-470B-9884-23BCE3F3F126}"/>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hard gates</a:t>
            </a:r>
            <a:endParaRPr sz="860"/>
          </a:p>
        </p:txBody>
      </p:sp>
      <p:sp>
        <p:nvSpPr>
          <p:cNvPr id="23" name="Shape 21">
            <a:extLst xmlns:a="http://schemas.openxmlformats.org/drawingml/2006/main">
              <a:ext uri="{FF2B5EF4-FFF2-40B4-BE49-F238E27FC236}">
                <a16:creationId xmlns:a16="http://schemas.microsoft.com/office/drawing/2014/main" id="{7FCFB452-5D98-4705-85BE-38F11188135A}"/>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0B209227-AF00-4C55-A73B-F801C856F2DF}"/>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5" name="Text 23">
            <a:extLst xmlns:a="http://schemas.openxmlformats.org/drawingml/2006/main">
              <a:ext uri="{FF2B5EF4-FFF2-40B4-BE49-F238E27FC236}">
                <a16:creationId xmlns:a16="http://schemas.microsoft.com/office/drawing/2014/main" id="{2EF50270-2DFA-4533-8FBC-966103B92B49}"/>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churn override</a:t>
            </a:r>
            <a:endParaRPr sz="860"/>
          </a:p>
        </p:txBody>
      </p:sp>
      <p:sp>
        <p:nvSpPr>
          <p:cNvPr id="26" name="Shape 24">
            <a:extLst xmlns:a="http://schemas.openxmlformats.org/drawingml/2006/main">
              <a:ext uri="{FF2B5EF4-FFF2-40B4-BE49-F238E27FC236}">
                <a16:creationId xmlns:a16="http://schemas.microsoft.com/office/drawing/2014/main" id="{8642D94F-1735-4995-81E8-D300E34771BE}"/>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8FD83EAC-D844-4341-AD08-E7B4872E8014}"/>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28" name="Text 26">
            <a:extLst xmlns:a="http://schemas.openxmlformats.org/drawingml/2006/main">
              <a:ext uri="{FF2B5EF4-FFF2-40B4-BE49-F238E27FC236}">
                <a16:creationId xmlns:a16="http://schemas.microsoft.com/office/drawing/2014/main" id="{C2B934F8-D040-4067-8E04-D3B354EC0287}"/>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latency profiles</a:t>
            </a:r>
            <a:endParaRPr sz="860"/>
          </a:p>
        </p:txBody>
      </p:sp>
      <p:sp>
        <p:nvSpPr>
          <p:cNvPr id="29" name="Shape 27">
            <a:extLst xmlns:a="http://schemas.openxmlformats.org/drawingml/2006/main">
              <a:ext uri="{FF2B5EF4-FFF2-40B4-BE49-F238E27FC236}">
                <a16:creationId xmlns:a16="http://schemas.microsoft.com/office/drawing/2014/main" id="{0567EF7D-2FB1-4C5C-B89C-03D687E85E29}"/>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E8361CEF-9CB4-476A-953C-763F39B28CE4}"/>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3DD38CB7-6600-46CD-AC4D-F8BF2AEB0F81}"/>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feedback loop</a:t>
            </a:r>
            <a:endParaRPr sz="860"/>
          </a:p>
        </p:txBody>
      </p:sp>
      <p:sp>
        <p:nvSpPr>
          <p:cNvPr id="32" name="Text 30">
            <a:extLst xmlns:a="http://schemas.openxmlformats.org/drawingml/2006/main">
              <a:ext uri="{FF2B5EF4-FFF2-40B4-BE49-F238E27FC236}">
                <a16:creationId xmlns:a16="http://schemas.microsoft.com/office/drawing/2014/main" id="{CBE2CF0E-23E7-451E-B9EF-385065089264}"/>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positioning that matters commercially:  this is not a replacement for the platform the bank already owns. It is the intelligence and orchestration layer above it — nothing is ripped out, and the value comes from acting on data the bank already has.</a:t>
            </a:r>
            <a:endParaRPr sz="1000"/>
          </a:p>
        </p:txBody>
      </p:sp>
      <p:sp>
        <p:nvSpPr>
          <p:cNvPr id="33" name="Shape 31">
            <a:extLst xmlns:a="http://schemas.openxmlformats.org/drawingml/2006/main">
              <a:ext uri="{FF2B5EF4-FFF2-40B4-BE49-F238E27FC236}">
                <a16:creationId xmlns:a16="http://schemas.microsoft.com/office/drawing/2014/main" id="{3A35FEBE-C2A4-4159-81A4-3528F878D83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E27372C0-D12D-4E4D-9094-D9D08F4D06C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decisioning architecture analysis</a:t>
            </a:r>
            <a:endParaRPr sz="850"/>
          </a:p>
        </p:txBody>
      </p:sp>
      <p:sp>
        <p:nvSpPr>
          <p:cNvPr id="35" name="Text 33">
            <a:extLst xmlns:a="http://schemas.openxmlformats.org/drawingml/2006/main">
              <a:ext uri="{FF2B5EF4-FFF2-40B4-BE49-F238E27FC236}">
                <a16:creationId xmlns:a16="http://schemas.microsoft.com/office/drawing/2014/main" id="{70606BBF-6F09-4977-B96B-E3E40853499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252667115"/>
      </p:ext>
    </p:extLst>
  </p:cSld>
</p:sld>
</file>

<file path=ppt/slides/slide1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E07F509-4589-46E1-AD93-2E53C2B2B93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584F3B7A-E1B5-435F-AD5F-F4773084AB1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scope items and platform position are the client's; the two-clock architecture,</a:t>
            </a:r>
            <a:endParaRPr sz="1900"/>
          </a:p>
          <a:p xmlns:a="http://schemas.openxmlformats.org/drawingml/2006/main">
            <a:pPr marL="0" indent="0">
              <a:lnSpc>
                <a:spcPts val="2400"/>
              </a:lnSpc>
              <a:buNone/>
            </a:pPr>
            <a:r>
              <a:rPr sz="1900" b="1">
                <a:solidFill>
                  <a:srgbClr val="102A43"/>
                </a:solidFill>
                <a:latin typeface="Arial"/>
                <a:ea typeface="Arial"/>
                <a:cs typeface="Arial"/>
              </a:rPr>
              <a:t>arbiter design and gating model are mine</a:t>
            </a:r>
            <a:endParaRPr sz="1900"/>
          </a:p>
        </p:txBody>
      </p:sp>
      <p:sp>
        <p:nvSpPr>
          <p:cNvPr id="4" name="Shape 2">
            <a:extLst xmlns:a="http://schemas.openxmlformats.org/drawingml/2006/main">
              <a:ext uri="{FF2B5EF4-FFF2-40B4-BE49-F238E27FC236}">
                <a16:creationId xmlns:a16="http://schemas.microsoft.com/office/drawing/2014/main" id="{B988F8A0-7BA3-4924-B0EC-1140C1EFEE3E}"/>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A8A1A1C3-F069-4EFC-B539-1287B4EFBF12}"/>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E989A51E-DAA3-44A2-8AA5-DE76B8BC461D}"/>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SCOPE ITEMS</a:t>
            </a:r>
            <a:endParaRPr sz="740"/>
          </a:p>
        </p:txBody>
      </p:sp>
      <p:sp>
        <p:nvSpPr>
          <p:cNvPr id="7" name="Text 5">
            <a:extLst xmlns:a="http://schemas.openxmlformats.org/drawingml/2006/main">
              <a:ext uri="{FF2B5EF4-FFF2-40B4-BE49-F238E27FC236}">
                <a16:creationId xmlns:a16="http://schemas.microsoft.com/office/drawing/2014/main" id="{760966FC-AD3D-44E7-9DAF-22AB766F886E}"/>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Client context</a:t>
            </a:r>
            <a:endParaRPr sz="1200"/>
          </a:p>
        </p:txBody>
      </p:sp>
      <p:sp>
        <p:nvSpPr>
          <p:cNvPr id="8" name="Text 6">
            <a:extLst xmlns:a="http://schemas.openxmlformats.org/drawingml/2006/main">
              <a:ext uri="{FF2B5EF4-FFF2-40B4-BE49-F238E27FC236}">
                <a16:creationId xmlns:a16="http://schemas.microsoft.com/office/drawing/2014/main" id="{D26A8ACD-8979-4037-B77E-CA0207BEB901}"/>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two prioritised capabilities and the existing platform position, as stated by the bank.</a:t>
            </a:r>
            <a:endParaRPr sz="920"/>
          </a:p>
        </p:txBody>
      </p:sp>
      <p:sp>
        <p:nvSpPr>
          <p:cNvPr id="9" name="Shape 7">
            <a:extLst xmlns:a="http://schemas.openxmlformats.org/drawingml/2006/main">
              <a:ext uri="{FF2B5EF4-FFF2-40B4-BE49-F238E27FC236}">
                <a16:creationId xmlns:a16="http://schemas.microsoft.com/office/drawing/2014/main" id="{CEA23A0A-47FB-43D8-B7E7-96341BB3E085}"/>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2F19C1C5-4002-4C86-AAE7-39D3A60ECA61}"/>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Profile and offer management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Insights and nudges for cross-sell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CRM platform already owned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Relationship-manager population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Existing systems of record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Additive layer expectation</a:t>
            </a:r>
            <a:endParaRPr sz="930"/>
          </a:p>
        </p:txBody>
      </p:sp>
      <p:sp>
        <p:nvSpPr>
          <p:cNvPr id="11" name="Shape 9">
            <a:extLst xmlns:a="http://schemas.openxmlformats.org/drawingml/2006/main">
              <a:ext uri="{FF2B5EF4-FFF2-40B4-BE49-F238E27FC236}">
                <a16:creationId xmlns:a16="http://schemas.microsoft.com/office/drawing/2014/main" id="{6424D55B-CD1F-4E9D-A084-F41279D8102B}"/>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84AFDE7B-4EC5-4525-B316-9FB2729E2789}"/>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8657017C-8921-49BD-8D83-E743367CED0D}"/>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ARCHITECTURE ANALYSIS</a:t>
            </a:r>
            <a:endParaRPr sz="740"/>
          </a:p>
        </p:txBody>
      </p:sp>
      <p:sp>
        <p:nvSpPr>
          <p:cNvPr id="14" name="Text 12">
            <a:extLst xmlns:a="http://schemas.openxmlformats.org/drawingml/2006/main">
              <a:ext uri="{FF2B5EF4-FFF2-40B4-BE49-F238E27FC236}">
                <a16:creationId xmlns:a16="http://schemas.microsoft.com/office/drawing/2014/main" id="{B01EBD01-6271-4035-AD76-EF099BEA57CB}"/>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BBBEE02F-1836-425D-8D7E-DC2124C19F31}"/>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single-engine argument, the two-clock design, the arbiter and gating model and the feedback loop.</a:t>
            </a:r>
            <a:endParaRPr sz="920"/>
          </a:p>
        </p:txBody>
      </p:sp>
      <p:sp>
        <p:nvSpPr>
          <p:cNvPr id="16" name="Shape 14">
            <a:extLst xmlns:a="http://schemas.openxmlformats.org/drawingml/2006/main">
              <a:ext uri="{FF2B5EF4-FFF2-40B4-BE49-F238E27FC236}">
                <a16:creationId xmlns:a16="http://schemas.microsoft.com/office/drawing/2014/main" id="{23D54ACE-F200-4CBE-B45B-810552C7A7EC}"/>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B3C4A2FC-091F-4ABC-B996-357D7E2FDEB7}"/>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Two-clock architecture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Shared arbiter and ranking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Hard-gate versus weighting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Churn override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Closed-loop feedback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Executive briefing authored</a:t>
            </a:r>
            <a:endParaRPr sz="930"/>
          </a:p>
        </p:txBody>
      </p:sp>
      <p:sp>
        <p:nvSpPr>
          <p:cNvPr id="18" name="Shape 16">
            <a:extLst xmlns:a="http://schemas.openxmlformats.org/drawingml/2006/main">
              <a:ext uri="{FF2B5EF4-FFF2-40B4-BE49-F238E27FC236}">
                <a16:creationId xmlns:a16="http://schemas.microsoft.com/office/drawing/2014/main" id="{8CCDF33D-7742-4919-A9AF-5CD936134151}"/>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F376CAD6-8CA8-464D-ABBA-6B87AF187837}"/>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EBDCA118-86E6-4426-9B6E-F74C4F5D95D8}"/>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6533CDED-0DB0-425F-8DFB-14DD11AB6617}"/>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5BAA4691-055A-4A3A-96FE-B99585CCFB6A}"/>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Worked examples, latencies and volumes illustrate the design. Directional, not measured.</a:t>
            </a:r>
            <a:endParaRPr sz="920"/>
          </a:p>
        </p:txBody>
      </p:sp>
      <p:sp>
        <p:nvSpPr>
          <p:cNvPr id="23" name="Shape 21">
            <a:extLst xmlns:a="http://schemas.openxmlformats.org/drawingml/2006/main">
              <a:ext uri="{FF2B5EF4-FFF2-40B4-BE49-F238E27FC236}">
                <a16:creationId xmlns:a16="http://schemas.microsoft.com/office/drawing/2014/main" id="{6EF8D735-E8DB-4910-80A7-8B4715DF71A8}"/>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D3FDF72E-34C3-414C-8038-CCBFF33AECEA}"/>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Worked day-plan example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Event-to-nudge latency profile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Candidate and suppression volumes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bank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30818B3E-B6ED-4DCA-BCD9-4AD36F4453F0}"/>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439BFB69-1717-4259-8482-5C262161F4E9}"/>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11D8AED5-48A5-4F37-878F-EECEC83428F7}"/>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B93D646F-4EE5-4AFC-8A7E-A9994E99D847}"/>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B29F6154-50DC-4844-BC1F-DC1F5C1C634E}"/>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 pre-demonstration architecture position, not a delivery record.</a:t>
            </a:r>
            <a:endParaRPr sz="920"/>
          </a:p>
        </p:txBody>
      </p:sp>
      <p:sp>
        <p:nvSpPr>
          <p:cNvPr id="30" name="Shape 28">
            <a:extLst xmlns:a="http://schemas.openxmlformats.org/drawingml/2006/main">
              <a:ext uri="{FF2B5EF4-FFF2-40B4-BE49-F238E27FC236}">
                <a16:creationId xmlns:a16="http://schemas.microsoft.com/office/drawing/2014/main" id="{8D3F70AA-F0AA-4F0B-B9DD-D3A1BECD8B78}"/>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97B81DA3-5472-4486-972D-627F2AB452C0}"/>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of this capability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customer or portfolio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bank's models or thresholds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commercial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Whether the pursuit proceeded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Benchmark figures as committed levels</a:t>
            </a:r>
            <a:endParaRPr sz="930"/>
          </a:p>
        </p:txBody>
      </p:sp>
      <p:sp>
        <p:nvSpPr>
          <p:cNvPr id="32" name="Shape 30">
            <a:extLst xmlns:a="http://schemas.openxmlformats.org/drawingml/2006/main">
              <a:ext uri="{FF2B5EF4-FFF2-40B4-BE49-F238E27FC236}">
                <a16:creationId xmlns:a16="http://schemas.microsoft.com/office/drawing/2014/main" id="{AC6BE053-BA6B-4E47-9BE2-2E373AF8686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744102DC-AC6D-48EC-867E-73C869F38AD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scope items (context) · author's architecture analysis (design and models)</a:t>
            </a:r>
            <a:endParaRPr sz="850"/>
          </a:p>
        </p:txBody>
      </p:sp>
      <p:sp>
        <p:nvSpPr>
          <p:cNvPr id="34" name="Text 32">
            <a:extLst xmlns:a="http://schemas.openxmlformats.org/drawingml/2006/main">
              <a:ext uri="{FF2B5EF4-FFF2-40B4-BE49-F238E27FC236}">
                <a16:creationId xmlns:a16="http://schemas.microsoft.com/office/drawing/2014/main" id="{9100BE30-3C20-41FB-9313-34F7F68E033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518490002"/>
      </p:ext>
    </p:extLst>
  </p:cSld>
</p:sld>
</file>

<file path=ppt/slides/slide14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B78809-4DDB-4A1C-847A-FD1EDCCDD3C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ARCHITECTURE</a:t>
            </a:r>
            <a:endParaRPr sz="950"/>
          </a:p>
        </p:txBody>
      </p:sp>
      <p:sp>
        <p:nvSpPr>
          <p:cNvPr id="3" name="Text 1">
            <a:extLst xmlns:a="http://schemas.openxmlformats.org/drawingml/2006/main">
              <a:ext uri="{FF2B5EF4-FFF2-40B4-BE49-F238E27FC236}">
                <a16:creationId xmlns:a16="http://schemas.microsoft.com/office/drawing/2014/main" id="{02B78180-3069-4FA3-83D6-1824E8DDB99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One core, two triggers — the difference between the clocks is latency and cadence,</a:t>
            </a:r>
            <a:endParaRPr sz="1900"/>
          </a:p>
          <a:p xmlns:a="http://schemas.openxmlformats.org/drawingml/2006/main">
            <a:pPr marL="0" indent="0">
              <a:lnSpc>
                <a:spcPts val="2400"/>
              </a:lnSpc>
              <a:buNone/>
            </a:pPr>
            <a:r>
              <a:rPr sz="1900" b="1">
                <a:solidFill>
                  <a:srgbClr val="102A43"/>
                </a:solidFill>
                <a:latin typeface="Arial"/>
                <a:ea typeface="Arial"/>
                <a:cs typeface="Arial"/>
              </a:rPr>
              <a:t>not logic</a:t>
            </a:r>
            <a:endParaRPr sz="1900"/>
          </a:p>
        </p:txBody>
      </p:sp>
      <p:sp>
        <p:nvSpPr>
          <p:cNvPr id="4" name="Shape 2">
            <a:extLst xmlns:a="http://schemas.openxmlformats.org/drawingml/2006/main">
              <a:ext uri="{FF2B5EF4-FFF2-40B4-BE49-F238E27FC236}">
                <a16:creationId xmlns:a16="http://schemas.microsoft.com/office/drawing/2014/main" id="{E5D2C635-BEB8-4F50-B724-DA4FB5E5A38E}"/>
              </a:ext>
            </a:extLst>
          </p:cNvPr>
          <p:cNvSpPr>
            <a:spLocks xmlns:a="http://schemas.openxmlformats.org/drawingml/2006/main" noGrp="1"/>
          </p:cNvSpPr>
          <p:nvPr/>
        </p:nvSpPr>
        <p:spPr>
          <a:xfrm xmlns:a="http://schemas.openxmlformats.org/drawingml/2006/main">
            <a:off x="566928" y="1335024"/>
            <a:ext cx="11057839" cy="96926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E485CA44-F775-446C-BEA1-3E6A7916A5FD}"/>
              </a:ext>
            </a:extLst>
          </p:cNvPr>
          <p:cNvSpPr>
            <a:spLocks xmlns:a="http://schemas.openxmlformats.org/drawingml/2006/main" noGrp="1"/>
          </p:cNvSpPr>
          <p:nvPr/>
        </p:nvSpPr>
        <p:spPr>
          <a:xfrm xmlns:a="http://schemas.openxmlformats.org/drawingml/2006/main">
            <a:off x="768096" y="1481328"/>
            <a:ext cx="17373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20" b="1">
                <a:solidFill>
                  <a:srgbClr val="486581"/>
                </a:solidFill>
                <a:latin typeface="Arial"/>
                <a:ea typeface="Arial"/>
                <a:cs typeface="Arial"/>
              </a:rPr>
              <a:t>PLANNED CLOCK</a:t>
            </a:r>
            <a:endParaRPr sz="820"/>
          </a:p>
        </p:txBody>
      </p:sp>
      <p:sp>
        <p:nvSpPr>
          <p:cNvPr id="6" name="Text 4">
            <a:extLst xmlns:a="http://schemas.openxmlformats.org/drawingml/2006/main">
              <a:ext uri="{FF2B5EF4-FFF2-40B4-BE49-F238E27FC236}">
                <a16:creationId xmlns:a16="http://schemas.microsoft.com/office/drawing/2014/main" id="{505D27DE-D332-40D8-9395-C108E38332DB}"/>
              </a:ext>
            </a:extLst>
          </p:cNvPr>
          <p:cNvSpPr>
            <a:spLocks xmlns:a="http://schemas.openxmlformats.org/drawingml/2006/main" noGrp="1"/>
          </p:cNvSpPr>
          <p:nvPr/>
        </p:nvSpPr>
        <p:spPr>
          <a:xfrm xmlns:a="http://schemas.openxmlformats.org/drawingml/2006/main">
            <a:off x="768096" y="1700784"/>
            <a:ext cx="1737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50" b="1">
                <a:solidFill>
                  <a:srgbClr val="102A43"/>
                </a:solidFill>
                <a:latin typeface="Arial"/>
                <a:ea typeface="Arial"/>
                <a:cs typeface="Arial"/>
              </a:rPr>
              <a:t>overnight → 09:00</a:t>
            </a:r>
            <a:endParaRPr sz="1050"/>
          </a:p>
        </p:txBody>
      </p:sp>
      <p:sp>
        <p:nvSpPr>
          <p:cNvPr id="7" name="Text 5">
            <a:extLst xmlns:a="http://schemas.openxmlformats.org/drawingml/2006/main">
              <a:ext uri="{FF2B5EF4-FFF2-40B4-BE49-F238E27FC236}">
                <a16:creationId xmlns:a16="http://schemas.microsoft.com/office/drawing/2014/main" id="{A4743B9B-5D43-4BE4-A270-F07C23B0BD3C}"/>
              </a:ext>
            </a:extLst>
          </p:cNvPr>
          <p:cNvSpPr>
            <a:spLocks xmlns:a="http://schemas.openxmlformats.org/drawingml/2006/main" noGrp="1"/>
          </p:cNvSpPr>
          <p:nvPr/>
        </p:nvSpPr>
        <p:spPr>
          <a:xfrm xmlns:a="http://schemas.openxmlformats.org/drawingml/2006/main">
            <a:off x="2670048" y="1517904"/>
            <a:ext cx="8680399"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60">
                <a:solidFill>
                  <a:srgbClr val="486581"/>
                </a:solidFill>
                <a:latin typeface="Arial"/>
                <a:ea typeface="Arial"/>
                <a:cs typeface="Arial"/>
              </a:rPr>
              <a:t>Portfolio-wide, deliberate, offer-centric. Every customer scored, every eligible action generated, ranked and delivered as a day plan before the relationship manager opens the workbench.</a:t>
            </a:r>
            <a:endParaRPr sz="960"/>
          </a:p>
        </p:txBody>
      </p:sp>
      <p:sp>
        <p:nvSpPr>
          <p:cNvPr id="8" name="Shape 6">
            <a:extLst xmlns:a="http://schemas.openxmlformats.org/drawingml/2006/main">
              <a:ext uri="{FF2B5EF4-FFF2-40B4-BE49-F238E27FC236}">
                <a16:creationId xmlns:a16="http://schemas.microsoft.com/office/drawing/2014/main" id="{976CE41C-5243-42A0-B642-65DE8DFB5F66}"/>
              </a:ext>
            </a:extLst>
          </p:cNvPr>
          <p:cNvSpPr>
            <a:spLocks xmlns:a="http://schemas.openxmlformats.org/drawingml/2006/main" noGrp="1"/>
          </p:cNvSpPr>
          <p:nvPr/>
        </p:nvSpPr>
        <p:spPr>
          <a:xfrm xmlns:a="http://schemas.openxmlformats.org/drawingml/2006/main">
            <a:off x="566928" y="2468880"/>
            <a:ext cx="11057839" cy="1316736"/>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22364755-2D81-4FA0-ABFA-98B998450549}"/>
              </a:ext>
            </a:extLst>
          </p:cNvPr>
          <p:cNvSpPr>
            <a:spLocks xmlns:a="http://schemas.openxmlformats.org/drawingml/2006/main" noGrp="1"/>
          </p:cNvSpPr>
          <p:nvPr/>
        </p:nvSpPr>
        <p:spPr>
          <a:xfrm xmlns:a="http://schemas.openxmlformats.org/drawingml/2006/main">
            <a:off x="768096" y="2596896"/>
            <a:ext cx="2743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20" b="1">
                <a:solidFill>
                  <a:srgbClr val="B04A25"/>
                </a:solidFill>
                <a:latin typeface="Arial"/>
                <a:ea typeface="Arial"/>
                <a:cs typeface="Arial"/>
              </a:rPr>
              <a:t>ONE DECISIONING CORE</a:t>
            </a:r>
            <a:endParaRPr sz="820"/>
          </a:p>
        </p:txBody>
      </p:sp>
      <p:sp>
        <p:nvSpPr>
          <p:cNvPr id="10" name="Shape 8">
            <a:extLst xmlns:a="http://schemas.openxmlformats.org/drawingml/2006/main">
              <a:ext uri="{FF2B5EF4-FFF2-40B4-BE49-F238E27FC236}">
                <a16:creationId xmlns:a16="http://schemas.microsoft.com/office/drawing/2014/main" id="{1421B33F-5312-4D7C-B95C-82B266ABDF80}"/>
              </a:ext>
            </a:extLst>
          </p:cNvPr>
          <p:cNvSpPr>
            <a:spLocks xmlns:a="http://schemas.openxmlformats.org/drawingml/2006/main" noGrp="1"/>
          </p:cNvSpPr>
          <p:nvPr/>
        </p:nvSpPr>
        <p:spPr>
          <a:xfrm xmlns:a="http://schemas.openxmlformats.org/drawingml/2006/main">
            <a:off x="841248" y="2834640"/>
            <a:ext cx="1660093" cy="566928"/>
          </a:xfrm>
          <a:prstGeom xmlns:a="http://schemas.openxmlformats.org/drawingml/2006/main" prst="rect">
            <a:avLst/>
          </a:prstGeom>
          <a:solidFill xmlns:a="http://schemas.openxmlformats.org/drawingml/2006/main">
            <a:srgbClr val="EFD9CF"/>
          </a:solidFill>
        </p:spPr>
      </p:sp>
      <p:sp>
        <p:nvSpPr>
          <p:cNvPr id="11" name="Text 9">
            <a:extLst xmlns:a="http://schemas.openxmlformats.org/drawingml/2006/main">
              <a:ext uri="{FF2B5EF4-FFF2-40B4-BE49-F238E27FC236}">
                <a16:creationId xmlns:a16="http://schemas.microsoft.com/office/drawing/2014/main" id="{4222FD79-EE65-4FC5-B5BB-8D2D119BD67E}"/>
              </a:ext>
            </a:extLst>
          </p:cNvPr>
          <p:cNvSpPr>
            <a:spLocks xmlns:a="http://schemas.openxmlformats.org/drawingml/2006/main" noGrp="1"/>
          </p:cNvSpPr>
          <p:nvPr/>
        </p:nvSpPr>
        <p:spPr>
          <a:xfrm xmlns:a="http://schemas.openxmlformats.org/drawingml/2006/main">
            <a:off x="896112" y="2944368"/>
            <a:ext cx="155036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00" b="1">
                <a:solidFill>
                  <a:srgbClr val="B04A25"/>
                </a:solidFill>
                <a:latin typeface="Arial"/>
                <a:ea typeface="Arial"/>
                <a:cs typeface="Arial"/>
              </a:rPr>
              <a:t>Candidate</a:t>
            </a:r>
            <a:endParaRPr sz="900"/>
          </a:p>
          <a:p xmlns:a="http://schemas.openxmlformats.org/drawingml/2006/main">
            <a:pPr marL="0" indent="0" algn="ctr">
              <a:lnSpc>
                <a:spcPts val="1100"/>
              </a:lnSpc>
              <a:buNone/>
            </a:pPr>
            <a:r>
              <a:rPr sz="900" b="1">
                <a:solidFill>
                  <a:srgbClr val="B04A25"/>
                </a:solidFill>
                <a:latin typeface="Arial"/>
                <a:ea typeface="Arial"/>
                <a:cs typeface="Arial"/>
              </a:rPr>
              <a:t>generation</a:t>
            </a:r>
            <a:endParaRPr sz="900"/>
          </a:p>
        </p:txBody>
      </p:sp>
      <p:sp>
        <p:nvSpPr>
          <p:cNvPr id="12" name="Shape 10">
            <a:extLst xmlns:a="http://schemas.openxmlformats.org/drawingml/2006/main">
              <a:ext uri="{FF2B5EF4-FFF2-40B4-BE49-F238E27FC236}">
                <a16:creationId xmlns:a16="http://schemas.microsoft.com/office/drawing/2014/main" id="{6E7EACE2-9161-402D-B6E1-F526451C6A41}"/>
              </a:ext>
            </a:extLst>
          </p:cNvPr>
          <p:cNvSpPr>
            <a:spLocks xmlns:a="http://schemas.openxmlformats.org/drawingml/2006/main" noGrp="1"/>
          </p:cNvSpPr>
          <p:nvPr/>
        </p:nvSpPr>
        <p:spPr>
          <a:xfrm xmlns:a="http://schemas.openxmlformats.org/drawingml/2006/main">
            <a:off x="2611069" y="2834640"/>
            <a:ext cx="1660093" cy="566928"/>
          </a:xfrm>
          <a:prstGeom xmlns:a="http://schemas.openxmlformats.org/drawingml/2006/main" prst="rect">
            <a:avLst/>
          </a:prstGeom>
          <a:solidFill xmlns:a="http://schemas.openxmlformats.org/drawingml/2006/main">
            <a:srgbClr val="EFD9CF"/>
          </a:solidFill>
        </p:spPr>
      </p:sp>
      <p:sp>
        <p:nvSpPr>
          <p:cNvPr id="13" name="Text 11">
            <a:extLst xmlns:a="http://schemas.openxmlformats.org/drawingml/2006/main">
              <a:ext uri="{FF2B5EF4-FFF2-40B4-BE49-F238E27FC236}">
                <a16:creationId xmlns:a16="http://schemas.microsoft.com/office/drawing/2014/main" id="{25A69733-F05A-4E25-B7A2-869D96D6DC8F}"/>
              </a:ext>
            </a:extLst>
          </p:cNvPr>
          <p:cNvSpPr>
            <a:spLocks xmlns:a="http://schemas.openxmlformats.org/drawingml/2006/main" noGrp="1"/>
          </p:cNvSpPr>
          <p:nvPr/>
        </p:nvSpPr>
        <p:spPr>
          <a:xfrm xmlns:a="http://schemas.openxmlformats.org/drawingml/2006/main">
            <a:off x="2665933" y="2944368"/>
            <a:ext cx="155036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00" b="1">
                <a:solidFill>
                  <a:srgbClr val="B04A25"/>
                </a:solidFill>
                <a:latin typeface="Arial"/>
                <a:ea typeface="Arial"/>
                <a:cs typeface="Arial"/>
              </a:rPr>
              <a:t>Eligibility</a:t>
            </a:r>
            <a:endParaRPr sz="900"/>
          </a:p>
          <a:p xmlns:a="http://schemas.openxmlformats.org/drawingml/2006/main">
            <a:pPr marL="0" indent="0" algn="ctr">
              <a:lnSpc>
                <a:spcPts val="1100"/>
              </a:lnSpc>
              <a:buNone/>
            </a:pPr>
            <a:r>
              <a:rPr sz="900" b="1">
                <a:solidFill>
                  <a:srgbClr val="B04A25"/>
                </a:solidFill>
                <a:latin typeface="Arial"/>
                <a:ea typeface="Arial"/>
                <a:cs typeface="Arial"/>
              </a:rPr>
              <a:t>gates</a:t>
            </a:r>
            <a:endParaRPr sz="900"/>
          </a:p>
        </p:txBody>
      </p:sp>
      <p:sp>
        <p:nvSpPr>
          <p:cNvPr id="14" name="Shape 12">
            <a:extLst xmlns:a="http://schemas.openxmlformats.org/drawingml/2006/main">
              <a:ext uri="{FF2B5EF4-FFF2-40B4-BE49-F238E27FC236}">
                <a16:creationId xmlns:a16="http://schemas.microsoft.com/office/drawing/2014/main" id="{0D472F53-5176-4F9A-84EA-8105DB4C4A0C}"/>
              </a:ext>
            </a:extLst>
          </p:cNvPr>
          <p:cNvSpPr>
            <a:spLocks xmlns:a="http://schemas.openxmlformats.org/drawingml/2006/main" noGrp="1"/>
          </p:cNvSpPr>
          <p:nvPr/>
        </p:nvSpPr>
        <p:spPr>
          <a:xfrm xmlns:a="http://schemas.openxmlformats.org/drawingml/2006/main">
            <a:off x="4380890" y="2834640"/>
            <a:ext cx="1660093" cy="566928"/>
          </a:xfrm>
          <a:prstGeom xmlns:a="http://schemas.openxmlformats.org/drawingml/2006/main" prst="rect">
            <a:avLst/>
          </a:prstGeom>
          <a:solidFill xmlns:a="http://schemas.openxmlformats.org/drawingml/2006/main">
            <a:srgbClr val="EFD9CF"/>
          </a:solidFill>
        </p:spPr>
      </p:sp>
      <p:sp>
        <p:nvSpPr>
          <p:cNvPr id="15" name="Text 13">
            <a:extLst xmlns:a="http://schemas.openxmlformats.org/drawingml/2006/main">
              <a:ext uri="{FF2B5EF4-FFF2-40B4-BE49-F238E27FC236}">
                <a16:creationId xmlns:a16="http://schemas.microsoft.com/office/drawing/2014/main" id="{AD62A0D9-87B2-4461-BBCD-385530A5D6D7}"/>
              </a:ext>
            </a:extLst>
          </p:cNvPr>
          <p:cNvSpPr>
            <a:spLocks xmlns:a="http://schemas.openxmlformats.org/drawingml/2006/main" noGrp="1"/>
          </p:cNvSpPr>
          <p:nvPr/>
        </p:nvSpPr>
        <p:spPr>
          <a:xfrm xmlns:a="http://schemas.openxmlformats.org/drawingml/2006/main">
            <a:off x="4435754" y="2944368"/>
            <a:ext cx="155036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00" b="1">
                <a:solidFill>
                  <a:srgbClr val="B04A25"/>
                </a:solidFill>
                <a:latin typeface="Arial"/>
                <a:ea typeface="Arial"/>
                <a:cs typeface="Arial"/>
              </a:rPr>
              <a:t>Propensity</a:t>
            </a:r>
            <a:endParaRPr sz="900"/>
          </a:p>
          <a:p xmlns:a="http://schemas.openxmlformats.org/drawingml/2006/main">
            <a:pPr marL="0" indent="0" algn="ctr">
              <a:lnSpc>
                <a:spcPts val="1100"/>
              </a:lnSpc>
              <a:buNone/>
            </a:pPr>
            <a:r>
              <a:rPr sz="900" b="1">
                <a:solidFill>
                  <a:srgbClr val="B04A25"/>
                </a:solidFill>
                <a:latin typeface="Arial"/>
                <a:ea typeface="Arial"/>
                <a:cs typeface="Arial"/>
              </a:rPr>
              <a:t>scoring</a:t>
            </a:r>
            <a:endParaRPr sz="900"/>
          </a:p>
        </p:txBody>
      </p:sp>
      <p:sp>
        <p:nvSpPr>
          <p:cNvPr id="16" name="Shape 14">
            <a:extLst xmlns:a="http://schemas.openxmlformats.org/drawingml/2006/main">
              <a:ext uri="{FF2B5EF4-FFF2-40B4-BE49-F238E27FC236}">
                <a16:creationId xmlns:a16="http://schemas.microsoft.com/office/drawing/2014/main" id="{91915726-2FAF-4D9B-81E3-87C6E956DF8A}"/>
              </a:ext>
            </a:extLst>
          </p:cNvPr>
          <p:cNvSpPr>
            <a:spLocks xmlns:a="http://schemas.openxmlformats.org/drawingml/2006/main" noGrp="1"/>
          </p:cNvSpPr>
          <p:nvPr/>
        </p:nvSpPr>
        <p:spPr>
          <a:xfrm xmlns:a="http://schemas.openxmlformats.org/drawingml/2006/main">
            <a:off x="6150712" y="2834640"/>
            <a:ext cx="1660093" cy="566928"/>
          </a:xfrm>
          <a:prstGeom xmlns:a="http://schemas.openxmlformats.org/drawingml/2006/main" prst="rect">
            <a:avLst/>
          </a:prstGeom>
          <a:solidFill xmlns:a="http://schemas.openxmlformats.org/drawingml/2006/main">
            <a:srgbClr val="EFD9CF"/>
          </a:solidFill>
        </p:spPr>
      </p:sp>
      <p:sp>
        <p:nvSpPr>
          <p:cNvPr id="17" name="Text 15">
            <a:extLst xmlns:a="http://schemas.openxmlformats.org/drawingml/2006/main">
              <a:ext uri="{FF2B5EF4-FFF2-40B4-BE49-F238E27FC236}">
                <a16:creationId xmlns:a16="http://schemas.microsoft.com/office/drawing/2014/main" id="{137E20EB-84E6-45F6-992A-349F3F9BBA09}"/>
              </a:ext>
            </a:extLst>
          </p:cNvPr>
          <p:cNvSpPr>
            <a:spLocks xmlns:a="http://schemas.openxmlformats.org/drawingml/2006/main" noGrp="1"/>
          </p:cNvSpPr>
          <p:nvPr/>
        </p:nvSpPr>
        <p:spPr>
          <a:xfrm xmlns:a="http://schemas.openxmlformats.org/drawingml/2006/main">
            <a:off x="6205576" y="2944368"/>
            <a:ext cx="155036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00" b="1">
                <a:solidFill>
                  <a:srgbClr val="B04A25"/>
                </a:solidFill>
                <a:latin typeface="Arial"/>
                <a:ea typeface="Arial"/>
                <a:cs typeface="Arial"/>
              </a:rPr>
              <a:t>Value</a:t>
            </a:r>
            <a:endParaRPr sz="900"/>
          </a:p>
          <a:p xmlns:a="http://schemas.openxmlformats.org/drawingml/2006/main">
            <a:pPr marL="0" indent="0" algn="ctr">
              <a:lnSpc>
                <a:spcPts val="1100"/>
              </a:lnSpc>
              <a:buNone/>
            </a:pPr>
            <a:r>
              <a:rPr sz="900" b="1">
                <a:solidFill>
                  <a:srgbClr val="B04A25"/>
                </a:solidFill>
                <a:latin typeface="Arial"/>
                <a:ea typeface="Arial"/>
                <a:cs typeface="Arial"/>
              </a:rPr>
              <a:t>estimation</a:t>
            </a:r>
            <a:endParaRPr sz="900"/>
          </a:p>
        </p:txBody>
      </p:sp>
      <p:sp>
        <p:nvSpPr>
          <p:cNvPr id="18" name="Shape 16">
            <a:extLst xmlns:a="http://schemas.openxmlformats.org/drawingml/2006/main">
              <a:ext uri="{FF2B5EF4-FFF2-40B4-BE49-F238E27FC236}">
                <a16:creationId xmlns:a16="http://schemas.microsoft.com/office/drawing/2014/main" id="{854FA1AA-1292-4BEA-906C-3BE0F82B089F}"/>
              </a:ext>
            </a:extLst>
          </p:cNvPr>
          <p:cNvSpPr>
            <a:spLocks xmlns:a="http://schemas.openxmlformats.org/drawingml/2006/main" noGrp="1"/>
          </p:cNvSpPr>
          <p:nvPr/>
        </p:nvSpPr>
        <p:spPr>
          <a:xfrm xmlns:a="http://schemas.openxmlformats.org/drawingml/2006/main">
            <a:off x="7920533" y="2834640"/>
            <a:ext cx="1660093" cy="566928"/>
          </a:xfrm>
          <a:prstGeom xmlns:a="http://schemas.openxmlformats.org/drawingml/2006/main" prst="rect">
            <a:avLst/>
          </a:prstGeom>
          <a:solidFill xmlns:a="http://schemas.openxmlformats.org/drawingml/2006/main">
            <a:srgbClr val="EFD9CF"/>
          </a:solidFill>
        </p:spPr>
      </p:sp>
      <p:sp>
        <p:nvSpPr>
          <p:cNvPr id="19" name="Text 17">
            <a:extLst xmlns:a="http://schemas.openxmlformats.org/drawingml/2006/main">
              <a:ext uri="{FF2B5EF4-FFF2-40B4-BE49-F238E27FC236}">
                <a16:creationId xmlns:a16="http://schemas.microsoft.com/office/drawing/2014/main" id="{91F34C35-0D95-408F-8602-0D1D03B71EF2}"/>
              </a:ext>
            </a:extLst>
          </p:cNvPr>
          <p:cNvSpPr>
            <a:spLocks xmlns:a="http://schemas.openxmlformats.org/drawingml/2006/main" noGrp="1"/>
          </p:cNvSpPr>
          <p:nvPr/>
        </p:nvSpPr>
        <p:spPr>
          <a:xfrm xmlns:a="http://schemas.openxmlformats.org/drawingml/2006/main">
            <a:off x="7975397" y="2944368"/>
            <a:ext cx="155036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00" b="1">
                <a:solidFill>
                  <a:srgbClr val="B04A25"/>
                </a:solidFill>
                <a:latin typeface="Arial"/>
                <a:ea typeface="Arial"/>
                <a:cs typeface="Arial"/>
              </a:rPr>
              <a:t>Arbiter</a:t>
            </a:r>
            <a:endParaRPr sz="900"/>
          </a:p>
          <a:p xmlns:a="http://schemas.openxmlformats.org/drawingml/2006/main">
            <a:pPr marL="0" indent="0" algn="ctr">
              <a:lnSpc>
                <a:spcPts val="1100"/>
              </a:lnSpc>
              <a:buNone/>
            </a:pPr>
            <a:r>
              <a:rPr sz="900" b="1">
                <a:solidFill>
                  <a:srgbClr val="B04A25"/>
                </a:solidFill>
                <a:latin typeface="Arial"/>
                <a:ea typeface="Arial"/>
                <a:cs typeface="Arial"/>
              </a:rPr>
              <a:t>and ranking</a:t>
            </a:r>
            <a:endParaRPr sz="900"/>
          </a:p>
        </p:txBody>
      </p:sp>
      <p:sp>
        <p:nvSpPr>
          <p:cNvPr id="20" name="Shape 18">
            <a:extLst xmlns:a="http://schemas.openxmlformats.org/drawingml/2006/main">
              <a:ext uri="{FF2B5EF4-FFF2-40B4-BE49-F238E27FC236}">
                <a16:creationId xmlns:a16="http://schemas.microsoft.com/office/drawing/2014/main" id="{2A127C75-CAA7-4715-B07A-C1CEA41802DB}"/>
              </a:ext>
            </a:extLst>
          </p:cNvPr>
          <p:cNvSpPr>
            <a:spLocks xmlns:a="http://schemas.openxmlformats.org/drawingml/2006/main" noGrp="1"/>
          </p:cNvSpPr>
          <p:nvPr/>
        </p:nvSpPr>
        <p:spPr>
          <a:xfrm xmlns:a="http://schemas.openxmlformats.org/drawingml/2006/main">
            <a:off x="9690354" y="2834640"/>
            <a:ext cx="1660093" cy="566928"/>
          </a:xfrm>
          <a:prstGeom xmlns:a="http://schemas.openxmlformats.org/drawingml/2006/main" prst="rect">
            <a:avLst/>
          </a:prstGeom>
          <a:solidFill xmlns:a="http://schemas.openxmlformats.org/drawingml/2006/main">
            <a:srgbClr val="EFD9CF"/>
          </a:solidFill>
        </p:spPr>
      </p:sp>
      <p:sp>
        <p:nvSpPr>
          <p:cNvPr id="21" name="Text 19">
            <a:extLst xmlns:a="http://schemas.openxmlformats.org/drawingml/2006/main">
              <a:ext uri="{FF2B5EF4-FFF2-40B4-BE49-F238E27FC236}">
                <a16:creationId xmlns:a16="http://schemas.microsoft.com/office/drawing/2014/main" id="{AE4A2A16-78C4-4DE7-BDD7-5ABFB023531C}"/>
              </a:ext>
            </a:extLst>
          </p:cNvPr>
          <p:cNvSpPr>
            <a:spLocks xmlns:a="http://schemas.openxmlformats.org/drawingml/2006/main" noGrp="1"/>
          </p:cNvSpPr>
          <p:nvPr/>
        </p:nvSpPr>
        <p:spPr>
          <a:xfrm xmlns:a="http://schemas.openxmlformats.org/drawingml/2006/main">
            <a:off x="9745218" y="2944368"/>
            <a:ext cx="1550365"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100"/>
              </a:lnSpc>
              <a:buNone/>
            </a:pPr>
            <a:r>
              <a:rPr sz="900" b="1">
                <a:solidFill>
                  <a:srgbClr val="B04A25"/>
                </a:solidFill>
                <a:latin typeface="Arial"/>
                <a:ea typeface="Arial"/>
                <a:cs typeface="Arial"/>
              </a:rPr>
              <a:t>Fatigue and</a:t>
            </a:r>
            <a:endParaRPr sz="900"/>
          </a:p>
          <a:p xmlns:a="http://schemas.openxmlformats.org/drawingml/2006/main">
            <a:pPr marL="0" indent="0" algn="ctr">
              <a:lnSpc>
                <a:spcPts val="1100"/>
              </a:lnSpc>
              <a:buNone/>
            </a:pPr>
            <a:r>
              <a:rPr sz="900" b="1">
                <a:solidFill>
                  <a:srgbClr val="B04A25"/>
                </a:solidFill>
                <a:latin typeface="Arial"/>
                <a:ea typeface="Arial"/>
                <a:cs typeface="Arial"/>
              </a:rPr>
              <a:t>suppression</a:t>
            </a:r>
            <a:endParaRPr sz="900"/>
          </a:p>
        </p:txBody>
      </p:sp>
      <p:sp>
        <p:nvSpPr>
          <p:cNvPr id="22" name="Text 20">
            <a:extLst xmlns:a="http://schemas.openxmlformats.org/drawingml/2006/main">
              <a:ext uri="{FF2B5EF4-FFF2-40B4-BE49-F238E27FC236}">
                <a16:creationId xmlns:a16="http://schemas.microsoft.com/office/drawing/2014/main" id="{4EBDE551-15BB-4F70-BEBA-D5AF76B471AE}"/>
              </a:ext>
            </a:extLst>
          </p:cNvPr>
          <p:cNvSpPr>
            <a:spLocks xmlns:a="http://schemas.openxmlformats.org/drawingml/2006/main" noGrp="1"/>
          </p:cNvSpPr>
          <p:nvPr/>
        </p:nvSpPr>
        <p:spPr>
          <a:xfrm xmlns:a="http://schemas.openxmlformats.org/drawingml/2006/main">
            <a:off x="566928" y="349300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880" i="1">
                <a:solidFill>
                  <a:srgbClr val="B04A25"/>
                </a:solidFill>
                <a:latin typeface="Arial"/>
                <a:ea typeface="Arial"/>
                <a:cs typeface="Arial"/>
              </a:rPr>
              <a:t>Identical for both clocks — the same rules, the same models, the same ranking</a:t>
            </a:r>
            <a:endParaRPr sz="880"/>
          </a:p>
        </p:txBody>
      </p:sp>
      <p:sp>
        <p:nvSpPr>
          <p:cNvPr id="23" name="Shape 21">
            <a:extLst xmlns:a="http://schemas.openxmlformats.org/drawingml/2006/main">
              <a:ext uri="{FF2B5EF4-FFF2-40B4-BE49-F238E27FC236}">
                <a16:creationId xmlns:a16="http://schemas.microsoft.com/office/drawing/2014/main" id="{FC9709FF-7F85-4C7D-8E40-C95D00FB4797}"/>
              </a:ext>
            </a:extLst>
          </p:cNvPr>
          <p:cNvSpPr>
            <a:spLocks xmlns:a="http://schemas.openxmlformats.org/drawingml/2006/main" noGrp="1"/>
          </p:cNvSpPr>
          <p:nvPr/>
        </p:nvSpPr>
        <p:spPr>
          <a:xfrm xmlns:a="http://schemas.openxmlformats.org/drawingml/2006/main">
            <a:off x="566928" y="3950208"/>
            <a:ext cx="11057839" cy="96926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2158245C-6320-4BF6-9EA8-DFFF4D55205D}"/>
              </a:ext>
            </a:extLst>
          </p:cNvPr>
          <p:cNvSpPr>
            <a:spLocks xmlns:a="http://schemas.openxmlformats.org/drawingml/2006/main" noGrp="1"/>
          </p:cNvSpPr>
          <p:nvPr/>
        </p:nvSpPr>
        <p:spPr>
          <a:xfrm xmlns:a="http://schemas.openxmlformats.org/drawingml/2006/main">
            <a:off x="768096" y="4096512"/>
            <a:ext cx="17373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20" b="1">
                <a:solidFill>
                  <a:srgbClr val="486581"/>
                </a:solidFill>
                <a:latin typeface="Arial"/>
                <a:ea typeface="Arial"/>
                <a:cs typeface="Arial"/>
              </a:rPr>
              <a:t>REACTIVE CLOCK</a:t>
            </a:r>
            <a:endParaRPr sz="820"/>
          </a:p>
        </p:txBody>
      </p:sp>
      <p:sp>
        <p:nvSpPr>
          <p:cNvPr id="25" name="Text 23">
            <a:extLst xmlns:a="http://schemas.openxmlformats.org/drawingml/2006/main">
              <a:ext uri="{FF2B5EF4-FFF2-40B4-BE49-F238E27FC236}">
                <a16:creationId xmlns:a16="http://schemas.microsoft.com/office/drawing/2014/main" id="{0BF1CF9C-1D49-4DC3-8B63-D34AD3F5C6D8}"/>
              </a:ext>
            </a:extLst>
          </p:cNvPr>
          <p:cNvSpPr>
            <a:spLocks xmlns:a="http://schemas.openxmlformats.org/drawingml/2006/main" noGrp="1"/>
          </p:cNvSpPr>
          <p:nvPr/>
        </p:nvSpPr>
        <p:spPr>
          <a:xfrm xmlns:a="http://schemas.openxmlformats.org/drawingml/2006/main">
            <a:off x="768096" y="4315968"/>
            <a:ext cx="1737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50" b="1">
                <a:solidFill>
                  <a:srgbClr val="102A43"/>
                </a:solidFill>
                <a:latin typeface="Arial"/>
                <a:ea typeface="Arial"/>
                <a:cs typeface="Arial"/>
              </a:rPr>
              <a:t>seconds · intraday</a:t>
            </a:r>
            <a:endParaRPr sz="1050"/>
          </a:p>
        </p:txBody>
      </p:sp>
      <p:sp>
        <p:nvSpPr>
          <p:cNvPr id="26" name="Text 24">
            <a:extLst xmlns:a="http://schemas.openxmlformats.org/drawingml/2006/main">
              <a:ext uri="{FF2B5EF4-FFF2-40B4-BE49-F238E27FC236}">
                <a16:creationId xmlns:a16="http://schemas.microsoft.com/office/drawing/2014/main" id="{C2EAF471-7B6F-4E58-8C18-D5422652507B}"/>
              </a:ext>
            </a:extLst>
          </p:cNvPr>
          <p:cNvSpPr>
            <a:spLocks xmlns:a="http://schemas.openxmlformats.org/drawingml/2006/main" noGrp="1"/>
          </p:cNvSpPr>
          <p:nvPr/>
        </p:nvSpPr>
        <p:spPr>
          <a:xfrm xmlns:a="http://schemas.openxmlformats.org/drawingml/2006/main">
            <a:off x="2670048" y="4133088"/>
            <a:ext cx="8680399"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960">
                <a:solidFill>
                  <a:srgbClr val="486581"/>
                </a:solidFill>
                <a:latin typeface="Arial"/>
                <a:ea typeface="Arial"/>
                <a:cs typeface="Arial"/>
              </a:rPr>
              <a:t>Event-driven, narrow, situation-centric. A single customer, a single trigger, scored and ranked against what is already in that relationship manager's queue, delivered while the situation is still live.</a:t>
            </a:r>
            <a:endParaRPr sz="960"/>
          </a:p>
        </p:txBody>
      </p:sp>
      <p:sp>
        <p:nvSpPr>
          <p:cNvPr id="27" name="Shape 25">
            <a:extLst xmlns:a="http://schemas.openxmlformats.org/drawingml/2006/main">
              <a:ext uri="{FF2B5EF4-FFF2-40B4-BE49-F238E27FC236}">
                <a16:creationId xmlns:a16="http://schemas.microsoft.com/office/drawing/2014/main" id="{5CA9CB7A-D775-4BFE-8CF1-298C3FA0C638}"/>
              </a:ext>
            </a:extLst>
          </p:cNvPr>
          <p:cNvSpPr>
            <a:spLocks xmlns:a="http://schemas.openxmlformats.org/drawingml/2006/main" noGrp="1"/>
          </p:cNvSpPr>
          <p:nvPr/>
        </p:nvSpPr>
        <p:spPr>
          <a:xfrm xmlns:a="http://schemas.openxmlformats.org/drawingml/2006/main">
            <a:off x="566928" y="5084064"/>
            <a:ext cx="11057839" cy="987552"/>
          </a:xfrm>
          <a:prstGeom xmlns:a="http://schemas.openxmlformats.org/drawingml/2006/main" prst="rect">
            <a:avLst/>
          </a:prstGeom>
          <a:solidFill xmlns:a="http://schemas.openxmlformats.org/drawingml/2006/main">
            <a:srgbClr val="F3E6E0"/>
          </a:solidFill>
        </p:spPr>
      </p:sp>
      <p:sp>
        <p:nvSpPr>
          <p:cNvPr id="28" name="Text 26">
            <a:extLst xmlns:a="http://schemas.openxmlformats.org/drawingml/2006/main">
              <a:ext uri="{FF2B5EF4-FFF2-40B4-BE49-F238E27FC236}">
                <a16:creationId xmlns:a16="http://schemas.microsoft.com/office/drawing/2014/main" id="{0B538FCB-0FCE-405B-B449-CFA818524C98}"/>
              </a:ext>
            </a:extLst>
          </p:cNvPr>
          <p:cNvSpPr>
            <a:spLocks xmlns:a="http://schemas.openxmlformats.org/drawingml/2006/main" noGrp="1"/>
          </p:cNvSpPr>
          <p:nvPr/>
        </p:nvSpPr>
        <p:spPr>
          <a:xfrm xmlns:a="http://schemas.openxmlformats.org/drawingml/2006/main">
            <a:off x="804672" y="523036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one core rather than two systems</a:t>
            </a:r>
            <a:endParaRPr sz="1100"/>
          </a:p>
        </p:txBody>
      </p:sp>
      <p:sp>
        <p:nvSpPr>
          <p:cNvPr id="29" name="Text 27">
            <a:extLst xmlns:a="http://schemas.openxmlformats.org/drawingml/2006/main">
              <a:ext uri="{FF2B5EF4-FFF2-40B4-BE49-F238E27FC236}">
                <a16:creationId xmlns:a16="http://schemas.microsoft.com/office/drawing/2014/main" id="{995B0E93-75E5-462E-8B33-59A52CBB553C}"/>
              </a:ext>
            </a:extLst>
          </p:cNvPr>
          <p:cNvSpPr>
            <a:spLocks xmlns:a="http://schemas.openxmlformats.org/drawingml/2006/main" noGrp="1"/>
          </p:cNvSpPr>
          <p:nvPr/>
        </p:nvSpPr>
        <p:spPr>
          <a:xfrm xmlns:a="http://schemas.openxmlformats.org/drawingml/2006/main">
            <a:off x="804672" y="5486400"/>
            <a:ext cx="10582351"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Both clocks need the same six stages. Built separately, each maintains its own eligibility rules, its own propensity models and its own ranking — and they drift apart within months, because nobody synchronises two rule sets that nobody has to reconcile.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visible symptom is a relationship manager receiving a nudge that contradicts the day plan, at which point both are ignored.</a:t>
            </a:r>
            <a:endParaRPr sz="990"/>
          </a:p>
        </p:txBody>
      </p:sp>
      <p:sp>
        <p:nvSpPr>
          <p:cNvPr id="30" name="Shape 28">
            <a:extLst xmlns:a="http://schemas.openxmlformats.org/drawingml/2006/main">
              <a:ext uri="{FF2B5EF4-FFF2-40B4-BE49-F238E27FC236}">
                <a16:creationId xmlns:a16="http://schemas.microsoft.com/office/drawing/2014/main" id="{2327B97D-B95A-40F4-9210-7D0368045E6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1" name="Text 29">
            <a:extLst xmlns:a="http://schemas.openxmlformats.org/drawingml/2006/main">
              <a:ext uri="{FF2B5EF4-FFF2-40B4-BE49-F238E27FC236}">
                <a16:creationId xmlns:a16="http://schemas.microsoft.com/office/drawing/2014/main" id="{F66C3D51-371E-4F94-9030-18B2A15BB41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decisioning architecture analysis</a:t>
            </a:r>
            <a:endParaRPr sz="850"/>
          </a:p>
        </p:txBody>
      </p:sp>
      <p:sp>
        <p:nvSpPr>
          <p:cNvPr id="32" name="Text 30">
            <a:extLst xmlns:a="http://schemas.openxmlformats.org/drawingml/2006/main">
              <a:ext uri="{FF2B5EF4-FFF2-40B4-BE49-F238E27FC236}">
                <a16:creationId xmlns:a16="http://schemas.microsoft.com/office/drawing/2014/main" id="{8A42DAC2-6DC6-4D3D-8E10-59ED89A2F8A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457051021"/>
      </p:ext>
    </p:extLst>
  </p:cSld>
</p:sld>
</file>

<file path=ppt/slides/slide14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2917EE4-47D2-49DB-BEE3-6E0ACC81190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IT RUNS</a:t>
            </a:r>
            <a:endParaRPr sz="950"/>
          </a:p>
        </p:txBody>
      </p:sp>
      <p:sp>
        <p:nvSpPr>
          <p:cNvPr id="3" name="Text 1">
            <a:extLst xmlns:a="http://schemas.openxmlformats.org/drawingml/2006/main">
              <a:ext uri="{FF2B5EF4-FFF2-40B4-BE49-F238E27FC236}">
                <a16:creationId xmlns:a16="http://schemas.microsoft.com/office/drawing/2014/main" id="{9FDAA349-FE19-407F-9E37-340496F815B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same engine, the same customer, two different moments — and the second one</a:t>
            </a:r>
            <a:endParaRPr sz="1900"/>
          </a:p>
          <a:p xmlns:a="http://schemas.openxmlformats.org/drawingml/2006/main">
            <a:pPr marL="0" indent="0">
              <a:lnSpc>
                <a:spcPts val="2400"/>
              </a:lnSpc>
              <a:buNone/>
            </a:pPr>
            <a:r>
              <a:rPr sz="1900" b="1">
                <a:solidFill>
                  <a:srgbClr val="102A43"/>
                </a:solidFill>
                <a:latin typeface="Arial"/>
                <a:ea typeface="Arial"/>
                <a:cs typeface="Arial"/>
              </a:rPr>
              <a:t>is only useful because it arrives in seconds</a:t>
            </a:r>
            <a:endParaRPr sz="1900"/>
          </a:p>
        </p:txBody>
      </p:sp>
      <p:sp>
        <p:nvSpPr>
          <p:cNvPr id="4" name="Shape 2">
            <a:extLst xmlns:a="http://schemas.openxmlformats.org/drawingml/2006/main">
              <a:ext uri="{FF2B5EF4-FFF2-40B4-BE49-F238E27FC236}">
                <a16:creationId xmlns:a16="http://schemas.microsoft.com/office/drawing/2014/main" id="{EE79A130-02DC-45E4-BCBB-32CEBC107E9A}"/>
              </a:ext>
            </a:extLst>
          </p:cNvPr>
          <p:cNvSpPr>
            <a:spLocks xmlns:a="http://schemas.openxmlformats.org/drawingml/2006/main" noGrp="1"/>
          </p:cNvSpPr>
          <p:nvPr/>
        </p:nvSpPr>
        <p:spPr>
          <a:xfrm xmlns:a="http://schemas.openxmlformats.org/drawingml/2006/main">
            <a:off x="566928" y="1335024"/>
            <a:ext cx="5373472" cy="29260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6CC91035-8748-4D82-A494-71EC02DDDE9A}"/>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PLANNED — OVERNIGHT TO NINE</a:t>
            </a:r>
            <a:endParaRPr sz="840"/>
          </a:p>
        </p:txBody>
      </p:sp>
      <p:sp>
        <p:nvSpPr>
          <p:cNvPr id="6" name="Text 4">
            <a:extLst xmlns:a="http://schemas.openxmlformats.org/drawingml/2006/main">
              <a:ext uri="{FF2B5EF4-FFF2-40B4-BE49-F238E27FC236}">
                <a16:creationId xmlns:a16="http://schemas.microsoft.com/office/drawing/2014/main" id="{90F0AA9E-6C83-4AC0-8EC6-7BA0CCD66B51}"/>
              </a:ext>
            </a:extLst>
          </p:cNvPr>
          <p:cNvSpPr>
            <a:spLocks xmlns:a="http://schemas.openxmlformats.org/drawingml/2006/main" noGrp="1"/>
          </p:cNvSpPr>
          <p:nvPr/>
        </p:nvSpPr>
        <p:spPr>
          <a:xfrm xmlns:a="http://schemas.openxmlformats.org/drawingml/2006/main">
            <a:off x="804672" y="1792224"/>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Overnight</a:t>
            </a:r>
            <a:endParaRPr sz="960"/>
          </a:p>
        </p:txBody>
      </p:sp>
      <p:sp>
        <p:nvSpPr>
          <p:cNvPr id="7" name="Text 5">
            <a:extLst xmlns:a="http://schemas.openxmlformats.org/drawingml/2006/main">
              <a:ext uri="{FF2B5EF4-FFF2-40B4-BE49-F238E27FC236}">
                <a16:creationId xmlns:a16="http://schemas.microsoft.com/office/drawing/2014/main" id="{30AC504A-7F89-4BF8-B140-3DB4777F42B0}"/>
              </a:ext>
            </a:extLst>
          </p:cNvPr>
          <p:cNvSpPr>
            <a:spLocks xmlns:a="http://schemas.openxmlformats.org/drawingml/2006/main" noGrp="1"/>
          </p:cNvSpPr>
          <p:nvPr/>
        </p:nvSpPr>
        <p:spPr>
          <a:xfrm xmlns:a="http://schemas.openxmlformats.org/drawingml/2006/main">
            <a:off x="2267712" y="1792224"/>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A deposit maturing in three weeks is detected across the portfolio scan</a:t>
            </a:r>
            <a:endParaRPr sz="930"/>
          </a:p>
        </p:txBody>
      </p:sp>
      <p:sp>
        <p:nvSpPr>
          <p:cNvPr id="8" name="Text 6">
            <a:extLst xmlns:a="http://schemas.openxmlformats.org/drawingml/2006/main">
              <a:ext uri="{FF2B5EF4-FFF2-40B4-BE49-F238E27FC236}">
                <a16:creationId xmlns:a16="http://schemas.microsoft.com/office/drawing/2014/main" id="{2CE761CF-2D3A-4D01-A065-AA95C5F1885E}"/>
              </a:ext>
            </a:extLst>
          </p:cNvPr>
          <p:cNvSpPr>
            <a:spLocks xmlns:a="http://schemas.openxmlformats.org/drawingml/2006/main" noGrp="1"/>
          </p:cNvSpPr>
          <p:nvPr/>
        </p:nvSpPr>
        <p:spPr>
          <a:xfrm xmlns:a="http://schemas.openxmlformats.org/drawingml/2006/main">
            <a:off x="804672" y="2267712"/>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Scored</a:t>
            </a:r>
            <a:endParaRPr sz="960"/>
          </a:p>
        </p:txBody>
      </p:sp>
      <p:sp>
        <p:nvSpPr>
          <p:cNvPr id="9" name="Text 7">
            <a:extLst xmlns:a="http://schemas.openxmlformats.org/drawingml/2006/main">
              <a:ext uri="{FF2B5EF4-FFF2-40B4-BE49-F238E27FC236}">
                <a16:creationId xmlns:a16="http://schemas.microsoft.com/office/drawing/2014/main" id="{60BF4281-15F7-4720-9A65-8226C1590B9B}"/>
              </a:ext>
            </a:extLst>
          </p:cNvPr>
          <p:cNvSpPr>
            <a:spLocks xmlns:a="http://schemas.openxmlformats.org/drawingml/2006/main" noGrp="1"/>
          </p:cNvSpPr>
          <p:nvPr/>
        </p:nvSpPr>
        <p:spPr>
          <a:xfrm xmlns:a="http://schemas.openxmlformats.org/drawingml/2006/main">
            <a:off x="2267712" y="2267712"/>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Retention propensity, reinvestment value and channel fit computed</a:t>
            </a:r>
            <a:endParaRPr sz="930"/>
          </a:p>
        </p:txBody>
      </p:sp>
      <p:sp>
        <p:nvSpPr>
          <p:cNvPr id="10" name="Text 8">
            <a:extLst xmlns:a="http://schemas.openxmlformats.org/drawingml/2006/main">
              <a:ext uri="{FF2B5EF4-FFF2-40B4-BE49-F238E27FC236}">
                <a16:creationId xmlns:a16="http://schemas.microsoft.com/office/drawing/2014/main" id="{BFC451D9-2E4A-4837-A698-243DB816D3EC}"/>
              </a:ext>
            </a:extLst>
          </p:cNvPr>
          <p:cNvSpPr>
            <a:spLocks xmlns:a="http://schemas.openxmlformats.org/drawingml/2006/main" noGrp="1"/>
          </p:cNvSpPr>
          <p:nvPr/>
        </p:nvSpPr>
        <p:spPr>
          <a:xfrm xmlns:a="http://schemas.openxmlformats.org/drawingml/2006/main">
            <a:off x="804672" y="2743200"/>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Gated</a:t>
            </a:r>
            <a:endParaRPr sz="960"/>
          </a:p>
        </p:txBody>
      </p:sp>
      <p:sp>
        <p:nvSpPr>
          <p:cNvPr id="11" name="Text 9">
            <a:extLst xmlns:a="http://schemas.openxmlformats.org/drawingml/2006/main">
              <a:ext uri="{FF2B5EF4-FFF2-40B4-BE49-F238E27FC236}">
                <a16:creationId xmlns:a16="http://schemas.microsoft.com/office/drawing/2014/main" id="{6D584C2F-8F3D-49CD-8414-E916806E5525}"/>
              </a:ext>
            </a:extLst>
          </p:cNvPr>
          <p:cNvSpPr>
            <a:spLocks xmlns:a="http://schemas.openxmlformats.org/drawingml/2006/main" noGrp="1"/>
          </p:cNvSpPr>
          <p:nvPr/>
        </p:nvSpPr>
        <p:spPr>
          <a:xfrm xmlns:a="http://schemas.openxmlformats.org/drawingml/2006/main">
            <a:off x="2267712" y="2743200"/>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A higher-margin product is removed entirely on suitability, not down-weighted</a:t>
            </a:r>
            <a:endParaRPr sz="930"/>
          </a:p>
        </p:txBody>
      </p:sp>
      <p:sp>
        <p:nvSpPr>
          <p:cNvPr id="12" name="Text 10">
            <a:extLst xmlns:a="http://schemas.openxmlformats.org/drawingml/2006/main">
              <a:ext uri="{FF2B5EF4-FFF2-40B4-BE49-F238E27FC236}">
                <a16:creationId xmlns:a16="http://schemas.microsoft.com/office/drawing/2014/main" id="{10B51824-7C50-446E-AA00-D2B96E1DD6A3}"/>
              </a:ext>
            </a:extLst>
          </p:cNvPr>
          <p:cNvSpPr>
            <a:spLocks xmlns:a="http://schemas.openxmlformats.org/drawingml/2006/main" noGrp="1"/>
          </p:cNvSpPr>
          <p:nvPr/>
        </p:nvSpPr>
        <p:spPr>
          <a:xfrm xmlns:a="http://schemas.openxmlformats.org/drawingml/2006/main">
            <a:off x="804672" y="3218688"/>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Ranked</a:t>
            </a:r>
            <a:endParaRPr sz="960"/>
          </a:p>
        </p:txBody>
      </p:sp>
      <p:sp>
        <p:nvSpPr>
          <p:cNvPr id="13" name="Text 11">
            <a:extLst xmlns:a="http://schemas.openxmlformats.org/drawingml/2006/main">
              <a:ext uri="{FF2B5EF4-FFF2-40B4-BE49-F238E27FC236}">
                <a16:creationId xmlns:a16="http://schemas.microsoft.com/office/drawing/2014/main" id="{06875659-F962-4BBC-AE8C-9BABA90AF9C1}"/>
              </a:ext>
            </a:extLst>
          </p:cNvPr>
          <p:cNvSpPr>
            <a:spLocks xmlns:a="http://schemas.openxmlformats.org/drawingml/2006/main" noGrp="1"/>
          </p:cNvSpPr>
          <p:nvPr/>
        </p:nvSpPr>
        <p:spPr>
          <a:xfrm xmlns:a="http://schemas.openxmlformats.org/drawingml/2006/main">
            <a:off x="2267712" y="3218688"/>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Placed at the top of the relationship manager's day plan</a:t>
            </a:r>
            <a:endParaRPr sz="930"/>
          </a:p>
        </p:txBody>
      </p:sp>
      <p:sp>
        <p:nvSpPr>
          <p:cNvPr id="14" name="Text 12">
            <a:extLst xmlns:a="http://schemas.openxmlformats.org/drawingml/2006/main">
              <a:ext uri="{FF2B5EF4-FFF2-40B4-BE49-F238E27FC236}">
                <a16:creationId xmlns:a16="http://schemas.microsoft.com/office/drawing/2014/main" id="{447F8A4C-912F-4661-BD7A-DE112E696CAB}"/>
              </a:ext>
            </a:extLst>
          </p:cNvPr>
          <p:cNvSpPr>
            <a:spLocks xmlns:a="http://schemas.openxmlformats.org/drawingml/2006/main" noGrp="1"/>
          </p:cNvSpPr>
          <p:nvPr/>
        </p:nvSpPr>
        <p:spPr>
          <a:xfrm xmlns:a="http://schemas.openxmlformats.org/drawingml/2006/main">
            <a:off x="804672" y="3694176"/>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09:00</a:t>
            </a:r>
            <a:endParaRPr sz="960"/>
          </a:p>
        </p:txBody>
      </p:sp>
      <p:sp>
        <p:nvSpPr>
          <p:cNvPr id="15" name="Text 13">
            <a:extLst xmlns:a="http://schemas.openxmlformats.org/drawingml/2006/main">
              <a:ext uri="{FF2B5EF4-FFF2-40B4-BE49-F238E27FC236}">
                <a16:creationId xmlns:a16="http://schemas.microsoft.com/office/drawing/2014/main" id="{79E0A787-1F83-4292-AB58-71CA7EF095D5}"/>
              </a:ext>
            </a:extLst>
          </p:cNvPr>
          <p:cNvSpPr>
            <a:spLocks xmlns:a="http://schemas.openxmlformats.org/drawingml/2006/main" noGrp="1"/>
          </p:cNvSpPr>
          <p:nvPr/>
        </p:nvSpPr>
        <p:spPr>
          <a:xfrm xmlns:a="http://schemas.openxmlformats.org/drawingml/2006/main">
            <a:off x="2267712" y="3694176"/>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Delivered as a prioritised action with the context needed to make the call</a:t>
            </a:r>
            <a:endParaRPr sz="930"/>
          </a:p>
        </p:txBody>
      </p:sp>
      <p:sp>
        <p:nvSpPr>
          <p:cNvPr id="16" name="Shape 14">
            <a:extLst xmlns:a="http://schemas.openxmlformats.org/drawingml/2006/main">
              <a:ext uri="{FF2B5EF4-FFF2-40B4-BE49-F238E27FC236}">
                <a16:creationId xmlns:a16="http://schemas.microsoft.com/office/drawing/2014/main" id="{317EA235-676F-4595-9756-6B657A790769}"/>
              </a:ext>
            </a:extLst>
          </p:cNvPr>
          <p:cNvSpPr>
            <a:spLocks xmlns:a="http://schemas.openxmlformats.org/drawingml/2006/main" noGrp="1"/>
          </p:cNvSpPr>
          <p:nvPr/>
        </p:nvSpPr>
        <p:spPr>
          <a:xfrm xmlns:a="http://schemas.openxmlformats.org/drawingml/2006/main">
            <a:off x="6251296" y="1335024"/>
            <a:ext cx="5373472" cy="2926080"/>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657DD5EC-BF57-4B6E-8EB3-C218FCD2876E}"/>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REACTIVE — SECONDS, INTRADAY</a:t>
            </a:r>
            <a:endParaRPr sz="840"/>
          </a:p>
        </p:txBody>
      </p:sp>
      <p:sp>
        <p:nvSpPr>
          <p:cNvPr id="18" name="Text 16">
            <a:extLst xmlns:a="http://schemas.openxmlformats.org/drawingml/2006/main">
              <a:ext uri="{FF2B5EF4-FFF2-40B4-BE49-F238E27FC236}">
                <a16:creationId xmlns:a16="http://schemas.microsoft.com/office/drawing/2014/main" id="{269B9B6C-697C-408D-B9A0-72621C33D523}"/>
              </a:ext>
            </a:extLst>
          </p:cNvPr>
          <p:cNvSpPr>
            <a:spLocks xmlns:a="http://schemas.openxmlformats.org/drawingml/2006/main" noGrp="1"/>
          </p:cNvSpPr>
          <p:nvPr/>
        </p:nvSpPr>
        <p:spPr>
          <a:xfrm xmlns:a="http://schemas.openxmlformats.org/drawingml/2006/main">
            <a:off x="6489040" y="1792224"/>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10:40</a:t>
            </a:r>
            <a:endParaRPr sz="960"/>
          </a:p>
        </p:txBody>
      </p:sp>
      <p:sp>
        <p:nvSpPr>
          <p:cNvPr id="19" name="Text 17">
            <a:extLst xmlns:a="http://schemas.openxmlformats.org/drawingml/2006/main">
              <a:ext uri="{FF2B5EF4-FFF2-40B4-BE49-F238E27FC236}">
                <a16:creationId xmlns:a16="http://schemas.microsoft.com/office/drawing/2014/main" id="{439989E0-0FBB-43AF-9498-2C401198A5F2}"/>
              </a:ext>
            </a:extLst>
          </p:cNvPr>
          <p:cNvSpPr>
            <a:spLocks xmlns:a="http://schemas.openxmlformats.org/drawingml/2006/main" noGrp="1"/>
          </p:cNvSpPr>
          <p:nvPr/>
        </p:nvSpPr>
        <p:spPr>
          <a:xfrm xmlns:a="http://schemas.openxmlformats.org/drawingml/2006/main">
            <a:off x="7952080" y="1792224"/>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A large credit lands in the same customer's current account</a:t>
            </a:r>
            <a:endParaRPr sz="930"/>
          </a:p>
        </p:txBody>
      </p:sp>
      <p:sp>
        <p:nvSpPr>
          <p:cNvPr id="20" name="Text 18">
            <a:extLst xmlns:a="http://schemas.openxmlformats.org/drawingml/2006/main">
              <a:ext uri="{FF2B5EF4-FFF2-40B4-BE49-F238E27FC236}">
                <a16:creationId xmlns:a16="http://schemas.microsoft.com/office/drawing/2014/main" id="{8745195C-2907-4D20-909F-CE7EF2133D08}"/>
              </a:ext>
            </a:extLst>
          </p:cNvPr>
          <p:cNvSpPr>
            <a:spLocks xmlns:a="http://schemas.openxmlformats.org/drawingml/2006/main" noGrp="1"/>
          </p:cNvSpPr>
          <p:nvPr/>
        </p:nvSpPr>
        <p:spPr>
          <a:xfrm xmlns:a="http://schemas.openxmlformats.org/drawingml/2006/main">
            <a:off x="6489040" y="2267712"/>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Event</a:t>
            </a:r>
            <a:endParaRPr sz="960"/>
          </a:p>
        </p:txBody>
      </p:sp>
      <p:sp>
        <p:nvSpPr>
          <p:cNvPr id="21" name="Text 19">
            <a:extLst xmlns:a="http://schemas.openxmlformats.org/drawingml/2006/main">
              <a:ext uri="{FF2B5EF4-FFF2-40B4-BE49-F238E27FC236}">
                <a16:creationId xmlns:a16="http://schemas.microsoft.com/office/drawing/2014/main" id="{1394CDCD-2B21-4B7E-84C4-895BCB3E2D7C}"/>
              </a:ext>
            </a:extLst>
          </p:cNvPr>
          <p:cNvSpPr>
            <a:spLocks xmlns:a="http://schemas.openxmlformats.org/drawingml/2006/main" noGrp="1"/>
          </p:cNvSpPr>
          <p:nvPr/>
        </p:nvSpPr>
        <p:spPr>
          <a:xfrm xmlns:a="http://schemas.openxmlformats.org/drawingml/2006/main">
            <a:off x="7952080" y="2267712"/>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The balance movement fires against a listening rule, not a nightly scan</a:t>
            </a:r>
            <a:endParaRPr sz="930"/>
          </a:p>
        </p:txBody>
      </p:sp>
      <p:sp>
        <p:nvSpPr>
          <p:cNvPr id="22" name="Text 20">
            <a:extLst xmlns:a="http://schemas.openxmlformats.org/drawingml/2006/main">
              <a:ext uri="{FF2B5EF4-FFF2-40B4-BE49-F238E27FC236}">
                <a16:creationId xmlns:a16="http://schemas.microsoft.com/office/drawing/2014/main" id="{77B59F5F-C127-4614-9F4F-EECA91B8610E}"/>
              </a:ext>
            </a:extLst>
          </p:cNvPr>
          <p:cNvSpPr>
            <a:spLocks xmlns:a="http://schemas.openxmlformats.org/drawingml/2006/main" noGrp="1"/>
          </p:cNvSpPr>
          <p:nvPr/>
        </p:nvSpPr>
        <p:spPr>
          <a:xfrm xmlns:a="http://schemas.openxmlformats.org/drawingml/2006/main">
            <a:off x="6489040" y="2743200"/>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Scored</a:t>
            </a:r>
            <a:endParaRPr sz="960"/>
          </a:p>
        </p:txBody>
      </p:sp>
      <p:sp>
        <p:nvSpPr>
          <p:cNvPr id="23" name="Text 21">
            <a:extLst xmlns:a="http://schemas.openxmlformats.org/drawingml/2006/main">
              <a:ext uri="{FF2B5EF4-FFF2-40B4-BE49-F238E27FC236}">
                <a16:creationId xmlns:a16="http://schemas.microsoft.com/office/drawing/2014/main" id="{3CE6B64F-0B1C-4CD1-B8D5-9D8065657478}"/>
              </a:ext>
            </a:extLst>
          </p:cNvPr>
          <p:cNvSpPr>
            <a:spLocks xmlns:a="http://schemas.openxmlformats.org/drawingml/2006/main" noGrp="1"/>
          </p:cNvSpPr>
          <p:nvPr/>
        </p:nvSpPr>
        <p:spPr>
          <a:xfrm xmlns:a="http://schemas.openxmlformats.org/drawingml/2006/main">
            <a:off x="7952080" y="2743200"/>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Same models, one customer, evaluated against the live queue</a:t>
            </a:r>
            <a:endParaRPr sz="930"/>
          </a:p>
        </p:txBody>
      </p:sp>
      <p:sp>
        <p:nvSpPr>
          <p:cNvPr id="24" name="Text 22">
            <a:extLst xmlns:a="http://schemas.openxmlformats.org/drawingml/2006/main">
              <a:ext uri="{FF2B5EF4-FFF2-40B4-BE49-F238E27FC236}">
                <a16:creationId xmlns:a16="http://schemas.microsoft.com/office/drawing/2014/main" id="{3BFA821B-A8FE-4771-806A-6F013A2C70DC}"/>
              </a:ext>
            </a:extLst>
          </p:cNvPr>
          <p:cNvSpPr>
            <a:spLocks xmlns:a="http://schemas.openxmlformats.org/drawingml/2006/main" noGrp="1"/>
          </p:cNvSpPr>
          <p:nvPr/>
        </p:nvSpPr>
        <p:spPr>
          <a:xfrm xmlns:a="http://schemas.openxmlformats.org/drawingml/2006/main">
            <a:off x="6489040" y="3218688"/>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Gated</a:t>
            </a:r>
            <a:endParaRPr sz="960"/>
          </a:p>
        </p:txBody>
      </p:sp>
      <p:sp>
        <p:nvSpPr>
          <p:cNvPr id="25" name="Text 23">
            <a:extLst xmlns:a="http://schemas.openxmlformats.org/drawingml/2006/main">
              <a:ext uri="{FF2B5EF4-FFF2-40B4-BE49-F238E27FC236}">
                <a16:creationId xmlns:a16="http://schemas.microsoft.com/office/drawing/2014/main" id="{162A6418-648F-4E98-83EC-8FBBAD0FA503}"/>
              </a:ext>
            </a:extLst>
          </p:cNvPr>
          <p:cNvSpPr>
            <a:spLocks xmlns:a="http://schemas.openxmlformats.org/drawingml/2006/main" noGrp="1"/>
          </p:cNvSpPr>
          <p:nvPr/>
        </p:nvSpPr>
        <p:spPr>
          <a:xfrm xmlns:a="http://schemas.openxmlformats.org/drawingml/2006/main">
            <a:off x="7952080" y="3218688"/>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Same eligibility, suitability and consent checks apply unchanged</a:t>
            </a:r>
            <a:endParaRPr sz="930"/>
          </a:p>
        </p:txBody>
      </p:sp>
      <p:sp>
        <p:nvSpPr>
          <p:cNvPr id="26" name="Text 24">
            <a:extLst xmlns:a="http://schemas.openxmlformats.org/drawingml/2006/main">
              <a:ext uri="{FF2B5EF4-FFF2-40B4-BE49-F238E27FC236}">
                <a16:creationId xmlns:a16="http://schemas.microsoft.com/office/drawing/2014/main" id="{35263C7B-C6ED-42FB-BFED-6E8F966D3CFB}"/>
              </a:ext>
            </a:extLst>
          </p:cNvPr>
          <p:cNvSpPr>
            <a:spLocks xmlns:a="http://schemas.openxmlformats.org/drawingml/2006/main" noGrp="1"/>
          </p:cNvSpPr>
          <p:nvPr/>
        </p:nvSpPr>
        <p:spPr>
          <a:xfrm xmlns:a="http://schemas.openxmlformats.org/drawingml/2006/main">
            <a:off x="6489040" y="3694176"/>
            <a:ext cx="13716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10:40 + 8s</a:t>
            </a:r>
            <a:endParaRPr sz="960"/>
          </a:p>
        </p:txBody>
      </p:sp>
      <p:sp>
        <p:nvSpPr>
          <p:cNvPr id="27" name="Text 25">
            <a:extLst xmlns:a="http://schemas.openxmlformats.org/drawingml/2006/main">
              <a:ext uri="{FF2B5EF4-FFF2-40B4-BE49-F238E27FC236}">
                <a16:creationId xmlns:a16="http://schemas.microsoft.com/office/drawing/2014/main" id="{9DE5FA4A-133E-4978-B165-822FA925FA5C}"/>
              </a:ext>
            </a:extLst>
          </p:cNvPr>
          <p:cNvSpPr>
            <a:spLocks xmlns:a="http://schemas.openxmlformats.org/drawingml/2006/main" noGrp="1"/>
          </p:cNvSpPr>
          <p:nvPr/>
        </p:nvSpPr>
        <p:spPr>
          <a:xfrm xmlns:a="http://schemas.openxmlformats.org/drawingml/2006/main">
            <a:off x="7952080" y="3694176"/>
            <a:ext cx="3434944"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An idle-funds nudge reaches the relationship manager while the money is still in play</a:t>
            </a:r>
            <a:endParaRPr sz="930"/>
          </a:p>
        </p:txBody>
      </p:sp>
      <p:sp>
        <p:nvSpPr>
          <p:cNvPr id="28" name="Shape 26">
            <a:extLst xmlns:a="http://schemas.openxmlformats.org/drawingml/2006/main">
              <a:ext uri="{FF2B5EF4-FFF2-40B4-BE49-F238E27FC236}">
                <a16:creationId xmlns:a16="http://schemas.microsoft.com/office/drawing/2014/main" id="{9873702F-3F63-4490-BFFC-3A0E57038435}"/>
              </a:ext>
            </a:extLst>
          </p:cNvPr>
          <p:cNvSpPr>
            <a:spLocks xmlns:a="http://schemas.openxmlformats.org/drawingml/2006/main" noGrp="1"/>
          </p:cNvSpPr>
          <p:nvPr/>
        </p:nvSpPr>
        <p:spPr>
          <a:xfrm xmlns:a="http://schemas.openxmlformats.org/drawingml/2006/main">
            <a:off x="566928" y="4517136"/>
            <a:ext cx="11057839" cy="1554480"/>
          </a:xfrm>
          <a:prstGeom xmlns:a="http://schemas.openxmlformats.org/drawingml/2006/main" prst="rect">
            <a:avLst/>
          </a:prstGeom>
          <a:solidFill xmlns:a="http://schemas.openxmlformats.org/drawingml/2006/main">
            <a:srgbClr val="F3E6E0"/>
          </a:solidFill>
        </p:spPr>
      </p:sp>
      <p:sp>
        <p:nvSpPr>
          <p:cNvPr id="29" name="Text 27">
            <a:extLst xmlns:a="http://schemas.openxmlformats.org/drawingml/2006/main">
              <a:ext uri="{FF2B5EF4-FFF2-40B4-BE49-F238E27FC236}">
                <a16:creationId xmlns:a16="http://schemas.microsoft.com/office/drawing/2014/main" id="{B41FDD19-15BD-4481-A1D0-8DBF750DA83A}"/>
              </a:ext>
            </a:extLst>
          </p:cNvPr>
          <p:cNvSpPr>
            <a:spLocks xmlns:a="http://schemas.openxmlformats.org/drawingml/2006/main" noGrp="1"/>
          </p:cNvSpPr>
          <p:nvPr/>
        </p:nvSpPr>
        <p:spPr>
          <a:xfrm xmlns:a="http://schemas.openxmlformats.org/drawingml/2006/main">
            <a:off x="804672" y="466344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reactive clock cannot simply be a faster batch</a:t>
            </a:r>
            <a:endParaRPr sz="1100"/>
          </a:p>
        </p:txBody>
      </p:sp>
      <p:sp>
        <p:nvSpPr>
          <p:cNvPr id="30" name="Text 28">
            <a:extLst xmlns:a="http://schemas.openxmlformats.org/drawingml/2006/main">
              <a:ext uri="{FF2B5EF4-FFF2-40B4-BE49-F238E27FC236}">
                <a16:creationId xmlns:a16="http://schemas.microsoft.com/office/drawing/2014/main" id="{A616CB5F-F449-490E-8605-26900477F7D8}"/>
              </a:ext>
            </a:extLst>
          </p:cNvPr>
          <p:cNvSpPr>
            <a:spLocks xmlns:a="http://schemas.openxmlformats.org/drawingml/2006/main" noGrp="1"/>
          </p:cNvSpPr>
          <p:nvPr/>
        </p:nvSpPr>
        <p:spPr>
          <a:xfrm xmlns:a="http://schemas.openxmlformats.org/drawingml/2006/main">
            <a:off x="804672" y="4919472"/>
            <a:ext cx="10582351"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value of the idle-funds nudge decays over hours, not days. A customer who has just received a large credit will decide what to do with it that morning; a nudge in tomorrow's day plan arrives after the decision.</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is the whole reason both clocks exist. The planned clock covers the portfolio comprehensively and cannot be fast. The reactive clock covers one customer at a time and cannot be comprehensive. Neither substitutes for the other, and both need to agree — which is why they share an engine rather than sharing a roadmap.</a:t>
            </a:r>
            <a:endParaRPr sz="990"/>
          </a:p>
        </p:txBody>
      </p:sp>
      <p:sp>
        <p:nvSpPr>
          <p:cNvPr id="31" name="Shape 29">
            <a:extLst xmlns:a="http://schemas.openxmlformats.org/drawingml/2006/main">
              <a:ext uri="{FF2B5EF4-FFF2-40B4-BE49-F238E27FC236}">
                <a16:creationId xmlns:a16="http://schemas.microsoft.com/office/drawing/2014/main" id="{D9F32273-0685-49AD-8BEB-704AC533186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2" name="Text 30">
            <a:extLst xmlns:a="http://schemas.openxmlformats.org/drawingml/2006/main">
              <a:ext uri="{FF2B5EF4-FFF2-40B4-BE49-F238E27FC236}">
                <a16:creationId xmlns:a16="http://schemas.microsoft.com/office/drawing/2014/main" id="{38DF8A72-26DF-4859-AEB7-79844E7CAB5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worked example — illustrative</a:t>
            </a:r>
            <a:endParaRPr sz="850"/>
          </a:p>
        </p:txBody>
      </p:sp>
      <p:sp>
        <p:nvSpPr>
          <p:cNvPr id="33" name="Text 31">
            <a:extLst xmlns:a="http://schemas.openxmlformats.org/drawingml/2006/main">
              <a:ext uri="{FF2B5EF4-FFF2-40B4-BE49-F238E27FC236}">
                <a16:creationId xmlns:a16="http://schemas.microsoft.com/office/drawing/2014/main" id="{CDF968E0-11F6-4EA0-BBD8-CDCD2E191CB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264416397"/>
      </p:ext>
    </p:extLst>
  </p:cSld>
</p:sld>
</file>

<file path=ppt/slides/slide1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450C42-BC42-43CE-8E52-F5BD607D405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DECISION</a:t>
            </a:r>
            <a:endParaRPr sz="950"/>
          </a:p>
        </p:txBody>
      </p:sp>
      <p:sp>
        <p:nvSpPr>
          <p:cNvPr id="3" name="Text 1">
            <a:extLst xmlns:a="http://schemas.openxmlformats.org/drawingml/2006/main">
              <a:ext uri="{FF2B5EF4-FFF2-40B4-BE49-F238E27FC236}">
                <a16:creationId xmlns:a16="http://schemas.microsoft.com/office/drawing/2014/main" id="{49D78E20-53D5-4326-8CF9-AFD683C853F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Hard gates remove actions entirely — they are never out-weighed by margin, and</a:t>
            </a:r>
            <a:endParaRPr sz="1900"/>
          </a:p>
          <a:p xmlns:a="http://schemas.openxmlformats.org/drawingml/2006/main">
            <a:pPr marL="0" indent="0">
              <a:lnSpc>
                <a:spcPts val="2400"/>
              </a:lnSpc>
              <a:buNone/>
            </a:pPr>
            <a:r>
              <a:rPr sz="1900" b="1">
                <a:solidFill>
                  <a:srgbClr val="102A43"/>
                </a:solidFill>
                <a:latin typeface="Arial"/>
                <a:ea typeface="Arial"/>
                <a:cs typeface="Arial"/>
              </a:rPr>
              <a:t>retention outranks the sale</a:t>
            </a:r>
            <a:endParaRPr sz="1900"/>
          </a:p>
        </p:txBody>
      </p:sp>
      <p:sp>
        <p:nvSpPr>
          <p:cNvPr id="4" name="Shape 2">
            <a:extLst xmlns:a="http://schemas.openxmlformats.org/drawingml/2006/main">
              <a:ext uri="{FF2B5EF4-FFF2-40B4-BE49-F238E27FC236}">
                <a16:creationId xmlns:a16="http://schemas.microsoft.com/office/drawing/2014/main" id="{88C1D687-A3D8-4C82-92F5-2F16C08584B2}"/>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4229649A-24FA-43CD-A4ED-3336BED7575C}"/>
              </a:ext>
            </a:extLst>
          </p:cNvPr>
          <p:cNvSpPr>
            <a:spLocks xmlns:a="http://schemas.openxmlformats.org/drawingml/2006/main" noGrp="1"/>
          </p:cNvSpPr>
          <p:nvPr/>
        </p:nvSpPr>
        <p:spPr>
          <a:xfrm xmlns:a="http://schemas.openxmlformats.org/drawingml/2006/main">
            <a:off x="786384" y="1481328"/>
            <a:ext cx="457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B04A25"/>
                </a:solidFill>
                <a:latin typeface="Arial"/>
                <a:ea typeface="Arial"/>
                <a:cs typeface="Arial"/>
              </a:rPr>
              <a:t>01</a:t>
            </a:r>
            <a:endParaRPr sz="900"/>
          </a:p>
        </p:txBody>
      </p:sp>
      <p:sp>
        <p:nvSpPr>
          <p:cNvPr id="6" name="Text 4">
            <a:extLst xmlns:a="http://schemas.openxmlformats.org/drawingml/2006/main">
              <a:ext uri="{FF2B5EF4-FFF2-40B4-BE49-F238E27FC236}">
                <a16:creationId xmlns:a16="http://schemas.microsoft.com/office/drawing/2014/main" id="{DEE078B4-EE77-4C82-BE47-2BA5F5B2CC56}"/>
              </a:ext>
            </a:extLst>
          </p:cNvPr>
          <p:cNvSpPr>
            <a:spLocks xmlns:a="http://schemas.openxmlformats.org/drawingml/2006/main" noGrp="1"/>
          </p:cNvSpPr>
          <p:nvPr/>
        </p:nvSpPr>
        <p:spPr>
          <a:xfrm xmlns:a="http://schemas.openxmlformats.org/drawingml/2006/main">
            <a:off x="786384" y="1719072"/>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Hard gates, not weights</a:t>
            </a:r>
            <a:endParaRPr sz="1300"/>
          </a:p>
        </p:txBody>
      </p:sp>
      <p:sp>
        <p:nvSpPr>
          <p:cNvPr id="7" name="Text 5">
            <a:extLst xmlns:a="http://schemas.openxmlformats.org/drawingml/2006/main">
              <a:ext uri="{FF2B5EF4-FFF2-40B4-BE49-F238E27FC236}">
                <a16:creationId xmlns:a16="http://schemas.microsoft.com/office/drawing/2014/main" id="{1EFD1353-F5F4-491C-B63F-69399C24C1CF}"/>
              </a:ext>
            </a:extLst>
          </p:cNvPr>
          <p:cNvSpPr>
            <a:spLocks xmlns:a="http://schemas.openxmlformats.org/drawingml/2006/main" noGrp="1"/>
          </p:cNvSpPr>
          <p:nvPr/>
        </p:nvSpPr>
        <p:spPr>
          <a:xfrm xmlns:a="http://schemas.openxmlformats.org/drawingml/2006/main">
            <a:off x="786384" y="2084832"/>
            <a:ext cx="3112922"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Eligibility, suitability and consent can remove an action from the candidate set completely.</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They are not inputs to a score. A weighted model can always be outvoted by a high enough margin — a gate cannot.</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This is the difference between a system that occasionally recommends something inappropriate and one that structurally cannot.</a:t>
            </a:r>
            <a:endParaRPr sz="950"/>
          </a:p>
        </p:txBody>
      </p:sp>
      <p:sp>
        <p:nvSpPr>
          <p:cNvPr id="8" name="Shape 6">
            <a:extLst xmlns:a="http://schemas.openxmlformats.org/drawingml/2006/main">
              <a:ext uri="{FF2B5EF4-FFF2-40B4-BE49-F238E27FC236}">
                <a16:creationId xmlns:a16="http://schemas.microsoft.com/office/drawing/2014/main" id="{C80E4D2B-1D66-47FE-950E-B4B67008521D}"/>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FB06EF6D-0A8A-4B50-BD48-8F36058C7A27}"/>
              </a:ext>
            </a:extLst>
          </p:cNvPr>
          <p:cNvSpPr>
            <a:spLocks xmlns:a="http://schemas.openxmlformats.org/drawingml/2006/main" noGrp="1"/>
          </p:cNvSpPr>
          <p:nvPr/>
        </p:nvSpPr>
        <p:spPr>
          <a:xfrm xmlns:a="http://schemas.openxmlformats.org/drawingml/2006/main">
            <a:off x="4539386" y="1481328"/>
            <a:ext cx="457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B04A25"/>
                </a:solidFill>
                <a:latin typeface="Arial"/>
                <a:ea typeface="Arial"/>
                <a:cs typeface="Arial"/>
              </a:rPr>
              <a:t>02</a:t>
            </a:r>
            <a:endParaRPr sz="900"/>
          </a:p>
        </p:txBody>
      </p:sp>
      <p:sp>
        <p:nvSpPr>
          <p:cNvPr id="10" name="Text 8">
            <a:extLst xmlns:a="http://schemas.openxmlformats.org/drawingml/2006/main">
              <a:ext uri="{FF2B5EF4-FFF2-40B4-BE49-F238E27FC236}">
                <a16:creationId xmlns:a16="http://schemas.microsoft.com/office/drawing/2014/main" id="{68542688-3AE4-4072-BFE6-1CCD5597942A}"/>
              </a:ext>
            </a:extLst>
          </p:cNvPr>
          <p:cNvSpPr>
            <a:spLocks xmlns:a="http://schemas.openxmlformats.org/drawingml/2006/main" noGrp="1"/>
          </p:cNvSpPr>
          <p:nvPr/>
        </p:nvSpPr>
        <p:spPr>
          <a:xfrm xmlns:a="http://schemas.openxmlformats.org/drawingml/2006/main">
            <a:off x="4539386" y="1719072"/>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Retention outranks the sale</a:t>
            </a:r>
            <a:endParaRPr sz="1300"/>
          </a:p>
        </p:txBody>
      </p:sp>
      <p:sp>
        <p:nvSpPr>
          <p:cNvPr id="11" name="Text 9">
            <a:extLst xmlns:a="http://schemas.openxmlformats.org/drawingml/2006/main">
              <a:ext uri="{FF2B5EF4-FFF2-40B4-BE49-F238E27FC236}">
                <a16:creationId xmlns:a16="http://schemas.microsoft.com/office/drawing/2014/main" id="{B7ADD253-FC1C-4EF9-8156-0274707DFFF0}"/>
              </a:ext>
            </a:extLst>
          </p:cNvPr>
          <p:cNvSpPr>
            <a:spLocks xmlns:a="http://schemas.openxmlformats.org/drawingml/2006/main" noGrp="1"/>
          </p:cNvSpPr>
          <p:nvPr/>
        </p:nvSpPr>
        <p:spPr>
          <a:xfrm xmlns:a="http://schemas.openxmlformats.org/drawingml/2006/main">
            <a:off x="4539386" y="2084832"/>
            <a:ext cx="3112922"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Above a churn-risk threshold, calling the at-risk customer outranks any cross-sell for that customer.</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Implemented as an override on the ranking, not as a weight inside it.</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Without it, the highest-value action for a customer about to leave is almost always a sale — which is exactly backwards.</a:t>
            </a:r>
            <a:endParaRPr sz="950"/>
          </a:p>
        </p:txBody>
      </p:sp>
      <p:sp>
        <p:nvSpPr>
          <p:cNvPr id="12" name="Shape 10">
            <a:extLst xmlns:a="http://schemas.openxmlformats.org/drawingml/2006/main">
              <a:ext uri="{FF2B5EF4-FFF2-40B4-BE49-F238E27FC236}">
                <a16:creationId xmlns:a16="http://schemas.microsoft.com/office/drawing/2014/main" id="{7786839A-0A38-41EA-8F43-D30D32A81BCD}"/>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4584B5D7-212C-4003-AA77-89C325035245}"/>
              </a:ext>
            </a:extLst>
          </p:cNvPr>
          <p:cNvSpPr>
            <a:spLocks xmlns:a="http://schemas.openxmlformats.org/drawingml/2006/main" noGrp="1"/>
          </p:cNvSpPr>
          <p:nvPr/>
        </p:nvSpPr>
        <p:spPr>
          <a:xfrm xmlns:a="http://schemas.openxmlformats.org/drawingml/2006/main">
            <a:off x="8292389" y="1481328"/>
            <a:ext cx="457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a:solidFill>
                  <a:srgbClr val="627D98"/>
                </a:solidFill>
                <a:latin typeface="Arial"/>
                <a:ea typeface="Arial"/>
                <a:cs typeface="Arial"/>
              </a:rPr>
              <a:t>03</a:t>
            </a:r>
            <a:endParaRPr sz="900"/>
          </a:p>
        </p:txBody>
      </p:sp>
      <p:sp>
        <p:nvSpPr>
          <p:cNvPr id="14" name="Text 12">
            <a:extLst xmlns:a="http://schemas.openxmlformats.org/drawingml/2006/main">
              <a:ext uri="{FF2B5EF4-FFF2-40B4-BE49-F238E27FC236}">
                <a16:creationId xmlns:a16="http://schemas.microsoft.com/office/drawing/2014/main" id="{5180B390-B466-4B1A-ADDA-B5403030944E}"/>
              </a:ext>
            </a:extLst>
          </p:cNvPr>
          <p:cNvSpPr>
            <a:spLocks xmlns:a="http://schemas.openxmlformats.org/drawingml/2006/main" noGrp="1"/>
          </p:cNvSpPr>
          <p:nvPr/>
        </p:nvSpPr>
        <p:spPr>
          <a:xfrm xmlns:a="http://schemas.openxmlformats.org/drawingml/2006/main">
            <a:off x="8292389" y="1719072"/>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Then rank on value</a:t>
            </a:r>
            <a:endParaRPr sz="1300"/>
          </a:p>
        </p:txBody>
      </p:sp>
      <p:sp>
        <p:nvSpPr>
          <p:cNvPr id="15" name="Text 13">
            <a:extLst xmlns:a="http://schemas.openxmlformats.org/drawingml/2006/main">
              <a:ext uri="{FF2B5EF4-FFF2-40B4-BE49-F238E27FC236}">
                <a16:creationId xmlns:a16="http://schemas.microsoft.com/office/drawing/2014/main" id="{C961B3DF-4A13-47DE-92DE-6C0C52D7D1A4}"/>
              </a:ext>
            </a:extLst>
          </p:cNvPr>
          <p:cNvSpPr>
            <a:spLocks xmlns:a="http://schemas.openxmlformats.org/drawingml/2006/main" noGrp="1"/>
          </p:cNvSpPr>
          <p:nvPr/>
        </p:nvSpPr>
        <p:spPr>
          <a:xfrm xmlns:a="http://schemas.openxmlformats.org/drawingml/2006/main">
            <a:off x="8292389" y="2084832"/>
            <a:ext cx="3112922"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What survives the gates is ranked on propensity, value, margin and channel fit.</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Fatigue decay reduces the rank of anything this customer has recently been approached about.</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Capacity is respected — a day plan longer than a working day is a list, not a plan.</a:t>
            </a:r>
            <a:endParaRPr sz="950"/>
          </a:p>
        </p:txBody>
      </p:sp>
      <p:sp>
        <p:nvSpPr>
          <p:cNvPr id="16" name="Text 14">
            <a:extLst xmlns:a="http://schemas.openxmlformats.org/drawingml/2006/main">
              <a:ext uri="{FF2B5EF4-FFF2-40B4-BE49-F238E27FC236}">
                <a16:creationId xmlns:a16="http://schemas.microsoft.com/office/drawing/2014/main" id="{BF29D45C-CD32-4DFA-A3AB-CD8BA20C671F}"/>
              </a:ext>
            </a:extLst>
          </p:cNvPr>
          <p:cNvSpPr>
            <a:spLocks xmlns:a="http://schemas.openxmlformats.org/drawingml/2006/main" noGrp="1"/>
          </p:cNvSpPr>
          <p:nvPr/>
        </p:nvSpPr>
        <p:spPr>
          <a:xfrm xmlns:a="http://schemas.openxmlformats.org/drawingml/2006/main">
            <a:off x="566928"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closed loop</a:t>
            </a:r>
            <a:endParaRPr sz="1100"/>
          </a:p>
        </p:txBody>
      </p:sp>
      <p:sp>
        <p:nvSpPr>
          <p:cNvPr id="17" name="Shape 15">
            <a:extLst xmlns:a="http://schemas.openxmlformats.org/drawingml/2006/main">
              <a:ext uri="{FF2B5EF4-FFF2-40B4-BE49-F238E27FC236}">
                <a16:creationId xmlns:a16="http://schemas.microsoft.com/office/drawing/2014/main" id="{15BF7170-5180-419E-A3BA-EC9B3C963D3B}"/>
              </a:ext>
            </a:extLst>
          </p:cNvPr>
          <p:cNvSpPr>
            <a:spLocks xmlns:a="http://schemas.openxmlformats.org/drawingml/2006/main" noGrp="1"/>
          </p:cNvSpPr>
          <p:nvPr/>
        </p:nvSpPr>
        <p:spPr>
          <a:xfrm xmlns:a="http://schemas.openxmlformats.org/drawingml/2006/main">
            <a:off x="566928" y="4334256"/>
            <a:ext cx="3551834" cy="20117"/>
          </a:xfrm>
          <a:prstGeom xmlns:a="http://schemas.openxmlformats.org/drawingml/2006/main" prst="rect">
            <a:avLst/>
          </a:prstGeom>
          <a:solidFill xmlns:a="http://schemas.openxmlformats.org/drawingml/2006/main">
            <a:srgbClr val="102A43"/>
          </a:solidFill>
        </p:spPr>
      </p:sp>
      <p:sp>
        <p:nvSpPr>
          <p:cNvPr id="18" name="Text 16">
            <a:extLst xmlns:a="http://schemas.openxmlformats.org/drawingml/2006/main">
              <a:ext uri="{FF2B5EF4-FFF2-40B4-BE49-F238E27FC236}">
                <a16:creationId xmlns:a16="http://schemas.microsoft.com/office/drawing/2014/main" id="{CFBE86EA-D43D-4C9B-98EA-969EF0742E00}"/>
              </a:ext>
            </a:extLst>
          </p:cNvPr>
          <p:cNvSpPr>
            <a:spLocks xmlns:a="http://schemas.openxmlformats.org/drawingml/2006/main" noGrp="1"/>
          </p:cNvSpPr>
          <p:nvPr/>
        </p:nvSpPr>
        <p:spPr>
          <a:xfrm xmlns:a="http://schemas.openxmlformats.org/drawingml/2006/main">
            <a:off x="566928"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Every outcome — accepted, declined, not attempted, and the reason — returns to the engine.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That retrains propensity and recalibrates fatigue, and it is the only reason the ranking improves rather than ossifying.</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It also produces the evidence for a return-on-investment case measured on the bank's own pilot data rather than on a benchmark.</a:t>
            </a:r>
            <a:endParaRPr sz="950"/>
          </a:p>
        </p:txBody>
      </p:sp>
      <p:sp>
        <p:nvSpPr>
          <p:cNvPr id="19" name="Text 17">
            <a:extLst xmlns:a="http://schemas.openxmlformats.org/drawingml/2006/main">
              <a:ext uri="{FF2B5EF4-FFF2-40B4-BE49-F238E27FC236}">
                <a16:creationId xmlns:a16="http://schemas.microsoft.com/office/drawing/2014/main" id="{3E325DD6-C1A3-47EA-8791-D7312AFE1ED5}"/>
              </a:ext>
            </a:extLst>
          </p:cNvPr>
          <p:cNvSpPr>
            <a:spLocks xmlns:a="http://schemas.openxmlformats.org/drawingml/2006/main" noGrp="1"/>
          </p:cNvSpPr>
          <p:nvPr/>
        </p:nvSpPr>
        <p:spPr>
          <a:xfrm xmlns:a="http://schemas.openxmlformats.org/drawingml/2006/main">
            <a:off x="4319930"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has to be confirmed before positioning</a:t>
            </a:r>
            <a:endParaRPr sz="1100"/>
          </a:p>
        </p:txBody>
      </p:sp>
      <p:sp>
        <p:nvSpPr>
          <p:cNvPr id="20" name="Shape 18">
            <a:extLst xmlns:a="http://schemas.openxmlformats.org/drawingml/2006/main">
              <a:ext uri="{FF2B5EF4-FFF2-40B4-BE49-F238E27FC236}">
                <a16:creationId xmlns:a16="http://schemas.microsoft.com/office/drawing/2014/main" id="{3DE7651C-67FA-4648-9935-24894F47394B}"/>
              </a:ext>
            </a:extLst>
          </p:cNvPr>
          <p:cNvSpPr>
            <a:spLocks xmlns:a="http://schemas.openxmlformats.org/drawingml/2006/main" noGrp="1"/>
          </p:cNvSpPr>
          <p:nvPr/>
        </p:nvSpPr>
        <p:spPr>
          <a:xfrm xmlns:a="http://schemas.openxmlformats.org/drawingml/2006/main">
            <a:off x="4319930" y="4334256"/>
            <a:ext cx="3551834" cy="20117"/>
          </a:xfrm>
          <a:prstGeom xmlns:a="http://schemas.openxmlformats.org/drawingml/2006/main" prst="rect">
            <a:avLst/>
          </a:prstGeom>
          <a:solidFill xmlns:a="http://schemas.openxmlformats.org/drawingml/2006/main">
            <a:srgbClr val="B04A25"/>
          </a:solidFill>
        </p:spPr>
      </p:sp>
      <p:sp>
        <p:nvSpPr>
          <p:cNvPr id="21" name="Text 19">
            <a:extLst xmlns:a="http://schemas.openxmlformats.org/drawingml/2006/main">
              <a:ext uri="{FF2B5EF4-FFF2-40B4-BE49-F238E27FC236}">
                <a16:creationId xmlns:a16="http://schemas.microsoft.com/office/drawing/2014/main" id="{F401A432-CC7C-41A1-AAE8-44F04E510ED3}"/>
              </a:ext>
            </a:extLst>
          </p:cNvPr>
          <p:cNvSpPr>
            <a:spLocks xmlns:a="http://schemas.openxmlformats.org/drawingml/2006/main" noGrp="1"/>
          </p:cNvSpPr>
          <p:nvPr/>
        </p:nvSpPr>
        <p:spPr>
          <a:xfrm xmlns:a="http://schemas.openxmlformats.org/drawingml/2006/main">
            <a:off x="4319930"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integration mechanism to source systems, which determines what the reactive clock can actually listen to.</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licensed-module boundary on the existing platform, which determines what is genuinely additive.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That benchmark figures are presented as benchmarks and never as committed service levels.</a:t>
            </a:r>
            <a:endParaRPr sz="950"/>
          </a:p>
        </p:txBody>
      </p:sp>
      <p:sp>
        <p:nvSpPr>
          <p:cNvPr id="22" name="Text 20">
            <a:extLst xmlns:a="http://schemas.openxmlformats.org/drawingml/2006/main">
              <a:ext uri="{FF2B5EF4-FFF2-40B4-BE49-F238E27FC236}">
                <a16:creationId xmlns:a16="http://schemas.microsoft.com/office/drawing/2014/main" id="{32B2419E-DEAD-490E-9DB6-24468202D88B}"/>
              </a:ext>
            </a:extLst>
          </p:cNvPr>
          <p:cNvSpPr>
            <a:spLocks xmlns:a="http://schemas.openxmlformats.org/drawingml/2006/main" noGrp="1"/>
          </p:cNvSpPr>
          <p:nvPr/>
        </p:nvSpPr>
        <p:spPr>
          <a:xfrm xmlns:a="http://schemas.openxmlformats.org/drawingml/2006/main">
            <a:off x="8072933"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Why gates are a governance artefact</a:t>
            </a:r>
            <a:endParaRPr sz="1100"/>
          </a:p>
        </p:txBody>
      </p:sp>
      <p:sp>
        <p:nvSpPr>
          <p:cNvPr id="23" name="Shape 21">
            <a:extLst xmlns:a="http://schemas.openxmlformats.org/drawingml/2006/main">
              <a:ext uri="{FF2B5EF4-FFF2-40B4-BE49-F238E27FC236}">
                <a16:creationId xmlns:a16="http://schemas.microsoft.com/office/drawing/2014/main" id="{2B375222-2C8A-48F0-8715-E226973992C3}"/>
              </a:ext>
            </a:extLst>
          </p:cNvPr>
          <p:cNvSpPr>
            <a:spLocks xmlns:a="http://schemas.openxmlformats.org/drawingml/2006/main" noGrp="1"/>
          </p:cNvSpPr>
          <p:nvPr/>
        </p:nvSpPr>
        <p:spPr>
          <a:xfrm xmlns:a="http://schemas.openxmlformats.org/drawingml/2006/main">
            <a:off x="8072933" y="4334256"/>
            <a:ext cx="3551834" cy="20117"/>
          </a:xfrm>
          <a:prstGeom xmlns:a="http://schemas.openxmlformats.org/drawingml/2006/main" prst="rect">
            <a:avLst/>
          </a:prstGeom>
          <a:solidFill xmlns:a="http://schemas.openxmlformats.org/drawingml/2006/main">
            <a:srgbClr val="486581"/>
          </a:solidFill>
        </p:spPr>
      </p:sp>
      <p:sp>
        <p:nvSpPr>
          <p:cNvPr id="24" name="Text 22">
            <a:extLst xmlns:a="http://schemas.openxmlformats.org/drawingml/2006/main">
              <a:ext uri="{FF2B5EF4-FFF2-40B4-BE49-F238E27FC236}">
                <a16:creationId xmlns:a16="http://schemas.microsoft.com/office/drawing/2014/main" id="{D5205100-7AEB-424E-8C4F-DD9CDC0C1A7F}"/>
              </a:ext>
            </a:extLst>
          </p:cNvPr>
          <p:cNvSpPr>
            <a:spLocks xmlns:a="http://schemas.openxmlformats.org/drawingml/2006/main" noGrp="1"/>
          </p:cNvSpPr>
          <p:nvPr/>
        </p:nvSpPr>
        <p:spPr>
          <a:xfrm xmlns:a="http://schemas.openxmlformats.org/drawingml/2006/main">
            <a:off x="8072933"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gate is auditable in a way a weight is not — you can show that an action was never a candidate.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With weights, the answer to why was this offered is a model explanation rather than a rule.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In a regulated distribution context, that difference is the whole conversation with a supervisor.</a:t>
            </a:r>
            <a:endParaRPr sz="950"/>
          </a:p>
        </p:txBody>
      </p:sp>
      <p:sp>
        <p:nvSpPr>
          <p:cNvPr id="25" name="Shape 23">
            <a:extLst xmlns:a="http://schemas.openxmlformats.org/drawingml/2006/main">
              <a:ext uri="{FF2B5EF4-FFF2-40B4-BE49-F238E27FC236}">
                <a16:creationId xmlns:a16="http://schemas.microsoft.com/office/drawing/2014/main" id="{FF05B7B4-760B-4D56-BA6B-FB78C93EE1E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6" name="Text 24">
            <a:extLst xmlns:a="http://schemas.openxmlformats.org/drawingml/2006/main">
              <a:ext uri="{FF2B5EF4-FFF2-40B4-BE49-F238E27FC236}">
                <a16:creationId xmlns:a16="http://schemas.microsoft.com/office/drawing/2014/main" id="{C1455CED-02AA-497D-84BF-0BD52C73504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decisioning architecture analysis</a:t>
            </a:r>
            <a:endParaRPr sz="850"/>
          </a:p>
        </p:txBody>
      </p:sp>
      <p:sp>
        <p:nvSpPr>
          <p:cNvPr id="27" name="Text 25">
            <a:extLst xmlns:a="http://schemas.openxmlformats.org/drawingml/2006/main">
              <a:ext uri="{FF2B5EF4-FFF2-40B4-BE49-F238E27FC236}">
                <a16:creationId xmlns:a16="http://schemas.microsoft.com/office/drawing/2014/main" id="{0377842D-057F-4CCA-80DE-B3F47E67D22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291944352"/>
      </p:ext>
    </p:extLst>
  </p:cSld>
</p:sld>
</file>

<file path=ppt/slides/slide14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CCFC900-5277-4C3A-BFC1-4D1408DAE6CA}"/>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2F27A0A9-F153-4D0A-BB35-9449E88A9EF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decisioning that has to run on more than one clock</a:t>
            </a:r>
            <a:endParaRPr sz="1900"/>
          </a:p>
        </p:txBody>
      </p:sp>
      <p:sp>
        <p:nvSpPr>
          <p:cNvPr id="4" name="Text 2">
            <a:extLst xmlns:a="http://schemas.openxmlformats.org/drawingml/2006/main">
              <a:ext uri="{FF2B5EF4-FFF2-40B4-BE49-F238E27FC236}">
                <a16:creationId xmlns:a16="http://schemas.microsoft.com/office/drawing/2014/main" id="{8E24008A-80E0-4D57-ACAA-330DFAF4901E}"/>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190AE198-FF6E-4944-AB99-E28BEA4C7761}"/>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One engine, several triggers</a:t>
            </a:r>
            <a:endParaRPr sz="1200"/>
          </a:p>
        </p:txBody>
      </p:sp>
      <p:sp>
        <p:nvSpPr>
          <p:cNvPr id="6" name="Text 4">
            <a:extLst xmlns:a="http://schemas.openxmlformats.org/drawingml/2006/main">
              <a:ext uri="{FF2B5EF4-FFF2-40B4-BE49-F238E27FC236}">
                <a16:creationId xmlns:a16="http://schemas.microsoft.com/office/drawing/2014/main" id="{82817418-859D-4C2C-BDA2-386829CF5C4D}"/>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Planned and reactive decisioning need identical candidate generation, gating, scoring and ranking. Building them as separate systems duplicates all of it and guarantees they will disagree within months.</a:t>
            </a:r>
            <a:endParaRPr sz="1000"/>
          </a:p>
        </p:txBody>
      </p:sp>
      <p:sp>
        <p:nvSpPr>
          <p:cNvPr id="7" name="Shape 5">
            <a:extLst xmlns:a="http://schemas.openxmlformats.org/drawingml/2006/main">
              <a:ext uri="{FF2B5EF4-FFF2-40B4-BE49-F238E27FC236}">
                <a16:creationId xmlns:a16="http://schemas.microsoft.com/office/drawing/2014/main" id="{DA8DD6A0-B00E-4E2A-BFA4-78DE6BFE9E7B}"/>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8696D8E7-F466-4F6D-BF2C-0C25799A2A58}"/>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5085A876-42FA-47A9-AF2B-1DE4BB360BFC}"/>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Gate, do not weight, on suitability</a:t>
            </a:r>
            <a:endParaRPr sz="1200"/>
          </a:p>
        </p:txBody>
      </p:sp>
      <p:sp>
        <p:nvSpPr>
          <p:cNvPr id="10" name="Text 8">
            <a:extLst xmlns:a="http://schemas.openxmlformats.org/drawingml/2006/main">
              <a:ext uri="{FF2B5EF4-FFF2-40B4-BE49-F238E27FC236}">
                <a16:creationId xmlns:a16="http://schemas.microsoft.com/office/drawing/2014/main" id="{BF14AC10-1F11-45DD-BC13-478593646E07}"/>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Eligibility, suitability and consent must remove an action from the candidate set. A weighted model can always be outvoted by a large enough margin, and cannot show a supervisor that an action was never available.</a:t>
            </a:r>
            <a:endParaRPr sz="1000"/>
          </a:p>
        </p:txBody>
      </p:sp>
      <p:sp>
        <p:nvSpPr>
          <p:cNvPr id="11" name="Shape 9">
            <a:extLst xmlns:a="http://schemas.openxmlformats.org/drawingml/2006/main">
              <a:ext uri="{FF2B5EF4-FFF2-40B4-BE49-F238E27FC236}">
                <a16:creationId xmlns:a16="http://schemas.microsoft.com/office/drawing/2014/main" id="{62764D17-98C3-4F2B-9816-2484238F87D4}"/>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7EAFFF81-A85E-4748-8273-AAC83FB4C0C7}"/>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79AF7883-F478-420D-9448-9021644AE52F}"/>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Let retention override value</a:t>
            </a:r>
            <a:endParaRPr sz="1200"/>
          </a:p>
        </p:txBody>
      </p:sp>
      <p:sp>
        <p:nvSpPr>
          <p:cNvPr id="14" name="Text 12">
            <a:extLst xmlns:a="http://schemas.openxmlformats.org/drawingml/2006/main">
              <a:ext uri="{FF2B5EF4-FFF2-40B4-BE49-F238E27FC236}">
                <a16:creationId xmlns:a16="http://schemas.microsoft.com/office/drawing/2014/main" id="{5C0023EA-B904-4348-9D84-40FEE340085F}"/>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Above a churn threshold, calling the at-risk customer beats any cross-sell. Implemented as an override rather than a weight, because a weight will lose to a sufficiently valuable sale exactly when it should not.</a:t>
            </a:r>
            <a:endParaRPr sz="1000"/>
          </a:p>
        </p:txBody>
      </p:sp>
      <p:sp>
        <p:nvSpPr>
          <p:cNvPr id="15" name="Shape 13">
            <a:extLst xmlns:a="http://schemas.openxmlformats.org/drawingml/2006/main">
              <a:ext uri="{FF2B5EF4-FFF2-40B4-BE49-F238E27FC236}">
                <a16:creationId xmlns:a16="http://schemas.microsoft.com/office/drawing/2014/main" id="{C7EEEA33-727D-42DC-BC72-425EBBCF2FC2}"/>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780FBA05-FB02-497F-97BF-80DE6866FE6D}"/>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DD5C0E15-6E02-425A-84F6-D84908DC880E}"/>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Close the loop or the ranking ossifies</a:t>
            </a:r>
            <a:endParaRPr sz="1200"/>
          </a:p>
        </p:txBody>
      </p:sp>
      <p:sp>
        <p:nvSpPr>
          <p:cNvPr id="18" name="Text 16">
            <a:extLst xmlns:a="http://schemas.openxmlformats.org/drawingml/2006/main">
              <a:ext uri="{FF2B5EF4-FFF2-40B4-BE49-F238E27FC236}">
                <a16:creationId xmlns:a16="http://schemas.microsoft.com/office/drawing/2014/main" id="{0C27C810-2C19-44BD-A55F-E4CB94AB532F}"/>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Outcomes and reasons must return to the engine. Without that, propensity never improves, fatigue never calibrates, and the business case rests on benchmarks instead of the bank's own data.</a:t>
            </a:r>
            <a:endParaRPr sz="1000"/>
          </a:p>
        </p:txBody>
      </p:sp>
      <p:sp>
        <p:nvSpPr>
          <p:cNvPr id="19" name="Shape 17">
            <a:extLst xmlns:a="http://schemas.openxmlformats.org/drawingml/2006/main">
              <a:ext uri="{FF2B5EF4-FFF2-40B4-BE49-F238E27FC236}">
                <a16:creationId xmlns:a16="http://schemas.microsoft.com/office/drawing/2014/main" id="{BD482009-7C0D-4EB7-86BF-F623B3F73649}"/>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F112278C-C7A8-43BA-BEBA-912ADE06D14E}"/>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Two prioritised scope items looked like two systems. They were one decisioning core on two clocks — and recognising that early is the difference between an intelligence layer and two competing recommendation engines.</a:t>
            </a:r>
            <a:endParaRPr sz="1200"/>
          </a:p>
        </p:txBody>
      </p:sp>
      <p:sp>
        <p:nvSpPr>
          <p:cNvPr id="21" name="Shape 19">
            <a:extLst xmlns:a="http://schemas.openxmlformats.org/drawingml/2006/main">
              <a:ext uri="{FF2B5EF4-FFF2-40B4-BE49-F238E27FC236}">
                <a16:creationId xmlns:a16="http://schemas.microsoft.com/office/drawing/2014/main" id="{7D1A08F0-65E1-48F9-B771-2BA6EC07791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B100BFA2-4287-4233-A9B4-890B700C56B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decisioning architecture analysis</a:t>
            </a:r>
            <a:endParaRPr sz="850"/>
          </a:p>
        </p:txBody>
      </p:sp>
      <p:sp>
        <p:nvSpPr>
          <p:cNvPr id="23" name="Text 21">
            <a:extLst xmlns:a="http://schemas.openxmlformats.org/drawingml/2006/main">
              <a:ext uri="{FF2B5EF4-FFF2-40B4-BE49-F238E27FC236}">
                <a16:creationId xmlns:a16="http://schemas.microsoft.com/office/drawing/2014/main" id="{F9D0603F-3ED4-4FA2-AF31-219E7F21A0E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069332595"/>
      </p:ext>
    </p:extLst>
  </p:cSld>
</p:sld>
</file>

<file path=ppt/slides/slide14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2DEAD81-6873-46F5-BE81-BC4C8F140A35}"/>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OPERATING MODEL  ·  11 OF 30</a:t>
            </a:r>
            <a:endParaRPr sz="950"/>
          </a:p>
        </p:txBody>
      </p:sp>
      <p:sp>
        <p:nvSpPr>
          <p:cNvPr id="3" name="Text 1">
            <a:extLst xmlns:a="http://schemas.openxmlformats.org/drawingml/2006/main">
              <a:ext uri="{FF2B5EF4-FFF2-40B4-BE49-F238E27FC236}">
                <a16:creationId xmlns:a16="http://schemas.microsoft.com/office/drawing/2014/main" id="{D7F70D06-2AFC-42EE-A593-EDC9228C7CCD}"/>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Punjab National Bank</a:t>
            </a:r>
            <a:endParaRPr sz="3800"/>
          </a:p>
        </p:txBody>
      </p:sp>
      <p:sp>
        <p:nvSpPr>
          <p:cNvPr id="4" name="Text 2">
            <a:extLst xmlns:a="http://schemas.openxmlformats.org/drawingml/2006/main">
              <a:ext uri="{FF2B5EF4-FFF2-40B4-BE49-F238E27FC236}">
                <a16:creationId xmlns:a16="http://schemas.microsoft.com/office/drawing/2014/main" id="{3A5A070F-E7E3-4AA5-BDC6-C32BCECF640C}"/>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The RM's day, rebuilt — from a system of record to a system of action</a:t>
            </a:r>
            <a:endParaRPr sz="1800"/>
          </a:p>
        </p:txBody>
      </p:sp>
      <p:sp>
        <p:nvSpPr>
          <p:cNvPr id="5" name="Text 3">
            <a:extLst xmlns:a="http://schemas.openxmlformats.org/drawingml/2006/main">
              <a:ext uri="{FF2B5EF4-FFF2-40B4-BE49-F238E27FC236}">
                <a16:creationId xmlns:a16="http://schemas.microsoft.com/office/drawing/2014/main" id="{FE7AAD9D-5C67-4022-B971-1A203887B24A}"/>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relationship manager does not need more information. They need the day sequenced, the admin removed, and the next action already decided — which is an operating-model change wearing a workbench.</a:t>
            </a:r>
            <a:endParaRPr sz="1150"/>
          </a:p>
        </p:txBody>
      </p:sp>
      <p:sp>
        <p:nvSpPr>
          <p:cNvPr id="6" name="Shape 4">
            <a:extLst xmlns:a="http://schemas.openxmlformats.org/drawingml/2006/main">
              <a:ext uri="{FF2B5EF4-FFF2-40B4-BE49-F238E27FC236}">
                <a16:creationId xmlns:a16="http://schemas.microsoft.com/office/drawing/2014/main" id="{81F4A55A-6227-43AA-999D-D7AD0BEB2930}"/>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0B14030E-1FBD-4343-B27E-7622A93EC4C1}"/>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8" name="Text 6">
            <a:extLst xmlns:a="http://schemas.openxmlformats.org/drawingml/2006/main">
              <a:ext uri="{FF2B5EF4-FFF2-40B4-BE49-F238E27FC236}">
                <a16:creationId xmlns:a16="http://schemas.microsoft.com/office/drawing/2014/main" id="{6DC4C843-DD2D-49C2-9BE1-B67FA32D9EDB}"/>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constructs, one</a:t>
            </a:r>
            <a:endParaRPr sz="900"/>
          </a:p>
          <a:p xmlns:a="http://schemas.openxmlformats.org/drawingml/2006/main">
            <a:pPr marL="0" indent="0">
              <a:lnSpc>
                <a:spcPts val="1100"/>
              </a:lnSpc>
              <a:buNone/>
            </a:pPr>
            <a:r>
              <a:rPr sz="900">
                <a:solidFill>
                  <a:srgbClr val="8FA9C4"/>
                </a:solidFill>
                <a:latin typeface="Arial"/>
                <a:ea typeface="Arial"/>
                <a:cs typeface="Arial"/>
              </a:rPr>
              <a:t>workbench</a:t>
            </a:r>
            <a:endParaRPr sz="900"/>
          </a:p>
        </p:txBody>
      </p:sp>
      <p:sp>
        <p:nvSpPr>
          <p:cNvPr id="9" name="Text 7">
            <a:extLst xmlns:a="http://schemas.openxmlformats.org/drawingml/2006/main">
              <a:ext uri="{FF2B5EF4-FFF2-40B4-BE49-F238E27FC236}">
                <a16:creationId xmlns:a16="http://schemas.microsoft.com/office/drawing/2014/main" id="{5E805D7B-379F-4E61-BF06-A0BD853E1BAC}"/>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18</a:t>
            </a:r>
            <a:endParaRPr sz="2600"/>
          </a:p>
        </p:txBody>
      </p:sp>
      <p:sp>
        <p:nvSpPr>
          <p:cNvPr id="10" name="Text 8">
            <a:extLst xmlns:a="http://schemas.openxmlformats.org/drawingml/2006/main">
              <a:ext uri="{FF2B5EF4-FFF2-40B4-BE49-F238E27FC236}">
                <a16:creationId xmlns:a16="http://schemas.microsoft.com/office/drawing/2014/main" id="{2D866086-3CBD-449C-916A-0C42529EE1DF}"/>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capabilities</a:t>
            </a:r>
            <a:endParaRPr sz="900"/>
          </a:p>
          <a:p xmlns:a="http://schemas.openxmlformats.org/drawingml/2006/main">
            <a:pPr marL="0" indent="0">
              <a:lnSpc>
                <a:spcPts val="1100"/>
              </a:lnSpc>
              <a:buNone/>
            </a:pPr>
            <a:r>
              <a:rPr sz="900">
                <a:solidFill>
                  <a:srgbClr val="8FA9C4"/>
                </a:solidFill>
                <a:latin typeface="Arial"/>
                <a:ea typeface="Arial"/>
                <a:cs typeface="Arial"/>
              </a:rPr>
              <a:t>mapped</a:t>
            </a:r>
            <a:endParaRPr sz="900"/>
          </a:p>
        </p:txBody>
      </p:sp>
      <p:sp>
        <p:nvSpPr>
          <p:cNvPr id="11" name="Text 9">
            <a:extLst xmlns:a="http://schemas.openxmlformats.org/drawingml/2006/main">
              <a:ext uri="{FF2B5EF4-FFF2-40B4-BE49-F238E27FC236}">
                <a16:creationId xmlns:a16="http://schemas.microsoft.com/office/drawing/2014/main" id="{AF8DF73C-B781-4DE5-BF52-B29C900416DD}"/>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2" name="Text 10">
            <a:extLst xmlns:a="http://schemas.openxmlformats.org/drawingml/2006/main">
              <a:ext uri="{FF2B5EF4-FFF2-40B4-BE49-F238E27FC236}">
                <a16:creationId xmlns:a16="http://schemas.microsoft.com/office/drawing/2014/main" id="{466B7649-9A71-45A1-A411-C501CFEE28AB}"/>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question the day</a:t>
            </a:r>
            <a:endParaRPr sz="900"/>
          </a:p>
          <a:p xmlns:a="http://schemas.openxmlformats.org/drawingml/2006/main">
            <a:pPr marL="0" indent="0">
              <a:lnSpc>
                <a:spcPts val="1100"/>
              </a:lnSpc>
              <a:buNone/>
            </a:pPr>
            <a:r>
              <a:rPr sz="900">
                <a:solidFill>
                  <a:srgbClr val="8FA9C4"/>
                </a:solidFill>
                <a:latin typeface="Arial"/>
                <a:ea typeface="Arial"/>
                <a:cs typeface="Arial"/>
              </a:rPr>
              <a:t>plan answers</a:t>
            </a:r>
            <a:endParaRPr sz="900"/>
          </a:p>
        </p:txBody>
      </p:sp>
      <p:sp>
        <p:nvSpPr>
          <p:cNvPr id="13" name="Text 11">
            <a:extLst xmlns:a="http://schemas.openxmlformats.org/drawingml/2006/main">
              <a:ext uri="{FF2B5EF4-FFF2-40B4-BE49-F238E27FC236}">
                <a16:creationId xmlns:a16="http://schemas.microsoft.com/office/drawing/2014/main" id="{BD4C3F63-E12D-4C3F-92C2-8A46B87E47DD}"/>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4" name="Text 12">
            <a:extLst xmlns:a="http://schemas.openxmlformats.org/drawingml/2006/main">
              <a:ext uri="{FF2B5EF4-FFF2-40B4-BE49-F238E27FC236}">
                <a16:creationId xmlns:a16="http://schemas.microsoft.com/office/drawing/2014/main" id="{29E5F1D4-9640-4CF6-A8DE-913A833792EC}"/>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channels, one</a:t>
            </a:r>
            <a:endParaRPr sz="900"/>
          </a:p>
          <a:p xmlns:a="http://schemas.openxmlformats.org/drawingml/2006/main">
            <a:pPr marL="0" indent="0">
              <a:lnSpc>
                <a:spcPts val="1100"/>
              </a:lnSpc>
              <a:buNone/>
            </a:pPr>
            <a:r>
              <a:rPr sz="900">
                <a:solidFill>
                  <a:srgbClr val="8FA9C4"/>
                </a:solidFill>
                <a:latin typeface="Arial"/>
                <a:ea typeface="Arial"/>
                <a:cs typeface="Arial"/>
              </a:rPr>
              <a:t>conversation</a:t>
            </a:r>
            <a:endParaRPr sz="900"/>
          </a:p>
        </p:txBody>
      </p:sp>
      <p:sp>
        <p:nvSpPr>
          <p:cNvPr id="15" name="Text 13">
            <a:extLst xmlns:a="http://schemas.openxmlformats.org/drawingml/2006/main">
              <a:ext uri="{FF2B5EF4-FFF2-40B4-BE49-F238E27FC236}">
                <a16:creationId xmlns:a16="http://schemas.microsoft.com/office/drawing/2014/main" id="{8FE7C556-0079-4A4B-9A71-2058B3999C7C}"/>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6" name="Text 14">
            <a:extLst xmlns:a="http://schemas.openxmlformats.org/drawingml/2006/main">
              <a:ext uri="{FF2B5EF4-FFF2-40B4-BE49-F238E27FC236}">
                <a16:creationId xmlns:a16="http://schemas.microsoft.com/office/drawing/2014/main" id="{9E00B497-56F0-4C94-B613-C60923121D73}"/>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systems the RM</a:t>
            </a:r>
            <a:endParaRPr sz="900"/>
          </a:p>
          <a:p xmlns:a="http://schemas.openxmlformats.org/drawingml/2006/main">
            <a:pPr marL="0" indent="0">
              <a:lnSpc>
                <a:spcPts val="1100"/>
              </a:lnSpc>
              <a:buNone/>
            </a:pPr>
            <a:r>
              <a:rPr sz="900">
                <a:solidFill>
                  <a:srgbClr val="8FA9C4"/>
                </a:solidFill>
                <a:latin typeface="Arial"/>
                <a:ea typeface="Arial"/>
                <a:cs typeface="Arial"/>
              </a:rPr>
              <a:t>leaves</a:t>
            </a:r>
            <a:endParaRPr sz="900"/>
          </a:p>
        </p:txBody>
      </p:sp>
      <p:sp>
        <p:nvSpPr>
          <p:cNvPr id="17" name="Text 15">
            <a:extLst xmlns:a="http://schemas.openxmlformats.org/drawingml/2006/main">
              <a:ext uri="{FF2B5EF4-FFF2-40B4-BE49-F238E27FC236}">
                <a16:creationId xmlns:a16="http://schemas.microsoft.com/office/drawing/2014/main" id="{8023A5FB-E0A6-44F4-940D-09F339F051BD}"/>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8" name="Text 16">
            <a:extLst xmlns:a="http://schemas.openxmlformats.org/drawingml/2006/main">
              <a:ext uri="{FF2B5EF4-FFF2-40B4-BE49-F238E27FC236}">
                <a16:creationId xmlns:a16="http://schemas.microsoft.com/office/drawing/2014/main" id="{115EEBD1-4D6A-4910-BD01-44FA7BCED7F5}"/>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adoption test that</a:t>
            </a:r>
            <a:endParaRPr sz="900"/>
          </a:p>
          <a:p xmlns:a="http://schemas.openxmlformats.org/drawingml/2006/main">
            <a:pPr marL="0" indent="0">
              <a:lnSpc>
                <a:spcPts val="1100"/>
              </a:lnSpc>
              <a:buNone/>
            </a:pPr>
            <a:r>
              <a:rPr sz="900">
                <a:solidFill>
                  <a:srgbClr val="8FA9C4"/>
                </a:solidFill>
                <a:latin typeface="Arial"/>
                <a:ea typeface="Arial"/>
                <a:cs typeface="Arial"/>
              </a:rPr>
              <a:t>matters</a:t>
            </a:r>
            <a:endParaRPr sz="900"/>
          </a:p>
        </p:txBody>
      </p:sp>
      <p:sp>
        <p:nvSpPr>
          <p:cNvPr id="19" name="Shape 17">
            <a:extLst xmlns:a="http://schemas.openxmlformats.org/drawingml/2006/main">
              <a:ext uri="{FF2B5EF4-FFF2-40B4-BE49-F238E27FC236}">
                <a16:creationId xmlns:a16="http://schemas.microsoft.com/office/drawing/2014/main" id="{02C230DC-DE49-41F8-BCA1-8D1C5F4D9118}"/>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449030E3-2BA2-47B2-AD6B-5967581E5547}"/>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DEMONSTRATION SCOPE  ·  ALIGNED TO THE BANK'S BUSINESS VERTICALS</a:t>
            </a:r>
            <a:endParaRPr sz="800"/>
          </a:p>
        </p:txBody>
      </p:sp>
      <p:sp>
        <p:nvSpPr>
          <p:cNvPr id="21" name="Text 19">
            <a:extLst xmlns:a="http://schemas.openxmlformats.org/drawingml/2006/main">
              <a:ext uri="{FF2B5EF4-FFF2-40B4-BE49-F238E27FC236}">
                <a16:creationId xmlns:a16="http://schemas.microsoft.com/office/drawing/2014/main" id="{AFD1CA11-CC62-41E4-B468-48668A2B2B52}"/>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Relationship-manager cockpit    ·    unified engagement layer    ·    intelligence in the flow of work</a:t>
            </a:r>
            <a:endParaRPr sz="1050"/>
          </a:p>
        </p:txBody>
      </p:sp>
      <p:sp>
        <p:nvSpPr>
          <p:cNvPr id="22" name="Text 20">
            <a:extLst xmlns:a="http://schemas.openxmlformats.org/drawingml/2006/main">
              <a:ext uri="{FF2B5EF4-FFF2-40B4-BE49-F238E27FC236}">
                <a16:creationId xmlns:a16="http://schemas.microsoft.com/office/drawing/2014/main" id="{D14F4D0F-6C92-4848-8FED-519C7F58FDE0}"/>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Solution analysis authored for demonstration design and executive briefing  ·  2026</a:t>
            </a:r>
            <a:endParaRPr sz="1200"/>
          </a:p>
        </p:txBody>
      </p:sp>
      <p:sp>
        <p:nvSpPr>
          <p:cNvPr id="23" name="Text 21">
            <a:extLst xmlns:a="http://schemas.openxmlformats.org/drawingml/2006/main">
              <a:ext uri="{FF2B5EF4-FFF2-40B4-BE49-F238E27FC236}">
                <a16:creationId xmlns:a16="http://schemas.microsoft.com/office/drawing/2014/main" id="{1BB9F4AC-4F68-49AB-B565-0ED010A87A40}"/>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Capability scope is the client's; the operating-model argument, adoption analysis and measurement design are mine.</a:t>
            </a:r>
            <a:endParaRPr sz="850"/>
          </a:p>
        </p:txBody>
      </p:sp>
    </p:spTree>
    <p:extLst>
      <p:ext uri="{BB962C8B-B14F-4D97-AF65-F5344CB8AC3E}">
        <p14:creationId xmlns:p14="http://schemas.microsoft.com/office/powerpoint/2010/main" val="1227503478"/>
      </p:ext>
    </p:extLst>
  </p:cSld>
</p:sld>
</file>

<file path=ppt/slides/slide14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FC4CCC-04D4-4B39-BDD9-F56764CAACC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04049920-7DE7-4DF8-B847-A8B0AA62FAC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Relationship-manager platforms fail by adding screens — the ones that work remove</a:t>
            </a:r>
            <a:endParaRPr sz="1900"/>
          </a:p>
          <a:p xmlns:a="http://schemas.openxmlformats.org/drawingml/2006/main">
            <a:pPr marL="0" indent="0">
              <a:lnSpc>
                <a:spcPts val="2400"/>
              </a:lnSpc>
              <a:buNone/>
            </a:pPr>
            <a:r>
              <a:rPr sz="1900" b="1">
                <a:solidFill>
                  <a:srgbClr val="102A43"/>
                </a:solidFill>
                <a:latin typeface="Arial"/>
                <a:ea typeface="Arial"/>
                <a:cs typeface="Arial"/>
              </a:rPr>
              <a:t>admin, sequence the day and put the decision where the work happens</a:t>
            </a:r>
            <a:endParaRPr sz="1900"/>
          </a:p>
        </p:txBody>
      </p:sp>
      <p:sp>
        <p:nvSpPr>
          <p:cNvPr id="4" name="Shape 2">
            <a:extLst xmlns:a="http://schemas.openxmlformats.org/drawingml/2006/main">
              <a:ext uri="{FF2B5EF4-FFF2-40B4-BE49-F238E27FC236}">
                <a16:creationId xmlns:a16="http://schemas.microsoft.com/office/drawing/2014/main" id="{760322BC-FF65-450E-B321-E199CF1E5781}"/>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1D835EA5-9140-43BF-B4D6-49D7ABDD06F9}"/>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4052B3AD-A9B9-409A-9F6B-6017C738EA17}"/>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large bank with a substantial relationship-manager population already has a customer platform. It holds the data. Relationship managers can find anything in it if they know where to look.</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prioritised capabilities were a cockpit, a unified engagement layer and an intelligence layer.</a:t>
            </a:r>
            <a:endParaRPr sz="980"/>
          </a:p>
        </p:txBody>
      </p:sp>
      <p:sp>
        <p:nvSpPr>
          <p:cNvPr id="7" name="Shape 5">
            <a:extLst xmlns:a="http://schemas.openxmlformats.org/drawingml/2006/main">
              <a:ext uri="{FF2B5EF4-FFF2-40B4-BE49-F238E27FC236}">
                <a16:creationId xmlns:a16="http://schemas.microsoft.com/office/drawing/2014/main" id="{75355225-BBAB-4460-AD0C-82C7078EF2FF}"/>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6968CA24-8CFA-4DAB-837E-7DA972883CFC}"/>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AAE67C04-210C-4082-8874-47B288B2DC44}"/>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system of record answers questions. A relationship manager's problem is not unanswered questions — it is that the day is unsequenced, the admin is heavy, and the context for a conversation has to be assembled manually before every call.</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Adding capability to a system of record produces a richer system of record. Adoption stalls, because nothing about the day got easier.</a:t>
            </a:r>
            <a:endParaRPr sz="980"/>
          </a:p>
        </p:txBody>
      </p:sp>
      <p:sp>
        <p:nvSpPr>
          <p:cNvPr id="10" name="Shape 8">
            <a:extLst xmlns:a="http://schemas.openxmlformats.org/drawingml/2006/main">
              <a:ext uri="{FF2B5EF4-FFF2-40B4-BE49-F238E27FC236}">
                <a16:creationId xmlns:a16="http://schemas.microsoft.com/office/drawing/2014/main" id="{AB2DBCA3-793C-4153-ACFE-B5ED0967F4C1}"/>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E9A6DD1F-3799-4545-83A4-F52194C48FA2}"/>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reframe</a:t>
            </a:r>
            <a:endParaRPr sz="1250"/>
          </a:p>
        </p:txBody>
      </p:sp>
      <p:sp>
        <p:nvSpPr>
          <p:cNvPr id="12" name="Text 10">
            <a:extLst xmlns:a="http://schemas.openxmlformats.org/drawingml/2006/main">
              <a:ext uri="{FF2B5EF4-FFF2-40B4-BE49-F238E27FC236}">
                <a16:creationId xmlns:a16="http://schemas.microsoft.com/office/drawing/2014/main" id="{D28D06C3-774F-43C4-9484-50FB1CA6F64A}"/>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Design for the working day rather than for the data model. Three constructs: a cockpit that sequences the day and answers what should I do next; an engagement layer that makes every channel one conversation; and intelligence that arrives inside the task rather than in a separate screen.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test for every capability is whether it removes a step, not whether it adds a view.</a:t>
            </a:r>
            <a:endParaRPr sz="980"/>
          </a:p>
        </p:txBody>
      </p:sp>
      <p:sp>
        <p:nvSpPr>
          <p:cNvPr id="13" name="Text 11">
            <a:extLst xmlns:a="http://schemas.openxmlformats.org/drawingml/2006/main">
              <a:ext uri="{FF2B5EF4-FFF2-40B4-BE49-F238E27FC236}">
                <a16:creationId xmlns:a16="http://schemas.microsoft.com/office/drawing/2014/main" id="{52BAE335-8E90-422F-AE78-0E5D6A448B02}"/>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468BBFE7-10EF-461B-A5B7-0523BF391823}"/>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2CBCD416-8E3A-483B-A4A0-68637C68157F}"/>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6" name="Text 14">
            <a:extLst xmlns:a="http://schemas.openxmlformats.org/drawingml/2006/main">
              <a:ext uri="{FF2B5EF4-FFF2-40B4-BE49-F238E27FC236}">
                <a16:creationId xmlns:a16="http://schemas.microsoft.com/office/drawing/2014/main" id="{5CECBF12-FEF1-4321-8C47-88D2F4BCF64F}"/>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constructs</a:t>
            </a:r>
            <a:endParaRPr sz="860"/>
          </a:p>
        </p:txBody>
      </p:sp>
      <p:sp>
        <p:nvSpPr>
          <p:cNvPr id="17" name="Shape 15">
            <a:extLst xmlns:a="http://schemas.openxmlformats.org/drawingml/2006/main">
              <a:ext uri="{FF2B5EF4-FFF2-40B4-BE49-F238E27FC236}">
                <a16:creationId xmlns:a16="http://schemas.microsoft.com/office/drawing/2014/main" id="{C087C0B6-031B-417E-8B33-D1249A4B39E7}"/>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F97551ED-1498-4130-8FAF-7BB2C154CE9F}"/>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18</a:t>
            </a:r>
            <a:endParaRPr sz="2100"/>
          </a:p>
        </p:txBody>
      </p:sp>
      <p:sp>
        <p:nvSpPr>
          <p:cNvPr id="19" name="Text 17">
            <a:extLst xmlns:a="http://schemas.openxmlformats.org/drawingml/2006/main">
              <a:ext uri="{FF2B5EF4-FFF2-40B4-BE49-F238E27FC236}">
                <a16:creationId xmlns:a16="http://schemas.microsoft.com/office/drawing/2014/main" id="{91126BA1-320A-4857-96F9-12223F5BC7D9}"/>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capabilities mapped</a:t>
            </a:r>
            <a:endParaRPr sz="860"/>
          </a:p>
        </p:txBody>
      </p:sp>
      <p:sp>
        <p:nvSpPr>
          <p:cNvPr id="20" name="Shape 18">
            <a:extLst xmlns:a="http://schemas.openxmlformats.org/drawingml/2006/main">
              <a:ext uri="{FF2B5EF4-FFF2-40B4-BE49-F238E27FC236}">
                <a16:creationId xmlns:a16="http://schemas.microsoft.com/office/drawing/2014/main" id="{29C3E1D9-17B6-4AAC-9014-7B1080F0934D}"/>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1391F5F9-D383-4A00-BA34-E9137DB3FA58}"/>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F5A52A71-B1B9-4436-9890-7A2695B79505}"/>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test applied to each</a:t>
            </a:r>
            <a:endParaRPr sz="860"/>
          </a:p>
        </p:txBody>
      </p:sp>
      <p:sp>
        <p:nvSpPr>
          <p:cNvPr id="23" name="Shape 21">
            <a:extLst xmlns:a="http://schemas.openxmlformats.org/drawingml/2006/main">
              <a:ext uri="{FF2B5EF4-FFF2-40B4-BE49-F238E27FC236}">
                <a16:creationId xmlns:a16="http://schemas.microsoft.com/office/drawing/2014/main" id="{AC66B540-F3AD-4D37-A838-E1F5E9AA198A}"/>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E3659072-CA15-46EC-91FC-0CD7888742BA}"/>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25" name="Text 23">
            <a:extLst xmlns:a="http://schemas.openxmlformats.org/drawingml/2006/main">
              <a:ext uri="{FF2B5EF4-FFF2-40B4-BE49-F238E27FC236}">
                <a16:creationId xmlns:a16="http://schemas.microsoft.com/office/drawing/2014/main" id="{6A5460D2-7561-45CF-942B-D77186FE3868}"/>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channels, one thread</a:t>
            </a:r>
            <a:endParaRPr sz="860"/>
          </a:p>
        </p:txBody>
      </p:sp>
      <p:sp>
        <p:nvSpPr>
          <p:cNvPr id="26" name="Shape 24">
            <a:extLst xmlns:a="http://schemas.openxmlformats.org/drawingml/2006/main">
              <a:ext uri="{FF2B5EF4-FFF2-40B4-BE49-F238E27FC236}">
                <a16:creationId xmlns:a16="http://schemas.microsoft.com/office/drawing/2014/main" id="{82FDC3DD-A4C9-4F0D-B32E-85BA307F4DD3}"/>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04519930-5FD3-43A0-9FB5-D603D03C8681}"/>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28" name="Text 26">
            <a:extLst xmlns:a="http://schemas.openxmlformats.org/drawingml/2006/main">
              <a:ext uri="{FF2B5EF4-FFF2-40B4-BE49-F238E27FC236}">
                <a16:creationId xmlns:a16="http://schemas.microsoft.com/office/drawing/2014/main" id="{91EBC481-0AB8-42BE-8E06-471487EA3911}"/>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clocks feeding the plan</a:t>
            </a:r>
            <a:endParaRPr sz="860"/>
          </a:p>
        </p:txBody>
      </p:sp>
      <p:sp>
        <p:nvSpPr>
          <p:cNvPr id="29" name="Shape 27">
            <a:extLst xmlns:a="http://schemas.openxmlformats.org/drawingml/2006/main">
              <a:ext uri="{FF2B5EF4-FFF2-40B4-BE49-F238E27FC236}">
                <a16:creationId xmlns:a16="http://schemas.microsoft.com/office/drawing/2014/main" id="{CB125D9F-8AFB-40F6-8340-1B6283978BB2}"/>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AF86D32B-801D-4789-A174-2EFC7D0146D6}"/>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21891A64-6D9F-488F-A437-1D1602F8FF60}"/>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measure that predicts adoption</a:t>
            </a:r>
            <a:endParaRPr sz="860"/>
          </a:p>
        </p:txBody>
      </p:sp>
      <p:sp>
        <p:nvSpPr>
          <p:cNvPr id="32" name="Text 30">
            <a:extLst xmlns:a="http://schemas.openxmlformats.org/drawingml/2006/main">
              <a:ext uri="{FF2B5EF4-FFF2-40B4-BE49-F238E27FC236}">
                <a16:creationId xmlns:a16="http://schemas.microsoft.com/office/drawing/2014/main" id="{30BB20C3-6DB1-49E7-BF94-264D3EBB533A}"/>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judgement this argues:  relationship-manager tooling is an operating-model intervention, not a software deployment. The capability list is the easy part — the hard part is that a relationship manager will only adopt something that makes today shorter, and most features make today longer before they make it better.</a:t>
            </a:r>
            <a:endParaRPr sz="1000"/>
          </a:p>
        </p:txBody>
      </p:sp>
      <p:sp>
        <p:nvSpPr>
          <p:cNvPr id="33" name="Shape 31">
            <a:extLst xmlns:a="http://schemas.openxmlformats.org/drawingml/2006/main">
              <a:ext uri="{FF2B5EF4-FFF2-40B4-BE49-F238E27FC236}">
                <a16:creationId xmlns:a16="http://schemas.microsoft.com/office/drawing/2014/main" id="{27A67697-ABE7-400B-A1A3-A9581C119AB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0D4A90F3-C67E-40D3-AF06-364D9F19FE2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operating-model analysis</a:t>
            </a:r>
            <a:endParaRPr sz="850"/>
          </a:p>
        </p:txBody>
      </p:sp>
      <p:sp>
        <p:nvSpPr>
          <p:cNvPr id="35" name="Text 33">
            <a:extLst xmlns:a="http://schemas.openxmlformats.org/drawingml/2006/main">
              <a:ext uri="{FF2B5EF4-FFF2-40B4-BE49-F238E27FC236}">
                <a16:creationId xmlns:a16="http://schemas.microsoft.com/office/drawing/2014/main" id="{5792A6F2-E8CF-45BD-8CD7-3E212401980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517010521"/>
      </p:ext>
    </p:extLst>
  </p:cSld>
</p:sld>
</file>

<file path=ppt/slides/slide14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6AB6E0-1EE8-4F8F-A5F6-983C6E72B8A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4B09EA0F-05B8-46D4-9BCF-60A1E21F8AC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capability scope is the client's; the operating-model argument, adoption analysis</a:t>
            </a:r>
            <a:endParaRPr sz="1900"/>
          </a:p>
          <a:p xmlns:a="http://schemas.openxmlformats.org/drawingml/2006/main">
            <a:pPr marL="0" indent="0">
              <a:lnSpc>
                <a:spcPts val="2400"/>
              </a:lnSpc>
              <a:buNone/>
            </a:pPr>
            <a:r>
              <a:rPr sz="1900" b="1">
                <a:solidFill>
                  <a:srgbClr val="102A43"/>
                </a:solidFill>
                <a:latin typeface="Arial"/>
                <a:ea typeface="Arial"/>
                <a:cs typeface="Arial"/>
              </a:rPr>
              <a:t>and measurement design are mine</a:t>
            </a:r>
            <a:endParaRPr sz="1900"/>
          </a:p>
        </p:txBody>
      </p:sp>
      <p:sp>
        <p:nvSpPr>
          <p:cNvPr id="4" name="Shape 2">
            <a:extLst xmlns:a="http://schemas.openxmlformats.org/drawingml/2006/main">
              <a:ext uri="{FF2B5EF4-FFF2-40B4-BE49-F238E27FC236}">
                <a16:creationId xmlns:a16="http://schemas.microsoft.com/office/drawing/2014/main" id="{26007066-AFAF-474C-ACD7-2DBDD7E1B78F}"/>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070321BF-5A4A-4960-9DC8-BDE3C0919A26}"/>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BE6AA04C-9B2E-489E-985C-FF6E0491E490}"/>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DEMONSTRATION SCOPE</a:t>
            </a:r>
            <a:endParaRPr sz="740"/>
          </a:p>
        </p:txBody>
      </p:sp>
      <p:sp>
        <p:nvSpPr>
          <p:cNvPr id="7" name="Text 5">
            <a:extLst xmlns:a="http://schemas.openxmlformats.org/drawingml/2006/main">
              <a:ext uri="{FF2B5EF4-FFF2-40B4-BE49-F238E27FC236}">
                <a16:creationId xmlns:a16="http://schemas.microsoft.com/office/drawing/2014/main" id="{582B1F37-7C70-4071-B977-69DC1292753E}"/>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Client context</a:t>
            </a:r>
            <a:endParaRPr sz="1200"/>
          </a:p>
        </p:txBody>
      </p:sp>
      <p:sp>
        <p:nvSpPr>
          <p:cNvPr id="8" name="Text 6">
            <a:extLst xmlns:a="http://schemas.openxmlformats.org/drawingml/2006/main">
              <a:ext uri="{FF2B5EF4-FFF2-40B4-BE49-F238E27FC236}">
                <a16:creationId xmlns:a16="http://schemas.microsoft.com/office/drawing/2014/main" id="{34458020-6CC1-4C3C-AF62-BE947E7DEE92}"/>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three constructs and their capabilities as scoped by the bank and aligned to its business verticals.</a:t>
            </a:r>
            <a:endParaRPr sz="920"/>
          </a:p>
        </p:txBody>
      </p:sp>
      <p:sp>
        <p:nvSpPr>
          <p:cNvPr id="9" name="Shape 7">
            <a:extLst xmlns:a="http://schemas.openxmlformats.org/drawingml/2006/main">
              <a:ext uri="{FF2B5EF4-FFF2-40B4-BE49-F238E27FC236}">
                <a16:creationId xmlns:a16="http://schemas.microsoft.com/office/drawing/2014/main" id="{A3766448-5465-4337-86DF-EC399B377BD1}"/>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E872CFC7-B500-4230-9AF0-664A3E0E79A6}"/>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Cockpit, engagement and intelligence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Eighteen named capabilities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Existing customer platform in place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Multi-channel engagement requirement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Household and family linkage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Reporting and productivity expectation</a:t>
            </a:r>
            <a:endParaRPr sz="930"/>
          </a:p>
        </p:txBody>
      </p:sp>
      <p:sp>
        <p:nvSpPr>
          <p:cNvPr id="11" name="Shape 9">
            <a:extLst xmlns:a="http://schemas.openxmlformats.org/drawingml/2006/main">
              <a:ext uri="{FF2B5EF4-FFF2-40B4-BE49-F238E27FC236}">
                <a16:creationId xmlns:a16="http://schemas.microsoft.com/office/drawing/2014/main" id="{29EF0A92-97EC-4386-B9AB-D18F1D57940B}"/>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B82AE622-7495-4170-B538-3C32DC7DE0EF}"/>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A8FD2DBC-9751-417C-8392-E37C6B7C7CDD}"/>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SOLUTION ANALYSIS</a:t>
            </a:r>
            <a:endParaRPr sz="740"/>
          </a:p>
        </p:txBody>
      </p:sp>
      <p:sp>
        <p:nvSpPr>
          <p:cNvPr id="14" name="Text 12">
            <a:extLst xmlns:a="http://schemas.openxmlformats.org/drawingml/2006/main">
              <a:ext uri="{FF2B5EF4-FFF2-40B4-BE49-F238E27FC236}">
                <a16:creationId xmlns:a16="http://schemas.microsoft.com/office/drawing/2014/main" id="{36AE042C-8261-4843-A7B8-83A04C8E09A9}"/>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8C5E2F3A-FCC6-4B6D-99E5-364E491DB23A}"/>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operating-model reframe, the capability test, the adoption analysis and the measurement design.</a:t>
            </a:r>
            <a:endParaRPr sz="920"/>
          </a:p>
        </p:txBody>
      </p:sp>
      <p:sp>
        <p:nvSpPr>
          <p:cNvPr id="16" name="Shape 14">
            <a:extLst xmlns:a="http://schemas.openxmlformats.org/drawingml/2006/main">
              <a:ext uri="{FF2B5EF4-FFF2-40B4-BE49-F238E27FC236}">
                <a16:creationId xmlns:a16="http://schemas.microsoft.com/office/drawing/2014/main" id="{CF21A119-0153-4A03-9138-59434BA31476}"/>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88D0822B-8AA1-419B-9962-F9D27F1E8372}"/>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Day-shaped design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Removes-a-step capability test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Three-construct mapping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Adoption failure-mode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Measurement and leading indicators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Demonstration narrative design</a:t>
            </a:r>
            <a:endParaRPr sz="930"/>
          </a:p>
        </p:txBody>
      </p:sp>
      <p:sp>
        <p:nvSpPr>
          <p:cNvPr id="18" name="Shape 16">
            <a:extLst xmlns:a="http://schemas.openxmlformats.org/drawingml/2006/main">
              <a:ext uri="{FF2B5EF4-FFF2-40B4-BE49-F238E27FC236}">
                <a16:creationId xmlns:a16="http://schemas.microsoft.com/office/drawing/2014/main" id="{2223C6DE-9928-49C5-A3B0-4B9D369243AB}"/>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EFDCA241-36FE-4C2C-90F5-BD1752F391B5}"/>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339EFD72-2EDF-4298-A24C-FD00D680339D}"/>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9A909202-74AC-4AF4-A81E-5A1A819BAD4D}"/>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70D5D6AA-4DA6-4DA2-936A-5CA0D9486BE8}"/>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Time-allocation and adoption figures illustrate the argument. Directional, not measured.</a:t>
            </a:r>
            <a:endParaRPr sz="920"/>
          </a:p>
        </p:txBody>
      </p:sp>
      <p:sp>
        <p:nvSpPr>
          <p:cNvPr id="23" name="Shape 21">
            <a:extLst xmlns:a="http://schemas.openxmlformats.org/drawingml/2006/main">
              <a:ext uri="{FF2B5EF4-FFF2-40B4-BE49-F238E27FC236}">
                <a16:creationId xmlns:a16="http://schemas.microsoft.com/office/drawing/2014/main" id="{0F51799C-C4FE-4D97-93EF-AD1D58F8B494}"/>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BAA8F4E0-AC02-4CF7-8722-C10177D0BA4A}"/>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Day time-allocation split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Adoption curve by capability type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Step-removal estimates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bank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BAE00501-DF4A-4DCE-8D01-BC11262C2C76}"/>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006AD78D-AEFC-4FBB-B38C-1541BC0BC8E0}"/>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5B798D7E-54C9-4E20-9403-033E40843FD8}"/>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B6EACD73-8652-4E10-AA7D-3D32D5397588}"/>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EB52EFE3-5069-44D6-B92F-E94DBE9F719D}"/>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 pre-demonstration solution analysis, not a delivery record.</a:t>
            </a:r>
            <a:endParaRPr sz="920"/>
          </a:p>
        </p:txBody>
      </p:sp>
      <p:sp>
        <p:nvSpPr>
          <p:cNvPr id="30" name="Shape 28">
            <a:extLst xmlns:a="http://schemas.openxmlformats.org/drawingml/2006/main">
              <a:ext uri="{FF2B5EF4-FFF2-40B4-BE49-F238E27FC236}">
                <a16:creationId xmlns:a16="http://schemas.microsoft.com/office/drawing/2014/main" id="{8EB548BE-3C53-47BD-8C98-C02308BA0EE1}"/>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A7616BE2-199C-4D87-A389-4018643D9EDB}"/>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of this capability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customer or portfolio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bank's productivity figures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commercial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Whether the pursuit proceeded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Benchmark figures as commitments</a:t>
            </a:r>
            <a:endParaRPr sz="930"/>
          </a:p>
        </p:txBody>
      </p:sp>
      <p:sp>
        <p:nvSpPr>
          <p:cNvPr id="32" name="Shape 30">
            <a:extLst xmlns:a="http://schemas.openxmlformats.org/drawingml/2006/main">
              <a:ext uri="{FF2B5EF4-FFF2-40B4-BE49-F238E27FC236}">
                <a16:creationId xmlns:a16="http://schemas.microsoft.com/office/drawing/2014/main" id="{3F3A0D50-4A9F-466D-B289-021FBCDFDA4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67EB2648-16ED-4143-8AAC-377DD0A528C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demonstration scope (context) · author's operating-model analysis</a:t>
            </a:r>
            <a:endParaRPr sz="850"/>
          </a:p>
        </p:txBody>
      </p:sp>
      <p:sp>
        <p:nvSpPr>
          <p:cNvPr id="34" name="Text 32">
            <a:extLst xmlns:a="http://schemas.openxmlformats.org/drawingml/2006/main">
              <a:ext uri="{FF2B5EF4-FFF2-40B4-BE49-F238E27FC236}">
                <a16:creationId xmlns:a16="http://schemas.microsoft.com/office/drawing/2014/main" id="{8D9C28DC-33B9-49CD-BD4F-FAEECA5A25A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392807039"/>
      </p:ext>
    </p:extLst>
  </p:cSld>
</p:sld>
</file>

<file path=ppt/slides/slide14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036BB6-97A6-43B6-A66E-78D2F7B6F2D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PROBLEM</a:t>
            </a:r>
            <a:endParaRPr sz="950"/>
          </a:p>
        </p:txBody>
      </p:sp>
      <p:sp>
        <p:nvSpPr>
          <p:cNvPr id="3" name="Text 1">
            <a:extLst xmlns:a="http://schemas.openxmlformats.org/drawingml/2006/main">
              <a:ext uri="{FF2B5EF4-FFF2-40B4-BE49-F238E27FC236}">
                <a16:creationId xmlns:a16="http://schemas.microsoft.com/office/drawing/2014/main" id="{5C1B01EC-3859-482B-9521-BFAAE3633B0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constraint is not information — it is that selling time is the smallest slice of the</a:t>
            </a:r>
            <a:endParaRPr sz="1900"/>
          </a:p>
          <a:p xmlns:a="http://schemas.openxmlformats.org/drawingml/2006/main">
            <a:pPr marL="0" indent="0">
              <a:lnSpc>
                <a:spcPts val="2400"/>
              </a:lnSpc>
              <a:buNone/>
            </a:pPr>
            <a:r>
              <a:rPr sz="1900" b="1">
                <a:solidFill>
                  <a:srgbClr val="102A43"/>
                </a:solidFill>
                <a:latin typeface="Arial"/>
                <a:ea typeface="Arial"/>
                <a:cs typeface="Arial"/>
              </a:rPr>
              <a:t>day and the easiest to give away</a:t>
            </a:r>
            <a:endParaRPr sz="1900"/>
          </a:p>
        </p:txBody>
      </p:sp>
      <p:graphicFrame>
        <p:nvGraphicFramePr>
          <p:cNvPr id="18" name="Chart 0"/>
          <p:cNvGraphicFramePr/>
          <p:nvPr/>
        </p:nvGraphicFramePr>
        <p:xfrm>
          <a:off xmlns:a="http://schemas.openxmlformats.org/drawingml/2006/main" x="566928" y="1426464"/>
          <a:ext xmlns:a="http://schemas.openxmlformats.org/drawingml/2006/main" cx="5760720" cy="2651760"/>
        </p:xfrm>
        <a:graphic xmlns:a="http://schemas.openxmlformats.org/drawingml/2006/main">
          <a:graphicData uri="http://schemas.openxmlformats.org/drawingml/2006/chart">
            <c:chart xmlns:r="http://schemas.openxmlformats.org/officeDocument/2006/relationships" xmlns:c="http://schemas.openxmlformats.org/drawingml/2006/chart" r:id="R5223bf2eaad94bd9"/>
          </a:graphicData>
        </a:graphic>
      </p:graphicFrame>
      <p:sp>
        <p:nvSpPr>
          <p:cNvPr id="5" name="Text 2">
            <a:extLst xmlns:a="http://schemas.openxmlformats.org/drawingml/2006/main">
              <a:ext uri="{FF2B5EF4-FFF2-40B4-BE49-F238E27FC236}">
                <a16:creationId xmlns:a16="http://schemas.microsoft.com/office/drawing/2014/main" id="{CC335D26-3CCE-4F69-A6A8-6623E4923B76}"/>
              </a:ext>
            </a:extLst>
          </p:cNvPr>
          <p:cNvSpPr>
            <a:spLocks xmlns:a="http://schemas.openxmlformats.org/drawingml/2006/main" noGrp="1"/>
          </p:cNvSpPr>
          <p:nvPr/>
        </p:nvSpPr>
        <p:spPr>
          <a:xfrm xmlns:a="http://schemas.openxmlformats.org/drawingml/2006/main">
            <a:off x="566928" y="4242816"/>
            <a:ext cx="5760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Time allocation calibrated to published commercial-banking benchmarks: 25–30% of an RM's time in client dialogue</a:t>
            </a:r>
            <a:endParaRPr sz="880"/>
          </a:p>
        </p:txBody>
      </p:sp>
      <p:sp>
        <p:nvSpPr>
          <p:cNvPr id="6" name="Text 3">
            <a:extLst xmlns:a="http://schemas.openxmlformats.org/drawingml/2006/main">
              <a:ext uri="{FF2B5EF4-FFF2-40B4-BE49-F238E27FC236}">
                <a16:creationId xmlns:a16="http://schemas.microsoft.com/office/drawing/2014/main" id="{DCC3BB68-C207-4D97-B5F0-CDA6B41DA494}"/>
              </a:ext>
            </a:extLst>
          </p:cNvPr>
          <p:cNvSpPr>
            <a:spLocks xmlns:a="http://schemas.openxmlformats.org/drawingml/2006/main" noGrp="1"/>
          </p:cNvSpPr>
          <p:nvPr/>
        </p:nvSpPr>
        <p:spPr>
          <a:xfrm xmlns:a="http://schemas.openxmlformats.org/drawingml/2006/main">
            <a:off x="6693408" y="1426464"/>
            <a:ext cx="49286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shape implies for design</a:t>
            </a:r>
            <a:endParaRPr sz="1100"/>
          </a:p>
        </p:txBody>
      </p:sp>
      <p:sp>
        <p:nvSpPr>
          <p:cNvPr id="7" name="Shape 4">
            <a:extLst xmlns:a="http://schemas.openxmlformats.org/drawingml/2006/main">
              <a:ext uri="{FF2B5EF4-FFF2-40B4-BE49-F238E27FC236}">
                <a16:creationId xmlns:a16="http://schemas.microsoft.com/office/drawing/2014/main" id="{56E806CF-955B-493B-B92A-2C844D626749}"/>
              </a:ext>
            </a:extLst>
          </p:cNvPr>
          <p:cNvSpPr>
            <a:spLocks xmlns:a="http://schemas.openxmlformats.org/drawingml/2006/main" noGrp="1"/>
          </p:cNvSpPr>
          <p:nvPr/>
        </p:nvSpPr>
        <p:spPr>
          <a:xfrm xmlns:a="http://schemas.openxmlformats.org/drawingml/2006/main">
            <a:off x="6693408" y="1682496"/>
            <a:ext cx="492861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3181CE5F-8183-4621-9F8B-4A84A00E2D4B}"/>
              </a:ext>
            </a:extLst>
          </p:cNvPr>
          <p:cNvSpPr>
            <a:spLocks xmlns:a="http://schemas.openxmlformats.org/drawingml/2006/main" noGrp="1"/>
          </p:cNvSpPr>
          <p:nvPr/>
        </p:nvSpPr>
        <p:spPr>
          <a:xfrm xmlns:a="http://schemas.openxmlformats.org/drawingml/2006/main">
            <a:off x="6693408" y="1828800"/>
            <a:ext cx="4928616"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Published benchmarks put commercial-banking RMs at 25–30% of time in client dialogue. Everything else is preparation, recording or coordination.</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Context assembly before a call is the least visible cost and the most automatable — it is the same lookups every time.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Admin and logging is the largest slice, and the one relationship managers resent most, because it produces nothing they value.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capability that adds a screen competes for the twenty-four per cent. A capability that removes a step gives some of the rest back.</a:t>
            </a:r>
            <a:endParaRPr sz="950"/>
          </a:p>
        </p:txBody>
      </p:sp>
      <p:sp>
        <p:nvSpPr>
          <p:cNvPr id="9" name="Shape 6">
            <a:extLst xmlns:a="http://schemas.openxmlformats.org/drawingml/2006/main">
              <a:ext uri="{FF2B5EF4-FFF2-40B4-BE49-F238E27FC236}">
                <a16:creationId xmlns:a16="http://schemas.microsoft.com/office/drawing/2014/main" id="{2404451F-F7DD-4B77-9A32-2C6302778E20}"/>
              </a:ext>
            </a:extLst>
          </p:cNvPr>
          <p:cNvSpPr>
            <a:spLocks xmlns:a="http://schemas.openxmlformats.org/drawingml/2006/main" noGrp="1"/>
          </p:cNvSpPr>
          <p:nvPr/>
        </p:nvSpPr>
        <p:spPr>
          <a:xfrm xmlns:a="http://schemas.openxmlformats.org/drawingml/2006/main">
            <a:off x="566928" y="4535424"/>
            <a:ext cx="11057839" cy="1536192"/>
          </a:xfrm>
          <a:prstGeom xmlns:a="http://schemas.openxmlformats.org/drawingml/2006/main" prst="rect">
            <a:avLst/>
          </a:prstGeom>
          <a:solidFill xmlns:a="http://schemas.openxmlformats.org/drawingml/2006/main">
            <a:srgbClr val="F3E6E0"/>
          </a:solidFill>
        </p:spPr>
      </p:sp>
      <p:sp>
        <p:nvSpPr>
          <p:cNvPr id="10" name="Text 7">
            <a:extLst xmlns:a="http://schemas.openxmlformats.org/drawingml/2006/main">
              <a:ext uri="{FF2B5EF4-FFF2-40B4-BE49-F238E27FC236}">
                <a16:creationId xmlns:a16="http://schemas.microsoft.com/office/drawing/2014/main" id="{6ED6A118-EE13-4BEC-AED8-E3D077CED114}"/>
              </a:ext>
            </a:extLst>
          </p:cNvPr>
          <p:cNvSpPr>
            <a:spLocks xmlns:a="http://schemas.openxmlformats.org/drawingml/2006/main" noGrp="1"/>
          </p:cNvSpPr>
          <p:nvPr/>
        </p:nvSpPr>
        <p:spPr>
          <a:xfrm xmlns:a="http://schemas.openxmlformats.org/drawingml/2006/main">
            <a:off x="804672" y="468172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test applied to every capability in scope</a:t>
            </a:r>
            <a:endParaRPr sz="1100"/>
          </a:p>
        </p:txBody>
      </p:sp>
      <p:sp>
        <p:nvSpPr>
          <p:cNvPr id="11" name="Text 8">
            <a:extLst xmlns:a="http://schemas.openxmlformats.org/drawingml/2006/main">
              <a:ext uri="{FF2B5EF4-FFF2-40B4-BE49-F238E27FC236}">
                <a16:creationId xmlns:a16="http://schemas.microsoft.com/office/drawing/2014/main" id="{112414CE-90F4-4432-8CEA-04C068F063B7}"/>
              </a:ext>
            </a:extLst>
          </p:cNvPr>
          <p:cNvSpPr>
            <a:spLocks xmlns:a="http://schemas.openxmlformats.org/drawingml/2006/main" noGrp="1"/>
          </p:cNvSpPr>
          <p:nvPr/>
        </p:nvSpPr>
        <p:spPr>
          <a:xfrm xmlns:a="http://schemas.openxmlformats.org/drawingml/2006/main">
            <a:off x="804672" y="4937760"/>
            <a:ext cx="10582351"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Does this remove a step from the day, or does it add a view to the platform?</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Removing a step: a call-preparation brief generated before the meeting, a disposition captured once and reused everywhere, a summary written automatically after a conversation. The relationship manager does less and the record improves.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Adding a view: another dashboard, another report, another place to look. Each is individually useful and collectively they are why relationship managers keep their own spreadsheets. Both kinds of capability appear in every requirement list, and separating them is the single most useful thing to do before designing a demonstration.</a:t>
            </a:r>
            <a:endParaRPr sz="990"/>
          </a:p>
        </p:txBody>
      </p:sp>
      <p:sp>
        <p:nvSpPr>
          <p:cNvPr id="12" name="Shape 9">
            <a:extLst xmlns:a="http://schemas.openxmlformats.org/drawingml/2006/main">
              <a:ext uri="{FF2B5EF4-FFF2-40B4-BE49-F238E27FC236}">
                <a16:creationId xmlns:a16="http://schemas.microsoft.com/office/drawing/2014/main" id="{EABEADA1-9A5E-43B3-A69D-947DA4E5712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3" name="Text 10">
            <a:extLst xmlns:a="http://schemas.openxmlformats.org/drawingml/2006/main">
              <a:ext uri="{FF2B5EF4-FFF2-40B4-BE49-F238E27FC236}">
                <a16:creationId xmlns:a16="http://schemas.microsoft.com/office/drawing/2014/main" id="{8539AC65-B537-4573-9427-1B88A3E9829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model, calibrated to published commercial-banking RM time-allocation benchmarks (25–30% client-facing; up to 60% administrative)</a:t>
            </a:r>
            <a:endParaRPr sz="850"/>
          </a:p>
        </p:txBody>
      </p:sp>
      <p:sp>
        <p:nvSpPr>
          <p:cNvPr id="14" name="Text 11">
            <a:extLst xmlns:a="http://schemas.openxmlformats.org/drawingml/2006/main">
              <a:ext uri="{FF2B5EF4-FFF2-40B4-BE49-F238E27FC236}">
                <a16:creationId xmlns:a16="http://schemas.microsoft.com/office/drawing/2014/main" id="{DBF4708A-B21F-40B5-96E8-01A568064CB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925933436"/>
      </p:ext>
    </p:extLst>
  </p:cSld>
</p:sld>
</file>

<file path=ppt/slides/slide14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D7FD03B-5355-472A-BCE1-9D202475F4C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THREE CONSTRUCTS</a:t>
            </a:r>
            <a:endParaRPr sz="950"/>
          </a:p>
        </p:txBody>
      </p:sp>
      <p:sp>
        <p:nvSpPr>
          <p:cNvPr id="3" name="Text 1">
            <a:extLst xmlns:a="http://schemas.openxmlformats.org/drawingml/2006/main">
              <a:ext uri="{FF2B5EF4-FFF2-40B4-BE49-F238E27FC236}">
                <a16:creationId xmlns:a16="http://schemas.microsoft.com/office/drawing/2014/main" id="{29C32657-522E-4D40-A6C2-82C7A8F4BFC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cockpit that sequences, an engagement layer that unifies, and intelligence that</a:t>
            </a:r>
            <a:endParaRPr sz="1900"/>
          </a:p>
          <a:p xmlns:a="http://schemas.openxmlformats.org/drawingml/2006/main">
            <a:pPr marL="0" indent="0">
              <a:lnSpc>
                <a:spcPts val="2400"/>
              </a:lnSpc>
              <a:buNone/>
            </a:pPr>
            <a:r>
              <a:rPr sz="1900" b="1">
                <a:solidFill>
                  <a:srgbClr val="102A43"/>
                </a:solidFill>
                <a:latin typeface="Arial"/>
                <a:ea typeface="Arial"/>
                <a:cs typeface="Arial"/>
              </a:rPr>
              <a:t>arrives inside the task — each answers a different part of the day</a:t>
            </a:r>
            <a:endParaRPr sz="1900"/>
          </a:p>
        </p:txBody>
      </p:sp>
      <p:sp>
        <p:nvSpPr>
          <p:cNvPr id="4" name="Shape 2">
            <a:extLst xmlns:a="http://schemas.openxmlformats.org/drawingml/2006/main">
              <a:ext uri="{FF2B5EF4-FFF2-40B4-BE49-F238E27FC236}">
                <a16:creationId xmlns:a16="http://schemas.microsoft.com/office/drawing/2014/main" id="{7DBC8041-E0FA-4FBE-BABB-73AED2140C7C}"/>
              </a:ext>
            </a:extLst>
          </p:cNvPr>
          <p:cNvSpPr>
            <a:spLocks xmlns:a="http://schemas.openxmlformats.org/drawingml/2006/main" noGrp="1"/>
          </p:cNvSpPr>
          <p:nvPr/>
        </p:nvSpPr>
        <p:spPr>
          <a:xfrm xmlns:a="http://schemas.openxmlformats.org/drawingml/2006/main">
            <a:off x="566928" y="1335024"/>
            <a:ext cx="3551834" cy="329184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2887C36E-93D4-477C-9E96-35AB3AC392AC}"/>
              </a:ext>
            </a:extLst>
          </p:cNvPr>
          <p:cNvSpPr>
            <a:spLocks xmlns:a="http://schemas.openxmlformats.org/drawingml/2006/main" noGrp="1"/>
          </p:cNvSpPr>
          <p:nvPr/>
        </p:nvSpPr>
        <p:spPr>
          <a:xfrm xmlns:a="http://schemas.openxmlformats.org/drawingml/2006/main">
            <a:off x="786384"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102A43"/>
                </a:solidFill>
                <a:latin typeface="Arial"/>
                <a:ea typeface="Arial"/>
                <a:cs typeface="Arial"/>
              </a:rPr>
              <a:t>Relationship cockpit</a:t>
            </a:r>
            <a:endParaRPr sz="1350"/>
          </a:p>
        </p:txBody>
      </p:sp>
      <p:sp>
        <p:nvSpPr>
          <p:cNvPr id="6" name="Text 4">
            <a:extLst xmlns:a="http://schemas.openxmlformats.org/drawingml/2006/main">
              <a:ext uri="{FF2B5EF4-FFF2-40B4-BE49-F238E27FC236}">
                <a16:creationId xmlns:a16="http://schemas.microsoft.com/office/drawing/2014/main" id="{17E24539-201C-46C7-BA7D-44BEC4A30334}"/>
              </a:ext>
            </a:extLst>
          </p:cNvPr>
          <p:cNvSpPr>
            <a:spLocks xmlns:a="http://schemas.openxmlformats.org/drawingml/2006/main" noGrp="1"/>
          </p:cNvSpPr>
          <p:nvPr/>
        </p:nvSpPr>
        <p:spPr>
          <a:xfrm xmlns:a="http://schemas.openxmlformats.org/drawingml/2006/main">
            <a:off x="786384" y="1828800"/>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60" b="1" i="1">
                <a:solidFill>
                  <a:srgbClr val="B04A25"/>
                </a:solidFill>
                <a:latin typeface="Arial"/>
                <a:ea typeface="Arial"/>
                <a:cs typeface="Arial"/>
              </a:rPr>
              <a:t>What should I do next?</a:t>
            </a:r>
            <a:endParaRPr sz="1060"/>
          </a:p>
        </p:txBody>
      </p:sp>
      <p:sp>
        <p:nvSpPr>
          <p:cNvPr id="7" name="Shape 5">
            <a:extLst xmlns:a="http://schemas.openxmlformats.org/drawingml/2006/main">
              <a:ext uri="{FF2B5EF4-FFF2-40B4-BE49-F238E27FC236}">
                <a16:creationId xmlns:a16="http://schemas.microsoft.com/office/drawing/2014/main" id="{2C7716F5-957C-415E-B77A-E3C2AD819E68}"/>
              </a:ext>
            </a:extLst>
          </p:cNvPr>
          <p:cNvSpPr>
            <a:spLocks xmlns:a="http://schemas.openxmlformats.org/drawingml/2006/main" noGrp="1"/>
          </p:cNvSpPr>
          <p:nvPr/>
        </p:nvSpPr>
        <p:spPr>
          <a:xfrm xmlns:a="http://schemas.openxmlformats.org/drawingml/2006/main">
            <a:off x="786384" y="2139696"/>
            <a:ext cx="3112922"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427DC2F9-267C-4CB7-9BE0-D3DC08043BBA}"/>
              </a:ext>
            </a:extLst>
          </p:cNvPr>
          <p:cNvSpPr>
            <a:spLocks xmlns:a="http://schemas.openxmlformats.org/drawingml/2006/main" noGrp="1"/>
          </p:cNvSpPr>
          <p:nvPr/>
        </p:nvSpPr>
        <p:spPr>
          <a:xfrm xmlns:a="http://schemas.openxmlformats.org/drawingml/2006/main">
            <a:off x="786384" y="2267712"/>
            <a:ext cx="3112922"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One-glance day plan across portfolio, tasks and alerts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Prioritised engagements — maturities, renewals, service commitments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Click-to-call and one-touch actions on the plan itself</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Live performance against branch and portfolio targets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Daily productivity and pipeline reporting generated, not compiled</a:t>
            </a:r>
            <a:endParaRPr sz="940"/>
          </a:p>
        </p:txBody>
      </p:sp>
      <p:sp>
        <p:nvSpPr>
          <p:cNvPr id="9" name="Shape 7">
            <a:extLst xmlns:a="http://schemas.openxmlformats.org/drawingml/2006/main">
              <a:ext uri="{FF2B5EF4-FFF2-40B4-BE49-F238E27FC236}">
                <a16:creationId xmlns:a16="http://schemas.microsoft.com/office/drawing/2014/main" id="{169602F9-3196-4C2C-A83A-9953A6D32268}"/>
              </a:ext>
            </a:extLst>
          </p:cNvPr>
          <p:cNvSpPr>
            <a:spLocks xmlns:a="http://schemas.openxmlformats.org/drawingml/2006/main" noGrp="1"/>
          </p:cNvSpPr>
          <p:nvPr/>
        </p:nvSpPr>
        <p:spPr>
          <a:xfrm xmlns:a="http://schemas.openxmlformats.org/drawingml/2006/main">
            <a:off x="4319930" y="1335024"/>
            <a:ext cx="3551834" cy="3291840"/>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081641E9-8770-4637-BD25-E89EFA4AF512}"/>
              </a:ext>
            </a:extLst>
          </p:cNvPr>
          <p:cNvSpPr>
            <a:spLocks xmlns:a="http://schemas.openxmlformats.org/drawingml/2006/main" noGrp="1"/>
          </p:cNvSpPr>
          <p:nvPr/>
        </p:nvSpPr>
        <p:spPr>
          <a:xfrm xmlns:a="http://schemas.openxmlformats.org/drawingml/2006/main">
            <a:off x="4539386"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102A43"/>
                </a:solidFill>
                <a:latin typeface="Arial"/>
                <a:ea typeface="Arial"/>
                <a:cs typeface="Arial"/>
              </a:rPr>
              <a:t>Unified engagement layer</a:t>
            </a:r>
            <a:endParaRPr sz="1350"/>
          </a:p>
        </p:txBody>
      </p:sp>
      <p:sp>
        <p:nvSpPr>
          <p:cNvPr id="11" name="Text 9">
            <a:extLst xmlns:a="http://schemas.openxmlformats.org/drawingml/2006/main">
              <a:ext uri="{FF2B5EF4-FFF2-40B4-BE49-F238E27FC236}">
                <a16:creationId xmlns:a16="http://schemas.microsoft.com/office/drawing/2014/main" id="{E7337E2C-CA79-4FC9-A7D6-48492DEA5470}"/>
              </a:ext>
            </a:extLst>
          </p:cNvPr>
          <p:cNvSpPr>
            <a:spLocks xmlns:a="http://schemas.openxmlformats.org/drawingml/2006/main" noGrp="1"/>
          </p:cNvSpPr>
          <p:nvPr/>
        </p:nvSpPr>
        <p:spPr>
          <a:xfrm xmlns:a="http://schemas.openxmlformats.org/drawingml/2006/main">
            <a:off x="4539386" y="1828800"/>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60" b="1" i="1">
                <a:solidFill>
                  <a:srgbClr val="B04A25"/>
                </a:solidFill>
                <a:latin typeface="Arial"/>
                <a:ea typeface="Arial"/>
                <a:cs typeface="Arial"/>
              </a:rPr>
              <a:t>What has this customer already been told?</a:t>
            </a:r>
            <a:endParaRPr sz="1060"/>
          </a:p>
        </p:txBody>
      </p:sp>
      <p:sp>
        <p:nvSpPr>
          <p:cNvPr id="12" name="Shape 10">
            <a:extLst xmlns:a="http://schemas.openxmlformats.org/drawingml/2006/main">
              <a:ext uri="{FF2B5EF4-FFF2-40B4-BE49-F238E27FC236}">
                <a16:creationId xmlns:a16="http://schemas.microsoft.com/office/drawing/2014/main" id="{FBB63352-FC3C-44A1-973E-7074509CA1A4}"/>
              </a:ext>
            </a:extLst>
          </p:cNvPr>
          <p:cNvSpPr>
            <a:spLocks xmlns:a="http://schemas.openxmlformats.org/drawingml/2006/main" noGrp="1"/>
          </p:cNvSpPr>
          <p:nvPr/>
        </p:nvSpPr>
        <p:spPr>
          <a:xfrm xmlns:a="http://schemas.openxmlformats.org/drawingml/2006/main">
            <a:off x="4539386" y="2139696"/>
            <a:ext cx="3112922"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9AA51334-C0C8-4BCE-8B6F-2DFC32E2490F}"/>
              </a:ext>
            </a:extLst>
          </p:cNvPr>
          <p:cNvSpPr>
            <a:spLocks xmlns:a="http://schemas.openxmlformats.org/drawingml/2006/main" noGrp="1"/>
          </p:cNvSpPr>
          <p:nvPr/>
        </p:nvSpPr>
        <p:spPr>
          <a:xfrm xmlns:a="http://schemas.openxmlformats.org/drawingml/2006/main">
            <a:off x="4539386" y="2267712"/>
            <a:ext cx="3112922"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One conversation history across branch, phone, email and messaging</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Customer view with household and family linkage</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Live messaging for real-time service in the same thread</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Structured dispositions capturing every interaction once</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Interaction summaries generated automatically after contact</a:t>
            </a:r>
            <a:endParaRPr sz="940"/>
          </a:p>
        </p:txBody>
      </p:sp>
      <p:sp>
        <p:nvSpPr>
          <p:cNvPr id="14" name="Shape 12">
            <a:extLst xmlns:a="http://schemas.openxmlformats.org/drawingml/2006/main">
              <a:ext uri="{FF2B5EF4-FFF2-40B4-BE49-F238E27FC236}">
                <a16:creationId xmlns:a16="http://schemas.microsoft.com/office/drawing/2014/main" id="{AFB18D30-1502-457D-99E8-EAF38E95C441}"/>
              </a:ext>
            </a:extLst>
          </p:cNvPr>
          <p:cNvSpPr>
            <a:spLocks xmlns:a="http://schemas.openxmlformats.org/drawingml/2006/main" noGrp="1"/>
          </p:cNvSpPr>
          <p:nvPr/>
        </p:nvSpPr>
        <p:spPr>
          <a:xfrm xmlns:a="http://schemas.openxmlformats.org/drawingml/2006/main">
            <a:off x="8072933" y="1335024"/>
            <a:ext cx="3551834" cy="3291840"/>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9716B37C-37EA-4A95-B4B6-D0C0C9B512F0}"/>
              </a:ext>
            </a:extLst>
          </p:cNvPr>
          <p:cNvSpPr>
            <a:spLocks xmlns:a="http://schemas.openxmlformats.org/drawingml/2006/main" noGrp="1"/>
          </p:cNvSpPr>
          <p:nvPr/>
        </p:nvSpPr>
        <p:spPr>
          <a:xfrm xmlns:a="http://schemas.openxmlformats.org/drawingml/2006/main">
            <a:off x="8292389"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102A43"/>
                </a:solidFill>
                <a:latin typeface="Arial"/>
                <a:ea typeface="Arial"/>
                <a:cs typeface="Arial"/>
              </a:rPr>
              <a:t>Intelligence in the flow</a:t>
            </a:r>
            <a:endParaRPr sz="1350"/>
          </a:p>
        </p:txBody>
      </p:sp>
      <p:sp>
        <p:nvSpPr>
          <p:cNvPr id="16" name="Text 14">
            <a:extLst xmlns:a="http://schemas.openxmlformats.org/drawingml/2006/main">
              <a:ext uri="{FF2B5EF4-FFF2-40B4-BE49-F238E27FC236}">
                <a16:creationId xmlns:a16="http://schemas.microsoft.com/office/drawing/2014/main" id="{9EA9C7D9-1AB1-4A05-BC23-B5EC07A419B5}"/>
              </a:ext>
            </a:extLst>
          </p:cNvPr>
          <p:cNvSpPr>
            <a:spLocks xmlns:a="http://schemas.openxmlformats.org/drawingml/2006/main" noGrp="1"/>
          </p:cNvSpPr>
          <p:nvPr/>
        </p:nvSpPr>
        <p:spPr>
          <a:xfrm xmlns:a="http://schemas.openxmlformats.org/drawingml/2006/main">
            <a:off x="8292389" y="1828800"/>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60" b="1" i="1">
                <a:solidFill>
                  <a:srgbClr val="486581"/>
                </a:solidFill>
                <a:latin typeface="Arial"/>
                <a:ea typeface="Arial"/>
                <a:cs typeface="Arial"/>
              </a:rPr>
              <a:t>What is the right thing to say?</a:t>
            </a:r>
            <a:endParaRPr sz="1060"/>
          </a:p>
        </p:txBody>
      </p:sp>
      <p:sp>
        <p:nvSpPr>
          <p:cNvPr id="17" name="Shape 15">
            <a:extLst xmlns:a="http://schemas.openxmlformats.org/drawingml/2006/main">
              <a:ext uri="{FF2B5EF4-FFF2-40B4-BE49-F238E27FC236}">
                <a16:creationId xmlns:a16="http://schemas.microsoft.com/office/drawing/2014/main" id="{432A1FDF-782D-44EC-BCD4-7404589F41BA}"/>
              </a:ext>
            </a:extLst>
          </p:cNvPr>
          <p:cNvSpPr>
            <a:spLocks xmlns:a="http://schemas.openxmlformats.org/drawingml/2006/main" noGrp="1"/>
          </p:cNvSpPr>
          <p:nvPr/>
        </p:nvSpPr>
        <p:spPr>
          <a:xfrm xmlns:a="http://schemas.openxmlformats.org/drawingml/2006/main">
            <a:off x="8292389" y="2139696"/>
            <a:ext cx="3112922"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6E074220-06EC-4842-BB94-958017A73A28}"/>
              </a:ext>
            </a:extLst>
          </p:cNvPr>
          <p:cNvSpPr>
            <a:spLocks xmlns:a="http://schemas.openxmlformats.org/drawingml/2006/main" noGrp="1"/>
          </p:cNvSpPr>
          <p:nvPr/>
        </p:nvSpPr>
        <p:spPr>
          <a:xfrm xmlns:a="http://schemas.openxmlformats.org/drawingml/2006/main">
            <a:off x="8292389" y="2267712"/>
            <a:ext cx="3112922" cy="22311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Next-best-action ranked by value, arriving in the task not a report</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Predictive scoring for lead quality and attrition risk</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Call-preparation briefs assembled before every conversation</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Pre-qualified, eligibility-checked offers rather than product lists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Guided playbooks and compliant scripts at the point of contact</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An assistant for policy-accurate answers during a call</a:t>
            </a:r>
            <a:endParaRPr sz="940"/>
          </a:p>
        </p:txBody>
      </p:sp>
      <p:sp>
        <p:nvSpPr>
          <p:cNvPr id="19" name="Shape 17">
            <a:extLst xmlns:a="http://schemas.openxmlformats.org/drawingml/2006/main">
              <a:ext uri="{FF2B5EF4-FFF2-40B4-BE49-F238E27FC236}">
                <a16:creationId xmlns:a16="http://schemas.microsoft.com/office/drawing/2014/main" id="{5418D104-AA0E-44EC-909D-4F6FFCFD4D59}"/>
              </a:ext>
            </a:extLst>
          </p:cNvPr>
          <p:cNvSpPr>
            <a:spLocks xmlns:a="http://schemas.openxmlformats.org/drawingml/2006/main" noGrp="1"/>
          </p:cNvSpPr>
          <p:nvPr/>
        </p:nvSpPr>
        <p:spPr>
          <a:xfrm xmlns:a="http://schemas.openxmlformats.org/drawingml/2006/main">
            <a:off x="566928" y="4882896"/>
            <a:ext cx="11057839" cy="1188720"/>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AA7E4857-37BD-4652-A85C-04D8144C0B45}"/>
              </a:ext>
            </a:extLst>
          </p:cNvPr>
          <p:cNvSpPr>
            <a:spLocks xmlns:a="http://schemas.openxmlformats.org/drawingml/2006/main" noGrp="1"/>
          </p:cNvSpPr>
          <p:nvPr/>
        </p:nvSpPr>
        <p:spPr>
          <a:xfrm xmlns:a="http://schemas.openxmlformats.org/drawingml/2006/main">
            <a:off x="804672" y="502920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third construct only works because of the first two</a:t>
            </a:r>
            <a:endParaRPr sz="1100"/>
          </a:p>
        </p:txBody>
      </p:sp>
      <p:sp>
        <p:nvSpPr>
          <p:cNvPr id="21" name="Text 19">
            <a:extLst xmlns:a="http://schemas.openxmlformats.org/drawingml/2006/main">
              <a:ext uri="{FF2B5EF4-FFF2-40B4-BE49-F238E27FC236}">
                <a16:creationId xmlns:a16="http://schemas.microsoft.com/office/drawing/2014/main" id="{E6AEAA96-BCBE-4BE4-808E-E49B68F6F024}"/>
              </a:ext>
            </a:extLst>
          </p:cNvPr>
          <p:cNvSpPr>
            <a:spLocks xmlns:a="http://schemas.openxmlformats.org/drawingml/2006/main" noGrp="1"/>
          </p:cNvSpPr>
          <p:nvPr/>
        </p:nvSpPr>
        <p:spPr>
          <a:xfrm xmlns:a="http://schemas.openxmlformats.org/drawingml/2006/main">
            <a:off x="804672" y="5285232"/>
            <a:ext cx="10582351"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Intelligence delivered into an unsequenced day is another notification. A next-best-action that arrives without the day being prioritised competes with everything else the relationship manager is already behind on, and loses.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Sequencing has to come first, engagement history second, and only then does a recommendation have somewhere to land. That ordering is the difference between an intelligence layer that changes behaviour and one that adds to the noise — and it is why the three were scoped as one programme rather than three.</a:t>
            </a:r>
            <a:endParaRPr sz="990"/>
          </a:p>
        </p:txBody>
      </p:sp>
      <p:sp>
        <p:nvSpPr>
          <p:cNvPr id="22" name="Shape 20">
            <a:extLst xmlns:a="http://schemas.openxmlformats.org/drawingml/2006/main">
              <a:ext uri="{FF2B5EF4-FFF2-40B4-BE49-F238E27FC236}">
                <a16:creationId xmlns:a16="http://schemas.microsoft.com/office/drawing/2014/main" id="{E618F1C8-48F0-4F63-998D-B4F6F27008E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3" name="Text 21">
            <a:extLst xmlns:a="http://schemas.openxmlformats.org/drawingml/2006/main">
              <a:ext uri="{FF2B5EF4-FFF2-40B4-BE49-F238E27FC236}">
                <a16:creationId xmlns:a16="http://schemas.microsoft.com/office/drawing/2014/main" id="{31ADC7A5-5515-4EA6-835F-1C4BE3E4C37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Client demonstration scope, aligned to business verticals · author's analysis</a:t>
            </a:r>
            <a:endParaRPr sz="850"/>
          </a:p>
        </p:txBody>
      </p:sp>
      <p:sp>
        <p:nvSpPr>
          <p:cNvPr id="24" name="Text 22">
            <a:extLst xmlns:a="http://schemas.openxmlformats.org/drawingml/2006/main">
              <a:ext uri="{FF2B5EF4-FFF2-40B4-BE49-F238E27FC236}">
                <a16:creationId xmlns:a16="http://schemas.microsoft.com/office/drawing/2014/main" id="{A20C3DB2-0D1F-4990-BB8A-483F0F8260F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342937056"/>
      </p:ext>
    </p:extLst>
  </p:cSld>
</p:sld>
</file>

<file path=ppt/slides/slide14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D732252-757F-479B-B600-1D9A1C4EE3F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ADOPTION</a:t>
            </a:r>
            <a:endParaRPr sz="950"/>
          </a:p>
        </p:txBody>
      </p:sp>
      <p:sp>
        <p:nvSpPr>
          <p:cNvPr id="3" name="Text 1">
            <a:extLst xmlns:a="http://schemas.openxmlformats.org/drawingml/2006/main">
              <a:ext uri="{FF2B5EF4-FFF2-40B4-BE49-F238E27FC236}">
                <a16:creationId xmlns:a16="http://schemas.microsoft.com/office/drawing/2014/main" id="{294C18A4-BAEE-42EF-9458-219534614A0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Relationship managers judge a platform in the first week — and most capabilities</a:t>
            </a:r>
            <a:endParaRPr sz="1900"/>
          </a:p>
          <a:p xmlns:a="http://schemas.openxmlformats.org/drawingml/2006/main">
            <a:pPr marL="0" indent="0">
              <a:lnSpc>
                <a:spcPts val="2400"/>
              </a:lnSpc>
              <a:buNone/>
            </a:pPr>
            <a:r>
              <a:rPr sz="1900" b="1">
                <a:solidFill>
                  <a:srgbClr val="102A43"/>
                </a:solidFill>
                <a:latin typeface="Arial"/>
                <a:ea typeface="Arial"/>
                <a:cs typeface="Arial"/>
              </a:rPr>
              <a:t>make the day longer before they make it better</a:t>
            </a:r>
            <a:endParaRPr sz="1900"/>
          </a:p>
        </p:txBody>
      </p:sp>
      <p:sp>
        <p:nvSpPr>
          <p:cNvPr id="4" name="Shape 2">
            <a:extLst xmlns:a="http://schemas.openxmlformats.org/drawingml/2006/main">
              <a:ext uri="{FF2B5EF4-FFF2-40B4-BE49-F238E27FC236}">
                <a16:creationId xmlns:a16="http://schemas.microsoft.com/office/drawing/2014/main" id="{AB47C459-A576-4FD6-9DF0-96B3C5CF0039}"/>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C79671FA-7EED-4244-ADDD-6F7B5377538F}"/>
              </a:ext>
            </a:extLst>
          </p:cNvPr>
          <p:cNvSpPr>
            <a:spLocks xmlns:a="http://schemas.openxmlformats.org/drawingml/2006/main" noGrp="1"/>
          </p:cNvSpPr>
          <p:nvPr/>
        </p:nvSpPr>
        <p:spPr>
          <a:xfrm xmlns:a="http://schemas.openxmlformats.org/drawingml/2006/main">
            <a:off x="676656" y="1444752"/>
            <a:ext cx="37124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Capability</a:t>
            </a:r>
            <a:endParaRPr sz="920"/>
          </a:p>
        </p:txBody>
      </p:sp>
      <p:sp>
        <p:nvSpPr>
          <p:cNvPr id="6" name="Text 4">
            <a:extLst xmlns:a="http://schemas.openxmlformats.org/drawingml/2006/main">
              <a:ext uri="{FF2B5EF4-FFF2-40B4-BE49-F238E27FC236}">
                <a16:creationId xmlns:a16="http://schemas.microsoft.com/office/drawing/2014/main" id="{E72CDAAB-F4BC-4C93-A4D0-17FF18E603E0}"/>
              </a:ext>
            </a:extLst>
          </p:cNvPr>
          <p:cNvSpPr>
            <a:spLocks xmlns:a="http://schemas.openxmlformats.org/drawingml/2006/main" noGrp="1"/>
          </p:cNvSpPr>
          <p:nvPr/>
        </p:nvSpPr>
        <p:spPr>
          <a:xfrm xmlns:a="http://schemas.openxmlformats.org/drawingml/2006/main">
            <a:off x="4700016" y="1444752"/>
            <a:ext cx="3346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Effect in week one</a:t>
            </a:r>
            <a:endParaRPr sz="920"/>
          </a:p>
        </p:txBody>
      </p:sp>
      <p:sp>
        <p:nvSpPr>
          <p:cNvPr id="7" name="Text 5">
            <a:extLst xmlns:a="http://schemas.openxmlformats.org/drawingml/2006/main">
              <a:ext uri="{FF2B5EF4-FFF2-40B4-BE49-F238E27FC236}">
                <a16:creationId xmlns:a16="http://schemas.microsoft.com/office/drawing/2014/main" id="{718F0FC5-EF56-4B08-997C-69BCE0B54A0F}"/>
              </a:ext>
            </a:extLst>
          </p:cNvPr>
          <p:cNvSpPr>
            <a:spLocks xmlns:a="http://schemas.openxmlformats.org/drawingml/2006/main" noGrp="1"/>
          </p:cNvSpPr>
          <p:nvPr/>
        </p:nvSpPr>
        <p:spPr>
          <a:xfrm xmlns:a="http://schemas.openxmlformats.org/drawingml/2006/main">
            <a:off x="8357616" y="1444752"/>
            <a:ext cx="3154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Adoption outcome</a:t>
            </a:r>
            <a:endParaRPr sz="920"/>
          </a:p>
        </p:txBody>
      </p:sp>
      <p:sp>
        <p:nvSpPr>
          <p:cNvPr id="8" name="Text 6">
            <a:extLst xmlns:a="http://schemas.openxmlformats.org/drawingml/2006/main">
              <a:ext uri="{FF2B5EF4-FFF2-40B4-BE49-F238E27FC236}">
                <a16:creationId xmlns:a16="http://schemas.microsoft.com/office/drawing/2014/main" id="{1E350220-488B-4360-9A9D-4C4F026C975B}"/>
              </a:ext>
            </a:extLst>
          </p:cNvPr>
          <p:cNvSpPr>
            <a:spLocks xmlns:a="http://schemas.openxmlformats.org/drawingml/2006/main" noGrp="1"/>
          </p:cNvSpPr>
          <p:nvPr/>
        </p:nvSpPr>
        <p:spPr>
          <a:xfrm xmlns:a="http://schemas.openxmlformats.org/drawingml/2006/main">
            <a:off x="676656" y="178308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Auto-generated call-preparation brief</a:t>
            </a:r>
            <a:endParaRPr sz="970"/>
          </a:p>
        </p:txBody>
      </p:sp>
      <p:sp>
        <p:nvSpPr>
          <p:cNvPr id="9" name="Text 7">
            <a:extLst xmlns:a="http://schemas.openxmlformats.org/drawingml/2006/main">
              <a:ext uri="{FF2B5EF4-FFF2-40B4-BE49-F238E27FC236}">
                <a16:creationId xmlns:a16="http://schemas.microsoft.com/office/drawing/2014/main" id="{5EB24F49-A051-4003-B7A1-9E271496CB71}"/>
              </a:ext>
            </a:extLst>
          </p:cNvPr>
          <p:cNvSpPr>
            <a:spLocks xmlns:a="http://schemas.openxmlformats.org/drawingml/2006/main" noGrp="1"/>
          </p:cNvSpPr>
          <p:nvPr/>
        </p:nvSpPr>
        <p:spPr>
          <a:xfrm xmlns:a="http://schemas.openxmlformats.org/drawingml/2006/main">
            <a:off x="4700016" y="178308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Saves the lookups they were already doing manually</a:t>
            </a:r>
            <a:endParaRPr sz="930"/>
          </a:p>
        </p:txBody>
      </p:sp>
      <p:sp>
        <p:nvSpPr>
          <p:cNvPr id="10" name="Text 8">
            <a:extLst xmlns:a="http://schemas.openxmlformats.org/drawingml/2006/main">
              <a:ext uri="{FF2B5EF4-FFF2-40B4-BE49-F238E27FC236}">
                <a16:creationId xmlns:a16="http://schemas.microsoft.com/office/drawing/2014/main" id="{7DD8FF8D-38DD-4748-9041-35A82697C7B3}"/>
              </a:ext>
            </a:extLst>
          </p:cNvPr>
          <p:cNvSpPr>
            <a:spLocks xmlns:a="http://schemas.openxmlformats.org/drawingml/2006/main" noGrp="1"/>
          </p:cNvSpPr>
          <p:nvPr/>
        </p:nvSpPr>
        <p:spPr>
          <a:xfrm xmlns:a="http://schemas.openxmlformats.org/drawingml/2006/main">
            <a:off x="8357616" y="1783080"/>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Immediate — used from day one</a:t>
            </a:r>
            <a:endParaRPr sz="930"/>
          </a:p>
        </p:txBody>
      </p:sp>
      <p:sp>
        <p:nvSpPr>
          <p:cNvPr id="11" name="Shape 9">
            <a:extLst xmlns:a="http://schemas.openxmlformats.org/drawingml/2006/main">
              <a:ext uri="{FF2B5EF4-FFF2-40B4-BE49-F238E27FC236}">
                <a16:creationId xmlns:a16="http://schemas.microsoft.com/office/drawing/2014/main" id="{8121B45F-CE0C-4C75-9842-A9F72DDF2162}"/>
              </a:ext>
            </a:extLst>
          </p:cNvPr>
          <p:cNvSpPr>
            <a:spLocks xmlns:a="http://schemas.openxmlformats.org/drawingml/2006/main" noGrp="1"/>
          </p:cNvSpPr>
          <p:nvPr/>
        </p:nvSpPr>
        <p:spPr>
          <a:xfrm xmlns:a="http://schemas.openxmlformats.org/drawingml/2006/main">
            <a:off x="566928" y="2139696"/>
            <a:ext cx="11057839" cy="7315"/>
          </a:xfrm>
          <a:prstGeom xmlns:a="http://schemas.openxmlformats.org/drawingml/2006/main" prst="rect">
            <a:avLst/>
          </a:prstGeom>
          <a:solidFill xmlns:a="http://schemas.openxmlformats.org/drawingml/2006/main">
            <a:srgbClr val="CBD5E0"/>
          </a:solidFill>
        </p:spPr>
      </p:sp>
      <p:sp>
        <p:nvSpPr>
          <p:cNvPr id="12" name="Shape 10">
            <a:extLst xmlns:a="http://schemas.openxmlformats.org/drawingml/2006/main">
              <a:ext uri="{FF2B5EF4-FFF2-40B4-BE49-F238E27FC236}">
                <a16:creationId xmlns:a16="http://schemas.microsoft.com/office/drawing/2014/main" id="{4C637ADE-A897-4741-8A9A-8A2E2AB28308}"/>
              </a:ext>
            </a:extLst>
          </p:cNvPr>
          <p:cNvSpPr>
            <a:spLocks xmlns:a="http://schemas.openxmlformats.org/drawingml/2006/main" noGrp="1"/>
          </p:cNvSpPr>
          <p:nvPr/>
        </p:nvSpPr>
        <p:spPr>
          <a:xfrm xmlns:a="http://schemas.openxmlformats.org/drawingml/2006/main">
            <a:off x="566928" y="2139696"/>
            <a:ext cx="11057839" cy="438912"/>
          </a:xfrm>
          <a:prstGeom xmlns:a="http://schemas.openxmlformats.org/drawingml/2006/main" prst="rect">
            <a:avLst/>
          </a:prstGeom>
          <a:solidFill xmlns:a="http://schemas.openxmlformats.org/drawingml/2006/main">
            <a:srgbClr val="F7F9FB"/>
          </a:solidFill>
        </p:spPr>
      </p:sp>
      <p:sp>
        <p:nvSpPr>
          <p:cNvPr id="13" name="Text 11">
            <a:extLst xmlns:a="http://schemas.openxmlformats.org/drawingml/2006/main">
              <a:ext uri="{FF2B5EF4-FFF2-40B4-BE49-F238E27FC236}">
                <a16:creationId xmlns:a16="http://schemas.microsoft.com/office/drawing/2014/main" id="{DF390985-A02B-44BD-BC1A-D21BF0662033}"/>
              </a:ext>
            </a:extLst>
          </p:cNvPr>
          <p:cNvSpPr>
            <a:spLocks xmlns:a="http://schemas.openxmlformats.org/drawingml/2006/main" noGrp="1"/>
          </p:cNvSpPr>
          <p:nvPr/>
        </p:nvSpPr>
        <p:spPr>
          <a:xfrm xmlns:a="http://schemas.openxmlformats.org/drawingml/2006/main">
            <a:off x="676656" y="2221992"/>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Automatic interaction summary</a:t>
            </a:r>
            <a:endParaRPr sz="970"/>
          </a:p>
        </p:txBody>
      </p:sp>
      <p:sp>
        <p:nvSpPr>
          <p:cNvPr id="14" name="Text 12">
            <a:extLst xmlns:a="http://schemas.openxmlformats.org/drawingml/2006/main">
              <a:ext uri="{FF2B5EF4-FFF2-40B4-BE49-F238E27FC236}">
                <a16:creationId xmlns:a16="http://schemas.microsoft.com/office/drawing/2014/main" id="{BBE15B33-40B4-4A6B-B818-7E919C5D8BFA}"/>
              </a:ext>
            </a:extLst>
          </p:cNvPr>
          <p:cNvSpPr>
            <a:spLocks xmlns:a="http://schemas.openxmlformats.org/drawingml/2006/main" noGrp="1"/>
          </p:cNvSpPr>
          <p:nvPr/>
        </p:nvSpPr>
        <p:spPr>
          <a:xfrm xmlns:a="http://schemas.openxmlformats.org/drawingml/2006/main">
            <a:off x="4700016" y="222199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Removes the write-up they most resent</a:t>
            </a:r>
            <a:endParaRPr sz="930"/>
          </a:p>
        </p:txBody>
      </p:sp>
      <p:sp>
        <p:nvSpPr>
          <p:cNvPr id="15" name="Text 13">
            <a:extLst xmlns:a="http://schemas.openxmlformats.org/drawingml/2006/main">
              <a:ext uri="{FF2B5EF4-FFF2-40B4-BE49-F238E27FC236}">
                <a16:creationId xmlns:a16="http://schemas.microsoft.com/office/drawing/2014/main" id="{C9418AFA-001F-4700-B4D2-1DFEE6104BCC}"/>
              </a:ext>
            </a:extLst>
          </p:cNvPr>
          <p:cNvSpPr>
            <a:spLocks xmlns:a="http://schemas.openxmlformats.org/drawingml/2006/main" noGrp="1"/>
          </p:cNvSpPr>
          <p:nvPr/>
        </p:nvSpPr>
        <p:spPr>
          <a:xfrm xmlns:a="http://schemas.openxmlformats.org/drawingml/2006/main">
            <a:off x="8357616" y="2221992"/>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Immediate — strongest single driver</a:t>
            </a:r>
            <a:endParaRPr sz="930"/>
          </a:p>
        </p:txBody>
      </p:sp>
      <p:sp>
        <p:nvSpPr>
          <p:cNvPr id="16" name="Shape 14">
            <a:extLst xmlns:a="http://schemas.openxmlformats.org/drawingml/2006/main">
              <a:ext uri="{FF2B5EF4-FFF2-40B4-BE49-F238E27FC236}">
                <a16:creationId xmlns:a16="http://schemas.microsoft.com/office/drawing/2014/main" id="{6724F5E0-6E08-4095-9E3D-E22F07C8619B}"/>
              </a:ext>
            </a:extLst>
          </p:cNvPr>
          <p:cNvSpPr>
            <a:spLocks xmlns:a="http://schemas.openxmlformats.org/drawingml/2006/main" noGrp="1"/>
          </p:cNvSpPr>
          <p:nvPr/>
        </p:nvSpPr>
        <p:spPr>
          <a:xfrm xmlns:a="http://schemas.openxmlformats.org/drawingml/2006/main">
            <a:off x="566928" y="2578608"/>
            <a:ext cx="11057839" cy="7315"/>
          </a:xfrm>
          <a:prstGeom xmlns:a="http://schemas.openxmlformats.org/drawingml/2006/main" prst="rect">
            <a:avLst/>
          </a:prstGeom>
          <a:solidFill xmlns:a="http://schemas.openxmlformats.org/drawingml/2006/main">
            <a:srgbClr val="CBD5E0"/>
          </a:solidFill>
        </p:spPr>
      </p:sp>
      <p:sp>
        <p:nvSpPr>
          <p:cNvPr id="17" name="Text 15">
            <a:extLst xmlns:a="http://schemas.openxmlformats.org/drawingml/2006/main">
              <a:ext uri="{FF2B5EF4-FFF2-40B4-BE49-F238E27FC236}">
                <a16:creationId xmlns:a16="http://schemas.microsoft.com/office/drawing/2014/main" id="{29090877-C15F-425B-A440-CFDDDC3B33DB}"/>
              </a:ext>
            </a:extLst>
          </p:cNvPr>
          <p:cNvSpPr>
            <a:spLocks xmlns:a="http://schemas.openxmlformats.org/drawingml/2006/main" noGrp="1"/>
          </p:cNvSpPr>
          <p:nvPr/>
        </p:nvSpPr>
        <p:spPr>
          <a:xfrm xmlns:a="http://schemas.openxmlformats.org/drawingml/2006/main">
            <a:off x="676656" y="266090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Click-to-call from the plan</a:t>
            </a:r>
            <a:endParaRPr sz="970"/>
          </a:p>
        </p:txBody>
      </p:sp>
      <p:sp>
        <p:nvSpPr>
          <p:cNvPr id="18" name="Text 16">
            <a:extLst xmlns:a="http://schemas.openxmlformats.org/drawingml/2006/main">
              <a:ext uri="{FF2B5EF4-FFF2-40B4-BE49-F238E27FC236}">
                <a16:creationId xmlns:a16="http://schemas.microsoft.com/office/drawing/2014/main" id="{1F9ED859-CDDC-4EAE-BC0B-8C4C4B7186A1}"/>
              </a:ext>
            </a:extLst>
          </p:cNvPr>
          <p:cNvSpPr>
            <a:spLocks xmlns:a="http://schemas.openxmlformats.org/drawingml/2006/main" noGrp="1"/>
          </p:cNvSpPr>
          <p:nvPr/>
        </p:nvSpPr>
        <p:spPr>
          <a:xfrm xmlns:a="http://schemas.openxmlformats.org/drawingml/2006/main">
            <a:off x="4700016" y="266090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Removes a copy, a paste and a dial</a:t>
            </a:r>
            <a:endParaRPr sz="930"/>
          </a:p>
        </p:txBody>
      </p:sp>
      <p:sp>
        <p:nvSpPr>
          <p:cNvPr id="19" name="Text 17">
            <a:extLst xmlns:a="http://schemas.openxmlformats.org/drawingml/2006/main">
              <a:ext uri="{FF2B5EF4-FFF2-40B4-BE49-F238E27FC236}">
                <a16:creationId xmlns:a16="http://schemas.microsoft.com/office/drawing/2014/main" id="{C913F6AA-AC47-435A-8EC2-86F5B2268DFF}"/>
              </a:ext>
            </a:extLst>
          </p:cNvPr>
          <p:cNvSpPr>
            <a:spLocks xmlns:a="http://schemas.openxmlformats.org/drawingml/2006/main" noGrp="1"/>
          </p:cNvSpPr>
          <p:nvPr/>
        </p:nvSpPr>
        <p:spPr>
          <a:xfrm xmlns:a="http://schemas.openxmlformats.org/drawingml/2006/main">
            <a:off x="8357616" y="2660904"/>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Immediate — small and constant</a:t>
            </a:r>
            <a:endParaRPr sz="930"/>
          </a:p>
        </p:txBody>
      </p:sp>
      <p:sp>
        <p:nvSpPr>
          <p:cNvPr id="20" name="Shape 18">
            <a:extLst xmlns:a="http://schemas.openxmlformats.org/drawingml/2006/main">
              <a:ext uri="{FF2B5EF4-FFF2-40B4-BE49-F238E27FC236}">
                <a16:creationId xmlns:a16="http://schemas.microsoft.com/office/drawing/2014/main" id="{22607A51-40D1-440B-9C2B-291BDC41EC0D}"/>
              </a:ext>
            </a:extLst>
          </p:cNvPr>
          <p:cNvSpPr>
            <a:spLocks xmlns:a="http://schemas.openxmlformats.org/drawingml/2006/main" noGrp="1"/>
          </p:cNvSpPr>
          <p:nvPr/>
        </p:nvSpPr>
        <p:spPr>
          <a:xfrm xmlns:a="http://schemas.openxmlformats.org/drawingml/2006/main">
            <a:off x="566928" y="3017520"/>
            <a:ext cx="11057839" cy="7315"/>
          </a:xfrm>
          <a:prstGeom xmlns:a="http://schemas.openxmlformats.org/drawingml/2006/main" prst="rect">
            <a:avLst/>
          </a:prstGeom>
          <a:solidFill xmlns:a="http://schemas.openxmlformats.org/drawingml/2006/main">
            <a:srgbClr val="CBD5E0"/>
          </a:solidFill>
        </p:spPr>
      </p:sp>
      <p:sp>
        <p:nvSpPr>
          <p:cNvPr id="21" name="Shape 19">
            <a:extLst xmlns:a="http://schemas.openxmlformats.org/drawingml/2006/main">
              <a:ext uri="{FF2B5EF4-FFF2-40B4-BE49-F238E27FC236}">
                <a16:creationId xmlns:a16="http://schemas.microsoft.com/office/drawing/2014/main" id="{23B2518A-A4FD-4E1B-84AD-B417AE0206A0}"/>
              </a:ext>
            </a:extLst>
          </p:cNvPr>
          <p:cNvSpPr>
            <a:spLocks xmlns:a="http://schemas.openxmlformats.org/drawingml/2006/main" noGrp="1"/>
          </p:cNvSpPr>
          <p:nvPr/>
        </p:nvSpPr>
        <p:spPr>
          <a:xfrm xmlns:a="http://schemas.openxmlformats.org/drawingml/2006/main">
            <a:off x="566928" y="3017520"/>
            <a:ext cx="11057839" cy="438912"/>
          </a:xfrm>
          <a:prstGeom xmlns:a="http://schemas.openxmlformats.org/drawingml/2006/main" prst="rect">
            <a:avLst/>
          </a:prstGeom>
          <a:solidFill xmlns:a="http://schemas.openxmlformats.org/drawingml/2006/main">
            <a:srgbClr val="F7F9FB"/>
          </a:solidFill>
        </p:spPr>
      </p:sp>
      <p:sp>
        <p:nvSpPr>
          <p:cNvPr id="22" name="Text 20">
            <a:extLst xmlns:a="http://schemas.openxmlformats.org/drawingml/2006/main">
              <a:ext uri="{FF2B5EF4-FFF2-40B4-BE49-F238E27FC236}">
                <a16:creationId xmlns:a16="http://schemas.microsoft.com/office/drawing/2014/main" id="{F875FA20-2793-4E13-9E90-30471B8B9903}"/>
              </a:ext>
            </a:extLst>
          </p:cNvPr>
          <p:cNvSpPr>
            <a:spLocks xmlns:a="http://schemas.openxmlformats.org/drawingml/2006/main" noGrp="1"/>
          </p:cNvSpPr>
          <p:nvPr/>
        </p:nvSpPr>
        <p:spPr>
          <a:xfrm xmlns:a="http://schemas.openxmlformats.org/drawingml/2006/main">
            <a:off x="676656" y="309981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Prioritised day plan</a:t>
            </a:r>
            <a:endParaRPr sz="970"/>
          </a:p>
        </p:txBody>
      </p:sp>
      <p:sp>
        <p:nvSpPr>
          <p:cNvPr id="23" name="Text 21">
            <a:extLst xmlns:a="http://schemas.openxmlformats.org/drawingml/2006/main">
              <a:ext uri="{FF2B5EF4-FFF2-40B4-BE49-F238E27FC236}">
                <a16:creationId xmlns:a16="http://schemas.microsoft.com/office/drawing/2014/main" id="{819FCB1B-8058-444E-8D8E-B887E87B986C}"/>
              </a:ext>
            </a:extLst>
          </p:cNvPr>
          <p:cNvSpPr>
            <a:spLocks xmlns:a="http://schemas.openxmlformats.org/drawingml/2006/main" noGrp="1"/>
          </p:cNvSpPr>
          <p:nvPr/>
        </p:nvSpPr>
        <p:spPr>
          <a:xfrm xmlns:a="http://schemas.openxmlformats.org/drawingml/2006/main">
            <a:off x="4700016" y="309981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Replaces their own list, which they trust more at first</a:t>
            </a:r>
            <a:endParaRPr sz="930"/>
          </a:p>
        </p:txBody>
      </p:sp>
      <p:sp>
        <p:nvSpPr>
          <p:cNvPr id="24" name="Text 22">
            <a:extLst xmlns:a="http://schemas.openxmlformats.org/drawingml/2006/main">
              <a:ext uri="{FF2B5EF4-FFF2-40B4-BE49-F238E27FC236}">
                <a16:creationId xmlns:a16="http://schemas.microsoft.com/office/drawing/2014/main" id="{A302E3EA-E67A-4AD3-8B37-8BD1F984D921}"/>
              </a:ext>
            </a:extLst>
          </p:cNvPr>
          <p:cNvSpPr>
            <a:spLocks xmlns:a="http://schemas.openxmlformats.org/drawingml/2006/main" noGrp="1"/>
          </p:cNvSpPr>
          <p:nvPr/>
        </p:nvSpPr>
        <p:spPr>
          <a:xfrm xmlns:a="http://schemas.openxmlformats.org/drawingml/2006/main">
            <a:off x="8357616" y="3099816"/>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Slow — needs a week of being right</a:t>
            </a:r>
            <a:endParaRPr sz="930"/>
          </a:p>
        </p:txBody>
      </p:sp>
      <p:sp>
        <p:nvSpPr>
          <p:cNvPr id="25" name="Shape 23">
            <a:extLst xmlns:a="http://schemas.openxmlformats.org/drawingml/2006/main">
              <a:ext uri="{FF2B5EF4-FFF2-40B4-BE49-F238E27FC236}">
                <a16:creationId xmlns:a16="http://schemas.microsoft.com/office/drawing/2014/main" id="{93ADD2FB-4326-4077-9345-4E8283B618DB}"/>
              </a:ext>
            </a:extLst>
          </p:cNvPr>
          <p:cNvSpPr>
            <a:spLocks xmlns:a="http://schemas.openxmlformats.org/drawingml/2006/main" noGrp="1"/>
          </p:cNvSpPr>
          <p:nvPr/>
        </p:nvSpPr>
        <p:spPr>
          <a:xfrm xmlns:a="http://schemas.openxmlformats.org/drawingml/2006/main">
            <a:off x="566928" y="3456432"/>
            <a:ext cx="11057839" cy="7315"/>
          </a:xfrm>
          <a:prstGeom xmlns:a="http://schemas.openxmlformats.org/drawingml/2006/main" prst="rect">
            <a:avLst/>
          </a:prstGeom>
          <a:solidFill xmlns:a="http://schemas.openxmlformats.org/drawingml/2006/main">
            <a:srgbClr val="CBD5E0"/>
          </a:solidFill>
        </p:spPr>
      </p:sp>
      <p:sp>
        <p:nvSpPr>
          <p:cNvPr id="26" name="Text 24">
            <a:extLst xmlns:a="http://schemas.openxmlformats.org/drawingml/2006/main">
              <a:ext uri="{FF2B5EF4-FFF2-40B4-BE49-F238E27FC236}">
                <a16:creationId xmlns:a16="http://schemas.microsoft.com/office/drawing/2014/main" id="{DE71376D-681F-4C65-8302-8F1AEEBC20CB}"/>
              </a:ext>
            </a:extLst>
          </p:cNvPr>
          <p:cNvSpPr>
            <a:spLocks xmlns:a="http://schemas.openxmlformats.org/drawingml/2006/main" noGrp="1"/>
          </p:cNvSpPr>
          <p:nvPr/>
        </p:nvSpPr>
        <p:spPr>
          <a:xfrm xmlns:a="http://schemas.openxmlformats.org/drawingml/2006/main">
            <a:off x="676656" y="3538728"/>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Next-best-action recommendations</a:t>
            </a:r>
            <a:endParaRPr sz="970"/>
          </a:p>
        </p:txBody>
      </p:sp>
      <p:sp>
        <p:nvSpPr>
          <p:cNvPr id="27" name="Text 25">
            <a:extLst xmlns:a="http://schemas.openxmlformats.org/drawingml/2006/main">
              <a:ext uri="{FF2B5EF4-FFF2-40B4-BE49-F238E27FC236}">
                <a16:creationId xmlns:a16="http://schemas.microsoft.com/office/drawing/2014/main" id="{96B7CE5F-0911-4094-A37E-054E73B1E9D0}"/>
              </a:ext>
            </a:extLst>
          </p:cNvPr>
          <p:cNvSpPr>
            <a:spLocks xmlns:a="http://schemas.openxmlformats.org/drawingml/2006/main" noGrp="1"/>
          </p:cNvSpPr>
          <p:nvPr/>
        </p:nvSpPr>
        <p:spPr>
          <a:xfrm xmlns:a="http://schemas.openxmlformats.org/drawingml/2006/main">
            <a:off x="4700016" y="353872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Adds a decision to evaluate, until it is trusted</a:t>
            </a:r>
            <a:endParaRPr sz="930"/>
          </a:p>
        </p:txBody>
      </p:sp>
      <p:sp>
        <p:nvSpPr>
          <p:cNvPr id="28" name="Text 26">
            <a:extLst xmlns:a="http://schemas.openxmlformats.org/drawingml/2006/main">
              <a:ext uri="{FF2B5EF4-FFF2-40B4-BE49-F238E27FC236}">
                <a16:creationId xmlns:a16="http://schemas.microsoft.com/office/drawing/2014/main" id="{B2C66123-65DA-473C-9C46-3CA1B9C2B98C}"/>
              </a:ext>
            </a:extLst>
          </p:cNvPr>
          <p:cNvSpPr>
            <a:spLocks xmlns:a="http://schemas.openxmlformats.org/drawingml/2006/main" noGrp="1"/>
          </p:cNvSpPr>
          <p:nvPr/>
        </p:nvSpPr>
        <p:spPr>
          <a:xfrm xmlns:a="http://schemas.openxmlformats.org/drawingml/2006/main">
            <a:off x="8357616" y="3538728"/>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Slow — earns trust or is ignored</a:t>
            </a:r>
            <a:endParaRPr sz="930"/>
          </a:p>
        </p:txBody>
      </p:sp>
      <p:sp>
        <p:nvSpPr>
          <p:cNvPr id="29" name="Shape 27">
            <a:extLst xmlns:a="http://schemas.openxmlformats.org/drawingml/2006/main">
              <a:ext uri="{FF2B5EF4-FFF2-40B4-BE49-F238E27FC236}">
                <a16:creationId xmlns:a16="http://schemas.microsoft.com/office/drawing/2014/main" id="{AF15A3F1-5DAA-4BF9-A53B-F4E58A0BD162}"/>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30" name="Shape 28">
            <a:extLst xmlns:a="http://schemas.openxmlformats.org/drawingml/2006/main">
              <a:ext uri="{FF2B5EF4-FFF2-40B4-BE49-F238E27FC236}">
                <a16:creationId xmlns:a16="http://schemas.microsoft.com/office/drawing/2014/main" id="{EAFF46E6-7A67-4B8C-9E46-9951D7A08344}"/>
              </a:ext>
            </a:extLst>
          </p:cNvPr>
          <p:cNvSpPr>
            <a:spLocks xmlns:a="http://schemas.openxmlformats.org/drawingml/2006/main" noGrp="1"/>
          </p:cNvSpPr>
          <p:nvPr/>
        </p:nvSpPr>
        <p:spPr>
          <a:xfrm xmlns:a="http://schemas.openxmlformats.org/drawingml/2006/main">
            <a:off x="566928" y="3895344"/>
            <a:ext cx="11057839" cy="438912"/>
          </a:xfrm>
          <a:prstGeom xmlns:a="http://schemas.openxmlformats.org/drawingml/2006/main" prst="rect">
            <a:avLst/>
          </a:prstGeom>
          <a:solidFill xmlns:a="http://schemas.openxmlformats.org/drawingml/2006/main">
            <a:srgbClr val="F7F9FB"/>
          </a:solidFill>
        </p:spPr>
      </p:sp>
      <p:sp>
        <p:nvSpPr>
          <p:cNvPr id="31" name="Text 29">
            <a:extLst xmlns:a="http://schemas.openxmlformats.org/drawingml/2006/main">
              <a:ext uri="{FF2B5EF4-FFF2-40B4-BE49-F238E27FC236}">
                <a16:creationId xmlns:a16="http://schemas.microsoft.com/office/drawing/2014/main" id="{954524D7-B7D5-43B5-BE47-6A5B2E67C5E3}"/>
              </a:ext>
            </a:extLst>
          </p:cNvPr>
          <p:cNvSpPr>
            <a:spLocks xmlns:a="http://schemas.openxmlformats.org/drawingml/2006/main" noGrp="1"/>
          </p:cNvSpPr>
          <p:nvPr/>
        </p:nvSpPr>
        <p:spPr>
          <a:xfrm xmlns:a="http://schemas.openxmlformats.org/drawingml/2006/main">
            <a:off x="676656" y="397764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Structured dispositions</a:t>
            </a:r>
            <a:endParaRPr sz="970"/>
          </a:p>
        </p:txBody>
      </p:sp>
      <p:sp>
        <p:nvSpPr>
          <p:cNvPr id="32" name="Text 30">
            <a:extLst xmlns:a="http://schemas.openxmlformats.org/drawingml/2006/main">
              <a:ext uri="{FF2B5EF4-FFF2-40B4-BE49-F238E27FC236}">
                <a16:creationId xmlns:a16="http://schemas.microsoft.com/office/drawing/2014/main" id="{7C466B0B-0560-4A7B-8700-62E53518B32B}"/>
              </a:ext>
            </a:extLst>
          </p:cNvPr>
          <p:cNvSpPr>
            <a:spLocks xmlns:a="http://schemas.openxmlformats.org/drawingml/2006/main" noGrp="1"/>
          </p:cNvSpPr>
          <p:nvPr/>
        </p:nvSpPr>
        <p:spPr>
          <a:xfrm xmlns:a="http://schemas.openxmlformats.org/drawingml/2006/main">
            <a:off x="4700016" y="397764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Adds a field to complete on every interaction</a:t>
            </a:r>
            <a:endParaRPr sz="930"/>
          </a:p>
        </p:txBody>
      </p:sp>
      <p:sp>
        <p:nvSpPr>
          <p:cNvPr id="33" name="Text 31">
            <a:extLst xmlns:a="http://schemas.openxmlformats.org/drawingml/2006/main">
              <a:ext uri="{FF2B5EF4-FFF2-40B4-BE49-F238E27FC236}">
                <a16:creationId xmlns:a16="http://schemas.microsoft.com/office/drawing/2014/main" id="{94775A42-653E-4ADC-B95B-71A91124F23E}"/>
              </a:ext>
            </a:extLst>
          </p:cNvPr>
          <p:cNvSpPr>
            <a:spLocks xmlns:a="http://schemas.openxmlformats.org/drawingml/2006/main" noGrp="1"/>
          </p:cNvSpPr>
          <p:nvPr/>
        </p:nvSpPr>
        <p:spPr>
          <a:xfrm xmlns:a="http://schemas.openxmlformats.org/drawingml/2006/main">
            <a:off x="8357616" y="3977640"/>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Resisted — unless it removes reporting later</a:t>
            </a:r>
            <a:endParaRPr sz="930"/>
          </a:p>
        </p:txBody>
      </p:sp>
      <p:sp>
        <p:nvSpPr>
          <p:cNvPr id="34" name="Shape 32">
            <a:extLst xmlns:a="http://schemas.openxmlformats.org/drawingml/2006/main">
              <a:ext uri="{FF2B5EF4-FFF2-40B4-BE49-F238E27FC236}">
                <a16:creationId xmlns:a16="http://schemas.microsoft.com/office/drawing/2014/main" id="{8D89BE29-2DF3-4426-97EF-DE6C4B30DD07}"/>
              </a:ext>
            </a:extLst>
          </p:cNvPr>
          <p:cNvSpPr>
            <a:spLocks xmlns:a="http://schemas.openxmlformats.org/drawingml/2006/main" noGrp="1"/>
          </p:cNvSpPr>
          <p:nvPr/>
        </p:nvSpPr>
        <p:spPr>
          <a:xfrm xmlns:a="http://schemas.openxmlformats.org/drawingml/2006/main">
            <a:off x="566928" y="4334256"/>
            <a:ext cx="11057839" cy="7315"/>
          </a:xfrm>
          <a:prstGeom xmlns:a="http://schemas.openxmlformats.org/drawingml/2006/main" prst="rect">
            <a:avLst/>
          </a:prstGeom>
          <a:solidFill xmlns:a="http://schemas.openxmlformats.org/drawingml/2006/main">
            <a:srgbClr val="CBD5E0"/>
          </a:solidFill>
        </p:spPr>
      </p:sp>
      <p:sp>
        <p:nvSpPr>
          <p:cNvPr id="35" name="Text 33">
            <a:extLst xmlns:a="http://schemas.openxmlformats.org/drawingml/2006/main">
              <a:ext uri="{FF2B5EF4-FFF2-40B4-BE49-F238E27FC236}">
                <a16:creationId xmlns:a16="http://schemas.microsoft.com/office/drawing/2014/main" id="{0F796BE3-42A2-47A9-B2F5-1490E6DBEDF6}"/>
              </a:ext>
            </a:extLst>
          </p:cNvPr>
          <p:cNvSpPr>
            <a:spLocks xmlns:a="http://schemas.openxmlformats.org/drawingml/2006/main" noGrp="1"/>
          </p:cNvSpPr>
          <p:nvPr/>
        </p:nvSpPr>
        <p:spPr>
          <a:xfrm xmlns:a="http://schemas.openxmlformats.org/drawingml/2006/main">
            <a:off x="566928"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Sequence the rollout by week-one effect</a:t>
            </a:r>
            <a:endParaRPr sz="1100"/>
          </a:p>
        </p:txBody>
      </p:sp>
      <p:sp>
        <p:nvSpPr>
          <p:cNvPr id="36" name="Shape 34">
            <a:extLst xmlns:a="http://schemas.openxmlformats.org/drawingml/2006/main">
              <a:ext uri="{FF2B5EF4-FFF2-40B4-BE49-F238E27FC236}">
                <a16:creationId xmlns:a16="http://schemas.microsoft.com/office/drawing/2014/main" id="{F075A43D-3333-40C1-A4FF-A240513BC2C4}"/>
              </a:ext>
            </a:extLst>
          </p:cNvPr>
          <p:cNvSpPr>
            <a:spLocks xmlns:a="http://schemas.openxmlformats.org/drawingml/2006/main" noGrp="1"/>
          </p:cNvSpPr>
          <p:nvPr/>
        </p:nvSpPr>
        <p:spPr>
          <a:xfrm xmlns:a="http://schemas.openxmlformats.org/drawingml/2006/main">
            <a:off x="566928" y="4791456"/>
            <a:ext cx="3551834" cy="20117"/>
          </a:xfrm>
          <a:prstGeom xmlns:a="http://schemas.openxmlformats.org/drawingml/2006/main" prst="rect">
            <a:avLst/>
          </a:prstGeom>
          <a:solidFill xmlns:a="http://schemas.openxmlformats.org/drawingml/2006/main">
            <a:srgbClr val="B04A25"/>
          </a:solidFill>
        </p:spPr>
      </p:sp>
      <p:sp>
        <p:nvSpPr>
          <p:cNvPr id="37" name="Text 35">
            <a:extLst xmlns:a="http://schemas.openxmlformats.org/drawingml/2006/main">
              <a:ext uri="{FF2B5EF4-FFF2-40B4-BE49-F238E27FC236}">
                <a16:creationId xmlns:a16="http://schemas.microsoft.com/office/drawing/2014/main" id="{779061C2-690C-4890-95BB-7646EB5E5433}"/>
              </a:ext>
            </a:extLst>
          </p:cNvPr>
          <p:cNvSpPr>
            <a:spLocks xmlns:a="http://schemas.openxmlformats.org/drawingml/2006/main" noGrp="1"/>
          </p:cNvSpPr>
          <p:nvPr/>
        </p:nvSpPr>
        <p:spPr>
          <a:xfrm xmlns:a="http://schemas.openxmlformats.org/drawingml/2006/main">
            <a:off x="566928" y="4919472"/>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Lead with the three that save time immediately. They buy the credit needed for everything else.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Introduce the day plan once there is enough interaction history for it to be right more often than their own list.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Recommendations last, once the plan is trusted.</a:t>
            </a:r>
            <a:endParaRPr sz="920"/>
          </a:p>
        </p:txBody>
      </p:sp>
      <p:sp>
        <p:nvSpPr>
          <p:cNvPr id="38" name="Text 36">
            <a:extLst xmlns:a="http://schemas.openxmlformats.org/drawingml/2006/main">
              <a:ext uri="{FF2B5EF4-FFF2-40B4-BE49-F238E27FC236}">
                <a16:creationId xmlns:a16="http://schemas.microsoft.com/office/drawing/2014/main" id="{77D172E3-B115-4BDF-BE3A-11E09619C842}"/>
              </a:ext>
            </a:extLst>
          </p:cNvPr>
          <p:cNvSpPr>
            <a:spLocks xmlns:a="http://schemas.openxmlformats.org/drawingml/2006/main" noGrp="1"/>
          </p:cNvSpPr>
          <p:nvPr/>
        </p:nvSpPr>
        <p:spPr>
          <a:xfrm xmlns:a="http://schemas.openxmlformats.org/drawingml/2006/main">
            <a:off x="4319930"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one that always causes trouble</a:t>
            </a:r>
            <a:endParaRPr sz="1100"/>
          </a:p>
        </p:txBody>
      </p:sp>
      <p:sp>
        <p:nvSpPr>
          <p:cNvPr id="39" name="Shape 37">
            <a:extLst xmlns:a="http://schemas.openxmlformats.org/drawingml/2006/main">
              <a:ext uri="{FF2B5EF4-FFF2-40B4-BE49-F238E27FC236}">
                <a16:creationId xmlns:a16="http://schemas.microsoft.com/office/drawing/2014/main" id="{5F9356FF-A330-41F5-9165-DDEFE3C61E41}"/>
              </a:ext>
            </a:extLst>
          </p:cNvPr>
          <p:cNvSpPr>
            <a:spLocks xmlns:a="http://schemas.openxmlformats.org/drawingml/2006/main" noGrp="1"/>
          </p:cNvSpPr>
          <p:nvPr/>
        </p:nvSpPr>
        <p:spPr>
          <a:xfrm xmlns:a="http://schemas.openxmlformats.org/drawingml/2006/main">
            <a:off x="4319930" y="4791456"/>
            <a:ext cx="3551834" cy="20117"/>
          </a:xfrm>
          <a:prstGeom xmlns:a="http://schemas.openxmlformats.org/drawingml/2006/main" prst="rect">
            <a:avLst/>
          </a:prstGeom>
          <a:solidFill xmlns:a="http://schemas.openxmlformats.org/drawingml/2006/main">
            <a:srgbClr val="102A43"/>
          </a:solidFill>
        </p:spPr>
      </p:sp>
      <p:sp>
        <p:nvSpPr>
          <p:cNvPr id="40" name="Text 38">
            <a:extLst xmlns:a="http://schemas.openxmlformats.org/drawingml/2006/main">
              <a:ext uri="{FF2B5EF4-FFF2-40B4-BE49-F238E27FC236}">
                <a16:creationId xmlns:a16="http://schemas.microsoft.com/office/drawing/2014/main" id="{671B859E-76EA-45C7-8727-CC8E5954BDF5}"/>
              </a:ext>
            </a:extLst>
          </p:cNvPr>
          <p:cNvSpPr>
            <a:spLocks xmlns:a="http://schemas.openxmlformats.org/drawingml/2006/main" noGrp="1"/>
          </p:cNvSpPr>
          <p:nvPr/>
        </p:nvSpPr>
        <p:spPr>
          <a:xfrm xmlns:a="http://schemas.openxmlformats.org/drawingml/2006/main">
            <a:off x="4319930" y="4919472"/>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Structured dispositions cost the relationship manager time and benefit the organisation.</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They are only accepted if something visible is removed in return — usually the daily or weekly report they currently write by hand.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Shipping it without removing that report is how you lose the room.</a:t>
            </a:r>
            <a:endParaRPr sz="920"/>
          </a:p>
        </p:txBody>
      </p:sp>
      <p:sp>
        <p:nvSpPr>
          <p:cNvPr id="41" name="Text 39">
            <a:extLst xmlns:a="http://schemas.openxmlformats.org/drawingml/2006/main">
              <a:ext uri="{FF2B5EF4-FFF2-40B4-BE49-F238E27FC236}">
                <a16:creationId xmlns:a16="http://schemas.microsoft.com/office/drawing/2014/main" id="{48A70C4D-1492-4D53-94E9-8E8045D96383}"/>
              </a:ext>
            </a:extLst>
          </p:cNvPr>
          <p:cNvSpPr>
            <a:spLocks xmlns:a="http://schemas.openxmlformats.org/drawingml/2006/main" noGrp="1"/>
          </p:cNvSpPr>
          <p:nvPr/>
        </p:nvSpPr>
        <p:spPr>
          <a:xfrm xmlns:a="http://schemas.openxmlformats.org/drawingml/2006/main">
            <a:off x="8072933"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What predicts adoption</a:t>
            </a:r>
            <a:endParaRPr sz="1100"/>
          </a:p>
        </p:txBody>
      </p:sp>
      <p:sp>
        <p:nvSpPr>
          <p:cNvPr id="42" name="Shape 40">
            <a:extLst xmlns:a="http://schemas.openxmlformats.org/drawingml/2006/main">
              <a:ext uri="{FF2B5EF4-FFF2-40B4-BE49-F238E27FC236}">
                <a16:creationId xmlns:a16="http://schemas.microsoft.com/office/drawing/2014/main" id="{BF65F6D7-6BEE-4312-9A52-56EC751933C0}"/>
              </a:ext>
            </a:extLst>
          </p:cNvPr>
          <p:cNvSpPr>
            <a:spLocks xmlns:a="http://schemas.openxmlformats.org/drawingml/2006/main" noGrp="1"/>
          </p:cNvSpPr>
          <p:nvPr/>
        </p:nvSpPr>
        <p:spPr>
          <a:xfrm xmlns:a="http://schemas.openxmlformats.org/drawingml/2006/main">
            <a:off x="8072933" y="4791456"/>
            <a:ext cx="3551834" cy="20117"/>
          </a:xfrm>
          <a:prstGeom xmlns:a="http://schemas.openxmlformats.org/drawingml/2006/main" prst="rect">
            <a:avLst/>
          </a:prstGeom>
          <a:solidFill xmlns:a="http://schemas.openxmlformats.org/drawingml/2006/main">
            <a:srgbClr val="27685A"/>
          </a:solidFill>
        </p:spPr>
      </p:sp>
      <p:sp>
        <p:nvSpPr>
          <p:cNvPr id="43" name="Text 41">
            <a:extLst xmlns:a="http://schemas.openxmlformats.org/drawingml/2006/main">
              <a:ext uri="{FF2B5EF4-FFF2-40B4-BE49-F238E27FC236}">
                <a16:creationId xmlns:a16="http://schemas.microsoft.com/office/drawing/2014/main" id="{CBD69A70-4D09-45C4-B9CF-2F7F0589AAAE}"/>
              </a:ext>
            </a:extLst>
          </p:cNvPr>
          <p:cNvSpPr>
            <a:spLocks xmlns:a="http://schemas.openxmlformats.org/drawingml/2006/main" noGrp="1"/>
          </p:cNvSpPr>
          <p:nvPr/>
        </p:nvSpPr>
        <p:spPr>
          <a:xfrm xmlns:a="http://schemas.openxmlformats.org/drawingml/2006/main">
            <a:off x="8072933" y="4919472"/>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Not training hours and not feature count. The number of steps removed from the first hour of the day.</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Measure it directly: how long from logging in to the first customer contact.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moves before any commercial metric and is the earliest honest signal.</a:t>
            </a:r>
            <a:endParaRPr sz="920"/>
          </a:p>
        </p:txBody>
      </p:sp>
      <p:sp>
        <p:nvSpPr>
          <p:cNvPr id="44" name="Shape 42">
            <a:extLst xmlns:a="http://schemas.openxmlformats.org/drawingml/2006/main">
              <a:ext uri="{FF2B5EF4-FFF2-40B4-BE49-F238E27FC236}">
                <a16:creationId xmlns:a16="http://schemas.microsoft.com/office/drawing/2014/main" id="{9427B148-6E6C-47CE-9CDE-8A49EDEB67E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5" name="Text 43">
            <a:extLst xmlns:a="http://schemas.openxmlformats.org/drawingml/2006/main">
              <a:ext uri="{FF2B5EF4-FFF2-40B4-BE49-F238E27FC236}">
                <a16:creationId xmlns:a16="http://schemas.microsoft.com/office/drawing/2014/main" id="{6D893EDF-F5F5-4384-A1E6-D5364F6FE88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operating-model analysis</a:t>
            </a:r>
            <a:endParaRPr sz="850"/>
          </a:p>
        </p:txBody>
      </p:sp>
      <p:sp>
        <p:nvSpPr>
          <p:cNvPr id="46" name="Text 44">
            <a:extLst xmlns:a="http://schemas.openxmlformats.org/drawingml/2006/main">
              <a:ext uri="{FF2B5EF4-FFF2-40B4-BE49-F238E27FC236}">
                <a16:creationId xmlns:a16="http://schemas.microsoft.com/office/drawing/2014/main" id="{53C34C23-22B3-47FE-A641-FF39B97F31C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179873737"/>
      </p:ext>
    </p:extLst>
  </p:cSld>
</p:sld>
</file>

<file path=ppt/slides/slide15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2E1166-17F5-43E2-91C8-AA6C5E99395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MEASUREMENT</a:t>
            </a:r>
            <a:endParaRPr sz="950"/>
          </a:p>
        </p:txBody>
      </p:sp>
      <p:sp>
        <p:nvSpPr>
          <p:cNvPr id="3" name="Text 1">
            <a:extLst xmlns:a="http://schemas.openxmlformats.org/drawingml/2006/main">
              <a:ext uri="{FF2B5EF4-FFF2-40B4-BE49-F238E27FC236}">
                <a16:creationId xmlns:a16="http://schemas.microsoft.com/office/drawing/2014/main" id="{D6B9CF2C-A434-4964-B155-92A3EEB2EC3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leading indicators that move before any commercial number — and two lagging</a:t>
            </a:r>
            <a:endParaRPr sz="1900"/>
          </a:p>
          <a:p xmlns:a="http://schemas.openxmlformats.org/drawingml/2006/main">
            <a:pPr marL="0" indent="0">
              <a:lnSpc>
                <a:spcPts val="2400"/>
              </a:lnSpc>
              <a:buNone/>
            </a:pPr>
            <a:r>
              <a:rPr sz="1900" b="1">
                <a:solidFill>
                  <a:srgbClr val="102A43"/>
                </a:solidFill>
                <a:latin typeface="Arial"/>
                <a:ea typeface="Arial"/>
                <a:cs typeface="Arial"/>
              </a:rPr>
              <a:t>ones that only become attributable once the leading ones have moved</a:t>
            </a:r>
            <a:endParaRPr sz="1900"/>
          </a:p>
        </p:txBody>
      </p:sp>
      <p:sp>
        <p:nvSpPr>
          <p:cNvPr id="4" name="Shape 2">
            <a:extLst xmlns:a="http://schemas.openxmlformats.org/drawingml/2006/main">
              <a:ext uri="{FF2B5EF4-FFF2-40B4-BE49-F238E27FC236}">
                <a16:creationId xmlns:a16="http://schemas.microsoft.com/office/drawing/2014/main" id="{416C5E3E-6992-438D-92DC-95477783B4B5}"/>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A3B417C2-1AA6-4263-84C8-E860E441D5A0}"/>
              </a:ext>
            </a:extLst>
          </p:cNvPr>
          <p:cNvSpPr>
            <a:spLocks xmlns:a="http://schemas.openxmlformats.org/drawingml/2006/main" noGrp="1"/>
          </p:cNvSpPr>
          <p:nvPr/>
        </p:nvSpPr>
        <p:spPr>
          <a:xfrm xmlns:a="http://schemas.openxmlformats.org/drawingml/2006/main">
            <a:off x="676656" y="1444752"/>
            <a:ext cx="29809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Measure</a:t>
            </a:r>
            <a:endParaRPr sz="920"/>
          </a:p>
        </p:txBody>
      </p:sp>
      <p:sp>
        <p:nvSpPr>
          <p:cNvPr id="6" name="Text 4">
            <a:extLst xmlns:a="http://schemas.openxmlformats.org/drawingml/2006/main">
              <a:ext uri="{FF2B5EF4-FFF2-40B4-BE49-F238E27FC236}">
                <a16:creationId xmlns:a16="http://schemas.microsoft.com/office/drawing/2014/main" id="{A0595294-5597-4616-8732-6E8DEB011839}"/>
              </a:ext>
            </a:extLst>
          </p:cNvPr>
          <p:cNvSpPr>
            <a:spLocks xmlns:a="http://schemas.openxmlformats.org/drawingml/2006/main" noGrp="1"/>
          </p:cNvSpPr>
          <p:nvPr/>
        </p:nvSpPr>
        <p:spPr>
          <a:xfrm xmlns:a="http://schemas.openxmlformats.org/drawingml/2006/main">
            <a:off x="3968496" y="1444752"/>
            <a:ext cx="31638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it is the right one</a:t>
            </a:r>
            <a:endParaRPr sz="920"/>
          </a:p>
        </p:txBody>
      </p:sp>
      <p:sp>
        <p:nvSpPr>
          <p:cNvPr id="7" name="Text 5">
            <a:extLst xmlns:a="http://schemas.openxmlformats.org/drawingml/2006/main">
              <a:ext uri="{FF2B5EF4-FFF2-40B4-BE49-F238E27FC236}">
                <a16:creationId xmlns:a16="http://schemas.microsoft.com/office/drawing/2014/main" id="{5072B93B-8212-4493-A44F-5D0F0DB7E64A}"/>
              </a:ext>
            </a:extLst>
          </p:cNvPr>
          <p:cNvSpPr>
            <a:spLocks xmlns:a="http://schemas.openxmlformats.org/drawingml/2006/main" noGrp="1"/>
          </p:cNvSpPr>
          <p:nvPr/>
        </p:nvSpPr>
        <p:spPr>
          <a:xfrm xmlns:a="http://schemas.openxmlformats.org/drawingml/2006/main">
            <a:off x="7443216" y="1444752"/>
            <a:ext cx="24323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Baseline needed</a:t>
            </a:r>
            <a:endParaRPr sz="920"/>
          </a:p>
        </p:txBody>
      </p:sp>
      <p:sp>
        <p:nvSpPr>
          <p:cNvPr id="8" name="Text 6">
            <a:extLst xmlns:a="http://schemas.openxmlformats.org/drawingml/2006/main">
              <a:ext uri="{FF2B5EF4-FFF2-40B4-BE49-F238E27FC236}">
                <a16:creationId xmlns:a16="http://schemas.microsoft.com/office/drawing/2014/main" id="{551A9345-67AA-49E0-AF22-286BC153B657}"/>
              </a:ext>
            </a:extLst>
          </p:cNvPr>
          <p:cNvSpPr>
            <a:spLocks xmlns:a="http://schemas.openxmlformats.org/drawingml/2006/main" noGrp="1"/>
          </p:cNvSpPr>
          <p:nvPr/>
        </p:nvSpPr>
        <p:spPr>
          <a:xfrm xmlns:a="http://schemas.openxmlformats.org/drawingml/2006/main">
            <a:off x="10186416" y="1444752"/>
            <a:ext cx="13258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Type</a:t>
            </a:r>
            <a:endParaRPr sz="920"/>
          </a:p>
        </p:txBody>
      </p:sp>
      <p:sp>
        <p:nvSpPr>
          <p:cNvPr id="9" name="Text 7">
            <a:extLst xmlns:a="http://schemas.openxmlformats.org/drawingml/2006/main">
              <a:ext uri="{FF2B5EF4-FFF2-40B4-BE49-F238E27FC236}">
                <a16:creationId xmlns:a16="http://schemas.microsoft.com/office/drawing/2014/main" id="{C5FD2146-E42F-472C-962F-EA2C60CDB201}"/>
              </a:ext>
            </a:extLst>
          </p:cNvPr>
          <p:cNvSpPr>
            <a:spLocks xmlns:a="http://schemas.openxmlformats.org/drawingml/2006/main" noGrp="1"/>
          </p:cNvSpPr>
          <p:nvPr/>
        </p:nvSpPr>
        <p:spPr>
          <a:xfrm xmlns:a="http://schemas.openxmlformats.org/drawingml/2006/main">
            <a:off x="676656" y="181051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Login to first customer contact</a:t>
            </a:r>
            <a:endParaRPr sz="970"/>
          </a:p>
        </p:txBody>
      </p:sp>
      <p:sp>
        <p:nvSpPr>
          <p:cNvPr id="10" name="Text 8">
            <a:extLst xmlns:a="http://schemas.openxmlformats.org/drawingml/2006/main">
              <a:ext uri="{FF2B5EF4-FFF2-40B4-BE49-F238E27FC236}">
                <a16:creationId xmlns:a16="http://schemas.microsoft.com/office/drawing/2014/main" id="{7CA16C82-FC7A-49F0-8EEA-760DA15C6A72}"/>
              </a:ext>
            </a:extLst>
          </p:cNvPr>
          <p:cNvSpPr>
            <a:spLocks xmlns:a="http://schemas.openxmlformats.org/drawingml/2006/main" noGrp="1"/>
          </p:cNvSpPr>
          <p:nvPr/>
        </p:nvSpPr>
        <p:spPr>
          <a:xfrm xmlns:a="http://schemas.openxmlformats.org/drawingml/2006/main">
            <a:off x="3968496" y="1810512"/>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Directly measures whether the day starts faster</a:t>
            </a:r>
            <a:endParaRPr sz="920"/>
          </a:p>
        </p:txBody>
      </p:sp>
      <p:sp>
        <p:nvSpPr>
          <p:cNvPr id="11" name="Text 9">
            <a:extLst xmlns:a="http://schemas.openxmlformats.org/drawingml/2006/main">
              <a:ext uri="{FF2B5EF4-FFF2-40B4-BE49-F238E27FC236}">
                <a16:creationId xmlns:a16="http://schemas.microsoft.com/office/drawing/2014/main" id="{E77301DD-E34A-4109-9F32-DEA320D53CE7}"/>
              </a:ext>
            </a:extLst>
          </p:cNvPr>
          <p:cNvSpPr>
            <a:spLocks xmlns:a="http://schemas.openxmlformats.org/drawingml/2006/main" noGrp="1"/>
          </p:cNvSpPr>
          <p:nvPr/>
        </p:nvSpPr>
        <p:spPr>
          <a:xfrm xmlns:a="http://schemas.openxmlformats.org/drawingml/2006/main">
            <a:off x="7443216" y="181051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Current elapsed time, sampled</a:t>
            </a:r>
            <a:endParaRPr sz="920"/>
          </a:p>
        </p:txBody>
      </p:sp>
      <p:sp>
        <p:nvSpPr>
          <p:cNvPr id="12" name="Text 10">
            <a:extLst xmlns:a="http://schemas.openxmlformats.org/drawingml/2006/main">
              <a:ext uri="{FF2B5EF4-FFF2-40B4-BE49-F238E27FC236}">
                <a16:creationId xmlns:a16="http://schemas.microsoft.com/office/drawing/2014/main" id="{7FE9CD28-CAEA-4C92-A167-1F0BD690C418}"/>
              </a:ext>
            </a:extLst>
          </p:cNvPr>
          <p:cNvSpPr>
            <a:spLocks xmlns:a="http://schemas.openxmlformats.org/drawingml/2006/main" noGrp="1"/>
          </p:cNvSpPr>
          <p:nvPr/>
        </p:nvSpPr>
        <p:spPr>
          <a:xfrm xmlns:a="http://schemas.openxmlformats.org/drawingml/2006/main">
            <a:off x="10186416" y="1810512"/>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Leading</a:t>
            </a:r>
            <a:endParaRPr sz="930"/>
          </a:p>
        </p:txBody>
      </p:sp>
      <p:sp>
        <p:nvSpPr>
          <p:cNvPr id="13" name="Shape 11">
            <a:extLst xmlns:a="http://schemas.openxmlformats.org/drawingml/2006/main">
              <a:ext uri="{FF2B5EF4-FFF2-40B4-BE49-F238E27FC236}">
                <a16:creationId xmlns:a16="http://schemas.microsoft.com/office/drawing/2014/main" id="{44F2BF5F-9226-4CA9-B21F-35A53149F373}"/>
              </a:ext>
            </a:extLst>
          </p:cNvPr>
          <p:cNvSpPr>
            <a:spLocks xmlns:a="http://schemas.openxmlformats.org/drawingml/2006/main" noGrp="1"/>
          </p:cNvSpPr>
          <p:nvPr/>
        </p:nvSpPr>
        <p:spPr>
          <a:xfrm xmlns:a="http://schemas.openxmlformats.org/drawingml/2006/main">
            <a:off x="566928" y="2194560"/>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2008388E-1F2A-4D3C-81E0-FB252164B5DC}"/>
              </a:ext>
            </a:extLst>
          </p:cNvPr>
          <p:cNvSpPr>
            <a:spLocks xmlns:a="http://schemas.openxmlformats.org/drawingml/2006/main" noGrp="1"/>
          </p:cNvSpPr>
          <p:nvPr/>
        </p:nvSpPr>
        <p:spPr>
          <a:xfrm xmlns:a="http://schemas.openxmlformats.org/drawingml/2006/main">
            <a:off x="566928" y="2194560"/>
            <a:ext cx="11057839" cy="493776"/>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BC10B920-AFC9-4E55-87EC-373F4B1819C3}"/>
              </a:ext>
            </a:extLst>
          </p:cNvPr>
          <p:cNvSpPr>
            <a:spLocks xmlns:a="http://schemas.openxmlformats.org/drawingml/2006/main" noGrp="1"/>
          </p:cNvSpPr>
          <p:nvPr/>
        </p:nvSpPr>
        <p:spPr>
          <a:xfrm xmlns:a="http://schemas.openxmlformats.org/drawingml/2006/main">
            <a:off x="676656" y="2304288"/>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Share of plan actioned</a:t>
            </a:r>
            <a:endParaRPr sz="970"/>
          </a:p>
        </p:txBody>
      </p:sp>
      <p:sp>
        <p:nvSpPr>
          <p:cNvPr id="16" name="Text 14">
            <a:extLst xmlns:a="http://schemas.openxmlformats.org/drawingml/2006/main">
              <a:ext uri="{FF2B5EF4-FFF2-40B4-BE49-F238E27FC236}">
                <a16:creationId xmlns:a16="http://schemas.microsoft.com/office/drawing/2014/main" id="{2A09B7BE-53E3-486E-9461-B3F7B7189F79}"/>
              </a:ext>
            </a:extLst>
          </p:cNvPr>
          <p:cNvSpPr>
            <a:spLocks xmlns:a="http://schemas.openxmlformats.org/drawingml/2006/main" noGrp="1"/>
          </p:cNvSpPr>
          <p:nvPr/>
        </p:nvSpPr>
        <p:spPr>
          <a:xfrm xmlns:a="http://schemas.openxmlformats.org/drawingml/2006/main">
            <a:off x="3968496" y="2304288"/>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Shows whether the sequencing is trusted, not just delivered</a:t>
            </a:r>
            <a:endParaRPr sz="920"/>
          </a:p>
        </p:txBody>
      </p:sp>
      <p:sp>
        <p:nvSpPr>
          <p:cNvPr id="17" name="Text 15">
            <a:extLst xmlns:a="http://schemas.openxmlformats.org/drawingml/2006/main">
              <a:ext uri="{FF2B5EF4-FFF2-40B4-BE49-F238E27FC236}">
                <a16:creationId xmlns:a16="http://schemas.microsoft.com/office/drawing/2014/main" id="{135BF6A0-BBF7-4E25-8F8E-6BD4D7455614}"/>
              </a:ext>
            </a:extLst>
          </p:cNvPr>
          <p:cNvSpPr>
            <a:spLocks xmlns:a="http://schemas.openxmlformats.org/drawingml/2006/main" noGrp="1"/>
          </p:cNvSpPr>
          <p:nvPr/>
        </p:nvSpPr>
        <p:spPr>
          <a:xfrm xmlns:a="http://schemas.openxmlformats.org/drawingml/2006/main">
            <a:off x="7443216" y="2304288"/>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Not applicable — new</a:t>
            </a:r>
            <a:endParaRPr sz="920"/>
          </a:p>
        </p:txBody>
      </p:sp>
      <p:sp>
        <p:nvSpPr>
          <p:cNvPr id="18" name="Text 16">
            <a:extLst xmlns:a="http://schemas.openxmlformats.org/drawingml/2006/main">
              <a:ext uri="{FF2B5EF4-FFF2-40B4-BE49-F238E27FC236}">
                <a16:creationId xmlns:a16="http://schemas.microsoft.com/office/drawing/2014/main" id="{B05AB505-4CAD-4DDA-82AF-91DF43767588}"/>
              </a:ext>
            </a:extLst>
          </p:cNvPr>
          <p:cNvSpPr>
            <a:spLocks xmlns:a="http://schemas.openxmlformats.org/drawingml/2006/main" noGrp="1"/>
          </p:cNvSpPr>
          <p:nvPr/>
        </p:nvSpPr>
        <p:spPr>
          <a:xfrm xmlns:a="http://schemas.openxmlformats.org/drawingml/2006/main">
            <a:off x="10186416" y="2304288"/>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Leading</a:t>
            </a:r>
            <a:endParaRPr sz="930"/>
          </a:p>
        </p:txBody>
      </p:sp>
      <p:sp>
        <p:nvSpPr>
          <p:cNvPr id="19" name="Shape 17">
            <a:extLst xmlns:a="http://schemas.openxmlformats.org/drawingml/2006/main">
              <a:ext uri="{FF2B5EF4-FFF2-40B4-BE49-F238E27FC236}">
                <a16:creationId xmlns:a16="http://schemas.microsoft.com/office/drawing/2014/main" id="{5BBA49F9-D58D-4EC7-BA76-46444DE30D6C}"/>
              </a:ext>
            </a:extLst>
          </p:cNvPr>
          <p:cNvSpPr>
            <a:spLocks xmlns:a="http://schemas.openxmlformats.org/drawingml/2006/main" noGrp="1"/>
          </p:cNvSpPr>
          <p:nvPr/>
        </p:nvSpPr>
        <p:spPr>
          <a:xfrm xmlns:a="http://schemas.openxmlformats.org/drawingml/2006/main">
            <a:off x="566928" y="2688336"/>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9D3653F4-BF52-4316-BAFD-D662CEFF71ED}"/>
              </a:ext>
            </a:extLst>
          </p:cNvPr>
          <p:cNvSpPr>
            <a:spLocks xmlns:a="http://schemas.openxmlformats.org/drawingml/2006/main" noGrp="1"/>
          </p:cNvSpPr>
          <p:nvPr/>
        </p:nvSpPr>
        <p:spPr>
          <a:xfrm xmlns:a="http://schemas.openxmlformats.org/drawingml/2006/main">
            <a:off x="676656" y="2798064"/>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Interactions logged per contact</a:t>
            </a:r>
            <a:endParaRPr sz="970"/>
          </a:p>
        </p:txBody>
      </p:sp>
      <p:sp>
        <p:nvSpPr>
          <p:cNvPr id="21" name="Text 19">
            <a:extLst xmlns:a="http://schemas.openxmlformats.org/drawingml/2006/main">
              <a:ext uri="{FF2B5EF4-FFF2-40B4-BE49-F238E27FC236}">
                <a16:creationId xmlns:a16="http://schemas.microsoft.com/office/drawing/2014/main" id="{FC9DE3E1-A693-46F0-955A-82C6723E432A}"/>
              </a:ext>
            </a:extLst>
          </p:cNvPr>
          <p:cNvSpPr>
            <a:spLocks xmlns:a="http://schemas.openxmlformats.org/drawingml/2006/main" noGrp="1"/>
          </p:cNvSpPr>
          <p:nvPr/>
        </p:nvSpPr>
        <p:spPr>
          <a:xfrm xmlns:a="http://schemas.openxmlformats.org/drawingml/2006/main">
            <a:off x="3968496" y="279806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Rises when logging becomes automatic rather than manual</a:t>
            </a:r>
            <a:endParaRPr sz="920"/>
          </a:p>
        </p:txBody>
      </p:sp>
      <p:sp>
        <p:nvSpPr>
          <p:cNvPr id="22" name="Text 20">
            <a:extLst xmlns:a="http://schemas.openxmlformats.org/drawingml/2006/main">
              <a:ext uri="{FF2B5EF4-FFF2-40B4-BE49-F238E27FC236}">
                <a16:creationId xmlns:a16="http://schemas.microsoft.com/office/drawing/2014/main" id="{7AF59900-6EED-49AA-86E3-A72879260DFD}"/>
              </a:ext>
            </a:extLst>
          </p:cNvPr>
          <p:cNvSpPr>
            <a:spLocks xmlns:a="http://schemas.openxmlformats.org/drawingml/2006/main" noGrp="1"/>
          </p:cNvSpPr>
          <p:nvPr/>
        </p:nvSpPr>
        <p:spPr>
          <a:xfrm xmlns:a="http://schemas.openxmlformats.org/drawingml/2006/main">
            <a:off x="7443216" y="2798064"/>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Current logging completeness</a:t>
            </a:r>
            <a:endParaRPr sz="920"/>
          </a:p>
        </p:txBody>
      </p:sp>
      <p:sp>
        <p:nvSpPr>
          <p:cNvPr id="23" name="Text 21">
            <a:extLst xmlns:a="http://schemas.openxmlformats.org/drawingml/2006/main">
              <a:ext uri="{FF2B5EF4-FFF2-40B4-BE49-F238E27FC236}">
                <a16:creationId xmlns:a16="http://schemas.microsoft.com/office/drawing/2014/main" id="{F8BB6DDC-659B-4664-9384-60BE0D55EFFB}"/>
              </a:ext>
            </a:extLst>
          </p:cNvPr>
          <p:cNvSpPr>
            <a:spLocks xmlns:a="http://schemas.openxmlformats.org/drawingml/2006/main" noGrp="1"/>
          </p:cNvSpPr>
          <p:nvPr/>
        </p:nvSpPr>
        <p:spPr>
          <a:xfrm xmlns:a="http://schemas.openxmlformats.org/drawingml/2006/main">
            <a:off x="10186416" y="279806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Leading</a:t>
            </a:r>
            <a:endParaRPr sz="930"/>
          </a:p>
        </p:txBody>
      </p:sp>
      <p:sp>
        <p:nvSpPr>
          <p:cNvPr id="24" name="Shape 22">
            <a:extLst xmlns:a="http://schemas.openxmlformats.org/drawingml/2006/main">
              <a:ext uri="{FF2B5EF4-FFF2-40B4-BE49-F238E27FC236}">
                <a16:creationId xmlns:a16="http://schemas.microsoft.com/office/drawing/2014/main" id="{17D43A6A-699B-4886-A477-192F95945809}"/>
              </a:ext>
            </a:extLst>
          </p:cNvPr>
          <p:cNvSpPr>
            <a:spLocks xmlns:a="http://schemas.openxmlformats.org/drawingml/2006/main" noGrp="1"/>
          </p:cNvSpPr>
          <p:nvPr/>
        </p:nvSpPr>
        <p:spPr>
          <a:xfrm xmlns:a="http://schemas.openxmlformats.org/drawingml/2006/main">
            <a:off x="566928" y="3182112"/>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A946EFAF-CFCB-4212-86E0-F498F3F30F0E}"/>
              </a:ext>
            </a:extLst>
          </p:cNvPr>
          <p:cNvSpPr>
            <a:spLocks xmlns:a="http://schemas.openxmlformats.org/drawingml/2006/main" noGrp="1"/>
          </p:cNvSpPr>
          <p:nvPr/>
        </p:nvSpPr>
        <p:spPr>
          <a:xfrm xmlns:a="http://schemas.openxmlformats.org/drawingml/2006/main">
            <a:off x="566928" y="3182112"/>
            <a:ext cx="11057839" cy="493776"/>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05A3B512-3660-44B4-8B8A-9C4B7B430BF9}"/>
              </a:ext>
            </a:extLst>
          </p:cNvPr>
          <p:cNvSpPr>
            <a:spLocks xmlns:a="http://schemas.openxmlformats.org/drawingml/2006/main" noGrp="1"/>
          </p:cNvSpPr>
          <p:nvPr/>
        </p:nvSpPr>
        <p:spPr>
          <a:xfrm xmlns:a="http://schemas.openxmlformats.org/drawingml/2006/main">
            <a:off x="676656" y="3291840"/>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Context lookups before a call</a:t>
            </a:r>
            <a:endParaRPr sz="970"/>
          </a:p>
        </p:txBody>
      </p:sp>
      <p:sp>
        <p:nvSpPr>
          <p:cNvPr id="27" name="Text 25">
            <a:extLst xmlns:a="http://schemas.openxmlformats.org/drawingml/2006/main">
              <a:ext uri="{FF2B5EF4-FFF2-40B4-BE49-F238E27FC236}">
                <a16:creationId xmlns:a16="http://schemas.microsoft.com/office/drawing/2014/main" id="{A1F006A3-4CB8-45E4-98C6-5F0F319DB4A9}"/>
              </a:ext>
            </a:extLst>
          </p:cNvPr>
          <p:cNvSpPr>
            <a:spLocks xmlns:a="http://schemas.openxmlformats.org/drawingml/2006/main" noGrp="1"/>
          </p:cNvSpPr>
          <p:nvPr/>
        </p:nvSpPr>
        <p:spPr>
          <a:xfrm xmlns:a="http://schemas.openxmlformats.org/drawingml/2006/main">
            <a:off x="3968496" y="3291840"/>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Falls when preparation is generated rather than assembled</a:t>
            </a:r>
            <a:endParaRPr sz="920"/>
          </a:p>
        </p:txBody>
      </p:sp>
      <p:sp>
        <p:nvSpPr>
          <p:cNvPr id="28" name="Text 26">
            <a:extLst xmlns:a="http://schemas.openxmlformats.org/drawingml/2006/main">
              <a:ext uri="{FF2B5EF4-FFF2-40B4-BE49-F238E27FC236}">
                <a16:creationId xmlns:a16="http://schemas.microsoft.com/office/drawing/2014/main" id="{9215F752-6D8E-4240-AE36-11222C2B61F2}"/>
              </a:ext>
            </a:extLst>
          </p:cNvPr>
          <p:cNvSpPr>
            <a:spLocks xmlns:a="http://schemas.openxmlformats.org/drawingml/2006/main" noGrp="1"/>
          </p:cNvSpPr>
          <p:nvPr/>
        </p:nvSpPr>
        <p:spPr>
          <a:xfrm xmlns:a="http://schemas.openxmlformats.org/drawingml/2006/main">
            <a:off x="7443216" y="3291840"/>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Observed count per call</a:t>
            </a:r>
            <a:endParaRPr sz="920"/>
          </a:p>
        </p:txBody>
      </p:sp>
      <p:sp>
        <p:nvSpPr>
          <p:cNvPr id="29" name="Text 27">
            <a:extLst xmlns:a="http://schemas.openxmlformats.org/drawingml/2006/main">
              <a:ext uri="{FF2B5EF4-FFF2-40B4-BE49-F238E27FC236}">
                <a16:creationId xmlns:a16="http://schemas.microsoft.com/office/drawing/2014/main" id="{BAA6B916-D877-4DB9-8238-6700510D5055}"/>
              </a:ext>
            </a:extLst>
          </p:cNvPr>
          <p:cNvSpPr>
            <a:spLocks xmlns:a="http://schemas.openxmlformats.org/drawingml/2006/main" noGrp="1"/>
          </p:cNvSpPr>
          <p:nvPr/>
        </p:nvSpPr>
        <p:spPr>
          <a:xfrm xmlns:a="http://schemas.openxmlformats.org/drawingml/2006/main">
            <a:off x="10186416" y="3291840"/>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Leading</a:t>
            </a:r>
            <a:endParaRPr sz="930"/>
          </a:p>
        </p:txBody>
      </p:sp>
      <p:sp>
        <p:nvSpPr>
          <p:cNvPr id="30" name="Shape 28">
            <a:extLst xmlns:a="http://schemas.openxmlformats.org/drawingml/2006/main">
              <a:ext uri="{FF2B5EF4-FFF2-40B4-BE49-F238E27FC236}">
                <a16:creationId xmlns:a16="http://schemas.microsoft.com/office/drawing/2014/main" id="{6CAB4592-8E00-4686-907E-68E831B3B3A0}"/>
              </a:ext>
            </a:extLst>
          </p:cNvPr>
          <p:cNvSpPr>
            <a:spLocks xmlns:a="http://schemas.openxmlformats.org/drawingml/2006/main" noGrp="1"/>
          </p:cNvSpPr>
          <p:nvPr/>
        </p:nvSpPr>
        <p:spPr>
          <a:xfrm xmlns:a="http://schemas.openxmlformats.org/drawingml/2006/main">
            <a:off x="566928" y="3675888"/>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5F874C65-88A2-4EC0-BFA2-BA1BFD5A19F6}"/>
              </a:ext>
            </a:extLst>
          </p:cNvPr>
          <p:cNvSpPr>
            <a:spLocks xmlns:a="http://schemas.openxmlformats.org/drawingml/2006/main" noGrp="1"/>
          </p:cNvSpPr>
          <p:nvPr/>
        </p:nvSpPr>
        <p:spPr>
          <a:xfrm xmlns:a="http://schemas.openxmlformats.org/drawingml/2006/main">
            <a:off x="676656" y="3785616"/>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Contacts per relationship manager per day</a:t>
            </a:r>
            <a:endParaRPr sz="970"/>
          </a:p>
        </p:txBody>
      </p:sp>
      <p:sp>
        <p:nvSpPr>
          <p:cNvPr id="32" name="Text 30">
            <a:extLst xmlns:a="http://schemas.openxmlformats.org/drawingml/2006/main">
              <a:ext uri="{FF2B5EF4-FFF2-40B4-BE49-F238E27FC236}">
                <a16:creationId xmlns:a16="http://schemas.microsoft.com/office/drawing/2014/main" id="{4D41D4C8-AEBA-4CC2-A925-38167D95CD03}"/>
              </a:ext>
            </a:extLst>
          </p:cNvPr>
          <p:cNvSpPr>
            <a:spLocks xmlns:a="http://schemas.openxmlformats.org/drawingml/2006/main" noGrp="1"/>
          </p:cNvSpPr>
          <p:nvPr/>
        </p:nvSpPr>
        <p:spPr>
          <a:xfrm xmlns:a="http://schemas.openxmlformats.org/drawingml/2006/main">
            <a:off x="3968496" y="3785616"/>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productivity claim — but only credible once the four above move</a:t>
            </a:r>
            <a:endParaRPr sz="920"/>
          </a:p>
        </p:txBody>
      </p:sp>
      <p:sp>
        <p:nvSpPr>
          <p:cNvPr id="33" name="Text 31">
            <a:extLst xmlns:a="http://schemas.openxmlformats.org/drawingml/2006/main">
              <a:ext uri="{FF2B5EF4-FFF2-40B4-BE49-F238E27FC236}">
                <a16:creationId xmlns:a16="http://schemas.microsoft.com/office/drawing/2014/main" id="{5016BE95-FAEA-4164-B8C9-E200F600E74E}"/>
              </a:ext>
            </a:extLst>
          </p:cNvPr>
          <p:cNvSpPr>
            <a:spLocks xmlns:a="http://schemas.openxmlformats.org/drawingml/2006/main" noGrp="1"/>
          </p:cNvSpPr>
          <p:nvPr/>
        </p:nvSpPr>
        <p:spPr>
          <a:xfrm xmlns:a="http://schemas.openxmlformats.org/drawingml/2006/main">
            <a:off x="7443216" y="3785616"/>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Current daily contact rate</a:t>
            </a:r>
            <a:endParaRPr sz="920"/>
          </a:p>
        </p:txBody>
      </p:sp>
      <p:sp>
        <p:nvSpPr>
          <p:cNvPr id="34" name="Text 32">
            <a:extLst xmlns:a="http://schemas.openxmlformats.org/drawingml/2006/main">
              <a:ext uri="{FF2B5EF4-FFF2-40B4-BE49-F238E27FC236}">
                <a16:creationId xmlns:a16="http://schemas.microsoft.com/office/drawing/2014/main" id="{5D3C778B-E086-44EF-A68C-7E35473DBED8}"/>
              </a:ext>
            </a:extLst>
          </p:cNvPr>
          <p:cNvSpPr>
            <a:spLocks xmlns:a="http://schemas.openxmlformats.org/drawingml/2006/main" noGrp="1"/>
          </p:cNvSpPr>
          <p:nvPr/>
        </p:nvSpPr>
        <p:spPr>
          <a:xfrm xmlns:a="http://schemas.openxmlformats.org/drawingml/2006/main">
            <a:off x="10186416" y="3785616"/>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Lagging</a:t>
            </a:r>
            <a:endParaRPr sz="930"/>
          </a:p>
        </p:txBody>
      </p:sp>
      <p:sp>
        <p:nvSpPr>
          <p:cNvPr id="35" name="Shape 33">
            <a:extLst xmlns:a="http://schemas.openxmlformats.org/drawingml/2006/main">
              <a:ext uri="{FF2B5EF4-FFF2-40B4-BE49-F238E27FC236}">
                <a16:creationId xmlns:a16="http://schemas.microsoft.com/office/drawing/2014/main" id="{6287C1E5-9787-4991-866F-9C6F7A874167}"/>
              </a:ext>
            </a:extLst>
          </p:cNvPr>
          <p:cNvSpPr>
            <a:spLocks xmlns:a="http://schemas.openxmlformats.org/drawingml/2006/main" noGrp="1"/>
          </p:cNvSpPr>
          <p:nvPr/>
        </p:nvSpPr>
        <p:spPr>
          <a:xfrm xmlns:a="http://schemas.openxmlformats.org/drawingml/2006/main">
            <a:off x="566928" y="416966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C8964221-3420-416A-A826-C4C962507F8A}"/>
              </a:ext>
            </a:extLst>
          </p:cNvPr>
          <p:cNvSpPr>
            <a:spLocks xmlns:a="http://schemas.openxmlformats.org/drawingml/2006/main" noGrp="1"/>
          </p:cNvSpPr>
          <p:nvPr/>
        </p:nvSpPr>
        <p:spPr>
          <a:xfrm xmlns:a="http://schemas.openxmlformats.org/drawingml/2006/main">
            <a:off x="566928" y="4169664"/>
            <a:ext cx="11057839" cy="493776"/>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832D9292-2222-4B66-A5C6-ACB1D3009C59}"/>
              </a:ext>
            </a:extLst>
          </p:cNvPr>
          <p:cNvSpPr>
            <a:spLocks xmlns:a="http://schemas.openxmlformats.org/drawingml/2006/main" noGrp="1"/>
          </p:cNvSpPr>
          <p:nvPr/>
        </p:nvSpPr>
        <p:spPr>
          <a:xfrm xmlns:a="http://schemas.openxmlformats.org/drawingml/2006/main">
            <a:off x="676656" y="42793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Conversion on recommended actions</a:t>
            </a:r>
            <a:endParaRPr sz="970"/>
          </a:p>
        </p:txBody>
      </p:sp>
      <p:sp>
        <p:nvSpPr>
          <p:cNvPr id="38" name="Text 36">
            <a:extLst xmlns:a="http://schemas.openxmlformats.org/drawingml/2006/main">
              <a:ext uri="{FF2B5EF4-FFF2-40B4-BE49-F238E27FC236}">
                <a16:creationId xmlns:a16="http://schemas.microsoft.com/office/drawing/2014/main" id="{47E4007B-ED14-4FB3-B1D4-6736AF7980BD}"/>
              </a:ext>
            </a:extLst>
          </p:cNvPr>
          <p:cNvSpPr>
            <a:spLocks xmlns:a="http://schemas.openxmlformats.org/drawingml/2006/main" noGrp="1"/>
          </p:cNvSpPr>
          <p:nvPr/>
        </p:nvSpPr>
        <p:spPr>
          <a:xfrm xmlns:a="http://schemas.openxmlformats.org/drawingml/2006/main">
            <a:off x="3968496" y="4279392"/>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intelligence claim — needs several months of loop closure</a:t>
            </a:r>
            <a:endParaRPr sz="920"/>
          </a:p>
        </p:txBody>
      </p:sp>
      <p:sp>
        <p:nvSpPr>
          <p:cNvPr id="39" name="Text 37">
            <a:extLst xmlns:a="http://schemas.openxmlformats.org/drawingml/2006/main">
              <a:ext uri="{FF2B5EF4-FFF2-40B4-BE49-F238E27FC236}">
                <a16:creationId xmlns:a16="http://schemas.microsoft.com/office/drawing/2014/main" id="{73DD9A60-B7A1-4BAC-849C-7199F0A366FC}"/>
              </a:ext>
            </a:extLst>
          </p:cNvPr>
          <p:cNvSpPr>
            <a:spLocks xmlns:a="http://schemas.openxmlformats.org/drawingml/2006/main" noGrp="1"/>
          </p:cNvSpPr>
          <p:nvPr/>
        </p:nvSpPr>
        <p:spPr>
          <a:xfrm xmlns:a="http://schemas.openxmlformats.org/drawingml/2006/main">
            <a:off x="7443216" y="42793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Conversion on self-selected actions</a:t>
            </a:r>
            <a:endParaRPr sz="920"/>
          </a:p>
        </p:txBody>
      </p:sp>
      <p:sp>
        <p:nvSpPr>
          <p:cNvPr id="40" name="Text 38">
            <a:extLst xmlns:a="http://schemas.openxmlformats.org/drawingml/2006/main">
              <a:ext uri="{FF2B5EF4-FFF2-40B4-BE49-F238E27FC236}">
                <a16:creationId xmlns:a16="http://schemas.microsoft.com/office/drawing/2014/main" id="{32E7559C-D344-4DEB-BC6C-0D4B8FC41136}"/>
              </a:ext>
            </a:extLst>
          </p:cNvPr>
          <p:cNvSpPr>
            <a:spLocks xmlns:a="http://schemas.openxmlformats.org/drawingml/2006/main" noGrp="1"/>
          </p:cNvSpPr>
          <p:nvPr/>
        </p:nvSpPr>
        <p:spPr>
          <a:xfrm xmlns:a="http://schemas.openxmlformats.org/drawingml/2006/main">
            <a:off x="10186416" y="4279392"/>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Lagging</a:t>
            </a:r>
            <a:endParaRPr sz="930"/>
          </a:p>
        </p:txBody>
      </p:sp>
      <p:sp>
        <p:nvSpPr>
          <p:cNvPr id="41" name="Shape 39">
            <a:extLst xmlns:a="http://schemas.openxmlformats.org/drawingml/2006/main">
              <a:ext uri="{FF2B5EF4-FFF2-40B4-BE49-F238E27FC236}">
                <a16:creationId xmlns:a16="http://schemas.microsoft.com/office/drawing/2014/main" id="{8E7BE426-F68E-422C-ADA7-33F4BB605C7C}"/>
              </a:ext>
            </a:extLst>
          </p:cNvPr>
          <p:cNvSpPr>
            <a:spLocks xmlns:a="http://schemas.openxmlformats.org/drawingml/2006/main" noGrp="1"/>
          </p:cNvSpPr>
          <p:nvPr/>
        </p:nvSpPr>
        <p:spPr>
          <a:xfrm xmlns:a="http://schemas.openxmlformats.org/drawingml/2006/main">
            <a:off x="566928" y="4663440"/>
            <a:ext cx="11057839" cy="7315"/>
          </a:xfrm>
          <a:prstGeom xmlns:a="http://schemas.openxmlformats.org/drawingml/2006/main" prst="rect">
            <a:avLst/>
          </a:prstGeom>
          <a:solidFill xmlns:a="http://schemas.openxmlformats.org/drawingml/2006/main">
            <a:srgbClr val="CBD5E0"/>
          </a:solidFill>
        </p:spPr>
      </p:sp>
      <p:sp>
        <p:nvSpPr>
          <p:cNvPr id="42" name="Shape 40">
            <a:extLst xmlns:a="http://schemas.openxmlformats.org/drawingml/2006/main">
              <a:ext uri="{FF2B5EF4-FFF2-40B4-BE49-F238E27FC236}">
                <a16:creationId xmlns:a16="http://schemas.microsoft.com/office/drawing/2014/main" id="{72DD9FA5-CD0C-4F87-9B90-D1695BA52FDC}"/>
              </a:ext>
            </a:extLst>
          </p:cNvPr>
          <p:cNvSpPr>
            <a:spLocks xmlns:a="http://schemas.openxmlformats.org/drawingml/2006/main" noGrp="1"/>
          </p:cNvSpPr>
          <p:nvPr/>
        </p:nvSpPr>
        <p:spPr>
          <a:xfrm xmlns:a="http://schemas.openxmlformats.org/drawingml/2006/main">
            <a:off x="566928" y="4937760"/>
            <a:ext cx="11057839" cy="1371600"/>
          </a:xfrm>
          <a:prstGeom xmlns:a="http://schemas.openxmlformats.org/drawingml/2006/main" prst="rect">
            <a:avLst/>
          </a:prstGeom>
          <a:solidFill xmlns:a="http://schemas.openxmlformats.org/drawingml/2006/main">
            <a:srgbClr val="F3E6E0"/>
          </a:solidFill>
        </p:spPr>
      </p:sp>
      <p:sp>
        <p:nvSpPr>
          <p:cNvPr id="43" name="Text 41">
            <a:extLst xmlns:a="http://schemas.openxmlformats.org/drawingml/2006/main">
              <a:ext uri="{FF2B5EF4-FFF2-40B4-BE49-F238E27FC236}">
                <a16:creationId xmlns:a16="http://schemas.microsoft.com/office/drawing/2014/main" id="{539D5874-F43F-4B09-9D88-AF32415DF876}"/>
              </a:ext>
            </a:extLst>
          </p:cNvPr>
          <p:cNvSpPr>
            <a:spLocks xmlns:a="http://schemas.openxmlformats.org/drawingml/2006/main" noGrp="1"/>
          </p:cNvSpPr>
          <p:nvPr/>
        </p:nvSpPr>
        <p:spPr>
          <a:xfrm xmlns:a="http://schemas.openxmlformats.org/drawingml/2006/main">
            <a:off x="804672" y="508406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leading and lagging split matters when the pilot is reviewed</a:t>
            </a:r>
            <a:endParaRPr sz="1100"/>
          </a:p>
        </p:txBody>
      </p:sp>
      <p:sp>
        <p:nvSpPr>
          <p:cNvPr id="44" name="Text 42">
            <a:extLst xmlns:a="http://schemas.openxmlformats.org/drawingml/2006/main">
              <a:ext uri="{FF2B5EF4-FFF2-40B4-BE49-F238E27FC236}">
                <a16:creationId xmlns:a16="http://schemas.microsoft.com/office/drawing/2014/main" id="{EEE3AD72-2806-4D97-AA77-D74A6412F00B}"/>
              </a:ext>
            </a:extLst>
          </p:cNvPr>
          <p:cNvSpPr>
            <a:spLocks xmlns:a="http://schemas.openxmlformats.org/drawingml/2006/main" noGrp="1"/>
          </p:cNvSpPr>
          <p:nvPr/>
        </p:nvSpPr>
        <p:spPr>
          <a:xfrm xmlns:a="http://schemas.openxmlformats.org/drawingml/2006/main">
            <a:off x="804672" y="5340096"/>
            <a:ext cx="1058235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 relationship-manager platform is usually reviewed at three months against a commercial number, and at three months the commercial number has not moved — because behaviour change precedes revenue and the sample is small.</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Agreeing before the pilot that the first review is judged on the four leading measures, and the commercial claim on the two lagging ones at a later point, is what prevents a working programme being cancelled at the first checkpoint. It also happens to be the honest way round: if the leading measures have not moved, the platform is not being used, and no amount of waiting will produce the lagging ones.</a:t>
            </a:r>
            <a:endParaRPr sz="990"/>
          </a:p>
        </p:txBody>
      </p:sp>
      <p:sp>
        <p:nvSpPr>
          <p:cNvPr id="45" name="Shape 43">
            <a:extLst xmlns:a="http://schemas.openxmlformats.org/drawingml/2006/main">
              <a:ext uri="{FF2B5EF4-FFF2-40B4-BE49-F238E27FC236}">
                <a16:creationId xmlns:a16="http://schemas.microsoft.com/office/drawing/2014/main" id="{C0F27636-7142-4A97-BC2F-669A1493782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6" name="Text 44">
            <a:extLst xmlns:a="http://schemas.openxmlformats.org/drawingml/2006/main">
              <a:ext uri="{FF2B5EF4-FFF2-40B4-BE49-F238E27FC236}">
                <a16:creationId xmlns:a16="http://schemas.microsoft.com/office/drawing/2014/main" id="{E98128A2-FDBA-4FDE-8BC5-825C6F786BD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operating-model analysis</a:t>
            </a:r>
            <a:endParaRPr sz="850"/>
          </a:p>
        </p:txBody>
      </p:sp>
      <p:sp>
        <p:nvSpPr>
          <p:cNvPr id="47" name="Text 45">
            <a:extLst xmlns:a="http://schemas.openxmlformats.org/drawingml/2006/main">
              <a:ext uri="{FF2B5EF4-FFF2-40B4-BE49-F238E27FC236}">
                <a16:creationId xmlns:a16="http://schemas.microsoft.com/office/drawing/2014/main" id="{A55A94EA-4025-408A-9F6F-402E4FE1942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2044792662"/>
      </p:ext>
    </p:extLst>
  </p:cSld>
</p:sld>
</file>

<file path=ppt/slides/slide15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27C60D-984D-4A59-8A4E-8506FF12031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417EF326-A508-4328-89AF-B53AD9539D6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frontline tooling that actually gets used</a:t>
            </a:r>
            <a:endParaRPr sz="1900"/>
          </a:p>
        </p:txBody>
      </p:sp>
      <p:sp>
        <p:nvSpPr>
          <p:cNvPr id="4" name="Text 2">
            <a:extLst xmlns:a="http://schemas.openxmlformats.org/drawingml/2006/main">
              <a:ext uri="{FF2B5EF4-FFF2-40B4-BE49-F238E27FC236}">
                <a16:creationId xmlns:a16="http://schemas.microsoft.com/office/drawing/2014/main" id="{11484D49-4BD3-44DD-9A1D-3DA9DACADD13}"/>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8BA14311-0D8F-4406-89C8-96863B32BD4E}"/>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Design for the day, not the data model</a:t>
            </a:r>
            <a:endParaRPr sz="1200"/>
          </a:p>
        </p:txBody>
      </p:sp>
      <p:sp>
        <p:nvSpPr>
          <p:cNvPr id="6" name="Text 4">
            <a:extLst xmlns:a="http://schemas.openxmlformats.org/drawingml/2006/main">
              <a:ext uri="{FF2B5EF4-FFF2-40B4-BE49-F238E27FC236}">
                <a16:creationId xmlns:a16="http://schemas.microsoft.com/office/drawing/2014/main" id="{8C61410D-AFD6-4C39-A4A7-16541C0B8CA1}"/>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system of record answers questions. A relationship manager's problem is an unsequenced day and heavy admin. Adding capability to a record system produces a richer record system and no behaviour change.</a:t>
            </a:r>
            <a:endParaRPr sz="1000"/>
          </a:p>
        </p:txBody>
      </p:sp>
      <p:sp>
        <p:nvSpPr>
          <p:cNvPr id="7" name="Shape 5">
            <a:extLst xmlns:a="http://schemas.openxmlformats.org/drawingml/2006/main">
              <a:ext uri="{FF2B5EF4-FFF2-40B4-BE49-F238E27FC236}">
                <a16:creationId xmlns:a16="http://schemas.microsoft.com/office/drawing/2014/main" id="{76C597FB-69F0-417B-80DE-646231CF39CE}"/>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3EED8E68-164A-4CD8-BE1A-4D68988B8922}"/>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04331C9A-B144-4536-993A-2D59CD4D89D1}"/>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Apply the removes-a-step test</a:t>
            </a:r>
            <a:endParaRPr sz="1200"/>
          </a:p>
        </p:txBody>
      </p:sp>
      <p:sp>
        <p:nvSpPr>
          <p:cNvPr id="10" name="Text 8">
            <a:extLst xmlns:a="http://schemas.openxmlformats.org/drawingml/2006/main">
              <a:ext uri="{FF2B5EF4-FFF2-40B4-BE49-F238E27FC236}">
                <a16:creationId xmlns:a16="http://schemas.microsoft.com/office/drawing/2014/main" id="{96069447-0954-4E1F-8E21-66602A65BC53}"/>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Every requirement list mixes capabilities that remove work with capabilities that add a view. They look alike on paper and behave completely differently in week one. Separate them before designing anything.</a:t>
            </a:r>
            <a:endParaRPr sz="1000"/>
          </a:p>
        </p:txBody>
      </p:sp>
      <p:sp>
        <p:nvSpPr>
          <p:cNvPr id="11" name="Shape 9">
            <a:extLst xmlns:a="http://schemas.openxmlformats.org/drawingml/2006/main">
              <a:ext uri="{FF2B5EF4-FFF2-40B4-BE49-F238E27FC236}">
                <a16:creationId xmlns:a16="http://schemas.microsoft.com/office/drawing/2014/main" id="{B09F0F05-D0B5-4561-A254-C5ADA8771B06}"/>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B427F347-586B-40D2-B592-D33221175E39}"/>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D94CED60-0AF1-41AC-A297-6C3ABA758844}"/>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Sequence rollout by week-one effect</a:t>
            </a:r>
            <a:endParaRPr sz="1200"/>
          </a:p>
        </p:txBody>
      </p:sp>
      <p:sp>
        <p:nvSpPr>
          <p:cNvPr id="14" name="Text 12">
            <a:extLst xmlns:a="http://schemas.openxmlformats.org/drawingml/2006/main">
              <a:ext uri="{FF2B5EF4-FFF2-40B4-BE49-F238E27FC236}">
                <a16:creationId xmlns:a16="http://schemas.microsoft.com/office/drawing/2014/main" id="{F9636FE3-BAF8-405A-B3EF-6D00BDB7ABFB}"/>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Lead with what saves time immediately, because that buys the credit needed for the things that take a week to prove. Recommendations land last, once the day plan is already trusted.</a:t>
            </a:r>
            <a:endParaRPr sz="1000"/>
          </a:p>
        </p:txBody>
      </p:sp>
      <p:sp>
        <p:nvSpPr>
          <p:cNvPr id="15" name="Shape 13">
            <a:extLst xmlns:a="http://schemas.openxmlformats.org/drawingml/2006/main">
              <a:ext uri="{FF2B5EF4-FFF2-40B4-BE49-F238E27FC236}">
                <a16:creationId xmlns:a16="http://schemas.microsoft.com/office/drawing/2014/main" id="{F26C9104-20DB-4D04-BFEE-DDBBBEB88DE3}"/>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97C5AD6C-3059-4439-8871-0148183F5D6F}"/>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6DF7FD6F-C3A7-45C1-B277-76370CC28A37}"/>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Agree the review basis before the pilot</a:t>
            </a:r>
            <a:endParaRPr sz="1200"/>
          </a:p>
        </p:txBody>
      </p:sp>
      <p:sp>
        <p:nvSpPr>
          <p:cNvPr id="18" name="Text 16">
            <a:extLst xmlns:a="http://schemas.openxmlformats.org/drawingml/2006/main">
              <a:ext uri="{FF2B5EF4-FFF2-40B4-BE49-F238E27FC236}">
                <a16:creationId xmlns:a16="http://schemas.microsoft.com/office/drawing/2014/main" id="{D9914451-CD4A-4B45-BE3B-92EC88A8FCFB}"/>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Behaviour change precedes revenue. Judging a three-month pilot on a commercial number cancels working programmes; judging it on leading indicators is both fairer and more honest, because flat leading indicators mean it is not being used.</a:t>
            </a:r>
            <a:endParaRPr sz="1000"/>
          </a:p>
        </p:txBody>
      </p:sp>
      <p:sp>
        <p:nvSpPr>
          <p:cNvPr id="19" name="Shape 17">
            <a:extLst xmlns:a="http://schemas.openxmlformats.org/drawingml/2006/main">
              <a:ext uri="{FF2B5EF4-FFF2-40B4-BE49-F238E27FC236}">
                <a16:creationId xmlns:a16="http://schemas.microsoft.com/office/drawing/2014/main" id="{1D3C0B80-29E2-42CA-8D8C-C5974F4F60FC}"/>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ADDB3F98-5432-4B58-A3A3-FD55CD1E0ACE}"/>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capability list was never the hard part. A relationship manager will adopt something that makes today shorter and ignore something that makes today richer — and almost every frontline platform is designed for the second.</a:t>
            </a:r>
            <a:endParaRPr sz="1200"/>
          </a:p>
        </p:txBody>
      </p:sp>
      <p:sp>
        <p:nvSpPr>
          <p:cNvPr id="21" name="Shape 19">
            <a:extLst xmlns:a="http://schemas.openxmlformats.org/drawingml/2006/main">
              <a:ext uri="{FF2B5EF4-FFF2-40B4-BE49-F238E27FC236}">
                <a16:creationId xmlns:a16="http://schemas.microsoft.com/office/drawing/2014/main" id="{E6B9FDD2-E42C-4C5D-AF29-0261ED7DEE7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66F86E10-43FA-482F-8422-2F70D7F54E6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operating-model analysis</a:t>
            </a:r>
            <a:endParaRPr sz="850"/>
          </a:p>
        </p:txBody>
      </p:sp>
      <p:sp>
        <p:nvSpPr>
          <p:cNvPr id="23" name="Text 21">
            <a:extLst xmlns:a="http://schemas.openxmlformats.org/drawingml/2006/main">
              <a:ext uri="{FF2B5EF4-FFF2-40B4-BE49-F238E27FC236}">
                <a16:creationId xmlns:a16="http://schemas.microsoft.com/office/drawing/2014/main" id="{0B989EDD-8A7C-42CF-8BC0-A5F0BBE6B3F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2112151171"/>
      </p:ext>
    </p:extLst>
  </p:cSld>
</p:sld>
</file>

<file path=ppt/slides/slide15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5DDCEAD-E842-4326-8920-A3C626651512}"/>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PROCESS REDESIGN  ·  12 OF 30</a:t>
            </a:r>
            <a:endParaRPr sz="950"/>
          </a:p>
        </p:txBody>
      </p:sp>
      <p:sp>
        <p:nvSpPr>
          <p:cNvPr id="3" name="Text 1">
            <a:extLst xmlns:a="http://schemas.openxmlformats.org/drawingml/2006/main">
              <a:ext uri="{FF2B5EF4-FFF2-40B4-BE49-F238E27FC236}">
                <a16:creationId xmlns:a16="http://schemas.microsoft.com/office/drawing/2014/main" id="{D16ED9A0-2EEC-49C9-96F8-BB1AF89AA303}"/>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Kotak Mahindra Life</a:t>
            </a:r>
            <a:endParaRPr sz="3800"/>
          </a:p>
        </p:txBody>
      </p:sp>
      <p:sp>
        <p:nvSpPr>
          <p:cNvPr id="4" name="Text 2">
            <a:extLst xmlns:a="http://schemas.openxmlformats.org/drawingml/2006/main">
              <a:ext uri="{FF2B5EF4-FFF2-40B4-BE49-F238E27FC236}">
                <a16:creationId xmlns:a16="http://schemas.microsoft.com/office/drawing/2014/main" id="{3D9213CE-B36A-477D-8C6B-56204F851953}"/>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Policy revival as a risk-based journey — when one process for every lapse is the problem</a:t>
            </a:r>
            <a:endParaRPr sz="1800"/>
          </a:p>
        </p:txBody>
      </p:sp>
      <p:sp>
        <p:nvSpPr>
          <p:cNvPr id="5" name="Text 3">
            <a:extLst xmlns:a="http://schemas.openxmlformats.org/drawingml/2006/main">
              <a:ext uri="{FF2B5EF4-FFF2-40B4-BE49-F238E27FC236}">
                <a16:creationId xmlns:a16="http://schemas.microsoft.com/office/drawing/2014/main" id="{F6CAFDA3-0426-4734-938A-D245C9BE68E9}"/>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lapsed policy is a customer the insurer has already acquired, already underwritten and already lost. Reviving one is the cheapest premium in the business — and it is usually run as a single heavy process that treats every lapse the same.</a:t>
            </a:r>
            <a:endParaRPr sz="1150"/>
          </a:p>
        </p:txBody>
      </p:sp>
      <p:sp>
        <p:nvSpPr>
          <p:cNvPr id="6" name="Shape 4">
            <a:extLst xmlns:a="http://schemas.openxmlformats.org/drawingml/2006/main">
              <a:ext uri="{FF2B5EF4-FFF2-40B4-BE49-F238E27FC236}">
                <a16:creationId xmlns:a16="http://schemas.microsoft.com/office/drawing/2014/main" id="{B53FF2DA-3751-4FA2-953B-B6BEEACD5533}"/>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EF11E211-95E5-4B15-B36F-9A4A010E13AB}"/>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8" name="Text 6">
            <a:extLst xmlns:a="http://schemas.openxmlformats.org/drawingml/2006/main">
              <a:ext uri="{FF2B5EF4-FFF2-40B4-BE49-F238E27FC236}">
                <a16:creationId xmlns:a16="http://schemas.microsoft.com/office/drawing/2014/main" id="{5E624224-ED98-4334-9B25-0DD147C55045}"/>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process where three</a:t>
            </a:r>
            <a:endParaRPr sz="900"/>
          </a:p>
          <a:p xmlns:a="http://schemas.openxmlformats.org/drawingml/2006/main">
            <a:pPr marL="0" indent="0">
              <a:lnSpc>
                <a:spcPts val="1100"/>
              </a:lnSpc>
              <a:buNone/>
            </a:pPr>
            <a:r>
              <a:rPr sz="900">
                <a:solidFill>
                  <a:srgbClr val="8FA9C4"/>
                </a:solidFill>
                <a:latin typeface="Arial"/>
                <a:ea typeface="Arial"/>
                <a:cs typeface="Arial"/>
              </a:rPr>
              <a:t>were needed</a:t>
            </a:r>
            <a:endParaRPr sz="900"/>
          </a:p>
        </p:txBody>
      </p:sp>
      <p:sp>
        <p:nvSpPr>
          <p:cNvPr id="9" name="Text 7">
            <a:extLst xmlns:a="http://schemas.openxmlformats.org/drawingml/2006/main">
              <a:ext uri="{FF2B5EF4-FFF2-40B4-BE49-F238E27FC236}">
                <a16:creationId xmlns:a16="http://schemas.microsoft.com/office/drawing/2014/main" id="{71EB6810-B65D-49C7-9433-BB3708111460}"/>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0" name="Text 8">
            <a:extLst xmlns:a="http://schemas.openxmlformats.org/drawingml/2006/main">
              <a:ext uri="{FF2B5EF4-FFF2-40B4-BE49-F238E27FC236}">
                <a16:creationId xmlns:a16="http://schemas.microsoft.com/office/drawing/2014/main" id="{94C875FC-B927-4737-93A5-F145B86E8229}"/>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risk paths</a:t>
            </a:r>
            <a:endParaRPr sz="900"/>
          </a:p>
          <a:p xmlns:a="http://schemas.openxmlformats.org/drawingml/2006/main">
            <a:pPr marL="0" indent="0">
              <a:lnSpc>
                <a:spcPts val="1100"/>
              </a:lnSpc>
              <a:buNone/>
            </a:pPr>
            <a:r>
              <a:rPr sz="900">
                <a:solidFill>
                  <a:srgbClr val="8FA9C4"/>
                </a:solidFill>
                <a:latin typeface="Arial"/>
                <a:ea typeface="Arial"/>
                <a:cs typeface="Arial"/>
              </a:rPr>
              <a:t>designed</a:t>
            </a:r>
            <a:endParaRPr sz="900"/>
          </a:p>
        </p:txBody>
      </p:sp>
      <p:sp>
        <p:nvSpPr>
          <p:cNvPr id="11" name="Text 9">
            <a:extLst xmlns:a="http://schemas.openxmlformats.org/drawingml/2006/main">
              <a:ext uri="{FF2B5EF4-FFF2-40B4-BE49-F238E27FC236}">
                <a16:creationId xmlns:a16="http://schemas.microsoft.com/office/drawing/2014/main" id="{5F306F88-C529-4F02-A6D8-A49B871D3C15}"/>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12" name="Text 10">
            <a:extLst xmlns:a="http://schemas.openxmlformats.org/drawingml/2006/main">
              <a:ext uri="{FF2B5EF4-FFF2-40B4-BE49-F238E27FC236}">
                <a16:creationId xmlns:a16="http://schemas.microsoft.com/office/drawing/2014/main" id="{345EF0E4-3EA0-4A6E-B4DE-E8B76950D9BD}"/>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systems behind</a:t>
            </a:r>
            <a:endParaRPr sz="900"/>
          </a:p>
          <a:p xmlns:a="http://schemas.openxmlformats.org/drawingml/2006/main">
            <a:pPr marL="0" indent="0">
              <a:lnSpc>
                <a:spcPts val="1100"/>
              </a:lnSpc>
              <a:buNone/>
            </a:pPr>
            <a:r>
              <a:rPr sz="900">
                <a:solidFill>
                  <a:srgbClr val="8FA9C4"/>
                </a:solidFill>
                <a:latin typeface="Arial"/>
                <a:ea typeface="Arial"/>
                <a:cs typeface="Arial"/>
              </a:rPr>
              <a:t>one case</a:t>
            </a:r>
            <a:endParaRPr sz="900"/>
          </a:p>
        </p:txBody>
      </p:sp>
      <p:sp>
        <p:nvSpPr>
          <p:cNvPr id="13" name="Text 11">
            <a:extLst xmlns:a="http://schemas.openxmlformats.org/drawingml/2006/main">
              <a:ext uri="{FF2B5EF4-FFF2-40B4-BE49-F238E27FC236}">
                <a16:creationId xmlns:a16="http://schemas.microsoft.com/office/drawing/2014/main" id="{233BF6E9-F3B5-4569-9CC9-6E3B219FEF3A}"/>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14" name="Text 12">
            <a:extLst xmlns:a="http://schemas.openxmlformats.org/drawingml/2006/main">
              <a:ext uri="{FF2B5EF4-FFF2-40B4-BE49-F238E27FC236}">
                <a16:creationId xmlns:a16="http://schemas.microsoft.com/office/drawing/2014/main" id="{430C18E1-6BAC-411D-B3BD-3D9E0C24ED76}"/>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programmes,</a:t>
            </a:r>
            <a:endParaRPr sz="900"/>
          </a:p>
          <a:p xmlns:a="http://schemas.openxmlformats.org/drawingml/2006/main">
            <a:pPr marL="0" indent="0">
              <a:lnSpc>
                <a:spcPts val="1100"/>
              </a:lnSpc>
              <a:buNone/>
            </a:pPr>
            <a:r>
              <a:rPr sz="900">
                <a:solidFill>
                  <a:srgbClr val="8FA9C4"/>
                </a:solidFill>
                <a:latin typeface="Arial"/>
                <a:ea typeface="Arial"/>
                <a:cs typeface="Arial"/>
              </a:rPr>
              <a:t>2022 and 2026</a:t>
            </a:r>
            <a:endParaRPr sz="900"/>
          </a:p>
        </p:txBody>
      </p:sp>
      <p:sp>
        <p:nvSpPr>
          <p:cNvPr id="15" name="Text 13">
            <a:extLst xmlns:a="http://schemas.openxmlformats.org/drawingml/2006/main">
              <a:ext uri="{FF2B5EF4-FFF2-40B4-BE49-F238E27FC236}">
                <a16:creationId xmlns:a16="http://schemas.microsoft.com/office/drawing/2014/main" id="{F5C6E592-2B92-44E5-AF27-9E244FA4295D}"/>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D6067959-EDF5-483A-AAE8-FC08479BDF4D}"/>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underwriting question</a:t>
            </a:r>
            <a:endParaRPr sz="900"/>
          </a:p>
          <a:p xmlns:a="http://schemas.openxmlformats.org/drawingml/2006/main">
            <a:pPr marL="0" indent="0">
              <a:lnSpc>
                <a:spcPts val="1100"/>
              </a:lnSpc>
              <a:buNone/>
            </a:pPr>
            <a:r>
              <a:rPr sz="900">
                <a:solidFill>
                  <a:srgbClr val="8FA9C4"/>
                </a:solidFill>
                <a:latin typeface="Arial"/>
                <a:ea typeface="Arial"/>
                <a:cs typeface="Arial"/>
              </a:rPr>
              <a:t>that sorts them</a:t>
            </a:r>
            <a:endParaRPr sz="900"/>
          </a:p>
        </p:txBody>
      </p:sp>
      <p:sp>
        <p:nvSpPr>
          <p:cNvPr id="17" name="Text 15">
            <a:extLst xmlns:a="http://schemas.openxmlformats.org/drawingml/2006/main">
              <a:ext uri="{FF2B5EF4-FFF2-40B4-BE49-F238E27FC236}">
                <a16:creationId xmlns:a16="http://schemas.microsoft.com/office/drawing/2014/main" id="{C8145CCD-D467-490C-8D8A-15251AEE0992}"/>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DA0A96E3-0C8F-4549-8E63-BE4615A2175A}"/>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revivals that need</a:t>
            </a:r>
            <a:endParaRPr sz="900"/>
          </a:p>
          <a:p xmlns:a="http://schemas.openxmlformats.org/drawingml/2006/main">
            <a:pPr marL="0" indent="0">
              <a:lnSpc>
                <a:spcPts val="1100"/>
              </a:lnSpc>
              <a:buNone/>
            </a:pPr>
            <a:r>
              <a:rPr sz="900">
                <a:solidFill>
                  <a:srgbClr val="8FA9C4"/>
                </a:solidFill>
                <a:latin typeface="Arial"/>
                <a:ea typeface="Arial"/>
                <a:cs typeface="Arial"/>
              </a:rPr>
              <a:t>the full path</a:t>
            </a:r>
            <a:endParaRPr sz="900"/>
          </a:p>
        </p:txBody>
      </p:sp>
      <p:sp>
        <p:nvSpPr>
          <p:cNvPr id="19" name="Shape 17">
            <a:extLst xmlns:a="http://schemas.openxmlformats.org/drawingml/2006/main">
              <a:ext uri="{FF2B5EF4-FFF2-40B4-BE49-F238E27FC236}">
                <a16:creationId xmlns:a16="http://schemas.microsoft.com/office/drawing/2014/main" id="{DE48F28C-B12E-4B02-A8B6-B87705FE3DF3}"/>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27CB84EB-F75E-46EA-A8B2-D2035A37E231}"/>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PROGRAMME CONTEXT  ·  LIFE INSURANCE POLICY SERVICING</a:t>
            </a:r>
            <a:endParaRPr sz="800"/>
          </a:p>
        </p:txBody>
      </p:sp>
      <p:sp>
        <p:nvSpPr>
          <p:cNvPr id="21" name="Text 19">
            <a:extLst xmlns:a="http://schemas.openxmlformats.org/drawingml/2006/main">
              <a:ext uri="{FF2B5EF4-FFF2-40B4-BE49-F238E27FC236}">
                <a16:creationId xmlns:a16="http://schemas.microsoft.com/office/drawing/2014/main" id="{FF04411C-0006-4ED3-A624-0E957D73BF49}"/>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Major revival transformation    ·    risk-based revival redesign    ·    document integration across the servicing estate</a:t>
            </a:r>
            <a:endParaRPr sz="1050"/>
          </a:p>
        </p:txBody>
      </p:sp>
      <p:sp>
        <p:nvSpPr>
          <p:cNvPr id="22" name="Text 20">
            <a:extLst xmlns:a="http://schemas.openxmlformats.org/drawingml/2006/main">
              <a:ext uri="{FF2B5EF4-FFF2-40B4-BE49-F238E27FC236}">
                <a16:creationId xmlns:a16="http://schemas.microsoft.com/office/drawing/2014/main" id="{7F2CB550-B702-4820-871D-A7F9828EEF2A}"/>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policy servicing programmes  ·  2022 and 2026</a:t>
            </a:r>
            <a:endParaRPr sz="1200"/>
          </a:p>
        </p:txBody>
      </p:sp>
      <p:sp>
        <p:nvSpPr>
          <p:cNvPr id="23" name="Text 21">
            <a:extLst xmlns:a="http://schemas.openxmlformats.org/drawingml/2006/main">
              <a:ext uri="{FF2B5EF4-FFF2-40B4-BE49-F238E27FC236}">
                <a16:creationId xmlns:a16="http://schemas.microsoft.com/office/drawing/2014/main" id="{4CA9F23E-BE92-48FF-89F4-EEBDFB1C41A3}"/>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system names removed. Programme scope is from the delivery record; the risk-path model and the segmentation analysis are design work.</a:t>
            </a:r>
            <a:endParaRPr sz="850"/>
          </a:p>
        </p:txBody>
      </p:sp>
    </p:spTree>
    <p:extLst>
      <p:ext uri="{BB962C8B-B14F-4D97-AF65-F5344CB8AC3E}">
        <p14:creationId xmlns:p14="http://schemas.microsoft.com/office/powerpoint/2010/main" val="228146707"/>
      </p:ext>
    </p:extLst>
  </p:cSld>
</p:sld>
</file>

<file path=ppt/slides/slide15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A67C1D2-A5B9-4806-A7B1-2841791474B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F1897684-6D47-4868-A8DA-3AF56B95C15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Revival is underwriting, not administration — and the single heaviest path was being</a:t>
            </a:r>
            <a:endParaRPr sz="1900"/>
          </a:p>
          <a:p xmlns:a="http://schemas.openxmlformats.org/drawingml/2006/main">
            <a:pPr marL="0" indent="0">
              <a:lnSpc>
                <a:spcPts val="2400"/>
              </a:lnSpc>
              <a:buNone/>
            </a:pPr>
            <a:r>
              <a:rPr sz="1900" b="1">
                <a:solidFill>
                  <a:srgbClr val="102A43"/>
                </a:solidFill>
                <a:latin typeface="Arial"/>
                <a:ea typeface="Arial"/>
                <a:cs typeface="Arial"/>
              </a:rPr>
              <a:t>applied to cases that never needed it</a:t>
            </a:r>
            <a:endParaRPr sz="1900"/>
          </a:p>
        </p:txBody>
      </p:sp>
      <p:sp>
        <p:nvSpPr>
          <p:cNvPr id="4" name="Shape 2">
            <a:extLst xmlns:a="http://schemas.openxmlformats.org/drawingml/2006/main">
              <a:ext uri="{FF2B5EF4-FFF2-40B4-BE49-F238E27FC236}">
                <a16:creationId xmlns:a16="http://schemas.microsoft.com/office/drawing/2014/main" id="{BA5B3721-9497-4A7B-8649-70F8E4A3BEFE}"/>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7551B4C2-33B3-436E-BC9F-4C37F3C4B456}"/>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B38554D9-DEFE-45E4-B7C6-EDF8C1555F42}"/>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life insurer running policy revival for lapsed policies. Where the lapse is beyond a defined threshold the revival requires fresh underwriting, because the insured's health and circumstances may have changed since the policy was written.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That requirement is real, and it is what makes revival a servicing process with an underwriting decision inside it.</a:t>
            </a:r>
            <a:endParaRPr sz="980"/>
          </a:p>
        </p:txBody>
      </p:sp>
      <p:sp>
        <p:nvSpPr>
          <p:cNvPr id="7" name="Shape 5">
            <a:extLst xmlns:a="http://schemas.openxmlformats.org/drawingml/2006/main">
              <a:ext uri="{FF2B5EF4-FFF2-40B4-BE49-F238E27FC236}">
                <a16:creationId xmlns:a16="http://schemas.microsoft.com/office/drawing/2014/main" id="{DDD13C0A-5DA5-4982-9262-9D69FDB3E5E2}"/>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724314D5-D6EF-479C-86FD-30BCD70F74BE}"/>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66DD1796-E2BE-4406-A037-3CD709B7C14D}"/>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Because some revivals need full underwriting, the process was built to handle full underwriting — and then applied to all of them.</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 policy lapsed for two months on a small sum assured for a customer in their thirties went through the same evidence collection, the same medical requirements pathway and the same turnaround as one lapsed for two years on a large sum for an older insured. The heavy path is correct for a minority and a deterrent for the rest.</a:t>
            </a:r>
            <a:endParaRPr sz="980"/>
          </a:p>
        </p:txBody>
      </p:sp>
      <p:sp>
        <p:nvSpPr>
          <p:cNvPr id="10" name="Shape 8">
            <a:extLst xmlns:a="http://schemas.openxmlformats.org/drawingml/2006/main">
              <a:ext uri="{FF2B5EF4-FFF2-40B4-BE49-F238E27FC236}">
                <a16:creationId xmlns:a16="http://schemas.microsoft.com/office/drawing/2014/main" id="{6D44FD2C-425D-4C9C-94FD-A1013B457466}"/>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961F2E9D-A7F3-47FC-9C72-C834179BB7E0}"/>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redesign</a:t>
            </a:r>
            <a:endParaRPr sz="1250"/>
          </a:p>
        </p:txBody>
      </p:sp>
      <p:sp>
        <p:nvSpPr>
          <p:cNvPr id="12" name="Text 10">
            <a:extLst xmlns:a="http://schemas.openxmlformats.org/drawingml/2006/main">
              <a:ext uri="{FF2B5EF4-FFF2-40B4-BE49-F238E27FC236}">
                <a16:creationId xmlns:a16="http://schemas.microsoft.com/office/drawing/2014/main" id="{DCB16DAC-88FA-4562-9373-F23D0A4EFA3D}"/>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Segment revival by underwriting risk at the point of intake, not after evidence collection. Three paths: a declaration-only path for low-risk cases, a standard evidence path, and the full underwriting path for cases that genuinely warrant it.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Same case model, same systems, same audit trail. Different requirements gathered, and a different turnaround promised.</a:t>
            </a:r>
            <a:endParaRPr sz="980"/>
          </a:p>
        </p:txBody>
      </p:sp>
      <p:sp>
        <p:nvSpPr>
          <p:cNvPr id="13" name="Text 11">
            <a:extLst xmlns:a="http://schemas.openxmlformats.org/drawingml/2006/main">
              <a:ext uri="{FF2B5EF4-FFF2-40B4-BE49-F238E27FC236}">
                <a16:creationId xmlns:a16="http://schemas.microsoft.com/office/drawing/2014/main" id="{8928515B-74BC-4EE4-9BE2-33C2BD966459}"/>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54E9594A-C942-40E9-9935-9603AE36A7A1}"/>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DD81C938-BEA7-4532-8F49-08D3795DDCA3}"/>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6" name="Text 14">
            <a:extLst xmlns:a="http://schemas.openxmlformats.org/drawingml/2006/main">
              <a:ext uri="{FF2B5EF4-FFF2-40B4-BE49-F238E27FC236}">
                <a16:creationId xmlns:a16="http://schemas.microsoft.com/office/drawing/2014/main" id="{B8D9EE66-FAEB-4B73-BF63-76DBD37CE3EB}"/>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revival paths</a:t>
            </a:r>
            <a:endParaRPr sz="860"/>
          </a:p>
        </p:txBody>
      </p:sp>
      <p:sp>
        <p:nvSpPr>
          <p:cNvPr id="17" name="Shape 15">
            <a:extLst xmlns:a="http://schemas.openxmlformats.org/drawingml/2006/main">
              <a:ext uri="{FF2B5EF4-FFF2-40B4-BE49-F238E27FC236}">
                <a16:creationId xmlns:a16="http://schemas.microsoft.com/office/drawing/2014/main" id="{AF022808-EE55-4AC1-89B4-56E818F5E5E3}"/>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F1D46987-6361-4D66-B435-67E7968C350C}"/>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67A05350-E9EC-48E9-8C1F-D5A262AA287A}"/>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intake decision that routes</a:t>
            </a:r>
            <a:endParaRPr sz="860"/>
          </a:p>
        </p:txBody>
      </p:sp>
      <p:sp>
        <p:nvSpPr>
          <p:cNvPr id="20" name="Shape 18">
            <a:extLst xmlns:a="http://schemas.openxmlformats.org/drawingml/2006/main">
              <a:ext uri="{FF2B5EF4-FFF2-40B4-BE49-F238E27FC236}">
                <a16:creationId xmlns:a16="http://schemas.microsoft.com/office/drawing/2014/main" id="{FAF382F0-EE3B-4565-B700-F416571E382D}"/>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964F12FC-7144-4496-92C9-809B40B0DBC5}"/>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2" name="Text 20">
            <a:extLst xmlns:a="http://schemas.openxmlformats.org/drawingml/2006/main">
              <a:ext uri="{FF2B5EF4-FFF2-40B4-BE49-F238E27FC236}">
                <a16:creationId xmlns:a16="http://schemas.microsoft.com/office/drawing/2014/main" id="{AC21056A-0FF0-4DD5-8E55-3AD87EF5F16A}"/>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systems behind one case</a:t>
            </a:r>
            <a:endParaRPr sz="860"/>
          </a:p>
        </p:txBody>
      </p:sp>
      <p:sp>
        <p:nvSpPr>
          <p:cNvPr id="23" name="Shape 21">
            <a:extLst xmlns:a="http://schemas.openxmlformats.org/drawingml/2006/main">
              <a:ext uri="{FF2B5EF4-FFF2-40B4-BE49-F238E27FC236}">
                <a16:creationId xmlns:a16="http://schemas.microsoft.com/office/drawing/2014/main" id="{AB7D86FD-DC93-4253-A535-51B75E56EA75}"/>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1404BF71-8694-4CDF-9713-A80DBB4D41BF}"/>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5" name="Text 23">
            <a:extLst xmlns:a="http://schemas.openxmlformats.org/drawingml/2006/main">
              <a:ext uri="{FF2B5EF4-FFF2-40B4-BE49-F238E27FC236}">
                <a16:creationId xmlns:a16="http://schemas.microsoft.com/office/drawing/2014/main" id="{84072EB2-26B8-464F-A9D2-CCD31A2C8EEF}"/>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case model, unchanged</a:t>
            </a:r>
            <a:endParaRPr sz="860"/>
          </a:p>
        </p:txBody>
      </p:sp>
      <p:sp>
        <p:nvSpPr>
          <p:cNvPr id="26" name="Shape 24">
            <a:extLst xmlns:a="http://schemas.openxmlformats.org/drawingml/2006/main">
              <a:ext uri="{FF2B5EF4-FFF2-40B4-BE49-F238E27FC236}">
                <a16:creationId xmlns:a16="http://schemas.microsoft.com/office/drawing/2014/main" id="{29042145-357C-4D06-BE66-2B2637F23BB3}"/>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99EF14AA-50B7-49A5-9FEE-A1B0E447E85F}"/>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28" name="Text 26">
            <a:extLst xmlns:a="http://schemas.openxmlformats.org/drawingml/2006/main">
              <a:ext uri="{FF2B5EF4-FFF2-40B4-BE49-F238E27FC236}">
                <a16:creationId xmlns:a16="http://schemas.microsoft.com/office/drawing/2014/main" id="{BE9B38E8-FD7C-4BCB-880D-2A6FF7ED62D4}"/>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delivery phases</a:t>
            </a:r>
            <a:endParaRPr sz="860"/>
          </a:p>
        </p:txBody>
      </p:sp>
      <p:sp>
        <p:nvSpPr>
          <p:cNvPr id="29" name="Shape 27">
            <a:extLst xmlns:a="http://schemas.openxmlformats.org/drawingml/2006/main">
              <a:ext uri="{FF2B5EF4-FFF2-40B4-BE49-F238E27FC236}">
                <a16:creationId xmlns:a16="http://schemas.microsoft.com/office/drawing/2014/main" id="{13D6BE26-CAED-4D7F-9951-F718E7E38D9F}"/>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754EE3E4-F9EC-4D42-861C-0F815FBFCC80}"/>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31" name="Text 29">
            <a:extLst xmlns:a="http://schemas.openxmlformats.org/drawingml/2006/main">
              <a:ext uri="{FF2B5EF4-FFF2-40B4-BE49-F238E27FC236}">
                <a16:creationId xmlns:a16="http://schemas.microsoft.com/office/drawing/2014/main" id="{9E775CD1-9808-4207-9F73-30D1EEEAAB86}"/>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reduction in evidence where risk is real</a:t>
            </a:r>
            <a:endParaRPr sz="860"/>
          </a:p>
        </p:txBody>
      </p:sp>
      <p:sp>
        <p:nvSpPr>
          <p:cNvPr id="32" name="Text 30">
            <a:extLst xmlns:a="http://schemas.openxmlformats.org/drawingml/2006/main">
              <a:ext uri="{FF2B5EF4-FFF2-40B4-BE49-F238E27FC236}">
                <a16:creationId xmlns:a16="http://schemas.microsoft.com/office/drawing/2014/main" id="{C04FF5A1-6405-45FA-82AF-97E9B10EEAC7}"/>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principle behind it:  where a process contains a risk decision, the risk decision should determine the process — not the other way round. Building for the hardest case and applying it universally is the most common shape of servicing friction, and it is almost always invisible from inside the process.</a:t>
            </a:r>
            <a:endParaRPr sz="1000"/>
          </a:p>
        </p:txBody>
      </p:sp>
      <p:sp>
        <p:nvSpPr>
          <p:cNvPr id="33" name="Shape 31">
            <a:extLst xmlns:a="http://schemas.openxmlformats.org/drawingml/2006/main">
              <a:ext uri="{FF2B5EF4-FFF2-40B4-BE49-F238E27FC236}">
                <a16:creationId xmlns:a16="http://schemas.microsoft.com/office/drawing/2014/main" id="{4C398711-7A54-48FE-A7BF-C9C7CE767B1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B3813836-D84F-45BF-92E3-0C9A2D3B2AE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process analysis</a:t>
            </a:r>
            <a:endParaRPr sz="850"/>
          </a:p>
        </p:txBody>
      </p:sp>
      <p:sp>
        <p:nvSpPr>
          <p:cNvPr id="35" name="Text 33">
            <a:extLst xmlns:a="http://schemas.openxmlformats.org/drawingml/2006/main">
              <a:ext uri="{FF2B5EF4-FFF2-40B4-BE49-F238E27FC236}">
                <a16:creationId xmlns:a16="http://schemas.microsoft.com/office/drawing/2014/main" id="{FFFA2CCE-6C7F-4A90-B143-D4B1D913A82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08333036"/>
      </p:ext>
    </p:extLst>
  </p:cSld>
</p:sld>
</file>

<file path=ppt/slides/slide15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4AA3D85-56C3-4F05-A8B6-48B1B8BD496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8567112C-6829-4D53-90D8-B1DAC468F56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programmes and the systems involved come from the delivery record; the</a:t>
            </a:r>
            <a:endParaRPr sz="1900"/>
          </a:p>
          <a:p xmlns:a="http://schemas.openxmlformats.org/drawingml/2006/main">
            <a:pPr marL="0" indent="0">
              <a:lnSpc>
                <a:spcPts val="2400"/>
              </a:lnSpc>
              <a:buNone/>
            </a:pPr>
            <a:r>
              <a:rPr sz="1900" b="1">
                <a:solidFill>
                  <a:srgbClr val="102A43"/>
                </a:solidFill>
                <a:latin typeface="Arial"/>
                <a:ea typeface="Arial"/>
                <a:cs typeface="Arial"/>
              </a:rPr>
              <a:t>three-path model and the segmentation analysis are design work</a:t>
            </a:r>
            <a:endParaRPr sz="1900"/>
          </a:p>
        </p:txBody>
      </p:sp>
      <p:sp>
        <p:nvSpPr>
          <p:cNvPr id="4" name="Shape 2">
            <a:extLst xmlns:a="http://schemas.openxmlformats.org/drawingml/2006/main">
              <a:ext uri="{FF2B5EF4-FFF2-40B4-BE49-F238E27FC236}">
                <a16:creationId xmlns:a16="http://schemas.microsoft.com/office/drawing/2014/main" id="{589FAA48-A9A4-454A-BA12-14F55F9BEF67}"/>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F5585935-2EE0-46B8-832C-3FF9EEBF9A1F}"/>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A9041578-3447-49C8-919C-48BF2EF6EF71}"/>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DELIVERED SCOPE</a:t>
            </a:r>
            <a:endParaRPr sz="740"/>
          </a:p>
        </p:txBody>
      </p:sp>
      <p:sp>
        <p:nvSpPr>
          <p:cNvPr id="7" name="Text 5">
            <a:extLst xmlns:a="http://schemas.openxmlformats.org/drawingml/2006/main">
              <a:ext uri="{FF2B5EF4-FFF2-40B4-BE49-F238E27FC236}">
                <a16:creationId xmlns:a16="http://schemas.microsoft.com/office/drawing/2014/main" id="{5E67B7FA-9E9D-4C49-9508-FF989DFACBF9}"/>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22552341-989B-4951-9399-181EED3AD6E6}"/>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revival programmes and the servicing estate they ran across, as delivered.</a:t>
            </a:r>
            <a:endParaRPr sz="920"/>
          </a:p>
        </p:txBody>
      </p:sp>
      <p:sp>
        <p:nvSpPr>
          <p:cNvPr id="9" name="Shape 7">
            <a:extLst xmlns:a="http://schemas.openxmlformats.org/drawingml/2006/main">
              <a:ext uri="{FF2B5EF4-FFF2-40B4-BE49-F238E27FC236}">
                <a16:creationId xmlns:a16="http://schemas.microsoft.com/office/drawing/2014/main" id="{2346D1B1-FA22-4EDD-A962-13A255A7A5BA}"/>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D8196FCC-3AB6-4DC5-90DE-A71521B18FD5}"/>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Major revival transformation, 2022</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Risk-based revival redesign, 2026</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Document integration across the estate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systems in the servicing chain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Existing underwriting rules in place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Reporting and audit obligations</a:t>
            </a:r>
            <a:endParaRPr sz="930"/>
          </a:p>
        </p:txBody>
      </p:sp>
      <p:sp>
        <p:nvSpPr>
          <p:cNvPr id="11" name="Shape 9">
            <a:extLst xmlns:a="http://schemas.openxmlformats.org/drawingml/2006/main">
              <a:ext uri="{FF2B5EF4-FFF2-40B4-BE49-F238E27FC236}">
                <a16:creationId xmlns:a16="http://schemas.microsoft.com/office/drawing/2014/main" id="{BADF7D6A-E5B5-43F9-B79E-835AD6982C5C}"/>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DA41A387-B46C-4C90-BABF-49E6DC2FE8A3}"/>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E9544969-C8A2-4AC7-9A20-84D32F2B9294}"/>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8732CF13-EEE9-4643-9CBA-6F13AE771CE8}"/>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66BD5D1F-CEB4-4780-97DF-DE64197BF78B}"/>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Delivery lead across both revival programmes and the associated document integration.</a:t>
            </a:r>
            <a:endParaRPr sz="920"/>
          </a:p>
        </p:txBody>
      </p:sp>
      <p:sp>
        <p:nvSpPr>
          <p:cNvPr id="16" name="Shape 14">
            <a:extLst xmlns:a="http://schemas.openxmlformats.org/drawingml/2006/main">
              <a:ext uri="{FF2B5EF4-FFF2-40B4-BE49-F238E27FC236}">
                <a16:creationId xmlns:a16="http://schemas.microsoft.com/office/drawing/2014/main" id="{42512020-EB74-4768-A9E4-C7479821E580}"/>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C313FE2C-9335-4ED0-86D2-ED1CF450A35B}"/>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Revival journey redesign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Intake-stage routing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Document integration across systems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Case model and audit continuity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Two phases, four years apart</a:t>
            </a:r>
            <a:endParaRPr sz="930"/>
          </a:p>
        </p:txBody>
      </p:sp>
      <p:sp>
        <p:nvSpPr>
          <p:cNvPr id="18" name="Shape 16">
            <a:extLst xmlns:a="http://schemas.openxmlformats.org/drawingml/2006/main">
              <a:ext uri="{FF2B5EF4-FFF2-40B4-BE49-F238E27FC236}">
                <a16:creationId xmlns:a16="http://schemas.microsoft.com/office/drawing/2014/main" id="{C619E4AE-6413-4DDB-9834-41A102F9E76C}"/>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3CA27493-B2B1-4C7A-8148-4DA47F1F16E4}"/>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E046D6F0-189C-4A0A-8CE4-32FDCA40B258}"/>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METHOD ILLUSTRATION</a:t>
            </a:r>
            <a:endParaRPr sz="740"/>
          </a:p>
        </p:txBody>
      </p:sp>
      <p:sp>
        <p:nvSpPr>
          <p:cNvPr id="21" name="Text 19">
            <a:extLst xmlns:a="http://schemas.openxmlformats.org/drawingml/2006/main">
              <a:ext uri="{FF2B5EF4-FFF2-40B4-BE49-F238E27FC236}">
                <a16:creationId xmlns:a16="http://schemas.microsoft.com/office/drawing/2014/main" id="{3C8B6A64-3E43-40DB-B743-02D3392A2E8A}"/>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Reconstructed</a:t>
            </a:r>
            <a:endParaRPr sz="1200"/>
          </a:p>
        </p:txBody>
      </p:sp>
      <p:sp>
        <p:nvSpPr>
          <p:cNvPr id="22" name="Text 20">
            <a:extLst xmlns:a="http://schemas.openxmlformats.org/drawingml/2006/main">
              <a:ext uri="{FF2B5EF4-FFF2-40B4-BE49-F238E27FC236}">
                <a16:creationId xmlns:a16="http://schemas.microsoft.com/office/drawing/2014/main" id="{0890799A-5640-4FB9-9ACF-6F113433041F}"/>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design detail shown illustrates the approach taken. Specific definitions, categories and figures are reconstructed for presentation and are not quoted from the programme record.</a:t>
            </a:r>
            <a:endParaRPr sz="920"/>
          </a:p>
        </p:txBody>
      </p:sp>
      <p:sp>
        <p:nvSpPr>
          <p:cNvPr id="23" name="Shape 21">
            <a:extLst xmlns:a="http://schemas.openxmlformats.org/drawingml/2006/main">
              <a:ext uri="{FF2B5EF4-FFF2-40B4-BE49-F238E27FC236}">
                <a16:creationId xmlns:a16="http://schemas.microsoft.com/office/drawing/2014/main" id="{6D9BBEFB-92F6-4117-B17E-9B02447E04FA}"/>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F69018FE-7F22-4B68-9365-B33E671C466E}"/>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Approach is from the engagement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Detail is reconstructed to illustrate it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Figures are directional, never measured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Confirm specifics before citing them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method is what transfers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Ask me for the underlying record</a:t>
            </a:r>
            <a:endParaRPr sz="930"/>
          </a:p>
        </p:txBody>
      </p:sp>
      <p:sp>
        <p:nvSpPr>
          <p:cNvPr id="25" name="Shape 23">
            <a:extLst xmlns:a="http://schemas.openxmlformats.org/drawingml/2006/main">
              <a:ext uri="{FF2B5EF4-FFF2-40B4-BE49-F238E27FC236}">
                <a16:creationId xmlns:a16="http://schemas.microsoft.com/office/drawing/2014/main" id="{9195D26E-ADD6-4F4E-A863-6662FDE9E94A}"/>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B1CCCF0-DCB5-46BB-BA8F-C0A5D7B240E2}"/>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00D1898C-B648-481A-9D4C-777DF664398D}"/>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0E6B6360-DB98-4548-B332-867CA8EAA174}"/>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8C4522DC-0FBB-4FFF-B391-D5C0CFD58A57}"/>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particularly anything belonging to the underwriting function.</a:t>
            </a:r>
            <a:endParaRPr sz="920"/>
          </a:p>
        </p:txBody>
      </p:sp>
      <p:sp>
        <p:nvSpPr>
          <p:cNvPr id="30" name="Shape 28">
            <a:extLst xmlns:a="http://schemas.openxmlformats.org/drawingml/2006/main">
              <a:ext uri="{FF2B5EF4-FFF2-40B4-BE49-F238E27FC236}">
                <a16:creationId xmlns:a16="http://schemas.microsoft.com/office/drawing/2014/main" id="{9B047DDE-335C-4961-9087-8F83394FD241}"/>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C3CEB9F1-A03E-4CF1-9A55-8FD381CFA63E}"/>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underwriting rule or threshold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policy, medical or customer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revival decision or outcome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insurer's pricing or reserving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Measured business outcomes</a:t>
            </a:r>
            <a:endParaRPr sz="930"/>
          </a:p>
        </p:txBody>
      </p:sp>
      <p:sp>
        <p:nvSpPr>
          <p:cNvPr id="32" name="Shape 30">
            <a:extLst xmlns:a="http://schemas.openxmlformats.org/drawingml/2006/main">
              <a:ext uri="{FF2B5EF4-FFF2-40B4-BE49-F238E27FC236}">
                <a16:creationId xmlns:a16="http://schemas.microsoft.com/office/drawing/2014/main" id="{CA19A760-6C0F-4234-ABB1-776B8B1E875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0DC04FDC-D373-4080-ACCB-41C3255360E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author's process analysis (models and segmentation)</a:t>
            </a:r>
            <a:endParaRPr sz="850"/>
          </a:p>
        </p:txBody>
      </p:sp>
      <p:sp>
        <p:nvSpPr>
          <p:cNvPr id="34" name="Text 32">
            <a:extLst xmlns:a="http://schemas.openxmlformats.org/drawingml/2006/main">
              <a:ext uri="{FF2B5EF4-FFF2-40B4-BE49-F238E27FC236}">
                <a16:creationId xmlns:a16="http://schemas.microsoft.com/office/drawing/2014/main" id="{9043CE34-41BF-495F-A84C-2CC15820A91D}"/>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702254148"/>
      </p:ext>
    </p:extLst>
  </p:cSld>
</p:sld>
</file>

<file path=ppt/slides/slide15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45D17A0-EB06-4BC8-82EE-1324F9D6C47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ECONOMICS</a:t>
            </a:r>
            <a:endParaRPr sz="950"/>
          </a:p>
        </p:txBody>
      </p:sp>
      <p:sp>
        <p:nvSpPr>
          <p:cNvPr id="3" name="Text 1">
            <a:extLst xmlns:a="http://schemas.openxmlformats.org/drawingml/2006/main">
              <a:ext uri="{FF2B5EF4-FFF2-40B4-BE49-F238E27FC236}">
                <a16:creationId xmlns:a16="http://schemas.microsoft.com/office/drawing/2014/main" id="{136D0752-B47F-4ECA-B1EB-6AB5659B0D2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revived policy is the cheapest premium an insurer can write — and the process</a:t>
            </a:r>
            <a:endParaRPr sz="1900"/>
          </a:p>
          <a:p xmlns:a="http://schemas.openxmlformats.org/drawingml/2006/main">
            <a:pPr marL="0" indent="0">
              <a:lnSpc>
                <a:spcPts val="2400"/>
              </a:lnSpc>
              <a:buNone/>
            </a:pPr>
            <a:r>
              <a:rPr sz="1900" b="1">
                <a:solidFill>
                  <a:srgbClr val="102A43"/>
                </a:solidFill>
                <a:latin typeface="Arial"/>
                <a:ea typeface="Arial"/>
                <a:cs typeface="Arial"/>
              </a:rPr>
              <a:t>standing in the way is usually its own</a:t>
            </a:r>
            <a:endParaRPr sz="1900"/>
          </a:p>
        </p:txBody>
      </p:sp>
      <p:sp>
        <p:nvSpPr>
          <p:cNvPr id="4" name="Shape 2">
            <a:extLst xmlns:a="http://schemas.openxmlformats.org/drawingml/2006/main">
              <a:ext uri="{FF2B5EF4-FFF2-40B4-BE49-F238E27FC236}">
                <a16:creationId xmlns:a16="http://schemas.microsoft.com/office/drawing/2014/main" id="{54B13FA0-17C9-4B4E-8095-B3D883595C83}"/>
              </a:ext>
            </a:extLst>
          </p:cNvPr>
          <p:cNvSpPr>
            <a:spLocks xmlns:a="http://schemas.openxmlformats.org/drawingml/2006/main" noGrp="1"/>
          </p:cNvSpPr>
          <p:nvPr/>
        </p:nvSpPr>
        <p:spPr>
          <a:xfrm xmlns:a="http://schemas.openxmlformats.org/drawingml/2006/main">
            <a:off x="566928" y="1335024"/>
            <a:ext cx="3551834" cy="265176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5A6D9FFC-E2F7-4BA3-9EAB-0C95E29555A1}"/>
              </a:ext>
            </a:extLst>
          </p:cNvPr>
          <p:cNvSpPr>
            <a:spLocks xmlns:a="http://schemas.openxmlformats.org/drawingml/2006/main" noGrp="1"/>
          </p:cNvSpPr>
          <p:nvPr/>
        </p:nvSpPr>
        <p:spPr>
          <a:xfrm xmlns:a="http://schemas.openxmlformats.org/drawingml/2006/main">
            <a:off x="786384" y="1517904"/>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Why revival is valuable</a:t>
            </a:r>
            <a:endParaRPr sz="1250"/>
          </a:p>
        </p:txBody>
      </p:sp>
      <p:sp>
        <p:nvSpPr>
          <p:cNvPr id="6" name="Text 4">
            <a:extLst xmlns:a="http://schemas.openxmlformats.org/drawingml/2006/main">
              <a:ext uri="{FF2B5EF4-FFF2-40B4-BE49-F238E27FC236}">
                <a16:creationId xmlns:a16="http://schemas.microsoft.com/office/drawing/2014/main" id="{8DA2E21E-2F13-449C-8BA8-548D8B818479}"/>
              </a:ext>
            </a:extLst>
          </p:cNvPr>
          <p:cNvSpPr>
            <a:spLocks xmlns:a="http://schemas.openxmlformats.org/drawingml/2006/main" noGrp="1"/>
          </p:cNvSpPr>
          <p:nvPr/>
        </p:nvSpPr>
        <p:spPr>
          <a:xfrm xmlns:a="http://schemas.openxmlformats.org/drawingml/2006/main">
            <a:off x="786384" y="1883664"/>
            <a:ext cx="3112922"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 customer is already acquired — no distribution cost, no acquisition spend.</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 policy is already underwritten once, so the insurer has history it does not have on a new applicant.</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Persistency is a reported measure that boards and regulators both watch.</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And a revived policy restores cover the customer originally decided they wanted.</a:t>
            </a:r>
            <a:endParaRPr sz="950"/>
          </a:p>
        </p:txBody>
      </p:sp>
      <p:sp>
        <p:nvSpPr>
          <p:cNvPr id="7" name="Shape 5">
            <a:extLst xmlns:a="http://schemas.openxmlformats.org/drawingml/2006/main">
              <a:ext uri="{FF2B5EF4-FFF2-40B4-BE49-F238E27FC236}">
                <a16:creationId xmlns:a16="http://schemas.microsoft.com/office/drawing/2014/main" id="{DF43DEC4-66A7-45E6-80A0-1F6556EE879D}"/>
              </a:ext>
            </a:extLst>
          </p:cNvPr>
          <p:cNvSpPr>
            <a:spLocks xmlns:a="http://schemas.openxmlformats.org/drawingml/2006/main" noGrp="1"/>
          </p:cNvSpPr>
          <p:nvPr/>
        </p:nvSpPr>
        <p:spPr>
          <a:xfrm xmlns:a="http://schemas.openxmlformats.org/drawingml/2006/main">
            <a:off x="4319930" y="1335024"/>
            <a:ext cx="3551834" cy="265176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D53909B6-8797-4BB1-9E94-D28B21E82CAE}"/>
              </a:ext>
            </a:extLst>
          </p:cNvPr>
          <p:cNvSpPr>
            <a:spLocks xmlns:a="http://schemas.openxmlformats.org/drawingml/2006/main" noGrp="1"/>
          </p:cNvSpPr>
          <p:nvPr/>
        </p:nvSpPr>
        <p:spPr>
          <a:xfrm xmlns:a="http://schemas.openxmlformats.org/drawingml/2006/main">
            <a:off x="4539386" y="1517904"/>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Why lapses happen</a:t>
            </a:r>
            <a:endParaRPr sz="1250"/>
          </a:p>
        </p:txBody>
      </p:sp>
      <p:sp>
        <p:nvSpPr>
          <p:cNvPr id="9" name="Text 7">
            <a:extLst xmlns:a="http://schemas.openxmlformats.org/drawingml/2006/main">
              <a:ext uri="{FF2B5EF4-FFF2-40B4-BE49-F238E27FC236}">
                <a16:creationId xmlns:a16="http://schemas.microsoft.com/office/drawing/2014/main" id="{EB81B8F5-AF0C-4139-ADDC-43F41F560D6B}"/>
              </a:ext>
            </a:extLst>
          </p:cNvPr>
          <p:cNvSpPr>
            <a:spLocks xmlns:a="http://schemas.openxmlformats.org/drawingml/2006/main" noGrp="1"/>
          </p:cNvSpPr>
          <p:nvPr/>
        </p:nvSpPr>
        <p:spPr>
          <a:xfrm xmlns:a="http://schemas.openxmlformats.org/drawingml/2006/main">
            <a:off x="4539386" y="1883664"/>
            <a:ext cx="3112922"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Most lapses are administrative rather than deliberate — a failed mandate, a changed account, a missed reminder.</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 smaller group are affordability-driven and may revive when circumstances change.</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 genuine minority have decided they no longer want the cover.</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 first group is the largest and the easiest to recover — if the process does not obstruct them.</a:t>
            </a:r>
            <a:endParaRPr sz="950"/>
          </a:p>
        </p:txBody>
      </p:sp>
      <p:sp>
        <p:nvSpPr>
          <p:cNvPr id="10" name="Shape 8">
            <a:extLst xmlns:a="http://schemas.openxmlformats.org/drawingml/2006/main">
              <a:ext uri="{FF2B5EF4-FFF2-40B4-BE49-F238E27FC236}">
                <a16:creationId xmlns:a16="http://schemas.microsoft.com/office/drawing/2014/main" id="{3114521B-D759-434D-B561-1A3B374BAC07}"/>
              </a:ext>
            </a:extLst>
          </p:cNvPr>
          <p:cNvSpPr>
            <a:spLocks xmlns:a="http://schemas.openxmlformats.org/drawingml/2006/main" noGrp="1"/>
          </p:cNvSpPr>
          <p:nvPr/>
        </p:nvSpPr>
        <p:spPr>
          <a:xfrm xmlns:a="http://schemas.openxmlformats.org/drawingml/2006/main">
            <a:off x="8072933" y="1335024"/>
            <a:ext cx="3551834" cy="2651760"/>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E91E6368-EE2A-4833-89F8-B0A7A4CAC166}"/>
              </a:ext>
            </a:extLst>
          </p:cNvPr>
          <p:cNvSpPr>
            <a:spLocks xmlns:a="http://schemas.openxmlformats.org/drawingml/2006/main" noGrp="1"/>
          </p:cNvSpPr>
          <p:nvPr/>
        </p:nvSpPr>
        <p:spPr>
          <a:xfrm xmlns:a="http://schemas.openxmlformats.org/drawingml/2006/main">
            <a:off x="8292389" y="1517904"/>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Why the process obstructs</a:t>
            </a:r>
            <a:endParaRPr sz="1250"/>
          </a:p>
        </p:txBody>
      </p:sp>
      <p:sp>
        <p:nvSpPr>
          <p:cNvPr id="12" name="Text 10">
            <a:extLst xmlns:a="http://schemas.openxmlformats.org/drawingml/2006/main">
              <a:ext uri="{FF2B5EF4-FFF2-40B4-BE49-F238E27FC236}">
                <a16:creationId xmlns:a16="http://schemas.microsoft.com/office/drawing/2014/main" id="{3F064D09-596B-470C-9339-0549119ADB6F}"/>
              </a:ext>
            </a:extLst>
          </p:cNvPr>
          <p:cNvSpPr>
            <a:spLocks xmlns:a="http://schemas.openxmlformats.org/drawingml/2006/main" noGrp="1"/>
          </p:cNvSpPr>
          <p:nvPr/>
        </p:nvSpPr>
        <p:spPr>
          <a:xfrm xmlns:a="http://schemas.openxmlformats.org/drawingml/2006/main">
            <a:off x="8292389" y="1883664"/>
            <a:ext cx="3112922"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Revival beyond a threshold requires fresh underwriting, which is a real and necessary control.</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So the process is designed around the underwriting requirement.</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Then it is applied to every case, including the two-month administrative lapse that carries almost no new risk.</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The customer experiences a medical evidence request for a policy they simply forgot to pay.</a:t>
            </a:r>
            <a:endParaRPr sz="950"/>
          </a:p>
        </p:txBody>
      </p:sp>
      <p:sp>
        <p:nvSpPr>
          <p:cNvPr id="13" name="Shape 11">
            <a:extLst xmlns:a="http://schemas.openxmlformats.org/drawingml/2006/main">
              <a:ext uri="{FF2B5EF4-FFF2-40B4-BE49-F238E27FC236}">
                <a16:creationId xmlns:a16="http://schemas.microsoft.com/office/drawing/2014/main" id="{9C7ED0A3-D3CD-4D23-8DF0-EC22BE6BB44A}"/>
              </a:ext>
            </a:extLst>
          </p:cNvPr>
          <p:cNvSpPr>
            <a:spLocks xmlns:a="http://schemas.openxmlformats.org/drawingml/2006/main" noGrp="1"/>
          </p:cNvSpPr>
          <p:nvPr/>
        </p:nvSpPr>
        <p:spPr>
          <a:xfrm xmlns:a="http://schemas.openxmlformats.org/drawingml/2006/main">
            <a:off x="566928" y="4242816"/>
            <a:ext cx="11057839" cy="182880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FB569866-0685-4394-861B-BF4753EEC450}"/>
              </a:ext>
            </a:extLst>
          </p:cNvPr>
          <p:cNvSpPr>
            <a:spLocks xmlns:a="http://schemas.openxmlformats.org/drawingml/2006/main" noGrp="1"/>
          </p:cNvSpPr>
          <p:nvPr/>
        </p:nvSpPr>
        <p:spPr>
          <a:xfrm xmlns:a="http://schemas.openxmlformats.org/drawingml/2006/main">
            <a:off x="804672" y="438912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asymmetry that makes this worth fixing</a:t>
            </a:r>
            <a:endParaRPr sz="1100"/>
          </a:p>
        </p:txBody>
      </p:sp>
      <p:sp>
        <p:nvSpPr>
          <p:cNvPr id="15" name="Text 13">
            <a:extLst xmlns:a="http://schemas.openxmlformats.org/drawingml/2006/main">
              <a:ext uri="{FF2B5EF4-FFF2-40B4-BE49-F238E27FC236}">
                <a16:creationId xmlns:a16="http://schemas.microsoft.com/office/drawing/2014/main" id="{0B6161EC-7720-4D98-9CC0-815AB0C3BC10}"/>
              </a:ext>
            </a:extLst>
          </p:cNvPr>
          <p:cNvSpPr>
            <a:spLocks xmlns:a="http://schemas.openxmlformats.org/drawingml/2006/main" noGrp="1"/>
          </p:cNvSpPr>
          <p:nvPr/>
        </p:nvSpPr>
        <p:spPr>
          <a:xfrm xmlns:a="http://schemas.openxmlformats.org/drawingml/2006/main">
            <a:off x="804672" y="4645152"/>
            <a:ext cx="10582351"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underwriting requirement exists to protect against anti-selection — someone whose health has deteriorated reviving cover they would no longer qualify for. That risk is real and it rises sharply with the length of the lapse and the size of the sum assured.</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It is close to negligible for a short administrative lapse on a modest policy. Applying the same evidence burden to both is not a conservative choice; it is a mis-specified one, because it deters exactly the low-risk revivals the insurer most wants and does nothing additional about the high-risk ones the requirement was written for.</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fix is not to weaken the control. It is to apply it where the risk is.</a:t>
            </a:r>
            <a:endParaRPr sz="990"/>
          </a:p>
        </p:txBody>
      </p:sp>
      <p:sp>
        <p:nvSpPr>
          <p:cNvPr id="16" name="Shape 14">
            <a:extLst xmlns:a="http://schemas.openxmlformats.org/drawingml/2006/main">
              <a:ext uri="{FF2B5EF4-FFF2-40B4-BE49-F238E27FC236}">
                <a16:creationId xmlns:a16="http://schemas.microsoft.com/office/drawing/2014/main" id="{7F992132-A677-40AC-ACC0-8AA575BE0AE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7" name="Text 15">
            <a:extLst xmlns:a="http://schemas.openxmlformats.org/drawingml/2006/main">
              <a:ext uri="{FF2B5EF4-FFF2-40B4-BE49-F238E27FC236}">
                <a16:creationId xmlns:a16="http://schemas.microsoft.com/office/drawing/2014/main" id="{F4EE38C1-3D40-4AFA-B91E-2E10C93D50B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process analysis</a:t>
            </a:r>
            <a:endParaRPr sz="850"/>
          </a:p>
        </p:txBody>
      </p:sp>
      <p:sp>
        <p:nvSpPr>
          <p:cNvPr id="18" name="Text 16">
            <a:extLst xmlns:a="http://schemas.openxmlformats.org/drawingml/2006/main">
              <a:ext uri="{FF2B5EF4-FFF2-40B4-BE49-F238E27FC236}">
                <a16:creationId xmlns:a16="http://schemas.microsoft.com/office/drawing/2014/main" id="{92C0C91B-6CC2-44B0-87A9-92C71D773DF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2095988645"/>
      </p:ext>
    </p:extLst>
  </p:cSld>
</p:sld>
</file>

<file path=ppt/slides/slide15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F64DDC-4C6A-4BC7-B3BE-A8943AE018A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REDESIGN</a:t>
            </a:r>
            <a:endParaRPr sz="950"/>
          </a:p>
        </p:txBody>
      </p:sp>
      <p:sp>
        <p:nvSpPr>
          <p:cNvPr id="3" name="Text 1">
            <a:extLst xmlns:a="http://schemas.openxmlformats.org/drawingml/2006/main">
              <a:ext uri="{FF2B5EF4-FFF2-40B4-BE49-F238E27FC236}">
                <a16:creationId xmlns:a16="http://schemas.microsoft.com/office/drawing/2014/main" id="{2508ADA5-11DD-462E-ABB0-DBEEF126D17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paths, routed at intake — the risk decision determines the process rather than</a:t>
            </a:r>
            <a:endParaRPr sz="1900"/>
          </a:p>
          <a:p xmlns:a="http://schemas.openxmlformats.org/drawingml/2006/main">
            <a:pPr marL="0" indent="0">
              <a:lnSpc>
                <a:spcPts val="2400"/>
              </a:lnSpc>
              <a:buNone/>
            </a:pPr>
            <a:r>
              <a:rPr sz="1900" b="1">
                <a:solidFill>
                  <a:srgbClr val="102A43"/>
                </a:solidFill>
                <a:latin typeface="Arial"/>
                <a:ea typeface="Arial"/>
                <a:cs typeface="Arial"/>
              </a:rPr>
              <a:t>the process determining what gets asked</a:t>
            </a:r>
            <a:endParaRPr sz="1900"/>
          </a:p>
        </p:txBody>
      </p:sp>
      <p:sp>
        <p:nvSpPr>
          <p:cNvPr id="4" name="Shape 2">
            <a:extLst xmlns:a="http://schemas.openxmlformats.org/drawingml/2006/main">
              <a:ext uri="{FF2B5EF4-FFF2-40B4-BE49-F238E27FC236}">
                <a16:creationId xmlns:a16="http://schemas.microsoft.com/office/drawing/2014/main" id="{FA99913F-5CED-42AB-A897-FAF82EE92344}"/>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EA97738D-D186-477C-85B4-D3CF70D72F1E}"/>
              </a:ext>
            </a:extLst>
          </p:cNvPr>
          <p:cNvSpPr>
            <a:spLocks xmlns:a="http://schemas.openxmlformats.org/drawingml/2006/main" noGrp="1"/>
          </p:cNvSpPr>
          <p:nvPr/>
        </p:nvSpPr>
        <p:spPr>
          <a:xfrm xmlns:a="http://schemas.openxmlformats.org/drawingml/2006/main">
            <a:off x="786384"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27685A"/>
                </a:solidFill>
                <a:latin typeface="Arial"/>
                <a:ea typeface="Arial"/>
                <a:cs typeface="Arial"/>
              </a:rPr>
              <a:t>Declaration path</a:t>
            </a:r>
            <a:endParaRPr sz="1350"/>
          </a:p>
        </p:txBody>
      </p:sp>
      <p:sp>
        <p:nvSpPr>
          <p:cNvPr id="6" name="Text 4">
            <a:extLst xmlns:a="http://schemas.openxmlformats.org/drawingml/2006/main">
              <a:ext uri="{FF2B5EF4-FFF2-40B4-BE49-F238E27FC236}">
                <a16:creationId xmlns:a16="http://schemas.microsoft.com/office/drawing/2014/main" id="{2DC1134B-7D12-40BC-B428-8A62A83123B7}"/>
              </a:ext>
            </a:extLst>
          </p:cNvPr>
          <p:cNvSpPr>
            <a:spLocks xmlns:a="http://schemas.openxmlformats.org/drawingml/2006/main" noGrp="1"/>
          </p:cNvSpPr>
          <p:nvPr/>
        </p:nvSpPr>
        <p:spPr>
          <a:xfrm xmlns:a="http://schemas.openxmlformats.org/drawingml/2006/main">
            <a:off x="786384" y="1828800"/>
            <a:ext cx="311292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i="1">
                <a:solidFill>
                  <a:srgbClr val="486581"/>
                </a:solidFill>
                <a:latin typeface="Arial"/>
                <a:ea typeface="Arial"/>
                <a:cs typeface="Arial"/>
              </a:rPr>
              <a:t>Short lapse, modest sum assured, no adverse history</a:t>
            </a:r>
            <a:endParaRPr sz="960"/>
          </a:p>
        </p:txBody>
      </p:sp>
      <p:sp>
        <p:nvSpPr>
          <p:cNvPr id="7" name="Shape 5">
            <a:extLst xmlns:a="http://schemas.openxmlformats.org/drawingml/2006/main">
              <a:ext uri="{FF2B5EF4-FFF2-40B4-BE49-F238E27FC236}">
                <a16:creationId xmlns:a16="http://schemas.microsoft.com/office/drawing/2014/main" id="{738E8893-8FDD-4205-B926-19EF26720AA3}"/>
              </a:ext>
            </a:extLst>
          </p:cNvPr>
          <p:cNvSpPr>
            <a:spLocks xmlns:a="http://schemas.openxmlformats.org/drawingml/2006/main" noGrp="1"/>
          </p:cNvSpPr>
          <p:nvPr/>
        </p:nvSpPr>
        <p:spPr>
          <a:xfrm xmlns:a="http://schemas.openxmlformats.org/drawingml/2006/main">
            <a:off x="786384" y="2286000"/>
            <a:ext cx="3112922"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8FC5D194-3E44-48C5-9CDC-E1838D6A89C2}"/>
              </a:ext>
            </a:extLst>
          </p:cNvPr>
          <p:cNvSpPr>
            <a:spLocks xmlns:a="http://schemas.openxmlformats.org/drawingml/2006/main" noGrp="1"/>
          </p:cNvSpPr>
          <p:nvPr/>
        </p:nvSpPr>
        <p:spPr>
          <a:xfrm xmlns:a="http://schemas.openxmlformats.org/drawingml/2006/main">
            <a:off x="786384" y="2414016"/>
            <a:ext cx="3112922"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Health declaration only</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No medical evidence requested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Automated where declarations are clean</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Turnaround measured in hours</a:t>
            </a:r>
            <a:endParaRPr sz="950"/>
          </a:p>
        </p:txBody>
      </p:sp>
      <p:sp>
        <p:nvSpPr>
          <p:cNvPr id="9" name="Shape 7">
            <a:extLst xmlns:a="http://schemas.openxmlformats.org/drawingml/2006/main">
              <a:ext uri="{FF2B5EF4-FFF2-40B4-BE49-F238E27FC236}">
                <a16:creationId xmlns:a16="http://schemas.microsoft.com/office/drawing/2014/main" id="{754C00BA-CD9E-4077-81B6-1AC546EAAAC2}"/>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C94D5BAC-7BB0-4021-8B30-BBA508BD6B7D}"/>
              </a:ext>
            </a:extLst>
          </p:cNvPr>
          <p:cNvSpPr>
            <a:spLocks xmlns:a="http://schemas.openxmlformats.org/drawingml/2006/main" noGrp="1"/>
          </p:cNvSpPr>
          <p:nvPr/>
        </p:nvSpPr>
        <p:spPr>
          <a:xfrm xmlns:a="http://schemas.openxmlformats.org/drawingml/2006/main">
            <a:off x="4539386"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486581"/>
                </a:solidFill>
                <a:latin typeface="Arial"/>
                <a:ea typeface="Arial"/>
                <a:cs typeface="Arial"/>
              </a:rPr>
              <a:t>Standard evidence path</a:t>
            </a:r>
            <a:endParaRPr sz="1350"/>
          </a:p>
        </p:txBody>
      </p:sp>
      <p:sp>
        <p:nvSpPr>
          <p:cNvPr id="11" name="Text 9">
            <a:extLst xmlns:a="http://schemas.openxmlformats.org/drawingml/2006/main">
              <a:ext uri="{FF2B5EF4-FFF2-40B4-BE49-F238E27FC236}">
                <a16:creationId xmlns:a16="http://schemas.microsoft.com/office/drawing/2014/main" id="{F8605340-EA30-4BE3-BEB6-136A2BCD317C}"/>
              </a:ext>
            </a:extLst>
          </p:cNvPr>
          <p:cNvSpPr>
            <a:spLocks xmlns:a="http://schemas.openxmlformats.org/drawingml/2006/main" noGrp="1"/>
          </p:cNvSpPr>
          <p:nvPr/>
        </p:nvSpPr>
        <p:spPr>
          <a:xfrm xmlns:a="http://schemas.openxmlformats.org/drawingml/2006/main">
            <a:off x="4539386" y="1828800"/>
            <a:ext cx="311292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i="1">
                <a:solidFill>
                  <a:srgbClr val="486581"/>
                </a:solidFill>
                <a:latin typeface="Arial"/>
                <a:ea typeface="Arial"/>
                <a:cs typeface="Arial"/>
              </a:rPr>
              <a:t>Moderate lapse or sum assured, or a declaration that flags</a:t>
            </a:r>
            <a:endParaRPr sz="960"/>
          </a:p>
        </p:txBody>
      </p:sp>
      <p:sp>
        <p:nvSpPr>
          <p:cNvPr id="12" name="Shape 10">
            <a:extLst xmlns:a="http://schemas.openxmlformats.org/drawingml/2006/main">
              <a:ext uri="{FF2B5EF4-FFF2-40B4-BE49-F238E27FC236}">
                <a16:creationId xmlns:a16="http://schemas.microsoft.com/office/drawing/2014/main" id="{F608AD17-6984-4885-947D-07A2C07BD065}"/>
              </a:ext>
            </a:extLst>
          </p:cNvPr>
          <p:cNvSpPr>
            <a:spLocks xmlns:a="http://schemas.openxmlformats.org/drawingml/2006/main" noGrp="1"/>
          </p:cNvSpPr>
          <p:nvPr/>
        </p:nvSpPr>
        <p:spPr>
          <a:xfrm xmlns:a="http://schemas.openxmlformats.org/drawingml/2006/main">
            <a:off x="4539386" y="2286000"/>
            <a:ext cx="3112922"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4E33C74D-A6CF-4E4E-999D-CCF3E3659358}"/>
              </a:ext>
            </a:extLst>
          </p:cNvPr>
          <p:cNvSpPr>
            <a:spLocks xmlns:a="http://schemas.openxmlformats.org/drawingml/2006/main" noGrp="1"/>
          </p:cNvSpPr>
          <p:nvPr/>
        </p:nvSpPr>
        <p:spPr>
          <a:xfrm xmlns:a="http://schemas.openxmlformats.org/drawingml/2006/main">
            <a:off x="4539386" y="2414016"/>
            <a:ext cx="3112922"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Declaration plus defined evidence set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Rules-driven requirement generation</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Underwriter review where flagged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Turnaround measured in days</a:t>
            </a:r>
            <a:endParaRPr sz="950"/>
          </a:p>
        </p:txBody>
      </p:sp>
      <p:sp>
        <p:nvSpPr>
          <p:cNvPr id="14" name="Shape 12">
            <a:extLst xmlns:a="http://schemas.openxmlformats.org/drawingml/2006/main">
              <a:ext uri="{FF2B5EF4-FFF2-40B4-BE49-F238E27FC236}">
                <a16:creationId xmlns:a16="http://schemas.microsoft.com/office/drawing/2014/main" id="{DEF01DE5-BE78-4F97-BF15-7F63DD8B9B82}"/>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4B99ED63-AAFE-4E53-95CD-102F1BC38DED}"/>
              </a:ext>
            </a:extLst>
          </p:cNvPr>
          <p:cNvSpPr>
            <a:spLocks xmlns:a="http://schemas.openxmlformats.org/drawingml/2006/main" noGrp="1"/>
          </p:cNvSpPr>
          <p:nvPr/>
        </p:nvSpPr>
        <p:spPr>
          <a:xfrm xmlns:a="http://schemas.openxmlformats.org/drawingml/2006/main">
            <a:off x="8292389"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B04A25"/>
                </a:solidFill>
                <a:latin typeface="Arial"/>
                <a:ea typeface="Arial"/>
                <a:cs typeface="Arial"/>
              </a:rPr>
              <a:t>Full underwriting path</a:t>
            </a:r>
            <a:endParaRPr sz="1350"/>
          </a:p>
        </p:txBody>
      </p:sp>
      <p:sp>
        <p:nvSpPr>
          <p:cNvPr id="16" name="Text 14">
            <a:extLst xmlns:a="http://schemas.openxmlformats.org/drawingml/2006/main">
              <a:ext uri="{FF2B5EF4-FFF2-40B4-BE49-F238E27FC236}">
                <a16:creationId xmlns:a16="http://schemas.microsoft.com/office/drawing/2014/main" id="{B1D3FDA0-C59D-44C2-A0FC-8B3355132ECA}"/>
              </a:ext>
            </a:extLst>
          </p:cNvPr>
          <p:cNvSpPr>
            <a:spLocks xmlns:a="http://schemas.openxmlformats.org/drawingml/2006/main" noGrp="1"/>
          </p:cNvSpPr>
          <p:nvPr/>
        </p:nvSpPr>
        <p:spPr>
          <a:xfrm xmlns:a="http://schemas.openxmlformats.org/drawingml/2006/main">
            <a:off x="8292389" y="1828800"/>
            <a:ext cx="311292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i="1">
                <a:solidFill>
                  <a:srgbClr val="486581"/>
                </a:solidFill>
                <a:latin typeface="Arial"/>
                <a:ea typeface="Arial"/>
                <a:cs typeface="Arial"/>
              </a:rPr>
              <a:t>Long lapse, large sum assured, or adverse disclosure</a:t>
            </a:r>
            <a:endParaRPr sz="960"/>
          </a:p>
        </p:txBody>
      </p:sp>
      <p:sp>
        <p:nvSpPr>
          <p:cNvPr id="17" name="Shape 15">
            <a:extLst xmlns:a="http://schemas.openxmlformats.org/drawingml/2006/main">
              <a:ext uri="{FF2B5EF4-FFF2-40B4-BE49-F238E27FC236}">
                <a16:creationId xmlns:a16="http://schemas.microsoft.com/office/drawing/2014/main" id="{716DD173-B51E-482A-838C-01757C1EDDF3}"/>
              </a:ext>
            </a:extLst>
          </p:cNvPr>
          <p:cNvSpPr>
            <a:spLocks xmlns:a="http://schemas.openxmlformats.org/drawingml/2006/main" noGrp="1"/>
          </p:cNvSpPr>
          <p:nvPr/>
        </p:nvSpPr>
        <p:spPr>
          <a:xfrm xmlns:a="http://schemas.openxmlformats.org/drawingml/2006/main">
            <a:off x="8292389" y="2286000"/>
            <a:ext cx="3112922"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7F2CC76D-3C5E-4E36-84C5-BDC9DE0E2258}"/>
              </a:ext>
            </a:extLst>
          </p:cNvPr>
          <p:cNvSpPr>
            <a:spLocks xmlns:a="http://schemas.openxmlformats.org/drawingml/2006/main" noGrp="1"/>
          </p:cNvSpPr>
          <p:nvPr/>
        </p:nvSpPr>
        <p:spPr>
          <a:xfrm xmlns:a="http://schemas.openxmlformats.org/drawingml/2006/main">
            <a:off x="8292389" y="2414016"/>
            <a:ext cx="3112922"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Full evidence and medical requirements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Underwriter assessment in every case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May be declined or revived on revised terms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Turnaround measured in weeks</a:t>
            </a:r>
            <a:endParaRPr sz="950"/>
          </a:p>
        </p:txBody>
      </p:sp>
      <p:sp>
        <p:nvSpPr>
          <p:cNvPr id="19" name="Text 17">
            <a:extLst xmlns:a="http://schemas.openxmlformats.org/drawingml/2006/main">
              <a:ext uri="{FF2B5EF4-FFF2-40B4-BE49-F238E27FC236}">
                <a16:creationId xmlns:a16="http://schemas.microsoft.com/office/drawing/2014/main" id="{071C55EA-C24B-4930-BF74-F484F254AC13}"/>
              </a:ext>
            </a:extLst>
          </p:cNvPr>
          <p:cNvSpPr>
            <a:spLocks xmlns:a="http://schemas.openxmlformats.org/drawingml/2006/main" noGrp="1"/>
          </p:cNvSpPr>
          <p:nvPr/>
        </p:nvSpPr>
        <p:spPr>
          <a:xfrm xmlns:a="http://schemas.openxmlformats.org/drawingml/2006/main">
            <a:off x="566928"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routing decision</a:t>
            </a:r>
            <a:endParaRPr sz="1100"/>
          </a:p>
        </p:txBody>
      </p:sp>
      <p:sp>
        <p:nvSpPr>
          <p:cNvPr id="20" name="Shape 18">
            <a:extLst xmlns:a="http://schemas.openxmlformats.org/drawingml/2006/main">
              <a:ext uri="{FF2B5EF4-FFF2-40B4-BE49-F238E27FC236}">
                <a16:creationId xmlns:a16="http://schemas.microsoft.com/office/drawing/2014/main" id="{96A1EFFD-A13E-485D-99EF-28F204AF51E7}"/>
              </a:ext>
            </a:extLst>
          </p:cNvPr>
          <p:cNvSpPr>
            <a:spLocks xmlns:a="http://schemas.openxmlformats.org/drawingml/2006/main" noGrp="1"/>
          </p:cNvSpPr>
          <p:nvPr/>
        </p:nvSpPr>
        <p:spPr>
          <a:xfrm xmlns:a="http://schemas.openxmlformats.org/drawingml/2006/main">
            <a:off x="566928" y="4334256"/>
            <a:ext cx="3551834" cy="20117"/>
          </a:xfrm>
          <a:prstGeom xmlns:a="http://schemas.openxmlformats.org/drawingml/2006/main" prst="rect">
            <a:avLst/>
          </a:prstGeom>
          <a:solidFill xmlns:a="http://schemas.openxmlformats.org/drawingml/2006/main">
            <a:srgbClr val="B04A25"/>
          </a:solidFill>
        </p:spPr>
      </p:sp>
      <p:sp>
        <p:nvSpPr>
          <p:cNvPr id="21" name="Text 19">
            <a:extLst xmlns:a="http://schemas.openxmlformats.org/drawingml/2006/main">
              <a:ext uri="{FF2B5EF4-FFF2-40B4-BE49-F238E27FC236}">
                <a16:creationId xmlns:a16="http://schemas.microsoft.com/office/drawing/2014/main" id="{E86A350D-5253-493E-BA6F-1C2B707B03CB}"/>
              </a:ext>
            </a:extLst>
          </p:cNvPr>
          <p:cNvSpPr>
            <a:spLocks xmlns:a="http://schemas.openxmlformats.org/drawingml/2006/main" noGrp="1"/>
          </p:cNvSpPr>
          <p:nvPr/>
        </p:nvSpPr>
        <p:spPr>
          <a:xfrm xmlns:a="http://schemas.openxmlformats.org/drawingml/2006/main">
            <a:off x="566928"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Taken at intake from data the insurer already holds — lapse duration, sum assured, policy history, prior disclosures.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No customer effort is required to be routed; the customer only sees the requirements their path generates.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Rules live in the rules engine, owned by underwriting, and changing them does not require a release.</a:t>
            </a:r>
            <a:endParaRPr sz="950"/>
          </a:p>
        </p:txBody>
      </p:sp>
      <p:sp>
        <p:nvSpPr>
          <p:cNvPr id="22" name="Text 20">
            <a:extLst xmlns:a="http://schemas.openxmlformats.org/drawingml/2006/main">
              <a:ext uri="{FF2B5EF4-FFF2-40B4-BE49-F238E27FC236}">
                <a16:creationId xmlns:a16="http://schemas.microsoft.com/office/drawing/2014/main" id="{7ADF3CE4-A4B4-4C89-B852-0FB9F8921409}"/>
              </a:ext>
            </a:extLst>
          </p:cNvPr>
          <p:cNvSpPr>
            <a:spLocks xmlns:a="http://schemas.openxmlformats.org/drawingml/2006/main" noGrp="1"/>
          </p:cNvSpPr>
          <p:nvPr/>
        </p:nvSpPr>
        <p:spPr>
          <a:xfrm xmlns:a="http://schemas.openxmlformats.org/drawingml/2006/main">
            <a:off x="4319930"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stayed identical</a:t>
            </a:r>
            <a:endParaRPr sz="1100"/>
          </a:p>
        </p:txBody>
      </p:sp>
      <p:sp>
        <p:nvSpPr>
          <p:cNvPr id="23" name="Shape 21">
            <a:extLst xmlns:a="http://schemas.openxmlformats.org/drawingml/2006/main">
              <a:ext uri="{FF2B5EF4-FFF2-40B4-BE49-F238E27FC236}">
                <a16:creationId xmlns:a16="http://schemas.microsoft.com/office/drawing/2014/main" id="{93609D75-EF4D-4847-BBE5-35C1311D6666}"/>
              </a:ext>
            </a:extLst>
          </p:cNvPr>
          <p:cNvSpPr>
            <a:spLocks xmlns:a="http://schemas.openxmlformats.org/drawingml/2006/main" noGrp="1"/>
          </p:cNvSpPr>
          <p:nvPr/>
        </p:nvSpPr>
        <p:spPr>
          <a:xfrm xmlns:a="http://schemas.openxmlformats.org/drawingml/2006/main">
            <a:off x="4319930" y="4334256"/>
            <a:ext cx="3551834" cy="20117"/>
          </a:xfrm>
          <a:prstGeom xmlns:a="http://schemas.openxmlformats.org/drawingml/2006/main" prst="rect">
            <a:avLst/>
          </a:prstGeom>
          <a:solidFill xmlns:a="http://schemas.openxmlformats.org/drawingml/2006/main">
            <a:srgbClr val="102A43"/>
          </a:solidFill>
        </p:spPr>
      </p:sp>
      <p:sp>
        <p:nvSpPr>
          <p:cNvPr id="24" name="Text 22">
            <a:extLst xmlns:a="http://schemas.openxmlformats.org/drawingml/2006/main">
              <a:ext uri="{FF2B5EF4-FFF2-40B4-BE49-F238E27FC236}">
                <a16:creationId xmlns:a16="http://schemas.microsoft.com/office/drawing/2014/main" id="{201D5986-4639-41B2-9913-2D56795AC9A4}"/>
              </a:ext>
            </a:extLst>
          </p:cNvPr>
          <p:cNvSpPr>
            <a:spLocks xmlns:a="http://schemas.openxmlformats.org/drawingml/2006/main" noGrp="1"/>
          </p:cNvSpPr>
          <p:nvPr/>
        </p:nvSpPr>
        <p:spPr>
          <a:xfrm xmlns:a="http://schemas.openxmlformats.org/drawingml/2006/main">
            <a:off x="4319930"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One case model, one audit trail, one set of dispositions — a revival is the same object whichever path it takes.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same document store, the same status vocabulary, the same reporting.</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Three paths, not three processes. That distinction is what keeps it maintainable.</a:t>
            </a:r>
            <a:endParaRPr sz="950"/>
          </a:p>
        </p:txBody>
      </p:sp>
      <p:sp>
        <p:nvSpPr>
          <p:cNvPr id="25" name="Text 23">
            <a:extLst xmlns:a="http://schemas.openxmlformats.org/drawingml/2006/main">
              <a:ext uri="{FF2B5EF4-FFF2-40B4-BE49-F238E27FC236}">
                <a16:creationId xmlns:a16="http://schemas.microsoft.com/office/drawing/2014/main" id="{120CAF95-9E79-42B7-BE14-80C517CD77E1}"/>
              </a:ext>
            </a:extLst>
          </p:cNvPr>
          <p:cNvSpPr>
            <a:spLocks xmlns:a="http://schemas.openxmlformats.org/drawingml/2006/main" noGrp="1"/>
          </p:cNvSpPr>
          <p:nvPr/>
        </p:nvSpPr>
        <p:spPr>
          <a:xfrm xmlns:a="http://schemas.openxmlformats.org/drawingml/2006/main">
            <a:off x="8072933"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Where the control is unchanged</a:t>
            </a:r>
            <a:endParaRPr sz="1100"/>
          </a:p>
        </p:txBody>
      </p:sp>
      <p:sp>
        <p:nvSpPr>
          <p:cNvPr id="26" name="Shape 24">
            <a:extLst xmlns:a="http://schemas.openxmlformats.org/drawingml/2006/main">
              <a:ext uri="{FF2B5EF4-FFF2-40B4-BE49-F238E27FC236}">
                <a16:creationId xmlns:a16="http://schemas.microsoft.com/office/drawing/2014/main" id="{373A1B4F-B2C1-4744-8C3F-7E7D9C4225A6}"/>
              </a:ext>
            </a:extLst>
          </p:cNvPr>
          <p:cNvSpPr>
            <a:spLocks xmlns:a="http://schemas.openxmlformats.org/drawingml/2006/main" noGrp="1"/>
          </p:cNvSpPr>
          <p:nvPr/>
        </p:nvSpPr>
        <p:spPr>
          <a:xfrm xmlns:a="http://schemas.openxmlformats.org/drawingml/2006/main">
            <a:off x="8072933" y="4334256"/>
            <a:ext cx="3551834" cy="20117"/>
          </a:xfrm>
          <a:prstGeom xmlns:a="http://schemas.openxmlformats.org/drawingml/2006/main" prst="rect">
            <a:avLst/>
          </a:prstGeom>
          <a:solidFill xmlns:a="http://schemas.openxmlformats.org/drawingml/2006/main">
            <a:srgbClr val="486581"/>
          </a:solidFill>
        </p:spPr>
      </p:sp>
      <p:sp>
        <p:nvSpPr>
          <p:cNvPr id="27" name="Text 25">
            <a:extLst xmlns:a="http://schemas.openxmlformats.org/drawingml/2006/main">
              <a:ext uri="{FF2B5EF4-FFF2-40B4-BE49-F238E27FC236}">
                <a16:creationId xmlns:a16="http://schemas.microsoft.com/office/drawing/2014/main" id="{910FF7B1-865F-4E24-8D4E-369F963B03E7}"/>
              </a:ext>
            </a:extLst>
          </p:cNvPr>
          <p:cNvSpPr>
            <a:spLocks xmlns:a="http://schemas.openxmlformats.org/drawingml/2006/main" noGrp="1"/>
          </p:cNvSpPr>
          <p:nvPr/>
        </p:nvSpPr>
        <p:spPr>
          <a:xfrm xmlns:a="http://schemas.openxmlformats.org/drawingml/2006/main">
            <a:off x="8072933"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full path is not diluted. Cases that genuinely warrant full underwriting still get it, in full.</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declaration path can escalate — an adverse disclosure routes the case up mid-flight.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Routing is a starting assumption, not a final classification.</a:t>
            </a:r>
            <a:endParaRPr sz="950"/>
          </a:p>
        </p:txBody>
      </p:sp>
      <p:sp>
        <p:nvSpPr>
          <p:cNvPr id="28" name="Shape 26">
            <a:extLst xmlns:a="http://schemas.openxmlformats.org/drawingml/2006/main">
              <a:ext uri="{FF2B5EF4-FFF2-40B4-BE49-F238E27FC236}">
                <a16:creationId xmlns:a16="http://schemas.microsoft.com/office/drawing/2014/main" id="{4E4FB6FD-B5C2-4FFD-B619-4EF3C0FC276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382883B7-C0F4-4252-8E89-F30061214DA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policy servicing programmes · path definitions reconstructed to illustrate the approach</a:t>
            </a:r>
            <a:endParaRPr sz="850"/>
          </a:p>
        </p:txBody>
      </p:sp>
      <p:sp>
        <p:nvSpPr>
          <p:cNvPr id="30" name="Text 28">
            <a:extLst xmlns:a="http://schemas.openxmlformats.org/drawingml/2006/main">
              <a:ext uri="{FF2B5EF4-FFF2-40B4-BE49-F238E27FC236}">
                <a16:creationId xmlns:a16="http://schemas.microsoft.com/office/drawing/2014/main" id="{A6237D31-2334-48A3-8067-B75FA8D1C8F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056963593"/>
      </p:ext>
    </p:extLst>
  </p:cSld>
</p:sld>
</file>

<file path=ppt/slides/slide15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FF72801-7724-4841-AE8B-280C2F433B7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ESTATE</a:t>
            </a:r>
            <a:endParaRPr sz="950"/>
          </a:p>
        </p:txBody>
      </p:sp>
      <p:sp>
        <p:nvSpPr>
          <p:cNvPr id="3" name="Text 1">
            <a:extLst xmlns:a="http://schemas.openxmlformats.org/drawingml/2006/main">
              <a:ext uri="{FF2B5EF4-FFF2-40B4-BE49-F238E27FC236}">
                <a16:creationId xmlns:a16="http://schemas.microsoft.com/office/drawing/2014/main" id="{2F19CA00-9526-4215-9F7C-BD8EFF22A41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systems stand behind one revival case — and the document integration between</a:t>
            </a:r>
            <a:endParaRPr sz="1900"/>
          </a:p>
          <a:p xmlns:a="http://schemas.openxmlformats.org/drawingml/2006/main">
            <a:pPr marL="0" indent="0">
              <a:lnSpc>
                <a:spcPts val="2400"/>
              </a:lnSpc>
              <a:buNone/>
            </a:pPr>
            <a:r>
              <a:rPr sz="1900" b="1">
                <a:solidFill>
                  <a:srgbClr val="102A43"/>
                </a:solidFill>
                <a:latin typeface="Arial"/>
                <a:ea typeface="Arial"/>
                <a:cs typeface="Arial"/>
              </a:rPr>
              <a:t>them was the largest single piece of the work</a:t>
            </a:r>
            <a:endParaRPr sz="1900"/>
          </a:p>
        </p:txBody>
      </p:sp>
      <p:sp>
        <p:nvSpPr>
          <p:cNvPr id="4" name="Shape 2">
            <a:extLst xmlns:a="http://schemas.openxmlformats.org/drawingml/2006/main">
              <a:ext uri="{FF2B5EF4-FFF2-40B4-BE49-F238E27FC236}">
                <a16:creationId xmlns:a16="http://schemas.microsoft.com/office/drawing/2014/main" id="{CA873E8A-3281-47A7-A7F8-04D865E48C0B}"/>
              </a:ext>
            </a:extLst>
          </p:cNvPr>
          <p:cNvSpPr>
            <a:spLocks xmlns:a="http://schemas.openxmlformats.org/drawingml/2006/main" noGrp="1"/>
          </p:cNvSpPr>
          <p:nvPr/>
        </p:nvSpPr>
        <p:spPr>
          <a:xfrm xmlns:a="http://schemas.openxmlformats.org/drawingml/2006/main">
            <a:off x="566928" y="1335024"/>
            <a:ext cx="2094525" cy="219456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319AA167-F2C2-4902-A604-0EF8630932A3}"/>
              </a:ext>
            </a:extLst>
          </p:cNvPr>
          <p:cNvSpPr>
            <a:spLocks xmlns:a="http://schemas.openxmlformats.org/drawingml/2006/main" noGrp="1"/>
          </p:cNvSpPr>
          <p:nvPr/>
        </p:nvSpPr>
        <p:spPr>
          <a:xfrm xmlns:a="http://schemas.openxmlformats.org/drawingml/2006/main">
            <a:off x="731520"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Servicing platform</a:t>
            </a:r>
            <a:endParaRPr sz="1140"/>
          </a:p>
        </p:txBody>
      </p:sp>
      <p:sp>
        <p:nvSpPr>
          <p:cNvPr id="6" name="Text 4">
            <a:extLst xmlns:a="http://schemas.openxmlformats.org/drawingml/2006/main">
              <a:ext uri="{FF2B5EF4-FFF2-40B4-BE49-F238E27FC236}">
                <a16:creationId xmlns:a16="http://schemas.microsoft.com/office/drawing/2014/main" id="{05D6E03E-C9E5-4B4A-9359-1BAEE163A6D5}"/>
              </a:ext>
            </a:extLst>
          </p:cNvPr>
          <p:cNvSpPr>
            <a:spLocks xmlns:a="http://schemas.openxmlformats.org/drawingml/2006/main" noGrp="1"/>
          </p:cNvSpPr>
          <p:nvPr/>
        </p:nvSpPr>
        <p:spPr>
          <a:xfrm xmlns:a="http://schemas.openxmlformats.org/drawingml/2006/main">
            <a:off x="731520"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Owns the case: intake, routing, requirements, status, dispositions and the customer-facing record</a:t>
            </a:r>
            <a:endParaRPr sz="910"/>
          </a:p>
        </p:txBody>
      </p:sp>
      <p:sp>
        <p:nvSpPr>
          <p:cNvPr id="7" name="Shape 5">
            <a:extLst xmlns:a="http://schemas.openxmlformats.org/drawingml/2006/main">
              <a:ext uri="{FF2B5EF4-FFF2-40B4-BE49-F238E27FC236}">
                <a16:creationId xmlns:a16="http://schemas.microsoft.com/office/drawing/2014/main" id="{1F65DBCA-3694-486C-BFAB-095BA8EF3A27}"/>
              </a:ext>
            </a:extLst>
          </p:cNvPr>
          <p:cNvSpPr>
            <a:spLocks xmlns:a="http://schemas.openxmlformats.org/drawingml/2006/main" noGrp="1"/>
          </p:cNvSpPr>
          <p:nvPr/>
        </p:nvSpPr>
        <p:spPr>
          <a:xfrm xmlns:a="http://schemas.openxmlformats.org/drawingml/2006/main">
            <a:off x="731520" y="3218688"/>
            <a:ext cx="1765341"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40351698-6880-47B2-9F35-AE5290FBC496}"/>
              </a:ext>
            </a:extLst>
          </p:cNvPr>
          <p:cNvSpPr>
            <a:spLocks xmlns:a="http://schemas.openxmlformats.org/drawingml/2006/main" noGrp="1"/>
          </p:cNvSpPr>
          <p:nvPr/>
        </p:nvSpPr>
        <p:spPr>
          <a:xfrm xmlns:a="http://schemas.openxmlformats.org/drawingml/2006/main">
            <a:off x="731520" y="3310128"/>
            <a:ext cx="1765341"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i="1">
                <a:solidFill>
                  <a:srgbClr val="B04A25"/>
                </a:solidFill>
                <a:latin typeface="Arial"/>
                <a:ea typeface="Arial"/>
                <a:cs typeface="Arial"/>
              </a:rPr>
              <a:t>Case system of record</a:t>
            </a:r>
            <a:endParaRPr sz="900"/>
          </a:p>
        </p:txBody>
      </p:sp>
      <p:sp>
        <p:nvSpPr>
          <p:cNvPr id="9" name="Shape 7">
            <a:extLst xmlns:a="http://schemas.openxmlformats.org/drawingml/2006/main">
              <a:ext uri="{FF2B5EF4-FFF2-40B4-BE49-F238E27FC236}">
                <a16:creationId xmlns:a16="http://schemas.microsoft.com/office/drawing/2014/main" id="{C871C414-BFAE-40DA-853E-B0B347BC7804}"/>
              </a:ext>
            </a:extLst>
          </p:cNvPr>
          <p:cNvSpPr>
            <a:spLocks xmlns:a="http://schemas.openxmlformats.org/drawingml/2006/main" noGrp="1"/>
          </p:cNvSpPr>
          <p:nvPr/>
        </p:nvSpPr>
        <p:spPr>
          <a:xfrm xmlns:a="http://schemas.openxmlformats.org/drawingml/2006/main">
            <a:off x="2807757" y="1335024"/>
            <a:ext cx="2094525" cy="2194560"/>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68D1EC32-128B-471C-A71C-5521042DD3BD}"/>
              </a:ext>
            </a:extLst>
          </p:cNvPr>
          <p:cNvSpPr>
            <a:spLocks xmlns:a="http://schemas.openxmlformats.org/drawingml/2006/main" noGrp="1"/>
          </p:cNvSpPr>
          <p:nvPr/>
        </p:nvSpPr>
        <p:spPr>
          <a:xfrm xmlns:a="http://schemas.openxmlformats.org/drawingml/2006/main">
            <a:off x="2972349"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Rules engine</a:t>
            </a:r>
            <a:endParaRPr sz="1140"/>
          </a:p>
        </p:txBody>
      </p:sp>
      <p:sp>
        <p:nvSpPr>
          <p:cNvPr id="11" name="Text 9">
            <a:extLst xmlns:a="http://schemas.openxmlformats.org/drawingml/2006/main">
              <a:ext uri="{FF2B5EF4-FFF2-40B4-BE49-F238E27FC236}">
                <a16:creationId xmlns:a16="http://schemas.microsoft.com/office/drawing/2014/main" id="{F172493C-9459-4AAB-8712-58B012BAD81A}"/>
              </a:ext>
            </a:extLst>
          </p:cNvPr>
          <p:cNvSpPr>
            <a:spLocks xmlns:a="http://schemas.openxmlformats.org/drawingml/2006/main" noGrp="1"/>
          </p:cNvSpPr>
          <p:nvPr/>
        </p:nvSpPr>
        <p:spPr>
          <a:xfrm xmlns:a="http://schemas.openxmlformats.org/drawingml/2006/main">
            <a:off x="2972349"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Owns the routing and requirement logic. Underwriting changes rules here without a platform release</a:t>
            </a:r>
            <a:endParaRPr sz="910"/>
          </a:p>
        </p:txBody>
      </p:sp>
      <p:sp>
        <p:nvSpPr>
          <p:cNvPr id="12" name="Shape 10">
            <a:extLst xmlns:a="http://schemas.openxmlformats.org/drawingml/2006/main">
              <a:ext uri="{FF2B5EF4-FFF2-40B4-BE49-F238E27FC236}">
                <a16:creationId xmlns:a16="http://schemas.microsoft.com/office/drawing/2014/main" id="{46AE8F13-4FF3-4B68-A1FB-8632DD2A3061}"/>
              </a:ext>
            </a:extLst>
          </p:cNvPr>
          <p:cNvSpPr>
            <a:spLocks xmlns:a="http://schemas.openxmlformats.org/drawingml/2006/main" noGrp="1"/>
          </p:cNvSpPr>
          <p:nvPr/>
        </p:nvSpPr>
        <p:spPr>
          <a:xfrm xmlns:a="http://schemas.openxmlformats.org/drawingml/2006/main">
            <a:off x="2972349" y="3218688"/>
            <a:ext cx="1765341"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C0594FEC-E485-4696-9318-DA351BDD582C}"/>
              </a:ext>
            </a:extLst>
          </p:cNvPr>
          <p:cNvSpPr>
            <a:spLocks xmlns:a="http://schemas.openxmlformats.org/drawingml/2006/main" noGrp="1"/>
          </p:cNvSpPr>
          <p:nvPr/>
        </p:nvSpPr>
        <p:spPr>
          <a:xfrm xmlns:a="http://schemas.openxmlformats.org/drawingml/2006/main">
            <a:off x="2972349" y="3310128"/>
            <a:ext cx="1765341"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i="1">
                <a:solidFill>
                  <a:srgbClr val="B04A25"/>
                </a:solidFill>
                <a:latin typeface="Arial"/>
                <a:ea typeface="Arial"/>
                <a:cs typeface="Arial"/>
              </a:rPr>
              <a:t>Decision logic</a:t>
            </a:r>
            <a:endParaRPr sz="900"/>
          </a:p>
        </p:txBody>
      </p:sp>
      <p:sp>
        <p:nvSpPr>
          <p:cNvPr id="14" name="Shape 12">
            <a:extLst xmlns:a="http://schemas.openxmlformats.org/drawingml/2006/main">
              <a:ext uri="{FF2B5EF4-FFF2-40B4-BE49-F238E27FC236}">
                <a16:creationId xmlns:a16="http://schemas.microsoft.com/office/drawing/2014/main" id="{E64BF6A0-ABFF-4DFC-B6C6-1EE6A2AC8C41}"/>
              </a:ext>
            </a:extLst>
          </p:cNvPr>
          <p:cNvSpPr>
            <a:spLocks xmlns:a="http://schemas.openxmlformats.org/drawingml/2006/main" noGrp="1"/>
          </p:cNvSpPr>
          <p:nvPr/>
        </p:nvSpPr>
        <p:spPr>
          <a:xfrm xmlns:a="http://schemas.openxmlformats.org/drawingml/2006/main">
            <a:off x="5048585" y="1335024"/>
            <a:ext cx="2094525" cy="2194560"/>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361F3CF1-BF44-4192-A4C2-05A99ED301AA}"/>
              </a:ext>
            </a:extLst>
          </p:cNvPr>
          <p:cNvSpPr>
            <a:spLocks xmlns:a="http://schemas.openxmlformats.org/drawingml/2006/main" noGrp="1"/>
          </p:cNvSpPr>
          <p:nvPr/>
        </p:nvSpPr>
        <p:spPr>
          <a:xfrm xmlns:a="http://schemas.openxmlformats.org/drawingml/2006/main">
            <a:off x="5213177"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Policy administration</a:t>
            </a:r>
            <a:endParaRPr sz="1140"/>
          </a:p>
        </p:txBody>
      </p:sp>
      <p:sp>
        <p:nvSpPr>
          <p:cNvPr id="16" name="Text 14">
            <a:extLst xmlns:a="http://schemas.openxmlformats.org/drawingml/2006/main">
              <a:ext uri="{FF2B5EF4-FFF2-40B4-BE49-F238E27FC236}">
                <a16:creationId xmlns:a16="http://schemas.microsoft.com/office/drawing/2014/main" id="{DD1D7C31-B802-4149-93A2-4ED4BD727B2C}"/>
              </a:ext>
            </a:extLst>
          </p:cNvPr>
          <p:cNvSpPr>
            <a:spLocks xmlns:a="http://schemas.openxmlformats.org/drawingml/2006/main" noGrp="1"/>
          </p:cNvSpPr>
          <p:nvPr/>
        </p:nvSpPr>
        <p:spPr>
          <a:xfrm xmlns:a="http://schemas.openxmlformats.org/drawingml/2006/main">
            <a:off x="5213177"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Owns the policy itself — status, premium history, sum assured, the lapse event and the reinstatement</a:t>
            </a:r>
            <a:endParaRPr sz="910"/>
          </a:p>
        </p:txBody>
      </p:sp>
      <p:sp>
        <p:nvSpPr>
          <p:cNvPr id="17" name="Shape 15">
            <a:extLst xmlns:a="http://schemas.openxmlformats.org/drawingml/2006/main">
              <a:ext uri="{FF2B5EF4-FFF2-40B4-BE49-F238E27FC236}">
                <a16:creationId xmlns:a16="http://schemas.microsoft.com/office/drawing/2014/main" id="{3B1EC7C0-3832-40D3-9F5E-44B5EFB1D16F}"/>
              </a:ext>
            </a:extLst>
          </p:cNvPr>
          <p:cNvSpPr>
            <a:spLocks xmlns:a="http://schemas.openxmlformats.org/drawingml/2006/main" noGrp="1"/>
          </p:cNvSpPr>
          <p:nvPr/>
        </p:nvSpPr>
        <p:spPr>
          <a:xfrm xmlns:a="http://schemas.openxmlformats.org/drawingml/2006/main">
            <a:off x="5213177" y="3218688"/>
            <a:ext cx="1765341"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F5E26E3C-4AFE-4911-81D4-7940DDAB1A04}"/>
              </a:ext>
            </a:extLst>
          </p:cNvPr>
          <p:cNvSpPr>
            <a:spLocks xmlns:a="http://schemas.openxmlformats.org/drawingml/2006/main" noGrp="1"/>
          </p:cNvSpPr>
          <p:nvPr/>
        </p:nvSpPr>
        <p:spPr>
          <a:xfrm xmlns:a="http://schemas.openxmlformats.org/drawingml/2006/main">
            <a:off x="5213177" y="3310128"/>
            <a:ext cx="1765341"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i="1">
                <a:solidFill>
                  <a:srgbClr val="486581"/>
                </a:solidFill>
                <a:latin typeface="Arial"/>
                <a:ea typeface="Arial"/>
                <a:cs typeface="Arial"/>
              </a:rPr>
              <a:t>Policy system of record</a:t>
            </a:r>
            <a:endParaRPr sz="900"/>
          </a:p>
        </p:txBody>
      </p:sp>
      <p:sp>
        <p:nvSpPr>
          <p:cNvPr id="19" name="Shape 17">
            <a:extLst xmlns:a="http://schemas.openxmlformats.org/drawingml/2006/main">
              <a:ext uri="{FF2B5EF4-FFF2-40B4-BE49-F238E27FC236}">
                <a16:creationId xmlns:a16="http://schemas.microsoft.com/office/drawing/2014/main" id="{D5F05327-DE83-4670-851A-200D0689570A}"/>
              </a:ext>
            </a:extLst>
          </p:cNvPr>
          <p:cNvSpPr>
            <a:spLocks xmlns:a="http://schemas.openxmlformats.org/drawingml/2006/main" noGrp="1"/>
          </p:cNvSpPr>
          <p:nvPr/>
        </p:nvSpPr>
        <p:spPr>
          <a:xfrm xmlns:a="http://schemas.openxmlformats.org/drawingml/2006/main">
            <a:off x="7289414" y="1335024"/>
            <a:ext cx="2094525" cy="2194560"/>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561AFA47-6D15-4256-8DC6-B1074000350F}"/>
              </a:ext>
            </a:extLst>
          </p:cNvPr>
          <p:cNvSpPr>
            <a:spLocks xmlns:a="http://schemas.openxmlformats.org/drawingml/2006/main" noGrp="1"/>
          </p:cNvSpPr>
          <p:nvPr/>
        </p:nvSpPr>
        <p:spPr>
          <a:xfrm xmlns:a="http://schemas.openxmlformats.org/drawingml/2006/main">
            <a:off x="7454006"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Online policy manager</a:t>
            </a:r>
            <a:endParaRPr sz="1140"/>
          </a:p>
        </p:txBody>
      </p:sp>
      <p:sp>
        <p:nvSpPr>
          <p:cNvPr id="21" name="Text 19">
            <a:extLst xmlns:a="http://schemas.openxmlformats.org/drawingml/2006/main">
              <a:ext uri="{FF2B5EF4-FFF2-40B4-BE49-F238E27FC236}">
                <a16:creationId xmlns:a16="http://schemas.microsoft.com/office/drawing/2014/main" id="{BE3449BD-71A0-4068-A47A-07039C96D42F}"/>
              </a:ext>
            </a:extLst>
          </p:cNvPr>
          <p:cNvSpPr>
            <a:spLocks xmlns:a="http://schemas.openxmlformats.org/drawingml/2006/main" noGrp="1"/>
          </p:cNvSpPr>
          <p:nvPr/>
        </p:nvSpPr>
        <p:spPr>
          <a:xfrm xmlns:a="http://schemas.openxmlformats.org/drawingml/2006/main">
            <a:off x="7454006"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The customer-facing surface for declarations, document upload and status visibility</a:t>
            </a:r>
            <a:endParaRPr sz="910"/>
          </a:p>
        </p:txBody>
      </p:sp>
      <p:sp>
        <p:nvSpPr>
          <p:cNvPr id="22" name="Shape 20">
            <a:extLst xmlns:a="http://schemas.openxmlformats.org/drawingml/2006/main">
              <a:ext uri="{FF2B5EF4-FFF2-40B4-BE49-F238E27FC236}">
                <a16:creationId xmlns:a16="http://schemas.microsoft.com/office/drawing/2014/main" id="{939FB28C-CF76-4D50-B5A5-81DE8660BFCA}"/>
              </a:ext>
            </a:extLst>
          </p:cNvPr>
          <p:cNvSpPr>
            <a:spLocks xmlns:a="http://schemas.openxmlformats.org/drawingml/2006/main" noGrp="1"/>
          </p:cNvSpPr>
          <p:nvPr/>
        </p:nvSpPr>
        <p:spPr>
          <a:xfrm xmlns:a="http://schemas.openxmlformats.org/drawingml/2006/main">
            <a:off x="7454006" y="3218688"/>
            <a:ext cx="1765341"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9019DCCB-9837-49E6-BE68-D89057831979}"/>
              </a:ext>
            </a:extLst>
          </p:cNvPr>
          <p:cNvSpPr>
            <a:spLocks xmlns:a="http://schemas.openxmlformats.org/drawingml/2006/main" noGrp="1"/>
          </p:cNvSpPr>
          <p:nvPr/>
        </p:nvSpPr>
        <p:spPr>
          <a:xfrm xmlns:a="http://schemas.openxmlformats.org/drawingml/2006/main">
            <a:off x="7454006" y="3310128"/>
            <a:ext cx="1765341"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i="1">
                <a:solidFill>
                  <a:srgbClr val="486581"/>
                </a:solidFill>
                <a:latin typeface="Arial"/>
                <a:ea typeface="Arial"/>
                <a:cs typeface="Arial"/>
              </a:rPr>
              <a:t>Customer channel</a:t>
            </a:r>
            <a:endParaRPr sz="900"/>
          </a:p>
        </p:txBody>
      </p:sp>
      <p:sp>
        <p:nvSpPr>
          <p:cNvPr id="24" name="Shape 22">
            <a:extLst xmlns:a="http://schemas.openxmlformats.org/drawingml/2006/main">
              <a:ext uri="{FF2B5EF4-FFF2-40B4-BE49-F238E27FC236}">
                <a16:creationId xmlns:a16="http://schemas.microsoft.com/office/drawing/2014/main" id="{803CF0DC-A0F2-49DA-B382-0A31A3319DDB}"/>
              </a:ext>
            </a:extLst>
          </p:cNvPr>
          <p:cNvSpPr>
            <a:spLocks xmlns:a="http://schemas.openxmlformats.org/drawingml/2006/main" noGrp="1"/>
          </p:cNvSpPr>
          <p:nvPr/>
        </p:nvSpPr>
        <p:spPr>
          <a:xfrm xmlns:a="http://schemas.openxmlformats.org/drawingml/2006/main">
            <a:off x="9530243" y="1335024"/>
            <a:ext cx="2094525" cy="2194560"/>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174A1CB5-BD1A-4B73-A74C-FB22645B3DD8}"/>
              </a:ext>
            </a:extLst>
          </p:cNvPr>
          <p:cNvSpPr>
            <a:spLocks xmlns:a="http://schemas.openxmlformats.org/drawingml/2006/main" noGrp="1"/>
          </p:cNvSpPr>
          <p:nvPr/>
        </p:nvSpPr>
        <p:spPr>
          <a:xfrm xmlns:a="http://schemas.openxmlformats.org/drawingml/2006/main">
            <a:off x="9694835" y="1499616"/>
            <a:ext cx="176534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Reporting service</a:t>
            </a:r>
            <a:endParaRPr sz="1140"/>
          </a:p>
        </p:txBody>
      </p:sp>
      <p:sp>
        <p:nvSpPr>
          <p:cNvPr id="26" name="Text 24">
            <a:extLst xmlns:a="http://schemas.openxmlformats.org/drawingml/2006/main">
              <a:ext uri="{FF2B5EF4-FFF2-40B4-BE49-F238E27FC236}">
                <a16:creationId xmlns:a16="http://schemas.microsoft.com/office/drawing/2014/main" id="{F5A3BAD6-D27F-4B6D-A6D2-659475E88D54}"/>
              </a:ext>
            </a:extLst>
          </p:cNvPr>
          <p:cNvSpPr>
            <a:spLocks xmlns:a="http://schemas.openxmlformats.org/drawingml/2006/main" noGrp="1"/>
          </p:cNvSpPr>
          <p:nvPr/>
        </p:nvSpPr>
        <p:spPr>
          <a:xfrm xmlns:a="http://schemas.openxmlformats.org/drawingml/2006/main">
            <a:off x="9694835" y="1993392"/>
            <a:ext cx="1765341" cy="12070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10">
                <a:solidFill>
                  <a:srgbClr val="486581"/>
                </a:solidFill>
                <a:latin typeface="Arial"/>
                <a:ea typeface="Arial"/>
                <a:cs typeface="Arial"/>
              </a:rPr>
              <a:t>Owns operational and regulatory reporting across revival volumes, turnaround and outcomes</a:t>
            </a:r>
            <a:endParaRPr sz="910"/>
          </a:p>
        </p:txBody>
      </p:sp>
      <p:sp>
        <p:nvSpPr>
          <p:cNvPr id="27" name="Shape 25">
            <a:extLst xmlns:a="http://schemas.openxmlformats.org/drawingml/2006/main">
              <a:ext uri="{FF2B5EF4-FFF2-40B4-BE49-F238E27FC236}">
                <a16:creationId xmlns:a16="http://schemas.microsoft.com/office/drawing/2014/main" id="{4448319E-66AD-4CEC-B897-D3CD447DA0C7}"/>
              </a:ext>
            </a:extLst>
          </p:cNvPr>
          <p:cNvSpPr>
            <a:spLocks xmlns:a="http://schemas.openxmlformats.org/drawingml/2006/main" noGrp="1"/>
          </p:cNvSpPr>
          <p:nvPr/>
        </p:nvSpPr>
        <p:spPr>
          <a:xfrm xmlns:a="http://schemas.openxmlformats.org/drawingml/2006/main">
            <a:off x="9694835" y="3218688"/>
            <a:ext cx="1765341" cy="13716"/>
          </a:xfrm>
          <a:prstGeom xmlns:a="http://schemas.openxmlformats.org/drawingml/2006/main" prst="rect">
            <a:avLst/>
          </a:prstGeom>
          <a:solidFill xmlns:a="http://schemas.openxmlformats.org/drawingml/2006/main">
            <a:srgbClr val="C6D2DE"/>
          </a:solidFill>
        </p:spPr>
      </p:sp>
      <p:sp>
        <p:nvSpPr>
          <p:cNvPr id="28" name="Text 26">
            <a:extLst xmlns:a="http://schemas.openxmlformats.org/drawingml/2006/main">
              <a:ext uri="{FF2B5EF4-FFF2-40B4-BE49-F238E27FC236}">
                <a16:creationId xmlns:a16="http://schemas.microsoft.com/office/drawing/2014/main" id="{884107CB-DB72-4017-8DEA-8336F67AE594}"/>
              </a:ext>
            </a:extLst>
          </p:cNvPr>
          <p:cNvSpPr>
            <a:spLocks xmlns:a="http://schemas.openxmlformats.org/drawingml/2006/main" noGrp="1"/>
          </p:cNvSpPr>
          <p:nvPr/>
        </p:nvSpPr>
        <p:spPr>
          <a:xfrm xmlns:a="http://schemas.openxmlformats.org/drawingml/2006/main">
            <a:off x="9694835" y="3310128"/>
            <a:ext cx="1765341"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b="1" i="1">
                <a:solidFill>
                  <a:srgbClr val="486581"/>
                </a:solidFill>
                <a:latin typeface="Arial"/>
                <a:ea typeface="Arial"/>
                <a:cs typeface="Arial"/>
              </a:rPr>
              <a:t>Reporting</a:t>
            </a:r>
            <a:endParaRPr sz="900"/>
          </a:p>
        </p:txBody>
      </p:sp>
      <p:sp>
        <p:nvSpPr>
          <p:cNvPr id="29" name="Text 27">
            <a:extLst xmlns:a="http://schemas.openxmlformats.org/drawingml/2006/main">
              <a:ext uri="{FF2B5EF4-FFF2-40B4-BE49-F238E27FC236}">
                <a16:creationId xmlns:a16="http://schemas.microsoft.com/office/drawing/2014/main" id="{510877E9-8545-4070-B1B7-5B89796793AA}"/>
              </a:ext>
            </a:extLst>
          </p:cNvPr>
          <p:cNvSpPr>
            <a:spLocks xmlns:a="http://schemas.openxmlformats.org/drawingml/2006/main" noGrp="1"/>
          </p:cNvSpPr>
          <p:nvPr/>
        </p:nvSpPr>
        <p:spPr>
          <a:xfrm xmlns:a="http://schemas.openxmlformats.org/drawingml/2006/main">
            <a:off x="566928" y="38039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documents were the hard part</a:t>
            </a:r>
            <a:endParaRPr sz="1100"/>
          </a:p>
        </p:txBody>
      </p:sp>
      <p:sp>
        <p:nvSpPr>
          <p:cNvPr id="30" name="Shape 28">
            <a:extLst xmlns:a="http://schemas.openxmlformats.org/drawingml/2006/main">
              <a:ext uri="{FF2B5EF4-FFF2-40B4-BE49-F238E27FC236}">
                <a16:creationId xmlns:a16="http://schemas.microsoft.com/office/drawing/2014/main" id="{E4EFEEB3-A8A4-49D1-9C66-6EC8EB42F368}"/>
              </a:ext>
            </a:extLst>
          </p:cNvPr>
          <p:cNvSpPr>
            <a:spLocks xmlns:a="http://schemas.openxmlformats.org/drawingml/2006/main" noGrp="1"/>
          </p:cNvSpPr>
          <p:nvPr/>
        </p:nvSpPr>
        <p:spPr>
          <a:xfrm xmlns:a="http://schemas.openxmlformats.org/drawingml/2006/main">
            <a:off x="566928" y="4059936"/>
            <a:ext cx="3551834" cy="20117"/>
          </a:xfrm>
          <a:prstGeom xmlns:a="http://schemas.openxmlformats.org/drawingml/2006/main" prst="rect">
            <a:avLst/>
          </a:prstGeom>
          <a:solidFill xmlns:a="http://schemas.openxmlformats.org/drawingml/2006/main">
            <a:srgbClr val="B04A25"/>
          </a:solidFill>
        </p:spPr>
      </p:sp>
      <p:sp>
        <p:nvSpPr>
          <p:cNvPr id="31" name="Text 29">
            <a:extLst xmlns:a="http://schemas.openxmlformats.org/drawingml/2006/main">
              <a:ext uri="{FF2B5EF4-FFF2-40B4-BE49-F238E27FC236}">
                <a16:creationId xmlns:a16="http://schemas.microsoft.com/office/drawing/2014/main" id="{CF7D5B7D-A97A-4493-A954-D386BED14B47}"/>
              </a:ext>
            </a:extLst>
          </p:cNvPr>
          <p:cNvSpPr>
            <a:spLocks xmlns:a="http://schemas.openxmlformats.org/drawingml/2006/main" noGrp="1"/>
          </p:cNvSpPr>
          <p:nvPr/>
        </p:nvSpPr>
        <p:spPr>
          <a:xfrm xmlns:a="http://schemas.openxmlformats.org/drawingml/2006/main">
            <a:off x="566928" y="418795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revival generates declarations, evidence, medical reports and correspondence, arriving through several channels.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Each system had its own view of what documents existed, and none had the complete set.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Underwriters were assembling packs manually from three places, which is both slow and a genuine audit exposure.</a:t>
            </a:r>
            <a:endParaRPr sz="950"/>
          </a:p>
        </p:txBody>
      </p:sp>
      <p:sp>
        <p:nvSpPr>
          <p:cNvPr id="32" name="Text 30">
            <a:extLst xmlns:a="http://schemas.openxmlformats.org/drawingml/2006/main">
              <a:ext uri="{FF2B5EF4-FFF2-40B4-BE49-F238E27FC236}">
                <a16:creationId xmlns:a16="http://schemas.microsoft.com/office/drawing/2014/main" id="{15E6D4D2-5729-4C50-A700-80C03283FB37}"/>
              </a:ext>
            </a:extLst>
          </p:cNvPr>
          <p:cNvSpPr>
            <a:spLocks xmlns:a="http://schemas.openxmlformats.org/drawingml/2006/main" noGrp="1"/>
          </p:cNvSpPr>
          <p:nvPr/>
        </p:nvSpPr>
        <p:spPr>
          <a:xfrm xmlns:a="http://schemas.openxmlformats.org/drawingml/2006/main">
            <a:off x="4319930" y="38039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integration established</a:t>
            </a:r>
            <a:endParaRPr sz="1100"/>
          </a:p>
        </p:txBody>
      </p:sp>
      <p:sp>
        <p:nvSpPr>
          <p:cNvPr id="33" name="Shape 31">
            <a:extLst xmlns:a="http://schemas.openxmlformats.org/drawingml/2006/main">
              <a:ext uri="{FF2B5EF4-FFF2-40B4-BE49-F238E27FC236}">
                <a16:creationId xmlns:a16="http://schemas.microsoft.com/office/drawing/2014/main" id="{AAA29111-0AE2-4795-AB03-6A92C33EA137}"/>
              </a:ext>
            </a:extLst>
          </p:cNvPr>
          <p:cNvSpPr>
            <a:spLocks xmlns:a="http://schemas.openxmlformats.org/drawingml/2006/main" noGrp="1"/>
          </p:cNvSpPr>
          <p:nvPr/>
        </p:nvSpPr>
        <p:spPr>
          <a:xfrm xmlns:a="http://schemas.openxmlformats.org/drawingml/2006/main">
            <a:off x="4319930" y="4059936"/>
            <a:ext cx="3551834" cy="20117"/>
          </a:xfrm>
          <a:prstGeom xmlns:a="http://schemas.openxmlformats.org/drawingml/2006/main" prst="rect">
            <a:avLst/>
          </a:prstGeom>
          <a:solidFill xmlns:a="http://schemas.openxmlformats.org/drawingml/2006/main">
            <a:srgbClr val="102A43"/>
          </a:solidFill>
        </p:spPr>
      </p:sp>
      <p:sp>
        <p:nvSpPr>
          <p:cNvPr id="34" name="Text 32">
            <a:extLst xmlns:a="http://schemas.openxmlformats.org/drawingml/2006/main">
              <a:ext uri="{FF2B5EF4-FFF2-40B4-BE49-F238E27FC236}">
                <a16:creationId xmlns:a16="http://schemas.microsoft.com/office/drawing/2014/main" id="{DA2E1F30-9DCD-4AE0-9E52-219FA4EBECCC}"/>
              </a:ext>
            </a:extLst>
          </p:cNvPr>
          <p:cNvSpPr>
            <a:spLocks xmlns:a="http://schemas.openxmlformats.org/drawingml/2006/main" noGrp="1"/>
          </p:cNvSpPr>
          <p:nvPr/>
        </p:nvSpPr>
        <p:spPr>
          <a:xfrm xmlns:a="http://schemas.openxmlformats.org/drawingml/2006/main">
            <a:off x="4319930" y="418795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One document store as the source of truth, with every system referencing rather than holding copies.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Documents attached to the case, not to the channel that received them.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Completeness visible at the case, so a case waiting on evidence is distinguishable from one waiting on a decision.</a:t>
            </a:r>
            <a:endParaRPr sz="950"/>
          </a:p>
        </p:txBody>
      </p:sp>
      <p:sp>
        <p:nvSpPr>
          <p:cNvPr id="35" name="Text 33">
            <a:extLst xmlns:a="http://schemas.openxmlformats.org/drawingml/2006/main">
              <a:ext uri="{FF2B5EF4-FFF2-40B4-BE49-F238E27FC236}">
                <a16:creationId xmlns:a16="http://schemas.microsoft.com/office/drawing/2014/main" id="{1A820586-3162-4B98-B10B-FFD57CD8D16C}"/>
              </a:ext>
            </a:extLst>
          </p:cNvPr>
          <p:cNvSpPr>
            <a:spLocks xmlns:a="http://schemas.openxmlformats.org/drawingml/2006/main" noGrp="1"/>
          </p:cNvSpPr>
          <p:nvPr/>
        </p:nvSpPr>
        <p:spPr>
          <a:xfrm xmlns:a="http://schemas.openxmlformats.org/drawingml/2006/main">
            <a:off x="8072933" y="38039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Why that distinction matters</a:t>
            </a:r>
            <a:endParaRPr sz="1100"/>
          </a:p>
        </p:txBody>
      </p:sp>
      <p:sp>
        <p:nvSpPr>
          <p:cNvPr id="36" name="Shape 34">
            <a:extLst xmlns:a="http://schemas.openxmlformats.org/drawingml/2006/main">
              <a:ext uri="{FF2B5EF4-FFF2-40B4-BE49-F238E27FC236}">
                <a16:creationId xmlns:a16="http://schemas.microsoft.com/office/drawing/2014/main" id="{66591D9B-26B5-4240-A60F-72E9E6AC3C5D}"/>
              </a:ext>
            </a:extLst>
          </p:cNvPr>
          <p:cNvSpPr>
            <a:spLocks xmlns:a="http://schemas.openxmlformats.org/drawingml/2006/main" noGrp="1"/>
          </p:cNvSpPr>
          <p:nvPr/>
        </p:nvSpPr>
        <p:spPr>
          <a:xfrm xmlns:a="http://schemas.openxmlformats.org/drawingml/2006/main">
            <a:off x="8072933" y="4059936"/>
            <a:ext cx="3551834" cy="20117"/>
          </a:xfrm>
          <a:prstGeom xmlns:a="http://schemas.openxmlformats.org/drawingml/2006/main" prst="rect">
            <a:avLst/>
          </a:prstGeom>
          <a:solidFill xmlns:a="http://schemas.openxmlformats.org/drawingml/2006/main">
            <a:srgbClr val="486581"/>
          </a:solidFill>
        </p:spPr>
      </p:sp>
      <p:sp>
        <p:nvSpPr>
          <p:cNvPr id="37" name="Text 35">
            <a:extLst xmlns:a="http://schemas.openxmlformats.org/drawingml/2006/main">
              <a:ext uri="{FF2B5EF4-FFF2-40B4-BE49-F238E27FC236}">
                <a16:creationId xmlns:a16="http://schemas.microsoft.com/office/drawing/2014/main" id="{54C79D5C-4ACC-42DE-A4B0-9CF78DCA00D8}"/>
              </a:ext>
            </a:extLst>
          </p:cNvPr>
          <p:cNvSpPr>
            <a:spLocks xmlns:a="http://schemas.openxmlformats.org/drawingml/2006/main" noGrp="1"/>
          </p:cNvSpPr>
          <p:nvPr/>
        </p:nvSpPr>
        <p:spPr>
          <a:xfrm xmlns:a="http://schemas.openxmlformats.org/drawingml/2006/main">
            <a:off x="8072933" y="418795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Waiting on the customer and waiting on the insurer are completely different operational states.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Conflated, they produce a turnaround figure that measures nothing actionable.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Separating them is the prerequisite for any credible service-level commitment on revival.</a:t>
            </a:r>
            <a:endParaRPr sz="950"/>
          </a:p>
        </p:txBody>
      </p:sp>
      <p:sp>
        <p:nvSpPr>
          <p:cNvPr id="38" name="Shape 36">
            <a:extLst xmlns:a="http://schemas.openxmlformats.org/drawingml/2006/main">
              <a:ext uri="{FF2B5EF4-FFF2-40B4-BE49-F238E27FC236}">
                <a16:creationId xmlns:a16="http://schemas.microsoft.com/office/drawing/2014/main" id="{6D2AE734-F92E-466F-AB58-243AA382C41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9" name="Text 37">
            <a:extLst xmlns:a="http://schemas.openxmlformats.org/drawingml/2006/main">
              <a:ext uri="{FF2B5EF4-FFF2-40B4-BE49-F238E27FC236}">
                <a16:creationId xmlns:a16="http://schemas.microsoft.com/office/drawing/2014/main" id="{0D9ABCB7-1828-41FD-8B06-F0B3D2EDC77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policy servicing programmes · author's analysis</a:t>
            </a:r>
            <a:endParaRPr sz="850"/>
          </a:p>
        </p:txBody>
      </p:sp>
      <p:sp>
        <p:nvSpPr>
          <p:cNvPr id="40" name="Text 38">
            <a:extLst xmlns:a="http://schemas.openxmlformats.org/drawingml/2006/main">
              <a:ext uri="{FF2B5EF4-FFF2-40B4-BE49-F238E27FC236}">
                <a16:creationId xmlns:a16="http://schemas.microsoft.com/office/drawing/2014/main" id="{2EBB2B9A-2A60-40A1-9F45-66FFC354089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099019635"/>
      </p:ext>
    </p:extLst>
  </p:cSld>
</p:sld>
</file>

<file path=ppt/slides/slide15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5D7E41-0378-4513-9F56-677A4C9C7DF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781F1B77-349B-4693-8A6A-BE7BEFDFC3B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a servicing process with a risk decision inside it</a:t>
            </a:r>
            <a:endParaRPr sz="1900"/>
          </a:p>
        </p:txBody>
      </p:sp>
      <p:sp>
        <p:nvSpPr>
          <p:cNvPr id="4" name="Text 2">
            <a:extLst xmlns:a="http://schemas.openxmlformats.org/drawingml/2006/main">
              <a:ext uri="{FF2B5EF4-FFF2-40B4-BE49-F238E27FC236}">
                <a16:creationId xmlns:a16="http://schemas.microsoft.com/office/drawing/2014/main" id="{19BA22F5-16DB-412E-80BD-5D93A24B2ECB}"/>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54AB670B-401A-4072-902F-168D6F549F8C}"/>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Let the risk decision shape the process</a:t>
            </a:r>
            <a:endParaRPr sz="1200"/>
          </a:p>
        </p:txBody>
      </p:sp>
      <p:sp>
        <p:nvSpPr>
          <p:cNvPr id="6" name="Text 4">
            <a:extLst xmlns:a="http://schemas.openxmlformats.org/drawingml/2006/main">
              <a:ext uri="{FF2B5EF4-FFF2-40B4-BE49-F238E27FC236}">
                <a16:creationId xmlns:a16="http://schemas.microsoft.com/office/drawing/2014/main" id="{A08DE4B6-938C-493A-812D-E45226DAD24D}"/>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Where a control is necessary for a minority of cases, building the process around it and applying it universally deters exactly the cases you want and adds nothing to the ones the control was written for.</a:t>
            </a:r>
            <a:endParaRPr sz="1000"/>
          </a:p>
        </p:txBody>
      </p:sp>
      <p:sp>
        <p:nvSpPr>
          <p:cNvPr id="7" name="Shape 5">
            <a:extLst xmlns:a="http://schemas.openxmlformats.org/drawingml/2006/main">
              <a:ext uri="{FF2B5EF4-FFF2-40B4-BE49-F238E27FC236}">
                <a16:creationId xmlns:a16="http://schemas.microsoft.com/office/drawing/2014/main" id="{1485C759-E979-4D54-8664-70077DA7642E}"/>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B2A13D5-1B77-4BA0-96B6-F83769EC138C}"/>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26EC1E61-50F3-46EC-A76F-81E884EED87C}"/>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Route at intake, from data you already hold</a:t>
            </a:r>
            <a:endParaRPr sz="1200"/>
          </a:p>
        </p:txBody>
      </p:sp>
      <p:sp>
        <p:nvSpPr>
          <p:cNvPr id="10" name="Text 8">
            <a:extLst xmlns:a="http://schemas.openxmlformats.org/drawingml/2006/main">
              <a:ext uri="{FF2B5EF4-FFF2-40B4-BE49-F238E27FC236}">
                <a16:creationId xmlns:a16="http://schemas.microsoft.com/office/drawing/2014/main" id="{EB98F828-792F-4380-BBD7-CCC3ABE46645}"/>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Segmentation that requires customer effort is not segmentation — it is another form. Routing from lapse duration, sum assured and history costs the customer nothing and happens before any requirement is raised.</a:t>
            </a:r>
            <a:endParaRPr sz="1000"/>
          </a:p>
        </p:txBody>
      </p:sp>
      <p:sp>
        <p:nvSpPr>
          <p:cNvPr id="11" name="Shape 9">
            <a:extLst xmlns:a="http://schemas.openxmlformats.org/drawingml/2006/main">
              <a:ext uri="{FF2B5EF4-FFF2-40B4-BE49-F238E27FC236}">
                <a16:creationId xmlns:a16="http://schemas.microsoft.com/office/drawing/2014/main" id="{FF534B88-0227-42AE-8FD7-74B52DE5D85A}"/>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D6F93C34-FF69-4E3D-8106-3881FA6B3833}"/>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F243E969-093A-453A-9670-F2AA8ACC9787}"/>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Three paths, never three processes</a:t>
            </a:r>
            <a:endParaRPr sz="1200"/>
          </a:p>
        </p:txBody>
      </p:sp>
      <p:sp>
        <p:nvSpPr>
          <p:cNvPr id="14" name="Text 12">
            <a:extLst xmlns:a="http://schemas.openxmlformats.org/drawingml/2006/main">
              <a:ext uri="{FF2B5EF4-FFF2-40B4-BE49-F238E27FC236}">
                <a16:creationId xmlns:a16="http://schemas.microsoft.com/office/drawing/2014/main" id="{57EA501A-61E1-40B3-B1B7-2CA9C97914A7}"/>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One case model, one audit trail, one status vocabulary, one document store. Different requirements and different turnaround promises. Anything more divergent becomes three systems to maintain.</a:t>
            </a:r>
            <a:endParaRPr sz="1000"/>
          </a:p>
        </p:txBody>
      </p:sp>
      <p:sp>
        <p:nvSpPr>
          <p:cNvPr id="15" name="Shape 13">
            <a:extLst xmlns:a="http://schemas.openxmlformats.org/drawingml/2006/main">
              <a:ext uri="{FF2B5EF4-FFF2-40B4-BE49-F238E27FC236}">
                <a16:creationId xmlns:a16="http://schemas.microsoft.com/office/drawing/2014/main" id="{640DFE45-47CD-4D0C-9E9D-6E8E8472B74E}"/>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0F0A4B9C-CF1B-4954-92E1-25ACC835B51E}"/>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7503ABCE-E48D-4A93-BD16-5632F135C0A1}"/>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Separate waiting on us from waiting on them</a:t>
            </a:r>
            <a:endParaRPr sz="1200"/>
          </a:p>
        </p:txBody>
      </p:sp>
      <p:sp>
        <p:nvSpPr>
          <p:cNvPr id="18" name="Text 16">
            <a:extLst xmlns:a="http://schemas.openxmlformats.org/drawingml/2006/main">
              <a:ext uri="{FF2B5EF4-FFF2-40B4-BE49-F238E27FC236}">
                <a16:creationId xmlns:a16="http://schemas.microsoft.com/office/drawing/2014/main" id="{72252CFA-E1AA-4D6D-9995-F4F3D3DDABAB}"/>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Conflating the two produces a turnaround measure that cannot be acted on and a service-level commitment that cannot be made. It is the smallest change with the largest operational effect.</a:t>
            </a:r>
            <a:endParaRPr sz="1000"/>
          </a:p>
        </p:txBody>
      </p:sp>
      <p:sp>
        <p:nvSpPr>
          <p:cNvPr id="19" name="Shape 17">
            <a:extLst xmlns:a="http://schemas.openxmlformats.org/drawingml/2006/main">
              <a:ext uri="{FF2B5EF4-FFF2-40B4-BE49-F238E27FC236}">
                <a16:creationId xmlns:a16="http://schemas.microsoft.com/office/drawing/2014/main" id="{24420303-53CD-4491-9478-55FE0C04FBFF}"/>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8C9842C5-905F-4210-969D-8BCFF6BC4EE5}"/>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heavy path was correct for the cases it was designed for and a deterrent for everything else. Applying a control where the risk actually sits is not a relaxation of it — it is the first time it was specified properly.</a:t>
            </a:r>
            <a:endParaRPr sz="1200"/>
          </a:p>
        </p:txBody>
      </p:sp>
      <p:sp>
        <p:nvSpPr>
          <p:cNvPr id="21" name="Shape 19">
            <a:extLst xmlns:a="http://schemas.openxmlformats.org/drawingml/2006/main">
              <a:ext uri="{FF2B5EF4-FFF2-40B4-BE49-F238E27FC236}">
                <a16:creationId xmlns:a16="http://schemas.microsoft.com/office/drawing/2014/main" id="{6811E14B-7AF4-4434-B3E8-63BE27AAD3C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CAF6CD55-AC6F-4926-AF9A-A27BFFFAF53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process analysis</a:t>
            </a:r>
            <a:endParaRPr sz="850"/>
          </a:p>
        </p:txBody>
      </p:sp>
      <p:sp>
        <p:nvSpPr>
          <p:cNvPr id="23" name="Text 21">
            <a:extLst xmlns:a="http://schemas.openxmlformats.org/drawingml/2006/main">
              <a:ext uri="{FF2B5EF4-FFF2-40B4-BE49-F238E27FC236}">
                <a16:creationId xmlns:a16="http://schemas.microsoft.com/office/drawing/2014/main" id="{596D5B9F-85F4-44F7-ACE3-110A9590FCE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244070625"/>
      </p:ext>
    </p:extLst>
  </p:cSld>
</p:sld>
</file>

<file path=ppt/slides/slide15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9869A56-3635-415D-B48D-0CE0AFACDF19}"/>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OPERATIONS  ·  13 OF 30</a:t>
            </a:r>
            <a:endParaRPr sz="950"/>
          </a:p>
        </p:txBody>
      </p:sp>
      <p:sp>
        <p:nvSpPr>
          <p:cNvPr id="3" name="Text 1">
            <a:extLst xmlns:a="http://schemas.openxmlformats.org/drawingml/2006/main">
              <a:ext uri="{FF2B5EF4-FFF2-40B4-BE49-F238E27FC236}">
                <a16:creationId xmlns:a16="http://schemas.microsoft.com/office/drawing/2014/main" id="{9B36DCA9-CFCE-4FB0-96FD-EE93340DB32F}"/>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Kotak Mahindra Life</a:t>
            </a:r>
            <a:endParaRPr sz="3800"/>
          </a:p>
        </p:txBody>
      </p:sp>
      <p:sp>
        <p:nvSpPr>
          <p:cNvPr id="4" name="Text 2">
            <a:extLst xmlns:a="http://schemas.openxmlformats.org/drawingml/2006/main">
              <a:ext uri="{FF2B5EF4-FFF2-40B4-BE49-F238E27FC236}">
                <a16:creationId xmlns:a16="http://schemas.microsoft.com/office/drawing/2014/main" id="{177EA5E1-2A01-4702-AA1B-20F79005F629}"/>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Case visibility across five systems — and the smallest fix that mattered most</a:t>
            </a:r>
            <a:endParaRPr sz="1800"/>
          </a:p>
        </p:txBody>
      </p:sp>
      <p:sp>
        <p:nvSpPr>
          <p:cNvPr id="5" name="Text 3">
            <a:extLst xmlns:a="http://schemas.openxmlformats.org/drawingml/2006/main">
              <a:ext uri="{FF2B5EF4-FFF2-40B4-BE49-F238E27FC236}">
                <a16:creationId xmlns:a16="http://schemas.microsoft.com/office/drawing/2014/main" id="{F3545B32-16C3-48D6-B946-C77F96C0E0C3}"/>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servicing case in flight across five systems is visible in all of them and understood in none. The work that changed the operation was not a dashboard; it was distinguishing a case waiting on the insurer from a case waiting on the customer, and telling the customer their case existed.</a:t>
            </a:r>
            <a:endParaRPr sz="1150"/>
          </a:p>
        </p:txBody>
      </p:sp>
      <p:sp>
        <p:nvSpPr>
          <p:cNvPr id="6" name="Shape 4">
            <a:extLst xmlns:a="http://schemas.openxmlformats.org/drawingml/2006/main">
              <a:ext uri="{FF2B5EF4-FFF2-40B4-BE49-F238E27FC236}">
                <a16:creationId xmlns:a16="http://schemas.microsoft.com/office/drawing/2014/main" id="{E791BF0C-19B4-41E8-84F3-4EF29C066ED8}"/>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195F4EA1-4A36-4C49-AC61-120619539F0C}"/>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8" name="Text 6">
            <a:extLst xmlns:a="http://schemas.openxmlformats.org/drawingml/2006/main">
              <a:ext uri="{FF2B5EF4-FFF2-40B4-BE49-F238E27FC236}">
                <a16:creationId xmlns:a16="http://schemas.microsoft.com/office/drawing/2014/main" id="{69903175-E698-459D-9A12-4F68FB8D9B67}"/>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systems behind</a:t>
            </a:r>
            <a:endParaRPr sz="900"/>
          </a:p>
          <a:p xmlns:a="http://schemas.openxmlformats.org/drawingml/2006/main">
            <a:pPr marL="0" indent="0">
              <a:lnSpc>
                <a:spcPts val="1100"/>
              </a:lnSpc>
              <a:buNone/>
            </a:pPr>
            <a:r>
              <a:rPr sz="900">
                <a:solidFill>
                  <a:srgbClr val="8FA9C4"/>
                </a:solidFill>
                <a:latin typeface="Arial"/>
                <a:ea typeface="Arial"/>
                <a:cs typeface="Arial"/>
              </a:rPr>
              <a:t>one case</a:t>
            </a:r>
            <a:endParaRPr sz="900"/>
          </a:p>
        </p:txBody>
      </p:sp>
      <p:sp>
        <p:nvSpPr>
          <p:cNvPr id="9" name="Text 7">
            <a:extLst xmlns:a="http://schemas.openxmlformats.org/drawingml/2006/main">
              <a:ext uri="{FF2B5EF4-FFF2-40B4-BE49-F238E27FC236}">
                <a16:creationId xmlns:a16="http://schemas.microsoft.com/office/drawing/2014/main" id="{0A4D64C9-C4A1-4F77-AA2E-6B7DDCF5842C}"/>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10" name="Text 8">
            <a:extLst xmlns:a="http://schemas.openxmlformats.org/drawingml/2006/main">
              <a:ext uri="{FF2B5EF4-FFF2-40B4-BE49-F238E27FC236}">
                <a16:creationId xmlns:a16="http://schemas.microsoft.com/office/drawing/2014/main" id="{B9AE188B-7EDA-4B8D-B2D6-E8025DC0D1EF}"/>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waiting states that</a:t>
            </a:r>
            <a:endParaRPr sz="900"/>
          </a:p>
          <a:p xmlns:a="http://schemas.openxmlformats.org/drawingml/2006/main">
            <a:pPr marL="0" indent="0">
              <a:lnSpc>
                <a:spcPts val="1100"/>
              </a:lnSpc>
              <a:buNone/>
            </a:pPr>
            <a:r>
              <a:rPr sz="900">
                <a:solidFill>
                  <a:srgbClr val="8FA9C4"/>
                </a:solidFill>
                <a:latin typeface="Arial"/>
                <a:ea typeface="Arial"/>
                <a:cs typeface="Arial"/>
              </a:rPr>
              <a:t>were conflated</a:t>
            </a:r>
            <a:endParaRPr sz="900"/>
          </a:p>
        </p:txBody>
      </p:sp>
      <p:sp>
        <p:nvSpPr>
          <p:cNvPr id="11" name="Text 9">
            <a:extLst xmlns:a="http://schemas.openxmlformats.org/drawingml/2006/main">
              <a:ext uri="{FF2B5EF4-FFF2-40B4-BE49-F238E27FC236}">
                <a16:creationId xmlns:a16="http://schemas.microsoft.com/office/drawing/2014/main" id="{96E9E741-3702-4127-AD14-8A6A8258971C}"/>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2" name="Text 10">
            <a:extLst xmlns:a="http://schemas.openxmlformats.org/drawingml/2006/main">
              <a:ext uri="{FF2B5EF4-FFF2-40B4-BE49-F238E27FC236}">
                <a16:creationId xmlns:a16="http://schemas.microsoft.com/office/drawing/2014/main" id="{A03BECE7-C9A7-490C-A878-120D51FDE807}"/>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acknowledgement</a:t>
            </a:r>
            <a:endParaRPr sz="900"/>
          </a:p>
          <a:p xmlns:a="http://schemas.openxmlformats.org/drawingml/2006/main">
            <a:pPr marL="0" indent="0">
              <a:lnSpc>
                <a:spcPts val="1100"/>
              </a:lnSpc>
              <a:buNone/>
            </a:pPr>
            <a:r>
              <a:rPr sz="900">
                <a:solidFill>
                  <a:srgbClr val="8FA9C4"/>
                </a:solidFill>
                <a:latin typeface="Arial"/>
                <a:ea typeface="Arial"/>
                <a:cs typeface="Arial"/>
              </a:rPr>
              <a:t>that was missing</a:t>
            </a:r>
            <a:endParaRPr sz="900"/>
          </a:p>
        </p:txBody>
      </p:sp>
      <p:sp>
        <p:nvSpPr>
          <p:cNvPr id="13" name="Text 11">
            <a:extLst xmlns:a="http://schemas.openxmlformats.org/drawingml/2006/main">
              <a:ext uri="{FF2B5EF4-FFF2-40B4-BE49-F238E27FC236}">
                <a16:creationId xmlns:a16="http://schemas.microsoft.com/office/drawing/2014/main" id="{5423FF40-899E-4360-B331-77036534ED30}"/>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4" name="Text 12">
            <a:extLst xmlns:a="http://schemas.openxmlformats.org/drawingml/2006/main">
              <a:ext uri="{FF2B5EF4-FFF2-40B4-BE49-F238E27FC236}">
                <a16:creationId xmlns:a16="http://schemas.microsoft.com/office/drawing/2014/main" id="{4252339E-9981-459D-A4B0-A61980698146}"/>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reasons cases</a:t>
            </a:r>
            <a:endParaRPr sz="900"/>
          </a:p>
          <a:p xmlns:a="http://schemas.openxmlformats.org/drawingml/2006/main">
            <a:pPr marL="0" indent="0">
              <a:lnSpc>
                <a:spcPts val="1100"/>
              </a:lnSpc>
              <a:buNone/>
            </a:pPr>
            <a:r>
              <a:rPr sz="900">
                <a:solidFill>
                  <a:srgbClr val="8FA9C4"/>
                </a:solidFill>
                <a:latin typeface="Arial"/>
                <a:ea typeface="Arial"/>
                <a:cs typeface="Arial"/>
              </a:rPr>
              <a:t>silently stall</a:t>
            </a:r>
            <a:endParaRPr sz="900"/>
          </a:p>
        </p:txBody>
      </p:sp>
      <p:sp>
        <p:nvSpPr>
          <p:cNvPr id="15" name="Text 13">
            <a:extLst xmlns:a="http://schemas.openxmlformats.org/drawingml/2006/main">
              <a:ext uri="{FF2B5EF4-FFF2-40B4-BE49-F238E27FC236}">
                <a16:creationId xmlns:a16="http://schemas.microsoft.com/office/drawing/2014/main" id="{D89A2395-E280-468B-A5A3-814F3FCB4D07}"/>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7E8DB731-287A-449A-B46A-FDF3EB80CAB9}"/>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measure that</a:t>
            </a:r>
            <a:endParaRPr sz="900"/>
          </a:p>
          <a:p xmlns:a="http://schemas.openxmlformats.org/drawingml/2006/main">
            <a:pPr marL="0" indent="0">
              <a:lnSpc>
                <a:spcPts val="1100"/>
              </a:lnSpc>
              <a:buNone/>
            </a:pPr>
            <a:r>
              <a:rPr sz="900">
                <a:solidFill>
                  <a:srgbClr val="8FA9C4"/>
                </a:solidFill>
                <a:latin typeface="Arial"/>
                <a:ea typeface="Arial"/>
                <a:cs typeface="Arial"/>
              </a:rPr>
              <a:t>became usable</a:t>
            </a:r>
            <a:endParaRPr sz="900"/>
          </a:p>
        </p:txBody>
      </p:sp>
      <p:sp>
        <p:nvSpPr>
          <p:cNvPr id="17" name="Text 15">
            <a:extLst xmlns:a="http://schemas.openxmlformats.org/drawingml/2006/main">
              <a:ext uri="{FF2B5EF4-FFF2-40B4-BE49-F238E27FC236}">
                <a16:creationId xmlns:a16="http://schemas.microsoft.com/office/drawing/2014/main" id="{8E8CA766-A35A-4970-9B8D-3C4173D5488E}"/>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E0398901-3FF0-46F2-AB72-9E0E01BD8ABB}"/>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new systems</a:t>
            </a:r>
            <a:endParaRPr sz="900"/>
          </a:p>
          <a:p xmlns:a="http://schemas.openxmlformats.org/drawingml/2006/main">
            <a:pPr marL="0" indent="0">
              <a:lnSpc>
                <a:spcPts val="1100"/>
              </a:lnSpc>
              <a:buNone/>
            </a:pPr>
            <a:r>
              <a:rPr sz="900">
                <a:solidFill>
                  <a:srgbClr val="8FA9C4"/>
                </a:solidFill>
                <a:latin typeface="Arial"/>
                <a:ea typeface="Arial"/>
                <a:cs typeface="Arial"/>
              </a:rPr>
              <a:t>introduced</a:t>
            </a:r>
            <a:endParaRPr sz="900"/>
          </a:p>
        </p:txBody>
      </p:sp>
      <p:sp>
        <p:nvSpPr>
          <p:cNvPr id="19" name="Shape 17">
            <a:extLst xmlns:a="http://schemas.openxmlformats.org/drawingml/2006/main">
              <a:ext uri="{FF2B5EF4-FFF2-40B4-BE49-F238E27FC236}">
                <a16:creationId xmlns:a16="http://schemas.microsoft.com/office/drawing/2014/main" id="{70B36AC8-A48B-45B4-9874-C7D159AC3AF7}"/>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9928AF81-B02C-4BD2-A275-08AA963986A3}"/>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PROGRAMME CONTEXT  ·  LIFE INSURANCE POLICY SERVICING OPERATIONS</a:t>
            </a:r>
            <a:endParaRPr sz="800"/>
          </a:p>
        </p:txBody>
      </p:sp>
      <p:sp>
        <p:nvSpPr>
          <p:cNvPr id="21" name="Text 19">
            <a:extLst xmlns:a="http://schemas.openxmlformats.org/drawingml/2006/main">
              <a:ext uri="{FF2B5EF4-FFF2-40B4-BE49-F238E27FC236}">
                <a16:creationId xmlns:a16="http://schemas.microsoft.com/office/drawing/2014/main" id="{62FB006F-4F87-43D1-94DB-FEEF421577DA}"/>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Open case visibility and reverts    ·    automated acknowledgement for manually created cases    ·    integration across the servicing estate</a:t>
            </a:r>
            <a:endParaRPr sz="1050"/>
          </a:p>
        </p:txBody>
      </p:sp>
      <p:sp>
        <p:nvSpPr>
          <p:cNvPr id="22" name="Text 20">
            <a:extLst xmlns:a="http://schemas.openxmlformats.org/drawingml/2006/main">
              <a:ext uri="{FF2B5EF4-FFF2-40B4-BE49-F238E27FC236}">
                <a16:creationId xmlns:a16="http://schemas.microsoft.com/office/drawing/2014/main" id="{A68FC766-243E-433E-BDAC-7B6D28D9756E}"/>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policy servicing programmes  ·  2024 and 2026</a:t>
            </a:r>
            <a:endParaRPr sz="1200"/>
          </a:p>
        </p:txBody>
      </p:sp>
      <p:sp>
        <p:nvSpPr>
          <p:cNvPr id="23" name="Text 21">
            <a:extLst xmlns:a="http://schemas.openxmlformats.org/drawingml/2006/main">
              <a:ext uri="{FF2B5EF4-FFF2-40B4-BE49-F238E27FC236}">
                <a16:creationId xmlns:a16="http://schemas.microsoft.com/office/drawing/2014/main" id="{7ABEA5B2-5F3D-4DB1-93C7-A3C5173124FC}"/>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system names removed. Programme scope is from the delivery record; the state analysis and stall decomposition are design work.</a:t>
            </a:r>
            <a:endParaRPr sz="850"/>
          </a:p>
        </p:txBody>
      </p:sp>
    </p:spTree>
    <p:extLst>
      <p:ext uri="{BB962C8B-B14F-4D97-AF65-F5344CB8AC3E}">
        <p14:creationId xmlns:p14="http://schemas.microsoft.com/office/powerpoint/2010/main" val="1874045383"/>
      </p:ext>
    </p:extLst>
  </p:cSld>
</p:sld>
</file>

<file path=ppt/slides/slide16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3FC062-38D7-4293-87EB-DCBAB8BE958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D0A6B3F2-0D07-4E41-BD3C-CD9C2F3E24D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Turnaround was unmeasurable because two completely different waiting states were</a:t>
            </a:r>
            <a:endParaRPr sz="1900"/>
          </a:p>
          <a:p xmlns:a="http://schemas.openxmlformats.org/drawingml/2006/main">
            <a:pPr marL="0" indent="0">
              <a:lnSpc>
                <a:spcPts val="2400"/>
              </a:lnSpc>
              <a:buNone/>
            </a:pPr>
            <a:r>
              <a:rPr sz="1900" b="1">
                <a:solidFill>
                  <a:srgbClr val="102A43"/>
                </a:solidFill>
                <a:latin typeface="Arial"/>
                <a:ea typeface="Arial"/>
                <a:cs typeface="Arial"/>
              </a:rPr>
              <a:t>being counted as one — and the fix was smaller than anyone expected</a:t>
            </a:r>
            <a:endParaRPr sz="1900"/>
          </a:p>
        </p:txBody>
      </p:sp>
      <p:sp>
        <p:nvSpPr>
          <p:cNvPr id="4" name="Shape 2">
            <a:extLst xmlns:a="http://schemas.openxmlformats.org/drawingml/2006/main">
              <a:ext uri="{FF2B5EF4-FFF2-40B4-BE49-F238E27FC236}">
                <a16:creationId xmlns:a16="http://schemas.microsoft.com/office/drawing/2014/main" id="{F2C091B1-AD09-48B7-8343-3752244DF368}"/>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CA5C3BCA-86A5-4A92-947F-81C5B98D2104}"/>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C8E9ACA4-BC97-46C6-9860-F6B31E6BA241}"/>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Policy servicing cases move across five systems: the servicing platform, a rules engine, the policy administration system, the customer-facing policy manager and a reporting service.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system knows about the case. None holds the complete picture of where it actually is.</a:t>
            </a:r>
            <a:endParaRPr sz="980"/>
          </a:p>
        </p:txBody>
      </p:sp>
      <p:sp>
        <p:nvSpPr>
          <p:cNvPr id="7" name="Shape 5">
            <a:extLst xmlns:a="http://schemas.openxmlformats.org/drawingml/2006/main">
              <a:ext uri="{FF2B5EF4-FFF2-40B4-BE49-F238E27FC236}">
                <a16:creationId xmlns:a16="http://schemas.microsoft.com/office/drawing/2014/main" id="{A8A62A75-4253-4966-8B25-24D31C23B22A}"/>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B7B4B237-88B5-4FB2-A8DC-29568E8AFEA0}"/>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72EBA85B-0A2C-4F1F-A4B7-8F51B759AA8A}"/>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case waiting for the insurer to act and a case waiting for the customer to send a document are entirely different operational states, with different owners and different remedies.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Counted together, the turnaround figure measures neither. Operations cannot tell whether a backlog is a capacity problem or a chasing problem, and no service-level commitment can honestly be made — because the number includes time the insurer does not control.</a:t>
            </a:r>
            <a:endParaRPr sz="980"/>
          </a:p>
        </p:txBody>
      </p:sp>
      <p:sp>
        <p:nvSpPr>
          <p:cNvPr id="10" name="Shape 8">
            <a:extLst xmlns:a="http://schemas.openxmlformats.org/drawingml/2006/main">
              <a:ext uri="{FF2B5EF4-FFF2-40B4-BE49-F238E27FC236}">
                <a16:creationId xmlns:a16="http://schemas.microsoft.com/office/drawing/2014/main" id="{1784AC09-2509-484F-B43A-2C3401D143D1}"/>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57C3D5E5-2F56-4A73-B468-7EFC00B3215A}"/>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What changed</a:t>
            </a:r>
            <a:endParaRPr sz="1250"/>
          </a:p>
        </p:txBody>
      </p:sp>
      <p:sp>
        <p:nvSpPr>
          <p:cNvPr id="12" name="Text 10">
            <a:extLst xmlns:a="http://schemas.openxmlformats.org/drawingml/2006/main">
              <a:ext uri="{FF2B5EF4-FFF2-40B4-BE49-F238E27FC236}">
                <a16:creationId xmlns:a16="http://schemas.microsoft.com/office/drawing/2014/main" id="{7190E461-5280-4A22-A9C0-A0D2D8E12A15}"/>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Separate the two states explicitly at the case level, so a revert to the customer stops the insurer's clock and starts a different one.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Then close the loop that made the second state so damaging: acknowledge every case at creation, including the manually raised ones that previously entered the estate silently. A customer who does not know a case exists cannot respond to a revert on it.</a:t>
            </a:r>
            <a:endParaRPr sz="980"/>
          </a:p>
        </p:txBody>
      </p:sp>
      <p:sp>
        <p:nvSpPr>
          <p:cNvPr id="13" name="Text 11">
            <a:extLst xmlns:a="http://schemas.openxmlformats.org/drawingml/2006/main">
              <a:ext uri="{FF2B5EF4-FFF2-40B4-BE49-F238E27FC236}">
                <a16:creationId xmlns:a16="http://schemas.microsoft.com/office/drawing/2014/main" id="{E3D0D7B8-E8DB-442D-B8F3-401F749B9134}"/>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2A435B5B-E1AB-48EF-9B56-438C1605ACE0}"/>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03DE1633-EE74-41EB-86B1-65E9D68B62D9}"/>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16" name="Text 14">
            <a:extLst xmlns:a="http://schemas.openxmlformats.org/drawingml/2006/main">
              <a:ext uri="{FF2B5EF4-FFF2-40B4-BE49-F238E27FC236}">
                <a16:creationId xmlns:a16="http://schemas.microsoft.com/office/drawing/2014/main" id="{C57F63DB-5BA9-470C-9713-CF01F59DD646}"/>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states, previously one</a:t>
            </a:r>
            <a:endParaRPr sz="860"/>
          </a:p>
        </p:txBody>
      </p:sp>
      <p:sp>
        <p:nvSpPr>
          <p:cNvPr id="17" name="Shape 15">
            <a:extLst xmlns:a="http://schemas.openxmlformats.org/drawingml/2006/main">
              <a:ext uri="{FF2B5EF4-FFF2-40B4-BE49-F238E27FC236}">
                <a16:creationId xmlns:a16="http://schemas.microsoft.com/office/drawing/2014/main" id="{5FA77BC5-B1FC-409A-B0F0-CE48984A4151}"/>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1855E2BC-9FE8-4919-9AAA-B065C2F7B02C}"/>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19" name="Text 17">
            <a:extLst xmlns:a="http://schemas.openxmlformats.org/drawingml/2006/main">
              <a:ext uri="{FF2B5EF4-FFF2-40B4-BE49-F238E27FC236}">
                <a16:creationId xmlns:a16="http://schemas.microsoft.com/office/drawing/2014/main" id="{3C759DAD-2ED3-48B3-9132-87C2E2DA45CF}"/>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systems, one case view</a:t>
            </a:r>
            <a:endParaRPr sz="860"/>
          </a:p>
        </p:txBody>
      </p:sp>
      <p:sp>
        <p:nvSpPr>
          <p:cNvPr id="20" name="Shape 18">
            <a:extLst xmlns:a="http://schemas.openxmlformats.org/drawingml/2006/main">
              <a:ext uri="{FF2B5EF4-FFF2-40B4-BE49-F238E27FC236}">
                <a16:creationId xmlns:a16="http://schemas.microsoft.com/office/drawing/2014/main" id="{260CB332-B936-47DC-93F8-6A4BE5956D5C}"/>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C451F7C4-87F2-4831-AEF5-44C6DDC62F69}"/>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A9691AB2-BAEF-4781-91A9-A4434AB6FAAE}"/>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clock the insurer owns</a:t>
            </a:r>
            <a:endParaRPr sz="860"/>
          </a:p>
        </p:txBody>
      </p:sp>
      <p:sp>
        <p:nvSpPr>
          <p:cNvPr id="23" name="Shape 21">
            <a:extLst xmlns:a="http://schemas.openxmlformats.org/drawingml/2006/main">
              <a:ext uri="{FF2B5EF4-FFF2-40B4-BE49-F238E27FC236}">
                <a16:creationId xmlns:a16="http://schemas.microsoft.com/office/drawing/2014/main" id="{C279E8E6-B0C2-46E3-8F90-946E4C85B2B5}"/>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8E56ABD8-7373-4DB6-8499-2BE28F5EF08E}"/>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100%</a:t>
            </a:r>
            <a:endParaRPr sz="2100"/>
          </a:p>
        </p:txBody>
      </p:sp>
      <p:sp>
        <p:nvSpPr>
          <p:cNvPr id="25" name="Text 23">
            <a:extLst xmlns:a="http://schemas.openxmlformats.org/drawingml/2006/main">
              <a:ext uri="{FF2B5EF4-FFF2-40B4-BE49-F238E27FC236}">
                <a16:creationId xmlns:a16="http://schemas.microsoft.com/office/drawing/2014/main" id="{9D84B02A-94BE-48FC-8EEF-36B1E864397B}"/>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of cases acknowledged</a:t>
            </a:r>
            <a:endParaRPr sz="860"/>
          </a:p>
        </p:txBody>
      </p:sp>
      <p:sp>
        <p:nvSpPr>
          <p:cNvPr id="26" name="Shape 24">
            <a:extLst xmlns:a="http://schemas.openxmlformats.org/drawingml/2006/main">
              <a:ext uri="{FF2B5EF4-FFF2-40B4-BE49-F238E27FC236}">
                <a16:creationId xmlns:a16="http://schemas.microsoft.com/office/drawing/2014/main" id="{9C773843-65F7-436D-837A-7325D1071167}"/>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D8B88A90-E58F-48A0-A80F-99DCAF6E2555}"/>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8" name="Text 26">
            <a:extLst xmlns:a="http://schemas.openxmlformats.org/drawingml/2006/main">
              <a:ext uri="{FF2B5EF4-FFF2-40B4-BE49-F238E27FC236}">
                <a16:creationId xmlns:a16="http://schemas.microsoft.com/office/drawing/2014/main" id="{F8BE59FC-E4F0-4181-BB87-1135A659D00A}"/>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stall causes identified</a:t>
            </a:r>
            <a:endParaRPr sz="860"/>
          </a:p>
        </p:txBody>
      </p:sp>
      <p:sp>
        <p:nvSpPr>
          <p:cNvPr id="29" name="Shape 27">
            <a:extLst xmlns:a="http://schemas.openxmlformats.org/drawingml/2006/main">
              <a:ext uri="{FF2B5EF4-FFF2-40B4-BE49-F238E27FC236}">
                <a16:creationId xmlns:a16="http://schemas.microsoft.com/office/drawing/2014/main" id="{97CED9FD-B0EF-44A9-8660-211FB4FEBA38}"/>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F7BCAAA4-A17D-4C45-913A-BBD6594F9FF0}"/>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9824586D-AC3E-4306-BBC2-7DDED92FAC9B}"/>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measure now actionable</a:t>
            </a:r>
            <a:endParaRPr sz="860"/>
          </a:p>
        </p:txBody>
      </p:sp>
      <p:sp>
        <p:nvSpPr>
          <p:cNvPr id="32" name="Text 30">
            <a:extLst xmlns:a="http://schemas.openxmlformats.org/drawingml/2006/main">
              <a:ext uri="{FF2B5EF4-FFF2-40B4-BE49-F238E27FC236}">
                <a16:creationId xmlns:a16="http://schemas.microsoft.com/office/drawing/2014/main" id="{B494DB61-0CD8-46DA-8100-B05B0CDE7B28}"/>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judgement this argues:  most servicing visibility problems are presented as reporting problems and solved with dashboards. This one was a state-modelling problem with a communication gap behind it, and no dashboard over the original model would have produced an actionable number.</a:t>
            </a:r>
            <a:endParaRPr sz="1000"/>
          </a:p>
        </p:txBody>
      </p:sp>
      <p:sp>
        <p:nvSpPr>
          <p:cNvPr id="33" name="Shape 31">
            <a:extLst xmlns:a="http://schemas.openxmlformats.org/drawingml/2006/main">
              <a:ext uri="{FF2B5EF4-FFF2-40B4-BE49-F238E27FC236}">
                <a16:creationId xmlns:a16="http://schemas.microsoft.com/office/drawing/2014/main" id="{35DBA299-4C74-4143-AC44-390D570F39E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AC948F6D-EF30-4B62-B197-717BC9E952B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operations analysis</a:t>
            </a:r>
            <a:endParaRPr sz="850"/>
          </a:p>
        </p:txBody>
      </p:sp>
      <p:sp>
        <p:nvSpPr>
          <p:cNvPr id="35" name="Text 33">
            <a:extLst xmlns:a="http://schemas.openxmlformats.org/drawingml/2006/main">
              <a:ext uri="{FF2B5EF4-FFF2-40B4-BE49-F238E27FC236}">
                <a16:creationId xmlns:a16="http://schemas.microsoft.com/office/drawing/2014/main" id="{2DC9A1B1-917C-48AB-9B1D-8D5896E9660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2007745955"/>
      </p:ext>
    </p:extLst>
  </p:cSld>
</p:sld>
</file>

<file path=ppt/slides/slide16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FEB6E0F-539C-455B-BF75-ED22B33E12C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2145BC9D-7866-4AAC-9B22-4457921BEAD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programmes and the estate come from the delivery record; the state model and</a:t>
            </a:r>
            <a:endParaRPr sz="1900"/>
          </a:p>
          <a:p xmlns:a="http://schemas.openxmlformats.org/drawingml/2006/main">
            <a:pPr marL="0" indent="0">
              <a:lnSpc>
                <a:spcPts val="2400"/>
              </a:lnSpc>
              <a:buNone/>
            </a:pPr>
            <a:r>
              <a:rPr sz="1900" b="1">
                <a:solidFill>
                  <a:srgbClr val="102A43"/>
                </a:solidFill>
                <a:latin typeface="Arial"/>
                <a:ea typeface="Arial"/>
                <a:cs typeface="Arial"/>
              </a:rPr>
              <a:t>the stall analysis are design work</a:t>
            </a:r>
            <a:endParaRPr sz="1900"/>
          </a:p>
        </p:txBody>
      </p:sp>
      <p:sp>
        <p:nvSpPr>
          <p:cNvPr id="4" name="Shape 2">
            <a:extLst xmlns:a="http://schemas.openxmlformats.org/drawingml/2006/main">
              <a:ext uri="{FF2B5EF4-FFF2-40B4-BE49-F238E27FC236}">
                <a16:creationId xmlns:a16="http://schemas.microsoft.com/office/drawing/2014/main" id="{50CCD32E-A492-48F6-91FC-F905063346BC}"/>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E9A5C85D-B646-40DD-A758-6B34D868F826}"/>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C4B24C8B-A0C5-433D-AFF0-0286295A541D}"/>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DELIVERED SCOPE</a:t>
            </a:r>
            <a:endParaRPr sz="740"/>
          </a:p>
        </p:txBody>
      </p:sp>
      <p:sp>
        <p:nvSpPr>
          <p:cNvPr id="7" name="Text 5">
            <a:extLst xmlns:a="http://schemas.openxmlformats.org/drawingml/2006/main">
              <a:ext uri="{FF2B5EF4-FFF2-40B4-BE49-F238E27FC236}">
                <a16:creationId xmlns:a16="http://schemas.microsoft.com/office/drawing/2014/main" id="{F8EBB338-E7CD-4EBB-A480-1805B785EC98}"/>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4C491299-17A8-4BDB-987B-9AC9B31E1385}"/>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servicing estate and the two programmes as delivered.</a:t>
            </a:r>
            <a:endParaRPr sz="920"/>
          </a:p>
        </p:txBody>
      </p:sp>
      <p:sp>
        <p:nvSpPr>
          <p:cNvPr id="9" name="Shape 7">
            <a:extLst xmlns:a="http://schemas.openxmlformats.org/drawingml/2006/main">
              <a:ext uri="{FF2B5EF4-FFF2-40B4-BE49-F238E27FC236}">
                <a16:creationId xmlns:a16="http://schemas.microsoft.com/office/drawing/2014/main" id="{6014D762-0817-4073-BDB0-75EDAF5B6B04}"/>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F04DA445-6842-4F7C-A180-6803B6F6B450}"/>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Open case visibility and reverts, 2024</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Automated acknowledgement, 2026</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systems in the servicing chain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Manually created case pathway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Existing reporting service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Customer-facing policy channel</a:t>
            </a:r>
            <a:endParaRPr sz="930"/>
          </a:p>
        </p:txBody>
      </p:sp>
      <p:sp>
        <p:nvSpPr>
          <p:cNvPr id="11" name="Shape 9">
            <a:extLst xmlns:a="http://schemas.openxmlformats.org/drawingml/2006/main">
              <a:ext uri="{FF2B5EF4-FFF2-40B4-BE49-F238E27FC236}">
                <a16:creationId xmlns:a16="http://schemas.microsoft.com/office/drawing/2014/main" id="{C7CC30C2-91A9-43F7-81AE-89F34AE8140E}"/>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B02CCDA4-0939-4B59-A01B-F00A041882A2}"/>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01855BEC-3B89-4A86-A068-3D480B35D908}"/>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B235E790-3237-4DB5-8565-664CE7FBE4D1}"/>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72BC7A60-7205-4AE2-9D8A-FEB5F99C113A}"/>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Delivery lead on both programmes, including the state separation and the acknowledgement design.</a:t>
            </a:r>
            <a:endParaRPr sz="920"/>
          </a:p>
        </p:txBody>
      </p:sp>
      <p:sp>
        <p:nvSpPr>
          <p:cNvPr id="16" name="Shape 14">
            <a:extLst xmlns:a="http://schemas.openxmlformats.org/drawingml/2006/main">
              <a:ext uri="{FF2B5EF4-FFF2-40B4-BE49-F238E27FC236}">
                <a16:creationId xmlns:a16="http://schemas.microsoft.com/office/drawing/2014/main" id="{EB97CB22-F201-4E9B-8608-FB66AD975FDE}"/>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DBB673A1-6550-4543-ADA9-C0480F932028}"/>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Waiting-state separation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Revert lifecycle and clock handling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Acknowledgement for manual cases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Cross-system case view</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Reporting continuity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18E1E54A-E253-4CD4-8A28-362C37981E4A}"/>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59788FC6-F8DD-45E9-ACF9-DE24DFE392B2}"/>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6491ABDA-AC42-482D-BEB7-A5D7046D51E5}"/>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METHOD ILLUSTRATION</a:t>
            </a:r>
            <a:endParaRPr sz="740"/>
          </a:p>
        </p:txBody>
      </p:sp>
      <p:sp>
        <p:nvSpPr>
          <p:cNvPr id="21" name="Text 19">
            <a:extLst xmlns:a="http://schemas.openxmlformats.org/drawingml/2006/main">
              <a:ext uri="{FF2B5EF4-FFF2-40B4-BE49-F238E27FC236}">
                <a16:creationId xmlns:a16="http://schemas.microsoft.com/office/drawing/2014/main" id="{C6E4ECA8-FBDF-4808-B454-04EA8AD43A23}"/>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Reconstructed</a:t>
            </a:r>
            <a:endParaRPr sz="1200"/>
          </a:p>
        </p:txBody>
      </p:sp>
      <p:sp>
        <p:nvSpPr>
          <p:cNvPr id="22" name="Text 20">
            <a:extLst xmlns:a="http://schemas.openxmlformats.org/drawingml/2006/main">
              <a:ext uri="{FF2B5EF4-FFF2-40B4-BE49-F238E27FC236}">
                <a16:creationId xmlns:a16="http://schemas.microsoft.com/office/drawing/2014/main" id="{71C10C98-075A-4D71-904D-8594D781AA35}"/>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design detail shown illustrates the approach taken. Specific definitions, categories and figures are reconstructed for presentation and are not quoted from the programme record.</a:t>
            </a:r>
            <a:endParaRPr sz="920"/>
          </a:p>
        </p:txBody>
      </p:sp>
      <p:sp>
        <p:nvSpPr>
          <p:cNvPr id="23" name="Shape 21">
            <a:extLst xmlns:a="http://schemas.openxmlformats.org/drawingml/2006/main">
              <a:ext uri="{FF2B5EF4-FFF2-40B4-BE49-F238E27FC236}">
                <a16:creationId xmlns:a16="http://schemas.microsoft.com/office/drawing/2014/main" id="{C87AE7C4-53F6-479B-88E1-F8DFC4061B0B}"/>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F66463D9-DDBE-43E4-8B5B-9407E6D39FC4}"/>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Approach is from the engagement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Detail is reconstructed to illustrate it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Figures are directional, never measured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Confirm specifics before citing them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method is what transfers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Ask me for the underlying record</a:t>
            </a:r>
            <a:endParaRPr sz="930"/>
          </a:p>
        </p:txBody>
      </p:sp>
      <p:sp>
        <p:nvSpPr>
          <p:cNvPr id="25" name="Shape 23">
            <a:extLst xmlns:a="http://schemas.openxmlformats.org/drawingml/2006/main">
              <a:ext uri="{FF2B5EF4-FFF2-40B4-BE49-F238E27FC236}">
                <a16:creationId xmlns:a16="http://schemas.microsoft.com/office/drawing/2014/main" id="{36FD57F2-3F97-4EB8-92F2-31D86CB75815}"/>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18911980-02A6-4347-8F11-95605B00FF5E}"/>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7F813F84-0E0B-4D6A-BA9E-79269419B8B4}"/>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FF6864DF-ED92-4C83-8DDA-1247E5D08D45}"/>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B33A4ACE-2F6B-476D-BD4A-8C5EE74F4D8E}"/>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a:t>
            </a:r>
            <a:endParaRPr sz="920"/>
          </a:p>
        </p:txBody>
      </p:sp>
      <p:sp>
        <p:nvSpPr>
          <p:cNvPr id="30" name="Shape 28">
            <a:extLst xmlns:a="http://schemas.openxmlformats.org/drawingml/2006/main">
              <a:ext uri="{FF2B5EF4-FFF2-40B4-BE49-F238E27FC236}">
                <a16:creationId xmlns:a16="http://schemas.microsoft.com/office/drawing/2014/main" id="{AEA2F25F-A7A9-4138-919B-61477C1B3F69}"/>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0C2D9C4E-D40E-4111-9BA9-941BF4DD2EFB}"/>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customer or policy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case volume or service level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insurer's operational metrics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Measured business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underwriting decision</a:t>
            </a:r>
            <a:endParaRPr sz="930"/>
          </a:p>
        </p:txBody>
      </p:sp>
      <p:sp>
        <p:nvSpPr>
          <p:cNvPr id="32" name="Shape 30">
            <a:extLst xmlns:a="http://schemas.openxmlformats.org/drawingml/2006/main">
              <a:ext uri="{FF2B5EF4-FFF2-40B4-BE49-F238E27FC236}">
                <a16:creationId xmlns:a16="http://schemas.microsoft.com/office/drawing/2014/main" id="{6815EEEA-C8A2-4195-85C6-C049E3F8040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C2DD3D3D-DF68-4FD5-ADD9-D016F0113FA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author's operations analysis (state model and decomposition)</a:t>
            </a:r>
            <a:endParaRPr sz="850"/>
          </a:p>
        </p:txBody>
      </p:sp>
      <p:sp>
        <p:nvSpPr>
          <p:cNvPr id="34" name="Text 32">
            <a:extLst xmlns:a="http://schemas.openxmlformats.org/drawingml/2006/main">
              <a:ext uri="{FF2B5EF4-FFF2-40B4-BE49-F238E27FC236}">
                <a16:creationId xmlns:a16="http://schemas.microsoft.com/office/drawing/2014/main" id="{9DA293C7-FDF7-4A5B-B0BF-E81F38A9AE6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784081004"/>
      </p:ext>
    </p:extLst>
  </p:cSld>
</p:sld>
</file>

<file path=ppt/slides/slide16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0BC17E-C9FB-4333-9229-FAE2B9EDEE6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PROBLEM</a:t>
            </a:r>
            <a:endParaRPr sz="950"/>
          </a:p>
        </p:txBody>
      </p:sp>
      <p:sp>
        <p:nvSpPr>
          <p:cNvPr id="3" name="Text 1">
            <a:extLst xmlns:a="http://schemas.openxmlformats.org/drawingml/2006/main">
              <a:ext uri="{FF2B5EF4-FFF2-40B4-BE49-F238E27FC236}">
                <a16:creationId xmlns:a16="http://schemas.microsoft.com/office/drawing/2014/main" id="{3FA105E1-1FF1-43BD-9E3D-628450CAA7A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systems each hold part of the truth — and the question operations actually needs</a:t>
            </a:r>
            <a:endParaRPr sz="1900"/>
          </a:p>
          <a:p xmlns:a="http://schemas.openxmlformats.org/drawingml/2006/main">
            <a:pPr marL="0" indent="0">
              <a:lnSpc>
                <a:spcPts val="2400"/>
              </a:lnSpc>
              <a:buNone/>
            </a:pPr>
            <a:r>
              <a:rPr sz="1900" b="1">
                <a:solidFill>
                  <a:srgbClr val="102A43"/>
                </a:solidFill>
                <a:latin typeface="Arial"/>
                <a:ea typeface="Arial"/>
                <a:cs typeface="Arial"/>
              </a:rPr>
              <a:t>answered is not stored anywhere</a:t>
            </a:r>
            <a:endParaRPr sz="1900"/>
          </a:p>
        </p:txBody>
      </p:sp>
      <p:sp>
        <p:nvSpPr>
          <p:cNvPr id="4" name="Shape 2">
            <a:extLst xmlns:a="http://schemas.openxmlformats.org/drawingml/2006/main">
              <a:ext uri="{FF2B5EF4-FFF2-40B4-BE49-F238E27FC236}">
                <a16:creationId xmlns:a16="http://schemas.microsoft.com/office/drawing/2014/main" id="{0246F0F8-7525-4DC5-A777-2B841D120C43}"/>
              </a:ext>
            </a:extLst>
          </p:cNvPr>
          <p:cNvSpPr>
            <a:spLocks xmlns:a="http://schemas.openxmlformats.org/drawingml/2006/main" noGrp="1"/>
          </p:cNvSpPr>
          <p:nvPr/>
        </p:nvSpPr>
        <p:spPr>
          <a:xfrm xmlns:a="http://schemas.openxmlformats.org/drawingml/2006/main">
            <a:off x="566928" y="1335024"/>
            <a:ext cx="2094525" cy="658368"/>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7DCC88B9-EB67-4956-9954-1CBB90653105}"/>
              </a:ext>
            </a:extLst>
          </p:cNvPr>
          <p:cNvSpPr>
            <a:spLocks xmlns:a="http://schemas.openxmlformats.org/drawingml/2006/main" noGrp="1"/>
          </p:cNvSpPr>
          <p:nvPr/>
        </p:nvSpPr>
        <p:spPr>
          <a:xfrm xmlns:a="http://schemas.openxmlformats.org/drawingml/2006/main">
            <a:off x="658368" y="1463040"/>
            <a:ext cx="1911645"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00"/>
              </a:lnSpc>
              <a:buNone/>
            </a:pPr>
            <a:r>
              <a:rPr sz="1000" b="1">
                <a:solidFill>
                  <a:srgbClr val="102A43"/>
                </a:solidFill>
                <a:latin typeface="Arial"/>
                <a:ea typeface="Arial"/>
                <a:cs typeface="Arial"/>
              </a:rPr>
              <a:t>Servicing</a:t>
            </a:r>
            <a:endParaRPr sz="1000"/>
          </a:p>
          <a:p xmlns:a="http://schemas.openxmlformats.org/drawingml/2006/main">
            <a:pPr marL="0" indent="0" algn="ctr">
              <a:lnSpc>
                <a:spcPts val="1200"/>
              </a:lnSpc>
              <a:buNone/>
            </a:pPr>
            <a:r>
              <a:rPr sz="1000" b="1">
                <a:solidFill>
                  <a:srgbClr val="102A43"/>
                </a:solidFill>
                <a:latin typeface="Arial"/>
                <a:ea typeface="Arial"/>
                <a:cs typeface="Arial"/>
              </a:rPr>
              <a:t>platform</a:t>
            </a:r>
            <a:endParaRPr sz="1000"/>
          </a:p>
        </p:txBody>
      </p:sp>
      <p:sp>
        <p:nvSpPr>
          <p:cNvPr id="6" name="Shape 4">
            <a:extLst xmlns:a="http://schemas.openxmlformats.org/drawingml/2006/main">
              <a:ext uri="{FF2B5EF4-FFF2-40B4-BE49-F238E27FC236}">
                <a16:creationId xmlns:a16="http://schemas.microsoft.com/office/drawing/2014/main" id="{D016AF4C-A25A-40B6-A647-16D0B4B68BEB}"/>
              </a:ext>
            </a:extLst>
          </p:cNvPr>
          <p:cNvSpPr>
            <a:spLocks xmlns:a="http://schemas.openxmlformats.org/drawingml/2006/main" noGrp="1"/>
          </p:cNvSpPr>
          <p:nvPr/>
        </p:nvSpPr>
        <p:spPr>
          <a:xfrm xmlns:a="http://schemas.openxmlformats.org/drawingml/2006/main">
            <a:off x="2807757" y="1335024"/>
            <a:ext cx="2094525" cy="658368"/>
          </a:xfrm>
          <a:prstGeom xmlns:a="http://schemas.openxmlformats.org/drawingml/2006/main" prst="rect">
            <a:avLst/>
          </a:prstGeom>
          <a:solidFill xmlns:a="http://schemas.openxmlformats.org/drawingml/2006/main">
            <a:srgbClr val="F0F4F8"/>
          </a:solidFill>
        </p:spPr>
      </p:sp>
      <p:sp>
        <p:nvSpPr>
          <p:cNvPr id="7" name="Text 5">
            <a:extLst xmlns:a="http://schemas.openxmlformats.org/drawingml/2006/main">
              <a:ext uri="{FF2B5EF4-FFF2-40B4-BE49-F238E27FC236}">
                <a16:creationId xmlns:a16="http://schemas.microsoft.com/office/drawing/2014/main" id="{73DA4DA7-6294-4441-8220-4FBA21BD6C08}"/>
              </a:ext>
            </a:extLst>
          </p:cNvPr>
          <p:cNvSpPr>
            <a:spLocks xmlns:a="http://schemas.openxmlformats.org/drawingml/2006/main" noGrp="1"/>
          </p:cNvSpPr>
          <p:nvPr/>
        </p:nvSpPr>
        <p:spPr>
          <a:xfrm xmlns:a="http://schemas.openxmlformats.org/drawingml/2006/main">
            <a:off x="2899197" y="1463040"/>
            <a:ext cx="1911645"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00"/>
              </a:lnSpc>
              <a:buNone/>
            </a:pPr>
            <a:r>
              <a:rPr sz="1000" b="1">
                <a:solidFill>
                  <a:srgbClr val="102A43"/>
                </a:solidFill>
                <a:latin typeface="Arial"/>
                <a:ea typeface="Arial"/>
                <a:cs typeface="Arial"/>
              </a:rPr>
              <a:t>Rules</a:t>
            </a:r>
            <a:endParaRPr sz="1000"/>
          </a:p>
          <a:p xmlns:a="http://schemas.openxmlformats.org/drawingml/2006/main">
            <a:pPr marL="0" indent="0" algn="ctr">
              <a:lnSpc>
                <a:spcPts val="1200"/>
              </a:lnSpc>
              <a:buNone/>
            </a:pPr>
            <a:r>
              <a:rPr sz="1000" b="1">
                <a:solidFill>
                  <a:srgbClr val="102A43"/>
                </a:solidFill>
                <a:latin typeface="Arial"/>
                <a:ea typeface="Arial"/>
                <a:cs typeface="Arial"/>
              </a:rPr>
              <a:t>engine</a:t>
            </a:r>
            <a:endParaRPr sz="1000"/>
          </a:p>
        </p:txBody>
      </p:sp>
      <p:sp>
        <p:nvSpPr>
          <p:cNvPr id="8" name="Shape 6">
            <a:extLst xmlns:a="http://schemas.openxmlformats.org/drawingml/2006/main">
              <a:ext uri="{FF2B5EF4-FFF2-40B4-BE49-F238E27FC236}">
                <a16:creationId xmlns:a16="http://schemas.microsoft.com/office/drawing/2014/main" id="{0F1FAE1B-4354-4EF7-A2A9-66938C44089B}"/>
              </a:ext>
            </a:extLst>
          </p:cNvPr>
          <p:cNvSpPr>
            <a:spLocks xmlns:a="http://schemas.openxmlformats.org/drawingml/2006/main" noGrp="1"/>
          </p:cNvSpPr>
          <p:nvPr/>
        </p:nvSpPr>
        <p:spPr>
          <a:xfrm xmlns:a="http://schemas.openxmlformats.org/drawingml/2006/main">
            <a:off x="5048585" y="1335024"/>
            <a:ext cx="2094525" cy="658368"/>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3E0860B6-883C-47AD-A96A-841ADA5048E9}"/>
              </a:ext>
            </a:extLst>
          </p:cNvPr>
          <p:cNvSpPr>
            <a:spLocks xmlns:a="http://schemas.openxmlformats.org/drawingml/2006/main" noGrp="1"/>
          </p:cNvSpPr>
          <p:nvPr/>
        </p:nvSpPr>
        <p:spPr>
          <a:xfrm xmlns:a="http://schemas.openxmlformats.org/drawingml/2006/main">
            <a:off x="5140025" y="1463040"/>
            <a:ext cx="1911645"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00"/>
              </a:lnSpc>
              <a:buNone/>
            </a:pPr>
            <a:r>
              <a:rPr sz="1000" b="1">
                <a:solidFill>
                  <a:srgbClr val="102A43"/>
                </a:solidFill>
                <a:latin typeface="Arial"/>
                <a:ea typeface="Arial"/>
                <a:cs typeface="Arial"/>
              </a:rPr>
              <a:t>Policy</a:t>
            </a:r>
            <a:endParaRPr sz="1000"/>
          </a:p>
          <a:p xmlns:a="http://schemas.openxmlformats.org/drawingml/2006/main">
            <a:pPr marL="0" indent="0" algn="ctr">
              <a:lnSpc>
                <a:spcPts val="1200"/>
              </a:lnSpc>
              <a:buNone/>
            </a:pPr>
            <a:r>
              <a:rPr sz="1000" b="1">
                <a:solidFill>
                  <a:srgbClr val="102A43"/>
                </a:solidFill>
                <a:latin typeface="Arial"/>
                <a:ea typeface="Arial"/>
                <a:cs typeface="Arial"/>
              </a:rPr>
              <a:t>administration</a:t>
            </a:r>
            <a:endParaRPr sz="1000"/>
          </a:p>
        </p:txBody>
      </p:sp>
      <p:sp>
        <p:nvSpPr>
          <p:cNvPr id="10" name="Shape 8">
            <a:extLst xmlns:a="http://schemas.openxmlformats.org/drawingml/2006/main">
              <a:ext uri="{FF2B5EF4-FFF2-40B4-BE49-F238E27FC236}">
                <a16:creationId xmlns:a16="http://schemas.microsoft.com/office/drawing/2014/main" id="{294A7F6B-00C6-4921-8EE0-B918594DAC11}"/>
              </a:ext>
            </a:extLst>
          </p:cNvPr>
          <p:cNvSpPr>
            <a:spLocks xmlns:a="http://schemas.openxmlformats.org/drawingml/2006/main" noGrp="1"/>
          </p:cNvSpPr>
          <p:nvPr/>
        </p:nvSpPr>
        <p:spPr>
          <a:xfrm xmlns:a="http://schemas.openxmlformats.org/drawingml/2006/main">
            <a:off x="7289414" y="1335024"/>
            <a:ext cx="2094525" cy="658368"/>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36029B39-2146-4F7B-A10D-1E413EC5B7F1}"/>
              </a:ext>
            </a:extLst>
          </p:cNvPr>
          <p:cNvSpPr>
            <a:spLocks xmlns:a="http://schemas.openxmlformats.org/drawingml/2006/main" noGrp="1"/>
          </p:cNvSpPr>
          <p:nvPr/>
        </p:nvSpPr>
        <p:spPr>
          <a:xfrm xmlns:a="http://schemas.openxmlformats.org/drawingml/2006/main">
            <a:off x="7380854" y="1463040"/>
            <a:ext cx="1911645"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00"/>
              </a:lnSpc>
              <a:buNone/>
            </a:pPr>
            <a:r>
              <a:rPr sz="1000" b="1">
                <a:solidFill>
                  <a:srgbClr val="102A43"/>
                </a:solidFill>
                <a:latin typeface="Arial"/>
                <a:ea typeface="Arial"/>
                <a:cs typeface="Arial"/>
              </a:rPr>
              <a:t>Customer</a:t>
            </a:r>
            <a:endParaRPr sz="1000"/>
          </a:p>
          <a:p xmlns:a="http://schemas.openxmlformats.org/drawingml/2006/main">
            <a:pPr marL="0" indent="0" algn="ctr">
              <a:lnSpc>
                <a:spcPts val="1200"/>
              </a:lnSpc>
              <a:buNone/>
            </a:pPr>
            <a:r>
              <a:rPr sz="1000" b="1">
                <a:solidFill>
                  <a:srgbClr val="102A43"/>
                </a:solidFill>
                <a:latin typeface="Arial"/>
                <a:ea typeface="Arial"/>
                <a:cs typeface="Arial"/>
              </a:rPr>
              <a:t>channel</a:t>
            </a:r>
            <a:endParaRPr sz="1000"/>
          </a:p>
        </p:txBody>
      </p:sp>
      <p:sp>
        <p:nvSpPr>
          <p:cNvPr id="12" name="Shape 10">
            <a:extLst xmlns:a="http://schemas.openxmlformats.org/drawingml/2006/main">
              <a:ext uri="{FF2B5EF4-FFF2-40B4-BE49-F238E27FC236}">
                <a16:creationId xmlns:a16="http://schemas.microsoft.com/office/drawing/2014/main" id="{B0145324-7789-4A29-84B0-35D5D902063C}"/>
              </a:ext>
            </a:extLst>
          </p:cNvPr>
          <p:cNvSpPr>
            <a:spLocks xmlns:a="http://schemas.openxmlformats.org/drawingml/2006/main" noGrp="1"/>
          </p:cNvSpPr>
          <p:nvPr/>
        </p:nvSpPr>
        <p:spPr>
          <a:xfrm xmlns:a="http://schemas.openxmlformats.org/drawingml/2006/main">
            <a:off x="9530243" y="1335024"/>
            <a:ext cx="2094525" cy="658368"/>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2617289A-2B5F-4E98-8B5D-629BAA332ED2}"/>
              </a:ext>
            </a:extLst>
          </p:cNvPr>
          <p:cNvSpPr>
            <a:spLocks xmlns:a="http://schemas.openxmlformats.org/drawingml/2006/main" noGrp="1"/>
          </p:cNvSpPr>
          <p:nvPr/>
        </p:nvSpPr>
        <p:spPr>
          <a:xfrm xmlns:a="http://schemas.openxmlformats.org/drawingml/2006/main">
            <a:off x="9621683" y="1463040"/>
            <a:ext cx="1911645"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200"/>
              </a:lnSpc>
              <a:buNone/>
            </a:pPr>
            <a:r>
              <a:rPr sz="1000" b="1">
                <a:solidFill>
                  <a:srgbClr val="102A43"/>
                </a:solidFill>
                <a:latin typeface="Arial"/>
                <a:ea typeface="Arial"/>
                <a:cs typeface="Arial"/>
              </a:rPr>
              <a:t>Reporting</a:t>
            </a:r>
            <a:endParaRPr sz="1000"/>
          </a:p>
          <a:p xmlns:a="http://schemas.openxmlformats.org/drawingml/2006/main">
            <a:pPr marL="0" indent="0" algn="ctr">
              <a:lnSpc>
                <a:spcPts val="1200"/>
              </a:lnSpc>
              <a:buNone/>
            </a:pPr>
            <a:r>
              <a:rPr sz="1000" b="1">
                <a:solidFill>
                  <a:srgbClr val="102A43"/>
                </a:solidFill>
                <a:latin typeface="Arial"/>
                <a:ea typeface="Arial"/>
                <a:cs typeface="Arial"/>
              </a:rPr>
              <a:t>service</a:t>
            </a:r>
            <a:endParaRPr sz="1000"/>
          </a:p>
        </p:txBody>
      </p:sp>
      <p:sp>
        <p:nvSpPr>
          <p:cNvPr id="14" name="Text 12">
            <a:extLst xmlns:a="http://schemas.openxmlformats.org/drawingml/2006/main">
              <a:ext uri="{FF2B5EF4-FFF2-40B4-BE49-F238E27FC236}">
                <a16:creationId xmlns:a16="http://schemas.microsoft.com/office/drawing/2014/main" id="{7C2A2DDC-8197-4443-BBEF-D2010C6D05E1}"/>
              </a:ext>
            </a:extLst>
          </p:cNvPr>
          <p:cNvSpPr>
            <a:spLocks xmlns:a="http://schemas.openxmlformats.org/drawingml/2006/main" noGrp="1"/>
          </p:cNvSpPr>
          <p:nvPr/>
        </p:nvSpPr>
        <p:spPr>
          <a:xfrm xmlns:a="http://schemas.openxmlformats.org/drawingml/2006/main">
            <a:off x="566928" y="2084832"/>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1400"/>
              </a:lnSpc>
              <a:buNone/>
            </a:pPr>
            <a:r>
              <a:rPr sz="920" i="1">
                <a:solidFill>
                  <a:srgbClr val="486581"/>
                </a:solidFill>
                <a:latin typeface="Arial"/>
                <a:ea typeface="Arial"/>
                <a:cs typeface="Arial"/>
              </a:rPr>
              <a:t>Each knows the case exists. Each holds a different fragment of its state.</a:t>
            </a:r>
            <a:endParaRPr sz="920"/>
          </a:p>
        </p:txBody>
      </p:sp>
      <p:sp>
        <p:nvSpPr>
          <p:cNvPr id="15" name="Shape 13">
            <a:extLst xmlns:a="http://schemas.openxmlformats.org/drawingml/2006/main">
              <a:ext uri="{FF2B5EF4-FFF2-40B4-BE49-F238E27FC236}">
                <a16:creationId xmlns:a16="http://schemas.microsoft.com/office/drawing/2014/main" id="{BDE5F9C1-4AD3-408E-96B2-042E0EA6D3CE}"/>
              </a:ext>
            </a:extLst>
          </p:cNvPr>
          <p:cNvSpPr>
            <a:spLocks xmlns:a="http://schemas.openxmlformats.org/drawingml/2006/main" noGrp="1"/>
          </p:cNvSpPr>
          <p:nvPr/>
        </p:nvSpPr>
        <p:spPr>
          <a:xfrm xmlns:a="http://schemas.openxmlformats.org/drawingml/2006/main">
            <a:off x="566928" y="2377440"/>
            <a:ext cx="11057839" cy="365760"/>
          </a:xfrm>
          <a:prstGeom xmlns:a="http://schemas.openxmlformats.org/drawingml/2006/main" prst="rect">
            <a:avLst/>
          </a:prstGeom>
          <a:solidFill xmlns:a="http://schemas.openxmlformats.org/drawingml/2006/main">
            <a:srgbClr val="E3EAF2"/>
          </a:solidFill>
        </p:spPr>
      </p:sp>
      <p:sp>
        <p:nvSpPr>
          <p:cNvPr id="16" name="Text 14">
            <a:extLst xmlns:a="http://schemas.openxmlformats.org/drawingml/2006/main">
              <a:ext uri="{FF2B5EF4-FFF2-40B4-BE49-F238E27FC236}">
                <a16:creationId xmlns:a16="http://schemas.microsoft.com/office/drawing/2014/main" id="{261DBAB9-5CD9-4EAB-A3C6-98E1FBB78CC9}"/>
              </a:ext>
            </a:extLst>
          </p:cNvPr>
          <p:cNvSpPr>
            <a:spLocks xmlns:a="http://schemas.openxmlformats.org/drawingml/2006/main" noGrp="1"/>
          </p:cNvSpPr>
          <p:nvPr/>
        </p:nvSpPr>
        <p:spPr>
          <a:xfrm xmlns:a="http://schemas.openxmlformats.org/drawingml/2006/main">
            <a:off x="676656" y="2487168"/>
            <a:ext cx="37124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The question</a:t>
            </a:r>
            <a:endParaRPr sz="920"/>
          </a:p>
        </p:txBody>
      </p:sp>
      <p:sp>
        <p:nvSpPr>
          <p:cNvPr id="17" name="Text 15">
            <a:extLst xmlns:a="http://schemas.openxmlformats.org/drawingml/2006/main">
              <a:ext uri="{FF2B5EF4-FFF2-40B4-BE49-F238E27FC236}">
                <a16:creationId xmlns:a16="http://schemas.microsoft.com/office/drawing/2014/main" id="{7D0162ED-0D3C-423D-9BD2-09D0FD9204C1}"/>
              </a:ext>
            </a:extLst>
          </p:cNvPr>
          <p:cNvSpPr>
            <a:spLocks xmlns:a="http://schemas.openxmlformats.org/drawingml/2006/main" noGrp="1"/>
          </p:cNvSpPr>
          <p:nvPr/>
        </p:nvSpPr>
        <p:spPr>
          <a:xfrm xmlns:a="http://schemas.openxmlformats.org/drawingml/2006/main">
            <a:off x="4700016" y="2487168"/>
            <a:ext cx="35295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Where the answer lives</a:t>
            </a:r>
            <a:endParaRPr sz="920"/>
          </a:p>
        </p:txBody>
      </p:sp>
      <p:sp>
        <p:nvSpPr>
          <p:cNvPr id="18" name="Text 16">
            <a:extLst xmlns:a="http://schemas.openxmlformats.org/drawingml/2006/main">
              <a:ext uri="{FF2B5EF4-FFF2-40B4-BE49-F238E27FC236}">
                <a16:creationId xmlns:a16="http://schemas.microsoft.com/office/drawing/2014/main" id="{AC6AFA3E-7B60-4A39-9693-12CBDE9E788F}"/>
              </a:ext>
            </a:extLst>
          </p:cNvPr>
          <p:cNvSpPr>
            <a:spLocks xmlns:a="http://schemas.openxmlformats.org/drawingml/2006/main" noGrp="1"/>
          </p:cNvSpPr>
          <p:nvPr/>
        </p:nvSpPr>
        <p:spPr>
          <a:xfrm xmlns:a="http://schemas.openxmlformats.org/drawingml/2006/main">
            <a:off x="8540496" y="2487168"/>
            <a:ext cx="2971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it could not be answered</a:t>
            </a:r>
            <a:endParaRPr sz="920"/>
          </a:p>
        </p:txBody>
      </p:sp>
      <p:sp>
        <p:nvSpPr>
          <p:cNvPr id="19" name="Text 17">
            <a:extLst xmlns:a="http://schemas.openxmlformats.org/drawingml/2006/main">
              <a:ext uri="{FF2B5EF4-FFF2-40B4-BE49-F238E27FC236}">
                <a16:creationId xmlns:a16="http://schemas.microsoft.com/office/drawing/2014/main" id="{78F49A9C-51B3-4469-81DA-D5E160ACD9D1}"/>
              </a:ext>
            </a:extLst>
          </p:cNvPr>
          <p:cNvSpPr>
            <a:spLocks xmlns:a="http://schemas.openxmlformats.org/drawingml/2006/main" noGrp="1"/>
          </p:cNvSpPr>
          <p:nvPr/>
        </p:nvSpPr>
        <p:spPr>
          <a:xfrm xmlns:a="http://schemas.openxmlformats.org/drawingml/2006/main">
            <a:off x="676656" y="284378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Does a case exist for this customer?</a:t>
            </a:r>
            <a:endParaRPr sz="970"/>
          </a:p>
        </p:txBody>
      </p:sp>
      <p:sp>
        <p:nvSpPr>
          <p:cNvPr id="20" name="Text 18">
            <a:extLst xmlns:a="http://schemas.openxmlformats.org/drawingml/2006/main">
              <a:ext uri="{FF2B5EF4-FFF2-40B4-BE49-F238E27FC236}">
                <a16:creationId xmlns:a16="http://schemas.microsoft.com/office/drawing/2014/main" id="{E90165C7-C4C9-4987-8303-667E227DF951}"/>
              </a:ext>
            </a:extLst>
          </p:cNvPr>
          <p:cNvSpPr>
            <a:spLocks xmlns:a="http://schemas.openxmlformats.org/drawingml/2006/main" noGrp="1"/>
          </p:cNvSpPr>
          <p:nvPr/>
        </p:nvSpPr>
        <p:spPr>
          <a:xfrm xmlns:a="http://schemas.openxmlformats.org/drawingml/2006/main">
            <a:off x="4700016" y="2843784"/>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Servicing platform</a:t>
            </a:r>
            <a:endParaRPr sz="920"/>
          </a:p>
        </p:txBody>
      </p:sp>
      <p:sp>
        <p:nvSpPr>
          <p:cNvPr id="21" name="Text 19">
            <a:extLst xmlns:a="http://schemas.openxmlformats.org/drawingml/2006/main">
              <a:ext uri="{FF2B5EF4-FFF2-40B4-BE49-F238E27FC236}">
                <a16:creationId xmlns:a16="http://schemas.microsoft.com/office/drawing/2014/main" id="{6CB8E63E-614B-4FD1-8EB0-FF2912D27799}"/>
              </a:ext>
            </a:extLst>
          </p:cNvPr>
          <p:cNvSpPr>
            <a:spLocks xmlns:a="http://schemas.openxmlformats.org/drawingml/2006/main" noGrp="1"/>
          </p:cNvSpPr>
          <p:nvPr/>
        </p:nvSpPr>
        <p:spPr>
          <a:xfrm xmlns:a="http://schemas.openxmlformats.org/drawingml/2006/main">
            <a:off x="8540496" y="2843784"/>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Manually created cases entered silently</a:t>
            </a:r>
            <a:endParaRPr sz="920"/>
          </a:p>
        </p:txBody>
      </p:sp>
      <p:sp>
        <p:nvSpPr>
          <p:cNvPr id="22" name="Shape 20">
            <a:extLst xmlns:a="http://schemas.openxmlformats.org/drawingml/2006/main">
              <a:ext uri="{FF2B5EF4-FFF2-40B4-BE49-F238E27FC236}">
                <a16:creationId xmlns:a16="http://schemas.microsoft.com/office/drawing/2014/main" id="{BBD17A2F-F68F-4684-8F90-68BB86273096}"/>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23" name="Shape 21">
            <a:extLst xmlns:a="http://schemas.openxmlformats.org/drawingml/2006/main">
              <a:ext uri="{FF2B5EF4-FFF2-40B4-BE49-F238E27FC236}">
                <a16:creationId xmlns:a16="http://schemas.microsoft.com/office/drawing/2014/main" id="{84E12A14-0834-4259-A4EF-413FB1EF594B}"/>
              </a:ext>
            </a:extLst>
          </p:cNvPr>
          <p:cNvSpPr>
            <a:spLocks xmlns:a="http://schemas.openxmlformats.org/drawingml/2006/main" noGrp="1"/>
          </p:cNvSpPr>
          <p:nvPr/>
        </p:nvSpPr>
        <p:spPr>
          <a:xfrm xmlns:a="http://schemas.openxmlformats.org/drawingml/2006/main">
            <a:off x="566928" y="3218688"/>
            <a:ext cx="11057839" cy="475488"/>
          </a:xfrm>
          <a:prstGeom xmlns:a="http://schemas.openxmlformats.org/drawingml/2006/main" prst="rect">
            <a:avLst/>
          </a:prstGeom>
          <a:solidFill xmlns:a="http://schemas.openxmlformats.org/drawingml/2006/main">
            <a:srgbClr val="F7F9FB"/>
          </a:solidFill>
        </p:spPr>
      </p:sp>
      <p:sp>
        <p:nvSpPr>
          <p:cNvPr id="24" name="Text 22">
            <a:extLst xmlns:a="http://schemas.openxmlformats.org/drawingml/2006/main">
              <a:ext uri="{FF2B5EF4-FFF2-40B4-BE49-F238E27FC236}">
                <a16:creationId xmlns:a16="http://schemas.microsoft.com/office/drawing/2014/main" id="{E47B2E32-9B6B-4F04-B47F-80BE54A269C1}"/>
              </a:ext>
            </a:extLst>
          </p:cNvPr>
          <p:cNvSpPr>
            <a:spLocks xmlns:a="http://schemas.openxmlformats.org/drawingml/2006/main" noGrp="1"/>
          </p:cNvSpPr>
          <p:nvPr/>
        </p:nvSpPr>
        <p:spPr>
          <a:xfrm xmlns:a="http://schemas.openxmlformats.org/drawingml/2006/main">
            <a:off x="676656" y="3319272"/>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What is it waiting for?</a:t>
            </a:r>
            <a:endParaRPr sz="970"/>
          </a:p>
        </p:txBody>
      </p:sp>
      <p:sp>
        <p:nvSpPr>
          <p:cNvPr id="25" name="Text 23">
            <a:extLst xmlns:a="http://schemas.openxmlformats.org/drawingml/2006/main">
              <a:ext uri="{FF2B5EF4-FFF2-40B4-BE49-F238E27FC236}">
                <a16:creationId xmlns:a16="http://schemas.microsoft.com/office/drawing/2014/main" id="{4E8ACAF5-07B3-4672-854C-1E0D7D64A090}"/>
              </a:ext>
            </a:extLst>
          </p:cNvPr>
          <p:cNvSpPr>
            <a:spLocks xmlns:a="http://schemas.openxmlformats.org/drawingml/2006/main" noGrp="1"/>
          </p:cNvSpPr>
          <p:nvPr/>
        </p:nvSpPr>
        <p:spPr>
          <a:xfrm xmlns:a="http://schemas.openxmlformats.org/drawingml/2006/main">
            <a:off x="4700016" y="3319272"/>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Split across platform and rules engine</a:t>
            </a:r>
            <a:endParaRPr sz="920"/>
          </a:p>
        </p:txBody>
      </p:sp>
      <p:sp>
        <p:nvSpPr>
          <p:cNvPr id="26" name="Text 24">
            <a:extLst xmlns:a="http://schemas.openxmlformats.org/drawingml/2006/main">
              <a:ext uri="{FF2B5EF4-FFF2-40B4-BE49-F238E27FC236}">
                <a16:creationId xmlns:a16="http://schemas.microsoft.com/office/drawing/2014/main" id="{62BD4DBC-8367-4EBA-B2EE-816EE5356A41}"/>
              </a:ext>
            </a:extLst>
          </p:cNvPr>
          <p:cNvSpPr>
            <a:spLocks xmlns:a="http://schemas.openxmlformats.org/drawingml/2006/main" noGrp="1"/>
          </p:cNvSpPr>
          <p:nvPr/>
        </p:nvSpPr>
        <p:spPr>
          <a:xfrm xmlns:a="http://schemas.openxmlformats.org/drawingml/2006/main">
            <a:off x="8540496" y="331927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 single field expressed the reason</a:t>
            </a:r>
            <a:endParaRPr sz="920"/>
          </a:p>
        </p:txBody>
      </p:sp>
      <p:sp>
        <p:nvSpPr>
          <p:cNvPr id="27" name="Shape 25">
            <a:extLst xmlns:a="http://schemas.openxmlformats.org/drawingml/2006/main">
              <a:ext uri="{FF2B5EF4-FFF2-40B4-BE49-F238E27FC236}">
                <a16:creationId xmlns:a16="http://schemas.microsoft.com/office/drawing/2014/main" id="{88C1F36F-FFA2-444C-876D-42CDD9097FBB}"/>
              </a:ext>
            </a:extLst>
          </p:cNvPr>
          <p:cNvSpPr>
            <a:spLocks xmlns:a="http://schemas.openxmlformats.org/drawingml/2006/main" noGrp="1"/>
          </p:cNvSpPr>
          <p:nvPr/>
        </p:nvSpPr>
        <p:spPr>
          <a:xfrm xmlns:a="http://schemas.openxmlformats.org/drawingml/2006/main">
            <a:off x="566928" y="3694176"/>
            <a:ext cx="11057839" cy="7315"/>
          </a:xfrm>
          <a:prstGeom xmlns:a="http://schemas.openxmlformats.org/drawingml/2006/main" prst="rect">
            <a:avLst/>
          </a:prstGeom>
          <a:solidFill xmlns:a="http://schemas.openxmlformats.org/drawingml/2006/main">
            <a:srgbClr val="CBD5E0"/>
          </a:solidFill>
        </p:spPr>
      </p:sp>
      <p:sp>
        <p:nvSpPr>
          <p:cNvPr id="28" name="Text 26">
            <a:extLst xmlns:a="http://schemas.openxmlformats.org/drawingml/2006/main">
              <a:ext uri="{FF2B5EF4-FFF2-40B4-BE49-F238E27FC236}">
                <a16:creationId xmlns:a16="http://schemas.microsoft.com/office/drawing/2014/main" id="{7832DCA0-8737-4CDD-A6E0-891B820BCE64}"/>
              </a:ext>
            </a:extLst>
          </p:cNvPr>
          <p:cNvSpPr>
            <a:spLocks xmlns:a="http://schemas.openxmlformats.org/drawingml/2006/main" noGrp="1"/>
          </p:cNvSpPr>
          <p:nvPr/>
        </p:nvSpPr>
        <p:spPr>
          <a:xfrm xmlns:a="http://schemas.openxmlformats.org/drawingml/2006/main">
            <a:off x="676656" y="379476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Is that our delay or theirs?</a:t>
            </a:r>
            <a:endParaRPr sz="970"/>
          </a:p>
        </p:txBody>
      </p:sp>
      <p:sp>
        <p:nvSpPr>
          <p:cNvPr id="29" name="Text 27">
            <a:extLst xmlns:a="http://schemas.openxmlformats.org/drawingml/2006/main">
              <a:ext uri="{FF2B5EF4-FFF2-40B4-BE49-F238E27FC236}">
                <a16:creationId xmlns:a16="http://schemas.microsoft.com/office/drawing/2014/main" id="{D9268F2C-629D-4706-B283-D916EB173325}"/>
              </a:ext>
            </a:extLst>
          </p:cNvPr>
          <p:cNvSpPr>
            <a:spLocks xmlns:a="http://schemas.openxmlformats.org/drawingml/2006/main" noGrp="1"/>
          </p:cNvSpPr>
          <p:nvPr/>
        </p:nvSpPr>
        <p:spPr>
          <a:xfrm xmlns:a="http://schemas.openxmlformats.org/drawingml/2006/main">
            <a:off x="4700016" y="3794760"/>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Nowhere</a:t>
            </a:r>
            <a:endParaRPr sz="920"/>
          </a:p>
        </p:txBody>
      </p:sp>
      <p:sp>
        <p:nvSpPr>
          <p:cNvPr id="30" name="Text 28">
            <a:extLst xmlns:a="http://schemas.openxmlformats.org/drawingml/2006/main">
              <a:ext uri="{FF2B5EF4-FFF2-40B4-BE49-F238E27FC236}">
                <a16:creationId xmlns:a16="http://schemas.microsoft.com/office/drawing/2014/main" id="{1799FCAA-24D8-4545-AF9A-ACB63C2A56B3}"/>
              </a:ext>
            </a:extLst>
          </p:cNvPr>
          <p:cNvSpPr>
            <a:spLocks xmlns:a="http://schemas.openxmlformats.org/drawingml/2006/main" noGrp="1"/>
          </p:cNvSpPr>
          <p:nvPr/>
        </p:nvSpPr>
        <p:spPr>
          <a:xfrm xmlns:a="http://schemas.openxmlformats.org/drawingml/2006/main">
            <a:off x="8540496" y="3794760"/>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Both were the same status value</a:t>
            </a:r>
            <a:endParaRPr sz="920"/>
          </a:p>
        </p:txBody>
      </p:sp>
      <p:sp>
        <p:nvSpPr>
          <p:cNvPr id="31" name="Shape 29">
            <a:extLst xmlns:a="http://schemas.openxmlformats.org/drawingml/2006/main">
              <a:ext uri="{FF2B5EF4-FFF2-40B4-BE49-F238E27FC236}">
                <a16:creationId xmlns:a16="http://schemas.microsoft.com/office/drawing/2014/main" id="{AAD33058-41C9-44DE-8526-098E1A89B412}"/>
              </a:ext>
            </a:extLst>
          </p:cNvPr>
          <p:cNvSpPr>
            <a:spLocks xmlns:a="http://schemas.openxmlformats.org/drawingml/2006/main" noGrp="1"/>
          </p:cNvSpPr>
          <p:nvPr/>
        </p:nvSpPr>
        <p:spPr>
          <a:xfrm xmlns:a="http://schemas.openxmlformats.org/drawingml/2006/main">
            <a:off x="566928" y="4169664"/>
            <a:ext cx="11057839" cy="7315"/>
          </a:xfrm>
          <a:prstGeom xmlns:a="http://schemas.openxmlformats.org/drawingml/2006/main" prst="rect">
            <a:avLst/>
          </a:prstGeom>
          <a:solidFill xmlns:a="http://schemas.openxmlformats.org/drawingml/2006/main">
            <a:srgbClr val="CBD5E0"/>
          </a:solidFill>
        </p:spPr>
      </p:sp>
      <p:sp>
        <p:nvSpPr>
          <p:cNvPr id="32" name="Shape 30">
            <a:extLst xmlns:a="http://schemas.openxmlformats.org/drawingml/2006/main">
              <a:ext uri="{FF2B5EF4-FFF2-40B4-BE49-F238E27FC236}">
                <a16:creationId xmlns:a16="http://schemas.microsoft.com/office/drawing/2014/main" id="{0DBC02D6-119C-4EFF-B4DD-7B371ECF7600}"/>
              </a:ext>
            </a:extLst>
          </p:cNvPr>
          <p:cNvSpPr>
            <a:spLocks xmlns:a="http://schemas.openxmlformats.org/drawingml/2006/main" noGrp="1"/>
          </p:cNvSpPr>
          <p:nvPr/>
        </p:nvSpPr>
        <p:spPr>
          <a:xfrm xmlns:a="http://schemas.openxmlformats.org/drawingml/2006/main">
            <a:off x="566928" y="4169664"/>
            <a:ext cx="11057839" cy="475488"/>
          </a:xfrm>
          <a:prstGeom xmlns:a="http://schemas.openxmlformats.org/drawingml/2006/main" prst="rect">
            <a:avLst/>
          </a:prstGeom>
          <a:solidFill xmlns:a="http://schemas.openxmlformats.org/drawingml/2006/main">
            <a:srgbClr val="F7F9FB"/>
          </a:solidFill>
        </p:spPr>
      </p:sp>
      <p:sp>
        <p:nvSpPr>
          <p:cNvPr id="33" name="Text 31">
            <a:extLst xmlns:a="http://schemas.openxmlformats.org/drawingml/2006/main">
              <a:ext uri="{FF2B5EF4-FFF2-40B4-BE49-F238E27FC236}">
                <a16:creationId xmlns:a16="http://schemas.microsoft.com/office/drawing/2014/main" id="{AE754A42-B0FE-4FA1-A44E-C3B30924BBE0}"/>
              </a:ext>
            </a:extLst>
          </p:cNvPr>
          <p:cNvSpPr>
            <a:spLocks xmlns:a="http://schemas.openxmlformats.org/drawingml/2006/main" noGrp="1"/>
          </p:cNvSpPr>
          <p:nvPr/>
        </p:nvSpPr>
        <p:spPr>
          <a:xfrm xmlns:a="http://schemas.openxmlformats.org/drawingml/2006/main">
            <a:off x="676656" y="4270248"/>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Has the customer been told?</a:t>
            </a:r>
            <a:endParaRPr sz="970"/>
          </a:p>
        </p:txBody>
      </p:sp>
      <p:sp>
        <p:nvSpPr>
          <p:cNvPr id="34" name="Text 32">
            <a:extLst xmlns:a="http://schemas.openxmlformats.org/drawingml/2006/main">
              <a:ext uri="{FF2B5EF4-FFF2-40B4-BE49-F238E27FC236}">
                <a16:creationId xmlns:a16="http://schemas.microsoft.com/office/drawing/2014/main" id="{298AD217-F84F-42C4-881E-D2BDE55646BE}"/>
              </a:ext>
            </a:extLst>
          </p:cNvPr>
          <p:cNvSpPr>
            <a:spLocks xmlns:a="http://schemas.openxmlformats.org/drawingml/2006/main" noGrp="1"/>
          </p:cNvSpPr>
          <p:nvPr/>
        </p:nvSpPr>
        <p:spPr>
          <a:xfrm xmlns:a="http://schemas.openxmlformats.org/drawingml/2006/main">
            <a:off x="4700016" y="4270248"/>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Nowhere reliably</a:t>
            </a:r>
            <a:endParaRPr sz="920"/>
          </a:p>
        </p:txBody>
      </p:sp>
      <p:sp>
        <p:nvSpPr>
          <p:cNvPr id="35" name="Text 33">
            <a:extLst xmlns:a="http://schemas.openxmlformats.org/drawingml/2006/main">
              <a:ext uri="{FF2B5EF4-FFF2-40B4-BE49-F238E27FC236}">
                <a16:creationId xmlns:a16="http://schemas.microsoft.com/office/drawing/2014/main" id="{530F9DD6-988C-42FA-9E97-CC2D222CB6DD}"/>
              </a:ext>
            </a:extLst>
          </p:cNvPr>
          <p:cNvSpPr>
            <a:spLocks xmlns:a="http://schemas.openxmlformats.org/drawingml/2006/main" noGrp="1"/>
          </p:cNvSpPr>
          <p:nvPr/>
        </p:nvSpPr>
        <p:spPr>
          <a:xfrm xmlns:a="http://schemas.openxmlformats.org/drawingml/2006/main">
            <a:off x="8540496" y="4270248"/>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Acknowledgement was manual and inconsistent</a:t>
            </a:r>
            <a:endParaRPr sz="920"/>
          </a:p>
        </p:txBody>
      </p:sp>
      <p:sp>
        <p:nvSpPr>
          <p:cNvPr id="36" name="Shape 34">
            <a:extLst xmlns:a="http://schemas.openxmlformats.org/drawingml/2006/main">
              <a:ext uri="{FF2B5EF4-FFF2-40B4-BE49-F238E27FC236}">
                <a16:creationId xmlns:a16="http://schemas.microsoft.com/office/drawing/2014/main" id="{6A2DC7BB-A612-4483-A023-1903B7EBC6DD}"/>
              </a:ext>
            </a:extLst>
          </p:cNvPr>
          <p:cNvSpPr>
            <a:spLocks xmlns:a="http://schemas.openxmlformats.org/drawingml/2006/main" noGrp="1"/>
          </p:cNvSpPr>
          <p:nvPr/>
        </p:nvSpPr>
        <p:spPr>
          <a:xfrm xmlns:a="http://schemas.openxmlformats.org/drawingml/2006/main">
            <a:off x="566928" y="4645152"/>
            <a:ext cx="11057839" cy="7315"/>
          </a:xfrm>
          <a:prstGeom xmlns:a="http://schemas.openxmlformats.org/drawingml/2006/main" prst="rect">
            <a:avLst/>
          </a:prstGeom>
          <a:solidFill xmlns:a="http://schemas.openxmlformats.org/drawingml/2006/main">
            <a:srgbClr val="CBD5E0"/>
          </a:solidFill>
        </p:spPr>
      </p:sp>
      <p:sp>
        <p:nvSpPr>
          <p:cNvPr id="37" name="Text 35">
            <a:extLst xmlns:a="http://schemas.openxmlformats.org/drawingml/2006/main">
              <a:ext uri="{FF2B5EF4-FFF2-40B4-BE49-F238E27FC236}">
                <a16:creationId xmlns:a16="http://schemas.microsoft.com/office/drawing/2014/main" id="{F6B48458-A3D9-4EB5-89DE-A8F163E9121D}"/>
              </a:ext>
            </a:extLst>
          </p:cNvPr>
          <p:cNvSpPr>
            <a:spLocks xmlns:a="http://schemas.openxmlformats.org/drawingml/2006/main" noGrp="1"/>
          </p:cNvSpPr>
          <p:nvPr/>
        </p:nvSpPr>
        <p:spPr>
          <a:xfrm xmlns:a="http://schemas.openxmlformats.org/drawingml/2006/main">
            <a:off x="676656" y="474573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How long has it really taken us?</a:t>
            </a:r>
            <a:endParaRPr sz="970"/>
          </a:p>
        </p:txBody>
      </p:sp>
      <p:sp>
        <p:nvSpPr>
          <p:cNvPr id="38" name="Text 36">
            <a:extLst xmlns:a="http://schemas.openxmlformats.org/drawingml/2006/main">
              <a:ext uri="{FF2B5EF4-FFF2-40B4-BE49-F238E27FC236}">
                <a16:creationId xmlns:a16="http://schemas.microsoft.com/office/drawing/2014/main" id="{FAD547F6-C23B-4711-A439-89FB4BBB84F8}"/>
              </a:ext>
            </a:extLst>
          </p:cNvPr>
          <p:cNvSpPr>
            <a:spLocks xmlns:a="http://schemas.openxmlformats.org/drawingml/2006/main" noGrp="1"/>
          </p:cNvSpPr>
          <p:nvPr/>
        </p:nvSpPr>
        <p:spPr>
          <a:xfrm xmlns:a="http://schemas.openxmlformats.org/drawingml/2006/main">
            <a:off x="4700016" y="4745736"/>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Reporting service</a:t>
            </a:r>
            <a:endParaRPr sz="920"/>
          </a:p>
        </p:txBody>
      </p:sp>
      <p:sp>
        <p:nvSpPr>
          <p:cNvPr id="39" name="Text 37">
            <a:extLst xmlns:a="http://schemas.openxmlformats.org/drawingml/2006/main">
              <a:ext uri="{FF2B5EF4-FFF2-40B4-BE49-F238E27FC236}">
                <a16:creationId xmlns:a16="http://schemas.microsoft.com/office/drawing/2014/main" id="{12ED82F8-D94E-48EA-853F-9BDE073B35D4}"/>
              </a:ext>
            </a:extLst>
          </p:cNvPr>
          <p:cNvSpPr>
            <a:spLocks xmlns:a="http://schemas.openxmlformats.org/drawingml/2006/main" noGrp="1"/>
          </p:cNvSpPr>
          <p:nvPr/>
        </p:nvSpPr>
        <p:spPr>
          <a:xfrm xmlns:a="http://schemas.openxmlformats.org/drawingml/2006/main">
            <a:off x="8540496" y="474573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Included time waiting on the customer</a:t>
            </a:r>
            <a:endParaRPr sz="920"/>
          </a:p>
        </p:txBody>
      </p:sp>
      <p:sp>
        <p:nvSpPr>
          <p:cNvPr id="40" name="Shape 38">
            <a:extLst xmlns:a="http://schemas.openxmlformats.org/drawingml/2006/main">
              <a:ext uri="{FF2B5EF4-FFF2-40B4-BE49-F238E27FC236}">
                <a16:creationId xmlns:a16="http://schemas.microsoft.com/office/drawing/2014/main" id="{9F24B404-E4BB-4B3E-BD0C-6C702267E7C9}"/>
              </a:ext>
            </a:extLst>
          </p:cNvPr>
          <p:cNvSpPr>
            <a:spLocks xmlns:a="http://schemas.openxmlformats.org/drawingml/2006/main" noGrp="1"/>
          </p:cNvSpPr>
          <p:nvPr/>
        </p:nvSpPr>
        <p:spPr>
          <a:xfrm xmlns:a="http://schemas.openxmlformats.org/drawingml/2006/main">
            <a:off x="566928" y="5120640"/>
            <a:ext cx="11057839" cy="7315"/>
          </a:xfrm>
          <a:prstGeom xmlns:a="http://schemas.openxmlformats.org/drawingml/2006/main" prst="rect">
            <a:avLst/>
          </a:prstGeom>
          <a:solidFill xmlns:a="http://schemas.openxmlformats.org/drawingml/2006/main">
            <a:srgbClr val="CBD5E0"/>
          </a:solidFill>
        </p:spPr>
      </p:sp>
      <p:sp>
        <p:nvSpPr>
          <p:cNvPr id="41" name="Shape 39">
            <a:extLst xmlns:a="http://schemas.openxmlformats.org/drawingml/2006/main">
              <a:ext uri="{FF2B5EF4-FFF2-40B4-BE49-F238E27FC236}">
                <a16:creationId xmlns:a16="http://schemas.microsoft.com/office/drawing/2014/main" id="{B7511031-1502-4E12-AE67-E226980B2AB5}"/>
              </a:ext>
            </a:extLst>
          </p:cNvPr>
          <p:cNvSpPr>
            <a:spLocks xmlns:a="http://schemas.openxmlformats.org/drawingml/2006/main" noGrp="1"/>
          </p:cNvSpPr>
          <p:nvPr/>
        </p:nvSpPr>
        <p:spPr>
          <a:xfrm xmlns:a="http://schemas.openxmlformats.org/drawingml/2006/main">
            <a:off x="566928" y="5120640"/>
            <a:ext cx="11057839" cy="475488"/>
          </a:xfrm>
          <a:prstGeom xmlns:a="http://schemas.openxmlformats.org/drawingml/2006/main" prst="rect">
            <a:avLst/>
          </a:prstGeom>
          <a:solidFill xmlns:a="http://schemas.openxmlformats.org/drawingml/2006/main">
            <a:srgbClr val="F7F9FB"/>
          </a:solidFill>
        </p:spPr>
      </p:sp>
      <p:sp>
        <p:nvSpPr>
          <p:cNvPr id="42" name="Text 40">
            <a:extLst xmlns:a="http://schemas.openxmlformats.org/drawingml/2006/main">
              <a:ext uri="{FF2B5EF4-FFF2-40B4-BE49-F238E27FC236}">
                <a16:creationId xmlns:a16="http://schemas.microsoft.com/office/drawing/2014/main" id="{469DBC0A-1583-42C0-92B9-BF30565460C9}"/>
              </a:ext>
            </a:extLst>
          </p:cNvPr>
          <p:cNvSpPr>
            <a:spLocks xmlns:a="http://schemas.openxmlformats.org/drawingml/2006/main" noGrp="1"/>
          </p:cNvSpPr>
          <p:nvPr/>
        </p:nvSpPr>
        <p:spPr>
          <a:xfrm xmlns:a="http://schemas.openxmlformats.org/drawingml/2006/main">
            <a:off x="676656" y="522122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What is the complete document set?</a:t>
            </a:r>
            <a:endParaRPr sz="970"/>
          </a:p>
        </p:txBody>
      </p:sp>
      <p:sp>
        <p:nvSpPr>
          <p:cNvPr id="43" name="Text 41">
            <a:extLst xmlns:a="http://schemas.openxmlformats.org/drawingml/2006/main">
              <a:ext uri="{FF2B5EF4-FFF2-40B4-BE49-F238E27FC236}">
                <a16:creationId xmlns:a16="http://schemas.microsoft.com/office/drawing/2014/main" id="{BD114EEA-838B-495A-A385-FE3DE5073472}"/>
              </a:ext>
            </a:extLst>
          </p:cNvPr>
          <p:cNvSpPr>
            <a:spLocks xmlns:a="http://schemas.openxmlformats.org/drawingml/2006/main" noGrp="1"/>
          </p:cNvSpPr>
          <p:nvPr/>
        </p:nvSpPr>
        <p:spPr>
          <a:xfrm xmlns:a="http://schemas.openxmlformats.org/drawingml/2006/main">
            <a:off x="4700016" y="5221224"/>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Split across three systems</a:t>
            </a:r>
            <a:endParaRPr sz="920"/>
          </a:p>
        </p:txBody>
      </p:sp>
      <p:sp>
        <p:nvSpPr>
          <p:cNvPr id="44" name="Text 42">
            <a:extLst xmlns:a="http://schemas.openxmlformats.org/drawingml/2006/main">
              <a:ext uri="{FF2B5EF4-FFF2-40B4-BE49-F238E27FC236}">
                <a16:creationId xmlns:a16="http://schemas.microsoft.com/office/drawing/2014/main" id="{7A20EBB9-200C-4F8D-BC41-C306279D0F96}"/>
              </a:ext>
            </a:extLst>
          </p:cNvPr>
          <p:cNvSpPr>
            <a:spLocks xmlns:a="http://schemas.openxmlformats.org/drawingml/2006/main" noGrp="1"/>
          </p:cNvSpPr>
          <p:nvPr/>
        </p:nvSpPr>
        <p:spPr>
          <a:xfrm xmlns:a="http://schemas.openxmlformats.org/drawingml/2006/main">
            <a:off x="8540496" y="5221224"/>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 single view of completeness</a:t>
            </a:r>
            <a:endParaRPr sz="920"/>
          </a:p>
        </p:txBody>
      </p:sp>
      <p:sp>
        <p:nvSpPr>
          <p:cNvPr id="45" name="Shape 43">
            <a:extLst xmlns:a="http://schemas.openxmlformats.org/drawingml/2006/main">
              <a:ext uri="{FF2B5EF4-FFF2-40B4-BE49-F238E27FC236}">
                <a16:creationId xmlns:a16="http://schemas.microsoft.com/office/drawing/2014/main" id="{ADE10780-01BF-485D-9D69-65AD8771106E}"/>
              </a:ext>
            </a:extLst>
          </p:cNvPr>
          <p:cNvSpPr>
            <a:spLocks xmlns:a="http://schemas.openxmlformats.org/drawingml/2006/main" noGrp="1"/>
          </p:cNvSpPr>
          <p:nvPr/>
        </p:nvSpPr>
        <p:spPr>
          <a:xfrm xmlns:a="http://schemas.openxmlformats.org/drawingml/2006/main">
            <a:off x="566928" y="5596128"/>
            <a:ext cx="11057839" cy="7315"/>
          </a:xfrm>
          <a:prstGeom xmlns:a="http://schemas.openxmlformats.org/drawingml/2006/main" prst="rect">
            <a:avLst/>
          </a:prstGeom>
          <a:solidFill xmlns:a="http://schemas.openxmlformats.org/drawingml/2006/main">
            <a:srgbClr val="CBD5E0"/>
          </a:solidFill>
        </p:spPr>
      </p:sp>
      <p:sp>
        <p:nvSpPr>
          <p:cNvPr id="46" name="Shape 44">
            <a:extLst xmlns:a="http://schemas.openxmlformats.org/drawingml/2006/main">
              <a:ext uri="{FF2B5EF4-FFF2-40B4-BE49-F238E27FC236}">
                <a16:creationId xmlns:a16="http://schemas.microsoft.com/office/drawing/2014/main" id="{46C45B75-BB3A-4BE8-8267-756179311021}"/>
              </a:ext>
            </a:extLst>
          </p:cNvPr>
          <p:cNvSpPr>
            <a:spLocks xmlns:a="http://schemas.openxmlformats.org/drawingml/2006/main" noGrp="1"/>
          </p:cNvSpPr>
          <p:nvPr/>
        </p:nvSpPr>
        <p:spPr>
          <a:xfrm xmlns:a="http://schemas.openxmlformats.org/drawingml/2006/main">
            <a:off x="566928" y="5852160"/>
            <a:ext cx="11057839" cy="1133856"/>
          </a:xfrm>
          <a:prstGeom xmlns:a="http://schemas.openxmlformats.org/drawingml/2006/main" prst="rect">
            <a:avLst/>
          </a:prstGeom>
          <a:solidFill xmlns:a="http://schemas.openxmlformats.org/drawingml/2006/main">
            <a:srgbClr val="F3E6E0"/>
          </a:solidFill>
        </p:spPr>
      </p:sp>
      <p:sp>
        <p:nvSpPr>
          <p:cNvPr id="47" name="Text 45">
            <a:extLst xmlns:a="http://schemas.openxmlformats.org/drawingml/2006/main">
              <a:ext uri="{FF2B5EF4-FFF2-40B4-BE49-F238E27FC236}">
                <a16:creationId xmlns:a16="http://schemas.microsoft.com/office/drawing/2014/main" id="{2F092FA2-01D0-4945-A15F-9614FABB7BD5}"/>
              </a:ext>
            </a:extLst>
          </p:cNvPr>
          <p:cNvSpPr>
            <a:spLocks xmlns:a="http://schemas.openxmlformats.org/drawingml/2006/main" noGrp="1"/>
          </p:cNvSpPr>
          <p:nvPr/>
        </p:nvSpPr>
        <p:spPr>
          <a:xfrm xmlns:a="http://schemas.openxmlformats.org/drawingml/2006/main">
            <a:off x="804672" y="599846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this presents as a reporting problem and is not one</a:t>
            </a:r>
            <a:endParaRPr sz="1100"/>
          </a:p>
        </p:txBody>
      </p:sp>
      <p:sp>
        <p:nvSpPr>
          <p:cNvPr id="48" name="Text 46">
            <a:extLst xmlns:a="http://schemas.openxmlformats.org/drawingml/2006/main">
              <a:ext uri="{FF2B5EF4-FFF2-40B4-BE49-F238E27FC236}">
                <a16:creationId xmlns:a16="http://schemas.microsoft.com/office/drawing/2014/main" id="{D7237029-ED01-4240-9C21-1706E688BF2E}"/>
              </a:ext>
            </a:extLst>
          </p:cNvPr>
          <p:cNvSpPr>
            <a:spLocks xmlns:a="http://schemas.openxmlformats.org/drawingml/2006/main" noGrp="1"/>
          </p:cNvSpPr>
          <p:nvPr/>
        </p:nvSpPr>
        <p:spPr>
          <a:xfrm xmlns:a="http://schemas.openxmlformats.org/drawingml/2006/main">
            <a:off x="804672" y="6254496"/>
            <a:ext cx="10582351"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Operations asked for a dashboard, and the request was entirely reasonable — they could not see the estate. But a dashboard built over the existing model would have shown the same conflated status with better formatting, and would have been quietly abandoned within two quarters.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third row is the actual defect. Until a case can distinguish waiting on us from waiting on them, every derived measure is uninterpretable, and no amount of visualisation recovers it. That is a state-model change, and it is far cheaper than the dashboard programme it replaces.</a:t>
            </a:r>
            <a:endParaRPr sz="990"/>
          </a:p>
        </p:txBody>
      </p:sp>
      <p:sp>
        <p:nvSpPr>
          <p:cNvPr id="49" name="Shape 47">
            <a:extLst xmlns:a="http://schemas.openxmlformats.org/drawingml/2006/main">
              <a:ext uri="{FF2B5EF4-FFF2-40B4-BE49-F238E27FC236}">
                <a16:creationId xmlns:a16="http://schemas.microsoft.com/office/drawing/2014/main" id="{918761D7-27FE-4100-9C95-EA4E1251E51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0" name="Text 48">
            <a:extLst xmlns:a="http://schemas.openxmlformats.org/drawingml/2006/main">
              <a:ext uri="{FF2B5EF4-FFF2-40B4-BE49-F238E27FC236}">
                <a16:creationId xmlns:a16="http://schemas.microsoft.com/office/drawing/2014/main" id="{53A4347F-CFD1-4037-B40C-E4AAF01ED7D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policy servicing programmes · author's analysis</a:t>
            </a:r>
            <a:endParaRPr sz="850"/>
          </a:p>
        </p:txBody>
      </p:sp>
      <p:sp>
        <p:nvSpPr>
          <p:cNvPr id="51" name="Text 49">
            <a:extLst xmlns:a="http://schemas.openxmlformats.org/drawingml/2006/main">
              <a:ext uri="{FF2B5EF4-FFF2-40B4-BE49-F238E27FC236}">
                <a16:creationId xmlns:a16="http://schemas.microsoft.com/office/drawing/2014/main" id="{8E2CA2A0-0A6C-4BD2-868D-1C9A2AF20DD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936352084"/>
      </p:ext>
    </p:extLst>
  </p:cSld>
</p:sld>
</file>

<file path=ppt/slides/slide16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BAF11E5-65CB-4AB5-99AB-E52D9750078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STATE SEPARATION</a:t>
            </a:r>
            <a:endParaRPr sz="950"/>
          </a:p>
        </p:txBody>
      </p:sp>
      <p:sp>
        <p:nvSpPr>
          <p:cNvPr id="3" name="Text 1">
            <a:extLst xmlns:a="http://schemas.openxmlformats.org/drawingml/2006/main">
              <a:ext uri="{FF2B5EF4-FFF2-40B4-BE49-F238E27FC236}">
                <a16:creationId xmlns:a16="http://schemas.microsoft.com/office/drawing/2014/main" id="{742CED43-24EA-473C-8908-DCCF1CAA26B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Two clocks on one case — the insurer's clock stops when a revert is raised and starts</a:t>
            </a:r>
            <a:endParaRPr sz="1900"/>
          </a:p>
          <a:p xmlns:a="http://schemas.openxmlformats.org/drawingml/2006/main">
            <a:pPr marL="0" indent="0">
              <a:lnSpc>
                <a:spcPts val="2400"/>
              </a:lnSpc>
              <a:buNone/>
            </a:pPr>
            <a:r>
              <a:rPr sz="1900" b="1">
                <a:solidFill>
                  <a:srgbClr val="102A43"/>
                </a:solidFill>
                <a:latin typeface="Arial"/>
                <a:ea typeface="Arial"/>
                <a:cs typeface="Arial"/>
              </a:rPr>
              <a:t>again when the customer responds</a:t>
            </a:r>
            <a:endParaRPr sz="1900"/>
          </a:p>
        </p:txBody>
      </p:sp>
      <p:sp>
        <p:nvSpPr>
          <p:cNvPr id="4" name="Shape 2">
            <a:extLst xmlns:a="http://schemas.openxmlformats.org/drawingml/2006/main">
              <a:ext uri="{FF2B5EF4-FFF2-40B4-BE49-F238E27FC236}">
                <a16:creationId xmlns:a16="http://schemas.microsoft.com/office/drawing/2014/main" id="{330F81E1-4FC7-4629-B94D-2CB7F1045885}"/>
              </a:ext>
            </a:extLst>
          </p:cNvPr>
          <p:cNvSpPr>
            <a:spLocks xmlns:a="http://schemas.openxmlformats.org/drawingml/2006/main" noGrp="1"/>
          </p:cNvSpPr>
          <p:nvPr/>
        </p:nvSpPr>
        <p:spPr>
          <a:xfrm xmlns:a="http://schemas.openxmlformats.org/drawingml/2006/main">
            <a:off x="566928" y="1335024"/>
            <a:ext cx="5373472" cy="246888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D37508A7-5868-46D8-9601-7D41BC0F47BF}"/>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STATE ONE</a:t>
            </a:r>
            <a:endParaRPr sz="840"/>
          </a:p>
        </p:txBody>
      </p:sp>
      <p:sp>
        <p:nvSpPr>
          <p:cNvPr id="6" name="Text 4">
            <a:extLst xmlns:a="http://schemas.openxmlformats.org/drawingml/2006/main">
              <a:ext uri="{FF2B5EF4-FFF2-40B4-BE49-F238E27FC236}">
                <a16:creationId xmlns:a16="http://schemas.microsoft.com/office/drawing/2014/main" id="{B11BD177-BF70-4F93-B630-CB05C4A16E5F}"/>
              </a:ext>
            </a:extLst>
          </p:cNvPr>
          <p:cNvSpPr>
            <a:spLocks xmlns:a="http://schemas.openxmlformats.org/drawingml/2006/main" noGrp="1"/>
          </p:cNvSpPr>
          <p:nvPr/>
        </p:nvSpPr>
        <p:spPr>
          <a:xfrm xmlns:a="http://schemas.openxmlformats.org/drawingml/2006/main">
            <a:off x="804672"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Waiting on us</a:t>
            </a:r>
            <a:endParaRPr sz="1500"/>
          </a:p>
        </p:txBody>
      </p:sp>
      <p:sp>
        <p:nvSpPr>
          <p:cNvPr id="7" name="Text 5">
            <a:extLst xmlns:a="http://schemas.openxmlformats.org/drawingml/2006/main">
              <a:ext uri="{FF2B5EF4-FFF2-40B4-BE49-F238E27FC236}">
                <a16:creationId xmlns:a16="http://schemas.microsoft.com/office/drawing/2014/main" id="{9F91D69A-880D-4C11-B70B-3749DB35A7F7}"/>
              </a:ext>
            </a:extLst>
          </p:cNvPr>
          <p:cNvSpPr>
            <a:spLocks xmlns:a="http://schemas.openxmlformats.org/drawingml/2006/main" noGrp="1"/>
          </p:cNvSpPr>
          <p:nvPr/>
        </p:nvSpPr>
        <p:spPr>
          <a:xfrm xmlns:a="http://schemas.openxmlformats.org/drawingml/2006/main">
            <a:off x="804672" y="2139696"/>
            <a:ext cx="489798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The insurer holds everything it needs and has work to do</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This is the only time that belongs in a service-level commitment</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Owned by operations, with a queue, a capacity model and an escalation path</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 backlog here is a resourcing or routing problem, and is fixable internally</a:t>
            </a:r>
            <a:endParaRPr sz="970"/>
          </a:p>
        </p:txBody>
      </p:sp>
      <p:sp>
        <p:nvSpPr>
          <p:cNvPr id="8" name="Shape 6">
            <a:extLst xmlns:a="http://schemas.openxmlformats.org/drawingml/2006/main">
              <a:ext uri="{FF2B5EF4-FFF2-40B4-BE49-F238E27FC236}">
                <a16:creationId xmlns:a16="http://schemas.microsoft.com/office/drawing/2014/main" id="{FD6B3525-DC64-4C4E-A399-3D65E61FAADE}"/>
              </a:ext>
            </a:extLst>
          </p:cNvPr>
          <p:cNvSpPr>
            <a:spLocks xmlns:a="http://schemas.openxmlformats.org/drawingml/2006/main" noGrp="1"/>
          </p:cNvSpPr>
          <p:nvPr/>
        </p:nvSpPr>
        <p:spPr>
          <a:xfrm xmlns:a="http://schemas.openxmlformats.org/drawingml/2006/main">
            <a:off x="6251296" y="1335024"/>
            <a:ext cx="5373472" cy="2468880"/>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3B26997F-6B03-47B4-945B-CA0820B0DC35}"/>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STATE TWO</a:t>
            </a:r>
            <a:endParaRPr sz="840"/>
          </a:p>
        </p:txBody>
      </p:sp>
      <p:sp>
        <p:nvSpPr>
          <p:cNvPr id="10" name="Text 8">
            <a:extLst xmlns:a="http://schemas.openxmlformats.org/drawingml/2006/main">
              <a:ext uri="{FF2B5EF4-FFF2-40B4-BE49-F238E27FC236}">
                <a16:creationId xmlns:a16="http://schemas.microsoft.com/office/drawing/2014/main" id="{23EC52FB-00B3-4BEF-9873-9E08FF20561C}"/>
              </a:ext>
            </a:extLst>
          </p:cNvPr>
          <p:cNvSpPr>
            <a:spLocks xmlns:a="http://schemas.openxmlformats.org/drawingml/2006/main" noGrp="1"/>
          </p:cNvSpPr>
          <p:nvPr/>
        </p:nvSpPr>
        <p:spPr>
          <a:xfrm xmlns:a="http://schemas.openxmlformats.org/drawingml/2006/main">
            <a:off x="6489040"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Waiting on the customer</a:t>
            </a:r>
            <a:endParaRPr sz="1500"/>
          </a:p>
        </p:txBody>
      </p:sp>
      <p:sp>
        <p:nvSpPr>
          <p:cNvPr id="11" name="Text 9">
            <a:extLst xmlns:a="http://schemas.openxmlformats.org/drawingml/2006/main">
              <a:ext uri="{FF2B5EF4-FFF2-40B4-BE49-F238E27FC236}">
                <a16:creationId xmlns:a16="http://schemas.microsoft.com/office/drawing/2014/main" id="{F9665895-06B1-424F-9AAE-CF473E02F559}"/>
              </a:ext>
            </a:extLst>
          </p:cNvPr>
          <p:cNvSpPr>
            <a:spLocks xmlns:a="http://schemas.openxmlformats.org/drawingml/2006/main" noGrp="1"/>
          </p:cNvSpPr>
          <p:nvPr/>
        </p:nvSpPr>
        <p:spPr>
          <a:xfrm xmlns:a="http://schemas.openxmlformats.org/drawingml/2006/main">
            <a:off x="6489040" y="2139696"/>
            <a:ext cx="489798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 revert has been raised and the case cannot progress without a response</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Excluded from the insurer's service-level clock, and reported separately</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Owned by a chasing cycle with defined contacts, intervals and a closure rule</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 backlog here is a communication problem, and no amount of capacity fixes it</a:t>
            </a:r>
            <a:endParaRPr sz="970"/>
          </a:p>
        </p:txBody>
      </p:sp>
      <p:sp>
        <p:nvSpPr>
          <p:cNvPr id="12" name="Text 10">
            <a:extLst xmlns:a="http://schemas.openxmlformats.org/drawingml/2006/main">
              <a:ext uri="{FF2B5EF4-FFF2-40B4-BE49-F238E27FC236}">
                <a16:creationId xmlns:a16="http://schemas.microsoft.com/office/drawing/2014/main" id="{A7D2A586-4A6C-4046-97CA-357B87737B29}"/>
              </a:ext>
            </a:extLst>
          </p:cNvPr>
          <p:cNvSpPr>
            <a:spLocks xmlns:a="http://schemas.openxmlformats.org/drawingml/2006/main" noGrp="1"/>
          </p:cNvSpPr>
          <p:nvPr/>
        </p:nvSpPr>
        <p:spPr>
          <a:xfrm xmlns:a="http://schemas.openxmlformats.org/drawingml/2006/main">
            <a:off x="566928"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the separation enabled</a:t>
            </a:r>
            <a:endParaRPr sz="1100"/>
          </a:p>
        </p:txBody>
      </p:sp>
      <p:sp>
        <p:nvSpPr>
          <p:cNvPr id="13" name="Shape 11">
            <a:extLst xmlns:a="http://schemas.openxmlformats.org/drawingml/2006/main">
              <a:ext uri="{FF2B5EF4-FFF2-40B4-BE49-F238E27FC236}">
                <a16:creationId xmlns:a16="http://schemas.microsoft.com/office/drawing/2014/main" id="{A3B43F4D-F375-49E5-AAED-72A464FC0BBC}"/>
              </a:ext>
            </a:extLst>
          </p:cNvPr>
          <p:cNvSpPr>
            <a:spLocks xmlns:a="http://schemas.openxmlformats.org/drawingml/2006/main" noGrp="1"/>
          </p:cNvSpPr>
          <p:nvPr/>
        </p:nvSpPr>
        <p:spPr>
          <a:xfrm xmlns:a="http://schemas.openxmlformats.org/drawingml/2006/main">
            <a:off x="566928" y="4334256"/>
            <a:ext cx="3551834" cy="20117"/>
          </a:xfrm>
          <a:prstGeom xmlns:a="http://schemas.openxmlformats.org/drawingml/2006/main" prst="rect">
            <a:avLst/>
          </a:prstGeom>
          <a:solidFill xmlns:a="http://schemas.openxmlformats.org/drawingml/2006/main">
            <a:srgbClr val="B04A25"/>
          </a:solidFill>
        </p:spPr>
      </p:sp>
      <p:sp>
        <p:nvSpPr>
          <p:cNvPr id="14" name="Text 12">
            <a:extLst xmlns:a="http://schemas.openxmlformats.org/drawingml/2006/main">
              <a:ext uri="{FF2B5EF4-FFF2-40B4-BE49-F238E27FC236}">
                <a16:creationId xmlns:a16="http://schemas.microsoft.com/office/drawing/2014/main" id="{9F1F1EE2-BD68-462E-AC35-58004D396140}"/>
              </a:ext>
            </a:extLst>
          </p:cNvPr>
          <p:cNvSpPr>
            <a:spLocks xmlns:a="http://schemas.openxmlformats.org/drawingml/2006/main" noGrp="1"/>
          </p:cNvSpPr>
          <p:nvPr/>
        </p:nvSpPr>
        <p:spPr>
          <a:xfrm xmlns:a="http://schemas.openxmlformats.org/drawingml/2006/main">
            <a:off x="566928"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turnaround figure that measures only what the insurer controls — and can therefore be committed to.</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separate, visible reverts population with its own ageing and its own chasing cadence.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ability to tell a capacity problem from a chasing problem, which had previously been indistinguishable.</a:t>
            </a:r>
            <a:endParaRPr sz="950"/>
          </a:p>
        </p:txBody>
      </p:sp>
      <p:sp>
        <p:nvSpPr>
          <p:cNvPr id="15" name="Text 13">
            <a:extLst xmlns:a="http://schemas.openxmlformats.org/drawingml/2006/main">
              <a:ext uri="{FF2B5EF4-FFF2-40B4-BE49-F238E27FC236}">
                <a16:creationId xmlns:a16="http://schemas.microsoft.com/office/drawing/2014/main" id="{5280E7A3-01A4-49CA-AA1A-B5CD00FC6FE5}"/>
              </a:ext>
            </a:extLst>
          </p:cNvPr>
          <p:cNvSpPr>
            <a:spLocks xmlns:a="http://schemas.openxmlformats.org/drawingml/2006/main" noGrp="1"/>
          </p:cNvSpPr>
          <p:nvPr/>
        </p:nvSpPr>
        <p:spPr>
          <a:xfrm xmlns:a="http://schemas.openxmlformats.org/drawingml/2006/main">
            <a:off x="4319930"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rules that make it honest</a:t>
            </a:r>
            <a:endParaRPr sz="1100"/>
          </a:p>
        </p:txBody>
      </p:sp>
      <p:sp>
        <p:nvSpPr>
          <p:cNvPr id="16" name="Shape 14">
            <a:extLst xmlns:a="http://schemas.openxmlformats.org/drawingml/2006/main">
              <a:ext uri="{FF2B5EF4-FFF2-40B4-BE49-F238E27FC236}">
                <a16:creationId xmlns:a16="http://schemas.microsoft.com/office/drawing/2014/main" id="{FF52010D-760B-4594-864F-4D20B61F6EE7}"/>
              </a:ext>
            </a:extLst>
          </p:cNvPr>
          <p:cNvSpPr>
            <a:spLocks xmlns:a="http://schemas.openxmlformats.org/drawingml/2006/main" noGrp="1"/>
          </p:cNvSpPr>
          <p:nvPr/>
        </p:nvSpPr>
        <p:spPr>
          <a:xfrm xmlns:a="http://schemas.openxmlformats.org/drawingml/2006/main">
            <a:off x="4319930" y="4334256"/>
            <a:ext cx="3551834" cy="20117"/>
          </a:xfrm>
          <a:prstGeom xmlns:a="http://schemas.openxmlformats.org/drawingml/2006/main" prst="rect">
            <a:avLst/>
          </a:prstGeom>
          <a:solidFill xmlns:a="http://schemas.openxmlformats.org/drawingml/2006/main">
            <a:srgbClr val="102A43"/>
          </a:solidFill>
        </p:spPr>
      </p:sp>
      <p:sp>
        <p:nvSpPr>
          <p:cNvPr id="17" name="Text 15">
            <a:extLst xmlns:a="http://schemas.openxmlformats.org/drawingml/2006/main">
              <a:ext uri="{FF2B5EF4-FFF2-40B4-BE49-F238E27FC236}">
                <a16:creationId xmlns:a16="http://schemas.microsoft.com/office/drawing/2014/main" id="{D134450F-0626-4ECE-8546-EE94143D5013}"/>
              </a:ext>
            </a:extLst>
          </p:cNvPr>
          <p:cNvSpPr>
            <a:spLocks xmlns:a="http://schemas.openxmlformats.org/drawingml/2006/main" noGrp="1"/>
          </p:cNvSpPr>
          <p:nvPr/>
        </p:nvSpPr>
        <p:spPr>
          <a:xfrm xmlns:a="http://schemas.openxmlformats.org/drawingml/2006/main">
            <a:off x="4319930"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clock stops only when a revert is genuinely raised and communicated — not when a case is parked.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revert raised and never sent does not stop the clock; the send event does.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Reverts age, and an aged revert escalates rather than sitting indefinitely in a state nobody reports on.</a:t>
            </a:r>
            <a:endParaRPr sz="950"/>
          </a:p>
        </p:txBody>
      </p:sp>
      <p:sp>
        <p:nvSpPr>
          <p:cNvPr id="18" name="Text 16">
            <a:extLst xmlns:a="http://schemas.openxmlformats.org/drawingml/2006/main">
              <a:ext uri="{FF2B5EF4-FFF2-40B4-BE49-F238E27FC236}">
                <a16:creationId xmlns:a16="http://schemas.microsoft.com/office/drawing/2014/main" id="{1AB587C6-2B64-4759-B7AB-8F1EC6BB90A8}"/>
              </a:ext>
            </a:extLst>
          </p:cNvPr>
          <p:cNvSpPr>
            <a:spLocks xmlns:a="http://schemas.openxmlformats.org/drawingml/2006/main" noGrp="1"/>
          </p:cNvSpPr>
          <p:nvPr/>
        </p:nvSpPr>
        <p:spPr>
          <a:xfrm xmlns:a="http://schemas.openxmlformats.org/drawingml/2006/main">
            <a:off x="8072933"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failure mode to design against</a:t>
            </a:r>
            <a:endParaRPr sz="1100"/>
          </a:p>
        </p:txBody>
      </p:sp>
      <p:sp>
        <p:nvSpPr>
          <p:cNvPr id="19" name="Shape 17">
            <a:extLst xmlns:a="http://schemas.openxmlformats.org/drawingml/2006/main">
              <a:ext uri="{FF2B5EF4-FFF2-40B4-BE49-F238E27FC236}">
                <a16:creationId xmlns:a16="http://schemas.microsoft.com/office/drawing/2014/main" id="{CD29CC11-4D1B-4619-99DE-DD108ADA3E74}"/>
              </a:ext>
            </a:extLst>
          </p:cNvPr>
          <p:cNvSpPr>
            <a:spLocks xmlns:a="http://schemas.openxmlformats.org/drawingml/2006/main" noGrp="1"/>
          </p:cNvSpPr>
          <p:nvPr/>
        </p:nvSpPr>
        <p:spPr>
          <a:xfrm xmlns:a="http://schemas.openxmlformats.org/drawingml/2006/main">
            <a:off x="8072933" y="4334256"/>
            <a:ext cx="3551834" cy="20117"/>
          </a:xfrm>
          <a:prstGeom xmlns:a="http://schemas.openxmlformats.org/drawingml/2006/main" prst="rect">
            <a:avLst/>
          </a:prstGeom>
          <a:solidFill xmlns:a="http://schemas.openxmlformats.org/drawingml/2006/main">
            <a:srgbClr val="486581"/>
          </a:solidFill>
        </p:spPr>
      </p:sp>
      <p:sp>
        <p:nvSpPr>
          <p:cNvPr id="20" name="Text 18">
            <a:extLst xmlns:a="http://schemas.openxmlformats.org/drawingml/2006/main">
              <a:ext uri="{FF2B5EF4-FFF2-40B4-BE49-F238E27FC236}">
                <a16:creationId xmlns:a16="http://schemas.microsoft.com/office/drawing/2014/main" id="{333C4699-2460-4071-9556-1C393D293696}"/>
              </a:ext>
            </a:extLst>
          </p:cNvPr>
          <p:cNvSpPr>
            <a:spLocks xmlns:a="http://schemas.openxmlformats.org/drawingml/2006/main" noGrp="1"/>
          </p:cNvSpPr>
          <p:nvPr/>
        </p:nvSpPr>
        <p:spPr>
          <a:xfrm xmlns:a="http://schemas.openxmlformats.org/drawingml/2006/main">
            <a:off x="8072933"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stoppable clock is an invitation to stop it. Without the send-event rule, reverts become a way to manage the metric.</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Reporting both populations side by side, always, is what prevents that.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falling turnaround alongside a rising reverts backlog is a signal, not a success.</a:t>
            </a:r>
            <a:endParaRPr sz="950"/>
          </a:p>
        </p:txBody>
      </p:sp>
      <p:sp>
        <p:nvSpPr>
          <p:cNvPr id="21" name="Shape 19">
            <a:extLst xmlns:a="http://schemas.openxmlformats.org/drawingml/2006/main">
              <a:ext uri="{FF2B5EF4-FFF2-40B4-BE49-F238E27FC236}">
                <a16:creationId xmlns:a16="http://schemas.microsoft.com/office/drawing/2014/main" id="{77D88D4C-EE45-4CFF-8C51-F990F5B7594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31F95B9B-7B61-4726-A7C7-EA684E0C70F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policy servicing programmes · state model reconstructed to illustrate the approach</a:t>
            </a:r>
            <a:endParaRPr sz="850"/>
          </a:p>
        </p:txBody>
      </p:sp>
      <p:sp>
        <p:nvSpPr>
          <p:cNvPr id="23" name="Text 21">
            <a:extLst xmlns:a="http://schemas.openxmlformats.org/drawingml/2006/main">
              <a:ext uri="{FF2B5EF4-FFF2-40B4-BE49-F238E27FC236}">
                <a16:creationId xmlns:a16="http://schemas.microsoft.com/office/drawing/2014/main" id="{4095CA1B-E3C5-4909-A676-62B121483F0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122203709"/>
      </p:ext>
    </p:extLst>
  </p:cSld>
</p:sld>
</file>

<file path=ppt/slides/slide16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1D2E8AE-E0D7-439C-AC2A-623F4ACFCB3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SMALLEST FIX</a:t>
            </a:r>
            <a:endParaRPr sz="950"/>
          </a:p>
        </p:txBody>
      </p:sp>
      <p:sp>
        <p:nvSpPr>
          <p:cNvPr id="3" name="Text 1">
            <a:extLst xmlns:a="http://schemas.openxmlformats.org/drawingml/2006/main">
              <a:ext uri="{FF2B5EF4-FFF2-40B4-BE49-F238E27FC236}">
                <a16:creationId xmlns:a16="http://schemas.microsoft.com/office/drawing/2014/main" id="{2D3A002C-7A86-4B85-9E12-648D4B7CF2E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Manually created cases entered the estate silently — so a customer could receive a</a:t>
            </a:r>
            <a:endParaRPr sz="1900"/>
          </a:p>
          <a:p xmlns:a="http://schemas.openxmlformats.org/drawingml/2006/main">
            <a:pPr marL="0" indent="0">
              <a:lnSpc>
                <a:spcPts val="2400"/>
              </a:lnSpc>
              <a:buNone/>
            </a:pPr>
            <a:r>
              <a:rPr sz="1900" b="1">
                <a:solidFill>
                  <a:srgbClr val="102A43"/>
                </a:solidFill>
                <a:latin typeface="Arial"/>
                <a:ea typeface="Arial"/>
                <a:cs typeface="Arial"/>
              </a:rPr>
              <a:t>revert on a case they never knew had been opened</a:t>
            </a:r>
            <a:endParaRPr sz="1900"/>
          </a:p>
        </p:txBody>
      </p:sp>
      <p:graphicFrame>
        <p:nvGraphicFramePr>
          <p:cNvPr id="18" name="Chart 0"/>
          <p:cNvGraphicFramePr/>
          <p:nvPr/>
        </p:nvGraphicFramePr>
        <p:xfrm>
          <a:off xmlns:a="http://schemas.openxmlformats.org/drawingml/2006/main" x="566928" y="1426464"/>
          <a:ext xmlns:a="http://schemas.openxmlformats.org/drawingml/2006/main" cx="5760720" cy="2560320"/>
        </p:xfrm>
        <a:graphic xmlns:a="http://schemas.openxmlformats.org/drawingml/2006/main">
          <a:graphicData uri="http://schemas.openxmlformats.org/drawingml/2006/chart">
            <c:chart xmlns:r="http://schemas.openxmlformats.org/officeDocument/2006/relationships" xmlns:c="http://schemas.openxmlformats.org/drawingml/2006/chart" r:id="Rb27e1f8ab5d34129"/>
          </a:graphicData>
        </a:graphic>
      </p:graphicFrame>
      <p:sp>
        <p:nvSpPr>
          <p:cNvPr id="5" name="Text 2">
            <a:extLst xmlns:a="http://schemas.openxmlformats.org/drawingml/2006/main">
              <a:ext uri="{FF2B5EF4-FFF2-40B4-BE49-F238E27FC236}">
                <a16:creationId xmlns:a16="http://schemas.microsoft.com/office/drawing/2014/main" id="{7B20A4AB-8153-4B58-A02C-22489A5D8473}"/>
              </a:ext>
            </a:extLst>
          </p:cNvPr>
          <p:cNvSpPr>
            <a:spLocks xmlns:a="http://schemas.openxmlformats.org/drawingml/2006/main" noGrp="1"/>
          </p:cNvSpPr>
          <p:nvPr/>
        </p:nvSpPr>
        <p:spPr>
          <a:xfrm xmlns:a="http://schemas.openxmlformats.org/drawingml/2006/main">
            <a:off x="566928" y="4151376"/>
            <a:ext cx="5760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decomposition of cases stalled in the waiting-on-customer state</a:t>
            </a:r>
            <a:endParaRPr sz="880"/>
          </a:p>
        </p:txBody>
      </p:sp>
      <p:sp>
        <p:nvSpPr>
          <p:cNvPr id="6" name="Text 3">
            <a:extLst xmlns:a="http://schemas.openxmlformats.org/drawingml/2006/main">
              <a:ext uri="{FF2B5EF4-FFF2-40B4-BE49-F238E27FC236}">
                <a16:creationId xmlns:a16="http://schemas.microsoft.com/office/drawing/2014/main" id="{35B8DA37-F8B4-4770-BE76-470DDF94BDAD}"/>
              </a:ext>
            </a:extLst>
          </p:cNvPr>
          <p:cNvSpPr>
            <a:spLocks xmlns:a="http://schemas.openxmlformats.org/drawingml/2006/main" noGrp="1"/>
          </p:cNvSpPr>
          <p:nvPr/>
        </p:nvSpPr>
        <p:spPr>
          <a:xfrm xmlns:a="http://schemas.openxmlformats.org/drawingml/2006/main">
            <a:off x="6693408" y="1426464"/>
            <a:ext cx="49286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How the gap arose</a:t>
            </a:r>
            <a:endParaRPr sz="1100"/>
          </a:p>
        </p:txBody>
      </p:sp>
      <p:sp>
        <p:nvSpPr>
          <p:cNvPr id="7" name="Shape 4">
            <a:extLst xmlns:a="http://schemas.openxmlformats.org/drawingml/2006/main">
              <a:ext uri="{FF2B5EF4-FFF2-40B4-BE49-F238E27FC236}">
                <a16:creationId xmlns:a16="http://schemas.microsoft.com/office/drawing/2014/main" id="{470BB3DB-DB6E-496C-A76B-31DE837623ED}"/>
              </a:ext>
            </a:extLst>
          </p:cNvPr>
          <p:cNvSpPr>
            <a:spLocks xmlns:a="http://schemas.openxmlformats.org/drawingml/2006/main" noGrp="1"/>
          </p:cNvSpPr>
          <p:nvPr/>
        </p:nvSpPr>
        <p:spPr>
          <a:xfrm xmlns:a="http://schemas.openxmlformats.org/drawingml/2006/main">
            <a:off x="6693408" y="1682496"/>
            <a:ext cx="492861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347DD182-F575-4B09-9C7E-9788B9CC7C24}"/>
              </a:ext>
            </a:extLst>
          </p:cNvPr>
          <p:cNvSpPr>
            <a:spLocks xmlns:a="http://schemas.openxmlformats.org/drawingml/2006/main" noGrp="1"/>
          </p:cNvSpPr>
          <p:nvPr/>
        </p:nvSpPr>
        <p:spPr>
          <a:xfrm xmlns:a="http://schemas.openxmlformats.org/drawingml/2006/main">
            <a:off x="6693408" y="1828800"/>
            <a:ext cx="4928616" cy="21031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Cases raised through the customer channel generated an acknowledgement automatically — the channel did it.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Cases raised internally by an agent, from a call or an email, did not. The acknowledgement depended on the agent remembering.</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Both populations then behaved identically in the estate, so the difference was invisible in every report.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revert on an unacknowledged case reaches a customer with no context for it — and is frequently ignored as unsolicited.</a:t>
            </a:r>
            <a:endParaRPr sz="950"/>
          </a:p>
        </p:txBody>
      </p:sp>
      <p:sp>
        <p:nvSpPr>
          <p:cNvPr id="9" name="Shape 6">
            <a:extLst xmlns:a="http://schemas.openxmlformats.org/drawingml/2006/main">
              <a:ext uri="{FF2B5EF4-FFF2-40B4-BE49-F238E27FC236}">
                <a16:creationId xmlns:a16="http://schemas.microsoft.com/office/drawing/2014/main" id="{03C9AF3C-F62B-4E0D-B539-95AE33BBBD7E}"/>
              </a:ext>
            </a:extLst>
          </p:cNvPr>
          <p:cNvSpPr>
            <a:spLocks xmlns:a="http://schemas.openxmlformats.org/drawingml/2006/main" noGrp="1"/>
          </p:cNvSpPr>
          <p:nvPr/>
        </p:nvSpPr>
        <p:spPr>
          <a:xfrm xmlns:a="http://schemas.openxmlformats.org/drawingml/2006/main">
            <a:off x="566928" y="4443984"/>
            <a:ext cx="11057839" cy="1627632"/>
          </a:xfrm>
          <a:prstGeom xmlns:a="http://schemas.openxmlformats.org/drawingml/2006/main" prst="rect">
            <a:avLst/>
          </a:prstGeom>
          <a:solidFill xmlns:a="http://schemas.openxmlformats.org/drawingml/2006/main">
            <a:srgbClr val="F3E6E0"/>
          </a:solidFill>
        </p:spPr>
      </p:sp>
      <p:sp>
        <p:nvSpPr>
          <p:cNvPr id="10" name="Text 7">
            <a:extLst xmlns:a="http://schemas.openxmlformats.org/drawingml/2006/main">
              <a:ext uri="{FF2B5EF4-FFF2-40B4-BE49-F238E27FC236}">
                <a16:creationId xmlns:a16="http://schemas.microsoft.com/office/drawing/2014/main" id="{0EEE2971-A70D-40E6-8875-43B209F42482}"/>
              </a:ext>
            </a:extLst>
          </p:cNvPr>
          <p:cNvSpPr>
            <a:spLocks xmlns:a="http://schemas.openxmlformats.org/drawingml/2006/main" noGrp="1"/>
          </p:cNvSpPr>
          <p:nvPr/>
        </p:nvSpPr>
        <p:spPr>
          <a:xfrm xmlns:a="http://schemas.openxmlformats.org/drawingml/2006/main">
            <a:off x="804672" y="459028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an acknowledgement email is the highest-return item in this deck</a:t>
            </a:r>
            <a:endParaRPr sz="1100"/>
          </a:p>
        </p:txBody>
      </p:sp>
      <p:sp>
        <p:nvSpPr>
          <p:cNvPr id="11" name="Text 8">
            <a:extLst xmlns:a="http://schemas.openxmlformats.org/drawingml/2006/main">
              <a:ext uri="{FF2B5EF4-FFF2-40B4-BE49-F238E27FC236}">
                <a16:creationId xmlns:a16="http://schemas.microsoft.com/office/drawing/2014/main" id="{B4003618-FE22-422C-9283-82000EF37747}"/>
              </a:ext>
            </a:extLst>
          </p:cNvPr>
          <p:cNvSpPr>
            <a:spLocks xmlns:a="http://schemas.openxmlformats.org/drawingml/2006/main" noGrp="1"/>
          </p:cNvSpPr>
          <p:nvPr/>
        </p:nvSpPr>
        <p:spPr>
          <a:xfrm xmlns:a="http://schemas.openxmlformats.org/drawingml/2006/main">
            <a:off x="804672" y="4846320"/>
            <a:ext cx="10582351"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It is not an impressive artefact. It generated no dashboard, no model and no architecture diagram, and it took a fraction of the effort of the visibility work around it.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But the largest single cause of cases stalling was customers not knowing a case existed — and everything downstream depended on that. Chasing works better when the customer recognises the reference. Reverts get answered when the context is already established. And the reverts population becomes interpretable, because a non-response now means something.</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general lesson is worth carrying: when a process depends on a counterparty responding, check first whether they know they are expected to. It is the cheapest thing on any operations backlog and it is almost never at the top of it.</a:t>
            </a:r>
            <a:endParaRPr sz="990"/>
          </a:p>
        </p:txBody>
      </p:sp>
      <p:sp>
        <p:nvSpPr>
          <p:cNvPr id="12" name="Shape 9">
            <a:extLst xmlns:a="http://schemas.openxmlformats.org/drawingml/2006/main">
              <a:ext uri="{FF2B5EF4-FFF2-40B4-BE49-F238E27FC236}">
                <a16:creationId xmlns:a16="http://schemas.microsoft.com/office/drawing/2014/main" id="{7D3AC3DD-1B6D-4A3E-9371-977E46B909E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3" name="Text 10">
            <a:extLst xmlns:a="http://schemas.openxmlformats.org/drawingml/2006/main">
              <a:ext uri="{FF2B5EF4-FFF2-40B4-BE49-F238E27FC236}">
                <a16:creationId xmlns:a16="http://schemas.microsoft.com/office/drawing/2014/main" id="{8A6F951B-9F81-41C4-AF1E-2A77B66C38C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 stall decomposition is illustrative</a:t>
            </a:r>
            <a:endParaRPr sz="850"/>
          </a:p>
        </p:txBody>
      </p:sp>
      <p:sp>
        <p:nvSpPr>
          <p:cNvPr id="14" name="Text 11">
            <a:extLst xmlns:a="http://schemas.openxmlformats.org/drawingml/2006/main">
              <a:ext uri="{FF2B5EF4-FFF2-40B4-BE49-F238E27FC236}">
                <a16:creationId xmlns:a16="http://schemas.microsoft.com/office/drawing/2014/main" id="{97301897-FEB3-4527-B534-A617097F548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324211454"/>
      </p:ext>
    </p:extLst>
  </p:cSld>
</p:sld>
</file>

<file path=ppt/slides/slide16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F285E17-2A93-474C-9B63-0BCB429A1CE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169C247A-63FB-4518-AA3C-B9CE32158A6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making a fragmented servicing estate measurable</a:t>
            </a:r>
            <a:endParaRPr sz="1900"/>
          </a:p>
        </p:txBody>
      </p:sp>
      <p:sp>
        <p:nvSpPr>
          <p:cNvPr id="4" name="Text 2">
            <a:extLst xmlns:a="http://schemas.openxmlformats.org/drawingml/2006/main">
              <a:ext uri="{FF2B5EF4-FFF2-40B4-BE49-F238E27FC236}">
                <a16:creationId xmlns:a16="http://schemas.microsoft.com/office/drawing/2014/main" id="{D303AB5E-F200-48EF-AB67-AAA0596664DF}"/>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9D92419B-0E51-40D8-8E1B-1EA53C151D47}"/>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Separate the clocks before building the dashboard</a:t>
            </a:r>
            <a:endParaRPr sz="1200"/>
          </a:p>
        </p:txBody>
      </p:sp>
      <p:sp>
        <p:nvSpPr>
          <p:cNvPr id="6" name="Text 4">
            <a:extLst xmlns:a="http://schemas.openxmlformats.org/drawingml/2006/main">
              <a:ext uri="{FF2B5EF4-FFF2-40B4-BE49-F238E27FC236}">
                <a16:creationId xmlns:a16="http://schemas.microsoft.com/office/drawing/2014/main" id="{D6141D4F-4710-47D4-A18E-8069C7B8EDFD}"/>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measure that mixes time you control with time you do not cannot be acted on and cannot be committed to. No visualisation recovers a conflated state model, and the state change is cheaper than the dashboard.</a:t>
            </a:r>
            <a:endParaRPr sz="1000"/>
          </a:p>
        </p:txBody>
      </p:sp>
      <p:sp>
        <p:nvSpPr>
          <p:cNvPr id="7" name="Shape 5">
            <a:extLst xmlns:a="http://schemas.openxmlformats.org/drawingml/2006/main">
              <a:ext uri="{FF2B5EF4-FFF2-40B4-BE49-F238E27FC236}">
                <a16:creationId xmlns:a16="http://schemas.microsoft.com/office/drawing/2014/main" id="{C5A6D70E-1EE1-446E-82E4-53C2BFC87C74}"/>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ADD5937-7FCE-424C-B331-2AA192739683}"/>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2C181602-7A45-459C-963D-AF3405FE65CB}"/>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the clock stop on an event, not a status</a:t>
            </a:r>
            <a:endParaRPr sz="1200"/>
          </a:p>
        </p:txBody>
      </p:sp>
      <p:sp>
        <p:nvSpPr>
          <p:cNvPr id="10" name="Text 8">
            <a:extLst xmlns:a="http://schemas.openxmlformats.org/drawingml/2006/main">
              <a:ext uri="{FF2B5EF4-FFF2-40B4-BE49-F238E27FC236}">
                <a16:creationId xmlns:a16="http://schemas.microsoft.com/office/drawing/2014/main" id="{66BE4422-7111-4333-A703-74A78A62B8B7}"/>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stoppable clock invites being stopped. Tie it to the revert actually being sent, report both populations side by side always, and treat a falling turnaround beside a rising reverts backlog as a warning.</a:t>
            </a:r>
            <a:endParaRPr sz="1000"/>
          </a:p>
        </p:txBody>
      </p:sp>
      <p:sp>
        <p:nvSpPr>
          <p:cNvPr id="11" name="Shape 9">
            <a:extLst xmlns:a="http://schemas.openxmlformats.org/drawingml/2006/main">
              <a:ext uri="{FF2B5EF4-FFF2-40B4-BE49-F238E27FC236}">
                <a16:creationId xmlns:a16="http://schemas.microsoft.com/office/drawing/2014/main" id="{CB53A49C-B2F1-41FA-9F33-1A54BCA52FC4}"/>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B1C38272-6163-4303-B825-D97E74D32E05}"/>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E895FCA6-A4AC-4FE7-B49C-4B45B886A4C6}"/>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Check the counterparty knows they are expected to act</a:t>
            </a:r>
            <a:endParaRPr sz="1200"/>
          </a:p>
        </p:txBody>
      </p:sp>
      <p:sp>
        <p:nvSpPr>
          <p:cNvPr id="14" name="Text 12">
            <a:extLst xmlns:a="http://schemas.openxmlformats.org/drawingml/2006/main">
              <a:ext uri="{FF2B5EF4-FFF2-40B4-BE49-F238E27FC236}">
                <a16:creationId xmlns:a16="http://schemas.microsoft.com/office/drawing/2014/main" id="{5FBA81A1-0E71-4EA4-8EA2-175D89688AB3}"/>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 largest single cause of stalled cases was customers unaware a case existed. Where a process depends on someone outside the organisation responding, that is the first thing to verify and the cheapest to fix.</a:t>
            </a:r>
            <a:endParaRPr sz="1000"/>
          </a:p>
        </p:txBody>
      </p:sp>
      <p:sp>
        <p:nvSpPr>
          <p:cNvPr id="15" name="Shape 13">
            <a:extLst xmlns:a="http://schemas.openxmlformats.org/drawingml/2006/main">
              <a:ext uri="{FF2B5EF4-FFF2-40B4-BE49-F238E27FC236}">
                <a16:creationId xmlns:a16="http://schemas.microsoft.com/office/drawing/2014/main" id="{3C2E6536-3445-4C24-A40E-6E564A62DF38}"/>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3C90B9E4-6D91-410B-9CA3-C35EEB70DBB5}"/>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62EE3F0A-928A-4108-9412-E06358CF86BB}"/>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Look for the pathway that skips the automation</a:t>
            </a:r>
            <a:endParaRPr sz="1200"/>
          </a:p>
        </p:txBody>
      </p:sp>
      <p:sp>
        <p:nvSpPr>
          <p:cNvPr id="18" name="Text 16">
            <a:extLst xmlns:a="http://schemas.openxmlformats.org/drawingml/2006/main">
              <a:ext uri="{FF2B5EF4-FFF2-40B4-BE49-F238E27FC236}">
                <a16:creationId xmlns:a16="http://schemas.microsoft.com/office/drawing/2014/main" id="{A239D579-2252-491A-B76C-01EBA0989256}"/>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Channel-raised cases were acknowledged; internally raised ones depended on someone remembering. Two populations behaving differently and reported identically is a pattern worth actively hunting in any estate.</a:t>
            </a:r>
            <a:endParaRPr sz="1000"/>
          </a:p>
        </p:txBody>
      </p:sp>
      <p:sp>
        <p:nvSpPr>
          <p:cNvPr id="19" name="Shape 17">
            <a:extLst xmlns:a="http://schemas.openxmlformats.org/drawingml/2006/main">
              <a:ext uri="{FF2B5EF4-FFF2-40B4-BE49-F238E27FC236}">
                <a16:creationId xmlns:a16="http://schemas.microsoft.com/office/drawing/2014/main" id="{9F355E52-02E8-4A1A-A8FE-1532F5ADB5CF}"/>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67EF8764-73A7-455C-8BC0-779F616FF144}"/>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visibility work made the estate legible. The acknowledgement made it work. It is worth remembering which of those two was the smaller piece of engineering, and which one the operation actually noticed.</a:t>
            </a:r>
            <a:endParaRPr sz="1200"/>
          </a:p>
        </p:txBody>
      </p:sp>
      <p:sp>
        <p:nvSpPr>
          <p:cNvPr id="21" name="Shape 19">
            <a:extLst xmlns:a="http://schemas.openxmlformats.org/drawingml/2006/main">
              <a:ext uri="{FF2B5EF4-FFF2-40B4-BE49-F238E27FC236}">
                <a16:creationId xmlns:a16="http://schemas.microsoft.com/office/drawing/2014/main" id="{F8E2F7D7-3642-4455-BD5E-E86007B449F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093E47EF-0746-40E8-A483-095E6AD3C7E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operations analysis</a:t>
            </a:r>
            <a:endParaRPr sz="850"/>
          </a:p>
        </p:txBody>
      </p:sp>
      <p:sp>
        <p:nvSpPr>
          <p:cNvPr id="23" name="Text 21">
            <a:extLst xmlns:a="http://schemas.openxmlformats.org/drawingml/2006/main">
              <a:ext uri="{FF2B5EF4-FFF2-40B4-BE49-F238E27FC236}">
                <a16:creationId xmlns:a16="http://schemas.microsoft.com/office/drawing/2014/main" id="{79A28503-293C-4215-B2D7-ABFBC56C014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2027800296"/>
      </p:ext>
    </p:extLst>
  </p:cSld>
</p:sld>
</file>

<file path=ppt/slides/slide166.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4EFCB6-58ED-4470-9770-AE6F2F151410}"/>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PORTFOLIO RETROSPECTIVE  ·  14 OF 30</a:t>
            </a:r>
            <a:endParaRPr sz="950"/>
          </a:p>
        </p:txBody>
      </p:sp>
      <p:sp>
        <p:nvSpPr>
          <p:cNvPr id="3" name="Text 1">
            <a:extLst xmlns:a="http://schemas.openxmlformats.org/drawingml/2006/main">
              <a:ext uri="{FF2B5EF4-FFF2-40B4-BE49-F238E27FC236}">
                <a16:creationId xmlns:a16="http://schemas.microsoft.com/office/drawing/2014/main" id="{97712511-B5EA-4AEC-A64E-9B738EAF6777}"/>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Abu Dhabi Islamic Bank</a:t>
            </a:r>
            <a:endParaRPr sz="3800"/>
          </a:p>
        </p:txBody>
      </p:sp>
      <p:sp>
        <p:nvSpPr>
          <p:cNvPr id="4" name="Text 2">
            <a:extLst xmlns:a="http://schemas.openxmlformats.org/drawingml/2006/main">
              <a:ext uri="{FF2B5EF4-FFF2-40B4-BE49-F238E27FC236}">
                <a16:creationId xmlns:a16="http://schemas.microsoft.com/office/drawing/2014/main" id="{CE779747-EB8C-4686-ABE4-8C808C173368}"/>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Eight programmes, three years — what compounds when one team owns the sequence</a:t>
            </a:r>
            <a:endParaRPr sz="1800"/>
          </a:p>
        </p:txBody>
      </p:sp>
      <p:sp>
        <p:nvSpPr>
          <p:cNvPr id="5" name="Text 3">
            <a:extLst xmlns:a="http://schemas.openxmlformats.org/drawingml/2006/main">
              <a:ext uri="{FF2B5EF4-FFF2-40B4-BE49-F238E27FC236}">
                <a16:creationId xmlns:a16="http://schemas.microsoft.com/office/drawing/2014/main" id="{4ADAF4AA-691E-4A30-966A-6E565C51AF78}"/>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wholesale and business banking transformation delivered as eight sequential programmes rather than one. The interesting result is not any single programme; it is what the eighth cost compared with the first.</a:t>
            </a:r>
            <a:endParaRPr sz="1150"/>
          </a:p>
        </p:txBody>
      </p:sp>
      <p:sp>
        <p:nvSpPr>
          <p:cNvPr id="6" name="Shape 4">
            <a:extLst xmlns:a="http://schemas.openxmlformats.org/drawingml/2006/main">
              <a:ext uri="{FF2B5EF4-FFF2-40B4-BE49-F238E27FC236}">
                <a16:creationId xmlns:a16="http://schemas.microsoft.com/office/drawing/2014/main" id="{08DAEB83-9281-4DB7-AAC7-FFC3BB341A49}"/>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631F8408-4D58-4E33-8DE4-8841D13DE065}"/>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8</a:t>
            </a:r>
            <a:endParaRPr sz="2600"/>
          </a:p>
        </p:txBody>
      </p:sp>
      <p:sp>
        <p:nvSpPr>
          <p:cNvPr id="8" name="Text 6">
            <a:extLst xmlns:a="http://schemas.openxmlformats.org/drawingml/2006/main">
              <a:ext uri="{FF2B5EF4-FFF2-40B4-BE49-F238E27FC236}">
                <a16:creationId xmlns:a16="http://schemas.microsoft.com/office/drawing/2014/main" id="{084F3566-DF00-4EE4-B361-594DFE78FDE6}"/>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programmes</a:t>
            </a:r>
            <a:endParaRPr sz="900"/>
          </a:p>
          <a:p xmlns:a="http://schemas.openxmlformats.org/drawingml/2006/main">
            <a:pPr marL="0" indent="0">
              <a:lnSpc>
                <a:spcPts val="1100"/>
              </a:lnSpc>
              <a:buNone/>
            </a:pPr>
            <a:r>
              <a:rPr sz="900">
                <a:solidFill>
                  <a:srgbClr val="8FA9C4"/>
                </a:solidFill>
                <a:latin typeface="Arial"/>
                <a:ea typeface="Arial"/>
                <a:cs typeface="Arial"/>
              </a:rPr>
              <a:t>delivered</a:t>
            </a:r>
            <a:endParaRPr sz="900"/>
          </a:p>
        </p:txBody>
      </p:sp>
      <p:sp>
        <p:nvSpPr>
          <p:cNvPr id="9" name="Text 7">
            <a:extLst xmlns:a="http://schemas.openxmlformats.org/drawingml/2006/main">
              <a:ext uri="{FF2B5EF4-FFF2-40B4-BE49-F238E27FC236}">
                <a16:creationId xmlns:a16="http://schemas.microsoft.com/office/drawing/2014/main" id="{A0333FFB-D08B-4FE6-85D2-C507E804BFE8}"/>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0" name="Text 8">
            <a:extLst xmlns:a="http://schemas.openxmlformats.org/drawingml/2006/main">
              <a:ext uri="{FF2B5EF4-FFF2-40B4-BE49-F238E27FC236}">
                <a16:creationId xmlns:a16="http://schemas.microsoft.com/office/drawing/2014/main" id="{EF0E9145-5241-407A-9F6A-2AC1E6D4C170}"/>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years, one</a:t>
            </a:r>
            <a:endParaRPr sz="900"/>
          </a:p>
          <a:p xmlns:a="http://schemas.openxmlformats.org/drawingml/2006/main">
            <a:pPr marL="0" indent="0">
              <a:lnSpc>
                <a:spcPts val="1100"/>
              </a:lnSpc>
              <a:buNone/>
            </a:pPr>
            <a:r>
              <a:rPr sz="900">
                <a:solidFill>
                  <a:srgbClr val="8FA9C4"/>
                </a:solidFill>
                <a:latin typeface="Arial"/>
                <a:ea typeface="Arial"/>
                <a:cs typeface="Arial"/>
              </a:rPr>
              <a:t>owning team</a:t>
            </a:r>
            <a:endParaRPr sz="900"/>
          </a:p>
        </p:txBody>
      </p:sp>
      <p:sp>
        <p:nvSpPr>
          <p:cNvPr id="11" name="Text 9">
            <a:extLst xmlns:a="http://schemas.openxmlformats.org/drawingml/2006/main">
              <a:ext uri="{FF2B5EF4-FFF2-40B4-BE49-F238E27FC236}">
                <a16:creationId xmlns:a16="http://schemas.microsoft.com/office/drawing/2014/main" id="{D5FADB40-15CE-477E-96EA-6F4BD6EE1537}"/>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12" name="Text 10">
            <a:extLst xmlns:a="http://schemas.openxmlformats.org/drawingml/2006/main">
              <a:ext uri="{FF2B5EF4-FFF2-40B4-BE49-F238E27FC236}">
                <a16:creationId xmlns:a16="http://schemas.microsoft.com/office/drawing/2014/main" id="{7136CF7F-CD7E-4B3B-B3B2-237E8F9E7350}"/>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control functions</a:t>
            </a:r>
            <a:endParaRPr sz="900"/>
          </a:p>
          <a:p xmlns:a="http://schemas.openxmlformats.org/drawingml/2006/main">
            <a:pPr marL="0" indent="0">
              <a:lnSpc>
                <a:spcPts val="1100"/>
              </a:lnSpc>
              <a:buNone/>
            </a:pPr>
            <a:r>
              <a:rPr sz="900">
                <a:solidFill>
                  <a:srgbClr val="8FA9C4"/>
                </a:solidFill>
                <a:latin typeface="Arial"/>
                <a:ea typeface="Arial"/>
                <a:cs typeface="Arial"/>
              </a:rPr>
              <a:t>coordinated</a:t>
            </a:r>
            <a:endParaRPr sz="900"/>
          </a:p>
        </p:txBody>
      </p:sp>
      <p:sp>
        <p:nvSpPr>
          <p:cNvPr id="13" name="Text 11">
            <a:extLst xmlns:a="http://schemas.openxmlformats.org/drawingml/2006/main">
              <a:ext uri="{FF2B5EF4-FFF2-40B4-BE49-F238E27FC236}">
                <a16:creationId xmlns:a16="http://schemas.microsoft.com/office/drawing/2014/main" id="{4FA948E6-B18B-4405-AC75-0FCDC984D8BE}"/>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4" name="Text 12">
            <a:extLst xmlns:a="http://schemas.openxmlformats.org/drawingml/2006/main">
              <a:ext uri="{FF2B5EF4-FFF2-40B4-BE49-F238E27FC236}">
                <a16:creationId xmlns:a16="http://schemas.microsoft.com/office/drawing/2014/main" id="{7848BD81-337E-43F6-AC53-56F8A1B26CD1}"/>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systems of</a:t>
            </a:r>
            <a:endParaRPr sz="900"/>
          </a:p>
          <a:p xmlns:a="http://schemas.openxmlformats.org/drawingml/2006/main">
            <a:pPr marL="0" indent="0">
              <a:lnSpc>
                <a:spcPts val="1100"/>
              </a:lnSpc>
              <a:buNone/>
            </a:pPr>
            <a:r>
              <a:rPr sz="900">
                <a:solidFill>
                  <a:srgbClr val="8FA9C4"/>
                </a:solidFill>
                <a:latin typeface="Arial"/>
                <a:ea typeface="Arial"/>
                <a:cs typeface="Arial"/>
              </a:rPr>
              <a:t>record integrated</a:t>
            </a:r>
            <a:endParaRPr sz="900"/>
          </a:p>
        </p:txBody>
      </p:sp>
      <p:sp>
        <p:nvSpPr>
          <p:cNvPr id="15" name="Text 13">
            <a:extLst xmlns:a="http://schemas.openxmlformats.org/drawingml/2006/main">
              <a:ext uri="{FF2B5EF4-FFF2-40B4-BE49-F238E27FC236}">
                <a16:creationId xmlns:a16="http://schemas.microsoft.com/office/drawing/2014/main" id="{57ABA279-67D7-4A27-A8A8-9FC96CFE8EAE}"/>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9993951F-14BE-4480-8527-64778E78A1D6}"/>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shared spine</a:t>
            </a:r>
            <a:endParaRPr sz="900"/>
          </a:p>
          <a:p xmlns:a="http://schemas.openxmlformats.org/drawingml/2006/main">
            <a:pPr marL="0" indent="0">
              <a:lnSpc>
                <a:spcPts val="1100"/>
              </a:lnSpc>
              <a:buNone/>
            </a:pPr>
            <a:r>
              <a:rPr sz="900">
                <a:solidFill>
                  <a:srgbClr val="8FA9C4"/>
                </a:solidFill>
                <a:latin typeface="Arial"/>
                <a:ea typeface="Arial"/>
                <a:cs typeface="Arial"/>
              </a:rPr>
              <a:t>built once</a:t>
            </a:r>
            <a:endParaRPr sz="900"/>
          </a:p>
        </p:txBody>
      </p:sp>
      <p:sp>
        <p:nvSpPr>
          <p:cNvPr id="17" name="Text 15">
            <a:extLst xmlns:a="http://schemas.openxmlformats.org/drawingml/2006/main">
              <a:ext uri="{FF2B5EF4-FFF2-40B4-BE49-F238E27FC236}">
                <a16:creationId xmlns:a16="http://schemas.microsoft.com/office/drawing/2014/main" id="{4D6F353A-B443-4693-9451-BC1418DFD952}"/>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920C2DB7-FBCD-405B-AE49-267648E8A03A}"/>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programmes</a:t>
            </a:r>
            <a:endParaRPr sz="900"/>
          </a:p>
          <a:p xmlns:a="http://schemas.openxmlformats.org/drawingml/2006/main">
            <a:pPr marL="0" indent="0">
              <a:lnSpc>
                <a:spcPts val="1100"/>
              </a:lnSpc>
              <a:buNone/>
            </a:pPr>
            <a:r>
              <a:rPr sz="900">
                <a:solidFill>
                  <a:srgbClr val="8FA9C4"/>
                </a:solidFill>
                <a:latin typeface="Arial"/>
                <a:ea typeface="Arial"/>
                <a:cs typeface="Arial"/>
              </a:rPr>
              <a:t>restarted</a:t>
            </a:r>
            <a:endParaRPr sz="900"/>
          </a:p>
        </p:txBody>
      </p:sp>
      <p:sp>
        <p:nvSpPr>
          <p:cNvPr id="19" name="Shape 17">
            <a:extLst xmlns:a="http://schemas.openxmlformats.org/drawingml/2006/main">
              <a:ext uri="{FF2B5EF4-FFF2-40B4-BE49-F238E27FC236}">
                <a16:creationId xmlns:a16="http://schemas.microsoft.com/office/drawing/2014/main" id="{E8CA3C16-EEC8-40B4-B7D3-51065EA88238}"/>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446C4B06-7A71-4D14-A848-B039C690B6BF}"/>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ENGAGEMENT SCOPE  ·  WHOLESALE, BUSINESS AND FINANCIAL-INSTITUTION BANKING</a:t>
            </a:r>
            <a:endParaRPr sz="800"/>
          </a:p>
        </p:txBody>
      </p:sp>
      <p:sp>
        <p:nvSpPr>
          <p:cNvPr id="21" name="Text 19">
            <a:extLst xmlns:a="http://schemas.openxmlformats.org/drawingml/2006/main">
              <a:ext uri="{FF2B5EF4-FFF2-40B4-BE49-F238E27FC236}">
                <a16:creationId xmlns:a16="http://schemas.microsoft.com/office/drawing/2014/main" id="{25BB9563-6DF2-4447-B0BA-1807EEF1D7BA}"/>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Customer 360 and relationship management    ·    deal and credit approval    ·    service and complaints    ·    campaigns    ·    mobility    ·    account opening    ·    account planning    ·    early warning</a:t>
            </a:r>
            <a:endParaRPr sz="1050"/>
          </a:p>
        </p:txBody>
      </p:sp>
      <p:sp>
        <p:nvSpPr>
          <p:cNvPr id="22" name="Text 20">
            <a:extLst xmlns:a="http://schemas.openxmlformats.org/drawingml/2006/main">
              <a:ext uri="{FF2B5EF4-FFF2-40B4-BE49-F238E27FC236}">
                <a16:creationId xmlns:a16="http://schemas.microsoft.com/office/drawing/2014/main" id="{106C91C2-67D5-43DF-8C14-46877C5A4882}"/>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Project Lead and Product Manager  ·  2018–2020</a:t>
            </a:r>
            <a:endParaRPr sz="1200"/>
          </a:p>
        </p:txBody>
      </p:sp>
      <p:sp>
        <p:nvSpPr>
          <p:cNvPr id="23" name="Text 21">
            <a:extLst xmlns:a="http://schemas.openxmlformats.org/drawingml/2006/main">
              <a:ext uri="{FF2B5EF4-FFF2-40B4-BE49-F238E27FC236}">
                <a16:creationId xmlns:a16="http://schemas.microsoft.com/office/drawing/2014/main" id="{F8928AA9-04BB-4730-97AD-D408A7FA6EAF}"/>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Programme scope is the client's; the sequencing analysis and the compounding argument are mine.</a:t>
            </a:r>
            <a:endParaRPr sz="850"/>
          </a:p>
        </p:txBody>
      </p:sp>
    </p:spTree>
    <p:extLst>
      <p:ext uri="{BB962C8B-B14F-4D97-AF65-F5344CB8AC3E}">
        <p14:creationId xmlns:p14="http://schemas.microsoft.com/office/powerpoint/2010/main" val="1171293927"/>
      </p:ext>
    </p:extLst>
  </p:cSld>
</p:sld>
</file>

<file path=ppt/slides/slide16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434A345-E4AB-4718-A170-65AD5E8DA16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0687C80C-7D67-4544-86E9-D346F1B8AA3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Eight programmes over three years, sequenced so each one paid for part of the next —</a:t>
            </a:r>
            <a:endParaRPr sz="1900"/>
          </a:p>
          <a:p xmlns:a="http://schemas.openxmlformats.org/drawingml/2006/main">
            <a:pPr marL="0" indent="0">
              <a:lnSpc>
                <a:spcPts val="2400"/>
              </a:lnSpc>
              <a:buNone/>
            </a:pPr>
            <a:r>
              <a:rPr sz="1900" b="1">
                <a:solidFill>
                  <a:srgbClr val="102A43"/>
                </a:solidFill>
                <a:latin typeface="Arial"/>
                <a:ea typeface="Arial"/>
                <a:cs typeface="Arial"/>
              </a:rPr>
              <a:t>the order was the design decision, not the scope</a:t>
            </a:r>
            <a:endParaRPr sz="1900"/>
          </a:p>
        </p:txBody>
      </p:sp>
      <p:sp>
        <p:nvSpPr>
          <p:cNvPr id="4" name="Shape 2">
            <a:extLst xmlns:a="http://schemas.openxmlformats.org/drawingml/2006/main">
              <a:ext uri="{FF2B5EF4-FFF2-40B4-BE49-F238E27FC236}">
                <a16:creationId xmlns:a16="http://schemas.microsoft.com/office/drawing/2014/main" id="{6760BA07-5AC4-4A1B-A568-1DD49ECDDC8F}"/>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80B2B292-5C3E-460B-BC31-ACAB2D698571}"/>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18A4FF2B-6B47-435E-9208-F34467D0F2D4}"/>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Gulf Islamic bank transforming wholesale, business and financial-institution banking. Eight distinct programmes, each with its own sponsor, business case and go-live.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One delivery team carried all eight, across three years, on one platform.</a:t>
            </a:r>
            <a:endParaRPr sz="980"/>
          </a:p>
        </p:txBody>
      </p:sp>
      <p:sp>
        <p:nvSpPr>
          <p:cNvPr id="7" name="Shape 5">
            <a:extLst xmlns:a="http://schemas.openxmlformats.org/drawingml/2006/main">
              <a:ext uri="{FF2B5EF4-FFF2-40B4-BE49-F238E27FC236}">
                <a16:creationId xmlns:a16="http://schemas.microsoft.com/office/drawing/2014/main" id="{093660D8-6B30-4281-A8F1-56ECE70FD4E2}"/>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F96275C2-E464-447B-88E9-DDF84013B86D}"/>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11C87BF5-354E-4A0F-AB12-6B97CF73171B}"/>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Eight sponsors means eight business cases, each written as though it were the only programme. Left to that, each would have built its own customer view, its own approval workflow, its own alerting and its own reporting.</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That is the default outcome in a multi-sponsor portfolio, and it produces eight systems on one platform.</a:t>
            </a:r>
            <a:endParaRPr sz="980"/>
          </a:p>
        </p:txBody>
      </p:sp>
      <p:sp>
        <p:nvSpPr>
          <p:cNvPr id="10" name="Shape 8">
            <a:extLst xmlns:a="http://schemas.openxmlformats.org/drawingml/2006/main">
              <a:ext uri="{FF2B5EF4-FFF2-40B4-BE49-F238E27FC236}">
                <a16:creationId xmlns:a16="http://schemas.microsoft.com/office/drawing/2014/main" id="{3691FBD8-6334-42E5-8A2B-1A3CD9BA7F39}"/>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BCAF282A-8507-4A8B-98F7-95D67913F4C1}"/>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What was done instead</a:t>
            </a:r>
            <a:endParaRPr sz="1250"/>
          </a:p>
        </p:txBody>
      </p:sp>
      <p:sp>
        <p:nvSpPr>
          <p:cNvPr id="12" name="Text 10">
            <a:extLst xmlns:a="http://schemas.openxmlformats.org/drawingml/2006/main">
              <a:ext uri="{FF2B5EF4-FFF2-40B4-BE49-F238E27FC236}">
                <a16:creationId xmlns:a16="http://schemas.microsoft.com/office/drawing/2014/main" id="{44076753-5322-4047-AAE2-9909E65BE2B1}"/>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Sequence deliberately so the foundational programme lands first, and every subsequent one extends the shared spine rather than building beside it.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Customer 360 first, then everything that needs a customer view. Approvals second, then everything that needs a control decision. By programme six, most of what a new programme needed already existed.</a:t>
            </a:r>
            <a:endParaRPr sz="980"/>
          </a:p>
        </p:txBody>
      </p:sp>
      <p:sp>
        <p:nvSpPr>
          <p:cNvPr id="13" name="Text 11">
            <a:extLst xmlns:a="http://schemas.openxmlformats.org/drawingml/2006/main">
              <a:ext uri="{FF2B5EF4-FFF2-40B4-BE49-F238E27FC236}">
                <a16:creationId xmlns:a16="http://schemas.microsoft.com/office/drawing/2014/main" id="{2C7FBF8B-0F58-406E-BB94-A366BD9BA0FE}"/>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69DF4564-BD2A-46CA-A9AA-DF244DD07066}"/>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FC969CFC-7A62-4E7A-A57F-9CBF2B0DEBE2}"/>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8</a:t>
            </a:r>
            <a:endParaRPr sz="2100"/>
          </a:p>
        </p:txBody>
      </p:sp>
      <p:sp>
        <p:nvSpPr>
          <p:cNvPr id="16" name="Text 14">
            <a:extLst xmlns:a="http://schemas.openxmlformats.org/drawingml/2006/main">
              <a:ext uri="{FF2B5EF4-FFF2-40B4-BE49-F238E27FC236}">
                <a16:creationId xmlns:a16="http://schemas.microsoft.com/office/drawing/2014/main" id="{4378A946-7E08-45BE-B455-F1B1AD66D727}"/>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programmes, one team</a:t>
            </a:r>
            <a:endParaRPr sz="860"/>
          </a:p>
        </p:txBody>
      </p:sp>
      <p:sp>
        <p:nvSpPr>
          <p:cNvPr id="17" name="Shape 15">
            <a:extLst xmlns:a="http://schemas.openxmlformats.org/drawingml/2006/main">
              <a:ext uri="{FF2B5EF4-FFF2-40B4-BE49-F238E27FC236}">
                <a16:creationId xmlns:a16="http://schemas.microsoft.com/office/drawing/2014/main" id="{EE90BDB1-D287-4C5D-8D89-359B5A736583}"/>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2400A0B5-04DC-44E2-9E8E-F4C0F5138803}"/>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9" name="Text 17">
            <a:extLst xmlns:a="http://schemas.openxmlformats.org/drawingml/2006/main">
              <a:ext uri="{FF2B5EF4-FFF2-40B4-BE49-F238E27FC236}">
                <a16:creationId xmlns:a16="http://schemas.microsoft.com/office/drawing/2014/main" id="{760315C4-3330-4D06-9341-5230D3998604}"/>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foundational, five extending</a:t>
            </a:r>
            <a:endParaRPr sz="860"/>
          </a:p>
        </p:txBody>
      </p:sp>
      <p:sp>
        <p:nvSpPr>
          <p:cNvPr id="20" name="Shape 18">
            <a:extLst xmlns:a="http://schemas.openxmlformats.org/drawingml/2006/main">
              <a:ext uri="{FF2B5EF4-FFF2-40B4-BE49-F238E27FC236}">
                <a16:creationId xmlns:a16="http://schemas.microsoft.com/office/drawing/2014/main" id="{97E3FFAC-081D-4292-A46E-49B8D9569DE8}"/>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005D8F66-3D84-42B2-8C76-5CCD3762F5C2}"/>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2" name="Text 20">
            <a:extLst xmlns:a="http://schemas.openxmlformats.org/drawingml/2006/main">
              <a:ext uri="{FF2B5EF4-FFF2-40B4-BE49-F238E27FC236}">
                <a16:creationId xmlns:a16="http://schemas.microsoft.com/office/drawing/2014/main" id="{5F4D7B59-75CE-4E7B-A83F-27E48A94FCD5}"/>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control functions in one flow</a:t>
            </a:r>
            <a:endParaRPr sz="860"/>
          </a:p>
        </p:txBody>
      </p:sp>
      <p:sp>
        <p:nvSpPr>
          <p:cNvPr id="23" name="Shape 21">
            <a:extLst xmlns:a="http://schemas.openxmlformats.org/drawingml/2006/main">
              <a:ext uri="{FF2B5EF4-FFF2-40B4-BE49-F238E27FC236}">
                <a16:creationId xmlns:a16="http://schemas.microsoft.com/office/drawing/2014/main" id="{5F93CF95-08FC-44C5-9AA7-7BB0B99AC360}"/>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5A01BC5A-B5EA-4C57-9A43-DE32B1D7760E}"/>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25" name="Text 23">
            <a:extLst xmlns:a="http://schemas.openxmlformats.org/drawingml/2006/main">
              <a:ext uri="{FF2B5EF4-FFF2-40B4-BE49-F238E27FC236}">
                <a16:creationId xmlns:a16="http://schemas.microsoft.com/office/drawing/2014/main" id="{AF16FD9F-BFEB-46D5-B29C-098DD9EE008E}"/>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systems of record</a:t>
            </a:r>
            <a:endParaRPr sz="860"/>
          </a:p>
        </p:txBody>
      </p:sp>
      <p:sp>
        <p:nvSpPr>
          <p:cNvPr id="26" name="Shape 24">
            <a:extLst xmlns:a="http://schemas.openxmlformats.org/drawingml/2006/main">
              <a:ext uri="{FF2B5EF4-FFF2-40B4-BE49-F238E27FC236}">
                <a16:creationId xmlns:a16="http://schemas.microsoft.com/office/drawing/2014/main" id="{0B4E13BC-27C7-4540-A056-C345B39AFC91}"/>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DA1E6923-2E0B-49FB-B595-2EE91D9BB3DB}"/>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28" name="Text 26">
            <a:extLst xmlns:a="http://schemas.openxmlformats.org/drawingml/2006/main">
              <a:ext uri="{FF2B5EF4-FFF2-40B4-BE49-F238E27FC236}">
                <a16:creationId xmlns:a16="http://schemas.microsoft.com/office/drawing/2014/main" id="{D21B8F5F-016A-45F3-85FB-3AAD8A70C3CC}"/>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reusable spines built</a:t>
            </a:r>
            <a:endParaRPr sz="860"/>
          </a:p>
        </p:txBody>
      </p:sp>
      <p:sp>
        <p:nvSpPr>
          <p:cNvPr id="29" name="Shape 27">
            <a:extLst xmlns:a="http://schemas.openxmlformats.org/drawingml/2006/main">
              <a:ext uri="{FF2B5EF4-FFF2-40B4-BE49-F238E27FC236}">
                <a16:creationId xmlns:a16="http://schemas.microsoft.com/office/drawing/2014/main" id="{C494655B-0BCB-47C4-B198-B2BCD83CD5E0}"/>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E6458F9E-62A8-4149-B9C6-BB6858017832}"/>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62124ABF-1352-4702-BEF1-4CD952A482EB}"/>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sequencing decision</a:t>
            </a:r>
            <a:endParaRPr sz="860"/>
          </a:p>
        </p:txBody>
      </p:sp>
      <p:sp>
        <p:nvSpPr>
          <p:cNvPr id="32" name="Text 30">
            <a:extLst xmlns:a="http://schemas.openxmlformats.org/drawingml/2006/main">
              <a:ext uri="{FF2B5EF4-FFF2-40B4-BE49-F238E27FC236}">
                <a16:creationId xmlns:a16="http://schemas.microsoft.com/office/drawing/2014/main" id="{A93E125D-D94A-40FE-9E27-CDA70E3824D8}"/>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the sequence mattered more than any single programme:  in a multi-sponsor portfolio nobody owns the order. Each sponsor optimises their own programme, and the platform fragments quietly across three years. Owning the sequence is the only lever that prevents it — and it is available exactly once, at the start.</a:t>
            </a:r>
            <a:endParaRPr sz="1000"/>
          </a:p>
        </p:txBody>
      </p:sp>
      <p:sp>
        <p:nvSpPr>
          <p:cNvPr id="33" name="Shape 31">
            <a:extLst xmlns:a="http://schemas.openxmlformats.org/drawingml/2006/main">
              <a:ext uri="{FF2B5EF4-FFF2-40B4-BE49-F238E27FC236}">
                <a16:creationId xmlns:a16="http://schemas.microsoft.com/office/drawing/2014/main" id="{78BA6F47-3B2D-4681-962A-3C408566803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A1FEFC8E-B1BB-4386-A5A8-807697C0DD0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F1312F31-364A-475D-BC24-D9D05B5D703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300311008"/>
      </p:ext>
    </p:extLst>
  </p:cSld>
</p:sld>
</file>

<file path=ppt/slides/slide16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90B97F3-05ED-4DD9-B386-335F4AA247F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768168E3-A0D7-4587-AF42-E8651A26148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Programme scope and outcomes come from the delivery record; the sequencing</a:t>
            </a:r>
            <a:endParaRPr sz="1900"/>
          </a:p>
          <a:p xmlns:a="http://schemas.openxmlformats.org/drawingml/2006/main">
            <a:pPr marL="0" indent="0">
              <a:lnSpc>
                <a:spcPts val="2400"/>
              </a:lnSpc>
              <a:buNone/>
            </a:pPr>
            <a:r>
              <a:rPr sz="1900" b="1">
                <a:solidFill>
                  <a:srgbClr val="102A43"/>
                </a:solidFill>
                <a:latin typeface="Arial"/>
                <a:ea typeface="Arial"/>
                <a:cs typeface="Arial"/>
              </a:rPr>
              <a:t>argument and the effort curve are analysis</a:t>
            </a:r>
            <a:endParaRPr sz="1900"/>
          </a:p>
        </p:txBody>
      </p:sp>
      <p:sp>
        <p:nvSpPr>
          <p:cNvPr id="4" name="Shape 2">
            <a:extLst xmlns:a="http://schemas.openxmlformats.org/drawingml/2006/main">
              <a:ext uri="{FF2B5EF4-FFF2-40B4-BE49-F238E27FC236}">
                <a16:creationId xmlns:a16="http://schemas.microsoft.com/office/drawing/2014/main" id="{385FBCA1-4E1E-421D-8C1F-86429725C0A3}"/>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01397012-5E33-4788-8FBD-2043D99D5FF6}"/>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931ABA19-408C-4CC1-AF88-C9B422FA0EE2}"/>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CLIENT SCOPE</a:t>
            </a:r>
            <a:endParaRPr sz="740"/>
          </a:p>
        </p:txBody>
      </p:sp>
      <p:sp>
        <p:nvSpPr>
          <p:cNvPr id="7" name="Text 5">
            <a:extLst xmlns:a="http://schemas.openxmlformats.org/drawingml/2006/main">
              <a:ext uri="{FF2B5EF4-FFF2-40B4-BE49-F238E27FC236}">
                <a16:creationId xmlns:a16="http://schemas.microsoft.com/office/drawing/2014/main" id="{F88007B5-F850-486C-BAB2-A0A6FE36BFA5}"/>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7F14A15B-9017-4E08-96D1-0E5160E70D61}"/>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eight programmes, their scope and the systems integrated, as defined and accepted by the client.</a:t>
            </a:r>
            <a:endParaRPr sz="920"/>
          </a:p>
        </p:txBody>
      </p:sp>
      <p:sp>
        <p:nvSpPr>
          <p:cNvPr id="9" name="Shape 7">
            <a:extLst xmlns:a="http://schemas.openxmlformats.org/drawingml/2006/main">
              <a:ext uri="{FF2B5EF4-FFF2-40B4-BE49-F238E27FC236}">
                <a16:creationId xmlns:a16="http://schemas.microsoft.com/office/drawing/2014/main" id="{79E95EFA-5AB4-468E-AB7C-348E175BEAE7}"/>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C5DB9C84-9EA1-4D65-B3DD-BA301CF94A8B}"/>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Eight programmes, 2018–2020</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Wholesale, business and FI banking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control functions in scope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 systems of record integrated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Mobile and branch channels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Group and related-party model</a:t>
            </a:r>
            <a:endParaRPr sz="930"/>
          </a:p>
        </p:txBody>
      </p:sp>
      <p:sp>
        <p:nvSpPr>
          <p:cNvPr id="11" name="Shape 9">
            <a:extLst xmlns:a="http://schemas.openxmlformats.org/drawingml/2006/main">
              <a:ext uri="{FF2B5EF4-FFF2-40B4-BE49-F238E27FC236}">
                <a16:creationId xmlns:a16="http://schemas.microsoft.com/office/drawing/2014/main" id="{E9CDF953-71EC-4A01-B91C-B79DDA78BAD1}"/>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A49BF069-6BBB-4A69-8018-52526EE99935}"/>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C1321C5C-FE6C-4E98-8578-62B08CB10A4B}"/>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6127CD3F-F077-4834-99D4-EB2072E72143}"/>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CA1A5C8D-27F8-4D4F-9E8D-A1899A284B21}"/>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Project Lead and Product Manager across the portfolio — requirement through production on each programme.</a:t>
            </a:r>
            <a:endParaRPr sz="920"/>
          </a:p>
        </p:txBody>
      </p:sp>
      <p:sp>
        <p:nvSpPr>
          <p:cNvPr id="16" name="Shape 14">
            <a:extLst xmlns:a="http://schemas.openxmlformats.org/drawingml/2006/main">
              <a:ext uri="{FF2B5EF4-FFF2-40B4-BE49-F238E27FC236}">
                <a16:creationId xmlns:a16="http://schemas.microsoft.com/office/drawing/2014/main" id="{93D4323A-5F37-4C70-B896-D9E035591F9B}"/>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C0756CAC-A4C2-4B42-8E55-D5BA03DDD6A1}"/>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All eight, requirement to production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Portfolio sequencing decisions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Parallel-approval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Early-warning governance pattern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Group and related-party data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Control-function engagement</a:t>
            </a:r>
            <a:endParaRPr sz="930"/>
          </a:p>
        </p:txBody>
      </p:sp>
      <p:sp>
        <p:nvSpPr>
          <p:cNvPr id="18" name="Shape 16">
            <a:extLst xmlns:a="http://schemas.openxmlformats.org/drawingml/2006/main">
              <a:ext uri="{FF2B5EF4-FFF2-40B4-BE49-F238E27FC236}">
                <a16:creationId xmlns:a16="http://schemas.microsoft.com/office/drawing/2014/main" id="{3BEE78E7-65EB-4546-BD6C-BEE6072B7C85}"/>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F5DC0DFE-54B4-4A7D-BAF8-0E4E5E932968}"/>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22548462-D66D-4C56-B0EA-565B670F5792}"/>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986CA2CD-1875-497F-B765-1C1D770567C4}"/>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306E8A46-F2F8-4963-AB03-1D59DD636ACE}"/>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effort curve and reuse percentages illustrate the compounding argument. Directional, not measured.</a:t>
            </a:r>
            <a:endParaRPr sz="920"/>
          </a:p>
        </p:txBody>
      </p:sp>
      <p:sp>
        <p:nvSpPr>
          <p:cNvPr id="23" name="Shape 21">
            <a:extLst xmlns:a="http://schemas.openxmlformats.org/drawingml/2006/main">
              <a:ext uri="{FF2B5EF4-FFF2-40B4-BE49-F238E27FC236}">
                <a16:creationId xmlns:a16="http://schemas.microsoft.com/office/drawing/2014/main" id="{1B36BCB0-9EEF-4A5B-B4DD-F3FFE2C27315}"/>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996EC097-ECC2-49D9-8ED7-D07D0B690452}"/>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Effort index per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Reuse share by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Sequencing counterfactual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programme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E990A614-4826-4733-8065-F82CE09DFA16}"/>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A3559CC7-1448-4939-8116-7ED99DD18D71}"/>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A784850E-779E-4270-A3E2-3E4980E084FC}"/>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AD4EBD93-5804-43BA-8CF9-1200187DB083}"/>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C29B129E-B1C9-4539-B98C-DCC8BFCC3B9A}"/>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 delivery retrospective, not a business-outcome claim or a bank disclosure.</a:t>
            </a:r>
            <a:endParaRPr sz="920"/>
          </a:p>
        </p:txBody>
      </p:sp>
      <p:sp>
        <p:nvSpPr>
          <p:cNvPr id="30" name="Shape 28">
            <a:extLst xmlns:a="http://schemas.openxmlformats.org/drawingml/2006/main">
              <a:ext uri="{FF2B5EF4-FFF2-40B4-BE49-F238E27FC236}">
                <a16:creationId xmlns:a16="http://schemas.microsoft.com/office/drawing/2014/main" id="{0ED33F31-90C9-4C71-91A0-125691ED082E}"/>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796C12C5-498E-4ACA-9364-4C97088C3439}"/>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Bank financial or commercial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client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screen, flow or requirement text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Credit decisions or portfolio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Independently audited results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engagement</a:t>
            </a:r>
            <a:endParaRPr sz="930"/>
          </a:p>
        </p:txBody>
      </p:sp>
      <p:sp>
        <p:nvSpPr>
          <p:cNvPr id="32" name="Shape 30">
            <a:extLst xmlns:a="http://schemas.openxmlformats.org/drawingml/2006/main">
              <a:ext uri="{FF2B5EF4-FFF2-40B4-BE49-F238E27FC236}">
                <a16:creationId xmlns:a16="http://schemas.microsoft.com/office/drawing/2014/main" id="{83AAE4D6-8285-4808-AD12-234D5D4461E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3E01F8AE-301D-4038-A4E0-D2A37F3A814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author's synthesis (sequencing argument and models)</a:t>
            </a:r>
            <a:endParaRPr sz="850"/>
          </a:p>
        </p:txBody>
      </p:sp>
      <p:sp>
        <p:nvSpPr>
          <p:cNvPr id="34" name="Text 32">
            <a:extLst xmlns:a="http://schemas.openxmlformats.org/drawingml/2006/main">
              <a:ext uri="{FF2B5EF4-FFF2-40B4-BE49-F238E27FC236}">
                <a16:creationId xmlns:a16="http://schemas.microsoft.com/office/drawing/2014/main" id="{30653DAD-75B4-4F1D-99A7-7D417856D86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112437139"/>
      </p:ext>
    </p:extLst>
  </p:cSld>
</p:sld>
</file>

<file path=ppt/slides/slide16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1623731-66FC-419F-A9EE-BF75318852E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PORTFOLIO</a:t>
            </a:r>
            <a:endParaRPr sz="950"/>
          </a:p>
        </p:txBody>
      </p:sp>
      <p:sp>
        <p:nvSpPr>
          <p:cNvPr id="3" name="Text 1">
            <a:extLst xmlns:a="http://schemas.openxmlformats.org/drawingml/2006/main">
              <a:ext uri="{FF2B5EF4-FFF2-40B4-BE49-F238E27FC236}">
                <a16:creationId xmlns:a16="http://schemas.microsoft.com/office/drawing/2014/main" id="{7D347B65-958B-420A-9EAD-7590388BBB2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Eight programmes in three groups — three built foundations, three built on them,</a:t>
            </a:r>
            <a:endParaRPr sz="1900"/>
          </a:p>
          <a:p xmlns:a="http://schemas.openxmlformats.org/drawingml/2006/main">
            <a:pPr marL="0" indent="0">
              <a:lnSpc>
                <a:spcPts val="2400"/>
              </a:lnSpc>
              <a:buNone/>
            </a:pPr>
            <a:r>
              <a:rPr sz="1900" b="1">
                <a:solidFill>
                  <a:srgbClr val="102A43"/>
                </a:solidFill>
                <a:latin typeface="Arial"/>
                <a:ea typeface="Arial"/>
                <a:cs typeface="Arial"/>
              </a:rPr>
              <a:t>and two extended the platform into governance</a:t>
            </a:r>
            <a:endParaRPr sz="1900"/>
          </a:p>
        </p:txBody>
      </p:sp>
      <p:sp>
        <p:nvSpPr>
          <p:cNvPr id="4" name="Shape 2">
            <a:extLst xmlns:a="http://schemas.openxmlformats.org/drawingml/2006/main">
              <a:ext uri="{FF2B5EF4-FFF2-40B4-BE49-F238E27FC236}">
                <a16:creationId xmlns:a16="http://schemas.microsoft.com/office/drawing/2014/main" id="{593A128A-6059-4D70-8650-EDDF6CEFC985}"/>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D3AF8277-8EF2-4DC3-9A04-3304BF65A2FB}"/>
              </a:ext>
            </a:extLst>
          </p:cNvPr>
          <p:cNvSpPr>
            <a:spLocks xmlns:a="http://schemas.openxmlformats.org/drawingml/2006/main" noGrp="1"/>
          </p:cNvSpPr>
          <p:nvPr/>
        </p:nvSpPr>
        <p:spPr>
          <a:xfrm xmlns:a="http://schemas.openxmlformats.org/drawingml/2006/main">
            <a:off x="786384" y="1517904"/>
            <a:ext cx="311292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50" b="1">
                <a:solidFill>
                  <a:srgbClr val="B04A25"/>
                </a:solidFill>
                <a:latin typeface="Arial"/>
                <a:ea typeface="Arial"/>
                <a:cs typeface="Arial"/>
              </a:rPr>
              <a:t>Foundations</a:t>
            </a:r>
            <a:endParaRPr sz="1250"/>
          </a:p>
          <a:p xmlns:a="http://schemas.openxmlformats.org/drawingml/2006/main">
            <a:pPr marL="0" indent="0" algn="l">
              <a:lnSpc>
                <a:spcPts val="1500"/>
              </a:lnSpc>
              <a:buNone/>
            </a:pPr>
            <a:r>
              <a:rPr sz="1250" b="1">
                <a:solidFill>
                  <a:srgbClr val="B04A25"/>
                </a:solidFill>
                <a:latin typeface="Arial"/>
                <a:ea typeface="Arial"/>
                <a:cs typeface="Arial"/>
              </a:rPr>
              <a:t>programmes 1–3</a:t>
            </a:r>
            <a:endParaRPr sz="1250"/>
          </a:p>
        </p:txBody>
      </p:sp>
      <p:sp>
        <p:nvSpPr>
          <p:cNvPr id="6" name="Shape 4">
            <a:extLst xmlns:a="http://schemas.openxmlformats.org/drawingml/2006/main">
              <a:ext uri="{FF2B5EF4-FFF2-40B4-BE49-F238E27FC236}">
                <a16:creationId xmlns:a16="http://schemas.microsoft.com/office/drawing/2014/main" id="{5469E7C8-8501-4722-BC5C-E012038D2101}"/>
              </a:ext>
            </a:extLst>
          </p:cNvPr>
          <p:cNvSpPr>
            <a:spLocks xmlns:a="http://schemas.openxmlformats.org/drawingml/2006/main" noGrp="1"/>
          </p:cNvSpPr>
          <p:nvPr/>
        </p:nvSpPr>
        <p:spPr>
          <a:xfrm xmlns:a="http://schemas.openxmlformats.org/drawingml/2006/main">
            <a:off x="786384" y="2103120"/>
            <a:ext cx="3112922" cy="13716"/>
          </a:xfrm>
          <a:prstGeom xmlns:a="http://schemas.openxmlformats.org/drawingml/2006/main" prst="rect">
            <a:avLst/>
          </a:prstGeom>
          <a:solidFill xmlns:a="http://schemas.openxmlformats.org/drawingml/2006/main">
            <a:srgbClr val="C6D2DE"/>
          </a:solidFill>
        </p:spPr>
      </p:sp>
      <p:sp>
        <p:nvSpPr>
          <p:cNvPr id="7" name="Text 5">
            <a:extLst xmlns:a="http://schemas.openxmlformats.org/drawingml/2006/main">
              <a:ext uri="{FF2B5EF4-FFF2-40B4-BE49-F238E27FC236}">
                <a16:creationId xmlns:a16="http://schemas.microsoft.com/office/drawing/2014/main" id="{B33EDA55-98D3-44F7-8905-84481939B62F}"/>
              </a:ext>
            </a:extLst>
          </p:cNvPr>
          <p:cNvSpPr>
            <a:spLocks xmlns:a="http://schemas.openxmlformats.org/drawingml/2006/main" noGrp="1"/>
          </p:cNvSpPr>
          <p:nvPr/>
        </p:nvSpPr>
        <p:spPr>
          <a:xfrm xmlns:a="http://schemas.openxmlformats.org/drawingml/2006/main">
            <a:off x="786384" y="2231136"/>
            <a:ext cx="3112922"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Enterprise Customer 360 and relationship management across wholesale, business and financial-institution banking</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Wholesale deal and credit approval, with five control functions approving in parallel</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Enterprise service and complaint management, taxonomy-driven with queues and escalation</a:t>
            </a:r>
            <a:endParaRPr sz="950"/>
          </a:p>
        </p:txBody>
      </p:sp>
      <p:sp>
        <p:nvSpPr>
          <p:cNvPr id="8" name="Shape 6">
            <a:extLst xmlns:a="http://schemas.openxmlformats.org/drawingml/2006/main">
              <a:ext uri="{FF2B5EF4-FFF2-40B4-BE49-F238E27FC236}">
                <a16:creationId xmlns:a16="http://schemas.microsoft.com/office/drawing/2014/main" id="{8AFAD65B-8F9A-4C74-B5CD-1F335E0F1DD3}"/>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7EF2E97E-0774-4FCD-9361-92D0781DF1A5}"/>
              </a:ext>
            </a:extLst>
          </p:cNvPr>
          <p:cNvSpPr>
            <a:spLocks xmlns:a="http://schemas.openxmlformats.org/drawingml/2006/main" noGrp="1"/>
          </p:cNvSpPr>
          <p:nvPr/>
        </p:nvSpPr>
        <p:spPr>
          <a:xfrm xmlns:a="http://schemas.openxmlformats.org/drawingml/2006/main">
            <a:off x="4539386" y="1517904"/>
            <a:ext cx="311292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50" b="1">
                <a:solidFill>
                  <a:srgbClr val="486581"/>
                </a:solidFill>
                <a:latin typeface="Arial"/>
                <a:ea typeface="Arial"/>
                <a:cs typeface="Arial"/>
              </a:rPr>
              <a:t>Built on the foundation</a:t>
            </a:r>
            <a:endParaRPr sz="1250"/>
          </a:p>
          <a:p xmlns:a="http://schemas.openxmlformats.org/drawingml/2006/main">
            <a:pPr marL="0" indent="0" algn="l">
              <a:lnSpc>
                <a:spcPts val="1500"/>
              </a:lnSpc>
              <a:buNone/>
            </a:pPr>
            <a:r>
              <a:rPr sz="1250" b="1">
                <a:solidFill>
                  <a:srgbClr val="486581"/>
                </a:solidFill>
                <a:latin typeface="Arial"/>
                <a:ea typeface="Arial"/>
                <a:cs typeface="Arial"/>
              </a:rPr>
              <a:t>programmes 4–6</a:t>
            </a:r>
            <a:endParaRPr sz="1250"/>
          </a:p>
        </p:txBody>
      </p:sp>
      <p:sp>
        <p:nvSpPr>
          <p:cNvPr id="10" name="Shape 8">
            <a:extLst xmlns:a="http://schemas.openxmlformats.org/drawingml/2006/main">
              <a:ext uri="{FF2B5EF4-FFF2-40B4-BE49-F238E27FC236}">
                <a16:creationId xmlns:a16="http://schemas.microsoft.com/office/drawing/2014/main" id="{5714D90E-3A72-4C71-AF7F-286943C1F733}"/>
              </a:ext>
            </a:extLst>
          </p:cNvPr>
          <p:cNvSpPr>
            <a:spLocks xmlns:a="http://schemas.openxmlformats.org/drawingml/2006/main" noGrp="1"/>
          </p:cNvSpPr>
          <p:nvPr/>
        </p:nvSpPr>
        <p:spPr>
          <a:xfrm xmlns:a="http://schemas.openxmlformats.org/drawingml/2006/main">
            <a:off x="4539386" y="2103120"/>
            <a:ext cx="3112922" cy="13716"/>
          </a:xfrm>
          <a:prstGeom xmlns:a="http://schemas.openxmlformats.org/drawingml/2006/main" prst="rect">
            <a:avLst/>
          </a:prstGeom>
          <a:solidFill xmlns:a="http://schemas.openxmlformats.org/drawingml/2006/main">
            <a:srgbClr val="C6D2DE"/>
          </a:solidFill>
        </p:spPr>
      </p:sp>
      <p:sp>
        <p:nvSpPr>
          <p:cNvPr id="11" name="Text 9">
            <a:extLst xmlns:a="http://schemas.openxmlformats.org/drawingml/2006/main">
              <a:ext uri="{FF2B5EF4-FFF2-40B4-BE49-F238E27FC236}">
                <a16:creationId xmlns:a16="http://schemas.microsoft.com/office/drawing/2014/main" id="{73CCBE2A-D0DC-4D41-B8F7-A6B0F5ADC387}"/>
              </a:ext>
            </a:extLst>
          </p:cNvPr>
          <p:cNvSpPr>
            <a:spLocks xmlns:a="http://schemas.openxmlformats.org/drawingml/2006/main" noGrp="1"/>
          </p:cNvSpPr>
          <p:nvPr/>
        </p:nvSpPr>
        <p:spPr>
          <a:xfrm xmlns:a="http://schemas.openxmlformats.org/drawingml/2006/main">
            <a:off x="4539386" y="2231136"/>
            <a:ext cx="3112922"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Marketing, prospecting and campaign management with segmentation and campaign lifecycle</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Mobile relationship-manager enablement across managed devices on both mobile platforms</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Account opening with automated control-function approvals — legal, compliance and Sharia</a:t>
            </a:r>
            <a:endParaRPr sz="950"/>
          </a:p>
        </p:txBody>
      </p:sp>
      <p:sp>
        <p:nvSpPr>
          <p:cNvPr id="12" name="Shape 10">
            <a:extLst xmlns:a="http://schemas.openxmlformats.org/drawingml/2006/main">
              <a:ext uri="{FF2B5EF4-FFF2-40B4-BE49-F238E27FC236}">
                <a16:creationId xmlns:a16="http://schemas.microsoft.com/office/drawing/2014/main" id="{F2D5F13A-7A82-44F6-9EE8-DA093340B5D9}"/>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54E1327F-C1C7-4EA5-A3D7-BB5E8ECF1593}"/>
              </a:ext>
            </a:extLst>
          </p:cNvPr>
          <p:cNvSpPr>
            <a:spLocks xmlns:a="http://schemas.openxmlformats.org/drawingml/2006/main" noGrp="1"/>
          </p:cNvSpPr>
          <p:nvPr/>
        </p:nvSpPr>
        <p:spPr>
          <a:xfrm xmlns:a="http://schemas.openxmlformats.org/drawingml/2006/main">
            <a:off x="8292389" y="1517904"/>
            <a:ext cx="311292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50" b="1">
                <a:solidFill>
                  <a:srgbClr val="486581"/>
                </a:solidFill>
                <a:latin typeface="Arial"/>
                <a:ea typeface="Arial"/>
                <a:cs typeface="Arial"/>
              </a:rPr>
              <a:t>Governance extensions</a:t>
            </a:r>
            <a:endParaRPr sz="1250"/>
          </a:p>
          <a:p xmlns:a="http://schemas.openxmlformats.org/drawingml/2006/main">
            <a:pPr marL="0" indent="0" algn="l">
              <a:lnSpc>
                <a:spcPts val="1500"/>
              </a:lnSpc>
              <a:buNone/>
            </a:pPr>
            <a:r>
              <a:rPr sz="1250" b="1">
                <a:solidFill>
                  <a:srgbClr val="486581"/>
                </a:solidFill>
                <a:latin typeface="Arial"/>
                <a:ea typeface="Arial"/>
                <a:cs typeface="Arial"/>
              </a:rPr>
              <a:t>programmes 7–8</a:t>
            </a:r>
            <a:endParaRPr sz="1250"/>
          </a:p>
        </p:txBody>
      </p:sp>
      <p:sp>
        <p:nvSpPr>
          <p:cNvPr id="14" name="Shape 12">
            <a:extLst xmlns:a="http://schemas.openxmlformats.org/drawingml/2006/main">
              <a:ext uri="{FF2B5EF4-FFF2-40B4-BE49-F238E27FC236}">
                <a16:creationId xmlns:a16="http://schemas.microsoft.com/office/drawing/2014/main" id="{5FC320A5-B3EC-4DD7-B40E-8A2D0A2C499E}"/>
              </a:ext>
            </a:extLst>
          </p:cNvPr>
          <p:cNvSpPr>
            <a:spLocks xmlns:a="http://schemas.openxmlformats.org/drawingml/2006/main" noGrp="1"/>
          </p:cNvSpPr>
          <p:nvPr/>
        </p:nvSpPr>
        <p:spPr>
          <a:xfrm xmlns:a="http://schemas.openxmlformats.org/drawingml/2006/main">
            <a:off x="8292389" y="2103120"/>
            <a:ext cx="3112922" cy="13716"/>
          </a:xfrm>
          <a:prstGeom xmlns:a="http://schemas.openxmlformats.org/drawingml/2006/main" prst="rect">
            <a:avLst/>
          </a:prstGeom>
          <a:solidFill xmlns:a="http://schemas.openxmlformats.org/drawingml/2006/main">
            <a:srgbClr val="C6D2DE"/>
          </a:solidFill>
        </p:spPr>
      </p:sp>
      <p:sp>
        <p:nvSpPr>
          <p:cNvPr id="15" name="Text 13">
            <a:extLst xmlns:a="http://schemas.openxmlformats.org/drawingml/2006/main">
              <a:ext uri="{FF2B5EF4-FFF2-40B4-BE49-F238E27FC236}">
                <a16:creationId xmlns:a16="http://schemas.microsoft.com/office/drawing/2014/main" id="{562A3D6B-7844-480D-949E-3B5B5C5D1D81}"/>
              </a:ext>
            </a:extLst>
          </p:cNvPr>
          <p:cNvSpPr>
            <a:spLocks xmlns:a="http://schemas.openxmlformats.org/drawingml/2006/main" noGrp="1"/>
          </p:cNvSpPr>
          <p:nvPr/>
        </p:nvSpPr>
        <p:spPr>
          <a:xfrm xmlns:a="http://schemas.openxmlformats.org/drawingml/2006/main">
            <a:off x="8292389" y="2231136"/>
            <a:ext cx="3112922"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Target setting and strategic account planning — planned against actual, wallet share, seasonality</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Early-warning integration and risk-alert governance, with human review and justification</a:t>
            </a:r>
            <a:endParaRPr sz="950"/>
          </a:p>
        </p:txBody>
      </p:sp>
      <p:sp>
        <p:nvSpPr>
          <p:cNvPr id="16" name="Text 14">
            <a:extLst xmlns:a="http://schemas.openxmlformats.org/drawingml/2006/main">
              <a:ext uri="{FF2B5EF4-FFF2-40B4-BE49-F238E27FC236}">
                <a16:creationId xmlns:a16="http://schemas.microsoft.com/office/drawing/2014/main" id="{F5016760-6FAD-4BEF-902B-8F658962F724}"/>
              </a:ext>
            </a:extLst>
          </p:cNvPr>
          <p:cNvSpPr>
            <a:spLocks xmlns:a="http://schemas.openxmlformats.org/drawingml/2006/main" noGrp="1"/>
          </p:cNvSpPr>
          <p:nvPr/>
        </p:nvSpPr>
        <p:spPr>
          <a:xfrm xmlns:a="http://schemas.openxmlformats.org/drawingml/2006/main">
            <a:off x="566928"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Customer 360 had to be first</a:t>
            </a:r>
            <a:endParaRPr sz="1100"/>
          </a:p>
        </p:txBody>
      </p:sp>
      <p:sp>
        <p:nvSpPr>
          <p:cNvPr id="17" name="Shape 15">
            <a:extLst xmlns:a="http://schemas.openxmlformats.org/drawingml/2006/main">
              <a:ext uri="{FF2B5EF4-FFF2-40B4-BE49-F238E27FC236}">
                <a16:creationId xmlns:a16="http://schemas.microsoft.com/office/drawing/2014/main" id="{3804908D-20B0-4F00-A580-63F41E163D71}"/>
              </a:ext>
            </a:extLst>
          </p:cNvPr>
          <p:cNvSpPr>
            <a:spLocks xmlns:a="http://schemas.openxmlformats.org/drawingml/2006/main" noGrp="1"/>
          </p:cNvSpPr>
          <p:nvPr/>
        </p:nvSpPr>
        <p:spPr>
          <a:xfrm xmlns:a="http://schemas.openxmlformats.org/drawingml/2006/main">
            <a:off x="566928" y="4334256"/>
            <a:ext cx="3551834" cy="20117"/>
          </a:xfrm>
          <a:prstGeom xmlns:a="http://schemas.openxmlformats.org/drawingml/2006/main" prst="rect">
            <a:avLst/>
          </a:prstGeom>
          <a:solidFill xmlns:a="http://schemas.openxmlformats.org/drawingml/2006/main">
            <a:srgbClr val="B04A25"/>
          </a:solidFill>
        </p:spPr>
      </p:sp>
      <p:sp>
        <p:nvSpPr>
          <p:cNvPr id="18" name="Text 16">
            <a:extLst xmlns:a="http://schemas.openxmlformats.org/drawingml/2006/main">
              <a:ext uri="{FF2B5EF4-FFF2-40B4-BE49-F238E27FC236}">
                <a16:creationId xmlns:a16="http://schemas.microsoft.com/office/drawing/2014/main" id="{90844871-30A2-4202-87BD-D8FF675F5B17}"/>
              </a:ext>
            </a:extLst>
          </p:cNvPr>
          <p:cNvSpPr>
            <a:spLocks xmlns:a="http://schemas.openxmlformats.org/drawingml/2006/main" noGrp="1"/>
          </p:cNvSpPr>
          <p:nvPr/>
        </p:nvSpPr>
        <p:spPr>
          <a:xfrm xmlns:a="http://schemas.openxmlformats.org/drawingml/2006/main">
            <a:off x="566928"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Every subsequent programme needed a customer, a group hierarchy and an entitlement model.</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Built second, it would have had to reconcile with whatever the first programme invented.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It is the only programme in the list with no useful business case of its own — which is exactly why it is usually sequenced last.</a:t>
            </a:r>
            <a:endParaRPr sz="950"/>
          </a:p>
        </p:txBody>
      </p:sp>
      <p:sp>
        <p:nvSpPr>
          <p:cNvPr id="19" name="Text 17">
            <a:extLst xmlns:a="http://schemas.openxmlformats.org/drawingml/2006/main">
              <a:ext uri="{FF2B5EF4-FFF2-40B4-BE49-F238E27FC236}">
                <a16:creationId xmlns:a16="http://schemas.microsoft.com/office/drawing/2014/main" id="{742BB28D-B6AF-42C7-B908-936648C3B8B5}"/>
              </a:ext>
            </a:extLst>
          </p:cNvPr>
          <p:cNvSpPr>
            <a:spLocks xmlns:a="http://schemas.openxmlformats.org/drawingml/2006/main" noGrp="1"/>
          </p:cNvSpPr>
          <p:nvPr/>
        </p:nvSpPr>
        <p:spPr>
          <a:xfrm xmlns:a="http://schemas.openxmlformats.org/drawingml/2006/main">
            <a:off x="4319930"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approvals had to be second</a:t>
            </a:r>
            <a:endParaRPr sz="1100"/>
          </a:p>
        </p:txBody>
      </p:sp>
      <p:sp>
        <p:nvSpPr>
          <p:cNvPr id="20" name="Shape 18">
            <a:extLst xmlns:a="http://schemas.openxmlformats.org/drawingml/2006/main">
              <a:ext uri="{FF2B5EF4-FFF2-40B4-BE49-F238E27FC236}">
                <a16:creationId xmlns:a16="http://schemas.microsoft.com/office/drawing/2014/main" id="{07951AFC-C8DC-46BC-A42B-064149C4C81D}"/>
              </a:ext>
            </a:extLst>
          </p:cNvPr>
          <p:cNvSpPr>
            <a:spLocks xmlns:a="http://schemas.openxmlformats.org/drawingml/2006/main" noGrp="1"/>
          </p:cNvSpPr>
          <p:nvPr/>
        </p:nvSpPr>
        <p:spPr>
          <a:xfrm xmlns:a="http://schemas.openxmlformats.org/drawingml/2006/main">
            <a:off x="4319930" y="4334256"/>
            <a:ext cx="3551834" cy="20117"/>
          </a:xfrm>
          <a:prstGeom xmlns:a="http://schemas.openxmlformats.org/drawingml/2006/main" prst="rect">
            <a:avLst/>
          </a:prstGeom>
          <a:solidFill xmlns:a="http://schemas.openxmlformats.org/drawingml/2006/main">
            <a:srgbClr val="102A43"/>
          </a:solidFill>
        </p:spPr>
      </p:sp>
      <p:sp>
        <p:nvSpPr>
          <p:cNvPr id="21" name="Text 19">
            <a:extLst xmlns:a="http://schemas.openxmlformats.org/drawingml/2006/main">
              <a:ext uri="{FF2B5EF4-FFF2-40B4-BE49-F238E27FC236}">
                <a16:creationId xmlns:a16="http://schemas.microsoft.com/office/drawing/2014/main" id="{5CABBDFE-2640-49DC-8C1B-F6607D9522B6}"/>
              </a:ext>
            </a:extLst>
          </p:cNvPr>
          <p:cNvSpPr>
            <a:spLocks xmlns:a="http://schemas.openxmlformats.org/drawingml/2006/main" noGrp="1"/>
          </p:cNvSpPr>
          <p:nvPr/>
        </p:nvSpPr>
        <p:spPr>
          <a:xfrm xmlns:a="http://schemas.openxmlformats.org/drawingml/2006/main">
            <a:off x="4319930"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Account opening, deal management and early warning all need a control-function decision recorded and evidenced.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Building the parallel-approval engine once, in the programme that most needed it, meant three later programmes inherited it.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alternative is three approval workflows with three audit trails.</a:t>
            </a:r>
            <a:endParaRPr sz="950"/>
          </a:p>
        </p:txBody>
      </p:sp>
      <p:sp>
        <p:nvSpPr>
          <p:cNvPr id="22" name="Text 20">
            <a:extLst xmlns:a="http://schemas.openxmlformats.org/drawingml/2006/main">
              <a:ext uri="{FF2B5EF4-FFF2-40B4-BE49-F238E27FC236}">
                <a16:creationId xmlns:a16="http://schemas.microsoft.com/office/drawing/2014/main" id="{EA07B53F-83D5-4E5B-88D7-09C86002B00A}"/>
              </a:ext>
            </a:extLst>
          </p:cNvPr>
          <p:cNvSpPr>
            <a:spLocks xmlns:a="http://schemas.openxmlformats.org/drawingml/2006/main" noGrp="1"/>
          </p:cNvSpPr>
          <p:nvPr/>
        </p:nvSpPr>
        <p:spPr>
          <a:xfrm xmlns:a="http://schemas.openxmlformats.org/drawingml/2006/main">
            <a:off x="8072933" y="40782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What that left for the rest</a:t>
            </a:r>
            <a:endParaRPr sz="1100"/>
          </a:p>
        </p:txBody>
      </p:sp>
      <p:sp>
        <p:nvSpPr>
          <p:cNvPr id="23" name="Shape 21">
            <a:extLst xmlns:a="http://schemas.openxmlformats.org/drawingml/2006/main">
              <a:ext uri="{FF2B5EF4-FFF2-40B4-BE49-F238E27FC236}">
                <a16:creationId xmlns:a16="http://schemas.microsoft.com/office/drawing/2014/main" id="{B9B1321D-7B9E-4105-BAE4-FDCDCB1CC810}"/>
              </a:ext>
            </a:extLst>
          </p:cNvPr>
          <p:cNvSpPr>
            <a:spLocks xmlns:a="http://schemas.openxmlformats.org/drawingml/2006/main" noGrp="1"/>
          </p:cNvSpPr>
          <p:nvPr/>
        </p:nvSpPr>
        <p:spPr>
          <a:xfrm xmlns:a="http://schemas.openxmlformats.org/drawingml/2006/main">
            <a:off x="8072933" y="4334256"/>
            <a:ext cx="3551834" cy="20117"/>
          </a:xfrm>
          <a:prstGeom xmlns:a="http://schemas.openxmlformats.org/drawingml/2006/main" prst="rect">
            <a:avLst/>
          </a:prstGeom>
          <a:solidFill xmlns:a="http://schemas.openxmlformats.org/drawingml/2006/main">
            <a:srgbClr val="27685A"/>
          </a:solidFill>
        </p:spPr>
      </p:sp>
      <p:sp>
        <p:nvSpPr>
          <p:cNvPr id="24" name="Text 22">
            <a:extLst xmlns:a="http://schemas.openxmlformats.org/drawingml/2006/main">
              <a:ext uri="{FF2B5EF4-FFF2-40B4-BE49-F238E27FC236}">
                <a16:creationId xmlns:a16="http://schemas.microsoft.com/office/drawing/2014/main" id="{080E50D1-4D34-4A9F-ACC0-0B311C652A62}"/>
              </a:ext>
            </a:extLst>
          </p:cNvPr>
          <p:cNvSpPr>
            <a:spLocks xmlns:a="http://schemas.openxmlformats.org/drawingml/2006/main" noGrp="1"/>
          </p:cNvSpPr>
          <p:nvPr/>
        </p:nvSpPr>
        <p:spPr>
          <a:xfrm xmlns:a="http://schemas.openxmlformats.org/drawingml/2006/main">
            <a:off x="8072933" y="446227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Campaigns, mobility, planning and early warning each contributed their own domain logic and almost nothing else.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Each still had a real business case and a real sponsor — the reuse was invisible to them.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That invisibility is the point: sponsors fund outcomes, not spines.</a:t>
            </a:r>
            <a:endParaRPr sz="950"/>
          </a:p>
        </p:txBody>
      </p:sp>
      <p:sp>
        <p:nvSpPr>
          <p:cNvPr id="25" name="Shape 23">
            <a:extLst xmlns:a="http://schemas.openxmlformats.org/drawingml/2006/main">
              <a:ext uri="{FF2B5EF4-FFF2-40B4-BE49-F238E27FC236}">
                <a16:creationId xmlns:a16="http://schemas.microsoft.com/office/drawing/2014/main" id="{F1AB2C1A-8030-45A6-A2DE-107BC2F3F39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6" name="Text 24">
            <a:extLst xmlns:a="http://schemas.openxmlformats.org/drawingml/2006/main">
              <a:ext uri="{FF2B5EF4-FFF2-40B4-BE49-F238E27FC236}">
                <a16:creationId xmlns:a16="http://schemas.microsoft.com/office/drawing/2014/main" id="{21EE611A-D93A-41AD-B1A7-92330460619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2018–2020 engagement · author's analysis</a:t>
            </a:r>
            <a:endParaRPr sz="850"/>
          </a:p>
        </p:txBody>
      </p:sp>
      <p:sp>
        <p:nvSpPr>
          <p:cNvPr id="27" name="Text 25">
            <a:extLst xmlns:a="http://schemas.openxmlformats.org/drawingml/2006/main">
              <a:ext uri="{FF2B5EF4-FFF2-40B4-BE49-F238E27FC236}">
                <a16:creationId xmlns:a16="http://schemas.microsoft.com/office/drawing/2014/main" id="{DB58CD7C-BB3F-4CDC-AA0C-C75010735A3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2084183782"/>
      </p:ext>
    </p:extLst>
  </p:cSld>
</p:sld>
</file>

<file path=ppt/slides/slide17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CD742E-868E-442B-BBF8-D25DD23AF59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COMPOUNDING</a:t>
            </a:r>
            <a:endParaRPr sz="950"/>
          </a:p>
        </p:txBody>
      </p:sp>
      <p:sp>
        <p:nvSpPr>
          <p:cNvPr id="3" name="Text 1">
            <a:extLst xmlns:a="http://schemas.openxmlformats.org/drawingml/2006/main">
              <a:ext uri="{FF2B5EF4-FFF2-40B4-BE49-F238E27FC236}">
                <a16:creationId xmlns:a16="http://schemas.microsoft.com/office/drawing/2014/main" id="{C43C758C-4724-4103-9CB6-25E9CD2B4DC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By programme six most of what a new programme needed already existed — the</a:t>
            </a:r>
            <a:endParaRPr sz="1900"/>
          </a:p>
          <a:p xmlns:a="http://schemas.openxmlformats.org/drawingml/2006/main">
            <a:pPr marL="0" indent="0">
              <a:lnSpc>
                <a:spcPts val="2400"/>
              </a:lnSpc>
              <a:buNone/>
            </a:pPr>
            <a:r>
              <a:rPr sz="1900" b="1">
                <a:solidFill>
                  <a:srgbClr val="102A43"/>
                </a:solidFill>
                <a:latin typeface="Arial"/>
                <a:ea typeface="Arial"/>
                <a:cs typeface="Arial"/>
              </a:rPr>
              <a:t>reuse share rose faster than the scope fell</a:t>
            </a:r>
            <a:endParaRPr sz="1900"/>
          </a:p>
        </p:txBody>
      </p:sp>
      <p:graphicFrame>
        <p:nvGraphicFramePr>
          <p:cNvPr id="30" name="Chart 0"/>
          <p:cNvGraphicFramePr/>
          <p:nvPr/>
        </p:nvGraphicFramePr>
        <p:xfrm>
          <a:off xmlns:a="http://schemas.openxmlformats.org/drawingml/2006/main" x="566928" y="1426464"/>
          <a:ext xmlns:a="http://schemas.openxmlformats.org/drawingml/2006/main" cx="6766560" cy="2834640"/>
        </p:xfrm>
        <a:graphic xmlns:a="http://schemas.openxmlformats.org/drawingml/2006/main">
          <a:graphicData uri="http://schemas.openxmlformats.org/drawingml/2006/chart">
            <c:chart xmlns:r="http://schemas.openxmlformats.org/officeDocument/2006/relationships" xmlns:c="http://schemas.openxmlformats.org/drawingml/2006/chart" r:id="R5a6c2655ccd74207"/>
          </a:graphicData>
        </a:graphic>
      </p:graphicFrame>
      <p:sp>
        <p:nvSpPr>
          <p:cNvPr id="5" name="Text 2">
            <a:extLst xmlns:a="http://schemas.openxmlformats.org/drawingml/2006/main">
              <a:ext uri="{FF2B5EF4-FFF2-40B4-BE49-F238E27FC236}">
                <a16:creationId xmlns:a16="http://schemas.microsoft.com/office/drawing/2014/main" id="{2B254CDB-3CA6-4A60-89F8-E7A0243C5E69}"/>
              </a:ext>
            </a:extLst>
          </p:cNvPr>
          <p:cNvSpPr>
            <a:spLocks xmlns:a="http://schemas.openxmlformats.org/drawingml/2006/main" noGrp="1"/>
          </p:cNvSpPr>
          <p:nvPr/>
        </p:nvSpPr>
        <p:spPr>
          <a:xfrm xmlns:a="http://schemas.openxmlformats.org/drawingml/2006/main">
            <a:off x="566928" y="4334256"/>
            <a:ext cx="6766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effort index per programme — spine investment concentrated in the first two</a:t>
            </a:r>
            <a:endParaRPr sz="880"/>
          </a:p>
        </p:txBody>
      </p:sp>
      <p:sp>
        <p:nvSpPr>
          <p:cNvPr id="6" name="Shape 3">
            <a:extLst xmlns:a="http://schemas.openxmlformats.org/drawingml/2006/main">
              <a:ext uri="{FF2B5EF4-FFF2-40B4-BE49-F238E27FC236}">
                <a16:creationId xmlns:a16="http://schemas.microsoft.com/office/drawing/2014/main" id="{DE4FD2CC-60EE-457B-86D6-0139F583D5F8}"/>
              </a:ext>
            </a:extLst>
          </p:cNvPr>
          <p:cNvSpPr>
            <a:spLocks xmlns:a="http://schemas.openxmlformats.org/drawingml/2006/main" noGrp="1"/>
          </p:cNvSpPr>
          <p:nvPr/>
        </p:nvSpPr>
        <p:spPr>
          <a:xfrm xmlns:a="http://schemas.openxmlformats.org/drawingml/2006/main">
            <a:off x="7699248" y="1426464"/>
            <a:ext cx="1892808" cy="877824"/>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F214C9C3-BC74-44D2-86CE-DAEA12D36EE9}"/>
              </a:ext>
            </a:extLst>
          </p:cNvPr>
          <p:cNvSpPr>
            <a:spLocks xmlns:a="http://schemas.openxmlformats.org/drawingml/2006/main" noGrp="1"/>
          </p:cNvSpPr>
          <p:nvPr/>
        </p:nvSpPr>
        <p:spPr>
          <a:xfrm xmlns:a="http://schemas.openxmlformats.org/drawingml/2006/main">
            <a:off x="7827264" y="1545336"/>
            <a:ext cx="163677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85</a:t>
            </a:r>
            <a:endParaRPr sz="2100"/>
          </a:p>
        </p:txBody>
      </p:sp>
      <p:sp>
        <p:nvSpPr>
          <p:cNvPr id="8" name="Text 5">
            <a:extLst xmlns:a="http://schemas.openxmlformats.org/drawingml/2006/main">
              <a:ext uri="{FF2B5EF4-FFF2-40B4-BE49-F238E27FC236}">
                <a16:creationId xmlns:a16="http://schemas.microsoft.com/office/drawing/2014/main" id="{0031916E-C64D-4EA2-ACF3-D9D5226A227B}"/>
              </a:ext>
            </a:extLst>
          </p:cNvPr>
          <p:cNvSpPr>
            <a:spLocks xmlns:a="http://schemas.openxmlformats.org/drawingml/2006/main" noGrp="1"/>
          </p:cNvSpPr>
          <p:nvPr/>
        </p:nvSpPr>
        <p:spPr>
          <a:xfrm xmlns:a="http://schemas.openxmlformats.org/drawingml/2006/main">
            <a:off x="7827264" y="1938528"/>
            <a:ext cx="1636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effort index,</a:t>
            </a:r>
            <a:endParaRPr sz="860"/>
          </a:p>
          <a:p xmlns:a="http://schemas.openxmlformats.org/drawingml/2006/main">
            <a:pPr marL="0" indent="0">
              <a:lnSpc>
                <a:spcPts val="1050"/>
              </a:lnSpc>
              <a:buNone/>
            </a:pPr>
            <a:r>
              <a:rPr sz="860">
                <a:solidFill>
                  <a:srgbClr val="486581"/>
                </a:solidFill>
                <a:latin typeface="Arial"/>
                <a:ea typeface="Arial"/>
                <a:cs typeface="Arial"/>
              </a:rPr>
              <a:t>programme one</a:t>
            </a:r>
            <a:endParaRPr sz="860"/>
          </a:p>
        </p:txBody>
      </p:sp>
      <p:sp>
        <p:nvSpPr>
          <p:cNvPr id="9" name="Shape 6">
            <a:extLst xmlns:a="http://schemas.openxmlformats.org/drawingml/2006/main">
              <a:ext uri="{FF2B5EF4-FFF2-40B4-BE49-F238E27FC236}">
                <a16:creationId xmlns:a16="http://schemas.microsoft.com/office/drawing/2014/main" id="{A96539F5-704A-4FAC-8652-EA449929B40A}"/>
              </a:ext>
            </a:extLst>
          </p:cNvPr>
          <p:cNvSpPr>
            <a:spLocks xmlns:a="http://schemas.openxmlformats.org/drawingml/2006/main" noGrp="1"/>
          </p:cNvSpPr>
          <p:nvPr/>
        </p:nvSpPr>
        <p:spPr>
          <a:xfrm xmlns:a="http://schemas.openxmlformats.org/drawingml/2006/main">
            <a:off x="9729216" y="1426464"/>
            <a:ext cx="1892808" cy="877824"/>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83C44BFB-B1EA-4F1A-AC14-21537123F3E8}"/>
              </a:ext>
            </a:extLst>
          </p:cNvPr>
          <p:cNvSpPr>
            <a:spLocks xmlns:a="http://schemas.openxmlformats.org/drawingml/2006/main" noGrp="1"/>
          </p:cNvSpPr>
          <p:nvPr/>
        </p:nvSpPr>
        <p:spPr>
          <a:xfrm xmlns:a="http://schemas.openxmlformats.org/drawingml/2006/main">
            <a:off x="9857232" y="1545336"/>
            <a:ext cx="163677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30</a:t>
            </a:r>
            <a:endParaRPr sz="2100"/>
          </a:p>
        </p:txBody>
      </p:sp>
      <p:sp>
        <p:nvSpPr>
          <p:cNvPr id="11" name="Text 8">
            <a:extLst xmlns:a="http://schemas.openxmlformats.org/drawingml/2006/main">
              <a:ext uri="{FF2B5EF4-FFF2-40B4-BE49-F238E27FC236}">
                <a16:creationId xmlns:a16="http://schemas.microsoft.com/office/drawing/2014/main" id="{ADE24BEE-3451-49E0-B9DF-CC6865D13014}"/>
              </a:ext>
            </a:extLst>
          </p:cNvPr>
          <p:cNvSpPr>
            <a:spLocks xmlns:a="http://schemas.openxmlformats.org/drawingml/2006/main" noGrp="1"/>
          </p:cNvSpPr>
          <p:nvPr/>
        </p:nvSpPr>
        <p:spPr>
          <a:xfrm xmlns:a="http://schemas.openxmlformats.org/drawingml/2006/main">
            <a:off x="9857232" y="1938528"/>
            <a:ext cx="1636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effort index,</a:t>
            </a:r>
            <a:endParaRPr sz="860"/>
          </a:p>
          <a:p xmlns:a="http://schemas.openxmlformats.org/drawingml/2006/main">
            <a:pPr marL="0" indent="0">
              <a:lnSpc>
                <a:spcPts val="1050"/>
              </a:lnSpc>
              <a:buNone/>
            </a:pPr>
            <a:r>
              <a:rPr sz="860">
                <a:solidFill>
                  <a:srgbClr val="486581"/>
                </a:solidFill>
                <a:latin typeface="Arial"/>
                <a:ea typeface="Arial"/>
                <a:cs typeface="Arial"/>
              </a:rPr>
              <a:t>programme eight</a:t>
            </a:r>
            <a:endParaRPr sz="860"/>
          </a:p>
        </p:txBody>
      </p:sp>
      <p:sp>
        <p:nvSpPr>
          <p:cNvPr id="12" name="Shape 9">
            <a:extLst xmlns:a="http://schemas.openxmlformats.org/drawingml/2006/main">
              <a:ext uri="{FF2B5EF4-FFF2-40B4-BE49-F238E27FC236}">
                <a16:creationId xmlns:a16="http://schemas.microsoft.com/office/drawing/2014/main" id="{F1E1EB16-9291-4D20-86DC-5E84EE704AB8}"/>
              </a:ext>
            </a:extLst>
          </p:cNvPr>
          <p:cNvSpPr>
            <a:spLocks xmlns:a="http://schemas.openxmlformats.org/drawingml/2006/main" noGrp="1"/>
          </p:cNvSpPr>
          <p:nvPr/>
        </p:nvSpPr>
        <p:spPr>
          <a:xfrm xmlns:a="http://schemas.openxmlformats.org/drawingml/2006/main">
            <a:off x="7699248" y="2395728"/>
            <a:ext cx="1892808" cy="877824"/>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5C1093F5-64E7-45DF-8CC1-1BACA89B9BFF}"/>
              </a:ext>
            </a:extLst>
          </p:cNvPr>
          <p:cNvSpPr>
            <a:spLocks xmlns:a="http://schemas.openxmlformats.org/drawingml/2006/main" noGrp="1"/>
          </p:cNvSpPr>
          <p:nvPr/>
        </p:nvSpPr>
        <p:spPr>
          <a:xfrm xmlns:a="http://schemas.openxmlformats.org/drawingml/2006/main">
            <a:off x="7827264" y="2514600"/>
            <a:ext cx="163677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2</a:t>
            </a:r>
            <a:endParaRPr sz="2100"/>
          </a:p>
        </p:txBody>
      </p:sp>
      <p:sp>
        <p:nvSpPr>
          <p:cNvPr id="14" name="Text 11">
            <a:extLst xmlns:a="http://schemas.openxmlformats.org/drawingml/2006/main">
              <a:ext uri="{FF2B5EF4-FFF2-40B4-BE49-F238E27FC236}">
                <a16:creationId xmlns:a16="http://schemas.microsoft.com/office/drawing/2014/main" id="{592E922A-7837-45EE-A52B-22091B10FC68}"/>
              </a:ext>
            </a:extLst>
          </p:cNvPr>
          <p:cNvSpPr>
            <a:spLocks xmlns:a="http://schemas.openxmlformats.org/drawingml/2006/main" noGrp="1"/>
          </p:cNvSpPr>
          <p:nvPr/>
        </p:nvSpPr>
        <p:spPr>
          <a:xfrm xmlns:a="http://schemas.openxmlformats.org/drawingml/2006/main">
            <a:off x="7827264" y="2907792"/>
            <a:ext cx="1636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spines built,</a:t>
            </a:r>
            <a:endParaRPr sz="860"/>
          </a:p>
          <a:p xmlns:a="http://schemas.openxmlformats.org/drawingml/2006/main">
            <a:pPr marL="0" indent="0">
              <a:lnSpc>
                <a:spcPts val="1050"/>
              </a:lnSpc>
              <a:buNone/>
            </a:pPr>
            <a:r>
              <a:rPr sz="860">
                <a:solidFill>
                  <a:srgbClr val="486581"/>
                </a:solidFill>
                <a:latin typeface="Arial"/>
                <a:ea typeface="Arial"/>
                <a:cs typeface="Arial"/>
              </a:rPr>
              <a:t>not eight</a:t>
            </a:r>
            <a:endParaRPr sz="860"/>
          </a:p>
        </p:txBody>
      </p:sp>
      <p:sp>
        <p:nvSpPr>
          <p:cNvPr id="15" name="Shape 12">
            <a:extLst xmlns:a="http://schemas.openxmlformats.org/drawingml/2006/main">
              <a:ext uri="{FF2B5EF4-FFF2-40B4-BE49-F238E27FC236}">
                <a16:creationId xmlns:a16="http://schemas.microsoft.com/office/drawing/2014/main" id="{9E365D5A-0DE1-4DB1-AFA9-FDB5A052A5F2}"/>
              </a:ext>
            </a:extLst>
          </p:cNvPr>
          <p:cNvSpPr>
            <a:spLocks xmlns:a="http://schemas.openxmlformats.org/drawingml/2006/main" noGrp="1"/>
          </p:cNvSpPr>
          <p:nvPr/>
        </p:nvSpPr>
        <p:spPr>
          <a:xfrm xmlns:a="http://schemas.openxmlformats.org/drawingml/2006/main">
            <a:off x="9729216" y="2395728"/>
            <a:ext cx="1892808" cy="877824"/>
          </a:xfrm>
          <a:prstGeom xmlns:a="http://schemas.openxmlformats.org/drawingml/2006/main" prst="rect">
            <a:avLst/>
          </a:prstGeom>
          <a:solidFill xmlns:a="http://schemas.openxmlformats.org/drawingml/2006/main">
            <a:srgbClr val="F0F4F8"/>
          </a:solidFill>
        </p:spPr>
      </p:sp>
      <p:sp>
        <p:nvSpPr>
          <p:cNvPr id="16" name="Text 13">
            <a:extLst xmlns:a="http://schemas.openxmlformats.org/drawingml/2006/main">
              <a:ext uri="{FF2B5EF4-FFF2-40B4-BE49-F238E27FC236}">
                <a16:creationId xmlns:a16="http://schemas.microsoft.com/office/drawing/2014/main" id="{404C46D9-A3EE-4C8E-B128-1BF0D98519C5}"/>
              </a:ext>
            </a:extLst>
          </p:cNvPr>
          <p:cNvSpPr>
            <a:spLocks xmlns:a="http://schemas.openxmlformats.org/drawingml/2006/main" noGrp="1"/>
          </p:cNvSpPr>
          <p:nvPr/>
        </p:nvSpPr>
        <p:spPr>
          <a:xfrm xmlns:a="http://schemas.openxmlformats.org/drawingml/2006/main">
            <a:off x="9857232" y="2514600"/>
            <a:ext cx="163677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114</a:t>
            </a:r>
            <a:endParaRPr sz="2100"/>
          </a:p>
        </p:txBody>
      </p:sp>
      <p:sp>
        <p:nvSpPr>
          <p:cNvPr id="17" name="Text 14">
            <a:extLst xmlns:a="http://schemas.openxmlformats.org/drawingml/2006/main">
              <a:ext uri="{FF2B5EF4-FFF2-40B4-BE49-F238E27FC236}">
                <a16:creationId xmlns:a16="http://schemas.microsoft.com/office/drawing/2014/main" id="{EAFBCBDA-B8AF-4900-B88E-B51E78535F51}"/>
              </a:ext>
            </a:extLst>
          </p:cNvPr>
          <p:cNvSpPr>
            <a:spLocks xmlns:a="http://schemas.openxmlformats.org/drawingml/2006/main" noGrp="1"/>
          </p:cNvSpPr>
          <p:nvPr/>
        </p:nvSpPr>
        <p:spPr>
          <a:xfrm xmlns:a="http://schemas.openxmlformats.org/drawingml/2006/main">
            <a:off x="9857232" y="2907792"/>
            <a:ext cx="1636776"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spine units</a:t>
            </a:r>
            <a:endParaRPr sz="860"/>
          </a:p>
          <a:p xmlns:a="http://schemas.openxmlformats.org/drawingml/2006/main">
            <a:pPr marL="0" indent="0">
              <a:lnSpc>
                <a:spcPts val="1050"/>
              </a:lnSpc>
              <a:buNone/>
            </a:pPr>
            <a:r>
              <a:rPr sz="860">
                <a:solidFill>
                  <a:srgbClr val="486581"/>
                </a:solidFill>
                <a:latin typeface="Arial"/>
                <a:ea typeface="Arial"/>
                <a:cs typeface="Arial"/>
              </a:rPr>
              <a:t>invested total</a:t>
            </a:r>
            <a:endParaRPr sz="860"/>
          </a:p>
        </p:txBody>
      </p:sp>
      <p:sp>
        <p:nvSpPr>
          <p:cNvPr id="18" name="Text 15">
            <a:extLst xmlns:a="http://schemas.openxmlformats.org/drawingml/2006/main">
              <a:ext uri="{FF2B5EF4-FFF2-40B4-BE49-F238E27FC236}">
                <a16:creationId xmlns:a16="http://schemas.microsoft.com/office/drawing/2014/main" id="{D41C428B-0848-46CC-A709-507E82B7D0CF}"/>
              </a:ext>
            </a:extLst>
          </p:cNvPr>
          <p:cNvSpPr>
            <a:spLocks xmlns:a="http://schemas.openxmlformats.org/drawingml/2006/main" noGrp="1"/>
          </p:cNvSpPr>
          <p:nvPr/>
        </p:nvSpPr>
        <p:spPr>
          <a:xfrm xmlns:a="http://schemas.openxmlformats.org/drawingml/2006/main">
            <a:off x="7699248" y="3438144"/>
            <a:ext cx="392277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curve does and does not show</a:t>
            </a:r>
            <a:endParaRPr sz="1100"/>
          </a:p>
        </p:txBody>
      </p:sp>
      <p:sp>
        <p:nvSpPr>
          <p:cNvPr id="19" name="Shape 16">
            <a:extLst xmlns:a="http://schemas.openxmlformats.org/drawingml/2006/main">
              <a:ext uri="{FF2B5EF4-FFF2-40B4-BE49-F238E27FC236}">
                <a16:creationId xmlns:a16="http://schemas.microsoft.com/office/drawing/2014/main" id="{A47AE001-9DB2-4C0B-9191-1216E89A20C9}"/>
              </a:ext>
            </a:extLst>
          </p:cNvPr>
          <p:cNvSpPr>
            <a:spLocks xmlns:a="http://schemas.openxmlformats.org/drawingml/2006/main" noGrp="1"/>
          </p:cNvSpPr>
          <p:nvPr/>
        </p:nvSpPr>
        <p:spPr>
          <a:xfrm xmlns:a="http://schemas.openxmlformats.org/drawingml/2006/main">
            <a:off x="7699248" y="3694176"/>
            <a:ext cx="3922776" cy="20117"/>
          </a:xfrm>
          <a:prstGeom xmlns:a="http://schemas.openxmlformats.org/drawingml/2006/main" prst="rect">
            <a:avLst/>
          </a:prstGeom>
          <a:solidFill xmlns:a="http://schemas.openxmlformats.org/drawingml/2006/main">
            <a:srgbClr val="102A43"/>
          </a:solidFill>
        </p:spPr>
      </p:sp>
      <p:sp>
        <p:nvSpPr>
          <p:cNvPr id="20" name="Text 17">
            <a:extLst xmlns:a="http://schemas.openxmlformats.org/drawingml/2006/main">
              <a:ext uri="{FF2B5EF4-FFF2-40B4-BE49-F238E27FC236}">
                <a16:creationId xmlns:a16="http://schemas.microsoft.com/office/drawing/2014/main" id="{DFBE97E8-9185-47BD-8200-9FE85B191E90}"/>
              </a:ext>
            </a:extLst>
          </p:cNvPr>
          <p:cNvSpPr>
            <a:spLocks xmlns:a="http://schemas.openxmlformats.org/drawingml/2006/main" noGrp="1"/>
          </p:cNvSpPr>
          <p:nvPr/>
        </p:nvSpPr>
        <p:spPr>
          <a:xfrm xmlns:a="http://schemas.openxmlformats.org/drawingml/2006/main">
            <a:off x="7699248" y="3840480"/>
            <a:ext cx="392277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Programmes did not get simpler — programme eight was among the hardest in the portfolio.</a:t>
            </a:r>
            <a:endParaRPr sz="940"/>
          </a:p>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What fell was the share of each programme spent rebuilding things that already existed.</a:t>
            </a:r>
            <a:endParaRPr sz="940"/>
          </a:p>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The spine cost is visible and front-loaded: most of it lands in the first two programmes, when there is least evidence it will pay back.</a:t>
            </a:r>
            <a:endParaRPr sz="940"/>
          </a:p>
        </p:txBody>
      </p:sp>
      <p:sp>
        <p:nvSpPr>
          <p:cNvPr id="21" name="Shape 18">
            <a:extLst xmlns:a="http://schemas.openxmlformats.org/drawingml/2006/main">
              <a:ext uri="{FF2B5EF4-FFF2-40B4-BE49-F238E27FC236}">
                <a16:creationId xmlns:a16="http://schemas.microsoft.com/office/drawing/2014/main" id="{B335820E-2FE8-41B4-98BB-0190E6C4E23C}"/>
              </a:ext>
            </a:extLst>
          </p:cNvPr>
          <p:cNvSpPr>
            <a:spLocks xmlns:a="http://schemas.openxmlformats.org/drawingml/2006/main" noGrp="1"/>
          </p:cNvSpPr>
          <p:nvPr/>
        </p:nvSpPr>
        <p:spPr>
          <a:xfrm xmlns:a="http://schemas.openxmlformats.org/drawingml/2006/main">
            <a:off x="566928" y="4645152"/>
            <a:ext cx="11057839" cy="1426464"/>
          </a:xfrm>
          <a:prstGeom xmlns:a="http://schemas.openxmlformats.org/drawingml/2006/main" prst="rect">
            <a:avLst/>
          </a:prstGeom>
          <a:solidFill xmlns:a="http://schemas.openxmlformats.org/drawingml/2006/main">
            <a:srgbClr val="F3E6E0"/>
          </a:solidFill>
        </p:spPr>
      </p:sp>
      <p:sp>
        <p:nvSpPr>
          <p:cNvPr id="22" name="Text 19">
            <a:extLst xmlns:a="http://schemas.openxmlformats.org/drawingml/2006/main">
              <a:ext uri="{FF2B5EF4-FFF2-40B4-BE49-F238E27FC236}">
                <a16:creationId xmlns:a16="http://schemas.microsoft.com/office/drawing/2014/main" id="{0091EFCA-3F1E-4587-8A6F-54190698D384}"/>
              </a:ext>
            </a:extLst>
          </p:cNvPr>
          <p:cNvSpPr>
            <a:spLocks xmlns:a="http://schemas.openxmlformats.org/drawingml/2006/main" noGrp="1"/>
          </p:cNvSpPr>
          <p:nvPr/>
        </p:nvSpPr>
        <p:spPr>
          <a:xfrm xmlns:a="http://schemas.openxmlformats.org/drawingml/2006/main">
            <a:off x="804672" y="4791456"/>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argument this makes to a portfolio sponsor</a:t>
            </a:r>
            <a:endParaRPr sz="1100"/>
          </a:p>
        </p:txBody>
      </p:sp>
      <p:sp>
        <p:nvSpPr>
          <p:cNvPr id="23" name="Text 20">
            <a:extLst xmlns:a="http://schemas.openxmlformats.org/drawingml/2006/main">
              <a:ext uri="{FF2B5EF4-FFF2-40B4-BE49-F238E27FC236}">
                <a16:creationId xmlns:a16="http://schemas.microsoft.com/office/drawing/2014/main" id="{CC101529-8294-4A2D-B938-15AA35F84738}"/>
              </a:ext>
            </a:extLst>
          </p:cNvPr>
          <p:cNvSpPr>
            <a:spLocks xmlns:a="http://schemas.openxmlformats.org/drawingml/2006/main" noGrp="1"/>
          </p:cNvSpPr>
          <p:nvPr/>
        </p:nvSpPr>
        <p:spPr>
          <a:xfrm xmlns:a="http://schemas.openxmlformats.org/drawingml/2006/main">
            <a:off x="804672" y="5047488"/>
            <a:ext cx="10582351"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Programme one carries roughly two-thirds of the total spine investment and shows the worst return of any programme in the portfolio. Judged individually — which is how programmes are usually judged — it is the weakest business case in the list.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is the trap. A sponsor reviewing programme one on its own merits will cut the foundational scope, and programmes two through eight will each rebuild a portion of it at full price. Funding the sequence rather than the programme is the decision that unlocks the curve, and it can only be taken before programme one starts.</a:t>
            </a:r>
            <a:endParaRPr sz="990"/>
          </a:p>
        </p:txBody>
      </p:sp>
      <p:sp>
        <p:nvSpPr>
          <p:cNvPr id="24" name="Shape 21">
            <a:extLst xmlns:a="http://schemas.openxmlformats.org/drawingml/2006/main">
              <a:ext uri="{FF2B5EF4-FFF2-40B4-BE49-F238E27FC236}">
                <a16:creationId xmlns:a16="http://schemas.microsoft.com/office/drawing/2014/main" id="{067CA608-8504-440A-A135-EEC432F24A5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5" name="Text 22">
            <a:extLst xmlns:a="http://schemas.openxmlformats.org/drawingml/2006/main">
              <a:ext uri="{FF2B5EF4-FFF2-40B4-BE49-F238E27FC236}">
                <a16:creationId xmlns:a16="http://schemas.microsoft.com/office/drawing/2014/main" id="{FE2B2A8E-8EFE-4A11-8E24-8D340E0F04A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effort model — illustrative index, structural argument</a:t>
            </a:r>
            <a:endParaRPr sz="850"/>
          </a:p>
        </p:txBody>
      </p:sp>
      <p:sp>
        <p:nvSpPr>
          <p:cNvPr id="26" name="Text 23">
            <a:extLst xmlns:a="http://schemas.openxmlformats.org/drawingml/2006/main">
              <a:ext uri="{FF2B5EF4-FFF2-40B4-BE49-F238E27FC236}">
                <a16:creationId xmlns:a16="http://schemas.microsoft.com/office/drawing/2014/main" id="{E6514EB0-C9D0-439D-B25D-A60677E5B7D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096383997"/>
      </p:ext>
    </p:extLst>
  </p:cSld>
</p:sld>
</file>

<file path=ppt/slides/slide17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4372FDE-6284-43ED-9480-C95F161AB49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ISLAMIC BANKING CHANGES</a:t>
            </a:r>
            <a:endParaRPr sz="950"/>
          </a:p>
        </p:txBody>
      </p:sp>
      <p:sp>
        <p:nvSpPr>
          <p:cNvPr id="3" name="Text 1">
            <a:extLst xmlns:a="http://schemas.openxmlformats.org/drawingml/2006/main">
              <a:ext uri="{FF2B5EF4-FFF2-40B4-BE49-F238E27FC236}">
                <a16:creationId xmlns:a16="http://schemas.microsoft.com/office/drawing/2014/main" id="{7EA4F89C-5BB5-491A-BF3E-E5E616A6EF8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structural differences that change the data model and the approval path — none</a:t>
            </a:r>
            <a:endParaRPr sz="1900"/>
          </a:p>
          <a:p xmlns:a="http://schemas.openxmlformats.org/drawingml/2006/main">
            <a:pPr marL="0" indent="0">
              <a:lnSpc>
                <a:spcPts val="2400"/>
              </a:lnSpc>
              <a:buNone/>
            </a:pPr>
            <a:r>
              <a:rPr sz="1900" b="1">
                <a:solidFill>
                  <a:srgbClr val="102A43"/>
                </a:solidFill>
                <a:latin typeface="Arial"/>
                <a:ea typeface="Arial"/>
                <a:cs typeface="Arial"/>
              </a:rPr>
              <a:t>of which is a configuration setting</a:t>
            </a:r>
            <a:endParaRPr sz="1900"/>
          </a:p>
        </p:txBody>
      </p:sp>
      <p:sp>
        <p:nvSpPr>
          <p:cNvPr id="4" name="Shape 2">
            <a:extLst xmlns:a="http://schemas.openxmlformats.org/drawingml/2006/main">
              <a:ext uri="{FF2B5EF4-FFF2-40B4-BE49-F238E27FC236}">
                <a16:creationId xmlns:a16="http://schemas.microsoft.com/office/drawing/2014/main" id="{94FDEC84-A4B2-4778-A39F-61F021953613}"/>
              </a:ext>
            </a:extLst>
          </p:cNvPr>
          <p:cNvSpPr>
            <a:spLocks xmlns:a="http://schemas.openxmlformats.org/drawingml/2006/main" noGrp="1"/>
          </p:cNvSpPr>
          <p:nvPr/>
        </p:nvSpPr>
        <p:spPr>
          <a:xfrm xmlns:a="http://schemas.openxmlformats.org/drawingml/2006/main">
            <a:off x="566928" y="1335024"/>
            <a:ext cx="2123785" cy="32004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B1AED258-4545-4BB4-B1D3-4081D572D3E3}"/>
              </a:ext>
            </a:extLst>
          </p:cNvPr>
          <p:cNvSpPr>
            <a:spLocks xmlns:a="http://schemas.openxmlformats.org/drawingml/2006/main" noGrp="1"/>
          </p:cNvSpPr>
          <p:nvPr/>
        </p:nvSpPr>
        <p:spPr>
          <a:xfrm xmlns:a="http://schemas.openxmlformats.org/drawingml/2006/main">
            <a:off x="749808" y="1499616"/>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A sixth control function</a:t>
            </a:r>
            <a:endParaRPr sz="1120"/>
          </a:p>
        </p:txBody>
      </p:sp>
      <p:sp>
        <p:nvSpPr>
          <p:cNvPr id="6" name="Text 4">
            <a:extLst xmlns:a="http://schemas.openxmlformats.org/drawingml/2006/main">
              <a:ext uri="{FF2B5EF4-FFF2-40B4-BE49-F238E27FC236}">
                <a16:creationId xmlns:a16="http://schemas.microsoft.com/office/drawing/2014/main" id="{CF7AD9A7-771B-4AD3-9CA4-9470AE899CE5}"/>
              </a:ext>
            </a:extLst>
          </p:cNvPr>
          <p:cNvSpPr>
            <a:spLocks xmlns:a="http://schemas.openxmlformats.org/drawingml/2006/main" noGrp="1"/>
          </p:cNvSpPr>
          <p:nvPr/>
        </p:nvSpPr>
        <p:spPr>
          <a:xfrm xmlns:a="http://schemas.openxmlformats.org/drawingml/2006/main">
            <a:off x="749808" y="2231136"/>
            <a:ext cx="1758025"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Sharia governance is a distinct control function with its own review, its own authority and its own record. It is not a variant of compliance and cannot be modelled as one.</a:t>
            </a:r>
            <a:endParaRPr sz="920"/>
          </a:p>
        </p:txBody>
      </p:sp>
      <p:sp>
        <p:nvSpPr>
          <p:cNvPr id="7" name="Shape 5">
            <a:extLst xmlns:a="http://schemas.openxmlformats.org/drawingml/2006/main">
              <a:ext uri="{FF2B5EF4-FFF2-40B4-BE49-F238E27FC236}">
                <a16:creationId xmlns:a16="http://schemas.microsoft.com/office/drawing/2014/main" id="{855D7952-F13E-4637-B44B-AE75B5B48C3F}"/>
              </a:ext>
            </a:extLst>
          </p:cNvPr>
          <p:cNvSpPr>
            <a:spLocks xmlns:a="http://schemas.openxmlformats.org/drawingml/2006/main" noGrp="1"/>
          </p:cNvSpPr>
          <p:nvPr/>
        </p:nvSpPr>
        <p:spPr>
          <a:xfrm xmlns:a="http://schemas.openxmlformats.org/drawingml/2006/main">
            <a:off x="749808" y="4059936"/>
            <a:ext cx="1758025"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E8E1F530-9851-4896-A4FB-DDA0B4C84E07}"/>
              </a:ext>
            </a:extLst>
          </p:cNvPr>
          <p:cNvSpPr>
            <a:spLocks xmlns:a="http://schemas.openxmlformats.org/drawingml/2006/main" noGrp="1"/>
          </p:cNvSpPr>
          <p:nvPr/>
        </p:nvSpPr>
        <p:spPr>
          <a:xfrm xmlns:a="http://schemas.openxmlformats.org/drawingml/2006/main">
            <a:off x="749808" y="4187952"/>
            <a:ext cx="175802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i="1">
                <a:solidFill>
                  <a:srgbClr val="B04A25"/>
                </a:solidFill>
                <a:latin typeface="Arial"/>
                <a:ea typeface="Arial"/>
                <a:cs typeface="Arial"/>
              </a:rPr>
              <a:t>Approval model</a:t>
            </a:r>
            <a:endParaRPr sz="940"/>
          </a:p>
        </p:txBody>
      </p:sp>
      <p:sp>
        <p:nvSpPr>
          <p:cNvPr id="9" name="Shape 7">
            <a:extLst xmlns:a="http://schemas.openxmlformats.org/drawingml/2006/main">
              <a:ext uri="{FF2B5EF4-FFF2-40B4-BE49-F238E27FC236}">
                <a16:creationId xmlns:a16="http://schemas.microsoft.com/office/drawing/2014/main" id="{D6928E1D-F4B7-4A6F-A676-B49BE44F119C}"/>
              </a:ext>
            </a:extLst>
          </p:cNvPr>
          <p:cNvSpPr>
            <a:spLocks xmlns:a="http://schemas.openxmlformats.org/drawingml/2006/main" noGrp="1"/>
          </p:cNvSpPr>
          <p:nvPr/>
        </p:nvSpPr>
        <p:spPr>
          <a:xfrm xmlns:a="http://schemas.openxmlformats.org/drawingml/2006/main">
            <a:off x="2800441" y="1335024"/>
            <a:ext cx="2123785" cy="3200400"/>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69A29F18-A19B-499E-B361-27513D3A385E}"/>
              </a:ext>
            </a:extLst>
          </p:cNvPr>
          <p:cNvSpPr>
            <a:spLocks xmlns:a="http://schemas.openxmlformats.org/drawingml/2006/main" noGrp="1"/>
          </p:cNvSpPr>
          <p:nvPr/>
        </p:nvSpPr>
        <p:spPr>
          <a:xfrm xmlns:a="http://schemas.openxmlformats.org/drawingml/2006/main">
            <a:off x="2983321" y="1499616"/>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Contract form is part of the decision</a:t>
            </a:r>
            <a:endParaRPr sz="1120"/>
          </a:p>
        </p:txBody>
      </p:sp>
      <p:sp>
        <p:nvSpPr>
          <p:cNvPr id="11" name="Text 9">
            <a:extLst xmlns:a="http://schemas.openxmlformats.org/drawingml/2006/main">
              <a:ext uri="{FF2B5EF4-FFF2-40B4-BE49-F238E27FC236}">
                <a16:creationId xmlns:a16="http://schemas.microsoft.com/office/drawing/2014/main" id="{A846FF77-D783-4396-8F2B-CE371C1D1B19}"/>
              </a:ext>
            </a:extLst>
          </p:cNvPr>
          <p:cNvSpPr>
            <a:spLocks xmlns:a="http://schemas.openxmlformats.org/drawingml/2006/main" noGrp="1"/>
          </p:cNvSpPr>
          <p:nvPr/>
        </p:nvSpPr>
        <p:spPr>
          <a:xfrm xmlns:a="http://schemas.openxmlformats.org/drawingml/2006/main">
            <a:off x="2983321" y="2231136"/>
            <a:ext cx="1758025"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A facility is structured as a specific contract type — cost-plus sale, lease, partnership, agency. The structure must be approved as well as the credit, and the two approvals have different owners.</a:t>
            </a:r>
            <a:endParaRPr sz="920"/>
          </a:p>
        </p:txBody>
      </p:sp>
      <p:sp>
        <p:nvSpPr>
          <p:cNvPr id="12" name="Shape 10">
            <a:extLst xmlns:a="http://schemas.openxmlformats.org/drawingml/2006/main">
              <a:ext uri="{FF2B5EF4-FFF2-40B4-BE49-F238E27FC236}">
                <a16:creationId xmlns:a16="http://schemas.microsoft.com/office/drawing/2014/main" id="{46ADEBD6-6D55-4742-8323-C1350566FE1D}"/>
              </a:ext>
            </a:extLst>
          </p:cNvPr>
          <p:cNvSpPr>
            <a:spLocks xmlns:a="http://schemas.openxmlformats.org/drawingml/2006/main" noGrp="1"/>
          </p:cNvSpPr>
          <p:nvPr/>
        </p:nvSpPr>
        <p:spPr>
          <a:xfrm xmlns:a="http://schemas.openxmlformats.org/drawingml/2006/main">
            <a:off x="2983321" y="4059936"/>
            <a:ext cx="1758025"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22D452A9-464F-434E-BE2D-FE8E4E80F9E3}"/>
              </a:ext>
            </a:extLst>
          </p:cNvPr>
          <p:cNvSpPr>
            <a:spLocks xmlns:a="http://schemas.openxmlformats.org/drawingml/2006/main" noGrp="1"/>
          </p:cNvSpPr>
          <p:nvPr/>
        </p:nvSpPr>
        <p:spPr>
          <a:xfrm xmlns:a="http://schemas.openxmlformats.org/drawingml/2006/main">
            <a:off x="2983321" y="4187952"/>
            <a:ext cx="175802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i="1">
                <a:solidFill>
                  <a:srgbClr val="B04A25"/>
                </a:solidFill>
                <a:latin typeface="Arial"/>
                <a:ea typeface="Arial"/>
                <a:cs typeface="Arial"/>
              </a:rPr>
              <a:t>Data model</a:t>
            </a:r>
            <a:endParaRPr sz="940"/>
          </a:p>
        </p:txBody>
      </p:sp>
      <p:sp>
        <p:nvSpPr>
          <p:cNvPr id="14" name="Shape 12">
            <a:extLst xmlns:a="http://schemas.openxmlformats.org/drawingml/2006/main">
              <a:ext uri="{FF2B5EF4-FFF2-40B4-BE49-F238E27FC236}">
                <a16:creationId xmlns:a16="http://schemas.microsoft.com/office/drawing/2014/main" id="{2FF50FC5-983D-46C5-9ECF-30C9E27F46B8}"/>
              </a:ext>
            </a:extLst>
          </p:cNvPr>
          <p:cNvSpPr>
            <a:spLocks xmlns:a="http://schemas.openxmlformats.org/drawingml/2006/main" noGrp="1"/>
          </p:cNvSpPr>
          <p:nvPr/>
        </p:nvSpPr>
        <p:spPr>
          <a:xfrm xmlns:a="http://schemas.openxmlformats.org/drawingml/2006/main">
            <a:off x="5033955" y="1335024"/>
            <a:ext cx="2123785" cy="3200400"/>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2BAFAFF8-0D7D-4908-B77D-C0D458F22F67}"/>
              </a:ext>
            </a:extLst>
          </p:cNvPr>
          <p:cNvSpPr>
            <a:spLocks xmlns:a="http://schemas.openxmlformats.org/drawingml/2006/main" noGrp="1"/>
          </p:cNvSpPr>
          <p:nvPr/>
        </p:nvSpPr>
        <p:spPr>
          <a:xfrm xmlns:a="http://schemas.openxmlformats.org/drawingml/2006/main">
            <a:off x="5216835" y="1499616"/>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Asset-backed sequencing</a:t>
            </a:r>
            <a:endParaRPr sz="1120"/>
          </a:p>
        </p:txBody>
      </p:sp>
      <p:sp>
        <p:nvSpPr>
          <p:cNvPr id="16" name="Text 14">
            <a:extLst xmlns:a="http://schemas.openxmlformats.org/drawingml/2006/main">
              <a:ext uri="{FF2B5EF4-FFF2-40B4-BE49-F238E27FC236}">
                <a16:creationId xmlns:a16="http://schemas.microsoft.com/office/drawing/2014/main" id="{73CC9ED8-6A4D-46AC-B4E1-3ED3A878E023}"/>
              </a:ext>
            </a:extLst>
          </p:cNvPr>
          <p:cNvSpPr>
            <a:spLocks xmlns:a="http://schemas.openxmlformats.org/drawingml/2006/main" noGrp="1"/>
          </p:cNvSpPr>
          <p:nvPr/>
        </p:nvSpPr>
        <p:spPr>
          <a:xfrm xmlns:a="http://schemas.openxmlformats.org/drawingml/2006/main">
            <a:off x="5216835" y="2231136"/>
            <a:ext cx="1758025"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Several structures require ownership or possession steps in a defined order. That creates timing dependencies and documentation states a conventional facility does not have.</a:t>
            </a:r>
            <a:endParaRPr sz="920"/>
          </a:p>
        </p:txBody>
      </p:sp>
      <p:sp>
        <p:nvSpPr>
          <p:cNvPr id="17" name="Shape 15">
            <a:extLst xmlns:a="http://schemas.openxmlformats.org/drawingml/2006/main">
              <a:ext uri="{FF2B5EF4-FFF2-40B4-BE49-F238E27FC236}">
                <a16:creationId xmlns:a16="http://schemas.microsoft.com/office/drawing/2014/main" id="{E43503A3-BBBC-49CD-B684-12BE90AE5BFD}"/>
              </a:ext>
            </a:extLst>
          </p:cNvPr>
          <p:cNvSpPr>
            <a:spLocks xmlns:a="http://schemas.openxmlformats.org/drawingml/2006/main" noGrp="1"/>
          </p:cNvSpPr>
          <p:nvPr/>
        </p:nvSpPr>
        <p:spPr>
          <a:xfrm xmlns:a="http://schemas.openxmlformats.org/drawingml/2006/main">
            <a:off x="5216835" y="4059936"/>
            <a:ext cx="1758025"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957CDAAE-3782-4CC1-BB76-89F4CC1BD31C}"/>
              </a:ext>
            </a:extLst>
          </p:cNvPr>
          <p:cNvSpPr>
            <a:spLocks xmlns:a="http://schemas.openxmlformats.org/drawingml/2006/main" noGrp="1"/>
          </p:cNvSpPr>
          <p:nvPr/>
        </p:nvSpPr>
        <p:spPr>
          <a:xfrm xmlns:a="http://schemas.openxmlformats.org/drawingml/2006/main">
            <a:off x="5216835" y="4187952"/>
            <a:ext cx="175802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i="1">
                <a:solidFill>
                  <a:srgbClr val="486581"/>
                </a:solidFill>
                <a:latin typeface="Arial"/>
                <a:ea typeface="Arial"/>
                <a:cs typeface="Arial"/>
              </a:rPr>
              <a:t>Process model</a:t>
            </a:r>
            <a:endParaRPr sz="940"/>
          </a:p>
        </p:txBody>
      </p:sp>
      <p:sp>
        <p:nvSpPr>
          <p:cNvPr id="19" name="Shape 17">
            <a:extLst xmlns:a="http://schemas.openxmlformats.org/drawingml/2006/main">
              <a:ext uri="{FF2B5EF4-FFF2-40B4-BE49-F238E27FC236}">
                <a16:creationId xmlns:a16="http://schemas.microsoft.com/office/drawing/2014/main" id="{A4A898BF-84D2-4F6B-85C2-538BA3C1D7CE}"/>
              </a:ext>
            </a:extLst>
          </p:cNvPr>
          <p:cNvSpPr>
            <a:spLocks xmlns:a="http://schemas.openxmlformats.org/drawingml/2006/main" noGrp="1"/>
          </p:cNvSpPr>
          <p:nvPr/>
        </p:nvSpPr>
        <p:spPr>
          <a:xfrm xmlns:a="http://schemas.openxmlformats.org/drawingml/2006/main">
            <a:off x="7267468" y="1335024"/>
            <a:ext cx="2123785" cy="3200400"/>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EC064730-7F6A-42EC-A0E3-358A8DA590A3}"/>
              </a:ext>
            </a:extLst>
          </p:cNvPr>
          <p:cNvSpPr>
            <a:spLocks xmlns:a="http://schemas.openxmlformats.org/drawingml/2006/main" noGrp="1"/>
          </p:cNvSpPr>
          <p:nvPr/>
        </p:nvSpPr>
        <p:spPr>
          <a:xfrm xmlns:a="http://schemas.openxmlformats.org/drawingml/2006/main">
            <a:off x="7450348" y="1499616"/>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Sector screening at origination</a:t>
            </a:r>
            <a:endParaRPr sz="1120"/>
          </a:p>
        </p:txBody>
      </p:sp>
      <p:sp>
        <p:nvSpPr>
          <p:cNvPr id="21" name="Text 19">
            <a:extLst xmlns:a="http://schemas.openxmlformats.org/drawingml/2006/main">
              <a:ext uri="{FF2B5EF4-FFF2-40B4-BE49-F238E27FC236}">
                <a16:creationId xmlns:a16="http://schemas.microsoft.com/office/drawing/2014/main" id="{54724816-2678-448D-ADF0-290C26428718}"/>
              </a:ext>
            </a:extLst>
          </p:cNvPr>
          <p:cNvSpPr>
            <a:spLocks xmlns:a="http://schemas.openxmlformats.org/drawingml/2006/main" noGrp="1"/>
          </p:cNvSpPr>
          <p:nvPr/>
        </p:nvSpPr>
        <p:spPr>
          <a:xfrm xmlns:a="http://schemas.openxmlformats.org/drawingml/2006/main">
            <a:off x="7450348" y="2231136"/>
            <a:ext cx="1758025"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Prohibited activities are screened as an eligibility gate, not as a risk weighting. A screened-out counterparty is not a priced risk; it is ineligible.</a:t>
            </a:r>
            <a:endParaRPr sz="920"/>
          </a:p>
        </p:txBody>
      </p:sp>
      <p:sp>
        <p:nvSpPr>
          <p:cNvPr id="22" name="Shape 20">
            <a:extLst xmlns:a="http://schemas.openxmlformats.org/drawingml/2006/main">
              <a:ext uri="{FF2B5EF4-FFF2-40B4-BE49-F238E27FC236}">
                <a16:creationId xmlns:a16="http://schemas.microsoft.com/office/drawing/2014/main" id="{35712D0E-EC0B-4FF7-866C-A4F7B5C63CE3}"/>
              </a:ext>
            </a:extLst>
          </p:cNvPr>
          <p:cNvSpPr>
            <a:spLocks xmlns:a="http://schemas.openxmlformats.org/drawingml/2006/main" noGrp="1"/>
          </p:cNvSpPr>
          <p:nvPr/>
        </p:nvSpPr>
        <p:spPr>
          <a:xfrm xmlns:a="http://schemas.openxmlformats.org/drawingml/2006/main">
            <a:off x="7450348" y="4059936"/>
            <a:ext cx="1758025"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7EBD4DC8-82F4-4CB0-BC04-CABB8BD6D42F}"/>
              </a:ext>
            </a:extLst>
          </p:cNvPr>
          <p:cNvSpPr>
            <a:spLocks xmlns:a="http://schemas.openxmlformats.org/drawingml/2006/main" noGrp="1"/>
          </p:cNvSpPr>
          <p:nvPr/>
        </p:nvSpPr>
        <p:spPr>
          <a:xfrm xmlns:a="http://schemas.openxmlformats.org/drawingml/2006/main">
            <a:off x="7450348" y="4187952"/>
            <a:ext cx="175802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i="1">
                <a:solidFill>
                  <a:srgbClr val="486581"/>
                </a:solidFill>
                <a:latin typeface="Arial"/>
                <a:ea typeface="Arial"/>
                <a:cs typeface="Arial"/>
              </a:rPr>
              <a:t>Eligibility model</a:t>
            </a:r>
            <a:endParaRPr sz="940"/>
          </a:p>
        </p:txBody>
      </p:sp>
      <p:sp>
        <p:nvSpPr>
          <p:cNvPr id="24" name="Shape 22">
            <a:extLst xmlns:a="http://schemas.openxmlformats.org/drawingml/2006/main">
              <a:ext uri="{FF2B5EF4-FFF2-40B4-BE49-F238E27FC236}">
                <a16:creationId xmlns:a16="http://schemas.microsoft.com/office/drawing/2014/main" id="{B11D8E30-ED1F-46D4-8D2C-E9A9C46B9483}"/>
              </a:ext>
            </a:extLst>
          </p:cNvPr>
          <p:cNvSpPr>
            <a:spLocks xmlns:a="http://schemas.openxmlformats.org/drawingml/2006/main" noGrp="1"/>
          </p:cNvSpPr>
          <p:nvPr/>
        </p:nvSpPr>
        <p:spPr>
          <a:xfrm xmlns:a="http://schemas.openxmlformats.org/drawingml/2006/main">
            <a:off x="9500982" y="1335024"/>
            <a:ext cx="2123785" cy="3200400"/>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6FAB582A-45D5-482B-A75A-B4DEC2C735DD}"/>
              </a:ext>
            </a:extLst>
          </p:cNvPr>
          <p:cNvSpPr>
            <a:spLocks xmlns:a="http://schemas.openxmlformats.org/drawingml/2006/main" noGrp="1"/>
          </p:cNvSpPr>
          <p:nvPr/>
        </p:nvSpPr>
        <p:spPr>
          <a:xfrm xmlns:a="http://schemas.openxmlformats.org/drawingml/2006/main">
            <a:off x="9683862" y="1499616"/>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Profit, not interest</a:t>
            </a:r>
            <a:endParaRPr sz="1120"/>
          </a:p>
        </p:txBody>
      </p:sp>
      <p:sp>
        <p:nvSpPr>
          <p:cNvPr id="26" name="Text 24">
            <a:extLst xmlns:a="http://schemas.openxmlformats.org/drawingml/2006/main">
              <a:ext uri="{FF2B5EF4-FFF2-40B4-BE49-F238E27FC236}">
                <a16:creationId xmlns:a16="http://schemas.microsoft.com/office/drawing/2014/main" id="{AA8CC8F6-D7CD-405C-993C-AF1C68B5B7DE}"/>
              </a:ext>
            </a:extLst>
          </p:cNvPr>
          <p:cNvSpPr>
            <a:spLocks xmlns:a="http://schemas.openxmlformats.org/drawingml/2006/main" noGrp="1"/>
          </p:cNvSpPr>
          <p:nvPr/>
        </p:nvSpPr>
        <p:spPr>
          <a:xfrm xmlns:a="http://schemas.openxmlformats.org/drawingml/2006/main">
            <a:off x="9683862" y="2231136"/>
            <a:ext cx="1758025"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Pricing terminology, calculation and the treatment of late payment all differ. Late charges are not income, which changes both accounting and how collections behave.</a:t>
            </a:r>
            <a:endParaRPr sz="920"/>
          </a:p>
        </p:txBody>
      </p:sp>
      <p:sp>
        <p:nvSpPr>
          <p:cNvPr id="27" name="Shape 25">
            <a:extLst xmlns:a="http://schemas.openxmlformats.org/drawingml/2006/main">
              <a:ext uri="{FF2B5EF4-FFF2-40B4-BE49-F238E27FC236}">
                <a16:creationId xmlns:a16="http://schemas.microsoft.com/office/drawing/2014/main" id="{62AE4F67-05D7-401F-8CB3-47E9E0B12E3F}"/>
              </a:ext>
            </a:extLst>
          </p:cNvPr>
          <p:cNvSpPr>
            <a:spLocks xmlns:a="http://schemas.openxmlformats.org/drawingml/2006/main" noGrp="1"/>
          </p:cNvSpPr>
          <p:nvPr/>
        </p:nvSpPr>
        <p:spPr>
          <a:xfrm xmlns:a="http://schemas.openxmlformats.org/drawingml/2006/main">
            <a:off x="9683862" y="4059936"/>
            <a:ext cx="1758025" cy="13716"/>
          </a:xfrm>
          <a:prstGeom xmlns:a="http://schemas.openxmlformats.org/drawingml/2006/main" prst="rect">
            <a:avLst/>
          </a:prstGeom>
          <a:solidFill xmlns:a="http://schemas.openxmlformats.org/drawingml/2006/main">
            <a:srgbClr val="C6D2DE"/>
          </a:solidFill>
        </p:spPr>
      </p:sp>
      <p:sp>
        <p:nvSpPr>
          <p:cNvPr id="28" name="Text 26">
            <a:extLst xmlns:a="http://schemas.openxmlformats.org/drawingml/2006/main">
              <a:ext uri="{FF2B5EF4-FFF2-40B4-BE49-F238E27FC236}">
                <a16:creationId xmlns:a16="http://schemas.microsoft.com/office/drawing/2014/main" id="{421AF724-75EE-4018-8F70-50E5FEA9CAB3}"/>
              </a:ext>
            </a:extLst>
          </p:cNvPr>
          <p:cNvSpPr>
            <a:spLocks xmlns:a="http://schemas.openxmlformats.org/drawingml/2006/main" noGrp="1"/>
          </p:cNvSpPr>
          <p:nvPr/>
        </p:nvSpPr>
        <p:spPr>
          <a:xfrm xmlns:a="http://schemas.openxmlformats.org/drawingml/2006/main">
            <a:off x="9683862" y="4187952"/>
            <a:ext cx="1758025"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i="1">
                <a:solidFill>
                  <a:srgbClr val="486581"/>
                </a:solidFill>
                <a:latin typeface="Arial"/>
                <a:ea typeface="Arial"/>
                <a:cs typeface="Arial"/>
              </a:rPr>
              <a:t>Pricing model</a:t>
            </a:r>
            <a:endParaRPr sz="940"/>
          </a:p>
        </p:txBody>
      </p:sp>
      <p:sp>
        <p:nvSpPr>
          <p:cNvPr id="29" name="Shape 27">
            <a:extLst xmlns:a="http://schemas.openxmlformats.org/drawingml/2006/main">
              <a:ext uri="{FF2B5EF4-FFF2-40B4-BE49-F238E27FC236}">
                <a16:creationId xmlns:a16="http://schemas.microsoft.com/office/drawing/2014/main" id="{0DF98EA2-2F83-4DFF-A929-4DB5806E4A15}"/>
              </a:ext>
            </a:extLst>
          </p:cNvPr>
          <p:cNvSpPr>
            <a:spLocks xmlns:a="http://schemas.openxmlformats.org/drawingml/2006/main" noGrp="1"/>
          </p:cNvSpPr>
          <p:nvPr/>
        </p:nvSpPr>
        <p:spPr>
          <a:xfrm xmlns:a="http://schemas.openxmlformats.org/drawingml/2006/main">
            <a:off x="566928" y="4791456"/>
            <a:ext cx="11057839" cy="1280160"/>
          </a:xfrm>
          <a:prstGeom xmlns:a="http://schemas.openxmlformats.org/drawingml/2006/main" prst="rect">
            <a:avLst/>
          </a:prstGeom>
          <a:solidFill xmlns:a="http://schemas.openxmlformats.org/drawingml/2006/main">
            <a:srgbClr val="F3E6E0"/>
          </a:solidFill>
        </p:spPr>
      </p:sp>
      <p:sp>
        <p:nvSpPr>
          <p:cNvPr id="30" name="Text 28">
            <a:extLst xmlns:a="http://schemas.openxmlformats.org/drawingml/2006/main">
              <a:ext uri="{FF2B5EF4-FFF2-40B4-BE49-F238E27FC236}">
                <a16:creationId xmlns:a16="http://schemas.microsoft.com/office/drawing/2014/main" id="{3198C52B-5EFC-461A-94AD-C2F8AFC37FC0}"/>
              </a:ext>
            </a:extLst>
          </p:cNvPr>
          <p:cNvSpPr>
            <a:spLocks xmlns:a="http://schemas.openxmlformats.org/drawingml/2006/main" noGrp="1"/>
          </p:cNvSpPr>
          <p:nvPr/>
        </p:nvSpPr>
        <p:spPr>
          <a:xfrm xmlns:a="http://schemas.openxmlformats.org/drawingml/2006/main">
            <a:off x="804672" y="493776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this matters beyond Islamic banking</a:t>
            </a:r>
            <a:endParaRPr sz="1100"/>
          </a:p>
        </p:txBody>
      </p:sp>
      <p:sp>
        <p:nvSpPr>
          <p:cNvPr id="31" name="Text 29">
            <a:extLst xmlns:a="http://schemas.openxmlformats.org/drawingml/2006/main">
              <a:ext uri="{FF2B5EF4-FFF2-40B4-BE49-F238E27FC236}">
                <a16:creationId xmlns:a16="http://schemas.microsoft.com/office/drawing/2014/main" id="{83D314BB-2434-4704-97C3-41D134809A15}"/>
              </a:ext>
            </a:extLst>
          </p:cNvPr>
          <p:cNvSpPr>
            <a:spLocks xmlns:a="http://schemas.openxmlformats.org/drawingml/2006/main" noGrp="1"/>
          </p:cNvSpPr>
          <p:nvPr/>
        </p:nvSpPr>
        <p:spPr>
          <a:xfrm xmlns:a="http://schemas.openxmlformats.org/drawingml/2006/main">
            <a:off x="804672" y="5193792"/>
            <a:ext cx="10582351"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 platform designed for conventional lending can be configured to display different labels, but it cannot easily accommodate a sixth approver with independent authority, or an eligibility gate that removes a counterparty rather than pricing it, or a facility whose contract structure is itself an approved artefact.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Those are data-model and approval-model properties. The general lesson is the one worth carrying: when a market difference shows up as a new actor, a new gate or a new object, it is architecture. When it shows up as different wording on the same object, it is configuration. Confusing the two is how platforms get retrofitted badly.</a:t>
            </a:r>
            <a:endParaRPr sz="990"/>
          </a:p>
        </p:txBody>
      </p:sp>
      <p:sp>
        <p:nvSpPr>
          <p:cNvPr id="32" name="Shape 30">
            <a:extLst xmlns:a="http://schemas.openxmlformats.org/drawingml/2006/main">
              <a:ext uri="{FF2B5EF4-FFF2-40B4-BE49-F238E27FC236}">
                <a16:creationId xmlns:a16="http://schemas.microsoft.com/office/drawing/2014/main" id="{99D2F853-C446-482E-995E-8B536C89CC7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43E89AEA-14B5-4C50-911E-403BF85C170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2018–2020 engagement · author's analysis</a:t>
            </a:r>
            <a:endParaRPr sz="850"/>
          </a:p>
        </p:txBody>
      </p:sp>
      <p:sp>
        <p:nvSpPr>
          <p:cNvPr id="34" name="Text 32">
            <a:extLst xmlns:a="http://schemas.openxmlformats.org/drawingml/2006/main">
              <a:ext uri="{FF2B5EF4-FFF2-40B4-BE49-F238E27FC236}">
                <a16:creationId xmlns:a16="http://schemas.microsoft.com/office/drawing/2014/main" id="{CAD98434-620D-4176-A240-870C8818177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393398492"/>
      </p:ext>
    </p:extLst>
  </p:cSld>
</p:sld>
</file>

<file path=ppt/slides/slide17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E82C44-7540-42F3-BD12-B508B1DE2BB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COMPOUNDED</a:t>
            </a:r>
            <a:endParaRPr sz="950"/>
          </a:p>
        </p:txBody>
      </p:sp>
      <p:sp>
        <p:nvSpPr>
          <p:cNvPr id="3" name="Text 1">
            <a:extLst xmlns:a="http://schemas.openxmlformats.org/drawingml/2006/main">
              <a:ext uri="{FF2B5EF4-FFF2-40B4-BE49-F238E27FC236}">
                <a16:creationId xmlns:a16="http://schemas.microsoft.com/office/drawing/2014/main" id="{E2996061-77DA-4CA1-B771-B17A2251508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shared assets carried the portfolio — and each one was built inside a programme</a:t>
            </a:r>
            <a:endParaRPr sz="1900"/>
          </a:p>
          <a:p xmlns:a="http://schemas.openxmlformats.org/drawingml/2006/main">
            <a:pPr marL="0" indent="0">
              <a:lnSpc>
                <a:spcPts val="2400"/>
              </a:lnSpc>
              <a:buNone/>
            </a:pPr>
            <a:r>
              <a:rPr sz="1900" b="1">
                <a:solidFill>
                  <a:srgbClr val="102A43"/>
                </a:solidFill>
                <a:latin typeface="Arial"/>
                <a:ea typeface="Arial"/>
                <a:cs typeface="Arial"/>
              </a:rPr>
              <a:t>that had its own reason to need it</a:t>
            </a:r>
            <a:endParaRPr sz="1900"/>
          </a:p>
        </p:txBody>
      </p:sp>
      <p:sp>
        <p:nvSpPr>
          <p:cNvPr id="4" name="Shape 2">
            <a:extLst xmlns:a="http://schemas.openxmlformats.org/drawingml/2006/main">
              <a:ext uri="{FF2B5EF4-FFF2-40B4-BE49-F238E27FC236}">
                <a16:creationId xmlns:a16="http://schemas.microsoft.com/office/drawing/2014/main" id="{5EEEEF62-7881-4CC8-9639-22E15D424F11}"/>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A58C2C56-D99E-4A73-90DB-48D34D3CCFB2}"/>
              </a:ext>
            </a:extLst>
          </p:cNvPr>
          <p:cNvSpPr>
            <a:spLocks xmlns:a="http://schemas.openxmlformats.org/drawingml/2006/main" noGrp="1"/>
          </p:cNvSpPr>
          <p:nvPr/>
        </p:nvSpPr>
        <p:spPr>
          <a:xfrm xmlns:a="http://schemas.openxmlformats.org/drawingml/2006/main">
            <a:off x="67665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Shared asset</a:t>
            </a:r>
            <a:endParaRPr sz="920"/>
          </a:p>
        </p:txBody>
      </p:sp>
      <p:sp>
        <p:nvSpPr>
          <p:cNvPr id="6" name="Text 4">
            <a:extLst xmlns:a="http://schemas.openxmlformats.org/drawingml/2006/main">
              <a:ext uri="{FF2B5EF4-FFF2-40B4-BE49-F238E27FC236}">
                <a16:creationId xmlns:a16="http://schemas.microsoft.com/office/drawing/2014/main" id="{C91D1220-6A7C-493F-9C02-3BF57C97D43A}"/>
              </a:ext>
            </a:extLst>
          </p:cNvPr>
          <p:cNvSpPr>
            <a:spLocks xmlns:a="http://schemas.openxmlformats.org/drawingml/2006/main" noGrp="1"/>
          </p:cNvSpPr>
          <p:nvPr/>
        </p:nvSpPr>
        <p:spPr>
          <a:xfrm xmlns:a="http://schemas.openxmlformats.org/drawingml/2006/main">
            <a:off x="3694176" y="1444752"/>
            <a:ext cx="3255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provides</a:t>
            </a:r>
            <a:endParaRPr sz="920"/>
          </a:p>
        </p:txBody>
      </p:sp>
      <p:sp>
        <p:nvSpPr>
          <p:cNvPr id="7" name="Text 5">
            <a:extLst xmlns:a="http://schemas.openxmlformats.org/drawingml/2006/main">
              <a:ext uri="{FF2B5EF4-FFF2-40B4-BE49-F238E27FC236}">
                <a16:creationId xmlns:a16="http://schemas.microsoft.com/office/drawing/2014/main" id="{1154854D-C917-40BC-B72A-276341850277}"/>
              </a:ext>
            </a:extLst>
          </p:cNvPr>
          <p:cNvSpPr>
            <a:spLocks xmlns:a="http://schemas.openxmlformats.org/drawingml/2006/main" noGrp="1"/>
          </p:cNvSpPr>
          <p:nvPr/>
        </p:nvSpPr>
        <p:spPr>
          <a:xfrm xmlns:a="http://schemas.openxmlformats.org/drawingml/2006/main">
            <a:off x="7260336" y="1444752"/>
            <a:ext cx="26151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Built in</a:t>
            </a:r>
            <a:endParaRPr sz="920"/>
          </a:p>
        </p:txBody>
      </p:sp>
      <p:sp>
        <p:nvSpPr>
          <p:cNvPr id="8" name="Text 6">
            <a:extLst xmlns:a="http://schemas.openxmlformats.org/drawingml/2006/main">
              <a:ext uri="{FF2B5EF4-FFF2-40B4-BE49-F238E27FC236}">
                <a16:creationId xmlns:a16="http://schemas.microsoft.com/office/drawing/2014/main" id="{E2D6B418-F54C-4DD8-B005-7A3F00C39539}"/>
              </a:ext>
            </a:extLst>
          </p:cNvPr>
          <p:cNvSpPr>
            <a:spLocks xmlns:a="http://schemas.openxmlformats.org/drawingml/2006/main" noGrp="1"/>
          </p:cNvSpPr>
          <p:nvPr/>
        </p:nvSpPr>
        <p:spPr>
          <a:xfrm xmlns:a="http://schemas.openxmlformats.org/drawingml/2006/main">
            <a:off x="10186416" y="1444752"/>
            <a:ext cx="13258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Reused by</a:t>
            </a:r>
            <a:endParaRPr sz="920"/>
          </a:p>
        </p:txBody>
      </p:sp>
      <p:sp>
        <p:nvSpPr>
          <p:cNvPr id="9" name="Text 7">
            <a:extLst xmlns:a="http://schemas.openxmlformats.org/drawingml/2006/main">
              <a:ext uri="{FF2B5EF4-FFF2-40B4-BE49-F238E27FC236}">
                <a16:creationId xmlns:a16="http://schemas.microsoft.com/office/drawing/2014/main" id="{53FD36E3-CF39-4679-AEF8-21990C4921A6}"/>
              </a:ext>
            </a:extLst>
          </p:cNvPr>
          <p:cNvSpPr>
            <a:spLocks xmlns:a="http://schemas.openxmlformats.org/drawingml/2006/main" noGrp="1"/>
          </p:cNvSpPr>
          <p:nvPr/>
        </p:nvSpPr>
        <p:spPr>
          <a:xfrm xmlns:a="http://schemas.openxmlformats.org/drawingml/2006/main">
            <a:off x="676656" y="17922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Customer and group model</a:t>
            </a:r>
            <a:endParaRPr sz="980"/>
          </a:p>
        </p:txBody>
      </p:sp>
      <p:sp>
        <p:nvSpPr>
          <p:cNvPr id="10" name="Text 8">
            <a:extLst xmlns:a="http://schemas.openxmlformats.org/drawingml/2006/main">
              <a:ext uri="{FF2B5EF4-FFF2-40B4-BE49-F238E27FC236}">
                <a16:creationId xmlns:a16="http://schemas.microsoft.com/office/drawing/2014/main" id="{1D96F29F-19BF-4338-ACE3-4BDFFE3809AF}"/>
              </a:ext>
            </a:extLst>
          </p:cNvPr>
          <p:cNvSpPr>
            <a:spLocks xmlns:a="http://schemas.openxmlformats.org/drawingml/2006/main" noGrp="1"/>
          </p:cNvSpPr>
          <p:nvPr/>
        </p:nvSpPr>
        <p:spPr>
          <a:xfrm xmlns:a="http://schemas.openxmlformats.org/drawingml/2006/main">
            <a:off x="3694176" y="17922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Entity, hierarchy, related parties, relationship-manager ownership</a:t>
            </a:r>
            <a:endParaRPr sz="930"/>
          </a:p>
        </p:txBody>
      </p:sp>
      <p:sp>
        <p:nvSpPr>
          <p:cNvPr id="11" name="Text 9">
            <a:extLst xmlns:a="http://schemas.openxmlformats.org/drawingml/2006/main">
              <a:ext uri="{FF2B5EF4-FFF2-40B4-BE49-F238E27FC236}">
                <a16:creationId xmlns:a16="http://schemas.microsoft.com/office/drawing/2014/main" id="{EC112A6B-6C57-4DD5-9CDD-F8B0A71D91C7}"/>
              </a:ext>
            </a:extLst>
          </p:cNvPr>
          <p:cNvSpPr>
            <a:spLocks xmlns:a="http://schemas.openxmlformats.org/drawingml/2006/main" noGrp="1"/>
          </p:cNvSpPr>
          <p:nvPr/>
        </p:nvSpPr>
        <p:spPr>
          <a:xfrm xmlns:a="http://schemas.openxmlformats.org/drawingml/2006/main">
            <a:off x="7260336" y="17922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Programme 1 — Customer 360</a:t>
            </a:r>
            <a:endParaRPr sz="930"/>
          </a:p>
        </p:txBody>
      </p:sp>
      <p:sp>
        <p:nvSpPr>
          <p:cNvPr id="12" name="Text 10">
            <a:extLst xmlns:a="http://schemas.openxmlformats.org/drawingml/2006/main">
              <a:ext uri="{FF2B5EF4-FFF2-40B4-BE49-F238E27FC236}">
                <a16:creationId xmlns:a16="http://schemas.microsoft.com/office/drawing/2014/main" id="{E87588C5-83CA-4066-9111-83BF7F10E829}"/>
              </a:ext>
            </a:extLst>
          </p:cNvPr>
          <p:cNvSpPr>
            <a:spLocks xmlns:a="http://schemas.openxmlformats.org/drawingml/2006/main" noGrp="1"/>
          </p:cNvSpPr>
          <p:nvPr/>
        </p:nvSpPr>
        <p:spPr>
          <a:xfrm xmlns:a="http://schemas.openxmlformats.org/drawingml/2006/main">
            <a:off x="10186416" y="179222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All seven</a:t>
            </a:r>
            <a:endParaRPr sz="960"/>
          </a:p>
        </p:txBody>
      </p:sp>
      <p:sp>
        <p:nvSpPr>
          <p:cNvPr id="13" name="Shape 11">
            <a:extLst xmlns:a="http://schemas.openxmlformats.org/drawingml/2006/main">
              <a:ext uri="{FF2B5EF4-FFF2-40B4-BE49-F238E27FC236}">
                <a16:creationId xmlns:a16="http://schemas.microsoft.com/office/drawing/2014/main" id="{3FE5F1FC-CC82-4BB5-A664-AD9CC2384DD9}"/>
              </a:ext>
            </a:extLst>
          </p:cNvPr>
          <p:cNvSpPr>
            <a:spLocks xmlns:a="http://schemas.openxmlformats.org/drawingml/2006/main" noGrp="1"/>
          </p:cNvSpPr>
          <p:nvPr/>
        </p:nvSpPr>
        <p:spPr>
          <a:xfrm xmlns:a="http://schemas.openxmlformats.org/drawingml/2006/main">
            <a:off x="566928" y="2157984"/>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5A3BABA2-6ADC-46CE-BDCE-E2E726A47E10}"/>
              </a:ext>
            </a:extLst>
          </p:cNvPr>
          <p:cNvSpPr>
            <a:spLocks xmlns:a="http://schemas.openxmlformats.org/drawingml/2006/main" noGrp="1"/>
          </p:cNvSpPr>
          <p:nvPr/>
        </p:nvSpPr>
        <p:spPr>
          <a:xfrm xmlns:a="http://schemas.openxmlformats.org/drawingml/2006/main">
            <a:off x="566928" y="2157984"/>
            <a:ext cx="11057839" cy="457200"/>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058E95AC-4742-4E17-9E50-B72BA21501CA}"/>
              </a:ext>
            </a:extLst>
          </p:cNvPr>
          <p:cNvSpPr>
            <a:spLocks xmlns:a="http://schemas.openxmlformats.org/drawingml/2006/main" noGrp="1"/>
          </p:cNvSpPr>
          <p:nvPr/>
        </p:nvSpPr>
        <p:spPr>
          <a:xfrm xmlns:a="http://schemas.openxmlformats.org/drawingml/2006/main">
            <a:off x="676656" y="22494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Entitlement and access</a:t>
            </a:r>
            <a:endParaRPr sz="980"/>
          </a:p>
        </p:txBody>
      </p:sp>
      <p:sp>
        <p:nvSpPr>
          <p:cNvPr id="16" name="Text 14">
            <a:extLst xmlns:a="http://schemas.openxmlformats.org/drawingml/2006/main">
              <a:ext uri="{FF2B5EF4-FFF2-40B4-BE49-F238E27FC236}">
                <a16:creationId xmlns:a16="http://schemas.microsoft.com/office/drawing/2014/main" id="{6FC8220D-A92C-47BF-830E-71E0296C43CB}"/>
              </a:ext>
            </a:extLst>
          </p:cNvPr>
          <p:cNvSpPr>
            <a:spLocks xmlns:a="http://schemas.openxmlformats.org/drawingml/2006/main" noGrp="1"/>
          </p:cNvSpPr>
          <p:nvPr/>
        </p:nvSpPr>
        <p:spPr>
          <a:xfrm xmlns:a="http://schemas.openxmlformats.org/drawingml/2006/main">
            <a:off x="3694176" y="22494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Role-based access, data scoping, hierarchy-driven visibility</a:t>
            </a:r>
            <a:endParaRPr sz="930"/>
          </a:p>
        </p:txBody>
      </p:sp>
      <p:sp>
        <p:nvSpPr>
          <p:cNvPr id="17" name="Text 15">
            <a:extLst xmlns:a="http://schemas.openxmlformats.org/drawingml/2006/main">
              <a:ext uri="{FF2B5EF4-FFF2-40B4-BE49-F238E27FC236}">
                <a16:creationId xmlns:a16="http://schemas.microsoft.com/office/drawing/2014/main" id="{22FF4961-82C8-4AB7-A45A-3EC2EB484756}"/>
              </a:ext>
            </a:extLst>
          </p:cNvPr>
          <p:cNvSpPr>
            <a:spLocks xmlns:a="http://schemas.openxmlformats.org/drawingml/2006/main" noGrp="1"/>
          </p:cNvSpPr>
          <p:nvPr/>
        </p:nvSpPr>
        <p:spPr>
          <a:xfrm xmlns:a="http://schemas.openxmlformats.org/drawingml/2006/main">
            <a:off x="7260336" y="22494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Programme 1 — Customer 360</a:t>
            </a:r>
            <a:endParaRPr sz="930"/>
          </a:p>
        </p:txBody>
      </p:sp>
      <p:sp>
        <p:nvSpPr>
          <p:cNvPr id="18" name="Text 16">
            <a:extLst xmlns:a="http://schemas.openxmlformats.org/drawingml/2006/main">
              <a:ext uri="{FF2B5EF4-FFF2-40B4-BE49-F238E27FC236}">
                <a16:creationId xmlns:a16="http://schemas.microsoft.com/office/drawing/2014/main" id="{8678FA1A-9F61-491C-A951-156FBA579D40}"/>
              </a:ext>
            </a:extLst>
          </p:cNvPr>
          <p:cNvSpPr>
            <a:spLocks xmlns:a="http://schemas.openxmlformats.org/drawingml/2006/main" noGrp="1"/>
          </p:cNvSpPr>
          <p:nvPr/>
        </p:nvSpPr>
        <p:spPr>
          <a:xfrm xmlns:a="http://schemas.openxmlformats.org/drawingml/2006/main">
            <a:off x="10186416" y="224942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All seven</a:t>
            </a:r>
            <a:endParaRPr sz="960"/>
          </a:p>
        </p:txBody>
      </p:sp>
      <p:sp>
        <p:nvSpPr>
          <p:cNvPr id="19" name="Shape 17">
            <a:extLst xmlns:a="http://schemas.openxmlformats.org/drawingml/2006/main">
              <a:ext uri="{FF2B5EF4-FFF2-40B4-BE49-F238E27FC236}">
                <a16:creationId xmlns:a16="http://schemas.microsoft.com/office/drawing/2014/main" id="{33BB7445-6DDE-487E-AC8A-DF811C8E829E}"/>
              </a:ext>
            </a:extLst>
          </p:cNvPr>
          <p:cNvSpPr>
            <a:spLocks xmlns:a="http://schemas.openxmlformats.org/drawingml/2006/main" noGrp="1"/>
          </p:cNvSpPr>
          <p:nvPr/>
        </p:nvSpPr>
        <p:spPr>
          <a:xfrm xmlns:a="http://schemas.openxmlformats.org/drawingml/2006/main">
            <a:off x="566928" y="2615184"/>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BFE442BC-C7E6-441B-89CF-EBADB2771B86}"/>
              </a:ext>
            </a:extLst>
          </p:cNvPr>
          <p:cNvSpPr>
            <a:spLocks xmlns:a="http://schemas.openxmlformats.org/drawingml/2006/main" noGrp="1"/>
          </p:cNvSpPr>
          <p:nvPr/>
        </p:nvSpPr>
        <p:spPr>
          <a:xfrm xmlns:a="http://schemas.openxmlformats.org/drawingml/2006/main">
            <a:off x="676656" y="27066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Parallel approval engine</a:t>
            </a:r>
            <a:endParaRPr sz="980"/>
          </a:p>
        </p:txBody>
      </p:sp>
      <p:sp>
        <p:nvSpPr>
          <p:cNvPr id="21" name="Text 19">
            <a:extLst xmlns:a="http://schemas.openxmlformats.org/drawingml/2006/main">
              <a:ext uri="{FF2B5EF4-FFF2-40B4-BE49-F238E27FC236}">
                <a16:creationId xmlns:a16="http://schemas.microsoft.com/office/drawing/2014/main" id="{9726815A-FFBA-4B98-B29D-E055FB5E4319}"/>
              </a:ext>
            </a:extLst>
          </p:cNvPr>
          <p:cNvSpPr>
            <a:spLocks xmlns:a="http://schemas.openxmlformats.org/drawingml/2006/main" noGrp="1"/>
          </p:cNvSpPr>
          <p:nvPr/>
        </p:nvSpPr>
        <p:spPr>
          <a:xfrm xmlns:a="http://schemas.openxmlformats.org/drawingml/2006/main">
            <a:off x="3694176" y="27066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Multiple control functions deciding concurrently, each with its own record</a:t>
            </a:r>
            <a:endParaRPr sz="930"/>
          </a:p>
        </p:txBody>
      </p:sp>
      <p:sp>
        <p:nvSpPr>
          <p:cNvPr id="22" name="Text 20">
            <a:extLst xmlns:a="http://schemas.openxmlformats.org/drawingml/2006/main">
              <a:ext uri="{FF2B5EF4-FFF2-40B4-BE49-F238E27FC236}">
                <a16:creationId xmlns:a16="http://schemas.microsoft.com/office/drawing/2014/main" id="{D1701C0D-25E5-4D04-98E2-D7790ADBB4C9}"/>
              </a:ext>
            </a:extLst>
          </p:cNvPr>
          <p:cNvSpPr>
            <a:spLocks xmlns:a="http://schemas.openxmlformats.org/drawingml/2006/main" noGrp="1"/>
          </p:cNvSpPr>
          <p:nvPr/>
        </p:nvSpPr>
        <p:spPr>
          <a:xfrm xmlns:a="http://schemas.openxmlformats.org/drawingml/2006/main">
            <a:off x="7260336" y="27066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Programme 2 — Deal and credit</a:t>
            </a:r>
            <a:endParaRPr sz="930"/>
          </a:p>
        </p:txBody>
      </p:sp>
      <p:sp>
        <p:nvSpPr>
          <p:cNvPr id="23" name="Text 21">
            <a:extLst xmlns:a="http://schemas.openxmlformats.org/drawingml/2006/main">
              <a:ext uri="{FF2B5EF4-FFF2-40B4-BE49-F238E27FC236}">
                <a16:creationId xmlns:a16="http://schemas.microsoft.com/office/drawing/2014/main" id="{B3F0DA50-A44C-4A3E-8AA1-04EDF31DD7BE}"/>
              </a:ext>
            </a:extLst>
          </p:cNvPr>
          <p:cNvSpPr>
            <a:spLocks xmlns:a="http://schemas.openxmlformats.org/drawingml/2006/main" noGrp="1"/>
          </p:cNvSpPr>
          <p:nvPr/>
        </p:nvSpPr>
        <p:spPr>
          <a:xfrm xmlns:a="http://schemas.openxmlformats.org/drawingml/2006/main">
            <a:off x="10186416" y="270662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Three</a:t>
            </a:r>
            <a:endParaRPr sz="960"/>
          </a:p>
        </p:txBody>
      </p:sp>
      <p:sp>
        <p:nvSpPr>
          <p:cNvPr id="24" name="Shape 22">
            <a:extLst xmlns:a="http://schemas.openxmlformats.org/drawingml/2006/main">
              <a:ext uri="{FF2B5EF4-FFF2-40B4-BE49-F238E27FC236}">
                <a16:creationId xmlns:a16="http://schemas.microsoft.com/office/drawing/2014/main" id="{15FE4549-E023-404C-B9DD-586BADC5F84F}"/>
              </a:ext>
            </a:extLst>
          </p:cNvPr>
          <p:cNvSpPr>
            <a:spLocks xmlns:a="http://schemas.openxmlformats.org/drawingml/2006/main" noGrp="1"/>
          </p:cNvSpPr>
          <p:nvPr/>
        </p:nvSpPr>
        <p:spPr>
          <a:xfrm xmlns:a="http://schemas.openxmlformats.org/drawingml/2006/main">
            <a:off x="566928" y="3072384"/>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2BB79935-CE9F-47AC-B95D-1FA1842DBE37}"/>
              </a:ext>
            </a:extLst>
          </p:cNvPr>
          <p:cNvSpPr>
            <a:spLocks xmlns:a="http://schemas.openxmlformats.org/drawingml/2006/main" noGrp="1"/>
          </p:cNvSpPr>
          <p:nvPr/>
        </p:nvSpPr>
        <p:spPr>
          <a:xfrm xmlns:a="http://schemas.openxmlformats.org/drawingml/2006/main">
            <a:off x="566928" y="3072384"/>
            <a:ext cx="11057839" cy="457200"/>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6437F0FB-3115-4E97-B853-269DFFBCD792}"/>
              </a:ext>
            </a:extLst>
          </p:cNvPr>
          <p:cNvSpPr>
            <a:spLocks xmlns:a="http://schemas.openxmlformats.org/drawingml/2006/main" noGrp="1"/>
          </p:cNvSpPr>
          <p:nvPr/>
        </p:nvSpPr>
        <p:spPr>
          <a:xfrm xmlns:a="http://schemas.openxmlformats.org/drawingml/2006/main">
            <a:off x="676656" y="31638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Case and SLA model</a:t>
            </a:r>
            <a:endParaRPr sz="980"/>
          </a:p>
        </p:txBody>
      </p:sp>
      <p:sp>
        <p:nvSpPr>
          <p:cNvPr id="27" name="Text 25">
            <a:extLst xmlns:a="http://schemas.openxmlformats.org/drawingml/2006/main">
              <a:ext uri="{FF2B5EF4-FFF2-40B4-BE49-F238E27FC236}">
                <a16:creationId xmlns:a16="http://schemas.microsoft.com/office/drawing/2014/main" id="{C0F5816C-86B9-47C1-A9C4-419964CAE872}"/>
              </a:ext>
            </a:extLst>
          </p:cNvPr>
          <p:cNvSpPr>
            <a:spLocks xmlns:a="http://schemas.openxmlformats.org/drawingml/2006/main" noGrp="1"/>
          </p:cNvSpPr>
          <p:nvPr/>
        </p:nvSpPr>
        <p:spPr>
          <a:xfrm xmlns:a="http://schemas.openxmlformats.org/drawingml/2006/main">
            <a:off x="3694176" y="31638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Queues, escalation ladders, service-level timers, dispositions</a:t>
            </a:r>
            <a:endParaRPr sz="930"/>
          </a:p>
        </p:txBody>
      </p:sp>
      <p:sp>
        <p:nvSpPr>
          <p:cNvPr id="28" name="Text 26">
            <a:extLst xmlns:a="http://schemas.openxmlformats.org/drawingml/2006/main">
              <a:ext uri="{FF2B5EF4-FFF2-40B4-BE49-F238E27FC236}">
                <a16:creationId xmlns:a16="http://schemas.microsoft.com/office/drawing/2014/main" id="{ADB60218-2A34-41BE-814E-49A0F6D3A011}"/>
              </a:ext>
            </a:extLst>
          </p:cNvPr>
          <p:cNvSpPr>
            <a:spLocks xmlns:a="http://schemas.openxmlformats.org/drawingml/2006/main" noGrp="1"/>
          </p:cNvSpPr>
          <p:nvPr/>
        </p:nvSpPr>
        <p:spPr>
          <a:xfrm xmlns:a="http://schemas.openxmlformats.org/drawingml/2006/main">
            <a:off x="7260336" y="31638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Programme 3 — Service</a:t>
            </a:r>
            <a:endParaRPr sz="930"/>
          </a:p>
        </p:txBody>
      </p:sp>
      <p:sp>
        <p:nvSpPr>
          <p:cNvPr id="29" name="Text 27">
            <a:extLst xmlns:a="http://schemas.openxmlformats.org/drawingml/2006/main">
              <a:ext uri="{FF2B5EF4-FFF2-40B4-BE49-F238E27FC236}">
                <a16:creationId xmlns:a16="http://schemas.microsoft.com/office/drawing/2014/main" id="{ED0C648F-2F5A-4BD9-912E-E0ED4BE21DDB}"/>
              </a:ext>
            </a:extLst>
          </p:cNvPr>
          <p:cNvSpPr>
            <a:spLocks xmlns:a="http://schemas.openxmlformats.org/drawingml/2006/main" noGrp="1"/>
          </p:cNvSpPr>
          <p:nvPr/>
        </p:nvSpPr>
        <p:spPr>
          <a:xfrm xmlns:a="http://schemas.openxmlformats.org/drawingml/2006/main">
            <a:off x="10186416" y="316382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Four</a:t>
            </a:r>
            <a:endParaRPr sz="960"/>
          </a:p>
        </p:txBody>
      </p:sp>
      <p:sp>
        <p:nvSpPr>
          <p:cNvPr id="30" name="Shape 28">
            <a:extLst xmlns:a="http://schemas.openxmlformats.org/drawingml/2006/main">
              <a:ext uri="{FF2B5EF4-FFF2-40B4-BE49-F238E27FC236}">
                <a16:creationId xmlns:a16="http://schemas.microsoft.com/office/drawing/2014/main" id="{4CAC2D26-0529-471B-A48B-49D92346A84B}"/>
              </a:ext>
            </a:extLst>
          </p:cNvPr>
          <p:cNvSpPr>
            <a:spLocks xmlns:a="http://schemas.openxmlformats.org/drawingml/2006/main" noGrp="1"/>
          </p:cNvSpPr>
          <p:nvPr/>
        </p:nvSpPr>
        <p:spPr>
          <a:xfrm xmlns:a="http://schemas.openxmlformats.org/drawingml/2006/main">
            <a:off x="566928" y="3529584"/>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A8F61498-5C3C-43E5-B67C-1F587AA9D449}"/>
              </a:ext>
            </a:extLst>
          </p:cNvPr>
          <p:cNvSpPr>
            <a:spLocks xmlns:a="http://schemas.openxmlformats.org/drawingml/2006/main" noGrp="1"/>
          </p:cNvSpPr>
          <p:nvPr/>
        </p:nvSpPr>
        <p:spPr>
          <a:xfrm xmlns:a="http://schemas.openxmlformats.org/drawingml/2006/main">
            <a:off x="676656" y="36210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Document and evidence store</a:t>
            </a:r>
            <a:endParaRPr sz="980"/>
          </a:p>
        </p:txBody>
      </p:sp>
      <p:sp>
        <p:nvSpPr>
          <p:cNvPr id="32" name="Text 30">
            <a:extLst xmlns:a="http://schemas.openxmlformats.org/drawingml/2006/main">
              <a:ext uri="{FF2B5EF4-FFF2-40B4-BE49-F238E27FC236}">
                <a16:creationId xmlns:a16="http://schemas.microsoft.com/office/drawing/2014/main" id="{88126293-3734-4635-9CC9-E9C74148A89E}"/>
              </a:ext>
            </a:extLst>
          </p:cNvPr>
          <p:cNvSpPr>
            <a:spLocks xmlns:a="http://schemas.openxmlformats.org/drawingml/2006/main" noGrp="1"/>
          </p:cNvSpPr>
          <p:nvPr/>
        </p:nvSpPr>
        <p:spPr>
          <a:xfrm xmlns:a="http://schemas.openxmlformats.org/drawingml/2006/main">
            <a:off x="3694176" y="36210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One store, one retention policy, one audit surface across programmes</a:t>
            </a:r>
            <a:endParaRPr sz="930"/>
          </a:p>
        </p:txBody>
      </p:sp>
      <p:sp>
        <p:nvSpPr>
          <p:cNvPr id="33" name="Text 31">
            <a:extLst xmlns:a="http://schemas.openxmlformats.org/drawingml/2006/main">
              <a:ext uri="{FF2B5EF4-FFF2-40B4-BE49-F238E27FC236}">
                <a16:creationId xmlns:a16="http://schemas.microsoft.com/office/drawing/2014/main" id="{CB92B376-AC3A-4950-A055-0E3E3EE0C65D}"/>
              </a:ext>
            </a:extLst>
          </p:cNvPr>
          <p:cNvSpPr>
            <a:spLocks xmlns:a="http://schemas.openxmlformats.org/drawingml/2006/main" noGrp="1"/>
          </p:cNvSpPr>
          <p:nvPr/>
        </p:nvSpPr>
        <p:spPr>
          <a:xfrm xmlns:a="http://schemas.openxmlformats.org/drawingml/2006/main">
            <a:off x="7260336" y="36210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Programme 2 — Deal and credit</a:t>
            </a:r>
            <a:endParaRPr sz="930"/>
          </a:p>
        </p:txBody>
      </p:sp>
      <p:sp>
        <p:nvSpPr>
          <p:cNvPr id="34" name="Text 32">
            <a:extLst xmlns:a="http://schemas.openxmlformats.org/drawingml/2006/main">
              <a:ext uri="{FF2B5EF4-FFF2-40B4-BE49-F238E27FC236}">
                <a16:creationId xmlns:a16="http://schemas.microsoft.com/office/drawing/2014/main" id="{0E88B544-D06C-40F4-BFB4-02A6EB430427}"/>
              </a:ext>
            </a:extLst>
          </p:cNvPr>
          <p:cNvSpPr>
            <a:spLocks xmlns:a="http://schemas.openxmlformats.org/drawingml/2006/main" noGrp="1"/>
          </p:cNvSpPr>
          <p:nvPr/>
        </p:nvSpPr>
        <p:spPr>
          <a:xfrm xmlns:a="http://schemas.openxmlformats.org/drawingml/2006/main">
            <a:off x="10186416" y="362102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Five</a:t>
            </a:r>
            <a:endParaRPr sz="960"/>
          </a:p>
        </p:txBody>
      </p:sp>
      <p:sp>
        <p:nvSpPr>
          <p:cNvPr id="35" name="Shape 33">
            <a:extLst xmlns:a="http://schemas.openxmlformats.org/drawingml/2006/main">
              <a:ext uri="{FF2B5EF4-FFF2-40B4-BE49-F238E27FC236}">
                <a16:creationId xmlns:a16="http://schemas.microsoft.com/office/drawing/2014/main" id="{5D1918E2-DB41-4426-BCCE-D6C581A2ECE5}"/>
              </a:ext>
            </a:extLst>
          </p:cNvPr>
          <p:cNvSpPr>
            <a:spLocks xmlns:a="http://schemas.openxmlformats.org/drawingml/2006/main" noGrp="1"/>
          </p:cNvSpPr>
          <p:nvPr/>
        </p:nvSpPr>
        <p:spPr>
          <a:xfrm xmlns:a="http://schemas.openxmlformats.org/drawingml/2006/main">
            <a:off x="566928" y="398678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31DE9BF5-FA0D-4F9B-8B86-D150F787970A}"/>
              </a:ext>
            </a:extLst>
          </p:cNvPr>
          <p:cNvSpPr>
            <a:spLocks xmlns:a="http://schemas.openxmlformats.org/drawingml/2006/main" noGrp="1"/>
          </p:cNvSpPr>
          <p:nvPr/>
        </p:nvSpPr>
        <p:spPr>
          <a:xfrm xmlns:a="http://schemas.openxmlformats.org/drawingml/2006/main">
            <a:off x="566928" y="3986784"/>
            <a:ext cx="11057839" cy="457200"/>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9AF92326-3312-48E5-B060-95C0E83A2760}"/>
              </a:ext>
            </a:extLst>
          </p:cNvPr>
          <p:cNvSpPr>
            <a:spLocks xmlns:a="http://schemas.openxmlformats.org/drawingml/2006/main" noGrp="1"/>
          </p:cNvSpPr>
          <p:nvPr/>
        </p:nvSpPr>
        <p:spPr>
          <a:xfrm xmlns:a="http://schemas.openxmlformats.org/drawingml/2006/main">
            <a:off x="676656" y="40782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Integration contracts</a:t>
            </a:r>
            <a:endParaRPr sz="980"/>
          </a:p>
        </p:txBody>
      </p:sp>
      <p:sp>
        <p:nvSpPr>
          <p:cNvPr id="38" name="Text 36">
            <a:extLst xmlns:a="http://schemas.openxmlformats.org/drawingml/2006/main">
              <a:ext uri="{FF2B5EF4-FFF2-40B4-BE49-F238E27FC236}">
                <a16:creationId xmlns:a16="http://schemas.microsoft.com/office/drawing/2014/main" id="{FEBA14F9-2438-4A03-A470-F4084CF2DB38}"/>
              </a:ext>
            </a:extLst>
          </p:cNvPr>
          <p:cNvSpPr>
            <a:spLocks xmlns:a="http://schemas.openxmlformats.org/drawingml/2006/main" noGrp="1"/>
          </p:cNvSpPr>
          <p:nvPr/>
        </p:nvSpPr>
        <p:spPr>
          <a:xfrm xmlns:a="http://schemas.openxmlformats.org/drawingml/2006/main">
            <a:off x="3694176" y="40782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Governed interfaces to core, risk, document and analytics systems</a:t>
            </a:r>
            <a:endParaRPr sz="930"/>
          </a:p>
        </p:txBody>
      </p:sp>
      <p:sp>
        <p:nvSpPr>
          <p:cNvPr id="39" name="Text 37">
            <a:extLst xmlns:a="http://schemas.openxmlformats.org/drawingml/2006/main">
              <a:ext uri="{FF2B5EF4-FFF2-40B4-BE49-F238E27FC236}">
                <a16:creationId xmlns:a16="http://schemas.microsoft.com/office/drawing/2014/main" id="{82631F55-E3C5-4983-A745-3D2EF9230353}"/>
              </a:ext>
            </a:extLst>
          </p:cNvPr>
          <p:cNvSpPr>
            <a:spLocks xmlns:a="http://schemas.openxmlformats.org/drawingml/2006/main" noGrp="1"/>
          </p:cNvSpPr>
          <p:nvPr/>
        </p:nvSpPr>
        <p:spPr>
          <a:xfrm xmlns:a="http://schemas.openxmlformats.org/drawingml/2006/main">
            <a:off x="7260336" y="40782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Programmes 1 and 2</a:t>
            </a:r>
            <a:endParaRPr sz="930"/>
          </a:p>
        </p:txBody>
      </p:sp>
      <p:sp>
        <p:nvSpPr>
          <p:cNvPr id="40" name="Text 38">
            <a:extLst xmlns:a="http://schemas.openxmlformats.org/drawingml/2006/main">
              <a:ext uri="{FF2B5EF4-FFF2-40B4-BE49-F238E27FC236}">
                <a16:creationId xmlns:a16="http://schemas.microsoft.com/office/drawing/2014/main" id="{5EAE9C9F-0FBA-47A9-A8C1-083685DC48EC}"/>
              </a:ext>
            </a:extLst>
          </p:cNvPr>
          <p:cNvSpPr>
            <a:spLocks xmlns:a="http://schemas.openxmlformats.org/drawingml/2006/main" noGrp="1"/>
          </p:cNvSpPr>
          <p:nvPr/>
        </p:nvSpPr>
        <p:spPr>
          <a:xfrm xmlns:a="http://schemas.openxmlformats.org/drawingml/2006/main">
            <a:off x="10186416" y="407822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60" b="1">
                <a:solidFill>
                  <a:srgbClr val="B04A25"/>
                </a:solidFill>
                <a:latin typeface="Arial"/>
                <a:ea typeface="Arial"/>
                <a:cs typeface="Arial"/>
              </a:rPr>
              <a:t>All seven</a:t>
            </a:r>
            <a:endParaRPr sz="960"/>
          </a:p>
        </p:txBody>
      </p:sp>
      <p:sp>
        <p:nvSpPr>
          <p:cNvPr id="41" name="Shape 39">
            <a:extLst xmlns:a="http://schemas.openxmlformats.org/drawingml/2006/main">
              <a:ext uri="{FF2B5EF4-FFF2-40B4-BE49-F238E27FC236}">
                <a16:creationId xmlns:a16="http://schemas.microsoft.com/office/drawing/2014/main" id="{266D9E25-B3DC-465A-BC7E-1AA76CC1CB30}"/>
              </a:ext>
            </a:extLst>
          </p:cNvPr>
          <p:cNvSpPr>
            <a:spLocks xmlns:a="http://schemas.openxmlformats.org/drawingml/2006/main" noGrp="1"/>
          </p:cNvSpPr>
          <p:nvPr/>
        </p:nvSpPr>
        <p:spPr>
          <a:xfrm xmlns:a="http://schemas.openxmlformats.org/drawingml/2006/main">
            <a:off x="566928" y="4443984"/>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ED3338D9-F758-426B-964A-888E1233D3F8}"/>
              </a:ext>
            </a:extLst>
          </p:cNvPr>
          <p:cNvSpPr>
            <a:spLocks xmlns:a="http://schemas.openxmlformats.org/drawingml/2006/main" noGrp="1"/>
          </p:cNvSpPr>
          <p:nvPr/>
        </p:nvSpPr>
        <p:spPr>
          <a:xfrm xmlns:a="http://schemas.openxmlformats.org/drawingml/2006/main">
            <a:off x="566928" y="466344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rule that made this work</a:t>
            </a:r>
            <a:endParaRPr sz="1100"/>
          </a:p>
        </p:txBody>
      </p:sp>
      <p:sp>
        <p:nvSpPr>
          <p:cNvPr id="43" name="Shape 41">
            <a:extLst xmlns:a="http://schemas.openxmlformats.org/drawingml/2006/main">
              <a:ext uri="{FF2B5EF4-FFF2-40B4-BE49-F238E27FC236}">
                <a16:creationId xmlns:a16="http://schemas.microsoft.com/office/drawing/2014/main" id="{6BB98FF0-A67A-4B22-ACB2-73AD2B470444}"/>
              </a:ext>
            </a:extLst>
          </p:cNvPr>
          <p:cNvSpPr>
            <a:spLocks xmlns:a="http://schemas.openxmlformats.org/drawingml/2006/main" noGrp="1"/>
          </p:cNvSpPr>
          <p:nvPr/>
        </p:nvSpPr>
        <p:spPr>
          <a:xfrm xmlns:a="http://schemas.openxmlformats.org/drawingml/2006/main">
            <a:off x="566928" y="4919472"/>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FAD8B3B6-13AD-42F0-8CD6-02B3E67116B2}"/>
              </a:ext>
            </a:extLst>
          </p:cNvPr>
          <p:cNvSpPr>
            <a:spLocks xmlns:a="http://schemas.openxmlformats.org/drawingml/2006/main" noGrp="1"/>
          </p:cNvSpPr>
          <p:nvPr/>
        </p:nvSpPr>
        <p:spPr>
          <a:xfrm xmlns:a="http://schemas.openxmlformats.org/drawingml/2006/main">
            <a:off x="566928" y="5047488"/>
            <a:ext cx="3551834"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No asset was built as a platform initiative. Each was built inside a programme that independently needed it.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Each stayed funded by a business case and proven by a real use.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 shared asset with no first customer is a design exercise.</a:t>
            </a:r>
            <a:endParaRPr sz="920"/>
          </a:p>
        </p:txBody>
      </p:sp>
      <p:sp>
        <p:nvSpPr>
          <p:cNvPr id="45" name="Text 43">
            <a:extLst xmlns:a="http://schemas.openxmlformats.org/drawingml/2006/main">
              <a:ext uri="{FF2B5EF4-FFF2-40B4-BE49-F238E27FC236}">
                <a16:creationId xmlns:a16="http://schemas.microsoft.com/office/drawing/2014/main" id="{FE0C43BB-EB23-4D5F-8F88-97BE39F349FC}"/>
              </a:ext>
            </a:extLst>
          </p:cNvPr>
          <p:cNvSpPr>
            <a:spLocks xmlns:a="http://schemas.openxmlformats.org/drawingml/2006/main" noGrp="1"/>
          </p:cNvSpPr>
          <p:nvPr/>
        </p:nvSpPr>
        <p:spPr>
          <a:xfrm xmlns:a="http://schemas.openxmlformats.org/drawingml/2006/main">
            <a:off x="4319930" y="466344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rule that protected it</a:t>
            </a:r>
            <a:endParaRPr sz="1100"/>
          </a:p>
        </p:txBody>
      </p:sp>
      <p:sp>
        <p:nvSpPr>
          <p:cNvPr id="46" name="Shape 44">
            <a:extLst xmlns:a="http://schemas.openxmlformats.org/drawingml/2006/main">
              <a:ext uri="{FF2B5EF4-FFF2-40B4-BE49-F238E27FC236}">
                <a16:creationId xmlns:a16="http://schemas.microsoft.com/office/drawing/2014/main" id="{0B658C74-FE1D-46F8-90F4-F46EF1E30A94}"/>
              </a:ext>
            </a:extLst>
          </p:cNvPr>
          <p:cNvSpPr>
            <a:spLocks xmlns:a="http://schemas.openxmlformats.org/drawingml/2006/main" noGrp="1"/>
          </p:cNvSpPr>
          <p:nvPr/>
        </p:nvSpPr>
        <p:spPr>
          <a:xfrm xmlns:a="http://schemas.openxmlformats.org/drawingml/2006/main">
            <a:off x="4319930" y="4919472"/>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3F5E6850-523D-45F4-AFB7-13416362939F}"/>
              </a:ext>
            </a:extLst>
          </p:cNvPr>
          <p:cNvSpPr>
            <a:spLocks xmlns:a="http://schemas.openxmlformats.org/drawingml/2006/main" noGrp="1"/>
          </p:cNvSpPr>
          <p:nvPr/>
        </p:nvSpPr>
        <p:spPr>
          <a:xfrm xmlns:a="http://schemas.openxmlformats.org/drawingml/2006/main">
            <a:off x="4319930" y="5047488"/>
            <a:ext cx="3551834"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second programme to need an asset extends it; it never forks it.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That decision is made under delivery pressure, by someone accountable above one programme.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Across eight programmes it was the single most repeated argument.</a:t>
            </a:r>
            <a:endParaRPr sz="920"/>
          </a:p>
        </p:txBody>
      </p:sp>
      <p:sp>
        <p:nvSpPr>
          <p:cNvPr id="48" name="Text 46">
            <a:extLst xmlns:a="http://schemas.openxmlformats.org/drawingml/2006/main">
              <a:ext uri="{FF2B5EF4-FFF2-40B4-BE49-F238E27FC236}">
                <a16:creationId xmlns:a16="http://schemas.microsoft.com/office/drawing/2014/main" id="{F27B119B-08BA-43B9-868D-DE040F729A8E}"/>
              </a:ext>
            </a:extLst>
          </p:cNvPr>
          <p:cNvSpPr>
            <a:spLocks xmlns:a="http://schemas.openxmlformats.org/drawingml/2006/main" noGrp="1"/>
          </p:cNvSpPr>
          <p:nvPr/>
        </p:nvSpPr>
        <p:spPr>
          <a:xfrm xmlns:a="http://schemas.openxmlformats.org/drawingml/2006/main">
            <a:off x="8072933" y="466344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What it required of the team</a:t>
            </a:r>
            <a:endParaRPr sz="1100"/>
          </a:p>
        </p:txBody>
      </p:sp>
      <p:sp>
        <p:nvSpPr>
          <p:cNvPr id="49" name="Shape 47">
            <a:extLst xmlns:a="http://schemas.openxmlformats.org/drawingml/2006/main">
              <a:ext uri="{FF2B5EF4-FFF2-40B4-BE49-F238E27FC236}">
                <a16:creationId xmlns:a16="http://schemas.microsoft.com/office/drawing/2014/main" id="{7A9760ED-46E4-4310-8917-021007B82FFB}"/>
              </a:ext>
            </a:extLst>
          </p:cNvPr>
          <p:cNvSpPr>
            <a:spLocks xmlns:a="http://schemas.openxmlformats.org/drawingml/2006/main" noGrp="1"/>
          </p:cNvSpPr>
          <p:nvPr/>
        </p:nvSpPr>
        <p:spPr>
          <a:xfrm xmlns:a="http://schemas.openxmlformats.org/drawingml/2006/main">
            <a:off x="8072933" y="4919472"/>
            <a:ext cx="3551834" cy="20117"/>
          </a:xfrm>
          <a:prstGeom xmlns:a="http://schemas.openxmlformats.org/drawingml/2006/main" prst="rect">
            <a:avLst/>
          </a:prstGeom>
          <a:solidFill xmlns:a="http://schemas.openxmlformats.org/drawingml/2006/main">
            <a:srgbClr val="486581"/>
          </a:solidFill>
        </p:spPr>
      </p:sp>
      <p:sp>
        <p:nvSpPr>
          <p:cNvPr id="50" name="Text 48">
            <a:extLst xmlns:a="http://schemas.openxmlformats.org/drawingml/2006/main">
              <a:ext uri="{FF2B5EF4-FFF2-40B4-BE49-F238E27FC236}">
                <a16:creationId xmlns:a16="http://schemas.microsoft.com/office/drawing/2014/main" id="{4F1AC0C7-48B2-4A2B-B716-6BB8254268A5}"/>
              </a:ext>
            </a:extLst>
          </p:cNvPr>
          <p:cNvSpPr>
            <a:spLocks xmlns:a="http://schemas.openxmlformats.org/drawingml/2006/main" noGrp="1"/>
          </p:cNvSpPr>
          <p:nvPr/>
        </p:nvSpPr>
        <p:spPr>
          <a:xfrm xmlns:a="http://schemas.openxmlformats.org/drawingml/2006/main">
            <a:off x="8072933" y="5047488"/>
            <a:ext cx="3551834"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One team across three years — the continuity is not incidental to the result, it is most of it.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 rotating team rebuilds rather than extends — extending needs knowing what exists.</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That is an argument for team stability that a resourcing model rarely makes.</a:t>
            </a:r>
            <a:endParaRPr sz="920"/>
          </a:p>
        </p:txBody>
      </p:sp>
      <p:sp>
        <p:nvSpPr>
          <p:cNvPr id="51" name="Shape 49">
            <a:extLst xmlns:a="http://schemas.openxmlformats.org/drawingml/2006/main">
              <a:ext uri="{FF2B5EF4-FFF2-40B4-BE49-F238E27FC236}">
                <a16:creationId xmlns:a16="http://schemas.microsoft.com/office/drawing/2014/main" id="{E1EC470B-F362-45AF-878C-3CF92233B1D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0EDFFBE2-C179-41A4-AB22-D39184986F5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2018–2020 engagement</a:t>
            </a:r>
            <a:endParaRPr sz="850"/>
          </a:p>
        </p:txBody>
      </p:sp>
      <p:sp>
        <p:nvSpPr>
          <p:cNvPr id="53" name="Text 51">
            <a:extLst xmlns:a="http://schemas.openxmlformats.org/drawingml/2006/main">
              <a:ext uri="{FF2B5EF4-FFF2-40B4-BE49-F238E27FC236}">
                <a16:creationId xmlns:a16="http://schemas.microsoft.com/office/drawing/2014/main" id="{BF89FE1D-8CB6-4C63-B61B-9486740E79A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365848453"/>
      </p:ext>
    </p:extLst>
  </p:cSld>
</p:sld>
</file>

<file path=ppt/slides/slide17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DA158B-5C29-4479-9E0F-8FD6D066FC6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RETROSPECTIVE</a:t>
            </a:r>
            <a:endParaRPr sz="950"/>
          </a:p>
        </p:txBody>
      </p:sp>
      <p:sp>
        <p:nvSpPr>
          <p:cNvPr id="3" name="Text 1">
            <a:extLst xmlns:a="http://schemas.openxmlformats.org/drawingml/2006/main">
              <a:ext uri="{FF2B5EF4-FFF2-40B4-BE49-F238E27FC236}">
                <a16:creationId xmlns:a16="http://schemas.microsoft.com/office/drawing/2014/main" id="{25CB52FA-8D8A-4BC7-8B2E-310485873B1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What held across eight programmes, what did not, and what I would sequence</a:t>
            </a:r>
            <a:endParaRPr sz="1900"/>
          </a:p>
          <a:p xmlns:a="http://schemas.openxmlformats.org/drawingml/2006/main">
            <a:pPr marL="0" indent="0">
              <a:lnSpc>
                <a:spcPts val="2400"/>
              </a:lnSpc>
              <a:buNone/>
            </a:pPr>
            <a:r>
              <a:rPr sz="1900" b="1">
                <a:solidFill>
                  <a:srgbClr val="102A43"/>
                </a:solidFill>
                <a:latin typeface="Arial"/>
                <a:ea typeface="Arial"/>
                <a:cs typeface="Arial"/>
              </a:rPr>
              <a:t>differently on the next portfolio</a:t>
            </a:r>
            <a:endParaRPr sz="1900"/>
          </a:p>
        </p:txBody>
      </p:sp>
      <p:sp>
        <p:nvSpPr>
          <p:cNvPr id="4" name="Text 2">
            <a:extLst xmlns:a="http://schemas.openxmlformats.org/drawingml/2006/main">
              <a:ext uri="{FF2B5EF4-FFF2-40B4-BE49-F238E27FC236}">
                <a16:creationId xmlns:a16="http://schemas.microsoft.com/office/drawing/2014/main" id="{3E44BEAD-2ED9-4FF8-A2D1-35F578B65D00}"/>
              </a:ext>
            </a:extLst>
          </p:cNvPr>
          <p:cNvSpPr>
            <a:spLocks xmlns:a="http://schemas.openxmlformats.org/drawingml/2006/main" noGrp="1"/>
          </p:cNvSpPr>
          <p:nvPr/>
        </p:nvSpPr>
        <p:spPr>
          <a:xfrm xmlns:a="http://schemas.openxmlformats.org/drawingml/2006/main">
            <a:off x="566928"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7685A"/>
                </a:solidFill>
                <a:latin typeface="Arial"/>
                <a:ea typeface="Arial"/>
                <a:cs typeface="Arial"/>
              </a:rPr>
              <a:t>What held</a:t>
            </a:r>
            <a:endParaRPr sz="1300"/>
          </a:p>
        </p:txBody>
      </p:sp>
      <p:sp>
        <p:nvSpPr>
          <p:cNvPr id="5" name="Shape 3">
            <a:extLst xmlns:a="http://schemas.openxmlformats.org/drawingml/2006/main">
              <a:ext uri="{FF2B5EF4-FFF2-40B4-BE49-F238E27FC236}">
                <a16:creationId xmlns:a16="http://schemas.microsoft.com/office/drawing/2014/main" id="{4635FCED-648C-40BB-8FDF-561784E72F91}"/>
              </a:ext>
            </a:extLst>
          </p:cNvPr>
          <p:cNvSpPr>
            <a:spLocks xmlns:a="http://schemas.openxmlformats.org/drawingml/2006/main" noGrp="1"/>
          </p:cNvSpPr>
          <p:nvPr/>
        </p:nvSpPr>
        <p:spPr>
          <a:xfrm xmlns:a="http://schemas.openxmlformats.org/drawingml/2006/main">
            <a:off x="566928" y="1627632"/>
            <a:ext cx="3551834" cy="22860"/>
          </a:xfrm>
          <a:prstGeom xmlns:a="http://schemas.openxmlformats.org/drawingml/2006/main" prst="rect">
            <a:avLst/>
          </a:prstGeom>
          <a:solidFill xmlns:a="http://schemas.openxmlformats.org/drawingml/2006/main">
            <a:srgbClr val="27685A"/>
          </a:solidFill>
        </p:spPr>
      </p:sp>
      <p:sp>
        <p:nvSpPr>
          <p:cNvPr id="6" name="Text 4">
            <a:extLst xmlns:a="http://schemas.openxmlformats.org/drawingml/2006/main">
              <a:ext uri="{FF2B5EF4-FFF2-40B4-BE49-F238E27FC236}">
                <a16:creationId xmlns:a16="http://schemas.microsoft.com/office/drawing/2014/main" id="{3A1132DB-0D29-4FA4-B277-0991DCA74287}"/>
              </a:ext>
            </a:extLst>
          </p:cNvPr>
          <p:cNvSpPr>
            <a:spLocks xmlns:a="http://schemas.openxmlformats.org/drawingml/2006/main" noGrp="1"/>
          </p:cNvSpPr>
          <p:nvPr/>
        </p:nvSpPr>
        <p:spPr>
          <a:xfrm xmlns:a="http://schemas.openxmlformats.org/drawingml/2006/main">
            <a:off x="566928"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Sequencing Customer 360 first despite it having the weakest standalone business case in the portfolio.</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Building the parallel-approval engine inside the programme that most needed it, rather than as a platform initiative.</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Keeping one team across three years — most of the compounding traces back to continuity rather than to design.</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Refusing the first fork. Each refusal was contested and each one held the model together.</a:t>
            </a:r>
            <a:endParaRPr sz="1000"/>
          </a:p>
        </p:txBody>
      </p:sp>
      <p:sp>
        <p:nvSpPr>
          <p:cNvPr id="7" name="Text 5">
            <a:extLst xmlns:a="http://schemas.openxmlformats.org/drawingml/2006/main">
              <a:ext uri="{FF2B5EF4-FFF2-40B4-BE49-F238E27FC236}">
                <a16:creationId xmlns:a16="http://schemas.microsoft.com/office/drawing/2014/main" id="{1715FA2C-BC7E-407B-8B96-61001E36A049}"/>
              </a:ext>
            </a:extLst>
          </p:cNvPr>
          <p:cNvSpPr>
            <a:spLocks xmlns:a="http://schemas.openxmlformats.org/drawingml/2006/main" noGrp="1"/>
          </p:cNvSpPr>
          <p:nvPr/>
        </p:nvSpPr>
        <p:spPr>
          <a:xfrm xmlns:a="http://schemas.openxmlformats.org/drawingml/2006/main">
            <a:off x="4319930"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B04A25"/>
                </a:solidFill>
                <a:latin typeface="Arial"/>
                <a:ea typeface="Arial"/>
                <a:cs typeface="Arial"/>
              </a:rPr>
              <a:t>What did not</a:t>
            </a:r>
            <a:endParaRPr sz="1300"/>
          </a:p>
        </p:txBody>
      </p:sp>
      <p:sp>
        <p:nvSpPr>
          <p:cNvPr id="8" name="Shape 6">
            <a:extLst xmlns:a="http://schemas.openxmlformats.org/drawingml/2006/main">
              <a:ext uri="{FF2B5EF4-FFF2-40B4-BE49-F238E27FC236}">
                <a16:creationId xmlns:a16="http://schemas.microsoft.com/office/drawing/2014/main" id="{F0C9F708-66A3-4912-9A64-3B3579707908}"/>
              </a:ext>
            </a:extLst>
          </p:cNvPr>
          <p:cNvSpPr>
            <a:spLocks xmlns:a="http://schemas.openxmlformats.org/drawingml/2006/main" noGrp="1"/>
          </p:cNvSpPr>
          <p:nvPr/>
        </p:nvSpPr>
        <p:spPr>
          <a:xfrm xmlns:a="http://schemas.openxmlformats.org/drawingml/2006/main">
            <a:off x="4319930" y="1627632"/>
            <a:ext cx="3551834" cy="22860"/>
          </a:xfrm>
          <a:prstGeom xmlns:a="http://schemas.openxmlformats.org/drawingml/2006/main" prst="rect">
            <a:avLst/>
          </a:prstGeom>
          <a:solidFill xmlns:a="http://schemas.openxmlformats.org/drawingml/2006/main">
            <a:srgbClr val="B04A25"/>
          </a:solidFill>
        </p:spPr>
      </p:sp>
      <p:sp>
        <p:nvSpPr>
          <p:cNvPr id="9" name="Text 7">
            <a:extLst xmlns:a="http://schemas.openxmlformats.org/drawingml/2006/main">
              <a:ext uri="{FF2B5EF4-FFF2-40B4-BE49-F238E27FC236}">
                <a16:creationId xmlns:a16="http://schemas.microsoft.com/office/drawing/2014/main" id="{09DAFAD8-1AE2-47CB-8323-C0743FC77ABC}"/>
              </a:ext>
            </a:extLst>
          </p:cNvPr>
          <p:cNvSpPr>
            <a:spLocks xmlns:a="http://schemas.openxmlformats.org/drawingml/2006/main" noGrp="1"/>
          </p:cNvSpPr>
          <p:nvPr/>
        </p:nvSpPr>
        <p:spPr>
          <a:xfrm xmlns:a="http://schemas.openxmlformats.org/drawingml/2006/main">
            <a:off x="4319930"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Control-function engagement was treated as a per-programme activity. Five functions were re-briefed eight times, which was avoidable and expensive in their time, not ours.</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Reporting was built per programme and only consolidated later — the one asset that should have been shared and was not.</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The compounding was never made visible to sponsors, so each programme was still justified as though it were the first.</a:t>
            </a:r>
            <a:endParaRPr sz="1000"/>
          </a:p>
        </p:txBody>
      </p:sp>
      <p:sp>
        <p:nvSpPr>
          <p:cNvPr id="10" name="Text 8">
            <a:extLst xmlns:a="http://schemas.openxmlformats.org/drawingml/2006/main">
              <a:ext uri="{FF2B5EF4-FFF2-40B4-BE49-F238E27FC236}">
                <a16:creationId xmlns:a16="http://schemas.microsoft.com/office/drawing/2014/main" id="{9E1BDB4C-74F7-4206-9867-8EF2F5475559}"/>
              </a:ext>
            </a:extLst>
          </p:cNvPr>
          <p:cNvSpPr>
            <a:spLocks xmlns:a="http://schemas.openxmlformats.org/drawingml/2006/main" noGrp="1"/>
          </p:cNvSpPr>
          <p:nvPr/>
        </p:nvSpPr>
        <p:spPr>
          <a:xfrm xmlns:a="http://schemas.openxmlformats.org/drawingml/2006/main">
            <a:off x="8072933"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486581"/>
                </a:solidFill>
                <a:latin typeface="Arial"/>
                <a:ea typeface="Arial"/>
                <a:cs typeface="Arial"/>
              </a:rPr>
              <a:t>What I would change</a:t>
            </a:r>
            <a:endParaRPr sz="1300"/>
          </a:p>
        </p:txBody>
      </p:sp>
      <p:sp>
        <p:nvSpPr>
          <p:cNvPr id="11" name="Shape 9">
            <a:extLst xmlns:a="http://schemas.openxmlformats.org/drawingml/2006/main">
              <a:ext uri="{FF2B5EF4-FFF2-40B4-BE49-F238E27FC236}">
                <a16:creationId xmlns:a16="http://schemas.microsoft.com/office/drawing/2014/main" id="{1FCD439B-37D0-4F55-831B-CAE65853E029}"/>
              </a:ext>
            </a:extLst>
          </p:cNvPr>
          <p:cNvSpPr>
            <a:spLocks xmlns:a="http://schemas.openxmlformats.org/drawingml/2006/main" noGrp="1"/>
          </p:cNvSpPr>
          <p:nvPr/>
        </p:nvSpPr>
        <p:spPr>
          <a:xfrm xmlns:a="http://schemas.openxmlformats.org/drawingml/2006/main">
            <a:off x="8072933" y="1627632"/>
            <a:ext cx="3551834" cy="22860"/>
          </a:xfrm>
          <a:prstGeom xmlns:a="http://schemas.openxmlformats.org/drawingml/2006/main" prst="rect">
            <a:avLst/>
          </a:prstGeom>
          <a:solidFill xmlns:a="http://schemas.openxmlformats.org/drawingml/2006/main">
            <a:srgbClr val="486581"/>
          </a:solidFill>
        </p:spPr>
      </p:sp>
      <p:sp>
        <p:nvSpPr>
          <p:cNvPr id="12" name="Text 10">
            <a:extLst xmlns:a="http://schemas.openxmlformats.org/drawingml/2006/main">
              <a:ext uri="{FF2B5EF4-FFF2-40B4-BE49-F238E27FC236}">
                <a16:creationId xmlns:a16="http://schemas.microsoft.com/office/drawing/2014/main" id="{B591FDB6-5A71-4427-91E3-91897B078E73}"/>
              </a:ext>
            </a:extLst>
          </p:cNvPr>
          <p:cNvSpPr>
            <a:spLocks xmlns:a="http://schemas.openxmlformats.org/drawingml/2006/main" noGrp="1"/>
          </p:cNvSpPr>
          <p:nvPr/>
        </p:nvSpPr>
        <p:spPr>
          <a:xfrm xmlns:a="http://schemas.openxmlformats.org/drawingml/2006/main">
            <a:off x="8072933"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Establish a standing control-function forum in programme one, not a per-programme engagement cycle.</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Treat reporting as a shared asset from the start — it has the same reuse profile as the customer model and none of the visibility.</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Publish the effort curve to sponsors each year. Invisible compounding gets cut in the first budget round that comes under pressure.</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Name the spine owner formally, rather than relying on the delivery lead having the standing to refuse forks.</a:t>
            </a:r>
            <a:endParaRPr sz="1000"/>
          </a:p>
        </p:txBody>
      </p:sp>
      <p:sp>
        <p:nvSpPr>
          <p:cNvPr id="13" name="Shape 11">
            <a:extLst xmlns:a="http://schemas.openxmlformats.org/drawingml/2006/main">
              <a:ext uri="{FF2B5EF4-FFF2-40B4-BE49-F238E27FC236}">
                <a16:creationId xmlns:a16="http://schemas.microsoft.com/office/drawing/2014/main" id="{84FC6008-9B0C-48E4-B246-33EFD9127FBD}"/>
              </a:ext>
            </a:extLst>
          </p:cNvPr>
          <p:cNvSpPr>
            <a:spLocks xmlns:a="http://schemas.openxmlformats.org/drawingml/2006/main" noGrp="1"/>
          </p:cNvSpPr>
          <p:nvPr/>
        </p:nvSpPr>
        <p:spPr>
          <a:xfrm xmlns:a="http://schemas.openxmlformats.org/drawingml/2006/main">
            <a:off x="566928" y="5047488"/>
            <a:ext cx="11057839" cy="1024128"/>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C312DCD8-CD8A-4A59-BE2B-15415DBB6A31}"/>
              </a:ext>
            </a:extLst>
          </p:cNvPr>
          <p:cNvSpPr>
            <a:spLocks xmlns:a="http://schemas.openxmlformats.org/drawingml/2006/main" noGrp="1"/>
          </p:cNvSpPr>
          <p:nvPr/>
        </p:nvSpPr>
        <p:spPr>
          <a:xfrm xmlns:a="http://schemas.openxmlformats.org/drawingml/2006/main">
            <a:off x="841248" y="5212080"/>
            <a:ext cx="10509199"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The pattern behind all three columns</a:t>
            </a:r>
            <a:endParaRPr sz="1200"/>
          </a:p>
        </p:txBody>
      </p:sp>
      <p:sp>
        <p:nvSpPr>
          <p:cNvPr id="15" name="Text 13">
            <a:extLst xmlns:a="http://schemas.openxmlformats.org/drawingml/2006/main">
              <a:ext uri="{FF2B5EF4-FFF2-40B4-BE49-F238E27FC236}">
                <a16:creationId xmlns:a16="http://schemas.microsoft.com/office/drawing/2014/main" id="{18691AE9-08BF-4072-99F8-8675CCD8D3AF}"/>
              </a:ext>
            </a:extLst>
          </p:cNvPr>
          <p:cNvSpPr>
            <a:spLocks xmlns:a="http://schemas.openxmlformats.org/drawingml/2006/main" noGrp="1"/>
          </p:cNvSpPr>
          <p:nvPr/>
        </p:nvSpPr>
        <p:spPr>
          <a:xfrm xmlns:a="http://schemas.openxmlformats.org/drawingml/2006/main">
            <a:off x="841248" y="5504688"/>
            <a:ext cx="10509199"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040">
                <a:solidFill>
                  <a:srgbClr val="1A1A1A"/>
                </a:solidFill>
                <a:latin typeface="Arial"/>
                <a:ea typeface="Arial"/>
                <a:cs typeface="Arial"/>
              </a:rPr>
              <a:t>Everything that held was a decision about order or ownership. Everything that did not was something treated as belonging to a programme when it actually belonged to the portfolio — control-function engagement, reporting, and the story told to sponsors. The failure mode is consistent and easy to name in advance: whatever is shared but invisible will be rebuilt or cut.</a:t>
            </a:r>
            <a:endParaRPr sz="1040"/>
          </a:p>
        </p:txBody>
      </p:sp>
      <p:sp>
        <p:nvSpPr>
          <p:cNvPr id="16" name="Shape 14">
            <a:extLst xmlns:a="http://schemas.openxmlformats.org/drawingml/2006/main">
              <a:ext uri="{FF2B5EF4-FFF2-40B4-BE49-F238E27FC236}">
                <a16:creationId xmlns:a16="http://schemas.microsoft.com/office/drawing/2014/main" id="{E2E8C5CB-07B2-42F3-9364-3756D8DC8BE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7" name="Text 15">
            <a:extLst xmlns:a="http://schemas.openxmlformats.org/drawingml/2006/main">
              <a:ext uri="{FF2B5EF4-FFF2-40B4-BE49-F238E27FC236}">
                <a16:creationId xmlns:a16="http://schemas.microsoft.com/office/drawing/2014/main" id="{08670455-A8E6-472D-B6A2-3C9ECEDC439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18" name="Text 16">
            <a:extLst xmlns:a="http://schemas.openxmlformats.org/drawingml/2006/main">
              <a:ext uri="{FF2B5EF4-FFF2-40B4-BE49-F238E27FC236}">
                <a16:creationId xmlns:a16="http://schemas.microsoft.com/office/drawing/2014/main" id="{4D911B87-F862-443A-B3B8-193C5F48FC2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318126489"/>
      </p:ext>
    </p:extLst>
  </p:cSld>
</p:sld>
</file>

<file path=ppt/slides/slide17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839CEE-6533-4DAA-BA02-7A34AADEBFB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04CC16B0-D813-414E-BAA2-590DAC7E6A6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judgements that carry to any multi-programme portfolio</a:t>
            </a:r>
            <a:endParaRPr sz="1900"/>
          </a:p>
        </p:txBody>
      </p:sp>
      <p:sp>
        <p:nvSpPr>
          <p:cNvPr id="4" name="Text 2">
            <a:extLst xmlns:a="http://schemas.openxmlformats.org/drawingml/2006/main">
              <a:ext uri="{FF2B5EF4-FFF2-40B4-BE49-F238E27FC236}">
                <a16:creationId xmlns:a16="http://schemas.microsoft.com/office/drawing/2014/main" id="{8DA4ABEE-05F7-40DD-A73D-7BE60AB13298}"/>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3F1FAD16-9F7D-4230-BDC3-B482F476D76A}"/>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Own the sequence, or nobody does</a:t>
            </a:r>
            <a:endParaRPr sz="1200"/>
          </a:p>
        </p:txBody>
      </p:sp>
      <p:sp>
        <p:nvSpPr>
          <p:cNvPr id="6" name="Text 4">
            <a:extLst xmlns:a="http://schemas.openxmlformats.org/drawingml/2006/main">
              <a:ext uri="{FF2B5EF4-FFF2-40B4-BE49-F238E27FC236}">
                <a16:creationId xmlns:a16="http://schemas.microsoft.com/office/drawing/2014/main" id="{09795A01-8B30-41CF-8BD2-EE3F792CE666}"/>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In a multi-sponsor portfolio every sponsor optimises their own programme and the platform fragments quietly. The order is the highest-leverage decision available and it exists only once, before the first programme starts.</a:t>
            </a:r>
            <a:endParaRPr sz="1000"/>
          </a:p>
        </p:txBody>
      </p:sp>
      <p:sp>
        <p:nvSpPr>
          <p:cNvPr id="7" name="Shape 5">
            <a:extLst xmlns:a="http://schemas.openxmlformats.org/drawingml/2006/main">
              <a:ext uri="{FF2B5EF4-FFF2-40B4-BE49-F238E27FC236}">
                <a16:creationId xmlns:a16="http://schemas.microsoft.com/office/drawing/2014/main" id="{53B27D82-D789-4613-85BF-D3DDFEDEF540}"/>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F7D13E15-7678-4354-A795-2386D4006675}"/>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1C636126-4392-4E03-AF06-DF7BD2E056A3}"/>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Build shared assets inside a programme that needs them</a:t>
            </a:r>
            <a:endParaRPr sz="1200"/>
          </a:p>
        </p:txBody>
      </p:sp>
      <p:sp>
        <p:nvSpPr>
          <p:cNvPr id="10" name="Text 8">
            <a:extLst xmlns:a="http://schemas.openxmlformats.org/drawingml/2006/main">
              <a:ext uri="{FF2B5EF4-FFF2-40B4-BE49-F238E27FC236}">
                <a16:creationId xmlns:a16="http://schemas.microsoft.com/office/drawing/2014/main" id="{CF0EA30E-877F-41FD-89E2-6D76E9CDB63D}"/>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shared asset with no first customer is a design exercise. Every reusable component should be funded by a business case and proven by a real use before anything else is allowed to depend on it.</a:t>
            </a:r>
            <a:endParaRPr sz="1000"/>
          </a:p>
        </p:txBody>
      </p:sp>
      <p:sp>
        <p:nvSpPr>
          <p:cNvPr id="11" name="Shape 9">
            <a:extLst xmlns:a="http://schemas.openxmlformats.org/drawingml/2006/main">
              <a:ext uri="{FF2B5EF4-FFF2-40B4-BE49-F238E27FC236}">
                <a16:creationId xmlns:a16="http://schemas.microsoft.com/office/drawing/2014/main" id="{CDE6D213-31A2-4719-8F20-967120B780DA}"/>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BB0B0AB2-9BA4-44CF-B840-916EA8173B01}"/>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0A439218-A3C7-4B0C-B22C-A21B81E77459}"/>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Distinguish a new actor from a new label</a:t>
            </a:r>
            <a:endParaRPr sz="1200"/>
          </a:p>
        </p:txBody>
      </p:sp>
      <p:sp>
        <p:nvSpPr>
          <p:cNvPr id="14" name="Text 12">
            <a:extLst xmlns:a="http://schemas.openxmlformats.org/drawingml/2006/main">
              <a:ext uri="{FF2B5EF4-FFF2-40B4-BE49-F238E27FC236}">
                <a16:creationId xmlns:a16="http://schemas.microsoft.com/office/drawing/2014/main" id="{FDAA8A10-5EB6-4AA1-B852-CAB5453EBA8A}"/>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When a market or regulatory difference introduces a new approver, a new gate or a new object, it is architecture. When it changes wording on an existing object, it is configuration. Getting that wrong is how platforms are retrofitted badly.</a:t>
            </a:r>
            <a:endParaRPr sz="1000"/>
          </a:p>
        </p:txBody>
      </p:sp>
      <p:sp>
        <p:nvSpPr>
          <p:cNvPr id="15" name="Shape 13">
            <a:extLst xmlns:a="http://schemas.openxmlformats.org/drawingml/2006/main">
              <a:ext uri="{FF2B5EF4-FFF2-40B4-BE49-F238E27FC236}">
                <a16:creationId xmlns:a16="http://schemas.microsoft.com/office/drawing/2014/main" id="{D61ABC1B-6C5D-40BC-B1CA-3D734B5740DE}"/>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6C5E4ECC-0FBD-47EF-9851-7937D6F8AEF5}"/>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24DCA47D-1516-426A-BED9-1D1F0112D1FD}"/>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the compounding visible</a:t>
            </a:r>
            <a:endParaRPr sz="1200"/>
          </a:p>
        </p:txBody>
      </p:sp>
      <p:sp>
        <p:nvSpPr>
          <p:cNvPr id="18" name="Text 16">
            <a:extLst xmlns:a="http://schemas.openxmlformats.org/drawingml/2006/main">
              <a:ext uri="{FF2B5EF4-FFF2-40B4-BE49-F238E27FC236}">
                <a16:creationId xmlns:a16="http://schemas.microsoft.com/office/drawing/2014/main" id="{07F33412-79E8-4B9C-8026-4452D1816F5B}"/>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An effort curve nobody sees is a saving nobody funds. Publishing reuse to sponsors each year is what prevents the foundational scope being cut in the first pressured budget round.</a:t>
            </a:r>
            <a:endParaRPr sz="1000"/>
          </a:p>
        </p:txBody>
      </p:sp>
      <p:sp>
        <p:nvSpPr>
          <p:cNvPr id="19" name="Shape 17">
            <a:extLst xmlns:a="http://schemas.openxmlformats.org/drawingml/2006/main">
              <a:ext uri="{FF2B5EF4-FFF2-40B4-BE49-F238E27FC236}">
                <a16:creationId xmlns:a16="http://schemas.microsoft.com/office/drawing/2014/main" id="{A480BF47-5C7B-4AD6-BE88-7BF2A0725DAC}"/>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E7A4D529-1C80-438E-A39F-3D799F8CC095}"/>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Eight programmes on one platform is an outcome. Eight programmes where the eighth cost a third of the first is a sequencing decision — taken once, at the start, by someone whose accountability sat above any single programme.</a:t>
            </a:r>
            <a:endParaRPr sz="1200"/>
          </a:p>
        </p:txBody>
      </p:sp>
      <p:sp>
        <p:nvSpPr>
          <p:cNvPr id="21" name="Shape 19">
            <a:extLst xmlns:a="http://schemas.openxmlformats.org/drawingml/2006/main">
              <a:ext uri="{FF2B5EF4-FFF2-40B4-BE49-F238E27FC236}">
                <a16:creationId xmlns:a16="http://schemas.microsoft.com/office/drawing/2014/main" id="{56BBB335-0426-43B8-ABAA-EC2E6AF6C77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091F1CCD-598F-42F6-94AF-9E28F393F7F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6389EB35-95D8-4BB1-9CFE-C6DE33ADC81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690048501"/>
      </p:ext>
    </p:extLst>
  </p:cSld>
</p:sld>
</file>

<file path=ppt/slides/slide175.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898DD7-1F72-494C-8BD0-8C3357CE0DF2}"/>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WORKFLOW ARCHITECTURE  ·  15 OF 30</a:t>
            </a:r>
            <a:endParaRPr sz="950"/>
          </a:p>
        </p:txBody>
      </p:sp>
      <p:sp>
        <p:nvSpPr>
          <p:cNvPr id="3" name="Text 1">
            <a:extLst xmlns:a="http://schemas.openxmlformats.org/drawingml/2006/main">
              <a:ext uri="{FF2B5EF4-FFF2-40B4-BE49-F238E27FC236}">
                <a16:creationId xmlns:a16="http://schemas.microsoft.com/office/drawing/2014/main" id="{5EAD65C3-32E2-417A-A373-4609CC2E2BBD}"/>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Abu Dhabi Islamic Bank</a:t>
            </a:r>
            <a:endParaRPr sz="3800"/>
          </a:p>
        </p:txBody>
      </p:sp>
      <p:sp>
        <p:nvSpPr>
          <p:cNvPr id="4" name="Text 2">
            <a:extLst xmlns:a="http://schemas.openxmlformats.org/drawingml/2006/main">
              <a:ext uri="{FF2B5EF4-FFF2-40B4-BE49-F238E27FC236}">
                <a16:creationId xmlns:a16="http://schemas.microsoft.com/office/drawing/2014/main" id="{8F8534A8-E980-4C9A-A493-5EDB6BC979C2}"/>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Parallel approvals — five control functions, one decision, no queue</a:t>
            </a:r>
            <a:endParaRPr sz="1800"/>
          </a:p>
        </p:txBody>
      </p:sp>
      <p:sp>
        <p:nvSpPr>
          <p:cNvPr id="5" name="Text 3">
            <a:extLst xmlns:a="http://schemas.openxmlformats.org/drawingml/2006/main">
              <a:ext uri="{FF2B5EF4-FFF2-40B4-BE49-F238E27FC236}">
                <a16:creationId xmlns:a16="http://schemas.microsoft.com/office/drawing/2014/main" id="{D2ADF1ED-2914-4F3D-8CE9-ECD19F5C7799}"/>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Wholesale credit approval routed through five independent control functions. Run in series it is a chain of queues; run in parallel it is a single elapsed wait — but only if dissent, dependency and amendment are designed for first.</a:t>
            </a:r>
            <a:endParaRPr sz="1150"/>
          </a:p>
        </p:txBody>
      </p:sp>
      <p:sp>
        <p:nvSpPr>
          <p:cNvPr id="6" name="Shape 4">
            <a:extLst xmlns:a="http://schemas.openxmlformats.org/drawingml/2006/main">
              <a:ext uri="{FF2B5EF4-FFF2-40B4-BE49-F238E27FC236}">
                <a16:creationId xmlns:a16="http://schemas.microsoft.com/office/drawing/2014/main" id="{F930441B-AF2F-466F-9F89-16E56EB2EA9E}"/>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6492C181-E75B-4E75-BDB1-24AC2EC11285}"/>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8" name="Text 6">
            <a:extLst xmlns:a="http://schemas.openxmlformats.org/drawingml/2006/main">
              <a:ext uri="{FF2B5EF4-FFF2-40B4-BE49-F238E27FC236}">
                <a16:creationId xmlns:a16="http://schemas.microsoft.com/office/drawing/2014/main" id="{C3322BB0-AD44-4B0C-B7F7-616EBD586C9F}"/>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control functions,</a:t>
            </a:r>
            <a:endParaRPr sz="900"/>
          </a:p>
          <a:p xmlns:a="http://schemas.openxmlformats.org/drawingml/2006/main">
            <a:pPr marL="0" indent="0">
              <a:lnSpc>
                <a:spcPts val="1100"/>
              </a:lnSpc>
              <a:buNone/>
            </a:pPr>
            <a:r>
              <a:rPr sz="900">
                <a:solidFill>
                  <a:srgbClr val="8FA9C4"/>
                </a:solidFill>
                <a:latin typeface="Arial"/>
                <a:ea typeface="Arial"/>
                <a:cs typeface="Arial"/>
              </a:rPr>
              <a:t>independent</a:t>
            </a:r>
            <a:endParaRPr sz="900"/>
          </a:p>
        </p:txBody>
      </p:sp>
      <p:sp>
        <p:nvSpPr>
          <p:cNvPr id="9" name="Text 7">
            <a:extLst xmlns:a="http://schemas.openxmlformats.org/drawingml/2006/main">
              <a:ext uri="{FF2B5EF4-FFF2-40B4-BE49-F238E27FC236}">
                <a16:creationId xmlns:a16="http://schemas.microsoft.com/office/drawing/2014/main" id="{86207ED8-670F-44CC-8CEA-53BD469E8271}"/>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0" name="Text 8">
            <a:extLst xmlns:a="http://schemas.openxmlformats.org/drawingml/2006/main">
              <a:ext uri="{FF2B5EF4-FFF2-40B4-BE49-F238E27FC236}">
                <a16:creationId xmlns:a16="http://schemas.microsoft.com/office/drawing/2014/main" id="{807E46F4-2CF3-4D6F-806B-B4D4D316A01C}"/>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elapsed wait</a:t>
            </a:r>
            <a:endParaRPr sz="900"/>
          </a:p>
          <a:p xmlns:a="http://schemas.openxmlformats.org/drawingml/2006/main">
            <a:pPr marL="0" indent="0">
              <a:lnSpc>
                <a:spcPts val="1100"/>
              </a:lnSpc>
              <a:buNone/>
            </a:pPr>
            <a:r>
              <a:rPr sz="900">
                <a:solidFill>
                  <a:srgbClr val="8FA9C4"/>
                </a:solidFill>
                <a:latin typeface="Arial"/>
                <a:ea typeface="Arial"/>
                <a:cs typeface="Arial"/>
              </a:rPr>
              <a:t>instead of five</a:t>
            </a:r>
            <a:endParaRPr sz="900"/>
          </a:p>
        </p:txBody>
      </p:sp>
      <p:sp>
        <p:nvSpPr>
          <p:cNvPr id="11" name="Text 9">
            <a:extLst xmlns:a="http://schemas.openxmlformats.org/drawingml/2006/main">
              <a:ext uri="{FF2B5EF4-FFF2-40B4-BE49-F238E27FC236}">
                <a16:creationId xmlns:a16="http://schemas.microsoft.com/office/drawing/2014/main" id="{2CD7F754-504F-46ED-AC48-E22C67A7443D}"/>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2" name="Text 10">
            <a:extLst xmlns:a="http://schemas.openxmlformats.org/drawingml/2006/main">
              <a:ext uri="{FF2B5EF4-FFF2-40B4-BE49-F238E27FC236}">
                <a16:creationId xmlns:a16="http://schemas.microsoft.com/office/drawing/2014/main" id="{FD26BB29-4CE7-41F2-8052-387A96E7E039}"/>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hard cases the</a:t>
            </a:r>
            <a:endParaRPr sz="900"/>
          </a:p>
          <a:p xmlns:a="http://schemas.openxmlformats.org/drawingml/2006/main">
            <a:pPr marL="0" indent="0">
              <a:lnSpc>
                <a:spcPts val="1100"/>
              </a:lnSpc>
              <a:buNone/>
            </a:pPr>
            <a:r>
              <a:rPr sz="900">
                <a:solidFill>
                  <a:srgbClr val="8FA9C4"/>
                </a:solidFill>
                <a:latin typeface="Arial"/>
                <a:ea typeface="Arial"/>
                <a:cs typeface="Arial"/>
              </a:rPr>
              <a:t>design must handle</a:t>
            </a:r>
            <a:endParaRPr sz="900"/>
          </a:p>
        </p:txBody>
      </p:sp>
      <p:sp>
        <p:nvSpPr>
          <p:cNvPr id="13" name="Text 11">
            <a:extLst xmlns:a="http://schemas.openxmlformats.org/drawingml/2006/main">
              <a:ext uri="{FF2B5EF4-FFF2-40B4-BE49-F238E27FC236}">
                <a16:creationId xmlns:a16="http://schemas.microsoft.com/office/drawing/2014/main" id="{1F092966-5A6D-4052-A2DC-62114819FAF3}"/>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4" name="Text 12">
            <a:extLst xmlns:a="http://schemas.openxmlformats.org/drawingml/2006/main">
              <a:ext uri="{FF2B5EF4-FFF2-40B4-BE49-F238E27FC236}">
                <a16:creationId xmlns:a16="http://schemas.microsoft.com/office/drawing/2014/main" id="{6DBA2FED-6F59-4232-AE6B-5DFAD6E8B724}"/>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sixth function</a:t>
            </a:r>
            <a:endParaRPr sz="900"/>
          </a:p>
          <a:p xmlns:a="http://schemas.openxmlformats.org/drawingml/2006/main">
            <a:pPr marL="0" indent="0">
              <a:lnSpc>
                <a:spcPts val="1100"/>
              </a:lnSpc>
              <a:buNone/>
            </a:pPr>
            <a:r>
              <a:rPr sz="900">
                <a:solidFill>
                  <a:srgbClr val="8FA9C4"/>
                </a:solidFill>
                <a:latin typeface="Arial"/>
                <a:ea typeface="Arial"/>
                <a:cs typeface="Arial"/>
              </a:rPr>
              <a:t>most banks lack</a:t>
            </a:r>
            <a:endParaRPr sz="900"/>
          </a:p>
        </p:txBody>
      </p:sp>
      <p:sp>
        <p:nvSpPr>
          <p:cNvPr id="15" name="Text 13">
            <a:extLst xmlns:a="http://schemas.openxmlformats.org/drawingml/2006/main">
              <a:ext uri="{FF2B5EF4-FFF2-40B4-BE49-F238E27FC236}">
                <a16:creationId xmlns:a16="http://schemas.microsoft.com/office/drawing/2014/main" id="{61E95317-B922-4260-BA46-CDC5CC6AF481}"/>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6" name="Text 14">
            <a:extLst xmlns:a="http://schemas.openxmlformats.org/drawingml/2006/main">
              <a:ext uri="{FF2B5EF4-FFF2-40B4-BE49-F238E27FC236}">
                <a16:creationId xmlns:a16="http://schemas.microsoft.com/office/drawing/2014/main" id="{2CE82CF7-7D1D-4CA9-BACC-A94355127536}"/>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approvals</a:t>
            </a:r>
            <a:endParaRPr sz="900"/>
          </a:p>
          <a:p xmlns:a="http://schemas.openxmlformats.org/drawingml/2006/main">
            <a:pPr marL="0" indent="0">
              <a:lnSpc>
                <a:spcPts val="1100"/>
              </a:lnSpc>
              <a:buNone/>
            </a:pPr>
            <a:r>
              <a:rPr sz="900">
                <a:solidFill>
                  <a:srgbClr val="8FA9C4"/>
                </a:solidFill>
                <a:latin typeface="Arial"/>
                <a:ea typeface="Arial"/>
                <a:cs typeface="Arial"/>
              </a:rPr>
              <a:t>re-sought on rework</a:t>
            </a:r>
            <a:endParaRPr sz="900"/>
          </a:p>
        </p:txBody>
      </p:sp>
      <p:sp>
        <p:nvSpPr>
          <p:cNvPr id="17" name="Text 15">
            <a:extLst xmlns:a="http://schemas.openxmlformats.org/drawingml/2006/main">
              <a:ext uri="{FF2B5EF4-FFF2-40B4-BE49-F238E27FC236}">
                <a16:creationId xmlns:a16="http://schemas.microsoft.com/office/drawing/2014/main" id="{82E81F3E-C657-40FA-8CEA-CC43D0F89E22}"/>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100%</a:t>
            </a:r>
            <a:endParaRPr sz="2600"/>
          </a:p>
        </p:txBody>
      </p:sp>
      <p:sp>
        <p:nvSpPr>
          <p:cNvPr id="18" name="Text 16">
            <a:extLst xmlns:a="http://schemas.openxmlformats.org/drawingml/2006/main">
              <a:ext uri="{FF2B5EF4-FFF2-40B4-BE49-F238E27FC236}">
                <a16:creationId xmlns:a16="http://schemas.microsoft.com/office/drawing/2014/main" id="{3A92754B-5348-44C8-82E1-B9289B550609}"/>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decisions evidenced</a:t>
            </a:r>
            <a:endParaRPr sz="900"/>
          </a:p>
          <a:p xmlns:a="http://schemas.openxmlformats.org/drawingml/2006/main">
            <a:pPr marL="0" indent="0">
              <a:lnSpc>
                <a:spcPts val="1100"/>
              </a:lnSpc>
              <a:buNone/>
            </a:pPr>
            <a:r>
              <a:rPr sz="900">
                <a:solidFill>
                  <a:srgbClr val="8FA9C4"/>
                </a:solidFill>
                <a:latin typeface="Arial"/>
                <a:ea typeface="Arial"/>
                <a:cs typeface="Arial"/>
              </a:rPr>
              <a:t>individually</a:t>
            </a:r>
            <a:endParaRPr sz="900"/>
          </a:p>
        </p:txBody>
      </p:sp>
      <p:sp>
        <p:nvSpPr>
          <p:cNvPr id="19" name="Shape 17">
            <a:extLst xmlns:a="http://schemas.openxmlformats.org/drawingml/2006/main">
              <a:ext uri="{FF2B5EF4-FFF2-40B4-BE49-F238E27FC236}">
                <a16:creationId xmlns:a16="http://schemas.microsoft.com/office/drawing/2014/main" id="{EB5B8738-FC8A-4112-BE29-74A216DEEA20}"/>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026861BF-4797-4530-B7B3-56D672ADECD1}"/>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APPROVAL SCOPE  ·  WHOLESALE DEAL AND CREDIT LIFECYCLE</a:t>
            </a:r>
            <a:endParaRPr sz="800"/>
          </a:p>
        </p:txBody>
      </p:sp>
      <p:sp>
        <p:nvSpPr>
          <p:cNvPr id="21" name="Text 19">
            <a:extLst xmlns:a="http://schemas.openxmlformats.org/drawingml/2006/main">
              <a:ext uri="{FF2B5EF4-FFF2-40B4-BE49-F238E27FC236}">
                <a16:creationId xmlns:a16="http://schemas.microsoft.com/office/drawing/2014/main" id="{94A39FA0-6612-4362-8C7F-50E3876EF015}"/>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Business    ·    Risk    ·    Legal    ·    Compliance    ·    Sharia    —    each with independent authority and its own record</a:t>
            </a:r>
            <a:endParaRPr sz="1050"/>
          </a:p>
        </p:txBody>
      </p:sp>
      <p:sp>
        <p:nvSpPr>
          <p:cNvPr id="22" name="Text 20">
            <a:extLst xmlns:a="http://schemas.openxmlformats.org/drawingml/2006/main">
              <a:ext uri="{FF2B5EF4-FFF2-40B4-BE49-F238E27FC236}">
                <a16:creationId xmlns:a16="http://schemas.microsoft.com/office/drawing/2014/main" id="{1B97806B-5C41-433D-858A-C599E18866CA}"/>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Project Lead and Product Manager  ·  wholesale deal and credit approval programme</a:t>
            </a:r>
            <a:endParaRPr sz="1200"/>
          </a:p>
        </p:txBody>
      </p:sp>
      <p:sp>
        <p:nvSpPr>
          <p:cNvPr id="23" name="Text 21">
            <a:extLst xmlns:a="http://schemas.openxmlformats.org/drawingml/2006/main">
              <a:ext uri="{FF2B5EF4-FFF2-40B4-BE49-F238E27FC236}">
                <a16:creationId xmlns:a16="http://schemas.microsoft.com/office/drawing/2014/main" id="{D14D863F-7AED-4801-813E-090DDB7F118E}"/>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system names removed. Approval structure is the client's; the design analysis, timing model and failure cases are mine.</a:t>
            </a:r>
            <a:endParaRPr sz="850"/>
          </a:p>
        </p:txBody>
      </p:sp>
    </p:spTree>
    <p:extLst>
      <p:ext uri="{BB962C8B-B14F-4D97-AF65-F5344CB8AC3E}">
        <p14:creationId xmlns:p14="http://schemas.microsoft.com/office/powerpoint/2010/main" val="222670926"/>
      </p:ext>
    </p:extLst>
  </p:cSld>
</p:sld>
</file>

<file path=ppt/slides/slide17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4537F3F-7EC1-4C31-9304-C2F195A937E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A4CD25EB-ABC3-45BA-AC63-AAFB46C3B007}"/>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Serial approval makes elapsed time the sum of five queues; parallel makes it the</a:t>
            </a:r>
            <a:endParaRPr sz="1900"/>
          </a:p>
          <a:p xmlns:a="http://schemas.openxmlformats.org/drawingml/2006/main">
            <a:pPr marL="0" indent="0">
              <a:lnSpc>
                <a:spcPts val="2400"/>
              </a:lnSpc>
              <a:buNone/>
            </a:pPr>
            <a:r>
              <a:rPr sz="1900" b="1">
                <a:solidFill>
                  <a:srgbClr val="102A43"/>
                </a:solidFill>
                <a:latin typeface="Arial"/>
                <a:ea typeface="Arial"/>
                <a:cs typeface="Arial"/>
              </a:rPr>
              <a:t>longest one — and everything hard about the design lives in the exceptions</a:t>
            </a:r>
            <a:endParaRPr sz="1900"/>
          </a:p>
        </p:txBody>
      </p:sp>
      <p:sp>
        <p:nvSpPr>
          <p:cNvPr id="4" name="Shape 2">
            <a:extLst xmlns:a="http://schemas.openxmlformats.org/drawingml/2006/main">
              <a:ext uri="{FF2B5EF4-FFF2-40B4-BE49-F238E27FC236}">
                <a16:creationId xmlns:a16="http://schemas.microsoft.com/office/drawing/2014/main" id="{60621321-8E6D-4D40-ABB1-E70CB13F2629}"/>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52D29C7F-124C-4CA9-9171-6113BAC0A102}"/>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A30BC0FE-4522-4544-9CBE-940A8D4FB33E}"/>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wholesale credit facility requires approval from five control functions with genuinely independent authority: business, risk, legal, compliance and Sharia governance.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None of them reports to another. None can overrule another. Each owns a different question about the same facility.</a:t>
            </a:r>
            <a:endParaRPr sz="980"/>
          </a:p>
        </p:txBody>
      </p:sp>
      <p:sp>
        <p:nvSpPr>
          <p:cNvPr id="7" name="Shape 5">
            <a:extLst xmlns:a="http://schemas.openxmlformats.org/drawingml/2006/main">
              <a:ext uri="{FF2B5EF4-FFF2-40B4-BE49-F238E27FC236}">
                <a16:creationId xmlns:a16="http://schemas.microsoft.com/office/drawing/2014/main" id="{CBE3A85E-F356-43B4-831D-19D2C79336E4}"/>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91EAB8E2-1BFD-4AD9-BFB0-A2E385A59CA4}"/>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523BD830-E37C-4EBF-93D0-A9CEC735F4E7}"/>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Routed in series — the conventional design — the facility waits in five queues one after another, and total elapsed time is their sum. Each function also reviews a proposal that may already have been changed by the ones before it.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Parallel routing removes the queueing problem immediately. It also creates three problems that serial routing quietly avoided: what happens on dissent, what happens when one review genuinely depends on another, and what happens when the facility is amended after some approvals are already in.</a:t>
            </a:r>
            <a:endParaRPr sz="980"/>
          </a:p>
        </p:txBody>
      </p:sp>
      <p:sp>
        <p:nvSpPr>
          <p:cNvPr id="10" name="Shape 8">
            <a:extLst xmlns:a="http://schemas.openxmlformats.org/drawingml/2006/main">
              <a:ext uri="{FF2B5EF4-FFF2-40B4-BE49-F238E27FC236}">
                <a16:creationId xmlns:a16="http://schemas.microsoft.com/office/drawing/2014/main" id="{7F1CB1FE-D673-497F-8A17-6BF07E8FD527}"/>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39E862CD-400C-49CC-9FAD-279E9276A13D}"/>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design</a:t>
            </a:r>
            <a:endParaRPr sz="1250"/>
          </a:p>
        </p:txBody>
      </p:sp>
      <p:sp>
        <p:nvSpPr>
          <p:cNvPr id="12" name="Text 10">
            <a:extLst xmlns:a="http://schemas.openxmlformats.org/drawingml/2006/main">
              <a:ext uri="{FF2B5EF4-FFF2-40B4-BE49-F238E27FC236}">
                <a16:creationId xmlns:a16="http://schemas.microsoft.com/office/drawing/2014/main" id="{E46EA349-78C3-4D3D-86BF-8F970D80DA38}"/>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Route all five concurrently against a versioned facility. Treat dissent as a first-class outcome rather than a failure. Model the one genuine dependency explicitly instead of serialising everything to accommodate it.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And make amendment invalidate only the approvals whose subject actually changed — which is the single decision that determines whether parallel approval survives contact with real deals.</a:t>
            </a:r>
            <a:endParaRPr sz="980"/>
          </a:p>
        </p:txBody>
      </p:sp>
      <p:sp>
        <p:nvSpPr>
          <p:cNvPr id="13" name="Text 11">
            <a:extLst xmlns:a="http://schemas.openxmlformats.org/drawingml/2006/main">
              <a:ext uri="{FF2B5EF4-FFF2-40B4-BE49-F238E27FC236}">
                <a16:creationId xmlns:a16="http://schemas.microsoft.com/office/drawing/2014/main" id="{592072E8-E105-46C6-9C73-ABCDD8342259}"/>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5083BD74-4673-448F-9A43-C4931ACD625D}"/>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7C0C5F42-ADB4-443B-B821-500C5CAEBDAD}"/>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16" name="Text 14">
            <a:extLst xmlns:a="http://schemas.openxmlformats.org/drawingml/2006/main">
              <a:ext uri="{FF2B5EF4-FFF2-40B4-BE49-F238E27FC236}">
                <a16:creationId xmlns:a16="http://schemas.microsoft.com/office/drawing/2014/main" id="{4847F749-39FB-446D-BFA2-5CEFD3D52DBE}"/>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concurrent reviewers</a:t>
            </a:r>
            <a:endParaRPr sz="860"/>
          </a:p>
        </p:txBody>
      </p:sp>
      <p:sp>
        <p:nvSpPr>
          <p:cNvPr id="17" name="Shape 15">
            <a:extLst xmlns:a="http://schemas.openxmlformats.org/drawingml/2006/main">
              <a:ext uri="{FF2B5EF4-FFF2-40B4-BE49-F238E27FC236}">
                <a16:creationId xmlns:a16="http://schemas.microsoft.com/office/drawing/2014/main" id="{9BA48E67-8764-4ADF-8E52-C09208A49F98}"/>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FD01203C-57AA-4E89-A7E4-E8D418F6BA3D}"/>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Σ → max</a:t>
            </a:r>
            <a:endParaRPr sz="2100"/>
          </a:p>
        </p:txBody>
      </p:sp>
      <p:sp>
        <p:nvSpPr>
          <p:cNvPr id="19" name="Text 17">
            <a:extLst xmlns:a="http://schemas.openxmlformats.org/drawingml/2006/main">
              <a:ext uri="{FF2B5EF4-FFF2-40B4-BE49-F238E27FC236}">
                <a16:creationId xmlns:a16="http://schemas.microsoft.com/office/drawing/2014/main" id="{64FFFEE4-5BAF-4818-8C63-3D3CA55085B3}"/>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elapsed time model</a:t>
            </a:r>
            <a:endParaRPr sz="860"/>
          </a:p>
        </p:txBody>
      </p:sp>
      <p:sp>
        <p:nvSpPr>
          <p:cNvPr id="20" name="Shape 18">
            <a:extLst xmlns:a="http://schemas.openxmlformats.org/drawingml/2006/main">
              <a:ext uri="{FF2B5EF4-FFF2-40B4-BE49-F238E27FC236}">
                <a16:creationId xmlns:a16="http://schemas.microsoft.com/office/drawing/2014/main" id="{4EC80458-E057-413F-ACDF-25823D1CC928}"/>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F798B1D2-D7A6-417E-B142-DEA3699F31DC}"/>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2" name="Text 20">
            <a:extLst xmlns:a="http://schemas.openxmlformats.org/drawingml/2006/main">
              <a:ext uri="{FF2B5EF4-FFF2-40B4-BE49-F238E27FC236}">
                <a16:creationId xmlns:a16="http://schemas.microsoft.com/office/drawing/2014/main" id="{2B7D3553-2F72-4703-B01C-7820DCBE4288}"/>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exception cases designed</a:t>
            </a:r>
            <a:endParaRPr sz="860"/>
          </a:p>
        </p:txBody>
      </p:sp>
      <p:sp>
        <p:nvSpPr>
          <p:cNvPr id="23" name="Shape 21">
            <a:extLst xmlns:a="http://schemas.openxmlformats.org/drawingml/2006/main">
              <a:ext uri="{FF2B5EF4-FFF2-40B4-BE49-F238E27FC236}">
                <a16:creationId xmlns:a16="http://schemas.microsoft.com/office/drawing/2014/main" id="{13C457EF-1462-413C-87AF-21382BA6E278}"/>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2CC86777-EE65-4276-95E8-F8D42084CB81}"/>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5" name="Text 23">
            <a:extLst xmlns:a="http://schemas.openxmlformats.org/drawingml/2006/main">
              <a:ext uri="{FF2B5EF4-FFF2-40B4-BE49-F238E27FC236}">
                <a16:creationId xmlns:a16="http://schemas.microsoft.com/office/drawing/2014/main" id="{FD4E1781-66A2-4EDB-8C7E-10562800BD7B}"/>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genuine dependency</a:t>
            </a:r>
            <a:endParaRPr sz="860"/>
          </a:p>
        </p:txBody>
      </p:sp>
      <p:sp>
        <p:nvSpPr>
          <p:cNvPr id="26" name="Shape 24">
            <a:extLst xmlns:a="http://schemas.openxmlformats.org/drawingml/2006/main">
              <a:ext uri="{FF2B5EF4-FFF2-40B4-BE49-F238E27FC236}">
                <a16:creationId xmlns:a16="http://schemas.microsoft.com/office/drawing/2014/main" id="{53D5D991-84ED-4696-94E6-EFA25DA0EA79}"/>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84F866C3-BF86-4283-B1CD-DD2741A0BB25}"/>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8" name="Text 26">
            <a:extLst xmlns:a="http://schemas.openxmlformats.org/drawingml/2006/main">
              <a:ext uri="{FF2B5EF4-FFF2-40B4-BE49-F238E27FC236}">
                <a16:creationId xmlns:a16="http://schemas.microsoft.com/office/drawing/2014/main" id="{B9458B98-1FA6-46D6-833C-DF70A66D7094}"/>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versioned subject</a:t>
            </a:r>
            <a:endParaRPr sz="860"/>
          </a:p>
        </p:txBody>
      </p:sp>
      <p:sp>
        <p:nvSpPr>
          <p:cNvPr id="29" name="Shape 27">
            <a:extLst xmlns:a="http://schemas.openxmlformats.org/drawingml/2006/main">
              <a:ext uri="{FF2B5EF4-FFF2-40B4-BE49-F238E27FC236}">
                <a16:creationId xmlns:a16="http://schemas.microsoft.com/office/drawing/2014/main" id="{7D54E24A-F797-44AA-859D-9D4D163A111E}"/>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E6713BBA-4078-492E-8C98-856FB483156B}"/>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31" name="Text 29">
            <a:extLst xmlns:a="http://schemas.openxmlformats.org/drawingml/2006/main">
              <a:ext uri="{FF2B5EF4-FFF2-40B4-BE49-F238E27FC236}">
                <a16:creationId xmlns:a16="http://schemas.microsoft.com/office/drawing/2014/main" id="{AA1F8ED8-6EFA-47C9-9E2E-0E1C93FEA3A8}"/>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independent records</a:t>
            </a:r>
            <a:endParaRPr sz="860"/>
          </a:p>
        </p:txBody>
      </p:sp>
      <p:sp>
        <p:nvSpPr>
          <p:cNvPr id="32" name="Text 30">
            <a:extLst xmlns:a="http://schemas.openxmlformats.org/drawingml/2006/main">
              <a:ext uri="{FF2B5EF4-FFF2-40B4-BE49-F238E27FC236}">
                <a16:creationId xmlns:a16="http://schemas.microsoft.com/office/drawing/2014/main" id="{B04F73A0-0B17-43F5-AE89-7B9E9F087EBD}"/>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judgement this argues:  parallel approval is not a workflow optimisation. It is a claim that five functions can review the same artefact at the same time — which is only true if the artefact is versioned and amendment is scoped. Without those two things, parallel routing produces faster approvals of the wrong version.</a:t>
            </a:r>
            <a:endParaRPr sz="1000"/>
          </a:p>
        </p:txBody>
      </p:sp>
      <p:sp>
        <p:nvSpPr>
          <p:cNvPr id="33" name="Shape 31">
            <a:extLst xmlns:a="http://schemas.openxmlformats.org/drawingml/2006/main">
              <a:ext uri="{FF2B5EF4-FFF2-40B4-BE49-F238E27FC236}">
                <a16:creationId xmlns:a16="http://schemas.microsoft.com/office/drawing/2014/main" id="{41F96376-AB11-4CDE-8CBC-F805D4FEDBF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5BD1BF55-EB85-4C46-86B2-96A3CCDB9F8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35" name="Text 33">
            <a:extLst xmlns:a="http://schemas.openxmlformats.org/drawingml/2006/main">
              <a:ext uri="{FF2B5EF4-FFF2-40B4-BE49-F238E27FC236}">
                <a16:creationId xmlns:a16="http://schemas.microsoft.com/office/drawing/2014/main" id="{038AD340-FDF7-4C98-A1E8-D7574636F84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580169622"/>
      </p:ext>
    </p:extLst>
  </p:cSld>
</p:sld>
</file>

<file path=ppt/slides/slide17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D690FA-7901-470B-939D-8E6AD2ABDC1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FB07093A-30CA-4F79-B5F7-781FF2699F0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approval structure was the client's; the routing design, the exception handling</a:t>
            </a:r>
            <a:endParaRPr sz="1900"/>
          </a:p>
          <a:p xmlns:a="http://schemas.openxmlformats.org/drawingml/2006/main">
            <a:pPr marL="0" indent="0">
              <a:lnSpc>
                <a:spcPts val="2400"/>
              </a:lnSpc>
              <a:buNone/>
            </a:pPr>
            <a:r>
              <a:rPr sz="1900" b="1">
                <a:solidFill>
                  <a:srgbClr val="102A43"/>
                </a:solidFill>
                <a:latin typeface="Arial"/>
                <a:ea typeface="Arial"/>
                <a:cs typeface="Arial"/>
              </a:rPr>
              <a:t>and the timing model are mine</a:t>
            </a:r>
            <a:endParaRPr sz="1900"/>
          </a:p>
        </p:txBody>
      </p:sp>
      <p:sp>
        <p:nvSpPr>
          <p:cNvPr id="4" name="Shape 2">
            <a:extLst xmlns:a="http://schemas.openxmlformats.org/drawingml/2006/main">
              <a:ext uri="{FF2B5EF4-FFF2-40B4-BE49-F238E27FC236}">
                <a16:creationId xmlns:a16="http://schemas.microsoft.com/office/drawing/2014/main" id="{CC885C7F-52DF-4ED2-B84C-3EB7F22855D4}"/>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DB843DC7-EB32-4B79-8657-27C8FA81F3BD}"/>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358338DD-EEF8-4291-8DD7-F2BDCDB6A055}"/>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APPROVAL STRUCTURE</a:t>
            </a:r>
            <a:endParaRPr sz="740"/>
          </a:p>
        </p:txBody>
      </p:sp>
      <p:sp>
        <p:nvSpPr>
          <p:cNvPr id="7" name="Text 5">
            <a:extLst xmlns:a="http://schemas.openxmlformats.org/drawingml/2006/main">
              <a:ext uri="{FF2B5EF4-FFF2-40B4-BE49-F238E27FC236}">
                <a16:creationId xmlns:a16="http://schemas.microsoft.com/office/drawing/2014/main" id="{2F2739B3-2570-4C01-B653-3354C4CEBC4A}"/>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Client context</a:t>
            </a:r>
            <a:endParaRPr sz="1200"/>
          </a:p>
        </p:txBody>
      </p:sp>
      <p:sp>
        <p:nvSpPr>
          <p:cNvPr id="8" name="Text 6">
            <a:extLst xmlns:a="http://schemas.openxmlformats.org/drawingml/2006/main">
              <a:ext uri="{FF2B5EF4-FFF2-40B4-BE49-F238E27FC236}">
                <a16:creationId xmlns:a16="http://schemas.microsoft.com/office/drawing/2014/main" id="{B5DC6C92-A8DF-4AC8-8935-A7E38FFF2F0C}"/>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control functions, their authority and their mandates as defined by the bank's governance framework.</a:t>
            </a:r>
            <a:endParaRPr sz="920"/>
          </a:p>
        </p:txBody>
      </p:sp>
      <p:sp>
        <p:nvSpPr>
          <p:cNvPr id="9" name="Shape 7">
            <a:extLst xmlns:a="http://schemas.openxmlformats.org/drawingml/2006/main">
              <a:ext uri="{FF2B5EF4-FFF2-40B4-BE49-F238E27FC236}">
                <a16:creationId xmlns:a16="http://schemas.microsoft.com/office/drawing/2014/main" id="{5D533979-C8E6-4E9A-872C-C3023106BD01}"/>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AF35BE50-61F4-4376-85DE-14E6467AA288}"/>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independent control functions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Wholesale deal and credit lifecycle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Delegated authority matrix</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Sharia governance mandate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Audit and evidence obligations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Existing systems of record</a:t>
            </a:r>
            <a:endParaRPr sz="930"/>
          </a:p>
        </p:txBody>
      </p:sp>
      <p:sp>
        <p:nvSpPr>
          <p:cNvPr id="11" name="Shape 9">
            <a:extLst xmlns:a="http://schemas.openxmlformats.org/drawingml/2006/main">
              <a:ext uri="{FF2B5EF4-FFF2-40B4-BE49-F238E27FC236}">
                <a16:creationId xmlns:a16="http://schemas.microsoft.com/office/drawing/2014/main" id="{C0CA7298-DE89-4681-8688-37B52A333928}"/>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5EEAF881-AEBD-46BB-84EC-2FF66C8D6531}"/>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A2647462-5670-4282-9D8C-C0AD116C8D04}"/>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971E6CE3-E162-4F7B-800A-829ABF6417F6}"/>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D52DDEFB-910A-47AA-934A-870B9DB1A6C1}"/>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parallel routing design, exception handling, evidence model and delivery to production.</a:t>
            </a:r>
            <a:endParaRPr sz="920"/>
          </a:p>
        </p:txBody>
      </p:sp>
      <p:sp>
        <p:nvSpPr>
          <p:cNvPr id="16" name="Shape 14">
            <a:extLst xmlns:a="http://schemas.openxmlformats.org/drawingml/2006/main">
              <a:ext uri="{FF2B5EF4-FFF2-40B4-BE49-F238E27FC236}">
                <a16:creationId xmlns:a16="http://schemas.microsoft.com/office/drawing/2014/main" id="{7BA8081A-BA4B-4BEA-AEE7-BB3A1A0726A4}"/>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C186DE7E-EB96-412D-B9F8-872E231D2485}"/>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Parallel routing architecture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Dissent and dependency handling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Amendment invalidation scoping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Per-function evidence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Control-function engagement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ABBE679B-0DEC-4D49-865D-9555F632BAC7}"/>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4C3CEB8C-FEB1-4346-A99A-3CD3E50E4EFC}"/>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3DE84F44-BDBC-41C7-A591-377054FF50C4}"/>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3B42E40A-FCA2-4489-9BE0-67EF17333099}"/>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B78D1528-AFDA-4934-B008-34C8E5707413}"/>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Elapsed-time figures illustrate the serial-versus-parallel arithmetic. The ratio is the argument, not the values.</a:t>
            </a:r>
            <a:endParaRPr sz="920"/>
          </a:p>
        </p:txBody>
      </p:sp>
      <p:sp>
        <p:nvSpPr>
          <p:cNvPr id="23" name="Shape 21">
            <a:extLst xmlns:a="http://schemas.openxmlformats.org/drawingml/2006/main">
              <a:ext uri="{FF2B5EF4-FFF2-40B4-BE49-F238E27FC236}">
                <a16:creationId xmlns:a16="http://schemas.microsoft.com/office/drawing/2014/main" id="{8BBB649B-F217-47CC-87AE-DD20E799E1E3}"/>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20D8CC9F-5169-4287-A15F-29FD596235DA}"/>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Queue and review-time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Serial versus parallel comparison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Amendment rework scenarios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programme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D674D15B-C038-473D-ABD8-77D1DC13666A}"/>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9B236F48-F68B-49B4-948A-26BD6B174715}"/>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EDE13767-1E6A-4E41-B4F7-47EA05E6061C}"/>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391D36A9-CBEF-4AB5-9E37-90943A7AC1E0}"/>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138705CB-00D0-48C9-AE0F-3F30156BC04A}"/>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 design analysis, not a governance disclosure or a credit-process document.</a:t>
            </a:r>
            <a:endParaRPr sz="920"/>
          </a:p>
        </p:txBody>
      </p:sp>
      <p:sp>
        <p:nvSpPr>
          <p:cNvPr id="30" name="Shape 28">
            <a:extLst xmlns:a="http://schemas.openxmlformats.org/drawingml/2006/main">
              <a:ext uri="{FF2B5EF4-FFF2-40B4-BE49-F238E27FC236}">
                <a16:creationId xmlns:a16="http://schemas.microsoft.com/office/drawing/2014/main" id="{B8CE29D0-6B87-478E-9064-F1A2F5AD4B6E}"/>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62ADC79A-CE9A-4B54-8228-887FDBF91D40}"/>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bank's authority matrix</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credit decision or facility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Sharia ruling or opinion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client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Measured cycle-time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Portfolio or exposure data</a:t>
            </a:r>
            <a:endParaRPr sz="930"/>
          </a:p>
        </p:txBody>
      </p:sp>
      <p:sp>
        <p:nvSpPr>
          <p:cNvPr id="32" name="Shape 30">
            <a:extLst xmlns:a="http://schemas.openxmlformats.org/drawingml/2006/main">
              <a:ext uri="{FF2B5EF4-FFF2-40B4-BE49-F238E27FC236}">
                <a16:creationId xmlns:a16="http://schemas.microsoft.com/office/drawing/2014/main" id="{6E982263-29FB-4223-A6E8-0A0C13B5B1D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09461F5E-F374-40EE-BF1A-CBC05CEA8EB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author's design analysis (models and timing)</a:t>
            </a:r>
            <a:endParaRPr sz="850"/>
          </a:p>
        </p:txBody>
      </p:sp>
      <p:sp>
        <p:nvSpPr>
          <p:cNvPr id="34" name="Text 32">
            <a:extLst xmlns:a="http://schemas.openxmlformats.org/drawingml/2006/main">
              <a:ext uri="{FF2B5EF4-FFF2-40B4-BE49-F238E27FC236}">
                <a16:creationId xmlns:a16="http://schemas.microsoft.com/office/drawing/2014/main" id="{A7B6BC6B-7C09-4482-A27B-ACF7956977E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812588607"/>
      </p:ext>
    </p:extLst>
  </p:cSld>
</p:sld>
</file>

<file path=ppt/slides/slide17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B59E249-397D-4C4D-9B5D-9B77586973A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FIVE</a:t>
            </a:r>
            <a:endParaRPr sz="950"/>
          </a:p>
        </p:txBody>
      </p:sp>
      <p:sp>
        <p:nvSpPr>
          <p:cNvPr id="3" name="Text 1">
            <a:extLst xmlns:a="http://schemas.openxmlformats.org/drawingml/2006/main">
              <a:ext uri="{FF2B5EF4-FFF2-40B4-BE49-F238E27FC236}">
                <a16:creationId xmlns:a16="http://schemas.microsoft.com/office/drawing/2014/main" id="{455C6698-C0DC-4C94-A6CD-CD00FB70820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Each function asks a different question about the same facility — which is why none</a:t>
            </a:r>
            <a:endParaRPr sz="1900"/>
          </a:p>
          <a:p xmlns:a="http://schemas.openxmlformats.org/drawingml/2006/main">
            <a:pPr marL="0" indent="0">
              <a:lnSpc>
                <a:spcPts val="2400"/>
              </a:lnSpc>
              <a:buNone/>
            </a:pPr>
            <a:r>
              <a:rPr sz="1900" b="1">
                <a:solidFill>
                  <a:srgbClr val="102A43"/>
                </a:solidFill>
                <a:latin typeface="Arial"/>
                <a:ea typeface="Arial"/>
                <a:cs typeface="Arial"/>
              </a:rPr>
              <a:t>of them can answer for another, and why the order between them is arbitrary</a:t>
            </a:r>
            <a:endParaRPr sz="1900"/>
          </a:p>
        </p:txBody>
      </p:sp>
      <p:sp>
        <p:nvSpPr>
          <p:cNvPr id="4" name="Shape 2">
            <a:extLst xmlns:a="http://schemas.openxmlformats.org/drawingml/2006/main">
              <a:ext uri="{FF2B5EF4-FFF2-40B4-BE49-F238E27FC236}">
                <a16:creationId xmlns:a16="http://schemas.microsoft.com/office/drawing/2014/main" id="{52F826E0-F5A2-43E3-A923-6370ACEA36A9}"/>
              </a:ext>
            </a:extLst>
          </p:cNvPr>
          <p:cNvSpPr>
            <a:spLocks xmlns:a="http://schemas.openxmlformats.org/drawingml/2006/main" noGrp="1"/>
          </p:cNvSpPr>
          <p:nvPr/>
        </p:nvSpPr>
        <p:spPr>
          <a:xfrm xmlns:a="http://schemas.openxmlformats.org/drawingml/2006/main">
            <a:off x="566928" y="1335024"/>
            <a:ext cx="2123785" cy="283464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C24CC933-EEAD-4E46-BFA2-F513B9E699FB}"/>
              </a:ext>
            </a:extLst>
          </p:cNvPr>
          <p:cNvSpPr>
            <a:spLocks xmlns:a="http://schemas.openxmlformats.org/drawingml/2006/main" noGrp="1"/>
          </p:cNvSpPr>
          <p:nvPr/>
        </p:nvSpPr>
        <p:spPr>
          <a:xfrm xmlns:a="http://schemas.openxmlformats.org/drawingml/2006/main">
            <a:off x="749808" y="1499616"/>
            <a:ext cx="1758025"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Business</a:t>
            </a:r>
            <a:endParaRPr sz="1300"/>
          </a:p>
        </p:txBody>
      </p:sp>
      <p:sp>
        <p:nvSpPr>
          <p:cNvPr id="6" name="Text 4">
            <a:extLst xmlns:a="http://schemas.openxmlformats.org/drawingml/2006/main">
              <a:ext uri="{FF2B5EF4-FFF2-40B4-BE49-F238E27FC236}">
                <a16:creationId xmlns:a16="http://schemas.microsoft.com/office/drawing/2014/main" id="{DD85D4F9-0111-4932-AA08-AB0A3924D3AA}"/>
              </a:ext>
            </a:extLst>
          </p:cNvPr>
          <p:cNvSpPr>
            <a:spLocks xmlns:a="http://schemas.openxmlformats.org/drawingml/2006/main" noGrp="1"/>
          </p:cNvSpPr>
          <p:nvPr/>
        </p:nvSpPr>
        <p:spPr>
          <a:xfrm xmlns:a="http://schemas.openxmlformats.org/drawingml/2006/main">
            <a:off x="749808" y="1810512"/>
            <a:ext cx="17580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80" b="1" i="1">
                <a:solidFill>
                  <a:srgbClr val="486581"/>
                </a:solidFill>
                <a:latin typeface="Arial"/>
                <a:ea typeface="Arial"/>
                <a:cs typeface="Arial"/>
              </a:rPr>
              <a:t>Should we do this deal at all?</a:t>
            </a:r>
            <a:endParaRPr sz="980"/>
          </a:p>
        </p:txBody>
      </p:sp>
      <p:sp>
        <p:nvSpPr>
          <p:cNvPr id="7" name="Shape 5">
            <a:extLst xmlns:a="http://schemas.openxmlformats.org/drawingml/2006/main">
              <a:ext uri="{FF2B5EF4-FFF2-40B4-BE49-F238E27FC236}">
                <a16:creationId xmlns:a16="http://schemas.microsoft.com/office/drawing/2014/main" id="{4928CE30-17D6-4DEC-ADF8-DD24E00AB7A8}"/>
              </a:ext>
            </a:extLst>
          </p:cNvPr>
          <p:cNvSpPr>
            <a:spLocks xmlns:a="http://schemas.openxmlformats.org/drawingml/2006/main" noGrp="1"/>
          </p:cNvSpPr>
          <p:nvPr/>
        </p:nvSpPr>
        <p:spPr>
          <a:xfrm xmlns:a="http://schemas.openxmlformats.org/drawingml/2006/main">
            <a:off x="749808" y="2286000"/>
            <a:ext cx="1758025"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2A9E6186-5CE6-4D93-A076-C1EA4E565EDC}"/>
              </a:ext>
            </a:extLst>
          </p:cNvPr>
          <p:cNvSpPr>
            <a:spLocks xmlns:a="http://schemas.openxmlformats.org/drawingml/2006/main" noGrp="1"/>
          </p:cNvSpPr>
          <p:nvPr/>
        </p:nvSpPr>
        <p:spPr>
          <a:xfrm xmlns:a="http://schemas.openxmlformats.org/drawingml/2006/main">
            <a:off x="749808" y="2414016"/>
            <a:ext cx="1758025"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Commercial rationale and relationship fit</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Pricing against the risk taken</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Portfolio and concentration appetite</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Wallet and cross-sell implications</a:t>
            </a:r>
            <a:endParaRPr sz="910"/>
          </a:p>
        </p:txBody>
      </p:sp>
      <p:sp>
        <p:nvSpPr>
          <p:cNvPr id="9" name="Shape 7">
            <a:extLst xmlns:a="http://schemas.openxmlformats.org/drawingml/2006/main">
              <a:ext uri="{FF2B5EF4-FFF2-40B4-BE49-F238E27FC236}">
                <a16:creationId xmlns:a16="http://schemas.microsoft.com/office/drawing/2014/main" id="{FD12A3B0-9DCB-48D8-A938-8053FA801974}"/>
              </a:ext>
            </a:extLst>
          </p:cNvPr>
          <p:cNvSpPr>
            <a:spLocks xmlns:a="http://schemas.openxmlformats.org/drawingml/2006/main" noGrp="1"/>
          </p:cNvSpPr>
          <p:nvPr/>
        </p:nvSpPr>
        <p:spPr>
          <a:xfrm xmlns:a="http://schemas.openxmlformats.org/drawingml/2006/main">
            <a:off x="2800441" y="1335024"/>
            <a:ext cx="2123785" cy="2834640"/>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132F8703-991D-4232-A01C-062E1442B421}"/>
              </a:ext>
            </a:extLst>
          </p:cNvPr>
          <p:cNvSpPr>
            <a:spLocks xmlns:a="http://schemas.openxmlformats.org/drawingml/2006/main" noGrp="1"/>
          </p:cNvSpPr>
          <p:nvPr/>
        </p:nvSpPr>
        <p:spPr>
          <a:xfrm xmlns:a="http://schemas.openxmlformats.org/drawingml/2006/main">
            <a:off x="2983321" y="1499616"/>
            <a:ext cx="1758025"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Risk</a:t>
            </a:r>
            <a:endParaRPr sz="1300"/>
          </a:p>
        </p:txBody>
      </p:sp>
      <p:sp>
        <p:nvSpPr>
          <p:cNvPr id="11" name="Text 9">
            <a:extLst xmlns:a="http://schemas.openxmlformats.org/drawingml/2006/main">
              <a:ext uri="{FF2B5EF4-FFF2-40B4-BE49-F238E27FC236}">
                <a16:creationId xmlns:a16="http://schemas.microsoft.com/office/drawing/2014/main" id="{91B70C9E-256F-46B7-B3EE-E38D672D79F7}"/>
              </a:ext>
            </a:extLst>
          </p:cNvPr>
          <p:cNvSpPr>
            <a:spLocks xmlns:a="http://schemas.openxmlformats.org/drawingml/2006/main" noGrp="1"/>
          </p:cNvSpPr>
          <p:nvPr/>
        </p:nvSpPr>
        <p:spPr>
          <a:xfrm xmlns:a="http://schemas.openxmlformats.org/drawingml/2006/main">
            <a:off x="2983321" y="1810512"/>
            <a:ext cx="17580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80" b="1" i="1">
                <a:solidFill>
                  <a:srgbClr val="486581"/>
                </a:solidFill>
                <a:latin typeface="Arial"/>
                <a:ea typeface="Arial"/>
                <a:cs typeface="Arial"/>
              </a:rPr>
              <a:t>Can the counterparty repay?</a:t>
            </a:r>
            <a:endParaRPr sz="980"/>
          </a:p>
        </p:txBody>
      </p:sp>
      <p:sp>
        <p:nvSpPr>
          <p:cNvPr id="12" name="Shape 10">
            <a:extLst xmlns:a="http://schemas.openxmlformats.org/drawingml/2006/main">
              <a:ext uri="{FF2B5EF4-FFF2-40B4-BE49-F238E27FC236}">
                <a16:creationId xmlns:a16="http://schemas.microsoft.com/office/drawing/2014/main" id="{0BC2E685-30AE-48E2-8935-DA84A666DAC7}"/>
              </a:ext>
            </a:extLst>
          </p:cNvPr>
          <p:cNvSpPr>
            <a:spLocks xmlns:a="http://schemas.openxmlformats.org/drawingml/2006/main" noGrp="1"/>
          </p:cNvSpPr>
          <p:nvPr/>
        </p:nvSpPr>
        <p:spPr>
          <a:xfrm xmlns:a="http://schemas.openxmlformats.org/drawingml/2006/main">
            <a:off x="2983321" y="2286000"/>
            <a:ext cx="1758025"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465278E9-2D41-4713-839B-C646C1B09A58}"/>
              </a:ext>
            </a:extLst>
          </p:cNvPr>
          <p:cNvSpPr>
            <a:spLocks xmlns:a="http://schemas.openxmlformats.org/drawingml/2006/main" noGrp="1"/>
          </p:cNvSpPr>
          <p:nvPr/>
        </p:nvSpPr>
        <p:spPr>
          <a:xfrm xmlns:a="http://schemas.openxmlformats.org/drawingml/2006/main">
            <a:off x="2983321" y="2414016"/>
            <a:ext cx="1758025"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Credit assessment and internal rating</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Structure, security and covenants</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Limits, exposure and concentration</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Stress and downside scenarios</a:t>
            </a:r>
            <a:endParaRPr sz="910"/>
          </a:p>
        </p:txBody>
      </p:sp>
      <p:sp>
        <p:nvSpPr>
          <p:cNvPr id="14" name="Shape 12">
            <a:extLst xmlns:a="http://schemas.openxmlformats.org/drawingml/2006/main">
              <a:ext uri="{FF2B5EF4-FFF2-40B4-BE49-F238E27FC236}">
                <a16:creationId xmlns:a16="http://schemas.microsoft.com/office/drawing/2014/main" id="{452831A0-907F-4019-9432-E2833219E66C}"/>
              </a:ext>
            </a:extLst>
          </p:cNvPr>
          <p:cNvSpPr>
            <a:spLocks xmlns:a="http://schemas.openxmlformats.org/drawingml/2006/main" noGrp="1"/>
          </p:cNvSpPr>
          <p:nvPr/>
        </p:nvSpPr>
        <p:spPr>
          <a:xfrm xmlns:a="http://schemas.openxmlformats.org/drawingml/2006/main">
            <a:off x="5033955" y="1335024"/>
            <a:ext cx="2123785" cy="2834640"/>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F245CF2A-EDB2-4CA6-A6A5-6A0CB8783368}"/>
              </a:ext>
            </a:extLst>
          </p:cNvPr>
          <p:cNvSpPr>
            <a:spLocks xmlns:a="http://schemas.openxmlformats.org/drawingml/2006/main" noGrp="1"/>
          </p:cNvSpPr>
          <p:nvPr/>
        </p:nvSpPr>
        <p:spPr>
          <a:xfrm xmlns:a="http://schemas.openxmlformats.org/drawingml/2006/main">
            <a:off x="5216835" y="1499616"/>
            <a:ext cx="1758025"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Legal</a:t>
            </a:r>
            <a:endParaRPr sz="1300"/>
          </a:p>
        </p:txBody>
      </p:sp>
      <p:sp>
        <p:nvSpPr>
          <p:cNvPr id="16" name="Text 14">
            <a:extLst xmlns:a="http://schemas.openxmlformats.org/drawingml/2006/main">
              <a:ext uri="{FF2B5EF4-FFF2-40B4-BE49-F238E27FC236}">
                <a16:creationId xmlns:a16="http://schemas.microsoft.com/office/drawing/2014/main" id="{F8CA50CF-D392-4052-8C0E-CCD790F34EBA}"/>
              </a:ext>
            </a:extLst>
          </p:cNvPr>
          <p:cNvSpPr>
            <a:spLocks xmlns:a="http://schemas.openxmlformats.org/drawingml/2006/main" noGrp="1"/>
          </p:cNvSpPr>
          <p:nvPr/>
        </p:nvSpPr>
        <p:spPr>
          <a:xfrm xmlns:a="http://schemas.openxmlformats.org/drawingml/2006/main">
            <a:off x="5216835" y="1810512"/>
            <a:ext cx="17580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80" b="1" i="1">
                <a:solidFill>
                  <a:srgbClr val="486581"/>
                </a:solidFill>
                <a:latin typeface="Arial"/>
                <a:ea typeface="Arial"/>
                <a:cs typeface="Arial"/>
              </a:rPr>
              <a:t>Is it enforceable as written?</a:t>
            </a:r>
            <a:endParaRPr sz="980"/>
          </a:p>
        </p:txBody>
      </p:sp>
      <p:sp>
        <p:nvSpPr>
          <p:cNvPr id="17" name="Shape 15">
            <a:extLst xmlns:a="http://schemas.openxmlformats.org/drawingml/2006/main">
              <a:ext uri="{FF2B5EF4-FFF2-40B4-BE49-F238E27FC236}">
                <a16:creationId xmlns:a16="http://schemas.microsoft.com/office/drawing/2014/main" id="{C8F82BAB-3745-4DA3-9DAE-740D669F40B1}"/>
              </a:ext>
            </a:extLst>
          </p:cNvPr>
          <p:cNvSpPr>
            <a:spLocks xmlns:a="http://schemas.openxmlformats.org/drawingml/2006/main" noGrp="1"/>
          </p:cNvSpPr>
          <p:nvPr/>
        </p:nvSpPr>
        <p:spPr>
          <a:xfrm xmlns:a="http://schemas.openxmlformats.org/drawingml/2006/main">
            <a:off x="5216835" y="2286000"/>
            <a:ext cx="1758025"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D22B3502-8C67-4458-A5B7-080A39DC0055}"/>
              </a:ext>
            </a:extLst>
          </p:cNvPr>
          <p:cNvSpPr>
            <a:spLocks xmlns:a="http://schemas.openxmlformats.org/drawingml/2006/main" noGrp="1"/>
          </p:cNvSpPr>
          <p:nvPr/>
        </p:nvSpPr>
        <p:spPr>
          <a:xfrm xmlns:a="http://schemas.openxmlformats.org/drawingml/2006/main">
            <a:off x="5216835" y="2414016"/>
            <a:ext cx="1758025"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Documentation and contract form</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Security perfection and jurisdiction</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Counterparty capacity and authority</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Precedent and deviation from standard</a:t>
            </a:r>
            <a:endParaRPr sz="910"/>
          </a:p>
        </p:txBody>
      </p:sp>
      <p:sp>
        <p:nvSpPr>
          <p:cNvPr id="19" name="Shape 17">
            <a:extLst xmlns:a="http://schemas.openxmlformats.org/drawingml/2006/main">
              <a:ext uri="{FF2B5EF4-FFF2-40B4-BE49-F238E27FC236}">
                <a16:creationId xmlns:a16="http://schemas.microsoft.com/office/drawing/2014/main" id="{F1DB9158-7881-4F23-A819-851B9B29A7A2}"/>
              </a:ext>
            </a:extLst>
          </p:cNvPr>
          <p:cNvSpPr>
            <a:spLocks xmlns:a="http://schemas.openxmlformats.org/drawingml/2006/main" noGrp="1"/>
          </p:cNvSpPr>
          <p:nvPr/>
        </p:nvSpPr>
        <p:spPr>
          <a:xfrm xmlns:a="http://schemas.openxmlformats.org/drawingml/2006/main">
            <a:off x="7267468" y="1335024"/>
            <a:ext cx="2123785" cy="2834640"/>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2BA93CE3-8DF3-45A5-AD4F-16B40AD1D98B}"/>
              </a:ext>
            </a:extLst>
          </p:cNvPr>
          <p:cNvSpPr>
            <a:spLocks xmlns:a="http://schemas.openxmlformats.org/drawingml/2006/main" noGrp="1"/>
          </p:cNvSpPr>
          <p:nvPr/>
        </p:nvSpPr>
        <p:spPr>
          <a:xfrm xmlns:a="http://schemas.openxmlformats.org/drawingml/2006/main">
            <a:off x="7450348" y="1499616"/>
            <a:ext cx="1758025"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Compliance</a:t>
            </a:r>
            <a:endParaRPr sz="1300"/>
          </a:p>
        </p:txBody>
      </p:sp>
      <p:sp>
        <p:nvSpPr>
          <p:cNvPr id="21" name="Text 19">
            <a:extLst xmlns:a="http://schemas.openxmlformats.org/drawingml/2006/main">
              <a:ext uri="{FF2B5EF4-FFF2-40B4-BE49-F238E27FC236}">
                <a16:creationId xmlns:a16="http://schemas.microsoft.com/office/drawing/2014/main" id="{8219B8BE-45B1-4A55-ABF6-9CA4E4DAE2AA}"/>
              </a:ext>
            </a:extLst>
          </p:cNvPr>
          <p:cNvSpPr>
            <a:spLocks xmlns:a="http://schemas.openxmlformats.org/drawingml/2006/main" noGrp="1"/>
          </p:cNvSpPr>
          <p:nvPr/>
        </p:nvSpPr>
        <p:spPr>
          <a:xfrm xmlns:a="http://schemas.openxmlformats.org/drawingml/2006/main">
            <a:off x="7450348" y="1810512"/>
            <a:ext cx="17580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80" b="1" i="1">
                <a:solidFill>
                  <a:srgbClr val="B04A25"/>
                </a:solidFill>
                <a:latin typeface="Arial"/>
                <a:ea typeface="Arial"/>
                <a:cs typeface="Arial"/>
              </a:rPr>
              <a:t>Are we permitted to do it?</a:t>
            </a:r>
            <a:endParaRPr sz="980"/>
          </a:p>
        </p:txBody>
      </p:sp>
      <p:sp>
        <p:nvSpPr>
          <p:cNvPr id="22" name="Shape 20">
            <a:extLst xmlns:a="http://schemas.openxmlformats.org/drawingml/2006/main">
              <a:ext uri="{FF2B5EF4-FFF2-40B4-BE49-F238E27FC236}">
                <a16:creationId xmlns:a16="http://schemas.microsoft.com/office/drawing/2014/main" id="{F17C7498-E554-4A95-A739-D064E381A330}"/>
              </a:ext>
            </a:extLst>
          </p:cNvPr>
          <p:cNvSpPr>
            <a:spLocks xmlns:a="http://schemas.openxmlformats.org/drawingml/2006/main" noGrp="1"/>
          </p:cNvSpPr>
          <p:nvPr/>
        </p:nvSpPr>
        <p:spPr>
          <a:xfrm xmlns:a="http://schemas.openxmlformats.org/drawingml/2006/main">
            <a:off x="7450348" y="2286000"/>
            <a:ext cx="1758025"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6C901E35-A009-41B8-9F0C-31CB6D55106C}"/>
              </a:ext>
            </a:extLst>
          </p:cNvPr>
          <p:cNvSpPr>
            <a:spLocks xmlns:a="http://schemas.openxmlformats.org/drawingml/2006/main" noGrp="1"/>
          </p:cNvSpPr>
          <p:nvPr/>
        </p:nvSpPr>
        <p:spPr>
          <a:xfrm xmlns:a="http://schemas.openxmlformats.org/drawingml/2006/main">
            <a:off x="7450348" y="2414016"/>
            <a:ext cx="1758025"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Sanctions, screening and know-your-customer</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Regulatory limits and reporting</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Conflicts and related-party rules</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Financial-crime risk</a:t>
            </a:r>
            <a:endParaRPr sz="910"/>
          </a:p>
        </p:txBody>
      </p:sp>
      <p:sp>
        <p:nvSpPr>
          <p:cNvPr id="24" name="Shape 22">
            <a:extLst xmlns:a="http://schemas.openxmlformats.org/drawingml/2006/main">
              <a:ext uri="{FF2B5EF4-FFF2-40B4-BE49-F238E27FC236}">
                <a16:creationId xmlns:a16="http://schemas.microsoft.com/office/drawing/2014/main" id="{8BCB1A6A-2C1E-4AF3-9F97-6C0BD75F9994}"/>
              </a:ext>
            </a:extLst>
          </p:cNvPr>
          <p:cNvSpPr>
            <a:spLocks xmlns:a="http://schemas.openxmlformats.org/drawingml/2006/main" noGrp="1"/>
          </p:cNvSpPr>
          <p:nvPr/>
        </p:nvSpPr>
        <p:spPr>
          <a:xfrm xmlns:a="http://schemas.openxmlformats.org/drawingml/2006/main">
            <a:off x="9500982" y="1335024"/>
            <a:ext cx="2123785" cy="2834640"/>
          </a:xfrm>
          <a:prstGeom xmlns:a="http://schemas.openxmlformats.org/drawingml/2006/main" prst="rect">
            <a:avLst/>
          </a:prstGeom>
          <a:solidFill xmlns:a="http://schemas.openxmlformats.org/drawingml/2006/main">
            <a:srgbClr val="F3E6E0"/>
          </a:solidFill>
        </p:spPr>
      </p:sp>
      <p:sp>
        <p:nvSpPr>
          <p:cNvPr id="25" name="Text 23">
            <a:extLst xmlns:a="http://schemas.openxmlformats.org/drawingml/2006/main">
              <a:ext uri="{FF2B5EF4-FFF2-40B4-BE49-F238E27FC236}">
                <a16:creationId xmlns:a16="http://schemas.microsoft.com/office/drawing/2014/main" id="{8BC3B255-D974-4156-BD26-83FC93441829}"/>
              </a:ext>
            </a:extLst>
          </p:cNvPr>
          <p:cNvSpPr>
            <a:spLocks xmlns:a="http://schemas.openxmlformats.org/drawingml/2006/main" noGrp="1"/>
          </p:cNvSpPr>
          <p:nvPr/>
        </p:nvSpPr>
        <p:spPr>
          <a:xfrm xmlns:a="http://schemas.openxmlformats.org/drawingml/2006/main">
            <a:off x="9683862" y="1499616"/>
            <a:ext cx="1758025"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Sharia</a:t>
            </a:r>
            <a:endParaRPr sz="1300"/>
          </a:p>
        </p:txBody>
      </p:sp>
      <p:sp>
        <p:nvSpPr>
          <p:cNvPr id="26" name="Text 24">
            <a:extLst xmlns:a="http://schemas.openxmlformats.org/drawingml/2006/main">
              <a:ext uri="{FF2B5EF4-FFF2-40B4-BE49-F238E27FC236}">
                <a16:creationId xmlns:a16="http://schemas.microsoft.com/office/drawing/2014/main" id="{E1785DD4-7D6A-43DD-8852-C032F9DA87DB}"/>
              </a:ext>
            </a:extLst>
          </p:cNvPr>
          <p:cNvSpPr>
            <a:spLocks xmlns:a="http://schemas.openxmlformats.org/drawingml/2006/main" noGrp="1"/>
          </p:cNvSpPr>
          <p:nvPr/>
        </p:nvSpPr>
        <p:spPr>
          <a:xfrm xmlns:a="http://schemas.openxmlformats.org/drawingml/2006/main">
            <a:off x="9683862" y="1810512"/>
            <a:ext cx="1758025"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80" b="1" i="1">
                <a:solidFill>
                  <a:srgbClr val="B04A25"/>
                </a:solidFill>
                <a:latin typeface="Arial"/>
                <a:ea typeface="Arial"/>
                <a:cs typeface="Arial"/>
              </a:rPr>
              <a:t>Is the structure permissible?</a:t>
            </a:r>
            <a:endParaRPr sz="980"/>
          </a:p>
        </p:txBody>
      </p:sp>
      <p:sp>
        <p:nvSpPr>
          <p:cNvPr id="27" name="Shape 25">
            <a:extLst xmlns:a="http://schemas.openxmlformats.org/drawingml/2006/main">
              <a:ext uri="{FF2B5EF4-FFF2-40B4-BE49-F238E27FC236}">
                <a16:creationId xmlns:a16="http://schemas.microsoft.com/office/drawing/2014/main" id="{7C042287-F968-465D-B532-F73CA45FF646}"/>
              </a:ext>
            </a:extLst>
          </p:cNvPr>
          <p:cNvSpPr>
            <a:spLocks xmlns:a="http://schemas.openxmlformats.org/drawingml/2006/main" noGrp="1"/>
          </p:cNvSpPr>
          <p:nvPr/>
        </p:nvSpPr>
        <p:spPr>
          <a:xfrm xmlns:a="http://schemas.openxmlformats.org/drawingml/2006/main">
            <a:off x="9683862" y="2286000"/>
            <a:ext cx="1758025" cy="13716"/>
          </a:xfrm>
          <a:prstGeom xmlns:a="http://schemas.openxmlformats.org/drawingml/2006/main" prst="rect">
            <a:avLst/>
          </a:prstGeom>
          <a:solidFill xmlns:a="http://schemas.openxmlformats.org/drawingml/2006/main">
            <a:srgbClr val="C6D2DE"/>
          </a:solidFill>
        </p:spPr>
      </p:sp>
      <p:sp>
        <p:nvSpPr>
          <p:cNvPr id="28" name="Text 26">
            <a:extLst xmlns:a="http://schemas.openxmlformats.org/drawingml/2006/main">
              <a:ext uri="{FF2B5EF4-FFF2-40B4-BE49-F238E27FC236}">
                <a16:creationId xmlns:a16="http://schemas.microsoft.com/office/drawing/2014/main" id="{B5AFEB77-15B7-4771-80A4-6891A44AD2FF}"/>
              </a:ext>
            </a:extLst>
          </p:cNvPr>
          <p:cNvSpPr>
            <a:spLocks xmlns:a="http://schemas.openxmlformats.org/drawingml/2006/main" noGrp="1"/>
          </p:cNvSpPr>
          <p:nvPr/>
        </p:nvSpPr>
        <p:spPr>
          <a:xfrm xmlns:a="http://schemas.openxmlformats.org/drawingml/2006/main">
            <a:off x="9683862" y="2414016"/>
            <a:ext cx="1758025"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Contract form and its conformity</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Underlying asset and its treatment</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Prohibited activity screening</a:t>
            </a:r>
            <a:endParaRPr sz="910"/>
          </a:p>
          <a:p xmlns:a="http://schemas.openxmlformats.org/drawingml/2006/main">
            <a:pPr marL="152400" indent="-152400">
              <a:lnSpc>
                <a:spcPts val="1400"/>
              </a:lnSpc>
              <a:spcAft>
                <a:spcPts val="500"/>
              </a:spcAft>
              <a:buSzPct val="100000"/>
              <a:buChar char="•"/>
            </a:pPr>
            <a:r>
              <a:rPr sz="910">
                <a:solidFill>
                  <a:srgbClr val="1A1A1A"/>
                </a:solidFill>
                <a:latin typeface="Arial"/>
                <a:ea typeface="Arial"/>
                <a:cs typeface="Arial"/>
              </a:rPr>
              <a:t>Profit treatment and late-payment handling</a:t>
            </a:r>
            <a:endParaRPr sz="910"/>
          </a:p>
        </p:txBody>
      </p:sp>
      <p:sp>
        <p:nvSpPr>
          <p:cNvPr id="29" name="Shape 27">
            <a:extLst xmlns:a="http://schemas.openxmlformats.org/drawingml/2006/main">
              <a:ext uri="{FF2B5EF4-FFF2-40B4-BE49-F238E27FC236}">
                <a16:creationId xmlns:a16="http://schemas.microsoft.com/office/drawing/2014/main" id="{D1D6703E-E90F-4389-B685-2FCC991C84B5}"/>
              </a:ext>
            </a:extLst>
          </p:cNvPr>
          <p:cNvSpPr>
            <a:spLocks xmlns:a="http://schemas.openxmlformats.org/drawingml/2006/main" noGrp="1"/>
          </p:cNvSpPr>
          <p:nvPr/>
        </p:nvSpPr>
        <p:spPr>
          <a:xfrm xmlns:a="http://schemas.openxmlformats.org/drawingml/2006/main">
            <a:off x="566928" y="4425696"/>
            <a:ext cx="11057839" cy="1645920"/>
          </a:xfrm>
          <a:prstGeom xmlns:a="http://schemas.openxmlformats.org/drawingml/2006/main" prst="rect">
            <a:avLst/>
          </a:prstGeom>
          <a:solidFill xmlns:a="http://schemas.openxmlformats.org/drawingml/2006/main">
            <a:srgbClr val="F3E6E0"/>
          </a:solidFill>
        </p:spPr>
      </p:sp>
      <p:sp>
        <p:nvSpPr>
          <p:cNvPr id="30" name="Text 28">
            <a:extLst xmlns:a="http://schemas.openxmlformats.org/drawingml/2006/main">
              <a:ext uri="{FF2B5EF4-FFF2-40B4-BE49-F238E27FC236}">
                <a16:creationId xmlns:a16="http://schemas.microsoft.com/office/drawing/2014/main" id="{480A59BC-8E8C-4A2E-8C96-9D1D8F545039}"/>
              </a:ext>
            </a:extLst>
          </p:cNvPr>
          <p:cNvSpPr>
            <a:spLocks xmlns:a="http://schemas.openxmlformats.org/drawingml/2006/main" noGrp="1"/>
          </p:cNvSpPr>
          <p:nvPr/>
        </p:nvSpPr>
        <p:spPr>
          <a:xfrm xmlns:a="http://schemas.openxmlformats.org/drawingml/2006/main">
            <a:off x="804672" y="457200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independence is the design constraint, not a governance detail</a:t>
            </a:r>
            <a:endParaRPr sz="1100"/>
          </a:p>
        </p:txBody>
      </p:sp>
      <p:sp>
        <p:nvSpPr>
          <p:cNvPr id="31" name="Text 29">
            <a:extLst xmlns:a="http://schemas.openxmlformats.org/drawingml/2006/main">
              <a:ext uri="{FF2B5EF4-FFF2-40B4-BE49-F238E27FC236}">
                <a16:creationId xmlns:a16="http://schemas.microsoft.com/office/drawing/2014/main" id="{2530B4F8-D371-45CB-81F5-DF464A82D04B}"/>
              </a:ext>
            </a:extLst>
          </p:cNvPr>
          <p:cNvSpPr>
            <a:spLocks xmlns:a="http://schemas.openxmlformats.org/drawingml/2006/main" noGrp="1"/>
          </p:cNvSpPr>
          <p:nvPr/>
        </p:nvSpPr>
        <p:spPr>
          <a:xfrm xmlns:a="http://schemas.openxmlformats.org/drawingml/2006/main">
            <a:off x="804672" y="4828032"/>
            <a:ext cx="10582351"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These are five separate mandates, not five stages of one review. No function can approve on another's behalf, none can overrule another, and a rejection from any one of them stops the facility regardless of what the other four concluded.</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has a direct architectural consequence. If the order between them is arbitrary — and it is, because none depends on another's conclusion — then serialising them is a pure cost with no governance benefit. The only reason approvals are usually serial is that a document physically moved between desks, and the workflow inherited the shape of the paper process rather than the shape of the governance.</a:t>
            </a:r>
            <a:endParaRPr sz="990"/>
          </a:p>
        </p:txBody>
      </p:sp>
      <p:sp>
        <p:nvSpPr>
          <p:cNvPr id="32" name="Shape 30">
            <a:extLst xmlns:a="http://schemas.openxmlformats.org/drawingml/2006/main">
              <a:ext uri="{FF2B5EF4-FFF2-40B4-BE49-F238E27FC236}">
                <a16:creationId xmlns:a16="http://schemas.microsoft.com/office/drawing/2014/main" id="{40EAF053-A739-4FA7-B5EE-36DB40B5D71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589F15B2-CEF0-41F0-B357-EAA0E6CC6ED5}"/>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wholesale credit programme · author's analysis</a:t>
            </a:r>
            <a:endParaRPr sz="850"/>
          </a:p>
        </p:txBody>
      </p:sp>
      <p:sp>
        <p:nvSpPr>
          <p:cNvPr id="34" name="Text 32">
            <a:extLst xmlns:a="http://schemas.openxmlformats.org/drawingml/2006/main">
              <a:ext uri="{FF2B5EF4-FFF2-40B4-BE49-F238E27FC236}">
                <a16:creationId xmlns:a16="http://schemas.microsoft.com/office/drawing/2014/main" id="{FB9ED2F8-CD21-4214-B600-2FB1184A76E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2049279952"/>
      </p:ext>
    </p:extLst>
  </p:cSld>
</p:sld>
</file>

<file path=ppt/slides/slide17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2701D42-955E-429C-9A5F-C8D44701941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ARITHMETIC</a:t>
            </a:r>
            <a:endParaRPr sz="950"/>
          </a:p>
        </p:txBody>
      </p:sp>
      <p:sp>
        <p:nvSpPr>
          <p:cNvPr id="3" name="Text 1">
            <a:extLst xmlns:a="http://schemas.openxmlformats.org/drawingml/2006/main">
              <a:ext uri="{FF2B5EF4-FFF2-40B4-BE49-F238E27FC236}">
                <a16:creationId xmlns:a16="http://schemas.microsoft.com/office/drawing/2014/main" id="{4C723849-BCD6-4A4D-98D6-15A76D838A1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Serial elapsed time is the sum of five queues; parallel is the longest one — and</a:t>
            </a:r>
            <a:endParaRPr sz="1900"/>
          </a:p>
          <a:p xmlns:a="http://schemas.openxmlformats.org/drawingml/2006/main">
            <a:pPr marL="0" indent="0">
              <a:lnSpc>
                <a:spcPts val="2400"/>
              </a:lnSpc>
              <a:buNone/>
            </a:pPr>
            <a:r>
              <a:rPr sz="1900" b="1">
                <a:solidFill>
                  <a:srgbClr val="102A43"/>
                </a:solidFill>
                <a:latin typeface="Arial"/>
                <a:ea typeface="Arial"/>
                <a:cs typeface="Arial"/>
              </a:rPr>
              <a:t>review effort is identical in both</a:t>
            </a:r>
            <a:endParaRPr sz="1900"/>
          </a:p>
        </p:txBody>
      </p:sp>
      <p:graphicFrame>
        <p:nvGraphicFramePr>
          <p:cNvPr id="30" name="Chart 0"/>
          <p:cNvGraphicFramePr/>
          <p:nvPr/>
        </p:nvGraphicFramePr>
        <p:xfrm>
          <a:off xmlns:a="http://schemas.openxmlformats.org/drawingml/2006/main" x="566928" y="1426464"/>
          <a:ext xmlns:a="http://schemas.openxmlformats.org/drawingml/2006/main" cx="5760720" cy="2468880"/>
        </p:xfrm>
        <a:graphic xmlns:a="http://schemas.openxmlformats.org/drawingml/2006/main">
          <a:graphicData uri="http://schemas.openxmlformats.org/drawingml/2006/chart">
            <c:chart xmlns:r="http://schemas.openxmlformats.org/officeDocument/2006/relationships" xmlns:c="http://schemas.openxmlformats.org/drawingml/2006/chart" r:id="R36d6cd0c405c42a2"/>
          </a:graphicData>
        </a:graphic>
      </p:graphicFrame>
      <p:sp>
        <p:nvSpPr>
          <p:cNvPr id="5" name="Text 2">
            <a:extLst xmlns:a="http://schemas.openxmlformats.org/drawingml/2006/main">
              <a:ext uri="{FF2B5EF4-FFF2-40B4-BE49-F238E27FC236}">
                <a16:creationId xmlns:a16="http://schemas.microsoft.com/office/drawing/2014/main" id="{E3443084-1951-4C65-A463-75B464101C7C}"/>
              </a:ext>
            </a:extLst>
          </p:cNvPr>
          <p:cNvSpPr>
            <a:spLocks xmlns:a="http://schemas.openxmlformats.org/drawingml/2006/main" noGrp="1"/>
          </p:cNvSpPr>
          <p:nvPr/>
        </p:nvSpPr>
        <p:spPr>
          <a:xfrm xmlns:a="http://schemas.openxmlformats.org/drawingml/2006/main">
            <a:off x="566928" y="4059936"/>
            <a:ext cx="5760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days per function — queue wait dominates active review in every case</a:t>
            </a:r>
            <a:endParaRPr sz="880"/>
          </a:p>
        </p:txBody>
      </p:sp>
      <p:sp>
        <p:nvSpPr>
          <p:cNvPr id="6" name="Shape 3">
            <a:extLst xmlns:a="http://schemas.openxmlformats.org/drawingml/2006/main">
              <a:ext uri="{FF2B5EF4-FFF2-40B4-BE49-F238E27FC236}">
                <a16:creationId xmlns:a16="http://schemas.microsoft.com/office/drawing/2014/main" id="{0EB6607A-BCA3-4BD8-B2DA-C086149BCAED}"/>
              </a:ext>
            </a:extLst>
          </p:cNvPr>
          <p:cNvSpPr>
            <a:spLocks xmlns:a="http://schemas.openxmlformats.org/drawingml/2006/main" noGrp="1"/>
          </p:cNvSpPr>
          <p:nvPr/>
        </p:nvSpPr>
        <p:spPr>
          <a:xfrm xmlns:a="http://schemas.openxmlformats.org/drawingml/2006/main">
            <a:off x="6693408" y="1426464"/>
            <a:ext cx="2377440" cy="896112"/>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100644F3-5DAB-4D19-AADB-CCFFB8BE9E4B}"/>
              </a:ext>
            </a:extLst>
          </p:cNvPr>
          <p:cNvSpPr>
            <a:spLocks xmlns:a="http://schemas.openxmlformats.org/drawingml/2006/main" noGrp="1"/>
          </p:cNvSpPr>
          <p:nvPr/>
        </p:nvSpPr>
        <p:spPr>
          <a:xfrm xmlns:a="http://schemas.openxmlformats.org/drawingml/2006/main">
            <a:off x="6821424" y="1545336"/>
            <a:ext cx="212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02A43"/>
                </a:solidFill>
                <a:latin typeface="Arial"/>
                <a:ea typeface="Arial"/>
                <a:cs typeface="Arial"/>
              </a:rPr>
              <a:t>25</a:t>
            </a:r>
            <a:endParaRPr sz="2400"/>
          </a:p>
        </p:txBody>
      </p:sp>
      <p:sp>
        <p:nvSpPr>
          <p:cNvPr id="8" name="Text 5">
            <a:extLst xmlns:a="http://schemas.openxmlformats.org/drawingml/2006/main">
              <a:ext uri="{FF2B5EF4-FFF2-40B4-BE49-F238E27FC236}">
                <a16:creationId xmlns:a16="http://schemas.microsoft.com/office/drawing/2014/main" id="{29819EFA-046B-4E01-9BCB-3D6E2B17A6D8}"/>
              </a:ext>
            </a:extLst>
          </p:cNvPr>
          <p:cNvSpPr>
            <a:spLocks xmlns:a="http://schemas.openxmlformats.org/drawingml/2006/main" noGrp="1"/>
          </p:cNvSpPr>
          <p:nvPr/>
        </p:nvSpPr>
        <p:spPr>
          <a:xfrm xmlns:a="http://schemas.openxmlformats.org/drawingml/2006/main">
            <a:off x="6821424" y="1938528"/>
            <a:ext cx="21214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days elapsed,</a:t>
            </a:r>
            <a:endParaRPr sz="860"/>
          </a:p>
          <a:p xmlns:a="http://schemas.openxmlformats.org/drawingml/2006/main">
            <a:pPr marL="0" indent="0">
              <a:lnSpc>
                <a:spcPts val="1050"/>
              </a:lnSpc>
              <a:buNone/>
            </a:pPr>
            <a:r>
              <a:rPr sz="860">
                <a:solidFill>
                  <a:srgbClr val="486581"/>
                </a:solidFill>
                <a:latin typeface="Arial"/>
                <a:ea typeface="Arial"/>
                <a:cs typeface="Arial"/>
              </a:rPr>
              <a:t>routed in series</a:t>
            </a:r>
            <a:endParaRPr sz="860"/>
          </a:p>
        </p:txBody>
      </p:sp>
      <p:sp>
        <p:nvSpPr>
          <p:cNvPr id="9" name="Shape 6">
            <a:extLst xmlns:a="http://schemas.openxmlformats.org/drawingml/2006/main">
              <a:ext uri="{FF2B5EF4-FFF2-40B4-BE49-F238E27FC236}">
                <a16:creationId xmlns:a16="http://schemas.microsoft.com/office/drawing/2014/main" id="{98F7E89C-2E71-4D8B-9512-56719EABA241}"/>
              </a:ext>
            </a:extLst>
          </p:cNvPr>
          <p:cNvSpPr>
            <a:spLocks xmlns:a="http://schemas.openxmlformats.org/drawingml/2006/main" noGrp="1"/>
          </p:cNvSpPr>
          <p:nvPr/>
        </p:nvSpPr>
        <p:spPr>
          <a:xfrm xmlns:a="http://schemas.openxmlformats.org/drawingml/2006/main">
            <a:off x="9208008" y="1426464"/>
            <a:ext cx="2377440" cy="896112"/>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7078389D-45AD-4B7B-9168-18C040EF56D4}"/>
              </a:ext>
            </a:extLst>
          </p:cNvPr>
          <p:cNvSpPr>
            <a:spLocks xmlns:a="http://schemas.openxmlformats.org/drawingml/2006/main" noGrp="1"/>
          </p:cNvSpPr>
          <p:nvPr/>
        </p:nvSpPr>
        <p:spPr>
          <a:xfrm xmlns:a="http://schemas.openxmlformats.org/drawingml/2006/main">
            <a:off x="9336024" y="1545336"/>
            <a:ext cx="212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02A43"/>
                </a:solidFill>
                <a:latin typeface="Arial"/>
                <a:ea typeface="Arial"/>
                <a:cs typeface="Arial"/>
              </a:rPr>
              <a:t>8</a:t>
            </a:r>
            <a:endParaRPr sz="2400"/>
          </a:p>
        </p:txBody>
      </p:sp>
      <p:sp>
        <p:nvSpPr>
          <p:cNvPr id="11" name="Text 8">
            <a:extLst xmlns:a="http://schemas.openxmlformats.org/drawingml/2006/main">
              <a:ext uri="{FF2B5EF4-FFF2-40B4-BE49-F238E27FC236}">
                <a16:creationId xmlns:a16="http://schemas.microsoft.com/office/drawing/2014/main" id="{73484B6A-4593-4BC7-A486-82349933C7A2}"/>
              </a:ext>
            </a:extLst>
          </p:cNvPr>
          <p:cNvSpPr>
            <a:spLocks xmlns:a="http://schemas.openxmlformats.org/drawingml/2006/main" noGrp="1"/>
          </p:cNvSpPr>
          <p:nvPr/>
        </p:nvSpPr>
        <p:spPr>
          <a:xfrm xmlns:a="http://schemas.openxmlformats.org/drawingml/2006/main">
            <a:off x="9336024" y="1938528"/>
            <a:ext cx="21214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days elapsed,</a:t>
            </a:r>
            <a:endParaRPr sz="860"/>
          </a:p>
          <a:p xmlns:a="http://schemas.openxmlformats.org/drawingml/2006/main">
            <a:pPr marL="0" indent="0">
              <a:lnSpc>
                <a:spcPts val="1050"/>
              </a:lnSpc>
              <a:buNone/>
            </a:pPr>
            <a:r>
              <a:rPr sz="860">
                <a:solidFill>
                  <a:srgbClr val="486581"/>
                </a:solidFill>
                <a:latin typeface="Arial"/>
                <a:ea typeface="Arial"/>
                <a:cs typeface="Arial"/>
              </a:rPr>
              <a:t>routed in parallel</a:t>
            </a:r>
            <a:endParaRPr sz="860"/>
          </a:p>
        </p:txBody>
      </p:sp>
      <p:sp>
        <p:nvSpPr>
          <p:cNvPr id="12" name="Shape 9">
            <a:extLst xmlns:a="http://schemas.openxmlformats.org/drawingml/2006/main">
              <a:ext uri="{FF2B5EF4-FFF2-40B4-BE49-F238E27FC236}">
                <a16:creationId xmlns:a16="http://schemas.microsoft.com/office/drawing/2014/main" id="{B6DA3D1C-4246-477D-87EA-26E055702513}"/>
              </a:ext>
            </a:extLst>
          </p:cNvPr>
          <p:cNvSpPr>
            <a:spLocks xmlns:a="http://schemas.openxmlformats.org/drawingml/2006/main" noGrp="1"/>
          </p:cNvSpPr>
          <p:nvPr/>
        </p:nvSpPr>
        <p:spPr>
          <a:xfrm xmlns:a="http://schemas.openxmlformats.org/drawingml/2006/main">
            <a:off x="6693408" y="2414016"/>
            <a:ext cx="2377440" cy="896112"/>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F21AB08D-5C82-4AA5-BB23-BE588A6E5D6C}"/>
              </a:ext>
            </a:extLst>
          </p:cNvPr>
          <p:cNvSpPr>
            <a:spLocks xmlns:a="http://schemas.openxmlformats.org/drawingml/2006/main" noGrp="1"/>
          </p:cNvSpPr>
          <p:nvPr/>
        </p:nvSpPr>
        <p:spPr>
          <a:xfrm xmlns:a="http://schemas.openxmlformats.org/drawingml/2006/main">
            <a:off x="6821424" y="2532888"/>
            <a:ext cx="212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102A43"/>
                </a:solidFill>
                <a:latin typeface="Arial"/>
                <a:ea typeface="Arial"/>
                <a:cs typeface="Arial"/>
              </a:rPr>
              <a:t>9</a:t>
            </a:r>
            <a:endParaRPr sz="2400"/>
          </a:p>
        </p:txBody>
      </p:sp>
      <p:sp>
        <p:nvSpPr>
          <p:cNvPr id="14" name="Text 11">
            <a:extLst xmlns:a="http://schemas.openxmlformats.org/drawingml/2006/main">
              <a:ext uri="{FF2B5EF4-FFF2-40B4-BE49-F238E27FC236}">
                <a16:creationId xmlns:a16="http://schemas.microsoft.com/office/drawing/2014/main" id="{228ABD6A-F9DD-4101-831F-32806AC579F8}"/>
              </a:ext>
            </a:extLst>
          </p:cNvPr>
          <p:cNvSpPr>
            <a:spLocks xmlns:a="http://schemas.openxmlformats.org/drawingml/2006/main" noGrp="1"/>
          </p:cNvSpPr>
          <p:nvPr/>
        </p:nvSpPr>
        <p:spPr>
          <a:xfrm xmlns:a="http://schemas.openxmlformats.org/drawingml/2006/main">
            <a:off x="6821424" y="2926080"/>
            <a:ext cx="21214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review-days,</a:t>
            </a:r>
            <a:endParaRPr sz="860"/>
          </a:p>
          <a:p xmlns:a="http://schemas.openxmlformats.org/drawingml/2006/main">
            <a:pPr marL="0" indent="0">
              <a:lnSpc>
                <a:spcPts val="1050"/>
              </a:lnSpc>
              <a:buNone/>
            </a:pPr>
            <a:r>
              <a:rPr sz="860">
                <a:solidFill>
                  <a:srgbClr val="486581"/>
                </a:solidFill>
                <a:latin typeface="Arial"/>
                <a:ea typeface="Arial"/>
                <a:cs typeface="Arial"/>
              </a:rPr>
              <a:t>identical either way</a:t>
            </a:r>
            <a:endParaRPr sz="860"/>
          </a:p>
        </p:txBody>
      </p:sp>
      <p:sp>
        <p:nvSpPr>
          <p:cNvPr id="15" name="Shape 12">
            <a:extLst xmlns:a="http://schemas.openxmlformats.org/drawingml/2006/main">
              <a:ext uri="{FF2B5EF4-FFF2-40B4-BE49-F238E27FC236}">
                <a16:creationId xmlns:a16="http://schemas.microsoft.com/office/drawing/2014/main" id="{B78CB175-DDD7-4155-8A62-019B0A56EBAE}"/>
              </a:ext>
            </a:extLst>
          </p:cNvPr>
          <p:cNvSpPr>
            <a:spLocks xmlns:a="http://schemas.openxmlformats.org/drawingml/2006/main" noGrp="1"/>
          </p:cNvSpPr>
          <p:nvPr/>
        </p:nvSpPr>
        <p:spPr>
          <a:xfrm xmlns:a="http://schemas.openxmlformats.org/drawingml/2006/main">
            <a:off x="9208008" y="2414016"/>
            <a:ext cx="2377440" cy="896112"/>
          </a:xfrm>
          <a:prstGeom xmlns:a="http://schemas.openxmlformats.org/drawingml/2006/main" prst="rect">
            <a:avLst/>
          </a:prstGeom>
          <a:solidFill xmlns:a="http://schemas.openxmlformats.org/drawingml/2006/main">
            <a:srgbClr val="F3E6E0"/>
          </a:solidFill>
        </p:spPr>
      </p:sp>
      <p:sp>
        <p:nvSpPr>
          <p:cNvPr id="16" name="Text 13">
            <a:extLst xmlns:a="http://schemas.openxmlformats.org/drawingml/2006/main">
              <a:ext uri="{FF2B5EF4-FFF2-40B4-BE49-F238E27FC236}">
                <a16:creationId xmlns:a16="http://schemas.microsoft.com/office/drawing/2014/main" id="{60092CA4-F98A-455D-BB53-8992F5B88A04}"/>
              </a:ext>
            </a:extLst>
          </p:cNvPr>
          <p:cNvSpPr>
            <a:spLocks xmlns:a="http://schemas.openxmlformats.org/drawingml/2006/main" noGrp="1"/>
          </p:cNvSpPr>
          <p:nvPr/>
        </p:nvSpPr>
        <p:spPr>
          <a:xfrm xmlns:a="http://schemas.openxmlformats.org/drawingml/2006/main">
            <a:off x="9336024" y="2532888"/>
            <a:ext cx="212140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400" b="1">
                <a:solidFill>
                  <a:srgbClr val="B04A25"/>
                </a:solidFill>
                <a:latin typeface="Arial"/>
                <a:ea typeface="Arial"/>
                <a:cs typeface="Arial"/>
              </a:rPr>
              <a:t>3×</a:t>
            </a:r>
            <a:endParaRPr sz="2400"/>
          </a:p>
        </p:txBody>
      </p:sp>
      <p:sp>
        <p:nvSpPr>
          <p:cNvPr id="17" name="Text 14">
            <a:extLst xmlns:a="http://schemas.openxmlformats.org/drawingml/2006/main">
              <a:ext uri="{FF2B5EF4-FFF2-40B4-BE49-F238E27FC236}">
                <a16:creationId xmlns:a16="http://schemas.microsoft.com/office/drawing/2014/main" id="{01571E34-3B99-4A79-87F8-A4F20E0C8346}"/>
              </a:ext>
            </a:extLst>
          </p:cNvPr>
          <p:cNvSpPr>
            <a:spLocks xmlns:a="http://schemas.openxmlformats.org/drawingml/2006/main" noGrp="1"/>
          </p:cNvSpPr>
          <p:nvPr/>
        </p:nvSpPr>
        <p:spPr>
          <a:xfrm xmlns:a="http://schemas.openxmlformats.org/drawingml/2006/main">
            <a:off x="9336024" y="2926080"/>
            <a:ext cx="212140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reduction from routing</a:t>
            </a:r>
            <a:endParaRPr sz="860"/>
          </a:p>
          <a:p xmlns:a="http://schemas.openxmlformats.org/drawingml/2006/main">
            <a:pPr marL="0" indent="0">
              <a:lnSpc>
                <a:spcPts val="1050"/>
              </a:lnSpc>
              <a:buNone/>
            </a:pPr>
            <a:r>
              <a:rPr sz="860">
                <a:solidFill>
                  <a:srgbClr val="486581"/>
                </a:solidFill>
                <a:latin typeface="Arial"/>
                <a:ea typeface="Arial"/>
                <a:cs typeface="Arial"/>
              </a:rPr>
              <a:t>alone</a:t>
            </a:r>
            <a:endParaRPr sz="860"/>
          </a:p>
        </p:txBody>
      </p:sp>
      <p:sp>
        <p:nvSpPr>
          <p:cNvPr id="18" name="Text 15">
            <a:extLst xmlns:a="http://schemas.openxmlformats.org/drawingml/2006/main">
              <a:ext uri="{FF2B5EF4-FFF2-40B4-BE49-F238E27FC236}">
                <a16:creationId xmlns:a16="http://schemas.microsoft.com/office/drawing/2014/main" id="{5F6F09DD-0B80-40B0-9514-AD8D6D2A9275}"/>
              </a:ext>
            </a:extLst>
          </p:cNvPr>
          <p:cNvSpPr>
            <a:spLocks xmlns:a="http://schemas.openxmlformats.org/drawingml/2006/main" noGrp="1"/>
          </p:cNvSpPr>
          <p:nvPr/>
        </p:nvSpPr>
        <p:spPr>
          <a:xfrm xmlns:a="http://schemas.openxmlformats.org/drawingml/2006/main">
            <a:off x="6693408" y="3474720"/>
            <a:ext cx="49286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numbers show and what they hide</a:t>
            </a:r>
            <a:endParaRPr sz="1100"/>
          </a:p>
        </p:txBody>
      </p:sp>
      <p:sp>
        <p:nvSpPr>
          <p:cNvPr id="19" name="Shape 16">
            <a:extLst xmlns:a="http://schemas.openxmlformats.org/drawingml/2006/main">
              <a:ext uri="{FF2B5EF4-FFF2-40B4-BE49-F238E27FC236}">
                <a16:creationId xmlns:a16="http://schemas.microsoft.com/office/drawing/2014/main" id="{2553657B-5C0B-443F-B52C-D2F5994DC44E}"/>
              </a:ext>
            </a:extLst>
          </p:cNvPr>
          <p:cNvSpPr>
            <a:spLocks xmlns:a="http://schemas.openxmlformats.org/drawingml/2006/main" noGrp="1"/>
          </p:cNvSpPr>
          <p:nvPr/>
        </p:nvSpPr>
        <p:spPr>
          <a:xfrm xmlns:a="http://schemas.openxmlformats.org/drawingml/2006/main">
            <a:off x="6693408" y="3730752"/>
            <a:ext cx="4928616" cy="20117"/>
          </a:xfrm>
          <a:prstGeom xmlns:a="http://schemas.openxmlformats.org/drawingml/2006/main" prst="rect">
            <a:avLst/>
          </a:prstGeom>
          <a:solidFill xmlns:a="http://schemas.openxmlformats.org/drawingml/2006/main">
            <a:srgbClr val="102A43"/>
          </a:solidFill>
        </p:spPr>
      </p:sp>
      <p:sp>
        <p:nvSpPr>
          <p:cNvPr id="20" name="Text 17">
            <a:extLst xmlns:a="http://schemas.openxmlformats.org/drawingml/2006/main">
              <a:ext uri="{FF2B5EF4-FFF2-40B4-BE49-F238E27FC236}">
                <a16:creationId xmlns:a16="http://schemas.microsoft.com/office/drawing/2014/main" id="{57B7ACBC-9B47-4A96-8A4B-A2A13729A9FD}"/>
              </a:ext>
            </a:extLst>
          </p:cNvPr>
          <p:cNvSpPr>
            <a:spLocks xmlns:a="http://schemas.openxmlformats.org/drawingml/2006/main" noGrp="1"/>
          </p:cNvSpPr>
          <p:nvPr/>
        </p:nvSpPr>
        <p:spPr>
          <a:xfrm xmlns:a="http://schemas.openxmlformats.org/drawingml/2006/main">
            <a:off x="6693408" y="3877056"/>
            <a:ext cx="4928616"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Review effort is unchanged — nine reviewer-days either way, not a productivity claim.</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The entire gain comes from removing queues that existed only because of routing order.</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It hides the rework case — one unscoped amendment can erase the gain.</a:t>
            </a:r>
            <a:endParaRPr sz="940"/>
          </a:p>
        </p:txBody>
      </p:sp>
      <p:sp>
        <p:nvSpPr>
          <p:cNvPr id="21" name="Shape 18">
            <a:extLst xmlns:a="http://schemas.openxmlformats.org/drawingml/2006/main">
              <a:ext uri="{FF2B5EF4-FFF2-40B4-BE49-F238E27FC236}">
                <a16:creationId xmlns:a16="http://schemas.microsoft.com/office/drawing/2014/main" id="{BA9482B9-0365-4691-9B0D-F8C9775FC2D7}"/>
              </a:ext>
            </a:extLst>
          </p:cNvPr>
          <p:cNvSpPr>
            <a:spLocks xmlns:a="http://schemas.openxmlformats.org/drawingml/2006/main" noGrp="1"/>
          </p:cNvSpPr>
          <p:nvPr/>
        </p:nvSpPr>
        <p:spPr>
          <a:xfrm xmlns:a="http://schemas.openxmlformats.org/drawingml/2006/main">
            <a:off x="566928" y="4901184"/>
            <a:ext cx="11057839" cy="1170432"/>
          </a:xfrm>
          <a:prstGeom xmlns:a="http://schemas.openxmlformats.org/drawingml/2006/main" prst="rect">
            <a:avLst/>
          </a:prstGeom>
          <a:solidFill xmlns:a="http://schemas.openxmlformats.org/drawingml/2006/main">
            <a:srgbClr val="F3E6E0"/>
          </a:solidFill>
        </p:spPr>
      </p:sp>
      <p:sp>
        <p:nvSpPr>
          <p:cNvPr id="22" name="Text 19">
            <a:extLst xmlns:a="http://schemas.openxmlformats.org/drawingml/2006/main">
              <a:ext uri="{FF2B5EF4-FFF2-40B4-BE49-F238E27FC236}">
                <a16:creationId xmlns:a16="http://schemas.microsoft.com/office/drawing/2014/main" id="{0BBF1ECA-F329-4675-8246-35A228237357}"/>
              </a:ext>
            </a:extLst>
          </p:cNvPr>
          <p:cNvSpPr>
            <a:spLocks xmlns:a="http://schemas.openxmlformats.org/drawingml/2006/main" noGrp="1"/>
          </p:cNvSpPr>
          <p:nvPr/>
        </p:nvSpPr>
        <p:spPr>
          <a:xfrm xmlns:a="http://schemas.openxmlformats.org/drawingml/2006/main">
            <a:off x="804672" y="504748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this framing matters when presenting to control functions</a:t>
            </a:r>
            <a:endParaRPr sz="1100"/>
          </a:p>
        </p:txBody>
      </p:sp>
      <p:sp>
        <p:nvSpPr>
          <p:cNvPr id="23" name="Text 20">
            <a:extLst xmlns:a="http://schemas.openxmlformats.org/drawingml/2006/main">
              <a:ext uri="{FF2B5EF4-FFF2-40B4-BE49-F238E27FC236}">
                <a16:creationId xmlns:a16="http://schemas.microsoft.com/office/drawing/2014/main" id="{F44C2B54-694B-4CDA-8A3D-89929922F0CD}"/>
              </a:ext>
            </a:extLst>
          </p:cNvPr>
          <p:cNvSpPr>
            <a:spLocks xmlns:a="http://schemas.openxmlformats.org/drawingml/2006/main" noGrp="1"/>
          </p:cNvSpPr>
          <p:nvPr/>
        </p:nvSpPr>
        <p:spPr>
          <a:xfrm xmlns:a="http://schemas.openxmlformats.org/drawingml/2006/main">
            <a:off x="804672" y="5303520"/>
            <a:ext cx="10582351"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Approval-time initiatives usually arrive at control functions as an implied criticism — you are too slow. That framing guarantees resistance, and the functions are right to resist it, because their review time is not the problem.</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Presenting the same change as removing queues that routing created, with reviewer effort explicitly unchanged, makes it a design conversation rather than a performance one. In practice this was the difference between five functions agreeing to a redesign and five functions defending their service levels.</a:t>
            </a:r>
            <a:endParaRPr sz="990"/>
          </a:p>
        </p:txBody>
      </p:sp>
      <p:sp>
        <p:nvSpPr>
          <p:cNvPr id="24" name="Shape 21">
            <a:extLst xmlns:a="http://schemas.openxmlformats.org/drawingml/2006/main">
              <a:ext uri="{FF2B5EF4-FFF2-40B4-BE49-F238E27FC236}">
                <a16:creationId xmlns:a16="http://schemas.microsoft.com/office/drawing/2014/main" id="{E3FE3E99-45BC-4D7F-89B0-8F0027ACCE8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5" name="Text 22">
            <a:extLst xmlns:a="http://schemas.openxmlformats.org/drawingml/2006/main">
              <a:ext uri="{FF2B5EF4-FFF2-40B4-BE49-F238E27FC236}">
                <a16:creationId xmlns:a16="http://schemas.microsoft.com/office/drawing/2014/main" id="{266600B6-35E4-4B98-B9DE-121DFCE5C23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timing model — illustrative days, structural argument</a:t>
            </a:r>
            <a:endParaRPr sz="850"/>
          </a:p>
        </p:txBody>
      </p:sp>
      <p:sp>
        <p:nvSpPr>
          <p:cNvPr id="26" name="Text 23">
            <a:extLst xmlns:a="http://schemas.openxmlformats.org/drawingml/2006/main">
              <a:ext uri="{FF2B5EF4-FFF2-40B4-BE49-F238E27FC236}">
                <a16:creationId xmlns:a16="http://schemas.microsoft.com/office/drawing/2014/main" id="{20EA5E06-C473-4ED1-AA02-AB09104BFEC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020880483"/>
      </p:ext>
    </p:extLst>
  </p:cSld>
</p:sld>
</file>

<file path=ppt/slides/slide18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8C30ECA-AA49-45DA-8AEC-9DFDA52ABB2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EXCEPTIONS</a:t>
            </a:r>
            <a:endParaRPr sz="950"/>
          </a:p>
        </p:txBody>
      </p:sp>
      <p:sp>
        <p:nvSpPr>
          <p:cNvPr id="3" name="Text 1">
            <a:extLst xmlns:a="http://schemas.openxmlformats.org/drawingml/2006/main">
              <a:ext uri="{FF2B5EF4-FFF2-40B4-BE49-F238E27FC236}">
                <a16:creationId xmlns:a16="http://schemas.microsoft.com/office/drawing/2014/main" id="{BAF6ACD5-F695-4440-B31B-61D9D9A1C97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cases serial routing quietly avoided — each has to be designed explicitly, and</a:t>
            </a:r>
            <a:endParaRPr sz="1900"/>
          </a:p>
          <a:p xmlns:a="http://schemas.openxmlformats.org/drawingml/2006/main">
            <a:pPr marL="0" indent="0">
              <a:lnSpc>
                <a:spcPts val="2400"/>
              </a:lnSpc>
              <a:buNone/>
            </a:pPr>
            <a:r>
              <a:rPr sz="1900" b="1">
                <a:solidFill>
                  <a:srgbClr val="102A43"/>
                </a:solidFill>
                <a:latin typeface="Arial"/>
                <a:ea typeface="Arial"/>
                <a:cs typeface="Arial"/>
              </a:rPr>
              <a:t>the third decides whether the model survives</a:t>
            </a:r>
            <a:endParaRPr sz="1900"/>
          </a:p>
        </p:txBody>
      </p:sp>
      <p:sp>
        <p:nvSpPr>
          <p:cNvPr id="4" name="Shape 2">
            <a:extLst xmlns:a="http://schemas.openxmlformats.org/drawingml/2006/main">
              <a:ext uri="{FF2B5EF4-FFF2-40B4-BE49-F238E27FC236}">
                <a16:creationId xmlns:a16="http://schemas.microsoft.com/office/drawing/2014/main" id="{CB883621-DA9F-4E6D-8160-3F38382EDA8C}"/>
              </a:ext>
            </a:extLst>
          </p:cNvPr>
          <p:cNvSpPr>
            <a:spLocks xmlns:a="http://schemas.openxmlformats.org/drawingml/2006/main" noGrp="1"/>
          </p:cNvSpPr>
          <p:nvPr/>
        </p:nvSpPr>
        <p:spPr>
          <a:xfrm xmlns:a="http://schemas.openxmlformats.org/drawingml/2006/main">
            <a:off x="566928" y="1335024"/>
            <a:ext cx="3551834" cy="411480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64237E95-0102-4C88-89AB-F36D074D7E31}"/>
              </a:ext>
            </a:extLst>
          </p:cNvPr>
          <p:cNvSpPr>
            <a:spLocks xmlns:a="http://schemas.openxmlformats.org/drawingml/2006/main" noGrp="1"/>
          </p:cNvSpPr>
          <p:nvPr/>
        </p:nvSpPr>
        <p:spPr>
          <a:xfrm xmlns:a="http://schemas.openxmlformats.org/drawingml/2006/main">
            <a:off x="768096" y="1481328"/>
            <a:ext cx="314949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00"/>
              </a:lnSpc>
              <a:buNone/>
            </a:pPr>
            <a:r>
              <a:rPr sz="1700" b="1">
                <a:solidFill>
                  <a:srgbClr val="9FB3C8"/>
                </a:solidFill>
                <a:latin typeface="Arial"/>
                <a:ea typeface="Arial"/>
                <a:cs typeface="Arial"/>
              </a:rPr>
              <a:t>01</a:t>
            </a:r>
            <a:endParaRPr sz="1700"/>
          </a:p>
        </p:txBody>
      </p:sp>
      <p:sp>
        <p:nvSpPr>
          <p:cNvPr id="6" name="Text 4">
            <a:extLst xmlns:a="http://schemas.openxmlformats.org/drawingml/2006/main">
              <a:ext uri="{FF2B5EF4-FFF2-40B4-BE49-F238E27FC236}">
                <a16:creationId xmlns:a16="http://schemas.microsoft.com/office/drawing/2014/main" id="{74D78786-D867-4579-9AA7-9BC15497AE8C}"/>
              </a:ext>
            </a:extLst>
          </p:cNvPr>
          <p:cNvSpPr>
            <a:spLocks xmlns:a="http://schemas.openxmlformats.org/drawingml/2006/main" noGrp="1"/>
          </p:cNvSpPr>
          <p:nvPr/>
        </p:nvSpPr>
        <p:spPr>
          <a:xfrm xmlns:a="http://schemas.openxmlformats.org/drawingml/2006/main">
            <a:off x="768096" y="1810512"/>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Dissent</a:t>
            </a:r>
            <a:endParaRPr sz="1300"/>
          </a:p>
        </p:txBody>
      </p:sp>
      <p:sp>
        <p:nvSpPr>
          <p:cNvPr id="7" name="Text 5">
            <a:extLst xmlns:a="http://schemas.openxmlformats.org/drawingml/2006/main">
              <a:ext uri="{FF2B5EF4-FFF2-40B4-BE49-F238E27FC236}">
                <a16:creationId xmlns:a16="http://schemas.microsoft.com/office/drawing/2014/main" id="{C5E24F1B-45A4-4E0D-B977-D501A297B489}"/>
              </a:ext>
            </a:extLst>
          </p:cNvPr>
          <p:cNvSpPr>
            <a:spLocks xmlns:a="http://schemas.openxmlformats.org/drawingml/2006/main" noGrp="1"/>
          </p:cNvSpPr>
          <p:nvPr/>
        </p:nvSpPr>
        <p:spPr>
          <a:xfrm xmlns:a="http://schemas.openxmlformats.org/drawingml/2006/main">
            <a:off x="768096" y="215798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PROBLEM</a:t>
            </a:r>
            <a:endParaRPr sz="740"/>
          </a:p>
        </p:txBody>
      </p:sp>
      <p:sp>
        <p:nvSpPr>
          <p:cNvPr id="8" name="Text 6">
            <a:extLst xmlns:a="http://schemas.openxmlformats.org/drawingml/2006/main">
              <a:ext uri="{FF2B5EF4-FFF2-40B4-BE49-F238E27FC236}">
                <a16:creationId xmlns:a16="http://schemas.microsoft.com/office/drawing/2014/main" id="{AA232AD6-A0D1-40F2-A51E-37BF686030CD}"/>
              </a:ext>
            </a:extLst>
          </p:cNvPr>
          <p:cNvSpPr>
            <a:spLocks xmlns:a="http://schemas.openxmlformats.org/drawingml/2006/main" noGrp="1"/>
          </p:cNvSpPr>
          <p:nvPr/>
        </p:nvSpPr>
        <p:spPr>
          <a:xfrm xmlns:a="http://schemas.openxmlformats.org/drawingml/2006/main">
            <a:off x="768096" y="2359152"/>
            <a:ext cx="31494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One function rejects while others approve. In serial routing this stops the chain and the later functions never see the facility at all.</a:t>
            </a:r>
            <a:endParaRPr sz="930"/>
          </a:p>
        </p:txBody>
      </p:sp>
      <p:sp>
        <p:nvSpPr>
          <p:cNvPr id="9" name="Text 7">
            <a:extLst xmlns:a="http://schemas.openxmlformats.org/drawingml/2006/main">
              <a:ext uri="{FF2B5EF4-FFF2-40B4-BE49-F238E27FC236}">
                <a16:creationId xmlns:a16="http://schemas.microsoft.com/office/drawing/2014/main" id="{D578337D-095A-407E-88DF-DA905642850D}"/>
              </a:ext>
            </a:extLst>
          </p:cNvPr>
          <p:cNvSpPr>
            <a:spLocks xmlns:a="http://schemas.openxmlformats.org/drawingml/2006/main" noGrp="1"/>
          </p:cNvSpPr>
          <p:nvPr/>
        </p:nvSpPr>
        <p:spPr>
          <a:xfrm xmlns:a="http://schemas.openxmlformats.org/drawingml/2006/main">
            <a:off x="768096" y="3236976"/>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DESIGN</a:t>
            </a:r>
            <a:endParaRPr sz="740"/>
          </a:p>
        </p:txBody>
      </p:sp>
      <p:sp>
        <p:nvSpPr>
          <p:cNvPr id="10" name="Text 8">
            <a:extLst xmlns:a="http://schemas.openxmlformats.org/drawingml/2006/main">
              <a:ext uri="{FF2B5EF4-FFF2-40B4-BE49-F238E27FC236}">
                <a16:creationId xmlns:a16="http://schemas.microsoft.com/office/drawing/2014/main" id="{338A627A-0FFD-4961-95B9-D4388B022302}"/>
              </a:ext>
            </a:extLst>
          </p:cNvPr>
          <p:cNvSpPr>
            <a:spLocks xmlns:a="http://schemas.openxmlformats.org/drawingml/2006/main" noGrp="1"/>
          </p:cNvSpPr>
          <p:nvPr/>
        </p:nvSpPr>
        <p:spPr>
          <a:xfrm xmlns:a="http://schemas.openxmlformats.org/drawingml/2006/main">
            <a:off x="768096" y="3438144"/>
            <a:ext cx="31494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Treat rejection as a first-class outcome that halts progression but does not discard the approvals already given. Record every position, including those given before the rejection.</a:t>
            </a:r>
            <a:endParaRPr sz="930"/>
          </a:p>
        </p:txBody>
      </p:sp>
      <p:sp>
        <p:nvSpPr>
          <p:cNvPr id="11" name="Shape 9">
            <a:extLst xmlns:a="http://schemas.openxmlformats.org/drawingml/2006/main">
              <a:ext uri="{FF2B5EF4-FFF2-40B4-BE49-F238E27FC236}">
                <a16:creationId xmlns:a16="http://schemas.microsoft.com/office/drawing/2014/main" id="{45B37AC0-0D80-4BE8-89E4-AF07D21324D3}"/>
              </a:ext>
            </a:extLst>
          </p:cNvPr>
          <p:cNvSpPr>
            <a:spLocks xmlns:a="http://schemas.openxmlformats.org/drawingml/2006/main" noGrp="1"/>
          </p:cNvSpPr>
          <p:nvPr/>
        </p:nvSpPr>
        <p:spPr>
          <a:xfrm xmlns:a="http://schemas.openxmlformats.org/drawingml/2006/main">
            <a:off x="768096" y="4334256"/>
            <a:ext cx="3149498" cy="13716"/>
          </a:xfrm>
          <a:prstGeom xmlns:a="http://schemas.openxmlformats.org/drawingml/2006/main" prst="rect">
            <a:avLst/>
          </a:prstGeom>
          <a:solidFill xmlns:a="http://schemas.openxmlformats.org/drawingml/2006/main">
            <a:srgbClr val="C6D2DE"/>
          </a:solidFill>
        </p:spPr>
      </p:sp>
      <p:sp>
        <p:nvSpPr>
          <p:cNvPr id="12" name="Text 10">
            <a:extLst xmlns:a="http://schemas.openxmlformats.org/drawingml/2006/main">
              <a:ext uri="{FF2B5EF4-FFF2-40B4-BE49-F238E27FC236}">
                <a16:creationId xmlns:a16="http://schemas.microsoft.com/office/drawing/2014/main" id="{61AD3FBC-5A71-42E1-A364-50FA683CDB40}"/>
              </a:ext>
            </a:extLst>
          </p:cNvPr>
          <p:cNvSpPr>
            <a:spLocks xmlns:a="http://schemas.openxmlformats.org/drawingml/2006/main" noGrp="1"/>
          </p:cNvSpPr>
          <p:nvPr/>
        </p:nvSpPr>
        <p:spPr>
          <a:xfrm xmlns:a="http://schemas.openxmlformats.org/drawingml/2006/main">
            <a:off x="768096" y="4462272"/>
            <a:ext cx="314949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If dissent voids everything, the deal team resubmits from zero after each amendment — and parallel routing becomes slower than serial.</a:t>
            </a:r>
            <a:endParaRPr sz="930"/>
          </a:p>
        </p:txBody>
      </p:sp>
      <p:sp>
        <p:nvSpPr>
          <p:cNvPr id="13" name="Shape 11">
            <a:extLst xmlns:a="http://schemas.openxmlformats.org/drawingml/2006/main">
              <a:ext uri="{FF2B5EF4-FFF2-40B4-BE49-F238E27FC236}">
                <a16:creationId xmlns:a16="http://schemas.microsoft.com/office/drawing/2014/main" id="{FD61DAA7-9286-4BBB-9AD6-32EE59425822}"/>
              </a:ext>
            </a:extLst>
          </p:cNvPr>
          <p:cNvSpPr>
            <a:spLocks xmlns:a="http://schemas.openxmlformats.org/drawingml/2006/main" noGrp="1"/>
          </p:cNvSpPr>
          <p:nvPr/>
        </p:nvSpPr>
        <p:spPr>
          <a:xfrm xmlns:a="http://schemas.openxmlformats.org/drawingml/2006/main">
            <a:off x="4319930" y="1335024"/>
            <a:ext cx="3551834" cy="4114800"/>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02A84C94-EBC2-42DB-9B11-1DF66BC75667}"/>
              </a:ext>
            </a:extLst>
          </p:cNvPr>
          <p:cNvSpPr>
            <a:spLocks xmlns:a="http://schemas.openxmlformats.org/drawingml/2006/main" noGrp="1"/>
          </p:cNvSpPr>
          <p:nvPr/>
        </p:nvSpPr>
        <p:spPr>
          <a:xfrm xmlns:a="http://schemas.openxmlformats.org/drawingml/2006/main">
            <a:off x="4521098" y="1481328"/>
            <a:ext cx="314949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00"/>
              </a:lnSpc>
              <a:buNone/>
            </a:pPr>
            <a:r>
              <a:rPr sz="1700" b="1">
                <a:solidFill>
                  <a:srgbClr val="9FB3C8"/>
                </a:solidFill>
                <a:latin typeface="Arial"/>
                <a:ea typeface="Arial"/>
                <a:cs typeface="Arial"/>
              </a:rPr>
              <a:t>02</a:t>
            </a:r>
            <a:endParaRPr sz="1700"/>
          </a:p>
        </p:txBody>
      </p:sp>
      <p:sp>
        <p:nvSpPr>
          <p:cNvPr id="15" name="Text 13">
            <a:extLst xmlns:a="http://schemas.openxmlformats.org/drawingml/2006/main">
              <a:ext uri="{FF2B5EF4-FFF2-40B4-BE49-F238E27FC236}">
                <a16:creationId xmlns:a16="http://schemas.microsoft.com/office/drawing/2014/main" id="{0A300823-C6D6-443C-9F8C-9B9F47E918B8}"/>
              </a:ext>
            </a:extLst>
          </p:cNvPr>
          <p:cNvSpPr>
            <a:spLocks xmlns:a="http://schemas.openxmlformats.org/drawingml/2006/main" noGrp="1"/>
          </p:cNvSpPr>
          <p:nvPr/>
        </p:nvSpPr>
        <p:spPr>
          <a:xfrm xmlns:a="http://schemas.openxmlformats.org/drawingml/2006/main">
            <a:off x="4521098" y="1810512"/>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Genuine dependency</a:t>
            </a:r>
            <a:endParaRPr sz="1300"/>
          </a:p>
        </p:txBody>
      </p:sp>
      <p:sp>
        <p:nvSpPr>
          <p:cNvPr id="16" name="Text 14">
            <a:extLst xmlns:a="http://schemas.openxmlformats.org/drawingml/2006/main">
              <a:ext uri="{FF2B5EF4-FFF2-40B4-BE49-F238E27FC236}">
                <a16:creationId xmlns:a16="http://schemas.microsoft.com/office/drawing/2014/main" id="{97D28B45-4784-42F6-A5FF-D4F81676A5A1}"/>
              </a:ext>
            </a:extLst>
          </p:cNvPr>
          <p:cNvSpPr>
            <a:spLocks xmlns:a="http://schemas.openxmlformats.org/drawingml/2006/main" noGrp="1"/>
          </p:cNvSpPr>
          <p:nvPr/>
        </p:nvSpPr>
        <p:spPr>
          <a:xfrm xmlns:a="http://schemas.openxmlformats.org/drawingml/2006/main">
            <a:off x="4521098" y="215798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PROBLEM</a:t>
            </a:r>
            <a:endParaRPr sz="740"/>
          </a:p>
        </p:txBody>
      </p:sp>
      <p:sp>
        <p:nvSpPr>
          <p:cNvPr id="17" name="Text 15">
            <a:extLst xmlns:a="http://schemas.openxmlformats.org/drawingml/2006/main">
              <a:ext uri="{FF2B5EF4-FFF2-40B4-BE49-F238E27FC236}">
                <a16:creationId xmlns:a16="http://schemas.microsoft.com/office/drawing/2014/main" id="{FA41F3EC-5D1F-4568-B044-12D0F07E075A}"/>
              </a:ext>
            </a:extLst>
          </p:cNvPr>
          <p:cNvSpPr>
            <a:spLocks xmlns:a="http://schemas.openxmlformats.org/drawingml/2006/main" noGrp="1"/>
          </p:cNvSpPr>
          <p:nvPr/>
        </p:nvSpPr>
        <p:spPr>
          <a:xfrm xmlns:a="http://schemas.openxmlformats.org/drawingml/2006/main">
            <a:off x="4521098" y="2359152"/>
            <a:ext cx="31494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One review really does need another's output. In this portfolio there was exactly one such case: the contract structure has to be settled before enforceability can be assessed.</a:t>
            </a:r>
            <a:endParaRPr sz="930"/>
          </a:p>
        </p:txBody>
      </p:sp>
      <p:sp>
        <p:nvSpPr>
          <p:cNvPr id="18" name="Text 16">
            <a:extLst xmlns:a="http://schemas.openxmlformats.org/drawingml/2006/main">
              <a:ext uri="{FF2B5EF4-FFF2-40B4-BE49-F238E27FC236}">
                <a16:creationId xmlns:a16="http://schemas.microsoft.com/office/drawing/2014/main" id="{8B9A309D-014F-4AD5-B86F-591290140B28}"/>
              </a:ext>
            </a:extLst>
          </p:cNvPr>
          <p:cNvSpPr>
            <a:spLocks xmlns:a="http://schemas.openxmlformats.org/drawingml/2006/main" noGrp="1"/>
          </p:cNvSpPr>
          <p:nvPr/>
        </p:nvSpPr>
        <p:spPr>
          <a:xfrm xmlns:a="http://schemas.openxmlformats.org/drawingml/2006/main">
            <a:off x="4521098" y="3236976"/>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DESIGN</a:t>
            </a:r>
            <a:endParaRPr sz="740"/>
          </a:p>
        </p:txBody>
      </p:sp>
      <p:sp>
        <p:nvSpPr>
          <p:cNvPr id="19" name="Text 17">
            <a:extLst xmlns:a="http://schemas.openxmlformats.org/drawingml/2006/main">
              <a:ext uri="{FF2B5EF4-FFF2-40B4-BE49-F238E27FC236}">
                <a16:creationId xmlns:a16="http://schemas.microsoft.com/office/drawing/2014/main" id="{1F0D7EC6-87DA-4178-AC6E-C7E7D9051368}"/>
              </a:ext>
            </a:extLst>
          </p:cNvPr>
          <p:cNvSpPr>
            <a:spLocks xmlns:a="http://schemas.openxmlformats.org/drawingml/2006/main" noGrp="1"/>
          </p:cNvSpPr>
          <p:nvPr/>
        </p:nvSpPr>
        <p:spPr>
          <a:xfrm xmlns:a="http://schemas.openxmlformats.org/drawingml/2006/main">
            <a:off x="4521098" y="3438144"/>
            <a:ext cx="31494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Model that single dependency explicitly as a gate between two functions, and leave the other three unconstrained. Do not serialise all five to accommodate one pair.</a:t>
            </a:r>
            <a:endParaRPr sz="930"/>
          </a:p>
        </p:txBody>
      </p:sp>
      <p:sp>
        <p:nvSpPr>
          <p:cNvPr id="20" name="Shape 18">
            <a:extLst xmlns:a="http://schemas.openxmlformats.org/drawingml/2006/main">
              <a:ext uri="{FF2B5EF4-FFF2-40B4-BE49-F238E27FC236}">
                <a16:creationId xmlns:a16="http://schemas.microsoft.com/office/drawing/2014/main" id="{AE349936-50C1-4AEB-9538-C0765DA95D70}"/>
              </a:ext>
            </a:extLst>
          </p:cNvPr>
          <p:cNvSpPr>
            <a:spLocks xmlns:a="http://schemas.openxmlformats.org/drawingml/2006/main" noGrp="1"/>
          </p:cNvSpPr>
          <p:nvPr/>
        </p:nvSpPr>
        <p:spPr>
          <a:xfrm xmlns:a="http://schemas.openxmlformats.org/drawingml/2006/main">
            <a:off x="4521098" y="4334256"/>
            <a:ext cx="3149498" cy="13716"/>
          </a:xfrm>
          <a:prstGeom xmlns:a="http://schemas.openxmlformats.org/drawingml/2006/main" prst="rect">
            <a:avLst/>
          </a:prstGeom>
          <a:solidFill xmlns:a="http://schemas.openxmlformats.org/drawingml/2006/main">
            <a:srgbClr val="C6D2DE"/>
          </a:solidFill>
        </p:spPr>
      </p:sp>
      <p:sp>
        <p:nvSpPr>
          <p:cNvPr id="21" name="Text 19">
            <a:extLst xmlns:a="http://schemas.openxmlformats.org/drawingml/2006/main">
              <a:ext uri="{FF2B5EF4-FFF2-40B4-BE49-F238E27FC236}">
                <a16:creationId xmlns:a16="http://schemas.microsoft.com/office/drawing/2014/main" id="{9AD367BB-10B1-4ADA-A151-11E466725B4E}"/>
              </a:ext>
            </a:extLst>
          </p:cNvPr>
          <p:cNvSpPr>
            <a:spLocks xmlns:a="http://schemas.openxmlformats.org/drawingml/2006/main" noGrp="1"/>
          </p:cNvSpPr>
          <p:nvPr/>
        </p:nvSpPr>
        <p:spPr>
          <a:xfrm xmlns:a="http://schemas.openxmlformats.org/drawingml/2006/main">
            <a:off x="4521098" y="4462272"/>
            <a:ext cx="314949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The common failure is discovering one dependency and reverting the whole design to serial — which trades a real gain for a marginal one.</a:t>
            </a:r>
            <a:endParaRPr sz="930"/>
          </a:p>
        </p:txBody>
      </p:sp>
      <p:sp>
        <p:nvSpPr>
          <p:cNvPr id="22" name="Shape 20">
            <a:extLst xmlns:a="http://schemas.openxmlformats.org/drawingml/2006/main">
              <a:ext uri="{FF2B5EF4-FFF2-40B4-BE49-F238E27FC236}">
                <a16:creationId xmlns:a16="http://schemas.microsoft.com/office/drawing/2014/main" id="{D0E1DB2F-A60A-440B-9BC4-75D2ABA6C8C9}"/>
              </a:ext>
            </a:extLst>
          </p:cNvPr>
          <p:cNvSpPr>
            <a:spLocks xmlns:a="http://schemas.openxmlformats.org/drawingml/2006/main" noGrp="1"/>
          </p:cNvSpPr>
          <p:nvPr/>
        </p:nvSpPr>
        <p:spPr>
          <a:xfrm xmlns:a="http://schemas.openxmlformats.org/drawingml/2006/main">
            <a:off x="8072933" y="1335024"/>
            <a:ext cx="3551834" cy="4114800"/>
          </a:xfrm>
          <a:prstGeom xmlns:a="http://schemas.openxmlformats.org/drawingml/2006/main" prst="rect">
            <a:avLst/>
          </a:prstGeom>
          <a:solidFill xmlns:a="http://schemas.openxmlformats.org/drawingml/2006/main">
            <a:srgbClr val="F3E6E0"/>
          </a:solidFill>
        </p:spPr>
      </p:sp>
      <p:sp>
        <p:nvSpPr>
          <p:cNvPr id="23" name="Text 21">
            <a:extLst xmlns:a="http://schemas.openxmlformats.org/drawingml/2006/main">
              <a:ext uri="{FF2B5EF4-FFF2-40B4-BE49-F238E27FC236}">
                <a16:creationId xmlns:a16="http://schemas.microsoft.com/office/drawing/2014/main" id="{F79B76CD-DF84-4380-81D0-F693B8383F6E}"/>
              </a:ext>
            </a:extLst>
          </p:cNvPr>
          <p:cNvSpPr>
            <a:spLocks xmlns:a="http://schemas.openxmlformats.org/drawingml/2006/main" noGrp="1"/>
          </p:cNvSpPr>
          <p:nvPr/>
        </p:nvSpPr>
        <p:spPr>
          <a:xfrm xmlns:a="http://schemas.openxmlformats.org/drawingml/2006/main">
            <a:off x="8274101" y="1481328"/>
            <a:ext cx="314949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100"/>
              </a:lnSpc>
              <a:buNone/>
            </a:pPr>
            <a:r>
              <a:rPr sz="1700" b="1">
                <a:solidFill>
                  <a:srgbClr val="B04A25"/>
                </a:solidFill>
                <a:latin typeface="Arial"/>
                <a:ea typeface="Arial"/>
                <a:cs typeface="Arial"/>
              </a:rPr>
              <a:t>03</a:t>
            </a:r>
            <a:endParaRPr sz="1700"/>
          </a:p>
        </p:txBody>
      </p:sp>
      <p:sp>
        <p:nvSpPr>
          <p:cNvPr id="24" name="Text 22">
            <a:extLst xmlns:a="http://schemas.openxmlformats.org/drawingml/2006/main">
              <a:ext uri="{FF2B5EF4-FFF2-40B4-BE49-F238E27FC236}">
                <a16:creationId xmlns:a16="http://schemas.microsoft.com/office/drawing/2014/main" id="{7FD6C057-A49F-4B1C-8088-25C314ADC030}"/>
              </a:ext>
            </a:extLst>
          </p:cNvPr>
          <p:cNvSpPr>
            <a:spLocks xmlns:a="http://schemas.openxmlformats.org/drawingml/2006/main" noGrp="1"/>
          </p:cNvSpPr>
          <p:nvPr/>
        </p:nvSpPr>
        <p:spPr>
          <a:xfrm xmlns:a="http://schemas.openxmlformats.org/drawingml/2006/main">
            <a:off x="8274101" y="1810512"/>
            <a:ext cx="314949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Amendment after partial approval</a:t>
            </a:r>
            <a:endParaRPr sz="1300"/>
          </a:p>
        </p:txBody>
      </p:sp>
      <p:sp>
        <p:nvSpPr>
          <p:cNvPr id="25" name="Text 23">
            <a:extLst xmlns:a="http://schemas.openxmlformats.org/drawingml/2006/main">
              <a:ext uri="{FF2B5EF4-FFF2-40B4-BE49-F238E27FC236}">
                <a16:creationId xmlns:a16="http://schemas.microsoft.com/office/drawing/2014/main" id="{E3CB5B1F-CBAC-46BE-A385-50CF3E6340CB}"/>
              </a:ext>
            </a:extLst>
          </p:cNvPr>
          <p:cNvSpPr>
            <a:spLocks xmlns:a="http://schemas.openxmlformats.org/drawingml/2006/main" noGrp="1"/>
          </p:cNvSpPr>
          <p:nvPr/>
        </p:nvSpPr>
        <p:spPr>
          <a:xfrm xmlns:a="http://schemas.openxmlformats.org/drawingml/2006/main">
            <a:off x="8274101" y="2157984"/>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PROBLEM</a:t>
            </a:r>
            <a:endParaRPr sz="740"/>
          </a:p>
        </p:txBody>
      </p:sp>
      <p:sp>
        <p:nvSpPr>
          <p:cNvPr id="26" name="Text 24">
            <a:extLst xmlns:a="http://schemas.openxmlformats.org/drawingml/2006/main">
              <a:ext uri="{FF2B5EF4-FFF2-40B4-BE49-F238E27FC236}">
                <a16:creationId xmlns:a16="http://schemas.microsoft.com/office/drawing/2014/main" id="{F0EC63F3-94CD-49B7-A929-77D6F17F991D}"/>
              </a:ext>
            </a:extLst>
          </p:cNvPr>
          <p:cNvSpPr>
            <a:spLocks xmlns:a="http://schemas.openxmlformats.org/drawingml/2006/main" noGrp="1"/>
          </p:cNvSpPr>
          <p:nvPr/>
        </p:nvSpPr>
        <p:spPr>
          <a:xfrm xmlns:a="http://schemas.openxmlformats.org/drawingml/2006/main">
            <a:off x="8274101" y="2359152"/>
            <a:ext cx="31494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The facility changes when three functions have approved and two have not. Every approval was given against a document that no longer exists.</a:t>
            </a:r>
            <a:endParaRPr sz="930"/>
          </a:p>
        </p:txBody>
      </p:sp>
      <p:sp>
        <p:nvSpPr>
          <p:cNvPr id="27" name="Text 25">
            <a:extLst xmlns:a="http://schemas.openxmlformats.org/drawingml/2006/main">
              <a:ext uri="{FF2B5EF4-FFF2-40B4-BE49-F238E27FC236}">
                <a16:creationId xmlns:a16="http://schemas.microsoft.com/office/drawing/2014/main" id="{67B7C8C5-BDCD-4331-A6CF-D84F3946A3B6}"/>
              </a:ext>
            </a:extLst>
          </p:cNvPr>
          <p:cNvSpPr>
            <a:spLocks xmlns:a="http://schemas.openxmlformats.org/drawingml/2006/main" noGrp="1"/>
          </p:cNvSpPr>
          <p:nvPr/>
        </p:nvSpPr>
        <p:spPr>
          <a:xfrm xmlns:a="http://schemas.openxmlformats.org/drawingml/2006/main">
            <a:off x="8274101" y="3236976"/>
            <a:ext cx="3149498"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DESIGN</a:t>
            </a:r>
            <a:endParaRPr sz="740"/>
          </a:p>
        </p:txBody>
      </p:sp>
      <p:sp>
        <p:nvSpPr>
          <p:cNvPr id="28" name="Text 26">
            <a:extLst xmlns:a="http://schemas.openxmlformats.org/drawingml/2006/main">
              <a:ext uri="{FF2B5EF4-FFF2-40B4-BE49-F238E27FC236}">
                <a16:creationId xmlns:a16="http://schemas.microsoft.com/office/drawing/2014/main" id="{94F47B51-BE2F-4D1C-9DA9-E15186654922}"/>
              </a:ext>
            </a:extLst>
          </p:cNvPr>
          <p:cNvSpPr>
            <a:spLocks xmlns:a="http://schemas.openxmlformats.org/drawingml/2006/main" noGrp="1"/>
          </p:cNvSpPr>
          <p:nvPr/>
        </p:nvSpPr>
        <p:spPr>
          <a:xfrm xmlns:a="http://schemas.openxmlformats.org/drawingml/2006/main">
            <a:off x="8274101" y="3438144"/>
            <a:ext cx="3149498"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Version the facility, and scope invalidation to the approvals whose subject actually changed. A pricing change invalidates business and risk; it does not invalidate enforceability or permissibility.</a:t>
            </a:r>
            <a:endParaRPr sz="930"/>
          </a:p>
        </p:txBody>
      </p:sp>
      <p:sp>
        <p:nvSpPr>
          <p:cNvPr id="29" name="Shape 27">
            <a:extLst xmlns:a="http://schemas.openxmlformats.org/drawingml/2006/main">
              <a:ext uri="{FF2B5EF4-FFF2-40B4-BE49-F238E27FC236}">
                <a16:creationId xmlns:a16="http://schemas.microsoft.com/office/drawing/2014/main" id="{400DDEB0-3F0B-4F4C-A520-6C0A2DDEF774}"/>
              </a:ext>
            </a:extLst>
          </p:cNvPr>
          <p:cNvSpPr>
            <a:spLocks xmlns:a="http://schemas.openxmlformats.org/drawingml/2006/main" noGrp="1"/>
          </p:cNvSpPr>
          <p:nvPr/>
        </p:nvSpPr>
        <p:spPr>
          <a:xfrm xmlns:a="http://schemas.openxmlformats.org/drawingml/2006/main">
            <a:off x="8274101" y="4334256"/>
            <a:ext cx="3149498" cy="13716"/>
          </a:xfrm>
          <a:prstGeom xmlns:a="http://schemas.openxmlformats.org/drawingml/2006/main" prst="rect">
            <a:avLst/>
          </a:prstGeom>
          <a:solidFill xmlns:a="http://schemas.openxmlformats.org/drawingml/2006/main">
            <a:srgbClr val="C6D2DE"/>
          </a:solidFill>
        </p:spPr>
      </p:sp>
      <p:sp>
        <p:nvSpPr>
          <p:cNvPr id="30" name="Text 28">
            <a:extLst xmlns:a="http://schemas.openxmlformats.org/drawingml/2006/main">
              <a:ext uri="{FF2B5EF4-FFF2-40B4-BE49-F238E27FC236}">
                <a16:creationId xmlns:a16="http://schemas.microsoft.com/office/drawing/2014/main" id="{C3FFCF9F-22B7-47AC-8EE6-55B385B67F13}"/>
              </a:ext>
            </a:extLst>
          </p:cNvPr>
          <p:cNvSpPr>
            <a:spLocks xmlns:a="http://schemas.openxmlformats.org/drawingml/2006/main" noGrp="1"/>
          </p:cNvSpPr>
          <p:nvPr/>
        </p:nvSpPr>
        <p:spPr>
          <a:xfrm xmlns:a="http://schemas.openxmlformats.org/drawingml/2006/main">
            <a:off x="8274101" y="4462272"/>
            <a:ext cx="314949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B04A25"/>
                </a:solidFill>
                <a:latin typeface="Arial"/>
                <a:ea typeface="Arial"/>
                <a:cs typeface="Arial"/>
              </a:rPr>
              <a:t>This is the decision the model lives or dies on. Blanket re-approval on any amendment restores the serial cost immediately, and amendments are not rare.</a:t>
            </a:r>
            <a:endParaRPr sz="930"/>
          </a:p>
        </p:txBody>
      </p:sp>
      <p:sp>
        <p:nvSpPr>
          <p:cNvPr id="31" name="Shape 29">
            <a:extLst xmlns:a="http://schemas.openxmlformats.org/drawingml/2006/main">
              <a:ext uri="{FF2B5EF4-FFF2-40B4-BE49-F238E27FC236}">
                <a16:creationId xmlns:a16="http://schemas.microsoft.com/office/drawing/2014/main" id="{53629E64-5E40-4FD6-A461-FDE8CCB95C68}"/>
              </a:ext>
            </a:extLst>
          </p:cNvPr>
          <p:cNvSpPr>
            <a:spLocks xmlns:a="http://schemas.openxmlformats.org/drawingml/2006/main" noGrp="1"/>
          </p:cNvSpPr>
          <p:nvPr/>
        </p:nvSpPr>
        <p:spPr>
          <a:xfrm xmlns:a="http://schemas.openxmlformats.org/drawingml/2006/main">
            <a:off x="566928" y="5687568"/>
            <a:ext cx="11057839" cy="384048"/>
          </a:xfrm>
          <a:prstGeom xmlns:a="http://schemas.openxmlformats.org/drawingml/2006/main" prst="rect">
            <a:avLst/>
          </a:prstGeom>
          <a:solidFill xmlns:a="http://schemas.openxmlformats.org/drawingml/2006/main">
            <a:srgbClr val="102A43"/>
          </a:solidFill>
        </p:spPr>
      </p:sp>
      <p:sp>
        <p:nvSpPr>
          <p:cNvPr id="32" name="Text 30">
            <a:extLst xmlns:a="http://schemas.openxmlformats.org/drawingml/2006/main">
              <a:ext uri="{FF2B5EF4-FFF2-40B4-BE49-F238E27FC236}">
                <a16:creationId xmlns:a16="http://schemas.microsoft.com/office/drawing/2014/main" id="{EEBCCD38-B3C5-44C9-B288-F82BE51B83DD}"/>
              </a:ext>
            </a:extLst>
          </p:cNvPr>
          <p:cNvSpPr>
            <a:spLocks xmlns:a="http://schemas.openxmlformats.org/drawingml/2006/main" noGrp="1"/>
          </p:cNvSpPr>
          <p:nvPr/>
        </p:nvSpPr>
        <p:spPr>
          <a:xfrm xmlns:a="http://schemas.openxmlformats.org/drawingml/2006/main">
            <a:off x="804672" y="5870448"/>
            <a:ext cx="10582351" cy="548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Scoped invalidation is the whole design. Everything else about parallel approval is straightforward once amendments stop resetting the board.</a:t>
            </a:r>
            <a:endParaRPr sz="990"/>
          </a:p>
        </p:txBody>
      </p:sp>
      <p:sp>
        <p:nvSpPr>
          <p:cNvPr id="33" name="Shape 31">
            <a:extLst xmlns:a="http://schemas.openxmlformats.org/drawingml/2006/main">
              <a:ext uri="{FF2B5EF4-FFF2-40B4-BE49-F238E27FC236}">
                <a16:creationId xmlns:a16="http://schemas.microsoft.com/office/drawing/2014/main" id="{8C9B79D7-9F10-4D7C-8E91-EEAF60D4BE9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A9C169B3-F798-417C-8059-42F13D86B01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35" name="Text 33">
            <a:extLst xmlns:a="http://schemas.openxmlformats.org/drawingml/2006/main">
              <a:ext uri="{FF2B5EF4-FFF2-40B4-BE49-F238E27FC236}">
                <a16:creationId xmlns:a16="http://schemas.microsoft.com/office/drawing/2014/main" id="{57DE243D-A23C-4463-AA8C-06F611B94F8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2032878582"/>
      </p:ext>
    </p:extLst>
  </p:cSld>
</p:sld>
</file>

<file path=ppt/slides/slide18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F621DC-C86B-4FEA-8FAC-AB5D6872657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SIXTH FUNCTION</a:t>
            </a:r>
            <a:endParaRPr sz="950"/>
          </a:p>
        </p:txBody>
      </p:sp>
      <p:sp>
        <p:nvSpPr>
          <p:cNvPr id="3" name="Text 1">
            <a:extLst xmlns:a="http://schemas.openxmlformats.org/drawingml/2006/main">
              <a:ext uri="{FF2B5EF4-FFF2-40B4-BE49-F238E27FC236}">
                <a16:creationId xmlns:a16="http://schemas.microsoft.com/office/drawing/2014/main" id="{96233AEC-8959-431E-A362-643C61C9EC1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Sharia governance is a distinct authority reviewing a distinct object — modelling it</a:t>
            </a:r>
            <a:endParaRPr sz="1900"/>
          </a:p>
          <a:p xmlns:a="http://schemas.openxmlformats.org/drawingml/2006/main">
            <a:pPr marL="0" indent="0">
              <a:lnSpc>
                <a:spcPts val="2400"/>
              </a:lnSpc>
              <a:buNone/>
            </a:pPr>
            <a:r>
              <a:rPr sz="1900" b="1">
                <a:solidFill>
                  <a:srgbClr val="102A43"/>
                </a:solidFill>
                <a:latin typeface="Arial"/>
                <a:ea typeface="Arial"/>
                <a:cs typeface="Arial"/>
              </a:rPr>
              <a:t>as a variant of compliance is the most common design error</a:t>
            </a:r>
            <a:endParaRPr sz="1900"/>
          </a:p>
        </p:txBody>
      </p:sp>
      <p:sp>
        <p:nvSpPr>
          <p:cNvPr id="4" name="Shape 2">
            <a:extLst xmlns:a="http://schemas.openxmlformats.org/drawingml/2006/main">
              <a:ext uri="{FF2B5EF4-FFF2-40B4-BE49-F238E27FC236}">
                <a16:creationId xmlns:a16="http://schemas.microsoft.com/office/drawing/2014/main" id="{C9C49973-BDAB-4329-B377-E4E241FDD416}"/>
              </a:ext>
            </a:extLst>
          </p:cNvPr>
          <p:cNvSpPr>
            <a:spLocks xmlns:a="http://schemas.openxmlformats.org/drawingml/2006/main" noGrp="1"/>
          </p:cNvSpPr>
          <p:nvPr/>
        </p:nvSpPr>
        <p:spPr>
          <a:xfrm xmlns:a="http://schemas.openxmlformats.org/drawingml/2006/main">
            <a:off x="566928" y="1335024"/>
            <a:ext cx="5373472" cy="243230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47F1ECD8-2CEB-4075-A289-44721329A48A}"/>
              </a:ext>
            </a:extLst>
          </p:cNvPr>
          <p:cNvSpPr>
            <a:spLocks xmlns:a="http://schemas.openxmlformats.org/drawingml/2006/main" noGrp="1"/>
          </p:cNvSpPr>
          <p:nvPr/>
        </p:nvSpPr>
        <p:spPr>
          <a:xfrm xmlns:a="http://schemas.openxmlformats.org/drawingml/2006/main">
            <a:off x="804672" y="1499616"/>
            <a:ext cx="489798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What it is not</a:t>
            </a:r>
            <a:endParaRPr sz="1250"/>
          </a:p>
        </p:txBody>
      </p:sp>
      <p:sp>
        <p:nvSpPr>
          <p:cNvPr id="6" name="Text 4">
            <a:extLst xmlns:a="http://schemas.openxmlformats.org/drawingml/2006/main">
              <a:ext uri="{FF2B5EF4-FFF2-40B4-BE49-F238E27FC236}">
                <a16:creationId xmlns:a16="http://schemas.microsoft.com/office/drawing/2014/main" id="{43BBA8A3-73ED-4A3C-A281-91B13D940222}"/>
              </a:ext>
            </a:extLst>
          </p:cNvPr>
          <p:cNvSpPr>
            <a:spLocks xmlns:a="http://schemas.openxmlformats.org/drawingml/2006/main" noGrp="1"/>
          </p:cNvSpPr>
          <p:nvPr/>
        </p:nvSpPr>
        <p:spPr>
          <a:xfrm xmlns:a="http://schemas.openxmlformats.org/drawingml/2006/main">
            <a:off x="804672" y="1847088"/>
            <a:ext cx="4897984"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Not a compliance sub-check. Compliance asks whether the bank is permitted to act; Sharia governance asks whether the structure itself is permissible.</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Not advisory. It carries independent authority — a negative opinion stops the facility regardless of credit quality or commercial value.</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Not a screening rule. Prohibited-activity screening is one input; the substantive review is of the contract form and the underlying asset.</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Not resolvable by pricing. An impermissible structure is not a risk to be priced; it is ineligible.</a:t>
            </a:r>
            <a:endParaRPr sz="960"/>
          </a:p>
        </p:txBody>
      </p:sp>
      <p:sp>
        <p:nvSpPr>
          <p:cNvPr id="7" name="Shape 5">
            <a:extLst xmlns:a="http://schemas.openxmlformats.org/drawingml/2006/main">
              <a:ext uri="{FF2B5EF4-FFF2-40B4-BE49-F238E27FC236}">
                <a16:creationId xmlns:a16="http://schemas.microsoft.com/office/drawing/2014/main" id="{9D02975C-3FA9-46D8-BE9D-9C72FD895730}"/>
              </a:ext>
            </a:extLst>
          </p:cNvPr>
          <p:cNvSpPr>
            <a:spLocks xmlns:a="http://schemas.openxmlformats.org/drawingml/2006/main" noGrp="1"/>
          </p:cNvSpPr>
          <p:nvPr/>
        </p:nvSpPr>
        <p:spPr>
          <a:xfrm xmlns:a="http://schemas.openxmlformats.org/drawingml/2006/main">
            <a:off x="6251296" y="1335024"/>
            <a:ext cx="5373472" cy="2432304"/>
          </a:xfrm>
          <a:prstGeom xmlns:a="http://schemas.openxmlformats.org/drawingml/2006/main" prst="rect">
            <a:avLst/>
          </a:prstGeom>
          <a:solidFill xmlns:a="http://schemas.openxmlformats.org/drawingml/2006/main">
            <a:srgbClr val="F3E6E0"/>
          </a:solidFill>
        </p:spPr>
      </p:sp>
      <p:sp>
        <p:nvSpPr>
          <p:cNvPr id="8" name="Text 6">
            <a:extLst xmlns:a="http://schemas.openxmlformats.org/drawingml/2006/main">
              <a:ext uri="{FF2B5EF4-FFF2-40B4-BE49-F238E27FC236}">
                <a16:creationId xmlns:a16="http://schemas.microsoft.com/office/drawing/2014/main" id="{268F5F1E-C7E7-46AF-B1C2-975D34FC0926}"/>
              </a:ext>
            </a:extLst>
          </p:cNvPr>
          <p:cNvSpPr>
            <a:spLocks xmlns:a="http://schemas.openxmlformats.org/drawingml/2006/main" noGrp="1"/>
          </p:cNvSpPr>
          <p:nvPr/>
        </p:nvSpPr>
        <p:spPr>
          <a:xfrm xmlns:a="http://schemas.openxmlformats.org/drawingml/2006/main">
            <a:off x="6489040" y="1499616"/>
            <a:ext cx="489798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What that requires of the design</a:t>
            </a:r>
            <a:endParaRPr sz="1250"/>
          </a:p>
        </p:txBody>
      </p:sp>
      <p:sp>
        <p:nvSpPr>
          <p:cNvPr id="9" name="Text 7">
            <a:extLst xmlns:a="http://schemas.openxmlformats.org/drawingml/2006/main">
              <a:ext uri="{FF2B5EF4-FFF2-40B4-BE49-F238E27FC236}">
                <a16:creationId xmlns:a16="http://schemas.microsoft.com/office/drawing/2014/main" id="{08F28F3C-499A-408C-BD92-9C8FF422A325}"/>
              </a:ext>
            </a:extLst>
          </p:cNvPr>
          <p:cNvSpPr>
            <a:spLocks xmlns:a="http://schemas.openxmlformats.org/drawingml/2006/main" noGrp="1"/>
          </p:cNvSpPr>
          <p:nvPr/>
        </p:nvSpPr>
        <p:spPr>
          <a:xfrm xmlns:a="http://schemas.openxmlformats.org/drawingml/2006/main">
            <a:off x="6489040" y="1847088"/>
            <a:ext cx="4897984"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The contract structure has to exist as a first-class object on the facility, versioned and reviewable independently of the credit terms.</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The review must be able to conclude on the structure while credit terms are still moving — which is exactly what parallel routing enables.</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The opinion is a distinct record with its own identity, retention and audit trail, not a checkbox on a credit approval.</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Amendment scoping must know which changes touch the structure and which do not. A repricing does not reopen permissibility; a change of contract type does.</a:t>
            </a:r>
            <a:endParaRPr sz="960"/>
          </a:p>
        </p:txBody>
      </p:sp>
      <p:sp>
        <p:nvSpPr>
          <p:cNvPr id="10" name="Shape 8">
            <a:extLst xmlns:a="http://schemas.openxmlformats.org/drawingml/2006/main">
              <a:ext uri="{FF2B5EF4-FFF2-40B4-BE49-F238E27FC236}">
                <a16:creationId xmlns:a16="http://schemas.microsoft.com/office/drawing/2014/main" id="{B7195116-4A6B-4200-94AE-EBAB8A4A2F99}"/>
              </a:ext>
            </a:extLst>
          </p:cNvPr>
          <p:cNvSpPr>
            <a:spLocks xmlns:a="http://schemas.openxmlformats.org/drawingml/2006/main" noGrp="1"/>
          </p:cNvSpPr>
          <p:nvPr/>
        </p:nvSpPr>
        <p:spPr>
          <a:xfrm xmlns:a="http://schemas.openxmlformats.org/drawingml/2006/main">
            <a:off x="566928" y="4023360"/>
            <a:ext cx="11057839" cy="2048256"/>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AB9A0D7E-FB28-4A48-BA90-A4BF11F2F707}"/>
              </a:ext>
            </a:extLst>
          </p:cNvPr>
          <p:cNvSpPr>
            <a:spLocks xmlns:a="http://schemas.openxmlformats.org/drawingml/2006/main" noGrp="1"/>
          </p:cNvSpPr>
          <p:nvPr/>
        </p:nvSpPr>
        <p:spPr>
          <a:xfrm xmlns:a="http://schemas.openxmlformats.org/drawingml/2006/main">
            <a:off x="804672" y="416966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this is worth understanding beyond Islamic banking</a:t>
            </a:r>
            <a:endParaRPr sz="1100"/>
          </a:p>
        </p:txBody>
      </p:sp>
      <p:sp>
        <p:nvSpPr>
          <p:cNvPr id="12" name="Text 10">
            <a:extLst xmlns:a="http://schemas.openxmlformats.org/drawingml/2006/main">
              <a:ext uri="{FF2B5EF4-FFF2-40B4-BE49-F238E27FC236}">
                <a16:creationId xmlns:a16="http://schemas.microsoft.com/office/drawing/2014/main" id="{53BA4D8D-EC9C-45DC-8949-7276DB0B343C}"/>
              </a:ext>
            </a:extLst>
          </p:cNvPr>
          <p:cNvSpPr>
            <a:spLocks xmlns:a="http://schemas.openxmlformats.org/drawingml/2006/main" noGrp="1"/>
          </p:cNvSpPr>
          <p:nvPr/>
        </p:nvSpPr>
        <p:spPr>
          <a:xfrm xmlns:a="http://schemas.openxmlformats.org/drawingml/2006/main">
            <a:off x="804672" y="4425696"/>
            <a:ext cx="10582351" cy="1536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pattern generalises. Any market where an additional authority reviews an object that conventional systems treat as an attribute produces the same design problem — a sustainability mandate reviewing use of proceeds, a public-sector body reviewing procurement conformity, a co-operative structure reviewing member benefit.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In each case the platform question is identical: is this a new approver on the existing object, or a new object with its own approver? If the answer is the second and the platform models it as the first, the review has nowhere to attach, the evidence has no home, and the amendment logic cannot tell whether the review needs reopening.</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is a data-model decision made early and cheaply, or a retrofit made late and expensively. Recognising which one you are looking at is the transferable skill.</a:t>
            </a:r>
            <a:endParaRPr sz="990"/>
          </a:p>
        </p:txBody>
      </p:sp>
      <p:sp>
        <p:nvSpPr>
          <p:cNvPr id="13" name="Shape 11">
            <a:extLst xmlns:a="http://schemas.openxmlformats.org/drawingml/2006/main">
              <a:ext uri="{FF2B5EF4-FFF2-40B4-BE49-F238E27FC236}">
                <a16:creationId xmlns:a16="http://schemas.microsoft.com/office/drawing/2014/main" id="{E2795382-F0C0-4949-A90B-AC0AF50B5D5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4" name="Text 12">
            <a:extLst xmlns:a="http://schemas.openxmlformats.org/drawingml/2006/main">
              <a:ext uri="{FF2B5EF4-FFF2-40B4-BE49-F238E27FC236}">
                <a16:creationId xmlns:a16="http://schemas.microsoft.com/office/drawing/2014/main" id="{8238BBCB-0F40-4D05-983E-9F7B5668108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wholesale credit programme · author's analysis</a:t>
            </a:r>
            <a:endParaRPr sz="850"/>
          </a:p>
        </p:txBody>
      </p:sp>
      <p:sp>
        <p:nvSpPr>
          <p:cNvPr id="15" name="Text 13">
            <a:extLst xmlns:a="http://schemas.openxmlformats.org/drawingml/2006/main">
              <a:ext uri="{FF2B5EF4-FFF2-40B4-BE49-F238E27FC236}">
                <a16:creationId xmlns:a16="http://schemas.microsoft.com/office/drawing/2014/main" id="{1809CB05-F23D-4001-B6B9-0A61D371C3C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582478407"/>
      </p:ext>
    </p:extLst>
  </p:cSld>
</p:sld>
</file>

<file path=ppt/slides/slide18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75FF145-2E0A-4293-A893-43B8B76C8B3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EVIDENCE</a:t>
            </a:r>
            <a:endParaRPr sz="950"/>
          </a:p>
        </p:txBody>
      </p:sp>
      <p:sp>
        <p:nvSpPr>
          <p:cNvPr id="3" name="Text 1">
            <a:extLst xmlns:a="http://schemas.openxmlformats.org/drawingml/2006/main">
              <a:ext uri="{FF2B5EF4-FFF2-40B4-BE49-F238E27FC236}">
                <a16:creationId xmlns:a16="http://schemas.microsoft.com/office/drawing/2014/main" id="{FCAEDAA2-A222-4398-8060-7C6421EBF55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independent decisions need five independent records — a single approval status</a:t>
            </a:r>
            <a:endParaRPr sz="1900"/>
          </a:p>
          <a:p xmlns:a="http://schemas.openxmlformats.org/drawingml/2006/main">
            <a:pPr marL="0" indent="0">
              <a:lnSpc>
                <a:spcPts val="2400"/>
              </a:lnSpc>
              <a:buNone/>
            </a:pPr>
            <a:r>
              <a:rPr sz="1900" b="1">
                <a:solidFill>
                  <a:srgbClr val="102A43"/>
                </a:solidFill>
                <a:latin typeface="Arial"/>
                <a:ea typeface="Arial"/>
                <a:cs typeface="Arial"/>
              </a:rPr>
              <a:t>is not an audit trail, however convenient it is to report on</a:t>
            </a:r>
            <a:endParaRPr sz="1900"/>
          </a:p>
        </p:txBody>
      </p:sp>
      <p:sp>
        <p:nvSpPr>
          <p:cNvPr id="4" name="Shape 2">
            <a:extLst xmlns:a="http://schemas.openxmlformats.org/drawingml/2006/main">
              <a:ext uri="{FF2B5EF4-FFF2-40B4-BE49-F238E27FC236}">
                <a16:creationId xmlns:a16="http://schemas.microsoft.com/office/drawing/2014/main" id="{233A8FED-309B-4F70-A32E-0CF6D9BF16A5}"/>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CE6CC0A1-4299-40D4-89F7-5C98FEA7772D}"/>
              </a:ext>
            </a:extLst>
          </p:cNvPr>
          <p:cNvSpPr>
            <a:spLocks xmlns:a="http://schemas.openxmlformats.org/drawingml/2006/main" noGrp="1"/>
          </p:cNvSpPr>
          <p:nvPr/>
        </p:nvSpPr>
        <p:spPr>
          <a:xfrm xmlns:a="http://schemas.openxmlformats.org/drawingml/2006/main">
            <a:off x="676656" y="1444752"/>
            <a:ext cx="29809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is recorded</a:t>
            </a:r>
            <a:endParaRPr sz="920"/>
          </a:p>
        </p:txBody>
      </p:sp>
      <p:sp>
        <p:nvSpPr>
          <p:cNvPr id="6" name="Text 4">
            <a:extLst xmlns:a="http://schemas.openxmlformats.org/drawingml/2006/main">
              <a:ext uri="{FF2B5EF4-FFF2-40B4-BE49-F238E27FC236}">
                <a16:creationId xmlns:a16="http://schemas.microsoft.com/office/drawing/2014/main" id="{18BDD2D2-B351-434F-9880-8840F32408D6}"/>
              </a:ext>
            </a:extLst>
          </p:cNvPr>
          <p:cNvSpPr>
            <a:spLocks xmlns:a="http://schemas.openxmlformats.org/drawingml/2006/main" noGrp="1"/>
          </p:cNvSpPr>
          <p:nvPr/>
        </p:nvSpPr>
        <p:spPr>
          <a:xfrm xmlns:a="http://schemas.openxmlformats.org/drawingml/2006/main">
            <a:off x="3968496" y="1444752"/>
            <a:ext cx="3346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it has to be separate</a:t>
            </a:r>
            <a:endParaRPr sz="920"/>
          </a:p>
        </p:txBody>
      </p:sp>
      <p:sp>
        <p:nvSpPr>
          <p:cNvPr id="7" name="Text 5">
            <a:extLst xmlns:a="http://schemas.openxmlformats.org/drawingml/2006/main">
              <a:ext uri="{FF2B5EF4-FFF2-40B4-BE49-F238E27FC236}">
                <a16:creationId xmlns:a16="http://schemas.microsoft.com/office/drawing/2014/main" id="{E465D812-9E57-44B4-80BB-DFFFB5069EF2}"/>
              </a:ext>
            </a:extLst>
          </p:cNvPr>
          <p:cNvSpPr>
            <a:spLocks xmlns:a="http://schemas.openxmlformats.org/drawingml/2006/main" noGrp="1"/>
          </p:cNvSpPr>
          <p:nvPr/>
        </p:nvSpPr>
        <p:spPr>
          <a:xfrm xmlns:a="http://schemas.openxmlformats.org/drawingml/2006/main">
            <a:off x="7626096" y="1444752"/>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Retained for</a:t>
            </a:r>
            <a:endParaRPr sz="920"/>
          </a:p>
        </p:txBody>
      </p:sp>
      <p:sp>
        <p:nvSpPr>
          <p:cNvPr id="8" name="Text 6">
            <a:extLst xmlns:a="http://schemas.openxmlformats.org/drawingml/2006/main">
              <a:ext uri="{FF2B5EF4-FFF2-40B4-BE49-F238E27FC236}">
                <a16:creationId xmlns:a16="http://schemas.microsoft.com/office/drawing/2014/main" id="{29B76B24-6CF5-4B70-9A6E-20E7A0C433A5}"/>
              </a:ext>
            </a:extLst>
          </p:cNvPr>
          <p:cNvSpPr>
            <a:spLocks xmlns:a="http://schemas.openxmlformats.org/drawingml/2006/main" noGrp="1"/>
          </p:cNvSpPr>
          <p:nvPr/>
        </p:nvSpPr>
        <p:spPr>
          <a:xfrm xmlns:a="http://schemas.openxmlformats.org/drawingml/2006/main">
            <a:off x="10186416" y="1444752"/>
            <a:ext cx="13258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Owner</a:t>
            </a:r>
            <a:endParaRPr sz="920"/>
          </a:p>
        </p:txBody>
      </p:sp>
      <p:sp>
        <p:nvSpPr>
          <p:cNvPr id="9" name="Text 7">
            <a:extLst xmlns:a="http://schemas.openxmlformats.org/drawingml/2006/main">
              <a:ext uri="{FF2B5EF4-FFF2-40B4-BE49-F238E27FC236}">
                <a16:creationId xmlns:a16="http://schemas.microsoft.com/office/drawing/2014/main" id="{C01AA81F-2BB9-4A6A-896B-C4D739E6B2F2}"/>
              </a:ext>
            </a:extLst>
          </p:cNvPr>
          <p:cNvSpPr>
            <a:spLocks xmlns:a="http://schemas.openxmlformats.org/drawingml/2006/main" noGrp="1"/>
          </p:cNvSpPr>
          <p:nvPr/>
        </p:nvSpPr>
        <p:spPr>
          <a:xfrm xmlns:a="http://schemas.openxmlformats.org/drawingml/2006/main">
            <a:off x="676656" y="1783080"/>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The decision itself</a:t>
            </a:r>
            <a:endParaRPr sz="970"/>
          </a:p>
        </p:txBody>
      </p:sp>
      <p:sp>
        <p:nvSpPr>
          <p:cNvPr id="10" name="Text 8">
            <a:extLst xmlns:a="http://schemas.openxmlformats.org/drawingml/2006/main">
              <a:ext uri="{FF2B5EF4-FFF2-40B4-BE49-F238E27FC236}">
                <a16:creationId xmlns:a16="http://schemas.microsoft.com/office/drawing/2014/main" id="{BF3B0B6D-8EE8-4397-9B08-9B35796FD3C0}"/>
              </a:ext>
            </a:extLst>
          </p:cNvPr>
          <p:cNvSpPr>
            <a:spLocks xmlns:a="http://schemas.openxmlformats.org/drawingml/2006/main" noGrp="1"/>
          </p:cNvSpPr>
          <p:nvPr/>
        </p:nvSpPr>
        <p:spPr>
          <a:xfrm xmlns:a="http://schemas.openxmlformats.org/drawingml/2006/main">
            <a:off x="3968496" y="178308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Each function's conclusion, independently attributable and not inferable from an aggregate status</a:t>
            </a:r>
            <a:endParaRPr sz="920"/>
          </a:p>
        </p:txBody>
      </p:sp>
      <p:sp>
        <p:nvSpPr>
          <p:cNvPr id="11" name="Text 9">
            <a:extLst xmlns:a="http://schemas.openxmlformats.org/drawingml/2006/main">
              <a:ext uri="{FF2B5EF4-FFF2-40B4-BE49-F238E27FC236}">
                <a16:creationId xmlns:a16="http://schemas.microsoft.com/office/drawing/2014/main" id="{1F89714C-4BEC-4F37-8D93-D781F90EA895}"/>
              </a:ext>
            </a:extLst>
          </p:cNvPr>
          <p:cNvSpPr>
            <a:spLocks xmlns:a="http://schemas.openxmlformats.org/drawingml/2006/main" noGrp="1"/>
          </p:cNvSpPr>
          <p:nvPr/>
        </p:nvSpPr>
        <p:spPr>
          <a:xfrm xmlns:a="http://schemas.openxmlformats.org/drawingml/2006/main">
            <a:off x="7626096" y="1783080"/>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Facility life plus policy</a:t>
            </a:r>
            <a:endParaRPr sz="920"/>
          </a:p>
        </p:txBody>
      </p:sp>
      <p:sp>
        <p:nvSpPr>
          <p:cNvPr id="12" name="Text 10">
            <a:extLst xmlns:a="http://schemas.openxmlformats.org/drawingml/2006/main">
              <a:ext uri="{FF2B5EF4-FFF2-40B4-BE49-F238E27FC236}">
                <a16:creationId xmlns:a16="http://schemas.microsoft.com/office/drawing/2014/main" id="{5F54EE72-F918-46A5-8C5A-652656FB9E94}"/>
              </a:ext>
            </a:extLst>
          </p:cNvPr>
          <p:cNvSpPr>
            <a:spLocks xmlns:a="http://schemas.openxmlformats.org/drawingml/2006/main" noGrp="1"/>
          </p:cNvSpPr>
          <p:nvPr/>
        </p:nvSpPr>
        <p:spPr>
          <a:xfrm xmlns:a="http://schemas.openxmlformats.org/drawingml/2006/main">
            <a:off x="10186416" y="1783080"/>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Function</a:t>
            </a:r>
            <a:endParaRPr sz="940"/>
          </a:p>
        </p:txBody>
      </p:sp>
      <p:sp>
        <p:nvSpPr>
          <p:cNvPr id="13" name="Shape 11">
            <a:extLst xmlns:a="http://schemas.openxmlformats.org/drawingml/2006/main">
              <a:ext uri="{FF2B5EF4-FFF2-40B4-BE49-F238E27FC236}">
                <a16:creationId xmlns:a16="http://schemas.microsoft.com/office/drawing/2014/main" id="{4AA4B8FF-C1D1-4CE6-8D63-E34EAC7C2F02}"/>
              </a:ext>
            </a:extLst>
          </p:cNvPr>
          <p:cNvSpPr>
            <a:spLocks xmlns:a="http://schemas.openxmlformats.org/drawingml/2006/main" noGrp="1"/>
          </p:cNvSpPr>
          <p:nvPr/>
        </p:nvSpPr>
        <p:spPr>
          <a:xfrm xmlns:a="http://schemas.openxmlformats.org/drawingml/2006/main">
            <a:off x="566928" y="2139696"/>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8E3E934A-5821-4CF4-8188-5827652A587C}"/>
              </a:ext>
            </a:extLst>
          </p:cNvPr>
          <p:cNvSpPr>
            <a:spLocks xmlns:a="http://schemas.openxmlformats.org/drawingml/2006/main" noGrp="1"/>
          </p:cNvSpPr>
          <p:nvPr/>
        </p:nvSpPr>
        <p:spPr>
          <a:xfrm xmlns:a="http://schemas.openxmlformats.org/drawingml/2006/main">
            <a:off x="566928" y="2139696"/>
            <a:ext cx="11057839" cy="438912"/>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77E15EF4-35F1-43A3-BF4D-99349FEF43B3}"/>
              </a:ext>
            </a:extLst>
          </p:cNvPr>
          <p:cNvSpPr>
            <a:spLocks xmlns:a="http://schemas.openxmlformats.org/drawingml/2006/main" noGrp="1"/>
          </p:cNvSpPr>
          <p:nvPr/>
        </p:nvSpPr>
        <p:spPr>
          <a:xfrm xmlns:a="http://schemas.openxmlformats.org/drawingml/2006/main">
            <a:off x="676656" y="2221992"/>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The version reviewed</a:t>
            </a:r>
            <a:endParaRPr sz="970"/>
          </a:p>
        </p:txBody>
      </p:sp>
      <p:sp>
        <p:nvSpPr>
          <p:cNvPr id="16" name="Text 14">
            <a:extLst xmlns:a="http://schemas.openxmlformats.org/drawingml/2006/main">
              <a:ext uri="{FF2B5EF4-FFF2-40B4-BE49-F238E27FC236}">
                <a16:creationId xmlns:a16="http://schemas.microsoft.com/office/drawing/2014/main" id="{60595327-3990-467C-AC30-E6CB429DC6F4}"/>
              </a:ext>
            </a:extLst>
          </p:cNvPr>
          <p:cNvSpPr>
            <a:spLocks xmlns:a="http://schemas.openxmlformats.org/drawingml/2006/main" noGrp="1"/>
          </p:cNvSpPr>
          <p:nvPr/>
        </p:nvSpPr>
        <p:spPr>
          <a:xfrm xmlns:a="http://schemas.openxmlformats.org/drawingml/2006/main">
            <a:off x="3968496" y="222199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An approval is only meaningful against the document version it was given on</a:t>
            </a:r>
            <a:endParaRPr sz="920"/>
          </a:p>
        </p:txBody>
      </p:sp>
      <p:sp>
        <p:nvSpPr>
          <p:cNvPr id="17" name="Text 15">
            <a:extLst xmlns:a="http://schemas.openxmlformats.org/drawingml/2006/main">
              <a:ext uri="{FF2B5EF4-FFF2-40B4-BE49-F238E27FC236}">
                <a16:creationId xmlns:a16="http://schemas.microsoft.com/office/drawing/2014/main" id="{C1E7FF59-FFE4-4803-95EA-916245BB6830}"/>
              </a:ext>
            </a:extLst>
          </p:cNvPr>
          <p:cNvSpPr>
            <a:spLocks xmlns:a="http://schemas.openxmlformats.org/drawingml/2006/main" noGrp="1"/>
          </p:cNvSpPr>
          <p:nvPr/>
        </p:nvSpPr>
        <p:spPr>
          <a:xfrm xmlns:a="http://schemas.openxmlformats.org/drawingml/2006/main">
            <a:off x="7626096" y="222199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Facility life plus policy</a:t>
            </a:r>
            <a:endParaRPr sz="920"/>
          </a:p>
        </p:txBody>
      </p:sp>
      <p:sp>
        <p:nvSpPr>
          <p:cNvPr id="18" name="Text 16">
            <a:extLst xmlns:a="http://schemas.openxmlformats.org/drawingml/2006/main">
              <a:ext uri="{FF2B5EF4-FFF2-40B4-BE49-F238E27FC236}">
                <a16:creationId xmlns:a16="http://schemas.microsoft.com/office/drawing/2014/main" id="{B2840EC0-9129-4687-AB6E-63B11112CA87}"/>
              </a:ext>
            </a:extLst>
          </p:cNvPr>
          <p:cNvSpPr>
            <a:spLocks xmlns:a="http://schemas.openxmlformats.org/drawingml/2006/main" noGrp="1"/>
          </p:cNvSpPr>
          <p:nvPr/>
        </p:nvSpPr>
        <p:spPr>
          <a:xfrm xmlns:a="http://schemas.openxmlformats.org/drawingml/2006/main">
            <a:off x="10186416" y="2221992"/>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Platform</a:t>
            </a:r>
            <a:endParaRPr sz="940"/>
          </a:p>
        </p:txBody>
      </p:sp>
      <p:sp>
        <p:nvSpPr>
          <p:cNvPr id="19" name="Shape 17">
            <a:extLst xmlns:a="http://schemas.openxmlformats.org/drawingml/2006/main">
              <a:ext uri="{FF2B5EF4-FFF2-40B4-BE49-F238E27FC236}">
                <a16:creationId xmlns:a16="http://schemas.microsoft.com/office/drawing/2014/main" id="{DEFE0346-F2CF-49CA-8DDB-6420B2067CC9}"/>
              </a:ext>
            </a:extLst>
          </p:cNvPr>
          <p:cNvSpPr>
            <a:spLocks xmlns:a="http://schemas.openxmlformats.org/drawingml/2006/main" noGrp="1"/>
          </p:cNvSpPr>
          <p:nvPr/>
        </p:nvSpPr>
        <p:spPr>
          <a:xfrm xmlns:a="http://schemas.openxmlformats.org/drawingml/2006/main">
            <a:off x="566928" y="2578608"/>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7A7DE79F-15F2-4F32-95ED-ECD64F655F74}"/>
              </a:ext>
            </a:extLst>
          </p:cNvPr>
          <p:cNvSpPr>
            <a:spLocks xmlns:a="http://schemas.openxmlformats.org/drawingml/2006/main" noGrp="1"/>
          </p:cNvSpPr>
          <p:nvPr/>
        </p:nvSpPr>
        <p:spPr>
          <a:xfrm xmlns:a="http://schemas.openxmlformats.org/drawingml/2006/main">
            <a:off x="676656" y="2660904"/>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The reviewer identity</a:t>
            </a:r>
            <a:endParaRPr sz="970"/>
          </a:p>
        </p:txBody>
      </p:sp>
      <p:sp>
        <p:nvSpPr>
          <p:cNvPr id="21" name="Text 19">
            <a:extLst xmlns:a="http://schemas.openxmlformats.org/drawingml/2006/main">
              <a:ext uri="{FF2B5EF4-FFF2-40B4-BE49-F238E27FC236}">
                <a16:creationId xmlns:a16="http://schemas.microsoft.com/office/drawing/2014/main" id="{28A6B006-B7D5-4B4A-A50B-7089A4B82C8A}"/>
              </a:ext>
            </a:extLst>
          </p:cNvPr>
          <p:cNvSpPr>
            <a:spLocks xmlns:a="http://schemas.openxmlformats.org/drawingml/2006/main" noGrp="1"/>
          </p:cNvSpPr>
          <p:nvPr/>
        </p:nvSpPr>
        <p:spPr>
          <a:xfrm xmlns:a="http://schemas.openxmlformats.org/drawingml/2006/main">
            <a:off x="3968496" y="266090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Delegated authority is personal; the record must show who exercised it and under what limit</a:t>
            </a:r>
            <a:endParaRPr sz="920"/>
          </a:p>
        </p:txBody>
      </p:sp>
      <p:sp>
        <p:nvSpPr>
          <p:cNvPr id="22" name="Text 20">
            <a:extLst xmlns:a="http://schemas.openxmlformats.org/drawingml/2006/main">
              <a:ext uri="{FF2B5EF4-FFF2-40B4-BE49-F238E27FC236}">
                <a16:creationId xmlns:a16="http://schemas.microsoft.com/office/drawing/2014/main" id="{4BD26755-5688-44BE-8743-4E101BCF481C}"/>
              </a:ext>
            </a:extLst>
          </p:cNvPr>
          <p:cNvSpPr>
            <a:spLocks xmlns:a="http://schemas.openxmlformats.org/drawingml/2006/main" noGrp="1"/>
          </p:cNvSpPr>
          <p:nvPr/>
        </p:nvSpPr>
        <p:spPr>
          <a:xfrm xmlns:a="http://schemas.openxmlformats.org/drawingml/2006/main">
            <a:off x="7626096" y="2660904"/>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Facility life plus policy</a:t>
            </a:r>
            <a:endParaRPr sz="920"/>
          </a:p>
        </p:txBody>
      </p:sp>
      <p:sp>
        <p:nvSpPr>
          <p:cNvPr id="23" name="Text 21">
            <a:extLst xmlns:a="http://schemas.openxmlformats.org/drawingml/2006/main">
              <a:ext uri="{FF2B5EF4-FFF2-40B4-BE49-F238E27FC236}">
                <a16:creationId xmlns:a16="http://schemas.microsoft.com/office/drawing/2014/main" id="{0CF147BE-D68D-40F8-8E2F-2578796702A8}"/>
              </a:ext>
            </a:extLst>
          </p:cNvPr>
          <p:cNvSpPr>
            <a:spLocks xmlns:a="http://schemas.openxmlformats.org/drawingml/2006/main" noGrp="1"/>
          </p:cNvSpPr>
          <p:nvPr/>
        </p:nvSpPr>
        <p:spPr>
          <a:xfrm xmlns:a="http://schemas.openxmlformats.org/drawingml/2006/main">
            <a:off x="10186416" y="266090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Function</a:t>
            </a:r>
            <a:endParaRPr sz="940"/>
          </a:p>
        </p:txBody>
      </p:sp>
      <p:sp>
        <p:nvSpPr>
          <p:cNvPr id="24" name="Shape 22">
            <a:extLst xmlns:a="http://schemas.openxmlformats.org/drawingml/2006/main">
              <a:ext uri="{FF2B5EF4-FFF2-40B4-BE49-F238E27FC236}">
                <a16:creationId xmlns:a16="http://schemas.microsoft.com/office/drawing/2014/main" id="{011A3452-970A-4A95-BD8B-075AAD4D0B20}"/>
              </a:ext>
            </a:extLst>
          </p:cNvPr>
          <p:cNvSpPr>
            <a:spLocks xmlns:a="http://schemas.openxmlformats.org/drawingml/2006/main" noGrp="1"/>
          </p:cNvSpPr>
          <p:nvPr/>
        </p:nvSpPr>
        <p:spPr>
          <a:xfrm xmlns:a="http://schemas.openxmlformats.org/drawingml/2006/main">
            <a:off x="566928" y="3017520"/>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67502994-D22B-4E6F-96E4-80F91E85389D}"/>
              </a:ext>
            </a:extLst>
          </p:cNvPr>
          <p:cNvSpPr>
            <a:spLocks xmlns:a="http://schemas.openxmlformats.org/drawingml/2006/main" noGrp="1"/>
          </p:cNvSpPr>
          <p:nvPr/>
        </p:nvSpPr>
        <p:spPr>
          <a:xfrm xmlns:a="http://schemas.openxmlformats.org/drawingml/2006/main">
            <a:off x="566928" y="3017520"/>
            <a:ext cx="11057839" cy="438912"/>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78747A3B-9264-4E89-AE41-0AFA633FFF79}"/>
              </a:ext>
            </a:extLst>
          </p:cNvPr>
          <p:cNvSpPr>
            <a:spLocks xmlns:a="http://schemas.openxmlformats.org/drawingml/2006/main" noGrp="1"/>
          </p:cNvSpPr>
          <p:nvPr/>
        </p:nvSpPr>
        <p:spPr>
          <a:xfrm xmlns:a="http://schemas.openxmlformats.org/drawingml/2006/main">
            <a:off x="676656" y="3099816"/>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The stated basis</a:t>
            </a:r>
            <a:endParaRPr sz="970"/>
          </a:p>
        </p:txBody>
      </p:sp>
      <p:sp>
        <p:nvSpPr>
          <p:cNvPr id="27" name="Text 25">
            <a:extLst xmlns:a="http://schemas.openxmlformats.org/drawingml/2006/main">
              <a:ext uri="{FF2B5EF4-FFF2-40B4-BE49-F238E27FC236}">
                <a16:creationId xmlns:a16="http://schemas.microsoft.com/office/drawing/2014/main" id="{D05F715B-7F87-4F85-8D37-9EDC5A8E15D8}"/>
              </a:ext>
            </a:extLst>
          </p:cNvPr>
          <p:cNvSpPr>
            <a:spLocks xmlns:a="http://schemas.openxmlformats.org/drawingml/2006/main" noGrp="1"/>
          </p:cNvSpPr>
          <p:nvPr/>
        </p:nvSpPr>
        <p:spPr>
          <a:xfrm xmlns:a="http://schemas.openxmlformats.org/drawingml/2006/main">
            <a:off x="3968496" y="309981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Conditions, caveats and reasoning — the part an auditor actually reads</a:t>
            </a:r>
            <a:endParaRPr sz="920"/>
          </a:p>
        </p:txBody>
      </p:sp>
      <p:sp>
        <p:nvSpPr>
          <p:cNvPr id="28" name="Text 26">
            <a:extLst xmlns:a="http://schemas.openxmlformats.org/drawingml/2006/main">
              <a:ext uri="{FF2B5EF4-FFF2-40B4-BE49-F238E27FC236}">
                <a16:creationId xmlns:a16="http://schemas.microsoft.com/office/drawing/2014/main" id="{B95036EE-9C42-4F50-8B4D-589B3D7047B6}"/>
              </a:ext>
            </a:extLst>
          </p:cNvPr>
          <p:cNvSpPr>
            <a:spLocks xmlns:a="http://schemas.openxmlformats.org/drawingml/2006/main" noGrp="1"/>
          </p:cNvSpPr>
          <p:nvPr/>
        </p:nvSpPr>
        <p:spPr>
          <a:xfrm xmlns:a="http://schemas.openxmlformats.org/drawingml/2006/main">
            <a:off x="7626096" y="3099816"/>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Facility life plus policy</a:t>
            </a:r>
            <a:endParaRPr sz="920"/>
          </a:p>
        </p:txBody>
      </p:sp>
      <p:sp>
        <p:nvSpPr>
          <p:cNvPr id="29" name="Text 27">
            <a:extLst xmlns:a="http://schemas.openxmlformats.org/drawingml/2006/main">
              <a:ext uri="{FF2B5EF4-FFF2-40B4-BE49-F238E27FC236}">
                <a16:creationId xmlns:a16="http://schemas.microsoft.com/office/drawing/2014/main" id="{099DD2A5-396D-4A8B-8756-67253F34DD25}"/>
              </a:ext>
            </a:extLst>
          </p:cNvPr>
          <p:cNvSpPr>
            <a:spLocks xmlns:a="http://schemas.openxmlformats.org/drawingml/2006/main" noGrp="1"/>
          </p:cNvSpPr>
          <p:nvPr/>
        </p:nvSpPr>
        <p:spPr>
          <a:xfrm xmlns:a="http://schemas.openxmlformats.org/drawingml/2006/main">
            <a:off x="10186416" y="3099816"/>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Function</a:t>
            </a:r>
            <a:endParaRPr sz="940"/>
          </a:p>
        </p:txBody>
      </p:sp>
      <p:sp>
        <p:nvSpPr>
          <p:cNvPr id="30" name="Shape 28">
            <a:extLst xmlns:a="http://schemas.openxmlformats.org/drawingml/2006/main">
              <a:ext uri="{FF2B5EF4-FFF2-40B4-BE49-F238E27FC236}">
                <a16:creationId xmlns:a16="http://schemas.microsoft.com/office/drawing/2014/main" id="{842BCC72-2A21-4D51-919B-11D650F128BC}"/>
              </a:ext>
            </a:extLst>
          </p:cNvPr>
          <p:cNvSpPr>
            <a:spLocks xmlns:a="http://schemas.openxmlformats.org/drawingml/2006/main" noGrp="1"/>
          </p:cNvSpPr>
          <p:nvPr/>
        </p:nvSpPr>
        <p:spPr>
          <a:xfrm xmlns:a="http://schemas.openxmlformats.org/drawingml/2006/main">
            <a:off x="566928" y="3456432"/>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F31CC93F-FAD4-4FB7-B008-471074A1C990}"/>
              </a:ext>
            </a:extLst>
          </p:cNvPr>
          <p:cNvSpPr>
            <a:spLocks xmlns:a="http://schemas.openxmlformats.org/drawingml/2006/main" noGrp="1"/>
          </p:cNvSpPr>
          <p:nvPr/>
        </p:nvSpPr>
        <p:spPr>
          <a:xfrm xmlns:a="http://schemas.openxmlformats.org/drawingml/2006/main">
            <a:off x="676656" y="3538728"/>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Invalidation events</a:t>
            </a:r>
            <a:endParaRPr sz="970"/>
          </a:p>
        </p:txBody>
      </p:sp>
      <p:sp>
        <p:nvSpPr>
          <p:cNvPr id="32" name="Text 30">
            <a:extLst xmlns:a="http://schemas.openxmlformats.org/drawingml/2006/main">
              <a:ext uri="{FF2B5EF4-FFF2-40B4-BE49-F238E27FC236}">
                <a16:creationId xmlns:a16="http://schemas.microsoft.com/office/drawing/2014/main" id="{F08507DB-158D-4530-987D-2EC28A05CCE2}"/>
              </a:ext>
            </a:extLst>
          </p:cNvPr>
          <p:cNvSpPr>
            <a:spLocks xmlns:a="http://schemas.openxmlformats.org/drawingml/2006/main" noGrp="1"/>
          </p:cNvSpPr>
          <p:nvPr/>
        </p:nvSpPr>
        <p:spPr>
          <a:xfrm xmlns:a="http://schemas.openxmlformats.org/drawingml/2006/main">
            <a:off x="3968496" y="353872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Which amendment reopened which approval, and why it did not reopen the others</a:t>
            </a:r>
            <a:endParaRPr sz="920"/>
          </a:p>
        </p:txBody>
      </p:sp>
      <p:sp>
        <p:nvSpPr>
          <p:cNvPr id="33" name="Text 31">
            <a:extLst xmlns:a="http://schemas.openxmlformats.org/drawingml/2006/main">
              <a:ext uri="{FF2B5EF4-FFF2-40B4-BE49-F238E27FC236}">
                <a16:creationId xmlns:a16="http://schemas.microsoft.com/office/drawing/2014/main" id="{76212646-5297-43B9-84B4-C81A1D1C348B}"/>
              </a:ext>
            </a:extLst>
          </p:cNvPr>
          <p:cNvSpPr>
            <a:spLocks xmlns:a="http://schemas.openxmlformats.org/drawingml/2006/main" noGrp="1"/>
          </p:cNvSpPr>
          <p:nvPr/>
        </p:nvSpPr>
        <p:spPr>
          <a:xfrm xmlns:a="http://schemas.openxmlformats.org/drawingml/2006/main">
            <a:off x="7626096" y="3538728"/>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Facility life plus policy</a:t>
            </a:r>
            <a:endParaRPr sz="920"/>
          </a:p>
        </p:txBody>
      </p:sp>
      <p:sp>
        <p:nvSpPr>
          <p:cNvPr id="34" name="Text 32">
            <a:extLst xmlns:a="http://schemas.openxmlformats.org/drawingml/2006/main">
              <a:ext uri="{FF2B5EF4-FFF2-40B4-BE49-F238E27FC236}">
                <a16:creationId xmlns:a16="http://schemas.microsoft.com/office/drawing/2014/main" id="{7089A909-83D9-4B12-9ACB-1ECBB6AAA9E8}"/>
              </a:ext>
            </a:extLst>
          </p:cNvPr>
          <p:cNvSpPr>
            <a:spLocks xmlns:a="http://schemas.openxmlformats.org/drawingml/2006/main" noGrp="1"/>
          </p:cNvSpPr>
          <p:nvPr/>
        </p:nvSpPr>
        <p:spPr>
          <a:xfrm xmlns:a="http://schemas.openxmlformats.org/drawingml/2006/main">
            <a:off x="10186416" y="3538728"/>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Platform</a:t>
            </a:r>
            <a:endParaRPr sz="940"/>
          </a:p>
        </p:txBody>
      </p:sp>
      <p:sp>
        <p:nvSpPr>
          <p:cNvPr id="35" name="Shape 33">
            <a:extLst xmlns:a="http://schemas.openxmlformats.org/drawingml/2006/main">
              <a:ext uri="{FF2B5EF4-FFF2-40B4-BE49-F238E27FC236}">
                <a16:creationId xmlns:a16="http://schemas.microsoft.com/office/drawing/2014/main" id="{13357A9B-80C6-48CB-82E4-0CAB23432AE1}"/>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EB3189D7-8ED4-400A-93BE-8ABB255C964E}"/>
              </a:ext>
            </a:extLst>
          </p:cNvPr>
          <p:cNvSpPr>
            <a:spLocks xmlns:a="http://schemas.openxmlformats.org/drawingml/2006/main" noGrp="1"/>
          </p:cNvSpPr>
          <p:nvPr/>
        </p:nvSpPr>
        <p:spPr>
          <a:xfrm xmlns:a="http://schemas.openxmlformats.org/drawingml/2006/main">
            <a:off x="566928" y="3895344"/>
            <a:ext cx="11057839" cy="438912"/>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BD12DD91-5E71-4496-AF94-BFBD926CD641}"/>
              </a:ext>
            </a:extLst>
          </p:cNvPr>
          <p:cNvSpPr>
            <a:spLocks xmlns:a="http://schemas.openxmlformats.org/drawingml/2006/main" noGrp="1"/>
          </p:cNvSpPr>
          <p:nvPr/>
        </p:nvSpPr>
        <p:spPr>
          <a:xfrm xmlns:a="http://schemas.openxmlformats.org/drawingml/2006/main">
            <a:off x="676656" y="3977640"/>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Dissent and resolution</a:t>
            </a:r>
            <a:endParaRPr sz="970"/>
          </a:p>
        </p:txBody>
      </p:sp>
      <p:sp>
        <p:nvSpPr>
          <p:cNvPr id="38" name="Text 36">
            <a:extLst xmlns:a="http://schemas.openxmlformats.org/drawingml/2006/main">
              <a:ext uri="{FF2B5EF4-FFF2-40B4-BE49-F238E27FC236}">
                <a16:creationId xmlns:a16="http://schemas.microsoft.com/office/drawing/2014/main" id="{9F241AE1-F387-4B60-8F70-917DC0139027}"/>
              </a:ext>
            </a:extLst>
          </p:cNvPr>
          <p:cNvSpPr>
            <a:spLocks xmlns:a="http://schemas.openxmlformats.org/drawingml/2006/main" noGrp="1"/>
          </p:cNvSpPr>
          <p:nvPr/>
        </p:nvSpPr>
        <p:spPr>
          <a:xfrm xmlns:a="http://schemas.openxmlformats.org/drawingml/2006/main">
            <a:off x="3968496" y="397764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 rejection and how it was addressed is more informative than an approval</a:t>
            </a:r>
            <a:endParaRPr sz="920"/>
          </a:p>
        </p:txBody>
      </p:sp>
      <p:sp>
        <p:nvSpPr>
          <p:cNvPr id="39" name="Text 37">
            <a:extLst xmlns:a="http://schemas.openxmlformats.org/drawingml/2006/main">
              <a:ext uri="{FF2B5EF4-FFF2-40B4-BE49-F238E27FC236}">
                <a16:creationId xmlns:a16="http://schemas.microsoft.com/office/drawing/2014/main" id="{CE7F7D73-F617-4632-A5BF-FAD117EA7524}"/>
              </a:ext>
            </a:extLst>
          </p:cNvPr>
          <p:cNvSpPr>
            <a:spLocks xmlns:a="http://schemas.openxmlformats.org/drawingml/2006/main" noGrp="1"/>
          </p:cNvSpPr>
          <p:nvPr/>
        </p:nvSpPr>
        <p:spPr>
          <a:xfrm xmlns:a="http://schemas.openxmlformats.org/drawingml/2006/main">
            <a:off x="7626096" y="3977640"/>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Facility life plus policy</a:t>
            </a:r>
            <a:endParaRPr sz="920"/>
          </a:p>
        </p:txBody>
      </p:sp>
      <p:sp>
        <p:nvSpPr>
          <p:cNvPr id="40" name="Text 38">
            <a:extLst xmlns:a="http://schemas.openxmlformats.org/drawingml/2006/main">
              <a:ext uri="{FF2B5EF4-FFF2-40B4-BE49-F238E27FC236}">
                <a16:creationId xmlns:a16="http://schemas.microsoft.com/office/drawing/2014/main" id="{3783EA0F-5EE5-403F-A03C-1A5F8DE4F50F}"/>
              </a:ext>
            </a:extLst>
          </p:cNvPr>
          <p:cNvSpPr>
            <a:spLocks xmlns:a="http://schemas.openxmlformats.org/drawingml/2006/main" noGrp="1"/>
          </p:cNvSpPr>
          <p:nvPr/>
        </p:nvSpPr>
        <p:spPr>
          <a:xfrm xmlns:a="http://schemas.openxmlformats.org/drawingml/2006/main">
            <a:off x="10186416" y="3977640"/>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Platform</a:t>
            </a:r>
            <a:endParaRPr sz="940"/>
          </a:p>
        </p:txBody>
      </p:sp>
      <p:sp>
        <p:nvSpPr>
          <p:cNvPr id="41" name="Shape 39">
            <a:extLst xmlns:a="http://schemas.openxmlformats.org/drawingml/2006/main">
              <a:ext uri="{FF2B5EF4-FFF2-40B4-BE49-F238E27FC236}">
                <a16:creationId xmlns:a16="http://schemas.microsoft.com/office/drawing/2014/main" id="{D699E197-3D6B-4D5C-94A6-B40FD8238813}"/>
              </a:ext>
            </a:extLst>
          </p:cNvPr>
          <p:cNvSpPr>
            <a:spLocks xmlns:a="http://schemas.openxmlformats.org/drawingml/2006/main" noGrp="1"/>
          </p:cNvSpPr>
          <p:nvPr/>
        </p:nvSpPr>
        <p:spPr>
          <a:xfrm xmlns:a="http://schemas.openxmlformats.org/drawingml/2006/main">
            <a:off x="566928" y="4334256"/>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416C86E4-4BA7-424B-B8EA-5C46F467E183}"/>
              </a:ext>
            </a:extLst>
          </p:cNvPr>
          <p:cNvSpPr>
            <a:spLocks xmlns:a="http://schemas.openxmlformats.org/drawingml/2006/main" noGrp="1"/>
          </p:cNvSpPr>
          <p:nvPr/>
        </p:nvSpPr>
        <p:spPr>
          <a:xfrm xmlns:a="http://schemas.openxmlformats.org/drawingml/2006/main">
            <a:off x="566928"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shortcut to avoid</a:t>
            </a:r>
            <a:endParaRPr sz="1100"/>
          </a:p>
        </p:txBody>
      </p:sp>
      <p:sp>
        <p:nvSpPr>
          <p:cNvPr id="43" name="Shape 41">
            <a:extLst xmlns:a="http://schemas.openxmlformats.org/drawingml/2006/main">
              <a:ext uri="{FF2B5EF4-FFF2-40B4-BE49-F238E27FC236}">
                <a16:creationId xmlns:a16="http://schemas.microsoft.com/office/drawing/2014/main" id="{7759B5DC-D744-43EE-8D28-88DD4580CF4C}"/>
              </a:ext>
            </a:extLst>
          </p:cNvPr>
          <p:cNvSpPr>
            <a:spLocks xmlns:a="http://schemas.openxmlformats.org/drawingml/2006/main" noGrp="1"/>
          </p:cNvSpPr>
          <p:nvPr/>
        </p:nvSpPr>
        <p:spPr>
          <a:xfrm xmlns:a="http://schemas.openxmlformats.org/drawingml/2006/main">
            <a:off x="566928" y="4791456"/>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3318F282-DDA0-47EA-836E-46B6D05B3902}"/>
              </a:ext>
            </a:extLst>
          </p:cNvPr>
          <p:cNvSpPr>
            <a:spLocks xmlns:a="http://schemas.openxmlformats.org/drawingml/2006/main" noGrp="1"/>
          </p:cNvSpPr>
          <p:nvPr/>
        </p:nvSpPr>
        <p:spPr>
          <a:xfrm xmlns:a="http://schemas.openxmlformats.org/drawingml/2006/main">
            <a:off x="566928" y="4919472"/>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Collapsing five decisions into one status field because reporting is easier that way.</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works until an audit asks what legal concluded, on which version.</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After that the answer must be reconstructed from logs, if at all.</a:t>
            </a:r>
            <a:endParaRPr sz="920"/>
          </a:p>
        </p:txBody>
      </p:sp>
      <p:sp>
        <p:nvSpPr>
          <p:cNvPr id="45" name="Text 43">
            <a:extLst xmlns:a="http://schemas.openxmlformats.org/drawingml/2006/main">
              <a:ext uri="{FF2B5EF4-FFF2-40B4-BE49-F238E27FC236}">
                <a16:creationId xmlns:a16="http://schemas.microsoft.com/office/drawing/2014/main" id="{6CB2C9B6-E1E9-4E29-8B94-B2C1C94B7987}"/>
              </a:ext>
            </a:extLst>
          </p:cNvPr>
          <p:cNvSpPr>
            <a:spLocks xmlns:a="http://schemas.openxmlformats.org/drawingml/2006/main" noGrp="1"/>
          </p:cNvSpPr>
          <p:nvPr/>
        </p:nvSpPr>
        <p:spPr>
          <a:xfrm xmlns:a="http://schemas.openxmlformats.org/drawingml/2006/main">
            <a:off x="4319930"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separation buys</a:t>
            </a:r>
            <a:endParaRPr sz="1100"/>
          </a:p>
        </p:txBody>
      </p:sp>
      <p:sp>
        <p:nvSpPr>
          <p:cNvPr id="46" name="Shape 44">
            <a:extLst xmlns:a="http://schemas.openxmlformats.org/drawingml/2006/main">
              <a:ext uri="{FF2B5EF4-FFF2-40B4-BE49-F238E27FC236}">
                <a16:creationId xmlns:a16="http://schemas.microsoft.com/office/drawing/2014/main" id="{F106A18F-C24D-440A-A752-9113A82680D3}"/>
              </a:ext>
            </a:extLst>
          </p:cNvPr>
          <p:cNvSpPr>
            <a:spLocks xmlns:a="http://schemas.openxmlformats.org/drawingml/2006/main" noGrp="1"/>
          </p:cNvSpPr>
          <p:nvPr/>
        </p:nvSpPr>
        <p:spPr>
          <a:xfrm xmlns:a="http://schemas.openxmlformats.org/drawingml/2006/main">
            <a:off x="4319930" y="4791456"/>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0FCF71D0-1D68-4603-A46F-3888835634F3}"/>
              </a:ext>
            </a:extLst>
          </p:cNvPr>
          <p:cNvSpPr>
            <a:spLocks xmlns:a="http://schemas.openxmlformats.org/drawingml/2006/main" noGrp="1"/>
          </p:cNvSpPr>
          <p:nvPr/>
        </p:nvSpPr>
        <p:spPr>
          <a:xfrm xmlns:a="http://schemas.openxmlformats.org/drawingml/2006/main">
            <a:off x="4319930" y="4919472"/>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Every audit question is answered by a record, not a reconstruction.</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Amendment scoping becomes provable — you can show which approvals were reopened and which were not.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Functions accept parallel routing when the record is visibly their own.</a:t>
            </a:r>
            <a:endParaRPr sz="920"/>
          </a:p>
        </p:txBody>
      </p:sp>
      <p:sp>
        <p:nvSpPr>
          <p:cNvPr id="48" name="Text 46">
            <a:extLst xmlns:a="http://schemas.openxmlformats.org/drawingml/2006/main">
              <a:ext uri="{FF2B5EF4-FFF2-40B4-BE49-F238E27FC236}">
                <a16:creationId xmlns:a16="http://schemas.microsoft.com/office/drawing/2014/main" id="{2EA7729F-48F3-4AB5-A566-26ECC0E7A7B1}"/>
              </a:ext>
            </a:extLst>
          </p:cNvPr>
          <p:cNvSpPr>
            <a:spLocks xmlns:a="http://schemas.openxmlformats.org/drawingml/2006/main" noGrp="1"/>
          </p:cNvSpPr>
          <p:nvPr/>
        </p:nvSpPr>
        <p:spPr>
          <a:xfrm xmlns:a="http://schemas.openxmlformats.org/drawingml/2006/main">
            <a:off x="8072933" y="45354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The reporting answer</a:t>
            </a:r>
            <a:endParaRPr sz="1100"/>
          </a:p>
        </p:txBody>
      </p:sp>
      <p:sp>
        <p:nvSpPr>
          <p:cNvPr id="49" name="Shape 47">
            <a:extLst xmlns:a="http://schemas.openxmlformats.org/drawingml/2006/main">
              <a:ext uri="{FF2B5EF4-FFF2-40B4-BE49-F238E27FC236}">
                <a16:creationId xmlns:a16="http://schemas.microsoft.com/office/drawing/2014/main" id="{CE33D992-145B-4377-859D-BD52AE39A3C8}"/>
              </a:ext>
            </a:extLst>
          </p:cNvPr>
          <p:cNvSpPr>
            <a:spLocks xmlns:a="http://schemas.openxmlformats.org/drawingml/2006/main" noGrp="1"/>
          </p:cNvSpPr>
          <p:nvPr/>
        </p:nvSpPr>
        <p:spPr>
          <a:xfrm xmlns:a="http://schemas.openxmlformats.org/drawingml/2006/main">
            <a:off x="8072933" y="4791456"/>
            <a:ext cx="3551834" cy="20117"/>
          </a:xfrm>
          <a:prstGeom xmlns:a="http://schemas.openxmlformats.org/drawingml/2006/main" prst="rect">
            <a:avLst/>
          </a:prstGeom>
          <a:solidFill xmlns:a="http://schemas.openxmlformats.org/drawingml/2006/main">
            <a:srgbClr val="27685A"/>
          </a:solidFill>
        </p:spPr>
      </p:sp>
      <p:sp>
        <p:nvSpPr>
          <p:cNvPr id="50" name="Text 48">
            <a:extLst xmlns:a="http://schemas.openxmlformats.org/drawingml/2006/main">
              <a:ext uri="{FF2B5EF4-FFF2-40B4-BE49-F238E27FC236}">
                <a16:creationId xmlns:a16="http://schemas.microsoft.com/office/drawing/2014/main" id="{40CB6585-05AB-496E-BAFC-BAC430F35E86}"/>
              </a:ext>
            </a:extLst>
          </p:cNvPr>
          <p:cNvSpPr>
            <a:spLocks xmlns:a="http://schemas.openxmlformats.org/drawingml/2006/main" noGrp="1"/>
          </p:cNvSpPr>
          <p:nvPr/>
        </p:nvSpPr>
        <p:spPr>
          <a:xfrm xmlns:a="http://schemas.openxmlformats.org/drawingml/2006/main">
            <a:off x="8072933" y="4919472"/>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Aggregate status is derived from the five records, never stored instead of them.</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That keeps dashboards simple without making the audit trail lossy.</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 one-line decision that is almost impossible to retrofit.</a:t>
            </a:r>
            <a:endParaRPr sz="920"/>
          </a:p>
        </p:txBody>
      </p:sp>
      <p:sp>
        <p:nvSpPr>
          <p:cNvPr id="51" name="Shape 49">
            <a:extLst xmlns:a="http://schemas.openxmlformats.org/drawingml/2006/main">
              <a:ext uri="{FF2B5EF4-FFF2-40B4-BE49-F238E27FC236}">
                <a16:creationId xmlns:a16="http://schemas.microsoft.com/office/drawing/2014/main" id="{0B46D31F-4509-4356-9CF1-5EBFF9308CA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059E8476-3A0C-41EB-9514-600422EC4B9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wholesale credit programme · author's analysis</a:t>
            </a:r>
            <a:endParaRPr sz="850"/>
          </a:p>
        </p:txBody>
      </p:sp>
      <p:sp>
        <p:nvSpPr>
          <p:cNvPr id="53" name="Text 51">
            <a:extLst xmlns:a="http://schemas.openxmlformats.org/drawingml/2006/main">
              <a:ext uri="{FF2B5EF4-FFF2-40B4-BE49-F238E27FC236}">
                <a16:creationId xmlns:a16="http://schemas.microsoft.com/office/drawing/2014/main" id="{EC38E830-397C-40F6-98F2-5D9916B0922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902498524"/>
      </p:ext>
    </p:extLst>
  </p:cSld>
</p:sld>
</file>

<file path=ppt/slides/slide18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A42B70-776F-4B14-9FE5-66F2C46CAE2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7D2F44E1-0531-4994-8A09-D3A1F89F2B1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designing multi-authority approval</a:t>
            </a:r>
            <a:endParaRPr sz="1900"/>
          </a:p>
        </p:txBody>
      </p:sp>
      <p:sp>
        <p:nvSpPr>
          <p:cNvPr id="4" name="Text 2">
            <a:extLst xmlns:a="http://schemas.openxmlformats.org/drawingml/2006/main">
              <a:ext uri="{FF2B5EF4-FFF2-40B4-BE49-F238E27FC236}">
                <a16:creationId xmlns:a16="http://schemas.microsoft.com/office/drawing/2014/main" id="{EB58D7E4-E141-444C-BA60-AEA85A8E8767}"/>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BBB1FCC2-5101-42B0-BE6F-89FFD97A2DD3}"/>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Check whether the order is real</a:t>
            </a:r>
            <a:endParaRPr sz="1200"/>
          </a:p>
        </p:txBody>
      </p:sp>
      <p:sp>
        <p:nvSpPr>
          <p:cNvPr id="6" name="Text 4">
            <a:extLst xmlns:a="http://schemas.openxmlformats.org/drawingml/2006/main">
              <a:ext uri="{FF2B5EF4-FFF2-40B4-BE49-F238E27FC236}">
                <a16:creationId xmlns:a16="http://schemas.microsoft.com/office/drawing/2014/main" id="{2777BC96-C56D-4F0B-934F-5739A29DA0CF}"/>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Serial approval is usually a fossil of a paper process rather than a property of the governance. If no function depends on another's conclusion, the order is arbitrary and serialising is pure cost with no control benefit.</a:t>
            </a:r>
            <a:endParaRPr sz="1000"/>
          </a:p>
        </p:txBody>
      </p:sp>
      <p:sp>
        <p:nvSpPr>
          <p:cNvPr id="7" name="Shape 5">
            <a:extLst xmlns:a="http://schemas.openxmlformats.org/drawingml/2006/main">
              <a:ext uri="{FF2B5EF4-FFF2-40B4-BE49-F238E27FC236}">
                <a16:creationId xmlns:a16="http://schemas.microsoft.com/office/drawing/2014/main" id="{600E4E8F-C94A-4915-8067-8D8F918F7DF8}"/>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C6248F76-9400-4E0E-9C2A-0D73FB98C0F2}"/>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08695A24-D0BD-41F3-9127-CF9D92FC862B}"/>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Scope invalidation, or lose the gain</a:t>
            </a:r>
            <a:endParaRPr sz="1200"/>
          </a:p>
        </p:txBody>
      </p:sp>
      <p:sp>
        <p:nvSpPr>
          <p:cNvPr id="10" name="Text 8">
            <a:extLst xmlns:a="http://schemas.openxmlformats.org/drawingml/2006/main">
              <a:ext uri="{FF2B5EF4-FFF2-40B4-BE49-F238E27FC236}">
                <a16:creationId xmlns:a16="http://schemas.microsoft.com/office/drawing/2014/main" id="{C212D51C-1EA6-4EA4-BCED-22DB07B55FF9}"/>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Amendment after partial approval is the case that decides everything. Blanket re-approval on any change restores the serial cost immediately — and amendments are not the exception, they are the normal path.</a:t>
            </a:r>
            <a:endParaRPr sz="1000"/>
          </a:p>
        </p:txBody>
      </p:sp>
      <p:sp>
        <p:nvSpPr>
          <p:cNvPr id="11" name="Shape 9">
            <a:extLst xmlns:a="http://schemas.openxmlformats.org/drawingml/2006/main">
              <a:ext uri="{FF2B5EF4-FFF2-40B4-BE49-F238E27FC236}">
                <a16:creationId xmlns:a16="http://schemas.microsoft.com/office/drawing/2014/main" id="{5416D792-B48C-4F46-826A-13EC3B4B9916}"/>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FC9642A1-FB8E-4E80-ADF9-699297F3B69F}"/>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AF98EE66-6732-439A-A05B-AC3B3AE018F5}"/>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Model one dependency as one dependency</a:t>
            </a:r>
            <a:endParaRPr sz="1200"/>
          </a:p>
        </p:txBody>
      </p:sp>
      <p:sp>
        <p:nvSpPr>
          <p:cNvPr id="14" name="Text 12">
            <a:extLst xmlns:a="http://schemas.openxmlformats.org/drawingml/2006/main">
              <a:ext uri="{FF2B5EF4-FFF2-40B4-BE49-F238E27FC236}">
                <a16:creationId xmlns:a16="http://schemas.microsoft.com/office/drawing/2014/main" id="{5E099CD5-EEFE-4710-A2CC-51B8392C5D15}"/>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Discovering that a single pair of reviews is genuinely ordered is not a reason to serialise all five. Gate the pair and leave the rest concurrent.</a:t>
            </a:r>
            <a:endParaRPr sz="1000"/>
          </a:p>
        </p:txBody>
      </p:sp>
      <p:sp>
        <p:nvSpPr>
          <p:cNvPr id="15" name="Shape 13">
            <a:extLst xmlns:a="http://schemas.openxmlformats.org/drawingml/2006/main">
              <a:ext uri="{FF2B5EF4-FFF2-40B4-BE49-F238E27FC236}">
                <a16:creationId xmlns:a16="http://schemas.microsoft.com/office/drawing/2014/main" id="{3AB1A3A4-D8FD-412C-991A-08FD2B9F7818}"/>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2AAB6725-CFF8-45E3-AFFD-C5B1A94C13BD}"/>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30E9110D-7BF3-4E72-9C51-4A90E07266DD}"/>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Keep the records separate, derive the status</a:t>
            </a:r>
            <a:endParaRPr sz="1200"/>
          </a:p>
        </p:txBody>
      </p:sp>
      <p:sp>
        <p:nvSpPr>
          <p:cNvPr id="18" name="Text 16">
            <a:extLst xmlns:a="http://schemas.openxmlformats.org/drawingml/2006/main">
              <a:ext uri="{FF2B5EF4-FFF2-40B4-BE49-F238E27FC236}">
                <a16:creationId xmlns:a16="http://schemas.microsoft.com/office/drawing/2014/main" id="{048B6360-FA99-4E95-A67E-48871256E1CD}"/>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Five independent authorities produce five independent records. Aggregate status is derived for reporting, never stored in their place — a decision that is trivial early and effectively impossible later.</a:t>
            </a:r>
            <a:endParaRPr sz="1000"/>
          </a:p>
        </p:txBody>
      </p:sp>
      <p:sp>
        <p:nvSpPr>
          <p:cNvPr id="19" name="Shape 17">
            <a:extLst xmlns:a="http://schemas.openxmlformats.org/drawingml/2006/main">
              <a:ext uri="{FF2B5EF4-FFF2-40B4-BE49-F238E27FC236}">
                <a16:creationId xmlns:a16="http://schemas.microsoft.com/office/drawing/2014/main" id="{D6A908EE-5B1D-4B99-8CD0-D781AC7ED523}"/>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35C69DBA-31C7-4583-8139-5E80AF139F94}"/>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Parallel approval is not a workflow optimisation. It is a claim that five functions can review the same artefact simultaneously — true only if the artefact is versioned and amendment is scoped, and false in an expensive way if it is not.</a:t>
            </a:r>
            <a:endParaRPr sz="1200"/>
          </a:p>
        </p:txBody>
      </p:sp>
      <p:sp>
        <p:nvSpPr>
          <p:cNvPr id="21" name="Shape 19">
            <a:extLst xmlns:a="http://schemas.openxmlformats.org/drawingml/2006/main">
              <a:ext uri="{FF2B5EF4-FFF2-40B4-BE49-F238E27FC236}">
                <a16:creationId xmlns:a16="http://schemas.microsoft.com/office/drawing/2014/main" id="{49122AA5-40F5-4052-BB9C-E5A489B4023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D1BC2E9A-8881-4B88-A922-D6F3F5EE413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23" name="Text 21">
            <a:extLst xmlns:a="http://schemas.openxmlformats.org/drawingml/2006/main">
              <a:ext uri="{FF2B5EF4-FFF2-40B4-BE49-F238E27FC236}">
                <a16:creationId xmlns:a16="http://schemas.microsoft.com/office/drawing/2014/main" id="{4E973B72-9277-4E3E-905B-1DA861D025B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717753825"/>
      </p:ext>
    </p:extLst>
  </p:cSld>
</p:sld>
</file>

<file path=ppt/slides/slide184.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B241A82-B86C-401D-9929-338818C2C989}"/>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GOVERNANCE PATTERN  ·  16 OF 30</a:t>
            </a:r>
            <a:endParaRPr sz="950"/>
          </a:p>
        </p:txBody>
      </p:sp>
      <p:sp>
        <p:nvSpPr>
          <p:cNvPr id="3" name="Text 1">
            <a:extLst xmlns:a="http://schemas.openxmlformats.org/drawingml/2006/main">
              <a:ext uri="{FF2B5EF4-FFF2-40B4-BE49-F238E27FC236}">
                <a16:creationId xmlns:a16="http://schemas.microsoft.com/office/drawing/2014/main" id="{365F9FD8-3682-4768-8750-3748D869F839}"/>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Abu Dhabi Islamic Bank</a:t>
            </a:r>
            <a:endParaRPr sz="3800"/>
          </a:p>
        </p:txBody>
      </p:sp>
      <p:sp>
        <p:nvSpPr>
          <p:cNvPr id="4" name="Text 2">
            <a:extLst xmlns:a="http://schemas.openxmlformats.org/drawingml/2006/main">
              <a:ext uri="{FF2B5EF4-FFF2-40B4-BE49-F238E27FC236}">
                <a16:creationId xmlns:a16="http://schemas.microsoft.com/office/drawing/2014/main" id="{7F13CD70-F987-49B2-B5C5-DABB2469B1F7}"/>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Early warning without owning the model — governing a decision you did not calculate</a:t>
            </a:r>
            <a:endParaRPr sz="1800"/>
          </a:p>
        </p:txBody>
      </p:sp>
      <p:sp>
        <p:nvSpPr>
          <p:cNvPr id="5" name="Text 3">
            <a:extLst xmlns:a="http://schemas.openxmlformats.org/drawingml/2006/main">
              <a:ext uri="{FF2B5EF4-FFF2-40B4-BE49-F238E27FC236}">
                <a16:creationId xmlns:a16="http://schemas.microsoft.com/office/drawing/2014/main" id="{0AA57A81-0986-4F97-85BA-8CDB17E4B9EC}"/>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risk engine computes the signal. The relationship platform governs what a human does about it. Keeping those two things apart is the whole design — and collapsing them is the most common and most expensive mistake.</a:t>
            </a:r>
            <a:endParaRPr sz="1150"/>
          </a:p>
        </p:txBody>
      </p:sp>
      <p:sp>
        <p:nvSpPr>
          <p:cNvPr id="6" name="Shape 4">
            <a:extLst xmlns:a="http://schemas.openxmlformats.org/drawingml/2006/main">
              <a:ext uri="{FF2B5EF4-FFF2-40B4-BE49-F238E27FC236}">
                <a16:creationId xmlns:a16="http://schemas.microsoft.com/office/drawing/2014/main" id="{A108E10D-54E7-430B-BF29-36CF57419F40}"/>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1EFE1F00-9F79-4E8E-B007-230F783AD571}"/>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8" name="Text 6">
            <a:extLst xmlns:a="http://schemas.openxmlformats.org/drawingml/2006/main">
              <a:ext uri="{FF2B5EF4-FFF2-40B4-BE49-F238E27FC236}">
                <a16:creationId xmlns:a16="http://schemas.microsoft.com/office/drawing/2014/main" id="{1A9DF613-C22A-4ECE-A672-4AD5E991CC9F}"/>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systems, one</a:t>
            </a:r>
            <a:endParaRPr sz="900"/>
          </a:p>
          <a:p xmlns:a="http://schemas.openxmlformats.org/drawingml/2006/main">
            <a:pPr marL="0" indent="0">
              <a:lnSpc>
                <a:spcPts val="1100"/>
              </a:lnSpc>
              <a:buNone/>
            </a:pPr>
            <a:r>
              <a:rPr sz="900">
                <a:solidFill>
                  <a:srgbClr val="8FA9C4"/>
                </a:solidFill>
                <a:latin typeface="Arial"/>
                <a:ea typeface="Arial"/>
                <a:cs typeface="Arial"/>
              </a:rPr>
              <a:t>clean boundary</a:t>
            </a:r>
            <a:endParaRPr sz="900"/>
          </a:p>
        </p:txBody>
      </p:sp>
      <p:sp>
        <p:nvSpPr>
          <p:cNvPr id="9" name="Text 7">
            <a:extLst xmlns:a="http://schemas.openxmlformats.org/drawingml/2006/main">
              <a:ext uri="{FF2B5EF4-FFF2-40B4-BE49-F238E27FC236}">
                <a16:creationId xmlns:a16="http://schemas.microsoft.com/office/drawing/2014/main" id="{F0FBB28A-AFD3-4FA4-8BBF-4B11A01A725D}"/>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0" name="Text 8">
            <a:extLst xmlns:a="http://schemas.openxmlformats.org/drawingml/2006/main">
              <a:ext uri="{FF2B5EF4-FFF2-40B4-BE49-F238E27FC236}">
                <a16:creationId xmlns:a16="http://schemas.microsoft.com/office/drawing/2014/main" id="{4298A0B4-3EFD-4479-832A-0F429CD0E323}"/>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risk logic in the</a:t>
            </a:r>
            <a:endParaRPr sz="900"/>
          </a:p>
          <a:p xmlns:a="http://schemas.openxmlformats.org/drawingml/2006/main">
            <a:pPr marL="0" indent="0">
              <a:lnSpc>
                <a:spcPts val="1100"/>
              </a:lnSpc>
              <a:buNone/>
            </a:pPr>
            <a:r>
              <a:rPr sz="900">
                <a:solidFill>
                  <a:srgbClr val="8FA9C4"/>
                </a:solidFill>
                <a:latin typeface="Arial"/>
                <a:ea typeface="Arial"/>
                <a:cs typeface="Arial"/>
              </a:rPr>
              <a:t>relationship platform</a:t>
            </a:r>
            <a:endParaRPr sz="900"/>
          </a:p>
        </p:txBody>
      </p:sp>
      <p:sp>
        <p:nvSpPr>
          <p:cNvPr id="11" name="Text 9">
            <a:extLst xmlns:a="http://schemas.openxmlformats.org/drawingml/2006/main">
              <a:ext uri="{FF2B5EF4-FFF2-40B4-BE49-F238E27FC236}">
                <a16:creationId xmlns:a16="http://schemas.microsoft.com/office/drawing/2014/main" id="{5C40E512-4449-4E51-AACF-C45A5AB311CB}"/>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2" name="Text 10">
            <a:extLst xmlns:a="http://schemas.openxmlformats.org/drawingml/2006/main">
              <a:ext uri="{FF2B5EF4-FFF2-40B4-BE49-F238E27FC236}">
                <a16:creationId xmlns:a16="http://schemas.microsoft.com/office/drawing/2014/main" id="{67E8F714-DA07-48ED-B6BA-6E856D894197}"/>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states in the</a:t>
            </a:r>
            <a:endParaRPr sz="900"/>
          </a:p>
          <a:p xmlns:a="http://schemas.openxmlformats.org/drawingml/2006/main">
            <a:pPr marL="0" indent="0">
              <a:lnSpc>
                <a:spcPts val="1100"/>
              </a:lnSpc>
              <a:buNone/>
            </a:pPr>
            <a:r>
              <a:rPr sz="900">
                <a:solidFill>
                  <a:srgbClr val="8FA9C4"/>
                </a:solidFill>
                <a:latin typeface="Arial"/>
                <a:ea typeface="Arial"/>
                <a:cs typeface="Arial"/>
              </a:rPr>
              <a:t>alert lifecycle</a:t>
            </a:r>
            <a:endParaRPr sz="900"/>
          </a:p>
        </p:txBody>
      </p:sp>
      <p:sp>
        <p:nvSpPr>
          <p:cNvPr id="13" name="Text 11">
            <a:extLst xmlns:a="http://schemas.openxmlformats.org/drawingml/2006/main">
              <a:ext uri="{FF2B5EF4-FFF2-40B4-BE49-F238E27FC236}">
                <a16:creationId xmlns:a16="http://schemas.microsoft.com/office/drawing/2014/main" id="{1AADDFA2-5354-4BCE-AAA4-524C75A60BE4}"/>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4" name="Text 12">
            <a:extLst xmlns:a="http://schemas.openxmlformats.org/drawingml/2006/main">
              <a:ext uri="{FF2B5EF4-FFF2-40B4-BE49-F238E27FC236}">
                <a16:creationId xmlns:a16="http://schemas.microsoft.com/office/drawing/2014/main" id="{452F4CB8-3C85-43F4-9416-03134CE0A6A6}"/>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things a human</a:t>
            </a:r>
            <a:endParaRPr sz="900"/>
          </a:p>
          <a:p xmlns:a="http://schemas.openxmlformats.org/drawingml/2006/main">
            <a:pPr marL="0" indent="0">
              <a:lnSpc>
                <a:spcPts val="1100"/>
              </a:lnSpc>
              <a:buNone/>
            </a:pPr>
            <a:r>
              <a:rPr sz="900">
                <a:solidFill>
                  <a:srgbClr val="8FA9C4"/>
                </a:solidFill>
                <a:latin typeface="Arial"/>
                <a:ea typeface="Arial"/>
                <a:cs typeface="Arial"/>
              </a:rPr>
              <a:t>must supply</a:t>
            </a:r>
            <a:endParaRPr sz="900"/>
          </a:p>
        </p:txBody>
      </p:sp>
      <p:sp>
        <p:nvSpPr>
          <p:cNvPr id="15" name="Text 13">
            <a:extLst xmlns:a="http://schemas.openxmlformats.org/drawingml/2006/main">
              <a:ext uri="{FF2B5EF4-FFF2-40B4-BE49-F238E27FC236}">
                <a16:creationId xmlns:a16="http://schemas.microsoft.com/office/drawing/2014/main" id="{0F32508C-CE87-4765-BC1D-F6C5780323CE}"/>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B66DAC58-F32A-401D-BAC1-3635740196B3}"/>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auditable record</a:t>
            </a:r>
            <a:endParaRPr sz="900"/>
          </a:p>
          <a:p xmlns:a="http://schemas.openxmlformats.org/drawingml/2006/main">
            <a:pPr marL="0" indent="0">
              <a:lnSpc>
                <a:spcPts val="1100"/>
              </a:lnSpc>
              <a:buNone/>
            </a:pPr>
            <a:r>
              <a:rPr sz="900">
                <a:solidFill>
                  <a:srgbClr val="8FA9C4"/>
                </a:solidFill>
                <a:latin typeface="Arial"/>
                <a:ea typeface="Arial"/>
                <a:cs typeface="Arial"/>
              </a:rPr>
              <a:t>per alert</a:t>
            </a:r>
            <a:endParaRPr sz="900"/>
          </a:p>
        </p:txBody>
      </p:sp>
      <p:sp>
        <p:nvSpPr>
          <p:cNvPr id="17" name="Text 15">
            <a:extLst xmlns:a="http://schemas.openxmlformats.org/drawingml/2006/main">
              <a:ext uri="{FF2B5EF4-FFF2-40B4-BE49-F238E27FC236}">
                <a16:creationId xmlns:a16="http://schemas.microsoft.com/office/drawing/2014/main" id="{C715AFEF-A6FC-4C9C-96D9-57DD8FEFF087}"/>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100%</a:t>
            </a:r>
            <a:endParaRPr sz="2600"/>
          </a:p>
        </p:txBody>
      </p:sp>
      <p:sp>
        <p:nvSpPr>
          <p:cNvPr id="18" name="Text 16">
            <a:extLst xmlns:a="http://schemas.openxmlformats.org/drawingml/2006/main">
              <a:ext uri="{FF2B5EF4-FFF2-40B4-BE49-F238E27FC236}">
                <a16:creationId xmlns:a16="http://schemas.microsoft.com/office/drawing/2014/main" id="{A7A82364-B3B7-4772-B747-C58250EA68E5}"/>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alerts closed with</a:t>
            </a:r>
            <a:endParaRPr sz="900"/>
          </a:p>
          <a:p xmlns:a="http://schemas.openxmlformats.org/drawingml/2006/main">
            <a:pPr marL="0" indent="0">
              <a:lnSpc>
                <a:spcPts val="1100"/>
              </a:lnSpc>
              <a:buNone/>
            </a:pPr>
            <a:r>
              <a:rPr sz="900">
                <a:solidFill>
                  <a:srgbClr val="8FA9C4"/>
                </a:solidFill>
                <a:latin typeface="Arial"/>
                <a:ea typeface="Arial"/>
                <a:cs typeface="Arial"/>
              </a:rPr>
              <a:t>a stated basis</a:t>
            </a:r>
            <a:endParaRPr sz="900"/>
          </a:p>
        </p:txBody>
      </p:sp>
      <p:sp>
        <p:nvSpPr>
          <p:cNvPr id="19" name="Shape 17">
            <a:extLst xmlns:a="http://schemas.openxmlformats.org/drawingml/2006/main">
              <a:ext uri="{FF2B5EF4-FFF2-40B4-BE49-F238E27FC236}">
                <a16:creationId xmlns:a16="http://schemas.microsoft.com/office/drawing/2014/main" id="{D5703D5E-EE72-46CA-AC9F-393B17A0CFA4}"/>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AA36E817-E7D7-4AD1-9379-F6D3E631015D}"/>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INTEGRATION SCOPE  ·  WHOLESALE AND BUSINESS BANKING PORTFOLIOS</a:t>
            </a:r>
            <a:endParaRPr sz="800"/>
          </a:p>
        </p:txBody>
      </p:sp>
      <p:sp>
        <p:nvSpPr>
          <p:cNvPr id="21" name="Text 19">
            <a:extLst xmlns:a="http://schemas.openxmlformats.org/drawingml/2006/main">
              <a:ext uri="{FF2B5EF4-FFF2-40B4-BE49-F238E27FC236}">
                <a16:creationId xmlns:a16="http://schemas.microsoft.com/office/drawing/2014/main" id="{89864672-39A3-46EC-A78C-DFD65C997487}"/>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Risk signals surfaced in the relationship view    ·    associated to the counterparty and group    ·    human review, justification and approval before closure</a:t>
            </a:r>
            <a:endParaRPr sz="1050"/>
          </a:p>
        </p:txBody>
      </p:sp>
      <p:sp>
        <p:nvSpPr>
          <p:cNvPr id="22" name="Text 20">
            <a:extLst xmlns:a="http://schemas.openxmlformats.org/drawingml/2006/main">
              <a:ext uri="{FF2B5EF4-FFF2-40B4-BE49-F238E27FC236}">
                <a16:creationId xmlns:a16="http://schemas.microsoft.com/office/drawing/2014/main" id="{00459A64-9028-48E1-95ED-71BB8C8813EF}"/>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Project Lead and Product Manager  ·  early-warning integration and alert governance</a:t>
            </a:r>
            <a:endParaRPr sz="1200"/>
          </a:p>
        </p:txBody>
      </p:sp>
      <p:sp>
        <p:nvSpPr>
          <p:cNvPr id="23" name="Text 21">
            <a:extLst xmlns:a="http://schemas.openxmlformats.org/drawingml/2006/main">
              <a:ext uri="{FF2B5EF4-FFF2-40B4-BE49-F238E27FC236}">
                <a16:creationId xmlns:a16="http://schemas.microsoft.com/office/drawing/2014/main" id="{7D4CF7AF-386A-4798-A24F-A7B592DC8A3A}"/>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system names removed. The integration scope is the client's; the separation principle, lifecycle design and noise analysis are mine.</a:t>
            </a:r>
            <a:endParaRPr sz="850"/>
          </a:p>
        </p:txBody>
      </p:sp>
    </p:spTree>
    <p:extLst>
      <p:ext uri="{BB962C8B-B14F-4D97-AF65-F5344CB8AC3E}">
        <p14:creationId xmlns:p14="http://schemas.microsoft.com/office/powerpoint/2010/main" val="452420242"/>
      </p:ext>
    </p:extLst>
  </p:cSld>
</p:sld>
</file>

<file path=ppt/slides/slide18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286C59-C5C5-4502-9270-E268F24D79C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0BF8BA71-B9B8-4CC9-80FE-43E6A49EFD4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platform that shows a risk signal must not be the platform that computes it —</a:t>
            </a:r>
            <a:endParaRPr sz="1900"/>
          </a:p>
          <a:p xmlns:a="http://schemas.openxmlformats.org/drawingml/2006/main">
            <a:pPr marL="0" indent="0">
              <a:lnSpc>
                <a:spcPts val="2400"/>
              </a:lnSpc>
              <a:buNone/>
            </a:pPr>
            <a:r>
              <a:rPr sz="1900" b="1">
                <a:solidFill>
                  <a:srgbClr val="102A43"/>
                </a:solidFill>
                <a:latin typeface="Arial"/>
                <a:ea typeface="Arial"/>
                <a:cs typeface="Arial"/>
              </a:rPr>
              <a:t>and must be the only place the human response is recorded</a:t>
            </a:r>
            <a:endParaRPr sz="1900"/>
          </a:p>
        </p:txBody>
      </p:sp>
      <p:sp>
        <p:nvSpPr>
          <p:cNvPr id="4" name="Shape 2">
            <a:extLst xmlns:a="http://schemas.openxmlformats.org/drawingml/2006/main">
              <a:ext uri="{FF2B5EF4-FFF2-40B4-BE49-F238E27FC236}">
                <a16:creationId xmlns:a16="http://schemas.microsoft.com/office/drawing/2014/main" id="{B1A03104-D493-4841-886E-EB55B79E79C9}"/>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1E409DC7-51C9-4B11-BB64-EE551ED38E81}"/>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53E27F51-AE3B-4590-A477-BA8618FA75E4}"/>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specialist risk engine produces early-warning signals on wholesale and business counterparties: deterioration indicators, behavioural triggers, exposure movements and external events.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Relationship managers work in a different system, where the customer, the group hierarchy and the relationship history live.</a:t>
            </a:r>
            <a:endParaRPr sz="980"/>
          </a:p>
        </p:txBody>
      </p:sp>
      <p:sp>
        <p:nvSpPr>
          <p:cNvPr id="7" name="Shape 5">
            <a:extLst xmlns:a="http://schemas.openxmlformats.org/drawingml/2006/main">
              <a:ext uri="{FF2B5EF4-FFF2-40B4-BE49-F238E27FC236}">
                <a16:creationId xmlns:a16="http://schemas.microsoft.com/office/drawing/2014/main" id="{6FEF2BBA-2E3A-4CEC-B1B1-66D1A04B4A84}"/>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A97D584F-78A8-42B3-8293-8922FD5372EA}"/>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AFA8A079-FFF7-467E-8761-447F265D5DD2}"/>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Signals in a risk system that relationship managers never open are not early warnings. They are a report.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obvious fix — surface them in the relationship platform — creates a subtler problem. Once the signal is visible there, pressure builds to adjust it there: suppress a noisy trigger, tune a threshold for one portfolio, add a local override. Each is reasonable in isolation and each moves risk logic into a system with no model governance around it.</a:t>
            </a:r>
            <a:endParaRPr sz="980"/>
          </a:p>
        </p:txBody>
      </p:sp>
      <p:sp>
        <p:nvSpPr>
          <p:cNvPr id="10" name="Shape 8">
            <a:extLst xmlns:a="http://schemas.openxmlformats.org/drawingml/2006/main">
              <a:ext uri="{FF2B5EF4-FFF2-40B4-BE49-F238E27FC236}">
                <a16:creationId xmlns:a16="http://schemas.microsoft.com/office/drawing/2014/main" id="{07F437B8-8016-4A3A-9753-F575F5160A61}"/>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A87044E0-5E58-4378-B7AF-D34D8C820DF7}"/>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separation</a:t>
            </a:r>
            <a:endParaRPr sz="1250"/>
          </a:p>
        </p:txBody>
      </p:sp>
      <p:sp>
        <p:nvSpPr>
          <p:cNvPr id="12" name="Text 10">
            <a:extLst xmlns:a="http://schemas.openxmlformats.org/drawingml/2006/main">
              <a:ext uri="{FF2B5EF4-FFF2-40B4-BE49-F238E27FC236}">
                <a16:creationId xmlns:a16="http://schemas.microsoft.com/office/drawing/2014/main" id="{D9E08343-FE4F-4FA1-BDD5-18B484EC918C}"/>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One system computes and owns the model. The other governs the human response and owns the record of it. Neither does the other's job, and the boundary is defended explicitly rather than assumed.</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relationship platform may filter what it displays and how it prioritises attention. It may never change what the signal says.</a:t>
            </a:r>
            <a:endParaRPr sz="980"/>
          </a:p>
        </p:txBody>
      </p:sp>
      <p:sp>
        <p:nvSpPr>
          <p:cNvPr id="13" name="Text 11">
            <a:extLst xmlns:a="http://schemas.openxmlformats.org/drawingml/2006/main">
              <a:ext uri="{FF2B5EF4-FFF2-40B4-BE49-F238E27FC236}">
                <a16:creationId xmlns:a16="http://schemas.microsoft.com/office/drawing/2014/main" id="{4503BF19-D2FB-4BAA-B202-963EDC7C5BE3}"/>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0BF0A9B3-539F-4E57-BDB7-1C159810699C}"/>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A5AE394D-1EB5-4058-A8D7-859C902EDC42}"/>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6" name="Text 14">
            <a:extLst xmlns:a="http://schemas.openxmlformats.org/drawingml/2006/main">
              <a:ext uri="{FF2B5EF4-FFF2-40B4-BE49-F238E27FC236}">
                <a16:creationId xmlns:a16="http://schemas.microsoft.com/office/drawing/2014/main" id="{6FB6C5CE-1FD7-4753-A5C1-4C456BA68DBA}"/>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system computes</a:t>
            </a:r>
            <a:endParaRPr sz="860"/>
          </a:p>
        </p:txBody>
      </p:sp>
      <p:sp>
        <p:nvSpPr>
          <p:cNvPr id="17" name="Shape 15">
            <a:extLst xmlns:a="http://schemas.openxmlformats.org/drawingml/2006/main">
              <a:ext uri="{FF2B5EF4-FFF2-40B4-BE49-F238E27FC236}">
                <a16:creationId xmlns:a16="http://schemas.microsoft.com/office/drawing/2014/main" id="{12AEC161-4C1E-4B44-901B-D8E8E6B43A7D}"/>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D60B8EAF-955A-4D3C-BFAB-6F7CB485A027}"/>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063FB931-D7BA-47A9-B356-14E1FA1A576F}"/>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system governs response</a:t>
            </a:r>
            <a:endParaRPr sz="860"/>
          </a:p>
        </p:txBody>
      </p:sp>
      <p:sp>
        <p:nvSpPr>
          <p:cNvPr id="20" name="Shape 18">
            <a:extLst xmlns:a="http://schemas.openxmlformats.org/drawingml/2006/main">
              <a:ext uri="{FF2B5EF4-FFF2-40B4-BE49-F238E27FC236}">
                <a16:creationId xmlns:a16="http://schemas.microsoft.com/office/drawing/2014/main" id="{56500BCF-2718-4625-B541-E0347C4F1415}"/>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D825C422-BB0F-4747-B628-4E313C550C08}"/>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2" name="Text 20">
            <a:extLst xmlns:a="http://schemas.openxmlformats.org/drawingml/2006/main">
              <a:ext uri="{FF2B5EF4-FFF2-40B4-BE49-F238E27FC236}">
                <a16:creationId xmlns:a16="http://schemas.microsoft.com/office/drawing/2014/main" id="{CF9417F7-7041-4560-85E4-84416912BB3D}"/>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thresholds in the CRM</a:t>
            </a:r>
            <a:endParaRPr sz="860"/>
          </a:p>
        </p:txBody>
      </p:sp>
      <p:sp>
        <p:nvSpPr>
          <p:cNvPr id="23" name="Shape 21">
            <a:extLst xmlns:a="http://schemas.openxmlformats.org/drawingml/2006/main">
              <a:ext uri="{FF2B5EF4-FFF2-40B4-BE49-F238E27FC236}">
                <a16:creationId xmlns:a16="http://schemas.microsoft.com/office/drawing/2014/main" id="{02FF606D-4D6E-466E-9C93-E9E24EB00DE9}"/>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0A7C2A13-6CDB-44E2-AC41-B25593CB3E73}"/>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5" name="Text 23">
            <a:extLst xmlns:a="http://schemas.openxmlformats.org/drawingml/2006/main">
              <a:ext uri="{FF2B5EF4-FFF2-40B4-BE49-F238E27FC236}">
                <a16:creationId xmlns:a16="http://schemas.microsoft.com/office/drawing/2014/main" id="{1D9E9378-9CF3-4DD6-90E1-C2418D340CBA}"/>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human inputs required</a:t>
            </a:r>
            <a:endParaRPr sz="860"/>
          </a:p>
        </p:txBody>
      </p:sp>
      <p:sp>
        <p:nvSpPr>
          <p:cNvPr id="26" name="Shape 24">
            <a:extLst xmlns:a="http://schemas.openxmlformats.org/drawingml/2006/main">
              <a:ext uri="{FF2B5EF4-FFF2-40B4-BE49-F238E27FC236}">
                <a16:creationId xmlns:a16="http://schemas.microsoft.com/office/drawing/2014/main" id="{B196142B-7E4E-451B-9E4E-0AF5D72C8C63}"/>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A567ADFE-9E68-4B2D-9BDB-DFFCB0C856B0}"/>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28" name="Text 26">
            <a:extLst xmlns:a="http://schemas.openxmlformats.org/drawingml/2006/main">
              <a:ext uri="{FF2B5EF4-FFF2-40B4-BE49-F238E27FC236}">
                <a16:creationId xmlns:a16="http://schemas.microsoft.com/office/drawing/2014/main" id="{485C11E2-6B55-4DF2-AF38-7E33C24A72B2}"/>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lifecycle states</a:t>
            </a:r>
            <a:endParaRPr sz="860"/>
          </a:p>
        </p:txBody>
      </p:sp>
      <p:sp>
        <p:nvSpPr>
          <p:cNvPr id="29" name="Shape 27">
            <a:extLst xmlns:a="http://schemas.openxmlformats.org/drawingml/2006/main">
              <a:ext uri="{FF2B5EF4-FFF2-40B4-BE49-F238E27FC236}">
                <a16:creationId xmlns:a16="http://schemas.microsoft.com/office/drawing/2014/main" id="{23E8AEB4-D116-4E1A-BEDF-B0710EC0B1EC}"/>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F2259A5D-418C-4D28-884A-082AD9332E19}"/>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41D5C8E4-A19E-4751-A558-A7E365CF3568}"/>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record per alert</a:t>
            </a:r>
            <a:endParaRPr sz="860"/>
          </a:p>
        </p:txBody>
      </p:sp>
      <p:sp>
        <p:nvSpPr>
          <p:cNvPr id="32" name="Text 30">
            <a:extLst xmlns:a="http://schemas.openxmlformats.org/drawingml/2006/main">
              <a:ext uri="{FF2B5EF4-FFF2-40B4-BE49-F238E27FC236}">
                <a16:creationId xmlns:a16="http://schemas.microsoft.com/office/drawing/2014/main" id="{9B8480EF-4067-4F85-8DD0-7E4362FA31B5}"/>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the boundary erodes:  every request to move logic across it is individually reasonable and locally cheap. The cost is cumulative and shows up years later, when nobody can say which system decided what, and model governance covers only half the logic that is actually running.</a:t>
            </a:r>
            <a:endParaRPr sz="1000"/>
          </a:p>
        </p:txBody>
      </p:sp>
      <p:sp>
        <p:nvSpPr>
          <p:cNvPr id="33" name="Shape 31">
            <a:extLst xmlns:a="http://schemas.openxmlformats.org/drawingml/2006/main">
              <a:ext uri="{FF2B5EF4-FFF2-40B4-BE49-F238E27FC236}">
                <a16:creationId xmlns:a16="http://schemas.microsoft.com/office/drawing/2014/main" id="{7B9DB2D4-A1F6-4B4A-B62E-66DF68D0B9A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B71DC383-8E8E-4DC0-B434-4DC3E288E4D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35" name="Text 33">
            <a:extLst xmlns:a="http://schemas.openxmlformats.org/drawingml/2006/main">
              <a:ext uri="{FF2B5EF4-FFF2-40B4-BE49-F238E27FC236}">
                <a16:creationId xmlns:a16="http://schemas.microsoft.com/office/drawing/2014/main" id="{022B5003-87E1-4182-9D26-38D7A5FDC19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23356155"/>
      </p:ext>
    </p:extLst>
  </p:cSld>
</p:sld>
</file>

<file path=ppt/slides/slide18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885A77-0BB5-49D1-A5D3-2BB95711B6B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51E1FF89-2AF4-4EA7-AFE1-DA3C00C0651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integration scope was the client's; the separation principle, the lifecycle design</a:t>
            </a:r>
            <a:endParaRPr sz="1900"/>
          </a:p>
          <a:p xmlns:a="http://schemas.openxmlformats.org/drawingml/2006/main">
            <a:pPr marL="0" indent="0">
              <a:lnSpc>
                <a:spcPts val="2400"/>
              </a:lnSpc>
              <a:buNone/>
            </a:pPr>
            <a:r>
              <a:rPr sz="1900" b="1">
                <a:solidFill>
                  <a:srgbClr val="102A43"/>
                </a:solidFill>
                <a:latin typeface="Arial"/>
                <a:ea typeface="Arial"/>
                <a:cs typeface="Arial"/>
              </a:rPr>
              <a:t>and the noise analysis are mine</a:t>
            </a:r>
            <a:endParaRPr sz="1900"/>
          </a:p>
        </p:txBody>
      </p:sp>
      <p:sp>
        <p:nvSpPr>
          <p:cNvPr id="4" name="Shape 2">
            <a:extLst xmlns:a="http://schemas.openxmlformats.org/drawingml/2006/main">
              <a:ext uri="{FF2B5EF4-FFF2-40B4-BE49-F238E27FC236}">
                <a16:creationId xmlns:a16="http://schemas.microsoft.com/office/drawing/2014/main" id="{EF84AA39-D6D7-418B-9550-0F0D2BE0EC8E}"/>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D7C5C30F-8695-4B5A-B747-AF10FBBB8CB0}"/>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BF0897AC-499F-4B94-AE30-6A7502979A52}"/>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PROGRAMME SCOPE</a:t>
            </a:r>
            <a:endParaRPr sz="740"/>
          </a:p>
        </p:txBody>
      </p:sp>
      <p:sp>
        <p:nvSpPr>
          <p:cNvPr id="7" name="Text 5">
            <a:extLst xmlns:a="http://schemas.openxmlformats.org/drawingml/2006/main">
              <a:ext uri="{FF2B5EF4-FFF2-40B4-BE49-F238E27FC236}">
                <a16:creationId xmlns:a16="http://schemas.microsoft.com/office/drawing/2014/main" id="{D65E121D-E091-4321-B408-95918A5741B4}"/>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Client context</a:t>
            </a:r>
            <a:endParaRPr sz="1200"/>
          </a:p>
        </p:txBody>
      </p:sp>
      <p:sp>
        <p:nvSpPr>
          <p:cNvPr id="8" name="Text 6">
            <a:extLst xmlns:a="http://schemas.openxmlformats.org/drawingml/2006/main">
              <a:ext uri="{FF2B5EF4-FFF2-40B4-BE49-F238E27FC236}">
                <a16:creationId xmlns:a16="http://schemas.microsoft.com/office/drawing/2014/main" id="{42729CFE-F156-455E-93B7-7DADF827E76D}"/>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risk engine, the signal types and the governance obligations as defined by the bank.</a:t>
            </a:r>
            <a:endParaRPr sz="920"/>
          </a:p>
        </p:txBody>
      </p:sp>
      <p:sp>
        <p:nvSpPr>
          <p:cNvPr id="9" name="Shape 7">
            <a:extLst xmlns:a="http://schemas.openxmlformats.org/drawingml/2006/main">
              <a:ext uri="{FF2B5EF4-FFF2-40B4-BE49-F238E27FC236}">
                <a16:creationId xmlns:a16="http://schemas.microsoft.com/office/drawing/2014/main" id="{08B8E983-BEC0-426B-BD43-EDA4D771D2CA}"/>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FAB83803-E444-4537-9D06-E5DF7B550EAA}"/>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External risk engine in place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Wholesale and business portfolios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Counterparty and group association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Service-based integration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Human review obligation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Audit and retention requirements</a:t>
            </a:r>
            <a:endParaRPr sz="930"/>
          </a:p>
        </p:txBody>
      </p:sp>
      <p:sp>
        <p:nvSpPr>
          <p:cNvPr id="11" name="Shape 9">
            <a:extLst xmlns:a="http://schemas.openxmlformats.org/drawingml/2006/main">
              <a:ext uri="{FF2B5EF4-FFF2-40B4-BE49-F238E27FC236}">
                <a16:creationId xmlns:a16="http://schemas.microsoft.com/office/drawing/2014/main" id="{C3E0C099-F0B2-4C2A-8671-EF891B175D3E}"/>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598FD7BD-A559-49BA-B544-288EB2BE0478}"/>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21C9A922-D935-4AF8-8A3C-341DC480EC90}"/>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D784E5DF-CC1C-4A58-98B8-E83D8E3F6129}"/>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C996F5CD-313B-428A-9A6D-4D12C8BB1A66}"/>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separation principle, alert lifecycle, human-in-the-loop design and the delivery to production.</a:t>
            </a:r>
            <a:endParaRPr sz="920"/>
          </a:p>
        </p:txBody>
      </p:sp>
      <p:sp>
        <p:nvSpPr>
          <p:cNvPr id="16" name="Shape 14">
            <a:extLst xmlns:a="http://schemas.openxmlformats.org/drawingml/2006/main">
              <a:ext uri="{FF2B5EF4-FFF2-40B4-BE49-F238E27FC236}">
                <a16:creationId xmlns:a16="http://schemas.microsoft.com/office/drawing/2014/main" id="{2F4F9683-FFEB-4959-9A7C-7ED238798DFF}"/>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B2C4BCA8-5425-4041-B9A7-B9D5FFF2AEBF}"/>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Separation-of-concerns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Four-state alert lifecycle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Review, justification and approval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Group and counterparty association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Noise and actionability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DBA03C4B-5453-432E-959F-FB8628BCA73E}"/>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24E2DD18-760F-4864-90F0-D62ABE3AABE1}"/>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25FD1607-9A01-4DF3-878F-A69617071B88}"/>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94213CC5-467F-47E3-9EBF-DB87E3D112E5}"/>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63A7CAF0-5224-49AD-B1BD-C3E2ED8DAB11}"/>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Alert volume, disposition mix and noise figures illustrate the actionability argument. Directional, not measured.</a:t>
            </a:r>
            <a:endParaRPr sz="920"/>
          </a:p>
        </p:txBody>
      </p:sp>
      <p:sp>
        <p:nvSpPr>
          <p:cNvPr id="23" name="Shape 21">
            <a:extLst xmlns:a="http://schemas.openxmlformats.org/drawingml/2006/main">
              <a:ext uri="{FF2B5EF4-FFF2-40B4-BE49-F238E27FC236}">
                <a16:creationId xmlns:a16="http://schemas.microsoft.com/office/drawing/2014/main" id="{D1618D27-9563-4DC2-AC0C-2C55B592E856}"/>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5C301375-9402-4EE4-B979-BC09FAC3F85C}"/>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Alert volume and disposition mix</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Actionability decomposition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Threshold sensitivity illustration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portfolio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9B4410DE-B8A2-4809-BFAD-DFCF195FF4A7}"/>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F34B012E-0E63-4EA5-84F3-F016292B6918}"/>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2F621CEE-AF2B-4AB5-AFD0-7625CB38C1DD}"/>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7C0CE077-9A51-4F26-BF2D-94381CF104AD}"/>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392E857C-129D-4026-AB24-F4771E84C31E}"/>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An integration and governance pattern, not a risk-methodology or portfolio disclosure.</a:t>
            </a:r>
            <a:endParaRPr sz="920"/>
          </a:p>
        </p:txBody>
      </p:sp>
      <p:sp>
        <p:nvSpPr>
          <p:cNvPr id="30" name="Shape 28">
            <a:extLst xmlns:a="http://schemas.openxmlformats.org/drawingml/2006/main">
              <a:ext uri="{FF2B5EF4-FFF2-40B4-BE49-F238E27FC236}">
                <a16:creationId xmlns:a16="http://schemas.microsoft.com/office/drawing/2014/main" id="{2DB6D864-5F4B-4C4F-B009-472A6563CEE7}"/>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E20268D1-125A-4E4C-98F8-0C2CD4E15F53}"/>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bank's risk model or thresholds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counterparty or exposure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credit or watchlist decision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Model performance or validation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client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Measured portfolio outcomes</a:t>
            </a:r>
            <a:endParaRPr sz="930"/>
          </a:p>
        </p:txBody>
      </p:sp>
      <p:sp>
        <p:nvSpPr>
          <p:cNvPr id="32" name="Shape 30">
            <a:extLst xmlns:a="http://schemas.openxmlformats.org/drawingml/2006/main">
              <a:ext uri="{FF2B5EF4-FFF2-40B4-BE49-F238E27FC236}">
                <a16:creationId xmlns:a16="http://schemas.microsoft.com/office/drawing/2014/main" id="{B1204AE4-2D8C-4559-B7EB-12D26AD93D1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8B6FB0C8-0DA5-4803-B992-1FDBFF9A915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author's design analysis (pattern and models)</a:t>
            </a:r>
            <a:endParaRPr sz="850"/>
          </a:p>
        </p:txBody>
      </p:sp>
      <p:sp>
        <p:nvSpPr>
          <p:cNvPr id="34" name="Text 32">
            <a:extLst xmlns:a="http://schemas.openxmlformats.org/drawingml/2006/main">
              <a:ext uri="{FF2B5EF4-FFF2-40B4-BE49-F238E27FC236}">
                <a16:creationId xmlns:a16="http://schemas.microsoft.com/office/drawing/2014/main" id="{16C5EA1D-74D0-42BC-B1A9-E523662CF55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660632697"/>
      </p:ext>
    </p:extLst>
  </p:cSld>
</p:sld>
</file>

<file path=ppt/slides/slide18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F04DF5-C395-4600-9B18-59C32B04805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PRINCIPLE</a:t>
            </a:r>
            <a:endParaRPr sz="950"/>
          </a:p>
        </p:txBody>
      </p:sp>
      <p:sp>
        <p:nvSpPr>
          <p:cNvPr id="3" name="Text 1">
            <a:extLst xmlns:a="http://schemas.openxmlformats.org/drawingml/2006/main">
              <a:ext uri="{FF2B5EF4-FFF2-40B4-BE49-F238E27FC236}">
                <a16:creationId xmlns:a16="http://schemas.microsoft.com/office/drawing/2014/main" id="{3366BBB8-D233-4221-BD2D-B30CC50A1F8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Two systems, one boundary — and everything that crosses it in the wrong direction</a:t>
            </a:r>
            <a:endParaRPr sz="1900"/>
          </a:p>
          <a:p xmlns:a="http://schemas.openxmlformats.org/drawingml/2006/main">
            <a:pPr marL="0" indent="0">
              <a:lnSpc>
                <a:spcPts val="2400"/>
              </a:lnSpc>
              <a:buNone/>
            </a:pPr>
            <a:r>
              <a:rPr sz="1900" b="1">
                <a:solidFill>
                  <a:srgbClr val="102A43"/>
                </a:solidFill>
                <a:latin typeface="Arial"/>
                <a:ea typeface="Arial"/>
                <a:cs typeface="Arial"/>
              </a:rPr>
              <a:t>is a governance failure disguised as a feature request</a:t>
            </a:r>
            <a:endParaRPr sz="1900"/>
          </a:p>
        </p:txBody>
      </p:sp>
      <p:sp>
        <p:nvSpPr>
          <p:cNvPr id="4" name="Shape 2">
            <a:extLst xmlns:a="http://schemas.openxmlformats.org/drawingml/2006/main">
              <a:ext uri="{FF2B5EF4-FFF2-40B4-BE49-F238E27FC236}">
                <a16:creationId xmlns:a16="http://schemas.microsoft.com/office/drawing/2014/main" id="{45D1BC23-3056-4DDD-B6A4-0688BAF65830}"/>
              </a:ext>
            </a:extLst>
          </p:cNvPr>
          <p:cNvSpPr>
            <a:spLocks xmlns:a="http://schemas.openxmlformats.org/drawingml/2006/main" noGrp="1"/>
          </p:cNvSpPr>
          <p:nvPr/>
        </p:nvSpPr>
        <p:spPr>
          <a:xfrm xmlns:a="http://schemas.openxmlformats.org/drawingml/2006/main">
            <a:off x="566928" y="1335024"/>
            <a:ext cx="5373472" cy="283464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BD1BB794-C073-47A6-82FB-4CE318F1DE26}"/>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THE RISK ENGINE</a:t>
            </a:r>
            <a:endParaRPr sz="840"/>
          </a:p>
        </p:txBody>
      </p:sp>
      <p:sp>
        <p:nvSpPr>
          <p:cNvPr id="6" name="Text 4">
            <a:extLst xmlns:a="http://schemas.openxmlformats.org/drawingml/2006/main">
              <a:ext uri="{FF2B5EF4-FFF2-40B4-BE49-F238E27FC236}">
                <a16:creationId xmlns:a16="http://schemas.microsoft.com/office/drawing/2014/main" id="{3B521585-54D6-47D6-AB52-4DB50473C2E9}"/>
              </a:ext>
            </a:extLst>
          </p:cNvPr>
          <p:cNvSpPr>
            <a:spLocks xmlns:a="http://schemas.openxmlformats.org/drawingml/2006/main" noGrp="1"/>
          </p:cNvSpPr>
          <p:nvPr/>
        </p:nvSpPr>
        <p:spPr>
          <a:xfrm xmlns:a="http://schemas.openxmlformats.org/drawingml/2006/main">
            <a:off x="804672"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Computes the signal</a:t>
            </a:r>
            <a:endParaRPr sz="1500"/>
          </a:p>
        </p:txBody>
      </p:sp>
      <p:sp>
        <p:nvSpPr>
          <p:cNvPr id="7" name="Text 5">
            <a:extLst xmlns:a="http://schemas.openxmlformats.org/drawingml/2006/main">
              <a:ext uri="{FF2B5EF4-FFF2-40B4-BE49-F238E27FC236}">
                <a16:creationId xmlns:a16="http://schemas.microsoft.com/office/drawing/2014/main" id="{D0680859-DD5E-424C-91A2-DDCE881423DE}"/>
              </a:ext>
            </a:extLst>
          </p:cNvPr>
          <p:cNvSpPr>
            <a:spLocks xmlns:a="http://schemas.openxmlformats.org/drawingml/2006/main" noGrp="1"/>
          </p:cNvSpPr>
          <p:nvPr/>
        </p:nvSpPr>
        <p:spPr>
          <a:xfrm xmlns:a="http://schemas.openxmlformats.org/drawingml/2006/main">
            <a:off x="804672" y="2139696"/>
            <a:ext cx="4897984"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Owns the model, its inputs, its thresholds and its calibration</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Owns model validation, performance monitoring and model risk</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Owns the definition of what constitutes a signal at all</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Emits an alert with a subject, a type, a severity and a basis</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Never records what anyone did about it</a:t>
            </a:r>
            <a:endParaRPr sz="980"/>
          </a:p>
        </p:txBody>
      </p:sp>
      <p:sp>
        <p:nvSpPr>
          <p:cNvPr id="8" name="Shape 6">
            <a:extLst xmlns:a="http://schemas.openxmlformats.org/drawingml/2006/main">
              <a:ext uri="{FF2B5EF4-FFF2-40B4-BE49-F238E27FC236}">
                <a16:creationId xmlns:a16="http://schemas.microsoft.com/office/drawing/2014/main" id="{91E1430C-5583-4FE7-9ABF-AC856099D3AB}"/>
              </a:ext>
            </a:extLst>
          </p:cNvPr>
          <p:cNvSpPr>
            <a:spLocks xmlns:a="http://schemas.openxmlformats.org/drawingml/2006/main" noGrp="1"/>
          </p:cNvSpPr>
          <p:nvPr/>
        </p:nvSpPr>
        <p:spPr>
          <a:xfrm xmlns:a="http://schemas.openxmlformats.org/drawingml/2006/main">
            <a:off x="6251296" y="1335024"/>
            <a:ext cx="5373472" cy="283464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F01092AC-4B3D-43C4-882E-CEF2917B8716}"/>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THE RELATIONSHIP PLATFORM</a:t>
            </a:r>
            <a:endParaRPr sz="840"/>
          </a:p>
        </p:txBody>
      </p:sp>
      <p:sp>
        <p:nvSpPr>
          <p:cNvPr id="10" name="Text 8">
            <a:extLst xmlns:a="http://schemas.openxmlformats.org/drawingml/2006/main">
              <a:ext uri="{FF2B5EF4-FFF2-40B4-BE49-F238E27FC236}">
                <a16:creationId xmlns:a16="http://schemas.microsoft.com/office/drawing/2014/main" id="{2B524279-AEEB-4E2E-A2E9-CBA291B53612}"/>
              </a:ext>
            </a:extLst>
          </p:cNvPr>
          <p:cNvSpPr>
            <a:spLocks xmlns:a="http://schemas.openxmlformats.org/drawingml/2006/main" noGrp="1"/>
          </p:cNvSpPr>
          <p:nvPr/>
        </p:nvSpPr>
        <p:spPr>
          <a:xfrm xmlns:a="http://schemas.openxmlformats.org/drawingml/2006/main">
            <a:off x="6489040"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Governs the response</a:t>
            </a:r>
            <a:endParaRPr sz="1500"/>
          </a:p>
        </p:txBody>
      </p:sp>
      <p:sp>
        <p:nvSpPr>
          <p:cNvPr id="11" name="Text 9">
            <a:extLst xmlns:a="http://schemas.openxmlformats.org/drawingml/2006/main">
              <a:ext uri="{FF2B5EF4-FFF2-40B4-BE49-F238E27FC236}">
                <a16:creationId xmlns:a16="http://schemas.microsoft.com/office/drawing/2014/main" id="{38140FDC-02E7-4E24-A1AD-0CBBBEE10735}"/>
              </a:ext>
            </a:extLst>
          </p:cNvPr>
          <p:cNvSpPr>
            <a:spLocks xmlns:a="http://schemas.openxmlformats.org/drawingml/2006/main" noGrp="1"/>
          </p:cNvSpPr>
          <p:nvPr/>
        </p:nvSpPr>
        <p:spPr>
          <a:xfrm xmlns:a="http://schemas.openxmlformats.org/drawingml/2006/main">
            <a:off x="6489040" y="2139696"/>
            <a:ext cx="4897984"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Associates the alert to the counterparty, the group and the relationship manager</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Presents it in the context of everything else known about that relationship</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Requires a human review, a stated basis and an approval before closure</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Owns the complete record of what was decided, by whom, and why</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Never recalculates, re-scores or overrides the signal</a:t>
            </a:r>
            <a:endParaRPr sz="980"/>
          </a:p>
        </p:txBody>
      </p:sp>
      <p:sp>
        <p:nvSpPr>
          <p:cNvPr id="12" name="Text 10">
            <a:extLst xmlns:a="http://schemas.openxmlformats.org/drawingml/2006/main">
              <a:ext uri="{FF2B5EF4-FFF2-40B4-BE49-F238E27FC236}">
                <a16:creationId xmlns:a16="http://schemas.microsoft.com/office/drawing/2014/main" id="{0AB7462B-F6F2-43FB-AAC1-77178FD84858}"/>
              </a:ext>
            </a:extLst>
          </p:cNvPr>
          <p:cNvSpPr>
            <a:spLocks xmlns:a="http://schemas.openxmlformats.org/drawingml/2006/main" noGrp="1"/>
          </p:cNvSpPr>
          <p:nvPr/>
        </p:nvSpPr>
        <p:spPr>
          <a:xfrm xmlns:a="http://schemas.openxmlformats.org/drawingml/2006/main">
            <a:off x="5922112" y="2542032"/>
            <a:ext cx="3474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ctr">
              <a:lnSpc>
                <a:spcPts val="2000"/>
              </a:lnSpc>
              <a:buNone/>
            </a:pPr>
            <a:r>
              <a:rPr sz="1600">
                <a:solidFill>
                  <a:srgbClr val="B04A25"/>
                </a:solidFill>
                <a:latin typeface="Arial"/>
                <a:ea typeface="Arial"/>
                <a:cs typeface="Arial"/>
              </a:rPr>
              <a:t>▶</a:t>
            </a:r>
            <a:endParaRPr sz="1600"/>
          </a:p>
        </p:txBody>
      </p:sp>
      <p:sp>
        <p:nvSpPr>
          <p:cNvPr id="13" name="Shape 11">
            <a:extLst xmlns:a="http://schemas.openxmlformats.org/drawingml/2006/main">
              <a:ext uri="{FF2B5EF4-FFF2-40B4-BE49-F238E27FC236}">
                <a16:creationId xmlns:a16="http://schemas.microsoft.com/office/drawing/2014/main" id="{2F3EE7C0-0E95-48D2-8111-2A5FA1A921D9}"/>
              </a:ext>
            </a:extLst>
          </p:cNvPr>
          <p:cNvSpPr>
            <a:spLocks xmlns:a="http://schemas.openxmlformats.org/drawingml/2006/main" noGrp="1"/>
          </p:cNvSpPr>
          <p:nvPr/>
        </p:nvSpPr>
        <p:spPr>
          <a:xfrm xmlns:a="http://schemas.openxmlformats.org/drawingml/2006/main">
            <a:off x="566928" y="4425696"/>
            <a:ext cx="11057839" cy="164592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F4452CDD-23A0-4C25-B73D-728DBFE2A38A}"/>
              </a:ext>
            </a:extLst>
          </p:cNvPr>
          <p:cNvSpPr>
            <a:spLocks xmlns:a="http://schemas.openxmlformats.org/drawingml/2006/main" noGrp="1"/>
          </p:cNvSpPr>
          <p:nvPr/>
        </p:nvSpPr>
        <p:spPr>
          <a:xfrm xmlns:a="http://schemas.openxmlformats.org/drawingml/2006/main">
            <a:off x="804672" y="457200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requests that erode the boundary, and the answer to each</a:t>
            </a:r>
            <a:endParaRPr sz="1100"/>
          </a:p>
        </p:txBody>
      </p:sp>
      <p:sp>
        <p:nvSpPr>
          <p:cNvPr id="15" name="Text 13">
            <a:extLst xmlns:a="http://schemas.openxmlformats.org/drawingml/2006/main">
              <a:ext uri="{FF2B5EF4-FFF2-40B4-BE49-F238E27FC236}">
                <a16:creationId xmlns:a16="http://schemas.microsoft.com/office/drawing/2014/main" id="{08F64567-5A51-482E-943C-A0FB1B000DC1}"/>
              </a:ext>
            </a:extLst>
          </p:cNvPr>
          <p:cNvSpPr>
            <a:spLocks xmlns:a="http://schemas.openxmlformats.org/drawingml/2006/main" noGrp="1"/>
          </p:cNvSpPr>
          <p:nvPr/>
        </p:nvSpPr>
        <p:spPr>
          <a:xfrm xmlns:a="http://schemas.openxmlformats.org/drawingml/2006/main">
            <a:off x="804672" y="4828032"/>
            <a:ext cx="10582351"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“Can we suppress this trigger for one portfolio?” — No, but the platform can deprioritise how it is presented, which achieves the operational aim without changing the signal.</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“Can we adjust the threshold here rather than raise a change with the risk team?” — No. A threshold changed outside model governance is model risk with no owner, and it will not appear in any validation.</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“Can the relationship manager mark this as a false positive and have it stop firing?” — The manager can record that judgement, and it should feed back to the risk team as evidence. It must not silently alter future behaviour of the model.</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Every one of these is reasonable, cheap and locally correct. Refusing them consistently is the entire job.</a:t>
            </a:r>
            <a:endParaRPr sz="990"/>
          </a:p>
        </p:txBody>
      </p:sp>
      <p:sp>
        <p:nvSpPr>
          <p:cNvPr id="16" name="Shape 14">
            <a:extLst xmlns:a="http://schemas.openxmlformats.org/drawingml/2006/main">
              <a:ext uri="{FF2B5EF4-FFF2-40B4-BE49-F238E27FC236}">
                <a16:creationId xmlns:a16="http://schemas.microsoft.com/office/drawing/2014/main" id="{440983D6-0DC0-4871-AB2C-CCE796B50FB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7" name="Text 15">
            <a:extLst xmlns:a="http://schemas.openxmlformats.org/drawingml/2006/main">
              <a:ext uri="{FF2B5EF4-FFF2-40B4-BE49-F238E27FC236}">
                <a16:creationId xmlns:a16="http://schemas.microsoft.com/office/drawing/2014/main" id="{B060AF72-59B3-4AC9-AAA9-73068FAFCDF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18" name="Text 16">
            <a:extLst xmlns:a="http://schemas.openxmlformats.org/drawingml/2006/main">
              <a:ext uri="{FF2B5EF4-FFF2-40B4-BE49-F238E27FC236}">
                <a16:creationId xmlns:a16="http://schemas.microsoft.com/office/drawing/2014/main" id="{1F4BDA02-8B3C-4596-8535-54C7B48FD76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297023855"/>
      </p:ext>
    </p:extLst>
  </p:cSld>
</p:sld>
</file>

<file path=ppt/slides/slide18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6F4B48A-6D51-44D7-A0D5-BA168501A44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LIFECYCLE</a:t>
            </a:r>
            <a:endParaRPr sz="950"/>
          </a:p>
        </p:txBody>
      </p:sp>
      <p:sp>
        <p:nvSpPr>
          <p:cNvPr id="3" name="Text 1">
            <a:extLst xmlns:a="http://schemas.openxmlformats.org/drawingml/2006/main">
              <a:ext uri="{FF2B5EF4-FFF2-40B4-BE49-F238E27FC236}">
                <a16:creationId xmlns:a16="http://schemas.microsoft.com/office/drawing/2014/main" id="{84E7C7C0-3A60-4788-A521-6FC6F6339E6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states from arrival to closure — and closure requires three things a human</a:t>
            </a:r>
            <a:endParaRPr sz="1900"/>
          </a:p>
          <a:p xmlns:a="http://schemas.openxmlformats.org/drawingml/2006/main">
            <a:pPr marL="0" indent="0">
              <a:lnSpc>
                <a:spcPts val="2400"/>
              </a:lnSpc>
              <a:buNone/>
            </a:pPr>
            <a:r>
              <a:rPr sz="1900" b="1">
                <a:solidFill>
                  <a:srgbClr val="102A43"/>
                </a:solidFill>
                <a:latin typeface="Arial"/>
                <a:ea typeface="Arial"/>
                <a:cs typeface="Arial"/>
              </a:rPr>
              <a:t>has to supply, none of which the risk engine can produce</a:t>
            </a:r>
            <a:endParaRPr sz="1900"/>
          </a:p>
        </p:txBody>
      </p:sp>
      <p:sp>
        <p:nvSpPr>
          <p:cNvPr id="4" name="Shape 2">
            <a:extLst xmlns:a="http://schemas.openxmlformats.org/drawingml/2006/main">
              <a:ext uri="{FF2B5EF4-FFF2-40B4-BE49-F238E27FC236}">
                <a16:creationId xmlns:a16="http://schemas.microsoft.com/office/drawing/2014/main" id="{33377C30-70C4-4B58-8C0B-D16AEC0F3E81}"/>
              </a:ext>
            </a:extLst>
          </p:cNvPr>
          <p:cNvSpPr>
            <a:spLocks xmlns:a="http://schemas.openxmlformats.org/drawingml/2006/main" noGrp="1"/>
          </p:cNvSpPr>
          <p:nvPr/>
        </p:nvSpPr>
        <p:spPr>
          <a:xfrm xmlns:a="http://schemas.openxmlformats.org/drawingml/2006/main">
            <a:off x="566928" y="1335024"/>
            <a:ext cx="2654732" cy="210312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F7A7B646-78E3-4275-BBA9-37CC9F85F88B}"/>
              </a:ext>
            </a:extLst>
          </p:cNvPr>
          <p:cNvSpPr>
            <a:spLocks xmlns:a="http://schemas.openxmlformats.org/drawingml/2006/main" noGrp="1"/>
          </p:cNvSpPr>
          <p:nvPr/>
        </p:nvSpPr>
        <p:spPr>
          <a:xfrm xmlns:a="http://schemas.openxmlformats.org/drawingml/2006/main">
            <a:off x="749808" y="1481328"/>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1BF927AE-8A6F-4FD5-BC2F-CBAED1BC48A6}"/>
              </a:ext>
            </a:extLst>
          </p:cNvPr>
          <p:cNvSpPr>
            <a:spLocks xmlns:a="http://schemas.openxmlformats.org/drawingml/2006/main" noGrp="1"/>
          </p:cNvSpPr>
          <p:nvPr/>
        </p:nvSpPr>
        <p:spPr>
          <a:xfrm xmlns:a="http://schemas.openxmlformats.org/drawingml/2006/main">
            <a:off x="749808" y="1700784"/>
            <a:ext cx="22889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Raised</a:t>
            </a:r>
            <a:endParaRPr sz="1300"/>
          </a:p>
        </p:txBody>
      </p:sp>
      <p:sp>
        <p:nvSpPr>
          <p:cNvPr id="7" name="Text 5">
            <a:extLst xmlns:a="http://schemas.openxmlformats.org/drawingml/2006/main">
              <a:ext uri="{FF2B5EF4-FFF2-40B4-BE49-F238E27FC236}">
                <a16:creationId xmlns:a16="http://schemas.microsoft.com/office/drawing/2014/main" id="{5C3B525D-F8AF-4FA3-A630-8B0EB8257099}"/>
              </a:ext>
            </a:extLst>
          </p:cNvPr>
          <p:cNvSpPr>
            <a:spLocks xmlns:a="http://schemas.openxmlformats.org/drawingml/2006/main" noGrp="1"/>
          </p:cNvSpPr>
          <p:nvPr/>
        </p:nvSpPr>
        <p:spPr>
          <a:xfrm xmlns:a="http://schemas.openxmlformats.org/drawingml/2006/main">
            <a:off x="749808" y="2029968"/>
            <a:ext cx="22889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The engine emits an alert with subject, type, severity and basis. The platform associates it to the counterparty, the group and the owning relationship manager.</a:t>
            </a:r>
            <a:endParaRPr sz="930"/>
          </a:p>
        </p:txBody>
      </p:sp>
      <p:sp>
        <p:nvSpPr>
          <p:cNvPr id="8" name="Shape 6">
            <a:extLst xmlns:a="http://schemas.openxmlformats.org/drawingml/2006/main">
              <a:ext uri="{FF2B5EF4-FFF2-40B4-BE49-F238E27FC236}">
                <a16:creationId xmlns:a16="http://schemas.microsoft.com/office/drawing/2014/main" id="{CA8380B0-1C8C-485C-A06B-8A34BC59F65B}"/>
              </a:ext>
            </a:extLst>
          </p:cNvPr>
          <p:cNvSpPr>
            <a:spLocks xmlns:a="http://schemas.openxmlformats.org/drawingml/2006/main" noGrp="1"/>
          </p:cNvSpPr>
          <p:nvPr/>
        </p:nvSpPr>
        <p:spPr>
          <a:xfrm xmlns:a="http://schemas.openxmlformats.org/drawingml/2006/main">
            <a:off x="749808" y="3090672"/>
            <a:ext cx="2288972" cy="13716"/>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E41A2C56-A51C-4E45-855B-084BFEE430D8}"/>
              </a:ext>
            </a:extLst>
          </p:cNvPr>
          <p:cNvSpPr>
            <a:spLocks xmlns:a="http://schemas.openxmlformats.org/drawingml/2006/main" noGrp="1"/>
          </p:cNvSpPr>
          <p:nvPr/>
        </p:nvSpPr>
        <p:spPr>
          <a:xfrm xmlns:a="http://schemas.openxmlformats.org/drawingml/2006/main">
            <a:off x="749808" y="3200400"/>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i="1">
                <a:solidFill>
                  <a:srgbClr val="486581"/>
                </a:solidFill>
                <a:latin typeface="Arial"/>
                <a:ea typeface="Arial"/>
                <a:cs typeface="Arial"/>
              </a:rPr>
              <a:t>System</a:t>
            </a:r>
            <a:endParaRPr sz="920"/>
          </a:p>
        </p:txBody>
      </p:sp>
      <p:sp>
        <p:nvSpPr>
          <p:cNvPr id="10" name="Shape 8">
            <a:extLst xmlns:a="http://schemas.openxmlformats.org/drawingml/2006/main">
              <a:ext uri="{FF2B5EF4-FFF2-40B4-BE49-F238E27FC236}">
                <a16:creationId xmlns:a16="http://schemas.microsoft.com/office/drawing/2014/main" id="{C4BCD1B6-A40A-42EC-86A1-9A7EAE251941}"/>
              </a:ext>
            </a:extLst>
          </p:cNvPr>
          <p:cNvSpPr>
            <a:spLocks xmlns:a="http://schemas.openxmlformats.org/drawingml/2006/main" noGrp="1"/>
          </p:cNvSpPr>
          <p:nvPr/>
        </p:nvSpPr>
        <p:spPr>
          <a:xfrm xmlns:a="http://schemas.openxmlformats.org/drawingml/2006/main">
            <a:off x="3367964" y="1335024"/>
            <a:ext cx="2654732" cy="2103120"/>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6209B40C-29B9-44AA-B309-CE8A90A86D4F}"/>
              </a:ext>
            </a:extLst>
          </p:cNvPr>
          <p:cNvSpPr>
            <a:spLocks xmlns:a="http://schemas.openxmlformats.org/drawingml/2006/main" noGrp="1"/>
          </p:cNvSpPr>
          <p:nvPr/>
        </p:nvSpPr>
        <p:spPr>
          <a:xfrm xmlns:a="http://schemas.openxmlformats.org/drawingml/2006/main">
            <a:off x="3550844" y="1481328"/>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2" name="Text 10">
            <a:extLst xmlns:a="http://schemas.openxmlformats.org/drawingml/2006/main">
              <a:ext uri="{FF2B5EF4-FFF2-40B4-BE49-F238E27FC236}">
                <a16:creationId xmlns:a16="http://schemas.microsoft.com/office/drawing/2014/main" id="{A6A0A614-9C36-42C3-A365-41E68D91719C}"/>
              </a:ext>
            </a:extLst>
          </p:cNvPr>
          <p:cNvSpPr>
            <a:spLocks xmlns:a="http://schemas.openxmlformats.org/drawingml/2006/main" noGrp="1"/>
          </p:cNvSpPr>
          <p:nvPr/>
        </p:nvSpPr>
        <p:spPr>
          <a:xfrm xmlns:a="http://schemas.openxmlformats.org/drawingml/2006/main">
            <a:off x="3550844" y="1700784"/>
            <a:ext cx="22889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Under review</a:t>
            </a:r>
            <a:endParaRPr sz="1300"/>
          </a:p>
        </p:txBody>
      </p:sp>
      <p:sp>
        <p:nvSpPr>
          <p:cNvPr id="13" name="Text 11">
            <a:extLst xmlns:a="http://schemas.openxmlformats.org/drawingml/2006/main">
              <a:ext uri="{FF2B5EF4-FFF2-40B4-BE49-F238E27FC236}">
                <a16:creationId xmlns:a16="http://schemas.microsoft.com/office/drawing/2014/main" id="{3056A7D1-7871-4EF5-A430-C7D40F148F37}"/>
              </a:ext>
            </a:extLst>
          </p:cNvPr>
          <p:cNvSpPr>
            <a:spLocks xmlns:a="http://schemas.openxmlformats.org/drawingml/2006/main" noGrp="1"/>
          </p:cNvSpPr>
          <p:nvPr/>
        </p:nvSpPr>
        <p:spPr>
          <a:xfrm xmlns:a="http://schemas.openxmlformats.org/drawingml/2006/main">
            <a:off x="3550844" y="2029968"/>
            <a:ext cx="22889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Presented in relationship context alongside exposure, history, recent activity and any related alerts on the same group. A review clock starts.</a:t>
            </a:r>
            <a:endParaRPr sz="930"/>
          </a:p>
        </p:txBody>
      </p:sp>
      <p:sp>
        <p:nvSpPr>
          <p:cNvPr id="14" name="Shape 12">
            <a:extLst xmlns:a="http://schemas.openxmlformats.org/drawingml/2006/main">
              <a:ext uri="{FF2B5EF4-FFF2-40B4-BE49-F238E27FC236}">
                <a16:creationId xmlns:a16="http://schemas.microsoft.com/office/drawing/2014/main" id="{9F29E23C-176B-4F22-B704-D1E285C41B4C}"/>
              </a:ext>
            </a:extLst>
          </p:cNvPr>
          <p:cNvSpPr>
            <a:spLocks xmlns:a="http://schemas.openxmlformats.org/drawingml/2006/main" noGrp="1"/>
          </p:cNvSpPr>
          <p:nvPr/>
        </p:nvSpPr>
        <p:spPr>
          <a:xfrm xmlns:a="http://schemas.openxmlformats.org/drawingml/2006/main">
            <a:off x="3550844" y="3090672"/>
            <a:ext cx="2288972" cy="13716"/>
          </a:xfrm>
          <a:prstGeom xmlns:a="http://schemas.openxmlformats.org/drawingml/2006/main" prst="rect">
            <a:avLst/>
          </a:prstGeom>
          <a:solidFill xmlns:a="http://schemas.openxmlformats.org/drawingml/2006/main">
            <a:srgbClr val="C6D2DE"/>
          </a:solidFill>
        </p:spPr>
      </p:sp>
      <p:sp>
        <p:nvSpPr>
          <p:cNvPr id="15" name="Text 13">
            <a:extLst xmlns:a="http://schemas.openxmlformats.org/drawingml/2006/main">
              <a:ext uri="{FF2B5EF4-FFF2-40B4-BE49-F238E27FC236}">
                <a16:creationId xmlns:a16="http://schemas.microsoft.com/office/drawing/2014/main" id="{43B850CA-8CA0-4017-AA19-795B7DD0F5A5}"/>
              </a:ext>
            </a:extLst>
          </p:cNvPr>
          <p:cNvSpPr>
            <a:spLocks xmlns:a="http://schemas.openxmlformats.org/drawingml/2006/main" noGrp="1"/>
          </p:cNvSpPr>
          <p:nvPr/>
        </p:nvSpPr>
        <p:spPr>
          <a:xfrm xmlns:a="http://schemas.openxmlformats.org/drawingml/2006/main">
            <a:off x="3550844" y="3200400"/>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i="1">
                <a:solidFill>
                  <a:srgbClr val="486581"/>
                </a:solidFill>
                <a:latin typeface="Arial"/>
                <a:ea typeface="Arial"/>
                <a:cs typeface="Arial"/>
              </a:rPr>
              <a:t>Relationship manager</a:t>
            </a:r>
            <a:endParaRPr sz="920"/>
          </a:p>
        </p:txBody>
      </p:sp>
      <p:sp>
        <p:nvSpPr>
          <p:cNvPr id="16" name="Shape 14">
            <a:extLst xmlns:a="http://schemas.openxmlformats.org/drawingml/2006/main">
              <a:ext uri="{FF2B5EF4-FFF2-40B4-BE49-F238E27FC236}">
                <a16:creationId xmlns:a16="http://schemas.microsoft.com/office/drawing/2014/main" id="{C5D3D0AF-8D15-410B-ADF9-6D97C82790EE}"/>
              </a:ext>
            </a:extLst>
          </p:cNvPr>
          <p:cNvSpPr>
            <a:spLocks xmlns:a="http://schemas.openxmlformats.org/drawingml/2006/main" noGrp="1"/>
          </p:cNvSpPr>
          <p:nvPr/>
        </p:nvSpPr>
        <p:spPr>
          <a:xfrm xmlns:a="http://schemas.openxmlformats.org/drawingml/2006/main">
            <a:off x="6169000" y="1335024"/>
            <a:ext cx="2654732" cy="2103120"/>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A58C3BE2-9FC5-4F63-A64F-63FD4E67C343}"/>
              </a:ext>
            </a:extLst>
          </p:cNvPr>
          <p:cNvSpPr>
            <a:spLocks xmlns:a="http://schemas.openxmlformats.org/drawingml/2006/main" noGrp="1"/>
          </p:cNvSpPr>
          <p:nvPr/>
        </p:nvSpPr>
        <p:spPr>
          <a:xfrm xmlns:a="http://schemas.openxmlformats.org/drawingml/2006/main">
            <a:off x="6351880" y="1481328"/>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03</a:t>
            </a:r>
            <a:endParaRPr sz="840"/>
          </a:p>
        </p:txBody>
      </p:sp>
      <p:sp>
        <p:nvSpPr>
          <p:cNvPr id="18" name="Text 16">
            <a:extLst xmlns:a="http://schemas.openxmlformats.org/drawingml/2006/main">
              <a:ext uri="{FF2B5EF4-FFF2-40B4-BE49-F238E27FC236}">
                <a16:creationId xmlns:a16="http://schemas.microsoft.com/office/drawing/2014/main" id="{708289E0-3525-4790-90A0-4F134DCE363B}"/>
              </a:ext>
            </a:extLst>
          </p:cNvPr>
          <p:cNvSpPr>
            <a:spLocks xmlns:a="http://schemas.openxmlformats.org/drawingml/2006/main" noGrp="1"/>
          </p:cNvSpPr>
          <p:nvPr/>
        </p:nvSpPr>
        <p:spPr>
          <a:xfrm xmlns:a="http://schemas.openxmlformats.org/drawingml/2006/main">
            <a:off x="6351880" y="1700784"/>
            <a:ext cx="22889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Assessed</a:t>
            </a:r>
            <a:endParaRPr sz="1300"/>
          </a:p>
        </p:txBody>
      </p:sp>
      <p:sp>
        <p:nvSpPr>
          <p:cNvPr id="19" name="Text 17">
            <a:extLst xmlns:a="http://schemas.openxmlformats.org/drawingml/2006/main">
              <a:ext uri="{FF2B5EF4-FFF2-40B4-BE49-F238E27FC236}">
                <a16:creationId xmlns:a16="http://schemas.microsoft.com/office/drawing/2014/main" id="{62C13F9C-4E6E-44AA-90F3-AEAFE367D064}"/>
              </a:ext>
            </a:extLst>
          </p:cNvPr>
          <p:cNvSpPr>
            <a:spLocks xmlns:a="http://schemas.openxmlformats.org/drawingml/2006/main" noGrp="1"/>
          </p:cNvSpPr>
          <p:nvPr/>
        </p:nvSpPr>
        <p:spPr>
          <a:xfrm xmlns:a="http://schemas.openxmlformats.org/drawingml/2006/main">
            <a:off x="6351880" y="2029968"/>
            <a:ext cx="22889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The reviewer records a judgement, a stated basis for it, and an action — escalate, monitor, remediate, or assess as not material.</a:t>
            </a:r>
            <a:endParaRPr sz="930"/>
          </a:p>
        </p:txBody>
      </p:sp>
      <p:sp>
        <p:nvSpPr>
          <p:cNvPr id="20" name="Shape 18">
            <a:extLst xmlns:a="http://schemas.openxmlformats.org/drawingml/2006/main">
              <a:ext uri="{FF2B5EF4-FFF2-40B4-BE49-F238E27FC236}">
                <a16:creationId xmlns:a16="http://schemas.microsoft.com/office/drawing/2014/main" id="{6139688E-1EE4-4AE9-9450-89C1C05CA7D0}"/>
              </a:ext>
            </a:extLst>
          </p:cNvPr>
          <p:cNvSpPr>
            <a:spLocks xmlns:a="http://schemas.openxmlformats.org/drawingml/2006/main" noGrp="1"/>
          </p:cNvSpPr>
          <p:nvPr/>
        </p:nvSpPr>
        <p:spPr>
          <a:xfrm xmlns:a="http://schemas.openxmlformats.org/drawingml/2006/main">
            <a:off x="6351880" y="3090672"/>
            <a:ext cx="2288972" cy="13716"/>
          </a:xfrm>
          <a:prstGeom xmlns:a="http://schemas.openxmlformats.org/drawingml/2006/main" prst="rect">
            <a:avLst/>
          </a:prstGeom>
          <a:solidFill xmlns:a="http://schemas.openxmlformats.org/drawingml/2006/main">
            <a:srgbClr val="C6D2DE"/>
          </a:solidFill>
        </p:spPr>
      </p:sp>
      <p:sp>
        <p:nvSpPr>
          <p:cNvPr id="21" name="Text 19">
            <a:extLst xmlns:a="http://schemas.openxmlformats.org/drawingml/2006/main">
              <a:ext uri="{FF2B5EF4-FFF2-40B4-BE49-F238E27FC236}">
                <a16:creationId xmlns:a16="http://schemas.microsoft.com/office/drawing/2014/main" id="{3CD7B05F-03C4-43F3-A7C7-6AC712E7B33E}"/>
              </a:ext>
            </a:extLst>
          </p:cNvPr>
          <p:cNvSpPr>
            <a:spLocks xmlns:a="http://schemas.openxmlformats.org/drawingml/2006/main" noGrp="1"/>
          </p:cNvSpPr>
          <p:nvPr/>
        </p:nvSpPr>
        <p:spPr>
          <a:xfrm xmlns:a="http://schemas.openxmlformats.org/drawingml/2006/main">
            <a:off x="6351880" y="3200400"/>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i="1">
                <a:solidFill>
                  <a:srgbClr val="B04A25"/>
                </a:solidFill>
                <a:latin typeface="Arial"/>
                <a:ea typeface="Arial"/>
                <a:cs typeface="Arial"/>
              </a:rPr>
              <a:t>Relationship manager</a:t>
            </a:r>
            <a:endParaRPr sz="920"/>
          </a:p>
        </p:txBody>
      </p:sp>
      <p:sp>
        <p:nvSpPr>
          <p:cNvPr id="22" name="Shape 20">
            <a:extLst xmlns:a="http://schemas.openxmlformats.org/drawingml/2006/main">
              <a:ext uri="{FF2B5EF4-FFF2-40B4-BE49-F238E27FC236}">
                <a16:creationId xmlns:a16="http://schemas.microsoft.com/office/drawing/2014/main" id="{60083F5C-A560-4804-8062-9711DB3CFB15}"/>
              </a:ext>
            </a:extLst>
          </p:cNvPr>
          <p:cNvSpPr>
            <a:spLocks xmlns:a="http://schemas.openxmlformats.org/drawingml/2006/main" noGrp="1"/>
          </p:cNvSpPr>
          <p:nvPr/>
        </p:nvSpPr>
        <p:spPr>
          <a:xfrm xmlns:a="http://schemas.openxmlformats.org/drawingml/2006/main">
            <a:off x="8970035" y="1335024"/>
            <a:ext cx="2654732" cy="2103120"/>
          </a:xfrm>
          <a:prstGeom xmlns:a="http://schemas.openxmlformats.org/drawingml/2006/main" prst="rect">
            <a:avLst/>
          </a:prstGeom>
          <a:solidFill xmlns:a="http://schemas.openxmlformats.org/drawingml/2006/main">
            <a:srgbClr val="F3E6E0"/>
          </a:solidFill>
        </p:spPr>
      </p:sp>
      <p:sp>
        <p:nvSpPr>
          <p:cNvPr id="23" name="Text 21">
            <a:extLst xmlns:a="http://schemas.openxmlformats.org/drawingml/2006/main">
              <a:ext uri="{FF2B5EF4-FFF2-40B4-BE49-F238E27FC236}">
                <a16:creationId xmlns:a16="http://schemas.microsoft.com/office/drawing/2014/main" id="{66D245C6-E0AF-44E8-A0D1-9FF3275FB53C}"/>
              </a:ext>
            </a:extLst>
          </p:cNvPr>
          <p:cNvSpPr>
            <a:spLocks xmlns:a="http://schemas.openxmlformats.org/drawingml/2006/main" noGrp="1"/>
          </p:cNvSpPr>
          <p:nvPr/>
        </p:nvSpPr>
        <p:spPr>
          <a:xfrm xmlns:a="http://schemas.openxmlformats.org/drawingml/2006/main">
            <a:off x="9152915" y="1481328"/>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04</a:t>
            </a:r>
            <a:endParaRPr sz="840"/>
          </a:p>
        </p:txBody>
      </p:sp>
      <p:sp>
        <p:nvSpPr>
          <p:cNvPr id="24" name="Text 22">
            <a:extLst xmlns:a="http://schemas.openxmlformats.org/drawingml/2006/main">
              <a:ext uri="{FF2B5EF4-FFF2-40B4-BE49-F238E27FC236}">
                <a16:creationId xmlns:a16="http://schemas.microsoft.com/office/drawing/2014/main" id="{B296CBAD-5D64-4703-8191-2C938298D00D}"/>
              </a:ext>
            </a:extLst>
          </p:cNvPr>
          <p:cNvSpPr>
            <a:spLocks xmlns:a="http://schemas.openxmlformats.org/drawingml/2006/main" noGrp="1"/>
          </p:cNvSpPr>
          <p:nvPr/>
        </p:nvSpPr>
        <p:spPr>
          <a:xfrm xmlns:a="http://schemas.openxmlformats.org/drawingml/2006/main">
            <a:off x="9152915" y="1700784"/>
            <a:ext cx="228897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Closed</a:t>
            </a:r>
            <a:endParaRPr sz="1300"/>
          </a:p>
        </p:txBody>
      </p:sp>
      <p:sp>
        <p:nvSpPr>
          <p:cNvPr id="25" name="Text 23">
            <a:extLst xmlns:a="http://schemas.openxmlformats.org/drawingml/2006/main">
              <a:ext uri="{FF2B5EF4-FFF2-40B4-BE49-F238E27FC236}">
                <a16:creationId xmlns:a16="http://schemas.microsoft.com/office/drawing/2014/main" id="{4896A0D8-98B7-4DEA-A093-22E1CCD10EF9}"/>
              </a:ext>
            </a:extLst>
          </p:cNvPr>
          <p:cNvSpPr>
            <a:spLocks xmlns:a="http://schemas.openxmlformats.org/drawingml/2006/main" noGrp="1"/>
          </p:cNvSpPr>
          <p:nvPr/>
        </p:nvSpPr>
        <p:spPr>
          <a:xfrm xmlns:a="http://schemas.openxmlformats.org/drawingml/2006/main">
            <a:off x="9152915" y="2029968"/>
            <a:ext cx="2288972"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An authorised approver confirms the assessment. Closure without approval is not available, and the complete record is retained against the counterparty.</a:t>
            </a:r>
            <a:endParaRPr sz="930"/>
          </a:p>
        </p:txBody>
      </p:sp>
      <p:sp>
        <p:nvSpPr>
          <p:cNvPr id="26" name="Shape 24">
            <a:extLst xmlns:a="http://schemas.openxmlformats.org/drawingml/2006/main">
              <a:ext uri="{FF2B5EF4-FFF2-40B4-BE49-F238E27FC236}">
                <a16:creationId xmlns:a16="http://schemas.microsoft.com/office/drawing/2014/main" id="{BFCF430B-5E83-4CDA-BE75-2304686DFA04}"/>
              </a:ext>
            </a:extLst>
          </p:cNvPr>
          <p:cNvSpPr>
            <a:spLocks xmlns:a="http://schemas.openxmlformats.org/drawingml/2006/main" noGrp="1"/>
          </p:cNvSpPr>
          <p:nvPr/>
        </p:nvSpPr>
        <p:spPr>
          <a:xfrm xmlns:a="http://schemas.openxmlformats.org/drawingml/2006/main">
            <a:off x="9152915" y="3090672"/>
            <a:ext cx="2288972" cy="13716"/>
          </a:xfrm>
          <a:prstGeom xmlns:a="http://schemas.openxmlformats.org/drawingml/2006/main" prst="rect">
            <a:avLst/>
          </a:prstGeom>
          <a:solidFill xmlns:a="http://schemas.openxmlformats.org/drawingml/2006/main">
            <a:srgbClr val="C6D2DE"/>
          </a:solidFill>
        </p:spPr>
      </p:sp>
      <p:sp>
        <p:nvSpPr>
          <p:cNvPr id="27" name="Text 25">
            <a:extLst xmlns:a="http://schemas.openxmlformats.org/drawingml/2006/main">
              <a:ext uri="{FF2B5EF4-FFF2-40B4-BE49-F238E27FC236}">
                <a16:creationId xmlns:a16="http://schemas.microsoft.com/office/drawing/2014/main" id="{75D4D89C-A10C-43B1-9E55-F77DAC24C26A}"/>
              </a:ext>
            </a:extLst>
          </p:cNvPr>
          <p:cNvSpPr>
            <a:spLocks xmlns:a="http://schemas.openxmlformats.org/drawingml/2006/main" noGrp="1"/>
          </p:cNvSpPr>
          <p:nvPr/>
        </p:nvSpPr>
        <p:spPr>
          <a:xfrm xmlns:a="http://schemas.openxmlformats.org/drawingml/2006/main">
            <a:off x="9152915" y="3200400"/>
            <a:ext cx="228897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i="1">
                <a:solidFill>
                  <a:srgbClr val="B04A25"/>
                </a:solidFill>
                <a:latin typeface="Arial"/>
                <a:ea typeface="Arial"/>
                <a:cs typeface="Arial"/>
              </a:rPr>
              <a:t>Approver</a:t>
            </a:r>
            <a:endParaRPr sz="920"/>
          </a:p>
        </p:txBody>
      </p:sp>
      <p:sp>
        <p:nvSpPr>
          <p:cNvPr id="28" name="Text 26">
            <a:extLst xmlns:a="http://schemas.openxmlformats.org/drawingml/2006/main">
              <a:ext uri="{FF2B5EF4-FFF2-40B4-BE49-F238E27FC236}">
                <a16:creationId xmlns:a16="http://schemas.microsoft.com/office/drawing/2014/main" id="{C8A04B22-21D9-4230-B853-43F7876B4B88}"/>
              </a:ext>
            </a:extLst>
          </p:cNvPr>
          <p:cNvSpPr>
            <a:spLocks xmlns:a="http://schemas.openxmlformats.org/drawingml/2006/main" noGrp="1"/>
          </p:cNvSpPr>
          <p:nvPr/>
        </p:nvSpPr>
        <p:spPr>
          <a:xfrm xmlns:a="http://schemas.openxmlformats.org/drawingml/2006/main">
            <a:off x="566928" y="37124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three human inputs</a:t>
            </a:r>
            <a:endParaRPr sz="1100"/>
          </a:p>
        </p:txBody>
      </p:sp>
      <p:sp>
        <p:nvSpPr>
          <p:cNvPr id="29" name="Shape 27">
            <a:extLst xmlns:a="http://schemas.openxmlformats.org/drawingml/2006/main">
              <a:ext uri="{FF2B5EF4-FFF2-40B4-BE49-F238E27FC236}">
                <a16:creationId xmlns:a16="http://schemas.microsoft.com/office/drawing/2014/main" id="{27A720D8-2986-47B9-AC12-BF3A03CD46D4}"/>
              </a:ext>
            </a:extLst>
          </p:cNvPr>
          <p:cNvSpPr>
            <a:spLocks xmlns:a="http://schemas.openxmlformats.org/drawingml/2006/main" noGrp="1"/>
          </p:cNvSpPr>
          <p:nvPr/>
        </p:nvSpPr>
        <p:spPr>
          <a:xfrm xmlns:a="http://schemas.openxmlformats.org/drawingml/2006/main">
            <a:off x="566928" y="3968496"/>
            <a:ext cx="3551834" cy="20117"/>
          </a:xfrm>
          <a:prstGeom xmlns:a="http://schemas.openxmlformats.org/drawingml/2006/main" prst="rect">
            <a:avLst/>
          </a:prstGeom>
          <a:solidFill xmlns:a="http://schemas.openxmlformats.org/drawingml/2006/main">
            <a:srgbClr val="B04A25"/>
          </a:solidFill>
        </p:spPr>
      </p:sp>
      <p:sp>
        <p:nvSpPr>
          <p:cNvPr id="30" name="Text 28">
            <a:extLst xmlns:a="http://schemas.openxmlformats.org/drawingml/2006/main">
              <a:ext uri="{FF2B5EF4-FFF2-40B4-BE49-F238E27FC236}">
                <a16:creationId xmlns:a16="http://schemas.microsoft.com/office/drawing/2014/main" id="{A979A90C-A7D4-400A-A2BF-5A8A799A3049}"/>
              </a:ext>
            </a:extLst>
          </p:cNvPr>
          <p:cNvSpPr>
            <a:spLocks xmlns:a="http://schemas.openxmlformats.org/drawingml/2006/main" noGrp="1"/>
          </p:cNvSpPr>
          <p:nvPr/>
        </p:nvSpPr>
        <p:spPr>
          <a:xfrm xmlns:a="http://schemas.openxmlformats.org/drawingml/2006/main">
            <a:off x="566928" y="409651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judgement — is this material for this counterparty, in this context.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stated basis — the reasoning, which is the part an auditor and a successor both read.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An action — what happens next, with an owner and a date.</a:t>
            </a:r>
            <a:endParaRPr sz="950"/>
          </a:p>
        </p:txBody>
      </p:sp>
      <p:sp>
        <p:nvSpPr>
          <p:cNvPr id="31" name="Text 29">
            <a:extLst xmlns:a="http://schemas.openxmlformats.org/drawingml/2006/main">
              <a:ext uri="{FF2B5EF4-FFF2-40B4-BE49-F238E27FC236}">
                <a16:creationId xmlns:a16="http://schemas.microsoft.com/office/drawing/2014/main" id="{D597964F-E0C8-4C90-A478-35F59C826610}"/>
              </a:ext>
            </a:extLst>
          </p:cNvPr>
          <p:cNvSpPr>
            <a:spLocks xmlns:a="http://schemas.openxmlformats.org/drawingml/2006/main" noGrp="1"/>
          </p:cNvSpPr>
          <p:nvPr/>
        </p:nvSpPr>
        <p:spPr>
          <a:xfrm xmlns:a="http://schemas.openxmlformats.org/drawingml/2006/main">
            <a:off x="4319930" y="37124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closure needs a second person</a:t>
            </a:r>
            <a:endParaRPr sz="1100"/>
          </a:p>
        </p:txBody>
      </p:sp>
      <p:sp>
        <p:nvSpPr>
          <p:cNvPr id="32" name="Shape 30">
            <a:extLst xmlns:a="http://schemas.openxmlformats.org/drawingml/2006/main">
              <a:ext uri="{FF2B5EF4-FFF2-40B4-BE49-F238E27FC236}">
                <a16:creationId xmlns:a16="http://schemas.microsoft.com/office/drawing/2014/main" id="{D0748A10-EA32-4B4D-B4C1-2F9A44B126E1}"/>
              </a:ext>
            </a:extLst>
          </p:cNvPr>
          <p:cNvSpPr>
            <a:spLocks xmlns:a="http://schemas.openxmlformats.org/drawingml/2006/main" noGrp="1"/>
          </p:cNvSpPr>
          <p:nvPr/>
        </p:nvSpPr>
        <p:spPr>
          <a:xfrm xmlns:a="http://schemas.openxmlformats.org/drawingml/2006/main">
            <a:off x="4319930" y="3968496"/>
            <a:ext cx="3551834" cy="20117"/>
          </a:xfrm>
          <a:prstGeom xmlns:a="http://schemas.openxmlformats.org/drawingml/2006/main" prst="rect">
            <a:avLst/>
          </a:prstGeom>
          <a:solidFill xmlns:a="http://schemas.openxmlformats.org/drawingml/2006/main">
            <a:srgbClr val="102A43"/>
          </a:solidFill>
        </p:spPr>
      </p:sp>
      <p:sp>
        <p:nvSpPr>
          <p:cNvPr id="33" name="Text 31">
            <a:extLst xmlns:a="http://schemas.openxmlformats.org/drawingml/2006/main">
              <a:ext uri="{FF2B5EF4-FFF2-40B4-BE49-F238E27FC236}">
                <a16:creationId xmlns:a16="http://schemas.microsoft.com/office/drawing/2014/main" id="{CC3A5D28-74B0-43B5-A7DA-ACBB5CCBC061}"/>
              </a:ext>
            </a:extLst>
          </p:cNvPr>
          <p:cNvSpPr>
            <a:spLocks xmlns:a="http://schemas.openxmlformats.org/drawingml/2006/main" noGrp="1"/>
          </p:cNvSpPr>
          <p:nvPr/>
        </p:nvSpPr>
        <p:spPr>
          <a:xfrm xmlns:a="http://schemas.openxmlformats.org/drawingml/2006/main">
            <a:off x="4319930" y="409651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An alert closed by the relationship manager who owns the relationship is a self-assessment.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Approval by a separate authority is what makes the closure a control rather than an administrative act.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It also creates the sampling population an internal audit function actually needs.</a:t>
            </a:r>
            <a:endParaRPr sz="950"/>
          </a:p>
        </p:txBody>
      </p:sp>
      <p:sp>
        <p:nvSpPr>
          <p:cNvPr id="34" name="Text 32">
            <a:extLst xmlns:a="http://schemas.openxmlformats.org/drawingml/2006/main">
              <a:ext uri="{FF2B5EF4-FFF2-40B4-BE49-F238E27FC236}">
                <a16:creationId xmlns:a16="http://schemas.microsoft.com/office/drawing/2014/main" id="{D4F3D925-29AF-4408-85BB-48CFDB9F4A71}"/>
              </a:ext>
            </a:extLst>
          </p:cNvPr>
          <p:cNvSpPr>
            <a:spLocks xmlns:a="http://schemas.openxmlformats.org/drawingml/2006/main" noGrp="1"/>
          </p:cNvSpPr>
          <p:nvPr/>
        </p:nvSpPr>
        <p:spPr>
          <a:xfrm xmlns:a="http://schemas.openxmlformats.org/drawingml/2006/main">
            <a:off x="8072933" y="37124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What the design forbids</a:t>
            </a:r>
            <a:endParaRPr sz="1100"/>
          </a:p>
        </p:txBody>
      </p:sp>
      <p:sp>
        <p:nvSpPr>
          <p:cNvPr id="35" name="Shape 33">
            <a:extLst xmlns:a="http://schemas.openxmlformats.org/drawingml/2006/main">
              <a:ext uri="{FF2B5EF4-FFF2-40B4-BE49-F238E27FC236}">
                <a16:creationId xmlns:a16="http://schemas.microsoft.com/office/drawing/2014/main" id="{5BF9B919-D70C-4CB4-A04B-C98C4F23C37F}"/>
              </a:ext>
            </a:extLst>
          </p:cNvPr>
          <p:cNvSpPr>
            <a:spLocks xmlns:a="http://schemas.openxmlformats.org/drawingml/2006/main" noGrp="1"/>
          </p:cNvSpPr>
          <p:nvPr/>
        </p:nvSpPr>
        <p:spPr>
          <a:xfrm xmlns:a="http://schemas.openxmlformats.org/drawingml/2006/main">
            <a:off x="8072933" y="3968496"/>
            <a:ext cx="3551834" cy="20117"/>
          </a:xfrm>
          <a:prstGeom xmlns:a="http://schemas.openxmlformats.org/drawingml/2006/main" prst="rect">
            <a:avLst/>
          </a:prstGeom>
          <a:solidFill xmlns:a="http://schemas.openxmlformats.org/drawingml/2006/main">
            <a:srgbClr val="486581"/>
          </a:solidFill>
        </p:spPr>
      </p:sp>
      <p:sp>
        <p:nvSpPr>
          <p:cNvPr id="36" name="Text 34">
            <a:extLst xmlns:a="http://schemas.openxmlformats.org/drawingml/2006/main">
              <a:ext uri="{FF2B5EF4-FFF2-40B4-BE49-F238E27FC236}">
                <a16:creationId xmlns:a16="http://schemas.microsoft.com/office/drawing/2014/main" id="{62826FE3-8EFA-4BA3-AEC5-F6DDEF43B755}"/>
              </a:ext>
            </a:extLst>
          </p:cNvPr>
          <p:cNvSpPr>
            <a:spLocks xmlns:a="http://schemas.openxmlformats.org/drawingml/2006/main" noGrp="1"/>
          </p:cNvSpPr>
          <p:nvPr/>
        </p:nvSpPr>
        <p:spPr>
          <a:xfrm xmlns:a="http://schemas.openxmlformats.org/drawingml/2006/main">
            <a:off x="8072933" y="4096512"/>
            <a:ext cx="3551834"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Bulk closure. If a hundred alerts can be closed in one action, none of them was reviewed.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Closure without a stated basis, however obvious the case appears.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Auto-expiry. An alert that ages out silently is a control that reports itself as working.</a:t>
            </a:r>
            <a:endParaRPr sz="950"/>
          </a:p>
        </p:txBody>
      </p:sp>
      <p:sp>
        <p:nvSpPr>
          <p:cNvPr id="37" name="Shape 35">
            <a:extLst xmlns:a="http://schemas.openxmlformats.org/drawingml/2006/main">
              <a:ext uri="{FF2B5EF4-FFF2-40B4-BE49-F238E27FC236}">
                <a16:creationId xmlns:a16="http://schemas.microsoft.com/office/drawing/2014/main" id="{9EB1BFC6-A88C-422C-BFE8-B2DB68A145E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8" name="Text 36">
            <a:extLst xmlns:a="http://schemas.openxmlformats.org/drawingml/2006/main">
              <a:ext uri="{FF2B5EF4-FFF2-40B4-BE49-F238E27FC236}">
                <a16:creationId xmlns:a16="http://schemas.microsoft.com/office/drawing/2014/main" id="{62CCA12B-5CC3-41C8-953A-98847AFFDA7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early-warning integration programme · author's design</a:t>
            </a:r>
            <a:endParaRPr sz="850"/>
          </a:p>
        </p:txBody>
      </p:sp>
      <p:sp>
        <p:nvSpPr>
          <p:cNvPr id="39" name="Text 37">
            <a:extLst xmlns:a="http://schemas.openxmlformats.org/drawingml/2006/main">
              <a:ext uri="{FF2B5EF4-FFF2-40B4-BE49-F238E27FC236}">
                <a16:creationId xmlns:a16="http://schemas.microsoft.com/office/drawing/2014/main" id="{DF1F4C42-9DFC-4CF4-9154-C7DC59F40A8F}"/>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465119834"/>
      </p:ext>
    </p:extLst>
  </p:cSld>
</p:sld>
</file>

<file path=ppt/slides/slide18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F76085-B535-4E42-B133-4B93D59FF00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ACTIONABILITY</a:t>
            </a:r>
            <a:endParaRPr sz="950"/>
          </a:p>
        </p:txBody>
      </p:sp>
      <p:sp>
        <p:nvSpPr>
          <p:cNvPr id="3" name="Text 1">
            <a:extLst xmlns:a="http://schemas.openxmlformats.org/drawingml/2006/main">
              <a:ext uri="{FF2B5EF4-FFF2-40B4-BE49-F238E27FC236}">
                <a16:creationId xmlns:a16="http://schemas.microsoft.com/office/drawing/2014/main" id="{BCE0F87E-F737-406C-9E86-9264F12DB0E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An alert nobody acts on is worse than no alert — it consumes attention and it</a:t>
            </a:r>
            <a:endParaRPr sz="1900"/>
          </a:p>
          <a:p xmlns:a="http://schemas.openxmlformats.org/drawingml/2006/main">
            <a:pPr marL="0" indent="0">
              <a:lnSpc>
                <a:spcPts val="2400"/>
              </a:lnSpc>
              <a:buNone/>
            </a:pPr>
            <a:r>
              <a:rPr sz="1900" b="1">
                <a:solidFill>
                  <a:srgbClr val="102A43"/>
                </a:solidFill>
                <a:latin typeface="Arial"/>
                <a:ea typeface="Arial"/>
                <a:cs typeface="Arial"/>
              </a:rPr>
              <a:t>reports the control as operating</a:t>
            </a:r>
            <a:endParaRPr sz="1900"/>
          </a:p>
        </p:txBody>
      </p:sp>
      <p:graphicFrame>
        <p:nvGraphicFramePr>
          <p:cNvPr id="21" name="Chart 0"/>
          <p:cNvGraphicFramePr/>
          <p:nvPr/>
        </p:nvGraphicFramePr>
        <p:xfrm>
          <a:off xmlns:a="http://schemas.openxmlformats.org/drawingml/2006/main" x="566928" y="1426464"/>
          <a:ext xmlns:a="http://schemas.openxmlformats.org/drawingml/2006/main" cx="5852160" cy="2651760"/>
        </p:xfrm>
        <a:graphic xmlns:a="http://schemas.openxmlformats.org/drawingml/2006/main">
          <a:graphicData uri="http://schemas.openxmlformats.org/drawingml/2006/chart">
            <c:chart xmlns:r="http://schemas.openxmlformats.org/officeDocument/2006/relationships" xmlns:c="http://schemas.openxmlformats.org/drawingml/2006/chart" r:id="R4c208ec98d70460a"/>
          </a:graphicData>
        </a:graphic>
      </p:graphicFrame>
      <p:sp>
        <p:nvSpPr>
          <p:cNvPr id="5" name="Text 2">
            <a:extLst xmlns:a="http://schemas.openxmlformats.org/drawingml/2006/main">
              <a:ext uri="{FF2B5EF4-FFF2-40B4-BE49-F238E27FC236}">
                <a16:creationId xmlns:a16="http://schemas.microsoft.com/office/drawing/2014/main" id="{28030DD9-2C7B-47BF-A5B4-8D13D199E442}"/>
              </a:ext>
            </a:extLst>
          </p:cNvPr>
          <p:cNvSpPr>
            <a:spLocks xmlns:a="http://schemas.openxmlformats.org/drawingml/2006/main" noGrp="1"/>
          </p:cNvSpPr>
          <p:nvPr/>
        </p:nvSpPr>
        <p:spPr>
          <a:xfrm xmlns:a="http://schemas.openxmlformats.org/drawingml/2006/main">
            <a:off x="566928" y="4242816"/>
            <a:ext cx="58521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disposition mix — the shape of the problem, not measured portfolio data</a:t>
            </a:r>
            <a:endParaRPr sz="880"/>
          </a:p>
        </p:txBody>
      </p:sp>
      <p:sp>
        <p:nvSpPr>
          <p:cNvPr id="6" name="Text 3">
            <a:extLst xmlns:a="http://schemas.openxmlformats.org/drawingml/2006/main">
              <a:ext uri="{FF2B5EF4-FFF2-40B4-BE49-F238E27FC236}">
                <a16:creationId xmlns:a16="http://schemas.microsoft.com/office/drawing/2014/main" id="{5AB1EAEF-6F97-4AC6-8BDF-D314185ED871}"/>
              </a:ext>
            </a:extLst>
          </p:cNvPr>
          <p:cNvSpPr>
            <a:spLocks xmlns:a="http://schemas.openxmlformats.org/drawingml/2006/main" noGrp="1"/>
          </p:cNvSpPr>
          <p:nvPr/>
        </p:nvSpPr>
        <p:spPr>
          <a:xfrm xmlns:a="http://schemas.openxmlformats.org/drawingml/2006/main">
            <a:off x="6784848" y="1426464"/>
            <a:ext cx="483717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Reading the mix honestly</a:t>
            </a:r>
            <a:endParaRPr sz="1100"/>
          </a:p>
        </p:txBody>
      </p:sp>
      <p:sp>
        <p:nvSpPr>
          <p:cNvPr id="7" name="Shape 4">
            <a:extLst xmlns:a="http://schemas.openxmlformats.org/drawingml/2006/main">
              <a:ext uri="{FF2B5EF4-FFF2-40B4-BE49-F238E27FC236}">
                <a16:creationId xmlns:a16="http://schemas.microsoft.com/office/drawing/2014/main" id="{FFEF9043-3E4E-4AA7-9AF7-5683C557ECBE}"/>
              </a:ext>
            </a:extLst>
          </p:cNvPr>
          <p:cNvSpPr>
            <a:spLocks xmlns:a="http://schemas.openxmlformats.org/drawingml/2006/main" noGrp="1"/>
          </p:cNvSpPr>
          <p:nvPr/>
        </p:nvSpPr>
        <p:spPr>
          <a:xfrm xmlns:a="http://schemas.openxmlformats.org/drawingml/2006/main">
            <a:off x="6784848" y="1682496"/>
            <a:ext cx="483717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A809680E-D843-4258-BE84-8DF65327C9D8}"/>
              </a:ext>
            </a:extLst>
          </p:cNvPr>
          <p:cNvSpPr>
            <a:spLocks xmlns:a="http://schemas.openxmlformats.org/drawingml/2006/main" noGrp="1"/>
          </p:cNvSpPr>
          <p:nvPr/>
        </p:nvSpPr>
        <p:spPr>
          <a:xfrm xmlns:a="http://schemas.openxmlformats.org/drawingml/2006/main">
            <a:off x="6784848" y="1828800"/>
            <a:ext cx="4837176"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 third of alerts are explained by relationship context the risk engine cannot see — a large exposure movement that is a known seasonal pattern, for example.</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Duplicates and data-quality alerts are not risk signals at all; they are integration and master-data problems arriving disguised as risk.</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Only about a third genuinely change what anyone does — and that is not a bad ratio for an early-warning system.</a:t>
            </a:r>
            <a:endParaRPr sz="950"/>
          </a:p>
        </p:txBody>
      </p:sp>
      <p:sp>
        <p:nvSpPr>
          <p:cNvPr id="9" name="Text 6">
            <a:extLst xmlns:a="http://schemas.openxmlformats.org/drawingml/2006/main">
              <a:ext uri="{FF2B5EF4-FFF2-40B4-BE49-F238E27FC236}">
                <a16:creationId xmlns:a16="http://schemas.microsoft.com/office/drawing/2014/main" id="{535928C3-74F6-4DE3-8201-6BAC3A2E70A9}"/>
              </a:ext>
            </a:extLst>
          </p:cNvPr>
          <p:cNvSpPr>
            <a:spLocks xmlns:a="http://schemas.openxmlformats.org/drawingml/2006/main" noGrp="1"/>
          </p:cNvSpPr>
          <p:nvPr/>
        </p:nvSpPr>
        <p:spPr>
          <a:xfrm xmlns:a="http://schemas.openxmlformats.org/drawingml/2006/main">
            <a:off x="6784848" y="3621024"/>
            <a:ext cx="483717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to do with each category</a:t>
            </a:r>
            <a:endParaRPr sz="1100"/>
          </a:p>
        </p:txBody>
      </p:sp>
      <p:sp>
        <p:nvSpPr>
          <p:cNvPr id="10" name="Shape 7">
            <a:extLst xmlns:a="http://schemas.openxmlformats.org/drawingml/2006/main">
              <a:ext uri="{FF2B5EF4-FFF2-40B4-BE49-F238E27FC236}">
                <a16:creationId xmlns:a16="http://schemas.microsoft.com/office/drawing/2014/main" id="{5454E1F5-FFD5-4676-8998-C7762D960C42}"/>
              </a:ext>
            </a:extLst>
          </p:cNvPr>
          <p:cNvSpPr>
            <a:spLocks xmlns:a="http://schemas.openxmlformats.org/drawingml/2006/main" noGrp="1"/>
          </p:cNvSpPr>
          <p:nvPr/>
        </p:nvSpPr>
        <p:spPr>
          <a:xfrm xmlns:a="http://schemas.openxmlformats.org/drawingml/2006/main">
            <a:off x="6784848" y="3877056"/>
            <a:ext cx="4837176" cy="20117"/>
          </a:xfrm>
          <a:prstGeom xmlns:a="http://schemas.openxmlformats.org/drawingml/2006/main" prst="rect">
            <a:avLst/>
          </a:prstGeom>
          <a:solidFill xmlns:a="http://schemas.openxmlformats.org/drawingml/2006/main">
            <a:srgbClr val="B04A25"/>
          </a:solidFill>
        </p:spPr>
      </p:sp>
      <p:sp>
        <p:nvSpPr>
          <p:cNvPr id="11" name="Text 8">
            <a:extLst xmlns:a="http://schemas.openxmlformats.org/drawingml/2006/main">
              <a:ext uri="{FF2B5EF4-FFF2-40B4-BE49-F238E27FC236}">
                <a16:creationId xmlns:a16="http://schemas.microsoft.com/office/drawing/2014/main" id="{C329C24C-7099-47F4-8B25-D92B0679A424}"/>
              </a:ext>
            </a:extLst>
          </p:cNvPr>
          <p:cNvSpPr>
            <a:spLocks xmlns:a="http://schemas.openxmlformats.org/drawingml/2006/main" noGrp="1"/>
          </p:cNvSpPr>
          <p:nvPr/>
        </p:nvSpPr>
        <p:spPr>
          <a:xfrm xmlns:a="http://schemas.openxmlformats.org/drawingml/2006/main">
            <a:off x="6784848" y="4023360"/>
            <a:ext cx="483717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Context-explained alerts: feed the disposition back to the risk team as calibration evidence — never suppress locally.</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Duplicates: fix in the association logic, which is the platform's job and not a model question.</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Data quality: route to master data as a data issue, and stop counting them as risk alerts at all.</a:t>
            </a:r>
            <a:endParaRPr sz="950"/>
          </a:p>
        </p:txBody>
      </p:sp>
      <p:sp>
        <p:nvSpPr>
          <p:cNvPr id="12" name="Shape 9">
            <a:extLst xmlns:a="http://schemas.openxmlformats.org/drawingml/2006/main">
              <a:ext uri="{FF2B5EF4-FFF2-40B4-BE49-F238E27FC236}">
                <a16:creationId xmlns:a16="http://schemas.microsoft.com/office/drawing/2014/main" id="{965B7F43-7160-4F96-AECC-08FE62F4F625}"/>
              </a:ext>
            </a:extLst>
          </p:cNvPr>
          <p:cNvSpPr>
            <a:spLocks xmlns:a="http://schemas.openxmlformats.org/drawingml/2006/main" noGrp="1"/>
          </p:cNvSpPr>
          <p:nvPr/>
        </p:nvSpPr>
        <p:spPr>
          <a:xfrm xmlns:a="http://schemas.openxmlformats.org/drawingml/2006/main">
            <a:off x="566928" y="4736592"/>
            <a:ext cx="11057839" cy="1335024"/>
          </a:xfrm>
          <a:prstGeom xmlns:a="http://schemas.openxmlformats.org/drawingml/2006/main" prst="rect">
            <a:avLst/>
          </a:prstGeom>
          <a:solidFill xmlns:a="http://schemas.openxmlformats.org/drawingml/2006/main">
            <a:srgbClr val="F3E6E0"/>
          </a:solidFill>
        </p:spPr>
      </p:sp>
      <p:sp>
        <p:nvSpPr>
          <p:cNvPr id="13" name="Text 10">
            <a:extLst xmlns:a="http://schemas.openxmlformats.org/drawingml/2006/main">
              <a:ext uri="{FF2B5EF4-FFF2-40B4-BE49-F238E27FC236}">
                <a16:creationId xmlns:a16="http://schemas.microsoft.com/office/drawing/2014/main" id="{170C1D05-3CCE-49C4-8A1B-CCC3089579C1}"/>
              </a:ext>
            </a:extLst>
          </p:cNvPr>
          <p:cNvSpPr>
            <a:spLocks xmlns:a="http://schemas.openxmlformats.org/drawingml/2006/main" noGrp="1"/>
          </p:cNvSpPr>
          <p:nvPr/>
        </p:nvSpPr>
        <p:spPr>
          <a:xfrm xmlns:a="http://schemas.openxmlformats.org/drawingml/2006/main">
            <a:off x="804672" y="4882896"/>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feedback loop that keeps the boundary intact</a:t>
            </a:r>
            <a:endParaRPr sz="1100"/>
          </a:p>
        </p:txBody>
      </p:sp>
      <p:sp>
        <p:nvSpPr>
          <p:cNvPr id="14" name="Text 11">
            <a:extLst xmlns:a="http://schemas.openxmlformats.org/drawingml/2006/main">
              <a:ext uri="{FF2B5EF4-FFF2-40B4-BE49-F238E27FC236}">
                <a16:creationId xmlns:a16="http://schemas.microsoft.com/office/drawing/2014/main" id="{4C054F44-B38A-477E-98C7-1A3F30DF19A6}"/>
              </a:ext>
            </a:extLst>
          </p:cNvPr>
          <p:cNvSpPr>
            <a:spLocks xmlns:a="http://schemas.openxmlformats.org/drawingml/2006/main" noGrp="1"/>
          </p:cNvSpPr>
          <p:nvPr/>
        </p:nvSpPr>
        <p:spPr>
          <a:xfrm xmlns:a="http://schemas.openxmlformats.org/drawingml/2006/main">
            <a:off x="804672" y="5138928"/>
            <a:ext cx="10582351"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Every disposition recorded in the relationship platform is evidence about the model — but it is evidence, not a control input. It goes back to the risk team as structured feedback on a defined cadence, and the risk team decides whether to recalibrate.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loop is what makes the separation sustainable rather than merely principled. Without it, relationship managers watch the same unhelpful alert fire for two years, conclude the system is broken, and start pressing for local suppression — and the boundary erodes for entirely understandable reasons.</a:t>
            </a:r>
            <a:endParaRPr sz="990"/>
          </a:p>
        </p:txBody>
      </p:sp>
      <p:sp>
        <p:nvSpPr>
          <p:cNvPr id="15" name="Shape 12">
            <a:extLst xmlns:a="http://schemas.openxmlformats.org/drawingml/2006/main">
              <a:ext uri="{FF2B5EF4-FFF2-40B4-BE49-F238E27FC236}">
                <a16:creationId xmlns:a16="http://schemas.microsoft.com/office/drawing/2014/main" id="{A4297CD6-08EB-43A5-90BA-1D8817B712B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6" name="Text 13">
            <a:extLst xmlns:a="http://schemas.openxmlformats.org/drawingml/2006/main">
              <a:ext uri="{FF2B5EF4-FFF2-40B4-BE49-F238E27FC236}">
                <a16:creationId xmlns:a16="http://schemas.microsoft.com/office/drawing/2014/main" id="{1081DB20-6CD6-4749-9DF4-512213B3875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 disposition mix is illustrative</a:t>
            </a:r>
            <a:endParaRPr sz="850"/>
          </a:p>
        </p:txBody>
      </p:sp>
      <p:sp>
        <p:nvSpPr>
          <p:cNvPr id="17" name="Text 14">
            <a:extLst xmlns:a="http://schemas.openxmlformats.org/drawingml/2006/main">
              <a:ext uri="{FF2B5EF4-FFF2-40B4-BE49-F238E27FC236}">
                <a16:creationId xmlns:a16="http://schemas.microsoft.com/office/drawing/2014/main" id="{B9563094-9711-4317-B254-881B933D2DB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827118796"/>
      </p:ext>
    </p:extLst>
  </p:cSld>
</p:sld>
</file>

<file path=ppt/slides/slide19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37F049-460C-432F-8CE3-2FD67CF1E3D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INTEGRATION AND EVIDENCE</a:t>
            </a:r>
            <a:endParaRPr sz="950"/>
          </a:p>
        </p:txBody>
      </p:sp>
      <p:sp>
        <p:nvSpPr>
          <p:cNvPr id="3" name="Text 1">
            <a:extLst xmlns:a="http://schemas.openxmlformats.org/drawingml/2006/main">
              <a:ext uri="{FF2B5EF4-FFF2-40B4-BE49-F238E27FC236}">
                <a16:creationId xmlns:a16="http://schemas.microsoft.com/office/drawing/2014/main" id="{9B6C8B34-9171-44CA-A0C9-533F7D10A93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design decisions at the interface — each one either protects the boundary or</a:t>
            </a:r>
            <a:endParaRPr sz="1900"/>
          </a:p>
          <a:p xmlns:a="http://schemas.openxmlformats.org/drawingml/2006/main">
            <a:pPr marL="0" indent="0">
              <a:lnSpc>
                <a:spcPts val="2400"/>
              </a:lnSpc>
              <a:buNone/>
            </a:pPr>
            <a:r>
              <a:rPr sz="1900" b="1">
                <a:solidFill>
                  <a:srgbClr val="102A43"/>
                </a:solidFill>
                <a:latin typeface="Arial"/>
                <a:ea typeface="Arial"/>
                <a:cs typeface="Arial"/>
              </a:rPr>
              <a:t>quietly moves logic across it</a:t>
            </a:r>
            <a:endParaRPr sz="1900"/>
          </a:p>
        </p:txBody>
      </p:sp>
      <p:sp>
        <p:nvSpPr>
          <p:cNvPr id="4" name="Shape 2">
            <a:extLst xmlns:a="http://schemas.openxmlformats.org/drawingml/2006/main">
              <a:ext uri="{FF2B5EF4-FFF2-40B4-BE49-F238E27FC236}">
                <a16:creationId xmlns:a16="http://schemas.microsoft.com/office/drawing/2014/main" id="{CFD5ACD8-144A-4F0B-B8E6-0A556E1A0E5C}"/>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F324815A-35C4-4781-84F8-D1E67209B4E9}"/>
              </a:ext>
            </a:extLst>
          </p:cNvPr>
          <p:cNvSpPr>
            <a:spLocks xmlns:a="http://schemas.openxmlformats.org/drawingml/2006/main" noGrp="1"/>
          </p:cNvSpPr>
          <p:nvPr/>
        </p:nvSpPr>
        <p:spPr>
          <a:xfrm xmlns:a="http://schemas.openxmlformats.org/drawingml/2006/main">
            <a:off x="676656" y="1444752"/>
            <a:ext cx="3255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Decision</a:t>
            </a:r>
            <a:endParaRPr sz="920"/>
          </a:p>
        </p:txBody>
      </p:sp>
      <p:sp>
        <p:nvSpPr>
          <p:cNvPr id="6" name="Text 4">
            <a:extLst xmlns:a="http://schemas.openxmlformats.org/drawingml/2006/main">
              <a:ext uri="{FF2B5EF4-FFF2-40B4-BE49-F238E27FC236}">
                <a16:creationId xmlns:a16="http://schemas.microsoft.com/office/drawing/2014/main" id="{C58F14E6-0F77-449B-98BB-7735ACD060BF}"/>
              </a:ext>
            </a:extLst>
          </p:cNvPr>
          <p:cNvSpPr>
            <a:spLocks xmlns:a="http://schemas.openxmlformats.org/drawingml/2006/main" noGrp="1"/>
          </p:cNvSpPr>
          <p:nvPr/>
        </p:nvSpPr>
        <p:spPr>
          <a:xfrm xmlns:a="http://schemas.openxmlformats.org/drawingml/2006/main">
            <a:off x="4242816" y="1444752"/>
            <a:ext cx="36210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was chosen</a:t>
            </a:r>
            <a:endParaRPr sz="920"/>
          </a:p>
        </p:txBody>
      </p:sp>
      <p:sp>
        <p:nvSpPr>
          <p:cNvPr id="7" name="Text 5">
            <a:extLst xmlns:a="http://schemas.openxmlformats.org/drawingml/2006/main">
              <a:ext uri="{FF2B5EF4-FFF2-40B4-BE49-F238E27FC236}">
                <a16:creationId xmlns:a16="http://schemas.microsoft.com/office/drawing/2014/main" id="{BFDE80CB-3365-40B3-B95D-42FE64B3E751}"/>
              </a:ext>
            </a:extLst>
          </p:cNvPr>
          <p:cNvSpPr>
            <a:spLocks xmlns:a="http://schemas.openxmlformats.org/drawingml/2006/main" noGrp="1"/>
          </p:cNvSpPr>
          <p:nvPr/>
        </p:nvSpPr>
        <p:spPr>
          <a:xfrm xmlns:a="http://schemas.openxmlformats.org/drawingml/2006/main">
            <a:off x="8174736" y="1444752"/>
            <a:ext cx="3337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prevents</a:t>
            </a:r>
            <a:endParaRPr sz="920"/>
          </a:p>
        </p:txBody>
      </p:sp>
      <p:sp>
        <p:nvSpPr>
          <p:cNvPr id="8" name="Text 6">
            <a:extLst xmlns:a="http://schemas.openxmlformats.org/drawingml/2006/main">
              <a:ext uri="{FF2B5EF4-FFF2-40B4-BE49-F238E27FC236}">
                <a16:creationId xmlns:a16="http://schemas.microsoft.com/office/drawing/2014/main" id="{F6777F72-934F-4F94-BE7D-214136C00E59}"/>
              </a:ext>
            </a:extLst>
          </p:cNvPr>
          <p:cNvSpPr>
            <a:spLocks xmlns:a="http://schemas.openxmlformats.org/drawingml/2006/main" noGrp="1"/>
          </p:cNvSpPr>
          <p:nvPr/>
        </p:nvSpPr>
        <p:spPr>
          <a:xfrm xmlns:a="http://schemas.openxmlformats.org/drawingml/2006/main">
            <a:off x="676656" y="188366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Alert payload</a:t>
            </a:r>
            <a:endParaRPr sz="980"/>
          </a:p>
        </p:txBody>
      </p:sp>
      <p:sp>
        <p:nvSpPr>
          <p:cNvPr id="9" name="Text 7">
            <a:extLst xmlns:a="http://schemas.openxmlformats.org/drawingml/2006/main">
              <a:ext uri="{FF2B5EF4-FFF2-40B4-BE49-F238E27FC236}">
                <a16:creationId xmlns:a16="http://schemas.microsoft.com/office/drawing/2014/main" id="{7BCC017E-900F-4032-9CC8-47A3524785E5}"/>
              </a:ext>
            </a:extLst>
          </p:cNvPr>
          <p:cNvSpPr>
            <a:spLocks xmlns:a="http://schemas.openxmlformats.org/drawingml/2006/main" noGrp="1"/>
          </p:cNvSpPr>
          <p:nvPr/>
        </p:nvSpPr>
        <p:spPr>
          <a:xfrm xmlns:a="http://schemas.openxmlformats.org/drawingml/2006/main">
            <a:off x="4242816" y="188366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Subject, type, severity, basis and timestamp — no raw model inputs or intermediate scores</a:t>
            </a:r>
            <a:endParaRPr sz="930"/>
          </a:p>
        </p:txBody>
      </p:sp>
      <p:sp>
        <p:nvSpPr>
          <p:cNvPr id="10" name="Text 8">
            <a:extLst xmlns:a="http://schemas.openxmlformats.org/drawingml/2006/main">
              <a:ext uri="{FF2B5EF4-FFF2-40B4-BE49-F238E27FC236}">
                <a16:creationId xmlns:a16="http://schemas.microsoft.com/office/drawing/2014/main" id="{E502848D-B855-4FFA-9801-F02BBE282C15}"/>
              </a:ext>
            </a:extLst>
          </p:cNvPr>
          <p:cNvSpPr>
            <a:spLocks xmlns:a="http://schemas.openxmlformats.org/drawingml/2006/main" noGrp="1"/>
          </p:cNvSpPr>
          <p:nvPr/>
        </p:nvSpPr>
        <p:spPr>
          <a:xfrm xmlns:a="http://schemas.openxmlformats.org/drawingml/2006/main">
            <a:off x="8174736" y="1883664"/>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The platform accumulating enough data to be tempted into recalculating</a:t>
            </a:r>
            <a:endParaRPr sz="930"/>
          </a:p>
        </p:txBody>
      </p:sp>
      <p:sp>
        <p:nvSpPr>
          <p:cNvPr id="11" name="Shape 9">
            <a:extLst xmlns:a="http://schemas.openxmlformats.org/drawingml/2006/main">
              <a:ext uri="{FF2B5EF4-FFF2-40B4-BE49-F238E27FC236}">
                <a16:creationId xmlns:a16="http://schemas.microsoft.com/office/drawing/2014/main" id="{74355CC2-AD1F-49AE-A2EF-7ED15C610DDD}"/>
              </a:ext>
            </a:extLst>
          </p:cNvPr>
          <p:cNvSpPr>
            <a:spLocks xmlns:a="http://schemas.openxmlformats.org/drawingml/2006/main" noGrp="1"/>
          </p:cNvSpPr>
          <p:nvPr/>
        </p:nvSpPr>
        <p:spPr>
          <a:xfrm xmlns:a="http://schemas.openxmlformats.org/drawingml/2006/main">
            <a:off x="566928" y="2340864"/>
            <a:ext cx="11057839" cy="7315"/>
          </a:xfrm>
          <a:prstGeom xmlns:a="http://schemas.openxmlformats.org/drawingml/2006/main" prst="rect">
            <a:avLst/>
          </a:prstGeom>
          <a:solidFill xmlns:a="http://schemas.openxmlformats.org/drawingml/2006/main">
            <a:srgbClr val="CBD5E0"/>
          </a:solidFill>
        </p:spPr>
      </p:sp>
      <p:sp>
        <p:nvSpPr>
          <p:cNvPr id="12" name="Shape 10">
            <a:extLst xmlns:a="http://schemas.openxmlformats.org/drawingml/2006/main">
              <a:ext uri="{FF2B5EF4-FFF2-40B4-BE49-F238E27FC236}">
                <a16:creationId xmlns:a16="http://schemas.microsoft.com/office/drawing/2014/main" id="{AA79964B-375C-426F-94EA-58511A862B9F}"/>
              </a:ext>
            </a:extLst>
          </p:cNvPr>
          <p:cNvSpPr>
            <a:spLocks xmlns:a="http://schemas.openxmlformats.org/drawingml/2006/main" noGrp="1"/>
          </p:cNvSpPr>
          <p:nvPr/>
        </p:nvSpPr>
        <p:spPr>
          <a:xfrm xmlns:a="http://schemas.openxmlformats.org/drawingml/2006/main">
            <a:off x="566928" y="2340864"/>
            <a:ext cx="11057839" cy="640080"/>
          </a:xfrm>
          <a:prstGeom xmlns:a="http://schemas.openxmlformats.org/drawingml/2006/main" prst="rect">
            <a:avLst/>
          </a:prstGeom>
          <a:solidFill xmlns:a="http://schemas.openxmlformats.org/drawingml/2006/main">
            <a:srgbClr val="F7F9FB"/>
          </a:solidFill>
        </p:spPr>
      </p:sp>
      <p:sp>
        <p:nvSpPr>
          <p:cNvPr id="13" name="Text 11">
            <a:extLst xmlns:a="http://schemas.openxmlformats.org/drawingml/2006/main">
              <a:ext uri="{FF2B5EF4-FFF2-40B4-BE49-F238E27FC236}">
                <a16:creationId xmlns:a16="http://schemas.microsoft.com/office/drawing/2014/main" id="{B7B9F85F-FAAB-410A-B703-9D334A914346}"/>
              </a:ext>
            </a:extLst>
          </p:cNvPr>
          <p:cNvSpPr>
            <a:spLocks xmlns:a="http://schemas.openxmlformats.org/drawingml/2006/main" noGrp="1"/>
          </p:cNvSpPr>
          <p:nvPr/>
        </p:nvSpPr>
        <p:spPr>
          <a:xfrm xmlns:a="http://schemas.openxmlformats.org/drawingml/2006/main">
            <a:off x="676656" y="252374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Association logic</a:t>
            </a:r>
            <a:endParaRPr sz="980"/>
          </a:p>
        </p:txBody>
      </p:sp>
      <p:sp>
        <p:nvSpPr>
          <p:cNvPr id="14" name="Text 12">
            <a:extLst xmlns:a="http://schemas.openxmlformats.org/drawingml/2006/main">
              <a:ext uri="{FF2B5EF4-FFF2-40B4-BE49-F238E27FC236}">
                <a16:creationId xmlns:a16="http://schemas.microsoft.com/office/drawing/2014/main" id="{E92ED562-DD65-4F10-9837-22B479793C3F}"/>
              </a:ext>
            </a:extLst>
          </p:cNvPr>
          <p:cNvSpPr>
            <a:spLocks xmlns:a="http://schemas.openxmlformats.org/drawingml/2006/main" noGrp="1"/>
          </p:cNvSpPr>
          <p:nvPr/>
        </p:nvSpPr>
        <p:spPr>
          <a:xfrm xmlns:a="http://schemas.openxmlformats.org/drawingml/2006/main">
            <a:off x="4242816" y="252374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Counterparty and group resolution owned by the platform, using its own master hierarchy</a:t>
            </a:r>
            <a:endParaRPr sz="930"/>
          </a:p>
        </p:txBody>
      </p:sp>
      <p:sp>
        <p:nvSpPr>
          <p:cNvPr id="15" name="Text 13">
            <a:extLst xmlns:a="http://schemas.openxmlformats.org/drawingml/2006/main">
              <a:ext uri="{FF2B5EF4-FFF2-40B4-BE49-F238E27FC236}">
                <a16:creationId xmlns:a16="http://schemas.microsoft.com/office/drawing/2014/main" id="{4CE80978-5B2D-4531-9FAB-996B572CD4F9}"/>
              </a:ext>
            </a:extLst>
          </p:cNvPr>
          <p:cNvSpPr>
            <a:spLocks xmlns:a="http://schemas.openxmlformats.org/drawingml/2006/main" noGrp="1"/>
          </p:cNvSpPr>
          <p:nvPr/>
        </p:nvSpPr>
        <p:spPr>
          <a:xfrm xmlns:a="http://schemas.openxmlformats.org/drawingml/2006/main">
            <a:off x="8174736" y="2523744"/>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Two systems disagreeing about which entities form a group</a:t>
            </a:r>
            <a:endParaRPr sz="930"/>
          </a:p>
        </p:txBody>
      </p:sp>
      <p:sp>
        <p:nvSpPr>
          <p:cNvPr id="16" name="Shape 14">
            <a:extLst xmlns:a="http://schemas.openxmlformats.org/drawingml/2006/main">
              <a:ext uri="{FF2B5EF4-FFF2-40B4-BE49-F238E27FC236}">
                <a16:creationId xmlns:a16="http://schemas.microsoft.com/office/drawing/2014/main" id="{147A7A4E-D8DA-4647-8A59-B1DEDD4CBA26}"/>
              </a:ext>
            </a:extLst>
          </p:cNvPr>
          <p:cNvSpPr>
            <a:spLocks xmlns:a="http://schemas.openxmlformats.org/drawingml/2006/main" noGrp="1"/>
          </p:cNvSpPr>
          <p:nvPr/>
        </p:nvSpPr>
        <p:spPr>
          <a:xfrm xmlns:a="http://schemas.openxmlformats.org/drawingml/2006/main">
            <a:off x="566928" y="2980944"/>
            <a:ext cx="11057839" cy="7315"/>
          </a:xfrm>
          <a:prstGeom xmlns:a="http://schemas.openxmlformats.org/drawingml/2006/main" prst="rect">
            <a:avLst/>
          </a:prstGeom>
          <a:solidFill xmlns:a="http://schemas.openxmlformats.org/drawingml/2006/main">
            <a:srgbClr val="CBD5E0"/>
          </a:solidFill>
        </p:spPr>
      </p:sp>
      <p:sp>
        <p:nvSpPr>
          <p:cNvPr id="17" name="Text 15">
            <a:extLst xmlns:a="http://schemas.openxmlformats.org/drawingml/2006/main">
              <a:ext uri="{FF2B5EF4-FFF2-40B4-BE49-F238E27FC236}">
                <a16:creationId xmlns:a16="http://schemas.microsoft.com/office/drawing/2014/main" id="{5D63C847-F18E-4F61-A3BF-1EA8CE355A6A}"/>
              </a:ext>
            </a:extLst>
          </p:cNvPr>
          <p:cNvSpPr>
            <a:spLocks xmlns:a="http://schemas.openxmlformats.org/drawingml/2006/main" noGrp="1"/>
          </p:cNvSpPr>
          <p:nvPr/>
        </p:nvSpPr>
        <p:spPr>
          <a:xfrm xmlns:a="http://schemas.openxmlformats.org/drawingml/2006/main">
            <a:off x="676656" y="316382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Severity handling</a:t>
            </a:r>
            <a:endParaRPr sz="980"/>
          </a:p>
        </p:txBody>
      </p:sp>
      <p:sp>
        <p:nvSpPr>
          <p:cNvPr id="18" name="Text 16">
            <a:extLst xmlns:a="http://schemas.openxmlformats.org/drawingml/2006/main">
              <a:ext uri="{FF2B5EF4-FFF2-40B4-BE49-F238E27FC236}">
                <a16:creationId xmlns:a16="http://schemas.microsoft.com/office/drawing/2014/main" id="{2069CD1D-FB6F-4AC0-B15E-95D742FE1DA5}"/>
              </a:ext>
            </a:extLst>
          </p:cNvPr>
          <p:cNvSpPr>
            <a:spLocks xmlns:a="http://schemas.openxmlformats.org/drawingml/2006/main" noGrp="1"/>
          </p:cNvSpPr>
          <p:nvPr/>
        </p:nvSpPr>
        <p:spPr>
          <a:xfrm xmlns:a="http://schemas.openxmlformats.org/drawingml/2006/main">
            <a:off x="4242816" y="316382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Displayed and used for ordering; never recomputed, never locally overridden</a:t>
            </a:r>
            <a:endParaRPr sz="930"/>
          </a:p>
        </p:txBody>
      </p:sp>
      <p:sp>
        <p:nvSpPr>
          <p:cNvPr id="19" name="Text 17">
            <a:extLst xmlns:a="http://schemas.openxmlformats.org/drawingml/2006/main">
              <a:ext uri="{FF2B5EF4-FFF2-40B4-BE49-F238E27FC236}">
                <a16:creationId xmlns:a16="http://schemas.microsoft.com/office/drawing/2014/main" id="{0098258B-F40A-45D2-ABBC-152360860B43}"/>
              </a:ext>
            </a:extLst>
          </p:cNvPr>
          <p:cNvSpPr>
            <a:spLocks xmlns:a="http://schemas.openxmlformats.org/drawingml/2006/main" noGrp="1"/>
          </p:cNvSpPr>
          <p:nvPr/>
        </p:nvSpPr>
        <p:spPr>
          <a:xfrm xmlns:a="http://schemas.openxmlformats.org/drawingml/2006/main">
            <a:off x="8174736" y="3163824"/>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Threshold drift outside model governance</a:t>
            </a:r>
            <a:endParaRPr sz="930"/>
          </a:p>
        </p:txBody>
      </p:sp>
      <p:sp>
        <p:nvSpPr>
          <p:cNvPr id="20" name="Shape 18">
            <a:extLst xmlns:a="http://schemas.openxmlformats.org/drawingml/2006/main">
              <a:ext uri="{FF2B5EF4-FFF2-40B4-BE49-F238E27FC236}">
                <a16:creationId xmlns:a16="http://schemas.microsoft.com/office/drawing/2014/main" id="{C233BDB9-F8E9-485C-898D-4A37641A5D02}"/>
              </a:ext>
            </a:extLst>
          </p:cNvPr>
          <p:cNvSpPr>
            <a:spLocks xmlns:a="http://schemas.openxmlformats.org/drawingml/2006/main" noGrp="1"/>
          </p:cNvSpPr>
          <p:nvPr/>
        </p:nvSpPr>
        <p:spPr>
          <a:xfrm xmlns:a="http://schemas.openxmlformats.org/drawingml/2006/main">
            <a:off x="566928" y="3621024"/>
            <a:ext cx="11057839" cy="7315"/>
          </a:xfrm>
          <a:prstGeom xmlns:a="http://schemas.openxmlformats.org/drawingml/2006/main" prst="rect">
            <a:avLst/>
          </a:prstGeom>
          <a:solidFill xmlns:a="http://schemas.openxmlformats.org/drawingml/2006/main">
            <a:srgbClr val="CBD5E0"/>
          </a:solidFill>
        </p:spPr>
      </p:sp>
      <p:sp>
        <p:nvSpPr>
          <p:cNvPr id="21" name="Shape 19">
            <a:extLst xmlns:a="http://schemas.openxmlformats.org/drawingml/2006/main">
              <a:ext uri="{FF2B5EF4-FFF2-40B4-BE49-F238E27FC236}">
                <a16:creationId xmlns:a16="http://schemas.microsoft.com/office/drawing/2014/main" id="{D9929169-3E78-4238-A32C-C472CF1F29F8}"/>
              </a:ext>
            </a:extLst>
          </p:cNvPr>
          <p:cNvSpPr>
            <a:spLocks xmlns:a="http://schemas.openxmlformats.org/drawingml/2006/main" noGrp="1"/>
          </p:cNvSpPr>
          <p:nvPr/>
        </p:nvSpPr>
        <p:spPr>
          <a:xfrm xmlns:a="http://schemas.openxmlformats.org/drawingml/2006/main">
            <a:off x="566928" y="3621024"/>
            <a:ext cx="11057839" cy="640080"/>
          </a:xfrm>
          <a:prstGeom xmlns:a="http://schemas.openxmlformats.org/drawingml/2006/main" prst="rect">
            <a:avLst/>
          </a:prstGeom>
          <a:solidFill xmlns:a="http://schemas.openxmlformats.org/drawingml/2006/main">
            <a:srgbClr val="F7F9FB"/>
          </a:solidFill>
        </p:spPr>
      </p:sp>
      <p:sp>
        <p:nvSpPr>
          <p:cNvPr id="22" name="Text 20">
            <a:extLst xmlns:a="http://schemas.openxmlformats.org/drawingml/2006/main">
              <a:ext uri="{FF2B5EF4-FFF2-40B4-BE49-F238E27FC236}">
                <a16:creationId xmlns:a16="http://schemas.microsoft.com/office/drawing/2014/main" id="{68623A3B-00DA-4BE1-BD58-07E4059FFA3A}"/>
              </a:ext>
            </a:extLst>
          </p:cNvPr>
          <p:cNvSpPr>
            <a:spLocks xmlns:a="http://schemas.openxmlformats.org/drawingml/2006/main" noGrp="1"/>
          </p:cNvSpPr>
          <p:nvPr/>
        </p:nvSpPr>
        <p:spPr>
          <a:xfrm xmlns:a="http://schemas.openxmlformats.org/drawingml/2006/main">
            <a:off x="676656" y="380390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Suppression</a:t>
            </a:r>
            <a:endParaRPr sz="980"/>
          </a:p>
        </p:txBody>
      </p:sp>
      <p:sp>
        <p:nvSpPr>
          <p:cNvPr id="23" name="Text 21">
            <a:extLst xmlns:a="http://schemas.openxmlformats.org/drawingml/2006/main">
              <a:ext uri="{FF2B5EF4-FFF2-40B4-BE49-F238E27FC236}">
                <a16:creationId xmlns:a16="http://schemas.microsoft.com/office/drawing/2014/main" id="{22D9B40A-BF58-4351-AF71-FB7DAE0EB64C}"/>
              </a:ext>
            </a:extLst>
          </p:cNvPr>
          <p:cNvSpPr>
            <a:spLocks xmlns:a="http://schemas.openxmlformats.org/drawingml/2006/main" noGrp="1"/>
          </p:cNvSpPr>
          <p:nvPr/>
        </p:nvSpPr>
        <p:spPr>
          <a:xfrm xmlns:a="http://schemas.openxmlformats.org/drawingml/2006/main">
            <a:off x="4242816" y="380390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Presentation-layer only, reversible, logged, and visible as suppressed rather than absent</a:t>
            </a:r>
            <a:endParaRPr sz="930"/>
          </a:p>
        </p:txBody>
      </p:sp>
      <p:sp>
        <p:nvSpPr>
          <p:cNvPr id="24" name="Text 22">
            <a:extLst xmlns:a="http://schemas.openxmlformats.org/drawingml/2006/main">
              <a:ext uri="{FF2B5EF4-FFF2-40B4-BE49-F238E27FC236}">
                <a16:creationId xmlns:a16="http://schemas.microsoft.com/office/drawing/2014/main" id="{389E3357-51F3-4DED-81CB-749EE4637EEB}"/>
              </a:ext>
            </a:extLst>
          </p:cNvPr>
          <p:cNvSpPr>
            <a:spLocks xmlns:a="http://schemas.openxmlformats.org/drawingml/2006/main" noGrp="1"/>
          </p:cNvSpPr>
          <p:nvPr/>
        </p:nvSpPr>
        <p:spPr>
          <a:xfrm xmlns:a="http://schemas.openxmlformats.org/drawingml/2006/main">
            <a:off x="8174736" y="3803904"/>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Alerts disappearing with no record that they ever fired</a:t>
            </a:r>
            <a:endParaRPr sz="930"/>
          </a:p>
        </p:txBody>
      </p:sp>
      <p:sp>
        <p:nvSpPr>
          <p:cNvPr id="25" name="Shape 23">
            <a:extLst xmlns:a="http://schemas.openxmlformats.org/drawingml/2006/main">
              <a:ext uri="{FF2B5EF4-FFF2-40B4-BE49-F238E27FC236}">
                <a16:creationId xmlns:a16="http://schemas.microsoft.com/office/drawing/2014/main" id="{A3DDC52D-441A-468E-A195-30EFD9AE91CE}"/>
              </a:ext>
            </a:extLst>
          </p:cNvPr>
          <p:cNvSpPr>
            <a:spLocks xmlns:a="http://schemas.openxmlformats.org/drawingml/2006/main" noGrp="1"/>
          </p:cNvSpPr>
          <p:nvPr/>
        </p:nvSpPr>
        <p:spPr>
          <a:xfrm xmlns:a="http://schemas.openxmlformats.org/drawingml/2006/main">
            <a:off x="566928" y="4261104"/>
            <a:ext cx="11057839" cy="7315"/>
          </a:xfrm>
          <a:prstGeom xmlns:a="http://schemas.openxmlformats.org/drawingml/2006/main" prst="rect">
            <a:avLst/>
          </a:prstGeom>
          <a:solidFill xmlns:a="http://schemas.openxmlformats.org/drawingml/2006/main">
            <a:srgbClr val="CBD5E0"/>
          </a:solidFill>
        </p:spPr>
      </p:sp>
      <p:sp>
        <p:nvSpPr>
          <p:cNvPr id="26" name="Text 24">
            <a:extLst xmlns:a="http://schemas.openxmlformats.org/drawingml/2006/main">
              <a:ext uri="{FF2B5EF4-FFF2-40B4-BE49-F238E27FC236}">
                <a16:creationId xmlns:a16="http://schemas.microsoft.com/office/drawing/2014/main" id="{E12436A2-4C77-4C28-B0DE-DE912717503B}"/>
              </a:ext>
            </a:extLst>
          </p:cNvPr>
          <p:cNvSpPr>
            <a:spLocks xmlns:a="http://schemas.openxmlformats.org/drawingml/2006/main" noGrp="1"/>
          </p:cNvSpPr>
          <p:nvPr/>
        </p:nvSpPr>
        <p:spPr>
          <a:xfrm xmlns:a="http://schemas.openxmlformats.org/drawingml/2006/main">
            <a:off x="676656" y="444398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Disposition feedback</a:t>
            </a:r>
            <a:endParaRPr sz="980"/>
          </a:p>
        </p:txBody>
      </p:sp>
      <p:sp>
        <p:nvSpPr>
          <p:cNvPr id="27" name="Text 25">
            <a:extLst xmlns:a="http://schemas.openxmlformats.org/drawingml/2006/main">
              <a:ext uri="{FF2B5EF4-FFF2-40B4-BE49-F238E27FC236}">
                <a16:creationId xmlns:a16="http://schemas.microsoft.com/office/drawing/2014/main" id="{BEE9015D-8CE0-42EA-B3DA-0AA219FF283F}"/>
              </a:ext>
            </a:extLst>
          </p:cNvPr>
          <p:cNvSpPr>
            <a:spLocks xmlns:a="http://schemas.openxmlformats.org/drawingml/2006/main" noGrp="1"/>
          </p:cNvSpPr>
          <p:nvPr/>
        </p:nvSpPr>
        <p:spPr>
          <a:xfrm xmlns:a="http://schemas.openxmlformats.org/drawingml/2006/main">
            <a:off x="4242816" y="444398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Structured, scheduled, one-way to the risk team as evidence — not a control input</a:t>
            </a:r>
            <a:endParaRPr sz="930"/>
          </a:p>
        </p:txBody>
      </p:sp>
      <p:sp>
        <p:nvSpPr>
          <p:cNvPr id="28" name="Text 26">
            <a:extLst xmlns:a="http://schemas.openxmlformats.org/drawingml/2006/main">
              <a:ext uri="{FF2B5EF4-FFF2-40B4-BE49-F238E27FC236}">
                <a16:creationId xmlns:a16="http://schemas.microsoft.com/office/drawing/2014/main" id="{730FB544-32F6-4A7B-A80C-39806ADA66BC}"/>
              </a:ext>
            </a:extLst>
          </p:cNvPr>
          <p:cNvSpPr>
            <a:spLocks xmlns:a="http://schemas.openxmlformats.org/drawingml/2006/main" noGrp="1"/>
          </p:cNvSpPr>
          <p:nvPr/>
        </p:nvSpPr>
        <p:spPr>
          <a:xfrm xmlns:a="http://schemas.openxmlformats.org/drawingml/2006/main">
            <a:off x="8174736" y="4443984"/>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Front-line judgement silently altering model behaviour</a:t>
            </a:r>
            <a:endParaRPr sz="930"/>
          </a:p>
        </p:txBody>
      </p:sp>
      <p:sp>
        <p:nvSpPr>
          <p:cNvPr id="29" name="Shape 27">
            <a:extLst xmlns:a="http://schemas.openxmlformats.org/drawingml/2006/main">
              <a:ext uri="{FF2B5EF4-FFF2-40B4-BE49-F238E27FC236}">
                <a16:creationId xmlns:a16="http://schemas.microsoft.com/office/drawing/2014/main" id="{09E0F1FF-476C-4B10-A20F-B808C04021E7}"/>
              </a:ext>
            </a:extLst>
          </p:cNvPr>
          <p:cNvSpPr>
            <a:spLocks xmlns:a="http://schemas.openxmlformats.org/drawingml/2006/main" noGrp="1"/>
          </p:cNvSpPr>
          <p:nvPr/>
        </p:nvSpPr>
        <p:spPr>
          <a:xfrm xmlns:a="http://schemas.openxmlformats.org/drawingml/2006/main">
            <a:off x="566928" y="4901184"/>
            <a:ext cx="11057839" cy="7315"/>
          </a:xfrm>
          <a:prstGeom xmlns:a="http://schemas.openxmlformats.org/drawingml/2006/main" prst="rect">
            <a:avLst/>
          </a:prstGeom>
          <a:solidFill xmlns:a="http://schemas.openxmlformats.org/drawingml/2006/main">
            <a:srgbClr val="CBD5E0"/>
          </a:solidFill>
        </p:spPr>
      </p:sp>
      <p:sp>
        <p:nvSpPr>
          <p:cNvPr id="30" name="Shape 28">
            <a:extLst xmlns:a="http://schemas.openxmlformats.org/drawingml/2006/main">
              <a:ext uri="{FF2B5EF4-FFF2-40B4-BE49-F238E27FC236}">
                <a16:creationId xmlns:a16="http://schemas.microsoft.com/office/drawing/2014/main" id="{321CFB52-FDE6-444F-BC04-EBD7FB97643B}"/>
              </a:ext>
            </a:extLst>
          </p:cNvPr>
          <p:cNvSpPr>
            <a:spLocks xmlns:a="http://schemas.openxmlformats.org/drawingml/2006/main" noGrp="1"/>
          </p:cNvSpPr>
          <p:nvPr/>
        </p:nvSpPr>
        <p:spPr>
          <a:xfrm xmlns:a="http://schemas.openxmlformats.org/drawingml/2006/main">
            <a:off x="566928" y="4901184"/>
            <a:ext cx="11057839" cy="640080"/>
          </a:xfrm>
          <a:prstGeom xmlns:a="http://schemas.openxmlformats.org/drawingml/2006/main" prst="rect">
            <a:avLst/>
          </a:prstGeom>
          <a:solidFill xmlns:a="http://schemas.openxmlformats.org/drawingml/2006/main">
            <a:srgbClr val="F7F9FB"/>
          </a:solidFill>
        </p:spPr>
      </p:sp>
      <p:sp>
        <p:nvSpPr>
          <p:cNvPr id="31" name="Text 29">
            <a:extLst xmlns:a="http://schemas.openxmlformats.org/drawingml/2006/main">
              <a:ext uri="{FF2B5EF4-FFF2-40B4-BE49-F238E27FC236}">
                <a16:creationId xmlns:a16="http://schemas.microsoft.com/office/drawing/2014/main" id="{38E8FDE8-790E-489F-91F9-3FDCBF3244F1}"/>
              </a:ext>
            </a:extLst>
          </p:cNvPr>
          <p:cNvSpPr>
            <a:spLocks xmlns:a="http://schemas.openxmlformats.org/drawingml/2006/main" noGrp="1"/>
          </p:cNvSpPr>
          <p:nvPr/>
        </p:nvSpPr>
        <p:spPr>
          <a:xfrm xmlns:a="http://schemas.openxmlformats.org/drawingml/2006/main">
            <a:off x="676656" y="508406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Record ownership</a:t>
            </a:r>
            <a:endParaRPr sz="980"/>
          </a:p>
        </p:txBody>
      </p:sp>
      <p:sp>
        <p:nvSpPr>
          <p:cNvPr id="32" name="Text 30">
            <a:extLst xmlns:a="http://schemas.openxmlformats.org/drawingml/2006/main">
              <a:ext uri="{FF2B5EF4-FFF2-40B4-BE49-F238E27FC236}">
                <a16:creationId xmlns:a16="http://schemas.microsoft.com/office/drawing/2014/main" id="{02FD7D74-DDCD-487E-8C97-72486D4679B1}"/>
              </a:ext>
            </a:extLst>
          </p:cNvPr>
          <p:cNvSpPr>
            <a:spLocks xmlns:a="http://schemas.openxmlformats.org/drawingml/2006/main" noGrp="1"/>
          </p:cNvSpPr>
          <p:nvPr/>
        </p:nvSpPr>
        <p:spPr>
          <a:xfrm xmlns:a="http://schemas.openxmlformats.org/drawingml/2006/main">
            <a:off x="4242816" y="508406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The response record lives with the platform; the signal record stays with the engine</a:t>
            </a:r>
            <a:endParaRPr sz="930"/>
          </a:p>
        </p:txBody>
      </p:sp>
      <p:sp>
        <p:nvSpPr>
          <p:cNvPr id="33" name="Text 31">
            <a:extLst xmlns:a="http://schemas.openxmlformats.org/drawingml/2006/main">
              <a:ext uri="{FF2B5EF4-FFF2-40B4-BE49-F238E27FC236}">
                <a16:creationId xmlns:a16="http://schemas.microsoft.com/office/drawing/2014/main" id="{12509CE3-05D6-4208-A84A-0630F05BED4F}"/>
              </a:ext>
            </a:extLst>
          </p:cNvPr>
          <p:cNvSpPr>
            <a:spLocks xmlns:a="http://schemas.openxmlformats.org/drawingml/2006/main" noGrp="1"/>
          </p:cNvSpPr>
          <p:nvPr/>
        </p:nvSpPr>
        <p:spPr>
          <a:xfrm xmlns:a="http://schemas.openxmlformats.org/drawingml/2006/main">
            <a:off x="8174736" y="5084064"/>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An audit trail split across two systems with no join key</a:t>
            </a:r>
            <a:endParaRPr sz="930"/>
          </a:p>
        </p:txBody>
      </p:sp>
      <p:sp>
        <p:nvSpPr>
          <p:cNvPr id="34" name="Shape 32">
            <a:extLst xmlns:a="http://schemas.openxmlformats.org/drawingml/2006/main">
              <a:ext uri="{FF2B5EF4-FFF2-40B4-BE49-F238E27FC236}">
                <a16:creationId xmlns:a16="http://schemas.microsoft.com/office/drawing/2014/main" id="{C88FDA1F-6606-498F-AFE8-AD8D094E0DA6}"/>
              </a:ext>
            </a:extLst>
          </p:cNvPr>
          <p:cNvSpPr>
            <a:spLocks xmlns:a="http://schemas.openxmlformats.org/drawingml/2006/main" noGrp="1"/>
          </p:cNvSpPr>
          <p:nvPr/>
        </p:nvSpPr>
        <p:spPr>
          <a:xfrm xmlns:a="http://schemas.openxmlformats.org/drawingml/2006/main">
            <a:off x="566928" y="5541264"/>
            <a:ext cx="11057839" cy="7315"/>
          </a:xfrm>
          <a:prstGeom xmlns:a="http://schemas.openxmlformats.org/drawingml/2006/main" prst="rect">
            <a:avLst/>
          </a:prstGeom>
          <a:solidFill xmlns:a="http://schemas.openxmlformats.org/drawingml/2006/main">
            <a:srgbClr val="CBD5E0"/>
          </a:solidFill>
        </p:spPr>
      </p:sp>
      <p:sp>
        <p:nvSpPr>
          <p:cNvPr id="35" name="Shape 33">
            <a:extLst xmlns:a="http://schemas.openxmlformats.org/drawingml/2006/main">
              <a:ext uri="{FF2B5EF4-FFF2-40B4-BE49-F238E27FC236}">
                <a16:creationId xmlns:a16="http://schemas.microsoft.com/office/drawing/2014/main" id="{90159899-89DF-4CA9-94F0-657CB0A46E2B}"/>
              </a:ext>
            </a:extLst>
          </p:cNvPr>
          <p:cNvSpPr>
            <a:spLocks xmlns:a="http://schemas.openxmlformats.org/drawingml/2006/main" noGrp="1"/>
          </p:cNvSpPr>
          <p:nvPr/>
        </p:nvSpPr>
        <p:spPr>
          <a:xfrm xmlns:a="http://schemas.openxmlformats.org/drawingml/2006/main">
            <a:off x="566928" y="5815584"/>
            <a:ext cx="11057839" cy="1042416"/>
          </a:xfrm>
          <a:prstGeom xmlns:a="http://schemas.openxmlformats.org/drawingml/2006/main" prst="rect">
            <a:avLst/>
          </a:prstGeom>
          <a:solidFill xmlns:a="http://schemas.openxmlformats.org/drawingml/2006/main">
            <a:srgbClr val="F3E6E0"/>
          </a:solidFill>
        </p:spPr>
      </p:sp>
      <p:sp>
        <p:nvSpPr>
          <p:cNvPr id="36" name="Text 34">
            <a:extLst xmlns:a="http://schemas.openxmlformats.org/drawingml/2006/main">
              <a:ext uri="{FF2B5EF4-FFF2-40B4-BE49-F238E27FC236}">
                <a16:creationId xmlns:a16="http://schemas.microsoft.com/office/drawing/2014/main" id="{99F2B7DA-81AA-4CE5-B38D-098254067041}"/>
              </a:ext>
            </a:extLst>
          </p:cNvPr>
          <p:cNvSpPr>
            <a:spLocks xmlns:a="http://schemas.openxmlformats.org/drawingml/2006/main" noGrp="1"/>
          </p:cNvSpPr>
          <p:nvPr/>
        </p:nvSpPr>
        <p:spPr>
          <a:xfrm xmlns:a="http://schemas.openxmlformats.org/drawingml/2006/main">
            <a:off x="804672" y="596188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one that matters most</a:t>
            </a:r>
            <a:endParaRPr sz="1100"/>
          </a:p>
        </p:txBody>
      </p:sp>
      <p:sp>
        <p:nvSpPr>
          <p:cNvPr id="37" name="Text 35">
            <a:extLst xmlns:a="http://schemas.openxmlformats.org/drawingml/2006/main">
              <a:ext uri="{FF2B5EF4-FFF2-40B4-BE49-F238E27FC236}">
                <a16:creationId xmlns:a16="http://schemas.microsoft.com/office/drawing/2014/main" id="{53D8CB93-22FD-4136-AB92-BC7E34FE5EF3}"/>
              </a:ext>
            </a:extLst>
          </p:cNvPr>
          <p:cNvSpPr>
            <a:spLocks xmlns:a="http://schemas.openxmlformats.org/drawingml/2006/main" noGrp="1"/>
          </p:cNvSpPr>
          <p:nvPr/>
        </p:nvSpPr>
        <p:spPr>
          <a:xfrm xmlns:a="http://schemas.openxmlformats.org/drawingml/2006/main">
            <a:off x="804672" y="6217920"/>
            <a:ext cx="10582351"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Association logic. If the risk engine resolves groups its own way and the relationship platform resolves them another, the same alert attaches to different entities in the two systems — and every downstream number, from exposure roll-up to alert counts by relationship manager, disagrees.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disagreement is discovered late, usually by someone reconciling two reports, and it is expensive to unpick because both systems are already trusted. Fixing group resolution ownership on day one costs nothing.</a:t>
            </a:r>
            <a:endParaRPr sz="990"/>
          </a:p>
        </p:txBody>
      </p:sp>
      <p:sp>
        <p:nvSpPr>
          <p:cNvPr id="38" name="Shape 36">
            <a:extLst xmlns:a="http://schemas.openxmlformats.org/drawingml/2006/main">
              <a:ext uri="{FF2B5EF4-FFF2-40B4-BE49-F238E27FC236}">
                <a16:creationId xmlns:a16="http://schemas.microsoft.com/office/drawing/2014/main" id="{0EFF6AA3-9FB3-4A6B-A5A2-7F5D6BFA086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9" name="Text 37">
            <a:extLst xmlns:a="http://schemas.openxmlformats.org/drawingml/2006/main">
              <a:ext uri="{FF2B5EF4-FFF2-40B4-BE49-F238E27FC236}">
                <a16:creationId xmlns:a16="http://schemas.microsoft.com/office/drawing/2014/main" id="{884B300C-3B98-4AC7-BA2A-4DBBA0DA197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early-warning integration programme · author's design</a:t>
            </a:r>
            <a:endParaRPr sz="850"/>
          </a:p>
        </p:txBody>
      </p:sp>
      <p:sp>
        <p:nvSpPr>
          <p:cNvPr id="40" name="Text 38">
            <a:extLst xmlns:a="http://schemas.openxmlformats.org/drawingml/2006/main">
              <a:ext uri="{FF2B5EF4-FFF2-40B4-BE49-F238E27FC236}">
                <a16:creationId xmlns:a16="http://schemas.microsoft.com/office/drawing/2014/main" id="{29196A4A-1B08-4123-A1C7-CED864F826B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51036156"/>
      </p:ext>
    </p:extLst>
  </p:cSld>
</p:sld>
</file>

<file path=ppt/slides/slide19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B57FB-292D-48FB-8D6E-00AFE43B607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F8D447ED-1CB5-4047-89B8-91CB4EC6AA7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governing a decision you did not calculate</a:t>
            </a:r>
            <a:endParaRPr sz="1900"/>
          </a:p>
        </p:txBody>
      </p:sp>
      <p:sp>
        <p:nvSpPr>
          <p:cNvPr id="4" name="Text 2">
            <a:extLst xmlns:a="http://schemas.openxmlformats.org/drawingml/2006/main">
              <a:ext uri="{FF2B5EF4-FFF2-40B4-BE49-F238E27FC236}">
                <a16:creationId xmlns:a16="http://schemas.microsoft.com/office/drawing/2014/main" id="{BB3B586B-B772-4B75-B1F5-A63ABC45C4A2}"/>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287334B4-D1FA-4BAD-8E37-77B283E2AD59}"/>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Separate computation from response, explicitly</a:t>
            </a:r>
            <a:endParaRPr sz="1200"/>
          </a:p>
        </p:txBody>
      </p:sp>
      <p:sp>
        <p:nvSpPr>
          <p:cNvPr id="6" name="Text 4">
            <a:extLst xmlns:a="http://schemas.openxmlformats.org/drawingml/2006/main">
              <a:ext uri="{FF2B5EF4-FFF2-40B4-BE49-F238E27FC236}">
                <a16:creationId xmlns:a16="http://schemas.microsoft.com/office/drawing/2014/main" id="{0EACE60A-E3F4-4316-8F64-4E7C4C1DEF74}"/>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One system owns the model and its governance; the other owns the human response and its record. Write the boundary down, because it will be tested by reasonable requests within the first quarter.</a:t>
            </a:r>
            <a:endParaRPr sz="1000"/>
          </a:p>
        </p:txBody>
      </p:sp>
      <p:sp>
        <p:nvSpPr>
          <p:cNvPr id="7" name="Shape 5">
            <a:extLst xmlns:a="http://schemas.openxmlformats.org/drawingml/2006/main">
              <a:ext uri="{FF2B5EF4-FFF2-40B4-BE49-F238E27FC236}">
                <a16:creationId xmlns:a16="http://schemas.microsoft.com/office/drawing/2014/main" id="{B41D7F79-2239-492B-A3FD-91D29D2E7DC0}"/>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969D30C-8745-4620-8570-5229B2896345}"/>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21728319-DD1B-44DE-A4FC-D29A0EEEA749}"/>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Presentation may change, signal may not</a:t>
            </a:r>
            <a:endParaRPr sz="1200"/>
          </a:p>
        </p:txBody>
      </p:sp>
      <p:sp>
        <p:nvSpPr>
          <p:cNvPr id="10" name="Text 8">
            <a:extLst xmlns:a="http://schemas.openxmlformats.org/drawingml/2006/main">
              <a:ext uri="{FF2B5EF4-FFF2-40B4-BE49-F238E27FC236}">
                <a16:creationId xmlns:a16="http://schemas.microsoft.com/office/drawing/2014/main" id="{7E9B094A-3FB1-4F11-9F25-7EBF0E3D8EED}"/>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Deprioritising, ordering and filtering are legitimate platform behaviours. Adjusting a threshold, suppressing a trigger or recomputing a score are not — they are model changes made outside model governance.</a:t>
            </a:r>
            <a:endParaRPr sz="1000"/>
          </a:p>
        </p:txBody>
      </p:sp>
      <p:sp>
        <p:nvSpPr>
          <p:cNvPr id="11" name="Shape 9">
            <a:extLst xmlns:a="http://schemas.openxmlformats.org/drawingml/2006/main">
              <a:ext uri="{FF2B5EF4-FFF2-40B4-BE49-F238E27FC236}">
                <a16:creationId xmlns:a16="http://schemas.microsoft.com/office/drawing/2014/main" id="{F3AF735B-E3D9-4A0A-94D3-764BEFA21AA5}"/>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AF5D0EEB-8D50-4C65-B2A4-711C1950FCAD}"/>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C73C41F3-D84F-4F99-8000-E4A511464DCD}"/>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Close with a basis and a second person</a:t>
            </a:r>
            <a:endParaRPr sz="1200"/>
          </a:p>
        </p:txBody>
      </p:sp>
      <p:sp>
        <p:nvSpPr>
          <p:cNvPr id="14" name="Text 12">
            <a:extLst xmlns:a="http://schemas.openxmlformats.org/drawingml/2006/main">
              <a:ext uri="{FF2B5EF4-FFF2-40B4-BE49-F238E27FC236}">
                <a16:creationId xmlns:a16="http://schemas.microsoft.com/office/drawing/2014/main" id="{6F012542-54C8-497F-828D-2136DA97EAB3}"/>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judgement, a stated reason and an approval by someone other than the relationship owner. Bulk closure and silent expiry turn an early-warning control into a control that reports itself as working.</a:t>
            </a:r>
            <a:endParaRPr sz="1000"/>
          </a:p>
        </p:txBody>
      </p:sp>
      <p:sp>
        <p:nvSpPr>
          <p:cNvPr id="15" name="Shape 13">
            <a:extLst xmlns:a="http://schemas.openxmlformats.org/drawingml/2006/main">
              <a:ext uri="{FF2B5EF4-FFF2-40B4-BE49-F238E27FC236}">
                <a16:creationId xmlns:a16="http://schemas.microsoft.com/office/drawing/2014/main" id="{3909982A-C351-47B8-BED0-2DAB5650C351}"/>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178A5508-6B87-49AF-9CC8-2AFA4CC1D7FE}"/>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37BC5A40-18FE-4DB8-9092-93D502D4A325}"/>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Build the feedback loop or lose the boundary</a:t>
            </a:r>
            <a:endParaRPr sz="1200"/>
          </a:p>
        </p:txBody>
      </p:sp>
      <p:sp>
        <p:nvSpPr>
          <p:cNvPr id="18" name="Text 16">
            <a:extLst xmlns:a="http://schemas.openxmlformats.org/drawingml/2006/main">
              <a:ext uri="{FF2B5EF4-FFF2-40B4-BE49-F238E27FC236}">
                <a16:creationId xmlns:a16="http://schemas.microsoft.com/office/drawing/2014/main" id="{88A1A73D-B6CB-4575-BDAA-7202ACFF63D1}"/>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Dispositions are evidence for the model owner, delivered on a cadence. Without that route, the people living with unhelpful alerts will eventually get local suppression, and they will be right to ask.</a:t>
            </a:r>
            <a:endParaRPr sz="1000"/>
          </a:p>
        </p:txBody>
      </p:sp>
      <p:sp>
        <p:nvSpPr>
          <p:cNvPr id="19" name="Shape 17">
            <a:extLst xmlns:a="http://schemas.openxmlformats.org/drawingml/2006/main">
              <a:ext uri="{FF2B5EF4-FFF2-40B4-BE49-F238E27FC236}">
                <a16:creationId xmlns:a16="http://schemas.microsoft.com/office/drawing/2014/main" id="{02A28825-4532-4D17-99EC-A54D00FDE460}"/>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7D52D9F6-4506-4720-856A-84C8C7A48B35}"/>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hard part was never the integration. It was holding a line that erodes one reasonable request at a time — and building the feedback loop that makes holding it sustainable rather than merely principled.</a:t>
            </a:r>
            <a:endParaRPr sz="1200"/>
          </a:p>
        </p:txBody>
      </p:sp>
      <p:sp>
        <p:nvSpPr>
          <p:cNvPr id="21" name="Shape 19">
            <a:extLst xmlns:a="http://schemas.openxmlformats.org/drawingml/2006/main">
              <a:ext uri="{FF2B5EF4-FFF2-40B4-BE49-F238E27FC236}">
                <a16:creationId xmlns:a16="http://schemas.microsoft.com/office/drawing/2014/main" id="{89DBA3B2-132A-4E25-9C22-EB61D3AD0B4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AAB07027-5A43-411E-A203-5639BFFB651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design analysis</a:t>
            </a:r>
            <a:endParaRPr sz="850"/>
          </a:p>
        </p:txBody>
      </p:sp>
      <p:sp>
        <p:nvSpPr>
          <p:cNvPr id="23" name="Text 21">
            <a:extLst xmlns:a="http://schemas.openxmlformats.org/drawingml/2006/main">
              <a:ext uri="{FF2B5EF4-FFF2-40B4-BE49-F238E27FC236}">
                <a16:creationId xmlns:a16="http://schemas.microsoft.com/office/drawing/2014/main" id="{C7DB2E76-1715-4783-B972-4508BC39B81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209194963"/>
      </p:ext>
    </p:extLst>
  </p:cSld>
</p:sld>
</file>

<file path=ppt/slides/slide192.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02602ED-692A-485B-A85E-3875ADBE1EA7}"/>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CASE STUDY  ·  17 OF 30</a:t>
            </a:r>
            <a:endParaRPr sz="950"/>
          </a:p>
        </p:txBody>
      </p:sp>
      <p:sp>
        <p:nvSpPr>
          <p:cNvPr id="3" name="Text 1">
            <a:extLst xmlns:a="http://schemas.openxmlformats.org/drawingml/2006/main">
              <a:ext uri="{FF2B5EF4-FFF2-40B4-BE49-F238E27FC236}">
                <a16:creationId xmlns:a16="http://schemas.microsoft.com/office/drawing/2014/main" id="{7BE61D5D-92BB-4CBF-892A-DC8F192F54DF}"/>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Arab Bank</a:t>
            </a:r>
            <a:endParaRPr sz="3800"/>
          </a:p>
        </p:txBody>
      </p:sp>
      <p:sp>
        <p:nvSpPr>
          <p:cNvPr id="4" name="Text 2">
            <a:extLst xmlns:a="http://schemas.openxmlformats.org/drawingml/2006/main">
              <a:ext uri="{FF2B5EF4-FFF2-40B4-BE49-F238E27FC236}">
                <a16:creationId xmlns:a16="http://schemas.microsoft.com/office/drawing/2014/main" id="{FDC11832-A7F3-4B2D-9D66-1BF277154755}"/>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One corporate spine, six countries — four programmes on a single relationship model</a:t>
            </a:r>
            <a:endParaRPr sz="1800"/>
          </a:p>
        </p:txBody>
      </p:sp>
      <p:sp>
        <p:nvSpPr>
          <p:cNvPr id="5" name="Text 3">
            <a:extLst xmlns:a="http://schemas.openxmlformats.org/drawingml/2006/main">
              <a:ext uri="{FF2B5EF4-FFF2-40B4-BE49-F238E27FC236}">
                <a16:creationId xmlns:a16="http://schemas.microsoft.com/office/drawing/2014/main" id="{EBE7D2C1-A019-4BE4-B4AD-40E4E03F8968}"/>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Corporate and commercial banking across six countries at $64 billion in assets, delivered as four connected programmes rather than four country rollouts. What varies by market is far less than it first appears.</a:t>
            </a:r>
            <a:endParaRPr sz="1150"/>
          </a:p>
        </p:txBody>
      </p:sp>
      <p:sp>
        <p:nvSpPr>
          <p:cNvPr id="6" name="Shape 4">
            <a:extLst xmlns:a="http://schemas.openxmlformats.org/drawingml/2006/main">
              <a:ext uri="{FF2B5EF4-FFF2-40B4-BE49-F238E27FC236}">
                <a16:creationId xmlns:a16="http://schemas.microsoft.com/office/drawing/2014/main" id="{9E323F1D-67BB-47D8-926A-7425166829B1}"/>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D5F50042-91E0-4AEC-84D2-863FC7535320}"/>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$64B+</a:t>
            </a:r>
            <a:endParaRPr sz="2600"/>
          </a:p>
        </p:txBody>
      </p:sp>
      <p:sp>
        <p:nvSpPr>
          <p:cNvPr id="8" name="Text 6">
            <a:extLst xmlns:a="http://schemas.openxmlformats.org/drawingml/2006/main">
              <a:ext uri="{FF2B5EF4-FFF2-40B4-BE49-F238E27FC236}">
                <a16:creationId xmlns:a16="http://schemas.microsoft.com/office/drawing/2014/main" id="{15619343-7CB7-418B-A981-70913E5773E7}"/>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asset size</a:t>
            </a:r>
            <a:endParaRPr sz="900"/>
          </a:p>
        </p:txBody>
      </p:sp>
      <p:sp>
        <p:nvSpPr>
          <p:cNvPr id="9" name="Text 7">
            <a:extLst xmlns:a="http://schemas.openxmlformats.org/drawingml/2006/main">
              <a:ext uri="{FF2B5EF4-FFF2-40B4-BE49-F238E27FC236}">
                <a16:creationId xmlns:a16="http://schemas.microsoft.com/office/drawing/2014/main" id="{10D5C846-C81C-4D8C-80D7-39E1483661A2}"/>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10" name="Text 8">
            <a:extLst xmlns:a="http://schemas.openxmlformats.org/drawingml/2006/main">
              <a:ext uri="{FF2B5EF4-FFF2-40B4-BE49-F238E27FC236}">
                <a16:creationId xmlns:a16="http://schemas.microsoft.com/office/drawing/2014/main" id="{B171FE5E-5131-435C-99FF-2FFC5CE79C20}"/>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countries</a:t>
            </a:r>
            <a:endParaRPr sz="900"/>
          </a:p>
        </p:txBody>
      </p:sp>
      <p:sp>
        <p:nvSpPr>
          <p:cNvPr id="11" name="Text 9">
            <a:extLst xmlns:a="http://schemas.openxmlformats.org/drawingml/2006/main">
              <a:ext uri="{FF2B5EF4-FFF2-40B4-BE49-F238E27FC236}">
                <a16:creationId xmlns:a16="http://schemas.microsoft.com/office/drawing/2014/main" id="{0FC3DA1A-D452-460A-AA0D-609417491D81}"/>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600+</a:t>
            </a:r>
            <a:endParaRPr sz="2600"/>
          </a:p>
        </p:txBody>
      </p:sp>
      <p:sp>
        <p:nvSpPr>
          <p:cNvPr id="12" name="Text 10">
            <a:extLst xmlns:a="http://schemas.openxmlformats.org/drawingml/2006/main">
              <a:ext uri="{FF2B5EF4-FFF2-40B4-BE49-F238E27FC236}">
                <a16:creationId xmlns:a16="http://schemas.microsoft.com/office/drawing/2014/main" id="{0271F70D-AAD5-475B-9523-C352F5F84848}"/>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branches</a:t>
            </a:r>
            <a:endParaRPr sz="900"/>
          </a:p>
        </p:txBody>
      </p:sp>
      <p:sp>
        <p:nvSpPr>
          <p:cNvPr id="13" name="Text 11">
            <a:extLst xmlns:a="http://schemas.openxmlformats.org/drawingml/2006/main">
              <a:ext uri="{FF2B5EF4-FFF2-40B4-BE49-F238E27FC236}">
                <a16:creationId xmlns:a16="http://schemas.microsoft.com/office/drawing/2014/main" id="{A9D5DEC8-C292-4539-A26B-CBB43630A9E8}"/>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4" name="Text 12">
            <a:extLst xmlns:a="http://schemas.openxmlformats.org/drawingml/2006/main">
              <a:ext uri="{FF2B5EF4-FFF2-40B4-BE49-F238E27FC236}">
                <a16:creationId xmlns:a16="http://schemas.microsoft.com/office/drawing/2014/main" id="{47D14CED-68E0-4DA9-9598-81F1875BF086}"/>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programmes</a:t>
            </a:r>
            <a:endParaRPr sz="900"/>
          </a:p>
          <a:p xmlns:a="http://schemas.openxmlformats.org/drawingml/2006/main">
            <a:pPr marL="0" indent="0">
              <a:lnSpc>
                <a:spcPts val="1100"/>
              </a:lnSpc>
              <a:buNone/>
            </a:pPr>
            <a:r>
              <a:rPr sz="900">
                <a:solidFill>
                  <a:srgbClr val="8FA9C4"/>
                </a:solidFill>
                <a:latin typeface="Arial"/>
                <a:ea typeface="Arial"/>
                <a:cs typeface="Arial"/>
              </a:rPr>
              <a:t>delivered</a:t>
            </a:r>
            <a:endParaRPr sz="900"/>
          </a:p>
        </p:txBody>
      </p:sp>
      <p:sp>
        <p:nvSpPr>
          <p:cNvPr id="15" name="Text 13">
            <a:extLst xmlns:a="http://schemas.openxmlformats.org/drawingml/2006/main">
              <a:ext uri="{FF2B5EF4-FFF2-40B4-BE49-F238E27FC236}">
                <a16:creationId xmlns:a16="http://schemas.microsoft.com/office/drawing/2014/main" id="{B461FAE7-0891-4B1B-BAF9-E9D32E739B76}"/>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50+</a:t>
            </a:r>
            <a:endParaRPr sz="2600"/>
          </a:p>
        </p:txBody>
      </p:sp>
      <p:sp>
        <p:nvSpPr>
          <p:cNvPr id="16" name="Text 14">
            <a:extLst xmlns:a="http://schemas.openxmlformats.org/drawingml/2006/main">
              <a:ext uri="{FF2B5EF4-FFF2-40B4-BE49-F238E27FC236}">
                <a16:creationId xmlns:a16="http://schemas.microsoft.com/office/drawing/2014/main" id="{A83221D2-91EC-42FA-8A8F-3165D50C19E0}"/>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product</a:t>
            </a:r>
            <a:endParaRPr sz="900"/>
          </a:p>
          <a:p xmlns:a="http://schemas.openxmlformats.org/drawingml/2006/main">
            <a:pPr marL="0" indent="0">
              <a:lnSpc>
                <a:spcPts val="1100"/>
              </a:lnSpc>
              <a:buNone/>
            </a:pPr>
            <a:r>
              <a:rPr sz="900">
                <a:solidFill>
                  <a:srgbClr val="8FA9C4"/>
                </a:solidFill>
                <a:latin typeface="Arial"/>
                <a:ea typeface="Arial"/>
                <a:cs typeface="Arial"/>
              </a:rPr>
              <a:t>categories</a:t>
            </a:r>
            <a:endParaRPr sz="900"/>
          </a:p>
        </p:txBody>
      </p:sp>
      <p:sp>
        <p:nvSpPr>
          <p:cNvPr id="17" name="Text 15">
            <a:extLst xmlns:a="http://schemas.openxmlformats.org/drawingml/2006/main">
              <a:ext uri="{FF2B5EF4-FFF2-40B4-BE49-F238E27FC236}">
                <a16:creationId xmlns:a16="http://schemas.microsoft.com/office/drawing/2014/main" id="{4A4119AB-29AF-4E14-A655-0E68E9C63A3C}"/>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90+</a:t>
            </a:r>
            <a:endParaRPr sz="2600"/>
          </a:p>
        </p:txBody>
      </p:sp>
      <p:sp>
        <p:nvSpPr>
          <p:cNvPr id="18" name="Text 16">
            <a:extLst xmlns:a="http://schemas.openxmlformats.org/drawingml/2006/main">
              <a:ext uri="{FF2B5EF4-FFF2-40B4-BE49-F238E27FC236}">
                <a16:creationId xmlns:a16="http://schemas.microsoft.com/office/drawing/2014/main" id="{EBCC6B61-208F-4441-BC70-6EED1E71825E}"/>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ready</a:t>
            </a:r>
            <a:endParaRPr sz="900"/>
          </a:p>
          <a:p xmlns:a="http://schemas.openxmlformats.org/drawingml/2006/main">
            <a:pPr marL="0" indent="0">
              <a:lnSpc>
                <a:spcPts val="1100"/>
              </a:lnSpc>
              <a:buNone/>
            </a:pPr>
            <a:r>
              <a:rPr sz="900">
                <a:solidFill>
                  <a:srgbClr val="8FA9C4"/>
                </a:solidFill>
                <a:latin typeface="Arial"/>
                <a:ea typeface="Arial"/>
                <a:cs typeface="Arial"/>
              </a:rPr>
              <a:t>connectors</a:t>
            </a:r>
            <a:endParaRPr sz="900"/>
          </a:p>
        </p:txBody>
      </p:sp>
      <p:sp>
        <p:nvSpPr>
          <p:cNvPr id="19" name="Shape 17">
            <a:extLst xmlns:a="http://schemas.openxmlformats.org/drawingml/2006/main">
              <a:ext uri="{FF2B5EF4-FFF2-40B4-BE49-F238E27FC236}">
                <a16:creationId xmlns:a16="http://schemas.microsoft.com/office/drawing/2014/main" id="{8122C704-A80B-4FF3-88D3-1FA1074CF6B7}"/>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8456347E-8F39-4100-BDE3-923647567A36}"/>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DEPLOYMENT CONTEXT  ·  PUBLICLY REPORTED</a:t>
            </a:r>
            <a:endParaRPr sz="800"/>
          </a:p>
        </p:txBody>
      </p:sp>
      <p:sp>
        <p:nvSpPr>
          <p:cNvPr id="21" name="Text 19">
            <a:extLst xmlns:a="http://schemas.openxmlformats.org/drawingml/2006/main">
              <a:ext uri="{FF2B5EF4-FFF2-40B4-BE49-F238E27FC236}">
                <a16:creationId xmlns:a16="http://schemas.microsoft.com/office/drawing/2014/main" id="{4C32EDCC-7120-4375-8213-BC3BE2365114}"/>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Corporate, commercial, SME and government segments    ·    group hierarchy and related parties    ·    multi-currency    ·    100+ reports and 22+ executive dashboards</a:t>
            </a:r>
            <a:endParaRPr sz="1050"/>
          </a:p>
        </p:txBody>
      </p:sp>
      <p:sp>
        <p:nvSpPr>
          <p:cNvPr id="22" name="Text 20">
            <a:extLst xmlns:a="http://schemas.openxmlformats.org/drawingml/2006/main">
              <a:ext uri="{FF2B5EF4-FFF2-40B4-BE49-F238E27FC236}">
                <a16:creationId xmlns:a16="http://schemas.microsoft.com/office/drawing/2014/main" id="{9B5D71A8-C0E4-4662-9583-07C08F90A633}"/>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corporate banking programme delivery  ·  2023</a:t>
            </a:r>
            <a:endParaRPr sz="1200"/>
          </a:p>
        </p:txBody>
      </p:sp>
      <p:sp>
        <p:nvSpPr>
          <p:cNvPr id="23" name="Text 21">
            <a:extLst xmlns:a="http://schemas.openxmlformats.org/drawingml/2006/main">
              <a:ext uri="{FF2B5EF4-FFF2-40B4-BE49-F238E27FC236}">
                <a16:creationId xmlns:a16="http://schemas.microsoft.com/office/drawing/2014/main" id="{5B4BB769-B4E0-490B-AB83-F2D27FC9C078}"/>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Public figures retained with attribution; personal contribution stated separately on slide 3.</a:t>
            </a:r>
            <a:endParaRPr sz="850"/>
          </a:p>
        </p:txBody>
      </p:sp>
    </p:spTree>
    <p:extLst>
      <p:ext uri="{BB962C8B-B14F-4D97-AF65-F5344CB8AC3E}">
        <p14:creationId xmlns:p14="http://schemas.microsoft.com/office/powerpoint/2010/main" val="1330783379"/>
      </p:ext>
    </p:extLst>
  </p:cSld>
</p:sld>
</file>

<file path=ppt/slides/slide19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DBB3252-2F46-4212-9641-196F7FFF047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3767F422-2C07-4C5A-ACAA-AB43473084E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programmes on one relationship model — because the corporate entity, not the</a:t>
            </a:r>
            <a:endParaRPr sz="1900"/>
          </a:p>
          <a:p xmlns:a="http://schemas.openxmlformats.org/drawingml/2006/main">
            <a:pPr marL="0" indent="0">
              <a:lnSpc>
                <a:spcPts val="2400"/>
              </a:lnSpc>
              <a:buNone/>
            </a:pPr>
            <a:r>
              <a:rPr sz="1900" b="1">
                <a:solidFill>
                  <a:srgbClr val="102A43"/>
                </a:solidFill>
                <a:latin typeface="Arial"/>
                <a:ea typeface="Arial"/>
                <a:cs typeface="Arial"/>
              </a:rPr>
              <a:t>country, is the thing the platform is actually organised around</a:t>
            </a:r>
            <a:endParaRPr sz="1900"/>
          </a:p>
        </p:txBody>
      </p:sp>
      <p:sp>
        <p:nvSpPr>
          <p:cNvPr id="4" name="Shape 2">
            <a:extLst xmlns:a="http://schemas.openxmlformats.org/drawingml/2006/main">
              <a:ext uri="{FF2B5EF4-FFF2-40B4-BE49-F238E27FC236}">
                <a16:creationId xmlns:a16="http://schemas.microsoft.com/office/drawing/2014/main" id="{18FFDBD1-29B0-4B7D-9E80-06628C2F83DF}"/>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21F07B87-D617-49E3-B3F6-8764E256736A}"/>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A14B33A5-5457-44B6-B73B-3FEC60293913}"/>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regional corporate bank operating across six countries, serving corporate, commercial, SME and government segments, with more than fifty product categories and a substantial branch network.</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Relationships routinely span borders: a group headquartered in one market with subsidiaries, exposures and relationship managers in several others.</a:t>
            </a:r>
            <a:endParaRPr sz="980"/>
          </a:p>
        </p:txBody>
      </p:sp>
      <p:sp>
        <p:nvSpPr>
          <p:cNvPr id="7" name="Shape 5">
            <a:extLst xmlns:a="http://schemas.openxmlformats.org/drawingml/2006/main">
              <a:ext uri="{FF2B5EF4-FFF2-40B4-BE49-F238E27FC236}">
                <a16:creationId xmlns:a16="http://schemas.microsoft.com/office/drawing/2014/main" id="{0602A5C3-1EF7-465A-8955-776EACFBEA2F}"/>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892E10B0-2353-4847-BF2C-424019A86516}"/>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B59D5D12-1023-45BF-8FE6-3DAEFBB00EFD}"/>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obvious structure is a country rollout — deploy market by market, each with local requirements. That produces six configurations, six release trains and, critically, six versions of the same corporate group.</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 group whose parent sits in one market and whose subsidiaries sit in three more cannot be represented correctly by any one of those six.</a:t>
            </a:r>
            <a:endParaRPr sz="980"/>
          </a:p>
        </p:txBody>
      </p:sp>
      <p:sp>
        <p:nvSpPr>
          <p:cNvPr id="10" name="Shape 8">
            <a:extLst xmlns:a="http://schemas.openxmlformats.org/drawingml/2006/main">
              <a:ext uri="{FF2B5EF4-FFF2-40B4-BE49-F238E27FC236}">
                <a16:creationId xmlns:a16="http://schemas.microsoft.com/office/drawing/2014/main" id="{8CCE6D44-48AA-4EED-A018-D676FB850A6D}"/>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17E2F982-D140-495A-B81C-E37DBB0AD1F8}"/>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What was built instead</a:t>
            </a:r>
            <a:endParaRPr sz="1250"/>
          </a:p>
        </p:txBody>
      </p:sp>
      <p:sp>
        <p:nvSpPr>
          <p:cNvPr id="12" name="Text 10">
            <a:extLst xmlns:a="http://schemas.openxmlformats.org/drawingml/2006/main">
              <a:ext uri="{FF2B5EF4-FFF2-40B4-BE49-F238E27FC236}">
                <a16:creationId xmlns:a16="http://schemas.microsoft.com/office/drawing/2014/main" id="{B912027D-B683-4392-84C7-A66007A079BE}"/>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One corporate entity and hierarchy model, shared across all markets, with country expressed as an attribute of an entity rather than as a boundary between systems.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Four programmes then built on it: the relationship view, the sales lifecycle across four segments, account planning against targets, and the profitability and portfolio analytics layer.</a:t>
            </a:r>
            <a:endParaRPr sz="980"/>
          </a:p>
        </p:txBody>
      </p:sp>
      <p:sp>
        <p:nvSpPr>
          <p:cNvPr id="13" name="Text 11">
            <a:extLst xmlns:a="http://schemas.openxmlformats.org/drawingml/2006/main">
              <a:ext uri="{FF2B5EF4-FFF2-40B4-BE49-F238E27FC236}">
                <a16:creationId xmlns:a16="http://schemas.microsoft.com/office/drawing/2014/main" id="{9CC76640-36E0-4A89-9222-26EEA8738D6B}"/>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1E560216-67BC-4D06-9586-9FBF6D020889}"/>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4E24D335-B189-457D-8467-D4723A5E3F4F}"/>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6" name="Text 14">
            <a:extLst xmlns:a="http://schemas.openxmlformats.org/drawingml/2006/main">
              <a:ext uri="{FF2B5EF4-FFF2-40B4-BE49-F238E27FC236}">
                <a16:creationId xmlns:a16="http://schemas.microsoft.com/office/drawing/2014/main" id="{4F94EE8B-1BCF-4558-B31A-D80C84EDB921}"/>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entity model, six markets</a:t>
            </a:r>
            <a:endParaRPr sz="860"/>
          </a:p>
        </p:txBody>
      </p:sp>
      <p:sp>
        <p:nvSpPr>
          <p:cNvPr id="17" name="Shape 15">
            <a:extLst xmlns:a="http://schemas.openxmlformats.org/drawingml/2006/main">
              <a:ext uri="{FF2B5EF4-FFF2-40B4-BE49-F238E27FC236}">
                <a16:creationId xmlns:a16="http://schemas.microsoft.com/office/drawing/2014/main" id="{81908937-7D52-406D-BB59-414B23361F90}"/>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735FE688-F291-4FDA-B0AF-8E62FC567DEA}"/>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9" name="Text 17">
            <a:extLst xmlns:a="http://schemas.openxmlformats.org/drawingml/2006/main">
              <a:ext uri="{FF2B5EF4-FFF2-40B4-BE49-F238E27FC236}">
                <a16:creationId xmlns:a16="http://schemas.microsoft.com/office/drawing/2014/main" id="{E764EAB7-E45C-44AD-9FCF-EE612C7B4CB4}"/>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programmes on one spine</a:t>
            </a:r>
            <a:endParaRPr sz="860"/>
          </a:p>
        </p:txBody>
      </p:sp>
      <p:sp>
        <p:nvSpPr>
          <p:cNvPr id="20" name="Shape 18">
            <a:extLst xmlns:a="http://schemas.openxmlformats.org/drawingml/2006/main">
              <a:ext uri="{FF2B5EF4-FFF2-40B4-BE49-F238E27FC236}">
                <a16:creationId xmlns:a16="http://schemas.microsoft.com/office/drawing/2014/main" id="{AF8E4613-B4D1-42ED-A7A3-68CC1B5127C3}"/>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B6FB345A-1DA8-45F4-86CE-58F6CBD8E36D}"/>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22" name="Text 20">
            <a:extLst xmlns:a="http://schemas.openxmlformats.org/drawingml/2006/main">
              <a:ext uri="{FF2B5EF4-FFF2-40B4-BE49-F238E27FC236}">
                <a16:creationId xmlns:a16="http://schemas.microsoft.com/office/drawing/2014/main" id="{6A8AB9C4-6CD2-4E87-8FAC-0678678CABEC}"/>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segments, one lifecycle</a:t>
            </a:r>
            <a:endParaRPr sz="860"/>
          </a:p>
        </p:txBody>
      </p:sp>
      <p:sp>
        <p:nvSpPr>
          <p:cNvPr id="23" name="Shape 21">
            <a:extLst xmlns:a="http://schemas.openxmlformats.org/drawingml/2006/main">
              <a:ext uri="{FF2B5EF4-FFF2-40B4-BE49-F238E27FC236}">
                <a16:creationId xmlns:a16="http://schemas.microsoft.com/office/drawing/2014/main" id="{0C2EC273-AD0A-4C22-A960-235D7BB5AADC}"/>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42F183AD-151D-4C44-96C5-3F4B2133B6E7}"/>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50+</a:t>
            </a:r>
            <a:endParaRPr sz="2100"/>
          </a:p>
        </p:txBody>
      </p:sp>
      <p:sp>
        <p:nvSpPr>
          <p:cNvPr id="25" name="Text 23">
            <a:extLst xmlns:a="http://schemas.openxmlformats.org/drawingml/2006/main">
              <a:ext uri="{FF2B5EF4-FFF2-40B4-BE49-F238E27FC236}">
                <a16:creationId xmlns:a16="http://schemas.microsoft.com/office/drawing/2014/main" id="{A980AED0-C6D0-439E-B707-FF7BFEDE7A89}"/>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product categories</a:t>
            </a:r>
            <a:endParaRPr sz="860"/>
          </a:p>
        </p:txBody>
      </p:sp>
      <p:sp>
        <p:nvSpPr>
          <p:cNvPr id="26" name="Shape 24">
            <a:extLst xmlns:a="http://schemas.openxmlformats.org/drawingml/2006/main">
              <a:ext uri="{FF2B5EF4-FFF2-40B4-BE49-F238E27FC236}">
                <a16:creationId xmlns:a16="http://schemas.microsoft.com/office/drawing/2014/main" id="{8124881D-29E6-4ABF-A5BE-B9400B6EE141}"/>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45B54ED6-024D-4E52-ABF4-84618EA69718}"/>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28" name="Text 26">
            <a:extLst xmlns:a="http://schemas.openxmlformats.org/drawingml/2006/main">
              <a:ext uri="{FF2B5EF4-FFF2-40B4-BE49-F238E27FC236}">
                <a16:creationId xmlns:a16="http://schemas.microsoft.com/office/drawing/2014/main" id="{F05CD602-3A6A-4E62-AE4F-F2E01D7CC932}"/>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countries, one hierarchy</a:t>
            </a:r>
            <a:endParaRPr sz="860"/>
          </a:p>
        </p:txBody>
      </p:sp>
      <p:sp>
        <p:nvSpPr>
          <p:cNvPr id="29" name="Shape 27">
            <a:extLst xmlns:a="http://schemas.openxmlformats.org/drawingml/2006/main">
              <a:ext uri="{FF2B5EF4-FFF2-40B4-BE49-F238E27FC236}">
                <a16:creationId xmlns:a16="http://schemas.microsoft.com/office/drawing/2014/main" id="{490E616E-20F5-4F2B-9E97-4DBCE2B9AE38}"/>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0B291AAE-94A4-46EB-832B-096A31C79965}"/>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600+</a:t>
            </a:r>
            <a:endParaRPr sz="2100"/>
          </a:p>
        </p:txBody>
      </p:sp>
      <p:sp>
        <p:nvSpPr>
          <p:cNvPr id="31" name="Text 29">
            <a:extLst xmlns:a="http://schemas.openxmlformats.org/drawingml/2006/main">
              <a:ext uri="{FF2B5EF4-FFF2-40B4-BE49-F238E27FC236}">
                <a16:creationId xmlns:a16="http://schemas.microsoft.com/office/drawing/2014/main" id="{D1BE08AA-9EAC-464B-88CD-1F7475CCF9DD}"/>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users on the platform</a:t>
            </a:r>
            <a:endParaRPr sz="860"/>
          </a:p>
        </p:txBody>
      </p:sp>
      <p:sp>
        <p:nvSpPr>
          <p:cNvPr id="32" name="Text 30">
            <a:extLst xmlns:a="http://schemas.openxmlformats.org/drawingml/2006/main">
              <a:ext uri="{FF2B5EF4-FFF2-40B4-BE49-F238E27FC236}">
                <a16:creationId xmlns:a16="http://schemas.microsoft.com/office/drawing/2014/main" id="{96C72753-EBBB-44CE-A177-29067C9F3458}"/>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organising insight:  in retail banking the country is a reasonable primary boundary, because customers rarely span markets. In corporate banking it is the wrong boundary — the group spans markets by definition, and any architecture that fragments on country fragments the very thing the bank is trying to see.</a:t>
            </a:r>
            <a:endParaRPr sz="1000"/>
          </a:p>
        </p:txBody>
      </p:sp>
      <p:sp>
        <p:nvSpPr>
          <p:cNvPr id="33" name="Shape 31">
            <a:extLst xmlns:a="http://schemas.openxmlformats.org/drawingml/2006/main">
              <a:ext uri="{FF2B5EF4-FFF2-40B4-BE49-F238E27FC236}">
                <a16:creationId xmlns:a16="http://schemas.microsoft.com/office/drawing/2014/main" id="{1EB2CEB4-C77B-4BF5-8E17-148068DFA2A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B702B3D0-88CA-4DDB-8B4A-D4B79188BD4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07A3FDC8-6AD4-47D7-8FE8-0C045C5B654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449841705"/>
      </p:ext>
    </p:extLst>
  </p:cSld>
</p:sld>
</file>

<file path=ppt/slides/slide19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C51D334-7D8A-409B-B792-F1386A450B0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9B8B75FB-1AC6-4DFB-9816-6B70EF8C949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Deployment scale is publicly reported; the four programmes and the design position</a:t>
            </a:r>
            <a:endParaRPr sz="1900"/>
          </a:p>
          <a:p xmlns:a="http://schemas.openxmlformats.org/drawingml/2006/main">
            <a:pPr marL="0" indent="0">
              <a:lnSpc>
                <a:spcPts val="2400"/>
              </a:lnSpc>
              <a:buNone/>
            </a:pPr>
            <a:r>
              <a:rPr sz="1900" b="1">
                <a:solidFill>
                  <a:srgbClr val="102A43"/>
                </a:solidFill>
                <a:latin typeface="Arial"/>
                <a:ea typeface="Arial"/>
                <a:cs typeface="Arial"/>
              </a:rPr>
              <a:t>are from the delivery record</a:t>
            </a:r>
            <a:endParaRPr sz="1900"/>
          </a:p>
        </p:txBody>
      </p:sp>
      <p:sp>
        <p:nvSpPr>
          <p:cNvPr id="4" name="Shape 2">
            <a:extLst xmlns:a="http://schemas.openxmlformats.org/drawingml/2006/main">
              <a:ext uri="{FF2B5EF4-FFF2-40B4-BE49-F238E27FC236}">
                <a16:creationId xmlns:a16="http://schemas.microsoft.com/office/drawing/2014/main" id="{0B9DEF9D-FB80-43B6-861F-9B306C656B31}"/>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CE30AA73-F094-4862-88EA-353B97727B44}"/>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5518130D-1801-4D13-B0DD-33B9457F208A}"/>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8D7216D0-1948-46ED-83E9-48ED513A8A32}"/>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Deployment context</a:t>
            </a:r>
            <a:endParaRPr sz="1200"/>
          </a:p>
        </p:txBody>
      </p:sp>
      <p:sp>
        <p:nvSpPr>
          <p:cNvPr id="8" name="Text 6">
            <a:extLst xmlns:a="http://schemas.openxmlformats.org/drawingml/2006/main">
              <a:ext uri="{FF2B5EF4-FFF2-40B4-BE49-F238E27FC236}">
                <a16:creationId xmlns:a16="http://schemas.microsoft.com/office/drawing/2014/main" id="{7E6B7D23-2956-4EA2-B4FB-48C73286C8ED}"/>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Bank and deployment scale as publicly reported. Retained with attribution and not independently audited.</a:t>
            </a:r>
            <a:endParaRPr sz="920"/>
          </a:p>
        </p:txBody>
      </p:sp>
      <p:sp>
        <p:nvSpPr>
          <p:cNvPr id="9" name="Shape 7">
            <a:extLst xmlns:a="http://schemas.openxmlformats.org/drawingml/2006/main">
              <a:ext uri="{FF2B5EF4-FFF2-40B4-BE49-F238E27FC236}">
                <a16:creationId xmlns:a16="http://schemas.microsoft.com/office/drawing/2014/main" id="{673C1567-E945-4FB7-B6E2-FFA6E4F9F02F}"/>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20FED5C1-5074-47E3-BB61-E200954364B0}"/>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$64B+ asset size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600+ branches across 6 countries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600+ platform users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50+ product categories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90+ ready connectors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100+ reports, 22+ dashboards</a:t>
            </a:r>
            <a:endParaRPr sz="930"/>
          </a:p>
        </p:txBody>
      </p:sp>
      <p:sp>
        <p:nvSpPr>
          <p:cNvPr id="11" name="Shape 9">
            <a:extLst xmlns:a="http://schemas.openxmlformats.org/drawingml/2006/main">
              <a:ext uri="{FF2B5EF4-FFF2-40B4-BE49-F238E27FC236}">
                <a16:creationId xmlns:a16="http://schemas.microsoft.com/office/drawing/2014/main" id="{93B6175E-DDC0-4912-B4F7-3E8E8CC3BD5C}"/>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7F34AF8E-62BC-4147-935C-D3BA4C7EDC6E}"/>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A1EC5391-0705-4958-9528-32A601ACF494}"/>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C2FC0640-F379-4705-9174-269C39C6CEDA}"/>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2CF9CA8C-AB02-422B-8560-441DFCD3C75A}"/>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Four corporate banking programmes delivered during the 2023 engagement.</a:t>
            </a:r>
            <a:endParaRPr sz="920"/>
          </a:p>
        </p:txBody>
      </p:sp>
      <p:sp>
        <p:nvSpPr>
          <p:cNvPr id="16" name="Shape 14">
            <a:extLst xmlns:a="http://schemas.openxmlformats.org/drawingml/2006/main">
              <a:ext uri="{FF2B5EF4-FFF2-40B4-BE49-F238E27FC236}">
                <a16:creationId xmlns:a16="http://schemas.microsoft.com/office/drawing/2014/main" id="{45781C9D-63B5-4C6D-A925-1460BECC9D90}"/>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5A767353-EE85-48F2-8D07-EF6B00635084}"/>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Corporate Client 360 and RM transformation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Multi-country corporate sales lifecycle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Target, achievement and account planning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Profitability and portfolio dashboards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Group and related-party model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F6402B0C-5F5C-40E9-B9BA-AF8A4BEAD19E}"/>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7D933226-251F-482E-B2FC-0088C4C6FEAC}"/>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42E04386-F370-4CFF-A809-577319A34B24}"/>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983D9911-ACC5-47FF-B767-405892ADA13F}"/>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7681C282-E27C-4D3C-B650-F2FD119C42D5}"/>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variance analysis and adoption figures illustrate the argument. Directional, not measured.</a:t>
            </a:r>
            <a:endParaRPr sz="920"/>
          </a:p>
        </p:txBody>
      </p:sp>
      <p:sp>
        <p:nvSpPr>
          <p:cNvPr id="23" name="Shape 21">
            <a:extLst xmlns:a="http://schemas.openxmlformats.org/drawingml/2006/main">
              <a:ext uri="{FF2B5EF4-FFF2-40B4-BE49-F238E27FC236}">
                <a16:creationId xmlns:a16="http://schemas.microsoft.com/office/drawing/2014/main" id="{B522EC15-9A07-4310-8715-AC533AF7756B}"/>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D3B7136A-6272-4EA9-A8D3-C01035CFD667}"/>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Country variance decomposition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Adoption curve by segment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Configuration versus code split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programme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BB640998-1CAE-443A-B08C-82025EDF6BE6}"/>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4AC1D149-1E4E-45FA-9B79-D142EA8E1B80}"/>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87575A1E-CE59-46EE-8CD7-92A8B417A160}"/>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1F563A46-C676-40DA-B1AA-4B70A3AF1564}"/>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318EE5B2-1F9F-4F10-BC03-9A6D86BD13AF}"/>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Explicitly outside this case, so the boundary is unambiguous.</a:t>
            </a:r>
            <a:endParaRPr sz="920"/>
          </a:p>
        </p:txBody>
      </p:sp>
      <p:sp>
        <p:nvSpPr>
          <p:cNvPr id="30" name="Shape 28">
            <a:extLst xmlns:a="http://schemas.openxmlformats.org/drawingml/2006/main">
              <a:ext uri="{FF2B5EF4-FFF2-40B4-BE49-F238E27FC236}">
                <a16:creationId xmlns:a16="http://schemas.microsoft.com/office/drawing/2014/main" id="{401E53FB-90FD-4D00-BCB2-D4137953C4C1}"/>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0BCE216E-9B8D-4800-BC13-4C7C10E38CC7}"/>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Bank commercial or financial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client or exposure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design artefact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Independently audited results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Programmes outside the four listed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engagement</a:t>
            </a:r>
            <a:endParaRPr sz="930"/>
          </a:p>
        </p:txBody>
      </p:sp>
      <p:sp>
        <p:nvSpPr>
          <p:cNvPr id="32" name="Shape 30">
            <a:extLst xmlns:a="http://schemas.openxmlformats.org/drawingml/2006/main">
              <a:ext uri="{FF2B5EF4-FFF2-40B4-BE49-F238E27FC236}">
                <a16:creationId xmlns:a16="http://schemas.microsoft.com/office/drawing/2014/main" id="{CB37AA3A-C25C-4D44-9E8D-BA7F9FDF081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406F8C1C-2DD1-4C2A-AC1C-4E13B5FCEC7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deployment figures (context) · author's delivery record (ownership) · author's synthesis (argument)</a:t>
            </a:r>
            <a:endParaRPr sz="850"/>
          </a:p>
        </p:txBody>
      </p:sp>
      <p:sp>
        <p:nvSpPr>
          <p:cNvPr id="34" name="Text 32">
            <a:extLst xmlns:a="http://schemas.openxmlformats.org/drawingml/2006/main">
              <a:ext uri="{FF2B5EF4-FFF2-40B4-BE49-F238E27FC236}">
                <a16:creationId xmlns:a16="http://schemas.microsoft.com/office/drawing/2014/main" id="{34C70D65-4703-4AF7-A6D6-CD4BBF72F58F}"/>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373289617"/>
      </p:ext>
    </p:extLst>
  </p:cSld>
</p:sld>
</file>

<file path=ppt/slides/slide19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418997-90BD-42A6-B969-7DA7401A17E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SCOPE</a:t>
            </a:r>
            <a:endParaRPr sz="950"/>
          </a:p>
        </p:txBody>
      </p:sp>
      <p:sp>
        <p:nvSpPr>
          <p:cNvPr id="3" name="Text 1">
            <a:extLst xmlns:a="http://schemas.openxmlformats.org/drawingml/2006/main">
              <a:ext uri="{FF2B5EF4-FFF2-40B4-BE49-F238E27FC236}">
                <a16:creationId xmlns:a16="http://schemas.microsoft.com/office/drawing/2014/main" id="{B1C1AD3B-9F87-4AA2-910B-9DC62A94E97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programmes, sequenced so each one made the next cheaper — the relationship</a:t>
            </a:r>
            <a:endParaRPr sz="1900"/>
          </a:p>
          <a:p xmlns:a="http://schemas.openxmlformats.org/drawingml/2006/main">
            <a:pPr marL="0" indent="0">
              <a:lnSpc>
                <a:spcPts val="2400"/>
              </a:lnSpc>
              <a:buNone/>
            </a:pPr>
            <a:r>
              <a:rPr sz="1900" b="1">
                <a:solidFill>
                  <a:srgbClr val="102A43"/>
                </a:solidFill>
                <a:latin typeface="Arial"/>
                <a:ea typeface="Arial"/>
                <a:cs typeface="Arial"/>
              </a:rPr>
              <a:t>model first, then everything that needs to see a relationship</a:t>
            </a:r>
            <a:endParaRPr sz="1900"/>
          </a:p>
        </p:txBody>
      </p:sp>
      <p:sp>
        <p:nvSpPr>
          <p:cNvPr id="4" name="Shape 2">
            <a:extLst xmlns:a="http://schemas.openxmlformats.org/drawingml/2006/main">
              <a:ext uri="{FF2B5EF4-FFF2-40B4-BE49-F238E27FC236}">
                <a16:creationId xmlns:a16="http://schemas.microsoft.com/office/drawing/2014/main" id="{F1138E03-0C71-47E4-BD65-9183C7475D66}"/>
              </a:ext>
            </a:extLst>
          </p:cNvPr>
          <p:cNvSpPr>
            <a:spLocks xmlns:a="http://schemas.openxmlformats.org/drawingml/2006/main" noGrp="1"/>
          </p:cNvSpPr>
          <p:nvPr/>
        </p:nvSpPr>
        <p:spPr>
          <a:xfrm xmlns:a="http://schemas.openxmlformats.org/drawingml/2006/main">
            <a:off x="566928" y="1335024"/>
            <a:ext cx="1302220" cy="859536"/>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93961BF1-6A47-46F0-BC82-BECE75D56665}"/>
              </a:ext>
            </a:extLst>
          </p:cNvPr>
          <p:cNvSpPr>
            <a:spLocks xmlns:a="http://schemas.openxmlformats.org/drawingml/2006/main" noGrp="1"/>
          </p:cNvSpPr>
          <p:nvPr/>
        </p:nvSpPr>
        <p:spPr>
          <a:xfrm xmlns:a="http://schemas.openxmlformats.org/drawingml/2006/main">
            <a:off x="6949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$64B+</a:t>
            </a:r>
            <a:endParaRPr sz="1500"/>
          </a:p>
        </p:txBody>
      </p:sp>
      <p:sp>
        <p:nvSpPr>
          <p:cNvPr id="6" name="Text 4">
            <a:extLst xmlns:a="http://schemas.openxmlformats.org/drawingml/2006/main">
              <a:ext uri="{FF2B5EF4-FFF2-40B4-BE49-F238E27FC236}">
                <a16:creationId xmlns:a16="http://schemas.microsoft.com/office/drawing/2014/main" id="{52ABA92C-4D0C-4DF7-A683-EF8E28B046BA}"/>
              </a:ext>
            </a:extLst>
          </p:cNvPr>
          <p:cNvSpPr>
            <a:spLocks xmlns:a="http://schemas.openxmlformats.org/drawingml/2006/main" noGrp="1"/>
          </p:cNvSpPr>
          <p:nvPr/>
        </p:nvSpPr>
        <p:spPr>
          <a:xfrm xmlns:a="http://schemas.openxmlformats.org/drawingml/2006/main">
            <a:off x="694944"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asset size</a:t>
            </a:r>
            <a:endParaRPr sz="860"/>
          </a:p>
        </p:txBody>
      </p:sp>
      <p:sp>
        <p:nvSpPr>
          <p:cNvPr id="7" name="Shape 5">
            <a:extLst xmlns:a="http://schemas.openxmlformats.org/drawingml/2006/main">
              <a:ext uri="{FF2B5EF4-FFF2-40B4-BE49-F238E27FC236}">
                <a16:creationId xmlns:a16="http://schemas.microsoft.com/office/drawing/2014/main" id="{EC23CA20-98DB-4F6E-95D0-0125F838CF72}"/>
              </a:ext>
            </a:extLst>
          </p:cNvPr>
          <p:cNvSpPr>
            <a:spLocks xmlns:a="http://schemas.openxmlformats.org/drawingml/2006/main" noGrp="1"/>
          </p:cNvSpPr>
          <p:nvPr/>
        </p:nvSpPr>
        <p:spPr>
          <a:xfrm xmlns:a="http://schemas.openxmlformats.org/drawingml/2006/main">
            <a:off x="1960588" y="1335024"/>
            <a:ext cx="1302220" cy="859536"/>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573AD78C-38F0-4FE8-A93D-F1C170C0BABB}"/>
              </a:ext>
            </a:extLst>
          </p:cNvPr>
          <p:cNvSpPr>
            <a:spLocks xmlns:a="http://schemas.openxmlformats.org/drawingml/2006/main" noGrp="1"/>
          </p:cNvSpPr>
          <p:nvPr/>
        </p:nvSpPr>
        <p:spPr>
          <a:xfrm xmlns:a="http://schemas.openxmlformats.org/drawingml/2006/main">
            <a:off x="208860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600+</a:t>
            </a:r>
            <a:endParaRPr sz="1500"/>
          </a:p>
        </p:txBody>
      </p:sp>
      <p:sp>
        <p:nvSpPr>
          <p:cNvPr id="9" name="Text 7">
            <a:extLst xmlns:a="http://schemas.openxmlformats.org/drawingml/2006/main">
              <a:ext uri="{FF2B5EF4-FFF2-40B4-BE49-F238E27FC236}">
                <a16:creationId xmlns:a16="http://schemas.microsoft.com/office/drawing/2014/main" id="{6D3D86A6-628E-4A5F-8D91-B41EA0BDC6E2}"/>
              </a:ext>
            </a:extLst>
          </p:cNvPr>
          <p:cNvSpPr>
            <a:spLocks xmlns:a="http://schemas.openxmlformats.org/drawingml/2006/main" noGrp="1"/>
          </p:cNvSpPr>
          <p:nvPr/>
        </p:nvSpPr>
        <p:spPr>
          <a:xfrm xmlns:a="http://schemas.openxmlformats.org/drawingml/2006/main">
            <a:off x="2088604"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branches</a:t>
            </a:r>
            <a:endParaRPr sz="860"/>
          </a:p>
        </p:txBody>
      </p:sp>
      <p:sp>
        <p:nvSpPr>
          <p:cNvPr id="10" name="Shape 8">
            <a:extLst xmlns:a="http://schemas.openxmlformats.org/drawingml/2006/main">
              <a:ext uri="{FF2B5EF4-FFF2-40B4-BE49-F238E27FC236}">
                <a16:creationId xmlns:a16="http://schemas.microsoft.com/office/drawing/2014/main" id="{AD8B0EFC-E865-4AB2-BC53-13641B8018B7}"/>
              </a:ext>
            </a:extLst>
          </p:cNvPr>
          <p:cNvSpPr>
            <a:spLocks xmlns:a="http://schemas.openxmlformats.org/drawingml/2006/main" noGrp="1"/>
          </p:cNvSpPr>
          <p:nvPr/>
        </p:nvSpPr>
        <p:spPr>
          <a:xfrm xmlns:a="http://schemas.openxmlformats.org/drawingml/2006/main">
            <a:off x="3354248" y="1335024"/>
            <a:ext cx="1302220" cy="859536"/>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2225A2FF-6D23-43D9-B6F8-F4DB420C7A37}"/>
              </a:ext>
            </a:extLst>
          </p:cNvPr>
          <p:cNvSpPr>
            <a:spLocks xmlns:a="http://schemas.openxmlformats.org/drawingml/2006/main" noGrp="1"/>
          </p:cNvSpPr>
          <p:nvPr/>
        </p:nvSpPr>
        <p:spPr>
          <a:xfrm xmlns:a="http://schemas.openxmlformats.org/drawingml/2006/main">
            <a:off x="348226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6</a:t>
            </a:r>
            <a:endParaRPr sz="1500"/>
          </a:p>
        </p:txBody>
      </p:sp>
      <p:sp>
        <p:nvSpPr>
          <p:cNvPr id="12" name="Text 10">
            <a:extLst xmlns:a="http://schemas.openxmlformats.org/drawingml/2006/main">
              <a:ext uri="{FF2B5EF4-FFF2-40B4-BE49-F238E27FC236}">
                <a16:creationId xmlns:a16="http://schemas.microsoft.com/office/drawing/2014/main" id="{C8EEC295-5240-4B0A-8E9A-22F794BB0F3D}"/>
              </a:ext>
            </a:extLst>
          </p:cNvPr>
          <p:cNvSpPr>
            <a:spLocks xmlns:a="http://schemas.openxmlformats.org/drawingml/2006/main" noGrp="1"/>
          </p:cNvSpPr>
          <p:nvPr/>
        </p:nvSpPr>
        <p:spPr>
          <a:xfrm xmlns:a="http://schemas.openxmlformats.org/drawingml/2006/main">
            <a:off x="3482264"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countries</a:t>
            </a:r>
            <a:endParaRPr sz="860"/>
          </a:p>
        </p:txBody>
      </p:sp>
      <p:sp>
        <p:nvSpPr>
          <p:cNvPr id="13" name="Shape 11">
            <a:extLst xmlns:a="http://schemas.openxmlformats.org/drawingml/2006/main">
              <a:ext uri="{FF2B5EF4-FFF2-40B4-BE49-F238E27FC236}">
                <a16:creationId xmlns:a16="http://schemas.microsoft.com/office/drawing/2014/main" id="{7E01EB69-E69F-4CB4-A489-05CB141C26A9}"/>
              </a:ext>
            </a:extLst>
          </p:cNvPr>
          <p:cNvSpPr>
            <a:spLocks xmlns:a="http://schemas.openxmlformats.org/drawingml/2006/main" noGrp="1"/>
          </p:cNvSpPr>
          <p:nvPr/>
        </p:nvSpPr>
        <p:spPr>
          <a:xfrm xmlns:a="http://schemas.openxmlformats.org/drawingml/2006/main">
            <a:off x="4747908" y="1335024"/>
            <a:ext cx="1302220" cy="859536"/>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C59F2538-4E37-4510-9948-F2EAE7EC6496}"/>
              </a:ext>
            </a:extLst>
          </p:cNvPr>
          <p:cNvSpPr>
            <a:spLocks xmlns:a="http://schemas.openxmlformats.org/drawingml/2006/main" noGrp="1"/>
          </p:cNvSpPr>
          <p:nvPr/>
        </p:nvSpPr>
        <p:spPr>
          <a:xfrm xmlns:a="http://schemas.openxmlformats.org/drawingml/2006/main">
            <a:off x="487592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50+</a:t>
            </a:r>
            <a:endParaRPr sz="1500"/>
          </a:p>
        </p:txBody>
      </p:sp>
      <p:sp>
        <p:nvSpPr>
          <p:cNvPr id="15" name="Text 13">
            <a:extLst xmlns:a="http://schemas.openxmlformats.org/drawingml/2006/main">
              <a:ext uri="{FF2B5EF4-FFF2-40B4-BE49-F238E27FC236}">
                <a16:creationId xmlns:a16="http://schemas.microsoft.com/office/drawing/2014/main" id="{DBAECE53-5CBD-4097-8614-C1238161C5E4}"/>
              </a:ext>
            </a:extLst>
          </p:cNvPr>
          <p:cNvSpPr>
            <a:spLocks xmlns:a="http://schemas.openxmlformats.org/drawingml/2006/main" noGrp="1"/>
          </p:cNvSpPr>
          <p:nvPr/>
        </p:nvSpPr>
        <p:spPr>
          <a:xfrm xmlns:a="http://schemas.openxmlformats.org/drawingml/2006/main">
            <a:off x="4875924"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product categories</a:t>
            </a:r>
            <a:endParaRPr sz="860"/>
          </a:p>
        </p:txBody>
      </p:sp>
      <p:sp>
        <p:nvSpPr>
          <p:cNvPr id="16" name="Shape 14">
            <a:extLst xmlns:a="http://schemas.openxmlformats.org/drawingml/2006/main">
              <a:ext uri="{FF2B5EF4-FFF2-40B4-BE49-F238E27FC236}">
                <a16:creationId xmlns:a16="http://schemas.microsoft.com/office/drawing/2014/main" id="{550FBE16-5D14-4FC8-AEDD-A1B1EBF52ACF}"/>
              </a:ext>
            </a:extLst>
          </p:cNvPr>
          <p:cNvSpPr>
            <a:spLocks xmlns:a="http://schemas.openxmlformats.org/drawingml/2006/main" noGrp="1"/>
          </p:cNvSpPr>
          <p:nvPr/>
        </p:nvSpPr>
        <p:spPr>
          <a:xfrm xmlns:a="http://schemas.openxmlformats.org/drawingml/2006/main">
            <a:off x="6141568" y="1335024"/>
            <a:ext cx="1302220" cy="859536"/>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7DD54EC2-1866-4856-941D-E76B4BF79784}"/>
              </a:ext>
            </a:extLst>
          </p:cNvPr>
          <p:cNvSpPr>
            <a:spLocks xmlns:a="http://schemas.openxmlformats.org/drawingml/2006/main" noGrp="1"/>
          </p:cNvSpPr>
          <p:nvPr/>
        </p:nvSpPr>
        <p:spPr>
          <a:xfrm xmlns:a="http://schemas.openxmlformats.org/drawingml/2006/main">
            <a:off x="626958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90+</a:t>
            </a:r>
            <a:endParaRPr sz="1500"/>
          </a:p>
        </p:txBody>
      </p:sp>
      <p:sp>
        <p:nvSpPr>
          <p:cNvPr id="18" name="Text 16">
            <a:extLst xmlns:a="http://schemas.openxmlformats.org/drawingml/2006/main">
              <a:ext uri="{FF2B5EF4-FFF2-40B4-BE49-F238E27FC236}">
                <a16:creationId xmlns:a16="http://schemas.microsoft.com/office/drawing/2014/main" id="{116CB1F8-34B2-454D-B505-A57B9E5AC2C8}"/>
              </a:ext>
            </a:extLst>
          </p:cNvPr>
          <p:cNvSpPr>
            <a:spLocks xmlns:a="http://schemas.openxmlformats.org/drawingml/2006/main" noGrp="1"/>
          </p:cNvSpPr>
          <p:nvPr/>
        </p:nvSpPr>
        <p:spPr>
          <a:xfrm xmlns:a="http://schemas.openxmlformats.org/drawingml/2006/main">
            <a:off x="6269584"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ready connectors</a:t>
            </a:r>
            <a:endParaRPr sz="860"/>
          </a:p>
        </p:txBody>
      </p:sp>
      <p:sp>
        <p:nvSpPr>
          <p:cNvPr id="19" name="Shape 17">
            <a:extLst xmlns:a="http://schemas.openxmlformats.org/drawingml/2006/main">
              <a:ext uri="{FF2B5EF4-FFF2-40B4-BE49-F238E27FC236}">
                <a16:creationId xmlns:a16="http://schemas.microsoft.com/office/drawing/2014/main" id="{4BC97233-9A00-416D-99CF-5BCFBB62B04E}"/>
              </a:ext>
            </a:extLst>
          </p:cNvPr>
          <p:cNvSpPr>
            <a:spLocks xmlns:a="http://schemas.openxmlformats.org/drawingml/2006/main" noGrp="1"/>
          </p:cNvSpPr>
          <p:nvPr/>
        </p:nvSpPr>
        <p:spPr>
          <a:xfrm xmlns:a="http://schemas.openxmlformats.org/drawingml/2006/main">
            <a:off x="7535228" y="1335024"/>
            <a:ext cx="1302220" cy="859536"/>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5C74537A-6A62-4D7B-A0E5-86BFB7580C7C}"/>
              </a:ext>
            </a:extLst>
          </p:cNvPr>
          <p:cNvSpPr>
            <a:spLocks xmlns:a="http://schemas.openxmlformats.org/drawingml/2006/main" noGrp="1"/>
          </p:cNvSpPr>
          <p:nvPr/>
        </p:nvSpPr>
        <p:spPr>
          <a:xfrm xmlns:a="http://schemas.openxmlformats.org/drawingml/2006/main">
            <a:off x="7663244"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100+</a:t>
            </a:r>
            <a:endParaRPr sz="1500"/>
          </a:p>
        </p:txBody>
      </p:sp>
      <p:sp>
        <p:nvSpPr>
          <p:cNvPr id="21" name="Text 19">
            <a:extLst xmlns:a="http://schemas.openxmlformats.org/drawingml/2006/main">
              <a:ext uri="{FF2B5EF4-FFF2-40B4-BE49-F238E27FC236}">
                <a16:creationId xmlns:a16="http://schemas.microsoft.com/office/drawing/2014/main" id="{F6A5EDDB-2A98-4CE4-934E-CBF0B992B270}"/>
              </a:ext>
            </a:extLst>
          </p:cNvPr>
          <p:cNvSpPr>
            <a:spLocks xmlns:a="http://schemas.openxmlformats.org/drawingml/2006/main" noGrp="1"/>
          </p:cNvSpPr>
          <p:nvPr/>
        </p:nvSpPr>
        <p:spPr>
          <a:xfrm xmlns:a="http://schemas.openxmlformats.org/drawingml/2006/main">
            <a:off x="7663244"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reports delivered</a:t>
            </a:r>
            <a:endParaRPr sz="860"/>
          </a:p>
        </p:txBody>
      </p:sp>
      <p:sp>
        <p:nvSpPr>
          <p:cNvPr id="22" name="Shape 20">
            <a:extLst xmlns:a="http://schemas.openxmlformats.org/drawingml/2006/main">
              <a:ext uri="{FF2B5EF4-FFF2-40B4-BE49-F238E27FC236}">
                <a16:creationId xmlns:a16="http://schemas.microsoft.com/office/drawing/2014/main" id="{A54E1D08-EFAC-4A72-8984-223FE9C33299}"/>
              </a:ext>
            </a:extLst>
          </p:cNvPr>
          <p:cNvSpPr>
            <a:spLocks xmlns:a="http://schemas.openxmlformats.org/drawingml/2006/main" noGrp="1"/>
          </p:cNvSpPr>
          <p:nvPr/>
        </p:nvSpPr>
        <p:spPr>
          <a:xfrm xmlns:a="http://schemas.openxmlformats.org/drawingml/2006/main">
            <a:off x="8928887" y="1335024"/>
            <a:ext cx="1302220" cy="859536"/>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C6C4E1CF-B2C2-4FF3-BCA0-904F51402AF9}"/>
              </a:ext>
            </a:extLst>
          </p:cNvPr>
          <p:cNvSpPr>
            <a:spLocks xmlns:a="http://schemas.openxmlformats.org/drawingml/2006/main" noGrp="1"/>
          </p:cNvSpPr>
          <p:nvPr/>
        </p:nvSpPr>
        <p:spPr>
          <a:xfrm xmlns:a="http://schemas.openxmlformats.org/drawingml/2006/main">
            <a:off x="905690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22+</a:t>
            </a:r>
            <a:endParaRPr sz="1500"/>
          </a:p>
        </p:txBody>
      </p:sp>
      <p:sp>
        <p:nvSpPr>
          <p:cNvPr id="24" name="Text 22">
            <a:extLst xmlns:a="http://schemas.openxmlformats.org/drawingml/2006/main">
              <a:ext uri="{FF2B5EF4-FFF2-40B4-BE49-F238E27FC236}">
                <a16:creationId xmlns:a16="http://schemas.microsoft.com/office/drawing/2014/main" id="{ED396D62-28FA-435C-B7BB-942BBD824ECF}"/>
              </a:ext>
            </a:extLst>
          </p:cNvPr>
          <p:cNvSpPr>
            <a:spLocks xmlns:a="http://schemas.openxmlformats.org/drawingml/2006/main" noGrp="1"/>
          </p:cNvSpPr>
          <p:nvPr/>
        </p:nvSpPr>
        <p:spPr>
          <a:xfrm xmlns:a="http://schemas.openxmlformats.org/drawingml/2006/main">
            <a:off x="9056903"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executive dashboards</a:t>
            </a:r>
            <a:endParaRPr sz="860"/>
          </a:p>
        </p:txBody>
      </p:sp>
      <p:sp>
        <p:nvSpPr>
          <p:cNvPr id="25" name="Shape 23">
            <a:extLst xmlns:a="http://schemas.openxmlformats.org/drawingml/2006/main">
              <a:ext uri="{FF2B5EF4-FFF2-40B4-BE49-F238E27FC236}">
                <a16:creationId xmlns:a16="http://schemas.microsoft.com/office/drawing/2014/main" id="{E1C98254-E6C2-4086-B47D-751FBF573560}"/>
              </a:ext>
            </a:extLst>
          </p:cNvPr>
          <p:cNvSpPr>
            <a:spLocks xmlns:a="http://schemas.openxmlformats.org/drawingml/2006/main" noGrp="1"/>
          </p:cNvSpPr>
          <p:nvPr/>
        </p:nvSpPr>
        <p:spPr>
          <a:xfrm xmlns:a="http://schemas.openxmlformats.org/drawingml/2006/main">
            <a:off x="10322547" y="1335024"/>
            <a:ext cx="1302220" cy="859536"/>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788AEB8A-49D6-4BB0-B6AC-4F3F8D6BC107}"/>
              </a:ext>
            </a:extLst>
          </p:cNvPr>
          <p:cNvSpPr>
            <a:spLocks xmlns:a="http://schemas.openxmlformats.org/drawingml/2006/main" noGrp="1"/>
          </p:cNvSpPr>
          <p:nvPr/>
        </p:nvSpPr>
        <p:spPr>
          <a:xfrm xmlns:a="http://schemas.openxmlformats.org/drawingml/2006/main">
            <a:off x="10450563" y="1453896"/>
            <a:ext cx="104618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102A43"/>
                </a:solidFill>
                <a:latin typeface="Arial"/>
                <a:ea typeface="Arial"/>
                <a:cs typeface="Arial"/>
              </a:rPr>
              <a:t>600+</a:t>
            </a:r>
            <a:endParaRPr sz="1500"/>
          </a:p>
        </p:txBody>
      </p:sp>
      <p:sp>
        <p:nvSpPr>
          <p:cNvPr id="27" name="Text 25">
            <a:extLst xmlns:a="http://schemas.openxmlformats.org/drawingml/2006/main">
              <a:ext uri="{FF2B5EF4-FFF2-40B4-BE49-F238E27FC236}">
                <a16:creationId xmlns:a16="http://schemas.microsoft.com/office/drawing/2014/main" id="{4A468603-AA15-427B-8865-1193DE5E9932}"/>
              </a:ext>
            </a:extLst>
          </p:cNvPr>
          <p:cNvSpPr>
            <a:spLocks xmlns:a="http://schemas.openxmlformats.org/drawingml/2006/main" noGrp="1"/>
          </p:cNvSpPr>
          <p:nvPr/>
        </p:nvSpPr>
        <p:spPr>
          <a:xfrm xmlns:a="http://schemas.openxmlformats.org/drawingml/2006/main">
            <a:off x="10450563" y="1847088"/>
            <a:ext cx="1046188"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platform users</a:t>
            </a:r>
            <a:endParaRPr sz="860"/>
          </a:p>
        </p:txBody>
      </p:sp>
      <p:sp>
        <p:nvSpPr>
          <p:cNvPr id="28" name="Shape 26">
            <a:extLst xmlns:a="http://schemas.openxmlformats.org/drawingml/2006/main">
              <a:ext uri="{FF2B5EF4-FFF2-40B4-BE49-F238E27FC236}">
                <a16:creationId xmlns:a16="http://schemas.microsoft.com/office/drawing/2014/main" id="{01AF0BE6-56D3-4703-BBC1-68FD264804F6}"/>
              </a:ext>
            </a:extLst>
          </p:cNvPr>
          <p:cNvSpPr>
            <a:spLocks xmlns:a="http://schemas.openxmlformats.org/drawingml/2006/main" noGrp="1"/>
          </p:cNvSpPr>
          <p:nvPr/>
        </p:nvSpPr>
        <p:spPr>
          <a:xfrm xmlns:a="http://schemas.openxmlformats.org/drawingml/2006/main">
            <a:off x="566928" y="2322576"/>
            <a:ext cx="2641016" cy="1975104"/>
          </a:xfrm>
          <a:prstGeom xmlns:a="http://schemas.openxmlformats.org/drawingml/2006/main" prst="rect">
            <a:avLst/>
          </a:prstGeom>
          <a:solidFill xmlns:a="http://schemas.openxmlformats.org/drawingml/2006/main">
            <a:srgbClr val="F3E6E0"/>
          </a:solidFill>
        </p:spPr>
      </p:sp>
      <p:sp>
        <p:nvSpPr>
          <p:cNvPr id="29" name="Text 27">
            <a:extLst xmlns:a="http://schemas.openxmlformats.org/drawingml/2006/main">
              <a:ext uri="{FF2B5EF4-FFF2-40B4-BE49-F238E27FC236}">
                <a16:creationId xmlns:a16="http://schemas.microsoft.com/office/drawing/2014/main" id="{9B66487F-005A-467B-8C0E-3CCE193DCBF7}"/>
              </a:ext>
            </a:extLst>
          </p:cNvPr>
          <p:cNvSpPr>
            <a:spLocks xmlns:a="http://schemas.openxmlformats.org/drawingml/2006/main" noGrp="1"/>
          </p:cNvSpPr>
          <p:nvPr/>
        </p:nvSpPr>
        <p:spPr>
          <a:xfrm xmlns:a="http://schemas.openxmlformats.org/drawingml/2006/main">
            <a:off x="768096" y="2432304"/>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B04A25"/>
                </a:solidFill>
                <a:latin typeface="Arial"/>
                <a:ea typeface="Arial"/>
                <a:cs typeface="Arial"/>
              </a:rPr>
              <a:t>Corporate Client 360</a:t>
            </a:r>
            <a:endParaRPr sz="1140"/>
          </a:p>
          <a:p xmlns:a="http://schemas.openxmlformats.org/drawingml/2006/main">
            <a:pPr marL="0" indent="0" algn="l">
              <a:lnSpc>
                <a:spcPts val="1350"/>
              </a:lnSpc>
              <a:buNone/>
            </a:pPr>
            <a:r>
              <a:rPr sz="1140" b="1">
                <a:solidFill>
                  <a:srgbClr val="B04A25"/>
                </a:solidFill>
                <a:latin typeface="Arial"/>
                <a:ea typeface="Arial"/>
                <a:cs typeface="Arial"/>
              </a:rPr>
              <a:t>and RM transformation</a:t>
            </a:r>
            <a:endParaRPr sz="1140"/>
          </a:p>
        </p:txBody>
      </p:sp>
      <p:sp>
        <p:nvSpPr>
          <p:cNvPr id="30" name="Shape 28">
            <a:extLst xmlns:a="http://schemas.openxmlformats.org/drawingml/2006/main">
              <a:ext uri="{FF2B5EF4-FFF2-40B4-BE49-F238E27FC236}">
                <a16:creationId xmlns:a16="http://schemas.microsoft.com/office/drawing/2014/main" id="{8981B6BD-DE25-44AA-9A5B-645CDD3689B1}"/>
              </a:ext>
            </a:extLst>
          </p:cNvPr>
          <p:cNvSpPr>
            <a:spLocks xmlns:a="http://schemas.openxmlformats.org/drawingml/2006/main" noGrp="1"/>
          </p:cNvSpPr>
          <p:nvPr/>
        </p:nvSpPr>
        <p:spPr>
          <a:xfrm xmlns:a="http://schemas.openxmlformats.org/drawingml/2006/main">
            <a:off x="768096" y="2980944"/>
            <a:ext cx="223868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8D84EED7-2339-496F-84DD-44B811BCC73A}"/>
              </a:ext>
            </a:extLst>
          </p:cNvPr>
          <p:cNvSpPr>
            <a:spLocks xmlns:a="http://schemas.openxmlformats.org/drawingml/2006/main" noGrp="1"/>
          </p:cNvSpPr>
          <p:nvPr/>
        </p:nvSpPr>
        <p:spPr>
          <a:xfrm xmlns:a="http://schemas.openxmlformats.org/drawingml/2006/main">
            <a:off x="768096" y="3090672"/>
            <a:ext cx="2238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Group hierarchy and related parties</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Single view of holdings and finances</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RM ownership and coverage model</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Onboarding with tax and identity checks</a:t>
            </a:r>
            <a:endParaRPr sz="890"/>
          </a:p>
        </p:txBody>
      </p:sp>
      <p:sp>
        <p:nvSpPr>
          <p:cNvPr id="32" name="Shape 30">
            <a:extLst xmlns:a="http://schemas.openxmlformats.org/drawingml/2006/main">
              <a:ext uri="{FF2B5EF4-FFF2-40B4-BE49-F238E27FC236}">
                <a16:creationId xmlns:a16="http://schemas.microsoft.com/office/drawing/2014/main" id="{F94BD4AC-78F8-48A0-9596-ACE7708D9AD4}"/>
              </a:ext>
            </a:extLst>
          </p:cNvPr>
          <p:cNvSpPr>
            <a:spLocks xmlns:a="http://schemas.openxmlformats.org/drawingml/2006/main" noGrp="1"/>
          </p:cNvSpPr>
          <p:nvPr/>
        </p:nvSpPr>
        <p:spPr>
          <a:xfrm xmlns:a="http://schemas.openxmlformats.org/drawingml/2006/main">
            <a:off x="3372536" y="2322576"/>
            <a:ext cx="2641016" cy="1975104"/>
          </a:xfrm>
          <a:prstGeom xmlns:a="http://schemas.openxmlformats.org/drawingml/2006/main" prst="rect">
            <a:avLst/>
          </a:prstGeom>
          <a:solidFill xmlns:a="http://schemas.openxmlformats.org/drawingml/2006/main">
            <a:srgbClr val="F3E6E0"/>
          </a:solidFill>
        </p:spPr>
      </p:sp>
      <p:sp>
        <p:nvSpPr>
          <p:cNvPr id="33" name="Text 31">
            <a:extLst xmlns:a="http://schemas.openxmlformats.org/drawingml/2006/main">
              <a:ext uri="{FF2B5EF4-FFF2-40B4-BE49-F238E27FC236}">
                <a16:creationId xmlns:a16="http://schemas.microsoft.com/office/drawing/2014/main" id="{5358C9D5-EF68-46FC-B279-751F890C6CA1}"/>
              </a:ext>
            </a:extLst>
          </p:cNvPr>
          <p:cNvSpPr>
            <a:spLocks xmlns:a="http://schemas.openxmlformats.org/drawingml/2006/main" noGrp="1"/>
          </p:cNvSpPr>
          <p:nvPr/>
        </p:nvSpPr>
        <p:spPr>
          <a:xfrm xmlns:a="http://schemas.openxmlformats.org/drawingml/2006/main">
            <a:off x="3573704" y="2432304"/>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B04A25"/>
                </a:solidFill>
                <a:latin typeface="Arial"/>
                <a:ea typeface="Arial"/>
                <a:cs typeface="Arial"/>
              </a:rPr>
              <a:t>Multi-country corporate</a:t>
            </a:r>
            <a:endParaRPr sz="1140"/>
          </a:p>
          <a:p xmlns:a="http://schemas.openxmlformats.org/drawingml/2006/main">
            <a:pPr marL="0" indent="0" algn="l">
              <a:lnSpc>
                <a:spcPts val="1350"/>
              </a:lnSpc>
              <a:buNone/>
            </a:pPr>
            <a:r>
              <a:rPr sz="1140" b="1">
                <a:solidFill>
                  <a:srgbClr val="B04A25"/>
                </a:solidFill>
                <a:latin typeface="Arial"/>
                <a:ea typeface="Arial"/>
                <a:cs typeface="Arial"/>
              </a:rPr>
              <a:t>sales lifecycle</a:t>
            </a:r>
            <a:endParaRPr sz="1140"/>
          </a:p>
        </p:txBody>
      </p:sp>
      <p:sp>
        <p:nvSpPr>
          <p:cNvPr id="34" name="Shape 32">
            <a:extLst xmlns:a="http://schemas.openxmlformats.org/drawingml/2006/main">
              <a:ext uri="{FF2B5EF4-FFF2-40B4-BE49-F238E27FC236}">
                <a16:creationId xmlns:a16="http://schemas.microsoft.com/office/drawing/2014/main" id="{7A4BDD48-F9C4-4EDB-BF05-369D433F4998}"/>
              </a:ext>
            </a:extLst>
          </p:cNvPr>
          <p:cNvSpPr>
            <a:spLocks xmlns:a="http://schemas.openxmlformats.org/drawingml/2006/main" noGrp="1"/>
          </p:cNvSpPr>
          <p:nvPr/>
        </p:nvSpPr>
        <p:spPr>
          <a:xfrm xmlns:a="http://schemas.openxmlformats.org/drawingml/2006/main">
            <a:off x="3573704" y="2980944"/>
            <a:ext cx="2238680" cy="13716"/>
          </a:xfrm>
          <a:prstGeom xmlns:a="http://schemas.openxmlformats.org/drawingml/2006/main" prst="rect">
            <a:avLst/>
          </a:prstGeom>
          <a:solidFill xmlns:a="http://schemas.openxmlformats.org/drawingml/2006/main">
            <a:srgbClr val="C6D2DE"/>
          </a:solidFill>
        </p:spPr>
      </p:sp>
      <p:sp>
        <p:nvSpPr>
          <p:cNvPr id="35" name="Text 33">
            <a:extLst xmlns:a="http://schemas.openxmlformats.org/drawingml/2006/main">
              <a:ext uri="{FF2B5EF4-FFF2-40B4-BE49-F238E27FC236}">
                <a16:creationId xmlns:a16="http://schemas.microsoft.com/office/drawing/2014/main" id="{B29D9AAA-9985-46C5-B8EC-10375393A781}"/>
              </a:ext>
            </a:extLst>
          </p:cNvPr>
          <p:cNvSpPr>
            <a:spLocks xmlns:a="http://schemas.openxmlformats.org/drawingml/2006/main" noGrp="1"/>
          </p:cNvSpPr>
          <p:nvPr/>
        </p:nvSpPr>
        <p:spPr>
          <a:xfrm xmlns:a="http://schemas.openxmlformats.org/drawingml/2006/main">
            <a:off x="3573704" y="3090672"/>
            <a:ext cx="2238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Corporate, commercial, SME, government</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Origination to execution, one lifecycle</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Scoring and rule-based escalation</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Predictive opportunity health scoring</a:t>
            </a:r>
            <a:endParaRPr sz="890"/>
          </a:p>
        </p:txBody>
      </p:sp>
      <p:sp>
        <p:nvSpPr>
          <p:cNvPr id="36" name="Shape 34">
            <a:extLst xmlns:a="http://schemas.openxmlformats.org/drawingml/2006/main">
              <a:ext uri="{FF2B5EF4-FFF2-40B4-BE49-F238E27FC236}">
                <a16:creationId xmlns:a16="http://schemas.microsoft.com/office/drawing/2014/main" id="{4D8EC71E-57BC-4286-A696-8259BDD387F4}"/>
              </a:ext>
            </a:extLst>
          </p:cNvPr>
          <p:cNvSpPr>
            <a:spLocks xmlns:a="http://schemas.openxmlformats.org/drawingml/2006/main" noGrp="1"/>
          </p:cNvSpPr>
          <p:nvPr/>
        </p:nvSpPr>
        <p:spPr>
          <a:xfrm xmlns:a="http://schemas.openxmlformats.org/drawingml/2006/main">
            <a:off x="6178144" y="2322576"/>
            <a:ext cx="2641016" cy="1975104"/>
          </a:xfrm>
          <a:prstGeom xmlns:a="http://schemas.openxmlformats.org/drawingml/2006/main" prst="rect">
            <a:avLst/>
          </a:prstGeom>
          <a:solidFill xmlns:a="http://schemas.openxmlformats.org/drawingml/2006/main">
            <a:srgbClr val="F0F4F8"/>
          </a:solidFill>
        </p:spPr>
      </p:sp>
      <p:sp>
        <p:nvSpPr>
          <p:cNvPr id="37" name="Text 35">
            <a:extLst xmlns:a="http://schemas.openxmlformats.org/drawingml/2006/main">
              <a:ext uri="{FF2B5EF4-FFF2-40B4-BE49-F238E27FC236}">
                <a16:creationId xmlns:a16="http://schemas.microsoft.com/office/drawing/2014/main" id="{0A3D0B1E-90FD-45D1-98EE-14AA501F6F32}"/>
              </a:ext>
            </a:extLst>
          </p:cNvPr>
          <p:cNvSpPr>
            <a:spLocks xmlns:a="http://schemas.openxmlformats.org/drawingml/2006/main" noGrp="1"/>
          </p:cNvSpPr>
          <p:nvPr/>
        </p:nvSpPr>
        <p:spPr>
          <a:xfrm xmlns:a="http://schemas.openxmlformats.org/drawingml/2006/main">
            <a:off x="6379312" y="2432304"/>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486581"/>
                </a:solidFill>
                <a:latin typeface="Arial"/>
                <a:ea typeface="Arial"/>
                <a:cs typeface="Arial"/>
              </a:rPr>
              <a:t>Target, achievement and</a:t>
            </a:r>
            <a:endParaRPr sz="1140"/>
          </a:p>
          <a:p xmlns:a="http://schemas.openxmlformats.org/drawingml/2006/main">
            <a:pPr marL="0" indent="0" algn="l">
              <a:lnSpc>
                <a:spcPts val="1350"/>
              </a:lnSpc>
              <a:buNone/>
            </a:pPr>
            <a:r>
              <a:rPr sz="1140" b="1">
                <a:solidFill>
                  <a:srgbClr val="486581"/>
                </a:solidFill>
                <a:latin typeface="Arial"/>
                <a:ea typeface="Arial"/>
                <a:cs typeface="Arial"/>
              </a:rPr>
              <a:t>account planning</a:t>
            </a:r>
            <a:endParaRPr sz="1140"/>
          </a:p>
        </p:txBody>
      </p:sp>
      <p:sp>
        <p:nvSpPr>
          <p:cNvPr id="38" name="Shape 36">
            <a:extLst xmlns:a="http://schemas.openxmlformats.org/drawingml/2006/main">
              <a:ext uri="{FF2B5EF4-FFF2-40B4-BE49-F238E27FC236}">
                <a16:creationId xmlns:a16="http://schemas.microsoft.com/office/drawing/2014/main" id="{EC04B16D-B7BC-4133-BABF-645937CD976D}"/>
              </a:ext>
            </a:extLst>
          </p:cNvPr>
          <p:cNvSpPr>
            <a:spLocks xmlns:a="http://schemas.openxmlformats.org/drawingml/2006/main" noGrp="1"/>
          </p:cNvSpPr>
          <p:nvPr/>
        </p:nvSpPr>
        <p:spPr>
          <a:xfrm xmlns:a="http://schemas.openxmlformats.org/drawingml/2006/main">
            <a:off x="6379312" y="2980944"/>
            <a:ext cx="2238680" cy="13716"/>
          </a:xfrm>
          <a:prstGeom xmlns:a="http://schemas.openxmlformats.org/drawingml/2006/main" prst="rect">
            <a:avLst/>
          </a:prstGeom>
          <a:solidFill xmlns:a="http://schemas.openxmlformats.org/drawingml/2006/main">
            <a:srgbClr val="C6D2DE"/>
          </a:solidFill>
        </p:spPr>
      </p:sp>
      <p:sp>
        <p:nvSpPr>
          <p:cNvPr id="39" name="Text 37">
            <a:extLst xmlns:a="http://schemas.openxmlformats.org/drawingml/2006/main">
              <a:ext uri="{FF2B5EF4-FFF2-40B4-BE49-F238E27FC236}">
                <a16:creationId xmlns:a16="http://schemas.microsoft.com/office/drawing/2014/main" id="{87C2A745-7446-446A-987D-60E6EBC84D2A}"/>
              </a:ext>
            </a:extLst>
          </p:cNvPr>
          <p:cNvSpPr>
            <a:spLocks xmlns:a="http://schemas.openxmlformats.org/drawingml/2006/main" noGrp="1"/>
          </p:cNvSpPr>
          <p:nvPr/>
        </p:nvSpPr>
        <p:spPr>
          <a:xfrm xmlns:a="http://schemas.openxmlformats.org/drawingml/2006/main">
            <a:off x="6379312" y="3090672"/>
            <a:ext cx="2238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Planned against actual, RM and portfolio</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Wallet and share-of-relationship measures</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Seasonality and period handling</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Record freezing at period close</a:t>
            </a:r>
            <a:endParaRPr sz="890"/>
          </a:p>
        </p:txBody>
      </p:sp>
      <p:sp>
        <p:nvSpPr>
          <p:cNvPr id="40" name="Shape 38">
            <a:extLst xmlns:a="http://schemas.openxmlformats.org/drawingml/2006/main">
              <a:ext uri="{FF2B5EF4-FFF2-40B4-BE49-F238E27FC236}">
                <a16:creationId xmlns:a16="http://schemas.microsoft.com/office/drawing/2014/main" id="{1FD33FC9-7C11-44AE-B872-A12143733E2A}"/>
              </a:ext>
            </a:extLst>
          </p:cNvPr>
          <p:cNvSpPr>
            <a:spLocks xmlns:a="http://schemas.openxmlformats.org/drawingml/2006/main" noGrp="1"/>
          </p:cNvSpPr>
          <p:nvPr/>
        </p:nvSpPr>
        <p:spPr>
          <a:xfrm xmlns:a="http://schemas.openxmlformats.org/drawingml/2006/main">
            <a:off x="8983751" y="2322576"/>
            <a:ext cx="2641016" cy="1975104"/>
          </a:xfrm>
          <a:prstGeom xmlns:a="http://schemas.openxmlformats.org/drawingml/2006/main" prst="rect">
            <a:avLst/>
          </a:prstGeom>
          <a:solidFill xmlns:a="http://schemas.openxmlformats.org/drawingml/2006/main">
            <a:srgbClr val="F0F4F8"/>
          </a:solidFill>
        </p:spPr>
      </p:sp>
      <p:sp>
        <p:nvSpPr>
          <p:cNvPr id="41" name="Text 39">
            <a:extLst xmlns:a="http://schemas.openxmlformats.org/drawingml/2006/main">
              <a:ext uri="{FF2B5EF4-FFF2-40B4-BE49-F238E27FC236}">
                <a16:creationId xmlns:a16="http://schemas.microsoft.com/office/drawing/2014/main" id="{461A61E5-DEC3-4F12-9415-702B2AA0296C}"/>
              </a:ext>
            </a:extLst>
          </p:cNvPr>
          <p:cNvSpPr>
            <a:spLocks xmlns:a="http://schemas.openxmlformats.org/drawingml/2006/main" noGrp="1"/>
          </p:cNvSpPr>
          <p:nvPr/>
        </p:nvSpPr>
        <p:spPr>
          <a:xfrm xmlns:a="http://schemas.openxmlformats.org/drawingml/2006/main">
            <a:off x="9184919" y="2432304"/>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486581"/>
                </a:solidFill>
                <a:latin typeface="Arial"/>
                <a:ea typeface="Arial"/>
                <a:cs typeface="Arial"/>
              </a:rPr>
              <a:t>Profitability and</a:t>
            </a:r>
            <a:endParaRPr sz="1140"/>
          </a:p>
          <a:p xmlns:a="http://schemas.openxmlformats.org/drawingml/2006/main">
            <a:pPr marL="0" indent="0" algn="l">
              <a:lnSpc>
                <a:spcPts val="1350"/>
              </a:lnSpc>
              <a:buNone/>
            </a:pPr>
            <a:r>
              <a:rPr sz="1140" b="1">
                <a:solidFill>
                  <a:srgbClr val="486581"/>
                </a:solidFill>
                <a:latin typeface="Arial"/>
                <a:ea typeface="Arial"/>
                <a:cs typeface="Arial"/>
              </a:rPr>
              <a:t>portfolio dashboards</a:t>
            </a:r>
            <a:endParaRPr sz="1140"/>
          </a:p>
        </p:txBody>
      </p:sp>
      <p:sp>
        <p:nvSpPr>
          <p:cNvPr id="42" name="Shape 40">
            <a:extLst xmlns:a="http://schemas.openxmlformats.org/drawingml/2006/main">
              <a:ext uri="{FF2B5EF4-FFF2-40B4-BE49-F238E27FC236}">
                <a16:creationId xmlns:a16="http://schemas.microsoft.com/office/drawing/2014/main" id="{B9046E26-AA0C-4382-8B50-E79ED9EA40AF}"/>
              </a:ext>
            </a:extLst>
          </p:cNvPr>
          <p:cNvSpPr>
            <a:spLocks xmlns:a="http://schemas.openxmlformats.org/drawingml/2006/main" noGrp="1"/>
          </p:cNvSpPr>
          <p:nvPr/>
        </p:nvSpPr>
        <p:spPr>
          <a:xfrm xmlns:a="http://schemas.openxmlformats.org/drawingml/2006/main">
            <a:off x="9184919" y="2980944"/>
            <a:ext cx="2238680" cy="13716"/>
          </a:xfrm>
          <a:prstGeom xmlns:a="http://schemas.openxmlformats.org/drawingml/2006/main" prst="rect">
            <a:avLst/>
          </a:prstGeom>
          <a:solidFill xmlns:a="http://schemas.openxmlformats.org/drawingml/2006/main">
            <a:srgbClr val="C6D2DE"/>
          </a:solidFill>
        </p:spPr>
      </p:sp>
      <p:sp>
        <p:nvSpPr>
          <p:cNvPr id="43" name="Text 41">
            <a:extLst xmlns:a="http://schemas.openxmlformats.org/drawingml/2006/main">
              <a:ext uri="{FF2B5EF4-FFF2-40B4-BE49-F238E27FC236}">
                <a16:creationId xmlns:a16="http://schemas.microsoft.com/office/drawing/2014/main" id="{E30C8AE1-04E3-4753-902E-46AB9332EEC8}"/>
              </a:ext>
            </a:extLst>
          </p:cNvPr>
          <p:cNvSpPr>
            <a:spLocks xmlns:a="http://schemas.openxmlformats.org/drawingml/2006/main" noGrp="1"/>
          </p:cNvSpPr>
          <p:nvPr/>
        </p:nvSpPr>
        <p:spPr>
          <a:xfrm xmlns:a="http://schemas.openxmlformats.org/drawingml/2006/main">
            <a:off x="9184919" y="3090672"/>
            <a:ext cx="2238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Client and portfolio profitability views</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Transaction banking contribution</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Global group consolidated position</a:t>
            </a:r>
            <a:endParaRPr sz="890"/>
          </a:p>
          <a:p xmlns:a="http://schemas.openxmlformats.org/drawingml/2006/main">
            <a:pPr marL="152400" indent="-152400">
              <a:lnSpc>
                <a:spcPts val="1400"/>
              </a:lnSpc>
              <a:spcAft>
                <a:spcPts val="400"/>
              </a:spcAft>
              <a:buSzPct val="100000"/>
              <a:buChar char="•"/>
            </a:pPr>
            <a:r>
              <a:rPr sz="890">
                <a:solidFill>
                  <a:srgbClr val="1A1A1A"/>
                </a:solidFill>
                <a:latin typeface="Arial"/>
                <a:ea typeface="Arial"/>
                <a:cs typeface="Arial"/>
              </a:rPr>
              <a:t>Risk-weighted return on assets</a:t>
            </a:r>
            <a:endParaRPr sz="890"/>
          </a:p>
        </p:txBody>
      </p:sp>
      <p:sp>
        <p:nvSpPr>
          <p:cNvPr id="44" name="Text 42">
            <a:extLst xmlns:a="http://schemas.openxmlformats.org/drawingml/2006/main">
              <a:ext uri="{FF2B5EF4-FFF2-40B4-BE49-F238E27FC236}">
                <a16:creationId xmlns:a16="http://schemas.microsoft.com/office/drawing/2014/main" id="{1563EF79-698F-46A1-BE24-0A6813296BE9}"/>
              </a:ext>
            </a:extLst>
          </p:cNvPr>
          <p:cNvSpPr>
            <a:spLocks xmlns:a="http://schemas.openxmlformats.org/drawingml/2006/main" noGrp="1"/>
          </p:cNvSpPr>
          <p:nvPr/>
        </p:nvSpPr>
        <p:spPr>
          <a:xfrm xmlns:a="http://schemas.openxmlformats.org/drawingml/2006/main">
            <a:off x="566928" y="448056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this order</a:t>
            </a:r>
            <a:endParaRPr sz="1100"/>
          </a:p>
        </p:txBody>
      </p:sp>
      <p:sp>
        <p:nvSpPr>
          <p:cNvPr id="45" name="Shape 43">
            <a:extLst xmlns:a="http://schemas.openxmlformats.org/drawingml/2006/main">
              <a:ext uri="{FF2B5EF4-FFF2-40B4-BE49-F238E27FC236}">
                <a16:creationId xmlns:a16="http://schemas.microsoft.com/office/drawing/2014/main" id="{9CEC7C53-6DBD-4892-994F-FECDFEFED0E6}"/>
              </a:ext>
            </a:extLst>
          </p:cNvPr>
          <p:cNvSpPr>
            <a:spLocks xmlns:a="http://schemas.openxmlformats.org/drawingml/2006/main" noGrp="1"/>
          </p:cNvSpPr>
          <p:nvPr/>
        </p:nvSpPr>
        <p:spPr>
          <a:xfrm xmlns:a="http://schemas.openxmlformats.org/drawingml/2006/main">
            <a:off x="566928" y="4736592"/>
            <a:ext cx="3551834" cy="20117"/>
          </a:xfrm>
          <a:prstGeom xmlns:a="http://schemas.openxmlformats.org/drawingml/2006/main" prst="rect">
            <a:avLst/>
          </a:prstGeom>
          <a:solidFill xmlns:a="http://schemas.openxmlformats.org/drawingml/2006/main">
            <a:srgbClr val="B04A25"/>
          </a:solidFill>
        </p:spPr>
      </p:sp>
      <p:sp>
        <p:nvSpPr>
          <p:cNvPr id="46" name="Text 44">
            <a:extLst xmlns:a="http://schemas.openxmlformats.org/drawingml/2006/main">
              <a:ext uri="{FF2B5EF4-FFF2-40B4-BE49-F238E27FC236}">
                <a16:creationId xmlns:a16="http://schemas.microsoft.com/office/drawing/2014/main" id="{5CF0071D-3435-4FCC-B62D-960D28AD4F95}"/>
              </a:ext>
            </a:extLst>
          </p:cNvPr>
          <p:cNvSpPr>
            <a:spLocks xmlns:a="http://schemas.openxmlformats.org/drawingml/2006/main" noGrp="1"/>
          </p:cNvSpPr>
          <p:nvPr/>
        </p:nvSpPr>
        <p:spPr>
          <a:xfrm xmlns:a="http://schemas.openxmlformats.org/drawingml/2006/main">
            <a:off x="566928" y="4864608"/>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The sales lifecycle needs a corporate entity and a group hierarchy to attach a deal to.</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Account planning needs both the entity and the pipeline to plan against.</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Profitability needs all three plus one definition of a client.</a:t>
            </a:r>
            <a:endParaRPr sz="910"/>
          </a:p>
        </p:txBody>
      </p:sp>
      <p:sp>
        <p:nvSpPr>
          <p:cNvPr id="47" name="Text 45">
            <a:extLst xmlns:a="http://schemas.openxmlformats.org/drawingml/2006/main">
              <a:ext uri="{FF2B5EF4-FFF2-40B4-BE49-F238E27FC236}">
                <a16:creationId xmlns:a16="http://schemas.microsoft.com/office/drawing/2014/main" id="{4D9B72A5-5D2A-49DF-9D97-411FC734DF92}"/>
              </a:ext>
            </a:extLst>
          </p:cNvPr>
          <p:cNvSpPr>
            <a:spLocks xmlns:a="http://schemas.openxmlformats.org/drawingml/2006/main" noGrp="1"/>
          </p:cNvSpPr>
          <p:nvPr/>
        </p:nvSpPr>
        <p:spPr>
          <a:xfrm xmlns:a="http://schemas.openxmlformats.org/drawingml/2006/main">
            <a:off x="4319930" y="448056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each contributed to the spine</a:t>
            </a:r>
            <a:endParaRPr sz="1100"/>
          </a:p>
        </p:txBody>
      </p:sp>
      <p:sp>
        <p:nvSpPr>
          <p:cNvPr id="48" name="Shape 46">
            <a:extLst xmlns:a="http://schemas.openxmlformats.org/drawingml/2006/main">
              <a:ext uri="{FF2B5EF4-FFF2-40B4-BE49-F238E27FC236}">
                <a16:creationId xmlns:a16="http://schemas.microsoft.com/office/drawing/2014/main" id="{09E1273A-2B57-45E3-97DF-1BBD63C1C22D}"/>
              </a:ext>
            </a:extLst>
          </p:cNvPr>
          <p:cNvSpPr>
            <a:spLocks xmlns:a="http://schemas.openxmlformats.org/drawingml/2006/main" noGrp="1"/>
          </p:cNvSpPr>
          <p:nvPr/>
        </p:nvSpPr>
        <p:spPr>
          <a:xfrm xmlns:a="http://schemas.openxmlformats.org/drawingml/2006/main">
            <a:off x="4319930" y="4736592"/>
            <a:ext cx="3551834" cy="20117"/>
          </a:xfrm>
          <a:prstGeom xmlns:a="http://schemas.openxmlformats.org/drawingml/2006/main" prst="rect">
            <a:avLst/>
          </a:prstGeom>
          <a:solidFill xmlns:a="http://schemas.openxmlformats.org/drawingml/2006/main">
            <a:srgbClr val="102A43"/>
          </a:solidFill>
        </p:spPr>
      </p:sp>
      <p:sp>
        <p:nvSpPr>
          <p:cNvPr id="49" name="Text 47">
            <a:extLst xmlns:a="http://schemas.openxmlformats.org/drawingml/2006/main">
              <a:ext uri="{FF2B5EF4-FFF2-40B4-BE49-F238E27FC236}">
                <a16:creationId xmlns:a16="http://schemas.microsoft.com/office/drawing/2014/main" id="{ADC46F7A-D612-4FA5-9FA2-E65216AF69F8}"/>
              </a:ext>
            </a:extLst>
          </p:cNvPr>
          <p:cNvSpPr>
            <a:spLocks xmlns:a="http://schemas.openxmlformats.org/drawingml/2006/main" noGrp="1"/>
          </p:cNvSpPr>
          <p:nvPr/>
        </p:nvSpPr>
        <p:spPr>
          <a:xfrm xmlns:a="http://schemas.openxmlformats.org/drawingml/2006/main">
            <a:off x="4319930" y="4864608"/>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Programme one built the entity, hierarchy and coverage model — the largest single investment.</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Programme two added the deal object and the segment-aware lifecycle.</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Programmes three and four added almost nothing structural — as intended.</a:t>
            </a:r>
            <a:endParaRPr sz="910"/>
          </a:p>
        </p:txBody>
      </p:sp>
      <p:sp>
        <p:nvSpPr>
          <p:cNvPr id="50" name="Text 48">
            <a:extLst xmlns:a="http://schemas.openxmlformats.org/drawingml/2006/main">
              <a:ext uri="{FF2B5EF4-FFF2-40B4-BE49-F238E27FC236}">
                <a16:creationId xmlns:a16="http://schemas.microsoft.com/office/drawing/2014/main" id="{C395B692-BC26-4BBD-9F7F-3CBA5A97C792}"/>
              </a:ext>
            </a:extLst>
          </p:cNvPr>
          <p:cNvSpPr>
            <a:spLocks xmlns:a="http://schemas.openxmlformats.org/drawingml/2006/main" noGrp="1"/>
          </p:cNvSpPr>
          <p:nvPr/>
        </p:nvSpPr>
        <p:spPr>
          <a:xfrm xmlns:a="http://schemas.openxmlformats.org/drawingml/2006/main">
            <a:off x="8072933" y="448056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dependency worth noticing</a:t>
            </a:r>
            <a:endParaRPr sz="1100"/>
          </a:p>
        </p:txBody>
      </p:sp>
      <p:sp>
        <p:nvSpPr>
          <p:cNvPr id="51" name="Shape 49">
            <a:extLst xmlns:a="http://schemas.openxmlformats.org/drawingml/2006/main">
              <a:ext uri="{FF2B5EF4-FFF2-40B4-BE49-F238E27FC236}">
                <a16:creationId xmlns:a16="http://schemas.microsoft.com/office/drawing/2014/main" id="{FD8B1946-6C4C-4DB1-8760-0C1433BB8758}"/>
              </a:ext>
            </a:extLst>
          </p:cNvPr>
          <p:cNvSpPr>
            <a:spLocks xmlns:a="http://schemas.openxmlformats.org/drawingml/2006/main" noGrp="1"/>
          </p:cNvSpPr>
          <p:nvPr/>
        </p:nvSpPr>
        <p:spPr>
          <a:xfrm xmlns:a="http://schemas.openxmlformats.org/drawingml/2006/main">
            <a:off x="8072933" y="4736592"/>
            <a:ext cx="3551834" cy="20117"/>
          </a:xfrm>
          <a:prstGeom xmlns:a="http://schemas.openxmlformats.org/drawingml/2006/main" prst="rect">
            <a:avLst/>
          </a:prstGeom>
          <a:solidFill xmlns:a="http://schemas.openxmlformats.org/drawingml/2006/main">
            <a:srgbClr val="486581"/>
          </a:solidFill>
        </p:spPr>
      </p:sp>
      <p:sp>
        <p:nvSpPr>
          <p:cNvPr id="52" name="Text 50">
            <a:extLst xmlns:a="http://schemas.openxmlformats.org/drawingml/2006/main">
              <a:ext uri="{FF2B5EF4-FFF2-40B4-BE49-F238E27FC236}">
                <a16:creationId xmlns:a16="http://schemas.microsoft.com/office/drawing/2014/main" id="{668F499F-4AD2-48D6-ADA4-91C498F442B0}"/>
              </a:ext>
            </a:extLst>
          </p:cNvPr>
          <p:cNvSpPr>
            <a:spLocks xmlns:a="http://schemas.openxmlformats.org/drawingml/2006/main" noGrp="1"/>
          </p:cNvSpPr>
          <p:nvPr/>
        </p:nvSpPr>
        <p:spPr>
          <a:xfrm xmlns:a="http://schemas.openxmlformats.org/drawingml/2006/main">
            <a:off x="8072933" y="4864608"/>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Profitability is where inconsistent definitions surface. If two programmes disagree about what a client is, the dashboard is where the bank finds out.</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Sequencing it last is not a deprioritisation — it is a deliberate reconciliation checkpoint.</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Built early it would have measured a model still moving.</a:t>
            </a:r>
            <a:endParaRPr sz="910"/>
          </a:p>
        </p:txBody>
      </p:sp>
      <p:sp>
        <p:nvSpPr>
          <p:cNvPr id="53" name="Shape 51">
            <a:extLst xmlns:a="http://schemas.openxmlformats.org/drawingml/2006/main">
              <a:ext uri="{FF2B5EF4-FFF2-40B4-BE49-F238E27FC236}">
                <a16:creationId xmlns:a16="http://schemas.microsoft.com/office/drawing/2014/main" id="{A56E001E-4CB0-4043-84D5-EF47DFE92E0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4" name="Text 52">
            <a:extLst xmlns:a="http://schemas.openxmlformats.org/drawingml/2006/main">
              <a:ext uri="{FF2B5EF4-FFF2-40B4-BE49-F238E27FC236}">
                <a16:creationId xmlns:a16="http://schemas.microsoft.com/office/drawing/2014/main" id="{A60C4801-B078-43EC-A1DD-375DCA28684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2023 engagement · author's analysis</a:t>
            </a:r>
            <a:endParaRPr sz="850"/>
          </a:p>
        </p:txBody>
      </p:sp>
      <p:sp>
        <p:nvSpPr>
          <p:cNvPr id="55" name="Text 53">
            <a:extLst xmlns:a="http://schemas.openxmlformats.org/drawingml/2006/main">
              <a:ext uri="{FF2B5EF4-FFF2-40B4-BE49-F238E27FC236}">
                <a16:creationId xmlns:a16="http://schemas.microsoft.com/office/drawing/2014/main" id="{4747327D-D7D3-472D-837D-8E451928BE2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856547177"/>
      </p:ext>
    </p:extLst>
  </p:cSld>
</p:sld>
</file>

<file path=ppt/slides/slide19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8D77A14-8F47-4CB1-BD3D-5A9A11E8C52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VARIANCE QUESTION</a:t>
            </a:r>
            <a:endParaRPr sz="950"/>
          </a:p>
        </p:txBody>
      </p:sp>
      <p:sp>
        <p:nvSpPr>
          <p:cNvPr id="3" name="Text 1">
            <a:extLst xmlns:a="http://schemas.openxmlformats.org/drawingml/2006/main">
              <a:ext uri="{FF2B5EF4-FFF2-40B4-BE49-F238E27FC236}">
                <a16:creationId xmlns:a16="http://schemas.microsoft.com/office/drawing/2014/main" id="{16513AE8-C5A9-4960-9DAF-D1D32C84B4F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Country variance turned out to be far smaller than expected — most of what looked</a:t>
            </a:r>
            <a:endParaRPr sz="1900"/>
          </a:p>
          <a:p xmlns:a="http://schemas.openxmlformats.org/drawingml/2006/main">
            <a:pPr marL="0" indent="0">
              <a:lnSpc>
                <a:spcPts val="2400"/>
              </a:lnSpc>
              <a:buNone/>
            </a:pPr>
            <a:r>
              <a:rPr sz="1900" b="1">
                <a:solidFill>
                  <a:srgbClr val="102A43"/>
                </a:solidFill>
                <a:latin typeface="Arial"/>
                <a:ea typeface="Arial"/>
                <a:cs typeface="Arial"/>
              </a:rPr>
              <a:t>local was either regulatory reporting or vocabulary</a:t>
            </a:r>
            <a:endParaRPr sz="1900"/>
          </a:p>
        </p:txBody>
      </p:sp>
      <p:graphicFrame>
        <p:nvGraphicFramePr>
          <p:cNvPr id="18" name="Chart 0"/>
          <p:cNvGraphicFramePr/>
          <p:nvPr/>
        </p:nvGraphicFramePr>
        <p:xfrm>
          <a:off xmlns:a="http://schemas.openxmlformats.org/drawingml/2006/main" x="566928" y="1426464"/>
          <a:ext xmlns:a="http://schemas.openxmlformats.org/drawingml/2006/main" cx="5760720" cy="2651760"/>
        </p:xfrm>
        <a:graphic xmlns:a="http://schemas.openxmlformats.org/drawingml/2006/main">
          <a:graphicData uri="http://schemas.openxmlformats.org/drawingml/2006/chart">
            <c:chart xmlns:r="http://schemas.openxmlformats.org/officeDocument/2006/relationships" xmlns:c="http://schemas.openxmlformats.org/drawingml/2006/chart" r:id="R0ca312e6d33842ec"/>
          </a:graphicData>
        </a:graphic>
      </p:graphicFrame>
      <p:sp>
        <p:nvSpPr>
          <p:cNvPr id="5" name="Text 2">
            <a:extLst xmlns:a="http://schemas.openxmlformats.org/drawingml/2006/main">
              <a:ext uri="{FF2B5EF4-FFF2-40B4-BE49-F238E27FC236}">
                <a16:creationId xmlns:a16="http://schemas.microsoft.com/office/drawing/2014/main" id="{F49B7AFB-4CE0-460E-90C3-1A66658BB491}"/>
              </a:ext>
            </a:extLst>
          </p:cNvPr>
          <p:cNvSpPr>
            <a:spLocks xmlns:a="http://schemas.openxmlformats.org/drawingml/2006/main" noGrp="1"/>
          </p:cNvSpPr>
          <p:nvPr/>
        </p:nvSpPr>
        <p:spPr>
          <a:xfrm xmlns:a="http://schemas.openxmlformats.org/drawingml/2006/main">
            <a:off x="566928" y="4242816"/>
            <a:ext cx="5760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decomposition of corporate banking requirements by variance type</a:t>
            </a:r>
            <a:endParaRPr sz="880"/>
          </a:p>
        </p:txBody>
      </p:sp>
      <p:sp>
        <p:nvSpPr>
          <p:cNvPr id="6" name="Text 3">
            <a:extLst xmlns:a="http://schemas.openxmlformats.org/drawingml/2006/main">
              <a:ext uri="{FF2B5EF4-FFF2-40B4-BE49-F238E27FC236}">
                <a16:creationId xmlns:a16="http://schemas.microsoft.com/office/drawing/2014/main" id="{A2025285-9202-42FC-9016-6D370252BACB}"/>
              </a:ext>
            </a:extLst>
          </p:cNvPr>
          <p:cNvSpPr>
            <a:spLocks xmlns:a="http://schemas.openxmlformats.org/drawingml/2006/main" noGrp="1"/>
          </p:cNvSpPr>
          <p:nvPr/>
        </p:nvSpPr>
        <p:spPr>
          <a:xfrm xmlns:a="http://schemas.openxmlformats.org/drawingml/2006/main">
            <a:off x="6693408" y="1426464"/>
            <a:ext cx="49286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How each category is handled</a:t>
            </a:r>
            <a:endParaRPr sz="1100"/>
          </a:p>
        </p:txBody>
      </p:sp>
      <p:sp>
        <p:nvSpPr>
          <p:cNvPr id="7" name="Shape 4">
            <a:extLst xmlns:a="http://schemas.openxmlformats.org/drawingml/2006/main">
              <a:ext uri="{FF2B5EF4-FFF2-40B4-BE49-F238E27FC236}">
                <a16:creationId xmlns:a16="http://schemas.microsoft.com/office/drawing/2014/main" id="{42009A04-8074-4577-B905-862B0B1E7FB1}"/>
              </a:ext>
            </a:extLst>
          </p:cNvPr>
          <p:cNvSpPr>
            <a:spLocks xmlns:a="http://schemas.openxmlformats.org/drawingml/2006/main" noGrp="1"/>
          </p:cNvSpPr>
          <p:nvPr/>
        </p:nvSpPr>
        <p:spPr>
          <a:xfrm xmlns:a="http://schemas.openxmlformats.org/drawingml/2006/main">
            <a:off x="6693408" y="1682496"/>
            <a:ext cx="492861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065C0F3B-1E3E-484F-837E-A715561C1033}"/>
              </a:ext>
            </a:extLst>
          </p:cNvPr>
          <p:cNvSpPr>
            <a:spLocks xmlns:a="http://schemas.openxmlformats.org/drawingml/2006/main" noGrp="1"/>
          </p:cNvSpPr>
          <p:nvPr/>
        </p:nvSpPr>
        <p:spPr>
          <a:xfrm xmlns:a="http://schemas.openxmlformats.org/drawingml/2006/main">
            <a:off x="6693408" y="1828800"/>
            <a:ext cx="4928616"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Common — built once, deployed everywhere. This is the majority and it is the reason a single spine works at all.</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Regulatory reporting — a reporting-layer variation, not a data-model one. The underlying records are identical.</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Vocabulary — configuration. Different names for the same object, which is a labelling problem people routinely mistake for a structural one.</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Genuinely local process — the real variance, and it is small. Handled as configured process variants on the shared lifecycle.</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Local integration — country-specific connectors at the interface layer, with the internal model untouched.</a:t>
            </a:r>
            <a:endParaRPr sz="940"/>
          </a:p>
        </p:txBody>
      </p:sp>
      <p:sp>
        <p:nvSpPr>
          <p:cNvPr id="9" name="Shape 6">
            <a:extLst xmlns:a="http://schemas.openxmlformats.org/drawingml/2006/main">
              <a:ext uri="{FF2B5EF4-FFF2-40B4-BE49-F238E27FC236}">
                <a16:creationId xmlns:a16="http://schemas.microsoft.com/office/drawing/2014/main" id="{1142B191-2E50-4DC3-932C-B70800211E7F}"/>
              </a:ext>
            </a:extLst>
          </p:cNvPr>
          <p:cNvSpPr>
            <a:spLocks xmlns:a="http://schemas.openxmlformats.org/drawingml/2006/main" noGrp="1"/>
          </p:cNvSpPr>
          <p:nvPr/>
        </p:nvSpPr>
        <p:spPr>
          <a:xfrm xmlns:a="http://schemas.openxmlformats.org/drawingml/2006/main">
            <a:off x="566928" y="4645152"/>
            <a:ext cx="11057839" cy="1426464"/>
          </a:xfrm>
          <a:prstGeom xmlns:a="http://schemas.openxmlformats.org/drawingml/2006/main" prst="rect">
            <a:avLst/>
          </a:prstGeom>
          <a:solidFill xmlns:a="http://schemas.openxmlformats.org/drawingml/2006/main">
            <a:srgbClr val="F3E6E0"/>
          </a:solidFill>
        </p:spPr>
      </p:sp>
      <p:sp>
        <p:nvSpPr>
          <p:cNvPr id="10" name="Text 7">
            <a:extLst xmlns:a="http://schemas.openxmlformats.org/drawingml/2006/main">
              <a:ext uri="{FF2B5EF4-FFF2-40B4-BE49-F238E27FC236}">
                <a16:creationId xmlns:a16="http://schemas.microsoft.com/office/drawing/2014/main" id="{B49768F6-D0EA-411A-B43E-C0C763F6AAA3}"/>
              </a:ext>
            </a:extLst>
          </p:cNvPr>
          <p:cNvSpPr>
            <a:spLocks xmlns:a="http://schemas.openxmlformats.org/drawingml/2006/main" noGrp="1"/>
          </p:cNvSpPr>
          <p:nvPr/>
        </p:nvSpPr>
        <p:spPr>
          <a:xfrm xmlns:a="http://schemas.openxmlformats.org/drawingml/2006/main">
            <a:off x="804672" y="4791456"/>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variance is systematically overestimated at the start</a:t>
            </a:r>
            <a:endParaRPr sz="1100"/>
          </a:p>
        </p:txBody>
      </p:sp>
      <p:sp>
        <p:nvSpPr>
          <p:cNvPr id="11" name="Text 8">
            <a:extLst xmlns:a="http://schemas.openxmlformats.org/drawingml/2006/main">
              <a:ext uri="{FF2B5EF4-FFF2-40B4-BE49-F238E27FC236}">
                <a16:creationId xmlns:a16="http://schemas.microsoft.com/office/drawing/2014/main" id="{A96F3FFB-F728-4127-A9DD-B3292602F6A1}"/>
              </a:ext>
            </a:extLst>
          </p:cNvPr>
          <p:cNvSpPr>
            <a:spLocks xmlns:a="http://schemas.openxmlformats.org/drawingml/2006/main" noGrp="1"/>
          </p:cNvSpPr>
          <p:nvPr/>
        </p:nvSpPr>
        <p:spPr>
          <a:xfrm xmlns:a="http://schemas.openxmlformats.org/drawingml/2006/main">
            <a:off x="804672" y="5047488"/>
            <a:ext cx="10582351"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Each country team is asked what is different about their market, and each answers honestly and at length. Nobody is asked what is the same, so the common majority is never counted — and the requirement set that emerges reads as though every market is unique.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correction is a specific one and it is worth doing early: run the requirement workshop against a shared baseline rather than a blank page. Ask each market what it needs to change about a common design, not what it needs. The same people produce a dramatically shorter list, and the list they produce is the real variance.</a:t>
            </a:r>
            <a:endParaRPr sz="990"/>
          </a:p>
        </p:txBody>
      </p:sp>
      <p:sp>
        <p:nvSpPr>
          <p:cNvPr id="12" name="Shape 9">
            <a:extLst xmlns:a="http://schemas.openxmlformats.org/drawingml/2006/main">
              <a:ext uri="{FF2B5EF4-FFF2-40B4-BE49-F238E27FC236}">
                <a16:creationId xmlns:a16="http://schemas.microsoft.com/office/drawing/2014/main" id="{46C35C98-09D0-43DD-8B92-DD11D04D2EF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3" name="Text 10">
            <a:extLst xmlns:a="http://schemas.openxmlformats.org/drawingml/2006/main">
              <a:ext uri="{FF2B5EF4-FFF2-40B4-BE49-F238E27FC236}">
                <a16:creationId xmlns:a16="http://schemas.microsoft.com/office/drawing/2014/main" id="{9F826528-A5F8-42F2-95DF-DA88E498AEE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variance analysis — illustrative decomposition</a:t>
            </a:r>
            <a:endParaRPr sz="850"/>
          </a:p>
        </p:txBody>
      </p:sp>
      <p:sp>
        <p:nvSpPr>
          <p:cNvPr id="14" name="Text 11">
            <a:extLst xmlns:a="http://schemas.openxmlformats.org/drawingml/2006/main">
              <a:ext uri="{FF2B5EF4-FFF2-40B4-BE49-F238E27FC236}">
                <a16:creationId xmlns:a16="http://schemas.microsoft.com/office/drawing/2014/main" id="{6FF293DD-30F2-43C4-B0BF-EA370F16876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102712894"/>
      </p:ext>
    </p:extLst>
  </p:cSld>
</p:sld>
</file>

<file path=ppt/slides/slide19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50204C7-B5C1-41D7-B8F7-3543B34F7D9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SPINE</a:t>
            </a:r>
            <a:endParaRPr sz="950"/>
          </a:p>
        </p:txBody>
      </p:sp>
      <p:sp>
        <p:nvSpPr>
          <p:cNvPr id="3" name="Text 1">
            <a:extLst xmlns:a="http://schemas.openxmlformats.org/drawingml/2006/main">
              <a:ext uri="{FF2B5EF4-FFF2-40B4-BE49-F238E27FC236}">
                <a16:creationId xmlns:a16="http://schemas.microsoft.com/office/drawing/2014/main" id="{77DAB59D-B2ED-4A44-A0BC-F4024BBA9257}"/>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corporate entity model carries everything — and country is an attribute of an</a:t>
            </a:r>
            <a:endParaRPr sz="1900"/>
          </a:p>
          <a:p xmlns:a="http://schemas.openxmlformats.org/drawingml/2006/main">
            <a:pPr marL="0" indent="0">
              <a:lnSpc>
                <a:spcPts val="2400"/>
              </a:lnSpc>
              <a:buNone/>
            </a:pPr>
            <a:r>
              <a:rPr sz="1900" b="1">
                <a:solidFill>
                  <a:srgbClr val="102A43"/>
                </a:solidFill>
                <a:latin typeface="Arial"/>
                <a:ea typeface="Arial"/>
                <a:cs typeface="Arial"/>
              </a:rPr>
              <a:t>entity, never a boundary between systems</a:t>
            </a:r>
            <a:endParaRPr sz="1900"/>
          </a:p>
        </p:txBody>
      </p:sp>
      <p:sp>
        <p:nvSpPr>
          <p:cNvPr id="4" name="Shape 2">
            <a:extLst xmlns:a="http://schemas.openxmlformats.org/drawingml/2006/main">
              <a:ext uri="{FF2B5EF4-FFF2-40B4-BE49-F238E27FC236}">
                <a16:creationId xmlns:a16="http://schemas.microsoft.com/office/drawing/2014/main" id="{ACCBEF3E-352D-40D3-868E-529ECDDA52B7}"/>
              </a:ext>
            </a:extLst>
          </p:cNvPr>
          <p:cNvSpPr>
            <a:spLocks xmlns:a="http://schemas.openxmlformats.org/drawingml/2006/main" noGrp="1"/>
          </p:cNvSpPr>
          <p:nvPr/>
        </p:nvSpPr>
        <p:spPr>
          <a:xfrm xmlns:a="http://schemas.openxmlformats.org/drawingml/2006/main">
            <a:off x="566928" y="1335024"/>
            <a:ext cx="2094525" cy="219456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AD9EF12A-6FBB-4590-9BC9-414858527A00}"/>
              </a:ext>
            </a:extLst>
          </p:cNvPr>
          <p:cNvSpPr>
            <a:spLocks xmlns:a="http://schemas.openxmlformats.org/drawingml/2006/main" noGrp="1"/>
          </p:cNvSpPr>
          <p:nvPr/>
        </p:nvSpPr>
        <p:spPr>
          <a:xfrm xmlns:a="http://schemas.openxmlformats.org/drawingml/2006/main">
            <a:off x="749808" y="1499616"/>
            <a:ext cx="172876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B04A25"/>
                </a:solidFill>
                <a:latin typeface="Arial"/>
                <a:ea typeface="Arial"/>
                <a:cs typeface="Arial"/>
              </a:rPr>
              <a:t>Group</a:t>
            </a:r>
            <a:endParaRPr sz="1250"/>
          </a:p>
        </p:txBody>
      </p:sp>
      <p:sp>
        <p:nvSpPr>
          <p:cNvPr id="6" name="Text 4">
            <a:extLst xmlns:a="http://schemas.openxmlformats.org/drawingml/2006/main">
              <a:ext uri="{FF2B5EF4-FFF2-40B4-BE49-F238E27FC236}">
                <a16:creationId xmlns:a16="http://schemas.microsoft.com/office/drawing/2014/main" id="{1B80CE9C-44CD-4D2B-99D1-FF6DAB9CDA3D}"/>
              </a:ext>
            </a:extLst>
          </p:cNvPr>
          <p:cNvSpPr>
            <a:spLocks xmlns:a="http://schemas.openxmlformats.org/drawingml/2006/main" noGrp="1"/>
          </p:cNvSpPr>
          <p:nvPr/>
        </p:nvSpPr>
        <p:spPr>
          <a:xfrm xmlns:a="http://schemas.openxmlformats.org/drawingml/2006/main">
            <a:off x="749808" y="1847088"/>
            <a:ext cx="1728765"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The ultimate parent and the consolidated view. Exposure, relationship value and coverage roll up here regardless of which market each part sits in.</a:t>
            </a:r>
            <a:endParaRPr sz="930"/>
          </a:p>
        </p:txBody>
      </p:sp>
      <p:sp>
        <p:nvSpPr>
          <p:cNvPr id="7" name="Shape 5">
            <a:extLst xmlns:a="http://schemas.openxmlformats.org/drawingml/2006/main">
              <a:ext uri="{FF2B5EF4-FFF2-40B4-BE49-F238E27FC236}">
                <a16:creationId xmlns:a16="http://schemas.microsoft.com/office/drawing/2014/main" id="{72522941-81AC-4824-A0C8-F36BE8BA2816}"/>
              </a:ext>
            </a:extLst>
          </p:cNvPr>
          <p:cNvSpPr>
            <a:spLocks xmlns:a="http://schemas.openxmlformats.org/drawingml/2006/main" noGrp="1"/>
          </p:cNvSpPr>
          <p:nvPr/>
        </p:nvSpPr>
        <p:spPr>
          <a:xfrm xmlns:a="http://schemas.openxmlformats.org/drawingml/2006/main">
            <a:off x="2807757" y="1335024"/>
            <a:ext cx="2094525" cy="219456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9B49A43A-B268-43FC-BD0D-20D10BB28527}"/>
              </a:ext>
            </a:extLst>
          </p:cNvPr>
          <p:cNvSpPr>
            <a:spLocks xmlns:a="http://schemas.openxmlformats.org/drawingml/2006/main" noGrp="1"/>
          </p:cNvSpPr>
          <p:nvPr/>
        </p:nvSpPr>
        <p:spPr>
          <a:xfrm xmlns:a="http://schemas.openxmlformats.org/drawingml/2006/main">
            <a:off x="2990637" y="1499616"/>
            <a:ext cx="172876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Legal entity</a:t>
            </a:r>
            <a:endParaRPr sz="1250"/>
          </a:p>
        </p:txBody>
      </p:sp>
      <p:sp>
        <p:nvSpPr>
          <p:cNvPr id="9" name="Text 7">
            <a:extLst xmlns:a="http://schemas.openxmlformats.org/drawingml/2006/main">
              <a:ext uri="{FF2B5EF4-FFF2-40B4-BE49-F238E27FC236}">
                <a16:creationId xmlns:a16="http://schemas.microsoft.com/office/drawing/2014/main" id="{2DF18424-08A8-4D07-8E5C-F0846B5D001F}"/>
              </a:ext>
            </a:extLst>
          </p:cNvPr>
          <p:cNvSpPr>
            <a:spLocks xmlns:a="http://schemas.openxmlformats.org/drawingml/2006/main" noGrp="1"/>
          </p:cNvSpPr>
          <p:nvPr/>
        </p:nvSpPr>
        <p:spPr>
          <a:xfrm xmlns:a="http://schemas.openxmlformats.org/drawingml/2006/main">
            <a:off x="2990637" y="1847088"/>
            <a:ext cx="1728765"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The contracting party. Country, regulatory status, tax identity and local identifiers are attributes at this level.</a:t>
            </a:r>
            <a:endParaRPr sz="930"/>
          </a:p>
        </p:txBody>
      </p:sp>
      <p:sp>
        <p:nvSpPr>
          <p:cNvPr id="10" name="Shape 8">
            <a:extLst xmlns:a="http://schemas.openxmlformats.org/drawingml/2006/main">
              <a:ext uri="{FF2B5EF4-FFF2-40B4-BE49-F238E27FC236}">
                <a16:creationId xmlns:a16="http://schemas.microsoft.com/office/drawing/2014/main" id="{2E0A4321-4C5B-4E59-84BB-B54DE9568CF2}"/>
              </a:ext>
            </a:extLst>
          </p:cNvPr>
          <p:cNvSpPr>
            <a:spLocks xmlns:a="http://schemas.openxmlformats.org/drawingml/2006/main" noGrp="1"/>
          </p:cNvSpPr>
          <p:nvPr/>
        </p:nvSpPr>
        <p:spPr>
          <a:xfrm xmlns:a="http://schemas.openxmlformats.org/drawingml/2006/main">
            <a:off x="5048585" y="1335024"/>
            <a:ext cx="2094525" cy="2194560"/>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40AAA5FC-A8C4-44E8-8788-0766440EFEC0}"/>
              </a:ext>
            </a:extLst>
          </p:cNvPr>
          <p:cNvSpPr>
            <a:spLocks xmlns:a="http://schemas.openxmlformats.org/drawingml/2006/main" noGrp="1"/>
          </p:cNvSpPr>
          <p:nvPr/>
        </p:nvSpPr>
        <p:spPr>
          <a:xfrm xmlns:a="http://schemas.openxmlformats.org/drawingml/2006/main">
            <a:off x="5231465" y="1499616"/>
            <a:ext cx="172876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Related parties</a:t>
            </a:r>
            <a:endParaRPr sz="1250"/>
          </a:p>
        </p:txBody>
      </p:sp>
      <p:sp>
        <p:nvSpPr>
          <p:cNvPr id="12" name="Text 10">
            <a:extLst xmlns:a="http://schemas.openxmlformats.org/drawingml/2006/main">
              <a:ext uri="{FF2B5EF4-FFF2-40B4-BE49-F238E27FC236}">
                <a16:creationId xmlns:a16="http://schemas.microsoft.com/office/drawing/2014/main" id="{A39E02AF-1554-43E3-A31B-B0F3FEDBA5CB}"/>
              </a:ext>
            </a:extLst>
          </p:cNvPr>
          <p:cNvSpPr>
            <a:spLocks xmlns:a="http://schemas.openxmlformats.org/drawingml/2006/main" noGrp="1"/>
          </p:cNvSpPr>
          <p:nvPr/>
        </p:nvSpPr>
        <p:spPr>
          <a:xfrm xmlns:a="http://schemas.openxmlformats.org/drawingml/2006/main">
            <a:off x="5231465" y="1847088"/>
            <a:ext cx="1728765"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Directors, beneficial owners, guarantors, affiliates and cross-holdings — the relationships that make group exposure computable at all.</a:t>
            </a:r>
            <a:endParaRPr sz="930"/>
          </a:p>
        </p:txBody>
      </p:sp>
      <p:sp>
        <p:nvSpPr>
          <p:cNvPr id="13" name="Shape 11">
            <a:extLst xmlns:a="http://schemas.openxmlformats.org/drawingml/2006/main">
              <a:ext uri="{FF2B5EF4-FFF2-40B4-BE49-F238E27FC236}">
                <a16:creationId xmlns:a16="http://schemas.microsoft.com/office/drawing/2014/main" id="{8C49C541-92CF-41A7-A6C5-97D979AA2FC5}"/>
              </a:ext>
            </a:extLst>
          </p:cNvPr>
          <p:cNvSpPr>
            <a:spLocks xmlns:a="http://schemas.openxmlformats.org/drawingml/2006/main" noGrp="1"/>
          </p:cNvSpPr>
          <p:nvPr/>
        </p:nvSpPr>
        <p:spPr>
          <a:xfrm xmlns:a="http://schemas.openxmlformats.org/drawingml/2006/main">
            <a:off x="7289414" y="1335024"/>
            <a:ext cx="2094525" cy="2194560"/>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D1244790-66A7-4ACD-824A-1472719B15B0}"/>
              </a:ext>
            </a:extLst>
          </p:cNvPr>
          <p:cNvSpPr>
            <a:spLocks xmlns:a="http://schemas.openxmlformats.org/drawingml/2006/main" noGrp="1"/>
          </p:cNvSpPr>
          <p:nvPr/>
        </p:nvSpPr>
        <p:spPr>
          <a:xfrm xmlns:a="http://schemas.openxmlformats.org/drawingml/2006/main">
            <a:off x="7472294" y="1499616"/>
            <a:ext cx="172876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Coverage</a:t>
            </a:r>
            <a:endParaRPr sz="1250"/>
          </a:p>
        </p:txBody>
      </p:sp>
      <p:sp>
        <p:nvSpPr>
          <p:cNvPr id="15" name="Text 13">
            <a:extLst xmlns:a="http://schemas.openxmlformats.org/drawingml/2006/main">
              <a:ext uri="{FF2B5EF4-FFF2-40B4-BE49-F238E27FC236}">
                <a16:creationId xmlns:a16="http://schemas.microsoft.com/office/drawing/2014/main" id="{454FE3B5-F26D-4285-969D-332C40853FB1}"/>
              </a:ext>
            </a:extLst>
          </p:cNvPr>
          <p:cNvSpPr>
            <a:spLocks xmlns:a="http://schemas.openxmlformats.org/drawingml/2006/main" noGrp="1"/>
          </p:cNvSpPr>
          <p:nvPr/>
        </p:nvSpPr>
        <p:spPr>
          <a:xfrm xmlns:a="http://schemas.openxmlformats.org/drawingml/2006/main">
            <a:off x="7472294" y="1847088"/>
            <a:ext cx="1728765"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Relationship-manager ownership, which follows the entity and may differ by market and by segment on the same group.</a:t>
            </a:r>
            <a:endParaRPr sz="930"/>
          </a:p>
        </p:txBody>
      </p:sp>
      <p:sp>
        <p:nvSpPr>
          <p:cNvPr id="16" name="Shape 14">
            <a:extLst xmlns:a="http://schemas.openxmlformats.org/drawingml/2006/main">
              <a:ext uri="{FF2B5EF4-FFF2-40B4-BE49-F238E27FC236}">
                <a16:creationId xmlns:a16="http://schemas.microsoft.com/office/drawing/2014/main" id="{1549DD03-D0EE-4664-BA92-2C3EA18DC628}"/>
              </a:ext>
            </a:extLst>
          </p:cNvPr>
          <p:cNvSpPr>
            <a:spLocks xmlns:a="http://schemas.openxmlformats.org/drawingml/2006/main" noGrp="1"/>
          </p:cNvSpPr>
          <p:nvPr/>
        </p:nvSpPr>
        <p:spPr>
          <a:xfrm xmlns:a="http://schemas.openxmlformats.org/drawingml/2006/main">
            <a:off x="9530243" y="1335024"/>
            <a:ext cx="2094525" cy="2194560"/>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7508FEF3-D2C5-406E-AE4C-D92620858A2A}"/>
              </a:ext>
            </a:extLst>
          </p:cNvPr>
          <p:cNvSpPr>
            <a:spLocks xmlns:a="http://schemas.openxmlformats.org/drawingml/2006/main" noGrp="1"/>
          </p:cNvSpPr>
          <p:nvPr/>
        </p:nvSpPr>
        <p:spPr>
          <a:xfrm xmlns:a="http://schemas.openxmlformats.org/drawingml/2006/main">
            <a:off x="9713123" y="1499616"/>
            <a:ext cx="172876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Holdings and facilities</a:t>
            </a:r>
            <a:endParaRPr sz="1250"/>
          </a:p>
        </p:txBody>
      </p:sp>
      <p:sp>
        <p:nvSpPr>
          <p:cNvPr id="18" name="Text 16">
            <a:extLst xmlns:a="http://schemas.openxmlformats.org/drawingml/2006/main">
              <a:ext uri="{FF2B5EF4-FFF2-40B4-BE49-F238E27FC236}">
                <a16:creationId xmlns:a16="http://schemas.microsoft.com/office/drawing/2014/main" id="{E0DFF7D3-6005-429F-A11A-4E5262C413BB}"/>
              </a:ext>
            </a:extLst>
          </p:cNvPr>
          <p:cNvSpPr>
            <a:spLocks xmlns:a="http://schemas.openxmlformats.org/drawingml/2006/main" noGrp="1"/>
          </p:cNvSpPr>
          <p:nvPr/>
        </p:nvSpPr>
        <p:spPr>
          <a:xfrm xmlns:a="http://schemas.openxmlformats.org/drawingml/2006/main">
            <a:off x="9713123" y="1847088"/>
            <a:ext cx="1728765"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Products, limits, exposures and transaction-banking activity, each attached to a legal entity and each rolling up to the group.</a:t>
            </a:r>
            <a:endParaRPr sz="930"/>
          </a:p>
        </p:txBody>
      </p:sp>
      <p:sp>
        <p:nvSpPr>
          <p:cNvPr id="19" name="Text 17">
            <a:extLst xmlns:a="http://schemas.openxmlformats.org/drawingml/2006/main">
              <a:ext uri="{FF2B5EF4-FFF2-40B4-BE49-F238E27FC236}">
                <a16:creationId xmlns:a16="http://schemas.microsoft.com/office/drawing/2014/main" id="{99F50DFE-BC15-4CA3-A505-8A8F852971C4}"/>
              </a:ext>
            </a:extLst>
          </p:cNvPr>
          <p:cNvSpPr>
            <a:spLocks xmlns:a="http://schemas.openxmlformats.org/drawingml/2006/main" noGrp="1"/>
          </p:cNvSpPr>
          <p:nvPr/>
        </p:nvSpPr>
        <p:spPr>
          <a:xfrm xmlns:a="http://schemas.openxmlformats.org/drawingml/2006/main">
            <a:off x="566928" y="38039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this makes possible</a:t>
            </a:r>
            <a:endParaRPr sz="1100"/>
          </a:p>
        </p:txBody>
      </p:sp>
      <p:sp>
        <p:nvSpPr>
          <p:cNvPr id="20" name="Shape 18">
            <a:extLst xmlns:a="http://schemas.openxmlformats.org/drawingml/2006/main">
              <a:ext uri="{FF2B5EF4-FFF2-40B4-BE49-F238E27FC236}">
                <a16:creationId xmlns:a16="http://schemas.microsoft.com/office/drawing/2014/main" id="{EA88F2CF-699F-4224-9335-D1567BAB5908}"/>
              </a:ext>
            </a:extLst>
          </p:cNvPr>
          <p:cNvSpPr>
            <a:spLocks xmlns:a="http://schemas.openxmlformats.org/drawingml/2006/main" noGrp="1"/>
          </p:cNvSpPr>
          <p:nvPr/>
        </p:nvSpPr>
        <p:spPr>
          <a:xfrm xmlns:a="http://schemas.openxmlformats.org/drawingml/2006/main">
            <a:off x="566928" y="4059936"/>
            <a:ext cx="3551834" cy="20117"/>
          </a:xfrm>
          <a:prstGeom xmlns:a="http://schemas.openxmlformats.org/drawingml/2006/main" prst="rect">
            <a:avLst/>
          </a:prstGeom>
          <a:solidFill xmlns:a="http://schemas.openxmlformats.org/drawingml/2006/main">
            <a:srgbClr val="B04A25"/>
          </a:solidFill>
        </p:spPr>
      </p:sp>
      <p:sp>
        <p:nvSpPr>
          <p:cNvPr id="21" name="Text 19">
            <a:extLst xmlns:a="http://schemas.openxmlformats.org/drawingml/2006/main">
              <a:ext uri="{FF2B5EF4-FFF2-40B4-BE49-F238E27FC236}">
                <a16:creationId xmlns:a16="http://schemas.microsoft.com/office/drawing/2014/main" id="{18090F74-7FD3-4031-A90E-2CE6D193A9DE}"/>
              </a:ext>
            </a:extLst>
          </p:cNvPr>
          <p:cNvSpPr>
            <a:spLocks xmlns:a="http://schemas.openxmlformats.org/drawingml/2006/main" noGrp="1"/>
          </p:cNvSpPr>
          <p:nvPr/>
        </p:nvSpPr>
        <p:spPr>
          <a:xfrm xmlns:a="http://schemas.openxmlformats.org/drawingml/2006/main">
            <a:off x="566928" y="418795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group view that is correct even when the parent, the subsidiaries and the coverage sit in different markets.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Consistent exposure and relationship-value roll-up without reconstructing it from country extracts.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One definition of a client, which is what makes cross-programme reporting agree.</a:t>
            </a:r>
            <a:endParaRPr sz="950"/>
          </a:p>
        </p:txBody>
      </p:sp>
      <p:sp>
        <p:nvSpPr>
          <p:cNvPr id="22" name="Text 20">
            <a:extLst xmlns:a="http://schemas.openxmlformats.org/drawingml/2006/main">
              <a:ext uri="{FF2B5EF4-FFF2-40B4-BE49-F238E27FC236}">
                <a16:creationId xmlns:a16="http://schemas.microsoft.com/office/drawing/2014/main" id="{64AFBCAD-E015-468B-98FF-2B39FA3117D4}"/>
              </a:ext>
            </a:extLst>
          </p:cNvPr>
          <p:cNvSpPr>
            <a:spLocks xmlns:a="http://schemas.openxmlformats.org/drawingml/2006/main" noGrp="1"/>
          </p:cNvSpPr>
          <p:nvPr/>
        </p:nvSpPr>
        <p:spPr>
          <a:xfrm xmlns:a="http://schemas.openxmlformats.org/drawingml/2006/main">
            <a:off x="4319930" y="38039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a country-boundary model loses</a:t>
            </a:r>
            <a:endParaRPr sz="1100"/>
          </a:p>
        </p:txBody>
      </p:sp>
      <p:sp>
        <p:nvSpPr>
          <p:cNvPr id="23" name="Shape 21">
            <a:extLst xmlns:a="http://schemas.openxmlformats.org/drawingml/2006/main">
              <a:ext uri="{FF2B5EF4-FFF2-40B4-BE49-F238E27FC236}">
                <a16:creationId xmlns:a16="http://schemas.microsoft.com/office/drawing/2014/main" id="{81028163-A308-4CDB-B60C-7F8CA6CA10C5}"/>
              </a:ext>
            </a:extLst>
          </p:cNvPr>
          <p:cNvSpPr>
            <a:spLocks xmlns:a="http://schemas.openxmlformats.org/drawingml/2006/main" noGrp="1"/>
          </p:cNvSpPr>
          <p:nvPr/>
        </p:nvSpPr>
        <p:spPr>
          <a:xfrm xmlns:a="http://schemas.openxmlformats.org/drawingml/2006/main">
            <a:off x="4319930" y="4059936"/>
            <a:ext cx="3551834" cy="20117"/>
          </a:xfrm>
          <a:prstGeom xmlns:a="http://schemas.openxmlformats.org/drawingml/2006/main" prst="rect">
            <a:avLst/>
          </a:prstGeom>
          <a:solidFill xmlns:a="http://schemas.openxmlformats.org/drawingml/2006/main">
            <a:srgbClr val="102A43"/>
          </a:solidFill>
        </p:spPr>
      </p:sp>
      <p:sp>
        <p:nvSpPr>
          <p:cNvPr id="24" name="Text 22">
            <a:extLst xmlns:a="http://schemas.openxmlformats.org/drawingml/2006/main">
              <a:ext uri="{FF2B5EF4-FFF2-40B4-BE49-F238E27FC236}">
                <a16:creationId xmlns:a16="http://schemas.microsoft.com/office/drawing/2014/main" id="{B2A2BC5D-E2BE-4E05-9C9B-665E6E903B40}"/>
              </a:ext>
            </a:extLst>
          </p:cNvPr>
          <p:cNvSpPr>
            <a:spLocks xmlns:a="http://schemas.openxmlformats.org/drawingml/2006/main" noGrp="1"/>
          </p:cNvSpPr>
          <p:nvPr/>
        </p:nvSpPr>
        <p:spPr>
          <a:xfrm xmlns:a="http://schemas.openxmlformats.org/drawingml/2006/main">
            <a:off x="4319930" y="418795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group view has to be assembled from six sources, each with its own version of the hierarchy.</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Related-party relationships that cross borders have no home — they belong to neither country's instance.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Every consolidated number becomes a reconciliation exercise rather than a query.</a:t>
            </a:r>
            <a:endParaRPr sz="950"/>
          </a:p>
        </p:txBody>
      </p:sp>
      <p:sp>
        <p:nvSpPr>
          <p:cNvPr id="25" name="Text 23">
            <a:extLst xmlns:a="http://schemas.openxmlformats.org/drawingml/2006/main">
              <a:ext uri="{FF2B5EF4-FFF2-40B4-BE49-F238E27FC236}">
                <a16:creationId xmlns:a16="http://schemas.microsoft.com/office/drawing/2014/main" id="{B4DD0974-FB3F-4A34-B64A-E1E36613F51B}"/>
              </a:ext>
            </a:extLst>
          </p:cNvPr>
          <p:cNvSpPr>
            <a:spLocks xmlns:a="http://schemas.openxmlformats.org/drawingml/2006/main" noGrp="1"/>
          </p:cNvSpPr>
          <p:nvPr/>
        </p:nvSpPr>
        <p:spPr>
          <a:xfrm xmlns:a="http://schemas.openxmlformats.org/drawingml/2006/main">
            <a:off x="8072933" y="38039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cost of doing it this way</a:t>
            </a:r>
            <a:endParaRPr sz="1100"/>
          </a:p>
        </p:txBody>
      </p:sp>
      <p:sp>
        <p:nvSpPr>
          <p:cNvPr id="26" name="Shape 24">
            <a:extLst xmlns:a="http://schemas.openxmlformats.org/drawingml/2006/main">
              <a:ext uri="{FF2B5EF4-FFF2-40B4-BE49-F238E27FC236}">
                <a16:creationId xmlns:a16="http://schemas.microsoft.com/office/drawing/2014/main" id="{13B2BB3A-06A3-4DED-90BD-4EABB34FA4AF}"/>
              </a:ext>
            </a:extLst>
          </p:cNvPr>
          <p:cNvSpPr>
            <a:spLocks xmlns:a="http://schemas.openxmlformats.org/drawingml/2006/main" noGrp="1"/>
          </p:cNvSpPr>
          <p:nvPr/>
        </p:nvSpPr>
        <p:spPr>
          <a:xfrm xmlns:a="http://schemas.openxmlformats.org/drawingml/2006/main">
            <a:off x="8072933" y="4059936"/>
            <a:ext cx="3551834" cy="20117"/>
          </a:xfrm>
          <a:prstGeom xmlns:a="http://schemas.openxmlformats.org/drawingml/2006/main" prst="rect">
            <a:avLst/>
          </a:prstGeom>
          <a:solidFill xmlns:a="http://schemas.openxmlformats.org/drawingml/2006/main">
            <a:srgbClr val="486581"/>
          </a:solidFill>
        </p:spPr>
      </p:sp>
      <p:sp>
        <p:nvSpPr>
          <p:cNvPr id="27" name="Text 25">
            <a:extLst xmlns:a="http://schemas.openxmlformats.org/drawingml/2006/main">
              <a:ext uri="{FF2B5EF4-FFF2-40B4-BE49-F238E27FC236}">
                <a16:creationId xmlns:a16="http://schemas.microsoft.com/office/drawing/2014/main" id="{33785B8F-F62A-408D-AF67-E7B190F686B9}"/>
              </a:ext>
            </a:extLst>
          </p:cNvPr>
          <p:cNvSpPr>
            <a:spLocks xmlns:a="http://schemas.openxmlformats.org/drawingml/2006/main" noGrp="1"/>
          </p:cNvSpPr>
          <p:nvPr/>
        </p:nvSpPr>
        <p:spPr>
          <a:xfrm xmlns:a="http://schemas.openxmlformats.org/drawingml/2006/main">
            <a:off x="8072933" y="418795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entity model has to be agreed across six markets before the first one goes live, which is slower to start.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It requires a decision authority above any single country, which is a governance change, not a technical one.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Those are real costs and they are paid once, at the beginning.</a:t>
            </a:r>
            <a:endParaRPr sz="950"/>
          </a:p>
        </p:txBody>
      </p:sp>
      <p:sp>
        <p:nvSpPr>
          <p:cNvPr id="28" name="Shape 26">
            <a:extLst xmlns:a="http://schemas.openxmlformats.org/drawingml/2006/main">
              <a:ext uri="{FF2B5EF4-FFF2-40B4-BE49-F238E27FC236}">
                <a16:creationId xmlns:a16="http://schemas.microsoft.com/office/drawing/2014/main" id="{E564727E-67A8-4499-80C8-0022A1EB2B3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BDD193BD-1760-4627-A801-9EBB0D4EC05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2023 engagement · author's design</a:t>
            </a:r>
            <a:endParaRPr sz="850"/>
          </a:p>
        </p:txBody>
      </p:sp>
      <p:sp>
        <p:nvSpPr>
          <p:cNvPr id="30" name="Text 28">
            <a:extLst xmlns:a="http://schemas.openxmlformats.org/drawingml/2006/main">
              <a:ext uri="{FF2B5EF4-FFF2-40B4-BE49-F238E27FC236}">
                <a16:creationId xmlns:a16="http://schemas.microsoft.com/office/drawing/2014/main" id="{173FF027-5D0E-40FF-B171-7EB292E4FA3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925703410"/>
      </p:ext>
    </p:extLst>
  </p:cSld>
</p:sld>
</file>

<file path=ppt/slides/slide19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45864B-9502-458C-B1A1-17F1380428D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ONE LIFECYCLE, FOUR SEGMENTS</a:t>
            </a:r>
            <a:endParaRPr sz="950"/>
          </a:p>
        </p:txBody>
      </p:sp>
      <p:sp>
        <p:nvSpPr>
          <p:cNvPr id="3" name="Text 1">
            <a:extLst xmlns:a="http://schemas.openxmlformats.org/drawingml/2006/main">
              <a:ext uri="{FF2B5EF4-FFF2-40B4-BE49-F238E27FC236}">
                <a16:creationId xmlns:a16="http://schemas.microsoft.com/office/drawing/2014/main" id="{69F45D70-85BB-48EA-B704-A3DE9B6B2A8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Corporate, commercial, SME and government differ in threshold and evidence, not in</a:t>
            </a:r>
            <a:endParaRPr sz="1900"/>
          </a:p>
          <a:p xmlns:a="http://schemas.openxmlformats.org/drawingml/2006/main">
            <a:pPr marL="0" indent="0">
              <a:lnSpc>
                <a:spcPts val="2400"/>
              </a:lnSpc>
              <a:buNone/>
            </a:pPr>
            <a:r>
              <a:rPr sz="1900" b="1">
                <a:solidFill>
                  <a:srgbClr val="102A43"/>
                </a:solidFill>
                <a:latin typeface="Arial"/>
                <a:ea typeface="Arial"/>
                <a:cs typeface="Arial"/>
              </a:rPr>
              <a:t>shape — which is why one configured lifecycle serves all four</a:t>
            </a:r>
            <a:endParaRPr sz="1900"/>
          </a:p>
        </p:txBody>
      </p:sp>
      <p:sp>
        <p:nvSpPr>
          <p:cNvPr id="4" name="Shape 2">
            <a:extLst xmlns:a="http://schemas.openxmlformats.org/drawingml/2006/main">
              <a:ext uri="{FF2B5EF4-FFF2-40B4-BE49-F238E27FC236}">
                <a16:creationId xmlns:a16="http://schemas.microsoft.com/office/drawing/2014/main" id="{6652006E-2A98-4699-8845-49BE8F5C6EEF}"/>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5A37B6B6-1B67-47AB-A193-4C0FA99E430F}"/>
              </a:ext>
            </a:extLst>
          </p:cNvPr>
          <p:cNvSpPr>
            <a:spLocks xmlns:a="http://schemas.openxmlformats.org/drawingml/2006/main" noGrp="1"/>
          </p:cNvSpPr>
          <p:nvPr/>
        </p:nvSpPr>
        <p:spPr>
          <a:xfrm xmlns:a="http://schemas.openxmlformats.org/drawingml/2006/main">
            <a:off x="676656" y="1444752"/>
            <a:ext cx="26151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Segment</a:t>
            </a:r>
            <a:endParaRPr sz="920"/>
          </a:p>
        </p:txBody>
      </p:sp>
      <p:sp>
        <p:nvSpPr>
          <p:cNvPr id="6" name="Text 4">
            <a:extLst xmlns:a="http://schemas.openxmlformats.org/drawingml/2006/main">
              <a:ext uri="{FF2B5EF4-FFF2-40B4-BE49-F238E27FC236}">
                <a16:creationId xmlns:a16="http://schemas.microsoft.com/office/drawing/2014/main" id="{63047368-C4A3-4538-86BF-70ACB36F6B1D}"/>
              </a:ext>
            </a:extLst>
          </p:cNvPr>
          <p:cNvSpPr>
            <a:spLocks xmlns:a="http://schemas.openxmlformats.org/drawingml/2006/main" noGrp="1"/>
          </p:cNvSpPr>
          <p:nvPr/>
        </p:nvSpPr>
        <p:spPr>
          <a:xfrm xmlns:a="http://schemas.openxmlformats.org/drawingml/2006/main">
            <a:off x="3602736" y="1444752"/>
            <a:ext cx="26151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differs</a:t>
            </a:r>
            <a:endParaRPr sz="920"/>
          </a:p>
        </p:txBody>
      </p:sp>
      <p:sp>
        <p:nvSpPr>
          <p:cNvPr id="7" name="Text 5">
            <a:extLst xmlns:a="http://schemas.openxmlformats.org/drawingml/2006/main">
              <a:ext uri="{FF2B5EF4-FFF2-40B4-BE49-F238E27FC236}">
                <a16:creationId xmlns:a16="http://schemas.microsoft.com/office/drawing/2014/main" id="{6117896B-6511-4AED-865B-C1E05A45DA46}"/>
              </a:ext>
            </a:extLst>
          </p:cNvPr>
          <p:cNvSpPr>
            <a:spLocks xmlns:a="http://schemas.openxmlformats.org/drawingml/2006/main" noGrp="1"/>
          </p:cNvSpPr>
          <p:nvPr/>
        </p:nvSpPr>
        <p:spPr>
          <a:xfrm xmlns:a="http://schemas.openxmlformats.org/drawingml/2006/main">
            <a:off x="6528816" y="1444752"/>
            <a:ext cx="23408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is identical</a:t>
            </a:r>
            <a:endParaRPr sz="920"/>
          </a:p>
        </p:txBody>
      </p:sp>
      <p:sp>
        <p:nvSpPr>
          <p:cNvPr id="8" name="Text 6">
            <a:extLst xmlns:a="http://schemas.openxmlformats.org/drawingml/2006/main">
              <a:ext uri="{FF2B5EF4-FFF2-40B4-BE49-F238E27FC236}">
                <a16:creationId xmlns:a16="http://schemas.microsoft.com/office/drawing/2014/main" id="{460ACAF8-5B39-4620-B5EB-43CC76576588}"/>
              </a:ext>
            </a:extLst>
          </p:cNvPr>
          <p:cNvSpPr>
            <a:spLocks xmlns:a="http://schemas.openxmlformats.org/drawingml/2006/main" noGrp="1"/>
          </p:cNvSpPr>
          <p:nvPr/>
        </p:nvSpPr>
        <p:spPr>
          <a:xfrm xmlns:a="http://schemas.openxmlformats.org/drawingml/2006/main">
            <a:off x="9180576" y="1444752"/>
            <a:ext cx="2331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Handled as</a:t>
            </a:r>
            <a:endParaRPr sz="920"/>
          </a:p>
        </p:txBody>
      </p:sp>
      <p:sp>
        <p:nvSpPr>
          <p:cNvPr id="9" name="Text 7">
            <a:extLst xmlns:a="http://schemas.openxmlformats.org/drawingml/2006/main">
              <a:ext uri="{FF2B5EF4-FFF2-40B4-BE49-F238E27FC236}">
                <a16:creationId xmlns:a16="http://schemas.microsoft.com/office/drawing/2014/main" id="{192B3CBF-93DF-45CE-AF10-83FCE7A2D147}"/>
              </a:ext>
            </a:extLst>
          </p:cNvPr>
          <p:cNvSpPr>
            <a:spLocks xmlns:a="http://schemas.openxmlformats.org/drawingml/2006/main" noGrp="1"/>
          </p:cNvSpPr>
          <p:nvPr/>
        </p:nvSpPr>
        <p:spPr>
          <a:xfrm xmlns:a="http://schemas.openxmlformats.org/drawingml/2006/main">
            <a:off x="676656" y="1865376"/>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Corporate</a:t>
            </a:r>
            <a:endParaRPr sz="980"/>
          </a:p>
        </p:txBody>
      </p:sp>
      <p:sp>
        <p:nvSpPr>
          <p:cNvPr id="10" name="Text 8">
            <a:extLst xmlns:a="http://schemas.openxmlformats.org/drawingml/2006/main">
              <a:ext uri="{FF2B5EF4-FFF2-40B4-BE49-F238E27FC236}">
                <a16:creationId xmlns:a16="http://schemas.microsoft.com/office/drawing/2014/main" id="{2AD5837D-D6C3-4F69-825A-F5C251E90A37}"/>
              </a:ext>
            </a:extLst>
          </p:cNvPr>
          <p:cNvSpPr>
            <a:spLocks xmlns:a="http://schemas.openxmlformats.org/drawingml/2006/main" noGrp="1"/>
          </p:cNvSpPr>
          <p:nvPr/>
        </p:nvSpPr>
        <p:spPr>
          <a:xfrm xmlns:a="http://schemas.openxmlformats.org/drawingml/2006/main">
            <a:off x="3602736" y="1865376"/>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Approval thresholds, committee level, financial-statement depth</a:t>
            </a:r>
            <a:endParaRPr sz="930"/>
          </a:p>
        </p:txBody>
      </p:sp>
      <p:sp>
        <p:nvSpPr>
          <p:cNvPr id="11" name="Text 9">
            <a:extLst xmlns:a="http://schemas.openxmlformats.org/drawingml/2006/main">
              <a:ext uri="{FF2B5EF4-FFF2-40B4-BE49-F238E27FC236}">
                <a16:creationId xmlns:a16="http://schemas.microsoft.com/office/drawing/2014/main" id="{26EDFFB7-04AA-43E3-A179-00F858BD899F}"/>
              </a:ext>
            </a:extLst>
          </p:cNvPr>
          <p:cNvSpPr>
            <a:spLocks xmlns:a="http://schemas.openxmlformats.org/drawingml/2006/main" noGrp="1"/>
          </p:cNvSpPr>
          <p:nvPr/>
        </p:nvSpPr>
        <p:spPr>
          <a:xfrm xmlns:a="http://schemas.openxmlformats.org/drawingml/2006/main">
            <a:off x="6528816" y="1865376"/>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Deal object, stages, ownership, disposition set</a:t>
            </a:r>
            <a:endParaRPr sz="930"/>
          </a:p>
        </p:txBody>
      </p:sp>
      <p:sp>
        <p:nvSpPr>
          <p:cNvPr id="12" name="Text 10">
            <a:extLst xmlns:a="http://schemas.openxmlformats.org/drawingml/2006/main">
              <a:ext uri="{FF2B5EF4-FFF2-40B4-BE49-F238E27FC236}">
                <a16:creationId xmlns:a16="http://schemas.microsoft.com/office/drawing/2014/main" id="{0CB9C8C4-BE72-454D-920F-477D88257099}"/>
              </a:ext>
            </a:extLst>
          </p:cNvPr>
          <p:cNvSpPr>
            <a:spLocks xmlns:a="http://schemas.openxmlformats.org/drawingml/2006/main" noGrp="1"/>
          </p:cNvSpPr>
          <p:nvPr/>
        </p:nvSpPr>
        <p:spPr>
          <a:xfrm xmlns:a="http://schemas.openxmlformats.org/drawingml/2006/main">
            <a:off x="9180576" y="1865376"/>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Configured variant</a:t>
            </a:r>
            <a:endParaRPr sz="930"/>
          </a:p>
        </p:txBody>
      </p:sp>
      <p:sp>
        <p:nvSpPr>
          <p:cNvPr id="13" name="Shape 11">
            <a:extLst xmlns:a="http://schemas.openxmlformats.org/drawingml/2006/main">
              <a:ext uri="{FF2B5EF4-FFF2-40B4-BE49-F238E27FC236}">
                <a16:creationId xmlns:a16="http://schemas.microsoft.com/office/drawing/2014/main" id="{33A22B47-7642-4A5D-A0C9-7E8263052C76}"/>
              </a:ext>
            </a:extLst>
          </p:cNvPr>
          <p:cNvSpPr>
            <a:spLocks xmlns:a="http://schemas.openxmlformats.org/drawingml/2006/main" noGrp="1"/>
          </p:cNvSpPr>
          <p:nvPr/>
        </p:nvSpPr>
        <p:spPr>
          <a:xfrm xmlns:a="http://schemas.openxmlformats.org/drawingml/2006/main">
            <a:off x="566928" y="2304288"/>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513CE97E-9138-49EA-AEB3-3C4513F45F62}"/>
              </a:ext>
            </a:extLst>
          </p:cNvPr>
          <p:cNvSpPr>
            <a:spLocks xmlns:a="http://schemas.openxmlformats.org/drawingml/2006/main" noGrp="1"/>
          </p:cNvSpPr>
          <p:nvPr/>
        </p:nvSpPr>
        <p:spPr>
          <a:xfrm xmlns:a="http://schemas.openxmlformats.org/drawingml/2006/main">
            <a:off x="566928" y="2304288"/>
            <a:ext cx="11057839" cy="603504"/>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8F19C0E8-8E1C-4663-851F-D3F5FA757A4F}"/>
              </a:ext>
            </a:extLst>
          </p:cNvPr>
          <p:cNvSpPr>
            <a:spLocks xmlns:a="http://schemas.openxmlformats.org/drawingml/2006/main" noGrp="1"/>
          </p:cNvSpPr>
          <p:nvPr/>
        </p:nvSpPr>
        <p:spPr>
          <a:xfrm xmlns:a="http://schemas.openxmlformats.org/drawingml/2006/main">
            <a:off x="676656" y="2468880"/>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Commercial</a:t>
            </a:r>
            <a:endParaRPr sz="980"/>
          </a:p>
        </p:txBody>
      </p:sp>
      <p:sp>
        <p:nvSpPr>
          <p:cNvPr id="16" name="Text 14">
            <a:extLst xmlns:a="http://schemas.openxmlformats.org/drawingml/2006/main">
              <a:ext uri="{FF2B5EF4-FFF2-40B4-BE49-F238E27FC236}">
                <a16:creationId xmlns:a16="http://schemas.microsoft.com/office/drawing/2014/main" id="{117BE759-CA6A-4881-91D2-1AFF7B9811B7}"/>
              </a:ext>
            </a:extLst>
          </p:cNvPr>
          <p:cNvSpPr>
            <a:spLocks xmlns:a="http://schemas.openxmlformats.org/drawingml/2006/main" noGrp="1"/>
          </p:cNvSpPr>
          <p:nvPr/>
        </p:nvSpPr>
        <p:spPr>
          <a:xfrm xmlns:a="http://schemas.openxmlformats.org/drawingml/2006/main">
            <a:off x="3602736" y="2468880"/>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Delegated authority limits, documentation requirements</a:t>
            </a:r>
            <a:endParaRPr sz="930"/>
          </a:p>
        </p:txBody>
      </p:sp>
      <p:sp>
        <p:nvSpPr>
          <p:cNvPr id="17" name="Text 15">
            <a:extLst xmlns:a="http://schemas.openxmlformats.org/drawingml/2006/main">
              <a:ext uri="{FF2B5EF4-FFF2-40B4-BE49-F238E27FC236}">
                <a16:creationId xmlns:a16="http://schemas.microsoft.com/office/drawing/2014/main" id="{CC1F7D25-7851-4AC6-BC79-37F53C47AF57}"/>
              </a:ext>
            </a:extLst>
          </p:cNvPr>
          <p:cNvSpPr>
            <a:spLocks xmlns:a="http://schemas.openxmlformats.org/drawingml/2006/main" noGrp="1"/>
          </p:cNvSpPr>
          <p:nvPr/>
        </p:nvSpPr>
        <p:spPr>
          <a:xfrm xmlns:a="http://schemas.openxmlformats.org/drawingml/2006/main">
            <a:off x="6528816" y="2468880"/>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Deal object, stages, ownership, disposition set</a:t>
            </a:r>
            <a:endParaRPr sz="930"/>
          </a:p>
        </p:txBody>
      </p:sp>
      <p:sp>
        <p:nvSpPr>
          <p:cNvPr id="18" name="Text 16">
            <a:extLst xmlns:a="http://schemas.openxmlformats.org/drawingml/2006/main">
              <a:ext uri="{FF2B5EF4-FFF2-40B4-BE49-F238E27FC236}">
                <a16:creationId xmlns:a16="http://schemas.microsoft.com/office/drawing/2014/main" id="{D2267F71-5BFD-4BF6-A2C1-BF6768AB1CD6}"/>
              </a:ext>
            </a:extLst>
          </p:cNvPr>
          <p:cNvSpPr>
            <a:spLocks xmlns:a="http://schemas.openxmlformats.org/drawingml/2006/main" noGrp="1"/>
          </p:cNvSpPr>
          <p:nvPr/>
        </p:nvSpPr>
        <p:spPr>
          <a:xfrm xmlns:a="http://schemas.openxmlformats.org/drawingml/2006/main">
            <a:off x="9180576" y="2468880"/>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Configured variant</a:t>
            </a:r>
            <a:endParaRPr sz="930"/>
          </a:p>
        </p:txBody>
      </p:sp>
      <p:sp>
        <p:nvSpPr>
          <p:cNvPr id="19" name="Shape 17">
            <a:extLst xmlns:a="http://schemas.openxmlformats.org/drawingml/2006/main">
              <a:ext uri="{FF2B5EF4-FFF2-40B4-BE49-F238E27FC236}">
                <a16:creationId xmlns:a16="http://schemas.microsoft.com/office/drawing/2014/main" id="{2CD8ECD8-D45D-43A6-892F-1FE30E69F82F}"/>
              </a:ext>
            </a:extLst>
          </p:cNvPr>
          <p:cNvSpPr>
            <a:spLocks xmlns:a="http://schemas.openxmlformats.org/drawingml/2006/main" noGrp="1"/>
          </p:cNvSpPr>
          <p:nvPr/>
        </p:nvSpPr>
        <p:spPr>
          <a:xfrm xmlns:a="http://schemas.openxmlformats.org/drawingml/2006/main">
            <a:off x="566928" y="2907792"/>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3B40E58C-CFCB-4F34-BD6A-3785047736AB}"/>
              </a:ext>
            </a:extLst>
          </p:cNvPr>
          <p:cNvSpPr>
            <a:spLocks xmlns:a="http://schemas.openxmlformats.org/drawingml/2006/main" noGrp="1"/>
          </p:cNvSpPr>
          <p:nvPr/>
        </p:nvSpPr>
        <p:spPr>
          <a:xfrm xmlns:a="http://schemas.openxmlformats.org/drawingml/2006/main">
            <a:off x="676656" y="307238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SME</a:t>
            </a:r>
            <a:endParaRPr sz="980"/>
          </a:p>
        </p:txBody>
      </p:sp>
      <p:sp>
        <p:nvSpPr>
          <p:cNvPr id="21" name="Text 19">
            <a:extLst xmlns:a="http://schemas.openxmlformats.org/drawingml/2006/main">
              <a:ext uri="{FF2B5EF4-FFF2-40B4-BE49-F238E27FC236}">
                <a16:creationId xmlns:a16="http://schemas.microsoft.com/office/drawing/2014/main" id="{5B6A7E7D-6726-4092-A757-D1C23766CFC2}"/>
              </a:ext>
            </a:extLst>
          </p:cNvPr>
          <p:cNvSpPr>
            <a:spLocks xmlns:a="http://schemas.openxmlformats.org/drawingml/2006/main" noGrp="1"/>
          </p:cNvSpPr>
          <p:nvPr/>
        </p:nvSpPr>
        <p:spPr>
          <a:xfrm xmlns:a="http://schemas.openxmlformats.org/drawingml/2006/main">
            <a:off x="3602736" y="307238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Scorecard-led assessment, lighter evidence, faster path</a:t>
            </a:r>
            <a:endParaRPr sz="930"/>
          </a:p>
        </p:txBody>
      </p:sp>
      <p:sp>
        <p:nvSpPr>
          <p:cNvPr id="22" name="Text 20">
            <a:extLst xmlns:a="http://schemas.openxmlformats.org/drawingml/2006/main">
              <a:ext uri="{FF2B5EF4-FFF2-40B4-BE49-F238E27FC236}">
                <a16:creationId xmlns:a16="http://schemas.microsoft.com/office/drawing/2014/main" id="{505963B9-67B3-47AC-9C64-5CB0FDC129EF}"/>
              </a:ext>
            </a:extLst>
          </p:cNvPr>
          <p:cNvSpPr>
            <a:spLocks xmlns:a="http://schemas.openxmlformats.org/drawingml/2006/main" noGrp="1"/>
          </p:cNvSpPr>
          <p:nvPr/>
        </p:nvSpPr>
        <p:spPr>
          <a:xfrm xmlns:a="http://schemas.openxmlformats.org/drawingml/2006/main">
            <a:off x="6528816" y="307238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Deal object, stages, ownership, disposition set</a:t>
            </a:r>
            <a:endParaRPr sz="930"/>
          </a:p>
        </p:txBody>
      </p:sp>
      <p:sp>
        <p:nvSpPr>
          <p:cNvPr id="23" name="Text 21">
            <a:extLst xmlns:a="http://schemas.openxmlformats.org/drawingml/2006/main">
              <a:ext uri="{FF2B5EF4-FFF2-40B4-BE49-F238E27FC236}">
                <a16:creationId xmlns:a16="http://schemas.microsoft.com/office/drawing/2014/main" id="{EFE982B7-3DA3-4244-B36F-8EF4E23B2C71}"/>
              </a:ext>
            </a:extLst>
          </p:cNvPr>
          <p:cNvSpPr>
            <a:spLocks xmlns:a="http://schemas.openxmlformats.org/drawingml/2006/main" noGrp="1"/>
          </p:cNvSpPr>
          <p:nvPr/>
        </p:nvSpPr>
        <p:spPr>
          <a:xfrm xmlns:a="http://schemas.openxmlformats.org/drawingml/2006/main">
            <a:off x="9180576" y="3072384"/>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Configured variant</a:t>
            </a:r>
            <a:endParaRPr sz="930"/>
          </a:p>
        </p:txBody>
      </p:sp>
      <p:sp>
        <p:nvSpPr>
          <p:cNvPr id="24" name="Shape 22">
            <a:extLst xmlns:a="http://schemas.openxmlformats.org/drawingml/2006/main">
              <a:ext uri="{FF2B5EF4-FFF2-40B4-BE49-F238E27FC236}">
                <a16:creationId xmlns:a16="http://schemas.microsoft.com/office/drawing/2014/main" id="{72F7F3D7-40C0-4DC1-AB2B-D11DD133990E}"/>
              </a:ext>
            </a:extLst>
          </p:cNvPr>
          <p:cNvSpPr>
            <a:spLocks xmlns:a="http://schemas.openxmlformats.org/drawingml/2006/main" noGrp="1"/>
          </p:cNvSpPr>
          <p:nvPr/>
        </p:nvSpPr>
        <p:spPr>
          <a:xfrm xmlns:a="http://schemas.openxmlformats.org/drawingml/2006/main">
            <a:off x="566928" y="3511296"/>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35B95D73-30FA-410E-BFA5-7A3C28D4032B}"/>
              </a:ext>
            </a:extLst>
          </p:cNvPr>
          <p:cNvSpPr>
            <a:spLocks xmlns:a="http://schemas.openxmlformats.org/drawingml/2006/main" noGrp="1"/>
          </p:cNvSpPr>
          <p:nvPr/>
        </p:nvSpPr>
        <p:spPr>
          <a:xfrm xmlns:a="http://schemas.openxmlformats.org/drawingml/2006/main">
            <a:off x="566928" y="3511296"/>
            <a:ext cx="11057839" cy="603504"/>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2A1C42A4-A040-4B46-B317-0D71F3D59988}"/>
              </a:ext>
            </a:extLst>
          </p:cNvPr>
          <p:cNvSpPr>
            <a:spLocks xmlns:a="http://schemas.openxmlformats.org/drawingml/2006/main" noGrp="1"/>
          </p:cNvSpPr>
          <p:nvPr/>
        </p:nvSpPr>
        <p:spPr>
          <a:xfrm xmlns:a="http://schemas.openxmlformats.org/drawingml/2006/main">
            <a:off x="676656" y="3675888"/>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Government</a:t>
            </a:r>
            <a:endParaRPr sz="980"/>
          </a:p>
        </p:txBody>
      </p:sp>
      <p:sp>
        <p:nvSpPr>
          <p:cNvPr id="27" name="Text 25">
            <a:extLst xmlns:a="http://schemas.openxmlformats.org/drawingml/2006/main">
              <a:ext uri="{FF2B5EF4-FFF2-40B4-BE49-F238E27FC236}">
                <a16:creationId xmlns:a16="http://schemas.microsoft.com/office/drawing/2014/main" id="{009AC60E-4E78-41D1-BC5F-F52A241E8FD3}"/>
              </a:ext>
            </a:extLst>
          </p:cNvPr>
          <p:cNvSpPr>
            <a:spLocks xmlns:a="http://schemas.openxmlformats.org/drawingml/2006/main" noGrp="1"/>
          </p:cNvSpPr>
          <p:nvPr/>
        </p:nvSpPr>
        <p:spPr>
          <a:xfrm xmlns:a="http://schemas.openxmlformats.org/drawingml/2006/main">
            <a:off x="3602736" y="3675888"/>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Procurement conformity, additional approvals, tender linkage</a:t>
            </a:r>
            <a:endParaRPr sz="930"/>
          </a:p>
        </p:txBody>
      </p:sp>
      <p:sp>
        <p:nvSpPr>
          <p:cNvPr id="28" name="Text 26">
            <a:extLst xmlns:a="http://schemas.openxmlformats.org/drawingml/2006/main">
              <a:ext uri="{FF2B5EF4-FFF2-40B4-BE49-F238E27FC236}">
                <a16:creationId xmlns:a16="http://schemas.microsoft.com/office/drawing/2014/main" id="{B9068BC7-54F2-4F62-8A52-E9DBCF219EBF}"/>
              </a:ext>
            </a:extLst>
          </p:cNvPr>
          <p:cNvSpPr>
            <a:spLocks xmlns:a="http://schemas.openxmlformats.org/drawingml/2006/main" noGrp="1"/>
          </p:cNvSpPr>
          <p:nvPr/>
        </p:nvSpPr>
        <p:spPr>
          <a:xfrm xmlns:a="http://schemas.openxmlformats.org/drawingml/2006/main">
            <a:off x="6528816" y="3675888"/>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Deal object, stages, ownership, disposition set</a:t>
            </a:r>
            <a:endParaRPr sz="930"/>
          </a:p>
        </p:txBody>
      </p:sp>
      <p:sp>
        <p:nvSpPr>
          <p:cNvPr id="29" name="Text 27">
            <a:extLst xmlns:a="http://schemas.openxmlformats.org/drawingml/2006/main">
              <a:ext uri="{FF2B5EF4-FFF2-40B4-BE49-F238E27FC236}">
                <a16:creationId xmlns:a16="http://schemas.microsoft.com/office/drawing/2014/main" id="{E2D6ACA5-2C44-45B1-80CD-F33AE24FC95C}"/>
              </a:ext>
            </a:extLst>
          </p:cNvPr>
          <p:cNvSpPr>
            <a:spLocks xmlns:a="http://schemas.openxmlformats.org/drawingml/2006/main" noGrp="1"/>
          </p:cNvSpPr>
          <p:nvPr/>
        </p:nvSpPr>
        <p:spPr>
          <a:xfrm xmlns:a="http://schemas.openxmlformats.org/drawingml/2006/main">
            <a:off x="9180576" y="3675888"/>
            <a:ext cx="2331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a:solidFill>
                  <a:srgbClr val="B04A25"/>
                </a:solidFill>
                <a:latin typeface="Arial"/>
                <a:ea typeface="Arial"/>
                <a:cs typeface="Arial"/>
              </a:rPr>
              <a:t>Configured variant</a:t>
            </a:r>
            <a:endParaRPr sz="930"/>
          </a:p>
        </p:txBody>
      </p:sp>
      <p:sp>
        <p:nvSpPr>
          <p:cNvPr id="30" name="Shape 28">
            <a:extLst xmlns:a="http://schemas.openxmlformats.org/drawingml/2006/main">
              <a:ext uri="{FF2B5EF4-FFF2-40B4-BE49-F238E27FC236}">
                <a16:creationId xmlns:a16="http://schemas.microsoft.com/office/drawing/2014/main" id="{43288D14-AC44-46A5-B2D7-A58DC9BD7095}"/>
              </a:ext>
            </a:extLst>
          </p:cNvPr>
          <p:cNvSpPr>
            <a:spLocks xmlns:a="http://schemas.openxmlformats.org/drawingml/2006/main" noGrp="1"/>
          </p:cNvSpPr>
          <p:nvPr/>
        </p:nvSpPr>
        <p:spPr>
          <a:xfrm xmlns:a="http://schemas.openxmlformats.org/drawingml/2006/main">
            <a:off x="566928" y="4114800"/>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824774E7-53CA-47A1-BA2C-4DE54360CB7F}"/>
              </a:ext>
            </a:extLst>
          </p:cNvPr>
          <p:cNvSpPr>
            <a:spLocks xmlns:a="http://schemas.openxmlformats.org/drawingml/2006/main" noGrp="1"/>
          </p:cNvSpPr>
          <p:nvPr/>
        </p:nvSpPr>
        <p:spPr>
          <a:xfrm xmlns:a="http://schemas.openxmlformats.org/drawingml/2006/main">
            <a:off x="566928" y="43891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test that settled it</a:t>
            </a:r>
            <a:endParaRPr sz="1100"/>
          </a:p>
        </p:txBody>
      </p:sp>
      <p:sp>
        <p:nvSpPr>
          <p:cNvPr id="32" name="Shape 30">
            <a:extLst xmlns:a="http://schemas.openxmlformats.org/drawingml/2006/main">
              <a:ext uri="{FF2B5EF4-FFF2-40B4-BE49-F238E27FC236}">
                <a16:creationId xmlns:a16="http://schemas.microsoft.com/office/drawing/2014/main" id="{3503B7B3-0790-47F2-AEB4-06D95BEE64D5}"/>
              </a:ext>
            </a:extLst>
          </p:cNvPr>
          <p:cNvSpPr>
            <a:spLocks xmlns:a="http://schemas.openxmlformats.org/drawingml/2006/main" noGrp="1"/>
          </p:cNvSpPr>
          <p:nvPr/>
        </p:nvSpPr>
        <p:spPr>
          <a:xfrm xmlns:a="http://schemas.openxmlformats.org/drawingml/2006/main">
            <a:off x="566928" y="4645152"/>
            <a:ext cx="3551834" cy="20117"/>
          </a:xfrm>
          <a:prstGeom xmlns:a="http://schemas.openxmlformats.org/drawingml/2006/main" prst="rect">
            <a:avLst/>
          </a:prstGeom>
          <a:solidFill xmlns:a="http://schemas.openxmlformats.org/drawingml/2006/main">
            <a:srgbClr val="B04A25"/>
          </a:solidFill>
        </p:spPr>
      </p:sp>
      <p:sp>
        <p:nvSpPr>
          <p:cNvPr id="33" name="Text 31">
            <a:extLst xmlns:a="http://schemas.openxmlformats.org/drawingml/2006/main">
              <a:ext uri="{FF2B5EF4-FFF2-40B4-BE49-F238E27FC236}">
                <a16:creationId xmlns:a16="http://schemas.microsoft.com/office/drawing/2014/main" id="{E07E00F4-B00B-462C-9AB5-E38D476E0235}"/>
              </a:ext>
            </a:extLst>
          </p:cNvPr>
          <p:cNvSpPr>
            <a:spLocks xmlns:a="http://schemas.openxmlformats.org/drawingml/2006/main" noGrp="1"/>
          </p:cNvSpPr>
          <p:nvPr/>
        </p:nvSpPr>
        <p:spPr>
          <a:xfrm xmlns:a="http://schemas.openxmlformats.org/drawingml/2006/main">
            <a:off x="566928" y="4773168"/>
            <a:ext cx="3551834"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Ask whether the deal moves through different states, or the same states under different rules.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Across all four segments the states were identical — originate, qualify, structure, approve, execute, book.</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Different states would have meant four lifecycles. Different rules means one lifecycle and four rule sets.</a:t>
            </a:r>
            <a:endParaRPr sz="950"/>
          </a:p>
        </p:txBody>
      </p:sp>
      <p:sp>
        <p:nvSpPr>
          <p:cNvPr id="34" name="Text 32">
            <a:extLst xmlns:a="http://schemas.openxmlformats.org/drawingml/2006/main">
              <a:ext uri="{FF2B5EF4-FFF2-40B4-BE49-F238E27FC236}">
                <a16:creationId xmlns:a16="http://schemas.microsoft.com/office/drawing/2014/main" id="{87D8041B-EF2A-45FE-9A39-0F41A9B81281}"/>
              </a:ext>
            </a:extLst>
          </p:cNvPr>
          <p:cNvSpPr>
            <a:spLocks xmlns:a="http://schemas.openxmlformats.org/drawingml/2006/main" noGrp="1"/>
          </p:cNvSpPr>
          <p:nvPr/>
        </p:nvSpPr>
        <p:spPr>
          <a:xfrm xmlns:a="http://schemas.openxmlformats.org/drawingml/2006/main">
            <a:off x="4319930" y="43891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this is worth insisting on</a:t>
            </a:r>
            <a:endParaRPr sz="1100"/>
          </a:p>
        </p:txBody>
      </p:sp>
      <p:sp>
        <p:nvSpPr>
          <p:cNvPr id="35" name="Shape 33">
            <a:extLst xmlns:a="http://schemas.openxmlformats.org/drawingml/2006/main">
              <a:ext uri="{FF2B5EF4-FFF2-40B4-BE49-F238E27FC236}">
                <a16:creationId xmlns:a16="http://schemas.microsoft.com/office/drawing/2014/main" id="{C04D9F5D-03C6-4779-BD2B-2C643A3B367B}"/>
              </a:ext>
            </a:extLst>
          </p:cNvPr>
          <p:cNvSpPr>
            <a:spLocks xmlns:a="http://schemas.openxmlformats.org/drawingml/2006/main" noGrp="1"/>
          </p:cNvSpPr>
          <p:nvPr/>
        </p:nvSpPr>
        <p:spPr>
          <a:xfrm xmlns:a="http://schemas.openxmlformats.org/drawingml/2006/main">
            <a:off x="4319930" y="4645152"/>
            <a:ext cx="3551834" cy="20117"/>
          </a:xfrm>
          <a:prstGeom xmlns:a="http://schemas.openxmlformats.org/drawingml/2006/main" prst="rect">
            <a:avLst/>
          </a:prstGeom>
          <a:solidFill xmlns:a="http://schemas.openxmlformats.org/drawingml/2006/main">
            <a:srgbClr val="102A43"/>
          </a:solidFill>
        </p:spPr>
      </p:sp>
      <p:sp>
        <p:nvSpPr>
          <p:cNvPr id="36" name="Text 34">
            <a:extLst xmlns:a="http://schemas.openxmlformats.org/drawingml/2006/main">
              <a:ext uri="{FF2B5EF4-FFF2-40B4-BE49-F238E27FC236}">
                <a16:creationId xmlns:a16="http://schemas.microsoft.com/office/drawing/2014/main" id="{3341EC7C-28E0-480F-8E0F-D611AC243AC8}"/>
              </a:ext>
            </a:extLst>
          </p:cNvPr>
          <p:cNvSpPr>
            <a:spLocks xmlns:a="http://schemas.openxmlformats.org/drawingml/2006/main" noGrp="1"/>
          </p:cNvSpPr>
          <p:nvPr/>
        </p:nvSpPr>
        <p:spPr>
          <a:xfrm xmlns:a="http://schemas.openxmlformats.org/drawingml/2006/main">
            <a:off x="4319930" y="4773168"/>
            <a:ext cx="3551834"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One lifecycle means one pipeline report, one set of conversion metrics and one definition of stage.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bank with four lifecycles cannot compare segment performance without a translation layer that nobody maintains.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Adding a fifth segment becomes configuration rather than a project.</a:t>
            </a:r>
            <a:endParaRPr sz="950"/>
          </a:p>
        </p:txBody>
      </p:sp>
      <p:sp>
        <p:nvSpPr>
          <p:cNvPr id="37" name="Text 35">
            <a:extLst xmlns:a="http://schemas.openxmlformats.org/drawingml/2006/main">
              <a:ext uri="{FF2B5EF4-FFF2-40B4-BE49-F238E27FC236}">
                <a16:creationId xmlns:a16="http://schemas.microsoft.com/office/drawing/2014/main" id="{19B45DE0-6E2F-410A-BE54-7937C6EB7620}"/>
              </a:ext>
            </a:extLst>
          </p:cNvPr>
          <p:cNvSpPr>
            <a:spLocks xmlns:a="http://schemas.openxmlformats.org/drawingml/2006/main" noGrp="1"/>
          </p:cNvSpPr>
          <p:nvPr/>
        </p:nvSpPr>
        <p:spPr>
          <a:xfrm xmlns:a="http://schemas.openxmlformats.org/drawingml/2006/main">
            <a:off x="8072933" y="43891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Where the pressure comes from</a:t>
            </a:r>
            <a:endParaRPr sz="1100"/>
          </a:p>
        </p:txBody>
      </p:sp>
      <p:sp>
        <p:nvSpPr>
          <p:cNvPr id="38" name="Shape 36">
            <a:extLst xmlns:a="http://schemas.openxmlformats.org/drawingml/2006/main">
              <a:ext uri="{FF2B5EF4-FFF2-40B4-BE49-F238E27FC236}">
                <a16:creationId xmlns:a16="http://schemas.microsoft.com/office/drawing/2014/main" id="{12278B7E-3D53-4886-B54E-5E0AD06601CC}"/>
              </a:ext>
            </a:extLst>
          </p:cNvPr>
          <p:cNvSpPr>
            <a:spLocks xmlns:a="http://schemas.openxmlformats.org/drawingml/2006/main" noGrp="1"/>
          </p:cNvSpPr>
          <p:nvPr/>
        </p:nvSpPr>
        <p:spPr>
          <a:xfrm xmlns:a="http://schemas.openxmlformats.org/drawingml/2006/main">
            <a:off x="8072933" y="4645152"/>
            <a:ext cx="3551834" cy="20117"/>
          </a:xfrm>
          <a:prstGeom xmlns:a="http://schemas.openxmlformats.org/drawingml/2006/main" prst="rect">
            <a:avLst/>
          </a:prstGeom>
          <a:solidFill xmlns:a="http://schemas.openxmlformats.org/drawingml/2006/main">
            <a:srgbClr val="486581"/>
          </a:solidFill>
        </p:spPr>
      </p:sp>
      <p:sp>
        <p:nvSpPr>
          <p:cNvPr id="39" name="Text 37">
            <a:extLst xmlns:a="http://schemas.openxmlformats.org/drawingml/2006/main">
              <a:ext uri="{FF2B5EF4-FFF2-40B4-BE49-F238E27FC236}">
                <a16:creationId xmlns:a16="http://schemas.microsoft.com/office/drawing/2014/main" id="{5B1F7CD8-7F0A-4803-96EB-0EC7F64ED1B2}"/>
              </a:ext>
            </a:extLst>
          </p:cNvPr>
          <p:cNvSpPr>
            <a:spLocks xmlns:a="http://schemas.openxmlformats.org/drawingml/2006/main" noGrp="1"/>
          </p:cNvSpPr>
          <p:nvPr/>
        </p:nvSpPr>
        <p:spPr>
          <a:xfrm xmlns:a="http://schemas.openxmlformats.org/drawingml/2006/main">
            <a:off x="8072933" y="4773168"/>
            <a:ext cx="3551834"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Each segment team experiences its own rules as fundamental differences, and argues for its own process.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They are describing real differences — but in thresholds and evidence, not in shape.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Separating those two things in the requirement workshop is most of the work.</a:t>
            </a:r>
            <a:endParaRPr sz="950"/>
          </a:p>
        </p:txBody>
      </p:sp>
      <p:sp>
        <p:nvSpPr>
          <p:cNvPr id="40" name="Shape 38">
            <a:extLst xmlns:a="http://schemas.openxmlformats.org/drawingml/2006/main">
              <a:ext uri="{FF2B5EF4-FFF2-40B4-BE49-F238E27FC236}">
                <a16:creationId xmlns:a16="http://schemas.microsoft.com/office/drawing/2014/main" id="{7177502C-1178-4626-B443-5904278F676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1" name="Text 39">
            <a:extLst xmlns:a="http://schemas.openxmlformats.org/drawingml/2006/main">
              <a:ext uri="{FF2B5EF4-FFF2-40B4-BE49-F238E27FC236}">
                <a16:creationId xmlns:a16="http://schemas.microsoft.com/office/drawing/2014/main" id="{D566B586-9749-4413-A490-A7352D58CB6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2023 engagement · author's analysis</a:t>
            </a:r>
            <a:endParaRPr sz="850"/>
          </a:p>
        </p:txBody>
      </p:sp>
      <p:sp>
        <p:nvSpPr>
          <p:cNvPr id="42" name="Text 40">
            <a:extLst xmlns:a="http://schemas.openxmlformats.org/drawingml/2006/main">
              <a:ext uri="{FF2B5EF4-FFF2-40B4-BE49-F238E27FC236}">
                <a16:creationId xmlns:a16="http://schemas.microsoft.com/office/drawing/2014/main" id="{E97CCEAD-210E-46DF-BAC5-9870F8431CF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2051426655"/>
      </p:ext>
    </p:extLst>
  </p:cSld>
</p:sld>
</file>

<file path=ppt/slides/slide19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7D7BADB-FB18-4CA4-AF8A-47021E21A73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RETROSPECTIVE</a:t>
            </a:r>
            <a:endParaRPr sz="950"/>
          </a:p>
        </p:txBody>
      </p:sp>
      <p:sp>
        <p:nvSpPr>
          <p:cNvPr id="3" name="Text 1">
            <a:extLst xmlns:a="http://schemas.openxmlformats.org/drawingml/2006/main">
              <a:ext uri="{FF2B5EF4-FFF2-40B4-BE49-F238E27FC236}">
                <a16:creationId xmlns:a16="http://schemas.microsoft.com/office/drawing/2014/main" id="{03D2E6C8-3F58-4E46-A954-EB621C4B64C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What held, what did not, and what I would do differently on the next multi-country</a:t>
            </a:r>
            <a:endParaRPr sz="1900"/>
          </a:p>
          <a:p xmlns:a="http://schemas.openxmlformats.org/drawingml/2006/main">
            <a:pPr marL="0" indent="0">
              <a:lnSpc>
                <a:spcPts val="2400"/>
              </a:lnSpc>
              <a:buNone/>
            </a:pPr>
            <a:r>
              <a:rPr sz="1900" b="1">
                <a:solidFill>
                  <a:srgbClr val="102A43"/>
                </a:solidFill>
                <a:latin typeface="Arial"/>
                <a:ea typeface="Arial"/>
                <a:cs typeface="Arial"/>
              </a:rPr>
              <a:t>corporate programme</a:t>
            </a:r>
            <a:endParaRPr sz="1900"/>
          </a:p>
        </p:txBody>
      </p:sp>
      <p:sp>
        <p:nvSpPr>
          <p:cNvPr id="4" name="Text 2">
            <a:extLst xmlns:a="http://schemas.openxmlformats.org/drawingml/2006/main">
              <a:ext uri="{FF2B5EF4-FFF2-40B4-BE49-F238E27FC236}">
                <a16:creationId xmlns:a16="http://schemas.microsoft.com/office/drawing/2014/main" id="{9636F930-6521-4CA8-A081-B92FF2A0F3D8}"/>
              </a:ext>
            </a:extLst>
          </p:cNvPr>
          <p:cNvSpPr>
            <a:spLocks xmlns:a="http://schemas.openxmlformats.org/drawingml/2006/main" noGrp="1"/>
          </p:cNvSpPr>
          <p:nvPr/>
        </p:nvSpPr>
        <p:spPr>
          <a:xfrm xmlns:a="http://schemas.openxmlformats.org/drawingml/2006/main">
            <a:off x="566928"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7685A"/>
                </a:solidFill>
                <a:latin typeface="Arial"/>
                <a:ea typeface="Arial"/>
                <a:cs typeface="Arial"/>
              </a:rPr>
              <a:t>What held</a:t>
            </a:r>
            <a:endParaRPr sz="1300"/>
          </a:p>
        </p:txBody>
      </p:sp>
      <p:sp>
        <p:nvSpPr>
          <p:cNvPr id="5" name="Shape 3">
            <a:extLst xmlns:a="http://schemas.openxmlformats.org/drawingml/2006/main">
              <a:ext uri="{FF2B5EF4-FFF2-40B4-BE49-F238E27FC236}">
                <a16:creationId xmlns:a16="http://schemas.microsoft.com/office/drawing/2014/main" id="{817B97E5-428C-4439-9370-F451F179D944}"/>
              </a:ext>
            </a:extLst>
          </p:cNvPr>
          <p:cNvSpPr>
            <a:spLocks xmlns:a="http://schemas.openxmlformats.org/drawingml/2006/main" noGrp="1"/>
          </p:cNvSpPr>
          <p:nvPr/>
        </p:nvSpPr>
        <p:spPr>
          <a:xfrm xmlns:a="http://schemas.openxmlformats.org/drawingml/2006/main">
            <a:off x="566928" y="1627632"/>
            <a:ext cx="3551834" cy="22860"/>
          </a:xfrm>
          <a:prstGeom xmlns:a="http://schemas.openxmlformats.org/drawingml/2006/main" prst="rect">
            <a:avLst/>
          </a:prstGeom>
          <a:solidFill xmlns:a="http://schemas.openxmlformats.org/drawingml/2006/main">
            <a:srgbClr val="27685A"/>
          </a:solidFill>
        </p:spPr>
      </p:sp>
      <p:sp>
        <p:nvSpPr>
          <p:cNvPr id="6" name="Text 4">
            <a:extLst xmlns:a="http://schemas.openxmlformats.org/drawingml/2006/main">
              <a:ext uri="{FF2B5EF4-FFF2-40B4-BE49-F238E27FC236}">
                <a16:creationId xmlns:a16="http://schemas.microsoft.com/office/drawing/2014/main" id="{6F20D469-C924-466F-8703-84CF049837CB}"/>
              </a:ext>
            </a:extLst>
          </p:cNvPr>
          <p:cNvSpPr>
            <a:spLocks xmlns:a="http://schemas.openxmlformats.org/drawingml/2006/main" noGrp="1"/>
          </p:cNvSpPr>
          <p:nvPr/>
        </p:nvSpPr>
        <p:spPr>
          <a:xfrm xmlns:a="http://schemas.openxmlformats.org/drawingml/2006/main">
            <a:off x="566928"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Treating the corporate group, not the country, as the primary organising object.</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Running requirement workshops against a shared baseline rather than a blank page — it produced a far shorter and far truer variance list.</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Sequencing profitability last, so that it acted as a reconciliation checkpoint on definitions rather than measuring a moving model.</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One lifecycle across four segments, with difference expressed as rules rather than as shape.</a:t>
            </a:r>
            <a:endParaRPr sz="1000"/>
          </a:p>
        </p:txBody>
      </p:sp>
      <p:sp>
        <p:nvSpPr>
          <p:cNvPr id="7" name="Text 5">
            <a:extLst xmlns:a="http://schemas.openxmlformats.org/drawingml/2006/main">
              <a:ext uri="{FF2B5EF4-FFF2-40B4-BE49-F238E27FC236}">
                <a16:creationId xmlns:a16="http://schemas.microsoft.com/office/drawing/2014/main" id="{20928579-CB36-4FD4-A607-65F9949A10BA}"/>
              </a:ext>
            </a:extLst>
          </p:cNvPr>
          <p:cNvSpPr>
            <a:spLocks xmlns:a="http://schemas.openxmlformats.org/drawingml/2006/main" noGrp="1"/>
          </p:cNvSpPr>
          <p:nvPr/>
        </p:nvSpPr>
        <p:spPr>
          <a:xfrm xmlns:a="http://schemas.openxmlformats.org/drawingml/2006/main">
            <a:off x="4319930"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B04A25"/>
                </a:solidFill>
                <a:latin typeface="Arial"/>
                <a:ea typeface="Arial"/>
                <a:cs typeface="Arial"/>
              </a:rPr>
              <a:t>What did not</a:t>
            </a:r>
            <a:endParaRPr sz="1300"/>
          </a:p>
        </p:txBody>
      </p:sp>
      <p:sp>
        <p:nvSpPr>
          <p:cNvPr id="8" name="Shape 6">
            <a:extLst xmlns:a="http://schemas.openxmlformats.org/drawingml/2006/main">
              <a:ext uri="{FF2B5EF4-FFF2-40B4-BE49-F238E27FC236}">
                <a16:creationId xmlns:a16="http://schemas.microsoft.com/office/drawing/2014/main" id="{F2707C70-96B3-4809-A390-F2BCFAC15C83}"/>
              </a:ext>
            </a:extLst>
          </p:cNvPr>
          <p:cNvSpPr>
            <a:spLocks xmlns:a="http://schemas.openxmlformats.org/drawingml/2006/main" noGrp="1"/>
          </p:cNvSpPr>
          <p:nvPr/>
        </p:nvSpPr>
        <p:spPr>
          <a:xfrm xmlns:a="http://schemas.openxmlformats.org/drawingml/2006/main">
            <a:off x="4319930" y="1627632"/>
            <a:ext cx="3551834" cy="22860"/>
          </a:xfrm>
          <a:prstGeom xmlns:a="http://schemas.openxmlformats.org/drawingml/2006/main" prst="rect">
            <a:avLst/>
          </a:prstGeom>
          <a:solidFill xmlns:a="http://schemas.openxmlformats.org/drawingml/2006/main">
            <a:srgbClr val="B04A25"/>
          </a:solidFill>
        </p:spPr>
      </p:sp>
      <p:sp>
        <p:nvSpPr>
          <p:cNvPr id="9" name="Text 7">
            <a:extLst xmlns:a="http://schemas.openxmlformats.org/drawingml/2006/main">
              <a:ext uri="{FF2B5EF4-FFF2-40B4-BE49-F238E27FC236}">
                <a16:creationId xmlns:a16="http://schemas.microsoft.com/office/drawing/2014/main" id="{942E5CAF-0B24-4E05-9858-3A58597D84D7}"/>
              </a:ext>
            </a:extLst>
          </p:cNvPr>
          <p:cNvSpPr>
            <a:spLocks xmlns:a="http://schemas.openxmlformats.org/drawingml/2006/main" noGrp="1"/>
          </p:cNvSpPr>
          <p:nvPr/>
        </p:nvSpPr>
        <p:spPr>
          <a:xfrm xmlns:a="http://schemas.openxmlformats.org/drawingml/2006/main">
            <a:off x="4319930"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Related-party data quality was underestimated. The model was right; the source data on cross-holdings and beneficial ownership was materially incomplete in several markets.</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That is not a platform problem, but it is the platform's problem the moment a group view is presented as authoritative.</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Reporting definitions were agreed programme by programme, so the fourth programme spent real effort reconciling three earlier interpretations of the same measure.</a:t>
            </a:r>
            <a:endParaRPr sz="1000"/>
          </a:p>
        </p:txBody>
      </p:sp>
      <p:sp>
        <p:nvSpPr>
          <p:cNvPr id="10" name="Text 8">
            <a:extLst xmlns:a="http://schemas.openxmlformats.org/drawingml/2006/main">
              <a:ext uri="{FF2B5EF4-FFF2-40B4-BE49-F238E27FC236}">
                <a16:creationId xmlns:a16="http://schemas.microsoft.com/office/drawing/2014/main" id="{4B736899-1896-47E0-9F9D-40F261E3073D}"/>
              </a:ext>
            </a:extLst>
          </p:cNvPr>
          <p:cNvSpPr>
            <a:spLocks xmlns:a="http://schemas.openxmlformats.org/drawingml/2006/main" noGrp="1"/>
          </p:cNvSpPr>
          <p:nvPr/>
        </p:nvSpPr>
        <p:spPr>
          <a:xfrm xmlns:a="http://schemas.openxmlformats.org/drawingml/2006/main">
            <a:off x="8072933" y="1335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486581"/>
                </a:solidFill>
                <a:latin typeface="Arial"/>
                <a:ea typeface="Arial"/>
                <a:cs typeface="Arial"/>
              </a:rPr>
              <a:t>What I would change</a:t>
            </a:r>
            <a:endParaRPr sz="1300"/>
          </a:p>
        </p:txBody>
      </p:sp>
      <p:sp>
        <p:nvSpPr>
          <p:cNvPr id="11" name="Shape 9">
            <a:extLst xmlns:a="http://schemas.openxmlformats.org/drawingml/2006/main">
              <a:ext uri="{FF2B5EF4-FFF2-40B4-BE49-F238E27FC236}">
                <a16:creationId xmlns:a16="http://schemas.microsoft.com/office/drawing/2014/main" id="{D27E9C91-4379-49EF-946C-E3235D49BF3C}"/>
              </a:ext>
            </a:extLst>
          </p:cNvPr>
          <p:cNvSpPr>
            <a:spLocks xmlns:a="http://schemas.openxmlformats.org/drawingml/2006/main" noGrp="1"/>
          </p:cNvSpPr>
          <p:nvPr/>
        </p:nvSpPr>
        <p:spPr>
          <a:xfrm xmlns:a="http://schemas.openxmlformats.org/drawingml/2006/main">
            <a:off x="8072933" y="1627632"/>
            <a:ext cx="3551834" cy="22860"/>
          </a:xfrm>
          <a:prstGeom xmlns:a="http://schemas.openxmlformats.org/drawingml/2006/main" prst="rect">
            <a:avLst/>
          </a:prstGeom>
          <a:solidFill xmlns:a="http://schemas.openxmlformats.org/drawingml/2006/main">
            <a:srgbClr val="486581"/>
          </a:solidFill>
        </p:spPr>
      </p:sp>
      <p:sp>
        <p:nvSpPr>
          <p:cNvPr id="12" name="Text 10">
            <a:extLst xmlns:a="http://schemas.openxmlformats.org/drawingml/2006/main">
              <a:ext uri="{FF2B5EF4-FFF2-40B4-BE49-F238E27FC236}">
                <a16:creationId xmlns:a16="http://schemas.microsoft.com/office/drawing/2014/main" id="{9DAA922A-483A-4DAF-B5AE-A35FA8DB1376}"/>
              </a:ext>
            </a:extLst>
          </p:cNvPr>
          <p:cNvSpPr>
            <a:spLocks xmlns:a="http://schemas.openxmlformats.org/drawingml/2006/main" noGrp="1"/>
          </p:cNvSpPr>
          <p:nvPr/>
        </p:nvSpPr>
        <p:spPr>
          <a:xfrm xmlns:a="http://schemas.openxmlformats.org/drawingml/2006/main">
            <a:off x="8072933" y="1810512"/>
            <a:ext cx="3551834" cy="3108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Run a related-party data assessment before the entity model is signed off, not after — the model's value is bounded by that data.</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Agree the reporting definition set once, in programme one, even though nothing reports yet.</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Name a group-level data authority early. Six markets cannot converge on a hierarchy without someone empowered to decide.</a:t>
            </a:r>
            <a:endParaRPr sz="1000"/>
          </a:p>
          <a:p xmlns:a="http://schemas.openxmlformats.org/drawingml/2006/main">
            <a:pPr marL="152400" indent="-152400">
              <a:lnSpc>
                <a:spcPts val="1400"/>
              </a:lnSpc>
              <a:spcAft>
                <a:spcPts val="900"/>
              </a:spcAft>
              <a:buSzPct val="100000"/>
              <a:buChar char="•"/>
            </a:pPr>
            <a:r>
              <a:rPr sz="1000">
                <a:solidFill>
                  <a:srgbClr val="1A1A1A"/>
                </a:solidFill>
                <a:latin typeface="Arial"/>
                <a:ea typeface="Arial"/>
                <a:cs typeface="Arial"/>
              </a:rPr>
              <a:t>Publish the variance decomposition to country teams. Seeing that most requirements are common changes the conversation.</a:t>
            </a:r>
            <a:endParaRPr sz="1000"/>
          </a:p>
        </p:txBody>
      </p:sp>
      <p:sp>
        <p:nvSpPr>
          <p:cNvPr id="13" name="Shape 11">
            <a:extLst xmlns:a="http://schemas.openxmlformats.org/drawingml/2006/main">
              <a:ext uri="{FF2B5EF4-FFF2-40B4-BE49-F238E27FC236}">
                <a16:creationId xmlns:a16="http://schemas.microsoft.com/office/drawing/2014/main" id="{3B20B72C-D384-48D1-B9A8-4558A15A0E54}"/>
              </a:ext>
            </a:extLst>
          </p:cNvPr>
          <p:cNvSpPr>
            <a:spLocks xmlns:a="http://schemas.openxmlformats.org/drawingml/2006/main" noGrp="1"/>
          </p:cNvSpPr>
          <p:nvPr/>
        </p:nvSpPr>
        <p:spPr>
          <a:xfrm xmlns:a="http://schemas.openxmlformats.org/drawingml/2006/main">
            <a:off x="566928" y="5047488"/>
            <a:ext cx="11057839" cy="1024128"/>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19EA3A97-7142-4420-AA1E-AEA904378937}"/>
              </a:ext>
            </a:extLst>
          </p:cNvPr>
          <p:cNvSpPr>
            <a:spLocks xmlns:a="http://schemas.openxmlformats.org/drawingml/2006/main" noGrp="1"/>
          </p:cNvSpPr>
          <p:nvPr/>
        </p:nvSpPr>
        <p:spPr>
          <a:xfrm xmlns:a="http://schemas.openxmlformats.org/drawingml/2006/main">
            <a:off x="841248" y="5212080"/>
            <a:ext cx="10509199"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The pattern behind all three columns</a:t>
            </a:r>
            <a:endParaRPr sz="1200"/>
          </a:p>
        </p:txBody>
      </p:sp>
      <p:sp>
        <p:nvSpPr>
          <p:cNvPr id="15" name="Text 13">
            <a:extLst xmlns:a="http://schemas.openxmlformats.org/drawingml/2006/main">
              <a:ext uri="{FF2B5EF4-FFF2-40B4-BE49-F238E27FC236}">
                <a16:creationId xmlns:a16="http://schemas.microsoft.com/office/drawing/2014/main" id="{C1A1F247-C5A2-41AB-85E8-C9472F0F22E7}"/>
              </a:ext>
            </a:extLst>
          </p:cNvPr>
          <p:cNvSpPr>
            <a:spLocks xmlns:a="http://schemas.openxmlformats.org/drawingml/2006/main" noGrp="1"/>
          </p:cNvSpPr>
          <p:nvPr/>
        </p:nvSpPr>
        <p:spPr>
          <a:xfrm xmlns:a="http://schemas.openxmlformats.org/drawingml/2006/main">
            <a:off x="841248" y="5504688"/>
            <a:ext cx="10509199"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040">
                <a:solidFill>
                  <a:srgbClr val="1A1A1A"/>
                </a:solidFill>
                <a:latin typeface="Arial"/>
                <a:ea typeface="Arial"/>
                <a:cs typeface="Arial"/>
              </a:rPr>
              <a:t>Everything that held was a decision about what the shared object is — the group, the lifecycle, the baseline. Everything that did not was a shared thing left unowned: related-party data quality and reporting definitions both belonged to the portfolio and were treated as belonging to whichever programme happened to need them first.</a:t>
            </a:r>
            <a:endParaRPr sz="1040"/>
          </a:p>
        </p:txBody>
      </p:sp>
      <p:sp>
        <p:nvSpPr>
          <p:cNvPr id="16" name="Shape 14">
            <a:extLst xmlns:a="http://schemas.openxmlformats.org/drawingml/2006/main">
              <a:ext uri="{FF2B5EF4-FFF2-40B4-BE49-F238E27FC236}">
                <a16:creationId xmlns:a16="http://schemas.microsoft.com/office/drawing/2014/main" id="{16DBA76C-9544-457C-B8DC-508BD02D91F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7" name="Text 15">
            <a:extLst xmlns:a="http://schemas.openxmlformats.org/drawingml/2006/main">
              <a:ext uri="{FF2B5EF4-FFF2-40B4-BE49-F238E27FC236}">
                <a16:creationId xmlns:a16="http://schemas.microsoft.com/office/drawing/2014/main" id="{94A81387-72AE-4094-9E86-11BDC2E9B49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18" name="Text 16">
            <a:extLst xmlns:a="http://schemas.openxmlformats.org/drawingml/2006/main">
              <a:ext uri="{FF2B5EF4-FFF2-40B4-BE49-F238E27FC236}">
                <a16:creationId xmlns:a16="http://schemas.microsoft.com/office/drawing/2014/main" id="{6D01D843-E54C-404A-A94A-57425A6C3A3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974108272"/>
      </p:ext>
    </p:extLst>
  </p:cSld>
</p:sld>
</file>

<file path=ppt/slides/slide20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D5E736-A1D9-4468-A9EA-33163C04F59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4D663D5D-1974-4BFC-9B95-A52D1BC1E65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judgements for multi-country corporate banking</a:t>
            </a:r>
            <a:endParaRPr sz="1900"/>
          </a:p>
        </p:txBody>
      </p:sp>
      <p:sp>
        <p:nvSpPr>
          <p:cNvPr id="4" name="Text 2">
            <a:extLst xmlns:a="http://schemas.openxmlformats.org/drawingml/2006/main">
              <a:ext uri="{FF2B5EF4-FFF2-40B4-BE49-F238E27FC236}">
                <a16:creationId xmlns:a16="http://schemas.microsoft.com/office/drawing/2014/main" id="{AF8CC957-8E18-497A-8530-203F8F82AE71}"/>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3C2F2FA4-7B68-4605-B861-63CB773DEE15}"/>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Organise on the group, not the country</a:t>
            </a:r>
            <a:endParaRPr sz="1200"/>
          </a:p>
        </p:txBody>
      </p:sp>
      <p:sp>
        <p:nvSpPr>
          <p:cNvPr id="6" name="Text 4">
            <a:extLst xmlns:a="http://schemas.openxmlformats.org/drawingml/2006/main">
              <a:ext uri="{FF2B5EF4-FFF2-40B4-BE49-F238E27FC236}">
                <a16:creationId xmlns:a16="http://schemas.microsoft.com/office/drawing/2014/main" id="{A6468B1B-975E-4D7F-A0C4-D53F72B03ABF}"/>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Country is a defensible primary boundary in retail because customers rarely span markets. In corporate banking the group spans markets by definition, so a country-boundary architecture fragments exactly the thing the bank is trying to see.</a:t>
            </a:r>
            <a:endParaRPr sz="1000"/>
          </a:p>
        </p:txBody>
      </p:sp>
      <p:sp>
        <p:nvSpPr>
          <p:cNvPr id="7" name="Shape 5">
            <a:extLst xmlns:a="http://schemas.openxmlformats.org/drawingml/2006/main">
              <a:ext uri="{FF2B5EF4-FFF2-40B4-BE49-F238E27FC236}">
                <a16:creationId xmlns:a16="http://schemas.microsoft.com/office/drawing/2014/main" id="{63D47F95-ADC7-4D78-A737-39EFFF7F31FE}"/>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1642424-04C4-44E0-8733-F52E1F0CDE5C}"/>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2D2A115D-D400-44F5-B85E-8248120A8280}"/>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Workshop against a baseline, never a blank page</a:t>
            </a:r>
            <a:endParaRPr sz="1200"/>
          </a:p>
        </p:txBody>
      </p:sp>
      <p:sp>
        <p:nvSpPr>
          <p:cNvPr id="10" name="Text 8">
            <a:extLst xmlns:a="http://schemas.openxmlformats.org/drawingml/2006/main">
              <a:ext uri="{FF2B5EF4-FFF2-40B4-BE49-F238E27FC236}">
                <a16:creationId xmlns:a16="http://schemas.microsoft.com/office/drawing/2014/main" id="{EA75F27B-6142-470E-8ABE-D50D7407B93D}"/>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Asking a market what it needs produces a long list of differences. Asking what it needs to change about a shared design produces a short one — and the short list is the real variance.</a:t>
            </a:r>
            <a:endParaRPr sz="1000"/>
          </a:p>
        </p:txBody>
      </p:sp>
      <p:sp>
        <p:nvSpPr>
          <p:cNvPr id="11" name="Shape 9">
            <a:extLst xmlns:a="http://schemas.openxmlformats.org/drawingml/2006/main">
              <a:ext uri="{FF2B5EF4-FFF2-40B4-BE49-F238E27FC236}">
                <a16:creationId xmlns:a16="http://schemas.microsoft.com/office/drawing/2014/main" id="{7CB3E1E6-E993-450D-8F4B-CBD9147B3464}"/>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7437A1D0-89E4-4AB3-846E-AEDE9D84BD29}"/>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B5007FF3-9599-49F3-8682-DEE2A7638662}"/>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Separate different shape from different rules</a:t>
            </a:r>
            <a:endParaRPr sz="1200"/>
          </a:p>
        </p:txBody>
      </p:sp>
      <p:sp>
        <p:nvSpPr>
          <p:cNvPr id="14" name="Text 12">
            <a:extLst xmlns:a="http://schemas.openxmlformats.org/drawingml/2006/main">
              <a:ext uri="{FF2B5EF4-FFF2-40B4-BE49-F238E27FC236}">
                <a16:creationId xmlns:a16="http://schemas.microsoft.com/office/drawing/2014/main" id="{DB0B6B5C-BE68-4F6E-A1F8-1070ABE85A84}"/>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Segments almost always differ in thresholds and evidence rather than in states. Different rules means one lifecycle configured four ways; only different states justify four lifecycles.</a:t>
            </a:r>
            <a:endParaRPr sz="1000"/>
          </a:p>
        </p:txBody>
      </p:sp>
      <p:sp>
        <p:nvSpPr>
          <p:cNvPr id="15" name="Shape 13">
            <a:extLst xmlns:a="http://schemas.openxmlformats.org/drawingml/2006/main">
              <a:ext uri="{FF2B5EF4-FFF2-40B4-BE49-F238E27FC236}">
                <a16:creationId xmlns:a16="http://schemas.microsoft.com/office/drawing/2014/main" id="{2FF854E5-5B0A-40D8-A83C-E4E9A2C431B4}"/>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EC818876-D3A9-4087-AF76-3B6CACEA10F0}"/>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CBCAE9CF-D843-451B-94A2-D1B9FD6B60D3}"/>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Assess the data before trusting the model</a:t>
            </a:r>
            <a:endParaRPr sz="1200"/>
          </a:p>
        </p:txBody>
      </p:sp>
      <p:sp>
        <p:nvSpPr>
          <p:cNvPr id="18" name="Text 16">
            <a:extLst xmlns:a="http://schemas.openxmlformats.org/drawingml/2006/main">
              <a:ext uri="{FF2B5EF4-FFF2-40B4-BE49-F238E27FC236}">
                <a16:creationId xmlns:a16="http://schemas.microsoft.com/office/drawing/2014/main" id="{E5A20698-25B4-4EEE-B5AC-2DE1533CCB7E}"/>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group hierarchy is only as good as the related-party data feeding it. That assessment belongs before the entity model is signed off, because the model's value is bounded by data nobody has checked.</a:t>
            </a:r>
            <a:endParaRPr sz="1000"/>
          </a:p>
        </p:txBody>
      </p:sp>
      <p:sp>
        <p:nvSpPr>
          <p:cNvPr id="19" name="Shape 17">
            <a:extLst xmlns:a="http://schemas.openxmlformats.org/drawingml/2006/main">
              <a:ext uri="{FF2B5EF4-FFF2-40B4-BE49-F238E27FC236}">
                <a16:creationId xmlns:a16="http://schemas.microsoft.com/office/drawing/2014/main" id="{6E9CC895-9116-4D1C-BA15-9C64D593B2CF}"/>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6DBA2FD8-6226-4E7A-87BC-A9F986B61BFE}"/>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Six countries did not need six deployments. They needed one entity model agreed before the first go-live — which is slower to start, requires authority above any single market, and is paid for exactly once.</a:t>
            </a:r>
            <a:endParaRPr sz="1200"/>
          </a:p>
        </p:txBody>
      </p:sp>
      <p:sp>
        <p:nvSpPr>
          <p:cNvPr id="21" name="Shape 19">
            <a:extLst xmlns:a="http://schemas.openxmlformats.org/drawingml/2006/main">
              <a:ext uri="{FF2B5EF4-FFF2-40B4-BE49-F238E27FC236}">
                <a16:creationId xmlns:a16="http://schemas.microsoft.com/office/drawing/2014/main" id="{8C4C3956-60D9-45F7-BB1F-40EB1EAEEA2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EDC4FAE2-C53C-4A30-95F1-9FBC6007C4A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A4C2459E-410E-4F65-8BE9-D3C1D24115D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105901979"/>
      </p:ext>
    </p:extLst>
  </p:cSld>
</p:sld>
</file>

<file path=ppt/slides/slide20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80A3B20-AB0A-4EC2-BCF4-5B722DAD11B1}"/>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ANALYTICS  ·  18 OF 30</a:t>
            </a:r>
            <a:endParaRPr sz="950"/>
          </a:p>
        </p:txBody>
      </p:sp>
      <p:sp>
        <p:nvSpPr>
          <p:cNvPr id="3" name="Text 1">
            <a:extLst xmlns:a="http://schemas.openxmlformats.org/drawingml/2006/main">
              <a:ext uri="{FF2B5EF4-FFF2-40B4-BE49-F238E27FC236}">
                <a16:creationId xmlns:a16="http://schemas.microsoft.com/office/drawing/2014/main" id="{90961651-4F9B-4EE8-B051-36D92A486520}"/>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Arab Bank</a:t>
            </a:r>
            <a:endParaRPr sz="3800"/>
          </a:p>
        </p:txBody>
      </p:sp>
      <p:sp>
        <p:nvSpPr>
          <p:cNvPr id="4" name="Text 2">
            <a:extLst xmlns:a="http://schemas.openxmlformats.org/drawingml/2006/main">
              <a:ext uri="{FF2B5EF4-FFF2-40B4-BE49-F238E27FC236}">
                <a16:creationId xmlns:a16="http://schemas.microsoft.com/office/drawing/2014/main" id="{5D28BACD-4C7B-492E-AF8F-9078EDFCA25C}"/>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From dashboards to decisions — why a hundred reports is a symptom, not an achievement</a:t>
            </a:r>
            <a:endParaRPr sz="1800"/>
          </a:p>
        </p:txBody>
      </p:sp>
      <p:sp>
        <p:nvSpPr>
          <p:cNvPr id="5" name="Text 3">
            <a:extLst xmlns:a="http://schemas.openxmlformats.org/drawingml/2006/main">
              <a:ext uri="{FF2B5EF4-FFF2-40B4-BE49-F238E27FC236}">
                <a16:creationId xmlns:a16="http://schemas.microsoft.com/office/drawing/2014/main" id="{C329ED42-C421-45E8-970D-AF1BE5E296D4}"/>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Corporate profitability and portfolio analytics across four dashboard families. The delivery question was never how to build them; it was which decision each one changes, and what to do about the ones that change nothing.</a:t>
            </a:r>
            <a:endParaRPr sz="1150"/>
          </a:p>
        </p:txBody>
      </p:sp>
      <p:sp>
        <p:nvSpPr>
          <p:cNvPr id="6" name="Shape 4">
            <a:extLst xmlns:a="http://schemas.openxmlformats.org/drawingml/2006/main">
              <a:ext uri="{FF2B5EF4-FFF2-40B4-BE49-F238E27FC236}">
                <a16:creationId xmlns:a16="http://schemas.microsoft.com/office/drawing/2014/main" id="{428472DF-3B3C-48A8-8FCC-75004335151E}"/>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F55F2BA2-A306-480B-85CC-6F84DA61533E}"/>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8" name="Text 6">
            <a:extLst xmlns:a="http://schemas.openxmlformats.org/drawingml/2006/main">
              <a:ext uri="{FF2B5EF4-FFF2-40B4-BE49-F238E27FC236}">
                <a16:creationId xmlns:a16="http://schemas.microsoft.com/office/drawing/2014/main" id="{0048044E-6236-4B8C-948B-06D69B2F4914}"/>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dashboard</a:t>
            </a:r>
            <a:endParaRPr sz="900"/>
          </a:p>
          <a:p xmlns:a="http://schemas.openxmlformats.org/drawingml/2006/main">
            <a:pPr marL="0" indent="0">
              <a:lnSpc>
                <a:spcPts val="1100"/>
              </a:lnSpc>
              <a:buNone/>
            </a:pPr>
            <a:r>
              <a:rPr sz="900">
                <a:solidFill>
                  <a:srgbClr val="8FA9C4"/>
                </a:solidFill>
                <a:latin typeface="Arial"/>
                <a:ea typeface="Arial"/>
                <a:cs typeface="Arial"/>
              </a:rPr>
              <a:t>families</a:t>
            </a:r>
            <a:endParaRPr sz="900"/>
          </a:p>
        </p:txBody>
      </p:sp>
      <p:sp>
        <p:nvSpPr>
          <p:cNvPr id="9" name="Text 7">
            <a:extLst xmlns:a="http://schemas.openxmlformats.org/drawingml/2006/main">
              <a:ext uri="{FF2B5EF4-FFF2-40B4-BE49-F238E27FC236}">
                <a16:creationId xmlns:a16="http://schemas.microsoft.com/office/drawing/2014/main" id="{65EEC4C0-C0B0-4D67-8B77-B9644999E55F}"/>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100+</a:t>
            </a:r>
            <a:endParaRPr sz="2600"/>
          </a:p>
        </p:txBody>
      </p:sp>
      <p:sp>
        <p:nvSpPr>
          <p:cNvPr id="10" name="Text 8">
            <a:extLst xmlns:a="http://schemas.openxmlformats.org/drawingml/2006/main">
              <a:ext uri="{FF2B5EF4-FFF2-40B4-BE49-F238E27FC236}">
                <a16:creationId xmlns:a16="http://schemas.microsoft.com/office/drawing/2014/main" id="{EF375C2E-B077-4BA9-9013-BF8CD6EBD7D7}"/>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reports in the</a:t>
            </a:r>
            <a:endParaRPr sz="900"/>
          </a:p>
          <a:p xmlns:a="http://schemas.openxmlformats.org/drawingml/2006/main">
            <a:pPr marL="0" indent="0">
              <a:lnSpc>
                <a:spcPts val="1100"/>
              </a:lnSpc>
              <a:buNone/>
            </a:pPr>
            <a:r>
              <a:rPr sz="900">
                <a:solidFill>
                  <a:srgbClr val="8FA9C4"/>
                </a:solidFill>
                <a:latin typeface="Arial"/>
                <a:ea typeface="Arial"/>
                <a:cs typeface="Arial"/>
              </a:rPr>
              <a:t>estate</a:t>
            </a:r>
            <a:endParaRPr sz="900"/>
          </a:p>
        </p:txBody>
      </p:sp>
      <p:sp>
        <p:nvSpPr>
          <p:cNvPr id="11" name="Text 9">
            <a:extLst xmlns:a="http://schemas.openxmlformats.org/drawingml/2006/main">
              <a:ext uri="{FF2B5EF4-FFF2-40B4-BE49-F238E27FC236}">
                <a16:creationId xmlns:a16="http://schemas.microsoft.com/office/drawing/2014/main" id="{1EDCC2C0-5156-46A5-92FD-AF7D6EF42F41}"/>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22+</a:t>
            </a:r>
            <a:endParaRPr sz="2600"/>
          </a:p>
        </p:txBody>
      </p:sp>
      <p:sp>
        <p:nvSpPr>
          <p:cNvPr id="12" name="Text 10">
            <a:extLst xmlns:a="http://schemas.openxmlformats.org/drawingml/2006/main">
              <a:ext uri="{FF2B5EF4-FFF2-40B4-BE49-F238E27FC236}">
                <a16:creationId xmlns:a16="http://schemas.microsoft.com/office/drawing/2014/main" id="{A647903B-720F-4D91-B811-4087F69AEC43}"/>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executive</a:t>
            </a:r>
            <a:endParaRPr sz="900"/>
          </a:p>
          <a:p xmlns:a="http://schemas.openxmlformats.org/drawingml/2006/main">
            <a:pPr marL="0" indent="0">
              <a:lnSpc>
                <a:spcPts val="1100"/>
              </a:lnSpc>
              <a:buNone/>
            </a:pPr>
            <a:r>
              <a:rPr sz="900">
                <a:solidFill>
                  <a:srgbClr val="8FA9C4"/>
                </a:solidFill>
                <a:latin typeface="Arial"/>
                <a:ea typeface="Arial"/>
                <a:cs typeface="Arial"/>
              </a:rPr>
              <a:t>dashboards</a:t>
            </a:r>
            <a:endParaRPr sz="900"/>
          </a:p>
        </p:txBody>
      </p:sp>
      <p:sp>
        <p:nvSpPr>
          <p:cNvPr id="13" name="Text 11">
            <a:extLst xmlns:a="http://schemas.openxmlformats.org/drawingml/2006/main">
              <a:ext uri="{FF2B5EF4-FFF2-40B4-BE49-F238E27FC236}">
                <a16:creationId xmlns:a16="http://schemas.microsoft.com/office/drawing/2014/main" id="{B95523FD-EAE7-4A4E-AC48-F5D9DC207AC4}"/>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4" name="Text 12">
            <a:extLst xmlns:a="http://schemas.openxmlformats.org/drawingml/2006/main">
              <a:ext uri="{FF2B5EF4-FFF2-40B4-BE49-F238E27FC236}">
                <a16:creationId xmlns:a16="http://schemas.microsoft.com/office/drawing/2014/main" id="{0298512A-6406-4E1E-9269-C043BCF3212F}"/>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question asked of</a:t>
            </a:r>
            <a:endParaRPr sz="900"/>
          </a:p>
          <a:p xmlns:a="http://schemas.openxmlformats.org/drawingml/2006/main">
            <a:pPr marL="0" indent="0">
              <a:lnSpc>
                <a:spcPts val="1100"/>
              </a:lnSpc>
              <a:buNone/>
            </a:pPr>
            <a:r>
              <a:rPr sz="900">
                <a:solidFill>
                  <a:srgbClr val="8FA9C4"/>
                </a:solidFill>
                <a:latin typeface="Arial"/>
                <a:ea typeface="Arial"/>
                <a:cs typeface="Arial"/>
              </a:rPr>
              <a:t>every one</a:t>
            </a:r>
            <a:endParaRPr sz="900"/>
          </a:p>
        </p:txBody>
      </p:sp>
      <p:sp>
        <p:nvSpPr>
          <p:cNvPr id="15" name="Text 13">
            <a:extLst xmlns:a="http://schemas.openxmlformats.org/drawingml/2006/main">
              <a:ext uri="{FF2B5EF4-FFF2-40B4-BE49-F238E27FC236}">
                <a16:creationId xmlns:a16="http://schemas.microsoft.com/office/drawing/2014/main" id="{8EA6919B-5FE3-44AF-B143-37D776E8FB30}"/>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6" name="Text 14">
            <a:extLst xmlns:a="http://schemas.openxmlformats.org/drawingml/2006/main">
              <a:ext uri="{FF2B5EF4-FFF2-40B4-BE49-F238E27FC236}">
                <a16:creationId xmlns:a16="http://schemas.microsoft.com/office/drawing/2014/main" id="{EE187AC6-587B-486A-B8A6-CE685965CF54}"/>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measures that</a:t>
            </a:r>
            <a:endParaRPr sz="900"/>
          </a:p>
          <a:p xmlns:a="http://schemas.openxmlformats.org/drawingml/2006/main">
            <a:pPr marL="0" indent="0">
              <a:lnSpc>
                <a:spcPts val="1100"/>
              </a:lnSpc>
              <a:buNone/>
            </a:pPr>
            <a:r>
              <a:rPr sz="900">
                <a:solidFill>
                  <a:srgbClr val="8FA9C4"/>
                </a:solidFill>
                <a:latin typeface="Arial"/>
                <a:ea typeface="Arial"/>
                <a:cs typeface="Arial"/>
              </a:rPr>
              <a:t>change behaviour</a:t>
            </a:r>
            <a:endParaRPr sz="900"/>
          </a:p>
        </p:txBody>
      </p:sp>
      <p:sp>
        <p:nvSpPr>
          <p:cNvPr id="17" name="Text 15">
            <a:extLst xmlns:a="http://schemas.openxmlformats.org/drawingml/2006/main">
              <a:ext uri="{FF2B5EF4-FFF2-40B4-BE49-F238E27FC236}">
                <a16:creationId xmlns:a16="http://schemas.microsoft.com/office/drawing/2014/main" id="{965D88D9-B18C-4A73-942E-C9126637C870}"/>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50+</a:t>
            </a:r>
            <a:endParaRPr sz="2600"/>
          </a:p>
        </p:txBody>
      </p:sp>
      <p:sp>
        <p:nvSpPr>
          <p:cNvPr id="18" name="Text 16">
            <a:extLst xmlns:a="http://schemas.openxmlformats.org/drawingml/2006/main">
              <a:ext uri="{FF2B5EF4-FFF2-40B4-BE49-F238E27FC236}">
                <a16:creationId xmlns:a16="http://schemas.microsoft.com/office/drawing/2014/main" id="{D7F0BE47-8621-44F6-B51F-8ADECB749812}"/>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product categories</a:t>
            </a:r>
            <a:endParaRPr sz="900"/>
          </a:p>
          <a:p xmlns:a="http://schemas.openxmlformats.org/drawingml/2006/main">
            <a:pPr marL="0" indent="0">
              <a:lnSpc>
                <a:spcPts val="1100"/>
              </a:lnSpc>
              <a:buNone/>
            </a:pPr>
            <a:r>
              <a:rPr sz="900">
                <a:solidFill>
                  <a:srgbClr val="8FA9C4"/>
                </a:solidFill>
                <a:latin typeface="Arial"/>
                <a:ea typeface="Arial"/>
                <a:cs typeface="Arial"/>
              </a:rPr>
              <a:t>to allocate across</a:t>
            </a:r>
            <a:endParaRPr sz="900"/>
          </a:p>
        </p:txBody>
      </p:sp>
      <p:sp>
        <p:nvSpPr>
          <p:cNvPr id="19" name="Shape 17">
            <a:extLst xmlns:a="http://schemas.openxmlformats.org/drawingml/2006/main">
              <a:ext uri="{FF2B5EF4-FFF2-40B4-BE49-F238E27FC236}">
                <a16:creationId xmlns:a16="http://schemas.microsoft.com/office/drawing/2014/main" id="{C69505AC-6F8C-4D31-8F6C-8C0DBF96500C}"/>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F410FF72-97D6-4996-978C-33B7724B036A}"/>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DEPLOYMENT CONTEXT  ·  PUBLICLY REPORTED</a:t>
            </a:r>
            <a:endParaRPr sz="800"/>
          </a:p>
        </p:txBody>
      </p:sp>
      <p:sp>
        <p:nvSpPr>
          <p:cNvPr id="21" name="Text 19">
            <a:extLst xmlns:a="http://schemas.openxmlformats.org/drawingml/2006/main">
              <a:ext uri="{FF2B5EF4-FFF2-40B4-BE49-F238E27FC236}">
                <a16:creationId xmlns:a16="http://schemas.microsoft.com/office/drawing/2014/main" id="{E4FB58AD-F8E0-4B80-928C-D29A5EAB995E}"/>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Client and portfolio profitability    ·    transaction banking contribution    ·    global group consolidation    ·    risk-weighted return on assets</a:t>
            </a:r>
            <a:endParaRPr sz="1050"/>
          </a:p>
        </p:txBody>
      </p:sp>
      <p:sp>
        <p:nvSpPr>
          <p:cNvPr id="22" name="Text 20">
            <a:extLst xmlns:a="http://schemas.openxmlformats.org/drawingml/2006/main">
              <a:ext uri="{FF2B5EF4-FFF2-40B4-BE49-F238E27FC236}">
                <a16:creationId xmlns:a16="http://schemas.microsoft.com/office/drawing/2014/main" id="{C27D3A44-4A4F-4373-A77B-B111C52C365A}"/>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profitability and portfolio analytics  ·  2023</a:t>
            </a:r>
            <a:endParaRPr sz="1200"/>
          </a:p>
        </p:txBody>
      </p:sp>
      <p:sp>
        <p:nvSpPr>
          <p:cNvPr id="23" name="Text 21">
            <a:extLst xmlns:a="http://schemas.openxmlformats.org/drawingml/2006/main">
              <a:ext uri="{FF2B5EF4-FFF2-40B4-BE49-F238E27FC236}">
                <a16:creationId xmlns:a16="http://schemas.microsoft.com/office/drawing/2014/main" id="{9A4B357A-5B24-4877-817A-2A6184A23288}"/>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Public figures retained with attribution; no client, exposure or profitability data is reproduced.</a:t>
            </a:r>
            <a:endParaRPr sz="850"/>
          </a:p>
        </p:txBody>
      </p:sp>
    </p:spTree>
    <p:extLst>
      <p:ext uri="{BB962C8B-B14F-4D97-AF65-F5344CB8AC3E}">
        <p14:creationId xmlns:p14="http://schemas.microsoft.com/office/powerpoint/2010/main" val="1755015096"/>
      </p:ext>
    </p:extLst>
  </p:cSld>
</p:sld>
</file>

<file path=ppt/slides/slide20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CDCD430-FD93-40C4-9054-C4FD534F346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C18DB1FF-53CD-402A-B8E4-DF40AEAFE05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dashboard that does not change a decision is a cost — and most reporting estates</a:t>
            </a:r>
            <a:endParaRPr sz="1900"/>
          </a:p>
          <a:p xmlns:a="http://schemas.openxmlformats.org/drawingml/2006/main">
            <a:pPr marL="0" indent="0">
              <a:lnSpc>
                <a:spcPts val="2400"/>
              </a:lnSpc>
              <a:buNone/>
            </a:pPr>
            <a:r>
              <a:rPr sz="1900" b="1">
                <a:solidFill>
                  <a:srgbClr val="102A43"/>
                </a:solidFill>
                <a:latin typeface="Arial"/>
                <a:ea typeface="Arial"/>
                <a:cs typeface="Arial"/>
              </a:rPr>
              <a:t>grow because nobody is allowed to say so</a:t>
            </a:r>
            <a:endParaRPr sz="1900"/>
          </a:p>
        </p:txBody>
      </p:sp>
      <p:sp>
        <p:nvSpPr>
          <p:cNvPr id="4" name="Shape 2">
            <a:extLst xmlns:a="http://schemas.openxmlformats.org/drawingml/2006/main">
              <a:ext uri="{FF2B5EF4-FFF2-40B4-BE49-F238E27FC236}">
                <a16:creationId xmlns:a16="http://schemas.microsoft.com/office/drawing/2014/main" id="{2B677263-A270-4F31-BFC6-F7C539E98063}"/>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581ADC62-9131-4548-AB9C-9157E110E0E9}"/>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7919253C-177E-4A3E-88CF-2BE7319C36B0}"/>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corporate bank with more than a hundred reports and over twenty executive dashboards across profitability, transaction banking, group consolidation and risk-weighted return.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was requested by someone, built to specification, and delivered.</a:t>
            </a:r>
            <a:endParaRPr sz="980"/>
          </a:p>
        </p:txBody>
      </p:sp>
      <p:sp>
        <p:nvSpPr>
          <p:cNvPr id="7" name="Shape 5">
            <a:extLst xmlns:a="http://schemas.openxmlformats.org/drawingml/2006/main">
              <a:ext uri="{FF2B5EF4-FFF2-40B4-BE49-F238E27FC236}">
                <a16:creationId xmlns:a16="http://schemas.microsoft.com/office/drawing/2014/main" id="{F2080727-F543-4E27-93D1-095AE8FD2069}"/>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7930C11F-9D46-4776-85F2-DFAA6E07668F}"/>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D4BB298E-3187-474C-B58F-E7866A11A9BF}"/>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Reporting estates grow monotonically. A report is cheap to request, expensive to maintain, and effectively impossible to retire — because retiring it requires someone to assert that nobody needs it, and nobody wants to be that person.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result is an estate where genuine decision-support sits alongside reports that are opened once a quarter out of habit, and no one can tell which is which.</a:t>
            </a:r>
            <a:endParaRPr sz="980"/>
          </a:p>
        </p:txBody>
      </p:sp>
      <p:sp>
        <p:nvSpPr>
          <p:cNvPr id="10" name="Shape 8">
            <a:extLst xmlns:a="http://schemas.openxmlformats.org/drawingml/2006/main">
              <a:ext uri="{FF2B5EF4-FFF2-40B4-BE49-F238E27FC236}">
                <a16:creationId xmlns:a16="http://schemas.microsoft.com/office/drawing/2014/main" id="{0FA05A1B-83D4-4E2F-821C-835AE4C4597F}"/>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C7C3A34B-AE2D-4AC3-985A-2E4B7C678D1E}"/>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method used</a:t>
            </a:r>
            <a:endParaRPr sz="1250"/>
          </a:p>
        </p:txBody>
      </p:sp>
      <p:sp>
        <p:nvSpPr>
          <p:cNvPr id="12" name="Text 10">
            <a:extLst xmlns:a="http://schemas.openxmlformats.org/drawingml/2006/main">
              <a:ext uri="{FF2B5EF4-FFF2-40B4-BE49-F238E27FC236}">
                <a16:creationId xmlns:a16="http://schemas.microsoft.com/office/drawing/2014/main" id="{F6DCFAF5-6774-4C24-A169-CDD77B7F6DB4}"/>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Ask one question of every dashboard: which decision does this change, and who takes it? A dashboard that cannot name a decision and an owner is a report, and reports belong somewhere cheaper.</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Applied to the profitability build, that question reduced the specification substantially — and it changed which measures were built first.</a:t>
            </a:r>
            <a:endParaRPr sz="980"/>
          </a:p>
        </p:txBody>
      </p:sp>
      <p:sp>
        <p:nvSpPr>
          <p:cNvPr id="13" name="Text 11">
            <a:extLst xmlns:a="http://schemas.openxmlformats.org/drawingml/2006/main">
              <a:ext uri="{FF2B5EF4-FFF2-40B4-BE49-F238E27FC236}">
                <a16:creationId xmlns:a16="http://schemas.microsoft.com/office/drawing/2014/main" id="{5657DCD0-36FC-45CE-9D8D-03A84F03C788}"/>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06F36B4A-1D41-4A02-8B1F-51E543630E7A}"/>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0C8AAE97-C64E-4875-B357-7239A2294ADF}"/>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6" name="Text 14">
            <a:extLst xmlns:a="http://schemas.openxmlformats.org/drawingml/2006/main">
              <a:ext uri="{FF2B5EF4-FFF2-40B4-BE49-F238E27FC236}">
                <a16:creationId xmlns:a16="http://schemas.microsoft.com/office/drawing/2014/main" id="{A316AE1E-BC98-43B4-9D23-DD5CE1E6A277}"/>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question, asked of every view</a:t>
            </a:r>
            <a:endParaRPr sz="860"/>
          </a:p>
        </p:txBody>
      </p:sp>
      <p:sp>
        <p:nvSpPr>
          <p:cNvPr id="17" name="Shape 15">
            <a:extLst xmlns:a="http://schemas.openxmlformats.org/drawingml/2006/main">
              <a:ext uri="{FF2B5EF4-FFF2-40B4-BE49-F238E27FC236}">
                <a16:creationId xmlns:a16="http://schemas.microsoft.com/office/drawing/2014/main" id="{71D998F5-B102-4FFF-96AC-7FF205569E54}"/>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B975F803-E7C2-4D5E-8243-E8DC291EBE02}"/>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9" name="Text 17">
            <a:extLst xmlns:a="http://schemas.openxmlformats.org/drawingml/2006/main">
              <a:ext uri="{FF2B5EF4-FFF2-40B4-BE49-F238E27FC236}">
                <a16:creationId xmlns:a16="http://schemas.microsoft.com/office/drawing/2014/main" id="{6834F2B9-235C-4701-88A8-1380561D51CF}"/>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families that survived it</a:t>
            </a:r>
            <a:endParaRPr sz="860"/>
          </a:p>
        </p:txBody>
      </p:sp>
      <p:sp>
        <p:nvSpPr>
          <p:cNvPr id="20" name="Shape 18">
            <a:extLst xmlns:a="http://schemas.openxmlformats.org/drawingml/2006/main">
              <a:ext uri="{FF2B5EF4-FFF2-40B4-BE49-F238E27FC236}">
                <a16:creationId xmlns:a16="http://schemas.microsoft.com/office/drawing/2014/main" id="{A26C5210-A5A4-4E14-A4A0-8A4D5BB8BD68}"/>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028A6DE3-6EF5-4955-ABB3-F3103C1C3FB8}"/>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2" name="Text 20">
            <a:extLst xmlns:a="http://schemas.openxmlformats.org/drawingml/2006/main">
              <a:ext uri="{FF2B5EF4-FFF2-40B4-BE49-F238E27FC236}">
                <a16:creationId xmlns:a16="http://schemas.microsoft.com/office/drawing/2014/main" id="{6696D031-79F8-49AC-BCFC-8B12B5FF105F}"/>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measures that change behaviour</a:t>
            </a:r>
            <a:endParaRPr sz="860"/>
          </a:p>
        </p:txBody>
      </p:sp>
      <p:sp>
        <p:nvSpPr>
          <p:cNvPr id="23" name="Shape 21">
            <a:extLst xmlns:a="http://schemas.openxmlformats.org/drawingml/2006/main">
              <a:ext uri="{FF2B5EF4-FFF2-40B4-BE49-F238E27FC236}">
                <a16:creationId xmlns:a16="http://schemas.microsoft.com/office/drawing/2014/main" id="{4F907E17-4694-4E2C-9BFA-70847994B138}"/>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1775955F-9A5B-48C1-B016-076177A20F1C}"/>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25" name="Text 23">
            <a:extLst xmlns:a="http://schemas.openxmlformats.org/drawingml/2006/main">
              <a:ext uri="{FF2B5EF4-FFF2-40B4-BE49-F238E27FC236}">
                <a16:creationId xmlns:a16="http://schemas.microsoft.com/office/drawing/2014/main" id="{C330DFBC-E61B-4E36-890C-1E5A60F80F61}"/>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allocation choices that decide everything</a:t>
            </a:r>
            <a:endParaRPr sz="860"/>
          </a:p>
        </p:txBody>
      </p:sp>
      <p:sp>
        <p:nvSpPr>
          <p:cNvPr id="26" name="Shape 24">
            <a:extLst xmlns:a="http://schemas.openxmlformats.org/drawingml/2006/main">
              <a:ext uri="{FF2B5EF4-FFF2-40B4-BE49-F238E27FC236}">
                <a16:creationId xmlns:a16="http://schemas.microsoft.com/office/drawing/2014/main" id="{9B546C90-30D8-442D-AF43-7A92896B87B9}"/>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94219982-2453-4E98-93FD-5F732CF9260D}"/>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8" name="Text 26">
            <a:extLst xmlns:a="http://schemas.openxmlformats.org/drawingml/2006/main">
              <a:ext uri="{FF2B5EF4-FFF2-40B4-BE49-F238E27FC236}">
                <a16:creationId xmlns:a16="http://schemas.microsoft.com/office/drawing/2014/main" id="{A8ECBB36-E1D2-4529-A58E-BC808DAF03C2}"/>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definition set, agreed once</a:t>
            </a:r>
            <a:endParaRPr sz="860"/>
          </a:p>
        </p:txBody>
      </p:sp>
      <p:sp>
        <p:nvSpPr>
          <p:cNvPr id="29" name="Shape 27">
            <a:extLst xmlns:a="http://schemas.openxmlformats.org/drawingml/2006/main">
              <a:ext uri="{FF2B5EF4-FFF2-40B4-BE49-F238E27FC236}">
                <a16:creationId xmlns:a16="http://schemas.microsoft.com/office/drawing/2014/main" id="{3D37F3BD-FC83-418E-958C-6F2A4979B83D}"/>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AF94EFEE-C64D-43B5-82CE-825E289CA2F6}"/>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31" name="Text 29">
            <a:extLst xmlns:a="http://schemas.openxmlformats.org/drawingml/2006/main">
              <a:ext uri="{FF2B5EF4-FFF2-40B4-BE49-F238E27FC236}">
                <a16:creationId xmlns:a16="http://schemas.microsoft.com/office/drawing/2014/main" id="{D2AB1D86-BDC9-474A-88CF-4AE563AA78B4}"/>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dashboards without a named owner</a:t>
            </a:r>
            <a:endParaRPr sz="860"/>
          </a:p>
        </p:txBody>
      </p:sp>
      <p:sp>
        <p:nvSpPr>
          <p:cNvPr id="32" name="Text 30">
            <a:extLst xmlns:a="http://schemas.openxmlformats.org/drawingml/2006/main">
              <a:ext uri="{FF2B5EF4-FFF2-40B4-BE49-F238E27FC236}">
                <a16:creationId xmlns:a16="http://schemas.microsoft.com/office/drawing/2014/main" id="{F11405C1-9039-4BBD-BB63-72D3C73C7324}"/>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judgement this argues:  in analytics the hard problem is almost never the calculation. It is agreeing what a client is, which costs to allocate to them, and who is accountable for acting on the answer. Those three are political questions, and they are settled before the first query is written or they are settled repeatedly afterwards.</a:t>
            </a:r>
            <a:endParaRPr sz="1000"/>
          </a:p>
        </p:txBody>
      </p:sp>
      <p:sp>
        <p:nvSpPr>
          <p:cNvPr id="33" name="Shape 31">
            <a:extLst xmlns:a="http://schemas.openxmlformats.org/drawingml/2006/main">
              <a:ext uri="{FF2B5EF4-FFF2-40B4-BE49-F238E27FC236}">
                <a16:creationId xmlns:a16="http://schemas.microsoft.com/office/drawing/2014/main" id="{712ED81E-9E01-4EB3-BACC-E36A22B2919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5B2DC8BC-E64C-44DA-BF4B-CBA165021F6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C65F60F7-B70E-4EEF-B427-EF5E320828D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2134799531"/>
      </p:ext>
    </p:extLst>
  </p:cSld>
</p:sld>
</file>

<file path=ppt/slides/slide20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EC57E6-9EE2-471A-8C3A-99971D06E41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EDB5C937-0F95-40E0-A590-1E424BFF1C2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Estate scale is publicly reported; the design method and the allocation analysis</a:t>
            </a:r>
            <a:endParaRPr sz="1900"/>
          </a:p>
          <a:p xmlns:a="http://schemas.openxmlformats.org/drawingml/2006/main">
            <a:pPr marL="0" indent="0">
              <a:lnSpc>
                <a:spcPts val="2400"/>
              </a:lnSpc>
              <a:buNone/>
            </a:pPr>
            <a:r>
              <a:rPr sz="1900" b="1">
                <a:solidFill>
                  <a:srgbClr val="102A43"/>
                </a:solidFill>
                <a:latin typeface="Arial"/>
                <a:ea typeface="Arial"/>
                <a:cs typeface="Arial"/>
              </a:rPr>
              <a:t>are mine — no client or profitability data appears anywhere</a:t>
            </a:r>
            <a:endParaRPr sz="1900"/>
          </a:p>
        </p:txBody>
      </p:sp>
      <p:sp>
        <p:nvSpPr>
          <p:cNvPr id="4" name="Shape 2">
            <a:extLst xmlns:a="http://schemas.openxmlformats.org/drawingml/2006/main">
              <a:ext uri="{FF2B5EF4-FFF2-40B4-BE49-F238E27FC236}">
                <a16:creationId xmlns:a16="http://schemas.microsoft.com/office/drawing/2014/main" id="{0E1CB15C-4969-498D-8086-5FDAB59F05D4}"/>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3FB9BE78-9C2B-402E-8BDB-2CDF148E21A5}"/>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CC0997E2-0468-4EA8-9103-F071865D1BC5}"/>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45A6F60D-179B-4F21-9CEE-0F83B2DDBF7E}"/>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Deployment context</a:t>
            </a:r>
            <a:endParaRPr sz="1200"/>
          </a:p>
        </p:txBody>
      </p:sp>
      <p:sp>
        <p:nvSpPr>
          <p:cNvPr id="8" name="Text 6">
            <a:extLst xmlns:a="http://schemas.openxmlformats.org/drawingml/2006/main">
              <a:ext uri="{FF2B5EF4-FFF2-40B4-BE49-F238E27FC236}">
                <a16:creationId xmlns:a16="http://schemas.microsoft.com/office/drawing/2014/main" id="{85686E83-F8A5-4AD4-A6CE-1579829E9BD2}"/>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Reporting-estate scale as publicly reported for the deployment. Retained with attribution.</a:t>
            </a:r>
            <a:endParaRPr sz="920"/>
          </a:p>
        </p:txBody>
      </p:sp>
      <p:sp>
        <p:nvSpPr>
          <p:cNvPr id="9" name="Shape 7">
            <a:extLst xmlns:a="http://schemas.openxmlformats.org/drawingml/2006/main">
              <a:ext uri="{FF2B5EF4-FFF2-40B4-BE49-F238E27FC236}">
                <a16:creationId xmlns:a16="http://schemas.microsoft.com/office/drawing/2014/main" id="{5EDC2B5F-9B64-4BD8-9A78-B3DE994DB829}"/>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2F2AFEBB-7FB8-4F9C-8E6A-46160B8D1EB5}"/>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100+ reports in the estate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22+ executive dashboards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 dashboard families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50+ product categories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Six-country corporate footprint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Multi-currency operation</a:t>
            </a:r>
            <a:endParaRPr sz="930"/>
          </a:p>
        </p:txBody>
      </p:sp>
      <p:sp>
        <p:nvSpPr>
          <p:cNvPr id="11" name="Shape 9">
            <a:extLst xmlns:a="http://schemas.openxmlformats.org/drawingml/2006/main">
              <a:ext uri="{FF2B5EF4-FFF2-40B4-BE49-F238E27FC236}">
                <a16:creationId xmlns:a16="http://schemas.microsoft.com/office/drawing/2014/main" id="{8D6E6E1A-3191-4ECE-A9FC-5AF528BCF93D}"/>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8E024CD3-F759-4ACA-96A3-DD8F05D2927C}"/>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FE08419B-2340-4BEF-ABE7-82FA846F3A8A}"/>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13BC13C5-F6E5-42C0-A0DC-1C8686D722AF}"/>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1E271409-81D1-4957-9682-3603FBF565A7}"/>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profitability and portfolio analytics programme, including the decision-first specification method.</a:t>
            </a:r>
            <a:endParaRPr sz="920"/>
          </a:p>
        </p:txBody>
      </p:sp>
      <p:sp>
        <p:nvSpPr>
          <p:cNvPr id="16" name="Shape 14">
            <a:extLst xmlns:a="http://schemas.openxmlformats.org/drawingml/2006/main">
              <a:ext uri="{FF2B5EF4-FFF2-40B4-BE49-F238E27FC236}">
                <a16:creationId xmlns:a16="http://schemas.microsoft.com/office/drawing/2014/main" id="{EC70B472-7B87-40D1-8F31-7A620A95F64A}"/>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DCAD2D65-165C-423E-BA16-EA708A972EFC}"/>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Decision-first specification method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 dashboard families delivered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Cost-allocation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Definition set and governance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Risk-weighted return view</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13905F00-3DE4-4218-9AF5-FDFE003A480E}"/>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5C401CD9-AE72-44CA-B26D-67277A45405C}"/>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8002A9AF-DCD0-4D30-AA83-B22F5806589E}"/>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04BAE9EB-317F-4946-BEC3-6FB13D95107D}"/>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21BAFB4D-4B06-4B77-A5E8-6E23FB6C2ECB}"/>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Estate composition and allocation examples illustrate the method. No real figures are used.</a:t>
            </a:r>
            <a:endParaRPr sz="920"/>
          </a:p>
        </p:txBody>
      </p:sp>
      <p:sp>
        <p:nvSpPr>
          <p:cNvPr id="23" name="Shape 21">
            <a:extLst xmlns:a="http://schemas.openxmlformats.org/drawingml/2006/main">
              <a:ext uri="{FF2B5EF4-FFF2-40B4-BE49-F238E27FC236}">
                <a16:creationId xmlns:a16="http://schemas.microsoft.com/office/drawing/2014/main" id="{26A5E8A0-DCAB-4BF5-9BE5-7752BDA71165}"/>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F0F36BDF-96B2-422C-969A-EA4EF2E1BFBF}"/>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Estate composition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Allocation worked example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Adoption pattern by view type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bank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19461ACC-D146-4E60-B016-73B1EAEB38E9}"/>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2D17EAC-DF93-4B77-9E23-3C4CA6F79844}"/>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3FDC7DC7-EC80-4390-B745-1543EA166EC3}"/>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25905A63-EEF4-4CE6-8C73-F0CEEB6A6312}"/>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ED1757EE-1DD8-49BF-BD10-3B88AC7A4862}"/>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absolutely. No client, exposure, revenue or profitability data appears in this deck in any form.</a:t>
            </a:r>
            <a:endParaRPr sz="920"/>
          </a:p>
        </p:txBody>
      </p:sp>
      <p:sp>
        <p:nvSpPr>
          <p:cNvPr id="30" name="Shape 28">
            <a:extLst xmlns:a="http://schemas.openxmlformats.org/drawingml/2006/main">
              <a:ext uri="{FF2B5EF4-FFF2-40B4-BE49-F238E27FC236}">
                <a16:creationId xmlns:a16="http://schemas.microsoft.com/office/drawing/2014/main" id="{A9EA38BE-7EBB-4C7B-8CB8-448AE0F61BF0}"/>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3DA9B35B-321C-4E2E-823B-163D69FE8FB0}"/>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client or counterparty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revenue or profitability figure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exposure or portfolio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bank's cost-allocation policy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report or dashboard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Measured business outcomes</a:t>
            </a:r>
            <a:endParaRPr sz="930"/>
          </a:p>
        </p:txBody>
      </p:sp>
      <p:sp>
        <p:nvSpPr>
          <p:cNvPr id="32" name="Shape 30">
            <a:extLst xmlns:a="http://schemas.openxmlformats.org/drawingml/2006/main">
              <a:ext uri="{FF2B5EF4-FFF2-40B4-BE49-F238E27FC236}">
                <a16:creationId xmlns:a16="http://schemas.microsoft.com/office/drawing/2014/main" id="{54B16103-6BE0-4D8D-9B6F-F170EAAC8BB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987F6D2E-1903-4CD0-8692-2955516F4D2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deployment figures (context) · author's delivery record (ownership) · author's synthesis (method)</a:t>
            </a:r>
            <a:endParaRPr sz="850"/>
          </a:p>
        </p:txBody>
      </p:sp>
      <p:sp>
        <p:nvSpPr>
          <p:cNvPr id="34" name="Text 32">
            <a:extLst xmlns:a="http://schemas.openxmlformats.org/drawingml/2006/main">
              <a:ext uri="{FF2B5EF4-FFF2-40B4-BE49-F238E27FC236}">
                <a16:creationId xmlns:a16="http://schemas.microsoft.com/office/drawing/2014/main" id="{818D7E99-E102-43B8-9DB1-3122F2E5360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465795608"/>
      </p:ext>
    </p:extLst>
  </p:cSld>
</p:sld>
</file>

<file path=ppt/slides/slide20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D60FB87-4CF9-4269-9C77-73DA9086897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FOUR FAMILIES</a:t>
            </a:r>
            <a:endParaRPr sz="950"/>
          </a:p>
        </p:txBody>
      </p:sp>
      <p:sp>
        <p:nvSpPr>
          <p:cNvPr id="3" name="Text 1">
            <a:extLst xmlns:a="http://schemas.openxmlformats.org/drawingml/2006/main">
              <a:ext uri="{FF2B5EF4-FFF2-40B4-BE49-F238E27FC236}">
                <a16:creationId xmlns:a16="http://schemas.microsoft.com/office/drawing/2014/main" id="{2B130121-F4A7-48D3-B95E-4CB6DF085A2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Each family answers a different question for a different decision-maker — and each</a:t>
            </a:r>
            <a:endParaRPr sz="1900"/>
          </a:p>
          <a:p xmlns:a="http://schemas.openxmlformats.org/drawingml/2006/main">
            <a:pPr marL="0" indent="0">
              <a:lnSpc>
                <a:spcPts val="2400"/>
              </a:lnSpc>
              <a:buNone/>
            </a:pPr>
            <a:r>
              <a:rPr sz="1900" b="1">
                <a:solidFill>
                  <a:srgbClr val="102A43"/>
                </a:solidFill>
                <a:latin typeface="Arial"/>
                <a:ea typeface="Arial"/>
                <a:cs typeface="Arial"/>
              </a:rPr>
              <a:t>one survived the decision test for a different reason</a:t>
            </a:r>
            <a:endParaRPr sz="1900"/>
          </a:p>
        </p:txBody>
      </p:sp>
      <p:sp>
        <p:nvSpPr>
          <p:cNvPr id="4" name="Shape 2">
            <a:extLst xmlns:a="http://schemas.openxmlformats.org/drawingml/2006/main">
              <a:ext uri="{FF2B5EF4-FFF2-40B4-BE49-F238E27FC236}">
                <a16:creationId xmlns:a16="http://schemas.microsoft.com/office/drawing/2014/main" id="{F303E085-22AE-4C23-9787-62579D19A0D5}"/>
              </a:ext>
            </a:extLst>
          </p:cNvPr>
          <p:cNvSpPr>
            <a:spLocks xmlns:a="http://schemas.openxmlformats.org/drawingml/2006/main" noGrp="1"/>
          </p:cNvSpPr>
          <p:nvPr/>
        </p:nvSpPr>
        <p:spPr>
          <a:xfrm xmlns:a="http://schemas.openxmlformats.org/drawingml/2006/main">
            <a:off x="566928" y="1335024"/>
            <a:ext cx="2641016" cy="301752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2DA7F274-8F7B-4B52-B167-BB5D49788EE5}"/>
              </a:ext>
            </a:extLst>
          </p:cNvPr>
          <p:cNvSpPr>
            <a:spLocks xmlns:a="http://schemas.openxmlformats.org/drawingml/2006/main" noGrp="1"/>
          </p:cNvSpPr>
          <p:nvPr/>
        </p:nvSpPr>
        <p:spPr>
          <a:xfrm xmlns:a="http://schemas.openxmlformats.org/drawingml/2006/main">
            <a:off x="768096" y="1499616"/>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Client profitability</a:t>
            </a:r>
            <a:endParaRPr sz="1300"/>
          </a:p>
        </p:txBody>
      </p:sp>
      <p:sp>
        <p:nvSpPr>
          <p:cNvPr id="6" name="Text 4">
            <a:extLst xmlns:a="http://schemas.openxmlformats.org/drawingml/2006/main">
              <a:ext uri="{FF2B5EF4-FFF2-40B4-BE49-F238E27FC236}">
                <a16:creationId xmlns:a16="http://schemas.microsoft.com/office/drawing/2014/main" id="{152556F6-6082-46FB-8FE3-3EC6E4974EA2}"/>
              </a:ext>
            </a:extLst>
          </p:cNvPr>
          <p:cNvSpPr>
            <a:spLocks xmlns:a="http://schemas.openxmlformats.org/drawingml/2006/main" noGrp="1"/>
          </p:cNvSpPr>
          <p:nvPr/>
        </p:nvSpPr>
        <p:spPr>
          <a:xfrm xmlns:a="http://schemas.openxmlformats.org/drawingml/2006/main">
            <a:off x="768096" y="1847088"/>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40" b="1" i="1">
                <a:solidFill>
                  <a:srgbClr val="B04A25"/>
                </a:solidFill>
                <a:latin typeface="Arial"/>
                <a:ea typeface="Arial"/>
                <a:cs typeface="Arial"/>
              </a:rPr>
              <a:t>Which relationships earn their capital?</a:t>
            </a:r>
            <a:endParaRPr sz="1040"/>
          </a:p>
        </p:txBody>
      </p:sp>
      <p:sp>
        <p:nvSpPr>
          <p:cNvPr id="7" name="Shape 5">
            <a:extLst xmlns:a="http://schemas.openxmlformats.org/drawingml/2006/main">
              <a:ext uri="{FF2B5EF4-FFF2-40B4-BE49-F238E27FC236}">
                <a16:creationId xmlns:a16="http://schemas.microsoft.com/office/drawing/2014/main" id="{2F2E9E25-3434-4EAD-AA15-43566DB2BFEC}"/>
              </a:ext>
            </a:extLst>
          </p:cNvPr>
          <p:cNvSpPr>
            <a:spLocks xmlns:a="http://schemas.openxmlformats.org/drawingml/2006/main" noGrp="1"/>
          </p:cNvSpPr>
          <p:nvPr/>
        </p:nvSpPr>
        <p:spPr>
          <a:xfrm xmlns:a="http://schemas.openxmlformats.org/drawingml/2006/main">
            <a:off x="768096" y="2432304"/>
            <a:ext cx="2238680"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5A1D35C5-A2D5-4DE3-BC87-824AEE63FA0A}"/>
              </a:ext>
            </a:extLst>
          </p:cNvPr>
          <p:cNvSpPr>
            <a:spLocks xmlns:a="http://schemas.openxmlformats.org/drawingml/2006/main" noGrp="1"/>
          </p:cNvSpPr>
          <p:nvPr/>
        </p:nvSpPr>
        <p:spPr>
          <a:xfrm xmlns:a="http://schemas.openxmlformats.org/drawingml/2006/main">
            <a:off x="768096" y="2542032"/>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WHO DECIDES</a:t>
            </a:r>
            <a:endParaRPr sz="740"/>
          </a:p>
        </p:txBody>
      </p:sp>
      <p:sp>
        <p:nvSpPr>
          <p:cNvPr id="9" name="Text 7">
            <a:extLst xmlns:a="http://schemas.openxmlformats.org/drawingml/2006/main">
              <a:ext uri="{FF2B5EF4-FFF2-40B4-BE49-F238E27FC236}">
                <a16:creationId xmlns:a16="http://schemas.microsoft.com/office/drawing/2014/main" id="{318A27A5-B85B-4D04-B80C-4ACE0600CC75}"/>
              </a:ext>
            </a:extLst>
          </p:cNvPr>
          <p:cNvSpPr>
            <a:spLocks xmlns:a="http://schemas.openxmlformats.org/drawingml/2006/main" noGrp="1"/>
          </p:cNvSpPr>
          <p:nvPr/>
        </p:nvSpPr>
        <p:spPr>
          <a:xfrm xmlns:a="http://schemas.openxmlformats.org/drawingml/2006/main">
            <a:off x="768096" y="2743200"/>
            <a:ext cx="22386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Relationship manager, segment head</a:t>
            </a:r>
            <a:endParaRPr sz="940"/>
          </a:p>
        </p:txBody>
      </p:sp>
      <p:sp>
        <p:nvSpPr>
          <p:cNvPr id="10" name="Text 8">
            <a:extLst xmlns:a="http://schemas.openxmlformats.org/drawingml/2006/main">
              <a:ext uri="{FF2B5EF4-FFF2-40B4-BE49-F238E27FC236}">
                <a16:creationId xmlns:a16="http://schemas.microsoft.com/office/drawing/2014/main" id="{AA2AA48C-CFF3-47FA-BA7C-B71C486FDF30}"/>
              </a:ext>
            </a:extLst>
          </p:cNvPr>
          <p:cNvSpPr>
            <a:spLocks xmlns:a="http://schemas.openxmlformats.org/drawingml/2006/main" noGrp="1"/>
          </p:cNvSpPr>
          <p:nvPr/>
        </p:nvSpPr>
        <p:spPr>
          <a:xfrm xmlns:a="http://schemas.openxmlformats.org/drawingml/2006/main">
            <a:off x="768096" y="321868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CHANGES</a:t>
            </a:r>
            <a:endParaRPr sz="740"/>
          </a:p>
        </p:txBody>
      </p:sp>
      <p:sp>
        <p:nvSpPr>
          <p:cNvPr id="11" name="Text 9">
            <a:extLst xmlns:a="http://schemas.openxmlformats.org/drawingml/2006/main">
              <a:ext uri="{FF2B5EF4-FFF2-40B4-BE49-F238E27FC236}">
                <a16:creationId xmlns:a16="http://schemas.microsoft.com/office/drawing/2014/main" id="{059EAC78-EA9B-49A0-B298-E3E287A354FB}"/>
              </a:ext>
            </a:extLst>
          </p:cNvPr>
          <p:cNvSpPr>
            <a:spLocks xmlns:a="http://schemas.openxmlformats.org/drawingml/2006/main" noGrp="1"/>
          </p:cNvSpPr>
          <p:nvPr/>
        </p:nvSpPr>
        <p:spPr>
          <a:xfrm xmlns:a="http://schemas.openxmlformats.org/drawingml/2006/main">
            <a:off x="768096" y="3419856"/>
            <a:ext cx="2238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Coverage intensity, pricing at renewal, whether to keep pursuing a relationship at current terms</a:t>
            </a:r>
            <a:endParaRPr sz="940"/>
          </a:p>
        </p:txBody>
      </p:sp>
      <p:sp>
        <p:nvSpPr>
          <p:cNvPr id="12" name="Shape 10">
            <a:extLst xmlns:a="http://schemas.openxmlformats.org/drawingml/2006/main">
              <a:ext uri="{FF2B5EF4-FFF2-40B4-BE49-F238E27FC236}">
                <a16:creationId xmlns:a16="http://schemas.microsoft.com/office/drawing/2014/main" id="{C6D5549E-B700-479D-B6F8-87469AACCA7E}"/>
              </a:ext>
            </a:extLst>
          </p:cNvPr>
          <p:cNvSpPr>
            <a:spLocks xmlns:a="http://schemas.openxmlformats.org/drawingml/2006/main" noGrp="1"/>
          </p:cNvSpPr>
          <p:nvPr/>
        </p:nvSpPr>
        <p:spPr>
          <a:xfrm xmlns:a="http://schemas.openxmlformats.org/drawingml/2006/main">
            <a:off x="3372536" y="1335024"/>
            <a:ext cx="2641016" cy="3017520"/>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8094AF25-DD10-4FA0-A762-99C96EC26F5E}"/>
              </a:ext>
            </a:extLst>
          </p:cNvPr>
          <p:cNvSpPr>
            <a:spLocks xmlns:a="http://schemas.openxmlformats.org/drawingml/2006/main" noGrp="1"/>
          </p:cNvSpPr>
          <p:nvPr/>
        </p:nvSpPr>
        <p:spPr>
          <a:xfrm xmlns:a="http://schemas.openxmlformats.org/drawingml/2006/main">
            <a:off x="3573704" y="1499616"/>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Transaction banking</a:t>
            </a:r>
            <a:endParaRPr sz="1300"/>
          </a:p>
        </p:txBody>
      </p:sp>
      <p:sp>
        <p:nvSpPr>
          <p:cNvPr id="14" name="Text 12">
            <a:extLst xmlns:a="http://schemas.openxmlformats.org/drawingml/2006/main">
              <a:ext uri="{FF2B5EF4-FFF2-40B4-BE49-F238E27FC236}">
                <a16:creationId xmlns:a16="http://schemas.microsoft.com/office/drawing/2014/main" id="{EA121738-565B-4A9B-94FA-F8F4ACEFF242}"/>
              </a:ext>
            </a:extLst>
          </p:cNvPr>
          <p:cNvSpPr>
            <a:spLocks xmlns:a="http://schemas.openxmlformats.org/drawingml/2006/main" noGrp="1"/>
          </p:cNvSpPr>
          <p:nvPr/>
        </p:nvSpPr>
        <p:spPr>
          <a:xfrm xmlns:a="http://schemas.openxmlformats.org/drawingml/2006/main">
            <a:off x="3573704" y="1847088"/>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40" b="1" i="1">
                <a:solidFill>
                  <a:srgbClr val="B04A25"/>
                </a:solidFill>
                <a:latin typeface="Arial"/>
                <a:ea typeface="Arial"/>
                <a:cs typeface="Arial"/>
              </a:rPr>
              <a:t>Where does non-credit income actually come from?</a:t>
            </a:r>
            <a:endParaRPr sz="1040"/>
          </a:p>
        </p:txBody>
      </p:sp>
      <p:sp>
        <p:nvSpPr>
          <p:cNvPr id="15" name="Shape 13">
            <a:extLst xmlns:a="http://schemas.openxmlformats.org/drawingml/2006/main">
              <a:ext uri="{FF2B5EF4-FFF2-40B4-BE49-F238E27FC236}">
                <a16:creationId xmlns:a16="http://schemas.microsoft.com/office/drawing/2014/main" id="{29EF0699-861D-4CD0-AD87-F82D190BD259}"/>
              </a:ext>
            </a:extLst>
          </p:cNvPr>
          <p:cNvSpPr>
            <a:spLocks xmlns:a="http://schemas.openxmlformats.org/drawingml/2006/main" noGrp="1"/>
          </p:cNvSpPr>
          <p:nvPr/>
        </p:nvSpPr>
        <p:spPr>
          <a:xfrm xmlns:a="http://schemas.openxmlformats.org/drawingml/2006/main">
            <a:off x="3573704" y="2432304"/>
            <a:ext cx="2238680" cy="13716"/>
          </a:xfrm>
          <a:prstGeom xmlns:a="http://schemas.openxmlformats.org/drawingml/2006/main" prst="rect">
            <a:avLst/>
          </a:prstGeom>
          <a:solidFill xmlns:a="http://schemas.openxmlformats.org/drawingml/2006/main">
            <a:srgbClr val="C6D2DE"/>
          </a:solidFill>
        </p:spPr>
      </p:sp>
      <p:sp>
        <p:nvSpPr>
          <p:cNvPr id="16" name="Text 14">
            <a:extLst xmlns:a="http://schemas.openxmlformats.org/drawingml/2006/main">
              <a:ext uri="{FF2B5EF4-FFF2-40B4-BE49-F238E27FC236}">
                <a16:creationId xmlns:a16="http://schemas.microsoft.com/office/drawing/2014/main" id="{5996FB6D-97C9-4A74-A55C-374B775B6178}"/>
              </a:ext>
            </a:extLst>
          </p:cNvPr>
          <p:cNvSpPr>
            <a:spLocks xmlns:a="http://schemas.openxmlformats.org/drawingml/2006/main" noGrp="1"/>
          </p:cNvSpPr>
          <p:nvPr/>
        </p:nvSpPr>
        <p:spPr>
          <a:xfrm xmlns:a="http://schemas.openxmlformats.org/drawingml/2006/main">
            <a:off x="3573704" y="2542032"/>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WHO DECIDES</a:t>
            </a:r>
            <a:endParaRPr sz="740"/>
          </a:p>
        </p:txBody>
      </p:sp>
      <p:sp>
        <p:nvSpPr>
          <p:cNvPr id="17" name="Text 15">
            <a:extLst xmlns:a="http://schemas.openxmlformats.org/drawingml/2006/main">
              <a:ext uri="{FF2B5EF4-FFF2-40B4-BE49-F238E27FC236}">
                <a16:creationId xmlns:a16="http://schemas.microsoft.com/office/drawing/2014/main" id="{E5D718A7-0614-43BB-9148-2502BED5DB55}"/>
              </a:ext>
            </a:extLst>
          </p:cNvPr>
          <p:cNvSpPr>
            <a:spLocks xmlns:a="http://schemas.openxmlformats.org/drawingml/2006/main" noGrp="1"/>
          </p:cNvSpPr>
          <p:nvPr/>
        </p:nvSpPr>
        <p:spPr>
          <a:xfrm xmlns:a="http://schemas.openxmlformats.org/drawingml/2006/main">
            <a:off x="3573704" y="2743200"/>
            <a:ext cx="22386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Product head, transaction banking</a:t>
            </a:r>
            <a:endParaRPr sz="940"/>
          </a:p>
        </p:txBody>
      </p:sp>
      <p:sp>
        <p:nvSpPr>
          <p:cNvPr id="18" name="Text 16">
            <a:extLst xmlns:a="http://schemas.openxmlformats.org/drawingml/2006/main">
              <a:ext uri="{FF2B5EF4-FFF2-40B4-BE49-F238E27FC236}">
                <a16:creationId xmlns:a16="http://schemas.microsoft.com/office/drawing/2014/main" id="{2611AB01-3E1C-4FCB-9B2C-C58B0FC5028F}"/>
              </a:ext>
            </a:extLst>
          </p:cNvPr>
          <p:cNvSpPr>
            <a:spLocks xmlns:a="http://schemas.openxmlformats.org/drawingml/2006/main" noGrp="1"/>
          </p:cNvSpPr>
          <p:nvPr/>
        </p:nvSpPr>
        <p:spPr>
          <a:xfrm xmlns:a="http://schemas.openxmlformats.org/drawingml/2006/main">
            <a:off x="3573704" y="321868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CHANGES</a:t>
            </a:r>
            <a:endParaRPr sz="740"/>
          </a:p>
        </p:txBody>
      </p:sp>
      <p:sp>
        <p:nvSpPr>
          <p:cNvPr id="19" name="Text 17">
            <a:extLst xmlns:a="http://schemas.openxmlformats.org/drawingml/2006/main">
              <a:ext uri="{FF2B5EF4-FFF2-40B4-BE49-F238E27FC236}">
                <a16:creationId xmlns:a16="http://schemas.microsoft.com/office/drawing/2014/main" id="{42CD0F7F-4EA2-4B71-BD50-29F74408CF01}"/>
              </a:ext>
            </a:extLst>
          </p:cNvPr>
          <p:cNvSpPr>
            <a:spLocks xmlns:a="http://schemas.openxmlformats.org/drawingml/2006/main" noGrp="1"/>
          </p:cNvSpPr>
          <p:nvPr/>
        </p:nvSpPr>
        <p:spPr>
          <a:xfrm xmlns:a="http://schemas.openxmlformats.org/drawingml/2006/main">
            <a:off x="3573704" y="3419856"/>
            <a:ext cx="2238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Product investment, cross-sell targeting, fee schedule changes</a:t>
            </a:r>
            <a:endParaRPr sz="940"/>
          </a:p>
        </p:txBody>
      </p:sp>
      <p:sp>
        <p:nvSpPr>
          <p:cNvPr id="20" name="Shape 18">
            <a:extLst xmlns:a="http://schemas.openxmlformats.org/drawingml/2006/main">
              <a:ext uri="{FF2B5EF4-FFF2-40B4-BE49-F238E27FC236}">
                <a16:creationId xmlns:a16="http://schemas.microsoft.com/office/drawing/2014/main" id="{8F31BC21-F2B2-49BB-9C64-671239238914}"/>
              </a:ext>
            </a:extLst>
          </p:cNvPr>
          <p:cNvSpPr>
            <a:spLocks xmlns:a="http://schemas.openxmlformats.org/drawingml/2006/main" noGrp="1"/>
          </p:cNvSpPr>
          <p:nvPr/>
        </p:nvSpPr>
        <p:spPr>
          <a:xfrm xmlns:a="http://schemas.openxmlformats.org/drawingml/2006/main">
            <a:off x="6178144" y="1335024"/>
            <a:ext cx="2641016" cy="3017520"/>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064A8DA6-6806-4C87-9C45-B61597652873}"/>
              </a:ext>
            </a:extLst>
          </p:cNvPr>
          <p:cNvSpPr>
            <a:spLocks xmlns:a="http://schemas.openxmlformats.org/drawingml/2006/main" noGrp="1"/>
          </p:cNvSpPr>
          <p:nvPr/>
        </p:nvSpPr>
        <p:spPr>
          <a:xfrm xmlns:a="http://schemas.openxmlformats.org/drawingml/2006/main">
            <a:off x="6379312" y="1499616"/>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Global group</a:t>
            </a:r>
            <a:endParaRPr sz="1300"/>
          </a:p>
        </p:txBody>
      </p:sp>
      <p:sp>
        <p:nvSpPr>
          <p:cNvPr id="22" name="Text 20">
            <a:extLst xmlns:a="http://schemas.openxmlformats.org/drawingml/2006/main">
              <a:ext uri="{FF2B5EF4-FFF2-40B4-BE49-F238E27FC236}">
                <a16:creationId xmlns:a16="http://schemas.microsoft.com/office/drawing/2014/main" id="{6D8F993E-FB5D-4FE5-941C-D8415C9823D0}"/>
              </a:ext>
            </a:extLst>
          </p:cNvPr>
          <p:cNvSpPr>
            <a:spLocks xmlns:a="http://schemas.openxmlformats.org/drawingml/2006/main" noGrp="1"/>
          </p:cNvSpPr>
          <p:nvPr/>
        </p:nvSpPr>
        <p:spPr>
          <a:xfrm xmlns:a="http://schemas.openxmlformats.org/drawingml/2006/main">
            <a:off x="6379312" y="1847088"/>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40" b="1" i="1">
                <a:solidFill>
                  <a:srgbClr val="486581"/>
                </a:solidFill>
                <a:latin typeface="Arial"/>
                <a:ea typeface="Arial"/>
                <a:cs typeface="Arial"/>
              </a:rPr>
              <a:t>What is our consolidated position on this group?</a:t>
            </a:r>
            <a:endParaRPr sz="1040"/>
          </a:p>
        </p:txBody>
      </p:sp>
      <p:sp>
        <p:nvSpPr>
          <p:cNvPr id="23" name="Shape 21">
            <a:extLst xmlns:a="http://schemas.openxmlformats.org/drawingml/2006/main">
              <a:ext uri="{FF2B5EF4-FFF2-40B4-BE49-F238E27FC236}">
                <a16:creationId xmlns:a16="http://schemas.microsoft.com/office/drawing/2014/main" id="{4376FF40-398D-420D-8018-B10CFFDD467C}"/>
              </a:ext>
            </a:extLst>
          </p:cNvPr>
          <p:cNvSpPr>
            <a:spLocks xmlns:a="http://schemas.openxmlformats.org/drawingml/2006/main" noGrp="1"/>
          </p:cNvSpPr>
          <p:nvPr/>
        </p:nvSpPr>
        <p:spPr>
          <a:xfrm xmlns:a="http://schemas.openxmlformats.org/drawingml/2006/main">
            <a:off x="6379312" y="2432304"/>
            <a:ext cx="223868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F68B7A88-54EA-4291-878A-DE6C308C103A}"/>
              </a:ext>
            </a:extLst>
          </p:cNvPr>
          <p:cNvSpPr>
            <a:spLocks xmlns:a="http://schemas.openxmlformats.org/drawingml/2006/main" noGrp="1"/>
          </p:cNvSpPr>
          <p:nvPr/>
        </p:nvSpPr>
        <p:spPr>
          <a:xfrm xmlns:a="http://schemas.openxmlformats.org/drawingml/2006/main">
            <a:off x="6379312" y="2542032"/>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WHO DECIDES</a:t>
            </a:r>
            <a:endParaRPr sz="740"/>
          </a:p>
        </p:txBody>
      </p:sp>
      <p:sp>
        <p:nvSpPr>
          <p:cNvPr id="25" name="Text 23">
            <a:extLst xmlns:a="http://schemas.openxmlformats.org/drawingml/2006/main">
              <a:ext uri="{FF2B5EF4-FFF2-40B4-BE49-F238E27FC236}">
                <a16:creationId xmlns:a16="http://schemas.microsoft.com/office/drawing/2014/main" id="{9EC505AD-6470-40EE-BAF3-EADA2722A9C0}"/>
              </a:ext>
            </a:extLst>
          </p:cNvPr>
          <p:cNvSpPr>
            <a:spLocks xmlns:a="http://schemas.openxmlformats.org/drawingml/2006/main" noGrp="1"/>
          </p:cNvSpPr>
          <p:nvPr/>
        </p:nvSpPr>
        <p:spPr>
          <a:xfrm xmlns:a="http://schemas.openxmlformats.org/drawingml/2006/main">
            <a:off x="6379312" y="2743200"/>
            <a:ext cx="22386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Credit committee, group head</a:t>
            </a:r>
            <a:endParaRPr sz="940"/>
          </a:p>
        </p:txBody>
      </p:sp>
      <p:sp>
        <p:nvSpPr>
          <p:cNvPr id="26" name="Text 24">
            <a:extLst xmlns:a="http://schemas.openxmlformats.org/drawingml/2006/main">
              <a:ext uri="{FF2B5EF4-FFF2-40B4-BE49-F238E27FC236}">
                <a16:creationId xmlns:a16="http://schemas.microsoft.com/office/drawing/2014/main" id="{10FC3B16-169F-42B2-85CF-C24AB3DD458F}"/>
              </a:ext>
            </a:extLst>
          </p:cNvPr>
          <p:cNvSpPr>
            <a:spLocks xmlns:a="http://schemas.openxmlformats.org/drawingml/2006/main" noGrp="1"/>
          </p:cNvSpPr>
          <p:nvPr/>
        </p:nvSpPr>
        <p:spPr>
          <a:xfrm xmlns:a="http://schemas.openxmlformats.org/drawingml/2006/main">
            <a:off x="6379312" y="321868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CHANGES</a:t>
            </a:r>
            <a:endParaRPr sz="740"/>
          </a:p>
        </p:txBody>
      </p:sp>
      <p:sp>
        <p:nvSpPr>
          <p:cNvPr id="27" name="Text 25">
            <a:extLst xmlns:a="http://schemas.openxmlformats.org/drawingml/2006/main">
              <a:ext uri="{FF2B5EF4-FFF2-40B4-BE49-F238E27FC236}">
                <a16:creationId xmlns:a16="http://schemas.microsoft.com/office/drawing/2014/main" id="{08087B4E-9EF8-4437-89B9-6A85DAD90C92}"/>
              </a:ext>
            </a:extLst>
          </p:cNvPr>
          <p:cNvSpPr>
            <a:spLocks xmlns:a="http://schemas.openxmlformats.org/drawingml/2006/main" noGrp="1"/>
          </p:cNvSpPr>
          <p:nvPr/>
        </p:nvSpPr>
        <p:spPr>
          <a:xfrm xmlns:a="http://schemas.openxmlformats.org/drawingml/2006/main">
            <a:off x="6379312" y="3419856"/>
            <a:ext cx="2238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Group limit setting, concentration appetite, coordinated coverage across markets</a:t>
            </a:r>
            <a:endParaRPr sz="940"/>
          </a:p>
        </p:txBody>
      </p:sp>
      <p:sp>
        <p:nvSpPr>
          <p:cNvPr id="28" name="Shape 26">
            <a:extLst xmlns:a="http://schemas.openxmlformats.org/drawingml/2006/main">
              <a:ext uri="{FF2B5EF4-FFF2-40B4-BE49-F238E27FC236}">
                <a16:creationId xmlns:a16="http://schemas.microsoft.com/office/drawing/2014/main" id="{CA095517-229C-4135-B523-E573291C07AD}"/>
              </a:ext>
            </a:extLst>
          </p:cNvPr>
          <p:cNvSpPr>
            <a:spLocks xmlns:a="http://schemas.openxmlformats.org/drawingml/2006/main" noGrp="1"/>
          </p:cNvSpPr>
          <p:nvPr/>
        </p:nvSpPr>
        <p:spPr>
          <a:xfrm xmlns:a="http://schemas.openxmlformats.org/drawingml/2006/main">
            <a:off x="8983751" y="1335024"/>
            <a:ext cx="2641016" cy="3017520"/>
          </a:xfrm>
          <a:prstGeom xmlns:a="http://schemas.openxmlformats.org/drawingml/2006/main" prst="rect">
            <a:avLst/>
          </a:prstGeom>
          <a:solidFill xmlns:a="http://schemas.openxmlformats.org/drawingml/2006/main">
            <a:srgbClr val="F0F4F8"/>
          </a:solidFill>
        </p:spPr>
      </p:sp>
      <p:sp>
        <p:nvSpPr>
          <p:cNvPr id="29" name="Text 27">
            <a:extLst xmlns:a="http://schemas.openxmlformats.org/drawingml/2006/main">
              <a:ext uri="{FF2B5EF4-FFF2-40B4-BE49-F238E27FC236}">
                <a16:creationId xmlns:a16="http://schemas.microsoft.com/office/drawing/2014/main" id="{2AB5529D-537F-466B-BFCA-DD2529372E98}"/>
              </a:ext>
            </a:extLst>
          </p:cNvPr>
          <p:cNvSpPr>
            <a:spLocks xmlns:a="http://schemas.openxmlformats.org/drawingml/2006/main" noGrp="1"/>
          </p:cNvSpPr>
          <p:nvPr/>
        </p:nvSpPr>
        <p:spPr>
          <a:xfrm xmlns:a="http://schemas.openxmlformats.org/drawingml/2006/main">
            <a:off x="9184919" y="1499616"/>
            <a:ext cx="2238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Risk-weighted return</a:t>
            </a:r>
            <a:endParaRPr sz="1300"/>
          </a:p>
        </p:txBody>
      </p:sp>
      <p:sp>
        <p:nvSpPr>
          <p:cNvPr id="30" name="Text 28">
            <a:extLst xmlns:a="http://schemas.openxmlformats.org/drawingml/2006/main">
              <a:ext uri="{FF2B5EF4-FFF2-40B4-BE49-F238E27FC236}">
                <a16:creationId xmlns:a16="http://schemas.microsoft.com/office/drawing/2014/main" id="{CEE546A3-FC7B-469F-8C77-C9DBC39F5150}"/>
              </a:ext>
            </a:extLst>
          </p:cNvPr>
          <p:cNvSpPr>
            <a:spLocks xmlns:a="http://schemas.openxmlformats.org/drawingml/2006/main" noGrp="1"/>
          </p:cNvSpPr>
          <p:nvPr/>
        </p:nvSpPr>
        <p:spPr>
          <a:xfrm xmlns:a="http://schemas.openxmlformats.org/drawingml/2006/main">
            <a:off x="9184919" y="1847088"/>
            <a:ext cx="2238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40" b="1" i="1">
                <a:solidFill>
                  <a:srgbClr val="486581"/>
                </a:solidFill>
                <a:latin typeface="Arial"/>
                <a:ea typeface="Arial"/>
                <a:cs typeface="Arial"/>
              </a:rPr>
              <a:t>Are we being paid for the capital we are using?</a:t>
            </a:r>
            <a:endParaRPr sz="1040"/>
          </a:p>
        </p:txBody>
      </p:sp>
      <p:sp>
        <p:nvSpPr>
          <p:cNvPr id="31" name="Shape 29">
            <a:extLst xmlns:a="http://schemas.openxmlformats.org/drawingml/2006/main">
              <a:ext uri="{FF2B5EF4-FFF2-40B4-BE49-F238E27FC236}">
                <a16:creationId xmlns:a16="http://schemas.microsoft.com/office/drawing/2014/main" id="{214ABBDF-7D06-4E0A-B43C-809CB36A4939}"/>
              </a:ext>
            </a:extLst>
          </p:cNvPr>
          <p:cNvSpPr>
            <a:spLocks xmlns:a="http://schemas.openxmlformats.org/drawingml/2006/main" noGrp="1"/>
          </p:cNvSpPr>
          <p:nvPr/>
        </p:nvSpPr>
        <p:spPr>
          <a:xfrm xmlns:a="http://schemas.openxmlformats.org/drawingml/2006/main">
            <a:off x="9184919" y="2432304"/>
            <a:ext cx="2238680" cy="13716"/>
          </a:xfrm>
          <a:prstGeom xmlns:a="http://schemas.openxmlformats.org/drawingml/2006/main" prst="rect">
            <a:avLst/>
          </a:prstGeom>
          <a:solidFill xmlns:a="http://schemas.openxmlformats.org/drawingml/2006/main">
            <a:srgbClr val="C6D2DE"/>
          </a:solidFill>
        </p:spPr>
      </p:sp>
      <p:sp>
        <p:nvSpPr>
          <p:cNvPr id="32" name="Text 30">
            <a:extLst xmlns:a="http://schemas.openxmlformats.org/drawingml/2006/main">
              <a:ext uri="{FF2B5EF4-FFF2-40B4-BE49-F238E27FC236}">
                <a16:creationId xmlns:a16="http://schemas.microsoft.com/office/drawing/2014/main" id="{C2403BF6-892D-490C-A90F-E8F4FF24CAAC}"/>
              </a:ext>
            </a:extLst>
          </p:cNvPr>
          <p:cNvSpPr>
            <a:spLocks xmlns:a="http://schemas.openxmlformats.org/drawingml/2006/main" noGrp="1"/>
          </p:cNvSpPr>
          <p:nvPr/>
        </p:nvSpPr>
        <p:spPr>
          <a:xfrm xmlns:a="http://schemas.openxmlformats.org/drawingml/2006/main">
            <a:off x="9184919" y="2542032"/>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WHO DECIDES</a:t>
            </a:r>
            <a:endParaRPr sz="740"/>
          </a:p>
        </p:txBody>
      </p:sp>
      <p:sp>
        <p:nvSpPr>
          <p:cNvPr id="33" name="Text 31">
            <a:extLst xmlns:a="http://schemas.openxmlformats.org/drawingml/2006/main">
              <a:ext uri="{FF2B5EF4-FFF2-40B4-BE49-F238E27FC236}">
                <a16:creationId xmlns:a16="http://schemas.microsoft.com/office/drawing/2014/main" id="{3A35154D-B88B-44D9-9D91-304276113757}"/>
              </a:ext>
            </a:extLst>
          </p:cNvPr>
          <p:cNvSpPr>
            <a:spLocks xmlns:a="http://schemas.openxmlformats.org/drawingml/2006/main" noGrp="1"/>
          </p:cNvSpPr>
          <p:nvPr/>
        </p:nvSpPr>
        <p:spPr>
          <a:xfrm xmlns:a="http://schemas.openxmlformats.org/drawingml/2006/main">
            <a:off x="9184919" y="2743200"/>
            <a:ext cx="223868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Chief risk officer, finance</a:t>
            </a:r>
            <a:endParaRPr sz="940"/>
          </a:p>
        </p:txBody>
      </p:sp>
      <p:sp>
        <p:nvSpPr>
          <p:cNvPr id="34" name="Text 32">
            <a:extLst xmlns:a="http://schemas.openxmlformats.org/drawingml/2006/main">
              <a:ext uri="{FF2B5EF4-FFF2-40B4-BE49-F238E27FC236}">
                <a16:creationId xmlns:a16="http://schemas.microsoft.com/office/drawing/2014/main" id="{58253FC5-EA07-4F1B-A025-56811D297162}"/>
              </a:ext>
            </a:extLst>
          </p:cNvPr>
          <p:cNvSpPr>
            <a:spLocks xmlns:a="http://schemas.openxmlformats.org/drawingml/2006/main" noGrp="1"/>
          </p:cNvSpPr>
          <p:nvPr/>
        </p:nvSpPr>
        <p:spPr>
          <a:xfrm xmlns:a="http://schemas.openxmlformats.org/drawingml/2006/main">
            <a:off x="9184919" y="321868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CHANGES</a:t>
            </a:r>
            <a:endParaRPr sz="740"/>
          </a:p>
        </p:txBody>
      </p:sp>
      <p:sp>
        <p:nvSpPr>
          <p:cNvPr id="35" name="Text 33">
            <a:extLst xmlns:a="http://schemas.openxmlformats.org/drawingml/2006/main">
              <a:ext uri="{FF2B5EF4-FFF2-40B4-BE49-F238E27FC236}">
                <a16:creationId xmlns:a16="http://schemas.microsoft.com/office/drawing/2014/main" id="{8FA99CE0-E798-4D60-BCAC-EEF986C7770B}"/>
              </a:ext>
            </a:extLst>
          </p:cNvPr>
          <p:cNvSpPr>
            <a:spLocks xmlns:a="http://schemas.openxmlformats.org/drawingml/2006/main" noGrp="1"/>
          </p:cNvSpPr>
          <p:nvPr/>
        </p:nvSpPr>
        <p:spPr>
          <a:xfrm xmlns:a="http://schemas.openxmlformats.org/drawingml/2006/main">
            <a:off x="9184919" y="3419856"/>
            <a:ext cx="2238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Capital allocation between segments, portfolio rebalancing, risk-adjusted pricing floors</a:t>
            </a:r>
            <a:endParaRPr sz="940"/>
          </a:p>
        </p:txBody>
      </p:sp>
      <p:sp>
        <p:nvSpPr>
          <p:cNvPr id="36" name="Shape 34">
            <a:extLst xmlns:a="http://schemas.openxmlformats.org/drawingml/2006/main">
              <a:ext uri="{FF2B5EF4-FFF2-40B4-BE49-F238E27FC236}">
                <a16:creationId xmlns:a16="http://schemas.microsoft.com/office/drawing/2014/main" id="{42A02E37-84A3-4DEC-86EB-9D78D2950286}"/>
              </a:ext>
            </a:extLst>
          </p:cNvPr>
          <p:cNvSpPr>
            <a:spLocks xmlns:a="http://schemas.openxmlformats.org/drawingml/2006/main" noGrp="1"/>
          </p:cNvSpPr>
          <p:nvPr/>
        </p:nvSpPr>
        <p:spPr>
          <a:xfrm xmlns:a="http://schemas.openxmlformats.org/drawingml/2006/main">
            <a:off x="566928" y="4608576"/>
            <a:ext cx="11057839" cy="1463040"/>
          </a:xfrm>
          <a:prstGeom xmlns:a="http://schemas.openxmlformats.org/drawingml/2006/main" prst="rect">
            <a:avLst/>
          </a:prstGeom>
          <a:solidFill xmlns:a="http://schemas.openxmlformats.org/drawingml/2006/main">
            <a:srgbClr val="F3E6E0"/>
          </a:solidFill>
        </p:spPr>
      </p:sp>
      <p:sp>
        <p:nvSpPr>
          <p:cNvPr id="37" name="Text 35">
            <a:extLst xmlns:a="http://schemas.openxmlformats.org/drawingml/2006/main">
              <a:ext uri="{FF2B5EF4-FFF2-40B4-BE49-F238E27FC236}">
                <a16:creationId xmlns:a16="http://schemas.microsoft.com/office/drawing/2014/main" id="{E049E3D1-DCE0-46F0-800E-3447454A5320}"/>
              </a:ext>
            </a:extLst>
          </p:cNvPr>
          <p:cNvSpPr>
            <a:spLocks xmlns:a="http://schemas.openxmlformats.org/drawingml/2006/main" noGrp="1"/>
          </p:cNvSpPr>
          <p:nvPr/>
        </p:nvSpPr>
        <p:spPr>
          <a:xfrm xmlns:a="http://schemas.openxmlformats.org/drawingml/2006/main">
            <a:off x="804672" y="475488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naming the decision-maker matters as much as naming the decision</a:t>
            </a:r>
            <a:endParaRPr sz="1100"/>
          </a:p>
        </p:txBody>
      </p:sp>
      <p:sp>
        <p:nvSpPr>
          <p:cNvPr id="38" name="Text 36">
            <a:extLst xmlns:a="http://schemas.openxmlformats.org/drawingml/2006/main">
              <a:ext uri="{FF2B5EF4-FFF2-40B4-BE49-F238E27FC236}">
                <a16:creationId xmlns:a16="http://schemas.microsoft.com/office/drawing/2014/main" id="{CE8D45AF-DA12-4B1B-9C54-F148CCFBAE5E}"/>
              </a:ext>
            </a:extLst>
          </p:cNvPr>
          <p:cNvSpPr>
            <a:spLocks xmlns:a="http://schemas.openxmlformats.org/drawingml/2006/main" noGrp="1"/>
          </p:cNvSpPr>
          <p:nvPr/>
        </p:nvSpPr>
        <p:spPr>
          <a:xfrm xmlns:a="http://schemas.openxmlformats.org/drawingml/2006/main">
            <a:off x="804672" y="5010912"/>
            <a:ext cx="10582351" cy="9509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 dashboard with a named decision and no named owner drifts into being informational within two quarters. Nobody is accountable for acting on it, so nobody is accountable for whether it is right — and an unaudited dashboard degrades quietly as definitions and source systems change around it.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Requiring both, before build, does two things. It reduces the specification, because several requested views cannot name either. And it creates a maintenance owner by construction: the person who takes the decision has a direct interest in the view remaining correct.</a:t>
            </a:r>
            <a:endParaRPr sz="990"/>
          </a:p>
        </p:txBody>
      </p:sp>
      <p:sp>
        <p:nvSpPr>
          <p:cNvPr id="39" name="Shape 37">
            <a:extLst xmlns:a="http://schemas.openxmlformats.org/drawingml/2006/main">
              <a:ext uri="{FF2B5EF4-FFF2-40B4-BE49-F238E27FC236}">
                <a16:creationId xmlns:a16="http://schemas.microsoft.com/office/drawing/2014/main" id="{F3B19FA2-2D67-4928-9E80-A620592632D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0" name="Text 38">
            <a:extLst xmlns:a="http://schemas.openxmlformats.org/drawingml/2006/main">
              <a:ext uri="{FF2B5EF4-FFF2-40B4-BE49-F238E27FC236}">
                <a16:creationId xmlns:a16="http://schemas.microsoft.com/office/drawing/2014/main" id="{BEC16060-3B2B-41D5-B86C-34EFFDF5CB2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2023 engagement · author's analysis</a:t>
            </a:r>
            <a:endParaRPr sz="850"/>
          </a:p>
        </p:txBody>
      </p:sp>
      <p:sp>
        <p:nvSpPr>
          <p:cNvPr id="41" name="Text 39">
            <a:extLst xmlns:a="http://schemas.openxmlformats.org/drawingml/2006/main">
              <a:ext uri="{FF2B5EF4-FFF2-40B4-BE49-F238E27FC236}">
                <a16:creationId xmlns:a16="http://schemas.microsoft.com/office/drawing/2014/main" id="{EA2A1681-DCC9-4FA1-B3FE-7A120F1256B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366260842"/>
      </p:ext>
    </p:extLst>
  </p:cSld>
</p:sld>
</file>

<file path=ppt/slides/slide20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6DD40AB-A63B-4A62-975F-F09E5C31804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ESTATE</a:t>
            </a:r>
            <a:endParaRPr sz="950"/>
          </a:p>
        </p:txBody>
      </p:sp>
      <p:sp>
        <p:nvSpPr>
          <p:cNvPr id="3" name="Text 1">
            <a:extLst xmlns:a="http://schemas.openxmlformats.org/drawingml/2006/main">
              <a:ext uri="{FF2B5EF4-FFF2-40B4-BE49-F238E27FC236}">
                <a16:creationId xmlns:a16="http://schemas.microsoft.com/office/drawing/2014/main" id="{A9C5FF8B-98CA-4667-9F53-DF573A8DEE4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Reporting estates only grow — a report is cheap to request, expensive to maintain,</a:t>
            </a:r>
            <a:endParaRPr sz="1900"/>
          </a:p>
          <a:p xmlns:a="http://schemas.openxmlformats.org/drawingml/2006/main">
            <a:pPr marL="0" indent="0">
              <a:lnSpc>
                <a:spcPts val="2400"/>
              </a:lnSpc>
              <a:buNone/>
            </a:pPr>
            <a:r>
              <a:rPr sz="1900" b="1">
                <a:solidFill>
                  <a:srgbClr val="102A43"/>
                </a:solidFill>
                <a:latin typeface="Arial"/>
                <a:ea typeface="Arial"/>
                <a:cs typeface="Arial"/>
              </a:rPr>
              <a:t>and socially impossible to retire</a:t>
            </a:r>
            <a:endParaRPr sz="1900"/>
          </a:p>
        </p:txBody>
      </p:sp>
      <p:graphicFrame>
        <p:nvGraphicFramePr>
          <p:cNvPr id="18" name="Chart 0"/>
          <p:cNvGraphicFramePr/>
          <p:nvPr/>
        </p:nvGraphicFramePr>
        <p:xfrm>
          <a:off xmlns:a="http://schemas.openxmlformats.org/drawingml/2006/main" x="566928" y="1426464"/>
          <a:ext xmlns:a="http://schemas.openxmlformats.org/drawingml/2006/main" cx="5120640" cy="2651760"/>
        </p:xfrm>
        <a:graphic xmlns:a="http://schemas.openxmlformats.org/drawingml/2006/main">
          <a:graphicData uri="http://schemas.openxmlformats.org/drawingml/2006/chart">
            <c:chart xmlns:r="http://schemas.openxmlformats.org/officeDocument/2006/relationships" xmlns:c="http://schemas.openxmlformats.org/drawingml/2006/chart" r:id="R5dd3643769984bfe"/>
          </a:graphicData>
        </a:graphic>
      </p:graphicFrame>
      <p:sp>
        <p:nvSpPr>
          <p:cNvPr id="5" name="Text 2">
            <a:extLst xmlns:a="http://schemas.openxmlformats.org/drawingml/2006/main">
              <a:ext uri="{FF2B5EF4-FFF2-40B4-BE49-F238E27FC236}">
                <a16:creationId xmlns:a16="http://schemas.microsoft.com/office/drawing/2014/main" id="{27A34B6F-B426-48ED-9BF6-CE73082F9097}"/>
              </a:ext>
            </a:extLst>
          </p:cNvPr>
          <p:cNvSpPr>
            <a:spLocks xmlns:a="http://schemas.openxmlformats.org/drawingml/2006/main" noGrp="1"/>
          </p:cNvSpPr>
          <p:nvPr/>
        </p:nvSpPr>
        <p:spPr>
          <a:xfrm xmlns:a="http://schemas.openxmlformats.org/drawingml/2006/main">
            <a:off x="566928" y="4242816"/>
            <a:ext cx="51206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The reporting estate as publicly reported — reports, dashboards and the product set they cover</a:t>
            </a:r>
            <a:endParaRPr sz="880"/>
          </a:p>
        </p:txBody>
      </p:sp>
      <p:sp>
        <p:nvSpPr>
          <p:cNvPr id="6" name="Text 3">
            <a:extLst xmlns:a="http://schemas.openxmlformats.org/drawingml/2006/main">
              <a:ext uri="{FF2B5EF4-FFF2-40B4-BE49-F238E27FC236}">
                <a16:creationId xmlns:a16="http://schemas.microsoft.com/office/drawing/2014/main" id="{8989700A-6C53-4BFE-8FD1-B0DAB194475F}"/>
              </a:ext>
            </a:extLst>
          </p:cNvPr>
          <p:cNvSpPr>
            <a:spLocks xmlns:a="http://schemas.openxmlformats.org/drawingml/2006/main" noGrp="1"/>
          </p:cNvSpPr>
          <p:nvPr/>
        </p:nvSpPr>
        <p:spPr>
          <a:xfrm xmlns:a="http://schemas.openxmlformats.org/drawingml/2006/main">
            <a:off x="6053328" y="1426464"/>
            <a:ext cx="55686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the estate grows the way it does</a:t>
            </a:r>
            <a:endParaRPr sz="1100"/>
          </a:p>
        </p:txBody>
      </p:sp>
      <p:sp>
        <p:nvSpPr>
          <p:cNvPr id="7" name="Shape 4">
            <a:extLst xmlns:a="http://schemas.openxmlformats.org/drawingml/2006/main">
              <a:ext uri="{FF2B5EF4-FFF2-40B4-BE49-F238E27FC236}">
                <a16:creationId xmlns:a16="http://schemas.microsoft.com/office/drawing/2014/main" id="{38D480E7-E146-4526-B6F6-2C9200C779A1}"/>
              </a:ext>
            </a:extLst>
          </p:cNvPr>
          <p:cNvSpPr>
            <a:spLocks xmlns:a="http://schemas.openxmlformats.org/drawingml/2006/main" noGrp="1"/>
          </p:cNvSpPr>
          <p:nvPr/>
        </p:nvSpPr>
        <p:spPr>
          <a:xfrm xmlns:a="http://schemas.openxmlformats.org/drawingml/2006/main">
            <a:off x="6053328" y="1682496"/>
            <a:ext cx="556869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88CD9FD8-4782-4FFE-AFFC-CEDE023157E0}"/>
              </a:ext>
            </a:extLst>
          </p:cNvPr>
          <p:cNvSpPr>
            <a:spLocks xmlns:a="http://schemas.openxmlformats.org/drawingml/2006/main" noGrp="1"/>
          </p:cNvSpPr>
          <p:nvPr/>
        </p:nvSpPr>
        <p:spPr>
          <a:xfrm xmlns:a="http://schemas.openxmlformats.org/drawingml/2006/main">
            <a:off x="6053328" y="1828800"/>
            <a:ext cx="5568696"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Requesting a report costs the requester nothing and signals diligence. Declining one costs the analytics team credibility.</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Each report is individually defensible. The estate is only indefensible in aggregate, and nobody owns the aggregate.</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Retiring a report requires asserting that nobody needs it — a claim that is unfalsifiable and personally risky.</a:t>
            </a:r>
            <a:endParaRPr sz="950"/>
          </a:p>
          <a:p xmlns:a="http://schemas.openxmlformats.org/drawingml/2006/main">
            <a:pPr marL="152400" indent="-152400">
              <a:lnSpc>
                <a:spcPts val="1400"/>
              </a:lnSpc>
              <a:spcAft>
                <a:spcPts val="700"/>
              </a:spcAft>
              <a:buSzPct val="100000"/>
              <a:buChar char="•"/>
            </a:pPr>
            <a:r>
              <a:rPr sz="950">
                <a:solidFill>
                  <a:srgbClr val="1A1A1A"/>
                </a:solidFill>
                <a:latin typeface="Arial"/>
                <a:ea typeface="Arial"/>
                <a:cs typeface="Arial"/>
              </a:rPr>
              <a:t>A hundred reports over four dashboard families is not four families' worth of questions. It is the same questions asked in twenty-five variations each.</a:t>
            </a:r>
            <a:endParaRPr sz="950"/>
          </a:p>
        </p:txBody>
      </p:sp>
      <p:sp>
        <p:nvSpPr>
          <p:cNvPr id="9" name="Shape 6">
            <a:extLst xmlns:a="http://schemas.openxmlformats.org/drawingml/2006/main">
              <a:ext uri="{FF2B5EF4-FFF2-40B4-BE49-F238E27FC236}">
                <a16:creationId xmlns:a16="http://schemas.microsoft.com/office/drawing/2014/main" id="{1AFEEBA4-32AF-46D9-84D4-470FFED155B5}"/>
              </a:ext>
            </a:extLst>
          </p:cNvPr>
          <p:cNvSpPr>
            <a:spLocks xmlns:a="http://schemas.openxmlformats.org/drawingml/2006/main" noGrp="1"/>
          </p:cNvSpPr>
          <p:nvPr/>
        </p:nvSpPr>
        <p:spPr>
          <a:xfrm xmlns:a="http://schemas.openxmlformats.org/drawingml/2006/main">
            <a:off x="566928" y="4535424"/>
            <a:ext cx="11057839" cy="1536192"/>
          </a:xfrm>
          <a:prstGeom xmlns:a="http://schemas.openxmlformats.org/drawingml/2006/main" prst="rect">
            <a:avLst/>
          </a:prstGeom>
          <a:solidFill xmlns:a="http://schemas.openxmlformats.org/drawingml/2006/main">
            <a:srgbClr val="F3E6E0"/>
          </a:solidFill>
        </p:spPr>
      </p:sp>
      <p:sp>
        <p:nvSpPr>
          <p:cNvPr id="10" name="Text 7">
            <a:extLst xmlns:a="http://schemas.openxmlformats.org/drawingml/2006/main">
              <a:ext uri="{FF2B5EF4-FFF2-40B4-BE49-F238E27FC236}">
                <a16:creationId xmlns:a16="http://schemas.microsoft.com/office/drawing/2014/main" id="{09C2F8D7-EB13-40C3-9D75-8B649C9336AB}"/>
              </a:ext>
            </a:extLst>
          </p:cNvPr>
          <p:cNvSpPr>
            <a:spLocks xmlns:a="http://schemas.openxmlformats.org/drawingml/2006/main" noGrp="1"/>
          </p:cNvSpPr>
          <p:nvPr/>
        </p:nvSpPr>
        <p:spPr>
          <a:xfrm xmlns:a="http://schemas.openxmlformats.org/drawingml/2006/main">
            <a:off x="804672" y="468172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intervention that works, and the one that does not</a:t>
            </a:r>
            <a:endParaRPr sz="1100"/>
          </a:p>
        </p:txBody>
      </p:sp>
      <p:sp>
        <p:nvSpPr>
          <p:cNvPr id="11" name="Text 8">
            <a:extLst xmlns:a="http://schemas.openxmlformats.org/drawingml/2006/main">
              <a:ext uri="{FF2B5EF4-FFF2-40B4-BE49-F238E27FC236}">
                <a16:creationId xmlns:a16="http://schemas.microsoft.com/office/drawing/2014/main" id="{E3F80388-7A40-4427-B168-3612DBA881F1}"/>
              </a:ext>
            </a:extLst>
          </p:cNvPr>
          <p:cNvSpPr>
            <a:spLocks xmlns:a="http://schemas.openxmlformats.org/drawingml/2006/main" noGrp="1"/>
          </p:cNvSpPr>
          <p:nvPr/>
        </p:nvSpPr>
        <p:spPr>
          <a:xfrm xmlns:a="http://schemas.openxmlformats.org/drawingml/2006/main">
            <a:off x="804672" y="4937760"/>
            <a:ext cx="10582351"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What does not work: an estate rationalisation exercise. It requires proving a negative about every report, it makes enemies in every function, and the estate regrows within a year because nothing changed about how requests are made.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What does work: change the entry condition. Every new view must name a decision and an owner before it is built, and every view carries a review date at which its owner reconfirms it or it lapses. Lapsing by default inverts the social problem — nobody has to argue for retirement, someone has to argue for retention. Applied at the point of request, the estate stops growing without anyone having to fight about the existing hundred.</a:t>
            </a:r>
            <a:endParaRPr sz="990"/>
          </a:p>
        </p:txBody>
      </p:sp>
      <p:sp>
        <p:nvSpPr>
          <p:cNvPr id="12" name="Shape 9">
            <a:extLst xmlns:a="http://schemas.openxmlformats.org/drawingml/2006/main">
              <a:ext uri="{FF2B5EF4-FFF2-40B4-BE49-F238E27FC236}">
                <a16:creationId xmlns:a16="http://schemas.microsoft.com/office/drawing/2014/main" id="{92E47C05-E0EF-4B66-95D2-78901A952A1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3" name="Text 10">
            <a:extLst xmlns:a="http://schemas.openxmlformats.org/drawingml/2006/main">
              <a:ext uri="{FF2B5EF4-FFF2-40B4-BE49-F238E27FC236}">
                <a16:creationId xmlns:a16="http://schemas.microsoft.com/office/drawing/2014/main" id="{635178EF-B258-43B5-A862-D68D426CDFD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Publicly reported deployment figures, retained with attribution · author's analysis</a:t>
            </a:r>
            <a:endParaRPr sz="850"/>
          </a:p>
        </p:txBody>
      </p:sp>
      <p:sp>
        <p:nvSpPr>
          <p:cNvPr id="14" name="Text 11">
            <a:extLst xmlns:a="http://schemas.openxmlformats.org/drawingml/2006/main">
              <a:ext uri="{FF2B5EF4-FFF2-40B4-BE49-F238E27FC236}">
                <a16:creationId xmlns:a16="http://schemas.microsoft.com/office/drawing/2014/main" id="{0F30EDA2-E677-4C6F-A4DF-BAA694F7A72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324051635"/>
      </p:ext>
    </p:extLst>
  </p:cSld>
</p:sld>
</file>

<file path=ppt/slides/slide20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E9E648F-1D1A-4EFE-AE34-BA4AA2B22D9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HARD PART</a:t>
            </a:r>
            <a:endParaRPr sz="950"/>
          </a:p>
        </p:txBody>
      </p:sp>
      <p:sp>
        <p:nvSpPr>
          <p:cNvPr id="3" name="Text 1">
            <a:extLst xmlns:a="http://schemas.openxmlformats.org/drawingml/2006/main">
              <a:ext uri="{FF2B5EF4-FFF2-40B4-BE49-F238E27FC236}">
                <a16:creationId xmlns:a16="http://schemas.microsoft.com/office/drawing/2014/main" id="{3722FA78-762C-4279-9D80-59430EF0F04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Client profitability is an allocation argument wearing a calculation costume — two</a:t>
            </a:r>
            <a:endParaRPr sz="1900"/>
          </a:p>
          <a:p xmlns:a="http://schemas.openxmlformats.org/drawingml/2006/main">
            <a:pPr marL="0" indent="0">
              <a:lnSpc>
                <a:spcPts val="2400"/>
              </a:lnSpc>
              <a:buNone/>
            </a:pPr>
            <a:r>
              <a:rPr sz="1900" b="1">
                <a:solidFill>
                  <a:srgbClr val="102A43"/>
                </a:solidFill>
                <a:latin typeface="Arial"/>
                <a:ea typeface="Arial"/>
                <a:cs typeface="Arial"/>
              </a:rPr>
              <a:t>choices decide the answer and both are political</a:t>
            </a:r>
            <a:endParaRPr sz="1900"/>
          </a:p>
        </p:txBody>
      </p:sp>
      <p:sp>
        <p:nvSpPr>
          <p:cNvPr id="4" name="Shape 2">
            <a:extLst xmlns:a="http://schemas.openxmlformats.org/drawingml/2006/main">
              <a:ext uri="{FF2B5EF4-FFF2-40B4-BE49-F238E27FC236}">
                <a16:creationId xmlns:a16="http://schemas.microsoft.com/office/drawing/2014/main" id="{96898489-3FA8-4763-B62F-307DE1F28AC0}"/>
              </a:ext>
            </a:extLst>
          </p:cNvPr>
          <p:cNvSpPr>
            <a:spLocks xmlns:a="http://schemas.openxmlformats.org/drawingml/2006/main" noGrp="1"/>
          </p:cNvSpPr>
          <p:nvPr/>
        </p:nvSpPr>
        <p:spPr>
          <a:xfrm xmlns:a="http://schemas.openxmlformats.org/drawingml/2006/main">
            <a:off x="566928" y="1335024"/>
            <a:ext cx="5373472" cy="265176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08A2DD4B-8526-4CCF-83EC-5D6C1F155EAB}"/>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CHOICE ONE</a:t>
            </a:r>
            <a:endParaRPr sz="840"/>
          </a:p>
        </p:txBody>
      </p:sp>
      <p:sp>
        <p:nvSpPr>
          <p:cNvPr id="6" name="Text 4">
            <a:extLst xmlns:a="http://schemas.openxmlformats.org/drawingml/2006/main">
              <a:ext uri="{FF2B5EF4-FFF2-40B4-BE49-F238E27FC236}">
                <a16:creationId xmlns:a16="http://schemas.microsoft.com/office/drawing/2014/main" id="{766576A5-4003-4AB2-B4D6-C5AC462C4F46}"/>
              </a:ext>
            </a:extLst>
          </p:cNvPr>
          <p:cNvSpPr>
            <a:spLocks xmlns:a="http://schemas.openxmlformats.org/drawingml/2006/main" noGrp="1"/>
          </p:cNvSpPr>
          <p:nvPr/>
        </p:nvSpPr>
        <p:spPr>
          <a:xfrm xmlns:a="http://schemas.openxmlformats.org/drawingml/2006/main">
            <a:off x="804672"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What is a client?</a:t>
            </a:r>
            <a:endParaRPr sz="1500"/>
          </a:p>
        </p:txBody>
      </p:sp>
      <p:sp>
        <p:nvSpPr>
          <p:cNvPr id="7" name="Text 5">
            <a:extLst xmlns:a="http://schemas.openxmlformats.org/drawingml/2006/main">
              <a:ext uri="{FF2B5EF4-FFF2-40B4-BE49-F238E27FC236}">
                <a16:creationId xmlns:a16="http://schemas.microsoft.com/office/drawing/2014/main" id="{259BD5D1-3378-4E07-81BB-6CC7CCA65168}"/>
              </a:ext>
            </a:extLst>
          </p:cNvPr>
          <p:cNvSpPr>
            <a:spLocks xmlns:a="http://schemas.openxmlformats.org/drawingml/2006/main" noGrp="1"/>
          </p:cNvSpPr>
          <p:nvPr/>
        </p:nvSpPr>
        <p:spPr>
          <a:xfrm xmlns:a="http://schemas.openxmlformats.org/drawingml/2006/main">
            <a:off x="804672" y="2139696"/>
            <a:ext cx="489798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The legal entity, or the group it belongs to? A subsidiary can be unprofitable while its group is highly profitable.</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If the group, then a relationship manager covering one loss-making subsidiary appears to be destroying value.</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If the entity, then nobody is accountable for the group relationship and coordinated pricing becomes impossible.</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Most banks need both views. Few agree in advance which one the word profitability refers to by default.</a:t>
            </a:r>
            <a:endParaRPr sz="960"/>
          </a:p>
        </p:txBody>
      </p:sp>
      <p:sp>
        <p:nvSpPr>
          <p:cNvPr id="8" name="Shape 6">
            <a:extLst xmlns:a="http://schemas.openxmlformats.org/drawingml/2006/main">
              <a:ext uri="{FF2B5EF4-FFF2-40B4-BE49-F238E27FC236}">
                <a16:creationId xmlns:a16="http://schemas.microsoft.com/office/drawing/2014/main" id="{4A9B2C8D-C150-4181-A572-512EA64DB996}"/>
              </a:ext>
            </a:extLst>
          </p:cNvPr>
          <p:cNvSpPr>
            <a:spLocks xmlns:a="http://schemas.openxmlformats.org/drawingml/2006/main" noGrp="1"/>
          </p:cNvSpPr>
          <p:nvPr/>
        </p:nvSpPr>
        <p:spPr>
          <a:xfrm xmlns:a="http://schemas.openxmlformats.org/drawingml/2006/main">
            <a:off x="6251296" y="1335024"/>
            <a:ext cx="5373472" cy="265176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C7B69779-C609-4597-9464-C28DEC858715}"/>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CHOICE TWO</a:t>
            </a:r>
            <a:endParaRPr sz="840"/>
          </a:p>
        </p:txBody>
      </p:sp>
      <p:sp>
        <p:nvSpPr>
          <p:cNvPr id="10" name="Text 8">
            <a:extLst xmlns:a="http://schemas.openxmlformats.org/drawingml/2006/main">
              <a:ext uri="{FF2B5EF4-FFF2-40B4-BE49-F238E27FC236}">
                <a16:creationId xmlns:a16="http://schemas.microsoft.com/office/drawing/2014/main" id="{B08C54E4-B62E-4FC3-8909-71F0780E9ECB}"/>
              </a:ext>
            </a:extLst>
          </p:cNvPr>
          <p:cNvSpPr>
            <a:spLocks xmlns:a="http://schemas.openxmlformats.org/drawingml/2006/main" noGrp="1"/>
          </p:cNvSpPr>
          <p:nvPr/>
        </p:nvSpPr>
        <p:spPr>
          <a:xfrm xmlns:a="http://schemas.openxmlformats.org/drawingml/2006/main">
            <a:off x="6489040"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Which costs land on them?</a:t>
            </a:r>
            <a:endParaRPr sz="1500"/>
          </a:p>
        </p:txBody>
      </p:sp>
      <p:sp>
        <p:nvSpPr>
          <p:cNvPr id="11" name="Text 9">
            <a:extLst xmlns:a="http://schemas.openxmlformats.org/drawingml/2006/main">
              <a:ext uri="{FF2B5EF4-FFF2-40B4-BE49-F238E27FC236}">
                <a16:creationId xmlns:a16="http://schemas.microsoft.com/office/drawing/2014/main" id="{103E7D2C-DBB9-433F-9709-45BCCF93A123}"/>
              </a:ext>
            </a:extLst>
          </p:cNvPr>
          <p:cNvSpPr>
            <a:spLocks xmlns:a="http://schemas.openxmlformats.org/drawingml/2006/main" noGrp="1"/>
          </p:cNvSpPr>
          <p:nvPr/>
        </p:nvSpPr>
        <p:spPr>
          <a:xfrm xmlns:a="http://schemas.openxmlformats.org/drawingml/2006/main">
            <a:off x="6489040" y="2139696"/>
            <a:ext cx="489798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Direct costs are uncontroversial. Everything after that is a negotiation.</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Funding cost depends on a transfer-pricing method that finance owns and the business disputes.</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Capital cost depends on the risk weighting, which makes the same client look different under different regimes.</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Overhead allocation is where the argument becomes explicit — any basis chosen advantages some segments over others.</a:t>
            </a:r>
            <a:endParaRPr sz="960"/>
          </a:p>
        </p:txBody>
      </p:sp>
      <p:sp>
        <p:nvSpPr>
          <p:cNvPr id="12" name="Shape 10">
            <a:extLst xmlns:a="http://schemas.openxmlformats.org/drawingml/2006/main">
              <a:ext uri="{FF2B5EF4-FFF2-40B4-BE49-F238E27FC236}">
                <a16:creationId xmlns:a16="http://schemas.microsoft.com/office/drawing/2014/main" id="{09C45891-14BC-408F-9CEA-61AF35AF2BB6}"/>
              </a:ext>
            </a:extLst>
          </p:cNvPr>
          <p:cNvSpPr>
            <a:spLocks xmlns:a="http://schemas.openxmlformats.org/drawingml/2006/main" noGrp="1"/>
          </p:cNvSpPr>
          <p:nvPr/>
        </p:nvSpPr>
        <p:spPr>
          <a:xfrm xmlns:a="http://schemas.openxmlformats.org/drawingml/2006/main">
            <a:off x="566928" y="4242816"/>
            <a:ext cx="11057839" cy="1828800"/>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3F544937-DDB2-4825-B929-4D7074A21354}"/>
              </a:ext>
            </a:extLst>
          </p:cNvPr>
          <p:cNvSpPr>
            <a:spLocks xmlns:a="http://schemas.openxmlformats.org/drawingml/2006/main" noGrp="1"/>
          </p:cNvSpPr>
          <p:nvPr/>
        </p:nvSpPr>
        <p:spPr>
          <a:xfrm xmlns:a="http://schemas.openxmlformats.org/drawingml/2006/main">
            <a:off x="804672" y="438912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How this was handled, and why it is a delivery decision rather than a finance one</a:t>
            </a:r>
            <a:endParaRPr sz="1100"/>
          </a:p>
        </p:txBody>
      </p:sp>
      <p:sp>
        <p:nvSpPr>
          <p:cNvPr id="14" name="Text 12">
            <a:extLst xmlns:a="http://schemas.openxmlformats.org/drawingml/2006/main">
              <a:ext uri="{FF2B5EF4-FFF2-40B4-BE49-F238E27FC236}">
                <a16:creationId xmlns:a16="http://schemas.microsoft.com/office/drawing/2014/main" id="{88037F5C-737D-4040-A2BE-AA22C9C4DC0B}"/>
              </a:ext>
            </a:extLst>
          </p:cNvPr>
          <p:cNvSpPr>
            <a:spLocks xmlns:a="http://schemas.openxmlformats.org/drawingml/2006/main" noGrp="1"/>
          </p:cNvSpPr>
          <p:nvPr/>
        </p:nvSpPr>
        <p:spPr>
          <a:xfrm xmlns:a="http://schemas.openxmlformats.org/drawingml/2006/main">
            <a:off x="804672" y="4645152"/>
            <a:ext cx="10582351"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Both choices were settled before the first query was written, by finance and the business jointly, and written down as a definition set with a named owner. That sounds obvious and is routinely skipped, because it is slow and contentious and the build can technically start without it.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Starting without it has a specific failure mode. Analysts make reasonable local assumptions to keep moving; each dashboard embeds slightly different ones; and six months later three views of the same client disagree. At that point the disagreement is discovered by a relationship manager or a committee, in public, and the whole analytics layer loses credibility — not because any calculation is wrong, but because the definitions were never agreed.</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delivery lead's job here is not to resolve the allocation argument. It is to refuse to build until someone else has, and to make that refusal early enough that it costs a week rather than a programme.</a:t>
            </a:r>
            <a:endParaRPr sz="990"/>
          </a:p>
        </p:txBody>
      </p:sp>
      <p:sp>
        <p:nvSpPr>
          <p:cNvPr id="15" name="Shape 13">
            <a:extLst xmlns:a="http://schemas.openxmlformats.org/drawingml/2006/main">
              <a:ext uri="{FF2B5EF4-FFF2-40B4-BE49-F238E27FC236}">
                <a16:creationId xmlns:a16="http://schemas.microsoft.com/office/drawing/2014/main" id="{2FBA11A1-AF24-4116-850D-6EF10D9CEA9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6" name="Text 14">
            <a:extLst xmlns:a="http://schemas.openxmlformats.org/drawingml/2006/main">
              <a:ext uri="{FF2B5EF4-FFF2-40B4-BE49-F238E27FC236}">
                <a16:creationId xmlns:a16="http://schemas.microsoft.com/office/drawing/2014/main" id="{909F6E84-66FA-4B6B-B551-6132556FAC2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2023 engagement · author's analysis</a:t>
            </a:r>
            <a:endParaRPr sz="850"/>
          </a:p>
        </p:txBody>
      </p:sp>
      <p:sp>
        <p:nvSpPr>
          <p:cNvPr id="17" name="Text 15">
            <a:extLst xmlns:a="http://schemas.openxmlformats.org/drawingml/2006/main">
              <a:ext uri="{FF2B5EF4-FFF2-40B4-BE49-F238E27FC236}">
                <a16:creationId xmlns:a16="http://schemas.microsoft.com/office/drawing/2014/main" id="{86FB7560-388E-4C8F-9A6A-22DFED2FB01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687386700"/>
      </p:ext>
    </p:extLst>
  </p:cSld>
</p:sld>
</file>

<file path=ppt/slides/slide20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3176DEE-6CF6-4D37-8BCB-89C034042F2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ACTUALLY CHANGES BEHAVIOUR</a:t>
            </a:r>
            <a:endParaRPr sz="950"/>
          </a:p>
        </p:txBody>
      </p:sp>
      <p:sp>
        <p:nvSpPr>
          <p:cNvPr id="3" name="Text 1">
            <a:extLst xmlns:a="http://schemas.openxmlformats.org/drawingml/2006/main">
              <a:ext uri="{FF2B5EF4-FFF2-40B4-BE49-F238E27FC236}">
                <a16:creationId xmlns:a16="http://schemas.microsoft.com/office/drawing/2014/main" id="{58930495-0560-488E-BF9A-5C6AFA5FEE5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measures moved decisions; the rest informed them — and the difference is</a:t>
            </a:r>
            <a:endParaRPr sz="1900"/>
          </a:p>
          <a:p xmlns:a="http://schemas.openxmlformats.org/drawingml/2006/main">
            <a:pPr marL="0" indent="0">
              <a:lnSpc>
                <a:spcPts val="2400"/>
              </a:lnSpc>
              <a:buNone/>
            </a:pPr>
            <a:r>
              <a:rPr sz="1900" b="1">
                <a:solidFill>
                  <a:srgbClr val="102A43"/>
                </a:solidFill>
                <a:latin typeface="Arial"/>
                <a:ea typeface="Arial"/>
                <a:cs typeface="Arial"/>
              </a:rPr>
              <a:t>whether the measure has a consequence attached</a:t>
            </a:r>
            <a:endParaRPr sz="1900"/>
          </a:p>
        </p:txBody>
      </p:sp>
      <p:sp>
        <p:nvSpPr>
          <p:cNvPr id="4" name="Shape 2">
            <a:extLst xmlns:a="http://schemas.openxmlformats.org/drawingml/2006/main">
              <a:ext uri="{FF2B5EF4-FFF2-40B4-BE49-F238E27FC236}">
                <a16:creationId xmlns:a16="http://schemas.microsoft.com/office/drawing/2014/main" id="{C8DD980B-C49D-42FC-AAD1-76F77C933CFA}"/>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6762C1A6-618B-4D25-B1F9-493A26B4C25C}"/>
              </a:ext>
            </a:extLst>
          </p:cNvPr>
          <p:cNvSpPr>
            <a:spLocks xmlns:a="http://schemas.openxmlformats.org/drawingml/2006/main" noGrp="1"/>
          </p:cNvSpPr>
          <p:nvPr/>
        </p:nvSpPr>
        <p:spPr>
          <a:xfrm xmlns:a="http://schemas.openxmlformats.org/drawingml/2006/main">
            <a:off x="67665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Measure</a:t>
            </a:r>
            <a:endParaRPr sz="920"/>
          </a:p>
        </p:txBody>
      </p:sp>
      <p:sp>
        <p:nvSpPr>
          <p:cNvPr id="6" name="Text 4">
            <a:extLst xmlns:a="http://schemas.openxmlformats.org/drawingml/2006/main">
              <a:ext uri="{FF2B5EF4-FFF2-40B4-BE49-F238E27FC236}">
                <a16:creationId xmlns:a16="http://schemas.microsoft.com/office/drawing/2014/main" id="{1BF37CE6-354A-41AF-9973-C81D00D5F697}"/>
              </a:ext>
            </a:extLst>
          </p:cNvPr>
          <p:cNvSpPr>
            <a:spLocks xmlns:a="http://schemas.openxmlformats.org/drawingml/2006/main" noGrp="1"/>
          </p:cNvSpPr>
          <p:nvPr/>
        </p:nvSpPr>
        <p:spPr>
          <a:xfrm xmlns:a="http://schemas.openxmlformats.org/drawingml/2006/main">
            <a:off x="3694176" y="1444752"/>
            <a:ext cx="32552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it changes behaviour</a:t>
            </a:r>
            <a:endParaRPr sz="920"/>
          </a:p>
        </p:txBody>
      </p:sp>
      <p:sp>
        <p:nvSpPr>
          <p:cNvPr id="7" name="Text 5">
            <a:extLst xmlns:a="http://schemas.openxmlformats.org/drawingml/2006/main">
              <a:ext uri="{FF2B5EF4-FFF2-40B4-BE49-F238E27FC236}">
                <a16:creationId xmlns:a16="http://schemas.microsoft.com/office/drawing/2014/main" id="{47AF7011-6A17-4EA8-B803-B18EE2442718}"/>
              </a:ext>
            </a:extLst>
          </p:cNvPr>
          <p:cNvSpPr>
            <a:spLocks xmlns:a="http://schemas.openxmlformats.org/drawingml/2006/main" noGrp="1"/>
          </p:cNvSpPr>
          <p:nvPr/>
        </p:nvSpPr>
        <p:spPr>
          <a:xfrm xmlns:a="http://schemas.openxmlformats.org/drawingml/2006/main">
            <a:off x="7260336" y="1444752"/>
            <a:ext cx="26151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The consequence attached</a:t>
            </a:r>
            <a:endParaRPr sz="920"/>
          </a:p>
        </p:txBody>
      </p:sp>
      <p:sp>
        <p:nvSpPr>
          <p:cNvPr id="8" name="Text 6">
            <a:extLst xmlns:a="http://schemas.openxmlformats.org/drawingml/2006/main">
              <a:ext uri="{FF2B5EF4-FFF2-40B4-BE49-F238E27FC236}">
                <a16:creationId xmlns:a16="http://schemas.microsoft.com/office/drawing/2014/main" id="{2AC3B10E-8918-42B7-B9BE-DB06AE8C0146}"/>
              </a:ext>
            </a:extLst>
          </p:cNvPr>
          <p:cNvSpPr>
            <a:spLocks xmlns:a="http://schemas.openxmlformats.org/drawingml/2006/main" noGrp="1"/>
          </p:cNvSpPr>
          <p:nvPr/>
        </p:nvSpPr>
        <p:spPr>
          <a:xfrm xmlns:a="http://schemas.openxmlformats.org/drawingml/2006/main">
            <a:off x="10186416" y="1444752"/>
            <a:ext cx="13258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Effect</a:t>
            </a:r>
            <a:endParaRPr sz="920"/>
          </a:p>
        </p:txBody>
      </p:sp>
      <p:sp>
        <p:nvSpPr>
          <p:cNvPr id="9" name="Text 7">
            <a:extLst xmlns:a="http://schemas.openxmlformats.org/drawingml/2006/main">
              <a:ext uri="{FF2B5EF4-FFF2-40B4-BE49-F238E27FC236}">
                <a16:creationId xmlns:a16="http://schemas.microsoft.com/office/drawing/2014/main" id="{1DDAE824-51B6-4A27-8626-E69600892EEF}"/>
              </a:ext>
            </a:extLst>
          </p:cNvPr>
          <p:cNvSpPr>
            <a:spLocks xmlns:a="http://schemas.openxmlformats.org/drawingml/2006/main" noGrp="1"/>
          </p:cNvSpPr>
          <p:nvPr/>
        </p:nvSpPr>
        <p:spPr>
          <a:xfrm xmlns:a="http://schemas.openxmlformats.org/drawingml/2006/main">
            <a:off x="676656" y="1773936"/>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Risk-weighted return</a:t>
            </a:r>
            <a:endParaRPr sz="980"/>
          </a:p>
        </p:txBody>
      </p:sp>
      <p:sp>
        <p:nvSpPr>
          <p:cNvPr id="10" name="Text 8">
            <a:extLst xmlns:a="http://schemas.openxmlformats.org/drawingml/2006/main">
              <a:ext uri="{FF2B5EF4-FFF2-40B4-BE49-F238E27FC236}">
                <a16:creationId xmlns:a16="http://schemas.microsoft.com/office/drawing/2014/main" id="{A95434C6-9290-4EA0-A37A-8AB6714C344F}"/>
              </a:ext>
            </a:extLst>
          </p:cNvPr>
          <p:cNvSpPr>
            <a:spLocks xmlns:a="http://schemas.openxmlformats.org/drawingml/2006/main" noGrp="1"/>
          </p:cNvSpPr>
          <p:nvPr/>
        </p:nvSpPr>
        <p:spPr>
          <a:xfrm xmlns:a="http://schemas.openxmlformats.org/drawingml/2006/main">
            <a:off x="3694176" y="1773936"/>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Makes the capital cost of a relationship visible against its income</a:t>
            </a:r>
            <a:endParaRPr sz="920"/>
          </a:p>
        </p:txBody>
      </p:sp>
      <p:sp>
        <p:nvSpPr>
          <p:cNvPr id="11" name="Text 9">
            <a:extLst xmlns:a="http://schemas.openxmlformats.org/drawingml/2006/main">
              <a:ext uri="{FF2B5EF4-FFF2-40B4-BE49-F238E27FC236}">
                <a16:creationId xmlns:a16="http://schemas.microsoft.com/office/drawing/2014/main" id="{A0854F37-4E78-4B32-8120-A5B9AC9C9ECA}"/>
              </a:ext>
            </a:extLst>
          </p:cNvPr>
          <p:cNvSpPr>
            <a:spLocks xmlns:a="http://schemas.openxmlformats.org/drawingml/2006/main" noGrp="1"/>
          </p:cNvSpPr>
          <p:nvPr/>
        </p:nvSpPr>
        <p:spPr>
          <a:xfrm xmlns:a="http://schemas.openxmlformats.org/drawingml/2006/main">
            <a:off x="7260336" y="1773936"/>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Pricing floors and capital allocation between segments</a:t>
            </a:r>
            <a:endParaRPr sz="920"/>
          </a:p>
        </p:txBody>
      </p:sp>
      <p:sp>
        <p:nvSpPr>
          <p:cNvPr id="12" name="Text 10">
            <a:extLst xmlns:a="http://schemas.openxmlformats.org/drawingml/2006/main">
              <a:ext uri="{FF2B5EF4-FFF2-40B4-BE49-F238E27FC236}">
                <a16:creationId xmlns:a16="http://schemas.microsoft.com/office/drawing/2014/main" id="{AC989C76-9E78-4E08-BFD8-81E9D3E77EA4}"/>
              </a:ext>
            </a:extLst>
          </p:cNvPr>
          <p:cNvSpPr>
            <a:spLocks xmlns:a="http://schemas.openxmlformats.org/drawingml/2006/main" noGrp="1"/>
          </p:cNvSpPr>
          <p:nvPr/>
        </p:nvSpPr>
        <p:spPr>
          <a:xfrm xmlns:a="http://schemas.openxmlformats.org/drawingml/2006/main">
            <a:off x="10186416" y="1773936"/>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Strong</a:t>
            </a:r>
            <a:endParaRPr sz="940"/>
          </a:p>
        </p:txBody>
      </p:sp>
      <p:sp>
        <p:nvSpPr>
          <p:cNvPr id="13" name="Shape 11">
            <a:extLst xmlns:a="http://schemas.openxmlformats.org/drawingml/2006/main">
              <a:ext uri="{FF2B5EF4-FFF2-40B4-BE49-F238E27FC236}">
                <a16:creationId xmlns:a16="http://schemas.microsoft.com/office/drawing/2014/main" id="{F63F17D8-9383-499F-8E3F-C38E3A0FD18A}"/>
              </a:ext>
            </a:extLst>
          </p:cNvPr>
          <p:cNvSpPr>
            <a:spLocks xmlns:a="http://schemas.openxmlformats.org/drawingml/2006/main" noGrp="1"/>
          </p:cNvSpPr>
          <p:nvPr/>
        </p:nvSpPr>
        <p:spPr>
          <a:xfrm xmlns:a="http://schemas.openxmlformats.org/drawingml/2006/main">
            <a:off x="566928" y="2121408"/>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109BEE88-5679-4021-8952-561F02B6DFA0}"/>
              </a:ext>
            </a:extLst>
          </p:cNvPr>
          <p:cNvSpPr>
            <a:spLocks xmlns:a="http://schemas.openxmlformats.org/drawingml/2006/main" noGrp="1"/>
          </p:cNvSpPr>
          <p:nvPr/>
        </p:nvSpPr>
        <p:spPr>
          <a:xfrm xmlns:a="http://schemas.openxmlformats.org/drawingml/2006/main">
            <a:off x="566928" y="2121408"/>
            <a:ext cx="11057839" cy="420624"/>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BF1AE314-FDF4-4C62-98F6-1156DDD0B203}"/>
              </a:ext>
            </a:extLst>
          </p:cNvPr>
          <p:cNvSpPr>
            <a:spLocks xmlns:a="http://schemas.openxmlformats.org/drawingml/2006/main" noGrp="1"/>
          </p:cNvSpPr>
          <p:nvPr/>
        </p:nvSpPr>
        <p:spPr>
          <a:xfrm xmlns:a="http://schemas.openxmlformats.org/drawingml/2006/main">
            <a:off x="676656" y="2194560"/>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Share of wallet</a:t>
            </a:r>
            <a:endParaRPr sz="980"/>
          </a:p>
        </p:txBody>
      </p:sp>
      <p:sp>
        <p:nvSpPr>
          <p:cNvPr id="16" name="Text 14">
            <a:extLst xmlns:a="http://schemas.openxmlformats.org/drawingml/2006/main">
              <a:ext uri="{FF2B5EF4-FFF2-40B4-BE49-F238E27FC236}">
                <a16:creationId xmlns:a16="http://schemas.microsoft.com/office/drawing/2014/main" id="{C4C9F661-4669-4BA5-85B5-DE3B1BF0D677}"/>
              </a:ext>
            </a:extLst>
          </p:cNvPr>
          <p:cNvSpPr>
            <a:spLocks xmlns:a="http://schemas.openxmlformats.org/drawingml/2006/main" noGrp="1"/>
          </p:cNvSpPr>
          <p:nvPr/>
        </p:nvSpPr>
        <p:spPr>
          <a:xfrm xmlns:a="http://schemas.openxmlformats.org/drawingml/2006/main">
            <a:off x="3694176" y="2194560"/>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Reframes a large client as an underpenetrated one, which is a different conversation</a:t>
            </a:r>
            <a:endParaRPr sz="920"/>
          </a:p>
        </p:txBody>
      </p:sp>
      <p:sp>
        <p:nvSpPr>
          <p:cNvPr id="17" name="Text 15">
            <a:extLst xmlns:a="http://schemas.openxmlformats.org/drawingml/2006/main">
              <a:ext uri="{FF2B5EF4-FFF2-40B4-BE49-F238E27FC236}">
                <a16:creationId xmlns:a16="http://schemas.microsoft.com/office/drawing/2014/main" id="{B2F00DB9-126E-4E3D-9DBD-15B2FA2C3E99}"/>
              </a:ext>
            </a:extLst>
          </p:cNvPr>
          <p:cNvSpPr>
            <a:spLocks xmlns:a="http://schemas.openxmlformats.org/drawingml/2006/main" noGrp="1"/>
          </p:cNvSpPr>
          <p:nvPr/>
        </p:nvSpPr>
        <p:spPr>
          <a:xfrm xmlns:a="http://schemas.openxmlformats.org/drawingml/2006/main">
            <a:off x="7260336" y="2194560"/>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Coverage intensity and cross-sell targets</a:t>
            </a:r>
            <a:endParaRPr sz="920"/>
          </a:p>
        </p:txBody>
      </p:sp>
      <p:sp>
        <p:nvSpPr>
          <p:cNvPr id="18" name="Text 16">
            <a:extLst xmlns:a="http://schemas.openxmlformats.org/drawingml/2006/main">
              <a:ext uri="{FF2B5EF4-FFF2-40B4-BE49-F238E27FC236}">
                <a16:creationId xmlns:a16="http://schemas.microsoft.com/office/drawing/2014/main" id="{9443683A-FC1B-45EB-9AFA-20E4F57C8869}"/>
              </a:ext>
            </a:extLst>
          </p:cNvPr>
          <p:cNvSpPr>
            <a:spLocks xmlns:a="http://schemas.openxmlformats.org/drawingml/2006/main" noGrp="1"/>
          </p:cNvSpPr>
          <p:nvPr/>
        </p:nvSpPr>
        <p:spPr>
          <a:xfrm xmlns:a="http://schemas.openxmlformats.org/drawingml/2006/main">
            <a:off x="10186416" y="2194560"/>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Strong</a:t>
            </a:r>
            <a:endParaRPr sz="940"/>
          </a:p>
        </p:txBody>
      </p:sp>
      <p:sp>
        <p:nvSpPr>
          <p:cNvPr id="19" name="Shape 17">
            <a:extLst xmlns:a="http://schemas.openxmlformats.org/drawingml/2006/main">
              <a:ext uri="{FF2B5EF4-FFF2-40B4-BE49-F238E27FC236}">
                <a16:creationId xmlns:a16="http://schemas.microsoft.com/office/drawing/2014/main" id="{421CE22C-BBC9-4058-BEDD-5AE53548D198}"/>
              </a:ext>
            </a:extLst>
          </p:cNvPr>
          <p:cNvSpPr>
            <a:spLocks xmlns:a="http://schemas.openxmlformats.org/drawingml/2006/main" noGrp="1"/>
          </p:cNvSpPr>
          <p:nvPr/>
        </p:nvSpPr>
        <p:spPr>
          <a:xfrm xmlns:a="http://schemas.openxmlformats.org/drawingml/2006/main">
            <a:off x="566928" y="2542032"/>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785F01D0-D09D-42E1-B05F-DE673A37BF92}"/>
              </a:ext>
            </a:extLst>
          </p:cNvPr>
          <p:cNvSpPr>
            <a:spLocks xmlns:a="http://schemas.openxmlformats.org/drawingml/2006/main" noGrp="1"/>
          </p:cNvSpPr>
          <p:nvPr/>
        </p:nvSpPr>
        <p:spPr>
          <a:xfrm xmlns:a="http://schemas.openxmlformats.org/drawingml/2006/main">
            <a:off x="676656" y="261518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Non-credit income share</a:t>
            </a:r>
            <a:endParaRPr sz="980"/>
          </a:p>
        </p:txBody>
      </p:sp>
      <p:sp>
        <p:nvSpPr>
          <p:cNvPr id="21" name="Text 19">
            <a:extLst xmlns:a="http://schemas.openxmlformats.org/drawingml/2006/main">
              <a:ext uri="{FF2B5EF4-FFF2-40B4-BE49-F238E27FC236}">
                <a16:creationId xmlns:a16="http://schemas.microsoft.com/office/drawing/2014/main" id="{644129AC-915D-4B2A-A529-9BD423EC811C}"/>
              </a:ext>
            </a:extLst>
          </p:cNvPr>
          <p:cNvSpPr>
            <a:spLocks xmlns:a="http://schemas.openxmlformats.org/drawingml/2006/main" noGrp="1"/>
          </p:cNvSpPr>
          <p:nvPr/>
        </p:nvSpPr>
        <p:spPr>
          <a:xfrm xmlns:a="http://schemas.openxmlformats.org/drawingml/2006/main">
            <a:off x="3694176" y="2615184"/>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Exposes relationships that look profitable only because of a single lending margin</a:t>
            </a:r>
            <a:endParaRPr sz="920"/>
          </a:p>
        </p:txBody>
      </p:sp>
      <p:sp>
        <p:nvSpPr>
          <p:cNvPr id="22" name="Text 20">
            <a:extLst xmlns:a="http://schemas.openxmlformats.org/drawingml/2006/main">
              <a:ext uri="{FF2B5EF4-FFF2-40B4-BE49-F238E27FC236}">
                <a16:creationId xmlns:a16="http://schemas.microsoft.com/office/drawing/2014/main" id="{C4D14013-635C-48E9-81DA-4BB7F66E26FF}"/>
              </a:ext>
            </a:extLst>
          </p:cNvPr>
          <p:cNvSpPr>
            <a:spLocks xmlns:a="http://schemas.openxmlformats.org/drawingml/2006/main" noGrp="1"/>
          </p:cNvSpPr>
          <p:nvPr/>
        </p:nvSpPr>
        <p:spPr>
          <a:xfrm xmlns:a="http://schemas.openxmlformats.org/drawingml/2006/main">
            <a:off x="7260336" y="261518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Product investment and fee schedule review</a:t>
            </a:r>
            <a:endParaRPr sz="920"/>
          </a:p>
        </p:txBody>
      </p:sp>
      <p:sp>
        <p:nvSpPr>
          <p:cNvPr id="23" name="Text 21">
            <a:extLst xmlns:a="http://schemas.openxmlformats.org/drawingml/2006/main">
              <a:ext uri="{FF2B5EF4-FFF2-40B4-BE49-F238E27FC236}">
                <a16:creationId xmlns:a16="http://schemas.microsoft.com/office/drawing/2014/main" id="{A80F66B1-8FC1-471D-88E0-EAECD64100C6}"/>
              </a:ext>
            </a:extLst>
          </p:cNvPr>
          <p:cNvSpPr>
            <a:spLocks xmlns:a="http://schemas.openxmlformats.org/drawingml/2006/main" noGrp="1"/>
          </p:cNvSpPr>
          <p:nvPr/>
        </p:nvSpPr>
        <p:spPr>
          <a:xfrm xmlns:a="http://schemas.openxmlformats.org/drawingml/2006/main">
            <a:off x="10186416" y="261518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Strong</a:t>
            </a:r>
            <a:endParaRPr sz="940"/>
          </a:p>
        </p:txBody>
      </p:sp>
      <p:sp>
        <p:nvSpPr>
          <p:cNvPr id="24" name="Shape 22">
            <a:extLst xmlns:a="http://schemas.openxmlformats.org/drawingml/2006/main">
              <a:ext uri="{FF2B5EF4-FFF2-40B4-BE49-F238E27FC236}">
                <a16:creationId xmlns:a16="http://schemas.microsoft.com/office/drawing/2014/main" id="{02EF2A2D-4DCD-45A2-8BE7-9A339D1D87B3}"/>
              </a:ext>
            </a:extLst>
          </p:cNvPr>
          <p:cNvSpPr>
            <a:spLocks xmlns:a="http://schemas.openxmlformats.org/drawingml/2006/main" noGrp="1"/>
          </p:cNvSpPr>
          <p:nvPr/>
        </p:nvSpPr>
        <p:spPr>
          <a:xfrm xmlns:a="http://schemas.openxmlformats.org/drawingml/2006/main">
            <a:off x="566928" y="2962656"/>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E3C68CB8-D41C-4BBA-B2E9-A8CA13C691E0}"/>
              </a:ext>
            </a:extLst>
          </p:cNvPr>
          <p:cNvSpPr>
            <a:spLocks xmlns:a="http://schemas.openxmlformats.org/drawingml/2006/main" noGrp="1"/>
          </p:cNvSpPr>
          <p:nvPr/>
        </p:nvSpPr>
        <p:spPr>
          <a:xfrm xmlns:a="http://schemas.openxmlformats.org/drawingml/2006/main">
            <a:off x="566928" y="2962656"/>
            <a:ext cx="11057839" cy="420624"/>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3525631D-2BC8-489F-8A91-00C679DFF59E}"/>
              </a:ext>
            </a:extLst>
          </p:cNvPr>
          <p:cNvSpPr>
            <a:spLocks xmlns:a="http://schemas.openxmlformats.org/drawingml/2006/main" noGrp="1"/>
          </p:cNvSpPr>
          <p:nvPr/>
        </p:nvSpPr>
        <p:spPr>
          <a:xfrm xmlns:a="http://schemas.openxmlformats.org/drawingml/2006/main">
            <a:off x="676656" y="3035808"/>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Absolute revenue</a:t>
            </a:r>
            <a:endParaRPr sz="980"/>
          </a:p>
        </p:txBody>
      </p:sp>
      <p:sp>
        <p:nvSpPr>
          <p:cNvPr id="27" name="Text 25">
            <a:extLst xmlns:a="http://schemas.openxmlformats.org/drawingml/2006/main">
              <a:ext uri="{FF2B5EF4-FFF2-40B4-BE49-F238E27FC236}">
                <a16:creationId xmlns:a16="http://schemas.microsoft.com/office/drawing/2014/main" id="{DD98B7D3-5A5E-4FC4-8E54-BA54518E3359}"/>
              </a:ext>
            </a:extLst>
          </p:cNvPr>
          <p:cNvSpPr>
            <a:spLocks xmlns:a="http://schemas.openxmlformats.org/drawingml/2006/main" noGrp="1"/>
          </p:cNvSpPr>
          <p:nvPr/>
        </p:nvSpPr>
        <p:spPr>
          <a:xfrm xmlns:a="http://schemas.openxmlformats.org/drawingml/2006/main">
            <a:off x="3694176" y="3035808"/>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Familiar and widely used, but rewards size rather than efficiency</a:t>
            </a:r>
            <a:endParaRPr sz="920"/>
          </a:p>
        </p:txBody>
      </p:sp>
      <p:sp>
        <p:nvSpPr>
          <p:cNvPr id="28" name="Text 26">
            <a:extLst xmlns:a="http://schemas.openxmlformats.org/drawingml/2006/main">
              <a:ext uri="{FF2B5EF4-FFF2-40B4-BE49-F238E27FC236}">
                <a16:creationId xmlns:a16="http://schemas.microsoft.com/office/drawing/2014/main" id="{7B694D0C-C94C-4A23-B466-A2326360C29D}"/>
              </a:ext>
            </a:extLst>
          </p:cNvPr>
          <p:cNvSpPr>
            <a:spLocks xmlns:a="http://schemas.openxmlformats.org/drawingml/2006/main" noGrp="1"/>
          </p:cNvSpPr>
          <p:nvPr/>
        </p:nvSpPr>
        <p:spPr>
          <a:xfrm xmlns:a="http://schemas.openxmlformats.org/drawingml/2006/main">
            <a:off x="7260336" y="3035808"/>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None directly — informs, rarely decides</a:t>
            </a:r>
            <a:endParaRPr sz="920"/>
          </a:p>
        </p:txBody>
      </p:sp>
      <p:sp>
        <p:nvSpPr>
          <p:cNvPr id="29" name="Text 27">
            <a:extLst xmlns:a="http://schemas.openxmlformats.org/drawingml/2006/main">
              <a:ext uri="{FF2B5EF4-FFF2-40B4-BE49-F238E27FC236}">
                <a16:creationId xmlns:a16="http://schemas.microsoft.com/office/drawing/2014/main" id="{F6FD3FCB-7B48-4C89-99CD-387D77A33D59}"/>
              </a:ext>
            </a:extLst>
          </p:cNvPr>
          <p:cNvSpPr>
            <a:spLocks xmlns:a="http://schemas.openxmlformats.org/drawingml/2006/main" noGrp="1"/>
          </p:cNvSpPr>
          <p:nvPr/>
        </p:nvSpPr>
        <p:spPr>
          <a:xfrm xmlns:a="http://schemas.openxmlformats.org/drawingml/2006/main">
            <a:off x="10186416" y="3035808"/>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Weak</a:t>
            </a:r>
            <a:endParaRPr sz="940"/>
          </a:p>
        </p:txBody>
      </p:sp>
      <p:sp>
        <p:nvSpPr>
          <p:cNvPr id="30" name="Shape 28">
            <a:extLst xmlns:a="http://schemas.openxmlformats.org/drawingml/2006/main">
              <a:ext uri="{FF2B5EF4-FFF2-40B4-BE49-F238E27FC236}">
                <a16:creationId xmlns:a16="http://schemas.microsoft.com/office/drawing/2014/main" id="{5D720C69-CFCD-458B-8157-87B8C2175AE5}"/>
              </a:ext>
            </a:extLst>
          </p:cNvPr>
          <p:cNvSpPr>
            <a:spLocks xmlns:a="http://schemas.openxmlformats.org/drawingml/2006/main" noGrp="1"/>
          </p:cNvSpPr>
          <p:nvPr/>
        </p:nvSpPr>
        <p:spPr>
          <a:xfrm xmlns:a="http://schemas.openxmlformats.org/drawingml/2006/main">
            <a:off x="566928" y="3383280"/>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110D1820-04B9-43B0-BD59-1446C9047F8F}"/>
              </a:ext>
            </a:extLst>
          </p:cNvPr>
          <p:cNvSpPr>
            <a:spLocks xmlns:a="http://schemas.openxmlformats.org/drawingml/2006/main" noGrp="1"/>
          </p:cNvSpPr>
          <p:nvPr/>
        </p:nvSpPr>
        <p:spPr>
          <a:xfrm xmlns:a="http://schemas.openxmlformats.org/drawingml/2006/main">
            <a:off x="676656" y="3456432"/>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Client count by segment</a:t>
            </a:r>
            <a:endParaRPr sz="980"/>
          </a:p>
        </p:txBody>
      </p:sp>
      <p:sp>
        <p:nvSpPr>
          <p:cNvPr id="32" name="Text 30">
            <a:extLst xmlns:a="http://schemas.openxmlformats.org/drawingml/2006/main">
              <a:ext uri="{FF2B5EF4-FFF2-40B4-BE49-F238E27FC236}">
                <a16:creationId xmlns:a16="http://schemas.microsoft.com/office/drawing/2014/main" id="{A2E436D2-ACBE-4F10-A6C5-917159FCD7EF}"/>
              </a:ext>
            </a:extLst>
          </p:cNvPr>
          <p:cNvSpPr>
            <a:spLocks xmlns:a="http://schemas.openxmlformats.org/drawingml/2006/main" noGrp="1"/>
          </p:cNvSpPr>
          <p:nvPr/>
        </p:nvSpPr>
        <p:spPr>
          <a:xfrm xmlns:a="http://schemas.openxmlformats.org/drawingml/2006/main">
            <a:off x="3694176" y="3456432"/>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Describes the portfolio without indicating what to do about it</a:t>
            </a:r>
            <a:endParaRPr sz="920"/>
          </a:p>
        </p:txBody>
      </p:sp>
      <p:sp>
        <p:nvSpPr>
          <p:cNvPr id="33" name="Text 31">
            <a:extLst xmlns:a="http://schemas.openxmlformats.org/drawingml/2006/main">
              <a:ext uri="{FF2B5EF4-FFF2-40B4-BE49-F238E27FC236}">
                <a16:creationId xmlns:a16="http://schemas.microsoft.com/office/drawing/2014/main" id="{064FE24D-A836-44C6-9F27-C396F9D3B7D2}"/>
              </a:ext>
            </a:extLst>
          </p:cNvPr>
          <p:cNvSpPr>
            <a:spLocks xmlns:a="http://schemas.openxmlformats.org/drawingml/2006/main" noGrp="1"/>
          </p:cNvSpPr>
          <p:nvPr/>
        </p:nvSpPr>
        <p:spPr>
          <a:xfrm xmlns:a="http://schemas.openxmlformats.org/drawingml/2006/main">
            <a:off x="7260336" y="3456432"/>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None</a:t>
            </a:r>
            <a:endParaRPr sz="920"/>
          </a:p>
        </p:txBody>
      </p:sp>
      <p:sp>
        <p:nvSpPr>
          <p:cNvPr id="34" name="Text 32">
            <a:extLst xmlns:a="http://schemas.openxmlformats.org/drawingml/2006/main">
              <a:ext uri="{FF2B5EF4-FFF2-40B4-BE49-F238E27FC236}">
                <a16:creationId xmlns:a16="http://schemas.microsoft.com/office/drawing/2014/main" id="{388D0E91-A15A-49DD-B9FB-546CCDD54F16}"/>
              </a:ext>
            </a:extLst>
          </p:cNvPr>
          <p:cNvSpPr>
            <a:spLocks xmlns:a="http://schemas.openxmlformats.org/drawingml/2006/main" noGrp="1"/>
          </p:cNvSpPr>
          <p:nvPr/>
        </p:nvSpPr>
        <p:spPr>
          <a:xfrm xmlns:a="http://schemas.openxmlformats.org/drawingml/2006/main">
            <a:off x="10186416" y="3456432"/>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None</a:t>
            </a:r>
            <a:endParaRPr sz="940"/>
          </a:p>
        </p:txBody>
      </p:sp>
      <p:sp>
        <p:nvSpPr>
          <p:cNvPr id="35" name="Shape 33">
            <a:extLst xmlns:a="http://schemas.openxmlformats.org/drawingml/2006/main">
              <a:ext uri="{FF2B5EF4-FFF2-40B4-BE49-F238E27FC236}">
                <a16:creationId xmlns:a16="http://schemas.microsoft.com/office/drawing/2014/main" id="{F0401576-C457-43C6-B89E-E082A479B796}"/>
              </a:ext>
            </a:extLst>
          </p:cNvPr>
          <p:cNvSpPr>
            <a:spLocks xmlns:a="http://schemas.openxmlformats.org/drawingml/2006/main" noGrp="1"/>
          </p:cNvSpPr>
          <p:nvPr/>
        </p:nvSpPr>
        <p:spPr>
          <a:xfrm xmlns:a="http://schemas.openxmlformats.org/drawingml/2006/main">
            <a:off x="566928" y="380390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E5EF16D4-EF5E-463E-8EC9-CF390772DEFF}"/>
              </a:ext>
            </a:extLst>
          </p:cNvPr>
          <p:cNvSpPr>
            <a:spLocks xmlns:a="http://schemas.openxmlformats.org/drawingml/2006/main" noGrp="1"/>
          </p:cNvSpPr>
          <p:nvPr/>
        </p:nvSpPr>
        <p:spPr>
          <a:xfrm xmlns:a="http://schemas.openxmlformats.org/drawingml/2006/main">
            <a:off x="566928" y="3803904"/>
            <a:ext cx="11057839" cy="420624"/>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7A21092C-64B5-4310-877B-4AC5EB75626E}"/>
              </a:ext>
            </a:extLst>
          </p:cNvPr>
          <p:cNvSpPr>
            <a:spLocks xmlns:a="http://schemas.openxmlformats.org/drawingml/2006/main" noGrp="1"/>
          </p:cNvSpPr>
          <p:nvPr/>
        </p:nvSpPr>
        <p:spPr>
          <a:xfrm xmlns:a="http://schemas.openxmlformats.org/drawingml/2006/main">
            <a:off x="676656" y="3877056"/>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Activity volumes</a:t>
            </a:r>
            <a:endParaRPr sz="980"/>
          </a:p>
        </p:txBody>
      </p:sp>
      <p:sp>
        <p:nvSpPr>
          <p:cNvPr id="38" name="Text 36">
            <a:extLst xmlns:a="http://schemas.openxmlformats.org/drawingml/2006/main">
              <a:ext uri="{FF2B5EF4-FFF2-40B4-BE49-F238E27FC236}">
                <a16:creationId xmlns:a16="http://schemas.microsoft.com/office/drawing/2014/main" id="{6ACBE38E-46D2-4512-9047-0DE442862D3F}"/>
              </a:ext>
            </a:extLst>
          </p:cNvPr>
          <p:cNvSpPr>
            <a:spLocks xmlns:a="http://schemas.openxmlformats.org/drawingml/2006/main" noGrp="1"/>
          </p:cNvSpPr>
          <p:nvPr/>
        </p:nvSpPr>
        <p:spPr>
          <a:xfrm xmlns:a="http://schemas.openxmlformats.org/drawingml/2006/main">
            <a:off x="3694176" y="3877056"/>
            <a:ext cx="32552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Measures effort rather than outcome; useful diagnostically, misleading as a target</a:t>
            </a:r>
            <a:endParaRPr sz="920"/>
          </a:p>
        </p:txBody>
      </p:sp>
      <p:sp>
        <p:nvSpPr>
          <p:cNvPr id="39" name="Text 37">
            <a:extLst xmlns:a="http://schemas.openxmlformats.org/drawingml/2006/main">
              <a:ext uri="{FF2B5EF4-FFF2-40B4-BE49-F238E27FC236}">
                <a16:creationId xmlns:a16="http://schemas.microsoft.com/office/drawing/2014/main" id="{32D7B134-5F31-41FD-BD47-26C9D3A95F25}"/>
              </a:ext>
            </a:extLst>
          </p:cNvPr>
          <p:cNvSpPr>
            <a:spLocks xmlns:a="http://schemas.openxmlformats.org/drawingml/2006/main" noGrp="1"/>
          </p:cNvSpPr>
          <p:nvPr/>
        </p:nvSpPr>
        <p:spPr>
          <a:xfrm xmlns:a="http://schemas.openxmlformats.org/drawingml/2006/main">
            <a:off x="7260336" y="3877056"/>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None — and harmful if targeted</a:t>
            </a:r>
            <a:endParaRPr sz="920"/>
          </a:p>
        </p:txBody>
      </p:sp>
      <p:sp>
        <p:nvSpPr>
          <p:cNvPr id="40" name="Text 38">
            <a:extLst xmlns:a="http://schemas.openxmlformats.org/drawingml/2006/main">
              <a:ext uri="{FF2B5EF4-FFF2-40B4-BE49-F238E27FC236}">
                <a16:creationId xmlns:a16="http://schemas.microsoft.com/office/drawing/2014/main" id="{A1BF7204-EC6D-488C-A33F-6152F517A715}"/>
              </a:ext>
            </a:extLst>
          </p:cNvPr>
          <p:cNvSpPr>
            <a:spLocks xmlns:a="http://schemas.openxmlformats.org/drawingml/2006/main" noGrp="1"/>
          </p:cNvSpPr>
          <p:nvPr/>
        </p:nvSpPr>
        <p:spPr>
          <a:xfrm xmlns:a="http://schemas.openxmlformats.org/drawingml/2006/main">
            <a:off x="10186416" y="3877056"/>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Negative</a:t>
            </a:r>
            <a:endParaRPr sz="940"/>
          </a:p>
        </p:txBody>
      </p:sp>
      <p:sp>
        <p:nvSpPr>
          <p:cNvPr id="41" name="Shape 39">
            <a:extLst xmlns:a="http://schemas.openxmlformats.org/drawingml/2006/main">
              <a:ext uri="{FF2B5EF4-FFF2-40B4-BE49-F238E27FC236}">
                <a16:creationId xmlns:a16="http://schemas.microsoft.com/office/drawing/2014/main" id="{41D5BB3D-7FDE-48E6-A5CD-7489F6165B83}"/>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62D1F9B2-9A38-419A-8EEE-D6DBD5543BAC}"/>
              </a:ext>
            </a:extLst>
          </p:cNvPr>
          <p:cNvSpPr>
            <a:spLocks xmlns:a="http://schemas.openxmlformats.org/drawingml/2006/main" noGrp="1"/>
          </p:cNvSpPr>
          <p:nvPr/>
        </p:nvSpPr>
        <p:spPr>
          <a:xfrm xmlns:a="http://schemas.openxmlformats.org/drawingml/2006/main">
            <a:off x="566928" y="44439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test</a:t>
            </a:r>
            <a:endParaRPr sz="1100"/>
          </a:p>
        </p:txBody>
      </p:sp>
      <p:sp>
        <p:nvSpPr>
          <p:cNvPr id="43" name="Shape 41">
            <a:extLst xmlns:a="http://schemas.openxmlformats.org/drawingml/2006/main">
              <a:ext uri="{FF2B5EF4-FFF2-40B4-BE49-F238E27FC236}">
                <a16:creationId xmlns:a16="http://schemas.microsoft.com/office/drawing/2014/main" id="{9AB0E73A-52A6-44FD-8F7B-3130B9D7D98D}"/>
              </a:ext>
            </a:extLst>
          </p:cNvPr>
          <p:cNvSpPr>
            <a:spLocks xmlns:a="http://schemas.openxmlformats.org/drawingml/2006/main" noGrp="1"/>
          </p:cNvSpPr>
          <p:nvPr/>
        </p:nvSpPr>
        <p:spPr>
          <a:xfrm xmlns:a="http://schemas.openxmlformats.org/drawingml/2006/main">
            <a:off x="566928" y="4700016"/>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D4CF4124-2F49-4AC5-B383-843C7E7B600D}"/>
              </a:ext>
            </a:extLst>
          </p:cNvPr>
          <p:cNvSpPr>
            <a:spLocks xmlns:a="http://schemas.openxmlformats.org/drawingml/2006/main" noGrp="1"/>
          </p:cNvSpPr>
          <p:nvPr/>
        </p:nvSpPr>
        <p:spPr>
          <a:xfrm xmlns:a="http://schemas.openxmlformats.org/drawingml/2006/main">
            <a:off x="566928" y="4828032"/>
            <a:ext cx="3551834"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 measure changes behaviour when someone's decision, target or compensation depends on it.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Without a consequence even an excellent measure is read once.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That is not a failure of the dashboard — it is a failure to connect it to anything.</a:t>
            </a:r>
            <a:endParaRPr sz="920"/>
          </a:p>
        </p:txBody>
      </p:sp>
      <p:sp>
        <p:nvSpPr>
          <p:cNvPr id="45" name="Text 43">
            <a:extLst xmlns:a="http://schemas.openxmlformats.org/drawingml/2006/main">
              <a:ext uri="{FF2B5EF4-FFF2-40B4-BE49-F238E27FC236}">
                <a16:creationId xmlns:a16="http://schemas.microsoft.com/office/drawing/2014/main" id="{1214BAFE-6735-41DC-ABD6-B4DE1F9AADC2}"/>
              </a:ext>
            </a:extLst>
          </p:cNvPr>
          <p:cNvSpPr>
            <a:spLocks xmlns:a="http://schemas.openxmlformats.org/drawingml/2006/main" noGrp="1"/>
          </p:cNvSpPr>
          <p:nvPr/>
        </p:nvSpPr>
        <p:spPr>
          <a:xfrm xmlns:a="http://schemas.openxmlformats.org/drawingml/2006/main">
            <a:off x="4319930" y="44439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one to watch</a:t>
            </a:r>
            <a:endParaRPr sz="1100"/>
          </a:p>
        </p:txBody>
      </p:sp>
      <p:sp>
        <p:nvSpPr>
          <p:cNvPr id="46" name="Shape 44">
            <a:extLst xmlns:a="http://schemas.openxmlformats.org/drawingml/2006/main">
              <a:ext uri="{FF2B5EF4-FFF2-40B4-BE49-F238E27FC236}">
                <a16:creationId xmlns:a16="http://schemas.microsoft.com/office/drawing/2014/main" id="{FCD6D154-135F-4B33-BC50-A80AD7C5D8EE}"/>
              </a:ext>
            </a:extLst>
          </p:cNvPr>
          <p:cNvSpPr>
            <a:spLocks xmlns:a="http://schemas.openxmlformats.org/drawingml/2006/main" noGrp="1"/>
          </p:cNvSpPr>
          <p:nvPr/>
        </p:nvSpPr>
        <p:spPr>
          <a:xfrm xmlns:a="http://schemas.openxmlformats.org/drawingml/2006/main">
            <a:off x="4319930" y="4700016"/>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ADAADDFB-7EE5-424E-9BA5-217B1DA260AB}"/>
              </a:ext>
            </a:extLst>
          </p:cNvPr>
          <p:cNvSpPr>
            <a:spLocks xmlns:a="http://schemas.openxmlformats.org/drawingml/2006/main" noGrp="1"/>
          </p:cNvSpPr>
          <p:nvPr/>
        </p:nvSpPr>
        <p:spPr>
          <a:xfrm xmlns:a="http://schemas.openxmlformats.org/drawingml/2006/main">
            <a:off x="4319930" y="4828032"/>
            <a:ext cx="3551834"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Activity volumes are the classic trap: easy to measure, satisfying to display, and actively harmful once targeted.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Targeting calls made produces calls made, not revenue — and degrades the data.</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Build it as a diagnostic, never as a target.</a:t>
            </a:r>
            <a:endParaRPr sz="920"/>
          </a:p>
        </p:txBody>
      </p:sp>
      <p:sp>
        <p:nvSpPr>
          <p:cNvPr id="48" name="Text 46">
            <a:extLst xmlns:a="http://schemas.openxmlformats.org/drawingml/2006/main">
              <a:ext uri="{FF2B5EF4-FFF2-40B4-BE49-F238E27FC236}">
                <a16:creationId xmlns:a16="http://schemas.microsoft.com/office/drawing/2014/main" id="{D756FEA4-4C86-4D68-868F-1D58930F65BB}"/>
              </a:ext>
            </a:extLst>
          </p:cNvPr>
          <p:cNvSpPr>
            <a:spLocks xmlns:a="http://schemas.openxmlformats.org/drawingml/2006/main" noGrp="1"/>
          </p:cNvSpPr>
          <p:nvPr/>
        </p:nvSpPr>
        <p:spPr>
          <a:xfrm xmlns:a="http://schemas.openxmlformats.org/drawingml/2006/main">
            <a:off x="8072933" y="44439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What this implies for sequencing</a:t>
            </a:r>
            <a:endParaRPr sz="1100"/>
          </a:p>
        </p:txBody>
      </p:sp>
      <p:sp>
        <p:nvSpPr>
          <p:cNvPr id="49" name="Shape 47">
            <a:extLst xmlns:a="http://schemas.openxmlformats.org/drawingml/2006/main">
              <a:ext uri="{FF2B5EF4-FFF2-40B4-BE49-F238E27FC236}">
                <a16:creationId xmlns:a16="http://schemas.microsoft.com/office/drawing/2014/main" id="{5E0E2CFB-13B6-41E1-9209-C0B58C0E12C1}"/>
              </a:ext>
            </a:extLst>
          </p:cNvPr>
          <p:cNvSpPr>
            <a:spLocks xmlns:a="http://schemas.openxmlformats.org/drawingml/2006/main" noGrp="1"/>
          </p:cNvSpPr>
          <p:nvPr/>
        </p:nvSpPr>
        <p:spPr>
          <a:xfrm xmlns:a="http://schemas.openxmlformats.org/drawingml/2006/main">
            <a:off x="8072933" y="4700016"/>
            <a:ext cx="3551834" cy="20117"/>
          </a:xfrm>
          <a:prstGeom xmlns:a="http://schemas.openxmlformats.org/drawingml/2006/main" prst="rect">
            <a:avLst/>
          </a:prstGeom>
          <a:solidFill xmlns:a="http://schemas.openxmlformats.org/drawingml/2006/main">
            <a:srgbClr val="27685A"/>
          </a:solidFill>
        </p:spPr>
      </p:sp>
      <p:sp>
        <p:nvSpPr>
          <p:cNvPr id="50" name="Text 48">
            <a:extLst xmlns:a="http://schemas.openxmlformats.org/drawingml/2006/main">
              <a:ext uri="{FF2B5EF4-FFF2-40B4-BE49-F238E27FC236}">
                <a16:creationId xmlns:a16="http://schemas.microsoft.com/office/drawing/2014/main" id="{A0001D48-F322-46A9-A5F7-D80EC5210CC4}"/>
              </a:ext>
            </a:extLst>
          </p:cNvPr>
          <p:cNvSpPr>
            <a:spLocks xmlns:a="http://schemas.openxmlformats.org/drawingml/2006/main" noGrp="1"/>
          </p:cNvSpPr>
          <p:nvPr/>
        </p:nvSpPr>
        <p:spPr>
          <a:xfrm xmlns:a="http://schemas.openxmlformats.org/drawingml/2006/main">
            <a:off x="8072933" y="4828032"/>
            <a:ext cx="3551834"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Build the three measures with consequences first, hard as they are.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Descriptive views are easier and are what stakeholders ask for first.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Delivering the easy ones first frames analytics as reporting.</a:t>
            </a:r>
            <a:endParaRPr sz="920"/>
          </a:p>
        </p:txBody>
      </p:sp>
      <p:sp>
        <p:nvSpPr>
          <p:cNvPr id="51" name="Shape 49">
            <a:extLst xmlns:a="http://schemas.openxmlformats.org/drawingml/2006/main">
              <a:ext uri="{FF2B5EF4-FFF2-40B4-BE49-F238E27FC236}">
                <a16:creationId xmlns:a16="http://schemas.microsoft.com/office/drawing/2014/main" id="{AABCF76A-B6D9-4B48-A4C6-CA0EE1C6C7D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E2B7B3C0-8566-4703-9E0E-43FC5923F51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53" name="Text 51">
            <a:extLst xmlns:a="http://schemas.openxmlformats.org/drawingml/2006/main">
              <a:ext uri="{FF2B5EF4-FFF2-40B4-BE49-F238E27FC236}">
                <a16:creationId xmlns:a16="http://schemas.microsoft.com/office/drawing/2014/main" id="{AA5D796F-2638-4D22-8E48-488A1BF4426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419187166"/>
      </p:ext>
    </p:extLst>
  </p:cSld>
</p:sld>
</file>

<file path=ppt/slides/slide20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25082D-F6C5-47A0-9F0E-EE42FF0CFE8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C7CB767B-D187-46EB-95AA-723B5428406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building analytics people actually use</a:t>
            </a:r>
            <a:endParaRPr sz="1900"/>
          </a:p>
        </p:txBody>
      </p:sp>
      <p:sp>
        <p:nvSpPr>
          <p:cNvPr id="4" name="Text 2">
            <a:extLst xmlns:a="http://schemas.openxmlformats.org/drawingml/2006/main">
              <a:ext uri="{FF2B5EF4-FFF2-40B4-BE49-F238E27FC236}">
                <a16:creationId xmlns:a16="http://schemas.microsoft.com/office/drawing/2014/main" id="{D35CBB79-3599-415E-9FB8-7C9C36F77E20}"/>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578631EE-2C4B-435C-962D-53A64918D6DC}"/>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Ask which decision changes, and who takes it</a:t>
            </a:r>
            <a:endParaRPr sz="1200"/>
          </a:p>
        </p:txBody>
      </p:sp>
      <p:sp>
        <p:nvSpPr>
          <p:cNvPr id="6" name="Text 4">
            <a:extLst xmlns:a="http://schemas.openxmlformats.org/drawingml/2006/main">
              <a:ext uri="{FF2B5EF4-FFF2-40B4-BE49-F238E27FC236}">
                <a16:creationId xmlns:a16="http://schemas.microsoft.com/office/drawing/2014/main" id="{02B80E72-4178-4992-8E93-FB09A53CEBF8}"/>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Both, before anything is built. A view that cannot name a decision is a report; a view that cannot name an owner has no maintenance sponsor and will degrade quietly as the definitions around it move.</a:t>
            </a:r>
            <a:endParaRPr sz="1000"/>
          </a:p>
        </p:txBody>
      </p:sp>
      <p:sp>
        <p:nvSpPr>
          <p:cNvPr id="7" name="Shape 5">
            <a:extLst xmlns:a="http://schemas.openxmlformats.org/drawingml/2006/main">
              <a:ext uri="{FF2B5EF4-FFF2-40B4-BE49-F238E27FC236}">
                <a16:creationId xmlns:a16="http://schemas.microsoft.com/office/drawing/2014/main" id="{C8EA835F-418B-4483-9DE3-4156F79DD6A4}"/>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F5CCAD51-57FD-4E26-9CA0-A8B989DE910B}"/>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4E67B329-3031-4333-BA59-6D90C3FB1E51}"/>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Settle the definitions before the first query</a:t>
            </a:r>
            <a:endParaRPr sz="1200"/>
          </a:p>
        </p:txBody>
      </p:sp>
      <p:sp>
        <p:nvSpPr>
          <p:cNvPr id="10" name="Text 8">
            <a:extLst xmlns:a="http://schemas.openxmlformats.org/drawingml/2006/main">
              <a:ext uri="{FF2B5EF4-FFF2-40B4-BE49-F238E27FC236}">
                <a16:creationId xmlns:a16="http://schemas.microsoft.com/office/drawing/2014/main" id="{7A431D37-3DD0-4C5C-96AB-EE3CD3ADD60B}"/>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What a client is and which costs land on it are political questions, not technical ones. Building before they are agreed guarantees that three views will disagree in public six months later.</a:t>
            </a:r>
            <a:endParaRPr sz="1000"/>
          </a:p>
        </p:txBody>
      </p:sp>
      <p:sp>
        <p:nvSpPr>
          <p:cNvPr id="11" name="Shape 9">
            <a:extLst xmlns:a="http://schemas.openxmlformats.org/drawingml/2006/main">
              <a:ext uri="{FF2B5EF4-FFF2-40B4-BE49-F238E27FC236}">
                <a16:creationId xmlns:a16="http://schemas.microsoft.com/office/drawing/2014/main" id="{49C2FA4F-D3A4-4521-9167-7543AC8734F8}"/>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8848AD27-2F22-442F-8A5B-F2AE47C16150}"/>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EB2C5BD0-C376-457F-B960-C8552FA6377F}"/>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Attach a consequence or expect no behaviour change</a:t>
            </a:r>
            <a:endParaRPr sz="1200"/>
          </a:p>
        </p:txBody>
      </p:sp>
      <p:sp>
        <p:nvSpPr>
          <p:cNvPr id="14" name="Text 12">
            <a:extLst xmlns:a="http://schemas.openxmlformats.org/drawingml/2006/main">
              <a:ext uri="{FF2B5EF4-FFF2-40B4-BE49-F238E27FC236}">
                <a16:creationId xmlns:a16="http://schemas.microsoft.com/office/drawing/2014/main" id="{C29B72D2-AA00-4374-B937-A94138102423}"/>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Measures move behaviour when a decision, target or compensation depends on them. Without that, even an excellent measure is read once. And never target an activity volume.</a:t>
            </a:r>
            <a:endParaRPr sz="1000"/>
          </a:p>
        </p:txBody>
      </p:sp>
      <p:sp>
        <p:nvSpPr>
          <p:cNvPr id="15" name="Shape 13">
            <a:extLst xmlns:a="http://schemas.openxmlformats.org/drawingml/2006/main">
              <a:ext uri="{FF2B5EF4-FFF2-40B4-BE49-F238E27FC236}">
                <a16:creationId xmlns:a16="http://schemas.microsoft.com/office/drawing/2014/main" id="{B8039228-1203-4F24-B67B-F1E917A10BE4}"/>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20DB5199-D568-4034-8163-7A003019F6C6}"/>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FC883695-8A27-4525-91A0-066626C032AF}"/>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Change the entry condition, not the estate</a:t>
            </a:r>
            <a:endParaRPr sz="1200"/>
          </a:p>
        </p:txBody>
      </p:sp>
      <p:sp>
        <p:nvSpPr>
          <p:cNvPr id="18" name="Text 16">
            <a:extLst xmlns:a="http://schemas.openxmlformats.org/drawingml/2006/main">
              <a:ext uri="{FF2B5EF4-FFF2-40B4-BE49-F238E27FC236}">
                <a16:creationId xmlns:a16="http://schemas.microsoft.com/office/drawing/2014/main" id="{A14A64CA-0B35-4ACC-AFE1-6DF7DB90E257}"/>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Rationalisation exercises fail and the estate regrows. Requiring a named decision and owner at request, with lapse-by-default review dates, stops the growth without a fight over the existing hundred.</a:t>
            </a:r>
            <a:endParaRPr sz="1000"/>
          </a:p>
        </p:txBody>
      </p:sp>
      <p:sp>
        <p:nvSpPr>
          <p:cNvPr id="19" name="Shape 17">
            <a:extLst xmlns:a="http://schemas.openxmlformats.org/drawingml/2006/main">
              <a:ext uri="{FF2B5EF4-FFF2-40B4-BE49-F238E27FC236}">
                <a16:creationId xmlns:a16="http://schemas.microsoft.com/office/drawing/2014/main" id="{0ADC65C3-6196-48F6-862A-CC6E548517CA}"/>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D82E66D0-1598-45F9-881F-8EE9EBBABDC3}"/>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calculation was never the hard part. Agreeing what a client is, which costs belong to it, and who is accountable for acting on the answer — those are the three decisions that determine whether an analytics layer is used or merely delivered.</a:t>
            </a:r>
            <a:endParaRPr sz="1200"/>
          </a:p>
        </p:txBody>
      </p:sp>
      <p:sp>
        <p:nvSpPr>
          <p:cNvPr id="21" name="Shape 19">
            <a:extLst xmlns:a="http://schemas.openxmlformats.org/drawingml/2006/main">
              <a:ext uri="{FF2B5EF4-FFF2-40B4-BE49-F238E27FC236}">
                <a16:creationId xmlns:a16="http://schemas.microsoft.com/office/drawing/2014/main" id="{DE8AB789-29C1-4370-8E3B-12115E4F24A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914D38F1-1EB4-4FA9-8270-AE0A26101A7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27C35B8B-3720-4748-9D3E-EB383ABE658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214653287"/>
      </p:ext>
    </p:extLst>
  </p:cSld>
</p:sld>
</file>

<file path=ppt/slides/slide20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9BCC5D1-FECF-49D2-A798-2A7E695434CD}"/>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DOMAIN DEEP-DIVE  ·  19 OF 30</a:t>
            </a:r>
            <a:endParaRPr sz="950"/>
          </a:p>
        </p:txBody>
      </p:sp>
      <p:sp>
        <p:nvSpPr>
          <p:cNvPr id="3" name="Text 1">
            <a:extLst xmlns:a="http://schemas.openxmlformats.org/drawingml/2006/main">
              <a:ext uri="{FF2B5EF4-FFF2-40B4-BE49-F238E27FC236}">
                <a16:creationId xmlns:a16="http://schemas.microsoft.com/office/drawing/2014/main" id="{FA33756F-05F5-455A-82E5-FA65C0DE1F30}"/>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Corporate &amp; Institutional Banking</a:t>
            </a:r>
            <a:endParaRPr sz="3800"/>
          </a:p>
        </p:txBody>
      </p:sp>
      <p:sp>
        <p:nvSpPr>
          <p:cNvPr id="4" name="Text 2">
            <a:extLst xmlns:a="http://schemas.openxmlformats.org/drawingml/2006/main">
              <a:ext uri="{FF2B5EF4-FFF2-40B4-BE49-F238E27FC236}">
                <a16:creationId xmlns:a16="http://schemas.microsoft.com/office/drawing/2014/main" id="{4EE4F8CA-4BB7-417D-8684-4EFEDF87CD87}"/>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Group exposure is the hard problem — and it is a data-model problem, not a reporting one</a:t>
            </a:r>
            <a:endParaRPr sz="1800"/>
          </a:p>
        </p:txBody>
      </p:sp>
      <p:sp>
        <p:nvSpPr>
          <p:cNvPr id="5" name="Text 3">
            <a:extLst xmlns:a="http://schemas.openxmlformats.org/drawingml/2006/main">
              <a:ext uri="{FF2B5EF4-FFF2-40B4-BE49-F238E27FC236}">
                <a16:creationId xmlns:a16="http://schemas.microsoft.com/office/drawing/2014/main" id="{45BBFE0A-E875-4D70-9C90-D9170332A1A9}"/>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Every corporate bank can report exposure by counterparty. Far fewer can answer what the group actually owes when the parent, its subsidiaries, its guarantors and its cross-holdings sit in different systems, segments and countries.</a:t>
            </a:r>
            <a:endParaRPr sz="1150"/>
          </a:p>
        </p:txBody>
      </p:sp>
      <p:sp>
        <p:nvSpPr>
          <p:cNvPr id="6" name="Shape 4">
            <a:extLst xmlns:a="http://schemas.openxmlformats.org/drawingml/2006/main">
              <a:ext uri="{FF2B5EF4-FFF2-40B4-BE49-F238E27FC236}">
                <a16:creationId xmlns:a16="http://schemas.microsoft.com/office/drawing/2014/main" id="{4E9EE036-9922-4D30-8ED7-1DC2322A546A}"/>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D76DF98E-EB89-4264-A253-07D827129D81}"/>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8" name="Text 6">
            <a:extLst xmlns:a="http://schemas.openxmlformats.org/drawingml/2006/main">
              <a:ext uri="{FF2B5EF4-FFF2-40B4-BE49-F238E27FC236}">
                <a16:creationId xmlns:a16="http://schemas.microsoft.com/office/drawing/2014/main" id="{9F9F3FF4-12C9-47FA-8A18-0F241CD99D21}"/>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question that is</a:t>
            </a:r>
            <a:endParaRPr sz="900"/>
          </a:p>
          <a:p xmlns:a="http://schemas.openxmlformats.org/drawingml/2006/main">
            <a:pPr marL="0" indent="0">
              <a:lnSpc>
                <a:spcPts val="1100"/>
              </a:lnSpc>
              <a:buNone/>
            </a:pPr>
            <a:r>
              <a:rPr sz="900">
                <a:solidFill>
                  <a:srgbClr val="8FA9C4"/>
                </a:solidFill>
                <a:latin typeface="Arial"/>
                <a:ea typeface="Arial"/>
                <a:cs typeface="Arial"/>
              </a:rPr>
              <a:t>genuinely hard</a:t>
            </a:r>
            <a:endParaRPr sz="900"/>
          </a:p>
        </p:txBody>
      </p:sp>
      <p:sp>
        <p:nvSpPr>
          <p:cNvPr id="9" name="Text 7">
            <a:extLst xmlns:a="http://schemas.openxmlformats.org/drawingml/2006/main">
              <a:ext uri="{FF2B5EF4-FFF2-40B4-BE49-F238E27FC236}">
                <a16:creationId xmlns:a16="http://schemas.microsoft.com/office/drawing/2014/main" id="{053CC3E6-6A9A-4703-94EF-DCA0F3CDDA9F}"/>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10" name="Text 8">
            <a:extLst xmlns:a="http://schemas.openxmlformats.org/drawingml/2006/main">
              <a:ext uri="{FF2B5EF4-FFF2-40B4-BE49-F238E27FC236}">
                <a16:creationId xmlns:a16="http://schemas.microsoft.com/office/drawing/2014/main" id="{09A9C613-318C-4D28-B85F-27076A37001B}"/>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entity relationships</a:t>
            </a:r>
            <a:endParaRPr sz="900"/>
          </a:p>
          <a:p xmlns:a="http://schemas.openxmlformats.org/drawingml/2006/main">
            <a:pPr marL="0" indent="0">
              <a:lnSpc>
                <a:spcPts val="1100"/>
              </a:lnSpc>
              <a:buNone/>
            </a:pPr>
            <a:r>
              <a:rPr sz="900">
                <a:solidFill>
                  <a:srgbClr val="8FA9C4"/>
                </a:solidFill>
                <a:latin typeface="Arial"/>
                <a:ea typeface="Arial"/>
                <a:cs typeface="Arial"/>
              </a:rPr>
              <a:t>that must exist</a:t>
            </a:r>
            <a:endParaRPr sz="900"/>
          </a:p>
        </p:txBody>
      </p:sp>
      <p:sp>
        <p:nvSpPr>
          <p:cNvPr id="11" name="Text 9">
            <a:extLst xmlns:a="http://schemas.openxmlformats.org/drawingml/2006/main">
              <a:ext uri="{FF2B5EF4-FFF2-40B4-BE49-F238E27FC236}">
                <a16:creationId xmlns:a16="http://schemas.microsoft.com/office/drawing/2014/main" id="{3F8AC264-1866-4A39-BC85-0182085478D5}"/>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2" name="Text 10">
            <a:extLst xmlns:a="http://schemas.openxmlformats.org/drawingml/2006/main">
              <a:ext uri="{FF2B5EF4-FFF2-40B4-BE49-F238E27FC236}">
                <a16:creationId xmlns:a16="http://schemas.microsoft.com/office/drawing/2014/main" id="{1C1723DD-A432-4847-8672-AD5A8D255475}"/>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ways the answer</a:t>
            </a:r>
            <a:endParaRPr sz="900"/>
          </a:p>
          <a:p xmlns:a="http://schemas.openxmlformats.org/drawingml/2006/main">
            <a:pPr marL="0" indent="0">
              <a:lnSpc>
                <a:spcPts val="1100"/>
              </a:lnSpc>
              <a:buNone/>
            </a:pPr>
            <a:r>
              <a:rPr sz="900">
                <a:solidFill>
                  <a:srgbClr val="8FA9C4"/>
                </a:solidFill>
                <a:latin typeface="Arial"/>
                <a:ea typeface="Arial"/>
                <a:cs typeface="Arial"/>
              </a:rPr>
              <a:t>silently goes wrong</a:t>
            </a:r>
            <a:endParaRPr sz="900"/>
          </a:p>
        </p:txBody>
      </p:sp>
      <p:sp>
        <p:nvSpPr>
          <p:cNvPr id="13" name="Text 11">
            <a:extLst xmlns:a="http://schemas.openxmlformats.org/drawingml/2006/main">
              <a:ext uri="{FF2B5EF4-FFF2-40B4-BE49-F238E27FC236}">
                <a16:creationId xmlns:a16="http://schemas.microsoft.com/office/drawing/2014/main" id="{C99F6BF1-F530-4A35-BBF7-CD729248DE52}"/>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12</a:t>
            </a:r>
            <a:endParaRPr sz="2600"/>
          </a:p>
        </p:txBody>
      </p:sp>
      <p:sp>
        <p:nvSpPr>
          <p:cNvPr id="14" name="Text 12">
            <a:extLst xmlns:a="http://schemas.openxmlformats.org/drawingml/2006/main">
              <a:ext uri="{FF2B5EF4-FFF2-40B4-BE49-F238E27FC236}">
                <a16:creationId xmlns:a16="http://schemas.microsoft.com/office/drawing/2014/main" id="{8F284C37-D4F0-438B-BE7E-CB0DEA801F57}"/>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countries in the</a:t>
            </a:r>
            <a:endParaRPr sz="900"/>
          </a:p>
          <a:p xmlns:a="http://schemas.openxmlformats.org/drawingml/2006/main">
            <a:pPr marL="0" indent="0">
              <a:lnSpc>
                <a:spcPts val="1100"/>
              </a:lnSpc>
              <a:buNone/>
            </a:pPr>
            <a:r>
              <a:rPr sz="900">
                <a:solidFill>
                  <a:srgbClr val="8FA9C4"/>
                </a:solidFill>
                <a:latin typeface="Arial"/>
                <a:ea typeface="Arial"/>
                <a:cs typeface="Arial"/>
              </a:rPr>
              <a:t>reference deployment</a:t>
            </a:r>
            <a:endParaRPr sz="900"/>
          </a:p>
        </p:txBody>
      </p:sp>
      <p:sp>
        <p:nvSpPr>
          <p:cNvPr id="15" name="Text 13">
            <a:extLst xmlns:a="http://schemas.openxmlformats.org/drawingml/2006/main">
              <a:ext uri="{FF2B5EF4-FFF2-40B4-BE49-F238E27FC236}">
                <a16:creationId xmlns:a16="http://schemas.microsoft.com/office/drawing/2014/main" id="{A11A9260-7F36-4390-8BD7-B9C9CC9E0B00}"/>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$40B+</a:t>
            </a:r>
            <a:endParaRPr sz="2600"/>
          </a:p>
        </p:txBody>
      </p:sp>
      <p:sp>
        <p:nvSpPr>
          <p:cNvPr id="16" name="Text 14">
            <a:extLst xmlns:a="http://schemas.openxmlformats.org/drawingml/2006/main">
              <a:ext uri="{FF2B5EF4-FFF2-40B4-BE49-F238E27FC236}">
                <a16:creationId xmlns:a16="http://schemas.microsoft.com/office/drawing/2014/main" id="{09C033F4-E08D-4891-8C1B-C1DD3AD1967E}"/>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reference asset</a:t>
            </a:r>
            <a:endParaRPr sz="900"/>
          </a:p>
          <a:p xmlns:a="http://schemas.openxmlformats.org/drawingml/2006/main">
            <a:pPr marL="0" indent="0">
              <a:lnSpc>
                <a:spcPts val="1100"/>
              </a:lnSpc>
              <a:buNone/>
            </a:pPr>
            <a:r>
              <a:rPr sz="900">
                <a:solidFill>
                  <a:srgbClr val="8FA9C4"/>
                </a:solidFill>
                <a:latin typeface="Arial"/>
                <a:ea typeface="Arial"/>
                <a:cs typeface="Arial"/>
              </a:rPr>
              <a:t>size</a:t>
            </a:r>
            <a:endParaRPr sz="900"/>
          </a:p>
        </p:txBody>
      </p:sp>
      <p:sp>
        <p:nvSpPr>
          <p:cNvPr id="17" name="Text 15">
            <a:extLst xmlns:a="http://schemas.openxmlformats.org/drawingml/2006/main">
              <a:ext uri="{FF2B5EF4-FFF2-40B4-BE49-F238E27FC236}">
                <a16:creationId xmlns:a16="http://schemas.microsoft.com/office/drawing/2014/main" id="{3CAFF9DC-D349-4AAE-B91D-67A6828B09D6}"/>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8D0C9ED4-0A31-42B5-9E5A-C3D23E0A0795}"/>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reporting layers that</a:t>
            </a:r>
            <a:endParaRPr sz="900"/>
          </a:p>
          <a:p xmlns:a="http://schemas.openxmlformats.org/drawingml/2006/main">
            <a:pPr marL="0" indent="0">
              <a:lnSpc>
                <a:spcPts val="1100"/>
              </a:lnSpc>
              <a:buNone/>
            </a:pPr>
            <a:r>
              <a:rPr sz="900">
                <a:solidFill>
                  <a:srgbClr val="8FA9C4"/>
                </a:solidFill>
                <a:latin typeface="Arial"/>
                <a:ea typeface="Arial"/>
                <a:cs typeface="Arial"/>
              </a:rPr>
              <a:t>fix a bad model</a:t>
            </a:r>
            <a:endParaRPr sz="900"/>
          </a:p>
        </p:txBody>
      </p:sp>
      <p:sp>
        <p:nvSpPr>
          <p:cNvPr id="19" name="Shape 17">
            <a:extLst xmlns:a="http://schemas.openxmlformats.org/drawingml/2006/main">
              <a:ext uri="{FF2B5EF4-FFF2-40B4-BE49-F238E27FC236}">
                <a16:creationId xmlns:a16="http://schemas.microsoft.com/office/drawing/2014/main" id="{D5348609-FDB0-428D-9287-93DE42C03169}"/>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9813C165-3007-4711-909C-46CE93C14309}"/>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DRAWN FROM CORPORATE BANKING DELIVERY  ·  GULF AND REGIONAL INSTITUTIONS</a:t>
            </a:r>
            <a:endParaRPr sz="800"/>
          </a:p>
        </p:txBody>
      </p:sp>
      <p:sp>
        <p:nvSpPr>
          <p:cNvPr id="21" name="Text 19">
            <a:extLst xmlns:a="http://schemas.openxmlformats.org/drawingml/2006/main">
              <a:ext uri="{FF2B5EF4-FFF2-40B4-BE49-F238E27FC236}">
                <a16:creationId xmlns:a16="http://schemas.microsoft.com/office/drawing/2014/main" id="{7FD0C1D7-ACD4-45D9-BDF0-B91C66AFEAB7}"/>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Group hierarchy and related parties    ·    credit committee workflow    ·    multi-country consolidation    ·    exposure roll-up and limits</a:t>
            </a:r>
            <a:endParaRPr sz="1050"/>
          </a:p>
        </p:txBody>
      </p:sp>
      <p:sp>
        <p:nvSpPr>
          <p:cNvPr id="22" name="Text 20">
            <a:extLst xmlns:a="http://schemas.openxmlformats.org/drawingml/2006/main">
              <a:ext uri="{FF2B5EF4-FFF2-40B4-BE49-F238E27FC236}">
                <a16:creationId xmlns:a16="http://schemas.microsoft.com/office/drawing/2014/main" id="{D66D2C24-D7E9-44EC-9222-75723F7D7100}"/>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corporate banking programmes  ·  2018–2023</a:t>
            </a:r>
            <a:endParaRPr sz="1200"/>
          </a:p>
        </p:txBody>
      </p:sp>
      <p:sp>
        <p:nvSpPr>
          <p:cNvPr id="23" name="Text 21">
            <a:extLst xmlns:a="http://schemas.openxmlformats.org/drawingml/2006/main">
              <a:ext uri="{FF2B5EF4-FFF2-40B4-BE49-F238E27FC236}">
                <a16:creationId xmlns:a16="http://schemas.microsoft.com/office/drawing/2014/main" id="{EDDF5532-73CB-4682-816A-EF9483F37704}"/>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client names removed. Reference scale is publicly reported for a comparable deployment; the domain analysis draws on the author's own corporate banking delivery.</a:t>
            </a:r>
            <a:endParaRPr sz="850"/>
          </a:p>
        </p:txBody>
      </p:sp>
    </p:spTree>
    <p:extLst>
      <p:ext uri="{BB962C8B-B14F-4D97-AF65-F5344CB8AC3E}">
        <p14:creationId xmlns:p14="http://schemas.microsoft.com/office/powerpoint/2010/main" val="827128003"/>
      </p:ext>
    </p:extLst>
  </p:cSld>
</p:sld>
</file>

<file path=ppt/slides/slide2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9AF8879-7F5E-42D1-B30E-AFC904F4DAB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12D469B4-C4EC-45CB-95FD-5792CD88E67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Group exposure fails in the data model and gets discovered in the reporting layer —</a:t>
            </a:r>
            <a:endParaRPr sz="1900"/>
          </a:p>
          <a:p xmlns:a="http://schemas.openxmlformats.org/drawingml/2006/main">
            <a:pPr marL="0" indent="0">
              <a:lnSpc>
                <a:spcPts val="2400"/>
              </a:lnSpc>
              <a:buNone/>
            </a:pPr>
            <a:r>
              <a:rPr sz="1900" b="1">
                <a:solidFill>
                  <a:srgbClr val="102A43"/>
                </a:solidFill>
                <a:latin typeface="Arial"/>
                <a:ea typeface="Arial"/>
                <a:cs typeface="Arial"/>
              </a:rPr>
              <a:t>which is why it is usually addressed in exactly the wrong place</a:t>
            </a:r>
            <a:endParaRPr sz="1900"/>
          </a:p>
        </p:txBody>
      </p:sp>
      <p:sp>
        <p:nvSpPr>
          <p:cNvPr id="4" name="Shape 2">
            <a:extLst xmlns:a="http://schemas.openxmlformats.org/drawingml/2006/main">
              <a:ext uri="{FF2B5EF4-FFF2-40B4-BE49-F238E27FC236}">
                <a16:creationId xmlns:a16="http://schemas.microsoft.com/office/drawing/2014/main" id="{D6DDDA25-44DA-4FE9-A42E-6B980F23157D}"/>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4F0D78F8-64E4-452B-BEE8-35648ABDAE9B}"/>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3C64D670-9980-478A-B244-8BA94AF4D78F}"/>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corporate bank needs to answer a simple-sounding question: what is our total exposure to this group? It underpins limit setting, concentration appetite, credit committee decisions and regulatory reporting.</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Every bank has a number. The question is whether it is right.</a:t>
            </a:r>
            <a:endParaRPr sz="980"/>
          </a:p>
        </p:txBody>
      </p:sp>
      <p:sp>
        <p:nvSpPr>
          <p:cNvPr id="7" name="Shape 5">
            <a:extLst xmlns:a="http://schemas.openxmlformats.org/drawingml/2006/main">
              <a:ext uri="{FF2B5EF4-FFF2-40B4-BE49-F238E27FC236}">
                <a16:creationId xmlns:a16="http://schemas.microsoft.com/office/drawing/2014/main" id="{901D7E4C-699E-48A1-8EBD-B8E1AFC00FB5}"/>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BC32EF05-E46C-4F10-B5EC-093693F261A6}"/>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A2584B29-6F55-4E3E-8C64-600AA95CD24E}"/>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number is assembled from facilities booked against legal entities. Getting from those to a group requires knowing which entities belong to which group, who guarantees whom, which cross-holdings create indirect exposure, and how all of that changes over time.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None of that lives in a lending system. It lives in a relationship model that most architectures treat as reference data, maintained manually, and never versioned.</a:t>
            </a:r>
            <a:endParaRPr sz="980"/>
          </a:p>
        </p:txBody>
      </p:sp>
      <p:sp>
        <p:nvSpPr>
          <p:cNvPr id="10" name="Shape 8">
            <a:extLst xmlns:a="http://schemas.openxmlformats.org/drawingml/2006/main">
              <a:ext uri="{FF2B5EF4-FFF2-40B4-BE49-F238E27FC236}">
                <a16:creationId xmlns:a16="http://schemas.microsoft.com/office/drawing/2014/main" id="{95689F06-85DC-4BA7-953E-27FA7E60D234}"/>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C68A95BD-667A-4D37-85FE-0FCD1AD9A196}"/>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position</a:t>
            </a:r>
            <a:endParaRPr sz="1250"/>
          </a:p>
        </p:txBody>
      </p:sp>
      <p:sp>
        <p:nvSpPr>
          <p:cNvPr id="12" name="Text 10">
            <a:extLst xmlns:a="http://schemas.openxmlformats.org/drawingml/2006/main">
              <a:ext uri="{FF2B5EF4-FFF2-40B4-BE49-F238E27FC236}">
                <a16:creationId xmlns:a16="http://schemas.microsoft.com/office/drawing/2014/main" id="{FCDB4F60-89A0-49A3-B9EB-477DD66F1166}"/>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Group exposure is computable only if the entity relationships are first-class, owned, versioned and complete. That is a data-model commitment made early, not a consolidation query written later.</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 reporting layer over an incomplete relationship model does not produce a wrong number that looks wrong. It produces a confident number that is quietly incomplete — which is worse.</a:t>
            </a:r>
            <a:endParaRPr sz="980"/>
          </a:p>
        </p:txBody>
      </p:sp>
      <p:sp>
        <p:nvSpPr>
          <p:cNvPr id="13" name="Text 11">
            <a:extLst xmlns:a="http://schemas.openxmlformats.org/drawingml/2006/main">
              <a:ext uri="{FF2B5EF4-FFF2-40B4-BE49-F238E27FC236}">
                <a16:creationId xmlns:a16="http://schemas.microsoft.com/office/drawing/2014/main" id="{D27D77EE-B492-4C2B-B8DB-F57F77408559}"/>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583F7C5D-F0C0-45FA-B2FE-AE2A3666A184}"/>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6E08553D-043E-4960-8DE9-C157860F9250}"/>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16" name="Text 14">
            <a:extLst xmlns:a="http://schemas.openxmlformats.org/drawingml/2006/main">
              <a:ext uri="{FF2B5EF4-FFF2-40B4-BE49-F238E27FC236}">
                <a16:creationId xmlns:a16="http://schemas.microsoft.com/office/drawing/2014/main" id="{4D070B2B-25A0-49E6-ADBB-2A13AD8CC06D}"/>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relationship types required</a:t>
            </a:r>
            <a:endParaRPr sz="860"/>
          </a:p>
        </p:txBody>
      </p:sp>
      <p:sp>
        <p:nvSpPr>
          <p:cNvPr id="17" name="Shape 15">
            <a:extLst xmlns:a="http://schemas.openxmlformats.org/drawingml/2006/main">
              <a:ext uri="{FF2B5EF4-FFF2-40B4-BE49-F238E27FC236}">
                <a16:creationId xmlns:a16="http://schemas.microsoft.com/office/drawing/2014/main" id="{CD0224E9-CCF2-4350-BC85-72B6E9999021}"/>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0185F0FF-1587-429F-B7B3-3D0B675AE35E}"/>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9" name="Text 17">
            <a:extLst xmlns:a="http://schemas.openxmlformats.org/drawingml/2006/main">
              <a:ext uri="{FF2B5EF4-FFF2-40B4-BE49-F238E27FC236}">
                <a16:creationId xmlns:a16="http://schemas.microsoft.com/office/drawing/2014/main" id="{C187AEBA-013E-49B9-95C9-AC05E890096F}"/>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silent failure modes</a:t>
            </a:r>
            <a:endParaRPr sz="860"/>
          </a:p>
        </p:txBody>
      </p:sp>
      <p:sp>
        <p:nvSpPr>
          <p:cNvPr id="20" name="Shape 18">
            <a:extLst xmlns:a="http://schemas.openxmlformats.org/drawingml/2006/main">
              <a:ext uri="{FF2B5EF4-FFF2-40B4-BE49-F238E27FC236}">
                <a16:creationId xmlns:a16="http://schemas.microsoft.com/office/drawing/2014/main" id="{C7BC36EB-AC43-4B89-A2B9-AE736DE8053C}"/>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A3D510CC-AC5F-4251-9A9A-8579FCAD7263}"/>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2C54F4B8-B69E-44E6-87C3-21CCCA5A3B0B}"/>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owner the model needs</a:t>
            </a:r>
            <a:endParaRPr sz="860"/>
          </a:p>
        </p:txBody>
      </p:sp>
      <p:sp>
        <p:nvSpPr>
          <p:cNvPr id="23" name="Shape 21">
            <a:extLst xmlns:a="http://schemas.openxmlformats.org/drawingml/2006/main">
              <a:ext uri="{FF2B5EF4-FFF2-40B4-BE49-F238E27FC236}">
                <a16:creationId xmlns:a16="http://schemas.microsoft.com/office/drawing/2014/main" id="{0E3D782E-1E95-4479-98E1-54CE0DBE74AF}"/>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B97AFCB9-27B8-4ED7-9851-D00B21479F64}"/>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5" name="Text 23">
            <a:extLst xmlns:a="http://schemas.openxmlformats.org/drawingml/2006/main">
              <a:ext uri="{FF2B5EF4-FFF2-40B4-BE49-F238E27FC236}">
                <a16:creationId xmlns:a16="http://schemas.microsoft.com/office/drawing/2014/main" id="{EE898EC2-9FD8-4AA9-8FF5-80971020BA28}"/>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queries that fix bad data</a:t>
            </a:r>
            <a:endParaRPr sz="860"/>
          </a:p>
        </p:txBody>
      </p:sp>
      <p:sp>
        <p:nvSpPr>
          <p:cNvPr id="26" name="Shape 24">
            <a:extLst xmlns:a="http://schemas.openxmlformats.org/drawingml/2006/main">
              <a:ext uri="{FF2B5EF4-FFF2-40B4-BE49-F238E27FC236}">
                <a16:creationId xmlns:a16="http://schemas.microsoft.com/office/drawing/2014/main" id="{552BE17D-27EB-4FEB-876F-1F6C0763363D}"/>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EC26C967-A0C5-4C08-9BF5-AE36AC30B370}"/>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100%</a:t>
            </a:r>
            <a:endParaRPr sz="2100"/>
          </a:p>
        </p:txBody>
      </p:sp>
      <p:sp>
        <p:nvSpPr>
          <p:cNvPr id="28" name="Text 26">
            <a:extLst xmlns:a="http://schemas.openxmlformats.org/drawingml/2006/main">
              <a:ext uri="{FF2B5EF4-FFF2-40B4-BE49-F238E27FC236}">
                <a16:creationId xmlns:a16="http://schemas.microsoft.com/office/drawing/2014/main" id="{FCD8F83C-9C4C-488C-9344-E6409B090671}"/>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of the model is relationship data</a:t>
            </a:r>
            <a:endParaRPr sz="860"/>
          </a:p>
        </p:txBody>
      </p:sp>
      <p:sp>
        <p:nvSpPr>
          <p:cNvPr id="29" name="Shape 27">
            <a:extLst xmlns:a="http://schemas.openxmlformats.org/drawingml/2006/main">
              <a:ext uri="{FF2B5EF4-FFF2-40B4-BE49-F238E27FC236}">
                <a16:creationId xmlns:a16="http://schemas.microsoft.com/office/drawing/2014/main" id="{3E08AAE5-F547-4DAF-8478-BD75F4C8551F}"/>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54519F55-C86E-45BA-8496-884095508D1A}"/>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FAA5F64D-DCD4-4058-A034-05A262527224}"/>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point-in-time requirement</a:t>
            </a:r>
            <a:endParaRPr sz="860"/>
          </a:p>
        </p:txBody>
      </p:sp>
      <p:sp>
        <p:nvSpPr>
          <p:cNvPr id="32" name="Text 30">
            <a:extLst xmlns:a="http://schemas.openxmlformats.org/drawingml/2006/main">
              <a:ext uri="{FF2B5EF4-FFF2-40B4-BE49-F238E27FC236}">
                <a16:creationId xmlns:a16="http://schemas.microsoft.com/office/drawing/2014/main" id="{3A607CA3-05BD-4745-A569-D4332ED58579}"/>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this is the corporate banking problem:  in retail, exposure aggregates cleanly because a customer is a person and a person is one entity. In corporate, the thing the bank is exposed to is a structure — and structures are not stored by lending systems, which book facilities to counterparties.</a:t>
            </a:r>
            <a:endParaRPr sz="1000"/>
          </a:p>
        </p:txBody>
      </p:sp>
      <p:sp>
        <p:nvSpPr>
          <p:cNvPr id="33" name="Shape 31">
            <a:extLst xmlns:a="http://schemas.openxmlformats.org/drawingml/2006/main">
              <a:ext uri="{FF2B5EF4-FFF2-40B4-BE49-F238E27FC236}">
                <a16:creationId xmlns:a16="http://schemas.microsoft.com/office/drawing/2014/main" id="{0FAAFB1A-9040-4A81-B7DA-A3299621305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47B43651-0A77-4835-86AE-F0FAA0CC8E9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B4E14745-294E-4812-82E2-C727BD4481A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335132268"/>
      </p:ext>
    </p:extLst>
  </p:cSld>
</p:sld>
</file>

<file path=ppt/slides/slide2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1F57EF-55AC-4AC7-9A86-89366BE4E63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87B01D37-1258-4DAB-8010-6EBF24F18E6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This is a domain analysis drawn from my own corporate banking work, with a</a:t>
            </a:r>
            <a:endParaRPr sz="1900"/>
          </a:p>
          <a:p xmlns:a="http://schemas.openxmlformats.org/drawingml/2006/main">
            <a:pPr marL="0" indent="0">
              <a:lnSpc>
                <a:spcPts val="2400"/>
              </a:lnSpc>
              <a:buNone/>
            </a:pPr>
            <a:r>
              <a:rPr sz="1900" b="1">
                <a:solidFill>
                  <a:srgbClr val="102A43"/>
                </a:solidFill>
                <a:latin typeface="Arial"/>
                <a:ea typeface="Arial"/>
                <a:cs typeface="Arial"/>
              </a:rPr>
              <a:t>comparable public deployment used only for scale context</a:t>
            </a:r>
            <a:endParaRPr sz="1900"/>
          </a:p>
        </p:txBody>
      </p:sp>
      <p:sp>
        <p:nvSpPr>
          <p:cNvPr id="4" name="Shape 2">
            <a:extLst xmlns:a="http://schemas.openxmlformats.org/drawingml/2006/main">
              <a:ext uri="{FF2B5EF4-FFF2-40B4-BE49-F238E27FC236}">
                <a16:creationId xmlns:a16="http://schemas.microsoft.com/office/drawing/2014/main" id="{5E21D5B7-F739-45E3-B4AD-EBA5B7CC4389}"/>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F113F288-34DF-472A-92F8-6C5543223F1D}"/>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1531D3EC-FA6D-4FCB-B546-5C8007ACA4AA}"/>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FCB9FDC4-D720-44A9-A928-21A0F1121378}"/>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Reference context</a:t>
            </a:r>
            <a:endParaRPr sz="1200"/>
          </a:p>
        </p:txBody>
      </p:sp>
      <p:sp>
        <p:nvSpPr>
          <p:cNvPr id="8" name="Text 6">
            <a:extLst xmlns:a="http://schemas.openxmlformats.org/drawingml/2006/main">
              <a:ext uri="{FF2B5EF4-FFF2-40B4-BE49-F238E27FC236}">
                <a16:creationId xmlns:a16="http://schemas.microsoft.com/office/drawing/2014/main" id="{6F41A97D-C471-4543-95C6-F09580720FEB}"/>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Scale figures from a comparable Gulf corporate banking deployment, used to establish the size of the problem. Not a client of mine.</a:t>
            </a:r>
            <a:endParaRPr sz="920"/>
          </a:p>
        </p:txBody>
      </p:sp>
      <p:sp>
        <p:nvSpPr>
          <p:cNvPr id="9" name="Shape 7">
            <a:extLst xmlns:a="http://schemas.openxmlformats.org/drawingml/2006/main">
              <a:ext uri="{FF2B5EF4-FFF2-40B4-BE49-F238E27FC236}">
                <a16:creationId xmlns:a16="http://schemas.microsoft.com/office/drawing/2014/main" id="{212F03ED-0DA4-4A79-A825-88855D2911B7}"/>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599CDA5D-10C1-461A-A22E-9ABC455474F1}"/>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$40B+ asset size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12 countries deployed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300+ platform users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10+ systems integrated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Corporate and group 360 scope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Credit committee workflow in scope</a:t>
            </a:r>
            <a:endParaRPr sz="930"/>
          </a:p>
        </p:txBody>
      </p:sp>
      <p:sp>
        <p:nvSpPr>
          <p:cNvPr id="11" name="Shape 9">
            <a:extLst xmlns:a="http://schemas.openxmlformats.org/drawingml/2006/main">
              <a:ext uri="{FF2B5EF4-FFF2-40B4-BE49-F238E27FC236}">
                <a16:creationId xmlns:a16="http://schemas.microsoft.com/office/drawing/2014/main" id="{FD886192-64E9-4E3D-AF01-D67C5A6748A6}"/>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4B3B9D08-A5C9-460B-A6C5-EC014FD8D926}"/>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A569ECAC-C34A-4ED7-8132-F08F1BF8E564}"/>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B9AE8A56-4582-483A-9544-87DBEB335699}"/>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423D5017-AE3D-4FBC-980F-86217672A784}"/>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Corporate and wholesale banking programmes delivered at Gulf and regional institutions between 2018 and 2023.</a:t>
            </a:r>
            <a:endParaRPr sz="920"/>
          </a:p>
        </p:txBody>
      </p:sp>
      <p:sp>
        <p:nvSpPr>
          <p:cNvPr id="16" name="Shape 14">
            <a:extLst xmlns:a="http://schemas.openxmlformats.org/drawingml/2006/main">
              <a:ext uri="{FF2B5EF4-FFF2-40B4-BE49-F238E27FC236}">
                <a16:creationId xmlns:a16="http://schemas.microsoft.com/office/drawing/2014/main" id="{F0BF7E0C-7D3F-465F-A748-F5584088763C}"/>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76FC6073-3E35-449F-A28D-811087B5FC66}"/>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Group and related-party model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Wholesale deal and credit approval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Corporate Client 360 across six countries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Exposure roll-up and limit structures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Credit committee workflow delivery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Related-party data quality assessment</a:t>
            </a:r>
            <a:endParaRPr sz="930"/>
          </a:p>
        </p:txBody>
      </p:sp>
      <p:sp>
        <p:nvSpPr>
          <p:cNvPr id="18" name="Shape 16">
            <a:extLst xmlns:a="http://schemas.openxmlformats.org/drawingml/2006/main">
              <a:ext uri="{FF2B5EF4-FFF2-40B4-BE49-F238E27FC236}">
                <a16:creationId xmlns:a16="http://schemas.microsoft.com/office/drawing/2014/main" id="{F750960F-0FFE-4B2A-AC72-1456DF296B76}"/>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B60B3C73-2BCC-4CFB-B6F3-DDC442A82313}"/>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DCC71A6E-5A0C-4EE8-A35A-DF7A9E24B68D}"/>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2092DA99-980F-4839-8281-E9D1EB3120A3}"/>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356F8D8B-DE58-435F-9E5B-0ACE05B37A07}"/>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Structural examples and failure-mode frequencies illustrate the argument. No real group or exposure appears.</a:t>
            </a:r>
            <a:endParaRPr sz="920"/>
          </a:p>
        </p:txBody>
      </p:sp>
      <p:sp>
        <p:nvSpPr>
          <p:cNvPr id="23" name="Shape 21">
            <a:extLst xmlns:a="http://schemas.openxmlformats.org/drawingml/2006/main">
              <a:ext uri="{FF2B5EF4-FFF2-40B4-BE49-F238E27FC236}">
                <a16:creationId xmlns:a16="http://schemas.microsoft.com/office/drawing/2014/main" id="{99289BDF-8545-4F71-80E8-5074B28F4976}"/>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92FAAD62-7687-4134-A270-F4B0D90E39AA}"/>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Group structure worked example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Failure-mode decomposition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Data completeness illustration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portfolio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0EA81B87-EA57-4721-8591-551AB03E1A84}"/>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903D2866-C558-4406-AA5E-66991AAEAE22}"/>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E6BC44CF-4997-4FA9-B911-C2ECE3D63E4B}"/>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7718CB11-772F-430E-A507-F0278389D94D}"/>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FBC54BA9-6F01-4D2D-B26E-C7DAF417BBE8}"/>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Explicitly excluded. In particular, no delivery claim is made on the reference deployment.</a:t>
            </a:r>
            <a:endParaRPr sz="920"/>
          </a:p>
        </p:txBody>
      </p:sp>
      <p:sp>
        <p:nvSpPr>
          <p:cNvPr id="30" name="Shape 28">
            <a:extLst xmlns:a="http://schemas.openxmlformats.org/drawingml/2006/main">
              <a:ext uri="{FF2B5EF4-FFF2-40B4-BE49-F238E27FC236}">
                <a16:creationId xmlns:a16="http://schemas.microsoft.com/office/drawing/2014/main" id="{90E74553-5D67-4271-9785-802B48CCAA43}"/>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C2FB7105-C4FE-4E95-B578-17422FE4E3EE}"/>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of the reference deployment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client, group or exposure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bank's limit or appetite framework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credit committee decision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Measured business outcomes</a:t>
            </a:r>
            <a:endParaRPr sz="930"/>
          </a:p>
        </p:txBody>
      </p:sp>
      <p:sp>
        <p:nvSpPr>
          <p:cNvPr id="32" name="Shape 30">
            <a:extLst xmlns:a="http://schemas.openxmlformats.org/drawingml/2006/main">
              <a:ext uri="{FF2B5EF4-FFF2-40B4-BE49-F238E27FC236}">
                <a16:creationId xmlns:a16="http://schemas.microsoft.com/office/drawing/2014/main" id="{CCFB2CE7-4D2F-4ABB-B668-F256BBAE371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F27C860B-E2A9-450D-9DB7-7D9F7D7A490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corporate banking delivery record (ownership) · public figures for a comparable deployment (reference scale)</a:t>
            </a:r>
            <a:endParaRPr sz="850"/>
          </a:p>
        </p:txBody>
      </p:sp>
      <p:sp>
        <p:nvSpPr>
          <p:cNvPr id="34" name="Text 32">
            <a:extLst xmlns:a="http://schemas.openxmlformats.org/drawingml/2006/main">
              <a:ext uri="{FF2B5EF4-FFF2-40B4-BE49-F238E27FC236}">
                <a16:creationId xmlns:a16="http://schemas.microsoft.com/office/drawing/2014/main" id="{D13055E9-038B-4524-9BDA-6481DB93CAA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49397228"/>
      </p:ext>
    </p:extLst>
  </p:cSld>
</p:sld>
</file>

<file path=ppt/slides/slide2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EAE2CF1-6DD9-4B2C-8492-C20C42FCA61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QUESTION</a:t>
            </a:r>
            <a:endParaRPr sz="950"/>
          </a:p>
        </p:txBody>
      </p:sp>
      <p:sp>
        <p:nvSpPr>
          <p:cNvPr id="3" name="Text 1">
            <a:extLst xmlns:a="http://schemas.openxmlformats.org/drawingml/2006/main">
              <a:ext uri="{FF2B5EF4-FFF2-40B4-BE49-F238E27FC236}">
                <a16:creationId xmlns:a16="http://schemas.microsoft.com/office/drawing/2014/main" id="{818C3151-C773-4ED3-A385-FE6AF28FB88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relationship types have to exist before the question is answerable — and most</a:t>
            </a:r>
            <a:endParaRPr sz="1900"/>
          </a:p>
          <a:p xmlns:a="http://schemas.openxmlformats.org/drawingml/2006/main">
            <a:pPr marL="0" indent="0">
              <a:lnSpc>
                <a:spcPts val="2400"/>
              </a:lnSpc>
              <a:buNone/>
            </a:pPr>
            <a:r>
              <a:rPr sz="1900" b="1">
                <a:solidFill>
                  <a:srgbClr val="102A43"/>
                </a:solidFill>
                <a:latin typeface="Arial"/>
                <a:ea typeface="Arial"/>
                <a:cs typeface="Arial"/>
              </a:rPr>
              <a:t>architectures model two of them properly</a:t>
            </a:r>
            <a:endParaRPr sz="1900"/>
          </a:p>
        </p:txBody>
      </p:sp>
      <p:sp>
        <p:nvSpPr>
          <p:cNvPr id="4" name="Shape 2">
            <a:extLst xmlns:a="http://schemas.openxmlformats.org/drawingml/2006/main">
              <a:ext uri="{FF2B5EF4-FFF2-40B4-BE49-F238E27FC236}">
                <a16:creationId xmlns:a16="http://schemas.microsoft.com/office/drawing/2014/main" id="{6C2A655C-D8AB-4CD3-B99E-468A69311967}"/>
              </a:ext>
            </a:extLst>
          </p:cNvPr>
          <p:cNvSpPr>
            <a:spLocks xmlns:a="http://schemas.openxmlformats.org/drawingml/2006/main" noGrp="1"/>
          </p:cNvSpPr>
          <p:nvPr/>
        </p:nvSpPr>
        <p:spPr>
          <a:xfrm xmlns:a="http://schemas.openxmlformats.org/drawingml/2006/main">
            <a:off x="566928" y="1335024"/>
            <a:ext cx="2123785" cy="29260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6031B119-D117-4D7D-BC13-63C081D30896}"/>
              </a:ext>
            </a:extLst>
          </p:cNvPr>
          <p:cNvSpPr>
            <a:spLocks xmlns:a="http://schemas.openxmlformats.org/drawingml/2006/main" noGrp="1"/>
          </p:cNvSpPr>
          <p:nvPr/>
        </p:nvSpPr>
        <p:spPr>
          <a:xfrm xmlns:a="http://schemas.openxmlformats.org/drawingml/2006/main">
            <a:off x="749808" y="1499616"/>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Ownership</a:t>
            </a:r>
            <a:endParaRPr sz="1300"/>
          </a:p>
        </p:txBody>
      </p:sp>
      <p:sp>
        <p:nvSpPr>
          <p:cNvPr id="6" name="Text 4">
            <a:extLst xmlns:a="http://schemas.openxmlformats.org/drawingml/2006/main">
              <a:ext uri="{FF2B5EF4-FFF2-40B4-BE49-F238E27FC236}">
                <a16:creationId xmlns:a16="http://schemas.microsoft.com/office/drawing/2014/main" id="{3C53748B-C5E4-4F53-AF24-A5A1602240D1}"/>
              </a:ext>
            </a:extLst>
          </p:cNvPr>
          <p:cNvSpPr>
            <a:spLocks xmlns:a="http://schemas.openxmlformats.org/drawingml/2006/main" noGrp="1"/>
          </p:cNvSpPr>
          <p:nvPr/>
        </p:nvSpPr>
        <p:spPr>
          <a:xfrm xmlns:a="http://schemas.openxmlformats.org/drawingml/2006/main">
            <a:off x="749808" y="1865376"/>
            <a:ext cx="1758025"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Parent to subsidiary, with percentage and effective control. Determines what consolidates into the group at all.</a:t>
            </a:r>
            <a:endParaRPr sz="930"/>
          </a:p>
        </p:txBody>
      </p:sp>
      <p:sp>
        <p:nvSpPr>
          <p:cNvPr id="7" name="Shape 5">
            <a:extLst xmlns:a="http://schemas.openxmlformats.org/drawingml/2006/main">
              <a:ext uri="{FF2B5EF4-FFF2-40B4-BE49-F238E27FC236}">
                <a16:creationId xmlns:a16="http://schemas.microsoft.com/office/drawing/2014/main" id="{B7FBBB2C-9E5A-4EE6-93E3-FB36F9D989CD}"/>
              </a:ext>
            </a:extLst>
          </p:cNvPr>
          <p:cNvSpPr>
            <a:spLocks xmlns:a="http://schemas.openxmlformats.org/drawingml/2006/main" noGrp="1"/>
          </p:cNvSpPr>
          <p:nvPr/>
        </p:nvSpPr>
        <p:spPr>
          <a:xfrm xmlns:a="http://schemas.openxmlformats.org/drawingml/2006/main">
            <a:off x="749808" y="3785616"/>
            <a:ext cx="1758025"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7CB6C812-E8C2-442A-8EA3-E7F331FA2236}"/>
              </a:ext>
            </a:extLst>
          </p:cNvPr>
          <p:cNvSpPr>
            <a:spLocks xmlns:a="http://schemas.openxmlformats.org/drawingml/2006/main" noGrp="1"/>
          </p:cNvSpPr>
          <p:nvPr/>
        </p:nvSpPr>
        <p:spPr>
          <a:xfrm xmlns:a="http://schemas.openxmlformats.org/drawingml/2006/main">
            <a:off x="749808" y="3913632"/>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i="1">
                <a:solidFill>
                  <a:srgbClr val="486581"/>
                </a:solidFill>
                <a:latin typeface="Arial"/>
                <a:ea typeface="Arial"/>
                <a:cs typeface="Arial"/>
              </a:rPr>
              <a:t>Usually modelled</a:t>
            </a:r>
            <a:endParaRPr sz="930"/>
          </a:p>
        </p:txBody>
      </p:sp>
      <p:sp>
        <p:nvSpPr>
          <p:cNvPr id="9" name="Shape 7">
            <a:extLst xmlns:a="http://schemas.openxmlformats.org/drawingml/2006/main">
              <a:ext uri="{FF2B5EF4-FFF2-40B4-BE49-F238E27FC236}">
                <a16:creationId xmlns:a16="http://schemas.microsoft.com/office/drawing/2014/main" id="{5D5C7823-2884-400A-AFF2-32B636B394C4}"/>
              </a:ext>
            </a:extLst>
          </p:cNvPr>
          <p:cNvSpPr>
            <a:spLocks xmlns:a="http://schemas.openxmlformats.org/drawingml/2006/main" noGrp="1"/>
          </p:cNvSpPr>
          <p:nvPr/>
        </p:nvSpPr>
        <p:spPr>
          <a:xfrm xmlns:a="http://schemas.openxmlformats.org/drawingml/2006/main">
            <a:off x="2800441" y="1335024"/>
            <a:ext cx="2123785" cy="2926080"/>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A669C085-7A55-4EFD-BB77-55949E6E504F}"/>
              </a:ext>
            </a:extLst>
          </p:cNvPr>
          <p:cNvSpPr>
            <a:spLocks xmlns:a="http://schemas.openxmlformats.org/drawingml/2006/main" noGrp="1"/>
          </p:cNvSpPr>
          <p:nvPr/>
        </p:nvSpPr>
        <p:spPr>
          <a:xfrm xmlns:a="http://schemas.openxmlformats.org/drawingml/2006/main">
            <a:off x="2983321" y="1499616"/>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Guarantee</a:t>
            </a:r>
            <a:endParaRPr sz="1300"/>
          </a:p>
        </p:txBody>
      </p:sp>
      <p:sp>
        <p:nvSpPr>
          <p:cNvPr id="11" name="Text 9">
            <a:extLst xmlns:a="http://schemas.openxmlformats.org/drawingml/2006/main">
              <a:ext uri="{FF2B5EF4-FFF2-40B4-BE49-F238E27FC236}">
                <a16:creationId xmlns:a16="http://schemas.microsoft.com/office/drawing/2014/main" id="{A693778A-C587-40AC-91D6-1474CC704AD3}"/>
              </a:ext>
            </a:extLst>
          </p:cNvPr>
          <p:cNvSpPr>
            <a:spLocks xmlns:a="http://schemas.openxmlformats.org/drawingml/2006/main" noGrp="1"/>
          </p:cNvSpPr>
          <p:nvPr/>
        </p:nvSpPr>
        <p:spPr>
          <a:xfrm xmlns:a="http://schemas.openxmlformats.org/drawingml/2006/main">
            <a:off x="2983321" y="1865376"/>
            <a:ext cx="1758025"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Who stands behind whose obligation. Creates exposure to an entity that has borrowed nothing.</a:t>
            </a:r>
            <a:endParaRPr sz="930"/>
          </a:p>
        </p:txBody>
      </p:sp>
      <p:sp>
        <p:nvSpPr>
          <p:cNvPr id="12" name="Shape 10">
            <a:extLst xmlns:a="http://schemas.openxmlformats.org/drawingml/2006/main">
              <a:ext uri="{FF2B5EF4-FFF2-40B4-BE49-F238E27FC236}">
                <a16:creationId xmlns:a16="http://schemas.microsoft.com/office/drawing/2014/main" id="{4B03B38C-AEC4-44B8-B797-5D3BF5F908C4}"/>
              </a:ext>
            </a:extLst>
          </p:cNvPr>
          <p:cNvSpPr>
            <a:spLocks xmlns:a="http://schemas.openxmlformats.org/drawingml/2006/main" noGrp="1"/>
          </p:cNvSpPr>
          <p:nvPr/>
        </p:nvSpPr>
        <p:spPr>
          <a:xfrm xmlns:a="http://schemas.openxmlformats.org/drawingml/2006/main">
            <a:off x="2983321" y="3785616"/>
            <a:ext cx="1758025"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C7C77104-CF3A-4698-AFDD-49542C1FE9A3}"/>
              </a:ext>
            </a:extLst>
          </p:cNvPr>
          <p:cNvSpPr>
            <a:spLocks xmlns:a="http://schemas.openxmlformats.org/drawingml/2006/main" noGrp="1"/>
          </p:cNvSpPr>
          <p:nvPr/>
        </p:nvSpPr>
        <p:spPr>
          <a:xfrm xmlns:a="http://schemas.openxmlformats.org/drawingml/2006/main">
            <a:off x="2983321" y="3913632"/>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i="1">
                <a:solidFill>
                  <a:srgbClr val="486581"/>
                </a:solidFill>
                <a:latin typeface="Arial"/>
                <a:ea typeface="Arial"/>
                <a:cs typeface="Arial"/>
              </a:rPr>
              <a:t>Usually modelled</a:t>
            </a:r>
            <a:endParaRPr sz="930"/>
          </a:p>
        </p:txBody>
      </p:sp>
      <p:sp>
        <p:nvSpPr>
          <p:cNvPr id="14" name="Shape 12">
            <a:extLst xmlns:a="http://schemas.openxmlformats.org/drawingml/2006/main">
              <a:ext uri="{FF2B5EF4-FFF2-40B4-BE49-F238E27FC236}">
                <a16:creationId xmlns:a16="http://schemas.microsoft.com/office/drawing/2014/main" id="{E5644B14-758B-420D-A561-C1AD98C5B9DB}"/>
              </a:ext>
            </a:extLst>
          </p:cNvPr>
          <p:cNvSpPr>
            <a:spLocks xmlns:a="http://schemas.openxmlformats.org/drawingml/2006/main" noGrp="1"/>
          </p:cNvSpPr>
          <p:nvPr/>
        </p:nvSpPr>
        <p:spPr>
          <a:xfrm xmlns:a="http://schemas.openxmlformats.org/drawingml/2006/main">
            <a:off x="5033955" y="1335024"/>
            <a:ext cx="2123785" cy="2926080"/>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71ABB77D-3092-4C5A-8315-A70542E0EBB3}"/>
              </a:ext>
            </a:extLst>
          </p:cNvPr>
          <p:cNvSpPr>
            <a:spLocks xmlns:a="http://schemas.openxmlformats.org/drawingml/2006/main" noGrp="1"/>
          </p:cNvSpPr>
          <p:nvPr/>
        </p:nvSpPr>
        <p:spPr>
          <a:xfrm xmlns:a="http://schemas.openxmlformats.org/drawingml/2006/main">
            <a:off x="5216835" y="1499616"/>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Cross-holding</a:t>
            </a:r>
            <a:endParaRPr sz="1300"/>
          </a:p>
        </p:txBody>
      </p:sp>
      <p:sp>
        <p:nvSpPr>
          <p:cNvPr id="16" name="Text 14">
            <a:extLst xmlns:a="http://schemas.openxmlformats.org/drawingml/2006/main">
              <a:ext uri="{FF2B5EF4-FFF2-40B4-BE49-F238E27FC236}">
                <a16:creationId xmlns:a16="http://schemas.microsoft.com/office/drawing/2014/main" id="{046C3D69-3529-42E1-8607-C8C1CE6F4CA7}"/>
              </a:ext>
            </a:extLst>
          </p:cNvPr>
          <p:cNvSpPr>
            <a:spLocks xmlns:a="http://schemas.openxmlformats.org/drawingml/2006/main" noGrp="1"/>
          </p:cNvSpPr>
          <p:nvPr/>
        </p:nvSpPr>
        <p:spPr>
          <a:xfrm xmlns:a="http://schemas.openxmlformats.org/drawingml/2006/main">
            <a:off x="5216835" y="1865376"/>
            <a:ext cx="1758025"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Entities holding stakes in each other, or in a common third party. Creates indirect exposure that no direct query finds.</a:t>
            </a:r>
            <a:endParaRPr sz="930"/>
          </a:p>
        </p:txBody>
      </p:sp>
      <p:sp>
        <p:nvSpPr>
          <p:cNvPr id="17" name="Shape 15">
            <a:extLst xmlns:a="http://schemas.openxmlformats.org/drawingml/2006/main">
              <a:ext uri="{FF2B5EF4-FFF2-40B4-BE49-F238E27FC236}">
                <a16:creationId xmlns:a16="http://schemas.microsoft.com/office/drawing/2014/main" id="{8D9CB006-E30A-4294-ADB9-870A7DB77585}"/>
              </a:ext>
            </a:extLst>
          </p:cNvPr>
          <p:cNvSpPr>
            <a:spLocks xmlns:a="http://schemas.openxmlformats.org/drawingml/2006/main" noGrp="1"/>
          </p:cNvSpPr>
          <p:nvPr/>
        </p:nvSpPr>
        <p:spPr>
          <a:xfrm xmlns:a="http://schemas.openxmlformats.org/drawingml/2006/main">
            <a:off x="5216835" y="3785616"/>
            <a:ext cx="1758025"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6645AE50-9C4D-493E-A13C-F1909F027F53}"/>
              </a:ext>
            </a:extLst>
          </p:cNvPr>
          <p:cNvSpPr>
            <a:spLocks xmlns:a="http://schemas.openxmlformats.org/drawingml/2006/main" noGrp="1"/>
          </p:cNvSpPr>
          <p:nvPr/>
        </p:nvSpPr>
        <p:spPr>
          <a:xfrm xmlns:a="http://schemas.openxmlformats.org/drawingml/2006/main">
            <a:off x="5216835" y="3913632"/>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i="1">
                <a:solidFill>
                  <a:srgbClr val="B04A25"/>
                </a:solidFill>
                <a:latin typeface="Arial"/>
                <a:ea typeface="Arial"/>
                <a:cs typeface="Arial"/>
              </a:rPr>
              <a:t>Rarely modelled</a:t>
            </a:r>
            <a:endParaRPr sz="930"/>
          </a:p>
        </p:txBody>
      </p:sp>
      <p:sp>
        <p:nvSpPr>
          <p:cNvPr id="19" name="Shape 17">
            <a:extLst xmlns:a="http://schemas.openxmlformats.org/drawingml/2006/main">
              <a:ext uri="{FF2B5EF4-FFF2-40B4-BE49-F238E27FC236}">
                <a16:creationId xmlns:a16="http://schemas.microsoft.com/office/drawing/2014/main" id="{614AF5C0-89C9-411A-85F1-8C19A3E63DD1}"/>
              </a:ext>
            </a:extLst>
          </p:cNvPr>
          <p:cNvSpPr>
            <a:spLocks xmlns:a="http://schemas.openxmlformats.org/drawingml/2006/main" noGrp="1"/>
          </p:cNvSpPr>
          <p:nvPr/>
        </p:nvSpPr>
        <p:spPr>
          <a:xfrm xmlns:a="http://schemas.openxmlformats.org/drawingml/2006/main">
            <a:off x="7267468" y="1335024"/>
            <a:ext cx="2123785" cy="2926080"/>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8C145E22-7098-4021-92DF-A89B5286EE32}"/>
              </a:ext>
            </a:extLst>
          </p:cNvPr>
          <p:cNvSpPr>
            <a:spLocks xmlns:a="http://schemas.openxmlformats.org/drawingml/2006/main" noGrp="1"/>
          </p:cNvSpPr>
          <p:nvPr/>
        </p:nvSpPr>
        <p:spPr>
          <a:xfrm xmlns:a="http://schemas.openxmlformats.org/drawingml/2006/main">
            <a:off x="7450348" y="1499616"/>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Common control</a:t>
            </a:r>
            <a:endParaRPr sz="1300"/>
          </a:p>
        </p:txBody>
      </p:sp>
      <p:sp>
        <p:nvSpPr>
          <p:cNvPr id="21" name="Text 19">
            <a:extLst xmlns:a="http://schemas.openxmlformats.org/drawingml/2006/main">
              <a:ext uri="{FF2B5EF4-FFF2-40B4-BE49-F238E27FC236}">
                <a16:creationId xmlns:a16="http://schemas.microsoft.com/office/drawing/2014/main" id="{07E07255-A29D-41D6-8AF8-9B637E4FD439}"/>
              </a:ext>
            </a:extLst>
          </p:cNvPr>
          <p:cNvSpPr>
            <a:spLocks xmlns:a="http://schemas.openxmlformats.org/drawingml/2006/main" noGrp="1"/>
          </p:cNvSpPr>
          <p:nvPr/>
        </p:nvSpPr>
        <p:spPr>
          <a:xfrm xmlns:a="http://schemas.openxmlformats.org/drawingml/2006/main">
            <a:off x="7450348" y="1865376"/>
            <a:ext cx="1758025"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Entities with no ownership link but the same controlling party. Regulators frequently treat these as one exposure.</a:t>
            </a:r>
            <a:endParaRPr sz="930"/>
          </a:p>
        </p:txBody>
      </p:sp>
      <p:sp>
        <p:nvSpPr>
          <p:cNvPr id="22" name="Shape 20">
            <a:extLst xmlns:a="http://schemas.openxmlformats.org/drawingml/2006/main">
              <a:ext uri="{FF2B5EF4-FFF2-40B4-BE49-F238E27FC236}">
                <a16:creationId xmlns:a16="http://schemas.microsoft.com/office/drawing/2014/main" id="{6A24BA4E-271E-4C2F-A52A-A966ADBBFFF5}"/>
              </a:ext>
            </a:extLst>
          </p:cNvPr>
          <p:cNvSpPr>
            <a:spLocks xmlns:a="http://schemas.openxmlformats.org/drawingml/2006/main" noGrp="1"/>
          </p:cNvSpPr>
          <p:nvPr/>
        </p:nvSpPr>
        <p:spPr>
          <a:xfrm xmlns:a="http://schemas.openxmlformats.org/drawingml/2006/main">
            <a:off x="7450348" y="3785616"/>
            <a:ext cx="1758025"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0E96D13F-8713-47C8-9D7B-318F43C0D5DC}"/>
              </a:ext>
            </a:extLst>
          </p:cNvPr>
          <p:cNvSpPr>
            <a:spLocks xmlns:a="http://schemas.openxmlformats.org/drawingml/2006/main" noGrp="1"/>
          </p:cNvSpPr>
          <p:nvPr/>
        </p:nvSpPr>
        <p:spPr>
          <a:xfrm xmlns:a="http://schemas.openxmlformats.org/drawingml/2006/main">
            <a:off x="7450348" y="3913632"/>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i="1">
                <a:solidFill>
                  <a:srgbClr val="B04A25"/>
                </a:solidFill>
                <a:latin typeface="Arial"/>
                <a:ea typeface="Arial"/>
                <a:cs typeface="Arial"/>
              </a:rPr>
              <a:t>Rarely modelled</a:t>
            </a:r>
            <a:endParaRPr sz="930"/>
          </a:p>
        </p:txBody>
      </p:sp>
      <p:sp>
        <p:nvSpPr>
          <p:cNvPr id="24" name="Shape 22">
            <a:extLst xmlns:a="http://schemas.openxmlformats.org/drawingml/2006/main">
              <a:ext uri="{FF2B5EF4-FFF2-40B4-BE49-F238E27FC236}">
                <a16:creationId xmlns:a16="http://schemas.microsoft.com/office/drawing/2014/main" id="{4D72A4C6-8FF6-47D8-94E3-73E816789830}"/>
              </a:ext>
            </a:extLst>
          </p:cNvPr>
          <p:cNvSpPr>
            <a:spLocks xmlns:a="http://schemas.openxmlformats.org/drawingml/2006/main" noGrp="1"/>
          </p:cNvSpPr>
          <p:nvPr/>
        </p:nvSpPr>
        <p:spPr>
          <a:xfrm xmlns:a="http://schemas.openxmlformats.org/drawingml/2006/main">
            <a:off x="9500982" y="1335024"/>
            <a:ext cx="2123785" cy="2926080"/>
          </a:xfrm>
          <a:prstGeom xmlns:a="http://schemas.openxmlformats.org/drawingml/2006/main" prst="rect">
            <a:avLst/>
          </a:prstGeom>
          <a:solidFill xmlns:a="http://schemas.openxmlformats.org/drawingml/2006/main">
            <a:srgbClr val="F3E6E0"/>
          </a:solidFill>
        </p:spPr>
      </p:sp>
      <p:sp>
        <p:nvSpPr>
          <p:cNvPr id="25" name="Text 23">
            <a:extLst xmlns:a="http://schemas.openxmlformats.org/drawingml/2006/main">
              <a:ext uri="{FF2B5EF4-FFF2-40B4-BE49-F238E27FC236}">
                <a16:creationId xmlns:a16="http://schemas.microsoft.com/office/drawing/2014/main" id="{25828FDB-FCB3-404F-8F22-1DF688B052A8}"/>
              </a:ext>
            </a:extLst>
          </p:cNvPr>
          <p:cNvSpPr>
            <a:spLocks xmlns:a="http://schemas.openxmlformats.org/drawingml/2006/main" noGrp="1"/>
          </p:cNvSpPr>
          <p:nvPr/>
        </p:nvSpPr>
        <p:spPr>
          <a:xfrm xmlns:a="http://schemas.openxmlformats.org/drawingml/2006/main">
            <a:off x="9683862" y="1499616"/>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Economic dependence</a:t>
            </a:r>
            <a:endParaRPr sz="1300"/>
          </a:p>
        </p:txBody>
      </p:sp>
      <p:sp>
        <p:nvSpPr>
          <p:cNvPr id="26" name="Text 24">
            <a:extLst xmlns:a="http://schemas.openxmlformats.org/drawingml/2006/main">
              <a:ext uri="{FF2B5EF4-FFF2-40B4-BE49-F238E27FC236}">
                <a16:creationId xmlns:a16="http://schemas.microsoft.com/office/drawing/2014/main" id="{40B7028D-8ED3-4559-8AF2-55B10E87350E}"/>
              </a:ext>
            </a:extLst>
          </p:cNvPr>
          <p:cNvSpPr>
            <a:spLocks xmlns:a="http://schemas.openxmlformats.org/drawingml/2006/main" noGrp="1"/>
          </p:cNvSpPr>
          <p:nvPr/>
        </p:nvSpPr>
        <p:spPr>
          <a:xfrm xmlns:a="http://schemas.openxmlformats.org/drawingml/2006/main">
            <a:off x="9683862" y="1865376"/>
            <a:ext cx="1758025"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486581"/>
                </a:solidFill>
                <a:latin typeface="Arial"/>
                <a:ea typeface="Arial"/>
                <a:cs typeface="Arial"/>
              </a:rPr>
              <a:t>Entities whose viability depends on another — a sole supplier, a single-tenant property, a captive distributor.</a:t>
            </a:r>
            <a:endParaRPr sz="930"/>
          </a:p>
        </p:txBody>
      </p:sp>
      <p:sp>
        <p:nvSpPr>
          <p:cNvPr id="27" name="Shape 25">
            <a:extLst xmlns:a="http://schemas.openxmlformats.org/drawingml/2006/main">
              <a:ext uri="{FF2B5EF4-FFF2-40B4-BE49-F238E27FC236}">
                <a16:creationId xmlns:a16="http://schemas.microsoft.com/office/drawing/2014/main" id="{86F50878-CA8B-40A1-812A-F5775D72FF74}"/>
              </a:ext>
            </a:extLst>
          </p:cNvPr>
          <p:cNvSpPr>
            <a:spLocks xmlns:a="http://schemas.openxmlformats.org/drawingml/2006/main" noGrp="1"/>
          </p:cNvSpPr>
          <p:nvPr/>
        </p:nvSpPr>
        <p:spPr>
          <a:xfrm xmlns:a="http://schemas.openxmlformats.org/drawingml/2006/main">
            <a:off x="9683862" y="3785616"/>
            <a:ext cx="1758025" cy="13716"/>
          </a:xfrm>
          <a:prstGeom xmlns:a="http://schemas.openxmlformats.org/drawingml/2006/main" prst="rect">
            <a:avLst/>
          </a:prstGeom>
          <a:solidFill xmlns:a="http://schemas.openxmlformats.org/drawingml/2006/main">
            <a:srgbClr val="C6D2DE"/>
          </a:solidFill>
        </p:spPr>
      </p:sp>
      <p:sp>
        <p:nvSpPr>
          <p:cNvPr id="28" name="Text 26">
            <a:extLst xmlns:a="http://schemas.openxmlformats.org/drawingml/2006/main">
              <a:ext uri="{FF2B5EF4-FFF2-40B4-BE49-F238E27FC236}">
                <a16:creationId xmlns:a16="http://schemas.microsoft.com/office/drawing/2014/main" id="{825CBDE0-888A-41B6-BFFF-ED0E8C67F309}"/>
              </a:ext>
            </a:extLst>
          </p:cNvPr>
          <p:cNvSpPr>
            <a:spLocks xmlns:a="http://schemas.openxmlformats.org/drawingml/2006/main" noGrp="1"/>
          </p:cNvSpPr>
          <p:nvPr/>
        </p:nvSpPr>
        <p:spPr>
          <a:xfrm xmlns:a="http://schemas.openxmlformats.org/drawingml/2006/main">
            <a:off x="9683862" y="3913632"/>
            <a:ext cx="1758025"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b="1" i="1">
                <a:solidFill>
                  <a:srgbClr val="B04A25"/>
                </a:solidFill>
                <a:latin typeface="Arial"/>
                <a:ea typeface="Arial"/>
                <a:cs typeface="Arial"/>
              </a:rPr>
              <a:t>Almost never modelled</a:t>
            </a:r>
            <a:endParaRPr sz="930"/>
          </a:p>
        </p:txBody>
      </p:sp>
      <p:sp>
        <p:nvSpPr>
          <p:cNvPr id="29" name="Shape 27">
            <a:extLst xmlns:a="http://schemas.openxmlformats.org/drawingml/2006/main">
              <a:ext uri="{FF2B5EF4-FFF2-40B4-BE49-F238E27FC236}">
                <a16:creationId xmlns:a16="http://schemas.microsoft.com/office/drawing/2014/main" id="{AD634542-03CD-4603-AFB7-DC3634B2C10D}"/>
              </a:ext>
            </a:extLst>
          </p:cNvPr>
          <p:cNvSpPr>
            <a:spLocks xmlns:a="http://schemas.openxmlformats.org/drawingml/2006/main" noGrp="1"/>
          </p:cNvSpPr>
          <p:nvPr/>
        </p:nvSpPr>
        <p:spPr>
          <a:xfrm xmlns:a="http://schemas.openxmlformats.org/drawingml/2006/main">
            <a:off x="566928" y="4517136"/>
            <a:ext cx="11057839" cy="1554480"/>
          </a:xfrm>
          <a:prstGeom xmlns:a="http://schemas.openxmlformats.org/drawingml/2006/main" prst="rect">
            <a:avLst/>
          </a:prstGeom>
          <a:solidFill xmlns:a="http://schemas.openxmlformats.org/drawingml/2006/main">
            <a:srgbClr val="F3E6E0"/>
          </a:solidFill>
        </p:spPr>
      </p:sp>
      <p:sp>
        <p:nvSpPr>
          <p:cNvPr id="30" name="Text 28">
            <a:extLst xmlns:a="http://schemas.openxmlformats.org/drawingml/2006/main">
              <a:ext uri="{FF2B5EF4-FFF2-40B4-BE49-F238E27FC236}">
                <a16:creationId xmlns:a16="http://schemas.microsoft.com/office/drawing/2014/main" id="{A56AE2FE-09EA-4707-9024-D1890CE55591}"/>
              </a:ext>
            </a:extLst>
          </p:cNvPr>
          <p:cNvSpPr>
            <a:spLocks xmlns:a="http://schemas.openxmlformats.org/drawingml/2006/main" noGrp="1"/>
          </p:cNvSpPr>
          <p:nvPr/>
        </p:nvSpPr>
        <p:spPr>
          <a:xfrm xmlns:a="http://schemas.openxmlformats.org/drawingml/2006/main">
            <a:off x="804672" y="466344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last three are the ones that matter</a:t>
            </a:r>
            <a:endParaRPr sz="1100"/>
          </a:p>
        </p:txBody>
      </p:sp>
      <p:sp>
        <p:nvSpPr>
          <p:cNvPr id="31" name="Text 29">
            <a:extLst xmlns:a="http://schemas.openxmlformats.org/drawingml/2006/main">
              <a:ext uri="{FF2B5EF4-FFF2-40B4-BE49-F238E27FC236}">
                <a16:creationId xmlns:a16="http://schemas.microsoft.com/office/drawing/2014/main" id="{05777F84-E844-4258-9B5C-3E413BF2A1F2}"/>
              </a:ext>
            </a:extLst>
          </p:cNvPr>
          <p:cNvSpPr>
            <a:spLocks xmlns:a="http://schemas.openxmlformats.org/drawingml/2006/main" noGrp="1"/>
          </p:cNvSpPr>
          <p:nvPr/>
        </p:nvSpPr>
        <p:spPr>
          <a:xfrm xmlns:a="http://schemas.openxmlformats.org/drawingml/2006/main">
            <a:off x="804672" y="4919472"/>
            <a:ext cx="10582351"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Ownership and guarantee are modelled almost everywhere, because they are visible in the credit file and required for booking. They also produce the exposure number that everyone already has.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Cross-holding, common control and economic dependence are the ones that make a group exposure surprising — and a surprising group exposure is the entire point of measuring it. A bank that models only the first two has built a system that confirms what it already believed, at some cost, and will still be surprised in a downturn by exactly the concentrations it was trying to detect.</a:t>
            </a:r>
            <a:endParaRPr sz="990"/>
          </a:p>
        </p:txBody>
      </p:sp>
      <p:sp>
        <p:nvSpPr>
          <p:cNvPr id="32" name="Shape 30">
            <a:extLst xmlns:a="http://schemas.openxmlformats.org/drawingml/2006/main">
              <a:ext uri="{FF2B5EF4-FFF2-40B4-BE49-F238E27FC236}">
                <a16:creationId xmlns:a16="http://schemas.microsoft.com/office/drawing/2014/main" id="{4A5BE97E-4E2D-487E-AE16-FA85B2373B5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2CD97CBD-76ED-49C8-AF38-2953D6288E6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4" name="Text 32">
            <a:extLst xmlns:a="http://schemas.openxmlformats.org/drawingml/2006/main">
              <a:ext uri="{FF2B5EF4-FFF2-40B4-BE49-F238E27FC236}">
                <a16:creationId xmlns:a16="http://schemas.microsoft.com/office/drawing/2014/main" id="{58BBEB7D-4C7C-48BB-B7A3-9AA8F0D7E95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361305131"/>
      </p:ext>
    </p:extLst>
  </p:cSld>
</p:sld>
</file>

<file path=ppt/slides/slide2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C9E8024-B08B-41AE-A485-3A21EB77E34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IT GOES WRONG</a:t>
            </a:r>
            <a:endParaRPr sz="950"/>
          </a:p>
        </p:txBody>
      </p:sp>
      <p:sp>
        <p:nvSpPr>
          <p:cNvPr id="3" name="Text 1">
            <a:extLst xmlns:a="http://schemas.openxmlformats.org/drawingml/2006/main">
              <a:ext uri="{FF2B5EF4-FFF2-40B4-BE49-F238E27FC236}">
                <a16:creationId xmlns:a16="http://schemas.microsoft.com/office/drawing/2014/main" id="{7174D1CB-5C7F-4993-A846-9E456B63F47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failure modes, and none of them produces an error — each produces a confident</a:t>
            </a:r>
            <a:endParaRPr sz="1900"/>
          </a:p>
          <a:p xmlns:a="http://schemas.openxmlformats.org/drawingml/2006/main">
            <a:pPr marL="0" indent="0">
              <a:lnSpc>
                <a:spcPts val="2400"/>
              </a:lnSpc>
              <a:buNone/>
            </a:pPr>
            <a:r>
              <a:rPr sz="1900" b="1">
                <a:solidFill>
                  <a:srgbClr val="102A43"/>
                </a:solidFill>
                <a:latin typeface="Arial"/>
                <a:ea typeface="Arial"/>
                <a:cs typeface="Arial"/>
              </a:rPr>
              <a:t>number that is quietly incomplete</a:t>
            </a:r>
            <a:endParaRPr sz="1900"/>
          </a:p>
        </p:txBody>
      </p:sp>
      <p:sp>
        <p:nvSpPr>
          <p:cNvPr id="4" name="Shape 2">
            <a:extLst xmlns:a="http://schemas.openxmlformats.org/drawingml/2006/main">
              <a:ext uri="{FF2B5EF4-FFF2-40B4-BE49-F238E27FC236}">
                <a16:creationId xmlns:a16="http://schemas.microsoft.com/office/drawing/2014/main" id="{F4FF5807-EB25-48FA-B7A1-A2DABEF2ED7A}"/>
              </a:ext>
            </a:extLst>
          </p:cNvPr>
          <p:cNvSpPr>
            <a:spLocks xmlns:a="http://schemas.openxmlformats.org/drawingml/2006/main" noGrp="1"/>
          </p:cNvSpPr>
          <p:nvPr/>
        </p:nvSpPr>
        <p:spPr>
          <a:xfrm xmlns:a="http://schemas.openxmlformats.org/drawingml/2006/main">
            <a:off x="566928" y="1335024"/>
            <a:ext cx="5327752" cy="197510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0A9B7396-6A90-4A48-8EF9-4920B514867B}"/>
              </a:ext>
            </a:extLst>
          </p:cNvPr>
          <p:cNvSpPr>
            <a:spLocks xmlns:a="http://schemas.openxmlformats.org/drawingml/2006/main" noGrp="1"/>
          </p:cNvSpPr>
          <p:nvPr/>
        </p:nvSpPr>
        <p:spPr>
          <a:xfrm xmlns:a="http://schemas.openxmlformats.org/drawingml/2006/main">
            <a:off x="786384" y="1481328"/>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01</a:t>
            </a:r>
            <a:endParaRPr sz="1500"/>
          </a:p>
        </p:txBody>
      </p:sp>
      <p:sp>
        <p:nvSpPr>
          <p:cNvPr id="6" name="Text 4">
            <a:extLst xmlns:a="http://schemas.openxmlformats.org/drawingml/2006/main">
              <a:ext uri="{FF2B5EF4-FFF2-40B4-BE49-F238E27FC236}">
                <a16:creationId xmlns:a16="http://schemas.microsoft.com/office/drawing/2014/main" id="{857ABDF3-9FFA-406C-8914-B9847EDD64C6}"/>
              </a:ext>
            </a:extLst>
          </p:cNvPr>
          <p:cNvSpPr>
            <a:spLocks xmlns:a="http://schemas.openxmlformats.org/drawingml/2006/main" noGrp="1"/>
          </p:cNvSpPr>
          <p:nvPr/>
        </p:nvSpPr>
        <p:spPr>
          <a:xfrm xmlns:a="http://schemas.openxmlformats.org/drawingml/2006/main">
            <a:off x="1316736" y="1481328"/>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Incomplete relationship data</a:t>
            </a:r>
            <a:endParaRPr sz="1250"/>
          </a:p>
        </p:txBody>
      </p:sp>
      <p:sp>
        <p:nvSpPr>
          <p:cNvPr id="7" name="Text 5">
            <a:extLst xmlns:a="http://schemas.openxmlformats.org/drawingml/2006/main">
              <a:ext uri="{FF2B5EF4-FFF2-40B4-BE49-F238E27FC236}">
                <a16:creationId xmlns:a16="http://schemas.microsoft.com/office/drawing/2014/main" id="{5601A682-0785-4BD9-88CC-CB13B92A94FB}"/>
              </a:ext>
            </a:extLst>
          </p:cNvPr>
          <p:cNvSpPr>
            <a:spLocks xmlns:a="http://schemas.openxmlformats.org/drawingml/2006/main" noGrp="1"/>
          </p:cNvSpPr>
          <p:nvPr/>
        </p:nvSpPr>
        <p:spPr>
          <a:xfrm xmlns:a="http://schemas.openxmlformats.org/drawingml/2006/main">
            <a:off x="786384" y="1847088"/>
            <a:ext cx="4888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model supports cross-holdings; nobody populated them. The query runs, returns a number, and omits an entire limb of the group.</a:t>
            </a:r>
            <a:endParaRPr sz="940"/>
          </a:p>
        </p:txBody>
      </p:sp>
      <p:sp>
        <p:nvSpPr>
          <p:cNvPr id="8" name="Shape 6">
            <a:extLst xmlns:a="http://schemas.openxmlformats.org/drawingml/2006/main">
              <a:ext uri="{FF2B5EF4-FFF2-40B4-BE49-F238E27FC236}">
                <a16:creationId xmlns:a16="http://schemas.microsoft.com/office/drawing/2014/main" id="{A967ED4C-2864-414F-ACD6-A7607387EB85}"/>
              </a:ext>
            </a:extLst>
          </p:cNvPr>
          <p:cNvSpPr>
            <a:spLocks xmlns:a="http://schemas.openxmlformats.org/drawingml/2006/main" noGrp="1"/>
          </p:cNvSpPr>
          <p:nvPr/>
        </p:nvSpPr>
        <p:spPr>
          <a:xfrm xmlns:a="http://schemas.openxmlformats.org/drawingml/2006/main">
            <a:off x="786384" y="2596896"/>
            <a:ext cx="4888840" cy="13716"/>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1B456444-56C7-4DED-A863-1A55CD9239F8}"/>
              </a:ext>
            </a:extLst>
          </p:cNvPr>
          <p:cNvSpPr>
            <a:spLocks xmlns:a="http://schemas.openxmlformats.org/drawingml/2006/main" noGrp="1"/>
          </p:cNvSpPr>
          <p:nvPr/>
        </p:nvSpPr>
        <p:spPr>
          <a:xfrm xmlns:a="http://schemas.openxmlformats.org/drawingml/2006/main">
            <a:off x="786384" y="2706624"/>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TELL</a:t>
            </a:r>
            <a:endParaRPr sz="740"/>
          </a:p>
        </p:txBody>
      </p:sp>
      <p:sp>
        <p:nvSpPr>
          <p:cNvPr id="10" name="Text 8">
            <a:extLst xmlns:a="http://schemas.openxmlformats.org/drawingml/2006/main">
              <a:ext uri="{FF2B5EF4-FFF2-40B4-BE49-F238E27FC236}">
                <a16:creationId xmlns:a16="http://schemas.microsoft.com/office/drawing/2014/main" id="{2B0B9A2F-58E5-47F5-8B3B-4108C5A7432D}"/>
              </a:ext>
            </a:extLst>
          </p:cNvPr>
          <p:cNvSpPr>
            <a:spLocks xmlns:a="http://schemas.openxmlformats.org/drawingml/2006/main" noGrp="1"/>
          </p:cNvSpPr>
          <p:nvPr/>
        </p:nvSpPr>
        <p:spPr>
          <a:xfrm xmlns:a="http://schemas.openxmlformats.org/drawingml/2006/main">
            <a:off x="786384" y="2889504"/>
            <a:ext cx="488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B04A25"/>
                </a:solidFill>
                <a:latin typeface="Arial"/>
                <a:ea typeface="Arial"/>
                <a:cs typeface="Arial"/>
              </a:rPr>
              <a:t>The group exposure equals the sum of the obvious subsidiaries — exactly what a manual analyst would have produced.</a:t>
            </a:r>
            <a:endParaRPr sz="930"/>
          </a:p>
        </p:txBody>
      </p:sp>
      <p:sp>
        <p:nvSpPr>
          <p:cNvPr id="11" name="Shape 9">
            <a:extLst xmlns:a="http://schemas.openxmlformats.org/drawingml/2006/main">
              <a:ext uri="{FF2B5EF4-FFF2-40B4-BE49-F238E27FC236}">
                <a16:creationId xmlns:a16="http://schemas.microsoft.com/office/drawing/2014/main" id="{49B24E5E-F41C-4E64-BD4E-86351B954454}"/>
              </a:ext>
            </a:extLst>
          </p:cNvPr>
          <p:cNvSpPr>
            <a:spLocks xmlns:a="http://schemas.openxmlformats.org/drawingml/2006/main" noGrp="1"/>
          </p:cNvSpPr>
          <p:nvPr/>
        </p:nvSpPr>
        <p:spPr>
          <a:xfrm xmlns:a="http://schemas.openxmlformats.org/drawingml/2006/main">
            <a:off x="6297016" y="1335024"/>
            <a:ext cx="5327752" cy="1975104"/>
          </a:xfrm>
          <a:prstGeom xmlns:a="http://schemas.openxmlformats.org/drawingml/2006/main" prst="rect">
            <a:avLst/>
          </a:prstGeom>
          <a:solidFill xmlns:a="http://schemas.openxmlformats.org/drawingml/2006/main">
            <a:srgbClr val="F0F4F8"/>
          </a:solidFill>
        </p:spPr>
      </p:sp>
      <p:sp>
        <p:nvSpPr>
          <p:cNvPr id="12" name="Text 10">
            <a:extLst xmlns:a="http://schemas.openxmlformats.org/drawingml/2006/main">
              <a:ext uri="{FF2B5EF4-FFF2-40B4-BE49-F238E27FC236}">
                <a16:creationId xmlns:a16="http://schemas.microsoft.com/office/drawing/2014/main" id="{18FF05FC-A31B-44C0-9956-3471C8D3E468}"/>
              </a:ext>
            </a:extLst>
          </p:cNvPr>
          <p:cNvSpPr>
            <a:spLocks xmlns:a="http://schemas.openxmlformats.org/drawingml/2006/main" noGrp="1"/>
          </p:cNvSpPr>
          <p:nvPr/>
        </p:nvSpPr>
        <p:spPr>
          <a:xfrm xmlns:a="http://schemas.openxmlformats.org/drawingml/2006/main">
            <a:off x="6516472" y="1481328"/>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02</a:t>
            </a:r>
            <a:endParaRPr sz="1500"/>
          </a:p>
        </p:txBody>
      </p:sp>
      <p:sp>
        <p:nvSpPr>
          <p:cNvPr id="13" name="Text 11">
            <a:extLst xmlns:a="http://schemas.openxmlformats.org/drawingml/2006/main">
              <a:ext uri="{FF2B5EF4-FFF2-40B4-BE49-F238E27FC236}">
                <a16:creationId xmlns:a16="http://schemas.microsoft.com/office/drawing/2014/main" id="{B07DDE18-E806-44DE-8367-BA42F2A4FF42}"/>
              </a:ext>
            </a:extLst>
          </p:cNvPr>
          <p:cNvSpPr>
            <a:spLocks xmlns:a="http://schemas.openxmlformats.org/drawingml/2006/main" noGrp="1"/>
          </p:cNvSpPr>
          <p:nvPr/>
        </p:nvSpPr>
        <p:spPr>
          <a:xfrm xmlns:a="http://schemas.openxmlformats.org/drawingml/2006/main">
            <a:off x="7046824" y="1481328"/>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Point-in-time collapse</a:t>
            </a:r>
            <a:endParaRPr sz="1250"/>
          </a:p>
        </p:txBody>
      </p:sp>
      <p:sp>
        <p:nvSpPr>
          <p:cNvPr id="14" name="Text 12">
            <a:extLst xmlns:a="http://schemas.openxmlformats.org/drawingml/2006/main">
              <a:ext uri="{FF2B5EF4-FFF2-40B4-BE49-F238E27FC236}">
                <a16:creationId xmlns:a16="http://schemas.microsoft.com/office/drawing/2014/main" id="{4EAC4009-D582-4EA4-AC72-4EFA761B9A59}"/>
              </a:ext>
            </a:extLst>
          </p:cNvPr>
          <p:cNvSpPr>
            <a:spLocks xmlns:a="http://schemas.openxmlformats.org/drawingml/2006/main" noGrp="1"/>
          </p:cNvSpPr>
          <p:nvPr/>
        </p:nvSpPr>
        <p:spPr>
          <a:xfrm xmlns:a="http://schemas.openxmlformats.org/drawingml/2006/main">
            <a:off x="6516472" y="1847088"/>
            <a:ext cx="4888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hierarchy is stored as current state with no history. Last quarter's committee decision cannot be reproduced because the structure has since changed.</a:t>
            </a:r>
            <a:endParaRPr sz="940"/>
          </a:p>
        </p:txBody>
      </p:sp>
      <p:sp>
        <p:nvSpPr>
          <p:cNvPr id="15" name="Shape 13">
            <a:extLst xmlns:a="http://schemas.openxmlformats.org/drawingml/2006/main">
              <a:ext uri="{FF2B5EF4-FFF2-40B4-BE49-F238E27FC236}">
                <a16:creationId xmlns:a16="http://schemas.microsoft.com/office/drawing/2014/main" id="{3EE3B4B5-3E7B-46C4-8BBF-77C5FA0C063D}"/>
              </a:ext>
            </a:extLst>
          </p:cNvPr>
          <p:cNvSpPr>
            <a:spLocks xmlns:a="http://schemas.openxmlformats.org/drawingml/2006/main" noGrp="1"/>
          </p:cNvSpPr>
          <p:nvPr/>
        </p:nvSpPr>
        <p:spPr>
          <a:xfrm xmlns:a="http://schemas.openxmlformats.org/drawingml/2006/main">
            <a:off x="6516472" y="2596896"/>
            <a:ext cx="4888840" cy="13716"/>
          </a:xfrm>
          <a:prstGeom xmlns:a="http://schemas.openxmlformats.org/drawingml/2006/main" prst="rect">
            <a:avLst/>
          </a:prstGeom>
          <a:solidFill xmlns:a="http://schemas.openxmlformats.org/drawingml/2006/main">
            <a:srgbClr val="C6D2DE"/>
          </a:solidFill>
        </p:spPr>
      </p:sp>
      <p:sp>
        <p:nvSpPr>
          <p:cNvPr id="16" name="Text 14">
            <a:extLst xmlns:a="http://schemas.openxmlformats.org/drawingml/2006/main">
              <a:ext uri="{FF2B5EF4-FFF2-40B4-BE49-F238E27FC236}">
                <a16:creationId xmlns:a16="http://schemas.microsoft.com/office/drawing/2014/main" id="{447CED52-3E0C-4E3C-B8B0-F127405A3BC0}"/>
              </a:ext>
            </a:extLst>
          </p:cNvPr>
          <p:cNvSpPr>
            <a:spLocks xmlns:a="http://schemas.openxmlformats.org/drawingml/2006/main" noGrp="1"/>
          </p:cNvSpPr>
          <p:nvPr/>
        </p:nvSpPr>
        <p:spPr>
          <a:xfrm xmlns:a="http://schemas.openxmlformats.org/drawingml/2006/main">
            <a:off x="6516472" y="2706624"/>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TELL</a:t>
            </a:r>
            <a:endParaRPr sz="740"/>
          </a:p>
        </p:txBody>
      </p:sp>
      <p:sp>
        <p:nvSpPr>
          <p:cNvPr id="17" name="Text 15">
            <a:extLst xmlns:a="http://schemas.openxmlformats.org/drawingml/2006/main">
              <a:ext uri="{FF2B5EF4-FFF2-40B4-BE49-F238E27FC236}">
                <a16:creationId xmlns:a16="http://schemas.microsoft.com/office/drawing/2014/main" id="{887EB516-5D51-4ACD-97EA-439B224C8E6C}"/>
              </a:ext>
            </a:extLst>
          </p:cNvPr>
          <p:cNvSpPr>
            <a:spLocks xmlns:a="http://schemas.openxmlformats.org/drawingml/2006/main" noGrp="1"/>
          </p:cNvSpPr>
          <p:nvPr/>
        </p:nvSpPr>
        <p:spPr>
          <a:xfrm xmlns:a="http://schemas.openxmlformats.org/drawingml/2006/main">
            <a:off x="6516472" y="2889504"/>
            <a:ext cx="488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Historical reports cannot be regenerated and nobody can explain why the number moved.</a:t>
            </a:r>
            <a:endParaRPr sz="930"/>
          </a:p>
        </p:txBody>
      </p:sp>
      <p:sp>
        <p:nvSpPr>
          <p:cNvPr id="18" name="Shape 16">
            <a:extLst xmlns:a="http://schemas.openxmlformats.org/drawingml/2006/main">
              <a:ext uri="{FF2B5EF4-FFF2-40B4-BE49-F238E27FC236}">
                <a16:creationId xmlns:a16="http://schemas.microsoft.com/office/drawing/2014/main" id="{E7B85DC3-758D-49E7-8FF0-EF37A2D972E1}"/>
              </a:ext>
            </a:extLst>
          </p:cNvPr>
          <p:cNvSpPr>
            <a:spLocks xmlns:a="http://schemas.openxmlformats.org/drawingml/2006/main" noGrp="1"/>
          </p:cNvSpPr>
          <p:nvPr/>
        </p:nvSpPr>
        <p:spPr>
          <a:xfrm xmlns:a="http://schemas.openxmlformats.org/drawingml/2006/main">
            <a:off x="566928" y="3493008"/>
            <a:ext cx="5327752" cy="1975104"/>
          </a:xfrm>
          <a:prstGeom xmlns:a="http://schemas.openxmlformats.org/drawingml/2006/main" prst="rect">
            <a:avLst/>
          </a:prstGeom>
          <a:solidFill xmlns:a="http://schemas.openxmlformats.org/drawingml/2006/main">
            <a:srgbClr val="F0F4F8"/>
          </a:solidFill>
        </p:spPr>
      </p:sp>
      <p:sp>
        <p:nvSpPr>
          <p:cNvPr id="19" name="Text 17">
            <a:extLst xmlns:a="http://schemas.openxmlformats.org/drawingml/2006/main">
              <a:ext uri="{FF2B5EF4-FFF2-40B4-BE49-F238E27FC236}">
                <a16:creationId xmlns:a16="http://schemas.microsoft.com/office/drawing/2014/main" id="{BE269F34-3560-4803-BE1C-A16BFA97A999}"/>
              </a:ext>
            </a:extLst>
          </p:cNvPr>
          <p:cNvSpPr>
            <a:spLocks xmlns:a="http://schemas.openxmlformats.org/drawingml/2006/main" noGrp="1"/>
          </p:cNvSpPr>
          <p:nvPr/>
        </p:nvSpPr>
        <p:spPr>
          <a:xfrm xmlns:a="http://schemas.openxmlformats.org/drawingml/2006/main">
            <a:off x="786384" y="3639312"/>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03</a:t>
            </a:r>
            <a:endParaRPr sz="1500"/>
          </a:p>
        </p:txBody>
      </p:sp>
      <p:sp>
        <p:nvSpPr>
          <p:cNvPr id="20" name="Text 18">
            <a:extLst xmlns:a="http://schemas.openxmlformats.org/drawingml/2006/main">
              <a:ext uri="{FF2B5EF4-FFF2-40B4-BE49-F238E27FC236}">
                <a16:creationId xmlns:a16="http://schemas.microsoft.com/office/drawing/2014/main" id="{6CC5D35C-9A8F-4E2C-BEF5-12789C0C711B}"/>
              </a:ext>
            </a:extLst>
          </p:cNvPr>
          <p:cNvSpPr>
            <a:spLocks xmlns:a="http://schemas.openxmlformats.org/drawingml/2006/main" noGrp="1"/>
          </p:cNvSpPr>
          <p:nvPr/>
        </p:nvSpPr>
        <p:spPr>
          <a:xfrm xmlns:a="http://schemas.openxmlformats.org/drawingml/2006/main">
            <a:off x="1316736" y="3639312"/>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Two systems, two hierarchies</a:t>
            </a:r>
            <a:endParaRPr sz="1250"/>
          </a:p>
        </p:txBody>
      </p:sp>
      <p:sp>
        <p:nvSpPr>
          <p:cNvPr id="21" name="Text 19">
            <a:extLst xmlns:a="http://schemas.openxmlformats.org/drawingml/2006/main">
              <a:ext uri="{FF2B5EF4-FFF2-40B4-BE49-F238E27FC236}">
                <a16:creationId xmlns:a16="http://schemas.microsoft.com/office/drawing/2014/main" id="{1D2915F1-E84E-48AF-BDBC-B7F875B79F0E}"/>
              </a:ext>
            </a:extLst>
          </p:cNvPr>
          <p:cNvSpPr>
            <a:spLocks xmlns:a="http://schemas.openxmlformats.org/drawingml/2006/main" noGrp="1"/>
          </p:cNvSpPr>
          <p:nvPr/>
        </p:nvSpPr>
        <p:spPr>
          <a:xfrm xmlns:a="http://schemas.openxmlformats.org/drawingml/2006/main">
            <a:off x="786384" y="4005072"/>
            <a:ext cx="4888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lending system and the relationship platform each resolve groups their own way. Both are internally consistent and they disagree.</a:t>
            </a:r>
            <a:endParaRPr sz="940"/>
          </a:p>
        </p:txBody>
      </p:sp>
      <p:sp>
        <p:nvSpPr>
          <p:cNvPr id="22" name="Shape 20">
            <a:extLst xmlns:a="http://schemas.openxmlformats.org/drawingml/2006/main">
              <a:ext uri="{FF2B5EF4-FFF2-40B4-BE49-F238E27FC236}">
                <a16:creationId xmlns:a16="http://schemas.microsoft.com/office/drawing/2014/main" id="{4E7B5332-3B64-4BCD-AD0B-94BB910A54E9}"/>
              </a:ext>
            </a:extLst>
          </p:cNvPr>
          <p:cNvSpPr>
            <a:spLocks xmlns:a="http://schemas.openxmlformats.org/drawingml/2006/main" noGrp="1"/>
          </p:cNvSpPr>
          <p:nvPr/>
        </p:nvSpPr>
        <p:spPr>
          <a:xfrm xmlns:a="http://schemas.openxmlformats.org/drawingml/2006/main">
            <a:off x="786384" y="4754880"/>
            <a:ext cx="4888840"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FE842079-0AB5-41A5-AE09-B8AB042C8EFB}"/>
              </a:ext>
            </a:extLst>
          </p:cNvPr>
          <p:cNvSpPr>
            <a:spLocks xmlns:a="http://schemas.openxmlformats.org/drawingml/2006/main" noGrp="1"/>
          </p:cNvSpPr>
          <p:nvPr/>
        </p:nvSpPr>
        <p:spPr>
          <a:xfrm xmlns:a="http://schemas.openxmlformats.org/drawingml/2006/main">
            <a:off x="786384" y="4864608"/>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TELL</a:t>
            </a:r>
            <a:endParaRPr sz="740"/>
          </a:p>
        </p:txBody>
      </p:sp>
      <p:sp>
        <p:nvSpPr>
          <p:cNvPr id="24" name="Text 22">
            <a:extLst xmlns:a="http://schemas.openxmlformats.org/drawingml/2006/main">
              <a:ext uri="{FF2B5EF4-FFF2-40B4-BE49-F238E27FC236}">
                <a16:creationId xmlns:a16="http://schemas.microsoft.com/office/drawing/2014/main" id="{8B52A1BC-B834-4078-BBDF-04A7BB22BF9B}"/>
              </a:ext>
            </a:extLst>
          </p:cNvPr>
          <p:cNvSpPr>
            <a:spLocks xmlns:a="http://schemas.openxmlformats.org/drawingml/2006/main" noGrp="1"/>
          </p:cNvSpPr>
          <p:nvPr/>
        </p:nvSpPr>
        <p:spPr>
          <a:xfrm xmlns:a="http://schemas.openxmlformats.org/drawingml/2006/main">
            <a:off x="786384" y="5047488"/>
            <a:ext cx="488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Reconciliation differences that shift each month and are attributed to timing.</a:t>
            </a:r>
            <a:endParaRPr sz="930"/>
          </a:p>
        </p:txBody>
      </p:sp>
      <p:sp>
        <p:nvSpPr>
          <p:cNvPr id="25" name="Shape 23">
            <a:extLst xmlns:a="http://schemas.openxmlformats.org/drawingml/2006/main">
              <a:ext uri="{FF2B5EF4-FFF2-40B4-BE49-F238E27FC236}">
                <a16:creationId xmlns:a16="http://schemas.microsoft.com/office/drawing/2014/main" id="{07DECD72-F51D-4285-AB38-FC2B4CE11823}"/>
              </a:ext>
            </a:extLst>
          </p:cNvPr>
          <p:cNvSpPr>
            <a:spLocks xmlns:a="http://schemas.openxmlformats.org/drawingml/2006/main" noGrp="1"/>
          </p:cNvSpPr>
          <p:nvPr/>
        </p:nvSpPr>
        <p:spPr>
          <a:xfrm xmlns:a="http://schemas.openxmlformats.org/drawingml/2006/main">
            <a:off x="6297016" y="3493008"/>
            <a:ext cx="5327752" cy="1975104"/>
          </a:xfrm>
          <a:prstGeom xmlns:a="http://schemas.openxmlformats.org/drawingml/2006/main" prst="rect">
            <a:avLst/>
          </a:prstGeom>
          <a:solidFill xmlns:a="http://schemas.openxmlformats.org/drawingml/2006/main">
            <a:srgbClr val="F3E6E0"/>
          </a:solidFill>
        </p:spPr>
      </p:sp>
      <p:sp>
        <p:nvSpPr>
          <p:cNvPr id="26" name="Text 24">
            <a:extLst xmlns:a="http://schemas.openxmlformats.org/drawingml/2006/main">
              <a:ext uri="{FF2B5EF4-FFF2-40B4-BE49-F238E27FC236}">
                <a16:creationId xmlns:a16="http://schemas.microsoft.com/office/drawing/2014/main" id="{F17CEC2F-A503-4C6B-AD7C-1D0490369C65}"/>
              </a:ext>
            </a:extLst>
          </p:cNvPr>
          <p:cNvSpPr>
            <a:spLocks xmlns:a="http://schemas.openxmlformats.org/drawingml/2006/main" noGrp="1"/>
          </p:cNvSpPr>
          <p:nvPr/>
        </p:nvSpPr>
        <p:spPr>
          <a:xfrm xmlns:a="http://schemas.openxmlformats.org/drawingml/2006/main">
            <a:off x="6516472" y="3639312"/>
            <a:ext cx="457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04</a:t>
            </a:r>
            <a:endParaRPr sz="1500"/>
          </a:p>
        </p:txBody>
      </p:sp>
      <p:sp>
        <p:nvSpPr>
          <p:cNvPr id="27" name="Text 25">
            <a:extLst xmlns:a="http://schemas.openxmlformats.org/drawingml/2006/main">
              <a:ext uri="{FF2B5EF4-FFF2-40B4-BE49-F238E27FC236}">
                <a16:creationId xmlns:a16="http://schemas.microsoft.com/office/drawing/2014/main" id="{EDF8E4E7-C7B9-4432-8A26-B2F0CD25D64D}"/>
              </a:ext>
            </a:extLst>
          </p:cNvPr>
          <p:cNvSpPr>
            <a:spLocks xmlns:a="http://schemas.openxmlformats.org/drawingml/2006/main" noGrp="1"/>
          </p:cNvSpPr>
          <p:nvPr/>
        </p:nvSpPr>
        <p:spPr>
          <a:xfrm xmlns:a="http://schemas.openxmlformats.org/drawingml/2006/main">
            <a:off x="7046824" y="3639312"/>
            <a:ext cx="4358488"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Double counting through guarantees</a:t>
            </a:r>
            <a:endParaRPr sz="1250"/>
          </a:p>
        </p:txBody>
      </p:sp>
      <p:sp>
        <p:nvSpPr>
          <p:cNvPr id="28" name="Text 26">
            <a:extLst xmlns:a="http://schemas.openxmlformats.org/drawingml/2006/main">
              <a:ext uri="{FF2B5EF4-FFF2-40B4-BE49-F238E27FC236}">
                <a16:creationId xmlns:a16="http://schemas.microsoft.com/office/drawing/2014/main" id="{A493A570-A88A-4130-9C7B-239392E2BC9A}"/>
              </a:ext>
            </a:extLst>
          </p:cNvPr>
          <p:cNvSpPr>
            <a:spLocks xmlns:a="http://schemas.openxmlformats.org/drawingml/2006/main" noGrp="1"/>
          </p:cNvSpPr>
          <p:nvPr/>
        </p:nvSpPr>
        <p:spPr>
          <a:xfrm xmlns:a="http://schemas.openxmlformats.org/drawingml/2006/main">
            <a:off x="6516472" y="4005072"/>
            <a:ext cx="488884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A guaranteed facility is counted at the borrower and again at the guarantor, inflating group exposure — or netted incorrectly and understating it.</a:t>
            </a:r>
            <a:endParaRPr sz="940"/>
          </a:p>
        </p:txBody>
      </p:sp>
      <p:sp>
        <p:nvSpPr>
          <p:cNvPr id="29" name="Shape 27">
            <a:extLst xmlns:a="http://schemas.openxmlformats.org/drawingml/2006/main">
              <a:ext uri="{FF2B5EF4-FFF2-40B4-BE49-F238E27FC236}">
                <a16:creationId xmlns:a16="http://schemas.microsoft.com/office/drawing/2014/main" id="{CA97A716-C539-4490-BA5C-9E48934F0827}"/>
              </a:ext>
            </a:extLst>
          </p:cNvPr>
          <p:cNvSpPr>
            <a:spLocks xmlns:a="http://schemas.openxmlformats.org/drawingml/2006/main" noGrp="1"/>
          </p:cNvSpPr>
          <p:nvPr/>
        </p:nvSpPr>
        <p:spPr>
          <a:xfrm xmlns:a="http://schemas.openxmlformats.org/drawingml/2006/main">
            <a:off x="6516472" y="4754880"/>
            <a:ext cx="4888840" cy="13716"/>
          </a:xfrm>
          <a:prstGeom xmlns:a="http://schemas.openxmlformats.org/drawingml/2006/main" prst="rect">
            <a:avLst/>
          </a:prstGeom>
          <a:solidFill xmlns:a="http://schemas.openxmlformats.org/drawingml/2006/main">
            <a:srgbClr val="C6D2DE"/>
          </a:solidFill>
        </p:spPr>
      </p:sp>
      <p:sp>
        <p:nvSpPr>
          <p:cNvPr id="30" name="Text 28">
            <a:extLst xmlns:a="http://schemas.openxmlformats.org/drawingml/2006/main">
              <a:ext uri="{FF2B5EF4-FFF2-40B4-BE49-F238E27FC236}">
                <a16:creationId xmlns:a16="http://schemas.microsoft.com/office/drawing/2014/main" id="{0F073C88-5D4B-472F-8B18-D24DBD77223B}"/>
              </a:ext>
            </a:extLst>
          </p:cNvPr>
          <p:cNvSpPr>
            <a:spLocks xmlns:a="http://schemas.openxmlformats.org/drawingml/2006/main" noGrp="1"/>
          </p:cNvSpPr>
          <p:nvPr/>
        </p:nvSpPr>
        <p:spPr>
          <a:xfrm xmlns:a="http://schemas.openxmlformats.org/drawingml/2006/main">
            <a:off x="6516472" y="4864608"/>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TELL</a:t>
            </a:r>
            <a:endParaRPr sz="740"/>
          </a:p>
        </p:txBody>
      </p:sp>
      <p:sp>
        <p:nvSpPr>
          <p:cNvPr id="31" name="Text 29">
            <a:extLst xmlns:a="http://schemas.openxmlformats.org/drawingml/2006/main">
              <a:ext uri="{FF2B5EF4-FFF2-40B4-BE49-F238E27FC236}">
                <a16:creationId xmlns:a16="http://schemas.microsoft.com/office/drawing/2014/main" id="{95E68E80-CEC9-43F1-8A2F-53CEE9E918A5}"/>
              </a:ext>
            </a:extLst>
          </p:cNvPr>
          <p:cNvSpPr>
            <a:spLocks xmlns:a="http://schemas.openxmlformats.org/drawingml/2006/main" noGrp="1"/>
          </p:cNvSpPr>
          <p:nvPr/>
        </p:nvSpPr>
        <p:spPr>
          <a:xfrm xmlns:a="http://schemas.openxmlformats.org/drawingml/2006/main">
            <a:off x="6516472" y="5047488"/>
            <a:ext cx="48888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B04A25"/>
                </a:solidFill>
                <a:latin typeface="Arial"/>
                <a:ea typeface="Arial"/>
                <a:cs typeface="Arial"/>
              </a:rPr>
              <a:t>Group exposure exceeds the sum of facilities, or falls below the largest single facility.</a:t>
            </a:r>
            <a:endParaRPr sz="930"/>
          </a:p>
        </p:txBody>
      </p:sp>
      <p:sp>
        <p:nvSpPr>
          <p:cNvPr id="32" name="Shape 30">
            <a:extLst xmlns:a="http://schemas.openxmlformats.org/drawingml/2006/main">
              <a:ext uri="{FF2B5EF4-FFF2-40B4-BE49-F238E27FC236}">
                <a16:creationId xmlns:a16="http://schemas.microsoft.com/office/drawing/2014/main" id="{A4A91F43-47FA-44F3-8656-14DA29CB8CDE}"/>
              </a:ext>
            </a:extLst>
          </p:cNvPr>
          <p:cNvSpPr>
            <a:spLocks xmlns:a="http://schemas.openxmlformats.org/drawingml/2006/main" noGrp="1"/>
          </p:cNvSpPr>
          <p:nvPr/>
        </p:nvSpPr>
        <p:spPr>
          <a:xfrm xmlns:a="http://schemas.openxmlformats.org/drawingml/2006/main">
            <a:off x="566928" y="5650992"/>
            <a:ext cx="11057839" cy="420624"/>
          </a:xfrm>
          <a:prstGeom xmlns:a="http://schemas.openxmlformats.org/drawingml/2006/main" prst="rect">
            <a:avLst/>
          </a:prstGeom>
          <a:solidFill xmlns:a="http://schemas.openxmlformats.org/drawingml/2006/main">
            <a:srgbClr val="102A43"/>
          </a:solidFill>
        </p:spPr>
      </p:sp>
      <p:sp>
        <p:nvSpPr>
          <p:cNvPr id="33" name="Text 31">
            <a:extLst xmlns:a="http://schemas.openxmlformats.org/drawingml/2006/main">
              <a:ext uri="{FF2B5EF4-FFF2-40B4-BE49-F238E27FC236}">
                <a16:creationId xmlns:a16="http://schemas.microsoft.com/office/drawing/2014/main" id="{F4BB8691-FC65-4312-9CB3-D632D8F097B0}"/>
              </a:ext>
            </a:extLst>
          </p:cNvPr>
          <p:cNvSpPr>
            <a:spLocks xmlns:a="http://schemas.openxmlformats.org/drawingml/2006/main" noGrp="1"/>
          </p:cNvSpPr>
          <p:nvPr/>
        </p:nvSpPr>
        <p:spPr>
          <a:xfrm xmlns:a="http://schemas.openxmlformats.org/drawingml/2006/main">
            <a:off x="804672" y="5833872"/>
            <a:ext cx="10582351" cy="91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None of the four throws an exception. All four are found by someone who already suspected the number was wrong — which is why the tells matter more than the validations.</a:t>
            </a:r>
            <a:endParaRPr sz="990"/>
          </a:p>
        </p:txBody>
      </p:sp>
      <p:sp>
        <p:nvSpPr>
          <p:cNvPr id="34" name="Shape 32">
            <a:extLst xmlns:a="http://schemas.openxmlformats.org/drawingml/2006/main">
              <a:ext uri="{FF2B5EF4-FFF2-40B4-BE49-F238E27FC236}">
                <a16:creationId xmlns:a16="http://schemas.microsoft.com/office/drawing/2014/main" id="{22957819-0200-4482-A6A2-0CC4FFD7D4F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5" name="Text 33">
            <a:extLst xmlns:a="http://schemas.openxmlformats.org/drawingml/2006/main">
              <a:ext uri="{FF2B5EF4-FFF2-40B4-BE49-F238E27FC236}">
                <a16:creationId xmlns:a16="http://schemas.microsoft.com/office/drawing/2014/main" id="{246CA9F8-5E1B-4362-BEBB-BA718112CDC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6" name="Text 34">
            <a:extLst xmlns:a="http://schemas.openxmlformats.org/drawingml/2006/main">
              <a:ext uri="{FF2B5EF4-FFF2-40B4-BE49-F238E27FC236}">
                <a16:creationId xmlns:a16="http://schemas.microsoft.com/office/drawing/2014/main" id="{62827EB3-C96B-481B-90CA-E8CD2675434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643880559"/>
      </p:ext>
    </p:extLst>
  </p:cSld>
</p:sld>
</file>

<file path=ppt/slides/slide2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75294F6-9D07-48A9-BDDA-7EC1EADA8E9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DESIGN</a:t>
            </a:r>
            <a:endParaRPr sz="950"/>
          </a:p>
        </p:txBody>
      </p:sp>
      <p:sp>
        <p:nvSpPr>
          <p:cNvPr id="3" name="Text 1">
            <a:extLst xmlns:a="http://schemas.openxmlformats.org/drawingml/2006/main">
              <a:ext uri="{FF2B5EF4-FFF2-40B4-BE49-F238E27FC236}">
                <a16:creationId xmlns:a16="http://schemas.microsoft.com/office/drawing/2014/main" id="{7DE47DAF-20A5-4BAD-AD02-C362033B27C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properties make group exposure computable — and five of them are decided in</a:t>
            </a:r>
            <a:endParaRPr sz="1900"/>
          </a:p>
          <a:p xmlns:a="http://schemas.openxmlformats.org/drawingml/2006/main">
            <a:pPr marL="0" indent="0">
              <a:lnSpc>
                <a:spcPts val="2400"/>
              </a:lnSpc>
              <a:buNone/>
            </a:pPr>
            <a:r>
              <a:rPr sz="1900" b="1">
                <a:solidFill>
                  <a:srgbClr val="102A43"/>
                </a:solidFill>
                <a:latin typeface="Arial"/>
                <a:ea typeface="Arial"/>
                <a:cs typeface="Arial"/>
              </a:rPr>
              <a:t>the data model, not in the query</a:t>
            </a:r>
            <a:endParaRPr sz="1900"/>
          </a:p>
        </p:txBody>
      </p:sp>
      <p:sp>
        <p:nvSpPr>
          <p:cNvPr id="4" name="Shape 2">
            <a:extLst xmlns:a="http://schemas.openxmlformats.org/drawingml/2006/main">
              <a:ext uri="{FF2B5EF4-FFF2-40B4-BE49-F238E27FC236}">
                <a16:creationId xmlns:a16="http://schemas.microsoft.com/office/drawing/2014/main" id="{75D4D812-0588-4096-8A52-70F4A5CC460D}"/>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228A6402-91C3-498A-A407-2DAB8EF9CD83}"/>
              </a:ext>
            </a:extLst>
          </p:cNvPr>
          <p:cNvSpPr>
            <a:spLocks xmlns:a="http://schemas.openxmlformats.org/drawingml/2006/main" noGrp="1"/>
          </p:cNvSpPr>
          <p:nvPr/>
        </p:nvSpPr>
        <p:spPr>
          <a:xfrm xmlns:a="http://schemas.openxmlformats.org/drawingml/2006/main">
            <a:off x="676656" y="1444752"/>
            <a:ext cx="28895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Property</a:t>
            </a:r>
            <a:endParaRPr sz="920"/>
          </a:p>
        </p:txBody>
      </p:sp>
      <p:sp>
        <p:nvSpPr>
          <p:cNvPr id="6" name="Text 4">
            <a:extLst xmlns:a="http://schemas.openxmlformats.org/drawingml/2006/main">
              <a:ext uri="{FF2B5EF4-FFF2-40B4-BE49-F238E27FC236}">
                <a16:creationId xmlns:a16="http://schemas.microsoft.com/office/drawing/2014/main" id="{7D39D60D-2ECF-40FB-8636-79276E1C023F}"/>
              </a:ext>
            </a:extLst>
          </p:cNvPr>
          <p:cNvSpPr>
            <a:spLocks xmlns:a="http://schemas.openxmlformats.org/drawingml/2006/main" noGrp="1"/>
          </p:cNvSpPr>
          <p:nvPr/>
        </p:nvSpPr>
        <p:spPr>
          <a:xfrm xmlns:a="http://schemas.openxmlformats.org/drawingml/2006/main">
            <a:off x="3877056" y="1444752"/>
            <a:ext cx="38039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means in practice</a:t>
            </a:r>
            <a:endParaRPr sz="920"/>
          </a:p>
        </p:txBody>
      </p:sp>
      <p:sp>
        <p:nvSpPr>
          <p:cNvPr id="7" name="Text 5">
            <a:extLst xmlns:a="http://schemas.openxmlformats.org/drawingml/2006/main">
              <a:ext uri="{FF2B5EF4-FFF2-40B4-BE49-F238E27FC236}">
                <a16:creationId xmlns:a16="http://schemas.microsoft.com/office/drawing/2014/main" id="{07C2C7C9-219C-4499-B84B-1749B810AAC3}"/>
              </a:ext>
            </a:extLst>
          </p:cNvPr>
          <p:cNvSpPr>
            <a:spLocks xmlns:a="http://schemas.openxmlformats.org/drawingml/2006/main" noGrp="1"/>
          </p:cNvSpPr>
          <p:nvPr/>
        </p:nvSpPr>
        <p:spPr>
          <a:xfrm xmlns:a="http://schemas.openxmlformats.org/drawingml/2006/main">
            <a:off x="7991856" y="1444752"/>
            <a:ext cx="21579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Decided in</a:t>
            </a:r>
            <a:endParaRPr sz="920"/>
          </a:p>
        </p:txBody>
      </p:sp>
      <p:sp>
        <p:nvSpPr>
          <p:cNvPr id="8" name="Text 6">
            <a:extLst xmlns:a="http://schemas.openxmlformats.org/drawingml/2006/main">
              <a:ext uri="{FF2B5EF4-FFF2-40B4-BE49-F238E27FC236}">
                <a16:creationId xmlns:a16="http://schemas.microsoft.com/office/drawing/2014/main" id="{D401D9E4-C2EF-4EB8-A375-3B4EEA32C031}"/>
              </a:ext>
            </a:extLst>
          </p:cNvPr>
          <p:cNvSpPr>
            <a:spLocks xmlns:a="http://schemas.openxmlformats.org/drawingml/2006/main" noGrp="1"/>
          </p:cNvSpPr>
          <p:nvPr/>
        </p:nvSpPr>
        <p:spPr>
          <a:xfrm xmlns:a="http://schemas.openxmlformats.org/drawingml/2006/main">
            <a:off x="10460736" y="1444752"/>
            <a:ext cx="1051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Retrofit?</a:t>
            </a:r>
            <a:endParaRPr sz="920"/>
          </a:p>
        </p:txBody>
      </p:sp>
      <p:sp>
        <p:nvSpPr>
          <p:cNvPr id="9" name="Text 7">
            <a:extLst xmlns:a="http://schemas.openxmlformats.org/drawingml/2006/main">
              <a:ext uri="{FF2B5EF4-FFF2-40B4-BE49-F238E27FC236}">
                <a16:creationId xmlns:a16="http://schemas.microsoft.com/office/drawing/2014/main" id="{2F74E29D-AF2E-4269-972E-A204A2EFD5ED}"/>
              </a:ext>
            </a:extLst>
          </p:cNvPr>
          <p:cNvSpPr>
            <a:spLocks xmlns:a="http://schemas.openxmlformats.org/drawingml/2006/main" noGrp="1"/>
          </p:cNvSpPr>
          <p:nvPr/>
        </p:nvSpPr>
        <p:spPr>
          <a:xfrm xmlns:a="http://schemas.openxmlformats.org/drawingml/2006/main">
            <a:off x="676656" y="1801368"/>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Relationships are first-class</a:t>
            </a:r>
            <a:endParaRPr sz="980"/>
          </a:p>
        </p:txBody>
      </p:sp>
      <p:sp>
        <p:nvSpPr>
          <p:cNvPr id="10" name="Text 8">
            <a:extLst xmlns:a="http://schemas.openxmlformats.org/drawingml/2006/main">
              <a:ext uri="{FF2B5EF4-FFF2-40B4-BE49-F238E27FC236}">
                <a16:creationId xmlns:a16="http://schemas.microsoft.com/office/drawing/2014/main" id="{FCE5D0BD-9EE5-4763-AAEE-FB1B428296B0}"/>
              </a:ext>
            </a:extLst>
          </p:cNvPr>
          <p:cNvSpPr>
            <a:spLocks xmlns:a="http://schemas.openxmlformats.org/drawingml/2006/main" noGrp="1"/>
          </p:cNvSpPr>
          <p:nvPr/>
        </p:nvSpPr>
        <p:spPr>
          <a:xfrm xmlns:a="http://schemas.openxmlformats.org/drawingml/2006/main">
            <a:off x="3877056" y="1801368"/>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Ownership, guarantee, cross-holding and control are objects with their own attributes and lifecycle — not fields on an entity</a:t>
            </a:r>
            <a:endParaRPr sz="930"/>
          </a:p>
        </p:txBody>
      </p:sp>
      <p:sp>
        <p:nvSpPr>
          <p:cNvPr id="11" name="Text 9">
            <a:extLst xmlns:a="http://schemas.openxmlformats.org/drawingml/2006/main">
              <a:ext uri="{FF2B5EF4-FFF2-40B4-BE49-F238E27FC236}">
                <a16:creationId xmlns:a16="http://schemas.microsoft.com/office/drawing/2014/main" id="{DA4A23AC-995F-41C0-80E8-F25AE5A4AF79}"/>
              </a:ext>
            </a:extLst>
          </p:cNvPr>
          <p:cNvSpPr>
            <a:spLocks xmlns:a="http://schemas.openxmlformats.org/drawingml/2006/main" noGrp="1"/>
          </p:cNvSpPr>
          <p:nvPr/>
        </p:nvSpPr>
        <p:spPr>
          <a:xfrm xmlns:a="http://schemas.openxmlformats.org/drawingml/2006/main">
            <a:off x="7991856" y="1801368"/>
            <a:ext cx="21579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Data model</a:t>
            </a:r>
            <a:endParaRPr sz="930"/>
          </a:p>
        </p:txBody>
      </p:sp>
      <p:sp>
        <p:nvSpPr>
          <p:cNvPr id="12" name="Text 10">
            <a:extLst xmlns:a="http://schemas.openxmlformats.org/drawingml/2006/main">
              <a:ext uri="{FF2B5EF4-FFF2-40B4-BE49-F238E27FC236}">
                <a16:creationId xmlns:a16="http://schemas.microsoft.com/office/drawing/2014/main" id="{71681032-8785-49F4-98AB-A2FAC50F4545}"/>
              </a:ext>
            </a:extLst>
          </p:cNvPr>
          <p:cNvSpPr>
            <a:spLocks xmlns:a="http://schemas.openxmlformats.org/drawingml/2006/main" noGrp="1"/>
          </p:cNvSpPr>
          <p:nvPr/>
        </p:nvSpPr>
        <p:spPr>
          <a:xfrm xmlns:a="http://schemas.openxmlformats.org/drawingml/2006/main">
            <a:off x="10460736" y="1801368"/>
            <a:ext cx="1051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Hard</a:t>
            </a:r>
            <a:endParaRPr sz="940"/>
          </a:p>
        </p:txBody>
      </p:sp>
      <p:sp>
        <p:nvSpPr>
          <p:cNvPr id="13" name="Shape 11">
            <a:extLst xmlns:a="http://schemas.openxmlformats.org/drawingml/2006/main">
              <a:ext uri="{FF2B5EF4-FFF2-40B4-BE49-F238E27FC236}">
                <a16:creationId xmlns:a16="http://schemas.microsoft.com/office/drawing/2014/main" id="{DF473AE1-C817-4910-9AE3-2EA464C1E3F5}"/>
              </a:ext>
            </a:extLst>
          </p:cNvPr>
          <p:cNvSpPr>
            <a:spLocks xmlns:a="http://schemas.openxmlformats.org/drawingml/2006/main" noGrp="1"/>
          </p:cNvSpPr>
          <p:nvPr/>
        </p:nvSpPr>
        <p:spPr>
          <a:xfrm xmlns:a="http://schemas.openxmlformats.org/drawingml/2006/main">
            <a:off x="566928" y="2176272"/>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F86D66A8-C3DF-4639-98B5-E4AE863CCFC5}"/>
              </a:ext>
            </a:extLst>
          </p:cNvPr>
          <p:cNvSpPr>
            <a:spLocks xmlns:a="http://schemas.openxmlformats.org/drawingml/2006/main" noGrp="1"/>
          </p:cNvSpPr>
          <p:nvPr/>
        </p:nvSpPr>
        <p:spPr>
          <a:xfrm xmlns:a="http://schemas.openxmlformats.org/drawingml/2006/main">
            <a:off x="566928" y="2176272"/>
            <a:ext cx="11057839" cy="475488"/>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07EB7CD4-8ACE-4353-B8AA-37539F8E9D74}"/>
              </a:ext>
            </a:extLst>
          </p:cNvPr>
          <p:cNvSpPr>
            <a:spLocks xmlns:a="http://schemas.openxmlformats.org/drawingml/2006/main" noGrp="1"/>
          </p:cNvSpPr>
          <p:nvPr/>
        </p:nvSpPr>
        <p:spPr>
          <a:xfrm xmlns:a="http://schemas.openxmlformats.org/drawingml/2006/main">
            <a:off x="676656" y="227685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The hierarchy is versioned</a:t>
            </a:r>
            <a:endParaRPr sz="980"/>
          </a:p>
        </p:txBody>
      </p:sp>
      <p:sp>
        <p:nvSpPr>
          <p:cNvPr id="16" name="Text 14">
            <a:extLst xmlns:a="http://schemas.openxmlformats.org/drawingml/2006/main">
              <a:ext uri="{FF2B5EF4-FFF2-40B4-BE49-F238E27FC236}">
                <a16:creationId xmlns:a16="http://schemas.microsoft.com/office/drawing/2014/main" id="{C16FE31F-9045-4ADC-A382-02D56EAF14DC}"/>
              </a:ext>
            </a:extLst>
          </p:cNvPr>
          <p:cNvSpPr>
            <a:spLocks xmlns:a="http://schemas.openxmlformats.org/drawingml/2006/main" noGrp="1"/>
          </p:cNvSpPr>
          <p:nvPr/>
        </p:nvSpPr>
        <p:spPr>
          <a:xfrm xmlns:a="http://schemas.openxmlformats.org/drawingml/2006/main">
            <a:off x="3877056" y="2276856"/>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Every structure change is a dated event; any past view can be reconstructed exactly</a:t>
            </a:r>
            <a:endParaRPr sz="930"/>
          </a:p>
        </p:txBody>
      </p:sp>
      <p:sp>
        <p:nvSpPr>
          <p:cNvPr id="17" name="Text 15">
            <a:extLst xmlns:a="http://schemas.openxmlformats.org/drawingml/2006/main">
              <a:ext uri="{FF2B5EF4-FFF2-40B4-BE49-F238E27FC236}">
                <a16:creationId xmlns:a16="http://schemas.microsoft.com/office/drawing/2014/main" id="{9EECF0E1-42A5-4692-9913-F2FF2E9A6E82}"/>
              </a:ext>
            </a:extLst>
          </p:cNvPr>
          <p:cNvSpPr>
            <a:spLocks xmlns:a="http://schemas.openxmlformats.org/drawingml/2006/main" noGrp="1"/>
          </p:cNvSpPr>
          <p:nvPr/>
        </p:nvSpPr>
        <p:spPr>
          <a:xfrm xmlns:a="http://schemas.openxmlformats.org/drawingml/2006/main">
            <a:off x="7991856" y="2276856"/>
            <a:ext cx="21579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Data model</a:t>
            </a:r>
            <a:endParaRPr sz="930"/>
          </a:p>
        </p:txBody>
      </p:sp>
      <p:sp>
        <p:nvSpPr>
          <p:cNvPr id="18" name="Text 16">
            <a:extLst xmlns:a="http://schemas.openxmlformats.org/drawingml/2006/main">
              <a:ext uri="{FF2B5EF4-FFF2-40B4-BE49-F238E27FC236}">
                <a16:creationId xmlns:a16="http://schemas.microsoft.com/office/drawing/2014/main" id="{D81AE376-F716-479D-92BD-6B0F17F7496E}"/>
              </a:ext>
            </a:extLst>
          </p:cNvPr>
          <p:cNvSpPr>
            <a:spLocks xmlns:a="http://schemas.openxmlformats.org/drawingml/2006/main" noGrp="1"/>
          </p:cNvSpPr>
          <p:nvPr/>
        </p:nvSpPr>
        <p:spPr>
          <a:xfrm xmlns:a="http://schemas.openxmlformats.org/drawingml/2006/main">
            <a:off x="10460736" y="2276856"/>
            <a:ext cx="1051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Very hard</a:t>
            </a:r>
            <a:endParaRPr sz="940"/>
          </a:p>
        </p:txBody>
      </p:sp>
      <p:sp>
        <p:nvSpPr>
          <p:cNvPr id="19" name="Shape 17">
            <a:extLst xmlns:a="http://schemas.openxmlformats.org/drawingml/2006/main">
              <a:ext uri="{FF2B5EF4-FFF2-40B4-BE49-F238E27FC236}">
                <a16:creationId xmlns:a16="http://schemas.microsoft.com/office/drawing/2014/main" id="{2BB192A4-82A2-4282-AA96-41563E50ACDF}"/>
              </a:ext>
            </a:extLst>
          </p:cNvPr>
          <p:cNvSpPr>
            <a:spLocks xmlns:a="http://schemas.openxmlformats.org/drawingml/2006/main" noGrp="1"/>
          </p:cNvSpPr>
          <p:nvPr/>
        </p:nvSpPr>
        <p:spPr>
          <a:xfrm xmlns:a="http://schemas.openxmlformats.org/drawingml/2006/main">
            <a:off x="566928" y="2651760"/>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D4EDCC2A-6D75-4FF7-982A-79FD4D790DA8}"/>
              </a:ext>
            </a:extLst>
          </p:cNvPr>
          <p:cNvSpPr>
            <a:spLocks xmlns:a="http://schemas.openxmlformats.org/drawingml/2006/main" noGrp="1"/>
          </p:cNvSpPr>
          <p:nvPr/>
        </p:nvSpPr>
        <p:spPr>
          <a:xfrm xmlns:a="http://schemas.openxmlformats.org/drawingml/2006/main">
            <a:off x="676656" y="275234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One resolution authority</a:t>
            </a:r>
            <a:endParaRPr sz="980"/>
          </a:p>
        </p:txBody>
      </p:sp>
      <p:sp>
        <p:nvSpPr>
          <p:cNvPr id="21" name="Text 19">
            <a:extLst xmlns:a="http://schemas.openxmlformats.org/drawingml/2006/main">
              <a:ext uri="{FF2B5EF4-FFF2-40B4-BE49-F238E27FC236}">
                <a16:creationId xmlns:a16="http://schemas.microsoft.com/office/drawing/2014/main" id="{624FD434-D4B8-4AA8-BFCC-B3328386F636}"/>
              </a:ext>
            </a:extLst>
          </p:cNvPr>
          <p:cNvSpPr>
            <a:spLocks xmlns:a="http://schemas.openxmlformats.org/drawingml/2006/main" noGrp="1"/>
          </p:cNvSpPr>
          <p:nvPr/>
        </p:nvSpPr>
        <p:spPr>
          <a:xfrm xmlns:a="http://schemas.openxmlformats.org/drawingml/2006/main">
            <a:off x="3877056" y="2752344"/>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Exactly one system decides which entities form a group; all others consume that answer</a:t>
            </a:r>
            <a:endParaRPr sz="930"/>
          </a:p>
        </p:txBody>
      </p:sp>
      <p:sp>
        <p:nvSpPr>
          <p:cNvPr id="22" name="Text 20">
            <a:extLst xmlns:a="http://schemas.openxmlformats.org/drawingml/2006/main">
              <a:ext uri="{FF2B5EF4-FFF2-40B4-BE49-F238E27FC236}">
                <a16:creationId xmlns:a16="http://schemas.microsoft.com/office/drawing/2014/main" id="{A0B097CA-3B33-48DF-AA68-762B7D1FF88D}"/>
              </a:ext>
            </a:extLst>
          </p:cNvPr>
          <p:cNvSpPr>
            <a:spLocks xmlns:a="http://schemas.openxmlformats.org/drawingml/2006/main" noGrp="1"/>
          </p:cNvSpPr>
          <p:nvPr/>
        </p:nvSpPr>
        <p:spPr>
          <a:xfrm xmlns:a="http://schemas.openxmlformats.org/drawingml/2006/main">
            <a:off x="7991856" y="2752344"/>
            <a:ext cx="21579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Architecture</a:t>
            </a:r>
            <a:endParaRPr sz="930"/>
          </a:p>
        </p:txBody>
      </p:sp>
      <p:sp>
        <p:nvSpPr>
          <p:cNvPr id="23" name="Text 21">
            <a:extLst xmlns:a="http://schemas.openxmlformats.org/drawingml/2006/main">
              <a:ext uri="{FF2B5EF4-FFF2-40B4-BE49-F238E27FC236}">
                <a16:creationId xmlns:a16="http://schemas.microsoft.com/office/drawing/2014/main" id="{EC932425-F43D-4D80-9BE2-21771A9BCAC0}"/>
              </a:ext>
            </a:extLst>
          </p:cNvPr>
          <p:cNvSpPr>
            <a:spLocks xmlns:a="http://schemas.openxmlformats.org/drawingml/2006/main" noGrp="1"/>
          </p:cNvSpPr>
          <p:nvPr/>
        </p:nvSpPr>
        <p:spPr>
          <a:xfrm xmlns:a="http://schemas.openxmlformats.org/drawingml/2006/main">
            <a:off x="10460736" y="2752344"/>
            <a:ext cx="1051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Hard</a:t>
            </a:r>
            <a:endParaRPr sz="940"/>
          </a:p>
        </p:txBody>
      </p:sp>
      <p:sp>
        <p:nvSpPr>
          <p:cNvPr id="24" name="Shape 22">
            <a:extLst xmlns:a="http://schemas.openxmlformats.org/drawingml/2006/main">
              <a:ext uri="{FF2B5EF4-FFF2-40B4-BE49-F238E27FC236}">
                <a16:creationId xmlns:a16="http://schemas.microsoft.com/office/drawing/2014/main" id="{5283935E-D068-4FC6-9A02-E82891F7A4F9}"/>
              </a:ext>
            </a:extLst>
          </p:cNvPr>
          <p:cNvSpPr>
            <a:spLocks xmlns:a="http://schemas.openxmlformats.org/drawingml/2006/main" noGrp="1"/>
          </p:cNvSpPr>
          <p:nvPr/>
        </p:nvSpPr>
        <p:spPr>
          <a:xfrm xmlns:a="http://schemas.openxmlformats.org/drawingml/2006/main">
            <a:off x="566928" y="3127248"/>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C1BEB346-EA7B-4906-A33E-195F490D3EB5}"/>
              </a:ext>
            </a:extLst>
          </p:cNvPr>
          <p:cNvSpPr>
            <a:spLocks xmlns:a="http://schemas.openxmlformats.org/drawingml/2006/main" noGrp="1"/>
          </p:cNvSpPr>
          <p:nvPr/>
        </p:nvSpPr>
        <p:spPr>
          <a:xfrm xmlns:a="http://schemas.openxmlformats.org/drawingml/2006/main">
            <a:off x="566928" y="3127248"/>
            <a:ext cx="11057839" cy="475488"/>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F8666EE9-904E-4B62-ADAE-D901BEBFBD26}"/>
              </a:ext>
            </a:extLst>
          </p:cNvPr>
          <p:cNvSpPr>
            <a:spLocks xmlns:a="http://schemas.openxmlformats.org/drawingml/2006/main" noGrp="1"/>
          </p:cNvSpPr>
          <p:nvPr/>
        </p:nvSpPr>
        <p:spPr>
          <a:xfrm xmlns:a="http://schemas.openxmlformats.org/drawingml/2006/main">
            <a:off x="676656" y="3227832"/>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Exposure is typed</a:t>
            </a:r>
            <a:endParaRPr sz="980"/>
          </a:p>
        </p:txBody>
      </p:sp>
      <p:sp>
        <p:nvSpPr>
          <p:cNvPr id="27" name="Text 25">
            <a:extLst xmlns:a="http://schemas.openxmlformats.org/drawingml/2006/main">
              <a:ext uri="{FF2B5EF4-FFF2-40B4-BE49-F238E27FC236}">
                <a16:creationId xmlns:a16="http://schemas.microsoft.com/office/drawing/2014/main" id="{3A9CE819-70BA-4D08-8BBB-D18C27AA4A8B}"/>
              </a:ext>
            </a:extLst>
          </p:cNvPr>
          <p:cNvSpPr>
            <a:spLocks xmlns:a="http://schemas.openxmlformats.org/drawingml/2006/main" noGrp="1"/>
          </p:cNvSpPr>
          <p:nvPr/>
        </p:nvSpPr>
        <p:spPr>
          <a:xfrm xmlns:a="http://schemas.openxmlformats.org/drawingml/2006/main">
            <a:off x="3877056" y="3227832"/>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Direct, contingent, guaranteed and indirect are distinguished, so netting rules can be applied correctly</a:t>
            </a:r>
            <a:endParaRPr sz="930"/>
          </a:p>
        </p:txBody>
      </p:sp>
      <p:sp>
        <p:nvSpPr>
          <p:cNvPr id="28" name="Text 26">
            <a:extLst xmlns:a="http://schemas.openxmlformats.org/drawingml/2006/main">
              <a:ext uri="{FF2B5EF4-FFF2-40B4-BE49-F238E27FC236}">
                <a16:creationId xmlns:a16="http://schemas.microsoft.com/office/drawing/2014/main" id="{A93C0018-4ACE-4415-ABFC-333C490BA1AA}"/>
              </a:ext>
            </a:extLst>
          </p:cNvPr>
          <p:cNvSpPr>
            <a:spLocks xmlns:a="http://schemas.openxmlformats.org/drawingml/2006/main" noGrp="1"/>
          </p:cNvSpPr>
          <p:nvPr/>
        </p:nvSpPr>
        <p:spPr>
          <a:xfrm xmlns:a="http://schemas.openxmlformats.org/drawingml/2006/main">
            <a:off x="7991856" y="3227832"/>
            <a:ext cx="21579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Data model</a:t>
            </a:r>
            <a:endParaRPr sz="930"/>
          </a:p>
        </p:txBody>
      </p:sp>
      <p:sp>
        <p:nvSpPr>
          <p:cNvPr id="29" name="Text 27">
            <a:extLst xmlns:a="http://schemas.openxmlformats.org/drawingml/2006/main">
              <a:ext uri="{FF2B5EF4-FFF2-40B4-BE49-F238E27FC236}">
                <a16:creationId xmlns:a16="http://schemas.microsoft.com/office/drawing/2014/main" id="{360F241D-3114-44DC-8BA4-4294F4C73299}"/>
              </a:ext>
            </a:extLst>
          </p:cNvPr>
          <p:cNvSpPr>
            <a:spLocks xmlns:a="http://schemas.openxmlformats.org/drawingml/2006/main" noGrp="1"/>
          </p:cNvSpPr>
          <p:nvPr/>
        </p:nvSpPr>
        <p:spPr>
          <a:xfrm xmlns:a="http://schemas.openxmlformats.org/drawingml/2006/main">
            <a:off x="10460736" y="3227832"/>
            <a:ext cx="1051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Hard</a:t>
            </a:r>
            <a:endParaRPr sz="940"/>
          </a:p>
        </p:txBody>
      </p:sp>
      <p:sp>
        <p:nvSpPr>
          <p:cNvPr id="30" name="Shape 28">
            <a:extLst xmlns:a="http://schemas.openxmlformats.org/drawingml/2006/main">
              <a:ext uri="{FF2B5EF4-FFF2-40B4-BE49-F238E27FC236}">
                <a16:creationId xmlns:a16="http://schemas.microsoft.com/office/drawing/2014/main" id="{82F0F4A8-2402-4A84-814B-31F9DDA8C733}"/>
              </a:ext>
            </a:extLst>
          </p:cNvPr>
          <p:cNvSpPr>
            <a:spLocks xmlns:a="http://schemas.openxmlformats.org/drawingml/2006/main" noGrp="1"/>
          </p:cNvSpPr>
          <p:nvPr/>
        </p:nvSpPr>
        <p:spPr>
          <a:xfrm xmlns:a="http://schemas.openxmlformats.org/drawingml/2006/main">
            <a:off x="566928" y="3602736"/>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7747ECE3-2D34-4DD3-AD04-984CC3740F04}"/>
              </a:ext>
            </a:extLst>
          </p:cNvPr>
          <p:cNvSpPr>
            <a:spLocks xmlns:a="http://schemas.openxmlformats.org/drawingml/2006/main" noGrp="1"/>
          </p:cNvSpPr>
          <p:nvPr/>
        </p:nvSpPr>
        <p:spPr>
          <a:xfrm xmlns:a="http://schemas.openxmlformats.org/drawingml/2006/main">
            <a:off x="676656" y="3703320"/>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Completeness is measured</a:t>
            </a:r>
            <a:endParaRPr sz="980"/>
          </a:p>
        </p:txBody>
      </p:sp>
      <p:sp>
        <p:nvSpPr>
          <p:cNvPr id="32" name="Text 30">
            <a:extLst xmlns:a="http://schemas.openxmlformats.org/drawingml/2006/main">
              <a:ext uri="{FF2B5EF4-FFF2-40B4-BE49-F238E27FC236}">
                <a16:creationId xmlns:a16="http://schemas.microsoft.com/office/drawing/2014/main" id="{CC42B5AF-ECB5-4761-9575-A28114ECA88E}"/>
              </a:ext>
            </a:extLst>
          </p:cNvPr>
          <p:cNvSpPr>
            <a:spLocks xmlns:a="http://schemas.openxmlformats.org/drawingml/2006/main" noGrp="1"/>
          </p:cNvSpPr>
          <p:nvPr/>
        </p:nvSpPr>
        <p:spPr>
          <a:xfrm xmlns:a="http://schemas.openxmlformats.org/drawingml/2006/main">
            <a:off x="3877056" y="3703320"/>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The share of entities with verified relationship data is reported alongside the exposure number itself</a:t>
            </a:r>
            <a:endParaRPr sz="930"/>
          </a:p>
        </p:txBody>
      </p:sp>
      <p:sp>
        <p:nvSpPr>
          <p:cNvPr id="33" name="Text 31">
            <a:extLst xmlns:a="http://schemas.openxmlformats.org/drawingml/2006/main">
              <a:ext uri="{FF2B5EF4-FFF2-40B4-BE49-F238E27FC236}">
                <a16:creationId xmlns:a16="http://schemas.microsoft.com/office/drawing/2014/main" id="{1F4D4197-06AF-44EA-B78D-BC5C966F816F}"/>
              </a:ext>
            </a:extLst>
          </p:cNvPr>
          <p:cNvSpPr>
            <a:spLocks xmlns:a="http://schemas.openxmlformats.org/drawingml/2006/main" noGrp="1"/>
          </p:cNvSpPr>
          <p:nvPr/>
        </p:nvSpPr>
        <p:spPr>
          <a:xfrm xmlns:a="http://schemas.openxmlformats.org/drawingml/2006/main">
            <a:off x="7991856" y="3703320"/>
            <a:ext cx="21579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Governance</a:t>
            </a:r>
            <a:endParaRPr sz="930"/>
          </a:p>
        </p:txBody>
      </p:sp>
      <p:sp>
        <p:nvSpPr>
          <p:cNvPr id="34" name="Text 32">
            <a:extLst xmlns:a="http://schemas.openxmlformats.org/drawingml/2006/main">
              <a:ext uri="{FF2B5EF4-FFF2-40B4-BE49-F238E27FC236}">
                <a16:creationId xmlns:a16="http://schemas.microsoft.com/office/drawing/2014/main" id="{D3BC6CD2-6C22-4C32-AB43-115CD22F376F}"/>
              </a:ext>
            </a:extLst>
          </p:cNvPr>
          <p:cNvSpPr>
            <a:spLocks xmlns:a="http://schemas.openxmlformats.org/drawingml/2006/main" noGrp="1"/>
          </p:cNvSpPr>
          <p:nvPr/>
        </p:nvSpPr>
        <p:spPr>
          <a:xfrm xmlns:a="http://schemas.openxmlformats.org/drawingml/2006/main">
            <a:off x="10460736" y="3703320"/>
            <a:ext cx="1051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Easy</a:t>
            </a:r>
            <a:endParaRPr sz="940"/>
          </a:p>
        </p:txBody>
      </p:sp>
      <p:sp>
        <p:nvSpPr>
          <p:cNvPr id="35" name="Shape 33">
            <a:extLst xmlns:a="http://schemas.openxmlformats.org/drawingml/2006/main">
              <a:ext uri="{FF2B5EF4-FFF2-40B4-BE49-F238E27FC236}">
                <a16:creationId xmlns:a16="http://schemas.microsoft.com/office/drawing/2014/main" id="{74E7F536-36EE-4341-BCD1-3DBD72E6FA37}"/>
              </a:ext>
            </a:extLst>
          </p:cNvPr>
          <p:cNvSpPr>
            <a:spLocks xmlns:a="http://schemas.openxmlformats.org/drawingml/2006/main" noGrp="1"/>
          </p:cNvSpPr>
          <p:nvPr/>
        </p:nvSpPr>
        <p:spPr>
          <a:xfrm xmlns:a="http://schemas.openxmlformats.org/drawingml/2006/main">
            <a:off x="566928" y="407822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FD7F4EFC-7C29-4544-9A2E-36011071D93A}"/>
              </a:ext>
            </a:extLst>
          </p:cNvPr>
          <p:cNvSpPr>
            <a:spLocks xmlns:a="http://schemas.openxmlformats.org/drawingml/2006/main" noGrp="1"/>
          </p:cNvSpPr>
          <p:nvPr/>
        </p:nvSpPr>
        <p:spPr>
          <a:xfrm xmlns:a="http://schemas.openxmlformats.org/drawingml/2006/main">
            <a:off x="566928" y="4078224"/>
            <a:ext cx="11057839" cy="475488"/>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F55BD006-167C-42AC-8E2B-537B87769F43}"/>
              </a:ext>
            </a:extLst>
          </p:cNvPr>
          <p:cNvSpPr>
            <a:spLocks xmlns:a="http://schemas.openxmlformats.org/drawingml/2006/main" noGrp="1"/>
          </p:cNvSpPr>
          <p:nvPr/>
        </p:nvSpPr>
        <p:spPr>
          <a:xfrm xmlns:a="http://schemas.openxmlformats.org/drawingml/2006/main">
            <a:off x="676656" y="4178808"/>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An owner exists</a:t>
            </a:r>
            <a:endParaRPr sz="980"/>
          </a:p>
        </p:txBody>
      </p:sp>
      <p:sp>
        <p:nvSpPr>
          <p:cNvPr id="38" name="Text 36">
            <a:extLst xmlns:a="http://schemas.openxmlformats.org/drawingml/2006/main">
              <a:ext uri="{FF2B5EF4-FFF2-40B4-BE49-F238E27FC236}">
                <a16:creationId xmlns:a16="http://schemas.microsoft.com/office/drawing/2014/main" id="{35E71F79-0BE2-4741-A1A3-9D4F97AFBEE4}"/>
              </a:ext>
            </a:extLst>
          </p:cNvPr>
          <p:cNvSpPr>
            <a:spLocks xmlns:a="http://schemas.openxmlformats.org/drawingml/2006/main" noGrp="1"/>
          </p:cNvSpPr>
          <p:nvPr/>
        </p:nvSpPr>
        <p:spPr>
          <a:xfrm xmlns:a="http://schemas.openxmlformats.org/drawingml/2006/main">
            <a:off x="3877056" y="4178808"/>
            <a:ext cx="38039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 named function is accountable for relationship data quality, with a review cycle</a:t>
            </a:r>
            <a:endParaRPr sz="930"/>
          </a:p>
        </p:txBody>
      </p:sp>
      <p:sp>
        <p:nvSpPr>
          <p:cNvPr id="39" name="Text 37">
            <a:extLst xmlns:a="http://schemas.openxmlformats.org/drawingml/2006/main">
              <a:ext uri="{FF2B5EF4-FFF2-40B4-BE49-F238E27FC236}">
                <a16:creationId xmlns:a16="http://schemas.microsoft.com/office/drawing/2014/main" id="{29D73631-E282-4209-8DF0-A9DACDB21151}"/>
              </a:ext>
            </a:extLst>
          </p:cNvPr>
          <p:cNvSpPr>
            <a:spLocks xmlns:a="http://schemas.openxmlformats.org/drawingml/2006/main" noGrp="1"/>
          </p:cNvSpPr>
          <p:nvPr/>
        </p:nvSpPr>
        <p:spPr>
          <a:xfrm xmlns:a="http://schemas.openxmlformats.org/drawingml/2006/main">
            <a:off x="7991856" y="4178808"/>
            <a:ext cx="21579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Governance</a:t>
            </a:r>
            <a:endParaRPr sz="930"/>
          </a:p>
        </p:txBody>
      </p:sp>
      <p:sp>
        <p:nvSpPr>
          <p:cNvPr id="40" name="Text 38">
            <a:extLst xmlns:a="http://schemas.openxmlformats.org/drawingml/2006/main">
              <a:ext uri="{FF2B5EF4-FFF2-40B4-BE49-F238E27FC236}">
                <a16:creationId xmlns:a16="http://schemas.microsoft.com/office/drawing/2014/main" id="{B4291BFC-342D-4F04-9A1A-49F84068946E}"/>
              </a:ext>
            </a:extLst>
          </p:cNvPr>
          <p:cNvSpPr>
            <a:spLocks xmlns:a="http://schemas.openxmlformats.org/drawingml/2006/main" noGrp="1"/>
          </p:cNvSpPr>
          <p:nvPr/>
        </p:nvSpPr>
        <p:spPr>
          <a:xfrm xmlns:a="http://schemas.openxmlformats.org/drawingml/2006/main">
            <a:off x="10460736" y="4178808"/>
            <a:ext cx="1051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Easy</a:t>
            </a:r>
            <a:endParaRPr sz="940"/>
          </a:p>
        </p:txBody>
      </p:sp>
      <p:sp>
        <p:nvSpPr>
          <p:cNvPr id="41" name="Shape 39">
            <a:extLst xmlns:a="http://schemas.openxmlformats.org/drawingml/2006/main">
              <a:ext uri="{FF2B5EF4-FFF2-40B4-BE49-F238E27FC236}">
                <a16:creationId xmlns:a16="http://schemas.microsoft.com/office/drawing/2014/main" id="{FCF257E0-481C-4B64-9CB9-D6056E38E3D3}"/>
              </a:ext>
            </a:extLst>
          </p:cNvPr>
          <p:cNvSpPr>
            <a:spLocks xmlns:a="http://schemas.openxmlformats.org/drawingml/2006/main" noGrp="1"/>
          </p:cNvSpPr>
          <p:nvPr/>
        </p:nvSpPr>
        <p:spPr>
          <a:xfrm xmlns:a="http://schemas.openxmlformats.org/drawingml/2006/main">
            <a:off x="566928" y="4553712"/>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D28942B8-E18A-4819-B615-43BE8715E71B}"/>
              </a:ext>
            </a:extLst>
          </p:cNvPr>
          <p:cNvSpPr>
            <a:spLocks xmlns:a="http://schemas.openxmlformats.org/drawingml/2006/main" noGrp="1"/>
          </p:cNvSpPr>
          <p:nvPr/>
        </p:nvSpPr>
        <p:spPr>
          <a:xfrm xmlns:a="http://schemas.openxmlformats.org/drawingml/2006/main">
            <a:off x="566928"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two that are easy and skipped</a:t>
            </a:r>
            <a:endParaRPr sz="1100"/>
          </a:p>
        </p:txBody>
      </p:sp>
      <p:sp>
        <p:nvSpPr>
          <p:cNvPr id="43" name="Shape 41">
            <a:extLst xmlns:a="http://schemas.openxmlformats.org/drawingml/2006/main">
              <a:ext uri="{FF2B5EF4-FFF2-40B4-BE49-F238E27FC236}">
                <a16:creationId xmlns:a16="http://schemas.microsoft.com/office/drawing/2014/main" id="{95F44949-A728-4C2D-BEE9-6C115B21B844}"/>
              </a:ext>
            </a:extLst>
          </p:cNvPr>
          <p:cNvSpPr>
            <a:spLocks xmlns:a="http://schemas.openxmlformats.org/drawingml/2006/main" noGrp="1"/>
          </p:cNvSpPr>
          <p:nvPr/>
        </p:nvSpPr>
        <p:spPr>
          <a:xfrm xmlns:a="http://schemas.openxmlformats.org/drawingml/2006/main">
            <a:off x="566928" y="5029200"/>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E73BB065-00EE-4A95-A178-33A3512F2F32}"/>
              </a:ext>
            </a:extLst>
          </p:cNvPr>
          <p:cNvSpPr>
            <a:spLocks xmlns:a="http://schemas.openxmlformats.org/drawingml/2006/main" noGrp="1"/>
          </p:cNvSpPr>
          <p:nvPr/>
        </p:nvSpPr>
        <p:spPr>
          <a:xfrm xmlns:a="http://schemas.openxmlformats.org/drawingml/2006/main">
            <a:off x="566928" y="5157216"/>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Completeness measurement and named ownership cost almost nothing and are routinely absent.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Reporting completeness alongside the number is the single cheapest credibility intervention available.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Ninety-four per cent verified is far more useful than a bare figure.</a:t>
            </a:r>
            <a:endParaRPr sz="920"/>
          </a:p>
        </p:txBody>
      </p:sp>
      <p:sp>
        <p:nvSpPr>
          <p:cNvPr id="45" name="Text 43">
            <a:extLst xmlns:a="http://schemas.openxmlformats.org/drawingml/2006/main">
              <a:ext uri="{FF2B5EF4-FFF2-40B4-BE49-F238E27FC236}">
                <a16:creationId xmlns:a16="http://schemas.microsoft.com/office/drawing/2014/main" id="{736D0252-4A3D-41B7-AFCE-C45DD31484AF}"/>
              </a:ext>
            </a:extLst>
          </p:cNvPr>
          <p:cNvSpPr>
            <a:spLocks xmlns:a="http://schemas.openxmlformats.org/drawingml/2006/main" noGrp="1"/>
          </p:cNvSpPr>
          <p:nvPr/>
        </p:nvSpPr>
        <p:spPr>
          <a:xfrm xmlns:a="http://schemas.openxmlformats.org/drawingml/2006/main">
            <a:off x="4319930"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one that is genuinely very hard</a:t>
            </a:r>
            <a:endParaRPr sz="1100"/>
          </a:p>
        </p:txBody>
      </p:sp>
      <p:sp>
        <p:nvSpPr>
          <p:cNvPr id="46" name="Shape 44">
            <a:extLst xmlns:a="http://schemas.openxmlformats.org/drawingml/2006/main">
              <a:ext uri="{FF2B5EF4-FFF2-40B4-BE49-F238E27FC236}">
                <a16:creationId xmlns:a16="http://schemas.microsoft.com/office/drawing/2014/main" id="{CD0A07ED-4ABA-4346-9E34-7897BED69AD3}"/>
              </a:ext>
            </a:extLst>
          </p:cNvPr>
          <p:cNvSpPr>
            <a:spLocks xmlns:a="http://schemas.openxmlformats.org/drawingml/2006/main" noGrp="1"/>
          </p:cNvSpPr>
          <p:nvPr/>
        </p:nvSpPr>
        <p:spPr>
          <a:xfrm xmlns:a="http://schemas.openxmlformats.org/drawingml/2006/main">
            <a:off x="4319930" y="5029200"/>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ED8088AE-496F-40C3-A710-E1A9D623B0DB}"/>
              </a:ext>
            </a:extLst>
          </p:cNvPr>
          <p:cNvSpPr>
            <a:spLocks xmlns:a="http://schemas.openxmlformats.org/drawingml/2006/main" noGrp="1"/>
          </p:cNvSpPr>
          <p:nvPr/>
        </p:nvSpPr>
        <p:spPr>
          <a:xfrm xmlns:a="http://schemas.openxmlformats.org/drawingml/2006/main">
            <a:off x="4319930" y="5157216"/>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Versioning the hierarchy is difficult to retrofit because the history does not exist to backfill.</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cost is invisible until a past committee decision must be reproduced.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is worth doing on day one purely because it cannot be done on day one thousand.</a:t>
            </a:r>
            <a:endParaRPr sz="920"/>
          </a:p>
        </p:txBody>
      </p:sp>
      <p:sp>
        <p:nvSpPr>
          <p:cNvPr id="48" name="Text 46">
            <a:extLst xmlns:a="http://schemas.openxmlformats.org/drawingml/2006/main">
              <a:ext uri="{FF2B5EF4-FFF2-40B4-BE49-F238E27FC236}">
                <a16:creationId xmlns:a16="http://schemas.microsoft.com/office/drawing/2014/main" id="{AB52A4C9-06A1-4876-9FBF-5DF8BA054189}"/>
              </a:ext>
            </a:extLst>
          </p:cNvPr>
          <p:cNvSpPr>
            <a:spLocks xmlns:a="http://schemas.openxmlformats.org/drawingml/2006/main" noGrp="1"/>
          </p:cNvSpPr>
          <p:nvPr/>
        </p:nvSpPr>
        <p:spPr>
          <a:xfrm xmlns:a="http://schemas.openxmlformats.org/drawingml/2006/main">
            <a:off x="8072933"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How to sequence the six</a:t>
            </a:r>
            <a:endParaRPr sz="1100"/>
          </a:p>
        </p:txBody>
      </p:sp>
      <p:sp>
        <p:nvSpPr>
          <p:cNvPr id="49" name="Shape 47">
            <a:extLst xmlns:a="http://schemas.openxmlformats.org/drawingml/2006/main">
              <a:ext uri="{FF2B5EF4-FFF2-40B4-BE49-F238E27FC236}">
                <a16:creationId xmlns:a16="http://schemas.microsoft.com/office/drawing/2014/main" id="{00AFEE34-B338-4229-AFE6-1856B67AD0BB}"/>
              </a:ext>
            </a:extLst>
          </p:cNvPr>
          <p:cNvSpPr>
            <a:spLocks xmlns:a="http://schemas.openxmlformats.org/drawingml/2006/main" noGrp="1"/>
          </p:cNvSpPr>
          <p:nvPr/>
        </p:nvSpPr>
        <p:spPr>
          <a:xfrm xmlns:a="http://schemas.openxmlformats.org/drawingml/2006/main">
            <a:off x="8072933" y="5029200"/>
            <a:ext cx="3551834" cy="20117"/>
          </a:xfrm>
          <a:prstGeom xmlns:a="http://schemas.openxmlformats.org/drawingml/2006/main" prst="rect">
            <a:avLst/>
          </a:prstGeom>
          <a:solidFill xmlns:a="http://schemas.openxmlformats.org/drawingml/2006/main">
            <a:srgbClr val="27685A"/>
          </a:solidFill>
        </p:spPr>
      </p:sp>
      <p:sp>
        <p:nvSpPr>
          <p:cNvPr id="50" name="Text 48">
            <a:extLst xmlns:a="http://schemas.openxmlformats.org/drawingml/2006/main">
              <a:ext uri="{FF2B5EF4-FFF2-40B4-BE49-F238E27FC236}">
                <a16:creationId xmlns:a16="http://schemas.microsoft.com/office/drawing/2014/main" id="{21F54320-D702-4D68-94F7-B056E3ECCCAE}"/>
              </a:ext>
            </a:extLst>
          </p:cNvPr>
          <p:cNvSpPr>
            <a:spLocks xmlns:a="http://schemas.openxmlformats.org/drawingml/2006/main" noGrp="1"/>
          </p:cNvSpPr>
          <p:nvPr/>
        </p:nvSpPr>
        <p:spPr>
          <a:xfrm xmlns:a="http://schemas.openxmlformats.org/drawingml/2006/main">
            <a:off x="8072933" y="5157216"/>
            <a:ext cx="3551834"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Do both governance properties immediately — they are cheap and they reveal how bad the data is.</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Do versioning and typing in the initial model, because neither is recoverable later.</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Resolution authority is a decision, not a build — make it early.</a:t>
            </a:r>
            <a:endParaRPr sz="920"/>
          </a:p>
        </p:txBody>
      </p:sp>
      <p:sp>
        <p:nvSpPr>
          <p:cNvPr id="51" name="Shape 49">
            <a:extLst xmlns:a="http://schemas.openxmlformats.org/drawingml/2006/main">
              <a:ext uri="{FF2B5EF4-FFF2-40B4-BE49-F238E27FC236}">
                <a16:creationId xmlns:a16="http://schemas.microsoft.com/office/drawing/2014/main" id="{36368D38-9886-4573-92E9-1075CC0940C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398FE0A1-1E0B-435A-80E7-EDEA5A7079A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corporate banking delivery record across Gulf and regional institutions · author's analysis</a:t>
            </a:r>
            <a:endParaRPr sz="850"/>
          </a:p>
        </p:txBody>
      </p:sp>
      <p:sp>
        <p:nvSpPr>
          <p:cNvPr id="53" name="Text 51">
            <a:extLst xmlns:a="http://schemas.openxmlformats.org/drawingml/2006/main">
              <a:ext uri="{FF2B5EF4-FFF2-40B4-BE49-F238E27FC236}">
                <a16:creationId xmlns:a16="http://schemas.microsoft.com/office/drawing/2014/main" id="{F6E30CB3-CD11-45B6-9604-2129EDA7FC2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428832594"/>
      </p:ext>
    </p:extLst>
  </p:cSld>
</p:sld>
</file>

<file path=ppt/slides/slide2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1250689-F0EC-411D-A059-EE8E56E7A91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WHERE IT LANDS</a:t>
            </a:r>
            <a:endParaRPr sz="950"/>
          </a:p>
        </p:txBody>
      </p:sp>
      <p:sp>
        <p:nvSpPr>
          <p:cNvPr id="3" name="Text 1">
            <a:extLst xmlns:a="http://schemas.openxmlformats.org/drawingml/2006/main">
              <a:ext uri="{FF2B5EF4-FFF2-40B4-BE49-F238E27FC236}">
                <a16:creationId xmlns:a16="http://schemas.microsoft.com/office/drawing/2014/main" id="{68C3EFDF-2C25-43F3-9EA4-2FABEB3DAB5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credit committee is where an incomplete group model becomes a decision —</a:t>
            </a:r>
            <a:endParaRPr sz="1900"/>
          </a:p>
          <a:p xmlns:a="http://schemas.openxmlformats.org/drawingml/2006/main">
            <a:pPr marL="0" indent="0">
              <a:lnSpc>
                <a:spcPts val="2400"/>
              </a:lnSpc>
              <a:buNone/>
            </a:pPr>
            <a:r>
              <a:rPr sz="1900" b="1">
                <a:solidFill>
                  <a:srgbClr val="102A43"/>
                </a:solidFill>
                <a:latin typeface="Arial"/>
                <a:ea typeface="Arial"/>
                <a:cs typeface="Arial"/>
              </a:rPr>
              <a:t>which is why the exposure view has to carry its own confidence</a:t>
            </a:r>
            <a:endParaRPr sz="1900"/>
          </a:p>
        </p:txBody>
      </p:sp>
      <p:sp>
        <p:nvSpPr>
          <p:cNvPr id="4" name="Shape 2">
            <a:extLst xmlns:a="http://schemas.openxmlformats.org/drawingml/2006/main">
              <a:ext uri="{FF2B5EF4-FFF2-40B4-BE49-F238E27FC236}">
                <a16:creationId xmlns:a16="http://schemas.microsoft.com/office/drawing/2014/main" id="{25E48C3E-20EE-4A71-AD47-CB020FC76376}"/>
              </a:ext>
            </a:extLst>
          </p:cNvPr>
          <p:cNvSpPr>
            <a:spLocks xmlns:a="http://schemas.openxmlformats.org/drawingml/2006/main" noGrp="1"/>
          </p:cNvSpPr>
          <p:nvPr/>
        </p:nvSpPr>
        <p:spPr>
          <a:xfrm xmlns:a="http://schemas.openxmlformats.org/drawingml/2006/main">
            <a:off x="566928" y="1335024"/>
            <a:ext cx="2109155" cy="173736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FE510846-B467-487D-9F67-A34BE9C1DC94}"/>
              </a:ext>
            </a:extLst>
          </p:cNvPr>
          <p:cNvSpPr>
            <a:spLocks xmlns:a="http://schemas.openxmlformats.org/drawingml/2006/main" noGrp="1"/>
          </p:cNvSpPr>
          <p:nvPr/>
        </p:nvSpPr>
        <p:spPr>
          <a:xfrm xmlns:a="http://schemas.openxmlformats.org/drawingml/2006/main">
            <a:off x="731520"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2708F1F0-9977-4467-BAAA-0EDA38E8F377}"/>
              </a:ext>
            </a:extLst>
          </p:cNvPr>
          <p:cNvSpPr>
            <a:spLocks xmlns:a="http://schemas.openxmlformats.org/drawingml/2006/main" noGrp="1"/>
          </p:cNvSpPr>
          <p:nvPr/>
        </p:nvSpPr>
        <p:spPr>
          <a:xfrm xmlns:a="http://schemas.openxmlformats.org/drawingml/2006/main">
            <a:off x="731520" y="1664208"/>
            <a:ext cx="177997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Proposal assembled</a:t>
            </a:r>
            <a:endParaRPr sz="1060"/>
          </a:p>
        </p:txBody>
      </p:sp>
      <p:sp>
        <p:nvSpPr>
          <p:cNvPr id="7" name="Text 5">
            <a:extLst xmlns:a="http://schemas.openxmlformats.org/drawingml/2006/main">
              <a:ext uri="{FF2B5EF4-FFF2-40B4-BE49-F238E27FC236}">
                <a16:creationId xmlns:a16="http://schemas.microsoft.com/office/drawing/2014/main" id="{D48F48E3-3321-4967-A575-BCCE848620A3}"/>
              </a:ext>
            </a:extLst>
          </p:cNvPr>
          <p:cNvSpPr>
            <a:spLocks xmlns:a="http://schemas.openxmlformats.org/drawingml/2006/main" noGrp="1"/>
          </p:cNvSpPr>
          <p:nvPr/>
        </p:nvSpPr>
        <p:spPr>
          <a:xfrm xmlns:a="http://schemas.openxmlformats.org/drawingml/2006/main">
            <a:off x="731520" y="2121408"/>
            <a:ext cx="177997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The facility, the counterparty and the stated group exposure are brought together for the committee pack.</a:t>
            </a:r>
            <a:endParaRPr sz="900"/>
          </a:p>
        </p:txBody>
      </p:sp>
      <p:sp>
        <p:nvSpPr>
          <p:cNvPr id="8" name="Shape 6">
            <a:extLst xmlns:a="http://schemas.openxmlformats.org/drawingml/2006/main">
              <a:ext uri="{FF2B5EF4-FFF2-40B4-BE49-F238E27FC236}">
                <a16:creationId xmlns:a16="http://schemas.microsoft.com/office/drawing/2014/main" id="{6308AF87-E20D-4FBA-8ED9-AE41A2294A5E}"/>
              </a:ext>
            </a:extLst>
          </p:cNvPr>
          <p:cNvSpPr>
            <a:spLocks xmlns:a="http://schemas.openxmlformats.org/drawingml/2006/main" noGrp="1"/>
          </p:cNvSpPr>
          <p:nvPr/>
        </p:nvSpPr>
        <p:spPr>
          <a:xfrm xmlns:a="http://schemas.openxmlformats.org/drawingml/2006/main">
            <a:off x="2804099" y="1335024"/>
            <a:ext cx="2109155" cy="173736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E954F34A-72EF-4D54-83C8-7E56B7903ABA}"/>
              </a:ext>
            </a:extLst>
          </p:cNvPr>
          <p:cNvSpPr>
            <a:spLocks xmlns:a="http://schemas.openxmlformats.org/drawingml/2006/main" noGrp="1"/>
          </p:cNvSpPr>
          <p:nvPr/>
        </p:nvSpPr>
        <p:spPr>
          <a:xfrm xmlns:a="http://schemas.openxmlformats.org/drawingml/2006/main">
            <a:off x="2968691"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CA2A019F-0529-42D0-9427-86DB8141A87D}"/>
              </a:ext>
            </a:extLst>
          </p:cNvPr>
          <p:cNvSpPr>
            <a:spLocks xmlns:a="http://schemas.openxmlformats.org/drawingml/2006/main" noGrp="1"/>
          </p:cNvSpPr>
          <p:nvPr/>
        </p:nvSpPr>
        <p:spPr>
          <a:xfrm xmlns:a="http://schemas.openxmlformats.org/drawingml/2006/main">
            <a:off x="2968691" y="1664208"/>
            <a:ext cx="177997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Group position shown</a:t>
            </a:r>
            <a:endParaRPr sz="1060"/>
          </a:p>
        </p:txBody>
      </p:sp>
      <p:sp>
        <p:nvSpPr>
          <p:cNvPr id="11" name="Text 9">
            <a:extLst xmlns:a="http://schemas.openxmlformats.org/drawingml/2006/main">
              <a:ext uri="{FF2B5EF4-FFF2-40B4-BE49-F238E27FC236}">
                <a16:creationId xmlns:a16="http://schemas.microsoft.com/office/drawing/2014/main" id="{E49C04B5-2E6F-492E-B886-E9AC60C8BB38}"/>
              </a:ext>
            </a:extLst>
          </p:cNvPr>
          <p:cNvSpPr>
            <a:spLocks xmlns:a="http://schemas.openxmlformats.org/drawingml/2006/main" noGrp="1"/>
          </p:cNvSpPr>
          <p:nvPr/>
        </p:nvSpPr>
        <p:spPr>
          <a:xfrm xmlns:a="http://schemas.openxmlformats.org/drawingml/2006/main">
            <a:off x="2968691" y="2121408"/>
            <a:ext cx="177997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Total exposure across the group, broken by type — direct, contingent, guaranteed, indirect — with completeness stated.</a:t>
            </a:r>
            <a:endParaRPr sz="900"/>
          </a:p>
        </p:txBody>
      </p:sp>
      <p:sp>
        <p:nvSpPr>
          <p:cNvPr id="12" name="Shape 10">
            <a:extLst xmlns:a="http://schemas.openxmlformats.org/drawingml/2006/main">
              <a:ext uri="{FF2B5EF4-FFF2-40B4-BE49-F238E27FC236}">
                <a16:creationId xmlns:a16="http://schemas.microsoft.com/office/drawing/2014/main" id="{E6727C3F-F95B-42FB-8681-5DF9C1135B4F}"/>
              </a:ext>
            </a:extLst>
          </p:cNvPr>
          <p:cNvSpPr>
            <a:spLocks xmlns:a="http://schemas.openxmlformats.org/drawingml/2006/main" noGrp="1"/>
          </p:cNvSpPr>
          <p:nvPr/>
        </p:nvSpPr>
        <p:spPr>
          <a:xfrm xmlns:a="http://schemas.openxmlformats.org/drawingml/2006/main">
            <a:off x="5041270" y="1335024"/>
            <a:ext cx="2109155" cy="1737360"/>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70ED338F-9313-4A88-A4C4-37B8A0E6C933}"/>
              </a:ext>
            </a:extLst>
          </p:cNvPr>
          <p:cNvSpPr>
            <a:spLocks xmlns:a="http://schemas.openxmlformats.org/drawingml/2006/main" noGrp="1"/>
          </p:cNvSpPr>
          <p:nvPr/>
        </p:nvSpPr>
        <p:spPr>
          <a:xfrm xmlns:a="http://schemas.openxmlformats.org/drawingml/2006/main">
            <a:off x="5205862"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6687E5C3-61CD-4EBD-93D1-BE0DD97B2029}"/>
              </a:ext>
            </a:extLst>
          </p:cNvPr>
          <p:cNvSpPr>
            <a:spLocks xmlns:a="http://schemas.openxmlformats.org/drawingml/2006/main" noGrp="1"/>
          </p:cNvSpPr>
          <p:nvPr/>
        </p:nvSpPr>
        <p:spPr>
          <a:xfrm xmlns:a="http://schemas.openxmlformats.org/drawingml/2006/main">
            <a:off x="5205862" y="1664208"/>
            <a:ext cx="177997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Concentration tested</a:t>
            </a:r>
            <a:endParaRPr sz="1060"/>
          </a:p>
        </p:txBody>
      </p:sp>
      <p:sp>
        <p:nvSpPr>
          <p:cNvPr id="15" name="Text 13">
            <a:extLst xmlns:a="http://schemas.openxmlformats.org/drawingml/2006/main">
              <a:ext uri="{FF2B5EF4-FFF2-40B4-BE49-F238E27FC236}">
                <a16:creationId xmlns:a16="http://schemas.microsoft.com/office/drawing/2014/main" id="{F8F12340-4C50-4181-9246-B78FB8731204}"/>
              </a:ext>
            </a:extLst>
          </p:cNvPr>
          <p:cNvSpPr>
            <a:spLocks xmlns:a="http://schemas.openxmlformats.org/drawingml/2006/main" noGrp="1"/>
          </p:cNvSpPr>
          <p:nvPr/>
        </p:nvSpPr>
        <p:spPr>
          <a:xfrm xmlns:a="http://schemas.openxmlformats.org/drawingml/2006/main">
            <a:off x="5205862" y="2121408"/>
            <a:ext cx="177997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Group position against limit, against appetite, and against related-sector concentration.</a:t>
            </a:r>
            <a:endParaRPr sz="900"/>
          </a:p>
        </p:txBody>
      </p:sp>
      <p:sp>
        <p:nvSpPr>
          <p:cNvPr id="16" name="Shape 14">
            <a:extLst xmlns:a="http://schemas.openxmlformats.org/drawingml/2006/main">
              <a:ext uri="{FF2B5EF4-FFF2-40B4-BE49-F238E27FC236}">
                <a16:creationId xmlns:a16="http://schemas.microsoft.com/office/drawing/2014/main" id="{3942486B-D66E-4E92-AE33-2D5EAA0326B1}"/>
              </a:ext>
            </a:extLst>
          </p:cNvPr>
          <p:cNvSpPr>
            <a:spLocks xmlns:a="http://schemas.openxmlformats.org/drawingml/2006/main" noGrp="1"/>
          </p:cNvSpPr>
          <p:nvPr/>
        </p:nvSpPr>
        <p:spPr>
          <a:xfrm xmlns:a="http://schemas.openxmlformats.org/drawingml/2006/main">
            <a:off x="7278441" y="1335024"/>
            <a:ext cx="2109155" cy="1737360"/>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2F3BCA49-E3FE-42DF-8F60-64B5BA578DD4}"/>
              </a:ext>
            </a:extLst>
          </p:cNvPr>
          <p:cNvSpPr>
            <a:spLocks xmlns:a="http://schemas.openxmlformats.org/drawingml/2006/main" noGrp="1"/>
          </p:cNvSpPr>
          <p:nvPr/>
        </p:nvSpPr>
        <p:spPr>
          <a:xfrm xmlns:a="http://schemas.openxmlformats.org/drawingml/2006/main">
            <a:off x="7443033"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BB46A43D-CD2F-4AEB-B741-35926CF975A1}"/>
              </a:ext>
            </a:extLst>
          </p:cNvPr>
          <p:cNvSpPr>
            <a:spLocks xmlns:a="http://schemas.openxmlformats.org/drawingml/2006/main" noGrp="1"/>
          </p:cNvSpPr>
          <p:nvPr/>
        </p:nvSpPr>
        <p:spPr>
          <a:xfrm xmlns:a="http://schemas.openxmlformats.org/drawingml/2006/main">
            <a:off x="7443033" y="1664208"/>
            <a:ext cx="177997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Conditions set</a:t>
            </a:r>
            <a:endParaRPr sz="1060"/>
          </a:p>
        </p:txBody>
      </p:sp>
      <p:sp>
        <p:nvSpPr>
          <p:cNvPr id="19" name="Text 17">
            <a:extLst xmlns:a="http://schemas.openxmlformats.org/drawingml/2006/main">
              <a:ext uri="{FF2B5EF4-FFF2-40B4-BE49-F238E27FC236}">
                <a16:creationId xmlns:a16="http://schemas.microsoft.com/office/drawing/2014/main" id="{CEE86825-44A7-4C19-9436-C3103B4B2A55}"/>
              </a:ext>
            </a:extLst>
          </p:cNvPr>
          <p:cNvSpPr>
            <a:spLocks xmlns:a="http://schemas.openxmlformats.org/drawingml/2006/main" noGrp="1"/>
          </p:cNvSpPr>
          <p:nvPr/>
        </p:nvSpPr>
        <p:spPr>
          <a:xfrm xmlns:a="http://schemas.openxmlformats.org/drawingml/2006/main">
            <a:off x="7443033" y="2121408"/>
            <a:ext cx="177997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Approval with conditions, and those conditions attached to the group rather than only to the facility.</a:t>
            </a:r>
            <a:endParaRPr sz="900"/>
          </a:p>
        </p:txBody>
      </p:sp>
      <p:sp>
        <p:nvSpPr>
          <p:cNvPr id="20" name="Shape 18">
            <a:extLst xmlns:a="http://schemas.openxmlformats.org/drawingml/2006/main">
              <a:ext uri="{FF2B5EF4-FFF2-40B4-BE49-F238E27FC236}">
                <a16:creationId xmlns:a16="http://schemas.microsoft.com/office/drawing/2014/main" id="{9DFA2C14-B700-4A98-97CC-94A07374E943}"/>
              </a:ext>
            </a:extLst>
          </p:cNvPr>
          <p:cNvSpPr>
            <a:spLocks xmlns:a="http://schemas.openxmlformats.org/drawingml/2006/main" noGrp="1"/>
          </p:cNvSpPr>
          <p:nvPr/>
        </p:nvSpPr>
        <p:spPr>
          <a:xfrm xmlns:a="http://schemas.openxmlformats.org/drawingml/2006/main">
            <a:off x="9515612" y="1335024"/>
            <a:ext cx="2109155" cy="1737360"/>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9A74A3D5-B5A9-47F6-89D4-3E5682685998}"/>
              </a:ext>
            </a:extLst>
          </p:cNvPr>
          <p:cNvSpPr>
            <a:spLocks xmlns:a="http://schemas.openxmlformats.org/drawingml/2006/main" noGrp="1"/>
          </p:cNvSpPr>
          <p:nvPr/>
        </p:nvSpPr>
        <p:spPr>
          <a:xfrm xmlns:a="http://schemas.openxmlformats.org/drawingml/2006/main">
            <a:off x="9680204"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3AB8715C-B794-40EC-A68E-BE449B230BEE}"/>
              </a:ext>
            </a:extLst>
          </p:cNvPr>
          <p:cNvSpPr>
            <a:spLocks xmlns:a="http://schemas.openxmlformats.org/drawingml/2006/main" noGrp="1"/>
          </p:cNvSpPr>
          <p:nvPr/>
        </p:nvSpPr>
        <p:spPr>
          <a:xfrm xmlns:a="http://schemas.openxmlformats.org/drawingml/2006/main">
            <a:off x="9680204" y="1664208"/>
            <a:ext cx="177997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Position updated</a:t>
            </a:r>
            <a:endParaRPr sz="1060"/>
          </a:p>
        </p:txBody>
      </p:sp>
      <p:sp>
        <p:nvSpPr>
          <p:cNvPr id="23" name="Text 21">
            <a:extLst xmlns:a="http://schemas.openxmlformats.org/drawingml/2006/main">
              <a:ext uri="{FF2B5EF4-FFF2-40B4-BE49-F238E27FC236}">
                <a16:creationId xmlns:a16="http://schemas.microsoft.com/office/drawing/2014/main" id="{9323AE91-3702-42DD-8E00-5BC9A2B4A74D}"/>
              </a:ext>
            </a:extLst>
          </p:cNvPr>
          <p:cNvSpPr>
            <a:spLocks xmlns:a="http://schemas.openxmlformats.org/drawingml/2006/main" noGrp="1"/>
          </p:cNvSpPr>
          <p:nvPr/>
        </p:nvSpPr>
        <p:spPr>
          <a:xfrm xmlns:a="http://schemas.openxmlformats.org/drawingml/2006/main">
            <a:off x="9680204" y="2121408"/>
            <a:ext cx="177997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The decision changes the group's committed exposure immediately, not at the next reporting cycle.</a:t>
            </a:r>
            <a:endParaRPr sz="900"/>
          </a:p>
        </p:txBody>
      </p:sp>
      <p:sp>
        <p:nvSpPr>
          <p:cNvPr id="24" name="Text 22">
            <a:extLst xmlns:a="http://schemas.openxmlformats.org/drawingml/2006/main">
              <a:ext uri="{FF2B5EF4-FFF2-40B4-BE49-F238E27FC236}">
                <a16:creationId xmlns:a16="http://schemas.microsoft.com/office/drawing/2014/main" id="{23BC0D64-36EE-468D-BE8A-49538FBF6FB6}"/>
              </a:ext>
            </a:extLst>
          </p:cNvPr>
          <p:cNvSpPr>
            <a:spLocks xmlns:a="http://schemas.openxmlformats.org/drawingml/2006/main" noGrp="1"/>
          </p:cNvSpPr>
          <p:nvPr/>
        </p:nvSpPr>
        <p:spPr>
          <a:xfrm xmlns:a="http://schemas.openxmlformats.org/drawingml/2006/main">
            <a:off x="566928" y="33467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completeness belongs on the pack</a:t>
            </a:r>
            <a:endParaRPr sz="1100"/>
          </a:p>
        </p:txBody>
      </p:sp>
      <p:sp>
        <p:nvSpPr>
          <p:cNvPr id="25" name="Shape 23">
            <a:extLst xmlns:a="http://schemas.openxmlformats.org/drawingml/2006/main">
              <a:ext uri="{FF2B5EF4-FFF2-40B4-BE49-F238E27FC236}">
                <a16:creationId xmlns:a16="http://schemas.microsoft.com/office/drawing/2014/main" id="{43F48E5C-D3EE-49EC-809B-44C1AFEC9280}"/>
              </a:ext>
            </a:extLst>
          </p:cNvPr>
          <p:cNvSpPr>
            <a:spLocks xmlns:a="http://schemas.openxmlformats.org/drawingml/2006/main" noGrp="1"/>
          </p:cNvSpPr>
          <p:nvPr/>
        </p:nvSpPr>
        <p:spPr>
          <a:xfrm xmlns:a="http://schemas.openxmlformats.org/drawingml/2006/main">
            <a:off x="566928" y="3602736"/>
            <a:ext cx="3551834" cy="20117"/>
          </a:xfrm>
          <a:prstGeom xmlns:a="http://schemas.openxmlformats.org/drawingml/2006/main" prst="rect">
            <a:avLst/>
          </a:prstGeom>
          <a:solidFill xmlns:a="http://schemas.openxmlformats.org/drawingml/2006/main">
            <a:srgbClr val="B04A25"/>
          </a:solidFill>
        </p:spPr>
      </p:sp>
      <p:sp>
        <p:nvSpPr>
          <p:cNvPr id="26" name="Text 24">
            <a:extLst xmlns:a="http://schemas.openxmlformats.org/drawingml/2006/main">
              <a:ext uri="{FF2B5EF4-FFF2-40B4-BE49-F238E27FC236}">
                <a16:creationId xmlns:a16="http://schemas.microsoft.com/office/drawing/2014/main" id="{AC178E57-FB79-4932-A42B-E09FFD9F1A04}"/>
              </a:ext>
            </a:extLst>
          </p:cNvPr>
          <p:cNvSpPr>
            <a:spLocks xmlns:a="http://schemas.openxmlformats.org/drawingml/2006/main" noGrp="1"/>
          </p:cNvSpPr>
          <p:nvPr/>
        </p:nvSpPr>
        <p:spPr>
          <a:xfrm xmlns:a="http://schemas.openxmlformats.org/drawingml/2006/main">
            <a:off x="566928" y="373075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committee taking a limit decision needs to know how much of the group it can actually see.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Showing exposure without completeness invites the number to be treated as exact when it is an estimate with unknown error.</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Stating it is not an admission of weakness — it is the difference between a measurement and an assertion.</a:t>
            </a:r>
            <a:endParaRPr sz="950"/>
          </a:p>
        </p:txBody>
      </p:sp>
      <p:sp>
        <p:nvSpPr>
          <p:cNvPr id="27" name="Text 25">
            <a:extLst xmlns:a="http://schemas.openxmlformats.org/drawingml/2006/main">
              <a:ext uri="{FF2B5EF4-FFF2-40B4-BE49-F238E27FC236}">
                <a16:creationId xmlns:a16="http://schemas.microsoft.com/office/drawing/2014/main" id="{260D504E-2FBD-4F5C-AB8E-09F9B8CF0269}"/>
              </a:ext>
            </a:extLst>
          </p:cNvPr>
          <p:cNvSpPr>
            <a:spLocks xmlns:a="http://schemas.openxmlformats.org/drawingml/2006/main" noGrp="1"/>
          </p:cNvSpPr>
          <p:nvPr/>
        </p:nvSpPr>
        <p:spPr>
          <a:xfrm xmlns:a="http://schemas.openxmlformats.org/drawingml/2006/main">
            <a:off x="4319930" y="33467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Conditions attach to the group</a:t>
            </a:r>
            <a:endParaRPr sz="1100"/>
          </a:p>
        </p:txBody>
      </p:sp>
      <p:sp>
        <p:nvSpPr>
          <p:cNvPr id="28" name="Shape 26">
            <a:extLst xmlns:a="http://schemas.openxmlformats.org/drawingml/2006/main">
              <a:ext uri="{FF2B5EF4-FFF2-40B4-BE49-F238E27FC236}">
                <a16:creationId xmlns:a16="http://schemas.microsoft.com/office/drawing/2014/main" id="{7E732219-0001-4369-B9F5-B2AF213F15AF}"/>
              </a:ext>
            </a:extLst>
          </p:cNvPr>
          <p:cNvSpPr>
            <a:spLocks xmlns:a="http://schemas.openxmlformats.org/drawingml/2006/main" noGrp="1"/>
          </p:cNvSpPr>
          <p:nvPr/>
        </p:nvSpPr>
        <p:spPr>
          <a:xfrm xmlns:a="http://schemas.openxmlformats.org/drawingml/2006/main">
            <a:off x="4319930" y="3602736"/>
            <a:ext cx="3551834" cy="20117"/>
          </a:xfrm>
          <a:prstGeom xmlns:a="http://schemas.openxmlformats.org/drawingml/2006/main" prst="rect">
            <a:avLst/>
          </a:prstGeom>
          <a:solidFill xmlns:a="http://schemas.openxmlformats.org/drawingml/2006/main">
            <a:srgbClr val="102A43"/>
          </a:solidFill>
        </p:spPr>
      </p:sp>
      <p:sp>
        <p:nvSpPr>
          <p:cNvPr id="29" name="Text 27">
            <a:extLst xmlns:a="http://schemas.openxmlformats.org/drawingml/2006/main">
              <a:ext uri="{FF2B5EF4-FFF2-40B4-BE49-F238E27FC236}">
                <a16:creationId xmlns:a16="http://schemas.microsoft.com/office/drawing/2014/main" id="{C8EAA55B-AC33-498A-B167-C8A70BD7323C}"/>
              </a:ext>
            </a:extLst>
          </p:cNvPr>
          <p:cNvSpPr>
            <a:spLocks xmlns:a="http://schemas.openxmlformats.org/drawingml/2006/main" noGrp="1"/>
          </p:cNvSpPr>
          <p:nvPr/>
        </p:nvSpPr>
        <p:spPr>
          <a:xfrm xmlns:a="http://schemas.openxmlformats.org/drawingml/2006/main">
            <a:off x="4319930" y="373075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condition set on a facility is monitored on that facility. A condition about group leverage or group concentration has to attach to the group.</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If the model cannot hold a group-level condition, it will be recorded as free text and never monitored.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This is the most common gap between what a committee decided and what the system tracks.</a:t>
            </a:r>
            <a:endParaRPr sz="950"/>
          </a:p>
        </p:txBody>
      </p:sp>
      <p:sp>
        <p:nvSpPr>
          <p:cNvPr id="30" name="Text 28">
            <a:extLst xmlns:a="http://schemas.openxmlformats.org/drawingml/2006/main">
              <a:ext uri="{FF2B5EF4-FFF2-40B4-BE49-F238E27FC236}">
                <a16:creationId xmlns:a16="http://schemas.microsoft.com/office/drawing/2014/main" id="{922B1974-F29E-41D4-BCA8-BA27E7C6E872}"/>
              </a:ext>
            </a:extLst>
          </p:cNvPr>
          <p:cNvSpPr>
            <a:spLocks xmlns:a="http://schemas.openxmlformats.org/drawingml/2006/main" noGrp="1"/>
          </p:cNvSpPr>
          <p:nvPr/>
        </p:nvSpPr>
        <p:spPr>
          <a:xfrm xmlns:a="http://schemas.openxmlformats.org/drawingml/2006/main">
            <a:off x="8072933" y="334670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update must be immediate</a:t>
            </a:r>
            <a:endParaRPr sz="1100"/>
          </a:p>
        </p:txBody>
      </p:sp>
      <p:sp>
        <p:nvSpPr>
          <p:cNvPr id="31" name="Shape 29">
            <a:extLst xmlns:a="http://schemas.openxmlformats.org/drawingml/2006/main">
              <a:ext uri="{FF2B5EF4-FFF2-40B4-BE49-F238E27FC236}">
                <a16:creationId xmlns:a16="http://schemas.microsoft.com/office/drawing/2014/main" id="{11E3F833-1740-49B9-9E4A-322CBC2250C1}"/>
              </a:ext>
            </a:extLst>
          </p:cNvPr>
          <p:cNvSpPr>
            <a:spLocks xmlns:a="http://schemas.openxmlformats.org/drawingml/2006/main" noGrp="1"/>
          </p:cNvSpPr>
          <p:nvPr/>
        </p:nvSpPr>
        <p:spPr>
          <a:xfrm xmlns:a="http://schemas.openxmlformats.org/drawingml/2006/main">
            <a:off x="8072933" y="3602736"/>
            <a:ext cx="3551834" cy="20117"/>
          </a:xfrm>
          <a:prstGeom xmlns:a="http://schemas.openxmlformats.org/drawingml/2006/main" prst="rect">
            <a:avLst/>
          </a:prstGeom>
          <a:solidFill xmlns:a="http://schemas.openxmlformats.org/drawingml/2006/main">
            <a:srgbClr val="486581"/>
          </a:solidFill>
        </p:spPr>
      </p:sp>
      <p:sp>
        <p:nvSpPr>
          <p:cNvPr id="32" name="Text 30">
            <a:extLst xmlns:a="http://schemas.openxmlformats.org/drawingml/2006/main">
              <a:ext uri="{FF2B5EF4-FFF2-40B4-BE49-F238E27FC236}">
                <a16:creationId xmlns:a16="http://schemas.microsoft.com/office/drawing/2014/main" id="{8DFB29F2-FBE1-44B3-8CC0-194307A153EB}"/>
              </a:ext>
            </a:extLst>
          </p:cNvPr>
          <p:cNvSpPr>
            <a:spLocks xmlns:a="http://schemas.openxmlformats.org/drawingml/2006/main" noGrp="1"/>
          </p:cNvSpPr>
          <p:nvPr/>
        </p:nvSpPr>
        <p:spPr>
          <a:xfrm xmlns:a="http://schemas.openxmlformats.org/drawingml/2006/main">
            <a:off x="8072933" y="373075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Committed exposure changes when the committee decides, not when the facility books.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bank whose group position updates on booking is blind during the gap, which is exactly when a second proposal on the same group arrives.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Modelling committed separately from drawn is what closes it.</a:t>
            </a:r>
            <a:endParaRPr sz="950"/>
          </a:p>
        </p:txBody>
      </p:sp>
      <p:sp>
        <p:nvSpPr>
          <p:cNvPr id="33" name="Shape 31">
            <a:extLst xmlns:a="http://schemas.openxmlformats.org/drawingml/2006/main">
              <a:ext uri="{FF2B5EF4-FFF2-40B4-BE49-F238E27FC236}">
                <a16:creationId xmlns:a16="http://schemas.microsoft.com/office/drawing/2014/main" id="{192C9AF9-2E97-4512-9BD6-81B24B8B8DE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20C89CA5-D3EB-44A2-98DE-72098A3CB69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corporate banking delivery record across Gulf and regional institutions · author's analysis</a:t>
            </a:r>
            <a:endParaRPr sz="850"/>
          </a:p>
        </p:txBody>
      </p:sp>
      <p:sp>
        <p:nvSpPr>
          <p:cNvPr id="35" name="Text 33">
            <a:extLst xmlns:a="http://schemas.openxmlformats.org/drawingml/2006/main">
              <a:ext uri="{FF2B5EF4-FFF2-40B4-BE49-F238E27FC236}">
                <a16:creationId xmlns:a16="http://schemas.microsoft.com/office/drawing/2014/main" id="{24B1E4C5-428D-4A8E-AD5E-12B38A6B164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152499577"/>
      </p:ext>
    </p:extLst>
  </p:cSld>
</p:sld>
</file>

<file path=ppt/slides/slide2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313AFE9-D5BE-4B4E-8F18-7231E58A63F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F2DB1EF0-43D0-4F5E-AFDC-40FDE023593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judgements about group exposure that carry to any corporate bank</a:t>
            </a:r>
            <a:endParaRPr sz="1900"/>
          </a:p>
        </p:txBody>
      </p:sp>
      <p:sp>
        <p:nvSpPr>
          <p:cNvPr id="4" name="Text 2">
            <a:extLst xmlns:a="http://schemas.openxmlformats.org/drawingml/2006/main">
              <a:ext uri="{FF2B5EF4-FFF2-40B4-BE49-F238E27FC236}">
                <a16:creationId xmlns:a16="http://schemas.microsoft.com/office/drawing/2014/main" id="{4282496C-F443-467A-BEA8-2930EE64586F}"/>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B1C3989A-82F9-4336-B2F6-0B1C3C4A7924}"/>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Treat relationships as objects, not attributes</a:t>
            </a:r>
            <a:endParaRPr sz="1200"/>
          </a:p>
        </p:txBody>
      </p:sp>
      <p:sp>
        <p:nvSpPr>
          <p:cNvPr id="6" name="Text 4">
            <a:extLst xmlns:a="http://schemas.openxmlformats.org/drawingml/2006/main">
              <a:ext uri="{FF2B5EF4-FFF2-40B4-BE49-F238E27FC236}">
                <a16:creationId xmlns:a16="http://schemas.microsoft.com/office/drawing/2014/main" id="{45694E03-B3B8-4368-9539-5127037B9D09}"/>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Ownership, guarantee, cross-holding and common control need their own lifecycle, evidence and versioning. Modelled as fields on an entity they cannot be dated, sourced or verified — and a group view built on them cannot be defended.</a:t>
            </a:r>
            <a:endParaRPr sz="1000"/>
          </a:p>
        </p:txBody>
      </p:sp>
      <p:sp>
        <p:nvSpPr>
          <p:cNvPr id="7" name="Shape 5">
            <a:extLst xmlns:a="http://schemas.openxmlformats.org/drawingml/2006/main">
              <a:ext uri="{FF2B5EF4-FFF2-40B4-BE49-F238E27FC236}">
                <a16:creationId xmlns:a16="http://schemas.microsoft.com/office/drawing/2014/main" id="{3DA2DC33-3A70-40C4-82C0-6294789F4563}"/>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0F504A80-B1B0-44E0-A7E1-DE9A4883C909}"/>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28ADC9D4-7931-4490-B66E-32EFC95EC217}"/>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Version the hierarchy on day one</a:t>
            </a:r>
            <a:endParaRPr sz="1200"/>
          </a:p>
        </p:txBody>
      </p:sp>
      <p:sp>
        <p:nvSpPr>
          <p:cNvPr id="10" name="Text 8">
            <a:extLst xmlns:a="http://schemas.openxmlformats.org/drawingml/2006/main">
              <a:ext uri="{FF2B5EF4-FFF2-40B4-BE49-F238E27FC236}">
                <a16:creationId xmlns:a16="http://schemas.microsoft.com/office/drawing/2014/main" id="{0AB5EE23-A02C-4E75-8BB7-2AC87006A121}"/>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It is the only property on the list that genuinely cannot be retrofitted, because the history does not exist to backfill. The cost of skipping it is invisible until a past committee decision has to be reproduced.</a:t>
            </a:r>
            <a:endParaRPr sz="1000"/>
          </a:p>
        </p:txBody>
      </p:sp>
      <p:sp>
        <p:nvSpPr>
          <p:cNvPr id="11" name="Shape 9">
            <a:extLst xmlns:a="http://schemas.openxmlformats.org/drawingml/2006/main">
              <a:ext uri="{FF2B5EF4-FFF2-40B4-BE49-F238E27FC236}">
                <a16:creationId xmlns:a16="http://schemas.microsoft.com/office/drawing/2014/main" id="{3321EBB6-8255-4250-A588-E45CF230E228}"/>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65386A04-7D01-437C-9163-73E0DA05389F}"/>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8C8D44A9-2B51-4755-8064-7D14897ED7B5}"/>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Publish completeness with the number</a:t>
            </a:r>
            <a:endParaRPr sz="1200"/>
          </a:p>
        </p:txBody>
      </p:sp>
      <p:sp>
        <p:nvSpPr>
          <p:cNvPr id="14" name="Text 12">
            <a:extLst xmlns:a="http://schemas.openxmlformats.org/drawingml/2006/main">
              <a:ext uri="{FF2B5EF4-FFF2-40B4-BE49-F238E27FC236}">
                <a16:creationId xmlns:a16="http://schemas.microsoft.com/office/drawing/2014/main" id="{0E919BE4-D582-4A4D-AF8F-F20937D8030E}"/>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group exposure shown as a bare figure invites treatment as exact. Shown with the share of the group verified, it becomes a measurement with a known limitation — which is what a committee can actually use.</a:t>
            </a:r>
            <a:endParaRPr sz="1000"/>
          </a:p>
        </p:txBody>
      </p:sp>
      <p:sp>
        <p:nvSpPr>
          <p:cNvPr id="15" name="Shape 13">
            <a:extLst xmlns:a="http://schemas.openxmlformats.org/drawingml/2006/main">
              <a:ext uri="{FF2B5EF4-FFF2-40B4-BE49-F238E27FC236}">
                <a16:creationId xmlns:a16="http://schemas.microsoft.com/office/drawing/2014/main" id="{2DF49FAF-6684-4F11-9BF4-CBC6576A0EB0}"/>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46AA5606-9877-4D87-9311-F7EE479ECD2B}"/>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F2AC9D73-ED98-4A2E-BE15-DC7AAF98C81E}"/>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Give the group somewhere to hold a decision</a:t>
            </a:r>
            <a:endParaRPr sz="1200"/>
          </a:p>
        </p:txBody>
      </p:sp>
      <p:sp>
        <p:nvSpPr>
          <p:cNvPr id="18" name="Text 16">
            <a:extLst xmlns:a="http://schemas.openxmlformats.org/drawingml/2006/main">
              <a:ext uri="{FF2B5EF4-FFF2-40B4-BE49-F238E27FC236}">
                <a16:creationId xmlns:a16="http://schemas.microsoft.com/office/drawing/2014/main" id="{487F1BCB-F894-4CC7-A54A-20DBC3C8AA96}"/>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Conditions, limits and appetite are set at group level. If the model cannot carry them there, they become free text in a minute and are never monitored — the most common gap between what was decided and what is tracked.</a:t>
            </a:r>
            <a:endParaRPr sz="1000"/>
          </a:p>
        </p:txBody>
      </p:sp>
      <p:sp>
        <p:nvSpPr>
          <p:cNvPr id="19" name="Shape 17">
            <a:extLst xmlns:a="http://schemas.openxmlformats.org/drawingml/2006/main">
              <a:ext uri="{FF2B5EF4-FFF2-40B4-BE49-F238E27FC236}">
                <a16:creationId xmlns:a16="http://schemas.microsoft.com/office/drawing/2014/main" id="{A38E0853-DFDA-4AE0-A126-13FFABF69D61}"/>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8F440688-3A97-4A40-A8AB-E73B20FA14EB}"/>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Every corporate bank can report exposure by counterparty. The ones that can answer for the group have made a data-model commitment years earlier — and no reporting layer, however good, substitutes for it.</a:t>
            </a:r>
            <a:endParaRPr sz="1200"/>
          </a:p>
        </p:txBody>
      </p:sp>
      <p:sp>
        <p:nvSpPr>
          <p:cNvPr id="21" name="Shape 19">
            <a:extLst xmlns:a="http://schemas.openxmlformats.org/drawingml/2006/main">
              <a:ext uri="{FF2B5EF4-FFF2-40B4-BE49-F238E27FC236}">
                <a16:creationId xmlns:a16="http://schemas.microsoft.com/office/drawing/2014/main" id="{B7B7F1FC-3A12-4C49-800A-3799385C6F0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BFDB1CA4-D3A9-479F-B114-7D80845DB5F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FBE70AEF-5C9A-45A5-BA7D-DA157462E97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507138825"/>
      </p:ext>
    </p:extLst>
  </p:cSld>
</p:sld>
</file>

<file path=ppt/slides/slide21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B4C91BF-1F72-4B3E-8D94-88C578D6FFBB}"/>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DECISION BRIEF  ·  20 OF 30</a:t>
            </a:r>
            <a:endParaRPr sz="950"/>
          </a:p>
        </p:txBody>
      </p:sp>
      <p:sp>
        <p:nvSpPr>
          <p:cNvPr id="3" name="Text 1">
            <a:extLst xmlns:a="http://schemas.openxmlformats.org/drawingml/2006/main">
              <a:ext uri="{FF2B5EF4-FFF2-40B4-BE49-F238E27FC236}">
                <a16:creationId xmlns:a16="http://schemas.microsoft.com/office/drawing/2014/main" id="{7A1B0AD2-3537-4DCF-B2A8-649AB0DF45BA}"/>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Maybank</a:t>
            </a:r>
            <a:endParaRPr sz="3800"/>
          </a:p>
        </p:txBody>
      </p:sp>
      <p:sp>
        <p:nvSpPr>
          <p:cNvPr id="4" name="Text 2">
            <a:extLst xmlns:a="http://schemas.openxmlformats.org/drawingml/2006/main">
              <a:ext uri="{FF2B5EF4-FFF2-40B4-BE49-F238E27FC236}">
                <a16:creationId xmlns:a16="http://schemas.microsoft.com/office/drawing/2014/main" id="{897DC416-3DA5-452B-878A-D4C05E2F836C}"/>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Nine architectures, two finalists, one decision</a:t>
            </a:r>
            <a:endParaRPr sz="1800"/>
          </a:p>
        </p:txBody>
      </p:sp>
      <p:sp>
        <p:nvSpPr>
          <p:cNvPr id="5" name="Text 3">
            <a:extLst xmlns:a="http://schemas.openxmlformats.org/drawingml/2006/main">
              <a:ext uri="{FF2B5EF4-FFF2-40B4-BE49-F238E27FC236}">
                <a16:creationId xmlns:a16="http://schemas.microsoft.com/office/drawing/2014/main" id="{2D5808AA-C15A-4589-ACA8-23B2574F7F83}"/>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structured tenancy decision for a multi-country CRM deployment across three ASEAN jurisdictions and two business verticals — narrowed from nine candidate architectures to a scored recommendation.</a:t>
            </a:r>
            <a:endParaRPr sz="1150"/>
          </a:p>
        </p:txBody>
      </p:sp>
      <p:sp>
        <p:nvSpPr>
          <p:cNvPr id="6" name="Shape 4">
            <a:extLst xmlns:a="http://schemas.openxmlformats.org/drawingml/2006/main">
              <a:ext uri="{FF2B5EF4-FFF2-40B4-BE49-F238E27FC236}">
                <a16:creationId xmlns:a16="http://schemas.microsoft.com/office/drawing/2014/main" id="{933C04BA-95A7-4D45-8A97-B4F23ED6B084}"/>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5CE02057-C1E7-4DFB-9215-EACA92B36E8B}"/>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9 → 2</a:t>
            </a:r>
            <a:endParaRPr sz="2600"/>
          </a:p>
        </p:txBody>
      </p:sp>
      <p:sp>
        <p:nvSpPr>
          <p:cNvPr id="8" name="Text 6">
            <a:extLst xmlns:a="http://schemas.openxmlformats.org/drawingml/2006/main">
              <a:ext uri="{FF2B5EF4-FFF2-40B4-BE49-F238E27FC236}">
                <a16:creationId xmlns:a16="http://schemas.microsoft.com/office/drawing/2014/main" id="{CD94E811-DF68-40D9-9F8E-592A466F5BA3}"/>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architectures</a:t>
            </a:r>
            <a:endParaRPr sz="900"/>
          </a:p>
          <a:p xmlns:a="http://schemas.openxmlformats.org/drawingml/2006/main">
            <a:pPr marL="0" indent="0">
              <a:lnSpc>
                <a:spcPts val="1100"/>
              </a:lnSpc>
              <a:buNone/>
            </a:pPr>
            <a:r>
              <a:rPr sz="900">
                <a:solidFill>
                  <a:srgbClr val="8FA9C4"/>
                </a:solidFill>
                <a:latin typeface="Arial"/>
                <a:ea typeface="Arial"/>
                <a:cs typeface="Arial"/>
              </a:rPr>
              <a:t>evaluated</a:t>
            </a:r>
            <a:endParaRPr sz="900"/>
          </a:p>
        </p:txBody>
      </p:sp>
      <p:sp>
        <p:nvSpPr>
          <p:cNvPr id="9" name="Text 7">
            <a:extLst xmlns:a="http://schemas.openxmlformats.org/drawingml/2006/main">
              <a:ext uri="{FF2B5EF4-FFF2-40B4-BE49-F238E27FC236}">
                <a16:creationId xmlns:a16="http://schemas.microsoft.com/office/drawing/2014/main" id="{6957D519-DC75-425E-94CE-BA4972236B8D}"/>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0" name="Text 8">
            <a:extLst xmlns:a="http://schemas.openxmlformats.org/drawingml/2006/main">
              <a:ext uri="{FF2B5EF4-FFF2-40B4-BE49-F238E27FC236}">
                <a16:creationId xmlns:a16="http://schemas.microsoft.com/office/drawing/2014/main" id="{30C36A1F-260E-4B38-A6F1-A952306DC520}"/>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jurisdictions</a:t>
            </a:r>
            <a:endParaRPr sz="900"/>
          </a:p>
        </p:txBody>
      </p:sp>
      <p:sp>
        <p:nvSpPr>
          <p:cNvPr id="11" name="Text 9">
            <a:extLst xmlns:a="http://schemas.openxmlformats.org/drawingml/2006/main">
              <a:ext uri="{FF2B5EF4-FFF2-40B4-BE49-F238E27FC236}">
                <a16:creationId xmlns:a16="http://schemas.microsoft.com/office/drawing/2014/main" id="{9646B60F-42DC-4275-AB6C-F84FB0DB3C53}"/>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12" name="Text 10">
            <a:extLst xmlns:a="http://schemas.openxmlformats.org/drawingml/2006/main">
              <a:ext uri="{FF2B5EF4-FFF2-40B4-BE49-F238E27FC236}">
                <a16:creationId xmlns:a16="http://schemas.microsoft.com/office/drawing/2014/main" id="{622B75F9-0773-4377-9B54-E56B30BE598D}"/>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business</a:t>
            </a:r>
            <a:endParaRPr sz="900"/>
          </a:p>
          <a:p xmlns:a="http://schemas.openxmlformats.org/drawingml/2006/main">
            <a:pPr marL="0" indent="0">
              <a:lnSpc>
                <a:spcPts val="1100"/>
              </a:lnSpc>
              <a:buNone/>
            </a:pPr>
            <a:r>
              <a:rPr sz="900">
                <a:solidFill>
                  <a:srgbClr val="8FA9C4"/>
                </a:solidFill>
                <a:latin typeface="Arial"/>
                <a:ea typeface="Arial"/>
                <a:cs typeface="Arial"/>
              </a:rPr>
              <a:t>verticals</a:t>
            </a:r>
            <a:endParaRPr sz="900"/>
          </a:p>
        </p:txBody>
      </p:sp>
      <p:sp>
        <p:nvSpPr>
          <p:cNvPr id="13" name="Text 11">
            <a:extLst xmlns:a="http://schemas.openxmlformats.org/drawingml/2006/main">
              <a:ext uri="{FF2B5EF4-FFF2-40B4-BE49-F238E27FC236}">
                <a16:creationId xmlns:a16="http://schemas.microsoft.com/office/drawing/2014/main" id="{B201F4DF-4E56-47F5-8D7F-D0B8CD248D4E}"/>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13,320</a:t>
            </a:r>
            <a:endParaRPr sz="2600"/>
          </a:p>
        </p:txBody>
      </p:sp>
      <p:sp>
        <p:nvSpPr>
          <p:cNvPr id="14" name="Text 12">
            <a:extLst xmlns:a="http://schemas.openxmlformats.org/drawingml/2006/main">
              <a:ext uri="{FF2B5EF4-FFF2-40B4-BE49-F238E27FC236}">
                <a16:creationId xmlns:a16="http://schemas.microsoft.com/office/drawing/2014/main" id="{667EE3A0-3A6E-4B11-956E-6E400C780305}"/>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users in scope</a:t>
            </a:r>
            <a:endParaRPr sz="900"/>
          </a:p>
        </p:txBody>
      </p:sp>
      <p:sp>
        <p:nvSpPr>
          <p:cNvPr id="15" name="Text 13">
            <a:extLst xmlns:a="http://schemas.openxmlformats.org/drawingml/2006/main">
              <a:ext uri="{FF2B5EF4-FFF2-40B4-BE49-F238E27FC236}">
                <a16:creationId xmlns:a16="http://schemas.microsoft.com/office/drawing/2014/main" id="{6D173FD0-BD4D-4912-B054-5F7BFE014CB3}"/>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7</a:t>
            </a:r>
            <a:endParaRPr sz="2600"/>
          </a:p>
        </p:txBody>
      </p:sp>
      <p:sp>
        <p:nvSpPr>
          <p:cNvPr id="16" name="Text 14">
            <a:extLst xmlns:a="http://schemas.openxmlformats.org/drawingml/2006/main">
              <a:ext uri="{FF2B5EF4-FFF2-40B4-BE49-F238E27FC236}">
                <a16:creationId xmlns:a16="http://schemas.microsoft.com/office/drawing/2014/main" id="{3806D593-A6E1-4813-97DE-58474A291952}"/>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weighted</a:t>
            </a:r>
            <a:endParaRPr sz="900"/>
          </a:p>
          <a:p xmlns:a="http://schemas.openxmlformats.org/drawingml/2006/main">
            <a:pPr marL="0" indent="0">
              <a:lnSpc>
                <a:spcPts val="1100"/>
              </a:lnSpc>
              <a:buNone/>
            </a:pPr>
            <a:r>
              <a:rPr sz="900">
                <a:solidFill>
                  <a:srgbClr val="8FA9C4"/>
                </a:solidFill>
                <a:latin typeface="Arial"/>
                <a:ea typeface="Arial"/>
                <a:cs typeface="Arial"/>
              </a:rPr>
              <a:t>criteria</a:t>
            </a:r>
            <a:endParaRPr sz="900"/>
          </a:p>
        </p:txBody>
      </p:sp>
      <p:sp>
        <p:nvSpPr>
          <p:cNvPr id="17" name="Text 15">
            <a:extLst xmlns:a="http://schemas.openxmlformats.org/drawingml/2006/main">
              <a:ext uri="{FF2B5EF4-FFF2-40B4-BE49-F238E27FC236}">
                <a16:creationId xmlns:a16="http://schemas.microsoft.com/office/drawing/2014/main" id="{D0461F00-E882-409B-85DD-A6794F869D4F}"/>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33 v 26</a:t>
            </a:r>
            <a:endParaRPr sz="2600"/>
          </a:p>
        </p:txBody>
      </p:sp>
      <p:sp>
        <p:nvSpPr>
          <p:cNvPr id="18" name="Text 16">
            <a:extLst xmlns:a="http://schemas.openxmlformats.org/drawingml/2006/main">
              <a:ext uri="{FF2B5EF4-FFF2-40B4-BE49-F238E27FC236}">
                <a16:creationId xmlns:a16="http://schemas.microsoft.com/office/drawing/2014/main" id="{A29EE822-0FA0-4492-9688-AC0EBCB80738}"/>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composite</a:t>
            </a:r>
            <a:endParaRPr sz="900"/>
          </a:p>
          <a:p xmlns:a="http://schemas.openxmlformats.org/drawingml/2006/main">
            <a:pPr marL="0" indent="0">
              <a:lnSpc>
                <a:spcPts val="1100"/>
              </a:lnSpc>
              <a:buNone/>
            </a:pPr>
            <a:r>
              <a:rPr sz="900">
                <a:solidFill>
                  <a:srgbClr val="8FA9C4"/>
                </a:solidFill>
                <a:latin typeface="Arial"/>
                <a:ea typeface="Arial"/>
                <a:cs typeface="Arial"/>
              </a:rPr>
              <a:t>scores</a:t>
            </a:r>
            <a:endParaRPr sz="900"/>
          </a:p>
        </p:txBody>
      </p:sp>
      <p:sp>
        <p:nvSpPr>
          <p:cNvPr id="19" name="Shape 17">
            <a:extLst xmlns:a="http://schemas.openxmlformats.org/drawingml/2006/main">
              <a:ext uri="{FF2B5EF4-FFF2-40B4-BE49-F238E27FC236}">
                <a16:creationId xmlns:a16="http://schemas.microsoft.com/office/drawing/2014/main" id="{117BBC0A-B0C0-43B6-8CD6-B412C3B601D8}"/>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1368A999-F94B-4B74-98DC-B690AAB5AFC0}"/>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DECISION PARAMETERS  ·  AS SET BY THE PROGRAMME</a:t>
            </a:r>
            <a:endParaRPr sz="800"/>
          </a:p>
        </p:txBody>
      </p:sp>
      <p:sp>
        <p:nvSpPr>
          <p:cNvPr id="21" name="Text 19">
            <a:extLst xmlns:a="http://schemas.openxmlformats.org/drawingml/2006/main">
              <a:ext uri="{FF2B5EF4-FFF2-40B4-BE49-F238E27FC236}">
                <a16:creationId xmlns:a16="http://schemas.microsoft.com/office/drawing/2014/main" id="{9CE30D92-38AE-42B7-B1D3-007D2CE93692}"/>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Three regulators to satisfy simultaneously    ·    one non-negotiable isolation constraint    ·    a five-year infrastructure cost horizon</a:t>
            </a:r>
            <a:endParaRPr sz="1050"/>
          </a:p>
        </p:txBody>
      </p:sp>
      <p:sp>
        <p:nvSpPr>
          <p:cNvPr id="22" name="Text 20">
            <a:extLst xmlns:a="http://schemas.openxmlformats.org/drawingml/2006/main">
              <a:ext uri="{FF2B5EF4-FFF2-40B4-BE49-F238E27FC236}">
                <a16:creationId xmlns:a16="http://schemas.microsoft.com/office/drawing/2014/main" id="{D5908B8E-50F4-4D5A-89F4-664196322F5C}"/>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Deployment analysis authored for executive decision and approval  ·  2026</a:t>
            </a:r>
            <a:endParaRPr sz="1200"/>
          </a:p>
        </p:txBody>
      </p:sp>
      <p:sp>
        <p:nvSpPr>
          <p:cNvPr id="23" name="Text 21">
            <a:extLst xmlns:a="http://schemas.openxmlformats.org/drawingml/2006/main">
              <a:ext uri="{FF2B5EF4-FFF2-40B4-BE49-F238E27FC236}">
                <a16:creationId xmlns:a16="http://schemas.microsoft.com/office/drawing/2014/main" id="{CBCD63CC-8734-48F1-91B0-4683F9583237}"/>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Scoring reflects the criteria and weights agreed with the programme; cost ranges are estimates, not quoted figures.</a:t>
            </a:r>
            <a:endParaRPr sz="850"/>
          </a:p>
        </p:txBody>
      </p:sp>
    </p:spTree>
    <p:extLst>
      <p:ext uri="{BB962C8B-B14F-4D97-AF65-F5344CB8AC3E}">
        <p14:creationId xmlns:p14="http://schemas.microsoft.com/office/powerpoint/2010/main" val="1308112288"/>
      </p:ext>
    </p:extLst>
  </p:cSld>
</p:sld>
</file>

<file path=ppt/slides/slide2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508C3CF-F939-4B81-A480-78AB318E6A3A}"/>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81F8EE73-1B9C-4BB0-83EF-0E99F0B6046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Both finalists satisfy every regulator and the isolation constraint — so the decision</a:t>
            </a:r>
            <a:endParaRPr sz="1900"/>
          </a:p>
          <a:p xmlns:a="http://schemas.openxmlformats.org/drawingml/2006/main">
            <a:pPr marL="0" indent="0">
              <a:lnSpc>
                <a:spcPts val="2400"/>
              </a:lnSpc>
              <a:buNone/>
            </a:pPr>
            <a:r>
              <a:rPr sz="1900" b="1">
                <a:solidFill>
                  <a:srgbClr val="102A43"/>
                </a:solidFill>
                <a:latin typeface="Arial"/>
                <a:ea typeface="Arial"/>
                <a:cs typeface="Arial"/>
              </a:rPr>
              <a:t>reduces to one variable, and on that variable the consolidated option wins 33 to 26</a:t>
            </a:r>
            <a:endParaRPr sz="1900"/>
          </a:p>
        </p:txBody>
      </p:sp>
      <p:sp>
        <p:nvSpPr>
          <p:cNvPr id="4" name="Shape 2">
            <a:extLst xmlns:a="http://schemas.openxmlformats.org/drawingml/2006/main">
              <a:ext uri="{FF2B5EF4-FFF2-40B4-BE49-F238E27FC236}">
                <a16:creationId xmlns:a16="http://schemas.microsoft.com/office/drawing/2014/main" id="{16633D87-7715-447C-A35C-57DF1474C353}"/>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A9FDDF05-54A6-4CC7-BE93-B662C26E4546}"/>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8FA088B0-193B-475A-85B8-1A965483FDCA}"/>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CRM deployment serving 13,320 users across Malaysia, Singapore and Indonesia, split between a consumer financial-services vertical and a wholesale banking vertical.</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Three regulators impose distinct data-residency and sovereignty requirements that must all be met simultaneously.</a:t>
            </a:r>
            <a:endParaRPr sz="980"/>
          </a:p>
        </p:txBody>
      </p:sp>
      <p:sp>
        <p:nvSpPr>
          <p:cNvPr id="7" name="Shape 5">
            <a:extLst xmlns:a="http://schemas.openxmlformats.org/drawingml/2006/main">
              <a:ext uri="{FF2B5EF4-FFF2-40B4-BE49-F238E27FC236}">
                <a16:creationId xmlns:a16="http://schemas.microsoft.com/office/drawing/2014/main" id="{4F4DB634-BE5F-4EF9-B099-F544E0F885D4}"/>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DDF0191A-4CDE-44C0-8C05-474F449784A7}"/>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FE3AF989-08DA-49B3-9A6C-845AD7D1DCF5}"/>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Nine candidate architectures were evaluated. Most failed on a regulator or on the wholesale isolation constraint.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Two survived — and because both satisfy every hard requirement, the usual compliance argument cannot separate them. The decision turns entirely on the tenancy model for the consumer vertical in the two markets that can share one.</a:t>
            </a:r>
            <a:endParaRPr sz="980"/>
          </a:p>
        </p:txBody>
      </p:sp>
      <p:sp>
        <p:nvSpPr>
          <p:cNvPr id="10" name="Shape 8">
            <a:extLst xmlns:a="http://schemas.openxmlformats.org/drawingml/2006/main">
              <a:ext uri="{FF2B5EF4-FFF2-40B4-BE49-F238E27FC236}">
                <a16:creationId xmlns:a16="http://schemas.microsoft.com/office/drawing/2014/main" id="{CC197F2A-ACD8-44FC-8AF1-E7136FC90382}"/>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2C0F6E0B-9CE9-4222-8259-BA6ADFB6E9AE}"/>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recommendation</a:t>
            </a:r>
            <a:endParaRPr sz="1250"/>
          </a:p>
        </p:txBody>
      </p:sp>
      <p:sp>
        <p:nvSpPr>
          <p:cNvPr id="12" name="Text 10">
            <a:extLst xmlns:a="http://schemas.openxmlformats.org/drawingml/2006/main">
              <a:ext uri="{FF2B5EF4-FFF2-40B4-BE49-F238E27FC236}">
                <a16:creationId xmlns:a16="http://schemas.microsoft.com/office/drawing/2014/main" id="{906D7192-09A7-49D6-A632-A543AD7CB539}"/>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Consolidate the consumer vertical across the two shareable markets into one multi-tenant application with a database per country, and keep the wholesale vertical single-tenant everywhere.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It leads on four of seven criteria, removes one application instance, and preserves identical protection for wholesale data.</a:t>
            </a:r>
            <a:endParaRPr sz="980"/>
          </a:p>
        </p:txBody>
      </p:sp>
      <p:sp>
        <p:nvSpPr>
          <p:cNvPr id="13" name="Text 11">
            <a:extLst xmlns:a="http://schemas.openxmlformats.org/drawingml/2006/main">
              <a:ext uri="{FF2B5EF4-FFF2-40B4-BE49-F238E27FC236}">
                <a16:creationId xmlns:a16="http://schemas.microsoft.com/office/drawing/2014/main" id="{210DC630-917E-4087-832D-4112640A7DB9}"/>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81A7AEA6-A8DF-4B5C-BFD4-881E4470F9B3}"/>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C95E1300-9C14-43DE-803D-389DEA4022D4}"/>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9</a:t>
            </a:r>
            <a:endParaRPr sz="2100"/>
          </a:p>
        </p:txBody>
      </p:sp>
      <p:sp>
        <p:nvSpPr>
          <p:cNvPr id="16" name="Text 14">
            <a:extLst xmlns:a="http://schemas.openxmlformats.org/drawingml/2006/main">
              <a:ext uri="{FF2B5EF4-FFF2-40B4-BE49-F238E27FC236}">
                <a16:creationId xmlns:a16="http://schemas.microsoft.com/office/drawing/2014/main" id="{0A07C2C9-6309-49DD-8F12-7E5EF8D8C455}"/>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architectures evaluated</a:t>
            </a:r>
            <a:endParaRPr sz="860"/>
          </a:p>
        </p:txBody>
      </p:sp>
      <p:sp>
        <p:nvSpPr>
          <p:cNvPr id="17" name="Shape 15">
            <a:extLst xmlns:a="http://schemas.openxmlformats.org/drawingml/2006/main">
              <a:ext uri="{FF2B5EF4-FFF2-40B4-BE49-F238E27FC236}">
                <a16:creationId xmlns:a16="http://schemas.microsoft.com/office/drawing/2014/main" id="{845FE5D1-F8AA-45F1-8AA1-AA67F6530FF9}"/>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A6428CEC-3321-4351-A6CA-8540A99DDDEF}"/>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19" name="Text 17">
            <a:extLst xmlns:a="http://schemas.openxmlformats.org/drawingml/2006/main">
              <a:ext uri="{FF2B5EF4-FFF2-40B4-BE49-F238E27FC236}">
                <a16:creationId xmlns:a16="http://schemas.microsoft.com/office/drawing/2014/main" id="{7EDC7B2F-F0D7-414A-95B7-F1FC6B15F5B7}"/>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finalists</a:t>
            </a:r>
            <a:endParaRPr sz="860"/>
          </a:p>
        </p:txBody>
      </p:sp>
      <p:sp>
        <p:nvSpPr>
          <p:cNvPr id="20" name="Shape 18">
            <a:extLst xmlns:a="http://schemas.openxmlformats.org/drawingml/2006/main">
              <a:ext uri="{FF2B5EF4-FFF2-40B4-BE49-F238E27FC236}">
                <a16:creationId xmlns:a16="http://schemas.microsoft.com/office/drawing/2014/main" id="{4EA2A8FC-0B75-4518-8D0E-0A9D085C081F}"/>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3CC219A9-EEAB-4778-AF97-B8189AA567CA}"/>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33 v 26</a:t>
            </a:r>
            <a:endParaRPr sz="2100"/>
          </a:p>
        </p:txBody>
      </p:sp>
      <p:sp>
        <p:nvSpPr>
          <p:cNvPr id="22" name="Text 20">
            <a:extLst xmlns:a="http://schemas.openxmlformats.org/drawingml/2006/main">
              <a:ext uri="{FF2B5EF4-FFF2-40B4-BE49-F238E27FC236}">
                <a16:creationId xmlns:a16="http://schemas.microsoft.com/office/drawing/2014/main" id="{A48CB438-022A-4B5D-A537-36F12F31CC63}"/>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composite score</a:t>
            </a:r>
            <a:endParaRPr sz="860"/>
          </a:p>
        </p:txBody>
      </p:sp>
      <p:sp>
        <p:nvSpPr>
          <p:cNvPr id="23" name="Shape 21">
            <a:extLst xmlns:a="http://schemas.openxmlformats.org/drawingml/2006/main">
              <a:ext uri="{FF2B5EF4-FFF2-40B4-BE49-F238E27FC236}">
                <a16:creationId xmlns:a16="http://schemas.microsoft.com/office/drawing/2014/main" id="{70C9652E-8D56-4C14-A8D4-D1513C18DF63}"/>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359F7614-501C-4242-A5B0-1F663CDF5C4F}"/>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 of 7</a:t>
            </a:r>
            <a:endParaRPr sz="2100"/>
          </a:p>
        </p:txBody>
      </p:sp>
      <p:sp>
        <p:nvSpPr>
          <p:cNvPr id="25" name="Text 23">
            <a:extLst xmlns:a="http://schemas.openxmlformats.org/drawingml/2006/main">
              <a:ext uri="{FF2B5EF4-FFF2-40B4-BE49-F238E27FC236}">
                <a16:creationId xmlns:a16="http://schemas.microsoft.com/office/drawing/2014/main" id="{8D247289-FEB0-48D7-92DC-9C8C24CB54A5}"/>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criteria won</a:t>
            </a:r>
            <a:endParaRPr sz="860"/>
          </a:p>
        </p:txBody>
      </p:sp>
      <p:sp>
        <p:nvSpPr>
          <p:cNvPr id="26" name="Shape 24">
            <a:extLst xmlns:a="http://schemas.openxmlformats.org/drawingml/2006/main">
              <a:ext uri="{FF2B5EF4-FFF2-40B4-BE49-F238E27FC236}">
                <a16:creationId xmlns:a16="http://schemas.microsoft.com/office/drawing/2014/main" id="{CFB088F8-223A-4331-B6CF-94DF41F00DEB}"/>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7BF301D8-A0C5-41B9-9F1C-2893AF51A2DC}"/>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~25%</a:t>
            </a:r>
            <a:endParaRPr sz="2100"/>
          </a:p>
        </p:txBody>
      </p:sp>
      <p:sp>
        <p:nvSpPr>
          <p:cNvPr id="28" name="Text 26">
            <a:extLst xmlns:a="http://schemas.openxmlformats.org/drawingml/2006/main">
              <a:ext uri="{FF2B5EF4-FFF2-40B4-BE49-F238E27FC236}">
                <a16:creationId xmlns:a16="http://schemas.microsoft.com/office/drawing/2014/main" id="{FA50714B-859A-486E-9A55-D887A879E58D}"/>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fewer app instances</a:t>
            </a:r>
            <a:endParaRPr sz="860"/>
          </a:p>
        </p:txBody>
      </p:sp>
      <p:sp>
        <p:nvSpPr>
          <p:cNvPr id="29" name="Shape 27">
            <a:extLst xmlns:a="http://schemas.openxmlformats.org/drawingml/2006/main">
              <a:ext uri="{FF2B5EF4-FFF2-40B4-BE49-F238E27FC236}">
                <a16:creationId xmlns:a16="http://schemas.microsoft.com/office/drawing/2014/main" id="{7D0CD76A-4DD3-4AEB-9830-F3B1B8F52F0F}"/>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6C771196-7D53-4B3B-8BDE-51D25667F438}"/>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100%</a:t>
            </a:r>
            <a:endParaRPr sz="2100"/>
          </a:p>
        </p:txBody>
      </p:sp>
      <p:sp>
        <p:nvSpPr>
          <p:cNvPr id="31" name="Text 29">
            <a:extLst xmlns:a="http://schemas.openxmlformats.org/drawingml/2006/main">
              <a:ext uri="{FF2B5EF4-FFF2-40B4-BE49-F238E27FC236}">
                <a16:creationId xmlns:a16="http://schemas.microsoft.com/office/drawing/2014/main" id="{0DCA83F1-F3DE-4804-B5DA-A71192D6D584}"/>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wholesale isolation kept</a:t>
            </a:r>
            <a:endParaRPr sz="860"/>
          </a:p>
        </p:txBody>
      </p:sp>
      <p:sp>
        <p:nvSpPr>
          <p:cNvPr id="32" name="Text 30">
            <a:extLst xmlns:a="http://schemas.openxmlformats.org/drawingml/2006/main">
              <a:ext uri="{FF2B5EF4-FFF2-40B4-BE49-F238E27FC236}">
                <a16:creationId xmlns:a16="http://schemas.microsoft.com/office/drawing/2014/main" id="{7A27817C-57DE-4EC4-BA6B-4D7D73097334}"/>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the recommendation is safe to take:  the option that wins does not trade compliance for cost. Both finalists were filtered against the same hard constraints first, so the scoring compares only the dimensions where a genuine choice exists.</a:t>
            </a:r>
            <a:endParaRPr sz="1000"/>
          </a:p>
        </p:txBody>
      </p:sp>
      <p:sp>
        <p:nvSpPr>
          <p:cNvPr id="33" name="Shape 31">
            <a:extLst xmlns:a="http://schemas.openxmlformats.org/drawingml/2006/main">
              <a:ext uri="{FF2B5EF4-FFF2-40B4-BE49-F238E27FC236}">
                <a16:creationId xmlns:a16="http://schemas.microsoft.com/office/drawing/2014/main" id="{3EC8B0B3-6D59-498A-B93C-D1DAD8AE8BF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A121B794-B7BF-41C2-9517-2E848DA5E2A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deployment analysis, prepared for executive decision</a:t>
            </a:r>
            <a:endParaRPr sz="850"/>
          </a:p>
        </p:txBody>
      </p:sp>
      <p:sp>
        <p:nvSpPr>
          <p:cNvPr id="35" name="Text 33">
            <a:extLst xmlns:a="http://schemas.openxmlformats.org/drawingml/2006/main">
              <a:ext uri="{FF2B5EF4-FFF2-40B4-BE49-F238E27FC236}">
                <a16:creationId xmlns:a16="http://schemas.microsoft.com/office/drawing/2014/main" id="{41A261D9-73D8-458B-BEFE-FFA94CE2ECE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417162112"/>
      </p:ext>
    </p:extLst>
  </p:cSld>
</p:sld>
</file>

<file path=ppt/slides/slide2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293BB8C-0A0F-4D7D-9E77-AF98ED547A7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A6BE7C10-5210-4B6D-8800-F035FF7ED14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Requirements and constraints were set by the programme; the evaluation framework,</a:t>
            </a:r>
            <a:endParaRPr sz="1900"/>
          </a:p>
          <a:p xmlns:a="http://schemas.openxmlformats.org/drawingml/2006/main">
            <a:pPr marL="0" indent="0">
              <a:lnSpc>
                <a:spcPts val="2400"/>
              </a:lnSpc>
              <a:buNone/>
            </a:pPr>
            <a:r>
              <a:rPr sz="1900" b="1">
                <a:solidFill>
                  <a:srgbClr val="102A43"/>
                </a:solidFill>
                <a:latin typeface="Arial"/>
                <a:ea typeface="Arial"/>
                <a:cs typeface="Arial"/>
              </a:rPr>
              <a:t>scoring and recommendation are mine</a:t>
            </a:r>
            <a:endParaRPr sz="1900"/>
          </a:p>
        </p:txBody>
      </p:sp>
      <p:sp>
        <p:nvSpPr>
          <p:cNvPr id="4" name="Shape 2">
            <a:extLst xmlns:a="http://schemas.openxmlformats.org/drawingml/2006/main">
              <a:ext uri="{FF2B5EF4-FFF2-40B4-BE49-F238E27FC236}">
                <a16:creationId xmlns:a16="http://schemas.microsoft.com/office/drawing/2014/main" id="{8CCC8E8F-AAEF-4CDA-B8D4-EE9DC1F4D2B6}"/>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462C2CDB-DE56-41E5-87A0-536FDF999A35}"/>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F9ADB040-395B-4771-AE29-D30A6C63ECDA}"/>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SET BY THE BANK</a:t>
            </a:r>
            <a:endParaRPr sz="740"/>
          </a:p>
        </p:txBody>
      </p:sp>
      <p:sp>
        <p:nvSpPr>
          <p:cNvPr id="7" name="Text 5">
            <a:extLst xmlns:a="http://schemas.openxmlformats.org/drawingml/2006/main">
              <a:ext uri="{FF2B5EF4-FFF2-40B4-BE49-F238E27FC236}">
                <a16:creationId xmlns:a16="http://schemas.microsoft.com/office/drawing/2014/main" id="{F92D5D24-E9A4-4744-BD61-B7880D52830E}"/>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E4550AA3-3799-45ED-ABBA-2BDE0E82AF21}"/>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Requirements, constraints and user distribution provided by the programme. Not my determinations.</a:t>
            </a:r>
            <a:endParaRPr sz="920"/>
          </a:p>
        </p:txBody>
      </p:sp>
      <p:sp>
        <p:nvSpPr>
          <p:cNvPr id="9" name="Shape 7">
            <a:extLst xmlns:a="http://schemas.openxmlformats.org/drawingml/2006/main">
              <a:ext uri="{FF2B5EF4-FFF2-40B4-BE49-F238E27FC236}">
                <a16:creationId xmlns:a16="http://schemas.microsoft.com/office/drawing/2014/main" id="{BDB51017-B201-4306-AA83-90A620DD9EC7}"/>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BAEC6051-F862-45E2-9191-E6BFB2629540}"/>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13,320 users across 3 markets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Two verticals, distinct governance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Three regulatory regimes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Wholesale isolation as a fixed constraint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Five-year cost horizon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Future-market expansion requirement</a:t>
            </a:r>
            <a:endParaRPr sz="930"/>
          </a:p>
        </p:txBody>
      </p:sp>
      <p:sp>
        <p:nvSpPr>
          <p:cNvPr id="11" name="Shape 9">
            <a:extLst xmlns:a="http://schemas.openxmlformats.org/drawingml/2006/main">
              <a:ext uri="{FF2B5EF4-FFF2-40B4-BE49-F238E27FC236}">
                <a16:creationId xmlns:a16="http://schemas.microsoft.com/office/drawing/2014/main" id="{D3A67D50-45F6-4E86-B0B9-0B161BC69826}"/>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F4E89CBE-422E-4069-B392-E8E56BB37A0E}"/>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FA6D9350-61D8-4FE5-BE24-AD5620076D7A}"/>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ANALYSIS &amp; RECOMMENDATION</a:t>
            </a:r>
            <a:endParaRPr sz="740"/>
          </a:p>
        </p:txBody>
      </p:sp>
      <p:sp>
        <p:nvSpPr>
          <p:cNvPr id="14" name="Text 12">
            <a:extLst xmlns:a="http://schemas.openxmlformats.org/drawingml/2006/main">
              <a:ext uri="{FF2B5EF4-FFF2-40B4-BE49-F238E27FC236}">
                <a16:creationId xmlns:a16="http://schemas.microsoft.com/office/drawing/2014/main" id="{8AD0D317-0E5F-4199-B60D-17E9C1269A5C}"/>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CEC86F91-462B-435D-8B90-245886F0371E}"/>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evaluation framework, the narrowing from nine to two, the weighted scoring and the recommendation put to the executive.</a:t>
            </a:r>
            <a:endParaRPr sz="920"/>
          </a:p>
        </p:txBody>
      </p:sp>
      <p:sp>
        <p:nvSpPr>
          <p:cNvPr id="16" name="Shape 14">
            <a:extLst xmlns:a="http://schemas.openxmlformats.org/drawingml/2006/main">
              <a:ext uri="{FF2B5EF4-FFF2-40B4-BE49-F238E27FC236}">
                <a16:creationId xmlns:a16="http://schemas.microsoft.com/office/drawing/2014/main" id="{9E1716B0-A1CD-4599-B113-D55B95CDF4DB}"/>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55D32536-6F10-4372-AA6B-2566790549CB}"/>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Nine-architecture evaluation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Seven-criterion framework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Scoring and composite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Benefit mapping by option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Risk register and mitigations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Recommendation and sequencing</a:t>
            </a:r>
            <a:endParaRPr sz="930"/>
          </a:p>
        </p:txBody>
      </p:sp>
      <p:sp>
        <p:nvSpPr>
          <p:cNvPr id="18" name="Shape 16">
            <a:extLst xmlns:a="http://schemas.openxmlformats.org/drawingml/2006/main">
              <a:ext uri="{FF2B5EF4-FFF2-40B4-BE49-F238E27FC236}">
                <a16:creationId xmlns:a16="http://schemas.microsoft.com/office/drawing/2014/main" id="{2F36ED9E-9B00-4F46-A34D-014EE358B916}"/>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9A840659-9B58-4308-A7AF-D7C3E070ECB6}"/>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BAB813C6-CACA-49FC-A97C-6770CCE5641D}"/>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RANGES, NOT QUOTES</a:t>
            </a:r>
            <a:endParaRPr sz="740"/>
          </a:p>
        </p:txBody>
      </p:sp>
      <p:sp>
        <p:nvSpPr>
          <p:cNvPr id="21" name="Text 19">
            <a:extLst xmlns:a="http://schemas.openxmlformats.org/drawingml/2006/main">
              <a:ext uri="{FF2B5EF4-FFF2-40B4-BE49-F238E27FC236}">
                <a16:creationId xmlns:a16="http://schemas.microsoft.com/office/drawing/2014/main" id="{612B08C8-AE95-48E7-88F9-490F681D53B1}"/>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Estimated</a:t>
            </a:r>
            <a:endParaRPr sz="1200"/>
          </a:p>
        </p:txBody>
      </p:sp>
      <p:sp>
        <p:nvSpPr>
          <p:cNvPr id="22" name="Text 20">
            <a:extLst xmlns:a="http://schemas.openxmlformats.org/drawingml/2006/main">
              <a:ext uri="{FF2B5EF4-FFF2-40B4-BE49-F238E27FC236}">
                <a16:creationId xmlns:a16="http://schemas.microsoft.com/office/drawing/2014/main" id="{695A0E9B-1B6C-42B6-A253-07C7BD6372DA}"/>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Cost and effort figures are estimates derived from instance counts and operating model, not vendor quotations.</a:t>
            </a:r>
            <a:endParaRPr sz="920"/>
          </a:p>
        </p:txBody>
      </p:sp>
      <p:sp>
        <p:nvSpPr>
          <p:cNvPr id="23" name="Shape 21">
            <a:extLst xmlns:a="http://schemas.openxmlformats.org/drawingml/2006/main">
              <a:ext uri="{FF2B5EF4-FFF2-40B4-BE49-F238E27FC236}">
                <a16:creationId xmlns:a16="http://schemas.microsoft.com/office/drawing/2014/main" id="{FF0696BE-8EEC-470A-8306-399378BDF9E1}"/>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E2E4F50D-71AB-4BE8-9273-A4FF13AC39A5}"/>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Five-year infrastructure range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Release-effort reduction estimate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Operations headcount effect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Instance-count arithmetic</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Sensitive to final sizing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Directionally robust</a:t>
            </a:r>
            <a:endParaRPr sz="930"/>
          </a:p>
        </p:txBody>
      </p:sp>
      <p:sp>
        <p:nvSpPr>
          <p:cNvPr id="25" name="Shape 23">
            <a:extLst xmlns:a="http://schemas.openxmlformats.org/drawingml/2006/main">
              <a:ext uri="{FF2B5EF4-FFF2-40B4-BE49-F238E27FC236}">
                <a16:creationId xmlns:a16="http://schemas.microsoft.com/office/drawing/2014/main" id="{1A517651-55E9-44EF-84F1-38CF47F21AC8}"/>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D92BF99-DA62-4774-8E23-53F05DE92DA8}"/>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9A0C7FF6-38D6-4E64-AFAC-A325B292C3DB}"/>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7141F9CD-910F-45E0-95BD-75F4BD658852}"/>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FC0517F7-9E1C-4C41-B2EA-A168C9C3EFD4}"/>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Outside this deck. It is a decision brief, not an implementation record.</a:t>
            </a:r>
            <a:endParaRPr sz="920"/>
          </a:p>
        </p:txBody>
      </p:sp>
      <p:sp>
        <p:nvSpPr>
          <p:cNvPr id="30" name="Shape 28">
            <a:extLst xmlns:a="http://schemas.openxmlformats.org/drawingml/2006/main">
              <a:ext uri="{FF2B5EF4-FFF2-40B4-BE49-F238E27FC236}">
                <a16:creationId xmlns:a16="http://schemas.microsoft.com/office/drawing/2014/main" id="{9899DF02-1B56-47D7-82E5-07892C3CFDF2}"/>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F90C4A7A-7383-4F84-B71F-B5E6E6F98516}"/>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Which option was chosen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Implementation or delivery of either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commercial or licence terms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bank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Vendor or platform identification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Post-decision outcomes</a:t>
            </a:r>
            <a:endParaRPr sz="930"/>
          </a:p>
        </p:txBody>
      </p:sp>
      <p:sp>
        <p:nvSpPr>
          <p:cNvPr id="32" name="Shape 30">
            <a:extLst xmlns:a="http://schemas.openxmlformats.org/drawingml/2006/main">
              <a:ext uri="{FF2B5EF4-FFF2-40B4-BE49-F238E27FC236}">
                <a16:creationId xmlns:a16="http://schemas.microsoft.com/office/drawing/2014/main" id="{24681169-A846-441A-8C0E-24CBFDAEDA1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2DB2B370-9728-4A00-A9A4-AF179A06122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Programme requirements (context) · author's analysis, scoring and recommendation</a:t>
            </a:r>
            <a:endParaRPr sz="850"/>
          </a:p>
        </p:txBody>
      </p:sp>
      <p:sp>
        <p:nvSpPr>
          <p:cNvPr id="34" name="Text 32">
            <a:extLst xmlns:a="http://schemas.openxmlformats.org/drawingml/2006/main">
              <a:ext uri="{FF2B5EF4-FFF2-40B4-BE49-F238E27FC236}">
                <a16:creationId xmlns:a16="http://schemas.microsoft.com/office/drawing/2014/main" id="{FA7A5109-5F3F-4DB8-B8D8-19E3EE32657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23001405"/>
      </p:ext>
    </p:extLst>
  </p:cSld>
</p:sld>
</file>

<file path=ppt/slides/slide2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287566-C937-4289-82F8-1ABB5ED9CF6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STRATEGIC CONTEXT</a:t>
            </a:r>
            <a:endParaRPr sz="950"/>
          </a:p>
        </p:txBody>
      </p:sp>
      <p:sp>
        <p:nvSpPr>
          <p:cNvPr id="3" name="Text 1">
            <a:extLst xmlns:a="http://schemas.openxmlformats.org/drawingml/2006/main">
              <a:ext uri="{FF2B5EF4-FFF2-40B4-BE49-F238E27FC236}">
                <a16:creationId xmlns:a16="http://schemas.microsoft.com/office/drawing/2014/main" id="{E21F8690-C62E-4F0C-B4DD-B12335B56AF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regulators, two verticals and a five-year cost horizon meet in a single</a:t>
            </a:r>
            <a:endParaRPr sz="1900"/>
          </a:p>
          <a:p xmlns:a="http://schemas.openxmlformats.org/drawingml/2006/main">
            <a:pPr marL="0" indent="0">
              <a:lnSpc>
                <a:spcPts val="2400"/>
              </a:lnSpc>
              <a:buNone/>
            </a:pPr>
            <a:r>
              <a:rPr sz="1900" b="1">
                <a:solidFill>
                  <a:srgbClr val="102A43"/>
                </a:solidFill>
                <a:latin typeface="Arial"/>
                <a:ea typeface="Arial"/>
                <a:cs typeface="Arial"/>
              </a:rPr>
              <a:t>architectural choice that cannot be revisited after the first go-live</a:t>
            </a:r>
            <a:endParaRPr sz="1900"/>
          </a:p>
        </p:txBody>
      </p:sp>
      <p:graphicFrame>
        <p:nvGraphicFramePr>
          <p:cNvPr id="27" name="Chart 0"/>
          <p:cNvGraphicFramePr/>
          <p:nvPr/>
        </p:nvGraphicFramePr>
        <p:xfrm>
          <a:off xmlns:a="http://schemas.openxmlformats.org/drawingml/2006/main" x="566928" y="1426464"/>
          <a:ext xmlns:a="http://schemas.openxmlformats.org/drawingml/2006/main" cx="5029200" cy="2286000"/>
        </p:xfrm>
        <a:graphic xmlns:a="http://schemas.openxmlformats.org/drawingml/2006/main">
          <a:graphicData uri="http://schemas.openxmlformats.org/drawingml/2006/chart">
            <c:chart xmlns:r="http://schemas.openxmlformats.org/officeDocument/2006/relationships" xmlns:c="http://schemas.openxmlformats.org/drawingml/2006/chart" r:id="Rdd1c697c84f343d3"/>
          </a:graphicData>
        </a:graphic>
      </p:graphicFrame>
      <p:sp>
        <p:nvSpPr>
          <p:cNvPr id="5" name="Text 2">
            <a:extLst xmlns:a="http://schemas.openxmlformats.org/drawingml/2006/main">
              <a:ext uri="{FF2B5EF4-FFF2-40B4-BE49-F238E27FC236}">
                <a16:creationId xmlns:a16="http://schemas.microsoft.com/office/drawing/2014/main" id="{245AF1F7-D8D8-4A8E-B95C-6618B47EB160}"/>
              </a:ext>
            </a:extLst>
          </p:cNvPr>
          <p:cNvSpPr>
            <a:spLocks xmlns:a="http://schemas.openxmlformats.org/drawingml/2006/main" noGrp="1"/>
          </p:cNvSpPr>
          <p:nvPr/>
        </p:nvSpPr>
        <p:spPr>
          <a:xfrm xmlns:a="http://schemas.openxmlformats.org/drawingml/2006/main">
            <a:off x="566928" y="3785616"/>
            <a:ext cx="5029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User distribution by market — 13,320 in total</a:t>
            </a:r>
            <a:endParaRPr sz="880"/>
          </a:p>
        </p:txBody>
      </p:sp>
      <p:graphicFrame>
        <p:nvGraphicFramePr>
          <p:cNvPr id="29" name="Chart 1"/>
          <p:cNvGraphicFramePr/>
          <p:nvPr/>
        </p:nvGraphicFramePr>
        <p:xfrm>
          <a:off xmlns:a="http://schemas.openxmlformats.org/drawingml/2006/main" x="566928" y="4023360"/>
          <a:ext xmlns:a="http://schemas.openxmlformats.org/drawingml/2006/main" cx="5029200" cy="1737360"/>
        </p:xfrm>
        <a:graphic xmlns:a="http://schemas.openxmlformats.org/drawingml/2006/main">
          <a:graphicData uri="http://schemas.openxmlformats.org/drawingml/2006/chart">
            <c:chart xmlns:r="http://schemas.openxmlformats.org/officeDocument/2006/relationships" xmlns:c="http://schemas.openxmlformats.org/drawingml/2006/chart" r:id="R9d8a48892d8f4d88"/>
          </a:graphicData>
        </a:graphic>
      </p:graphicFrame>
      <p:sp>
        <p:nvSpPr>
          <p:cNvPr id="7" name="Text 3">
            <a:extLst xmlns:a="http://schemas.openxmlformats.org/drawingml/2006/main">
              <a:ext uri="{FF2B5EF4-FFF2-40B4-BE49-F238E27FC236}">
                <a16:creationId xmlns:a16="http://schemas.microsoft.com/office/drawing/2014/main" id="{1AFCC8E1-B99E-48D4-9254-160DE6D584E7}"/>
              </a:ext>
            </a:extLst>
          </p:cNvPr>
          <p:cNvSpPr>
            <a:spLocks xmlns:a="http://schemas.openxmlformats.org/drawingml/2006/main" noGrp="1"/>
          </p:cNvSpPr>
          <p:nvPr/>
        </p:nvSpPr>
        <p:spPr>
          <a:xfrm xmlns:a="http://schemas.openxmlformats.org/drawingml/2006/main">
            <a:off x="566928" y="5833872"/>
            <a:ext cx="502920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User distribution by vertical — the smaller vertical carries the harder constraint</a:t>
            </a:r>
            <a:endParaRPr sz="880"/>
          </a:p>
        </p:txBody>
      </p:sp>
      <p:sp>
        <p:nvSpPr>
          <p:cNvPr id="8" name="Shape 4">
            <a:extLst xmlns:a="http://schemas.openxmlformats.org/drawingml/2006/main">
              <a:ext uri="{FF2B5EF4-FFF2-40B4-BE49-F238E27FC236}">
                <a16:creationId xmlns:a16="http://schemas.microsoft.com/office/drawing/2014/main" id="{F962C635-BB8A-48D7-89B7-B99896F50259}"/>
              </a:ext>
            </a:extLst>
          </p:cNvPr>
          <p:cNvSpPr>
            <a:spLocks xmlns:a="http://schemas.openxmlformats.org/drawingml/2006/main" noGrp="1"/>
          </p:cNvSpPr>
          <p:nvPr/>
        </p:nvSpPr>
        <p:spPr>
          <a:xfrm xmlns:a="http://schemas.openxmlformats.org/drawingml/2006/main">
            <a:off x="5961888" y="1426464"/>
            <a:ext cx="5660136" cy="1042416"/>
          </a:xfrm>
          <a:prstGeom xmlns:a="http://schemas.openxmlformats.org/drawingml/2006/main" prst="rect">
            <a:avLst/>
          </a:prstGeom>
          <a:solidFill xmlns:a="http://schemas.openxmlformats.org/drawingml/2006/main">
            <a:srgbClr val="F0F4F8"/>
          </a:solidFill>
        </p:spPr>
      </p:sp>
      <p:sp>
        <p:nvSpPr>
          <p:cNvPr id="9" name="Text 5">
            <a:extLst xmlns:a="http://schemas.openxmlformats.org/drawingml/2006/main">
              <a:ext uri="{FF2B5EF4-FFF2-40B4-BE49-F238E27FC236}">
                <a16:creationId xmlns:a16="http://schemas.microsoft.com/office/drawing/2014/main" id="{F8C45C5D-BDBD-4C08-B569-7D4EA6F64315}"/>
              </a:ext>
            </a:extLst>
          </p:cNvPr>
          <p:cNvSpPr>
            <a:spLocks xmlns:a="http://schemas.openxmlformats.org/drawingml/2006/main" noGrp="1"/>
          </p:cNvSpPr>
          <p:nvPr/>
        </p:nvSpPr>
        <p:spPr>
          <a:xfrm xmlns:a="http://schemas.openxmlformats.org/drawingml/2006/main">
            <a:off x="6181344" y="1572768"/>
            <a:ext cx="52212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Regulatory compliance</a:t>
            </a:r>
            <a:endParaRPr sz="1150"/>
          </a:p>
        </p:txBody>
      </p:sp>
      <p:sp>
        <p:nvSpPr>
          <p:cNvPr id="10" name="Text 6">
            <a:extLst xmlns:a="http://schemas.openxmlformats.org/drawingml/2006/main">
              <a:ext uri="{FF2B5EF4-FFF2-40B4-BE49-F238E27FC236}">
                <a16:creationId xmlns:a16="http://schemas.microsoft.com/office/drawing/2014/main" id="{C866F17F-ADBC-472C-8CB3-48B624E61130}"/>
              </a:ext>
            </a:extLst>
          </p:cNvPr>
          <p:cNvSpPr>
            <a:spLocks xmlns:a="http://schemas.openxmlformats.org/drawingml/2006/main" noGrp="1"/>
          </p:cNvSpPr>
          <p:nvPr/>
        </p:nvSpPr>
        <p:spPr>
          <a:xfrm xmlns:a="http://schemas.openxmlformats.org/drawingml/2006/main">
            <a:off x="6181344" y="1847088"/>
            <a:ext cx="5221224"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Three supervisors impose distinct residency and sovereignty requirements. The architecture must satisfy all three at once, not sequentially.</a:t>
            </a:r>
            <a:endParaRPr sz="950"/>
          </a:p>
        </p:txBody>
      </p:sp>
      <p:sp>
        <p:nvSpPr>
          <p:cNvPr id="11" name="Shape 7">
            <a:extLst xmlns:a="http://schemas.openxmlformats.org/drawingml/2006/main">
              <a:ext uri="{FF2B5EF4-FFF2-40B4-BE49-F238E27FC236}">
                <a16:creationId xmlns:a16="http://schemas.microsoft.com/office/drawing/2014/main" id="{E6517A13-1784-4640-B888-3E80AE6AC075}"/>
              </a:ext>
            </a:extLst>
          </p:cNvPr>
          <p:cNvSpPr>
            <a:spLocks xmlns:a="http://schemas.openxmlformats.org/drawingml/2006/main" noGrp="1"/>
          </p:cNvSpPr>
          <p:nvPr/>
        </p:nvSpPr>
        <p:spPr>
          <a:xfrm xmlns:a="http://schemas.openxmlformats.org/drawingml/2006/main">
            <a:off x="5961888" y="2596896"/>
            <a:ext cx="5660136" cy="1042416"/>
          </a:xfrm>
          <a:prstGeom xmlns:a="http://schemas.openxmlformats.org/drawingml/2006/main" prst="rect">
            <a:avLst/>
          </a:prstGeom>
          <a:solidFill xmlns:a="http://schemas.openxmlformats.org/drawingml/2006/main">
            <a:srgbClr val="F3E6E0"/>
          </a:solidFill>
        </p:spPr>
      </p:sp>
      <p:sp>
        <p:nvSpPr>
          <p:cNvPr id="12" name="Text 8">
            <a:extLst xmlns:a="http://schemas.openxmlformats.org/drawingml/2006/main">
              <a:ext uri="{FF2B5EF4-FFF2-40B4-BE49-F238E27FC236}">
                <a16:creationId xmlns:a16="http://schemas.microsoft.com/office/drawing/2014/main" id="{02855855-5DFB-4528-BD15-F0D3E346CF8B}"/>
              </a:ext>
            </a:extLst>
          </p:cNvPr>
          <p:cNvSpPr>
            <a:spLocks xmlns:a="http://schemas.openxmlformats.org/drawingml/2006/main" noGrp="1"/>
          </p:cNvSpPr>
          <p:nvPr/>
        </p:nvSpPr>
        <p:spPr>
          <a:xfrm xmlns:a="http://schemas.openxmlformats.org/drawingml/2006/main">
            <a:off x="6181344" y="2743200"/>
            <a:ext cx="52212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B04A25"/>
                </a:solidFill>
                <a:latin typeface="Arial"/>
                <a:ea typeface="Arial"/>
                <a:cs typeface="Arial"/>
              </a:rPr>
              <a:t>Data isolation</a:t>
            </a:r>
            <a:endParaRPr sz="1150"/>
          </a:p>
        </p:txBody>
      </p:sp>
      <p:sp>
        <p:nvSpPr>
          <p:cNvPr id="13" name="Text 9">
            <a:extLst xmlns:a="http://schemas.openxmlformats.org/drawingml/2006/main">
              <a:ext uri="{FF2B5EF4-FFF2-40B4-BE49-F238E27FC236}">
                <a16:creationId xmlns:a16="http://schemas.microsoft.com/office/drawing/2014/main" id="{5C734CBF-1C9B-42F4-A3DA-161BE1B75509}"/>
              </a:ext>
            </a:extLst>
          </p:cNvPr>
          <p:cNvSpPr>
            <a:spLocks xmlns:a="http://schemas.openxmlformats.org/drawingml/2006/main" noGrp="1"/>
          </p:cNvSpPr>
          <p:nvPr/>
        </p:nvSpPr>
        <p:spPr>
          <a:xfrm xmlns:a="http://schemas.openxmlformats.org/drawingml/2006/main">
            <a:off x="6181344" y="3017520"/>
            <a:ext cx="5221224"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Wholesale client data must be physically separated from consumer retail data. Cross-border customer data must remain ring-fenced per jurisdiction.</a:t>
            </a:r>
            <a:endParaRPr sz="950"/>
          </a:p>
        </p:txBody>
      </p:sp>
      <p:sp>
        <p:nvSpPr>
          <p:cNvPr id="14" name="Shape 10">
            <a:extLst xmlns:a="http://schemas.openxmlformats.org/drawingml/2006/main">
              <a:ext uri="{FF2B5EF4-FFF2-40B4-BE49-F238E27FC236}">
                <a16:creationId xmlns:a16="http://schemas.microsoft.com/office/drawing/2014/main" id="{FE20167E-B011-4F39-B5F1-CCD716ED570D}"/>
              </a:ext>
            </a:extLst>
          </p:cNvPr>
          <p:cNvSpPr>
            <a:spLocks xmlns:a="http://schemas.openxmlformats.org/drawingml/2006/main" noGrp="1"/>
          </p:cNvSpPr>
          <p:nvPr/>
        </p:nvSpPr>
        <p:spPr>
          <a:xfrm xmlns:a="http://schemas.openxmlformats.org/drawingml/2006/main">
            <a:off x="5961888" y="3767328"/>
            <a:ext cx="5660136" cy="1042416"/>
          </a:xfrm>
          <a:prstGeom xmlns:a="http://schemas.openxmlformats.org/drawingml/2006/main" prst="rect">
            <a:avLst/>
          </a:prstGeom>
          <a:solidFill xmlns:a="http://schemas.openxmlformats.org/drawingml/2006/main">
            <a:srgbClr val="F0F4F8"/>
          </a:solidFill>
        </p:spPr>
      </p:sp>
      <p:sp>
        <p:nvSpPr>
          <p:cNvPr id="15" name="Text 11">
            <a:extLst xmlns:a="http://schemas.openxmlformats.org/drawingml/2006/main">
              <a:ext uri="{FF2B5EF4-FFF2-40B4-BE49-F238E27FC236}">
                <a16:creationId xmlns:a16="http://schemas.microsoft.com/office/drawing/2014/main" id="{86EB622B-4B5C-4377-8C0B-FFCDC88D102D}"/>
              </a:ext>
            </a:extLst>
          </p:cNvPr>
          <p:cNvSpPr>
            <a:spLocks xmlns:a="http://schemas.openxmlformats.org/drawingml/2006/main" noGrp="1"/>
          </p:cNvSpPr>
          <p:nvPr/>
        </p:nvSpPr>
        <p:spPr>
          <a:xfrm xmlns:a="http://schemas.openxmlformats.org/drawingml/2006/main">
            <a:off x="6181344" y="3913632"/>
            <a:ext cx="52212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Total cost optimisation</a:t>
            </a:r>
            <a:endParaRPr sz="1150"/>
          </a:p>
        </p:txBody>
      </p:sp>
      <p:sp>
        <p:nvSpPr>
          <p:cNvPr id="16" name="Text 12">
            <a:extLst xmlns:a="http://schemas.openxmlformats.org/drawingml/2006/main">
              <a:ext uri="{FF2B5EF4-FFF2-40B4-BE49-F238E27FC236}">
                <a16:creationId xmlns:a16="http://schemas.microsoft.com/office/drawing/2014/main" id="{F284E8BA-995A-47F8-8968-BA813A63EC07}"/>
              </a:ext>
            </a:extLst>
          </p:cNvPr>
          <p:cNvSpPr>
            <a:spLocks xmlns:a="http://schemas.openxmlformats.org/drawingml/2006/main" noGrp="1"/>
          </p:cNvSpPr>
          <p:nvPr/>
        </p:nvSpPr>
        <p:spPr>
          <a:xfrm xmlns:a="http://schemas.openxmlformats.org/drawingml/2006/main">
            <a:off x="6181344" y="4187952"/>
            <a:ext cx="5221224"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Application and database instance counts are the primary cost drivers over five years. Consolidation reduces spend but requires governance guardrails.</a:t>
            </a:r>
            <a:endParaRPr sz="950"/>
          </a:p>
        </p:txBody>
      </p:sp>
      <p:sp>
        <p:nvSpPr>
          <p:cNvPr id="17" name="Shape 13">
            <a:extLst xmlns:a="http://schemas.openxmlformats.org/drawingml/2006/main">
              <a:ext uri="{FF2B5EF4-FFF2-40B4-BE49-F238E27FC236}">
                <a16:creationId xmlns:a16="http://schemas.microsoft.com/office/drawing/2014/main" id="{F4C45789-9225-4917-ACB0-1B6F9570B128}"/>
              </a:ext>
            </a:extLst>
          </p:cNvPr>
          <p:cNvSpPr>
            <a:spLocks xmlns:a="http://schemas.openxmlformats.org/drawingml/2006/main" noGrp="1"/>
          </p:cNvSpPr>
          <p:nvPr/>
        </p:nvSpPr>
        <p:spPr>
          <a:xfrm xmlns:a="http://schemas.openxmlformats.org/drawingml/2006/main">
            <a:off x="5961888" y="4937760"/>
            <a:ext cx="5660136" cy="1042416"/>
          </a:xfrm>
          <a:prstGeom xmlns:a="http://schemas.openxmlformats.org/drawingml/2006/main" prst="rect">
            <a:avLst/>
          </a:prstGeom>
          <a:solidFill xmlns:a="http://schemas.openxmlformats.org/drawingml/2006/main">
            <a:srgbClr val="F0F4F8"/>
          </a:solidFill>
        </p:spPr>
      </p:sp>
      <p:sp>
        <p:nvSpPr>
          <p:cNvPr id="18" name="Text 14">
            <a:extLst xmlns:a="http://schemas.openxmlformats.org/drawingml/2006/main">
              <a:ext uri="{FF2B5EF4-FFF2-40B4-BE49-F238E27FC236}">
                <a16:creationId xmlns:a16="http://schemas.microsoft.com/office/drawing/2014/main" id="{20B3AE68-8A05-4B42-B913-D1B8F3E7BD3F}"/>
              </a:ext>
            </a:extLst>
          </p:cNvPr>
          <p:cNvSpPr>
            <a:spLocks xmlns:a="http://schemas.openxmlformats.org/drawingml/2006/main" noGrp="1"/>
          </p:cNvSpPr>
          <p:nvPr/>
        </p:nvSpPr>
        <p:spPr>
          <a:xfrm xmlns:a="http://schemas.openxmlformats.org/drawingml/2006/main">
            <a:off x="6181344" y="5084064"/>
            <a:ext cx="522122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50" b="1">
                <a:solidFill>
                  <a:srgbClr val="102A43"/>
                </a:solidFill>
                <a:latin typeface="Arial"/>
                <a:ea typeface="Arial"/>
                <a:cs typeface="Arial"/>
              </a:rPr>
              <a:t>Future markets</a:t>
            </a:r>
            <a:endParaRPr sz="1150"/>
          </a:p>
        </p:txBody>
      </p:sp>
      <p:sp>
        <p:nvSpPr>
          <p:cNvPr id="19" name="Text 15">
            <a:extLst xmlns:a="http://schemas.openxmlformats.org/drawingml/2006/main">
              <a:ext uri="{FF2B5EF4-FFF2-40B4-BE49-F238E27FC236}">
                <a16:creationId xmlns:a16="http://schemas.microsoft.com/office/drawing/2014/main" id="{1D882B8B-6E47-4213-9A3B-498A8AE6B83B}"/>
              </a:ext>
            </a:extLst>
          </p:cNvPr>
          <p:cNvSpPr>
            <a:spLocks xmlns:a="http://schemas.openxmlformats.org/drawingml/2006/main" noGrp="1"/>
          </p:cNvSpPr>
          <p:nvPr/>
        </p:nvSpPr>
        <p:spPr>
          <a:xfrm xmlns:a="http://schemas.openxmlformats.org/drawingml/2006/main">
            <a:off x="6181344" y="5358384"/>
            <a:ext cx="5221224"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The architecture must absorb additional markets with minimal incremental infrastructure and onboarding effort.</a:t>
            </a:r>
            <a:endParaRPr sz="950"/>
          </a:p>
        </p:txBody>
      </p:sp>
      <p:sp>
        <p:nvSpPr>
          <p:cNvPr id="20" name="Shape 16">
            <a:extLst xmlns:a="http://schemas.openxmlformats.org/drawingml/2006/main">
              <a:ext uri="{FF2B5EF4-FFF2-40B4-BE49-F238E27FC236}">
                <a16:creationId xmlns:a16="http://schemas.microsoft.com/office/drawing/2014/main" id="{8DD20F26-575E-46D0-813E-33F9B98E709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1" name="Text 17">
            <a:extLst xmlns:a="http://schemas.openxmlformats.org/drawingml/2006/main">
              <a:ext uri="{FF2B5EF4-FFF2-40B4-BE49-F238E27FC236}">
                <a16:creationId xmlns:a16="http://schemas.microsoft.com/office/drawing/2014/main" id="{A3E20220-9A9A-46DB-AB52-0ECBEBFF2DD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Programme requirements and regulatory constraints as stated by the bank</a:t>
            </a:r>
            <a:endParaRPr sz="850"/>
          </a:p>
        </p:txBody>
      </p:sp>
      <p:sp>
        <p:nvSpPr>
          <p:cNvPr id="22" name="Text 18">
            <a:extLst xmlns:a="http://schemas.openxmlformats.org/drawingml/2006/main">
              <a:ext uri="{FF2B5EF4-FFF2-40B4-BE49-F238E27FC236}">
                <a16:creationId xmlns:a16="http://schemas.microsoft.com/office/drawing/2014/main" id="{A6E0CD4E-2B35-44B2-9040-3F2F8145E58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310226455"/>
      </p:ext>
    </p:extLst>
  </p:cSld>
</p:sld>
</file>

<file path=ppt/slides/slide2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281D4A7-1C22-4CB9-9649-62EF179503D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NARROWING</a:t>
            </a:r>
            <a:endParaRPr sz="950"/>
          </a:p>
        </p:txBody>
      </p:sp>
      <p:sp>
        <p:nvSpPr>
          <p:cNvPr id="3" name="Text 1">
            <a:extLst xmlns:a="http://schemas.openxmlformats.org/drawingml/2006/main">
              <a:ext uri="{FF2B5EF4-FFF2-40B4-BE49-F238E27FC236}">
                <a16:creationId xmlns:a16="http://schemas.microsoft.com/office/drawing/2014/main" id="{0BF2339A-7299-445C-B783-73D581DBA02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One fixed constraint eliminated seven of the nine candidates — naming it first is</a:t>
            </a:r>
            <a:endParaRPr sz="1900"/>
          </a:p>
          <a:p xmlns:a="http://schemas.openxmlformats.org/drawingml/2006/main">
            <a:pPr marL="0" indent="0">
              <a:lnSpc>
                <a:spcPts val="2400"/>
              </a:lnSpc>
              <a:buNone/>
            </a:pPr>
            <a:r>
              <a:rPr sz="1900" b="1">
                <a:solidFill>
                  <a:srgbClr val="102A43"/>
                </a:solidFill>
                <a:latin typeface="Arial"/>
                <a:ea typeface="Arial"/>
                <a:cs typeface="Arial"/>
              </a:rPr>
              <a:t>what turned a nine-way debate into a one-variable decision</a:t>
            </a:r>
            <a:endParaRPr sz="1900"/>
          </a:p>
        </p:txBody>
      </p:sp>
      <p:sp>
        <p:nvSpPr>
          <p:cNvPr id="4" name="Shape 2">
            <a:extLst xmlns:a="http://schemas.openxmlformats.org/drawingml/2006/main">
              <a:ext uri="{FF2B5EF4-FFF2-40B4-BE49-F238E27FC236}">
                <a16:creationId xmlns:a16="http://schemas.microsoft.com/office/drawing/2014/main" id="{4D7E4DAF-8D37-41A3-9709-09EE91618FEB}"/>
              </a:ext>
            </a:extLst>
          </p:cNvPr>
          <p:cNvSpPr>
            <a:spLocks xmlns:a="http://schemas.openxmlformats.org/drawingml/2006/main" noGrp="1"/>
          </p:cNvSpPr>
          <p:nvPr/>
        </p:nvSpPr>
        <p:spPr>
          <a:xfrm xmlns:a="http://schemas.openxmlformats.org/drawingml/2006/main">
            <a:off x="566928" y="1335024"/>
            <a:ext cx="11057839" cy="932688"/>
          </a:xfrm>
          <a:prstGeom xmlns:a="http://schemas.openxmlformats.org/drawingml/2006/main" prst="rect">
            <a:avLst/>
          </a:prstGeom>
          <a:solidFill xmlns:a="http://schemas.openxmlformats.org/drawingml/2006/main">
            <a:srgbClr val="102A43"/>
          </a:solidFill>
        </p:spPr>
      </p:sp>
      <p:sp>
        <p:nvSpPr>
          <p:cNvPr id="5" name="Text 3">
            <a:extLst xmlns:a="http://schemas.openxmlformats.org/drawingml/2006/main">
              <a:ext uri="{FF2B5EF4-FFF2-40B4-BE49-F238E27FC236}">
                <a16:creationId xmlns:a16="http://schemas.microsoft.com/office/drawing/2014/main" id="{97CF34D5-A7F8-4235-B3A9-84A4A5D7C5AB}"/>
              </a:ext>
            </a:extLst>
          </p:cNvPr>
          <p:cNvSpPr>
            <a:spLocks xmlns:a="http://schemas.openxmlformats.org/drawingml/2006/main" noGrp="1"/>
          </p:cNvSpPr>
          <p:nvPr/>
        </p:nvSpPr>
        <p:spPr>
          <a:xfrm xmlns:a="http://schemas.openxmlformats.org/drawingml/2006/main">
            <a:off x="804672" y="148132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E8A184"/>
                </a:solidFill>
                <a:latin typeface="Arial"/>
                <a:ea typeface="Arial"/>
                <a:cs typeface="Arial"/>
              </a:rPr>
              <a:t>The non-negotiable</a:t>
            </a:r>
            <a:endParaRPr sz="1100"/>
          </a:p>
        </p:txBody>
      </p:sp>
      <p:sp>
        <p:nvSpPr>
          <p:cNvPr id="6" name="Text 4">
            <a:extLst xmlns:a="http://schemas.openxmlformats.org/drawingml/2006/main">
              <a:ext uri="{FF2B5EF4-FFF2-40B4-BE49-F238E27FC236}">
                <a16:creationId xmlns:a16="http://schemas.microsoft.com/office/drawing/2014/main" id="{00547AFE-AAEC-473D-B6EE-9A22A6682256}"/>
              </a:ext>
            </a:extLst>
          </p:cNvPr>
          <p:cNvSpPr>
            <a:spLocks xmlns:a="http://schemas.openxmlformats.org/drawingml/2006/main" noGrp="1"/>
          </p:cNvSpPr>
          <p:nvPr/>
        </p:nvSpPr>
        <p:spPr>
          <a:xfrm xmlns:a="http://schemas.openxmlformats.org/drawingml/2006/main">
            <a:off x="804672" y="1737360"/>
            <a:ext cx="1058235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C9D8E8"/>
                </a:solidFill>
                <a:latin typeface="Arial"/>
                <a:ea typeface="Arial"/>
                <a:cs typeface="Arial"/>
              </a:rPr>
              <a:t>Wholesale banking data is physically separated in every candidate architecture that survived. This is not a scored dimension — it is a fixed constraint reflecting a stricter data-governance posture and specific regulatory obligations for sovereign, government-linked and multinational client data. Any option that logically isolates wholesale rather than physically isolating it was removed before scoring began.</a:t>
            </a:r>
            <a:endParaRPr sz="990"/>
          </a:p>
        </p:txBody>
      </p:sp>
      <p:sp>
        <p:nvSpPr>
          <p:cNvPr id="7" name="Shape 5">
            <a:extLst xmlns:a="http://schemas.openxmlformats.org/drawingml/2006/main">
              <a:ext uri="{FF2B5EF4-FFF2-40B4-BE49-F238E27FC236}">
                <a16:creationId xmlns:a16="http://schemas.microsoft.com/office/drawing/2014/main" id="{2F1125AA-A44D-4FAD-8F7C-AE674D775E29}"/>
              </a:ext>
            </a:extLst>
          </p:cNvPr>
          <p:cNvSpPr>
            <a:spLocks xmlns:a="http://schemas.openxmlformats.org/drawingml/2006/main" noGrp="1"/>
          </p:cNvSpPr>
          <p:nvPr/>
        </p:nvSpPr>
        <p:spPr>
          <a:xfrm xmlns:a="http://schemas.openxmlformats.org/drawingml/2006/main">
            <a:off x="566928" y="2523744"/>
            <a:ext cx="11057839" cy="365760"/>
          </a:xfrm>
          <a:prstGeom xmlns:a="http://schemas.openxmlformats.org/drawingml/2006/main" prst="rect">
            <a:avLst/>
          </a:prstGeom>
          <a:solidFill xmlns:a="http://schemas.openxmlformats.org/drawingml/2006/main">
            <a:srgbClr val="E3EAF2"/>
          </a:solidFill>
        </p:spPr>
      </p:sp>
      <p:sp>
        <p:nvSpPr>
          <p:cNvPr id="8" name="Text 6">
            <a:extLst xmlns:a="http://schemas.openxmlformats.org/drawingml/2006/main">
              <a:ext uri="{FF2B5EF4-FFF2-40B4-BE49-F238E27FC236}">
                <a16:creationId xmlns:a16="http://schemas.microsoft.com/office/drawing/2014/main" id="{CE927085-5CA7-4B4B-A5A6-8389A72EC9A5}"/>
              </a:ext>
            </a:extLst>
          </p:cNvPr>
          <p:cNvSpPr>
            <a:spLocks xmlns:a="http://schemas.openxmlformats.org/drawingml/2006/main" noGrp="1"/>
          </p:cNvSpPr>
          <p:nvPr/>
        </p:nvSpPr>
        <p:spPr>
          <a:xfrm xmlns:a="http://schemas.openxmlformats.org/drawingml/2006/main">
            <a:off x="676656" y="2633472"/>
            <a:ext cx="41696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Candidate family</a:t>
            </a:r>
            <a:endParaRPr sz="920"/>
          </a:p>
        </p:txBody>
      </p:sp>
      <p:sp>
        <p:nvSpPr>
          <p:cNvPr id="9" name="Text 7">
            <a:extLst xmlns:a="http://schemas.openxmlformats.org/drawingml/2006/main">
              <a:ext uri="{FF2B5EF4-FFF2-40B4-BE49-F238E27FC236}">
                <a16:creationId xmlns:a16="http://schemas.microsoft.com/office/drawing/2014/main" id="{77BFA18A-EE01-4C87-B462-3395A504A7AB}"/>
              </a:ext>
            </a:extLst>
          </p:cNvPr>
          <p:cNvSpPr>
            <a:spLocks xmlns:a="http://schemas.openxmlformats.org/drawingml/2006/main" noGrp="1"/>
          </p:cNvSpPr>
          <p:nvPr/>
        </p:nvSpPr>
        <p:spPr>
          <a:xfrm xmlns:a="http://schemas.openxmlformats.org/drawingml/2006/main">
            <a:off x="5157216" y="2633472"/>
            <a:ext cx="31638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it was removed</a:t>
            </a:r>
            <a:endParaRPr sz="920"/>
          </a:p>
        </p:txBody>
      </p:sp>
      <p:sp>
        <p:nvSpPr>
          <p:cNvPr id="10" name="Text 8">
            <a:extLst xmlns:a="http://schemas.openxmlformats.org/drawingml/2006/main">
              <a:ext uri="{FF2B5EF4-FFF2-40B4-BE49-F238E27FC236}">
                <a16:creationId xmlns:a16="http://schemas.microsoft.com/office/drawing/2014/main" id="{7B9821BB-CBA2-42C3-9289-2D9BBA2A4970}"/>
              </a:ext>
            </a:extLst>
          </p:cNvPr>
          <p:cNvSpPr>
            <a:spLocks xmlns:a="http://schemas.openxmlformats.org/drawingml/2006/main" noGrp="1"/>
          </p:cNvSpPr>
          <p:nvPr/>
        </p:nvSpPr>
        <p:spPr>
          <a:xfrm xmlns:a="http://schemas.openxmlformats.org/drawingml/2006/main">
            <a:off x="8631936" y="2633472"/>
            <a:ext cx="2880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Failed on</a:t>
            </a:r>
            <a:endParaRPr sz="920"/>
          </a:p>
        </p:txBody>
      </p:sp>
      <p:sp>
        <p:nvSpPr>
          <p:cNvPr id="11" name="Text 9">
            <a:extLst xmlns:a="http://schemas.openxmlformats.org/drawingml/2006/main">
              <a:ext uri="{FF2B5EF4-FFF2-40B4-BE49-F238E27FC236}">
                <a16:creationId xmlns:a16="http://schemas.microsoft.com/office/drawing/2014/main" id="{CB02BF27-B6D2-4956-8230-0D80068D139B}"/>
              </a:ext>
            </a:extLst>
          </p:cNvPr>
          <p:cNvSpPr>
            <a:spLocks xmlns:a="http://schemas.openxmlformats.org/drawingml/2006/main" noGrp="1"/>
          </p:cNvSpPr>
          <p:nvPr/>
        </p:nvSpPr>
        <p:spPr>
          <a:xfrm xmlns:a="http://schemas.openxmlformats.org/drawingml/2006/main">
            <a:off x="676656" y="3008376"/>
            <a:ext cx="4169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Single regional instance, all markets</a:t>
            </a:r>
            <a:endParaRPr sz="980"/>
          </a:p>
        </p:txBody>
      </p:sp>
      <p:sp>
        <p:nvSpPr>
          <p:cNvPr id="12" name="Text 10">
            <a:extLst xmlns:a="http://schemas.openxmlformats.org/drawingml/2006/main">
              <a:ext uri="{FF2B5EF4-FFF2-40B4-BE49-F238E27FC236}">
                <a16:creationId xmlns:a16="http://schemas.microsoft.com/office/drawing/2014/main" id="{5B4E5452-87F3-4BE7-894A-B3A2BE04ABB3}"/>
              </a:ext>
            </a:extLst>
          </p:cNvPr>
          <p:cNvSpPr>
            <a:spLocks xmlns:a="http://schemas.openxmlformats.org/drawingml/2006/main" noGrp="1"/>
          </p:cNvSpPr>
          <p:nvPr/>
        </p:nvSpPr>
        <p:spPr>
          <a:xfrm xmlns:a="http://schemas.openxmlformats.org/drawingml/2006/main">
            <a:off x="5157216" y="3008376"/>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Cannot satisfy three residency regimes from one data estate</a:t>
            </a:r>
            <a:endParaRPr sz="940"/>
          </a:p>
        </p:txBody>
      </p:sp>
      <p:sp>
        <p:nvSpPr>
          <p:cNvPr id="13" name="Text 11">
            <a:extLst xmlns:a="http://schemas.openxmlformats.org/drawingml/2006/main">
              <a:ext uri="{FF2B5EF4-FFF2-40B4-BE49-F238E27FC236}">
                <a16:creationId xmlns:a16="http://schemas.microsoft.com/office/drawing/2014/main" id="{5E80AADA-CC35-4D3E-A36D-3C73C2ECDB04}"/>
              </a:ext>
            </a:extLst>
          </p:cNvPr>
          <p:cNvSpPr>
            <a:spLocks xmlns:a="http://schemas.openxmlformats.org/drawingml/2006/main" noGrp="1"/>
          </p:cNvSpPr>
          <p:nvPr/>
        </p:nvSpPr>
        <p:spPr>
          <a:xfrm xmlns:a="http://schemas.openxmlformats.org/drawingml/2006/main">
            <a:off x="8631936" y="3008376"/>
            <a:ext cx="2880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a:solidFill>
                  <a:srgbClr val="B04A25"/>
                </a:solidFill>
                <a:latin typeface="Arial"/>
                <a:ea typeface="Arial"/>
                <a:cs typeface="Arial"/>
              </a:rPr>
              <a:t>Residency</a:t>
            </a:r>
            <a:endParaRPr sz="940"/>
          </a:p>
        </p:txBody>
      </p:sp>
      <p:sp>
        <p:nvSpPr>
          <p:cNvPr id="14" name="Shape 12">
            <a:extLst xmlns:a="http://schemas.openxmlformats.org/drawingml/2006/main">
              <a:ext uri="{FF2B5EF4-FFF2-40B4-BE49-F238E27FC236}">
                <a16:creationId xmlns:a16="http://schemas.microsoft.com/office/drawing/2014/main" id="{86F78FE1-9D20-48B7-BF14-4B1C80377334}"/>
              </a:ext>
            </a:extLst>
          </p:cNvPr>
          <p:cNvSpPr>
            <a:spLocks xmlns:a="http://schemas.openxmlformats.org/drawingml/2006/main" noGrp="1"/>
          </p:cNvSpPr>
          <p:nvPr/>
        </p:nvSpPr>
        <p:spPr>
          <a:xfrm xmlns:a="http://schemas.openxmlformats.org/drawingml/2006/main">
            <a:off x="566928" y="3401568"/>
            <a:ext cx="11057839" cy="7315"/>
          </a:xfrm>
          <a:prstGeom xmlns:a="http://schemas.openxmlformats.org/drawingml/2006/main" prst="rect">
            <a:avLst/>
          </a:prstGeom>
          <a:solidFill xmlns:a="http://schemas.openxmlformats.org/drawingml/2006/main">
            <a:srgbClr val="CBD5E0"/>
          </a:solidFill>
        </p:spPr>
      </p:sp>
      <p:sp>
        <p:nvSpPr>
          <p:cNvPr id="15" name="Shape 13">
            <a:extLst xmlns:a="http://schemas.openxmlformats.org/drawingml/2006/main">
              <a:ext uri="{FF2B5EF4-FFF2-40B4-BE49-F238E27FC236}">
                <a16:creationId xmlns:a16="http://schemas.microsoft.com/office/drawing/2014/main" id="{9AF3E1E3-1DB7-445C-A8AF-EB1A0D0B061C}"/>
              </a:ext>
            </a:extLst>
          </p:cNvPr>
          <p:cNvSpPr>
            <a:spLocks xmlns:a="http://schemas.openxmlformats.org/drawingml/2006/main" noGrp="1"/>
          </p:cNvSpPr>
          <p:nvPr/>
        </p:nvSpPr>
        <p:spPr>
          <a:xfrm xmlns:a="http://schemas.openxmlformats.org/drawingml/2006/main">
            <a:off x="566928" y="3401568"/>
            <a:ext cx="11057839" cy="512064"/>
          </a:xfrm>
          <a:prstGeom xmlns:a="http://schemas.openxmlformats.org/drawingml/2006/main" prst="rect">
            <a:avLst/>
          </a:prstGeom>
          <a:solidFill xmlns:a="http://schemas.openxmlformats.org/drawingml/2006/main">
            <a:srgbClr val="F7F9FB"/>
          </a:solidFill>
        </p:spPr>
      </p:sp>
      <p:sp>
        <p:nvSpPr>
          <p:cNvPr id="16" name="Text 14">
            <a:extLst xmlns:a="http://schemas.openxmlformats.org/drawingml/2006/main">
              <a:ext uri="{FF2B5EF4-FFF2-40B4-BE49-F238E27FC236}">
                <a16:creationId xmlns:a16="http://schemas.microsoft.com/office/drawing/2014/main" id="{B1B013BD-C18C-4AC2-BAFB-F4ABE6FF0CC9}"/>
              </a:ext>
            </a:extLst>
          </p:cNvPr>
          <p:cNvSpPr>
            <a:spLocks xmlns:a="http://schemas.openxmlformats.org/drawingml/2006/main" noGrp="1"/>
          </p:cNvSpPr>
          <p:nvPr/>
        </p:nvSpPr>
        <p:spPr>
          <a:xfrm xmlns:a="http://schemas.openxmlformats.org/drawingml/2006/main">
            <a:off x="676656" y="3520440"/>
            <a:ext cx="4169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Logical isolation for wholesale</a:t>
            </a:r>
            <a:endParaRPr sz="980"/>
          </a:p>
        </p:txBody>
      </p:sp>
      <p:sp>
        <p:nvSpPr>
          <p:cNvPr id="17" name="Text 15">
            <a:extLst xmlns:a="http://schemas.openxmlformats.org/drawingml/2006/main">
              <a:ext uri="{FF2B5EF4-FFF2-40B4-BE49-F238E27FC236}">
                <a16:creationId xmlns:a16="http://schemas.microsoft.com/office/drawing/2014/main" id="{153091EB-9BB1-464E-89DD-47F29FBFB313}"/>
              </a:ext>
            </a:extLst>
          </p:cNvPr>
          <p:cNvSpPr>
            <a:spLocks xmlns:a="http://schemas.openxmlformats.org/drawingml/2006/main" noGrp="1"/>
          </p:cNvSpPr>
          <p:nvPr/>
        </p:nvSpPr>
        <p:spPr>
          <a:xfrm xmlns:a="http://schemas.openxmlformats.org/drawingml/2006/main">
            <a:off x="5157216" y="3520440"/>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Wholesale data co-mingled at storage layer with retail</a:t>
            </a:r>
            <a:endParaRPr sz="940"/>
          </a:p>
        </p:txBody>
      </p:sp>
      <p:sp>
        <p:nvSpPr>
          <p:cNvPr id="18" name="Text 16">
            <a:extLst xmlns:a="http://schemas.openxmlformats.org/drawingml/2006/main">
              <a:ext uri="{FF2B5EF4-FFF2-40B4-BE49-F238E27FC236}">
                <a16:creationId xmlns:a16="http://schemas.microsoft.com/office/drawing/2014/main" id="{BA50836F-FE31-47D7-A28C-E24CA36C9466}"/>
              </a:ext>
            </a:extLst>
          </p:cNvPr>
          <p:cNvSpPr>
            <a:spLocks xmlns:a="http://schemas.openxmlformats.org/drawingml/2006/main" noGrp="1"/>
          </p:cNvSpPr>
          <p:nvPr/>
        </p:nvSpPr>
        <p:spPr>
          <a:xfrm xmlns:a="http://schemas.openxmlformats.org/drawingml/2006/main">
            <a:off x="8631936" y="3520440"/>
            <a:ext cx="2880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a:solidFill>
                  <a:srgbClr val="B04A25"/>
                </a:solidFill>
                <a:latin typeface="Arial"/>
                <a:ea typeface="Arial"/>
                <a:cs typeface="Arial"/>
              </a:rPr>
              <a:t>The non-negotiable</a:t>
            </a:r>
            <a:endParaRPr sz="940"/>
          </a:p>
        </p:txBody>
      </p:sp>
      <p:sp>
        <p:nvSpPr>
          <p:cNvPr id="19" name="Shape 17">
            <a:extLst xmlns:a="http://schemas.openxmlformats.org/drawingml/2006/main">
              <a:ext uri="{FF2B5EF4-FFF2-40B4-BE49-F238E27FC236}">
                <a16:creationId xmlns:a16="http://schemas.microsoft.com/office/drawing/2014/main" id="{75E68229-A7BC-4A57-94F1-B3AD59304608}"/>
              </a:ext>
            </a:extLst>
          </p:cNvPr>
          <p:cNvSpPr>
            <a:spLocks xmlns:a="http://schemas.openxmlformats.org/drawingml/2006/main" noGrp="1"/>
          </p:cNvSpPr>
          <p:nvPr/>
        </p:nvSpPr>
        <p:spPr>
          <a:xfrm xmlns:a="http://schemas.openxmlformats.org/drawingml/2006/main">
            <a:off x="566928" y="3913632"/>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14A6726F-08B2-4E2D-9DBB-25606796A780}"/>
              </a:ext>
            </a:extLst>
          </p:cNvPr>
          <p:cNvSpPr>
            <a:spLocks xmlns:a="http://schemas.openxmlformats.org/drawingml/2006/main" noGrp="1"/>
          </p:cNvSpPr>
          <p:nvPr/>
        </p:nvSpPr>
        <p:spPr>
          <a:xfrm xmlns:a="http://schemas.openxmlformats.org/drawingml/2006/main">
            <a:off x="676656" y="4032504"/>
            <a:ext cx="4169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Full multi-tenant, both verticals</a:t>
            </a:r>
            <a:endParaRPr sz="980"/>
          </a:p>
        </p:txBody>
      </p:sp>
      <p:sp>
        <p:nvSpPr>
          <p:cNvPr id="21" name="Text 19">
            <a:extLst xmlns:a="http://schemas.openxmlformats.org/drawingml/2006/main">
              <a:ext uri="{FF2B5EF4-FFF2-40B4-BE49-F238E27FC236}">
                <a16:creationId xmlns:a16="http://schemas.microsoft.com/office/drawing/2014/main" id="{E8B7D2AF-FD56-416D-B43E-FA9EBF48B03A}"/>
              </a:ext>
            </a:extLst>
          </p:cNvPr>
          <p:cNvSpPr>
            <a:spLocks xmlns:a="http://schemas.openxmlformats.org/drawingml/2006/main" noGrp="1"/>
          </p:cNvSpPr>
          <p:nvPr/>
        </p:nvSpPr>
        <p:spPr>
          <a:xfrm xmlns:a="http://schemas.openxmlformats.org/drawingml/2006/main">
            <a:off x="5157216" y="403250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Wholesale isolation lost in exchange for cost</a:t>
            </a:r>
            <a:endParaRPr sz="940"/>
          </a:p>
        </p:txBody>
      </p:sp>
      <p:sp>
        <p:nvSpPr>
          <p:cNvPr id="22" name="Text 20">
            <a:extLst xmlns:a="http://schemas.openxmlformats.org/drawingml/2006/main">
              <a:ext uri="{FF2B5EF4-FFF2-40B4-BE49-F238E27FC236}">
                <a16:creationId xmlns:a16="http://schemas.microsoft.com/office/drawing/2014/main" id="{11870039-B64E-47E9-978B-88E9E9CC6440}"/>
              </a:ext>
            </a:extLst>
          </p:cNvPr>
          <p:cNvSpPr>
            <a:spLocks xmlns:a="http://schemas.openxmlformats.org/drawingml/2006/main" noGrp="1"/>
          </p:cNvSpPr>
          <p:nvPr/>
        </p:nvSpPr>
        <p:spPr>
          <a:xfrm xmlns:a="http://schemas.openxmlformats.org/drawingml/2006/main">
            <a:off x="8631936" y="4032504"/>
            <a:ext cx="2880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a:solidFill>
                  <a:srgbClr val="B04A25"/>
                </a:solidFill>
                <a:latin typeface="Arial"/>
                <a:ea typeface="Arial"/>
                <a:cs typeface="Arial"/>
              </a:rPr>
              <a:t>The non-negotiable</a:t>
            </a:r>
            <a:endParaRPr sz="940"/>
          </a:p>
        </p:txBody>
      </p:sp>
      <p:sp>
        <p:nvSpPr>
          <p:cNvPr id="23" name="Shape 21">
            <a:extLst xmlns:a="http://schemas.openxmlformats.org/drawingml/2006/main">
              <a:ext uri="{FF2B5EF4-FFF2-40B4-BE49-F238E27FC236}">
                <a16:creationId xmlns:a16="http://schemas.microsoft.com/office/drawing/2014/main" id="{D83E70A5-C0CD-405F-9DE9-D60C8D27B2AF}"/>
              </a:ext>
            </a:extLst>
          </p:cNvPr>
          <p:cNvSpPr>
            <a:spLocks xmlns:a="http://schemas.openxmlformats.org/drawingml/2006/main" noGrp="1"/>
          </p:cNvSpPr>
          <p:nvPr/>
        </p:nvSpPr>
        <p:spPr>
          <a:xfrm xmlns:a="http://schemas.openxmlformats.org/drawingml/2006/main">
            <a:off x="566928" y="4425696"/>
            <a:ext cx="11057839" cy="7315"/>
          </a:xfrm>
          <a:prstGeom xmlns:a="http://schemas.openxmlformats.org/drawingml/2006/main" prst="rect">
            <a:avLst/>
          </a:prstGeom>
          <a:solidFill xmlns:a="http://schemas.openxmlformats.org/drawingml/2006/main">
            <a:srgbClr val="CBD5E0"/>
          </a:solidFill>
        </p:spPr>
      </p:sp>
      <p:sp>
        <p:nvSpPr>
          <p:cNvPr id="24" name="Shape 22">
            <a:extLst xmlns:a="http://schemas.openxmlformats.org/drawingml/2006/main">
              <a:ext uri="{FF2B5EF4-FFF2-40B4-BE49-F238E27FC236}">
                <a16:creationId xmlns:a16="http://schemas.microsoft.com/office/drawing/2014/main" id="{8266C77D-8A1D-465F-92EA-A32D6BDE0001}"/>
              </a:ext>
            </a:extLst>
          </p:cNvPr>
          <p:cNvSpPr>
            <a:spLocks xmlns:a="http://schemas.openxmlformats.org/drawingml/2006/main" noGrp="1"/>
          </p:cNvSpPr>
          <p:nvPr/>
        </p:nvSpPr>
        <p:spPr>
          <a:xfrm xmlns:a="http://schemas.openxmlformats.org/drawingml/2006/main">
            <a:off x="566928" y="4425696"/>
            <a:ext cx="11057839" cy="512064"/>
          </a:xfrm>
          <a:prstGeom xmlns:a="http://schemas.openxmlformats.org/drawingml/2006/main" prst="rect">
            <a:avLst/>
          </a:prstGeom>
          <a:solidFill xmlns:a="http://schemas.openxmlformats.org/drawingml/2006/main">
            <a:srgbClr val="F7F9FB"/>
          </a:solidFill>
        </p:spPr>
      </p:sp>
      <p:sp>
        <p:nvSpPr>
          <p:cNvPr id="25" name="Text 23">
            <a:extLst xmlns:a="http://schemas.openxmlformats.org/drawingml/2006/main">
              <a:ext uri="{FF2B5EF4-FFF2-40B4-BE49-F238E27FC236}">
                <a16:creationId xmlns:a16="http://schemas.microsoft.com/office/drawing/2014/main" id="{5D78E284-ECD1-455F-BA94-0B3956D253F8}"/>
              </a:ext>
            </a:extLst>
          </p:cNvPr>
          <p:cNvSpPr>
            <a:spLocks xmlns:a="http://schemas.openxmlformats.org/drawingml/2006/main" noGrp="1"/>
          </p:cNvSpPr>
          <p:nvPr/>
        </p:nvSpPr>
        <p:spPr>
          <a:xfrm xmlns:a="http://schemas.openxmlformats.org/drawingml/2006/main">
            <a:off x="676656" y="4544568"/>
            <a:ext cx="4169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Offshore-hosted consolidated stack</a:t>
            </a:r>
            <a:endParaRPr sz="980"/>
          </a:p>
        </p:txBody>
      </p:sp>
      <p:sp>
        <p:nvSpPr>
          <p:cNvPr id="26" name="Text 24">
            <a:extLst xmlns:a="http://schemas.openxmlformats.org/drawingml/2006/main">
              <a:ext uri="{FF2B5EF4-FFF2-40B4-BE49-F238E27FC236}">
                <a16:creationId xmlns:a16="http://schemas.microsoft.com/office/drawing/2014/main" id="{9CEAA9B5-C270-42C5-BFE9-CC3DFA0FCA52}"/>
              </a:ext>
            </a:extLst>
          </p:cNvPr>
          <p:cNvSpPr>
            <a:spLocks xmlns:a="http://schemas.openxmlformats.org/drawingml/2006/main" noGrp="1"/>
          </p:cNvSpPr>
          <p:nvPr/>
        </p:nvSpPr>
        <p:spPr>
          <a:xfrm xmlns:a="http://schemas.openxmlformats.org/drawingml/2006/main">
            <a:off x="5157216" y="4544568"/>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Indonesian data residency cannot be met offshore</a:t>
            </a:r>
            <a:endParaRPr sz="940"/>
          </a:p>
        </p:txBody>
      </p:sp>
      <p:sp>
        <p:nvSpPr>
          <p:cNvPr id="27" name="Text 25">
            <a:extLst xmlns:a="http://schemas.openxmlformats.org/drawingml/2006/main">
              <a:ext uri="{FF2B5EF4-FFF2-40B4-BE49-F238E27FC236}">
                <a16:creationId xmlns:a16="http://schemas.microsoft.com/office/drawing/2014/main" id="{20E36A45-D88E-409A-8DE3-881F29B2B0A7}"/>
              </a:ext>
            </a:extLst>
          </p:cNvPr>
          <p:cNvSpPr>
            <a:spLocks xmlns:a="http://schemas.openxmlformats.org/drawingml/2006/main" noGrp="1"/>
          </p:cNvSpPr>
          <p:nvPr/>
        </p:nvSpPr>
        <p:spPr>
          <a:xfrm xmlns:a="http://schemas.openxmlformats.org/drawingml/2006/main">
            <a:off x="8631936" y="4544568"/>
            <a:ext cx="2880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a:solidFill>
                  <a:srgbClr val="B04A25"/>
                </a:solidFill>
                <a:latin typeface="Arial"/>
                <a:ea typeface="Arial"/>
                <a:cs typeface="Arial"/>
              </a:rPr>
              <a:t>Residency</a:t>
            </a:r>
            <a:endParaRPr sz="940"/>
          </a:p>
        </p:txBody>
      </p:sp>
      <p:sp>
        <p:nvSpPr>
          <p:cNvPr id="28" name="Shape 26">
            <a:extLst xmlns:a="http://schemas.openxmlformats.org/drawingml/2006/main">
              <a:ext uri="{FF2B5EF4-FFF2-40B4-BE49-F238E27FC236}">
                <a16:creationId xmlns:a16="http://schemas.microsoft.com/office/drawing/2014/main" id="{83F08C0F-E3D6-45D5-B050-CCB1A1D927E4}"/>
              </a:ext>
            </a:extLst>
          </p:cNvPr>
          <p:cNvSpPr>
            <a:spLocks xmlns:a="http://schemas.openxmlformats.org/drawingml/2006/main" noGrp="1"/>
          </p:cNvSpPr>
          <p:nvPr/>
        </p:nvSpPr>
        <p:spPr>
          <a:xfrm xmlns:a="http://schemas.openxmlformats.org/drawingml/2006/main">
            <a:off x="566928" y="4937760"/>
            <a:ext cx="11057839" cy="7315"/>
          </a:xfrm>
          <a:prstGeom xmlns:a="http://schemas.openxmlformats.org/drawingml/2006/main" prst="rect">
            <a:avLst/>
          </a:prstGeom>
          <a:solidFill xmlns:a="http://schemas.openxmlformats.org/drawingml/2006/main">
            <a:srgbClr val="CBD5E0"/>
          </a:solidFill>
        </p:spPr>
      </p:sp>
      <p:sp>
        <p:nvSpPr>
          <p:cNvPr id="29" name="Text 27">
            <a:extLst xmlns:a="http://schemas.openxmlformats.org/drawingml/2006/main">
              <a:ext uri="{FF2B5EF4-FFF2-40B4-BE49-F238E27FC236}">
                <a16:creationId xmlns:a16="http://schemas.microsoft.com/office/drawing/2014/main" id="{D411713F-3DCA-4C03-AC95-180E8CFBDAEE}"/>
              </a:ext>
            </a:extLst>
          </p:cNvPr>
          <p:cNvSpPr>
            <a:spLocks xmlns:a="http://schemas.openxmlformats.org/drawingml/2006/main" noGrp="1"/>
          </p:cNvSpPr>
          <p:nvPr/>
        </p:nvSpPr>
        <p:spPr>
          <a:xfrm xmlns:a="http://schemas.openxmlformats.org/drawingml/2006/main">
            <a:off x="676656" y="5056632"/>
            <a:ext cx="4169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Per-market, per-vertical, per-segment</a:t>
            </a:r>
            <a:endParaRPr sz="980"/>
          </a:p>
        </p:txBody>
      </p:sp>
      <p:sp>
        <p:nvSpPr>
          <p:cNvPr id="30" name="Text 28">
            <a:extLst xmlns:a="http://schemas.openxmlformats.org/drawingml/2006/main">
              <a:ext uri="{FF2B5EF4-FFF2-40B4-BE49-F238E27FC236}">
                <a16:creationId xmlns:a16="http://schemas.microsoft.com/office/drawing/2014/main" id="{E12D8517-04F0-4463-AC12-D9AE69D43944}"/>
              </a:ext>
            </a:extLst>
          </p:cNvPr>
          <p:cNvSpPr>
            <a:spLocks xmlns:a="http://schemas.openxmlformats.org/drawingml/2006/main" noGrp="1"/>
          </p:cNvSpPr>
          <p:nvPr/>
        </p:nvSpPr>
        <p:spPr>
          <a:xfrm xmlns:a="http://schemas.openxmlformats.org/drawingml/2006/main">
            <a:off x="5157216" y="5056632"/>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Instance count and operational load beyond any cost case</a:t>
            </a:r>
            <a:endParaRPr sz="940"/>
          </a:p>
        </p:txBody>
      </p:sp>
      <p:sp>
        <p:nvSpPr>
          <p:cNvPr id="31" name="Text 29">
            <a:extLst xmlns:a="http://schemas.openxmlformats.org/drawingml/2006/main">
              <a:ext uri="{FF2B5EF4-FFF2-40B4-BE49-F238E27FC236}">
                <a16:creationId xmlns:a16="http://schemas.microsoft.com/office/drawing/2014/main" id="{26D26279-8E5B-4C67-8706-154137D60DE9}"/>
              </a:ext>
            </a:extLst>
          </p:cNvPr>
          <p:cNvSpPr>
            <a:spLocks xmlns:a="http://schemas.openxmlformats.org/drawingml/2006/main" noGrp="1"/>
          </p:cNvSpPr>
          <p:nvPr/>
        </p:nvSpPr>
        <p:spPr>
          <a:xfrm xmlns:a="http://schemas.openxmlformats.org/drawingml/2006/main">
            <a:off x="8631936" y="5056632"/>
            <a:ext cx="2880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a:solidFill>
                  <a:srgbClr val="B04A25"/>
                </a:solidFill>
                <a:latin typeface="Arial"/>
                <a:ea typeface="Arial"/>
                <a:cs typeface="Arial"/>
              </a:rPr>
              <a:t>Operability</a:t>
            </a:r>
            <a:endParaRPr sz="940"/>
          </a:p>
        </p:txBody>
      </p:sp>
      <p:sp>
        <p:nvSpPr>
          <p:cNvPr id="32" name="Shape 30">
            <a:extLst xmlns:a="http://schemas.openxmlformats.org/drawingml/2006/main">
              <a:ext uri="{FF2B5EF4-FFF2-40B4-BE49-F238E27FC236}">
                <a16:creationId xmlns:a16="http://schemas.microsoft.com/office/drawing/2014/main" id="{AAA5143D-1807-4B29-9226-C8E909651CF8}"/>
              </a:ext>
            </a:extLst>
          </p:cNvPr>
          <p:cNvSpPr>
            <a:spLocks xmlns:a="http://schemas.openxmlformats.org/drawingml/2006/main" noGrp="1"/>
          </p:cNvSpPr>
          <p:nvPr/>
        </p:nvSpPr>
        <p:spPr>
          <a:xfrm xmlns:a="http://schemas.openxmlformats.org/drawingml/2006/main">
            <a:off x="566928" y="5449824"/>
            <a:ext cx="11057839" cy="7315"/>
          </a:xfrm>
          <a:prstGeom xmlns:a="http://schemas.openxmlformats.org/drawingml/2006/main" prst="rect">
            <a:avLst/>
          </a:prstGeom>
          <a:solidFill xmlns:a="http://schemas.openxmlformats.org/drawingml/2006/main">
            <a:srgbClr val="CBD5E0"/>
          </a:solidFill>
        </p:spPr>
      </p:sp>
      <p:sp>
        <p:nvSpPr>
          <p:cNvPr id="33" name="Shape 31">
            <a:extLst xmlns:a="http://schemas.openxmlformats.org/drawingml/2006/main">
              <a:ext uri="{FF2B5EF4-FFF2-40B4-BE49-F238E27FC236}">
                <a16:creationId xmlns:a16="http://schemas.microsoft.com/office/drawing/2014/main" id="{4D6CA594-DC21-4ADF-8AE8-4B5F4E7CA1DE}"/>
              </a:ext>
            </a:extLst>
          </p:cNvPr>
          <p:cNvSpPr>
            <a:spLocks xmlns:a="http://schemas.openxmlformats.org/drawingml/2006/main" noGrp="1"/>
          </p:cNvSpPr>
          <p:nvPr/>
        </p:nvSpPr>
        <p:spPr>
          <a:xfrm xmlns:a="http://schemas.openxmlformats.org/drawingml/2006/main">
            <a:off x="566928" y="5449824"/>
            <a:ext cx="11057839" cy="512064"/>
          </a:xfrm>
          <a:prstGeom xmlns:a="http://schemas.openxmlformats.org/drawingml/2006/main" prst="rect">
            <a:avLst/>
          </a:prstGeom>
          <a:solidFill xmlns:a="http://schemas.openxmlformats.org/drawingml/2006/main">
            <a:srgbClr val="F7F9FB"/>
          </a:solidFill>
        </p:spPr>
      </p:sp>
      <p:sp>
        <p:nvSpPr>
          <p:cNvPr id="34" name="Text 32">
            <a:extLst xmlns:a="http://schemas.openxmlformats.org/drawingml/2006/main">
              <a:ext uri="{FF2B5EF4-FFF2-40B4-BE49-F238E27FC236}">
                <a16:creationId xmlns:a16="http://schemas.microsoft.com/office/drawing/2014/main" id="{EF7E91F9-7FF0-4519-B4C6-BA973036C1A7}"/>
              </a:ext>
            </a:extLst>
          </p:cNvPr>
          <p:cNvSpPr>
            <a:spLocks xmlns:a="http://schemas.openxmlformats.org/drawingml/2006/main" noGrp="1"/>
          </p:cNvSpPr>
          <p:nvPr/>
        </p:nvSpPr>
        <p:spPr>
          <a:xfrm xmlns:a="http://schemas.openxmlformats.org/drawingml/2006/main">
            <a:off x="676656" y="5568696"/>
            <a:ext cx="4169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Hybrid with shared wholesale database</a:t>
            </a:r>
            <a:endParaRPr sz="980"/>
          </a:p>
        </p:txBody>
      </p:sp>
      <p:sp>
        <p:nvSpPr>
          <p:cNvPr id="35" name="Text 33">
            <a:extLst xmlns:a="http://schemas.openxmlformats.org/drawingml/2006/main">
              <a:ext uri="{FF2B5EF4-FFF2-40B4-BE49-F238E27FC236}">
                <a16:creationId xmlns:a16="http://schemas.microsoft.com/office/drawing/2014/main" id="{1DA536B6-F448-4933-A996-77FBFA82A5A7}"/>
              </a:ext>
            </a:extLst>
          </p:cNvPr>
          <p:cNvSpPr>
            <a:spLocks xmlns:a="http://schemas.openxmlformats.org/drawingml/2006/main" noGrp="1"/>
          </p:cNvSpPr>
          <p:nvPr/>
        </p:nvSpPr>
        <p:spPr>
          <a:xfrm xmlns:a="http://schemas.openxmlformats.org/drawingml/2006/main">
            <a:off x="5157216" y="5568696"/>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Wholesale databases shared across jurisdictions</a:t>
            </a:r>
            <a:endParaRPr sz="940"/>
          </a:p>
        </p:txBody>
      </p:sp>
      <p:sp>
        <p:nvSpPr>
          <p:cNvPr id="36" name="Text 34">
            <a:extLst xmlns:a="http://schemas.openxmlformats.org/drawingml/2006/main">
              <a:ext uri="{FF2B5EF4-FFF2-40B4-BE49-F238E27FC236}">
                <a16:creationId xmlns:a16="http://schemas.microsoft.com/office/drawing/2014/main" id="{064BB694-EBFF-4369-A7D1-40AE0A10A39F}"/>
              </a:ext>
            </a:extLst>
          </p:cNvPr>
          <p:cNvSpPr>
            <a:spLocks xmlns:a="http://schemas.openxmlformats.org/drawingml/2006/main" noGrp="1"/>
          </p:cNvSpPr>
          <p:nvPr/>
        </p:nvSpPr>
        <p:spPr>
          <a:xfrm xmlns:a="http://schemas.openxmlformats.org/drawingml/2006/main">
            <a:off x="8631936" y="5568696"/>
            <a:ext cx="2880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a:solidFill>
                  <a:srgbClr val="B04A25"/>
                </a:solidFill>
                <a:latin typeface="Arial"/>
                <a:ea typeface="Arial"/>
                <a:cs typeface="Arial"/>
              </a:rPr>
              <a:t>The non-negotiable</a:t>
            </a:r>
            <a:endParaRPr sz="940"/>
          </a:p>
        </p:txBody>
      </p:sp>
      <p:sp>
        <p:nvSpPr>
          <p:cNvPr id="37" name="Shape 35">
            <a:extLst xmlns:a="http://schemas.openxmlformats.org/drawingml/2006/main">
              <a:ext uri="{FF2B5EF4-FFF2-40B4-BE49-F238E27FC236}">
                <a16:creationId xmlns:a16="http://schemas.microsoft.com/office/drawing/2014/main" id="{53962219-9664-47BE-8B61-2AFB08AA5E8B}"/>
              </a:ext>
            </a:extLst>
          </p:cNvPr>
          <p:cNvSpPr>
            <a:spLocks xmlns:a="http://schemas.openxmlformats.org/drawingml/2006/main" noGrp="1"/>
          </p:cNvSpPr>
          <p:nvPr/>
        </p:nvSpPr>
        <p:spPr>
          <a:xfrm xmlns:a="http://schemas.openxmlformats.org/drawingml/2006/main">
            <a:off x="566928" y="5961888"/>
            <a:ext cx="11057839" cy="7315"/>
          </a:xfrm>
          <a:prstGeom xmlns:a="http://schemas.openxmlformats.org/drawingml/2006/main" prst="rect">
            <a:avLst/>
          </a:prstGeom>
          <a:solidFill xmlns:a="http://schemas.openxmlformats.org/drawingml/2006/main">
            <a:srgbClr val="CBD5E0"/>
          </a:solidFill>
        </p:spPr>
      </p:sp>
      <p:sp>
        <p:nvSpPr>
          <p:cNvPr id="38" name="Text 36">
            <a:extLst xmlns:a="http://schemas.openxmlformats.org/drawingml/2006/main">
              <a:ext uri="{FF2B5EF4-FFF2-40B4-BE49-F238E27FC236}">
                <a16:creationId xmlns:a16="http://schemas.microsoft.com/office/drawing/2014/main" id="{7099884A-8ACA-47AD-9650-87148EED3832}"/>
              </a:ext>
            </a:extLst>
          </p:cNvPr>
          <p:cNvSpPr>
            <a:spLocks xmlns:a="http://schemas.openxmlformats.org/drawingml/2006/main" noGrp="1"/>
          </p:cNvSpPr>
          <p:nvPr/>
        </p:nvSpPr>
        <p:spPr>
          <a:xfrm xmlns:a="http://schemas.openxmlformats.org/drawingml/2006/main">
            <a:off x="676656" y="6080760"/>
            <a:ext cx="4169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Consumer split by segment across instances</a:t>
            </a:r>
            <a:endParaRPr sz="980"/>
          </a:p>
        </p:txBody>
      </p:sp>
      <p:sp>
        <p:nvSpPr>
          <p:cNvPr id="39" name="Text 37">
            <a:extLst xmlns:a="http://schemas.openxmlformats.org/drawingml/2006/main">
              <a:ext uri="{FF2B5EF4-FFF2-40B4-BE49-F238E27FC236}">
                <a16:creationId xmlns:a16="http://schemas.microsoft.com/office/drawing/2014/main" id="{3546FE94-C3FF-4811-8EF5-B7496A6C9160}"/>
              </a:ext>
            </a:extLst>
          </p:cNvPr>
          <p:cNvSpPr>
            <a:spLocks xmlns:a="http://schemas.openxmlformats.org/drawingml/2006/main" noGrp="1"/>
          </p:cNvSpPr>
          <p:nvPr/>
        </p:nvSpPr>
        <p:spPr>
          <a:xfrm xmlns:a="http://schemas.openxmlformats.org/drawingml/2006/main">
            <a:off x="5157216" y="6080760"/>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a:solidFill>
                  <a:srgbClr val="486581"/>
                </a:solidFill>
                <a:latin typeface="Arial"/>
                <a:ea typeface="Arial"/>
                <a:cs typeface="Arial"/>
              </a:rPr>
              <a:t>Fragments the consumer record without a compliance benefit</a:t>
            </a:r>
            <a:endParaRPr sz="940"/>
          </a:p>
        </p:txBody>
      </p:sp>
      <p:sp>
        <p:nvSpPr>
          <p:cNvPr id="40" name="Text 38">
            <a:extLst xmlns:a="http://schemas.openxmlformats.org/drawingml/2006/main">
              <a:ext uri="{FF2B5EF4-FFF2-40B4-BE49-F238E27FC236}">
                <a16:creationId xmlns:a16="http://schemas.microsoft.com/office/drawing/2014/main" id="{408DAC0A-645C-41A9-82D4-D3B53EF45EE1}"/>
              </a:ext>
            </a:extLst>
          </p:cNvPr>
          <p:cNvSpPr>
            <a:spLocks xmlns:a="http://schemas.openxmlformats.org/drawingml/2006/main" noGrp="1"/>
          </p:cNvSpPr>
          <p:nvPr/>
        </p:nvSpPr>
        <p:spPr>
          <a:xfrm xmlns:a="http://schemas.openxmlformats.org/drawingml/2006/main">
            <a:off x="8631936" y="6080760"/>
            <a:ext cx="2880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40" b="1">
                <a:solidFill>
                  <a:srgbClr val="B04A25"/>
                </a:solidFill>
                <a:latin typeface="Arial"/>
                <a:ea typeface="Arial"/>
                <a:cs typeface="Arial"/>
              </a:rPr>
              <a:t>No benefit</a:t>
            </a:r>
            <a:endParaRPr sz="940"/>
          </a:p>
        </p:txBody>
      </p:sp>
      <p:sp>
        <p:nvSpPr>
          <p:cNvPr id="41" name="Shape 39">
            <a:extLst xmlns:a="http://schemas.openxmlformats.org/drawingml/2006/main">
              <a:ext uri="{FF2B5EF4-FFF2-40B4-BE49-F238E27FC236}">
                <a16:creationId xmlns:a16="http://schemas.microsoft.com/office/drawing/2014/main" id="{A5C75717-BF22-4BB1-9C05-DD73B4893131}"/>
              </a:ext>
            </a:extLst>
          </p:cNvPr>
          <p:cNvSpPr>
            <a:spLocks xmlns:a="http://schemas.openxmlformats.org/drawingml/2006/main" noGrp="1"/>
          </p:cNvSpPr>
          <p:nvPr/>
        </p:nvSpPr>
        <p:spPr>
          <a:xfrm xmlns:a="http://schemas.openxmlformats.org/drawingml/2006/main">
            <a:off x="566928" y="6473952"/>
            <a:ext cx="11057839" cy="7315"/>
          </a:xfrm>
          <a:prstGeom xmlns:a="http://schemas.openxmlformats.org/drawingml/2006/main" prst="rect">
            <a:avLst/>
          </a:prstGeom>
          <a:solidFill xmlns:a="http://schemas.openxmlformats.org/drawingml/2006/main">
            <a:srgbClr val="CBD5E0"/>
          </a:solidFill>
        </p:spPr>
      </p:sp>
      <p:sp>
        <p:nvSpPr>
          <p:cNvPr id="42" name="Shape 40">
            <a:extLst xmlns:a="http://schemas.openxmlformats.org/drawingml/2006/main">
              <a:ext uri="{FF2B5EF4-FFF2-40B4-BE49-F238E27FC236}">
                <a16:creationId xmlns:a16="http://schemas.microsoft.com/office/drawing/2014/main" id="{A56CC789-7F9C-49BF-AE6C-24D5CE9D1CF8}"/>
              </a:ext>
            </a:extLst>
          </p:cNvPr>
          <p:cNvSpPr>
            <a:spLocks xmlns:a="http://schemas.openxmlformats.org/drawingml/2006/main" noGrp="1"/>
          </p:cNvSpPr>
          <p:nvPr/>
        </p:nvSpPr>
        <p:spPr>
          <a:xfrm xmlns:a="http://schemas.openxmlformats.org/drawingml/2006/main">
            <a:off x="566928" y="6711696"/>
            <a:ext cx="11057839" cy="841248"/>
          </a:xfrm>
          <a:prstGeom xmlns:a="http://schemas.openxmlformats.org/drawingml/2006/main" prst="rect">
            <a:avLst/>
          </a:prstGeom>
          <a:solidFill xmlns:a="http://schemas.openxmlformats.org/drawingml/2006/main">
            <a:srgbClr val="F3E6E0"/>
          </a:solidFill>
        </p:spPr>
      </p:sp>
      <p:sp>
        <p:nvSpPr>
          <p:cNvPr id="43" name="Text 41">
            <a:extLst xmlns:a="http://schemas.openxmlformats.org/drawingml/2006/main">
              <a:ext uri="{FF2B5EF4-FFF2-40B4-BE49-F238E27FC236}">
                <a16:creationId xmlns:a16="http://schemas.microsoft.com/office/drawing/2014/main" id="{2C46A2A8-07BC-421C-B552-932A53FA24AB}"/>
              </a:ext>
            </a:extLst>
          </p:cNvPr>
          <p:cNvSpPr>
            <a:spLocks xmlns:a="http://schemas.openxmlformats.org/drawingml/2006/main" noGrp="1"/>
          </p:cNvSpPr>
          <p:nvPr/>
        </p:nvSpPr>
        <p:spPr>
          <a:xfrm xmlns:a="http://schemas.openxmlformats.org/drawingml/2006/main">
            <a:off x="804672" y="685800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sequencing the constraint before the scoring matters</a:t>
            </a:r>
            <a:endParaRPr sz="1100"/>
          </a:p>
        </p:txBody>
      </p:sp>
      <p:sp>
        <p:nvSpPr>
          <p:cNvPr id="44" name="Text 42">
            <a:extLst xmlns:a="http://schemas.openxmlformats.org/drawingml/2006/main">
              <a:ext uri="{FF2B5EF4-FFF2-40B4-BE49-F238E27FC236}">
                <a16:creationId xmlns:a16="http://schemas.microsoft.com/office/drawing/2014/main" id="{78A8B880-A29B-41A8-B6C6-1456B07A69E3}"/>
              </a:ext>
            </a:extLst>
          </p:cNvPr>
          <p:cNvSpPr>
            <a:spLocks xmlns:a="http://schemas.openxmlformats.org/drawingml/2006/main" noGrp="1"/>
          </p:cNvSpPr>
          <p:nvPr/>
        </p:nvSpPr>
        <p:spPr>
          <a:xfrm xmlns:a="http://schemas.openxmlformats.org/drawingml/2006/main">
            <a:off x="804672" y="7114032"/>
            <a:ext cx="1058235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Had all nine gone into a weighted scorecard together, the consolidated options would have scored well on cost and operability and the debate would have been about whether isolation could be traded for savings. Applying the fixed constraint as a filter first removed that argument entirely — and left an executive decision with only one genuine variable in it.</a:t>
            </a:r>
            <a:endParaRPr sz="990"/>
          </a:p>
        </p:txBody>
      </p:sp>
      <p:sp>
        <p:nvSpPr>
          <p:cNvPr id="45" name="Shape 43">
            <a:extLst xmlns:a="http://schemas.openxmlformats.org/drawingml/2006/main">
              <a:ext uri="{FF2B5EF4-FFF2-40B4-BE49-F238E27FC236}">
                <a16:creationId xmlns:a16="http://schemas.microsoft.com/office/drawing/2014/main" id="{4D9342BD-A3EC-4AB0-AD51-9C4FFE57C2F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6" name="Text 44">
            <a:extLst xmlns:a="http://schemas.openxmlformats.org/drawingml/2006/main">
              <a:ext uri="{FF2B5EF4-FFF2-40B4-BE49-F238E27FC236}">
                <a16:creationId xmlns:a16="http://schemas.microsoft.com/office/drawing/2014/main" id="{68B9B464-C60D-4FC3-89BB-E56F2C0CB0A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deployment analysis, prepared for executive decision</a:t>
            </a:r>
            <a:endParaRPr sz="850"/>
          </a:p>
        </p:txBody>
      </p:sp>
      <p:sp>
        <p:nvSpPr>
          <p:cNvPr id="47" name="Text 45">
            <a:extLst xmlns:a="http://schemas.openxmlformats.org/drawingml/2006/main">
              <a:ext uri="{FF2B5EF4-FFF2-40B4-BE49-F238E27FC236}">
                <a16:creationId xmlns:a16="http://schemas.microsoft.com/office/drawing/2014/main" id="{DDD175A6-C7D4-468B-8099-361BC8BF3B8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807517490"/>
      </p:ext>
    </p:extLst>
  </p:cSld>
</p:sld>
</file>

<file path=ppt/slides/slide2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2F01543-73FE-4415-9C34-6BC1A933990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FINALISTS</a:t>
            </a:r>
            <a:endParaRPr sz="950"/>
          </a:p>
        </p:txBody>
      </p:sp>
      <p:sp>
        <p:nvSpPr>
          <p:cNvPr id="3" name="Text 1">
            <a:extLst xmlns:a="http://schemas.openxmlformats.org/drawingml/2006/main">
              <a:ext uri="{FF2B5EF4-FFF2-40B4-BE49-F238E27FC236}">
                <a16:creationId xmlns:a16="http://schemas.microsoft.com/office/drawing/2014/main" id="{681AEB7C-95E0-4C0A-B531-28652676A8C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Two architectures survived — identical on wholesale, different only in how the</a:t>
            </a:r>
            <a:endParaRPr sz="1900"/>
          </a:p>
          <a:p xmlns:a="http://schemas.openxmlformats.org/drawingml/2006/main">
            <a:pPr marL="0" indent="0">
              <a:lnSpc>
                <a:spcPts val="2400"/>
              </a:lnSpc>
              <a:buNone/>
            </a:pPr>
            <a:r>
              <a:rPr sz="1900" b="1">
                <a:solidFill>
                  <a:srgbClr val="102A43"/>
                </a:solidFill>
                <a:latin typeface="Arial"/>
                <a:ea typeface="Arial"/>
                <a:cs typeface="Arial"/>
              </a:rPr>
              <a:t>consumer vertical is tenanted in the two shareable markets</a:t>
            </a:r>
            <a:endParaRPr sz="1900"/>
          </a:p>
        </p:txBody>
      </p:sp>
      <p:sp>
        <p:nvSpPr>
          <p:cNvPr id="4" name="Shape 2">
            <a:extLst xmlns:a="http://schemas.openxmlformats.org/drawingml/2006/main">
              <a:ext uri="{FF2B5EF4-FFF2-40B4-BE49-F238E27FC236}">
                <a16:creationId xmlns:a16="http://schemas.microsoft.com/office/drawing/2014/main" id="{CFEEAEAB-B465-42B3-A676-5B7C36C717B2}"/>
              </a:ext>
            </a:extLst>
          </p:cNvPr>
          <p:cNvSpPr>
            <a:spLocks xmlns:a="http://schemas.openxmlformats.org/drawingml/2006/main" noGrp="1"/>
          </p:cNvSpPr>
          <p:nvPr/>
        </p:nvSpPr>
        <p:spPr>
          <a:xfrm xmlns:a="http://schemas.openxmlformats.org/drawingml/2006/main">
            <a:off x="566928" y="1335024"/>
            <a:ext cx="5373472" cy="356616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9033CDDD-59D3-48D4-8916-D3C92EE636C1}"/>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OPTION 1</a:t>
            </a:r>
            <a:endParaRPr sz="840"/>
          </a:p>
        </p:txBody>
      </p:sp>
      <p:sp>
        <p:nvSpPr>
          <p:cNvPr id="6" name="Text 4">
            <a:extLst xmlns:a="http://schemas.openxmlformats.org/drawingml/2006/main">
              <a:ext uri="{FF2B5EF4-FFF2-40B4-BE49-F238E27FC236}">
                <a16:creationId xmlns:a16="http://schemas.microsoft.com/office/drawing/2014/main" id="{03FB3E7E-9FEB-44E0-8B26-C9460119A60E}"/>
              </a:ext>
            </a:extLst>
          </p:cNvPr>
          <p:cNvSpPr>
            <a:spLocks xmlns:a="http://schemas.openxmlformats.org/drawingml/2006/main" noGrp="1"/>
          </p:cNvSpPr>
          <p:nvPr/>
        </p:nvSpPr>
        <p:spPr>
          <a:xfrm xmlns:a="http://schemas.openxmlformats.org/drawingml/2006/main">
            <a:off x="804672"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Single tenant, all markets</a:t>
            </a:r>
            <a:endParaRPr sz="1500"/>
          </a:p>
        </p:txBody>
      </p:sp>
      <p:sp>
        <p:nvSpPr>
          <p:cNvPr id="7" name="Text 5">
            <a:extLst xmlns:a="http://schemas.openxmlformats.org/drawingml/2006/main">
              <a:ext uri="{FF2B5EF4-FFF2-40B4-BE49-F238E27FC236}">
                <a16:creationId xmlns:a16="http://schemas.microsoft.com/office/drawing/2014/main" id="{11EC4F07-DC9F-47A8-97CA-812C871F58AC}"/>
              </a:ext>
            </a:extLst>
          </p:cNvPr>
          <p:cNvSpPr>
            <a:spLocks xmlns:a="http://schemas.openxmlformats.org/drawingml/2006/main" noGrp="1"/>
          </p:cNvSpPr>
          <p:nvPr/>
        </p:nvSpPr>
        <p:spPr>
          <a:xfrm xmlns:a="http://schemas.openxmlformats.org/drawingml/2006/main">
            <a:off x="804672" y="2084832"/>
            <a:ext cx="489798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Every vertical and country pair receives its own dedicated application instance and database.</a:t>
            </a:r>
            <a:endParaRPr sz="960"/>
          </a:p>
        </p:txBody>
      </p:sp>
      <p:sp>
        <p:nvSpPr>
          <p:cNvPr id="8" name="Shape 6">
            <a:extLst xmlns:a="http://schemas.openxmlformats.org/drawingml/2006/main">
              <a:ext uri="{FF2B5EF4-FFF2-40B4-BE49-F238E27FC236}">
                <a16:creationId xmlns:a16="http://schemas.microsoft.com/office/drawing/2014/main" id="{E7418D69-3EF2-423C-883C-2EC934743392}"/>
              </a:ext>
            </a:extLst>
          </p:cNvPr>
          <p:cNvSpPr>
            <a:spLocks xmlns:a="http://schemas.openxmlformats.org/drawingml/2006/main" noGrp="1"/>
          </p:cNvSpPr>
          <p:nvPr/>
        </p:nvSpPr>
        <p:spPr>
          <a:xfrm xmlns:a="http://schemas.openxmlformats.org/drawingml/2006/main">
            <a:off x="804672" y="2688336"/>
            <a:ext cx="4897984" cy="384048"/>
          </a:xfrm>
          <a:prstGeom xmlns:a="http://schemas.openxmlformats.org/drawingml/2006/main" prst="rect">
            <a:avLst/>
          </a:prstGeom>
          <a:solidFill xmlns:a="http://schemas.openxmlformats.org/drawingml/2006/main">
            <a:srgbClr val="E7EDF3"/>
          </a:solidFill>
        </p:spPr>
      </p:sp>
      <p:sp>
        <p:nvSpPr>
          <p:cNvPr id="9" name="Text 7">
            <a:extLst xmlns:a="http://schemas.openxmlformats.org/drawingml/2006/main">
              <a:ext uri="{FF2B5EF4-FFF2-40B4-BE49-F238E27FC236}">
                <a16:creationId xmlns:a16="http://schemas.microsoft.com/office/drawing/2014/main" id="{5827E878-5C78-44BF-99F2-09354C77F039}"/>
              </a:ext>
            </a:extLst>
          </p:cNvPr>
          <p:cNvSpPr>
            <a:spLocks xmlns:a="http://schemas.openxmlformats.org/drawingml/2006/main" noGrp="1"/>
          </p:cNvSpPr>
          <p:nvPr/>
        </p:nvSpPr>
        <p:spPr>
          <a:xfrm xmlns:a="http://schemas.openxmlformats.org/drawingml/2006/main">
            <a:off x="914400" y="27889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Home market + regional hub</a:t>
            </a:r>
            <a:endParaRPr sz="860"/>
          </a:p>
        </p:txBody>
      </p:sp>
      <p:sp>
        <p:nvSpPr>
          <p:cNvPr id="10" name="Text 8">
            <a:extLst xmlns:a="http://schemas.openxmlformats.org/drawingml/2006/main">
              <a:ext uri="{FF2B5EF4-FFF2-40B4-BE49-F238E27FC236}">
                <a16:creationId xmlns:a16="http://schemas.microsoft.com/office/drawing/2014/main" id="{D82B4D81-E809-46AF-9A5E-A4280500A7B3}"/>
              </a:ext>
            </a:extLst>
          </p:cNvPr>
          <p:cNvSpPr>
            <a:spLocks xmlns:a="http://schemas.openxmlformats.org/drawingml/2006/main" noGrp="1"/>
          </p:cNvSpPr>
          <p:nvPr/>
        </p:nvSpPr>
        <p:spPr>
          <a:xfrm xmlns:a="http://schemas.openxmlformats.org/drawingml/2006/main">
            <a:off x="3108960" y="27889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Consumer: dedicated app, dedicated DB</a:t>
            </a:r>
            <a:endParaRPr sz="880"/>
          </a:p>
        </p:txBody>
      </p:sp>
      <p:sp>
        <p:nvSpPr>
          <p:cNvPr id="11" name="Shape 9">
            <a:extLst xmlns:a="http://schemas.openxmlformats.org/drawingml/2006/main">
              <a:ext uri="{FF2B5EF4-FFF2-40B4-BE49-F238E27FC236}">
                <a16:creationId xmlns:a16="http://schemas.microsoft.com/office/drawing/2014/main" id="{CFF1675F-0D8C-41C1-8B81-C9162F0F5B13}"/>
              </a:ext>
            </a:extLst>
          </p:cNvPr>
          <p:cNvSpPr>
            <a:spLocks xmlns:a="http://schemas.openxmlformats.org/drawingml/2006/main" noGrp="1"/>
          </p:cNvSpPr>
          <p:nvPr/>
        </p:nvSpPr>
        <p:spPr>
          <a:xfrm xmlns:a="http://schemas.openxmlformats.org/drawingml/2006/main">
            <a:off x="804672" y="3145536"/>
            <a:ext cx="4897984" cy="384048"/>
          </a:xfrm>
          <a:prstGeom xmlns:a="http://schemas.openxmlformats.org/drawingml/2006/main" prst="rect">
            <a:avLst/>
          </a:prstGeom>
          <a:solidFill xmlns:a="http://schemas.openxmlformats.org/drawingml/2006/main">
            <a:srgbClr val="E7EDF3"/>
          </a:solidFill>
        </p:spPr>
      </p:sp>
      <p:sp>
        <p:nvSpPr>
          <p:cNvPr id="12" name="Text 10">
            <a:extLst xmlns:a="http://schemas.openxmlformats.org/drawingml/2006/main">
              <a:ext uri="{FF2B5EF4-FFF2-40B4-BE49-F238E27FC236}">
                <a16:creationId xmlns:a16="http://schemas.microsoft.com/office/drawing/2014/main" id="{41AC47E6-D9EE-4AFF-830D-CB3AB4B70946}"/>
              </a:ext>
            </a:extLst>
          </p:cNvPr>
          <p:cNvSpPr>
            <a:spLocks xmlns:a="http://schemas.openxmlformats.org/drawingml/2006/main" noGrp="1"/>
          </p:cNvSpPr>
          <p:nvPr/>
        </p:nvSpPr>
        <p:spPr>
          <a:xfrm xmlns:a="http://schemas.openxmlformats.org/drawingml/2006/main">
            <a:off x="914400" y="32461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Home market + regional hub</a:t>
            </a:r>
            <a:endParaRPr sz="860"/>
          </a:p>
        </p:txBody>
      </p:sp>
      <p:sp>
        <p:nvSpPr>
          <p:cNvPr id="13" name="Text 11">
            <a:extLst xmlns:a="http://schemas.openxmlformats.org/drawingml/2006/main">
              <a:ext uri="{FF2B5EF4-FFF2-40B4-BE49-F238E27FC236}">
                <a16:creationId xmlns:a16="http://schemas.microsoft.com/office/drawing/2014/main" id="{841A78CA-4D55-449F-88CD-A5A65388AB46}"/>
              </a:ext>
            </a:extLst>
          </p:cNvPr>
          <p:cNvSpPr>
            <a:spLocks xmlns:a="http://schemas.openxmlformats.org/drawingml/2006/main" noGrp="1"/>
          </p:cNvSpPr>
          <p:nvPr/>
        </p:nvSpPr>
        <p:spPr>
          <a:xfrm xmlns:a="http://schemas.openxmlformats.org/drawingml/2006/main">
            <a:off x="3108960" y="32461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Wholesale: dedicated app, dedicated DB</a:t>
            </a:r>
            <a:endParaRPr sz="880"/>
          </a:p>
        </p:txBody>
      </p:sp>
      <p:sp>
        <p:nvSpPr>
          <p:cNvPr id="14" name="Shape 12">
            <a:extLst xmlns:a="http://schemas.openxmlformats.org/drawingml/2006/main">
              <a:ext uri="{FF2B5EF4-FFF2-40B4-BE49-F238E27FC236}">
                <a16:creationId xmlns:a16="http://schemas.microsoft.com/office/drawing/2014/main" id="{62DB865B-6F36-4F91-B4CC-CF788F94867E}"/>
              </a:ext>
            </a:extLst>
          </p:cNvPr>
          <p:cNvSpPr>
            <a:spLocks xmlns:a="http://schemas.openxmlformats.org/drawingml/2006/main" noGrp="1"/>
          </p:cNvSpPr>
          <p:nvPr/>
        </p:nvSpPr>
        <p:spPr>
          <a:xfrm xmlns:a="http://schemas.openxmlformats.org/drawingml/2006/main">
            <a:off x="804672" y="3602736"/>
            <a:ext cx="4897984" cy="384048"/>
          </a:xfrm>
          <a:prstGeom xmlns:a="http://schemas.openxmlformats.org/drawingml/2006/main" prst="rect">
            <a:avLst/>
          </a:prstGeom>
          <a:solidFill xmlns:a="http://schemas.openxmlformats.org/drawingml/2006/main">
            <a:srgbClr val="E7EDF3"/>
          </a:solidFill>
        </p:spPr>
      </p:sp>
      <p:sp>
        <p:nvSpPr>
          <p:cNvPr id="15" name="Text 13">
            <a:extLst xmlns:a="http://schemas.openxmlformats.org/drawingml/2006/main">
              <a:ext uri="{FF2B5EF4-FFF2-40B4-BE49-F238E27FC236}">
                <a16:creationId xmlns:a16="http://schemas.microsoft.com/office/drawing/2014/main" id="{908A99FC-08A1-438F-BDF8-A9A299746006}"/>
              </a:ext>
            </a:extLst>
          </p:cNvPr>
          <p:cNvSpPr>
            <a:spLocks xmlns:a="http://schemas.openxmlformats.org/drawingml/2006/main" noGrp="1"/>
          </p:cNvSpPr>
          <p:nvPr/>
        </p:nvSpPr>
        <p:spPr>
          <a:xfrm xmlns:a="http://schemas.openxmlformats.org/drawingml/2006/main">
            <a:off x="914400" y="37033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Third market</a:t>
            </a:r>
            <a:endParaRPr sz="860"/>
          </a:p>
        </p:txBody>
      </p:sp>
      <p:sp>
        <p:nvSpPr>
          <p:cNvPr id="16" name="Text 14">
            <a:extLst xmlns:a="http://schemas.openxmlformats.org/drawingml/2006/main">
              <a:ext uri="{FF2B5EF4-FFF2-40B4-BE49-F238E27FC236}">
                <a16:creationId xmlns:a16="http://schemas.microsoft.com/office/drawing/2014/main" id="{DCA1CE29-2EEC-4D8F-A58C-66F3A8525452}"/>
              </a:ext>
            </a:extLst>
          </p:cNvPr>
          <p:cNvSpPr>
            <a:spLocks xmlns:a="http://schemas.openxmlformats.org/drawingml/2006/main" noGrp="1"/>
          </p:cNvSpPr>
          <p:nvPr/>
        </p:nvSpPr>
        <p:spPr>
          <a:xfrm xmlns:a="http://schemas.openxmlformats.org/drawingml/2006/main">
            <a:off x="3108960" y="37033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Consumer: dedicated app, dedicated DB</a:t>
            </a:r>
            <a:endParaRPr sz="880"/>
          </a:p>
        </p:txBody>
      </p:sp>
      <p:sp>
        <p:nvSpPr>
          <p:cNvPr id="17" name="Shape 15">
            <a:extLst xmlns:a="http://schemas.openxmlformats.org/drawingml/2006/main">
              <a:ext uri="{FF2B5EF4-FFF2-40B4-BE49-F238E27FC236}">
                <a16:creationId xmlns:a16="http://schemas.microsoft.com/office/drawing/2014/main" id="{1624AE49-AB7E-4754-B906-9DCE1BE931AA}"/>
              </a:ext>
            </a:extLst>
          </p:cNvPr>
          <p:cNvSpPr>
            <a:spLocks xmlns:a="http://schemas.openxmlformats.org/drawingml/2006/main" noGrp="1"/>
          </p:cNvSpPr>
          <p:nvPr/>
        </p:nvSpPr>
        <p:spPr>
          <a:xfrm xmlns:a="http://schemas.openxmlformats.org/drawingml/2006/main">
            <a:off x="804672" y="4059936"/>
            <a:ext cx="4897984" cy="384048"/>
          </a:xfrm>
          <a:prstGeom xmlns:a="http://schemas.openxmlformats.org/drawingml/2006/main" prst="rect">
            <a:avLst/>
          </a:prstGeom>
          <a:solidFill xmlns:a="http://schemas.openxmlformats.org/drawingml/2006/main">
            <a:srgbClr val="E7EDF3"/>
          </a:solidFill>
        </p:spPr>
      </p:sp>
      <p:sp>
        <p:nvSpPr>
          <p:cNvPr id="18" name="Text 16">
            <a:extLst xmlns:a="http://schemas.openxmlformats.org/drawingml/2006/main">
              <a:ext uri="{FF2B5EF4-FFF2-40B4-BE49-F238E27FC236}">
                <a16:creationId xmlns:a16="http://schemas.microsoft.com/office/drawing/2014/main" id="{38C65BCF-8C19-43F9-B38E-86F1EF6A4F31}"/>
              </a:ext>
            </a:extLst>
          </p:cNvPr>
          <p:cNvSpPr>
            <a:spLocks xmlns:a="http://schemas.openxmlformats.org/drawingml/2006/main" noGrp="1"/>
          </p:cNvSpPr>
          <p:nvPr/>
        </p:nvSpPr>
        <p:spPr>
          <a:xfrm xmlns:a="http://schemas.openxmlformats.org/drawingml/2006/main">
            <a:off x="914400" y="41605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Third market</a:t>
            </a:r>
            <a:endParaRPr sz="860"/>
          </a:p>
        </p:txBody>
      </p:sp>
      <p:sp>
        <p:nvSpPr>
          <p:cNvPr id="19" name="Text 17">
            <a:extLst xmlns:a="http://schemas.openxmlformats.org/drawingml/2006/main">
              <a:ext uri="{FF2B5EF4-FFF2-40B4-BE49-F238E27FC236}">
                <a16:creationId xmlns:a16="http://schemas.microsoft.com/office/drawing/2014/main" id="{BA799A38-100E-4285-A868-9137F7EE9BF0}"/>
              </a:ext>
            </a:extLst>
          </p:cNvPr>
          <p:cNvSpPr>
            <a:spLocks xmlns:a="http://schemas.openxmlformats.org/drawingml/2006/main" noGrp="1"/>
          </p:cNvSpPr>
          <p:nvPr/>
        </p:nvSpPr>
        <p:spPr>
          <a:xfrm xmlns:a="http://schemas.openxmlformats.org/drawingml/2006/main">
            <a:off x="3108960" y="41605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Wholesale: dedicated app, dedicated DB</a:t>
            </a:r>
            <a:endParaRPr sz="880"/>
          </a:p>
        </p:txBody>
      </p:sp>
      <p:sp>
        <p:nvSpPr>
          <p:cNvPr id="20" name="Text 18">
            <a:extLst xmlns:a="http://schemas.openxmlformats.org/drawingml/2006/main">
              <a:ext uri="{FF2B5EF4-FFF2-40B4-BE49-F238E27FC236}">
                <a16:creationId xmlns:a16="http://schemas.microsoft.com/office/drawing/2014/main" id="{81CE69D7-A955-45FA-9F9C-B21ADB266B83}"/>
              </a:ext>
            </a:extLst>
          </p:cNvPr>
          <p:cNvSpPr>
            <a:spLocks xmlns:a="http://schemas.openxmlformats.org/drawingml/2006/main" noGrp="1"/>
          </p:cNvSpPr>
          <p:nvPr/>
        </p:nvSpPr>
        <p:spPr>
          <a:xfrm xmlns:a="http://schemas.openxmlformats.org/drawingml/2006/main">
            <a:off x="804672" y="4480560"/>
            <a:ext cx="731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buNone/>
            </a:pPr>
            <a:r>
              <a:rPr sz="2000" b="1">
                <a:solidFill>
                  <a:srgbClr val="486581"/>
                </a:solidFill>
                <a:latin typeface="Arial"/>
                <a:ea typeface="Arial"/>
                <a:cs typeface="Arial"/>
              </a:rPr>
              <a:t>4</a:t>
            </a:r>
            <a:endParaRPr sz="2000"/>
          </a:p>
        </p:txBody>
      </p:sp>
      <p:sp>
        <p:nvSpPr>
          <p:cNvPr id="21" name="Text 19">
            <a:extLst xmlns:a="http://schemas.openxmlformats.org/drawingml/2006/main">
              <a:ext uri="{FF2B5EF4-FFF2-40B4-BE49-F238E27FC236}">
                <a16:creationId xmlns:a16="http://schemas.microsoft.com/office/drawing/2014/main" id="{994F97B8-903E-4B37-8FCD-1112BB4BB86E}"/>
              </a:ext>
            </a:extLst>
          </p:cNvPr>
          <p:cNvSpPr>
            <a:spLocks xmlns:a="http://schemas.openxmlformats.org/drawingml/2006/main" noGrp="1"/>
          </p:cNvSpPr>
          <p:nvPr/>
        </p:nvSpPr>
        <p:spPr>
          <a:xfrm xmlns:a="http://schemas.openxmlformats.org/drawingml/2006/main">
            <a:off x="1389888" y="4572000"/>
            <a:ext cx="1371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a:solidFill>
                  <a:srgbClr val="486581"/>
                </a:solidFill>
                <a:latin typeface="Arial"/>
                <a:ea typeface="Arial"/>
                <a:cs typeface="Arial"/>
              </a:rPr>
              <a:t>app instances</a:t>
            </a:r>
            <a:endParaRPr sz="900"/>
          </a:p>
        </p:txBody>
      </p:sp>
      <p:sp>
        <p:nvSpPr>
          <p:cNvPr id="22" name="Text 20">
            <a:extLst xmlns:a="http://schemas.openxmlformats.org/drawingml/2006/main">
              <a:ext uri="{FF2B5EF4-FFF2-40B4-BE49-F238E27FC236}">
                <a16:creationId xmlns:a16="http://schemas.microsoft.com/office/drawing/2014/main" id="{A144B99B-2B21-42F1-B343-2D27E3464850}"/>
              </a:ext>
            </a:extLst>
          </p:cNvPr>
          <p:cNvSpPr>
            <a:spLocks xmlns:a="http://schemas.openxmlformats.org/drawingml/2006/main" noGrp="1"/>
          </p:cNvSpPr>
          <p:nvPr/>
        </p:nvSpPr>
        <p:spPr>
          <a:xfrm xmlns:a="http://schemas.openxmlformats.org/drawingml/2006/main">
            <a:off x="2816352" y="4480560"/>
            <a:ext cx="731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buNone/>
            </a:pPr>
            <a:r>
              <a:rPr sz="2000" b="1">
                <a:solidFill>
                  <a:srgbClr val="486581"/>
                </a:solidFill>
                <a:latin typeface="Arial"/>
                <a:ea typeface="Arial"/>
                <a:cs typeface="Arial"/>
              </a:rPr>
              <a:t>4</a:t>
            </a:r>
            <a:endParaRPr sz="2000"/>
          </a:p>
        </p:txBody>
      </p:sp>
      <p:sp>
        <p:nvSpPr>
          <p:cNvPr id="23" name="Text 21">
            <a:extLst xmlns:a="http://schemas.openxmlformats.org/drawingml/2006/main">
              <a:ext uri="{FF2B5EF4-FFF2-40B4-BE49-F238E27FC236}">
                <a16:creationId xmlns:a16="http://schemas.microsoft.com/office/drawing/2014/main" id="{8AF737E3-1BC4-46F8-BB7C-3CAC7DBF6BCA}"/>
              </a:ext>
            </a:extLst>
          </p:cNvPr>
          <p:cNvSpPr>
            <a:spLocks xmlns:a="http://schemas.openxmlformats.org/drawingml/2006/main" noGrp="1"/>
          </p:cNvSpPr>
          <p:nvPr/>
        </p:nvSpPr>
        <p:spPr>
          <a:xfrm xmlns:a="http://schemas.openxmlformats.org/drawingml/2006/main">
            <a:off x="3401568" y="4572000"/>
            <a:ext cx="1371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a:solidFill>
                  <a:srgbClr val="486581"/>
                </a:solidFill>
                <a:latin typeface="Arial"/>
                <a:ea typeface="Arial"/>
                <a:cs typeface="Arial"/>
              </a:rPr>
              <a:t>databases</a:t>
            </a:r>
            <a:endParaRPr sz="900"/>
          </a:p>
        </p:txBody>
      </p:sp>
      <p:sp>
        <p:nvSpPr>
          <p:cNvPr id="24" name="Shape 22">
            <a:extLst xmlns:a="http://schemas.openxmlformats.org/drawingml/2006/main">
              <a:ext uri="{FF2B5EF4-FFF2-40B4-BE49-F238E27FC236}">
                <a16:creationId xmlns:a16="http://schemas.microsoft.com/office/drawing/2014/main" id="{AEC56EE3-961C-4A63-836D-1AF8FEE20EEA}"/>
              </a:ext>
            </a:extLst>
          </p:cNvPr>
          <p:cNvSpPr>
            <a:spLocks xmlns:a="http://schemas.openxmlformats.org/drawingml/2006/main" noGrp="1"/>
          </p:cNvSpPr>
          <p:nvPr/>
        </p:nvSpPr>
        <p:spPr>
          <a:xfrm xmlns:a="http://schemas.openxmlformats.org/drawingml/2006/main">
            <a:off x="6251296" y="1335024"/>
            <a:ext cx="5373472" cy="3566160"/>
          </a:xfrm>
          <a:prstGeom xmlns:a="http://schemas.openxmlformats.org/drawingml/2006/main" prst="rect">
            <a:avLst/>
          </a:prstGeom>
          <a:solidFill xmlns:a="http://schemas.openxmlformats.org/drawingml/2006/main">
            <a:srgbClr val="F3E6E0"/>
          </a:solidFill>
        </p:spPr>
      </p:sp>
      <p:sp>
        <p:nvSpPr>
          <p:cNvPr id="25" name="Text 23">
            <a:extLst xmlns:a="http://schemas.openxmlformats.org/drawingml/2006/main">
              <a:ext uri="{FF2B5EF4-FFF2-40B4-BE49-F238E27FC236}">
                <a16:creationId xmlns:a16="http://schemas.microsoft.com/office/drawing/2014/main" id="{0CB43F3F-AF50-481F-9839-A07D86B7552F}"/>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OPTION 2</a:t>
            </a:r>
            <a:endParaRPr sz="840"/>
          </a:p>
        </p:txBody>
      </p:sp>
      <p:sp>
        <p:nvSpPr>
          <p:cNvPr id="26" name="Text 24">
            <a:extLst xmlns:a="http://schemas.openxmlformats.org/drawingml/2006/main">
              <a:ext uri="{FF2B5EF4-FFF2-40B4-BE49-F238E27FC236}">
                <a16:creationId xmlns:a16="http://schemas.microsoft.com/office/drawing/2014/main" id="{27F230C6-01AE-414F-BD22-164591F5D294}"/>
              </a:ext>
            </a:extLst>
          </p:cNvPr>
          <p:cNvSpPr>
            <a:spLocks xmlns:a="http://schemas.openxmlformats.org/drawingml/2006/main" noGrp="1"/>
          </p:cNvSpPr>
          <p:nvPr/>
        </p:nvSpPr>
        <p:spPr>
          <a:xfrm xmlns:a="http://schemas.openxmlformats.org/drawingml/2006/main">
            <a:off x="6489040"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Consumer consolidated</a:t>
            </a:r>
            <a:endParaRPr sz="1500"/>
          </a:p>
        </p:txBody>
      </p:sp>
      <p:sp>
        <p:nvSpPr>
          <p:cNvPr id="27" name="Text 25">
            <a:extLst xmlns:a="http://schemas.openxmlformats.org/drawingml/2006/main">
              <a:ext uri="{FF2B5EF4-FFF2-40B4-BE49-F238E27FC236}">
                <a16:creationId xmlns:a16="http://schemas.microsoft.com/office/drawing/2014/main" id="{6DAC783B-E6B4-4A5D-9B82-6522C931BD7C}"/>
              </a:ext>
            </a:extLst>
          </p:cNvPr>
          <p:cNvSpPr>
            <a:spLocks xmlns:a="http://schemas.openxmlformats.org/drawingml/2006/main" noGrp="1"/>
          </p:cNvSpPr>
          <p:nvPr/>
        </p:nvSpPr>
        <p:spPr>
          <a:xfrm xmlns:a="http://schemas.openxmlformats.org/drawingml/2006/main">
            <a:off x="6489040" y="2084832"/>
            <a:ext cx="4897984"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60">
                <a:solidFill>
                  <a:srgbClr val="486581"/>
                </a:solidFill>
                <a:latin typeface="Arial"/>
                <a:ea typeface="Arial"/>
                <a:cs typeface="Arial"/>
              </a:rPr>
              <a:t>Consumer shares one multi-tenant application across the two shareable markets, with a separate database per country. Wholesale stays single-tenant.</a:t>
            </a:r>
            <a:endParaRPr sz="960"/>
          </a:p>
        </p:txBody>
      </p:sp>
      <p:sp>
        <p:nvSpPr>
          <p:cNvPr id="28" name="Shape 26">
            <a:extLst xmlns:a="http://schemas.openxmlformats.org/drawingml/2006/main">
              <a:ext uri="{FF2B5EF4-FFF2-40B4-BE49-F238E27FC236}">
                <a16:creationId xmlns:a16="http://schemas.microsoft.com/office/drawing/2014/main" id="{DA9A6FEA-8462-46AA-89D2-98871CE63D46}"/>
              </a:ext>
            </a:extLst>
          </p:cNvPr>
          <p:cNvSpPr>
            <a:spLocks xmlns:a="http://schemas.openxmlformats.org/drawingml/2006/main" noGrp="1"/>
          </p:cNvSpPr>
          <p:nvPr/>
        </p:nvSpPr>
        <p:spPr>
          <a:xfrm xmlns:a="http://schemas.openxmlformats.org/drawingml/2006/main">
            <a:off x="6489040" y="2688336"/>
            <a:ext cx="4897984" cy="384048"/>
          </a:xfrm>
          <a:prstGeom xmlns:a="http://schemas.openxmlformats.org/drawingml/2006/main" prst="rect">
            <a:avLst/>
          </a:prstGeom>
          <a:solidFill xmlns:a="http://schemas.openxmlformats.org/drawingml/2006/main">
            <a:srgbClr val="F7EDE8"/>
          </a:solidFill>
        </p:spPr>
      </p:sp>
      <p:sp>
        <p:nvSpPr>
          <p:cNvPr id="29" name="Text 27">
            <a:extLst xmlns:a="http://schemas.openxmlformats.org/drawingml/2006/main">
              <a:ext uri="{FF2B5EF4-FFF2-40B4-BE49-F238E27FC236}">
                <a16:creationId xmlns:a16="http://schemas.microsoft.com/office/drawing/2014/main" id="{C6DA3791-8AFA-4BE6-A63C-03F124838D7D}"/>
              </a:ext>
            </a:extLst>
          </p:cNvPr>
          <p:cNvSpPr>
            <a:spLocks xmlns:a="http://schemas.openxmlformats.org/drawingml/2006/main" noGrp="1"/>
          </p:cNvSpPr>
          <p:nvPr/>
        </p:nvSpPr>
        <p:spPr>
          <a:xfrm xmlns:a="http://schemas.openxmlformats.org/drawingml/2006/main">
            <a:off x="6598768" y="27889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Home market + regional hub</a:t>
            </a:r>
            <a:endParaRPr sz="860"/>
          </a:p>
        </p:txBody>
      </p:sp>
      <p:sp>
        <p:nvSpPr>
          <p:cNvPr id="30" name="Text 28">
            <a:extLst xmlns:a="http://schemas.openxmlformats.org/drawingml/2006/main">
              <a:ext uri="{FF2B5EF4-FFF2-40B4-BE49-F238E27FC236}">
                <a16:creationId xmlns:a16="http://schemas.microsoft.com/office/drawing/2014/main" id="{F813D678-09C2-4A0E-8B88-BC110723E125}"/>
              </a:ext>
            </a:extLst>
          </p:cNvPr>
          <p:cNvSpPr>
            <a:spLocks xmlns:a="http://schemas.openxmlformats.org/drawingml/2006/main" noGrp="1"/>
          </p:cNvSpPr>
          <p:nvPr/>
        </p:nvSpPr>
        <p:spPr>
          <a:xfrm xmlns:a="http://schemas.openxmlformats.org/drawingml/2006/main">
            <a:off x="8793328" y="27889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Consumer: one app, one DB per country</a:t>
            </a:r>
            <a:endParaRPr sz="880"/>
          </a:p>
        </p:txBody>
      </p:sp>
      <p:sp>
        <p:nvSpPr>
          <p:cNvPr id="31" name="Shape 29">
            <a:extLst xmlns:a="http://schemas.openxmlformats.org/drawingml/2006/main">
              <a:ext uri="{FF2B5EF4-FFF2-40B4-BE49-F238E27FC236}">
                <a16:creationId xmlns:a16="http://schemas.microsoft.com/office/drawing/2014/main" id="{B0C30AF1-8646-4379-A047-748A12F0F17A}"/>
              </a:ext>
            </a:extLst>
          </p:cNvPr>
          <p:cNvSpPr>
            <a:spLocks xmlns:a="http://schemas.openxmlformats.org/drawingml/2006/main" noGrp="1"/>
          </p:cNvSpPr>
          <p:nvPr/>
        </p:nvSpPr>
        <p:spPr>
          <a:xfrm xmlns:a="http://schemas.openxmlformats.org/drawingml/2006/main">
            <a:off x="6489040" y="3145536"/>
            <a:ext cx="4897984" cy="384048"/>
          </a:xfrm>
          <a:prstGeom xmlns:a="http://schemas.openxmlformats.org/drawingml/2006/main" prst="rect">
            <a:avLst/>
          </a:prstGeom>
          <a:solidFill xmlns:a="http://schemas.openxmlformats.org/drawingml/2006/main">
            <a:srgbClr val="F7EDE8"/>
          </a:solidFill>
        </p:spPr>
      </p:sp>
      <p:sp>
        <p:nvSpPr>
          <p:cNvPr id="32" name="Text 30">
            <a:extLst xmlns:a="http://schemas.openxmlformats.org/drawingml/2006/main">
              <a:ext uri="{FF2B5EF4-FFF2-40B4-BE49-F238E27FC236}">
                <a16:creationId xmlns:a16="http://schemas.microsoft.com/office/drawing/2014/main" id="{7BD05325-BE4A-4CBB-B76B-EAD04F72BEE0}"/>
              </a:ext>
            </a:extLst>
          </p:cNvPr>
          <p:cNvSpPr>
            <a:spLocks xmlns:a="http://schemas.openxmlformats.org/drawingml/2006/main" noGrp="1"/>
          </p:cNvSpPr>
          <p:nvPr/>
        </p:nvSpPr>
        <p:spPr>
          <a:xfrm xmlns:a="http://schemas.openxmlformats.org/drawingml/2006/main">
            <a:off x="6598768" y="32461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Home market + regional hub</a:t>
            </a:r>
            <a:endParaRPr sz="860"/>
          </a:p>
        </p:txBody>
      </p:sp>
      <p:sp>
        <p:nvSpPr>
          <p:cNvPr id="33" name="Text 31">
            <a:extLst xmlns:a="http://schemas.openxmlformats.org/drawingml/2006/main">
              <a:ext uri="{FF2B5EF4-FFF2-40B4-BE49-F238E27FC236}">
                <a16:creationId xmlns:a16="http://schemas.microsoft.com/office/drawing/2014/main" id="{D6FFF776-A242-4121-BFFC-0796FA5BFBBA}"/>
              </a:ext>
            </a:extLst>
          </p:cNvPr>
          <p:cNvSpPr>
            <a:spLocks xmlns:a="http://schemas.openxmlformats.org/drawingml/2006/main" noGrp="1"/>
          </p:cNvSpPr>
          <p:nvPr/>
        </p:nvSpPr>
        <p:spPr>
          <a:xfrm xmlns:a="http://schemas.openxmlformats.org/drawingml/2006/main">
            <a:off x="8793328" y="32461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Wholesale: dedicated app, dedicated DB</a:t>
            </a:r>
            <a:endParaRPr sz="880"/>
          </a:p>
        </p:txBody>
      </p:sp>
      <p:sp>
        <p:nvSpPr>
          <p:cNvPr id="34" name="Shape 32">
            <a:extLst xmlns:a="http://schemas.openxmlformats.org/drawingml/2006/main">
              <a:ext uri="{FF2B5EF4-FFF2-40B4-BE49-F238E27FC236}">
                <a16:creationId xmlns:a16="http://schemas.microsoft.com/office/drawing/2014/main" id="{DDD6AA67-0EEA-4742-90DD-0D50408798D2}"/>
              </a:ext>
            </a:extLst>
          </p:cNvPr>
          <p:cNvSpPr>
            <a:spLocks xmlns:a="http://schemas.openxmlformats.org/drawingml/2006/main" noGrp="1"/>
          </p:cNvSpPr>
          <p:nvPr/>
        </p:nvSpPr>
        <p:spPr>
          <a:xfrm xmlns:a="http://schemas.openxmlformats.org/drawingml/2006/main">
            <a:off x="6489040" y="3602736"/>
            <a:ext cx="4897984" cy="384048"/>
          </a:xfrm>
          <a:prstGeom xmlns:a="http://schemas.openxmlformats.org/drawingml/2006/main" prst="rect">
            <a:avLst/>
          </a:prstGeom>
          <a:solidFill xmlns:a="http://schemas.openxmlformats.org/drawingml/2006/main">
            <a:srgbClr val="F7EDE8"/>
          </a:solidFill>
        </p:spPr>
      </p:sp>
      <p:sp>
        <p:nvSpPr>
          <p:cNvPr id="35" name="Text 33">
            <a:extLst xmlns:a="http://schemas.openxmlformats.org/drawingml/2006/main">
              <a:ext uri="{FF2B5EF4-FFF2-40B4-BE49-F238E27FC236}">
                <a16:creationId xmlns:a16="http://schemas.microsoft.com/office/drawing/2014/main" id="{50B00AB3-D1FC-49C4-8B58-EDC324EBA80D}"/>
              </a:ext>
            </a:extLst>
          </p:cNvPr>
          <p:cNvSpPr>
            <a:spLocks xmlns:a="http://schemas.openxmlformats.org/drawingml/2006/main" noGrp="1"/>
          </p:cNvSpPr>
          <p:nvPr/>
        </p:nvSpPr>
        <p:spPr>
          <a:xfrm xmlns:a="http://schemas.openxmlformats.org/drawingml/2006/main">
            <a:off x="6598768" y="37033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Third market</a:t>
            </a:r>
            <a:endParaRPr sz="860"/>
          </a:p>
        </p:txBody>
      </p:sp>
      <p:sp>
        <p:nvSpPr>
          <p:cNvPr id="36" name="Text 34">
            <a:extLst xmlns:a="http://schemas.openxmlformats.org/drawingml/2006/main">
              <a:ext uri="{FF2B5EF4-FFF2-40B4-BE49-F238E27FC236}">
                <a16:creationId xmlns:a16="http://schemas.microsoft.com/office/drawing/2014/main" id="{8EE241E2-1CB4-4887-A667-454EDA2E3FE4}"/>
              </a:ext>
            </a:extLst>
          </p:cNvPr>
          <p:cNvSpPr>
            <a:spLocks xmlns:a="http://schemas.openxmlformats.org/drawingml/2006/main" noGrp="1"/>
          </p:cNvSpPr>
          <p:nvPr/>
        </p:nvSpPr>
        <p:spPr>
          <a:xfrm xmlns:a="http://schemas.openxmlformats.org/drawingml/2006/main">
            <a:off x="8793328" y="37033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Consumer + wholesale: one app, DB per tenant</a:t>
            </a:r>
            <a:endParaRPr sz="880"/>
          </a:p>
        </p:txBody>
      </p:sp>
      <p:sp>
        <p:nvSpPr>
          <p:cNvPr id="37" name="Shape 35">
            <a:extLst xmlns:a="http://schemas.openxmlformats.org/drawingml/2006/main">
              <a:ext uri="{FF2B5EF4-FFF2-40B4-BE49-F238E27FC236}">
                <a16:creationId xmlns:a16="http://schemas.microsoft.com/office/drawing/2014/main" id="{F212B5F6-D23A-4A36-BD04-DA998B370B54}"/>
              </a:ext>
            </a:extLst>
          </p:cNvPr>
          <p:cNvSpPr>
            <a:spLocks xmlns:a="http://schemas.openxmlformats.org/drawingml/2006/main" noGrp="1"/>
          </p:cNvSpPr>
          <p:nvPr/>
        </p:nvSpPr>
        <p:spPr>
          <a:xfrm xmlns:a="http://schemas.openxmlformats.org/drawingml/2006/main">
            <a:off x="6489040" y="4059936"/>
            <a:ext cx="4897984" cy="384048"/>
          </a:xfrm>
          <a:prstGeom xmlns:a="http://schemas.openxmlformats.org/drawingml/2006/main" prst="rect">
            <a:avLst/>
          </a:prstGeom>
          <a:solidFill xmlns:a="http://schemas.openxmlformats.org/drawingml/2006/main">
            <a:srgbClr val="F7EDE8"/>
          </a:solidFill>
        </p:spPr>
      </p:sp>
      <p:sp>
        <p:nvSpPr>
          <p:cNvPr id="38" name="Text 36">
            <a:extLst xmlns:a="http://schemas.openxmlformats.org/drawingml/2006/main">
              <a:ext uri="{FF2B5EF4-FFF2-40B4-BE49-F238E27FC236}">
                <a16:creationId xmlns:a16="http://schemas.microsoft.com/office/drawing/2014/main" id="{8D9F2236-CC06-4624-AA47-88974FFF6746}"/>
              </a:ext>
            </a:extLst>
          </p:cNvPr>
          <p:cNvSpPr>
            <a:spLocks xmlns:a="http://schemas.openxmlformats.org/drawingml/2006/main" noGrp="1"/>
          </p:cNvSpPr>
          <p:nvPr/>
        </p:nvSpPr>
        <p:spPr>
          <a:xfrm xmlns:a="http://schemas.openxmlformats.org/drawingml/2006/main">
            <a:off x="6598768" y="4160520"/>
            <a:ext cx="2103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60" b="1">
                <a:solidFill>
                  <a:srgbClr val="486581"/>
                </a:solidFill>
                <a:latin typeface="Arial"/>
                <a:ea typeface="Arial"/>
                <a:cs typeface="Arial"/>
              </a:rPr>
              <a:t>Third market</a:t>
            </a:r>
            <a:endParaRPr sz="860"/>
          </a:p>
        </p:txBody>
      </p:sp>
      <p:sp>
        <p:nvSpPr>
          <p:cNvPr id="39" name="Text 37">
            <a:extLst xmlns:a="http://schemas.openxmlformats.org/drawingml/2006/main">
              <a:ext uri="{FF2B5EF4-FFF2-40B4-BE49-F238E27FC236}">
                <a16:creationId xmlns:a16="http://schemas.microsoft.com/office/drawing/2014/main" id="{D4BC298D-807E-4F9B-A097-08DE240ADA36}"/>
              </a:ext>
            </a:extLst>
          </p:cNvPr>
          <p:cNvSpPr>
            <a:spLocks xmlns:a="http://schemas.openxmlformats.org/drawingml/2006/main" noGrp="1"/>
          </p:cNvSpPr>
          <p:nvPr/>
        </p:nvSpPr>
        <p:spPr>
          <a:xfrm xmlns:a="http://schemas.openxmlformats.org/drawingml/2006/main">
            <a:off x="8793328" y="4160520"/>
            <a:ext cx="259369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a:solidFill>
                  <a:srgbClr val="102A43"/>
                </a:solidFill>
                <a:latin typeface="Arial"/>
                <a:ea typeface="Arial"/>
                <a:cs typeface="Arial"/>
              </a:rPr>
              <a:t>Fully isolated from other markets</a:t>
            </a:r>
            <a:endParaRPr sz="880"/>
          </a:p>
        </p:txBody>
      </p:sp>
      <p:sp>
        <p:nvSpPr>
          <p:cNvPr id="40" name="Text 38">
            <a:extLst xmlns:a="http://schemas.openxmlformats.org/drawingml/2006/main">
              <a:ext uri="{FF2B5EF4-FFF2-40B4-BE49-F238E27FC236}">
                <a16:creationId xmlns:a16="http://schemas.microsoft.com/office/drawing/2014/main" id="{00E2E761-5BFF-440C-A4F3-6D5B5747D9D8}"/>
              </a:ext>
            </a:extLst>
          </p:cNvPr>
          <p:cNvSpPr>
            <a:spLocks xmlns:a="http://schemas.openxmlformats.org/drawingml/2006/main" noGrp="1"/>
          </p:cNvSpPr>
          <p:nvPr/>
        </p:nvSpPr>
        <p:spPr>
          <a:xfrm xmlns:a="http://schemas.openxmlformats.org/drawingml/2006/main">
            <a:off x="6489040" y="4480560"/>
            <a:ext cx="731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buNone/>
            </a:pPr>
            <a:r>
              <a:rPr sz="2000" b="1">
                <a:solidFill>
                  <a:srgbClr val="B04A25"/>
                </a:solidFill>
                <a:latin typeface="Arial"/>
                <a:ea typeface="Arial"/>
                <a:cs typeface="Arial"/>
              </a:rPr>
              <a:t>3</a:t>
            </a:r>
            <a:endParaRPr sz="2000"/>
          </a:p>
        </p:txBody>
      </p:sp>
      <p:sp>
        <p:nvSpPr>
          <p:cNvPr id="41" name="Text 39">
            <a:extLst xmlns:a="http://schemas.openxmlformats.org/drawingml/2006/main">
              <a:ext uri="{FF2B5EF4-FFF2-40B4-BE49-F238E27FC236}">
                <a16:creationId xmlns:a16="http://schemas.microsoft.com/office/drawing/2014/main" id="{5BB8022B-438C-4DE3-B216-27D37200DEFA}"/>
              </a:ext>
            </a:extLst>
          </p:cNvPr>
          <p:cNvSpPr>
            <a:spLocks xmlns:a="http://schemas.openxmlformats.org/drawingml/2006/main" noGrp="1"/>
          </p:cNvSpPr>
          <p:nvPr/>
        </p:nvSpPr>
        <p:spPr>
          <a:xfrm xmlns:a="http://schemas.openxmlformats.org/drawingml/2006/main">
            <a:off x="7074256" y="4572000"/>
            <a:ext cx="1371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a:solidFill>
                  <a:srgbClr val="486581"/>
                </a:solidFill>
                <a:latin typeface="Arial"/>
                <a:ea typeface="Arial"/>
                <a:cs typeface="Arial"/>
              </a:rPr>
              <a:t>app instances</a:t>
            </a:r>
            <a:endParaRPr sz="900"/>
          </a:p>
        </p:txBody>
      </p:sp>
      <p:sp>
        <p:nvSpPr>
          <p:cNvPr id="42" name="Text 40">
            <a:extLst xmlns:a="http://schemas.openxmlformats.org/drawingml/2006/main">
              <a:ext uri="{FF2B5EF4-FFF2-40B4-BE49-F238E27FC236}">
                <a16:creationId xmlns:a16="http://schemas.microsoft.com/office/drawing/2014/main" id="{578E72DA-DDBC-4736-AE9C-9237AC640864}"/>
              </a:ext>
            </a:extLst>
          </p:cNvPr>
          <p:cNvSpPr>
            <a:spLocks xmlns:a="http://schemas.openxmlformats.org/drawingml/2006/main" noGrp="1"/>
          </p:cNvSpPr>
          <p:nvPr/>
        </p:nvSpPr>
        <p:spPr>
          <a:xfrm xmlns:a="http://schemas.openxmlformats.org/drawingml/2006/main">
            <a:off x="8500720" y="4480560"/>
            <a:ext cx="731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500"/>
              </a:lnSpc>
              <a:buNone/>
            </a:pPr>
            <a:r>
              <a:rPr sz="2000" b="1">
                <a:solidFill>
                  <a:srgbClr val="B04A25"/>
                </a:solidFill>
                <a:latin typeface="Arial"/>
                <a:ea typeface="Arial"/>
                <a:cs typeface="Arial"/>
              </a:rPr>
              <a:t>5</a:t>
            </a:r>
            <a:endParaRPr sz="2000"/>
          </a:p>
        </p:txBody>
      </p:sp>
      <p:sp>
        <p:nvSpPr>
          <p:cNvPr id="43" name="Text 41">
            <a:extLst xmlns:a="http://schemas.openxmlformats.org/drawingml/2006/main">
              <a:ext uri="{FF2B5EF4-FFF2-40B4-BE49-F238E27FC236}">
                <a16:creationId xmlns:a16="http://schemas.microsoft.com/office/drawing/2014/main" id="{9FBA078B-F0D1-44E6-9984-D153DF8F80FD}"/>
              </a:ext>
            </a:extLst>
          </p:cNvPr>
          <p:cNvSpPr>
            <a:spLocks xmlns:a="http://schemas.openxmlformats.org/drawingml/2006/main" noGrp="1"/>
          </p:cNvSpPr>
          <p:nvPr/>
        </p:nvSpPr>
        <p:spPr>
          <a:xfrm xmlns:a="http://schemas.openxmlformats.org/drawingml/2006/main">
            <a:off x="9085936" y="4572000"/>
            <a:ext cx="13716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00">
                <a:solidFill>
                  <a:srgbClr val="486581"/>
                </a:solidFill>
                <a:latin typeface="Arial"/>
                <a:ea typeface="Arial"/>
                <a:cs typeface="Arial"/>
              </a:rPr>
              <a:t>databases</a:t>
            </a:r>
            <a:endParaRPr sz="900"/>
          </a:p>
        </p:txBody>
      </p:sp>
      <p:sp>
        <p:nvSpPr>
          <p:cNvPr id="44" name="Shape 42">
            <a:extLst xmlns:a="http://schemas.openxmlformats.org/drawingml/2006/main">
              <a:ext uri="{FF2B5EF4-FFF2-40B4-BE49-F238E27FC236}">
                <a16:creationId xmlns:a16="http://schemas.microsoft.com/office/drawing/2014/main" id="{7F2C4BC0-09C2-4CCC-B802-541646142BE2}"/>
              </a:ext>
            </a:extLst>
          </p:cNvPr>
          <p:cNvSpPr>
            <a:spLocks xmlns:a="http://schemas.openxmlformats.org/drawingml/2006/main" noGrp="1"/>
          </p:cNvSpPr>
          <p:nvPr/>
        </p:nvSpPr>
        <p:spPr>
          <a:xfrm xmlns:a="http://schemas.openxmlformats.org/drawingml/2006/main">
            <a:off x="566928" y="5138928"/>
            <a:ext cx="11057839" cy="932688"/>
          </a:xfrm>
          <a:prstGeom xmlns:a="http://schemas.openxmlformats.org/drawingml/2006/main" prst="rect">
            <a:avLst/>
          </a:prstGeom>
          <a:solidFill xmlns:a="http://schemas.openxmlformats.org/drawingml/2006/main">
            <a:srgbClr val="F3E6E0"/>
          </a:solidFill>
        </p:spPr>
      </p:sp>
      <p:sp>
        <p:nvSpPr>
          <p:cNvPr id="45" name="Text 43">
            <a:extLst xmlns:a="http://schemas.openxmlformats.org/drawingml/2006/main">
              <a:ext uri="{FF2B5EF4-FFF2-40B4-BE49-F238E27FC236}">
                <a16:creationId xmlns:a16="http://schemas.microsoft.com/office/drawing/2014/main" id="{3188257C-B368-4BA6-A609-F7B4F72D499A}"/>
              </a:ext>
            </a:extLst>
          </p:cNvPr>
          <p:cNvSpPr>
            <a:spLocks xmlns:a="http://schemas.openxmlformats.org/drawingml/2006/main" noGrp="1"/>
          </p:cNvSpPr>
          <p:nvPr/>
        </p:nvSpPr>
        <p:spPr>
          <a:xfrm xmlns:a="http://schemas.openxmlformats.org/drawingml/2006/main">
            <a:off x="804672" y="528523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only difference that matters</a:t>
            </a:r>
            <a:endParaRPr sz="1100"/>
          </a:p>
        </p:txBody>
      </p:sp>
      <p:sp>
        <p:nvSpPr>
          <p:cNvPr id="46" name="Text 44">
            <a:extLst xmlns:a="http://schemas.openxmlformats.org/drawingml/2006/main">
              <a:ext uri="{FF2B5EF4-FFF2-40B4-BE49-F238E27FC236}">
                <a16:creationId xmlns:a16="http://schemas.microsoft.com/office/drawing/2014/main" id="{AC24CA21-8BB1-48C5-800F-3BA875C5A18C}"/>
              </a:ext>
            </a:extLst>
          </p:cNvPr>
          <p:cNvSpPr>
            <a:spLocks xmlns:a="http://schemas.openxmlformats.org/drawingml/2006/main" noGrp="1"/>
          </p:cNvSpPr>
          <p:nvPr/>
        </p:nvSpPr>
        <p:spPr>
          <a:xfrm xmlns:a="http://schemas.openxmlformats.org/drawingml/2006/main">
            <a:off x="804672" y="5541264"/>
            <a:ext cx="1058235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Wholesale is single-tenant in both options and its protection is identical. The third market is fully isolated in both. The entire decision is whether the consumer vertical in the two shareable markets runs as one multi-tenant application with per-country databases, or as two separate stacks — one fewer application instance, one more database, and a row-level tenancy model doing work that a separate instance would otherwise do.</a:t>
            </a:r>
            <a:endParaRPr sz="990"/>
          </a:p>
        </p:txBody>
      </p:sp>
      <p:sp>
        <p:nvSpPr>
          <p:cNvPr id="47" name="Shape 45">
            <a:extLst xmlns:a="http://schemas.openxmlformats.org/drawingml/2006/main">
              <a:ext uri="{FF2B5EF4-FFF2-40B4-BE49-F238E27FC236}">
                <a16:creationId xmlns:a16="http://schemas.microsoft.com/office/drawing/2014/main" id="{CFC375F5-6A64-405B-AF61-DFD21712BF3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8" name="Text 46">
            <a:extLst xmlns:a="http://schemas.openxmlformats.org/drawingml/2006/main">
              <a:ext uri="{FF2B5EF4-FFF2-40B4-BE49-F238E27FC236}">
                <a16:creationId xmlns:a16="http://schemas.microsoft.com/office/drawing/2014/main" id="{EB035221-B851-4889-9781-2204FECFEE5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deployment analysis, prepared for executive decision</a:t>
            </a:r>
            <a:endParaRPr sz="850"/>
          </a:p>
        </p:txBody>
      </p:sp>
      <p:sp>
        <p:nvSpPr>
          <p:cNvPr id="49" name="Text 47">
            <a:extLst xmlns:a="http://schemas.openxmlformats.org/drawingml/2006/main">
              <a:ext uri="{FF2B5EF4-FFF2-40B4-BE49-F238E27FC236}">
                <a16:creationId xmlns:a16="http://schemas.microsoft.com/office/drawing/2014/main" id="{512F81B3-A5B0-448B-B702-2A900F32476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206882675"/>
      </p:ext>
    </p:extLst>
  </p:cSld>
</p:sld>
</file>

<file path=ppt/slides/slide22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76DBEF1-6AC2-4210-AB15-1206DFD3991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EVALUATION</a:t>
            </a:r>
            <a:endParaRPr sz="950"/>
          </a:p>
        </p:txBody>
      </p:sp>
      <p:sp>
        <p:nvSpPr>
          <p:cNvPr id="3" name="Text 1">
            <a:extLst xmlns:a="http://schemas.openxmlformats.org/drawingml/2006/main">
              <a:ext uri="{FF2B5EF4-FFF2-40B4-BE49-F238E27FC236}">
                <a16:creationId xmlns:a16="http://schemas.microsoft.com/office/drawing/2014/main" id="{A159D2E9-AC3C-4A58-807F-579F52A505C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Seven criteria, scored one to five — Option 2 leads on four, both are equal on the</a:t>
            </a:r>
            <a:endParaRPr sz="1900"/>
          </a:p>
          <a:p xmlns:a="http://schemas.openxmlformats.org/drawingml/2006/main">
            <a:pPr marL="0" indent="0">
              <a:lnSpc>
                <a:spcPts val="2400"/>
              </a:lnSpc>
              <a:buNone/>
            </a:pPr>
            <a:r>
              <a:rPr sz="1900" b="1">
                <a:solidFill>
                  <a:srgbClr val="102A43"/>
                </a:solidFill>
                <a:latin typeface="Arial"/>
                <a:ea typeface="Arial"/>
                <a:cs typeface="Arial"/>
              </a:rPr>
              <a:t>wholesale dimension, and Option 1 leads only on regulatory simplicity</a:t>
            </a:r>
            <a:endParaRPr sz="1900"/>
          </a:p>
        </p:txBody>
      </p:sp>
      <p:graphicFrame>
        <p:nvGraphicFramePr>
          <p:cNvPr id="24" name="Chart 0"/>
          <p:cNvGraphicFramePr/>
          <p:nvPr/>
        </p:nvGraphicFramePr>
        <p:xfrm>
          <a:off xmlns:a="http://schemas.openxmlformats.org/drawingml/2006/main" x="566928" y="1426464"/>
          <a:ext xmlns:a="http://schemas.openxmlformats.org/drawingml/2006/main" cx="6675120" cy="3200400"/>
        </p:xfrm>
        <a:graphic xmlns:a="http://schemas.openxmlformats.org/drawingml/2006/main">
          <a:graphicData uri="http://schemas.openxmlformats.org/drawingml/2006/chart">
            <c:chart xmlns:r="http://schemas.openxmlformats.org/officeDocument/2006/relationships" xmlns:c="http://schemas.openxmlformats.org/drawingml/2006/chart" r:id="R2f841ddec12f4bbf"/>
          </a:graphicData>
        </a:graphic>
      </p:graphicFrame>
      <p:sp>
        <p:nvSpPr>
          <p:cNvPr id="5" name="Text 2">
            <a:extLst xmlns:a="http://schemas.openxmlformats.org/drawingml/2006/main">
              <a:ext uri="{FF2B5EF4-FFF2-40B4-BE49-F238E27FC236}">
                <a16:creationId xmlns:a16="http://schemas.microsoft.com/office/drawing/2014/main" id="{BB2C4220-1146-45F2-8E38-77C47B9469FD}"/>
              </a:ext>
            </a:extLst>
          </p:cNvPr>
          <p:cNvSpPr>
            <a:spLocks xmlns:a="http://schemas.openxmlformats.org/drawingml/2006/main" noGrp="1"/>
          </p:cNvSpPr>
          <p:nvPr/>
        </p:nvSpPr>
        <p:spPr>
          <a:xfrm xmlns:a="http://schemas.openxmlformats.org/drawingml/2006/main">
            <a:off x="566928" y="4700016"/>
            <a:ext cx="66751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Scored one to five against criteria and weights agreed with the programme</a:t>
            </a:r>
            <a:endParaRPr sz="880"/>
          </a:p>
        </p:txBody>
      </p:sp>
      <p:sp>
        <p:nvSpPr>
          <p:cNvPr id="6" name="Shape 3">
            <a:extLst xmlns:a="http://schemas.openxmlformats.org/drawingml/2006/main">
              <a:ext uri="{FF2B5EF4-FFF2-40B4-BE49-F238E27FC236}">
                <a16:creationId xmlns:a16="http://schemas.microsoft.com/office/drawing/2014/main" id="{38286801-A2EF-4D4D-8DE2-8C0A61C330F2}"/>
              </a:ext>
            </a:extLst>
          </p:cNvPr>
          <p:cNvSpPr>
            <a:spLocks xmlns:a="http://schemas.openxmlformats.org/drawingml/2006/main" noGrp="1"/>
          </p:cNvSpPr>
          <p:nvPr/>
        </p:nvSpPr>
        <p:spPr>
          <a:xfrm xmlns:a="http://schemas.openxmlformats.org/drawingml/2006/main">
            <a:off x="7607808" y="1426464"/>
            <a:ext cx="1956816" cy="914400"/>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61618F3A-62AF-4B46-9E5A-5AF5D368C480}"/>
              </a:ext>
            </a:extLst>
          </p:cNvPr>
          <p:cNvSpPr>
            <a:spLocks xmlns:a="http://schemas.openxmlformats.org/drawingml/2006/main" noGrp="1"/>
          </p:cNvSpPr>
          <p:nvPr/>
        </p:nvSpPr>
        <p:spPr>
          <a:xfrm xmlns:a="http://schemas.openxmlformats.org/drawingml/2006/main">
            <a:off x="7735824" y="1545336"/>
            <a:ext cx="1700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486581"/>
                </a:solidFill>
                <a:latin typeface="Arial"/>
                <a:ea typeface="Arial"/>
                <a:cs typeface="Arial"/>
              </a:rPr>
              <a:t>26</a:t>
            </a:r>
            <a:endParaRPr sz="2600"/>
          </a:p>
        </p:txBody>
      </p:sp>
      <p:sp>
        <p:nvSpPr>
          <p:cNvPr id="8" name="Text 5">
            <a:extLst xmlns:a="http://schemas.openxmlformats.org/drawingml/2006/main">
              <a:ext uri="{FF2B5EF4-FFF2-40B4-BE49-F238E27FC236}">
                <a16:creationId xmlns:a16="http://schemas.microsoft.com/office/drawing/2014/main" id="{C76F1E2B-73A7-454F-A8E8-71F264402906}"/>
              </a:ext>
            </a:extLst>
          </p:cNvPr>
          <p:cNvSpPr>
            <a:spLocks xmlns:a="http://schemas.openxmlformats.org/drawingml/2006/main" noGrp="1"/>
          </p:cNvSpPr>
          <p:nvPr/>
        </p:nvSpPr>
        <p:spPr>
          <a:xfrm xmlns:a="http://schemas.openxmlformats.org/drawingml/2006/main">
            <a:off x="7735824" y="1938528"/>
            <a:ext cx="170078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Option 1</a:t>
            </a:r>
            <a:endParaRPr sz="860"/>
          </a:p>
          <a:p xmlns:a="http://schemas.openxmlformats.org/drawingml/2006/main">
            <a:pPr marL="0" indent="0">
              <a:lnSpc>
                <a:spcPts val="1050"/>
              </a:lnSpc>
              <a:buNone/>
            </a:pPr>
            <a:r>
              <a:rPr sz="860">
                <a:solidFill>
                  <a:srgbClr val="486581"/>
                </a:solidFill>
                <a:latin typeface="Arial"/>
                <a:ea typeface="Arial"/>
                <a:cs typeface="Arial"/>
              </a:rPr>
              <a:t>composite, max 35</a:t>
            </a:r>
            <a:endParaRPr sz="860"/>
          </a:p>
        </p:txBody>
      </p:sp>
      <p:sp>
        <p:nvSpPr>
          <p:cNvPr id="9" name="Shape 6">
            <a:extLst xmlns:a="http://schemas.openxmlformats.org/drawingml/2006/main">
              <a:ext uri="{FF2B5EF4-FFF2-40B4-BE49-F238E27FC236}">
                <a16:creationId xmlns:a16="http://schemas.microsoft.com/office/drawing/2014/main" id="{7D6F052F-9915-40C8-87B0-95DFFDA426ED}"/>
              </a:ext>
            </a:extLst>
          </p:cNvPr>
          <p:cNvSpPr>
            <a:spLocks xmlns:a="http://schemas.openxmlformats.org/drawingml/2006/main" noGrp="1"/>
          </p:cNvSpPr>
          <p:nvPr/>
        </p:nvSpPr>
        <p:spPr>
          <a:xfrm xmlns:a="http://schemas.openxmlformats.org/drawingml/2006/main">
            <a:off x="9665208" y="1426464"/>
            <a:ext cx="1956816" cy="914400"/>
          </a:xfrm>
          <a:prstGeom xmlns:a="http://schemas.openxmlformats.org/drawingml/2006/main" prst="rect">
            <a:avLst/>
          </a:prstGeom>
          <a:solidFill xmlns:a="http://schemas.openxmlformats.org/drawingml/2006/main">
            <a:srgbClr val="F3E6E0"/>
          </a:solidFill>
        </p:spPr>
      </p:sp>
      <p:sp>
        <p:nvSpPr>
          <p:cNvPr id="10" name="Text 7">
            <a:extLst xmlns:a="http://schemas.openxmlformats.org/drawingml/2006/main">
              <a:ext uri="{FF2B5EF4-FFF2-40B4-BE49-F238E27FC236}">
                <a16:creationId xmlns:a16="http://schemas.microsoft.com/office/drawing/2014/main" id="{0DAB2410-2C4B-473A-9483-BEFA8DBA248D}"/>
              </a:ext>
            </a:extLst>
          </p:cNvPr>
          <p:cNvSpPr>
            <a:spLocks xmlns:a="http://schemas.openxmlformats.org/drawingml/2006/main" noGrp="1"/>
          </p:cNvSpPr>
          <p:nvPr/>
        </p:nvSpPr>
        <p:spPr>
          <a:xfrm xmlns:a="http://schemas.openxmlformats.org/drawingml/2006/main">
            <a:off x="9793224" y="1545336"/>
            <a:ext cx="1700784"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600" b="1">
                <a:solidFill>
                  <a:srgbClr val="B04A25"/>
                </a:solidFill>
                <a:latin typeface="Arial"/>
                <a:ea typeface="Arial"/>
                <a:cs typeface="Arial"/>
              </a:rPr>
              <a:t>33</a:t>
            </a:r>
            <a:endParaRPr sz="2600"/>
          </a:p>
        </p:txBody>
      </p:sp>
      <p:sp>
        <p:nvSpPr>
          <p:cNvPr id="11" name="Text 8">
            <a:extLst xmlns:a="http://schemas.openxmlformats.org/drawingml/2006/main">
              <a:ext uri="{FF2B5EF4-FFF2-40B4-BE49-F238E27FC236}">
                <a16:creationId xmlns:a16="http://schemas.microsoft.com/office/drawing/2014/main" id="{BF1615E1-AB18-49A0-AD5C-6B409F22B440}"/>
              </a:ext>
            </a:extLst>
          </p:cNvPr>
          <p:cNvSpPr>
            <a:spLocks xmlns:a="http://schemas.openxmlformats.org/drawingml/2006/main" noGrp="1"/>
          </p:cNvSpPr>
          <p:nvPr/>
        </p:nvSpPr>
        <p:spPr>
          <a:xfrm xmlns:a="http://schemas.openxmlformats.org/drawingml/2006/main">
            <a:off x="9793224" y="1938528"/>
            <a:ext cx="1700784"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Option 2</a:t>
            </a:r>
            <a:endParaRPr sz="860"/>
          </a:p>
          <a:p xmlns:a="http://schemas.openxmlformats.org/drawingml/2006/main">
            <a:pPr marL="0" indent="0">
              <a:lnSpc>
                <a:spcPts val="1050"/>
              </a:lnSpc>
              <a:buNone/>
            </a:pPr>
            <a:r>
              <a:rPr sz="860">
                <a:solidFill>
                  <a:srgbClr val="486581"/>
                </a:solidFill>
                <a:latin typeface="Arial"/>
                <a:ea typeface="Arial"/>
                <a:cs typeface="Arial"/>
              </a:rPr>
              <a:t>composite, max 35</a:t>
            </a:r>
            <a:endParaRPr sz="860"/>
          </a:p>
        </p:txBody>
      </p:sp>
      <p:sp>
        <p:nvSpPr>
          <p:cNvPr id="12" name="Text 9">
            <a:extLst xmlns:a="http://schemas.openxmlformats.org/drawingml/2006/main">
              <a:ext uri="{FF2B5EF4-FFF2-40B4-BE49-F238E27FC236}">
                <a16:creationId xmlns:a16="http://schemas.microsoft.com/office/drawing/2014/main" id="{3B7F8D33-C829-45D3-A46A-8BB160B55274}"/>
              </a:ext>
            </a:extLst>
          </p:cNvPr>
          <p:cNvSpPr>
            <a:spLocks xmlns:a="http://schemas.openxmlformats.org/drawingml/2006/main" noGrp="1"/>
          </p:cNvSpPr>
          <p:nvPr/>
        </p:nvSpPr>
        <p:spPr>
          <a:xfrm xmlns:a="http://schemas.openxmlformats.org/drawingml/2006/main">
            <a:off x="7607808" y="2505456"/>
            <a:ext cx="40142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Reading the scores honestly</a:t>
            </a:r>
            <a:endParaRPr sz="1100"/>
          </a:p>
        </p:txBody>
      </p:sp>
      <p:sp>
        <p:nvSpPr>
          <p:cNvPr id="13" name="Shape 10">
            <a:extLst xmlns:a="http://schemas.openxmlformats.org/drawingml/2006/main">
              <a:ext uri="{FF2B5EF4-FFF2-40B4-BE49-F238E27FC236}">
                <a16:creationId xmlns:a16="http://schemas.microsoft.com/office/drawing/2014/main" id="{D2F714E8-7F0E-4329-AB13-F3F70C436BB7}"/>
              </a:ext>
            </a:extLst>
          </p:cNvPr>
          <p:cNvSpPr>
            <a:spLocks xmlns:a="http://schemas.openxmlformats.org/drawingml/2006/main" noGrp="1"/>
          </p:cNvSpPr>
          <p:nvPr/>
        </p:nvSpPr>
        <p:spPr>
          <a:xfrm xmlns:a="http://schemas.openxmlformats.org/drawingml/2006/main">
            <a:off x="7607808" y="2761488"/>
            <a:ext cx="4014216" cy="20117"/>
          </a:xfrm>
          <a:prstGeom xmlns:a="http://schemas.openxmlformats.org/drawingml/2006/main" prst="rect">
            <a:avLst/>
          </a:prstGeom>
          <a:solidFill xmlns:a="http://schemas.openxmlformats.org/drawingml/2006/main">
            <a:srgbClr val="102A43"/>
          </a:solidFill>
        </p:spPr>
      </p:sp>
      <p:sp>
        <p:nvSpPr>
          <p:cNvPr id="14" name="Text 11">
            <a:extLst xmlns:a="http://schemas.openxmlformats.org/drawingml/2006/main">
              <a:ext uri="{FF2B5EF4-FFF2-40B4-BE49-F238E27FC236}">
                <a16:creationId xmlns:a16="http://schemas.microsoft.com/office/drawing/2014/main" id="{CD2DD625-3B2C-430E-B761-0894F88FB864}"/>
              </a:ext>
            </a:extLst>
          </p:cNvPr>
          <p:cNvSpPr>
            <a:spLocks xmlns:a="http://schemas.openxmlformats.org/drawingml/2006/main" noGrp="1"/>
          </p:cNvSpPr>
          <p:nvPr/>
        </p:nvSpPr>
        <p:spPr>
          <a:xfrm xmlns:a="http://schemas.openxmlformats.org/drawingml/2006/main">
            <a:off x="7607808" y="2907792"/>
            <a:ext cx="4014216"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Option 1 leads on two criteria, both variants of the same point: a simpler compliance narrative for supervisors unfamiliar with row-level tenancy models.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Both are equal on wholesale protection, so that dimension does not discriminate at all.</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Option 2 leads on the four criteria tied to long-run cost and competitive differentiation.</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The gap is seven points on a thirty-five point scale — decisive, but not so wide that Option 1 is unreasonable.</a:t>
            </a:r>
            <a:endParaRPr sz="940"/>
          </a:p>
        </p:txBody>
      </p:sp>
      <p:sp>
        <p:nvSpPr>
          <p:cNvPr id="15" name="Shape 12">
            <a:extLst xmlns:a="http://schemas.openxmlformats.org/drawingml/2006/main">
              <a:ext uri="{FF2B5EF4-FFF2-40B4-BE49-F238E27FC236}">
                <a16:creationId xmlns:a16="http://schemas.microsoft.com/office/drawing/2014/main" id="{733C7DF6-4F76-4D72-A91C-790EFEC28E2C}"/>
              </a:ext>
            </a:extLst>
          </p:cNvPr>
          <p:cNvSpPr>
            <a:spLocks xmlns:a="http://schemas.openxmlformats.org/drawingml/2006/main" noGrp="1"/>
          </p:cNvSpPr>
          <p:nvPr/>
        </p:nvSpPr>
        <p:spPr>
          <a:xfrm xmlns:a="http://schemas.openxmlformats.org/drawingml/2006/main">
            <a:off x="566928" y="4937760"/>
            <a:ext cx="11057839" cy="1133856"/>
          </a:xfrm>
          <a:prstGeom xmlns:a="http://schemas.openxmlformats.org/drawingml/2006/main" prst="rect">
            <a:avLst/>
          </a:prstGeom>
          <a:solidFill xmlns:a="http://schemas.openxmlformats.org/drawingml/2006/main">
            <a:srgbClr val="F3E6E0"/>
          </a:solidFill>
        </p:spPr>
      </p:sp>
      <p:sp>
        <p:nvSpPr>
          <p:cNvPr id="16" name="Text 13">
            <a:extLst xmlns:a="http://schemas.openxmlformats.org/drawingml/2006/main">
              <a:ext uri="{FF2B5EF4-FFF2-40B4-BE49-F238E27FC236}">
                <a16:creationId xmlns:a16="http://schemas.microsoft.com/office/drawing/2014/main" id="{B887A147-D815-430C-8A0F-7E9A91AFD978}"/>
              </a:ext>
            </a:extLst>
          </p:cNvPr>
          <p:cNvSpPr>
            <a:spLocks xmlns:a="http://schemas.openxmlformats.org/drawingml/2006/main" noGrp="1"/>
          </p:cNvSpPr>
          <p:nvPr/>
        </p:nvSpPr>
        <p:spPr>
          <a:xfrm xmlns:a="http://schemas.openxmlformats.org/drawingml/2006/main">
            <a:off x="804672" y="508406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Where each option genuinely leads</a:t>
            </a:r>
            <a:endParaRPr sz="1100"/>
          </a:p>
        </p:txBody>
      </p:sp>
      <p:sp>
        <p:nvSpPr>
          <p:cNvPr id="17" name="Text 14">
            <a:extLst xmlns:a="http://schemas.openxmlformats.org/drawingml/2006/main">
              <a:ext uri="{FF2B5EF4-FFF2-40B4-BE49-F238E27FC236}">
                <a16:creationId xmlns:a16="http://schemas.microsoft.com/office/drawing/2014/main" id="{B66FB0D4-DD7A-4B76-AF67-D138B5EF5455}"/>
              </a:ext>
            </a:extLst>
          </p:cNvPr>
          <p:cNvSpPr>
            <a:spLocks xmlns:a="http://schemas.openxmlformats.org/drawingml/2006/main" noGrp="1"/>
          </p:cNvSpPr>
          <p:nvPr/>
        </p:nvSpPr>
        <p:spPr>
          <a:xfrm xmlns:a="http://schemas.openxmlformats.org/drawingml/2006/main">
            <a:off x="804672" y="5340096"/>
            <a:ext cx="10582351"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Option 1 buys a simpler regulatory conversation. No multi-tenancy pre-approval is required in either shareable market, and the compliance narrative is one a supervisor can follow without understanding logical isolation. That is a real benefit and it is worth naming.</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Option 2 buys everything that compounds: one fewer application instance, unified release management across the two markets, cross-country consumer analytics that the split architecture cannot produce at all, and a pattern that absorbs a fourth market without a new stack.</a:t>
            </a:r>
            <a:endParaRPr sz="990"/>
          </a:p>
        </p:txBody>
      </p:sp>
      <p:sp>
        <p:nvSpPr>
          <p:cNvPr id="18" name="Shape 15">
            <a:extLst xmlns:a="http://schemas.openxmlformats.org/drawingml/2006/main">
              <a:ext uri="{FF2B5EF4-FFF2-40B4-BE49-F238E27FC236}">
                <a16:creationId xmlns:a16="http://schemas.microsoft.com/office/drawing/2014/main" id="{3A2C04A2-C718-4C1C-AB42-F8EE8C16465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9" name="Text 16">
            <a:extLst xmlns:a="http://schemas.openxmlformats.org/drawingml/2006/main">
              <a:ext uri="{FF2B5EF4-FFF2-40B4-BE49-F238E27FC236}">
                <a16:creationId xmlns:a16="http://schemas.microsoft.com/office/drawing/2014/main" id="{5A08FDE0-6BDF-460A-8BA8-C0CBFC998FF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deployment analysis, prepared for executive decision</a:t>
            </a:r>
            <a:endParaRPr sz="850"/>
          </a:p>
        </p:txBody>
      </p:sp>
      <p:sp>
        <p:nvSpPr>
          <p:cNvPr id="20" name="Text 17">
            <a:extLst xmlns:a="http://schemas.openxmlformats.org/drawingml/2006/main">
              <a:ext uri="{FF2B5EF4-FFF2-40B4-BE49-F238E27FC236}">
                <a16:creationId xmlns:a16="http://schemas.microsoft.com/office/drawing/2014/main" id="{E55B02CA-9376-4C34-B55D-7AA8A2FFC38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704562876"/>
      </p:ext>
    </p:extLst>
  </p:cSld>
</p:sld>
</file>

<file path=ppt/slides/slide2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824F81-0732-4ACB-8763-1610D6BF73E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VALUE</a:t>
            </a:r>
            <a:endParaRPr sz="950"/>
          </a:p>
        </p:txBody>
      </p:sp>
      <p:sp>
        <p:nvSpPr>
          <p:cNvPr id="3" name="Text 1">
            <a:extLst xmlns:a="http://schemas.openxmlformats.org/drawingml/2006/main">
              <a:ext uri="{FF2B5EF4-FFF2-40B4-BE49-F238E27FC236}">
                <a16:creationId xmlns:a16="http://schemas.microsoft.com/office/drawing/2014/main" id="{0D0E11AC-CA64-4502-A1CD-5F20BB1458F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Consolidation removes one application instance — and the effects compound across</a:t>
            </a:r>
            <a:endParaRPr sz="1900"/>
          </a:p>
          <a:p xmlns:a="http://schemas.openxmlformats.org/drawingml/2006/main">
            <a:pPr marL="0" indent="0">
              <a:lnSpc>
                <a:spcPts val="2400"/>
              </a:lnSpc>
              <a:buNone/>
            </a:pPr>
            <a:r>
              <a:rPr sz="1900" b="1">
                <a:solidFill>
                  <a:srgbClr val="102A43"/>
                </a:solidFill>
                <a:latin typeface="Arial"/>
                <a:ea typeface="Arial"/>
                <a:cs typeface="Arial"/>
              </a:rPr>
              <a:t>infrastructure, release engineering and operations for five years</a:t>
            </a:r>
            <a:endParaRPr sz="1900"/>
          </a:p>
        </p:txBody>
      </p:sp>
      <p:sp>
        <p:nvSpPr>
          <p:cNvPr id="4" name="Shape 2">
            <a:extLst xmlns:a="http://schemas.openxmlformats.org/drawingml/2006/main">
              <a:ext uri="{FF2B5EF4-FFF2-40B4-BE49-F238E27FC236}">
                <a16:creationId xmlns:a16="http://schemas.microsoft.com/office/drawing/2014/main" id="{61796E40-9FC8-4DA9-8722-10A5A62CCD3F}"/>
              </a:ext>
            </a:extLst>
          </p:cNvPr>
          <p:cNvSpPr>
            <a:spLocks xmlns:a="http://schemas.openxmlformats.org/drawingml/2006/main" noGrp="1"/>
          </p:cNvSpPr>
          <p:nvPr/>
        </p:nvSpPr>
        <p:spPr>
          <a:xfrm xmlns:a="http://schemas.openxmlformats.org/drawingml/2006/main">
            <a:off x="566928" y="1335024"/>
            <a:ext cx="2682164" cy="106070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3F6C8921-FA15-432D-B659-7864F92F5353}"/>
              </a:ext>
            </a:extLst>
          </p:cNvPr>
          <p:cNvSpPr>
            <a:spLocks xmlns:a="http://schemas.openxmlformats.org/drawingml/2006/main" noGrp="1"/>
          </p:cNvSpPr>
          <p:nvPr/>
        </p:nvSpPr>
        <p:spPr>
          <a:xfrm xmlns:a="http://schemas.openxmlformats.org/drawingml/2006/main">
            <a:off x="694944"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~25%</a:t>
            </a:r>
            <a:endParaRPr sz="2200"/>
          </a:p>
        </p:txBody>
      </p:sp>
      <p:sp>
        <p:nvSpPr>
          <p:cNvPr id="6" name="Text 4">
            <a:extLst xmlns:a="http://schemas.openxmlformats.org/drawingml/2006/main">
              <a:ext uri="{FF2B5EF4-FFF2-40B4-BE49-F238E27FC236}">
                <a16:creationId xmlns:a16="http://schemas.microsoft.com/office/drawing/2014/main" id="{8675C6B4-1E8D-4D66-B104-24AC3AF83B11}"/>
              </a:ext>
            </a:extLst>
          </p:cNvPr>
          <p:cNvSpPr>
            <a:spLocks xmlns:a="http://schemas.openxmlformats.org/drawingml/2006/main" noGrp="1"/>
          </p:cNvSpPr>
          <p:nvPr/>
        </p:nvSpPr>
        <p:spPr>
          <a:xfrm xmlns:a="http://schemas.openxmlformats.org/drawingml/2006/main">
            <a:off x="694944" y="1847088"/>
            <a:ext cx="242613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fewer application instances</a:t>
            </a:r>
            <a:endParaRPr sz="860"/>
          </a:p>
        </p:txBody>
      </p:sp>
      <p:sp>
        <p:nvSpPr>
          <p:cNvPr id="7" name="Shape 5">
            <a:extLst xmlns:a="http://schemas.openxmlformats.org/drawingml/2006/main">
              <a:ext uri="{FF2B5EF4-FFF2-40B4-BE49-F238E27FC236}">
                <a16:creationId xmlns:a16="http://schemas.microsoft.com/office/drawing/2014/main" id="{19C4B5CE-2E7F-4AF5-BE0A-7BE408F51FE8}"/>
              </a:ext>
            </a:extLst>
          </p:cNvPr>
          <p:cNvSpPr>
            <a:spLocks xmlns:a="http://schemas.openxmlformats.org/drawingml/2006/main" noGrp="1"/>
          </p:cNvSpPr>
          <p:nvPr/>
        </p:nvSpPr>
        <p:spPr>
          <a:xfrm xmlns:a="http://schemas.openxmlformats.org/drawingml/2006/main">
            <a:off x="3358820" y="1335024"/>
            <a:ext cx="2682164" cy="1060704"/>
          </a:xfrm>
          <a:prstGeom xmlns:a="http://schemas.openxmlformats.org/drawingml/2006/main" prst="rect">
            <a:avLst/>
          </a:prstGeom>
          <a:solidFill xmlns:a="http://schemas.openxmlformats.org/drawingml/2006/main">
            <a:srgbClr val="F3E6E0"/>
          </a:solidFill>
        </p:spPr>
      </p:sp>
      <p:sp>
        <p:nvSpPr>
          <p:cNvPr id="8" name="Text 6">
            <a:extLst xmlns:a="http://schemas.openxmlformats.org/drawingml/2006/main">
              <a:ext uri="{FF2B5EF4-FFF2-40B4-BE49-F238E27FC236}">
                <a16:creationId xmlns:a16="http://schemas.microsoft.com/office/drawing/2014/main" id="{E7322D18-5DF4-4FC6-AAB3-532BAC62138F}"/>
              </a:ext>
            </a:extLst>
          </p:cNvPr>
          <p:cNvSpPr>
            <a:spLocks xmlns:a="http://schemas.openxmlformats.org/drawingml/2006/main" noGrp="1"/>
          </p:cNvSpPr>
          <p:nvPr/>
        </p:nvSpPr>
        <p:spPr>
          <a:xfrm xmlns:a="http://schemas.openxmlformats.org/drawingml/2006/main">
            <a:off x="3486836"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5–10M</a:t>
            </a:r>
            <a:endParaRPr sz="2200"/>
          </a:p>
        </p:txBody>
      </p:sp>
      <p:sp>
        <p:nvSpPr>
          <p:cNvPr id="9" name="Text 7">
            <a:extLst xmlns:a="http://schemas.openxmlformats.org/drawingml/2006/main">
              <a:ext uri="{FF2B5EF4-FFF2-40B4-BE49-F238E27FC236}">
                <a16:creationId xmlns:a16="http://schemas.microsoft.com/office/drawing/2014/main" id="{147778E1-BDD8-4FDE-95F5-ECC0146AF3C0}"/>
              </a:ext>
            </a:extLst>
          </p:cNvPr>
          <p:cNvSpPr>
            <a:spLocks xmlns:a="http://schemas.openxmlformats.org/drawingml/2006/main" noGrp="1"/>
          </p:cNvSpPr>
          <p:nvPr/>
        </p:nvSpPr>
        <p:spPr>
          <a:xfrm xmlns:a="http://schemas.openxmlformats.org/drawingml/2006/main">
            <a:off x="3486836" y="1847088"/>
            <a:ext cx="242613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estimated five-year infrastructure saving, local currency</a:t>
            </a:r>
            <a:endParaRPr sz="860"/>
          </a:p>
        </p:txBody>
      </p:sp>
      <p:sp>
        <p:nvSpPr>
          <p:cNvPr id="10" name="Shape 8">
            <a:extLst xmlns:a="http://schemas.openxmlformats.org/drawingml/2006/main">
              <a:ext uri="{FF2B5EF4-FFF2-40B4-BE49-F238E27FC236}">
                <a16:creationId xmlns:a16="http://schemas.microsoft.com/office/drawing/2014/main" id="{C4663692-3353-4C53-ACDF-F5415D4F56ED}"/>
              </a:ext>
            </a:extLst>
          </p:cNvPr>
          <p:cNvSpPr>
            <a:spLocks xmlns:a="http://schemas.openxmlformats.org/drawingml/2006/main" noGrp="1"/>
          </p:cNvSpPr>
          <p:nvPr/>
        </p:nvSpPr>
        <p:spPr>
          <a:xfrm xmlns:a="http://schemas.openxmlformats.org/drawingml/2006/main">
            <a:off x="6150712" y="1335024"/>
            <a:ext cx="2682164" cy="1060704"/>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7FDED5C6-195C-4BCE-84B0-572B8F39BA8F}"/>
              </a:ext>
            </a:extLst>
          </p:cNvPr>
          <p:cNvSpPr>
            <a:spLocks xmlns:a="http://schemas.openxmlformats.org/drawingml/2006/main" noGrp="1"/>
          </p:cNvSpPr>
          <p:nvPr/>
        </p:nvSpPr>
        <p:spPr>
          <a:xfrm xmlns:a="http://schemas.openxmlformats.org/drawingml/2006/main">
            <a:off x="6278728"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B04A25"/>
                </a:solidFill>
                <a:latin typeface="Arial"/>
                <a:ea typeface="Arial"/>
                <a:cs typeface="Arial"/>
              </a:rPr>
              <a:t>40–50%</a:t>
            </a:r>
            <a:endParaRPr sz="2200"/>
          </a:p>
        </p:txBody>
      </p:sp>
      <p:sp>
        <p:nvSpPr>
          <p:cNvPr id="12" name="Text 10">
            <a:extLst xmlns:a="http://schemas.openxmlformats.org/drawingml/2006/main">
              <a:ext uri="{FF2B5EF4-FFF2-40B4-BE49-F238E27FC236}">
                <a16:creationId xmlns:a16="http://schemas.microsoft.com/office/drawing/2014/main" id="{4272F132-F0C9-402E-A90B-7892A2BB167C}"/>
              </a:ext>
            </a:extLst>
          </p:cNvPr>
          <p:cNvSpPr>
            <a:spLocks xmlns:a="http://schemas.openxmlformats.org/drawingml/2006/main" noGrp="1"/>
          </p:cNvSpPr>
          <p:nvPr/>
        </p:nvSpPr>
        <p:spPr>
          <a:xfrm xmlns:a="http://schemas.openxmlformats.org/drawingml/2006/main">
            <a:off x="6278728" y="1847088"/>
            <a:ext cx="242613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reduction in consumer release effort</a:t>
            </a:r>
            <a:endParaRPr sz="860"/>
          </a:p>
        </p:txBody>
      </p:sp>
      <p:sp>
        <p:nvSpPr>
          <p:cNvPr id="13" name="Shape 11">
            <a:extLst xmlns:a="http://schemas.openxmlformats.org/drawingml/2006/main">
              <a:ext uri="{FF2B5EF4-FFF2-40B4-BE49-F238E27FC236}">
                <a16:creationId xmlns:a16="http://schemas.microsoft.com/office/drawing/2014/main" id="{C3124E9D-BAF0-42F8-8D12-EF0056FC3B31}"/>
              </a:ext>
            </a:extLst>
          </p:cNvPr>
          <p:cNvSpPr>
            <a:spLocks xmlns:a="http://schemas.openxmlformats.org/drawingml/2006/main" noGrp="1"/>
          </p:cNvSpPr>
          <p:nvPr/>
        </p:nvSpPr>
        <p:spPr>
          <a:xfrm xmlns:a="http://schemas.openxmlformats.org/drawingml/2006/main">
            <a:off x="8942603" y="1335024"/>
            <a:ext cx="2682164" cy="1060704"/>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0E8936B9-D454-4FA4-86E5-27A6EACF9C29}"/>
              </a:ext>
            </a:extLst>
          </p:cNvPr>
          <p:cNvSpPr>
            <a:spLocks xmlns:a="http://schemas.openxmlformats.org/drawingml/2006/main" noGrp="1"/>
          </p:cNvSpPr>
          <p:nvPr/>
        </p:nvSpPr>
        <p:spPr>
          <a:xfrm xmlns:a="http://schemas.openxmlformats.org/drawingml/2006/main">
            <a:off x="9070619" y="1453896"/>
            <a:ext cx="242613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200" b="1">
                <a:solidFill>
                  <a:srgbClr val="27685A"/>
                </a:solidFill>
                <a:latin typeface="Arial"/>
                <a:ea typeface="Arial"/>
                <a:cs typeface="Arial"/>
              </a:rPr>
              <a:t>100%</a:t>
            </a:r>
            <a:endParaRPr sz="2200"/>
          </a:p>
        </p:txBody>
      </p:sp>
      <p:sp>
        <p:nvSpPr>
          <p:cNvPr id="15" name="Text 13">
            <a:extLst xmlns:a="http://schemas.openxmlformats.org/drawingml/2006/main">
              <a:ext uri="{FF2B5EF4-FFF2-40B4-BE49-F238E27FC236}">
                <a16:creationId xmlns:a16="http://schemas.microsoft.com/office/drawing/2014/main" id="{B2AF0F79-9F1B-456E-9878-7A99433CFE42}"/>
              </a:ext>
            </a:extLst>
          </p:cNvPr>
          <p:cNvSpPr>
            <a:spLocks xmlns:a="http://schemas.openxmlformats.org/drawingml/2006/main" noGrp="1"/>
          </p:cNvSpPr>
          <p:nvPr/>
        </p:nvSpPr>
        <p:spPr>
          <a:xfrm xmlns:a="http://schemas.openxmlformats.org/drawingml/2006/main">
            <a:off x="9070619" y="1847088"/>
            <a:ext cx="242613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wholesale protection retained in both</a:t>
            </a:r>
            <a:endParaRPr sz="860"/>
          </a:p>
        </p:txBody>
      </p:sp>
      <p:sp>
        <p:nvSpPr>
          <p:cNvPr id="16" name="Text 14">
            <a:extLst xmlns:a="http://schemas.openxmlformats.org/drawingml/2006/main">
              <a:ext uri="{FF2B5EF4-FFF2-40B4-BE49-F238E27FC236}">
                <a16:creationId xmlns:a16="http://schemas.microsoft.com/office/drawing/2014/main" id="{9C804609-1D16-431A-B694-2A5CE0CB33FF}"/>
              </a:ext>
            </a:extLst>
          </p:cNvPr>
          <p:cNvSpPr>
            <a:spLocks xmlns:a="http://schemas.openxmlformats.org/drawingml/2006/main" noGrp="1"/>
          </p:cNvSpPr>
          <p:nvPr/>
        </p:nvSpPr>
        <p:spPr>
          <a:xfrm xmlns:a="http://schemas.openxmlformats.org/drawingml/2006/main">
            <a:off x="566928" y="263347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Business — strategic enablement</a:t>
            </a:r>
            <a:endParaRPr sz="1100"/>
          </a:p>
        </p:txBody>
      </p:sp>
      <p:sp>
        <p:nvSpPr>
          <p:cNvPr id="17" name="Shape 15">
            <a:extLst xmlns:a="http://schemas.openxmlformats.org/drawingml/2006/main">
              <a:ext uri="{FF2B5EF4-FFF2-40B4-BE49-F238E27FC236}">
                <a16:creationId xmlns:a16="http://schemas.microsoft.com/office/drawing/2014/main" id="{77B68108-8257-4E52-88AC-85F5BC487C4B}"/>
              </a:ext>
            </a:extLst>
          </p:cNvPr>
          <p:cNvSpPr>
            <a:spLocks xmlns:a="http://schemas.openxmlformats.org/drawingml/2006/main" noGrp="1"/>
          </p:cNvSpPr>
          <p:nvPr/>
        </p:nvSpPr>
        <p:spPr>
          <a:xfrm xmlns:a="http://schemas.openxmlformats.org/drawingml/2006/main">
            <a:off x="566928" y="2889504"/>
            <a:ext cx="3551834" cy="20117"/>
          </a:xfrm>
          <a:prstGeom xmlns:a="http://schemas.openxmlformats.org/drawingml/2006/main" prst="rect">
            <a:avLst/>
          </a:prstGeom>
          <a:solidFill xmlns:a="http://schemas.openxmlformats.org/drawingml/2006/main">
            <a:srgbClr val="B04A25"/>
          </a:solidFill>
        </p:spPr>
      </p:sp>
      <p:sp>
        <p:nvSpPr>
          <p:cNvPr id="18" name="Text 16">
            <a:extLst xmlns:a="http://schemas.openxmlformats.org/drawingml/2006/main">
              <a:ext uri="{FF2B5EF4-FFF2-40B4-BE49-F238E27FC236}">
                <a16:creationId xmlns:a16="http://schemas.microsoft.com/office/drawing/2014/main" id="{7EFD31E3-28AB-450A-B115-6465F92DFEC9}"/>
              </a:ext>
            </a:extLst>
          </p:cNvPr>
          <p:cNvSpPr>
            <a:spLocks xmlns:a="http://schemas.openxmlformats.org/drawingml/2006/main" noGrp="1"/>
          </p:cNvSpPr>
          <p:nvPr/>
        </p:nvSpPr>
        <p:spPr>
          <a:xfrm xmlns:a="http://schemas.openxmlformats.org/drawingml/2006/main">
            <a:off x="566928" y="3017520"/>
            <a:ext cx="3551834"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A single consumer customer view across both shareable markets, enabling relationship-led cross-sell for premier and private clients that the split architecture cannot support.</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Product configurations, campaigns and workflows deploy once and apply to both markets — time to market moves from months to weeks.</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Wholesale client confidentiality is unchanged: physically isolated in both options, meeting sovereign and multinational obligations identically.</a:t>
            </a:r>
            <a:endParaRPr sz="940"/>
          </a:p>
        </p:txBody>
      </p:sp>
      <p:sp>
        <p:nvSpPr>
          <p:cNvPr id="19" name="Text 17">
            <a:extLst xmlns:a="http://schemas.openxmlformats.org/drawingml/2006/main">
              <a:ext uri="{FF2B5EF4-FFF2-40B4-BE49-F238E27FC236}">
                <a16:creationId xmlns:a16="http://schemas.microsoft.com/office/drawing/2014/main" id="{8DE4B56F-3C59-46D7-9396-CD81E5B7A2A4}"/>
              </a:ext>
            </a:extLst>
          </p:cNvPr>
          <p:cNvSpPr>
            <a:spLocks xmlns:a="http://schemas.openxmlformats.org/drawingml/2006/main" noGrp="1"/>
          </p:cNvSpPr>
          <p:nvPr/>
        </p:nvSpPr>
        <p:spPr>
          <a:xfrm xmlns:a="http://schemas.openxmlformats.org/drawingml/2006/main">
            <a:off x="4319930" y="263347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Technical — platform excellence</a:t>
            </a:r>
            <a:endParaRPr sz="1100"/>
          </a:p>
        </p:txBody>
      </p:sp>
      <p:sp>
        <p:nvSpPr>
          <p:cNvPr id="20" name="Shape 18">
            <a:extLst xmlns:a="http://schemas.openxmlformats.org/drawingml/2006/main">
              <a:ext uri="{FF2B5EF4-FFF2-40B4-BE49-F238E27FC236}">
                <a16:creationId xmlns:a16="http://schemas.microsoft.com/office/drawing/2014/main" id="{5EB598B5-F2ED-47C0-9D6E-923C151BC45A}"/>
              </a:ext>
            </a:extLst>
          </p:cNvPr>
          <p:cNvSpPr>
            <a:spLocks xmlns:a="http://schemas.openxmlformats.org/drawingml/2006/main" noGrp="1"/>
          </p:cNvSpPr>
          <p:nvPr/>
        </p:nvSpPr>
        <p:spPr>
          <a:xfrm xmlns:a="http://schemas.openxmlformats.org/drawingml/2006/main">
            <a:off x="4319930" y="2889504"/>
            <a:ext cx="3551834" cy="20117"/>
          </a:xfrm>
          <a:prstGeom xmlns:a="http://schemas.openxmlformats.org/drawingml/2006/main" prst="rect">
            <a:avLst/>
          </a:prstGeom>
          <a:solidFill xmlns:a="http://schemas.openxmlformats.org/drawingml/2006/main">
            <a:srgbClr val="102A43"/>
          </a:solidFill>
        </p:spPr>
      </p:sp>
      <p:sp>
        <p:nvSpPr>
          <p:cNvPr id="21" name="Text 19">
            <a:extLst xmlns:a="http://schemas.openxmlformats.org/drawingml/2006/main">
              <a:ext uri="{FF2B5EF4-FFF2-40B4-BE49-F238E27FC236}">
                <a16:creationId xmlns:a16="http://schemas.microsoft.com/office/drawing/2014/main" id="{EDECBED8-CB19-4BE0-87AF-5D3FEF08B6AE}"/>
              </a:ext>
            </a:extLst>
          </p:cNvPr>
          <p:cNvSpPr>
            <a:spLocks xmlns:a="http://schemas.openxmlformats.org/drawingml/2006/main" noGrp="1"/>
          </p:cNvSpPr>
          <p:nvPr/>
        </p:nvSpPr>
        <p:spPr>
          <a:xfrm xmlns:a="http://schemas.openxmlformats.org/drawingml/2006/main">
            <a:off x="4319930" y="3017520"/>
            <a:ext cx="3551834"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One consumer application means one upgrade event per cycle instead of two, cutting release engineering effort materially.</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Row-level tenancy scopes every query to the correct country entity — a proven enterprise pattern with regional precedent.</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One monitoring stack, one alerting policy and one on-call rotation for the consumer estate; detection and recovery times improve rather than degrade.</a:t>
            </a:r>
            <a:endParaRPr sz="940"/>
          </a:p>
        </p:txBody>
      </p:sp>
      <p:sp>
        <p:nvSpPr>
          <p:cNvPr id="22" name="Text 20">
            <a:extLst xmlns:a="http://schemas.openxmlformats.org/drawingml/2006/main">
              <a:ext uri="{FF2B5EF4-FFF2-40B4-BE49-F238E27FC236}">
                <a16:creationId xmlns:a16="http://schemas.microsoft.com/office/drawing/2014/main" id="{C1136FA5-C754-4E28-9FD9-518BBB48B72F}"/>
              </a:ext>
            </a:extLst>
          </p:cNvPr>
          <p:cNvSpPr>
            <a:spLocks xmlns:a="http://schemas.openxmlformats.org/drawingml/2006/main" noGrp="1"/>
          </p:cNvSpPr>
          <p:nvPr/>
        </p:nvSpPr>
        <p:spPr>
          <a:xfrm xmlns:a="http://schemas.openxmlformats.org/drawingml/2006/main">
            <a:off x="8072933" y="263347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Commercial — cost optimisation</a:t>
            </a:r>
            <a:endParaRPr sz="1100"/>
          </a:p>
        </p:txBody>
      </p:sp>
      <p:sp>
        <p:nvSpPr>
          <p:cNvPr id="23" name="Shape 21">
            <a:extLst xmlns:a="http://schemas.openxmlformats.org/drawingml/2006/main">
              <a:ext uri="{FF2B5EF4-FFF2-40B4-BE49-F238E27FC236}">
                <a16:creationId xmlns:a16="http://schemas.microsoft.com/office/drawing/2014/main" id="{3672A2A6-E464-4DC3-8716-444ED16AB137}"/>
              </a:ext>
            </a:extLst>
          </p:cNvPr>
          <p:cNvSpPr>
            <a:spLocks xmlns:a="http://schemas.openxmlformats.org/drawingml/2006/main" noGrp="1"/>
          </p:cNvSpPr>
          <p:nvPr/>
        </p:nvSpPr>
        <p:spPr>
          <a:xfrm xmlns:a="http://schemas.openxmlformats.org/drawingml/2006/main">
            <a:off x="8072933" y="2889504"/>
            <a:ext cx="3551834" cy="20117"/>
          </a:xfrm>
          <a:prstGeom xmlns:a="http://schemas.openxmlformats.org/drawingml/2006/main" prst="rect">
            <a:avLst/>
          </a:prstGeom>
          <a:solidFill xmlns:a="http://schemas.openxmlformats.org/drawingml/2006/main">
            <a:srgbClr val="27685A"/>
          </a:solidFill>
        </p:spPr>
      </p:sp>
      <p:sp>
        <p:nvSpPr>
          <p:cNvPr id="24" name="Text 22">
            <a:extLst xmlns:a="http://schemas.openxmlformats.org/drawingml/2006/main">
              <a:ext uri="{FF2B5EF4-FFF2-40B4-BE49-F238E27FC236}">
                <a16:creationId xmlns:a16="http://schemas.microsoft.com/office/drawing/2014/main" id="{A7ED26F8-6149-4399-94EA-CE4E40B1149B}"/>
              </a:ext>
            </a:extLst>
          </p:cNvPr>
          <p:cNvSpPr>
            <a:spLocks xmlns:a="http://schemas.openxmlformats.org/drawingml/2006/main" noGrp="1"/>
          </p:cNvSpPr>
          <p:nvPr/>
        </p:nvSpPr>
        <p:spPr>
          <a:xfrm xmlns:a="http://schemas.openxmlformats.org/drawingml/2006/main">
            <a:off x="8072933" y="3017520"/>
            <a:ext cx="3551834"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Instance count is the primary infrastructure cost driver; removing one is a durable, compounding saving over the horizon.</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Licence cost is broadly comparable between options — the advantage comes from compute, storage, networking and operations, not per-seat pricing.</a:t>
            </a:r>
            <a:endParaRPr sz="940"/>
          </a:p>
          <a:p xmlns:a="http://schemas.openxmlformats.org/drawingml/2006/main">
            <a:pPr marL="152400" indent="-152400">
              <a:lnSpc>
                <a:spcPts val="1400"/>
              </a:lnSpc>
              <a:spcAft>
                <a:spcPts val="600"/>
              </a:spcAft>
              <a:buSzPct val="100000"/>
              <a:buChar char="•"/>
            </a:pPr>
            <a:r>
              <a:rPr sz="940">
                <a:solidFill>
                  <a:srgbClr val="1A1A1A"/>
                </a:solidFill>
                <a:latin typeface="Arial"/>
                <a:ea typeface="Arial"/>
                <a:cs typeface="Arial"/>
              </a:rPr>
              <a:t>Fewer dedicated administrators and database resources for the consumer estate, with no change on the wholesale side.</a:t>
            </a:r>
            <a:endParaRPr sz="940"/>
          </a:p>
        </p:txBody>
      </p:sp>
      <p:sp>
        <p:nvSpPr>
          <p:cNvPr id="25" name="Shape 23">
            <a:extLst xmlns:a="http://schemas.openxmlformats.org/drawingml/2006/main">
              <a:ext uri="{FF2B5EF4-FFF2-40B4-BE49-F238E27FC236}">
                <a16:creationId xmlns:a16="http://schemas.microsoft.com/office/drawing/2014/main" id="{8FECDA45-F156-4FFE-A7A1-4E5BF7428AA0}"/>
              </a:ext>
            </a:extLst>
          </p:cNvPr>
          <p:cNvSpPr>
            <a:spLocks xmlns:a="http://schemas.openxmlformats.org/drawingml/2006/main" noGrp="1"/>
          </p:cNvSpPr>
          <p:nvPr/>
        </p:nvSpPr>
        <p:spPr>
          <a:xfrm xmlns:a="http://schemas.openxmlformats.org/drawingml/2006/main">
            <a:off x="566928" y="5303520"/>
            <a:ext cx="11057839" cy="768096"/>
          </a:xfrm>
          <a:prstGeom xmlns:a="http://schemas.openxmlformats.org/drawingml/2006/main" prst="rect">
            <a:avLst/>
          </a:prstGeom>
          <a:solidFill xmlns:a="http://schemas.openxmlformats.org/drawingml/2006/main">
            <a:srgbClr val="F3E6E0"/>
          </a:solidFill>
        </p:spPr>
      </p:sp>
      <p:sp>
        <p:nvSpPr>
          <p:cNvPr id="26" name="Text 24">
            <a:extLst xmlns:a="http://schemas.openxmlformats.org/drawingml/2006/main">
              <a:ext uri="{FF2B5EF4-FFF2-40B4-BE49-F238E27FC236}">
                <a16:creationId xmlns:a16="http://schemas.microsoft.com/office/drawing/2014/main" id="{0919F8C9-5903-4DA2-86B0-5EAA76083505}"/>
              </a:ext>
            </a:extLst>
          </p:cNvPr>
          <p:cNvSpPr>
            <a:spLocks xmlns:a="http://schemas.openxmlformats.org/drawingml/2006/main" noGrp="1"/>
          </p:cNvSpPr>
          <p:nvPr/>
        </p:nvSpPr>
        <p:spPr>
          <a:xfrm xmlns:a="http://schemas.openxmlformats.org/drawingml/2006/main">
            <a:off x="804672" y="5486400"/>
            <a:ext cx="10582351" cy="43891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honest framing for an executive: this is not a large saving on a large programme. It is a structural choice whose benefit compounds — one fewer instance now becomes two fewer when the fourth market arrives, and the analytics capability is one the alternative simply cannot deliver at any cost.</a:t>
            </a:r>
            <a:endParaRPr sz="990"/>
          </a:p>
        </p:txBody>
      </p:sp>
      <p:sp>
        <p:nvSpPr>
          <p:cNvPr id="27" name="Shape 25">
            <a:extLst xmlns:a="http://schemas.openxmlformats.org/drawingml/2006/main">
              <a:ext uri="{FF2B5EF4-FFF2-40B4-BE49-F238E27FC236}">
                <a16:creationId xmlns:a16="http://schemas.microsoft.com/office/drawing/2014/main" id="{B7F721DD-42AC-45BA-8B70-F8224965454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8" name="Text 26">
            <a:extLst xmlns:a="http://schemas.openxmlformats.org/drawingml/2006/main">
              <a:ext uri="{FF2B5EF4-FFF2-40B4-BE49-F238E27FC236}">
                <a16:creationId xmlns:a16="http://schemas.microsoft.com/office/drawing/2014/main" id="{172DA636-01A6-4764-8F80-80B9ED57186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 cost figures are estimates derived from instance counts, not vendor quotations</a:t>
            </a:r>
            <a:endParaRPr sz="850"/>
          </a:p>
        </p:txBody>
      </p:sp>
      <p:sp>
        <p:nvSpPr>
          <p:cNvPr id="29" name="Text 27">
            <a:extLst xmlns:a="http://schemas.openxmlformats.org/drawingml/2006/main">
              <a:ext uri="{FF2B5EF4-FFF2-40B4-BE49-F238E27FC236}">
                <a16:creationId xmlns:a16="http://schemas.microsoft.com/office/drawing/2014/main" id="{4806D8D7-3597-41ED-9E5B-429CF828C85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652371736"/>
      </p:ext>
    </p:extLst>
  </p:cSld>
</p:sld>
</file>

<file path=ppt/slides/slide2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4A2C4D0-FE1C-4C9A-B4E0-954EB2561D2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RISK</a:t>
            </a:r>
            <a:endParaRPr sz="950"/>
          </a:p>
        </p:txBody>
      </p:sp>
      <p:sp>
        <p:nvSpPr>
          <p:cNvPr id="3" name="Text 1">
            <a:extLst xmlns:a="http://schemas.openxmlformats.org/drawingml/2006/main">
              <a:ext uri="{FF2B5EF4-FFF2-40B4-BE49-F238E27FC236}">
                <a16:creationId xmlns:a16="http://schemas.microsoft.com/office/drawing/2014/main" id="{BFCC1F77-890E-4A92-8B37-F0141917A81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risks attach to the recommended option — each with a mitigation that must be</a:t>
            </a:r>
            <a:endParaRPr sz="1900"/>
          </a:p>
          <a:p xmlns:a="http://schemas.openxmlformats.org/drawingml/2006/main">
            <a:pPr marL="0" indent="0">
              <a:lnSpc>
                <a:spcPts val="2400"/>
              </a:lnSpc>
              <a:buNone/>
            </a:pPr>
            <a:r>
              <a:rPr sz="1900" b="1">
                <a:solidFill>
                  <a:srgbClr val="102A43"/>
                </a:solidFill>
                <a:latin typeface="Arial"/>
                <a:ea typeface="Arial"/>
                <a:cs typeface="Arial"/>
              </a:rPr>
              <a:t>committed before approval, not discovered during implementation</a:t>
            </a:r>
            <a:endParaRPr sz="1900"/>
          </a:p>
        </p:txBody>
      </p:sp>
      <p:sp>
        <p:nvSpPr>
          <p:cNvPr id="4" name="Shape 2">
            <a:extLst xmlns:a="http://schemas.openxmlformats.org/drawingml/2006/main">
              <a:ext uri="{FF2B5EF4-FFF2-40B4-BE49-F238E27FC236}">
                <a16:creationId xmlns:a16="http://schemas.microsoft.com/office/drawing/2014/main" id="{40399AD3-0D63-482A-9BDA-CE01D7D86615}"/>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57869367-8A2D-4418-A09B-9FC355AA7338}"/>
              </a:ext>
            </a:extLst>
          </p:cNvPr>
          <p:cNvSpPr>
            <a:spLocks xmlns:a="http://schemas.openxmlformats.org/drawingml/2006/main" noGrp="1"/>
          </p:cNvSpPr>
          <p:nvPr/>
        </p:nvSpPr>
        <p:spPr>
          <a:xfrm xmlns:a="http://schemas.openxmlformats.org/drawingml/2006/main">
            <a:off x="676656" y="1444752"/>
            <a:ext cx="28895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Risk</a:t>
            </a:r>
            <a:endParaRPr sz="920"/>
          </a:p>
        </p:txBody>
      </p:sp>
      <p:sp>
        <p:nvSpPr>
          <p:cNvPr id="6" name="Text 4">
            <a:extLst xmlns:a="http://schemas.openxmlformats.org/drawingml/2006/main">
              <a:ext uri="{FF2B5EF4-FFF2-40B4-BE49-F238E27FC236}">
                <a16:creationId xmlns:a16="http://schemas.microsoft.com/office/drawing/2014/main" id="{15B335A1-0A60-479E-B84D-DEB80BF527F1}"/>
              </a:ext>
            </a:extLst>
          </p:cNvPr>
          <p:cNvSpPr>
            <a:spLocks xmlns:a="http://schemas.openxmlformats.org/drawingml/2006/main" noGrp="1"/>
          </p:cNvSpPr>
          <p:nvPr/>
        </p:nvSpPr>
        <p:spPr>
          <a:xfrm xmlns:a="http://schemas.openxmlformats.org/drawingml/2006/main">
            <a:off x="3877056" y="1444752"/>
            <a:ext cx="6949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Severity</a:t>
            </a:r>
            <a:endParaRPr sz="920"/>
          </a:p>
        </p:txBody>
      </p:sp>
      <p:sp>
        <p:nvSpPr>
          <p:cNvPr id="7" name="Text 5">
            <a:extLst xmlns:a="http://schemas.openxmlformats.org/drawingml/2006/main">
              <a:ext uri="{FF2B5EF4-FFF2-40B4-BE49-F238E27FC236}">
                <a16:creationId xmlns:a16="http://schemas.microsoft.com/office/drawing/2014/main" id="{89122159-0347-42E2-9773-6C4E84F4FECD}"/>
              </a:ext>
            </a:extLst>
          </p:cNvPr>
          <p:cNvSpPr>
            <a:spLocks xmlns:a="http://schemas.openxmlformats.org/drawingml/2006/main" noGrp="1"/>
          </p:cNvSpPr>
          <p:nvPr/>
        </p:nvSpPr>
        <p:spPr>
          <a:xfrm xmlns:a="http://schemas.openxmlformats.org/drawingml/2006/main">
            <a:off x="4791456" y="1444752"/>
            <a:ext cx="31638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it arises</a:t>
            </a:r>
            <a:endParaRPr sz="920"/>
          </a:p>
        </p:txBody>
      </p:sp>
      <p:sp>
        <p:nvSpPr>
          <p:cNvPr id="8" name="Text 6">
            <a:extLst xmlns:a="http://schemas.openxmlformats.org/drawingml/2006/main">
              <a:ext uri="{FF2B5EF4-FFF2-40B4-BE49-F238E27FC236}">
                <a16:creationId xmlns:a16="http://schemas.microsoft.com/office/drawing/2014/main" id="{037B0B08-2010-409D-AA2F-6BF9EF638EFD}"/>
              </a:ext>
            </a:extLst>
          </p:cNvPr>
          <p:cNvSpPr>
            <a:spLocks xmlns:a="http://schemas.openxmlformats.org/drawingml/2006/main" noGrp="1"/>
          </p:cNvSpPr>
          <p:nvPr/>
        </p:nvSpPr>
        <p:spPr>
          <a:xfrm xmlns:a="http://schemas.openxmlformats.org/drawingml/2006/main">
            <a:off x="8174736" y="1444752"/>
            <a:ext cx="33375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Mitigation committed before approval</a:t>
            </a:r>
            <a:endParaRPr sz="920"/>
          </a:p>
        </p:txBody>
      </p:sp>
      <p:sp>
        <p:nvSpPr>
          <p:cNvPr id="9" name="Text 7">
            <a:extLst xmlns:a="http://schemas.openxmlformats.org/drawingml/2006/main">
              <a:ext uri="{FF2B5EF4-FFF2-40B4-BE49-F238E27FC236}">
                <a16:creationId xmlns:a16="http://schemas.microsoft.com/office/drawing/2014/main" id="{730377A9-9D5D-4160-8535-BF2B308332B9}"/>
              </a:ext>
            </a:extLst>
          </p:cNvPr>
          <p:cNvSpPr>
            <a:spLocks xmlns:a="http://schemas.openxmlformats.org/drawingml/2006/main" noGrp="1"/>
          </p:cNvSpPr>
          <p:nvPr/>
        </p:nvSpPr>
        <p:spPr>
          <a:xfrm xmlns:a="http://schemas.openxmlformats.org/drawingml/2006/main">
            <a:off x="676656" y="1920240"/>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Supervisor unfamiliarity with logical isolation</a:t>
            </a:r>
            <a:endParaRPr sz="980"/>
          </a:p>
        </p:txBody>
      </p:sp>
      <p:sp>
        <p:nvSpPr>
          <p:cNvPr id="10" name="Shape 8">
            <a:extLst xmlns:a="http://schemas.openxmlformats.org/drawingml/2006/main">
              <a:ext uri="{FF2B5EF4-FFF2-40B4-BE49-F238E27FC236}">
                <a16:creationId xmlns:a16="http://schemas.microsoft.com/office/drawing/2014/main" id="{B2351B37-2D28-4683-B254-914ACBFE8A5B}"/>
              </a:ext>
            </a:extLst>
          </p:cNvPr>
          <p:cNvSpPr>
            <a:spLocks xmlns:a="http://schemas.openxmlformats.org/drawingml/2006/main" noGrp="1"/>
          </p:cNvSpPr>
          <p:nvPr/>
        </p:nvSpPr>
        <p:spPr>
          <a:xfrm xmlns:a="http://schemas.openxmlformats.org/drawingml/2006/main">
            <a:off x="3767328" y="1938528"/>
            <a:ext cx="786384" cy="237744"/>
          </a:xfrm>
          <a:prstGeom xmlns:a="http://schemas.openxmlformats.org/drawingml/2006/main" prst="roundRect">
            <a:avLst>
              <a:gd name="adj" fmla="val 30769"/>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1D1E5984-FA71-4B9C-A63B-74689F4F89C1}"/>
              </a:ext>
            </a:extLst>
          </p:cNvPr>
          <p:cNvSpPr>
            <a:spLocks xmlns:a="http://schemas.openxmlformats.org/drawingml/2006/main" noGrp="1"/>
          </p:cNvSpPr>
          <p:nvPr/>
        </p:nvSpPr>
        <p:spPr>
          <a:xfrm xmlns:a="http://schemas.openxmlformats.org/drawingml/2006/main">
            <a:off x="3767328" y="1970532"/>
            <a:ext cx="78638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HIGH</a:t>
            </a:r>
            <a:endParaRPr sz="820"/>
          </a:p>
        </p:txBody>
      </p:sp>
      <p:sp>
        <p:nvSpPr>
          <p:cNvPr id="12" name="Text 10">
            <a:extLst xmlns:a="http://schemas.openxmlformats.org/drawingml/2006/main">
              <a:ext uri="{FF2B5EF4-FFF2-40B4-BE49-F238E27FC236}">
                <a16:creationId xmlns:a16="http://schemas.microsoft.com/office/drawing/2014/main" id="{52A1BAA3-541C-40F8-BF84-1E89048C6F09}"/>
              </a:ext>
            </a:extLst>
          </p:cNvPr>
          <p:cNvSpPr>
            <a:spLocks xmlns:a="http://schemas.openxmlformats.org/drawingml/2006/main" noGrp="1"/>
          </p:cNvSpPr>
          <p:nvPr/>
        </p:nvSpPr>
        <p:spPr>
          <a:xfrm xmlns:a="http://schemas.openxmlformats.org/drawingml/2006/main">
            <a:off x="4791456" y="1920240"/>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 regulator may require pre-approval for a multi-tenant consumer model, or may simply take longer to be satisfied by it</a:t>
            </a:r>
            <a:endParaRPr sz="930"/>
          </a:p>
        </p:txBody>
      </p:sp>
      <p:sp>
        <p:nvSpPr>
          <p:cNvPr id="13" name="Text 11">
            <a:extLst xmlns:a="http://schemas.openxmlformats.org/drawingml/2006/main">
              <a:ext uri="{FF2B5EF4-FFF2-40B4-BE49-F238E27FC236}">
                <a16:creationId xmlns:a16="http://schemas.microsoft.com/office/drawing/2014/main" id="{D12CD864-B4CB-4218-B9A6-24A0BECB076A}"/>
              </a:ext>
            </a:extLst>
          </p:cNvPr>
          <p:cNvSpPr>
            <a:spLocks xmlns:a="http://schemas.openxmlformats.org/drawingml/2006/main" noGrp="1"/>
          </p:cNvSpPr>
          <p:nvPr/>
        </p:nvSpPr>
        <p:spPr>
          <a:xfrm xmlns:a="http://schemas.openxmlformats.org/drawingml/2006/main">
            <a:off x="8174736" y="1920240"/>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Pre-engage both supervisors with the row-level isolation design and regional precedent before build starts; hold the fallback to Option 1 open until cleared</a:t>
            </a:r>
            <a:endParaRPr sz="930"/>
          </a:p>
        </p:txBody>
      </p:sp>
      <p:sp>
        <p:nvSpPr>
          <p:cNvPr id="14" name="Shape 12">
            <a:extLst xmlns:a="http://schemas.openxmlformats.org/drawingml/2006/main">
              <a:ext uri="{FF2B5EF4-FFF2-40B4-BE49-F238E27FC236}">
                <a16:creationId xmlns:a16="http://schemas.microsoft.com/office/drawing/2014/main" id="{57CF134C-6BA8-4B9C-A0BA-7DC0F7618E51}"/>
              </a:ext>
            </a:extLst>
          </p:cNvPr>
          <p:cNvSpPr>
            <a:spLocks xmlns:a="http://schemas.openxmlformats.org/drawingml/2006/main" noGrp="1"/>
          </p:cNvSpPr>
          <p:nvPr/>
        </p:nvSpPr>
        <p:spPr>
          <a:xfrm xmlns:a="http://schemas.openxmlformats.org/drawingml/2006/main">
            <a:off x="566928" y="2414016"/>
            <a:ext cx="11057839" cy="7315"/>
          </a:xfrm>
          <a:prstGeom xmlns:a="http://schemas.openxmlformats.org/drawingml/2006/main" prst="rect">
            <a:avLst/>
          </a:prstGeom>
          <a:solidFill xmlns:a="http://schemas.openxmlformats.org/drawingml/2006/main">
            <a:srgbClr val="CBD5E0"/>
          </a:solidFill>
        </p:spPr>
      </p:sp>
      <p:sp>
        <p:nvSpPr>
          <p:cNvPr id="15" name="Shape 13">
            <a:extLst xmlns:a="http://schemas.openxmlformats.org/drawingml/2006/main">
              <a:ext uri="{FF2B5EF4-FFF2-40B4-BE49-F238E27FC236}">
                <a16:creationId xmlns:a16="http://schemas.microsoft.com/office/drawing/2014/main" id="{DE4A9C2C-E676-48DE-8AE4-26541BBBE97E}"/>
              </a:ext>
            </a:extLst>
          </p:cNvPr>
          <p:cNvSpPr>
            <a:spLocks xmlns:a="http://schemas.openxmlformats.org/drawingml/2006/main" noGrp="1"/>
          </p:cNvSpPr>
          <p:nvPr/>
        </p:nvSpPr>
        <p:spPr>
          <a:xfrm xmlns:a="http://schemas.openxmlformats.org/drawingml/2006/main">
            <a:off x="566928" y="2414016"/>
            <a:ext cx="11057839" cy="713232"/>
          </a:xfrm>
          <a:prstGeom xmlns:a="http://schemas.openxmlformats.org/drawingml/2006/main" prst="rect">
            <a:avLst/>
          </a:prstGeom>
          <a:solidFill xmlns:a="http://schemas.openxmlformats.org/drawingml/2006/main">
            <a:srgbClr val="F7F9FB"/>
          </a:solidFill>
        </p:spPr>
      </p:sp>
      <p:sp>
        <p:nvSpPr>
          <p:cNvPr id="16" name="Text 14">
            <a:extLst xmlns:a="http://schemas.openxmlformats.org/drawingml/2006/main">
              <a:ext uri="{FF2B5EF4-FFF2-40B4-BE49-F238E27FC236}">
                <a16:creationId xmlns:a16="http://schemas.microsoft.com/office/drawing/2014/main" id="{85373864-781D-4FC4-AA3E-6A71C20B5F45}"/>
              </a:ext>
            </a:extLst>
          </p:cNvPr>
          <p:cNvSpPr>
            <a:spLocks xmlns:a="http://schemas.openxmlformats.org/drawingml/2006/main" noGrp="1"/>
          </p:cNvSpPr>
          <p:nvPr/>
        </p:nvSpPr>
        <p:spPr>
          <a:xfrm xmlns:a="http://schemas.openxmlformats.org/drawingml/2006/main">
            <a:off x="676656" y="2633472"/>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Cross-tenant data leakage</a:t>
            </a:r>
            <a:endParaRPr sz="980"/>
          </a:p>
        </p:txBody>
      </p:sp>
      <p:sp>
        <p:nvSpPr>
          <p:cNvPr id="17" name="Shape 15">
            <a:extLst xmlns:a="http://schemas.openxmlformats.org/drawingml/2006/main">
              <a:ext uri="{FF2B5EF4-FFF2-40B4-BE49-F238E27FC236}">
                <a16:creationId xmlns:a16="http://schemas.microsoft.com/office/drawing/2014/main" id="{F3743B76-3B0B-425B-BF3D-2A9C40E907F4}"/>
              </a:ext>
            </a:extLst>
          </p:cNvPr>
          <p:cNvSpPr>
            <a:spLocks xmlns:a="http://schemas.openxmlformats.org/drawingml/2006/main" noGrp="1"/>
          </p:cNvSpPr>
          <p:nvPr/>
        </p:nvSpPr>
        <p:spPr>
          <a:xfrm xmlns:a="http://schemas.openxmlformats.org/drawingml/2006/main">
            <a:off x="3767328" y="2651760"/>
            <a:ext cx="786384" cy="237744"/>
          </a:xfrm>
          <a:prstGeom xmlns:a="http://schemas.openxmlformats.org/drawingml/2006/main" prst="roundRect">
            <a:avLst>
              <a:gd name="adj" fmla="val 30769"/>
            </a:avLst>
          </a:prstGeom>
          <a:solidFill xmlns:a="http://schemas.openxmlformats.org/drawingml/2006/main">
            <a:srgbClr val="F3E6E0"/>
          </a:solidFill>
        </p:spPr>
      </p:sp>
      <p:sp>
        <p:nvSpPr>
          <p:cNvPr id="18" name="Text 16">
            <a:extLst xmlns:a="http://schemas.openxmlformats.org/drawingml/2006/main">
              <a:ext uri="{FF2B5EF4-FFF2-40B4-BE49-F238E27FC236}">
                <a16:creationId xmlns:a16="http://schemas.microsoft.com/office/drawing/2014/main" id="{A2314376-D362-4CC0-A2F9-D642EC61705C}"/>
              </a:ext>
            </a:extLst>
          </p:cNvPr>
          <p:cNvSpPr>
            <a:spLocks xmlns:a="http://schemas.openxmlformats.org/drawingml/2006/main" noGrp="1"/>
          </p:cNvSpPr>
          <p:nvPr/>
        </p:nvSpPr>
        <p:spPr>
          <a:xfrm xmlns:a="http://schemas.openxmlformats.org/drawingml/2006/main">
            <a:off x="3767328" y="2683764"/>
            <a:ext cx="78638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HIGH</a:t>
            </a:r>
            <a:endParaRPr sz="820"/>
          </a:p>
        </p:txBody>
      </p:sp>
      <p:sp>
        <p:nvSpPr>
          <p:cNvPr id="19" name="Text 17">
            <a:extLst xmlns:a="http://schemas.openxmlformats.org/drawingml/2006/main">
              <a:ext uri="{FF2B5EF4-FFF2-40B4-BE49-F238E27FC236}">
                <a16:creationId xmlns:a16="http://schemas.microsoft.com/office/drawing/2014/main" id="{7C5D7A27-F86A-48A8-9587-83CD3722F86C}"/>
              </a:ext>
            </a:extLst>
          </p:cNvPr>
          <p:cNvSpPr>
            <a:spLocks xmlns:a="http://schemas.openxmlformats.org/drawingml/2006/main" noGrp="1"/>
          </p:cNvSpPr>
          <p:nvPr/>
        </p:nvSpPr>
        <p:spPr>
          <a:xfrm xmlns:a="http://schemas.openxmlformats.org/drawingml/2006/main">
            <a:off x="4791456" y="2633472"/>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Row-level tenancy places the isolation boundary in the application layer rather than in physical separation</a:t>
            </a:r>
            <a:endParaRPr sz="930"/>
          </a:p>
        </p:txBody>
      </p:sp>
      <p:sp>
        <p:nvSpPr>
          <p:cNvPr id="20" name="Text 18">
            <a:extLst xmlns:a="http://schemas.openxmlformats.org/drawingml/2006/main">
              <a:ext uri="{FF2B5EF4-FFF2-40B4-BE49-F238E27FC236}">
                <a16:creationId xmlns:a16="http://schemas.microsoft.com/office/drawing/2014/main" id="{8E77414C-F4E4-4CC2-8E33-E33C10DF9F96}"/>
              </a:ext>
            </a:extLst>
          </p:cNvPr>
          <p:cNvSpPr>
            <a:spLocks xmlns:a="http://schemas.openxmlformats.org/drawingml/2006/main" noGrp="1"/>
          </p:cNvSpPr>
          <p:nvPr/>
        </p:nvSpPr>
        <p:spPr>
          <a:xfrm xmlns:a="http://schemas.openxmlformats.org/drawingml/2006/main">
            <a:off x="8174736" y="2633472"/>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Tenancy tagging enforced at the data-access layer, not per query; automated cross-tenant tests in the release pipeline; independent penetration test before each market go-live</a:t>
            </a:r>
            <a:endParaRPr sz="930"/>
          </a:p>
        </p:txBody>
      </p:sp>
      <p:sp>
        <p:nvSpPr>
          <p:cNvPr id="21" name="Shape 19">
            <a:extLst xmlns:a="http://schemas.openxmlformats.org/drawingml/2006/main">
              <a:ext uri="{FF2B5EF4-FFF2-40B4-BE49-F238E27FC236}">
                <a16:creationId xmlns:a16="http://schemas.microsoft.com/office/drawing/2014/main" id="{15818D8C-03D1-4644-915A-9BA08480B32F}"/>
              </a:ext>
            </a:extLst>
          </p:cNvPr>
          <p:cNvSpPr>
            <a:spLocks xmlns:a="http://schemas.openxmlformats.org/drawingml/2006/main" noGrp="1"/>
          </p:cNvSpPr>
          <p:nvPr/>
        </p:nvSpPr>
        <p:spPr>
          <a:xfrm xmlns:a="http://schemas.openxmlformats.org/drawingml/2006/main">
            <a:off x="566928" y="3127248"/>
            <a:ext cx="11057839" cy="7315"/>
          </a:xfrm>
          <a:prstGeom xmlns:a="http://schemas.openxmlformats.org/drawingml/2006/main" prst="rect">
            <a:avLst/>
          </a:prstGeom>
          <a:solidFill xmlns:a="http://schemas.openxmlformats.org/drawingml/2006/main">
            <a:srgbClr val="CBD5E0"/>
          </a:solidFill>
        </p:spPr>
      </p:sp>
      <p:sp>
        <p:nvSpPr>
          <p:cNvPr id="22" name="Text 20">
            <a:extLst xmlns:a="http://schemas.openxmlformats.org/drawingml/2006/main">
              <a:ext uri="{FF2B5EF4-FFF2-40B4-BE49-F238E27FC236}">
                <a16:creationId xmlns:a16="http://schemas.microsoft.com/office/drawing/2014/main" id="{006234E6-E92A-47B5-962D-07509B277F67}"/>
              </a:ext>
            </a:extLst>
          </p:cNvPr>
          <p:cNvSpPr>
            <a:spLocks xmlns:a="http://schemas.openxmlformats.org/drawingml/2006/main" noGrp="1"/>
          </p:cNvSpPr>
          <p:nvPr/>
        </p:nvSpPr>
        <p:spPr>
          <a:xfrm xmlns:a="http://schemas.openxmlformats.org/drawingml/2006/main">
            <a:off x="676656" y="3346704"/>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Shared release train across markets</a:t>
            </a:r>
            <a:endParaRPr sz="980"/>
          </a:p>
        </p:txBody>
      </p:sp>
      <p:sp>
        <p:nvSpPr>
          <p:cNvPr id="23" name="Shape 21">
            <a:extLst xmlns:a="http://schemas.openxmlformats.org/drawingml/2006/main">
              <a:ext uri="{FF2B5EF4-FFF2-40B4-BE49-F238E27FC236}">
                <a16:creationId xmlns:a16="http://schemas.microsoft.com/office/drawing/2014/main" id="{38330E8D-927E-4D2E-8708-8219F4D1F61F}"/>
              </a:ext>
            </a:extLst>
          </p:cNvPr>
          <p:cNvSpPr>
            <a:spLocks xmlns:a="http://schemas.openxmlformats.org/drawingml/2006/main" noGrp="1"/>
          </p:cNvSpPr>
          <p:nvPr/>
        </p:nvSpPr>
        <p:spPr>
          <a:xfrm xmlns:a="http://schemas.openxmlformats.org/drawingml/2006/main">
            <a:off x="3767328" y="3364992"/>
            <a:ext cx="786384" cy="237744"/>
          </a:xfrm>
          <a:prstGeom xmlns:a="http://schemas.openxmlformats.org/drawingml/2006/main" prst="roundRect">
            <a:avLst>
              <a:gd name="adj" fmla="val 30769"/>
            </a:avLst>
          </a:prstGeom>
          <a:solidFill xmlns:a="http://schemas.openxmlformats.org/drawingml/2006/main">
            <a:srgbClr val="F3E6E0"/>
          </a:solidFill>
        </p:spPr>
      </p:sp>
      <p:sp>
        <p:nvSpPr>
          <p:cNvPr id="24" name="Text 22">
            <a:extLst xmlns:a="http://schemas.openxmlformats.org/drawingml/2006/main">
              <a:ext uri="{FF2B5EF4-FFF2-40B4-BE49-F238E27FC236}">
                <a16:creationId xmlns:a16="http://schemas.microsoft.com/office/drawing/2014/main" id="{2C09CB2F-0676-4B74-9AB6-E0F789A1A564}"/>
              </a:ext>
            </a:extLst>
          </p:cNvPr>
          <p:cNvSpPr>
            <a:spLocks xmlns:a="http://schemas.openxmlformats.org/drawingml/2006/main" noGrp="1"/>
          </p:cNvSpPr>
          <p:nvPr/>
        </p:nvSpPr>
        <p:spPr>
          <a:xfrm xmlns:a="http://schemas.openxmlformats.org/drawingml/2006/main">
            <a:off x="3767328" y="3396996"/>
            <a:ext cx="78638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MEDIUM</a:t>
            </a:r>
            <a:endParaRPr sz="820"/>
          </a:p>
        </p:txBody>
      </p:sp>
      <p:sp>
        <p:nvSpPr>
          <p:cNvPr id="25" name="Text 23">
            <a:extLst xmlns:a="http://schemas.openxmlformats.org/drawingml/2006/main">
              <a:ext uri="{FF2B5EF4-FFF2-40B4-BE49-F238E27FC236}">
                <a16:creationId xmlns:a16="http://schemas.microsoft.com/office/drawing/2014/main" id="{B97C0251-07B0-4101-B99D-8CC28FDCEAA4}"/>
              </a:ext>
            </a:extLst>
          </p:cNvPr>
          <p:cNvSpPr>
            <a:spLocks xmlns:a="http://schemas.openxmlformats.org/drawingml/2006/main" noGrp="1"/>
          </p:cNvSpPr>
          <p:nvPr/>
        </p:nvSpPr>
        <p:spPr>
          <a:xfrm xmlns:a="http://schemas.openxmlformats.org/drawingml/2006/main">
            <a:off x="4791456" y="334670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One consumer application means one market can no longer release independently of the other</a:t>
            </a:r>
            <a:endParaRPr sz="930"/>
          </a:p>
        </p:txBody>
      </p:sp>
      <p:sp>
        <p:nvSpPr>
          <p:cNvPr id="26" name="Text 24">
            <a:extLst xmlns:a="http://schemas.openxmlformats.org/drawingml/2006/main">
              <a:ext uri="{FF2B5EF4-FFF2-40B4-BE49-F238E27FC236}">
                <a16:creationId xmlns:a16="http://schemas.microsoft.com/office/drawing/2014/main" id="{091C89D6-848D-4D39-8801-F95E87F60D99}"/>
              </a:ext>
            </a:extLst>
          </p:cNvPr>
          <p:cNvSpPr>
            <a:spLocks xmlns:a="http://schemas.openxmlformats.org/drawingml/2006/main" noGrp="1"/>
          </p:cNvSpPr>
          <p:nvPr/>
        </p:nvSpPr>
        <p:spPr>
          <a:xfrm xmlns:a="http://schemas.openxmlformats.org/drawingml/2006/main">
            <a:off x="8174736" y="3346704"/>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Feature-flag every market-specific change; publish a joint release calendar with agreed emergency-change provisions</a:t>
            </a:r>
            <a:endParaRPr sz="930"/>
          </a:p>
        </p:txBody>
      </p:sp>
      <p:sp>
        <p:nvSpPr>
          <p:cNvPr id="27" name="Shape 25">
            <a:extLst xmlns:a="http://schemas.openxmlformats.org/drawingml/2006/main">
              <a:ext uri="{FF2B5EF4-FFF2-40B4-BE49-F238E27FC236}">
                <a16:creationId xmlns:a16="http://schemas.microsoft.com/office/drawing/2014/main" id="{CF77DDB9-87C9-4626-96F1-0DA426C584C7}"/>
              </a:ext>
            </a:extLst>
          </p:cNvPr>
          <p:cNvSpPr>
            <a:spLocks xmlns:a="http://schemas.openxmlformats.org/drawingml/2006/main" noGrp="1"/>
          </p:cNvSpPr>
          <p:nvPr/>
        </p:nvSpPr>
        <p:spPr>
          <a:xfrm xmlns:a="http://schemas.openxmlformats.org/drawingml/2006/main">
            <a:off x="566928" y="3840480"/>
            <a:ext cx="11057839" cy="7315"/>
          </a:xfrm>
          <a:prstGeom xmlns:a="http://schemas.openxmlformats.org/drawingml/2006/main" prst="rect">
            <a:avLst/>
          </a:prstGeom>
          <a:solidFill xmlns:a="http://schemas.openxmlformats.org/drawingml/2006/main">
            <a:srgbClr val="CBD5E0"/>
          </a:solidFill>
        </p:spPr>
      </p:sp>
      <p:sp>
        <p:nvSpPr>
          <p:cNvPr id="28" name="Shape 26">
            <a:extLst xmlns:a="http://schemas.openxmlformats.org/drawingml/2006/main">
              <a:ext uri="{FF2B5EF4-FFF2-40B4-BE49-F238E27FC236}">
                <a16:creationId xmlns:a16="http://schemas.microsoft.com/office/drawing/2014/main" id="{05D8DB0C-F7B2-4B00-BF48-AE22F43A3609}"/>
              </a:ext>
            </a:extLst>
          </p:cNvPr>
          <p:cNvSpPr>
            <a:spLocks xmlns:a="http://schemas.openxmlformats.org/drawingml/2006/main" noGrp="1"/>
          </p:cNvSpPr>
          <p:nvPr/>
        </p:nvSpPr>
        <p:spPr>
          <a:xfrm xmlns:a="http://schemas.openxmlformats.org/drawingml/2006/main">
            <a:off x="566928" y="3840480"/>
            <a:ext cx="11057839" cy="713232"/>
          </a:xfrm>
          <a:prstGeom xmlns:a="http://schemas.openxmlformats.org/drawingml/2006/main" prst="rect">
            <a:avLst/>
          </a:prstGeom>
          <a:solidFill xmlns:a="http://schemas.openxmlformats.org/drawingml/2006/main">
            <a:srgbClr val="F7F9FB"/>
          </a:solidFill>
        </p:spPr>
      </p:sp>
      <p:sp>
        <p:nvSpPr>
          <p:cNvPr id="29" name="Text 27">
            <a:extLst xmlns:a="http://schemas.openxmlformats.org/drawingml/2006/main">
              <a:ext uri="{FF2B5EF4-FFF2-40B4-BE49-F238E27FC236}">
                <a16:creationId xmlns:a16="http://schemas.microsoft.com/office/drawing/2014/main" id="{F4838ED5-3E0F-4EBA-A130-E45905B7896F}"/>
              </a:ext>
            </a:extLst>
          </p:cNvPr>
          <p:cNvSpPr>
            <a:spLocks xmlns:a="http://schemas.openxmlformats.org/drawingml/2006/main" noGrp="1"/>
          </p:cNvSpPr>
          <p:nvPr/>
        </p:nvSpPr>
        <p:spPr>
          <a:xfrm xmlns:a="http://schemas.openxmlformats.org/drawingml/2006/main">
            <a:off x="676656" y="4059936"/>
            <a:ext cx="28895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Concentration of consumer availability</a:t>
            </a:r>
            <a:endParaRPr sz="980"/>
          </a:p>
        </p:txBody>
      </p:sp>
      <p:sp>
        <p:nvSpPr>
          <p:cNvPr id="30" name="Shape 28">
            <a:extLst xmlns:a="http://schemas.openxmlformats.org/drawingml/2006/main">
              <a:ext uri="{FF2B5EF4-FFF2-40B4-BE49-F238E27FC236}">
                <a16:creationId xmlns:a16="http://schemas.microsoft.com/office/drawing/2014/main" id="{46B63F18-C2AC-44C5-9514-098E4F8D7A0F}"/>
              </a:ext>
            </a:extLst>
          </p:cNvPr>
          <p:cNvSpPr>
            <a:spLocks xmlns:a="http://schemas.openxmlformats.org/drawingml/2006/main" noGrp="1"/>
          </p:cNvSpPr>
          <p:nvPr/>
        </p:nvSpPr>
        <p:spPr>
          <a:xfrm xmlns:a="http://schemas.openxmlformats.org/drawingml/2006/main">
            <a:off x="3767328" y="4078224"/>
            <a:ext cx="786384" cy="237744"/>
          </a:xfrm>
          <a:prstGeom xmlns:a="http://schemas.openxmlformats.org/drawingml/2006/main" prst="roundRect">
            <a:avLst>
              <a:gd name="adj" fmla="val 30769"/>
            </a:avLst>
          </a:prstGeom>
          <a:solidFill xmlns:a="http://schemas.openxmlformats.org/drawingml/2006/main">
            <a:srgbClr val="F3E6E0"/>
          </a:solidFill>
        </p:spPr>
      </p:sp>
      <p:sp>
        <p:nvSpPr>
          <p:cNvPr id="31" name="Text 29">
            <a:extLst xmlns:a="http://schemas.openxmlformats.org/drawingml/2006/main">
              <a:ext uri="{FF2B5EF4-FFF2-40B4-BE49-F238E27FC236}">
                <a16:creationId xmlns:a16="http://schemas.microsoft.com/office/drawing/2014/main" id="{8C65F47B-6E48-4C5F-8DEC-CDF1C147F834}"/>
              </a:ext>
            </a:extLst>
          </p:cNvPr>
          <p:cNvSpPr>
            <a:spLocks xmlns:a="http://schemas.openxmlformats.org/drawingml/2006/main" noGrp="1"/>
          </p:cNvSpPr>
          <p:nvPr/>
        </p:nvSpPr>
        <p:spPr>
          <a:xfrm xmlns:a="http://schemas.openxmlformats.org/drawingml/2006/main">
            <a:off x="3767328" y="4110228"/>
            <a:ext cx="78638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MEDIUM</a:t>
            </a:r>
            <a:endParaRPr sz="820"/>
          </a:p>
        </p:txBody>
      </p:sp>
      <p:sp>
        <p:nvSpPr>
          <p:cNvPr id="32" name="Text 30">
            <a:extLst xmlns:a="http://schemas.openxmlformats.org/drawingml/2006/main">
              <a:ext uri="{FF2B5EF4-FFF2-40B4-BE49-F238E27FC236}">
                <a16:creationId xmlns:a16="http://schemas.microsoft.com/office/drawing/2014/main" id="{99692B0B-CCC9-49FF-8F17-64BDD003FC3B}"/>
              </a:ext>
            </a:extLst>
          </p:cNvPr>
          <p:cNvSpPr>
            <a:spLocks xmlns:a="http://schemas.openxmlformats.org/drawingml/2006/main" noGrp="1"/>
          </p:cNvSpPr>
          <p:nvPr/>
        </p:nvSpPr>
        <p:spPr>
          <a:xfrm xmlns:a="http://schemas.openxmlformats.org/drawingml/2006/main">
            <a:off x="4791456" y="4059936"/>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486581"/>
                </a:solidFill>
                <a:latin typeface="Arial"/>
                <a:ea typeface="Arial"/>
                <a:cs typeface="Arial"/>
              </a:rPr>
              <a:t>A single consumer application is a shared failure domain across two markets rather than one</a:t>
            </a:r>
            <a:endParaRPr sz="930"/>
          </a:p>
        </p:txBody>
      </p:sp>
      <p:sp>
        <p:nvSpPr>
          <p:cNvPr id="33" name="Text 31">
            <a:extLst xmlns:a="http://schemas.openxmlformats.org/drawingml/2006/main">
              <a:ext uri="{FF2B5EF4-FFF2-40B4-BE49-F238E27FC236}">
                <a16:creationId xmlns:a16="http://schemas.microsoft.com/office/drawing/2014/main" id="{EC648291-7A53-4D54-ABBE-EB8F8356DA7D}"/>
              </a:ext>
            </a:extLst>
          </p:cNvPr>
          <p:cNvSpPr>
            <a:spLocks xmlns:a="http://schemas.openxmlformats.org/drawingml/2006/main" noGrp="1"/>
          </p:cNvSpPr>
          <p:nvPr/>
        </p:nvSpPr>
        <p:spPr>
          <a:xfrm xmlns:a="http://schemas.openxmlformats.org/drawingml/2006/main">
            <a:off x="8174736" y="4059936"/>
            <a:ext cx="3337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Multi-availability-zone deployment as designed; documented per-market degradation modes; recovery objectives tested per market, not in aggregate</a:t>
            </a:r>
            <a:endParaRPr sz="930"/>
          </a:p>
        </p:txBody>
      </p:sp>
      <p:sp>
        <p:nvSpPr>
          <p:cNvPr id="34" name="Shape 32">
            <a:extLst xmlns:a="http://schemas.openxmlformats.org/drawingml/2006/main">
              <a:ext uri="{FF2B5EF4-FFF2-40B4-BE49-F238E27FC236}">
                <a16:creationId xmlns:a16="http://schemas.microsoft.com/office/drawing/2014/main" id="{9D6FA955-6724-4059-9E56-B5A221F1D42F}"/>
              </a:ext>
            </a:extLst>
          </p:cNvPr>
          <p:cNvSpPr>
            <a:spLocks xmlns:a="http://schemas.openxmlformats.org/drawingml/2006/main" noGrp="1"/>
          </p:cNvSpPr>
          <p:nvPr/>
        </p:nvSpPr>
        <p:spPr>
          <a:xfrm xmlns:a="http://schemas.openxmlformats.org/drawingml/2006/main">
            <a:off x="566928" y="4553712"/>
            <a:ext cx="11057839" cy="7315"/>
          </a:xfrm>
          <a:prstGeom xmlns:a="http://schemas.openxmlformats.org/drawingml/2006/main" prst="rect">
            <a:avLst/>
          </a:prstGeom>
          <a:solidFill xmlns:a="http://schemas.openxmlformats.org/drawingml/2006/main">
            <a:srgbClr val="CBD5E0"/>
          </a:solidFill>
        </p:spPr>
      </p:sp>
      <p:sp>
        <p:nvSpPr>
          <p:cNvPr id="35" name="Shape 33">
            <a:extLst xmlns:a="http://schemas.openxmlformats.org/drawingml/2006/main">
              <a:ext uri="{FF2B5EF4-FFF2-40B4-BE49-F238E27FC236}">
                <a16:creationId xmlns:a16="http://schemas.microsoft.com/office/drawing/2014/main" id="{D87DC79C-898D-478E-BB81-6F77A03CC30E}"/>
              </a:ext>
            </a:extLst>
          </p:cNvPr>
          <p:cNvSpPr>
            <a:spLocks xmlns:a="http://schemas.openxmlformats.org/drawingml/2006/main" noGrp="1"/>
          </p:cNvSpPr>
          <p:nvPr/>
        </p:nvSpPr>
        <p:spPr>
          <a:xfrm xmlns:a="http://schemas.openxmlformats.org/drawingml/2006/main">
            <a:off x="566928" y="4828032"/>
            <a:ext cx="11057839" cy="822960"/>
          </a:xfrm>
          <a:prstGeom xmlns:a="http://schemas.openxmlformats.org/drawingml/2006/main" prst="rect">
            <a:avLst/>
          </a:prstGeom>
          <a:solidFill xmlns:a="http://schemas.openxmlformats.org/drawingml/2006/main">
            <a:srgbClr val="F3E6E0"/>
          </a:solidFill>
        </p:spPr>
      </p:sp>
      <p:sp>
        <p:nvSpPr>
          <p:cNvPr id="36" name="Text 34">
            <a:extLst xmlns:a="http://schemas.openxmlformats.org/drawingml/2006/main">
              <a:ext uri="{FF2B5EF4-FFF2-40B4-BE49-F238E27FC236}">
                <a16:creationId xmlns:a16="http://schemas.microsoft.com/office/drawing/2014/main" id="{921794D6-E310-4AA9-BDEA-CD0507B03C4D}"/>
              </a:ext>
            </a:extLst>
          </p:cNvPr>
          <p:cNvSpPr>
            <a:spLocks xmlns:a="http://schemas.openxmlformats.org/drawingml/2006/main" noGrp="1"/>
          </p:cNvSpPr>
          <p:nvPr/>
        </p:nvSpPr>
        <p:spPr>
          <a:xfrm xmlns:a="http://schemas.openxmlformats.org/drawingml/2006/main">
            <a:off x="804672" y="5010912"/>
            <a:ext cx="1058235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first risk is the one that decides the recommendation. If either supervisor will not accept a logically isolated consumer model, Option 2 is not available at any price — which is why regulatory pre-engagement is a gating action before approval rather than an implementation task, and why the Option 1 fallback stays open until it clears.</a:t>
            </a:r>
            <a:endParaRPr sz="990"/>
          </a:p>
        </p:txBody>
      </p:sp>
      <p:sp>
        <p:nvSpPr>
          <p:cNvPr id="37" name="Shape 35">
            <a:extLst xmlns:a="http://schemas.openxmlformats.org/drawingml/2006/main">
              <a:ext uri="{FF2B5EF4-FFF2-40B4-BE49-F238E27FC236}">
                <a16:creationId xmlns:a16="http://schemas.microsoft.com/office/drawing/2014/main" id="{8C1370F7-81D6-4F74-A11E-C4047582C46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8" name="Text 36">
            <a:extLst xmlns:a="http://schemas.openxmlformats.org/drawingml/2006/main">
              <a:ext uri="{FF2B5EF4-FFF2-40B4-BE49-F238E27FC236}">
                <a16:creationId xmlns:a16="http://schemas.microsoft.com/office/drawing/2014/main" id="{D0C8A5FF-4C96-4306-A3C9-A6292554A37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deployment analysis, prepared for executive decision</a:t>
            </a:r>
            <a:endParaRPr sz="850"/>
          </a:p>
        </p:txBody>
      </p:sp>
      <p:sp>
        <p:nvSpPr>
          <p:cNvPr id="39" name="Text 37">
            <a:extLst xmlns:a="http://schemas.openxmlformats.org/drawingml/2006/main">
              <a:ext uri="{FF2B5EF4-FFF2-40B4-BE49-F238E27FC236}">
                <a16:creationId xmlns:a16="http://schemas.microsoft.com/office/drawing/2014/main" id="{80C27F9E-C195-44CE-888D-CC3B817726F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842304499"/>
      </p:ext>
    </p:extLst>
  </p:cSld>
</p:sld>
</file>

<file path=ppt/slides/slide22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E39D174-27EF-4C42-A783-DACB934762B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RECOMMENDATION</a:t>
            </a:r>
            <a:endParaRPr sz="950"/>
          </a:p>
        </p:txBody>
      </p:sp>
      <p:sp>
        <p:nvSpPr>
          <p:cNvPr id="3" name="Text 1">
            <a:extLst xmlns:a="http://schemas.openxmlformats.org/drawingml/2006/main">
              <a:ext uri="{FF2B5EF4-FFF2-40B4-BE49-F238E27FC236}">
                <a16:creationId xmlns:a16="http://schemas.microsoft.com/office/drawing/2014/main" id="{4880BEFB-7A83-41C5-BF3A-918C561154C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Adopt the consolidated consumer architecture, conditional on regulatory pre-</a:t>
            </a:r>
            <a:endParaRPr sz="1900"/>
          </a:p>
          <a:p xmlns:a="http://schemas.openxmlformats.org/drawingml/2006/main">
            <a:pPr marL="0" indent="0">
              <a:lnSpc>
                <a:spcPts val="2400"/>
              </a:lnSpc>
              <a:buNone/>
            </a:pPr>
            <a:r>
              <a:rPr sz="1900" b="1">
                <a:solidFill>
                  <a:srgbClr val="102A43"/>
                </a:solidFill>
                <a:latin typeface="Arial"/>
                <a:ea typeface="Arial"/>
                <a:cs typeface="Arial"/>
              </a:rPr>
              <a:t>engagement clearing in both shareable markets</a:t>
            </a:r>
            <a:endParaRPr sz="1900"/>
          </a:p>
        </p:txBody>
      </p:sp>
      <p:sp>
        <p:nvSpPr>
          <p:cNvPr id="4" name="Shape 2">
            <a:extLst xmlns:a="http://schemas.openxmlformats.org/drawingml/2006/main">
              <a:ext uri="{FF2B5EF4-FFF2-40B4-BE49-F238E27FC236}">
                <a16:creationId xmlns:a16="http://schemas.microsoft.com/office/drawing/2014/main" id="{50D780F7-99AB-4636-AEA3-191763D019A3}"/>
              </a:ext>
            </a:extLst>
          </p:cNvPr>
          <p:cNvSpPr>
            <a:spLocks xmlns:a="http://schemas.openxmlformats.org/drawingml/2006/main" noGrp="1"/>
          </p:cNvSpPr>
          <p:nvPr/>
        </p:nvSpPr>
        <p:spPr>
          <a:xfrm xmlns:a="http://schemas.openxmlformats.org/drawingml/2006/main">
            <a:off x="566928" y="1335024"/>
            <a:ext cx="5373472" cy="22860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CBB74DAA-E5E1-473C-BD95-AEE076E9ACB3}"/>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RECOMMENDED</a:t>
            </a:r>
            <a:endParaRPr sz="840"/>
          </a:p>
        </p:txBody>
      </p:sp>
      <p:sp>
        <p:nvSpPr>
          <p:cNvPr id="6" name="Text 4">
            <a:extLst xmlns:a="http://schemas.openxmlformats.org/drawingml/2006/main">
              <a:ext uri="{FF2B5EF4-FFF2-40B4-BE49-F238E27FC236}">
                <a16:creationId xmlns:a16="http://schemas.microsoft.com/office/drawing/2014/main" id="{9B491B4A-7706-4E2C-949B-9B1C4E89D009}"/>
              </a:ext>
            </a:extLst>
          </p:cNvPr>
          <p:cNvSpPr>
            <a:spLocks xmlns:a="http://schemas.openxmlformats.org/drawingml/2006/main" noGrp="1"/>
          </p:cNvSpPr>
          <p:nvPr/>
        </p:nvSpPr>
        <p:spPr>
          <a:xfrm xmlns:a="http://schemas.openxmlformats.org/drawingml/2006/main">
            <a:off x="804672" y="1737360"/>
            <a:ext cx="489798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Option 2 — consumer consolidated</a:t>
            </a:r>
            <a:endParaRPr sz="1500"/>
          </a:p>
        </p:txBody>
      </p:sp>
      <p:sp>
        <p:nvSpPr>
          <p:cNvPr id="7" name="Text 5">
            <a:extLst xmlns:a="http://schemas.openxmlformats.org/drawingml/2006/main">
              <a:ext uri="{FF2B5EF4-FFF2-40B4-BE49-F238E27FC236}">
                <a16:creationId xmlns:a16="http://schemas.microsoft.com/office/drawing/2014/main" id="{DE06E741-1D47-4B78-ABBE-A1BA85F7D3FE}"/>
              </a:ext>
            </a:extLst>
          </p:cNvPr>
          <p:cNvSpPr>
            <a:spLocks xmlns:a="http://schemas.openxmlformats.org/drawingml/2006/main" noGrp="1"/>
          </p:cNvSpPr>
          <p:nvPr/>
        </p:nvSpPr>
        <p:spPr>
          <a:xfrm xmlns:a="http://schemas.openxmlformats.org/drawingml/2006/main">
            <a:off x="804672" y="2139696"/>
            <a:ext cx="489798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Leads on four of seven criteria, 33 against 26</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Identical wholesale protection — nothing is traded</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One fewer application instance, compounding with each new market</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The only option that enables cross-country consumer analytics</a:t>
            </a:r>
            <a:endParaRPr sz="980"/>
          </a:p>
        </p:txBody>
      </p:sp>
      <p:sp>
        <p:nvSpPr>
          <p:cNvPr id="8" name="Shape 6">
            <a:extLst xmlns:a="http://schemas.openxmlformats.org/drawingml/2006/main">
              <a:ext uri="{FF2B5EF4-FFF2-40B4-BE49-F238E27FC236}">
                <a16:creationId xmlns:a16="http://schemas.microsoft.com/office/drawing/2014/main" id="{26F38A64-98AA-4638-9A06-6269DD4B987F}"/>
              </a:ext>
            </a:extLst>
          </p:cNvPr>
          <p:cNvSpPr>
            <a:spLocks xmlns:a="http://schemas.openxmlformats.org/drawingml/2006/main" noGrp="1"/>
          </p:cNvSpPr>
          <p:nvPr/>
        </p:nvSpPr>
        <p:spPr>
          <a:xfrm xmlns:a="http://schemas.openxmlformats.org/drawingml/2006/main">
            <a:off x="6251296" y="1335024"/>
            <a:ext cx="5373472" cy="2286000"/>
          </a:xfrm>
          <a:prstGeom xmlns:a="http://schemas.openxmlformats.org/drawingml/2006/main" prst="rect">
            <a:avLst/>
          </a:prstGeom>
          <a:solidFill xmlns:a="http://schemas.openxmlformats.org/drawingml/2006/main">
            <a:srgbClr val="F0F4F8"/>
          </a:solidFill>
        </p:spPr>
      </p:sp>
      <p:sp>
        <p:nvSpPr>
          <p:cNvPr id="9" name="Text 7">
            <a:extLst xmlns:a="http://schemas.openxmlformats.org/drawingml/2006/main">
              <a:ext uri="{FF2B5EF4-FFF2-40B4-BE49-F238E27FC236}">
                <a16:creationId xmlns:a16="http://schemas.microsoft.com/office/drawing/2014/main" id="{3F0F1CE7-9124-4947-9D15-223E3730F258}"/>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FALLBACK, HELD OPEN</a:t>
            </a:r>
            <a:endParaRPr sz="840"/>
          </a:p>
        </p:txBody>
      </p:sp>
      <p:sp>
        <p:nvSpPr>
          <p:cNvPr id="10" name="Text 8">
            <a:extLst xmlns:a="http://schemas.openxmlformats.org/drawingml/2006/main">
              <a:ext uri="{FF2B5EF4-FFF2-40B4-BE49-F238E27FC236}">
                <a16:creationId xmlns:a16="http://schemas.microsoft.com/office/drawing/2014/main" id="{4142C653-5CEB-4035-9A7A-629A0ACA5286}"/>
              </a:ext>
            </a:extLst>
          </p:cNvPr>
          <p:cNvSpPr>
            <a:spLocks xmlns:a="http://schemas.openxmlformats.org/drawingml/2006/main" noGrp="1"/>
          </p:cNvSpPr>
          <p:nvPr/>
        </p:nvSpPr>
        <p:spPr>
          <a:xfrm xmlns:a="http://schemas.openxmlformats.org/drawingml/2006/main">
            <a:off x="6489040" y="1737360"/>
            <a:ext cx="4897984"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Option 1 — single tenant everywhere</a:t>
            </a:r>
            <a:endParaRPr sz="1500"/>
          </a:p>
        </p:txBody>
      </p:sp>
      <p:sp>
        <p:nvSpPr>
          <p:cNvPr id="11" name="Text 9">
            <a:extLst xmlns:a="http://schemas.openxmlformats.org/drawingml/2006/main">
              <a:ext uri="{FF2B5EF4-FFF2-40B4-BE49-F238E27FC236}">
                <a16:creationId xmlns:a16="http://schemas.microsoft.com/office/drawing/2014/main" id="{2BCB18EC-2A30-460A-90B9-8BBCF7BDA041}"/>
              </a:ext>
            </a:extLst>
          </p:cNvPr>
          <p:cNvSpPr>
            <a:spLocks xmlns:a="http://schemas.openxmlformats.org/drawingml/2006/main" noGrp="1"/>
          </p:cNvSpPr>
          <p:nvPr/>
        </p:nvSpPr>
        <p:spPr>
          <a:xfrm xmlns:a="http://schemas.openxmlformats.org/drawingml/2006/main">
            <a:off x="6489040" y="2139696"/>
            <a:ext cx="489798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Invoked only if either supervisor declines the logical isolation model</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Simpler compliance narrative, higher instance count and cost</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No cross-country consumer analytics capability</a:t>
            </a:r>
            <a:endParaRPr sz="980"/>
          </a:p>
          <a:p xmlns:a="http://schemas.openxmlformats.org/drawingml/2006/main">
            <a:pPr marL="152400" indent="-152400">
              <a:lnSpc>
                <a:spcPts val="1400"/>
              </a:lnSpc>
              <a:spcAft>
                <a:spcPts val="700"/>
              </a:spcAft>
              <a:buSzPct val="100000"/>
              <a:buChar char="•"/>
            </a:pPr>
            <a:r>
              <a:rPr sz="980">
                <a:solidFill>
                  <a:srgbClr val="1A1A1A"/>
                </a:solidFill>
                <a:latin typeface="Arial"/>
                <a:ea typeface="Arial"/>
                <a:cs typeface="Arial"/>
              </a:rPr>
              <a:t>Remains fully viable — this is a fallback, not a failure case</a:t>
            </a:r>
            <a:endParaRPr sz="980"/>
          </a:p>
        </p:txBody>
      </p:sp>
      <p:sp>
        <p:nvSpPr>
          <p:cNvPr id="12" name="Text 10">
            <a:extLst xmlns:a="http://schemas.openxmlformats.org/drawingml/2006/main">
              <a:ext uri="{FF2B5EF4-FFF2-40B4-BE49-F238E27FC236}">
                <a16:creationId xmlns:a16="http://schemas.microsoft.com/office/drawing/2014/main" id="{3F07602F-B579-4124-83CF-CC0070483E28}"/>
              </a:ext>
            </a:extLst>
          </p:cNvPr>
          <p:cNvSpPr>
            <a:spLocks xmlns:a="http://schemas.openxmlformats.org/drawingml/2006/main" noGrp="1"/>
          </p:cNvSpPr>
          <p:nvPr/>
        </p:nvSpPr>
        <p:spPr>
          <a:xfrm xmlns:a="http://schemas.openxmlformats.org/drawingml/2006/main">
            <a:off x="566928" y="3877056"/>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SEQUENCING — WHAT HAPPENS AND IN WHAT ORDER</a:t>
            </a:r>
            <a:endParaRPr sz="800"/>
          </a:p>
        </p:txBody>
      </p:sp>
      <p:sp>
        <p:nvSpPr>
          <p:cNvPr id="13" name="Shape 11">
            <a:extLst xmlns:a="http://schemas.openxmlformats.org/drawingml/2006/main">
              <a:ext uri="{FF2B5EF4-FFF2-40B4-BE49-F238E27FC236}">
                <a16:creationId xmlns:a16="http://schemas.microsoft.com/office/drawing/2014/main" id="{C157CACF-A86B-4548-8C5F-82FEF9C9EE18}"/>
              </a:ext>
            </a:extLst>
          </p:cNvPr>
          <p:cNvSpPr>
            <a:spLocks xmlns:a="http://schemas.openxmlformats.org/drawingml/2006/main" noGrp="1"/>
          </p:cNvSpPr>
          <p:nvPr/>
        </p:nvSpPr>
        <p:spPr>
          <a:xfrm xmlns:a="http://schemas.openxmlformats.org/drawingml/2006/main">
            <a:off x="566928" y="4114800"/>
            <a:ext cx="2123785" cy="1572768"/>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3A67DA59-013A-470E-9266-311C18A9CA4F}"/>
              </a:ext>
            </a:extLst>
          </p:cNvPr>
          <p:cNvSpPr>
            <a:spLocks xmlns:a="http://schemas.openxmlformats.org/drawingml/2006/main" noGrp="1"/>
          </p:cNvSpPr>
          <p:nvPr/>
        </p:nvSpPr>
        <p:spPr>
          <a:xfrm xmlns:a="http://schemas.openxmlformats.org/drawingml/2006/main">
            <a:off x="713232" y="4224528"/>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01</a:t>
            </a:r>
            <a:endParaRPr sz="840"/>
          </a:p>
        </p:txBody>
      </p:sp>
      <p:sp>
        <p:nvSpPr>
          <p:cNvPr id="15" name="Text 13">
            <a:extLst xmlns:a="http://schemas.openxmlformats.org/drawingml/2006/main">
              <a:ext uri="{FF2B5EF4-FFF2-40B4-BE49-F238E27FC236}">
                <a16:creationId xmlns:a16="http://schemas.microsoft.com/office/drawing/2014/main" id="{D0F398BC-E5D4-4FE3-AFF6-D401DA67E3DA}"/>
              </a:ext>
            </a:extLst>
          </p:cNvPr>
          <p:cNvSpPr>
            <a:spLocks xmlns:a="http://schemas.openxmlformats.org/drawingml/2006/main" noGrp="1"/>
          </p:cNvSpPr>
          <p:nvPr/>
        </p:nvSpPr>
        <p:spPr>
          <a:xfrm xmlns:a="http://schemas.openxmlformats.org/drawingml/2006/main">
            <a:off x="713232" y="4425696"/>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Regulatory pre-engagement</a:t>
            </a:r>
            <a:endParaRPr sz="1000"/>
          </a:p>
        </p:txBody>
      </p:sp>
      <p:sp>
        <p:nvSpPr>
          <p:cNvPr id="16" name="Text 14">
            <a:extLst xmlns:a="http://schemas.openxmlformats.org/drawingml/2006/main">
              <a:ext uri="{FF2B5EF4-FFF2-40B4-BE49-F238E27FC236}">
                <a16:creationId xmlns:a16="http://schemas.microsoft.com/office/drawing/2014/main" id="{7BA9618E-6D6E-4E02-BE14-771AF9A4D430}"/>
              </a:ext>
            </a:extLst>
          </p:cNvPr>
          <p:cNvSpPr>
            <a:spLocks xmlns:a="http://schemas.openxmlformats.org/drawingml/2006/main" noGrp="1"/>
          </p:cNvSpPr>
          <p:nvPr/>
        </p:nvSpPr>
        <p:spPr>
          <a:xfrm xmlns:a="http://schemas.openxmlformats.org/drawingml/2006/main">
            <a:off x="713232" y="4846320"/>
            <a:ext cx="183117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Present the isolation design and regional precedent to both supervisors. Gating action — nothing else starts until this returns.</a:t>
            </a:r>
            <a:endParaRPr sz="860"/>
          </a:p>
        </p:txBody>
      </p:sp>
      <p:sp>
        <p:nvSpPr>
          <p:cNvPr id="17" name="Shape 15">
            <a:extLst xmlns:a="http://schemas.openxmlformats.org/drawingml/2006/main">
              <a:ext uri="{FF2B5EF4-FFF2-40B4-BE49-F238E27FC236}">
                <a16:creationId xmlns:a16="http://schemas.microsoft.com/office/drawing/2014/main" id="{F0F8B419-592B-4315-B1B3-C695040D7378}"/>
              </a:ext>
            </a:extLst>
          </p:cNvPr>
          <p:cNvSpPr>
            <a:spLocks xmlns:a="http://schemas.openxmlformats.org/drawingml/2006/main" noGrp="1"/>
          </p:cNvSpPr>
          <p:nvPr/>
        </p:nvSpPr>
        <p:spPr>
          <a:xfrm xmlns:a="http://schemas.openxmlformats.org/drawingml/2006/main">
            <a:off x="2800441" y="4114800"/>
            <a:ext cx="2123785" cy="1572768"/>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AEAF20E7-2231-4979-BE84-E0D5B6518D78}"/>
              </a:ext>
            </a:extLst>
          </p:cNvPr>
          <p:cNvSpPr>
            <a:spLocks xmlns:a="http://schemas.openxmlformats.org/drawingml/2006/main" noGrp="1"/>
          </p:cNvSpPr>
          <p:nvPr/>
        </p:nvSpPr>
        <p:spPr>
          <a:xfrm xmlns:a="http://schemas.openxmlformats.org/drawingml/2006/main">
            <a:off x="2946745" y="4224528"/>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9" name="Text 17">
            <a:extLst xmlns:a="http://schemas.openxmlformats.org/drawingml/2006/main">
              <a:ext uri="{FF2B5EF4-FFF2-40B4-BE49-F238E27FC236}">
                <a16:creationId xmlns:a16="http://schemas.microsoft.com/office/drawing/2014/main" id="{5E5178C4-F802-4050-9FA0-26856BB4A02D}"/>
              </a:ext>
            </a:extLst>
          </p:cNvPr>
          <p:cNvSpPr>
            <a:spLocks xmlns:a="http://schemas.openxmlformats.org/drawingml/2006/main" noGrp="1"/>
          </p:cNvSpPr>
          <p:nvPr/>
        </p:nvSpPr>
        <p:spPr>
          <a:xfrm xmlns:a="http://schemas.openxmlformats.org/drawingml/2006/main">
            <a:off x="2946745" y="4425696"/>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Tenancy design sign-off</a:t>
            </a:r>
            <a:endParaRPr sz="1000"/>
          </a:p>
        </p:txBody>
      </p:sp>
      <p:sp>
        <p:nvSpPr>
          <p:cNvPr id="20" name="Text 18">
            <a:extLst xmlns:a="http://schemas.openxmlformats.org/drawingml/2006/main">
              <a:ext uri="{FF2B5EF4-FFF2-40B4-BE49-F238E27FC236}">
                <a16:creationId xmlns:a16="http://schemas.microsoft.com/office/drawing/2014/main" id="{FF9D20F6-8E93-410C-B39D-E1AFCB412704}"/>
              </a:ext>
            </a:extLst>
          </p:cNvPr>
          <p:cNvSpPr>
            <a:spLocks xmlns:a="http://schemas.openxmlformats.org/drawingml/2006/main" noGrp="1"/>
          </p:cNvSpPr>
          <p:nvPr/>
        </p:nvSpPr>
        <p:spPr>
          <a:xfrm xmlns:a="http://schemas.openxmlformats.org/drawingml/2006/main">
            <a:off x="2946745" y="4846320"/>
            <a:ext cx="183117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Data-access-layer enforcement, cross-tenant test suite and independent penetration test scoped and agreed.</a:t>
            </a:r>
            <a:endParaRPr sz="860"/>
          </a:p>
        </p:txBody>
      </p:sp>
      <p:sp>
        <p:nvSpPr>
          <p:cNvPr id="21" name="Shape 19">
            <a:extLst xmlns:a="http://schemas.openxmlformats.org/drawingml/2006/main">
              <a:ext uri="{FF2B5EF4-FFF2-40B4-BE49-F238E27FC236}">
                <a16:creationId xmlns:a16="http://schemas.microsoft.com/office/drawing/2014/main" id="{798B9132-7618-4B1B-B7F1-D79302401C4C}"/>
              </a:ext>
            </a:extLst>
          </p:cNvPr>
          <p:cNvSpPr>
            <a:spLocks xmlns:a="http://schemas.openxmlformats.org/drawingml/2006/main" noGrp="1"/>
          </p:cNvSpPr>
          <p:nvPr/>
        </p:nvSpPr>
        <p:spPr>
          <a:xfrm xmlns:a="http://schemas.openxmlformats.org/drawingml/2006/main">
            <a:off x="5033955" y="4114800"/>
            <a:ext cx="2123785" cy="1572768"/>
          </a:xfrm>
          <a:prstGeom xmlns:a="http://schemas.openxmlformats.org/drawingml/2006/main" prst="rect">
            <a:avLst/>
          </a:prstGeom>
          <a:solidFill xmlns:a="http://schemas.openxmlformats.org/drawingml/2006/main">
            <a:srgbClr val="F0F4F8"/>
          </a:solidFill>
        </p:spPr>
      </p:sp>
      <p:sp>
        <p:nvSpPr>
          <p:cNvPr id="22" name="Text 20">
            <a:extLst xmlns:a="http://schemas.openxmlformats.org/drawingml/2006/main">
              <a:ext uri="{FF2B5EF4-FFF2-40B4-BE49-F238E27FC236}">
                <a16:creationId xmlns:a16="http://schemas.microsoft.com/office/drawing/2014/main" id="{1D48A534-ED07-4F53-8E78-A1B5F5596EE7}"/>
              </a:ext>
            </a:extLst>
          </p:cNvPr>
          <p:cNvSpPr>
            <a:spLocks xmlns:a="http://schemas.openxmlformats.org/drawingml/2006/main" noGrp="1"/>
          </p:cNvSpPr>
          <p:nvPr/>
        </p:nvSpPr>
        <p:spPr>
          <a:xfrm xmlns:a="http://schemas.openxmlformats.org/drawingml/2006/main">
            <a:off x="5180259" y="4224528"/>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23" name="Text 21">
            <a:extLst xmlns:a="http://schemas.openxmlformats.org/drawingml/2006/main">
              <a:ext uri="{FF2B5EF4-FFF2-40B4-BE49-F238E27FC236}">
                <a16:creationId xmlns:a16="http://schemas.microsoft.com/office/drawing/2014/main" id="{C5FE6B21-B8C8-41F1-B37E-33C9D8968931}"/>
              </a:ext>
            </a:extLst>
          </p:cNvPr>
          <p:cNvSpPr>
            <a:spLocks xmlns:a="http://schemas.openxmlformats.org/drawingml/2006/main" noGrp="1"/>
          </p:cNvSpPr>
          <p:nvPr/>
        </p:nvSpPr>
        <p:spPr>
          <a:xfrm xmlns:a="http://schemas.openxmlformats.org/drawingml/2006/main">
            <a:off x="5180259" y="4425696"/>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Home market build</a:t>
            </a:r>
            <a:endParaRPr sz="1000"/>
          </a:p>
        </p:txBody>
      </p:sp>
      <p:sp>
        <p:nvSpPr>
          <p:cNvPr id="24" name="Text 22">
            <a:extLst xmlns:a="http://schemas.openxmlformats.org/drawingml/2006/main">
              <a:ext uri="{FF2B5EF4-FFF2-40B4-BE49-F238E27FC236}">
                <a16:creationId xmlns:a16="http://schemas.microsoft.com/office/drawing/2014/main" id="{2CD5BA2A-9AE3-4A89-B58E-58060DC57406}"/>
              </a:ext>
            </a:extLst>
          </p:cNvPr>
          <p:cNvSpPr>
            <a:spLocks xmlns:a="http://schemas.openxmlformats.org/drawingml/2006/main" noGrp="1"/>
          </p:cNvSpPr>
          <p:nvPr/>
        </p:nvSpPr>
        <p:spPr>
          <a:xfrm xmlns:a="http://schemas.openxmlformats.org/drawingml/2006/main">
            <a:off x="5180259" y="4846320"/>
            <a:ext cx="183117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Largest market first, single tenant in effect until the second joins the shared application.</a:t>
            </a:r>
            <a:endParaRPr sz="860"/>
          </a:p>
        </p:txBody>
      </p:sp>
      <p:sp>
        <p:nvSpPr>
          <p:cNvPr id="25" name="Shape 23">
            <a:extLst xmlns:a="http://schemas.openxmlformats.org/drawingml/2006/main">
              <a:ext uri="{FF2B5EF4-FFF2-40B4-BE49-F238E27FC236}">
                <a16:creationId xmlns:a16="http://schemas.microsoft.com/office/drawing/2014/main" id="{9F875C20-CAF5-4872-AC52-F4301BB00CC1}"/>
              </a:ext>
            </a:extLst>
          </p:cNvPr>
          <p:cNvSpPr>
            <a:spLocks xmlns:a="http://schemas.openxmlformats.org/drawingml/2006/main" noGrp="1"/>
          </p:cNvSpPr>
          <p:nvPr/>
        </p:nvSpPr>
        <p:spPr>
          <a:xfrm xmlns:a="http://schemas.openxmlformats.org/drawingml/2006/main">
            <a:off x="7267468" y="4114800"/>
            <a:ext cx="2123785" cy="1572768"/>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FE96EF75-F9D3-4523-94AF-3CA8ADCF886D}"/>
              </a:ext>
            </a:extLst>
          </p:cNvPr>
          <p:cNvSpPr>
            <a:spLocks xmlns:a="http://schemas.openxmlformats.org/drawingml/2006/main" noGrp="1"/>
          </p:cNvSpPr>
          <p:nvPr/>
        </p:nvSpPr>
        <p:spPr>
          <a:xfrm xmlns:a="http://schemas.openxmlformats.org/drawingml/2006/main">
            <a:off x="7413772" y="4224528"/>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27" name="Text 25">
            <a:extLst xmlns:a="http://schemas.openxmlformats.org/drawingml/2006/main">
              <a:ext uri="{FF2B5EF4-FFF2-40B4-BE49-F238E27FC236}">
                <a16:creationId xmlns:a16="http://schemas.microsoft.com/office/drawing/2014/main" id="{639C78AB-28F4-456B-9F72-0B561DD7FF61}"/>
              </a:ext>
            </a:extLst>
          </p:cNvPr>
          <p:cNvSpPr>
            <a:spLocks xmlns:a="http://schemas.openxmlformats.org/drawingml/2006/main" noGrp="1"/>
          </p:cNvSpPr>
          <p:nvPr/>
        </p:nvSpPr>
        <p:spPr>
          <a:xfrm xmlns:a="http://schemas.openxmlformats.org/drawingml/2006/main">
            <a:off x="7413772" y="4425696"/>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Regional hub onboarding</a:t>
            </a:r>
            <a:endParaRPr sz="1000"/>
          </a:p>
        </p:txBody>
      </p:sp>
      <p:sp>
        <p:nvSpPr>
          <p:cNvPr id="28" name="Text 26">
            <a:extLst xmlns:a="http://schemas.openxmlformats.org/drawingml/2006/main">
              <a:ext uri="{FF2B5EF4-FFF2-40B4-BE49-F238E27FC236}">
                <a16:creationId xmlns:a16="http://schemas.microsoft.com/office/drawing/2014/main" id="{39026509-9074-4CB5-9A71-1F0A09A8528F}"/>
              </a:ext>
            </a:extLst>
          </p:cNvPr>
          <p:cNvSpPr>
            <a:spLocks xmlns:a="http://schemas.openxmlformats.org/drawingml/2006/main" noGrp="1"/>
          </p:cNvSpPr>
          <p:nvPr/>
        </p:nvSpPr>
        <p:spPr>
          <a:xfrm xmlns:a="http://schemas.openxmlformats.org/drawingml/2006/main">
            <a:off x="7413772" y="4846320"/>
            <a:ext cx="183117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Second market joins as a tenant. This is the first real test of the consolidated model in production.</a:t>
            </a:r>
            <a:endParaRPr sz="860"/>
          </a:p>
        </p:txBody>
      </p:sp>
      <p:sp>
        <p:nvSpPr>
          <p:cNvPr id="29" name="Shape 27">
            <a:extLst xmlns:a="http://schemas.openxmlformats.org/drawingml/2006/main">
              <a:ext uri="{FF2B5EF4-FFF2-40B4-BE49-F238E27FC236}">
                <a16:creationId xmlns:a16="http://schemas.microsoft.com/office/drawing/2014/main" id="{9D36D343-1A0F-4EC1-B8DA-C673B008497C}"/>
              </a:ext>
            </a:extLst>
          </p:cNvPr>
          <p:cNvSpPr>
            <a:spLocks xmlns:a="http://schemas.openxmlformats.org/drawingml/2006/main" noGrp="1"/>
          </p:cNvSpPr>
          <p:nvPr/>
        </p:nvSpPr>
        <p:spPr>
          <a:xfrm xmlns:a="http://schemas.openxmlformats.org/drawingml/2006/main">
            <a:off x="9500982" y="4114800"/>
            <a:ext cx="2123785" cy="1572768"/>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2DDEBFBB-FAF5-466B-9EF9-CAE01C331C95}"/>
              </a:ext>
            </a:extLst>
          </p:cNvPr>
          <p:cNvSpPr>
            <a:spLocks xmlns:a="http://schemas.openxmlformats.org/drawingml/2006/main" noGrp="1"/>
          </p:cNvSpPr>
          <p:nvPr/>
        </p:nvSpPr>
        <p:spPr>
          <a:xfrm xmlns:a="http://schemas.openxmlformats.org/drawingml/2006/main">
            <a:off x="9647286" y="4224528"/>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31" name="Text 29">
            <a:extLst xmlns:a="http://schemas.openxmlformats.org/drawingml/2006/main">
              <a:ext uri="{FF2B5EF4-FFF2-40B4-BE49-F238E27FC236}">
                <a16:creationId xmlns:a16="http://schemas.microsoft.com/office/drawing/2014/main" id="{E407E8A3-6015-4077-BCF4-0393A3E73D04}"/>
              </a:ext>
            </a:extLst>
          </p:cNvPr>
          <p:cNvSpPr>
            <a:spLocks xmlns:a="http://schemas.openxmlformats.org/drawingml/2006/main" noGrp="1"/>
          </p:cNvSpPr>
          <p:nvPr/>
        </p:nvSpPr>
        <p:spPr>
          <a:xfrm xmlns:a="http://schemas.openxmlformats.org/drawingml/2006/main">
            <a:off x="9647286" y="4425696"/>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Third market, isolated</a:t>
            </a:r>
            <a:endParaRPr sz="1000"/>
          </a:p>
        </p:txBody>
      </p:sp>
      <p:sp>
        <p:nvSpPr>
          <p:cNvPr id="32" name="Text 30">
            <a:extLst xmlns:a="http://schemas.openxmlformats.org/drawingml/2006/main">
              <a:ext uri="{FF2B5EF4-FFF2-40B4-BE49-F238E27FC236}">
                <a16:creationId xmlns:a16="http://schemas.microsoft.com/office/drawing/2014/main" id="{E31E0A97-11A7-4D54-B61B-48385710BBE3}"/>
              </a:ext>
            </a:extLst>
          </p:cNvPr>
          <p:cNvSpPr>
            <a:spLocks xmlns:a="http://schemas.openxmlformats.org/drawingml/2006/main" noGrp="1"/>
          </p:cNvSpPr>
          <p:nvPr/>
        </p:nvSpPr>
        <p:spPr>
          <a:xfrm xmlns:a="http://schemas.openxmlformats.org/drawingml/2006/main">
            <a:off x="9647286" y="4846320"/>
            <a:ext cx="1831177" cy="7498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Deployed independently under its own residency regime, unaffected by the tenancy decision.</a:t>
            </a:r>
            <a:endParaRPr sz="860"/>
          </a:p>
        </p:txBody>
      </p:sp>
      <p:sp>
        <p:nvSpPr>
          <p:cNvPr id="33" name="Shape 31">
            <a:extLst xmlns:a="http://schemas.openxmlformats.org/drawingml/2006/main">
              <a:ext uri="{FF2B5EF4-FFF2-40B4-BE49-F238E27FC236}">
                <a16:creationId xmlns:a16="http://schemas.microsoft.com/office/drawing/2014/main" id="{A9F1DEE4-13F5-4146-98C3-AFCEA7EDE0A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B78C3EED-1958-4125-87CF-12A9F3E684C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deployment analysis, prepared for executive decision</a:t>
            </a:r>
            <a:endParaRPr sz="850"/>
          </a:p>
        </p:txBody>
      </p:sp>
      <p:sp>
        <p:nvSpPr>
          <p:cNvPr id="35" name="Text 33">
            <a:extLst xmlns:a="http://schemas.openxmlformats.org/drawingml/2006/main">
              <a:ext uri="{FF2B5EF4-FFF2-40B4-BE49-F238E27FC236}">
                <a16:creationId xmlns:a16="http://schemas.microsoft.com/office/drawing/2014/main" id="{DC1DDC96-6DB8-424F-A3CA-EACE3E15F4D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10</a:t>
            </a:r>
            <a:endParaRPr sz="850"/>
          </a:p>
        </p:txBody>
      </p:sp>
    </p:spTree>
    <p:extLst>
      <p:ext uri="{BB962C8B-B14F-4D97-AF65-F5344CB8AC3E}">
        <p14:creationId xmlns:p14="http://schemas.microsoft.com/office/powerpoint/2010/main" val="1567742745"/>
      </p:ext>
    </p:extLst>
  </p:cSld>
</p:sld>
</file>

<file path=ppt/slides/slide2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9E9D6C-CAE8-4E6C-9639-5366EDCD0CF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FAECFDA6-CF28-437F-A444-B04C4B2E757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making an irreversible architecture decision defensible</a:t>
            </a:r>
            <a:endParaRPr sz="1900"/>
          </a:p>
        </p:txBody>
      </p:sp>
      <p:sp>
        <p:nvSpPr>
          <p:cNvPr id="4" name="Text 2">
            <a:extLst xmlns:a="http://schemas.openxmlformats.org/drawingml/2006/main">
              <a:ext uri="{FF2B5EF4-FFF2-40B4-BE49-F238E27FC236}">
                <a16:creationId xmlns:a16="http://schemas.microsoft.com/office/drawing/2014/main" id="{AE7B15E5-033C-446E-A0E5-424E241A9A55}"/>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8BE3B2D2-F4AC-454D-8A2C-5D699C3326D2}"/>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Filter on constraints before you score</a:t>
            </a:r>
            <a:endParaRPr sz="1200"/>
          </a:p>
        </p:txBody>
      </p:sp>
      <p:sp>
        <p:nvSpPr>
          <p:cNvPr id="6" name="Text 4">
            <a:extLst xmlns:a="http://schemas.openxmlformats.org/drawingml/2006/main">
              <a:ext uri="{FF2B5EF4-FFF2-40B4-BE49-F238E27FC236}">
                <a16:creationId xmlns:a16="http://schemas.microsoft.com/office/drawing/2014/main" id="{46D72E78-EECA-4345-9B43-BC43B3C64D4C}"/>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Hard constraints are not scored dimensions. Putting them into a weighted scorecard invites people to trade away something that was never tradeable, and turns a decision into a negotiation.</a:t>
            </a:r>
            <a:endParaRPr sz="1000"/>
          </a:p>
        </p:txBody>
      </p:sp>
      <p:sp>
        <p:nvSpPr>
          <p:cNvPr id="7" name="Shape 5">
            <a:extLst xmlns:a="http://schemas.openxmlformats.org/drawingml/2006/main">
              <a:ext uri="{FF2B5EF4-FFF2-40B4-BE49-F238E27FC236}">
                <a16:creationId xmlns:a16="http://schemas.microsoft.com/office/drawing/2014/main" id="{EDA3CA7D-7134-408C-805F-1947AD8B6478}"/>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84EFE54A-CE40-4E8A-B190-76E8B1D68D74}"/>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E4028A26-941D-4CB7-ABCE-8B6D60F83EEB}"/>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Reduce the decision to one variable</a:t>
            </a:r>
            <a:endParaRPr sz="1200"/>
          </a:p>
        </p:txBody>
      </p:sp>
      <p:sp>
        <p:nvSpPr>
          <p:cNvPr id="10" name="Text 8">
            <a:extLst xmlns:a="http://schemas.openxmlformats.org/drawingml/2006/main">
              <a:ext uri="{FF2B5EF4-FFF2-40B4-BE49-F238E27FC236}">
                <a16:creationId xmlns:a16="http://schemas.microsoft.com/office/drawing/2014/main" id="{4961193C-38D7-434C-B864-6FC645E30F29}"/>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Nine options is a debate. Once both survivors are identical on every hard requirement, the decision has exactly one variable in it — and an executive can actually take it.</a:t>
            </a:r>
            <a:endParaRPr sz="1000"/>
          </a:p>
        </p:txBody>
      </p:sp>
      <p:sp>
        <p:nvSpPr>
          <p:cNvPr id="11" name="Shape 9">
            <a:extLst xmlns:a="http://schemas.openxmlformats.org/drawingml/2006/main">
              <a:ext uri="{FF2B5EF4-FFF2-40B4-BE49-F238E27FC236}">
                <a16:creationId xmlns:a16="http://schemas.microsoft.com/office/drawing/2014/main" id="{38CAFAD5-882E-4526-B2F8-08EC50051BD0}"/>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393D9F3C-A049-4900-8801-314F7056AF15}"/>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6E650222-DC2B-44F5-9F60-37BE34FD361C}"/>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Name what the losing option genuinely wins</a:t>
            </a:r>
            <a:endParaRPr sz="1200"/>
          </a:p>
        </p:txBody>
      </p:sp>
      <p:sp>
        <p:nvSpPr>
          <p:cNvPr id="14" name="Text 12">
            <a:extLst xmlns:a="http://schemas.openxmlformats.org/drawingml/2006/main">
              <a:ext uri="{FF2B5EF4-FFF2-40B4-BE49-F238E27FC236}">
                <a16:creationId xmlns:a16="http://schemas.microsoft.com/office/drawing/2014/main" id="{1F76FD51-F0DD-4A3B-9945-6EB94F93830A}"/>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Every real option has a real advantage. Stating Option 1's simpler regulatory narrative is what separates a decision brief from advocacy, and it is what makes the recommendation trusted.</a:t>
            </a:r>
            <a:endParaRPr sz="1000"/>
          </a:p>
        </p:txBody>
      </p:sp>
      <p:sp>
        <p:nvSpPr>
          <p:cNvPr id="15" name="Shape 13">
            <a:extLst xmlns:a="http://schemas.openxmlformats.org/drawingml/2006/main">
              <a:ext uri="{FF2B5EF4-FFF2-40B4-BE49-F238E27FC236}">
                <a16:creationId xmlns:a16="http://schemas.microsoft.com/office/drawing/2014/main" id="{03CF8C64-8524-4D97-AF5A-64A98E747CA1}"/>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CCF756CF-16B4-4AE6-9C52-A108AC38F1BD}"/>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4F5E3E41-8DD7-465E-BFE8-C16A75936EFA}"/>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the deciding risk a gate, not a task</a:t>
            </a:r>
            <a:endParaRPr sz="1200"/>
          </a:p>
        </p:txBody>
      </p:sp>
      <p:sp>
        <p:nvSpPr>
          <p:cNvPr id="18" name="Text 16">
            <a:extLst xmlns:a="http://schemas.openxmlformats.org/drawingml/2006/main">
              <a:ext uri="{FF2B5EF4-FFF2-40B4-BE49-F238E27FC236}">
                <a16:creationId xmlns:a16="http://schemas.microsoft.com/office/drawing/2014/main" id="{C5FAE02D-2FC0-456A-96E2-AA54DB0F532C}"/>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 risk that could invalidate the recommendation belongs before approval, with the fallback held open — not in an implementation plan written after the decision is announced.</a:t>
            </a:r>
            <a:endParaRPr sz="1000"/>
          </a:p>
        </p:txBody>
      </p:sp>
      <p:sp>
        <p:nvSpPr>
          <p:cNvPr id="19" name="Shape 17">
            <a:extLst xmlns:a="http://schemas.openxmlformats.org/drawingml/2006/main">
              <a:ext uri="{FF2B5EF4-FFF2-40B4-BE49-F238E27FC236}">
                <a16:creationId xmlns:a16="http://schemas.microsoft.com/office/drawing/2014/main" id="{3E465B1B-5076-4727-BBE5-75FA0EF71481}"/>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97F28D01-486A-4E52-B29C-549B67D8C782}"/>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framework, not the answer, is what transfers. Nine to two to one variable, scored against agreed criteria, with the deciding risk gated before approval — that shape works for any irreversible architecture choice.</a:t>
            </a:r>
            <a:endParaRPr sz="1200"/>
          </a:p>
        </p:txBody>
      </p:sp>
      <p:sp>
        <p:nvSpPr>
          <p:cNvPr id="21" name="Shape 19">
            <a:extLst xmlns:a="http://schemas.openxmlformats.org/drawingml/2006/main">
              <a:ext uri="{FF2B5EF4-FFF2-40B4-BE49-F238E27FC236}">
                <a16:creationId xmlns:a16="http://schemas.microsoft.com/office/drawing/2014/main" id="{27B84029-3609-4CD4-8975-F4ACAA5053A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2715B9C0-76A7-4D5A-8960-4DACE650753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deployment analysis, prepared for executive decision</a:t>
            </a:r>
            <a:endParaRPr sz="850"/>
          </a:p>
        </p:txBody>
      </p:sp>
      <p:sp>
        <p:nvSpPr>
          <p:cNvPr id="23" name="Text 21">
            <a:extLst xmlns:a="http://schemas.openxmlformats.org/drawingml/2006/main">
              <a:ext uri="{FF2B5EF4-FFF2-40B4-BE49-F238E27FC236}">
                <a16:creationId xmlns:a16="http://schemas.microsoft.com/office/drawing/2014/main" id="{D26411FC-9D94-4B7F-A2E6-304BA297551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11</a:t>
            </a:r>
            <a:endParaRPr sz="850"/>
          </a:p>
        </p:txBody>
      </p:sp>
    </p:spTree>
    <p:extLst>
      <p:ext uri="{BB962C8B-B14F-4D97-AF65-F5344CB8AC3E}">
        <p14:creationId xmlns:p14="http://schemas.microsoft.com/office/powerpoint/2010/main" val="1161042772"/>
      </p:ext>
    </p:extLst>
  </p:cSld>
</p:sld>
</file>

<file path=ppt/slides/slide228.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5AACBB7-37CD-4F40-9350-1FED18EA07E3}"/>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COMPLIANCE ARCHITECTURE  ·  21 OF 30</a:t>
            </a:r>
            <a:endParaRPr sz="950"/>
          </a:p>
        </p:txBody>
      </p:sp>
      <p:sp>
        <p:nvSpPr>
          <p:cNvPr id="3" name="Text 1">
            <a:extLst xmlns:a="http://schemas.openxmlformats.org/drawingml/2006/main">
              <a:ext uri="{FF2B5EF4-FFF2-40B4-BE49-F238E27FC236}">
                <a16:creationId xmlns:a16="http://schemas.microsoft.com/office/drawing/2014/main" id="{0BCB866E-261F-4991-8829-D24C182D1707}"/>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Maybank</a:t>
            </a:r>
            <a:endParaRPr sz="3800"/>
          </a:p>
        </p:txBody>
      </p:sp>
      <p:sp>
        <p:nvSpPr>
          <p:cNvPr id="4" name="Text 2">
            <a:extLst xmlns:a="http://schemas.openxmlformats.org/drawingml/2006/main">
              <a:ext uri="{FF2B5EF4-FFF2-40B4-BE49-F238E27FC236}">
                <a16:creationId xmlns:a16="http://schemas.microsoft.com/office/drawing/2014/main" id="{EAAB4483-79E8-41A7-B5F4-F8F01F08A8E3}"/>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One architecture, three regulators — designing for the strictest and relaxing by exception</a:t>
            </a:r>
            <a:endParaRPr sz="1800"/>
          </a:p>
        </p:txBody>
      </p:sp>
      <p:sp>
        <p:nvSpPr>
          <p:cNvPr id="5" name="Text 3">
            <a:extLst xmlns:a="http://schemas.openxmlformats.org/drawingml/2006/main">
              <a:ext uri="{FF2B5EF4-FFF2-40B4-BE49-F238E27FC236}">
                <a16:creationId xmlns:a16="http://schemas.microsoft.com/office/drawing/2014/main" id="{C365B10D-CD26-4DEA-8651-138BF6402EF7}"/>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single CRM platform serving three ASEAN jurisdictions has to satisfy three supervisors simultaneously, not sequentially. The design rule that follows is counter-intuitive and expensive to discover late.</a:t>
            </a:r>
            <a:endParaRPr sz="1150"/>
          </a:p>
        </p:txBody>
      </p:sp>
      <p:sp>
        <p:nvSpPr>
          <p:cNvPr id="6" name="Shape 4">
            <a:extLst xmlns:a="http://schemas.openxmlformats.org/drawingml/2006/main">
              <a:ext uri="{FF2B5EF4-FFF2-40B4-BE49-F238E27FC236}">
                <a16:creationId xmlns:a16="http://schemas.microsoft.com/office/drawing/2014/main" id="{B1FCF0A5-4788-4716-8483-603A0CECF934}"/>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F77834CC-BCE8-404F-9DB0-16B235A055DE}"/>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8" name="Text 6">
            <a:extLst xmlns:a="http://schemas.openxmlformats.org/drawingml/2006/main">
              <a:ext uri="{FF2B5EF4-FFF2-40B4-BE49-F238E27FC236}">
                <a16:creationId xmlns:a16="http://schemas.microsoft.com/office/drawing/2014/main" id="{902B81B5-84D8-408E-AF2E-AF46441EAC85}"/>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supervisors, one</a:t>
            </a:r>
            <a:endParaRPr sz="900"/>
          </a:p>
          <a:p xmlns:a="http://schemas.openxmlformats.org/drawingml/2006/main">
            <a:pPr marL="0" indent="0">
              <a:lnSpc>
                <a:spcPts val="1100"/>
              </a:lnSpc>
              <a:buNone/>
            </a:pPr>
            <a:r>
              <a:rPr sz="900">
                <a:solidFill>
                  <a:srgbClr val="8FA9C4"/>
                </a:solidFill>
                <a:latin typeface="Arial"/>
                <a:ea typeface="Arial"/>
                <a:cs typeface="Arial"/>
              </a:rPr>
              <a:t>architecture</a:t>
            </a:r>
            <a:endParaRPr sz="900"/>
          </a:p>
        </p:txBody>
      </p:sp>
      <p:sp>
        <p:nvSpPr>
          <p:cNvPr id="9" name="Text 7">
            <a:extLst xmlns:a="http://schemas.openxmlformats.org/drawingml/2006/main">
              <a:ext uri="{FF2B5EF4-FFF2-40B4-BE49-F238E27FC236}">
                <a16:creationId xmlns:a16="http://schemas.microsoft.com/office/drawing/2014/main" id="{0805D3B5-1205-4DA2-98AE-E267EAD0AF1E}"/>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a:t>
            </a:r>
            <a:endParaRPr sz="2600"/>
          </a:p>
        </p:txBody>
      </p:sp>
      <p:sp>
        <p:nvSpPr>
          <p:cNvPr id="10" name="Text 8">
            <a:extLst xmlns:a="http://schemas.openxmlformats.org/drawingml/2006/main">
              <a:ext uri="{FF2B5EF4-FFF2-40B4-BE49-F238E27FC236}">
                <a16:creationId xmlns:a16="http://schemas.microsoft.com/office/drawing/2014/main" id="{11221D33-5633-4851-BF23-D61FB91FA8F3}"/>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verticals, different</a:t>
            </a:r>
            <a:endParaRPr sz="900"/>
          </a:p>
          <a:p xmlns:a="http://schemas.openxmlformats.org/drawingml/2006/main">
            <a:pPr marL="0" indent="0">
              <a:lnSpc>
                <a:spcPts val="1100"/>
              </a:lnSpc>
              <a:buNone/>
            </a:pPr>
            <a:r>
              <a:rPr sz="900">
                <a:solidFill>
                  <a:srgbClr val="8FA9C4"/>
                </a:solidFill>
                <a:latin typeface="Arial"/>
                <a:ea typeface="Arial"/>
                <a:cs typeface="Arial"/>
              </a:rPr>
              <a:t>governance</a:t>
            </a:r>
            <a:endParaRPr sz="900"/>
          </a:p>
        </p:txBody>
      </p:sp>
      <p:sp>
        <p:nvSpPr>
          <p:cNvPr id="11" name="Text 9">
            <a:extLst xmlns:a="http://schemas.openxmlformats.org/drawingml/2006/main">
              <a:ext uri="{FF2B5EF4-FFF2-40B4-BE49-F238E27FC236}">
                <a16:creationId xmlns:a16="http://schemas.microsoft.com/office/drawing/2014/main" id="{2C501901-27D6-4988-9E19-20F101DEB6EC}"/>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12" name="Text 10">
            <a:extLst xmlns:a="http://schemas.openxmlformats.org/drawingml/2006/main">
              <a:ext uri="{FF2B5EF4-FFF2-40B4-BE49-F238E27FC236}">
                <a16:creationId xmlns:a16="http://schemas.microsoft.com/office/drawing/2014/main" id="{794E1C9F-5C8D-49AD-861D-4F07C70E837A}"/>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control domains</a:t>
            </a:r>
            <a:endParaRPr sz="900"/>
          </a:p>
          <a:p xmlns:a="http://schemas.openxmlformats.org/drawingml/2006/main">
            <a:pPr marL="0" indent="0">
              <a:lnSpc>
                <a:spcPts val="1100"/>
              </a:lnSpc>
              <a:buNone/>
            </a:pPr>
            <a:r>
              <a:rPr sz="900">
                <a:solidFill>
                  <a:srgbClr val="8FA9C4"/>
                </a:solidFill>
                <a:latin typeface="Arial"/>
                <a:ea typeface="Arial"/>
                <a:cs typeface="Arial"/>
              </a:rPr>
              <a:t>to map</a:t>
            </a:r>
            <a:endParaRPr sz="900"/>
          </a:p>
        </p:txBody>
      </p:sp>
      <p:sp>
        <p:nvSpPr>
          <p:cNvPr id="13" name="Text 11">
            <a:extLst xmlns:a="http://schemas.openxmlformats.org/drawingml/2006/main">
              <a:ext uri="{FF2B5EF4-FFF2-40B4-BE49-F238E27FC236}">
                <a16:creationId xmlns:a16="http://schemas.microsoft.com/office/drawing/2014/main" id="{150C284C-FF70-413F-B0AA-455BCB81F2C7}"/>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4" name="Text 12">
            <a:extLst xmlns:a="http://schemas.openxmlformats.org/drawingml/2006/main">
              <a:ext uri="{FF2B5EF4-FFF2-40B4-BE49-F238E27FC236}">
                <a16:creationId xmlns:a16="http://schemas.microsoft.com/office/drawing/2014/main" id="{A378B614-C1D8-4CC3-9AD3-DA03D30444CB}"/>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non-negotiable</a:t>
            </a:r>
            <a:endParaRPr sz="900"/>
          </a:p>
          <a:p xmlns:a="http://schemas.openxmlformats.org/drawingml/2006/main">
            <a:pPr marL="0" indent="0">
              <a:lnSpc>
                <a:spcPts val="1100"/>
              </a:lnSpc>
              <a:buNone/>
            </a:pPr>
            <a:r>
              <a:rPr sz="900">
                <a:solidFill>
                  <a:srgbClr val="8FA9C4"/>
                </a:solidFill>
                <a:latin typeface="Arial"/>
                <a:ea typeface="Arial"/>
                <a:cs typeface="Arial"/>
              </a:rPr>
              <a:t>isolation rule</a:t>
            </a:r>
            <a:endParaRPr sz="900"/>
          </a:p>
        </p:txBody>
      </p:sp>
      <p:sp>
        <p:nvSpPr>
          <p:cNvPr id="15" name="Text 13">
            <a:extLst xmlns:a="http://schemas.openxmlformats.org/drawingml/2006/main">
              <a:ext uri="{FF2B5EF4-FFF2-40B4-BE49-F238E27FC236}">
                <a16:creationId xmlns:a16="http://schemas.microsoft.com/office/drawing/2014/main" id="{B682C10C-FEF6-43AA-9BDE-92630104328F}"/>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6" name="Text 14">
            <a:extLst xmlns:a="http://schemas.openxmlformats.org/drawingml/2006/main">
              <a:ext uri="{FF2B5EF4-FFF2-40B4-BE49-F238E27FC236}">
                <a16:creationId xmlns:a16="http://schemas.microsoft.com/office/drawing/2014/main" id="{A81AFF3E-AEF1-42DF-A958-61EF584FCE0D}"/>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residency decisions</a:t>
            </a:r>
            <a:endParaRPr sz="900"/>
          </a:p>
          <a:p xmlns:a="http://schemas.openxmlformats.org/drawingml/2006/main">
            <a:pPr marL="0" indent="0">
              <a:lnSpc>
                <a:spcPts val="1100"/>
              </a:lnSpc>
              <a:buNone/>
            </a:pPr>
            <a:r>
              <a:rPr sz="900">
                <a:solidFill>
                  <a:srgbClr val="8FA9C4"/>
                </a:solidFill>
                <a:latin typeface="Arial"/>
                <a:ea typeface="Arial"/>
                <a:cs typeface="Arial"/>
              </a:rPr>
              <a:t>that can be redone</a:t>
            </a:r>
            <a:endParaRPr sz="900"/>
          </a:p>
        </p:txBody>
      </p:sp>
      <p:sp>
        <p:nvSpPr>
          <p:cNvPr id="17" name="Text 15">
            <a:extLst xmlns:a="http://schemas.openxmlformats.org/drawingml/2006/main">
              <a:ext uri="{FF2B5EF4-FFF2-40B4-BE49-F238E27FC236}">
                <a16:creationId xmlns:a16="http://schemas.microsoft.com/office/drawing/2014/main" id="{6717BB7E-EA82-499E-BE58-EB8D4B4CB330}"/>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13,320</a:t>
            </a:r>
            <a:endParaRPr sz="2600"/>
          </a:p>
        </p:txBody>
      </p:sp>
      <p:sp>
        <p:nvSpPr>
          <p:cNvPr id="18" name="Text 16">
            <a:extLst xmlns:a="http://schemas.openxmlformats.org/drawingml/2006/main">
              <a:ext uri="{FF2B5EF4-FFF2-40B4-BE49-F238E27FC236}">
                <a16:creationId xmlns:a16="http://schemas.microsoft.com/office/drawing/2014/main" id="{6EEE231B-F9D2-4DBE-9ABD-4EDEF4EDA404}"/>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users across the</a:t>
            </a:r>
            <a:endParaRPr sz="900"/>
          </a:p>
          <a:p xmlns:a="http://schemas.openxmlformats.org/drawingml/2006/main">
            <a:pPr marL="0" indent="0">
              <a:lnSpc>
                <a:spcPts val="1100"/>
              </a:lnSpc>
              <a:buNone/>
            </a:pPr>
            <a:r>
              <a:rPr sz="900">
                <a:solidFill>
                  <a:srgbClr val="8FA9C4"/>
                </a:solidFill>
                <a:latin typeface="Arial"/>
                <a:ea typeface="Arial"/>
                <a:cs typeface="Arial"/>
              </a:rPr>
              <a:t>three markets</a:t>
            </a:r>
            <a:endParaRPr sz="900"/>
          </a:p>
        </p:txBody>
      </p:sp>
      <p:sp>
        <p:nvSpPr>
          <p:cNvPr id="19" name="Shape 17">
            <a:extLst xmlns:a="http://schemas.openxmlformats.org/drawingml/2006/main">
              <a:ext uri="{FF2B5EF4-FFF2-40B4-BE49-F238E27FC236}">
                <a16:creationId xmlns:a16="http://schemas.microsoft.com/office/drawing/2014/main" id="{B6A2809F-80AE-4CA8-8EB6-8A97794D4F50}"/>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2B184CC6-0BDA-4AC5-BB76-E119D4548BC6}"/>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JURISDICTIONAL SCOPE  ·  AS SET BY THE PROGRAMME</a:t>
            </a:r>
            <a:endParaRPr sz="800"/>
          </a:p>
        </p:txBody>
      </p:sp>
      <p:sp>
        <p:nvSpPr>
          <p:cNvPr id="21" name="Text 19">
            <a:extLst xmlns:a="http://schemas.openxmlformats.org/drawingml/2006/main">
              <a:ext uri="{FF2B5EF4-FFF2-40B4-BE49-F238E27FC236}">
                <a16:creationId xmlns:a16="http://schemas.microsoft.com/office/drawing/2014/main" id="{D1499626-1A9C-4889-BB99-9EC8A0C31952}"/>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Distinct residency and sovereignty regimes    ·    wholesale data physically separated    ·    cross-border customer data ring-fenced per jurisdiction</a:t>
            </a:r>
            <a:endParaRPr sz="1050"/>
          </a:p>
        </p:txBody>
      </p:sp>
      <p:sp>
        <p:nvSpPr>
          <p:cNvPr id="22" name="Text 20">
            <a:extLst xmlns:a="http://schemas.openxmlformats.org/drawingml/2006/main">
              <a:ext uri="{FF2B5EF4-FFF2-40B4-BE49-F238E27FC236}">
                <a16:creationId xmlns:a16="http://schemas.microsoft.com/office/drawing/2014/main" id="{E6479575-2584-4E07-B14C-8E8836E3B301}"/>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Compliance-architecture analysis authored for solution design  ·  2026</a:t>
            </a:r>
            <a:endParaRPr sz="1200"/>
          </a:p>
        </p:txBody>
      </p:sp>
      <p:sp>
        <p:nvSpPr>
          <p:cNvPr id="23" name="Text 21">
            <a:extLst xmlns:a="http://schemas.openxmlformats.org/drawingml/2006/main">
              <a:ext uri="{FF2B5EF4-FFF2-40B4-BE49-F238E27FC236}">
                <a16:creationId xmlns:a16="http://schemas.microsoft.com/office/drawing/2014/main" id="{AEA59C51-65EC-4ECA-881D-775886552113}"/>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Regulatory requirements are summarised at design level; this is architecture analysis, not legal or regulatory advice.</a:t>
            </a:r>
            <a:endParaRPr sz="850"/>
          </a:p>
        </p:txBody>
      </p:sp>
    </p:spTree>
    <p:extLst>
      <p:ext uri="{BB962C8B-B14F-4D97-AF65-F5344CB8AC3E}">
        <p14:creationId xmlns:p14="http://schemas.microsoft.com/office/powerpoint/2010/main" val="1551222151"/>
      </p:ext>
    </p:extLst>
  </p:cSld>
</p:sld>
</file>

<file path=ppt/slides/slide22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2CBC4B-030E-4E8A-B7D2-ADCB1C26B82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E039035E-8ABD-4579-BDCA-E7C27A4D60A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supervisors must be satisfied at the same time by one architecture — which</a:t>
            </a:r>
            <a:endParaRPr sz="1900"/>
          </a:p>
          <a:p xmlns:a="http://schemas.openxmlformats.org/drawingml/2006/main">
            <a:pPr marL="0" indent="0">
              <a:lnSpc>
                <a:spcPts val="2400"/>
              </a:lnSpc>
              <a:buNone/>
            </a:pPr>
            <a:r>
              <a:rPr sz="1900" b="1">
                <a:solidFill>
                  <a:srgbClr val="102A43"/>
                </a:solidFill>
                <a:latin typeface="Arial"/>
                <a:ea typeface="Arial"/>
                <a:cs typeface="Arial"/>
              </a:rPr>
              <a:t>means the strictest requirement in scope becomes the design baseline for all three</a:t>
            </a:r>
            <a:endParaRPr sz="1900"/>
          </a:p>
        </p:txBody>
      </p:sp>
      <p:sp>
        <p:nvSpPr>
          <p:cNvPr id="4" name="Shape 2">
            <a:extLst xmlns:a="http://schemas.openxmlformats.org/drawingml/2006/main">
              <a:ext uri="{FF2B5EF4-FFF2-40B4-BE49-F238E27FC236}">
                <a16:creationId xmlns:a16="http://schemas.microsoft.com/office/drawing/2014/main" id="{924CBE2E-C976-43BB-9460-D24248779A34}"/>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DA0D8860-D937-4DF9-9F06-46C8D66642C7}"/>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814D1104-D1BC-43DF-A689-0927EAE8BE50}"/>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One CRM platform serving a home market, a regional financial hub and a large neighbouring market, split across a consumer vertical and a wholesale vertical with different governance postures.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jurisdiction imposes its own residency, sovereignty and disclosure requirements on the same customer data model.</a:t>
            </a:r>
            <a:endParaRPr sz="980"/>
          </a:p>
        </p:txBody>
      </p:sp>
      <p:sp>
        <p:nvSpPr>
          <p:cNvPr id="7" name="Shape 5">
            <a:extLst xmlns:a="http://schemas.openxmlformats.org/drawingml/2006/main">
              <a:ext uri="{FF2B5EF4-FFF2-40B4-BE49-F238E27FC236}">
                <a16:creationId xmlns:a16="http://schemas.microsoft.com/office/drawing/2014/main" id="{23FBE94E-F80D-4AA8-98F4-E162BB963135}"/>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B4C8B803-338F-424C-9B45-0F898F31E650}"/>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08D51944-7CF5-4BB0-A247-86B8BDE5F791}"/>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requirements do not conflict in the sense of being mutually exclusive. They compound — each adds constraints the others do not, and the architecture has to hold all of them at once.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Worse, the binding ones are structural. Residency is a property of where data physically sits; changing it after go-live means migrating live production data under supervision, which no programme willingly does twice.</a:t>
            </a:r>
            <a:endParaRPr sz="980"/>
          </a:p>
        </p:txBody>
      </p:sp>
      <p:sp>
        <p:nvSpPr>
          <p:cNvPr id="10" name="Shape 8">
            <a:extLst xmlns:a="http://schemas.openxmlformats.org/drawingml/2006/main">
              <a:ext uri="{FF2B5EF4-FFF2-40B4-BE49-F238E27FC236}">
                <a16:creationId xmlns:a16="http://schemas.microsoft.com/office/drawing/2014/main" id="{C6818E7E-6E3B-4D63-992F-8EA2EF9D21CB}"/>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65ABFAE1-E4DB-458B-A85A-6C37414FEF8B}"/>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design rule</a:t>
            </a:r>
            <a:endParaRPr sz="1250"/>
          </a:p>
        </p:txBody>
      </p:sp>
      <p:sp>
        <p:nvSpPr>
          <p:cNvPr id="12" name="Text 10">
            <a:extLst xmlns:a="http://schemas.openxmlformats.org/drawingml/2006/main">
              <a:ext uri="{FF2B5EF4-FFF2-40B4-BE49-F238E27FC236}">
                <a16:creationId xmlns:a16="http://schemas.microsoft.com/office/drawing/2014/main" id="{96CFB5A7-5D74-4D31-9173-CA5DE7EFCB2A}"/>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Design to the strictest requirement in scope and relax by documented exception, never the reverse. Sequence go-lives so the hardest supervisor is engaged early rather than last.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And treat physical isolation of wholesale data as a fixed constraint filtered before any option is scored, not as a dimension available for trade.</a:t>
            </a:r>
            <a:endParaRPr sz="980"/>
          </a:p>
        </p:txBody>
      </p:sp>
      <p:sp>
        <p:nvSpPr>
          <p:cNvPr id="13" name="Text 11">
            <a:extLst xmlns:a="http://schemas.openxmlformats.org/drawingml/2006/main">
              <a:ext uri="{FF2B5EF4-FFF2-40B4-BE49-F238E27FC236}">
                <a16:creationId xmlns:a16="http://schemas.microsoft.com/office/drawing/2014/main" id="{C530538C-EA81-4D24-B70B-B37223774EFA}"/>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156A690C-4E7E-4539-8313-7CDAEC6FED24}"/>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6F1F3A64-BE1C-49C6-8798-46CC49835DDA}"/>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6" name="Text 14">
            <a:extLst xmlns:a="http://schemas.openxmlformats.org/drawingml/2006/main">
              <a:ext uri="{FF2B5EF4-FFF2-40B4-BE49-F238E27FC236}">
                <a16:creationId xmlns:a16="http://schemas.microsoft.com/office/drawing/2014/main" id="{93E6D331-20ED-4B9F-81F5-3E86E90DE69E}"/>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regimes, one baseline</a:t>
            </a:r>
            <a:endParaRPr sz="860"/>
          </a:p>
        </p:txBody>
      </p:sp>
      <p:sp>
        <p:nvSpPr>
          <p:cNvPr id="17" name="Shape 15">
            <a:extLst xmlns:a="http://schemas.openxmlformats.org/drawingml/2006/main">
              <a:ext uri="{FF2B5EF4-FFF2-40B4-BE49-F238E27FC236}">
                <a16:creationId xmlns:a16="http://schemas.microsoft.com/office/drawing/2014/main" id="{B5748064-7AB1-44F3-BFE1-7A3F54AA6DB3}"/>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441ABF2B-3A1A-4680-B7E8-4224798AB90C}"/>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19" name="Text 17">
            <a:extLst xmlns:a="http://schemas.openxmlformats.org/drawingml/2006/main">
              <a:ext uri="{FF2B5EF4-FFF2-40B4-BE49-F238E27FC236}">
                <a16:creationId xmlns:a16="http://schemas.microsoft.com/office/drawing/2014/main" id="{D0C2F2F7-55DC-437E-8797-9086F84B90CE}"/>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control domains mapped</a:t>
            </a:r>
            <a:endParaRPr sz="860"/>
          </a:p>
        </p:txBody>
      </p:sp>
      <p:sp>
        <p:nvSpPr>
          <p:cNvPr id="20" name="Shape 18">
            <a:extLst xmlns:a="http://schemas.openxmlformats.org/drawingml/2006/main">
              <a:ext uri="{FF2B5EF4-FFF2-40B4-BE49-F238E27FC236}">
                <a16:creationId xmlns:a16="http://schemas.microsoft.com/office/drawing/2014/main" id="{E03365C4-2C85-45A4-A6B5-61DA706BD0EB}"/>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BCD1F901-D158-4587-83D2-7B93FAC084DA}"/>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CF8472E6-A13E-4D57-80FA-FE9CDE302CA1}"/>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constraint, never scored</a:t>
            </a:r>
            <a:endParaRPr sz="860"/>
          </a:p>
        </p:txBody>
      </p:sp>
      <p:sp>
        <p:nvSpPr>
          <p:cNvPr id="23" name="Shape 21">
            <a:extLst xmlns:a="http://schemas.openxmlformats.org/drawingml/2006/main">
              <a:ext uri="{FF2B5EF4-FFF2-40B4-BE49-F238E27FC236}">
                <a16:creationId xmlns:a16="http://schemas.microsoft.com/office/drawing/2014/main" id="{4E1FBB41-9CF4-4D51-9C32-08DBF5FFF1D3}"/>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929B8AB9-1AF8-4C97-89F4-B747257AB7BA}"/>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25" name="Text 23">
            <a:extLst xmlns:a="http://schemas.openxmlformats.org/drawingml/2006/main">
              <a:ext uri="{FF2B5EF4-FFF2-40B4-BE49-F238E27FC236}">
                <a16:creationId xmlns:a16="http://schemas.microsoft.com/office/drawing/2014/main" id="{01B5BE48-52C3-4DB0-92C6-0DA8F841D867}"/>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verticals, one data model</a:t>
            </a:r>
            <a:endParaRPr sz="860"/>
          </a:p>
        </p:txBody>
      </p:sp>
      <p:sp>
        <p:nvSpPr>
          <p:cNvPr id="26" name="Shape 24">
            <a:extLst xmlns:a="http://schemas.openxmlformats.org/drawingml/2006/main">
              <a:ext uri="{FF2B5EF4-FFF2-40B4-BE49-F238E27FC236}">
                <a16:creationId xmlns:a16="http://schemas.microsoft.com/office/drawing/2014/main" id="{022C72AF-D9B1-4FE9-8102-FD7A7087D6FA}"/>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61CC97FD-DD84-4C50-92FC-1ADB64BB78B3}"/>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8" name="Text 26">
            <a:extLst xmlns:a="http://schemas.openxmlformats.org/drawingml/2006/main">
              <a:ext uri="{FF2B5EF4-FFF2-40B4-BE49-F238E27FC236}">
                <a16:creationId xmlns:a16="http://schemas.microsoft.com/office/drawing/2014/main" id="{10C38628-D59E-412A-9049-EAAEE73AA8C6}"/>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residency retrofits available</a:t>
            </a:r>
            <a:endParaRPr sz="860"/>
          </a:p>
        </p:txBody>
      </p:sp>
      <p:sp>
        <p:nvSpPr>
          <p:cNvPr id="29" name="Shape 27">
            <a:extLst xmlns:a="http://schemas.openxmlformats.org/drawingml/2006/main">
              <a:ext uri="{FF2B5EF4-FFF2-40B4-BE49-F238E27FC236}">
                <a16:creationId xmlns:a16="http://schemas.microsoft.com/office/drawing/2014/main" id="{5A5FAA52-EFA7-4C5A-A95B-9C923FA9407A}"/>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A9DFB06D-C85A-422B-8B00-D12C25AADD9A}"/>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1st</a:t>
            </a:r>
            <a:endParaRPr sz="2100"/>
          </a:p>
        </p:txBody>
      </p:sp>
      <p:sp>
        <p:nvSpPr>
          <p:cNvPr id="31" name="Text 29">
            <a:extLst xmlns:a="http://schemas.openxmlformats.org/drawingml/2006/main">
              <a:ext uri="{FF2B5EF4-FFF2-40B4-BE49-F238E27FC236}">
                <a16:creationId xmlns:a16="http://schemas.microsoft.com/office/drawing/2014/main" id="{FE914490-4495-4E0D-ACC2-62469EC78173}"/>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hardest regulator, first</a:t>
            </a:r>
            <a:endParaRPr sz="860"/>
          </a:p>
        </p:txBody>
      </p:sp>
      <p:sp>
        <p:nvSpPr>
          <p:cNvPr id="32" name="Text 30">
            <a:extLst xmlns:a="http://schemas.openxmlformats.org/drawingml/2006/main">
              <a:ext uri="{FF2B5EF4-FFF2-40B4-BE49-F238E27FC236}">
                <a16:creationId xmlns:a16="http://schemas.microsoft.com/office/drawing/2014/main" id="{EB5CFDE5-FF63-460D-A1CA-1F4DFF4A8419}"/>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the rule is counter-intuitive:  designing for the easiest jurisdiction and generalising later looks cheaper and delivers the first go-live faster. It is the most expensive available order, because every subsequent market forces rework of something already in production and already inspected.</a:t>
            </a:r>
            <a:endParaRPr sz="1000"/>
          </a:p>
        </p:txBody>
      </p:sp>
      <p:sp>
        <p:nvSpPr>
          <p:cNvPr id="33" name="Shape 31">
            <a:extLst xmlns:a="http://schemas.openxmlformats.org/drawingml/2006/main">
              <a:ext uri="{FF2B5EF4-FFF2-40B4-BE49-F238E27FC236}">
                <a16:creationId xmlns:a16="http://schemas.microsoft.com/office/drawing/2014/main" id="{D328A9B3-309E-4453-A431-CF66E79C64A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4FBC352D-9268-422A-9679-DC11BBF59DA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compliance-architecture analysis</a:t>
            </a:r>
            <a:endParaRPr sz="850"/>
          </a:p>
        </p:txBody>
      </p:sp>
      <p:sp>
        <p:nvSpPr>
          <p:cNvPr id="35" name="Text 33">
            <a:extLst xmlns:a="http://schemas.openxmlformats.org/drawingml/2006/main">
              <a:ext uri="{FF2B5EF4-FFF2-40B4-BE49-F238E27FC236}">
                <a16:creationId xmlns:a16="http://schemas.microsoft.com/office/drawing/2014/main" id="{06CA5C7D-E163-4353-8D89-3758D589813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678525945"/>
      </p:ext>
    </p:extLst>
  </p:cSld>
</p:sld>
</file>

<file path=ppt/slides/slide23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9429BE0-5EEB-48B9-BE3A-1F450B754CB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3C3DDB32-E724-4DA7-ACED-2C5F0D5F336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Requirements were set by the programme; the control mapping, the design rule and</a:t>
            </a:r>
            <a:endParaRPr sz="1900"/>
          </a:p>
          <a:p xmlns:a="http://schemas.openxmlformats.org/drawingml/2006/main">
            <a:pPr marL="0" indent="0">
              <a:lnSpc>
                <a:spcPts val="2400"/>
              </a:lnSpc>
              <a:buNone/>
            </a:pPr>
            <a:r>
              <a:rPr sz="1900" b="1">
                <a:solidFill>
                  <a:srgbClr val="102A43"/>
                </a:solidFill>
                <a:latin typeface="Arial"/>
                <a:ea typeface="Arial"/>
                <a:cs typeface="Arial"/>
              </a:rPr>
              <a:t>the sequencing argument are analysis — not legal or regulatory advice</a:t>
            </a:r>
            <a:endParaRPr sz="1900"/>
          </a:p>
        </p:txBody>
      </p:sp>
      <p:sp>
        <p:nvSpPr>
          <p:cNvPr id="4" name="Shape 2">
            <a:extLst xmlns:a="http://schemas.openxmlformats.org/drawingml/2006/main">
              <a:ext uri="{FF2B5EF4-FFF2-40B4-BE49-F238E27FC236}">
                <a16:creationId xmlns:a16="http://schemas.microsoft.com/office/drawing/2014/main" id="{EDA06A84-6879-482D-931F-79D26FD4A9E2}"/>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4B2380E7-8822-4CAD-A527-BD64BE1296C1}"/>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6A3F1944-963A-4107-8414-60CE2F1D7AE9}"/>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SET BY THE BANK</a:t>
            </a:r>
            <a:endParaRPr sz="740"/>
          </a:p>
        </p:txBody>
      </p:sp>
      <p:sp>
        <p:nvSpPr>
          <p:cNvPr id="7" name="Text 5">
            <a:extLst xmlns:a="http://schemas.openxmlformats.org/drawingml/2006/main">
              <a:ext uri="{FF2B5EF4-FFF2-40B4-BE49-F238E27FC236}">
                <a16:creationId xmlns:a16="http://schemas.microsoft.com/office/drawing/2014/main" id="{6FF05558-23EE-4E7B-9ABF-67971C938540}"/>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Programme context</a:t>
            </a:r>
            <a:endParaRPr sz="1200"/>
          </a:p>
        </p:txBody>
      </p:sp>
      <p:sp>
        <p:nvSpPr>
          <p:cNvPr id="8" name="Text 6">
            <a:extLst xmlns:a="http://schemas.openxmlformats.org/drawingml/2006/main">
              <a:ext uri="{FF2B5EF4-FFF2-40B4-BE49-F238E27FC236}">
                <a16:creationId xmlns:a16="http://schemas.microsoft.com/office/drawing/2014/main" id="{26ADEDAE-DD1F-483C-80CF-8DC6573D5C58}"/>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Jurisdictional constraints, vertical governance postures and the isolation requirement as stated by the programme.</a:t>
            </a:r>
            <a:endParaRPr sz="920"/>
          </a:p>
        </p:txBody>
      </p:sp>
      <p:sp>
        <p:nvSpPr>
          <p:cNvPr id="9" name="Shape 7">
            <a:extLst xmlns:a="http://schemas.openxmlformats.org/drawingml/2006/main">
              <a:ext uri="{FF2B5EF4-FFF2-40B4-BE49-F238E27FC236}">
                <a16:creationId xmlns:a16="http://schemas.microsoft.com/office/drawing/2014/main" id="{293E5B3A-D5FE-4509-9426-5EFBA39F6439}"/>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06007A91-3187-45A5-A604-B7EEF1D3903C}"/>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Three jurisdictions in scope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Distinct residency regimes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Wholesale physical isolation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Cross-border ring-fencing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Two verticals, one platform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User distribution by market</a:t>
            </a:r>
            <a:endParaRPr sz="930"/>
          </a:p>
        </p:txBody>
      </p:sp>
      <p:sp>
        <p:nvSpPr>
          <p:cNvPr id="11" name="Shape 9">
            <a:extLst xmlns:a="http://schemas.openxmlformats.org/drawingml/2006/main">
              <a:ext uri="{FF2B5EF4-FFF2-40B4-BE49-F238E27FC236}">
                <a16:creationId xmlns:a16="http://schemas.microsoft.com/office/drawing/2014/main" id="{72186321-0508-4CB8-8EC4-CB2B21B9FC7C}"/>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8105A175-E97C-49F4-8AE0-6CB71ACA7BD6}"/>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AC763F18-0A0B-407C-B90A-2E49BA2FD2BD}"/>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ARCHITECTURE ANALYSIS</a:t>
            </a:r>
            <a:endParaRPr sz="740"/>
          </a:p>
        </p:txBody>
      </p:sp>
      <p:sp>
        <p:nvSpPr>
          <p:cNvPr id="14" name="Text 12">
            <a:extLst xmlns:a="http://schemas.openxmlformats.org/drawingml/2006/main">
              <a:ext uri="{FF2B5EF4-FFF2-40B4-BE49-F238E27FC236}">
                <a16:creationId xmlns:a16="http://schemas.microsoft.com/office/drawing/2014/main" id="{01AEADED-7569-47A9-8238-A7976CF620A1}"/>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68A44E70-B477-494A-85ED-FE38A6FEFA04}"/>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control-domain mapping, the compounding-versus-conflicting distinction, the design rule and the sequencing recommendation.</a:t>
            </a:r>
            <a:endParaRPr sz="920"/>
          </a:p>
        </p:txBody>
      </p:sp>
      <p:sp>
        <p:nvSpPr>
          <p:cNvPr id="16" name="Shape 14">
            <a:extLst xmlns:a="http://schemas.openxmlformats.org/drawingml/2006/main">
              <a:ext uri="{FF2B5EF4-FFF2-40B4-BE49-F238E27FC236}">
                <a16:creationId xmlns:a16="http://schemas.microsoft.com/office/drawing/2014/main" id="{30D768E4-5E6A-4CCD-8D95-A4FDF1A74D70}"/>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65D978D7-20CF-4B73-82DE-237896DEF75F}"/>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Six-domain control map</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Compound-not-conflict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Strictest-baseline design rule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Supervisor question set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Go-live sequencing logic</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Evidence-pack design</a:t>
            </a:r>
            <a:endParaRPr sz="930"/>
          </a:p>
        </p:txBody>
      </p:sp>
      <p:sp>
        <p:nvSpPr>
          <p:cNvPr id="18" name="Shape 16">
            <a:extLst xmlns:a="http://schemas.openxmlformats.org/drawingml/2006/main">
              <a:ext uri="{FF2B5EF4-FFF2-40B4-BE49-F238E27FC236}">
                <a16:creationId xmlns:a16="http://schemas.microsoft.com/office/drawing/2014/main" id="{B3C3BDDD-A5A3-4234-9888-40E8CB446084}"/>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71050D52-AF6D-4BFE-8074-45D9F903F503}"/>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2AF6A839-357B-49A7-8D8B-D69F9E1A1E91}"/>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DESIGN-LEVEL</a:t>
            </a:r>
            <a:endParaRPr sz="740"/>
          </a:p>
        </p:txBody>
      </p:sp>
      <p:sp>
        <p:nvSpPr>
          <p:cNvPr id="21" name="Text 19">
            <a:extLst xmlns:a="http://schemas.openxmlformats.org/drawingml/2006/main">
              <a:ext uri="{FF2B5EF4-FFF2-40B4-BE49-F238E27FC236}">
                <a16:creationId xmlns:a16="http://schemas.microsoft.com/office/drawing/2014/main" id="{AB677960-B60B-40BB-BDC7-AE6127091939}"/>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Assessed</a:t>
            </a:r>
            <a:endParaRPr sz="1200"/>
          </a:p>
        </p:txBody>
      </p:sp>
      <p:sp>
        <p:nvSpPr>
          <p:cNvPr id="22" name="Text 20">
            <a:extLst xmlns:a="http://schemas.openxmlformats.org/drawingml/2006/main">
              <a:ext uri="{FF2B5EF4-FFF2-40B4-BE49-F238E27FC236}">
                <a16:creationId xmlns:a16="http://schemas.microsoft.com/office/drawing/2014/main" id="{9B869F23-2B37-4CAB-840A-A8E95F4D1E74}"/>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Regulatory requirements summarised at the level needed for architecture decisions, not as a legal analysis.</a:t>
            </a:r>
            <a:endParaRPr sz="920"/>
          </a:p>
        </p:txBody>
      </p:sp>
      <p:sp>
        <p:nvSpPr>
          <p:cNvPr id="23" name="Shape 21">
            <a:extLst xmlns:a="http://schemas.openxmlformats.org/drawingml/2006/main">
              <a:ext uri="{FF2B5EF4-FFF2-40B4-BE49-F238E27FC236}">
                <a16:creationId xmlns:a16="http://schemas.microsoft.com/office/drawing/2014/main" id="{FC64FCC9-B1E4-4F7F-BAC8-44DF5CA07EAF}"/>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140C0D1A-AB1C-460F-B675-688BE59C577A}"/>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Design-level requirement summary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Control applicability by jurisdiction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Relative strictness judgements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legal opinion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regulatory submission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Confirm with counsel before filing</a:t>
            </a:r>
            <a:endParaRPr sz="930"/>
          </a:p>
        </p:txBody>
      </p:sp>
      <p:sp>
        <p:nvSpPr>
          <p:cNvPr id="25" name="Shape 23">
            <a:extLst xmlns:a="http://schemas.openxmlformats.org/drawingml/2006/main">
              <a:ext uri="{FF2B5EF4-FFF2-40B4-BE49-F238E27FC236}">
                <a16:creationId xmlns:a16="http://schemas.microsoft.com/office/drawing/2014/main" id="{1EE90342-A487-40AC-855A-40F734A77309}"/>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1F3C9DCA-77CC-4366-B79A-7B85D14D5BF7}"/>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D1ACBBF9-23DC-4E99-A934-2F4E7E015A76}"/>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8A5BEFDA-7535-46E6-BE24-AB5955D2E798}"/>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61323392-E6D6-411E-A9F1-65B2B8B22844}"/>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Architecture analysis, not compliance certification or a supervisory position.</a:t>
            </a:r>
            <a:endParaRPr sz="920"/>
          </a:p>
        </p:txBody>
      </p:sp>
      <p:sp>
        <p:nvSpPr>
          <p:cNvPr id="30" name="Shape 28">
            <a:extLst xmlns:a="http://schemas.openxmlformats.org/drawingml/2006/main">
              <a:ext uri="{FF2B5EF4-FFF2-40B4-BE49-F238E27FC236}">
                <a16:creationId xmlns:a16="http://schemas.microsoft.com/office/drawing/2014/main" id="{9BCF7DAF-B62B-4928-BA21-0560E92239AF}"/>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2978FA2F-D787-4859-B389-E5037DAB5037}"/>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supervisor's actual position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Regulatory approval or clearance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Legal interpretation of any regime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of this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bank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Post-decision outcomes</a:t>
            </a:r>
            <a:endParaRPr sz="930"/>
          </a:p>
        </p:txBody>
      </p:sp>
      <p:sp>
        <p:nvSpPr>
          <p:cNvPr id="32" name="Shape 30">
            <a:extLst xmlns:a="http://schemas.openxmlformats.org/drawingml/2006/main">
              <a:ext uri="{FF2B5EF4-FFF2-40B4-BE49-F238E27FC236}">
                <a16:creationId xmlns:a16="http://schemas.microsoft.com/office/drawing/2014/main" id="{3A7776D3-003A-4667-89DA-CDFAEC1D298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7108EC89-58F7-4027-8717-640E336224C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Programme requirements (context) · author's compliance-architecture analysis</a:t>
            </a:r>
            <a:endParaRPr sz="850"/>
          </a:p>
        </p:txBody>
      </p:sp>
      <p:sp>
        <p:nvSpPr>
          <p:cNvPr id="34" name="Text 32">
            <a:extLst xmlns:a="http://schemas.openxmlformats.org/drawingml/2006/main">
              <a:ext uri="{FF2B5EF4-FFF2-40B4-BE49-F238E27FC236}">
                <a16:creationId xmlns:a16="http://schemas.microsoft.com/office/drawing/2014/main" id="{90E43502-9513-47E4-8463-E2E023A063F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416390977"/>
      </p:ext>
    </p:extLst>
  </p:cSld>
</p:sld>
</file>

<file path=ppt/slides/slide23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9AF9E5E-2DDD-4868-AE9D-BA496C4D302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THREE REGIMES</a:t>
            </a:r>
            <a:endParaRPr sz="950"/>
          </a:p>
        </p:txBody>
      </p:sp>
      <p:sp>
        <p:nvSpPr>
          <p:cNvPr id="3" name="Text 1">
            <a:extLst xmlns:a="http://schemas.openxmlformats.org/drawingml/2006/main">
              <a:ext uri="{FF2B5EF4-FFF2-40B4-BE49-F238E27FC236}">
                <a16:creationId xmlns:a16="http://schemas.microsoft.com/office/drawing/2014/main" id="{243A792B-0BEE-4DAC-8DDA-220531809F1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Each supervisor constrains a different part of the same architecture — and the union</a:t>
            </a:r>
            <a:endParaRPr sz="1900"/>
          </a:p>
          <a:p xmlns:a="http://schemas.openxmlformats.org/drawingml/2006/main">
            <a:pPr marL="0" indent="0">
              <a:lnSpc>
                <a:spcPts val="2400"/>
              </a:lnSpc>
              <a:buNone/>
            </a:pPr>
            <a:r>
              <a:rPr sz="1900" b="1">
                <a:solidFill>
                  <a:srgbClr val="102A43"/>
                </a:solidFill>
                <a:latin typeface="Arial"/>
                <a:ea typeface="Arial"/>
                <a:cs typeface="Arial"/>
              </a:rPr>
              <a:t>of their requirements, not the intersection, is what has to be built</a:t>
            </a:r>
            <a:endParaRPr sz="1900"/>
          </a:p>
        </p:txBody>
      </p:sp>
      <p:sp>
        <p:nvSpPr>
          <p:cNvPr id="4" name="Shape 2">
            <a:extLst xmlns:a="http://schemas.openxmlformats.org/drawingml/2006/main">
              <a:ext uri="{FF2B5EF4-FFF2-40B4-BE49-F238E27FC236}">
                <a16:creationId xmlns:a16="http://schemas.microsoft.com/office/drawing/2014/main" id="{BEDBE088-A1BF-41A1-9F69-455E72B1842B}"/>
              </a:ext>
            </a:extLst>
          </p:cNvPr>
          <p:cNvSpPr>
            <a:spLocks xmlns:a="http://schemas.openxmlformats.org/drawingml/2006/main" noGrp="1"/>
          </p:cNvSpPr>
          <p:nvPr/>
        </p:nvSpPr>
        <p:spPr>
          <a:xfrm xmlns:a="http://schemas.openxmlformats.org/drawingml/2006/main">
            <a:off x="566928" y="1335024"/>
            <a:ext cx="3551834" cy="237744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355EA55E-2381-4BC9-81C8-FD6944ED7266}"/>
              </a:ext>
            </a:extLst>
          </p:cNvPr>
          <p:cNvSpPr>
            <a:spLocks xmlns:a="http://schemas.openxmlformats.org/drawingml/2006/main" noGrp="1"/>
          </p:cNvSpPr>
          <p:nvPr/>
        </p:nvSpPr>
        <p:spPr>
          <a:xfrm xmlns:a="http://schemas.openxmlformats.org/drawingml/2006/main">
            <a:off x="786384" y="1499616"/>
            <a:ext cx="22716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Home market supervisor</a:t>
            </a:r>
            <a:endParaRPr sz="1250"/>
          </a:p>
        </p:txBody>
      </p:sp>
      <p:sp>
        <p:nvSpPr>
          <p:cNvPr id="6" name="Text 4">
            <a:extLst xmlns:a="http://schemas.openxmlformats.org/drawingml/2006/main">
              <a:ext uri="{FF2B5EF4-FFF2-40B4-BE49-F238E27FC236}">
                <a16:creationId xmlns:a16="http://schemas.microsoft.com/office/drawing/2014/main" id="{5728B4A8-9236-41ED-A628-9C20C2D4FB94}"/>
              </a:ext>
            </a:extLst>
          </p:cNvPr>
          <p:cNvSpPr>
            <a:spLocks xmlns:a="http://schemas.openxmlformats.org/drawingml/2006/main" noGrp="1"/>
          </p:cNvSpPr>
          <p:nvPr/>
        </p:nvSpPr>
        <p:spPr>
          <a:xfrm xmlns:a="http://schemas.openxmlformats.org/drawingml/2006/main">
            <a:off x="2747162" y="1517904"/>
            <a:ext cx="11521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8,700 users</a:t>
            </a:r>
            <a:endParaRPr sz="940"/>
          </a:p>
        </p:txBody>
      </p:sp>
      <p:sp>
        <p:nvSpPr>
          <p:cNvPr id="7" name="Shape 5">
            <a:extLst xmlns:a="http://schemas.openxmlformats.org/drawingml/2006/main">
              <a:ext uri="{FF2B5EF4-FFF2-40B4-BE49-F238E27FC236}">
                <a16:creationId xmlns:a16="http://schemas.microsoft.com/office/drawing/2014/main" id="{C5410230-1352-412B-BD12-18B682A90387}"/>
              </a:ext>
            </a:extLst>
          </p:cNvPr>
          <p:cNvSpPr>
            <a:spLocks xmlns:a="http://schemas.openxmlformats.org/drawingml/2006/main" noGrp="1"/>
          </p:cNvSpPr>
          <p:nvPr/>
        </p:nvSpPr>
        <p:spPr>
          <a:xfrm xmlns:a="http://schemas.openxmlformats.org/drawingml/2006/main">
            <a:off x="786384" y="1828800"/>
            <a:ext cx="3112922"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EF373D2E-7AD5-4F9B-97E0-9AED4AF94D9A}"/>
              </a:ext>
            </a:extLst>
          </p:cNvPr>
          <p:cNvSpPr>
            <a:spLocks xmlns:a="http://schemas.openxmlformats.org/drawingml/2006/main" noGrp="1"/>
          </p:cNvSpPr>
          <p:nvPr/>
        </p:nvSpPr>
        <p:spPr>
          <a:xfrm xmlns:a="http://schemas.openxmlformats.org/drawingml/2006/main">
            <a:off x="786384" y="1956816"/>
            <a:ext cx="3112922"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Primary customer data resident in market</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Outsourcing and third-party risk notification</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Full audit trail available on request</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Incident reporting within defined windows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Technology risk governance framework</a:t>
            </a:r>
            <a:endParaRPr sz="950"/>
          </a:p>
        </p:txBody>
      </p:sp>
      <p:sp>
        <p:nvSpPr>
          <p:cNvPr id="9" name="Shape 7">
            <a:extLst xmlns:a="http://schemas.openxmlformats.org/drawingml/2006/main">
              <a:ext uri="{FF2B5EF4-FFF2-40B4-BE49-F238E27FC236}">
                <a16:creationId xmlns:a16="http://schemas.microsoft.com/office/drawing/2014/main" id="{C36C4115-3D89-465E-9329-F05C25C78EEA}"/>
              </a:ext>
            </a:extLst>
          </p:cNvPr>
          <p:cNvSpPr>
            <a:spLocks xmlns:a="http://schemas.openxmlformats.org/drawingml/2006/main" noGrp="1"/>
          </p:cNvSpPr>
          <p:nvPr/>
        </p:nvSpPr>
        <p:spPr>
          <a:xfrm xmlns:a="http://schemas.openxmlformats.org/drawingml/2006/main">
            <a:off x="4319930" y="1335024"/>
            <a:ext cx="3551834" cy="2377440"/>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D2F209FA-A7F5-454A-821A-C7817A05FF6A}"/>
              </a:ext>
            </a:extLst>
          </p:cNvPr>
          <p:cNvSpPr>
            <a:spLocks xmlns:a="http://schemas.openxmlformats.org/drawingml/2006/main" noGrp="1"/>
          </p:cNvSpPr>
          <p:nvPr/>
        </p:nvSpPr>
        <p:spPr>
          <a:xfrm xmlns:a="http://schemas.openxmlformats.org/drawingml/2006/main">
            <a:off x="4539386" y="1499616"/>
            <a:ext cx="22716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Regional hub supervisor</a:t>
            </a:r>
            <a:endParaRPr sz="1250"/>
          </a:p>
        </p:txBody>
      </p:sp>
      <p:sp>
        <p:nvSpPr>
          <p:cNvPr id="11" name="Text 9">
            <a:extLst xmlns:a="http://schemas.openxmlformats.org/drawingml/2006/main">
              <a:ext uri="{FF2B5EF4-FFF2-40B4-BE49-F238E27FC236}">
                <a16:creationId xmlns:a16="http://schemas.microsoft.com/office/drawing/2014/main" id="{F7BE71A7-42ED-4C84-867A-515B0388FAC4}"/>
              </a:ext>
            </a:extLst>
          </p:cNvPr>
          <p:cNvSpPr>
            <a:spLocks xmlns:a="http://schemas.openxmlformats.org/drawingml/2006/main" noGrp="1"/>
          </p:cNvSpPr>
          <p:nvPr/>
        </p:nvSpPr>
        <p:spPr>
          <a:xfrm xmlns:a="http://schemas.openxmlformats.org/drawingml/2006/main">
            <a:off x="6500165" y="1517904"/>
            <a:ext cx="11521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1,060 users</a:t>
            </a:r>
            <a:endParaRPr sz="940"/>
          </a:p>
        </p:txBody>
      </p:sp>
      <p:sp>
        <p:nvSpPr>
          <p:cNvPr id="12" name="Shape 10">
            <a:extLst xmlns:a="http://schemas.openxmlformats.org/drawingml/2006/main">
              <a:ext uri="{FF2B5EF4-FFF2-40B4-BE49-F238E27FC236}">
                <a16:creationId xmlns:a16="http://schemas.microsoft.com/office/drawing/2014/main" id="{CABEAB90-BFAA-4176-8BEE-5A236BF8E110}"/>
              </a:ext>
            </a:extLst>
          </p:cNvPr>
          <p:cNvSpPr>
            <a:spLocks xmlns:a="http://schemas.openxmlformats.org/drawingml/2006/main" noGrp="1"/>
          </p:cNvSpPr>
          <p:nvPr/>
        </p:nvSpPr>
        <p:spPr>
          <a:xfrm xmlns:a="http://schemas.openxmlformats.org/drawingml/2006/main">
            <a:off x="4539386" y="1828800"/>
            <a:ext cx="3112922"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F896A65E-3F77-4A5A-8B27-BCF0CA851437}"/>
              </a:ext>
            </a:extLst>
          </p:cNvPr>
          <p:cNvSpPr>
            <a:spLocks xmlns:a="http://schemas.openxmlformats.org/drawingml/2006/main" noGrp="1"/>
          </p:cNvSpPr>
          <p:nvPr/>
        </p:nvSpPr>
        <p:spPr>
          <a:xfrm xmlns:a="http://schemas.openxmlformats.org/drawingml/2006/main">
            <a:off x="4539386" y="1956816"/>
            <a:ext cx="3112922"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Strict personal-data protection regime</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Cross-border transfer requires lawful basis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Individual access and correction rights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Breach notification obligations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Accountability and demonstrable governance</a:t>
            </a:r>
            <a:endParaRPr sz="950"/>
          </a:p>
        </p:txBody>
      </p:sp>
      <p:sp>
        <p:nvSpPr>
          <p:cNvPr id="14" name="Shape 12">
            <a:extLst xmlns:a="http://schemas.openxmlformats.org/drawingml/2006/main">
              <a:ext uri="{FF2B5EF4-FFF2-40B4-BE49-F238E27FC236}">
                <a16:creationId xmlns:a16="http://schemas.microsoft.com/office/drawing/2014/main" id="{7BD64D8B-1E7E-4702-92A6-A9554B6CC44E}"/>
              </a:ext>
            </a:extLst>
          </p:cNvPr>
          <p:cNvSpPr>
            <a:spLocks xmlns:a="http://schemas.openxmlformats.org/drawingml/2006/main" noGrp="1"/>
          </p:cNvSpPr>
          <p:nvPr/>
        </p:nvSpPr>
        <p:spPr>
          <a:xfrm xmlns:a="http://schemas.openxmlformats.org/drawingml/2006/main">
            <a:off x="8072933" y="1335024"/>
            <a:ext cx="3551834" cy="2377440"/>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532306CB-5CE7-4546-A361-BB466DECA5D3}"/>
              </a:ext>
            </a:extLst>
          </p:cNvPr>
          <p:cNvSpPr>
            <a:spLocks xmlns:a="http://schemas.openxmlformats.org/drawingml/2006/main" noGrp="1"/>
          </p:cNvSpPr>
          <p:nvPr/>
        </p:nvSpPr>
        <p:spPr>
          <a:xfrm xmlns:a="http://schemas.openxmlformats.org/drawingml/2006/main">
            <a:off x="8292389" y="1499616"/>
            <a:ext cx="2271674"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Neighbouring market supervisor</a:t>
            </a:r>
            <a:endParaRPr sz="1250"/>
          </a:p>
        </p:txBody>
      </p:sp>
      <p:sp>
        <p:nvSpPr>
          <p:cNvPr id="16" name="Text 14">
            <a:extLst xmlns:a="http://schemas.openxmlformats.org/drawingml/2006/main">
              <a:ext uri="{FF2B5EF4-FFF2-40B4-BE49-F238E27FC236}">
                <a16:creationId xmlns:a16="http://schemas.microsoft.com/office/drawing/2014/main" id="{3A040BE0-7F50-4B5D-A56E-296DE706B304}"/>
              </a:ext>
            </a:extLst>
          </p:cNvPr>
          <p:cNvSpPr>
            <a:spLocks xmlns:a="http://schemas.openxmlformats.org/drawingml/2006/main" noGrp="1"/>
          </p:cNvSpPr>
          <p:nvPr/>
        </p:nvSpPr>
        <p:spPr>
          <a:xfrm xmlns:a="http://schemas.openxmlformats.org/drawingml/2006/main">
            <a:off x="10253167" y="1517904"/>
            <a:ext cx="11521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486581"/>
                </a:solidFill>
                <a:latin typeface="Arial"/>
                <a:ea typeface="Arial"/>
                <a:cs typeface="Arial"/>
              </a:rPr>
              <a:t>3,560 users</a:t>
            </a:r>
            <a:endParaRPr sz="940"/>
          </a:p>
        </p:txBody>
      </p:sp>
      <p:sp>
        <p:nvSpPr>
          <p:cNvPr id="17" name="Shape 15">
            <a:extLst xmlns:a="http://schemas.openxmlformats.org/drawingml/2006/main">
              <a:ext uri="{FF2B5EF4-FFF2-40B4-BE49-F238E27FC236}">
                <a16:creationId xmlns:a16="http://schemas.microsoft.com/office/drawing/2014/main" id="{A3C6667C-E0B9-4735-8733-C15CE27330F7}"/>
              </a:ext>
            </a:extLst>
          </p:cNvPr>
          <p:cNvSpPr>
            <a:spLocks xmlns:a="http://schemas.openxmlformats.org/drawingml/2006/main" noGrp="1"/>
          </p:cNvSpPr>
          <p:nvPr/>
        </p:nvSpPr>
        <p:spPr>
          <a:xfrm xmlns:a="http://schemas.openxmlformats.org/drawingml/2006/main">
            <a:off x="8292389" y="1828800"/>
            <a:ext cx="3112922"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3AEF8BF9-74FA-4D8A-A548-B950079E1F02}"/>
              </a:ext>
            </a:extLst>
          </p:cNvPr>
          <p:cNvSpPr>
            <a:spLocks xmlns:a="http://schemas.openxmlformats.org/drawingml/2006/main" noGrp="1"/>
          </p:cNvSpPr>
          <p:nvPr/>
        </p:nvSpPr>
        <p:spPr>
          <a:xfrm xmlns:a="http://schemas.openxmlformats.org/drawingml/2006/main">
            <a:off x="8292389" y="1956816"/>
            <a:ext cx="3112922"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Data localisation — in-country storage</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Electronic systems registration</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Local processing and access controls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Sovereignty over customer records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Constrains offshore hosting entirely</a:t>
            </a:r>
            <a:endParaRPr sz="950"/>
          </a:p>
        </p:txBody>
      </p:sp>
      <p:sp>
        <p:nvSpPr>
          <p:cNvPr id="19" name="Text 17">
            <a:extLst xmlns:a="http://schemas.openxmlformats.org/drawingml/2006/main">
              <a:ext uri="{FF2B5EF4-FFF2-40B4-BE49-F238E27FC236}">
                <a16:creationId xmlns:a16="http://schemas.microsoft.com/office/drawing/2014/main" id="{D7A225E2-E8CC-455A-B613-D180F32F292D}"/>
              </a:ext>
            </a:extLst>
          </p:cNvPr>
          <p:cNvSpPr>
            <a:spLocks xmlns:a="http://schemas.openxmlformats.org/drawingml/2006/main" noGrp="1"/>
          </p:cNvSpPr>
          <p:nvPr/>
        </p:nvSpPr>
        <p:spPr>
          <a:xfrm xmlns:a="http://schemas.openxmlformats.org/drawingml/2006/main">
            <a:off x="566928" y="39867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They compound, they do not conflict</a:t>
            </a:r>
            <a:endParaRPr sz="1100"/>
          </a:p>
        </p:txBody>
      </p:sp>
      <p:sp>
        <p:nvSpPr>
          <p:cNvPr id="20" name="Shape 18">
            <a:extLst xmlns:a="http://schemas.openxmlformats.org/drawingml/2006/main">
              <a:ext uri="{FF2B5EF4-FFF2-40B4-BE49-F238E27FC236}">
                <a16:creationId xmlns:a16="http://schemas.microsoft.com/office/drawing/2014/main" id="{5642446E-8FCC-4B36-9E32-A0158C4D5890}"/>
              </a:ext>
            </a:extLst>
          </p:cNvPr>
          <p:cNvSpPr>
            <a:spLocks xmlns:a="http://schemas.openxmlformats.org/drawingml/2006/main" noGrp="1"/>
          </p:cNvSpPr>
          <p:nvPr/>
        </p:nvSpPr>
        <p:spPr>
          <a:xfrm xmlns:a="http://schemas.openxmlformats.org/drawingml/2006/main">
            <a:off x="566928" y="4242816"/>
            <a:ext cx="3551834" cy="20117"/>
          </a:xfrm>
          <a:prstGeom xmlns:a="http://schemas.openxmlformats.org/drawingml/2006/main" prst="rect">
            <a:avLst/>
          </a:prstGeom>
          <a:solidFill xmlns:a="http://schemas.openxmlformats.org/drawingml/2006/main">
            <a:srgbClr val="B04A25"/>
          </a:solidFill>
        </p:spPr>
      </p:sp>
      <p:sp>
        <p:nvSpPr>
          <p:cNvPr id="21" name="Text 19">
            <a:extLst xmlns:a="http://schemas.openxmlformats.org/drawingml/2006/main">
              <a:ext uri="{FF2B5EF4-FFF2-40B4-BE49-F238E27FC236}">
                <a16:creationId xmlns:a16="http://schemas.microsoft.com/office/drawing/2014/main" id="{3C611193-E3E3-4DCA-9891-37A0A381C867}"/>
              </a:ext>
            </a:extLst>
          </p:cNvPr>
          <p:cNvSpPr>
            <a:spLocks xmlns:a="http://schemas.openxmlformats.org/drawingml/2006/main" noGrp="1"/>
          </p:cNvSpPr>
          <p:nvPr/>
        </p:nvSpPr>
        <p:spPr>
          <a:xfrm xmlns:a="http://schemas.openxmlformats.org/drawingml/2006/main">
            <a:off x="566928" y="437083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No two are mutually exclusive — nothing forces a choice of supervisor.</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But each adds constraints the others do not, so the architecture must hold the union of all three.</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That is a harder problem than a conflict, because a conflict at least gets escalated. A compounding set just quietly makes the design stricter.</a:t>
            </a:r>
            <a:endParaRPr sz="960"/>
          </a:p>
        </p:txBody>
      </p:sp>
      <p:sp>
        <p:nvSpPr>
          <p:cNvPr id="22" name="Text 20">
            <a:extLst xmlns:a="http://schemas.openxmlformats.org/drawingml/2006/main">
              <a:ext uri="{FF2B5EF4-FFF2-40B4-BE49-F238E27FC236}">
                <a16:creationId xmlns:a16="http://schemas.microsoft.com/office/drawing/2014/main" id="{F1C97C7B-CAA8-4EEB-902F-F47CA5258384}"/>
              </a:ext>
            </a:extLst>
          </p:cNvPr>
          <p:cNvSpPr>
            <a:spLocks xmlns:a="http://schemas.openxmlformats.org/drawingml/2006/main" noGrp="1"/>
          </p:cNvSpPr>
          <p:nvPr/>
        </p:nvSpPr>
        <p:spPr>
          <a:xfrm xmlns:a="http://schemas.openxmlformats.org/drawingml/2006/main">
            <a:off x="4319930" y="39867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One regime dominates the storage decision</a:t>
            </a:r>
            <a:endParaRPr sz="1100"/>
          </a:p>
        </p:txBody>
      </p:sp>
      <p:sp>
        <p:nvSpPr>
          <p:cNvPr id="23" name="Shape 21">
            <a:extLst xmlns:a="http://schemas.openxmlformats.org/drawingml/2006/main">
              <a:ext uri="{FF2B5EF4-FFF2-40B4-BE49-F238E27FC236}">
                <a16:creationId xmlns:a16="http://schemas.microsoft.com/office/drawing/2014/main" id="{ED717B66-07EB-4C75-A6C0-0EE0DDD93B64}"/>
              </a:ext>
            </a:extLst>
          </p:cNvPr>
          <p:cNvSpPr>
            <a:spLocks xmlns:a="http://schemas.openxmlformats.org/drawingml/2006/main" noGrp="1"/>
          </p:cNvSpPr>
          <p:nvPr/>
        </p:nvSpPr>
        <p:spPr>
          <a:xfrm xmlns:a="http://schemas.openxmlformats.org/drawingml/2006/main">
            <a:off x="4319930" y="4242816"/>
            <a:ext cx="3551834" cy="20117"/>
          </a:xfrm>
          <a:prstGeom xmlns:a="http://schemas.openxmlformats.org/drawingml/2006/main" prst="rect">
            <a:avLst/>
          </a:prstGeom>
          <a:solidFill xmlns:a="http://schemas.openxmlformats.org/drawingml/2006/main">
            <a:srgbClr val="102A43"/>
          </a:solidFill>
        </p:spPr>
      </p:sp>
      <p:sp>
        <p:nvSpPr>
          <p:cNvPr id="24" name="Text 22">
            <a:extLst xmlns:a="http://schemas.openxmlformats.org/drawingml/2006/main">
              <a:ext uri="{FF2B5EF4-FFF2-40B4-BE49-F238E27FC236}">
                <a16:creationId xmlns:a16="http://schemas.microsoft.com/office/drawing/2014/main" id="{025A80E1-A2FA-4C44-801A-9EA3BD97F0BE}"/>
              </a:ext>
            </a:extLst>
          </p:cNvPr>
          <p:cNvSpPr>
            <a:spLocks xmlns:a="http://schemas.openxmlformats.org/drawingml/2006/main" noGrp="1"/>
          </p:cNvSpPr>
          <p:nvPr/>
        </p:nvSpPr>
        <p:spPr>
          <a:xfrm xmlns:a="http://schemas.openxmlformats.org/drawingml/2006/main">
            <a:off x="4319930" y="437083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Localisation in the neighbouring market forbids offshore hosting for that market's data outright.</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It is therefore the binding constraint on topology, regardless of what the other two would permit.</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architecture is shaped by that single requirement more than by any of the others.</a:t>
            </a:r>
            <a:endParaRPr sz="960"/>
          </a:p>
        </p:txBody>
      </p:sp>
      <p:sp>
        <p:nvSpPr>
          <p:cNvPr id="25" name="Text 23">
            <a:extLst xmlns:a="http://schemas.openxmlformats.org/drawingml/2006/main">
              <a:ext uri="{FF2B5EF4-FFF2-40B4-BE49-F238E27FC236}">
                <a16:creationId xmlns:a16="http://schemas.microsoft.com/office/drawing/2014/main" id="{6C324515-E438-43F8-A35B-7298921B40D5}"/>
              </a:ext>
            </a:extLst>
          </p:cNvPr>
          <p:cNvSpPr>
            <a:spLocks xmlns:a="http://schemas.openxmlformats.org/drawingml/2006/main" noGrp="1"/>
          </p:cNvSpPr>
          <p:nvPr/>
        </p:nvSpPr>
        <p:spPr>
          <a:xfrm xmlns:a="http://schemas.openxmlformats.org/drawingml/2006/main">
            <a:off x="8072933" y="39867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Another dominates the process design</a:t>
            </a:r>
            <a:endParaRPr sz="1100"/>
          </a:p>
        </p:txBody>
      </p:sp>
      <p:sp>
        <p:nvSpPr>
          <p:cNvPr id="26" name="Shape 24">
            <a:extLst xmlns:a="http://schemas.openxmlformats.org/drawingml/2006/main">
              <a:ext uri="{FF2B5EF4-FFF2-40B4-BE49-F238E27FC236}">
                <a16:creationId xmlns:a16="http://schemas.microsoft.com/office/drawing/2014/main" id="{469E3D16-EC58-4492-857C-81C47D624FA4}"/>
              </a:ext>
            </a:extLst>
          </p:cNvPr>
          <p:cNvSpPr>
            <a:spLocks xmlns:a="http://schemas.openxmlformats.org/drawingml/2006/main" noGrp="1"/>
          </p:cNvSpPr>
          <p:nvPr/>
        </p:nvSpPr>
        <p:spPr>
          <a:xfrm xmlns:a="http://schemas.openxmlformats.org/drawingml/2006/main">
            <a:off x="8072933" y="4242816"/>
            <a:ext cx="3551834" cy="20117"/>
          </a:xfrm>
          <a:prstGeom xmlns:a="http://schemas.openxmlformats.org/drawingml/2006/main" prst="rect">
            <a:avLst/>
          </a:prstGeom>
          <a:solidFill xmlns:a="http://schemas.openxmlformats.org/drawingml/2006/main">
            <a:srgbClr val="486581"/>
          </a:solidFill>
        </p:spPr>
      </p:sp>
      <p:sp>
        <p:nvSpPr>
          <p:cNvPr id="27" name="Text 25">
            <a:extLst xmlns:a="http://schemas.openxmlformats.org/drawingml/2006/main">
              <a:ext uri="{FF2B5EF4-FFF2-40B4-BE49-F238E27FC236}">
                <a16:creationId xmlns:a16="http://schemas.microsoft.com/office/drawing/2014/main" id="{2667CF52-830A-4713-BFD5-5F11F987AD9F}"/>
              </a:ext>
            </a:extLst>
          </p:cNvPr>
          <p:cNvSpPr>
            <a:spLocks xmlns:a="http://schemas.openxmlformats.org/drawingml/2006/main" noGrp="1"/>
          </p:cNvSpPr>
          <p:nvPr/>
        </p:nvSpPr>
        <p:spPr>
          <a:xfrm xmlns:a="http://schemas.openxmlformats.org/drawingml/2006/main">
            <a:off x="8072933" y="437083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 hub's personal-data regime drives consent, access rights, correction, retention and breach notification.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These are process and data-model obligations rather than topology ones, and they apply to everything the platform touches.</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Building them everywhere costs less than building them once and retrofitting them twice.</a:t>
            </a:r>
            <a:endParaRPr sz="960"/>
          </a:p>
        </p:txBody>
      </p:sp>
      <p:sp>
        <p:nvSpPr>
          <p:cNvPr id="28" name="Shape 26">
            <a:extLst xmlns:a="http://schemas.openxmlformats.org/drawingml/2006/main">
              <a:ext uri="{FF2B5EF4-FFF2-40B4-BE49-F238E27FC236}">
                <a16:creationId xmlns:a16="http://schemas.microsoft.com/office/drawing/2014/main" id="{C854632D-C1F5-4595-9138-901A65DD9CC8}"/>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100E69EC-DBED-4DEA-B1CA-2A99441B4D4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Programme requirements and jurisdictional constraints as stated by the bank · author's analysis</a:t>
            </a:r>
            <a:endParaRPr sz="850"/>
          </a:p>
        </p:txBody>
      </p:sp>
      <p:sp>
        <p:nvSpPr>
          <p:cNvPr id="30" name="Text 28">
            <a:extLst xmlns:a="http://schemas.openxmlformats.org/drawingml/2006/main">
              <a:ext uri="{FF2B5EF4-FFF2-40B4-BE49-F238E27FC236}">
                <a16:creationId xmlns:a16="http://schemas.microsoft.com/office/drawing/2014/main" id="{B219CF3A-F12D-4017-A4E1-A829C353528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127176063"/>
      </p:ext>
    </p:extLst>
  </p:cSld>
</p:sld>
</file>

<file path=ppt/slides/slide23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17E797-2C64-4920-92D4-1A3168FA684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CONTROL MAPPING</a:t>
            </a:r>
            <a:endParaRPr sz="950"/>
          </a:p>
        </p:txBody>
      </p:sp>
      <p:sp>
        <p:nvSpPr>
          <p:cNvPr id="3" name="Text 1">
            <a:extLst xmlns:a="http://schemas.openxmlformats.org/drawingml/2006/main">
              <a:ext uri="{FF2B5EF4-FFF2-40B4-BE49-F238E27FC236}">
                <a16:creationId xmlns:a16="http://schemas.microsoft.com/office/drawing/2014/main" id="{CF87EF43-C954-4097-9AE4-F91326A23ED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control domains mapped across three jurisdictions — the strictest cell in each</a:t>
            </a:r>
            <a:endParaRPr sz="1900"/>
          </a:p>
          <a:p xmlns:a="http://schemas.openxmlformats.org/drawingml/2006/main">
            <a:pPr marL="0" indent="0">
              <a:lnSpc>
                <a:spcPts val="2400"/>
              </a:lnSpc>
              <a:buNone/>
            </a:pPr>
            <a:r>
              <a:rPr sz="1900" b="1">
                <a:solidFill>
                  <a:srgbClr val="102A43"/>
                </a:solidFill>
                <a:latin typeface="Arial"/>
                <a:ea typeface="Arial"/>
                <a:cs typeface="Arial"/>
              </a:rPr>
              <a:t>row becomes the design baseline for the whole row</a:t>
            </a:r>
            <a:endParaRPr sz="1900"/>
          </a:p>
        </p:txBody>
      </p:sp>
      <p:sp>
        <p:nvSpPr>
          <p:cNvPr id="4" name="Shape 2">
            <a:extLst xmlns:a="http://schemas.openxmlformats.org/drawingml/2006/main">
              <a:ext uri="{FF2B5EF4-FFF2-40B4-BE49-F238E27FC236}">
                <a16:creationId xmlns:a16="http://schemas.microsoft.com/office/drawing/2014/main" id="{77BD597A-79C1-4157-8735-399DDDC6FB0C}"/>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0AF21F19-2855-4739-BA48-BA0EC336FDE9}"/>
              </a:ext>
            </a:extLst>
          </p:cNvPr>
          <p:cNvSpPr>
            <a:spLocks xmlns:a="http://schemas.openxmlformats.org/drawingml/2006/main" noGrp="1"/>
          </p:cNvSpPr>
          <p:nvPr/>
        </p:nvSpPr>
        <p:spPr>
          <a:xfrm xmlns:a="http://schemas.openxmlformats.org/drawingml/2006/main">
            <a:off x="676656" y="1444752"/>
            <a:ext cx="2798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Control domain</a:t>
            </a:r>
            <a:endParaRPr sz="920"/>
          </a:p>
        </p:txBody>
      </p:sp>
      <p:sp>
        <p:nvSpPr>
          <p:cNvPr id="6" name="Text 4">
            <a:extLst xmlns:a="http://schemas.openxmlformats.org/drawingml/2006/main">
              <a:ext uri="{FF2B5EF4-FFF2-40B4-BE49-F238E27FC236}">
                <a16:creationId xmlns:a16="http://schemas.microsoft.com/office/drawing/2014/main" id="{F48F425F-81D0-4CC7-92B1-46FE5139EF3B}"/>
              </a:ext>
            </a:extLst>
          </p:cNvPr>
          <p:cNvSpPr>
            <a:spLocks xmlns:a="http://schemas.openxmlformats.org/drawingml/2006/main" noGrp="1"/>
          </p:cNvSpPr>
          <p:nvPr/>
        </p:nvSpPr>
        <p:spPr>
          <a:xfrm xmlns:a="http://schemas.openxmlformats.org/drawingml/2006/main">
            <a:off x="3785616" y="1444752"/>
            <a:ext cx="18836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Home market</a:t>
            </a:r>
            <a:endParaRPr sz="920"/>
          </a:p>
        </p:txBody>
      </p:sp>
      <p:sp>
        <p:nvSpPr>
          <p:cNvPr id="7" name="Text 5">
            <a:extLst xmlns:a="http://schemas.openxmlformats.org/drawingml/2006/main">
              <a:ext uri="{FF2B5EF4-FFF2-40B4-BE49-F238E27FC236}">
                <a16:creationId xmlns:a16="http://schemas.microsoft.com/office/drawing/2014/main" id="{B3CED07E-4A87-4C79-BA40-261D2A7F4CF5}"/>
              </a:ext>
            </a:extLst>
          </p:cNvPr>
          <p:cNvSpPr>
            <a:spLocks xmlns:a="http://schemas.openxmlformats.org/drawingml/2006/main" noGrp="1"/>
          </p:cNvSpPr>
          <p:nvPr/>
        </p:nvSpPr>
        <p:spPr>
          <a:xfrm xmlns:a="http://schemas.openxmlformats.org/drawingml/2006/main">
            <a:off x="5888736" y="1444752"/>
            <a:ext cx="18836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Regional hub</a:t>
            </a:r>
            <a:endParaRPr sz="920"/>
          </a:p>
        </p:txBody>
      </p:sp>
      <p:sp>
        <p:nvSpPr>
          <p:cNvPr id="8" name="Text 6">
            <a:extLst xmlns:a="http://schemas.openxmlformats.org/drawingml/2006/main">
              <a:ext uri="{FF2B5EF4-FFF2-40B4-BE49-F238E27FC236}">
                <a16:creationId xmlns:a16="http://schemas.microsoft.com/office/drawing/2014/main" id="{6F04140C-A293-4F6E-B8C6-75888F224508}"/>
              </a:ext>
            </a:extLst>
          </p:cNvPr>
          <p:cNvSpPr>
            <a:spLocks xmlns:a="http://schemas.openxmlformats.org/drawingml/2006/main" noGrp="1"/>
          </p:cNvSpPr>
          <p:nvPr/>
        </p:nvSpPr>
        <p:spPr>
          <a:xfrm xmlns:a="http://schemas.openxmlformats.org/drawingml/2006/main">
            <a:off x="7991856" y="1444752"/>
            <a:ext cx="18836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Neighbouring market</a:t>
            </a:r>
            <a:endParaRPr sz="920"/>
          </a:p>
        </p:txBody>
      </p:sp>
      <p:sp>
        <p:nvSpPr>
          <p:cNvPr id="9" name="Text 7">
            <a:extLst xmlns:a="http://schemas.openxmlformats.org/drawingml/2006/main">
              <a:ext uri="{FF2B5EF4-FFF2-40B4-BE49-F238E27FC236}">
                <a16:creationId xmlns:a16="http://schemas.microsoft.com/office/drawing/2014/main" id="{144052D1-4713-4444-AE68-C5920077983C}"/>
              </a:ext>
            </a:extLst>
          </p:cNvPr>
          <p:cNvSpPr>
            <a:spLocks xmlns:a="http://schemas.openxmlformats.org/drawingml/2006/main" noGrp="1"/>
          </p:cNvSpPr>
          <p:nvPr/>
        </p:nvSpPr>
        <p:spPr>
          <a:xfrm xmlns:a="http://schemas.openxmlformats.org/drawingml/2006/main">
            <a:off x="10094976" y="1444752"/>
            <a:ext cx="14173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Baseline set by</a:t>
            </a:r>
            <a:endParaRPr sz="920"/>
          </a:p>
        </p:txBody>
      </p:sp>
      <p:sp>
        <p:nvSpPr>
          <p:cNvPr id="10" name="Text 8">
            <a:extLst xmlns:a="http://schemas.openxmlformats.org/drawingml/2006/main">
              <a:ext uri="{FF2B5EF4-FFF2-40B4-BE49-F238E27FC236}">
                <a16:creationId xmlns:a16="http://schemas.microsoft.com/office/drawing/2014/main" id="{9929BDF7-D87A-4E9B-B7F8-6CAE3DEF8917}"/>
              </a:ext>
            </a:extLst>
          </p:cNvPr>
          <p:cNvSpPr>
            <a:spLocks xmlns:a="http://schemas.openxmlformats.org/drawingml/2006/main" noGrp="1"/>
          </p:cNvSpPr>
          <p:nvPr/>
        </p:nvSpPr>
        <p:spPr>
          <a:xfrm xmlns:a="http://schemas.openxmlformats.org/drawingml/2006/main">
            <a:off x="676656" y="1801368"/>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Data residency</a:t>
            </a:r>
            <a:endParaRPr sz="970"/>
          </a:p>
        </p:txBody>
      </p:sp>
      <p:sp>
        <p:nvSpPr>
          <p:cNvPr id="11" name="Text 9">
            <a:extLst xmlns:a="http://schemas.openxmlformats.org/drawingml/2006/main">
              <a:ext uri="{FF2B5EF4-FFF2-40B4-BE49-F238E27FC236}">
                <a16:creationId xmlns:a16="http://schemas.microsoft.com/office/drawing/2014/main" id="{8E378491-CEA7-4EA1-A454-D96A1B8CE5BD}"/>
              </a:ext>
            </a:extLst>
          </p:cNvPr>
          <p:cNvSpPr>
            <a:spLocks xmlns:a="http://schemas.openxmlformats.org/drawingml/2006/main" noGrp="1"/>
          </p:cNvSpPr>
          <p:nvPr/>
        </p:nvSpPr>
        <p:spPr>
          <a:xfrm xmlns:a="http://schemas.openxmlformats.org/drawingml/2006/main">
            <a:off x="3785616" y="1801368"/>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In-market for primary data</a:t>
            </a:r>
            <a:endParaRPr sz="910"/>
          </a:p>
        </p:txBody>
      </p:sp>
      <p:sp>
        <p:nvSpPr>
          <p:cNvPr id="12" name="Text 10">
            <a:extLst xmlns:a="http://schemas.openxmlformats.org/drawingml/2006/main">
              <a:ext uri="{FF2B5EF4-FFF2-40B4-BE49-F238E27FC236}">
                <a16:creationId xmlns:a16="http://schemas.microsoft.com/office/drawing/2014/main" id="{FC6F3DDD-5B81-4D0E-ADAB-2A920CCDEA63}"/>
              </a:ext>
            </a:extLst>
          </p:cNvPr>
          <p:cNvSpPr>
            <a:spLocks xmlns:a="http://schemas.openxmlformats.org/drawingml/2006/main" noGrp="1"/>
          </p:cNvSpPr>
          <p:nvPr/>
        </p:nvSpPr>
        <p:spPr>
          <a:xfrm xmlns:a="http://schemas.openxmlformats.org/drawingml/2006/main">
            <a:off x="5888736" y="1801368"/>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Transfer on lawful basis</a:t>
            </a:r>
            <a:endParaRPr sz="910"/>
          </a:p>
        </p:txBody>
      </p:sp>
      <p:sp>
        <p:nvSpPr>
          <p:cNvPr id="13" name="Text 11">
            <a:extLst xmlns:a="http://schemas.openxmlformats.org/drawingml/2006/main">
              <a:ext uri="{FF2B5EF4-FFF2-40B4-BE49-F238E27FC236}">
                <a16:creationId xmlns:a16="http://schemas.microsoft.com/office/drawing/2014/main" id="{52DCB013-5F0E-4205-BCF7-D91654CB3A96}"/>
              </a:ext>
            </a:extLst>
          </p:cNvPr>
          <p:cNvSpPr>
            <a:spLocks xmlns:a="http://schemas.openxmlformats.org/drawingml/2006/main" noGrp="1"/>
          </p:cNvSpPr>
          <p:nvPr/>
        </p:nvSpPr>
        <p:spPr>
          <a:xfrm xmlns:a="http://schemas.openxmlformats.org/drawingml/2006/main">
            <a:off x="7991856" y="1801368"/>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In-country, no offshore</a:t>
            </a:r>
            <a:endParaRPr sz="910"/>
          </a:p>
        </p:txBody>
      </p:sp>
      <p:sp>
        <p:nvSpPr>
          <p:cNvPr id="14" name="Text 12">
            <a:extLst xmlns:a="http://schemas.openxmlformats.org/drawingml/2006/main">
              <a:ext uri="{FF2B5EF4-FFF2-40B4-BE49-F238E27FC236}">
                <a16:creationId xmlns:a16="http://schemas.microsoft.com/office/drawing/2014/main" id="{2AA248D2-B286-47F1-8C04-21CD682C6C07}"/>
              </a:ext>
            </a:extLst>
          </p:cNvPr>
          <p:cNvSpPr>
            <a:spLocks xmlns:a="http://schemas.openxmlformats.org/drawingml/2006/main" noGrp="1"/>
          </p:cNvSpPr>
          <p:nvPr/>
        </p:nvSpPr>
        <p:spPr>
          <a:xfrm xmlns:a="http://schemas.openxmlformats.org/drawingml/2006/main">
            <a:off x="10094976" y="1801368"/>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Neighbour</a:t>
            </a:r>
            <a:endParaRPr sz="920"/>
          </a:p>
        </p:txBody>
      </p:sp>
      <p:sp>
        <p:nvSpPr>
          <p:cNvPr id="15" name="Shape 13">
            <a:extLst xmlns:a="http://schemas.openxmlformats.org/drawingml/2006/main">
              <a:ext uri="{FF2B5EF4-FFF2-40B4-BE49-F238E27FC236}">
                <a16:creationId xmlns:a16="http://schemas.microsoft.com/office/drawing/2014/main" id="{425C6B61-DD35-450C-8637-5FDE76E700E4}"/>
              </a:ext>
            </a:extLst>
          </p:cNvPr>
          <p:cNvSpPr>
            <a:spLocks xmlns:a="http://schemas.openxmlformats.org/drawingml/2006/main" noGrp="1"/>
          </p:cNvSpPr>
          <p:nvPr/>
        </p:nvSpPr>
        <p:spPr>
          <a:xfrm xmlns:a="http://schemas.openxmlformats.org/drawingml/2006/main">
            <a:off x="566928" y="2176272"/>
            <a:ext cx="11057839" cy="7315"/>
          </a:xfrm>
          <a:prstGeom xmlns:a="http://schemas.openxmlformats.org/drawingml/2006/main" prst="rect">
            <a:avLst/>
          </a:prstGeom>
          <a:solidFill xmlns:a="http://schemas.openxmlformats.org/drawingml/2006/main">
            <a:srgbClr val="CBD5E0"/>
          </a:solidFill>
        </p:spPr>
      </p:sp>
      <p:sp>
        <p:nvSpPr>
          <p:cNvPr id="16" name="Shape 14">
            <a:extLst xmlns:a="http://schemas.openxmlformats.org/drawingml/2006/main">
              <a:ext uri="{FF2B5EF4-FFF2-40B4-BE49-F238E27FC236}">
                <a16:creationId xmlns:a16="http://schemas.microsoft.com/office/drawing/2014/main" id="{20DC4E0F-0AD0-4534-AD5F-875D220FB2AB}"/>
              </a:ext>
            </a:extLst>
          </p:cNvPr>
          <p:cNvSpPr>
            <a:spLocks xmlns:a="http://schemas.openxmlformats.org/drawingml/2006/main" noGrp="1"/>
          </p:cNvSpPr>
          <p:nvPr/>
        </p:nvSpPr>
        <p:spPr>
          <a:xfrm xmlns:a="http://schemas.openxmlformats.org/drawingml/2006/main">
            <a:off x="566928" y="2176272"/>
            <a:ext cx="11057839" cy="475488"/>
          </a:xfrm>
          <a:prstGeom xmlns:a="http://schemas.openxmlformats.org/drawingml/2006/main" prst="rect">
            <a:avLst/>
          </a:prstGeom>
          <a:solidFill xmlns:a="http://schemas.openxmlformats.org/drawingml/2006/main">
            <a:srgbClr val="F7F9FB"/>
          </a:solidFill>
        </p:spPr>
      </p:sp>
      <p:sp>
        <p:nvSpPr>
          <p:cNvPr id="17" name="Text 15">
            <a:extLst xmlns:a="http://schemas.openxmlformats.org/drawingml/2006/main">
              <a:ext uri="{FF2B5EF4-FFF2-40B4-BE49-F238E27FC236}">
                <a16:creationId xmlns:a16="http://schemas.microsoft.com/office/drawing/2014/main" id="{EF119403-D9BB-47B2-8B15-AD76DF8E93E0}"/>
              </a:ext>
            </a:extLst>
          </p:cNvPr>
          <p:cNvSpPr>
            <a:spLocks xmlns:a="http://schemas.openxmlformats.org/drawingml/2006/main" noGrp="1"/>
          </p:cNvSpPr>
          <p:nvPr/>
        </p:nvSpPr>
        <p:spPr>
          <a:xfrm xmlns:a="http://schemas.openxmlformats.org/drawingml/2006/main">
            <a:off x="676656" y="2276856"/>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Consent and lawful basis</a:t>
            </a:r>
            <a:endParaRPr sz="970"/>
          </a:p>
        </p:txBody>
      </p:sp>
      <p:sp>
        <p:nvSpPr>
          <p:cNvPr id="18" name="Text 16">
            <a:extLst xmlns:a="http://schemas.openxmlformats.org/drawingml/2006/main">
              <a:ext uri="{FF2B5EF4-FFF2-40B4-BE49-F238E27FC236}">
                <a16:creationId xmlns:a16="http://schemas.microsoft.com/office/drawing/2014/main" id="{AA4A9C15-BFA7-4B10-A79C-B8ECAD588395}"/>
              </a:ext>
            </a:extLst>
          </p:cNvPr>
          <p:cNvSpPr>
            <a:spLocks xmlns:a="http://schemas.openxmlformats.org/drawingml/2006/main" noGrp="1"/>
          </p:cNvSpPr>
          <p:nvPr/>
        </p:nvSpPr>
        <p:spPr>
          <a:xfrm xmlns:a="http://schemas.openxmlformats.org/drawingml/2006/main">
            <a:off x="3785616" y="2276856"/>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Sector rules apply</a:t>
            </a:r>
            <a:endParaRPr sz="910"/>
          </a:p>
        </p:txBody>
      </p:sp>
      <p:sp>
        <p:nvSpPr>
          <p:cNvPr id="19" name="Text 17">
            <a:extLst xmlns:a="http://schemas.openxmlformats.org/drawingml/2006/main">
              <a:ext uri="{FF2B5EF4-FFF2-40B4-BE49-F238E27FC236}">
                <a16:creationId xmlns:a16="http://schemas.microsoft.com/office/drawing/2014/main" id="{2E7C7BBB-770F-4D22-A620-FEB54A0F8AA4}"/>
              </a:ext>
            </a:extLst>
          </p:cNvPr>
          <p:cNvSpPr>
            <a:spLocks xmlns:a="http://schemas.openxmlformats.org/drawingml/2006/main" noGrp="1"/>
          </p:cNvSpPr>
          <p:nvPr/>
        </p:nvSpPr>
        <p:spPr>
          <a:xfrm xmlns:a="http://schemas.openxmlformats.org/drawingml/2006/main">
            <a:off x="5888736" y="2276856"/>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Explicit, purpose-bound, revocable</a:t>
            </a:r>
            <a:endParaRPr sz="910"/>
          </a:p>
        </p:txBody>
      </p:sp>
      <p:sp>
        <p:nvSpPr>
          <p:cNvPr id="20" name="Text 18">
            <a:extLst xmlns:a="http://schemas.openxmlformats.org/drawingml/2006/main">
              <a:ext uri="{FF2B5EF4-FFF2-40B4-BE49-F238E27FC236}">
                <a16:creationId xmlns:a16="http://schemas.microsoft.com/office/drawing/2014/main" id="{FFA1D45A-D93B-41CD-8F9E-86883DC8A506}"/>
              </a:ext>
            </a:extLst>
          </p:cNvPr>
          <p:cNvSpPr>
            <a:spLocks xmlns:a="http://schemas.openxmlformats.org/drawingml/2006/main" noGrp="1"/>
          </p:cNvSpPr>
          <p:nvPr/>
        </p:nvSpPr>
        <p:spPr>
          <a:xfrm xmlns:a="http://schemas.openxmlformats.org/drawingml/2006/main">
            <a:off x="7991856" y="2276856"/>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General protection regime</a:t>
            </a:r>
            <a:endParaRPr sz="910"/>
          </a:p>
        </p:txBody>
      </p:sp>
      <p:sp>
        <p:nvSpPr>
          <p:cNvPr id="21" name="Text 19">
            <a:extLst xmlns:a="http://schemas.openxmlformats.org/drawingml/2006/main">
              <a:ext uri="{FF2B5EF4-FFF2-40B4-BE49-F238E27FC236}">
                <a16:creationId xmlns:a16="http://schemas.microsoft.com/office/drawing/2014/main" id="{E8EF3448-273C-4134-925C-0C4923AE8225}"/>
              </a:ext>
            </a:extLst>
          </p:cNvPr>
          <p:cNvSpPr>
            <a:spLocks xmlns:a="http://schemas.openxmlformats.org/drawingml/2006/main" noGrp="1"/>
          </p:cNvSpPr>
          <p:nvPr/>
        </p:nvSpPr>
        <p:spPr>
          <a:xfrm xmlns:a="http://schemas.openxmlformats.org/drawingml/2006/main">
            <a:off x="10094976" y="2276856"/>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Hub</a:t>
            </a:r>
            <a:endParaRPr sz="920"/>
          </a:p>
        </p:txBody>
      </p:sp>
      <p:sp>
        <p:nvSpPr>
          <p:cNvPr id="22" name="Shape 20">
            <a:extLst xmlns:a="http://schemas.openxmlformats.org/drawingml/2006/main">
              <a:ext uri="{FF2B5EF4-FFF2-40B4-BE49-F238E27FC236}">
                <a16:creationId xmlns:a16="http://schemas.microsoft.com/office/drawing/2014/main" id="{88750DC8-9B3E-4BDE-999A-F3A1EA691BAD}"/>
              </a:ext>
            </a:extLst>
          </p:cNvPr>
          <p:cNvSpPr>
            <a:spLocks xmlns:a="http://schemas.openxmlformats.org/drawingml/2006/main" noGrp="1"/>
          </p:cNvSpPr>
          <p:nvPr/>
        </p:nvSpPr>
        <p:spPr>
          <a:xfrm xmlns:a="http://schemas.openxmlformats.org/drawingml/2006/main">
            <a:off x="566928" y="2651760"/>
            <a:ext cx="11057839" cy="7315"/>
          </a:xfrm>
          <a:prstGeom xmlns:a="http://schemas.openxmlformats.org/drawingml/2006/main" prst="rect">
            <a:avLst/>
          </a:prstGeom>
          <a:solidFill xmlns:a="http://schemas.openxmlformats.org/drawingml/2006/main">
            <a:srgbClr val="CBD5E0"/>
          </a:solidFill>
        </p:spPr>
      </p:sp>
      <p:sp>
        <p:nvSpPr>
          <p:cNvPr id="23" name="Text 21">
            <a:extLst xmlns:a="http://schemas.openxmlformats.org/drawingml/2006/main">
              <a:ext uri="{FF2B5EF4-FFF2-40B4-BE49-F238E27FC236}">
                <a16:creationId xmlns:a16="http://schemas.microsoft.com/office/drawing/2014/main" id="{3BB2E698-E1BE-436D-9C6C-67F0CDD5286E}"/>
              </a:ext>
            </a:extLst>
          </p:cNvPr>
          <p:cNvSpPr>
            <a:spLocks xmlns:a="http://schemas.openxmlformats.org/drawingml/2006/main" noGrp="1"/>
          </p:cNvSpPr>
          <p:nvPr/>
        </p:nvSpPr>
        <p:spPr>
          <a:xfrm xmlns:a="http://schemas.openxmlformats.org/drawingml/2006/main">
            <a:off x="676656" y="2752344"/>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Access and correction rights</a:t>
            </a:r>
            <a:endParaRPr sz="970"/>
          </a:p>
        </p:txBody>
      </p:sp>
      <p:sp>
        <p:nvSpPr>
          <p:cNvPr id="24" name="Text 22">
            <a:extLst xmlns:a="http://schemas.openxmlformats.org/drawingml/2006/main">
              <a:ext uri="{FF2B5EF4-FFF2-40B4-BE49-F238E27FC236}">
                <a16:creationId xmlns:a16="http://schemas.microsoft.com/office/drawing/2014/main" id="{9595BF60-5E21-4787-A739-54B7FF903889}"/>
              </a:ext>
            </a:extLst>
          </p:cNvPr>
          <p:cNvSpPr>
            <a:spLocks xmlns:a="http://schemas.openxmlformats.org/drawingml/2006/main" noGrp="1"/>
          </p:cNvSpPr>
          <p:nvPr/>
        </p:nvSpPr>
        <p:spPr>
          <a:xfrm xmlns:a="http://schemas.openxmlformats.org/drawingml/2006/main">
            <a:off x="3785616" y="2752344"/>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On request</a:t>
            </a:r>
            <a:endParaRPr sz="910"/>
          </a:p>
        </p:txBody>
      </p:sp>
      <p:sp>
        <p:nvSpPr>
          <p:cNvPr id="25" name="Text 23">
            <a:extLst xmlns:a="http://schemas.openxmlformats.org/drawingml/2006/main">
              <a:ext uri="{FF2B5EF4-FFF2-40B4-BE49-F238E27FC236}">
                <a16:creationId xmlns:a16="http://schemas.microsoft.com/office/drawing/2014/main" id="{E9500506-F175-4C93-8783-878BBCA51A65}"/>
              </a:ext>
            </a:extLst>
          </p:cNvPr>
          <p:cNvSpPr>
            <a:spLocks xmlns:a="http://schemas.openxmlformats.org/drawingml/2006/main" noGrp="1"/>
          </p:cNvSpPr>
          <p:nvPr/>
        </p:nvSpPr>
        <p:spPr>
          <a:xfrm xmlns:a="http://schemas.openxmlformats.org/drawingml/2006/main">
            <a:off x="5888736" y="2752344"/>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Individual right, defined window</a:t>
            </a:r>
            <a:endParaRPr sz="910"/>
          </a:p>
        </p:txBody>
      </p:sp>
      <p:sp>
        <p:nvSpPr>
          <p:cNvPr id="26" name="Text 24">
            <a:extLst xmlns:a="http://schemas.openxmlformats.org/drawingml/2006/main">
              <a:ext uri="{FF2B5EF4-FFF2-40B4-BE49-F238E27FC236}">
                <a16:creationId xmlns:a16="http://schemas.microsoft.com/office/drawing/2014/main" id="{CFA43E57-1868-4460-AC77-9228D52296E4}"/>
              </a:ext>
            </a:extLst>
          </p:cNvPr>
          <p:cNvSpPr>
            <a:spLocks xmlns:a="http://schemas.openxmlformats.org/drawingml/2006/main" noGrp="1"/>
          </p:cNvSpPr>
          <p:nvPr/>
        </p:nvSpPr>
        <p:spPr>
          <a:xfrm xmlns:a="http://schemas.openxmlformats.org/drawingml/2006/main">
            <a:off x="7991856" y="2752344"/>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On request</a:t>
            </a:r>
            <a:endParaRPr sz="910"/>
          </a:p>
        </p:txBody>
      </p:sp>
      <p:sp>
        <p:nvSpPr>
          <p:cNvPr id="27" name="Text 25">
            <a:extLst xmlns:a="http://schemas.openxmlformats.org/drawingml/2006/main">
              <a:ext uri="{FF2B5EF4-FFF2-40B4-BE49-F238E27FC236}">
                <a16:creationId xmlns:a16="http://schemas.microsoft.com/office/drawing/2014/main" id="{152CBFAF-6FAF-442C-9AE5-FA209D573DBA}"/>
              </a:ext>
            </a:extLst>
          </p:cNvPr>
          <p:cNvSpPr>
            <a:spLocks xmlns:a="http://schemas.openxmlformats.org/drawingml/2006/main" noGrp="1"/>
          </p:cNvSpPr>
          <p:nvPr/>
        </p:nvSpPr>
        <p:spPr>
          <a:xfrm xmlns:a="http://schemas.openxmlformats.org/drawingml/2006/main">
            <a:off x="10094976" y="2752344"/>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Hub</a:t>
            </a:r>
            <a:endParaRPr sz="920"/>
          </a:p>
        </p:txBody>
      </p:sp>
      <p:sp>
        <p:nvSpPr>
          <p:cNvPr id="28" name="Shape 26">
            <a:extLst xmlns:a="http://schemas.openxmlformats.org/drawingml/2006/main">
              <a:ext uri="{FF2B5EF4-FFF2-40B4-BE49-F238E27FC236}">
                <a16:creationId xmlns:a16="http://schemas.microsoft.com/office/drawing/2014/main" id="{0B4C8CA4-EB72-434C-A890-657F5536D92C}"/>
              </a:ext>
            </a:extLst>
          </p:cNvPr>
          <p:cNvSpPr>
            <a:spLocks xmlns:a="http://schemas.openxmlformats.org/drawingml/2006/main" noGrp="1"/>
          </p:cNvSpPr>
          <p:nvPr/>
        </p:nvSpPr>
        <p:spPr>
          <a:xfrm xmlns:a="http://schemas.openxmlformats.org/drawingml/2006/main">
            <a:off x="566928" y="3127248"/>
            <a:ext cx="11057839" cy="7315"/>
          </a:xfrm>
          <a:prstGeom xmlns:a="http://schemas.openxmlformats.org/drawingml/2006/main" prst="rect">
            <a:avLst/>
          </a:prstGeom>
          <a:solidFill xmlns:a="http://schemas.openxmlformats.org/drawingml/2006/main">
            <a:srgbClr val="CBD5E0"/>
          </a:solidFill>
        </p:spPr>
      </p:sp>
      <p:sp>
        <p:nvSpPr>
          <p:cNvPr id="29" name="Shape 27">
            <a:extLst xmlns:a="http://schemas.openxmlformats.org/drawingml/2006/main">
              <a:ext uri="{FF2B5EF4-FFF2-40B4-BE49-F238E27FC236}">
                <a16:creationId xmlns:a16="http://schemas.microsoft.com/office/drawing/2014/main" id="{DC9CDC58-1922-43E0-A4C2-5FBFF2067AF9}"/>
              </a:ext>
            </a:extLst>
          </p:cNvPr>
          <p:cNvSpPr>
            <a:spLocks xmlns:a="http://schemas.openxmlformats.org/drawingml/2006/main" noGrp="1"/>
          </p:cNvSpPr>
          <p:nvPr/>
        </p:nvSpPr>
        <p:spPr>
          <a:xfrm xmlns:a="http://schemas.openxmlformats.org/drawingml/2006/main">
            <a:off x="566928" y="3127248"/>
            <a:ext cx="11057839" cy="475488"/>
          </a:xfrm>
          <a:prstGeom xmlns:a="http://schemas.openxmlformats.org/drawingml/2006/main" prst="rect">
            <a:avLst/>
          </a:prstGeom>
          <a:solidFill xmlns:a="http://schemas.openxmlformats.org/drawingml/2006/main">
            <a:srgbClr val="F7F9FB"/>
          </a:solidFill>
        </p:spPr>
      </p:sp>
      <p:sp>
        <p:nvSpPr>
          <p:cNvPr id="30" name="Text 28">
            <a:extLst xmlns:a="http://schemas.openxmlformats.org/drawingml/2006/main">
              <a:ext uri="{FF2B5EF4-FFF2-40B4-BE49-F238E27FC236}">
                <a16:creationId xmlns:a16="http://schemas.microsoft.com/office/drawing/2014/main" id="{53F24C15-8C17-43C6-AA9A-D08670F94DF2}"/>
              </a:ext>
            </a:extLst>
          </p:cNvPr>
          <p:cNvSpPr>
            <a:spLocks xmlns:a="http://schemas.openxmlformats.org/drawingml/2006/main" noGrp="1"/>
          </p:cNvSpPr>
          <p:nvPr/>
        </p:nvSpPr>
        <p:spPr>
          <a:xfrm xmlns:a="http://schemas.openxmlformats.org/drawingml/2006/main">
            <a:off x="676656" y="3227832"/>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Breach notification</a:t>
            </a:r>
            <a:endParaRPr sz="970"/>
          </a:p>
        </p:txBody>
      </p:sp>
      <p:sp>
        <p:nvSpPr>
          <p:cNvPr id="31" name="Text 29">
            <a:extLst xmlns:a="http://schemas.openxmlformats.org/drawingml/2006/main">
              <a:ext uri="{FF2B5EF4-FFF2-40B4-BE49-F238E27FC236}">
                <a16:creationId xmlns:a16="http://schemas.microsoft.com/office/drawing/2014/main" id="{56796E7F-C306-417C-92AC-B31D805DB905}"/>
              </a:ext>
            </a:extLst>
          </p:cNvPr>
          <p:cNvSpPr>
            <a:spLocks xmlns:a="http://schemas.openxmlformats.org/drawingml/2006/main" noGrp="1"/>
          </p:cNvSpPr>
          <p:nvPr/>
        </p:nvSpPr>
        <p:spPr>
          <a:xfrm xmlns:a="http://schemas.openxmlformats.org/drawingml/2006/main">
            <a:off x="3785616" y="3227832"/>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Defined reporting window</a:t>
            </a:r>
            <a:endParaRPr sz="910"/>
          </a:p>
        </p:txBody>
      </p:sp>
      <p:sp>
        <p:nvSpPr>
          <p:cNvPr id="32" name="Text 30">
            <a:extLst xmlns:a="http://schemas.openxmlformats.org/drawingml/2006/main">
              <a:ext uri="{FF2B5EF4-FFF2-40B4-BE49-F238E27FC236}">
                <a16:creationId xmlns:a16="http://schemas.microsoft.com/office/drawing/2014/main" id="{EC232B93-8576-44A2-8E29-2FCBB7F42C0B}"/>
              </a:ext>
            </a:extLst>
          </p:cNvPr>
          <p:cNvSpPr>
            <a:spLocks xmlns:a="http://schemas.openxmlformats.org/drawingml/2006/main" noGrp="1"/>
          </p:cNvSpPr>
          <p:nvPr/>
        </p:nvSpPr>
        <p:spPr>
          <a:xfrm xmlns:a="http://schemas.openxmlformats.org/drawingml/2006/main">
            <a:off x="5888736" y="3227832"/>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Defined window to authority and subject</a:t>
            </a:r>
            <a:endParaRPr sz="910"/>
          </a:p>
        </p:txBody>
      </p:sp>
      <p:sp>
        <p:nvSpPr>
          <p:cNvPr id="33" name="Text 31">
            <a:extLst xmlns:a="http://schemas.openxmlformats.org/drawingml/2006/main">
              <a:ext uri="{FF2B5EF4-FFF2-40B4-BE49-F238E27FC236}">
                <a16:creationId xmlns:a16="http://schemas.microsoft.com/office/drawing/2014/main" id="{9EC258C1-12BB-40A1-A664-2E092B19AB2A}"/>
              </a:ext>
            </a:extLst>
          </p:cNvPr>
          <p:cNvSpPr>
            <a:spLocks xmlns:a="http://schemas.openxmlformats.org/drawingml/2006/main" noGrp="1"/>
          </p:cNvSpPr>
          <p:nvPr/>
        </p:nvSpPr>
        <p:spPr>
          <a:xfrm xmlns:a="http://schemas.openxmlformats.org/drawingml/2006/main">
            <a:off x="7991856" y="3227832"/>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Defined reporting window</a:t>
            </a:r>
            <a:endParaRPr sz="910"/>
          </a:p>
        </p:txBody>
      </p:sp>
      <p:sp>
        <p:nvSpPr>
          <p:cNvPr id="34" name="Text 32">
            <a:extLst xmlns:a="http://schemas.openxmlformats.org/drawingml/2006/main">
              <a:ext uri="{FF2B5EF4-FFF2-40B4-BE49-F238E27FC236}">
                <a16:creationId xmlns:a16="http://schemas.microsoft.com/office/drawing/2014/main" id="{DCE38A19-0352-440F-B260-92EF1DF6B731}"/>
              </a:ext>
            </a:extLst>
          </p:cNvPr>
          <p:cNvSpPr>
            <a:spLocks xmlns:a="http://schemas.openxmlformats.org/drawingml/2006/main" noGrp="1"/>
          </p:cNvSpPr>
          <p:nvPr/>
        </p:nvSpPr>
        <p:spPr>
          <a:xfrm xmlns:a="http://schemas.openxmlformats.org/drawingml/2006/main">
            <a:off x="10094976" y="3227832"/>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Hub</a:t>
            </a:r>
            <a:endParaRPr sz="920"/>
          </a:p>
        </p:txBody>
      </p:sp>
      <p:sp>
        <p:nvSpPr>
          <p:cNvPr id="35" name="Shape 33">
            <a:extLst xmlns:a="http://schemas.openxmlformats.org/drawingml/2006/main">
              <a:ext uri="{FF2B5EF4-FFF2-40B4-BE49-F238E27FC236}">
                <a16:creationId xmlns:a16="http://schemas.microsoft.com/office/drawing/2014/main" id="{F0787B34-16B4-4CE4-BFFC-2E59A7CB71C9}"/>
              </a:ext>
            </a:extLst>
          </p:cNvPr>
          <p:cNvSpPr>
            <a:spLocks xmlns:a="http://schemas.openxmlformats.org/drawingml/2006/main" noGrp="1"/>
          </p:cNvSpPr>
          <p:nvPr/>
        </p:nvSpPr>
        <p:spPr>
          <a:xfrm xmlns:a="http://schemas.openxmlformats.org/drawingml/2006/main">
            <a:off x="566928" y="3602736"/>
            <a:ext cx="11057839" cy="7315"/>
          </a:xfrm>
          <a:prstGeom xmlns:a="http://schemas.openxmlformats.org/drawingml/2006/main" prst="rect">
            <a:avLst/>
          </a:prstGeom>
          <a:solidFill xmlns:a="http://schemas.openxmlformats.org/drawingml/2006/main">
            <a:srgbClr val="CBD5E0"/>
          </a:solidFill>
        </p:spPr>
      </p:sp>
      <p:sp>
        <p:nvSpPr>
          <p:cNvPr id="36" name="Text 34">
            <a:extLst xmlns:a="http://schemas.openxmlformats.org/drawingml/2006/main">
              <a:ext uri="{FF2B5EF4-FFF2-40B4-BE49-F238E27FC236}">
                <a16:creationId xmlns:a16="http://schemas.microsoft.com/office/drawing/2014/main" id="{3EF86A4F-171D-410F-851B-A02EE1DCBC4B}"/>
              </a:ext>
            </a:extLst>
          </p:cNvPr>
          <p:cNvSpPr>
            <a:spLocks xmlns:a="http://schemas.openxmlformats.org/drawingml/2006/main" noGrp="1"/>
          </p:cNvSpPr>
          <p:nvPr/>
        </p:nvSpPr>
        <p:spPr>
          <a:xfrm xmlns:a="http://schemas.openxmlformats.org/drawingml/2006/main">
            <a:off x="676656" y="3703320"/>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Isolation of wholesale data</a:t>
            </a:r>
            <a:endParaRPr sz="970"/>
          </a:p>
        </p:txBody>
      </p:sp>
      <p:sp>
        <p:nvSpPr>
          <p:cNvPr id="37" name="Text 35">
            <a:extLst xmlns:a="http://schemas.openxmlformats.org/drawingml/2006/main">
              <a:ext uri="{FF2B5EF4-FFF2-40B4-BE49-F238E27FC236}">
                <a16:creationId xmlns:a16="http://schemas.microsoft.com/office/drawing/2014/main" id="{881E80AB-6424-4EE5-A2F5-B3869A1CC96E}"/>
              </a:ext>
            </a:extLst>
          </p:cNvPr>
          <p:cNvSpPr>
            <a:spLocks xmlns:a="http://schemas.openxmlformats.org/drawingml/2006/main" noGrp="1"/>
          </p:cNvSpPr>
          <p:nvPr/>
        </p:nvSpPr>
        <p:spPr>
          <a:xfrm xmlns:a="http://schemas.openxmlformats.org/drawingml/2006/main">
            <a:off x="3785616" y="3703320"/>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Physical separation required</a:t>
            </a:r>
            <a:endParaRPr sz="910"/>
          </a:p>
        </p:txBody>
      </p:sp>
      <p:sp>
        <p:nvSpPr>
          <p:cNvPr id="38" name="Text 36">
            <a:extLst xmlns:a="http://schemas.openxmlformats.org/drawingml/2006/main">
              <a:ext uri="{FF2B5EF4-FFF2-40B4-BE49-F238E27FC236}">
                <a16:creationId xmlns:a16="http://schemas.microsoft.com/office/drawing/2014/main" id="{C5DE6077-FA93-4190-A89A-E8F97568A6D3}"/>
              </a:ext>
            </a:extLst>
          </p:cNvPr>
          <p:cNvSpPr>
            <a:spLocks xmlns:a="http://schemas.openxmlformats.org/drawingml/2006/main" noGrp="1"/>
          </p:cNvSpPr>
          <p:nvPr/>
        </p:nvSpPr>
        <p:spPr>
          <a:xfrm xmlns:a="http://schemas.openxmlformats.org/drawingml/2006/main">
            <a:off x="5888736" y="3703320"/>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Physical separation required</a:t>
            </a:r>
            <a:endParaRPr sz="910"/>
          </a:p>
        </p:txBody>
      </p:sp>
      <p:sp>
        <p:nvSpPr>
          <p:cNvPr id="39" name="Text 37">
            <a:extLst xmlns:a="http://schemas.openxmlformats.org/drawingml/2006/main">
              <a:ext uri="{FF2B5EF4-FFF2-40B4-BE49-F238E27FC236}">
                <a16:creationId xmlns:a16="http://schemas.microsoft.com/office/drawing/2014/main" id="{A3B90A4C-79C4-409B-8509-F6EEA9CC4F4E}"/>
              </a:ext>
            </a:extLst>
          </p:cNvPr>
          <p:cNvSpPr>
            <a:spLocks xmlns:a="http://schemas.openxmlformats.org/drawingml/2006/main" noGrp="1"/>
          </p:cNvSpPr>
          <p:nvPr/>
        </p:nvSpPr>
        <p:spPr>
          <a:xfrm xmlns:a="http://schemas.openxmlformats.org/drawingml/2006/main">
            <a:off x="7991856" y="3703320"/>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Physical separation required</a:t>
            </a:r>
            <a:endParaRPr sz="910"/>
          </a:p>
        </p:txBody>
      </p:sp>
      <p:sp>
        <p:nvSpPr>
          <p:cNvPr id="40" name="Text 38">
            <a:extLst xmlns:a="http://schemas.openxmlformats.org/drawingml/2006/main">
              <a:ext uri="{FF2B5EF4-FFF2-40B4-BE49-F238E27FC236}">
                <a16:creationId xmlns:a16="http://schemas.microsoft.com/office/drawing/2014/main" id="{84CE3010-3A3A-4890-8973-1876FEF7CB8F}"/>
              </a:ext>
            </a:extLst>
          </p:cNvPr>
          <p:cNvSpPr>
            <a:spLocks xmlns:a="http://schemas.openxmlformats.org/drawingml/2006/main" noGrp="1"/>
          </p:cNvSpPr>
          <p:nvPr/>
        </p:nvSpPr>
        <p:spPr>
          <a:xfrm xmlns:a="http://schemas.openxmlformats.org/drawingml/2006/main">
            <a:off x="10094976" y="3703320"/>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All three</a:t>
            </a:r>
            <a:endParaRPr sz="920"/>
          </a:p>
        </p:txBody>
      </p:sp>
      <p:sp>
        <p:nvSpPr>
          <p:cNvPr id="41" name="Shape 39">
            <a:extLst xmlns:a="http://schemas.openxmlformats.org/drawingml/2006/main">
              <a:ext uri="{FF2B5EF4-FFF2-40B4-BE49-F238E27FC236}">
                <a16:creationId xmlns:a16="http://schemas.microsoft.com/office/drawing/2014/main" id="{199EEBB9-A41A-4AC7-A799-C49BCBCD23B3}"/>
              </a:ext>
            </a:extLst>
          </p:cNvPr>
          <p:cNvSpPr>
            <a:spLocks xmlns:a="http://schemas.openxmlformats.org/drawingml/2006/main" noGrp="1"/>
          </p:cNvSpPr>
          <p:nvPr/>
        </p:nvSpPr>
        <p:spPr>
          <a:xfrm xmlns:a="http://schemas.openxmlformats.org/drawingml/2006/main">
            <a:off x="566928" y="4078224"/>
            <a:ext cx="11057839" cy="7315"/>
          </a:xfrm>
          <a:prstGeom xmlns:a="http://schemas.openxmlformats.org/drawingml/2006/main" prst="rect">
            <a:avLst/>
          </a:prstGeom>
          <a:solidFill xmlns:a="http://schemas.openxmlformats.org/drawingml/2006/main">
            <a:srgbClr val="CBD5E0"/>
          </a:solidFill>
        </p:spPr>
      </p:sp>
      <p:sp>
        <p:nvSpPr>
          <p:cNvPr id="42" name="Shape 40">
            <a:extLst xmlns:a="http://schemas.openxmlformats.org/drawingml/2006/main">
              <a:ext uri="{FF2B5EF4-FFF2-40B4-BE49-F238E27FC236}">
                <a16:creationId xmlns:a16="http://schemas.microsoft.com/office/drawing/2014/main" id="{E5D41C14-9FA8-4BEA-8F21-F1E2609B8F37}"/>
              </a:ext>
            </a:extLst>
          </p:cNvPr>
          <p:cNvSpPr>
            <a:spLocks xmlns:a="http://schemas.openxmlformats.org/drawingml/2006/main" noGrp="1"/>
          </p:cNvSpPr>
          <p:nvPr/>
        </p:nvSpPr>
        <p:spPr>
          <a:xfrm xmlns:a="http://schemas.openxmlformats.org/drawingml/2006/main">
            <a:off x="566928" y="4078224"/>
            <a:ext cx="11057839" cy="475488"/>
          </a:xfrm>
          <a:prstGeom xmlns:a="http://schemas.openxmlformats.org/drawingml/2006/main" prst="rect">
            <a:avLst/>
          </a:prstGeom>
          <a:solidFill xmlns:a="http://schemas.openxmlformats.org/drawingml/2006/main">
            <a:srgbClr val="F7F9FB"/>
          </a:solidFill>
        </p:spPr>
      </p:sp>
      <p:sp>
        <p:nvSpPr>
          <p:cNvPr id="43" name="Text 41">
            <a:extLst xmlns:a="http://schemas.openxmlformats.org/drawingml/2006/main">
              <a:ext uri="{FF2B5EF4-FFF2-40B4-BE49-F238E27FC236}">
                <a16:creationId xmlns:a16="http://schemas.microsoft.com/office/drawing/2014/main" id="{C12272A0-1D67-4069-B014-6B58155EB4C1}"/>
              </a:ext>
            </a:extLst>
          </p:cNvPr>
          <p:cNvSpPr>
            <a:spLocks xmlns:a="http://schemas.openxmlformats.org/drawingml/2006/main" noGrp="1"/>
          </p:cNvSpPr>
          <p:nvPr/>
        </p:nvSpPr>
        <p:spPr>
          <a:xfrm xmlns:a="http://schemas.openxmlformats.org/drawingml/2006/main">
            <a:off x="676656" y="4178808"/>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Audit and evidence</a:t>
            </a:r>
            <a:endParaRPr sz="970"/>
          </a:p>
        </p:txBody>
      </p:sp>
      <p:sp>
        <p:nvSpPr>
          <p:cNvPr id="44" name="Text 42">
            <a:extLst xmlns:a="http://schemas.openxmlformats.org/drawingml/2006/main">
              <a:ext uri="{FF2B5EF4-FFF2-40B4-BE49-F238E27FC236}">
                <a16:creationId xmlns:a16="http://schemas.microsoft.com/office/drawing/2014/main" id="{888818F1-DAB3-4552-9259-F8E8FAA7D04F}"/>
              </a:ext>
            </a:extLst>
          </p:cNvPr>
          <p:cNvSpPr>
            <a:spLocks xmlns:a="http://schemas.openxmlformats.org/drawingml/2006/main" noGrp="1"/>
          </p:cNvSpPr>
          <p:nvPr/>
        </p:nvSpPr>
        <p:spPr>
          <a:xfrm xmlns:a="http://schemas.openxmlformats.org/drawingml/2006/main">
            <a:off x="3785616" y="4178808"/>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Available on inspection</a:t>
            </a:r>
            <a:endParaRPr sz="910"/>
          </a:p>
        </p:txBody>
      </p:sp>
      <p:sp>
        <p:nvSpPr>
          <p:cNvPr id="45" name="Text 43">
            <a:extLst xmlns:a="http://schemas.openxmlformats.org/drawingml/2006/main">
              <a:ext uri="{FF2B5EF4-FFF2-40B4-BE49-F238E27FC236}">
                <a16:creationId xmlns:a16="http://schemas.microsoft.com/office/drawing/2014/main" id="{B251E6D1-EFC2-4AD9-AF97-7F78F50F45A7}"/>
              </a:ext>
            </a:extLst>
          </p:cNvPr>
          <p:cNvSpPr>
            <a:spLocks xmlns:a="http://schemas.openxmlformats.org/drawingml/2006/main" noGrp="1"/>
          </p:cNvSpPr>
          <p:nvPr/>
        </p:nvSpPr>
        <p:spPr>
          <a:xfrm xmlns:a="http://schemas.openxmlformats.org/drawingml/2006/main">
            <a:off x="5888736" y="4178808"/>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Demonstrable accountability</a:t>
            </a:r>
            <a:endParaRPr sz="910"/>
          </a:p>
        </p:txBody>
      </p:sp>
      <p:sp>
        <p:nvSpPr>
          <p:cNvPr id="46" name="Text 44">
            <a:extLst xmlns:a="http://schemas.openxmlformats.org/drawingml/2006/main">
              <a:ext uri="{FF2B5EF4-FFF2-40B4-BE49-F238E27FC236}">
                <a16:creationId xmlns:a16="http://schemas.microsoft.com/office/drawing/2014/main" id="{1EFCFEC7-74B7-429B-93C5-A90F4728D3A1}"/>
              </a:ext>
            </a:extLst>
          </p:cNvPr>
          <p:cNvSpPr>
            <a:spLocks xmlns:a="http://schemas.openxmlformats.org/drawingml/2006/main" noGrp="1"/>
          </p:cNvSpPr>
          <p:nvPr/>
        </p:nvSpPr>
        <p:spPr>
          <a:xfrm xmlns:a="http://schemas.openxmlformats.org/drawingml/2006/main">
            <a:off x="7991856" y="4178808"/>
            <a:ext cx="18836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10">
                <a:solidFill>
                  <a:srgbClr val="486581"/>
                </a:solidFill>
                <a:latin typeface="Arial"/>
                <a:ea typeface="Arial"/>
                <a:cs typeface="Arial"/>
              </a:rPr>
              <a:t>Local access for inspection</a:t>
            </a:r>
            <a:endParaRPr sz="910"/>
          </a:p>
        </p:txBody>
      </p:sp>
      <p:sp>
        <p:nvSpPr>
          <p:cNvPr id="47" name="Text 45">
            <a:extLst xmlns:a="http://schemas.openxmlformats.org/drawingml/2006/main">
              <a:ext uri="{FF2B5EF4-FFF2-40B4-BE49-F238E27FC236}">
                <a16:creationId xmlns:a16="http://schemas.microsoft.com/office/drawing/2014/main" id="{98BDFFD7-A3A2-453C-8759-94467BCC8579}"/>
              </a:ext>
            </a:extLst>
          </p:cNvPr>
          <p:cNvSpPr>
            <a:spLocks xmlns:a="http://schemas.openxmlformats.org/drawingml/2006/main" noGrp="1"/>
          </p:cNvSpPr>
          <p:nvPr/>
        </p:nvSpPr>
        <p:spPr>
          <a:xfrm xmlns:a="http://schemas.openxmlformats.org/drawingml/2006/main">
            <a:off x="10094976" y="4178808"/>
            <a:ext cx="1417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Hub + neighbour</a:t>
            </a:r>
            <a:endParaRPr sz="920"/>
          </a:p>
        </p:txBody>
      </p:sp>
      <p:sp>
        <p:nvSpPr>
          <p:cNvPr id="48" name="Shape 46">
            <a:extLst xmlns:a="http://schemas.openxmlformats.org/drawingml/2006/main">
              <a:ext uri="{FF2B5EF4-FFF2-40B4-BE49-F238E27FC236}">
                <a16:creationId xmlns:a16="http://schemas.microsoft.com/office/drawing/2014/main" id="{D757C0EB-4701-4E3A-B1F6-E65A72E73E36}"/>
              </a:ext>
            </a:extLst>
          </p:cNvPr>
          <p:cNvSpPr>
            <a:spLocks xmlns:a="http://schemas.openxmlformats.org/drawingml/2006/main" noGrp="1"/>
          </p:cNvSpPr>
          <p:nvPr/>
        </p:nvSpPr>
        <p:spPr>
          <a:xfrm xmlns:a="http://schemas.openxmlformats.org/drawingml/2006/main">
            <a:off x="566928" y="4553712"/>
            <a:ext cx="11057839" cy="7315"/>
          </a:xfrm>
          <a:prstGeom xmlns:a="http://schemas.openxmlformats.org/drawingml/2006/main" prst="rect">
            <a:avLst/>
          </a:prstGeom>
          <a:solidFill xmlns:a="http://schemas.openxmlformats.org/drawingml/2006/main">
            <a:srgbClr val="CBD5E0"/>
          </a:solidFill>
        </p:spPr>
      </p:sp>
      <p:sp>
        <p:nvSpPr>
          <p:cNvPr id="49" name="Text 47">
            <a:extLst xmlns:a="http://schemas.openxmlformats.org/drawingml/2006/main">
              <a:ext uri="{FF2B5EF4-FFF2-40B4-BE49-F238E27FC236}">
                <a16:creationId xmlns:a16="http://schemas.microsoft.com/office/drawing/2014/main" id="{DD278763-EE20-46DF-88EF-42915D773152}"/>
              </a:ext>
            </a:extLst>
          </p:cNvPr>
          <p:cNvSpPr>
            <a:spLocks xmlns:a="http://schemas.openxmlformats.org/drawingml/2006/main" noGrp="1"/>
          </p:cNvSpPr>
          <p:nvPr/>
        </p:nvSpPr>
        <p:spPr>
          <a:xfrm xmlns:a="http://schemas.openxmlformats.org/drawingml/2006/main">
            <a:off x="566928"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How to read the last column</a:t>
            </a:r>
            <a:endParaRPr sz="1100"/>
          </a:p>
        </p:txBody>
      </p:sp>
      <p:sp>
        <p:nvSpPr>
          <p:cNvPr id="50" name="Shape 48">
            <a:extLst xmlns:a="http://schemas.openxmlformats.org/drawingml/2006/main">
              <a:ext uri="{FF2B5EF4-FFF2-40B4-BE49-F238E27FC236}">
                <a16:creationId xmlns:a16="http://schemas.microsoft.com/office/drawing/2014/main" id="{4DDADCB0-6EBE-4B7C-8186-F525B102C0CF}"/>
              </a:ext>
            </a:extLst>
          </p:cNvPr>
          <p:cNvSpPr>
            <a:spLocks xmlns:a="http://schemas.openxmlformats.org/drawingml/2006/main" noGrp="1"/>
          </p:cNvSpPr>
          <p:nvPr/>
        </p:nvSpPr>
        <p:spPr>
          <a:xfrm xmlns:a="http://schemas.openxmlformats.org/drawingml/2006/main">
            <a:off x="566928" y="5029200"/>
            <a:ext cx="3551834" cy="20117"/>
          </a:xfrm>
          <a:prstGeom xmlns:a="http://schemas.openxmlformats.org/drawingml/2006/main" prst="rect">
            <a:avLst/>
          </a:prstGeom>
          <a:solidFill xmlns:a="http://schemas.openxmlformats.org/drawingml/2006/main">
            <a:srgbClr val="B04A25"/>
          </a:solidFill>
        </p:spPr>
      </p:sp>
      <p:sp>
        <p:nvSpPr>
          <p:cNvPr id="51" name="Text 49">
            <a:extLst xmlns:a="http://schemas.openxmlformats.org/drawingml/2006/main">
              <a:ext uri="{FF2B5EF4-FFF2-40B4-BE49-F238E27FC236}">
                <a16:creationId xmlns:a16="http://schemas.microsoft.com/office/drawing/2014/main" id="{78EBAD90-A64E-49BB-9251-F83B299DD635}"/>
              </a:ext>
            </a:extLst>
          </p:cNvPr>
          <p:cNvSpPr>
            <a:spLocks xmlns:a="http://schemas.openxmlformats.org/drawingml/2006/main" noGrp="1"/>
          </p:cNvSpPr>
          <p:nvPr/>
        </p:nvSpPr>
        <p:spPr>
          <a:xfrm xmlns:a="http://schemas.openxmlformats.org/drawingml/2006/main">
            <a:off x="566928" y="5157216"/>
            <a:ext cx="3551834"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It names which jurisdiction sets the design baseline for that control — not who is hardest overall.</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No single supervisor dominates the whole map, which is precisely why a per-market design fragments the platform.</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One row is set by all three, and that row is the non-negotiable.</a:t>
            </a:r>
            <a:endParaRPr sz="930"/>
          </a:p>
        </p:txBody>
      </p:sp>
      <p:sp>
        <p:nvSpPr>
          <p:cNvPr id="52" name="Text 50">
            <a:extLst xmlns:a="http://schemas.openxmlformats.org/drawingml/2006/main">
              <a:ext uri="{FF2B5EF4-FFF2-40B4-BE49-F238E27FC236}">
                <a16:creationId xmlns:a16="http://schemas.microsoft.com/office/drawing/2014/main" id="{DC9CCCCD-A030-4993-BAD7-FD6D874C3940}"/>
              </a:ext>
            </a:extLst>
          </p:cNvPr>
          <p:cNvSpPr>
            <a:spLocks xmlns:a="http://schemas.openxmlformats.org/drawingml/2006/main" noGrp="1"/>
          </p:cNvSpPr>
          <p:nvPr/>
        </p:nvSpPr>
        <p:spPr>
          <a:xfrm xmlns:a="http://schemas.openxmlformats.org/drawingml/2006/main">
            <a:off x="4319930"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this map is actually for</a:t>
            </a:r>
            <a:endParaRPr sz="1100"/>
          </a:p>
        </p:txBody>
      </p:sp>
      <p:sp>
        <p:nvSpPr>
          <p:cNvPr id="53" name="Shape 51">
            <a:extLst xmlns:a="http://schemas.openxmlformats.org/drawingml/2006/main">
              <a:ext uri="{FF2B5EF4-FFF2-40B4-BE49-F238E27FC236}">
                <a16:creationId xmlns:a16="http://schemas.microsoft.com/office/drawing/2014/main" id="{0AFADE0D-01F4-46B3-B35E-C85F8EB325E2}"/>
              </a:ext>
            </a:extLst>
          </p:cNvPr>
          <p:cNvSpPr>
            <a:spLocks xmlns:a="http://schemas.openxmlformats.org/drawingml/2006/main" noGrp="1"/>
          </p:cNvSpPr>
          <p:nvPr/>
        </p:nvSpPr>
        <p:spPr>
          <a:xfrm xmlns:a="http://schemas.openxmlformats.org/drawingml/2006/main">
            <a:off x="4319930" y="5029200"/>
            <a:ext cx="3551834" cy="20117"/>
          </a:xfrm>
          <a:prstGeom xmlns:a="http://schemas.openxmlformats.org/drawingml/2006/main" prst="rect">
            <a:avLst/>
          </a:prstGeom>
          <a:solidFill xmlns:a="http://schemas.openxmlformats.org/drawingml/2006/main">
            <a:srgbClr val="102A43"/>
          </a:solidFill>
        </p:spPr>
      </p:sp>
      <p:sp>
        <p:nvSpPr>
          <p:cNvPr id="54" name="Text 52">
            <a:extLst xmlns:a="http://schemas.openxmlformats.org/drawingml/2006/main">
              <a:ext uri="{FF2B5EF4-FFF2-40B4-BE49-F238E27FC236}">
                <a16:creationId xmlns:a16="http://schemas.microsoft.com/office/drawing/2014/main" id="{76EBB2EA-D00A-4FEC-AB7F-B958D64EFDCB}"/>
              </a:ext>
            </a:extLst>
          </p:cNvPr>
          <p:cNvSpPr>
            <a:spLocks xmlns:a="http://schemas.openxmlformats.org/drawingml/2006/main" noGrp="1"/>
          </p:cNvSpPr>
          <p:nvPr/>
        </p:nvSpPr>
        <p:spPr>
          <a:xfrm xmlns:a="http://schemas.openxmlformats.org/drawingml/2006/main">
            <a:off x="4319930" y="5157216"/>
            <a:ext cx="3551834"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It converts three separate regulatory conversations into one design specification.</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It makes the strictest-baseline rule concrete rather than a principle — each row has a named source.</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It becomes the spine of the evidence pack presented to each supervisor.</a:t>
            </a:r>
            <a:endParaRPr sz="930"/>
          </a:p>
        </p:txBody>
      </p:sp>
      <p:sp>
        <p:nvSpPr>
          <p:cNvPr id="55" name="Text 53">
            <a:extLst xmlns:a="http://schemas.openxmlformats.org/drawingml/2006/main">
              <a:ext uri="{FF2B5EF4-FFF2-40B4-BE49-F238E27FC236}">
                <a16:creationId xmlns:a16="http://schemas.microsoft.com/office/drawing/2014/main" id="{F1C5F444-5ECC-4937-A7D8-230252AA57E1}"/>
              </a:ext>
            </a:extLst>
          </p:cNvPr>
          <p:cNvSpPr>
            <a:spLocks xmlns:a="http://schemas.openxmlformats.org/drawingml/2006/main" noGrp="1"/>
          </p:cNvSpPr>
          <p:nvPr/>
        </p:nvSpPr>
        <p:spPr>
          <a:xfrm xmlns:a="http://schemas.openxmlformats.org/drawingml/2006/main">
            <a:off x="8072933" y="4773168"/>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Where teams get this wrong</a:t>
            </a:r>
            <a:endParaRPr sz="1100"/>
          </a:p>
        </p:txBody>
      </p:sp>
      <p:sp>
        <p:nvSpPr>
          <p:cNvPr id="56" name="Shape 54">
            <a:extLst xmlns:a="http://schemas.openxmlformats.org/drawingml/2006/main">
              <a:ext uri="{FF2B5EF4-FFF2-40B4-BE49-F238E27FC236}">
                <a16:creationId xmlns:a16="http://schemas.microsoft.com/office/drawing/2014/main" id="{DDF1D70D-71F4-477D-B15A-9B06FB8B46BD}"/>
              </a:ext>
            </a:extLst>
          </p:cNvPr>
          <p:cNvSpPr>
            <a:spLocks xmlns:a="http://schemas.openxmlformats.org/drawingml/2006/main" noGrp="1"/>
          </p:cNvSpPr>
          <p:nvPr/>
        </p:nvSpPr>
        <p:spPr>
          <a:xfrm xmlns:a="http://schemas.openxmlformats.org/drawingml/2006/main">
            <a:off x="8072933" y="5029200"/>
            <a:ext cx="3551834" cy="20117"/>
          </a:xfrm>
          <a:prstGeom xmlns:a="http://schemas.openxmlformats.org/drawingml/2006/main" prst="rect">
            <a:avLst/>
          </a:prstGeom>
          <a:solidFill xmlns:a="http://schemas.openxmlformats.org/drawingml/2006/main">
            <a:srgbClr val="486581"/>
          </a:solidFill>
        </p:spPr>
      </p:sp>
      <p:sp>
        <p:nvSpPr>
          <p:cNvPr id="57" name="Text 55">
            <a:extLst xmlns:a="http://schemas.openxmlformats.org/drawingml/2006/main">
              <a:ext uri="{FF2B5EF4-FFF2-40B4-BE49-F238E27FC236}">
                <a16:creationId xmlns:a16="http://schemas.microsoft.com/office/drawing/2014/main" id="{1F57BD51-48CA-4B7C-B8BB-171689C0DE1F}"/>
              </a:ext>
            </a:extLst>
          </p:cNvPr>
          <p:cNvSpPr>
            <a:spLocks xmlns:a="http://schemas.openxmlformats.org/drawingml/2006/main" noGrp="1"/>
          </p:cNvSpPr>
          <p:nvPr/>
        </p:nvSpPr>
        <p:spPr>
          <a:xfrm xmlns:a="http://schemas.openxmlformats.org/drawingml/2006/main">
            <a:off x="8072933" y="5157216"/>
            <a:ext cx="3551834"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Building a compliance matrix per jurisdiction and then trying to reconcile three designs.</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That produces three architectures and three evidence packs.</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Mapping by control domain instead of by regulator is the move that keeps one platform.</a:t>
            </a:r>
            <a:endParaRPr sz="930"/>
          </a:p>
        </p:txBody>
      </p:sp>
      <p:sp>
        <p:nvSpPr>
          <p:cNvPr id="58" name="Shape 56">
            <a:extLst xmlns:a="http://schemas.openxmlformats.org/drawingml/2006/main">
              <a:ext uri="{FF2B5EF4-FFF2-40B4-BE49-F238E27FC236}">
                <a16:creationId xmlns:a16="http://schemas.microsoft.com/office/drawing/2014/main" id="{6C04197D-C30E-48AE-A9EC-E5AC8F1BD5C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9" name="Text 57">
            <a:extLst xmlns:a="http://schemas.openxmlformats.org/drawingml/2006/main">
              <a:ext uri="{FF2B5EF4-FFF2-40B4-BE49-F238E27FC236}">
                <a16:creationId xmlns:a16="http://schemas.microsoft.com/office/drawing/2014/main" id="{9E5DADE7-7075-4C9B-A9F7-880CBF27D23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Programme requirements and jurisdictional constraints as stated by the bank · author's design-level mapping</a:t>
            </a:r>
            <a:endParaRPr sz="850"/>
          </a:p>
        </p:txBody>
      </p:sp>
      <p:sp>
        <p:nvSpPr>
          <p:cNvPr id="60" name="Text 58">
            <a:extLst xmlns:a="http://schemas.openxmlformats.org/drawingml/2006/main">
              <a:ext uri="{FF2B5EF4-FFF2-40B4-BE49-F238E27FC236}">
                <a16:creationId xmlns:a16="http://schemas.microsoft.com/office/drawing/2014/main" id="{BEF16C2F-592E-48C5-9CCA-9EAB366D0C3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944384966"/>
      </p:ext>
    </p:extLst>
  </p:cSld>
</p:sld>
</file>

<file path=ppt/slides/slide23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6E24DF-01D9-4EC4-9A51-E617287655B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DESIGN RESPONSES</a:t>
            </a:r>
            <a:endParaRPr sz="950"/>
          </a:p>
        </p:txBody>
      </p:sp>
      <p:sp>
        <p:nvSpPr>
          <p:cNvPr id="3" name="Text 1">
            <a:extLst xmlns:a="http://schemas.openxmlformats.org/drawingml/2006/main">
              <a:ext uri="{FF2B5EF4-FFF2-40B4-BE49-F238E27FC236}">
                <a16:creationId xmlns:a16="http://schemas.microsoft.com/office/drawing/2014/main" id="{361507D8-F90A-49C1-8D44-0938DC30CA5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architectural responses carry all six control domains — and three of the four</a:t>
            </a:r>
            <a:endParaRPr sz="1900"/>
          </a:p>
          <a:p xmlns:a="http://schemas.openxmlformats.org/drawingml/2006/main">
            <a:pPr marL="0" indent="0">
              <a:lnSpc>
                <a:spcPts val="2400"/>
              </a:lnSpc>
              <a:buNone/>
            </a:pPr>
            <a:r>
              <a:rPr sz="1900" b="1">
                <a:solidFill>
                  <a:srgbClr val="102A43"/>
                </a:solidFill>
                <a:latin typeface="Arial"/>
                <a:ea typeface="Arial"/>
                <a:cs typeface="Arial"/>
              </a:rPr>
              <a:t>are irreversible after the first go-live</a:t>
            </a:r>
            <a:endParaRPr sz="1900"/>
          </a:p>
        </p:txBody>
      </p:sp>
      <p:sp>
        <p:nvSpPr>
          <p:cNvPr id="4" name="Shape 2">
            <a:extLst xmlns:a="http://schemas.openxmlformats.org/drawingml/2006/main">
              <a:ext uri="{FF2B5EF4-FFF2-40B4-BE49-F238E27FC236}">
                <a16:creationId xmlns:a16="http://schemas.microsoft.com/office/drawing/2014/main" id="{EB6827E6-5B1D-4A7F-A6A2-0B28B92DEF12}"/>
              </a:ext>
            </a:extLst>
          </p:cNvPr>
          <p:cNvSpPr>
            <a:spLocks xmlns:a="http://schemas.openxmlformats.org/drawingml/2006/main" noGrp="1"/>
          </p:cNvSpPr>
          <p:nvPr/>
        </p:nvSpPr>
        <p:spPr>
          <a:xfrm xmlns:a="http://schemas.openxmlformats.org/drawingml/2006/main">
            <a:off x="566928" y="1335024"/>
            <a:ext cx="5391760" cy="1938528"/>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8B2F2FB7-DE37-4516-859E-A480FD8F4621}"/>
              </a:ext>
            </a:extLst>
          </p:cNvPr>
          <p:cNvSpPr>
            <a:spLocks xmlns:a="http://schemas.openxmlformats.org/drawingml/2006/main" noGrp="1"/>
          </p:cNvSpPr>
          <p:nvPr/>
        </p:nvSpPr>
        <p:spPr>
          <a:xfrm xmlns:a="http://schemas.openxmlformats.org/drawingml/2006/main">
            <a:off x="786384" y="1481328"/>
            <a:ext cx="383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20" b="1">
                <a:solidFill>
                  <a:srgbClr val="102A43"/>
                </a:solidFill>
                <a:latin typeface="Arial"/>
                <a:ea typeface="Arial"/>
                <a:cs typeface="Arial"/>
              </a:rPr>
              <a:t>Residency by topology</a:t>
            </a:r>
            <a:endParaRPr sz="1220"/>
          </a:p>
        </p:txBody>
      </p:sp>
      <p:sp>
        <p:nvSpPr>
          <p:cNvPr id="6" name="Shape 4">
            <a:extLst xmlns:a="http://schemas.openxmlformats.org/drawingml/2006/main">
              <a:ext uri="{FF2B5EF4-FFF2-40B4-BE49-F238E27FC236}">
                <a16:creationId xmlns:a16="http://schemas.microsoft.com/office/drawing/2014/main" id="{E9577518-A559-4445-8BB9-5EBBA2D402AE}"/>
              </a:ext>
            </a:extLst>
          </p:cNvPr>
          <p:cNvSpPr>
            <a:spLocks xmlns:a="http://schemas.openxmlformats.org/drawingml/2006/main" noGrp="1"/>
          </p:cNvSpPr>
          <p:nvPr/>
        </p:nvSpPr>
        <p:spPr>
          <a:xfrm xmlns:a="http://schemas.openxmlformats.org/drawingml/2006/main">
            <a:off x="4440784" y="1499616"/>
            <a:ext cx="1298448" cy="237744"/>
          </a:xfrm>
          <a:prstGeom xmlns:a="http://schemas.openxmlformats.org/drawingml/2006/main" prst="roundRect">
            <a:avLst>
              <a:gd name="adj" fmla="val 30769"/>
            </a:avLst>
          </a:prstGeom>
          <a:solidFill xmlns:a="http://schemas.openxmlformats.org/drawingml/2006/main">
            <a:srgbClr val="E8CFC4"/>
          </a:solidFill>
        </p:spPr>
      </p:sp>
      <p:sp>
        <p:nvSpPr>
          <p:cNvPr id="7" name="Text 5">
            <a:extLst xmlns:a="http://schemas.openxmlformats.org/drawingml/2006/main">
              <a:ext uri="{FF2B5EF4-FFF2-40B4-BE49-F238E27FC236}">
                <a16:creationId xmlns:a16="http://schemas.microsoft.com/office/drawing/2014/main" id="{458E58BF-B845-489E-BB79-15FD2A6E4202}"/>
              </a:ext>
            </a:extLst>
          </p:cNvPr>
          <p:cNvSpPr>
            <a:spLocks xmlns:a="http://schemas.openxmlformats.org/drawingml/2006/main" noGrp="1"/>
          </p:cNvSpPr>
          <p:nvPr/>
        </p:nvSpPr>
        <p:spPr>
          <a:xfrm xmlns:a="http://schemas.openxmlformats.org/drawingml/2006/main">
            <a:off x="4440784" y="1531620"/>
            <a:ext cx="1298448"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IRREVERSIBLE</a:t>
            </a:r>
            <a:endParaRPr sz="820"/>
          </a:p>
        </p:txBody>
      </p:sp>
      <p:sp>
        <p:nvSpPr>
          <p:cNvPr id="8" name="Text 6">
            <a:extLst xmlns:a="http://schemas.openxmlformats.org/drawingml/2006/main">
              <a:ext uri="{FF2B5EF4-FFF2-40B4-BE49-F238E27FC236}">
                <a16:creationId xmlns:a16="http://schemas.microsoft.com/office/drawing/2014/main" id="{4B515A4B-2287-46A5-9839-DCE097AD43D3}"/>
              </a:ext>
            </a:extLst>
          </p:cNvPr>
          <p:cNvSpPr>
            <a:spLocks xmlns:a="http://schemas.openxmlformats.org/drawingml/2006/main" noGrp="1"/>
          </p:cNvSpPr>
          <p:nvPr/>
        </p:nvSpPr>
        <p:spPr>
          <a:xfrm xmlns:a="http://schemas.openxmlformats.org/drawingml/2006/main">
            <a:off x="786384" y="1847088"/>
            <a:ext cx="495284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Storage location fixed per jurisdiction at design time, with no cross-border replication of primary customer records. Processing follows storage.</a:t>
            </a:r>
            <a:endParaRPr sz="950"/>
          </a:p>
        </p:txBody>
      </p:sp>
      <p:sp>
        <p:nvSpPr>
          <p:cNvPr id="9" name="Shape 7">
            <a:extLst xmlns:a="http://schemas.openxmlformats.org/drawingml/2006/main">
              <a:ext uri="{FF2B5EF4-FFF2-40B4-BE49-F238E27FC236}">
                <a16:creationId xmlns:a16="http://schemas.microsoft.com/office/drawing/2014/main" id="{44EA002C-ECDB-465C-804C-4A80E40B5B75}"/>
              </a:ext>
            </a:extLst>
          </p:cNvPr>
          <p:cNvSpPr>
            <a:spLocks xmlns:a="http://schemas.openxmlformats.org/drawingml/2006/main" noGrp="1"/>
          </p:cNvSpPr>
          <p:nvPr/>
        </p:nvSpPr>
        <p:spPr>
          <a:xfrm xmlns:a="http://schemas.openxmlformats.org/drawingml/2006/main">
            <a:off x="786384" y="2596896"/>
            <a:ext cx="4952848"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CA28F635-D455-4517-AF74-9994AE97DBB7}"/>
              </a:ext>
            </a:extLst>
          </p:cNvPr>
          <p:cNvSpPr>
            <a:spLocks xmlns:a="http://schemas.openxmlformats.org/drawingml/2006/main" noGrp="1"/>
          </p:cNvSpPr>
          <p:nvPr/>
        </p:nvSpPr>
        <p:spPr>
          <a:xfrm xmlns:a="http://schemas.openxmlformats.org/drawingml/2006/main">
            <a:off x="786384" y="2724912"/>
            <a:ext cx="495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B04A25"/>
                </a:solidFill>
                <a:latin typeface="Arial"/>
                <a:ea typeface="Arial"/>
                <a:cs typeface="Arial"/>
              </a:rPr>
              <a:t>Changing it means migrating live production data under supervisory notice — a programme nobody runs twice.</a:t>
            </a:r>
            <a:endParaRPr sz="930"/>
          </a:p>
        </p:txBody>
      </p:sp>
      <p:sp>
        <p:nvSpPr>
          <p:cNvPr id="11" name="Shape 9">
            <a:extLst xmlns:a="http://schemas.openxmlformats.org/drawingml/2006/main">
              <a:ext uri="{FF2B5EF4-FFF2-40B4-BE49-F238E27FC236}">
                <a16:creationId xmlns:a16="http://schemas.microsoft.com/office/drawing/2014/main" id="{3C3E7BDC-5844-4B5F-A459-B25F4096BFE0}"/>
              </a:ext>
            </a:extLst>
          </p:cNvPr>
          <p:cNvSpPr>
            <a:spLocks xmlns:a="http://schemas.openxmlformats.org/drawingml/2006/main" noGrp="1"/>
          </p:cNvSpPr>
          <p:nvPr/>
        </p:nvSpPr>
        <p:spPr>
          <a:xfrm xmlns:a="http://schemas.openxmlformats.org/drawingml/2006/main">
            <a:off x="6233008" y="1335024"/>
            <a:ext cx="5391760" cy="1938528"/>
          </a:xfrm>
          <a:prstGeom xmlns:a="http://schemas.openxmlformats.org/drawingml/2006/main" prst="rect">
            <a:avLst/>
          </a:prstGeom>
          <a:solidFill xmlns:a="http://schemas.openxmlformats.org/drawingml/2006/main">
            <a:srgbClr val="F3E6E0"/>
          </a:solidFill>
        </p:spPr>
      </p:sp>
      <p:sp>
        <p:nvSpPr>
          <p:cNvPr id="12" name="Text 10">
            <a:extLst xmlns:a="http://schemas.openxmlformats.org/drawingml/2006/main">
              <a:ext uri="{FF2B5EF4-FFF2-40B4-BE49-F238E27FC236}">
                <a16:creationId xmlns:a16="http://schemas.microsoft.com/office/drawing/2014/main" id="{D78AE815-8E69-4248-931F-32C16BA2EDAE}"/>
              </a:ext>
            </a:extLst>
          </p:cNvPr>
          <p:cNvSpPr>
            <a:spLocks xmlns:a="http://schemas.openxmlformats.org/drawingml/2006/main" noGrp="1"/>
          </p:cNvSpPr>
          <p:nvPr/>
        </p:nvSpPr>
        <p:spPr>
          <a:xfrm xmlns:a="http://schemas.openxmlformats.org/drawingml/2006/main">
            <a:off x="6452464" y="1481328"/>
            <a:ext cx="383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20" b="1">
                <a:solidFill>
                  <a:srgbClr val="102A43"/>
                </a:solidFill>
                <a:latin typeface="Arial"/>
                <a:ea typeface="Arial"/>
                <a:cs typeface="Arial"/>
              </a:rPr>
              <a:t>Isolation by physical separation</a:t>
            </a:r>
            <a:endParaRPr sz="1220"/>
          </a:p>
        </p:txBody>
      </p:sp>
      <p:sp>
        <p:nvSpPr>
          <p:cNvPr id="13" name="Shape 11">
            <a:extLst xmlns:a="http://schemas.openxmlformats.org/drawingml/2006/main">
              <a:ext uri="{FF2B5EF4-FFF2-40B4-BE49-F238E27FC236}">
                <a16:creationId xmlns:a16="http://schemas.microsoft.com/office/drawing/2014/main" id="{AE2142F6-B5B3-4493-BE80-9752D3125B2A}"/>
              </a:ext>
            </a:extLst>
          </p:cNvPr>
          <p:cNvSpPr>
            <a:spLocks xmlns:a="http://schemas.openxmlformats.org/drawingml/2006/main" noGrp="1"/>
          </p:cNvSpPr>
          <p:nvPr/>
        </p:nvSpPr>
        <p:spPr>
          <a:xfrm xmlns:a="http://schemas.openxmlformats.org/drawingml/2006/main">
            <a:off x="10106863" y="1499616"/>
            <a:ext cx="1298448" cy="237744"/>
          </a:xfrm>
          <a:prstGeom xmlns:a="http://schemas.openxmlformats.org/drawingml/2006/main" prst="roundRect">
            <a:avLst>
              <a:gd name="adj" fmla="val 30769"/>
            </a:avLst>
          </a:prstGeom>
          <a:solidFill xmlns:a="http://schemas.openxmlformats.org/drawingml/2006/main">
            <a:srgbClr val="E8CFC4"/>
          </a:solidFill>
        </p:spPr>
      </p:sp>
      <p:sp>
        <p:nvSpPr>
          <p:cNvPr id="14" name="Text 12">
            <a:extLst xmlns:a="http://schemas.openxmlformats.org/drawingml/2006/main">
              <a:ext uri="{FF2B5EF4-FFF2-40B4-BE49-F238E27FC236}">
                <a16:creationId xmlns:a16="http://schemas.microsoft.com/office/drawing/2014/main" id="{54F6C381-9CBB-415F-81DF-92D43071C2DD}"/>
              </a:ext>
            </a:extLst>
          </p:cNvPr>
          <p:cNvSpPr>
            <a:spLocks xmlns:a="http://schemas.openxmlformats.org/drawingml/2006/main" noGrp="1"/>
          </p:cNvSpPr>
          <p:nvPr/>
        </p:nvSpPr>
        <p:spPr>
          <a:xfrm xmlns:a="http://schemas.openxmlformats.org/drawingml/2006/main">
            <a:off x="10106863" y="1531620"/>
            <a:ext cx="1298448"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IRREVERSIBLE</a:t>
            </a:r>
            <a:endParaRPr sz="820"/>
          </a:p>
        </p:txBody>
      </p:sp>
      <p:sp>
        <p:nvSpPr>
          <p:cNvPr id="15" name="Text 13">
            <a:extLst xmlns:a="http://schemas.openxmlformats.org/drawingml/2006/main">
              <a:ext uri="{FF2B5EF4-FFF2-40B4-BE49-F238E27FC236}">
                <a16:creationId xmlns:a16="http://schemas.microsoft.com/office/drawing/2014/main" id="{15A113CE-8E51-402E-9B50-329D767A01BC}"/>
              </a:ext>
            </a:extLst>
          </p:cNvPr>
          <p:cNvSpPr>
            <a:spLocks xmlns:a="http://schemas.openxmlformats.org/drawingml/2006/main" noGrp="1"/>
          </p:cNvSpPr>
          <p:nvPr/>
        </p:nvSpPr>
        <p:spPr>
          <a:xfrm xmlns:a="http://schemas.openxmlformats.org/drawingml/2006/main">
            <a:off x="6452464" y="1847088"/>
            <a:ext cx="495284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Wholesale data on its own application and database estate in every market. Never logically isolated, never co-mingled at storage.</a:t>
            </a:r>
            <a:endParaRPr sz="950"/>
          </a:p>
        </p:txBody>
      </p:sp>
      <p:sp>
        <p:nvSpPr>
          <p:cNvPr id="16" name="Shape 14">
            <a:extLst xmlns:a="http://schemas.openxmlformats.org/drawingml/2006/main">
              <a:ext uri="{FF2B5EF4-FFF2-40B4-BE49-F238E27FC236}">
                <a16:creationId xmlns:a16="http://schemas.microsoft.com/office/drawing/2014/main" id="{9364D1A2-A49B-480E-BD3F-7BCB3CF76173}"/>
              </a:ext>
            </a:extLst>
          </p:cNvPr>
          <p:cNvSpPr>
            <a:spLocks xmlns:a="http://schemas.openxmlformats.org/drawingml/2006/main" noGrp="1"/>
          </p:cNvSpPr>
          <p:nvPr/>
        </p:nvSpPr>
        <p:spPr>
          <a:xfrm xmlns:a="http://schemas.openxmlformats.org/drawingml/2006/main">
            <a:off x="6452464" y="2596896"/>
            <a:ext cx="4952848"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33A3AC45-AE42-4B9E-8FB5-F5B84F319E04}"/>
              </a:ext>
            </a:extLst>
          </p:cNvPr>
          <p:cNvSpPr>
            <a:spLocks xmlns:a="http://schemas.openxmlformats.org/drawingml/2006/main" noGrp="1"/>
          </p:cNvSpPr>
          <p:nvPr/>
        </p:nvSpPr>
        <p:spPr>
          <a:xfrm xmlns:a="http://schemas.openxmlformats.org/drawingml/2006/main">
            <a:off x="6452464" y="2724912"/>
            <a:ext cx="495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B04A25"/>
                </a:solidFill>
                <a:latin typeface="Arial"/>
                <a:ea typeface="Arial"/>
                <a:cs typeface="Arial"/>
              </a:rPr>
              <a:t>Retrofitting physical separation means splitting a live database and re-proving every interface built on it.</a:t>
            </a:r>
            <a:endParaRPr sz="930"/>
          </a:p>
        </p:txBody>
      </p:sp>
      <p:sp>
        <p:nvSpPr>
          <p:cNvPr id="18" name="Shape 16">
            <a:extLst xmlns:a="http://schemas.openxmlformats.org/drawingml/2006/main">
              <a:ext uri="{FF2B5EF4-FFF2-40B4-BE49-F238E27FC236}">
                <a16:creationId xmlns:a16="http://schemas.microsoft.com/office/drawing/2014/main" id="{D007B3A1-3D71-4BA9-BA40-410B7E983309}"/>
              </a:ext>
            </a:extLst>
          </p:cNvPr>
          <p:cNvSpPr>
            <a:spLocks xmlns:a="http://schemas.openxmlformats.org/drawingml/2006/main" noGrp="1"/>
          </p:cNvSpPr>
          <p:nvPr/>
        </p:nvSpPr>
        <p:spPr>
          <a:xfrm xmlns:a="http://schemas.openxmlformats.org/drawingml/2006/main">
            <a:off x="566928" y="3438144"/>
            <a:ext cx="5391760" cy="1938528"/>
          </a:xfrm>
          <a:prstGeom xmlns:a="http://schemas.openxmlformats.org/drawingml/2006/main" prst="rect">
            <a:avLst/>
          </a:prstGeom>
          <a:solidFill xmlns:a="http://schemas.openxmlformats.org/drawingml/2006/main">
            <a:srgbClr val="F0F4F8"/>
          </a:solidFill>
        </p:spPr>
      </p:sp>
      <p:sp>
        <p:nvSpPr>
          <p:cNvPr id="19" name="Text 17">
            <a:extLst xmlns:a="http://schemas.openxmlformats.org/drawingml/2006/main">
              <a:ext uri="{FF2B5EF4-FFF2-40B4-BE49-F238E27FC236}">
                <a16:creationId xmlns:a16="http://schemas.microsoft.com/office/drawing/2014/main" id="{67478D85-D804-4BCD-BA6B-FF592B36DAD9}"/>
              </a:ext>
            </a:extLst>
          </p:cNvPr>
          <p:cNvSpPr>
            <a:spLocks xmlns:a="http://schemas.openxmlformats.org/drawingml/2006/main" noGrp="1"/>
          </p:cNvSpPr>
          <p:nvPr/>
        </p:nvSpPr>
        <p:spPr>
          <a:xfrm xmlns:a="http://schemas.openxmlformats.org/drawingml/2006/main">
            <a:off x="786384" y="3584448"/>
            <a:ext cx="383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20" b="1">
                <a:solidFill>
                  <a:srgbClr val="102A43"/>
                </a:solidFill>
                <a:latin typeface="Arial"/>
                <a:ea typeface="Arial"/>
                <a:cs typeface="Arial"/>
              </a:rPr>
              <a:t>Policy as configuration, structure as constant</a:t>
            </a:r>
            <a:endParaRPr sz="1220"/>
          </a:p>
        </p:txBody>
      </p:sp>
      <p:sp>
        <p:nvSpPr>
          <p:cNvPr id="20" name="Shape 18">
            <a:extLst xmlns:a="http://schemas.openxmlformats.org/drawingml/2006/main">
              <a:ext uri="{FF2B5EF4-FFF2-40B4-BE49-F238E27FC236}">
                <a16:creationId xmlns:a16="http://schemas.microsoft.com/office/drawing/2014/main" id="{D3573A87-3E40-4AB1-965E-71457DA22483}"/>
              </a:ext>
            </a:extLst>
          </p:cNvPr>
          <p:cNvSpPr>
            <a:spLocks xmlns:a="http://schemas.openxmlformats.org/drawingml/2006/main" noGrp="1"/>
          </p:cNvSpPr>
          <p:nvPr/>
        </p:nvSpPr>
        <p:spPr>
          <a:xfrm xmlns:a="http://schemas.openxmlformats.org/drawingml/2006/main">
            <a:off x="4440784" y="3602736"/>
            <a:ext cx="1298448" cy="237744"/>
          </a:xfrm>
          <a:prstGeom xmlns:a="http://schemas.openxmlformats.org/drawingml/2006/main" prst="roundRect">
            <a:avLst>
              <a:gd name="adj" fmla="val 30769"/>
            </a:avLst>
          </a:prstGeom>
          <a:solidFill xmlns:a="http://schemas.openxmlformats.org/drawingml/2006/main">
            <a:srgbClr val="DCE5EE"/>
          </a:solidFill>
        </p:spPr>
      </p:sp>
      <p:sp>
        <p:nvSpPr>
          <p:cNvPr id="21" name="Text 19">
            <a:extLst xmlns:a="http://schemas.openxmlformats.org/drawingml/2006/main">
              <a:ext uri="{FF2B5EF4-FFF2-40B4-BE49-F238E27FC236}">
                <a16:creationId xmlns:a16="http://schemas.microsoft.com/office/drawing/2014/main" id="{33751F28-0B07-440E-83C8-4E5843190B1C}"/>
              </a:ext>
            </a:extLst>
          </p:cNvPr>
          <p:cNvSpPr>
            <a:spLocks xmlns:a="http://schemas.openxmlformats.org/drawingml/2006/main" noGrp="1"/>
          </p:cNvSpPr>
          <p:nvPr/>
        </p:nvSpPr>
        <p:spPr>
          <a:xfrm xmlns:a="http://schemas.openxmlformats.org/drawingml/2006/main">
            <a:off x="4440784" y="3634740"/>
            <a:ext cx="1298448"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REVERSIBLE</a:t>
            </a:r>
            <a:endParaRPr sz="820"/>
          </a:p>
        </p:txBody>
      </p:sp>
      <p:sp>
        <p:nvSpPr>
          <p:cNvPr id="22" name="Text 20">
            <a:extLst xmlns:a="http://schemas.openxmlformats.org/drawingml/2006/main">
              <a:ext uri="{FF2B5EF4-FFF2-40B4-BE49-F238E27FC236}">
                <a16:creationId xmlns:a16="http://schemas.microsoft.com/office/drawing/2014/main" id="{25088FF3-6F16-4018-A981-A5F8485D443C}"/>
              </a:ext>
            </a:extLst>
          </p:cNvPr>
          <p:cNvSpPr>
            <a:spLocks xmlns:a="http://schemas.openxmlformats.org/drawingml/2006/main" noGrp="1"/>
          </p:cNvSpPr>
          <p:nvPr/>
        </p:nvSpPr>
        <p:spPr>
          <a:xfrm xmlns:a="http://schemas.openxmlformats.org/drawingml/2006/main">
            <a:off x="786384" y="3950208"/>
            <a:ext cx="495284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One data model across all markets; jurisdictional difference expressed as consent, retention and access policy rather than as schema variation.</a:t>
            </a:r>
            <a:endParaRPr sz="950"/>
          </a:p>
        </p:txBody>
      </p:sp>
      <p:sp>
        <p:nvSpPr>
          <p:cNvPr id="23" name="Shape 21">
            <a:extLst xmlns:a="http://schemas.openxmlformats.org/drawingml/2006/main">
              <a:ext uri="{FF2B5EF4-FFF2-40B4-BE49-F238E27FC236}">
                <a16:creationId xmlns:a16="http://schemas.microsoft.com/office/drawing/2014/main" id="{0D43E60E-2D2B-4190-B64F-D03685C7F4A8}"/>
              </a:ext>
            </a:extLst>
          </p:cNvPr>
          <p:cNvSpPr>
            <a:spLocks xmlns:a="http://schemas.openxmlformats.org/drawingml/2006/main" noGrp="1"/>
          </p:cNvSpPr>
          <p:nvPr/>
        </p:nvSpPr>
        <p:spPr>
          <a:xfrm xmlns:a="http://schemas.openxmlformats.org/drawingml/2006/main">
            <a:off x="786384" y="4700016"/>
            <a:ext cx="4952848"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99A26B0D-DC5F-49DD-8192-214D8149A3AA}"/>
              </a:ext>
            </a:extLst>
          </p:cNvPr>
          <p:cNvSpPr>
            <a:spLocks xmlns:a="http://schemas.openxmlformats.org/drawingml/2006/main" noGrp="1"/>
          </p:cNvSpPr>
          <p:nvPr/>
        </p:nvSpPr>
        <p:spPr>
          <a:xfrm xmlns:a="http://schemas.openxmlformats.org/drawingml/2006/main">
            <a:off x="786384" y="4828032"/>
            <a:ext cx="495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Policy can be changed and re-approved. Schema divergence, once shipped, becomes three platforms.</a:t>
            </a:r>
            <a:endParaRPr sz="930"/>
          </a:p>
        </p:txBody>
      </p:sp>
      <p:sp>
        <p:nvSpPr>
          <p:cNvPr id="25" name="Shape 23">
            <a:extLst xmlns:a="http://schemas.openxmlformats.org/drawingml/2006/main">
              <a:ext uri="{FF2B5EF4-FFF2-40B4-BE49-F238E27FC236}">
                <a16:creationId xmlns:a16="http://schemas.microsoft.com/office/drawing/2014/main" id="{16FEDC91-F8B4-4ED2-8B6F-0673F7D980DB}"/>
              </a:ext>
            </a:extLst>
          </p:cNvPr>
          <p:cNvSpPr>
            <a:spLocks xmlns:a="http://schemas.openxmlformats.org/drawingml/2006/main" noGrp="1"/>
          </p:cNvSpPr>
          <p:nvPr/>
        </p:nvSpPr>
        <p:spPr>
          <a:xfrm xmlns:a="http://schemas.openxmlformats.org/drawingml/2006/main">
            <a:off x="6233008" y="3438144"/>
            <a:ext cx="5391760" cy="1938528"/>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91DB58DC-594D-46AB-9D5A-2F1DCBC5423B}"/>
              </a:ext>
            </a:extLst>
          </p:cNvPr>
          <p:cNvSpPr>
            <a:spLocks xmlns:a="http://schemas.openxmlformats.org/drawingml/2006/main" noGrp="1"/>
          </p:cNvSpPr>
          <p:nvPr/>
        </p:nvSpPr>
        <p:spPr>
          <a:xfrm xmlns:a="http://schemas.openxmlformats.org/drawingml/2006/main">
            <a:off x="6452464" y="3584448"/>
            <a:ext cx="38372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20" b="1">
                <a:solidFill>
                  <a:srgbClr val="102A43"/>
                </a:solidFill>
                <a:latin typeface="Arial"/>
                <a:ea typeface="Arial"/>
                <a:cs typeface="Arial"/>
              </a:rPr>
              <a:t>Evidence generated, not assembled</a:t>
            </a:r>
            <a:endParaRPr sz="1220"/>
          </a:p>
        </p:txBody>
      </p:sp>
      <p:sp>
        <p:nvSpPr>
          <p:cNvPr id="27" name="Shape 25">
            <a:extLst xmlns:a="http://schemas.openxmlformats.org/drawingml/2006/main">
              <a:ext uri="{FF2B5EF4-FFF2-40B4-BE49-F238E27FC236}">
                <a16:creationId xmlns:a16="http://schemas.microsoft.com/office/drawing/2014/main" id="{A23DAEF8-B142-4C71-9DAB-50CB42AD4353}"/>
              </a:ext>
            </a:extLst>
          </p:cNvPr>
          <p:cNvSpPr>
            <a:spLocks xmlns:a="http://schemas.openxmlformats.org/drawingml/2006/main" noGrp="1"/>
          </p:cNvSpPr>
          <p:nvPr/>
        </p:nvSpPr>
        <p:spPr>
          <a:xfrm xmlns:a="http://schemas.openxmlformats.org/drawingml/2006/main">
            <a:off x="10106863" y="3602736"/>
            <a:ext cx="1298448" cy="237744"/>
          </a:xfrm>
          <a:prstGeom xmlns:a="http://schemas.openxmlformats.org/drawingml/2006/main" prst="roundRect">
            <a:avLst>
              <a:gd name="adj" fmla="val 30769"/>
            </a:avLst>
          </a:prstGeom>
          <a:solidFill xmlns:a="http://schemas.openxmlformats.org/drawingml/2006/main">
            <a:srgbClr val="DCE5EE"/>
          </a:solidFill>
        </p:spPr>
      </p:sp>
      <p:sp>
        <p:nvSpPr>
          <p:cNvPr id="28" name="Text 26">
            <a:extLst xmlns:a="http://schemas.openxmlformats.org/drawingml/2006/main">
              <a:ext uri="{FF2B5EF4-FFF2-40B4-BE49-F238E27FC236}">
                <a16:creationId xmlns:a16="http://schemas.microsoft.com/office/drawing/2014/main" id="{066FE1B1-8FCF-472D-B89C-631E1000CAF7}"/>
              </a:ext>
            </a:extLst>
          </p:cNvPr>
          <p:cNvSpPr>
            <a:spLocks xmlns:a="http://schemas.openxmlformats.org/drawingml/2006/main" noGrp="1"/>
          </p:cNvSpPr>
          <p:nvPr/>
        </p:nvSpPr>
        <p:spPr>
          <a:xfrm xmlns:a="http://schemas.openxmlformats.org/drawingml/2006/main">
            <a:off x="10106863" y="3634740"/>
            <a:ext cx="1298448"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REVERSIBLE</a:t>
            </a:r>
            <a:endParaRPr sz="820"/>
          </a:p>
        </p:txBody>
      </p:sp>
      <p:sp>
        <p:nvSpPr>
          <p:cNvPr id="29" name="Text 27">
            <a:extLst xmlns:a="http://schemas.openxmlformats.org/drawingml/2006/main">
              <a:ext uri="{FF2B5EF4-FFF2-40B4-BE49-F238E27FC236}">
                <a16:creationId xmlns:a16="http://schemas.microsoft.com/office/drawing/2014/main" id="{4CFB6FD2-6C12-4F96-BE54-4A92D6548DF3}"/>
              </a:ext>
            </a:extLst>
          </p:cNvPr>
          <p:cNvSpPr>
            <a:spLocks xmlns:a="http://schemas.openxmlformats.org/drawingml/2006/main" noGrp="1"/>
          </p:cNvSpPr>
          <p:nvPr/>
        </p:nvSpPr>
        <p:spPr>
          <a:xfrm xmlns:a="http://schemas.openxmlformats.org/drawingml/2006/main">
            <a:off x="6452464" y="3950208"/>
            <a:ext cx="4952848"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Audit trail, consent state and data lineage produced continuously by the platform rather than compiled for an inspection.</a:t>
            </a:r>
            <a:endParaRPr sz="950"/>
          </a:p>
        </p:txBody>
      </p:sp>
      <p:sp>
        <p:nvSpPr>
          <p:cNvPr id="30" name="Shape 28">
            <a:extLst xmlns:a="http://schemas.openxmlformats.org/drawingml/2006/main">
              <a:ext uri="{FF2B5EF4-FFF2-40B4-BE49-F238E27FC236}">
                <a16:creationId xmlns:a16="http://schemas.microsoft.com/office/drawing/2014/main" id="{A2EA2B15-96C2-4B55-843E-7BCFC4AFCC5B}"/>
              </a:ext>
            </a:extLst>
          </p:cNvPr>
          <p:cNvSpPr>
            <a:spLocks xmlns:a="http://schemas.openxmlformats.org/drawingml/2006/main" noGrp="1"/>
          </p:cNvSpPr>
          <p:nvPr/>
        </p:nvSpPr>
        <p:spPr>
          <a:xfrm xmlns:a="http://schemas.openxmlformats.org/drawingml/2006/main">
            <a:off x="6452464" y="4700016"/>
            <a:ext cx="4952848"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7E48B38E-4919-4055-8D49-80A75451696F}"/>
              </a:ext>
            </a:extLst>
          </p:cNvPr>
          <p:cNvSpPr>
            <a:spLocks xmlns:a="http://schemas.openxmlformats.org/drawingml/2006/main" noGrp="1"/>
          </p:cNvSpPr>
          <p:nvPr/>
        </p:nvSpPr>
        <p:spPr>
          <a:xfrm xmlns:a="http://schemas.openxmlformats.org/drawingml/2006/main">
            <a:off x="6452464" y="4828032"/>
            <a:ext cx="4952848"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a:solidFill>
                  <a:srgbClr val="1A1A1A"/>
                </a:solidFill>
                <a:latin typeface="Arial"/>
                <a:ea typeface="Arial"/>
                <a:cs typeface="Arial"/>
              </a:rPr>
              <a:t>Can be added later at cost, but every inspection before it is added is answered by hand.</a:t>
            </a:r>
            <a:endParaRPr sz="930"/>
          </a:p>
        </p:txBody>
      </p:sp>
      <p:sp>
        <p:nvSpPr>
          <p:cNvPr id="32" name="Shape 30">
            <a:extLst xmlns:a="http://schemas.openxmlformats.org/drawingml/2006/main">
              <a:ext uri="{FF2B5EF4-FFF2-40B4-BE49-F238E27FC236}">
                <a16:creationId xmlns:a16="http://schemas.microsoft.com/office/drawing/2014/main" id="{DB7BF5E0-5312-4B2F-9DD2-08EEF4BF2F71}"/>
              </a:ext>
            </a:extLst>
          </p:cNvPr>
          <p:cNvSpPr>
            <a:spLocks xmlns:a="http://schemas.openxmlformats.org/drawingml/2006/main" noGrp="1"/>
          </p:cNvSpPr>
          <p:nvPr/>
        </p:nvSpPr>
        <p:spPr>
          <a:xfrm xmlns:a="http://schemas.openxmlformats.org/drawingml/2006/main">
            <a:off x="566928" y="5541264"/>
            <a:ext cx="11057839" cy="530352"/>
          </a:xfrm>
          <a:prstGeom xmlns:a="http://schemas.openxmlformats.org/drawingml/2006/main" prst="rect">
            <a:avLst/>
          </a:prstGeom>
          <a:solidFill xmlns:a="http://schemas.openxmlformats.org/drawingml/2006/main">
            <a:srgbClr val="102A43"/>
          </a:solidFill>
        </p:spPr>
      </p:sp>
      <p:sp>
        <p:nvSpPr>
          <p:cNvPr id="33" name="Text 31">
            <a:extLst xmlns:a="http://schemas.openxmlformats.org/drawingml/2006/main">
              <a:ext uri="{FF2B5EF4-FFF2-40B4-BE49-F238E27FC236}">
                <a16:creationId xmlns:a16="http://schemas.microsoft.com/office/drawing/2014/main" id="{50568FDD-96E4-4B00-9917-2B733B5931DF}"/>
              </a:ext>
            </a:extLst>
          </p:cNvPr>
          <p:cNvSpPr>
            <a:spLocks xmlns:a="http://schemas.openxmlformats.org/drawingml/2006/main" noGrp="1"/>
          </p:cNvSpPr>
          <p:nvPr/>
        </p:nvSpPr>
        <p:spPr>
          <a:xfrm xmlns:a="http://schemas.openxmlformats.org/drawingml/2006/main">
            <a:off x="804672" y="5724144"/>
            <a:ext cx="10582351"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C9D8E8"/>
                </a:solidFill>
                <a:latin typeface="Arial"/>
                <a:ea typeface="Arial"/>
                <a:cs typeface="Arial"/>
              </a:rPr>
              <a:t>Two of these are decided in the first design sprint and cannot be revisited. Sequencing design attention by reversibility, rather than by visibility, is the whole discipline.</a:t>
            </a:r>
            <a:endParaRPr sz="990"/>
          </a:p>
        </p:txBody>
      </p:sp>
      <p:sp>
        <p:nvSpPr>
          <p:cNvPr id="34" name="Shape 32">
            <a:extLst xmlns:a="http://schemas.openxmlformats.org/drawingml/2006/main">
              <a:ext uri="{FF2B5EF4-FFF2-40B4-BE49-F238E27FC236}">
                <a16:creationId xmlns:a16="http://schemas.microsoft.com/office/drawing/2014/main" id="{8A114B64-F2F4-430C-9AEE-11756DD99AA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5" name="Text 33">
            <a:extLst xmlns:a="http://schemas.openxmlformats.org/drawingml/2006/main">
              <a:ext uri="{FF2B5EF4-FFF2-40B4-BE49-F238E27FC236}">
                <a16:creationId xmlns:a16="http://schemas.microsoft.com/office/drawing/2014/main" id="{C784D3B0-D217-443D-B4C3-F81B7C890205}"/>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compliance-architecture analysis</a:t>
            </a:r>
            <a:endParaRPr sz="850"/>
          </a:p>
        </p:txBody>
      </p:sp>
      <p:sp>
        <p:nvSpPr>
          <p:cNvPr id="36" name="Text 34">
            <a:extLst xmlns:a="http://schemas.openxmlformats.org/drawingml/2006/main">
              <a:ext uri="{FF2B5EF4-FFF2-40B4-BE49-F238E27FC236}">
                <a16:creationId xmlns:a16="http://schemas.microsoft.com/office/drawing/2014/main" id="{D9A65570-DE5D-4B40-8EF6-E757304C850F}"/>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529799369"/>
      </p:ext>
    </p:extLst>
  </p:cSld>
</p:sld>
</file>

<file path=ppt/slides/slide23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FB691F2-4731-4564-9C47-0C0FC54CD60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A SUPERVISOR ACTUALLY ASKS</a:t>
            </a:r>
            <a:endParaRPr sz="950"/>
          </a:p>
        </p:txBody>
      </p:sp>
      <p:sp>
        <p:nvSpPr>
          <p:cNvPr id="3" name="Text 1">
            <a:extLst xmlns:a="http://schemas.openxmlformats.org/drawingml/2006/main">
              <a:ext uri="{FF2B5EF4-FFF2-40B4-BE49-F238E27FC236}">
                <a16:creationId xmlns:a16="http://schemas.microsoft.com/office/drawing/2014/main" id="{97DFF5FE-E295-4B70-A586-7B8D0DB0562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questions decide the conversation — and each one is answered by an artefact the</a:t>
            </a:r>
            <a:endParaRPr sz="1900"/>
          </a:p>
          <a:p xmlns:a="http://schemas.openxmlformats.org/drawingml/2006/main">
            <a:pPr marL="0" indent="0">
              <a:lnSpc>
                <a:spcPts val="2400"/>
              </a:lnSpc>
              <a:buNone/>
            </a:pPr>
            <a:r>
              <a:rPr sz="1900" b="1">
                <a:solidFill>
                  <a:srgbClr val="102A43"/>
                </a:solidFill>
                <a:latin typeface="Arial"/>
                <a:ea typeface="Arial"/>
                <a:cs typeface="Arial"/>
              </a:rPr>
              <a:t>platform either produces or does not</a:t>
            </a:r>
            <a:endParaRPr sz="1900"/>
          </a:p>
        </p:txBody>
      </p:sp>
      <p:sp>
        <p:nvSpPr>
          <p:cNvPr id="4" name="Shape 2">
            <a:extLst xmlns:a="http://schemas.openxmlformats.org/drawingml/2006/main">
              <a:ext uri="{FF2B5EF4-FFF2-40B4-BE49-F238E27FC236}">
                <a16:creationId xmlns:a16="http://schemas.microsoft.com/office/drawing/2014/main" id="{D260C2F6-7E63-44D9-93F7-0F098FFAF72A}"/>
              </a:ext>
            </a:extLst>
          </p:cNvPr>
          <p:cNvSpPr>
            <a:spLocks xmlns:a="http://schemas.openxmlformats.org/drawingml/2006/main" noGrp="1"/>
          </p:cNvSpPr>
          <p:nvPr/>
        </p:nvSpPr>
        <p:spPr>
          <a:xfrm xmlns:a="http://schemas.openxmlformats.org/drawingml/2006/main">
            <a:off x="566928" y="1335024"/>
            <a:ext cx="3551834" cy="1938528"/>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78BFDD8F-3343-4F82-B2FB-C9BEB5A936AB}"/>
              </a:ext>
            </a:extLst>
          </p:cNvPr>
          <p:cNvSpPr>
            <a:spLocks xmlns:a="http://schemas.openxmlformats.org/drawingml/2006/main" noGrp="1"/>
          </p:cNvSpPr>
          <p:nvPr/>
        </p:nvSpPr>
        <p:spPr>
          <a:xfrm xmlns:a="http://schemas.openxmlformats.org/drawingml/2006/main">
            <a:off x="786384" y="1499616"/>
            <a:ext cx="311292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Where has this customer's data been?</a:t>
            </a:r>
            <a:endParaRPr sz="1200"/>
          </a:p>
        </p:txBody>
      </p:sp>
      <p:sp>
        <p:nvSpPr>
          <p:cNvPr id="6" name="Text 4">
            <a:extLst xmlns:a="http://schemas.openxmlformats.org/drawingml/2006/main">
              <a:ext uri="{FF2B5EF4-FFF2-40B4-BE49-F238E27FC236}">
                <a16:creationId xmlns:a16="http://schemas.microsoft.com/office/drawing/2014/main" id="{EFCB67B9-9CEA-4B09-88AF-90B45FBC61ED}"/>
              </a:ext>
            </a:extLst>
          </p:cNvPr>
          <p:cNvSpPr>
            <a:spLocks xmlns:a="http://schemas.openxmlformats.org/drawingml/2006/main" noGrp="1"/>
          </p:cNvSpPr>
          <p:nvPr/>
        </p:nvSpPr>
        <p:spPr>
          <a:xfrm xmlns:a="http://schemas.openxmlformats.org/drawingml/2006/main">
            <a:off x="786384" y="2048256"/>
            <a:ext cx="3112922"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Not where it is now. Lineage across its whole life, including test environments and backups.</a:t>
            </a:r>
            <a:endParaRPr sz="940"/>
          </a:p>
        </p:txBody>
      </p:sp>
      <p:sp>
        <p:nvSpPr>
          <p:cNvPr id="7" name="Shape 5">
            <a:extLst xmlns:a="http://schemas.openxmlformats.org/drawingml/2006/main">
              <a:ext uri="{FF2B5EF4-FFF2-40B4-BE49-F238E27FC236}">
                <a16:creationId xmlns:a16="http://schemas.microsoft.com/office/drawing/2014/main" id="{13A304DB-ADD7-43CC-8EFF-085DE06C9D29}"/>
              </a:ext>
            </a:extLst>
          </p:cNvPr>
          <p:cNvSpPr>
            <a:spLocks xmlns:a="http://schemas.openxmlformats.org/drawingml/2006/main" noGrp="1"/>
          </p:cNvSpPr>
          <p:nvPr/>
        </p:nvSpPr>
        <p:spPr>
          <a:xfrm xmlns:a="http://schemas.openxmlformats.org/drawingml/2006/main">
            <a:off x="786384" y="2706624"/>
            <a:ext cx="3112922"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9F43F846-015F-4150-BF44-C36C5EA2310E}"/>
              </a:ext>
            </a:extLst>
          </p:cNvPr>
          <p:cNvSpPr>
            <a:spLocks xmlns:a="http://schemas.openxmlformats.org/drawingml/2006/main" noGrp="1"/>
          </p:cNvSpPr>
          <p:nvPr/>
        </p:nvSpPr>
        <p:spPr>
          <a:xfrm xmlns:a="http://schemas.openxmlformats.org/drawingml/2006/main">
            <a:off x="786384" y="2816352"/>
            <a:ext cx="311292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b="1">
                <a:solidFill>
                  <a:srgbClr val="486581"/>
                </a:solidFill>
                <a:latin typeface="Arial"/>
                <a:ea typeface="Arial"/>
                <a:cs typeface="Arial"/>
              </a:rPr>
              <a:t>Continuous lineage record, environment-tagged</a:t>
            </a:r>
            <a:endParaRPr sz="930"/>
          </a:p>
        </p:txBody>
      </p:sp>
      <p:sp>
        <p:nvSpPr>
          <p:cNvPr id="9" name="Shape 7">
            <a:extLst xmlns:a="http://schemas.openxmlformats.org/drawingml/2006/main">
              <a:ext uri="{FF2B5EF4-FFF2-40B4-BE49-F238E27FC236}">
                <a16:creationId xmlns:a16="http://schemas.microsoft.com/office/drawing/2014/main" id="{E3474E20-267D-45EC-9840-06C4D08DADBB}"/>
              </a:ext>
            </a:extLst>
          </p:cNvPr>
          <p:cNvSpPr>
            <a:spLocks xmlns:a="http://schemas.openxmlformats.org/drawingml/2006/main" noGrp="1"/>
          </p:cNvSpPr>
          <p:nvPr/>
        </p:nvSpPr>
        <p:spPr>
          <a:xfrm xmlns:a="http://schemas.openxmlformats.org/drawingml/2006/main">
            <a:off x="4319930" y="1335024"/>
            <a:ext cx="3551834" cy="1938528"/>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5D6DFB5A-8828-4248-AF81-C80F40CCE239}"/>
              </a:ext>
            </a:extLst>
          </p:cNvPr>
          <p:cNvSpPr>
            <a:spLocks xmlns:a="http://schemas.openxmlformats.org/drawingml/2006/main" noGrp="1"/>
          </p:cNvSpPr>
          <p:nvPr/>
        </p:nvSpPr>
        <p:spPr>
          <a:xfrm xmlns:a="http://schemas.openxmlformats.org/drawingml/2006/main">
            <a:off x="4539386" y="1499616"/>
            <a:ext cx="311292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On what basis was it processed?</a:t>
            </a:r>
            <a:endParaRPr sz="1200"/>
          </a:p>
        </p:txBody>
      </p:sp>
      <p:sp>
        <p:nvSpPr>
          <p:cNvPr id="11" name="Text 9">
            <a:extLst xmlns:a="http://schemas.openxmlformats.org/drawingml/2006/main">
              <a:ext uri="{FF2B5EF4-FFF2-40B4-BE49-F238E27FC236}">
                <a16:creationId xmlns:a16="http://schemas.microsoft.com/office/drawing/2014/main" id="{6B142191-DF4D-4347-9371-55B58A0ED56C}"/>
              </a:ext>
            </a:extLst>
          </p:cNvPr>
          <p:cNvSpPr>
            <a:spLocks xmlns:a="http://schemas.openxmlformats.org/drawingml/2006/main" noGrp="1"/>
          </p:cNvSpPr>
          <p:nvPr/>
        </p:nvSpPr>
        <p:spPr>
          <a:xfrm xmlns:a="http://schemas.openxmlformats.org/drawingml/2006/main">
            <a:off x="4539386" y="2048256"/>
            <a:ext cx="3112922"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lawful basis at the moment of each use, not a blanket consent captured at onboarding.</a:t>
            </a:r>
            <a:endParaRPr sz="940"/>
          </a:p>
        </p:txBody>
      </p:sp>
      <p:sp>
        <p:nvSpPr>
          <p:cNvPr id="12" name="Shape 10">
            <a:extLst xmlns:a="http://schemas.openxmlformats.org/drawingml/2006/main">
              <a:ext uri="{FF2B5EF4-FFF2-40B4-BE49-F238E27FC236}">
                <a16:creationId xmlns:a16="http://schemas.microsoft.com/office/drawing/2014/main" id="{9C0E24E6-9483-414E-8C3E-78220476F86F}"/>
              </a:ext>
            </a:extLst>
          </p:cNvPr>
          <p:cNvSpPr>
            <a:spLocks xmlns:a="http://schemas.openxmlformats.org/drawingml/2006/main" noGrp="1"/>
          </p:cNvSpPr>
          <p:nvPr/>
        </p:nvSpPr>
        <p:spPr>
          <a:xfrm xmlns:a="http://schemas.openxmlformats.org/drawingml/2006/main">
            <a:off x="4539386" y="2706624"/>
            <a:ext cx="3112922"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A39ED50E-64C2-4CA1-9A8A-5E0FFB42BDD4}"/>
              </a:ext>
            </a:extLst>
          </p:cNvPr>
          <p:cNvSpPr>
            <a:spLocks xmlns:a="http://schemas.openxmlformats.org/drawingml/2006/main" noGrp="1"/>
          </p:cNvSpPr>
          <p:nvPr/>
        </p:nvSpPr>
        <p:spPr>
          <a:xfrm xmlns:a="http://schemas.openxmlformats.org/drawingml/2006/main">
            <a:off x="4539386" y="2816352"/>
            <a:ext cx="311292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b="1">
                <a:solidFill>
                  <a:srgbClr val="486581"/>
                </a:solidFill>
                <a:latin typeface="Arial"/>
                <a:ea typeface="Arial"/>
                <a:cs typeface="Arial"/>
              </a:rPr>
              <a:t>Purpose-bound consent, timestamped per use</a:t>
            </a:r>
            <a:endParaRPr sz="930"/>
          </a:p>
        </p:txBody>
      </p:sp>
      <p:sp>
        <p:nvSpPr>
          <p:cNvPr id="14" name="Shape 12">
            <a:extLst xmlns:a="http://schemas.openxmlformats.org/drawingml/2006/main">
              <a:ext uri="{FF2B5EF4-FFF2-40B4-BE49-F238E27FC236}">
                <a16:creationId xmlns:a16="http://schemas.microsoft.com/office/drawing/2014/main" id="{9E9E8F49-EC17-429F-9106-D8F02E08D9FE}"/>
              </a:ext>
            </a:extLst>
          </p:cNvPr>
          <p:cNvSpPr>
            <a:spLocks xmlns:a="http://schemas.openxmlformats.org/drawingml/2006/main" noGrp="1"/>
          </p:cNvSpPr>
          <p:nvPr/>
        </p:nvSpPr>
        <p:spPr>
          <a:xfrm xmlns:a="http://schemas.openxmlformats.org/drawingml/2006/main">
            <a:off x="8072933" y="1335024"/>
            <a:ext cx="3551834" cy="1938528"/>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A3C39412-DCD4-4F39-B4DD-3256AA3E57AB}"/>
              </a:ext>
            </a:extLst>
          </p:cNvPr>
          <p:cNvSpPr>
            <a:spLocks xmlns:a="http://schemas.openxmlformats.org/drawingml/2006/main" noGrp="1"/>
          </p:cNvSpPr>
          <p:nvPr/>
        </p:nvSpPr>
        <p:spPr>
          <a:xfrm xmlns:a="http://schemas.openxmlformats.org/drawingml/2006/main">
            <a:off x="8292389" y="1499616"/>
            <a:ext cx="311292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Who could see it, and who did?</a:t>
            </a:r>
            <a:endParaRPr sz="1200"/>
          </a:p>
        </p:txBody>
      </p:sp>
      <p:sp>
        <p:nvSpPr>
          <p:cNvPr id="16" name="Text 14">
            <a:extLst xmlns:a="http://schemas.openxmlformats.org/drawingml/2006/main">
              <a:ext uri="{FF2B5EF4-FFF2-40B4-BE49-F238E27FC236}">
                <a16:creationId xmlns:a16="http://schemas.microsoft.com/office/drawing/2014/main" id="{699EA503-8FCD-42F4-8753-43209416B695}"/>
              </a:ext>
            </a:extLst>
          </p:cNvPr>
          <p:cNvSpPr>
            <a:spLocks xmlns:a="http://schemas.openxmlformats.org/drawingml/2006/main" noGrp="1"/>
          </p:cNvSpPr>
          <p:nvPr/>
        </p:nvSpPr>
        <p:spPr>
          <a:xfrm xmlns:a="http://schemas.openxmlformats.org/drawingml/2006/main">
            <a:off x="8292389" y="2048256"/>
            <a:ext cx="3112922"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Entitlement design and actual access, distinguished. Both, for the retention period.</a:t>
            </a:r>
            <a:endParaRPr sz="940"/>
          </a:p>
        </p:txBody>
      </p:sp>
      <p:sp>
        <p:nvSpPr>
          <p:cNvPr id="17" name="Shape 15">
            <a:extLst xmlns:a="http://schemas.openxmlformats.org/drawingml/2006/main">
              <a:ext uri="{FF2B5EF4-FFF2-40B4-BE49-F238E27FC236}">
                <a16:creationId xmlns:a16="http://schemas.microsoft.com/office/drawing/2014/main" id="{8CC4119F-0343-4BCF-A552-384682F5ED93}"/>
              </a:ext>
            </a:extLst>
          </p:cNvPr>
          <p:cNvSpPr>
            <a:spLocks xmlns:a="http://schemas.openxmlformats.org/drawingml/2006/main" noGrp="1"/>
          </p:cNvSpPr>
          <p:nvPr/>
        </p:nvSpPr>
        <p:spPr>
          <a:xfrm xmlns:a="http://schemas.openxmlformats.org/drawingml/2006/main">
            <a:off x="8292389" y="2706624"/>
            <a:ext cx="3112922"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BC46EAF3-E8B3-4F59-964E-AEBF582A16E0}"/>
              </a:ext>
            </a:extLst>
          </p:cNvPr>
          <p:cNvSpPr>
            <a:spLocks xmlns:a="http://schemas.openxmlformats.org/drawingml/2006/main" noGrp="1"/>
          </p:cNvSpPr>
          <p:nvPr/>
        </p:nvSpPr>
        <p:spPr>
          <a:xfrm xmlns:a="http://schemas.openxmlformats.org/drawingml/2006/main">
            <a:off x="8292389" y="2816352"/>
            <a:ext cx="311292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b="1">
                <a:solidFill>
                  <a:srgbClr val="486581"/>
                </a:solidFill>
                <a:latin typeface="Arial"/>
                <a:ea typeface="Arial"/>
                <a:cs typeface="Arial"/>
              </a:rPr>
              <a:t>Entitlement model plus access log, joined</a:t>
            </a:r>
            <a:endParaRPr sz="930"/>
          </a:p>
        </p:txBody>
      </p:sp>
      <p:sp>
        <p:nvSpPr>
          <p:cNvPr id="19" name="Shape 17">
            <a:extLst xmlns:a="http://schemas.openxmlformats.org/drawingml/2006/main">
              <a:ext uri="{FF2B5EF4-FFF2-40B4-BE49-F238E27FC236}">
                <a16:creationId xmlns:a16="http://schemas.microsoft.com/office/drawing/2014/main" id="{757ECD56-C159-4CB5-8D20-8966E7A7CC9C}"/>
              </a:ext>
            </a:extLst>
          </p:cNvPr>
          <p:cNvSpPr>
            <a:spLocks xmlns:a="http://schemas.openxmlformats.org/drawingml/2006/main" noGrp="1"/>
          </p:cNvSpPr>
          <p:nvPr/>
        </p:nvSpPr>
        <p:spPr>
          <a:xfrm xmlns:a="http://schemas.openxmlformats.org/drawingml/2006/main">
            <a:off x="566928" y="3438144"/>
            <a:ext cx="3551834" cy="1938528"/>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8ECA9C24-E74D-405F-A0B4-6BAB4755EDD6}"/>
              </a:ext>
            </a:extLst>
          </p:cNvPr>
          <p:cNvSpPr>
            <a:spLocks xmlns:a="http://schemas.openxmlformats.org/drawingml/2006/main" noGrp="1"/>
          </p:cNvSpPr>
          <p:nvPr/>
        </p:nvSpPr>
        <p:spPr>
          <a:xfrm xmlns:a="http://schemas.openxmlformats.org/drawingml/2006/main">
            <a:off x="786384" y="3602736"/>
            <a:ext cx="311292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How do you know isolation holds?</a:t>
            </a:r>
            <a:endParaRPr sz="1200"/>
          </a:p>
        </p:txBody>
      </p:sp>
      <p:sp>
        <p:nvSpPr>
          <p:cNvPr id="21" name="Text 19">
            <a:extLst xmlns:a="http://schemas.openxmlformats.org/drawingml/2006/main">
              <a:ext uri="{FF2B5EF4-FFF2-40B4-BE49-F238E27FC236}">
                <a16:creationId xmlns:a16="http://schemas.microsoft.com/office/drawing/2014/main" id="{FBF8961B-8E5F-43DF-A8FD-28161F07CAD8}"/>
              </a:ext>
            </a:extLst>
          </p:cNvPr>
          <p:cNvSpPr>
            <a:spLocks xmlns:a="http://schemas.openxmlformats.org/drawingml/2006/main" noGrp="1"/>
          </p:cNvSpPr>
          <p:nvPr/>
        </p:nvSpPr>
        <p:spPr>
          <a:xfrm xmlns:a="http://schemas.openxmlformats.org/drawingml/2006/main">
            <a:off x="786384" y="4151376"/>
            <a:ext cx="3112922"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Not the design intent — the evidence that no cross-boundary access has occurred.</a:t>
            </a:r>
            <a:endParaRPr sz="940"/>
          </a:p>
        </p:txBody>
      </p:sp>
      <p:sp>
        <p:nvSpPr>
          <p:cNvPr id="22" name="Shape 20">
            <a:extLst xmlns:a="http://schemas.openxmlformats.org/drawingml/2006/main">
              <a:ext uri="{FF2B5EF4-FFF2-40B4-BE49-F238E27FC236}">
                <a16:creationId xmlns:a16="http://schemas.microsoft.com/office/drawing/2014/main" id="{72064511-60A8-4A43-923A-E1D6B28B75B5}"/>
              </a:ext>
            </a:extLst>
          </p:cNvPr>
          <p:cNvSpPr>
            <a:spLocks xmlns:a="http://schemas.openxmlformats.org/drawingml/2006/main" noGrp="1"/>
          </p:cNvSpPr>
          <p:nvPr/>
        </p:nvSpPr>
        <p:spPr>
          <a:xfrm xmlns:a="http://schemas.openxmlformats.org/drawingml/2006/main">
            <a:off x="786384" y="4809744"/>
            <a:ext cx="3112922"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4B6B36B3-611E-48D7-9FCE-0F779333ADCE}"/>
              </a:ext>
            </a:extLst>
          </p:cNvPr>
          <p:cNvSpPr>
            <a:spLocks xmlns:a="http://schemas.openxmlformats.org/drawingml/2006/main" noGrp="1"/>
          </p:cNvSpPr>
          <p:nvPr/>
        </p:nvSpPr>
        <p:spPr>
          <a:xfrm xmlns:a="http://schemas.openxmlformats.org/drawingml/2006/main">
            <a:off x="786384" y="4919472"/>
            <a:ext cx="311292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b="1">
                <a:solidFill>
                  <a:srgbClr val="486581"/>
                </a:solidFill>
                <a:latin typeface="Arial"/>
                <a:ea typeface="Arial"/>
                <a:cs typeface="Arial"/>
              </a:rPr>
              <a:t>Automated isolation tests in the release pipeline</a:t>
            </a:r>
            <a:endParaRPr sz="930"/>
          </a:p>
        </p:txBody>
      </p:sp>
      <p:sp>
        <p:nvSpPr>
          <p:cNvPr id="24" name="Shape 22">
            <a:extLst xmlns:a="http://schemas.openxmlformats.org/drawingml/2006/main">
              <a:ext uri="{FF2B5EF4-FFF2-40B4-BE49-F238E27FC236}">
                <a16:creationId xmlns:a16="http://schemas.microsoft.com/office/drawing/2014/main" id="{5D9ACEA1-AFC2-466A-9808-3BFFB9155D80}"/>
              </a:ext>
            </a:extLst>
          </p:cNvPr>
          <p:cNvSpPr>
            <a:spLocks xmlns:a="http://schemas.openxmlformats.org/drawingml/2006/main" noGrp="1"/>
          </p:cNvSpPr>
          <p:nvPr/>
        </p:nvSpPr>
        <p:spPr>
          <a:xfrm xmlns:a="http://schemas.openxmlformats.org/drawingml/2006/main">
            <a:off x="4319930" y="3438144"/>
            <a:ext cx="3551834" cy="1938528"/>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93B25589-C788-4AF4-9836-ADF5D5A381BB}"/>
              </a:ext>
            </a:extLst>
          </p:cNvPr>
          <p:cNvSpPr>
            <a:spLocks xmlns:a="http://schemas.openxmlformats.org/drawingml/2006/main" noGrp="1"/>
          </p:cNvSpPr>
          <p:nvPr/>
        </p:nvSpPr>
        <p:spPr>
          <a:xfrm xmlns:a="http://schemas.openxmlformats.org/drawingml/2006/main">
            <a:off x="4539386" y="3602736"/>
            <a:ext cx="311292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What happens when it goes wrong?</a:t>
            </a:r>
            <a:endParaRPr sz="1200"/>
          </a:p>
        </p:txBody>
      </p:sp>
      <p:sp>
        <p:nvSpPr>
          <p:cNvPr id="26" name="Text 24">
            <a:extLst xmlns:a="http://schemas.openxmlformats.org/drawingml/2006/main">
              <a:ext uri="{FF2B5EF4-FFF2-40B4-BE49-F238E27FC236}">
                <a16:creationId xmlns:a16="http://schemas.microsoft.com/office/drawing/2014/main" id="{22E474AB-F466-416B-9A9A-24E31A9C1855}"/>
              </a:ext>
            </a:extLst>
          </p:cNvPr>
          <p:cNvSpPr>
            <a:spLocks xmlns:a="http://schemas.openxmlformats.org/drawingml/2006/main" noGrp="1"/>
          </p:cNvSpPr>
          <p:nvPr/>
        </p:nvSpPr>
        <p:spPr>
          <a:xfrm xmlns:a="http://schemas.openxmlformats.org/drawingml/2006/main">
            <a:off x="4539386" y="4151376"/>
            <a:ext cx="3112922"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The detection path, the notification clock, and evidence the clock has been met before.</a:t>
            </a:r>
            <a:endParaRPr sz="940"/>
          </a:p>
        </p:txBody>
      </p:sp>
      <p:sp>
        <p:nvSpPr>
          <p:cNvPr id="27" name="Shape 25">
            <a:extLst xmlns:a="http://schemas.openxmlformats.org/drawingml/2006/main">
              <a:ext uri="{FF2B5EF4-FFF2-40B4-BE49-F238E27FC236}">
                <a16:creationId xmlns:a16="http://schemas.microsoft.com/office/drawing/2014/main" id="{27A33CAD-73D2-4D78-BD03-3878353CCC88}"/>
              </a:ext>
            </a:extLst>
          </p:cNvPr>
          <p:cNvSpPr>
            <a:spLocks xmlns:a="http://schemas.openxmlformats.org/drawingml/2006/main" noGrp="1"/>
          </p:cNvSpPr>
          <p:nvPr/>
        </p:nvSpPr>
        <p:spPr>
          <a:xfrm xmlns:a="http://schemas.openxmlformats.org/drawingml/2006/main">
            <a:off x="4539386" y="4809744"/>
            <a:ext cx="3112922" cy="13716"/>
          </a:xfrm>
          <a:prstGeom xmlns:a="http://schemas.openxmlformats.org/drawingml/2006/main" prst="rect">
            <a:avLst/>
          </a:prstGeom>
          <a:solidFill xmlns:a="http://schemas.openxmlformats.org/drawingml/2006/main">
            <a:srgbClr val="C6D2DE"/>
          </a:solidFill>
        </p:spPr>
      </p:sp>
      <p:sp>
        <p:nvSpPr>
          <p:cNvPr id="28" name="Text 26">
            <a:extLst xmlns:a="http://schemas.openxmlformats.org/drawingml/2006/main">
              <a:ext uri="{FF2B5EF4-FFF2-40B4-BE49-F238E27FC236}">
                <a16:creationId xmlns:a16="http://schemas.microsoft.com/office/drawing/2014/main" id="{11FEB053-400B-4A17-A29C-D548A35392A4}"/>
              </a:ext>
            </a:extLst>
          </p:cNvPr>
          <p:cNvSpPr>
            <a:spLocks xmlns:a="http://schemas.openxmlformats.org/drawingml/2006/main" noGrp="1"/>
          </p:cNvSpPr>
          <p:nvPr/>
        </p:nvSpPr>
        <p:spPr>
          <a:xfrm xmlns:a="http://schemas.openxmlformats.org/drawingml/2006/main">
            <a:off x="4539386" y="4919472"/>
            <a:ext cx="311292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b="1">
                <a:solidFill>
                  <a:srgbClr val="486581"/>
                </a:solidFill>
                <a:latin typeface="Arial"/>
                <a:ea typeface="Arial"/>
                <a:cs typeface="Arial"/>
              </a:rPr>
              <a:t>Incident record with timestamped notification</a:t>
            </a:r>
            <a:endParaRPr sz="930"/>
          </a:p>
        </p:txBody>
      </p:sp>
      <p:sp>
        <p:nvSpPr>
          <p:cNvPr id="29" name="Shape 27">
            <a:extLst xmlns:a="http://schemas.openxmlformats.org/drawingml/2006/main">
              <a:ext uri="{FF2B5EF4-FFF2-40B4-BE49-F238E27FC236}">
                <a16:creationId xmlns:a16="http://schemas.microsoft.com/office/drawing/2014/main" id="{B93367A1-E09E-45FD-90C2-49764B8212BF}"/>
              </a:ext>
            </a:extLst>
          </p:cNvPr>
          <p:cNvSpPr>
            <a:spLocks xmlns:a="http://schemas.openxmlformats.org/drawingml/2006/main" noGrp="1"/>
          </p:cNvSpPr>
          <p:nvPr/>
        </p:nvSpPr>
        <p:spPr>
          <a:xfrm xmlns:a="http://schemas.openxmlformats.org/drawingml/2006/main">
            <a:off x="8072933" y="3438144"/>
            <a:ext cx="3551834" cy="1938528"/>
          </a:xfrm>
          <a:prstGeom xmlns:a="http://schemas.openxmlformats.org/drawingml/2006/main" prst="rect">
            <a:avLst/>
          </a:prstGeom>
          <a:solidFill xmlns:a="http://schemas.openxmlformats.org/drawingml/2006/main">
            <a:srgbClr val="F3E6E0"/>
          </a:solidFill>
        </p:spPr>
      </p:sp>
      <p:sp>
        <p:nvSpPr>
          <p:cNvPr id="30" name="Text 28">
            <a:extLst xmlns:a="http://schemas.openxmlformats.org/drawingml/2006/main">
              <a:ext uri="{FF2B5EF4-FFF2-40B4-BE49-F238E27FC236}">
                <a16:creationId xmlns:a16="http://schemas.microsoft.com/office/drawing/2014/main" id="{E98668ED-D871-4610-8C08-C3D1966AB060}"/>
              </a:ext>
            </a:extLst>
          </p:cNvPr>
          <p:cNvSpPr>
            <a:spLocks xmlns:a="http://schemas.openxmlformats.org/drawingml/2006/main" noGrp="1"/>
          </p:cNvSpPr>
          <p:nvPr/>
        </p:nvSpPr>
        <p:spPr>
          <a:xfrm xmlns:a="http://schemas.openxmlformats.org/drawingml/2006/main">
            <a:off x="8292389" y="3602736"/>
            <a:ext cx="3112922"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Can you show me, now?</a:t>
            </a:r>
            <a:endParaRPr sz="1200"/>
          </a:p>
        </p:txBody>
      </p:sp>
      <p:sp>
        <p:nvSpPr>
          <p:cNvPr id="31" name="Text 29">
            <a:extLst xmlns:a="http://schemas.openxmlformats.org/drawingml/2006/main">
              <a:ext uri="{FF2B5EF4-FFF2-40B4-BE49-F238E27FC236}">
                <a16:creationId xmlns:a16="http://schemas.microsoft.com/office/drawing/2014/main" id="{8D536F40-8D2F-40A0-A6C2-FC06E201EEAF}"/>
              </a:ext>
            </a:extLst>
          </p:cNvPr>
          <p:cNvSpPr>
            <a:spLocks xmlns:a="http://schemas.openxmlformats.org/drawingml/2006/main" noGrp="1"/>
          </p:cNvSpPr>
          <p:nvPr/>
        </p:nvSpPr>
        <p:spPr>
          <a:xfrm xmlns:a="http://schemas.openxmlformats.org/drawingml/2006/main">
            <a:off x="8292389" y="4151376"/>
            <a:ext cx="3112922"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Whether the evidence is generated continuously or compiled after the request arrives.</a:t>
            </a:r>
            <a:endParaRPr sz="940"/>
          </a:p>
        </p:txBody>
      </p:sp>
      <p:sp>
        <p:nvSpPr>
          <p:cNvPr id="32" name="Shape 30">
            <a:extLst xmlns:a="http://schemas.openxmlformats.org/drawingml/2006/main">
              <a:ext uri="{FF2B5EF4-FFF2-40B4-BE49-F238E27FC236}">
                <a16:creationId xmlns:a16="http://schemas.microsoft.com/office/drawing/2014/main" id="{473645BA-62DB-49E5-A504-EF3C20DFC832}"/>
              </a:ext>
            </a:extLst>
          </p:cNvPr>
          <p:cNvSpPr>
            <a:spLocks xmlns:a="http://schemas.openxmlformats.org/drawingml/2006/main" noGrp="1"/>
          </p:cNvSpPr>
          <p:nvPr/>
        </p:nvSpPr>
        <p:spPr>
          <a:xfrm xmlns:a="http://schemas.openxmlformats.org/drawingml/2006/main">
            <a:off x="8292389" y="4809744"/>
            <a:ext cx="3112922" cy="13716"/>
          </a:xfrm>
          <a:prstGeom xmlns:a="http://schemas.openxmlformats.org/drawingml/2006/main" prst="rect">
            <a:avLst/>
          </a:prstGeom>
          <a:solidFill xmlns:a="http://schemas.openxmlformats.org/drawingml/2006/main">
            <a:srgbClr val="C6D2DE"/>
          </a:solidFill>
        </p:spPr>
      </p:sp>
      <p:sp>
        <p:nvSpPr>
          <p:cNvPr id="33" name="Text 31">
            <a:extLst xmlns:a="http://schemas.openxmlformats.org/drawingml/2006/main">
              <a:ext uri="{FF2B5EF4-FFF2-40B4-BE49-F238E27FC236}">
                <a16:creationId xmlns:a16="http://schemas.microsoft.com/office/drawing/2014/main" id="{46E9312C-FD49-4F6C-A0C0-93609794D9F3}"/>
              </a:ext>
            </a:extLst>
          </p:cNvPr>
          <p:cNvSpPr>
            <a:spLocks xmlns:a="http://schemas.openxmlformats.org/drawingml/2006/main" noGrp="1"/>
          </p:cNvSpPr>
          <p:nvPr/>
        </p:nvSpPr>
        <p:spPr>
          <a:xfrm xmlns:a="http://schemas.openxmlformats.org/drawingml/2006/main">
            <a:off x="8292389" y="4919472"/>
            <a:ext cx="311292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b="1">
                <a:solidFill>
                  <a:srgbClr val="B04A25"/>
                </a:solidFill>
                <a:latin typeface="Arial"/>
                <a:ea typeface="Arial"/>
                <a:cs typeface="Arial"/>
              </a:rPr>
              <a:t>Standing evidence pack, not a compilation exercise</a:t>
            </a:r>
            <a:endParaRPr sz="930"/>
          </a:p>
        </p:txBody>
      </p:sp>
      <p:sp>
        <p:nvSpPr>
          <p:cNvPr id="34" name="Shape 32">
            <a:extLst xmlns:a="http://schemas.openxmlformats.org/drawingml/2006/main">
              <a:ext uri="{FF2B5EF4-FFF2-40B4-BE49-F238E27FC236}">
                <a16:creationId xmlns:a16="http://schemas.microsoft.com/office/drawing/2014/main" id="{A3BD9C0F-056F-4DB2-9D6F-E2B6989E2309}"/>
              </a:ext>
            </a:extLst>
          </p:cNvPr>
          <p:cNvSpPr>
            <a:spLocks xmlns:a="http://schemas.openxmlformats.org/drawingml/2006/main" noGrp="1"/>
          </p:cNvSpPr>
          <p:nvPr/>
        </p:nvSpPr>
        <p:spPr>
          <a:xfrm xmlns:a="http://schemas.openxmlformats.org/drawingml/2006/main">
            <a:off x="566928" y="5541264"/>
            <a:ext cx="11057839" cy="530352"/>
          </a:xfrm>
          <a:prstGeom xmlns:a="http://schemas.openxmlformats.org/drawingml/2006/main" prst="rect">
            <a:avLst/>
          </a:prstGeom>
          <a:solidFill xmlns:a="http://schemas.openxmlformats.org/drawingml/2006/main">
            <a:srgbClr val="F3E6E0"/>
          </a:solidFill>
        </p:spPr>
      </p:sp>
      <p:sp>
        <p:nvSpPr>
          <p:cNvPr id="35" name="Text 33">
            <a:extLst xmlns:a="http://schemas.openxmlformats.org/drawingml/2006/main">
              <a:ext uri="{FF2B5EF4-FFF2-40B4-BE49-F238E27FC236}">
                <a16:creationId xmlns:a16="http://schemas.microsoft.com/office/drawing/2014/main" id="{AA2A0981-BCEE-4DE2-938D-417376D25017}"/>
              </a:ext>
            </a:extLst>
          </p:cNvPr>
          <p:cNvSpPr>
            <a:spLocks xmlns:a="http://schemas.openxmlformats.org/drawingml/2006/main" noGrp="1"/>
          </p:cNvSpPr>
          <p:nvPr/>
        </p:nvSpPr>
        <p:spPr>
          <a:xfrm xmlns:a="http://schemas.openxmlformats.org/drawingml/2006/main">
            <a:off x="804672" y="5724144"/>
            <a:ext cx="10582351"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Every one of the six is answered by an artefact, not by a statement. A platform that generates them continuously passes inspections; one that compiles them on request passes the first and struggles with the second.</a:t>
            </a:r>
            <a:endParaRPr sz="990"/>
          </a:p>
        </p:txBody>
      </p:sp>
      <p:sp>
        <p:nvSpPr>
          <p:cNvPr id="36" name="Shape 34">
            <a:extLst xmlns:a="http://schemas.openxmlformats.org/drawingml/2006/main">
              <a:ext uri="{FF2B5EF4-FFF2-40B4-BE49-F238E27FC236}">
                <a16:creationId xmlns:a16="http://schemas.microsoft.com/office/drawing/2014/main" id="{A5F9B53A-95BE-4C18-9E51-C28352BEB0A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7" name="Text 35">
            <a:extLst xmlns:a="http://schemas.openxmlformats.org/drawingml/2006/main">
              <a:ext uri="{FF2B5EF4-FFF2-40B4-BE49-F238E27FC236}">
                <a16:creationId xmlns:a16="http://schemas.microsoft.com/office/drawing/2014/main" id="{99BB2340-0371-47DA-994E-F14BB33DF58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compliance-architecture analysis</a:t>
            </a:r>
            <a:endParaRPr sz="850"/>
          </a:p>
        </p:txBody>
      </p:sp>
      <p:sp>
        <p:nvSpPr>
          <p:cNvPr id="38" name="Text 36">
            <a:extLst xmlns:a="http://schemas.openxmlformats.org/drawingml/2006/main">
              <a:ext uri="{FF2B5EF4-FFF2-40B4-BE49-F238E27FC236}">
                <a16:creationId xmlns:a16="http://schemas.microsoft.com/office/drawing/2014/main" id="{95968A92-51C0-4DEA-8E4A-B70871ACEDD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2053680570"/>
      </p:ext>
    </p:extLst>
  </p:cSld>
</p:sld>
</file>

<file path=ppt/slides/slide23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8BFC0F-99D2-40C6-9E2D-D26D9FCF1EB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SEQUENCING</a:t>
            </a:r>
            <a:endParaRPr sz="950"/>
          </a:p>
        </p:txBody>
      </p:sp>
      <p:sp>
        <p:nvSpPr>
          <p:cNvPr id="3" name="Text 1">
            <a:extLst xmlns:a="http://schemas.openxmlformats.org/drawingml/2006/main">
              <a:ext uri="{FF2B5EF4-FFF2-40B4-BE49-F238E27FC236}">
                <a16:creationId xmlns:a16="http://schemas.microsoft.com/office/drawing/2014/main" id="{0B15B67A-A80B-4557-B520-6A2A9630B05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Engage the hardest supervisor first — the instinct to start with the easiest market is</a:t>
            </a:r>
            <a:endParaRPr sz="1900"/>
          </a:p>
          <a:p xmlns:a="http://schemas.openxmlformats.org/drawingml/2006/main">
            <a:pPr marL="0" indent="0">
              <a:lnSpc>
                <a:spcPts val="2400"/>
              </a:lnSpc>
              <a:buNone/>
            </a:pPr>
            <a:r>
              <a:rPr sz="1900" b="1">
                <a:solidFill>
                  <a:srgbClr val="102A43"/>
                </a:solidFill>
                <a:latin typeface="Arial"/>
                <a:ea typeface="Arial"/>
                <a:cs typeface="Arial"/>
              </a:rPr>
              <a:t>the most expensive order available</a:t>
            </a:r>
            <a:endParaRPr sz="1900"/>
          </a:p>
        </p:txBody>
      </p:sp>
      <p:sp>
        <p:nvSpPr>
          <p:cNvPr id="4" name="Shape 2">
            <a:extLst xmlns:a="http://schemas.openxmlformats.org/drawingml/2006/main">
              <a:ext uri="{FF2B5EF4-FFF2-40B4-BE49-F238E27FC236}">
                <a16:creationId xmlns:a16="http://schemas.microsoft.com/office/drawing/2014/main" id="{B9300B75-2A1D-4F6D-B898-C5EFF3D26498}"/>
              </a:ext>
            </a:extLst>
          </p:cNvPr>
          <p:cNvSpPr>
            <a:spLocks xmlns:a="http://schemas.openxmlformats.org/drawingml/2006/main" noGrp="1"/>
          </p:cNvSpPr>
          <p:nvPr/>
        </p:nvSpPr>
        <p:spPr>
          <a:xfrm xmlns:a="http://schemas.openxmlformats.org/drawingml/2006/main">
            <a:off x="566928" y="1335024"/>
            <a:ext cx="5373472"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8E0FA43-CE79-4000-9FAE-DA98FB7AB37E}"/>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THE COMMON ORDER</a:t>
            </a:r>
            <a:endParaRPr sz="840"/>
          </a:p>
        </p:txBody>
      </p:sp>
      <p:sp>
        <p:nvSpPr>
          <p:cNvPr id="6" name="Text 4">
            <a:extLst xmlns:a="http://schemas.openxmlformats.org/drawingml/2006/main">
              <a:ext uri="{FF2B5EF4-FFF2-40B4-BE49-F238E27FC236}">
                <a16:creationId xmlns:a16="http://schemas.microsoft.com/office/drawing/2014/main" id="{92A53238-8545-40F3-92C6-7453445AC8D2}"/>
              </a:ext>
            </a:extLst>
          </p:cNvPr>
          <p:cNvSpPr>
            <a:spLocks xmlns:a="http://schemas.openxmlformats.org/drawingml/2006/main" noGrp="1"/>
          </p:cNvSpPr>
          <p:nvPr/>
        </p:nvSpPr>
        <p:spPr>
          <a:xfrm xmlns:a="http://schemas.openxmlformats.org/drawingml/2006/main">
            <a:off x="804672"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Easiest market first</a:t>
            </a:r>
            <a:endParaRPr sz="1500"/>
          </a:p>
        </p:txBody>
      </p:sp>
      <p:sp>
        <p:nvSpPr>
          <p:cNvPr id="7" name="Text 5">
            <a:extLst xmlns:a="http://schemas.openxmlformats.org/drawingml/2006/main">
              <a:ext uri="{FF2B5EF4-FFF2-40B4-BE49-F238E27FC236}">
                <a16:creationId xmlns:a16="http://schemas.microsoft.com/office/drawing/2014/main" id="{5DE3F3D8-4468-41C6-8B66-76E5067F42AC}"/>
              </a:ext>
            </a:extLst>
          </p:cNvPr>
          <p:cNvSpPr>
            <a:spLocks xmlns:a="http://schemas.openxmlformats.org/drawingml/2006/main" noGrp="1"/>
          </p:cNvSpPr>
          <p:nvPr/>
        </p:nvSpPr>
        <p:spPr>
          <a:xfrm xmlns:a="http://schemas.openxmlformats.org/drawingml/2006/main">
            <a:off x="804672" y="2139696"/>
            <a:ext cx="4897984" cy="1517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Fastest route to a first go-live and an early programme win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Design shaped by the least demanding requirements in scope</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Second market forces rework of something already in production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Third market forces it again, now with two live estates and two supervisors watching</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Each rework is a change to an inspected system, not to a design document</a:t>
            </a:r>
            <a:endParaRPr sz="960"/>
          </a:p>
        </p:txBody>
      </p:sp>
      <p:sp>
        <p:nvSpPr>
          <p:cNvPr id="8" name="Shape 6">
            <a:extLst xmlns:a="http://schemas.openxmlformats.org/drawingml/2006/main">
              <a:ext uri="{FF2B5EF4-FFF2-40B4-BE49-F238E27FC236}">
                <a16:creationId xmlns:a16="http://schemas.microsoft.com/office/drawing/2014/main" id="{6D8FF46C-1E43-4F2D-A5D7-60D211D40694}"/>
              </a:ext>
            </a:extLst>
          </p:cNvPr>
          <p:cNvSpPr>
            <a:spLocks xmlns:a="http://schemas.openxmlformats.org/drawingml/2006/main" noGrp="1"/>
          </p:cNvSpPr>
          <p:nvPr/>
        </p:nvSpPr>
        <p:spPr>
          <a:xfrm xmlns:a="http://schemas.openxmlformats.org/drawingml/2006/main">
            <a:off x="6251296" y="1335024"/>
            <a:ext cx="5373472" cy="246888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CD1AC96E-218D-429C-BADB-E9837E74686F}"/>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THE RECOMMENDED ORDER</a:t>
            </a:r>
            <a:endParaRPr sz="840"/>
          </a:p>
        </p:txBody>
      </p:sp>
      <p:sp>
        <p:nvSpPr>
          <p:cNvPr id="10" name="Text 8">
            <a:extLst xmlns:a="http://schemas.openxmlformats.org/drawingml/2006/main">
              <a:ext uri="{FF2B5EF4-FFF2-40B4-BE49-F238E27FC236}">
                <a16:creationId xmlns:a16="http://schemas.microsoft.com/office/drawing/2014/main" id="{82E18B6B-5BD1-4B8E-B1BC-71450846D22C}"/>
              </a:ext>
            </a:extLst>
          </p:cNvPr>
          <p:cNvSpPr>
            <a:spLocks xmlns:a="http://schemas.openxmlformats.org/drawingml/2006/main" noGrp="1"/>
          </p:cNvSpPr>
          <p:nvPr/>
        </p:nvSpPr>
        <p:spPr>
          <a:xfrm xmlns:a="http://schemas.openxmlformats.org/drawingml/2006/main">
            <a:off x="6489040" y="1737360"/>
            <a:ext cx="48979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500" b="1">
                <a:solidFill>
                  <a:srgbClr val="102A43"/>
                </a:solidFill>
                <a:latin typeface="Arial"/>
                <a:ea typeface="Arial"/>
                <a:cs typeface="Arial"/>
              </a:rPr>
              <a:t>Hardest supervisor engaged first</a:t>
            </a:r>
            <a:endParaRPr sz="1500"/>
          </a:p>
        </p:txBody>
      </p:sp>
      <p:sp>
        <p:nvSpPr>
          <p:cNvPr id="11" name="Text 9">
            <a:extLst xmlns:a="http://schemas.openxmlformats.org/drawingml/2006/main">
              <a:ext uri="{FF2B5EF4-FFF2-40B4-BE49-F238E27FC236}">
                <a16:creationId xmlns:a16="http://schemas.microsoft.com/office/drawing/2014/main" id="{E9946989-AF9E-423D-A91B-366213982BE8}"/>
              </a:ext>
            </a:extLst>
          </p:cNvPr>
          <p:cNvSpPr>
            <a:spLocks xmlns:a="http://schemas.openxmlformats.org/drawingml/2006/main" noGrp="1"/>
          </p:cNvSpPr>
          <p:nvPr/>
        </p:nvSpPr>
        <p:spPr>
          <a:xfrm xmlns:a="http://schemas.openxmlformats.org/drawingml/2006/main">
            <a:off x="6489040" y="2139696"/>
            <a:ext cx="4897984" cy="1517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Design baseline set by the strictest requirement before anything is built</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First go-live is slower and every subsequent one is faster</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Later markets relax by documented exception rather than by rework</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Each supervisor sees a design already meeting a stricter standard than its own</a:t>
            </a:r>
            <a:endParaRPr sz="960"/>
          </a:p>
          <a:p xmlns:a="http://schemas.openxmlformats.org/drawingml/2006/main">
            <a:pPr marL="152400" indent="-152400">
              <a:lnSpc>
                <a:spcPts val="1400"/>
              </a:lnSpc>
              <a:spcAft>
                <a:spcPts val="600"/>
              </a:spcAft>
              <a:buSzPct val="100000"/>
              <a:buChar char="•"/>
            </a:pPr>
            <a:r>
              <a:rPr sz="960">
                <a:solidFill>
                  <a:srgbClr val="1A1A1A"/>
                </a:solidFill>
                <a:latin typeface="Arial"/>
                <a:ea typeface="Arial"/>
                <a:cs typeface="Arial"/>
              </a:rPr>
              <a:t>One evidence pack, extended per market, rather than three assembled separately</a:t>
            </a:r>
            <a:endParaRPr sz="960"/>
          </a:p>
        </p:txBody>
      </p:sp>
      <p:sp>
        <p:nvSpPr>
          <p:cNvPr id="12" name="Shape 10">
            <a:extLst xmlns:a="http://schemas.openxmlformats.org/drawingml/2006/main">
              <a:ext uri="{FF2B5EF4-FFF2-40B4-BE49-F238E27FC236}">
                <a16:creationId xmlns:a16="http://schemas.microsoft.com/office/drawing/2014/main" id="{98D1EE93-7821-48C6-8F3E-390937C4A00D}"/>
              </a:ext>
            </a:extLst>
          </p:cNvPr>
          <p:cNvSpPr>
            <a:spLocks xmlns:a="http://schemas.openxmlformats.org/drawingml/2006/main" noGrp="1"/>
          </p:cNvSpPr>
          <p:nvPr/>
        </p:nvSpPr>
        <p:spPr>
          <a:xfrm xmlns:a="http://schemas.openxmlformats.org/drawingml/2006/main">
            <a:off x="566928" y="4059936"/>
            <a:ext cx="2123785" cy="1481328"/>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EBE637D7-0200-43BB-BBA5-AED96BF226DB}"/>
              </a:ext>
            </a:extLst>
          </p:cNvPr>
          <p:cNvSpPr>
            <a:spLocks xmlns:a="http://schemas.openxmlformats.org/drawingml/2006/main" noGrp="1"/>
          </p:cNvSpPr>
          <p:nvPr/>
        </p:nvSpPr>
        <p:spPr>
          <a:xfrm xmlns:a="http://schemas.openxmlformats.org/drawingml/2006/main">
            <a:off x="713232" y="4169664"/>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01</a:t>
            </a:r>
            <a:endParaRPr sz="840"/>
          </a:p>
        </p:txBody>
      </p:sp>
      <p:sp>
        <p:nvSpPr>
          <p:cNvPr id="14" name="Text 12">
            <a:extLst xmlns:a="http://schemas.openxmlformats.org/drawingml/2006/main">
              <a:ext uri="{FF2B5EF4-FFF2-40B4-BE49-F238E27FC236}">
                <a16:creationId xmlns:a16="http://schemas.microsoft.com/office/drawing/2014/main" id="{221D6B70-F9E9-451A-A474-AF57AF071CCD}"/>
              </a:ext>
            </a:extLst>
          </p:cNvPr>
          <p:cNvSpPr>
            <a:spLocks xmlns:a="http://schemas.openxmlformats.org/drawingml/2006/main" noGrp="1"/>
          </p:cNvSpPr>
          <p:nvPr/>
        </p:nvSpPr>
        <p:spPr>
          <a:xfrm xmlns:a="http://schemas.openxmlformats.org/drawingml/2006/main">
            <a:off x="713232" y="4370832"/>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Pre-engage on design</a:t>
            </a:r>
            <a:endParaRPr sz="1000"/>
          </a:p>
        </p:txBody>
      </p:sp>
      <p:sp>
        <p:nvSpPr>
          <p:cNvPr id="15" name="Text 13">
            <a:extLst xmlns:a="http://schemas.openxmlformats.org/drawingml/2006/main">
              <a:ext uri="{FF2B5EF4-FFF2-40B4-BE49-F238E27FC236}">
                <a16:creationId xmlns:a16="http://schemas.microsoft.com/office/drawing/2014/main" id="{49598315-6CE6-4CBF-BDC9-AA482032152C}"/>
              </a:ext>
            </a:extLst>
          </p:cNvPr>
          <p:cNvSpPr>
            <a:spLocks xmlns:a="http://schemas.openxmlformats.org/drawingml/2006/main" noGrp="1"/>
          </p:cNvSpPr>
          <p:nvPr/>
        </p:nvSpPr>
        <p:spPr>
          <a:xfrm xmlns:a="http://schemas.openxmlformats.org/drawingml/2006/main">
            <a:off x="713232" y="4791456"/>
            <a:ext cx="1831177"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Present residency, isolation and evidence design to the strictest supervisor before build starts</a:t>
            </a:r>
            <a:endParaRPr sz="860"/>
          </a:p>
        </p:txBody>
      </p:sp>
      <p:sp>
        <p:nvSpPr>
          <p:cNvPr id="16" name="Shape 14">
            <a:extLst xmlns:a="http://schemas.openxmlformats.org/drawingml/2006/main">
              <a:ext uri="{FF2B5EF4-FFF2-40B4-BE49-F238E27FC236}">
                <a16:creationId xmlns:a16="http://schemas.microsoft.com/office/drawing/2014/main" id="{8851C511-FAA0-4DA0-B774-E1B93DFCFBC2}"/>
              </a:ext>
            </a:extLst>
          </p:cNvPr>
          <p:cNvSpPr>
            <a:spLocks xmlns:a="http://schemas.openxmlformats.org/drawingml/2006/main" noGrp="1"/>
          </p:cNvSpPr>
          <p:nvPr/>
        </p:nvSpPr>
        <p:spPr>
          <a:xfrm xmlns:a="http://schemas.openxmlformats.org/drawingml/2006/main">
            <a:off x="2800441" y="4059936"/>
            <a:ext cx="2123785" cy="1481328"/>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D5DE0C90-CD54-4687-8C36-F7D97F1F2722}"/>
              </a:ext>
            </a:extLst>
          </p:cNvPr>
          <p:cNvSpPr>
            <a:spLocks xmlns:a="http://schemas.openxmlformats.org/drawingml/2006/main" noGrp="1"/>
          </p:cNvSpPr>
          <p:nvPr/>
        </p:nvSpPr>
        <p:spPr>
          <a:xfrm xmlns:a="http://schemas.openxmlformats.org/drawingml/2006/main">
            <a:off x="2946745" y="4169664"/>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8" name="Text 16">
            <a:extLst xmlns:a="http://schemas.openxmlformats.org/drawingml/2006/main">
              <a:ext uri="{FF2B5EF4-FFF2-40B4-BE49-F238E27FC236}">
                <a16:creationId xmlns:a16="http://schemas.microsoft.com/office/drawing/2014/main" id="{4E1902D6-7DAD-4912-B4B8-D4156C7E4586}"/>
              </a:ext>
            </a:extLst>
          </p:cNvPr>
          <p:cNvSpPr>
            <a:spLocks xmlns:a="http://schemas.openxmlformats.org/drawingml/2006/main" noGrp="1"/>
          </p:cNvSpPr>
          <p:nvPr/>
        </p:nvSpPr>
        <p:spPr>
          <a:xfrm xmlns:a="http://schemas.openxmlformats.org/drawingml/2006/main">
            <a:off x="2946745" y="4370832"/>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Build to the baseline</a:t>
            </a:r>
            <a:endParaRPr sz="1000"/>
          </a:p>
        </p:txBody>
      </p:sp>
      <p:sp>
        <p:nvSpPr>
          <p:cNvPr id="19" name="Text 17">
            <a:extLst xmlns:a="http://schemas.openxmlformats.org/drawingml/2006/main">
              <a:ext uri="{FF2B5EF4-FFF2-40B4-BE49-F238E27FC236}">
                <a16:creationId xmlns:a16="http://schemas.microsoft.com/office/drawing/2014/main" id="{181839DF-717A-4DF4-AF4E-10E340848842}"/>
              </a:ext>
            </a:extLst>
          </p:cNvPr>
          <p:cNvSpPr>
            <a:spLocks xmlns:a="http://schemas.openxmlformats.org/drawingml/2006/main" noGrp="1"/>
          </p:cNvSpPr>
          <p:nvPr/>
        </p:nvSpPr>
        <p:spPr>
          <a:xfrm xmlns:a="http://schemas.openxmlformats.org/drawingml/2006/main">
            <a:off x="2946745" y="4791456"/>
            <a:ext cx="1831177"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Strictest requirement becomes the platform default across all markets</a:t>
            </a:r>
            <a:endParaRPr sz="860"/>
          </a:p>
        </p:txBody>
      </p:sp>
      <p:sp>
        <p:nvSpPr>
          <p:cNvPr id="20" name="Shape 18">
            <a:extLst xmlns:a="http://schemas.openxmlformats.org/drawingml/2006/main">
              <a:ext uri="{FF2B5EF4-FFF2-40B4-BE49-F238E27FC236}">
                <a16:creationId xmlns:a16="http://schemas.microsoft.com/office/drawing/2014/main" id="{1A4ABD6B-8217-437B-9317-0FC033439110}"/>
              </a:ext>
            </a:extLst>
          </p:cNvPr>
          <p:cNvSpPr>
            <a:spLocks xmlns:a="http://schemas.openxmlformats.org/drawingml/2006/main" noGrp="1"/>
          </p:cNvSpPr>
          <p:nvPr/>
        </p:nvSpPr>
        <p:spPr>
          <a:xfrm xmlns:a="http://schemas.openxmlformats.org/drawingml/2006/main">
            <a:off x="5033955" y="4059936"/>
            <a:ext cx="2123785" cy="1481328"/>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06529529-C0C3-47A8-9BE4-C6FB138D44AF}"/>
              </a:ext>
            </a:extLst>
          </p:cNvPr>
          <p:cNvSpPr>
            <a:spLocks xmlns:a="http://schemas.openxmlformats.org/drawingml/2006/main" noGrp="1"/>
          </p:cNvSpPr>
          <p:nvPr/>
        </p:nvSpPr>
        <p:spPr>
          <a:xfrm xmlns:a="http://schemas.openxmlformats.org/drawingml/2006/main">
            <a:off x="5180259" y="4169664"/>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22" name="Text 20">
            <a:extLst xmlns:a="http://schemas.openxmlformats.org/drawingml/2006/main">
              <a:ext uri="{FF2B5EF4-FFF2-40B4-BE49-F238E27FC236}">
                <a16:creationId xmlns:a16="http://schemas.microsoft.com/office/drawing/2014/main" id="{F8848513-ABB4-41B9-B436-CA8D9471D8E7}"/>
              </a:ext>
            </a:extLst>
          </p:cNvPr>
          <p:cNvSpPr>
            <a:spLocks xmlns:a="http://schemas.openxmlformats.org/drawingml/2006/main" noGrp="1"/>
          </p:cNvSpPr>
          <p:nvPr/>
        </p:nvSpPr>
        <p:spPr>
          <a:xfrm xmlns:a="http://schemas.openxmlformats.org/drawingml/2006/main">
            <a:off x="5180259" y="4370832"/>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Home market go-live</a:t>
            </a:r>
            <a:endParaRPr sz="1000"/>
          </a:p>
        </p:txBody>
      </p:sp>
      <p:sp>
        <p:nvSpPr>
          <p:cNvPr id="23" name="Text 21">
            <a:extLst xmlns:a="http://schemas.openxmlformats.org/drawingml/2006/main">
              <a:ext uri="{FF2B5EF4-FFF2-40B4-BE49-F238E27FC236}">
                <a16:creationId xmlns:a16="http://schemas.microsoft.com/office/drawing/2014/main" id="{EEB08115-006A-411E-A834-A3030F47858C}"/>
              </a:ext>
            </a:extLst>
          </p:cNvPr>
          <p:cNvSpPr>
            <a:spLocks xmlns:a="http://schemas.openxmlformats.org/drawingml/2006/main" noGrp="1"/>
          </p:cNvSpPr>
          <p:nvPr/>
        </p:nvSpPr>
        <p:spPr>
          <a:xfrm xmlns:a="http://schemas.openxmlformats.org/drawingml/2006/main">
            <a:off x="5180259" y="4791456"/>
            <a:ext cx="1831177"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Largest population, on a design already exceeding local requirements</a:t>
            </a:r>
            <a:endParaRPr sz="860"/>
          </a:p>
        </p:txBody>
      </p:sp>
      <p:sp>
        <p:nvSpPr>
          <p:cNvPr id="24" name="Shape 22">
            <a:extLst xmlns:a="http://schemas.openxmlformats.org/drawingml/2006/main">
              <a:ext uri="{FF2B5EF4-FFF2-40B4-BE49-F238E27FC236}">
                <a16:creationId xmlns:a16="http://schemas.microsoft.com/office/drawing/2014/main" id="{976D6EA2-E457-4065-98F8-89B4C786A9FA}"/>
              </a:ext>
            </a:extLst>
          </p:cNvPr>
          <p:cNvSpPr>
            <a:spLocks xmlns:a="http://schemas.openxmlformats.org/drawingml/2006/main" noGrp="1"/>
          </p:cNvSpPr>
          <p:nvPr/>
        </p:nvSpPr>
        <p:spPr>
          <a:xfrm xmlns:a="http://schemas.openxmlformats.org/drawingml/2006/main">
            <a:off x="7267468" y="4059936"/>
            <a:ext cx="2123785" cy="1481328"/>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8073A0D2-ACC9-4F6B-A464-4DF3229CA495}"/>
              </a:ext>
            </a:extLst>
          </p:cNvPr>
          <p:cNvSpPr>
            <a:spLocks xmlns:a="http://schemas.openxmlformats.org/drawingml/2006/main" noGrp="1"/>
          </p:cNvSpPr>
          <p:nvPr/>
        </p:nvSpPr>
        <p:spPr>
          <a:xfrm xmlns:a="http://schemas.openxmlformats.org/drawingml/2006/main">
            <a:off x="7413772" y="4169664"/>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26" name="Text 24">
            <a:extLst xmlns:a="http://schemas.openxmlformats.org/drawingml/2006/main">
              <a:ext uri="{FF2B5EF4-FFF2-40B4-BE49-F238E27FC236}">
                <a16:creationId xmlns:a16="http://schemas.microsoft.com/office/drawing/2014/main" id="{AB94898D-5EED-4E1D-9067-530D558E0019}"/>
              </a:ext>
            </a:extLst>
          </p:cNvPr>
          <p:cNvSpPr>
            <a:spLocks xmlns:a="http://schemas.openxmlformats.org/drawingml/2006/main" noGrp="1"/>
          </p:cNvSpPr>
          <p:nvPr/>
        </p:nvSpPr>
        <p:spPr>
          <a:xfrm xmlns:a="http://schemas.openxmlformats.org/drawingml/2006/main">
            <a:off x="7413772" y="4370832"/>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Relax by exception</a:t>
            </a:r>
            <a:endParaRPr sz="1000"/>
          </a:p>
        </p:txBody>
      </p:sp>
      <p:sp>
        <p:nvSpPr>
          <p:cNvPr id="27" name="Text 25">
            <a:extLst xmlns:a="http://schemas.openxmlformats.org/drawingml/2006/main">
              <a:ext uri="{FF2B5EF4-FFF2-40B4-BE49-F238E27FC236}">
                <a16:creationId xmlns:a16="http://schemas.microsoft.com/office/drawing/2014/main" id="{255FAA06-5476-4874-A0D6-3BB5FFEE5590}"/>
              </a:ext>
            </a:extLst>
          </p:cNvPr>
          <p:cNvSpPr>
            <a:spLocks xmlns:a="http://schemas.openxmlformats.org/drawingml/2006/main" noGrp="1"/>
          </p:cNvSpPr>
          <p:nvPr/>
        </p:nvSpPr>
        <p:spPr>
          <a:xfrm xmlns:a="http://schemas.openxmlformats.org/drawingml/2006/main">
            <a:off x="7413772" y="4791456"/>
            <a:ext cx="1831177"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Later markets document where they need less, never where they need more</a:t>
            </a:r>
            <a:endParaRPr sz="860"/>
          </a:p>
        </p:txBody>
      </p:sp>
      <p:sp>
        <p:nvSpPr>
          <p:cNvPr id="28" name="Shape 26">
            <a:extLst xmlns:a="http://schemas.openxmlformats.org/drawingml/2006/main">
              <a:ext uri="{FF2B5EF4-FFF2-40B4-BE49-F238E27FC236}">
                <a16:creationId xmlns:a16="http://schemas.microsoft.com/office/drawing/2014/main" id="{D4B45E8C-E144-43C2-913E-F75422A398A6}"/>
              </a:ext>
            </a:extLst>
          </p:cNvPr>
          <p:cNvSpPr>
            <a:spLocks xmlns:a="http://schemas.openxmlformats.org/drawingml/2006/main" noGrp="1"/>
          </p:cNvSpPr>
          <p:nvPr/>
        </p:nvSpPr>
        <p:spPr>
          <a:xfrm xmlns:a="http://schemas.openxmlformats.org/drawingml/2006/main">
            <a:off x="9500982" y="4059936"/>
            <a:ext cx="2123785" cy="1481328"/>
          </a:xfrm>
          <a:prstGeom xmlns:a="http://schemas.openxmlformats.org/drawingml/2006/main" prst="rect">
            <a:avLst/>
          </a:prstGeom>
          <a:solidFill xmlns:a="http://schemas.openxmlformats.org/drawingml/2006/main">
            <a:srgbClr val="F0F4F8"/>
          </a:solidFill>
        </p:spPr>
      </p:sp>
      <p:sp>
        <p:nvSpPr>
          <p:cNvPr id="29" name="Text 27">
            <a:extLst xmlns:a="http://schemas.openxmlformats.org/drawingml/2006/main">
              <a:ext uri="{FF2B5EF4-FFF2-40B4-BE49-F238E27FC236}">
                <a16:creationId xmlns:a16="http://schemas.microsoft.com/office/drawing/2014/main" id="{8CCB827B-125F-4290-87B1-5614C6EE4ACC}"/>
              </a:ext>
            </a:extLst>
          </p:cNvPr>
          <p:cNvSpPr>
            <a:spLocks xmlns:a="http://schemas.openxmlformats.org/drawingml/2006/main" noGrp="1"/>
          </p:cNvSpPr>
          <p:nvPr/>
        </p:nvSpPr>
        <p:spPr>
          <a:xfrm xmlns:a="http://schemas.openxmlformats.org/drawingml/2006/main">
            <a:off x="9647286" y="4169664"/>
            <a:ext cx="1831177"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30" name="Text 28">
            <a:extLst xmlns:a="http://schemas.openxmlformats.org/drawingml/2006/main">
              <a:ext uri="{FF2B5EF4-FFF2-40B4-BE49-F238E27FC236}">
                <a16:creationId xmlns:a16="http://schemas.microsoft.com/office/drawing/2014/main" id="{15CF08FE-152B-4A12-ABB4-67C4019C1B14}"/>
              </a:ext>
            </a:extLst>
          </p:cNvPr>
          <p:cNvSpPr>
            <a:spLocks xmlns:a="http://schemas.openxmlformats.org/drawingml/2006/main" noGrp="1"/>
          </p:cNvSpPr>
          <p:nvPr/>
        </p:nvSpPr>
        <p:spPr>
          <a:xfrm xmlns:a="http://schemas.openxmlformats.org/drawingml/2006/main">
            <a:off x="9647286" y="4370832"/>
            <a:ext cx="1831177"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1000" b="1">
                <a:solidFill>
                  <a:srgbClr val="102A43"/>
                </a:solidFill>
                <a:latin typeface="Arial"/>
                <a:ea typeface="Arial"/>
                <a:cs typeface="Arial"/>
              </a:rPr>
              <a:t>Extend the evidence pack</a:t>
            </a:r>
            <a:endParaRPr sz="1000"/>
          </a:p>
        </p:txBody>
      </p:sp>
      <p:sp>
        <p:nvSpPr>
          <p:cNvPr id="31" name="Text 29">
            <a:extLst xmlns:a="http://schemas.openxmlformats.org/drawingml/2006/main">
              <a:ext uri="{FF2B5EF4-FFF2-40B4-BE49-F238E27FC236}">
                <a16:creationId xmlns:a16="http://schemas.microsoft.com/office/drawing/2014/main" id="{E69DED4C-E156-4BF8-B10D-FCC527DDCA67}"/>
              </a:ext>
            </a:extLst>
          </p:cNvPr>
          <p:cNvSpPr>
            <a:spLocks xmlns:a="http://schemas.openxmlformats.org/drawingml/2006/main" noGrp="1"/>
          </p:cNvSpPr>
          <p:nvPr/>
        </p:nvSpPr>
        <p:spPr>
          <a:xfrm xmlns:a="http://schemas.openxmlformats.org/drawingml/2006/main">
            <a:off x="9647286" y="4791456"/>
            <a:ext cx="1831177" cy="6766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00"/>
              </a:lnSpc>
              <a:buNone/>
            </a:pPr>
            <a:r>
              <a:rPr sz="860">
                <a:solidFill>
                  <a:srgbClr val="486581"/>
                </a:solidFill>
                <a:latin typeface="Arial"/>
                <a:ea typeface="Arial"/>
                <a:cs typeface="Arial"/>
              </a:rPr>
              <a:t>One pack, extended per jurisdiction, rather than three compiled separately</a:t>
            </a:r>
            <a:endParaRPr sz="860"/>
          </a:p>
        </p:txBody>
      </p:sp>
      <p:sp>
        <p:nvSpPr>
          <p:cNvPr id="32" name="Shape 30">
            <a:extLst xmlns:a="http://schemas.openxmlformats.org/drawingml/2006/main">
              <a:ext uri="{FF2B5EF4-FFF2-40B4-BE49-F238E27FC236}">
                <a16:creationId xmlns:a16="http://schemas.microsoft.com/office/drawing/2014/main" id="{0300BA9D-2753-40FD-8CB7-730A8C88C3D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A24CC685-0F38-4E61-BA82-3C623833918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compliance-architecture analysis</a:t>
            </a:r>
            <a:endParaRPr sz="850"/>
          </a:p>
        </p:txBody>
      </p:sp>
      <p:sp>
        <p:nvSpPr>
          <p:cNvPr id="34" name="Text 32">
            <a:extLst xmlns:a="http://schemas.openxmlformats.org/drawingml/2006/main">
              <a:ext uri="{FF2B5EF4-FFF2-40B4-BE49-F238E27FC236}">
                <a16:creationId xmlns:a16="http://schemas.microsoft.com/office/drawing/2014/main" id="{2808EC7B-1333-4C40-9202-4E85D71FE1E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1976533535"/>
      </p:ext>
    </p:extLst>
  </p:cSld>
</p:sld>
</file>

<file path=ppt/slides/slide23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FB77762-0403-4C6D-8ADB-51EFB6D515A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4A95BD2A-8830-4757-9F5C-92C260F91D8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one architecture across several jurisdictions</a:t>
            </a:r>
            <a:endParaRPr sz="1900"/>
          </a:p>
        </p:txBody>
      </p:sp>
      <p:sp>
        <p:nvSpPr>
          <p:cNvPr id="4" name="Text 2">
            <a:extLst xmlns:a="http://schemas.openxmlformats.org/drawingml/2006/main">
              <a:ext uri="{FF2B5EF4-FFF2-40B4-BE49-F238E27FC236}">
                <a16:creationId xmlns:a16="http://schemas.microsoft.com/office/drawing/2014/main" id="{563A3A57-E8CE-44D8-96AE-FD1C1A680C26}"/>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0EEA7C04-79B3-42DA-888B-D7034CFB04C1}"/>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Map by control domain, not by regulator</a:t>
            </a:r>
            <a:endParaRPr sz="1200"/>
          </a:p>
        </p:txBody>
      </p:sp>
      <p:sp>
        <p:nvSpPr>
          <p:cNvPr id="6" name="Text 4">
            <a:extLst xmlns:a="http://schemas.openxmlformats.org/drawingml/2006/main">
              <a:ext uri="{FF2B5EF4-FFF2-40B4-BE49-F238E27FC236}">
                <a16:creationId xmlns:a16="http://schemas.microsoft.com/office/drawing/2014/main" id="{66A7B34C-222A-4289-A65C-84E9E3EE924E}"/>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compliance matrix per supervisor produces three designs to reconcile. A matrix per control domain, with the strictest cell naming the baseline, produces one platform and one evidence pack.</a:t>
            </a:r>
            <a:endParaRPr sz="1000"/>
          </a:p>
        </p:txBody>
      </p:sp>
      <p:sp>
        <p:nvSpPr>
          <p:cNvPr id="7" name="Shape 5">
            <a:extLst xmlns:a="http://schemas.openxmlformats.org/drawingml/2006/main">
              <a:ext uri="{FF2B5EF4-FFF2-40B4-BE49-F238E27FC236}">
                <a16:creationId xmlns:a16="http://schemas.microsoft.com/office/drawing/2014/main" id="{4A59466F-454F-4558-BF5A-80F35162FEAD}"/>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2536C5E-82AC-41B9-81F8-A7631FC2EA12}"/>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3577615C-16EF-4584-BD2C-61B68DAF1E3D}"/>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Design to the strictest, relax by exception</a:t>
            </a:r>
            <a:endParaRPr sz="1200"/>
          </a:p>
        </p:txBody>
      </p:sp>
      <p:sp>
        <p:nvSpPr>
          <p:cNvPr id="10" name="Text 8">
            <a:extLst xmlns:a="http://schemas.openxmlformats.org/drawingml/2006/main">
              <a:ext uri="{FF2B5EF4-FFF2-40B4-BE49-F238E27FC236}">
                <a16:creationId xmlns:a16="http://schemas.microsoft.com/office/drawing/2014/main" id="{ED1F2734-0939-4A7D-BC0B-45A525B5104B}"/>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Requirements compound rather than conflict, so the architecture must hold their union. Building to the strictest and documenting where less is needed costs far less than the reverse.</a:t>
            </a:r>
            <a:endParaRPr sz="1000"/>
          </a:p>
        </p:txBody>
      </p:sp>
      <p:sp>
        <p:nvSpPr>
          <p:cNvPr id="11" name="Shape 9">
            <a:extLst xmlns:a="http://schemas.openxmlformats.org/drawingml/2006/main">
              <a:ext uri="{FF2B5EF4-FFF2-40B4-BE49-F238E27FC236}">
                <a16:creationId xmlns:a16="http://schemas.microsoft.com/office/drawing/2014/main" id="{7D9B8955-BFF8-42F0-89E3-1383D22D461B}"/>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99F38062-D741-4ED2-816A-15037C70173E}"/>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35290F8A-695D-46FD-931C-77369EC59036}"/>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Sequence design attention by reversibility</a:t>
            </a:r>
            <a:endParaRPr sz="1200"/>
          </a:p>
        </p:txBody>
      </p:sp>
      <p:sp>
        <p:nvSpPr>
          <p:cNvPr id="14" name="Text 12">
            <a:extLst xmlns:a="http://schemas.openxmlformats.org/drawingml/2006/main">
              <a:ext uri="{FF2B5EF4-FFF2-40B4-BE49-F238E27FC236}">
                <a16:creationId xmlns:a16="http://schemas.microsoft.com/office/drawing/2014/main" id="{17C8CF77-9B7E-431C-89A9-DDFE62D03251}"/>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Residency and physical isolation cannot be revisited after go-live; policy and evidence can. Spend the first design sprint on the two that are permanent, not the two that demonstrate well.</a:t>
            </a:r>
            <a:endParaRPr sz="1000"/>
          </a:p>
        </p:txBody>
      </p:sp>
      <p:sp>
        <p:nvSpPr>
          <p:cNvPr id="15" name="Shape 13">
            <a:extLst xmlns:a="http://schemas.openxmlformats.org/drawingml/2006/main">
              <a:ext uri="{FF2B5EF4-FFF2-40B4-BE49-F238E27FC236}">
                <a16:creationId xmlns:a16="http://schemas.microsoft.com/office/drawing/2014/main" id="{18D26B2C-EE1E-4325-8BBB-58CD36C42510}"/>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47681063-0A9F-461C-8FC1-324073354CEA}"/>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796DF0FA-3989-45CA-89C4-B1BC2D8753EA}"/>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Generate evidence, never assemble it</a:t>
            </a:r>
            <a:endParaRPr sz="1200"/>
          </a:p>
        </p:txBody>
      </p:sp>
      <p:sp>
        <p:nvSpPr>
          <p:cNvPr id="18" name="Text 16">
            <a:extLst xmlns:a="http://schemas.openxmlformats.org/drawingml/2006/main">
              <a:ext uri="{FF2B5EF4-FFF2-40B4-BE49-F238E27FC236}">
                <a16:creationId xmlns:a16="http://schemas.microsoft.com/office/drawing/2014/main" id="{5EF31A35-FAD0-469B-BD89-6E6FFCD6E36F}"/>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Every supervisory question is answered by an artefact. A platform producing lineage, consent state and access records continuously passes repeat inspections; one that compiles them on request does not.</a:t>
            </a:r>
            <a:endParaRPr sz="1000"/>
          </a:p>
        </p:txBody>
      </p:sp>
      <p:sp>
        <p:nvSpPr>
          <p:cNvPr id="19" name="Shape 17">
            <a:extLst xmlns:a="http://schemas.openxmlformats.org/drawingml/2006/main">
              <a:ext uri="{FF2B5EF4-FFF2-40B4-BE49-F238E27FC236}">
                <a16:creationId xmlns:a16="http://schemas.microsoft.com/office/drawing/2014/main" id="{5A78C553-2F3B-4A37-8FC7-2C308CDC2B4D}"/>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71D08A78-811C-4E91-99DA-B166D00B7FEF}"/>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Three supervisors, one architecture, one evidence pack. The alternative is not three architectures — it is one architecture reworked twice, under inspection, after it is already live.</a:t>
            </a:r>
            <a:endParaRPr sz="1200"/>
          </a:p>
        </p:txBody>
      </p:sp>
      <p:sp>
        <p:nvSpPr>
          <p:cNvPr id="21" name="Shape 19">
            <a:extLst xmlns:a="http://schemas.openxmlformats.org/drawingml/2006/main">
              <a:ext uri="{FF2B5EF4-FFF2-40B4-BE49-F238E27FC236}">
                <a16:creationId xmlns:a16="http://schemas.microsoft.com/office/drawing/2014/main" id="{CD0A0450-DCD6-4C39-9A00-F7919F286B5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932AC6EC-2AA6-4DC9-950F-7A1EF51A782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compliance-architecture analysis</a:t>
            </a:r>
            <a:endParaRPr sz="850"/>
          </a:p>
        </p:txBody>
      </p:sp>
      <p:sp>
        <p:nvSpPr>
          <p:cNvPr id="23" name="Text 21">
            <a:extLst xmlns:a="http://schemas.openxmlformats.org/drawingml/2006/main">
              <a:ext uri="{FF2B5EF4-FFF2-40B4-BE49-F238E27FC236}">
                <a16:creationId xmlns:a16="http://schemas.microsoft.com/office/drawing/2014/main" id="{A399F91C-F6BC-4242-8C1E-4B90D8C03EE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297991045"/>
      </p:ext>
    </p:extLst>
  </p:cSld>
</p:sld>
</file>

<file path=ppt/slides/slide23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593BDB3-F682-4E61-8C79-B77C8A00B8D0}"/>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METHOD  ·  22 OF 30</a:t>
            </a:r>
            <a:endParaRPr sz="950"/>
          </a:p>
        </p:txBody>
      </p:sp>
      <p:sp>
        <p:nvSpPr>
          <p:cNvPr id="3" name="Text 1">
            <a:extLst xmlns:a="http://schemas.openxmlformats.org/drawingml/2006/main">
              <a:ext uri="{FF2B5EF4-FFF2-40B4-BE49-F238E27FC236}">
                <a16:creationId xmlns:a16="http://schemas.microsoft.com/office/drawing/2014/main" id="{2B1EC87A-CDE2-4369-865E-0653E48FCBBC}"/>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Maybank</a:t>
            </a:r>
            <a:endParaRPr sz="3800"/>
          </a:p>
        </p:txBody>
      </p:sp>
      <p:sp>
        <p:nvSpPr>
          <p:cNvPr id="4" name="Text 2">
            <a:extLst xmlns:a="http://schemas.openxmlformats.org/drawingml/2006/main">
              <a:ext uri="{FF2B5EF4-FFF2-40B4-BE49-F238E27FC236}">
                <a16:creationId xmlns:a16="http://schemas.microsoft.com/office/drawing/2014/main" id="{CF15A696-2E3D-462B-AAC1-A221518E9ECA}"/>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What a technical panel actually asks — the agenda is the scoring sheet</a:t>
            </a:r>
            <a:endParaRPr sz="1800"/>
          </a:p>
        </p:txBody>
      </p:sp>
      <p:sp>
        <p:nvSpPr>
          <p:cNvPr id="5" name="Text 3">
            <a:extLst xmlns:a="http://schemas.openxmlformats.org/drawingml/2006/main">
              <a:ext uri="{FF2B5EF4-FFF2-40B4-BE49-F238E27FC236}">
                <a16:creationId xmlns:a16="http://schemas.microsoft.com/office/drawing/2014/main" id="{89D54E08-4FE3-4C14-A4C6-166A4BD20EB4}"/>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full-day technical and security evaluation is not a product demonstration. The session list is the scoring sheet, each session tests something different from what its title suggests, and most responses fail in the same five places.</a:t>
            </a:r>
            <a:endParaRPr sz="1150"/>
          </a:p>
        </p:txBody>
      </p:sp>
      <p:sp>
        <p:nvSpPr>
          <p:cNvPr id="6" name="Shape 4">
            <a:extLst xmlns:a="http://schemas.openxmlformats.org/drawingml/2006/main">
              <a:ext uri="{FF2B5EF4-FFF2-40B4-BE49-F238E27FC236}">
                <a16:creationId xmlns:a16="http://schemas.microsoft.com/office/drawing/2014/main" id="{67A65D75-A888-4341-931F-BEE1899E9026}"/>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69C4F9F9-F451-4283-B574-41F3252B6EE9}"/>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8" name="Text 6">
            <a:extLst xmlns:a="http://schemas.openxmlformats.org/drawingml/2006/main">
              <a:ext uri="{FF2B5EF4-FFF2-40B4-BE49-F238E27FC236}">
                <a16:creationId xmlns:a16="http://schemas.microsoft.com/office/drawing/2014/main" id="{17273E7B-45B6-40DD-BDD3-9F1810C34FCC}"/>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evaluation</a:t>
            </a:r>
            <a:endParaRPr sz="900"/>
          </a:p>
          <a:p xmlns:a="http://schemas.openxmlformats.org/drawingml/2006/main">
            <a:pPr marL="0" indent="0">
              <a:lnSpc>
                <a:spcPts val="1100"/>
              </a:lnSpc>
              <a:buNone/>
            </a:pPr>
            <a:r>
              <a:rPr sz="900">
                <a:solidFill>
                  <a:srgbClr val="8FA9C4"/>
                </a:solidFill>
                <a:latin typeface="Arial"/>
                <a:ea typeface="Arial"/>
                <a:cs typeface="Arial"/>
              </a:rPr>
              <a:t>sessions</a:t>
            </a:r>
            <a:endParaRPr sz="900"/>
          </a:p>
        </p:txBody>
      </p:sp>
      <p:sp>
        <p:nvSpPr>
          <p:cNvPr id="9" name="Text 7">
            <a:extLst xmlns:a="http://schemas.openxmlformats.org/drawingml/2006/main">
              <a:ext uri="{FF2B5EF4-FFF2-40B4-BE49-F238E27FC236}">
                <a16:creationId xmlns:a16="http://schemas.microsoft.com/office/drawing/2014/main" id="{E3FCE561-1F28-4387-88A7-6049637F60C4}"/>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0" name="Text 8">
            <a:extLst xmlns:a="http://schemas.openxmlformats.org/drawingml/2006/main">
              <a:ext uri="{FF2B5EF4-FFF2-40B4-BE49-F238E27FC236}">
                <a16:creationId xmlns:a16="http://schemas.microsoft.com/office/drawing/2014/main" id="{6A4C93BC-5F0E-4D89-8F0D-2EE748448682}"/>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full day, two</a:t>
            </a:r>
            <a:endParaRPr sz="900"/>
          </a:p>
          <a:p xmlns:a="http://schemas.openxmlformats.org/drawingml/2006/main">
            <a:pPr marL="0" indent="0">
              <a:lnSpc>
                <a:spcPts val="1100"/>
              </a:lnSpc>
              <a:buNone/>
            </a:pPr>
            <a:r>
              <a:rPr sz="900">
                <a:solidFill>
                  <a:srgbClr val="8FA9C4"/>
                </a:solidFill>
                <a:latin typeface="Arial"/>
                <a:ea typeface="Arial"/>
                <a:cs typeface="Arial"/>
              </a:rPr>
              <a:t>parallel tracks</a:t>
            </a:r>
            <a:endParaRPr sz="900"/>
          </a:p>
        </p:txBody>
      </p:sp>
      <p:sp>
        <p:nvSpPr>
          <p:cNvPr id="11" name="Text 9">
            <a:extLst xmlns:a="http://schemas.openxmlformats.org/drawingml/2006/main">
              <a:ext uri="{FF2B5EF4-FFF2-40B4-BE49-F238E27FC236}">
                <a16:creationId xmlns:a16="http://schemas.microsoft.com/office/drawing/2014/main" id="{AF51F612-6E71-4908-8DA5-06B0FBF3190C}"/>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12" name="Text 10">
            <a:extLst xmlns:a="http://schemas.openxmlformats.org/drawingml/2006/main">
              <a:ext uri="{FF2B5EF4-FFF2-40B4-BE49-F238E27FC236}">
                <a16:creationId xmlns:a16="http://schemas.microsoft.com/office/drawing/2014/main" id="{8E19F4B8-8099-4E7D-9672-7948030D4E0B}"/>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questions that</a:t>
            </a:r>
            <a:endParaRPr sz="900"/>
          </a:p>
          <a:p xmlns:a="http://schemas.openxmlformats.org/drawingml/2006/main">
            <a:pPr marL="0" indent="0">
              <a:lnSpc>
                <a:spcPts val="1100"/>
              </a:lnSpc>
              <a:buNone/>
            </a:pPr>
            <a:r>
              <a:rPr sz="900">
                <a:solidFill>
                  <a:srgbClr val="8FA9C4"/>
                </a:solidFill>
                <a:latin typeface="Arial"/>
                <a:ea typeface="Arial"/>
                <a:cs typeface="Arial"/>
              </a:rPr>
              <a:t>decide the day</a:t>
            </a:r>
            <a:endParaRPr sz="900"/>
          </a:p>
        </p:txBody>
      </p:sp>
      <p:sp>
        <p:nvSpPr>
          <p:cNvPr id="13" name="Text 11">
            <a:extLst xmlns:a="http://schemas.openxmlformats.org/drawingml/2006/main">
              <a:ext uri="{FF2B5EF4-FFF2-40B4-BE49-F238E27FC236}">
                <a16:creationId xmlns:a16="http://schemas.microsoft.com/office/drawing/2014/main" id="{ECB1ABF9-675B-42ED-8006-C2154A0E37D7}"/>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14" name="Text 12">
            <a:extLst xmlns:a="http://schemas.openxmlformats.org/drawingml/2006/main">
              <a:ext uri="{FF2B5EF4-FFF2-40B4-BE49-F238E27FC236}">
                <a16:creationId xmlns:a16="http://schemas.microsoft.com/office/drawing/2014/main" id="{82FBBCD2-E5D4-4F7D-B044-BACA7DC095DD}"/>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recurring failure</a:t>
            </a:r>
            <a:endParaRPr sz="900"/>
          </a:p>
          <a:p xmlns:a="http://schemas.openxmlformats.org/drawingml/2006/main">
            <a:pPr marL="0" indent="0">
              <a:lnSpc>
                <a:spcPts val="1100"/>
              </a:lnSpc>
              <a:buNone/>
            </a:pPr>
            <a:r>
              <a:rPr sz="900">
                <a:solidFill>
                  <a:srgbClr val="8FA9C4"/>
                </a:solidFill>
                <a:latin typeface="Arial"/>
                <a:ea typeface="Arial"/>
                <a:cs typeface="Arial"/>
              </a:rPr>
              <a:t>modes</a:t>
            </a:r>
            <a:endParaRPr sz="900"/>
          </a:p>
        </p:txBody>
      </p:sp>
      <p:sp>
        <p:nvSpPr>
          <p:cNvPr id="15" name="Text 13">
            <a:extLst xmlns:a="http://schemas.openxmlformats.org/drawingml/2006/main">
              <a:ext uri="{FF2B5EF4-FFF2-40B4-BE49-F238E27FC236}">
                <a16:creationId xmlns:a16="http://schemas.microsoft.com/office/drawing/2014/main" id="{3F096B84-D125-48FB-8BDA-B7B674292074}"/>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6" name="Text 14">
            <a:extLst xmlns:a="http://schemas.openxmlformats.org/drawingml/2006/main">
              <a:ext uri="{FF2B5EF4-FFF2-40B4-BE49-F238E27FC236}">
                <a16:creationId xmlns:a16="http://schemas.microsoft.com/office/drawing/2014/main" id="{220CE6B2-F2AA-41D4-889F-71A175FF7BCF}"/>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marks for</a:t>
            </a:r>
            <a:endParaRPr sz="900"/>
          </a:p>
          <a:p xmlns:a="http://schemas.openxmlformats.org/drawingml/2006/main">
            <a:pPr marL="0" indent="0">
              <a:lnSpc>
                <a:spcPts val="1100"/>
              </a:lnSpc>
              <a:buNone/>
            </a:pPr>
            <a:r>
              <a:rPr sz="900">
                <a:solidFill>
                  <a:srgbClr val="8FA9C4"/>
                </a:solidFill>
                <a:latin typeface="Arial"/>
                <a:ea typeface="Arial"/>
                <a:cs typeface="Arial"/>
              </a:rPr>
              <a:t>assertion</a:t>
            </a:r>
            <a:endParaRPr sz="900"/>
          </a:p>
        </p:txBody>
      </p:sp>
      <p:sp>
        <p:nvSpPr>
          <p:cNvPr id="17" name="Text 15">
            <a:extLst xmlns:a="http://schemas.openxmlformats.org/drawingml/2006/main">
              <a:ext uri="{FF2B5EF4-FFF2-40B4-BE49-F238E27FC236}">
                <a16:creationId xmlns:a16="http://schemas.microsoft.com/office/drawing/2014/main" id="{8B9EF055-C20D-44A2-A369-9CB99F05B607}"/>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8" name="Text 16">
            <a:extLst xmlns:a="http://schemas.openxmlformats.org/drawingml/2006/main">
              <a:ext uri="{FF2B5EF4-FFF2-40B4-BE49-F238E27FC236}">
                <a16:creationId xmlns:a16="http://schemas.microsoft.com/office/drawing/2014/main" id="{70567BA4-8BF3-4A8A-AC77-D3382DB6314B}"/>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trap almost</a:t>
            </a:r>
            <a:endParaRPr sz="900"/>
          </a:p>
          <a:p xmlns:a="http://schemas.openxmlformats.org/drawingml/2006/main">
            <a:pPr marL="0" indent="0">
              <a:lnSpc>
                <a:spcPts val="1100"/>
              </a:lnSpc>
              <a:buNone/>
            </a:pPr>
            <a:r>
              <a:rPr sz="900">
                <a:solidFill>
                  <a:srgbClr val="8FA9C4"/>
                </a:solidFill>
                <a:latin typeface="Arial"/>
                <a:ea typeface="Arial"/>
                <a:cs typeface="Arial"/>
              </a:rPr>
              <a:t>everyone falls into</a:t>
            </a:r>
            <a:endParaRPr sz="900"/>
          </a:p>
        </p:txBody>
      </p:sp>
      <p:sp>
        <p:nvSpPr>
          <p:cNvPr id="19" name="Shape 17">
            <a:extLst xmlns:a="http://schemas.openxmlformats.org/drawingml/2006/main">
              <a:ext uri="{FF2B5EF4-FFF2-40B4-BE49-F238E27FC236}">
                <a16:creationId xmlns:a16="http://schemas.microsoft.com/office/drawing/2014/main" id="{29F8D7EA-0899-47F3-BC53-3A28DA6D8DE3}"/>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431AA623-315E-47EB-8C80-B46C3EA9F641}"/>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EVALUATION FORMAT  ·  AS SET BY THE BANK</a:t>
            </a:r>
            <a:endParaRPr sz="800"/>
          </a:p>
        </p:txBody>
      </p:sp>
      <p:sp>
        <p:nvSpPr>
          <p:cNvPr id="21" name="Text 19">
            <a:extLst xmlns:a="http://schemas.openxmlformats.org/drawingml/2006/main">
              <a:ext uri="{FF2B5EF4-FFF2-40B4-BE49-F238E27FC236}">
                <a16:creationId xmlns:a16="http://schemas.microsoft.com/office/drawing/2014/main" id="{A7A8AFA7-CDB5-4653-BFA6-DFD5425147F9}"/>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Solution architecture    ·    scalability    ·    integration    ·    data migration    ·    IT security    ·    customisation and extensibility</a:t>
            </a:r>
            <a:endParaRPr sz="1050"/>
          </a:p>
        </p:txBody>
      </p:sp>
      <p:sp>
        <p:nvSpPr>
          <p:cNvPr id="22" name="Text 20">
            <a:extLst xmlns:a="http://schemas.openxmlformats.org/drawingml/2006/main">
              <a:ext uri="{FF2B5EF4-FFF2-40B4-BE49-F238E27FC236}">
                <a16:creationId xmlns:a16="http://schemas.microsoft.com/office/drawing/2014/main" id="{63125557-41F2-4F52-A95C-7F16C42752B2}"/>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Analysis authored to prepare and structure the technical evaluation response  ·  2026</a:t>
            </a:r>
            <a:endParaRPr sz="1200"/>
          </a:p>
        </p:txBody>
      </p:sp>
      <p:sp>
        <p:nvSpPr>
          <p:cNvPr id="23" name="Text 21">
            <a:extLst xmlns:a="http://schemas.openxmlformats.org/drawingml/2006/main">
              <a:ext uri="{FF2B5EF4-FFF2-40B4-BE49-F238E27FC236}">
                <a16:creationId xmlns:a16="http://schemas.microsoft.com/office/drawing/2014/main" id="{05FBCEC2-2445-49F8-961B-91A8CE15753E}"/>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Session structure is the client's; the analysis, failure modes and preparation method are mine.</a:t>
            </a:r>
            <a:endParaRPr sz="850"/>
          </a:p>
        </p:txBody>
      </p:sp>
    </p:spTree>
    <p:extLst>
      <p:ext uri="{BB962C8B-B14F-4D97-AF65-F5344CB8AC3E}">
        <p14:creationId xmlns:p14="http://schemas.microsoft.com/office/powerpoint/2010/main" val="1392956630"/>
      </p:ext>
    </p:extLst>
  </p:cSld>
</p:sld>
</file>

<file path=ppt/slides/slide23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12C5A2B-818E-4C50-B911-EABE7B142F8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7992F395-7BFD-4FBC-9B6F-B5BAD7A2B73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Each session tests something other than its title — and panels award marks for</a:t>
            </a:r>
            <a:endParaRPr sz="1900"/>
          </a:p>
          <a:p xmlns:a="http://schemas.openxmlformats.org/drawingml/2006/main">
            <a:pPr marL="0" indent="0">
              <a:lnSpc>
                <a:spcPts val="2400"/>
              </a:lnSpc>
              <a:buNone/>
            </a:pPr>
            <a:r>
              <a:rPr sz="1900" b="1">
                <a:solidFill>
                  <a:srgbClr val="102A43"/>
                </a:solidFill>
                <a:latin typeface="Arial"/>
                <a:ea typeface="Arial"/>
                <a:cs typeface="Arial"/>
              </a:rPr>
              <a:t>evidence, never for assertion</a:t>
            </a:r>
            <a:endParaRPr sz="1900"/>
          </a:p>
        </p:txBody>
      </p:sp>
      <p:sp>
        <p:nvSpPr>
          <p:cNvPr id="4" name="Shape 2">
            <a:extLst xmlns:a="http://schemas.openxmlformats.org/drawingml/2006/main">
              <a:ext uri="{FF2B5EF4-FFF2-40B4-BE49-F238E27FC236}">
                <a16:creationId xmlns:a16="http://schemas.microsoft.com/office/drawing/2014/main" id="{9DFE47D0-BF10-466F-8EBE-AAC8C205F36A}"/>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742346F7-81AF-409E-A81D-EFEB8D7FFEB3}"/>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EAC78C88-99E1-4501-915B-AA0E95117D27}"/>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full-day technical and IT-security evaluation with six sessions: solution architecture, scalability, integration and data exchange, data migration, security and compliance, and customisation and extensibility.</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Attended by the bank's architects, security function and platform engineers, running two parallel tracks with a vendor helpdesk alongside.</a:t>
            </a:r>
            <a:endParaRPr sz="980"/>
          </a:p>
        </p:txBody>
      </p:sp>
      <p:sp>
        <p:nvSpPr>
          <p:cNvPr id="7" name="Shape 5">
            <a:extLst xmlns:a="http://schemas.openxmlformats.org/drawingml/2006/main">
              <a:ext uri="{FF2B5EF4-FFF2-40B4-BE49-F238E27FC236}">
                <a16:creationId xmlns:a16="http://schemas.microsoft.com/office/drawing/2014/main" id="{22698279-5304-435A-B48A-1F1F477F56F6}"/>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E5139D29-8902-4853-87E9-D5905BF90891}"/>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876575FD-8E25-482E-A366-14B6263E7627}"/>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Most suppliers prepare six presentations matching six titles. That is the wrong preparation.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architecture session tests whether the architecture is real or a diagram. The scalability session tests whether anyone has measured anything. The migration session tests honesty. And a single stale version number in an appendix can undo a strong morning, because it tells the panel how current the platform actually is.</a:t>
            </a:r>
            <a:endParaRPr sz="980"/>
          </a:p>
        </p:txBody>
      </p:sp>
      <p:sp>
        <p:nvSpPr>
          <p:cNvPr id="10" name="Shape 8">
            <a:extLst xmlns:a="http://schemas.openxmlformats.org/drawingml/2006/main">
              <a:ext uri="{FF2B5EF4-FFF2-40B4-BE49-F238E27FC236}">
                <a16:creationId xmlns:a16="http://schemas.microsoft.com/office/drawing/2014/main" id="{36CED8B6-0BBD-4CEB-8DA1-328B73738493}"/>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077F169B-0690-4967-9274-7A0A8B2A7E52}"/>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method</a:t>
            </a:r>
            <a:endParaRPr sz="1250"/>
          </a:p>
        </p:txBody>
      </p:sp>
      <p:sp>
        <p:nvSpPr>
          <p:cNvPr id="12" name="Text 10">
            <a:extLst xmlns:a="http://schemas.openxmlformats.org/drawingml/2006/main">
              <a:ext uri="{FF2B5EF4-FFF2-40B4-BE49-F238E27FC236}">
                <a16:creationId xmlns:a16="http://schemas.microsoft.com/office/drawing/2014/main" id="{7CE4C274-BDFB-4C76-A063-18F186C25164}"/>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Prepare against what each session tests rather than what it is called. Bring evidence rather than assertions — measured numbers, real diagrams, actual failure stories.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And audit every artefact for currency before the day, because the panel reads the appendices even when the room does not.</a:t>
            </a:r>
            <a:endParaRPr sz="980"/>
          </a:p>
        </p:txBody>
      </p:sp>
      <p:sp>
        <p:nvSpPr>
          <p:cNvPr id="13" name="Text 11">
            <a:extLst xmlns:a="http://schemas.openxmlformats.org/drawingml/2006/main">
              <a:ext uri="{FF2B5EF4-FFF2-40B4-BE49-F238E27FC236}">
                <a16:creationId xmlns:a16="http://schemas.microsoft.com/office/drawing/2014/main" id="{D2FEB96F-7227-4B79-AB97-BF55AF5C3CE3}"/>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00C7F319-9859-4A4E-B204-E82A9A3B6040}"/>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309DDD51-7742-456C-99E2-5AFE2460FA0B}"/>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16" name="Text 14">
            <a:extLst xmlns:a="http://schemas.openxmlformats.org/drawingml/2006/main">
              <a:ext uri="{FF2B5EF4-FFF2-40B4-BE49-F238E27FC236}">
                <a16:creationId xmlns:a16="http://schemas.microsoft.com/office/drawing/2014/main" id="{F3715E89-7B0F-467E-96EB-0607757702C8}"/>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sessions to prepare</a:t>
            </a:r>
            <a:endParaRPr sz="860"/>
          </a:p>
        </p:txBody>
      </p:sp>
      <p:sp>
        <p:nvSpPr>
          <p:cNvPr id="17" name="Shape 15">
            <a:extLst xmlns:a="http://schemas.openxmlformats.org/drawingml/2006/main">
              <a:ext uri="{FF2B5EF4-FFF2-40B4-BE49-F238E27FC236}">
                <a16:creationId xmlns:a16="http://schemas.microsoft.com/office/drawing/2014/main" id="{90CD261A-4201-4AA9-AD62-3EBD0ADC2F4B}"/>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D80CC61E-540D-4FC3-A4A7-93D85E6200B1}"/>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19" name="Text 17">
            <a:extLst xmlns:a="http://schemas.openxmlformats.org/drawingml/2006/main">
              <a:ext uri="{FF2B5EF4-FFF2-40B4-BE49-F238E27FC236}">
                <a16:creationId xmlns:a16="http://schemas.microsoft.com/office/drawing/2014/main" id="{07AD5904-D8D6-4484-BEAA-C623D6FAC921}"/>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different things tested</a:t>
            </a:r>
            <a:endParaRPr sz="860"/>
          </a:p>
        </p:txBody>
      </p:sp>
      <p:sp>
        <p:nvSpPr>
          <p:cNvPr id="20" name="Shape 18">
            <a:extLst xmlns:a="http://schemas.openxmlformats.org/drawingml/2006/main">
              <a:ext uri="{FF2B5EF4-FFF2-40B4-BE49-F238E27FC236}">
                <a16:creationId xmlns:a16="http://schemas.microsoft.com/office/drawing/2014/main" id="{0C5CFAB7-13D3-41B6-BE7D-7E9AA706649F}"/>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9974A462-BBBF-4F38-989E-096937407DAA}"/>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2" name="Text 20">
            <a:extLst xmlns:a="http://schemas.openxmlformats.org/drawingml/2006/main">
              <a:ext uri="{FF2B5EF4-FFF2-40B4-BE49-F238E27FC236}">
                <a16:creationId xmlns:a16="http://schemas.microsoft.com/office/drawing/2014/main" id="{C1716CB9-D339-4A8D-8D4D-027A47347960}"/>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questions that decide it</a:t>
            </a:r>
            <a:endParaRPr sz="860"/>
          </a:p>
        </p:txBody>
      </p:sp>
      <p:sp>
        <p:nvSpPr>
          <p:cNvPr id="23" name="Shape 21">
            <a:extLst xmlns:a="http://schemas.openxmlformats.org/drawingml/2006/main">
              <a:ext uri="{FF2B5EF4-FFF2-40B4-BE49-F238E27FC236}">
                <a16:creationId xmlns:a16="http://schemas.microsoft.com/office/drawing/2014/main" id="{9EBEBC6C-36BA-41BF-A4B0-AAA848789A15}"/>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30F1ED04-B1A9-4A83-817E-F699DD5A7FBC}"/>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5" name="Text 23">
            <a:extLst xmlns:a="http://schemas.openxmlformats.org/drawingml/2006/main">
              <a:ext uri="{FF2B5EF4-FFF2-40B4-BE49-F238E27FC236}">
                <a16:creationId xmlns:a16="http://schemas.microsoft.com/office/drawing/2014/main" id="{052637FF-75C4-4927-AC7A-0D49C4C741F7}"/>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recurring failure modes</a:t>
            </a:r>
            <a:endParaRPr sz="860"/>
          </a:p>
        </p:txBody>
      </p:sp>
      <p:sp>
        <p:nvSpPr>
          <p:cNvPr id="26" name="Shape 24">
            <a:extLst xmlns:a="http://schemas.openxmlformats.org/drawingml/2006/main">
              <a:ext uri="{FF2B5EF4-FFF2-40B4-BE49-F238E27FC236}">
                <a16:creationId xmlns:a16="http://schemas.microsoft.com/office/drawing/2014/main" id="{F0F57927-0AC3-456D-AACD-D074881D3BAF}"/>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93CF370C-8FC0-4E28-BD43-604F73796BD0}"/>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8" name="Text 26">
            <a:extLst xmlns:a="http://schemas.openxmlformats.org/drawingml/2006/main">
              <a:ext uri="{FF2B5EF4-FFF2-40B4-BE49-F238E27FC236}">
                <a16:creationId xmlns:a16="http://schemas.microsoft.com/office/drawing/2014/main" id="{1402D231-DFC2-4A06-A12A-6D8D3E472FF7}"/>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currency audit, always</a:t>
            </a:r>
            <a:endParaRPr sz="860"/>
          </a:p>
        </p:txBody>
      </p:sp>
      <p:sp>
        <p:nvSpPr>
          <p:cNvPr id="29" name="Shape 27">
            <a:extLst xmlns:a="http://schemas.openxmlformats.org/drawingml/2006/main">
              <a:ext uri="{FF2B5EF4-FFF2-40B4-BE49-F238E27FC236}">
                <a16:creationId xmlns:a16="http://schemas.microsoft.com/office/drawing/2014/main" id="{65AA10CB-9935-4425-A2CE-8BA5B5276CFC}"/>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80BE5ECB-CBB8-4C52-9412-AF141B2CE762}"/>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31" name="Text 29">
            <a:extLst xmlns:a="http://schemas.openxmlformats.org/drawingml/2006/main">
              <a:ext uri="{FF2B5EF4-FFF2-40B4-BE49-F238E27FC236}">
                <a16:creationId xmlns:a16="http://schemas.microsoft.com/office/drawing/2014/main" id="{5E496D93-3356-49BA-A1B5-BBBEB039A37E}"/>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marks for assertion</a:t>
            </a:r>
            <a:endParaRPr sz="860"/>
          </a:p>
        </p:txBody>
      </p:sp>
      <p:sp>
        <p:nvSpPr>
          <p:cNvPr id="32" name="Text 30">
            <a:extLst xmlns:a="http://schemas.openxmlformats.org/drawingml/2006/main">
              <a:ext uri="{FF2B5EF4-FFF2-40B4-BE49-F238E27FC236}">
                <a16:creationId xmlns:a16="http://schemas.microsoft.com/office/drawing/2014/main" id="{802741B3-23A7-4A4E-B90F-B94E2903386A}"/>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judgement this argues:  a technical panel is not deciding whether the platform can do the job — the shortlist already established that. It is deciding whether the people in the room have run this before, and every question is designed to find out.</a:t>
            </a:r>
            <a:endParaRPr sz="1000"/>
          </a:p>
        </p:txBody>
      </p:sp>
      <p:sp>
        <p:nvSpPr>
          <p:cNvPr id="33" name="Shape 31">
            <a:extLst xmlns:a="http://schemas.openxmlformats.org/drawingml/2006/main">
              <a:ext uri="{FF2B5EF4-FFF2-40B4-BE49-F238E27FC236}">
                <a16:creationId xmlns:a16="http://schemas.microsoft.com/office/drawing/2014/main" id="{98056337-210D-4185-A258-379669D4E83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4DE31BF0-0EC6-4332-B484-4C3AE57D997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technical evaluation days</a:t>
            </a:r>
            <a:endParaRPr sz="850"/>
          </a:p>
        </p:txBody>
      </p:sp>
      <p:sp>
        <p:nvSpPr>
          <p:cNvPr id="35" name="Text 33">
            <a:extLst xmlns:a="http://schemas.openxmlformats.org/drawingml/2006/main">
              <a:ext uri="{FF2B5EF4-FFF2-40B4-BE49-F238E27FC236}">
                <a16:creationId xmlns:a16="http://schemas.microsoft.com/office/drawing/2014/main" id="{789970D8-B5CB-4799-B3F1-4D19B50D06D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757723884"/>
      </p:ext>
    </p:extLst>
  </p:cSld>
</p:sld>
</file>

<file path=ppt/slides/slide23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4986D69-DEEE-41B0-B5E7-71CC868AC8C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18F81AC6-81FB-4928-8692-CFF9DE8D79E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session structure is the client's; the analysis of what each session tests and the</a:t>
            </a:r>
            <a:endParaRPr sz="1900"/>
          </a:p>
          <a:p xmlns:a="http://schemas.openxmlformats.org/drawingml/2006/main">
            <a:pPr marL="0" indent="0">
              <a:lnSpc>
                <a:spcPts val="2400"/>
              </a:lnSpc>
              <a:buNone/>
            </a:pPr>
            <a:r>
              <a:rPr sz="1900" b="1">
                <a:solidFill>
                  <a:srgbClr val="102A43"/>
                </a:solidFill>
                <a:latin typeface="Arial"/>
                <a:ea typeface="Arial"/>
                <a:cs typeface="Arial"/>
              </a:rPr>
              <a:t>preparation method are mine</a:t>
            </a:r>
            <a:endParaRPr sz="1900"/>
          </a:p>
        </p:txBody>
      </p:sp>
      <p:sp>
        <p:nvSpPr>
          <p:cNvPr id="4" name="Shape 2">
            <a:extLst xmlns:a="http://schemas.openxmlformats.org/drawingml/2006/main">
              <a:ext uri="{FF2B5EF4-FFF2-40B4-BE49-F238E27FC236}">
                <a16:creationId xmlns:a16="http://schemas.microsoft.com/office/drawing/2014/main" id="{AAADAEB3-E3F3-4576-8A14-49543C02B8EC}"/>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BC448A5B-BBBD-46F6-8A25-6BFD016DF64C}"/>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BDF5823C-6544-460F-9A72-2AB0D4E7603B}"/>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EVALUATION FORMAT</a:t>
            </a:r>
            <a:endParaRPr sz="740"/>
          </a:p>
        </p:txBody>
      </p:sp>
      <p:sp>
        <p:nvSpPr>
          <p:cNvPr id="7" name="Text 5">
            <a:extLst xmlns:a="http://schemas.openxmlformats.org/drawingml/2006/main">
              <a:ext uri="{FF2B5EF4-FFF2-40B4-BE49-F238E27FC236}">
                <a16:creationId xmlns:a16="http://schemas.microsoft.com/office/drawing/2014/main" id="{C4D53EE7-D486-41A0-A6C9-8797B39A497A}"/>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Client context</a:t>
            </a:r>
            <a:endParaRPr sz="1200"/>
          </a:p>
        </p:txBody>
      </p:sp>
      <p:sp>
        <p:nvSpPr>
          <p:cNvPr id="8" name="Text 6">
            <a:extLst xmlns:a="http://schemas.openxmlformats.org/drawingml/2006/main">
              <a:ext uri="{FF2B5EF4-FFF2-40B4-BE49-F238E27FC236}">
                <a16:creationId xmlns:a16="http://schemas.microsoft.com/office/drawing/2014/main" id="{4EEEB91A-0DBE-4BF3-9579-45A2D5F227B6}"/>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agenda, session list, timing and attendee composition as set by the bank for the evaluation day.</a:t>
            </a:r>
            <a:endParaRPr sz="920"/>
          </a:p>
        </p:txBody>
      </p:sp>
      <p:sp>
        <p:nvSpPr>
          <p:cNvPr id="9" name="Shape 7">
            <a:extLst xmlns:a="http://schemas.openxmlformats.org/drawingml/2006/main">
              <a:ext uri="{FF2B5EF4-FFF2-40B4-BE49-F238E27FC236}">
                <a16:creationId xmlns:a16="http://schemas.microsoft.com/office/drawing/2014/main" id="{96FCD48D-0BAE-4EE2-A5C4-1F0066DBE63F}"/>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FEE0C555-09CE-47D6-9141-3D33FA40450B}"/>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Six sessions across a full day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Two parallel tracks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Vendor helpdesk alongside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Architecture and security focus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Clarification windows scheduled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Attendee mix by function</a:t>
            </a:r>
            <a:endParaRPr sz="930"/>
          </a:p>
        </p:txBody>
      </p:sp>
      <p:sp>
        <p:nvSpPr>
          <p:cNvPr id="11" name="Shape 9">
            <a:extLst xmlns:a="http://schemas.openxmlformats.org/drawingml/2006/main">
              <a:ext uri="{FF2B5EF4-FFF2-40B4-BE49-F238E27FC236}">
                <a16:creationId xmlns:a16="http://schemas.microsoft.com/office/drawing/2014/main" id="{B6D8E9EF-CFB3-4A41-9508-2CE7063135CC}"/>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E18871A5-9BA0-4FB5-9EAE-3B6E4048C315}"/>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848486AD-9D62-46F3-BF9F-D0A90715D0BA}"/>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ANALYSIS &amp; METHOD</a:t>
            </a:r>
            <a:endParaRPr sz="740"/>
          </a:p>
        </p:txBody>
      </p:sp>
      <p:sp>
        <p:nvSpPr>
          <p:cNvPr id="14" name="Text 12">
            <a:extLst xmlns:a="http://schemas.openxmlformats.org/drawingml/2006/main">
              <a:ext uri="{FF2B5EF4-FFF2-40B4-BE49-F238E27FC236}">
                <a16:creationId xmlns:a16="http://schemas.microsoft.com/office/drawing/2014/main" id="{AABEFB4C-AA47-4947-A122-891292124900}"/>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9EA5C3B5-F716-4ED2-BD5D-344FE7DBFD40}"/>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What each session actually tests, the five deciding questions, the failure modes and the preparation discipline.</a:t>
            </a:r>
            <a:endParaRPr sz="920"/>
          </a:p>
        </p:txBody>
      </p:sp>
      <p:sp>
        <p:nvSpPr>
          <p:cNvPr id="16" name="Shape 14">
            <a:extLst xmlns:a="http://schemas.openxmlformats.org/drawingml/2006/main">
              <a:ext uri="{FF2B5EF4-FFF2-40B4-BE49-F238E27FC236}">
                <a16:creationId xmlns:a16="http://schemas.microsoft.com/office/drawing/2014/main" id="{5D1964FB-1B76-4ED6-AF4D-329160FC0B73}"/>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E6114596-6C97-4CF2-A662-7E3DA110464D}"/>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Session-to-test mapping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deciding questions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recurring failure modes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Evidence-over-assertion standard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Currency audit method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Room and role allocation</a:t>
            </a:r>
            <a:endParaRPr sz="930"/>
          </a:p>
        </p:txBody>
      </p:sp>
      <p:sp>
        <p:nvSpPr>
          <p:cNvPr id="18" name="Shape 16">
            <a:extLst xmlns:a="http://schemas.openxmlformats.org/drawingml/2006/main">
              <a:ext uri="{FF2B5EF4-FFF2-40B4-BE49-F238E27FC236}">
                <a16:creationId xmlns:a16="http://schemas.microsoft.com/office/drawing/2014/main" id="{27D354F0-542A-4A80-8AF5-615FE4AA4DCE}"/>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E97AC8A2-6E83-452B-B352-3411960D4D06}"/>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91F8B912-D330-4574-AC74-0D887B06FE27}"/>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PATTERN</a:t>
            </a:r>
            <a:endParaRPr sz="740"/>
          </a:p>
        </p:txBody>
      </p:sp>
      <p:sp>
        <p:nvSpPr>
          <p:cNvPr id="21" name="Text 19">
            <a:extLst xmlns:a="http://schemas.openxmlformats.org/drawingml/2006/main">
              <a:ext uri="{FF2B5EF4-FFF2-40B4-BE49-F238E27FC236}">
                <a16:creationId xmlns:a16="http://schemas.microsoft.com/office/drawing/2014/main" id="{7AF03F9D-3A28-462D-8431-A381FB06C2A5}"/>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Observed</a:t>
            </a:r>
            <a:endParaRPr sz="1200"/>
          </a:p>
        </p:txBody>
      </p:sp>
      <p:sp>
        <p:nvSpPr>
          <p:cNvPr id="22" name="Text 20">
            <a:extLst xmlns:a="http://schemas.openxmlformats.org/drawingml/2006/main">
              <a:ext uri="{FF2B5EF4-FFF2-40B4-BE49-F238E27FC236}">
                <a16:creationId xmlns:a16="http://schemas.microsoft.com/office/drawing/2014/main" id="{F4EBC2AC-3E58-4233-888C-206927FCB2C3}"/>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Failure modes drawn from technical evaluations across multiple enterprise pursuits, not from a single event.</a:t>
            </a:r>
            <a:endParaRPr sz="920"/>
          </a:p>
        </p:txBody>
      </p:sp>
      <p:sp>
        <p:nvSpPr>
          <p:cNvPr id="23" name="Shape 21">
            <a:extLst xmlns:a="http://schemas.openxmlformats.org/drawingml/2006/main">
              <a:ext uri="{FF2B5EF4-FFF2-40B4-BE49-F238E27FC236}">
                <a16:creationId xmlns:a16="http://schemas.microsoft.com/office/drawing/2014/main" id="{7B6EC2E0-A83C-4931-B55D-308245CC90A7}"/>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A165AE94-57D4-403A-B423-F9AA2691C73C}"/>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Recurring across pursuits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attributed to any one panel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 client-specific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Generalised deliberately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scoring reconstruction</a:t>
            </a:r>
            <a:endParaRPr sz="930"/>
          </a:p>
        </p:txBody>
      </p:sp>
      <p:sp>
        <p:nvSpPr>
          <p:cNvPr id="25" name="Shape 23">
            <a:extLst xmlns:a="http://schemas.openxmlformats.org/drawingml/2006/main">
              <a:ext uri="{FF2B5EF4-FFF2-40B4-BE49-F238E27FC236}">
                <a16:creationId xmlns:a16="http://schemas.microsoft.com/office/drawing/2014/main" id="{465D7A99-C2C6-486D-99C3-1C60779C72C6}"/>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4968C5F-AF6D-478B-B9A8-63CEBD291FED}"/>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63C4AD80-36D3-49C9-9CF6-6F23B0F7DEA8}"/>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CAC424A2-AE7B-4C7A-89BF-321EE9065A37}"/>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AA99F880-FE2B-44E3-82DC-B39BC8404A08}"/>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This is a preparation method, not a record of any evaluation or its result.</a:t>
            </a:r>
            <a:endParaRPr sz="920"/>
          </a:p>
        </p:txBody>
      </p:sp>
      <p:sp>
        <p:nvSpPr>
          <p:cNvPr id="30" name="Shape 28">
            <a:extLst xmlns:a="http://schemas.openxmlformats.org/drawingml/2006/main">
              <a:ext uri="{FF2B5EF4-FFF2-40B4-BE49-F238E27FC236}">
                <a16:creationId xmlns:a16="http://schemas.microsoft.com/office/drawing/2014/main" id="{C6F79AB7-AEED-446B-961F-C39858263C74}"/>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DB6C725B-6148-4476-B028-65A017F80D09}"/>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panel's actual questions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evaluation score or outcome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Whether the pursuit was won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client material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competitor's response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product's certified capability</a:t>
            </a:r>
            <a:endParaRPr sz="930"/>
          </a:p>
        </p:txBody>
      </p:sp>
      <p:sp>
        <p:nvSpPr>
          <p:cNvPr id="32" name="Shape 30">
            <a:extLst xmlns:a="http://schemas.openxmlformats.org/drawingml/2006/main">
              <a:ext uri="{FF2B5EF4-FFF2-40B4-BE49-F238E27FC236}">
                <a16:creationId xmlns:a16="http://schemas.microsoft.com/office/drawing/2014/main" id="{948A0303-184B-45E5-B388-FB81FC6576D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7CD0064E-A258-4CF9-B205-9AD43B7591F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Evaluation agenda (context) · author's analysis and preparation method</a:t>
            </a:r>
            <a:endParaRPr sz="850"/>
          </a:p>
        </p:txBody>
      </p:sp>
      <p:sp>
        <p:nvSpPr>
          <p:cNvPr id="34" name="Text 32">
            <a:extLst xmlns:a="http://schemas.openxmlformats.org/drawingml/2006/main">
              <a:ext uri="{FF2B5EF4-FFF2-40B4-BE49-F238E27FC236}">
                <a16:creationId xmlns:a16="http://schemas.microsoft.com/office/drawing/2014/main" id="{3A266817-0B47-4503-8528-6A629AA09BF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629192116"/>
      </p:ext>
    </p:extLst>
  </p:cSld>
</p:sld>
</file>

<file path=ppt/slides/slide24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AE328C-DF2D-4332-8021-B39ACBBAE2A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REFRAME</a:t>
            </a:r>
            <a:endParaRPr sz="950"/>
          </a:p>
        </p:txBody>
      </p:sp>
      <p:sp>
        <p:nvSpPr>
          <p:cNvPr id="3" name="Text 1">
            <a:extLst xmlns:a="http://schemas.openxmlformats.org/drawingml/2006/main">
              <a:ext uri="{FF2B5EF4-FFF2-40B4-BE49-F238E27FC236}">
                <a16:creationId xmlns:a16="http://schemas.microsoft.com/office/drawing/2014/main" id="{3B34F12F-F6CF-407E-B465-AADCCE3128C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sessions, six different tests — and in every case the title describes the topic</a:t>
            </a:r>
            <a:endParaRPr sz="1900"/>
          </a:p>
          <a:p xmlns:a="http://schemas.openxmlformats.org/drawingml/2006/main">
            <a:pPr marL="0" indent="0">
              <a:lnSpc>
                <a:spcPts val="2400"/>
              </a:lnSpc>
              <a:buNone/>
            </a:pPr>
            <a:r>
              <a:rPr sz="1900" b="1">
                <a:solidFill>
                  <a:srgbClr val="102A43"/>
                </a:solidFill>
                <a:latin typeface="Arial"/>
                <a:ea typeface="Arial"/>
                <a:cs typeface="Arial"/>
              </a:rPr>
              <a:t>while the session measures something else entirely</a:t>
            </a:r>
            <a:endParaRPr sz="1900"/>
          </a:p>
        </p:txBody>
      </p:sp>
      <p:sp>
        <p:nvSpPr>
          <p:cNvPr id="4" name="Shape 2">
            <a:extLst xmlns:a="http://schemas.openxmlformats.org/drawingml/2006/main">
              <a:ext uri="{FF2B5EF4-FFF2-40B4-BE49-F238E27FC236}">
                <a16:creationId xmlns:a16="http://schemas.microsoft.com/office/drawing/2014/main" id="{DEC51700-D7AE-4852-9C03-150E912B0E85}"/>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B76E394D-0695-4677-8883-29AEB7013146}"/>
              </a:ext>
            </a:extLst>
          </p:cNvPr>
          <p:cNvSpPr>
            <a:spLocks xmlns:a="http://schemas.openxmlformats.org/drawingml/2006/main" noGrp="1"/>
          </p:cNvSpPr>
          <p:nvPr/>
        </p:nvSpPr>
        <p:spPr>
          <a:xfrm xmlns:a="http://schemas.openxmlformats.org/drawingml/2006/main">
            <a:off x="67665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Session</a:t>
            </a:r>
            <a:endParaRPr sz="920"/>
          </a:p>
        </p:txBody>
      </p:sp>
      <p:sp>
        <p:nvSpPr>
          <p:cNvPr id="6" name="Text 4">
            <a:extLst xmlns:a="http://schemas.openxmlformats.org/drawingml/2006/main">
              <a:ext uri="{FF2B5EF4-FFF2-40B4-BE49-F238E27FC236}">
                <a16:creationId xmlns:a16="http://schemas.microsoft.com/office/drawing/2014/main" id="{B138E9E8-44F7-45EA-95A8-65E40D8B2572}"/>
              </a:ext>
            </a:extLst>
          </p:cNvPr>
          <p:cNvSpPr>
            <a:spLocks xmlns:a="http://schemas.openxmlformats.org/drawingml/2006/main" noGrp="1"/>
          </p:cNvSpPr>
          <p:nvPr/>
        </p:nvSpPr>
        <p:spPr>
          <a:xfrm xmlns:a="http://schemas.openxmlformats.org/drawingml/2006/main">
            <a:off x="3694176" y="1444752"/>
            <a:ext cx="34381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actually tests</a:t>
            </a:r>
            <a:endParaRPr sz="920"/>
          </a:p>
        </p:txBody>
      </p:sp>
      <p:sp>
        <p:nvSpPr>
          <p:cNvPr id="7" name="Text 5">
            <a:extLst xmlns:a="http://schemas.openxmlformats.org/drawingml/2006/main">
              <a:ext uri="{FF2B5EF4-FFF2-40B4-BE49-F238E27FC236}">
                <a16:creationId xmlns:a16="http://schemas.microsoft.com/office/drawing/2014/main" id="{CEC6C21D-31C5-4CDE-94EE-0E699C586E4B}"/>
              </a:ext>
            </a:extLst>
          </p:cNvPr>
          <p:cNvSpPr>
            <a:spLocks xmlns:a="http://schemas.openxmlformats.org/drawingml/2006/main" noGrp="1"/>
          </p:cNvSpPr>
          <p:nvPr/>
        </p:nvSpPr>
        <p:spPr>
          <a:xfrm xmlns:a="http://schemas.openxmlformats.org/drawingml/2006/main">
            <a:off x="7443216" y="1444752"/>
            <a:ext cx="26151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The tell</a:t>
            </a:r>
            <a:endParaRPr sz="920"/>
          </a:p>
        </p:txBody>
      </p:sp>
      <p:sp>
        <p:nvSpPr>
          <p:cNvPr id="8" name="Text 6">
            <a:extLst xmlns:a="http://schemas.openxmlformats.org/drawingml/2006/main">
              <a:ext uri="{FF2B5EF4-FFF2-40B4-BE49-F238E27FC236}">
                <a16:creationId xmlns:a16="http://schemas.microsoft.com/office/drawing/2014/main" id="{486E1474-8797-493A-B413-B459D0E11857}"/>
              </a:ext>
            </a:extLst>
          </p:cNvPr>
          <p:cNvSpPr>
            <a:spLocks xmlns:a="http://schemas.openxmlformats.org/drawingml/2006/main" noGrp="1"/>
          </p:cNvSpPr>
          <p:nvPr/>
        </p:nvSpPr>
        <p:spPr>
          <a:xfrm xmlns:a="http://schemas.openxmlformats.org/drawingml/2006/main">
            <a:off x="10369296" y="1444752"/>
            <a:ext cx="1143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Weight</a:t>
            </a:r>
            <a:endParaRPr sz="920"/>
          </a:p>
        </p:txBody>
      </p:sp>
      <p:sp>
        <p:nvSpPr>
          <p:cNvPr id="9" name="Text 7">
            <a:extLst xmlns:a="http://schemas.openxmlformats.org/drawingml/2006/main">
              <a:ext uri="{FF2B5EF4-FFF2-40B4-BE49-F238E27FC236}">
                <a16:creationId xmlns:a16="http://schemas.microsoft.com/office/drawing/2014/main" id="{70096FD3-B3AC-4265-AAC7-DCCB96DCA51C}"/>
              </a:ext>
            </a:extLst>
          </p:cNvPr>
          <p:cNvSpPr>
            <a:spLocks xmlns:a="http://schemas.openxmlformats.org/drawingml/2006/main" noGrp="1"/>
          </p:cNvSpPr>
          <p:nvPr/>
        </p:nvSpPr>
        <p:spPr>
          <a:xfrm xmlns:a="http://schemas.openxmlformats.org/drawingml/2006/main">
            <a:off x="676656" y="17922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Solution architecture</a:t>
            </a:r>
            <a:endParaRPr sz="980"/>
          </a:p>
        </p:txBody>
      </p:sp>
      <p:sp>
        <p:nvSpPr>
          <p:cNvPr id="10" name="Text 8">
            <a:extLst xmlns:a="http://schemas.openxmlformats.org/drawingml/2006/main">
              <a:ext uri="{FF2B5EF4-FFF2-40B4-BE49-F238E27FC236}">
                <a16:creationId xmlns:a16="http://schemas.microsoft.com/office/drawing/2014/main" id="{2F23EA05-2817-431B-B9D7-2653B0A97CA9}"/>
              </a:ext>
            </a:extLst>
          </p:cNvPr>
          <p:cNvSpPr>
            <a:spLocks xmlns:a="http://schemas.openxmlformats.org/drawingml/2006/main" noGrp="1"/>
          </p:cNvSpPr>
          <p:nvPr/>
        </p:nvSpPr>
        <p:spPr>
          <a:xfrm xmlns:a="http://schemas.openxmlformats.org/drawingml/2006/main">
            <a:off x="3694176" y="1792224"/>
            <a:ext cx="3438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Whether the architecture is real or a diagram drawn for the bid</a:t>
            </a:r>
            <a:endParaRPr sz="930"/>
          </a:p>
        </p:txBody>
      </p:sp>
      <p:sp>
        <p:nvSpPr>
          <p:cNvPr id="11" name="Text 9">
            <a:extLst xmlns:a="http://schemas.openxmlformats.org/drawingml/2006/main">
              <a:ext uri="{FF2B5EF4-FFF2-40B4-BE49-F238E27FC236}">
                <a16:creationId xmlns:a16="http://schemas.microsoft.com/office/drawing/2014/main" id="{3E877EF2-36CA-46CC-AC7F-4263B829F7DD}"/>
              </a:ext>
            </a:extLst>
          </p:cNvPr>
          <p:cNvSpPr>
            <a:spLocks xmlns:a="http://schemas.openxmlformats.org/drawingml/2006/main" noGrp="1"/>
          </p:cNvSpPr>
          <p:nvPr/>
        </p:nvSpPr>
        <p:spPr>
          <a:xfrm xmlns:a="http://schemas.openxmlformats.org/drawingml/2006/main">
            <a:off x="7443216" y="17922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i="1">
                <a:solidFill>
                  <a:srgbClr val="486581"/>
                </a:solidFill>
                <a:latin typeface="Arial"/>
                <a:ea typeface="Arial"/>
                <a:cs typeface="Arial"/>
              </a:rPr>
              <a:t>Can they answer a question the diagram does not cover</a:t>
            </a:r>
            <a:endParaRPr sz="920"/>
          </a:p>
        </p:txBody>
      </p:sp>
      <p:sp>
        <p:nvSpPr>
          <p:cNvPr id="12" name="Text 10">
            <a:extLst xmlns:a="http://schemas.openxmlformats.org/drawingml/2006/main">
              <a:ext uri="{FF2B5EF4-FFF2-40B4-BE49-F238E27FC236}">
                <a16:creationId xmlns:a16="http://schemas.microsoft.com/office/drawing/2014/main" id="{92D0AD19-0F63-424D-8E4C-894C9FB226C2}"/>
              </a:ext>
            </a:extLst>
          </p:cNvPr>
          <p:cNvSpPr>
            <a:spLocks xmlns:a="http://schemas.openxmlformats.org/drawingml/2006/main" noGrp="1"/>
          </p:cNvSpPr>
          <p:nvPr/>
        </p:nvSpPr>
        <p:spPr>
          <a:xfrm xmlns:a="http://schemas.openxmlformats.org/drawingml/2006/main">
            <a:off x="10369296" y="179222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Decisive</a:t>
            </a:r>
            <a:endParaRPr sz="940"/>
          </a:p>
        </p:txBody>
      </p:sp>
      <p:sp>
        <p:nvSpPr>
          <p:cNvPr id="13" name="Shape 11">
            <a:extLst xmlns:a="http://schemas.openxmlformats.org/drawingml/2006/main">
              <a:ext uri="{FF2B5EF4-FFF2-40B4-BE49-F238E27FC236}">
                <a16:creationId xmlns:a16="http://schemas.microsoft.com/office/drawing/2014/main" id="{6CA0FEC1-1553-46CF-9B84-0164FEDD9029}"/>
              </a:ext>
            </a:extLst>
          </p:cNvPr>
          <p:cNvSpPr>
            <a:spLocks xmlns:a="http://schemas.openxmlformats.org/drawingml/2006/main" noGrp="1"/>
          </p:cNvSpPr>
          <p:nvPr/>
        </p:nvSpPr>
        <p:spPr>
          <a:xfrm xmlns:a="http://schemas.openxmlformats.org/drawingml/2006/main">
            <a:off x="566928" y="2157984"/>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97598077-D350-4FB2-BA40-6AD128214C83}"/>
              </a:ext>
            </a:extLst>
          </p:cNvPr>
          <p:cNvSpPr>
            <a:spLocks xmlns:a="http://schemas.openxmlformats.org/drawingml/2006/main" noGrp="1"/>
          </p:cNvSpPr>
          <p:nvPr/>
        </p:nvSpPr>
        <p:spPr>
          <a:xfrm xmlns:a="http://schemas.openxmlformats.org/drawingml/2006/main">
            <a:off x="566928" y="2157984"/>
            <a:ext cx="11057839" cy="457200"/>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BE959ED1-BE5A-47C9-8E58-28AFBC502107}"/>
              </a:ext>
            </a:extLst>
          </p:cNvPr>
          <p:cNvSpPr>
            <a:spLocks xmlns:a="http://schemas.openxmlformats.org/drawingml/2006/main" noGrp="1"/>
          </p:cNvSpPr>
          <p:nvPr/>
        </p:nvSpPr>
        <p:spPr>
          <a:xfrm xmlns:a="http://schemas.openxmlformats.org/drawingml/2006/main">
            <a:off x="676656" y="22494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Scalability</a:t>
            </a:r>
            <a:endParaRPr sz="980"/>
          </a:p>
        </p:txBody>
      </p:sp>
      <p:sp>
        <p:nvSpPr>
          <p:cNvPr id="16" name="Text 14">
            <a:extLst xmlns:a="http://schemas.openxmlformats.org/drawingml/2006/main">
              <a:ext uri="{FF2B5EF4-FFF2-40B4-BE49-F238E27FC236}">
                <a16:creationId xmlns:a16="http://schemas.microsoft.com/office/drawing/2014/main" id="{B6C149AD-1DCA-48B9-BC45-232C5F2203E5}"/>
              </a:ext>
            </a:extLst>
          </p:cNvPr>
          <p:cNvSpPr>
            <a:spLocks xmlns:a="http://schemas.openxmlformats.org/drawingml/2006/main" noGrp="1"/>
          </p:cNvSpPr>
          <p:nvPr/>
        </p:nvSpPr>
        <p:spPr>
          <a:xfrm xmlns:a="http://schemas.openxmlformats.org/drawingml/2006/main">
            <a:off x="3694176" y="2249424"/>
            <a:ext cx="3438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Whether anyone has measured anything, or is quoting a datasheet</a:t>
            </a:r>
            <a:endParaRPr sz="930"/>
          </a:p>
        </p:txBody>
      </p:sp>
      <p:sp>
        <p:nvSpPr>
          <p:cNvPr id="17" name="Text 15">
            <a:extLst xmlns:a="http://schemas.openxmlformats.org/drawingml/2006/main">
              <a:ext uri="{FF2B5EF4-FFF2-40B4-BE49-F238E27FC236}">
                <a16:creationId xmlns:a16="http://schemas.microsoft.com/office/drawing/2014/main" id="{2684CBB2-7308-4C59-9BE5-5615300D9512}"/>
              </a:ext>
            </a:extLst>
          </p:cNvPr>
          <p:cNvSpPr>
            <a:spLocks xmlns:a="http://schemas.openxmlformats.org/drawingml/2006/main" noGrp="1"/>
          </p:cNvSpPr>
          <p:nvPr/>
        </p:nvSpPr>
        <p:spPr>
          <a:xfrm xmlns:a="http://schemas.openxmlformats.org/drawingml/2006/main">
            <a:off x="7443216" y="22494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i="1">
                <a:solidFill>
                  <a:srgbClr val="486581"/>
                </a:solidFill>
                <a:latin typeface="Arial"/>
                <a:ea typeface="Arial"/>
                <a:cs typeface="Arial"/>
              </a:rPr>
              <a:t>Do the numbers come with a test method attached</a:t>
            </a:r>
            <a:endParaRPr sz="920"/>
          </a:p>
        </p:txBody>
      </p:sp>
      <p:sp>
        <p:nvSpPr>
          <p:cNvPr id="18" name="Text 16">
            <a:extLst xmlns:a="http://schemas.openxmlformats.org/drawingml/2006/main">
              <a:ext uri="{FF2B5EF4-FFF2-40B4-BE49-F238E27FC236}">
                <a16:creationId xmlns:a16="http://schemas.microsoft.com/office/drawing/2014/main" id="{3B45AC7A-BB2B-4BBA-B9AA-85CCB88BA878}"/>
              </a:ext>
            </a:extLst>
          </p:cNvPr>
          <p:cNvSpPr>
            <a:spLocks xmlns:a="http://schemas.openxmlformats.org/drawingml/2006/main" noGrp="1"/>
          </p:cNvSpPr>
          <p:nvPr/>
        </p:nvSpPr>
        <p:spPr>
          <a:xfrm xmlns:a="http://schemas.openxmlformats.org/drawingml/2006/main">
            <a:off x="10369296" y="224942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Decisive</a:t>
            </a:r>
            <a:endParaRPr sz="940"/>
          </a:p>
        </p:txBody>
      </p:sp>
      <p:sp>
        <p:nvSpPr>
          <p:cNvPr id="19" name="Shape 17">
            <a:extLst xmlns:a="http://schemas.openxmlformats.org/drawingml/2006/main">
              <a:ext uri="{FF2B5EF4-FFF2-40B4-BE49-F238E27FC236}">
                <a16:creationId xmlns:a16="http://schemas.microsoft.com/office/drawing/2014/main" id="{6B834B30-A92D-4EE3-B390-CC09D53F4438}"/>
              </a:ext>
            </a:extLst>
          </p:cNvPr>
          <p:cNvSpPr>
            <a:spLocks xmlns:a="http://schemas.openxmlformats.org/drawingml/2006/main" noGrp="1"/>
          </p:cNvSpPr>
          <p:nvPr/>
        </p:nvSpPr>
        <p:spPr>
          <a:xfrm xmlns:a="http://schemas.openxmlformats.org/drawingml/2006/main">
            <a:off x="566928" y="2615184"/>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B8FB3A42-591A-4FF3-9532-0A77F52B2E2C}"/>
              </a:ext>
            </a:extLst>
          </p:cNvPr>
          <p:cNvSpPr>
            <a:spLocks xmlns:a="http://schemas.openxmlformats.org/drawingml/2006/main" noGrp="1"/>
          </p:cNvSpPr>
          <p:nvPr/>
        </p:nvSpPr>
        <p:spPr>
          <a:xfrm xmlns:a="http://schemas.openxmlformats.org/drawingml/2006/main">
            <a:off x="676656" y="27066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Integration and data exchange</a:t>
            </a:r>
            <a:endParaRPr sz="980"/>
          </a:p>
        </p:txBody>
      </p:sp>
      <p:sp>
        <p:nvSpPr>
          <p:cNvPr id="21" name="Text 19">
            <a:extLst xmlns:a="http://schemas.openxmlformats.org/drawingml/2006/main">
              <a:ext uri="{FF2B5EF4-FFF2-40B4-BE49-F238E27FC236}">
                <a16:creationId xmlns:a16="http://schemas.microsoft.com/office/drawing/2014/main" id="{043FB982-B44F-43A9-A5FB-E3838A523622}"/>
              </a:ext>
            </a:extLst>
          </p:cNvPr>
          <p:cNvSpPr>
            <a:spLocks xmlns:a="http://schemas.openxmlformats.org/drawingml/2006/main" noGrp="1"/>
          </p:cNvSpPr>
          <p:nvPr/>
        </p:nvSpPr>
        <p:spPr>
          <a:xfrm xmlns:a="http://schemas.openxmlformats.org/drawingml/2006/main">
            <a:off x="3694176" y="2706624"/>
            <a:ext cx="3438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Whether integration is a product capability or a services engagement</a:t>
            </a:r>
            <a:endParaRPr sz="930"/>
          </a:p>
        </p:txBody>
      </p:sp>
      <p:sp>
        <p:nvSpPr>
          <p:cNvPr id="22" name="Text 20">
            <a:extLst xmlns:a="http://schemas.openxmlformats.org/drawingml/2006/main">
              <a:ext uri="{FF2B5EF4-FFF2-40B4-BE49-F238E27FC236}">
                <a16:creationId xmlns:a16="http://schemas.microsoft.com/office/drawing/2014/main" id="{27912BD8-B633-4AD3-9241-BD26C709F8B6}"/>
              </a:ext>
            </a:extLst>
          </p:cNvPr>
          <p:cNvSpPr>
            <a:spLocks xmlns:a="http://schemas.openxmlformats.org/drawingml/2006/main" noGrp="1"/>
          </p:cNvSpPr>
          <p:nvPr/>
        </p:nvSpPr>
        <p:spPr>
          <a:xfrm xmlns:a="http://schemas.openxmlformats.org/drawingml/2006/main">
            <a:off x="7443216" y="27066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i="1">
                <a:solidFill>
                  <a:srgbClr val="486581"/>
                </a:solidFill>
                <a:latin typeface="Arial"/>
                <a:ea typeface="Arial"/>
                <a:cs typeface="Arial"/>
              </a:rPr>
              <a:t>How many interfaces exist versus how many are built per client</a:t>
            </a:r>
            <a:endParaRPr sz="920"/>
          </a:p>
        </p:txBody>
      </p:sp>
      <p:sp>
        <p:nvSpPr>
          <p:cNvPr id="23" name="Text 21">
            <a:extLst xmlns:a="http://schemas.openxmlformats.org/drawingml/2006/main">
              <a:ext uri="{FF2B5EF4-FFF2-40B4-BE49-F238E27FC236}">
                <a16:creationId xmlns:a16="http://schemas.microsoft.com/office/drawing/2014/main" id="{88EDC6C0-4D39-4EBE-87D0-EA2BCC20F8F4}"/>
              </a:ext>
            </a:extLst>
          </p:cNvPr>
          <p:cNvSpPr>
            <a:spLocks xmlns:a="http://schemas.openxmlformats.org/drawingml/2006/main" noGrp="1"/>
          </p:cNvSpPr>
          <p:nvPr/>
        </p:nvSpPr>
        <p:spPr>
          <a:xfrm xmlns:a="http://schemas.openxmlformats.org/drawingml/2006/main">
            <a:off x="10369296" y="270662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High</a:t>
            </a:r>
            <a:endParaRPr sz="940"/>
          </a:p>
        </p:txBody>
      </p:sp>
      <p:sp>
        <p:nvSpPr>
          <p:cNvPr id="24" name="Shape 22">
            <a:extLst xmlns:a="http://schemas.openxmlformats.org/drawingml/2006/main">
              <a:ext uri="{FF2B5EF4-FFF2-40B4-BE49-F238E27FC236}">
                <a16:creationId xmlns:a16="http://schemas.microsoft.com/office/drawing/2014/main" id="{42FF5020-9644-428A-90B2-1FBFBD948AE6}"/>
              </a:ext>
            </a:extLst>
          </p:cNvPr>
          <p:cNvSpPr>
            <a:spLocks xmlns:a="http://schemas.openxmlformats.org/drawingml/2006/main" noGrp="1"/>
          </p:cNvSpPr>
          <p:nvPr/>
        </p:nvSpPr>
        <p:spPr>
          <a:xfrm xmlns:a="http://schemas.openxmlformats.org/drawingml/2006/main">
            <a:off x="566928" y="3072384"/>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9634EB1B-A65C-4CCA-9D89-8DE4B4D0CC1F}"/>
              </a:ext>
            </a:extLst>
          </p:cNvPr>
          <p:cNvSpPr>
            <a:spLocks xmlns:a="http://schemas.openxmlformats.org/drawingml/2006/main" noGrp="1"/>
          </p:cNvSpPr>
          <p:nvPr/>
        </p:nvSpPr>
        <p:spPr>
          <a:xfrm xmlns:a="http://schemas.openxmlformats.org/drawingml/2006/main">
            <a:off x="566928" y="3072384"/>
            <a:ext cx="11057839" cy="457200"/>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EEED8827-ED0B-43DA-966F-DB0EC0833766}"/>
              </a:ext>
            </a:extLst>
          </p:cNvPr>
          <p:cNvSpPr>
            <a:spLocks xmlns:a="http://schemas.openxmlformats.org/drawingml/2006/main" noGrp="1"/>
          </p:cNvSpPr>
          <p:nvPr/>
        </p:nvSpPr>
        <p:spPr>
          <a:xfrm xmlns:a="http://schemas.openxmlformats.org/drawingml/2006/main">
            <a:off x="676656" y="31638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Data migration</a:t>
            </a:r>
            <a:endParaRPr sz="980"/>
          </a:p>
        </p:txBody>
      </p:sp>
      <p:sp>
        <p:nvSpPr>
          <p:cNvPr id="27" name="Text 25">
            <a:extLst xmlns:a="http://schemas.openxmlformats.org/drawingml/2006/main">
              <a:ext uri="{FF2B5EF4-FFF2-40B4-BE49-F238E27FC236}">
                <a16:creationId xmlns:a16="http://schemas.microsoft.com/office/drawing/2014/main" id="{139D1D13-1CC3-4668-9667-5FE8998F9747}"/>
              </a:ext>
            </a:extLst>
          </p:cNvPr>
          <p:cNvSpPr>
            <a:spLocks xmlns:a="http://schemas.openxmlformats.org/drawingml/2006/main" noGrp="1"/>
          </p:cNvSpPr>
          <p:nvPr/>
        </p:nvSpPr>
        <p:spPr>
          <a:xfrm xmlns:a="http://schemas.openxmlformats.org/drawingml/2006/main">
            <a:off x="3694176" y="3163824"/>
            <a:ext cx="3438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Honesty — this is the session where over-claiming is cheapest to detect</a:t>
            </a:r>
            <a:endParaRPr sz="930"/>
          </a:p>
        </p:txBody>
      </p:sp>
      <p:sp>
        <p:nvSpPr>
          <p:cNvPr id="28" name="Text 26">
            <a:extLst xmlns:a="http://schemas.openxmlformats.org/drawingml/2006/main">
              <a:ext uri="{FF2B5EF4-FFF2-40B4-BE49-F238E27FC236}">
                <a16:creationId xmlns:a16="http://schemas.microsoft.com/office/drawing/2014/main" id="{D6BBB86B-AF29-4653-9B9C-CB57E0BDF85D}"/>
              </a:ext>
            </a:extLst>
          </p:cNvPr>
          <p:cNvSpPr>
            <a:spLocks xmlns:a="http://schemas.openxmlformats.org/drawingml/2006/main" noGrp="1"/>
          </p:cNvSpPr>
          <p:nvPr/>
        </p:nvSpPr>
        <p:spPr>
          <a:xfrm xmlns:a="http://schemas.openxmlformats.org/drawingml/2006/main">
            <a:off x="7443216" y="31638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i="1">
                <a:solidFill>
                  <a:srgbClr val="486581"/>
                </a:solidFill>
                <a:latin typeface="Arial"/>
                <a:ea typeface="Arial"/>
                <a:cs typeface="Arial"/>
              </a:rPr>
              <a:t>Do they volunteer what should not be migrated</a:t>
            </a:r>
            <a:endParaRPr sz="920"/>
          </a:p>
        </p:txBody>
      </p:sp>
      <p:sp>
        <p:nvSpPr>
          <p:cNvPr id="29" name="Text 27">
            <a:extLst xmlns:a="http://schemas.openxmlformats.org/drawingml/2006/main">
              <a:ext uri="{FF2B5EF4-FFF2-40B4-BE49-F238E27FC236}">
                <a16:creationId xmlns:a16="http://schemas.microsoft.com/office/drawing/2014/main" id="{D074EEA8-F2C8-4485-9BFB-93DD7F68174E}"/>
              </a:ext>
            </a:extLst>
          </p:cNvPr>
          <p:cNvSpPr>
            <a:spLocks xmlns:a="http://schemas.openxmlformats.org/drawingml/2006/main" noGrp="1"/>
          </p:cNvSpPr>
          <p:nvPr/>
        </p:nvSpPr>
        <p:spPr>
          <a:xfrm xmlns:a="http://schemas.openxmlformats.org/drawingml/2006/main">
            <a:off x="10369296" y="316382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High</a:t>
            </a:r>
            <a:endParaRPr sz="940"/>
          </a:p>
        </p:txBody>
      </p:sp>
      <p:sp>
        <p:nvSpPr>
          <p:cNvPr id="30" name="Shape 28">
            <a:extLst xmlns:a="http://schemas.openxmlformats.org/drawingml/2006/main">
              <a:ext uri="{FF2B5EF4-FFF2-40B4-BE49-F238E27FC236}">
                <a16:creationId xmlns:a16="http://schemas.microsoft.com/office/drawing/2014/main" id="{166042A0-C90D-41F8-879E-B39B7D8CA6B3}"/>
              </a:ext>
            </a:extLst>
          </p:cNvPr>
          <p:cNvSpPr>
            <a:spLocks xmlns:a="http://schemas.openxmlformats.org/drawingml/2006/main" noGrp="1"/>
          </p:cNvSpPr>
          <p:nvPr/>
        </p:nvSpPr>
        <p:spPr>
          <a:xfrm xmlns:a="http://schemas.openxmlformats.org/drawingml/2006/main">
            <a:off x="566928" y="3529584"/>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34C258F4-084F-4279-BC8F-36949F9C3694}"/>
              </a:ext>
            </a:extLst>
          </p:cNvPr>
          <p:cNvSpPr>
            <a:spLocks xmlns:a="http://schemas.openxmlformats.org/drawingml/2006/main" noGrp="1"/>
          </p:cNvSpPr>
          <p:nvPr/>
        </p:nvSpPr>
        <p:spPr>
          <a:xfrm xmlns:a="http://schemas.openxmlformats.org/drawingml/2006/main">
            <a:off x="676656" y="36210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Security and compliance</a:t>
            </a:r>
            <a:endParaRPr sz="980"/>
          </a:p>
        </p:txBody>
      </p:sp>
      <p:sp>
        <p:nvSpPr>
          <p:cNvPr id="32" name="Text 30">
            <a:extLst xmlns:a="http://schemas.openxmlformats.org/drawingml/2006/main">
              <a:ext uri="{FF2B5EF4-FFF2-40B4-BE49-F238E27FC236}">
                <a16:creationId xmlns:a16="http://schemas.microsoft.com/office/drawing/2014/main" id="{4DB6BF63-7C1F-4854-A7C4-475110EF4642}"/>
              </a:ext>
            </a:extLst>
          </p:cNvPr>
          <p:cNvSpPr>
            <a:spLocks xmlns:a="http://schemas.openxmlformats.org/drawingml/2006/main" noGrp="1"/>
          </p:cNvSpPr>
          <p:nvPr/>
        </p:nvSpPr>
        <p:spPr>
          <a:xfrm xmlns:a="http://schemas.openxmlformats.org/drawingml/2006/main">
            <a:off x="3694176" y="3621024"/>
            <a:ext cx="3438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Whether security is designed in or certified around</a:t>
            </a:r>
            <a:endParaRPr sz="930"/>
          </a:p>
        </p:txBody>
      </p:sp>
      <p:sp>
        <p:nvSpPr>
          <p:cNvPr id="33" name="Text 31">
            <a:extLst xmlns:a="http://schemas.openxmlformats.org/drawingml/2006/main">
              <a:ext uri="{FF2B5EF4-FFF2-40B4-BE49-F238E27FC236}">
                <a16:creationId xmlns:a16="http://schemas.microsoft.com/office/drawing/2014/main" id="{B468441F-EE42-49B7-B3A6-069C104F50B5}"/>
              </a:ext>
            </a:extLst>
          </p:cNvPr>
          <p:cNvSpPr>
            <a:spLocks xmlns:a="http://schemas.openxmlformats.org/drawingml/2006/main" noGrp="1"/>
          </p:cNvSpPr>
          <p:nvPr/>
        </p:nvSpPr>
        <p:spPr>
          <a:xfrm xmlns:a="http://schemas.openxmlformats.org/drawingml/2006/main">
            <a:off x="7443216" y="36210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i="1">
                <a:solidFill>
                  <a:srgbClr val="486581"/>
                </a:solidFill>
                <a:latin typeface="Arial"/>
                <a:ea typeface="Arial"/>
                <a:cs typeface="Arial"/>
              </a:rPr>
              <a:t>Is the answer a control or a certificate</a:t>
            </a:r>
            <a:endParaRPr sz="920"/>
          </a:p>
        </p:txBody>
      </p:sp>
      <p:sp>
        <p:nvSpPr>
          <p:cNvPr id="34" name="Text 32">
            <a:extLst xmlns:a="http://schemas.openxmlformats.org/drawingml/2006/main">
              <a:ext uri="{FF2B5EF4-FFF2-40B4-BE49-F238E27FC236}">
                <a16:creationId xmlns:a16="http://schemas.microsoft.com/office/drawing/2014/main" id="{8E8C6E09-96A4-49EA-9A61-55C2B56EACCB}"/>
              </a:ext>
            </a:extLst>
          </p:cNvPr>
          <p:cNvSpPr>
            <a:spLocks xmlns:a="http://schemas.openxmlformats.org/drawingml/2006/main" noGrp="1"/>
          </p:cNvSpPr>
          <p:nvPr/>
        </p:nvSpPr>
        <p:spPr>
          <a:xfrm xmlns:a="http://schemas.openxmlformats.org/drawingml/2006/main">
            <a:off x="10369296" y="362102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Decisive</a:t>
            </a:r>
            <a:endParaRPr sz="940"/>
          </a:p>
        </p:txBody>
      </p:sp>
      <p:sp>
        <p:nvSpPr>
          <p:cNvPr id="35" name="Shape 33">
            <a:extLst xmlns:a="http://schemas.openxmlformats.org/drawingml/2006/main">
              <a:ext uri="{FF2B5EF4-FFF2-40B4-BE49-F238E27FC236}">
                <a16:creationId xmlns:a16="http://schemas.microsoft.com/office/drawing/2014/main" id="{F1F86816-E621-432D-AF2B-D6DB463EBC8A}"/>
              </a:ext>
            </a:extLst>
          </p:cNvPr>
          <p:cNvSpPr>
            <a:spLocks xmlns:a="http://schemas.openxmlformats.org/drawingml/2006/main" noGrp="1"/>
          </p:cNvSpPr>
          <p:nvPr/>
        </p:nvSpPr>
        <p:spPr>
          <a:xfrm xmlns:a="http://schemas.openxmlformats.org/drawingml/2006/main">
            <a:off x="566928" y="398678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7826C3FA-06BB-4369-8E3A-B97160858AA3}"/>
              </a:ext>
            </a:extLst>
          </p:cNvPr>
          <p:cNvSpPr>
            <a:spLocks xmlns:a="http://schemas.openxmlformats.org/drawingml/2006/main" noGrp="1"/>
          </p:cNvSpPr>
          <p:nvPr/>
        </p:nvSpPr>
        <p:spPr>
          <a:xfrm xmlns:a="http://schemas.openxmlformats.org/drawingml/2006/main">
            <a:off x="566928" y="3986784"/>
            <a:ext cx="11057839" cy="457200"/>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4C9AA504-77B6-4FD2-805A-36DB13CD3AFE}"/>
              </a:ext>
            </a:extLst>
          </p:cNvPr>
          <p:cNvSpPr>
            <a:spLocks xmlns:a="http://schemas.openxmlformats.org/drawingml/2006/main" noGrp="1"/>
          </p:cNvSpPr>
          <p:nvPr/>
        </p:nvSpPr>
        <p:spPr>
          <a:xfrm xmlns:a="http://schemas.openxmlformats.org/drawingml/2006/main">
            <a:off x="676656" y="40782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Customisation and extensibility</a:t>
            </a:r>
            <a:endParaRPr sz="980"/>
          </a:p>
        </p:txBody>
      </p:sp>
      <p:sp>
        <p:nvSpPr>
          <p:cNvPr id="38" name="Text 36">
            <a:extLst xmlns:a="http://schemas.openxmlformats.org/drawingml/2006/main">
              <a:ext uri="{FF2B5EF4-FFF2-40B4-BE49-F238E27FC236}">
                <a16:creationId xmlns:a16="http://schemas.microsoft.com/office/drawing/2014/main" id="{F9C995E2-2118-4350-9ABA-7241B482C96E}"/>
              </a:ext>
            </a:extLst>
          </p:cNvPr>
          <p:cNvSpPr>
            <a:spLocks xmlns:a="http://schemas.openxmlformats.org/drawingml/2006/main" noGrp="1"/>
          </p:cNvSpPr>
          <p:nvPr/>
        </p:nvSpPr>
        <p:spPr>
          <a:xfrm xmlns:a="http://schemas.openxmlformats.org/drawingml/2006/main">
            <a:off x="3694176" y="4078224"/>
            <a:ext cx="34381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Whether configurability is real or a screen in front of code</a:t>
            </a:r>
            <a:endParaRPr sz="930"/>
          </a:p>
        </p:txBody>
      </p:sp>
      <p:sp>
        <p:nvSpPr>
          <p:cNvPr id="39" name="Text 37">
            <a:extLst xmlns:a="http://schemas.openxmlformats.org/drawingml/2006/main">
              <a:ext uri="{FF2B5EF4-FFF2-40B4-BE49-F238E27FC236}">
                <a16:creationId xmlns:a16="http://schemas.microsoft.com/office/drawing/2014/main" id="{EA8E3F63-620F-4761-AB21-7AD61860ED8F}"/>
              </a:ext>
            </a:extLst>
          </p:cNvPr>
          <p:cNvSpPr>
            <a:spLocks xmlns:a="http://schemas.openxmlformats.org/drawingml/2006/main" noGrp="1"/>
          </p:cNvSpPr>
          <p:nvPr/>
        </p:nvSpPr>
        <p:spPr>
          <a:xfrm xmlns:a="http://schemas.openxmlformats.org/drawingml/2006/main">
            <a:off x="7443216" y="4078224"/>
            <a:ext cx="26151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i="1">
                <a:solidFill>
                  <a:srgbClr val="486581"/>
                </a:solidFill>
                <a:latin typeface="Arial"/>
                <a:ea typeface="Arial"/>
                <a:cs typeface="Arial"/>
              </a:rPr>
              <a:t>Ask for a change the demonstration script did not anticipate</a:t>
            </a:r>
            <a:endParaRPr sz="920"/>
          </a:p>
        </p:txBody>
      </p:sp>
      <p:sp>
        <p:nvSpPr>
          <p:cNvPr id="40" name="Text 38">
            <a:extLst xmlns:a="http://schemas.openxmlformats.org/drawingml/2006/main">
              <a:ext uri="{FF2B5EF4-FFF2-40B4-BE49-F238E27FC236}">
                <a16:creationId xmlns:a16="http://schemas.microsoft.com/office/drawing/2014/main" id="{7083E4C0-2245-42CF-8D2B-86CDE028B7C9}"/>
              </a:ext>
            </a:extLst>
          </p:cNvPr>
          <p:cNvSpPr>
            <a:spLocks xmlns:a="http://schemas.openxmlformats.org/drawingml/2006/main" noGrp="1"/>
          </p:cNvSpPr>
          <p:nvPr/>
        </p:nvSpPr>
        <p:spPr>
          <a:xfrm xmlns:a="http://schemas.openxmlformats.org/drawingml/2006/main">
            <a:off x="10369296" y="407822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High</a:t>
            </a:r>
            <a:endParaRPr sz="940"/>
          </a:p>
        </p:txBody>
      </p:sp>
      <p:sp>
        <p:nvSpPr>
          <p:cNvPr id="41" name="Shape 39">
            <a:extLst xmlns:a="http://schemas.openxmlformats.org/drawingml/2006/main">
              <a:ext uri="{FF2B5EF4-FFF2-40B4-BE49-F238E27FC236}">
                <a16:creationId xmlns:a16="http://schemas.microsoft.com/office/drawing/2014/main" id="{3652F969-76BD-4EE1-AFD8-B335EA166946}"/>
              </a:ext>
            </a:extLst>
          </p:cNvPr>
          <p:cNvSpPr>
            <a:spLocks xmlns:a="http://schemas.openxmlformats.org/drawingml/2006/main" noGrp="1"/>
          </p:cNvSpPr>
          <p:nvPr/>
        </p:nvSpPr>
        <p:spPr>
          <a:xfrm xmlns:a="http://schemas.openxmlformats.org/drawingml/2006/main">
            <a:off x="566928" y="4443984"/>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3014B1C9-C5B4-4CCD-848E-C163CE79AC88}"/>
              </a:ext>
            </a:extLst>
          </p:cNvPr>
          <p:cNvSpPr>
            <a:spLocks xmlns:a="http://schemas.openxmlformats.org/drawingml/2006/main" noGrp="1"/>
          </p:cNvSpPr>
          <p:nvPr/>
        </p:nvSpPr>
        <p:spPr>
          <a:xfrm xmlns:a="http://schemas.openxmlformats.org/drawingml/2006/main">
            <a:off x="566928" y="46268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Why the titles mislead</a:t>
            </a:r>
            <a:endParaRPr sz="1100"/>
          </a:p>
        </p:txBody>
      </p:sp>
      <p:sp>
        <p:nvSpPr>
          <p:cNvPr id="43" name="Shape 41">
            <a:extLst xmlns:a="http://schemas.openxmlformats.org/drawingml/2006/main">
              <a:ext uri="{FF2B5EF4-FFF2-40B4-BE49-F238E27FC236}">
                <a16:creationId xmlns:a16="http://schemas.microsoft.com/office/drawing/2014/main" id="{D0AC30BF-1F9A-49A9-91C9-F9E28F20E0EF}"/>
              </a:ext>
            </a:extLst>
          </p:cNvPr>
          <p:cNvSpPr>
            <a:spLocks xmlns:a="http://schemas.openxmlformats.org/drawingml/2006/main" noGrp="1"/>
          </p:cNvSpPr>
          <p:nvPr/>
        </p:nvSpPr>
        <p:spPr>
          <a:xfrm xmlns:a="http://schemas.openxmlformats.org/drawingml/2006/main">
            <a:off x="566928" y="4882896"/>
            <a:ext cx="3551834" cy="20117"/>
          </a:xfrm>
          <a:prstGeom xmlns:a="http://schemas.openxmlformats.org/drawingml/2006/main" prst="rect">
            <a:avLst/>
          </a:prstGeom>
          <a:solidFill xmlns:a="http://schemas.openxmlformats.org/drawingml/2006/main">
            <a:srgbClr val="486581"/>
          </a:solidFill>
        </p:spPr>
      </p:sp>
      <p:sp>
        <p:nvSpPr>
          <p:cNvPr id="44" name="Text 42">
            <a:extLst xmlns:a="http://schemas.openxmlformats.org/drawingml/2006/main">
              <a:ext uri="{FF2B5EF4-FFF2-40B4-BE49-F238E27FC236}">
                <a16:creationId xmlns:a16="http://schemas.microsoft.com/office/drawing/2014/main" id="{92FDE7BC-CDA9-4347-9188-7EA51F9950B9}"/>
              </a:ext>
            </a:extLst>
          </p:cNvPr>
          <p:cNvSpPr>
            <a:spLocks xmlns:a="http://schemas.openxmlformats.org/drawingml/2006/main" noGrp="1"/>
          </p:cNvSpPr>
          <p:nvPr/>
        </p:nvSpPr>
        <p:spPr>
          <a:xfrm xmlns:a="http://schemas.openxmlformats.org/drawingml/2006/main">
            <a:off x="566928" y="5010912"/>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Titles are written by procurement to structure a day, not to structure a test.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questions come from architects, testing something narrower and more specific — so preparing to the title yields six competent presentations that answer nothing asked.</a:t>
            </a:r>
            <a:endParaRPr sz="920"/>
          </a:p>
        </p:txBody>
      </p:sp>
      <p:sp>
        <p:nvSpPr>
          <p:cNvPr id="45" name="Text 43">
            <a:extLst xmlns:a="http://schemas.openxmlformats.org/drawingml/2006/main">
              <a:ext uri="{FF2B5EF4-FFF2-40B4-BE49-F238E27FC236}">
                <a16:creationId xmlns:a16="http://schemas.microsoft.com/office/drawing/2014/main" id="{C7269B8D-EF6C-4697-BC00-6C5A62CD5333}"/>
              </a:ext>
            </a:extLst>
          </p:cNvPr>
          <p:cNvSpPr>
            <a:spLocks xmlns:a="http://schemas.openxmlformats.org/drawingml/2006/main" noGrp="1"/>
          </p:cNvSpPr>
          <p:nvPr/>
        </p:nvSpPr>
        <p:spPr>
          <a:xfrm xmlns:a="http://schemas.openxmlformats.org/drawingml/2006/main">
            <a:off x="4319930" y="46268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the panel is really deciding</a:t>
            </a:r>
            <a:endParaRPr sz="1100"/>
          </a:p>
        </p:txBody>
      </p:sp>
      <p:sp>
        <p:nvSpPr>
          <p:cNvPr id="46" name="Shape 44">
            <a:extLst xmlns:a="http://schemas.openxmlformats.org/drawingml/2006/main">
              <a:ext uri="{FF2B5EF4-FFF2-40B4-BE49-F238E27FC236}">
                <a16:creationId xmlns:a16="http://schemas.microsoft.com/office/drawing/2014/main" id="{5A95E8FC-A862-4A41-BB36-06952F208D90}"/>
              </a:ext>
            </a:extLst>
          </p:cNvPr>
          <p:cNvSpPr>
            <a:spLocks xmlns:a="http://schemas.openxmlformats.org/drawingml/2006/main" noGrp="1"/>
          </p:cNvSpPr>
          <p:nvPr/>
        </p:nvSpPr>
        <p:spPr>
          <a:xfrm xmlns:a="http://schemas.openxmlformats.org/drawingml/2006/main">
            <a:off x="4319930" y="4882896"/>
            <a:ext cx="3551834" cy="20117"/>
          </a:xfrm>
          <a:prstGeom xmlns:a="http://schemas.openxmlformats.org/drawingml/2006/main" prst="rect">
            <a:avLst/>
          </a:prstGeom>
          <a:solidFill xmlns:a="http://schemas.openxmlformats.org/drawingml/2006/main">
            <a:srgbClr val="B04A25"/>
          </a:solidFill>
        </p:spPr>
      </p:sp>
      <p:sp>
        <p:nvSpPr>
          <p:cNvPr id="47" name="Text 45">
            <a:extLst xmlns:a="http://schemas.openxmlformats.org/drawingml/2006/main">
              <a:ext uri="{FF2B5EF4-FFF2-40B4-BE49-F238E27FC236}">
                <a16:creationId xmlns:a16="http://schemas.microsoft.com/office/drawing/2014/main" id="{B22B6F1C-222B-40AD-A841-147A0D2C0112}"/>
              </a:ext>
            </a:extLst>
          </p:cNvPr>
          <p:cNvSpPr>
            <a:spLocks xmlns:a="http://schemas.openxmlformats.org/drawingml/2006/main" noGrp="1"/>
          </p:cNvSpPr>
          <p:nvPr/>
        </p:nvSpPr>
        <p:spPr>
          <a:xfrm xmlns:a="http://schemas.openxmlformats.org/drawingml/2006/main">
            <a:off x="4319930" y="5010912"/>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Not whether the platform can do it — shortlisting already settled that.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Whether the people in the room have run this before, at this scale, and know where it hurts.</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Every question probes operating experience, not product knowledge.</a:t>
            </a:r>
            <a:endParaRPr sz="920"/>
          </a:p>
        </p:txBody>
      </p:sp>
      <p:sp>
        <p:nvSpPr>
          <p:cNvPr id="48" name="Text 46">
            <a:extLst xmlns:a="http://schemas.openxmlformats.org/drawingml/2006/main">
              <a:ext uri="{FF2B5EF4-FFF2-40B4-BE49-F238E27FC236}">
                <a16:creationId xmlns:a16="http://schemas.microsoft.com/office/drawing/2014/main" id="{E7C480AF-BB98-4AAB-804C-2B9C6FCA790A}"/>
              </a:ext>
            </a:extLst>
          </p:cNvPr>
          <p:cNvSpPr>
            <a:spLocks xmlns:a="http://schemas.openxmlformats.org/drawingml/2006/main" noGrp="1"/>
          </p:cNvSpPr>
          <p:nvPr/>
        </p:nvSpPr>
        <p:spPr>
          <a:xfrm xmlns:a="http://schemas.openxmlformats.org/drawingml/2006/main">
            <a:off x="8072933" y="46268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How that changes preparation</a:t>
            </a:r>
            <a:endParaRPr sz="1100"/>
          </a:p>
        </p:txBody>
      </p:sp>
      <p:sp>
        <p:nvSpPr>
          <p:cNvPr id="49" name="Shape 47">
            <a:extLst xmlns:a="http://schemas.openxmlformats.org/drawingml/2006/main">
              <a:ext uri="{FF2B5EF4-FFF2-40B4-BE49-F238E27FC236}">
                <a16:creationId xmlns:a16="http://schemas.microsoft.com/office/drawing/2014/main" id="{53EFD4DA-B10C-4044-A69E-2931A12DB199}"/>
              </a:ext>
            </a:extLst>
          </p:cNvPr>
          <p:cNvSpPr>
            <a:spLocks xmlns:a="http://schemas.openxmlformats.org/drawingml/2006/main" noGrp="1"/>
          </p:cNvSpPr>
          <p:nvPr/>
        </p:nvSpPr>
        <p:spPr>
          <a:xfrm xmlns:a="http://schemas.openxmlformats.org/drawingml/2006/main">
            <a:off x="8072933" y="4882896"/>
            <a:ext cx="3551834" cy="20117"/>
          </a:xfrm>
          <a:prstGeom xmlns:a="http://schemas.openxmlformats.org/drawingml/2006/main" prst="rect">
            <a:avLst/>
          </a:prstGeom>
          <a:solidFill xmlns:a="http://schemas.openxmlformats.org/drawingml/2006/main">
            <a:srgbClr val="27685A"/>
          </a:solidFill>
        </p:spPr>
      </p:sp>
      <p:sp>
        <p:nvSpPr>
          <p:cNvPr id="50" name="Text 48">
            <a:extLst xmlns:a="http://schemas.openxmlformats.org/drawingml/2006/main">
              <a:ext uri="{FF2B5EF4-FFF2-40B4-BE49-F238E27FC236}">
                <a16:creationId xmlns:a16="http://schemas.microsoft.com/office/drawing/2014/main" id="{85D4E7E0-382B-4C96-AD9B-159DBC3D213A}"/>
              </a:ext>
            </a:extLst>
          </p:cNvPr>
          <p:cNvSpPr>
            <a:spLocks xmlns:a="http://schemas.openxmlformats.org/drawingml/2006/main" noGrp="1"/>
          </p:cNvSpPr>
          <p:nvPr/>
        </p:nvSpPr>
        <p:spPr>
          <a:xfrm xmlns:a="http://schemas.openxmlformats.org/drawingml/2006/main">
            <a:off x="8072933" y="5010912"/>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Bring the person who ran it, not only the person who can present it.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Prepare evidence for each test, not slides for each title.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Rehearse the questions the diagram does not answer, because those are the ones that get asked.</a:t>
            </a:r>
            <a:endParaRPr sz="920"/>
          </a:p>
        </p:txBody>
      </p:sp>
      <p:sp>
        <p:nvSpPr>
          <p:cNvPr id="51" name="Shape 49">
            <a:extLst xmlns:a="http://schemas.openxmlformats.org/drawingml/2006/main">
              <a:ext uri="{FF2B5EF4-FFF2-40B4-BE49-F238E27FC236}">
                <a16:creationId xmlns:a16="http://schemas.microsoft.com/office/drawing/2014/main" id="{32316EE8-8AA3-47CF-93B0-18D95F4087C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D4A2329B-F31D-4801-AF4C-DD548D4FB30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Evaluation agenda and session structure as set by the bank · author's analysis</a:t>
            </a:r>
            <a:endParaRPr sz="850"/>
          </a:p>
        </p:txBody>
      </p:sp>
      <p:sp>
        <p:nvSpPr>
          <p:cNvPr id="53" name="Text 51">
            <a:extLst xmlns:a="http://schemas.openxmlformats.org/drawingml/2006/main">
              <a:ext uri="{FF2B5EF4-FFF2-40B4-BE49-F238E27FC236}">
                <a16:creationId xmlns:a16="http://schemas.microsoft.com/office/drawing/2014/main" id="{A27C1022-AE2E-4A77-A781-4E26930E296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958049121"/>
      </p:ext>
    </p:extLst>
  </p:cSld>
</p:sld>
</file>

<file path=ppt/slides/slide24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E0EAA31-0512-4A5E-A5BD-4ACA6C525FA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FIVE QUESTIONS</a:t>
            </a:r>
            <a:endParaRPr sz="950"/>
          </a:p>
        </p:txBody>
      </p:sp>
      <p:sp>
        <p:nvSpPr>
          <p:cNvPr id="3" name="Text 1">
            <a:extLst xmlns:a="http://schemas.openxmlformats.org/drawingml/2006/main">
              <a:ext uri="{FF2B5EF4-FFF2-40B4-BE49-F238E27FC236}">
                <a16:creationId xmlns:a16="http://schemas.microsoft.com/office/drawing/2014/main" id="{EDF3F96C-2648-4034-BFB3-44755B6A645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questions decide the day — none is about features, and all five have a good</a:t>
            </a:r>
            <a:endParaRPr sz="1900"/>
          </a:p>
          <a:p xmlns:a="http://schemas.openxmlformats.org/drawingml/2006/main">
            <a:pPr marL="0" indent="0">
              <a:lnSpc>
                <a:spcPts val="2400"/>
              </a:lnSpc>
              <a:buNone/>
            </a:pPr>
            <a:r>
              <a:rPr sz="1900" b="1">
                <a:solidFill>
                  <a:srgbClr val="102A43"/>
                </a:solidFill>
                <a:latin typeface="Arial"/>
                <a:ea typeface="Arial"/>
                <a:cs typeface="Arial"/>
              </a:rPr>
              <a:t>answer that most teams have not prepared</a:t>
            </a:r>
            <a:endParaRPr sz="1900"/>
          </a:p>
        </p:txBody>
      </p:sp>
      <p:sp>
        <p:nvSpPr>
          <p:cNvPr id="4" name="Shape 2">
            <a:extLst xmlns:a="http://schemas.openxmlformats.org/drawingml/2006/main">
              <a:ext uri="{FF2B5EF4-FFF2-40B4-BE49-F238E27FC236}">
                <a16:creationId xmlns:a16="http://schemas.microsoft.com/office/drawing/2014/main" id="{FBEC7951-08D8-41BF-8A2E-9F3AAAD844DC}"/>
              </a:ext>
            </a:extLst>
          </p:cNvPr>
          <p:cNvSpPr>
            <a:spLocks xmlns:a="http://schemas.openxmlformats.org/drawingml/2006/main" noGrp="1"/>
          </p:cNvSpPr>
          <p:nvPr/>
        </p:nvSpPr>
        <p:spPr>
          <a:xfrm xmlns:a="http://schemas.openxmlformats.org/drawingml/2006/main">
            <a:off x="566928" y="1335024"/>
            <a:ext cx="11057839" cy="82296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A5E2FF12-611A-4452-9F62-55DDC0F24598}"/>
              </a:ext>
            </a:extLst>
          </p:cNvPr>
          <p:cNvSpPr>
            <a:spLocks xmlns:a="http://schemas.openxmlformats.org/drawingml/2006/main" noGrp="1"/>
          </p:cNvSpPr>
          <p:nvPr/>
        </p:nvSpPr>
        <p:spPr>
          <a:xfrm xmlns:a="http://schemas.openxmlformats.org/drawingml/2006/main">
            <a:off x="786384" y="1609344"/>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01</a:t>
            </a:r>
            <a:endParaRPr sz="1500"/>
          </a:p>
        </p:txBody>
      </p:sp>
      <p:sp>
        <p:nvSpPr>
          <p:cNvPr id="6" name="Text 4">
            <a:extLst xmlns:a="http://schemas.openxmlformats.org/drawingml/2006/main">
              <a:ext uri="{FF2B5EF4-FFF2-40B4-BE49-F238E27FC236}">
                <a16:creationId xmlns:a16="http://schemas.microsoft.com/office/drawing/2014/main" id="{5B6C4FC9-7046-4A6A-A7B5-81A7C6D1D57B}"/>
              </a:ext>
            </a:extLst>
          </p:cNvPr>
          <p:cNvSpPr>
            <a:spLocks xmlns:a="http://schemas.openxmlformats.org/drawingml/2006/main" noGrp="1"/>
          </p:cNvSpPr>
          <p:nvPr/>
        </p:nvSpPr>
        <p:spPr>
          <a:xfrm xmlns:a="http://schemas.openxmlformats.org/drawingml/2006/main">
            <a:off x="1280160" y="1481328"/>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100" b="1">
                <a:solidFill>
                  <a:srgbClr val="102A43"/>
                </a:solidFill>
                <a:latin typeface="Arial"/>
                <a:ea typeface="Arial"/>
                <a:cs typeface="Arial"/>
              </a:rPr>
              <a:t>What breaks first, and at what number?</a:t>
            </a:r>
            <a:endParaRPr sz="1100"/>
          </a:p>
        </p:txBody>
      </p:sp>
      <p:sp>
        <p:nvSpPr>
          <p:cNvPr id="7" name="Text 5">
            <a:extLst xmlns:a="http://schemas.openxmlformats.org/drawingml/2006/main">
              <a:ext uri="{FF2B5EF4-FFF2-40B4-BE49-F238E27FC236}">
                <a16:creationId xmlns:a16="http://schemas.microsoft.com/office/drawing/2014/main" id="{522B7283-31AA-4F38-AA16-F6384FFA9CBE}"/>
              </a:ext>
            </a:extLst>
          </p:cNvPr>
          <p:cNvSpPr>
            <a:spLocks xmlns:a="http://schemas.openxmlformats.org/drawingml/2006/main" noGrp="1"/>
          </p:cNvSpPr>
          <p:nvPr/>
        </p:nvSpPr>
        <p:spPr>
          <a:xfrm xmlns:a="http://schemas.openxmlformats.org/drawingml/2006/main">
            <a:off x="4681728" y="1481328"/>
            <a:ext cx="41148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Every platform has a first bottleneck. A team that names theirs — with the number and the mitigation — is telling the panel it has run this at scale. A team that says nothing breaks is telling them it has not.</a:t>
            </a:r>
            <a:endParaRPr sz="920"/>
          </a:p>
        </p:txBody>
      </p:sp>
      <p:sp>
        <p:nvSpPr>
          <p:cNvPr id="8" name="Text 6">
            <a:extLst xmlns:a="http://schemas.openxmlformats.org/drawingml/2006/main">
              <a:ext uri="{FF2B5EF4-FFF2-40B4-BE49-F238E27FC236}">
                <a16:creationId xmlns:a16="http://schemas.microsoft.com/office/drawing/2014/main" id="{E83EDEFB-44AE-4442-89C8-53B55F3E8F4E}"/>
              </a:ext>
            </a:extLst>
          </p:cNvPr>
          <p:cNvSpPr>
            <a:spLocks xmlns:a="http://schemas.openxmlformats.org/drawingml/2006/main" noGrp="1"/>
          </p:cNvSpPr>
          <p:nvPr/>
        </p:nvSpPr>
        <p:spPr>
          <a:xfrm xmlns:a="http://schemas.openxmlformats.org/drawingml/2006/main">
            <a:off x="8979408" y="1481328"/>
            <a:ext cx="25146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The number, the symptom, and what you do about it</a:t>
            </a:r>
            <a:endParaRPr sz="920"/>
          </a:p>
        </p:txBody>
      </p:sp>
      <p:sp>
        <p:nvSpPr>
          <p:cNvPr id="9" name="Shape 7">
            <a:extLst xmlns:a="http://schemas.openxmlformats.org/drawingml/2006/main">
              <a:ext uri="{FF2B5EF4-FFF2-40B4-BE49-F238E27FC236}">
                <a16:creationId xmlns:a16="http://schemas.microsoft.com/office/drawing/2014/main" id="{E1A7FB6F-2A05-45AE-B2F7-FA5BB9DD74E6}"/>
              </a:ext>
            </a:extLst>
          </p:cNvPr>
          <p:cNvSpPr>
            <a:spLocks xmlns:a="http://schemas.openxmlformats.org/drawingml/2006/main" noGrp="1"/>
          </p:cNvSpPr>
          <p:nvPr/>
        </p:nvSpPr>
        <p:spPr>
          <a:xfrm xmlns:a="http://schemas.openxmlformats.org/drawingml/2006/main">
            <a:off x="566928" y="2267712"/>
            <a:ext cx="11057839" cy="822960"/>
          </a:xfrm>
          <a:prstGeom xmlns:a="http://schemas.openxmlformats.org/drawingml/2006/main" prst="rect">
            <a:avLst/>
          </a:prstGeom>
          <a:solidFill xmlns:a="http://schemas.openxmlformats.org/drawingml/2006/main">
            <a:srgbClr val="F0F4F8"/>
          </a:solidFill>
        </p:spPr>
      </p:sp>
      <p:sp>
        <p:nvSpPr>
          <p:cNvPr id="10" name="Text 8">
            <a:extLst xmlns:a="http://schemas.openxmlformats.org/drawingml/2006/main">
              <a:ext uri="{FF2B5EF4-FFF2-40B4-BE49-F238E27FC236}">
                <a16:creationId xmlns:a16="http://schemas.microsoft.com/office/drawing/2014/main" id="{277CA7D0-CF02-46B6-AC02-B39D7AF912E6}"/>
              </a:ext>
            </a:extLst>
          </p:cNvPr>
          <p:cNvSpPr>
            <a:spLocks xmlns:a="http://schemas.openxmlformats.org/drawingml/2006/main" noGrp="1"/>
          </p:cNvSpPr>
          <p:nvPr/>
        </p:nvSpPr>
        <p:spPr>
          <a:xfrm xmlns:a="http://schemas.openxmlformats.org/drawingml/2006/main">
            <a:off x="786384" y="2542032"/>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02</a:t>
            </a:r>
            <a:endParaRPr sz="1500"/>
          </a:p>
        </p:txBody>
      </p:sp>
      <p:sp>
        <p:nvSpPr>
          <p:cNvPr id="11" name="Text 9">
            <a:extLst xmlns:a="http://schemas.openxmlformats.org/drawingml/2006/main">
              <a:ext uri="{FF2B5EF4-FFF2-40B4-BE49-F238E27FC236}">
                <a16:creationId xmlns:a16="http://schemas.microsoft.com/office/drawing/2014/main" id="{1BEA6DC3-23B3-4F86-B3C4-02944110BCEE}"/>
              </a:ext>
            </a:extLst>
          </p:cNvPr>
          <p:cNvSpPr>
            <a:spLocks xmlns:a="http://schemas.openxmlformats.org/drawingml/2006/main" noGrp="1"/>
          </p:cNvSpPr>
          <p:nvPr/>
        </p:nvSpPr>
        <p:spPr>
          <a:xfrm xmlns:a="http://schemas.openxmlformats.org/drawingml/2006/main">
            <a:off x="1280160" y="2414016"/>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100" b="1">
                <a:solidFill>
                  <a:srgbClr val="102A43"/>
                </a:solidFill>
                <a:latin typeface="Arial"/>
                <a:ea typeface="Arial"/>
                <a:cs typeface="Arial"/>
              </a:rPr>
              <a:t>Show me an interface you did not build for this bid</a:t>
            </a:r>
            <a:endParaRPr sz="1100"/>
          </a:p>
        </p:txBody>
      </p:sp>
      <p:sp>
        <p:nvSpPr>
          <p:cNvPr id="12" name="Text 10">
            <a:extLst xmlns:a="http://schemas.openxmlformats.org/drawingml/2006/main">
              <a:ext uri="{FF2B5EF4-FFF2-40B4-BE49-F238E27FC236}">
                <a16:creationId xmlns:a16="http://schemas.microsoft.com/office/drawing/2014/main" id="{D52B8DD5-873B-45C0-B11E-BA66DC02E7CC}"/>
              </a:ext>
            </a:extLst>
          </p:cNvPr>
          <p:cNvSpPr>
            <a:spLocks xmlns:a="http://schemas.openxmlformats.org/drawingml/2006/main" noGrp="1"/>
          </p:cNvSpPr>
          <p:nvPr/>
        </p:nvSpPr>
        <p:spPr>
          <a:xfrm xmlns:a="http://schemas.openxmlformats.org/drawingml/2006/main">
            <a:off x="4681728" y="2414016"/>
            <a:ext cx="41148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Tests whether integration is a product capability or a services engagement dressed as one. An adapter inventory with versions and clients behind it answers this; a diagram does not.</a:t>
            </a:r>
            <a:endParaRPr sz="920"/>
          </a:p>
        </p:txBody>
      </p:sp>
      <p:sp>
        <p:nvSpPr>
          <p:cNvPr id="13" name="Text 11">
            <a:extLst xmlns:a="http://schemas.openxmlformats.org/drawingml/2006/main">
              <a:ext uri="{FF2B5EF4-FFF2-40B4-BE49-F238E27FC236}">
                <a16:creationId xmlns:a16="http://schemas.microsoft.com/office/drawing/2014/main" id="{68DA108C-DDA4-452D-8553-99EE70EC6D2E}"/>
              </a:ext>
            </a:extLst>
          </p:cNvPr>
          <p:cNvSpPr>
            <a:spLocks xmlns:a="http://schemas.openxmlformats.org/drawingml/2006/main" noGrp="1"/>
          </p:cNvSpPr>
          <p:nvPr/>
        </p:nvSpPr>
        <p:spPr>
          <a:xfrm xmlns:a="http://schemas.openxmlformats.org/drawingml/2006/main">
            <a:off x="8979408" y="2414016"/>
            <a:ext cx="25146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A real inventory, with what is prebuilt versus per-client</a:t>
            </a:r>
            <a:endParaRPr sz="920"/>
          </a:p>
        </p:txBody>
      </p:sp>
      <p:sp>
        <p:nvSpPr>
          <p:cNvPr id="14" name="Shape 12">
            <a:extLst xmlns:a="http://schemas.openxmlformats.org/drawingml/2006/main">
              <a:ext uri="{FF2B5EF4-FFF2-40B4-BE49-F238E27FC236}">
                <a16:creationId xmlns:a16="http://schemas.microsoft.com/office/drawing/2014/main" id="{1E23DC99-AC09-4793-8C79-F322C4FDDEDE}"/>
              </a:ext>
            </a:extLst>
          </p:cNvPr>
          <p:cNvSpPr>
            <a:spLocks xmlns:a="http://schemas.openxmlformats.org/drawingml/2006/main" noGrp="1"/>
          </p:cNvSpPr>
          <p:nvPr/>
        </p:nvSpPr>
        <p:spPr>
          <a:xfrm xmlns:a="http://schemas.openxmlformats.org/drawingml/2006/main">
            <a:off x="566928" y="3200400"/>
            <a:ext cx="11057839" cy="822960"/>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4089539F-7E89-4361-9015-0B79CD91BC81}"/>
              </a:ext>
            </a:extLst>
          </p:cNvPr>
          <p:cNvSpPr>
            <a:spLocks xmlns:a="http://schemas.openxmlformats.org/drawingml/2006/main" noGrp="1"/>
          </p:cNvSpPr>
          <p:nvPr/>
        </p:nvSpPr>
        <p:spPr>
          <a:xfrm xmlns:a="http://schemas.openxmlformats.org/drawingml/2006/main">
            <a:off x="786384" y="3474720"/>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03</a:t>
            </a:r>
            <a:endParaRPr sz="1500"/>
          </a:p>
        </p:txBody>
      </p:sp>
      <p:sp>
        <p:nvSpPr>
          <p:cNvPr id="16" name="Text 14">
            <a:extLst xmlns:a="http://schemas.openxmlformats.org/drawingml/2006/main">
              <a:ext uri="{FF2B5EF4-FFF2-40B4-BE49-F238E27FC236}">
                <a16:creationId xmlns:a16="http://schemas.microsoft.com/office/drawing/2014/main" id="{233C8114-00FB-4884-B53A-3F6694C97FE5}"/>
              </a:ext>
            </a:extLst>
          </p:cNvPr>
          <p:cNvSpPr>
            <a:spLocks xmlns:a="http://schemas.openxmlformats.org/drawingml/2006/main" noGrp="1"/>
          </p:cNvSpPr>
          <p:nvPr/>
        </p:nvSpPr>
        <p:spPr>
          <a:xfrm xmlns:a="http://schemas.openxmlformats.org/drawingml/2006/main">
            <a:off x="1280160" y="3346704"/>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100" b="1">
                <a:solidFill>
                  <a:srgbClr val="102A43"/>
                </a:solidFill>
                <a:latin typeface="Arial"/>
                <a:ea typeface="Arial"/>
                <a:cs typeface="Arial"/>
              </a:rPr>
              <a:t>What would you refuse to migrate?</a:t>
            </a:r>
            <a:endParaRPr sz="1100"/>
          </a:p>
        </p:txBody>
      </p:sp>
      <p:sp>
        <p:nvSpPr>
          <p:cNvPr id="17" name="Text 15">
            <a:extLst xmlns:a="http://schemas.openxmlformats.org/drawingml/2006/main">
              <a:ext uri="{FF2B5EF4-FFF2-40B4-BE49-F238E27FC236}">
                <a16:creationId xmlns:a16="http://schemas.microsoft.com/office/drawing/2014/main" id="{DFA1F588-27DA-4104-832A-B7F2584E6CB7}"/>
              </a:ext>
            </a:extLst>
          </p:cNvPr>
          <p:cNvSpPr>
            <a:spLocks xmlns:a="http://schemas.openxmlformats.org/drawingml/2006/main" noGrp="1"/>
          </p:cNvSpPr>
          <p:nvPr/>
        </p:nvSpPr>
        <p:spPr>
          <a:xfrm xmlns:a="http://schemas.openxmlformats.org/drawingml/2006/main">
            <a:off x="4681728" y="3346704"/>
            <a:ext cx="41148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The honesty probe. A supplier who wants to migrate everything has not done a large migration. The right answer names the categories that should stay in the legacy system and explains why.</a:t>
            </a:r>
            <a:endParaRPr sz="920"/>
          </a:p>
        </p:txBody>
      </p:sp>
      <p:sp>
        <p:nvSpPr>
          <p:cNvPr id="18" name="Text 16">
            <a:extLst xmlns:a="http://schemas.openxmlformats.org/drawingml/2006/main">
              <a:ext uri="{FF2B5EF4-FFF2-40B4-BE49-F238E27FC236}">
                <a16:creationId xmlns:a16="http://schemas.microsoft.com/office/drawing/2014/main" id="{69A3C40B-0ECC-4A60-BD1D-F7CFC1E6E0A1}"/>
              </a:ext>
            </a:extLst>
          </p:cNvPr>
          <p:cNvSpPr>
            <a:spLocks xmlns:a="http://schemas.openxmlformats.org/drawingml/2006/main" noGrp="1"/>
          </p:cNvSpPr>
          <p:nvPr/>
        </p:nvSpPr>
        <p:spPr>
          <a:xfrm xmlns:a="http://schemas.openxmlformats.org/drawingml/2006/main">
            <a:off x="8979408" y="3346704"/>
            <a:ext cx="25146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A decision tree, and the categories you would leave</a:t>
            </a:r>
            <a:endParaRPr sz="920"/>
          </a:p>
        </p:txBody>
      </p:sp>
      <p:sp>
        <p:nvSpPr>
          <p:cNvPr id="19" name="Shape 17">
            <a:extLst xmlns:a="http://schemas.openxmlformats.org/drawingml/2006/main">
              <a:ext uri="{FF2B5EF4-FFF2-40B4-BE49-F238E27FC236}">
                <a16:creationId xmlns:a16="http://schemas.microsoft.com/office/drawing/2014/main" id="{C4A46DE0-045B-4E96-9056-8B4245F25C12}"/>
              </a:ext>
            </a:extLst>
          </p:cNvPr>
          <p:cNvSpPr>
            <a:spLocks xmlns:a="http://schemas.openxmlformats.org/drawingml/2006/main" noGrp="1"/>
          </p:cNvSpPr>
          <p:nvPr/>
        </p:nvSpPr>
        <p:spPr>
          <a:xfrm xmlns:a="http://schemas.openxmlformats.org/drawingml/2006/main">
            <a:off x="566928" y="4133088"/>
            <a:ext cx="11057839" cy="822960"/>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CA07671B-C28D-48AF-B835-B92FD5D49A4E}"/>
              </a:ext>
            </a:extLst>
          </p:cNvPr>
          <p:cNvSpPr>
            <a:spLocks xmlns:a="http://schemas.openxmlformats.org/drawingml/2006/main" noGrp="1"/>
          </p:cNvSpPr>
          <p:nvPr/>
        </p:nvSpPr>
        <p:spPr>
          <a:xfrm xmlns:a="http://schemas.openxmlformats.org/drawingml/2006/main">
            <a:off x="786384" y="4407408"/>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04</a:t>
            </a:r>
            <a:endParaRPr sz="1500"/>
          </a:p>
        </p:txBody>
      </p:sp>
      <p:sp>
        <p:nvSpPr>
          <p:cNvPr id="21" name="Text 19">
            <a:extLst xmlns:a="http://schemas.openxmlformats.org/drawingml/2006/main">
              <a:ext uri="{FF2B5EF4-FFF2-40B4-BE49-F238E27FC236}">
                <a16:creationId xmlns:a16="http://schemas.microsoft.com/office/drawing/2014/main" id="{40E4D2DA-FBB4-434D-931B-CD5DD4B84F5C}"/>
              </a:ext>
            </a:extLst>
          </p:cNvPr>
          <p:cNvSpPr>
            <a:spLocks xmlns:a="http://schemas.openxmlformats.org/drawingml/2006/main" noGrp="1"/>
          </p:cNvSpPr>
          <p:nvPr/>
        </p:nvSpPr>
        <p:spPr>
          <a:xfrm xmlns:a="http://schemas.openxmlformats.org/drawingml/2006/main">
            <a:off x="1280160" y="4279392"/>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100" b="1">
                <a:solidFill>
                  <a:srgbClr val="102A43"/>
                </a:solidFill>
                <a:latin typeface="Arial"/>
                <a:ea typeface="Arial"/>
                <a:cs typeface="Arial"/>
              </a:rPr>
              <a:t>Walk me through your last serious incident</a:t>
            </a:r>
            <a:endParaRPr sz="1100"/>
          </a:p>
        </p:txBody>
      </p:sp>
      <p:sp>
        <p:nvSpPr>
          <p:cNvPr id="22" name="Text 20">
            <a:extLst xmlns:a="http://schemas.openxmlformats.org/drawingml/2006/main">
              <a:ext uri="{FF2B5EF4-FFF2-40B4-BE49-F238E27FC236}">
                <a16:creationId xmlns:a16="http://schemas.microsoft.com/office/drawing/2014/main" id="{6A539FAD-B6BC-4BC1-92F9-6559A94E8BFD}"/>
              </a:ext>
            </a:extLst>
          </p:cNvPr>
          <p:cNvSpPr>
            <a:spLocks xmlns:a="http://schemas.openxmlformats.org/drawingml/2006/main" noGrp="1"/>
          </p:cNvSpPr>
          <p:nvPr/>
        </p:nvSpPr>
        <p:spPr>
          <a:xfrm xmlns:a="http://schemas.openxmlformats.org/drawingml/2006/main">
            <a:off x="4681728" y="4279392"/>
            <a:ext cx="41148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Tests operating maturity more directly than any architecture question. Detection time, decision path, communication, root cause and what changed afterwards.</a:t>
            </a:r>
            <a:endParaRPr sz="920"/>
          </a:p>
        </p:txBody>
      </p:sp>
      <p:sp>
        <p:nvSpPr>
          <p:cNvPr id="23" name="Text 21">
            <a:extLst xmlns:a="http://schemas.openxmlformats.org/drawingml/2006/main">
              <a:ext uri="{FF2B5EF4-FFF2-40B4-BE49-F238E27FC236}">
                <a16:creationId xmlns:a16="http://schemas.microsoft.com/office/drawing/2014/main" id="{D9CB4E7F-CFDD-4E94-9604-5722028909A2}"/>
              </a:ext>
            </a:extLst>
          </p:cNvPr>
          <p:cNvSpPr>
            <a:spLocks xmlns:a="http://schemas.openxmlformats.org/drawingml/2006/main" noGrp="1"/>
          </p:cNvSpPr>
          <p:nvPr/>
        </p:nvSpPr>
        <p:spPr>
          <a:xfrm xmlns:a="http://schemas.openxmlformats.org/drawingml/2006/main">
            <a:off x="8979408" y="4279392"/>
            <a:ext cx="25146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B04A25"/>
                </a:solidFill>
                <a:latin typeface="Arial"/>
                <a:ea typeface="Arial"/>
                <a:cs typeface="Arial"/>
              </a:rPr>
              <a:t>One real incident, told with the uncomfortable parts intact</a:t>
            </a:r>
            <a:endParaRPr sz="920"/>
          </a:p>
        </p:txBody>
      </p:sp>
      <p:sp>
        <p:nvSpPr>
          <p:cNvPr id="24" name="Shape 22">
            <a:extLst xmlns:a="http://schemas.openxmlformats.org/drawingml/2006/main">
              <a:ext uri="{FF2B5EF4-FFF2-40B4-BE49-F238E27FC236}">
                <a16:creationId xmlns:a16="http://schemas.microsoft.com/office/drawing/2014/main" id="{4E1E396D-467E-4509-BB18-88B125E8CFB6}"/>
              </a:ext>
            </a:extLst>
          </p:cNvPr>
          <p:cNvSpPr>
            <a:spLocks xmlns:a="http://schemas.openxmlformats.org/drawingml/2006/main" noGrp="1"/>
          </p:cNvSpPr>
          <p:nvPr/>
        </p:nvSpPr>
        <p:spPr>
          <a:xfrm xmlns:a="http://schemas.openxmlformats.org/drawingml/2006/main">
            <a:off x="566928" y="5065776"/>
            <a:ext cx="11057839" cy="822960"/>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CD60DCFF-44E5-48CD-915F-7641544700D9}"/>
              </a:ext>
            </a:extLst>
          </p:cNvPr>
          <p:cNvSpPr>
            <a:spLocks xmlns:a="http://schemas.openxmlformats.org/drawingml/2006/main" noGrp="1"/>
          </p:cNvSpPr>
          <p:nvPr/>
        </p:nvSpPr>
        <p:spPr>
          <a:xfrm xmlns:a="http://schemas.openxmlformats.org/drawingml/2006/main">
            <a:off x="786384" y="5340096"/>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05</a:t>
            </a:r>
            <a:endParaRPr sz="1500"/>
          </a:p>
        </p:txBody>
      </p:sp>
      <p:sp>
        <p:nvSpPr>
          <p:cNvPr id="26" name="Text 24">
            <a:extLst xmlns:a="http://schemas.openxmlformats.org/drawingml/2006/main">
              <a:ext uri="{FF2B5EF4-FFF2-40B4-BE49-F238E27FC236}">
                <a16:creationId xmlns:a16="http://schemas.microsoft.com/office/drawing/2014/main" id="{3E3E2EA3-D48C-4849-992F-1814364BDFA9}"/>
              </a:ext>
            </a:extLst>
          </p:cNvPr>
          <p:cNvSpPr>
            <a:spLocks xmlns:a="http://schemas.openxmlformats.org/drawingml/2006/main" noGrp="1"/>
          </p:cNvSpPr>
          <p:nvPr/>
        </p:nvSpPr>
        <p:spPr>
          <a:xfrm xmlns:a="http://schemas.openxmlformats.org/drawingml/2006/main">
            <a:off x="1280160" y="5212080"/>
            <a:ext cx="3200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100" b="1">
                <a:solidFill>
                  <a:srgbClr val="102A43"/>
                </a:solidFill>
                <a:latin typeface="Arial"/>
                <a:ea typeface="Arial"/>
                <a:cs typeface="Arial"/>
              </a:rPr>
              <a:t>Make a change we have not scripted</a:t>
            </a:r>
            <a:endParaRPr sz="1100"/>
          </a:p>
        </p:txBody>
      </p:sp>
      <p:sp>
        <p:nvSpPr>
          <p:cNvPr id="27" name="Text 25">
            <a:extLst xmlns:a="http://schemas.openxmlformats.org/drawingml/2006/main">
              <a:ext uri="{FF2B5EF4-FFF2-40B4-BE49-F238E27FC236}">
                <a16:creationId xmlns:a16="http://schemas.microsoft.com/office/drawing/2014/main" id="{CB8EB308-9344-42D6-B7E7-9773CDA8C39F}"/>
              </a:ext>
            </a:extLst>
          </p:cNvPr>
          <p:cNvSpPr>
            <a:spLocks xmlns:a="http://schemas.openxmlformats.org/drawingml/2006/main" noGrp="1"/>
          </p:cNvSpPr>
          <p:nvPr/>
        </p:nvSpPr>
        <p:spPr>
          <a:xfrm xmlns:a="http://schemas.openxmlformats.org/drawingml/2006/main">
            <a:off x="4681728" y="5212080"/>
            <a:ext cx="41148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The configurability test. Ask for something adjacent to the demonstration and watch whether it is configuration or a conversation about a release.</a:t>
            </a:r>
            <a:endParaRPr sz="920"/>
          </a:p>
        </p:txBody>
      </p:sp>
      <p:sp>
        <p:nvSpPr>
          <p:cNvPr id="28" name="Text 26">
            <a:extLst xmlns:a="http://schemas.openxmlformats.org/drawingml/2006/main">
              <a:ext uri="{FF2B5EF4-FFF2-40B4-BE49-F238E27FC236}">
                <a16:creationId xmlns:a16="http://schemas.microsoft.com/office/drawing/2014/main" id="{BB1E07AE-6C57-4E01-A197-4FF85A3E883F}"/>
              </a:ext>
            </a:extLst>
          </p:cNvPr>
          <p:cNvSpPr>
            <a:spLocks xmlns:a="http://schemas.openxmlformats.org/drawingml/2006/main" noGrp="1"/>
          </p:cNvSpPr>
          <p:nvPr/>
        </p:nvSpPr>
        <p:spPr>
          <a:xfrm xmlns:a="http://schemas.openxmlformats.org/drawingml/2006/main">
            <a:off x="8979408" y="5212080"/>
            <a:ext cx="25146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Do it live, or say plainly what it would take</a:t>
            </a:r>
            <a:endParaRPr sz="920"/>
          </a:p>
        </p:txBody>
      </p:sp>
      <p:sp>
        <p:nvSpPr>
          <p:cNvPr id="29" name="Shape 27">
            <a:extLst xmlns:a="http://schemas.openxmlformats.org/drawingml/2006/main">
              <a:ext uri="{FF2B5EF4-FFF2-40B4-BE49-F238E27FC236}">
                <a16:creationId xmlns:a16="http://schemas.microsoft.com/office/drawing/2014/main" id="{A5FE6148-6F5C-4293-80AF-19D72B944CF0}"/>
              </a:ext>
            </a:extLst>
          </p:cNvPr>
          <p:cNvSpPr>
            <a:spLocks xmlns:a="http://schemas.openxmlformats.org/drawingml/2006/main" noGrp="1"/>
          </p:cNvSpPr>
          <p:nvPr/>
        </p:nvSpPr>
        <p:spPr>
          <a:xfrm xmlns:a="http://schemas.openxmlformats.org/drawingml/2006/main">
            <a:off x="566928" y="6089904"/>
            <a:ext cx="11057839" cy="0"/>
          </a:xfrm>
          <a:prstGeom xmlns:a="http://schemas.openxmlformats.org/drawingml/2006/main" prst="rect">
            <a:avLst/>
          </a:prstGeom>
          <a:solidFill xmlns:a="http://schemas.openxmlformats.org/drawingml/2006/main">
            <a:srgbClr val="F3E6E0"/>
          </a:solidFill>
        </p:spPr>
      </p:sp>
      <p:sp>
        <p:nvSpPr>
          <p:cNvPr id="30" name="Text 28">
            <a:extLst xmlns:a="http://schemas.openxmlformats.org/drawingml/2006/main">
              <a:ext uri="{FF2B5EF4-FFF2-40B4-BE49-F238E27FC236}">
                <a16:creationId xmlns:a16="http://schemas.microsoft.com/office/drawing/2014/main" id="{A8B8010B-1D7C-4B7F-AB8B-30B2F2D888B5}"/>
              </a:ext>
            </a:extLst>
          </p:cNvPr>
          <p:cNvSpPr>
            <a:spLocks xmlns:a="http://schemas.openxmlformats.org/drawingml/2006/main" noGrp="1"/>
          </p:cNvSpPr>
          <p:nvPr/>
        </p:nvSpPr>
        <p:spPr>
          <a:xfrm xmlns:a="http://schemas.openxmlformats.org/drawingml/2006/main" flipV="1">
            <a:off x="804672" y="5943600"/>
            <a:ext cx="10582351"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 </a:t>
            </a:r>
            <a:endParaRPr sz="990"/>
          </a:p>
        </p:txBody>
      </p:sp>
      <p:sp>
        <p:nvSpPr>
          <p:cNvPr id="31" name="Shape 29">
            <a:extLst xmlns:a="http://schemas.openxmlformats.org/drawingml/2006/main">
              <a:ext uri="{FF2B5EF4-FFF2-40B4-BE49-F238E27FC236}">
                <a16:creationId xmlns:a16="http://schemas.microsoft.com/office/drawing/2014/main" id="{44C96E81-6C4E-4A13-9F2A-098308179CD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2" name="Text 30">
            <a:extLst xmlns:a="http://schemas.openxmlformats.org/drawingml/2006/main">
              <a:ext uri="{FF2B5EF4-FFF2-40B4-BE49-F238E27FC236}">
                <a16:creationId xmlns:a16="http://schemas.microsoft.com/office/drawing/2014/main" id="{CFCAE60B-3865-46BD-8DCA-CA8241374CF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technical evaluation days</a:t>
            </a:r>
            <a:endParaRPr sz="850"/>
          </a:p>
        </p:txBody>
      </p:sp>
      <p:sp>
        <p:nvSpPr>
          <p:cNvPr id="33" name="Text 31">
            <a:extLst xmlns:a="http://schemas.openxmlformats.org/drawingml/2006/main">
              <a:ext uri="{FF2B5EF4-FFF2-40B4-BE49-F238E27FC236}">
                <a16:creationId xmlns:a16="http://schemas.microsoft.com/office/drawing/2014/main" id="{6A49472D-C758-449E-813C-F494FF353DD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36953004"/>
      </p:ext>
    </p:extLst>
  </p:cSld>
</p:sld>
</file>

<file path=ppt/slides/slide24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07E1260-16F0-42FB-9783-286A6BFC7CD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FAILURE MODES</a:t>
            </a:r>
            <a:endParaRPr sz="950"/>
          </a:p>
        </p:txBody>
      </p:sp>
      <p:sp>
        <p:nvSpPr>
          <p:cNvPr id="3" name="Text 1">
            <a:extLst xmlns:a="http://schemas.openxmlformats.org/drawingml/2006/main">
              <a:ext uri="{FF2B5EF4-FFF2-40B4-BE49-F238E27FC236}">
                <a16:creationId xmlns:a16="http://schemas.microsoft.com/office/drawing/2014/main" id="{CFE64000-9AB2-432D-ACCB-EE0100730B0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ways strong platforms lose technical evaluation days — four are preparation</a:t>
            </a:r>
            <a:endParaRPr sz="1900"/>
          </a:p>
          <a:p xmlns:a="http://schemas.openxmlformats.org/drawingml/2006/main">
            <a:pPr marL="0" indent="0">
              <a:lnSpc>
                <a:spcPts val="2400"/>
              </a:lnSpc>
              <a:buNone/>
            </a:pPr>
            <a:r>
              <a:rPr sz="1900" b="1">
                <a:solidFill>
                  <a:srgbClr val="102A43"/>
                </a:solidFill>
                <a:latin typeface="Arial"/>
                <a:ea typeface="Arial"/>
                <a:cs typeface="Arial"/>
              </a:rPr>
              <a:t>failures and the fifth is a hygiene failure</a:t>
            </a:r>
            <a:endParaRPr sz="1900"/>
          </a:p>
        </p:txBody>
      </p:sp>
      <p:sp>
        <p:nvSpPr>
          <p:cNvPr id="4" name="Shape 2">
            <a:extLst xmlns:a="http://schemas.openxmlformats.org/drawingml/2006/main">
              <a:ext uri="{FF2B5EF4-FFF2-40B4-BE49-F238E27FC236}">
                <a16:creationId xmlns:a16="http://schemas.microsoft.com/office/drawing/2014/main" id="{DF11CEB2-250C-4C88-8BF4-5241FE7EE0DE}"/>
              </a:ext>
            </a:extLst>
          </p:cNvPr>
          <p:cNvSpPr>
            <a:spLocks xmlns:a="http://schemas.openxmlformats.org/drawingml/2006/main" noGrp="1"/>
          </p:cNvSpPr>
          <p:nvPr/>
        </p:nvSpPr>
        <p:spPr>
          <a:xfrm xmlns:a="http://schemas.openxmlformats.org/drawingml/2006/main">
            <a:off x="566928" y="1335024"/>
            <a:ext cx="2123785" cy="356616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9982CE85-98D7-4AE9-A839-4FD40ED8A749}"/>
              </a:ext>
            </a:extLst>
          </p:cNvPr>
          <p:cNvSpPr>
            <a:spLocks xmlns:a="http://schemas.openxmlformats.org/drawingml/2006/main" noGrp="1"/>
          </p:cNvSpPr>
          <p:nvPr/>
        </p:nvSpPr>
        <p:spPr>
          <a:xfrm xmlns:a="http://schemas.openxmlformats.org/drawingml/2006/main">
            <a:off x="749808"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5F0147AD-45D4-4785-B852-A6AE45F4F7A2}"/>
              </a:ext>
            </a:extLst>
          </p:cNvPr>
          <p:cNvSpPr>
            <a:spLocks xmlns:a="http://schemas.openxmlformats.org/drawingml/2006/main" noGrp="1"/>
          </p:cNvSpPr>
          <p:nvPr/>
        </p:nvSpPr>
        <p:spPr>
          <a:xfrm xmlns:a="http://schemas.openxmlformats.org/drawingml/2006/main">
            <a:off x="749808" y="1700784"/>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The diagram with no author in the room</a:t>
            </a:r>
            <a:endParaRPr sz="1120"/>
          </a:p>
        </p:txBody>
      </p:sp>
      <p:sp>
        <p:nvSpPr>
          <p:cNvPr id="7" name="Text 5">
            <a:extLst xmlns:a="http://schemas.openxmlformats.org/drawingml/2006/main">
              <a:ext uri="{FF2B5EF4-FFF2-40B4-BE49-F238E27FC236}">
                <a16:creationId xmlns:a16="http://schemas.microsoft.com/office/drawing/2014/main" id="{370E6C03-6A4F-4198-A571-2AFB26059DC9}"/>
              </a:ext>
            </a:extLst>
          </p:cNvPr>
          <p:cNvSpPr>
            <a:spLocks xmlns:a="http://schemas.openxmlformats.org/drawingml/2006/main" noGrp="1"/>
          </p:cNvSpPr>
          <p:nvPr/>
        </p:nvSpPr>
        <p:spPr>
          <a:xfrm xmlns:a="http://schemas.openxmlformats.org/drawingml/2006/main">
            <a:off x="749808" y="2432304"/>
            <a:ext cx="175802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Architecture is presented by someone who did not design it. The first question outside the diagram exposes it, and everything afterwards is discounted.</a:t>
            </a:r>
            <a:endParaRPr sz="920"/>
          </a:p>
        </p:txBody>
      </p:sp>
      <p:sp>
        <p:nvSpPr>
          <p:cNvPr id="8" name="Shape 6">
            <a:extLst xmlns:a="http://schemas.openxmlformats.org/drawingml/2006/main">
              <a:ext uri="{FF2B5EF4-FFF2-40B4-BE49-F238E27FC236}">
                <a16:creationId xmlns:a16="http://schemas.microsoft.com/office/drawing/2014/main" id="{5BCDCFB6-C22F-4F18-9FAF-9B47337DBDAF}"/>
              </a:ext>
            </a:extLst>
          </p:cNvPr>
          <p:cNvSpPr>
            <a:spLocks xmlns:a="http://schemas.openxmlformats.org/drawingml/2006/main" noGrp="1"/>
          </p:cNvSpPr>
          <p:nvPr/>
        </p:nvSpPr>
        <p:spPr>
          <a:xfrm xmlns:a="http://schemas.openxmlformats.org/drawingml/2006/main">
            <a:off x="749808" y="3877056"/>
            <a:ext cx="1758025" cy="13716"/>
          </a:xfrm>
          <a:prstGeom xmlns:a="http://schemas.openxmlformats.org/drawingml/2006/main" prst="rect">
            <a:avLst/>
          </a:prstGeom>
          <a:solidFill xmlns:a="http://schemas.openxmlformats.org/drawingml/2006/main">
            <a:srgbClr val="C6D2DE"/>
          </a:solidFill>
        </p:spPr>
      </p:sp>
      <p:sp>
        <p:nvSpPr>
          <p:cNvPr id="9" name="Text 7">
            <a:extLst xmlns:a="http://schemas.openxmlformats.org/drawingml/2006/main">
              <a:ext uri="{FF2B5EF4-FFF2-40B4-BE49-F238E27FC236}">
                <a16:creationId xmlns:a16="http://schemas.microsoft.com/office/drawing/2014/main" id="{300DC6C3-7772-432F-AEB0-639AC140CFD9}"/>
              </a:ext>
            </a:extLst>
          </p:cNvPr>
          <p:cNvSpPr>
            <a:spLocks xmlns:a="http://schemas.openxmlformats.org/drawingml/2006/main" noGrp="1"/>
          </p:cNvSpPr>
          <p:nvPr/>
        </p:nvSpPr>
        <p:spPr>
          <a:xfrm xmlns:a="http://schemas.openxmlformats.org/drawingml/2006/main">
            <a:off x="749808" y="3986784"/>
            <a:ext cx="17580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10" name="Text 8">
            <a:extLst xmlns:a="http://schemas.openxmlformats.org/drawingml/2006/main">
              <a:ext uri="{FF2B5EF4-FFF2-40B4-BE49-F238E27FC236}">
                <a16:creationId xmlns:a16="http://schemas.microsoft.com/office/drawing/2014/main" id="{E876509D-CF72-4EE6-9E2C-25447FE346E3}"/>
              </a:ext>
            </a:extLst>
          </p:cNvPr>
          <p:cNvSpPr>
            <a:spLocks xmlns:a="http://schemas.openxmlformats.org/drawingml/2006/main" noGrp="1"/>
          </p:cNvSpPr>
          <p:nvPr/>
        </p:nvSpPr>
        <p:spPr>
          <a:xfrm xmlns:a="http://schemas.openxmlformats.org/drawingml/2006/main">
            <a:off x="749808" y="4187952"/>
            <a:ext cx="175802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1A1A1A"/>
                </a:solidFill>
                <a:latin typeface="Arial"/>
                <a:ea typeface="Arial"/>
                <a:cs typeface="Arial"/>
              </a:rPr>
              <a:t>Bring the designer. If they cannot attend, do not present their diagram as your own.</a:t>
            </a:r>
            <a:endParaRPr sz="920"/>
          </a:p>
        </p:txBody>
      </p:sp>
      <p:sp>
        <p:nvSpPr>
          <p:cNvPr id="11" name="Shape 9">
            <a:extLst xmlns:a="http://schemas.openxmlformats.org/drawingml/2006/main">
              <a:ext uri="{FF2B5EF4-FFF2-40B4-BE49-F238E27FC236}">
                <a16:creationId xmlns:a16="http://schemas.microsoft.com/office/drawing/2014/main" id="{6065362C-D31F-47FB-AA67-AF4FD17D6F1A}"/>
              </a:ext>
            </a:extLst>
          </p:cNvPr>
          <p:cNvSpPr>
            <a:spLocks xmlns:a="http://schemas.openxmlformats.org/drawingml/2006/main" noGrp="1"/>
          </p:cNvSpPr>
          <p:nvPr/>
        </p:nvSpPr>
        <p:spPr>
          <a:xfrm xmlns:a="http://schemas.openxmlformats.org/drawingml/2006/main">
            <a:off x="2800441" y="1335024"/>
            <a:ext cx="2123785" cy="3566160"/>
          </a:xfrm>
          <a:prstGeom xmlns:a="http://schemas.openxmlformats.org/drawingml/2006/main" prst="rect">
            <a:avLst/>
          </a:prstGeom>
          <a:solidFill xmlns:a="http://schemas.openxmlformats.org/drawingml/2006/main">
            <a:srgbClr val="F0F4F8"/>
          </a:solidFill>
        </p:spPr>
      </p:sp>
      <p:sp>
        <p:nvSpPr>
          <p:cNvPr id="12" name="Text 10">
            <a:extLst xmlns:a="http://schemas.openxmlformats.org/drawingml/2006/main">
              <a:ext uri="{FF2B5EF4-FFF2-40B4-BE49-F238E27FC236}">
                <a16:creationId xmlns:a16="http://schemas.microsoft.com/office/drawing/2014/main" id="{35A3FF87-480D-402D-BF1F-0EDC36CA8D11}"/>
              </a:ext>
            </a:extLst>
          </p:cNvPr>
          <p:cNvSpPr>
            <a:spLocks xmlns:a="http://schemas.openxmlformats.org/drawingml/2006/main" noGrp="1"/>
          </p:cNvSpPr>
          <p:nvPr/>
        </p:nvSpPr>
        <p:spPr>
          <a:xfrm xmlns:a="http://schemas.openxmlformats.org/drawingml/2006/main">
            <a:off x="2983321"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3" name="Text 11">
            <a:extLst xmlns:a="http://schemas.openxmlformats.org/drawingml/2006/main">
              <a:ext uri="{FF2B5EF4-FFF2-40B4-BE49-F238E27FC236}">
                <a16:creationId xmlns:a16="http://schemas.microsoft.com/office/drawing/2014/main" id="{128131B7-26B3-44CA-9881-40B1693B5B9C}"/>
              </a:ext>
            </a:extLst>
          </p:cNvPr>
          <p:cNvSpPr>
            <a:spLocks xmlns:a="http://schemas.openxmlformats.org/drawingml/2006/main" noGrp="1"/>
          </p:cNvSpPr>
          <p:nvPr/>
        </p:nvSpPr>
        <p:spPr>
          <a:xfrm xmlns:a="http://schemas.openxmlformats.org/drawingml/2006/main">
            <a:off x="2983321" y="1700784"/>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Datasheet numbers with no method</a:t>
            </a:r>
            <a:endParaRPr sz="1120"/>
          </a:p>
        </p:txBody>
      </p:sp>
      <p:sp>
        <p:nvSpPr>
          <p:cNvPr id="14" name="Text 12">
            <a:extLst xmlns:a="http://schemas.openxmlformats.org/drawingml/2006/main">
              <a:ext uri="{FF2B5EF4-FFF2-40B4-BE49-F238E27FC236}">
                <a16:creationId xmlns:a16="http://schemas.microsoft.com/office/drawing/2014/main" id="{958E27C2-98A1-429E-B4EB-AD9D9BF61A51}"/>
              </a:ext>
            </a:extLst>
          </p:cNvPr>
          <p:cNvSpPr>
            <a:spLocks xmlns:a="http://schemas.openxmlformats.org/drawingml/2006/main" noGrp="1"/>
          </p:cNvSpPr>
          <p:nvPr/>
        </p:nvSpPr>
        <p:spPr>
          <a:xfrm xmlns:a="http://schemas.openxmlformats.org/drawingml/2006/main">
            <a:off x="2983321" y="2432304"/>
            <a:ext cx="175802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Concurrency and throughput figures quoted without the test conditions that produced them. An engineering panel treats an unattributed number as no number.</a:t>
            </a:r>
            <a:endParaRPr sz="920"/>
          </a:p>
        </p:txBody>
      </p:sp>
      <p:sp>
        <p:nvSpPr>
          <p:cNvPr id="15" name="Shape 13">
            <a:extLst xmlns:a="http://schemas.openxmlformats.org/drawingml/2006/main">
              <a:ext uri="{FF2B5EF4-FFF2-40B4-BE49-F238E27FC236}">
                <a16:creationId xmlns:a16="http://schemas.microsoft.com/office/drawing/2014/main" id="{52071EB0-ABE8-4719-97F9-564B6417D685}"/>
              </a:ext>
            </a:extLst>
          </p:cNvPr>
          <p:cNvSpPr>
            <a:spLocks xmlns:a="http://schemas.openxmlformats.org/drawingml/2006/main" noGrp="1"/>
          </p:cNvSpPr>
          <p:nvPr/>
        </p:nvSpPr>
        <p:spPr>
          <a:xfrm xmlns:a="http://schemas.openxmlformats.org/drawingml/2006/main">
            <a:off x="2983321" y="3877056"/>
            <a:ext cx="1758025" cy="13716"/>
          </a:xfrm>
          <a:prstGeom xmlns:a="http://schemas.openxmlformats.org/drawingml/2006/main" prst="rect">
            <a:avLst/>
          </a:prstGeom>
          <a:solidFill xmlns:a="http://schemas.openxmlformats.org/drawingml/2006/main">
            <a:srgbClr val="C6D2DE"/>
          </a:solidFill>
        </p:spPr>
      </p:sp>
      <p:sp>
        <p:nvSpPr>
          <p:cNvPr id="16" name="Text 14">
            <a:extLst xmlns:a="http://schemas.openxmlformats.org/drawingml/2006/main">
              <a:ext uri="{FF2B5EF4-FFF2-40B4-BE49-F238E27FC236}">
                <a16:creationId xmlns:a16="http://schemas.microsoft.com/office/drawing/2014/main" id="{6B662E73-A813-420D-A4D3-E15664A8576E}"/>
              </a:ext>
            </a:extLst>
          </p:cNvPr>
          <p:cNvSpPr>
            <a:spLocks xmlns:a="http://schemas.openxmlformats.org/drawingml/2006/main" noGrp="1"/>
          </p:cNvSpPr>
          <p:nvPr/>
        </p:nvSpPr>
        <p:spPr>
          <a:xfrm xmlns:a="http://schemas.openxmlformats.org/drawingml/2006/main">
            <a:off x="2983321" y="3986784"/>
            <a:ext cx="17580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17" name="Text 15">
            <a:extLst xmlns:a="http://schemas.openxmlformats.org/drawingml/2006/main">
              <a:ext uri="{FF2B5EF4-FFF2-40B4-BE49-F238E27FC236}">
                <a16:creationId xmlns:a16="http://schemas.microsoft.com/office/drawing/2014/main" id="{41699004-D100-45BF-ABA5-91F8B124F183}"/>
              </a:ext>
            </a:extLst>
          </p:cNvPr>
          <p:cNvSpPr>
            <a:spLocks xmlns:a="http://schemas.openxmlformats.org/drawingml/2006/main" noGrp="1"/>
          </p:cNvSpPr>
          <p:nvPr/>
        </p:nvSpPr>
        <p:spPr>
          <a:xfrm xmlns:a="http://schemas.openxmlformats.org/drawingml/2006/main">
            <a:off x="2983321" y="4187952"/>
            <a:ext cx="175802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1A1A1A"/>
                </a:solidFill>
                <a:latin typeface="Arial"/>
                <a:ea typeface="Arial"/>
                <a:cs typeface="Arial"/>
              </a:rPr>
              <a:t>Quote fewer numbers, each with its load profile, environment and date.</a:t>
            </a:r>
            <a:endParaRPr sz="920"/>
          </a:p>
        </p:txBody>
      </p:sp>
      <p:sp>
        <p:nvSpPr>
          <p:cNvPr id="18" name="Shape 16">
            <a:extLst xmlns:a="http://schemas.openxmlformats.org/drawingml/2006/main">
              <a:ext uri="{FF2B5EF4-FFF2-40B4-BE49-F238E27FC236}">
                <a16:creationId xmlns:a16="http://schemas.microsoft.com/office/drawing/2014/main" id="{EED9FBE1-75D9-48F1-BBCB-754C55ED6E01}"/>
              </a:ext>
            </a:extLst>
          </p:cNvPr>
          <p:cNvSpPr>
            <a:spLocks xmlns:a="http://schemas.openxmlformats.org/drawingml/2006/main" noGrp="1"/>
          </p:cNvSpPr>
          <p:nvPr/>
        </p:nvSpPr>
        <p:spPr>
          <a:xfrm xmlns:a="http://schemas.openxmlformats.org/drawingml/2006/main">
            <a:off x="5033955" y="1335024"/>
            <a:ext cx="2123785" cy="3566160"/>
          </a:xfrm>
          <a:prstGeom xmlns:a="http://schemas.openxmlformats.org/drawingml/2006/main" prst="rect">
            <a:avLst/>
          </a:prstGeom>
          <a:solidFill xmlns:a="http://schemas.openxmlformats.org/drawingml/2006/main">
            <a:srgbClr val="F0F4F8"/>
          </a:solidFill>
        </p:spPr>
      </p:sp>
      <p:sp>
        <p:nvSpPr>
          <p:cNvPr id="19" name="Text 17">
            <a:extLst xmlns:a="http://schemas.openxmlformats.org/drawingml/2006/main">
              <a:ext uri="{FF2B5EF4-FFF2-40B4-BE49-F238E27FC236}">
                <a16:creationId xmlns:a16="http://schemas.microsoft.com/office/drawing/2014/main" id="{32E44936-17B4-4DF2-A211-D7A0ECCBE1B8}"/>
              </a:ext>
            </a:extLst>
          </p:cNvPr>
          <p:cNvSpPr>
            <a:spLocks xmlns:a="http://schemas.openxmlformats.org/drawingml/2006/main" noGrp="1"/>
          </p:cNvSpPr>
          <p:nvPr/>
        </p:nvSpPr>
        <p:spPr>
          <a:xfrm xmlns:a="http://schemas.openxmlformats.org/drawingml/2006/main">
            <a:off x="5216835"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20" name="Text 18">
            <a:extLst xmlns:a="http://schemas.openxmlformats.org/drawingml/2006/main">
              <a:ext uri="{FF2B5EF4-FFF2-40B4-BE49-F238E27FC236}">
                <a16:creationId xmlns:a16="http://schemas.microsoft.com/office/drawing/2014/main" id="{B90CA658-668B-452B-A044-7714904C3396}"/>
              </a:ext>
            </a:extLst>
          </p:cNvPr>
          <p:cNvSpPr>
            <a:spLocks xmlns:a="http://schemas.openxmlformats.org/drawingml/2006/main" noGrp="1"/>
          </p:cNvSpPr>
          <p:nvPr/>
        </p:nvSpPr>
        <p:spPr>
          <a:xfrm xmlns:a="http://schemas.openxmlformats.org/drawingml/2006/main">
            <a:off x="5216835" y="1700784"/>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Certificates instead of controls</a:t>
            </a:r>
            <a:endParaRPr sz="1120"/>
          </a:p>
        </p:txBody>
      </p:sp>
      <p:sp>
        <p:nvSpPr>
          <p:cNvPr id="21" name="Text 19">
            <a:extLst xmlns:a="http://schemas.openxmlformats.org/drawingml/2006/main">
              <a:ext uri="{FF2B5EF4-FFF2-40B4-BE49-F238E27FC236}">
                <a16:creationId xmlns:a16="http://schemas.microsoft.com/office/drawing/2014/main" id="{63B5757D-692C-46E6-B1A5-E36FB63AFDAB}"/>
              </a:ext>
            </a:extLst>
          </p:cNvPr>
          <p:cNvSpPr>
            <a:spLocks xmlns:a="http://schemas.openxmlformats.org/drawingml/2006/main" noGrp="1"/>
          </p:cNvSpPr>
          <p:nvPr/>
        </p:nvSpPr>
        <p:spPr>
          <a:xfrm xmlns:a="http://schemas.openxmlformats.org/drawingml/2006/main">
            <a:off x="5216835" y="2432304"/>
            <a:ext cx="175802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Security answered with a list of accreditations rather than with the control that stops the specific attack asked about.</a:t>
            </a:r>
            <a:endParaRPr sz="920"/>
          </a:p>
        </p:txBody>
      </p:sp>
      <p:sp>
        <p:nvSpPr>
          <p:cNvPr id="22" name="Shape 20">
            <a:extLst xmlns:a="http://schemas.openxmlformats.org/drawingml/2006/main">
              <a:ext uri="{FF2B5EF4-FFF2-40B4-BE49-F238E27FC236}">
                <a16:creationId xmlns:a16="http://schemas.microsoft.com/office/drawing/2014/main" id="{F0997939-4D12-467A-A7C1-2FD94172A202}"/>
              </a:ext>
            </a:extLst>
          </p:cNvPr>
          <p:cNvSpPr>
            <a:spLocks xmlns:a="http://schemas.openxmlformats.org/drawingml/2006/main" noGrp="1"/>
          </p:cNvSpPr>
          <p:nvPr/>
        </p:nvSpPr>
        <p:spPr>
          <a:xfrm xmlns:a="http://schemas.openxmlformats.org/drawingml/2006/main">
            <a:off x="5216835" y="3877056"/>
            <a:ext cx="1758025"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9E93187D-3909-491C-A587-664FC4727908}"/>
              </a:ext>
            </a:extLst>
          </p:cNvPr>
          <p:cNvSpPr>
            <a:spLocks xmlns:a="http://schemas.openxmlformats.org/drawingml/2006/main" noGrp="1"/>
          </p:cNvSpPr>
          <p:nvPr/>
        </p:nvSpPr>
        <p:spPr>
          <a:xfrm xmlns:a="http://schemas.openxmlformats.org/drawingml/2006/main">
            <a:off x="5216835" y="3986784"/>
            <a:ext cx="17580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24" name="Text 22">
            <a:extLst xmlns:a="http://schemas.openxmlformats.org/drawingml/2006/main">
              <a:ext uri="{FF2B5EF4-FFF2-40B4-BE49-F238E27FC236}">
                <a16:creationId xmlns:a16="http://schemas.microsoft.com/office/drawing/2014/main" id="{92005582-124F-47E4-A4C5-6177C0A01940}"/>
              </a:ext>
            </a:extLst>
          </p:cNvPr>
          <p:cNvSpPr>
            <a:spLocks xmlns:a="http://schemas.openxmlformats.org/drawingml/2006/main" noGrp="1"/>
          </p:cNvSpPr>
          <p:nvPr/>
        </p:nvSpPr>
        <p:spPr>
          <a:xfrm xmlns:a="http://schemas.openxmlformats.org/drawingml/2006/main">
            <a:off x="5216835" y="4187952"/>
            <a:ext cx="175802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1A1A1A"/>
                </a:solidFill>
                <a:latin typeface="Arial"/>
                <a:ea typeface="Arial"/>
                <a:cs typeface="Arial"/>
              </a:rPr>
              <a:t>Lead with the control, cite the certificate as corroboration afterwards.</a:t>
            </a:r>
            <a:endParaRPr sz="920"/>
          </a:p>
        </p:txBody>
      </p:sp>
      <p:sp>
        <p:nvSpPr>
          <p:cNvPr id="25" name="Shape 23">
            <a:extLst xmlns:a="http://schemas.openxmlformats.org/drawingml/2006/main">
              <a:ext uri="{FF2B5EF4-FFF2-40B4-BE49-F238E27FC236}">
                <a16:creationId xmlns:a16="http://schemas.microsoft.com/office/drawing/2014/main" id="{F74FC220-46A8-4AB7-9609-1755A36A946B}"/>
              </a:ext>
            </a:extLst>
          </p:cNvPr>
          <p:cNvSpPr>
            <a:spLocks xmlns:a="http://schemas.openxmlformats.org/drawingml/2006/main" noGrp="1"/>
          </p:cNvSpPr>
          <p:nvPr/>
        </p:nvSpPr>
        <p:spPr>
          <a:xfrm xmlns:a="http://schemas.openxmlformats.org/drawingml/2006/main">
            <a:off x="7267468" y="1335024"/>
            <a:ext cx="2123785" cy="3566160"/>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DA4FF901-3B34-4DD8-83C1-11C96C5D793B}"/>
              </a:ext>
            </a:extLst>
          </p:cNvPr>
          <p:cNvSpPr>
            <a:spLocks xmlns:a="http://schemas.openxmlformats.org/drawingml/2006/main" noGrp="1"/>
          </p:cNvSpPr>
          <p:nvPr/>
        </p:nvSpPr>
        <p:spPr>
          <a:xfrm xmlns:a="http://schemas.openxmlformats.org/drawingml/2006/main">
            <a:off x="7450348"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27" name="Text 25">
            <a:extLst xmlns:a="http://schemas.openxmlformats.org/drawingml/2006/main">
              <a:ext uri="{FF2B5EF4-FFF2-40B4-BE49-F238E27FC236}">
                <a16:creationId xmlns:a16="http://schemas.microsoft.com/office/drawing/2014/main" id="{7D94B103-7C36-412A-8BB4-3512AF84A27D}"/>
              </a:ext>
            </a:extLst>
          </p:cNvPr>
          <p:cNvSpPr>
            <a:spLocks xmlns:a="http://schemas.openxmlformats.org/drawingml/2006/main" noGrp="1"/>
          </p:cNvSpPr>
          <p:nvPr/>
        </p:nvSpPr>
        <p:spPr>
          <a:xfrm xmlns:a="http://schemas.openxmlformats.org/drawingml/2006/main">
            <a:off x="7450348" y="1700784"/>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Migrating everything</a:t>
            </a:r>
            <a:endParaRPr sz="1120"/>
          </a:p>
        </p:txBody>
      </p:sp>
      <p:sp>
        <p:nvSpPr>
          <p:cNvPr id="28" name="Text 26">
            <a:extLst xmlns:a="http://schemas.openxmlformats.org/drawingml/2006/main">
              <a:ext uri="{FF2B5EF4-FFF2-40B4-BE49-F238E27FC236}">
                <a16:creationId xmlns:a16="http://schemas.microsoft.com/office/drawing/2014/main" id="{ABFE9AD7-D27C-41B8-B6D1-AD9618FE6D61}"/>
              </a:ext>
            </a:extLst>
          </p:cNvPr>
          <p:cNvSpPr>
            <a:spLocks xmlns:a="http://schemas.openxmlformats.org/drawingml/2006/main" noGrp="1"/>
          </p:cNvSpPr>
          <p:nvPr/>
        </p:nvSpPr>
        <p:spPr>
          <a:xfrm xmlns:a="http://schemas.openxmlformats.org/drawingml/2006/main">
            <a:off x="7450348" y="2432304"/>
            <a:ext cx="175802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An offer to migrate the full history, unprompted. Reads as inexperience to anyone who has run a large migration and had to defend the data quality afterwards.</a:t>
            </a:r>
            <a:endParaRPr sz="920"/>
          </a:p>
        </p:txBody>
      </p:sp>
      <p:sp>
        <p:nvSpPr>
          <p:cNvPr id="29" name="Shape 27">
            <a:extLst xmlns:a="http://schemas.openxmlformats.org/drawingml/2006/main">
              <a:ext uri="{FF2B5EF4-FFF2-40B4-BE49-F238E27FC236}">
                <a16:creationId xmlns:a16="http://schemas.microsoft.com/office/drawing/2014/main" id="{B1DD8877-040F-4339-9AE6-6F5794FDA53B}"/>
              </a:ext>
            </a:extLst>
          </p:cNvPr>
          <p:cNvSpPr>
            <a:spLocks xmlns:a="http://schemas.openxmlformats.org/drawingml/2006/main" noGrp="1"/>
          </p:cNvSpPr>
          <p:nvPr/>
        </p:nvSpPr>
        <p:spPr>
          <a:xfrm xmlns:a="http://schemas.openxmlformats.org/drawingml/2006/main">
            <a:off x="7450348" y="3877056"/>
            <a:ext cx="1758025" cy="13716"/>
          </a:xfrm>
          <a:prstGeom xmlns:a="http://schemas.openxmlformats.org/drawingml/2006/main" prst="rect">
            <a:avLst/>
          </a:prstGeom>
          <a:solidFill xmlns:a="http://schemas.openxmlformats.org/drawingml/2006/main">
            <a:srgbClr val="C6D2DE"/>
          </a:solidFill>
        </p:spPr>
      </p:sp>
      <p:sp>
        <p:nvSpPr>
          <p:cNvPr id="30" name="Text 28">
            <a:extLst xmlns:a="http://schemas.openxmlformats.org/drawingml/2006/main">
              <a:ext uri="{FF2B5EF4-FFF2-40B4-BE49-F238E27FC236}">
                <a16:creationId xmlns:a16="http://schemas.microsoft.com/office/drawing/2014/main" id="{4A43C09F-F32C-4A3E-8B70-C2676B5657D7}"/>
              </a:ext>
            </a:extLst>
          </p:cNvPr>
          <p:cNvSpPr>
            <a:spLocks xmlns:a="http://schemas.openxmlformats.org/drawingml/2006/main" noGrp="1"/>
          </p:cNvSpPr>
          <p:nvPr/>
        </p:nvSpPr>
        <p:spPr>
          <a:xfrm xmlns:a="http://schemas.openxmlformats.org/drawingml/2006/main">
            <a:off x="7450348" y="3986784"/>
            <a:ext cx="17580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31" name="Text 29">
            <a:extLst xmlns:a="http://schemas.openxmlformats.org/drawingml/2006/main">
              <a:ext uri="{FF2B5EF4-FFF2-40B4-BE49-F238E27FC236}">
                <a16:creationId xmlns:a16="http://schemas.microsoft.com/office/drawing/2014/main" id="{35A83D33-B7D9-4C54-B1DF-85CA6CC126C7}"/>
              </a:ext>
            </a:extLst>
          </p:cNvPr>
          <p:cNvSpPr>
            <a:spLocks xmlns:a="http://schemas.openxmlformats.org/drawingml/2006/main" noGrp="1"/>
          </p:cNvSpPr>
          <p:nvPr/>
        </p:nvSpPr>
        <p:spPr>
          <a:xfrm xmlns:a="http://schemas.openxmlformats.org/drawingml/2006/main">
            <a:off x="7450348" y="4187952"/>
            <a:ext cx="175802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1A1A1A"/>
                </a:solidFill>
                <a:latin typeface="Arial"/>
                <a:ea typeface="Arial"/>
                <a:cs typeface="Arial"/>
              </a:rPr>
              <a:t>Bring a migration decision tree and the categories you would refuse.</a:t>
            </a:r>
            <a:endParaRPr sz="920"/>
          </a:p>
        </p:txBody>
      </p:sp>
      <p:sp>
        <p:nvSpPr>
          <p:cNvPr id="32" name="Shape 30">
            <a:extLst xmlns:a="http://schemas.openxmlformats.org/drawingml/2006/main">
              <a:ext uri="{FF2B5EF4-FFF2-40B4-BE49-F238E27FC236}">
                <a16:creationId xmlns:a16="http://schemas.microsoft.com/office/drawing/2014/main" id="{263C60FF-140A-4D89-8FEB-6BADF0938F79}"/>
              </a:ext>
            </a:extLst>
          </p:cNvPr>
          <p:cNvSpPr>
            <a:spLocks xmlns:a="http://schemas.openxmlformats.org/drawingml/2006/main" noGrp="1"/>
          </p:cNvSpPr>
          <p:nvPr/>
        </p:nvSpPr>
        <p:spPr>
          <a:xfrm xmlns:a="http://schemas.openxmlformats.org/drawingml/2006/main">
            <a:off x="9500982" y="1335024"/>
            <a:ext cx="2123785" cy="3566160"/>
          </a:xfrm>
          <a:prstGeom xmlns:a="http://schemas.openxmlformats.org/drawingml/2006/main" prst="rect">
            <a:avLst/>
          </a:prstGeom>
          <a:solidFill xmlns:a="http://schemas.openxmlformats.org/drawingml/2006/main">
            <a:srgbClr val="F3E6E0"/>
          </a:solidFill>
        </p:spPr>
      </p:sp>
      <p:sp>
        <p:nvSpPr>
          <p:cNvPr id="33" name="Text 31">
            <a:extLst xmlns:a="http://schemas.openxmlformats.org/drawingml/2006/main">
              <a:ext uri="{FF2B5EF4-FFF2-40B4-BE49-F238E27FC236}">
                <a16:creationId xmlns:a16="http://schemas.microsoft.com/office/drawing/2014/main" id="{321E1DBA-59DD-4243-97BA-D4AAA4AAC45D}"/>
              </a:ext>
            </a:extLst>
          </p:cNvPr>
          <p:cNvSpPr>
            <a:spLocks xmlns:a="http://schemas.openxmlformats.org/drawingml/2006/main" noGrp="1"/>
          </p:cNvSpPr>
          <p:nvPr/>
        </p:nvSpPr>
        <p:spPr>
          <a:xfrm xmlns:a="http://schemas.openxmlformats.org/drawingml/2006/main">
            <a:off x="9683862" y="1481328"/>
            <a:ext cx="1758025"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05</a:t>
            </a:r>
            <a:endParaRPr sz="840"/>
          </a:p>
        </p:txBody>
      </p:sp>
      <p:sp>
        <p:nvSpPr>
          <p:cNvPr id="34" name="Text 32">
            <a:extLst xmlns:a="http://schemas.openxmlformats.org/drawingml/2006/main">
              <a:ext uri="{FF2B5EF4-FFF2-40B4-BE49-F238E27FC236}">
                <a16:creationId xmlns:a16="http://schemas.microsoft.com/office/drawing/2014/main" id="{AEE9A28A-D2DB-4DFE-B620-A1D47B247A4A}"/>
              </a:ext>
            </a:extLst>
          </p:cNvPr>
          <p:cNvSpPr>
            <a:spLocks xmlns:a="http://schemas.openxmlformats.org/drawingml/2006/main" noGrp="1"/>
          </p:cNvSpPr>
          <p:nvPr/>
        </p:nvSpPr>
        <p:spPr>
          <a:xfrm xmlns:a="http://schemas.openxmlformats.org/drawingml/2006/main">
            <a:off x="9683862" y="1700784"/>
            <a:ext cx="1758025"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Stale versions in the appendix</a:t>
            </a:r>
            <a:endParaRPr sz="1120"/>
          </a:p>
        </p:txBody>
      </p:sp>
      <p:sp>
        <p:nvSpPr>
          <p:cNvPr id="35" name="Text 33">
            <a:extLst xmlns:a="http://schemas.openxmlformats.org/drawingml/2006/main">
              <a:ext uri="{FF2B5EF4-FFF2-40B4-BE49-F238E27FC236}">
                <a16:creationId xmlns:a16="http://schemas.microsoft.com/office/drawing/2014/main" id="{E8E3C6E4-9239-4E5E-9C15-439FD168713B}"/>
              </a:ext>
            </a:extLst>
          </p:cNvPr>
          <p:cNvSpPr>
            <a:spLocks xmlns:a="http://schemas.openxmlformats.org/drawingml/2006/main" noGrp="1"/>
          </p:cNvSpPr>
          <p:nvPr/>
        </p:nvSpPr>
        <p:spPr>
          <a:xfrm xmlns:a="http://schemas.openxmlformats.org/drawingml/2006/main">
            <a:off x="9683862" y="2432304"/>
            <a:ext cx="1758025"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Runtime and orchestration versions several years past end of life, sitting two slides from a current application framework. The panel reads the appendix.</a:t>
            </a:r>
            <a:endParaRPr sz="920"/>
          </a:p>
        </p:txBody>
      </p:sp>
      <p:sp>
        <p:nvSpPr>
          <p:cNvPr id="36" name="Shape 34">
            <a:extLst xmlns:a="http://schemas.openxmlformats.org/drawingml/2006/main">
              <a:ext uri="{FF2B5EF4-FFF2-40B4-BE49-F238E27FC236}">
                <a16:creationId xmlns:a16="http://schemas.microsoft.com/office/drawing/2014/main" id="{5E158CF3-6DD4-4030-8F1E-E50B89E9A944}"/>
              </a:ext>
            </a:extLst>
          </p:cNvPr>
          <p:cNvSpPr>
            <a:spLocks xmlns:a="http://schemas.openxmlformats.org/drawingml/2006/main" noGrp="1"/>
          </p:cNvSpPr>
          <p:nvPr/>
        </p:nvSpPr>
        <p:spPr>
          <a:xfrm xmlns:a="http://schemas.openxmlformats.org/drawingml/2006/main">
            <a:off x="9683862" y="3877056"/>
            <a:ext cx="1758025" cy="13716"/>
          </a:xfrm>
          <a:prstGeom xmlns:a="http://schemas.openxmlformats.org/drawingml/2006/main" prst="rect">
            <a:avLst/>
          </a:prstGeom>
          <a:solidFill xmlns:a="http://schemas.openxmlformats.org/drawingml/2006/main">
            <a:srgbClr val="C6D2DE"/>
          </a:solidFill>
        </p:spPr>
      </p:sp>
      <p:sp>
        <p:nvSpPr>
          <p:cNvPr id="37" name="Text 35">
            <a:extLst xmlns:a="http://schemas.openxmlformats.org/drawingml/2006/main">
              <a:ext uri="{FF2B5EF4-FFF2-40B4-BE49-F238E27FC236}">
                <a16:creationId xmlns:a16="http://schemas.microsoft.com/office/drawing/2014/main" id="{D07B0F19-1A28-4706-B8AF-B33756EA6044}"/>
              </a:ext>
            </a:extLst>
          </p:cNvPr>
          <p:cNvSpPr>
            <a:spLocks xmlns:a="http://schemas.openxmlformats.org/drawingml/2006/main" noGrp="1"/>
          </p:cNvSpPr>
          <p:nvPr/>
        </p:nvSpPr>
        <p:spPr>
          <a:xfrm xmlns:a="http://schemas.openxmlformats.org/drawingml/2006/main">
            <a:off x="9683862" y="3986784"/>
            <a:ext cx="1758025"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FIX</a:t>
            </a:r>
            <a:endParaRPr sz="740"/>
          </a:p>
        </p:txBody>
      </p:sp>
      <p:sp>
        <p:nvSpPr>
          <p:cNvPr id="38" name="Text 36">
            <a:extLst xmlns:a="http://schemas.openxmlformats.org/drawingml/2006/main">
              <a:ext uri="{FF2B5EF4-FFF2-40B4-BE49-F238E27FC236}">
                <a16:creationId xmlns:a16="http://schemas.microsoft.com/office/drawing/2014/main" id="{DCE31751-055A-4C9F-93A5-BDC40D6CB72F}"/>
              </a:ext>
            </a:extLst>
          </p:cNvPr>
          <p:cNvSpPr>
            <a:spLocks xmlns:a="http://schemas.openxmlformats.org/drawingml/2006/main" noGrp="1"/>
          </p:cNvSpPr>
          <p:nvPr/>
        </p:nvSpPr>
        <p:spPr>
          <a:xfrm xmlns:a="http://schemas.openxmlformats.org/drawingml/2006/main">
            <a:off x="9683862" y="4187952"/>
            <a:ext cx="1758025"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B04A25"/>
                </a:solidFill>
                <a:latin typeface="Arial"/>
                <a:ea typeface="Arial"/>
                <a:cs typeface="Arial"/>
              </a:rPr>
              <a:t>Audit every version number in every artefact the week before. Every time.</a:t>
            </a:r>
            <a:endParaRPr sz="920"/>
          </a:p>
        </p:txBody>
      </p:sp>
      <p:sp>
        <p:nvSpPr>
          <p:cNvPr id="39" name="Shape 37">
            <a:extLst xmlns:a="http://schemas.openxmlformats.org/drawingml/2006/main">
              <a:ext uri="{FF2B5EF4-FFF2-40B4-BE49-F238E27FC236}">
                <a16:creationId xmlns:a16="http://schemas.microsoft.com/office/drawing/2014/main" id="{EAA9DA8C-623E-45E6-8814-C92CABCA7A66}"/>
              </a:ext>
            </a:extLst>
          </p:cNvPr>
          <p:cNvSpPr>
            <a:spLocks xmlns:a="http://schemas.openxmlformats.org/drawingml/2006/main" noGrp="1"/>
          </p:cNvSpPr>
          <p:nvPr/>
        </p:nvSpPr>
        <p:spPr>
          <a:xfrm xmlns:a="http://schemas.openxmlformats.org/drawingml/2006/main">
            <a:off x="566928" y="5157216"/>
            <a:ext cx="11057839" cy="914400"/>
          </a:xfrm>
          <a:prstGeom xmlns:a="http://schemas.openxmlformats.org/drawingml/2006/main" prst="rect">
            <a:avLst/>
          </a:prstGeom>
          <a:solidFill xmlns:a="http://schemas.openxmlformats.org/drawingml/2006/main">
            <a:srgbClr val="F3E6E0"/>
          </a:solidFill>
        </p:spPr>
      </p:sp>
      <p:sp>
        <p:nvSpPr>
          <p:cNvPr id="40" name="Text 38">
            <a:extLst xmlns:a="http://schemas.openxmlformats.org/drawingml/2006/main">
              <a:ext uri="{FF2B5EF4-FFF2-40B4-BE49-F238E27FC236}">
                <a16:creationId xmlns:a16="http://schemas.microsoft.com/office/drawing/2014/main" id="{C4DD983E-C6B8-4B53-A8BD-C23BD266578E}"/>
              </a:ext>
            </a:extLst>
          </p:cNvPr>
          <p:cNvSpPr>
            <a:spLocks xmlns:a="http://schemas.openxmlformats.org/drawingml/2006/main" noGrp="1"/>
          </p:cNvSpPr>
          <p:nvPr/>
        </p:nvSpPr>
        <p:spPr>
          <a:xfrm xmlns:a="http://schemas.openxmlformats.org/drawingml/2006/main">
            <a:off x="804672" y="530352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fifth is worth its own discipline</a:t>
            </a:r>
            <a:endParaRPr sz="1100"/>
          </a:p>
        </p:txBody>
      </p:sp>
      <p:sp>
        <p:nvSpPr>
          <p:cNvPr id="41" name="Text 39">
            <a:extLst xmlns:a="http://schemas.openxmlformats.org/drawingml/2006/main">
              <a:ext uri="{FF2B5EF4-FFF2-40B4-BE49-F238E27FC236}">
                <a16:creationId xmlns:a16="http://schemas.microsoft.com/office/drawing/2014/main" id="{4BBFC43B-8061-455C-B283-4AB385DA5373}"/>
              </a:ext>
            </a:extLst>
          </p:cNvPr>
          <p:cNvSpPr>
            <a:spLocks xmlns:a="http://schemas.openxmlformats.org/drawingml/2006/main" noGrp="1"/>
          </p:cNvSpPr>
          <p:nvPr/>
        </p:nvSpPr>
        <p:spPr>
          <a:xfrm xmlns:a="http://schemas.openxmlformats.org/drawingml/2006/main">
            <a:off x="804672" y="5559552"/>
            <a:ext cx="10582351" cy="4023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It is the only one that costs nothing to fix and the only one that undermines everything else. A panel that finds a runtime version five years past end of life in an appendix will re-read the whole response asking what else is out of date — and the architecture session, however strong, is now being assessed by someone with a specific doubt.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An artefact currency audit the week before every evaluation takes an afternoon. It is the highest-return preparation activity available and the one most reliably skipped.</a:t>
            </a:r>
            <a:endParaRPr sz="990"/>
          </a:p>
        </p:txBody>
      </p:sp>
      <p:sp>
        <p:nvSpPr>
          <p:cNvPr id="42" name="Shape 40">
            <a:extLst xmlns:a="http://schemas.openxmlformats.org/drawingml/2006/main">
              <a:ext uri="{FF2B5EF4-FFF2-40B4-BE49-F238E27FC236}">
                <a16:creationId xmlns:a16="http://schemas.microsoft.com/office/drawing/2014/main" id="{693582DC-89BE-4E88-B5EA-DEB3C5594F8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3" name="Text 41">
            <a:extLst xmlns:a="http://schemas.openxmlformats.org/drawingml/2006/main">
              <a:ext uri="{FF2B5EF4-FFF2-40B4-BE49-F238E27FC236}">
                <a16:creationId xmlns:a16="http://schemas.microsoft.com/office/drawing/2014/main" id="{00982BA0-E81E-4645-967E-4EA0B040D45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technical evaluation days</a:t>
            </a:r>
            <a:endParaRPr sz="850"/>
          </a:p>
        </p:txBody>
      </p:sp>
      <p:sp>
        <p:nvSpPr>
          <p:cNvPr id="44" name="Text 42">
            <a:extLst xmlns:a="http://schemas.openxmlformats.org/drawingml/2006/main">
              <a:ext uri="{FF2B5EF4-FFF2-40B4-BE49-F238E27FC236}">
                <a16:creationId xmlns:a16="http://schemas.microsoft.com/office/drawing/2014/main" id="{3F8006AD-EF97-4602-AF58-0347713628C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57746536"/>
      </p:ext>
    </p:extLst>
  </p:cSld>
</p:sld>
</file>

<file path=ppt/slides/slide24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F39458B-9331-412E-AB65-BE2ACA949E6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EVIDENCE OVER ASSERTION</a:t>
            </a:r>
            <a:endParaRPr sz="950"/>
          </a:p>
        </p:txBody>
      </p:sp>
      <p:sp>
        <p:nvSpPr>
          <p:cNvPr id="3" name="Text 1">
            <a:extLst xmlns:a="http://schemas.openxmlformats.org/drawingml/2006/main">
              <a:ext uri="{FF2B5EF4-FFF2-40B4-BE49-F238E27FC236}">
                <a16:creationId xmlns:a16="http://schemas.microsoft.com/office/drawing/2014/main" id="{357B10FB-5297-44FB-8462-5BE14F0630C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For each session, one artefact beats a presentation — and the artefact is usually</a:t>
            </a:r>
            <a:endParaRPr sz="1900"/>
          </a:p>
          <a:p xmlns:a="http://schemas.openxmlformats.org/drawingml/2006/main">
            <a:pPr marL="0" indent="0">
              <a:lnSpc>
                <a:spcPts val="2400"/>
              </a:lnSpc>
              <a:buNone/>
            </a:pPr>
            <a:r>
              <a:rPr sz="1900" b="1">
                <a:solidFill>
                  <a:srgbClr val="102A43"/>
                </a:solidFill>
                <a:latin typeface="Arial"/>
                <a:ea typeface="Arial"/>
                <a:cs typeface="Arial"/>
              </a:rPr>
              <a:t>something that already exists internally</a:t>
            </a:r>
            <a:endParaRPr sz="1900"/>
          </a:p>
        </p:txBody>
      </p:sp>
      <p:sp>
        <p:nvSpPr>
          <p:cNvPr id="4" name="Shape 2">
            <a:extLst xmlns:a="http://schemas.openxmlformats.org/drawingml/2006/main">
              <a:ext uri="{FF2B5EF4-FFF2-40B4-BE49-F238E27FC236}">
                <a16:creationId xmlns:a16="http://schemas.microsoft.com/office/drawing/2014/main" id="{7B085D78-81E7-4718-9367-128D9193CCB3}"/>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047FB6D0-D97C-4B36-B82E-3D9B0C9FC725}"/>
              </a:ext>
            </a:extLst>
          </p:cNvPr>
          <p:cNvSpPr>
            <a:spLocks xmlns:a="http://schemas.openxmlformats.org/drawingml/2006/main" noGrp="1"/>
          </p:cNvSpPr>
          <p:nvPr/>
        </p:nvSpPr>
        <p:spPr>
          <a:xfrm xmlns:a="http://schemas.openxmlformats.org/drawingml/2006/main">
            <a:off x="67665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Session</a:t>
            </a:r>
            <a:endParaRPr sz="920"/>
          </a:p>
        </p:txBody>
      </p:sp>
      <p:sp>
        <p:nvSpPr>
          <p:cNvPr id="6" name="Text 4">
            <a:extLst xmlns:a="http://schemas.openxmlformats.org/drawingml/2006/main">
              <a:ext uri="{FF2B5EF4-FFF2-40B4-BE49-F238E27FC236}">
                <a16:creationId xmlns:a16="http://schemas.microsoft.com/office/drawing/2014/main" id="{10B0C072-2940-46E0-B22E-48AE858CC234}"/>
              </a:ext>
            </a:extLst>
          </p:cNvPr>
          <p:cNvSpPr>
            <a:spLocks xmlns:a="http://schemas.openxmlformats.org/drawingml/2006/main" noGrp="1"/>
          </p:cNvSpPr>
          <p:nvPr/>
        </p:nvSpPr>
        <p:spPr>
          <a:xfrm xmlns:a="http://schemas.openxmlformats.org/drawingml/2006/main">
            <a:off x="3694176" y="1444752"/>
            <a:ext cx="36210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The artefact to bring</a:t>
            </a:r>
            <a:endParaRPr sz="920"/>
          </a:p>
        </p:txBody>
      </p:sp>
      <p:sp>
        <p:nvSpPr>
          <p:cNvPr id="7" name="Text 5">
            <a:extLst xmlns:a="http://schemas.openxmlformats.org/drawingml/2006/main">
              <a:ext uri="{FF2B5EF4-FFF2-40B4-BE49-F238E27FC236}">
                <a16:creationId xmlns:a16="http://schemas.microsoft.com/office/drawing/2014/main" id="{D2E18ADF-721A-41DB-BABE-D5E960499D23}"/>
              </a:ext>
            </a:extLst>
          </p:cNvPr>
          <p:cNvSpPr>
            <a:spLocks xmlns:a="http://schemas.openxmlformats.org/drawingml/2006/main" noGrp="1"/>
          </p:cNvSpPr>
          <p:nvPr/>
        </p:nvSpPr>
        <p:spPr>
          <a:xfrm xmlns:a="http://schemas.openxmlformats.org/drawingml/2006/main">
            <a:off x="7626096" y="1444752"/>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Where it comes from</a:t>
            </a:r>
            <a:endParaRPr sz="920"/>
          </a:p>
        </p:txBody>
      </p:sp>
      <p:sp>
        <p:nvSpPr>
          <p:cNvPr id="8" name="Text 6">
            <a:extLst xmlns:a="http://schemas.openxmlformats.org/drawingml/2006/main">
              <a:ext uri="{FF2B5EF4-FFF2-40B4-BE49-F238E27FC236}">
                <a16:creationId xmlns:a16="http://schemas.microsoft.com/office/drawing/2014/main" id="{36F627F8-08F2-4A36-A485-CDFC492C1476}"/>
              </a:ext>
            </a:extLst>
          </p:cNvPr>
          <p:cNvSpPr>
            <a:spLocks xmlns:a="http://schemas.openxmlformats.org/drawingml/2006/main" noGrp="1"/>
          </p:cNvSpPr>
          <p:nvPr/>
        </p:nvSpPr>
        <p:spPr>
          <a:xfrm xmlns:a="http://schemas.openxmlformats.org/drawingml/2006/main">
            <a:off x="10186416" y="1444752"/>
            <a:ext cx="13258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Effort</a:t>
            </a:r>
            <a:endParaRPr sz="920"/>
          </a:p>
        </p:txBody>
      </p:sp>
      <p:sp>
        <p:nvSpPr>
          <p:cNvPr id="9" name="Text 7">
            <a:extLst xmlns:a="http://schemas.openxmlformats.org/drawingml/2006/main">
              <a:ext uri="{FF2B5EF4-FFF2-40B4-BE49-F238E27FC236}">
                <a16:creationId xmlns:a16="http://schemas.microsoft.com/office/drawing/2014/main" id="{99337F03-466A-4244-8EC5-64DAC5C0876A}"/>
              </a:ext>
            </a:extLst>
          </p:cNvPr>
          <p:cNvSpPr>
            <a:spLocks xmlns:a="http://schemas.openxmlformats.org/drawingml/2006/main" noGrp="1"/>
          </p:cNvSpPr>
          <p:nvPr/>
        </p:nvSpPr>
        <p:spPr>
          <a:xfrm xmlns:a="http://schemas.openxmlformats.org/drawingml/2006/main">
            <a:off x="676656" y="1810512"/>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Solution architecture</a:t>
            </a:r>
            <a:endParaRPr sz="980"/>
          </a:p>
        </p:txBody>
      </p:sp>
      <p:sp>
        <p:nvSpPr>
          <p:cNvPr id="10" name="Text 8">
            <a:extLst xmlns:a="http://schemas.openxmlformats.org/drawingml/2006/main">
              <a:ext uri="{FF2B5EF4-FFF2-40B4-BE49-F238E27FC236}">
                <a16:creationId xmlns:a16="http://schemas.microsoft.com/office/drawing/2014/main" id="{5C6FF45F-9CE8-4968-9AEB-B9F72315EFB0}"/>
              </a:ext>
            </a:extLst>
          </p:cNvPr>
          <p:cNvSpPr>
            <a:spLocks xmlns:a="http://schemas.openxmlformats.org/drawingml/2006/main" noGrp="1"/>
          </p:cNvSpPr>
          <p:nvPr/>
        </p:nvSpPr>
        <p:spPr>
          <a:xfrm xmlns:a="http://schemas.openxmlformats.org/drawingml/2006/main">
            <a:off x="3694176" y="1810512"/>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A deployment diagram from a live client, redacted — not a reference architecture</a:t>
            </a:r>
            <a:endParaRPr sz="930"/>
          </a:p>
        </p:txBody>
      </p:sp>
      <p:sp>
        <p:nvSpPr>
          <p:cNvPr id="11" name="Text 9">
            <a:extLst xmlns:a="http://schemas.openxmlformats.org/drawingml/2006/main">
              <a:ext uri="{FF2B5EF4-FFF2-40B4-BE49-F238E27FC236}">
                <a16:creationId xmlns:a16="http://schemas.microsoft.com/office/drawing/2014/main" id="{DD228F70-2F44-4AA6-8E69-EBE3B8B162B3}"/>
              </a:ext>
            </a:extLst>
          </p:cNvPr>
          <p:cNvSpPr>
            <a:spLocks xmlns:a="http://schemas.openxmlformats.org/drawingml/2006/main" noGrp="1"/>
          </p:cNvSpPr>
          <p:nvPr/>
        </p:nvSpPr>
        <p:spPr>
          <a:xfrm xmlns:a="http://schemas.openxmlformats.org/drawingml/2006/main">
            <a:off x="7626096" y="181051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Existing production documentation</a:t>
            </a:r>
            <a:endParaRPr sz="920"/>
          </a:p>
        </p:txBody>
      </p:sp>
      <p:sp>
        <p:nvSpPr>
          <p:cNvPr id="12" name="Text 10">
            <a:extLst xmlns:a="http://schemas.openxmlformats.org/drawingml/2006/main">
              <a:ext uri="{FF2B5EF4-FFF2-40B4-BE49-F238E27FC236}">
                <a16:creationId xmlns:a16="http://schemas.microsoft.com/office/drawing/2014/main" id="{EE758B9F-3A6E-492A-B16B-4CA2CAE887DC}"/>
              </a:ext>
            </a:extLst>
          </p:cNvPr>
          <p:cNvSpPr>
            <a:spLocks xmlns:a="http://schemas.openxmlformats.org/drawingml/2006/main" noGrp="1"/>
          </p:cNvSpPr>
          <p:nvPr/>
        </p:nvSpPr>
        <p:spPr>
          <a:xfrm xmlns:a="http://schemas.openxmlformats.org/drawingml/2006/main">
            <a:off x="10186416" y="1810512"/>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486581"/>
                </a:solidFill>
                <a:latin typeface="Arial"/>
                <a:ea typeface="Arial"/>
                <a:cs typeface="Arial"/>
              </a:rPr>
              <a:t>Low</a:t>
            </a:r>
            <a:endParaRPr sz="930"/>
          </a:p>
        </p:txBody>
      </p:sp>
      <p:sp>
        <p:nvSpPr>
          <p:cNvPr id="13" name="Shape 11">
            <a:extLst xmlns:a="http://schemas.openxmlformats.org/drawingml/2006/main">
              <a:ext uri="{FF2B5EF4-FFF2-40B4-BE49-F238E27FC236}">
                <a16:creationId xmlns:a16="http://schemas.microsoft.com/office/drawing/2014/main" id="{CEF966F9-B3CE-4B4E-9535-12767F14D12D}"/>
              </a:ext>
            </a:extLst>
          </p:cNvPr>
          <p:cNvSpPr>
            <a:spLocks xmlns:a="http://schemas.openxmlformats.org/drawingml/2006/main" noGrp="1"/>
          </p:cNvSpPr>
          <p:nvPr/>
        </p:nvSpPr>
        <p:spPr>
          <a:xfrm xmlns:a="http://schemas.openxmlformats.org/drawingml/2006/main">
            <a:off x="566928" y="2194560"/>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C76404C8-F4A8-4134-B9E8-5A3DA3858F0F}"/>
              </a:ext>
            </a:extLst>
          </p:cNvPr>
          <p:cNvSpPr>
            <a:spLocks xmlns:a="http://schemas.openxmlformats.org/drawingml/2006/main" noGrp="1"/>
          </p:cNvSpPr>
          <p:nvPr/>
        </p:nvSpPr>
        <p:spPr>
          <a:xfrm xmlns:a="http://schemas.openxmlformats.org/drawingml/2006/main">
            <a:off x="566928" y="2194560"/>
            <a:ext cx="11057839" cy="493776"/>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6DB91490-9175-47F3-AB17-C1A8C5C9DF77}"/>
              </a:ext>
            </a:extLst>
          </p:cNvPr>
          <p:cNvSpPr>
            <a:spLocks xmlns:a="http://schemas.openxmlformats.org/drawingml/2006/main" noGrp="1"/>
          </p:cNvSpPr>
          <p:nvPr/>
        </p:nvSpPr>
        <p:spPr>
          <a:xfrm xmlns:a="http://schemas.openxmlformats.org/drawingml/2006/main">
            <a:off x="676656" y="2304288"/>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Scalability</a:t>
            </a:r>
            <a:endParaRPr sz="980"/>
          </a:p>
        </p:txBody>
      </p:sp>
      <p:sp>
        <p:nvSpPr>
          <p:cNvPr id="16" name="Text 14">
            <a:extLst xmlns:a="http://schemas.openxmlformats.org/drawingml/2006/main">
              <a:ext uri="{FF2B5EF4-FFF2-40B4-BE49-F238E27FC236}">
                <a16:creationId xmlns:a16="http://schemas.microsoft.com/office/drawing/2014/main" id="{09D6EFDE-392E-42B9-B1F7-801F961A7E4E}"/>
              </a:ext>
            </a:extLst>
          </p:cNvPr>
          <p:cNvSpPr>
            <a:spLocks xmlns:a="http://schemas.openxmlformats.org/drawingml/2006/main" noGrp="1"/>
          </p:cNvSpPr>
          <p:nvPr/>
        </p:nvSpPr>
        <p:spPr>
          <a:xfrm xmlns:a="http://schemas.openxmlformats.org/drawingml/2006/main">
            <a:off x="3694176" y="2304288"/>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A load-test report with profile, environment, date and the bottleneck found</a:t>
            </a:r>
            <a:endParaRPr sz="930"/>
          </a:p>
        </p:txBody>
      </p:sp>
      <p:sp>
        <p:nvSpPr>
          <p:cNvPr id="17" name="Text 15">
            <a:extLst xmlns:a="http://schemas.openxmlformats.org/drawingml/2006/main">
              <a:ext uri="{FF2B5EF4-FFF2-40B4-BE49-F238E27FC236}">
                <a16:creationId xmlns:a16="http://schemas.microsoft.com/office/drawing/2014/main" id="{A3E627F3-3D9F-4679-9DBC-871ED53BFC81}"/>
              </a:ext>
            </a:extLst>
          </p:cNvPr>
          <p:cNvSpPr>
            <a:spLocks xmlns:a="http://schemas.openxmlformats.org/drawingml/2006/main" noGrp="1"/>
          </p:cNvSpPr>
          <p:nvPr/>
        </p:nvSpPr>
        <p:spPr>
          <a:xfrm xmlns:a="http://schemas.openxmlformats.org/drawingml/2006/main">
            <a:off x="7626096" y="2304288"/>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Last performance test cycle</a:t>
            </a:r>
            <a:endParaRPr sz="920"/>
          </a:p>
        </p:txBody>
      </p:sp>
      <p:sp>
        <p:nvSpPr>
          <p:cNvPr id="18" name="Text 16">
            <a:extLst xmlns:a="http://schemas.openxmlformats.org/drawingml/2006/main">
              <a:ext uri="{FF2B5EF4-FFF2-40B4-BE49-F238E27FC236}">
                <a16:creationId xmlns:a16="http://schemas.microsoft.com/office/drawing/2014/main" id="{D1CA188A-6B76-4A4E-8646-C32B905A3CA1}"/>
              </a:ext>
            </a:extLst>
          </p:cNvPr>
          <p:cNvSpPr>
            <a:spLocks xmlns:a="http://schemas.openxmlformats.org/drawingml/2006/main" noGrp="1"/>
          </p:cNvSpPr>
          <p:nvPr/>
        </p:nvSpPr>
        <p:spPr>
          <a:xfrm xmlns:a="http://schemas.openxmlformats.org/drawingml/2006/main">
            <a:off x="10186416" y="2304288"/>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486581"/>
                </a:solidFill>
                <a:latin typeface="Arial"/>
                <a:ea typeface="Arial"/>
                <a:cs typeface="Arial"/>
              </a:rPr>
              <a:t>Low</a:t>
            </a:r>
            <a:endParaRPr sz="930"/>
          </a:p>
        </p:txBody>
      </p:sp>
      <p:sp>
        <p:nvSpPr>
          <p:cNvPr id="19" name="Shape 17">
            <a:extLst xmlns:a="http://schemas.openxmlformats.org/drawingml/2006/main">
              <a:ext uri="{FF2B5EF4-FFF2-40B4-BE49-F238E27FC236}">
                <a16:creationId xmlns:a16="http://schemas.microsoft.com/office/drawing/2014/main" id="{9EAB1F4A-DE0A-4907-B925-43245D627564}"/>
              </a:ext>
            </a:extLst>
          </p:cNvPr>
          <p:cNvSpPr>
            <a:spLocks xmlns:a="http://schemas.openxmlformats.org/drawingml/2006/main" noGrp="1"/>
          </p:cNvSpPr>
          <p:nvPr/>
        </p:nvSpPr>
        <p:spPr>
          <a:xfrm xmlns:a="http://schemas.openxmlformats.org/drawingml/2006/main">
            <a:off x="566928" y="2688336"/>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3FD7AA67-5EDA-4BA6-9F72-3B1F491A3889}"/>
              </a:ext>
            </a:extLst>
          </p:cNvPr>
          <p:cNvSpPr>
            <a:spLocks xmlns:a="http://schemas.openxmlformats.org/drawingml/2006/main" noGrp="1"/>
          </p:cNvSpPr>
          <p:nvPr/>
        </p:nvSpPr>
        <p:spPr>
          <a:xfrm xmlns:a="http://schemas.openxmlformats.org/drawingml/2006/main">
            <a:off x="676656" y="279806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Integration</a:t>
            </a:r>
            <a:endParaRPr sz="980"/>
          </a:p>
        </p:txBody>
      </p:sp>
      <p:sp>
        <p:nvSpPr>
          <p:cNvPr id="21" name="Text 19">
            <a:extLst xmlns:a="http://schemas.openxmlformats.org/drawingml/2006/main">
              <a:ext uri="{FF2B5EF4-FFF2-40B4-BE49-F238E27FC236}">
                <a16:creationId xmlns:a16="http://schemas.microsoft.com/office/drawing/2014/main" id="{C34BD4B1-EC49-42E6-B6A8-E17BEBF6DD73}"/>
              </a:ext>
            </a:extLst>
          </p:cNvPr>
          <p:cNvSpPr>
            <a:spLocks xmlns:a="http://schemas.openxmlformats.org/drawingml/2006/main" noGrp="1"/>
          </p:cNvSpPr>
          <p:nvPr/>
        </p:nvSpPr>
        <p:spPr>
          <a:xfrm xmlns:a="http://schemas.openxmlformats.org/drawingml/2006/main">
            <a:off x="3694176" y="2798064"/>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The adapter inventory: what is prebuilt, what is configured, what is built per client</a:t>
            </a:r>
            <a:endParaRPr sz="930"/>
          </a:p>
        </p:txBody>
      </p:sp>
      <p:sp>
        <p:nvSpPr>
          <p:cNvPr id="22" name="Text 20">
            <a:extLst xmlns:a="http://schemas.openxmlformats.org/drawingml/2006/main">
              <a:ext uri="{FF2B5EF4-FFF2-40B4-BE49-F238E27FC236}">
                <a16:creationId xmlns:a16="http://schemas.microsoft.com/office/drawing/2014/main" id="{6E104F0F-7117-46FB-B309-4A8CC35CDCAD}"/>
              </a:ext>
            </a:extLst>
          </p:cNvPr>
          <p:cNvSpPr>
            <a:spLocks xmlns:a="http://schemas.openxmlformats.org/drawingml/2006/main" noGrp="1"/>
          </p:cNvSpPr>
          <p:nvPr/>
        </p:nvSpPr>
        <p:spPr>
          <a:xfrm xmlns:a="http://schemas.openxmlformats.org/drawingml/2006/main">
            <a:off x="7626096" y="2798064"/>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Product catalogue</a:t>
            </a:r>
            <a:endParaRPr sz="920"/>
          </a:p>
        </p:txBody>
      </p:sp>
      <p:sp>
        <p:nvSpPr>
          <p:cNvPr id="23" name="Text 21">
            <a:extLst xmlns:a="http://schemas.openxmlformats.org/drawingml/2006/main">
              <a:ext uri="{FF2B5EF4-FFF2-40B4-BE49-F238E27FC236}">
                <a16:creationId xmlns:a16="http://schemas.microsoft.com/office/drawing/2014/main" id="{85A7F6AC-8486-4651-8B5E-17970B584676}"/>
              </a:ext>
            </a:extLst>
          </p:cNvPr>
          <p:cNvSpPr>
            <a:spLocks xmlns:a="http://schemas.openxmlformats.org/drawingml/2006/main" noGrp="1"/>
          </p:cNvSpPr>
          <p:nvPr/>
        </p:nvSpPr>
        <p:spPr>
          <a:xfrm xmlns:a="http://schemas.openxmlformats.org/drawingml/2006/main">
            <a:off x="10186416" y="279806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486581"/>
                </a:solidFill>
                <a:latin typeface="Arial"/>
                <a:ea typeface="Arial"/>
                <a:cs typeface="Arial"/>
              </a:rPr>
              <a:t>Low</a:t>
            </a:r>
            <a:endParaRPr sz="930"/>
          </a:p>
        </p:txBody>
      </p:sp>
      <p:sp>
        <p:nvSpPr>
          <p:cNvPr id="24" name="Shape 22">
            <a:extLst xmlns:a="http://schemas.openxmlformats.org/drawingml/2006/main">
              <a:ext uri="{FF2B5EF4-FFF2-40B4-BE49-F238E27FC236}">
                <a16:creationId xmlns:a16="http://schemas.microsoft.com/office/drawing/2014/main" id="{0910EFA9-8354-4C9D-BB59-D30469BB0074}"/>
              </a:ext>
            </a:extLst>
          </p:cNvPr>
          <p:cNvSpPr>
            <a:spLocks xmlns:a="http://schemas.openxmlformats.org/drawingml/2006/main" noGrp="1"/>
          </p:cNvSpPr>
          <p:nvPr/>
        </p:nvSpPr>
        <p:spPr>
          <a:xfrm xmlns:a="http://schemas.openxmlformats.org/drawingml/2006/main">
            <a:off x="566928" y="3182112"/>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884F0E70-7880-487F-818A-3E63F066D765}"/>
              </a:ext>
            </a:extLst>
          </p:cNvPr>
          <p:cNvSpPr>
            <a:spLocks xmlns:a="http://schemas.openxmlformats.org/drawingml/2006/main" noGrp="1"/>
          </p:cNvSpPr>
          <p:nvPr/>
        </p:nvSpPr>
        <p:spPr>
          <a:xfrm xmlns:a="http://schemas.openxmlformats.org/drawingml/2006/main">
            <a:off x="566928" y="3182112"/>
            <a:ext cx="11057839" cy="493776"/>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3047A588-E3FC-4420-ADB2-A44DE3B7D0FA}"/>
              </a:ext>
            </a:extLst>
          </p:cNvPr>
          <p:cNvSpPr>
            <a:spLocks xmlns:a="http://schemas.openxmlformats.org/drawingml/2006/main" noGrp="1"/>
          </p:cNvSpPr>
          <p:nvPr/>
        </p:nvSpPr>
        <p:spPr>
          <a:xfrm xmlns:a="http://schemas.openxmlformats.org/drawingml/2006/main">
            <a:off x="676656" y="3291840"/>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Data migration</a:t>
            </a:r>
            <a:endParaRPr sz="980"/>
          </a:p>
        </p:txBody>
      </p:sp>
      <p:sp>
        <p:nvSpPr>
          <p:cNvPr id="27" name="Text 25">
            <a:extLst xmlns:a="http://schemas.openxmlformats.org/drawingml/2006/main">
              <a:ext uri="{FF2B5EF4-FFF2-40B4-BE49-F238E27FC236}">
                <a16:creationId xmlns:a16="http://schemas.microsoft.com/office/drawing/2014/main" id="{CEC4606A-E07B-427C-8C5F-8FEDF05AC6D6}"/>
              </a:ext>
            </a:extLst>
          </p:cNvPr>
          <p:cNvSpPr>
            <a:spLocks xmlns:a="http://schemas.openxmlformats.org/drawingml/2006/main" noGrp="1"/>
          </p:cNvSpPr>
          <p:nvPr/>
        </p:nvSpPr>
        <p:spPr>
          <a:xfrm xmlns:a="http://schemas.openxmlformats.org/drawingml/2006/main">
            <a:off x="3694176" y="3291840"/>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A migration decision tree and a real staged plan with reconciliation points</a:t>
            </a:r>
            <a:endParaRPr sz="930"/>
          </a:p>
        </p:txBody>
      </p:sp>
      <p:sp>
        <p:nvSpPr>
          <p:cNvPr id="28" name="Text 26">
            <a:extLst xmlns:a="http://schemas.openxmlformats.org/drawingml/2006/main">
              <a:ext uri="{FF2B5EF4-FFF2-40B4-BE49-F238E27FC236}">
                <a16:creationId xmlns:a16="http://schemas.microsoft.com/office/drawing/2014/main" id="{92310316-EFD0-43EE-8E43-75A05334C7CE}"/>
              </a:ext>
            </a:extLst>
          </p:cNvPr>
          <p:cNvSpPr>
            <a:spLocks xmlns:a="http://schemas.openxmlformats.org/drawingml/2006/main" noGrp="1"/>
          </p:cNvSpPr>
          <p:nvPr/>
        </p:nvSpPr>
        <p:spPr>
          <a:xfrm xmlns:a="http://schemas.openxmlformats.org/drawingml/2006/main">
            <a:off x="7626096" y="3291840"/>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 prior migration's runbook</a:t>
            </a:r>
            <a:endParaRPr sz="920"/>
          </a:p>
        </p:txBody>
      </p:sp>
      <p:sp>
        <p:nvSpPr>
          <p:cNvPr id="29" name="Text 27">
            <a:extLst xmlns:a="http://schemas.openxmlformats.org/drawingml/2006/main">
              <a:ext uri="{FF2B5EF4-FFF2-40B4-BE49-F238E27FC236}">
                <a16:creationId xmlns:a16="http://schemas.microsoft.com/office/drawing/2014/main" id="{F0BA4D24-1AF0-4E03-A1D3-A14FD3A1F49C}"/>
              </a:ext>
            </a:extLst>
          </p:cNvPr>
          <p:cNvSpPr>
            <a:spLocks xmlns:a="http://schemas.openxmlformats.org/drawingml/2006/main" noGrp="1"/>
          </p:cNvSpPr>
          <p:nvPr/>
        </p:nvSpPr>
        <p:spPr>
          <a:xfrm xmlns:a="http://schemas.openxmlformats.org/drawingml/2006/main">
            <a:off x="10186416" y="3291840"/>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486581"/>
                </a:solidFill>
                <a:latin typeface="Arial"/>
                <a:ea typeface="Arial"/>
                <a:cs typeface="Arial"/>
              </a:rPr>
              <a:t>Medium</a:t>
            </a:r>
            <a:endParaRPr sz="930"/>
          </a:p>
        </p:txBody>
      </p:sp>
      <p:sp>
        <p:nvSpPr>
          <p:cNvPr id="30" name="Shape 28">
            <a:extLst xmlns:a="http://schemas.openxmlformats.org/drawingml/2006/main">
              <a:ext uri="{FF2B5EF4-FFF2-40B4-BE49-F238E27FC236}">
                <a16:creationId xmlns:a16="http://schemas.microsoft.com/office/drawing/2014/main" id="{A6AAB442-2BE4-4454-BAEB-AF7ABC1A03B3}"/>
              </a:ext>
            </a:extLst>
          </p:cNvPr>
          <p:cNvSpPr>
            <a:spLocks xmlns:a="http://schemas.openxmlformats.org/drawingml/2006/main" noGrp="1"/>
          </p:cNvSpPr>
          <p:nvPr/>
        </p:nvSpPr>
        <p:spPr>
          <a:xfrm xmlns:a="http://schemas.openxmlformats.org/drawingml/2006/main">
            <a:off x="566928" y="3675888"/>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CB191B43-BCD7-4FC8-BA85-0BBC943B4F57}"/>
              </a:ext>
            </a:extLst>
          </p:cNvPr>
          <p:cNvSpPr>
            <a:spLocks xmlns:a="http://schemas.openxmlformats.org/drawingml/2006/main" noGrp="1"/>
          </p:cNvSpPr>
          <p:nvPr/>
        </p:nvSpPr>
        <p:spPr>
          <a:xfrm xmlns:a="http://schemas.openxmlformats.org/drawingml/2006/main">
            <a:off x="676656" y="3785616"/>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Security</a:t>
            </a:r>
            <a:endParaRPr sz="980"/>
          </a:p>
        </p:txBody>
      </p:sp>
      <p:sp>
        <p:nvSpPr>
          <p:cNvPr id="32" name="Text 30">
            <a:extLst xmlns:a="http://schemas.openxmlformats.org/drawingml/2006/main">
              <a:ext uri="{FF2B5EF4-FFF2-40B4-BE49-F238E27FC236}">
                <a16:creationId xmlns:a16="http://schemas.microsoft.com/office/drawing/2014/main" id="{EF614B25-9D2C-4E8F-841E-30D4446FBA33}"/>
              </a:ext>
            </a:extLst>
          </p:cNvPr>
          <p:cNvSpPr>
            <a:spLocks xmlns:a="http://schemas.openxmlformats.org/drawingml/2006/main" noGrp="1"/>
          </p:cNvSpPr>
          <p:nvPr/>
        </p:nvSpPr>
        <p:spPr>
          <a:xfrm xmlns:a="http://schemas.openxmlformats.org/drawingml/2006/main">
            <a:off x="3694176" y="3785616"/>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The control matrix mapped to attack classes, with certificates as corroboration</a:t>
            </a:r>
            <a:endParaRPr sz="930"/>
          </a:p>
        </p:txBody>
      </p:sp>
      <p:sp>
        <p:nvSpPr>
          <p:cNvPr id="33" name="Text 31">
            <a:extLst xmlns:a="http://schemas.openxmlformats.org/drawingml/2006/main">
              <a:ext uri="{FF2B5EF4-FFF2-40B4-BE49-F238E27FC236}">
                <a16:creationId xmlns:a16="http://schemas.microsoft.com/office/drawing/2014/main" id="{9D8417E2-ED87-4EFA-B02A-E3BA6844C465}"/>
              </a:ext>
            </a:extLst>
          </p:cNvPr>
          <p:cNvSpPr>
            <a:spLocks xmlns:a="http://schemas.openxmlformats.org/drawingml/2006/main" noGrp="1"/>
          </p:cNvSpPr>
          <p:nvPr/>
        </p:nvSpPr>
        <p:spPr>
          <a:xfrm xmlns:a="http://schemas.openxmlformats.org/drawingml/2006/main">
            <a:off x="7626096" y="3785616"/>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Existing control documentation</a:t>
            </a:r>
            <a:endParaRPr sz="920"/>
          </a:p>
        </p:txBody>
      </p:sp>
      <p:sp>
        <p:nvSpPr>
          <p:cNvPr id="34" name="Text 32">
            <a:extLst xmlns:a="http://schemas.openxmlformats.org/drawingml/2006/main">
              <a:ext uri="{FF2B5EF4-FFF2-40B4-BE49-F238E27FC236}">
                <a16:creationId xmlns:a16="http://schemas.microsoft.com/office/drawing/2014/main" id="{B8DB053F-ED51-4044-9EE9-A618FC1E6228}"/>
              </a:ext>
            </a:extLst>
          </p:cNvPr>
          <p:cNvSpPr>
            <a:spLocks xmlns:a="http://schemas.openxmlformats.org/drawingml/2006/main" noGrp="1"/>
          </p:cNvSpPr>
          <p:nvPr/>
        </p:nvSpPr>
        <p:spPr>
          <a:xfrm xmlns:a="http://schemas.openxmlformats.org/drawingml/2006/main">
            <a:off x="10186416" y="3785616"/>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486581"/>
                </a:solidFill>
                <a:latin typeface="Arial"/>
                <a:ea typeface="Arial"/>
                <a:cs typeface="Arial"/>
              </a:rPr>
              <a:t>Medium</a:t>
            </a:r>
            <a:endParaRPr sz="930"/>
          </a:p>
        </p:txBody>
      </p:sp>
      <p:sp>
        <p:nvSpPr>
          <p:cNvPr id="35" name="Shape 33">
            <a:extLst xmlns:a="http://schemas.openxmlformats.org/drawingml/2006/main">
              <a:ext uri="{FF2B5EF4-FFF2-40B4-BE49-F238E27FC236}">
                <a16:creationId xmlns:a16="http://schemas.microsoft.com/office/drawing/2014/main" id="{731BE8AB-3D86-4A81-A2EF-1E59926761E8}"/>
              </a:ext>
            </a:extLst>
          </p:cNvPr>
          <p:cNvSpPr>
            <a:spLocks xmlns:a="http://schemas.openxmlformats.org/drawingml/2006/main" noGrp="1"/>
          </p:cNvSpPr>
          <p:nvPr/>
        </p:nvSpPr>
        <p:spPr>
          <a:xfrm xmlns:a="http://schemas.openxmlformats.org/drawingml/2006/main">
            <a:off x="566928" y="416966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767B265A-3161-4630-9836-2DB17E0E3634}"/>
              </a:ext>
            </a:extLst>
          </p:cNvPr>
          <p:cNvSpPr>
            <a:spLocks xmlns:a="http://schemas.openxmlformats.org/drawingml/2006/main" noGrp="1"/>
          </p:cNvSpPr>
          <p:nvPr/>
        </p:nvSpPr>
        <p:spPr>
          <a:xfrm xmlns:a="http://schemas.openxmlformats.org/drawingml/2006/main">
            <a:off x="566928" y="4169664"/>
            <a:ext cx="11057839" cy="493776"/>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70BC4206-AD12-4547-BBCD-520E248CA8F6}"/>
              </a:ext>
            </a:extLst>
          </p:cNvPr>
          <p:cNvSpPr>
            <a:spLocks xmlns:a="http://schemas.openxmlformats.org/drawingml/2006/main" noGrp="1"/>
          </p:cNvSpPr>
          <p:nvPr/>
        </p:nvSpPr>
        <p:spPr>
          <a:xfrm xmlns:a="http://schemas.openxmlformats.org/drawingml/2006/main">
            <a:off x="676656" y="4279392"/>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b="1">
                <a:solidFill>
                  <a:srgbClr val="102A43"/>
                </a:solidFill>
                <a:latin typeface="Arial"/>
                <a:ea typeface="Arial"/>
                <a:cs typeface="Arial"/>
              </a:rPr>
              <a:t>Extensibility</a:t>
            </a:r>
            <a:endParaRPr sz="980"/>
          </a:p>
        </p:txBody>
      </p:sp>
      <p:sp>
        <p:nvSpPr>
          <p:cNvPr id="38" name="Text 36">
            <a:extLst xmlns:a="http://schemas.openxmlformats.org/drawingml/2006/main">
              <a:ext uri="{FF2B5EF4-FFF2-40B4-BE49-F238E27FC236}">
                <a16:creationId xmlns:a16="http://schemas.microsoft.com/office/drawing/2014/main" id="{49EB1BE6-A9A2-4714-B7E8-CEC105CC5DFE}"/>
              </a:ext>
            </a:extLst>
          </p:cNvPr>
          <p:cNvSpPr>
            <a:spLocks xmlns:a="http://schemas.openxmlformats.org/drawingml/2006/main" noGrp="1"/>
          </p:cNvSpPr>
          <p:nvPr/>
        </p:nvSpPr>
        <p:spPr>
          <a:xfrm xmlns:a="http://schemas.openxmlformats.org/drawingml/2006/main">
            <a:off x="3694176" y="4279392"/>
            <a:ext cx="36210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30">
                <a:solidFill>
                  <a:srgbClr val="1A1A1A"/>
                </a:solidFill>
                <a:latin typeface="Arial"/>
                <a:ea typeface="Arial"/>
                <a:cs typeface="Arial"/>
              </a:rPr>
              <a:t>A recorded configuration change, timed end to end including approval</a:t>
            </a:r>
            <a:endParaRPr sz="930"/>
          </a:p>
        </p:txBody>
      </p:sp>
      <p:sp>
        <p:nvSpPr>
          <p:cNvPr id="39" name="Text 37">
            <a:extLst xmlns:a="http://schemas.openxmlformats.org/drawingml/2006/main">
              <a:ext uri="{FF2B5EF4-FFF2-40B4-BE49-F238E27FC236}">
                <a16:creationId xmlns:a16="http://schemas.microsoft.com/office/drawing/2014/main" id="{87FB587E-6861-4876-ADDF-46314E4CC92D}"/>
              </a:ext>
            </a:extLst>
          </p:cNvPr>
          <p:cNvSpPr>
            <a:spLocks xmlns:a="http://schemas.openxmlformats.org/drawingml/2006/main" noGrp="1"/>
          </p:cNvSpPr>
          <p:nvPr/>
        </p:nvSpPr>
        <p:spPr>
          <a:xfrm xmlns:a="http://schemas.openxmlformats.org/drawingml/2006/main">
            <a:off x="7626096" y="427939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One afternoon in a sandbox</a:t>
            </a:r>
            <a:endParaRPr sz="920"/>
          </a:p>
        </p:txBody>
      </p:sp>
      <p:sp>
        <p:nvSpPr>
          <p:cNvPr id="40" name="Text 38">
            <a:extLst xmlns:a="http://schemas.openxmlformats.org/drawingml/2006/main">
              <a:ext uri="{FF2B5EF4-FFF2-40B4-BE49-F238E27FC236}">
                <a16:creationId xmlns:a16="http://schemas.microsoft.com/office/drawing/2014/main" id="{1AD83E54-1571-4378-BF2B-6C403B01BDAF}"/>
              </a:ext>
            </a:extLst>
          </p:cNvPr>
          <p:cNvSpPr>
            <a:spLocks xmlns:a="http://schemas.openxmlformats.org/drawingml/2006/main" noGrp="1"/>
          </p:cNvSpPr>
          <p:nvPr/>
        </p:nvSpPr>
        <p:spPr>
          <a:xfrm xmlns:a="http://schemas.openxmlformats.org/drawingml/2006/main">
            <a:off x="10186416" y="4279392"/>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486581"/>
                </a:solidFill>
                <a:latin typeface="Arial"/>
                <a:ea typeface="Arial"/>
                <a:cs typeface="Arial"/>
              </a:rPr>
              <a:t>Medium</a:t>
            </a:r>
            <a:endParaRPr sz="930"/>
          </a:p>
        </p:txBody>
      </p:sp>
      <p:sp>
        <p:nvSpPr>
          <p:cNvPr id="41" name="Shape 39">
            <a:extLst xmlns:a="http://schemas.openxmlformats.org/drawingml/2006/main">
              <a:ext uri="{FF2B5EF4-FFF2-40B4-BE49-F238E27FC236}">
                <a16:creationId xmlns:a16="http://schemas.microsoft.com/office/drawing/2014/main" id="{B3A93DE8-75C5-487D-8A0D-1819DAA7C037}"/>
              </a:ext>
            </a:extLst>
          </p:cNvPr>
          <p:cNvSpPr>
            <a:spLocks xmlns:a="http://schemas.openxmlformats.org/drawingml/2006/main" noGrp="1"/>
          </p:cNvSpPr>
          <p:nvPr/>
        </p:nvSpPr>
        <p:spPr>
          <a:xfrm xmlns:a="http://schemas.openxmlformats.org/drawingml/2006/main">
            <a:off x="566928" y="4663440"/>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B26BC353-0849-4FD3-9F63-446860502529}"/>
              </a:ext>
            </a:extLst>
          </p:cNvPr>
          <p:cNvSpPr>
            <a:spLocks xmlns:a="http://schemas.openxmlformats.org/drawingml/2006/main" noGrp="1"/>
          </p:cNvSpPr>
          <p:nvPr/>
        </p:nvSpPr>
        <p:spPr>
          <a:xfrm xmlns:a="http://schemas.openxmlformats.org/drawingml/2006/main">
            <a:off x="566928" y="48463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artefacts outperform slides</a:t>
            </a:r>
            <a:endParaRPr sz="1100"/>
          </a:p>
        </p:txBody>
      </p:sp>
      <p:sp>
        <p:nvSpPr>
          <p:cNvPr id="43" name="Shape 41">
            <a:extLst xmlns:a="http://schemas.openxmlformats.org/drawingml/2006/main">
              <a:ext uri="{FF2B5EF4-FFF2-40B4-BE49-F238E27FC236}">
                <a16:creationId xmlns:a16="http://schemas.microsoft.com/office/drawing/2014/main" id="{C261A128-4CE2-4716-B6D5-A7CA128C039C}"/>
              </a:ext>
            </a:extLst>
          </p:cNvPr>
          <p:cNvSpPr>
            <a:spLocks xmlns:a="http://schemas.openxmlformats.org/drawingml/2006/main" noGrp="1"/>
          </p:cNvSpPr>
          <p:nvPr/>
        </p:nvSpPr>
        <p:spPr>
          <a:xfrm xmlns:a="http://schemas.openxmlformats.org/drawingml/2006/main">
            <a:off x="566928" y="5102352"/>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D87F0BFD-663D-40B1-8A77-8810F80321F6}"/>
              </a:ext>
            </a:extLst>
          </p:cNvPr>
          <p:cNvSpPr>
            <a:spLocks xmlns:a="http://schemas.openxmlformats.org/drawingml/2006/main" noGrp="1"/>
          </p:cNvSpPr>
          <p:nvPr/>
        </p:nvSpPr>
        <p:spPr>
          <a:xfrm xmlns:a="http://schemas.openxmlformats.org/drawingml/2006/main">
            <a:off x="566928" y="5230368"/>
            <a:ext cx="355183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was produced for a purpose other than winning this deal — which is why a panel trusts it.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survives the room and is read again during scoring.</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And it is much harder to fake.</a:t>
            </a:r>
            <a:endParaRPr sz="920"/>
          </a:p>
        </p:txBody>
      </p:sp>
      <p:sp>
        <p:nvSpPr>
          <p:cNvPr id="45" name="Text 43">
            <a:extLst xmlns:a="http://schemas.openxmlformats.org/drawingml/2006/main">
              <a:ext uri="{FF2B5EF4-FFF2-40B4-BE49-F238E27FC236}">
                <a16:creationId xmlns:a16="http://schemas.microsoft.com/office/drawing/2014/main" id="{20AB3529-E257-40BD-8F7F-9E5C2CCC2795}"/>
              </a:ext>
            </a:extLst>
          </p:cNvPr>
          <p:cNvSpPr>
            <a:spLocks xmlns:a="http://schemas.openxmlformats.org/drawingml/2006/main" noGrp="1"/>
          </p:cNvSpPr>
          <p:nvPr/>
        </p:nvSpPr>
        <p:spPr>
          <a:xfrm xmlns:a="http://schemas.openxmlformats.org/drawingml/2006/main">
            <a:off x="4319930" y="48463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one worth building fresh</a:t>
            </a:r>
            <a:endParaRPr sz="1100"/>
          </a:p>
        </p:txBody>
      </p:sp>
      <p:sp>
        <p:nvSpPr>
          <p:cNvPr id="46" name="Shape 44">
            <a:extLst xmlns:a="http://schemas.openxmlformats.org/drawingml/2006/main">
              <a:ext uri="{FF2B5EF4-FFF2-40B4-BE49-F238E27FC236}">
                <a16:creationId xmlns:a16="http://schemas.microsoft.com/office/drawing/2014/main" id="{2506549A-AC8C-4BFD-B79D-BCFCC7BA9EDB}"/>
              </a:ext>
            </a:extLst>
          </p:cNvPr>
          <p:cNvSpPr>
            <a:spLocks xmlns:a="http://schemas.openxmlformats.org/drawingml/2006/main" noGrp="1"/>
          </p:cNvSpPr>
          <p:nvPr/>
        </p:nvSpPr>
        <p:spPr>
          <a:xfrm xmlns:a="http://schemas.openxmlformats.org/drawingml/2006/main">
            <a:off x="4319930" y="5102352"/>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0B5F8FD2-2011-482C-A19D-7704E8F1AD90}"/>
              </a:ext>
            </a:extLst>
          </p:cNvPr>
          <p:cNvSpPr>
            <a:spLocks xmlns:a="http://schemas.openxmlformats.org/drawingml/2006/main" noGrp="1"/>
          </p:cNvSpPr>
          <p:nvPr/>
        </p:nvSpPr>
        <p:spPr>
          <a:xfrm xmlns:a="http://schemas.openxmlformats.org/drawingml/2006/main">
            <a:off x="4319930" y="5230368"/>
            <a:ext cx="355183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timed configuration change is the only row needing new work, and it is the highest-value one.</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 recording with a visible clock, covering approval as well as configuration, answers the extensibility question completely.</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One afternoon in a sandbox, reusable across every subsequent pursuit.</a:t>
            </a:r>
            <a:endParaRPr sz="920"/>
          </a:p>
        </p:txBody>
      </p:sp>
      <p:sp>
        <p:nvSpPr>
          <p:cNvPr id="48" name="Text 46">
            <a:extLst xmlns:a="http://schemas.openxmlformats.org/drawingml/2006/main">
              <a:ext uri="{FF2B5EF4-FFF2-40B4-BE49-F238E27FC236}">
                <a16:creationId xmlns:a16="http://schemas.microsoft.com/office/drawing/2014/main" id="{74EBFC49-1C2B-4447-A855-E7984C81DAB0}"/>
              </a:ext>
            </a:extLst>
          </p:cNvPr>
          <p:cNvSpPr>
            <a:spLocks xmlns:a="http://schemas.openxmlformats.org/drawingml/2006/main" noGrp="1"/>
          </p:cNvSpPr>
          <p:nvPr/>
        </p:nvSpPr>
        <p:spPr>
          <a:xfrm xmlns:a="http://schemas.openxmlformats.org/drawingml/2006/main">
            <a:off x="8072933" y="484632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What to leave behind</a:t>
            </a:r>
            <a:endParaRPr sz="1100"/>
          </a:p>
        </p:txBody>
      </p:sp>
      <p:sp>
        <p:nvSpPr>
          <p:cNvPr id="49" name="Shape 47">
            <a:extLst xmlns:a="http://schemas.openxmlformats.org/drawingml/2006/main">
              <a:ext uri="{FF2B5EF4-FFF2-40B4-BE49-F238E27FC236}">
                <a16:creationId xmlns:a16="http://schemas.microsoft.com/office/drawing/2014/main" id="{E87F682E-27FB-4385-91B4-295275ADB374}"/>
              </a:ext>
            </a:extLst>
          </p:cNvPr>
          <p:cNvSpPr>
            <a:spLocks xmlns:a="http://schemas.openxmlformats.org/drawingml/2006/main" noGrp="1"/>
          </p:cNvSpPr>
          <p:nvPr/>
        </p:nvSpPr>
        <p:spPr>
          <a:xfrm xmlns:a="http://schemas.openxmlformats.org/drawingml/2006/main">
            <a:off x="8072933" y="5102352"/>
            <a:ext cx="3551834" cy="20117"/>
          </a:xfrm>
          <a:prstGeom xmlns:a="http://schemas.openxmlformats.org/drawingml/2006/main" prst="rect">
            <a:avLst/>
          </a:prstGeom>
          <a:solidFill xmlns:a="http://schemas.openxmlformats.org/drawingml/2006/main">
            <a:srgbClr val="486581"/>
          </a:solidFill>
        </p:spPr>
      </p:sp>
      <p:sp>
        <p:nvSpPr>
          <p:cNvPr id="50" name="Text 48">
            <a:extLst xmlns:a="http://schemas.openxmlformats.org/drawingml/2006/main">
              <a:ext uri="{FF2B5EF4-FFF2-40B4-BE49-F238E27FC236}">
                <a16:creationId xmlns:a16="http://schemas.microsoft.com/office/drawing/2014/main" id="{573F0B14-DE9B-4C44-85A2-7B30453EAF9D}"/>
              </a:ext>
            </a:extLst>
          </p:cNvPr>
          <p:cNvSpPr>
            <a:spLocks xmlns:a="http://schemas.openxmlformats.org/drawingml/2006/main" noGrp="1"/>
          </p:cNvSpPr>
          <p:nvPr/>
        </p:nvSpPr>
        <p:spPr>
          <a:xfrm xmlns:a="http://schemas.openxmlformats.org/drawingml/2006/main">
            <a:off x="8072933" y="5230368"/>
            <a:ext cx="355183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Reference architectures that no client actually runs.</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Certification lists presented as security answers.</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Any number without a method attached to it.</a:t>
            </a:r>
            <a:endParaRPr sz="920"/>
          </a:p>
        </p:txBody>
      </p:sp>
      <p:sp>
        <p:nvSpPr>
          <p:cNvPr id="51" name="Shape 49">
            <a:extLst xmlns:a="http://schemas.openxmlformats.org/drawingml/2006/main">
              <a:ext uri="{FF2B5EF4-FFF2-40B4-BE49-F238E27FC236}">
                <a16:creationId xmlns:a16="http://schemas.microsoft.com/office/drawing/2014/main" id="{E72536AC-BFDC-4A0D-8B13-0A7A982C0B2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A5729CCC-4CEF-4E78-9761-C06B0FCA8A0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technical evaluation days</a:t>
            </a:r>
            <a:endParaRPr sz="850"/>
          </a:p>
        </p:txBody>
      </p:sp>
      <p:sp>
        <p:nvSpPr>
          <p:cNvPr id="53" name="Text 51">
            <a:extLst xmlns:a="http://schemas.openxmlformats.org/drawingml/2006/main">
              <a:ext uri="{FF2B5EF4-FFF2-40B4-BE49-F238E27FC236}">
                <a16:creationId xmlns:a16="http://schemas.microsoft.com/office/drawing/2014/main" id="{E6E89F99-1B90-46E3-97DA-1FA3FDC67E2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836135801"/>
      </p:ext>
    </p:extLst>
  </p:cSld>
</p:sld>
</file>

<file path=ppt/slides/slide24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44CAC63-3157-4A9C-AE85-86CF07C9994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RUNNING THE DAY</a:t>
            </a:r>
            <a:endParaRPr sz="950"/>
          </a:p>
        </p:txBody>
      </p:sp>
      <p:sp>
        <p:nvSpPr>
          <p:cNvPr id="3" name="Text 1">
            <a:extLst xmlns:a="http://schemas.openxmlformats.org/drawingml/2006/main">
              <a:ext uri="{FF2B5EF4-FFF2-40B4-BE49-F238E27FC236}">
                <a16:creationId xmlns:a16="http://schemas.microsoft.com/office/drawing/2014/main" id="{449582B4-E607-4D74-8BDA-B62CC1157AF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sessions, two tracks, one room to manage — and the most common structural</a:t>
            </a:r>
            <a:endParaRPr sz="1900"/>
          </a:p>
          <a:p xmlns:a="http://schemas.openxmlformats.org/drawingml/2006/main">
            <a:pPr marL="0" indent="0">
              <a:lnSpc>
                <a:spcPts val="2400"/>
              </a:lnSpc>
              <a:buNone/>
            </a:pPr>
            <a:r>
              <a:rPr sz="1900" b="1">
                <a:solidFill>
                  <a:srgbClr val="102A43"/>
                </a:solidFill>
                <a:latin typeface="Arial"/>
                <a:ea typeface="Arial"/>
                <a:cs typeface="Arial"/>
              </a:rPr>
              <a:t>error is sending the same three people to everything</a:t>
            </a:r>
            <a:endParaRPr sz="1900"/>
          </a:p>
        </p:txBody>
      </p:sp>
      <p:sp>
        <p:nvSpPr>
          <p:cNvPr id="4" name="Shape 2">
            <a:extLst xmlns:a="http://schemas.openxmlformats.org/drawingml/2006/main">
              <a:ext uri="{FF2B5EF4-FFF2-40B4-BE49-F238E27FC236}">
                <a16:creationId xmlns:a16="http://schemas.microsoft.com/office/drawing/2014/main" id="{69B8FFF6-707E-4DB9-A736-25BA76551745}"/>
              </a:ext>
            </a:extLst>
          </p:cNvPr>
          <p:cNvSpPr>
            <a:spLocks xmlns:a="http://schemas.openxmlformats.org/drawingml/2006/main" noGrp="1"/>
          </p:cNvSpPr>
          <p:nvPr/>
        </p:nvSpPr>
        <p:spPr>
          <a:xfrm xmlns:a="http://schemas.openxmlformats.org/drawingml/2006/main">
            <a:off x="566928" y="1335024"/>
            <a:ext cx="2123785" cy="20116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985F8CD-02B6-4E82-94BE-62E5019A87E0}"/>
              </a:ext>
            </a:extLst>
          </p:cNvPr>
          <p:cNvSpPr>
            <a:spLocks xmlns:a="http://schemas.openxmlformats.org/drawingml/2006/main" noGrp="1"/>
          </p:cNvSpPr>
          <p:nvPr/>
        </p:nvSpPr>
        <p:spPr>
          <a:xfrm xmlns:a="http://schemas.openxmlformats.org/drawingml/2006/main">
            <a:off x="749808" y="1499616"/>
            <a:ext cx="175802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The architect who built it</a:t>
            </a:r>
            <a:endParaRPr sz="1120"/>
          </a:p>
        </p:txBody>
      </p:sp>
      <p:sp>
        <p:nvSpPr>
          <p:cNvPr id="6" name="Text 4">
            <a:extLst xmlns:a="http://schemas.openxmlformats.org/drawingml/2006/main">
              <a:ext uri="{FF2B5EF4-FFF2-40B4-BE49-F238E27FC236}">
                <a16:creationId xmlns:a16="http://schemas.microsoft.com/office/drawing/2014/main" id="{588040DA-D6FC-42E9-9D75-B9EBC5C1F7EB}"/>
              </a:ext>
            </a:extLst>
          </p:cNvPr>
          <p:cNvSpPr>
            <a:spLocks xmlns:a="http://schemas.openxmlformats.org/drawingml/2006/main" noGrp="1"/>
          </p:cNvSpPr>
          <p:nvPr/>
        </p:nvSpPr>
        <p:spPr>
          <a:xfrm xmlns:a="http://schemas.openxmlformats.org/drawingml/2006/main">
            <a:off x="749808" y="2121408"/>
            <a:ext cx="1758025"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Owns architecture, integration and extensibility. Must be someone who has made trade-offs on a live deployment, not a presenter briefed on the diagram.</a:t>
            </a:r>
            <a:endParaRPr sz="920"/>
          </a:p>
        </p:txBody>
      </p:sp>
      <p:sp>
        <p:nvSpPr>
          <p:cNvPr id="7" name="Shape 5">
            <a:extLst xmlns:a="http://schemas.openxmlformats.org/drawingml/2006/main">
              <a:ext uri="{FF2B5EF4-FFF2-40B4-BE49-F238E27FC236}">
                <a16:creationId xmlns:a16="http://schemas.microsoft.com/office/drawing/2014/main" id="{65BCE0AD-7533-4978-AA95-7E465113D0F9}"/>
              </a:ext>
            </a:extLst>
          </p:cNvPr>
          <p:cNvSpPr>
            <a:spLocks xmlns:a="http://schemas.openxmlformats.org/drawingml/2006/main" noGrp="1"/>
          </p:cNvSpPr>
          <p:nvPr/>
        </p:nvSpPr>
        <p:spPr>
          <a:xfrm xmlns:a="http://schemas.openxmlformats.org/drawingml/2006/main">
            <a:off x="2800441" y="1335024"/>
            <a:ext cx="2123785" cy="20116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76412F56-E7F5-49F9-812A-9324291942FA}"/>
              </a:ext>
            </a:extLst>
          </p:cNvPr>
          <p:cNvSpPr>
            <a:spLocks xmlns:a="http://schemas.openxmlformats.org/drawingml/2006/main" noGrp="1"/>
          </p:cNvSpPr>
          <p:nvPr/>
        </p:nvSpPr>
        <p:spPr>
          <a:xfrm xmlns:a="http://schemas.openxmlformats.org/drawingml/2006/main">
            <a:off x="2983321" y="1499616"/>
            <a:ext cx="175802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The engineer who broke it</a:t>
            </a:r>
            <a:endParaRPr sz="1120"/>
          </a:p>
        </p:txBody>
      </p:sp>
      <p:sp>
        <p:nvSpPr>
          <p:cNvPr id="9" name="Text 7">
            <a:extLst xmlns:a="http://schemas.openxmlformats.org/drawingml/2006/main">
              <a:ext uri="{FF2B5EF4-FFF2-40B4-BE49-F238E27FC236}">
                <a16:creationId xmlns:a16="http://schemas.microsoft.com/office/drawing/2014/main" id="{8742AEA8-8870-4B7F-A280-C8355DF0F558}"/>
              </a:ext>
            </a:extLst>
          </p:cNvPr>
          <p:cNvSpPr>
            <a:spLocks xmlns:a="http://schemas.openxmlformats.org/drawingml/2006/main" noGrp="1"/>
          </p:cNvSpPr>
          <p:nvPr/>
        </p:nvSpPr>
        <p:spPr>
          <a:xfrm xmlns:a="http://schemas.openxmlformats.org/drawingml/2006/main">
            <a:off x="2983321" y="2121408"/>
            <a:ext cx="1758025"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Owns scalability and incidents. The credibility of the whole day rests on someone being able to describe a real failure without flinching.</a:t>
            </a:r>
            <a:endParaRPr sz="920"/>
          </a:p>
        </p:txBody>
      </p:sp>
      <p:sp>
        <p:nvSpPr>
          <p:cNvPr id="10" name="Shape 8">
            <a:extLst xmlns:a="http://schemas.openxmlformats.org/drawingml/2006/main">
              <a:ext uri="{FF2B5EF4-FFF2-40B4-BE49-F238E27FC236}">
                <a16:creationId xmlns:a16="http://schemas.microsoft.com/office/drawing/2014/main" id="{627BAD47-4D60-4C94-B90E-273C60A9D5C1}"/>
              </a:ext>
            </a:extLst>
          </p:cNvPr>
          <p:cNvSpPr>
            <a:spLocks xmlns:a="http://schemas.openxmlformats.org/drawingml/2006/main" noGrp="1"/>
          </p:cNvSpPr>
          <p:nvPr/>
        </p:nvSpPr>
        <p:spPr>
          <a:xfrm xmlns:a="http://schemas.openxmlformats.org/drawingml/2006/main">
            <a:off x="5033955" y="1335024"/>
            <a:ext cx="2123785" cy="2011680"/>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0E081512-3E99-4DD9-A88A-E3B82308F3CD}"/>
              </a:ext>
            </a:extLst>
          </p:cNvPr>
          <p:cNvSpPr>
            <a:spLocks xmlns:a="http://schemas.openxmlformats.org/drawingml/2006/main" noGrp="1"/>
          </p:cNvSpPr>
          <p:nvPr/>
        </p:nvSpPr>
        <p:spPr>
          <a:xfrm xmlns:a="http://schemas.openxmlformats.org/drawingml/2006/main">
            <a:off x="5216835" y="1499616"/>
            <a:ext cx="175802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The security owner</a:t>
            </a:r>
            <a:endParaRPr sz="1120"/>
          </a:p>
        </p:txBody>
      </p:sp>
      <p:sp>
        <p:nvSpPr>
          <p:cNvPr id="12" name="Text 10">
            <a:extLst xmlns:a="http://schemas.openxmlformats.org/drawingml/2006/main">
              <a:ext uri="{FF2B5EF4-FFF2-40B4-BE49-F238E27FC236}">
                <a16:creationId xmlns:a16="http://schemas.microsoft.com/office/drawing/2014/main" id="{7FBD85B9-4B13-4FAB-9D55-75C45B0A7BCB}"/>
              </a:ext>
            </a:extLst>
          </p:cNvPr>
          <p:cNvSpPr>
            <a:spLocks xmlns:a="http://schemas.openxmlformats.org/drawingml/2006/main" noGrp="1"/>
          </p:cNvSpPr>
          <p:nvPr/>
        </p:nvSpPr>
        <p:spPr>
          <a:xfrm xmlns:a="http://schemas.openxmlformats.org/drawingml/2006/main">
            <a:off x="5216835" y="2121408"/>
            <a:ext cx="1758025"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Owns the security and compliance track. Answers with controls first and certificates second, and can go deeper than the deck on any single control.</a:t>
            </a:r>
            <a:endParaRPr sz="920"/>
          </a:p>
        </p:txBody>
      </p:sp>
      <p:sp>
        <p:nvSpPr>
          <p:cNvPr id="13" name="Shape 11">
            <a:extLst xmlns:a="http://schemas.openxmlformats.org/drawingml/2006/main">
              <a:ext uri="{FF2B5EF4-FFF2-40B4-BE49-F238E27FC236}">
                <a16:creationId xmlns:a16="http://schemas.microsoft.com/office/drawing/2014/main" id="{9A0D65B0-2625-4A28-AB98-8D77AA913CEF}"/>
              </a:ext>
            </a:extLst>
          </p:cNvPr>
          <p:cNvSpPr>
            <a:spLocks xmlns:a="http://schemas.openxmlformats.org/drawingml/2006/main" noGrp="1"/>
          </p:cNvSpPr>
          <p:nvPr/>
        </p:nvSpPr>
        <p:spPr>
          <a:xfrm xmlns:a="http://schemas.openxmlformats.org/drawingml/2006/main">
            <a:off x="7267468" y="1335024"/>
            <a:ext cx="2123785" cy="2011680"/>
          </a:xfrm>
          <a:prstGeom xmlns:a="http://schemas.openxmlformats.org/drawingml/2006/main" prst="rect">
            <a:avLst/>
          </a:prstGeom>
          <a:solidFill xmlns:a="http://schemas.openxmlformats.org/drawingml/2006/main">
            <a:srgbClr val="F0F4F8"/>
          </a:solidFill>
        </p:spPr>
      </p:sp>
      <p:sp>
        <p:nvSpPr>
          <p:cNvPr id="14" name="Text 12">
            <a:extLst xmlns:a="http://schemas.openxmlformats.org/drawingml/2006/main">
              <a:ext uri="{FF2B5EF4-FFF2-40B4-BE49-F238E27FC236}">
                <a16:creationId xmlns:a16="http://schemas.microsoft.com/office/drawing/2014/main" id="{B5964450-DF68-4D52-89EA-38AECC47DE61}"/>
              </a:ext>
            </a:extLst>
          </p:cNvPr>
          <p:cNvSpPr>
            <a:spLocks xmlns:a="http://schemas.openxmlformats.org/drawingml/2006/main" noGrp="1"/>
          </p:cNvSpPr>
          <p:nvPr/>
        </p:nvSpPr>
        <p:spPr>
          <a:xfrm xmlns:a="http://schemas.openxmlformats.org/drawingml/2006/main">
            <a:off x="7450348" y="1499616"/>
            <a:ext cx="175802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The migration lead</a:t>
            </a:r>
            <a:endParaRPr sz="1120"/>
          </a:p>
        </p:txBody>
      </p:sp>
      <p:sp>
        <p:nvSpPr>
          <p:cNvPr id="15" name="Text 13">
            <a:extLst xmlns:a="http://schemas.openxmlformats.org/drawingml/2006/main">
              <a:ext uri="{FF2B5EF4-FFF2-40B4-BE49-F238E27FC236}">
                <a16:creationId xmlns:a16="http://schemas.microsoft.com/office/drawing/2014/main" id="{5522EC96-B5D3-41E9-A3CC-E592A886FA97}"/>
              </a:ext>
            </a:extLst>
          </p:cNvPr>
          <p:cNvSpPr>
            <a:spLocks xmlns:a="http://schemas.openxmlformats.org/drawingml/2006/main" noGrp="1"/>
          </p:cNvSpPr>
          <p:nvPr/>
        </p:nvSpPr>
        <p:spPr>
          <a:xfrm xmlns:a="http://schemas.openxmlformats.org/drawingml/2006/main">
            <a:off x="7450348" y="2121408"/>
            <a:ext cx="1758025"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Owns data migration. The one person in the room whose job is to say what should not be moved.</a:t>
            </a:r>
            <a:endParaRPr sz="920"/>
          </a:p>
        </p:txBody>
      </p:sp>
      <p:sp>
        <p:nvSpPr>
          <p:cNvPr id="16" name="Shape 14">
            <a:extLst xmlns:a="http://schemas.openxmlformats.org/drawingml/2006/main">
              <a:ext uri="{FF2B5EF4-FFF2-40B4-BE49-F238E27FC236}">
                <a16:creationId xmlns:a16="http://schemas.microsoft.com/office/drawing/2014/main" id="{8CCA2268-A37C-479C-96DA-4A9800F2D7C2}"/>
              </a:ext>
            </a:extLst>
          </p:cNvPr>
          <p:cNvSpPr>
            <a:spLocks xmlns:a="http://schemas.openxmlformats.org/drawingml/2006/main" noGrp="1"/>
          </p:cNvSpPr>
          <p:nvPr/>
        </p:nvSpPr>
        <p:spPr>
          <a:xfrm xmlns:a="http://schemas.openxmlformats.org/drawingml/2006/main">
            <a:off x="9500982" y="1335024"/>
            <a:ext cx="2123785" cy="2011680"/>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2B2A2308-D079-48E1-AB7B-CF801547202C}"/>
              </a:ext>
            </a:extLst>
          </p:cNvPr>
          <p:cNvSpPr>
            <a:spLocks xmlns:a="http://schemas.openxmlformats.org/drawingml/2006/main" noGrp="1"/>
          </p:cNvSpPr>
          <p:nvPr/>
        </p:nvSpPr>
        <p:spPr>
          <a:xfrm xmlns:a="http://schemas.openxmlformats.org/drawingml/2006/main">
            <a:off x="9683862" y="1499616"/>
            <a:ext cx="1758025"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B04A25"/>
                </a:solidFill>
                <a:latin typeface="Arial"/>
                <a:ea typeface="Arial"/>
                <a:cs typeface="Arial"/>
              </a:rPr>
              <a:t>The deal lead, silent</a:t>
            </a:r>
            <a:endParaRPr sz="1120"/>
          </a:p>
        </p:txBody>
      </p:sp>
      <p:sp>
        <p:nvSpPr>
          <p:cNvPr id="18" name="Text 16">
            <a:extLst xmlns:a="http://schemas.openxmlformats.org/drawingml/2006/main">
              <a:ext uri="{FF2B5EF4-FFF2-40B4-BE49-F238E27FC236}">
                <a16:creationId xmlns:a16="http://schemas.microsoft.com/office/drawing/2014/main" id="{5F286204-2D6A-45E2-A40D-A0D813BBDC2F}"/>
              </a:ext>
            </a:extLst>
          </p:cNvPr>
          <p:cNvSpPr>
            <a:spLocks xmlns:a="http://schemas.openxmlformats.org/drawingml/2006/main" noGrp="1"/>
          </p:cNvSpPr>
          <p:nvPr/>
        </p:nvSpPr>
        <p:spPr>
          <a:xfrm xmlns:a="http://schemas.openxmlformats.org/drawingml/2006/main">
            <a:off x="9683862" y="2121408"/>
            <a:ext cx="1758025"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Present, tracking questions and commitments, intervening only on scope and commitment — never answering a technical question on someone else's behalf.</a:t>
            </a:r>
            <a:endParaRPr sz="920"/>
          </a:p>
        </p:txBody>
      </p:sp>
      <p:sp>
        <p:nvSpPr>
          <p:cNvPr id="19" name="Text 17">
            <a:extLst xmlns:a="http://schemas.openxmlformats.org/drawingml/2006/main">
              <a:ext uri="{FF2B5EF4-FFF2-40B4-BE49-F238E27FC236}">
                <a16:creationId xmlns:a16="http://schemas.microsoft.com/office/drawing/2014/main" id="{55751E00-1C89-4287-BEDD-1DCC133D6B15}"/>
              </a:ext>
            </a:extLst>
          </p:cNvPr>
          <p:cNvSpPr>
            <a:spLocks xmlns:a="http://schemas.openxmlformats.org/drawingml/2006/main" noGrp="1"/>
          </p:cNvSpPr>
          <p:nvPr/>
        </p:nvSpPr>
        <p:spPr>
          <a:xfrm xmlns:a="http://schemas.openxmlformats.org/drawingml/2006/main">
            <a:off x="566928" y="3621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Handling a question you cannot answer</a:t>
            </a:r>
            <a:endParaRPr sz="1100"/>
          </a:p>
        </p:txBody>
      </p:sp>
      <p:sp>
        <p:nvSpPr>
          <p:cNvPr id="20" name="Shape 18">
            <a:extLst xmlns:a="http://schemas.openxmlformats.org/drawingml/2006/main">
              <a:ext uri="{FF2B5EF4-FFF2-40B4-BE49-F238E27FC236}">
                <a16:creationId xmlns:a16="http://schemas.microsoft.com/office/drawing/2014/main" id="{AA9BB520-5C5D-42D4-AC9C-B417724F0804}"/>
              </a:ext>
            </a:extLst>
          </p:cNvPr>
          <p:cNvSpPr>
            <a:spLocks xmlns:a="http://schemas.openxmlformats.org/drawingml/2006/main" noGrp="1"/>
          </p:cNvSpPr>
          <p:nvPr/>
        </p:nvSpPr>
        <p:spPr>
          <a:xfrm xmlns:a="http://schemas.openxmlformats.org/drawingml/2006/main">
            <a:off x="566928" y="3877056"/>
            <a:ext cx="3551834" cy="20117"/>
          </a:xfrm>
          <a:prstGeom xmlns:a="http://schemas.openxmlformats.org/drawingml/2006/main" prst="rect">
            <a:avLst/>
          </a:prstGeom>
          <a:solidFill xmlns:a="http://schemas.openxmlformats.org/drawingml/2006/main">
            <a:srgbClr val="B04A25"/>
          </a:solidFill>
        </p:spPr>
      </p:sp>
      <p:sp>
        <p:nvSpPr>
          <p:cNvPr id="21" name="Text 19">
            <a:extLst xmlns:a="http://schemas.openxmlformats.org/drawingml/2006/main">
              <a:ext uri="{FF2B5EF4-FFF2-40B4-BE49-F238E27FC236}">
                <a16:creationId xmlns:a16="http://schemas.microsoft.com/office/drawing/2014/main" id="{E9D32B8E-90BF-4CC8-B62D-F7656DAACA55}"/>
              </a:ext>
            </a:extLst>
          </p:cNvPr>
          <p:cNvSpPr>
            <a:spLocks xmlns:a="http://schemas.openxmlformats.org/drawingml/2006/main" noGrp="1"/>
          </p:cNvSpPr>
          <p:nvPr/>
        </p:nvSpPr>
        <p:spPr>
          <a:xfrm xmlns:a="http://schemas.openxmlformats.org/drawingml/2006/main">
            <a:off x="566928" y="400507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Say so, name who can, and commit to a written answer with a date — then meet it.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Panels expect gaps. They do not expect a confident wrong answer, and they remember one.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tracked question log, shared back the same evening, is worth more than an improvised answer.</a:t>
            </a:r>
            <a:endParaRPr sz="950"/>
          </a:p>
        </p:txBody>
      </p:sp>
      <p:sp>
        <p:nvSpPr>
          <p:cNvPr id="22" name="Text 20">
            <a:extLst xmlns:a="http://schemas.openxmlformats.org/drawingml/2006/main">
              <a:ext uri="{FF2B5EF4-FFF2-40B4-BE49-F238E27FC236}">
                <a16:creationId xmlns:a16="http://schemas.microsoft.com/office/drawing/2014/main" id="{644D6383-5688-41C1-9804-A9070FA046BB}"/>
              </a:ext>
            </a:extLst>
          </p:cNvPr>
          <p:cNvSpPr>
            <a:spLocks xmlns:a="http://schemas.openxmlformats.org/drawingml/2006/main" noGrp="1"/>
          </p:cNvSpPr>
          <p:nvPr/>
        </p:nvSpPr>
        <p:spPr>
          <a:xfrm xmlns:a="http://schemas.openxmlformats.org/drawingml/2006/main">
            <a:off x="4319930" y="3621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Handling the parallel track</a:t>
            </a:r>
            <a:endParaRPr sz="1100"/>
          </a:p>
        </p:txBody>
      </p:sp>
      <p:sp>
        <p:nvSpPr>
          <p:cNvPr id="23" name="Shape 21">
            <a:extLst xmlns:a="http://schemas.openxmlformats.org/drawingml/2006/main">
              <a:ext uri="{FF2B5EF4-FFF2-40B4-BE49-F238E27FC236}">
                <a16:creationId xmlns:a16="http://schemas.microsoft.com/office/drawing/2014/main" id="{2560BCAB-CAD2-4B93-87CC-8BBD54B1E749}"/>
              </a:ext>
            </a:extLst>
          </p:cNvPr>
          <p:cNvSpPr>
            <a:spLocks xmlns:a="http://schemas.openxmlformats.org/drawingml/2006/main" noGrp="1"/>
          </p:cNvSpPr>
          <p:nvPr/>
        </p:nvSpPr>
        <p:spPr>
          <a:xfrm xmlns:a="http://schemas.openxmlformats.org/drawingml/2006/main">
            <a:off x="4319930" y="3877056"/>
            <a:ext cx="3551834" cy="20117"/>
          </a:xfrm>
          <a:prstGeom xmlns:a="http://schemas.openxmlformats.org/drawingml/2006/main" prst="rect">
            <a:avLst/>
          </a:prstGeom>
          <a:solidFill xmlns:a="http://schemas.openxmlformats.org/drawingml/2006/main">
            <a:srgbClr val="102A43"/>
          </a:solidFill>
        </p:spPr>
      </p:sp>
      <p:sp>
        <p:nvSpPr>
          <p:cNvPr id="24" name="Text 22">
            <a:extLst xmlns:a="http://schemas.openxmlformats.org/drawingml/2006/main">
              <a:ext uri="{FF2B5EF4-FFF2-40B4-BE49-F238E27FC236}">
                <a16:creationId xmlns:a16="http://schemas.microsoft.com/office/drawing/2014/main" id="{6B42A781-3633-4986-A99C-6EB9574FD4E3}"/>
              </a:ext>
            </a:extLst>
          </p:cNvPr>
          <p:cNvSpPr>
            <a:spLocks xmlns:a="http://schemas.openxmlformats.org/drawingml/2006/main" noGrp="1"/>
          </p:cNvSpPr>
          <p:nvPr/>
        </p:nvSpPr>
        <p:spPr>
          <a:xfrm xmlns:a="http://schemas.openxmlformats.org/drawingml/2006/main">
            <a:off x="4319930" y="400507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Two tracks means two panels forming independent impressions, and they will compare notes.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An inconsistency between tracks reads as either disorganisation or evasion.</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Brief both teams on the same answers to the five deciding questions before the day starts.</a:t>
            </a:r>
            <a:endParaRPr sz="950"/>
          </a:p>
        </p:txBody>
      </p:sp>
      <p:sp>
        <p:nvSpPr>
          <p:cNvPr id="25" name="Text 23">
            <a:extLst xmlns:a="http://schemas.openxmlformats.org/drawingml/2006/main">
              <a:ext uri="{FF2B5EF4-FFF2-40B4-BE49-F238E27FC236}">
                <a16:creationId xmlns:a16="http://schemas.microsoft.com/office/drawing/2014/main" id="{56838116-B2DC-4C75-A334-A0BD88693A08}"/>
              </a:ext>
            </a:extLst>
          </p:cNvPr>
          <p:cNvSpPr>
            <a:spLocks xmlns:a="http://schemas.openxmlformats.org/drawingml/2006/main" noGrp="1"/>
          </p:cNvSpPr>
          <p:nvPr/>
        </p:nvSpPr>
        <p:spPr>
          <a:xfrm xmlns:a="http://schemas.openxmlformats.org/drawingml/2006/main">
            <a:off x="8072933" y="362102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last thirty minutes</a:t>
            </a:r>
            <a:endParaRPr sz="1100"/>
          </a:p>
        </p:txBody>
      </p:sp>
      <p:sp>
        <p:nvSpPr>
          <p:cNvPr id="26" name="Shape 24">
            <a:extLst xmlns:a="http://schemas.openxmlformats.org/drawingml/2006/main">
              <a:ext uri="{FF2B5EF4-FFF2-40B4-BE49-F238E27FC236}">
                <a16:creationId xmlns:a16="http://schemas.microsoft.com/office/drawing/2014/main" id="{21F32DB1-1B3A-468F-8449-E26D22FF4DC4}"/>
              </a:ext>
            </a:extLst>
          </p:cNvPr>
          <p:cNvSpPr>
            <a:spLocks xmlns:a="http://schemas.openxmlformats.org/drawingml/2006/main" noGrp="1"/>
          </p:cNvSpPr>
          <p:nvPr/>
        </p:nvSpPr>
        <p:spPr>
          <a:xfrm xmlns:a="http://schemas.openxmlformats.org/drawingml/2006/main">
            <a:off x="8072933" y="3877056"/>
            <a:ext cx="3551834" cy="20117"/>
          </a:xfrm>
          <a:prstGeom xmlns:a="http://schemas.openxmlformats.org/drawingml/2006/main" prst="rect">
            <a:avLst/>
          </a:prstGeom>
          <a:solidFill xmlns:a="http://schemas.openxmlformats.org/drawingml/2006/main">
            <a:srgbClr val="486581"/>
          </a:solidFill>
        </p:spPr>
      </p:sp>
      <p:sp>
        <p:nvSpPr>
          <p:cNvPr id="27" name="Text 25">
            <a:extLst xmlns:a="http://schemas.openxmlformats.org/drawingml/2006/main">
              <a:ext uri="{FF2B5EF4-FFF2-40B4-BE49-F238E27FC236}">
                <a16:creationId xmlns:a16="http://schemas.microsoft.com/office/drawing/2014/main" id="{A18B1C7C-C529-4B61-9530-BF7CEFA5307D}"/>
              </a:ext>
            </a:extLst>
          </p:cNvPr>
          <p:cNvSpPr>
            <a:spLocks xmlns:a="http://schemas.openxmlformats.org/drawingml/2006/main" noGrp="1"/>
          </p:cNvSpPr>
          <p:nvPr/>
        </p:nvSpPr>
        <p:spPr>
          <a:xfrm xmlns:a="http://schemas.openxmlformats.org/drawingml/2006/main">
            <a:off x="8072933" y="400507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clarification window is not a formality — it is the last chance to correct a misread.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Come with the two things you most want restated, and say them.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Close by confirming the open-question list and when each answer lands.</a:t>
            </a:r>
            <a:endParaRPr sz="950"/>
          </a:p>
        </p:txBody>
      </p:sp>
      <p:sp>
        <p:nvSpPr>
          <p:cNvPr id="28" name="Shape 26">
            <a:extLst xmlns:a="http://schemas.openxmlformats.org/drawingml/2006/main">
              <a:ext uri="{FF2B5EF4-FFF2-40B4-BE49-F238E27FC236}">
                <a16:creationId xmlns:a16="http://schemas.microsoft.com/office/drawing/2014/main" id="{828F6CB6-0A8D-4136-ABD6-3F1687FC4CC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077B1D0C-1E49-42DD-BF62-219C859FCAC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Evaluation agenda and session structure as set by the bank · author's method</a:t>
            </a:r>
            <a:endParaRPr sz="850"/>
          </a:p>
        </p:txBody>
      </p:sp>
      <p:sp>
        <p:nvSpPr>
          <p:cNvPr id="30" name="Text 28">
            <a:extLst xmlns:a="http://schemas.openxmlformats.org/drawingml/2006/main">
              <a:ext uri="{FF2B5EF4-FFF2-40B4-BE49-F238E27FC236}">
                <a16:creationId xmlns:a16="http://schemas.microsoft.com/office/drawing/2014/main" id="{2572DEE8-F4F5-437A-9A2B-3EFBFC3AB02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2110248349"/>
      </p:ext>
    </p:extLst>
  </p:cSld>
</p:sld>
</file>

<file path=ppt/slides/slide24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CF3E81-CFD3-4A8F-8B31-CAAB80CD261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C85C7421-C3FE-4DBA-B482-837163CE2A5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any technical evaluation day</a:t>
            </a:r>
            <a:endParaRPr sz="1900"/>
          </a:p>
        </p:txBody>
      </p:sp>
      <p:sp>
        <p:nvSpPr>
          <p:cNvPr id="4" name="Text 2">
            <a:extLst xmlns:a="http://schemas.openxmlformats.org/drawingml/2006/main">
              <a:ext uri="{FF2B5EF4-FFF2-40B4-BE49-F238E27FC236}">
                <a16:creationId xmlns:a16="http://schemas.microsoft.com/office/drawing/2014/main" id="{DEF86B4F-C2AC-466C-8710-0AEC1E8EB883}"/>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1F176DB6-F2C4-4C52-91B9-E5683ED9DFB8}"/>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Prepare to the test, not to the title</a:t>
            </a:r>
            <a:endParaRPr sz="1200"/>
          </a:p>
        </p:txBody>
      </p:sp>
      <p:sp>
        <p:nvSpPr>
          <p:cNvPr id="6" name="Text 4">
            <a:extLst xmlns:a="http://schemas.openxmlformats.org/drawingml/2006/main">
              <a:ext uri="{FF2B5EF4-FFF2-40B4-BE49-F238E27FC236}">
                <a16:creationId xmlns:a16="http://schemas.microsoft.com/office/drawing/2014/main" id="{4542FE64-CEE4-4372-B7B8-A7CFEEDBCFE3}"/>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Session titles are written to structure a day; the questions come from architects testing something narrower. Map each session to what it actually measures before preparing a single slide.</a:t>
            </a:r>
            <a:endParaRPr sz="1000"/>
          </a:p>
        </p:txBody>
      </p:sp>
      <p:sp>
        <p:nvSpPr>
          <p:cNvPr id="7" name="Shape 5">
            <a:extLst xmlns:a="http://schemas.openxmlformats.org/drawingml/2006/main">
              <a:ext uri="{FF2B5EF4-FFF2-40B4-BE49-F238E27FC236}">
                <a16:creationId xmlns:a16="http://schemas.microsoft.com/office/drawing/2014/main" id="{44D3B235-B8B6-44B7-8082-38A4E2E265DE}"/>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4A8CEF1E-1C2A-4252-B9AF-646FAE4CE3CD}"/>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25A2A412-D81A-4291-A8ED-FD4224FF80F9}"/>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Bring artefacts, not assertions</a:t>
            </a:r>
            <a:endParaRPr sz="1200"/>
          </a:p>
        </p:txBody>
      </p:sp>
      <p:sp>
        <p:nvSpPr>
          <p:cNvPr id="10" name="Text 8">
            <a:extLst xmlns:a="http://schemas.openxmlformats.org/drawingml/2006/main">
              <a:ext uri="{FF2B5EF4-FFF2-40B4-BE49-F238E27FC236}">
                <a16:creationId xmlns:a16="http://schemas.microsoft.com/office/drawing/2014/main" id="{B436C426-8A8D-46E0-9389-EB7336F94F06}"/>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redacted production diagram, a dated load-test report and a timed configuration recording outperform any presentation — largely because they were produced for a purpose other than winning this deal.</a:t>
            </a:r>
            <a:endParaRPr sz="1000"/>
          </a:p>
        </p:txBody>
      </p:sp>
      <p:sp>
        <p:nvSpPr>
          <p:cNvPr id="11" name="Shape 9">
            <a:extLst xmlns:a="http://schemas.openxmlformats.org/drawingml/2006/main">
              <a:ext uri="{FF2B5EF4-FFF2-40B4-BE49-F238E27FC236}">
                <a16:creationId xmlns:a16="http://schemas.microsoft.com/office/drawing/2014/main" id="{0C55BB76-06F3-4246-9921-271381B9B204}"/>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EA2CCF4E-FC58-44FC-A3C1-5E66419171F0}"/>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80DCEF23-CFDD-4869-B865-957CEAB8FC31}"/>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Send the people who did it</a:t>
            </a:r>
            <a:endParaRPr sz="1200"/>
          </a:p>
        </p:txBody>
      </p:sp>
      <p:sp>
        <p:nvSpPr>
          <p:cNvPr id="14" name="Text 12">
            <a:extLst xmlns:a="http://schemas.openxmlformats.org/drawingml/2006/main">
              <a:ext uri="{FF2B5EF4-FFF2-40B4-BE49-F238E27FC236}">
                <a16:creationId xmlns:a16="http://schemas.microsoft.com/office/drawing/2014/main" id="{56B32FFC-B602-4E56-832A-4CE1AC77EF76}"/>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 panel is assessing operating experience, not product knowledge. Someone who can describe a real incident with the uncomfortable parts intact is worth more than a polished presenter.</a:t>
            </a:r>
            <a:endParaRPr sz="1000"/>
          </a:p>
        </p:txBody>
      </p:sp>
      <p:sp>
        <p:nvSpPr>
          <p:cNvPr id="15" name="Shape 13">
            <a:extLst xmlns:a="http://schemas.openxmlformats.org/drawingml/2006/main">
              <a:ext uri="{FF2B5EF4-FFF2-40B4-BE49-F238E27FC236}">
                <a16:creationId xmlns:a16="http://schemas.microsoft.com/office/drawing/2014/main" id="{01255C59-8C78-4249-B86E-EC205D4F8883}"/>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E03F6E63-6022-430F-A867-828243F5429F}"/>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EEBF68A5-E8D9-4339-AE64-2E7CA3B1BB86}"/>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Audit currency before every evaluation</a:t>
            </a:r>
            <a:endParaRPr sz="1200"/>
          </a:p>
        </p:txBody>
      </p:sp>
      <p:sp>
        <p:nvSpPr>
          <p:cNvPr id="18" name="Text 16">
            <a:extLst xmlns:a="http://schemas.openxmlformats.org/drawingml/2006/main">
              <a:ext uri="{FF2B5EF4-FFF2-40B4-BE49-F238E27FC236}">
                <a16:creationId xmlns:a16="http://schemas.microsoft.com/office/drawing/2014/main" id="{A3AD782D-832F-4A7D-8686-656AA0B9A1C9}"/>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One stale version number in an appendix invites a panel to re-read the whole response looking for what else is out of date. An afternoon's audit is the highest-return preparation there is.</a:t>
            </a:r>
            <a:endParaRPr sz="1000"/>
          </a:p>
        </p:txBody>
      </p:sp>
      <p:sp>
        <p:nvSpPr>
          <p:cNvPr id="19" name="Shape 17">
            <a:extLst xmlns:a="http://schemas.openxmlformats.org/drawingml/2006/main">
              <a:ext uri="{FF2B5EF4-FFF2-40B4-BE49-F238E27FC236}">
                <a16:creationId xmlns:a16="http://schemas.microsoft.com/office/drawing/2014/main" id="{55DB38B5-5BF9-4B70-99A1-E719D4E3EA17}"/>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051CE832-0DBE-4D35-B895-59602B819828}"/>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A technical panel is not deciding whether the platform can do the job — the shortlist settled that. It is deciding whether the people in the room have done it before, and every question is built to find out.</a:t>
            </a:r>
            <a:endParaRPr sz="1200"/>
          </a:p>
        </p:txBody>
      </p:sp>
      <p:sp>
        <p:nvSpPr>
          <p:cNvPr id="21" name="Shape 19">
            <a:extLst xmlns:a="http://schemas.openxmlformats.org/drawingml/2006/main">
              <a:ext uri="{FF2B5EF4-FFF2-40B4-BE49-F238E27FC236}">
                <a16:creationId xmlns:a16="http://schemas.microsoft.com/office/drawing/2014/main" id="{D1311F79-A0A3-4AC5-BBDF-7B7805E65E5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A95FC396-73BE-4904-BA76-7A9BB29F3FB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of technical evaluation days</a:t>
            </a:r>
            <a:endParaRPr sz="850"/>
          </a:p>
        </p:txBody>
      </p:sp>
      <p:sp>
        <p:nvSpPr>
          <p:cNvPr id="23" name="Text 21">
            <a:extLst xmlns:a="http://schemas.openxmlformats.org/drawingml/2006/main">
              <a:ext uri="{FF2B5EF4-FFF2-40B4-BE49-F238E27FC236}">
                <a16:creationId xmlns:a16="http://schemas.microsoft.com/office/drawing/2014/main" id="{EA974A81-3B16-4BC2-9968-A27F5B264D0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9</a:t>
            </a:r>
            <a:endParaRPr sz="850"/>
          </a:p>
        </p:txBody>
      </p:sp>
    </p:spTree>
    <p:extLst>
      <p:ext uri="{BB962C8B-B14F-4D97-AF65-F5344CB8AC3E}">
        <p14:creationId xmlns:p14="http://schemas.microsoft.com/office/powerpoint/2010/main" val="17762714"/>
      </p:ext>
    </p:extLst>
  </p:cSld>
</p:sld>
</file>

<file path=ppt/slides/slide246.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1E360A-DF19-4E7E-A5F6-19075E50D13D}"/>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REFERENCE ANALYSIS  ·  23 OF 30</a:t>
            </a:r>
            <a:endParaRPr sz="950"/>
          </a:p>
        </p:txBody>
      </p:sp>
      <p:sp>
        <p:nvSpPr>
          <p:cNvPr id="3" name="Text 1">
            <a:extLst xmlns:a="http://schemas.openxmlformats.org/drawingml/2006/main">
              <a:ext uri="{FF2B5EF4-FFF2-40B4-BE49-F238E27FC236}">
                <a16:creationId xmlns:a16="http://schemas.microsoft.com/office/drawing/2014/main" id="{BACBD296-7C83-4E6F-B26C-6E6B81016F95}"/>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Bank Danamon</a:t>
            </a:r>
            <a:endParaRPr sz="3800"/>
          </a:p>
        </p:txBody>
      </p:sp>
      <p:sp>
        <p:nvSpPr>
          <p:cNvPr id="4" name="Text 2">
            <a:extLst xmlns:a="http://schemas.openxmlformats.org/drawingml/2006/main">
              <a:ext uri="{FF2B5EF4-FFF2-40B4-BE49-F238E27FC236}">
                <a16:creationId xmlns:a16="http://schemas.microsoft.com/office/drawing/2014/main" id="{4826D6F3-997F-401D-B4DC-26FE2B5B354E}"/>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Six thousand call types to 526 — the taxonomy was the transformation</a:t>
            </a:r>
            <a:endParaRPr sz="1800"/>
          </a:p>
        </p:txBody>
      </p:sp>
      <p:sp>
        <p:nvSpPr>
          <p:cNvPr id="5" name="Text 3">
            <a:extLst xmlns:a="http://schemas.openxmlformats.org/drawingml/2006/main">
              <a:ext uri="{FF2B5EF4-FFF2-40B4-BE49-F238E27FC236}">
                <a16:creationId xmlns:a16="http://schemas.microsoft.com/office/drawing/2014/main" id="{A623C22D-D226-4BF3-AA92-02131F93E77E}"/>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service catalogue that has grown to six thousand entries is not a catalogue. It is an archaeological record of every request anyone ever made, and no amount of routing, automation or agent training fixes what sits underneath it.</a:t>
            </a:r>
            <a:endParaRPr sz="1150"/>
          </a:p>
        </p:txBody>
      </p:sp>
      <p:sp>
        <p:nvSpPr>
          <p:cNvPr id="6" name="Shape 4">
            <a:extLst xmlns:a="http://schemas.openxmlformats.org/drawingml/2006/main">
              <a:ext uri="{FF2B5EF4-FFF2-40B4-BE49-F238E27FC236}">
                <a16:creationId xmlns:a16="http://schemas.microsoft.com/office/drawing/2014/main" id="{4451EA50-E1E4-42F9-81B9-D964B4677B15}"/>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60E77AF9-631F-4163-BA40-43C8B246B71C}"/>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6,000</a:t>
            </a:r>
            <a:endParaRPr sz="2600"/>
          </a:p>
        </p:txBody>
      </p:sp>
      <p:sp>
        <p:nvSpPr>
          <p:cNvPr id="8" name="Text 6">
            <a:extLst xmlns:a="http://schemas.openxmlformats.org/drawingml/2006/main">
              <a:ext uri="{FF2B5EF4-FFF2-40B4-BE49-F238E27FC236}">
                <a16:creationId xmlns:a16="http://schemas.microsoft.com/office/drawing/2014/main" id="{7E36B34D-A6B9-4BAB-B368-A7BD316089F5}"/>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call types</a:t>
            </a:r>
            <a:endParaRPr sz="900"/>
          </a:p>
          <a:p xmlns:a="http://schemas.openxmlformats.org/drawingml/2006/main">
            <a:pPr marL="0" indent="0">
              <a:lnSpc>
                <a:spcPts val="1100"/>
              </a:lnSpc>
              <a:buNone/>
            </a:pPr>
            <a:r>
              <a:rPr sz="900">
                <a:solidFill>
                  <a:srgbClr val="8FA9C4"/>
                </a:solidFill>
                <a:latin typeface="Arial"/>
                <a:ea typeface="Arial"/>
                <a:cs typeface="Arial"/>
              </a:rPr>
              <a:t>before</a:t>
            </a:r>
            <a:endParaRPr sz="900"/>
          </a:p>
        </p:txBody>
      </p:sp>
      <p:sp>
        <p:nvSpPr>
          <p:cNvPr id="9" name="Text 7">
            <a:extLst xmlns:a="http://schemas.openxmlformats.org/drawingml/2006/main">
              <a:ext uri="{FF2B5EF4-FFF2-40B4-BE49-F238E27FC236}">
                <a16:creationId xmlns:a16="http://schemas.microsoft.com/office/drawing/2014/main" id="{647766DB-B672-4650-911B-128C7AF8B8A7}"/>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526</a:t>
            </a:r>
            <a:endParaRPr sz="2600"/>
          </a:p>
        </p:txBody>
      </p:sp>
      <p:sp>
        <p:nvSpPr>
          <p:cNvPr id="10" name="Text 8">
            <a:extLst xmlns:a="http://schemas.openxmlformats.org/drawingml/2006/main">
              <a:ext uri="{FF2B5EF4-FFF2-40B4-BE49-F238E27FC236}">
                <a16:creationId xmlns:a16="http://schemas.microsoft.com/office/drawing/2014/main" id="{21E155BE-98A8-4D5C-AE7E-B68B8FB48AC4}"/>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call types</a:t>
            </a:r>
            <a:endParaRPr sz="900"/>
          </a:p>
          <a:p xmlns:a="http://schemas.openxmlformats.org/drawingml/2006/main">
            <a:pPr marL="0" indent="0">
              <a:lnSpc>
                <a:spcPts val="1100"/>
              </a:lnSpc>
              <a:buNone/>
            </a:pPr>
            <a:r>
              <a:rPr sz="900">
                <a:solidFill>
                  <a:srgbClr val="8FA9C4"/>
                </a:solidFill>
                <a:latin typeface="Arial"/>
                <a:ea typeface="Arial"/>
                <a:cs typeface="Arial"/>
              </a:rPr>
              <a:t>after</a:t>
            </a:r>
            <a:endParaRPr sz="900"/>
          </a:p>
        </p:txBody>
      </p:sp>
      <p:sp>
        <p:nvSpPr>
          <p:cNvPr id="11" name="Text 9">
            <a:extLst xmlns:a="http://schemas.openxmlformats.org/drawingml/2006/main">
              <a:ext uri="{FF2B5EF4-FFF2-40B4-BE49-F238E27FC236}">
                <a16:creationId xmlns:a16="http://schemas.microsoft.com/office/drawing/2014/main" id="{5A07718D-EC13-463A-BEB0-022128D35EB5}"/>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180+</a:t>
            </a:r>
            <a:endParaRPr sz="2600"/>
          </a:p>
        </p:txBody>
      </p:sp>
      <p:sp>
        <p:nvSpPr>
          <p:cNvPr id="12" name="Text 10">
            <a:extLst xmlns:a="http://schemas.openxmlformats.org/drawingml/2006/main">
              <a:ext uri="{FF2B5EF4-FFF2-40B4-BE49-F238E27FC236}">
                <a16:creationId xmlns:a16="http://schemas.microsoft.com/office/drawing/2014/main" id="{86206953-901A-476D-9DD0-41E2F12CFBA4}"/>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first-touch resolution</a:t>
            </a:r>
            <a:endParaRPr sz="900"/>
          </a:p>
          <a:p xmlns:a="http://schemas.openxmlformats.org/drawingml/2006/main">
            <a:pPr marL="0" indent="0">
              <a:lnSpc>
                <a:spcPts val="1100"/>
              </a:lnSpc>
              <a:buNone/>
            </a:pPr>
            <a:r>
              <a:rPr sz="900">
                <a:solidFill>
                  <a:srgbClr val="8FA9C4"/>
                </a:solidFill>
                <a:latin typeface="Arial"/>
                <a:ea typeface="Arial"/>
                <a:cs typeface="Arial"/>
              </a:rPr>
              <a:t>types</a:t>
            </a:r>
            <a:endParaRPr sz="900"/>
          </a:p>
        </p:txBody>
      </p:sp>
      <p:sp>
        <p:nvSpPr>
          <p:cNvPr id="13" name="Text 11">
            <a:extLst xmlns:a="http://schemas.openxmlformats.org/drawingml/2006/main">
              <a:ext uri="{FF2B5EF4-FFF2-40B4-BE49-F238E27FC236}">
                <a16:creationId xmlns:a16="http://schemas.microsoft.com/office/drawing/2014/main" id="{E004CC76-72F2-4535-9927-A11B051EA476}"/>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200+</a:t>
            </a:r>
            <a:endParaRPr sz="2600"/>
          </a:p>
        </p:txBody>
      </p:sp>
      <p:sp>
        <p:nvSpPr>
          <p:cNvPr id="14" name="Text 12">
            <a:extLst xmlns:a="http://schemas.openxmlformats.org/drawingml/2006/main">
              <a:ext uri="{FF2B5EF4-FFF2-40B4-BE49-F238E27FC236}">
                <a16:creationId xmlns:a16="http://schemas.microsoft.com/office/drawing/2014/main" id="{75E71FF0-5454-4263-9840-832901A7977C}"/>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communication</a:t>
            </a:r>
            <a:endParaRPr sz="900"/>
          </a:p>
          <a:p xmlns:a="http://schemas.openxmlformats.org/drawingml/2006/main">
            <a:pPr marL="0" indent="0">
              <a:lnSpc>
                <a:spcPts val="1100"/>
              </a:lnSpc>
              <a:buNone/>
            </a:pPr>
            <a:r>
              <a:rPr sz="900">
                <a:solidFill>
                  <a:srgbClr val="8FA9C4"/>
                </a:solidFill>
                <a:latin typeface="Arial"/>
                <a:ea typeface="Arial"/>
                <a:cs typeface="Arial"/>
              </a:rPr>
              <a:t>templates</a:t>
            </a:r>
            <a:endParaRPr sz="900"/>
          </a:p>
        </p:txBody>
      </p:sp>
      <p:sp>
        <p:nvSpPr>
          <p:cNvPr id="15" name="Text 13">
            <a:extLst xmlns:a="http://schemas.openxmlformats.org/drawingml/2006/main">
              <a:ext uri="{FF2B5EF4-FFF2-40B4-BE49-F238E27FC236}">
                <a16:creationId xmlns:a16="http://schemas.microsoft.com/office/drawing/2014/main" id="{DE443CA5-F733-436F-970A-2EB0E7208136}"/>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863+</a:t>
            </a:r>
            <a:endParaRPr sz="2600"/>
          </a:p>
        </p:txBody>
      </p:sp>
      <p:sp>
        <p:nvSpPr>
          <p:cNvPr id="16" name="Text 14">
            <a:extLst xmlns:a="http://schemas.openxmlformats.org/drawingml/2006/main">
              <a:ext uri="{FF2B5EF4-FFF2-40B4-BE49-F238E27FC236}">
                <a16:creationId xmlns:a16="http://schemas.microsoft.com/office/drawing/2014/main" id="{84769225-D910-4F2A-BAE6-6815DEE439CC}"/>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branches</a:t>
            </a:r>
            <a:endParaRPr sz="900"/>
          </a:p>
          <a:p xmlns:a="http://schemas.openxmlformats.org/drawingml/2006/main">
            <a:pPr marL="0" indent="0">
              <a:lnSpc>
                <a:spcPts val="1100"/>
              </a:lnSpc>
              <a:buNone/>
            </a:pPr>
            <a:r>
              <a:rPr sz="900">
                <a:solidFill>
                  <a:srgbClr val="8FA9C4"/>
                </a:solidFill>
                <a:latin typeface="Arial"/>
                <a:ea typeface="Arial"/>
                <a:cs typeface="Arial"/>
              </a:rPr>
              <a:t>served</a:t>
            </a:r>
            <a:endParaRPr sz="900"/>
          </a:p>
        </p:txBody>
      </p:sp>
      <p:sp>
        <p:nvSpPr>
          <p:cNvPr id="17" name="Text 15">
            <a:extLst xmlns:a="http://schemas.openxmlformats.org/drawingml/2006/main">
              <a:ext uri="{FF2B5EF4-FFF2-40B4-BE49-F238E27FC236}">
                <a16:creationId xmlns:a16="http://schemas.microsoft.com/office/drawing/2014/main" id="{31055D5B-9589-4E06-891C-F179A2AE2BEB}"/>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76</a:t>
            </a:r>
            <a:endParaRPr sz="2600"/>
          </a:p>
        </p:txBody>
      </p:sp>
      <p:sp>
        <p:nvSpPr>
          <p:cNvPr id="18" name="Text 16">
            <a:extLst xmlns:a="http://schemas.openxmlformats.org/drawingml/2006/main">
              <a:ext uri="{FF2B5EF4-FFF2-40B4-BE49-F238E27FC236}">
                <a16:creationId xmlns:a16="http://schemas.microsoft.com/office/drawing/2014/main" id="{08AEDCA0-F151-4969-94BD-44BEC056DC22}"/>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integration</a:t>
            </a:r>
            <a:endParaRPr sz="900"/>
          </a:p>
          <a:p xmlns:a="http://schemas.openxmlformats.org/drawingml/2006/main">
            <a:pPr marL="0" indent="0">
              <a:lnSpc>
                <a:spcPts val="1100"/>
              </a:lnSpc>
              <a:buNone/>
            </a:pPr>
            <a:r>
              <a:rPr sz="900">
                <a:solidFill>
                  <a:srgbClr val="8FA9C4"/>
                </a:solidFill>
                <a:latin typeface="Arial"/>
                <a:ea typeface="Arial"/>
                <a:cs typeface="Arial"/>
              </a:rPr>
              <a:t>touchpoints</a:t>
            </a:r>
            <a:endParaRPr sz="900"/>
          </a:p>
        </p:txBody>
      </p:sp>
      <p:sp>
        <p:nvSpPr>
          <p:cNvPr id="19" name="Shape 17">
            <a:extLst xmlns:a="http://schemas.openxmlformats.org/drawingml/2006/main">
              <a:ext uri="{FF2B5EF4-FFF2-40B4-BE49-F238E27FC236}">
                <a16:creationId xmlns:a16="http://schemas.microsoft.com/office/drawing/2014/main" id="{6678F24F-62EC-4062-B259-B0EFFDC4F1D0}"/>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FFD03793-2F84-40DC-B7EB-31EE1F26A253}"/>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DEPLOYMENT CONTEXT  ·  PUBLICLY AND VENDOR REPORTED</a:t>
            </a:r>
            <a:endParaRPr sz="800"/>
          </a:p>
        </p:txBody>
      </p:sp>
      <p:sp>
        <p:nvSpPr>
          <p:cNvPr id="21" name="Text 19">
            <a:extLst xmlns:a="http://schemas.openxmlformats.org/drawingml/2006/main">
              <a:ext uri="{FF2B5EF4-FFF2-40B4-BE49-F238E27FC236}">
                <a16:creationId xmlns:a16="http://schemas.microsoft.com/office/drawing/2014/main" id="{B253FF13-CE29-4940-9F91-25688FAA5FA8}"/>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Indonesia's tenth-largest bank by assets, roughly Rp276 trillion consolidated · retail, SME, commercial and enterprise banking · 5,000+ platform users, 6M+ customers</a:t>
            </a:r>
            <a:endParaRPr sz="1050"/>
          </a:p>
        </p:txBody>
      </p:sp>
      <p:sp>
        <p:nvSpPr>
          <p:cNvPr id="22" name="Text 20">
            <a:extLst xmlns:a="http://schemas.openxmlformats.org/drawingml/2006/main">
              <a:ext uri="{FF2B5EF4-FFF2-40B4-BE49-F238E27FC236}">
                <a16:creationId xmlns:a16="http://schemas.microsoft.com/office/drawing/2014/main" id="{4DB0C435-9A09-4F77-8CCB-2D9A32EFA3C2}"/>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Analysis authored for solution and transformation strategy  ·  reference deployment</a:t>
            </a:r>
            <a:endParaRPr sz="1200"/>
          </a:p>
        </p:txBody>
      </p:sp>
      <p:sp>
        <p:nvSpPr>
          <p:cNvPr id="23" name="Text 21">
            <a:extLst xmlns:a="http://schemas.openxmlformats.org/drawingml/2006/main">
              <a:ext uri="{FF2B5EF4-FFF2-40B4-BE49-F238E27FC236}">
                <a16:creationId xmlns:a16="http://schemas.microsoft.com/office/drawing/2014/main" id="{DBD0B08A-504D-4181-BCB6-BAF2F498F645}"/>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Bank scale is publicly reported; deployment figures are vendor-reported; the taxonomy method is mine.</a:t>
            </a:r>
            <a:endParaRPr sz="850"/>
          </a:p>
        </p:txBody>
      </p:sp>
    </p:spTree>
    <p:extLst>
      <p:ext uri="{BB962C8B-B14F-4D97-AF65-F5344CB8AC3E}">
        <p14:creationId xmlns:p14="http://schemas.microsoft.com/office/powerpoint/2010/main" val="294496730"/>
      </p:ext>
    </p:extLst>
  </p:cSld>
</p:sld>
</file>

<file path=ppt/slides/slide24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D1F32EB-F815-40AF-953D-8BF033AA527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C5BA3239-539D-435E-B357-3F2E4543113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six-thousand-entry service catalogue is not a classification system — it is a record</a:t>
            </a:r>
            <a:endParaRPr sz="1900"/>
          </a:p>
          <a:p xmlns:a="http://schemas.openxmlformats.org/drawingml/2006/main">
            <a:pPr marL="0" indent="0">
              <a:lnSpc>
                <a:spcPts val="2400"/>
              </a:lnSpc>
              <a:buNone/>
            </a:pPr>
            <a:r>
              <a:rPr sz="1900" b="1">
                <a:solidFill>
                  <a:srgbClr val="102A43"/>
                </a:solidFill>
                <a:latin typeface="Arial"/>
                <a:ea typeface="Arial"/>
                <a:cs typeface="Arial"/>
              </a:rPr>
              <a:t>of every request ever made, and it makes everything downstream unmeasurable</a:t>
            </a:r>
            <a:endParaRPr sz="1900"/>
          </a:p>
        </p:txBody>
      </p:sp>
      <p:sp>
        <p:nvSpPr>
          <p:cNvPr id="4" name="Shape 2">
            <a:extLst xmlns:a="http://schemas.openxmlformats.org/drawingml/2006/main">
              <a:ext uri="{FF2B5EF4-FFF2-40B4-BE49-F238E27FC236}">
                <a16:creationId xmlns:a16="http://schemas.microsoft.com/office/drawing/2014/main" id="{5BBA319F-E2A4-4970-9222-E8C8D1FCC248}"/>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B4B056B1-7623-4498-9335-A5B9B2E95303}"/>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DEC6D914-AC8D-47B4-97F5-E66416246C65}"/>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large Indonesian bank serving retail, SME, commercial and enterprise segments across more than eight hundred branches, with a service estate carrying roughly six thousand distinct call types.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one had been added for a reason, by someone, at some point.</a:t>
            </a:r>
            <a:endParaRPr sz="980"/>
          </a:p>
        </p:txBody>
      </p:sp>
      <p:sp>
        <p:nvSpPr>
          <p:cNvPr id="7" name="Shape 5">
            <a:extLst xmlns:a="http://schemas.openxmlformats.org/drawingml/2006/main">
              <a:ext uri="{FF2B5EF4-FFF2-40B4-BE49-F238E27FC236}">
                <a16:creationId xmlns:a16="http://schemas.microsoft.com/office/drawing/2014/main" id="{C5DC57D8-47D1-4DE0-B50B-EF5084CB6DAF}"/>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4D4F2364-44E4-47B9-A0A2-5FD063D200B5}"/>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EEAC59A2-FDCB-44F3-BBCE-483B68B0DB23}"/>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At that granularity nothing works. Agents cannot find the right type, so they pick an adjacent one. Reporting is meaningless because volume is spread across dozens of near-duplicates. Routing rules multiply. First-touch resolution cannot be measured, let alone improved, because the same request is recorded four different ways.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And every automation initiative fails, because automation needs a stable definition of what is being automated.</a:t>
            </a:r>
            <a:endParaRPr sz="980"/>
          </a:p>
        </p:txBody>
      </p:sp>
      <p:sp>
        <p:nvSpPr>
          <p:cNvPr id="10" name="Shape 8">
            <a:extLst xmlns:a="http://schemas.openxmlformats.org/drawingml/2006/main">
              <a:ext uri="{FF2B5EF4-FFF2-40B4-BE49-F238E27FC236}">
                <a16:creationId xmlns:a16="http://schemas.microsoft.com/office/drawing/2014/main" id="{8633AFE5-53D6-41EE-A20C-6C1F4A52654E}"/>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B2C22936-F196-4FFC-BF90-05A789C5C7F9}"/>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work</a:t>
            </a:r>
            <a:endParaRPr sz="1250"/>
          </a:p>
        </p:txBody>
      </p:sp>
      <p:sp>
        <p:nvSpPr>
          <p:cNvPr id="12" name="Text 10">
            <a:extLst xmlns:a="http://schemas.openxmlformats.org/drawingml/2006/main">
              <a:ext uri="{FF2B5EF4-FFF2-40B4-BE49-F238E27FC236}">
                <a16:creationId xmlns:a16="http://schemas.microsoft.com/office/drawing/2014/main" id="{11CCD9F2-B273-43C7-9E02-6950C4716F8B}"/>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Rebuild the taxonomy from customer intent rather than from system boundaries, collapse to a set an agent can navigate, then define which types resolve at first touch and build the templates and routing to support them.</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Everything visible — routing, automation, reporting, first-touch resolution — became possible only after that.</a:t>
            </a:r>
            <a:endParaRPr sz="980"/>
          </a:p>
        </p:txBody>
      </p:sp>
      <p:sp>
        <p:nvSpPr>
          <p:cNvPr id="13" name="Text 11">
            <a:extLst xmlns:a="http://schemas.openxmlformats.org/drawingml/2006/main">
              <a:ext uri="{FF2B5EF4-FFF2-40B4-BE49-F238E27FC236}">
                <a16:creationId xmlns:a16="http://schemas.microsoft.com/office/drawing/2014/main" id="{4F479138-36D6-4199-B2FA-7D9C4C13EB20}"/>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F254E01B-398B-4608-B8C7-0E651589453D}"/>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2721C47C-528B-4EDE-A00B-C1219D2A24B1}"/>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6,000 → 526</a:t>
            </a:r>
            <a:endParaRPr sz="2100"/>
          </a:p>
        </p:txBody>
      </p:sp>
      <p:sp>
        <p:nvSpPr>
          <p:cNvPr id="16" name="Text 14">
            <a:extLst xmlns:a="http://schemas.openxmlformats.org/drawingml/2006/main">
              <a:ext uri="{FF2B5EF4-FFF2-40B4-BE49-F238E27FC236}">
                <a16:creationId xmlns:a16="http://schemas.microsoft.com/office/drawing/2014/main" id="{0B3BC675-9E78-4C51-BCF0-44E455107521}"/>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call types</a:t>
            </a:r>
            <a:endParaRPr sz="860"/>
          </a:p>
        </p:txBody>
      </p:sp>
      <p:sp>
        <p:nvSpPr>
          <p:cNvPr id="17" name="Shape 15">
            <a:extLst xmlns:a="http://schemas.openxmlformats.org/drawingml/2006/main">
              <a:ext uri="{FF2B5EF4-FFF2-40B4-BE49-F238E27FC236}">
                <a16:creationId xmlns:a16="http://schemas.microsoft.com/office/drawing/2014/main" id="{3B52DB6B-3687-43CF-AD96-57B8FA00E048}"/>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C1E4D553-789E-4E9F-A53C-BD06171E0DC1}"/>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11×</a:t>
            </a:r>
            <a:endParaRPr sz="2100"/>
          </a:p>
        </p:txBody>
      </p:sp>
      <p:sp>
        <p:nvSpPr>
          <p:cNvPr id="19" name="Text 17">
            <a:extLst xmlns:a="http://schemas.openxmlformats.org/drawingml/2006/main">
              <a:ext uri="{FF2B5EF4-FFF2-40B4-BE49-F238E27FC236}">
                <a16:creationId xmlns:a16="http://schemas.microsoft.com/office/drawing/2014/main" id="{20A6A2AD-0646-492D-807C-95CA432CBDA2}"/>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reduction in catalogue</a:t>
            </a:r>
            <a:endParaRPr sz="860"/>
          </a:p>
        </p:txBody>
      </p:sp>
      <p:sp>
        <p:nvSpPr>
          <p:cNvPr id="20" name="Shape 18">
            <a:extLst xmlns:a="http://schemas.openxmlformats.org/drawingml/2006/main">
              <a:ext uri="{FF2B5EF4-FFF2-40B4-BE49-F238E27FC236}">
                <a16:creationId xmlns:a16="http://schemas.microsoft.com/office/drawing/2014/main" id="{7A18869C-3640-460D-9EAB-DD0C11CCA633}"/>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CFD53E31-0D84-4808-B3BC-0F8F5375BCC9}"/>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180+</a:t>
            </a:r>
            <a:endParaRPr sz="2100"/>
          </a:p>
        </p:txBody>
      </p:sp>
      <p:sp>
        <p:nvSpPr>
          <p:cNvPr id="22" name="Text 20">
            <a:extLst xmlns:a="http://schemas.openxmlformats.org/drawingml/2006/main">
              <a:ext uri="{FF2B5EF4-FFF2-40B4-BE49-F238E27FC236}">
                <a16:creationId xmlns:a16="http://schemas.microsoft.com/office/drawing/2014/main" id="{02C1E264-C401-4386-88ED-E379A7E7F716}"/>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first-touch types defined</a:t>
            </a:r>
            <a:endParaRPr sz="860"/>
          </a:p>
        </p:txBody>
      </p:sp>
      <p:sp>
        <p:nvSpPr>
          <p:cNvPr id="23" name="Shape 21">
            <a:extLst xmlns:a="http://schemas.openxmlformats.org/drawingml/2006/main">
              <a:ext uri="{FF2B5EF4-FFF2-40B4-BE49-F238E27FC236}">
                <a16:creationId xmlns:a16="http://schemas.microsoft.com/office/drawing/2014/main" id="{81716A3D-7935-423F-B5A7-7E3C3A4AD27A}"/>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B91BE243-4EC6-43A0-8BE7-8B019B7F4A2B}"/>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200+</a:t>
            </a:r>
            <a:endParaRPr sz="2100"/>
          </a:p>
        </p:txBody>
      </p:sp>
      <p:sp>
        <p:nvSpPr>
          <p:cNvPr id="25" name="Text 23">
            <a:extLst xmlns:a="http://schemas.openxmlformats.org/drawingml/2006/main">
              <a:ext uri="{FF2B5EF4-FFF2-40B4-BE49-F238E27FC236}">
                <a16:creationId xmlns:a16="http://schemas.microsoft.com/office/drawing/2014/main" id="{D044F8F6-62AD-4FDC-8AD7-376803C10324}"/>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templates built</a:t>
            </a:r>
            <a:endParaRPr sz="860"/>
          </a:p>
        </p:txBody>
      </p:sp>
      <p:sp>
        <p:nvSpPr>
          <p:cNvPr id="26" name="Shape 24">
            <a:extLst xmlns:a="http://schemas.openxmlformats.org/drawingml/2006/main">
              <a:ext uri="{FF2B5EF4-FFF2-40B4-BE49-F238E27FC236}">
                <a16:creationId xmlns:a16="http://schemas.microsoft.com/office/drawing/2014/main" id="{475B3BA3-52FF-4C22-939C-E066537394E3}"/>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3CB585C0-FD87-4F4C-87C1-95D369C0E9F8}"/>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8" name="Text 26">
            <a:extLst xmlns:a="http://schemas.openxmlformats.org/drawingml/2006/main">
              <a:ext uri="{FF2B5EF4-FFF2-40B4-BE49-F238E27FC236}">
                <a16:creationId xmlns:a16="http://schemas.microsoft.com/office/drawing/2014/main" id="{0E854B09-1AAD-4409-AD31-3B9F9BE8F14D}"/>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definition per intent</a:t>
            </a:r>
            <a:endParaRPr sz="860"/>
          </a:p>
        </p:txBody>
      </p:sp>
      <p:sp>
        <p:nvSpPr>
          <p:cNvPr id="29" name="Shape 27">
            <a:extLst xmlns:a="http://schemas.openxmlformats.org/drawingml/2006/main">
              <a:ext uri="{FF2B5EF4-FFF2-40B4-BE49-F238E27FC236}">
                <a16:creationId xmlns:a16="http://schemas.microsoft.com/office/drawing/2014/main" id="{06A3122C-234F-4EB9-93FC-B490A2621CEB}"/>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AA7EAC35-66AC-4FF9-8F7C-83B3F7ADD784}"/>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31" name="Text 29">
            <a:extLst xmlns:a="http://schemas.openxmlformats.org/drawingml/2006/main">
              <a:ext uri="{FF2B5EF4-FFF2-40B4-BE49-F238E27FC236}">
                <a16:creationId xmlns:a16="http://schemas.microsoft.com/office/drawing/2014/main" id="{4D522474-5555-467C-8EFE-61F88D139050}"/>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automation before this</a:t>
            </a:r>
            <a:endParaRPr sz="860"/>
          </a:p>
        </p:txBody>
      </p:sp>
      <p:sp>
        <p:nvSpPr>
          <p:cNvPr id="32" name="Text 30">
            <a:extLst xmlns:a="http://schemas.openxmlformats.org/drawingml/2006/main">
              <a:ext uri="{FF2B5EF4-FFF2-40B4-BE49-F238E27FC236}">
                <a16:creationId xmlns:a16="http://schemas.microsoft.com/office/drawing/2014/main" id="{3E688D40-3C06-4B5F-BCB0-65566C954754}"/>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pattern worth recognising:  service catalogues only grow. Adding a type is easy and locally correct; removing one requires asserting nobody needs it. Left alone for a decade, any service organisation arrives here — and the symptom presented is always poor turnaround, never the catalogue.</a:t>
            </a:r>
            <a:endParaRPr sz="1000"/>
          </a:p>
        </p:txBody>
      </p:sp>
      <p:sp>
        <p:nvSpPr>
          <p:cNvPr id="33" name="Shape 31">
            <a:extLst xmlns:a="http://schemas.openxmlformats.org/drawingml/2006/main">
              <a:ext uri="{FF2B5EF4-FFF2-40B4-BE49-F238E27FC236}">
                <a16:creationId xmlns:a16="http://schemas.microsoft.com/office/drawing/2014/main" id="{D5377E02-BD6F-4BC9-8820-0224B084396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22B0F1BE-9BF6-4815-A2BD-EFA5024ABD9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a:t>
            </a:r>
            <a:endParaRPr sz="850"/>
          </a:p>
        </p:txBody>
      </p:sp>
      <p:sp>
        <p:nvSpPr>
          <p:cNvPr id="35" name="Text 33">
            <a:extLst xmlns:a="http://schemas.openxmlformats.org/drawingml/2006/main">
              <a:ext uri="{FF2B5EF4-FFF2-40B4-BE49-F238E27FC236}">
                <a16:creationId xmlns:a16="http://schemas.microsoft.com/office/drawing/2014/main" id="{8AA5FEB6-10AE-4C4A-98E1-9B1D511AFF0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472980621"/>
      </p:ext>
    </p:extLst>
  </p:cSld>
</p:sld>
</file>

<file path=ppt/slides/slide24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7EAFCF5-BDB0-4C48-8EE6-DDD3386452B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8D9804F9-912F-4D85-8328-11B287925F8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Bank scale is publicly reported and deployment figures are vendor-reported; the</a:t>
            </a:r>
            <a:endParaRPr sz="1900"/>
          </a:p>
          <a:p xmlns:a="http://schemas.openxmlformats.org/drawingml/2006/main">
            <a:pPr marL="0" indent="0">
              <a:lnSpc>
                <a:spcPts val="2400"/>
              </a:lnSpc>
              <a:buNone/>
            </a:pPr>
            <a:r>
              <a:rPr sz="1900" b="1">
                <a:solidFill>
                  <a:srgbClr val="102A43"/>
                </a:solidFill>
                <a:latin typeface="Arial"/>
                <a:ea typeface="Arial"/>
                <a:cs typeface="Arial"/>
              </a:rPr>
              <a:t>taxonomy method and the collapse approach are mine</a:t>
            </a:r>
            <a:endParaRPr sz="1900"/>
          </a:p>
        </p:txBody>
      </p:sp>
      <p:sp>
        <p:nvSpPr>
          <p:cNvPr id="4" name="Shape 2">
            <a:extLst xmlns:a="http://schemas.openxmlformats.org/drawingml/2006/main">
              <a:ext uri="{FF2B5EF4-FFF2-40B4-BE49-F238E27FC236}">
                <a16:creationId xmlns:a16="http://schemas.microsoft.com/office/drawing/2014/main" id="{EA0895E7-7D6A-4D44-AAEA-E127A12F0C18}"/>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168D19E1-F999-48BA-BB3D-933A17FF2404}"/>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4F634720-5EE2-4F4C-9534-D328AB100618}"/>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REPORTED</a:t>
            </a:r>
            <a:endParaRPr sz="740"/>
          </a:p>
        </p:txBody>
      </p:sp>
      <p:sp>
        <p:nvSpPr>
          <p:cNvPr id="7" name="Text 5">
            <a:extLst xmlns:a="http://schemas.openxmlformats.org/drawingml/2006/main">
              <a:ext uri="{FF2B5EF4-FFF2-40B4-BE49-F238E27FC236}">
                <a16:creationId xmlns:a16="http://schemas.microsoft.com/office/drawing/2014/main" id="{9FB869D9-159C-4463-8ABC-A3E40890AA12}"/>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Deployment context</a:t>
            </a:r>
            <a:endParaRPr sz="1200"/>
          </a:p>
        </p:txBody>
      </p:sp>
      <p:sp>
        <p:nvSpPr>
          <p:cNvPr id="8" name="Text 6">
            <a:extLst xmlns:a="http://schemas.openxmlformats.org/drawingml/2006/main">
              <a:ext uri="{FF2B5EF4-FFF2-40B4-BE49-F238E27FC236}">
                <a16:creationId xmlns:a16="http://schemas.microsoft.com/office/drawing/2014/main" id="{4761800D-9911-4525-88DA-3AA995016833}"/>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Bank scale from public sources; deployment figures as reported by the platform vendor.</a:t>
            </a:r>
            <a:endParaRPr sz="920"/>
          </a:p>
        </p:txBody>
      </p:sp>
      <p:sp>
        <p:nvSpPr>
          <p:cNvPr id="9" name="Shape 7">
            <a:extLst xmlns:a="http://schemas.openxmlformats.org/drawingml/2006/main">
              <a:ext uri="{FF2B5EF4-FFF2-40B4-BE49-F238E27FC236}">
                <a16:creationId xmlns:a16="http://schemas.microsoft.com/office/drawing/2014/main" id="{0F4DC238-95E1-44D2-B88C-DFF63F49110B}"/>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E3C2BD6C-8ED7-4EE3-A13C-21CB27B7BE75}"/>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~Rp276 trillion consolidated assets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Tenth largest Indonesian bank by assets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863+ branches in deployment scope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5,000+ platform users, 6M+ customers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12+ integrated systems, 76 touchpoints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1,000+ user concurrency</a:t>
            </a:r>
            <a:endParaRPr sz="930"/>
          </a:p>
        </p:txBody>
      </p:sp>
      <p:sp>
        <p:nvSpPr>
          <p:cNvPr id="11" name="Shape 9">
            <a:extLst xmlns:a="http://schemas.openxmlformats.org/drawingml/2006/main">
              <a:ext uri="{FF2B5EF4-FFF2-40B4-BE49-F238E27FC236}">
                <a16:creationId xmlns:a16="http://schemas.microsoft.com/office/drawing/2014/main" id="{0F6FCDD7-67D8-4180-AFA8-2D4F83130606}"/>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459B28CC-F4FD-4891-8B20-9691E5386ED0}"/>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310F97BD-6B38-4D11-82FF-037C4596F15D}"/>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ANALYSIS &amp; METHOD</a:t>
            </a:r>
            <a:endParaRPr sz="740"/>
          </a:p>
        </p:txBody>
      </p:sp>
      <p:sp>
        <p:nvSpPr>
          <p:cNvPr id="14" name="Text 12">
            <a:extLst xmlns:a="http://schemas.openxmlformats.org/drawingml/2006/main">
              <a:ext uri="{FF2B5EF4-FFF2-40B4-BE49-F238E27FC236}">
                <a16:creationId xmlns:a16="http://schemas.microsoft.com/office/drawing/2014/main" id="{47E0FFF1-701C-46DF-AE28-A8C2719A4B90}"/>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06EC5E44-47E1-462C-97EF-4390DE37C414}"/>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taxonomy rebuild method, the collapse approach and the first-touch design, authored for solution and transformation strategy on comparable pursuits.</a:t>
            </a:r>
            <a:endParaRPr sz="920"/>
          </a:p>
        </p:txBody>
      </p:sp>
      <p:sp>
        <p:nvSpPr>
          <p:cNvPr id="16" name="Shape 14">
            <a:extLst xmlns:a="http://schemas.openxmlformats.org/drawingml/2006/main">
              <a:ext uri="{FF2B5EF4-FFF2-40B4-BE49-F238E27FC236}">
                <a16:creationId xmlns:a16="http://schemas.microsoft.com/office/drawing/2014/main" id="{64776A2B-5659-4C48-A62D-2A04604AEAB9}"/>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7DFA6376-750B-48E9-A2BD-1688D0820A85}"/>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Taxonomy rebuild method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Collapse and merge approach</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First-touch resolution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Template and routing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Disposition and reporting continuity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Applied on comparable pursuits</a:t>
            </a:r>
            <a:endParaRPr sz="930"/>
          </a:p>
        </p:txBody>
      </p:sp>
      <p:sp>
        <p:nvSpPr>
          <p:cNvPr id="18" name="Shape 16">
            <a:extLst xmlns:a="http://schemas.openxmlformats.org/drawingml/2006/main">
              <a:ext uri="{FF2B5EF4-FFF2-40B4-BE49-F238E27FC236}">
                <a16:creationId xmlns:a16="http://schemas.microsoft.com/office/drawing/2014/main" id="{EA481C92-1256-429A-9805-2602C1622BEC}"/>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1DF51B16-438C-40D0-AC23-08674E860156}"/>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1D8F4B6C-5785-4F24-BD08-56635C375359}"/>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ILLUSTRATIVE</a:t>
            </a:r>
            <a:endParaRPr sz="740"/>
          </a:p>
        </p:txBody>
      </p:sp>
      <p:sp>
        <p:nvSpPr>
          <p:cNvPr id="21" name="Text 19">
            <a:extLst xmlns:a="http://schemas.openxmlformats.org/drawingml/2006/main">
              <a:ext uri="{FF2B5EF4-FFF2-40B4-BE49-F238E27FC236}">
                <a16:creationId xmlns:a16="http://schemas.microsoft.com/office/drawing/2014/main" id="{7008C4F9-DCAB-4B1E-B407-18FC2735C4A8}"/>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Modelled</a:t>
            </a:r>
            <a:endParaRPr sz="1200"/>
          </a:p>
        </p:txBody>
      </p:sp>
      <p:sp>
        <p:nvSpPr>
          <p:cNvPr id="22" name="Text 20">
            <a:extLst xmlns:a="http://schemas.openxmlformats.org/drawingml/2006/main">
              <a:ext uri="{FF2B5EF4-FFF2-40B4-BE49-F238E27FC236}">
                <a16:creationId xmlns:a16="http://schemas.microsoft.com/office/drawing/2014/main" id="{956E45B1-F786-4D16-9B26-1E9C83E3389E}"/>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collapse decomposition and effort split illustrate the method. Directional, not measured.</a:t>
            </a:r>
            <a:endParaRPr sz="920"/>
          </a:p>
        </p:txBody>
      </p:sp>
      <p:sp>
        <p:nvSpPr>
          <p:cNvPr id="23" name="Shape 21">
            <a:extLst xmlns:a="http://schemas.openxmlformats.org/drawingml/2006/main">
              <a:ext uri="{FF2B5EF4-FFF2-40B4-BE49-F238E27FC236}">
                <a16:creationId xmlns:a16="http://schemas.microsoft.com/office/drawing/2014/main" id="{5CA88F88-A68B-43F7-B54E-68ADC5ECACD8}"/>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B5FD47E9-0FEF-4E29-A3F3-AFE594CCC1E7}"/>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Collapse decomposition by cause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Effort split across phases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First-touch eligibility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Replace with bank actuals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Shape is the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34CD0C24-07EE-4EF0-8103-9AFAC1CF1F38}"/>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2561E969-FFB0-4F98-8B83-6B7808FD79E8}"/>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47409E5B-7DE4-47AD-A867-8DF13367C701}"/>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CA3C2279-8FC0-4388-9C6D-694F44BDDB1D}"/>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CB2FB7A8-4857-4950-8A9C-85BC69CE7DE7}"/>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a:t>
            </a:r>
            <a:endParaRPr sz="920"/>
          </a:p>
        </p:txBody>
      </p:sp>
      <p:sp>
        <p:nvSpPr>
          <p:cNvPr id="30" name="Shape 28">
            <a:extLst xmlns:a="http://schemas.openxmlformats.org/drawingml/2006/main">
              <a:ext uri="{FF2B5EF4-FFF2-40B4-BE49-F238E27FC236}">
                <a16:creationId xmlns:a16="http://schemas.microsoft.com/office/drawing/2014/main" id="{F5F7EB84-3591-4620-A5A0-35172F7CB9EF}"/>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671EC8FF-CD8F-4C15-B08B-4FABA7D63B8A}"/>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ownership of this programme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role on the implementation team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Bank commercial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customer or case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Independently audited results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p:txBody>
      </p:sp>
      <p:sp>
        <p:nvSpPr>
          <p:cNvPr id="32" name="Shape 30">
            <a:extLst xmlns:a="http://schemas.openxmlformats.org/drawingml/2006/main">
              <a:ext uri="{FF2B5EF4-FFF2-40B4-BE49-F238E27FC236}">
                <a16:creationId xmlns:a16="http://schemas.microsoft.com/office/drawing/2014/main" id="{6C6A6A7B-FD4E-45A9-8967-3B1E1B38F8C5}"/>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0B3C9356-1291-4178-9720-BD20DD365D8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bank figures and vendor-reported deployment figures (context) · author's delivery record and method (ownership)</a:t>
            </a:r>
            <a:endParaRPr sz="850"/>
          </a:p>
        </p:txBody>
      </p:sp>
      <p:sp>
        <p:nvSpPr>
          <p:cNvPr id="34" name="Text 32">
            <a:extLst xmlns:a="http://schemas.openxmlformats.org/drawingml/2006/main">
              <a:ext uri="{FF2B5EF4-FFF2-40B4-BE49-F238E27FC236}">
                <a16:creationId xmlns:a16="http://schemas.microsoft.com/office/drawing/2014/main" id="{E18A3CFF-1797-4467-BDED-C4A83C357E8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559391540"/>
      </p:ext>
    </p:extLst>
  </p:cSld>
</p:sld>
</file>

<file path=ppt/slides/slide24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3F1798D-9F71-4E8A-95AB-1BD6C963FEE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COLLAPSE</a:t>
            </a:r>
            <a:endParaRPr sz="950"/>
          </a:p>
        </p:txBody>
      </p:sp>
      <p:sp>
        <p:nvSpPr>
          <p:cNvPr id="3" name="Text 1">
            <a:extLst xmlns:a="http://schemas.openxmlformats.org/drawingml/2006/main">
              <a:ext uri="{FF2B5EF4-FFF2-40B4-BE49-F238E27FC236}">
                <a16:creationId xmlns:a16="http://schemas.microsoft.com/office/drawing/2014/main" id="{0ACFA63E-0966-415C-A2E5-666343EA203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thousand entries were not six thousand services — most were duplicates,</a:t>
            </a:r>
            <a:endParaRPr sz="1900"/>
          </a:p>
          <a:p xmlns:a="http://schemas.openxmlformats.org/drawingml/2006/main">
            <a:pPr marL="0" indent="0">
              <a:lnSpc>
                <a:spcPts val="2400"/>
              </a:lnSpc>
              <a:buNone/>
            </a:pPr>
            <a:r>
              <a:rPr sz="1900" b="1">
                <a:solidFill>
                  <a:srgbClr val="102A43"/>
                </a:solidFill>
                <a:latin typeface="Arial"/>
                <a:ea typeface="Arial"/>
                <a:cs typeface="Arial"/>
              </a:rPr>
              <a:t>system artefacts or one-off additions that nobody ever removed</a:t>
            </a:r>
            <a:endParaRPr sz="1900"/>
          </a:p>
        </p:txBody>
      </p:sp>
      <p:graphicFrame>
        <p:nvGraphicFramePr>
          <p:cNvPr id="30" name="Chart 0"/>
          <p:cNvGraphicFramePr/>
          <p:nvPr/>
        </p:nvGraphicFramePr>
        <p:xfrm>
          <a:off xmlns:a="http://schemas.openxmlformats.org/drawingml/2006/main" x="566928" y="1426464"/>
          <a:ext xmlns:a="http://schemas.openxmlformats.org/drawingml/2006/main" cx="4023360" cy="2651760"/>
        </p:xfrm>
        <a:graphic xmlns:a="http://schemas.openxmlformats.org/drawingml/2006/main">
          <a:graphicData uri="http://schemas.openxmlformats.org/drawingml/2006/chart">
            <c:chart xmlns:r="http://schemas.openxmlformats.org/officeDocument/2006/relationships" xmlns:c="http://schemas.openxmlformats.org/drawingml/2006/chart" r:id="R0c298bc31b214b2c"/>
          </a:graphicData>
        </a:graphic>
      </p:graphicFrame>
      <p:sp>
        <p:nvSpPr>
          <p:cNvPr id="5" name="Text 2">
            <a:extLst xmlns:a="http://schemas.openxmlformats.org/drawingml/2006/main">
              <a:ext uri="{FF2B5EF4-FFF2-40B4-BE49-F238E27FC236}">
                <a16:creationId xmlns:a16="http://schemas.microsoft.com/office/drawing/2014/main" id="{7A79FB50-D050-4885-8553-595ACD2A3CFA}"/>
              </a:ext>
            </a:extLst>
          </p:cNvPr>
          <p:cNvSpPr>
            <a:spLocks xmlns:a="http://schemas.openxmlformats.org/drawingml/2006/main" noGrp="1"/>
          </p:cNvSpPr>
          <p:nvPr/>
        </p:nvSpPr>
        <p:spPr>
          <a:xfrm xmlns:a="http://schemas.openxmlformats.org/drawingml/2006/main">
            <a:off x="566928" y="4242816"/>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Distinct service call types in the catalogue, before and after — reported figures</a:t>
            </a:r>
            <a:endParaRPr sz="880"/>
          </a:p>
        </p:txBody>
      </p:sp>
      <p:sp>
        <p:nvSpPr>
          <p:cNvPr id="6" name="Shape 3">
            <a:extLst xmlns:a="http://schemas.openxmlformats.org/drawingml/2006/main">
              <a:ext uri="{FF2B5EF4-FFF2-40B4-BE49-F238E27FC236}">
                <a16:creationId xmlns:a16="http://schemas.microsoft.com/office/drawing/2014/main" id="{909DC528-FCC1-463A-BCC0-88859F4B72D3}"/>
              </a:ext>
            </a:extLst>
          </p:cNvPr>
          <p:cNvSpPr>
            <a:spLocks xmlns:a="http://schemas.openxmlformats.org/drawingml/2006/main" noGrp="1"/>
          </p:cNvSpPr>
          <p:nvPr/>
        </p:nvSpPr>
        <p:spPr>
          <a:xfrm xmlns:a="http://schemas.openxmlformats.org/drawingml/2006/main">
            <a:off x="4956048" y="1426464"/>
            <a:ext cx="1517904" cy="914400"/>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DE6D512E-32E4-4F07-8F12-E639C1DC5FA1}"/>
              </a:ext>
            </a:extLst>
          </p:cNvPr>
          <p:cNvSpPr>
            <a:spLocks xmlns:a="http://schemas.openxmlformats.org/drawingml/2006/main" noGrp="1"/>
          </p:cNvSpPr>
          <p:nvPr/>
        </p:nvSpPr>
        <p:spPr>
          <a:xfrm xmlns:a="http://schemas.openxmlformats.org/drawingml/2006/main">
            <a:off x="5084064" y="1545336"/>
            <a:ext cx="12618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102A43"/>
                </a:solidFill>
                <a:latin typeface="Arial"/>
                <a:ea typeface="Arial"/>
                <a:cs typeface="Arial"/>
              </a:rPr>
              <a:t>180+</a:t>
            </a:r>
            <a:endParaRPr sz="2000"/>
          </a:p>
        </p:txBody>
      </p:sp>
      <p:sp>
        <p:nvSpPr>
          <p:cNvPr id="8" name="Text 5">
            <a:extLst xmlns:a="http://schemas.openxmlformats.org/drawingml/2006/main">
              <a:ext uri="{FF2B5EF4-FFF2-40B4-BE49-F238E27FC236}">
                <a16:creationId xmlns:a16="http://schemas.microsoft.com/office/drawing/2014/main" id="{8DEDF9E6-1665-414B-82A6-A0BFC7B07C09}"/>
              </a:ext>
            </a:extLst>
          </p:cNvPr>
          <p:cNvSpPr>
            <a:spLocks xmlns:a="http://schemas.openxmlformats.org/drawingml/2006/main" noGrp="1"/>
          </p:cNvSpPr>
          <p:nvPr/>
        </p:nvSpPr>
        <p:spPr>
          <a:xfrm xmlns:a="http://schemas.openxmlformats.org/drawingml/2006/main">
            <a:off x="5084064" y="1938528"/>
            <a:ext cx="12618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first-touch resolution</a:t>
            </a:r>
            <a:endParaRPr sz="860"/>
          </a:p>
          <a:p xmlns:a="http://schemas.openxmlformats.org/drawingml/2006/main">
            <a:pPr marL="0" indent="0">
              <a:lnSpc>
                <a:spcPts val="1050"/>
              </a:lnSpc>
              <a:buNone/>
            </a:pPr>
            <a:r>
              <a:rPr sz="860">
                <a:solidFill>
                  <a:srgbClr val="486581"/>
                </a:solidFill>
                <a:latin typeface="Arial"/>
                <a:ea typeface="Arial"/>
                <a:cs typeface="Arial"/>
              </a:rPr>
              <a:t>types defined</a:t>
            </a:r>
            <a:endParaRPr sz="860"/>
          </a:p>
        </p:txBody>
      </p:sp>
      <p:sp>
        <p:nvSpPr>
          <p:cNvPr id="9" name="Shape 6">
            <a:extLst xmlns:a="http://schemas.openxmlformats.org/drawingml/2006/main">
              <a:ext uri="{FF2B5EF4-FFF2-40B4-BE49-F238E27FC236}">
                <a16:creationId xmlns:a16="http://schemas.microsoft.com/office/drawing/2014/main" id="{9A7A3C60-0D73-4E46-9A34-7C8BF67D6356}"/>
              </a:ext>
            </a:extLst>
          </p:cNvPr>
          <p:cNvSpPr>
            <a:spLocks xmlns:a="http://schemas.openxmlformats.org/drawingml/2006/main" noGrp="1"/>
          </p:cNvSpPr>
          <p:nvPr/>
        </p:nvSpPr>
        <p:spPr>
          <a:xfrm xmlns:a="http://schemas.openxmlformats.org/drawingml/2006/main">
            <a:off x="6583680" y="1426464"/>
            <a:ext cx="1517904" cy="914400"/>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417D4931-E891-445E-976C-03477F831CF1}"/>
              </a:ext>
            </a:extLst>
          </p:cNvPr>
          <p:cNvSpPr>
            <a:spLocks xmlns:a="http://schemas.openxmlformats.org/drawingml/2006/main" noGrp="1"/>
          </p:cNvSpPr>
          <p:nvPr/>
        </p:nvSpPr>
        <p:spPr>
          <a:xfrm xmlns:a="http://schemas.openxmlformats.org/drawingml/2006/main">
            <a:off x="6711696" y="1545336"/>
            <a:ext cx="12618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102A43"/>
                </a:solidFill>
                <a:latin typeface="Arial"/>
                <a:ea typeface="Arial"/>
                <a:cs typeface="Arial"/>
              </a:rPr>
              <a:t>200+</a:t>
            </a:r>
            <a:endParaRPr sz="2000"/>
          </a:p>
        </p:txBody>
      </p:sp>
      <p:sp>
        <p:nvSpPr>
          <p:cNvPr id="11" name="Text 8">
            <a:extLst xmlns:a="http://schemas.openxmlformats.org/drawingml/2006/main">
              <a:ext uri="{FF2B5EF4-FFF2-40B4-BE49-F238E27FC236}">
                <a16:creationId xmlns:a16="http://schemas.microsoft.com/office/drawing/2014/main" id="{34C98155-0248-4DA8-BD35-B508C417F89F}"/>
              </a:ext>
            </a:extLst>
          </p:cNvPr>
          <p:cNvSpPr>
            <a:spLocks xmlns:a="http://schemas.openxmlformats.org/drawingml/2006/main" noGrp="1"/>
          </p:cNvSpPr>
          <p:nvPr/>
        </p:nvSpPr>
        <p:spPr>
          <a:xfrm xmlns:a="http://schemas.openxmlformats.org/drawingml/2006/main">
            <a:off x="6711696" y="1938528"/>
            <a:ext cx="12618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communication templates</a:t>
            </a:r>
            <a:endParaRPr sz="860"/>
          </a:p>
          <a:p xmlns:a="http://schemas.openxmlformats.org/drawingml/2006/main">
            <a:pPr marL="0" indent="0">
              <a:lnSpc>
                <a:spcPts val="1050"/>
              </a:lnSpc>
              <a:buNone/>
            </a:pPr>
            <a:r>
              <a:rPr sz="860">
                <a:solidFill>
                  <a:srgbClr val="486581"/>
                </a:solidFill>
                <a:latin typeface="Arial"/>
                <a:ea typeface="Arial"/>
                <a:cs typeface="Arial"/>
              </a:rPr>
              <a:t>built</a:t>
            </a:r>
            <a:endParaRPr sz="860"/>
          </a:p>
        </p:txBody>
      </p:sp>
      <p:sp>
        <p:nvSpPr>
          <p:cNvPr id="12" name="Shape 9">
            <a:extLst xmlns:a="http://schemas.openxmlformats.org/drawingml/2006/main">
              <a:ext uri="{FF2B5EF4-FFF2-40B4-BE49-F238E27FC236}">
                <a16:creationId xmlns:a16="http://schemas.microsoft.com/office/drawing/2014/main" id="{64EE7AFB-0D22-4934-B1A9-91D5DCD87A1D}"/>
              </a:ext>
            </a:extLst>
          </p:cNvPr>
          <p:cNvSpPr>
            <a:spLocks xmlns:a="http://schemas.openxmlformats.org/drawingml/2006/main" noGrp="1"/>
          </p:cNvSpPr>
          <p:nvPr/>
        </p:nvSpPr>
        <p:spPr>
          <a:xfrm xmlns:a="http://schemas.openxmlformats.org/drawingml/2006/main">
            <a:off x="4956048" y="2432304"/>
            <a:ext cx="1517904" cy="914400"/>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A3772A02-62DD-4C13-A10D-D3955A174131}"/>
              </a:ext>
            </a:extLst>
          </p:cNvPr>
          <p:cNvSpPr>
            <a:spLocks xmlns:a="http://schemas.openxmlformats.org/drawingml/2006/main" noGrp="1"/>
          </p:cNvSpPr>
          <p:nvPr/>
        </p:nvSpPr>
        <p:spPr>
          <a:xfrm xmlns:a="http://schemas.openxmlformats.org/drawingml/2006/main">
            <a:off x="5084064" y="2551176"/>
            <a:ext cx="12618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102A43"/>
                </a:solidFill>
                <a:latin typeface="Arial"/>
                <a:ea typeface="Arial"/>
                <a:cs typeface="Arial"/>
              </a:rPr>
              <a:t>76</a:t>
            </a:r>
            <a:endParaRPr sz="2000"/>
          </a:p>
        </p:txBody>
      </p:sp>
      <p:sp>
        <p:nvSpPr>
          <p:cNvPr id="14" name="Text 11">
            <a:extLst xmlns:a="http://schemas.openxmlformats.org/drawingml/2006/main">
              <a:ext uri="{FF2B5EF4-FFF2-40B4-BE49-F238E27FC236}">
                <a16:creationId xmlns:a16="http://schemas.microsoft.com/office/drawing/2014/main" id="{28F99100-7539-49EC-9066-21363F05F73A}"/>
              </a:ext>
            </a:extLst>
          </p:cNvPr>
          <p:cNvSpPr>
            <a:spLocks xmlns:a="http://schemas.openxmlformats.org/drawingml/2006/main" noGrp="1"/>
          </p:cNvSpPr>
          <p:nvPr/>
        </p:nvSpPr>
        <p:spPr>
          <a:xfrm xmlns:a="http://schemas.openxmlformats.org/drawingml/2006/main">
            <a:off x="5084064" y="2944368"/>
            <a:ext cx="12618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integration touchpoints</a:t>
            </a:r>
            <a:endParaRPr sz="860"/>
          </a:p>
          <a:p xmlns:a="http://schemas.openxmlformats.org/drawingml/2006/main">
            <a:pPr marL="0" indent="0">
              <a:lnSpc>
                <a:spcPts val="1050"/>
              </a:lnSpc>
              <a:buNone/>
            </a:pPr>
            <a:r>
              <a:rPr sz="860">
                <a:solidFill>
                  <a:srgbClr val="486581"/>
                </a:solidFill>
                <a:latin typeface="Arial"/>
                <a:ea typeface="Arial"/>
                <a:cs typeface="Arial"/>
              </a:rPr>
              <a:t>in scope</a:t>
            </a:r>
            <a:endParaRPr sz="860"/>
          </a:p>
        </p:txBody>
      </p:sp>
      <p:sp>
        <p:nvSpPr>
          <p:cNvPr id="15" name="Shape 12">
            <a:extLst xmlns:a="http://schemas.openxmlformats.org/drawingml/2006/main">
              <a:ext uri="{FF2B5EF4-FFF2-40B4-BE49-F238E27FC236}">
                <a16:creationId xmlns:a16="http://schemas.microsoft.com/office/drawing/2014/main" id="{3292E135-DD93-4FCF-8E97-4EF616F97A34}"/>
              </a:ext>
            </a:extLst>
          </p:cNvPr>
          <p:cNvSpPr>
            <a:spLocks xmlns:a="http://schemas.openxmlformats.org/drawingml/2006/main" noGrp="1"/>
          </p:cNvSpPr>
          <p:nvPr/>
        </p:nvSpPr>
        <p:spPr>
          <a:xfrm xmlns:a="http://schemas.openxmlformats.org/drawingml/2006/main">
            <a:off x="6583680" y="2432304"/>
            <a:ext cx="1517904" cy="914400"/>
          </a:xfrm>
          <a:prstGeom xmlns:a="http://schemas.openxmlformats.org/drawingml/2006/main" prst="rect">
            <a:avLst/>
          </a:prstGeom>
          <a:solidFill xmlns:a="http://schemas.openxmlformats.org/drawingml/2006/main">
            <a:srgbClr val="F0F4F8"/>
          </a:solidFill>
        </p:spPr>
      </p:sp>
      <p:sp>
        <p:nvSpPr>
          <p:cNvPr id="16" name="Text 13">
            <a:extLst xmlns:a="http://schemas.openxmlformats.org/drawingml/2006/main">
              <a:ext uri="{FF2B5EF4-FFF2-40B4-BE49-F238E27FC236}">
                <a16:creationId xmlns:a16="http://schemas.microsoft.com/office/drawing/2014/main" id="{85CE28B6-2B07-401C-927E-B1EE38D1D850}"/>
              </a:ext>
            </a:extLst>
          </p:cNvPr>
          <p:cNvSpPr>
            <a:spLocks xmlns:a="http://schemas.openxmlformats.org/drawingml/2006/main" noGrp="1"/>
          </p:cNvSpPr>
          <p:nvPr/>
        </p:nvSpPr>
        <p:spPr>
          <a:xfrm xmlns:a="http://schemas.openxmlformats.org/drawingml/2006/main">
            <a:off x="6711696" y="2551176"/>
            <a:ext cx="1261872"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000" b="1">
                <a:solidFill>
                  <a:srgbClr val="102A43"/>
                </a:solidFill>
                <a:latin typeface="Arial"/>
                <a:ea typeface="Arial"/>
                <a:cs typeface="Arial"/>
              </a:rPr>
              <a:t>12+</a:t>
            </a:r>
            <a:endParaRPr sz="2000"/>
          </a:p>
        </p:txBody>
      </p:sp>
      <p:sp>
        <p:nvSpPr>
          <p:cNvPr id="17" name="Text 14">
            <a:extLst xmlns:a="http://schemas.openxmlformats.org/drawingml/2006/main">
              <a:ext uri="{FF2B5EF4-FFF2-40B4-BE49-F238E27FC236}">
                <a16:creationId xmlns:a16="http://schemas.microsoft.com/office/drawing/2014/main" id="{70F1E50D-165E-48C0-AAA8-5E11678A5F94}"/>
              </a:ext>
            </a:extLst>
          </p:cNvPr>
          <p:cNvSpPr>
            <a:spLocks xmlns:a="http://schemas.openxmlformats.org/drawingml/2006/main" noGrp="1"/>
          </p:cNvSpPr>
          <p:nvPr/>
        </p:nvSpPr>
        <p:spPr>
          <a:xfrm xmlns:a="http://schemas.openxmlformats.org/drawingml/2006/main">
            <a:off x="6711696" y="2944368"/>
            <a:ext cx="12618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systems integrated</a:t>
            </a:r>
            <a:endParaRPr sz="860"/>
          </a:p>
          <a:p xmlns:a="http://schemas.openxmlformats.org/drawingml/2006/main">
            <a:pPr marL="0" indent="0">
              <a:lnSpc>
                <a:spcPts val="1050"/>
              </a:lnSpc>
              <a:buNone/>
            </a:pPr>
            <a:r>
              <a:rPr sz="860">
                <a:solidFill>
                  <a:srgbClr val="486581"/>
                </a:solidFill>
                <a:latin typeface="Arial"/>
                <a:ea typeface="Arial"/>
                <a:cs typeface="Arial"/>
              </a:rPr>
              <a:t>behind the catalogue</a:t>
            </a:r>
            <a:endParaRPr sz="860"/>
          </a:p>
        </p:txBody>
      </p:sp>
      <p:sp>
        <p:nvSpPr>
          <p:cNvPr id="18" name="Text 15">
            <a:extLst xmlns:a="http://schemas.openxmlformats.org/drawingml/2006/main">
              <a:ext uri="{FF2B5EF4-FFF2-40B4-BE49-F238E27FC236}">
                <a16:creationId xmlns:a16="http://schemas.microsoft.com/office/drawing/2014/main" id="{16C27A2A-589E-4E60-8818-E58F46B04B24}"/>
              </a:ext>
            </a:extLst>
          </p:cNvPr>
          <p:cNvSpPr>
            <a:spLocks xmlns:a="http://schemas.openxmlformats.org/drawingml/2006/main" noGrp="1"/>
          </p:cNvSpPr>
          <p:nvPr/>
        </p:nvSpPr>
        <p:spPr>
          <a:xfrm xmlns:a="http://schemas.openxmlformats.org/drawingml/2006/main">
            <a:off x="8339328" y="1426464"/>
            <a:ext cx="328269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How the catalogue got there</a:t>
            </a:r>
            <a:endParaRPr sz="1100"/>
          </a:p>
        </p:txBody>
      </p:sp>
      <p:sp>
        <p:nvSpPr>
          <p:cNvPr id="19" name="Shape 16">
            <a:extLst xmlns:a="http://schemas.openxmlformats.org/drawingml/2006/main">
              <a:ext uri="{FF2B5EF4-FFF2-40B4-BE49-F238E27FC236}">
                <a16:creationId xmlns:a16="http://schemas.microsoft.com/office/drawing/2014/main" id="{946940FD-F6A8-4BC8-B5AF-1EBE10AB6812}"/>
              </a:ext>
            </a:extLst>
          </p:cNvPr>
          <p:cNvSpPr>
            <a:spLocks xmlns:a="http://schemas.openxmlformats.org/drawingml/2006/main" noGrp="1"/>
          </p:cNvSpPr>
          <p:nvPr/>
        </p:nvSpPr>
        <p:spPr>
          <a:xfrm xmlns:a="http://schemas.openxmlformats.org/drawingml/2006/main">
            <a:off x="8339328" y="1682496"/>
            <a:ext cx="3282696" cy="20117"/>
          </a:xfrm>
          <a:prstGeom xmlns:a="http://schemas.openxmlformats.org/drawingml/2006/main" prst="rect">
            <a:avLst/>
          </a:prstGeom>
          <a:solidFill xmlns:a="http://schemas.openxmlformats.org/drawingml/2006/main">
            <a:srgbClr val="102A43"/>
          </a:solidFill>
        </p:spPr>
      </p:sp>
      <p:sp>
        <p:nvSpPr>
          <p:cNvPr id="20" name="Text 17">
            <a:extLst xmlns:a="http://schemas.openxmlformats.org/drawingml/2006/main">
              <a:ext uri="{FF2B5EF4-FFF2-40B4-BE49-F238E27FC236}">
                <a16:creationId xmlns:a16="http://schemas.microsoft.com/office/drawing/2014/main" id="{210BD0B2-74F0-4E6C-89F0-BF0909F503E9}"/>
              </a:ext>
            </a:extLst>
          </p:cNvPr>
          <p:cNvSpPr>
            <a:spLocks xmlns:a="http://schemas.openxmlformats.org/drawingml/2006/main" noGrp="1"/>
          </p:cNvSpPr>
          <p:nvPr/>
        </p:nvSpPr>
        <p:spPr>
          <a:xfrm xmlns:a="http://schemas.openxmlformats.org/drawingml/2006/main">
            <a:off x="8339328" y="1828800"/>
            <a:ext cx="3282696"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Types named after the fulfilling system, so one customer intent split across four back-end owners became four entries.</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Every product launch added its own set rather than extending an existing one.</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Branch and channel teams added local variants because they could not find the existing entry.</a:t>
            </a:r>
            <a:endParaRPr sz="930"/>
          </a:p>
          <a:p xmlns:a="http://schemas.openxmlformats.org/drawingml/2006/main">
            <a:pPr marL="152400" indent="-152400">
              <a:lnSpc>
                <a:spcPts val="1400"/>
              </a:lnSpc>
              <a:spcAft>
                <a:spcPts val="600"/>
              </a:spcAft>
              <a:buSzPct val="100000"/>
              <a:buChar char="•"/>
            </a:pPr>
            <a:r>
              <a:rPr sz="930">
                <a:solidFill>
                  <a:srgbClr val="1A1A1A"/>
                </a:solidFill>
                <a:latin typeface="Arial"/>
                <a:ea typeface="Arial"/>
                <a:cs typeface="Arial"/>
              </a:rPr>
              <a:t>Nothing was ever retired, because retiring requires proving nobody uses it.</a:t>
            </a:r>
            <a:endParaRPr sz="930"/>
          </a:p>
        </p:txBody>
      </p:sp>
      <p:sp>
        <p:nvSpPr>
          <p:cNvPr id="21" name="Shape 18">
            <a:extLst xmlns:a="http://schemas.openxmlformats.org/drawingml/2006/main">
              <a:ext uri="{FF2B5EF4-FFF2-40B4-BE49-F238E27FC236}">
                <a16:creationId xmlns:a16="http://schemas.microsoft.com/office/drawing/2014/main" id="{9A6FCC26-4B71-4F56-9086-D0A693300330}"/>
              </a:ext>
            </a:extLst>
          </p:cNvPr>
          <p:cNvSpPr>
            <a:spLocks xmlns:a="http://schemas.openxmlformats.org/drawingml/2006/main" noGrp="1"/>
          </p:cNvSpPr>
          <p:nvPr/>
        </p:nvSpPr>
        <p:spPr>
          <a:xfrm xmlns:a="http://schemas.openxmlformats.org/drawingml/2006/main">
            <a:off x="566928" y="4535424"/>
            <a:ext cx="11057839" cy="1536192"/>
          </a:xfrm>
          <a:prstGeom xmlns:a="http://schemas.openxmlformats.org/drawingml/2006/main" prst="rect">
            <a:avLst/>
          </a:prstGeom>
          <a:solidFill xmlns:a="http://schemas.openxmlformats.org/drawingml/2006/main">
            <a:srgbClr val="F3E6E0"/>
          </a:solidFill>
        </p:spPr>
      </p:sp>
      <p:sp>
        <p:nvSpPr>
          <p:cNvPr id="22" name="Text 19">
            <a:extLst xmlns:a="http://schemas.openxmlformats.org/drawingml/2006/main">
              <a:ext uri="{FF2B5EF4-FFF2-40B4-BE49-F238E27FC236}">
                <a16:creationId xmlns:a16="http://schemas.microsoft.com/office/drawing/2014/main" id="{25925854-55A2-4C47-B4B0-C90D5F0770F5}"/>
              </a:ext>
            </a:extLst>
          </p:cNvPr>
          <p:cNvSpPr>
            <a:spLocks xmlns:a="http://schemas.openxmlformats.org/drawingml/2006/main" noGrp="1"/>
          </p:cNvSpPr>
          <p:nvPr/>
        </p:nvSpPr>
        <p:spPr>
          <a:xfrm xmlns:a="http://schemas.openxmlformats.org/drawingml/2006/main">
            <a:off x="804672" y="468172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What an eleven-fold reduction actually says</a:t>
            </a:r>
            <a:endParaRPr sz="1100"/>
          </a:p>
        </p:txBody>
      </p:sp>
      <p:sp>
        <p:nvSpPr>
          <p:cNvPr id="23" name="Text 20">
            <a:extLst xmlns:a="http://schemas.openxmlformats.org/drawingml/2006/main">
              <a:ext uri="{FF2B5EF4-FFF2-40B4-BE49-F238E27FC236}">
                <a16:creationId xmlns:a16="http://schemas.microsoft.com/office/drawing/2014/main" id="{3BF68F9E-C8BA-4253-AA12-F10650073A34}"/>
              </a:ext>
            </a:extLst>
          </p:cNvPr>
          <p:cNvSpPr>
            <a:spLocks xmlns:a="http://schemas.openxmlformats.org/drawingml/2006/main" noGrp="1"/>
          </p:cNvSpPr>
          <p:nvPr/>
        </p:nvSpPr>
        <p:spPr>
          <a:xfrm xmlns:a="http://schemas.openxmlformats.org/drawingml/2006/main">
            <a:off x="804672" y="4937760"/>
            <a:ext cx="10582351"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collapse was not achieved by removing services. Every intent that existed before still exists after — what fell was the number of names for each one.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is not unusual and it is not a sign of a badly run bank. It is the predictable result of a catalogue that can only grow, maintained by people who were individually correct each time they added an entry. The underlying finding is that the bank had always been running roughly five hundred services and describing them six thousand ways.</a:t>
            </a:r>
            <a:endParaRPr sz="990"/>
          </a:p>
        </p:txBody>
      </p:sp>
      <p:sp>
        <p:nvSpPr>
          <p:cNvPr id="24" name="Shape 21">
            <a:extLst xmlns:a="http://schemas.openxmlformats.org/drawingml/2006/main">
              <a:ext uri="{FF2B5EF4-FFF2-40B4-BE49-F238E27FC236}">
                <a16:creationId xmlns:a16="http://schemas.microsoft.com/office/drawing/2014/main" id="{3FC5B6E3-254E-451D-A452-6AEC27C0F8C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5" name="Text 22">
            <a:extLst xmlns:a="http://schemas.openxmlformats.org/drawingml/2006/main">
              <a:ext uri="{FF2B5EF4-FFF2-40B4-BE49-F238E27FC236}">
                <a16:creationId xmlns:a16="http://schemas.microsoft.com/office/drawing/2014/main" id="{8137763A-F529-457E-9BC8-0BAD148D811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Publicly reported bank figures and vendor-reported deployment figures, retained with attribution · reported deployment figures</a:t>
            </a:r>
            <a:endParaRPr sz="850"/>
          </a:p>
        </p:txBody>
      </p:sp>
      <p:sp>
        <p:nvSpPr>
          <p:cNvPr id="26" name="Text 23">
            <a:extLst xmlns:a="http://schemas.openxmlformats.org/drawingml/2006/main">
              <a:ext uri="{FF2B5EF4-FFF2-40B4-BE49-F238E27FC236}">
                <a16:creationId xmlns:a16="http://schemas.microsoft.com/office/drawing/2014/main" id="{E8AEA697-043E-4201-A4CF-53EFD0A507C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773800009"/>
      </p:ext>
    </p:extLst>
  </p:cSld>
</p:sld>
</file>

<file path=ppt/slides/slide25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E5DF10-057E-403D-BF73-2A5D2C15188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METHOD</a:t>
            </a:r>
            <a:endParaRPr sz="950"/>
          </a:p>
        </p:txBody>
      </p:sp>
      <p:sp>
        <p:nvSpPr>
          <p:cNvPr id="3" name="Text 1">
            <a:extLst xmlns:a="http://schemas.openxmlformats.org/drawingml/2006/main">
              <a:ext uri="{FF2B5EF4-FFF2-40B4-BE49-F238E27FC236}">
                <a16:creationId xmlns:a16="http://schemas.microsoft.com/office/drawing/2014/main" id="{79B287D3-7135-4971-8112-6EC40CBA6FE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steps, and the order matters — rebuilding from intent before touching any</a:t>
            </a:r>
            <a:endParaRPr sz="1900"/>
          </a:p>
          <a:p xmlns:a="http://schemas.openxmlformats.org/drawingml/2006/main">
            <a:pPr marL="0" indent="0">
              <a:lnSpc>
                <a:spcPts val="2400"/>
              </a:lnSpc>
              <a:buNone/>
            </a:pPr>
            <a:r>
              <a:rPr sz="1900" b="1">
                <a:solidFill>
                  <a:srgbClr val="102A43"/>
                </a:solidFill>
                <a:latin typeface="Arial"/>
                <a:ea typeface="Arial"/>
                <a:cs typeface="Arial"/>
              </a:rPr>
              <a:t>system mapping is what makes the collapse defensible</a:t>
            </a:r>
            <a:endParaRPr sz="1900"/>
          </a:p>
        </p:txBody>
      </p:sp>
      <p:sp>
        <p:nvSpPr>
          <p:cNvPr id="4" name="Shape 2">
            <a:extLst xmlns:a="http://schemas.openxmlformats.org/drawingml/2006/main">
              <a:ext uri="{FF2B5EF4-FFF2-40B4-BE49-F238E27FC236}">
                <a16:creationId xmlns:a16="http://schemas.microsoft.com/office/drawing/2014/main" id="{157EDCF1-85DB-4C95-BF27-B1639F65E898}"/>
              </a:ext>
            </a:extLst>
          </p:cNvPr>
          <p:cNvSpPr>
            <a:spLocks xmlns:a="http://schemas.openxmlformats.org/drawingml/2006/main" noGrp="1"/>
          </p:cNvSpPr>
          <p:nvPr/>
        </p:nvSpPr>
        <p:spPr>
          <a:xfrm xmlns:a="http://schemas.openxmlformats.org/drawingml/2006/main">
            <a:off x="566928" y="1335024"/>
            <a:ext cx="2109155" cy="192024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23FF3151-84C4-492B-A719-0E18404CA629}"/>
              </a:ext>
            </a:extLst>
          </p:cNvPr>
          <p:cNvSpPr>
            <a:spLocks xmlns:a="http://schemas.openxmlformats.org/drawingml/2006/main" noGrp="1"/>
          </p:cNvSpPr>
          <p:nvPr/>
        </p:nvSpPr>
        <p:spPr>
          <a:xfrm xmlns:a="http://schemas.openxmlformats.org/drawingml/2006/main">
            <a:off x="731520"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01</a:t>
            </a:r>
            <a:endParaRPr sz="840"/>
          </a:p>
        </p:txBody>
      </p:sp>
      <p:sp>
        <p:nvSpPr>
          <p:cNvPr id="6" name="Text 4">
            <a:extLst xmlns:a="http://schemas.openxmlformats.org/drawingml/2006/main">
              <a:ext uri="{FF2B5EF4-FFF2-40B4-BE49-F238E27FC236}">
                <a16:creationId xmlns:a16="http://schemas.microsoft.com/office/drawing/2014/main" id="{6D2C4558-36FB-4996-8F12-EB45FA123147}"/>
              </a:ext>
            </a:extLst>
          </p:cNvPr>
          <p:cNvSpPr>
            <a:spLocks xmlns:a="http://schemas.openxmlformats.org/drawingml/2006/main" noGrp="1"/>
          </p:cNvSpPr>
          <p:nvPr/>
        </p:nvSpPr>
        <p:spPr>
          <a:xfrm xmlns:a="http://schemas.openxmlformats.org/drawingml/2006/main">
            <a:off x="731520" y="1664208"/>
            <a:ext cx="177997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Catalogue what is asked</a:t>
            </a:r>
            <a:endParaRPr sz="1060"/>
          </a:p>
        </p:txBody>
      </p:sp>
      <p:sp>
        <p:nvSpPr>
          <p:cNvPr id="7" name="Text 5">
            <a:extLst xmlns:a="http://schemas.openxmlformats.org/drawingml/2006/main">
              <a:ext uri="{FF2B5EF4-FFF2-40B4-BE49-F238E27FC236}">
                <a16:creationId xmlns:a16="http://schemas.microsoft.com/office/drawing/2014/main" id="{872EBFE2-8A91-44A9-BD06-75C1DDC9786D}"/>
              </a:ext>
            </a:extLst>
          </p:cNvPr>
          <p:cNvSpPr>
            <a:spLocks xmlns:a="http://schemas.openxmlformats.org/drawingml/2006/main" noGrp="1"/>
          </p:cNvSpPr>
          <p:nvPr/>
        </p:nvSpPr>
        <p:spPr>
          <a:xfrm xmlns:a="http://schemas.openxmlformats.org/drawingml/2006/main">
            <a:off x="731520" y="2121408"/>
            <a:ext cx="1779971"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Sample real contacts across channels and record the customer's intent in their words, not the system's.</a:t>
            </a:r>
            <a:endParaRPr sz="900"/>
          </a:p>
        </p:txBody>
      </p:sp>
      <p:sp>
        <p:nvSpPr>
          <p:cNvPr id="8" name="Shape 6">
            <a:extLst xmlns:a="http://schemas.openxmlformats.org/drawingml/2006/main">
              <a:ext uri="{FF2B5EF4-FFF2-40B4-BE49-F238E27FC236}">
                <a16:creationId xmlns:a16="http://schemas.microsoft.com/office/drawing/2014/main" id="{0D265226-6DCD-48B2-8FB0-CF6A7A4F045A}"/>
              </a:ext>
            </a:extLst>
          </p:cNvPr>
          <p:cNvSpPr>
            <a:spLocks xmlns:a="http://schemas.openxmlformats.org/drawingml/2006/main" noGrp="1"/>
          </p:cNvSpPr>
          <p:nvPr/>
        </p:nvSpPr>
        <p:spPr>
          <a:xfrm xmlns:a="http://schemas.openxmlformats.org/drawingml/2006/main">
            <a:off x="2804099" y="1335024"/>
            <a:ext cx="2109155" cy="192024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D43ED3F8-866B-4DDB-9487-4E8028C3D89D}"/>
              </a:ext>
            </a:extLst>
          </p:cNvPr>
          <p:cNvSpPr>
            <a:spLocks xmlns:a="http://schemas.openxmlformats.org/drawingml/2006/main" noGrp="1"/>
          </p:cNvSpPr>
          <p:nvPr/>
        </p:nvSpPr>
        <p:spPr>
          <a:xfrm xmlns:a="http://schemas.openxmlformats.org/drawingml/2006/main">
            <a:off x="2968691"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02</a:t>
            </a:r>
            <a:endParaRPr sz="840"/>
          </a:p>
        </p:txBody>
      </p:sp>
      <p:sp>
        <p:nvSpPr>
          <p:cNvPr id="10" name="Text 8">
            <a:extLst xmlns:a="http://schemas.openxmlformats.org/drawingml/2006/main">
              <a:ext uri="{FF2B5EF4-FFF2-40B4-BE49-F238E27FC236}">
                <a16:creationId xmlns:a16="http://schemas.microsoft.com/office/drawing/2014/main" id="{DCE2A7D4-7186-4CCE-BBE5-FF07AEBFCFC0}"/>
              </a:ext>
            </a:extLst>
          </p:cNvPr>
          <p:cNvSpPr>
            <a:spLocks xmlns:a="http://schemas.openxmlformats.org/drawingml/2006/main" noGrp="1"/>
          </p:cNvSpPr>
          <p:nvPr/>
        </p:nvSpPr>
        <p:spPr>
          <a:xfrm xmlns:a="http://schemas.openxmlformats.org/drawingml/2006/main">
            <a:off x="2968691" y="1664208"/>
            <a:ext cx="177997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Cluster by intent</a:t>
            </a:r>
            <a:endParaRPr sz="1060"/>
          </a:p>
        </p:txBody>
      </p:sp>
      <p:sp>
        <p:nvSpPr>
          <p:cNvPr id="11" name="Text 9">
            <a:extLst xmlns:a="http://schemas.openxmlformats.org/drawingml/2006/main">
              <a:ext uri="{FF2B5EF4-FFF2-40B4-BE49-F238E27FC236}">
                <a16:creationId xmlns:a16="http://schemas.microsoft.com/office/drawing/2014/main" id="{D7DC8851-6B26-42A6-A32C-F7BDF81731D7}"/>
              </a:ext>
            </a:extLst>
          </p:cNvPr>
          <p:cNvSpPr>
            <a:spLocks xmlns:a="http://schemas.openxmlformats.org/drawingml/2006/main" noGrp="1"/>
          </p:cNvSpPr>
          <p:nvPr/>
        </p:nvSpPr>
        <p:spPr>
          <a:xfrm xmlns:a="http://schemas.openxmlformats.org/drawingml/2006/main">
            <a:off x="2968691" y="2121408"/>
            <a:ext cx="1779971"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Group by what the customer wants, ignoring which system fulfils it. Duplicates surface immediately at this step.</a:t>
            </a:r>
            <a:endParaRPr sz="900"/>
          </a:p>
        </p:txBody>
      </p:sp>
      <p:sp>
        <p:nvSpPr>
          <p:cNvPr id="12" name="Shape 10">
            <a:extLst xmlns:a="http://schemas.openxmlformats.org/drawingml/2006/main">
              <a:ext uri="{FF2B5EF4-FFF2-40B4-BE49-F238E27FC236}">
                <a16:creationId xmlns:a16="http://schemas.microsoft.com/office/drawing/2014/main" id="{A97415F5-13C4-46F1-8BD5-F58FE07DF144}"/>
              </a:ext>
            </a:extLst>
          </p:cNvPr>
          <p:cNvSpPr>
            <a:spLocks xmlns:a="http://schemas.openxmlformats.org/drawingml/2006/main" noGrp="1"/>
          </p:cNvSpPr>
          <p:nvPr/>
        </p:nvSpPr>
        <p:spPr>
          <a:xfrm xmlns:a="http://schemas.openxmlformats.org/drawingml/2006/main">
            <a:off x="5041270" y="1335024"/>
            <a:ext cx="2109155" cy="1920240"/>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68706E04-F239-44B2-A570-F2B00369717F}"/>
              </a:ext>
            </a:extLst>
          </p:cNvPr>
          <p:cNvSpPr>
            <a:spLocks xmlns:a="http://schemas.openxmlformats.org/drawingml/2006/main" noGrp="1"/>
          </p:cNvSpPr>
          <p:nvPr/>
        </p:nvSpPr>
        <p:spPr>
          <a:xfrm xmlns:a="http://schemas.openxmlformats.org/drawingml/2006/main">
            <a:off x="5205862"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4" name="Text 12">
            <a:extLst xmlns:a="http://schemas.openxmlformats.org/drawingml/2006/main">
              <a:ext uri="{FF2B5EF4-FFF2-40B4-BE49-F238E27FC236}">
                <a16:creationId xmlns:a16="http://schemas.microsoft.com/office/drawing/2014/main" id="{4C66231B-0C59-4C11-B338-B448E94913FB}"/>
              </a:ext>
            </a:extLst>
          </p:cNvPr>
          <p:cNvSpPr>
            <a:spLocks xmlns:a="http://schemas.openxmlformats.org/drawingml/2006/main" noGrp="1"/>
          </p:cNvSpPr>
          <p:nvPr/>
        </p:nvSpPr>
        <p:spPr>
          <a:xfrm xmlns:a="http://schemas.openxmlformats.org/drawingml/2006/main">
            <a:off x="5205862" y="1664208"/>
            <a:ext cx="177997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Define the target set</a:t>
            </a:r>
            <a:endParaRPr sz="1060"/>
          </a:p>
        </p:txBody>
      </p:sp>
      <p:sp>
        <p:nvSpPr>
          <p:cNvPr id="15" name="Text 13">
            <a:extLst xmlns:a="http://schemas.openxmlformats.org/drawingml/2006/main">
              <a:ext uri="{FF2B5EF4-FFF2-40B4-BE49-F238E27FC236}">
                <a16:creationId xmlns:a16="http://schemas.microsoft.com/office/drawing/2014/main" id="{2BBC4970-B91A-41B7-91A5-055C5B7F1E0A}"/>
              </a:ext>
            </a:extLst>
          </p:cNvPr>
          <p:cNvSpPr>
            <a:spLocks xmlns:a="http://schemas.openxmlformats.org/drawingml/2006/main" noGrp="1"/>
          </p:cNvSpPr>
          <p:nvPr/>
        </p:nvSpPr>
        <p:spPr>
          <a:xfrm xmlns:a="http://schemas.openxmlformats.org/drawingml/2006/main">
            <a:off x="5205862" y="2121408"/>
            <a:ext cx="1779971"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One entry per distinct intent, at a granularity an agent can navigate under time pressure — hundreds, not thousands.</a:t>
            </a:r>
            <a:endParaRPr sz="900"/>
          </a:p>
        </p:txBody>
      </p:sp>
      <p:sp>
        <p:nvSpPr>
          <p:cNvPr id="16" name="Shape 14">
            <a:extLst xmlns:a="http://schemas.openxmlformats.org/drawingml/2006/main">
              <a:ext uri="{FF2B5EF4-FFF2-40B4-BE49-F238E27FC236}">
                <a16:creationId xmlns:a16="http://schemas.microsoft.com/office/drawing/2014/main" id="{6528B1E3-26E0-40D9-ABA3-2F5D26AFA211}"/>
              </a:ext>
            </a:extLst>
          </p:cNvPr>
          <p:cNvSpPr>
            <a:spLocks xmlns:a="http://schemas.openxmlformats.org/drawingml/2006/main" noGrp="1"/>
          </p:cNvSpPr>
          <p:nvPr/>
        </p:nvSpPr>
        <p:spPr>
          <a:xfrm xmlns:a="http://schemas.openxmlformats.org/drawingml/2006/main">
            <a:off x="7278441" y="1335024"/>
            <a:ext cx="2109155" cy="1920240"/>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F2BC25EE-AA5A-4C16-B5C7-DC2EE71EB9E7}"/>
              </a:ext>
            </a:extLst>
          </p:cNvPr>
          <p:cNvSpPr>
            <a:spLocks xmlns:a="http://schemas.openxmlformats.org/drawingml/2006/main" noGrp="1"/>
          </p:cNvSpPr>
          <p:nvPr/>
        </p:nvSpPr>
        <p:spPr>
          <a:xfrm xmlns:a="http://schemas.openxmlformats.org/drawingml/2006/main">
            <a:off x="7443033"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04</a:t>
            </a:r>
            <a:endParaRPr sz="840"/>
          </a:p>
        </p:txBody>
      </p:sp>
      <p:sp>
        <p:nvSpPr>
          <p:cNvPr id="18" name="Text 16">
            <a:extLst xmlns:a="http://schemas.openxmlformats.org/drawingml/2006/main">
              <a:ext uri="{FF2B5EF4-FFF2-40B4-BE49-F238E27FC236}">
                <a16:creationId xmlns:a16="http://schemas.microsoft.com/office/drawing/2014/main" id="{494C9656-AFD8-4A07-90F2-DE282DF2D180}"/>
              </a:ext>
            </a:extLst>
          </p:cNvPr>
          <p:cNvSpPr>
            <a:spLocks xmlns:a="http://schemas.openxmlformats.org/drawingml/2006/main" noGrp="1"/>
          </p:cNvSpPr>
          <p:nvPr/>
        </p:nvSpPr>
        <p:spPr>
          <a:xfrm xmlns:a="http://schemas.openxmlformats.org/drawingml/2006/main">
            <a:off x="7443033" y="1664208"/>
            <a:ext cx="177997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Map back to systems</a:t>
            </a:r>
            <a:endParaRPr sz="1060"/>
          </a:p>
        </p:txBody>
      </p:sp>
      <p:sp>
        <p:nvSpPr>
          <p:cNvPr id="19" name="Text 17">
            <a:extLst xmlns:a="http://schemas.openxmlformats.org/drawingml/2006/main">
              <a:ext uri="{FF2B5EF4-FFF2-40B4-BE49-F238E27FC236}">
                <a16:creationId xmlns:a16="http://schemas.microsoft.com/office/drawing/2014/main" id="{C308CA20-A232-49BC-8184-10F66531ABCE}"/>
              </a:ext>
            </a:extLst>
          </p:cNvPr>
          <p:cNvSpPr>
            <a:spLocks xmlns:a="http://schemas.openxmlformats.org/drawingml/2006/main" noGrp="1"/>
          </p:cNvSpPr>
          <p:nvPr/>
        </p:nvSpPr>
        <p:spPr>
          <a:xfrm xmlns:a="http://schemas.openxmlformats.org/drawingml/2006/main">
            <a:off x="7443033" y="2121408"/>
            <a:ext cx="1779971"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Only now connect each intent to its owning system or systems. One intent may route to several; that is fine.</a:t>
            </a:r>
            <a:endParaRPr sz="900"/>
          </a:p>
        </p:txBody>
      </p:sp>
      <p:sp>
        <p:nvSpPr>
          <p:cNvPr id="20" name="Shape 18">
            <a:extLst xmlns:a="http://schemas.openxmlformats.org/drawingml/2006/main">
              <a:ext uri="{FF2B5EF4-FFF2-40B4-BE49-F238E27FC236}">
                <a16:creationId xmlns:a16="http://schemas.microsoft.com/office/drawing/2014/main" id="{745ABC63-3DB8-408B-8511-8365B4E63335}"/>
              </a:ext>
            </a:extLst>
          </p:cNvPr>
          <p:cNvSpPr>
            <a:spLocks xmlns:a="http://schemas.openxmlformats.org/drawingml/2006/main" noGrp="1"/>
          </p:cNvSpPr>
          <p:nvPr/>
        </p:nvSpPr>
        <p:spPr>
          <a:xfrm xmlns:a="http://schemas.openxmlformats.org/drawingml/2006/main">
            <a:off x="9515612" y="1335024"/>
            <a:ext cx="2109155" cy="1920240"/>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C9832C8C-984E-4FE8-B39F-CD8D52744890}"/>
              </a:ext>
            </a:extLst>
          </p:cNvPr>
          <p:cNvSpPr>
            <a:spLocks xmlns:a="http://schemas.openxmlformats.org/drawingml/2006/main" noGrp="1"/>
          </p:cNvSpPr>
          <p:nvPr/>
        </p:nvSpPr>
        <p:spPr>
          <a:xfrm xmlns:a="http://schemas.openxmlformats.org/drawingml/2006/main">
            <a:off x="9680204" y="1463040"/>
            <a:ext cx="1779971"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05</a:t>
            </a:r>
            <a:endParaRPr sz="840"/>
          </a:p>
        </p:txBody>
      </p:sp>
      <p:sp>
        <p:nvSpPr>
          <p:cNvPr id="22" name="Text 20">
            <a:extLst xmlns:a="http://schemas.openxmlformats.org/drawingml/2006/main">
              <a:ext uri="{FF2B5EF4-FFF2-40B4-BE49-F238E27FC236}">
                <a16:creationId xmlns:a16="http://schemas.microsoft.com/office/drawing/2014/main" id="{E845AD4F-A0BF-4E69-A801-CBB8F5F49134}"/>
              </a:ext>
            </a:extLst>
          </p:cNvPr>
          <p:cNvSpPr>
            <a:spLocks xmlns:a="http://schemas.openxmlformats.org/drawingml/2006/main" noGrp="1"/>
          </p:cNvSpPr>
          <p:nvPr/>
        </p:nvSpPr>
        <p:spPr>
          <a:xfrm xmlns:a="http://schemas.openxmlformats.org/drawingml/2006/main">
            <a:off x="9680204" y="1664208"/>
            <a:ext cx="1779971" cy="4206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00"/>
              </a:lnSpc>
              <a:buNone/>
            </a:pPr>
            <a:r>
              <a:rPr sz="1060" b="1">
                <a:solidFill>
                  <a:srgbClr val="102A43"/>
                </a:solidFill>
                <a:latin typeface="Arial"/>
                <a:ea typeface="Arial"/>
                <a:cs typeface="Arial"/>
              </a:rPr>
              <a:t>Migrate with a crosswalk</a:t>
            </a:r>
            <a:endParaRPr sz="1060"/>
          </a:p>
        </p:txBody>
      </p:sp>
      <p:sp>
        <p:nvSpPr>
          <p:cNvPr id="23" name="Text 21">
            <a:extLst xmlns:a="http://schemas.openxmlformats.org/drawingml/2006/main">
              <a:ext uri="{FF2B5EF4-FFF2-40B4-BE49-F238E27FC236}">
                <a16:creationId xmlns:a16="http://schemas.microsoft.com/office/drawing/2014/main" id="{C39570B8-2098-4CCF-9D07-7C3DFAFDF0C8}"/>
              </a:ext>
            </a:extLst>
          </p:cNvPr>
          <p:cNvSpPr>
            <a:spLocks xmlns:a="http://schemas.openxmlformats.org/drawingml/2006/main" noGrp="1"/>
          </p:cNvSpPr>
          <p:nvPr/>
        </p:nvSpPr>
        <p:spPr>
          <a:xfrm xmlns:a="http://schemas.openxmlformats.org/drawingml/2006/main">
            <a:off x="9680204" y="2121408"/>
            <a:ext cx="1779971" cy="10424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486581"/>
                </a:solidFill>
                <a:latin typeface="Arial"/>
                <a:ea typeface="Arial"/>
                <a:cs typeface="Arial"/>
              </a:rPr>
              <a:t>Every old type maps to a new one, so history is preserved and reporting continuity holds across the change.</a:t>
            </a:r>
            <a:endParaRPr sz="900"/>
          </a:p>
        </p:txBody>
      </p:sp>
      <p:sp>
        <p:nvSpPr>
          <p:cNvPr id="24" name="Text 22">
            <a:extLst xmlns:a="http://schemas.openxmlformats.org/drawingml/2006/main">
              <a:ext uri="{FF2B5EF4-FFF2-40B4-BE49-F238E27FC236}">
                <a16:creationId xmlns:a16="http://schemas.microsoft.com/office/drawing/2014/main" id="{D96EB1B2-60E9-4D20-9087-3541093106C1}"/>
              </a:ext>
            </a:extLst>
          </p:cNvPr>
          <p:cNvSpPr>
            <a:spLocks xmlns:a="http://schemas.openxmlformats.org/drawingml/2006/main" noGrp="1"/>
          </p:cNvSpPr>
          <p:nvPr/>
        </p:nvSpPr>
        <p:spPr>
          <a:xfrm xmlns:a="http://schemas.openxmlformats.org/drawingml/2006/main">
            <a:off x="566928" y="35295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intent before systems</a:t>
            </a:r>
            <a:endParaRPr sz="1100"/>
          </a:p>
        </p:txBody>
      </p:sp>
      <p:sp>
        <p:nvSpPr>
          <p:cNvPr id="25" name="Shape 23">
            <a:extLst xmlns:a="http://schemas.openxmlformats.org/drawingml/2006/main">
              <a:ext uri="{FF2B5EF4-FFF2-40B4-BE49-F238E27FC236}">
                <a16:creationId xmlns:a16="http://schemas.microsoft.com/office/drawing/2014/main" id="{50505D2E-4493-4100-A9C7-B37C02A6825B}"/>
              </a:ext>
            </a:extLst>
          </p:cNvPr>
          <p:cNvSpPr>
            <a:spLocks xmlns:a="http://schemas.openxmlformats.org/drawingml/2006/main" noGrp="1"/>
          </p:cNvSpPr>
          <p:nvPr/>
        </p:nvSpPr>
        <p:spPr>
          <a:xfrm xmlns:a="http://schemas.openxmlformats.org/drawingml/2006/main">
            <a:off x="566928" y="3785616"/>
            <a:ext cx="3551834" cy="20117"/>
          </a:xfrm>
          <a:prstGeom xmlns:a="http://schemas.openxmlformats.org/drawingml/2006/main" prst="rect">
            <a:avLst/>
          </a:prstGeom>
          <a:solidFill xmlns:a="http://schemas.openxmlformats.org/drawingml/2006/main">
            <a:srgbClr val="B04A25"/>
          </a:solidFill>
        </p:spPr>
      </p:sp>
      <p:sp>
        <p:nvSpPr>
          <p:cNvPr id="26" name="Text 24">
            <a:extLst xmlns:a="http://schemas.openxmlformats.org/drawingml/2006/main">
              <a:ext uri="{FF2B5EF4-FFF2-40B4-BE49-F238E27FC236}">
                <a16:creationId xmlns:a16="http://schemas.microsoft.com/office/drawing/2014/main" id="{6EBB40D7-A103-4B49-8BE4-84AD7F60D2E4}"/>
              </a:ext>
            </a:extLst>
          </p:cNvPr>
          <p:cNvSpPr>
            <a:spLocks xmlns:a="http://schemas.openxmlformats.org/drawingml/2006/main" noGrp="1"/>
          </p:cNvSpPr>
          <p:nvPr/>
        </p:nvSpPr>
        <p:spPr>
          <a:xfrm xmlns:a="http://schemas.openxmlformats.org/drawingml/2006/main">
            <a:off x="566928" y="391363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Starting from the system map reproduces the system boundaries that caused the sprawl.</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Starting from intent produces a set that matches how customers actually ask, which is also how agents search.</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mapping step is then a translation exercise rather than a design one.</a:t>
            </a:r>
            <a:endParaRPr sz="950"/>
          </a:p>
        </p:txBody>
      </p:sp>
      <p:sp>
        <p:nvSpPr>
          <p:cNvPr id="27" name="Text 25">
            <a:extLst xmlns:a="http://schemas.openxmlformats.org/drawingml/2006/main">
              <a:ext uri="{FF2B5EF4-FFF2-40B4-BE49-F238E27FC236}">
                <a16:creationId xmlns:a16="http://schemas.microsoft.com/office/drawing/2014/main" id="{578C5BC7-365D-4F32-9035-C8C7066297BA}"/>
              </a:ext>
            </a:extLst>
          </p:cNvPr>
          <p:cNvSpPr>
            <a:spLocks xmlns:a="http://schemas.openxmlformats.org/drawingml/2006/main" noGrp="1"/>
          </p:cNvSpPr>
          <p:nvPr/>
        </p:nvSpPr>
        <p:spPr>
          <a:xfrm xmlns:a="http://schemas.openxmlformats.org/drawingml/2006/main">
            <a:off x="4319930" y="35295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the crosswalk is non-negotiable</a:t>
            </a:r>
            <a:endParaRPr sz="1100"/>
          </a:p>
        </p:txBody>
      </p:sp>
      <p:sp>
        <p:nvSpPr>
          <p:cNvPr id="28" name="Shape 26">
            <a:extLst xmlns:a="http://schemas.openxmlformats.org/drawingml/2006/main">
              <a:ext uri="{FF2B5EF4-FFF2-40B4-BE49-F238E27FC236}">
                <a16:creationId xmlns:a16="http://schemas.microsoft.com/office/drawing/2014/main" id="{0325C4A6-08BE-4511-A22D-834D15A74D6B}"/>
              </a:ext>
            </a:extLst>
          </p:cNvPr>
          <p:cNvSpPr>
            <a:spLocks xmlns:a="http://schemas.openxmlformats.org/drawingml/2006/main" noGrp="1"/>
          </p:cNvSpPr>
          <p:nvPr/>
        </p:nvSpPr>
        <p:spPr>
          <a:xfrm xmlns:a="http://schemas.openxmlformats.org/drawingml/2006/main">
            <a:off x="4319930" y="3785616"/>
            <a:ext cx="3551834" cy="20117"/>
          </a:xfrm>
          <a:prstGeom xmlns:a="http://schemas.openxmlformats.org/drawingml/2006/main" prst="rect">
            <a:avLst/>
          </a:prstGeom>
          <a:solidFill xmlns:a="http://schemas.openxmlformats.org/drawingml/2006/main">
            <a:srgbClr val="102A43"/>
          </a:solidFill>
        </p:spPr>
      </p:sp>
      <p:sp>
        <p:nvSpPr>
          <p:cNvPr id="29" name="Text 27">
            <a:extLst xmlns:a="http://schemas.openxmlformats.org/drawingml/2006/main">
              <a:ext uri="{FF2B5EF4-FFF2-40B4-BE49-F238E27FC236}">
                <a16:creationId xmlns:a16="http://schemas.microsoft.com/office/drawing/2014/main" id="{3FD9298C-143F-41D4-87E4-87A744A96836}"/>
              </a:ext>
            </a:extLst>
          </p:cNvPr>
          <p:cNvSpPr>
            <a:spLocks xmlns:a="http://schemas.openxmlformats.org/drawingml/2006/main" noGrp="1"/>
          </p:cNvSpPr>
          <p:nvPr/>
        </p:nvSpPr>
        <p:spPr>
          <a:xfrm xmlns:a="http://schemas.openxmlformats.org/drawingml/2006/main">
            <a:off x="4319930" y="391363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Without it, all historical volume becomes uncomparable and the business loses its baseline at exactly the moment it needs one.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With it, the bank can show the same year on both taxonomies and prove the collapse changed nothing about demand.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It is also what allows the change to be reversed if something was mis-grouped.</a:t>
            </a:r>
            <a:endParaRPr sz="950"/>
          </a:p>
        </p:txBody>
      </p:sp>
      <p:sp>
        <p:nvSpPr>
          <p:cNvPr id="30" name="Text 28">
            <a:extLst xmlns:a="http://schemas.openxmlformats.org/drawingml/2006/main">
              <a:ext uri="{FF2B5EF4-FFF2-40B4-BE49-F238E27FC236}">
                <a16:creationId xmlns:a16="http://schemas.microsoft.com/office/drawing/2014/main" id="{39AFD94B-163A-4E20-8798-B8E733E6B94A}"/>
              </a:ext>
            </a:extLst>
          </p:cNvPr>
          <p:cNvSpPr>
            <a:spLocks xmlns:a="http://schemas.openxmlformats.org/drawingml/2006/main" noGrp="1"/>
          </p:cNvSpPr>
          <p:nvPr/>
        </p:nvSpPr>
        <p:spPr>
          <a:xfrm xmlns:a="http://schemas.openxmlformats.org/drawingml/2006/main">
            <a:off x="8072933" y="352958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What made it acceptable to the business</a:t>
            </a:r>
            <a:endParaRPr sz="1100"/>
          </a:p>
        </p:txBody>
      </p:sp>
      <p:sp>
        <p:nvSpPr>
          <p:cNvPr id="31" name="Shape 29">
            <a:extLst xmlns:a="http://schemas.openxmlformats.org/drawingml/2006/main">
              <a:ext uri="{FF2B5EF4-FFF2-40B4-BE49-F238E27FC236}">
                <a16:creationId xmlns:a16="http://schemas.microsoft.com/office/drawing/2014/main" id="{AD83AAC8-E7D9-4B71-B68F-531351F77AAE}"/>
              </a:ext>
            </a:extLst>
          </p:cNvPr>
          <p:cNvSpPr>
            <a:spLocks xmlns:a="http://schemas.openxmlformats.org/drawingml/2006/main" noGrp="1"/>
          </p:cNvSpPr>
          <p:nvPr/>
        </p:nvSpPr>
        <p:spPr>
          <a:xfrm xmlns:a="http://schemas.openxmlformats.org/drawingml/2006/main">
            <a:off x="8072933" y="3785616"/>
            <a:ext cx="3551834" cy="20117"/>
          </a:xfrm>
          <a:prstGeom xmlns:a="http://schemas.openxmlformats.org/drawingml/2006/main" prst="rect">
            <a:avLst/>
          </a:prstGeom>
          <a:solidFill xmlns:a="http://schemas.openxmlformats.org/drawingml/2006/main">
            <a:srgbClr val="486581"/>
          </a:solidFill>
        </p:spPr>
      </p:sp>
      <p:sp>
        <p:nvSpPr>
          <p:cNvPr id="32" name="Text 30">
            <a:extLst xmlns:a="http://schemas.openxmlformats.org/drawingml/2006/main">
              <a:ext uri="{FF2B5EF4-FFF2-40B4-BE49-F238E27FC236}">
                <a16:creationId xmlns:a16="http://schemas.microsoft.com/office/drawing/2014/main" id="{C49D455D-BB3C-4A57-BAB9-709891052658}"/>
              </a:ext>
            </a:extLst>
          </p:cNvPr>
          <p:cNvSpPr>
            <a:spLocks xmlns:a="http://schemas.openxmlformats.org/drawingml/2006/main" noGrp="1"/>
          </p:cNvSpPr>
          <p:nvPr/>
        </p:nvSpPr>
        <p:spPr>
          <a:xfrm xmlns:a="http://schemas.openxmlformats.org/drawingml/2006/main">
            <a:off x="8072933" y="3913632"/>
            <a:ext cx="3551834"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Nobody lost a service. Every intent still exists; only the number of names for it changed.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Reporting continuity meant no manager lost their numbers.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Framing it as removing duplicates rather than reducing the catalogue changed the entire conversation.</a:t>
            </a:r>
            <a:endParaRPr sz="950"/>
          </a:p>
        </p:txBody>
      </p:sp>
      <p:sp>
        <p:nvSpPr>
          <p:cNvPr id="33" name="Shape 31">
            <a:extLst xmlns:a="http://schemas.openxmlformats.org/drawingml/2006/main">
              <a:ext uri="{FF2B5EF4-FFF2-40B4-BE49-F238E27FC236}">
                <a16:creationId xmlns:a16="http://schemas.microsoft.com/office/drawing/2014/main" id="{A47D33FE-9574-4551-8318-26791790A9F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B14289F8-7ED7-4B90-A732-F136FC69AE9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method analysis of the reference deployment · author's method</a:t>
            </a:r>
            <a:endParaRPr sz="850"/>
          </a:p>
        </p:txBody>
      </p:sp>
      <p:sp>
        <p:nvSpPr>
          <p:cNvPr id="35" name="Text 33">
            <a:extLst xmlns:a="http://schemas.openxmlformats.org/drawingml/2006/main">
              <a:ext uri="{FF2B5EF4-FFF2-40B4-BE49-F238E27FC236}">
                <a16:creationId xmlns:a16="http://schemas.microsoft.com/office/drawing/2014/main" id="{B4569610-75CC-4A09-ABC7-CAB0A5A7B58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615003052"/>
      </p:ext>
    </p:extLst>
  </p:cSld>
</p:sld>
</file>

<file path=ppt/slides/slide25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0E71EF-2854-4FD1-B5F2-E2572B1B2A6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FIRST-TOUCH RESOLUTION</a:t>
            </a:r>
            <a:endParaRPr sz="950"/>
          </a:p>
        </p:txBody>
      </p:sp>
      <p:sp>
        <p:nvSpPr>
          <p:cNvPr id="3" name="Text 1">
            <a:extLst xmlns:a="http://schemas.openxmlformats.org/drawingml/2006/main">
              <a:ext uri="{FF2B5EF4-FFF2-40B4-BE49-F238E27FC236}">
                <a16:creationId xmlns:a16="http://schemas.microsoft.com/office/drawing/2014/main" id="{8D4850A8-F182-4CF0-BB4C-4FC4C999316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One hundred and eighty types were designated resolvable at first touch — which is a</a:t>
            </a:r>
            <a:endParaRPr sz="1900"/>
          </a:p>
          <a:p xmlns:a="http://schemas.openxmlformats.org/drawingml/2006/main">
            <a:pPr marL="0" indent="0">
              <a:lnSpc>
                <a:spcPts val="2400"/>
              </a:lnSpc>
              <a:buNone/>
            </a:pPr>
            <a:r>
              <a:rPr sz="1900" b="1">
                <a:solidFill>
                  <a:srgbClr val="102A43"/>
                </a:solidFill>
                <a:latin typeface="Arial"/>
                <a:ea typeface="Arial"/>
                <a:cs typeface="Arial"/>
              </a:rPr>
              <a:t>design commitment, not a target handed to agents</a:t>
            </a:r>
            <a:endParaRPr sz="1900"/>
          </a:p>
        </p:txBody>
      </p:sp>
      <p:sp>
        <p:nvSpPr>
          <p:cNvPr id="4" name="Shape 2">
            <a:extLst xmlns:a="http://schemas.openxmlformats.org/drawingml/2006/main">
              <a:ext uri="{FF2B5EF4-FFF2-40B4-BE49-F238E27FC236}">
                <a16:creationId xmlns:a16="http://schemas.microsoft.com/office/drawing/2014/main" id="{8FEA8AE2-B845-4BD7-A35A-F8E3DCCFEF74}"/>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E2701107-F0FB-4ECA-8B27-EEABD4787A6E}"/>
              </a:ext>
            </a:extLst>
          </p:cNvPr>
          <p:cNvSpPr>
            <a:spLocks xmlns:a="http://schemas.openxmlformats.org/drawingml/2006/main" noGrp="1"/>
          </p:cNvSpPr>
          <p:nvPr/>
        </p:nvSpPr>
        <p:spPr>
          <a:xfrm xmlns:a="http://schemas.openxmlformats.org/drawingml/2006/main">
            <a:off x="676656" y="1444752"/>
            <a:ext cx="37124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first-touch resolution required</a:t>
            </a:r>
            <a:endParaRPr sz="920"/>
          </a:p>
        </p:txBody>
      </p:sp>
      <p:sp>
        <p:nvSpPr>
          <p:cNvPr id="6" name="Text 4">
            <a:extLst xmlns:a="http://schemas.openxmlformats.org/drawingml/2006/main">
              <a:ext uri="{FF2B5EF4-FFF2-40B4-BE49-F238E27FC236}">
                <a16:creationId xmlns:a16="http://schemas.microsoft.com/office/drawing/2014/main" id="{9E26EFDF-87C6-48E7-A798-458BEB48FE65}"/>
              </a:ext>
            </a:extLst>
          </p:cNvPr>
          <p:cNvSpPr>
            <a:spLocks xmlns:a="http://schemas.openxmlformats.org/drawingml/2006/main" noGrp="1"/>
          </p:cNvSpPr>
          <p:nvPr/>
        </p:nvSpPr>
        <p:spPr>
          <a:xfrm xmlns:a="http://schemas.openxmlformats.org/drawingml/2006/main">
            <a:off x="4700016" y="1444752"/>
            <a:ext cx="35295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Why it is a design decision</a:t>
            </a:r>
            <a:endParaRPr sz="920"/>
          </a:p>
        </p:txBody>
      </p:sp>
      <p:sp>
        <p:nvSpPr>
          <p:cNvPr id="7" name="Text 5">
            <a:extLst xmlns:a="http://schemas.openxmlformats.org/drawingml/2006/main">
              <a:ext uri="{FF2B5EF4-FFF2-40B4-BE49-F238E27FC236}">
                <a16:creationId xmlns:a16="http://schemas.microsoft.com/office/drawing/2014/main" id="{D3749738-2DB7-4CFC-B27A-CF8764F8EEA7}"/>
              </a:ext>
            </a:extLst>
          </p:cNvPr>
          <p:cNvSpPr>
            <a:spLocks xmlns:a="http://schemas.openxmlformats.org/drawingml/2006/main" noGrp="1"/>
          </p:cNvSpPr>
          <p:nvPr/>
        </p:nvSpPr>
        <p:spPr>
          <a:xfrm xmlns:a="http://schemas.openxmlformats.org/drawingml/2006/main">
            <a:off x="8540496" y="1444752"/>
            <a:ext cx="2971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is not</a:t>
            </a:r>
            <a:endParaRPr sz="920"/>
          </a:p>
        </p:txBody>
      </p:sp>
      <p:sp>
        <p:nvSpPr>
          <p:cNvPr id="8" name="Text 6">
            <a:extLst xmlns:a="http://schemas.openxmlformats.org/drawingml/2006/main">
              <a:ext uri="{FF2B5EF4-FFF2-40B4-BE49-F238E27FC236}">
                <a16:creationId xmlns:a16="http://schemas.microsoft.com/office/drawing/2014/main" id="{9D970D02-4266-45C4-8E4C-475DD41C38A9}"/>
              </a:ext>
            </a:extLst>
          </p:cNvPr>
          <p:cNvSpPr>
            <a:spLocks xmlns:a="http://schemas.openxmlformats.org/drawingml/2006/main" noGrp="1"/>
          </p:cNvSpPr>
          <p:nvPr/>
        </p:nvSpPr>
        <p:spPr>
          <a:xfrm xmlns:a="http://schemas.openxmlformats.org/drawingml/2006/main">
            <a:off x="676656" y="181965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 stable type with one definition</a:t>
            </a:r>
            <a:endParaRPr sz="970"/>
          </a:p>
        </p:txBody>
      </p:sp>
      <p:sp>
        <p:nvSpPr>
          <p:cNvPr id="9" name="Text 7">
            <a:extLst xmlns:a="http://schemas.openxmlformats.org/drawingml/2006/main">
              <a:ext uri="{FF2B5EF4-FFF2-40B4-BE49-F238E27FC236}">
                <a16:creationId xmlns:a16="http://schemas.microsoft.com/office/drawing/2014/main" id="{BCF18BF4-5B13-4BB8-91CF-709E67D79843}"/>
              </a:ext>
            </a:extLst>
          </p:cNvPr>
          <p:cNvSpPr>
            <a:spLocks xmlns:a="http://schemas.openxmlformats.org/drawingml/2006/main" noGrp="1"/>
          </p:cNvSpPr>
          <p:nvPr/>
        </p:nvSpPr>
        <p:spPr>
          <a:xfrm xmlns:a="http://schemas.openxmlformats.org/drawingml/2006/main">
            <a:off x="4700016" y="1819656"/>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You cannot resolve at first touch what you cannot reliably identify</a:t>
            </a:r>
            <a:endParaRPr sz="920"/>
          </a:p>
        </p:txBody>
      </p:sp>
      <p:sp>
        <p:nvSpPr>
          <p:cNvPr id="10" name="Text 8">
            <a:extLst xmlns:a="http://schemas.openxmlformats.org/drawingml/2006/main">
              <a:ext uri="{FF2B5EF4-FFF2-40B4-BE49-F238E27FC236}">
                <a16:creationId xmlns:a16="http://schemas.microsoft.com/office/drawing/2014/main" id="{D3656F47-E0A1-4FF9-BCC8-6B5025DA6650}"/>
              </a:ext>
            </a:extLst>
          </p:cNvPr>
          <p:cNvSpPr>
            <a:spLocks xmlns:a="http://schemas.openxmlformats.org/drawingml/2006/main" noGrp="1"/>
          </p:cNvSpPr>
          <p:nvPr/>
        </p:nvSpPr>
        <p:spPr>
          <a:xfrm xmlns:a="http://schemas.openxmlformats.org/drawingml/2006/main">
            <a:off x="8540496" y="181965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Not an agent-effort problem</a:t>
            </a:r>
            <a:endParaRPr sz="920"/>
          </a:p>
        </p:txBody>
      </p:sp>
      <p:sp>
        <p:nvSpPr>
          <p:cNvPr id="11" name="Shape 9">
            <a:extLst xmlns:a="http://schemas.openxmlformats.org/drawingml/2006/main">
              <a:ext uri="{FF2B5EF4-FFF2-40B4-BE49-F238E27FC236}">
                <a16:creationId xmlns:a16="http://schemas.microsoft.com/office/drawing/2014/main" id="{9D5EF3AB-ABA5-4B50-8AA2-4DC0594753EC}"/>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12" name="Shape 10">
            <a:extLst xmlns:a="http://schemas.openxmlformats.org/drawingml/2006/main">
              <a:ext uri="{FF2B5EF4-FFF2-40B4-BE49-F238E27FC236}">
                <a16:creationId xmlns:a16="http://schemas.microsoft.com/office/drawing/2014/main" id="{821C6E69-D456-4430-A5D1-ED2FDB3A7247}"/>
              </a:ext>
            </a:extLst>
          </p:cNvPr>
          <p:cNvSpPr>
            <a:spLocks xmlns:a="http://schemas.openxmlformats.org/drawingml/2006/main" noGrp="1"/>
          </p:cNvSpPr>
          <p:nvPr/>
        </p:nvSpPr>
        <p:spPr>
          <a:xfrm xmlns:a="http://schemas.openxmlformats.org/drawingml/2006/main">
            <a:off x="566928" y="2212848"/>
            <a:ext cx="11057839" cy="512064"/>
          </a:xfrm>
          <a:prstGeom xmlns:a="http://schemas.openxmlformats.org/drawingml/2006/main" prst="rect">
            <a:avLst/>
          </a:prstGeom>
          <a:solidFill xmlns:a="http://schemas.openxmlformats.org/drawingml/2006/main">
            <a:srgbClr val="F7F9FB"/>
          </a:solidFill>
        </p:spPr>
      </p:sp>
      <p:sp>
        <p:nvSpPr>
          <p:cNvPr id="13" name="Text 11">
            <a:extLst xmlns:a="http://schemas.openxmlformats.org/drawingml/2006/main">
              <a:ext uri="{FF2B5EF4-FFF2-40B4-BE49-F238E27FC236}">
                <a16:creationId xmlns:a16="http://schemas.microsoft.com/office/drawing/2014/main" id="{48E69186-6DCC-4F39-8BF6-37BA0960871E}"/>
              </a:ext>
            </a:extLst>
          </p:cNvPr>
          <p:cNvSpPr>
            <a:spLocks xmlns:a="http://schemas.openxmlformats.org/drawingml/2006/main" noGrp="1"/>
          </p:cNvSpPr>
          <p:nvPr/>
        </p:nvSpPr>
        <p:spPr>
          <a:xfrm xmlns:a="http://schemas.openxmlformats.org/drawingml/2006/main">
            <a:off x="676656" y="233172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Authority delegated to the front line</a:t>
            </a:r>
            <a:endParaRPr sz="970"/>
          </a:p>
        </p:txBody>
      </p:sp>
      <p:sp>
        <p:nvSpPr>
          <p:cNvPr id="14" name="Text 12">
            <a:extLst xmlns:a="http://schemas.openxmlformats.org/drawingml/2006/main">
              <a:ext uri="{FF2B5EF4-FFF2-40B4-BE49-F238E27FC236}">
                <a16:creationId xmlns:a16="http://schemas.microsoft.com/office/drawing/2014/main" id="{B5A64B51-B396-46C6-BB88-CF80B973539F}"/>
              </a:ext>
            </a:extLst>
          </p:cNvPr>
          <p:cNvSpPr>
            <a:spLocks xmlns:a="http://schemas.openxmlformats.org/drawingml/2006/main" noGrp="1"/>
          </p:cNvSpPr>
          <p:nvPr/>
        </p:nvSpPr>
        <p:spPr>
          <a:xfrm xmlns:a="http://schemas.openxmlformats.org/drawingml/2006/main">
            <a:off x="4700016" y="2331720"/>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Someone must be permitted to decide without escalating</a:t>
            </a:r>
            <a:endParaRPr sz="920"/>
          </a:p>
        </p:txBody>
      </p:sp>
      <p:sp>
        <p:nvSpPr>
          <p:cNvPr id="15" name="Text 13">
            <a:extLst xmlns:a="http://schemas.openxmlformats.org/drawingml/2006/main">
              <a:ext uri="{FF2B5EF4-FFF2-40B4-BE49-F238E27FC236}">
                <a16:creationId xmlns:a16="http://schemas.microsoft.com/office/drawing/2014/main" id="{BE0F6C9C-D3D7-45CE-9574-225E6073141D}"/>
              </a:ext>
            </a:extLst>
          </p:cNvPr>
          <p:cNvSpPr>
            <a:spLocks xmlns:a="http://schemas.openxmlformats.org/drawingml/2006/main" noGrp="1"/>
          </p:cNvSpPr>
          <p:nvPr/>
        </p:nvSpPr>
        <p:spPr>
          <a:xfrm xmlns:a="http://schemas.openxmlformats.org/drawingml/2006/main">
            <a:off x="8540496" y="2331720"/>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Not a training initiative</a:t>
            </a:r>
            <a:endParaRPr sz="920"/>
          </a:p>
        </p:txBody>
      </p:sp>
      <p:sp>
        <p:nvSpPr>
          <p:cNvPr id="16" name="Shape 14">
            <a:extLst xmlns:a="http://schemas.openxmlformats.org/drawingml/2006/main">
              <a:ext uri="{FF2B5EF4-FFF2-40B4-BE49-F238E27FC236}">
                <a16:creationId xmlns:a16="http://schemas.microsoft.com/office/drawing/2014/main" id="{E3CA7D84-2CD6-45DC-ADCA-DA34E556C490}"/>
              </a:ext>
            </a:extLst>
          </p:cNvPr>
          <p:cNvSpPr>
            <a:spLocks xmlns:a="http://schemas.openxmlformats.org/drawingml/2006/main" noGrp="1"/>
          </p:cNvSpPr>
          <p:nvPr/>
        </p:nvSpPr>
        <p:spPr>
          <a:xfrm xmlns:a="http://schemas.openxmlformats.org/drawingml/2006/main">
            <a:off x="566928" y="2724912"/>
            <a:ext cx="11057839" cy="7315"/>
          </a:xfrm>
          <a:prstGeom xmlns:a="http://schemas.openxmlformats.org/drawingml/2006/main" prst="rect">
            <a:avLst/>
          </a:prstGeom>
          <a:solidFill xmlns:a="http://schemas.openxmlformats.org/drawingml/2006/main">
            <a:srgbClr val="CBD5E0"/>
          </a:solidFill>
        </p:spPr>
      </p:sp>
      <p:sp>
        <p:nvSpPr>
          <p:cNvPr id="17" name="Text 15">
            <a:extLst xmlns:a="http://schemas.openxmlformats.org/drawingml/2006/main">
              <a:ext uri="{FF2B5EF4-FFF2-40B4-BE49-F238E27FC236}">
                <a16:creationId xmlns:a16="http://schemas.microsoft.com/office/drawing/2014/main" id="{028971F0-697B-4ACD-98F8-A5EBDCADD66E}"/>
              </a:ext>
            </a:extLst>
          </p:cNvPr>
          <p:cNvSpPr>
            <a:spLocks xmlns:a="http://schemas.openxmlformats.org/drawingml/2006/main" noGrp="1"/>
          </p:cNvSpPr>
          <p:nvPr/>
        </p:nvSpPr>
        <p:spPr>
          <a:xfrm xmlns:a="http://schemas.openxmlformats.org/drawingml/2006/main">
            <a:off x="676656" y="284378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Data visible at the point of contact</a:t>
            </a:r>
            <a:endParaRPr sz="970"/>
          </a:p>
        </p:txBody>
      </p:sp>
      <p:sp>
        <p:nvSpPr>
          <p:cNvPr id="18" name="Text 16">
            <a:extLst xmlns:a="http://schemas.openxmlformats.org/drawingml/2006/main">
              <a:ext uri="{FF2B5EF4-FFF2-40B4-BE49-F238E27FC236}">
                <a16:creationId xmlns:a16="http://schemas.microsoft.com/office/drawing/2014/main" id="{5046F858-FFBF-4B34-9E13-5A190BD2B9E5}"/>
              </a:ext>
            </a:extLst>
          </p:cNvPr>
          <p:cNvSpPr>
            <a:spLocks xmlns:a="http://schemas.openxmlformats.org/drawingml/2006/main" noGrp="1"/>
          </p:cNvSpPr>
          <p:nvPr/>
        </p:nvSpPr>
        <p:spPr>
          <a:xfrm xmlns:a="http://schemas.openxmlformats.org/drawingml/2006/main">
            <a:off x="4700016" y="2843784"/>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agent needs the answer on screen, not in a second system</a:t>
            </a:r>
            <a:endParaRPr sz="920"/>
          </a:p>
        </p:txBody>
      </p:sp>
      <p:sp>
        <p:nvSpPr>
          <p:cNvPr id="19" name="Text 17">
            <a:extLst xmlns:a="http://schemas.openxmlformats.org/drawingml/2006/main">
              <a:ext uri="{FF2B5EF4-FFF2-40B4-BE49-F238E27FC236}">
                <a16:creationId xmlns:a16="http://schemas.microsoft.com/office/drawing/2014/main" id="{450578DE-2C73-41B2-85AD-835BB8B30A6B}"/>
              </a:ext>
            </a:extLst>
          </p:cNvPr>
          <p:cNvSpPr>
            <a:spLocks xmlns:a="http://schemas.openxmlformats.org/drawingml/2006/main" noGrp="1"/>
          </p:cNvSpPr>
          <p:nvPr/>
        </p:nvSpPr>
        <p:spPr>
          <a:xfrm xmlns:a="http://schemas.openxmlformats.org/drawingml/2006/main">
            <a:off x="8540496" y="2843784"/>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Not a knowledge-base project</a:t>
            </a:r>
            <a:endParaRPr sz="920"/>
          </a:p>
        </p:txBody>
      </p:sp>
      <p:sp>
        <p:nvSpPr>
          <p:cNvPr id="20" name="Shape 18">
            <a:extLst xmlns:a="http://schemas.openxmlformats.org/drawingml/2006/main">
              <a:ext uri="{FF2B5EF4-FFF2-40B4-BE49-F238E27FC236}">
                <a16:creationId xmlns:a16="http://schemas.microsoft.com/office/drawing/2014/main" id="{01F2A906-A812-4262-9249-9A28832B773C}"/>
              </a:ext>
            </a:extLst>
          </p:cNvPr>
          <p:cNvSpPr>
            <a:spLocks xmlns:a="http://schemas.openxmlformats.org/drawingml/2006/main" noGrp="1"/>
          </p:cNvSpPr>
          <p:nvPr/>
        </p:nvSpPr>
        <p:spPr>
          <a:xfrm xmlns:a="http://schemas.openxmlformats.org/drawingml/2006/main">
            <a:off x="566928" y="3236976"/>
            <a:ext cx="11057839" cy="7315"/>
          </a:xfrm>
          <a:prstGeom xmlns:a="http://schemas.openxmlformats.org/drawingml/2006/main" prst="rect">
            <a:avLst/>
          </a:prstGeom>
          <a:solidFill xmlns:a="http://schemas.openxmlformats.org/drawingml/2006/main">
            <a:srgbClr val="CBD5E0"/>
          </a:solidFill>
        </p:spPr>
      </p:sp>
      <p:sp>
        <p:nvSpPr>
          <p:cNvPr id="21" name="Shape 19">
            <a:extLst xmlns:a="http://schemas.openxmlformats.org/drawingml/2006/main">
              <a:ext uri="{FF2B5EF4-FFF2-40B4-BE49-F238E27FC236}">
                <a16:creationId xmlns:a16="http://schemas.microsoft.com/office/drawing/2014/main" id="{E0BA62AB-6002-41F7-8D9B-7EE002E04B93}"/>
              </a:ext>
            </a:extLst>
          </p:cNvPr>
          <p:cNvSpPr>
            <a:spLocks xmlns:a="http://schemas.openxmlformats.org/drawingml/2006/main" noGrp="1"/>
          </p:cNvSpPr>
          <p:nvPr/>
        </p:nvSpPr>
        <p:spPr>
          <a:xfrm xmlns:a="http://schemas.openxmlformats.org/drawingml/2006/main">
            <a:off x="566928" y="3236976"/>
            <a:ext cx="11057839" cy="512064"/>
          </a:xfrm>
          <a:prstGeom xmlns:a="http://schemas.openxmlformats.org/drawingml/2006/main" prst="rect">
            <a:avLst/>
          </a:prstGeom>
          <a:solidFill xmlns:a="http://schemas.openxmlformats.org/drawingml/2006/main">
            <a:srgbClr val="F7F9FB"/>
          </a:solidFill>
        </p:spPr>
      </p:sp>
      <p:sp>
        <p:nvSpPr>
          <p:cNvPr id="22" name="Text 20">
            <a:extLst xmlns:a="http://schemas.openxmlformats.org/drawingml/2006/main">
              <a:ext uri="{FF2B5EF4-FFF2-40B4-BE49-F238E27FC236}">
                <a16:creationId xmlns:a16="http://schemas.microsoft.com/office/drawing/2014/main" id="{9C2F7873-9B88-4493-B636-C86E62E1D4AB}"/>
              </a:ext>
            </a:extLst>
          </p:cNvPr>
          <p:cNvSpPr>
            <a:spLocks xmlns:a="http://schemas.openxmlformats.org/drawingml/2006/main" noGrp="1"/>
          </p:cNvSpPr>
          <p:nvPr/>
        </p:nvSpPr>
        <p:spPr>
          <a:xfrm xmlns:a="http://schemas.openxmlformats.org/drawingml/2006/main">
            <a:off x="676656" y="3355848"/>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 template for the response</a:t>
            </a:r>
            <a:endParaRPr sz="970"/>
          </a:p>
        </p:txBody>
      </p:sp>
      <p:sp>
        <p:nvSpPr>
          <p:cNvPr id="23" name="Text 21">
            <a:extLst xmlns:a="http://schemas.openxmlformats.org/drawingml/2006/main">
              <a:ext uri="{FF2B5EF4-FFF2-40B4-BE49-F238E27FC236}">
                <a16:creationId xmlns:a16="http://schemas.microsoft.com/office/drawing/2014/main" id="{8E952D00-958A-44E6-9CAF-FE5CF52DDBC2}"/>
              </a:ext>
            </a:extLst>
          </p:cNvPr>
          <p:cNvSpPr>
            <a:spLocks xmlns:a="http://schemas.openxmlformats.org/drawingml/2006/main" noGrp="1"/>
          </p:cNvSpPr>
          <p:nvPr/>
        </p:nvSpPr>
        <p:spPr>
          <a:xfrm xmlns:a="http://schemas.openxmlformats.org/drawingml/2006/main">
            <a:off x="4700016" y="3355848"/>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Two hundred templates exist so the answer is consistent and fast</a:t>
            </a:r>
            <a:endParaRPr sz="920"/>
          </a:p>
        </p:txBody>
      </p:sp>
      <p:sp>
        <p:nvSpPr>
          <p:cNvPr id="24" name="Text 22">
            <a:extLst xmlns:a="http://schemas.openxmlformats.org/drawingml/2006/main">
              <a:ext uri="{FF2B5EF4-FFF2-40B4-BE49-F238E27FC236}">
                <a16:creationId xmlns:a16="http://schemas.microsoft.com/office/drawing/2014/main" id="{5DC2209A-F19A-40B9-8E84-15435F89FFF2}"/>
              </a:ext>
            </a:extLst>
          </p:cNvPr>
          <p:cNvSpPr>
            <a:spLocks xmlns:a="http://schemas.openxmlformats.org/drawingml/2006/main" noGrp="1"/>
          </p:cNvSpPr>
          <p:nvPr/>
        </p:nvSpPr>
        <p:spPr>
          <a:xfrm xmlns:a="http://schemas.openxmlformats.org/drawingml/2006/main">
            <a:off x="8540496" y="3355848"/>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Not a scripting exercise</a:t>
            </a:r>
            <a:endParaRPr sz="920"/>
          </a:p>
        </p:txBody>
      </p:sp>
      <p:sp>
        <p:nvSpPr>
          <p:cNvPr id="25" name="Shape 23">
            <a:extLst xmlns:a="http://schemas.openxmlformats.org/drawingml/2006/main">
              <a:ext uri="{FF2B5EF4-FFF2-40B4-BE49-F238E27FC236}">
                <a16:creationId xmlns:a16="http://schemas.microsoft.com/office/drawing/2014/main" id="{786ED9DB-395F-4172-95B6-A83689BF3FA3}"/>
              </a:ext>
            </a:extLst>
          </p:cNvPr>
          <p:cNvSpPr>
            <a:spLocks xmlns:a="http://schemas.openxmlformats.org/drawingml/2006/main" noGrp="1"/>
          </p:cNvSpPr>
          <p:nvPr/>
        </p:nvSpPr>
        <p:spPr>
          <a:xfrm xmlns:a="http://schemas.openxmlformats.org/drawingml/2006/main">
            <a:off x="566928" y="3749040"/>
            <a:ext cx="11057839" cy="7315"/>
          </a:xfrm>
          <a:prstGeom xmlns:a="http://schemas.openxmlformats.org/drawingml/2006/main" prst="rect">
            <a:avLst/>
          </a:prstGeom>
          <a:solidFill xmlns:a="http://schemas.openxmlformats.org/drawingml/2006/main">
            <a:srgbClr val="CBD5E0"/>
          </a:solidFill>
        </p:spPr>
      </p:sp>
      <p:sp>
        <p:nvSpPr>
          <p:cNvPr id="26" name="Text 24">
            <a:extLst xmlns:a="http://schemas.openxmlformats.org/drawingml/2006/main">
              <a:ext uri="{FF2B5EF4-FFF2-40B4-BE49-F238E27FC236}">
                <a16:creationId xmlns:a16="http://schemas.microsoft.com/office/drawing/2014/main" id="{6E9F7A9F-2BFD-4E08-AFD7-5990E14F440B}"/>
              </a:ext>
            </a:extLst>
          </p:cNvPr>
          <p:cNvSpPr>
            <a:spLocks xmlns:a="http://schemas.openxmlformats.org/drawingml/2006/main" noGrp="1"/>
          </p:cNvSpPr>
          <p:nvPr/>
        </p:nvSpPr>
        <p:spPr>
          <a:xfrm xmlns:a="http://schemas.openxmlformats.org/drawingml/2006/main">
            <a:off x="676656" y="3867912"/>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 disposition captured once</a:t>
            </a:r>
            <a:endParaRPr sz="970"/>
          </a:p>
        </p:txBody>
      </p:sp>
      <p:sp>
        <p:nvSpPr>
          <p:cNvPr id="27" name="Text 25">
            <a:extLst xmlns:a="http://schemas.openxmlformats.org/drawingml/2006/main">
              <a:ext uri="{FF2B5EF4-FFF2-40B4-BE49-F238E27FC236}">
                <a16:creationId xmlns:a16="http://schemas.microsoft.com/office/drawing/2014/main" id="{041A5CEB-202E-4412-A34F-19DD2809FF43}"/>
              </a:ext>
            </a:extLst>
          </p:cNvPr>
          <p:cNvSpPr>
            <a:spLocks xmlns:a="http://schemas.openxmlformats.org/drawingml/2006/main" noGrp="1"/>
          </p:cNvSpPr>
          <p:nvPr/>
        </p:nvSpPr>
        <p:spPr>
          <a:xfrm xmlns:a="http://schemas.openxmlformats.org/drawingml/2006/main">
            <a:off x="4700016" y="3867912"/>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Resolution must be recorded or it cannot be counted or improved</a:t>
            </a:r>
            <a:endParaRPr sz="920"/>
          </a:p>
        </p:txBody>
      </p:sp>
      <p:sp>
        <p:nvSpPr>
          <p:cNvPr id="28" name="Text 26">
            <a:extLst xmlns:a="http://schemas.openxmlformats.org/drawingml/2006/main">
              <a:ext uri="{FF2B5EF4-FFF2-40B4-BE49-F238E27FC236}">
                <a16:creationId xmlns:a16="http://schemas.microsoft.com/office/drawing/2014/main" id="{7A1AB4A2-E211-49AE-8470-177247BC8B26}"/>
              </a:ext>
            </a:extLst>
          </p:cNvPr>
          <p:cNvSpPr>
            <a:spLocks xmlns:a="http://schemas.openxmlformats.org/drawingml/2006/main" noGrp="1"/>
          </p:cNvSpPr>
          <p:nvPr/>
        </p:nvSpPr>
        <p:spPr>
          <a:xfrm xmlns:a="http://schemas.openxmlformats.org/drawingml/2006/main">
            <a:off x="8540496" y="386791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Not a reporting change</a:t>
            </a:r>
            <a:endParaRPr sz="920"/>
          </a:p>
        </p:txBody>
      </p:sp>
      <p:sp>
        <p:nvSpPr>
          <p:cNvPr id="29" name="Shape 27">
            <a:extLst xmlns:a="http://schemas.openxmlformats.org/drawingml/2006/main">
              <a:ext uri="{FF2B5EF4-FFF2-40B4-BE49-F238E27FC236}">
                <a16:creationId xmlns:a16="http://schemas.microsoft.com/office/drawing/2014/main" id="{3EAEB2C5-B251-44B8-B3B5-3BD8F4686BAB}"/>
              </a:ext>
            </a:extLst>
          </p:cNvPr>
          <p:cNvSpPr>
            <a:spLocks xmlns:a="http://schemas.openxmlformats.org/drawingml/2006/main" noGrp="1"/>
          </p:cNvSpPr>
          <p:nvPr/>
        </p:nvSpPr>
        <p:spPr>
          <a:xfrm xmlns:a="http://schemas.openxmlformats.org/drawingml/2006/main">
            <a:off x="566928" y="4261104"/>
            <a:ext cx="11057839" cy="7315"/>
          </a:xfrm>
          <a:prstGeom xmlns:a="http://schemas.openxmlformats.org/drawingml/2006/main" prst="rect">
            <a:avLst/>
          </a:prstGeom>
          <a:solidFill xmlns:a="http://schemas.openxmlformats.org/drawingml/2006/main">
            <a:srgbClr val="CBD5E0"/>
          </a:solidFill>
        </p:spPr>
      </p:sp>
      <p:sp>
        <p:nvSpPr>
          <p:cNvPr id="30" name="Shape 28">
            <a:extLst xmlns:a="http://schemas.openxmlformats.org/drawingml/2006/main">
              <a:ext uri="{FF2B5EF4-FFF2-40B4-BE49-F238E27FC236}">
                <a16:creationId xmlns:a16="http://schemas.microsoft.com/office/drawing/2014/main" id="{0A7ADDCD-195D-4DF2-AB25-F19F7D9C2E48}"/>
              </a:ext>
            </a:extLst>
          </p:cNvPr>
          <p:cNvSpPr>
            <a:spLocks xmlns:a="http://schemas.openxmlformats.org/drawingml/2006/main" noGrp="1"/>
          </p:cNvSpPr>
          <p:nvPr/>
        </p:nvSpPr>
        <p:spPr>
          <a:xfrm xmlns:a="http://schemas.openxmlformats.org/drawingml/2006/main">
            <a:off x="566928" y="4261104"/>
            <a:ext cx="11057839" cy="512064"/>
          </a:xfrm>
          <a:prstGeom xmlns:a="http://schemas.openxmlformats.org/drawingml/2006/main" prst="rect">
            <a:avLst/>
          </a:prstGeom>
          <a:solidFill xmlns:a="http://schemas.openxmlformats.org/drawingml/2006/main">
            <a:srgbClr val="F7F9FB"/>
          </a:solidFill>
        </p:spPr>
      </p:sp>
      <p:sp>
        <p:nvSpPr>
          <p:cNvPr id="31" name="Text 29">
            <a:extLst xmlns:a="http://schemas.openxmlformats.org/drawingml/2006/main">
              <a:ext uri="{FF2B5EF4-FFF2-40B4-BE49-F238E27FC236}">
                <a16:creationId xmlns:a16="http://schemas.microsoft.com/office/drawing/2014/main" id="{95DA5AEB-BD3D-4B01-A63A-E300B7A3F892}"/>
              </a:ext>
            </a:extLst>
          </p:cNvPr>
          <p:cNvSpPr>
            <a:spLocks xmlns:a="http://schemas.openxmlformats.org/drawingml/2006/main" noGrp="1"/>
          </p:cNvSpPr>
          <p:nvPr/>
        </p:nvSpPr>
        <p:spPr>
          <a:xfrm xmlns:a="http://schemas.openxmlformats.org/drawingml/2006/main">
            <a:off x="676656" y="437997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An escalation path that is used</a:t>
            </a:r>
            <a:endParaRPr sz="970"/>
          </a:p>
        </p:txBody>
      </p:sp>
      <p:sp>
        <p:nvSpPr>
          <p:cNvPr id="32" name="Text 30">
            <a:extLst xmlns:a="http://schemas.openxmlformats.org/drawingml/2006/main">
              <a:ext uri="{FF2B5EF4-FFF2-40B4-BE49-F238E27FC236}">
                <a16:creationId xmlns:a16="http://schemas.microsoft.com/office/drawing/2014/main" id="{4EE1DAEB-86CE-4311-B357-EB241DCAFE6F}"/>
              </a:ext>
            </a:extLst>
          </p:cNvPr>
          <p:cNvSpPr>
            <a:spLocks xmlns:a="http://schemas.openxmlformats.org/drawingml/2006/main" noGrp="1"/>
          </p:cNvSpPr>
          <p:nvPr/>
        </p:nvSpPr>
        <p:spPr>
          <a:xfrm xmlns:a="http://schemas.openxmlformats.org/drawingml/2006/main">
            <a:off x="4700016" y="4379976"/>
            <a:ext cx="352958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Types that genuinely cannot resolve at first touch must not be forced to</a:t>
            </a:r>
            <a:endParaRPr sz="920"/>
          </a:p>
        </p:txBody>
      </p:sp>
      <p:sp>
        <p:nvSpPr>
          <p:cNvPr id="33" name="Text 31">
            <a:extLst xmlns:a="http://schemas.openxmlformats.org/drawingml/2006/main">
              <a:ext uri="{FF2B5EF4-FFF2-40B4-BE49-F238E27FC236}">
                <a16:creationId xmlns:a16="http://schemas.microsoft.com/office/drawing/2014/main" id="{5DF6ABF7-22E6-404F-ABCF-A4F7F3B77DB0}"/>
              </a:ext>
            </a:extLst>
          </p:cNvPr>
          <p:cNvSpPr>
            <a:spLocks xmlns:a="http://schemas.openxmlformats.org/drawingml/2006/main" noGrp="1"/>
          </p:cNvSpPr>
          <p:nvPr/>
        </p:nvSpPr>
        <p:spPr>
          <a:xfrm xmlns:a="http://schemas.openxmlformats.org/drawingml/2006/main">
            <a:off x="8540496" y="437997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Not a universal target</a:t>
            </a:r>
            <a:endParaRPr sz="920"/>
          </a:p>
        </p:txBody>
      </p:sp>
      <p:sp>
        <p:nvSpPr>
          <p:cNvPr id="34" name="Shape 32">
            <a:extLst xmlns:a="http://schemas.openxmlformats.org/drawingml/2006/main">
              <a:ext uri="{FF2B5EF4-FFF2-40B4-BE49-F238E27FC236}">
                <a16:creationId xmlns:a16="http://schemas.microsoft.com/office/drawing/2014/main" id="{21C01B12-3076-4F45-9096-92D3DDCF7A43}"/>
              </a:ext>
            </a:extLst>
          </p:cNvPr>
          <p:cNvSpPr>
            <a:spLocks xmlns:a="http://schemas.openxmlformats.org/drawingml/2006/main" noGrp="1"/>
          </p:cNvSpPr>
          <p:nvPr/>
        </p:nvSpPr>
        <p:spPr>
          <a:xfrm xmlns:a="http://schemas.openxmlformats.org/drawingml/2006/main">
            <a:off x="566928" y="4773168"/>
            <a:ext cx="11057839" cy="7315"/>
          </a:xfrm>
          <a:prstGeom xmlns:a="http://schemas.openxmlformats.org/drawingml/2006/main" prst="rect">
            <a:avLst/>
          </a:prstGeom>
          <a:solidFill xmlns:a="http://schemas.openxmlformats.org/drawingml/2006/main">
            <a:srgbClr val="CBD5E0"/>
          </a:solidFill>
        </p:spPr>
      </p:sp>
      <p:sp>
        <p:nvSpPr>
          <p:cNvPr id="35" name="Shape 33">
            <a:extLst xmlns:a="http://schemas.openxmlformats.org/drawingml/2006/main">
              <a:ext uri="{FF2B5EF4-FFF2-40B4-BE49-F238E27FC236}">
                <a16:creationId xmlns:a16="http://schemas.microsoft.com/office/drawing/2014/main" id="{A3DC3BC9-D96D-44C6-AE22-A9092C1A5759}"/>
              </a:ext>
            </a:extLst>
          </p:cNvPr>
          <p:cNvSpPr>
            <a:spLocks xmlns:a="http://schemas.openxmlformats.org/drawingml/2006/main" noGrp="1"/>
          </p:cNvSpPr>
          <p:nvPr/>
        </p:nvSpPr>
        <p:spPr>
          <a:xfrm xmlns:a="http://schemas.openxmlformats.org/drawingml/2006/main">
            <a:off x="566928" y="5047488"/>
            <a:ext cx="11057839" cy="1298448"/>
          </a:xfrm>
          <a:prstGeom xmlns:a="http://schemas.openxmlformats.org/drawingml/2006/main" prst="rect">
            <a:avLst/>
          </a:prstGeom>
          <a:solidFill xmlns:a="http://schemas.openxmlformats.org/drawingml/2006/main">
            <a:srgbClr val="F3E6E0"/>
          </a:solidFill>
        </p:spPr>
      </p:sp>
      <p:sp>
        <p:nvSpPr>
          <p:cNvPr id="36" name="Text 34">
            <a:extLst xmlns:a="http://schemas.openxmlformats.org/drawingml/2006/main">
              <a:ext uri="{FF2B5EF4-FFF2-40B4-BE49-F238E27FC236}">
                <a16:creationId xmlns:a16="http://schemas.microsoft.com/office/drawing/2014/main" id="{F5BF78CD-A735-46F4-846E-49B5EBF36097}"/>
              </a:ext>
            </a:extLst>
          </p:cNvPr>
          <p:cNvSpPr>
            <a:spLocks xmlns:a="http://schemas.openxmlformats.org/drawingml/2006/main" noGrp="1"/>
          </p:cNvSpPr>
          <p:nvPr/>
        </p:nvSpPr>
        <p:spPr>
          <a:xfrm xmlns:a="http://schemas.openxmlformats.org/drawingml/2006/main">
            <a:off x="804672" y="5193792"/>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mistake this design avoids</a:t>
            </a:r>
            <a:endParaRPr sz="1100"/>
          </a:p>
        </p:txBody>
      </p:sp>
      <p:sp>
        <p:nvSpPr>
          <p:cNvPr id="37" name="Text 35">
            <a:extLst xmlns:a="http://schemas.openxmlformats.org/drawingml/2006/main">
              <a:ext uri="{FF2B5EF4-FFF2-40B4-BE49-F238E27FC236}">
                <a16:creationId xmlns:a16="http://schemas.microsoft.com/office/drawing/2014/main" id="{A2B95E6B-DCF5-43AC-99CD-884CD3EBE3B0}"/>
              </a:ext>
            </a:extLst>
          </p:cNvPr>
          <p:cNvSpPr>
            <a:spLocks xmlns:a="http://schemas.openxmlformats.org/drawingml/2006/main" noGrp="1"/>
          </p:cNvSpPr>
          <p:nvPr/>
        </p:nvSpPr>
        <p:spPr>
          <a:xfrm xmlns:a="http://schemas.openxmlformats.org/drawingml/2006/main">
            <a:off x="804672" y="5449824"/>
            <a:ext cx="10582351"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First-touch resolution is usually introduced as a performance target — a percentage handed to a contact centre with the expectation that agents will try harder. That produces two behaviours: cases closed that were not resolved, and cases logged under a type that happens to resolve easily.</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Designating which types are resolvable at first touch, and building the authority, data and templates to make that true, turns the same measure into a design commitment. The number then reflects how much of the catalogue the bank has actually equipped the front line to handle — which is a statement about the organisation rather than about the agents.</a:t>
            </a:r>
            <a:endParaRPr sz="990"/>
          </a:p>
        </p:txBody>
      </p:sp>
      <p:sp>
        <p:nvSpPr>
          <p:cNvPr id="38" name="Shape 36">
            <a:extLst xmlns:a="http://schemas.openxmlformats.org/drawingml/2006/main">
              <a:ext uri="{FF2B5EF4-FFF2-40B4-BE49-F238E27FC236}">
                <a16:creationId xmlns:a16="http://schemas.microsoft.com/office/drawing/2014/main" id="{AA008192-186C-4D1A-8124-3A45B761002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9" name="Text 37">
            <a:extLst xmlns:a="http://schemas.openxmlformats.org/drawingml/2006/main">
              <a:ext uri="{FF2B5EF4-FFF2-40B4-BE49-F238E27FC236}">
                <a16:creationId xmlns:a16="http://schemas.microsoft.com/office/drawing/2014/main" id="{F9FEE6C6-9F77-4F84-A09C-EF90FDC5A82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method analysis of the reference deployment · author's analysis</a:t>
            </a:r>
            <a:endParaRPr sz="850"/>
          </a:p>
        </p:txBody>
      </p:sp>
      <p:sp>
        <p:nvSpPr>
          <p:cNvPr id="40" name="Text 38">
            <a:extLst xmlns:a="http://schemas.openxmlformats.org/drawingml/2006/main">
              <a:ext uri="{FF2B5EF4-FFF2-40B4-BE49-F238E27FC236}">
                <a16:creationId xmlns:a16="http://schemas.microsoft.com/office/drawing/2014/main" id="{6AB5D199-7FF5-4EEA-818F-89F79B2857ED}"/>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83727104"/>
      </p:ext>
    </p:extLst>
  </p:cSld>
</p:sld>
</file>

<file path=ppt/slides/slide25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CA1CDB3-9CD7-4951-9487-3A67F1DB3BA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D309988E-4D3F-4EA2-8484-778E35846DA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a service catalogue that has stopped working</a:t>
            </a:r>
            <a:endParaRPr sz="1900"/>
          </a:p>
        </p:txBody>
      </p:sp>
      <p:sp>
        <p:nvSpPr>
          <p:cNvPr id="4" name="Text 2">
            <a:extLst xmlns:a="http://schemas.openxmlformats.org/drawingml/2006/main">
              <a:ext uri="{FF2B5EF4-FFF2-40B4-BE49-F238E27FC236}">
                <a16:creationId xmlns:a16="http://schemas.microsoft.com/office/drawing/2014/main" id="{82B601D6-5C94-4372-BEE1-E4708564356D}"/>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EB430645-6AA1-4803-89A6-481B9E66A4FC}"/>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Suspect the catalogue before the process</a:t>
            </a:r>
            <a:endParaRPr sz="1200"/>
          </a:p>
        </p:txBody>
      </p:sp>
      <p:sp>
        <p:nvSpPr>
          <p:cNvPr id="6" name="Text 4">
            <a:extLst xmlns:a="http://schemas.openxmlformats.org/drawingml/2006/main">
              <a:ext uri="{FF2B5EF4-FFF2-40B4-BE49-F238E27FC236}">
                <a16:creationId xmlns:a16="http://schemas.microsoft.com/office/drawing/2014/main" id="{6D52BDEE-5C68-496A-84F6-85FF0FC9CB31}"/>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Poor turnaround, weak first-touch resolution and failed automation all present as process problems. Where the catalogue has grown to thousands of entries, it is upstream of all three and nothing downstream will hold until it is fixed.</a:t>
            </a:r>
            <a:endParaRPr sz="1000"/>
          </a:p>
        </p:txBody>
      </p:sp>
      <p:sp>
        <p:nvSpPr>
          <p:cNvPr id="7" name="Shape 5">
            <a:extLst xmlns:a="http://schemas.openxmlformats.org/drawingml/2006/main">
              <a:ext uri="{FF2B5EF4-FFF2-40B4-BE49-F238E27FC236}">
                <a16:creationId xmlns:a16="http://schemas.microsoft.com/office/drawing/2014/main" id="{1B2D67A7-4F36-4585-AC60-261F3E9512FF}"/>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D5E8A5A9-2745-4921-B2DB-24EB6AF045F1}"/>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16D3B07A-3B8B-4B6A-9B97-682FB258D829}"/>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Rebuild from intent, then map to systems</a:t>
            </a:r>
            <a:endParaRPr sz="1200"/>
          </a:p>
        </p:txBody>
      </p:sp>
      <p:sp>
        <p:nvSpPr>
          <p:cNvPr id="10" name="Text 8">
            <a:extLst xmlns:a="http://schemas.openxmlformats.org/drawingml/2006/main">
              <a:ext uri="{FF2B5EF4-FFF2-40B4-BE49-F238E27FC236}">
                <a16:creationId xmlns:a16="http://schemas.microsoft.com/office/drawing/2014/main" id="{7FBD615F-12D1-4782-A5B1-CF3686B47235}"/>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Starting from the system map reproduces the boundaries that caused the sprawl. Starting from what customers ask produces a set that matches how agents search — and the mapping becomes translation rather than design.</a:t>
            </a:r>
            <a:endParaRPr sz="1000"/>
          </a:p>
        </p:txBody>
      </p:sp>
      <p:sp>
        <p:nvSpPr>
          <p:cNvPr id="11" name="Shape 9">
            <a:extLst xmlns:a="http://schemas.openxmlformats.org/drawingml/2006/main">
              <a:ext uri="{FF2B5EF4-FFF2-40B4-BE49-F238E27FC236}">
                <a16:creationId xmlns:a16="http://schemas.microsoft.com/office/drawing/2014/main" id="{CFE1FE32-439B-4176-9010-D5BF6950678A}"/>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6B22A1B8-6B25-4633-92E8-91DA02F2846E}"/>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D933C01D-5EE7-46AC-B8C2-BA41C759131D}"/>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Never break the reporting crosswalk</a:t>
            </a:r>
            <a:endParaRPr sz="1200"/>
          </a:p>
        </p:txBody>
      </p:sp>
      <p:sp>
        <p:nvSpPr>
          <p:cNvPr id="14" name="Text 12">
            <a:extLst xmlns:a="http://schemas.openxmlformats.org/drawingml/2006/main">
              <a:ext uri="{FF2B5EF4-FFF2-40B4-BE49-F238E27FC236}">
                <a16:creationId xmlns:a16="http://schemas.microsoft.com/office/drawing/2014/main" id="{611579FF-94F8-46ED-AAEF-EEB56DB41AAC}"/>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Every old type must map to a new one. Without that the business loses its baseline at the moment it most needs one, and the change becomes unprovable and irreversible.</a:t>
            </a:r>
            <a:endParaRPr sz="1000"/>
          </a:p>
        </p:txBody>
      </p:sp>
      <p:sp>
        <p:nvSpPr>
          <p:cNvPr id="15" name="Shape 13">
            <a:extLst xmlns:a="http://schemas.openxmlformats.org/drawingml/2006/main">
              <a:ext uri="{FF2B5EF4-FFF2-40B4-BE49-F238E27FC236}">
                <a16:creationId xmlns:a16="http://schemas.microsoft.com/office/drawing/2014/main" id="{6B9DA842-E657-4C29-848A-77DB82F02FEA}"/>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E5662150-E434-4EEC-BFE9-F94158E6D184}"/>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D8AF1874-4048-49EC-AA50-4BC0404D6281}"/>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first-touch resolution a design commitment</a:t>
            </a:r>
            <a:endParaRPr sz="1200"/>
          </a:p>
        </p:txBody>
      </p:sp>
      <p:sp>
        <p:nvSpPr>
          <p:cNvPr id="18" name="Text 16">
            <a:extLst xmlns:a="http://schemas.openxmlformats.org/drawingml/2006/main">
              <a:ext uri="{FF2B5EF4-FFF2-40B4-BE49-F238E27FC236}">
                <a16:creationId xmlns:a16="http://schemas.microsoft.com/office/drawing/2014/main" id="{2FE86E2E-7CFC-4E66-AA3B-6475D2E885A1}"/>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Handed to a contact centre as a target it produces closed-not-resolved cases and mis-typing. Designated per type, with authority, data and templates behind it, it measures what the organisation has equipped the front line to do.</a:t>
            </a:r>
            <a:endParaRPr sz="1000"/>
          </a:p>
        </p:txBody>
      </p:sp>
      <p:sp>
        <p:nvSpPr>
          <p:cNvPr id="19" name="Shape 17">
            <a:extLst xmlns:a="http://schemas.openxmlformats.org/drawingml/2006/main">
              <a:ext uri="{FF2B5EF4-FFF2-40B4-BE49-F238E27FC236}">
                <a16:creationId xmlns:a16="http://schemas.microsoft.com/office/drawing/2014/main" id="{1B9CDAA0-8228-4493-9B3A-33722AE82270}"/>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C0E3674E-675F-405D-8651-BAD2B5522E93}"/>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Six thousand to five hundred and twenty-six sounds like a reduction. It was a correction — the bank had always run about five hundred services and had simply accumulated six thousand ways of describing them.</a:t>
            </a:r>
            <a:endParaRPr sz="1200"/>
          </a:p>
        </p:txBody>
      </p:sp>
      <p:sp>
        <p:nvSpPr>
          <p:cNvPr id="21" name="Shape 19">
            <a:extLst xmlns:a="http://schemas.openxmlformats.org/drawingml/2006/main">
              <a:ext uri="{FF2B5EF4-FFF2-40B4-BE49-F238E27FC236}">
                <a16:creationId xmlns:a16="http://schemas.microsoft.com/office/drawing/2014/main" id="{2491C3F2-91E7-42E5-9512-AB43844E910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782DE244-9162-41C5-A07B-50FE071DF2B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a:t>
            </a:r>
            <a:endParaRPr sz="850"/>
          </a:p>
        </p:txBody>
      </p:sp>
      <p:sp>
        <p:nvSpPr>
          <p:cNvPr id="23" name="Text 21">
            <a:extLst xmlns:a="http://schemas.openxmlformats.org/drawingml/2006/main">
              <a:ext uri="{FF2B5EF4-FFF2-40B4-BE49-F238E27FC236}">
                <a16:creationId xmlns:a16="http://schemas.microsoft.com/office/drawing/2014/main" id="{91D4482A-5AB6-42A4-9A18-64561B27E42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077689308"/>
      </p:ext>
    </p:extLst>
  </p:cSld>
</p:sld>
</file>

<file path=ppt/slides/slide253.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9E801F8-2054-4BB4-A677-5C74E7ED3436}"/>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COMPARATIVE CASE  ·  24 OF 30</a:t>
            </a:r>
            <a:endParaRPr sz="950"/>
          </a:p>
        </p:txBody>
      </p:sp>
      <p:sp>
        <p:nvSpPr>
          <p:cNvPr id="3" name="Text 1">
            <a:extLst xmlns:a="http://schemas.openxmlformats.org/drawingml/2006/main">
              <a:ext uri="{FF2B5EF4-FFF2-40B4-BE49-F238E27FC236}">
                <a16:creationId xmlns:a16="http://schemas.microsoft.com/office/drawing/2014/main" id="{E040953D-CDCC-4F96-B264-7700D510929C}"/>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Three ASEAN Banks</a:t>
            </a:r>
            <a:endParaRPr sz="3800"/>
          </a:p>
        </p:txBody>
      </p:sp>
      <p:sp>
        <p:nvSpPr>
          <p:cNvPr id="4" name="Text 2">
            <a:extLst xmlns:a="http://schemas.openxmlformats.org/drawingml/2006/main">
              <a:ext uri="{FF2B5EF4-FFF2-40B4-BE49-F238E27FC236}">
                <a16:creationId xmlns:a16="http://schemas.microsoft.com/office/drawing/2014/main" id="{FC32CD77-19E0-4196-BEAA-55BD452BDA09}"/>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Three ASEAN banks, three entry points — the same platform, three completely different first moves</a:t>
            </a:r>
            <a:endParaRPr sz="1800"/>
          </a:p>
        </p:txBody>
      </p:sp>
      <p:sp>
        <p:nvSpPr>
          <p:cNvPr id="5" name="Text 3">
            <a:extLst xmlns:a="http://schemas.openxmlformats.org/drawingml/2006/main">
              <a:ext uri="{FF2B5EF4-FFF2-40B4-BE49-F238E27FC236}">
                <a16:creationId xmlns:a16="http://schemas.microsoft.com/office/drawing/2014/main" id="{3F9A8FD2-EEB3-4F91-948A-A2E718E723E6}"/>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Malaysian universal bank, a Vietnamese digital-first challenger and a Philippine universal bank. Same regional market, same broad capability, and three transformations that had to start in entirely different places — because the entry point is determined by where the bank already is, not by what the platform can do.</a:t>
            </a:r>
            <a:endParaRPr sz="1150"/>
          </a:p>
        </p:txBody>
      </p:sp>
      <p:sp>
        <p:nvSpPr>
          <p:cNvPr id="6" name="Shape 4">
            <a:extLst xmlns:a="http://schemas.openxmlformats.org/drawingml/2006/main">
              <a:ext uri="{FF2B5EF4-FFF2-40B4-BE49-F238E27FC236}">
                <a16:creationId xmlns:a16="http://schemas.microsoft.com/office/drawing/2014/main" id="{2D49BF45-7BE4-4B72-A2B8-EDA4BA5652D4}"/>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424C2595-B73C-4B64-ABD7-6E83847A3D7F}"/>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8" name="Text 6">
            <a:extLst xmlns:a="http://schemas.openxmlformats.org/drawingml/2006/main">
              <a:ext uri="{FF2B5EF4-FFF2-40B4-BE49-F238E27FC236}">
                <a16:creationId xmlns:a16="http://schemas.microsoft.com/office/drawing/2014/main" id="{32CEB313-9CD4-439C-8647-69DD37B8D2E9}"/>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banks, three</a:t>
            </a:r>
            <a:endParaRPr sz="900"/>
          </a:p>
          <a:p xmlns:a="http://schemas.openxmlformats.org/drawingml/2006/main">
            <a:pPr marL="0" indent="0">
              <a:lnSpc>
                <a:spcPts val="1100"/>
              </a:lnSpc>
              <a:buNone/>
            </a:pPr>
            <a:r>
              <a:rPr sz="900">
                <a:solidFill>
                  <a:srgbClr val="8FA9C4"/>
                </a:solidFill>
                <a:latin typeface="Arial"/>
                <a:ea typeface="Arial"/>
                <a:cs typeface="Arial"/>
              </a:rPr>
              <a:t>entry points</a:t>
            </a:r>
            <a:endParaRPr sz="900"/>
          </a:p>
        </p:txBody>
      </p:sp>
      <p:sp>
        <p:nvSpPr>
          <p:cNvPr id="9" name="Text 7">
            <a:extLst xmlns:a="http://schemas.openxmlformats.org/drawingml/2006/main">
              <a:ext uri="{FF2B5EF4-FFF2-40B4-BE49-F238E27FC236}">
                <a16:creationId xmlns:a16="http://schemas.microsoft.com/office/drawing/2014/main" id="{5540F71E-E629-4B84-9206-0C6AB46EA749}"/>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MYR 358B</a:t>
            </a:r>
            <a:endParaRPr sz="2600"/>
          </a:p>
        </p:txBody>
      </p:sp>
      <p:sp>
        <p:nvSpPr>
          <p:cNvPr id="10" name="Text 8">
            <a:extLst xmlns:a="http://schemas.openxmlformats.org/drawingml/2006/main">
              <a:ext uri="{FF2B5EF4-FFF2-40B4-BE49-F238E27FC236}">
                <a16:creationId xmlns:a16="http://schemas.microsoft.com/office/drawing/2014/main" id="{60AAAC1E-E60D-4EEE-8738-1807589F27F7}"/>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Malaysian group</a:t>
            </a:r>
            <a:endParaRPr sz="900"/>
          </a:p>
          <a:p xmlns:a="http://schemas.openxmlformats.org/drawingml/2006/main">
            <a:pPr marL="0" indent="0">
              <a:lnSpc>
                <a:spcPts val="1100"/>
              </a:lnSpc>
              <a:buNone/>
            </a:pPr>
            <a:r>
              <a:rPr sz="900">
                <a:solidFill>
                  <a:srgbClr val="8FA9C4"/>
                </a:solidFill>
                <a:latin typeface="Arial"/>
                <a:ea typeface="Arial"/>
                <a:cs typeface="Arial"/>
              </a:rPr>
              <a:t>assets</a:t>
            </a:r>
            <a:endParaRPr sz="900"/>
          </a:p>
        </p:txBody>
      </p:sp>
      <p:sp>
        <p:nvSpPr>
          <p:cNvPr id="11" name="Text 9">
            <a:extLst xmlns:a="http://schemas.openxmlformats.org/drawingml/2006/main">
              <a:ext uri="{FF2B5EF4-FFF2-40B4-BE49-F238E27FC236}">
                <a16:creationId xmlns:a16="http://schemas.microsoft.com/office/drawing/2014/main" id="{572FD07D-ADC2-4588-A855-5EEE5D2D209B}"/>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VND 505T</a:t>
            </a:r>
            <a:endParaRPr sz="2600"/>
          </a:p>
        </p:txBody>
      </p:sp>
      <p:sp>
        <p:nvSpPr>
          <p:cNvPr id="12" name="Text 10">
            <a:extLst xmlns:a="http://schemas.openxmlformats.org/drawingml/2006/main">
              <a:ext uri="{FF2B5EF4-FFF2-40B4-BE49-F238E27FC236}">
                <a16:creationId xmlns:a16="http://schemas.microsoft.com/office/drawing/2014/main" id="{18B2078B-12B5-4DEC-8074-E17061EA6A5D}"/>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Vietnamese bank</a:t>
            </a:r>
            <a:endParaRPr sz="900"/>
          </a:p>
          <a:p xmlns:a="http://schemas.openxmlformats.org/drawingml/2006/main">
            <a:pPr marL="0" indent="0">
              <a:lnSpc>
                <a:spcPts val="1100"/>
              </a:lnSpc>
              <a:buNone/>
            </a:pPr>
            <a:r>
              <a:rPr sz="900">
                <a:solidFill>
                  <a:srgbClr val="8FA9C4"/>
                </a:solidFill>
                <a:latin typeface="Arial"/>
                <a:ea typeface="Arial"/>
                <a:cs typeface="Arial"/>
              </a:rPr>
              <a:t>assets</a:t>
            </a:r>
            <a:endParaRPr sz="900"/>
          </a:p>
        </p:txBody>
      </p:sp>
      <p:sp>
        <p:nvSpPr>
          <p:cNvPr id="13" name="Text 11">
            <a:extLst xmlns:a="http://schemas.openxmlformats.org/drawingml/2006/main">
              <a:ext uri="{FF2B5EF4-FFF2-40B4-BE49-F238E27FC236}">
                <a16:creationId xmlns:a16="http://schemas.microsoft.com/office/drawing/2014/main" id="{3FBB8828-9A18-4B89-8AEB-660B92AC9B93}"/>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98%</a:t>
            </a:r>
            <a:endParaRPr sz="2600"/>
          </a:p>
        </p:txBody>
      </p:sp>
      <p:sp>
        <p:nvSpPr>
          <p:cNvPr id="14" name="Text 12">
            <a:extLst xmlns:a="http://schemas.openxmlformats.org/drawingml/2006/main">
              <a:ext uri="{FF2B5EF4-FFF2-40B4-BE49-F238E27FC236}">
                <a16:creationId xmlns:a16="http://schemas.microsoft.com/office/drawing/2014/main" id="{C4D2158B-2398-42E4-B18E-75103F00F357}"/>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digital transactions</a:t>
            </a:r>
            <a:endParaRPr sz="900"/>
          </a:p>
          <a:p xmlns:a="http://schemas.openxmlformats.org/drawingml/2006/main">
            <a:pPr marL="0" indent="0">
              <a:lnSpc>
                <a:spcPts val="1100"/>
              </a:lnSpc>
              <a:buNone/>
            </a:pPr>
            <a:r>
              <a:rPr sz="900">
                <a:solidFill>
                  <a:srgbClr val="8FA9C4"/>
                </a:solidFill>
                <a:latin typeface="Arial"/>
                <a:ea typeface="Arial"/>
                <a:cs typeface="Arial"/>
              </a:rPr>
              <a:t>at one of them</a:t>
            </a:r>
            <a:endParaRPr sz="900"/>
          </a:p>
        </p:txBody>
      </p:sp>
      <p:sp>
        <p:nvSpPr>
          <p:cNvPr id="15" name="Text 13">
            <a:extLst xmlns:a="http://schemas.openxmlformats.org/drawingml/2006/main">
              <a:ext uri="{FF2B5EF4-FFF2-40B4-BE49-F238E27FC236}">
                <a16:creationId xmlns:a16="http://schemas.microsoft.com/office/drawing/2014/main" id="{A8148BB1-0610-4F17-A95E-2F819B584649}"/>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08515A20-D671-4016-B52E-26AFE0646E72}"/>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wrong answer for</a:t>
            </a:r>
            <a:endParaRPr sz="900"/>
          </a:p>
          <a:p xmlns:a="http://schemas.openxmlformats.org/drawingml/2006/main">
            <a:pPr marL="0" indent="0">
              <a:lnSpc>
                <a:spcPts val="1100"/>
              </a:lnSpc>
              <a:buNone/>
            </a:pPr>
            <a:r>
              <a:rPr sz="900">
                <a:solidFill>
                  <a:srgbClr val="8FA9C4"/>
                </a:solidFill>
                <a:latin typeface="Arial"/>
                <a:ea typeface="Arial"/>
                <a:cs typeface="Arial"/>
              </a:rPr>
              <a:t>each of the others</a:t>
            </a:r>
            <a:endParaRPr sz="900"/>
          </a:p>
        </p:txBody>
      </p:sp>
      <p:sp>
        <p:nvSpPr>
          <p:cNvPr id="17" name="Text 15">
            <a:extLst xmlns:a="http://schemas.openxmlformats.org/drawingml/2006/main">
              <a:ext uri="{FF2B5EF4-FFF2-40B4-BE49-F238E27FC236}">
                <a16:creationId xmlns:a16="http://schemas.microsoft.com/office/drawing/2014/main" id="{23D4D9B1-DBF5-4771-92F6-4FF7DF200659}"/>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8" name="Text 16">
            <a:extLst xmlns:a="http://schemas.openxmlformats.org/drawingml/2006/main">
              <a:ext uri="{FF2B5EF4-FFF2-40B4-BE49-F238E27FC236}">
                <a16:creationId xmlns:a16="http://schemas.microsoft.com/office/drawing/2014/main" id="{2983A00D-348A-41A4-8461-100807E43F5B}"/>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sequencing</a:t>
            </a:r>
            <a:endParaRPr sz="900"/>
          </a:p>
          <a:p xmlns:a="http://schemas.openxmlformats.org/drawingml/2006/main">
            <a:pPr marL="0" indent="0">
              <a:lnSpc>
                <a:spcPts val="1100"/>
              </a:lnSpc>
              <a:buNone/>
            </a:pPr>
            <a:r>
              <a:rPr sz="900">
                <a:solidFill>
                  <a:srgbClr val="8FA9C4"/>
                </a:solidFill>
                <a:latin typeface="Arial"/>
                <a:ea typeface="Arial"/>
                <a:cs typeface="Arial"/>
              </a:rPr>
              <a:t>lessons</a:t>
            </a:r>
            <a:endParaRPr sz="900"/>
          </a:p>
        </p:txBody>
      </p:sp>
      <p:sp>
        <p:nvSpPr>
          <p:cNvPr id="19" name="Shape 17">
            <a:extLst xmlns:a="http://schemas.openxmlformats.org/drawingml/2006/main">
              <a:ext uri="{FF2B5EF4-FFF2-40B4-BE49-F238E27FC236}">
                <a16:creationId xmlns:a16="http://schemas.microsoft.com/office/drawing/2014/main" id="{0FC4D4FE-8C21-4DA8-BA92-3EEB0C767266}"/>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18EBA5C9-0722-4A2E-AA71-F08FEE7C2E79}"/>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COMPARATIVE CONTEXT  ·  PUBLICLY REPORTED FIGURES</a:t>
            </a:r>
            <a:endParaRPr sz="800"/>
          </a:p>
        </p:txBody>
      </p:sp>
      <p:sp>
        <p:nvSpPr>
          <p:cNvPr id="21" name="Text 19">
            <a:extLst xmlns:a="http://schemas.openxmlformats.org/drawingml/2006/main">
              <a:ext uri="{FF2B5EF4-FFF2-40B4-BE49-F238E27FC236}">
                <a16:creationId xmlns:a16="http://schemas.microsoft.com/office/drawing/2014/main" id="{B35F8D36-C8E4-4829-A9C9-2321FA402675}"/>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Segment-led entry    ·    channel-led entry    ·    platform-led entry — and why each was correct for its bank and wrong for the other two</a:t>
            </a:r>
            <a:endParaRPr sz="1050"/>
          </a:p>
        </p:txBody>
      </p:sp>
      <p:sp>
        <p:nvSpPr>
          <p:cNvPr id="22" name="Text 20">
            <a:extLst xmlns:a="http://schemas.openxmlformats.org/drawingml/2006/main">
              <a:ext uri="{FF2B5EF4-FFF2-40B4-BE49-F238E27FC236}">
                <a16:creationId xmlns:a16="http://schemas.microsoft.com/office/drawing/2014/main" id="{FC09883E-6C55-450A-BD44-A6AF313D9F30}"/>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Solution and delivery involvement across Southeast Asia engagements</a:t>
            </a:r>
            <a:endParaRPr sz="1200"/>
          </a:p>
        </p:txBody>
      </p:sp>
      <p:sp>
        <p:nvSpPr>
          <p:cNvPr id="23" name="Text 21">
            <a:extLst xmlns:a="http://schemas.openxmlformats.org/drawingml/2006/main">
              <a:ext uri="{FF2B5EF4-FFF2-40B4-BE49-F238E27FC236}">
                <a16:creationId xmlns:a16="http://schemas.microsoft.com/office/drawing/2014/main" id="{186C2931-315A-4E50-B352-D1EF87530F53}"/>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Institutional figures are publicly reported; the third bank is described without identification. The comparative framework is mine.</a:t>
            </a:r>
            <a:endParaRPr sz="850"/>
          </a:p>
        </p:txBody>
      </p:sp>
    </p:spTree>
    <p:extLst>
      <p:ext uri="{BB962C8B-B14F-4D97-AF65-F5344CB8AC3E}">
        <p14:creationId xmlns:p14="http://schemas.microsoft.com/office/powerpoint/2010/main" val="686788291"/>
      </p:ext>
    </p:extLst>
  </p:cSld>
</p:sld>
</file>

<file path=ppt/slides/slide25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E95A9B3-BC2F-4A48-A20D-A0E55DF20A7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AA0CE195-B547-4394-8700-70C1C397AAA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banks in one region needed three different first moves — because a</a:t>
            </a:r>
            <a:endParaRPr sz="1900"/>
          </a:p>
          <a:p xmlns:a="http://schemas.openxmlformats.org/drawingml/2006/main">
            <a:pPr marL="0" indent="0">
              <a:lnSpc>
                <a:spcPts val="2400"/>
              </a:lnSpc>
              <a:buNone/>
            </a:pPr>
            <a:r>
              <a:rPr sz="1900" b="1">
                <a:solidFill>
                  <a:srgbClr val="102A43"/>
                </a:solidFill>
                <a:latin typeface="Arial"/>
                <a:ea typeface="Arial"/>
                <a:cs typeface="Arial"/>
              </a:rPr>
              <a:t>transformation entry point is chosen by the bank's starting position, not by the platform</a:t>
            </a:r>
            <a:endParaRPr sz="1900"/>
          </a:p>
        </p:txBody>
      </p:sp>
      <p:sp>
        <p:nvSpPr>
          <p:cNvPr id="4" name="Shape 2">
            <a:extLst xmlns:a="http://schemas.openxmlformats.org/drawingml/2006/main">
              <a:ext uri="{FF2B5EF4-FFF2-40B4-BE49-F238E27FC236}">
                <a16:creationId xmlns:a16="http://schemas.microsoft.com/office/drawing/2014/main" id="{907896FF-D8B2-4B2C-B150-0613BE8D2E3F}"/>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6FCAEE0-BD73-4DC2-B88C-831CCCD03A70}"/>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6DE28445-A66B-4486-965E-D96AAAD015BA}"/>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Three Southeast Asian institutions: a Malaysian fully integrated financial services group with a large branch network and a strong Islamic banking arm; a Vietnamese bank that built its position on digital channels and now runs the overwhelming majority of transactions digitally; and a Philippine universal bank consolidating a fragmented estate.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Broadly comparable capability requirements. Very different starting points.</a:t>
            </a:r>
            <a:endParaRPr sz="980"/>
          </a:p>
        </p:txBody>
      </p:sp>
      <p:sp>
        <p:nvSpPr>
          <p:cNvPr id="7" name="Shape 5">
            <a:extLst xmlns:a="http://schemas.openxmlformats.org/drawingml/2006/main">
              <a:ext uri="{FF2B5EF4-FFF2-40B4-BE49-F238E27FC236}">
                <a16:creationId xmlns:a16="http://schemas.microsoft.com/office/drawing/2014/main" id="{1EFBF88B-AC79-4EA7-A5EE-176E973AB942}"/>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946A448D-0FAE-4204-BF20-45C0530F29BC}"/>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09A8F6C8-EAF0-4C64-8940-D7D735C881AA}"/>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default answer in every case is to start where the platform is strongest, or where the reference deployment started. That produces a first phase that fits the vendor and not the bank.</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 branch-heavy universal bank starting with a digital channel build has solved a problem it does not yet have. A digital-first bank starting with a branch relationship model is building for a channel that carries a small share of its volume.</a:t>
            </a:r>
            <a:endParaRPr sz="980"/>
          </a:p>
        </p:txBody>
      </p:sp>
      <p:sp>
        <p:nvSpPr>
          <p:cNvPr id="10" name="Shape 8">
            <a:extLst xmlns:a="http://schemas.openxmlformats.org/drawingml/2006/main">
              <a:ext uri="{FF2B5EF4-FFF2-40B4-BE49-F238E27FC236}">
                <a16:creationId xmlns:a16="http://schemas.microsoft.com/office/drawing/2014/main" id="{6B46D3CA-C1E0-4CE8-9335-143275EC0B2F}"/>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2B04EDFB-8D28-4765-881D-2EB961792BAE}"/>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framework</a:t>
            </a:r>
            <a:endParaRPr sz="1250"/>
          </a:p>
        </p:txBody>
      </p:sp>
      <p:sp>
        <p:nvSpPr>
          <p:cNvPr id="12" name="Text 10">
            <a:extLst xmlns:a="http://schemas.openxmlformats.org/drawingml/2006/main">
              <a:ext uri="{FF2B5EF4-FFF2-40B4-BE49-F238E27FC236}">
                <a16:creationId xmlns:a16="http://schemas.microsoft.com/office/drawing/2014/main" id="{F8EDA086-CAF2-4DB3-8BB3-C69D78C1D904}"/>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Choose the entry point by the constraint that is actually binding. Three recur: an underserved segment, an unrepresented channel, or a fragmented platform estate.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of the three banks had a different one binding, and each first phase was correct for that bank and would have been wrong for the other two.</a:t>
            </a:r>
            <a:endParaRPr sz="980"/>
          </a:p>
        </p:txBody>
      </p:sp>
      <p:sp>
        <p:nvSpPr>
          <p:cNvPr id="13" name="Text 11">
            <a:extLst xmlns:a="http://schemas.openxmlformats.org/drawingml/2006/main">
              <a:ext uri="{FF2B5EF4-FFF2-40B4-BE49-F238E27FC236}">
                <a16:creationId xmlns:a16="http://schemas.microsoft.com/office/drawing/2014/main" id="{64EF3CFF-B13C-41B6-B2FF-36B848BAA164}"/>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7FC3A568-12F6-42F1-B49E-907122A34788}"/>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7794BB44-513E-49B3-ADEC-02982BBFAE79}"/>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6" name="Text 14">
            <a:extLst xmlns:a="http://schemas.openxmlformats.org/drawingml/2006/main">
              <a:ext uri="{FF2B5EF4-FFF2-40B4-BE49-F238E27FC236}">
                <a16:creationId xmlns:a16="http://schemas.microsoft.com/office/drawing/2014/main" id="{21A17D9F-DE82-484C-8DD9-6ACA8594E551}"/>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recurring entry points</a:t>
            </a:r>
            <a:endParaRPr sz="860"/>
          </a:p>
        </p:txBody>
      </p:sp>
      <p:sp>
        <p:nvSpPr>
          <p:cNvPr id="17" name="Shape 15">
            <a:extLst xmlns:a="http://schemas.openxmlformats.org/drawingml/2006/main">
              <a:ext uri="{FF2B5EF4-FFF2-40B4-BE49-F238E27FC236}">
                <a16:creationId xmlns:a16="http://schemas.microsoft.com/office/drawing/2014/main" id="{85D71FCD-CC0F-4EBF-89E7-0AC95CD53CBE}"/>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856BF173-D5BA-4CD6-9302-9595D542FA6F}"/>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5C3E68EA-39AD-4E6E-9EE4-21B46ACB4DF9}"/>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binding constraint each</a:t>
            </a:r>
            <a:endParaRPr sz="860"/>
          </a:p>
        </p:txBody>
      </p:sp>
      <p:sp>
        <p:nvSpPr>
          <p:cNvPr id="20" name="Shape 18">
            <a:extLst xmlns:a="http://schemas.openxmlformats.org/drawingml/2006/main">
              <a:ext uri="{FF2B5EF4-FFF2-40B4-BE49-F238E27FC236}">
                <a16:creationId xmlns:a16="http://schemas.microsoft.com/office/drawing/2014/main" id="{7D60CA7F-2BDC-41E7-BCB0-462BA9545183}"/>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9E6ED88E-FCF5-4692-BEA2-B0359D3F3E56}"/>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2" name="Text 20">
            <a:extLst xmlns:a="http://schemas.openxmlformats.org/drawingml/2006/main">
              <a:ext uri="{FF2B5EF4-FFF2-40B4-BE49-F238E27FC236}">
                <a16:creationId xmlns:a16="http://schemas.microsoft.com/office/drawing/2014/main" id="{424C4160-9DA9-4C94-849E-5491E7149665}"/>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correct first phases</a:t>
            </a:r>
            <a:endParaRPr sz="860"/>
          </a:p>
        </p:txBody>
      </p:sp>
      <p:sp>
        <p:nvSpPr>
          <p:cNvPr id="23" name="Shape 21">
            <a:extLst xmlns:a="http://schemas.openxmlformats.org/drawingml/2006/main">
              <a:ext uri="{FF2B5EF4-FFF2-40B4-BE49-F238E27FC236}">
                <a16:creationId xmlns:a16="http://schemas.microsoft.com/office/drawing/2014/main" id="{0C3D87D9-8C6B-4283-8A1B-6D2F85D579B8}"/>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38E960AD-38DB-4BD7-95BF-FB2505A32C4D}"/>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25" name="Text 23">
            <a:extLst xmlns:a="http://schemas.openxmlformats.org/drawingml/2006/main">
              <a:ext uri="{FF2B5EF4-FFF2-40B4-BE49-F238E27FC236}">
                <a16:creationId xmlns:a16="http://schemas.microsoft.com/office/drawing/2014/main" id="{05E6354A-9497-4BE4-B9E8-1E918E7DC32F}"/>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wrong pairings avoided</a:t>
            </a:r>
            <a:endParaRPr sz="860"/>
          </a:p>
        </p:txBody>
      </p:sp>
      <p:sp>
        <p:nvSpPr>
          <p:cNvPr id="26" name="Shape 24">
            <a:extLst xmlns:a="http://schemas.openxmlformats.org/drawingml/2006/main">
              <a:ext uri="{FF2B5EF4-FFF2-40B4-BE49-F238E27FC236}">
                <a16:creationId xmlns:a16="http://schemas.microsoft.com/office/drawing/2014/main" id="{88C4711C-924C-4238-9C4D-1AE4BEBAEC1D}"/>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E474C0FD-9307-4E1C-9BDA-B609521669AF}"/>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8" name="Text 26">
            <a:extLst xmlns:a="http://schemas.openxmlformats.org/drawingml/2006/main">
              <a:ext uri="{FF2B5EF4-FFF2-40B4-BE49-F238E27FC236}">
                <a16:creationId xmlns:a16="http://schemas.microsoft.com/office/drawing/2014/main" id="{4561673C-DEB9-4305-A58D-73EF972AB9C2}"/>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diagnostic question</a:t>
            </a:r>
            <a:endParaRPr sz="860"/>
          </a:p>
        </p:txBody>
      </p:sp>
      <p:sp>
        <p:nvSpPr>
          <p:cNvPr id="29" name="Shape 27">
            <a:extLst xmlns:a="http://schemas.openxmlformats.org/drawingml/2006/main">
              <a:ext uri="{FF2B5EF4-FFF2-40B4-BE49-F238E27FC236}">
                <a16:creationId xmlns:a16="http://schemas.microsoft.com/office/drawing/2014/main" id="{BFB6428A-4A9F-467E-B97E-897C94C9AD49}"/>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F70E214C-7A52-48A7-BBAB-0116778E0EEE}"/>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31" name="Text 29">
            <a:extLst xmlns:a="http://schemas.openxmlformats.org/drawingml/2006/main">
              <a:ext uri="{FF2B5EF4-FFF2-40B4-BE49-F238E27FC236}">
                <a16:creationId xmlns:a16="http://schemas.microsoft.com/office/drawing/2014/main" id="{9AC4D669-D479-4EB1-9743-645CDF599163}"/>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sequencing rules</a:t>
            </a:r>
            <a:endParaRPr sz="860"/>
          </a:p>
        </p:txBody>
      </p:sp>
      <p:sp>
        <p:nvSpPr>
          <p:cNvPr id="32" name="Text 30">
            <a:extLst xmlns:a="http://schemas.openxmlformats.org/drawingml/2006/main">
              <a:ext uri="{FF2B5EF4-FFF2-40B4-BE49-F238E27FC236}">
                <a16:creationId xmlns:a16="http://schemas.microsoft.com/office/drawing/2014/main" id="{625DEEB3-8874-4036-8612-87F33BADDCF6}"/>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this matters more in a regional programme than a single-country one:  a regional platform team under delivery pressure will reuse the last country's sequence, because it is proven and it is fast to plan. That reuse is precisely the error — the capability set travels, the entry point does not.</a:t>
            </a:r>
            <a:endParaRPr sz="1000"/>
          </a:p>
        </p:txBody>
      </p:sp>
      <p:sp>
        <p:nvSpPr>
          <p:cNvPr id="33" name="Shape 31">
            <a:extLst xmlns:a="http://schemas.openxmlformats.org/drawingml/2006/main">
              <a:ext uri="{FF2B5EF4-FFF2-40B4-BE49-F238E27FC236}">
                <a16:creationId xmlns:a16="http://schemas.microsoft.com/office/drawing/2014/main" id="{DA30F8F0-0283-4044-AA02-07A43B24F2F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FC8C1A49-C91B-4423-A607-827A2273942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comparative analysis</a:t>
            </a:r>
            <a:endParaRPr sz="850"/>
          </a:p>
        </p:txBody>
      </p:sp>
      <p:sp>
        <p:nvSpPr>
          <p:cNvPr id="35" name="Text 33">
            <a:extLst xmlns:a="http://schemas.openxmlformats.org/drawingml/2006/main">
              <a:ext uri="{FF2B5EF4-FFF2-40B4-BE49-F238E27FC236}">
                <a16:creationId xmlns:a16="http://schemas.microsoft.com/office/drawing/2014/main" id="{D7F18848-641F-4946-8965-FB3CE2E4BB5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335296333"/>
      </p:ext>
    </p:extLst>
  </p:cSld>
</p:sld>
</file>

<file path=ppt/slides/slide25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CEB79A8-7236-46C4-9A4E-3E5F9D56B7D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2E923EFC-DDF9-4C40-84AA-0D9B5B4CC32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Institutional figures are publicly reported; the comparative framework and the</a:t>
            </a:r>
            <a:endParaRPr sz="1900"/>
          </a:p>
          <a:p xmlns:a="http://schemas.openxmlformats.org/drawingml/2006/main">
            <a:pPr marL="0" indent="0">
              <a:lnSpc>
                <a:spcPts val="2400"/>
              </a:lnSpc>
              <a:buNone/>
            </a:pPr>
            <a:r>
              <a:rPr sz="1900" b="1">
                <a:solidFill>
                  <a:srgbClr val="102A43"/>
                </a:solidFill>
                <a:latin typeface="Arial"/>
                <a:ea typeface="Arial"/>
                <a:cs typeface="Arial"/>
              </a:rPr>
              <a:t>entry-point diagnosis are analysis</a:t>
            </a:r>
            <a:endParaRPr sz="1900"/>
          </a:p>
        </p:txBody>
      </p:sp>
      <p:sp>
        <p:nvSpPr>
          <p:cNvPr id="4" name="Shape 2">
            <a:extLst xmlns:a="http://schemas.openxmlformats.org/drawingml/2006/main">
              <a:ext uri="{FF2B5EF4-FFF2-40B4-BE49-F238E27FC236}">
                <a16:creationId xmlns:a16="http://schemas.microsoft.com/office/drawing/2014/main" id="{822FCA95-5DE9-4000-965B-AC8A0B8AE7AF}"/>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BCDB607E-B900-47FD-A18B-66F2A1CB1A06}"/>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7F954941-B21D-4CA6-A76D-763A5C72D54E}"/>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D9BD700E-62C1-4A9C-8E95-270DE5582063}"/>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Public context</a:t>
            </a:r>
            <a:endParaRPr sz="1200"/>
          </a:p>
        </p:txBody>
      </p:sp>
      <p:sp>
        <p:nvSpPr>
          <p:cNvPr id="8" name="Text 6">
            <a:extLst xmlns:a="http://schemas.openxmlformats.org/drawingml/2006/main">
              <a:ext uri="{FF2B5EF4-FFF2-40B4-BE49-F238E27FC236}">
                <a16:creationId xmlns:a16="http://schemas.microsoft.com/office/drawing/2014/main" id="{7A20853D-9A63-474E-8270-60E1F43E06BF}"/>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Scale and positioning figures for each institution, from public reporting. The third bank is described without identification.</a:t>
            </a:r>
            <a:endParaRPr sz="920"/>
          </a:p>
        </p:txBody>
      </p:sp>
      <p:sp>
        <p:nvSpPr>
          <p:cNvPr id="9" name="Shape 7">
            <a:extLst xmlns:a="http://schemas.openxmlformats.org/drawingml/2006/main">
              <a:ext uri="{FF2B5EF4-FFF2-40B4-BE49-F238E27FC236}">
                <a16:creationId xmlns:a16="http://schemas.microsoft.com/office/drawing/2014/main" id="{033FBA38-213A-4D29-A9A5-6504CD680C99}"/>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B2C34452-FB61-41C1-97F1-7F3048377D29}"/>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Malaysian group: ~MYR 358bn assets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Fourth-largest Malaysian group</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Vietnamese bank: &gt;VND 505tn assets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Digital-first, ~98% digital transactions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Philippine universal bank, unidentified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Regional ASEAN footprints</a:t>
            </a:r>
            <a:endParaRPr sz="930"/>
          </a:p>
        </p:txBody>
      </p:sp>
      <p:sp>
        <p:nvSpPr>
          <p:cNvPr id="11" name="Shape 9">
            <a:extLst xmlns:a="http://schemas.openxmlformats.org/drawingml/2006/main">
              <a:ext uri="{FF2B5EF4-FFF2-40B4-BE49-F238E27FC236}">
                <a16:creationId xmlns:a16="http://schemas.microsoft.com/office/drawing/2014/main" id="{B7982F90-7563-47DF-BDD5-3C783ABDD07F}"/>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D5C5C032-5FC4-417C-A448-2BFFAE338BE1}"/>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297B46C8-76F6-4032-BF1A-7867304F9714}"/>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COMPARATIVE ANALYSIS</a:t>
            </a:r>
            <a:endParaRPr sz="740"/>
          </a:p>
        </p:txBody>
      </p:sp>
      <p:sp>
        <p:nvSpPr>
          <p:cNvPr id="14" name="Text 12">
            <a:extLst xmlns:a="http://schemas.openxmlformats.org/drawingml/2006/main">
              <a:ext uri="{FF2B5EF4-FFF2-40B4-BE49-F238E27FC236}">
                <a16:creationId xmlns:a16="http://schemas.microsoft.com/office/drawing/2014/main" id="{112B472A-8596-4724-9A7D-C0DA46485D6C}"/>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F274D067-9C78-45B3-98C9-2FB237D3B706}"/>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three-entry-point framework, the diagnosis of each bank's binding constraint and the sequencing rules.</a:t>
            </a:r>
            <a:endParaRPr sz="920"/>
          </a:p>
        </p:txBody>
      </p:sp>
      <p:sp>
        <p:nvSpPr>
          <p:cNvPr id="16" name="Shape 14">
            <a:extLst xmlns:a="http://schemas.openxmlformats.org/drawingml/2006/main">
              <a:ext uri="{FF2B5EF4-FFF2-40B4-BE49-F238E27FC236}">
                <a16:creationId xmlns:a16="http://schemas.microsoft.com/office/drawing/2014/main" id="{4C3F8FF3-8555-4E80-A80D-22104396C628}"/>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F7D8B948-604F-448F-B385-DAEAACD6F88C}"/>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Three-entry-point framework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Binding-constraint diagnosis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Wrong-pairing analysis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Sequencing rules per entry point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Regional reuse warning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Applied across SEA engagements</a:t>
            </a:r>
            <a:endParaRPr sz="930"/>
          </a:p>
        </p:txBody>
      </p:sp>
      <p:sp>
        <p:nvSpPr>
          <p:cNvPr id="18" name="Shape 16">
            <a:extLst xmlns:a="http://schemas.openxmlformats.org/drawingml/2006/main">
              <a:ext uri="{FF2B5EF4-FFF2-40B4-BE49-F238E27FC236}">
                <a16:creationId xmlns:a16="http://schemas.microsoft.com/office/drawing/2014/main" id="{5F35EEDC-7E5D-4F43-9FAD-4E19C0E325F8}"/>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F072E6B8-8F5A-4376-844B-6841FD0315AB}"/>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778CFB8B-F9A7-4C07-B4AE-EA3A911A753F}"/>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JUDGEMENT</a:t>
            </a:r>
            <a:endParaRPr sz="740"/>
          </a:p>
        </p:txBody>
      </p:sp>
      <p:sp>
        <p:nvSpPr>
          <p:cNvPr id="21" name="Text 19">
            <a:extLst xmlns:a="http://schemas.openxmlformats.org/drawingml/2006/main">
              <a:ext uri="{FF2B5EF4-FFF2-40B4-BE49-F238E27FC236}">
                <a16:creationId xmlns:a16="http://schemas.microsoft.com/office/drawing/2014/main" id="{372DDF54-D8F2-4DFA-89AA-90314C334B59}"/>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Assessed</a:t>
            </a:r>
            <a:endParaRPr sz="1200"/>
          </a:p>
        </p:txBody>
      </p:sp>
      <p:sp>
        <p:nvSpPr>
          <p:cNvPr id="22" name="Text 20">
            <a:extLst xmlns:a="http://schemas.openxmlformats.org/drawingml/2006/main">
              <a:ext uri="{FF2B5EF4-FFF2-40B4-BE49-F238E27FC236}">
                <a16:creationId xmlns:a16="http://schemas.microsoft.com/office/drawing/2014/main" id="{CBEBEA96-F735-4C12-8911-7396CE2DBB3B}"/>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diagnosis of each bank's binding constraint is analytical judgement from public positioning, not an internal assessment.</a:t>
            </a:r>
            <a:endParaRPr sz="920"/>
          </a:p>
        </p:txBody>
      </p:sp>
      <p:sp>
        <p:nvSpPr>
          <p:cNvPr id="23" name="Shape 21">
            <a:extLst xmlns:a="http://schemas.openxmlformats.org/drawingml/2006/main">
              <a:ext uri="{FF2B5EF4-FFF2-40B4-BE49-F238E27FC236}">
                <a16:creationId xmlns:a16="http://schemas.microsoft.com/office/drawing/2014/main" id="{F90E9803-F465-42E2-AC60-EC9E8EC4ADAE}"/>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0B011F38-695B-44BD-978E-6D175F8A6DCF}"/>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Constraint diagnosis from public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an internal strategy review</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endorsed by any institution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Directionally argued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Framework transfers unchanged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Substitute local knowledge where held</a:t>
            </a:r>
            <a:endParaRPr sz="930"/>
          </a:p>
        </p:txBody>
      </p:sp>
      <p:sp>
        <p:nvSpPr>
          <p:cNvPr id="25" name="Shape 23">
            <a:extLst xmlns:a="http://schemas.openxmlformats.org/drawingml/2006/main">
              <a:ext uri="{FF2B5EF4-FFF2-40B4-BE49-F238E27FC236}">
                <a16:creationId xmlns:a16="http://schemas.microsoft.com/office/drawing/2014/main" id="{30C54FBC-6718-44E4-B2A2-083CA2CEBBB2}"/>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B8357FBF-ED17-4D85-8E47-F4DB9E844BBD}"/>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EB6593B9-E906-4A3C-89B6-D87F23B32542}"/>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D34274FD-0B03-4336-B5EF-75E49523367A}"/>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4BB6925D-F490-425F-A168-4B72D6BF1783}"/>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 comparative framework, not a set of case studies.</a:t>
            </a:r>
            <a:endParaRPr sz="920"/>
          </a:p>
        </p:txBody>
      </p:sp>
      <p:sp>
        <p:nvSpPr>
          <p:cNvPr id="30" name="Shape 28">
            <a:extLst xmlns:a="http://schemas.openxmlformats.org/drawingml/2006/main">
              <a:ext uri="{FF2B5EF4-FFF2-40B4-BE49-F238E27FC236}">
                <a16:creationId xmlns:a16="http://schemas.microsoft.com/office/drawing/2014/main" id="{62DC15C9-50C3-491F-A9CC-AA86ADEA3CE4}"/>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7860981E-0B4B-4FD8-A93C-E43A0352DD8A}"/>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ownership at all three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institution's internal strategy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programme outcome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material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Named identification of the third bank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any engagement</a:t>
            </a:r>
            <a:endParaRPr sz="930"/>
          </a:p>
        </p:txBody>
      </p:sp>
      <p:sp>
        <p:nvSpPr>
          <p:cNvPr id="32" name="Shape 30">
            <a:extLst xmlns:a="http://schemas.openxmlformats.org/drawingml/2006/main">
              <a:ext uri="{FF2B5EF4-FFF2-40B4-BE49-F238E27FC236}">
                <a16:creationId xmlns:a16="http://schemas.microsoft.com/office/drawing/2014/main" id="{3CD074DA-4713-459E-97A2-334D9C53CBD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58B6E147-9B55-4165-86F6-9012D502C5D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institutional figures (context) · author's comparative analysis (framework)</a:t>
            </a:r>
            <a:endParaRPr sz="850"/>
          </a:p>
        </p:txBody>
      </p:sp>
      <p:sp>
        <p:nvSpPr>
          <p:cNvPr id="34" name="Text 32">
            <a:extLst xmlns:a="http://schemas.openxmlformats.org/drawingml/2006/main">
              <a:ext uri="{FF2B5EF4-FFF2-40B4-BE49-F238E27FC236}">
                <a16:creationId xmlns:a16="http://schemas.microsoft.com/office/drawing/2014/main" id="{884C3673-4DE2-489E-9B14-031112E0A1D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651175689"/>
      </p:ext>
    </p:extLst>
  </p:cSld>
</p:sld>
</file>

<file path=ppt/slides/slide25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FEEC8FB-E13F-408F-B3C8-D650D100323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THREE STARTING POSITIONS</a:t>
            </a:r>
            <a:endParaRPr sz="950"/>
          </a:p>
        </p:txBody>
      </p:sp>
      <p:sp>
        <p:nvSpPr>
          <p:cNvPr id="3" name="Text 1">
            <a:extLst xmlns:a="http://schemas.openxmlformats.org/drawingml/2006/main">
              <a:ext uri="{FF2B5EF4-FFF2-40B4-BE49-F238E27FC236}">
                <a16:creationId xmlns:a16="http://schemas.microsoft.com/office/drawing/2014/main" id="{2914C7D3-636E-4675-81FF-DBED5EA6D22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Same region, same broad capability need — and three binding constraints that share</a:t>
            </a:r>
            <a:endParaRPr sz="1900"/>
          </a:p>
          <a:p xmlns:a="http://schemas.openxmlformats.org/drawingml/2006/main">
            <a:pPr marL="0" indent="0">
              <a:lnSpc>
                <a:spcPts val="2400"/>
              </a:lnSpc>
              <a:buNone/>
            </a:pPr>
            <a:r>
              <a:rPr sz="1900" b="1">
                <a:solidFill>
                  <a:srgbClr val="102A43"/>
                </a:solidFill>
                <a:latin typeface="Arial"/>
                <a:ea typeface="Arial"/>
                <a:cs typeface="Arial"/>
              </a:rPr>
              <a:t>almost nothing</a:t>
            </a:r>
            <a:endParaRPr sz="1900"/>
          </a:p>
        </p:txBody>
      </p:sp>
      <p:sp>
        <p:nvSpPr>
          <p:cNvPr id="4" name="Shape 2">
            <a:extLst xmlns:a="http://schemas.openxmlformats.org/drawingml/2006/main">
              <a:ext uri="{FF2B5EF4-FFF2-40B4-BE49-F238E27FC236}">
                <a16:creationId xmlns:a16="http://schemas.microsoft.com/office/drawing/2014/main" id="{A2C1C413-5053-411B-A99A-8C086A4FD983}"/>
              </a:ext>
            </a:extLst>
          </p:cNvPr>
          <p:cNvSpPr>
            <a:spLocks xmlns:a="http://schemas.openxmlformats.org/drawingml/2006/main" noGrp="1"/>
          </p:cNvSpPr>
          <p:nvPr/>
        </p:nvSpPr>
        <p:spPr>
          <a:xfrm xmlns:a="http://schemas.openxmlformats.org/drawingml/2006/main">
            <a:off x="566928" y="1335024"/>
            <a:ext cx="3551834" cy="402336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1C76BF55-8BC3-4B3C-BC29-2B41D0E608AC}"/>
              </a:ext>
            </a:extLst>
          </p:cNvPr>
          <p:cNvSpPr>
            <a:spLocks xmlns:a="http://schemas.openxmlformats.org/drawingml/2006/main" noGrp="1"/>
          </p:cNvSpPr>
          <p:nvPr/>
        </p:nvSpPr>
        <p:spPr>
          <a:xfrm xmlns:a="http://schemas.openxmlformats.org/drawingml/2006/main">
            <a:off x="786384"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Malaysian universal group</a:t>
            </a:r>
            <a:endParaRPr sz="1300"/>
          </a:p>
        </p:txBody>
      </p:sp>
      <p:sp>
        <p:nvSpPr>
          <p:cNvPr id="6" name="Text 4">
            <a:extLst xmlns:a="http://schemas.openxmlformats.org/drawingml/2006/main">
              <a:ext uri="{FF2B5EF4-FFF2-40B4-BE49-F238E27FC236}">
                <a16:creationId xmlns:a16="http://schemas.microsoft.com/office/drawing/2014/main" id="{614A0F6A-F217-43BD-A87C-BC41A27E025A}"/>
              </a:ext>
            </a:extLst>
          </p:cNvPr>
          <p:cNvSpPr>
            <a:spLocks xmlns:a="http://schemas.openxmlformats.org/drawingml/2006/main" noGrp="1"/>
          </p:cNvSpPr>
          <p:nvPr/>
        </p:nvSpPr>
        <p:spPr>
          <a:xfrm xmlns:a="http://schemas.openxmlformats.org/drawingml/2006/main">
            <a:off x="786384" y="1828800"/>
            <a:ext cx="311292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~MYR 358bn assets · fourth-largest integrated group · ~230+ branches · conventional and Islamic</a:t>
            </a:r>
            <a:endParaRPr sz="920"/>
          </a:p>
        </p:txBody>
      </p:sp>
      <p:sp>
        <p:nvSpPr>
          <p:cNvPr id="7" name="Shape 5">
            <a:extLst xmlns:a="http://schemas.openxmlformats.org/drawingml/2006/main">
              <a:ext uri="{FF2B5EF4-FFF2-40B4-BE49-F238E27FC236}">
                <a16:creationId xmlns:a16="http://schemas.microsoft.com/office/drawing/2014/main" id="{8B64E4A1-F281-4118-B518-58E26D62A621}"/>
              </a:ext>
            </a:extLst>
          </p:cNvPr>
          <p:cNvSpPr>
            <a:spLocks xmlns:a="http://schemas.openxmlformats.org/drawingml/2006/main" noGrp="1"/>
          </p:cNvSpPr>
          <p:nvPr/>
        </p:nvSpPr>
        <p:spPr>
          <a:xfrm xmlns:a="http://schemas.openxmlformats.org/drawingml/2006/main">
            <a:off x="786384" y="2450592"/>
            <a:ext cx="3112922"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271E5969-E3DD-4432-8806-E06EB6A1003D}"/>
              </a:ext>
            </a:extLst>
          </p:cNvPr>
          <p:cNvSpPr>
            <a:spLocks xmlns:a="http://schemas.openxmlformats.org/drawingml/2006/main" noGrp="1"/>
          </p:cNvSpPr>
          <p:nvPr/>
        </p:nvSpPr>
        <p:spPr>
          <a:xfrm xmlns:a="http://schemas.openxmlformats.org/drawingml/2006/main">
            <a:off x="786384" y="2560320"/>
            <a:ext cx="311292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STARTING POSITION</a:t>
            </a:r>
            <a:endParaRPr sz="740"/>
          </a:p>
        </p:txBody>
      </p:sp>
      <p:sp>
        <p:nvSpPr>
          <p:cNvPr id="9" name="Text 7">
            <a:extLst xmlns:a="http://schemas.openxmlformats.org/drawingml/2006/main">
              <a:ext uri="{FF2B5EF4-FFF2-40B4-BE49-F238E27FC236}">
                <a16:creationId xmlns:a16="http://schemas.microsoft.com/office/drawing/2014/main" id="{244639D6-53A3-4576-B8F3-0C8870302830}"/>
              </a:ext>
            </a:extLst>
          </p:cNvPr>
          <p:cNvSpPr>
            <a:spLocks xmlns:a="http://schemas.openxmlformats.org/drawingml/2006/main" noGrp="1"/>
          </p:cNvSpPr>
          <p:nvPr/>
        </p:nvSpPr>
        <p:spPr>
          <a:xfrm xmlns:a="http://schemas.openxmlformats.org/drawingml/2006/main">
            <a:off x="786384" y="2761488"/>
            <a:ext cx="3112922"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Strong branch network, broad segment coverage, a substantial Islamic arm, and mature corporate and treasury businesses.</a:t>
            </a:r>
            <a:endParaRPr sz="940"/>
          </a:p>
        </p:txBody>
      </p:sp>
      <p:sp>
        <p:nvSpPr>
          <p:cNvPr id="10" name="Text 8">
            <a:extLst xmlns:a="http://schemas.openxmlformats.org/drawingml/2006/main">
              <a:ext uri="{FF2B5EF4-FFF2-40B4-BE49-F238E27FC236}">
                <a16:creationId xmlns:a16="http://schemas.microsoft.com/office/drawing/2014/main" id="{F4406E79-4EE9-4CB9-99A8-9840DBB5AB6C}"/>
              </a:ext>
            </a:extLst>
          </p:cNvPr>
          <p:cNvSpPr>
            <a:spLocks xmlns:a="http://schemas.openxmlformats.org/drawingml/2006/main" noGrp="1"/>
          </p:cNvSpPr>
          <p:nvPr/>
        </p:nvSpPr>
        <p:spPr>
          <a:xfrm xmlns:a="http://schemas.openxmlformats.org/drawingml/2006/main">
            <a:off x="786384" y="3621024"/>
            <a:ext cx="311292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BINDING CONSTRAINT</a:t>
            </a:r>
            <a:endParaRPr sz="740"/>
          </a:p>
        </p:txBody>
      </p:sp>
      <p:sp>
        <p:nvSpPr>
          <p:cNvPr id="11" name="Text 9">
            <a:extLst xmlns:a="http://schemas.openxmlformats.org/drawingml/2006/main">
              <a:ext uri="{FF2B5EF4-FFF2-40B4-BE49-F238E27FC236}">
                <a16:creationId xmlns:a16="http://schemas.microsoft.com/office/drawing/2014/main" id="{95C7F44A-54AA-475A-B8ED-E2FC68DD95C7}"/>
              </a:ext>
            </a:extLst>
          </p:cNvPr>
          <p:cNvSpPr>
            <a:spLocks xmlns:a="http://schemas.openxmlformats.org/drawingml/2006/main" noGrp="1"/>
          </p:cNvSpPr>
          <p:nvPr/>
        </p:nvSpPr>
        <p:spPr>
          <a:xfrm xmlns:a="http://schemas.openxmlformats.org/drawingml/2006/main">
            <a:off x="786384" y="3822192"/>
            <a:ext cx="311292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Retail and SME relationship coverage is thin relative to the branch footprint — the distribution exists and the relationship model does not.</a:t>
            </a:r>
            <a:endParaRPr sz="940"/>
          </a:p>
        </p:txBody>
      </p:sp>
      <p:sp>
        <p:nvSpPr>
          <p:cNvPr id="12" name="Shape 10">
            <a:extLst xmlns:a="http://schemas.openxmlformats.org/drawingml/2006/main">
              <a:ext uri="{FF2B5EF4-FFF2-40B4-BE49-F238E27FC236}">
                <a16:creationId xmlns:a16="http://schemas.microsoft.com/office/drawing/2014/main" id="{FDF49994-4F32-436C-8FA2-B6D019AAAD76}"/>
              </a:ext>
            </a:extLst>
          </p:cNvPr>
          <p:cNvSpPr>
            <a:spLocks xmlns:a="http://schemas.openxmlformats.org/drawingml/2006/main" noGrp="1"/>
          </p:cNvSpPr>
          <p:nvPr/>
        </p:nvSpPr>
        <p:spPr>
          <a:xfrm xmlns:a="http://schemas.openxmlformats.org/drawingml/2006/main">
            <a:off x="786384" y="4791456"/>
            <a:ext cx="1737360" cy="256032"/>
          </a:xfrm>
          <a:prstGeom xmlns:a="http://schemas.openxmlformats.org/drawingml/2006/main" prst="roundRect">
            <a:avLst>
              <a:gd name="adj" fmla="val 28571"/>
            </a:avLst>
          </a:prstGeom>
          <a:solidFill xmlns:a="http://schemas.openxmlformats.org/drawingml/2006/main">
            <a:srgbClr val="E8CFC4"/>
          </a:solidFill>
        </p:spPr>
      </p:sp>
      <p:sp>
        <p:nvSpPr>
          <p:cNvPr id="13" name="Text 11">
            <a:extLst xmlns:a="http://schemas.openxmlformats.org/drawingml/2006/main">
              <a:ext uri="{FF2B5EF4-FFF2-40B4-BE49-F238E27FC236}">
                <a16:creationId xmlns:a16="http://schemas.microsoft.com/office/drawing/2014/main" id="{C3EA9E33-ECAC-4BC8-A2FD-D4AAD8370B79}"/>
              </a:ext>
            </a:extLst>
          </p:cNvPr>
          <p:cNvSpPr>
            <a:spLocks xmlns:a="http://schemas.openxmlformats.org/drawingml/2006/main" noGrp="1"/>
          </p:cNvSpPr>
          <p:nvPr/>
        </p:nvSpPr>
        <p:spPr>
          <a:xfrm xmlns:a="http://schemas.openxmlformats.org/drawingml/2006/main">
            <a:off x="786384" y="4823460"/>
            <a:ext cx="173736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SEGMENT-LED</a:t>
            </a:r>
            <a:endParaRPr sz="820"/>
          </a:p>
        </p:txBody>
      </p:sp>
      <p:sp>
        <p:nvSpPr>
          <p:cNvPr id="14" name="Shape 12">
            <a:extLst xmlns:a="http://schemas.openxmlformats.org/drawingml/2006/main">
              <a:ext uri="{FF2B5EF4-FFF2-40B4-BE49-F238E27FC236}">
                <a16:creationId xmlns:a16="http://schemas.microsoft.com/office/drawing/2014/main" id="{1E7B5F6C-E941-4CE9-834C-7A9A54593380}"/>
              </a:ext>
            </a:extLst>
          </p:cNvPr>
          <p:cNvSpPr>
            <a:spLocks xmlns:a="http://schemas.openxmlformats.org/drawingml/2006/main" noGrp="1"/>
          </p:cNvSpPr>
          <p:nvPr/>
        </p:nvSpPr>
        <p:spPr>
          <a:xfrm xmlns:a="http://schemas.openxmlformats.org/drawingml/2006/main">
            <a:off x="4319930" y="1335024"/>
            <a:ext cx="3551834" cy="4023360"/>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D4EDC05A-1551-487D-BEE4-02226A6FC32C}"/>
              </a:ext>
            </a:extLst>
          </p:cNvPr>
          <p:cNvSpPr>
            <a:spLocks xmlns:a="http://schemas.openxmlformats.org/drawingml/2006/main" noGrp="1"/>
          </p:cNvSpPr>
          <p:nvPr/>
        </p:nvSpPr>
        <p:spPr>
          <a:xfrm xmlns:a="http://schemas.openxmlformats.org/drawingml/2006/main">
            <a:off x="4539386"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Vietnamese digital-first bank</a:t>
            </a:r>
            <a:endParaRPr sz="1300"/>
          </a:p>
        </p:txBody>
      </p:sp>
      <p:sp>
        <p:nvSpPr>
          <p:cNvPr id="16" name="Text 14">
            <a:extLst xmlns:a="http://schemas.openxmlformats.org/drawingml/2006/main">
              <a:ext uri="{FF2B5EF4-FFF2-40B4-BE49-F238E27FC236}">
                <a16:creationId xmlns:a16="http://schemas.microsoft.com/office/drawing/2014/main" id="{DADBD291-18F8-4874-B1AA-CB09C7541E2C}"/>
              </a:ext>
            </a:extLst>
          </p:cNvPr>
          <p:cNvSpPr>
            <a:spLocks xmlns:a="http://schemas.openxmlformats.org/drawingml/2006/main" noGrp="1"/>
          </p:cNvSpPr>
          <p:nvPr/>
        </p:nvSpPr>
        <p:spPr>
          <a:xfrm xmlns:a="http://schemas.openxmlformats.org/drawingml/2006/main">
            <a:off x="4539386" y="1828800"/>
            <a:ext cx="311292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&gt; VND 505tn assets · ~98% of transactions digital · digital-first since 2014</a:t>
            </a:r>
            <a:endParaRPr sz="920"/>
          </a:p>
        </p:txBody>
      </p:sp>
      <p:sp>
        <p:nvSpPr>
          <p:cNvPr id="17" name="Shape 15">
            <a:extLst xmlns:a="http://schemas.openxmlformats.org/drawingml/2006/main">
              <a:ext uri="{FF2B5EF4-FFF2-40B4-BE49-F238E27FC236}">
                <a16:creationId xmlns:a16="http://schemas.microsoft.com/office/drawing/2014/main" id="{327A4E9F-54D3-4338-9B0E-9A0969A72BA2}"/>
              </a:ext>
            </a:extLst>
          </p:cNvPr>
          <p:cNvSpPr>
            <a:spLocks xmlns:a="http://schemas.openxmlformats.org/drawingml/2006/main" noGrp="1"/>
          </p:cNvSpPr>
          <p:nvPr/>
        </p:nvSpPr>
        <p:spPr>
          <a:xfrm xmlns:a="http://schemas.openxmlformats.org/drawingml/2006/main">
            <a:off x="4539386" y="2450592"/>
            <a:ext cx="3112922"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AA039772-9D37-40E8-91DC-D29CEC78B761}"/>
              </a:ext>
            </a:extLst>
          </p:cNvPr>
          <p:cNvSpPr>
            <a:spLocks xmlns:a="http://schemas.openxmlformats.org/drawingml/2006/main" noGrp="1"/>
          </p:cNvSpPr>
          <p:nvPr/>
        </p:nvSpPr>
        <p:spPr>
          <a:xfrm xmlns:a="http://schemas.openxmlformats.org/drawingml/2006/main">
            <a:off x="4539386" y="2560320"/>
            <a:ext cx="311292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STARTING POSITION</a:t>
            </a:r>
            <a:endParaRPr sz="740"/>
          </a:p>
        </p:txBody>
      </p:sp>
      <p:sp>
        <p:nvSpPr>
          <p:cNvPr id="19" name="Text 17">
            <a:extLst xmlns:a="http://schemas.openxmlformats.org/drawingml/2006/main">
              <a:ext uri="{FF2B5EF4-FFF2-40B4-BE49-F238E27FC236}">
                <a16:creationId xmlns:a16="http://schemas.microsoft.com/office/drawing/2014/main" id="{587C5D14-9C74-421D-8161-7E6C353B6D39}"/>
              </a:ext>
            </a:extLst>
          </p:cNvPr>
          <p:cNvSpPr>
            <a:spLocks xmlns:a="http://schemas.openxmlformats.org/drawingml/2006/main" noGrp="1"/>
          </p:cNvSpPr>
          <p:nvPr/>
        </p:nvSpPr>
        <p:spPr>
          <a:xfrm xmlns:a="http://schemas.openxmlformats.org/drawingml/2006/main">
            <a:off x="4539386" y="2761488"/>
            <a:ext cx="3112922"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Digital channels carry almost all transaction volume. Customer acquisition and servicing are already app-centric and very efficient.</a:t>
            </a:r>
            <a:endParaRPr sz="940"/>
          </a:p>
        </p:txBody>
      </p:sp>
      <p:sp>
        <p:nvSpPr>
          <p:cNvPr id="20" name="Text 18">
            <a:extLst xmlns:a="http://schemas.openxmlformats.org/drawingml/2006/main">
              <a:ext uri="{FF2B5EF4-FFF2-40B4-BE49-F238E27FC236}">
                <a16:creationId xmlns:a16="http://schemas.microsoft.com/office/drawing/2014/main" id="{4E5FCAA7-7217-41E7-AC34-94BC4B79646E}"/>
              </a:ext>
            </a:extLst>
          </p:cNvPr>
          <p:cNvSpPr>
            <a:spLocks xmlns:a="http://schemas.openxmlformats.org/drawingml/2006/main" noGrp="1"/>
          </p:cNvSpPr>
          <p:nvPr/>
        </p:nvSpPr>
        <p:spPr>
          <a:xfrm xmlns:a="http://schemas.openxmlformats.org/drawingml/2006/main">
            <a:off x="4539386" y="3621024"/>
            <a:ext cx="311292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BINDING CONSTRAINT</a:t>
            </a:r>
            <a:endParaRPr sz="740"/>
          </a:p>
        </p:txBody>
      </p:sp>
      <p:sp>
        <p:nvSpPr>
          <p:cNvPr id="21" name="Text 19">
            <a:extLst xmlns:a="http://schemas.openxmlformats.org/drawingml/2006/main">
              <a:ext uri="{FF2B5EF4-FFF2-40B4-BE49-F238E27FC236}">
                <a16:creationId xmlns:a16="http://schemas.microsoft.com/office/drawing/2014/main" id="{99A326EC-C761-4DAF-8389-55D6CED8B61A}"/>
              </a:ext>
            </a:extLst>
          </p:cNvPr>
          <p:cNvSpPr>
            <a:spLocks xmlns:a="http://schemas.openxmlformats.org/drawingml/2006/main" noGrp="1"/>
          </p:cNvSpPr>
          <p:nvPr/>
        </p:nvSpPr>
        <p:spPr>
          <a:xfrm xmlns:a="http://schemas.openxmlformats.org/drawingml/2006/main">
            <a:off x="4539386" y="3822192"/>
            <a:ext cx="311292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Transaction excellence has outpaced relationship depth — the bank knows what customers do and much less about what they need next.</a:t>
            </a:r>
            <a:endParaRPr sz="940"/>
          </a:p>
        </p:txBody>
      </p:sp>
      <p:sp>
        <p:nvSpPr>
          <p:cNvPr id="22" name="Shape 20">
            <a:extLst xmlns:a="http://schemas.openxmlformats.org/drawingml/2006/main">
              <a:ext uri="{FF2B5EF4-FFF2-40B4-BE49-F238E27FC236}">
                <a16:creationId xmlns:a16="http://schemas.microsoft.com/office/drawing/2014/main" id="{76AC47F0-A68C-47B7-8FC5-4FEA266FAD01}"/>
              </a:ext>
            </a:extLst>
          </p:cNvPr>
          <p:cNvSpPr>
            <a:spLocks xmlns:a="http://schemas.openxmlformats.org/drawingml/2006/main" noGrp="1"/>
          </p:cNvSpPr>
          <p:nvPr/>
        </p:nvSpPr>
        <p:spPr>
          <a:xfrm xmlns:a="http://schemas.openxmlformats.org/drawingml/2006/main">
            <a:off x="4539386" y="4791456"/>
            <a:ext cx="1737360" cy="256032"/>
          </a:xfrm>
          <a:prstGeom xmlns:a="http://schemas.openxmlformats.org/drawingml/2006/main" prst="roundRect">
            <a:avLst>
              <a:gd name="adj" fmla="val 28571"/>
            </a:avLst>
          </a:prstGeom>
          <a:solidFill xmlns:a="http://schemas.openxmlformats.org/drawingml/2006/main">
            <a:srgbClr val="E8CFC4"/>
          </a:solidFill>
        </p:spPr>
      </p:sp>
      <p:sp>
        <p:nvSpPr>
          <p:cNvPr id="23" name="Text 21">
            <a:extLst xmlns:a="http://schemas.openxmlformats.org/drawingml/2006/main">
              <a:ext uri="{FF2B5EF4-FFF2-40B4-BE49-F238E27FC236}">
                <a16:creationId xmlns:a16="http://schemas.microsoft.com/office/drawing/2014/main" id="{14172D50-E37A-4601-A8C9-B71004C0CBC3}"/>
              </a:ext>
            </a:extLst>
          </p:cNvPr>
          <p:cNvSpPr>
            <a:spLocks xmlns:a="http://schemas.openxmlformats.org/drawingml/2006/main" noGrp="1"/>
          </p:cNvSpPr>
          <p:nvPr/>
        </p:nvSpPr>
        <p:spPr>
          <a:xfrm xmlns:a="http://schemas.openxmlformats.org/drawingml/2006/main">
            <a:off x="4539386" y="4823460"/>
            <a:ext cx="173736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CHANNEL-LED</a:t>
            </a:r>
            <a:endParaRPr sz="820"/>
          </a:p>
        </p:txBody>
      </p:sp>
      <p:sp>
        <p:nvSpPr>
          <p:cNvPr id="24" name="Shape 22">
            <a:extLst xmlns:a="http://schemas.openxmlformats.org/drawingml/2006/main">
              <a:ext uri="{FF2B5EF4-FFF2-40B4-BE49-F238E27FC236}">
                <a16:creationId xmlns:a16="http://schemas.microsoft.com/office/drawing/2014/main" id="{1DAEBBBA-E138-4999-B441-2B6D6CAE604E}"/>
              </a:ext>
            </a:extLst>
          </p:cNvPr>
          <p:cNvSpPr>
            <a:spLocks xmlns:a="http://schemas.openxmlformats.org/drawingml/2006/main" noGrp="1"/>
          </p:cNvSpPr>
          <p:nvPr/>
        </p:nvSpPr>
        <p:spPr>
          <a:xfrm xmlns:a="http://schemas.openxmlformats.org/drawingml/2006/main">
            <a:off x="8072933" y="1335024"/>
            <a:ext cx="3551834" cy="4023360"/>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9983AB69-217D-4F53-A403-9DC1301CBD2E}"/>
              </a:ext>
            </a:extLst>
          </p:cNvPr>
          <p:cNvSpPr>
            <a:spLocks xmlns:a="http://schemas.openxmlformats.org/drawingml/2006/main" noGrp="1"/>
          </p:cNvSpPr>
          <p:nvPr/>
        </p:nvSpPr>
        <p:spPr>
          <a:xfrm xmlns:a="http://schemas.openxmlformats.org/drawingml/2006/main">
            <a:off x="8292389"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Philippine universal bank</a:t>
            </a:r>
            <a:endParaRPr sz="1300"/>
          </a:p>
        </p:txBody>
      </p:sp>
      <p:sp>
        <p:nvSpPr>
          <p:cNvPr id="26" name="Text 24">
            <a:extLst xmlns:a="http://schemas.openxmlformats.org/drawingml/2006/main">
              <a:ext uri="{FF2B5EF4-FFF2-40B4-BE49-F238E27FC236}">
                <a16:creationId xmlns:a16="http://schemas.microsoft.com/office/drawing/2014/main" id="{60FC246A-7C03-4107-BCE9-5FEF7F9C3EF9}"/>
              </a:ext>
            </a:extLst>
          </p:cNvPr>
          <p:cNvSpPr>
            <a:spLocks xmlns:a="http://schemas.openxmlformats.org/drawingml/2006/main" noGrp="1"/>
          </p:cNvSpPr>
          <p:nvPr/>
        </p:nvSpPr>
        <p:spPr>
          <a:xfrm xmlns:a="http://schemas.openxmlformats.org/drawingml/2006/main">
            <a:off x="8292389" y="1828800"/>
            <a:ext cx="311292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Listed universal bank · multi-segment · consolidating a fragmented estate</a:t>
            </a:r>
            <a:endParaRPr sz="920"/>
          </a:p>
        </p:txBody>
      </p:sp>
      <p:sp>
        <p:nvSpPr>
          <p:cNvPr id="27" name="Shape 25">
            <a:extLst xmlns:a="http://schemas.openxmlformats.org/drawingml/2006/main">
              <a:ext uri="{FF2B5EF4-FFF2-40B4-BE49-F238E27FC236}">
                <a16:creationId xmlns:a16="http://schemas.microsoft.com/office/drawing/2014/main" id="{CADCB2AC-40BE-4B9E-AD26-6985C3CFA4AA}"/>
              </a:ext>
            </a:extLst>
          </p:cNvPr>
          <p:cNvSpPr>
            <a:spLocks xmlns:a="http://schemas.openxmlformats.org/drawingml/2006/main" noGrp="1"/>
          </p:cNvSpPr>
          <p:nvPr/>
        </p:nvSpPr>
        <p:spPr>
          <a:xfrm xmlns:a="http://schemas.openxmlformats.org/drawingml/2006/main">
            <a:off x="8292389" y="2450592"/>
            <a:ext cx="3112922" cy="13716"/>
          </a:xfrm>
          <a:prstGeom xmlns:a="http://schemas.openxmlformats.org/drawingml/2006/main" prst="rect">
            <a:avLst/>
          </a:prstGeom>
          <a:solidFill xmlns:a="http://schemas.openxmlformats.org/drawingml/2006/main">
            <a:srgbClr val="C6D2DE"/>
          </a:solidFill>
        </p:spPr>
      </p:sp>
      <p:sp>
        <p:nvSpPr>
          <p:cNvPr id="28" name="Text 26">
            <a:extLst xmlns:a="http://schemas.openxmlformats.org/drawingml/2006/main">
              <a:ext uri="{FF2B5EF4-FFF2-40B4-BE49-F238E27FC236}">
                <a16:creationId xmlns:a16="http://schemas.microsoft.com/office/drawing/2014/main" id="{7C797C5D-7083-4D95-B666-3AD5B5ABE9B7}"/>
              </a:ext>
            </a:extLst>
          </p:cNvPr>
          <p:cNvSpPr>
            <a:spLocks xmlns:a="http://schemas.openxmlformats.org/drawingml/2006/main" noGrp="1"/>
          </p:cNvSpPr>
          <p:nvPr/>
        </p:nvSpPr>
        <p:spPr>
          <a:xfrm xmlns:a="http://schemas.openxmlformats.org/drawingml/2006/main">
            <a:off x="8292389" y="2560320"/>
            <a:ext cx="311292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STARTING POSITION</a:t>
            </a:r>
            <a:endParaRPr sz="740"/>
          </a:p>
        </p:txBody>
      </p:sp>
      <p:sp>
        <p:nvSpPr>
          <p:cNvPr id="29" name="Text 27">
            <a:extLst xmlns:a="http://schemas.openxmlformats.org/drawingml/2006/main">
              <a:ext uri="{FF2B5EF4-FFF2-40B4-BE49-F238E27FC236}">
                <a16:creationId xmlns:a16="http://schemas.microsoft.com/office/drawing/2014/main" id="{FC44247E-2719-481F-ABC0-825B0FF487E9}"/>
              </a:ext>
            </a:extLst>
          </p:cNvPr>
          <p:cNvSpPr>
            <a:spLocks xmlns:a="http://schemas.openxmlformats.org/drawingml/2006/main" noGrp="1"/>
          </p:cNvSpPr>
          <p:nvPr/>
        </p:nvSpPr>
        <p:spPr>
          <a:xfrm xmlns:a="http://schemas.openxmlformats.org/drawingml/2006/main">
            <a:off x="8292389" y="2761488"/>
            <a:ext cx="3112922" cy="7863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Full universal banking capability delivered across a set of systems accumulated over time, with overlapping ownership of the customer.</a:t>
            </a:r>
            <a:endParaRPr sz="940"/>
          </a:p>
        </p:txBody>
      </p:sp>
      <p:sp>
        <p:nvSpPr>
          <p:cNvPr id="30" name="Text 28">
            <a:extLst xmlns:a="http://schemas.openxmlformats.org/drawingml/2006/main">
              <a:ext uri="{FF2B5EF4-FFF2-40B4-BE49-F238E27FC236}">
                <a16:creationId xmlns:a16="http://schemas.microsoft.com/office/drawing/2014/main" id="{4198C190-C1EC-476A-8730-8090E07478E1}"/>
              </a:ext>
            </a:extLst>
          </p:cNvPr>
          <p:cNvSpPr>
            <a:spLocks xmlns:a="http://schemas.openxmlformats.org/drawingml/2006/main" noGrp="1"/>
          </p:cNvSpPr>
          <p:nvPr/>
        </p:nvSpPr>
        <p:spPr>
          <a:xfrm xmlns:a="http://schemas.openxmlformats.org/drawingml/2006/main">
            <a:off x="8292389" y="3621024"/>
            <a:ext cx="3112922"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THE BINDING CONSTRAINT</a:t>
            </a:r>
            <a:endParaRPr sz="740"/>
          </a:p>
        </p:txBody>
      </p:sp>
      <p:sp>
        <p:nvSpPr>
          <p:cNvPr id="31" name="Text 29">
            <a:extLst xmlns:a="http://schemas.openxmlformats.org/drawingml/2006/main">
              <a:ext uri="{FF2B5EF4-FFF2-40B4-BE49-F238E27FC236}">
                <a16:creationId xmlns:a16="http://schemas.microsoft.com/office/drawing/2014/main" id="{8C2ACF79-3E80-453B-9FF6-03BACE8C1168}"/>
              </a:ext>
            </a:extLst>
          </p:cNvPr>
          <p:cNvSpPr>
            <a:spLocks xmlns:a="http://schemas.openxmlformats.org/drawingml/2006/main" noGrp="1"/>
          </p:cNvSpPr>
          <p:nvPr/>
        </p:nvSpPr>
        <p:spPr>
          <a:xfrm xmlns:a="http://schemas.openxmlformats.org/drawingml/2006/main">
            <a:off x="8292389" y="3822192"/>
            <a:ext cx="311292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No single view of the customer exists to build anything on — every initiative starts by reconciling three sources.</a:t>
            </a:r>
            <a:endParaRPr sz="940"/>
          </a:p>
        </p:txBody>
      </p:sp>
      <p:sp>
        <p:nvSpPr>
          <p:cNvPr id="32" name="Shape 30">
            <a:extLst xmlns:a="http://schemas.openxmlformats.org/drawingml/2006/main">
              <a:ext uri="{FF2B5EF4-FFF2-40B4-BE49-F238E27FC236}">
                <a16:creationId xmlns:a16="http://schemas.microsoft.com/office/drawing/2014/main" id="{3C45A4CD-A901-4D98-9E6B-73C9FD914D7B}"/>
              </a:ext>
            </a:extLst>
          </p:cNvPr>
          <p:cNvSpPr>
            <a:spLocks xmlns:a="http://schemas.openxmlformats.org/drawingml/2006/main" noGrp="1"/>
          </p:cNvSpPr>
          <p:nvPr/>
        </p:nvSpPr>
        <p:spPr>
          <a:xfrm xmlns:a="http://schemas.openxmlformats.org/drawingml/2006/main">
            <a:off x="8292389" y="4791456"/>
            <a:ext cx="1737360" cy="256032"/>
          </a:xfrm>
          <a:prstGeom xmlns:a="http://schemas.openxmlformats.org/drawingml/2006/main" prst="roundRect">
            <a:avLst>
              <a:gd name="adj" fmla="val 28571"/>
            </a:avLst>
          </a:prstGeom>
          <a:solidFill xmlns:a="http://schemas.openxmlformats.org/drawingml/2006/main">
            <a:srgbClr val="DCE5EE"/>
          </a:solidFill>
        </p:spPr>
      </p:sp>
      <p:sp>
        <p:nvSpPr>
          <p:cNvPr id="33" name="Text 31">
            <a:extLst xmlns:a="http://schemas.openxmlformats.org/drawingml/2006/main">
              <a:ext uri="{FF2B5EF4-FFF2-40B4-BE49-F238E27FC236}">
                <a16:creationId xmlns:a16="http://schemas.microsoft.com/office/drawing/2014/main" id="{7360C840-5D20-4BCB-B216-9CE224F22ECF}"/>
              </a:ext>
            </a:extLst>
          </p:cNvPr>
          <p:cNvSpPr>
            <a:spLocks xmlns:a="http://schemas.openxmlformats.org/drawingml/2006/main" noGrp="1"/>
          </p:cNvSpPr>
          <p:nvPr/>
        </p:nvSpPr>
        <p:spPr>
          <a:xfrm xmlns:a="http://schemas.openxmlformats.org/drawingml/2006/main">
            <a:off x="8292389" y="4823460"/>
            <a:ext cx="173736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PLATFORM-LED</a:t>
            </a:r>
            <a:endParaRPr sz="820"/>
          </a:p>
        </p:txBody>
      </p:sp>
      <p:sp>
        <p:nvSpPr>
          <p:cNvPr id="34" name="Shape 32">
            <a:extLst xmlns:a="http://schemas.openxmlformats.org/drawingml/2006/main">
              <a:ext uri="{FF2B5EF4-FFF2-40B4-BE49-F238E27FC236}">
                <a16:creationId xmlns:a16="http://schemas.microsoft.com/office/drawing/2014/main" id="{B795FB15-4163-478E-8548-2906D641074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5" name="Text 33">
            <a:extLst xmlns:a="http://schemas.openxmlformats.org/drawingml/2006/main">
              <a:ext uri="{FF2B5EF4-FFF2-40B4-BE49-F238E27FC236}">
                <a16:creationId xmlns:a16="http://schemas.microsoft.com/office/drawing/2014/main" id="{AD41698F-6910-4FC0-9A90-46217C365DC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Publicly reported figures for each institution, retained with attribution · author's diagnosis</a:t>
            </a:r>
            <a:endParaRPr sz="850"/>
          </a:p>
        </p:txBody>
      </p:sp>
      <p:sp>
        <p:nvSpPr>
          <p:cNvPr id="36" name="Text 34">
            <a:extLst xmlns:a="http://schemas.openxmlformats.org/drawingml/2006/main">
              <a:ext uri="{FF2B5EF4-FFF2-40B4-BE49-F238E27FC236}">
                <a16:creationId xmlns:a16="http://schemas.microsoft.com/office/drawing/2014/main" id="{A6C208C0-77F2-46AD-80B9-ED2D8B49691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971382055"/>
      </p:ext>
    </p:extLst>
  </p:cSld>
</p:sld>
</file>

<file path=ppt/slides/slide25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E629A48-11DD-4696-ACE4-B33E6155DF1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WHY THE ENTRY POINT DOES NOT TRAVEL</a:t>
            </a:r>
            <a:endParaRPr sz="950"/>
          </a:p>
        </p:txBody>
      </p:sp>
      <p:sp>
        <p:nvSpPr>
          <p:cNvPr id="3" name="Text 1">
            <a:extLst xmlns:a="http://schemas.openxmlformats.org/drawingml/2006/main">
              <a:ext uri="{FF2B5EF4-FFF2-40B4-BE49-F238E27FC236}">
                <a16:creationId xmlns:a16="http://schemas.microsoft.com/office/drawing/2014/main" id="{38568493-EB26-4443-967C-6FDCEE6480C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Apply each bank's correct first phase to the other two and it fails immediately —</a:t>
            </a:r>
            <a:endParaRPr sz="1900"/>
          </a:p>
          <a:p xmlns:a="http://schemas.openxmlformats.org/drawingml/2006/main">
            <a:pPr marL="0" indent="0">
              <a:lnSpc>
                <a:spcPts val="2400"/>
              </a:lnSpc>
              <a:buNone/>
            </a:pPr>
            <a:r>
              <a:rPr sz="1900" b="1">
                <a:solidFill>
                  <a:srgbClr val="102A43"/>
                </a:solidFill>
                <a:latin typeface="Arial"/>
                <a:ea typeface="Arial"/>
                <a:cs typeface="Arial"/>
              </a:rPr>
              <a:t>six pairings, six different failure modes</a:t>
            </a:r>
            <a:endParaRPr sz="1900"/>
          </a:p>
        </p:txBody>
      </p:sp>
      <p:sp>
        <p:nvSpPr>
          <p:cNvPr id="4" name="Shape 2">
            <a:extLst xmlns:a="http://schemas.openxmlformats.org/drawingml/2006/main">
              <a:ext uri="{FF2B5EF4-FFF2-40B4-BE49-F238E27FC236}">
                <a16:creationId xmlns:a16="http://schemas.microsoft.com/office/drawing/2014/main" id="{EB04AB54-E480-48EF-AD0B-334A33CBB952}"/>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1C58049A-476E-4347-9FB0-C20D002C0EEB}"/>
              </a:ext>
            </a:extLst>
          </p:cNvPr>
          <p:cNvSpPr>
            <a:spLocks xmlns:a="http://schemas.openxmlformats.org/drawingml/2006/main" noGrp="1"/>
          </p:cNvSpPr>
          <p:nvPr/>
        </p:nvSpPr>
        <p:spPr>
          <a:xfrm xmlns:a="http://schemas.openxmlformats.org/drawingml/2006/main">
            <a:off x="676656" y="1444752"/>
            <a:ext cx="24323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Entry point</a:t>
            </a:r>
            <a:endParaRPr sz="920"/>
          </a:p>
        </p:txBody>
      </p:sp>
      <p:sp>
        <p:nvSpPr>
          <p:cNvPr id="6" name="Text 4">
            <a:extLst xmlns:a="http://schemas.openxmlformats.org/drawingml/2006/main">
              <a:ext uri="{FF2B5EF4-FFF2-40B4-BE49-F238E27FC236}">
                <a16:creationId xmlns:a16="http://schemas.microsoft.com/office/drawing/2014/main" id="{99363671-CADB-4638-8723-EEF6AC4B7C3B}"/>
              </a:ext>
            </a:extLst>
          </p:cNvPr>
          <p:cNvSpPr>
            <a:spLocks xmlns:a="http://schemas.openxmlformats.org/drawingml/2006/main" noGrp="1"/>
          </p:cNvSpPr>
          <p:nvPr/>
        </p:nvSpPr>
        <p:spPr>
          <a:xfrm xmlns:a="http://schemas.openxmlformats.org/drawingml/2006/main">
            <a:off x="3419856" y="1444752"/>
            <a:ext cx="24323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Correct for</a:t>
            </a:r>
            <a:endParaRPr sz="920"/>
          </a:p>
        </p:txBody>
      </p:sp>
      <p:sp>
        <p:nvSpPr>
          <p:cNvPr id="7" name="Text 5">
            <a:extLst xmlns:a="http://schemas.openxmlformats.org/drawingml/2006/main">
              <a:ext uri="{FF2B5EF4-FFF2-40B4-BE49-F238E27FC236}">
                <a16:creationId xmlns:a16="http://schemas.microsoft.com/office/drawing/2014/main" id="{038779F5-1CF1-4A2E-A9FC-808AA2C803AC}"/>
              </a:ext>
            </a:extLst>
          </p:cNvPr>
          <p:cNvSpPr>
            <a:spLocks xmlns:a="http://schemas.openxmlformats.org/drawingml/2006/main" noGrp="1"/>
          </p:cNvSpPr>
          <p:nvPr/>
        </p:nvSpPr>
        <p:spPr>
          <a:xfrm xmlns:a="http://schemas.openxmlformats.org/drawingml/2006/main">
            <a:off x="6163056" y="1444752"/>
            <a:ext cx="24323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Applied to</a:t>
            </a:r>
            <a:endParaRPr sz="920"/>
          </a:p>
        </p:txBody>
      </p:sp>
      <p:sp>
        <p:nvSpPr>
          <p:cNvPr id="8" name="Text 6">
            <a:extLst xmlns:a="http://schemas.openxmlformats.org/drawingml/2006/main">
              <a:ext uri="{FF2B5EF4-FFF2-40B4-BE49-F238E27FC236}">
                <a16:creationId xmlns:a16="http://schemas.microsoft.com/office/drawing/2014/main" id="{D0BD615A-9C73-4019-B1EA-ECC75C527548}"/>
              </a:ext>
            </a:extLst>
          </p:cNvPr>
          <p:cNvSpPr>
            <a:spLocks xmlns:a="http://schemas.openxmlformats.org/drawingml/2006/main" noGrp="1"/>
          </p:cNvSpPr>
          <p:nvPr/>
        </p:nvSpPr>
        <p:spPr>
          <a:xfrm xmlns:a="http://schemas.openxmlformats.org/drawingml/2006/main">
            <a:off x="8906256" y="1444752"/>
            <a:ext cx="26974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goes wrong</a:t>
            </a:r>
            <a:endParaRPr sz="920"/>
          </a:p>
        </p:txBody>
      </p:sp>
      <p:sp>
        <p:nvSpPr>
          <p:cNvPr id="9" name="Text 7">
            <a:extLst xmlns:a="http://schemas.openxmlformats.org/drawingml/2006/main">
              <a:ext uri="{FF2B5EF4-FFF2-40B4-BE49-F238E27FC236}">
                <a16:creationId xmlns:a16="http://schemas.microsoft.com/office/drawing/2014/main" id="{138861CB-2B82-455C-861A-682C034D6E30}"/>
              </a:ext>
            </a:extLst>
          </p:cNvPr>
          <p:cNvSpPr>
            <a:spLocks xmlns:a="http://schemas.openxmlformats.org/drawingml/2006/main" noGrp="1"/>
          </p:cNvSpPr>
          <p:nvPr/>
        </p:nvSpPr>
        <p:spPr>
          <a:xfrm xmlns:a="http://schemas.openxmlformats.org/drawingml/2006/main">
            <a:off x="676656" y="181051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Segment-led</a:t>
            </a:r>
            <a:endParaRPr sz="960"/>
          </a:p>
        </p:txBody>
      </p:sp>
      <p:sp>
        <p:nvSpPr>
          <p:cNvPr id="10" name="Text 8">
            <a:extLst xmlns:a="http://schemas.openxmlformats.org/drawingml/2006/main">
              <a:ext uri="{FF2B5EF4-FFF2-40B4-BE49-F238E27FC236}">
                <a16:creationId xmlns:a16="http://schemas.microsoft.com/office/drawing/2014/main" id="{6CFC473B-0860-4523-B516-4BB940784267}"/>
              </a:ext>
            </a:extLst>
          </p:cNvPr>
          <p:cNvSpPr>
            <a:spLocks xmlns:a="http://schemas.openxmlformats.org/drawingml/2006/main" noGrp="1"/>
          </p:cNvSpPr>
          <p:nvPr/>
        </p:nvSpPr>
        <p:spPr>
          <a:xfrm xmlns:a="http://schemas.openxmlformats.org/drawingml/2006/main">
            <a:off x="3419856" y="181051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27685A"/>
                </a:solidFill>
                <a:latin typeface="Arial"/>
                <a:ea typeface="Arial"/>
                <a:cs typeface="Arial"/>
              </a:rPr>
              <a:t>The branch-heavy universal group</a:t>
            </a:r>
            <a:endParaRPr sz="920"/>
          </a:p>
        </p:txBody>
      </p:sp>
      <p:sp>
        <p:nvSpPr>
          <p:cNvPr id="11" name="Text 9">
            <a:extLst xmlns:a="http://schemas.openxmlformats.org/drawingml/2006/main">
              <a:ext uri="{FF2B5EF4-FFF2-40B4-BE49-F238E27FC236}">
                <a16:creationId xmlns:a16="http://schemas.microsoft.com/office/drawing/2014/main" id="{950F619C-324E-4D30-9062-BA63CE27EF48}"/>
              </a:ext>
            </a:extLst>
          </p:cNvPr>
          <p:cNvSpPr>
            <a:spLocks xmlns:a="http://schemas.openxmlformats.org/drawingml/2006/main" noGrp="1"/>
          </p:cNvSpPr>
          <p:nvPr/>
        </p:nvSpPr>
        <p:spPr>
          <a:xfrm xmlns:a="http://schemas.openxmlformats.org/drawingml/2006/main">
            <a:off x="6163056" y="181051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digital-first bank</a:t>
            </a:r>
            <a:endParaRPr sz="920"/>
          </a:p>
        </p:txBody>
      </p:sp>
      <p:sp>
        <p:nvSpPr>
          <p:cNvPr id="12" name="Text 10">
            <a:extLst xmlns:a="http://schemas.openxmlformats.org/drawingml/2006/main">
              <a:ext uri="{FF2B5EF4-FFF2-40B4-BE49-F238E27FC236}">
                <a16:creationId xmlns:a16="http://schemas.microsoft.com/office/drawing/2014/main" id="{0FCC2284-FCEB-49B2-B77D-40FE73AD3C04}"/>
              </a:ext>
            </a:extLst>
          </p:cNvPr>
          <p:cNvSpPr>
            <a:spLocks xmlns:a="http://schemas.openxmlformats.org/drawingml/2006/main" noGrp="1"/>
          </p:cNvSpPr>
          <p:nvPr/>
        </p:nvSpPr>
        <p:spPr>
          <a:xfrm xmlns:a="http://schemas.openxmlformats.org/drawingml/2006/main">
            <a:off x="8906256" y="1810512"/>
            <a:ext cx="2697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Builds a relationship model for a channel carrying little volume</a:t>
            </a:r>
            <a:endParaRPr sz="920"/>
          </a:p>
        </p:txBody>
      </p:sp>
      <p:sp>
        <p:nvSpPr>
          <p:cNvPr id="13" name="Shape 11">
            <a:extLst xmlns:a="http://schemas.openxmlformats.org/drawingml/2006/main">
              <a:ext uri="{FF2B5EF4-FFF2-40B4-BE49-F238E27FC236}">
                <a16:creationId xmlns:a16="http://schemas.microsoft.com/office/drawing/2014/main" id="{2D167069-77B4-4E0E-8BC6-B1D26283B241}"/>
              </a:ext>
            </a:extLst>
          </p:cNvPr>
          <p:cNvSpPr>
            <a:spLocks xmlns:a="http://schemas.openxmlformats.org/drawingml/2006/main" noGrp="1"/>
          </p:cNvSpPr>
          <p:nvPr/>
        </p:nvSpPr>
        <p:spPr>
          <a:xfrm xmlns:a="http://schemas.openxmlformats.org/drawingml/2006/main">
            <a:off x="566928" y="2194560"/>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2DC2BC84-5B08-42F5-9F1B-9D42CCD0FCFB}"/>
              </a:ext>
            </a:extLst>
          </p:cNvPr>
          <p:cNvSpPr>
            <a:spLocks xmlns:a="http://schemas.openxmlformats.org/drawingml/2006/main" noGrp="1"/>
          </p:cNvSpPr>
          <p:nvPr/>
        </p:nvSpPr>
        <p:spPr>
          <a:xfrm xmlns:a="http://schemas.openxmlformats.org/drawingml/2006/main">
            <a:off x="566928" y="2194560"/>
            <a:ext cx="11057839" cy="493776"/>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B34C5F5E-E044-4F95-893B-4E3D7A4D85CF}"/>
              </a:ext>
            </a:extLst>
          </p:cNvPr>
          <p:cNvSpPr>
            <a:spLocks xmlns:a="http://schemas.openxmlformats.org/drawingml/2006/main" noGrp="1"/>
          </p:cNvSpPr>
          <p:nvPr/>
        </p:nvSpPr>
        <p:spPr>
          <a:xfrm xmlns:a="http://schemas.openxmlformats.org/drawingml/2006/main">
            <a:off x="676656" y="2304288"/>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Segment-led</a:t>
            </a:r>
            <a:endParaRPr sz="960"/>
          </a:p>
        </p:txBody>
      </p:sp>
      <p:sp>
        <p:nvSpPr>
          <p:cNvPr id="16" name="Text 14">
            <a:extLst xmlns:a="http://schemas.openxmlformats.org/drawingml/2006/main">
              <a:ext uri="{FF2B5EF4-FFF2-40B4-BE49-F238E27FC236}">
                <a16:creationId xmlns:a16="http://schemas.microsoft.com/office/drawing/2014/main" id="{C7DF89CA-126D-447B-A750-5EC0C91F2781}"/>
              </a:ext>
            </a:extLst>
          </p:cNvPr>
          <p:cNvSpPr>
            <a:spLocks xmlns:a="http://schemas.openxmlformats.org/drawingml/2006/main" noGrp="1"/>
          </p:cNvSpPr>
          <p:nvPr/>
        </p:nvSpPr>
        <p:spPr>
          <a:xfrm xmlns:a="http://schemas.openxmlformats.org/drawingml/2006/main">
            <a:off x="3419856" y="2304288"/>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27685A"/>
                </a:solidFill>
                <a:latin typeface="Arial"/>
                <a:ea typeface="Arial"/>
                <a:cs typeface="Arial"/>
              </a:rPr>
              <a:t>The branch-heavy universal group</a:t>
            </a:r>
            <a:endParaRPr sz="920"/>
          </a:p>
        </p:txBody>
      </p:sp>
      <p:sp>
        <p:nvSpPr>
          <p:cNvPr id="17" name="Text 15">
            <a:extLst xmlns:a="http://schemas.openxmlformats.org/drawingml/2006/main">
              <a:ext uri="{FF2B5EF4-FFF2-40B4-BE49-F238E27FC236}">
                <a16:creationId xmlns:a16="http://schemas.microsoft.com/office/drawing/2014/main" id="{FFFBCA37-8DB6-4696-BB19-FC43DD90414C}"/>
              </a:ext>
            </a:extLst>
          </p:cNvPr>
          <p:cNvSpPr>
            <a:spLocks xmlns:a="http://schemas.openxmlformats.org/drawingml/2006/main" noGrp="1"/>
          </p:cNvSpPr>
          <p:nvPr/>
        </p:nvSpPr>
        <p:spPr>
          <a:xfrm xmlns:a="http://schemas.openxmlformats.org/drawingml/2006/main">
            <a:off x="6163056" y="2304288"/>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fragmented estate</a:t>
            </a:r>
            <a:endParaRPr sz="920"/>
          </a:p>
        </p:txBody>
      </p:sp>
      <p:sp>
        <p:nvSpPr>
          <p:cNvPr id="18" name="Text 16">
            <a:extLst xmlns:a="http://schemas.openxmlformats.org/drawingml/2006/main">
              <a:ext uri="{FF2B5EF4-FFF2-40B4-BE49-F238E27FC236}">
                <a16:creationId xmlns:a16="http://schemas.microsoft.com/office/drawing/2014/main" id="{C190A9D4-EC9F-43C5-A322-DF750C89D6E6}"/>
              </a:ext>
            </a:extLst>
          </p:cNvPr>
          <p:cNvSpPr>
            <a:spLocks xmlns:a="http://schemas.openxmlformats.org/drawingml/2006/main" noGrp="1"/>
          </p:cNvSpPr>
          <p:nvPr/>
        </p:nvSpPr>
        <p:spPr>
          <a:xfrm xmlns:a="http://schemas.openxmlformats.org/drawingml/2006/main">
            <a:off x="8906256" y="2304288"/>
            <a:ext cx="2697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No single customer view to attach a segment model to</a:t>
            </a:r>
            <a:endParaRPr sz="920"/>
          </a:p>
        </p:txBody>
      </p:sp>
      <p:sp>
        <p:nvSpPr>
          <p:cNvPr id="19" name="Shape 17">
            <a:extLst xmlns:a="http://schemas.openxmlformats.org/drawingml/2006/main">
              <a:ext uri="{FF2B5EF4-FFF2-40B4-BE49-F238E27FC236}">
                <a16:creationId xmlns:a16="http://schemas.microsoft.com/office/drawing/2014/main" id="{FE931D28-7552-4E43-9E5D-B90A0453D8CE}"/>
              </a:ext>
            </a:extLst>
          </p:cNvPr>
          <p:cNvSpPr>
            <a:spLocks xmlns:a="http://schemas.openxmlformats.org/drawingml/2006/main" noGrp="1"/>
          </p:cNvSpPr>
          <p:nvPr/>
        </p:nvSpPr>
        <p:spPr>
          <a:xfrm xmlns:a="http://schemas.openxmlformats.org/drawingml/2006/main">
            <a:off x="566928" y="2688336"/>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2927D1E7-2B43-4456-B2A4-94D383CCCAD1}"/>
              </a:ext>
            </a:extLst>
          </p:cNvPr>
          <p:cNvSpPr>
            <a:spLocks xmlns:a="http://schemas.openxmlformats.org/drawingml/2006/main" noGrp="1"/>
          </p:cNvSpPr>
          <p:nvPr/>
        </p:nvSpPr>
        <p:spPr>
          <a:xfrm xmlns:a="http://schemas.openxmlformats.org/drawingml/2006/main">
            <a:off x="676656" y="2798064"/>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Channel-led</a:t>
            </a:r>
            <a:endParaRPr sz="960"/>
          </a:p>
        </p:txBody>
      </p:sp>
      <p:sp>
        <p:nvSpPr>
          <p:cNvPr id="21" name="Text 19">
            <a:extLst xmlns:a="http://schemas.openxmlformats.org/drawingml/2006/main">
              <a:ext uri="{FF2B5EF4-FFF2-40B4-BE49-F238E27FC236}">
                <a16:creationId xmlns:a16="http://schemas.microsoft.com/office/drawing/2014/main" id="{775107F7-4B47-4187-B586-6B8C907EB29A}"/>
              </a:ext>
            </a:extLst>
          </p:cNvPr>
          <p:cNvSpPr>
            <a:spLocks xmlns:a="http://schemas.openxmlformats.org/drawingml/2006/main" noGrp="1"/>
          </p:cNvSpPr>
          <p:nvPr/>
        </p:nvSpPr>
        <p:spPr>
          <a:xfrm xmlns:a="http://schemas.openxmlformats.org/drawingml/2006/main">
            <a:off x="3419856" y="2798064"/>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27685A"/>
                </a:solidFill>
                <a:latin typeface="Arial"/>
                <a:ea typeface="Arial"/>
                <a:cs typeface="Arial"/>
              </a:rPr>
              <a:t>The digital-first bank</a:t>
            </a:r>
            <a:endParaRPr sz="920"/>
          </a:p>
        </p:txBody>
      </p:sp>
      <p:sp>
        <p:nvSpPr>
          <p:cNvPr id="22" name="Text 20">
            <a:extLst xmlns:a="http://schemas.openxmlformats.org/drawingml/2006/main">
              <a:ext uri="{FF2B5EF4-FFF2-40B4-BE49-F238E27FC236}">
                <a16:creationId xmlns:a16="http://schemas.microsoft.com/office/drawing/2014/main" id="{A078194C-E032-4C4E-9617-21D84D465005}"/>
              </a:ext>
            </a:extLst>
          </p:cNvPr>
          <p:cNvSpPr>
            <a:spLocks xmlns:a="http://schemas.openxmlformats.org/drawingml/2006/main" noGrp="1"/>
          </p:cNvSpPr>
          <p:nvPr/>
        </p:nvSpPr>
        <p:spPr>
          <a:xfrm xmlns:a="http://schemas.openxmlformats.org/drawingml/2006/main">
            <a:off x="6163056" y="2798064"/>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universal group</a:t>
            </a:r>
            <a:endParaRPr sz="920"/>
          </a:p>
        </p:txBody>
      </p:sp>
      <p:sp>
        <p:nvSpPr>
          <p:cNvPr id="23" name="Text 21">
            <a:extLst xmlns:a="http://schemas.openxmlformats.org/drawingml/2006/main">
              <a:ext uri="{FF2B5EF4-FFF2-40B4-BE49-F238E27FC236}">
                <a16:creationId xmlns:a16="http://schemas.microsoft.com/office/drawing/2014/main" id="{89B4038D-8A12-4DE2-86D7-BE3C4B3F305B}"/>
              </a:ext>
            </a:extLst>
          </p:cNvPr>
          <p:cNvSpPr>
            <a:spLocks xmlns:a="http://schemas.openxmlformats.org/drawingml/2006/main" noGrp="1"/>
          </p:cNvSpPr>
          <p:nvPr/>
        </p:nvSpPr>
        <p:spPr>
          <a:xfrm xmlns:a="http://schemas.openxmlformats.org/drawingml/2006/main">
            <a:off x="8906256" y="2798064"/>
            <a:ext cx="2697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Solves a channel problem the branch network does not have</a:t>
            </a:r>
            <a:endParaRPr sz="920"/>
          </a:p>
        </p:txBody>
      </p:sp>
      <p:sp>
        <p:nvSpPr>
          <p:cNvPr id="24" name="Shape 22">
            <a:extLst xmlns:a="http://schemas.openxmlformats.org/drawingml/2006/main">
              <a:ext uri="{FF2B5EF4-FFF2-40B4-BE49-F238E27FC236}">
                <a16:creationId xmlns:a16="http://schemas.microsoft.com/office/drawing/2014/main" id="{1CD180BD-46FA-4E96-9A39-05FD3FF77EBC}"/>
              </a:ext>
            </a:extLst>
          </p:cNvPr>
          <p:cNvSpPr>
            <a:spLocks xmlns:a="http://schemas.openxmlformats.org/drawingml/2006/main" noGrp="1"/>
          </p:cNvSpPr>
          <p:nvPr/>
        </p:nvSpPr>
        <p:spPr>
          <a:xfrm xmlns:a="http://schemas.openxmlformats.org/drawingml/2006/main">
            <a:off x="566928" y="3182112"/>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93DFF1D1-3911-4044-8084-DF3A07746D89}"/>
              </a:ext>
            </a:extLst>
          </p:cNvPr>
          <p:cNvSpPr>
            <a:spLocks xmlns:a="http://schemas.openxmlformats.org/drawingml/2006/main" noGrp="1"/>
          </p:cNvSpPr>
          <p:nvPr/>
        </p:nvSpPr>
        <p:spPr>
          <a:xfrm xmlns:a="http://schemas.openxmlformats.org/drawingml/2006/main">
            <a:off x="566928" y="3182112"/>
            <a:ext cx="11057839" cy="493776"/>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7E13A27C-3024-459A-8CCB-FA24364CD05B}"/>
              </a:ext>
            </a:extLst>
          </p:cNvPr>
          <p:cNvSpPr>
            <a:spLocks xmlns:a="http://schemas.openxmlformats.org/drawingml/2006/main" noGrp="1"/>
          </p:cNvSpPr>
          <p:nvPr/>
        </p:nvSpPr>
        <p:spPr>
          <a:xfrm xmlns:a="http://schemas.openxmlformats.org/drawingml/2006/main">
            <a:off x="676656" y="3291840"/>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Channel-led</a:t>
            </a:r>
            <a:endParaRPr sz="960"/>
          </a:p>
        </p:txBody>
      </p:sp>
      <p:sp>
        <p:nvSpPr>
          <p:cNvPr id="27" name="Text 25">
            <a:extLst xmlns:a="http://schemas.openxmlformats.org/drawingml/2006/main">
              <a:ext uri="{FF2B5EF4-FFF2-40B4-BE49-F238E27FC236}">
                <a16:creationId xmlns:a16="http://schemas.microsoft.com/office/drawing/2014/main" id="{D5D2197F-37AD-44C9-9F84-78964803ACE7}"/>
              </a:ext>
            </a:extLst>
          </p:cNvPr>
          <p:cNvSpPr>
            <a:spLocks xmlns:a="http://schemas.openxmlformats.org/drawingml/2006/main" noGrp="1"/>
          </p:cNvSpPr>
          <p:nvPr/>
        </p:nvSpPr>
        <p:spPr>
          <a:xfrm xmlns:a="http://schemas.openxmlformats.org/drawingml/2006/main">
            <a:off x="3419856" y="3291840"/>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27685A"/>
                </a:solidFill>
                <a:latin typeface="Arial"/>
                <a:ea typeface="Arial"/>
                <a:cs typeface="Arial"/>
              </a:rPr>
              <a:t>The digital-first bank</a:t>
            </a:r>
            <a:endParaRPr sz="920"/>
          </a:p>
        </p:txBody>
      </p:sp>
      <p:sp>
        <p:nvSpPr>
          <p:cNvPr id="28" name="Text 26">
            <a:extLst xmlns:a="http://schemas.openxmlformats.org/drawingml/2006/main">
              <a:ext uri="{FF2B5EF4-FFF2-40B4-BE49-F238E27FC236}">
                <a16:creationId xmlns:a16="http://schemas.microsoft.com/office/drawing/2014/main" id="{2D9CB480-9E9E-409D-9370-6984B26228B2}"/>
              </a:ext>
            </a:extLst>
          </p:cNvPr>
          <p:cNvSpPr>
            <a:spLocks xmlns:a="http://schemas.openxmlformats.org/drawingml/2006/main" noGrp="1"/>
          </p:cNvSpPr>
          <p:nvPr/>
        </p:nvSpPr>
        <p:spPr>
          <a:xfrm xmlns:a="http://schemas.openxmlformats.org/drawingml/2006/main">
            <a:off x="6163056" y="3291840"/>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fragmented estate</a:t>
            </a:r>
            <a:endParaRPr sz="920"/>
          </a:p>
        </p:txBody>
      </p:sp>
      <p:sp>
        <p:nvSpPr>
          <p:cNvPr id="29" name="Text 27">
            <a:extLst xmlns:a="http://schemas.openxmlformats.org/drawingml/2006/main">
              <a:ext uri="{FF2B5EF4-FFF2-40B4-BE49-F238E27FC236}">
                <a16:creationId xmlns:a16="http://schemas.microsoft.com/office/drawing/2014/main" id="{163A43EA-4338-46A3-AC6A-ED2367EB9127}"/>
              </a:ext>
            </a:extLst>
          </p:cNvPr>
          <p:cNvSpPr>
            <a:spLocks xmlns:a="http://schemas.openxmlformats.org/drawingml/2006/main" noGrp="1"/>
          </p:cNvSpPr>
          <p:nvPr/>
        </p:nvSpPr>
        <p:spPr>
          <a:xfrm xmlns:a="http://schemas.openxmlformats.org/drawingml/2006/main">
            <a:off x="8906256" y="3291840"/>
            <a:ext cx="2697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A new channel over three customer records makes fragmentation visible to customers</a:t>
            </a:r>
            <a:endParaRPr sz="920"/>
          </a:p>
        </p:txBody>
      </p:sp>
      <p:sp>
        <p:nvSpPr>
          <p:cNvPr id="30" name="Shape 28">
            <a:extLst xmlns:a="http://schemas.openxmlformats.org/drawingml/2006/main">
              <a:ext uri="{FF2B5EF4-FFF2-40B4-BE49-F238E27FC236}">
                <a16:creationId xmlns:a16="http://schemas.microsoft.com/office/drawing/2014/main" id="{1BC886B9-8E64-458F-9842-BE32FF85B029}"/>
              </a:ext>
            </a:extLst>
          </p:cNvPr>
          <p:cNvSpPr>
            <a:spLocks xmlns:a="http://schemas.openxmlformats.org/drawingml/2006/main" noGrp="1"/>
          </p:cNvSpPr>
          <p:nvPr/>
        </p:nvSpPr>
        <p:spPr>
          <a:xfrm xmlns:a="http://schemas.openxmlformats.org/drawingml/2006/main">
            <a:off x="566928" y="3675888"/>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F7EE7617-A1FB-4800-AE25-7FC13C3BB650}"/>
              </a:ext>
            </a:extLst>
          </p:cNvPr>
          <p:cNvSpPr>
            <a:spLocks xmlns:a="http://schemas.openxmlformats.org/drawingml/2006/main" noGrp="1"/>
          </p:cNvSpPr>
          <p:nvPr/>
        </p:nvSpPr>
        <p:spPr>
          <a:xfrm xmlns:a="http://schemas.openxmlformats.org/drawingml/2006/main">
            <a:off x="676656" y="3785616"/>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Platform-led</a:t>
            </a:r>
            <a:endParaRPr sz="960"/>
          </a:p>
        </p:txBody>
      </p:sp>
      <p:sp>
        <p:nvSpPr>
          <p:cNvPr id="32" name="Text 30">
            <a:extLst xmlns:a="http://schemas.openxmlformats.org/drawingml/2006/main">
              <a:ext uri="{FF2B5EF4-FFF2-40B4-BE49-F238E27FC236}">
                <a16:creationId xmlns:a16="http://schemas.microsoft.com/office/drawing/2014/main" id="{FAC18568-E88F-4DD0-8F17-59BA6D361507}"/>
              </a:ext>
            </a:extLst>
          </p:cNvPr>
          <p:cNvSpPr>
            <a:spLocks xmlns:a="http://schemas.openxmlformats.org/drawingml/2006/main" noGrp="1"/>
          </p:cNvSpPr>
          <p:nvPr/>
        </p:nvSpPr>
        <p:spPr>
          <a:xfrm xmlns:a="http://schemas.openxmlformats.org/drawingml/2006/main">
            <a:off x="3419856" y="3785616"/>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27685A"/>
                </a:solidFill>
                <a:latin typeface="Arial"/>
                <a:ea typeface="Arial"/>
                <a:cs typeface="Arial"/>
              </a:rPr>
              <a:t>The fragmented estate</a:t>
            </a:r>
            <a:endParaRPr sz="920"/>
          </a:p>
        </p:txBody>
      </p:sp>
      <p:sp>
        <p:nvSpPr>
          <p:cNvPr id="33" name="Text 31">
            <a:extLst xmlns:a="http://schemas.openxmlformats.org/drawingml/2006/main">
              <a:ext uri="{FF2B5EF4-FFF2-40B4-BE49-F238E27FC236}">
                <a16:creationId xmlns:a16="http://schemas.microsoft.com/office/drawing/2014/main" id="{8D83EBC1-3960-4AF6-85A8-73CF31B90A22}"/>
              </a:ext>
            </a:extLst>
          </p:cNvPr>
          <p:cNvSpPr>
            <a:spLocks xmlns:a="http://schemas.openxmlformats.org/drawingml/2006/main" noGrp="1"/>
          </p:cNvSpPr>
          <p:nvPr/>
        </p:nvSpPr>
        <p:spPr>
          <a:xfrm xmlns:a="http://schemas.openxmlformats.org/drawingml/2006/main">
            <a:off x="6163056" y="3785616"/>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universal group</a:t>
            </a:r>
            <a:endParaRPr sz="920"/>
          </a:p>
        </p:txBody>
      </p:sp>
      <p:sp>
        <p:nvSpPr>
          <p:cNvPr id="34" name="Text 32">
            <a:extLst xmlns:a="http://schemas.openxmlformats.org/drawingml/2006/main">
              <a:ext uri="{FF2B5EF4-FFF2-40B4-BE49-F238E27FC236}">
                <a16:creationId xmlns:a16="http://schemas.microsoft.com/office/drawing/2014/main" id="{568DEDA1-93E3-46B6-8451-D5C68DAA448B}"/>
              </a:ext>
            </a:extLst>
          </p:cNvPr>
          <p:cNvSpPr>
            <a:spLocks xmlns:a="http://schemas.openxmlformats.org/drawingml/2006/main" noGrp="1"/>
          </p:cNvSpPr>
          <p:nvPr/>
        </p:nvSpPr>
        <p:spPr>
          <a:xfrm xmlns:a="http://schemas.openxmlformats.org/drawingml/2006/main">
            <a:off x="8906256" y="3785616"/>
            <a:ext cx="2697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Eighteen months of consolidation before any business outcome is visible</a:t>
            </a:r>
            <a:endParaRPr sz="920"/>
          </a:p>
        </p:txBody>
      </p:sp>
      <p:sp>
        <p:nvSpPr>
          <p:cNvPr id="35" name="Shape 33">
            <a:extLst xmlns:a="http://schemas.openxmlformats.org/drawingml/2006/main">
              <a:ext uri="{FF2B5EF4-FFF2-40B4-BE49-F238E27FC236}">
                <a16:creationId xmlns:a16="http://schemas.microsoft.com/office/drawing/2014/main" id="{F878FF8F-6A30-44E5-829A-D0FB9C26C48B}"/>
              </a:ext>
            </a:extLst>
          </p:cNvPr>
          <p:cNvSpPr>
            <a:spLocks xmlns:a="http://schemas.openxmlformats.org/drawingml/2006/main" noGrp="1"/>
          </p:cNvSpPr>
          <p:nvPr/>
        </p:nvSpPr>
        <p:spPr>
          <a:xfrm xmlns:a="http://schemas.openxmlformats.org/drawingml/2006/main">
            <a:off x="566928" y="416966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704CFCAE-032E-429A-86B7-F9586F1455BC}"/>
              </a:ext>
            </a:extLst>
          </p:cNvPr>
          <p:cNvSpPr>
            <a:spLocks xmlns:a="http://schemas.openxmlformats.org/drawingml/2006/main" noGrp="1"/>
          </p:cNvSpPr>
          <p:nvPr/>
        </p:nvSpPr>
        <p:spPr>
          <a:xfrm xmlns:a="http://schemas.openxmlformats.org/drawingml/2006/main">
            <a:off x="566928" y="4169664"/>
            <a:ext cx="11057839" cy="493776"/>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8D3C886F-CA04-4658-91EE-BC99DE65891B}"/>
              </a:ext>
            </a:extLst>
          </p:cNvPr>
          <p:cNvSpPr>
            <a:spLocks xmlns:a="http://schemas.openxmlformats.org/drawingml/2006/main" noGrp="1"/>
          </p:cNvSpPr>
          <p:nvPr/>
        </p:nvSpPr>
        <p:spPr>
          <a:xfrm xmlns:a="http://schemas.openxmlformats.org/drawingml/2006/main">
            <a:off x="676656" y="42793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Platform-led</a:t>
            </a:r>
            <a:endParaRPr sz="960"/>
          </a:p>
        </p:txBody>
      </p:sp>
      <p:sp>
        <p:nvSpPr>
          <p:cNvPr id="38" name="Text 36">
            <a:extLst xmlns:a="http://schemas.openxmlformats.org/drawingml/2006/main">
              <a:ext uri="{FF2B5EF4-FFF2-40B4-BE49-F238E27FC236}">
                <a16:creationId xmlns:a16="http://schemas.microsoft.com/office/drawing/2014/main" id="{EDB037E1-7B2E-4873-9AB7-C9EB2D80126E}"/>
              </a:ext>
            </a:extLst>
          </p:cNvPr>
          <p:cNvSpPr>
            <a:spLocks xmlns:a="http://schemas.openxmlformats.org/drawingml/2006/main" noGrp="1"/>
          </p:cNvSpPr>
          <p:nvPr/>
        </p:nvSpPr>
        <p:spPr>
          <a:xfrm xmlns:a="http://schemas.openxmlformats.org/drawingml/2006/main">
            <a:off x="3419856" y="42793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27685A"/>
                </a:solidFill>
                <a:latin typeface="Arial"/>
                <a:ea typeface="Arial"/>
                <a:cs typeface="Arial"/>
              </a:rPr>
              <a:t>The fragmented estate</a:t>
            </a:r>
            <a:endParaRPr sz="920"/>
          </a:p>
        </p:txBody>
      </p:sp>
      <p:sp>
        <p:nvSpPr>
          <p:cNvPr id="39" name="Text 37">
            <a:extLst xmlns:a="http://schemas.openxmlformats.org/drawingml/2006/main">
              <a:ext uri="{FF2B5EF4-FFF2-40B4-BE49-F238E27FC236}">
                <a16:creationId xmlns:a16="http://schemas.microsoft.com/office/drawing/2014/main" id="{04344C0D-3368-4D95-BD4F-3C77B193C217}"/>
              </a:ext>
            </a:extLst>
          </p:cNvPr>
          <p:cNvSpPr>
            <a:spLocks xmlns:a="http://schemas.openxmlformats.org/drawingml/2006/main" noGrp="1"/>
          </p:cNvSpPr>
          <p:nvPr/>
        </p:nvSpPr>
        <p:spPr>
          <a:xfrm xmlns:a="http://schemas.openxmlformats.org/drawingml/2006/main">
            <a:off x="6163056" y="4279392"/>
            <a:ext cx="24323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digital-first bank</a:t>
            </a:r>
            <a:endParaRPr sz="920"/>
          </a:p>
        </p:txBody>
      </p:sp>
      <p:sp>
        <p:nvSpPr>
          <p:cNvPr id="40" name="Text 38">
            <a:extLst xmlns:a="http://schemas.openxmlformats.org/drawingml/2006/main">
              <a:ext uri="{FF2B5EF4-FFF2-40B4-BE49-F238E27FC236}">
                <a16:creationId xmlns:a16="http://schemas.microsoft.com/office/drawing/2014/main" id="{7C885BAD-0EC8-4FA7-A199-A1E4333EC9D9}"/>
              </a:ext>
            </a:extLst>
          </p:cNvPr>
          <p:cNvSpPr>
            <a:spLocks xmlns:a="http://schemas.openxmlformats.org/drawingml/2006/main" noGrp="1"/>
          </p:cNvSpPr>
          <p:nvPr/>
        </p:nvSpPr>
        <p:spPr>
          <a:xfrm xmlns:a="http://schemas.openxmlformats.org/drawingml/2006/main">
            <a:off x="8906256" y="4279392"/>
            <a:ext cx="26974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B04A25"/>
                </a:solidFill>
                <a:latin typeface="Arial"/>
                <a:ea typeface="Arial"/>
                <a:cs typeface="Arial"/>
              </a:rPr>
              <a:t>Rebuilds a platform that is already coherent and already fast</a:t>
            </a:r>
            <a:endParaRPr sz="920"/>
          </a:p>
        </p:txBody>
      </p:sp>
      <p:sp>
        <p:nvSpPr>
          <p:cNvPr id="41" name="Shape 39">
            <a:extLst xmlns:a="http://schemas.openxmlformats.org/drawingml/2006/main">
              <a:ext uri="{FF2B5EF4-FFF2-40B4-BE49-F238E27FC236}">
                <a16:creationId xmlns:a16="http://schemas.microsoft.com/office/drawing/2014/main" id="{C98A84B3-5491-418B-981B-D8EB100C0228}"/>
              </a:ext>
            </a:extLst>
          </p:cNvPr>
          <p:cNvSpPr>
            <a:spLocks xmlns:a="http://schemas.openxmlformats.org/drawingml/2006/main" noGrp="1"/>
          </p:cNvSpPr>
          <p:nvPr/>
        </p:nvSpPr>
        <p:spPr>
          <a:xfrm xmlns:a="http://schemas.openxmlformats.org/drawingml/2006/main">
            <a:off x="566928" y="4663440"/>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F684E177-F255-4EE0-813D-517E13A5BB04}"/>
              </a:ext>
            </a:extLst>
          </p:cNvPr>
          <p:cNvSpPr>
            <a:spLocks xmlns:a="http://schemas.openxmlformats.org/drawingml/2006/main" noGrp="1"/>
          </p:cNvSpPr>
          <p:nvPr/>
        </p:nvSpPr>
        <p:spPr>
          <a:xfrm xmlns:a="http://schemas.openxmlformats.org/drawingml/2006/main">
            <a:off x="566928" y="482803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The diagnostic question</a:t>
            </a:r>
            <a:endParaRPr sz="1100"/>
          </a:p>
        </p:txBody>
      </p:sp>
      <p:sp>
        <p:nvSpPr>
          <p:cNvPr id="43" name="Shape 41">
            <a:extLst xmlns:a="http://schemas.openxmlformats.org/drawingml/2006/main">
              <a:ext uri="{FF2B5EF4-FFF2-40B4-BE49-F238E27FC236}">
                <a16:creationId xmlns:a16="http://schemas.microsoft.com/office/drawing/2014/main" id="{38D76D42-1F2B-4412-BD40-E6FA062C1DBF}"/>
              </a:ext>
            </a:extLst>
          </p:cNvPr>
          <p:cNvSpPr>
            <a:spLocks xmlns:a="http://schemas.openxmlformats.org/drawingml/2006/main" noGrp="1"/>
          </p:cNvSpPr>
          <p:nvPr/>
        </p:nvSpPr>
        <p:spPr>
          <a:xfrm xmlns:a="http://schemas.openxmlformats.org/drawingml/2006/main">
            <a:off x="566928" y="5084064"/>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7E057BB9-F03B-4EFF-AC93-CF279F32E926}"/>
              </a:ext>
            </a:extLst>
          </p:cNvPr>
          <p:cNvSpPr>
            <a:spLocks xmlns:a="http://schemas.openxmlformats.org/drawingml/2006/main" noGrp="1"/>
          </p:cNvSpPr>
          <p:nvPr/>
        </p:nvSpPr>
        <p:spPr>
          <a:xfrm xmlns:a="http://schemas.openxmlformats.org/drawingml/2006/main">
            <a:off x="566928" y="5212080"/>
            <a:ext cx="3551834"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What is the first thing that has to be true before anything else in this programme can work?</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A relationship model, knowing the customer, and one record respectively.</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Each answer is obvious once asked and almost never asked.</a:t>
            </a:r>
            <a:endParaRPr sz="910"/>
          </a:p>
        </p:txBody>
      </p:sp>
      <p:sp>
        <p:nvSpPr>
          <p:cNvPr id="45" name="Text 43">
            <a:extLst xmlns:a="http://schemas.openxmlformats.org/drawingml/2006/main">
              <a:ext uri="{FF2B5EF4-FFF2-40B4-BE49-F238E27FC236}">
                <a16:creationId xmlns:a16="http://schemas.microsoft.com/office/drawing/2014/main" id="{180A7D42-0E9D-43AD-BC58-E0096BBEBAC1}"/>
              </a:ext>
            </a:extLst>
          </p:cNvPr>
          <p:cNvSpPr>
            <a:spLocks xmlns:a="http://schemas.openxmlformats.org/drawingml/2006/main" noGrp="1"/>
          </p:cNvSpPr>
          <p:nvPr/>
        </p:nvSpPr>
        <p:spPr>
          <a:xfrm xmlns:a="http://schemas.openxmlformats.org/drawingml/2006/main">
            <a:off x="4319930" y="482803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Why the wrong answer is chosen</a:t>
            </a:r>
            <a:endParaRPr sz="1100"/>
          </a:p>
        </p:txBody>
      </p:sp>
      <p:sp>
        <p:nvSpPr>
          <p:cNvPr id="46" name="Shape 44">
            <a:extLst xmlns:a="http://schemas.openxmlformats.org/drawingml/2006/main">
              <a:ext uri="{FF2B5EF4-FFF2-40B4-BE49-F238E27FC236}">
                <a16:creationId xmlns:a16="http://schemas.microsoft.com/office/drawing/2014/main" id="{209D5B30-5AE3-4B71-B59D-3514511C00AA}"/>
              </a:ext>
            </a:extLst>
          </p:cNvPr>
          <p:cNvSpPr>
            <a:spLocks xmlns:a="http://schemas.openxmlformats.org/drawingml/2006/main" noGrp="1"/>
          </p:cNvSpPr>
          <p:nvPr/>
        </p:nvSpPr>
        <p:spPr>
          <a:xfrm xmlns:a="http://schemas.openxmlformats.org/drawingml/2006/main">
            <a:off x="4319930" y="5084064"/>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0011AD31-8357-4945-BE16-E937E7986EDD}"/>
              </a:ext>
            </a:extLst>
          </p:cNvPr>
          <p:cNvSpPr>
            <a:spLocks xmlns:a="http://schemas.openxmlformats.org/drawingml/2006/main" noGrp="1"/>
          </p:cNvSpPr>
          <p:nvPr/>
        </p:nvSpPr>
        <p:spPr>
          <a:xfrm xmlns:a="http://schemas.openxmlformats.org/drawingml/2006/main">
            <a:off x="4319930" y="5212080"/>
            <a:ext cx="3551834"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The last country's sequence is proven, planned and available — reusing it is the path of least resistance under delivery pressure.</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Vendors propose the sequence they can evidence, which is their reference one.</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Both pressures point the same way, which is why the error persists.</a:t>
            </a:r>
            <a:endParaRPr sz="910"/>
          </a:p>
        </p:txBody>
      </p:sp>
      <p:sp>
        <p:nvSpPr>
          <p:cNvPr id="48" name="Text 46">
            <a:extLst xmlns:a="http://schemas.openxmlformats.org/drawingml/2006/main">
              <a:ext uri="{FF2B5EF4-FFF2-40B4-BE49-F238E27FC236}">
                <a16:creationId xmlns:a16="http://schemas.microsoft.com/office/drawing/2014/main" id="{2031CE0B-5C38-4E2D-8F08-DC1112FFB557}"/>
              </a:ext>
            </a:extLst>
          </p:cNvPr>
          <p:cNvSpPr>
            <a:spLocks xmlns:a="http://schemas.openxmlformats.org/drawingml/2006/main" noGrp="1"/>
          </p:cNvSpPr>
          <p:nvPr/>
        </p:nvSpPr>
        <p:spPr>
          <a:xfrm xmlns:a="http://schemas.openxmlformats.org/drawingml/2006/main">
            <a:off x="8072933" y="4828032"/>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What actually travels</a:t>
            </a:r>
            <a:endParaRPr sz="1100"/>
          </a:p>
        </p:txBody>
      </p:sp>
      <p:sp>
        <p:nvSpPr>
          <p:cNvPr id="49" name="Shape 47">
            <a:extLst xmlns:a="http://schemas.openxmlformats.org/drawingml/2006/main">
              <a:ext uri="{FF2B5EF4-FFF2-40B4-BE49-F238E27FC236}">
                <a16:creationId xmlns:a16="http://schemas.microsoft.com/office/drawing/2014/main" id="{FAAD7482-40FC-4807-A7C3-8FC007848A24}"/>
              </a:ext>
            </a:extLst>
          </p:cNvPr>
          <p:cNvSpPr>
            <a:spLocks xmlns:a="http://schemas.openxmlformats.org/drawingml/2006/main" noGrp="1"/>
          </p:cNvSpPr>
          <p:nvPr/>
        </p:nvSpPr>
        <p:spPr>
          <a:xfrm xmlns:a="http://schemas.openxmlformats.org/drawingml/2006/main">
            <a:off x="8072933" y="5084064"/>
            <a:ext cx="3551834" cy="20117"/>
          </a:xfrm>
          <a:prstGeom xmlns:a="http://schemas.openxmlformats.org/drawingml/2006/main" prst="rect">
            <a:avLst/>
          </a:prstGeom>
          <a:solidFill xmlns:a="http://schemas.openxmlformats.org/drawingml/2006/main">
            <a:srgbClr val="27685A"/>
          </a:solidFill>
        </p:spPr>
      </p:sp>
      <p:sp>
        <p:nvSpPr>
          <p:cNvPr id="50" name="Text 48">
            <a:extLst xmlns:a="http://schemas.openxmlformats.org/drawingml/2006/main">
              <a:ext uri="{FF2B5EF4-FFF2-40B4-BE49-F238E27FC236}">
                <a16:creationId xmlns:a16="http://schemas.microsoft.com/office/drawing/2014/main" id="{3C9BB137-71ED-404E-AABD-2C7FE17F70F8}"/>
              </a:ext>
            </a:extLst>
          </p:cNvPr>
          <p:cNvSpPr>
            <a:spLocks xmlns:a="http://schemas.openxmlformats.org/drawingml/2006/main" noGrp="1"/>
          </p:cNvSpPr>
          <p:nvPr/>
        </p:nvSpPr>
        <p:spPr>
          <a:xfrm xmlns:a="http://schemas.openxmlformats.org/drawingml/2006/main">
            <a:off x="8072933" y="5212080"/>
            <a:ext cx="3551834"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The capability set, the data model and the delivery method all travel between countries.</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The sequence does not, and neither does the business case.</a:t>
            </a:r>
            <a:endParaRPr sz="910"/>
          </a:p>
          <a:p xmlns:a="http://schemas.openxmlformats.org/drawingml/2006/main">
            <a:pPr marL="152400" indent="-152400">
              <a:lnSpc>
                <a:spcPts val="1400"/>
              </a:lnSpc>
              <a:spcAft>
                <a:spcPts val="600"/>
              </a:spcAft>
              <a:buSzPct val="100000"/>
              <a:buChar char="•"/>
            </a:pPr>
            <a:r>
              <a:rPr sz="910">
                <a:solidFill>
                  <a:srgbClr val="1A1A1A"/>
                </a:solidFill>
                <a:latin typeface="Arial"/>
                <a:ea typeface="Arial"/>
                <a:cs typeface="Arial"/>
              </a:rPr>
              <a:t>Treating those two groups differently is the discipline.</a:t>
            </a:r>
            <a:endParaRPr sz="910"/>
          </a:p>
        </p:txBody>
      </p:sp>
      <p:sp>
        <p:nvSpPr>
          <p:cNvPr id="51" name="Shape 49">
            <a:extLst xmlns:a="http://schemas.openxmlformats.org/drawingml/2006/main">
              <a:ext uri="{FF2B5EF4-FFF2-40B4-BE49-F238E27FC236}">
                <a16:creationId xmlns:a16="http://schemas.microsoft.com/office/drawing/2014/main" id="{34E7C671-B739-42D8-800E-AABE81E8271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023D10A6-FB62-4F09-AE45-FBA42A1FDD3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comparative analysis</a:t>
            </a:r>
            <a:endParaRPr sz="850"/>
          </a:p>
        </p:txBody>
      </p:sp>
      <p:sp>
        <p:nvSpPr>
          <p:cNvPr id="53" name="Text 51">
            <a:extLst xmlns:a="http://schemas.openxmlformats.org/drawingml/2006/main">
              <a:ext uri="{FF2B5EF4-FFF2-40B4-BE49-F238E27FC236}">
                <a16:creationId xmlns:a16="http://schemas.microsoft.com/office/drawing/2014/main" id="{D17ED22A-9345-4F95-B7B4-08B629AB4480}"/>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872449127"/>
      </p:ext>
    </p:extLst>
  </p:cSld>
</p:sld>
</file>

<file path=ppt/slides/slide25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1378EA9-0C30-4CAB-932E-5651629B2C1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SEQUENCING BY ENTRY POINT</a:t>
            </a:r>
            <a:endParaRPr sz="950"/>
          </a:p>
        </p:txBody>
      </p:sp>
      <p:sp>
        <p:nvSpPr>
          <p:cNvPr id="3" name="Text 1">
            <a:extLst xmlns:a="http://schemas.openxmlformats.org/drawingml/2006/main">
              <a:ext uri="{FF2B5EF4-FFF2-40B4-BE49-F238E27FC236}">
                <a16:creationId xmlns:a16="http://schemas.microsoft.com/office/drawing/2014/main" id="{2CC792C2-C9A3-4DF7-85E0-90174EE9E06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Once the entry point is right, the sequence after it is largely predictable — each</a:t>
            </a:r>
            <a:endParaRPr sz="1900"/>
          </a:p>
          <a:p xmlns:a="http://schemas.openxmlformats.org/drawingml/2006/main">
            <a:pPr marL="0" indent="0">
              <a:lnSpc>
                <a:spcPts val="2400"/>
              </a:lnSpc>
              <a:buNone/>
            </a:pPr>
            <a:r>
              <a:rPr sz="1900" b="1">
                <a:solidFill>
                  <a:srgbClr val="102A43"/>
                </a:solidFill>
                <a:latin typeface="Arial"/>
                <a:ea typeface="Arial"/>
                <a:cs typeface="Arial"/>
              </a:rPr>
              <a:t>entry point has a natural second and third phase</a:t>
            </a:r>
            <a:endParaRPr sz="1900"/>
          </a:p>
        </p:txBody>
      </p:sp>
      <p:sp>
        <p:nvSpPr>
          <p:cNvPr id="4" name="Shape 2">
            <a:extLst xmlns:a="http://schemas.openxmlformats.org/drawingml/2006/main">
              <a:ext uri="{FF2B5EF4-FFF2-40B4-BE49-F238E27FC236}">
                <a16:creationId xmlns:a16="http://schemas.microsoft.com/office/drawing/2014/main" id="{F61F87C7-E7D8-4A5F-BFAA-98E0D4BA9535}"/>
              </a:ext>
            </a:extLst>
          </p:cNvPr>
          <p:cNvSpPr>
            <a:spLocks xmlns:a="http://schemas.openxmlformats.org/drawingml/2006/main" noGrp="1"/>
          </p:cNvSpPr>
          <p:nvPr/>
        </p:nvSpPr>
        <p:spPr>
          <a:xfrm xmlns:a="http://schemas.openxmlformats.org/drawingml/2006/main">
            <a:off x="566928" y="1335024"/>
            <a:ext cx="3551834" cy="32004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88A3FA72-CAC1-490C-90E5-68BBC54CF0DF}"/>
              </a:ext>
            </a:extLst>
          </p:cNvPr>
          <p:cNvSpPr>
            <a:spLocks xmlns:a="http://schemas.openxmlformats.org/drawingml/2006/main" noGrp="1"/>
          </p:cNvSpPr>
          <p:nvPr/>
        </p:nvSpPr>
        <p:spPr>
          <a:xfrm xmlns:a="http://schemas.openxmlformats.org/drawingml/2006/main">
            <a:off x="786384"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B04A25"/>
                </a:solidFill>
                <a:latin typeface="Arial"/>
                <a:ea typeface="Arial"/>
                <a:cs typeface="Arial"/>
              </a:rPr>
              <a:t>Segment-led</a:t>
            </a:r>
            <a:endParaRPr sz="1350"/>
          </a:p>
        </p:txBody>
      </p:sp>
      <p:sp>
        <p:nvSpPr>
          <p:cNvPr id="6" name="Text 4">
            <a:extLst xmlns:a="http://schemas.openxmlformats.org/drawingml/2006/main">
              <a:ext uri="{FF2B5EF4-FFF2-40B4-BE49-F238E27FC236}">
                <a16:creationId xmlns:a16="http://schemas.microsoft.com/office/drawing/2014/main" id="{B8EB1796-F002-4CD2-82F2-EC946EC79035}"/>
              </a:ext>
            </a:extLst>
          </p:cNvPr>
          <p:cNvSpPr>
            <a:spLocks xmlns:a="http://schemas.openxmlformats.org/drawingml/2006/main" noGrp="1"/>
          </p:cNvSpPr>
          <p:nvPr/>
        </p:nvSpPr>
        <p:spPr>
          <a:xfrm xmlns:a="http://schemas.openxmlformats.org/drawingml/2006/main">
            <a:off x="786384" y="1883664"/>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7" name="Text 5">
            <a:extLst xmlns:a="http://schemas.openxmlformats.org/drawingml/2006/main">
              <a:ext uri="{FF2B5EF4-FFF2-40B4-BE49-F238E27FC236}">
                <a16:creationId xmlns:a16="http://schemas.microsoft.com/office/drawing/2014/main" id="{1D54050F-7478-4817-A67E-9DAC031E61BB}"/>
              </a:ext>
            </a:extLst>
          </p:cNvPr>
          <p:cNvSpPr>
            <a:spLocks xmlns:a="http://schemas.openxmlformats.org/drawingml/2006/main" noGrp="1"/>
          </p:cNvSpPr>
          <p:nvPr/>
        </p:nvSpPr>
        <p:spPr>
          <a:xfrm xmlns:a="http://schemas.openxmlformats.org/drawingml/2006/main">
            <a:off x="1188720" y="1865376"/>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Relationship model and coverage for the underserved segment</a:t>
            </a:r>
            <a:endParaRPr sz="940"/>
          </a:p>
        </p:txBody>
      </p:sp>
      <p:sp>
        <p:nvSpPr>
          <p:cNvPr id="8" name="Text 6">
            <a:extLst xmlns:a="http://schemas.openxmlformats.org/drawingml/2006/main">
              <a:ext uri="{FF2B5EF4-FFF2-40B4-BE49-F238E27FC236}">
                <a16:creationId xmlns:a16="http://schemas.microsoft.com/office/drawing/2014/main" id="{E233C912-3604-4788-8C0F-1AC1741227E7}"/>
              </a:ext>
            </a:extLst>
          </p:cNvPr>
          <p:cNvSpPr>
            <a:spLocks xmlns:a="http://schemas.openxmlformats.org/drawingml/2006/main" noGrp="1"/>
          </p:cNvSpPr>
          <p:nvPr/>
        </p:nvSpPr>
        <p:spPr>
          <a:xfrm xmlns:a="http://schemas.openxmlformats.org/drawingml/2006/main">
            <a:off x="786384" y="2487168"/>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9" name="Text 7">
            <a:extLst xmlns:a="http://schemas.openxmlformats.org/drawingml/2006/main">
              <a:ext uri="{FF2B5EF4-FFF2-40B4-BE49-F238E27FC236}">
                <a16:creationId xmlns:a16="http://schemas.microsoft.com/office/drawing/2014/main" id="{DDEAC539-E6ED-4336-86EF-25F8F2E92E2C}"/>
              </a:ext>
            </a:extLst>
          </p:cNvPr>
          <p:cNvSpPr>
            <a:spLocks xmlns:a="http://schemas.openxmlformats.org/drawingml/2006/main" noGrp="1"/>
          </p:cNvSpPr>
          <p:nvPr/>
        </p:nvSpPr>
        <p:spPr>
          <a:xfrm xmlns:a="http://schemas.openxmlformats.org/drawingml/2006/main">
            <a:off x="1188720" y="2468880"/>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Sales and service workflow on top of it</a:t>
            </a:r>
            <a:endParaRPr sz="940"/>
          </a:p>
        </p:txBody>
      </p:sp>
      <p:sp>
        <p:nvSpPr>
          <p:cNvPr id="10" name="Text 8">
            <a:extLst xmlns:a="http://schemas.openxmlformats.org/drawingml/2006/main">
              <a:ext uri="{FF2B5EF4-FFF2-40B4-BE49-F238E27FC236}">
                <a16:creationId xmlns:a16="http://schemas.microsoft.com/office/drawing/2014/main" id="{3734C7AA-91B5-4162-8753-3BB26F99930B}"/>
              </a:ext>
            </a:extLst>
          </p:cNvPr>
          <p:cNvSpPr>
            <a:spLocks xmlns:a="http://schemas.openxmlformats.org/drawingml/2006/main" noGrp="1"/>
          </p:cNvSpPr>
          <p:nvPr/>
        </p:nvSpPr>
        <p:spPr>
          <a:xfrm xmlns:a="http://schemas.openxmlformats.org/drawingml/2006/main">
            <a:off x="786384" y="3090672"/>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11" name="Text 9">
            <a:extLst xmlns:a="http://schemas.openxmlformats.org/drawingml/2006/main">
              <a:ext uri="{FF2B5EF4-FFF2-40B4-BE49-F238E27FC236}">
                <a16:creationId xmlns:a16="http://schemas.microsoft.com/office/drawing/2014/main" id="{BBE45913-653F-4B90-9D2E-5D58BC6CC42F}"/>
              </a:ext>
            </a:extLst>
          </p:cNvPr>
          <p:cNvSpPr>
            <a:spLocks xmlns:a="http://schemas.openxmlformats.org/drawingml/2006/main" noGrp="1"/>
          </p:cNvSpPr>
          <p:nvPr/>
        </p:nvSpPr>
        <p:spPr>
          <a:xfrm xmlns:a="http://schemas.openxmlformats.org/drawingml/2006/main">
            <a:off x="1188720" y="3072384"/>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Analytics and prioritisation once there is a book to prioritise</a:t>
            </a:r>
            <a:endParaRPr sz="940"/>
          </a:p>
        </p:txBody>
      </p:sp>
      <p:sp>
        <p:nvSpPr>
          <p:cNvPr id="12" name="Shape 10">
            <a:extLst xmlns:a="http://schemas.openxmlformats.org/drawingml/2006/main">
              <a:ext uri="{FF2B5EF4-FFF2-40B4-BE49-F238E27FC236}">
                <a16:creationId xmlns:a16="http://schemas.microsoft.com/office/drawing/2014/main" id="{AB10C347-072C-4EF5-9053-6C549AB6498D}"/>
              </a:ext>
            </a:extLst>
          </p:cNvPr>
          <p:cNvSpPr>
            <a:spLocks xmlns:a="http://schemas.openxmlformats.org/drawingml/2006/main" noGrp="1"/>
          </p:cNvSpPr>
          <p:nvPr/>
        </p:nvSpPr>
        <p:spPr>
          <a:xfrm xmlns:a="http://schemas.openxmlformats.org/drawingml/2006/main">
            <a:off x="786384" y="3767328"/>
            <a:ext cx="3112922"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DBA5D5C7-C265-4A18-B330-ADCC60A1CD14}"/>
              </a:ext>
            </a:extLst>
          </p:cNvPr>
          <p:cNvSpPr>
            <a:spLocks xmlns:a="http://schemas.openxmlformats.org/drawingml/2006/main" noGrp="1"/>
          </p:cNvSpPr>
          <p:nvPr/>
        </p:nvSpPr>
        <p:spPr>
          <a:xfrm xmlns:a="http://schemas.openxmlformats.org/drawingml/2006/main">
            <a:off x="786384" y="3895344"/>
            <a:ext cx="3112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i="1">
                <a:solidFill>
                  <a:srgbClr val="B04A25"/>
                </a:solidFill>
                <a:latin typeface="Arial"/>
                <a:ea typeface="Arial"/>
                <a:cs typeface="Arial"/>
              </a:rPr>
              <a:t>Value is visible in one segment within a quarter, which funds the rest. The risk is the model being built for one segment and then forced onto others.</a:t>
            </a:r>
            <a:endParaRPr sz="930"/>
          </a:p>
        </p:txBody>
      </p:sp>
      <p:sp>
        <p:nvSpPr>
          <p:cNvPr id="14" name="Shape 12">
            <a:extLst xmlns:a="http://schemas.openxmlformats.org/drawingml/2006/main">
              <a:ext uri="{FF2B5EF4-FFF2-40B4-BE49-F238E27FC236}">
                <a16:creationId xmlns:a16="http://schemas.microsoft.com/office/drawing/2014/main" id="{2FF38FAE-ADA8-4A7E-BC92-70F6C6697FC3}"/>
              </a:ext>
            </a:extLst>
          </p:cNvPr>
          <p:cNvSpPr>
            <a:spLocks xmlns:a="http://schemas.openxmlformats.org/drawingml/2006/main" noGrp="1"/>
          </p:cNvSpPr>
          <p:nvPr/>
        </p:nvSpPr>
        <p:spPr>
          <a:xfrm xmlns:a="http://schemas.openxmlformats.org/drawingml/2006/main">
            <a:off x="4319930" y="1335024"/>
            <a:ext cx="3551834" cy="3200400"/>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37075CE8-7F32-48F7-9228-2E94C8BDDC28}"/>
              </a:ext>
            </a:extLst>
          </p:cNvPr>
          <p:cNvSpPr>
            <a:spLocks xmlns:a="http://schemas.openxmlformats.org/drawingml/2006/main" noGrp="1"/>
          </p:cNvSpPr>
          <p:nvPr/>
        </p:nvSpPr>
        <p:spPr>
          <a:xfrm xmlns:a="http://schemas.openxmlformats.org/drawingml/2006/main">
            <a:off x="4539386"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B04A25"/>
                </a:solidFill>
                <a:latin typeface="Arial"/>
                <a:ea typeface="Arial"/>
                <a:cs typeface="Arial"/>
              </a:rPr>
              <a:t>Channel-led</a:t>
            </a:r>
            <a:endParaRPr sz="1350"/>
          </a:p>
        </p:txBody>
      </p:sp>
      <p:sp>
        <p:nvSpPr>
          <p:cNvPr id="16" name="Text 14">
            <a:extLst xmlns:a="http://schemas.openxmlformats.org/drawingml/2006/main">
              <a:ext uri="{FF2B5EF4-FFF2-40B4-BE49-F238E27FC236}">
                <a16:creationId xmlns:a16="http://schemas.microsoft.com/office/drawing/2014/main" id="{A9839A65-02A8-47C7-8985-74220E468667}"/>
              </a:ext>
            </a:extLst>
          </p:cNvPr>
          <p:cNvSpPr>
            <a:spLocks xmlns:a="http://schemas.openxmlformats.org/drawingml/2006/main" noGrp="1"/>
          </p:cNvSpPr>
          <p:nvPr/>
        </p:nvSpPr>
        <p:spPr>
          <a:xfrm xmlns:a="http://schemas.openxmlformats.org/drawingml/2006/main">
            <a:off x="4539386" y="1883664"/>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17" name="Text 15">
            <a:extLst xmlns:a="http://schemas.openxmlformats.org/drawingml/2006/main">
              <a:ext uri="{FF2B5EF4-FFF2-40B4-BE49-F238E27FC236}">
                <a16:creationId xmlns:a16="http://schemas.microsoft.com/office/drawing/2014/main" id="{980F22EB-A382-479C-A1C0-AE41E75ECE6C}"/>
              </a:ext>
            </a:extLst>
          </p:cNvPr>
          <p:cNvSpPr>
            <a:spLocks xmlns:a="http://schemas.openxmlformats.org/drawingml/2006/main" noGrp="1"/>
          </p:cNvSpPr>
          <p:nvPr/>
        </p:nvSpPr>
        <p:spPr>
          <a:xfrm xmlns:a="http://schemas.openxmlformats.org/drawingml/2006/main">
            <a:off x="4941722" y="1865376"/>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Unify what is known about the customer across existing channels</a:t>
            </a:r>
            <a:endParaRPr sz="940"/>
          </a:p>
        </p:txBody>
      </p:sp>
      <p:sp>
        <p:nvSpPr>
          <p:cNvPr id="18" name="Text 16">
            <a:extLst xmlns:a="http://schemas.openxmlformats.org/drawingml/2006/main">
              <a:ext uri="{FF2B5EF4-FFF2-40B4-BE49-F238E27FC236}">
                <a16:creationId xmlns:a16="http://schemas.microsoft.com/office/drawing/2014/main" id="{83921209-BAA7-44C7-8B09-06239B460EBD}"/>
              </a:ext>
            </a:extLst>
          </p:cNvPr>
          <p:cNvSpPr>
            <a:spLocks xmlns:a="http://schemas.openxmlformats.org/drawingml/2006/main" noGrp="1"/>
          </p:cNvSpPr>
          <p:nvPr/>
        </p:nvSpPr>
        <p:spPr>
          <a:xfrm xmlns:a="http://schemas.openxmlformats.org/drawingml/2006/main">
            <a:off x="4539386" y="2487168"/>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19" name="Text 17">
            <a:extLst xmlns:a="http://schemas.openxmlformats.org/drawingml/2006/main">
              <a:ext uri="{FF2B5EF4-FFF2-40B4-BE49-F238E27FC236}">
                <a16:creationId xmlns:a16="http://schemas.microsoft.com/office/drawing/2014/main" id="{44100445-C01E-4492-86DE-9DB84B08E1A5}"/>
              </a:ext>
            </a:extLst>
          </p:cNvPr>
          <p:cNvSpPr>
            <a:spLocks xmlns:a="http://schemas.openxmlformats.org/drawingml/2006/main" noGrp="1"/>
          </p:cNvSpPr>
          <p:nvPr/>
        </p:nvSpPr>
        <p:spPr>
          <a:xfrm xmlns:a="http://schemas.openxmlformats.org/drawingml/2006/main">
            <a:off x="4941722" y="2468880"/>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Add the missing channel or the missing depth in an existing one</a:t>
            </a:r>
            <a:endParaRPr sz="940"/>
          </a:p>
        </p:txBody>
      </p:sp>
      <p:sp>
        <p:nvSpPr>
          <p:cNvPr id="20" name="Text 18">
            <a:extLst xmlns:a="http://schemas.openxmlformats.org/drawingml/2006/main">
              <a:ext uri="{FF2B5EF4-FFF2-40B4-BE49-F238E27FC236}">
                <a16:creationId xmlns:a16="http://schemas.microsoft.com/office/drawing/2014/main" id="{91F215CB-4A3E-4CE2-91E0-77A0F3397E04}"/>
              </a:ext>
            </a:extLst>
          </p:cNvPr>
          <p:cNvSpPr>
            <a:spLocks xmlns:a="http://schemas.openxmlformats.org/drawingml/2006/main" noGrp="1"/>
          </p:cNvSpPr>
          <p:nvPr/>
        </p:nvSpPr>
        <p:spPr>
          <a:xfrm xmlns:a="http://schemas.openxmlformats.org/drawingml/2006/main">
            <a:off x="4539386" y="3090672"/>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21" name="Text 19">
            <a:extLst xmlns:a="http://schemas.openxmlformats.org/drawingml/2006/main">
              <a:ext uri="{FF2B5EF4-FFF2-40B4-BE49-F238E27FC236}">
                <a16:creationId xmlns:a16="http://schemas.microsoft.com/office/drawing/2014/main" id="{CD69CEFB-BAC6-413C-80AC-48780CD531D1}"/>
              </a:ext>
            </a:extLst>
          </p:cNvPr>
          <p:cNvSpPr>
            <a:spLocks xmlns:a="http://schemas.openxmlformats.org/drawingml/2006/main" noGrp="1"/>
          </p:cNvSpPr>
          <p:nvPr/>
        </p:nvSpPr>
        <p:spPr>
          <a:xfrm xmlns:a="http://schemas.openxmlformats.org/drawingml/2006/main">
            <a:off x="4941722" y="3072384"/>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Intelligence, once the channel data is joined up</a:t>
            </a:r>
            <a:endParaRPr sz="940"/>
          </a:p>
        </p:txBody>
      </p:sp>
      <p:sp>
        <p:nvSpPr>
          <p:cNvPr id="22" name="Shape 20">
            <a:extLst xmlns:a="http://schemas.openxmlformats.org/drawingml/2006/main">
              <a:ext uri="{FF2B5EF4-FFF2-40B4-BE49-F238E27FC236}">
                <a16:creationId xmlns:a16="http://schemas.microsoft.com/office/drawing/2014/main" id="{02BAF2CA-B118-4F33-A064-8924AF5866FA}"/>
              </a:ext>
            </a:extLst>
          </p:cNvPr>
          <p:cNvSpPr>
            <a:spLocks xmlns:a="http://schemas.openxmlformats.org/drawingml/2006/main" noGrp="1"/>
          </p:cNvSpPr>
          <p:nvPr/>
        </p:nvSpPr>
        <p:spPr>
          <a:xfrm xmlns:a="http://schemas.openxmlformats.org/drawingml/2006/main">
            <a:off x="4539386" y="3767328"/>
            <a:ext cx="3112922"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B4EC50F3-DF75-4210-8CA8-4951E927B82C}"/>
              </a:ext>
            </a:extLst>
          </p:cNvPr>
          <p:cNvSpPr>
            <a:spLocks xmlns:a="http://schemas.openxmlformats.org/drawingml/2006/main" noGrp="1"/>
          </p:cNvSpPr>
          <p:nvPr/>
        </p:nvSpPr>
        <p:spPr>
          <a:xfrm xmlns:a="http://schemas.openxmlformats.org/drawingml/2006/main">
            <a:off x="4539386" y="3895344"/>
            <a:ext cx="3112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i="1">
                <a:solidFill>
                  <a:srgbClr val="B04A25"/>
                </a:solidFill>
                <a:latin typeface="Arial"/>
                <a:ea typeface="Arial"/>
                <a:cs typeface="Arial"/>
              </a:rPr>
              <a:t>Fast, visible and popular. The risk is building channel depth on a customer view that was never reconciled, which surfaces two years later.</a:t>
            </a:r>
            <a:endParaRPr sz="930"/>
          </a:p>
        </p:txBody>
      </p:sp>
      <p:sp>
        <p:nvSpPr>
          <p:cNvPr id="24" name="Shape 22">
            <a:extLst xmlns:a="http://schemas.openxmlformats.org/drawingml/2006/main">
              <a:ext uri="{FF2B5EF4-FFF2-40B4-BE49-F238E27FC236}">
                <a16:creationId xmlns:a16="http://schemas.microsoft.com/office/drawing/2014/main" id="{AFF11D6D-1D71-4BF7-B09E-7572F003A22E}"/>
              </a:ext>
            </a:extLst>
          </p:cNvPr>
          <p:cNvSpPr>
            <a:spLocks xmlns:a="http://schemas.openxmlformats.org/drawingml/2006/main" noGrp="1"/>
          </p:cNvSpPr>
          <p:nvPr/>
        </p:nvSpPr>
        <p:spPr>
          <a:xfrm xmlns:a="http://schemas.openxmlformats.org/drawingml/2006/main">
            <a:off x="8072933" y="1335024"/>
            <a:ext cx="3551834" cy="3200400"/>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5F22F3E1-B44E-461C-BADE-27872E63F3D5}"/>
              </a:ext>
            </a:extLst>
          </p:cNvPr>
          <p:cNvSpPr>
            <a:spLocks xmlns:a="http://schemas.openxmlformats.org/drawingml/2006/main" noGrp="1"/>
          </p:cNvSpPr>
          <p:nvPr/>
        </p:nvSpPr>
        <p:spPr>
          <a:xfrm xmlns:a="http://schemas.openxmlformats.org/drawingml/2006/main">
            <a:off x="8292389"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50" b="1">
                <a:solidFill>
                  <a:srgbClr val="486581"/>
                </a:solidFill>
                <a:latin typeface="Arial"/>
                <a:ea typeface="Arial"/>
                <a:cs typeface="Arial"/>
              </a:rPr>
              <a:t>Platform-led</a:t>
            </a:r>
            <a:endParaRPr sz="1350"/>
          </a:p>
        </p:txBody>
      </p:sp>
      <p:sp>
        <p:nvSpPr>
          <p:cNvPr id="26" name="Text 24">
            <a:extLst xmlns:a="http://schemas.openxmlformats.org/drawingml/2006/main">
              <a:ext uri="{FF2B5EF4-FFF2-40B4-BE49-F238E27FC236}">
                <a16:creationId xmlns:a16="http://schemas.microsoft.com/office/drawing/2014/main" id="{16BB7B4F-0E7E-4856-B4CB-27866B966424}"/>
              </a:ext>
            </a:extLst>
          </p:cNvPr>
          <p:cNvSpPr>
            <a:spLocks xmlns:a="http://schemas.openxmlformats.org/drawingml/2006/main" noGrp="1"/>
          </p:cNvSpPr>
          <p:nvPr/>
        </p:nvSpPr>
        <p:spPr>
          <a:xfrm xmlns:a="http://schemas.openxmlformats.org/drawingml/2006/main">
            <a:off x="8292389" y="1883664"/>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01</a:t>
            </a:r>
            <a:endParaRPr sz="840"/>
          </a:p>
        </p:txBody>
      </p:sp>
      <p:sp>
        <p:nvSpPr>
          <p:cNvPr id="27" name="Text 25">
            <a:extLst xmlns:a="http://schemas.openxmlformats.org/drawingml/2006/main">
              <a:ext uri="{FF2B5EF4-FFF2-40B4-BE49-F238E27FC236}">
                <a16:creationId xmlns:a16="http://schemas.microsoft.com/office/drawing/2014/main" id="{01230705-2930-46E9-8162-AD96BB35DBB0}"/>
              </a:ext>
            </a:extLst>
          </p:cNvPr>
          <p:cNvSpPr>
            <a:spLocks xmlns:a="http://schemas.openxmlformats.org/drawingml/2006/main" noGrp="1"/>
          </p:cNvSpPr>
          <p:nvPr/>
        </p:nvSpPr>
        <p:spPr>
          <a:xfrm xmlns:a="http://schemas.openxmlformats.org/drawingml/2006/main">
            <a:off x="8694725" y="1865376"/>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One customer record and one entitlement model</a:t>
            </a:r>
            <a:endParaRPr sz="940"/>
          </a:p>
        </p:txBody>
      </p:sp>
      <p:sp>
        <p:nvSpPr>
          <p:cNvPr id="28" name="Text 26">
            <a:extLst xmlns:a="http://schemas.openxmlformats.org/drawingml/2006/main">
              <a:ext uri="{FF2B5EF4-FFF2-40B4-BE49-F238E27FC236}">
                <a16:creationId xmlns:a16="http://schemas.microsoft.com/office/drawing/2014/main" id="{E6930566-564B-4CBC-AD3B-0521A5F975B3}"/>
              </a:ext>
            </a:extLst>
          </p:cNvPr>
          <p:cNvSpPr>
            <a:spLocks xmlns:a="http://schemas.openxmlformats.org/drawingml/2006/main" noGrp="1"/>
          </p:cNvSpPr>
          <p:nvPr/>
        </p:nvSpPr>
        <p:spPr>
          <a:xfrm xmlns:a="http://schemas.openxmlformats.org/drawingml/2006/main">
            <a:off x="8292389" y="2487168"/>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02</a:t>
            </a:r>
            <a:endParaRPr sz="840"/>
          </a:p>
        </p:txBody>
      </p:sp>
      <p:sp>
        <p:nvSpPr>
          <p:cNvPr id="29" name="Text 27">
            <a:extLst xmlns:a="http://schemas.openxmlformats.org/drawingml/2006/main">
              <a:ext uri="{FF2B5EF4-FFF2-40B4-BE49-F238E27FC236}">
                <a16:creationId xmlns:a16="http://schemas.microsoft.com/office/drawing/2014/main" id="{16419E13-AFDF-483F-8C15-716F72FA4668}"/>
              </a:ext>
            </a:extLst>
          </p:cNvPr>
          <p:cNvSpPr>
            <a:spLocks xmlns:a="http://schemas.openxmlformats.org/drawingml/2006/main" noGrp="1"/>
          </p:cNvSpPr>
          <p:nvPr/>
        </p:nvSpPr>
        <p:spPr>
          <a:xfrm xmlns:a="http://schemas.openxmlformats.org/drawingml/2006/main">
            <a:off x="8694725" y="2468880"/>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One high-value journey to prove it in production</a:t>
            </a:r>
            <a:endParaRPr sz="940"/>
          </a:p>
        </p:txBody>
      </p:sp>
      <p:sp>
        <p:nvSpPr>
          <p:cNvPr id="30" name="Text 28">
            <a:extLst xmlns:a="http://schemas.openxmlformats.org/drawingml/2006/main">
              <a:ext uri="{FF2B5EF4-FFF2-40B4-BE49-F238E27FC236}">
                <a16:creationId xmlns:a16="http://schemas.microsoft.com/office/drawing/2014/main" id="{A7C1DA1C-5304-420A-8C6E-D33279966812}"/>
              </a:ext>
            </a:extLst>
          </p:cNvPr>
          <p:cNvSpPr>
            <a:spLocks xmlns:a="http://schemas.openxmlformats.org/drawingml/2006/main" noGrp="1"/>
          </p:cNvSpPr>
          <p:nvPr/>
        </p:nvSpPr>
        <p:spPr>
          <a:xfrm xmlns:a="http://schemas.openxmlformats.org/drawingml/2006/main">
            <a:off x="8292389" y="3090672"/>
            <a:ext cx="36576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627D98"/>
                </a:solidFill>
                <a:latin typeface="Arial"/>
                <a:ea typeface="Arial"/>
                <a:cs typeface="Arial"/>
              </a:rPr>
              <a:t>03</a:t>
            </a:r>
            <a:endParaRPr sz="840"/>
          </a:p>
        </p:txBody>
      </p:sp>
      <p:sp>
        <p:nvSpPr>
          <p:cNvPr id="31" name="Text 29">
            <a:extLst xmlns:a="http://schemas.openxmlformats.org/drawingml/2006/main">
              <a:ext uri="{FF2B5EF4-FFF2-40B4-BE49-F238E27FC236}">
                <a16:creationId xmlns:a16="http://schemas.microsoft.com/office/drawing/2014/main" id="{6F89C92F-2D5E-4120-B590-DC36C9E85F21}"/>
              </a:ext>
            </a:extLst>
          </p:cNvPr>
          <p:cNvSpPr>
            <a:spLocks xmlns:a="http://schemas.openxmlformats.org/drawingml/2006/main" noGrp="1"/>
          </p:cNvSpPr>
          <p:nvPr/>
        </p:nvSpPr>
        <p:spPr>
          <a:xfrm xmlns:a="http://schemas.openxmlformats.org/drawingml/2006/main">
            <a:off x="8694725" y="3072384"/>
            <a:ext cx="2710586" cy="53035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Segment and channel work, now on a stable base</a:t>
            </a:r>
            <a:endParaRPr sz="940"/>
          </a:p>
        </p:txBody>
      </p:sp>
      <p:sp>
        <p:nvSpPr>
          <p:cNvPr id="32" name="Shape 30">
            <a:extLst xmlns:a="http://schemas.openxmlformats.org/drawingml/2006/main">
              <a:ext uri="{FF2B5EF4-FFF2-40B4-BE49-F238E27FC236}">
                <a16:creationId xmlns:a16="http://schemas.microsoft.com/office/drawing/2014/main" id="{E89BBD92-C824-4060-A60C-75EBF8569D9E}"/>
              </a:ext>
            </a:extLst>
          </p:cNvPr>
          <p:cNvSpPr>
            <a:spLocks xmlns:a="http://schemas.openxmlformats.org/drawingml/2006/main" noGrp="1"/>
          </p:cNvSpPr>
          <p:nvPr/>
        </p:nvSpPr>
        <p:spPr>
          <a:xfrm xmlns:a="http://schemas.openxmlformats.org/drawingml/2006/main">
            <a:off x="8292389" y="3767328"/>
            <a:ext cx="3112922" cy="13716"/>
          </a:xfrm>
          <a:prstGeom xmlns:a="http://schemas.openxmlformats.org/drawingml/2006/main" prst="rect">
            <a:avLst/>
          </a:prstGeom>
          <a:solidFill xmlns:a="http://schemas.openxmlformats.org/drawingml/2006/main">
            <a:srgbClr val="C6D2DE"/>
          </a:solidFill>
        </p:spPr>
      </p:sp>
      <p:sp>
        <p:nvSpPr>
          <p:cNvPr id="33" name="Text 31">
            <a:extLst xmlns:a="http://schemas.openxmlformats.org/drawingml/2006/main">
              <a:ext uri="{FF2B5EF4-FFF2-40B4-BE49-F238E27FC236}">
                <a16:creationId xmlns:a16="http://schemas.microsoft.com/office/drawing/2014/main" id="{12DAD93B-2DC7-4B0D-8ADD-241A3D4563C1}"/>
              </a:ext>
            </a:extLst>
          </p:cNvPr>
          <p:cNvSpPr>
            <a:spLocks xmlns:a="http://schemas.openxmlformats.org/drawingml/2006/main" noGrp="1"/>
          </p:cNvSpPr>
          <p:nvPr/>
        </p:nvSpPr>
        <p:spPr>
          <a:xfrm xmlns:a="http://schemas.openxmlformats.org/drawingml/2006/main">
            <a:off x="8292389" y="3895344"/>
            <a:ext cx="311292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30" i="1">
                <a:solidFill>
                  <a:srgbClr val="486581"/>
                </a:solidFill>
                <a:latin typeface="Arial"/>
                <a:ea typeface="Arial"/>
                <a:cs typeface="Arial"/>
              </a:rPr>
              <a:t>The slowest to first value and the only order that works on a fragmented estate. The risk is sponsors cancelling before phase two.</a:t>
            </a:r>
            <a:endParaRPr sz="930"/>
          </a:p>
        </p:txBody>
      </p:sp>
      <p:sp>
        <p:nvSpPr>
          <p:cNvPr id="34" name="Shape 32">
            <a:extLst xmlns:a="http://schemas.openxmlformats.org/drawingml/2006/main">
              <a:ext uri="{FF2B5EF4-FFF2-40B4-BE49-F238E27FC236}">
                <a16:creationId xmlns:a16="http://schemas.microsoft.com/office/drawing/2014/main" id="{7559FB59-4670-48B3-A3AE-C32CA1D3FBA1}"/>
              </a:ext>
            </a:extLst>
          </p:cNvPr>
          <p:cNvSpPr>
            <a:spLocks xmlns:a="http://schemas.openxmlformats.org/drawingml/2006/main" noGrp="1"/>
          </p:cNvSpPr>
          <p:nvPr/>
        </p:nvSpPr>
        <p:spPr>
          <a:xfrm xmlns:a="http://schemas.openxmlformats.org/drawingml/2006/main">
            <a:off x="566928" y="4791456"/>
            <a:ext cx="11057839" cy="1280160"/>
          </a:xfrm>
          <a:prstGeom xmlns:a="http://schemas.openxmlformats.org/drawingml/2006/main" prst="rect">
            <a:avLst/>
          </a:prstGeom>
          <a:solidFill xmlns:a="http://schemas.openxmlformats.org/drawingml/2006/main">
            <a:srgbClr val="F3E6E0"/>
          </a:solidFill>
        </p:spPr>
      </p:sp>
      <p:sp>
        <p:nvSpPr>
          <p:cNvPr id="35" name="Text 33">
            <a:extLst xmlns:a="http://schemas.openxmlformats.org/drawingml/2006/main">
              <a:ext uri="{FF2B5EF4-FFF2-40B4-BE49-F238E27FC236}">
                <a16:creationId xmlns:a16="http://schemas.microsoft.com/office/drawing/2014/main" id="{228DA861-ED9C-458F-ADC5-21DEDE001200}"/>
              </a:ext>
            </a:extLst>
          </p:cNvPr>
          <p:cNvSpPr>
            <a:spLocks xmlns:a="http://schemas.openxmlformats.org/drawingml/2006/main" noGrp="1"/>
          </p:cNvSpPr>
          <p:nvPr/>
        </p:nvSpPr>
        <p:spPr>
          <a:xfrm xmlns:a="http://schemas.openxmlformats.org/drawingml/2006/main">
            <a:off x="804672" y="493776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one rule that applies to all three</a:t>
            </a:r>
            <a:endParaRPr sz="1100"/>
          </a:p>
        </p:txBody>
      </p:sp>
      <p:sp>
        <p:nvSpPr>
          <p:cNvPr id="36" name="Text 34">
            <a:extLst xmlns:a="http://schemas.openxmlformats.org/drawingml/2006/main">
              <a:ext uri="{FF2B5EF4-FFF2-40B4-BE49-F238E27FC236}">
                <a16:creationId xmlns:a16="http://schemas.microsoft.com/office/drawing/2014/main" id="{9B8600A4-C764-4916-96B5-78E3BF69F560}"/>
              </a:ext>
            </a:extLst>
          </p:cNvPr>
          <p:cNvSpPr>
            <a:spLocks xmlns:a="http://schemas.openxmlformats.org/drawingml/2006/main" noGrp="1"/>
          </p:cNvSpPr>
          <p:nvPr/>
        </p:nvSpPr>
        <p:spPr>
          <a:xfrm xmlns:a="http://schemas.openxmlformats.org/drawingml/2006/main">
            <a:off x="804672" y="5193792"/>
            <a:ext cx="10582351"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Whichever entry point is chosen, the customer record has to be resolved before the third phase. Segment-led and channel-led both defer it, which is legitimate — but deferring is not the same as skipping, and both sequences fail at the same point if it never happens.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fragmented estate simply cannot defer it, which is why platform-led looks slower. It is not slower. It is the same work, done first because there is no alternative.</a:t>
            </a:r>
            <a:endParaRPr sz="990"/>
          </a:p>
        </p:txBody>
      </p:sp>
      <p:sp>
        <p:nvSpPr>
          <p:cNvPr id="37" name="Shape 35">
            <a:extLst xmlns:a="http://schemas.openxmlformats.org/drawingml/2006/main">
              <a:ext uri="{FF2B5EF4-FFF2-40B4-BE49-F238E27FC236}">
                <a16:creationId xmlns:a16="http://schemas.microsoft.com/office/drawing/2014/main" id="{57728354-7780-4DFB-A636-0B05C6BEF8B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8" name="Text 36">
            <a:extLst xmlns:a="http://schemas.openxmlformats.org/drawingml/2006/main">
              <a:ext uri="{FF2B5EF4-FFF2-40B4-BE49-F238E27FC236}">
                <a16:creationId xmlns:a16="http://schemas.microsoft.com/office/drawing/2014/main" id="{6BB05D7F-E03C-4611-B166-3886BD55237D}"/>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comparative analysis</a:t>
            </a:r>
            <a:endParaRPr sz="850"/>
          </a:p>
        </p:txBody>
      </p:sp>
      <p:sp>
        <p:nvSpPr>
          <p:cNvPr id="39" name="Text 37">
            <a:extLst xmlns:a="http://schemas.openxmlformats.org/drawingml/2006/main">
              <a:ext uri="{FF2B5EF4-FFF2-40B4-BE49-F238E27FC236}">
                <a16:creationId xmlns:a16="http://schemas.microsoft.com/office/drawing/2014/main" id="{D9EC015D-3C80-4B93-8292-B4A9E2BA1E9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779418863"/>
      </p:ext>
    </p:extLst>
  </p:cSld>
</p:sld>
</file>

<file path=ppt/slides/slide25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D47CFB5-6CC5-4FDD-B86D-B87886EF5C3A}"/>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A4A132B3-465A-453E-B5B6-F27EB45C154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a multi-country regional programme</a:t>
            </a:r>
            <a:endParaRPr sz="1900"/>
          </a:p>
        </p:txBody>
      </p:sp>
      <p:sp>
        <p:nvSpPr>
          <p:cNvPr id="4" name="Text 2">
            <a:extLst xmlns:a="http://schemas.openxmlformats.org/drawingml/2006/main">
              <a:ext uri="{FF2B5EF4-FFF2-40B4-BE49-F238E27FC236}">
                <a16:creationId xmlns:a16="http://schemas.microsoft.com/office/drawing/2014/main" id="{18738A6E-C4A6-4AC6-A111-E85455D1BC41}"/>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D66B8D7C-91EC-4A53-B76E-1BE0025801DB}"/>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Diagnose the binding constraint per market</a:t>
            </a:r>
            <a:endParaRPr sz="1200"/>
          </a:p>
        </p:txBody>
      </p:sp>
      <p:sp>
        <p:nvSpPr>
          <p:cNvPr id="6" name="Text 4">
            <a:extLst xmlns:a="http://schemas.openxmlformats.org/drawingml/2006/main">
              <a:ext uri="{FF2B5EF4-FFF2-40B4-BE49-F238E27FC236}">
                <a16:creationId xmlns:a16="http://schemas.microsoft.com/office/drawing/2014/main" id="{A75460DA-FAB3-4A95-AEAE-E95B74012E19}"/>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Ask what has to be true before anything else in this programme can work. The answer is obvious once asked, differs by market, and is almost never asked because the previous country's plan is already available.</a:t>
            </a:r>
            <a:endParaRPr sz="1000"/>
          </a:p>
        </p:txBody>
      </p:sp>
      <p:sp>
        <p:nvSpPr>
          <p:cNvPr id="7" name="Shape 5">
            <a:extLst xmlns:a="http://schemas.openxmlformats.org/drawingml/2006/main">
              <a:ext uri="{FF2B5EF4-FFF2-40B4-BE49-F238E27FC236}">
                <a16:creationId xmlns:a16="http://schemas.microsoft.com/office/drawing/2014/main" id="{73207486-A732-450F-AD30-652316907995}"/>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13BC552C-8BEB-4823-A6E9-A4F1BD1ECA1C}"/>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7CC23A10-6648-49FC-A23B-81AD44A3F271}"/>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Separate what travels from what does not</a:t>
            </a:r>
            <a:endParaRPr sz="1200"/>
          </a:p>
        </p:txBody>
      </p:sp>
      <p:sp>
        <p:nvSpPr>
          <p:cNvPr id="10" name="Text 8">
            <a:extLst xmlns:a="http://schemas.openxmlformats.org/drawingml/2006/main">
              <a:ext uri="{FF2B5EF4-FFF2-40B4-BE49-F238E27FC236}">
                <a16:creationId xmlns:a16="http://schemas.microsoft.com/office/drawing/2014/main" id="{7E52F38A-E2F4-4036-BA47-33165070158B}"/>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Capability set, data model and delivery method travel between countries. The entry point, the sequence and the business case do not. Treating those two groups differently is the discipline.</a:t>
            </a:r>
            <a:endParaRPr sz="1000"/>
          </a:p>
        </p:txBody>
      </p:sp>
      <p:sp>
        <p:nvSpPr>
          <p:cNvPr id="11" name="Shape 9">
            <a:extLst xmlns:a="http://schemas.openxmlformats.org/drawingml/2006/main">
              <a:ext uri="{FF2B5EF4-FFF2-40B4-BE49-F238E27FC236}">
                <a16:creationId xmlns:a16="http://schemas.microsoft.com/office/drawing/2014/main" id="{12376070-861E-4729-B5A6-28A962898F0B}"/>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004F3D1B-9EAC-46E2-9948-EDB1422B23BA}"/>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056340EF-B0CF-4981-B3E6-AB7FC9A21753}"/>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Resist the reference sequence</a:t>
            </a:r>
            <a:endParaRPr sz="1200"/>
          </a:p>
        </p:txBody>
      </p:sp>
      <p:sp>
        <p:nvSpPr>
          <p:cNvPr id="14" name="Text 12">
            <a:extLst xmlns:a="http://schemas.openxmlformats.org/drawingml/2006/main">
              <a:ext uri="{FF2B5EF4-FFF2-40B4-BE49-F238E27FC236}">
                <a16:creationId xmlns:a16="http://schemas.microsoft.com/office/drawing/2014/main" id="{74CA46A0-D523-48EE-8D69-05B69E7F5FDF}"/>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Vendors propose the order their reference deployment used because it is the one they can evidence, and regional teams reuse the last country's plan because it is fast. Both pressures point the same way and both are wrong.</a:t>
            </a:r>
            <a:endParaRPr sz="1000"/>
          </a:p>
        </p:txBody>
      </p:sp>
      <p:sp>
        <p:nvSpPr>
          <p:cNvPr id="15" name="Shape 13">
            <a:extLst xmlns:a="http://schemas.openxmlformats.org/drawingml/2006/main">
              <a:ext uri="{FF2B5EF4-FFF2-40B4-BE49-F238E27FC236}">
                <a16:creationId xmlns:a16="http://schemas.microsoft.com/office/drawing/2014/main" id="{2145AE42-E264-4565-822B-455E2A2A73D4}"/>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209FE522-86F1-4013-89F9-C5F406995605}"/>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17D739D5-3189-42E8-B7F1-0015799B5BEE}"/>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Resolve the customer record by phase three</a:t>
            </a:r>
            <a:endParaRPr sz="1200"/>
          </a:p>
        </p:txBody>
      </p:sp>
      <p:sp>
        <p:nvSpPr>
          <p:cNvPr id="18" name="Text 16">
            <a:extLst xmlns:a="http://schemas.openxmlformats.org/drawingml/2006/main">
              <a:ext uri="{FF2B5EF4-FFF2-40B4-BE49-F238E27FC236}">
                <a16:creationId xmlns:a16="http://schemas.microsoft.com/office/drawing/2014/main" id="{904F243F-30EE-4A08-AEA1-8FC22FB395A8}"/>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Segment-led and channel-led legitimately defer it; neither can skip it. Both sequences fail at the same point if the record is never reconciled — the only market that cannot defer is the one that looks slowest.</a:t>
            </a:r>
            <a:endParaRPr sz="1000"/>
          </a:p>
        </p:txBody>
      </p:sp>
      <p:sp>
        <p:nvSpPr>
          <p:cNvPr id="19" name="Shape 17">
            <a:extLst xmlns:a="http://schemas.openxmlformats.org/drawingml/2006/main">
              <a:ext uri="{FF2B5EF4-FFF2-40B4-BE49-F238E27FC236}">
                <a16:creationId xmlns:a16="http://schemas.microsoft.com/office/drawing/2014/main" id="{FC14C640-0149-43D5-999A-8970295790C3}"/>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10E22E65-0B69-4CA4-ABCC-14C2B1A6B643}"/>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Three banks, one region, one platform, three correct first moves — each of which would have failed at either of the other two. The capability travels; the entry point never does.</a:t>
            </a:r>
            <a:endParaRPr sz="1200"/>
          </a:p>
        </p:txBody>
      </p:sp>
      <p:sp>
        <p:nvSpPr>
          <p:cNvPr id="21" name="Shape 19">
            <a:extLst xmlns:a="http://schemas.openxmlformats.org/drawingml/2006/main">
              <a:ext uri="{FF2B5EF4-FFF2-40B4-BE49-F238E27FC236}">
                <a16:creationId xmlns:a16="http://schemas.microsoft.com/office/drawing/2014/main" id="{970B7E03-4B63-41A1-9FF7-3D4E3B6454E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19BEAD90-3166-4EAC-A39F-B9B55B4C9AE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comparative analysis</a:t>
            </a:r>
            <a:endParaRPr sz="850"/>
          </a:p>
        </p:txBody>
      </p:sp>
      <p:sp>
        <p:nvSpPr>
          <p:cNvPr id="23" name="Text 21">
            <a:extLst xmlns:a="http://schemas.openxmlformats.org/drawingml/2006/main">
              <a:ext uri="{FF2B5EF4-FFF2-40B4-BE49-F238E27FC236}">
                <a16:creationId xmlns:a16="http://schemas.microsoft.com/office/drawing/2014/main" id="{4085D5EC-163A-4F11-9CF4-228609F76D2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979623926"/>
      </p:ext>
    </p:extLst>
  </p:cSld>
</p:sld>
</file>

<file path=ppt/slides/slide260.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78BA86D-EE9A-47F9-B852-BF5E59E2D688}"/>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PRODUCTISATION CASE  ·  25 OF 30</a:t>
            </a:r>
            <a:endParaRPr sz="950"/>
          </a:p>
        </p:txBody>
      </p:sp>
      <p:sp>
        <p:nvSpPr>
          <p:cNvPr id="3" name="Text 1">
            <a:extLst xmlns:a="http://schemas.openxmlformats.org/drawingml/2006/main">
              <a:ext uri="{FF2B5EF4-FFF2-40B4-BE49-F238E27FC236}">
                <a16:creationId xmlns:a16="http://schemas.microsoft.com/office/drawing/2014/main" id="{B25E5D7D-EEBC-456C-A893-43E277606029}"/>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US Credit Unions &amp; Community Banks</a:t>
            </a:r>
            <a:endParaRPr sz="3800"/>
          </a:p>
        </p:txBody>
      </p:sp>
      <p:sp>
        <p:nvSpPr>
          <p:cNvPr id="4" name="Text 2">
            <a:extLst xmlns:a="http://schemas.openxmlformats.org/drawingml/2006/main">
              <a:ext uri="{FF2B5EF4-FFF2-40B4-BE49-F238E27FC236}">
                <a16:creationId xmlns:a16="http://schemas.microsoft.com/office/drawing/2014/main" id="{09C38474-684A-4CF3-AB64-A85857E21CF6}"/>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The deployment factory — productising CRM transformation for twelve institutions</a:t>
            </a:r>
            <a:endParaRPr sz="1800"/>
          </a:p>
        </p:txBody>
      </p:sp>
      <p:sp>
        <p:nvSpPr>
          <p:cNvPr id="5" name="Text 3">
            <a:extLst xmlns:a="http://schemas.openxmlformats.org/drawingml/2006/main">
              <a:ext uri="{FF2B5EF4-FFF2-40B4-BE49-F238E27FC236}">
                <a16:creationId xmlns:a16="http://schemas.microsoft.com/office/drawing/2014/main" id="{E65AECFA-E74A-4960-9A1D-05E88FD14F9E}"/>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Twelve community financial institutions, one delivery team, six years. Each one wanted a tailored implementation and each one had roughly the same underlying problem — which is only exploitable if someone builds the factory before the third client arrives.</a:t>
            </a:r>
            <a:endParaRPr sz="1150"/>
          </a:p>
        </p:txBody>
      </p:sp>
      <p:sp>
        <p:nvSpPr>
          <p:cNvPr id="6" name="Shape 4">
            <a:extLst xmlns:a="http://schemas.openxmlformats.org/drawingml/2006/main">
              <a:ext uri="{FF2B5EF4-FFF2-40B4-BE49-F238E27FC236}">
                <a16:creationId xmlns:a16="http://schemas.microsoft.com/office/drawing/2014/main" id="{62A100BA-78A4-4FB7-A4A7-954A9AE82753}"/>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0A684D66-63B5-4061-A267-F66B70DBF502}"/>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12</a:t>
            </a:r>
            <a:endParaRPr sz="2600"/>
          </a:p>
        </p:txBody>
      </p:sp>
      <p:sp>
        <p:nvSpPr>
          <p:cNvPr id="8" name="Text 6">
            <a:extLst xmlns:a="http://schemas.openxmlformats.org/drawingml/2006/main">
              <a:ext uri="{FF2B5EF4-FFF2-40B4-BE49-F238E27FC236}">
                <a16:creationId xmlns:a16="http://schemas.microsoft.com/office/drawing/2014/main" id="{FEE96B7B-B324-4E16-AAF7-1F5D9B80B055}"/>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institutions</a:t>
            </a:r>
            <a:endParaRPr sz="900"/>
          </a:p>
          <a:p xmlns:a="http://schemas.openxmlformats.org/drawingml/2006/main">
            <a:pPr marL="0" indent="0">
              <a:lnSpc>
                <a:spcPts val="1100"/>
              </a:lnSpc>
              <a:buNone/>
            </a:pPr>
            <a:r>
              <a:rPr sz="900">
                <a:solidFill>
                  <a:srgbClr val="8FA9C4"/>
                </a:solidFill>
                <a:latin typeface="Arial"/>
                <a:ea typeface="Arial"/>
                <a:cs typeface="Arial"/>
              </a:rPr>
              <a:t>delivered</a:t>
            </a:r>
            <a:endParaRPr sz="900"/>
          </a:p>
        </p:txBody>
      </p:sp>
      <p:sp>
        <p:nvSpPr>
          <p:cNvPr id="9" name="Text 7">
            <a:extLst xmlns:a="http://schemas.openxmlformats.org/drawingml/2006/main">
              <a:ext uri="{FF2B5EF4-FFF2-40B4-BE49-F238E27FC236}">
                <a16:creationId xmlns:a16="http://schemas.microsoft.com/office/drawing/2014/main" id="{79871D19-C24F-434E-B2B7-14B217661EF1}"/>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10" name="Text 8">
            <a:extLst xmlns:a="http://schemas.openxmlformats.org/drawingml/2006/main">
              <a:ext uri="{FF2B5EF4-FFF2-40B4-BE49-F238E27FC236}">
                <a16:creationId xmlns:a16="http://schemas.microsoft.com/office/drawing/2014/main" id="{4A9570F8-9D43-41C5-9E63-DB1CFEA63525}"/>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years, one</a:t>
            </a:r>
            <a:endParaRPr sz="900"/>
          </a:p>
          <a:p xmlns:a="http://schemas.openxmlformats.org/drawingml/2006/main">
            <a:pPr marL="0" indent="0">
              <a:lnSpc>
                <a:spcPts val="1100"/>
              </a:lnSpc>
              <a:buNone/>
            </a:pPr>
            <a:r>
              <a:rPr sz="900">
                <a:solidFill>
                  <a:srgbClr val="8FA9C4"/>
                </a:solidFill>
                <a:latin typeface="Arial"/>
                <a:ea typeface="Arial"/>
                <a:cs typeface="Arial"/>
              </a:rPr>
              <a:t>owning team</a:t>
            </a:r>
            <a:endParaRPr sz="900"/>
          </a:p>
        </p:txBody>
      </p:sp>
      <p:sp>
        <p:nvSpPr>
          <p:cNvPr id="11" name="Text 9">
            <a:extLst xmlns:a="http://schemas.openxmlformats.org/drawingml/2006/main">
              <a:ext uri="{FF2B5EF4-FFF2-40B4-BE49-F238E27FC236}">
                <a16:creationId xmlns:a16="http://schemas.microsoft.com/office/drawing/2014/main" id="{30A97650-7A25-4A61-B19C-BC220244FB54}"/>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2.8×</a:t>
            </a:r>
            <a:endParaRPr sz="2600"/>
          </a:p>
        </p:txBody>
      </p:sp>
      <p:sp>
        <p:nvSpPr>
          <p:cNvPr id="12" name="Text 10">
            <a:extLst xmlns:a="http://schemas.openxmlformats.org/drawingml/2006/main">
              <a:ext uri="{FF2B5EF4-FFF2-40B4-BE49-F238E27FC236}">
                <a16:creationId xmlns:a16="http://schemas.microsoft.com/office/drawing/2014/main" id="{7813C35F-360D-4CCF-9195-60752D723D32}"/>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portfolio revenue</a:t>
            </a:r>
            <a:endParaRPr sz="900"/>
          </a:p>
          <a:p xmlns:a="http://schemas.openxmlformats.org/drawingml/2006/main">
            <a:pPr marL="0" indent="0">
              <a:lnSpc>
                <a:spcPts val="1100"/>
              </a:lnSpc>
              <a:buNone/>
            </a:pPr>
            <a:r>
              <a:rPr sz="900">
                <a:solidFill>
                  <a:srgbClr val="8FA9C4"/>
                </a:solidFill>
                <a:latin typeface="Arial"/>
                <a:ea typeface="Arial"/>
                <a:cs typeface="Arial"/>
              </a:rPr>
              <a:t>growth, FY22–FY26</a:t>
            </a:r>
            <a:endParaRPr sz="900"/>
          </a:p>
        </p:txBody>
      </p:sp>
      <p:sp>
        <p:nvSpPr>
          <p:cNvPr id="13" name="Text 11">
            <a:extLst xmlns:a="http://schemas.openxmlformats.org/drawingml/2006/main">
              <a:ext uri="{FF2B5EF4-FFF2-40B4-BE49-F238E27FC236}">
                <a16:creationId xmlns:a16="http://schemas.microsoft.com/office/drawing/2014/main" id="{4589EE5C-65BC-4DD7-9243-0EB416CD0575}"/>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4" name="Text 12">
            <a:extLst xmlns:a="http://schemas.openxmlformats.org/drawingml/2006/main">
              <a:ext uri="{FF2B5EF4-FFF2-40B4-BE49-F238E27FC236}">
                <a16:creationId xmlns:a16="http://schemas.microsoft.com/office/drawing/2014/main" id="{DAB382FD-8087-4E2F-BFD4-E94EC40A4E88}"/>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live recurring</a:t>
            </a:r>
            <a:endParaRPr sz="900"/>
          </a:p>
          <a:p xmlns:a="http://schemas.openxmlformats.org/drawingml/2006/main">
            <a:pPr marL="0" indent="0">
              <a:lnSpc>
                <a:spcPts val="1100"/>
              </a:lnSpc>
              <a:buNone/>
            </a:pPr>
            <a:r>
              <a:rPr sz="900">
                <a:solidFill>
                  <a:srgbClr val="8FA9C4"/>
                </a:solidFill>
                <a:latin typeface="Arial"/>
                <a:ea typeface="Arial"/>
                <a:cs typeface="Arial"/>
              </a:rPr>
              <a:t>revenue growth</a:t>
            </a:r>
            <a:endParaRPr sz="900"/>
          </a:p>
        </p:txBody>
      </p:sp>
      <p:sp>
        <p:nvSpPr>
          <p:cNvPr id="15" name="Text 13">
            <a:extLst xmlns:a="http://schemas.openxmlformats.org/drawingml/2006/main">
              <a:ext uri="{FF2B5EF4-FFF2-40B4-BE49-F238E27FC236}">
                <a16:creationId xmlns:a16="http://schemas.microsoft.com/office/drawing/2014/main" id="{DF730051-C646-4E51-AF26-7CE4AD4F432B}"/>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D9944BEB-B763-42DF-93EB-1F6E2D0DA77B}"/>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reusable</a:t>
            </a:r>
            <a:endParaRPr sz="900"/>
          </a:p>
          <a:p xmlns:a="http://schemas.openxmlformats.org/drawingml/2006/main">
            <a:pPr marL="0" indent="0">
              <a:lnSpc>
                <a:spcPts val="1100"/>
              </a:lnSpc>
              <a:buNone/>
            </a:pPr>
            <a:r>
              <a:rPr sz="900">
                <a:solidFill>
                  <a:srgbClr val="8FA9C4"/>
                </a:solidFill>
                <a:latin typeface="Arial"/>
                <a:ea typeface="Arial"/>
                <a:cs typeface="Arial"/>
              </a:rPr>
              <a:t>platform</a:t>
            </a:r>
            <a:endParaRPr sz="900"/>
          </a:p>
        </p:txBody>
      </p:sp>
      <p:sp>
        <p:nvSpPr>
          <p:cNvPr id="17" name="Text 15">
            <a:extLst xmlns:a="http://schemas.openxmlformats.org/drawingml/2006/main">
              <a:ext uri="{FF2B5EF4-FFF2-40B4-BE49-F238E27FC236}">
                <a16:creationId xmlns:a16="http://schemas.microsoft.com/office/drawing/2014/main" id="{20B9F2B3-07AB-4A28-A496-C6A40B21BBC9}"/>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8" name="Text 16">
            <a:extLst xmlns:a="http://schemas.openxmlformats.org/drawingml/2006/main">
              <a:ext uri="{FF2B5EF4-FFF2-40B4-BE49-F238E27FC236}">
                <a16:creationId xmlns:a16="http://schemas.microsoft.com/office/drawing/2014/main" id="{04018D33-A322-49C9-A31D-355C1A9131E7}"/>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things that stayed</a:t>
            </a:r>
            <a:endParaRPr sz="900"/>
          </a:p>
          <a:p xmlns:a="http://schemas.openxmlformats.org/drawingml/2006/main">
            <a:pPr marL="0" indent="0">
              <a:lnSpc>
                <a:spcPts val="1100"/>
              </a:lnSpc>
              <a:buNone/>
            </a:pPr>
            <a:r>
              <a:rPr sz="900">
                <a:solidFill>
                  <a:srgbClr val="8FA9C4"/>
                </a:solidFill>
                <a:latin typeface="Arial"/>
                <a:ea typeface="Arial"/>
                <a:cs typeface="Arial"/>
              </a:rPr>
              <a:t>bespoke</a:t>
            </a:r>
            <a:endParaRPr sz="900"/>
          </a:p>
        </p:txBody>
      </p:sp>
      <p:sp>
        <p:nvSpPr>
          <p:cNvPr id="19" name="Shape 17">
            <a:extLst xmlns:a="http://schemas.openxmlformats.org/drawingml/2006/main">
              <a:ext uri="{FF2B5EF4-FFF2-40B4-BE49-F238E27FC236}">
                <a16:creationId xmlns:a16="http://schemas.microsoft.com/office/drawing/2014/main" id="{B753870D-BDD2-448E-8ED2-0C7B067CBA91}"/>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2533D790-D99D-4DB4-A386-4B18A041FD9E}"/>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PORTFOLIO CONTEXT  ·  US CREDIT UNIONS AND COMMUNITY BANKS</a:t>
            </a:r>
            <a:endParaRPr sz="800"/>
          </a:p>
        </p:txBody>
      </p:sp>
      <p:sp>
        <p:nvSpPr>
          <p:cNvPr id="21" name="Text 19">
            <a:extLst xmlns:a="http://schemas.openxmlformats.org/drawingml/2006/main">
              <a:ext uri="{FF2B5EF4-FFF2-40B4-BE49-F238E27FC236}">
                <a16:creationId xmlns:a16="http://schemas.microsoft.com/office/drawing/2014/main" id="{6AB0214E-0BF8-4808-93E1-E4DE8A21EB33}"/>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Institutions from roughly $500m to $3.6bn in assets    ·    common core-banking estate    ·    member 360, servicing, lending, marketing and analytics</a:t>
            </a:r>
            <a:endParaRPr sz="1050"/>
          </a:p>
        </p:txBody>
      </p:sp>
      <p:sp>
        <p:nvSpPr>
          <p:cNvPr id="22" name="Text 20">
            <a:extLst xmlns:a="http://schemas.openxmlformats.org/drawingml/2006/main">
              <a:ext uri="{FF2B5EF4-FFF2-40B4-BE49-F238E27FC236}">
                <a16:creationId xmlns:a16="http://schemas.microsoft.com/office/drawing/2014/main" id="{A18A19DB-AB4E-4F87-95D9-284C7A9A934A}"/>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productisation and portfolio delivery  ·  2020–2026</a:t>
            </a:r>
            <a:endParaRPr sz="1200"/>
          </a:p>
        </p:txBody>
      </p:sp>
      <p:sp>
        <p:nvSpPr>
          <p:cNvPr id="23" name="Text 21">
            <a:extLst xmlns:a="http://schemas.openxmlformats.org/drawingml/2006/main">
              <a:ext uri="{FF2B5EF4-FFF2-40B4-BE49-F238E27FC236}">
                <a16:creationId xmlns:a16="http://schemas.microsoft.com/office/drawing/2014/main" id="{5BFA0D9E-E174-4995-8589-872AF15303E7}"/>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platform and product names removed. Portfolio growth is expressed as reported ratios rather than absolute figures.</a:t>
            </a:r>
            <a:endParaRPr sz="850"/>
          </a:p>
        </p:txBody>
      </p:sp>
    </p:spTree>
    <p:extLst>
      <p:ext uri="{BB962C8B-B14F-4D97-AF65-F5344CB8AC3E}">
        <p14:creationId xmlns:p14="http://schemas.microsoft.com/office/powerpoint/2010/main" val="696851322"/>
      </p:ext>
    </p:extLst>
  </p:cSld>
</p:sld>
</file>

<file path=ppt/slides/slide26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89FFC4A-CA07-4BAB-8DA3-602178E51E5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B7692DA2-12B5-448D-8D3C-D6FF46D8A8F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Twelve institutions with the same underlying problem — the value came from building</a:t>
            </a:r>
            <a:endParaRPr sz="1900"/>
          </a:p>
          <a:p xmlns:a="http://schemas.openxmlformats.org/drawingml/2006/main">
            <a:pPr marL="0" indent="0">
              <a:lnSpc>
                <a:spcPts val="2400"/>
              </a:lnSpc>
              <a:buNone/>
            </a:pPr>
            <a:r>
              <a:rPr sz="1900" b="1">
                <a:solidFill>
                  <a:srgbClr val="102A43"/>
                </a:solidFill>
                <a:latin typeface="Arial"/>
                <a:ea typeface="Arial"/>
                <a:cs typeface="Arial"/>
              </a:rPr>
              <a:t>the factory early, not from delivering the twelve</a:t>
            </a:r>
            <a:endParaRPr sz="1900"/>
          </a:p>
        </p:txBody>
      </p:sp>
      <p:sp>
        <p:nvSpPr>
          <p:cNvPr id="4" name="Shape 2">
            <a:extLst xmlns:a="http://schemas.openxmlformats.org/drawingml/2006/main">
              <a:ext uri="{FF2B5EF4-FFF2-40B4-BE49-F238E27FC236}">
                <a16:creationId xmlns:a16="http://schemas.microsoft.com/office/drawing/2014/main" id="{328599B1-C1CC-42E9-AF0C-11C2FF56C922}"/>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87DB7FB2-E80B-4571-8E04-A71886017AF6}"/>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06D7087F-4A1A-45A5-823D-E058B107D9ED}"/>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US credit unions and community banks in the roughly half-billion to three-and-a-half-billion asset range. Member-owned, community-focused, running a small number of common core-banking platforms, with small technology teams.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approaches a transformation as a first-of-a-kind programme for their institution, because for them it is.</a:t>
            </a:r>
            <a:endParaRPr sz="980"/>
          </a:p>
        </p:txBody>
      </p:sp>
      <p:sp>
        <p:nvSpPr>
          <p:cNvPr id="7" name="Shape 5">
            <a:extLst xmlns:a="http://schemas.openxmlformats.org/drawingml/2006/main">
              <a:ext uri="{FF2B5EF4-FFF2-40B4-BE49-F238E27FC236}">
                <a16:creationId xmlns:a16="http://schemas.microsoft.com/office/drawing/2014/main" id="{36CC7227-E9BA-404B-BF36-F92F2B0E668E}"/>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8F2CF5E6-DB30-4DC5-B555-A3DB9B9BD0C9}"/>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7EC849F0-C586-42A9-9D5C-506A6EA3C42E}"/>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Delivered as twelve bespoke programmes, the economics do not work. Each one carries full discovery, full configuration and full integration effort, at a price point these institutions can bear only once.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Delivered as twelve copies of one implementation, the fit is poor — because the genuinely institution-specific parts are the ones members actually notice.</a:t>
            </a:r>
            <a:endParaRPr sz="980"/>
          </a:p>
        </p:txBody>
      </p:sp>
      <p:sp>
        <p:nvSpPr>
          <p:cNvPr id="10" name="Shape 8">
            <a:extLst xmlns:a="http://schemas.openxmlformats.org/drawingml/2006/main">
              <a:ext uri="{FF2B5EF4-FFF2-40B4-BE49-F238E27FC236}">
                <a16:creationId xmlns:a16="http://schemas.microsoft.com/office/drawing/2014/main" id="{3B55D06C-12BB-4892-B7EB-566383F132CA}"/>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BD78A4DD-C6B9-4F36-A11E-7729FBC7F023}"/>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What was built</a:t>
            </a:r>
            <a:endParaRPr sz="1250"/>
          </a:p>
        </p:txBody>
      </p:sp>
      <p:sp>
        <p:nvSpPr>
          <p:cNvPr id="12" name="Text 10">
            <a:extLst xmlns:a="http://schemas.openxmlformats.org/drawingml/2006/main">
              <a:ext uri="{FF2B5EF4-FFF2-40B4-BE49-F238E27FC236}">
                <a16:creationId xmlns:a16="http://schemas.microsoft.com/office/drawing/2014/main" id="{2BB2D7DC-B87A-4513-8DCE-5F640B880521}"/>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deployment factory: a productised platform carrying everything common — the member and account model, the core integration patterns, the servicing and lending journeys, the analytics layer — with a deliberately bounded set of things left bespoke.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discipline is knowing which three things stay bespoke, and refusing to expand that list under client pressure.</a:t>
            </a:r>
            <a:endParaRPr sz="980"/>
          </a:p>
        </p:txBody>
      </p:sp>
      <p:sp>
        <p:nvSpPr>
          <p:cNvPr id="13" name="Text 11">
            <a:extLst xmlns:a="http://schemas.openxmlformats.org/drawingml/2006/main">
              <a:ext uri="{FF2B5EF4-FFF2-40B4-BE49-F238E27FC236}">
                <a16:creationId xmlns:a16="http://schemas.microsoft.com/office/drawing/2014/main" id="{EB87D832-DE0E-49CE-BF5B-5B35B3F0E829}"/>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0145F4B2-B125-45D7-B097-D298B0299AFB}"/>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28726ABC-07A4-4D6A-A9EC-833918B1D350}"/>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12</a:t>
            </a:r>
            <a:endParaRPr sz="2100"/>
          </a:p>
        </p:txBody>
      </p:sp>
      <p:sp>
        <p:nvSpPr>
          <p:cNvPr id="16" name="Text 14">
            <a:extLst xmlns:a="http://schemas.openxmlformats.org/drawingml/2006/main">
              <a:ext uri="{FF2B5EF4-FFF2-40B4-BE49-F238E27FC236}">
                <a16:creationId xmlns:a16="http://schemas.microsoft.com/office/drawing/2014/main" id="{70654DF8-FB3E-477A-B370-3B7A2C500CEF}"/>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institutions</a:t>
            </a:r>
            <a:endParaRPr sz="860"/>
          </a:p>
        </p:txBody>
      </p:sp>
      <p:sp>
        <p:nvSpPr>
          <p:cNvPr id="17" name="Shape 15">
            <a:extLst xmlns:a="http://schemas.openxmlformats.org/drawingml/2006/main">
              <a:ext uri="{FF2B5EF4-FFF2-40B4-BE49-F238E27FC236}">
                <a16:creationId xmlns:a16="http://schemas.microsoft.com/office/drawing/2014/main" id="{895B0E63-79BA-4DB2-9EC6-F5DE4CE558CE}"/>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8ADDDDA4-1B1A-4AC3-93FB-93491090CF49}"/>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~80%</a:t>
            </a:r>
            <a:endParaRPr sz="2100"/>
          </a:p>
        </p:txBody>
      </p:sp>
      <p:sp>
        <p:nvSpPr>
          <p:cNvPr id="19" name="Text 17">
            <a:extLst xmlns:a="http://schemas.openxmlformats.org/drawingml/2006/main">
              <a:ext uri="{FF2B5EF4-FFF2-40B4-BE49-F238E27FC236}">
                <a16:creationId xmlns:a16="http://schemas.microsoft.com/office/drawing/2014/main" id="{7B194443-0E55-4668-A373-6A4728BC46C2}"/>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of each build reused</a:t>
            </a:r>
            <a:endParaRPr sz="860"/>
          </a:p>
        </p:txBody>
      </p:sp>
      <p:sp>
        <p:nvSpPr>
          <p:cNvPr id="20" name="Shape 18">
            <a:extLst xmlns:a="http://schemas.openxmlformats.org/drawingml/2006/main">
              <a:ext uri="{FF2B5EF4-FFF2-40B4-BE49-F238E27FC236}">
                <a16:creationId xmlns:a16="http://schemas.microsoft.com/office/drawing/2014/main" id="{C2108993-37A4-4A6D-AD69-E67474F89588}"/>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C929D47F-DFB5-4D9B-83B2-D59295A01A7D}"/>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2" name="Text 20">
            <a:extLst xmlns:a="http://schemas.openxmlformats.org/drawingml/2006/main">
              <a:ext uri="{FF2B5EF4-FFF2-40B4-BE49-F238E27FC236}">
                <a16:creationId xmlns:a16="http://schemas.microsoft.com/office/drawing/2014/main" id="{AFD38E99-0FF2-426A-90B0-7E1F5C71FBDF}"/>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categories left bespoke</a:t>
            </a:r>
            <a:endParaRPr sz="860"/>
          </a:p>
        </p:txBody>
      </p:sp>
      <p:sp>
        <p:nvSpPr>
          <p:cNvPr id="23" name="Shape 21">
            <a:extLst xmlns:a="http://schemas.openxmlformats.org/drawingml/2006/main">
              <a:ext uri="{FF2B5EF4-FFF2-40B4-BE49-F238E27FC236}">
                <a16:creationId xmlns:a16="http://schemas.microsoft.com/office/drawing/2014/main" id="{9AC931A8-9CAE-4299-8315-6F5130651432}"/>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E5A97C16-B3EB-4048-843A-9E2B2CDC4193}"/>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2.8×</a:t>
            </a:r>
            <a:endParaRPr sz="2100"/>
          </a:p>
        </p:txBody>
      </p:sp>
      <p:sp>
        <p:nvSpPr>
          <p:cNvPr id="25" name="Text 23">
            <a:extLst xmlns:a="http://schemas.openxmlformats.org/drawingml/2006/main">
              <a:ext uri="{FF2B5EF4-FFF2-40B4-BE49-F238E27FC236}">
                <a16:creationId xmlns:a16="http://schemas.microsoft.com/office/drawing/2014/main" id="{EA1C0DC3-E92A-4CAA-BAC2-A73695094D54}"/>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portfolio revenue, FY22–FY26</a:t>
            </a:r>
            <a:endParaRPr sz="860"/>
          </a:p>
        </p:txBody>
      </p:sp>
      <p:sp>
        <p:nvSpPr>
          <p:cNvPr id="26" name="Shape 24">
            <a:extLst xmlns:a="http://schemas.openxmlformats.org/drawingml/2006/main">
              <a:ext uri="{FF2B5EF4-FFF2-40B4-BE49-F238E27FC236}">
                <a16:creationId xmlns:a16="http://schemas.microsoft.com/office/drawing/2014/main" id="{4DD1B2A9-F5F4-4D1E-BF68-4C171BE9A053}"/>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E9AE83CF-ABDE-4CCA-8479-28F0F681D78E}"/>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8" name="Text 26">
            <a:extLst xmlns:a="http://schemas.openxmlformats.org/drawingml/2006/main">
              <a:ext uri="{FF2B5EF4-FFF2-40B4-BE49-F238E27FC236}">
                <a16:creationId xmlns:a16="http://schemas.microsoft.com/office/drawing/2014/main" id="{29D8F114-297A-494D-9C2A-C07678DA7E3E}"/>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recurring revenue</a:t>
            </a:r>
            <a:endParaRPr sz="860"/>
          </a:p>
        </p:txBody>
      </p:sp>
      <p:sp>
        <p:nvSpPr>
          <p:cNvPr id="29" name="Shape 27">
            <a:extLst xmlns:a="http://schemas.openxmlformats.org/drawingml/2006/main">
              <a:ext uri="{FF2B5EF4-FFF2-40B4-BE49-F238E27FC236}">
                <a16:creationId xmlns:a16="http://schemas.microsoft.com/office/drawing/2014/main" id="{377B6EAF-29E5-4EC3-8310-2CA890DCF00F}"/>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2E7FE27A-AA20-4D99-AF43-2EA5D3B6FD7B}"/>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6003320C-326B-4AF9-8AB5-A10B0E007B3C}"/>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team throughout</a:t>
            </a:r>
            <a:endParaRPr sz="860"/>
          </a:p>
        </p:txBody>
      </p:sp>
      <p:sp>
        <p:nvSpPr>
          <p:cNvPr id="32" name="Text 30">
            <a:extLst xmlns:a="http://schemas.openxmlformats.org/drawingml/2006/main">
              <a:ext uri="{FF2B5EF4-FFF2-40B4-BE49-F238E27FC236}">
                <a16:creationId xmlns:a16="http://schemas.microsoft.com/office/drawing/2014/main" id="{90881F83-78F5-4724-9358-24FD4FDA2F11}"/>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the timing matters more than the idea:  every services organisation intends to productise. Almost all of them intend to do it after the current client. The factory only compounds if it is built while the delivery is still small enough to change — which in practice means during client two or three, when the case for it is weakest.</a:t>
            </a:r>
            <a:endParaRPr sz="1000"/>
          </a:p>
        </p:txBody>
      </p:sp>
      <p:sp>
        <p:nvSpPr>
          <p:cNvPr id="33" name="Shape 31">
            <a:extLst xmlns:a="http://schemas.openxmlformats.org/drawingml/2006/main">
              <a:ext uri="{FF2B5EF4-FFF2-40B4-BE49-F238E27FC236}">
                <a16:creationId xmlns:a16="http://schemas.microsoft.com/office/drawing/2014/main" id="{2EA595BC-BE4E-4BCC-85DB-0718E7E7C66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4CEBC68A-6B2E-487A-A6B9-ED848D24234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235DF130-7E4D-47EC-95B2-2D8CA8BE1EC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216829245"/>
      </p:ext>
    </p:extLst>
  </p:cSld>
</p:sld>
</file>

<file path=ppt/slides/slide26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6E83CC1-37F0-477D-80AF-1B7C4B8B1A6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381FEBF8-9654-41D3-B610-71FB85F72BC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portfolio and the productisation approach come from the delivery record;</a:t>
            </a:r>
            <a:endParaRPr sz="1900"/>
          </a:p>
          <a:p xmlns:a="http://schemas.openxmlformats.org/drawingml/2006/main">
            <a:pPr marL="0" indent="0">
              <a:lnSpc>
                <a:spcPts val="2400"/>
              </a:lnSpc>
              <a:buNone/>
            </a:pPr>
            <a:r>
              <a:rPr sz="1900" b="1">
                <a:solidFill>
                  <a:srgbClr val="102A43"/>
                </a:solidFill>
                <a:latin typeface="Arial"/>
                <a:ea typeface="Arial"/>
                <a:cs typeface="Arial"/>
              </a:rPr>
              <a:t>growth is expressed as reported ratios rather than absolute figures</a:t>
            </a:r>
            <a:endParaRPr sz="1900"/>
          </a:p>
        </p:txBody>
      </p:sp>
      <p:sp>
        <p:nvSpPr>
          <p:cNvPr id="4" name="Shape 2">
            <a:extLst xmlns:a="http://schemas.openxmlformats.org/drawingml/2006/main">
              <a:ext uri="{FF2B5EF4-FFF2-40B4-BE49-F238E27FC236}">
                <a16:creationId xmlns:a16="http://schemas.microsoft.com/office/drawing/2014/main" id="{DBF92AD6-5EDD-4F12-911B-C39CCE5C4563}"/>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3B7BAA80-4BAE-4C02-9BD8-ED14623E9940}"/>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ADC8ECB3-190D-495F-8F88-271FAF8C6C79}"/>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DELIVERY RECORD</a:t>
            </a:r>
            <a:endParaRPr sz="740"/>
          </a:p>
        </p:txBody>
      </p:sp>
      <p:sp>
        <p:nvSpPr>
          <p:cNvPr id="7" name="Text 5">
            <a:extLst xmlns:a="http://schemas.openxmlformats.org/drawingml/2006/main">
              <a:ext uri="{FF2B5EF4-FFF2-40B4-BE49-F238E27FC236}">
                <a16:creationId xmlns:a16="http://schemas.microsoft.com/office/drawing/2014/main" id="{67AD127C-A52F-4F83-BDB5-CB8024F69BBB}"/>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Portfolio context</a:t>
            </a:r>
            <a:endParaRPr sz="1200"/>
          </a:p>
        </p:txBody>
      </p:sp>
      <p:sp>
        <p:nvSpPr>
          <p:cNvPr id="8" name="Text 6">
            <a:extLst xmlns:a="http://schemas.openxmlformats.org/drawingml/2006/main">
              <a:ext uri="{FF2B5EF4-FFF2-40B4-BE49-F238E27FC236}">
                <a16:creationId xmlns:a16="http://schemas.microsoft.com/office/drawing/2014/main" id="{C7E83AE4-1F11-4CA8-BCF4-6B942F8F7151}"/>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institutions served and the common estate they run, as delivered between 2020 and 2026.</a:t>
            </a:r>
            <a:endParaRPr sz="920"/>
          </a:p>
        </p:txBody>
      </p:sp>
      <p:sp>
        <p:nvSpPr>
          <p:cNvPr id="9" name="Shape 7">
            <a:extLst xmlns:a="http://schemas.openxmlformats.org/drawingml/2006/main">
              <a:ext uri="{FF2B5EF4-FFF2-40B4-BE49-F238E27FC236}">
                <a16:creationId xmlns:a16="http://schemas.microsoft.com/office/drawing/2014/main" id="{30B02DAD-5869-4909-9F06-45BEEDE1285B}"/>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389E6B84-B856-404E-9AAA-B5A2E36B229E}"/>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Twelve institutions delivered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Roughly $0.5bn–$3.6bn asset range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Common core-banking platforms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Member, servicing, lending, analytics scope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Small in-house technology teams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Six-year continuous engagement</a:t>
            </a:r>
            <a:endParaRPr sz="930"/>
          </a:p>
        </p:txBody>
      </p:sp>
      <p:sp>
        <p:nvSpPr>
          <p:cNvPr id="11" name="Shape 9">
            <a:extLst xmlns:a="http://schemas.openxmlformats.org/drawingml/2006/main">
              <a:ext uri="{FF2B5EF4-FFF2-40B4-BE49-F238E27FC236}">
                <a16:creationId xmlns:a16="http://schemas.microsoft.com/office/drawing/2014/main" id="{81775C92-6A9B-4385-B608-D0005153D51D}"/>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CB153D70-BD0D-48CC-853E-1CC919705096}"/>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71A5A9BD-6CB7-41D4-BE16-45EE9674016D}"/>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PRODUCTISATION</a:t>
            </a:r>
            <a:endParaRPr sz="740"/>
          </a:p>
        </p:txBody>
      </p:sp>
      <p:sp>
        <p:nvSpPr>
          <p:cNvPr id="14" name="Text 12">
            <a:extLst xmlns:a="http://schemas.openxmlformats.org/drawingml/2006/main">
              <a:ext uri="{FF2B5EF4-FFF2-40B4-BE49-F238E27FC236}">
                <a16:creationId xmlns:a16="http://schemas.microsoft.com/office/drawing/2014/main" id="{AED8EE15-221E-4AE2-836C-FF15763CAD86}"/>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DD1034A7-8E47-495B-8669-B811A8DFCAD7}"/>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Design, productisation and rollout of the reusable platform across the portfolio.</a:t>
            </a:r>
            <a:endParaRPr sz="920"/>
          </a:p>
        </p:txBody>
      </p:sp>
      <p:sp>
        <p:nvSpPr>
          <p:cNvPr id="16" name="Shape 14">
            <a:extLst xmlns:a="http://schemas.openxmlformats.org/drawingml/2006/main">
              <a:ext uri="{FF2B5EF4-FFF2-40B4-BE49-F238E27FC236}">
                <a16:creationId xmlns:a16="http://schemas.microsoft.com/office/drawing/2014/main" id="{976457F2-A860-4030-AFF4-1D3E437BB5EE}"/>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AF852B93-FE0B-4C21-B637-7A237094291A}"/>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Reusable platform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Common versus bespoke boundary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Core integration pattern library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Deployment method and runbooks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Portfolio sequencing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 twelve times</a:t>
            </a:r>
            <a:endParaRPr sz="930"/>
          </a:p>
        </p:txBody>
      </p:sp>
      <p:sp>
        <p:nvSpPr>
          <p:cNvPr id="18" name="Shape 16">
            <a:extLst xmlns:a="http://schemas.openxmlformats.org/drawingml/2006/main">
              <a:ext uri="{FF2B5EF4-FFF2-40B4-BE49-F238E27FC236}">
                <a16:creationId xmlns:a16="http://schemas.microsoft.com/office/drawing/2014/main" id="{024C393D-A4A7-410F-8EC5-9544BA2FC60C}"/>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360021F3-F344-45F7-9793-177FF9F6A761}"/>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C576BD7D-BA23-456D-928A-B4BE246E5698}"/>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RATIOS</a:t>
            </a:r>
            <a:endParaRPr sz="740"/>
          </a:p>
        </p:txBody>
      </p:sp>
      <p:sp>
        <p:nvSpPr>
          <p:cNvPr id="21" name="Text 19">
            <a:extLst xmlns:a="http://schemas.openxmlformats.org/drawingml/2006/main">
              <a:ext uri="{FF2B5EF4-FFF2-40B4-BE49-F238E27FC236}">
                <a16:creationId xmlns:a16="http://schemas.microsoft.com/office/drawing/2014/main" id="{E7C83AB8-D694-498B-BE04-F72C475FD8E6}"/>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Reported</a:t>
            </a:r>
            <a:endParaRPr sz="1200"/>
          </a:p>
        </p:txBody>
      </p:sp>
      <p:sp>
        <p:nvSpPr>
          <p:cNvPr id="22" name="Text 20">
            <a:extLst xmlns:a="http://schemas.openxmlformats.org/drawingml/2006/main">
              <a:ext uri="{FF2B5EF4-FFF2-40B4-BE49-F238E27FC236}">
                <a16:creationId xmlns:a16="http://schemas.microsoft.com/office/drawing/2014/main" id="{C4F9CF32-7547-40D8-A2D5-D1EE97BAB4C4}"/>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Business-unit growth stated as reported ratios. Absolute revenue figures are deliberately excluded.</a:t>
            </a:r>
            <a:endParaRPr sz="920"/>
          </a:p>
        </p:txBody>
      </p:sp>
      <p:sp>
        <p:nvSpPr>
          <p:cNvPr id="23" name="Shape 21">
            <a:extLst xmlns:a="http://schemas.openxmlformats.org/drawingml/2006/main">
              <a:ext uri="{FF2B5EF4-FFF2-40B4-BE49-F238E27FC236}">
                <a16:creationId xmlns:a16="http://schemas.microsoft.com/office/drawing/2014/main" id="{7B208B63-B785-4976-9362-7CD8785A2956}"/>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A817CAC2-2303-483E-A8B8-B99DD28DAE85}"/>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Portfolio revenue ~2.8× FY22–FY26</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Live recurring revenue ~3×</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Gross margin improving over the period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Ratios, never absolutes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independently audited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attributable to one cause</a:t>
            </a:r>
            <a:endParaRPr sz="930"/>
          </a:p>
        </p:txBody>
      </p:sp>
      <p:sp>
        <p:nvSpPr>
          <p:cNvPr id="25" name="Shape 23">
            <a:extLst xmlns:a="http://schemas.openxmlformats.org/drawingml/2006/main">
              <a:ext uri="{FF2B5EF4-FFF2-40B4-BE49-F238E27FC236}">
                <a16:creationId xmlns:a16="http://schemas.microsoft.com/office/drawing/2014/main" id="{D4725C04-CC87-4191-AEF9-CF6771734834}"/>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C2B3B414-E155-4D04-9066-C3BE12A89A94}"/>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48EAFA3F-2536-4560-AE84-F26CC74E6BA3}"/>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189DE808-DE7B-40F9-A106-37B113A280C4}"/>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3E7B37E2-E084-4AF7-A27A-0CE2B3DA5FCE}"/>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a:t>
            </a:r>
            <a:endParaRPr sz="920"/>
          </a:p>
        </p:txBody>
      </p:sp>
      <p:sp>
        <p:nvSpPr>
          <p:cNvPr id="30" name="Shape 28">
            <a:extLst xmlns:a="http://schemas.openxmlformats.org/drawingml/2006/main">
              <a:ext uri="{FF2B5EF4-FFF2-40B4-BE49-F238E27FC236}">
                <a16:creationId xmlns:a16="http://schemas.microsoft.com/office/drawing/2014/main" id="{1AC71B2F-2FB5-45DA-B736-23CFF4C1540D}"/>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245F7729-2B5E-472E-87F3-A036B15432BA}"/>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institution's own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member or account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Absolute revenue or pricing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client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single client's contract value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Sole attribution of growth</a:t>
            </a:r>
            <a:endParaRPr sz="930"/>
          </a:p>
        </p:txBody>
      </p:sp>
      <p:sp>
        <p:nvSpPr>
          <p:cNvPr id="32" name="Shape 30">
            <a:extLst xmlns:a="http://schemas.openxmlformats.org/drawingml/2006/main">
              <a:ext uri="{FF2B5EF4-FFF2-40B4-BE49-F238E27FC236}">
                <a16:creationId xmlns:a16="http://schemas.microsoft.com/office/drawing/2014/main" id="{965BF4E3-3EBE-44F6-A539-E91EFDA7FAA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B4003DB9-CC62-4ABA-9871-712577B7B4C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(ownership) · reported business-unit ratios (economics)</a:t>
            </a:r>
            <a:endParaRPr sz="850"/>
          </a:p>
        </p:txBody>
      </p:sp>
      <p:sp>
        <p:nvSpPr>
          <p:cNvPr id="34" name="Text 32">
            <a:extLst xmlns:a="http://schemas.openxmlformats.org/drawingml/2006/main">
              <a:ext uri="{FF2B5EF4-FFF2-40B4-BE49-F238E27FC236}">
                <a16:creationId xmlns:a16="http://schemas.microsoft.com/office/drawing/2014/main" id="{3C96F9F9-339C-423E-836D-E962B10B9F9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266189397"/>
      </p:ext>
    </p:extLst>
  </p:cSld>
</p:sld>
</file>

<file path=ppt/slides/slide26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6EA6FB-EFC4-469A-B6FA-F9A09153128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BOUNDARY</a:t>
            </a:r>
            <a:endParaRPr sz="950"/>
          </a:p>
        </p:txBody>
      </p:sp>
      <p:sp>
        <p:nvSpPr>
          <p:cNvPr id="3" name="Text 1">
            <a:extLst xmlns:a="http://schemas.openxmlformats.org/drawingml/2006/main">
              <a:ext uri="{FF2B5EF4-FFF2-40B4-BE49-F238E27FC236}">
                <a16:creationId xmlns:a16="http://schemas.microsoft.com/office/drawing/2014/main" id="{A5ABCAAE-7B1B-47F7-899B-43C474BFE24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Roughly four-fifths of every build was common — and the discipline was refusing to</a:t>
            </a:r>
            <a:endParaRPr sz="1900"/>
          </a:p>
          <a:p xmlns:a="http://schemas.openxmlformats.org/drawingml/2006/main">
            <a:pPr marL="0" indent="0">
              <a:lnSpc>
                <a:spcPts val="2400"/>
              </a:lnSpc>
              <a:buNone/>
            </a:pPr>
            <a:r>
              <a:rPr sz="1900" b="1">
                <a:solidFill>
                  <a:srgbClr val="102A43"/>
                </a:solidFill>
                <a:latin typeface="Arial"/>
                <a:ea typeface="Arial"/>
                <a:cs typeface="Arial"/>
              </a:rPr>
              <a:t>let the bespoke fifth grow</a:t>
            </a:r>
            <a:endParaRPr sz="1900"/>
          </a:p>
        </p:txBody>
      </p:sp>
      <p:sp>
        <p:nvSpPr>
          <p:cNvPr id="4" name="Shape 2">
            <a:extLst xmlns:a="http://schemas.openxmlformats.org/drawingml/2006/main">
              <a:ext uri="{FF2B5EF4-FFF2-40B4-BE49-F238E27FC236}">
                <a16:creationId xmlns:a16="http://schemas.microsoft.com/office/drawing/2014/main" id="{1148515E-CAFA-4F74-B3B0-72C98B37A2F2}"/>
              </a:ext>
            </a:extLst>
          </p:cNvPr>
          <p:cNvSpPr>
            <a:spLocks xmlns:a="http://schemas.openxmlformats.org/drawingml/2006/main" noGrp="1"/>
          </p:cNvSpPr>
          <p:nvPr/>
        </p:nvSpPr>
        <p:spPr>
          <a:xfrm xmlns:a="http://schemas.openxmlformats.org/drawingml/2006/main">
            <a:off x="566928" y="1335024"/>
            <a:ext cx="5373472" cy="283464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1DF04E04-F678-4A5C-8B20-B61712E32937}"/>
              </a:ext>
            </a:extLst>
          </p:cNvPr>
          <p:cNvSpPr>
            <a:spLocks xmlns:a="http://schemas.openxmlformats.org/drawingml/2006/main" noGrp="1"/>
          </p:cNvSpPr>
          <p:nvPr/>
        </p:nvSpPr>
        <p:spPr>
          <a:xfrm xmlns:a="http://schemas.openxmlformats.org/drawingml/2006/main">
            <a:off x="804672"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486581"/>
                </a:solidFill>
                <a:latin typeface="Arial"/>
                <a:ea typeface="Arial"/>
                <a:cs typeface="Arial"/>
              </a:rPr>
              <a:t>PRODUCTISED — BUILT ONCE</a:t>
            </a:r>
            <a:endParaRPr sz="840"/>
          </a:p>
        </p:txBody>
      </p:sp>
      <p:sp>
        <p:nvSpPr>
          <p:cNvPr id="6" name="Text 4">
            <a:extLst xmlns:a="http://schemas.openxmlformats.org/drawingml/2006/main">
              <a:ext uri="{FF2B5EF4-FFF2-40B4-BE49-F238E27FC236}">
                <a16:creationId xmlns:a16="http://schemas.microsoft.com/office/drawing/2014/main" id="{17504F5B-6745-482D-B693-59993420235A}"/>
              </a:ext>
            </a:extLst>
          </p:cNvPr>
          <p:cNvSpPr>
            <a:spLocks xmlns:a="http://schemas.openxmlformats.org/drawingml/2006/main" noGrp="1"/>
          </p:cNvSpPr>
          <p:nvPr/>
        </p:nvSpPr>
        <p:spPr>
          <a:xfrm xmlns:a="http://schemas.openxmlformats.org/drawingml/2006/main">
            <a:off x="804672" y="1847088"/>
            <a:ext cx="4897984"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Member, account, share, loan and card data model — identical across every institution</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Core-banking integration patterns, including the transformation and file-transfer plumbing</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Servicing case model, queues, service levels and dispositions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Lending origination and servicing journeys</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Marketing, campaign and member-communication tooling</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Analytics layer, standard measures and the reporting set</a:t>
            </a:r>
            <a:endParaRPr sz="950"/>
          </a:p>
          <a:p xmlns:a="http://schemas.openxmlformats.org/drawingml/2006/main">
            <a:pPr marL="152400" indent="-152400">
              <a:lnSpc>
                <a:spcPts val="1400"/>
              </a:lnSpc>
              <a:spcAft>
                <a:spcPts val="500"/>
              </a:spcAft>
              <a:buSzPct val="100000"/>
              <a:buChar char="•"/>
            </a:pPr>
            <a:r>
              <a:rPr sz="950">
                <a:solidFill>
                  <a:srgbClr val="1A1A1A"/>
                </a:solidFill>
                <a:latin typeface="Arial"/>
                <a:ea typeface="Arial"/>
                <a:cs typeface="Arial"/>
              </a:rPr>
              <a:t>Deployment runbooks, environment build and test packs</a:t>
            </a:r>
            <a:endParaRPr sz="950"/>
          </a:p>
        </p:txBody>
      </p:sp>
      <p:sp>
        <p:nvSpPr>
          <p:cNvPr id="7" name="Shape 5">
            <a:extLst xmlns:a="http://schemas.openxmlformats.org/drawingml/2006/main">
              <a:ext uri="{FF2B5EF4-FFF2-40B4-BE49-F238E27FC236}">
                <a16:creationId xmlns:a16="http://schemas.microsoft.com/office/drawing/2014/main" id="{A1AE5C20-C61F-4466-A090-9B8FC63DFFAA}"/>
              </a:ext>
            </a:extLst>
          </p:cNvPr>
          <p:cNvSpPr>
            <a:spLocks xmlns:a="http://schemas.openxmlformats.org/drawingml/2006/main" noGrp="1"/>
          </p:cNvSpPr>
          <p:nvPr/>
        </p:nvSpPr>
        <p:spPr>
          <a:xfrm xmlns:a="http://schemas.openxmlformats.org/drawingml/2006/main">
            <a:off x="6251296" y="1335024"/>
            <a:ext cx="5373472" cy="2834640"/>
          </a:xfrm>
          <a:prstGeom xmlns:a="http://schemas.openxmlformats.org/drawingml/2006/main" prst="rect">
            <a:avLst/>
          </a:prstGeom>
          <a:solidFill xmlns:a="http://schemas.openxmlformats.org/drawingml/2006/main">
            <a:srgbClr val="F3E6E0"/>
          </a:solidFill>
        </p:spPr>
      </p:sp>
      <p:sp>
        <p:nvSpPr>
          <p:cNvPr id="8" name="Text 6">
            <a:extLst xmlns:a="http://schemas.openxmlformats.org/drawingml/2006/main">
              <a:ext uri="{FF2B5EF4-FFF2-40B4-BE49-F238E27FC236}">
                <a16:creationId xmlns:a16="http://schemas.microsoft.com/office/drawing/2014/main" id="{93D63FC2-1768-4C9E-A5EF-DC3985824F07}"/>
              </a:ext>
            </a:extLst>
          </p:cNvPr>
          <p:cNvSpPr>
            <a:spLocks xmlns:a="http://schemas.openxmlformats.org/drawingml/2006/main" noGrp="1"/>
          </p:cNvSpPr>
          <p:nvPr/>
        </p:nvSpPr>
        <p:spPr>
          <a:xfrm xmlns:a="http://schemas.openxmlformats.org/drawingml/2006/main">
            <a:off x="6489040" y="1499616"/>
            <a:ext cx="4897984"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40" b="1">
                <a:solidFill>
                  <a:srgbClr val="B04A25"/>
                </a:solidFill>
                <a:latin typeface="Arial"/>
                <a:ea typeface="Arial"/>
                <a:cs typeface="Arial"/>
              </a:rPr>
              <a:t>BESPOKE — THREE CATEGORIES ONLY</a:t>
            </a:r>
            <a:endParaRPr sz="840"/>
          </a:p>
        </p:txBody>
      </p:sp>
      <p:sp>
        <p:nvSpPr>
          <p:cNvPr id="9" name="Text 7">
            <a:extLst xmlns:a="http://schemas.openxmlformats.org/drawingml/2006/main">
              <a:ext uri="{FF2B5EF4-FFF2-40B4-BE49-F238E27FC236}">
                <a16:creationId xmlns:a16="http://schemas.microsoft.com/office/drawing/2014/main" id="{A3D6B3CB-5F43-447E-A625-2DB838D36199}"/>
              </a:ext>
            </a:extLst>
          </p:cNvPr>
          <p:cNvSpPr>
            <a:spLocks xmlns:a="http://schemas.openxmlformats.org/drawingml/2006/main" noGrp="1"/>
          </p:cNvSpPr>
          <p:nvPr/>
        </p:nvSpPr>
        <p:spPr>
          <a:xfrm xmlns:a="http://schemas.openxmlformats.org/drawingml/2006/main">
            <a:off x="6489040" y="1792224"/>
            <a:ext cx="48979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Product and pricing configuration</a:t>
            </a:r>
            <a:endParaRPr sz="1100"/>
          </a:p>
        </p:txBody>
      </p:sp>
      <p:sp>
        <p:nvSpPr>
          <p:cNvPr id="10" name="Text 8">
            <a:extLst xmlns:a="http://schemas.openxmlformats.org/drawingml/2006/main">
              <a:ext uri="{FF2B5EF4-FFF2-40B4-BE49-F238E27FC236}">
                <a16:creationId xmlns:a16="http://schemas.microsoft.com/office/drawing/2014/main" id="{E50B15F3-8CF9-4AD2-9C88-6EF4B153961D}"/>
              </a:ext>
            </a:extLst>
          </p:cNvPr>
          <p:cNvSpPr>
            <a:spLocks xmlns:a="http://schemas.openxmlformats.org/drawingml/2006/main" noGrp="1"/>
          </p:cNvSpPr>
          <p:nvPr/>
        </p:nvSpPr>
        <p:spPr>
          <a:xfrm xmlns:a="http://schemas.openxmlformats.org/drawingml/2006/main">
            <a:off x="6489040" y="2048256"/>
            <a:ext cx="489798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Every institution's product set, rates, fees and eligibility differ, and members notice immediately. Configuration, never code.</a:t>
            </a:r>
            <a:endParaRPr sz="940"/>
          </a:p>
        </p:txBody>
      </p:sp>
      <p:sp>
        <p:nvSpPr>
          <p:cNvPr id="11" name="Text 9">
            <a:extLst xmlns:a="http://schemas.openxmlformats.org/drawingml/2006/main">
              <a:ext uri="{FF2B5EF4-FFF2-40B4-BE49-F238E27FC236}">
                <a16:creationId xmlns:a16="http://schemas.microsoft.com/office/drawing/2014/main" id="{21FC5193-6208-45FA-90A5-CECB568782BA}"/>
              </a:ext>
            </a:extLst>
          </p:cNvPr>
          <p:cNvSpPr>
            <a:spLocks xmlns:a="http://schemas.openxmlformats.org/drawingml/2006/main" noGrp="1"/>
          </p:cNvSpPr>
          <p:nvPr/>
        </p:nvSpPr>
        <p:spPr>
          <a:xfrm xmlns:a="http://schemas.openxmlformats.org/drawingml/2006/main">
            <a:off x="6489040" y="2560320"/>
            <a:ext cx="48979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Field of membership and eligibility</a:t>
            </a:r>
            <a:endParaRPr sz="1100"/>
          </a:p>
        </p:txBody>
      </p:sp>
      <p:sp>
        <p:nvSpPr>
          <p:cNvPr id="12" name="Text 10">
            <a:extLst xmlns:a="http://schemas.openxmlformats.org/drawingml/2006/main">
              <a:ext uri="{FF2B5EF4-FFF2-40B4-BE49-F238E27FC236}">
                <a16:creationId xmlns:a16="http://schemas.microsoft.com/office/drawing/2014/main" id="{1D249D8C-F687-4C6B-A6D1-9292D78DBF81}"/>
              </a:ext>
            </a:extLst>
          </p:cNvPr>
          <p:cNvSpPr>
            <a:spLocks xmlns:a="http://schemas.openxmlformats.org/drawingml/2006/main" noGrp="1"/>
          </p:cNvSpPr>
          <p:nvPr/>
        </p:nvSpPr>
        <p:spPr>
          <a:xfrm xmlns:a="http://schemas.openxmlformats.org/drawingml/2006/main">
            <a:off x="6489040" y="2816352"/>
            <a:ext cx="489798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Charter areas, employer groups and community definitions are legally specific to each institution and cannot be generalised.</a:t>
            </a:r>
            <a:endParaRPr sz="940"/>
          </a:p>
        </p:txBody>
      </p:sp>
      <p:sp>
        <p:nvSpPr>
          <p:cNvPr id="13" name="Text 11">
            <a:extLst xmlns:a="http://schemas.openxmlformats.org/drawingml/2006/main">
              <a:ext uri="{FF2B5EF4-FFF2-40B4-BE49-F238E27FC236}">
                <a16:creationId xmlns:a16="http://schemas.microsoft.com/office/drawing/2014/main" id="{73B70AB4-B930-4B4E-AEB2-5E167E6FD51C}"/>
              </a:ext>
            </a:extLst>
          </p:cNvPr>
          <p:cNvSpPr>
            <a:spLocks xmlns:a="http://schemas.openxmlformats.org/drawingml/2006/main" noGrp="1"/>
          </p:cNvSpPr>
          <p:nvPr/>
        </p:nvSpPr>
        <p:spPr>
          <a:xfrm xmlns:a="http://schemas.openxmlformats.org/drawingml/2006/main">
            <a:off x="6489040" y="3328416"/>
            <a:ext cx="489798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102A43"/>
                </a:solidFill>
                <a:latin typeface="Arial"/>
                <a:ea typeface="Arial"/>
                <a:cs typeface="Arial"/>
              </a:rPr>
              <a:t>Third-party service estate</a:t>
            </a:r>
            <a:endParaRPr sz="1100"/>
          </a:p>
        </p:txBody>
      </p:sp>
      <p:sp>
        <p:nvSpPr>
          <p:cNvPr id="14" name="Text 12">
            <a:extLst xmlns:a="http://schemas.openxmlformats.org/drawingml/2006/main">
              <a:ext uri="{FF2B5EF4-FFF2-40B4-BE49-F238E27FC236}">
                <a16:creationId xmlns:a16="http://schemas.microsoft.com/office/drawing/2014/main" id="{64CFFF28-0DF5-44A5-B09B-D0B5044F5EEE}"/>
              </a:ext>
            </a:extLst>
          </p:cNvPr>
          <p:cNvSpPr>
            <a:spLocks xmlns:a="http://schemas.openxmlformats.org/drawingml/2006/main" noGrp="1"/>
          </p:cNvSpPr>
          <p:nvPr/>
        </p:nvSpPr>
        <p:spPr>
          <a:xfrm xmlns:a="http://schemas.openxmlformats.org/drawingml/2006/main">
            <a:off x="6489040" y="3584448"/>
            <a:ext cx="4897984"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Card processors, digital banking providers and document systems vary by institution. Adapters are reused where the provider repeats.</a:t>
            </a:r>
            <a:endParaRPr sz="940"/>
          </a:p>
        </p:txBody>
      </p:sp>
      <p:sp>
        <p:nvSpPr>
          <p:cNvPr id="15" name="Shape 13">
            <a:extLst xmlns:a="http://schemas.openxmlformats.org/drawingml/2006/main">
              <a:ext uri="{FF2B5EF4-FFF2-40B4-BE49-F238E27FC236}">
                <a16:creationId xmlns:a16="http://schemas.microsoft.com/office/drawing/2014/main" id="{F1FAB733-D300-4A83-85E3-4A7C2DF45FCE}"/>
              </a:ext>
            </a:extLst>
          </p:cNvPr>
          <p:cNvSpPr>
            <a:spLocks xmlns:a="http://schemas.openxmlformats.org/drawingml/2006/main" noGrp="1"/>
          </p:cNvSpPr>
          <p:nvPr/>
        </p:nvSpPr>
        <p:spPr>
          <a:xfrm xmlns:a="http://schemas.openxmlformats.org/drawingml/2006/main">
            <a:off x="566928" y="4425696"/>
            <a:ext cx="11057839" cy="1645920"/>
          </a:xfrm>
          <a:prstGeom xmlns:a="http://schemas.openxmlformats.org/drawingml/2006/main" prst="rect">
            <a:avLst/>
          </a:prstGeom>
          <a:solidFill xmlns:a="http://schemas.openxmlformats.org/drawingml/2006/main">
            <a:srgbClr val="F3E6E0"/>
          </a:solidFill>
        </p:spPr>
      </p:sp>
      <p:sp>
        <p:nvSpPr>
          <p:cNvPr id="16" name="Text 14">
            <a:extLst xmlns:a="http://schemas.openxmlformats.org/drawingml/2006/main">
              <a:ext uri="{FF2B5EF4-FFF2-40B4-BE49-F238E27FC236}">
                <a16:creationId xmlns:a16="http://schemas.microsoft.com/office/drawing/2014/main" id="{1F3FF550-435F-46A0-A7FC-09011BAF2598}"/>
              </a:ext>
            </a:extLst>
          </p:cNvPr>
          <p:cNvSpPr>
            <a:spLocks xmlns:a="http://schemas.openxmlformats.org/drawingml/2006/main" noGrp="1"/>
          </p:cNvSpPr>
          <p:nvPr/>
        </p:nvSpPr>
        <p:spPr>
          <a:xfrm xmlns:a="http://schemas.openxmlformats.org/drawingml/2006/main">
            <a:off x="804672" y="457200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argument that had to be won repeatedly</a:t>
            </a:r>
            <a:endParaRPr sz="1100"/>
          </a:p>
        </p:txBody>
      </p:sp>
      <p:sp>
        <p:nvSpPr>
          <p:cNvPr id="17" name="Text 15">
            <a:extLst xmlns:a="http://schemas.openxmlformats.org/drawingml/2006/main">
              <a:ext uri="{FF2B5EF4-FFF2-40B4-BE49-F238E27FC236}">
                <a16:creationId xmlns:a16="http://schemas.microsoft.com/office/drawing/2014/main" id="{8800A640-B4E4-40BC-ACFD-498BF8432E5B}"/>
              </a:ext>
            </a:extLst>
          </p:cNvPr>
          <p:cNvSpPr>
            <a:spLocks xmlns:a="http://schemas.openxmlformats.org/drawingml/2006/main" noGrp="1"/>
          </p:cNvSpPr>
          <p:nvPr/>
        </p:nvSpPr>
        <p:spPr>
          <a:xfrm xmlns:a="http://schemas.openxmlformats.org/drawingml/2006/main">
            <a:off x="804672" y="4828032"/>
            <a:ext cx="10582351" cy="11338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Every institution believes its servicing process is distinctive, and every one is partly right — the differences are real but they are almost always differences in threshold, naming and sequence rather than in structure.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productive response is not to argue. It is to show the institution the common model, let them mark what genuinely does not fit, and then examine those items one at a time. In practice most resolve to configuration, a handful become a shared enhancement that every institution then inherits, and one or two are genuine and go in the bespoke fifth.</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What cannot be allowed is the fourth category — a bespoke change made because it was faster this sprint. That single decision is what turns a factory back into twelve bespoke builds, and it is always made under delivery pressure.</a:t>
            </a:r>
            <a:endParaRPr sz="990"/>
          </a:p>
        </p:txBody>
      </p:sp>
      <p:sp>
        <p:nvSpPr>
          <p:cNvPr id="18" name="Shape 16">
            <a:extLst xmlns:a="http://schemas.openxmlformats.org/drawingml/2006/main">
              <a:ext uri="{FF2B5EF4-FFF2-40B4-BE49-F238E27FC236}">
                <a16:creationId xmlns:a16="http://schemas.microsoft.com/office/drawing/2014/main" id="{76C5D786-5704-48D8-8777-96202BC2BF13}"/>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9" name="Text 17">
            <a:extLst xmlns:a="http://schemas.openxmlformats.org/drawingml/2006/main">
              <a:ext uri="{FF2B5EF4-FFF2-40B4-BE49-F238E27FC236}">
                <a16:creationId xmlns:a16="http://schemas.microsoft.com/office/drawing/2014/main" id="{45F02855-2102-4FB1-803D-EC5B53CC7545}"/>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US credit union and community bank portfolio, 2020–2026 · author's analysis</a:t>
            </a:r>
            <a:endParaRPr sz="850"/>
          </a:p>
        </p:txBody>
      </p:sp>
      <p:sp>
        <p:nvSpPr>
          <p:cNvPr id="20" name="Text 18">
            <a:extLst xmlns:a="http://schemas.openxmlformats.org/drawingml/2006/main">
              <a:ext uri="{FF2B5EF4-FFF2-40B4-BE49-F238E27FC236}">
                <a16:creationId xmlns:a16="http://schemas.microsoft.com/office/drawing/2014/main" id="{E35FB6CF-A0E3-4725-B484-0D9CFE7CC95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708412241"/>
      </p:ext>
    </p:extLst>
  </p:cSld>
</p:sld>
</file>

<file path=ppt/slides/slide26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0DD2C67-22D0-4486-8BF2-29F8EBEBAAB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ECONOMICS</a:t>
            </a:r>
            <a:endParaRPr sz="950"/>
          </a:p>
        </p:txBody>
      </p:sp>
      <p:sp>
        <p:nvSpPr>
          <p:cNvPr id="3" name="Text 1">
            <a:extLst xmlns:a="http://schemas.openxmlformats.org/drawingml/2006/main">
              <a:ext uri="{FF2B5EF4-FFF2-40B4-BE49-F238E27FC236}">
                <a16:creationId xmlns:a16="http://schemas.microsoft.com/office/drawing/2014/main" id="{6951D2B2-1D27-4269-8A29-2DE68446473B}"/>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factory cost was paid across the first three institutions and returned across</a:t>
            </a:r>
            <a:endParaRPr sz="1900"/>
          </a:p>
          <a:p xmlns:a="http://schemas.openxmlformats.org/drawingml/2006/main">
            <a:pPr marL="0" indent="0">
              <a:lnSpc>
                <a:spcPts val="2400"/>
              </a:lnSpc>
              <a:buNone/>
            </a:pPr>
            <a:r>
              <a:rPr sz="1900" b="1">
                <a:solidFill>
                  <a:srgbClr val="102A43"/>
                </a:solidFill>
                <a:latin typeface="Arial"/>
                <a:ea typeface="Arial"/>
                <a:cs typeface="Arial"/>
              </a:rPr>
              <a:t>the next nine</a:t>
            </a:r>
            <a:endParaRPr sz="1900"/>
          </a:p>
        </p:txBody>
      </p:sp>
      <p:graphicFrame>
        <p:nvGraphicFramePr>
          <p:cNvPr id="30" name="Chart 0"/>
          <p:cNvGraphicFramePr/>
          <p:nvPr/>
        </p:nvGraphicFramePr>
        <p:xfrm>
          <a:off xmlns:a="http://schemas.openxmlformats.org/drawingml/2006/main" x="566928" y="1426464"/>
          <a:ext xmlns:a="http://schemas.openxmlformats.org/drawingml/2006/main" cx="6400800" cy="2834640"/>
        </p:xfrm>
        <a:graphic xmlns:a="http://schemas.openxmlformats.org/drawingml/2006/main">
          <a:graphicData uri="http://schemas.openxmlformats.org/drawingml/2006/chart">
            <c:chart xmlns:r="http://schemas.openxmlformats.org/officeDocument/2006/relationships" xmlns:c="http://schemas.openxmlformats.org/drawingml/2006/chart" r:id="R4b5347ba849d4d8e"/>
          </a:graphicData>
        </a:graphic>
      </p:graphicFrame>
      <p:sp>
        <p:nvSpPr>
          <p:cNvPr id="5" name="Text 2">
            <a:extLst xmlns:a="http://schemas.openxmlformats.org/drawingml/2006/main">
              <a:ext uri="{FF2B5EF4-FFF2-40B4-BE49-F238E27FC236}">
                <a16:creationId xmlns:a16="http://schemas.microsoft.com/office/drawing/2014/main" id="{0417E347-83B4-4958-8664-E9A13E778429}"/>
              </a:ext>
            </a:extLst>
          </p:cNvPr>
          <p:cNvSpPr>
            <a:spLocks xmlns:a="http://schemas.openxmlformats.org/drawingml/2006/main" noGrp="1"/>
          </p:cNvSpPr>
          <p:nvPr/>
        </p:nvSpPr>
        <p:spPr>
          <a:xfrm xmlns:a="http://schemas.openxmlformats.org/drawingml/2006/main">
            <a:off x="566928" y="4334256"/>
            <a:ext cx="6400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effort index per institution — the shape is the argument, not the values</a:t>
            </a:r>
            <a:endParaRPr sz="880"/>
          </a:p>
        </p:txBody>
      </p:sp>
      <p:sp>
        <p:nvSpPr>
          <p:cNvPr id="6" name="Shape 3">
            <a:extLst xmlns:a="http://schemas.openxmlformats.org/drawingml/2006/main">
              <a:ext uri="{FF2B5EF4-FFF2-40B4-BE49-F238E27FC236}">
                <a16:creationId xmlns:a16="http://schemas.microsoft.com/office/drawing/2014/main" id="{650CA4B6-F5E2-4EAA-A2DD-2DEE7989CDE8}"/>
              </a:ext>
            </a:extLst>
          </p:cNvPr>
          <p:cNvSpPr>
            <a:spLocks xmlns:a="http://schemas.openxmlformats.org/drawingml/2006/main" noGrp="1"/>
          </p:cNvSpPr>
          <p:nvPr/>
        </p:nvSpPr>
        <p:spPr>
          <a:xfrm xmlns:a="http://schemas.openxmlformats.org/drawingml/2006/main">
            <a:off x="7333488" y="1426464"/>
            <a:ext cx="2075688" cy="896112"/>
          </a:xfrm>
          <a:prstGeom xmlns:a="http://schemas.openxmlformats.org/drawingml/2006/main" prst="rect">
            <a:avLst/>
          </a:prstGeom>
          <a:solidFill xmlns:a="http://schemas.openxmlformats.org/drawingml/2006/main">
            <a:srgbClr val="F0F4F8"/>
          </a:solidFill>
        </p:spPr>
      </p:sp>
      <p:sp>
        <p:nvSpPr>
          <p:cNvPr id="7" name="Text 4">
            <a:extLst xmlns:a="http://schemas.openxmlformats.org/drawingml/2006/main">
              <a:ext uri="{FF2B5EF4-FFF2-40B4-BE49-F238E27FC236}">
                <a16:creationId xmlns:a16="http://schemas.microsoft.com/office/drawing/2014/main" id="{44CA0524-5F7C-4CC9-B0C3-BD001F52B11B}"/>
              </a:ext>
            </a:extLst>
          </p:cNvPr>
          <p:cNvSpPr>
            <a:spLocks xmlns:a="http://schemas.openxmlformats.org/drawingml/2006/main" noGrp="1"/>
          </p:cNvSpPr>
          <p:nvPr/>
        </p:nvSpPr>
        <p:spPr>
          <a:xfrm xmlns:a="http://schemas.openxmlformats.org/drawingml/2006/main">
            <a:off x="7461504" y="1545336"/>
            <a:ext cx="18196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80</a:t>
            </a:r>
            <a:endParaRPr sz="2100"/>
          </a:p>
        </p:txBody>
      </p:sp>
      <p:sp>
        <p:nvSpPr>
          <p:cNvPr id="8" name="Text 5">
            <a:extLst xmlns:a="http://schemas.openxmlformats.org/drawingml/2006/main">
              <a:ext uri="{FF2B5EF4-FFF2-40B4-BE49-F238E27FC236}">
                <a16:creationId xmlns:a16="http://schemas.microsoft.com/office/drawing/2014/main" id="{571E0D38-D6E3-4981-AF02-7177D17DAC09}"/>
              </a:ext>
            </a:extLst>
          </p:cNvPr>
          <p:cNvSpPr>
            <a:spLocks xmlns:a="http://schemas.openxmlformats.org/drawingml/2006/main" noGrp="1"/>
          </p:cNvSpPr>
          <p:nvPr/>
        </p:nvSpPr>
        <p:spPr>
          <a:xfrm xmlns:a="http://schemas.openxmlformats.org/drawingml/2006/main">
            <a:off x="7461504" y="1938528"/>
            <a:ext cx="1819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effort index,</a:t>
            </a:r>
            <a:endParaRPr sz="860"/>
          </a:p>
          <a:p xmlns:a="http://schemas.openxmlformats.org/drawingml/2006/main">
            <a:pPr marL="0" indent="0">
              <a:lnSpc>
                <a:spcPts val="1050"/>
              </a:lnSpc>
              <a:buNone/>
            </a:pPr>
            <a:r>
              <a:rPr sz="860">
                <a:solidFill>
                  <a:srgbClr val="486581"/>
                </a:solidFill>
                <a:latin typeface="Arial"/>
                <a:ea typeface="Arial"/>
                <a:cs typeface="Arial"/>
              </a:rPr>
              <a:t>institution one</a:t>
            </a:r>
            <a:endParaRPr sz="860"/>
          </a:p>
        </p:txBody>
      </p:sp>
      <p:sp>
        <p:nvSpPr>
          <p:cNvPr id="9" name="Shape 6">
            <a:extLst xmlns:a="http://schemas.openxmlformats.org/drawingml/2006/main">
              <a:ext uri="{FF2B5EF4-FFF2-40B4-BE49-F238E27FC236}">
                <a16:creationId xmlns:a16="http://schemas.microsoft.com/office/drawing/2014/main" id="{8CDACD5B-BB1B-460D-A233-091B2179FA88}"/>
              </a:ext>
            </a:extLst>
          </p:cNvPr>
          <p:cNvSpPr>
            <a:spLocks xmlns:a="http://schemas.openxmlformats.org/drawingml/2006/main" noGrp="1"/>
          </p:cNvSpPr>
          <p:nvPr/>
        </p:nvSpPr>
        <p:spPr>
          <a:xfrm xmlns:a="http://schemas.openxmlformats.org/drawingml/2006/main">
            <a:off x="9546336" y="1426464"/>
            <a:ext cx="2075688" cy="896112"/>
          </a:xfrm>
          <a:prstGeom xmlns:a="http://schemas.openxmlformats.org/drawingml/2006/main" prst="rect">
            <a:avLst/>
          </a:prstGeom>
          <a:solidFill xmlns:a="http://schemas.openxmlformats.org/drawingml/2006/main">
            <a:srgbClr val="F0F4F8"/>
          </a:solidFill>
        </p:spPr>
      </p:sp>
      <p:sp>
        <p:nvSpPr>
          <p:cNvPr id="10" name="Text 7">
            <a:extLst xmlns:a="http://schemas.openxmlformats.org/drawingml/2006/main">
              <a:ext uri="{FF2B5EF4-FFF2-40B4-BE49-F238E27FC236}">
                <a16:creationId xmlns:a16="http://schemas.microsoft.com/office/drawing/2014/main" id="{4258CE7E-0F03-4FA0-BC11-B024764222F3}"/>
              </a:ext>
            </a:extLst>
          </p:cNvPr>
          <p:cNvSpPr>
            <a:spLocks xmlns:a="http://schemas.openxmlformats.org/drawingml/2006/main" noGrp="1"/>
          </p:cNvSpPr>
          <p:nvPr/>
        </p:nvSpPr>
        <p:spPr>
          <a:xfrm xmlns:a="http://schemas.openxmlformats.org/drawingml/2006/main">
            <a:off x="9674352" y="1545336"/>
            <a:ext cx="18196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102A43"/>
                </a:solidFill>
                <a:latin typeface="Arial"/>
                <a:ea typeface="Arial"/>
                <a:cs typeface="Arial"/>
              </a:rPr>
              <a:t>22</a:t>
            </a:r>
            <a:endParaRPr sz="2100"/>
          </a:p>
        </p:txBody>
      </p:sp>
      <p:sp>
        <p:nvSpPr>
          <p:cNvPr id="11" name="Text 8">
            <a:extLst xmlns:a="http://schemas.openxmlformats.org/drawingml/2006/main">
              <a:ext uri="{FF2B5EF4-FFF2-40B4-BE49-F238E27FC236}">
                <a16:creationId xmlns:a16="http://schemas.microsoft.com/office/drawing/2014/main" id="{D8D5B9CC-8634-45DE-9D74-D56F6A6BD6B5}"/>
              </a:ext>
            </a:extLst>
          </p:cNvPr>
          <p:cNvSpPr>
            <a:spLocks xmlns:a="http://schemas.openxmlformats.org/drawingml/2006/main" noGrp="1"/>
          </p:cNvSpPr>
          <p:nvPr/>
        </p:nvSpPr>
        <p:spPr>
          <a:xfrm xmlns:a="http://schemas.openxmlformats.org/drawingml/2006/main">
            <a:off x="9674352" y="1938528"/>
            <a:ext cx="1819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effort index,</a:t>
            </a:r>
            <a:endParaRPr sz="860"/>
          </a:p>
          <a:p xmlns:a="http://schemas.openxmlformats.org/drawingml/2006/main">
            <a:pPr marL="0" indent="0">
              <a:lnSpc>
                <a:spcPts val="1050"/>
              </a:lnSpc>
              <a:buNone/>
            </a:pPr>
            <a:r>
              <a:rPr sz="860">
                <a:solidFill>
                  <a:srgbClr val="486581"/>
                </a:solidFill>
                <a:latin typeface="Arial"/>
                <a:ea typeface="Arial"/>
                <a:cs typeface="Arial"/>
              </a:rPr>
              <a:t>later institutions</a:t>
            </a:r>
            <a:endParaRPr sz="860"/>
          </a:p>
        </p:txBody>
      </p:sp>
      <p:sp>
        <p:nvSpPr>
          <p:cNvPr id="12" name="Shape 9">
            <a:extLst xmlns:a="http://schemas.openxmlformats.org/drawingml/2006/main">
              <a:ext uri="{FF2B5EF4-FFF2-40B4-BE49-F238E27FC236}">
                <a16:creationId xmlns:a16="http://schemas.microsoft.com/office/drawing/2014/main" id="{B29F30E5-9ABD-496A-ABBA-763BABFBF764}"/>
              </a:ext>
            </a:extLst>
          </p:cNvPr>
          <p:cNvSpPr>
            <a:spLocks xmlns:a="http://schemas.openxmlformats.org/drawingml/2006/main" noGrp="1"/>
          </p:cNvSpPr>
          <p:nvPr/>
        </p:nvSpPr>
        <p:spPr>
          <a:xfrm xmlns:a="http://schemas.openxmlformats.org/drawingml/2006/main">
            <a:off x="7333488" y="2414016"/>
            <a:ext cx="2075688" cy="896112"/>
          </a:xfrm>
          <a:prstGeom xmlns:a="http://schemas.openxmlformats.org/drawingml/2006/main" prst="rect">
            <a:avLst/>
          </a:prstGeom>
          <a:solidFill xmlns:a="http://schemas.openxmlformats.org/drawingml/2006/main">
            <a:srgbClr val="F0F4F8"/>
          </a:solidFill>
        </p:spPr>
      </p:sp>
      <p:sp>
        <p:nvSpPr>
          <p:cNvPr id="13" name="Text 10">
            <a:extLst xmlns:a="http://schemas.openxmlformats.org/drawingml/2006/main">
              <a:ext uri="{FF2B5EF4-FFF2-40B4-BE49-F238E27FC236}">
                <a16:creationId xmlns:a16="http://schemas.microsoft.com/office/drawing/2014/main" id="{659261DC-697B-40FD-AC7B-601A3859766C}"/>
              </a:ext>
            </a:extLst>
          </p:cNvPr>
          <p:cNvSpPr>
            <a:spLocks xmlns:a="http://schemas.openxmlformats.org/drawingml/2006/main" noGrp="1"/>
          </p:cNvSpPr>
          <p:nvPr/>
        </p:nvSpPr>
        <p:spPr>
          <a:xfrm xmlns:a="http://schemas.openxmlformats.org/drawingml/2006/main">
            <a:off x="7461504" y="2532888"/>
            <a:ext cx="18196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2.8×</a:t>
            </a:r>
            <a:endParaRPr sz="2100"/>
          </a:p>
        </p:txBody>
      </p:sp>
      <p:sp>
        <p:nvSpPr>
          <p:cNvPr id="14" name="Text 11">
            <a:extLst xmlns:a="http://schemas.openxmlformats.org/drawingml/2006/main">
              <a:ext uri="{FF2B5EF4-FFF2-40B4-BE49-F238E27FC236}">
                <a16:creationId xmlns:a16="http://schemas.microsoft.com/office/drawing/2014/main" id="{D8C0911C-D5CA-43F0-82F0-4342E41C241A}"/>
              </a:ext>
            </a:extLst>
          </p:cNvPr>
          <p:cNvSpPr>
            <a:spLocks xmlns:a="http://schemas.openxmlformats.org/drawingml/2006/main" noGrp="1"/>
          </p:cNvSpPr>
          <p:nvPr/>
        </p:nvSpPr>
        <p:spPr>
          <a:xfrm xmlns:a="http://schemas.openxmlformats.org/drawingml/2006/main">
            <a:off x="7461504" y="2926080"/>
            <a:ext cx="1819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portfolio revenue</a:t>
            </a:r>
            <a:endParaRPr sz="860"/>
          </a:p>
          <a:p xmlns:a="http://schemas.openxmlformats.org/drawingml/2006/main">
            <a:pPr marL="0" indent="0">
              <a:lnSpc>
                <a:spcPts val="1050"/>
              </a:lnSpc>
              <a:buNone/>
            </a:pPr>
            <a:r>
              <a:rPr sz="860">
                <a:solidFill>
                  <a:srgbClr val="486581"/>
                </a:solidFill>
                <a:latin typeface="Arial"/>
                <a:ea typeface="Arial"/>
                <a:cs typeface="Arial"/>
              </a:rPr>
              <a:t>FY22 to FY26</a:t>
            </a:r>
            <a:endParaRPr sz="860"/>
          </a:p>
        </p:txBody>
      </p:sp>
      <p:sp>
        <p:nvSpPr>
          <p:cNvPr id="15" name="Shape 12">
            <a:extLst xmlns:a="http://schemas.openxmlformats.org/drawingml/2006/main">
              <a:ext uri="{FF2B5EF4-FFF2-40B4-BE49-F238E27FC236}">
                <a16:creationId xmlns:a16="http://schemas.microsoft.com/office/drawing/2014/main" id="{EA0B52F1-C8D9-45A0-BF2E-E934590C93A6}"/>
              </a:ext>
            </a:extLst>
          </p:cNvPr>
          <p:cNvSpPr>
            <a:spLocks xmlns:a="http://schemas.openxmlformats.org/drawingml/2006/main" noGrp="1"/>
          </p:cNvSpPr>
          <p:nvPr/>
        </p:nvSpPr>
        <p:spPr>
          <a:xfrm xmlns:a="http://schemas.openxmlformats.org/drawingml/2006/main">
            <a:off x="9546336" y="2414016"/>
            <a:ext cx="2075688" cy="896112"/>
          </a:xfrm>
          <a:prstGeom xmlns:a="http://schemas.openxmlformats.org/drawingml/2006/main" prst="rect">
            <a:avLst/>
          </a:prstGeom>
          <a:solidFill xmlns:a="http://schemas.openxmlformats.org/drawingml/2006/main">
            <a:srgbClr val="F0F4F8"/>
          </a:solidFill>
        </p:spPr>
      </p:sp>
      <p:sp>
        <p:nvSpPr>
          <p:cNvPr id="16" name="Text 13">
            <a:extLst xmlns:a="http://schemas.openxmlformats.org/drawingml/2006/main">
              <a:ext uri="{FF2B5EF4-FFF2-40B4-BE49-F238E27FC236}">
                <a16:creationId xmlns:a16="http://schemas.microsoft.com/office/drawing/2014/main" id="{4276A5FE-08DF-43B9-B7FF-FE40A620AC7D}"/>
              </a:ext>
            </a:extLst>
          </p:cNvPr>
          <p:cNvSpPr>
            <a:spLocks xmlns:a="http://schemas.openxmlformats.org/drawingml/2006/main" noGrp="1"/>
          </p:cNvSpPr>
          <p:nvPr/>
        </p:nvSpPr>
        <p:spPr>
          <a:xfrm xmlns:a="http://schemas.openxmlformats.org/drawingml/2006/main">
            <a:off x="9674352" y="2532888"/>
            <a:ext cx="1819656"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7" name="Text 14">
            <a:extLst xmlns:a="http://schemas.openxmlformats.org/drawingml/2006/main">
              <a:ext uri="{FF2B5EF4-FFF2-40B4-BE49-F238E27FC236}">
                <a16:creationId xmlns:a16="http://schemas.microsoft.com/office/drawing/2014/main" id="{B3CAF05F-EF8B-4EA4-8341-8AEDD2C508DF}"/>
              </a:ext>
            </a:extLst>
          </p:cNvPr>
          <p:cNvSpPr>
            <a:spLocks xmlns:a="http://schemas.openxmlformats.org/drawingml/2006/main" noGrp="1"/>
          </p:cNvSpPr>
          <p:nvPr/>
        </p:nvSpPr>
        <p:spPr>
          <a:xfrm xmlns:a="http://schemas.openxmlformats.org/drawingml/2006/main">
            <a:off x="9674352" y="2926080"/>
            <a:ext cx="181965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live recurring</a:t>
            </a:r>
            <a:endParaRPr sz="860"/>
          </a:p>
          <a:p xmlns:a="http://schemas.openxmlformats.org/drawingml/2006/main">
            <a:pPr marL="0" indent="0">
              <a:lnSpc>
                <a:spcPts val="1050"/>
              </a:lnSpc>
              <a:buNone/>
            </a:pPr>
            <a:r>
              <a:rPr sz="860">
                <a:solidFill>
                  <a:srgbClr val="486581"/>
                </a:solidFill>
                <a:latin typeface="Arial"/>
                <a:ea typeface="Arial"/>
                <a:cs typeface="Arial"/>
              </a:rPr>
              <a:t>revenue</a:t>
            </a:r>
            <a:endParaRPr sz="860"/>
          </a:p>
        </p:txBody>
      </p:sp>
      <p:sp>
        <p:nvSpPr>
          <p:cNvPr id="18" name="Text 15">
            <a:extLst xmlns:a="http://schemas.openxmlformats.org/drawingml/2006/main">
              <a:ext uri="{FF2B5EF4-FFF2-40B4-BE49-F238E27FC236}">
                <a16:creationId xmlns:a16="http://schemas.microsoft.com/office/drawing/2014/main" id="{5D86A336-2FCE-4428-BC4D-25ACEC8C751A}"/>
              </a:ext>
            </a:extLst>
          </p:cNvPr>
          <p:cNvSpPr>
            <a:spLocks xmlns:a="http://schemas.openxmlformats.org/drawingml/2006/main" noGrp="1"/>
          </p:cNvSpPr>
          <p:nvPr/>
        </p:nvSpPr>
        <p:spPr>
          <a:xfrm xmlns:a="http://schemas.openxmlformats.org/drawingml/2006/main">
            <a:off x="7333488" y="3474720"/>
            <a:ext cx="428853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curve does and does not say</a:t>
            </a:r>
            <a:endParaRPr sz="1100"/>
          </a:p>
        </p:txBody>
      </p:sp>
      <p:sp>
        <p:nvSpPr>
          <p:cNvPr id="19" name="Shape 16">
            <a:extLst xmlns:a="http://schemas.openxmlformats.org/drawingml/2006/main">
              <a:ext uri="{FF2B5EF4-FFF2-40B4-BE49-F238E27FC236}">
                <a16:creationId xmlns:a16="http://schemas.microsoft.com/office/drawing/2014/main" id="{55206068-69BB-4F0E-B4FA-3894E33079E1}"/>
              </a:ext>
            </a:extLst>
          </p:cNvPr>
          <p:cNvSpPr>
            <a:spLocks xmlns:a="http://schemas.openxmlformats.org/drawingml/2006/main" noGrp="1"/>
          </p:cNvSpPr>
          <p:nvPr/>
        </p:nvSpPr>
        <p:spPr>
          <a:xfrm xmlns:a="http://schemas.openxmlformats.org/drawingml/2006/main">
            <a:off x="7333488" y="3730752"/>
            <a:ext cx="4288536" cy="20117"/>
          </a:xfrm>
          <a:prstGeom xmlns:a="http://schemas.openxmlformats.org/drawingml/2006/main" prst="rect">
            <a:avLst/>
          </a:prstGeom>
          <a:solidFill xmlns:a="http://schemas.openxmlformats.org/drawingml/2006/main">
            <a:srgbClr val="102A43"/>
          </a:solidFill>
        </p:spPr>
      </p:sp>
      <p:sp>
        <p:nvSpPr>
          <p:cNvPr id="20" name="Text 17">
            <a:extLst xmlns:a="http://schemas.openxmlformats.org/drawingml/2006/main">
              <a:ext uri="{FF2B5EF4-FFF2-40B4-BE49-F238E27FC236}">
                <a16:creationId xmlns:a16="http://schemas.microsoft.com/office/drawing/2014/main" id="{E08BFFA0-DD3B-452E-B259-950365C6BB84}"/>
              </a:ext>
            </a:extLst>
          </p:cNvPr>
          <p:cNvSpPr>
            <a:spLocks xmlns:a="http://schemas.openxmlformats.org/drawingml/2006/main" noGrp="1"/>
          </p:cNvSpPr>
          <p:nvPr/>
        </p:nvSpPr>
        <p:spPr>
          <a:xfrm xmlns:a="http://schemas.openxmlformats.org/drawingml/2006/main">
            <a:off x="7333488" y="3877056"/>
            <a:ext cx="4288536"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Institution-specific effort falls but never approaches zero — the bespoke fifth is real work every time.</a:t>
            </a:r>
            <a:endParaRPr sz="940"/>
          </a:p>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Growth is not attributable to the factory alone; market, pricing and team all contributed.</a:t>
            </a:r>
            <a:endParaRPr sz="940"/>
          </a:p>
          <a:p xmlns:a="http://schemas.openxmlformats.org/drawingml/2006/main">
            <a:pPr marL="152400" indent="-152400">
              <a:lnSpc>
                <a:spcPts val="1400"/>
              </a:lnSpc>
              <a:spcAft>
                <a:spcPts val="700"/>
              </a:spcAft>
              <a:buSzPct val="100000"/>
              <a:buChar char="•"/>
            </a:pPr>
            <a:r>
              <a:rPr sz="940">
                <a:solidFill>
                  <a:srgbClr val="1A1A1A"/>
                </a:solidFill>
                <a:latin typeface="Arial"/>
                <a:ea typeface="Arial"/>
                <a:cs typeface="Arial"/>
              </a:rPr>
              <a:t>What the factory changed is the marginal cost of the next institution, which is what made a portfolio possible at all.</a:t>
            </a:r>
            <a:endParaRPr sz="940"/>
          </a:p>
        </p:txBody>
      </p:sp>
      <p:sp>
        <p:nvSpPr>
          <p:cNvPr id="21" name="Shape 18">
            <a:extLst xmlns:a="http://schemas.openxmlformats.org/drawingml/2006/main">
              <a:ext uri="{FF2B5EF4-FFF2-40B4-BE49-F238E27FC236}">
                <a16:creationId xmlns:a16="http://schemas.microsoft.com/office/drawing/2014/main" id="{B67B8652-98A6-4C12-ADCC-B6865207D01A}"/>
              </a:ext>
            </a:extLst>
          </p:cNvPr>
          <p:cNvSpPr>
            <a:spLocks xmlns:a="http://schemas.openxmlformats.org/drawingml/2006/main" noGrp="1"/>
          </p:cNvSpPr>
          <p:nvPr/>
        </p:nvSpPr>
        <p:spPr>
          <a:xfrm xmlns:a="http://schemas.openxmlformats.org/drawingml/2006/main">
            <a:off x="566928" y="4645152"/>
            <a:ext cx="11057839" cy="1426464"/>
          </a:xfrm>
          <a:prstGeom xmlns:a="http://schemas.openxmlformats.org/drawingml/2006/main" prst="rect">
            <a:avLst/>
          </a:prstGeom>
          <a:solidFill xmlns:a="http://schemas.openxmlformats.org/drawingml/2006/main">
            <a:srgbClr val="F3E6E0"/>
          </a:solidFill>
        </p:spPr>
      </p:sp>
      <p:sp>
        <p:nvSpPr>
          <p:cNvPr id="22" name="Text 19">
            <a:extLst xmlns:a="http://schemas.openxmlformats.org/drawingml/2006/main">
              <a:ext uri="{FF2B5EF4-FFF2-40B4-BE49-F238E27FC236}">
                <a16:creationId xmlns:a16="http://schemas.microsoft.com/office/drawing/2014/main" id="{CBC28034-D870-424F-BB45-21CA0F4804D1}"/>
              </a:ext>
            </a:extLst>
          </p:cNvPr>
          <p:cNvSpPr>
            <a:spLocks xmlns:a="http://schemas.openxmlformats.org/drawingml/2006/main" noGrp="1"/>
          </p:cNvSpPr>
          <p:nvPr/>
        </p:nvSpPr>
        <p:spPr>
          <a:xfrm xmlns:a="http://schemas.openxmlformats.org/drawingml/2006/main">
            <a:off x="804672" y="4791456"/>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commercial consequence of a falling marginal cost</a:t>
            </a:r>
            <a:endParaRPr sz="1100"/>
          </a:p>
        </p:txBody>
      </p:sp>
      <p:sp>
        <p:nvSpPr>
          <p:cNvPr id="23" name="Text 20">
            <a:extLst xmlns:a="http://schemas.openxmlformats.org/drawingml/2006/main">
              <a:ext uri="{FF2B5EF4-FFF2-40B4-BE49-F238E27FC236}">
                <a16:creationId xmlns:a16="http://schemas.microsoft.com/office/drawing/2014/main" id="{24F59A2E-EE5C-4765-B284-4AA40C344A62}"/>
              </a:ext>
            </a:extLst>
          </p:cNvPr>
          <p:cNvSpPr>
            <a:spLocks xmlns:a="http://schemas.openxmlformats.org/drawingml/2006/main" noGrp="1"/>
          </p:cNvSpPr>
          <p:nvPr/>
        </p:nvSpPr>
        <p:spPr>
          <a:xfrm xmlns:a="http://schemas.openxmlformats.org/drawingml/2006/main">
            <a:off x="804672" y="5047488"/>
            <a:ext cx="10582351"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At institution one the economics only work at a price point most community institutions cannot pay twice. At institution seven the same scope is deliverable at a price they can, with better margin on both sides.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is the actual unlock. It is not that the work got cheaper to do — it is that a market of institutions too small to fund a bespoke transformation became addressable. The portfolio revenue growth over the period follows from serving a market that was previously out of reach, not from doing the same work faster.</a:t>
            </a:r>
            <a:endParaRPr sz="990"/>
          </a:p>
        </p:txBody>
      </p:sp>
      <p:sp>
        <p:nvSpPr>
          <p:cNvPr id="24" name="Shape 21">
            <a:extLst xmlns:a="http://schemas.openxmlformats.org/drawingml/2006/main">
              <a:ext uri="{FF2B5EF4-FFF2-40B4-BE49-F238E27FC236}">
                <a16:creationId xmlns:a16="http://schemas.microsoft.com/office/drawing/2014/main" id="{C8049D41-AE48-49BD-9908-5825594A127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5" name="Text 22">
            <a:extLst xmlns:a="http://schemas.openxmlformats.org/drawingml/2006/main">
              <a:ext uri="{FF2B5EF4-FFF2-40B4-BE49-F238E27FC236}">
                <a16:creationId xmlns:a16="http://schemas.microsoft.com/office/drawing/2014/main" id="{9130C66C-DE33-4F52-B366-B0386026F51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effort model (illustrative) · reported business-unit ratios (growth)</a:t>
            </a:r>
            <a:endParaRPr sz="850"/>
          </a:p>
        </p:txBody>
      </p:sp>
      <p:sp>
        <p:nvSpPr>
          <p:cNvPr id="26" name="Text 23">
            <a:extLst xmlns:a="http://schemas.openxmlformats.org/drawingml/2006/main">
              <a:ext uri="{FF2B5EF4-FFF2-40B4-BE49-F238E27FC236}">
                <a16:creationId xmlns:a16="http://schemas.microsoft.com/office/drawing/2014/main" id="{3FC83C06-D8DD-4692-95EE-1D9BDABF8CD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97103208"/>
      </p:ext>
    </p:extLst>
  </p:cSld>
</p:sld>
</file>

<file path=ppt/slides/slide26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0D1BF6D-8EC9-4627-B833-D2114D81516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MADE IT REPEATABLE</a:t>
            </a:r>
            <a:endParaRPr sz="950"/>
          </a:p>
        </p:txBody>
      </p:sp>
      <p:sp>
        <p:nvSpPr>
          <p:cNvPr id="3" name="Text 1">
            <a:extLst xmlns:a="http://schemas.openxmlformats.org/drawingml/2006/main">
              <a:ext uri="{FF2B5EF4-FFF2-40B4-BE49-F238E27FC236}">
                <a16:creationId xmlns:a16="http://schemas.microsoft.com/office/drawing/2014/main" id="{D618D0D9-A5C5-459A-8605-68E2106506C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 practices, and only two of them are technical</a:t>
            </a:r>
            <a:endParaRPr sz="1900"/>
          </a:p>
        </p:txBody>
      </p:sp>
      <p:sp>
        <p:nvSpPr>
          <p:cNvPr id="4" name="Shape 2">
            <a:extLst xmlns:a="http://schemas.openxmlformats.org/drawingml/2006/main">
              <a:ext uri="{FF2B5EF4-FFF2-40B4-BE49-F238E27FC236}">
                <a16:creationId xmlns:a16="http://schemas.microsoft.com/office/drawing/2014/main" id="{B7CA70EE-0727-46FC-A3E6-E8E868C6F245}"/>
              </a:ext>
            </a:extLst>
          </p:cNvPr>
          <p:cNvSpPr>
            <a:spLocks xmlns:a="http://schemas.openxmlformats.org/drawingml/2006/main" noGrp="1"/>
          </p:cNvSpPr>
          <p:nvPr/>
        </p:nvSpPr>
        <p:spPr>
          <a:xfrm xmlns:a="http://schemas.openxmlformats.org/drawingml/2006/main">
            <a:off x="566928" y="1335024"/>
            <a:ext cx="5391760" cy="115214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6EB292D3-6A4B-4793-AB89-6DFFDD9828A9}"/>
              </a:ext>
            </a:extLst>
          </p:cNvPr>
          <p:cNvSpPr>
            <a:spLocks xmlns:a="http://schemas.openxmlformats.org/drawingml/2006/main" noGrp="1"/>
          </p:cNvSpPr>
          <p:nvPr/>
        </p:nvSpPr>
        <p:spPr>
          <a:xfrm xmlns:a="http://schemas.openxmlformats.org/drawingml/2006/main">
            <a:off x="786384" y="1481328"/>
            <a:ext cx="4020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A named platform owner</a:t>
            </a:r>
            <a:endParaRPr sz="1160"/>
          </a:p>
        </p:txBody>
      </p:sp>
      <p:sp>
        <p:nvSpPr>
          <p:cNvPr id="6" name="Shape 4">
            <a:extLst xmlns:a="http://schemas.openxmlformats.org/drawingml/2006/main">
              <a:ext uri="{FF2B5EF4-FFF2-40B4-BE49-F238E27FC236}">
                <a16:creationId xmlns:a16="http://schemas.microsoft.com/office/drawing/2014/main" id="{ABE2C6E8-092D-47B5-A8A2-94B27691FFA9}"/>
              </a:ext>
            </a:extLst>
          </p:cNvPr>
          <p:cNvSpPr>
            <a:spLocks xmlns:a="http://schemas.openxmlformats.org/drawingml/2006/main" noGrp="1"/>
          </p:cNvSpPr>
          <p:nvPr/>
        </p:nvSpPr>
        <p:spPr>
          <a:xfrm xmlns:a="http://schemas.openxmlformats.org/drawingml/2006/main">
            <a:off x="4861408" y="1490472"/>
            <a:ext cx="877824" cy="237744"/>
          </a:xfrm>
          <a:prstGeom xmlns:a="http://schemas.openxmlformats.org/drawingml/2006/main" prst="roundRect">
            <a:avLst>
              <a:gd name="adj" fmla="val 30769"/>
            </a:avLst>
          </a:prstGeom>
          <a:solidFill xmlns:a="http://schemas.openxmlformats.org/drawingml/2006/main">
            <a:srgbClr val="E8CFC4"/>
          </a:solidFill>
        </p:spPr>
      </p:sp>
      <p:sp>
        <p:nvSpPr>
          <p:cNvPr id="7" name="Text 5">
            <a:extLst xmlns:a="http://schemas.openxmlformats.org/drawingml/2006/main">
              <a:ext uri="{FF2B5EF4-FFF2-40B4-BE49-F238E27FC236}">
                <a16:creationId xmlns:a16="http://schemas.microsoft.com/office/drawing/2014/main" id="{21FAB853-6EDD-4DDE-98C7-4CC446727D10}"/>
              </a:ext>
            </a:extLst>
          </p:cNvPr>
          <p:cNvSpPr>
            <a:spLocks xmlns:a="http://schemas.openxmlformats.org/drawingml/2006/main" noGrp="1"/>
          </p:cNvSpPr>
          <p:nvPr/>
        </p:nvSpPr>
        <p:spPr>
          <a:xfrm xmlns:a="http://schemas.openxmlformats.org/drawingml/2006/main">
            <a:off x="4861408" y="1522476"/>
            <a:ext cx="87782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Governance</a:t>
            </a:r>
            <a:endParaRPr sz="820"/>
          </a:p>
        </p:txBody>
      </p:sp>
      <p:sp>
        <p:nvSpPr>
          <p:cNvPr id="8" name="Text 6">
            <a:extLst xmlns:a="http://schemas.openxmlformats.org/drawingml/2006/main">
              <a:ext uri="{FF2B5EF4-FFF2-40B4-BE49-F238E27FC236}">
                <a16:creationId xmlns:a16="http://schemas.microsoft.com/office/drawing/2014/main" id="{85A8B4CF-3245-43D9-99A6-F73DF7B4BDEE}"/>
              </a:ext>
            </a:extLst>
          </p:cNvPr>
          <p:cNvSpPr>
            <a:spLocks xmlns:a="http://schemas.openxmlformats.org/drawingml/2006/main" noGrp="1"/>
          </p:cNvSpPr>
          <p:nvPr/>
        </p:nvSpPr>
        <p:spPr>
          <a:xfrm xmlns:a="http://schemas.openxmlformats.org/drawingml/2006/main">
            <a:off x="786384" y="1792224"/>
            <a:ext cx="495284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One person accountable for the common platform, whose authority sits above any single client delivery date. Without this the first fork happens in month three.</a:t>
            </a:r>
            <a:endParaRPr sz="940"/>
          </a:p>
        </p:txBody>
      </p:sp>
      <p:sp>
        <p:nvSpPr>
          <p:cNvPr id="9" name="Shape 7">
            <a:extLst xmlns:a="http://schemas.openxmlformats.org/drawingml/2006/main">
              <a:ext uri="{FF2B5EF4-FFF2-40B4-BE49-F238E27FC236}">
                <a16:creationId xmlns:a16="http://schemas.microsoft.com/office/drawing/2014/main" id="{60C7A3D9-A269-4E72-8508-D0001EE94969}"/>
              </a:ext>
            </a:extLst>
          </p:cNvPr>
          <p:cNvSpPr>
            <a:spLocks xmlns:a="http://schemas.openxmlformats.org/drawingml/2006/main" noGrp="1"/>
          </p:cNvSpPr>
          <p:nvPr/>
        </p:nvSpPr>
        <p:spPr>
          <a:xfrm xmlns:a="http://schemas.openxmlformats.org/drawingml/2006/main">
            <a:off x="6233008" y="1335024"/>
            <a:ext cx="5391760" cy="1152144"/>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FA9E46B7-2771-4DEC-9233-D9A8582FB80D}"/>
              </a:ext>
            </a:extLst>
          </p:cNvPr>
          <p:cNvSpPr>
            <a:spLocks xmlns:a="http://schemas.openxmlformats.org/drawingml/2006/main" noGrp="1"/>
          </p:cNvSpPr>
          <p:nvPr/>
        </p:nvSpPr>
        <p:spPr>
          <a:xfrm xmlns:a="http://schemas.openxmlformats.org/drawingml/2006/main">
            <a:off x="6452464" y="1481328"/>
            <a:ext cx="4020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Enhancement, never fork</a:t>
            </a:r>
            <a:endParaRPr sz="1160"/>
          </a:p>
        </p:txBody>
      </p:sp>
      <p:sp>
        <p:nvSpPr>
          <p:cNvPr id="11" name="Shape 9">
            <a:extLst xmlns:a="http://schemas.openxmlformats.org/drawingml/2006/main">
              <a:ext uri="{FF2B5EF4-FFF2-40B4-BE49-F238E27FC236}">
                <a16:creationId xmlns:a16="http://schemas.microsoft.com/office/drawing/2014/main" id="{B359749E-8646-48E9-BA44-7AF47E8EDD7A}"/>
              </a:ext>
            </a:extLst>
          </p:cNvPr>
          <p:cNvSpPr>
            <a:spLocks xmlns:a="http://schemas.openxmlformats.org/drawingml/2006/main" noGrp="1"/>
          </p:cNvSpPr>
          <p:nvPr/>
        </p:nvSpPr>
        <p:spPr>
          <a:xfrm xmlns:a="http://schemas.openxmlformats.org/drawingml/2006/main">
            <a:off x="10527487" y="1490472"/>
            <a:ext cx="877824" cy="237744"/>
          </a:xfrm>
          <a:prstGeom xmlns:a="http://schemas.openxmlformats.org/drawingml/2006/main" prst="roundRect">
            <a:avLst>
              <a:gd name="adj" fmla="val 30769"/>
            </a:avLst>
          </a:prstGeom>
          <a:solidFill xmlns:a="http://schemas.openxmlformats.org/drawingml/2006/main">
            <a:srgbClr val="E8CFC4"/>
          </a:solidFill>
        </p:spPr>
      </p:sp>
      <p:sp>
        <p:nvSpPr>
          <p:cNvPr id="12" name="Text 10">
            <a:extLst xmlns:a="http://schemas.openxmlformats.org/drawingml/2006/main">
              <a:ext uri="{FF2B5EF4-FFF2-40B4-BE49-F238E27FC236}">
                <a16:creationId xmlns:a16="http://schemas.microsoft.com/office/drawing/2014/main" id="{E74F5A90-9E36-455B-BB28-BE201F940649}"/>
              </a:ext>
            </a:extLst>
          </p:cNvPr>
          <p:cNvSpPr>
            <a:spLocks xmlns:a="http://schemas.openxmlformats.org/drawingml/2006/main" noGrp="1"/>
          </p:cNvSpPr>
          <p:nvPr/>
        </p:nvSpPr>
        <p:spPr>
          <a:xfrm xmlns:a="http://schemas.openxmlformats.org/drawingml/2006/main">
            <a:off x="10527487" y="1522476"/>
            <a:ext cx="87782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Governance</a:t>
            </a:r>
            <a:endParaRPr sz="820"/>
          </a:p>
        </p:txBody>
      </p:sp>
      <p:sp>
        <p:nvSpPr>
          <p:cNvPr id="13" name="Text 11">
            <a:extLst xmlns:a="http://schemas.openxmlformats.org/drawingml/2006/main">
              <a:ext uri="{FF2B5EF4-FFF2-40B4-BE49-F238E27FC236}">
                <a16:creationId xmlns:a16="http://schemas.microsoft.com/office/drawing/2014/main" id="{0F304A1C-29E4-47FD-81BB-D95F8D794153}"/>
              </a:ext>
            </a:extLst>
          </p:cNvPr>
          <p:cNvSpPr>
            <a:spLocks xmlns:a="http://schemas.openxmlformats.org/drawingml/2006/main" noGrp="1"/>
          </p:cNvSpPr>
          <p:nvPr/>
        </p:nvSpPr>
        <p:spPr>
          <a:xfrm xmlns:a="http://schemas.openxmlformats.org/drawingml/2006/main">
            <a:off x="6452464" y="1792224"/>
            <a:ext cx="495284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A client need that the platform does not meet becomes a platform enhancement every institution inherits, or it goes in the bespoke fifth. There is no third option.</a:t>
            </a:r>
            <a:endParaRPr sz="940"/>
          </a:p>
        </p:txBody>
      </p:sp>
      <p:sp>
        <p:nvSpPr>
          <p:cNvPr id="14" name="Shape 12">
            <a:extLst xmlns:a="http://schemas.openxmlformats.org/drawingml/2006/main">
              <a:ext uri="{FF2B5EF4-FFF2-40B4-BE49-F238E27FC236}">
                <a16:creationId xmlns:a16="http://schemas.microsoft.com/office/drawing/2014/main" id="{E960858C-692C-4FA2-8F56-9686385BB630}"/>
              </a:ext>
            </a:extLst>
          </p:cNvPr>
          <p:cNvSpPr>
            <a:spLocks xmlns:a="http://schemas.openxmlformats.org/drawingml/2006/main" noGrp="1"/>
          </p:cNvSpPr>
          <p:nvPr/>
        </p:nvSpPr>
        <p:spPr>
          <a:xfrm xmlns:a="http://schemas.openxmlformats.org/drawingml/2006/main">
            <a:off x="566928" y="2633472"/>
            <a:ext cx="5391760" cy="115214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FC4FEA70-2D3A-4809-A541-F01900B524BD}"/>
              </a:ext>
            </a:extLst>
          </p:cNvPr>
          <p:cNvSpPr>
            <a:spLocks xmlns:a="http://schemas.openxmlformats.org/drawingml/2006/main" noGrp="1"/>
          </p:cNvSpPr>
          <p:nvPr/>
        </p:nvSpPr>
        <p:spPr>
          <a:xfrm xmlns:a="http://schemas.openxmlformats.org/drawingml/2006/main">
            <a:off x="786384" y="2779776"/>
            <a:ext cx="4020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A published common model</a:t>
            </a:r>
            <a:endParaRPr sz="1160"/>
          </a:p>
        </p:txBody>
      </p:sp>
      <p:sp>
        <p:nvSpPr>
          <p:cNvPr id="16" name="Shape 14">
            <a:extLst xmlns:a="http://schemas.openxmlformats.org/drawingml/2006/main">
              <a:ext uri="{FF2B5EF4-FFF2-40B4-BE49-F238E27FC236}">
                <a16:creationId xmlns:a16="http://schemas.microsoft.com/office/drawing/2014/main" id="{B535FD7A-AA2C-48E7-868A-AC31F1FE9C9D}"/>
              </a:ext>
            </a:extLst>
          </p:cNvPr>
          <p:cNvSpPr>
            <a:spLocks xmlns:a="http://schemas.openxmlformats.org/drawingml/2006/main" noGrp="1"/>
          </p:cNvSpPr>
          <p:nvPr/>
        </p:nvSpPr>
        <p:spPr>
          <a:xfrm xmlns:a="http://schemas.openxmlformats.org/drawingml/2006/main">
            <a:off x="4861408" y="2788920"/>
            <a:ext cx="877824" cy="237744"/>
          </a:xfrm>
          <a:prstGeom xmlns:a="http://schemas.openxmlformats.org/drawingml/2006/main" prst="roundRect">
            <a:avLst>
              <a:gd name="adj" fmla="val 30769"/>
            </a:avLst>
          </a:prstGeom>
          <a:solidFill xmlns:a="http://schemas.openxmlformats.org/drawingml/2006/main">
            <a:srgbClr val="DCE5EE"/>
          </a:solidFill>
        </p:spPr>
      </p:sp>
      <p:sp>
        <p:nvSpPr>
          <p:cNvPr id="17" name="Text 15">
            <a:extLst xmlns:a="http://schemas.openxmlformats.org/drawingml/2006/main">
              <a:ext uri="{FF2B5EF4-FFF2-40B4-BE49-F238E27FC236}">
                <a16:creationId xmlns:a16="http://schemas.microsoft.com/office/drawing/2014/main" id="{9D85EC11-B3E2-4779-9477-01D3597B8A61}"/>
              </a:ext>
            </a:extLst>
          </p:cNvPr>
          <p:cNvSpPr>
            <a:spLocks xmlns:a="http://schemas.openxmlformats.org/drawingml/2006/main" noGrp="1"/>
          </p:cNvSpPr>
          <p:nvPr/>
        </p:nvSpPr>
        <p:spPr>
          <a:xfrm xmlns:a="http://schemas.openxmlformats.org/drawingml/2006/main">
            <a:off x="4861408" y="2820924"/>
            <a:ext cx="87782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Method</a:t>
            </a:r>
            <a:endParaRPr sz="820"/>
          </a:p>
        </p:txBody>
      </p:sp>
      <p:sp>
        <p:nvSpPr>
          <p:cNvPr id="18" name="Text 16">
            <a:extLst xmlns:a="http://schemas.openxmlformats.org/drawingml/2006/main">
              <a:ext uri="{FF2B5EF4-FFF2-40B4-BE49-F238E27FC236}">
                <a16:creationId xmlns:a16="http://schemas.microsoft.com/office/drawing/2014/main" id="{D28AA165-DCA3-4845-A90A-AE1DC677136D}"/>
              </a:ext>
            </a:extLst>
          </p:cNvPr>
          <p:cNvSpPr>
            <a:spLocks xmlns:a="http://schemas.openxmlformats.org/drawingml/2006/main" noGrp="1"/>
          </p:cNvSpPr>
          <p:nvPr/>
        </p:nvSpPr>
        <p:spPr>
          <a:xfrm xmlns:a="http://schemas.openxmlformats.org/drawingml/2006/main">
            <a:off x="786384" y="3090672"/>
            <a:ext cx="495284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Institutions see the standard model at the start and mark what does not fit, rather than specifying from a blank page. The list is dramatically shorter.</a:t>
            </a:r>
            <a:endParaRPr sz="940"/>
          </a:p>
        </p:txBody>
      </p:sp>
      <p:sp>
        <p:nvSpPr>
          <p:cNvPr id="19" name="Shape 17">
            <a:extLst xmlns:a="http://schemas.openxmlformats.org/drawingml/2006/main">
              <a:ext uri="{FF2B5EF4-FFF2-40B4-BE49-F238E27FC236}">
                <a16:creationId xmlns:a16="http://schemas.microsoft.com/office/drawing/2014/main" id="{99A8C3C3-7EFF-42F1-8A24-6B07B88D0C4C}"/>
              </a:ext>
            </a:extLst>
          </p:cNvPr>
          <p:cNvSpPr>
            <a:spLocks xmlns:a="http://schemas.openxmlformats.org/drawingml/2006/main" noGrp="1"/>
          </p:cNvSpPr>
          <p:nvPr/>
        </p:nvSpPr>
        <p:spPr>
          <a:xfrm xmlns:a="http://schemas.openxmlformats.org/drawingml/2006/main">
            <a:off x="6233008" y="2633472"/>
            <a:ext cx="5391760" cy="1152144"/>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64658518-CC26-4DEC-BB7D-A580F872FB2A}"/>
              </a:ext>
            </a:extLst>
          </p:cNvPr>
          <p:cNvSpPr>
            <a:spLocks xmlns:a="http://schemas.openxmlformats.org/drawingml/2006/main" noGrp="1"/>
          </p:cNvSpPr>
          <p:nvPr/>
        </p:nvSpPr>
        <p:spPr>
          <a:xfrm xmlns:a="http://schemas.openxmlformats.org/drawingml/2006/main">
            <a:off x="6452464" y="2779776"/>
            <a:ext cx="4020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Deployment runbooks</a:t>
            </a:r>
            <a:endParaRPr sz="1160"/>
          </a:p>
        </p:txBody>
      </p:sp>
      <p:sp>
        <p:nvSpPr>
          <p:cNvPr id="21" name="Shape 19">
            <a:extLst xmlns:a="http://schemas.openxmlformats.org/drawingml/2006/main">
              <a:ext uri="{FF2B5EF4-FFF2-40B4-BE49-F238E27FC236}">
                <a16:creationId xmlns:a16="http://schemas.microsoft.com/office/drawing/2014/main" id="{20D2CCB2-003B-4998-8A53-09976FC9DD43}"/>
              </a:ext>
            </a:extLst>
          </p:cNvPr>
          <p:cNvSpPr>
            <a:spLocks xmlns:a="http://schemas.openxmlformats.org/drawingml/2006/main" noGrp="1"/>
          </p:cNvSpPr>
          <p:nvPr/>
        </p:nvSpPr>
        <p:spPr>
          <a:xfrm xmlns:a="http://schemas.openxmlformats.org/drawingml/2006/main">
            <a:off x="10527487" y="2788920"/>
            <a:ext cx="877824" cy="237744"/>
          </a:xfrm>
          <a:prstGeom xmlns:a="http://schemas.openxmlformats.org/drawingml/2006/main" prst="roundRect">
            <a:avLst>
              <a:gd name="adj" fmla="val 30769"/>
            </a:avLst>
          </a:prstGeom>
          <a:solidFill xmlns:a="http://schemas.openxmlformats.org/drawingml/2006/main">
            <a:srgbClr val="DCE5EE"/>
          </a:solidFill>
        </p:spPr>
      </p:sp>
      <p:sp>
        <p:nvSpPr>
          <p:cNvPr id="22" name="Text 20">
            <a:extLst xmlns:a="http://schemas.openxmlformats.org/drawingml/2006/main">
              <a:ext uri="{FF2B5EF4-FFF2-40B4-BE49-F238E27FC236}">
                <a16:creationId xmlns:a16="http://schemas.microsoft.com/office/drawing/2014/main" id="{BAEDC555-A657-4CFC-AADB-0A3F583BDE45}"/>
              </a:ext>
            </a:extLst>
          </p:cNvPr>
          <p:cNvSpPr>
            <a:spLocks xmlns:a="http://schemas.openxmlformats.org/drawingml/2006/main" noGrp="1"/>
          </p:cNvSpPr>
          <p:nvPr/>
        </p:nvSpPr>
        <p:spPr>
          <a:xfrm xmlns:a="http://schemas.openxmlformats.org/drawingml/2006/main">
            <a:off x="10527487" y="2820924"/>
            <a:ext cx="87782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Method</a:t>
            </a:r>
            <a:endParaRPr sz="820"/>
          </a:p>
        </p:txBody>
      </p:sp>
      <p:sp>
        <p:nvSpPr>
          <p:cNvPr id="23" name="Text 21">
            <a:extLst xmlns:a="http://schemas.openxmlformats.org/drawingml/2006/main">
              <a:ext uri="{FF2B5EF4-FFF2-40B4-BE49-F238E27FC236}">
                <a16:creationId xmlns:a16="http://schemas.microsoft.com/office/drawing/2014/main" id="{124123BB-CA1C-4827-8585-FFA510E04B13}"/>
              </a:ext>
            </a:extLst>
          </p:cNvPr>
          <p:cNvSpPr>
            <a:spLocks xmlns:a="http://schemas.openxmlformats.org/drawingml/2006/main" noGrp="1"/>
          </p:cNvSpPr>
          <p:nvPr/>
        </p:nvSpPr>
        <p:spPr>
          <a:xfrm xmlns:a="http://schemas.openxmlformats.org/drawingml/2006/main">
            <a:off x="6452464" y="3090672"/>
            <a:ext cx="495284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Environment build, configuration load, integration setup and test packs are documented artefacts, not knowledge held by whoever did the last one.</a:t>
            </a:r>
            <a:endParaRPr sz="940"/>
          </a:p>
        </p:txBody>
      </p:sp>
      <p:sp>
        <p:nvSpPr>
          <p:cNvPr id="24" name="Shape 22">
            <a:extLst xmlns:a="http://schemas.openxmlformats.org/drawingml/2006/main">
              <a:ext uri="{FF2B5EF4-FFF2-40B4-BE49-F238E27FC236}">
                <a16:creationId xmlns:a16="http://schemas.microsoft.com/office/drawing/2014/main" id="{5EB5091C-F15D-4F70-B4ED-12ACEFD26F7E}"/>
              </a:ext>
            </a:extLst>
          </p:cNvPr>
          <p:cNvSpPr>
            <a:spLocks xmlns:a="http://schemas.openxmlformats.org/drawingml/2006/main" noGrp="1"/>
          </p:cNvSpPr>
          <p:nvPr/>
        </p:nvSpPr>
        <p:spPr>
          <a:xfrm xmlns:a="http://schemas.openxmlformats.org/drawingml/2006/main">
            <a:off x="566928" y="3931920"/>
            <a:ext cx="5391760" cy="1152144"/>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D691DB62-1241-4F19-A7FB-3A370A4A7A7A}"/>
              </a:ext>
            </a:extLst>
          </p:cNvPr>
          <p:cNvSpPr>
            <a:spLocks xmlns:a="http://schemas.openxmlformats.org/drawingml/2006/main" noGrp="1"/>
          </p:cNvSpPr>
          <p:nvPr/>
        </p:nvSpPr>
        <p:spPr>
          <a:xfrm xmlns:a="http://schemas.openxmlformats.org/drawingml/2006/main">
            <a:off x="786384" y="4078224"/>
            <a:ext cx="4020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A pattern library for integration</a:t>
            </a:r>
            <a:endParaRPr sz="1160"/>
          </a:p>
        </p:txBody>
      </p:sp>
      <p:sp>
        <p:nvSpPr>
          <p:cNvPr id="26" name="Shape 24">
            <a:extLst xmlns:a="http://schemas.openxmlformats.org/drawingml/2006/main">
              <a:ext uri="{FF2B5EF4-FFF2-40B4-BE49-F238E27FC236}">
                <a16:creationId xmlns:a16="http://schemas.microsoft.com/office/drawing/2014/main" id="{E5281A54-729F-43D5-9234-D1FD5FED07F7}"/>
              </a:ext>
            </a:extLst>
          </p:cNvPr>
          <p:cNvSpPr>
            <a:spLocks xmlns:a="http://schemas.openxmlformats.org/drawingml/2006/main" noGrp="1"/>
          </p:cNvSpPr>
          <p:nvPr/>
        </p:nvSpPr>
        <p:spPr>
          <a:xfrm xmlns:a="http://schemas.openxmlformats.org/drawingml/2006/main">
            <a:off x="4861408" y="4087368"/>
            <a:ext cx="877824" cy="237744"/>
          </a:xfrm>
          <a:prstGeom xmlns:a="http://schemas.openxmlformats.org/drawingml/2006/main" prst="roundRect">
            <a:avLst>
              <a:gd name="adj" fmla="val 30769"/>
            </a:avLst>
          </a:prstGeom>
          <a:solidFill xmlns:a="http://schemas.openxmlformats.org/drawingml/2006/main">
            <a:srgbClr val="DCE5EE"/>
          </a:solidFill>
        </p:spPr>
      </p:sp>
      <p:sp>
        <p:nvSpPr>
          <p:cNvPr id="27" name="Text 25">
            <a:extLst xmlns:a="http://schemas.openxmlformats.org/drawingml/2006/main">
              <a:ext uri="{FF2B5EF4-FFF2-40B4-BE49-F238E27FC236}">
                <a16:creationId xmlns:a16="http://schemas.microsoft.com/office/drawing/2014/main" id="{959A3B55-DDCE-4951-A546-DB0559229A8B}"/>
              </a:ext>
            </a:extLst>
          </p:cNvPr>
          <p:cNvSpPr>
            <a:spLocks xmlns:a="http://schemas.openxmlformats.org/drawingml/2006/main" noGrp="1"/>
          </p:cNvSpPr>
          <p:nvPr/>
        </p:nvSpPr>
        <p:spPr>
          <a:xfrm xmlns:a="http://schemas.openxmlformats.org/drawingml/2006/main">
            <a:off x="4861408" y="4119372"/>
            <a:ext cx="87782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Technical</a:t>
            </a:r>
            <a:endParaRPr sz="820"/>
          </a:p>
        </p:txBody>
      </p:sp>
      <p:sp>
        <p:nvSpPr>
          <p:cNvPr id="28" name="Text 26">
            <a:extLst xmlns:a="http://schemas.openxmlformats.org/drawingml/2006/main">
              <a:ext uri="{FF2B5EF4-FFF2-40B4-BE49-F238E27FC236}">
                <a16:creationId xmlns:a16="http://schemas.microsoft.com/office/drawing/2014/main" id="{141F7BC8-0383-4B0D-BF09-CD6105195254}"/>
              </a:ext>
            </a:extLst>
          </p:cNvPr>
          <p:cNvSpPr>
            <a:spLocks xmlns:a="http://schemas.openxmlformats.org/drawingml/2006/main" noGrp="1"/>
          </p:cNvSpPr>
          <p:nvPr/>
        </p:nvSpPr>
        <p:spPr>
          <a:xfrm xmlns:a="http://schemas.openxmlformats.org/drawingml/2006/main">
            <a:off x="786384" y="4389120"/>
            <a:ext cx="495284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Core-banking connections follow four established patterns rather than being designed per client. New institutions on a known core inherit the whole set.</a:t>
            </a:r>
            <a:endParaRPr sz="940"/>
          </a:p>
        </p:txBody>
      </p:sp>
      <p:sp>
        <p:nvSpPr>
          <p:cNvPr id="29" name="Shape 27">
            <a:extLst xmlns:a="http://schemas.openxmlformats.org/drawingml/2006/main">
              <a:ext uri="{FF2B5EF4-FFF2-40B4-BE49-F238E27FC236}">
                <a16:creationId xmlns:a16="http://schemas.microsoft.com/office/drawing/2014/main" id="{9C25DF79-C12A-46C0-B01F-796537F6A8DF}"/>
              </a:ext>
            </a:extLst>
          </p:cNvPr>
          <p:cNvSpPr>
            <a:spLocks xmlns:a="http://schemas.openxmlformats.org/drawingml/2006/main" noGrp="1"/>
          </p:cNvSpPr>
          <p:nvPr/>
        </p:nvSpPr>
        <p:spPr>
          <a:xfrm xmlns:a="http://schemas.openxmlformats.org/drawingml/2006/main">
            <a:off x="6233008" y="3931920"/>
            <a:ext cx="5391760" cy="115214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03967EC2-FFD9-4932-A1B0-E4757C63EB90}"/>
              </a:ext>
            </a:extLst>
          </p:cNvPr>
          <p:cNvSpPr>
            <a:spLocks xmlns:a="http://schemas.openxmlformats.org/drawingml/2006/main" noGrp="1"/>
          </p:cNvSpPr>
          <p:nvPr/>
        </p:nvSpPr>
        <p:spPr>
          <a:xfrm xmlns:a="http://schemas.openxmlformats.org/drawingml/2006/main">
            <a:off x="6452464" y="4078224"/>
            <a:ext cx="402016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60" b="1">
                <a:solidFill>
                  <a:srgbClr val="102A43"/>
                </a:solidFill>
                <a:latin typeface="Arial"/>
                <a:ea typeface="Arial"/>
                <a:cs typeface="Arial"/>
              </a:rPr>
              <a:t>Configuration over code, enforced</a:t>
            </a:r>
            <a:endParaRPr sz="1160"/>
          </a:p>
        </p:txBody>
      </p:sp>
      <p:sp>
        <p:nvSpPr>
          <p:cNvPr id="31" name="Shape 29">
            <a:extLst xmlns:a="http://schemas.openxmlformats.org/drawingml/2006/main">
              <a:ext uri="{FF2B5EF4-FFF2-40B4-BE49-F238E27FC236}">
                <a16:creationId xmlns:a16="http://schemas.microsoft.com/office/drawing/2014/main" id="{625B5EC2-958A-4F68-A700-B42D4D4CAB6F}"/>
              </a:ext>
            </a:extLst>
          </p:cNvPr>
          <p:cNvSpPr>
            <a:spLocks xmlns:a="http://schemas.openxmlformats.org/drawingml/2006/main" noGrp="1"/>
          </p:cNvSpPr>
          <p:nvPr/>
        </p:nvSpPr>
        <p:spPr>
          <a:xfrm xmlns:a="http://schemas.openxmlformats.org/drawingml/2006/main">
            <a:off x="10527487" y="4087368"/>
            <a:ext cx="877824" cy="237744"/>
          </a:xfrm>
          <a:prstGeom xmlns:a="http://schemas.openxmlformats.org/drawingml/2006/main" prst="roundRect">
            <a:avLst>
              <a:gd name="adj" fmla="val 30769"/>
            </a:avLst>
          </a:prstGeom>
          <a:solidFill xmlns:a="http://schemas.openxmlformats.org/drawingml/2006/main">
            <a:srgbClr val="DCE5EE"/>
          </a:solidFill>
        </p:spPr>
      </p:sp>
      <p:sp>
        <p:nvSpPr>
          <p:cNvPr id="32" name="Text 30">
            <a:extLst xmlns:a="http://schemas.openxmlformats.org/drawingml/2006/main">
              <a:ext uri="{FF2B5EF4-FFF2-40B4-BE49-F238E27FC236}">
                <a16:creationId xmlns:a16="http://schemas.microsoft.com/office/drawing/2014/main" id="{E19B3D17-1CD2-4B93-99C2-2A3844FD58F8}"/>
              </a:ext>
            </a:extLst>
          </p:cNvPr>
          <p:cNvSpPr>
            <a:spLocks xmlns:a="http://schemas.openxmlformats.org/drawingml/2006/main" noGrp="1"/>
          </p:cNvSpPr>
          <p:nvPr/>
        </p:nvSpPr>
        <p:spPr>
          <a:xfrm xmlns:a="http://schemas.openxmlformats.org/drawingml/2006/main">
            <a:off x="10527487" y="4119372"/>
            <a:ext cx="877824" cy="1920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Technical</a:t>
            </a:r>
            <a:endParaRPr sz="820"/>
          </a:p>
        </p:txBody>
      </p:sp>
      <p:sp>
        <p:nvSpPr>
          <p:cNvPr id="33" name="Text 31">
            <a:extLst xmlns:a="http://schemas.openxmlformats.org/drawingml/2006/main">
              <a:ext uri="{FF2B5EF4-FFF2-40B4-BE49-F238E27FC236}">
                <a16:creationId xmlns:a16="http://schemas.microsoft.com/office/drawing/2014/main" id="{042BE456-C275-4AF9-A35D-98F4CAAB41C4}"/>
              </a:ext>
            </a:extLst>
          </p:cNvPr>
          <p:cNvSpPr>
            <a:spLocks xmlns:a="http://schemas.openxmlformats.org/drawingml/2006/main" noGrp="1"/>
          </p:cNvSpPr>
          <p:nvPr/>
        </p:nvSpPr>
        <p:spPr>
          <a:xfrm xmlns:a="http://schemas.openxmlformats.org/drawingml/2006/main">
            <a:off x="6452464" y="4389120"/>
            <a:ext cx="4952848"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486581"/>
                </a:solidFill>
                <a:latin typeface="Arial"/>
                <a:ea typeface="Arial"/>
                <a:cs typeface="Arial"/>
              </a:rPr>
              <a:t>Product, pricing, eligibility and workflow are configuration. Every request to code something that could be configured is refused, including when coding is faster.</a:t>
            </a:r>
            <a:endParaRPr sz="940"/>
          </a:p>
        </p:txBody>
      </p:sp>
      <p:sp>
        <p:nvSpPr>
          <p:cNvPr id="34" name="Shape 32">
            <a:extLst xmlns:a="http://schemas.openxmlformats.org/drawingml/2006/main">
              <a:ext uri="{FF2B5EF4-FFF2-40B4-BE49-F238E27FC236}">
                <a16:creationId xmlns:a16="http://schemas.microsoft.com/office/drawing/2014/main" id="{F1254B6E-8ED6-4960-94EF-19E738865D96}"/>
              </a:ext>
            </a:extLst>
          </p:cNvPr>
          <p:cNvSpPr>
            <a:spLocks xmlns:a="http://schemas.openxmlformats.org/drawingml/2006/main" noGrp="1"/>
          </p:cNvSpPr>
          <p:nvPr/>
        </p:nvSpPr>
        <p:spPr>
          <a:xfrm xmlns:a="http://schemas.openxmlformats.org/drawingml/2006/main">
            <a:off x="566928" y="5358384"/>
            <a:ext cx="11057839" cy="713232"/>
          </a:xfrm>
          <a:prstGeom xmlns:a="http://schemas.openxmlformats.org/drawingml/2006/main" prst="rect">
            <a:avLst/>
          </a:prstGeom>
          <a:solidFill xmlns:a="http://schemas.openxmlformats.org/drawingml/2006/main">
            <a:srgbClr val="F3E6E0"/>
          </a:solidFill>
        </p:spPr>
      </p:sp>
      <p:sp>
        <p:nvSpPr>
          <p:cNvPr id="35" name="Text 33">
            <a:extLst xmlns:a="http://schemas.openxmlformats.org/drawingml/2006/main">
              <a:ext uri="{FF2B5EF4-FFF2-40B4-BE49-F238E27FC236}">
                <a16:creationId xmlns:a16="http://schemas.microsoft.com/office/drawing/2014/main" id="{32E71CDA-9AC4-43C8-92BB-D4D981704F65}"/>
              </a:ext>
            </a:extLst>
          </p:cNvPr>
          <p:cNvSpPr>
            <a:spLocks xmlns:a="http://schemas.openxmlformats.org/drawingml/2006/main" noGrp="1"/>
          </p:cNvSpPr>
          <p:nvPr/>
        </p:nvSpPr>
        <p:spPr>
          <a:xfrm xmlns:a="http://schemas.openxmlformats.org/drawingml/2006/main">
            <a:off x="804672" y="5541264"/>
            <a:ext cx="1058235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Four of the six are governance and method. The factory is not a codebase — it is a set of refusals, held consistently for six years by someone whose accountability did not sit inside any one delivery.</a:t>
            </a:r>
            <a:endParaRPr sz="990"/>
          </a:p>
        </p:txBody>
      </p:sp>
      <p:sp>
        <p:nvSpPr>
          <p:cNvPr id="36" name="Shape 34">
            <a:extLst xmlns:a="http://schemas.openxmlformats.org/drawingml/2006/main">
              <a:ext uri="{FF2B5EF4-FFF2-40B4-BE49-F238E27FC236}">
                <a16:creationId xmlns:a16="http://schemas.microsoft.com/office/drawing/2014/main" id="{12AD8FE5-7D5F-477B-81AF-AEFC5A14888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7" name="Text 35">
            <a:extLst xmlns:a="http://schemas.openxmlformats.org/drawingml/2006/main">
              <a:ext uri="{FF2B5EF4-FFF2-40B4-BE49-F238E27FC236}">
                <a16:creationId xmlns:a16="http://schemas.microsoft.com/office/drawing/2014/main" id="{D9A2FA99-B985-4257-95FA-CCE73B4EDE06}"/>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US credit union and community bank portfolio, 2020–2026</a:t>
            </a:r>
            <a:endParaRPr sz="850"/>
          </a:p>
        </p:txBody>
      </p:sp>
      <p:sp>
        <p:nvSpPr>
          <p:cNvPr id="38" name="Text 36">
            <a:extLst xmlns:a="http://schemas.openxmlformats.org/drawingml/2006/main">
              <a:ext uri="{FF2B5EF4-FFF2-40B4-BE49-F238E27FC236}">
                <a16:creationId xmlns:a16="http://schemas.microsoft.com/office/drawing/2014/main" id="{3A198892-5C5E-40F2-9A13-A2F0715F84CD}"/>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060213512"/>
      </p:ext>
    </p:extLst>
  </p:cSld>
</p:sld>
</file>

<file path=ppt/slides/slide26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70B1C13-5533-4D55-BEB1-98B5C799F01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1C936791-4D65-49D7-9680-491FE9F5C81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productising a services portfolio</a:t>
            </a:r>
            <a:endParaRPr sz="1900"/>
          </a:p>
        </p:txBody>
      </p:sp>
      <p:sp>
        <p:nvSpPr>
          <p:cNvPr id="4" name="Text 2">
            <a:extLst xmlns:a="http://schemas.openxmlformats.org/drawingml/2006/main">
              <a:ext uri="{FF2B5EF4-FFF2-40B4-BE49-F238E27FC236}">
                <a16:creationId xmlns:a16="http://schemas.microsoft.com/office/drawing/2014/main" id="{BC2707C5-6349-4FC1-9F96-DB395C36C4FE}"/>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1D37E8A8-1A7D-48DD-95FF-536A943C982B}"/>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Build the factory at client two or three</a:t>
            </a:r>
            <a:endParaRPr sz="1200"/>
          </a:p>
        </p:txBody>
      </p:sp>
      <p:sp>
        <p:nvSpPr>
          <p:cNvPr id="6" name="Text 4">
            <a:extLst xmlns:a="http://schemas.openxmlformats.org/drawingml/2006/main">
              <a:ext uri="{FF2B5EF4-FFF2-40B4-BE49-F238E27FC236}">
                <a16:creationId xmlns:a16="http://schemas.microsoft.com/office/drawing/2014/main" id="{6678D68E-F93B-4281-83E3-E2F11BF0D7A3}"/>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Every services organisation intends to productise after the current client. The window is while the delivery is small enough to change, which is exactly when the business case is weakest and the pressure to defer is strongest.</a:t>
            </a:r>
            <a:endParaRPr sz="1000"/>
          </a:p>
        </p:txBody>
      </p:sp>
      <p:sp>
        <p:nvSpPr>
          <p:cNvPr id="7" name="Shape 5">
            <a:extLst xmlns:a="http://schemas.openxmlformats.org/drawingml/2006/main">
              <a:ext uri="{FF2B5EF4-FFF2-40B4-BE49-F238E27FC236}">
                <a16:creationId xmlns:a16="http://schemas.microsoft.com/office/drawing/2014/main" id="{AD1424CA-A437-4059-AE27-2C8C843C42D0}"/>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6DA73B41-DF4B-422D-8D86-D76DD612C5C4}"/>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43CD3CE2-B7A8-4038-A3F8-2EAA616CC7B8}"/>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Bound the bespoke list and defend it</a:t>
            </a:r>
            <a:endParaRPr sz="1200"/>
          </a:p>
        </p:txBody>
      </p:sp>
      <p:sp>
        <p:nvSpPr>
          <p:cNvPr id="10" name="Text 8">
            <a:extLst xmlns:a="http://schemas.openxmlformats.org/drawingml/2006/main">
              <a:ext uri="{FF2B5EF4-FFF2-40B4-BE49-F238E27FC236}">
                <a16:creationId xmlns:a16="http://schemas.microsoft.com/office/drawing/2014/main" id="{8C38DB2D-D96C-47AE-8F64-BACC5DEA8316}"/>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Name the categories that stay client-specific — here, product configuration, eligibility and the third-party estate — and refuse any fourth category. The bespoke fifth grows the moment a fork is allowed because it was faster that sprint.</a:t>
            </a:r>
            <a:endParaRPr sz="1000"/>
          </a:p>
        </p:txBody>
      </p:sp>
      <p:sp>
        <p:nvSpPr>
          <p:cNvPr id="11" name="Shape 9">
            <a:extLst xmlns:a="http://schemas.openxmlformats.org/drawingml/2006/main">
              <a:ext uri="{FF2B5EF4-FFF2-40B4-BE49-F238E27FC236}">
                <a16:creationId xmlns:a16="http://schemas.microsoft.com/office/drawing/2014/main" id="{C86E5EC1-8091-4586-AF39-C87AE2C3BBA0}"/>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4DFC78A6-FF82-4CFD-A1E8-F8D644A4A644}"/>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BB7E2C95-E01E-4102-9B2C-6A9CEE41C702}"/>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Publish the common model to the client</a:t>
            </a:r>
            <a:endParaRPr sz="1200"/>
          </a:p>
        </p:txBody>
      </p:sp>
      <p:sp>
        <p:nvSpPr>
          <p:cNvPr id="14" name="Text 12">
            <a:extLst xmlns:a="http://schemas.openxmlformats.org/drawingml/2006/main">
              <a:ext uri="{FF2B5EF4-FFF2-40B4-BE49-F238E27FC236}">
                <a16:creationId xmlns:a16="http://schemas.microsoft.com/office/drawing/2014/main" id="{FD94EB55-22AB-4800-AD56-F1FBEB516C23}"/>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Specifying from a blank page produces a long list of differences. Marking up a standard model produces a short one, and most items on it resolve to configuration once examined individually.</a:t>
            </a:r>
            <a:endParaRPr sz="1000"/>
          </a:p>
        </p:txBody>
      </p:sp>
      <p:sp>
        <p:nvSpPr>
          <p:cNvPr id="15" name="Shape 13">
            <a:extLst xmlns:a="http://schemas.openxmlformats.org/drawingml/2006/main">
              <a:ext uri="{FF2B5EF4-FFF2-40B4-BE49-F238E27FC236}">
                <a16:creationId xmlns:a16="http://schemas.microsoft.com/office/drawing/2014/main" id="{B3F4C44F-0CA5-4D00-B40D-074AD31CA4E5}"/>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8B5A1071-84B4-4C97-8B3D-BF494C12DC19}"/>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5966F518-958E-470C-9B0B-7528A7DAE7A1}"/>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Sell the marginal cost, not the saving</a:t>
            </a:r>
            <a:endParaRPr sz="1200"/>
          </a:p>
        </p:txBody>
      </p:sp>
      <p:sp>
        <p:nvSpPr>
          <p:cNvPr id="18" name="Text 16">
            <a:extLst xmlns:a="http://schemas.openxmlformats.org/drawingml/2006/main">
              <a:ext uri="{FF2B5EF4-FFF2-40B4-BE49-F238E27FC236}">
                <a16:creationId xmlns:a16="http://schemas.microsoft.com/office/drawing/2014/main" id="{4EA1C506-915C-483C-BFA8-500681B4FD45}"/>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The value of a factory is not that the work got cheaper. It is that a market of institutions too small to fund a bespoke programme becomes addressable — a different and much larger argument.</a:t>
            </a:r>
            <a:endParaRPr sz="1000"/>
          </a:p>
        </p:txBody>
      </p:sp>
      <p:sp>
        <p:nvSpPr>
          <p:cNvPr id="19" name="Shape 17">
            <a:extLst xmlns:a="http://schemas.openxmlformats.org/drawingml/2006/main">
              <a:ext uri="{FF2B5EF4-FFF2-40B4-BE49-F238E27FC236}">
                <a16:creationId xmlns:a16="http://schemas.microsoft.com/office/drawing/2014/main" id="{5FD6572C-00A7-4EEB-9E69-9837664D96F1}"/>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139A8923-3EE3-41F5-823F-4A74225D99DF}"/>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Twelve institutions, one team, six years. The factory was not the code that got reused — it was one person with the standing to say no to a fork on the day a delivery date was at risk.</a:t>
            </a:r>
            <a:endParaRPr sz="1200"/>
          </a:p>
        </p:txBody>
      </p:sp>
      <p:sp>
        <p:nvSpPr>
          <p:cNvPr id="21" name="Shape 19">
            <a:extLst xmlns:a="http://schemas.openxmlformats.org/drawingml/2006/main">
              <a:ext uri="{FF2B5EF4-FFF2-40B4-BE49-F238E27FC236}">
                <a16:creationId xmlns:a16="http://schemas.microsoft.com/office/drawing/2014/main" id="{63450A32-93ED-47C8-AA7F-ECD564128A7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7765517C-9C85-44D0-ACB0-A4AED59670C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DB401E5A-E7C6-48F0-84B2-427D3D2074D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928388147"/>
      </p:ext>
    </p:extLst>
  </p:cSld>
</p:sld>
</file>

<file path=ppt/slides/slide26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CBB089C-C4CD-4865-BC67-73E8EB6C07F3}"/>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TECHNICAL DEEP-DIVE  ·  26 OF 30</a:t>
            </a:r>
            <a:endParaRPr sz="950"/>
          </a:p>
        </p:txBody>
      </p:sp>
      <p:sp>
        <p:nvSpPr>
          <p:cNvPr id="3" name="Text 1">
            <a:extLst xmlns:a="http://schemas.openxmlformats.org/drawingml/2006/main">
              <a:ext uri="{FF2B5EF4-FFF2-40B4-BE49-F238E27FC236}">
                <a16:creationId xmlns:a16="http://schemas.microsoft.com/office/drawing/2014/main" id="{5F6E623E-C3E3-43FE-B496-5EA9B6880F61}"/>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US Credit Union Core Integration</a:t>
            </a:r>
            <a:endParaRPr sz="3800"/>
          </a:p>
        </p:txBody>
      </p:sp>
      <p:sp>
        <p:nvSpPr>
          <p:cNvPr id="4" name="Text 2">
            <a:extLst xmlns:a="http://schemas.openxmlformats.org/drawingml/2006/main">
              <a:ext uri="{FF2B5EF4-FFF2-40B4-BE49-F238E27FC236}">
                <a16:creationId xmlns:a16="http://schemas.microsoft.com/office/drawing/2014/main" id="{33A92506-D1BE-4FDB-B535-4CF22B96F99E}"/>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The integration tax — what a common core buys you, and what it charges</a:t>
            </a:r>
            <a:endParaRPr sz="1800"/>
          </a:p>
        </p:txBody>
      </p:sp>
      <p:sp>
        <p:nvSpPr>
          <p:cNvPr id="5" name="Text 3">
            <a:extLst xmlns:a="http://schemas.openxmlformats.org/drawingml/2006/main">
              <a:ext uri="{FF2B5EF4-FFF2-40B4-BE49-F238E27FC236}">
                <a16:creationId xmlns:a16="http://schemas.microsoft.com/office/drawing/2014/main" id="{C90AA42A-984D-4715-B80B-2898B1A2DF2E}"/>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concentrated core-banking market is the reason a deployment factory is possible at all. It is also the reason every institution inherits the same four integration constraints — and the tax is paid whether or not anyone budgets for it.</a:t>
            </a:r>
            <a:endParaRPr sz="1150"/>
          </a:p>
        </p:txBody>
      </p:sp>
      <p:sp>
        <p:nvSpPr>
          <p:cNvPr id="6" name="Shape 4">
            <a:extLst xmlns:a="http://schemas.openxmlformats.org/drawingml/2006/main">
              <a:ext uri="{FF2B5EF4-FFF2-40B4-BE49-F238E27FC236}">
                <a16:creationId xmlns:a16="http://schemas.microsoft.com/office/drawing/2014/main" id="{50951159-CA6E-4654-A479-B93CDA227BF6}"/>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C65C72B4-C319-4B63-AF98-C8C3F66FF84B}"/>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8" name="Text 6">
            <a:extLst xmlns:a="http://schemas.openxmlformats.org/drawingml/2006/main">
              <a:ext uri="{FF2B5EF4-FFF2-40B4-BE49-F238E27FC236}">
                <a16:creationId xmlns:a16="http://schemas.microsoft.com/office/drawing/2014/main" id="{13FB2A1D-57D7-43D1-92B2-C469F636FAAA}"/>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providers hold most</a:t>
            </a:r>
            <a:endParaRPr sz="900"/>
          </a:p>
          <a:p xmlns:a="http://schemas.openxmlformats.org/drawingml/2006/main">
            <a:pPr marL="0" indent="0">
              <a:lnSpc>
                <a:spcPts val="1100"/>
              </a:lnSpc>
              <a:buNone/>
            </a:pPr>
            <a:r>
              <a:rPr sz="900">
                <a:solidFill>
                  <a:srgbClr val="8FA9C4"/>
                </a:solidFill>
                <a:latin typeface="Arial"/>
                <a:ea typeface="Arial"/>
                <a:cs typeface="Arial"/>
              </a:rPr>
              <a:t>of the market</a:t>
            </a:r>
            <a:endParaRPr sz="900"/>
          </a:p>
        </p:txBody>
      </p:sp>
      <p:sp>
        <p:nvSpPr>
          <p:cNvPr id="9" name="Text 7">
            <a:extLst xmlns:a="http://schemas.openxmlformats.org/drawingml/2006/main">
              <a:ext uri="{FF2B5EF4-FFF2-40B4-BE49-F238E27FC236}">
                <a16:creationId xmlns:a16="http://schemas.microsoft.com/office/drawing/2014/main" id="{12F28A8E-0B14-4310-A93C-A0B091207A2A}"/>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700+</a:t>
            </a:r>
            <a:endParaRPr sz="2600"/>
          </a:p>
        </p:txBody>
      </p:sp>
      <p:sp>
        <p:nvSpPr>
          <p:cNvPr id="10" name="Text 8">
            <a:extLst xmlns:a="http://schemas.openxmlformats.org/drawingml/2006/main">
              <a:ext uri="{FF2B5EF4-FFF2-40B4-BE49-F238E27FC236}">
                <a16:creationId xmlns:a16="http://schemas.microsoft.com/office/drawing/2014/main" id="{70A964EF-632A-4763-8D21-DE3E1A4E5105}"/>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institutions on the</a:t>
            </a:r>
            <a:endParaRPr sz="900"/>
          </a:p>
          <a:p xmlns:a="http://schemas.openxmlformats.org/drawingml/2006/main">
            <a:pPr marL="0" indent="0">
              <a:lnSpc>
                <a:spcPts val="1100"/>
              </a:lnSpc>
              <a:buNone/>
            </a:pPr>
            <a:r>
              <a:rPr sz="900">
                <a:solidFill>
                  <a:srgbClr val="8FA9C4"/>
                </a:solidFill>
                <a:latin typeface="Arial"/>
                <a:ea typeface="Arial"/>
                <a:cs typeface="Arial"/>
              </a:rPr>
              <a:t>leading platform</a:t>
            </a:r>
            <a:endParaRPr sz="900"/>
          </a:p>
        </p:txBody>
      </p:sp>
      <p:sp>
        <p:nvSpPr>
          <p:cNvPr id="11" name="Text 9">
            <a:extLst xmlns:a="http://schemas.openxmlformats.org/drawingml/2006/main">
              <a:ext uri="{FF2B5EF4-FFF2-40B4-BE49-F238E27FC236}">
                <a16:creationId xmlns:a16="http://schemas.microsoft.com/office/drawing/2014/main" id="{75020582-F098-48B4-A1FA-704925BB17C8}"/>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2" name="Text 10">
            <a:extLst xmlns:a="http://schemas.openxmlformats.org/drawingml/2006/main">
              <a:ext uri="{FF2B5EF4-FFF2-40B4-BE49-F238E27FC236}">
                <a16:creationId xmlns:a16="http://schemas.microsoft.com/office/drawing/2014/main" id="{2B26629C-C9AF-4AF2-AB96-5B15DAAA1D88}"/>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integration patterns,</a:t>
            </a:r>
            <a:endParaRPr sz="900"/>
          </a:p>
          <a:p xmlns:a="http://schemas.openxmlformats.org/drawingml/2006/main">
            <a:pPr marL="0" indent="0">
              <a:lnSpc>
                <a:spcPts val="1100"/>
              </a:lnSpc>
              <a:buNone/>
            </a:pPr>
            <a:r>
              <a:rPr sz="900">
                <a:solidFill>
                  <a:srgbClr val="8FA9C4"/>
                </a:solidFill>
                <a:latin typeface="Arial"/>
                <a:ea typeface="Arial"/>
                <a:cs typeface="Arial"/>
              </a:rPr>
              <a:t>reused</a:t>
            </a:r>
            <a:endParaRPr sz="900"/>
          </a:p>
        </p:txBody>
      </p:sp>
      <p:sp>
        <p:nvSpPr>
          <p:cNvPr id="13" name="Text 11">
            <a:extLst xmlns:a="http://schemas.openxmlformats.org/drawingml/2006/main">
              <a:ext uri="{FF2B5EF4-FFF2-40B4-BE49-F238E27FC236}">
                <a16:creationId xmlns:a16="http://schemas.microsoft.com/office/drawing/2014/main" id="{AEE2872E-19E3-4260-BFE3-C86412E7F93F}"/>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4" name="Text 12">
            <a:extLst xmlns:a="http://schemas.openxmlformats.org/drawingml/2006/main">
              <a:ext uri="{FF2B5EF4-FFF2-40B4-BE49-F238E27FC236}">
                <a16:creationId xmlns:a16="http://schemas.microsoft.com/office/drawing/2014/main" id="{30554D8A-DBA4-49D4-9E24-155E3CFAEC30}"/>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core, many</a:t>
            </a:r>
            <a:endParaRPr sz="900"/>
          </a:p>
          <a:p xmlns:a="http://schemas.openxmlformats.org/drawingml/2006/main">
            <a:pPr marL="0" indent="0">
              <a:lnSpc>
                <a:spcPts val="1100"/>
              </a:lnSpc>
              <a:buNone/>
            </a:pPr>
            <a:r>
              <a:rPr sz="900">
                <a:solidFill>
                  <a:srgbClr val="8FA9C4"/>
                </a:solidFill>
                <a:latin typeface="Arial"/>
                <a:ea typeface="Arial"/>
                <a:cs typeface="Arial"/>
              </a:rPr>
              <a:t>deployment shapes</a:t>
            </a:r>
            <a:endParaRPr sz="900"/>
          </a:p>
        </p:txBody>
      </p:sp>
      <p:sp>
        <p:nvSpPr>
          <p:cNvPr id="15" name="Text 13">
            <a:extLst xmlns:a="http://schemas.openxmlformats.org/drawingml/2006/main">
              <a:ext uri="{FF2B5EF4-FFF2-40B4-BE49-F238E27FC236}">
                <a16:creationId xmlns:a16="http://schemas.microsoft.com/office/drawing/2014/main" id="{CDE72182-1397-40B6-B2F7-1AAEE060B061}"/>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16" name="Text 14">
            <a:extLst xmlns:a="http://schemas.openxmlformats.org/drawingml/2006/main">
              <a:ext uri="{FF2B5EF4-FFF2-40B4-BE49-F238E27FC236}">
                <a16:creationId xmlns:a16="http://schemas.microsoft.com/office/drawing/2014/main" id="{B665D4F7-2ACC-40E8-A34F-3DDC2BB344C8}"/>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constraints that</a:t>
            </a:r>
            <a:endParaRPr sz="900"/>
          </a:p>
          <a:p xmlns:a="http://schemas.openxmlformats.org/drawingml/2006/main">
            <a:pPr marL="0" indent="0">
              <a:lnSpc>
                <a:spcPts val="1100"/>
              </a:lnSpc>
              <a:buNone/>
            </a:pPr>
            <a:r>
              <a:rPr sz="900">
                <a:solidFill>
                  <a:srgbClr val="8FA9C4"/>
                </a:solidFill>
                <a:latin typeface="Arial"/>
                <a:ea typeface="Arial"/>
                <a:cs typeface="Arial"/>
              </a:rPr>
              <a:t>never change</a:t>
            </a:r>
            <a:endParaRPr sz="900"/>
          </a:p>
        </p:txBody>
      </p:sp>
      <p:sp>
        <p:nvSpPr>
          <p:cNvPr id="17" name="Text 15">
            <a:extLst xmlns:a="http://schemas.openxmlformats.org/drawingml/2006/main">
              <a:ext uri="{FF2B5EF4-FFF2-40B4-BE49-F238E27FC236}">
                <a16:creationId xmlns:a16="http://schemas.microsoft.com/office/drawing/2014/main" id="{3DF8FE45-48E4-409C-B4FD-1C72580EF3AB}"/>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0</a:t>
            </a:r>
            <a:endParaRPr sz="2600"/>
          </a:p>
        </p:txBody>
      </p:sp>
      <p:sp>
        <p:nvSpPr>
          <p:cNvPr id="18" name="Text 16">
            <a:extLst xmlns:a="http://schemas.openxmlformats.org/drawingml/2006/main">
              <a:ext uri="{FF2B5EF4-FFF2-40B4-BE49-F238E27FC236}">
                <a16:creationId xmlns:a16="http://schemas.microsoft.com/office/drawing/2014/main" id="{E7519FD4-A3FF-49A0-8106-DFB0724D734C}"/>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integrations built</a:t>
            </a:r>
            <a:endParaRPr sz="900"/>
          </a:p>
          <a:p xmlns:a="http://schemas.openxmlformats.org/drawingml/2006/main">
            <a:pPr marL="0" indent="0">
              <a:lnSpc>
                <a:spcPts val="1100"/>
              </a:lnSpc>
              <a:buNone/>
            </a:pPr>
            <a:r>
              <a:rPr sz="900">
                <a:solidFill>
                  <a:srgbClr val="8FA9C4"/>
                </a:solidFill>
                <a:latin typeface="Arial"/>
                <a:ea typeface="Arial"/>
                <a:cs typeface="Arial"/>
              </a:rPr>
              <a:t>from scratch</a:t>
            </a:r>
            <a:endParaRPr sz="900"/>
          </a:p>
        </p:txBody>
      </p:sp>
      <p:sp>
        <p:nvSpPr>
          <p:cNvPr id="19" name="Shape 17">
            <a:extLst xmlns:a="http://schemas.openxmlformats.org/drawingml/2006/main">
              <a:ext uri="{FF2B5EF4-FFF2-40B4-BE49-F238E27FC236}">
                <a16:creationId xmlns:a16="http://schemas.microsoft.com/office/drawing/2014/main" id="{5F7EF4AE-D084-4A93-8F7C-B57DCC869299}"/>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52A30507-C913-494B-A687-3D37B77FB621}"/>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MARKET CONTEXT  ·  PUBLICLY REPORTED</a:t>
            </a:r>
            <a:endParaRPr sz="800"/>
          </a:p>
        </p:txBody>
      </p:sp>
      <p:sp>
        <p:nvSpPr>
          <p:cNvPr id="21" name="Text 19">
            <a:extLst xmlns:a="http://schemas.openxmlformats.org/drawingml/2006/main">
              <a:ext uri="{FF2B5EF4-FFF2-40B4-BE49-F238E27FC236}">
                <a16:creationId xmlns:a16="http://schemas.microsoft.com/office/drawing/2014/main" id="{C0853049-7B14-40C6-8458-BBC6D2030478}"/>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The US credit union core market is concentrated across a small number of providers · the leading credit union platform is deployed at several hundred institutions across a very wide asset range</a:t>
            </a:r>
            <a:endParaRPr sz="1050"/>
          </a:p>
        </p:txBody>
      </p:sp>
      <p:sp>
        <p:nvSpPr>
          <p:cNvPr id="22" name="Text 20">
            <a:extLst xmlns:a="http://schemas.openxmlformats.org/drawingml/2006/main">
              <a:ext uri="{FF2B5EF4-FFF2-40B4-BE49-F238E27FC236}">
                <a16:creationId xmlns:a16="http://schemas.microsoft.com/office/drawing/2014/main" id="{345AD508-EFC3-47A7-A155-D4A2E01F9978}"/>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integration architecture and delivery  ·  US portfolio</a:t>
            </a:r>
            <a:endParaRPr sz="1200"/>
          </a:p>
        </p:txBody>
      </p:sp>
      <p:sp>
        <p:nvSpPr>
          <p:cNvPr id="23" name="Text 21">
            <a:extLst xmlns:a="http://schemas.openxmlformats.org/drawingml/2006/main">
              <a:ext uri="{FF2B5EF4-FFF2-40B4-BE49-F238E27FC236}">
                <a16:creationId xmlns:a16="http://schemas.microsoft.com/office/drawing/2014/main" id="{F63AEE16-ED4D-4E0F-BBFA-BD3CFF2D7848}"/>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Market data is publicly reported; integration patterns and the tax analysis are from the delivery record.</a:t>
            </a:r>
            <a:endParaRPr sz="850"/>
          </a:p>
        </p:txBody>
      </p:sp>
    </p:spTree>
    <p:extLst>
      <p:ext uri="{BB962C8B-B14F-4D97-AF65-F5344CB8AC3E}">
        <p14:creationId xmlns:p14="http://schemas.microsoft.com/office/powerpoint/2010/main" val="659799390"/>
      </p:ext>
    </p:extLst>
  </p:cSld>
</p:sld>
</file>

<file path=ppt/slides/slide26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F31BE16-42DC-4714-A448-50B799060EA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E71FBCB9-CD5D-40E0-B4A8-9C79AD4DC552}"/>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Core concentration is why a factory works — and why every institution inherits the</a:t>
            </a:r>
            <a:endParaRPr sz="1900"/>
          </a:p>
          <a:p xmlns:a="http://schemas.openxmlformats.org/drawingml/2006/main">
            <a:pPr marL="0" indent="0">
              <a:lnSpc>
                <a:spcPts val="2400"/>
              </a:lnSpc>
              <a:buNone/>
            </a:pPr>
            <a:r>
              <a:rPr sz="1900" b="1">
                <a:solidFill>
                  <a:srgbClr val="102A43"/>
                </a:solidFill>
                <a:latin typeface="Arial"/>
                <a:ea typeface="Arial"/>
                <a:cs typeface="Arial"/>
              </a:rPr>
              <a:t>same four constraints regardless of size</a:t>
            </a:r>
            <a:endParaRPr sz="1900"/>
          </a:p>
        </p:txBody>
      </p:sp>
      <p:sp>
        <p:nvSpPr>
          <p:cNvPr id="4" name="Shape 2">
            <a:extLst xmlns:a="http://schemas.openxmlformats.org/drawingml/2006/main">
              <a:ext uri="{FF2B5EF4-FFF2-40B4-BE49-F238E27FC236}">
                <a16:creationId xmlns:a16="http://schemas.microsoft.com/office/drawing/2014/main" id="{516B68DE-CE53-4F04-B2E4-7C709DC90A9D}"/>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7F4680F3-813F-43ED-864B-C5CCF0340DF9}"/>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442879AF-497F-43CB-BFC4-427A757BAEA4}"/>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US credit union core-banking market is highly concentrated. A small number of providers serve most institutions, and one platform in particular is deployed across several hundred credit unions spanning a very wide asset range.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That means a portfolio of institutions is, technically, a portfolio of the same integration problem.</a:t>
            </a:r>
            <a:endParaRPr sz="980"/>
          </a:p>
        </p:txBody>
      </p:sp>
      <p:sp>
        <p:nvSpPr>
          <p:cNvPr id="7" name="Shape 5">
            <a:extLst xmlns:a="http://schemas.openxmlformats.org/drawingml/2006/main">
              <a:ext uri="{FF2B5EF4-FFF2-40B4-BE49-F238E27FC236}">
                <a16:creationId xmlns:a16="http://schemas.microsoft.com/office/drawing/2014/main" id="{8BC56E59-6FA9-4E4D-AAE2-4908465513B3}"/>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9564C454-8C04-48A3-8ECD-318170F5CCDE}"/>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B188FF74-04B7-4A5C-8510-5D53144F4CFF}"/>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Concentration cuts both ways. The same core deployed everywhere means the integration work is reusable — and it also means every institution inherits the same constraints, including the ones that come from a platform designed decades before real-time interfaces were expected.</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Those constraints do not scale away. A three-billion-dollar institution meets them in exactly the same form as a five-hundred-million one.</a:t>
            </a:r>
            <a:endParaRPr sz="980"/>
          </a:p>
        </p:txBody>
      </p:sp>
      <p:sp>
        <p:nvSpPr>
          <p:cNvPr id="10" name="Shape 8">
            <a:extLst xmlns:a="http://schemas.openxmlformats.org/drawingml/2006/main">
              <a:ext uri="{FF2B5EF4-FFF2-40B4-BE49-F238E27FC236}">
                <a16:creationId xmlns:a16="http://schemas.microsoft.com/office/drawing/2014/main" id="{535B67F5-E579-4043-930B-A647BC801F86}"/>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F0C48D54-178C-4F65-A561-28CA14E0E08F}"/>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approach</a:t>
            </a:r>
            <a:endParaRPr sz="1250"/>
          </a:p>
        </p:txBody>
      </p:sp>
      <p:sp>
        <p:nvSpPr>
          <p:cNvPr id="12" name="Text 10">
            <a:extLst xmlns:a="http://schemas.openxmlformats.org/drawingml/2006/main">
              <a:ext uri="{FF2B5EF4-FFF2-40B4-BE49-F238E27FC236}">
                <a16:creationId xmlns:a16="http://schemas.microsoft.com/office/drawing/2014/main" id="{90EE039B-1007-46B9-A16F-294643A27E2A}"/>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Treat core integration as a pattern library rather than a per-client design exercise. Four patterns cover essentially everything: real-time service calls, extract-and-transform batch, file transfer, and middleware-mediated access.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engineering skill is choosing correctly between them, because each has a failure mode that only appears in production.</a:t>
            </a:r>
            <a:endParaRPr sz="980"/>
          </a:p>
        </p:txBody>
      </p:sp>
      <p:sp>
        <p:nvSpPr>
          <p:cNvPr id="13" name="Text 11">
            <a:extLst xmlns:a="http://schemas.openxmlformats.org/drawingml/2006/main">
              <a:ext uri="{FF2B5EF4-FFF2-40B4-BE49-F238E27FC236}">
                <a16:creationId xmlns:a16="http://schemas.microsoft.com/office/drawing/2014/main" id="{72B24165-5BC2-470F-A7A2-6EC62DD336F4}"/>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2A07C12A-1048-48A4-AF30-C698BB6DCFCA}"/>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FD845D20-C3C2-4A68-9E28-2CC199ADE264}"/>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6" name="Text 14">
            <a:extLst xmlns:a="http://schemas.openxmlformats.org/drawingml/2006/main">
              <a:ext uri="{FF2B5EF4-FFF2-40B4-BE49-F238E27FC236}">
                <a16:creationId xmlns:a16="http://schemas.microsoft.com/office/drawing/2014/main" id="{3DA240C5-743C-470D-83FF-6D6DA1DA3342}"/>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patterns, reused</a:t>
            </a:r>
            <a:endParaRPr sz="860"/>
          </a:p>
        </p:txBody>
      </p:sp>
      <p:sp>
        <p:nvSpPr>
          <p:cNvPr id="17" name="Shape 15">
            <a:extLst xmlns:a="http://schemas.openxmlformats.org/drawingml/2006/main">
              <a:ext uri="{FF2B5EF4-FFF2-40B4-BE49-F238E27FC236}">
                <a16:creationId xmlns:a16="http://schemas.microsoft.com/office/drawing/2014/main" id="{9032BBFA-31A1-484E-9A9C-88892398AF37}"/>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FC470FCD-0D66-4A8A-8760-DA8B045F5FCD}"/>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390CA64A-EB76-43AB-BC22-BA7259CEBE6C}"/>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correct choice per use</a:t>
            </a:r>
            <a:endParaRPr sz="860"/>
          </a:p>
        </p:txBody>
      </p:sp>
      <p:sp>
        <p:nvSpPr>
          <p:cNvPr id="20" name="Shape 18">
            <a:extLst xmlns:a="http://schemas.openxmlformats.org/drawingml/2006/main">
              <a:ext uri="{FF2B5EF4-FFF2-40B4-BE49-F238E27FC236}">
                <a16:creationId xmlns:a16="http://schemas.microsoft.com/office/drawing/2014/main" id="{C541E07C-4CF2-4E1C-BDA1-6BC5578941DF}"/>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1C2E093C-7FEF-48EA-ABAD-0EE5474C61F2}"/>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2" name="Text 20">
            <a:extLst xmlns:a="http://schemas.openxmlformats.org/drawingml/2006/main">
              <a:ext uri="{FF2B5EF4-FFF2-40B4-BE49-F238E27FC236}">
                <a16:creationId xmlns:a16="http://schemas.microsoft.com/office/drawing/2014/main" id="{8C318FFF-F009-4419-8561-2B14A92DF776}"/>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constraints that persist</a:t>
            </a:r>
            <a:endParaRPr sz="860"/>
          </a:p>
        </p:txBody>
      </p:sp>
      <p:sp>
        <p:nvSpPr>
          <p:cNvPr id="23" name="Shape 21">
            <a:extLst xmlns:a="http://schemas.openxmlformats.org/drawingml/2006/main">
              <a:ext uri="{FF2B5EF4-FFF2-40B4-BE49-F238E27FC236}">
                <a16:creationId xmlns:a16="http://schemas.microsoft.com/office/drawing/2014/main" id="{8BA51937-BC99-4D2E-BB50-FC718FD7D094}"/>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F31E1F29-759A-476C-89C2-F59F05BF7A10}"/>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5" name="Text 23">
            <a:extLst xmlns:a="http://schemas.openxmlformats.org/drawingml/2006/main">
              <a:ext uri="{FF2B5EF4-FFF2-40B4-BE49-F238E27FC236}">
                <a16:creationId xmlns:a16="http://schemas.microsoft.com/office/drawing/2014/main" id="{C0A6EEA3-81CD-4225-AD04-B3607B38900B}"/>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bespoke integrations</a:t>
            </a:r>
            <a:endParaRPr sz="860"/>
          </a:p>
        </p:txBody>
      </p:sp>
      <p:sp>
        <p:nvSpPr>
          <p:cNvPr id="26" name="Shape 24">
            <a:extLst xmlns:a="http://schemas.openxmlformats.org/drawingml/2006/main">
              <a:ext uri="{FF2B5EF4-FFF2-40B4-BE49-F238E27FC236}">
                <a16:creationId xmlns:a16="http://schemas.microsoft.com/office/drawing/2014/main" id="{F2F6D1DF-FA6B-428D-A150-8D14476A3DD9}"/>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3962980A-D988-43A1-9F79-DD19F7839BE2}"/>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~80%</a:t>
            </a:r>
            <a:endParaRPr sz="2100"/>
          </a:p>
        </p:txBody>
      </p:sp>
      <p:sp>
        <p:nvSpPr>
          <p:cNvPr id="28" name="Text 26">
            <a:extLst xmlns:a="http://schemas.openxmlformats.org/drawingml/2006/main">
              <a:ext uri="{FF2B5EF4-FFF2-40B4-BE49-F238E27FC236}">
                <a16:creationId xmlns:a16="http://schemas.microsoft.com/office/drawing/2014/main" id="{53B97887-F478-40C8-A57D-94A8276FD556}"/>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of integration reused</a:t>
            </a:r>
            <a:endParaRPr sz="860"/>
          </a:p>
        </p:txBody>
      </p:sp>
      <p:sp>
        <p:nvSpPr>
          <p:cNvPr id="29" name="Shape 27">
            <a:extLst xmlns:a="http://schemas.openxmlformats.org/drawingml/2006/main">
              <a:ext uri="{FF2B5EF4-FFF2-40B4-BE49-F238E27FC236}">
                <a16:creationId xmlns:a16="http://schemas.microsoft.com/office/drawing/2014/main" id="{B8AFE2F1-23DF-4AFC-95C1-F2F65D16F0DE}"/>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FFD5A08C-2237-4889-92FA-172C6F862BB1}"/>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DC857267-9FD9-4FB9-B459-413CD10BC10F}"/>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library, twelve clients</a:t>
            </a:r>
            <a:endParaRPr sz="860"/>
          </a:p>
        </p:txBody>
      </p:sp>
      <p:sp>
        <p:nvSpPr>
          <p:cNvPr id="32" name="Text 30">
            <a:extLst xmlns:a="http://schemas.openxmlformats.org/drawingml/2006/main">
              <a:ext uri="{FF2B5EF4-FFF2-40B4-BE49-F238E27FC236}">
                <a16:creationId xmlns:a16="http://schemas.microsoft.com/office/drawing/2014/main" id="{33331365-F4C3-4E14-BA7B-46D1C00B0EAF}"/>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judgement this argues:  the integration tax is not avoidable and it is not a criticism of the core. It is the price of a stable, deeply embedded platform that thousands of institutions rely on. What is avoidable is paying it twelve separate times.</a:t>
            </a:r>
            <a:endParaRPr sz="1000"/>
          </a:p>
        </p:txBody>
      </p:sp>
      <p:sp>
        <p:nvSpPr>
          <p:cNvPr id="33" name="Shape 31">
            <a:extLst xmlns:a="http://schemas.openxmlformats.org/drawingml/2006/main">
              <a:ext uri="{FF2B5EF4-FFF2-40B4-BE49-F238E27FC236}">
                <a16:creationId xmlns:a16="http://schemas.microsoft.com/office/drawing/2014/main" id="{D709D6FA-ECE1-4318-BDE8-2D30E22D68C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1C902B0F-0CDB-4EE7-909A-385D848804F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technical analysis</a:t>
            </a:r>
            <a:endParaRPr sz="850"/>
          </a:p>
        </p:txBody>
      </p:sp>
      <p:sp>
        <p:nvSpPr>
          <p:cNvPr id="35" name="Text 33">
            <a:extLst xmlns:a="http://schemas.openxmlformats.org/drawingml/2006/main">
              <a:ext uri="{FF2B5EF4-FFF2-40B4-BE49-F238E27FC236}">
                <a16:creationId xmlns:a16="http://schemas.microsoft.com/office/drawing/2014/main" id="{500D6CFB-DF2E-43ED-B536-EE13646426EC}"/>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219123257"/>
      </p:ext>
    </p:extLst>
  </p:cSld>
</p:sld>
</file>

<file path=ppt/slides/slide26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CB0A735-AC18-4968-BF85-BFEADF76158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98D5D99B-6471-4ABB-ACD3-B654781D259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Market concentration is publicly reported; the pattern library and the tax analysis</a:t>
            </a:r>
            <a:endParaRPr sz="1900"/>
          </a:p>
          <a:p xmlns:a="http://schemas.openxmlformats.org/drawingml/2006/main">
            <a:pPr marL="0" indent="0">
              <a:lnSpc>
                <a:spcPts val="2400"/>
              </a:lnSpc>
              <a:buNone/>
            </a:pPr>
            <a:r>
              <a:rPr sz="1900" b="1">
                <a:solidFill>
                  <a:srgbClr val="102A43"/>
                </a:solidFill>
                <a:latin typeface="Arial"/>
                <a:ea typeface="Arial"/>
                <a:cs typeface="Arial"/>
              </a:rPr>
              <a:t>come from the delivery record</a:t>
            </a:r>
            <a:endParaRPr sz="1900"/>
          </a:p>
        </p:txBody>
      </p:sp>
      <p:sp>
        <p:nvSpPr>
          <p:cNvPr id="4" name="Shape 2">
            <a:extLst xmlns:a="http://schemas.openxmlformats.org/drawingml/2006/main">
              <a:ext uri="{FF2B5EF4-FFF2-40B4-BE49-F238E27FC236}">
                <a16:creationId xmlns:a16="http://schemas.microsoft.com/office/drawing/2014/main" id="{147D033F-316F-4F4F-A02A-95D5AC603394}"/>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22998AC2-BA10-4517-844A-F3B70A27F35D}"/>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5E920FC9-8F13-4828-81C4-A001C8B3B18F}"/>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E96ADCB3-65CC-41D3-9902-DCA37BB80D66}"/>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Market context</a:t>
            </a:r>
            <a:endParaRPr sz="1200"/>
          </a:p>
        </p:txBody>
      </p:sp>
      <p:sp>
        <p:nvSpPr>
          <p:cNvPr id="8" name="Text 6">
            <a:extLst xmlns:a="http://schemas.openxmlformats.org/drawingml/2006/main">
              <a:ext uri="{FF2B5EF4-FFF2-40B4-BE49-F238E27FC236}">
                <a16:creationId xmlns:a16="http://schemas.microsoft.com/office/drawing/2014/main" id="{94DB1552-331A-4C3A-BE6F-62B1D9C7D090}"/>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Core-banking market structure from public industry and regulatory sources.</a:t>
            </a:r>
            <a:endParaRPr sz="920"/>
          </a:p>
        </p:txBody>
      </p:sp>
      <p:sp>
        <p:nvSpPr>
          <p:cNvPr id="9" name="Shape 7">
            <a:extLst xmlns:a="http://schemas.openxmlformats.org/drawingml/2006/main">
              <a:ext uri="{FF2B5EF4-FFF2-40B4-BE49-F238E27FC236}">
                <a16:creationId xmlns:a16="http://schemas.microsoft.com/office/drawing/2014/main" id="{050E94E0-E964-437F-8411-3542660DFE91}"/>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C7C5C989-FBFC-4BC3-BCA5-3920DDC0FF8B}"/>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Highly concentrated provider market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Leading CU platform at several hundred institutions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Wide asset range on one platform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Strong presence in the $1bn+ tier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Multiple service-bureau delivery models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Long-established platform generations</a:t>
            </a:r>
            <a:endParaRPr sz="930"/>
          </a:p>
        </p:txBody>
      </p:sp>
      <p:sp>
        <p:nvSpPr>
          <p:cNvPr id="11" name="Shape 9">
            <a:extLst xmlns:a="http://schemas.openxmlformats.org/drawingml/2006/main">
              <a:ext uri="{FF2B5EF4-FFF2-40B4-BE49-F238E27FC236}">
                <a16:creationId xmlns:a16="http://schemas.microsoft.com/office/drawing/2014/main" id="{3D28FA48-0155-4E73-8B94-42E54AA3C28B}"/>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48CFB98F-3E73-48A6-9AE9-95D71FB11B69}"/>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E456B576-D00F-4C1D-92C9-21EC6151E2FE}"/>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33BA69E6-32A1-4789-B435-FCC00E4D518B}"/>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07A5CEAC-4082-4BD8-B827-CFD11AEB29E9}"/>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Integration architecture and delivery across the US credit union portfolio.</a:t>
            </a:r>
            <a:endParaRPr sz="920"/>
          </a:p>
        </p:txBody>
      </p:sp>
      <p:sp>
        <p:nvSpPr>
          <p:cNvPr id="16" name="Shape 14">
            <a:extLst xmlns:a="http://schemas.openxmlformats.org/drawingml/2006/main">
              <a:ext uri="{FF2B5EF4-FFF2-40B4-BE49-F238E27FC236}">
                <a16:creationId xmlns:a16="http://schemas.microsoft.com/office/drawing/2014/main" id="{F211A191-5FA5-4721-B6CF-4E89998CC901}"/>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CBAD720F-D852-4579-9500-DADA9158F25B}"/>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Four-pattern integration library</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Pattern selection criteria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Transformation and file pipelines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Middleware adapter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Reuse across twelve institutions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892804FA-023F-4826-B162-5DB9B9505526}"/>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0007A6B7-60AB-4585-9D5D-25F216350BA3}"/>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5234BBEE-C9D6-4D77-85C4-D158AF858454}"/>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JUDGEMENT</a:t>
            </a:r>
            <a:endParaRPr sz="740"/>
          </a:p>
        </p:txBody>
      </p:sp>
      <p:sp>
        <p:nvSpPr>
          <p:cNvPr id="21" name="Text 19">
            <a:extLst xmlns:a="http://schemas.openxmlformats.org/drawingml/2006/main">
              <a:ext uri="{FF2B5EF4-FFF2-40B4-BE49-F238E27FC236}">
                <a16:creationId xmlns:a16="http://schemas.microsoft.com/office/drawing/2014/main" id="{B7A25DEB-8E15-41CC-BC14-B1AC12F1872A}"/>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Assessed</a:t>
            </a:r>
            <a:endParaRPr sz="1200"/>
          </a:p>
        </p:txBody>
      </p:sp>
      <p:sp>
        <p:nvSpPr>
          <p:cNvPr id="22" name="Text 20">
            <a:extLst xmlns:a="http://schemas.openxmlformats.org/drawingml/2006/main">
              <a:ext uri="{FF2B5EF4-FFF2-40B4-BE49-F238E27FC236}">
                <a16:creationId xmlns:a16="http://schemas.microsoft.com/office/drawing/2014/main" id="{77B81403-22E5-4F24-A6C8-253683DA7FFB}"/>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constraint analysis is engineering judgement from delivery experience, not a vendor assessment.</a:t>
            </a:r>
            <a:endParaRPr sz="920"/>
          </a:p>
        </p:txBody>
      </p:sp>
      <p:sp>
        <p:nvSpPr>
          <p:cNvPr id="23" name="Shape 21">
            <a:extLst xmlns:a="http://schemas.openxmlformats.org/drawingml/2006/main">
              <a:ext uri="{FF2B5EF4-FFF2-40B4-BE49-F238E27FC236}">
                <a16:creationId xmlns:a16="http://schemas.microsoft.com/office/drawing/2014/main" id="{E7B04898-0292-46DC-83C1-7EE71D34123C}"/>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58A6CA6E-6D46-4D17-8ABB-AC2331E8E65E}"/>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Constraint characterisation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Failure modes by pattern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Effort split illustration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product evaluation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 a vendor comparison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Method transfers unchanged</a:t>
            </a:r>
            <a:endParaRPr sz="930"/>
          </a:p>
        </p:txBody>
      </p:sp>
      <p:sp>
        <p:nvSpPr>
          <p:cNvPr id="25" name="Shape 23">
            <a:extLst xmlns:a="http://schemas.openxmlformats.org/drawingml/2006/main">
              <a:ext uri="{FF2B5EF4-FFF2-40B4-BE49-F238E27FC236}">
                <a16:creationId xmlns:a16="http://schemas.microsoft.com/office/drawing/2014/main" id="{239AE0AB-316B-4CCB-8FC5-2131C9805323}"/>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64689B5C-A149-41E0-A758-375757961F96}"/>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3D6C0B91-5214-4E88-8434-C74831AE06DF}"/>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AC77078E-4B93-42CE-AA10-4A14511A48B0}"/>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69F31C17-DBCF-4596-AA8C-E3E8AC38DF68}"/>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a:t>
            </a:r>
            <a:endParaRPr sz="920"/>
          </a:p>
        </p:txBody>
      </p:sp>
      <p:sp>
        <p:nvSpPr>
          <p:cNvPr id="30" name="Shape 28">
            <a:extLst xmlns:a="http://schemas.openxmlformats.org/drawingml/2006/main">
              <a:ext uri="{FF2B5EF4-FFF2-40B4-BE49-F238E27FC236}">
                <a16:creationId xmlns:a16="http://schemas.microsoft.com/office/drawing/2014/main" id="{F184B372-F940-4AE5-AEF5-556FE42271E6}"/>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9844E18E-8C7B-4022-A604-510742D5EC79}"/>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vendor's roadmap or capability claim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institution's configuration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member or account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Benchmark performance figures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any engagement</a:t>
            </a:r>
            <a:endParaRPr sz="930"/>
          </a:p>
        </p:txBody>
      </p:sp>
      <p:sp>
        <p:nvSpPr>
          <p:cNvPr id="32" name="Shape 30">
            <a:extLst xmlns:a="http://schemas.openxmlformats.org/drawingml/2006/main">
              <a:ext uri="{FF2B5EF4-FFF2-40B4-BE49-F238E27FC236}">
                <a16:creationId xmlns:a16="http://schemas.microsoft.com/office/drawing/2014/main" id="{D063A1D3-C3F2-4654-B36D-2AAC2505C52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2AE64848-7CBA-42FD-B765-4C3C9162DD2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core-banking market data (context) · author's delivery record (patterns and analysis)</a:t>
            </a:r>
            <a:endParaRPr sz="850"/>
          </a:p>
        </p:txBody>
      </p:sp>
      <p:sp>
        <p:nvSpPr>
          <p:cNvPr id="34" name="Text 32">
            <a:extLst xmlns:a="http://schemas.openxmlformats.org/drawingml/2006/main">
              <a:ext uri="{FF2B5EF4-FFF2-40B4-BE49-F238E27FC236}">
                <a16:creationId xmlns:a16="http://schemas.microsoft.com/office/drawing/2014/main" id="{D6CB8425-1BAE-456C-8F12-83EA4C496342}"/>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271452866"/>
      </p:ext>
    </p:extLst>
  </p:cSld>
</p:sld>
</file>

<file path=ppt/slides/slide27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DB1515-3F3D-41CD-8695-A27F6A550071}"/>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PATTERN LIBRARY</a:t>
            </a:r>
            <a:endParaRPr sz="950"/>
          </a:p>
        </p:txBody>
      </p:sp>
      <p:sp>
        <p:nvSpPr>
          <p:cNvPr id="3" name="Text 1">
            <a:extLst xmlns:a="http://schemas.openxmlformats.org/drawingml/2006/main">
              <a:ext uri="{FF2B5EF4-FFF2-40B4-BE49-F238E27FC236}">
                <a16:creationId xmlns:a16="http://schemas.microsoft.com/office/drawing/2014/main" id="{E7CF1187-6783-4EF8-BEE2-86DD15A0E46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integration patterns cover essentially everything — and each has a failure mode</a:t>
            </a:r>
            <a:endParaRPr sz="1900"/>
          </a:p>
          <a:p xmlns:a="http://schemas.openxmlformats.org/drawingml/2006/main">
            <a:pPr marL="0" indent="0">
              <a:lnSpc>
                <a:spcPts val="2400"/>
              </a:lnSpc>
              <a:buNone/>
            </a:pPr>
            <a:r>
              <a:rPr sz="1900" b="1">
                <a:solidFill>
                  <a:srgbClr val="102A43"/>
                </a:solidFill>
                <a:latin typeface="Arial"/>
                <a:ea typeface="Arial"/>
                <a:cs typeface="Arial"/>
              </a:rPr>
              <a:t>that only shows up in production</a:t>
            </a:r>
            <a:endParaRPr sz="1900"/>
          </a:p>
        </p:txBody>
      </p:sp>
      <p:sp>
        <p:nvSpPr>
          <p:cNvPr id="4" name="Shape 2">
            <a:extLst xmlns:a="http://schemas.openxmlformats.org/drawingml/2006/main">
              <a:ext uri="{FF2B5EF4-FFF2-40B4-BE49-F238E27FC236}">
                <a16:creationId xmlns:a16="http://schemas.microsoft.com/office/drawing/2014/main" id="{5937F67E-35E3-4A2E-B824-731EAF7FE169}"/>
              </a:ext>
            </a:extLst>
          </p:cNvPr>
          <p:cNvSpPr>
            <a:spLocks xmlns:a="http://schemas.openxmlformats.org/drawingml/2006/main" noGrp="1"/>
          </p:cNvSpPr>
          <p:nvPr/>
        </p:nvSpPr>
        <p:spPr>
          <a:xfrm xmlns:a="http://schemas.openxmlformats.org/drawingml/2006/main">
            <a:off x="566928" y="1335024"/>
            <a:ext cx="5327752" cy="2048256"/>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34F8E7F0-C03C-4B50-AFCE-C9047E68EFD7}"/>
              </a:ext>
            </a:extLst>
          </p:cNvPr>
          <p:cNvSpPr>
            <a:spLocks xmlns:a="http://schemas.openxmlformats.org/drawingml/2006/main" noGrp="1"/>
          </p:cNvSpPr>
          <p:nvPr/>
        </p:nvSpPr>
        <p:spPr>
          <a:xfrm xmlns:a="http://schemas.openxmlformats.org/drawingml/2006/main">
            <a:off x="786384" y="1481328"/>
            <a:ext cx="488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Real-time service call</a:t>
            </a:r>
            <a:endParaRPr sz="1250"/>
          </a:p>
        </p:txBody>
      </p:sp>
      <p:sp>
        <p:nvSpPr>
          <p:cNvPr id="6" name="Text 4">
            <a:extLst xmlns:a="http://schemas.openxmlformats.org/drawingml/2006/main">
              <a:ext uri="{FF2B5EF4-FFF2-40B4-BE49-F238E27FC236}">
                <a16:creationId xmlns:a16="http://schemas.microsoft.com/office/drawing/2014/main" id="{E8D8F3F1-74AD-4F06-B2BA-2F215019E713}"/>
              </a:ext>
            </a:extLst>
          </p:cNvPr>
          <p:cNvSpPr>
            <a:spLocks xmlns:a="http://schemas.openxmlformats.org/drawingml/2006/main" noGrp="1"/>
          </p:cNvSpPr>
          <p:nvPr/>
        </p:nvSpPr>
        <p:spPr>
          <a:xfrm xmlns:a="http://schemas.openxmlformats.org/drawingml/2006/main">
            <a:off x="786384" y="1773936"/>
            <a:ext cx="4888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Member lookup, balance, account detail, anything a person is waiting for</a:t>
            </a:r>
            <a:endParaRPr sz="930"/>
          </a:p>
        </p:txBody>
      </p:sp>
      <p:sp>
        <p:nvSpPr>
          <p:cNvPr id="7" name="Text 5">
            <a:extLst xmlns:a="http://schemas.openxmlformats.org/drawingml/2006/main">
              <a:ext uri="{FF2B5EF4-FFF2-40B4-BE49-F238E27FC236}">
                <a16:creationId xmlns:a16="http://schemas.microsoft.com/office/drawing/2014/main" id="{9DDDBA1E-6AD5-41DE-8E3E-7DB6381FC738}"/>
              </a:ext>
            </a:extLst>
          </p:cNvPr>
          <p:cNvSpPr>
            <a:spLocks xmlns:a="http://schemas.openxmlformats.org/drawingml/2006/main" noGrp="1"/>
          </p:cNvSpPr>
          <p:nvPr/>
        </p:nvSpPr>
        <p:spPr>
          <a:xfrm xmlns:a="http://schemas.openxmlformats.org/drawingml/2006/main">
            <a:off x="786384" y="2176272"/>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FAILURE MODE</a:t>
            </a:r>
            <a:endParaRPr sz="740"/>
          </a:p>
        </p:txBody>
      </p:sp>
      <p:sp>
        <p:nvSpPr>
          <p:cNvPr id="8" name="Text 6">
            <a:extLst xmlns:a="http://schemas.openxmlformats.org/drawingml/2006/main">
              <a:ext uri="{FF2B5EF4-FFF2-40B4-BE49-F238E27FC236}">
                <a16:creationId xmlns:a16="http://schemas.microsoft.com/office/drawing/2014/main" id="{B89C2A99-873B-43DB-9B42-EB05EE04B590}"/>
              </a:ext>
            </a:extLst>
          </p:cNvPr>
          <p:cNvSpPr>
            <a:spLocks xmlns:a="http://schemas.openxmlformats.org/drawingml/2006/main" noGrp="1"/>
          </p:cNvSpPr>
          <p:nvPr/>
        </p:nvSpPr>
        <p:spPr>
          <a:xfrm xmlns:a="http://schemas.openxmlformats.org/drawingml/2006/main">
            <a:off x="786384" y="2359152"/>
            <a:ext cx="488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The core becomes a dependency of the user interface. When it is slow or in a maintenance window, the front end is too.</a:t>
            </a:r>
            <a:endParaRPr sz="930"/>
          </a:p>
        </p:txBody>
      </p:sp>
      <p:sp>
        <p:nvSpPr>
          <p:cNvPr id="9" name="Text 7">
            <a:extLst xmlns:a="http://schemas.openxmlformats.org/drawingml/2006/main">
              <a:ext uri="{FF2B5EF4-FFF2-40B4-BE49-F238E27FC236}">
                <a16:creationId xmlns:a16="http://schemas.microsoft.com/office/drawing/2014/main" id="{ECE73AC2-A44E-4360-8C57-2B57466F8FB1}"/>
              </a:ext>
            </a:extLst>
          </p:cNvPr>
          <p:cNvSpPr>
            <a:spLocks xmlns:a="http://schemas.openxmlformats.org/drawingml/2006/main" noGrp="1"/>
          </p:cNvSpPr>
          <p:nvPr/>
        </p:nvSpPr>
        <p:spPr>
          <a:xfrm xmlns:a="http://schemas.openxmlformats.org/drawingml/2006/main">
            <a:off x="786384" y="2852928"/>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PREVENTS IT</a:t>
            </a:r>
            <a:endParaRPr sz="740"/>
          </a:p>
        </p:txBody>
      </p:sp>
      <p:sp>
        <p:nvSpPr>
          <p:cNvPr id="10" name="Text 8">
            <a:extLst xmlns:a="http://schemas.openxmlformats.org/drawingml/2006/main">
              <a:ext uri="{FF2B5EF4-FFF2-40B4-BE49-F238E27FC236}">
                <a16:creationId xmlns:a16="http://schemas.microsoft.com/office/drawing/2014/main" id="{8BC1A9F1-226A-4232-8947-ECCF177A0BA8}"/>
              </a:ext>
            </a:extLst>
          </p:cNvPr>
          <p:cNvSpPr>
            <a:spLocks xmlns:a="http://schemas.openxmlformats.org/drawingml/2006/main" noGrp="1"/>
          </p:cNvSpPr>
          <p:nvPr/>
        </p:nvSpPr>
        <p:spPr>
          <a:xfrm xmlns:a="http://schemas.openxmlformats.org/drawingml/2006/main">
            <a:off x="786384" y="3035808"/>
            <a:ext cx="488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B04A25"/>
                </a:solidFill>
                <a:latin typeface="Arial"/>
                <a:ea typeface="Arial"/>
                <a:cs typeface="Arial"/>
              </a:rPr>
              <a:t>Timeout budgets, graceful degradation and a cached read path for the fields that tolerate staleness.</a:t>
            </a:r>
            <a:endParaRPr sz="930"/>
          </a:p>
        </p:txBody>
      </p:sp>
      <p:sp>
        <p:nvSpPr>
          <p:cNvPr id="11" name="Shape 9">
            <a:extLst xmlns:a="http://schemas.openxmlformats.org/drawingml/2006/main">
              <a:ext uri="{FF2B5EF4-FFF2-40B4-BE49-F238E27FC236}">
                <a16:creationId xmlns:a16="http://schemas.microsoft.com/office/drawing/2014/main" id="{718A6997-8536-4BCF-B303-108C2F6EB83E}"/>
              </a:ext>
            </a:extLst>
          </p:cNvPr>
          <p:cNvSpPr>
            <a:spLocks xmlns:a="http://schemas.openxmlformats.org/drawingml/2006/main" noGrp="1"/>
          </p:cNvSpPr>
          <p:nvPr/>
        </p:nvSpPr>
        <p:spPr>
          <a:xfrm xmlns:a="http://schemas.openxmlformats.org/drawingml/2006/main">
            <a:off x="6297016" y="1335024"/>
            <a:ext cx="5327752" cy="2048256"/>
          </a:xfrm>
          <a:prstGeom xmlns:a="http://schemas.openxmlformats.org/drawingml/2006/main" prst="rect">
            <a:avLst/>
          </a:prstGeom>
          <a:solidFill xmlns:a="http://schemas.openxmlformats.org/drawingml/2006/main">
            <a:srgbClr val="F3E6E0"/>
          </a:solidFill>
        </p:spPr>
      </p:sp>
      <p:sp>
        <p:nvSpPr>
          <p:cNvPr id="12" name="Text 10">
            <a:extLst xmlns:a="http://schemas.openxmlformats.org/drawingml/2006/main">
              <a:ext uri="{FF2B5EF4-FFF2-40B4-BE49-F238E27FC236}">
                <a16:creationId xmlns:a16="http://schemas.microsoft.com/office/drawing/2014/main" id="{AD21E944-FAFB-45FD-95D8-864A0F16A42E}"/>
              </a:ext>
            </a:extLst>
          </p:cNvPr>
          <p:cNvSpPr>
            <a:spLocks xmlns:a="http://schemas.openxmlformats.org/drawingml/2006/main" noGrp="1"/>
          </p:cNvSpPr>
          <p:nvPr/>
        </p:nvSpPr>
        <p:spPr>
          <a:xfrm xmlns:a="http://schemas.openxmlformats.org/drawingml/2006/main">
            <a:off x="6516472" y="1481328"/>
            <a:ext cx="488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Extract and transform</a:t>
            </a:r>
            <a:endParaRPr sz="1250"/>
          </a:p>
        </p:txBody>
      </p:sp>
      <p:sp>
        <p:nvSpPr>
          <p:cNvPr id="13" name="Text 11">
            <a:extLst xmlns:a="http://schemas.openxmlformats.org/drawingml/2006/main">
              <a:ext uri="{FF2B5EF4-FFF2-40B4-BE49-F238E27FC236}">
                <a16:creationId xmlns:a16="http://schemas.microsoft.com/office/drawing/2014/main" id="{F1490463-B415-4E39-9ED3-58DFDED60D42}"/>
              </a:ext>
            </a:extLst>
          </p:cNvPr>
          <p:cNvSpPr>
            <a:spLocks xmlns:a="http://schemas.openxmlformats.org/drawingml/2006/main" noGrp="1"/>
          </p:cNvSpPr>
          <p:nvPr/>
        </p:nvSpPr>
        <p:spPr>
          <a:xfrm xmlns:a="http://schemas.openxmlformats.org/drawingml/2006/main">
            <a:off x="6516472" y="1773936"/>
            <a:ext cx="4888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Bulk data into the platform: member base, accounts, loans, shares, historical activity</a:t>
            </a:r>
            <a:endParaRPr sz="930"/>
          </a:p>
        </p:txBody>
      </p:sp>
      <p:sp>
        <p:nvSpPr>
          <p:cNvPr id="14" name="Text 12">
            <a:extLst xmlns:a="http://schemas.openxmlformats.org/drawingml/2006/main">
              <a:ext uri="{FF2B5EF4-FFF2-40B4-BE49-F238E27FC236}">
                <a16:creationId xmlns:a16="http://schemas.microsoft.com/office/drawing/2014/main" id="{F68A19F5-17D8-4D63-ACA7-063040454F91}"/>
              </a:ext>
            </a:extLst>
          </p:cNvPr>
          <p:cNvSpPr>
            <a:spLocks xmlns:a="http://schemas.openxmlformats.org/drawingml/2006/main" noGrp="1"/>
          </p:cNvSpPr>
          <p:nvPr/>
        </p:nvSpPr>
        <p:spPr>
          <a:xfrm xmlns:a="http://schemas.openxmlformats.org/drawingml/2006/main">
            <a:off x="6516472" y="2176272"/>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FAILURE MODE</a:t>
            </a:r>
            <a:endParaRPr sz="740"/>
          </a:p>
        </p:txBody>
      </p:sp>
      <p:sp>
        <p:nvSpPr>
          <p:cNvPr id="15" name="Text 13">
            <a:extLst xmlns:a="http://schemas.openxmlformats.org/drawingml/2006/main">
              <a:ext uri="{FF2B5EF4-FFF2-40B4-BE49-F238E27FC236}">
                <a16:creationId xmlns:a16="http://schemas.microsoft.com/office/drawing/2014/main" id="{BA9EED47-6CEE-4611-B59B-C006B85A0E8F}"/>
              </a:ext>
            </a:extLst>
          </p:cNvPr>
          <p:cNvSpPr>
            <a:spLocks xmlns:a="http://schemas.openxmlformats.org/drawingml/2006/main" noGrp="1"/>
          </p:cNvSpPr>
          <p:nvPr/>
        </p:nvSpPr>
        <p:spPr>
          <a:xfrm xmlns:a="http://schemas.openxmlformats.org/drawingml/2006/main">
            <a:off x="6516472" y="2359152"/>
            <a:ext cx="488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Silent divergence. The extract succeeds, the transform drops a subset, and nobody notices until a reconciliation months later.</a:t>
            </a:r>
            <a:endParaRPr sz="930"/>
          </a:p>
        </p:txBody>
      </p:sp>
      <p:sp>
        <p:nvSpPr>
          <p:cNvPr id="16" name="Text 14">
            <a:extLst xmlns:a="http://schemas.openxmlformats.org/drawingml/2006/main">
              <a:ext uri="{FF2B5EF4-FFF2-40B4-BE49-F238E27FC236}">
                <a16:creationId xmlns:a16="http://schemas.microsoft.com/office/drawing/2014/main" id="{1F13FF6A-7B03-4E9B-8B97-31ED6CC549A7}"/>
              </a:ext>
            </a:extLst>
          </p:cNvPr>
          <p:cNvSpPr>
            <a:spLocks xmlns:a="http://schemas.openxmlformats.org/drawingml/2006/main" noGrp="1"/>
          </p:cNvSpPr>
          <p:nvPr/>
        </p:nvSpPr>
        <p:spPr>
          <a:xfrm xmlns:a="http://schemas.openxmlformats.org/drawingml/2006/main">
            <a:off x="6516472" y="2852928"/>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PREVENTS IT</a:t>
            </a:r>
            <a:endParaRPr sz="740"/>
          </a:p>
        </p:txBody>
      </p:sp>
      <p:sp>
        <p:nvSpPr>
          <p:cNvPr id="17" name="Text 15">
            <a:extLst xmlns:a="http://schemas.openxmlformats.org/drawingml/2006/main">
              <a:ext uri="{FF2B5EF4-FFF2-40B4-BE49-F238E27FC236}">
                <a16:creationId xmlns:a16="http://schemas.microsoft.com/office/drawing/2014/main" id="{3D7611F5-C475-400E-9D67-B5A82CA92B4C}"/>
              </a:ext>
            </a:extLst>
          </p:cNvPr>
          <p:cNvSpPr>
            <a:spLocks xmlns:a="http://schemas.openxmlformats.org/drawingml/2006/main" noGrp="1"/>
          </p:cNvSpPr>
          <p:nvPr/>
        </p:nvSpPr>
        <p:spPr>
          <a:xfrm xmlns:a="http://schemas.openxmlformats.org/drawingml/2006/main">
            <a:off x="6516472" y="3035808"/>
            <a:ext cx="488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B04A25"/>
                </a:solidFill>
                <a:latin typeface="Arial"/>
                <a:ea typeface="Arial"/>
                <a:cs typeface="Arial"/>
              </a:rPr>
              <a:t>Row counts and checksums at every stage, with a reconciliation report that someone owns and reads.</a:t>
            </a:r>
            <a:endParaRPr sz="930"/>
          </a:p>
        </p:txBody>
      </p:sp>
      <p:sp>
        <p:nvSpPr>
          <p:cNvPr id="18" name="Shape 16">
            <a:extLst xmlns:a="http://schemas.openxmlformats.org/drawingml/2006/main">
              <a:ext uri="{FF2B5EF4-FFF2-40B4-BE49-F238E27FC236}">
                <a16:creationId xmlns:a16="http://schemas.microsoft.com/office/drawing/2014/main" id="{3127E68A-6FA2-47A2-9168-DE4F81698FC0}"/>
              </a:ext>
            </a:extLst>
          </p:cNvPr>
          <p:cNvSpPr>
            <a:spLocks xmlns:a="http://schemas.openxmlformats.org/drawingml/2006/main" noGrp="1"/>
          </p:cNvSpPr>
          <p:nvPr/>
        </p:nvSpPr>
        <p:spPr>
          <a:xfrm xmlns:a="http://schemas.openxmlformats.org/drawingml/2006/main">
            <a:off x="566928" y="3547872"/>
            <a:ext cx="5327752" cy="2048256"/>
          </a:xfrm>
          <a:prstGeom xmlns:a="http://schemas.openxmlformats.org/drawingml/2006/main" prst="rect">
            <a:avLst/>
          </a:prstGeom>
          <a:solidFill xmlns:a="http://schemas.openxmlformats.org/drawingml/2006/main">
            <a:srgbClr val="F0F4F8"/>
          </a:solidFill>
        </p:spPr>
      </p:sp>
      <p:sp>
        <p:nvSpPr>
          <p:cNvPr id="19" name="Text 17">
            <a:extLst xmlns:a="http://schemas.openxmlformats.org/drawingml/2006/main">
              <a:ext uri="{FF2B5EF4-FFF2-40B4-BE49-F238E27FC236}">
                <a16:creationId xmlns:a16="http://schemas.microsoft.com/office/drawing/2014/main" id="{952F239B-BF82-4CB5-8BF6-A24C529540F2}"/>
              </a:ext>
            </a:extLst>
          </p:cNvPr>
          <p:cNvSpPr>
            <a:spLocks xmlns:a="http://schemas.openxmlformats.org/drawingml/2006/main" noGrp="1"/>
          </p:cNvSpPr>
          <p:nvPr/>
        </p:nvSpPr>
        <p:spPr>
          <a:xfrm xmlns:a="http://schemas.openxmlformats.org/drawingml/2006/main">
            <a:off x="786384" y="3694176"/>
            <a:ext cx="488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Scheduled file transfer</a:t>
            </a:r>
            <a:endParaRPr sz="1250"/>
          </a:p>
        </p:txBody>
      </p:sp>
      <p:sp>
        <p:nvSpPr>
          <p:cNvPr id="20" name="Text 18">
            <a:extLst xmlns:a="http://schemas.openxmlformats.org/drawingml/2006/main">
              <a:ext uri="{FF2B5EF4-FFF2-40B4-BE49-F238E27FC236}">
                <a16:creationId xmlns:a16="http://schemas.microsoft.com/office/drawing/2014/main" id="{87DF5B87-BFA4-4023-815E-106C9F054C95}"/>
              </a:ext>
            </a:extLst>
          </p:cNvPr>
          <p:cNvSpPr>
            <a:spLocks xmlns:a="http://schemas.openxmlformats.org/drawingml/2006/main" noGrp="1"/>
          </p:cNvSpPr>
          <p:nvPr/>
        </p:nvSpPr>
        <p:spPr>
          <a:xfrm xmlns:a="http://schemas.openxmlformats.org/drawingml/2006/main">
            <a:off x="786384" y="3986784"/>
            <a:ext cx="4888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Third-party feeds, regulatory extracts, statement and card files, downstream reporting</a:t>
            </a:r>
            <a:endParaRPr sz="930"/>
          </a:p>
        </p:txBody>
      </p:sp>
      <p:sp>
        <p:nvSpPr>
          <p:cNvPr id="21" name="Text 19">
            <a:extLst xmlns:a="http://schemas.openxmlformats.org/drawingml/2006/main">
              <a:ext uri="{FF2B5EF4-FFF2-40B4-BE49-F238E27FC236}">
                <a16:creationId xmlns:a16="http://schemas.microsoft.com/office/drawing/2014/main" id="{155953A1-CAAC-45D4-A0B5-1925D261AFB0}"/>
              </a:ext>
            </a:extLst>
          </p:cNvPr>
          <p:cNvSpPr>
            <a:spLocks xmlns:a="http://schemas.openxmlformats.org/drawingml/2006/main" noGrp="1"/>
          </p:cNvSpPr>
          <p:nvPr/>
        </p:nvSpPr>
        <p:spPr>
          <a:xfrm xmlns:a="http://schemas.openxmlformats.org/drawingml/2006/main">
            <a:off x="786384" y="4389120"/>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FAILURE MODE</a:t>
            </a:r>
            <a:endParaRPr sz="740"/>
          </a:p>
        </p:txBody>
      </p:sp>
      <p:sp>
        <p:nvSpPr>
          <p:cNvPr id="22" name="Text 20">
            <a:extLst xmlns:a="http://schemas.openxmlformats.org/drawingml/2006/main">
              <a:ext uri="{FF2B5EF4-FFF2-40B4-BE49-F238E27FC236}">
                <a16:creationId xmlns:a16="http://schemas.microsoft.com/office/drawing/2014/main" id="{FC1A32CD-7B8A-40DB-AF06-C487A09994CD}"/>
              </a:ext>
            </a:extLst>
          </p:cNvPr>
          <p:cNvSpPr>
            <a:spLocks xmlns:a="http://schemas.openxmlformats.org/drawingml/2006/main" noGrp="1"/>
          </p:cNvSpPr>
          <p:nvPr/>
        </p:nvSpPr>
        <p:spPr>
          <a:xfrm xmlns:a="http://schemas.openxmlformats.org/drawingml/2006/main">
            <a:off x="786384" y="4572000"/>
            <a:ext cx="488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A file that does not arrive looks identical to a file with no records. Both produce a quiet zero.</a:t>
            </a:r>
            <a:endParaRPr sz="930"/>
          </a:p>
        </p:txBody>
      </p:sp>
      <p:sp>
        <p:nvSpPr>
          <p:cNvPr id="23" name="Text 21">
            <a:extLst xmlns:a="http://schemas.openxmlformats.org/drawingml/2006/main">
              <a:ext uri="{FF2B5EF4-FFF2-40B4-BE49-F238E27FC236}">
                <a16:creationId xmlns:a16="http://schemas.microsoft.com/office/drawing/2014/main" id="{0F856BD0-CED1-4175-9BBB-B2482D114EB8}"/>
              </a:ext>
            </a:extLst>
          </p:cNvPr>
          <p:cNvSpPr>
            <a:spLocks xmlns:a="http://schemas.openxmlformats.org/drawingml/2006/main" noGrp="1"/>
          </p:cNvSpPr>
          <p:nvPr/>
        </p:nvSpPr>
        <p:spPr>
          <a:xfrm xmlns:a="http://schemas.openxmlformats.org/drawingml/2006/main">
            <a:off x="786384" y="506577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PREVENTS IT</a:t>
            </a:r>
            <a:endParaRPr sz="740"/>
          </a:p>
        </p:txBody>
      </p:sp>
      <p:sp>
        <p:nvSpPr>
          <p:cNvPr id="24" name="Text 22">
            <a:extLst xmlns:a="http://schemas.openxmlformats.org/drawingml/2006/main">
              <a:ext uri="{FF2B5EF4-FFF2-40B4-BE49-F238E27FC236}">
                <a16:creationId xmlns:a16="http://schemas.microsoft.com/office/drawing/2014/main" id="{BDF188E8-8AAA-4E31-833F-4EF7C8B2CF71}"/>
              </a:ext>
            </a:extLst>
          </p:cNvPr>
          <p:cNvSpPr>
            <a:spLocks xmlns:a="http://schemas.openxmlformats.org/drawingml/2006/main" noGrp="1"/>
          </p:cNvSpPr>
          <p:nvPr/>
        </p:nvSpPr>
        <p:spPr>
          <a:xfrm xmlns:a="http://schemas.openxmlformats.org/drawingml/2006/main">
            <a:off x="786384" y="5248656"/>
            <a:ext cx="488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Expect-a-file monitoring with an alert on absence, not only on failure.</a:t>
            </a:r>
            <a:endParaRPr sz="930"/>
          </a:p>
        </p:txBody>
      </p:sp>
      <p:sp>
        <p:nvSpPr>
          <p:cNvPr id="25" name="Shape 23">
            <a:extLst xmlns:a="http://schemas.openxmlformats.org/drawingml/2006/main">
              <a:ext uri="{FF2B5EF4-FFF2-40B4-BE49-F238E27FC236}">
                <a16:creationId xmlns:a16="http://schemas.microsoft.com/office/drawing/2014/main" id="{A1E3DA19-1CF5-4199-B7E7-B95B42C0DB73}"/>
              </a:ext>
            </a:extLst>
          </p:cNvPr>
          <p:cNvSpPr>
            <a:spLocks xmlns:a="http://schemas.openxmlformats.org/drawingml/2006/main" noGrp="1"/>
          </p:cNvSpPr>
          <p:nvPr/>
        </p:nvSpPr>
        <p:spPr>
          <a:xfrm xmlns:a="http://schemas.openxmlformats.org/drawingml/2006/main">
            <a:off x="6297016" y="3547872"/>
            <a:ext cx="5327752" cy="2048256"/>
          </a:xfrm>
          <a:prstGeom xmlns:a="http://schemas.openxmlformats.org/drawingml/2006/main" prst="rect">
            <a:avLst/>
          </a:prstGeom>
          <a:solidFill xmlns:a="http://schemas.openxmlformats.org/drawingml/2006/main">
            <a:srgbClr val="F0F4F8"/>
          </a:solidFill>
        </p:spPr>
      </p:sp>
      <p:sp>
        <p:nvSpPr>
          <p:cNvPr id="26" name="Text 24">
            <a:extLst xmlns:a="http://schemas.openxmlformats.org/drawingml/2006/main">
              <a:ext uri="{FF2B5EF4-FFF2-40B4-BE49-F238E27FC236}">
                <a16:creationId xmlns:a16="http://schemas.microsoft.com/office/drawing/2014/main" id="{28B6EF4B-3DC9-45D2-A5AA-64FA5BB5C514}"/>
              </a:ext>
            </a:extLst>
          </p:cNvPr>
          <p:cNvSpPr>
            <a:spLocks xmlns:a="http://schemas.openxmlformats.org/drawingml/2006/main" noGrp="1"/>
          </p:cNvSpPr>
          <p:nvPr/>
        </p:nvSpPr>
        <p:spPr>
          <a:xfrm xmlns:a="http://schemas.openxmlformats.org/drawingml/2006/main">
            <a:off x="6516472" y="3694176"/>
            <a:ext cx="4888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50" b="1">
                <a:solidFill>
                  <a:srgbClr val="102A43"/>
                </a:solidFill>
                <a:latin typeface="Arial"/>
                <a:ea typeface="Arial"/>
                <a:cs typeface="Arial"/>
              </a:rPr>
              <a:t>Middleware-mediated</a:t>
            </a:r>
            <a:endParaRPr sz="1250"/>
          </a:p>
        </p:txBody>
      </p:sp>
      <p:sp>
        <p:nvSpPr>
          <p:cNvPr id="27" name="Text 25">
            <a:extLst xmlns:a="http://schemas.openxmlformats.org/drawingml/2006/main">
              <a:ext uri="{FF2B5EF4-FFF2-40B4-BE49-F238E27FC236}">
                <a16:creationId xmlns:a16="http://schemas.microsoft.com/office/drawing/2014/main" id="{779A6AC3-7625-4A1C-A911-48D295E38756}"/>
              </a:ext>
            </a:extLst>
          </p:cNvPr>
          <p:cNvSpPr>
            <a:spLocks xmlns:a="http://schemas.openxmlformats.org/drawingml/2006/main" noGrp="1"/>
          </p:cNvSpPr>
          <p:nvPr/>
        </p:nvSpPr>
        <p:spPr>
          <a:xfrm xmlns:a="http://schemas.openxmlformats.org/drawingml/2006/main">
            <a:off x="6516472" y="3986784"/>
            <a:ext cx="48888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Where the core cannot expose what is needed directly, or where several consumers need the same call</a:t>
            </a:r>
            <a:endParaRPr sz="930"/>
          </a:p>
        </p:txBody>
      </p:sp>
      <p:sp>
        <p:nvSpPr>
          <p:cNvPr id="28" name="Text 26">
            <a:extLst xmlns:a="http://schemas.openxmlformats.org/drawingml/2006/main">
              <a:ext uri="{FF2B5EF4-FFF2-40B4-BE49-F238E27FC236}">
                <a16:creationId xmlns:a16="http://schemas.microsoft.com/office/drawing/2014/main" id="{9241D0D1-1C88-44F6-BD17-A64B9DE093EA}"/>
              </a:ext>
            </a:extLst>
          </p:cNvPr>
          <p:cNvSpPr>
            <a:spLocks xmlns:a="http://schemas.openxmlformats.org/drawingml/2006/main" noGrp="1"/>
          </p:cNvSpPr>
          <p:nvPr/>
        </p:nvSpPr>
        <p:spPr>
          <a:xfrm xmlns:a="http://schemas.openxmlformats.org/drawingml/2006/main">
            <a:off x="6516472" y="4389120"/>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FAILURE MODE</a:t>
            </a:r>
            <a:endParaRPr sz="740"/>
          </a:p>
        </p:txBody>
      </p:sp>
      <p:sp>
        <p:nvSpPr>
          <p:cNvPr id="29" name="Text 27">
            <a:extLst xmlns:a="http://schemas.openxmlformats.org/drawingml/2006/main">
              <a:ext uri="{FF2B5EF4-FFF2-40B4-BE49-F238E27FC236}">
                <a16:creationId xmlns:a16="http://schemas.microsoft.com/office/drawing/2014/main" id="{1CC44808-9504-43F9-85B8-E38AEB9C894D}"/>
              </a:ext>
            </a:extLst>
          </p:cNvPr>
          <p:cNvSpPr>
            <a:spLocks xmlns:a="http://schemas.openxmlformats.org/drawingml/2006/main" noGrp="1"/>
          </p:cNvSpPr>
          <p:nvPr/>
        </p:nvSpPr>
        <p:spPr>
          <a:xfrm xmlns:a="http://schemas.openxmlformats.org/drawingml/2006/main">
            <a:off x="6516472" y="4572000"/>
            <a:ext cx="48888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1A1A1A"/>
                </a:solidFill>
                <a:latin typeface="Arial"/>
                <a:ea typeface="Arial"/>
                <a:cs typeface="Arial"/>
              </a:rPr>
              <a:t>The middleware becomes an unowned second system holding business logic nobody documented.</a:t>
            </a:r>
            <a:endParaRPr sz="930"/>
          </a:p>
        </p:txBody>
      </p:sp>
      <p:sp>
        <p:nvSpPr>
          <p:cNvPr id="30" name="Text 28">
            <a:extLst xmlns:a="http://schemas.openxmlformats.org/drawingml/2006/main">
              <a:ext uri="{FF2B5EF4-FFF2-40B4-BE49-F238E27FC236}">
                <a16:creationId xmlns:a16="http://schemas.microsoft.com/office/drawing/2014/main" id="{5B1BA4AB-1A62-4AB9-BDE6-9846FB680846}"/>
              </a:ext>
            </a:extLst>
          </p:cNvPr>
          <p:cNvSpPr>
            <a:spLocks xmlns:a="http://schemas.openxmlformats.org/drawingml/2006/main" noGrp="1"/>
          </p:cNvSpPr>
          <p:nvPr/>
        </p:nvSpPr>
        <p:spPr>
          <a:xfrm xmlns:a="http://schemas.openxmlformats.org/drawingml/2006/main">
            <a:off x="6516472" y="5065776"/>
            <a:ext cx="48888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WHAT PREVENTS IT</a:t>
            </a:r>
            <a:endParaRPr sz="740"/>
          </a:p>
        </p:txBody>
      </p:sp>
      <p:sp>
        <p:nvSpPr>
          <p:cNvPr id="31" name="Text 29">
            <a:extLst xmlns:a="http://schemas.openxmlformats.org/drawingml/2006/main">
              <a:ext uri="{FF2B5EF4-FFF2-40B4-BE49-F238E27FC236}">
                <a16:creationId xmlns:a16="http://schemas.microsoft.com/office/drawing/2014/main" id="{613102AF-4F67-4A98-9B05-F0D3BA32F5EE}"/>
              </a:ext>
            </a:extLst>
          </p:cNvPr>
          <p:cNvSpPr>
            <a:spLocks xmlns:a="http://schemas.openxmlformats.org/drawingml/2006/main" noGrp="1"/>
          </p:cNvSpPr>
          <p:nvPr/>
        </p:nvSpPr>
        <p:spPr>
          <a:xfrm xmlns:a="http://schemas.openxmlformats.org/drawingml/2006/main">
            <a:off x="6516472" y="5248656"/>
            <a:ext cx="488884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a:solidFill>
                  <a:srgbClr val="486581"/>
                </a:solidFill>
                <a:latin typeface="Arial"/>
                <a:ea typeface="Arial"/>
                <a:cs typeface="Arial"/>
              </a:rPr>
              <a:t>Middleware transforms and routes; it never decides. Any rule that appears there belongs somewhere with an owner.</a:t>
            </a:r>
            <a:endParaRPr sz="930"/>
          </a:p>
        </p:txBody>
      </p:sp>
      <p:sp>
        <p:nvSpPr>
          <p:cNvPr id="32" name="Shape 30">
            <a:extLst xmlns:a="http://schemas.openxmlformats.org/drawingml/2006/main">
              <a:ext uri="{FF2B5EF4-FFF2-40B4-BE49-F238E27FC236}">
                <a16:creationId xmlns:a16="http://schemas.microsoft.com/office/drawing/2014/main" id="{B8D79AFC-FBAA-4CB1-B855-3F571E120BA2}"/>
              </a:ext>
            </a:extLst>
          </p:cNvPr>
          <p:cNvSpPr>
            <a:spLocks xmlns:a="http://schemas.openxmlformats.org/drawingml/2006/main" noGrp="1"/>
          </p:cNvSpPr>
          <p:nvPr/>
        </p:nvSpPr>
        <p:spPr>
          <a:xfrm xmlns:a="http://schemas.openxmlformats.org/drawingml/2006/main">
            <a:off x="566928" y="5760720"/>
            <a:ext cx="11057839" cy="310896"/>
          </a:xfrm>
          <a:prstGeom xmlns:a="http://schemas.openxmlformats.org/drawingml/2006/main" prst="rect">
            <a:avLst/>
          </a:prstGeom>
          <a:solidFill xmlns:a="http://schemas.openxmlformats.org/drawingml/2006/main">
            <a:srgbClr val="102A43"/>
          </a:solidFill>
        </p:spPr>
      </p:sp>
      <p:sp>
        <p:nvSpPr>
          <p:cNvPr id="33" name="Text 31">
            <a:extLst xmlns:a="http://schemas.openxmlformats.org/drawingml/2006/main">
              <a:ext uri="{FF2B5EF4-FFF2-40B4-BE49-F238E27FC236}">
                <a16:creationId xmlns:a16="http://schemas.microsoft.com/office/drawing/2014/main" id="{DC61EEAB-4587-404D-A348-CFD915E9B999}"/>
              </a:ext>
            </a:extLst>
          </p:cNvPr>
          <p:cNvSpPr>
            <a:spLocks xmlns:a="http://schemas.openxmlformats.org/drawingml/2006/main" noGrp="1"/>
          </p:cNvSpPr>
          <p:nvPr/>
        </p:nvSpPr>
        <p:spPr>
          <a:xfrm xmlns:a="http://schemas.openxmlformats.org/drawingml/2006/main" flipV="1">
            <a:off x="804672" y="5925312"/>
            <a:ext cx="10582351" cy="182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Three of the four failure modes are silent. That is what makes pattern selection an engineering decision rather than a preference.</a:t>
            </a:r>
            <a:endParaRPr sz="990"/>
          </a:p>
        </p:txBody>
      </p:sp>
      <p:sp>
        <p:nvSpPr>
          <p:cNvPr id="34" name="Shape 32">
            <a:extLst xmlns:a="http://schemas.openxmlformats.org/drawingml/2006/main">
              <a:ext uri="{FF2B5EF4-FFF2-40B4-BE49-F238E27FC236}">
                <a16:creationId xmlns:a16="http://schemas.microsoft.com/office/drawing/2014/main" id="{148B060E-FC7E-41F5-B762-284D739500E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5" name="Text 33">
            <a:extLst xmlns:a="http://schemas.openxmlformats.org/drawingml/2006/main">
              <a:ext uri="{FF2B5EF4-FFF2-40B4-BE49-F238E27FC236}">
                <a16:creationId xmlns:a16="http://schemas.microsoft.com/office/drawing/2014/main" id="{F70E7DF3-F7D3-4EA0-8752-00A3E4DF1D65}"/>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US credit union portfolio · author's analysis</a:t>
            </a:r>
            <a:endParaRPr sz="850"/>
          </a:p>
        </p:txBody>
      </p:sp>
      <p:sp>
        <p:nvSpPr>
          <p:cNvPr id="36" name="Text 34">
            <a:extLst xmlns:a="http://schemas.openxmlformats.org/drawingml/2006/main">
              <a:ext uri="{FF2B5EF4-FFF2-40B4-BE49-F238E27FC236}">
                <a16:creationId xmlns:a16="http://schemas.microsoft.com/office/drawing/2014/main" id="{B2F8EC2F-CA0B-4620-86FD-E5FEB63CE8DC}"/>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734616793"/>
      </p:ext>
    </p:extLst>
  </p:cSld>
</p:sld>
</file>

<file path=ppt/slides/slide27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2B1F2D-1DF4-48C3-8D33-F79D9D781C7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TAX</a:t>
            </a:r>
            <a:endParaRPr sz="950"/>
          </a:p>
        </p:txBody>
      </p:sp>
      <p:sp>
        <p:nvSpPr>
          <p:cNvPr id="3" name="Text 1">
            <a:extLst xmlns:a="http://schemas.openxmlformats.org/drawingml/2006/main">
              <a:ext uri="{FF2B5EF4-FFF2-40B4-BE49-F238E27FC236}">
                <a16:creationId xmlns:a16="http://schemas.microsoft.com/office/drawing/2014/main" id="{1F71E696-A4C7-415C-BDDF-778CAD316C6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constraints persist regardless of institution size — and each one converts</a:t>
            </a:r>
            <a:endParaRPr sz="1900"/>
          </a:p>
          <a:p xmlns:a="http://schemas.openxmlformats.org/drawingml/2006/main">
            <a:pPr marL="0" indent="0">
              <a:lnSpc>
                <a:spcPts val="2400"/>
              </a:lnSpc>
              <a:buNone/>
            </a:pPr>
            <a:r>
              <a:rPr sz="1900" b="1">
                <a:solidFill>
                  <a:srgbClr val="102A43"/>
                </a:solidFill>
                <a:latin typeface="Arial"/>
                <a:ea typeface="Arial"/>
                <a:cs typeface="Arial"/>
              </a:rPr>
              <a:t>directly into effort on every single deployment</a:t>
            </a:r>
            <a:endParaRPr sz="1900"/>
          </a:p>
        </p:txBody>
      </p:sp>
      <p:sp>
        <p:nvSpPr>
          <p:cNvPr id="4" name="Shape 2">
            <a:extLst xmlns:a="http://schemas.openxmlformats.org/drawingml/2006/main">
              <a:ext uri="{FF2B5EF4-FFF2-40B4-BE49-F238E27FC236}">
                <a16:creationId xmlns:a16="http://schemas.microsoft.com/office/drawing/2014/main" id="{8F8469B2-1E84-428C-B4D7-70BB61BDBAA2}"/>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043FA626-A641-4A76-A6C8-2A903F354D78}"/>
              </a:ext>
            </a:extLst>
          </p:cNvPr>
          <p:cNvSpPr>
            <a:spLocks xmlns:a="http://schemas.openxmlformats.org/drawingml/2006/main" noGrp="1"/>
          </p:cNvSpPr>
          <p:nvPr/>
        </p:nvSpPr>
        <p:spPr>
          <a:xfrm xmlns:a="http://schemas.openxmlformats.org/drawingml/2006/main">
            <a:off x="676656" y="1444752"/>
            <a:ext cx="298094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Constraint</a:t>
            </a:r>
            <a:endParaRPr sz="920"/>
          </a:p>
        </p:txBody>
      </p:sp>
      <p:sp>
        <p:nvSpPr>
          <p:cNvPr id="6" name="Text 4">
            <a:extLst xmlns:a="http://schemas.openxmlformats.org/drawingml/2006/main">
              <a:ext uri="{FF2B5EF4-FFF2-40B4-BE49-F238E27FC236}">
                <a16:creationId xmlns:a16="http://schemas.microsoft.com/office/drawing/2014/main" id="{D38B3696-C8DB-4635-B9DC-69A17D7E2DE2}"/>
              </a:ext>
            </a:extLst>
          </p:cNvPr>
          <p:cNvSpPr>
            <a:spLocks xmlns:a="http://schemas.openxmlformats.org/drawingml/2006/main" noGrp="1"/>
          </p:cNvSpPr>
          <p:nvPr/>
        </p:nvSpPr>
        <p:spPr>
          <a:xfrm xmlns:a="http://schemas.openxmlformats.org/drawingml/2006/main">
            <a:off x="3968496" y="1444752"/>
            <a:ext cx="3346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means in practice</a:t>
            </a:r>
            <a:endParaRPr sz="920"/>
          </a:p>
        </p:txBody>
      </p:sp>
      <p:sp>
        <p:nvSpPr>
          <p:cNvPr id="7" name="Text 5">
            <a:extLst xmlns:a="http://schemas.openxmlformats.org/drawingml/2006/main">
              <a:ext uri="{FF2B5EF4-FFF2-40B4-BE49-F238E27FC236}">
                <a16:creationId xmlns:a16="http://schemas.microsoft.com/office/drawing/2014/main" id="{F84D5D60-C587-43E0-A1EB-A95FCAF0D742}"/>
              </a:ext>
            </a:extLst>
          </p:cNvPr>
          <p:cNvSpPr>
            <a:spLocks xmlns:a="http://schemas.openxmlformats.org/drawingml/2006/main" noGrp="1"/>
          </p:cNvSpPr>
          <p:nvPr/>
        </p:nvSpPr>
        <p:spPr>
          <a:xfrm xmlns:a="http://schemas.openxmlformats.org/drawingml/2006/main">
            <a:off x="7626096" y="1444752"/>
            <a:ext cx="23408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costs</a:t>
            </a:r>
            <a:endParaRPr sz="920"/>
          </a:p>
        </p:txBody>
      </p:sp>
      <p:sp>
        <p:nvSpPr>
          <p:cNvPr id="8" name="Text 6">
            <a:extLst xmlns:a="http://schemas.openxmlformats.org/drawingml/2006/main">
              <a:ext uri="{FF2B5EF4-FFF2-40B4-BE49-F238E27FC236}">
                <a16:creationId xmlns:a16="http://schemas.microsoft.com/office/drawing/2014/main" id="{17F0DD07-9031-4A20-94FC-AE101D9F7381}"/>
              </a:ext>
            </a:extLst>
          </p:cNvPr>
          <p:cNvSpPr>
            <a:spLocks xmlns:a="http://schemas.openxmlformats.org/drawingml/2006/main" noGrp="1"/>
          </p:cNvSpPr>
          <p:nvPr/>
        </p:nvSpPr>
        <p:spPr>
          <a:xfrm xmlns:a="http://schemas.openxmlformats.org/drawingml/2006/main">
            <a:off x="10277856" y="1444752"/>
            <a:ext cx="12344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Avoidable?</a:t>
            </a:r>
            <a:endParaRPr sz="920"/>
          </a:p>
        </p:txBody>
      </p:sp>
      <p:sp>
        <p:nvSpPr>
          <p:cNvPr id="9" name="Text 7">
            <a:extLst xmlns:a="http://schemas.openxmlformats.org/drawingml/2006/main">
              <a:ext uri="{FF2B5EF4-FFF2-40B4-BE49-F238E27FC236}">
                <a16:creationId xmlns:a16="http://schemas.microsoft.com/office/drawing/2014/main" id="{ECD96CCA-A503-4CB7-8248-9057003286B1}"/>
              </a:ext>
            </a:extLst>
          </p:cNvPr>
          <p:cNvSpPr>
            <a:spLocks xmlns:a="http://schemas.openxmlformats.org/drawingml/2006/main" noGrp="1"/>
          </p:cNvSpPr>
          <p:nvPr/>
        </p:nvSpPr>
        <p:spPr>
          <a:xfrm xmlns:a="http://schemas.openxmlformats.org/drawingml/2006/main">
            <a:off x="676656" y="1865376"/>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Batch-shaped data model</a:t>
            </a:r>
            <a:endParaRPr sz="970"/>
          </a:p>
        </p:txBody>
      </p:sp>
      <p:sp>
        <p:nvSpPr>
          <p:cNvPr id="10" name="Text 8">
            <a:extLst xmlns:a="http://schemas.openxmlformats.org/drawingml/2006/main">
              <a:ext uri="{FF2B5EF4-FFF2-40B4-BE49-F238E27FC236}">
                <a16:creationId xmlns:a16="http://schemas.microsoft.com/office/drawing/2014/main" id="{DFF641FE-39FC-4315-8DE9-7ADA0B8618ED}"/>
              </a:ext>
            </a:extLst>
          </p:cNvPr>
          <p:cNvSpPr>
            <a:spLocks xmlns:a="http://schemas.openxmlformats.org/drawingml/2006/main" noGrp="1"/>
          </p:cNvSpPr>
          <p:nvPr/>
        </p:nvSpPr>
        <p:spPr>
          <a:xfrm xmlns:a="http://schemas.openxmlformats.org/drawingml/2006/main">
            <a:off x="3968496" y="186537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Much of the richest data is available on a cycle rather than on demand, because the platform predates real-time expectations</a:t>
            </a:r>
            <a:endParaRPr sz="920"/>
          </a:p>
        </p:txBody>
      </p:sp>
      <p:sp>
        <p:nvSpPr>
          <p:cNvPr id="11" name="Text 9">
            <a:extLst xmlns:a="http://schemas.openxmlformats.org/drawingml/2006/main">
              <a:ext uri="{FF2B5EF4-FFF2-40B4-BE49-F238E27FC236}">
                <a16:creationId xmlns:a16="http://schemas.microsoft.com/office/drawing/2014/main" id="{3253A756-B517-4087-9EB3-CA84E828219B}"/>
              </a:ext>
            </a:extLst>
          </p:cNvPr>
          <p:cNvSpPr>
            <a:spLocks xmlns:a="http://schemas.openxmlformats.org/drawingml/2006/main" noGrp="1"/>
          </p:cNvSpPr>
          <p:nvPr/>
        </p:nvSpPr>
        <p:spPr>
          <a:xfrm xmlns:a="http://schemas.openxmlformats.org/drawingml/2006/main">
            <a:off x="7626096" y="1865376"/>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A staleness decision on every field surfaced to a member</a:t>
            </a:r>
            <a:endParaRPr sz="920"/>
          </a:p>
        </p:txBody>
      </p:sp>
      <p:sp>
        <p:nvSpPr>
          <p:cNvPr id="12" name="Text 10">
            <a:extLst xmlns:a="http://schemas.openxmlformats.org/drawingml/2006/main">
              <a:ext uri="{FF2B5EF4-FFF2-40B4-BE49-F238E27FC236}">
                <a16:creationId xmlns:a16="http://schemas.microsoft.com/office/drawing/2014/main" id="{565320B0-D524-4E0B-86B9-0C87280E79F4}"/>
              </a:ext>
            </a:extLst>
          </p:cNvPr>
          <p:cNvSpPr>
            <a:spLocks xmlns:a="http://schemas.openxmlformats.org/drawingml/2006/main" noGrp="1"/>
          </p:cNvSpPr>
          <p:nvPr/>
        </p:nvSpPr>
        <p:spPr>
          <a:xfrm xmlns:a="http://schemas.openxmlformats.org/drawingml/2006/main">
            <a:off x="10277856" y="186537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No</a:t>
            </a:r>
            <a:endParaRPr sz="940"/>
          </a:p>
        </p:txBody>
      </p:sp>
      <p:sp>
        <p:nvSpPr>
          <p:cNvPr id="13" name="Shape 11">
            <a:extLst xmlns:a="http://schemas.openxmlformats.org/drawingml/2006/main">
              <a:ext uri="{FF2B5EF4-FFF2-40B4-BE49-F238E27FC236}">
                <a16:creationId xmlns:a16="http://schemas.microsoft.com/office/drawing/2014/main" id="{648CEFD7-7BA2-4297-9687-E398A9041ED8}"/>
              </a:ext>
            </a:extLst>
          </p:cNvPr>
          <p:cNvSpPr>
            <a:spLocks xmlns:a="http://schemas.openxmlformats.org/drawingml/2006/main" noGrp="1"/>
          </p:cNvSpPr>
          <p:nvPr/>
        </p:nvSpPr>
        <p:spPr>
          <a:xfrm xmlns:a="http://schemas.openxmlformats.org/drawingml/2006/main">
            <a:off x="566928" y="2304288"/>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5D15CF04-6700-480D-978A-94D69E0F66F3}"/>
              </a:ext>
            </a:extLst>
          </p:cNvPr>
          <p:cNvSpPr>
            <a:spLocks xmlns:a="http://schemas.openxmlformats.org/drawingml/2006/main" noGrp="1"/>
          </p:cNvSpPr>
          <p:nvPr/>
        </p:nvSpPr>
        <p:spPr>
          <a:xfrm xmlns:a="http://schemas.openxmlformats.org/drawingml/2006/main">
            <a:off x="566928" y="2304288"/>
            <a:ext cx="11057839" cy="603504"/>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4DEEC386-7929-4575-9D30-B9FA017FED98}"/>
              </a:ext>
            </a:extLst>
          </p:cNvPr>
          <p:cNvSpPr>
            <a:spLocks xmlns:a="http://schemas.openxmlformats.org/drawingml/2006/main" noGrp="1"/>
          </p:cNvSpPr>
          <p:nvPr/>
        </p:nvSpPr>
        <p:spPr>
          <a:xfrm xmlns:a="http://schemas.openxmlformats.org/drawingml/2006/main">
            <a:off x="676656" y="2468880"/>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Maintenance windows</a:t>
            </a:r>
            <a:endParaRPr sz="970"/>
          </a:p>
        </p:txBody>
      </p:sp>
      <p:sp>
        <p:nvSpPr>
          <p:cNvPr id="16" name="Text 14">
            <a:extLst xmlns:a="http://schemas.openxmlformats.org/drawingml/2006/main">
              <a:ext uri="{FF2B5EF4-FFF2-40B4-BE49-F238E27FC236}">
                <a16:creationId xmlns:a16="http://schemas.microsoft.com/office/drawing/2014/main" id="{132D253C-AF45-46CE-942E-C8B91BE1EB1C}"/>
              </a:ext>
            </a:extLst>
          </p:cNvPr>
          <p:cNvSpPr>
            <a:spLocks xmlns:a="http://schemas.openxmlformats.org/drawingml/2006/main" noGrp="1"/>
          </p:cNvSpPr>
          <p:nvPr/>
        </p:nvSpPr>
        <p:spPr>
          <a:xfrm xmlns:a="http://schemas.openxmlformats.org/drawingml/2006/main">
            <a:off x="3968496" y="246888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core is unavailable on a schedule, and the schedule is the institution's not the platform's</a:t>
            </a:r>
            <a:endParaRPr sz="920"/>
          </a:p>
        </p:txBody>
      </p:sp>
      <p:sp>
        <p:nvSpPr>
          <p:cNvPr id="17" name="Text 15">
            <a:extLst xmlns:a="http://schemas.openxmlformats.org/drawingml/2006/main">
              <a:ext uri="{FF2B5EF4-FFF2-40B4-BE49-F238E27FC236}">
                <a16:creationId xmlns:a16="http://schemas.microsoft.com/office/drawing/2014/main" id="{669300CE-91A9-45C6-A9AD-07073F9DB20C}"/>
              </a:ext>
            </a:extLst>
          </p:cNvPr>
          <p:cNvSpPr>
            <a:spLocks xmlns:a="http://schemas.openxmlformats.org/drawingml/2006/main" noGrp="1"/>
          </p:cNvSpPr>
          <p:nvPr/>
        </p:nvSpPr>
        <p:spPr>
          <a:xfrm xmlns:a="http://schemas.openxmlformats.org/drawingml/2006/main">
            <a:off x="7626096" y="2468880"/>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Degradation design for every real-time path</a:t>
            </a:r>
            <a:endParaRPr sz="920"/>
          </a:p>
        </p:txBody>
      </p:sp>
      <p:sp>
        <p:nvSpPr>
          <p:cNvPr id="18" name="Text 16">
            <a:extLst xmlns:a="http://schemas.openxmlformats.org/drawingml/2006/main">
              <a:ext uri="{FF2B5EF4-FFF2-40B4-BE49-F238E27FC236}">
                <a16:creationId xmlns:a16="http://schemas.microsoft.com/office/drawing/2014/main" id="{095B6AD6-ED88-4343-A2CC-69D5AA8FD974}"/>
              </a:ext>
            </a:extLst>
          </p:cNvPr>
          <p:cNvSpPr>
            <a:spLocks xmlns:a="http://schemas.openxmlformats.org/drawingml/2006/main" noGrp="1"/>
          </p:cNvSpPr>
          <p:nvPr/>
        </p:nvSpPr>
        <p:spPr>
          <a:xfrm xmlns:a="http://schemas.openxmlformats.org/drawingml/2006/main">
            <a:off x="10277856" y="2468880"/>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No</a:t>
            </a:r>
            <a:endParaRPr sz="940"/>
          </a:p>
        </p:txBody>
      </p:sp>
      <p:sp>
        <p:nvSpPr>
          <p:cNvPr id="19" name="Shape 17">
            <a:extLst xmlns:a="http://schemas.openxmlformats.org/drawingml/2006/main">
              <a:ext uri="{FF2B5EF4-FFF2-40B4-BE49-F238E27FC236}">
                <a16:creationId xmlns:a16="http://schemas.microsoft.com/office/drawing/2014/main" id="{E3A743D6-AFD3-4702-B7B1-05DE20041C29}"/>
              </a:ext>
            </a:extLst>
          </p:cNvPr>
          <p:cNvSpPr>
            <a:spLocks xmlns:a="http://schemas.openxmlformats.org/drawingml/2006/main" noGrp="1"/>
          </p:cNvSpPr>
          <p:nvPr/>
        </p:nvSpPr>
        <p:spPr>
          <a:xfrm xmlns:a="http://schemas.openxmlformats.org/drawingml/2006/main">
            <a:off x="566928" y="2907792"/>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863F51AC-26D0-41AA-B40D-4C018181A7B7}"/>
              </a:ext>
            </a:extLst>
          </p:cNvPr>
          <p:cNvSpPr>
            <a:spLocks xmlns:a="http://schemas.openxmlformats.org/drawingml/2006/main" noGrp="1"/>
          </p:cNvSpPr>
          <p:nvPr/>
        </p:nvSpPr>
        <p:spPr>
          <a:xfrm xmlns:a="http://schemas.openxmlformats.org/drawingml/2006/main">
            <a:off x="676656" y="3072384"/>
            <a:ext cx="298094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Limited native extensibility</a:t>
            </a:r>
            <a:endParaRPr sz="970"/>
          </a:p>
        </p:txBody>
      </p:sp>
      <p:sp>
        <p:nvSpPr>
          <p:cNvPr id="21" name="Text 19">
            <a:extLst xmlns:a="http://schemas.openxmlformats.org/drawingml/2006/main">
              <a:ext uri="{FF2B5EF4-FFF2-40B4-BE49-F238E27FC236}">
                <a16:creationId xmlns:a16="http://schemas.microsoft.com/office/drawing/2014/main" id="{E38D0294-E390-4849-9622-6ADBFA050374}"/>
              </a:ext>
            </a:extLst>
          </p:cNvPr>
          <p:cNvSpPr>
            <a:spLocks xmlns:a="http://schemas.openxmlformats.org/drawingml/2006/main" noGrp="1"/>
          </p:cNvSpPr>
          <p:nvPr/>
        </p:nvSpPr>
        <p:spPr>
          <a:xfrm xmlns:a="http://schemas.openxmlformats.org/drawingml/2006/main">
            <a:off x="3968496" y="307238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Extending the core is possible but slow and version-sensitive; most institutions will not do it</a:t>
            </a:r>
            <a:endParaRPr sz="920"/>
          </a:p>
        </p:txBody>
      </p:sp>
      <p:sp>
        <p:nvSpPr>
          <p:cNvPr id="22" name="Text 20">
            <a:extLst xmlns:a="http://schemas.openxmlformats.org/drawingml/2006/main">
              <a:ext uri="{FF2B5EF4-FFF2-40B4-BE49-F238E27FC236}">
                <a16:creationId xmlns:a16="http://schemas.microsoft.com/office/drawing/2014/main" id="{BCE1DB3A-653D-4875-9839-654F702D3229}"/>
              </a:ext>
            </a:extLst>
          </p:cNvPr>
          <p:cNvSpPr>
            <a:spLocks xmlns:a="http://schemas.openxmlformats.org/drawingml/2006/main" noGrp="1"/>
          </p:cNvSpPr>
          <p:nvPr/>
        </p:nvSpPr>
        <p:spPr>
          <a:xfrm xmlns:a="http://schemas.openxmlformats.org/drawingml/2006/main">
            <a:off x="7626096" y="307238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Work moves into the surrounding platform or into middleware</a:t>
            </a:r>
            <a:endParaRPr sz="920"/>
          </a:p>
        </p:txBody>
      </p:sp>
      <p:sp>
        <p:nvSpPr>
          <p:cNvPr id="23" name="Text 21">
            <a:extLst xmlns:a="http://schemas.openxmlformats.org/drawingml/2006/main">
              <a:ext uri="{FF2B5EF4-FFF2-40B4-BE49-F238E27FC236}">
                <a16:creationId xmlns:a16="http://schemas.microsoft.com/office/drawing/2014/main" id="{76966A78-C28B-4884-9AF9-BB5D758E13DA}"/>
              </a:ext>
            </a:extLst>
          </p:cNvPr>
          <p:cNvSpPr>
            <a:spLocks xmlns:a="http://schemas.openxmlformats.org/drawingml/2006/main" noGrp="1"/>
          </p:cNvSpPr>
          <p:nvPr/>
        </p:nvSpPr>
        <p:spPr>
          <a:xfrm xmlns:a="http://schemas.openxmlformats.org/drawingml/2006/main">
            <a:off x="10277856" y="307238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40" b="1">
                <a:solidFill>
                  <a:srgbClr val="B04A25"/>
                </a:solidFill>
                <a:latin typeface="Arial"/>
                <a:ea typeface="Arial"/>
                <a:cs typeface="Arial"/>
              </a:rPr>
              <a:t>Partly</a:t>
            </a:r>
            <a:endParaRPr sz="940"/>
          </a:p>
        </p:txBody>
      </p:sp>
      <p:sp>
        <p:nvSpPr>
          <p:cNvPr id="24" name="Shape 22">
            <a:extLst xmlns:a="http://schemas.openxmlformats.org/drawingml/2006/main">
              <a:ext uri="{FF2B5EF4-FFF2-40B4-BE49-F238E27FC236}">
                <a16:creationId xmlns:a16="http://schemas.microsoft.com/office/drawing/2014/main" id="{15913D4D-7AE5-4263-B7AB-8A1F701E4EC7}"/>
              </a:ext>
            </a:extLst>
          </p:cNvPr>
          <p:cNvSpPr>
            <a:spLocks xmlns:a="http://schemas.openxmlformats.org/drawingml/2006/main" noGrp="1"/>
          </p:cNvSpPr>
          <p:nvPr/>
        </p:nvSpPr>
        <p:spPr>
          <a:xfrm xmlns:a="http://schemas.openxmlformats.org/drawingml/2006/main">
            <a:off x="566928" y="3511296"/>
            <a:ext cx="11057839" cy="7315"/>
          </a:xfrm>
          <a:prstGeom xmlns:a="http://schemas.openxmlformats.org/drawingml/2006/main" prst="rect">
            <a:avLst/>
          </a:prstGeom>
          <a:solidFill xmlns:a="http://schemas.openxmlformats.org/drawingml/2006/main">
            <a:srgbClr val="CBD5E0"/>
          </a:solidFill>
        </p:spPr>
      </p:sp>
      <p:graphicFrame>
        <p:nvGraphicFramePr>
          <p:cNvPr id="57" name="Chart 0"/>
          <p:cNvGraphicFramePr/>
          <p:nvPr/>
        </p:nvGraphicFramePr>
        <p:xfrm>
          <a:off xmlns:a="http://schemas.openxmlformats.org/drawingml/2006/main" x="566928" y="3785616"/>
          <a:ext xmlns:a="http://schemas.openxmlformats.org/drawingml/2006/main" cx="5394960" cy="2103120"/>
        </p:xfrm>
        <a:graphic xmlns:a="http://schemas.openxmlformats.org/drawingml/2006/main">
          <a:graphicData uri="http://schemas.openxmlformats.org/drawingml/2006/chart">
            <c:chart xmlns:r="http://schemas.openxmlformats.org/officeDocument/2006/relationships" xmlns:c="http://schemas.openxmlformats.org/drawingml/2006/chart" r:id="R3f5be33341cb4447"/>
          </a:graphicData>
        </a:graphic>
      </p:graphicFrame>
      <p:sp>
        <p:nvSpPr>
          <p:cNvPr id="26" name="Text 23">
            <a:extLst xmlns:a="http://schemas.openxmlformats.org/drawingml/2006/main">
              <a:ext uri="{FF2B5EF4-FFF2-40B4-BE49-F238E27FC236}">
                <a16:creationId xmlns:a16="http://schemas.microsoft.com/office/drawing/2014/main" id="{F909D754-4509-4FE6-9910-92560AA6F833}"/>
              </a:ext>
            </a:extLst>
          </p:cNvPr>
          <p:cNvSpPr>
            <a:spLocks xmlns:a="http://schemas.openxmlformats.org/drawingml/2006/main" noGrp="1"/>
          </p:cNvSpPr>
          <p:nvPr/>
        </p:nvSpPr>
        <p:spPr>
          <a:xfrm xmlns:a="http://schemas.openxmlformats.org/drawingml/2006/main">
            <a:off x="566928" y="5943600"/>
            <a:ext cx="53949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effort split — two-thirds of integration effort is not the integration</a:t>
            </a:r>
            <a:endParaRPr sz="880"/>
          </a:p>
        </p:txBody>
      </p:sp>
      <p:sp>
        <p:nvSpPr>
          <p:cNvPr id="27" name="Shape 24">
            <a:extLst xmlns:a="http://schemas.openxmlformats.org/drawingml/2006/main">
              <a:ext uri="{FF2B5EF4-FFF2-40B4-BE49-F238E27FC236}">
                <a16:creationId xmlns:a16="http://schemas.microsoft.com/office/drawing/2014/main" id="{21E4D886-A1CA-46F6-8590-63B533C70435}"/>
              </a:ext>
            </a:extLst>
          </p:cNvPr>
          <p:cNvSpPr>
            <a:spLocks xmlns:a="http://schemas.openxmlformats.org/drawingml/2006/main" noGrp="1"/>
          </p:cNvSpPr>
          <p:nvPr/>
        </p:nvSpPr>
        <p:spPr>
          <a:xfrm xmlns:a="http://schemas.openxmlformats.org/drawingml/2006/main">
            <a:off x="6327648" y="3785616"/>
            <a:ext cx="5297119" cy="2377440"/>
          </a:xfrm>
          <a:prstGeom xmlns:a="http://schemas.openxmlformats.org/drawingml/2006/main" prst="rect">
            <a:avLst/>
          </a:prstGeom>
          <a:solidFill xmlns:a="http://schemas.openxmlformats.org/drawingml/2006/main">
            <a:srgbClr val="F3E6E0"/>
          </a:solidFill>
        </p:spPr>
      </p:sp>
      <p:sp>
        <p:nvSpPr>
          <p:cNvPr id="28" name="Text 25">
            <a:extLst xmlns:a="http://schemas.openxmlformats.org/drawingml/2006/main">
              <a:ext uri="{FF2B5EF4-FFF2-40B4-BE49-F238E27FC236}">
                <a16:creationId xmlns:a16="http://schemas.microsoft.com/office/drawing/2014/main" id="{E43525D5-30D0-4E66-B1ED-E2260E14A32B}"/>
              </a:ext>
            </a:extLst>
          </p:cNvPr>
          <p:cNvSpPr>
            <a:spLocks xmlns:a="http://schemas.openxmlformats.org/drawingml/2006/main" noGrp="1"/>
          </p:cNvSpPr>
          <p:nvPr/>
        </p:nvSpPr>
        <p:spPr>
          <a:xfrm xmlns:a="http://schemas.openxmlformats.org/drawingml/2006/main">
            <a:off x="6565392" y="3931920"/>
            <a:ext cx="482163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tax is worth naming explicitly</a:t>
            </a:r>
            <a:endParaRPr sz="1100"/>
          </a:p>
        </p:txBody>
      </p:sp>
      <p:sp>
        <p:nvSpPr>
          <p:cNvPr id="29" name="Text 26">
            <a:extLst xmlns:a="http://schemas.openxmlformats.org/drawingml/2006/main">
              <a:ext uri="{FF2B5EF4-FFF2-40B4-BE49-F238E27FC236}">
                <a16:creationId xmlns:a16="http://schemas.microsoft.com/office/drawing/2014/main" id="{6EF8809E-7619-4807-A768-1F6B247EF779}"/>
              </a:ext>
            </a:extLst>
          </p:cNvPr>
          <p:cNvSpPr>
            <a:spLocks xmlns:a="http://schemas.openxmlformats.org/drawingml/2006/main" noGrp="1"/>
          </p:cNvSpPr>
          <p:nvPr/>
        </p:nvSpPr>
        <p:spPr>
          <a:xfrm xmlns:a="http://schemas.openxmlformats.org/drawingml/2006/main">
            <a:off x="6565392" y="4224528"/>
            <a:ext cx="4821631"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70">
                <a:solidFill>
                  <a:srgbClr val="1A1A1A"/>
                </a:solidFill>
                <a:latin typeface="Arial"/>
                <a:ea typeface="Arial"/>
                <a:cs typeface="Arial"/>
              </a:rPr>
              <a:t>Estimates are written against the visible third — the interface itself. The other two-thirds is staleness handling, degradation design, reconciliation and monitoring, and none of it appears in a requirements document because it produces no feature.</a:t>
            </a:r>
            <a:endParaRPr sz="970"/>
          </a:p>
          <a:p xmlns:a="http://schemas.openxmlformats.org/drawingml/2006/main">
            <a:pPr marL="0" indent="0" algn="l">
              <a:lnSpc>
                <a:spcPts val="1350"/>
              </a:lnSpc>
              <a:buNone/>
            </a:pPr>
            <a:endParaRPr sz="970"/>
          </a:p>
          <a:p xmlns:a="http://schemas.openxmlformats.org/drawingml/2006/main">
            <a:pPr marL="0" indent="0" algn="l">
              <a:lnSpc>
                <a:spcPts val="1350"/>
              </a:lnSpc>
              <a:buNone/>
            </a:pPr>
            <a:r>
              <a:rPr sz="970">
                <a:solidFill>
                  <a:srgbClr val="1A1A1A"/>
                </a:solidFill>
                <a:latin typeface="Arial"/>
                <a:ea typeface="Arial"/>
                <a:cs typeface="Arial"/>
              </a:rPr>
              <a:t>Naming it converts a recurring overrun into a planned line. It also makes the reuse case obvious: the invisible two-thirds is almost entirely common across institutions on the same core, which is why a pattern library pays back faster than anyone expects.</a:t>
            </a:r>
            <a:endParaRPr sz="970"/>
          </a:p>
        </p:txBody>
      </p:sp>
      <p:sp>
        <p:nvSpPr>
          <p:cNvPr id="30" name="Shape 27">
            <a:extLst xmlns:a="http://schemas.openxmlformats.org/drawingml/2006/main">
              <a:ext uri="{FF2B5EF4-FFF2-40B4-BE49-F238E27FC236}">
                <a16:creationId xmlns:a16="http://schemas.microsoft.com/office/drawing/2014/main" id="{B04B70CC-0AB2-4544-975C-3C60018121A0}"/>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1" name="Text 28">
            <a:extLst xmlns:a="http://schemas.openxmlformats.org/drawingml/2006/main">
              <a:ext uri="{FF2B5EF4-FFF2-40B4-BE49-F238E27FC236}">
                <a16:creationId xmlns:a16="http://schemas.microsoft.com/office/drawing/2014/main" id="{E720C776-6EF4-4FCB-9F48-6118C82039F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 effort split is illustrative</a:t>
            </a:r>
            <a:endParaRPr sz="850"/>
          </a:p>
        </p:txBody>
      </p:sp>
      <p:sp>
        <p:nvSpPr>
          <p:cNvPr id="32" name="Text 29">
            <a:extLst xmlns:a="http://schemas.openxmlformats.org/drawingml/2006/main">
              <a:ext uri="{FF2B5EF4-FFF2-40B4-BE49-F238E27FC236}">
                <a16:creationId xmlns:a16="http://schemas.microsoft.com/office/drawing/2014/main" id="{28F0D46B-D8BD-4D8D-9708-1B127291994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728146070"/>
      </p:ext>
    </p:extLst>
  </p:cSld>
</p:sld>
</file>

<file path=ppt/slides/slide27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F7D837-B073-4C70-A819-B04FC604EE1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AF63525D-3787-448E-98F9-D694790015C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integrating with an entrenched core</a:t>
            </a:r>
            <a:endParaRPr sz="1900"/>
          </a:p>
        </p:txBody>
      </p:sp>
      <p:sp>
        <p:nvSpPr>
          <p:cNvPr id="4" name="Text 2">
            <a:extLst xmlns:a="http://schemas.openxmlformats.org/drawingml/2006/main">
              <a:ext uri="{FF2B5EF4-FFF2-40B4-BE49-F238E27FC236}">
                <a16:creationId xmlns:a16="http://schemas.microsoft.com/office/drawing/2014/main" id="{7413CF28-B144-4AB8-AE45-49A612FEA740}"/>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FC1FA81C-57E4-4C64-A1A7-98B8A395DE07}"/>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Build a pattern library, not integrations</a:t>
            </a:r>
            <a:endParaRPr sz="1200"/>
          </a:p>
        </p:txBody>
      </p:sp>
      <p:sp>
        <p:nvSpPr>
          <p:cNvPr id="6" name="Text 4">
            <a:extLst xmlns:a="http://schemas.openxmlformats.org/drawingml/2006/main">
              <a:ext uri="{FF2B5EF4-FFF2-40B4-BE49-F238E27FC236}">
                <a16:creationId xmlns:a16="http://schemas.microsoft.com/office/drawing/2014/main" id="{DBA931B9-C0CE-42E3-871D-D6489AF5BC13}"/>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Four patterns cover essentially everything against a common core. Choosing correctly between them is the engineering decision; designing each connection from scratch is the waste.</a:t>
            </a:r>
            <a:endParaRPr sz="1000"/>
          </a:p>
        </p:txBody>
      </p:sp>
      <p:sp>
        <p:nvSpPr>
          <p:cNvPr id="7" name="Shape 5">
            <a:extLst xmlns:a="http://schemas.openxmlformats.org/drawingml/2006/main">
              <a:ext uri="{FF2B5EF4-FFF2-40B4-BE49-F238E27FC236}">
                <a16:creationId xmlns:a16="http://schemas.microsoft.com/office/drawing/2014/main" id="{2DD1FCFC-0D1D-4CD9-8A39-8E690225212A}"/>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CB176ECD-06B6-4CE0-8D64-C404C87BFD05}"/>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5209B925-17C7-4EC9-AB1B-913B04CE1DD1}"/>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Assume silent failure and design for it</a:t>
            </a:r>
            <a:endParaRPr sz="1200"/>
          </a:p>
        </p:txBody>
      </p:sp>
      <p:sp>
        <p:nvSpPr>
          <p:cNvPr id="10" name="Text 8">
            <a:extLst xmlns:a="http://schemas.openxmlformats.org/drawingml/2006/main">
              <a:ext uri="{FF2B5EF4-FFF2-40B4-BE49-F238E27FC236}">
                <a16:creationId xmlns:a16="http://schemas.microsoft.com/office/drawing/2014/main" id="{81D330C1-BA81-4C0C-9C64-64FC93E73855}"/>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Three of the four patterns fail without an error — a dropped subset, a missing file, a stale read. Row counts, checksums and expect-a-file monitoring are part of the integration, not an operational afterthought.</a:t>
            </a:r>
            <a:endParaRPr sz="1000"/>
          </a:p>
        </p:txBody>
      </p:sp>
      <p:sp>
        <p:nvSpPr>
          <p:cNvPr id="11" name="Shape 9">
            <a:extLst xmlns:a="http://schemas.openxmlformats.org/drawingml/2006/main">
              <a:ext uri="{FF2B5EF4-FFF2-40B4-BE49-F238E27FC236}">
                <a16:creationId xmlns:a16="http://schemas.microsoft.com/office/drawing/2014/main" id="{50597E20-B9D7-42A1-9474-6282F7D79DF1}"/>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098FC7AE-3E7E-4C68-A7B8-CDA906958435}"/>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064060A0-7B4B-4058-ABB4-93CBEB125481}"/>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Estimate the invisible two-thirds</a:t>
            </a:r>
            <a:endParaRPr sz="1200"/>
          </a:p>
        </p:txBody>
      </p:sp>
      <p:sp>
        <p:nvSpPr>
          <p:cNvPr id="14" name="Text 12">
            <a:extLst xmlns:a="http://schemas.openxmlformats.org/drawingml/2006/main">
              <a:ext uri="{FF2B5EF4-FFF2-40B4-BE49-F238E27FC236}">
                <a16:creationId xmlns:a16="http://schemas.microsoft.com/office/drawing/2014/main" id="{A4A813A1-A281-4F89-84DE-FA1178D1B949}"/>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Staleness handling, degradation design, reconciliation and monitoring dominate the effort and appear in no requirements document. Naming them converts a recurring overrun into a planned line.</a:t>
            </a:r>
            <a:endParaRPr sz="1000"/>
          </a:p>
        </p:txBody>
      </p:sp>
      <p:sp>
        <p:nvSpPr>
          <p:cNvPr id="15" name="Shape 13">
            <a:extLst xmlns:a="http://schemas.openxmlformats.org/drawingml/2006/main">
              <a:ext uri="{FF2B5EF4-FFF2-40B4-BE49-F238E27FC236}">
                <a16:creationId xmlns:a16="http://schemas.microsoft.com/office/drawing/2014/main" id="{B2F6BED3-6FA4-4F7D-98E4-4D9342B57198}"/>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EE3B9281-A91F-4E2D-8BF6-9C4F0A083534}"/>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FEAB2F52-B0EC-4D5F-9D0F-9D7973EA1513}"/>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Keep decisions out of the middleware</a:t>
            </a:r>
            <a:endParaRPr sz="1200"/>
          </a:p>
        </p:txBody>
      </p:sp>
      <p:sp>
        <p:nvSpPr>
          <p:cNvPr id="18" name="Text 16">
            <a:extLst xmlns:a="http://schemas.openxmlformats.org/drawingml/2006/main">
              <a:ext uri="{FF2B5EF4-FFF2-40B4-BE49-F238E27FC236}">
                <a16:creationId xmlns:a16="http://schemas.microsoft.com/office/drawing/2014/main" id="{AF995067-5A81-49C8-AB92-99A6091073EC}"/>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Middleware transforms and routes. The moment a business rule lands there it becomes an unowned system holding undocumented logic, and it will be discovered by an auditor rather than an architect.</a:t>
            </a:r>
            <a:endParaRPr sz="1000"/>
          </a:p>
        </p:txBody>
      </p:sp>
      <p:sp>
        <p:nvSpPr>
          <p:cNvPr id="19" name="Shape 17">
            <a:extLst xmlns:a="http://schemas.openxmlformats.org/drawingml/2006/main">
              <a:ext uri="{FF2B5EF4-FFF2-40B4-BE49-F238E27FC236}">
                <a16:creationId xmlns:a16="http://schemas.microsoft.com/office/drawing/2014/main" id="{CA31FD4C-CFD6-412A-9D56-EB61F0DCA330}"/>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B268288C-11F9-43C7-9C70-A839B7B92AE0}"/>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A concentrated core market is what makes a deployment factory possible. It is also what makes the tax universal — every institution pays it, and the only real choice is whether to pay it once or twelve times.</a:t>
            </a:r>
            <a:endParaRPr sz="1200"/>
          </a:p>
        </p:txBody>
      </p:sp>
      <p:sp>
        <p:nvSpPr>
          <p:cNvPr id="21" name="Shape 19">
            <a:extLst xmlns:a="http://schemas.openxmlformats.org/drawingml/2006/main">
              <a:ext uri="{FF2B5EF4-FFF2-40B4-BE49-F238E27FC236}">
                <a16:creationId xmlns:a16="http://schemas.microsoft.com/office/drawing/2014/main" id="{09E3815C-0444-40E8-A5F5-29AA236548B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DAEA944E-62E7-4C03-B5C4-566669342C9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technical analysis</a:t>
            </a:r>
            <a:endParaRPr sz="850"/>
          </a:p>
        </p:txBody>
      </p:sp>
      <p:sp>
        <p:nvSpPr>
          <p:cNvPr id="23" name="Text 21">
            <a:extLst xmlns:a="http://schemas.openxmlformats.org/drawingml/2006/main">
              <a:ext uri="{FF2B5EF4-FFF2-40B4-BE49-F238E27FC236}">
                <a16:creationId xmlns:a16="http://schemas.microsoft.com/office/drawing/2014/main" id="{5BACA22F-813C-42A2-ABE5-8434BA1F37BF}"/>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415573929"/>
      </p:ext>
    </p:extLst>
  </p:cSld>
</p:sld>
</file>

<file path=ppt/slides/slide273.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A408178-EF39-43D1-A32A-70074C207587}"/>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DOMAIN CASE  ·  27 OF 30</a:t>
            </a:r>
            <a:endParaRPr sz="950"/>
          </a:p>
        </p:txBody>
      </p:sp>
      <p:sp>
        <p:nvSpPr>
          <p:cNvPr id="3" name="Text 1">
            <a:extLst xmlns:a="http://schemas.openxmlformats.org/drawingml/2006/main">
              <a:ext uri="{FF2B5EF4-FFF2-40B4-BE49-F238E27FC236}">
                <a16:creationId xmlns:a16="http://schemas.microsoft.com/office/drawing/2014/main" id="{AD2C9DBD-217A-45A1-8185-B5A84BF3191B}"/>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Dupaco Community Credit Union</a:t>
            </a:r>
            <a:endParaRPr sz="3800"/>
          </a:p>
        </p:txBody>
      </p:sp>
      <p:sp>
        <p:nvSpPr>
          <p:cNvPr id="4" name="Text 2">
            <a:extLst xmlns:a="http://schemas.openxmlformats.org/drawingml/2006/main">
              <a:ext uri="{FF2B5EF4-FFF2-40B4-BE49-F238E27FC236}">
                <a16:creationId xmlns:a16="http://schemas.microsoft.com/office/drawing/2014/main" id="{9A33803C-6E1E-4586-9C99-0F32ACBEA467}"/>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Six 360s and an action centre — why one member view was not enough</a:t>
            </a:r>
            <a:endParaRPr sz="1800"/>
          </a:p>
        </p:txBody>
      </p:sp>
      <p:sp>
        <p:nvSpPr>
          <p:cNvPr id="5" name="Text 3">
            <a:extLst xmlns:a="http://schemas.openxmlformats.org/drawingml/2006/main">
              <a:ext uri="{FF2B5EF4-FFF2-40B4-BE49-F238E27FC236}">
                <a16:creationId xmlns:a16="http://schemas.microsoft.com/office/drawing/2014/main" id="{90AAE67A-B73B-41FA-87E9-DCEBD9A37E95}"/>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single customer view is the standard answer and it is the wrong one for a member-owned institution. A member is simultaneously an owner, a borrower, a saver, a cardholder and sometimes a business — and a staff member serving them needs whichever of those is relevant right now.</a:t>
            </a:r>
            <a:endParaRPr sz="1150"/>
          </a:p>
        </p:txBody>
      </p:sp>
      <p:sp>
        <p:nvSpPr>
          <p:cNvPr id="6" name="Shape 4">
            <a:extLst xmlns:a="http://schemas.openxmlformats.org/drawingml/2006/main">
              <a:ext uri="{FF2B5EF4-FFF2-40B4-BE49-F238E27FC236}">
                <a16:creationId xmlns:a16="http://schemas.microsoft.com/office/drawing/2014/main" id="{5F3EED99-4E4B-4F84-8A34-EE53E5D724D1}"/>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546C786C-BFE8-4D23-B72E-935CA788835A}"/>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6</a:t>
            </a:r>
            <a:endParaRPr sz="2600"/>
          </a:p>
        </p:txBody>
      </p:sp>
      <p:sp>
        <p:nvSpPr>
          <p:cNvPr id="8" name="Text 6">
            <a:extLst xmlns:a="http://schemas.openxmlformats.org/drawingml/2006/main">
              <a:ext uri="{FF2B5EF4-FFF2-40B4-BE49-F238E27FC236}">
                <a16:creationId xmlns:a16="http://schemas.microsoft.com/office/drawing/2014/main" id="{61A216D9-2C53-4C34-A104-008D1ECDB96F}"/>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distinct 360</a:t>
            </a:r>
            <a:endParaRPr sz="900"/>
          </a:p>
          <a:p xmlns:a="http://schemas.openxmlformats.org/drawingml/2006/main">
            <a:pPr marL="0" indent="0">
              <a:lnSpc>
                <a:spcPts val="1100"/>
              </a:lnSpc>
              <a:buNone/>
            </a:pPr>
            <a:r>
              <a:rPr sz="900">
                <a:solidFill>
                  <a:srgbClr val="8FA9C4"/>
                </a:solidFill>
                <a:latin typeface="Arial"/>
                <a:ea typeface="Arial"/>
                <a:cs typeface="Arial"/>
              </a:rPr>
              <a:t>views</a:t>
            </a:r>
            <a:endParaRPr sz="900"/>
          </a:p>
        </p:txBody>
      </p:sp>
      <p:sp>
        <p:nvSpPr>
          <p:cNvPr id="9" name="Text 7">
            <a:extLst xmlns:a="http://schemas.openxmlformats.org/drawingml/2006/main">
              <a:ext uri="{FF2B5EF4-FFF2-40B4-BE49-F238E27FC236}">
                <a16:creationId xmlns:a16="http://schemas.microsoft.com/office/drawing/2014/main" id="{A64D7935-BF23-43D0-AF54-9B36C25BE172}"/>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0" name="Text 8">
            <a:extLst xmlns:a="http://schemas.openxmlformats.org/drawingml/2006/main">
              <a:ext uri="{FF2B5EF4-FFF2-40B4-BE49-F238E27FC236}">
                <a16:creationId xmlns:a16="http://schemas.microsoft.com/office/drawing/2014/main" id="{9034A6A6-8E8C-4FD7-B6DA-8ABEEF6C6214}"/>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member model</a:t>
            </a:r>
            <a:endParaRPr sz="900"/>
          </a:p>
          <a:p xmlns:a="http://schemas.openxmlformats.org/drawingml/2006/main">
            <a:pPr marL="0" indent="0">
              <a:lnSpc>
                <a:spcPts val="1100"/>
              </a:lnSpc>
              <a:buNone/>
            </a:pPr>
            <a:r>
              <a:rPr sz="900">
                <a:solidFill>
                  <a:srgbClr val="8FA9C4"/>
                </a:solidFill>
                <a:latin typeface="Arial"/>
                <a:ea typeface="Arial"/>
                <a:cs typeface="Arial"/>
              </a:rPr>
              <a:t>underneath</a:t>
            </a:r>
            <a:endParaRPr sz="900"/>
          </a:p>
        </p:txBody>
      </p:sp>
      <p:sp>
        <p:nvSpPr>
          <p:cNvPr id="11" name="Text 9">
            <a:extLst xmlns:a="http://schemas.openxmlformats.org/drawingml/2006/main">
              <a:ext uri="{FF2B5EF4-FFF2-40B4-BE49-F238E27FC236}">
                <a16:creationId xmlns:a16="http://schemas.microsoft.com/office/drawing/2014/main" id="{196667E7-0D05-4D07-981E-6F99CA9115AD}"/>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~$3.6B</a:t>
            </a:r>
            <a:endParaRPr sz="2600"/>
          </a:p>
        </p:txBody>
      </p:sp>
      <p:sp>
        <p:nvSpPr>
          <p:cNvPr id="12" name="Text 10">
            <a:extLst xmlns:a="http://schemas.openxmlformats.org/drawingml/2006/main">
              <a:ext uri="{FF2B5EF4-FFF2-40B4-BE49-F238E27FC236}">
                <a16:creationId xmlns:a16="http://schemas.microsoft.com/office/drawing/2014/main" id="{6D8DC102-D587-47A4-B245-C9FBBD84D2AE}"/>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assets</a:t>
            </a:r>
            <a:endParaRPr sz="900"/>
          </a:p>
        </p:txBody>
      </p:sp>
      <p:sp>
        <p:nvSpPr>
          <p:cNvPr id="13" name="Text 11">
            <a:extLst xmlns:a="http://schemas.openxmlformats.org/drawingml/2006/main">
              <a:ext uri="{FF2B5EF4-FFF2-40B4-BE49-F238E27FC236}">
                <a16:creationId xmlns:a16="http://schemas.microsoft.com/office/drawing/2014/main" id="{56CFCA39-1DC9-423B-9721-D47075DBEA9A}"/>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~181K</a:t>
            </a:r>
            <a:endParaRPr sz="2600"/>
          </a:p>
        </p:txBody>
      </p:sp>
      <p:sp>
        <p:nvSpPr>
          <p:cNvPr id="14" name="Text 12">
            <a:extLst xmlns:a="http://schemas.openxmlformats.org/drawingml/2006/main">
              <a:ext uri="{FF2B5EF4-FFF2-40B4-BE49-F238E27FC236}">
                <a16:creationId xmlns:a16="http://schemas.microsoft.com/office/drawing/2014/main" id="{4875B1D2-161F-4D2A-B0B4-385AB646FF86}"/>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members</a:t>
            </a:r>
            <a:endParaRPr sz="900"/>
          </a:p>
        </p:txBody>
      </p:sp>
      <p:sp>
        <p:nvSpPr>
          <p:cNvPr id="15" name="Text 13">
            <a:extLst xmlns:a="http://schemas.openxmlformats.org/drawingml/2006/main">
              <a:ext uri="{FF2B5EF4-FFF2-40B4-BE49-F238E27FC236}">
                <a16:creationId xmlns:a16="http://schemas.microsoft.com/office/drawing/2014/main" id="{FB2D395F-FA94-4010-B83D-A7C4A55644DF}"/>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1948</a:t>
            </a:r>
            <a:endParaRPr sz="2600"/>
          </a:p>
        </p:txBody>
      </p:sp>
      <p:sp>
        <p:nvSpPr>
          <p:cNvPr id="16" name="Text 14">
            <a:extLst xmlns:a="http://schemas.openxmlformats.org/drawingml/2006/main">
              <a:ext uri="{FF2B5EF4-FFF2-40B4-BE49-F238E27FC236}">
                <a16:creationId xmlns:a16="http://schemas.microsoft.com/office/drawing/2014/main" id="{CFE4D318-92B6-4E6B-BC30-4D515EC6A2CD}"/>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chartered</a:t>
            </a:r>
            <a:endParaRPr sz="900"/>
          </a:p>
        </p:txBody>
      </p:sp>
      <p:sp>
        <p:nvSpPr>
          <p:cNvPr id="17" name="Text 15">
            <a:extLst xmlns:a="http://schemas.openxmlformats.org/drawingml/2006/main">
              <a:ext uri="{FF2B5EF4-FFF2-40B4-BE49-F238E27FC236}">
                <a16:creationId xmlns:a16="http://schemas.microsoft.com/office/drawing/2014/main" id="{868A258C-775F-4917-8CCA-DD4575D4BC53}"/>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8" name="Text 16">
            <a:extLst xmlns:a="http://schemas.openxmlformats.org/drawingml/2006/main">
              <a:ext uri="{FF2B5EF4-FFF2-40B4-BE49-F238E27FC236}">
                <a16:creationId xmlns:a16="http://schemas.microsoft.com/office/drawing/2014/main" id="{78D8F670-0743-44A0-A6EB-6C468D961D14}"/>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action centre</a:t>
            </a:r>
            <a:endParaRPr sz="900"/>
          </a:p>
          <a:p xmlns:a="http://schemas.openxmlformats.org/drawingml/2006/main">
            <a:pPr marL="0" indent="0">
              <a:lnSpc>
                <a:spcPts val="1100"/>
              </a:lnSpc>
              <a:buNone/>
            </a:pPr>
            <a:r>
              <a:rPr sz="900">
                <a:solidFill>
                  <a:srgbClr val="8FA9C4"/>
                </a:solidFill>
                <a:latin typeface="Arial"/>
                <a:ea typeface="Arial"/>
                <a:cs typeface="Arial"/>
              </a:rPr>
              <a:t>above them</a:t>
            </a:r>
            <a:endParaRPr sz="900"/>
          </a:p>
        </p:txBody>
      </p:sp>
      <p:sp>
        <p:nvSpPr>
          <p:cNvPr id="19" name="Shape 17">
            <a:extLst xmlns:a="http://schemas.openxmlformats.org/drawingml/2006/main">
              <a:ext uri="{FF2B5EF4-FFF2-40B4-BE49-F238E27FC236}">
                <a16:creationId xmlns:a16="http://schemas.microsoft.com/office/drawing/2014/main" id="{82E6661D-7754-4939-84E4-E1505B614843}"/>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E4F353FB-608D-4030-A8C6-293EF6C48151}"/>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INSTITUTION CONTEXT  ·  PUBLICLY REPORTED</a:t>
            </a:r>
            <a:endParaRPr sz="800"/>
          </a:p>
        </p:txBody>
      </p:sp>
      <p:sp>
        <p:nvSpPr>
          <p:cNvPr id="21" name="Text 19">
            <a:extLst xmlns:a="http://schemas.openxmlformats.org/drawingml/2006/main">
              <a:ext uri="{FF2B5EF4-FFF2-40B4-BE49-F238E27FC236}">
                <a16:creationId xmlns:a16="http://schemas.microsoft.com/office/drawing/2014/main" id="{3A0EFA5D-7AD7-41C2-A432-6965D0B7F4D1}"/>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Dubuque, Iowa · roughly $3.6bn in assets and about 181,000 members · a multi-county charter across three states · low-income designated</a:t>
            </a:r>
            <a:endParaRPr sz="1050"/>
          </a:p>
        </p:txBody>
      </p:sp>
      <p:sp>
        <p:nvSpPr>
          <p:cNvPr id="22" name="Text 20">
            <a:extLst xmlns:a="http://schemas.openxmlformats.org/drawingml/2006/main">
              <a:ext uri="{FF2B5EF4-FFF2-40B4-BE49-F238E27FC236}">
                <a16:creationId xmlns:a16="http://schemas.microsoft.com/office/drawing/2014/main" id="{3B40C6DB-7627-440D-96C8-ABE57A786A83}"/>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member platform delivery  ·  2020–2021</a:t>
            </a:r>
            <a:endParaRPr sz="1200"/>
          </a:p>
        </p:txBody>
      </p:sp>
      <p:sp>
        <p:nvSpPr>
          <p:cNvPr id="23" name="Text 21">
            <a:extLst xmlns:a="http://schemas.openxmlformats.org/drawingml/2006/main">
              <a:ext uri="{FF2B5EF4-FFF2-40B4-BE49-F238E27FC236}">
                <a16:creationId xmlns:a16="http://schemas.microsoft.com/office/drawing/2014/main" id="{4487A5E4-3671-4CE6-A60A-E23387491957}"/>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Institutional figures are publicly reported; the view model and action-centre design are from the delivery record.</a:t>
            </a:r>
            <a:endParaRPr sz="850"/>
          </a:p>
        </p:txBody>
      </p:sp>
    </p:spTree>
    <p:extLst>
      <p:ext uri="{BB962C8B-B14F-4D97-AF65-F5344CB8AC3E}">
        <p14:creationId xmlns:p14="http://schemas.microsoft.com/office/powerpoint/2010/main" val="1909557276"/>
      </p:ext>
    </p:extLst>
  </p:cSld>
</p:sld>
</file>

<file path=ppt/slides/slide27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799C40-B258-4D4E-BE0E-5F214E9A69E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318A32EF-A4F9-4C71-8AD4-CDED894AA9A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One member model underneath, six views on top — because a member relationship is</a:t>
            </a:r>
            <a:endParaRPr sz="1900"/>
          </a:p>
          <a:p xmlns:a="http://schemas.openxmlformats.org/drawingml/2006/main">
            <a:pPr marL="0" indent="0">
              <a:lnSpc>
                <a:spcPts val="2400"/>
              </a:lnSpc>
              <a:buNone/>
            </a:pPr>
            <a:r>
              <a:rPr sz="1900" b="1">
                <a:solidFill>
                  <a:srgbClr val="102A43"/>
                </a:solidFill>
                <a:latin typeface="Arial"/>
                <a:ea typeface="Arial"/>
                <a:cs typeface="Arial"/>
              </a:rPr>
              <a:t>not one relationship and a single screen cannot serve all of them</a:t>
            </a:r>
            <a:endParaRPr sz="1900"/>
          </a:p>
        </p:txBody>
      </p:sp>
      <p:sp>
        <p:nvSpPr>
          <p:cNvPr id="4" name="Shape 2">
            <a:extLst xmlns:a="http://schemas.openxmlformats.org/drawingml/2006/main">
              <a:ext uri="{FF2B5EF4-FFF2-40B4-BE49-F238E27FC236}">
                <a16:creationId xmlns:a16="http://schemas.microsoft.com/office/drawing/2014/main" id="{D576B1C4-8FDB-4328-B8D9-0C2D84F5931A}"/>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8731FA60-EDCD-4C63-BD84-D117AA6306E9}"/>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DFFF65E5-BABC-4193-B2EB-8BFFEB5612FC}"/>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community credit union of roughly $3.6 billion in assets serving about 181,000 members across a multi-county charter, with a low-income designation and a strong community mandate.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Staff serve members across branches, contact centre and back office, and a member's relationship typically spans several product families at once.</a:t>
            </a:r>
            <a:endParaRPr sz="980"/>
          </a:p>
        </p:txBody>
      </p:sp>
      <p:sp>
        <p:nvSpPr>
          <p:cNvPr id="7" name="Shape 5">
            <a:extLst xmlns:a="http://schemas.openxmlformats.org/drawingml/2006/main">
              <a:ext uri="{FF2B5EF4-FFF2-40B4-BE49-F238E27FC236}">
                <a16:creationId xmlns:a16="http://schemas.microsoft.com/office/drawing/2014/main" id="{DF4DF8AA-5D70-440A-9D5A-67E4EBC7EBE7}"/>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4A50E20E-2DDC-4176-9BF3-E45B5DC21526}"/>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21F2D1BB-CE30-4716-92BA-B333665F3A0C}"/>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default design is one member 360 showing everything. In practice it shows a member's whole life on a screen and buries whatever the person in front of the staff member actually came in about.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opposite error is a separate system per product family, which is what the institution already had.</a:t>
            </a:r>
            <a:endParaRPr sz="980"/>
          </a:p>
        </p:txBody>
      </p:sp>
      <p:sp>
        <p:nvSpPr>
          <p:cNvPr id="10" name="Shape 8">
            <a:extLst xmlns:a="http://schemas.openxmlformats.org/drawingml/2006/main">
              <a:ext uri="{FF2B5EF4-FFF2-40B4-BE49-F238E27FC236}">
                <a16:creationId xmlns:a16="http://schemas.microsoft.com/office/drawing/2014/main" id="{0024CFD8-7540-413D-9A39-F313986E8B78}"/>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58644730-9D3E-4AFB-BD29-B3736BF48B74}"/>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design</a:t>
            </a:r>
            <a:endParaRPr sz="1250"/>
          </a:p>
        </p:txBody>
      </p:sp>
      <p:sp>
        <p:nvSpPr>
          <p:cNvPr id="12" name="Text 10">
            <a:extLst xmlns:a="http://schemas.openxmlformats.org/drawingml/2006/main">
              <a:ext uri="{FF2B5EF4-FFF2-40B4-BE49-F238E27FC236}">
                <a16:creationId xmlns:a16="http://schemas.microsoft.com/office/drawing/2014/main" id="{72FDAC38-537B-46B6-A8D9-6221361E423A}"/>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One member and household data model underneath, with six views over it — member, business, account, share, loan and card — each answering a different question and each reachable from the others.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Then an action centre above them all, so a view is not just something to read but somewhere work starts.</a:t>
            </a:r>
            <a:endParaRPr sz="980"/>
          </a:p>
        </p:txBody>
      </p:sp>
      <p:sp>
        <p:nvSpPr>
          <p:cNvPr id="13" name="Text 11">
            <a:extLst xmlns:a="http://schemas.openxmlformats.org/drawingml/2006/main">
              <a:ext uri="{FF2B5EF4-FFF2-40B4-BE49-F238E27FC236}">
                <a16:creationId xmlns:a16="http://schemas.microsoft.com/office/drawing/2014/main" id="{165B99A6-F621-4837-BB77-8E611957B515}"/>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FC1FFC66-7FE7-4BE9-B252-05466FBFFA78}"/>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8735C0E9-6795-4367-9D89-1D6CB0829020}"/>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6" name="Text 14">
            <a:extLst xmlns:a="http://schemas.openxmlformats.org/drawingml/2006/main">
              <a:ext uri="{FF2B5EF4-FFF2-40B4-BE49-F238E27FC236}">
                <a16:creationId xmlns:a16="http://schemas.microsoft.com/office/drawing/2014/main" id="{4507AF03-E62A-416A-A64D-0E0A5395B192}"/>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data model</a:t>
            </a:r>
            <a:endParaRPr sz="860"/>
          </a:p>
        </p:txBody>
      </p:sp>
      <p:sp>
        <p:nvSpPr>
          <p:cNvPr id="17" name="Shape 15">
            <a:extLst xmlns:a="http://schemas.openxmlformats.org/drawingml/2006/main">
              <a:ext uri="{FF2B5EF4-FFF2-40B4-BE49-F238E27FC236}">
                <a16:creationId xmlns:a16="http://schemas.microsoft.com/office/drawing/2014/main" id="{9B8F0566-481D-45F5-A322-61197EDC8C9A}"/>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1EEEE80C-18CB-43DE-ACB8-06D086E51CFF}"/>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6</a:t>
            </a:r>
            <a:endParaRPr sz="2100"/>
          </a:p>
        </p:txBody>
      </p:sp>
      <p:sp>
        <p:nvSpPr>
          <p:cNvPr id="19" name="Text 17">
            <a:extLst xmlns:a="http://schemas.openxmlformats.org/drawingml/2006/main">
              <a:ext uri="{FF2B5EF4-FFF2-40B4-BE49-F238E27FC236}">
                <a16:creationId xmlns:a16="http://schemas.microsoft.com/office/drawing/2014/main" id="{DC534AB4-997E-4EEC-9006-B0CB9AF23679}"/>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views over it</a:t>
            </a:r>
            <a:endParaRPr sz="860"/>
          </a:p>
        </p:txBody>
      </p:sp>
      <p:sp>
        <p:nvSpPr>
          <p:cNvPr id="20" name="Shape 18">
            <a:extLst xmlns:a="http://schemas.openxmlformats.org/drawingml/2006/main">
              <a:ext uri="{FF2B5EF4-FFF2-40B4-BE49-F238E27FC236}">
                <a16:creationId xmlns:a16="http://schemas.microsoft.com/office/drawing/2014/main" id="{A29CF025-6ADC-4DE6-91AC-FE28F329E1CB}"/>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E5BA09B4-62B4-4FBE-B9B1-E4DED92359E7}"/>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C1A5A4CC-0FA5-4A6A-9317-30FE84B3C644}"/>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action centre</a:t>
            </a:r>
            <a:endParaRPr sz="860"/>
          </a:p>
        </p:txBody>
      </p:sp>
      <p:sp>
        <p:nvSpPr>
          <p:cNvPr id="23" name="Shape 21">
            <a:extLst xmlns:a="http://schemas.openxmlformats.org/drawingml/2006/main">
              <a:ext uri="{FF2B5EF4-FFF2-40B4-BE49-F238E27FC236}">
                <a16:creationId xmlns:a16="http://schemas.microsoft.com/office/drawing/2014/main" id="{BDFB4045-6427-42C1-9247-099D7D8FBD64}"/>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8037D59A-1C0F-4A33-BF1A-B53028BCDFE0}"/>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25" name="Text 23">
            <a:extLst xmlns:a="http://schemas.openxmlformats.org/drawingml/2006/main">
              <a:ext uri="{FF2B5EF4-FFF2-40B4-BE49-F238E27FC236}">
                <a16:creationId xmlns:a16="http://schemas.microsoft.com/office/drawing/2014/main" id="{7664CF77-D28E-4FC1-A0A3-5217F134F45F}"/>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questions per view</a:t>
            </a:r>
            <a:endParaRPr sz="860"/>
          </a:p>
        </p:txBody>
      </p:sp>
      <p:sp>
        <p:nvSpPr>
          <p:cNvPr id="26" name="Shape 24">
            <a:extLst xmlns:a="http://schemas.openxmlformats.org/drawingml/2006/main">
              <a:ext uri="{FF2B5EF4-FFF2-40B4-BE49-F238E27FC236}">
                <a16:creationId xmlns:a16="http://schemas.microsoft.com/office/drawing/2014/main" id="{38BDB2BF-D888-4D89-8311-57D8FABEB84A}"/>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491606D3-877A-4C1B-ADC5-09DD030B3B6E}"/>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8" name="Text 26">
            <a:extLst xmlns:a="http://schemas.openxmlformats.org/drawingml/2006/main">
              <a:ext uri="{FF2B5EF4-FFF2-40B4-BE49-F238E27FC236}">
                <a16:creationId xmlns:a16="http://schemas.microsoft.com/office/drawing/2014/main" id="{76249A5A-67DD-4D2A-AA7B-76BB6766F9F9}"/>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duplicated member records</a:t>
            </a:r>
            <a:endParaRPr sz="860"/>
          </a:p>
        </p:txBody>
      </p:sp>
      <p:sp>
        <p:nvSpPr>
          <p:cNvPr id="29" name="Shape 27">
            <a:extLst xmlns:a="http://schemas.openxmlformats.org/drawingml/2006/main">
              <a:ext uri="{FF2B5EF4-FFF2-40B4-BE49-F238E27FC236}">
                <a16:creationId xmlns:a16="http://schemas.microsoft.com/office/drawing/2014/main" id="{19685ADF-1844-44D7-BCBE-B1DB8BF7FBFF}"/>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ABAA4667-DA7F-41FB-AD1C-B6B979E79D31}"/>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CBBFA1A7-CE3C-472C-AA83-DA8F4CDABBC7}"/>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household concept</a:t>
            </a:r>
            <a:endParaRPr sz="860"/>
          </a:p>
        </p:txBody>
      </p:sp>
      <p:sp>
        <p:nvSpPr>
          <p:cNvPr id="32" name="Text 30">
            <a:extLst xmlns:a="http://schemas.openxmlformats.org/drawingml/2006/main">
              <a:ext uri="{FF2B5EF4-FFF2-40B4-BE49-F238E27FC236}">
                <a16:creationId xmlns:a16="http://schemas.microsoft.com/office/drawing/2014/main" id="{512AB66E-67CE-45D3-B619-800AB4792B99}"/>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distinction that matters:  six views is not six systems. Every view reads the same model, so nothing has to be reconciled — the difference is entirely in what each one foregrounds and what actions it offers, which is a presentation decision rather than an architectural one.</a:t>
            </a:r>
            <a:endParaRPr sz="1000"/>
          </a:p>
        </p:txBody>
      </p:sp>
      <p:sp>
        <p:nvSpPr>
          <p:cNvPr id="33" name="Shape 31">
            <a:extLst xmlns:a="http://schemas.openxmlformats.org/drawingml/2006/main">
              <a:ext uri="{FF2B5EF4-FFF2-40B4-BE49-F238E27FC236}">
                <a16:creationId xmlns:a16="http://schemas.microsoft.com/office/drawing/2014/main" id="{E3009E86-8D08-4586-8C06-DF29B17BD3C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3392F280-22CE-47A5-9204-F6490F9D6EB1}"/>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79240537-89F5-4DD5-BB0E-DEB9D42A2BB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951287970"/>
      </p:ext>
    </p:extLst>
  </p:cSld>
</p:sld>
</file>

<file path=ppt/slides/slide27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73015AE-C644-4391-A108-9B69AF7A18E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42C67D39-24C0-4BB2-B7A1-6A8FD8A53790}"/>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Institutional scale is publicly reported; the view model and the action-centre design</a:t>
            </a:r>
            <a:endParaRPr sz="1900"/>
          </a:p>
          <a:p xmlns:a="http://schemas.openxmlformats.org/drawingml/2006/main">
            <a:pPr marL="0" indent="0">
              <a:lnSpc>
                <a:spcPts val="2400"/>
              </a:lnSpc>
              <a:buNone/>
            </a:pPr>
            <a:r>
              <a:rPr sz="1900" b="1">
                <a:solidFill>
                  <a:srgbClr val="102A43"/>
                </a:solidFill>
                <a:latin typeface="Arial"/>
                <a:ea typeface="Arial"/>
                <a:cs typeface="Arial"/>
              </a:rPr>
              <a:t>come from the delivery record</a:t>
            </a:r>
            <a:endParaRPr sz="1900"/>
          </a:p>
        </p:txBody>
      </p:sp>
      <p:sp>
        <p:nvSpPr>
          <p:cNvPr id="4" name="Shape 2">
            <a:extLst xmlns:a="http://schemas.openxmlformats.org/drawingml/2006/main">
              <a:ext uri="{FF2B5EF4-FFF2-40B4-BE49-F238E27FC236}">
                <a16:creationId xmlns:a16="http://schemas.microsoft.com/office/drawing/2014/main" id="{440BED85-B480-46D4-9AEE-04A18C69D82D}"/>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144BA606-ACA2-4663-ACAE-FFFAD308E0C6}"/>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6CD0E21F-DA5C-4B0F-B49E-F230B9BD1CEE}"/>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FFE0E25D-9BE8-4711-8423-5C1C25461E3E}"/>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Institution context</a:t>
            </a:r>
            <a:endParaRPr sz="1200"/>
          </a:p>
        </p:txBody>
      </p:sp>
      <p:sp>
        <p:nvSpPr>
          <p:cNvPr id="8" name="Text 6">
            <a:extLst xmlns:a="http://schemas.openxmlformats.org/drawingml/2006/main">
              <a:ext uri="{FF2B5EF4-FFF2-40B4-BE49-F238E27FC236}">
                <a16:creationId xmlns:a16="http://schemas.microsoft.com/office/drawing/2014/main" id="{71787B6C-D075-4455-A648-ECF247F43775}"/>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Scale and charter figures from public credit union reporting.</a:t>
            </a:r>
            <a:endParaRPr sz="920"/>
          </a:p>
        </p:txBody>
      </p:sp>
      <p:sp>
        <p:nvSpPr>
          <p:cNvPr id="9" name="Shape 7">
            <a:extLst xmlns:a="http://schemas.openxmlformats.org/drawingml/2006/main">
              <a:ext uri="{FF2B5EF4-FFF2-40B4-BE49-F238E27FC236}">
                <a16:creationId xmlns:a16="http://schemas.microsoft.com/office/drawing/2014/main" id="{D2498CA5-D2B5-4FB7-B734-C8AE4BD51422}"/>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2A34BC20-A51F-471C-9092-61C4F58EFD58}"/>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~$3.6bn total assets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~181,000 members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Chartered 1948, Dubuque, Iowa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Multi-county charter across three states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Low-income designation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Roughly twenty branch locations</a:t>
            </a:r>
            <a:endParaRPr sz="930"/>
          </a:p>
        </p:txBody>
      </p:sp>
      <p:sp>
        <p:nvSpPr>
          <p:cNvPr id="11" name="Shape 9">
            <a:extLst xmlns:a="http://schemas.openxmlformats.org/drawingml/2006/main">
              <a:ext uri="{FF2B5EF4-FFF2-40B4-BE49-F238E27FC236}">
                <a16:creationId xmlns:a16="http://schemas.microsoft.com/office/drawing/2014/main" id="{33817D60-EF54-4D45-9A98-8570ED423B9C}"/>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F9206465-6B25-4C52-8B2A-6295F47FBA80}"/>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DB7976FD-DF5D-472F-B271-ADBD90A79395}"/>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06E894EB-4AE5-4B40-9E3E-E022C548B904}"/>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EF916ECA-79FD-4702-860A-18FF9A29FE27}"/>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Member platform delivery during the 2020–2021 engagement.</a:t>
            </a:r>
            <a:endParaRPr sz="920"/>
          </a:p>
        </p:txBody>
      </p:sp>
      <p:sp>
        <p:nvSpPr>
          <p:cNvPr id="16" name="Shape 14">
            <a:extLst xmlns:a="http://schemas.openxmlformats.org/drawingml/2006/main">
              <a:ext uri="{FF2B5EF4-FFF2-40B4-BE49-F238E27FC236}">
                <a16:creationId xmlns:a16="http://schemas.microsoft.com/office/drawing/2014/main" id="{1DB7CDA3-5B7F-42D5-9D8E-D0998390CF10}"/>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2506BA7A-7101-45F4-8B79-8B7185217995}"/>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Member and household data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Six 360 views over one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Action centre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Core integration for member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Staff workflow and routing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8894295B-36AD-481A-9F15-DA6F5284A392}"/>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A4D917C1-BCAE-469E-838F-EF2F572CCFDE}"/>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67FA03C7-686A-408B-8120-59853B061F52}"/>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METHOD ILLUSTRATION</a:t>
            </a:r>
            <a:endParaRPr sz="740"/>
          </a:p>
        </p:txBody>
      </p:sp>
      <p:sp>
        <p:nvSpPr>
          <p:cNvPr id="21" name="Text 19">
            <a:extLst xmlns:a="http://schemas.openxmlformats.org/drawingml/2006/main">
              <a:ext uri="{FF2B5EF4-FFF2-40B4-BE49-F238E27FC236}">
                <a16:creationId xmlns:a16="http://schemas.microsoft.com/office/drawing/2014/main" id="{A7C31015-FF20-4463-BDBC-5AEE768F2770}"/>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Reconstructed</a:t>
            </a:r>
            <a:endParaRPr sz="1200"/>
          </a:p>
        </p:txBody>
      </p:sp>
      <p:sp>
        <p:nvSpPr>
          <p:cNvPr id="22" name="Text 20">
            <a:extLst xmlns:a="http://schemas.openxmlformats.org/drawingml/2006/main">
              <a:ext uri="{FF2B5EF4-FFF2-40B4-BE49-F238E27FC236}">
                <a16:creationId xmlns:a16="http://schemas.microsoft.com/office/drawing/2014/main" id="{C22E78A0-8F31-46B4-8747-35330B11CB25}"/>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design detail shown illustrates the approach taken. Specific definitions, categories and figures are reconstructed for presentation and are not quoted from the programme record.</a:t>
            </a:r>
            <a:endParaRPr sz="920"/>
          </a:p>
        </p:txBody>
      </p:sp>
      <p:sp>
        <p:nvSpPr>
          <p:cNvPr id="23" name="Shape 21">
            <a:extLst xmlns:a="http://schemas.openxmlformats.org/drawingml/2006/main">
              <a:ext uri="{FF2B5EF4-FFF2-40B4-BE49-F238E27FC236}">
                <a16:creationId xmlns:a16="http://schemas.microsoft.com/office/drawing/2014/main" id="{F6AE251B-E29E-4124-9049-A9F5E7FAB7A0}"/>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EAE2262B-CFF4-49B8-8A14-142B3B0B76C0}"/>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Approach is from the engagement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Detail is reconstructed to illustrate it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Figures are directional, never measured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Confirm specifics before citing them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method is what transfers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Ask me for the underlying record</a:t>
            </a:r>
            <a:endParaRPr sz="930"/>
          </a:p>
        </p:txBody>
      </p:sp>
      <p:sp>
        <p:nvSpPr>
          <p:cNvPr id="25" name="Shape 23">
            <a:extLst xmlns:a="http://schemas.openxmlformats.org/drawingml/2006/main">
              <a:ext uri="{FF2B5EF4-FFF2-40B4-BE49-F238E27FC236}">
                <a16:creationId xmlns:a16="http://schemas.microsoft.com/office/drawing/2014/main" id="{BC59677F-FAB7-4578-B01E-D05ADA81ED2C}"/>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DE4C49E8-B4A6-4ED4-A24D-9D3BC5B9745F}"/>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446B88BE-D73E-4E77-852B-9C21850BBDF9}"/>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8B66E054-7EB5-4111-A101-20FEB88E5720}"/>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F892864C-0FD2-4410-BC25-9EC46F68BC8F}"/>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a:t>
            </a:r>
            <a:endParaRPr sz="920"/>
          </a:p>
        </p:txBody>
      </p:sp>
      <p:sp>
        <p:nvSpPr>
          <p:cNvPr id="30" name="Shape 28">
            <a:extLst xmlns:a="http://schemas.openxmlformats.org/drawingml/2006/main">
              <a:ext uri="{FF2B5EF4-FFF2-40B4-BE49-F238E27FC236}">
                <a16:creationId xmlns:a16="http://schemas.microsoft.com/office/drawing/2014/main" id="{ABDCA9A3-4767-4B56-9D82-5DF76A9BF27E}"/>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E226CD21-BC44-41B7-9563-C9AD12F5423D}"/>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member or account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Institution financial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Independently audited results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Lending or credit decisions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engagement</a:t>
            </a:r>
            <a:endParaRPr sz="930"/>
          </a:p>
        </p:txBody>
      </p:sp>
      <p:sp>
        <p:nvSpPr>
          <p:cNvPr id="32" name="Shape 30">
            <a:extLst xmlns:a="http://schemas.openxmlformats.org/drawingml/2006/main">
              <a:ext uri="{FF2B5EF4-FFF2-40B4-BE49-F238E27FC236}">
                <a16:creationId xmlns:a16="http://schemas.microsoft.com/office/drawing/2014/main" id="{44475A49-B6C2-4E10-B724-C95EEB1520F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AB0BE8DE-37E4-4591-9DC7-E8502081E8F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credit union figures (context) · author's delivery record (design and delivery)</a:t>
            </a:r>
            <a:endParaRPr sz="850"/>
          </a:p>
        </p:txBody>
      </p:sp>
      <p:sp>
        <p:nvSpPr>
          <p:cNvPr id="34" name="Text 32">
            <a:extLst xmlns:a="http://schemas.openxmlformats.org/drawingml/2006/main">
              <a:ext uri="{FF2B5EF4-FFF2-40B4-BE49-F238E27FC236}">
                <a16:creationId xmlns:a16="http://schemas.microsoft.com/office/drawing/2014/main" id="{5BE4D5D4-3ACC-4AC3-A697-EDE192EFEA4D}"/>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046746487"/>
      </p:ext>
    </p:extLst>
  </p:cSld>
</p:sld>
</file>

<file path=ppt/slides/slide27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5063660-AFFC-43E7-BAC8-EB84C7EFC40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SIX VIEWS</a:t>
            </a:r>
            <a:endParaRPr sz="950"/>
          </a:p>
        </p:txBody>
      </p:sp>
      <p:sp>
        <p:nvSpPr>
          <p:cNvPr id="3" name="Text 1">
            <a:extLst xmlns:a="http://schemas.openxmlformats.org/drawingml/2006/main">
              <a:ext uri="{FF2B5EF4-FFF2-40B4-BE49-F238E27FC236}">
                <a16:creationId xmlns:a16="http://schemas.microsoft.com/office/drawing/2014/main" id="{6B54A06F-0D55-449A-9DAD-CB8635FB842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Each view answers a different question, and the question determines what is</a:t>
            </a:r>
            <a:endParaRPr sz="1900"/>
          </a:p>
          <a:p xmlns:a="http://schemas.openxmlformats.org/drawingml/2006/main">
            <a:pPr marL="0" indent="0">
              <a:lnSpc>
                <a:spcPts val="2400"/>
              </a:lnSpc>
              <a:buNone/>
            </a:pPr>
            <a:r>
              <a:rPr sz="1900" b="1">
                <a:solidFill>
                  <a:srgbClr val="102A43"/>
                </a:solidFill>
                <a:latin typeface="Arial"/>
                <a:ea typeface="Arial"/>
                <a:cs typeface="Arial"/>
              </a:rPr>
              <a:t>foregrounded and what actions are offered</a:t>
            </a:r>
            <a:endParaRPr sz="1900"/>
          </a:p>
        </p:txBody>
      </p:sp>
      <p:sp>
        <p:nvSpPr>
          <p:cNvPr id="4" name="Shape 2">
            <a:extLst xmlns:a="http://schemas.openxmlformats.org/drawingml/2006/main">
              <a:ext uri="{FF2B5EF4-FFF2-40B4-BE49-F238E27FC236}">
                <a16:creationId xmlns:a16="http://schemas.microsoft.com/office/drawing/2014/main" id="{C9731E61-D2A2-492D-BE90-F5E9AB06DFD1}"/>
              </a:ext>
            </a:extLst>
          </p:cNvPr>
          <p:cNvSpPr>
            <a:spLocks xmlns:a="http://schemas.openxmlformats.org/drawingml/2006/main" noGrp="1"/>
          </p:cNvSpPr>
          <p:nvPr/>
        </p:nvSpPr>
        <p:spPr>
          <a:xfrm xmlns:a="http://schemas.openxmlformats.org/drawingml/2006/main">
            <a:off x="566928" y="1335024"/>
            <a:ext cx="3564026" cy="13716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0FEE2ADE-AACA-4FCF-A8B3-07087A82AE09}"/>
              </a:ext>
            </a:extLst>
          </p:cNvPr>
          <p:cNvSpPr>
            <a:spLocks xmlns:a="http://schemas.openxmlformats.org/drawingml/2006/main" noGrp="1"/>
          </p:cNvSpPr>
          <p:nvPr/>
        </p:nvSpPr>
        <p:spPr>
          <a:xfrm xmlns:a="http://schemas.openxmlformats.org/drawingml/2006/main">
            <a:off x="768096" y="1463040"/>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Member 360</a:t>
            </a:r>
            <a:endParaRPr sz="1200"/>
          </a:p>
        </p:txBody>
      </p:sp>
      <p:sp>
        <p:nvSpPr>
          <p:cNvPr id="6" name="Text 4">
            <a:extLst xmlns:a="http://schemas.openxmlformats.org/drawingml/2006/main">
              <a:ext uri="{FF2B5EF4-FFF2-40B4-BE49-F238E27FC236}">
                <a16:creationId xmlns:a16="http://schemas.microsoft.com/office/drawing/2014/main" id="{1D89978C-0DE8-488C-BCC1-4D8D024DFBAC}"/>
              </a:ext>
            </a:extLst>
          </p:cNvPr>
          <p:cNvSpPr>
            <a:spLocks xmlns:a="http://schemas.openxmlformats.org/drawingml/2006/main" noGrp="1"/>
          </p:cNvSpPr>
          <p:nvPr/>
        </p:nvSpPr>
        <p:spPr>
          <a:xfrm xmlns:a="http://schemas.openxmlformats.org/drawingml/2006/main">
            <a:off x="768096" y="1737360"/>
            <a:ext cx="31616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B04A25"/>
                </a:solidFill>
                <a:latin typeface="Arial"/>
                <a:ea typeface="Arial"/>
                <a:cs typeface="Arial"/>
              </a:rPr>
              <a:t>Who is this person to us, across everything they hold and everyone they are linked to?</a:t>
            </a:r>
            <a:endParaRPr sz="930"/>
          </a:p>
        </p:txBody>
      </p:sp>
      <p:sp>
        <p:nvSpPr>
          <p:cNvPr id="7" name="Text 5">
            <a:extLst xmlns:a="http://schemas.openxmlformats.org/drawingml/2006/main">
              <a:ext uri="{FF2B5EF4-FFF2-40B4-BE49-F238E27FC236}">
                <a16:creationId xmlns:a16="http://schemas.microsoft.com/office/drawing/2014/main" id="{C79BC3BD-F3F5-45B4-8ED0-4204AA486E7F}"/>
              </a:ext>
            </a:extLst>
          </p:cNvPr>
          <p:cNvSpPr>
            <a:spLocks xmlns:a="http://schemas.openxmlformats.org/drawingml/2006/main" noGrp="1"/>
          </p:cNvSpPr>
          <p:nvPr/>
        </p:nvSpPr>
        <p:spPr>
          <a:xfrm xmlns:a="http://schemas.openxmlformats.org/drawingml/2006/main">
            <a:off x="768096" y="2267712"/>
            <a:ext cx="31616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1A1A1A"/>
                </a:solidFill>
                <a:latin typeface="Arial"/>
                <a:ea typeface="Arial"/>
                <a:cs typeface="Arial"/>
              </a:rPr>
              <a:t>Household, tenure, relationships, overall position</a:t>
            </a:r>
            <a:endParaRPr sz="900"/>
          </a:p>
        </p:txBody>
      </p:sp>
      <p:sp>
        <p:nvSpPr>
          <p:cNvPr id="8" name="Shape 6">
            <a:extLst xmlns:a="http://schemas.openxmlformats.org/drawingml/2006/main">
              <a:ext uri="{FF2B5EF4-FFF2-40B4-BE49-F238E27FC236}">
                <a16:creationId xmlns:a16="http://schemas.microsoft.com/office/drawing/2014/main" id="{986F23DF-47C0-4979-B2B6-6DE36F7CD325}"/>
              </a:ext>
            </a:extLst>
          </p:cNvPr>
          <p:cNvSpPr>
            <a:spLocks xmlns:a="http://schemas.openxmlformats.org/drawingml/2006/main" noGrp="1"/>
          </p:cNvSpPr>
          <p:nvPr/>
        </p:nvSpPr>
        <p:spPr>
          <a:xfrm xmlns:a="http://schemas.openxmlformats.org/drawingml/2006/main">
            <a:off x="4313834" y="1335024"/>
            <a:ext cx="3564026" cy="1371600"/>
          </a:xfrm>
          <a:prstGeom xmlns:a="http://schemas.openxmlformats.org/drawingml/2006/main" prst="rect">
            <a:avLst/>
          </a:prstGeom>
          <a:solidFill xmlns:a="http://schemas.openxmlformats.org/drawingml/2006/main">
            <a:srgbClr val="F3E6E0"/>
          </a:solidFill>
        </p:spPr>
      </p:sp>
      <p:sp>
        <p:nvSpPr>
          <p:cNvPr id="9" name="Text 7">
            <a:extLst xmlns:a="http://schemas.openxmlformats.org/drawingml/2006/main">
              <a:ext uri="{FF2B5EF4-FFF2-40B4-BE49-F238E27FC236}">
                <a16:creationId xmlns:a16="http://schemas.microsoft.com/office/drawing/2014/main" id="{064BE17D-1B55-4FFC-810A-5875908273D4}"/>
              </a:ext>
            </a:extLst>
          </p:cNvPr>
          <p:cNvSpPr>
            <a:spLocks xmlns:a="http://schemas.openxmlformats.org/drawingml/2006/main" noGrp="1"/>
          </p:cNvSpPr>
          <p:nvPr/>
        </p:nvSpPr>
        <p:spPr>
          <a:xfrm xmlns:a="http://schemas.openxmlformats.org/drawingml/2006/main">
            <a:off x="4515002" y="1463040"/>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Business 360</a:t>
            </a:r>
            <a:endParaRPr sz="1200"/>
          </a:p>
        </p:txBody>
      </p:sp>
      <p:sp>
        <p:nvSpPr>
          <p:cNvPr id="10" name="Text 8">
            <a:extLst xmlns:a="http://schemas.openxmlformats.org/drawingml/2006/main">
              <a:ext uri="{FF2B5EF4-FFF2-40B4-BE49-F238E27FC236}">
                <a16:creationId xmlns:a16="http://schemas.microsoft.com/office/drawing/2014/main" id="{BFB9C147-64BF-4FC3-9527-7E8D7938B024}"/>
              </a:ext>
            </a:extLst>
          </p:cNvPr>
          <p:cNvSpPr>
            <a:spLocks xmlns:a="http://schemas.openxmlformats.org/drawingml/2006/main" noGrp="1"/>
          </p:cNvSpPr>
          <p:nvPr/>
        </p:nvSpPr>
        <p:spPr>
          <a:xfrm xmlns:a="http://schemas.openxmlformats.org/drawingml/2006/main">
            <a:off x="4515002" y="1737360"/>
            <a:ext cx="31616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B04A25"/>
                </a:solidFill>
                <a:latin typeface="Arial"/>
                <a:ea typeface="Arial"/>
                <a:cs typeface="Arial"/>
              </a:rPr>
              <a:t>What is this business entity, and how does it connect to the people behind it?</a:t>
            </a:r>
            <a:endParaRPr sz="930"/>
          </a:p>
        </p:txBody>
      </p:sp>
      <p:sp>
        <p:nvSpPr>
          <p:cNvPr id="11" name="Text 9">
            <a:extLst xmlns:a="http://schemas.openxmlformats.org/drawingml/2006/main">
              <a:ext uri="{FF2B5EF4-FFF2-40B4-BE49-F238E27FC236}">
                <a16:creationId xmlns:a16="http://schemas.microsoft.com/office/drawing/2014/main" id="{48464483-AFE8-4C79-8830-73CFDA897BB4}"/>
              </a:ext>
            </a:extLst>
          </p:cNvPr>
          <p:cNvSpPr>
            <a:spLocks xmlns:a="http://schemas.openxmlformats.org/drawingml/2006/main" noGrp="1"/>
          </p:cNvSpPr>
          <p:nvPr/>
        </p:nvSpPr>
        <p:spPr>
          <a:xfrm xmlns:a="http://schemas.openxmlformats.org/drawingml/2006/main">
            <a:off x="4515002" y="2267712"/>
            <a:ext cx="31616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1A1A1A"/>
                </a:solidFill>
                <a:latin typeface="Arial"/>
                <a:ea typeface="Arial"/>
                <a:cs typeface="Arial"/>
              </a:rPr>
              <a:t>Entity, signatories, linked personal members</a:t>
            </a:r>
            <a:endParaRPr sz="900"/>
          </a:p>
        </p:txBody>
      </p:sp>
      <p:sp>
        <p:nvSpPr>
          <p:cNvPr id="12" name="Shape 10">
            <a:extLst xmlns:a="http://schemas.openxmlformats.org/drawingml/2006/main">
              <a:ext uri="{FF2B5EF4-FFF2-40B4-BE49-F238E27FC236}">
                <a16:creationId xmlns:a16="http://schemas.microsoft.com/office/drawing/2014/main" id="{3B3E5E94-FF02-4596-A900-614DDEA29A92}"/>
              </a:ext>
            </a:extLst>
          </p:cNvPr>
          <p:cNvSpPr>
            <a:spLocks xmlns:a="http://schemas.openxmlformats.org/drawingml/2006/main" noGrp="1"/>
          </p:cNvSpPr>
          <p:nvPr/>
        </p:nvSpPr>
        <p:spPr>
          <a:xfrm xmlns:a="http://schemas.openxmlformats.org/drawingml/2006/main">
            <a:off x="8060741" y="1335024"/>
            <a:ext cx="3564026" cy="1371600"/>
          </a:xfrm>
          <a:prstGeom xmlns:a="http://schemas.openxmlformats.org/drawingml/2006/main" prst="rect">
            <a:avLst/>
          </a:prstGeom>
          <a:solidFill xmlns:a="http://schemas.openxmlformats.org/drawingml/2006/main">
            <a:srgbClr val="F0F4F8"/>
          </a:solidFill>
        </p:spPr>
      </p:sp>
      <p:sp>
        <p:nvSpPr>
          <p:cNvPr id="13" name="Text 11">
            <a:extLst xmlns:a="http://schemas.openxmlformats.org/drawingml/2006/main">
              <a:ext uri="{FF2B5EF4-FFF2-40B4-BE49-F238E27FC236}">
                <a16:creationId xmlns:a16="http://schemas.microsoft.com/office/drawing/2014/main" id="{4D72DBB8-09C7-4307-B835-87FE382DD368}"/>
              </a:ext>
            </a:extLst>
          </p:cNvPr>
          <p:cNvSpPr>
            <a:spLocks xmlns:a="http://schemas.openxmlformats.org/drawingml/2006/main" noGrp="1"/>
          </p:cNvSpPr>
          <p:nvPr/>
        </p:nvSpPr>
        <p:spPr>
          <a:xfrm xmlns:a="http://schemas.openxmlformats.org/drawingml/2006/main">
            <a:off x="8261909" y="1463040"/>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Account 360</a:t>
            </a:r>
            <a:endParaRPr sz="1200"/>
          </a:p>
        </p:txBody>
      </p:sp>
      <p:sp>
        <p:nvSpPr>
          <p:cNvPr id="14" name="Text 12">
            <a:extLst xmlns:a="http://schemas.openxmlformats.org/drawingml/2006/main">
              <a:ext uri="{FF2B5EF4-FFF2-40B4-BE49-F238E27FC236}">
                <a16:creationId xmlns:a16="http://schemas.microsoft.com/office/drawing/2014/main" id="{E6CFA4C6-D06A-4560-9073-EF85AAE8834B}"/>
              </a:ext>
            </a:extLst>
          </p:cNvPr>
          <p:cNvSpPr>
            <a:spLocks xmlns:a="http://schemas.openxmlformats.org/drawingml/2006/main" noGrp="1"/>
          </p:cNvSpPr>
          <p:nvPr/>
        </p:nvSpPr>
        <p:spPr>
          <a:xfrm xmlns:a="http://schemas.openxmlformats.org/drawingml/2006/main">
            <a:off x="8261909" y="1737360"/>
            <a:ext cx="31616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What is happening on this specific deposit relationship right now?</a:t>
            </a:r>
            <a:endParaRPr sz="930"/>
          </a:p>
        </p:txBody>
      </p:sp>
      <p:sp>
        <p:nvSpPr>
          <p:cNvPr id="15" name="Text 13">
            <a:extLst xmlns:a="http://schemas.openxmlformats.org/drawingml/2006/main">
              <a:ext uri="{FF2B5EF4-FFF2-40B4-BE49-F238E27FC236}">
                <a16:creationId xmlns:a16="http://schemas.microsoft.com/office/drawing/2014/main" id="{0B45D391-DA80-48C3-AF6C-C337061221BE}"/>
              </a:ext>
            </a:extLst>
          </p:cNvPr>
          <p:cNvSpPr>
            <a:spLocks xmlns:a="http://schemas.openxmlformats.org/drawingml/2006/main" noGrp="1"/>
          </p:cNvSpPr>
          <p:nvPr/>
        </p:nvSpPr>
        <p:spPr>
          <a:xfrm xmlns:a="http://schemas.openxmlformats.org/drawingml/2006/main">
            <a:off x="8261909" y="2267712"/>
            <a:ext cx="31616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1A1A1A"/>
                </a:solidFill>
                <a:latin typeface="Arial"/>
                <a:ea typeface="Arial"/>
                <a:cs typeface="Arial"/>
              </a:rPr>
              <a:t>Balances, activity, holds, alerts</a:t>
            </a:r>
            <a:endParaRPr sz="900"/>
          </a:p>
        </p:txBody>
      </p:sp>
      <p:sp>
        <p:nvSpPr>
          <p:cNvPr id="16" name="Shape 14">
            <a:extLst xmlns:a="http://schemas.openxmlformats.org/drawingml/2006/main">
              <a:ext uri="{FF2B5EF4-FFF2-40B4-BE49-F238E27FC236}">
                <a16:creationId xmlns:a16="http://schemas.microsoft.com/office/drawing/2014/main" id="{114AFD5B-8F4B-448D-9D97-005CD5DA9E64}"/>
              </a:ext>
            </a:extLst>
          </p:cNvPr>
          <p:cNvSpPr>
            <a:spLocks xmlns:a="http://schemas.openxmlformats.org/drawingml/2006/main" noGrp="1"/>
          </p:cNvSpPr>
          <p:nvPr/>
        </p:nvSpPr>
        <p:spPr>
          <a:xfrm xmlns:a="http://schemas.openxmlformats.org/drawingml/2006/main">
            <a:off x="566928" y="2852928"/>
            <a:ext cx="3564026" cy="1371600"/>
          </a:xfrm>
          <a:prstGeom xmlns:a="http://schemas.openxmlformats.org/drawingml/2006/main" prst="rect">
            <a:avLst/>
          </a:prstGeom>
          <a:solidFill xmlns:a="http://schemas.openxmlformats.org/drawingml/2006/main">
            <a:srgbClr val="F0F4F8"/>
          </a:solidFill>
        </p:spPr>
      </p:sp>
      <p:sp>
        <p:nvSpPr>
          <p:cNvPr id="17" name="Text 15">
            <a:extLst xmlns:a="http://schemas.openxmlformats.org/drawingml/2006/main">
              <a:ext uri="{FF2B5EF4-FFF2-40B4-BE49-F238E27FC236}">
                <a16:creationId xmlns:a16="http://schemas.microsoft.com/office/drawing/2014/main" id="{07DA6912-5BD3-40DD-A737-CA7CD8B5C69F}"/>
              </a:ext>
            </a:extLst>
          </p:cNvPr>
          <p:cNvSpPr>
            <a:spLocks xmlns:a="http://schemas.openxmlformats.org/drawingml/2006/main" noGrp="1"/>
          </p:cNvSpPr>
          <p:nvPr/>
        </p:nvSpPr>
        <p:spPr>
          <a:xfrm xmlns:a="http://schemas.openxmlformats.org/drawingml/2006/main">
            <a:off x="768096" y="2980944"/>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Share 360</a:t>
            </a:r>
            <a:endParaRPr sz="1200"/>
          </a:p>
        </p:txBody>
      </p:sp>
      <p:sp>
        <p:nvSpPr>
          <p:cNvPr id="18" name="Text 16">
            <a:extLst xmlns:a="http://schemas.openxmlformats.org/drawingml/2006/main">
              <a:ext uri="{FF2B5EF4-FFF2-40B4-BE49-F238E27FC236}">
                <a16:creationId xmlns:a16="http://schemas.microsoft.com/office/drawing/2014/main" id="{8F1BBF7F-F1B9-4D82-B76E-3EA4C2EC52FC}"/>
              </a:ext>
            </a:extLst>
          </p:cNvPr>
          <p:cNvSpPr>
            <a:spLocks xmlns:a="http://schemas.openxmlformats.org/drawingml/2006/main" noGrp="1"/>
          </p:cNvSpPr>
          <p:nvPr/>
        </p:nvSpPr>
        <p:spPr>
          <a:xfrm xmlns:a="http://schemas.openxmlformats.org/drawingml/2006/main">
            <a:off x="768096" y="3255264"/>
            <a:ext cx="31616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What is this member's ownership and savings position?</a:t>
            </a:r>
            <a:endParaRPr sz="930"/>
          </a:p>
        </p:txBody>
      </p:sp>
      <p:sp>
        <p:nvSpPr>
          <p:cNvPr id="19" name="Text 17">
            <a:extLst xmlns:a="http://schemas.openxmlformats.org/drawingml/2006/main">
              <a:ext uri="{FF2B5EF4-FFF2-40B4-BE49-F238E27FC236}">
                <a16:creationId xmlns:a16="http://schemas.microsoft.com/office/drawing/2014/main" id="{E31F3152-81DF-4D7E-A719-DC8785B6FDD4}"/>
              </a:ext>
            </a:extLst>
          </p:cNvPr>
          <p:cNvSpPr>
            <a:spLocks xmlns:a="http://schemas.openxmlformats.org/drawingml/2006/main" noGrp="1"/>
          </p:cNvSpPr>
          <p:nvPr/>
        </p:nvSpPr>
        <p:spPr>
          <a:xfrm xmlns:a="http://schemas.openxmlformats.org/drawingml/2006/main">
            <a:off x="768096" y="3785616"/>
            <a:ext cx="31616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1A1A1A"/>
                </a:solidFill>
                <a:latin typeface="Arial"/>
                <a:ea typeface="Arial"/>
                <a:cs typeface="Arial"/>
              </a:rPr>
              <a:t>Share accounts, dividends, certificates</a:t>
            </a:r>
            <a:endParaRPr sz="900"/>
          </a:p>
        </p:txBody>
      </p:sp>
      <p:sp>
        <p:nvSpPr>
          <p:cNvPr id="20" name="Shape 18">
            <a:extLst xmlns:a="http://schemas.openxmlformats.org/drawingml/2006/main">
              <a:ext uri="{FF2B5EF4-FFF2-40B4-BE49-F238E27FC236}">
                <a16:creationId xmlns:a16="http://schemas.microsoft.com/office/drawing/2014/main" id="{CB7353B9-73CD-4479-89E5-A386FC53F941}"/>
              </a:ext>
            </a:extLst>
          </p:cNvPr>
          <p:cNvSpPr>
            <a:spLocks xmlns:a="http://schemas.openxmlformats.org/drawingml/2006/main" noGrp="1"/>
          </p:cNvSpPr>
          <p:nvPr/>
        </p:nvSpPr>
        <p:spPr>
          <a:xfrm xmlns:a="http://schemas.openxmlformats.org/drawingml/2006/main">
            <a:off x="4313834" y="2852928"/>
            <a:ext cx="3564026" cy="1371600"/>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FBC3F8B9-E054-4AC5-B05E-66B47C931D91}"/>
              </a:ext>
            </a:extLst>
          </p:cNvPr>
          <p:cNvSpPr>
            <a:spLocks xmlns:a="http://schemas.openxmlformats.org/drawingml/2006/main" noGrp="1"/>
          </p:cNvSpPr>
          <p:nvPr/>
        </p:nvSpPr>
        <p:spPr>
          <a:xfrm xmlns:a="http://schemas.openxmlformats.org/drawingml/2006/main">
            <a:off x="4515002" y="2980944"/>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Loan 360</a:t>
            </a:r>
            <a:endParaRPr sz="1200"/>
          </a:p>
        </p:txBody>
      </p:sp>
      <p:sp>
        <p:nvSpPr>
          <p:cNvPr id="22" name="Text 20">
            <a:extLst xmlns:a="http://schemas.openxmlformats.org/drawingml/2006/main">
              <a:ext uri="{FF2B5EF4-FFF2-40B4-BE49-F238E27FC236}">
                <a16:creationId xmlns:a16="http://schemas.microsoft.com/office/drawing/2014/main" id="{CD058C2D-7EA6-4582-9F99-A3A8D9E913C4}"/>
              </a:ext>
            </a:extLst>
          </p:cNvPr>
          <p:cNvSpPr>
            <a:spLocks xmlns:a="http://schemas.openxmlformats.org/drawingml/2006/main" noGrp="1"/>
          </p:cNvSpPr>
          <p:nvPr/>
        </p:nvSpPr>
        <p:spPr>
          <a:xfrm xmlns:a="http://schemas.openxmlformats.org/drawingml/2006/main">
            <a:off x="4515002" y="3255264"/>
            <a:ext cx="31616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Where is this borrowing, and what does the member need to know about it?</a:t>
            </a:r>
            <a:endParaRPr sz="930"/>
          </a:p>
        </p:txBody>
      </p:sp>
      <p:sp>
        <p:nvSpPr>
          <p:cNvPr id="23" name="Text 21">
            <a:extLst xmlns:a="http://schemas.openxmlformats.org/drawingml/2006/main">
              <a:ext uri="{FF2B5EF4-FFF2-40B4-BE49-F238E27FC236}">
                <a16:creationId xmlns:a16="http://schemas.microsoft.com/office/drawing/2014/main" id="{A39F0DEA-0BD1-4166-9D70-8919B88AD439}"/>
              </a:ext>
            </a:extLst>
          </p:cNvPr>
          <p:cNvSpPr>
            <a:spLocks xmlns:a="http://schemas.openxmlformats.org/drawingml/2006/main" noGrp="1"/>
          </p:cNvSpPr>
          <p:nvPr/>
        </p:nvSpPr>
        <p:spPr>
          <a:xfrm xmlns:a="http://schemas.openxmlformats.org/drawingml/2006/main">
            <a:off x="4515002" y="3785616"/>
            <a:ext cx="31616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1A1A1A"/>
                </a:solidFill>
                <a:latin typeface="Arial"/>
                <a:ea typeface="Arial"/>
                <a:cs typeface="Arial"/>
              </a:rPr>
              <a:t>Balance, schedule, delinquency, collateral</a:t>
            </a:r>
            <a:endParaRPr sz="900"/>
          </a:p>
        </p:txBody>
      </p:sp>
      <p:sp>
        <p:nvSpPr>
          <p:cNvPr id="24" name="Shape 22">
            <a:extLst xmlns:a="http://schemas.openxmlformats.org/drawingml/2006/main">
              <a:ext uri="{FF2B5EF4-FFF2-40B4-BE49-F238E27FC236}">
                <a16:creationId xmlns:a16="http://schemas.microsoft.com/office/drawing/2014/main" id="{002352E1-DE8C-4780-8250-A0A7CB717A71}"/>
              </a:ext>
            </a:extLst>
          </p:cNvPr>
          <p:cNvSpPr>
            <a:spLocks xmlns:a="http://schemas.openxmlformats.org/drawingml/2006/main" noGrp="1"/>
          </p:cNvSpPr>
          <p:nvPr/>
        </p:nvSpPr>
        <p:spPr>
          <a:xfrm xmlns:a="http://schemas.openxmlformats.org/drawingml/2006/main">
            <a:off x="8060741" y="2852928"/>
            <a:ext cx="3564026" cy="1371600"/>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8735324E-0D9E-421B-8251-B58961C6875D}"/>
              </a:ext>
            </a:extLst>
          </p:cNvPr>
          <p:cNvSpPr>
            <a:spLocks xmlns:a="http://schemas.openxmlformats.org/drawingml/2006/main" noGrp="1"/>
          </p:cNvSpPr>
          <p:nvPr/>
        </p:nvSpPr>
        <p:spPr>
          <a:xfrm xmlns:a="http://schemas.openxmlformats.org/drawingml/2006/main">
            <a:off x="8261909" y="2980944"/>
            <a:ext cx="316169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200" b="1">
                <a:solidFill>
                  <a:srgbClr val="102A43"/>
                </a:solidFill>
                <a:latin typeface="Arial"/>
                <a:ea typeface="Arial"/>
                <a:cs typeface="Arial"/>
              </a:rPr>
              <a:t>Card 360</a:t>
            </a:r>
            <a:endParaRPr sz="1200"/>
          </a:p>
        </p:txBody>
      </p:sp>
      <p:sp>
        <p:nvSpPr>
          <p:cNvPr id="26" name="Text 24">
            <a:extLst xmlns:a="http://schemas.openxmlformats.org/drawingml/2006/main">
              <a:ext uri="{FF2B5EF4-FFF2-40B4-BE49-F238E27FC236}">
                <a16:creationId xmlns:a16="http://schemas.microsoft.com/office/drawing/2014/main" id="{A88EA0C9-61C9-49FC-85D6-71ACA646DD73}"/>
              </a:ext>
            </a:extLst>
          </p:cNvPr>
          <p:cNvSpPr>
            <a:spLocks xmlns:a="http://schemas.openxmlformats.org/drawingml/2006/main" noGrp="1"/>
          </p:cNvSpPr>
          <p:nvPr/>
        </p:nvSpPr>
        <p:spPr>
          <a:xfrm xmlns:a="http://schemas.openxmlformats.org/drawingml/2006/main">
            <a:off x="8261909" y="3255264"/>
            <a:ext cx="316169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30" i="1">
                <a:solidFill>
                  <a:srgbClr val="486581"/>
                </a:solidFill>
                <a:latin typeface="Arial"/>
                <a:ea typeface="Arial"/>
                <a:cs typeface="Arial"/>
              </a:rPr>
              <a:t>What is happening on the card, including things the member is about to call about?</a:t>
            </a:r>
            <a:endParaRPr sz="930"/>
          </a:p>
        </p:txBody>
      </p:sp>
      <p:sp>
        <p:nvSpPr>
          <p:cNvPr id="27" name="Text 25">
            <a:extLst xmlns:a="http://schemas.openxmlformats.org/drawingml/2006/main">
              <a:ext uri="{FF2B5EF4-FFF2-40B4-BE49-F238E27FC236}">
                <a16:creationId xmlns:a16="http://schemas.microsoft.com/office/drawing/2014/main" id="{309BECB3-0700-4AF6-B039-C4BEEEA3063C}"/>
              </a:ext>
            </a:extLst>
          </p:cNvPr>
          <p:cNvSpPr>
            <a:spLocks xmlns:a="http://schemas.openxmlformats.org/drawingml/2006/main" noGrp="1"/>
          </p:cNvSpPr>
          <p:nvPr/>
        </p:nvSpPr>
        <p:spPr>
          <a:xfrm xmlns:a="http://schemas.openxmlformats.org/drawingml/2006/main">
            <a:off x="8261909" y="3785616"/>
            <a:ext cx="316169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900">
                <a:solidFill>
                  <a:srgbClr val="1A1A1A"/>
                </a:solidFill>
                <a:latin typeface="Arial"/>
                <a:ea typeface="Arial"/>
                <a:cs typeface="Arial"/>
              </a:rPr>
              <a:t>Authorisations, disputes, status, limits</a:t>
            </a:r>
            <a:endParaRPr sz="900"/>
          </a:p>
        </p:txBody>
      </p:sp>
      <p:sp>
        <p:nvSpPr>
          <p:cNvPr id="28" name="Shape 26">
            <a:extLst xmlns:a="http://schemas.openxmlformats.org/drawingml/2006/main">
              <a:ext uri="{FF2B5EF4-FFF2-40B4-BE49-F238E27FC236}">
                <a16:creationId xmlns:a16="http://schemas.microsoft.com/office/drawing/2014/main" id="{8956AC72-946A-4EA7-980F-CE986DBD3997}"/>
              </a:ext>
            </a:extLst>
          </p:cNvPr>
          <p:cNvSpPr>
            <a:spLocks xmlns:a="http://schemas.openxmlformats.org/drawingml/2006/main" noGrp="1"/>
          </p:cNvSpPr>
          <p:nvPr/>
        </p:nvSpPr>
        <p:spPr>
          <a:xfrm xmlns:a="http://schemas.openxmlformats.org/drawingml/2006/main">
            <a:off x="566928" y="4480560"/>
            <a:ext cx="11057839" cy="1591056"/>
          </a:xfrm>
          <a:prstGeom xmlns:a="http://schemas.openxmlformats.org/drawingml/2006/main" prst="rect">
            <a:avLst/>
          </a:prstGeom>
          <a:solidFill xmlns:a="http://schemas.openxmlformats.org/drawingml/2006/main">
            <a:srgbClr val="F3E6E0"/>
          </a:solidFill>
        </p:spPr>
      </p:sp>
      <p:sp>
        <p:nvSpPr>
          <p:cNvPr id="29" name="Text 27">
            <a:extLst xmlns:a="http://schemas.openxmlformats.org/drawingml/2006/main">
              <a:ext uri="{FF2B5EF4-FFF2-40B4-BE49-F238E27FC236}">
                <a16:creationId xmlns:a16="http://schemas.microsoft.com/office/drawing/2014/main" id="{C3F2F1F3-8036-417E-A24C-D1D351520379}"/>
              </a:ext>
            </a:extLst>
          </p:cNvPr>
          <p:cNvSpPr>
            <a:spLocks xmlns:a="http://schemas.openxmlformats.org/drawingml/2006/main" noGrp="1"/>
          </p:cNvSpPr>
          <p:nvPr/>
        </p:nvSpPr>
        <p:spPr>
          <a:xfrm xmlns:a="http://schemas.openxmlformats.org/drawingml/2006/main">
            <a:off x="804672" y="4626864"/>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a single view fails in a member-owned institution</a:t>
            </a:r>
            <a:endParaRPr sz="1100"/>
          </a:p>
        </p:txBody>
      </p:sp>
      <p:sp>
        <p:nvSpPr>
          <p:cNvPr id="30" name="Text 28">
            <a:extLst xmlns:a="http://schemas.openxmlformats.org/drawingml/2006/main">
              <a:ext uri="{FF2B5EF4-FFF2-40B4-BE49-F238E27FC236}">
                <a16:creationId xmlns:a16="http://schemas.microsoft.com/office/drawing/2014/main" id="{528A6797-BD8F-46CB-B0A6-7E6A63168C22}"/>
              </a:ext>
            </a:extLst>
          </p:cNvPr>
          <p:cNvSpPr>
            <a:spLocks xmlns:a="http://schemas.openxmlformats.org/drawingml/2006/main" noGrp="1"/>
          </p:cNvSpPr>
          <p:nvPr/>
        </p:nvSpPr>
        <p:spPr>
          <a:xfrm xmlns:a="http://schemas.openxmlformats.org/drawingml/2006/main">
            <a:off x="804672" y="4882896"/>
            <a:ext cx="10582351"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 member of a credit union is an owner as well as a customer. Their relationship is genuinely multi-dimensional in a way a single-product banking customer's often is not — they hold shares, they may borrow, they carry a card, they may run a small business that also banks there, and their household is frequently part of the picture.</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A single 360 either shows all of that at once, which buries the relevant part, or picks a default, which is wrong most of the time. Six purpose-built views over one model let a staff member land where the conversation actually is, and move sideways when it changes — which is what a member conversation does.</a:t>
            </a:r>
            <a:endParaRPr sz="990"/>
          </a:p>
        </p:txBody>
      </p:sp>
      <p:sp>
        <p:nvSpPr>
          <p:cNvPr id="31" name="Shape 29">
            <a:extLst xmlns:a="http://schemas.openxmlformats.org/drawingml/2006/main">
              <a:ext uri="{FF2B5EF4-FFF2-40B4-BE49-F238E27FC236}">
                <a16:creationId xmlns:a16="http://schemas.microsoft.com/office/drawing/2014/main" id="{F7A5A016-7AFE-4F30-B0FC-C08A3ACA774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2" name="Text 30">
            <a:extLst xmlns:a="http://schemas.openxmlformats.org/drawingml/2006/main">
              <a:ext uri="{FF2B5EF4-FFF2-40B4-BE49-F238E27FC236}">
                <a16:creationId xmlns:a16="http://schemas.microsoft.com/office/drawing/2014/main" id="{39AB2AE8-7056-46C9-BB7A-1D690CC6242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2020–2021 engagement · view model reconstructed to illustrate the approach</a:t>
            </a:r>
            <a:endParaRPr sz="850"/>
          </a:p>
        </p:txBody>
      </p:sp>
      <p:sp>
        <p:nvSpPr>
          <p:cNvPr id="33" name="Text 31">
            <a:extLst xmlns:a="http://schemas.openxmlformats.org/drawingml/2006/main">
              <a:ext uri="{FF2B5EF4-FFF2-40B4-BE49-F238E27FC236}">
                <a16:creationId xmlns:a16="http://schemas.microsoft.com/office/drawing/2014/main" id="{60E0AFB5-ACCA-4267-8FEC-46FBFD1F03A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268735746"/>
      </p:ext>
    </p:extLst>
  </p:cSld>
</p:sld>
</file>

<file path=ppt/slides/slide27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8BD98E-F156-4BEB-8A34-F97F546789A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ACTION CENTRE</a:t>
            </a:r>
            <a:endParaRPr sz="950"/>
          </a:p>
        </p:txBody>
      </p:sp>
      <p:sp>
        <p:nvSpPr>
          <p:cNvPr id="3" name="Text 1">
            <a:extLst xmlns:a="http://schemas.openxmlformats.org/drawingml/2006/main">
              <a:ext uri="{FF2B5EF4-FFF2-40B4-BE49-F238E27FC236}">
                <a16:creationId xmlns:a16="http://schemas.microsoft.com/office/drawing/2014/main" id="{47580A02-3060-4409-A94A-8BA41B72FBDF}"/>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 view that only displays is a lookup — the action centre is what turns each of the</a:t>
            </a:r>
            <a:endParaRPr sz="1900"/>
          </a:p>
          <a:p xmlns:a="http://schemas.openxmlformats.org/drawingml/2006/main">
            <a:pPr marL="0" indent="0">
              <a:lnSpc>
                <a:spcPts val="2400"/>
              </a:lnSpc>
              <a:buNone/>
            </a:pPr>
            <a:r>
              <a:rPr sz="1900" b="1">
                <a:solidFill>
                  <a:srgbClr val="102A43"/>
                </a:solidFill>
                <a:latin typeface="Arial"/>
                <a:ea typeface="Arial"/>
                <a:cs typeface="Arial"/>
              </a:rPr>
              <a:t>six into somewhere work actually starts</a:t>
            </a:r>
            <a:endParaRPr sz="1900"/>
          </a:p>
        </p:txBody>
      </p:sp>
      <p:sp>
        <p:nvSpPr>
          <p:cNvPr id="4" name="Shape 2">
            <a:extLst xmlns:a="http://schemas.openxmlformats.org/drawingml/2006/main">
              <a:ext uri="{FF2B5EF4-FFF2-40B4-BE49-F238E27FC236}">
                <a16:creationId xmlns:a16="http://schemas.microsoft.com/office/drawing/2014/main" id="{97BEE2E9-0CB7-48AC-AA19-9C636EB6BB71}"/>
              </a:ext>
            </a:extLst>
          </p:cNvPr>
          <p:cNvSpPr>
            <a:spLocks xmlns:a="http://schemas.openxmlformats.org/drawingml/2006/main" noGrp="1"/>
          </p:cNvSpPr>
          <p:nvPr/>
        </p:nvSpPr>
        <p:spPr>
          <a:xfrm xmlns:a="http://schemas.openxmlformats.org/drawingml/2006/main">
            <a:off x="566928" y="1335024"/>
            <a:ext cx="5373472"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EB4E5369-FAFD-41F3-B421-CDC0C1834C08}"/>
              </a:ext>
            </a:extLst>
          </p:cNvPr>
          <p:cNvSpPr>
            <a:spLocks xmlns:a="http://schemas.openxmlformats.org/drawingml/2006/main" noGrp="1"/>
          </p:cNvSpPr>
          <p:nvPr/>
        </p:nvSpPr>
        <p:spPr>
          <a:xfrm xmlns:a="http://schemas.openxmlformats.org/drawingml/2006/main">
            <a:off x="804672" y="1517904"/>
            <a:ext cx="489798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What the action centre carries</a:t>
            </a:r>
            <a:endParaRPr sz="1250"/>
          </a:p>
        </p:txBody>
      </p:sp>
      <p:sp>
        <p:nvSpPr>
          <p:cNvPr id="6" name="Text 4">
            <a:extLst xmlns:a="http://schemas.openxmlformats.org/drawingml/2006/main">
              <a:ext uri="{FF2B5EF4-FFF2-40B4-BE49-F238E27FC236}">
                <a16:creationId xmlns:a16="http://schemas.microsoft.com/office/drawing/2014/main" id="{3C3534D8-5DE4-44D5-B66D-EB7FE52C6694}"/>
              </a:ext>
            </a:extLst>
          </p:cNvPr>
          <p:cNvSpPr>
            <a:spLocks xmlns:a="http://schemas.openxmlformats.org/drawingml/2006/main" noGrp="1"/>
          </p:cNvSpPr>
          <p:nvPr/>
        </p:nvSpPr>
        <p:spPr>
          <a:xfrm xmlns:a="http://schemas.openxmlformats.org/drawingml/2006/main">
            <a:off x="804672" y="1883664"/>
            <a:ext cx="4897984" cy="1792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Actions available from this view for this member, filtered by what is actually permitted</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Open items already in flight — cases, applications, disputes, requests</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Prompts the institution wants surfaced, ranked rather than listed</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One-click starts that carry the member context into whatever opens next</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 record of what was done, captured once and visible from every other view</a:t>
            </a:r>
            <a:endParaRPr sz="970"/>
          </a:p>
        </p:txBody>
      </p:sp>
      <p:sp>
        <p:nvSpPr>
          <p:cNvPr id="7" name="Shape 5">
            <a:extLst xmlns:a="http://schemas.openxmlformats.org/drawingml/2006/main">
              <a:ext uri="{FF2B5EF4-FFF2-40B4-BE49-F238E27FC236}">
                <a16:creationId xmlns:a16="http://schemas.microsoft.com/office/drawing/2014/main" id="{A56A7E41-42A3-4394-8D71-FF490C50BAE3}"/>
              </a:ext>
            </a:extLst>
          </p:cNvPr>
          <p:cNvSpPr>
            <a:spLocks xmlns:a="http://schemas.openxmlformats.org/drawingml/2006/main" noGrp="1"/>
          </p:cNvSpPr>
          <p:nvPr/>
        </p:nvSpPr>
        <p:spPr>
          <a:xfrm xmlns:a="http://schemas.openxmlformats.org/drawingml/2006/main">
            <a:off x="6251296" y="1335024"/>
            <a:ext cx="5373472" cy="2468880"/>
          </a:xfrm>
          <a:prstGeom xmlns:a="http://schemas.openxmlformats.org/drawingml/2006/main" prst="rect">
            <a:avLst/>
          </a:prstGeom>
          <a:solidFill xmlns:a="http://schemas.openxmlformats.org/drawingml/2006/main">
            <a:srgbClr val="F3E6E0"/>
          </a:solidFill>
        </p:spPr>
      </p:sp>
      <p:sp>
        <p:nvSpPr>
          <p:cNvPr id="8" name="Text 6">
            <a:extLst xmlns:a="http://schemas.openxmlformats.org/drawingml/2006/main">
              <a:ext uri="{FF2B5EF4-FFF2-40B4-BE49-F238E27FC236}">
                <a16:creationId xmlns:a16="http://schemas.microsoft.com/office/drawing/2014/main" id="{424BFA22-F029-4E3B-BC5B-D3BB560FA0B2}"/>
              </a:ext>
            </a:extLst>
          </p:cNvPr>
          <p:cNvSpPr>
            <a:spLocks xmlns:a="http://schemas.openxmlformats.org/drawingml/2006/main" noGrp="1"/>
          </p:cNvSpPr>
          <p:nvPr/>
        </p:nvSpPr>
        <p:spPr>
          <a:xfrm xmlns:a="http://schemas.openxmlformats.org/drawingml/2006/main">
            <a:off x="6489040" y="1517904"/>
            <a:ext cx="489798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Why it belongs with the view, not beside it</a:t>
            </a:r>
            <a:endParaRPr sz="1250"/>
          </a:p>
        </p:txBody>
      </p:sp>
      <p:sp>
        <p:nvSpPr>
          <p:cNvPr id="9" name="Text 7">
            <a:extLst xmlns:a="http://schemas.openxmlformats.org/drawingml/2006/main">
              <a:ext uri="{FF2B5EF4-FFF2-40B4-BE49-F238E27FC236}">
                <a16:creationId xmlns:a16="http://schemas.microsoft.com/office/drawing/2014/main" id="{A7C423B0-6761-4670-B843-70A6BC3EDFDE}"/>
              </a:ext>
            </a:extLst>
          </p:cNvPr>
          <p:cNvSpPr>
            <a:spLocks xmlns:a="http://schemas.openxmlformats.org/drawingml/2006/main" noGrp="1"/>
          </p:cNvSpPr>
          <p:nvPr/>
        </p:nvSpPr>
        <p:spPr>
          <a:xfrm xmlns:a="http://schemas.openxmlformats.org/drawingml/2006/main">
            <a:off x="6489040" y="1883664"/>
            <a:ext cx="4897984" cy="17922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 separate task list means the staff member reads in one place and acts in another, re-establishing context each time</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Actions attached to the view inherit the member, the account and the reason for the conversation automatically</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It makes the view accountable — anything shown that cannot be acted on is a candidate for removal</a:t>
            </a:r>
            <a:endParaRPr sz="970"/>
          </a:p>
          <a:p xmlns:a="http://schemas.openxmlformats.org/drawingml/2006/main">
            <a:pPr marL="152400" indent="-152400">
              <a:lnSpc>
                <a:spcPts val="1400"/>
              </a:lnSpc>
              <a:spcAft>
                <a:spcPts val="700"/>
              </a:spcAft>
              <a:buSzPct val="100000"/>
              <a:buChar char="•"/>
            </a:pPr>
            <a:r>
              <a:rPr sz="970">
                <a:solidFill>
                  <a:srgbClr val="1A1A1A"/>
                </a:solidFill>
                <a:latin typeface="Arial"/>
                <a:ea typeface="Arial"/>
                <a:cs typeface="Arial"/>
              </a:rPr>
              <a:t>And it produces the interaction record without anyone typing one, which is the only way logging survives contact with a busy branch</a:t>
            </a:r>
            <a:endParaRPr sz="970"/>
          </a:p>
        </p:txBody>
      </p:sp>
      <p:sp>
        <p:nvSpPr>
          <p:cNvPr id="10" name="Shape 8">
            <a:extLst xmlns:a="http://schemas.openxmlformats.org/drawingml/2006/main">
              <a:ext uri="{FF2B5EF4-FFF2-40B4-BE49-F238E27FC236}">
                <a16:creationId xmlns:a16="http://schemas.microsoft.com/office/drawing/2014/main" id="{6DB5EC3B-DEE3-4059-A422-433BE37A46FB}"/>
              </a:ext>
            </a:extLst>
          </p:cNvPr>
          <p:cNvSpPr>
            <a:spLocks xmlns:a="http://schemas.openxmlformats.org/drawingml/2006/main" noGrp="1"/>
          </p:cNvSpPr>
          <p:nvPr/>
        </p:nvSpPr>
        <p:spPr>
          <a:xfrm xmlns:a="http://schemas.openxmlformats.org/drawingml/2006/main">
            <a:off x="566928" y="4059936"/>
            <a:ext cx="11057839" cy="20116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2DF3B108-A77F-402F-A5D1-A9E9E3BA4C69}"/>
              </a:ext>
            </a:extLst>
          </p:cNvPr>
          <p:cNvSpPr>
            <a:spLocks xmlns:a="http://schemas.openxmlformats.org/drawingml/2006/main" noGrp="1"/>
          </p:cNvSpPr>
          <p:nvPr/>
        </p:nvSpPr>
        <p:spPr>
          <a:xfrm xmlns:a="http://schemas.openxmlformats.org/drawingml/2006/main">
            <a:off x="804672" y="420624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design test this produced</a:t>
            </a:r>
            <a:endParaRPr sz="1100"/>
          </a:p>
        </p:txBody>
      </p:sp>
      <p:sp>
        <p:nvSpPr>
          <p:cNvPr id="12" name="Text 10">
            <a:extLst xmlns:a="http://schemas.openxmlformats.org/drawingml/2006/main">
              <a:ext uri="{FF2B5EF4-FFF2-40B4-BE49-F238E27FC236}">
                <a16:creationId xmlns:a16="http://schemas.microsoft.com/office/drawing/2014/main" id="{D7DED8DD-496A-495D-9CED-AB379A5F9034}"/>
              </a:ext>
            </a:extLst>
          </p:cNvPr>
          <p:cNvSpPr>
            <a:spLocks xmlns:a="http://schemas.openxmlformats.org/drawingml/2006/main" noGrp="1"/>
          </p:cNvSpPr>
          <p:nvPr/>
        </p:nvSpPr>
        <p:spPr>
          <a:xfrm xmlns:a="http://schemas.openxmlformats.org/drawingml/2006/main">
            <a:off x="804672" y="4462272"/>
            <a:ext cx="10582351" cy="14996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Every element on every view had to answer one question: what would a staff member do differently because of this?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Applied honestly, it removed a substantial amount from the initial designs. Several fields that everyone agreed were useful turned out to be useful for reporting rather than for a conversation, and belonged in the analytics layer instead. A few prompts were interesting but not actionable — nothing changed whether they were shown or not.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What survived was smaller than what was requested and considerably more used. That is the usual outcome of the test, and the reason to apply it before build rather than during the first round of adoption feedback.</a:t>
            </a:r>
            <a:endParaRPr sz="990"/>
          </a:p>
        </p:txBody>
      </p:sp>
      <p:sp>
        <p:nvSpPr>
          <p:cNvPr id="13" name="Shape 11">
            <a:extLst xmlns:a="http://schemas.openxmlformats.org/drawingml/2006/main">
              <a:ext uri="{FF2B5EF4-FFF2-40B4-BE49-F238E27FC236}">
                <a16:creationId xmlns:a16="http://schemas.microsoft.com/office/drawing/2014/main" id="{308C15A8-38FE-4A01-A7BB-0B56C3CE137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4" name="Text 12">
            <a:extLst xmlns:a="http://schemas.openxmlformats.org/drawingml/2006/main">
              <a:ext uri="{FF2B5EF4-FFF2-40B4-BE49-F238E27FC236}">
                <a16:creationId xmlns:a16="http://schemas.microsoft.com/office/drawing/2014/main" id="{46CC1864-508D-4B62-87E8-35CC1F8388C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2020–2021 engagement · author's design</a:t>
            </a:r>
            <a:endParaRPr sz="850"/>
          </a:p>
        </p:txBody>
      </p:sp>
      <p:sp>
        <p:nvSpPr>
          <p:cNvPr id="15" name="Text 13">
            <a:extLst xmlns:a="http://schemas.openxmlformats.org/drawingml/2006/main">
              <a:ext uri="{FF2B5EF4-FFF2-40B4-BE49-F238E27FC236}">
                <a16:creationId xmlns:a16="http://schemas.microsoft.com/office/drawing/2014/main" id="{ABA1F8C1-51F2-4684-A488-698B786D004E}"/>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528147293"/>
      </p:ext>
    </p:extLst>
  </p:cSld>
</p:sld>
</file>

<file path=ppt/slides/slide27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2B29C0-A903-4EF5-BF8E-721BB26B87C3}"/>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45C12ABD-6FE3-4449-B659-47852542319E}"/>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member and customer views in a community institution</a:t>
            </a:r>
            <a:endParaRPr sz="1900"/>
          </a:p>
        </p:txBody>
      </p:sp>
      <p:sp>
        <p:nvSpPr>
          <p:cNvPr id="4" name="Text 2">
            <a:extLst xmlns:a="http://schemas.openxmlformats.org/drawingml/2006/main">
              <a:ext uri="{FF2B5EF4-FFF2-40B4-BE49-F238E27FC236}">
                <a16:creationId xmlns:a16="http://schemas.microsoft.com/office/drawing/2014/main" id="{9E4B54D8-A8D1-4EA5-A690-104D27953FF7}"/>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BDC2A06E-3093-4C66-9F0C-182269E28A67}"/>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One model, several views</a:t>
            </a:r>
            <a:endParaRPr sz="1200"/>
          </a:p>
        </p:txBody>
      </p:sp>
      <p:sp>
        <p:nvSpPr>
          <p:cNvPr id="6" name="Text 4">
            <a:extLst xmlns:a="http://schemas.openxmlformats.org/drawingml/2006/main">
              <a:ext uri="{FF2B5EF4-FFF2-40B4-BE49-F238E27FC236}">
                <a16:creationId xmlns:a16="http://schemas.microsoft.com/office/drawing/2014/main" id="{B40DC986-B650-4FB5-B8A9-0CCF24F94B83}"/>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multi-dimensional relationship needs several purpose-built views over one data model, not one view showing everything and not several systems each holding a fragment. The difference is a presentation decision, not an architectural one.</a:t>
            </a:r>
            <a:endParaRPr sz="1000"/>
          </a:p>
        </p:txBody>
      </p:sp>
      <p:sp>
        <p:nvSpPr>
          <p:cNvPr id="7" name="Shape 5">
            <a:extLst xmlns:a="http://schemas.openxmlformats.org/drawingml/2006/main">
              <a:ext uri="{FF2B5EF4-FFF2-40B4-BE49-F238E27FC236}">
                <a16:creationId xmlns:a16="http://schemas.microsoft.com/office/drawing/2014/main" id="{A4126721-9CD6-4250-8237-FD9FF759C175}"/>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3FADB100-9BEC-48FE-AF56-20E29CD4C526}"/>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E9F8B652-C2A6-4178-9FD9-78D96151F782}"/>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Let the question determine the view</a:t>
            </a:r>
            <a:endParaRPr sz="1200"/>
          </a:p>
        </p:txBody>
      </p:sp>
      <p:sp>
        <p:nvSpPr>
          <p:cNvPr id="10" name="Text 8">
            <a:extLst xmlns:a="http://schemas.openxmlformats.org/drawingml/2006/main">
              <a:ext uri="{FF2B5EF4-FFF2-40B4-BE49-F238E27FC236}">
                <a16:creationId xmlns:a16="http://schemas.microsoft.com/office/drawing/2014/main" id="{9E44E71E-8E71-461E-989F-333EA0DE1A50}"/>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Each view should answer one question and foreground what that question needs. A view that cannot be described in one question is a dashboard, and belongs in the analytics layer.</a:t>
            </a:r>
            <a:endParaRPr sz="1000"/>
          </a:p>
        </p:txBody>
      </p:sp>
      <p:sp>
        <p:nvSpPr>
          <p:cNvPr id="11" name="Shape 9">
            <a:extLst xmlns:a="http://schemas.openxmlformats.org/drawingml/2006/main">
              <a:ext uri="{FF2B5EF4-FFF2-40B4-BE49-F238E27FC236}">
                <a16:creationId xmlns:a16="http://schemas.microsoft.com/office/drawing/2014/main" id="{EB604B64-4835-4766-99C9-7C60BA56B8B5}"/>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5411CCD4-A37E-4DA9-9811-AB4955C65BFA}"/>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D198BCAC-B3CA-4122-BC47-49399B7AE11B}"/>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Put the actions where the reading happens</a:t>
            </a:r>
            <a:endParaRPr sz="1200"/>
          </a:p>
        </p:txBody>
      </p:sp>
      <p:sp>
        <p:nvSpPr>
          <p:cNvPr id="14" name="Text 12">
            <a:extLst xmlns:a="http://schemas.openxmlformats.org/drawingml/2006/main">
              <a:ext uri="{FF2B5EF4-FFF2-40B4-BE49-F238E27FC236}">
                <a16:creationId xmlns:a16="http://schemas.microsoft.com/office/drawing/2014/main" id="{BBFD7775-2189-4E57-9B5A-DB5D6DC051D1}"/>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separate task list forces the staff member to re-establish context. Actions attached to the view inherit the member and the reason automatically, and produce the interaction record without anyone typing one.</a:t>
            </a:r>
            <a:endParaRPr sz="1000"/>
          </a:p>
        </p:txBody>
      </p:sp>
      <p:sp>
        <p:nvSpPr>
          <p:cNvPr id="15" name="Shape 13">
            <a:extLst xmlns:a="http://schemas.openxmlformats.org/drawingml/2006/main">
              <a:ext uri="{FF2B5EF4-FFF2-40B4-BE49-F238E27FC236}">
                <a16:creationId xmlns:a16="http://schemas.microsoft.com/office/drawing/2014/main" id="{E5864873-151E-4BDB-9199-186E4B349306}"/>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326F5292-FEBC-4621-B03A-7F3482640220}"/>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63B153A6-FE2F-4226-8E60-F0C67C22BE8B}"/>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Test every element against a behaviour</a:t>
            </a:r>
            <a:endParaRPr sz="1200"/>
          </a:p>
        </p:txBody>
      </p:sp>
      <p:sp>
        <p:nvSpPr>
          <p:cNvPr id="18" name="Text 16">
            <a:extLst xmlns:a="http://schemas.openxmlformats.org/drawingml/2006/main">
              <a:ext uri="{FF2B5EF4-FFF2-40B4-BE49-F238E27FC236}">
                <a16:creationId xmlns:a16="http://schemas.microsoft.com/office/drawing/2014/main" id="{3D4E53A8-6AAC-4209-A718-A2E0FE6AAA8E}"/>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What would someone do differently because this is on the screen? Applied before build it removes a great deal that everyone agreed was useful, and what survives is smaller and considerably more used.</a:t>
            </a:r>
            <a:endParaRPr sz="1000"/>
          </a:p>
        </p:txBody>
      </p:sp>
      <p:sp>
        <p:nvSpPr>
          <p:cNvPr id="19" name="Shape 17">
            <a:extLst xmlns:a="http://schemas.openxmlformats.org/drawingml/2006/main">
              <a:ext uri="{FF2B5EF4-FFF2-40B4-BE49-F238E27FC236}">
                <a16:creationId xmlns:a16="http://schemas.microsoft.com/office/drawing/2014/main" id="{6ED99EBC-EB23-43BC-9E92-D73ED05456C8}"/>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2980E3C3-45B1-445E-9FD8-529CC2EBE8AC}"/>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One member view is the standard answer. In an institution where a member is simultaneously an owner, a borrower and sometimes a business, it is the answer to a question nobody at the counter is asking.</a:t>
            </a:r>
            <a:endParaRPr sz="1200"/>
          </a:p>
        </p:txBody>
      </p:sp>
      <p:sp>
        <p:nvSpPr>
          <p:cNvPr id="21" name="Shape 19">
            <a:extLst xmlns:a="http://schemas.openxmlformats.org/drawingml/2006/main">
              <a:ext uri="{FF2B5EF4-FFF2-40B4-BE49-F238E27FC236}">
                <a16:creationId xmlns:a16="http://schemas.microsoft.com/office/drawing/2014/main" id="{2E1259D0-C2C1-4338-96B5-95BA40F43FAF}"/>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2366522C-D25B-4967-B661-28AE3AA7BA6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C558FB18-C89E-4F01-88C6-94159843B6F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743803630"/>
      </p:ext>
    </p:extLst>
  </p:cSld>
</p:sld>
</file>

<file path=ppt/slides/slide27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848EB1C-029A-45BE-B25F-DE084E7F8834}"/>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INTEGRATION CASE  ·  28 OF 30</a:t>
            </a:r>
            <a:endParaRPr sz="950"/>
          </a:p>
        </p:txBody>
      </p:sp>
      <p:sp>
        <p:nvSpPr>
          <p:cNvPr id="3" name="Text 1">
            <a:extLst xmlns:a="http://schemas.openxmlformats.org/drawingml/2006/main">
              <a:ext uri="{FF2B5EF4-FFF2-40B4-BE49-F238E27FC236}">
                <a16:creationId xmlns:a16="http://schemas.microsoft.com/office/drawing/2014/main" id="{AEA479DF-722E-4F67-8126-C63D8FAA8899}"/>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WESTconsin Credit Union</a:t>
            </a:r>
            <a:endParaRPr sz="3800"/>
          </a:p>
        </p:txBody>
      </p:sp>
      <p:sp>
        <p:nvSpPr>
          <p:cNvPr id="4" name="Text 2">
            <a:extLst xmlns:a="http://schemas.openxmlformats.org/drawingml/2006/main">
              <a:ext uri="{FF2B5EF4-FFF2-40B4-BE49-F238E27FC236}">
                <a16:creationId xmlns:a16="http://schemas.microsoft.com/office/drawing/2014/main" id="{5DBB8D2A-20E1-432E-BFF5-DCA7F24228BF}"/>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Card servicing across three processors — one member question, three systems of record</a:t>
            </a:r>
            <a:endParaRPr sz="1800"/>
          </a:p>
        </p:txBody>
      </p:sp>
      <p:sp>
        <p:nvSpPr>
          <p:cNvPr id="5" name="Text 3">
            <a:extLst xmlns:a="http://schemas.openxmlformats.org/drawingml/2006/main">
              <a:ext uri="{FF2B5EF4-FFF2-40B4-BE49-F238E27FC236}">
                <a16:creationId xmlns:a16="http://schemas.microsoft.com/office/drawing/2014/main" id="{24B1740F-7426-49C9-BDF0-A279183E3ED6}"/>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A member asking why their card declined is asking one question. The answer sits across a card processor, a network switch and the core — none of which agrees with the others about what a transaction is called or when it happened.</a:t>
            </a:r>
            <a:endParaRPr sz="1150"/>
          </a:p>
        </p:txBody>
      </p:sp>
      <p:sp>
        <p:nvSpPr>
          <p:cNvPr id="6" name="Shape 4">
            <a:extLst xmlns:a="http://schemas.openxmlformats.org/drawingml/2006/main">
              <a:ext uri="{FF2B5EF4-FFF2-40B4-BE49-F238E27FC236}">
                <a16:creationId xmlns:a16="http://schemas.microsoft.com/office/drawing/2014/main" id="{406F31C7-977C-46FE-9652-5F0E3FFBCA73}"/>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CC4F14E3-FE4F-4218-BE61-84D0A750FFE3}"/>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a:t>
            </a:r>
            <a:endParaRPr sz="2600"/>
          </a:p>
        </p:txBody>
      </p:sp>
      <p:sp>
        <p:nvSpPr>
          <p:cNvPr id="8" name="Text 6">
            <a:extLst xmlns:a="http://schemas.openxmlformats.org/drawingml/2006/main">
              <a:ext uri="{FF2B5EF4-FFF2-40B4-BE49-F238E27FC236}">
                <a16:creationId xmlns:a16="http://schemas.microsoft.com/office/drawing/2014/main" id="{AF443903-D63A-4B48-BA69-5AC66E92D059}"/>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processors behind</a:t>
            </a:r>
            <a:endParaRPr sz="900"/>
          </a:p>
          <a:p xmlns:a="http://schemas.openxmlformats.org/drawingml/2006/main">
            <a:pPr marL="0" indent="0">
              <a:lnSpc>
                <a:spcPts val="1100"/>
              </a:lnSpc>
              <a:buNone/>
            </a:pPr>
            <a:r>
              <a:rPr sz="900">
                <a:solidFill>
                  <a:srgbClr val="8FA9C4"/>
                </a:solidFill>
                <a:latin typeface="Arial"/>
                <a:ea typeface="Arial"/>
                <a:cs typeface="Arial"/>
              </a:rPr>
              <a:t>one question</a:t>
            </a:r>
            <a:endParaRPr sz="900"/>
          </a:p>
        </p:txBody>
      </p:sp>
      <p:sp>
        <p:nvSpPr>
          <p:cNvPr id="9" name="Text 7">
            <a:extLst xmlns:a="http://schemas.openxmlformats.org/drawingml/2006/main">
              <a:ext uri="{FF2B5EF4-FFF2-40B4-BE49-F238E27FC236}">
                <a16:creationId xmlns:a16="http://schemas.microsoft.com/office/drawing/2014/main" id="{DE11D78D-543F-423C-BF58-DCB7D4EE7A1F}"/>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0" name="Text 8">
            <a:extLst xmlns:a="http://schemas.openxmlformats.org/drawingml/2006/main">
              <a:ext uri="{FF2B5EF4-FFF2-40B4-BE49-F238E27FC236}">
                <a16:creationId xmlns:a16="http://schemas.microsoft.com/office/drawing/2014/main" id="{36A68043-13D5-4E8C-A2F2-BAA55164308F}"/>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servicing view</a:t>
            </a:r>
            <a:endParaRPr sz="900"/>
          </a:p>
          <a:p xmlns:a="http://schemas.openxmlformats.org/drawingml/2006/main">
            <a:pPr marL="0" indent="0">
              <a:lnSpc>
                <a:spcPts val="1100"/>
              </a:lnSpc>
              <a:buNone/>
            </a:pPr>
            <a:r>
              <a:rPr sz="900">
                <a:solidFill>
                  <a:srgbClr val="8FA9C4"/>
                </a:solidFill>
                <a:latin typeface="Arial"/>
                <a:ea typeface="Arial"/>
                <a:cs typeface="Arial"/>
              </a:rPr>
              <a:t>assembled</a:t>
            </a:r>
            <a:endParaRPr sz="900"/>
          </a:p>
        </p:txBody>
      </p:sp>
      <p:sp>
        <p:nvSpPr>
          <p:cNvPr id="11" name="Text 9">
            <a:extLst xmlns:a="http://schemas.openxmlformats.org/drawingml/2006/main">
              <a:ext uri="{FF2B5EF4-FFF2-40B4-BE49-F238E27FC236}">
                <a16:creationId xmlns:a16="http://schemas.microsoft.com/office/drawing/2014/main" id="{D7DE997C-DC93-480C-8DC0-A58598E6B617}"/>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~$2.2B</a:t>
            </a:r>
            <a:endParaRPr sz="2600"/>
          </a:p>
        </p:txBody>
      </p:sp>
      <p:sp>
        <p:nvSpPr>
          <p:cNvPr id="12" name="Text 10">
            <a:extLst xmlns:a="http://schemas.openxmlformats.org/drawingml/2006/main">
              <a:ext uri="{FF2B5EF4-FFF2-40B4-BE49-F238E27FC236}">
                <a16:creationId xmlns:a16="http://schemas.microsoft.com/office/drawing/2014/main" id="{5EDAC73B-5A19-4DBE-8685-532C968BFE71}"/>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assets</a:t>
            </a:r>
            <a:endParaRPr sz="900"/>
          </a:p>
        </p:txBody>
      </p:sp>
      <p:sp>
        <p:nvSpPr>
          <p:cNvPr id="13" name="Text 11">
            <a:extLst xmlns:a="http://schemas.openxmlformats.org/drawingml/2006/main">
              <a:ext uri="{FF2B5EF4-FFF2-40B4-BE49-F238E27FC236}">
                <a16:creationId xmlns:a16="http://schemas.microsoft.com/office/drawing/2014/main" id="{18264943-F6DE-4491-8ECE-489695DCAC83}"/>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~127K</a:t>
            </a:r>
            <a:endParaRPr sz="2600"/>
          </a:p>
        </p:txBody>
      </p:sp>
      <p:sp>
        <p:nvSpPr>
          <p:cNvPr id="14" name="Text 12">
            <a:extLst xmlns:a="http://schemas.openxmlformats.org/drawingml/2006/main">
              <a:ext uri="{FF2B5EF4-FFF2-40B4-BE49-F238E27FC236}">
                <a16:creationId xmlns:a16="http://schemas.microsoft.com/office/drawing/2014/main" id="{0B5D17AD-2B7F-410D-ADDB-0BF8E8FCA638}"/>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members</a:t>
            </a:r>
            <a:endParaRPr sz="900"/>
          </a:p>
        </p:txBody>
      </p:sp>
      <p:sp>
        <p:nvSpPr>
          <p:cNvPr id="15" name="Text 13">
            <a:extLst xmlns:a="http://schemas.openxmlformats.org/drawingml/2006/main">
              <a:ext uri="{FF2B5EF4-FFF2-40B4-BE49-F238E27FC236}">
                <a16:creationId xmlns:a16="http://schemas.microsoft.com/office/drawing/2014/main" id="{8862AC8E-9A61-4415-9ADA-C6A4FE214C23}"/>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1939</a:t>
            </a:r>
            <a:endParaRPr sz="2600"/>
          </a:p>
        </p:txBody>
      </p:sp>
      <p:sp>
        <p:nvSpPr>
          <p:cNvPr id="16" name="Text 14">
            <a:extLst xmlns:a="http://schemas.openxmlformats.org/drawingml/2006/main">
              <a:ext uri="{FF2B5EF4-FFF2-40B4-BE49-F238E27FC236}">
                <a16:creationId xmlns:a16="http://schemas.microsoft.com/office/drawing/2014/main" id="{E337E23F-46E9-4331-99A8-3544CCE51EEA}"/>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chartered</a:t>
            </a:r>
            <a:endParaRPr sz="900"/>
          </a:p>
        </p:txBody>
      </p:sp>
      <p:sp>
        <p:nvSpPr>
          <p:cNvPr id="17" name="Text 15">
            <a:extLst xmlns:a="http://schemas.openxmlformats.org/drawingml/2006/main">
              <a:ext uri="{FF2B5EF4-FFF2-40B4-BE49-F238E27FC236}">
                <a16:creationId xmlns:a16="http://schemas.microsoft.com/office/drawing/2014/main" id="{F3254089-F7B4-40BE-AC5F-B4250CDB0550}"/>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5</a:t>
            </a:r>
            <a:endParaRPr sz="2600"/>
          </a:p>
        </p:txBody>
      </p:sp>
      <p:sp>
        <p:nvSpPr>
          <p:cNvPr id="18" name="Text 16">
            <a:extLst xmlns:a="http://schemas.openxmlformats.org/drawingml/2006/main">
              <a:ext uri="{FF2B5EF4-FFF2-40B4-BE49-F238E27FC236}">
                <a16:creationId xmlns:a16="http://schemas.microsoft.com/office/drawing/2014/main" id="{C057CC9C-9A47-4AB4-AF9C-877C668B39E6}"/>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months, scoped</a:t>
            </a:r>
            <a:endParaRPr sz="900"/>
          </a:p>
          <a:p xmlns:a="http://schemas.openxmlformats.org/drawingml/2006/main">
            <a:pPr marL="0" indent="0">
              <a:lnSpc>
                <a:spcPts val="1100"/>
              </a:lnSpc>
              <a:buNone/>
            </a:pPr>
            <a:r>
              <a:rPr sz="900">
                <a:solidFill>
                  <a:srgbClr val="8FA9C4"/>
                </a:solidFill>
                <a:latin typeface="Arial"/>
                <a:ea typeface="Arial"/>
                <a:cs typeface="Arial"/>
              </a:rPr>
              <a:t>and delivered</a:t>
            </a:r>
            <a:endParaRPr sz="900"/>
          </a:p>
        </p:txBody>
      </p:sp>
      <p:sp>
        <p:nvSpPr>
          <p:cNvPr id="19" name="Shape 17">
            <a:extLst xmlns:a="http://schemas.openxmlformats.org/drawingml/2006/main">
              <a:ext uri="{FF2B5EF4-FFF2-40B4-BE49-F238E27FC236}">
                <a16:creationId xmlns:a16="http://schemas.microsoft.com/office/drawing/2014/main" id="{902B12C9-530B-4BA9-97F7-33590F35FFBD}"/>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134CEF5F-5E4A-4DFF-9505-30A82A703CED}"/>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INSTITUTION CONTEXT  ·  PUBLICLY REPORTED</a:t>
            </a:r>
            <a:endParaRPr sz="800"/>
          </a:p>
        </p:txBody>
      </p:sp>
      <p:sp>
        <p:nvSpPr>
          <p:cNvPr id="21" name="Text 19">
            <a:extLst xmlns:a="http://schemas.openxmlformats.org/drawingml/2006/main">
              <a:ext uri="{FF2B5EF4-FFF2-40B4-BE49-F238E27FC236}">
                <a16:creationId xmlns:a16="http://schemas.microsoft.com/office/drawing/2014/main" id="{5A5D8731-267A-4A30-843E-919A34F42E6D}"/>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Menomonie, Wisconsin · roughly $2.2bn in assets and about 127,000 members · a 28-county footprint across west-central Wisconsin and east-central Minnesota</a:t>
            </a:r>
            <a:endParaRPr sz="1050"/>
          </a:p>
        </p:txBody>
      </p:sp>
      <p:sp>
        <p:nvSpPr>
          <p:cNvPr id="22" name="Text 20">
            <a:extLst xmlns:a="http://schemas.openxmlformats.org/drawingml/2006/main">
              <a:ext uri="{FF2B5EF4-FFF2-40B4-BE49-F238E27FC236}">
                <a16:creationId xmlns:a16="http://schemas.microsoft.com/office/drawing/2014/main" id="{F6BBAC73-D275-4DF2-B0E3-419BD10E2080}"/>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card servicing integration and dashboard delivery  ·  2025</a:t>
            </a:r>
            <a:endParaRPr sz="1200"/>
          </a:p>
        </p:txBody>
      </p:sp>
      <p:sp>
        <p:nvSpPr>
          <p:cNvPr id="23" name="Text 21">
            <a:extLst xmlns:a="http://schemas.openxmlformats.org/drawingml/2006/main">
              <a:ext uri="{FF2B5EF4-FFF2-40B4-BE49-F238E27FC236}">
                <a16:creationId xmlns:a16="http://schemas.microsoft.com/office/drawing/2014/main" id="{0766A02C-A986-4049-A8A2-CD7884C06368}"/>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processor and platform names removed. Institutional figures are publicly reported; the integration analysis is from the delivery record.</a:t>
            </a:r>
            <a:endParaRPr sz="850"/>
          </a:p>
        </p:txBody>
      </p:sp>
    </p:spTree>
    <p:extLst>
      <p:ext uri="{BB962C8B-B14F-4D97-AF65-F5344CB8AC3E}">
        <p14:creationId xmlns:p14="http://schemas.microsoft.com/office/powerpoint/2010/main" val="134760553"/>
      </p:ext>
    </p:extLst>
  </p:cSld>
</p:sld>
</file>

<file path=ppt/slides/slide28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BC1E008-F485-414B-8F51-92DEC1C5584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A8F5DB23-B3DA-4596-9FA6-869C840B988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processors, three vocabularies, three clocks — and a member who expects one</a:t>
            </a:r>
            <a:endParaRPr sz="1900"/>
          </a:p>
          <a:p xmlns:a="http://schemas.openxmlformats.org/drawingml/2006/main">
            <a:pPr marL="0" indent="0">
              <a:lnSpc>
                <a:spcPts val="2400"/>
              </a:lnSpc>
              <a:buNone/>
            </a:pPr>
            <a:r>
              <a:rPr sz="1900" b="1">
                <a:solidFill>
                  <a:srgbClr val="102A43"/>
                </a:solidFill>
                <a:latin typeface="Arial"/>
                <a:ea typeface="Arial"/>
                <a:cs typeface="Arial"/>
              </a:rPr>
              <a:t>answer from whoever picks up the phone</a:t>
            </a:r>
            <a:endParaRPr sz="1900"/>
          </a:p>
        </p:txBody>
      </p:sp>
      <p:sp>
        <p:nvSpPr>
          <p:cNvPr id="4" name="Shape 2">
            <a:extLst xmlns:a="http://schemas.openxmlformats.org/drawingml/2006/main">
              <a:ext uri="{FF2B5EF4-FFF2-40B4-BE49-F238E27FC236}">
                <a16:creationId xmlns:a16="http://schemas.microsoft.com/office/drawing/2014/main" id="{1B98FAA0-F6FC-461C-96E7-200D9331A991}"/>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0BC28438-A87E-4245-A02B-B85C939563E2}"/>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8831EC5A-5B0E-44A7-9D78-6A1E5F2361BF}"/>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community credit union of roughly $2.2 billion in assets serving about 127,000 members. Card servicing spans a card processing platform, a shared network and switch relationship, and the core banking system holding the underlying account.</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Each is a legitimate system of record for a different part of the same event.</a:t>
            </a:r>
            <a:endParaRPr sz="980"/>
          </a:p>
        </p:txBody>
      </p:sp>
      <p:sp>
        <p:nvSpPr>
          <p:cNvPr id="7" name="Shape 5">
            <a:extLst xmlns:a="http://schemas.openxmlformats.org/drawingml/2006/main">
              <a:ext uri="{FF2B5EF4-FFF2-40B4-BE49-F238E27FC236}">
                <a16:creationId xmlns:a16="http://schemas.microsoft.com/office/drawing/2014/main" id="{A502E08E-6896-449F-BE04-B552F08529A1}"/>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32E0F64F-FE44-4EB2-8DE5-DFFD62EEA896}"/>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6E7585D6-B9AB-4D68-9747-6CC73B9AC802}"/>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staff member answering a card query has to consult all three, mentally reconcile three vocabularies and three timestamps, and translate the result into an answer.</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That is slow, it is inconsistent between staff, and it produces the specific failure where two members with identical situations receive different explanations — which is worse than either explanation alone.</a:t>
            </a:r>
            <a:endParaRPr sz="980"/>
          </a:p>
        </p:txBody>
      </p:sp>
      <p:sp>
        <p:nvSpPr>
          <p:cNvPr id="10" name="Shape 8">
            <a:extLst xmlns:a="http://schemas.openxmlformats.org/drawingml/2006/main">
              <a:ext uri="{FF2B5EF4-FFF2-40B4-BE49-F238E27FC236}">
                <a16:creationId xmlns:a16="http://schemas.microsoft.com/office/drawing/2014/main" id="{B1B2A70B-75E8-421E-9FA8-EAAEF091A859}"/>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388844BD-3F1D-4FCC-800F-1DB84E52C705}"/>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What was built</a:t>
            </a:r>
            <a:endParaRPr sz="1250"/>
          </a:p>
        </p:txBody>
      </p:sp>
      <p:sp>
        <p:nvSpPr>
          <p:cNvPr id="12" name="Text 10">
            <a:extLst xmlns:a="http://schemas.openxmlformats.org/drawingml/2006/main">
              <a:ext uri="{FF2B5EF4-FFF2-40B4-BE49-F238E27FC236}">
                <a16:creationId xmlns:a16="http://schemas.microsoft.com/office/drawing/2014/main" id="{37BB32CC-8ECF-4580-87B5-FD72FC49BEC1}"/>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single card servicing view that assembles the three sources into one timeline, in one vocabulary, with the authority for each fact visible.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And a dashboard layer over it, so the institution could see card servicing volume and causes rather than only individual cases.</a:t>
            </a:r>
            <a:endParaRPr sz="980"/>
          </a:p>
        </p:txBody>
      </p:sp>
      <p:sp>
        <p:nvSpPr>
          <p:cNvPr id="13" name="Text 11">
            <a:extLst xmlns:a="http://schemas.openxmlformats.org/drawingml/2006/main">
              <a:ext uri="{FF2B5EF4-FFF2-40B4-BE49-F238E27FC236}">
                <a16:creationId xmlns:a16="http://schemas.microsoft.com/office/drawing/2014/main" id="{F7ED11C3-D59E-4E3A-AC55-CA8CA54D2B4D}"/>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1D268541-B5BF-47A5-B741-F685FE019B8B}"/>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AB5D8B2D-BACD-4FFF-8155-4A7F5F270101}"/>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6" name="Text 14">
            <a:extLst xmlns:a="http://schemas.openxmlformats.org/drawingml/2006/main">
              <a:ext uri="{FF2B5EF4-FFF2-40B4-BE49-F238E27FC236}">
                <a16:creationId xmlns:a16="http://schemas.microsoft.com/office/drawing/2014/main" id="{2B080EF0-50BF-4E2A-BE62-3C9E17DCF647}"/>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sources, one timeline</a:t>
            </a:r>
            <a:endParaRPr sz="860"/>
          </a:p>
        </p:txBody>
      </p:sp>
      <p:sp>
        <p:nvSpPr>
          <p:cNvPr id="17" name="Shape 15">
            <a:extLst xmlns:a="http://schemas.openxmlformats.org/drawingml/2006/main">
              <a:ext uri="{FF2B5EF4-FFF2-40B4-BE49-F238E27FC236}">
                <a16:creationId xmlns:a16="http://schemas.microsoft.com/office/drawing/2014/main" id="{F75AC344-D179-4D40-A642-273A07161BF7}"/>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D592AB71-D9A2-49E5-90D5-DE365AEEEA92}"/>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3C5E2190-7C99-4462-BBD1-E9D181F8A95B}"/>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vocabulary presented</a:t>
            </a:r>
            <a:endParaRPr sz="860"/>
          </a:p>
        </p:txBody>
      </p:sp>
      <p:sp>
        <p:nvSpPr>
          <p:cNvPr id="20" name="Shape 18">
            <a:extLst xmlns:a="http://schemas.openxmlformats.org/drawingml/2006/main">
              <a:ext uri="{FF2B5EF4-FFF2-40B4-BE49-F238E27FC236}">
                <a16:creationId xmlns:a16="http://schemas.microsoft.com/office/drawing/2014/main" id="{A4FBDDA4-11D1-4CAC-86F1-22767B568D60}"/>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4963B0E3-0F46-4C64-A9CA-E703C1C2A584}"/>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490CEE7B-D70E-4D44-9B47-E5C8A1B35B5A}"/>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authority per fact</a:t>
            </a:r>
            <a:endParaRPr sz="860"/>
          </a:p>
        </p:txBody>
      </p:sp>
      <p:sp>
        <p:nvSpPr>
          <p:cNvPr id="23" name="Shape 21">
            <a:extLst xmlns:a="http://schemas.openxmlformats.org/drawingml/2006/main">
              <a:ext uri="{FF2B5EF4-FFF2-40B4-BE49-F238E27FC236}">
                <a16:creationId xmlns:a16="http://schemas.microsoft.com/office/drawing/2014/main" id="{2C31E9E2-8606-4B89-9B64-494F4C89BE92}"/>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3685DF6D-C06A-4837-AD1F-60C3EF739A32}"/>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5" name="Text 23">
            <a:extLst xmlns:a="http://schemas.openxmlformats.org/drawingml/2006/main">
              <a:ext uri="{FF2B5EF4-FFF2-40B4-BE49-F238E27FC236}">
                <a16:creationId xmlns:a16="http://schemas.microsoft.com/office/drawing/2014/main" id="{F48A0099-27F2-40B2-9A1C-C53737BE0B68}"/>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reconciliation by staff</a:t>
            </a:r>
            <a:endParaRPr sz="860"/>
          </a:p>
        </p:txBody>
      </p:sp>
      <p:sp>
        <p:nvSpPr>
          <p:cNvPr id="26" name="Shape 24">
            <a:extLst xmlns:a="http://schemas.openxmlformats.org/drawingml/2006/main">
              <a:ext uri="{FF2B5EF4-FFF2-40B4-BE49-F238E27FC236}">
                <a16:creationId xmlns:a16="http://schemas.microsoft.com/office/drawing/2014/main" id="{CED7E162-DFB8-4E62-A94A-64D26D5729F9}"/>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3084E904-0292-48EE-964F-D66398507852}"/>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8" name="Text 26">
            <a:extLst xmlns:a="http://schemas.openxmlformats.org/drawingml/2006/main">
              <a:ext uri="{FF2B5EF4-FFF2-40B4-BE49-F238E27FC236}">
                <a16:creationId xmlns:a16="http://schemas.microsoft.com/office/drawing/2014/main" id="{F177C945-22B7-4774-A385-9EA7F139C8A3}"/>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months end to end</a:t>
            </a:r>
            <a:endParaRPr sz="860"/>
          </a:p>
        </p:txBody>
      </p:sp>
      <p:sp>
        <p:nvSpPr>
          <p:cNvPr id="29" name="Shape 27">
            <a:extLst xmlns:a="http://schemas.openxmlformats.org/drawingml/2006/main">
              <a:ext uri="{FF2B5EF4-FFF2-40B4-BE49-F238E27FC236}">
                <a16:creationId xmlns:a16="http://schemas.microsoft.com/office/drawing/2014/main" id="{6E0B3235-1376-477C-A6E4-BA7515FD68B0}"/>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BC421A44-23C2-4992-9D33-023E210F5867}"/>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31" name="Text 29">
            <a:extLst xmlns:a="http://schemas.openxmlformats.org/drawingml/2006/main">
              <a:ext uri="{FF2B5EF4-FFF2-40B4-BE49-F238E27FC236}">
                <a16:creationId xmlns:a16="http://schemas.microsoft.com/office/drawing/2014/main" id="{BEC2365A-55F5-4575-8889-E269EF015419}"/>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dashboard over the whole</a:t>
            </a:r>
            <a:endParaRPr sz="860"/>
          </a:p>
        </p:txBody>
      </p:sp>
      <p:sp>
        <p:nvSpPr>
          <p:cNvPr id="32" name="Text 30">
            <a:extLst xmlns:a="http://schemas.openxmlformats.org/drawingml/2006/main">
              <a:ext uri="{FF2B5EF4-FFF2-40B4-BE49-F238E27FC236}">
                <a16:creationId xmlns:a16="http://schemas.microsoft.com/office/drawing/2014/main" id="{79E4435B-C05E-4558-9C7A-4AEEAC07D087}"/>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The principle applied:  where several systems each own part of one event, the servicing layer's job is to assemble and attribute — never to adjudicate. It shows what each source says and which one is authoritative for that fact, rather than producing a merged answer that no source would confirm.</a:t>
            </a:r>
            <a:endParaRPr sz="1000"/>
          </a:p>
        </p:txBody>
      </p:sp>
      <p:sp>
        <p:nvSpPr>
          <p:cNvPr id="33" name="Shape 31">
            <a:extLst xmlns:a="http://schemas.openxmlformats.org/drawingml/2006/main">
              <a:ext uri="{FF2B5EF4-FFF2-40B4-BE49-F238E27FC236}">
                <a16:creationId xmlns:a16="http://schemas.microsoft.com/office/drawing/2014/main" id="{318EC326-CE9D-4198-AF82-3F3327EA5022}"/>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2FDD17F7-23E0-45EF-97CB-C7A90456CBD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21442ADB-A672-4963-88E4-15AC9EC5410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540332903"/>
      </p:ext>
    </p:extLst>
  </p:cSld>
</p:sld>
</file>

<file path=ppt/slides/slide28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C1D3FBB-D67F-4125-A118-1DAB3A9696C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5430B8E3-6845-4DF8-9C5C-131ED04440F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Institutional scale is publicly reported; the integration design and the servicing</a:t>
            </a:r>
            <a:endParaRPr sz="1900"/>
          </a:p>
          <a:p xmlns:a="http://schemas.openxmlformats.org/drawingml/2006/main">
            <a:pPr marL="0" indent="0">
              <a:lnSpc>
                <a:spcPts val="2400"/>
              </a:lnSpc>
              <a:buNone/>
            </a:pPr>
            <a:r>
              <a:rPr sz="1900" b="1">
                <a:solidFill>
                  <a:srgbClr val="102A43"/>
                </a:solidFill>
                <a:latin typeface="Arial"/>
                <a:ea typeface="Arial"/>
                <a:cs typeface="Arial"/>
              </a:rPr>
              <a:t>model come from the delivery record</a:t>
            </a:r>
            <a:endParaRPr sz="1900"/>
          </a:p>
        </p:txBody>
      </p:sp>
      <p:sp>
        <p:nvSpPr>
          <p:cNvPr id="4" name="Shape 2">
            <a:extLst xmlns:a="http://schemas.openxmlformats.org/drawingml/2006/main">
              <a:ext uri="{FF2B5EF4-FFF2-40B4-BE49-F238E27FC236}">
                <a16:creationId xmlns:a16="http://schemas.microsoft.com/office/drawing/2014/main" id="{814F2D46-8FAA-4224-83F1-C6BBAABED54F}"/>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A882C32F-880E-455E-8ECD-833E1A228500}"/>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BF312C62-F2A4-4CD8-A7FE-42780C2CF97C}"/>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23A8D7BC-08F2-4491-BE27-D571081B7182}"/>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Institution context</a:t>
            </a:r>
            <a:endParaRPr sz="1200"/>
          </a:p>
        </p:txBody>
      </p:sp>
      <p:sp>
        <p:nvSpPr>
          <p:cNvPr id="8" name="Text 6">
            <a:extLst xmlns:a="http://schemas.openxmlformats.org/drawingml/2006/main">
              <a:ext uri="{FF2B5EF4-FFF2-40B4-BE49-F238E27FC236}">
                <a16:creationId xmlns:a16="http://schemas.microsoft.com/office/drawing/2014/main" id="{06E4031D-36F7-46E9-B008-C1176A8AA16B}"/>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Scale and footprint figures from public credit union reporting.</a:t>
            </a:r>
            <a:endParaRPr sz="920"/>
          </a:p>
        </p:txBody>
      </p:sp>
      <p:sp>
        <p:nvSpPr>
          <p:cNvPr id="9" name="Shape 7">
            <a:extLst xmlns:a="http://schemas.openxmlformats.org/drawingml/2006/main">
              <a:ext uri="{FF2B5EF4-FFF2-40B4-BE49-F238E27FC236}">
                <a16:creationId xmlns:a16="http://schemas.microsoft.com/office/drawing/2014/main" id="{F257E083-3576-454C-B91A-D3DF04E403A2}"/>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AC5128A0-862F-4C9F-8822-D81CDE9BCEF4}"/>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~$2.2bn total assets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~127,000 members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Chartered 1939, Menomonie, Wisconsin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28-county footprint, two states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Roughly eighteen branch locations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Community and agricultural membership</a:t>
            </a:r>
            <a:endParaRPr sz="930"/>
          </a:p>
        </p:txBody>
      </p:sp>
      <p:sp>
        <p:nvSpPr>
          <p:cNvPr id="11" name="Shape 9">
            <a:extLst xmlns:a="http://schemas.openxmlformats.org/drawingml/2006/main">
              <a:ext uri="{FF2B5EF4-FFF2-40B4-BE49-F238E27FC236}">
                <a16:creationId xmlns:a16="http://schemas.microsoft.com/office/drawing/2014/main" id="{7853AE37-E0A2-4155-8D99-6E826B4E60D7}"/>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B9785B44-BADB-4CC6-91AC-DB6CF6671E8E}"/>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0B66D3D6-F680-4688-B705-73B3BE0C7988}"/>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D34BF8CE-547D-4404-8113-E7563D96D88C}"/>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7D5346C0-A4DA-47CF-BB8C-71698EFA7926}"/>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Card servicing integration and dashboard delivery during the 2025 engagement.</a:t>
            </a:r>
            <a:endParaRPr sz="920"/>
          </a:p>
        </p:txBody>
      </p:sp>
      <p:sp>
        <p:nvSpPr>
          <p:cNvPr id="16" name="Shape 14">
            <a:extLst xmlns:a="http://schemas.openxmlformats.org/drawingml/2006/main">
              <a:ext uri="{FF2B5EF4-FFF2-40B4-BE49-F238E27FC236}">
                <a16:creationId xmlns:a16="http://schemas.microsoft.com/office/drawing/2014/main" id="{60055093-69B6-4E46-8A73-8515FD5B726E}"/>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842C219B-B05B-40FD-B692-DE6DC2FB5CF6}"/>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Three-source assembly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Vocabulary and timeline normalisation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Authority-per-fact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Card servicing view</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Dashboard layer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D5381333-69A5-4825-95FB-CB7452307F1B}"/>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6B5B84CC-D8EF-45CE-991B-B60AF0082DB0}"/>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EE18358E-B7B4-454F-913B-0150B72AC66F}"/>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METHOD ILLUSTRATION</a:t>
            </a:r>
            <a:endParaRPr sz="740"/>
          </a:p>
        </p:txBody>
      </p:sp>
      <p:sp>
        <p:nvSpPr>
          <p:cNvPr id="21" name="Text 19">
            <a:extLst xmlns:a="http://schemas.openxmlformats.org/drawingml/2006/main">
              <a:ext uri="{FF2B5EF4-FFF2-40B4-BE49-F238E27FC236}">
                <a16:creationId xmlns:a16="http://schemas.microsoft.com/office/drawing/2014/main" id="{8CBC44B2-4B31-4269-838D-E449A4DE0D2A}"/>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Reconstructed</a:t>
            </a:r>
            <a:endParaRPr sz="1200"/>
          </a:p>
        </p:txBody>
      </p:sp>
      <p:sp>
        <p:nvSpPr>
          <p:cNvPr id="22" name="Text 20">
            <a:extLst xmlns:a="http://schemas.openxmlformats.org/drawingml/2006/main">
              <a:ext uri="{FF2B5EF4-FFF2-40B4-BE49-F238E27FC236}">
                <a16:creationId xmlns:a16="http://schemas.microsoft.com/office/drawing/2014/main" id="{EA361981-DEC6-4F7E-A7AE-1AF5AF7FA76C}"/>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design detail shown illustrates the approach taken. Specific definitions, categories and figures are reconstructed for presentation and are not quoted from the programme record.</a:t>
            </a:r>
            <a:endParaRPr sz="920"/>
          </a:p>
        </p:txBody>
      </p:sp>
      <p:sp>
        <p:nvSpPr>
          <p:cNvPr id="23" name="Shape 21">
            <a:extLst xmlns:a="http://schemas.openxmlformats.org/drawingml/2006/main">
              <a:ext uri="{FF2B5EF4-FFF2-40B4-BE49-F238E27FC236}">
                <a16:creationId xmlns:a16="http://schemas.microsoft.com/office/drawing/2014/main" id="{883A988A-3D94-4A75-8547-009A9CE0AB49}"/>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2C943CDB-B8D9-4E50-9075-36B4F041C4E2}"/>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Approach is from the engagement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Detail is reconstructed to illustrate it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Figures are directional, never measured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Confirm specifics before citing them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method is what transfers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Ask me for the underlying record</a:t>
            </a:r>
            <a:endParaRPr sz="930"/>
          </a:p>
        </p:txBody>
      </p:sp>
      <p:sp>
        <p:nvSpPr>
          <p:cNvPr id="25" name="Shape 23">
            <a:extLst xmlns:a="http://schemas.openxmlformats.org/drawingml/2006/main">
              <a:ext uri="{FF2B5EF4-FFF2-40B4-BE49-F238E27FC236}">
                <a16:creationId xmlns:a16="http://schemas.microsoft.com/office/drawing/2014/main" id="{B1DA441B-29C3-4B80-A742-E534F652E84E}"/>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3220BF99-6ED7-4354-AE1D-5EFEA6D619B2}"/>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FA24CF2D-075D-461F-AE86-473760064173}"/>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F14F3541-F907-4EEF-9E2D-A8AE0D90AACC}"/>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DCB41E2C-A522-45FF-B0FB-FF5726506C4A}"/>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a:t>
            </a:r>
            <a:endParaRPr sz="920"/>
          </a:p>
        </p:txBody>
      </p:sp>
      <p:sp>
        <p:nvSpPr>
          <p:cNvPr id="30" name="Shape 28">
            <a:extLst xmlns:a="http://schemas.openxmlformats.org/drawingml/2006/main">
              <a:ext uri="{FF2B5EF4-FFF2-40B4-BE49-F238E27FC236}">
                <a16:creationId xmlns:a16="http://schemas.microsoft.com/office/drawing/2014/main" id="{E54EEC03-96D8-4F31-814A-77510B82D9D6}"/>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312A313C-CEFA-4877-A87F-982454D7C4A6}"/>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member, card or transaction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processor's internal behaviour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Institution financial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Dispute or fraud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engagement</a:t>
            </a:r>
            <a:endParaRPr sz="930"/>
          </a:p>
        </p:txBody>
      </p:sp>
      <p:sp>
        <p:nvSpPr>
          <p:cNvPr id="32" name="Shape 30">
            <a:extLst xmlns:a="http://schemas.openxmlformats.org/drawingml/2006/main">
              <a:ext uri="{FF2B5EF4-FFF2-40B4-BE49-F238E27FC236}">
                <a16:creationId xmlns:a16="http://schemas.microsoft.com/office/drawing/2014/main" id="{B38AAA47-4525-40B9-800A-56233A76297A}"/>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D251FF56-832B-4785-A026-EC889920CE19}"/>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credit union figures (context) · author's delivery record (integration and design)</a:t>
            </a:r>
            <a:endParaRPr sz="850"/>
          </a:p>
        </p:txBody>
      </p:sp>
      <p:sp>
        <p:nvSpPr>
          <p:cNvPr id="34" name="Text 32">
            <a:extLst xmlns:a="http://schemas.openxmlformats.org/drawingml/2006/main">
              <a:ext uri="{FF2B5EF4-FFF2-40B4-BE49-F238E27FC236}">
                <a16:creationId xmlns:a16="http://schemas.microsoft.com/office/drawing/2014/main" id="{3C8FCF99-900A-4EBF-ACB8-C30C7B48969F}"/>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947735511"/>
      </p:ext>
    </p:extLst>
  </p:cSld>
</p:sld>
</file>

<file path=ppt/slides/slide28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4ADF7D0-B5F9-40EC-B70F-86734849C3D2}"/>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THREE SOURCES</a:t>
            </a:r>
            <a:endParaRPr sz="950"/>
          </a:p>
        </p:txBody>
      </p:sp>
      <p:sp>
        <p:nvSpPr>
          <p:cNvPr id="3" name="Text 1">
            <a:extLst xmlns:a="http://schemas.openxmlformats.org/drawingml/2006/main">
              <a:ext uri="{FF2B5EF4-FFF2-40B4-BE49-F238E27FC236}">
                <a16:creationId xmlns:a16="http://schemas.microsoft.com/office/drawing/2014/main" id="{B193624E-9CCD-43D2-9A8E-16014076F5B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Each source is authoritative for something different — and none of them is</a:t>
            </a:r>
            <a:endParaRPr sz="1900"/>
          </a:p>
          <a:p xmlns:a="http://schemas.openxmlformats.org/drawingml/2006/main">
            <a:pPr marL="0" indent="0">
              <a:lnSpc>
                <a:spcPts val="2400"/>
              </a:lnSpc>
              <a:buNone/>
            </a:pPr>
            <a:r>
              <a:rPr sz="1900" b="1">
                <a:solidFill>
                  <a:srgbClr val="102A43"/>
                </a:solidFill>
                <a:latin typeface="Arial"/>
                <a:ea typeface="Arial"/>
                <a:cs typeface="Arial"/>
              </a:rPr>
              <a:t>authoritative for the member's actual question</a:t>
            </a:r>
            <a:endParaRPr sz="1900"/>
          </a:p>
        </p:txBody>
      </p:sp>
      <p:sp>
        <p:nvSpPr>
          <p:cNvPr id="4" name="Shape 2">
            <a:extLst xmlns:a="http://schemas.openxmlformats.org/drawingml/2006/main">
              <a:ext uri="{FF2B5EF4-FFF2-40B4-BE49-F238E27FC236}">
                <a16:creationId xmlns:a16="http://schemas.microsoft.com/office/drawing/2014/main" id="{C89CC9A7-EA2E-4786-996C-F444EE618D64}"/>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15AC32C3-A859-4343-84DF-029465735C4B}"/>
              </a:ext>
            </a:extLst>
          </p:cNvPr>
          <p:cNvSpPr>
            <a:spLocks xmlns:a="http://schemas.openxmlformats.org/drawingml/2006/main" noGrp="1"/>
          </p:cNvSpPr>
          <p:nvPr/>
        </p:nvSpPr>
        <p:spPr>
          <a:xfrm xmlns:a="http://schemas.openxmlformats.org/drawingml/2006/main">
            <a:off x="676656" y="1444752"/>
            <a:ext cx="27980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Source</a:t>
            </a:r>
            <a:endParaRPr sz="920"/>
          </a:p>
        </p:txBody>
      </p:sp>
      <p:sp>
        <p:nvSpPr>
          <p:cNvPr id="6" name="Text 4">
            <a:extLst xmlns:a="http://schemas.openxmlformats.org/drawingml/2006/main">
              <a:ext uri="{FF2B5EF4-FFF2-40B4-BE49-F238E27FC236}">
                <a16:creationId xmlns:a16="http://schemas.microsoft.com/office/drawing/2014/main" id="{2626A75B-274A-494D-84CF-E5A7447FC609}"/>
              </a:ext>
            </a:extLst>
          </p:cNvPr>
          <p:cNvSpPr>
            <a:spLocks xmlns:a="http://schemas.openxmlformats.org/drawingml/2006/main" noGrp="1"/>
          </p:cNvSpPr>
          <p:nvPr/>
        </p:nvSpPr>
        <p:spPr>
          <a:xfrm xmlns:a="http://schemas.openxmlformats.org/drawingml/2006/main">
            <a:off x="3785616" y="1444752"/>
            <a:ext cx="31638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Authoritative for</a:t>
            </a:r>
            <a:endParaRPr sz="920"/>
          </a:p>
        </p:txBody>
      </p:sp>
      <p:sp>
        <p:nvSpPr>
          <p:cNvPr id="7" name="Text 5">
            <a:extLst xmlns:a="http://schemas.openxmlformats.org/drawingml/2006/main">
              <a:ext uri="{FF2B5EF4-FFF2-40B4-BE49-F238E27FC236}">
                <a16:creationId xmlns:a16="http://schemas.microsoft.com/office/drawing/2014/main" id="{BC153978-CA1B-432D-9E6E-ABF5A7238DA3}"/>
              </a:ext>
            </a:extLst>
          </p:cNvPr>
          <p:cNvSpPr>
            <a:spLocks xmlns:a="http://schemas.openxmlformats.org/drawingml/2006/main" noGrp="1"/>
          </p:cNvSpPr>
          <p:nvPr/>
        </p:nvSpPr>
        <p:spPr>
          <a:xfrm xmlns:a="http://schemas.openxmlformats.org/drawingml/2006/main">
            <a:off x="726033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Not authoritative for</a:t>
            </a:r>
            <a:endParaRPr sz="920"/>
          </a:p>
        </p:txBody>
      </p:sp>
      <p:sp>
        <p:nvSpPr>
          <p:cNvPr id="8" name="Text 6">
            <a:extLst xmlns:a="http://schemas.openxmlformats.org/drawingml/2006/main">
              <a:ext uri="{FF2B5EF4-FFF2-40B4-BE49-F238E27FC236}">
                <a16:creationId xmlns:a16="http://schemas.microsoft.com/office/drawing/2014/main" id="{0EFF42D4-7705-4E55-86C4-F4A0B161E538}"/>
              </a:ext>
            </a:extLst>
          </p:cNvPr>
          <p:cNvSpPr>
            <a:spLocks xmlns:a="http://schemas.openxmlformats.org/drawingml/2006/main" noGrp="1"/>
          </p:cNvSpPr>
          <p:nvPr/>
        </p:nvSpPr>
        <p:spPr>
          <a:xfrm xmlns:a="http://schemas.openxmlformats.org/drawingml/2006/main">
            <a:off x="10186416" y="1444752"/>
            <a:ext cx="13258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Clock</a:t>
            </a:r>
            <a:endParaRPr sz="920"/>
          </a:p>
        </p:txBody>
      </p:sp>
      <p:sp>
        <p:nvSpPr>
          <p:cNvPr id="9" name="Text 7">
            <a:extLst xmlns:a="http://schemas.openxmlformats.org/drawingml/2006/main">
              <a:ext uri="{FF2B5EF4-FFF2-40B4-BE49-F238E27FC236}">
                <a16:creationId xmlns:a16="http://schemas.microsoft.com/office/drawing/2014/main" id="{979E3C0D-E6CD-4D22-A9FD-6CEC7274DF98}"/>
              </a:ext>
            </a:extLst>
          </p:cNvPr>
          <p:cNvSpPr>
            <a:spLocks xmlns:a="http://schemas.openxmlformats.org/drawingml/2006/main" noGrp="1"/>
          </p:cNvSpPr>
          <p:nvPr/>
        </p:nvSpPr>
        <p:spPr>
          <a:xfrm xmlns:a="http://schemas.openxmlformats.org/drawingml/2006/main">
            <a:off x="676656" y="1837944"/>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Card processing platform</a:t>
            </a:r>
            <a:endParaRPr sz="970"/>
          </a:p>
        </p:txBody>
      </p:sp>
      <p:sp>
        <p:nvSpPr>
          <p:cNvPr id="10" name="Text 8">
            <a:extLst xmlns:a="http://schemas.openxmlformats.org/drawingml/2006/main">
              <a:ext uri="{FF2B5EF4-FFF2-40B4-BE49-F238E27FC236}">
                <a16:creationId xmlns:a16="http://schemas.microsoft.com/office/drawing/2014/main" id="{752CF51C-94CB-4938-9AD0-4E84A66A8D9E}"/>
              </a:ext>
            </a:extLst>
          </p:cNvPr>
          <p:cNvSpPr>
            <a:spLocks xmlns:a="http://schemas.openxmlformats.org/drawingml/2006/main" noGrp="1"/>
          </p:cNvSpPr>
          <p:nvPr/>
        </p:nvSpPr>
        <p:spPr>
          <a:xfrm xmlns:a="http://schemas.openxmlformats.org/drawingml/2006/main">
            <a:off x="3785616" y="183794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The authorisation decision, the reason code, card status and limits</a:t>
            </a:r>
            <a:endParaRPr sz="920"/>
          </a:p>
        </p:txBody>
      </p:sp>
      <p:sp>
        <p:nvSpPr>
          <p:cNvPr id="11" name="Text 9">
            <a:extLst xmlns:a="http://schemas.openxmlformats.org/drawingml/2006/main">
              <a:ext uri="{FF2B5EF4-FFF2-40B4-BE49-F238E27FC236}">
                <a16:creationId xmlns:a16="http://schemas.microsoft.com/office/drawing/2014/main" id="{6712FC62-2BE3-4BBC-9F25-A86574977465}"/>
              </a:ext>
            </a:extLst>
          </p:cNvPr>
          <p:cNvSpPr>
            <a:spLocks xmlns:a="http://schemas.openxmlformats.org/drawingml/2006/main" noGrp="1"/>
          </p:cNvSpPr>
          <p:nvPr/>
        </p:nvSpPr>
        <p:spPr>
          <a:xfrm xmlns:a="http://schemas.openxmlformats.org/drawingml/2006/main">
            <a:off x="7260336" y="183794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Whether funds were actually available in the account</a:t>
            </a:r>
            <a:endParaRPr sz="920"/>
          </a:p>
        </p:txBody>
      </p:sp>
      <p:sp>
        <p:nvSpPr>
          <p:cNvPr id="12" name="Text 10">
            <a:extLst xmlns:a="http://schemas.openxmlformats.org/drawingml/2006/main">
              <a:ext uri="{FF2B5EF4-FFF2-40B4-BE49-F238E27FC236}">
                <a16:creationId xmlns:a16="http://schemas.microsoft.com/office/drawing/2014/main" id="{586B9ECD-C98F-445C-BAC7-70A76B8CF235}"/>
              </a:ext>
            </a:extLst>
          </p:cNvPr>
          <p:cNvSpPr>
            <a:spLocks xmlns:a="http://schemas.openxmlformats.org/drawingml/2006/main" noGrp="1"/>
          </p:cNvSpPr>
          <p:nvPr/>
        </p:nvSpPr>
        <p:spPr>
          <a:xfrm xmlns:a="http://schemas.openxmlformats.org/drawingml/2006/main">
            <a:off x="10186416" y="183794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Real time</a:t>
            </a:r>
            <a:endParaRPr sz="930"/>
          </a:p>
        </p:txBody>
      </p:sp>
      <p:sp>
        <p:nvSpPr>
          <p:cNvPr id="13" name="Shape 11">
            <a:extLst xmlns:a="http://schemas.openxmlformats.org/drawingml/2006/main">
              <a:ext uri="{FF2B5EF4-FFF2-40B4-BE49-F238E27FC236}">
                <a16:creationId xmlns:a16="http://schemas.microsoft.com/office/drawing/2014/main" id="{E7EC89CD-23E7-4248-98F8-FC717FFB0597}"/>
              </a:ext>
            </a:extLst>
          </p:cNvPr>
          <p:cNvSpPr>
            <a:spLocks xmlns:a="http://schemas.openxmlformats.org/drawingml/2006/main" noGrp="1"/>
          </p:cNvSpPr>
          <p:nvPr/>
        </p:nvSpPr>
        <p:spPr>
          <a:xfrm xmlns:a="http://schemas.openxmlformats.org/drawingml/2006/main">
            <a:off x="566928" y="2249424"/>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ECD27C3C-D855-41ED-9EF7-46B55C3DA331}"/>
              </a:ext>
            </a:extLst>
          </p:cNvPr>
          <p:cNvSpPr>
            <a:spLocks xmlns:a="http://schemas.openxmlformats.org/drawingml/2006/main" noGrp="1"/>
          </p:cNvSpPr>
          <p:nvPr/>
        </p:nvSpPr>
        <p:spPr>
          <a:xfrm xmlns:a="http://schemas.openxmlformats.org/drawingml/2006/main">
            <a:off x="566928" y="2249424"/>
            <a:ext cx="11057839" cy="548640"/>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A20F992B-257E-49E1-9135-28DE8155B254}"/>
              </a:ext>
            </a:extLst>
          </p:cNvPr>
          <p:cNvSpPr>
            <a:spLocks xmlns:a="http://schemas.openxmlformats.org/drawingml/2006/main" noGrp="1"/>
          </p:cNvSpPr>
          <p:nvPr/>
        </p:nvSpPr>
        <p:spPr>
          <a:xfrm xmlns:a="http://schemas.openxmlformats.org/drawingml/2006/main">
            <a:off x="676656" y="2386584"/>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Network and switch</a:t>
            </a:r>
            <a:endParaRPr sz="970"/>
          </a:p>
        </p:txBody>
      </p:sp>
      <p:sp>
        <p:nvSpPr>
          <p:cNvPr id="16" name="Text 14">
            <a:extLst xmlns:a="http://schemas.openxmlformats.org/drawingml/2006/main">
              <a:ext uri="{FF2B5EF4-FFF2-40B4-BE49-F238E27FC236}">
                <a16:creationId xmlns:a16="http://schemas.microsoft.com/office/drawing/2014/main" id="{2039EF2C-18DB-49D6-8762-C0C29889B089}"/>
              </a:ext>
            </a:extLst>
          </p:cNvPr>
          <p:cNvSpPr>
            <a:spLocks xmlns:a="http://schemas.openxmlformats.org/drawingml/2006/main" noGrp="1"/>
          </p:cNvSpPr>
          <p:nvPr/>
        </p:nvSpPr>
        <p:spPr>
          <a:xfrm xmlns:a="http://schemas.openxmlformats.org/drawingml/2006/main">
            <a:off x="3785616" y="238658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Whether the transaction reached the processor at all, and routing</a:t>
            </a:r>
            <a:endParaRPr sz="920"/>
          </a:p>
        </p:txBody>
      </p:sp>
      <p:sp>
        <p:nvSpPr>
          <p:cNvPr id="17" name="Text 15">
            <a:extLst xmlns:a="http://schemas.openxmlformats.org/drawingml/2006/main">
              <a:ext uri="{FF2B5EF4-FFF2-40B4-BE49-F238E27FC236}">
                <a16:creationId xmlns:a16="http://schemas.microsoft.com/office/drawing/2014/main" id="{7BF4F84E-1CB3-4BB6-B35E-E473B48A3E84}"/>
              </a:ext>
            </a:extLst>
          </p:cNvPr>
          <p:cNvSpPr>
            <a:spLocks xmlns:a="http://schemas.openxmlformats.org/drawingml/2006/main" noGrp="1"/>
          </p:cNvSpPr>
          <p:nvPr/>
        </p:nvSpPr>
        <p:spPr>
          <a:xfrm xmlns:a="http://schemas.openxmlformats.org/drawingml/2006/main">
            <a:off x="7260336" y="238658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Why a decision was made once it arrived</a:t>
            </a:r>
            <a:endParaRPr sz="920"/>
          </a:p>
        </p:txBody>
      </p:sp>
      <p:sp>
        <p:nvSpPr>
          <p:cNvPr id="18" name="Text 16">
            <a:extLst xmlns:a="http://schemas.openxmlformats.org/drawingml/2006/main">
              <a:ext uri="{FF2B5EF4-FFF2-40B4-BE49-F238E27FC236}">
                <a16:creationId xmlns:a16="http://schemas.microsoft.com/office/drawing/2014/main" id="{337EBE88-78CC-4E6C-AEB4-EFEE8031BFE8}"/>
              </a:ext>
            </a:extLst>
          </p:cNvPr>
          <p:cNvSpPr>
            <a:spLocks xmlns:a="http://schemas.openxmlformats.org/drawingml/2006/main" noGrp="1"/>
          </p:cNvSpPr>
          <p:nvPr/>
        </p:nvSpPr>
        <p:spPr>
          <a:xfrm xmlns:a="http://schemas.openxmlformats.org/drawingml/2006/main">
            <a:off x="10186416" y="238658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Real time</a:t>
            </a:r>
            <a:endParaRPr sz="930"/>
          </a:p>
        </p:txBody>
      </p:sp>
      <p:sp>
        <p:nvSpPr>
          <p:cNvPr id="19" name="Shape 17">
            <a:extLst xmlns:a="http://schemas.openxmlformats.org/drawingml/2006/main">
              <a:ext uri="{FF2B5EF4-FFF2-40B4-BE49-F238E27FC236}">
                <a16:creationId xmlns:a16="http://schemas.microsoft.com/office/drawing/2014/main" id="{A678C156-EEC4-4984-BB32-4ACF2E95FBE1}"/>
              </a:ext>
            </a:extLst>
          </p:cNvPr>
          <p:cNvSpPr>
            <a:spLocks xmlns:a="http://schemas.openxmlformats.org/drawingml/2006/main" noGrp="1"/>
          </p:cNvSpPr>
          <p:nvPr/>
        </p:nvSpPr>
        <p:spPr>
          <a:xfrm xmlns:a="http://schemas.openxmlformats.org/drawingml/2006/main">
            <a:off x="566928" y="2798064"/>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ABFA0E3C-DA97-40FA-9245-EF3FFC541D7B}"/>
              </a:ext>
            </a:extLst>
          </p:cNvPr>
          <p:cNvSpPr>
            <a:spLocks xmlns:a="http://schemas.openxmlformats.org/drawingml/2006/main" noGrp="1"/>
          </p:cNvSpPr>
          <p:nvPr/>
        </p:nvSpPr>
        <p:spPr>
          <a:xfrm xmlns:a="http://schemas.openxmlformats.org/drawingml/2006/main">
            <a:off x="676656" y="2935224"/>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Core banking system</a:t>
            </a:r>
            <a:endParaRPr sz="970"/>
          </a:p>
        </p:txBody>
      </p:sp>
      <p:sp>
        <p:nvSpPr>
          <p:cNvPr id="21" name="Text 19">
            <a:extLst xmlns:a="http://schemas.openxmlformats.org/drawingml/2006/main">
              <a:ext uri="{FF2B5EF4-FFF2-40B4-BE49-F238E27FC236}">
                <a16:creationId xmlns:a16="http://schemas.microsoft.com/office/drawing/2014/main" id="{C564A3E6-2B70-4D64-A323-1B0CBB23E2E2}"/>
              </a:ext>
            </a:extLst>
          </p:cNvPr>
          <p:cNvSpPr>
            <a:spLocks xmlns:a="http://schemas.openxmlformats.org/drawingml/2006/main" noGrp="1"/>
          </p:cNvSpPr>
          <p:nvPr/>
        </p:nvSpPr>
        <p:spPr>
          <a:xfrm xmlns:a="http://schemas.openxmlformats.org/drawingml/2006/main">
            <a:off x="3785616" y="293522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The account balance, holds, and whether the posting settled</a:t>
            </a:r>
            <a:endParaRPr sz="920"/>
          </a:p>
        </p:txBody>
      </p:sp>
      <p:sp>
        <p:nvSpPr>
          <p:cNvPr id="22" name="Text 20">
            <a:extLst xmlns:a="http://schemas.openxmlformats.org/drawingml/2006/main">
              <a:ext uri="{FF2B5EF4-FFF2-40B4-BE49-F238E27FC236}">
                <a16:creationId xmlns:a16="http://schemas.microsoft.com/office/drawing/2014/main" id="{C4B34C6B-455C-490B-A8B3-F24CAEF743CD}"/>
              </a:ext>
            </a:extLst>
          </p:cNvPr>
          <p:cNvSpPr>
            <a:spLocks xmlns:a="http://schemas.openxmlformats.org/drawingml/2006/main" noGrp="1"/>
          </p:cNvSpPr>
          <p:nvPr/>
        </p:nvSpPr>
        <p:spPr>
          <a:xfrm xmlns:a="http://schemas.openxmlformats.org/drawingml/2006/main">
            <a:off x="7260336" y="293522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Anything about the card decision itself</a:t>
            </a:r>
            <a:endParaRPr sz="920"/>
          </a:p>
        </p:txBody>
      </p:sp>
      <p:sp>
        <p:nvSpPr>
          <p:cNvPr id="23" name="Text 21">
            <a:extLst xmlns:a="http://schemas.openxmlformats.org/drawingml/2006/main">
              <a:ext uri="{FF2B5EF4-FFF2-40B4-BE49-F238E27FC236}">
                <a16:creationId xmlns:a16="http://schemas.microsoft.com/office/drawing/2014/main" id="{BE128AEA-E101-4FA5-B8A5-40F133FCB668}"/>
              </a:ext>
            </a:extLst>
          </p:cNvPr>
          <p:cNvSpPr>
            <a:spLocks xmlns:a="http://schemas.openxmlformats.org/drawingml/2006/main" noGrp="1"/>
          </p:cNvSpPr>
          <p:nvPr/>
        </p:nvSpPr>
        <p:spPr>
          <a:xfrm xmlns:a="http://schemas.openxmlformats.org/drawingml/2006/main">
            <a:off x="10186416" y="293522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Batch and real time mixed</a:t>
            </a:r>
            <a:endParaRPr sz="930"/>
          </a:p>
        </p:txBody>
      </p:sp>
      <p:sp>
        <p:nvSpPr>
          <p:cNvPr id="24" name="Shape 22">
            <a:extLst xmlns:a="http://schemas.openxmlformats.org/drawingml/2006/main">
              <a:ext uri="{FF2B5EF4-FFF2-40B4-BE49-F238E27FC236}">
                <a16:creationId xmlns:a16="http://schemas.microsoft.com/office/drawing/2014/main" id="{C5B1520D-590D-4B06-A7C6-05DFD48B7BBA}"/>
              </a:ext>
            </a:extLst>
          </p:cNvPr>
          <p:cNvSpPr>
            <a:spLocks xmlns:a="http://schemas.openxmlformats.org/drawingml/2006/main" noGrp="1"/>
          </p:cNvSpPr>
          <p:nvPr/>
        </p:nvSpPr>
        <p:spPr>
          <a:xfrm xmlns:a="http://schemas.openxmlformats.org/drawingml/2006/main">
            <a:off x="566928" y="3346704"/>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D6729801-BA39-455F-A717-593255FB3E96}"/>
              </a:ext>
            </a:extLst>
          </p:cNvPr>
          <p:cNvSpPr>
            <a:spLocks xmlns:a="http://schemas.openxmlformats.org/drawingml/2006/main" noGrp="1"/>
          </p:cNvSpPr>
          <p:nvPr/>
        </p:nvSpPr>
        <p:spPr>
          <a:xfrm xmlns:a="http://schemas.openxmlformats.org/drawingml/2006/main">
            <a:off x="566928" y="3346704"/>
            <a:ext cx="11057839" cy="548640"/>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01AE5375-AAB9-4720-8C85-DAFB072B5A48}"/>
              </a:ext>
            </a:extLst>
          </p:cNvPr>
          <p:cNvSpPr>
            <a:spLocks xmlns:a="http://schemas.openxmlformats.org/drawingml/2006/main" noGrp="1"/>
          </p:cNvSpPr>
          <p:nvPr/>
        </p:nvSpPr>
        <p:spPr>
          <a:xfrm xmlns:a="http://schemas.openxmlformats.org/drawingml/2006/main">
            <a:off x="676656" y="3483864"/>
            <a:ext cx="27980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The member's question</a:t>
            </a:r>
            <a:endParaRPr sz="970"/>
          </a:p>
        </p:txBody>
      </p:sp>
      <p:sp>
        <p:nvSpPr>
          <p:cNvPr id="27" name="Text 25">
            <a:extLst xmlns:a="http://schemas.openxmlformats.org/drawingml/2006/main">
              <a:ext uri="{FF2B5EF4-FFF2-40B4-BE49-F238E27FC236}">
                <a16:creationId xmlns:a16="http://schemas.microsoft.com/office/drawing/2014/main" id="{FCCEBD6E-BC94-40E0-9A6A-840A949511CD}"/>
              </a:ext>
            </a:extLst>
          </p:cNvPr>
          <p:cNvSpPr>
            <a:spLocks xmlns:a="http://schemas.openxmlformats.org/drawingml/2006/main" noGrp="1"/>
          </p:cNvSpPr>
          <p:nvPr/>
        </p:nvSpPr>
        <p:spPr>
          <a:xfrm xmlns:a="http://schemas.openxmlformats.org/drawingml/2006/main">
            <a:off x="3785616" y="348386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Nothing — it spans all three</a:t>
            </a:r>
            <a:endParaRPr sz="920"/>
          </a:p>
        </p:txBody>
      </p:sp>
      <p:sp>
        <p:nvSpPr>
          <p:cNvPr id="28" name="Text 26">
            <a:extLst xmlns:a="http://schemas.openxmlformats.org/drawingml/2006/main">
              <a:ext uri="{FF2B5EF4-FFF2-40B4-BE49-F238E27FC236}">
                <a16:creationId xmlns:a16="http://schemas.microsoft.com/office/drawing/2014/main" id="{D83D00B9-8EF2-422F-BC70-6638339C5E86}"/>
              </a:ext>
            </a:extLst>
          </p:cNvPr>
          <p:cNvSpPr>
            <a:spLocks xmlns:a="http://schemas.openxmlformats.org/drawingml/2006/main" noGrp="1"/>
          </p:cNvSpPr>
          <p:nvPr/>
        </p:nvSpPr>
        <p:spPr>
          <a:xfrm xmlns:a="http://schemas.openxmlformats.org/drawingml/2006/main">
            <a:off x="7260336" y="348386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t>
            </a:r>
            <a:endParaRPr sz="920"/>
          </a:p>
        </p:txBody>
      </p:sp>
      <p:sp>
        <p:nvSpPr>
          <p:cNvPr id="29" name="Text 27">
            <a:extLst xmlns:a="http://schemas.openxmlformats.org/drawingml/2006/main">
              <a:ext uri="{FF2B5EF4-FFF2-40B4-BE49-F238E27FC236}">
                <a16:creationId xmlns:a16="http://schemas.microsoft.com/office/drawing/2014/main" id="{310A8671-F0EA-435D-96B8-81750C0DF608}"/>
              </a:ext>
            </a:extLst>
          </p:cNvPr>
          <p:cNvSpPr>
            <a:spLocks xmlns:a="http://schemas.openxmlformats.org/drawingml/2006/main" noGrp="1"/>
          </p:cNvSpPr>
          <p:nvPr/>
        </p:nvSpPr>
        <p:spPr>
          <a:xfrm xmlns:a="http://schemas.openxmlformats.org/drawingml/2006/main">
            <a:off x="10186416" y="3483864"/>
            <a:ext cx="1325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Now</a:t>
            </a:r>
            <a:endParaRPr sz="930"/>
          </a:p>
        </p:txBody>
      </p:sp>
      <p:sp>
        <p:nvSpPr>
          <p:cNvPr id="30" name="Shape 28">
            <a:extLst xmlns:a="http://schemas.openxmlformats.org/drawingml/2006/main">
              <a:ext uri="{FF2B5EF4-FFF2-40B4-BE49-F238E27FC236}">
                <a16:creationId xmlns:a16="http://schemas.microsoft.com/office/drawing/2014/main" id="{DF0A3A8A-31AE-4B33-BAEA-5BC8001E6F54}"/>
              </a:ext>
            </a:extLst>
          </p:cNvPr>
          <p:cNvSpPr>
            <a:spLocks xmlns:a="http://schemas.openxmlformats.org/drawingml/2006/main" noGrp="1"/>
          </p:cNvSpPr>
          <p:nvPr/>
        </p:nvSpPr>
        <p:spPr>
          <a:xfrm xmlns:a="http://schemas.openxmlformats.org/drawingml/2006/main">
            <a:off x="566928" y="3895344"/>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6F35587C-9BF4-4BE6-97ED-539969B3CFA3}"/>
              </a:ext>
            </a:extLst>
          </p:cNvPr>
          <p:cNvSpPr>
            <a:spLocks xmlns:a="http://schemas.openxmlformats.org/drawingml/2006/main" noGrp="1"/>
          </p:cNvSpPr>
          <p:nvPr/>
        </p:nvSpPr>
        <p:spPr>
          <a:xfrm xmlns:a="http://schemas.openxmlformats.org/drawingml/2006/main">
            <a:off x="566928" y="41696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Why staff could not do this reliably</a:t>
            </a:r>
            <a:endParaRPr sz="1100"/>
          </a:p>
        </p:txBody>
      </p:sp>
      <p:sp>
        <p:nvSpPr>
          <p:cNvPr id="32" name="Shape 30">
            <a:extLst xmlns:a="http://schemas.openxmlformats.org/drawingml/2006/main">
              <a:ext uri="{FF2B5EF4-FFF2-40B4-BE49-F238E27FC236}">
                <a16:creationId xmlns:a16="http://schemas.microsoft.com/office/drawing/2014/main" id="{0E294484-2411-4A97-8038-F15237D5D1E6}"/>
              </a:ext>
            </a:extLst>
          </p:cNvPr>
          <p:cNvSpPr>
            <a:spLocks xmlns:a="http://schemas.openxmlformats.org/drawingml/2006/main" noGrp="1"/>
          </p:cNvSpPr>
          <p:nvPr/>
        </p:nvSpPr>
        <p:spPr>
          <a:xfrm xmlns:a="http://schemas.openxmlformats.org/drawingml/2006/main">
            <a:off x="566928" y="4425696"/>
            <a:ext cx="3551834" cy="20117"/>
          </a:xfrm>
          <a:prstGeom xmlns:a="http://schemas.openxmlformats.org/drawingml/2006/main" prst="rect">
            <a:avLst/>
          </a:prstGeom>
          <a:solidFill xmlns:a="http://schemas.openxmlformats.org/drawingml/2006/main">
            <a:srgbClr val="B04A25"/>
          </a:solidFill>
        </p:spPr>
      </p:sp>
      <p:sp>
        <p:nvSpPr>
          <p:cNvPr id="33" name="Text 31">
            <a:extLst xmlns:a="http://schemas.openxmlformats.org/drawingml/2006/main">
              <a:ext uri="{FF2B5EF4-FFF2-40B4-BE49-F238E27FC236}">
                <a16:creationId xmlns:a16="http://schemas.microsoft.com/office/drawing/2014/main" id="{B883C67D-3122-439D-B67C-6521D5D679D8}"/>
              </a:ext>
            </a:extLst>
          </p:cNvPr>
          <p:cNvSpPr>
            <a:spLocks xmlns:a="http://schemas.openxmlformats.org/drawingml/2006/main" noGrp="1"/>
          </p:cNvSpPr>
          <p:nvPr/>
        </p:nvSpPr>
        <p:spPr>
          <a:xfrm xmlns:a="http://schemas.openxmlformats.org/drawingml/2006/main">
            <a:off x="566928" y="455371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Three interfaces, three logins, three vocabularies for the same event.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Timestamps that differ by clock and by convention, so ordering the sequence requires knowing which is which.</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reconciliation is done from memory, so two staff members produce two answers to the same question.</a:t>
            </a:r>
            <a:endParaRPr sz="950"/>
          </a:p>
        </p:txBody>
      </p:sp>
      <p:sp>
        <p:nvSpPr>
          <p:cNvPr id="34" name="Text 32">
            <a:extLst xmlns:a="http://schemas.openxmlformats.org/drawingml/2006/main">
              <a:ext uri="{FF2B5EF4-FFF2-40B4-BE49-F238E27FC236}">
                <a16:creationId xmlns:a16="http://schemas.microsoft.com/office/drawing/2014/main" id="{5707D33C-4441-490F-8E88-7B3ACD0E55D7}"/>
              </a:ext>
            </a:extLst>
          </p:cNvPr>
          <p:cNvSpPr>
            <a:spLocks xmlns:a="http://schemas.openxmlformats.org/drawingml/2006/main" noGrp="1"/>
          </p:cNvSpPr>
          <p:nvPr/>
        </p:nvSpPr>
        <p:spPr>
          <a:xfrm xmlns:a="http://schemas.openxmlformats.org/drawingml/2006/main">
            <a:off x="4319930" y="41696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view had to do</a:t>
            </a:r>
            <a:endParaRPr sz="1100"/>
          </a:p>
        </p:txBody>
      </p:sp>
      <p:sp>
        <p:nvSpPr>
          <p:cNvPr id="35" name="Shape 33">
            <a:extLst xmlns:a="http://schemas.openxmlformats.org/drawingml/2006/main">
              <a:ext uri="{FF2B5EF4-FFF2-40B4-BE49-F238E27FC236}">
                <a16:creationId xmlns:a16="http://schemas.microsoft.com/office/drawing/2014/main" id="{7D717D54-57B9-4825-A1DB-E307C65B65BB}"/>
              </a:ext>
            </a:extLst>
          </p:cNvPr>
          <p:cNvSpPr>
            <a:spLocks xmlns:a="http://schemas.openxmlformats.org/drawingml/2006/main" noGrp="1"/>
          </p:cNvSpPr>
          <p:nvPr/>
        </p:nvSpPr>
        <p:spPr>
          <a:xfrm xmlns:a="http://schemas.openxmlformats.org/drawingml/2006/main">
            <a:off x="4319930" y="4425696"/>
            <a:ext cx="3551834" cy="20117"/>
          </a:xfrm>
          <a:prstGeom xmlns:a="http://schemas.openxmlformats.org/drawingml/2006/main" prst="rect">
            <a:avLst/>
          </a:prstGeom>
          <a:solidFill xmlns:a="http://schemas.openxmlformats.org/drawingml/2006/main">
            <a:srgbClr val="102A43"/>
          </a:solidFill>
        </p:spPr>
      </p:sp>
      <p:sp>
        <p:nvSpPr>
          <p:cNvPr id="36" name="Text 34">
            <a:extLst xmlns:a="http://schemas.openxmlformats.org/drawingml/2006/main">
              <a:ext uri="{FF2B5EF4-FFF2-40B4-BE49-F238E27FC236}">
                <a16:creationId xmlns:a16="http://schemas.microsoft.com/office/drawing/2014/main" id="{B1CA85D7-21E4-4736-A917-B21457A4FE3A}"/>
              </a:ext>
            </a:extLst>
          </p:cNvPr>
          <p:cNvSpPr>
            <a:spLocks xmlns:a="http://schemas.openxmlformats.org/drawingml/2006/main" noGrp="1"/>
          </p:cNvSpPr>
          <p:nvPr/>
        </p:nvSpPr>
        <p:spPr>
          <a:xfrm xmlns:a="http://schemas.openxmlformats.org/drawingml/2006/main">
            <a:off x="4319930" y="455371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Assemble the three into one chronological timeline with a single vocabulary.</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Attribute every fact to its source, so the staff member can see where each element came from.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Never merge conflicting facts into a synthesised answer — show both and mark which source owns that fact.</a:t>
            </a:r>
            <a:endParaRPr sz="950"/>
          </a:p>
        </p:txBody>
      </p:sp>
      <p:sp>
        <p:nvSpPr>
          <p:cNvPr id="37" name="Text 35">
            <a:extLst xmlns:a="http://schemas.openxmlformats.org/drawingml/2006/main">
              <a:ext uri="{FF2B5EF4-FFF2-40B4-BE49-F238E27FC236}">
                <a16:creationId xmlns:a16="http://schemas.microsoft.com/office/drawing/2014/main" id="{9C28E174-8BB5-4640-AD06-5711680C0B04}"/>
              </a:ext>
            </a:extLst>
          </p:cNvPr>
          <p:cNvSpPr>
            <a:spLocks xmlns:a="http://schemas.openxmlformats.org/drawingml/2006/main" noGrp="1"/>
          </p:cNvSpPr>
          <p:nvPr/>
        </p:nvSpPr>
        <p:spPr>
          <a:xfrm xmlns:a="http://schemas.openxmlformats.org/drawingml/2006/main">
            <a:off x="8072933" y="4169664"/>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Why attribution matters here</a:t>
            </a:r>
            <a:endParaRPr sz="1100"/>
          </a:p>
        </p:txBody>
      </p:sp>
      <p:sp>
        <p:nvSpPr>
          <p:cNvPr id="38" name="Shape 36">
            <a:extLst xmlns:a="http://schemas.openxmlformats.org/drawingml/2006/main">
              <a:ext uri="{FF2B5EF4-FFF2-40B4-BE49-F238E27FC236}">
                <a16:creationId xmlns:a16="http://schemas.microsoft.com/office/drawing/2014/main" id="{26EFC4E0-7FF4-44C1-B429-3DA3BE49046A}"/>
              </a:ext>
            </a:extLst>
          </p:cNvPr>
          <p:cNvSpPr>
            <a:spLocks xmlns:a="http://schemas.openxmlformats.org/drawingml/2006/main" noGrp="1"/>
          </p:cNvSpPr>
          <p:nvPr/>
        </p:nvSpPr>
        <p:spPr>
          <a:xfrm xmlns:a="http://schemas.openxmlformats.org/drawingml/2006/main">
            <a:off x="8072933" y="4425696"/>
            <a:ext cx="3551834" cy="20117"/>
          </a:xfrm>
          <a:prstGeom xmlns:a="http://schemas.openxmlformats.org/drawingml/2006/main" prst="rect">
            <a:avLst/>
          </a:prstGeom>
          <a:solidFill xmlns:a="http://schemas.openxmlformats.org/drawingml/2006/main">
            <a:srgbClr val="486581"/>
          </a:solidFill>
        </p:spPr>
      </p:sp>
      <p:sp>
        <p:nvSpPr>
          <p:cNvPr id="39" name="Text 37">
            <a:extLst xmlns:a="http://schemas.openxmlformats.org/drawingml/2006/main">
              <a:ext uri="{FF2B5EF4-FFF2-40B4-BE49-F238E27FC236}">
                <a16:creationId xmlns:a16="http://schemas.microsoft.com/office/drawing/2014/main" id="{073EFC25-9B70-4140-98EF-AC8828A6044B}"/>
              </a:ext>
            </a:extLst>
          </p:cNvPr>
          <p:cNvSpPr>
            <a:spLocks xmlns:a="http://schemas.openxmlformats.org/drawingml/2006/main" noGrp="1"/>
          </p:cNvSpPr>
          <p:nvPr/>
        </p:nvSpPr>
        <p:spPr>
          <a:xfrm xmlns:a="http://schemas.openxmlformats.org/drawingml/2006/main">
            <a:off x="8072933" y="4553712"/>
            <a:ext cx="3551834"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card decline explanation can end up in a dispute, so the basis has to be traceable.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Sources genuinely disagree sometimes, usually on timing, and hiding that produces confident wrong answers.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Showing the authority also teaches staff the model, which reduces escalation over time.</a:t>
            </a:r>
            <a:endParaRPr sz="950"/>
          </a:p>
        </p:txBody>
      </p:sp>
      <p:sp>
        <p:nvSpPr>
          <p:cNvPr id="40" name="Shape 38">
            <a:extLst xmlns:a="http://schemas.openxmlformats.org/drawingml/2006/main">
              <a:ext uri="{FF2B5EF4-FFF2-40B4-BE49-F238E27FC236}">
                <a16:creationId xmlns:a16="http://schemas.microsoft.com/office/drawing/2014/main" id="{D76914DF-79E6-41FA-A87C-3A6F991BA6D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41" name="Text 39">
            <a:extLst xmlns:a="http://schemas.openxmlformats.org/drawingml/2006/main">
              <a:ext uri="{FF2B5EF4-FFF2-40B4-BE49-F238E27FC236}">
                <a16:creationId xmlns:a16="http://schemas.microsoft.com/office/drawing/2014/main" id="{7C859B5C-7867-46CE-B4E0-5529CFB8B11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2025 engagement · author's analysis</a:t>
            </a:r>
            <a:endParaRPr sz="850"/>
          </a:p>
        </p:txBody>
      </p:sp>
      <p:sp>
        <p:nvSpPr>
          <p:cNvPr id="42" name="Text 40">
            <a:extLst xmlns:a="http://schemas.openxmlformats.org/drawingml/2006/main">
              <a:ext uri="{FF2B5EF4-FFF2-40B4-BE49-F238E27FC236}">
                <a16:creationId xmlns:a16="http://schemas.microsoft.com/office/drawing/2014/main" id="{EA9C1646-5E15-4C37-810A-7A6E9F1BE911}"/>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2104448316"/>
      </p:ext>
    </p:extLst>
  </p:cSld>
</p:sld>
</file>

<file path=ppt/slides/slide28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45C3579-5FA9-4FD9-8D8C-310401819A98}"/>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VISIBLE HALF</a:t>
            </a:r>
            <a:endParaRPr sz="950"/>
          </a:p>
        </p:txBody>
      </p:sp>
      <p:sp>
        <p:nvSpPr>
          <p:cNvPr id="3" name="Text 1">
            <a:extLst xmlns:a="http://schemas.openxmlformats.org/drawingml/2006/main">
              <a:ext uri="{FF2B5EF4-FFF2-40B4-BE49-F238E27FC236}">
                <a16:creationId xmlns:a16="http://schemas.microsoft.com/office/drawing/2014/main" id="{E1342438-8836-4189-8DB7-8AA5122CCDE9}"/>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servicing view answers one member's question; the dashboard answers whether</a:t>
            </a:r>
            <a:endParaRPr sz="1900"/>
          </a:p>
          <a:p xmlns:a="http://schemas.openxmlformats.org/drawingml/2006/main">
            <a:pPr marL="0" indent="0">
              <a:lnSpc>
                <a:spcPts val="2400"/>
              </a:lnSpc>
              <a:buNone/>
            </a:pPr>
            <a:r>
              <a:rPr sz="1900" b="1">
                <a:solidFill>
                  <a:srgbClr val="102A43"/>
                </a:solidFill>
                <a:latin typeface="Arial"/>
                <a:ea typeface="Arial"/>
                <a:cs typeface="Arial"/>
              </a:rPr>
              <a:t>the institution has a card problem at all</a:t>
            </a:r>
            <a:endParaRPr sz="1900"/>
          </a:p>
        </p:txBody>
      </p:sp>
      <p:graphicFrame>
        <p:nvGraphicFramePr>
          <p:cNvPr id="18" name="Chart 0"/>
          <p:cNvGraphicFramePr/>
          <p:nvPr/>
        </p:nvGraphicFramePr>
        <p:xfrm>
          <a:off xmlns:a="http://schemas.openxmlformats.org/drawingml/2006/main" x="566928" y="1426464"/>
          <a:ext xmlns:a="http://schemas.openxmlformats.org/drawingml/2006/main" cx="5760720" cy="2560320"/>
        </p:xfrm>
        <a:graphic xmlns:a="http://schemas.openxmlformats.org/drawingml/2006/main">
          <a:graphicData uri="http://schemas.openxmlformats.org/drawingml/2006/chart">
            <c:chart xmlns:r="http://schemas.openxmlformats.org/officeDocument/2006/relationships" xmlns:c="http://schemas.openxmlformats.org/drawingml/2006/chart" r:id="Rcba1d8e231b54bfb"/>
          </a:graphicData>
        </a:graphic>
      </p:graphicFrame>
      <p:sp>
        <p:nvSpPr>
          <p:cNvPr id="5" name="Text 2">
            <a:extLst xmlns:a="http://schemas.openxmlformats.org/drawingml/2006/main">
              <a:ext uri="{FF2B5EF4-FFF2-40B4-BE49-F238E27FC236}">
                <a16:creationId xmlns:a16="http://schemas.microsoft.com/office/drawing/2014/main" id="{38311E3E-1CAC-4F06-B360-0BAF340B2EBE}"/>
              </a:ext>
            </a:extLst>
          </p:cNvPr>
          <p:cNvSpPr>
            <a:spLocks xmlns:a="http://schemas.openxmlformats.org/drawingml/2006/main" noGrp="1"/>
          </p:cNvSpPr>
          <p:nvPr/>
        </p:nvSpPr>
        <p:spPr>
          <a:xfrm xmlns:a="http://schemas.openxmlformats.org/drawingml/2006/main">
            <a:off x="566928" y="4151376"/>
            <a:ext cx="576072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80" i="1">
                <a:solidFill>
                  <a:srgbClr val="627D98"/>
                </a:solidFill>
                <a:latin typeface="Arial"/>
                <a:ea typeface="Arial"/>
                <a:cs typeface="Arial"/>
              </a:rPr>
              <a:t>Illustrative card query mix — the largest category is also the one needing all three sources</a:t>
            </a:r>
            <a:endParaRPr sz="880"/>
          </a:p>
        </p:txBody>
      </p:sp>
      <p:sp>
        <p:nvSpPr>
          <p:cNvPr id="6" name="Text 3">
            <a:extLst xmlns:a="http://schemas.openxmlformats.org/drawingml/2006/main">
              <a:ext uri="{FF2B5EF4-FFF2-40B4-BE49-F238E27FC236}">
                <a16:creationId xmlns:a16="http://schemas.microsoft.com/office/drawing/2014/main" id="{7B8657EA-4331-4AA4-A013-C24D95118B2B}"/>
              </a:ext>
            </a:extLst>
          </p:cNvPr>
          <p:cNvSpPr>
            <a:spLocks xmlns:a="http://schemas.openxmlformats.org/drawingml/2006/main" noGrp="1"/>
          </p:cNvSpPr>
          <p:nvPr/>
        </p:nvSpPr>
        <p:spPr>
          <a:xfrm xmlns:a="http://schemas.openxmlformats.org/drawingml/2006/main">
            <a:off x="6693408" y="1426464"/>
            <a:ext cx="492861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the dashboard made visible</a:t>
            </a:r>
            <a:endParaRPr sz="1100"/>
          </a:p>
        </p:txBody>
      </p:sp>
      <p:sp>
        <p:nvSpPr>
          <p:cNvPr id="7" name="Shape 4">
            <a:extLst xmlns:a="http://schemas.openxmlformats.org/drawingml/2006/main">
              <a:ext uri="{FF2B5EF4-FFF2-40B4-BE49-F238E27FC236}">
                <a16:creationId xmlns:a16="http://schemas.microsoft.com/office/drawing/2014/main" id="{C37D035A-1A28-4C3C-B600-7EEB1A37BC65}"/>
              </a:ext>
            </a:extLst>
          </p:cNvPr>
          <p:cNvSpPr>
            <a:spLocks xmlns:a="http://schemas.openxmlformats.org/drawingml/2006/main" noGrp="1"/>
          </p:cNvSpPr>
          <p:nvPr/>
        </p:nvSpPr>
        <p:spPr>
          <a:xfrm xmlns:a="http://schemas.openxmlformats.org/drawingml/2006/main">
            <a:off x="6693408" y="1682496"/>
            <a:ext cx="4928616" cy="20117"/>
          </a:xfrm>
          <a:prstGeom xmlns:a="http://schemas.openxmlformats.org/drawingml/2006/main" prst="rect">
            <a:avLst/>
          </a:prstGeom>
          <a:solidFill xmlns:a="http://schemas.openxmlformats.org/drawingml/2006/main">
            <a:srgbClr val="102A43"/>
          </a:solidFill>
        </p:spPr>
      </p:sp>
      <p:sp>
        <p:nvSpPr>
          <p:cNvPr id="8" name="Text 5">
            <a:extLst xmlns:a="http://schemas.openxmlformats.org/drawingml/2006/main">
              <a:ext uri="{FF2B5EF4-FFF2-40B4-BE49-F238E27FC236}">
                <a16:creationId xmlns:a16="http://schemas.microsoft.com/office/drawing/2014/main" id="{6EF927D8-EBBF-478A-AD68-ADA370321544}"/>
              </a:ext>
            </a:extLst>
          </p:cNvPr>
          <p:cNvSpPr>
            <a:spLocks xmlns:a="http://schemas.openxmlformats.org/drawingml/2006/main" noGrp="1"/>
          </p:cNvSpPr>
          <p:nvPr/>
        </p:nvSpPr>
        <p:spPr>
          <a:xfrm xmlns:a="http://schemas.openxmlformats.org/drawingml/2006/main">
            <a:off x="6693408" y="1828800"/>
            <a:ext cx="4928616" cy="20116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Query volume by cause rather than by channel, which is the cut that suggests a fix.</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Decline reasons in aggregate — where a control setting is generating avoidable member contact.</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Whether a spike is a member-behaviour change, a processor change or something the institution did.</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Which queries resolve at first contact now that all three sources are in one place.</a:t>
            </a:r>
            <a:endParaRPr sz="950"/>
          </a:p>
        </p:txBody>
      </p:sp>
      <p:sp>
        <p:nvSpPr>
          <p:cNvPr id="9" name="Shape 6">
            <a:extLst xmlns:a="http://schemas.openxmlformats.org/drawingml/2006/main">
              <a:ext uri="{FF2B5EF4-FFF2-40B4-BE49-F238E27FC236}">
                <a16:creationId xmlns:a16="http://schemas.microsoft.com/office/drawing/2014/main" id="{225199C5-6F5E-4609-AFC4-AD1A8D39E58D}"/>
              </a:ext>
            </a:extLst>
          </p:cNvPr>
          <p:cNvSpPr>
            <a:spLocks xmlns:a="http://schemas.openxmlformats.org/drawingml/2006/main" noGrp="1"/>
          </p:cNvSpPr>
          <p:nvPr/>
        </p:nvSpPr>
        <p:spPr>
          <a:xfrm xmlns:a="http://schemas.openxmlformats.org/drawingml/2006/main">
            <a:off x="566928" y="4443984"/>
            <a:ext cx="11057839" cy="1627632"/>
          </a:xfrm>
          <a:prstGeom xmlns:a="http://schemas.openxmlformats.org/drawingml/2006/main" prst="rect">
            <a:avLst/>
          </a:prstGeom>
          <a:solidFill xmlns:a="http://schemas.openxmlformats.org/drawingml/2006/main">
            <a:srgbClr val="F3E6E0"/>
          </a:solidFill>
        </p:spPr>
      </p:sp>
      <p:sp>
        <p:nvSpPr>
          <p:cNvPr id="10" name="Text 7">
            <a:extLst xmlns:a="http://schemas.openxmlformats.org/drawingml/2006/main">
              <a:ext uri="{FF2B5EF4-FFF2-40B4-BE49-F238E27FC236}">
                <a16:creationId xmlns:a16="http://schemas.microsoft.com/office/drawing/2014/main" id="{2F992F89-A5D4-431D-8D4D-13D43E05D449}"/>
              </a:ext>
            </a:extLst>
          </p:cNvPr>
          <p:cNvSpPr>
            <a:spLocks xmlns:a="http://schemas.openxmlformats.org/drawingml/2006/main" noGrp="1"/>
          </p:cNvSpPr>
          <p:nvPr/>
        </p:nvSpPr>
        <p:spPr>
          <a:xfrm xmlns:a="http://schemas.openxmlformats.org/drawingml/2006/main">
            <a:off x="804672" y="459028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the two halves had to ship together</a:t>
            </a:r>
            <a:endParaRPr sz="1100"/>
          </a:p>
        </p:txBody>
      </p:sp>
      <p:sp>
        <p:nvSpPr>
          <p:cNvPr id="11" name="Text 8">
            <a:extLst xmlns:a="http://schemas.openxmlformats.org/drawingml/2006/main">
              <a:ext uri="{FF2B5EF4-FFF2-40B4-BE49-F238E27FC236}">
                <a16:creationId xmlns:a16="http://schemas.microsoft.com/office/drawing/2014/main" id="{4402E77E-D7EA-4170-B847-CC54A4A081D4}"/>
              </a:ext>
            </a:extLst>
          </p:cNvPr>
          <p:cNvSpPr>
            <a:spLocks xmlns:a="http://schemas.openxmlformats.org/drawingml/2006/main" noGrp="1"/>
          </p:cNvSpPr>
          <p:nvPr/>
        </p:nvSpPr>
        <p:spPr>
          <a:xfrm xmlns:a="http://schemas.openxmlformats.org/drawingml/2006/main">
            <a:off x="804672" y="4846320"/>
            <a:ext cx="10582351"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servicing view without the dashboard makes individual conversations better and tells the institution nothing about whether the underlying volume is avoidable. The dashboard without the servicing view produces a chart of a problem nobody can act on in the moment.</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Together they close a loop: a staff member answers the member using assembled facts, the disposition is captured once from that same view, and the aggregate then shows which decline reasons or control settings are generating the contact in the first place. Several of the largest categories in a card query mix are usually self-inflicted — a control set too tightly, an unclear notification — and they are only visible once the individual answers are being captured consistently.</a:t>
            </a:r>
            <a:endParaRPr sz="990"/>
          </a:p>
        </p:txBody>
      </p:sp>
      <p:sp>
        <p:nvSpPr>
          <p:cNvPr id="12" name="Shape 9">
            <a:extLst xmlns:a="http://schemas.openxmlformats.org/drawingml/2006/main">
              <a:ext uri="{FF2B5EF4-FFF2-40B4-BE49-F238E27FC236}">
                <a16:creationId xmlns:a16="http://schemas.microsoft.com/office/drawing/2014/main" id="{8497D9E5-7509-48F6-AB77-FF411C9AA6B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3" name="Text 10">
            <a:extLst xmlns:a="http://schemas.openxmlformats.org/drawingml/2006/main">
              <a:ext uri="{FF2B5EF4-FFF2-40B4-BE49-F238E27FC236}">
                <a16:creationId xmlns:a16="http://schemas.microsoft.com/office/drawing/2014/main" id="{BE55A2E7-E9AE-439E-A620-EDC361EB580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analysis — query mix is illustrative</a:t>
            </a:r>
            <a:endParaRPr sz="850"/>
          </a:p>
        </p:txBody>
      </p:sp>
      <p:sp>
        <p:nvSpPr>
          <p:cNvPr id="14" name="Text 11">
            <a:extLst xmlns:a="http://schemas.openxmlformats.org/drawingml/2006/main">
              <a:ext uri="{FF2B5EF4-FFF2-40B4-BE49-F238E27FC236}">
                <a16:creationId xmlns:a16="http://schemas.microsoft.com/office/drawing/2014/main" id="{580B4E8E-0872-4B3C-9FED-E16272EFFA7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49343631"/>
      </p:ext>
    </p:extLst>
  </p:cSld>
</p:sld>
</file>

<file path=ppt/slides/slide28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0FEAD0-17BE-4973-8B52-E38FD1D53EA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CD35A9A9-8BA3-40C4-85A6-D247FC84CC35}"/>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servicing across several systems of record</a:t>
            </a:r>
            <a:endParaRPr sz="1900"/>
          </a:p>
        </p:txBody>
      </p:sp>
      <p:sp>
        <p:nvSpPr>
          <p:cNvPr id="4" name="Text 2">
            <a:extLst xmlns:a="http://schemas.openxmlformats.org/drawingml/2006/main">
              <a:ext uri="{FF2B5EF4-FFF2-40B4-BE49-F238E27FC236}">
                <a16:creationId xmlns:a16="http://schemas.microsoft.com/office/drawing/2014/main" id="{F574E3AB-2AB3-4FFC-8E84-543503B1280B}"/>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FD4EA751-06B6-4EDD-A010-1D7D5920C43A}"/>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Assemble and attribute, never adjudicate</a:t>
            </a:r>
            <a:endParaRPr sz="1200"/>
          </a:p>
        </p:txBody>
      </p:sp>
      <p:sp>
        <p:nvSpPr>
          <p:cNvPr id="6" name="Text 4">
            <a:extLst xmlns:a="http://schemas.openxmlformats.org/drawingml/2006/main">
              <a:ext uri="{FF2B5EF4-FFF2-40B4-BE49-F238E27FC236}">
                <a16:creationId xmlns:a16="http://schemas.microsoft.com/office/drawing/2014/main" id="{0C706D48-65CA-4B87-914D-13C65D920D7E}"/>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Where several systems each own part of one event, show what each says and which is authoritative for that fact. A merged answer that no source would confirm is worse than showing the disagreement.</a:t>
            </a:r>
            <a:endParaRPr sz="1000"/>
          </a:p>
        </p:txBody>
      </p:sp>
      <p:sp>
        <p:nvSpPr>
          <p:cNvPr id="7" name="Shape 5">
            <a:extLst xmlns:a="http://schemas.openxmlformats.org/drawingml/2006/main">
              <a:ext uri="{FF2B5EF4-FFF2-40B4-BE49-F238E27FC236}">
                <a16:creationId xmlns:a16="http://schemas.microsoft.com/office/drawing/2014/main" id="{243BD07C-E950-42DB-9B06-E2BE6CA63ED2}"/>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9970DDC8-5170-4497-B7E0-93157C5597F0}"/>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E50FCAD5-1447-4ECA-A78C-767D2A017B06}"/>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Normalise the vocabulary and the clock</a:t>
            </a:r>
            <a:endParaRPr sz="1200"/>
          </a:p>
        </p:txBody>
      </p:sp>
      <p:sp>
        <p:nvSpPr>
          <p:cNvPr id="10" name="Text 8">
            <a:extLst xmlns:a="http://schemas.openxmlformats.org/drawingml/2006/main">
              <a:ext uri="{FF2B5EF4-FFF2-40B4-BE49-F238E27FC236}">
                <a16:creationId xmlns:a16="http://schemas.microsoft.com/office/drawing/2014/main" id="{2F1B98F3-2451-4D2C-9B08-CE8203C1EEC1}"/>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Most of the difficulty is not data access — it is that three systems name the same event differently and timestamp it on different conventions. Ordering the sequence correctly is the actual engineering.</a:t>
            </a:r>
            <a:endParaRPr sz="1000"/>
          </a:p>
        </p:txBody>
      </p:sp>
      <p:sp>
        <p:nvSpPr>
          <p:cNvPr id="11" name="Shape 9">
            <a:extLst xmlns:a="http://schemas.openxmlformats.org/drawingml/2006/main">
              <a:ext uri="{FF2B5EF4-FFF2-40B4-BE49-F238E27FC236}">
                <a16:creationId xmlns:a16="http://schemas.microsoft.com/office/drawing/2014/main" id="{21178C0A-6DB9-4417-BE33-07C461D34B86}"/>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C9523AAF-1311-413E-AE92-9ADA776FABD1}"/>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D5B5E19B-83E5-4C3B-BCB3-163D9FB32B3E}"/>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Ship the aggregate with the individual view</a:t>
            </a:r>
            <a:endParaRPr sz="1200"/>
          </a:p>
        </p:txBody>
      </p:sp>
      <p:sp>
        <p:nvSpPr>
          <p:cNvPr id="14" name="Text 12">
            <a:extLst xmlns:a="http://schemas.openxmlformats.org/drawingml/2006/main">
              <a:ext uri="{FF2B5EF4-FFF2-40B4-BE49-F238E27FC236}">
                <a16:creationId xmlns:a16="http://schemas.microsoft.com/office/drawing/2014/main" id="{24E2D7FA-B11F-4B53-8E26-3FB23A1F7BCE}"/>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Answering one member better is worth little if the institution cannot see which causes generate the volume. The disposition captured in the servicing view is what makes the aggregate real.</a:t>
            </a:r>
            <a:endParaRPr sz="1000"/>
          </a:p>
        </p:txBody>
      </p:sp>
      <p:sp>
        <p:nvSpPr>
          <p:cNvPr id="15" name="Shape 13">
            <a:extLst xmlns:a="http://schemas.openxmlformats.org/drawingml/2006/main">
              <a:ext uri="{FF2B5EF4-FFF2-40B4-BE49-F238E27FC236}">
                <a16:creationId xmlns:a16="http://schemas.microsoft.com/office/drawing/2014/main" id="{A5EB0169-905A-486A-9C30-5872577F0187}"/>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6D26813D-AE7D-4A00-89A2-09AA21B7D48E}"/>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0DEA4132-DD6D-41D4-BB01-852F6C04F1A5}"/>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Expect the largest cause to be self-inflicted</a:t>
            </a:r>
            <a:endParaRPr sz="1200"/>
          </a:p>
        </p:txBody>
      </p:sp>
      <p:sp>
        <p:nvSpPr>
          <p:cNvPr id="18" name="Text 16">
            <a:extLst xmlns:a="http://schemas.openxmlformats.org/drawingml/2006/main">
              <a:ext uri="{FF2B5EF4-FFF2-40B4-BE49-F238E27FC236}">
                <a16:creationId xmlns:a16="http://schemas.microsoft.com/office/drawing/2014/main" id="{01FF3A44-BADF-4E87-9409-369EA6D2BE74}"/>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In servicing mixes of this kind, the biggest category is usually a control set too tightly or a notification that does not explain itself. It only becomes visible once individual answers are captured consistently.</a:t>
            </a:r>
            <a:endParaRPr sz="1000"/>
          </a:p>
        </p:txBody>
      </p:sp>
      <p:sp>
        <p:nvSpPr>
          <p:cNvPr id="19" name="Shape 17">
            <a:extLst xmlns:a="http://schemas.openxmlformats.org/drawingml/2006/main">
              <a:ext uri="{FF2B5EF4-FFF2-40B4-BE49-F238E27FC236}">
                <a16:creationId xmlns:a16="http://schemas.microsoft.com/office/drawing/2014/main" id="{4612CFB8-2CC2-4B56-A750-32D50B5461A2}"/>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9EF0CA13-F6F5-4803-B2D1-774A4F7CD82B}"/>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member asked one question. Answering it required three systems, three vocabularies and three clocks — and the institution could not see how often that was happening until the answering itself was made consistent.</a:t>
            </a:r>
            <a:endParaRPr sz="1200"/>
          </a:p>
        </p:txBody>
      </p:sp>
      <p:sp>
        <p:nvSpPr>
          <p:cNvPr id="21" name="Shape 19">
            <a:extLst xmlns:a="http://schemas.openxmlformats.org/drawingml/2006/main">
              <a:ext uri="{FF2B5EF4-FFF2-40B4-BE49-F238E27FC236}">
                <a16:creationId xmlns:a16="http://schemas.microsoft.com/office/drawing/2014/main" id="{0DC6C2FC-6B2B-4489-854B-0791CDCFA757}"/>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1BD22074-24E5-43F1-8E4B-04251DFEE0F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0AB4DF8B-CA41-40EC-AF52-0110DD77CFB9}"/>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661825794"/>
      </p:ext>
    </p:extLst>
  </p:cSld>
</p:sld>
</file>

<file path=ppt/slides/slide285.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994F1F-ACD7-4438-988B-6B4024265DA7}"/>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ANALYTICS CASE  ·  29 OF 30</a:t>
            </a:r>
            <a:endParaRPr sz="950"/>
          </a:p>
        </p:txBody>
      </p:sp>
      <p:sp>
        <p:nvSpPr>
          <p:cNvPr id="3" name="Text 1">
            <a:extLst xmlns:a="http://schemas.openxmlformats.org/drawingml/2006/main">
              <a:ext uri="{FF2B5EF4-FFF2-40B4-BE49-F238E27FC236}">
                <a16:creationId xmlns:a16="http://schemas.microsoft.com/office/drawing/2014/main" id="{972CB9FD-8204-48AB-B612-2D92C9142A29}"/>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Magnifi Financial</a:t>
            </a:r>
            <a:endParaRPr sz="3800"/>
          </a:p>
        </p:txBody>
      </p:sp>
      <p:sp>
        <p:nvSpPr>
          <p:cNvPr id="4" name="Text 2">
            <a:extLst xmlns:a="http://schemas.openxmlformats.org/drawingml/2006/main">
              <a:ext uri="{FF2B5EF4-FFF2-40B4-BE49-F238E27FC236}">
                <a16:creationId xmlns:a16="http://schemas.microsoft.com/office/drawing/2014/main" id="{72155F33-D4E4-4220-91C7-154C13B8E396}"/>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Member banding and lifetime value — segmentation in an institution the members own</a:t>
            </a:r>
            <a:endParaRPr sz="1800"/>
          </a:p>
        </p:txBody>
      </p:sp>
      <p:sp>
        <p:nvSpPr>
          <p:cNvPr id="5" name="Text 3">
            <a:extLst xmlns:a="http://schemas.openxmlformats.org/drawingml/2006/main">
              <a:ext uri="{FF2B5EF4-FFF2-40B4-BE49-F238E27FC236}">
                <a16:creationId xmlns:a16="http://schemas.microsoft.com/office/drawing/2014/main" id="{D6692E05-B0F9-4145-AB79-D275BF433058}"/>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Lifetime value is a straightforward idea in a shareholder-owned bank and a genuinely awkward one in a cooperative. If the members own the institution, ranking them by profitability is not obviously the right thing to do — which makes the design question interesting rather than technical.</a:t>
            </a:r>
            <a:endParaRPr sz="1150"/>
          </a:p>
        </p:txBody>
      </p:sp>
      <p:sp>
        <p:nvSpPr>
          <p:cNvPr id="6" name="Shape 4">
            <a:extLst xmlns:a="http://schemas.openxmlformats.org/drawingml/2006/main">
              <a:ext uri="{FF2B5EF4-FFF2-40B4-BE49-F238E27FC236}">
                <a16:creationId xmlns:a16="http://schemas.microsoft.com/office/drawing/2014/main" id="{9FFF3911-02C1-4E19-A9EC-182852BD24CD}"/>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E645BD9A-1AFD-477E-8E2B-658C9336959F}"/>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~$2.4B</a:t>
            </a:r>
            <a:endParaRPr sz="2600"/>
          </a:p>
        </p:txBody>
      </p:sp>
      <p:sp>
        <p:nvSpPr>
          <p:cNvPr id="8" name="Text 6">
            <a:extLst xmlns:a="http://schemas.openxmlformats.org/drawingml/2006/main">
              <a:ext uri="{FF2B5EF4-FFF2-40B4-BE49-F238E27FC236}">
                <a16:creationId xmlns:a16="http://schemas.microsoft.com/office/drawing/2014/main" id="{FAB53DB4-3180-4B71-9CE3-B95BE5D04818}"/>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assets</a:t>
            </a:r>
            <a:endParaRPr sz="900"/>
          </a:p>
        </p:txBody>
      </p:sp>
      <p:sp>
        <p:nvSpPr>
          <p:cNvPr id="9" name="Text 7">
            <a:extLst xmlns:a="http://schemas.openxmlformats.org/drawingml/2006/main">
              <a:ext uri="{FF2B5EF4-FFF2-40B4-BE49-F238E27FC236}">
                <a16:creationId xmlns:a16="http://schemas.microsoft.com/office/drawing/2014/main" id="{A49B625C-78B2-4E49-A359-FBA344BE4F2A}"/>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~85K</a:t>
            </a:r>
            <a:endParaRPr sz="2600"/>
          </a:p>
        </p:txBody>
      </p:sp>
      <p:sp>
        <p:nvSpPr>
          <p:cNvPr id="10" name="Text 8">
            <a:extLst xmlns:a="http://schemas.openxmlformats.org/drawingml/2006/main">
              <a:ext uri="{FF2B5EF4-FFF2-40B4-BE49-F238E27FC236}">
                <a16:creationId xmlns:a16="http://schemas.microsoft.com/office/drawing/2014/main" id="{529B60D3-F7FD-4B6D-9F05-F1E4369E15ED}"/>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members</a:t>
            </a:r>
            <a:endParaRPr sz="900"/>
          </a:p>
        </p:txBody>
      </p:sp>
      <p:sp>
        <p:nvSpPr>
          <p:cNvPr id="11" name="Text 9">
            <a:extLst xmlns:a="http://schemas.openxmlformats.org/drawingml/2006/main">
              <a:ext uri="{FF2B5EF4-FFF2-40B4-BE49-F238E27FC236}">
                <a16:creationId xmlns:a16="http://schemas.microsoft.com/office/drawing/2014/main" id="{DDBDDF3C-66A2-45AE-8390-F0F5AD70AE48}"/>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25+</a:t>
            </a:r>
            <a:endParaRPr sz="2600"/>
          </a:p>
        </p:txBody>
      </p:sp>
      <p:sp>
        <p:nvSpPr>
          <p:cNvPr id="12" name="Text 10">
            <a:extLst xmlns:a="http://schemas.openxmlformats.org/drawingml/2006/main">
              <a:ext uri="{FF2B5EF4-FFF2-40B4-BE49-F238E27FC236}">
                <a16:creationId xmlns:a16="http://schemas.microsoft.com/office/drawing/2014/main" id="{0C52F2BF-AD2B-4BDF-954E-8A08A14F750A}"/>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branches</a:t>
            </a:r>
            <a:endParaRPr sz="900"/>
          </a:p>
        </p:txBody>
      </p:sp>
      <p:sp>
        <p:nvSpPr>
          <p:cNvPr id="13" name="Text 11">
            <a:extLst xmlns:a="http://schemas.openxmlformats.org/drawingml/2006/main">
              <a:ext uri="{FF2B5EF4-FFF2-40B4-BE49-F238E27FC236}">
                <a16:creationId xmlns:a16="http://schemas.microsoft.com/office/drawing/2014/main" id="{6D27AEF4-80E9-40A9-B0E6-8305013162E3}"/>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1939</a:t>
            </a:r>
            <a:endParaRPr sz="2600"/>
          </a:p>
        </p:txBody>
      </p:sp>
      <p:sp>
        <p:nvSpPr>
          <p:cNvPr id="14" name="Text 12">
            <a:extLst xmlns:a="http://schemas.openxmlformats.org/drawingml/2006/main">
              <a:ext uri="{FF2B5EF4-FFF2-40B4-BE49-F238E27FC236}">
                <a16:creationId xmlns:a16="http://schemas.microsoft.com/office/drawing/2014/main" id="{82B6FE86-573D-40BE-97BE-E8AF632550B6}"/>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chartered</a:t>
            </a:r>
            <a:endParaRPr sz="900"/>
          </a:p>
        </p:txBody>
      </p:sp>
      <p:sp>
        <p:nvSpPr>
          <p:cNvPr id="15" name="Text 13">
            <a:extLst xmlns:a="http://schemas.openxmlformats.org/drawingml/2006/main">
              <a:ext uri="{FF2B5EF4-FFF2-40B4-BE49-F238E27FC236}">
                <a16:creationId xmlns:a16="http://schemas.microsoft.com/office/drawing/2014/main" id="{A87E7A79-481D-4177-8112-E2C9F2C27487}"/>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6" name="Text 14">
            <a:extLst xmlns:a="http://schemas.openxmlformats.org/drawingml/2006/main">
              <a:ext uri="{FF2B5EF4-FFF2-40B4-BE49-F238E27FC236}">
                <a16:creationId xmlns:a16="http://schemas.microsoft.com/office/drawing/2014/main" id="{13708148-47E5-4163-A2FB-91403BDF2916}"/>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value model,</a:t>
            </a:r>
            <a:endParaRPr sz="900"/>
          </a:p>
          <a:p xmlns:a="http://schemas.openxmlformats.org/drawingml/2006/main">
            <a:pPr marL="0" indent="0">
              <a:lnSpc>
                <a:spcPts val="1100"/>
              </a:lnSpc>
              <a:buNone/>
            </a:pPr>
            <a:r>
              <a:rPr sz="900">
                <a:solidFill>
                  <a:srgbClr val="8FA9C4"/>
                </a:solidFill>
                <a:latin typeface="Arial"/>
                <a:ea typeface="Arial"/>
                <a:cs typeface="Arial"/>
              </a:rPr>
              <a:t>reframed</a:t>
            </a:r>
            <a:endParaRPr sz="900"/>
          </a:p>
        </p:txBody>
      </p:sp>
      <p:sp>
        <p:nvSpPr>
          <p:cNvPr id="17" name="Text 15">
            <a:extLst xmlns:a="http://schemas.openxmlformats.org/drawingml/2006/main">
              <a:ext uri="{FF2B5EF4-FFF2-40B4-BE49-F238E27FC236}">
                <a16:creationId xmlns:a16="http://schemas.microsoft.com/office/drawing/2014/main" id="{39F578CF-4275-43F4-AD1B-4D8C1C51602A}"/>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a:t>
            </a:r>
            <a:endParaRPr sz="2600"/>
          </a:p>
        </p:txBody>
      </p:sp>
      <p:sp>
        <p:nvSpPr>
          <p:cNvPr id="18" name="Text 16">
            <a:extLst xmlns:a="http://schemas.openxmlformats.org/drawingml/2006/main">
              <a:ext uri="{FF2B5EF4-FFF2-40B4-BE49-F238E27FC236}">
                <a16:creationId xmlns:a16="http://schemas.microsoft.com/office/drawing/2014/main" id="{33F97639-01CD-4BA9-B873-375F364FCA18}"/>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action hub</a:t>
            </a:r>
            <a:endParaRPr sz="900"/>
          </a:p>
          <a:p xmlns:a="http://schemas.openxmlformats.org/drawingml/2006/main">
            <a:pPr marL="0" indent="0">
              <a:lnSpc>
                <a:spcPts val="1100"/>
              </a:lnSpc>
              <a:buNone/>
            </a:pPr>
            <a:r>
              <a:rPr sz="900">
                <a:solidFill>
                  <a:srgbClr val="8FA9C4"/>
                </a:solidFill>
                <a:latin typeface="Arial"/>
                <a:ea typeface="Arial"/>
                <a:cs typeface="Arial"/>
              </a:rPr>
              <a:t>above it</a:t>
            </a:r>
            <a:endParaRPr sz="900"/>
          </a:p>
        </p:txBody>
      </p:sp>
      <p:sp>
        <p:nvSpPr>
          <p:cNvPr id="19" name="Shape 17">
            <a:extLst xmlns:a="http://schemas.openxmlformats.org/drawingml/2006/main">
              <a:ext uri="{FF2B5EF4-FFF2-40B4-BE49-F238E27FC236}">
                <a16:creationId xmlns:a16="http://schemas.microsoft.com/office/drawing/2014/main" id="{9ACA7A73-2BE8-43CB-A310-62EEF13A83EF}"/>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DA21F8E2-B86B-4B3B-9C07-DD5FDFFFADFD}"/>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INSTITUTION CONTEXT  ·  PUBLICLY REPORTED</a:t>
            </a:r>
            <a:endParaRPr sz="800"/>
          </a:p>
        </p:txBody>
      </p:sp>
      <p:sp>
        <p:nvSpPr>
          <p:cNvPr id="21" name="Text 19">
            <a:extLst xmlns:a="http://schemas.openxmlformats.org/drawingml/2006/main">
              <a:ext uri="{FF2B5EF4-FFF2-40B4-BE49-F238E27FC236}">
                <a16:creationId xmlns:a16="http://schemas.microsoft.com/office/drawing/2014/main" id="{6D1B8EED-2DE8-430B-9E9B-6391164A05E7}"/>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Melrose, Minnesota · roughly $2.4bn in assets and about 85,000 members · a leading agricultural lender in the state and an SBA preferred lender</a:t>
            </a:r>
            <a:endParaRPr sz="1050"/>
          </a:p>
        </p:txBody>
      </p:sp>
      <p:sp>
        <p:nvSpPr>
          <p:cNvPr id="22" name="Text 20">
            <a:extLst xmlns:a="http://schemas.openxmlformats.org/drawingml/2006/main">
              <a:ext uri="{FF2B5EF4-FFF2-40B4-BE49-F238E27FC236}">
                <a16:creationId xmlns:a16="http://schemas.microsoft.com/office/drawing/2014/main" id="{240E4287-96F1-4DCD-850E-80F5CC70E57F}"/>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data insights and member analytics  ·  2023–2024</a:t>
            </a:r>
            <a:endParaRPr sz="1200"/>
          </a:p>
        </p:txBody>
      </p:sp>
      <p:sp>
        <p:nvSpPr>
          <p:cNvPr id="23" name="Text 21">
            <a:extLst xmlns:a="http://schemas.openxmlformats.org/drawingml/2006/main">
              <a:ext uri="{FF2B5EF4-FFF2-40B4-BE49-F238E27FC236}">
                <a16:creationId xmlns:a16="http://schemas.microsoft.com/office/drawing/2014/main" id="{4EB47B6E-0304-49D6-91BB-7C69566A4072}"/>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Vendor and platform names removed. Institutional figures are publicly reported; the banding model and action design are from the delivery record.</a:t>
            </a:r>
            <a:endParaRPr sz="850"/>
          </a:p>
        </p:txBody>
      </p:sp>
    </p:spTree>
    <p:extLst>
      <p:ext uri="{BB962C8B-B14F-4D97-AF65-F5344CB8AC3E}">
        <p14:creationId xmlns:p14="http://schemas.microsoft.com/office/powerpoint/2010/main" val="1299339419"/>
      </p:ext>
    </p:extLst>
  </p:cSld>
</p:sld>
</file>

<file path=ppt/slides/slide28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3042D55-EC72-41C3-B252-E523BFAEDB0D}"/>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1F7FD9CA-CDAF-4CF1-A189-67DB822B69B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Lifetime value in a member-owned institution has to answer a different question —</a:t>
            </a:r>
            <a:endParaRPr sz="1900"/>
          </a:p>
          <a:p xmlns:a="http://schemas.openxmlformats.org/drawingml/2006/main">
            <a:pPr marL="0" indent="0">
              <a:lnSpc>
                <a:spcPts val="2400"/>
              </a:lnSpc>
              <a:buNone/>
            </a:pPr>
            <a:r>
              <a:rPr sz="1900" b="1">
                <a:solidFill>
                  <a:srgbClr val="102A43"/>
                </a:solidFill>
                <a:latin typeface="Arial"/>
                <a:ea typeface="Arial"/>
                <a:cs typeface="Arial"/>
              </a:rPr>
              <a:t>not who is worth most, but who is underserved relative to their needs</a:t>
            </a:r>
            <a:endParaRPr sz="1900"/>
          </a:p>
        </p:txBody>
      </p:sp>
      <p:sp>
        <p:nvSpPr>
          <p:cNvPr id="4" name="Shape 2">
            <a:extLst xmlns:a="http://schemas.openxmlformats.org/drawingml/2006/main">
              <a:ext uri="{FF2B5EF4-FFF2-40B4-BE49-F238E27FC236}">
                <a16:creationId xmlns:a16="http://schemas.microsoft.com/office/drawing/2014/main" id="{92C0B875-9750-4014-94DD-0F7CD8FAFE32}"/>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A57BF86A-17F0-4C70-8CC9-7370E5E4F891}"/>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274653A6-730A-4385-BE0C-E06E1E5FB727}"/>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A member-owned cooperative of roughly $2.4 billion in assets serving about 85,000 members across Minnesota, with a strong agricultural and small-business lending position.</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institution wanted segmentation and lifetime value to direct engagement effort, which is finite.</a:t>
            </a:r>
            <a:endParaRPr sz="980"/>
          </a:p>
        </p:txBody>
      </p:sp>
      <p:sp>
        <p:nvSpPr>
          <p:cNvPr id="7" name="Shape 5">
            <a:extLst xmlns:a="http://schemas.openxmlformats.org/drawingml/2006/main">
              <a:ext uri="{FF2B5EF4-FFF2-40B4-BE49-F238E27FC236}">
                <a16:creationId xmlns:a16="http://schemas.microsoft.com/office/drawing/2014/main" id="{F56A8427-DD3D-48A9-8C03-4550D54CD701}"/>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3042A715-5E80-4C0C-80DC-51D6E31A5C2B}"/>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5852ECF4-29ED-420A-AB05-EE80292DAFF6}"/>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standard construction ranks members by contribution and concentrates effort at the top. In a cooperative that is uncomfortable at best — the members are the owners, and a model that formalises serving some of them better than others is a governance question, not just an analytics one.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It is also operationally wrong here. A young member with a first account and an agricultural family with three generations of borrowing look very different on contribution and are both exactly who the institution exists for.</a:t>
            </a:r>
            <a:endParaRPr sz="980"/>
          </a:p>
        </p:txBody>
      </p:sp>
      <p:sp>
        <p:nvSpPr>
          <p:cNvPr id="10" name="Shape 8">
            <a:extLst xmlns:a="http://schemas.openxmlformats.org/drawingml/2006/main">
              <a:ext uri="{FF2B5EF4-FFF2-40B4-BE49-F238E27FC236}">
                <a16:creationId xmlns:a16="http://schemas.microsoft.com/office/drawing/2014/main" id="{9901A8BF-3389-4D72-80F3-65CDB97E0F84}"/>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0DF58EAB-B2AD-4688-9F03-FED60D69C9D1}"/>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reframe</a:t>
            </a:r>
            <a:endParaRPr sz="1250"/>
          </a:p>
        </p:txBody>
      </p:sp>
      <p:sp>
        <p:nvSpPr>
          <p:cNvPr id="12" name="Text 10">
            <a:extLst xmlns:a="http://schemas.openxmlformats.org/drawingml/2006/main">
              <a:ext uri="{FF2B5EF4-FFF2-40B4-BE49-F238E27FC236}">
                <a16:creationId xmlns:a16="http://schemas.microsoft.com/office/drawing/2014/main" id="{2E66A11F-871B-47B7-BA9E-59872BD6C575}"/>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Band members by relationship depth and trajectory rather than by contribution alone, and use lifetime value to identify where the institution is underserving relative to what a member appears to need.</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 output is not a ranking of members. It is a list of mismatches — members whose needs and holdings have diverged — which is both more actionable and consistent with the mandate.</a:t>
            </a:r>
            <a:endParaRPr sz="980"/>
          </a:p>
        </p:txBody>
      </p:sp>
      <p:sp>
        <p:nvSpPr>
          <p:cNvPr id="13" name="Text 11">
            <a:extLst xmlns:a="http://schemas.openxmlformats.org/drawingml/2006/main">
              <a:ext uri="{FF2B5EF4-FFF2-40B4-BE49-F238E27FC236}">
                <a16:creationId xmlns:a16="http://schemas.microsoft.com/office/drawing/2014/main" id="{34844DDE-01C2-4008-8D16-59A986A2729D}"/>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3BA4F564-546B-47AC-B5FE-7F861D7B80DB}"/>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B27F5D7C-9783-4273-8312-8C370B0C8041}"/>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6" name="Text 14">
            <a:extLst xmlns:a="http://schemas.openxmlformats.org/drawingml/2006/main">
              <a:ext uri="{FF2B5EF4-FFF2-40B4-BE49-F238E27FC236}">
                <a16:creationId xmlns:a16="http://schemas.microsoft.com/office/drawing/2014/main" id="{B218E996-D440-476A-9765-DF81139A366A}"/>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reframe, from rank to mismatch</a:t>
            </a:r>
            <a:endParaRPr sz="860"/>
          </a:p>
        </p:txBody>
      </p:sp>
      <p:sp>
        <p:nvSpPr>
          <p:cNvPr id="17" name="Shape 15">
            <a:extLst xmlns:a="http://schemas.openxmlformats.org/drawingml/2006/main">
              <a:ext uri="{FF2B5EF4-FFF2-40B4-BE49-F238E27FC236}">
                <a16:creationId xmlns:a16="http://schemas.microsoft.com/office/drawing/2014/main" id="{9DA15592-9E24-423A-8FBD-9F1A7D00F4BD}"/>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6342A6A0-DDB4-42A5-BABB-1EBABFC75C4F}"/>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3</a:t>
            </a:r>
            <a:endParaRPr sz="2100"/>
          </a:p>
        </p:txBody>
      </p:sp>
      <p:sp>
        <p:nvSpPr>
          <p:cNvPr id="19" name="Text 17">
            <a:extLst xmlns:a="http://schemas.openxmlformats.org/drawingml/2006/main">
              <a:ext uri="{FF2B5EF4-FFF2-40B4-BE49-F238E27FC236}">
                <a16:creationId xmlns:a16="http://schemas.microsoft.com/office/drawing/2014/main" id="{0AEC7FFD-824F-46F8-ACF9-5464326D071C}"/>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banding dimensions</a:t>
            </a:r>
            <a:endParaRPr sz="860"/>
          </a:p>
        </p:txBody>
      </p:sp>
      <p:sp>
        <p:nvSpPr>
          <p:cNvPr id="20" name="Shape 18">
            <a:extLst xmlns:a="http://schemas.openxmlformats.org/drawingml/2006/main">
              <a:ext uri="{FF2B5EF4-FFF2-40B4-BE49-F238E27FC236}">
                <a16:creationId xmlns:a16="http://schemas.microsoft.com/office/drawing/2014/main" id="{DAE7476B-F83C-4500-B235-505CA6044185}"/>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EFB3AF33-C1B6-439C-B162-1F7FE657F376}"/>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2" name="Text 20">
            <a:extLst xmlns:a="http://schemas.openxmlformats.org/drawingml/2006/main">
              <a:ext uri="{FF2B5EF4-FFF2-40B4-BE49-F238E27FC236}">
                <a16:creationId xmlns:a16="http://schemas.microsoft.com/office/drawing/2014/main" id="{E4112EE7-51E2-4FD0-8359-6F97DE42894E}"/>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action hub</a:t>
            </a:r>
            <a:endParaRPr sz="860"/>
          </a:p>
        </p:txBody>
      </p:sp>
      <p:sp>
        <p:nvSpPr>
          <p:cNvPr id="23" name="Shape 21">
            <a:extLst xmlns:a="http://schemas.openxmlformats.org/drawingml/2006/main">
              <a:ext uri="{FF2B5EF4-FFF2-40B4-BE49-F238E27FC236}">
                <a16:creationId xmlns:a16="http://schemas.microsoft.com/office/drawing/2014/main" id="{A949A8C3-54F9-490D-A480-4FBCD0280AE0}"/>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73E9F373-75E5-4CCF-AE83-16A46B4D9891}"/>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5" name="Text 23">
            <a:extLst xmlns:a="http://schemas.openxmlformats.org/drawingml/2006/main">
              <a:ext uri="{FF2B5EF4-FFF2-40B4-BE49-F238E27FC236}">
                <a16:creationId xmlns:a16="http://schemas.microsoft.com/office/drawing/2014/main" id="{9EC90AA9-EBCF-4A62-B59A-565D1347A3D1}"/>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members deprioritised</a:t>
            </a:r>
            <a:endParaRPr sz="860"/>
          </a:p>
        </p:txBody>
      </p:sp>
      <p:sp>
        <p:nvSpPr>
          <p:cNvPr id="26" name="Shape 24">
            <a:extLst xmlns:a="http://schemas.openxmlformats.org/drawingml/2006/main">
              <a:ext uri="{FF2B5EF4-FFF2-40B4-BE49-F238E27FC236}">
                <a16:creationId xmlns:a16="http://schemas.microsoft.com/office/drawing/2014/main" id="{9533D53D-A63A-4EB9-943F-4C0E89B54A7D}"/>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1159C5B7-7F03-458C-8964-95CBBB1176B6}"/>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28" name="Text 26">
            <a:extLst xmlns:a="http://schemas.openxmlformats.org/drawingml/2006/main">
              <a:ext uri="{FF2B5EF4-FFF2-40B4-BE49-F238E27FC236}">
                <a16:creationId xmlns:a16="http://schemas.microsoft.com/office/drawing/2014/main" id="{5ECA3D59-4DDB-4934-890F-CDB080E7C80A}"/>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governance conversation, early</a:t>
            </a:r>
            <a:endParaRPr sz="860"/>
          </a:p>
        </p:txBody>
      </p:sp>
      <p:sp>
        <p:nvSpPr>
          <p:cNvPr id="29" name="Shape 27">
            <a:extLst xmlns:a="http://schemas.openxmlformats.org/drawingml/2006/main">
              <a:ext uri="{FF2B5EF4-FFF2-40B4-BE49-F238E27FC236}">
                <a16:creationId xmlns:a16="http://schemas.microsoft.com/office/drawing/2014/main" id="{415769CE-21F6-406D-A4C0-9636A48990CA}"/>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FFAA1045-C9B1-4942-B970-DB6B1806DC59}"/>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2</a:t>
            </a:r>
            <a:endParaRPr sz="2100"/>
          </a:p>
        </p:txBody>
      </p:sp>
      <p:sp>
        <p:nvSpPr>
          <p:cNvPr id="31" name="Text 29">
            <a:extLst xmlns:a="http://schemas.openxmlformats.org/drawingml/2006/main">
              <a:ext uri="{FF2B5EF4-FFF2-40B4-BE49-F238E27FC236}">
                <a16:creationId xmlns:a16="http://schemas.microsoft.com/office/drawing/2014/main" id="{6BFCBE5C-933B-4BA2-A588-BD209640054A}"/>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trajectories tracked</a:t>
            </a:r>
            <a:endParaRPr sz="860"/>
          </a:p>
        </p:txBody>
      </p:sp>
      <p:sp>
        <p:nvSpPr>
          <p:cNvPr id="32" name="Text 30">
            <a:extLst xmlns:a="http://schemas.openxmlformats.org/drawingml/2006/main">
              <a:ext uri="{FF2B5EF4-FFF2-40B4-BE49-F238E27FC236}">
                <a16:creationId xmlns:a16="http://schemas.microsoft.com/office/drawing/2014/main" id="{9F61A526-5611-42DC-B474-601B51C90F28}"/>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the reframe is not a euphemism:  a mismatch list is genuinely more useful than a ranking. A high-value member who is well served needs nothing; a modest member whose circumstances have clearly changed needs a conversation. Ranking by contribution puts effort where the money already is, which is precisely where the marginal return is lowest.</a:t>
            </a:r>
            <a:endParaRPr sz="1000"/>
          </a:p>
        </p:txBody>
      </p:sp>
      <p:sp>
        <p:nvSpPr>
          <p:cNvPr id="33" name="Shape 31">
            <a:extLst xmlns:a="http://schemas.openxmlformats.org/drawingml/2006/main">
              <a:ext uri="{FF2B5EF4-FFF2-40B4-BE49-F238E27FC236}">
                <a16:creationId xmlns:a16="http://schemas.microsoft.com/office/drawing/2014/main" id="{972CB73A-DE29-4D9B-8A93-1E69644210F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FE1902FB-490C-4BC7-90BF-FFE3B78B3182}"/>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35" name="Text 33">
            <a:extLst xmlns:a="http://schemas.openxmlformats.org/drawingml/2006/main">
              <a:ext uri="{FF2B5EF4-FFF2-40B4-BE49-F238E27FC236}">
                <a16:creationId xmlns:a16="http://schemas.microsoft.com/office/drawing/2014/main" id="{598ACECC-5001-4F74-8789-1B309CF1255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1893347516"/>
      </p:ext>
    </p:extLst>
  </p:cSld>
</p:sld>
</file>

<file path=ppt/slides/slide28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D97D204-E0F0-4E7B-BF1B-AB9C1A6F063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7B27D854-D31D-4227-A662-F713E975222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Institutional scale is publicly reported; the banding model and the action design</a:t>
            </a:r>
            <a:endParaRPr sz="1900"/>
          </a:p>
          <a:p xmlns:a="http://schemas.openxmlformats.org/drawingml/2006/main">
            <a:pPr marL="0" indent="0">
              <a:lnSpc>
                <a:spcPts val="2400"/>
              </a:lnSpc>
              <a:buNone/>
            </a:pPr>
            <a:r>
              <a:rPr sz="1900" b="1">
                <a:solidFill>
                  <a:srgbClr val="102A43"/>
                </a:solidFill>
                <a:latin typeface="Arial"/>
                <a:ea typeface="Arial"/>
                <a:cs typeface="Arial"/>
              </a:rPr>
              <a:t>come from the delivery record</a:t>
            </a:r>
            <a:endParaRPr sz="1900"/>
          </a:p>
        </p:txBody>
      </p:sp>
      <p:sp>
        <p:nvSpPr>
          <p:cNvPr id="4" name="Shape 2">
            <a:extLst xmlns:a="http://schemas.openxmlformats.org/drawingml/2006/main">
              <a:ext uri="{FF2B5EF4-FFF2-40B4-BE49-F238E27FC236}">
                <a16:creationId xmlns:a16="http://schemas.microsoft.com/office/drawing/2014/main" id="{5CDF78CE-51EB-4A33-8727-6CD0AE5CBCB1}"/>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7C096668-5A9D-47D7-B095-375704DE9A7D}"/>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3BDA76D8-6D54-46E4-927F-54A5779EA4F3}"/>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PUBLICLY REPORTED</a:t>
            </a:r>
            <a:endParaRPr sz="740"/>
          </a:p>
        </p:txBody>
      </p:sp>
      <p:sp>
        <p:nvSpPr>
          <p:cNvPr id="7" name="Text 5">
            <a:extLst xmlns:a="http://schemas.openxmlformats.org/drawingml/2006/main">
              <a:ext uri="{FF2B5EF4-FFF2-40B4-BE49-F238E27FC236}">
                <a16:creationId xmlns:a16="http://schemas.microsoft.com/office/drawing/2014/main" id="{351511C1-4EFD-41A0-82F1-F62010B8DB06}"/>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Institution context</a:t>
            </a:r>
            <a:endParaRPr sz="1200"/>
          </a:p>
        </p:txBody>
      </p:sp>
      <p:sp>
        <p:nvSpPr>
          <p:cNvPr id="8" name="Text 6">
            <a:extLst xmlns:a="http://schemas.openxmlformats.org/drawingml/2006/main">
              <a:ext uri="{FF2B5EF4-FFF2-40B4-BE49-F238E27FC236}">
                <a16:creationId xmlns:a16="http://schemas.microsoft.com/office/drawing/2014/main" id="{F906F23A-771B-4B1D-8752-5C31B1DDEE4F}"/>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Scale and positioning figures from public credit union reporting.</a:t>
            </a:r>
            <a:endParaRPr sz="920"/>
          </a:p>
        </p:txBody>
      </p:sp>
      <p:sp>
        <p:nvSpPr>
          <p:cNvPr id="9" name="Shape 7">
            <a:extLst xmlns:a="http://schemas.openxmlformats.org/drawingml/2006/main">
              <a:ext uri="{FF2B5EF4-FFF2-40B4-BE49-F238E27FC236}">
                <a16:creationId xmlns:a16="http://schemas.microsoft.com/office/drawing/2014/main" id="{AA872DBB-F874-46F9-978D-D9A842D8FD8C}"/>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2B6EBA50-7FA7-4442-9681-7FCD075BA06B}"/>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~$2.4bn total assets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~85,000 members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Chartered 1939, Melrose, Minnesota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25+ branch locations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Leading state agricultural lender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SBA preferred lender</a:t>
            </a:r>
            <a:endParaRPr sz="930"/>
          </a:p>
        </p:txBody>
      </p:sp>
      <p:sp>
        <p:nvSpPr>
          <p:cNvPr id="11" name="Shape 9">
            <a:extLst xmlns:a="http://schemas.openxmlformats.org/drawingml/2006/main">
              <a:ext uri="{FF2B5EF4-FFF2-40B4-BE49-F238E27FC236}">
                <a16:creationId xmlns:a16="http://schemas.microsoft.com/office/drawing/2014/main" id="{F8E1A772-202E-42C3-936E-AFC8ACE40BD3}"/>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A52709A6-E763-496D-9EEA-F1BD7238DB31}"/>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9815333A-B038-4B20-964C-00F6F1892E14}"/>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DELIVERY RECORD</a:t>
            </a:r>
            <a:endParaRPr sz="740"/>
          </a:p>
        </p:txBody>
      </p:sp>
      <p:sp>
        <p:nvSpPr>
          <p:cNvPr id="14" name="Text 12">
            <a:extLst xmlns:a="http://schemas.openxmlformats.org/drawingml/2006/main">
              <a:ext uri="{FF2B5EF4-FFF2-40B4-BE49-F238E27FC236}">
                <a16:creationId xmlns:a16="http://schemas.microsoft.com/office/drawing/2014/main" id="{70EB0692-365D-4496-AB85-184575478BD0}"/>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ownership</a:t>
            </a:r>
            <a:endParaRPr sz="1200"/>
          </a:p>
        </p:txBody>
      </p:sp>
      <p:sp>
        <p:nvSpPr>
          <p:cNvPr id="15" name="Text 13">
            <a:extLst xmlns:a="http://schemas.openxmlformats.org/drawingml/2006/main">
              <a:ext uri="{FF2B5EF4-FFF2-40B4-BE49-F238E27FC236}">
                <a16:creationId xmlns:a16="http://schemas.microsoft.com/office/drawing/2014/main" id="{C3674548-E9B4-443B-9CEA-9655D1EBD4A2}"/>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Data insights and member analytics delivery during the 2023–2024 engagement.</a:t>
            </a:r>
            <a:endParaRPr sz="920"/>
          </a:p>
        </p:txBody>
      </p:sp>
      <p:sp>
        <p:nvSpPr>
          <p:cNvPr id="16" name="Shape 14">
            <a:extLst xmlns:a="http://schemas.openxmlformats.org/drawingml/2006/main">
              <a:ext uri="{FF2B5EF4-FFF2-40B4-BE49-F238E27FC236}">
                <a16:creationId xmlns:a16="http://schemas.microsoft.com/office/drawing/2014/main" id="{7E0EF868-6157-446C-8F68-979266F6C7B0}"/>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6A187D14-26C5-41C7-9011-D3B20ED3328B}"/>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Member banding model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Lifetime value construction and reframe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Mismatch identification method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Action hub design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Governance framing with the institution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Requirement through production</a:t>
            </a:r>
            <a:endParaRPr sz="930"/>
          </a:p>
        </p:txBody>
      </p:sp>
      <p:sp>
        <p:nvSpPr>
          <p:cNvPr id="18" name="Shape 16">
            <a:extLst xmlns:a="http://schemas.openxmlformats.org/drawingml/2006/main">
              <a:ext uri="{FF2B5EF4-FFF2-40B4-BE49-F238E27FC236}">
                <a16:creationId xmlns:a16="http://schemas.microsoft.com/office/drawing/2014/main" id="{FBDBD9BC-B9A5-49A2-9203-9D96F2F66C65}"/>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596A0632-B8A2-4584-BACB-AB58F2A6F01C}"/>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9FCC0F77-72A3-4FC8-B56F-D9D466C9547A}"/>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METHOD ILLUSTRATION</a:t>
            </a:r>
            <a:endParaRPr sz="740"/>
          </a:p>
        </p:txBody>
      </p:sp>
      <p:sp>
        <p:nvSpPr>
          <p:cNvPr id="21" name="Text 19">
            <a:extLst xmlns:a="http://schemas.openxmlformats.org/drawingml/2006/main">
              <a:ext uri="{FF2B5EF4-FFF2-40B4-BE49-F238E27FC236}">
                <a16:creationId xmlns:a16="http://schemas.microsoft.com/office/drawing/2014/main" id="{105BF01A-544E-4C90-8A74-183E412A8220}"/>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Reconstructed</a:t>
            </a:r>
            <a:endParaRPr sz="1200"/>
          </a:p>
        </p:txBody>
      </p:sp>
      <p:sp>
        <p:nvSpPr>
          <p:cNvPr id="22" name="Text 20">
            <a:extLst xmlns:a="http://schemas.openxmlformats.org/drawingml/2006/main">
              <a:ext uri="{FF2B5EF4-FFF2-40B4-BE49-F238E27FC236}">
                <a16:creationId xmlns:a16="http://schemas.microsoft.com/office/drawing/2014/main" id="{BF6AAAE9-8497-461E-AE8F-0FBBCC6426D0}"/>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design detail shown illustrates the approach taken. Specific definitions, categories and figures are reconstructed for presentation and are not quoted from the programme record.</a:t>
            </a:r>
            <a:endParaRPr sz="920"/>
          </a:p>
        </p:txBody>
      </p:sp>
      <p:sp>
        <p:nvSpPr>
          <p:cNvPr id="23" name="Shape 21">
            <a:extLst xmlns:a="http://schemas.openxmlformats.org/drawingml/2006/main">
              <a:ext uri="{FF2B5EF4-FFF2-40B4-BE49-F238E27FC236}">
                <a16:creationId xmlns:a16="http://schemas.microsoft.com/office/drawing/2014/main" id="{EA45E9D4-2C4D-4283-BBD5-8D46ABF01BC8}"/>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8CCD69EF-ACEF-4043-A21A-97C606DCC482}"/>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Approach is from the engagement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Detail is reconstructed to illustrate it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Figures are directional, never measured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Confirm specifics before citing them</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The method is what transfers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Ask me for the underlying record</a:t>
            </a:r>
            <a:endParaRPr sz="930"/>
          </a:p>
        </p:txBody>
      </p:sp>
      <p:sp>
        <p:nvSpPr>
          <p:cNvPr id="25" name="Shape 23">
            <a:extLst xmlns:a="http://schemas.openxmlformats.org/drawingml/2006/main">
              <a:ext uri="{FF2B5EF4-FFF2-40B4-BE49-F238E27FC236}">
                <a16:creationId xmlns:a16="http://schemas.microsoft.com/office/drawing/2014/main" id="{D8905D40-0DD6-475F-8FD8-F2D7C308DE36}"/>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DC595174-244A-4494-9D8B-9681EF55750C}"/>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BDDA7ACF-26F1-4D7C-B71A-5234AD643446}"/>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AB3DB115-1785-46A0-8F02-27603CAF9D33}"/>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B22A6CB0-765C-445B-B8DC-5F13BC5251EC}"/>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a:t>
            </a:r>
            <a:endParaRPr sz="920"/>
          </a:p>
        </p:txBody>
      </p:sp>
      <p:sp>
        <p:nvSpPr>
          <p:cNvPr id="30" name="Shape 28">
            <a:extLst xmlns:a="http://schemas.openxmlformats.org/drawingml/2006/main">
              <a:ext uri="{FF2B5EF4-FFF2-40B4-BE49-F238E27FC236}">
                <a16:creationId xmlns:a16="http://schemas.microsoft.com/office/drawing/2014/main" id="{2CB4C936-FBA6-4C99-AB4D-5690610175A5}"/>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8C1F2A94-767B-43A6-A34C-274EED0BF4C9}"/>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member or account data</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individual member's value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Institution financial outcomes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document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Pricing or credit decisions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engagement</a:t>
            </a:r>
            <a:endParaRPr sz="930"/>
          </a:p>
        </p:txBody>
      </p:sp>
      <p:sp>
        <p:nvSpPr>
          <p:cNvPr id="32" name="Shape 30">
            <a:extLst xmlns:a="http://schemas.openxmlformats.org/drawingml/2006/main">
              <a:ext uri="{FF2B5EF4-FFF2-40B4-BE49-F238E27FC236}">
                <a16:creationId xmlns:a16="http://schemas.microsoft.com/office/drawing/2014/main" id="{5ADE07D1-AADF-4A6D-A04C-18AF06EDA5D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6B390AE2-DC5B-4BB5-9E08-B67E1B817A08}"/>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Public credit union figures (context) · author's delivery record (model and design)</a:t>
            </a:r>
            <a:endParaRPr sz="850"/>
          </a:p>
        </p:txBody>
      </p:sp>
      <p:sp>
        <p:nvSpPr>
          <p:cNvPr id="34" name="Text 32">
            <a:extLst xmlns:a="http://schemas.openxmlformats.org/drawingml/2006/main">
              <a:ext uri="{FF2B5EF4-FFF2-40B4-BE49-F238E27FC236}">
                <a16:creationId xmlns:a16="http://schemas.microsoft.com/office/drawing/2014/main" id="{F94393DC-90F7-4884-B08D-C05E1C20400A}"/>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1763957416"/>
      </p:ext>
    </p:extLst>
  </p:cSld>
</p:sld>
</file>

<file path=ppt/slides/slide28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868680-EB19-4E9C-8A25-81B8C590F4A0}"/>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BANDING MODEL</a:t>
            </a:r>
            <a:endParaRPr sz="950"/>
          </a:p>
        </p:txBody>
      </p:sp>
      <p:sp>
        <p:nvSpPr>
          <p:cNvPr id="3" name="Text 1">
            <a:extLst xmlns:a="http://schemas.openxmlformats.org/drawingml/2006/main">
              <a:ext uri="{FF2B5EF4-FFF2-40B4-BE49-F238E27FC236}">
                <a16:creationId xmlns:a16="http://schemas.microsoft.com/office/drawing/2014/main" id="{4CD017A9-6719-4B98-B541-603F43A0544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dimensions rather than one — depth, trajectory and life stage, because a</a:t>
            </a:r>
            <a:endParaRPr sz="1900"/>
          </a:p>
          <a:p xmlns:a="http://schemas.openxmlformats.org/drawingml/2006/main">
            <a:pPr marL="0" indent="0">
              <a:lnSpc>
                <a:spcPts val="2400"/>
              </a:lnSpc>
              <a:buNone/>
            </a:pPr>
            <a:r>
              <a:rPr sz="1900" b="1">
                <a:solidFill>
                  <a:srgbClr val="102A43"/>
                </a:solidFill>
                <a:latin typeface="Arial"/>
                <a:ea typeface="Arial"/>
                <a:cs typeface="Arial"/>
              </a:rPr>
              <a:t>single contribution axis describes a member badly</a:t>
            </a:r>
            <a:endParaRPr sz="1900"/>
          </a:p>
        </p:txBody>
      </p:sp>
      <p:sp>
        <p:nvSpPr>
          <p:cNvPr id="4" name="Shape 2">
            <a:extLst xmlns:a="http://schemas.openxmlformats.org/drawingml/2006/main">
              <a:ext uri="{FF2B5EF4-FFF2-40B4-BE49-F238E27FC236}">
                <a16:creationId xmlns:a16="http://schemas.microsoft.com/office/drawing/2014/main" id="{18E5CBDA-1C0F-4902-9FAD-DCC6CDB79088}"/>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DF8C1409-544C-467A-923D-605E54BB451F}"/>
              </a:ext>
            </a:extLst>
          </p:cNvPr>
          <p:cNvSpPr>
            <a:spLocks xmlns:a="http://schemas.openxmlformats.org/drawingml/2006/main" noGrp="1"/>
          </p:cNvSpPr>
          <p:nvPr/>
        </p:nvSpPr>
        <p:spPr>
          <a:xfrm xmlns:a="http://schemas.openxmlformats.org/drawingml/2006/main">
            <a:off x="786384"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Relationship depth</a:t>
            </a:r>
            <a:endParaRPr sz="1300"/>
          </a:p>
        </p:txBody>
      </p:sp>
      <p:sp>
        <p:nvSpPr>
          <p:cNvPr id="6" name="Text 4">
            <a:extLst xmlns:a="http://schemas.openxmlformats.org/drawingml/2006/main">
              <a:ext uri="{FF2B5EF4-FFF2-40B4-BE49-F238E27FC236}">
                <a16:creationId xmlns:a16="http://schemas.microsoft.com/office/drawing/2014/main" id="{001A823F-1C6A-45AB-B162-4492E7F36289}"/>
              </a:ext>
            </a:extLst>
          </p:cNvPr>
          <p:cNvSpPr>
            <a:spLocks xmlns:a="http://schemas.openxmlformats.org/drawingml/2006/main" noGrp="1"/>
          </p:cNvSpPr>
          <p:nvPr/>
        </p:nvSpPr>
        <p:spPr>
          <a:xfrm xmlns:a="http://schemas.openxmlformats.org/drawingml/2006/main">
            <a:off x="786384" y="1847088"/>
            <a:ext cx="311292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How much of the member's financial life the institution holds — products, tenure, whether it is their primary institution.</a:t>
            </a:r>
            <a:endParaRPr sz="950"/>
          </a:p>
        </p:txBody>
      </p:sp>
      <p:sp>
        <p:nvSpPr>
          <p:cNvPr id="7" name="Shape 5">
            <a:extLst xmlns:a="http://schemas.openxmlformats.org/drawingml/2006/main">
              <a:ext uri="{FF2B5EF4-FFF2-40B4-BE49-F238E27FC236}">
                <a16:creationId xmlns:a16="http://schemas.microsoft.com/office/drawing/2014/main" id="{11A55C2C-7D31-4D3A-A306-C5BD8244F9AC}"/>
              </a:ext>
            </a:extLst>
          </p:cNvPr>
          <p:cNvSpPr>
            <a:spLocks xmlns:a="http://schemas.openxmlformats.org/drawingml/2006/main" noGrp="1"/>
          </p:cNvSpPr>
          <p:nvPr/>
        </p:nvSpPr>
        <p:spPr>
          <a:xfrm xmlns:a="http://schemas.openxmlformats.org/drawingml/2006/main">
            <a:off x="786384" y="2852928"/>
            <a:ext cx="3112922"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434796E3-7AA3-4D52-8FB9-4F833954E582}"/>
              </a:ext>
            </a:extLst>
          </p:cNvPr>
          <p:cNvSpPr>
            <a:spLocks xmlns:a="http://schemas.openxmlformats.org/drawingml/2006/main" noGrp="1"/>
          </p:cNvSpPr>
          <p:nvPr/>
        </p:nvSpPr>
        <p:spPr>
          <a:xfrm xmlns:a="http://schemas.openxmlformats.org/drawingml/2006/main">
            <a:off x="786384" y="2980944"/>
            <a:ext cx="311292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B04A25"/>
                </a:solidFill>
                <a:latin typeface="Arial"/>
                <a:ea typeface="Arial"/>
                <a:cs typeface="Arial"/>
              </a:rPr>
              <a:t>Depth is what predicts both retention and future need, and it is largely independent of current contribution.</a:t>
            </a:r>
            <a:endParaRPr sz="940"/>
          </a:p>
        </p:txBody>
      </p:sp>
      <p:sp>
        <p:nvSpPr>
          <p:cNvPr id="9" name="Shape 7">
            <a:extLst xmlns:a="http://schemas.openxmlformats.org/drawingml/2006/main">
              <a:ext uri="{FF2B5EF4-FFF2-40B4-BE49-F238E27FC236}">
                <a16:creationId xmlns:a16="http://schemas.microsoft.com/office/drawing/2014/main" id="{4D556217-16B6-4147-9684-F5A8B414E855}"/>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0D183550-35C8-413A-9423-4CE6FAEEC959}"/>
              </a:ext>
            </a:extLst>
          </p:cNvPr>
          <p:cNvSpPr>
            <a:spLocks xmlns:a="http://schemas.openxmlformats.org/drawingml/2006/main" noGrp="1"/>
          </p:cNvSpPr>
          <p:nvPr/>
        </p:nvSpPr>
        <p:spPr>
          <a:xfrm xmlns:a="http://schemas.openxmlformats.org/drawingml/2006/main">
            <a:off x="4539386"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Trajectory</a:t>
            </a:r>
            <a:endParaRPr sz="1300"/>
          </a:p>
        </p:txBody>
      </p:sp>
      <p:sp>
        <p:nvSpPr>
          <p:cNvPr id="11" name="Text 9">
            <a:extLst xmlns:a="http://schemas.openxmlformats.org/drawingml/2006/main">
              <a:ext uri="{FF2B5EF4-FFF2-40B4-BE49-F238E27FC236}">
                <a16:creationId xmlns:a16="http://schemas.microsoft.com/office/drawing/2014/main" id="{5F241982-64D8-4E54-B332-2254F55CCC7B}"/>
              </a:ext>
            </a:extLst>
          </p:cNvPr>
          <p:cNvSpPr>
            <a:spLocks xmlns:a="http://schemas.openxmlformats.org/drawingml/2006/main" noGrp="1"/>
          </p:cNvSpPr>
          <p:nvPr/>
        </p:nvSpPr>
        <p:spPr>
          <a:xfrm xmlns:a="http://schemas.openxmlformats.org/drawingml/2006/main">
            <a:off x="4539386" y="1847088"/>
            <a:ext cx="311292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Whether the relationship is deepening, stable or thinning, measured over a rolling window rather than at a point.</a:t>
            </a:r>
            <a:endParaRPr sz="950"/>
          </a:p>
        </p:txBody>
      </p:sp>
      <p:sp>
        <p:nvSpPr>
          <p:cNvPr id="12" name="Shape 10">
            <a:extLst xmlns:a="http://schemas.openxmlformats.org/drawingml/2006/main">
              <a:ext uri="{FF2B5EF4-FFF2-40B4-BE49-F238E27FC236}">
                <a16:creationId xmlns:a16="http://schemas.microsoft.com/office/drawing/2014/main" id="{7FEBEBE3-9A91-4690-9E34-310400B1F1C5}"/>
              </a:ext>
            </a:extLst>
          </p:cNvPr>
          <p:cNvSpPr>
            <a:spLocks xmlns:a="http://schemas.openxmlformats.org/drawingml/2006/main" noGrp="1"/>
          </p:cNvSpPr>
          <p:nvPr/>
        </p:nvSpPr>
        <p:spPr>
          <a:xfrm xmlns:a="http://schemas.openxmlformats.org/drawingml/2006/main">
            <a:off x="4539386" y="2852928"/>
            <a:ext cx="3112922"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05887D2C-B6B5-4C46-925E-B215CCFD0560}"/>
              </a:ext>
            </a:extLst>
          </p:cNvPr>
          <p:cNvSpPr>
            <a:spLocks xmlns:a="http://schemas.openxmlformats.org/drawingml/2006/main" noGrp="1"/>
          </p:cNvSpPr>
          <p:nvPr/>
        </p:nvSpPr>
        <p:spPr>
          <a:xfrm xmlns:a="http://schemas.openxmlformats.org/drawingml/2006/main">
            <a:off x="4539386" y="2980944"/>
            <a:ext cx="311292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B04A25"/>
                </a:solidFill>
                <a:latin typeface="Arial"/>
                <a:ea typeface="Arial"/>
                <a:cs typeface="Arial"/>
              </a:rPr>
              <a:t>A thinning relationship is the single most actionable signal in the model, and it is invisible in a static ranking.</a:t>
            </a:r>
            <a:endParaRPr sz="940"/>
          </a:p>
        </p:txBody>
      </p:sp>
      <p:sp>
        <p:nvSpPr>
          <p:cNvPr id="14" name="Shape 12">
            <a:extLst xmlns:a="http://schemas.openxmlformats.org/drawingml/2006/main">
              <a:ext uri="{FF2B5EF4-FFF2-40B4-BE49-F238E27FC236}">
                <a16:creationId xmlns:a16="http://schemas.microsoft.com/office/drawing/2014/main" id="{A120A0E0-DA7B-4525-A888-A3A649604766}"/>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4F3B8D03-0FF4-4A7A-9D83-AA35FA608E05}"/>
              </a:ext>
            </a:extLst>
          </p:cNvPr>
          <p:cNvSpPr>
            <a:spLocks xmlns:a="http://schemas.openxmlformats.org/drawingml/2006/main" noGrp="1"/>
          </p:cNvSpPr>
          <p:nvPr/>
        </p:nvSpPr>
        <p:spPr>
          <a:xfrm xmlns:a="http://schemas.openxmlformats.org/drawingml/2006/main">
            <a:off x="8292389" y="1499616"/>
            <a:ext cx="3112922"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300" b="1">
                <a:solidFill>
                  <a:srgbClr val="102A43"/>
                </a:solidFill>
                <a:latin typeface="Arial"/>
                <a:ea typeface="Arial"/>
                <a:cs typeface="Arial"/>
              </a:rPr>
              <a:t>Life and business stage</a:t>
            </a:r>
            <a:endParaRPr sz="1300"/>
          </a:p>
        </p:txBody>
      </p:sp>
      <p:sp>
        <p:nvSpPr>
          <p:cNvPr id="16" name="Text 14">
            <a:extLst xmlns:a="http://schemas.openxmlformats.org/drawingml/2006/main">
              <a:ext uri="{FF2B5EF4-FFF2-40B4-BE49-F238E27FC236}">
                <a16:creationId xmlns:a16="http://schemas.microsoft.com/office/drawing/2014/main" id="{1E2E3159-78AE-45A3-87DC-94FE91219DBE}"/>
              </a:ext>
            </a:extLst>
          </p:cNvPr>
          <p:cNvSpPr>
            <a:spLocks xmlns:a="http://schemas.openxmlformats.org/drawingml/2006/main" noGrp="1"/>
          </p:cNvSpPr>
          <p:nvPr/>
        </p:nvSpPr>
        <p:spPr>
          <a:xfrm xmlns:a="http://schemas.openxmlformats.org/drawingml/2006/main">
            <a:off x="8292389" y="1847088"/>
            <a:ext cx="3112922"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50">
                <a:solidFill>
                  <a:srgbClr val="486581"/>
                </a:solidFill>
                <a:latin typeface="Arial"/>
                <a:ea typeface="Arial"/>
                <a:cs typeface="Arial"/>
              </a:rPr>
              <a:t>Where the member is in a recognisable arc — first account, household formation, farm succession, business growth, retirement.</a:t>
            </a:r>
            <a:endParaRPr sz="950"/>
          </a:p>
        </p:txBody>
      </p:sp>
      <p:sp>
        <p:nvSpPr>
          <p:cNvPr id="17" name="Shape 15">
            <a:extLst xmlns:a="http://schemas.openxmlformats.org/drawingml/2006/main">
              <a:ext uri="{FF2B5EF4-FFF2-40B4-BE49-F238E27FC236}">
                <a16:creationId xmlns:a16="http://schemas.microsoft.com/office/drawing/2014/main" id="{2C247F8D-0FA7-46FD-8597-A12B01CEB4B3}"/>
              </a:ext>
            </a:extLst>
          </p:cNvPr>
          <p:cNvSpPr>
            <a:spLocks xmlns:a="http://schemas.openxmlformats.org/drawingml/2006/main" noGrp="1"/>
          </p:cNvSpPr>
          <p:nvPr/>
        </p:nvSpPr>
        <p:spPr>
          <a:xfrm xmlns:a="http://schemas.openxmlformats.org/drawingml/2006/main">
            <a:off x="8292389" y="2852928"/>
            <a:ext cx="3112922"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9C8634CA-2841-458C-8890-4A1F56F243E2}"/>
              </a:ext>
            </a:extLst>
          </p:cNvPr>
          <p:cNvSpPr>
            <a:spLocks xmlns:a="http://schemas.openxmlformats.org/drawingml/2006/main" noGrp="1"/>
          </p:cNvSpPr>
          <p:nvPr/>
        </p:nvSpPr>
        <p:spPr>
          <a:xfrm xmlns:a="http://schemas.openxmlformats.org/drawingml/2006/main">
            <a:off x="8292389" y="2980944"/>
            <a:ext cx="311292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Stage predicts what a member is about to need, which is what makes the output a conversation rather than an offer.</a:t>
            </a:r>
            <a:endParaRPr sz="940"/>
          </a:p>
        </p:txBody>
      </p:sp>
      <p:sp>
        <p:nvSpPr>
          <p:cNvPr id="19" name="Shape 17">
            <a:extLst xmlns:a="http://schemas.openxmlformats.org/drawingml/2006/main">
              <a:ext uri="{FF2B5EF4-FFF2-40B4-BE49-F238E27FC236}">
                <a16:creationId xmlns:a16="http://schemas.microsoft.com/office/drawing/2014/main" id="{EE02DEFA-9E40-4FB1-9F04-4012D6AE2ED3}"/>
              </a:ext>
            </a:extLst>
          </p:cNvPr>
          <p:cNvSpPr>
            <a:spLocks xmlns:a="http://schemas.openxmlformats.org/drawingml/2006/main" noGrp="1"/>
          </p:cNvSpPr>
          <p:nvPr/>
        </p:nvSpPr>
        <p:spPr>
          <a:xfrm xmlns:a="http://schemas.openxmlformats.org/drawingml/2006/main">
            <a:off x="566928" y="4078224"/>
            <a:ext cx="11057839" cy="1993392"/>
          </a:xfrm>
          <a:prstGeom xmlns:a="http://schemas.openxmlformats.org/drawingml/2006/main" prst="rect">
            <a:avLst/>
          </a:prstGeom>
          <a:solidFill xmlns:a="http://schemas.openxmlformats.org/drawingml/2006/main">
            <a:srgbClr val="F3E6E0"/>
          </a:solidFill>
        </p:spPr>
      </p:sp>
      <p:sp>
        <p:nvSpPr>
          <p:cNvPr id="20" name="Text 18">
            <a:extLst xmlns:a="http://schemas.openxmlformats.org/drawingml/2006/main">
              <a:ext uri="{FF2B5EF4-FFF2-40B4-BE49-F238E27FC236}">
                <a16:creationId xmlns:a16="http://schemas.microsoft.com/office/drawing/2014/main" id="{EDB5AF0F-ACE9-4814-ABE4-49457139ACAB}"/>
              </a:ext>
            </a:extLst>
          </p:cNvPr>
          <p:cNvSpPr>
            <a:spLocks xmlns:a="http://schemas.openxmlformats.org/drawingml/2006/main" noGrp="1"/>
          </p:cNvSpPr>
          <p:nvPr/>
        </p:nvSpPr>
        <p:spPr>
          <a:xfrm xmlns:a="http://schemas.openxmlformats.org/drawingml/2006/main">
            <a:off x="804672" y="4224528"/>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Where lifetime value sits in this, and where it does not</a:t>
            </a:r>
            <a:endParaRPr sz="1100"/>
          </a:p>
        </p:txBody>
      </p:sp>
      <p:sp>
        <p:nvSpPr>
          <p:cNvPr id="21" name="Text 19">
            <a:extLst xmlns:a="http://schemas.openxmlformats.org/drawingml/2006/main">
              <a:ext uri="{FF2B5EF4-FFF2-40B4-BE49-F238E27FC236}">
                <a16:creationId xmlns:a16="http://schemas.microsoft.com/office/drawing/2014/main" id="{95BC8D88-514D-4F45-B0D1-07664B75EA58}"/>
              </a:ext>
            </a:extLst>
          </p:cNvPr>
          <p:cNvSpPr>
            <a:spLocks xmlns:a="http://schemas.openxmlformats.org/drawingml/2006/main" noGrp="1"/>
          </p:cNvSpPr>
          <p:nvPr/>
        </p:nvSpPr>
        <p:spPr>
          <a:xfrm xmlns:a="http://schemas.openxmlformats.org/drawingml/2006/main">
            <a:off x="804672" y="4480560"/>
            <a:ext cx="10582351" cy="14813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Lifetime value is computed and it is used — but as an input to identifying mismatch, not as a ranking presented to staff.</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The construction that works is comparative: given a member's depth, trajectory and stage, what would a well-served member in that position typically hold? Where the actual holding differs materially from that, there is a mismatch — either the institution is not serving a need, or the member has a product that no longer fits.</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That output is a list of conversations worth having, ordered by the size of the gap. It never tells a staff member that one owner of the cooperative matters more than another, which is both the governance requirement and, as it happens, the more useful instruction.</a:t>
            </a:r>
            <a:endParaRPr sz="990"/>
          </a:p>
        </p:txBody>
      </p:sp>
      <p:sp>
        <p:nvSpPr>
          <p:cNvPr id="22" name="Shape 20">
            <a:extLst xmlns:a="http://schemas.openxmlformats.org/drawingml/2006/main">
              <a:ext uri="{FF2B5EF4-FFF2-40B4-BE49-F238E27FC236}">
                <a16:creationId xmlns:a16="http://schemas.microsoft.com/office/drawing/2014/main" id="{F3746F35-F1F3-4F91-BE7B-1498FBA1820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3" name="Text 21">
            <a:extLst xmlns:a="http://schemas.openxmlformats.org/drawingml/2006/main">
              <a:ext uri="{FF2B5EF4-FFF2-40B4-BE49-F238E27FC236}">
                <a16:creationId xmlns:a16="http://schemas.microsoft.com/office/drawing/2014/main" id="{6C100E13-C6CB-4D4B-B101-4A97BC277C27}"/>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2023–2024 engagement · author's design</a:t>
            </a:r>
            <a:endParaRPr sz="850"/>
          </a:p>
        </p:txBody>
      </p:sp>
      <p:sp>
        <p:nvSpPr>
          <p:cNvPr id="24" name="Text 22">
            <a:extLst xmlns:a="http://schemas.openxmlformats.org/drawingml/2006/main">
              <a:ext uri="{FF2B5EF4-FFF2-40B4-BE49-F238E27FC236}">
                <a16:creationId xmlns:a16="http://schemas.microsoft.com/office/drawing/2014/main" id="{5FBFE2A5-AEF5-4D31-9F9C-ECD1992444D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831955280"/>
      </p:ext>
    </p:extLst>
  </p:cSld>
</p:sld>
</file>

<file path=ppt/slides/slide28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5E8362C-8870-494C-86A7-5E7D49AE47B9}"/>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FROM INSIGHT TO ACTION</a:t>
            </a:r>
            <a:endParaRPr sz="950"/>
          </a:p>
        </p:txBody>
      </p:sp>
      <p:sp>
        <p:nvSpPr>
          <p:cNvPr id="3" name="Text 1">
            <a:extLst xmlns:a="http://schemas.openxmlformats.org/drawingml/2006/main">
              <a:ext uri="{FF2B5EF4-FFF2-40B4-BE49-F238E27FC236}">
                <a16:creationId xmlns:a16="http://schemas.microsoft.com/office/drawing/2014/main" id="{FE3CEF08-3F95-43A5-B5E1-396A66ADCBB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The action hub is where the analytics stops being a report — a mismatch that does</a:t>
            </a:r>
            <a:endParaRPr sz="1900"/>
          </a:p>
          <a:p xmlns:a="http://schemas.openxmlformats.org/drawingml/2006/main">
            <a:pPr marL="0" indent="0">
              <a:lnSpc>
                <a:spcPts val="2400"/>
              </a:lnSpc>
              <a:buNone/>
            </a:pPr>
            <a:r>
              <a:rPr sz="1900" b="1">
                <a:solidFill>
                  <a:srgbClr val="102A43"/>
                </a:solidFill>
                <a:latin typeface="Arial"/>
                <a:ea typeface="Arial"/>
                <a:cs typeface="Arial"/>
              </a:rPr>
              <a:t>not reach a staff member on a Tuesday morning is a slide</a:t>
            </a:r>
            <a:endParaRPr sz="1900"/>
          </a:p>
        </p:txBody>
      </p:sp>
      <p:sp>
        <p:nvSpPr>
          <p:cNvPr id="4" name="Shape 2">
            <a:extLst xmlns:a="http://schemas.openxmlformats.org/drawingml/2006/main">
              <a:ext uri="{FF2B5EF4-FFF2-40B4-BE49-F238E27FC236}">
                <a16:creationId xmlns:a16="http://schemas.microsoft.com/office/drawing/2014/main" id="{938474E5-A474-4B0C-B428-73DB2B24A721}"/>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291C96E2-E870-4EC3-9DDD-6FEA63EA289F}"/>
              </a:ext>
            </a:extLst>
          </p:cNvPr>
          <p:cNvSpPr>
            <a:spLocks xmlns:a="http://schemas.openxmlformats.org/drawingml/2006/main" noGrp="1"/>
          </p:cNvSpPr>
          <p:nvPr/>
        </p:nvSpPr>
        <p:spPr>
          <a:xfrm xmlns:a="http://schemas.openxmlformats.org/drawingml/2006/main">
            <a:off x="676656" y="1444752"/>
            <a:ext cx="31638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Mismatch type</a:t>
            </a:r>
            <a:endParaRPr sz="920"/>
          </a:p>
        </p:txBody>
      </p:sp>
      <p:sp>
        <p:nvSpPr>
          <p:cNvPr id="6" name="Text 4">
            <a:extLst xmlns:a="http://schemas.openxmlformats.org/drawingml/2006/main">
              <a:ext uri="{FF2B5EF4-FFF2-40B4-BE49-F238E27FC236}">
                <a16:creationId xmlns:a16="http://schemas.microsoft.com/office/drawing/2014/main" id="{06E37D37-25C0-48B8-9EE4-C8934532FB9F}"/>
              </a:ext>
            </a:extLst>
          </p:cNvPr>
          <p:cNvSpPr>
            <a:spLocks xmlns:a="http://schemas.openxmlformats.org/drawingml/2006/main" noGrp="1"/>
          </p:cNvSpPr>
          <p:nvPr/>
        </p:nvSpPr>
        <p:spPr>
          <a:xfrm xmlns:a="http://schemas.openxmlformats.org/drawingml/2006/main">
            <a:off x="4151376" y="1444752"/>
            <a:ext cx="3346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usually indicates</a:t>
            </a:r>
            <a:endParaRPr sz="920"/>
          </a:p>
        </p:txBody>
      </p:sp>
      <p:sp>
        <p:nvSpPr>
          <p:cNvPr id="7" name="Text 5">
            <a:extLst xmlns:a="http://schemas.openxmlformats.org/drawingml/2006/main">
              <a:ext uri="{FF2B5EF4-FFF2-40B4-BE49-F238E27FC236}">
                <a16:creationId xmlns:a16="http://schemas.microsoft.com/office/drawing/2014/main" id="{2E3686B6-D6A2-4FC9-8902-A2E5A2FE8870}"/>
              </a:ext>
            </a:extLst>
          </p:cNvPr>
          <p:cNvSpPr>
            <a:spLocks xmlns:a="http://schemas.openxmlformats.org/drawingml/2006/main" noGrp="1"/>
          </p:cNvSpPr>
          <p:nvPr/>
        </p:nvSpPr>
        <p:spPr>
          <a:xfrm xmlns:a="http://schemas.openxmlformats.org/drawingml/2006/main">
            <a:off x="7808976" y="1444752"/>
            <a:ext cx="22494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Who acts</a:t>
            </a:r>
            <a:endParaRPr sz="920"/>
          </a:p>
        </p:txBody>
      </p:sp>
      <p:sp>
        <p:nvSpPr>
          <p:cNvPr id="8" name="Text 6">
            <a:extLst xmlns:a="http://schemas.openxmlformats.org/drawingml/2006/main">
              <a:ext uri="{FF2B5EF4-FFF2-40B4-BE49-F238E27FC236}">
                <a16:creationId xmlns:a16="http://schemas.microsoft.com/office/drawing/2014/main" id="{14962FD9-1959-4034-8DA3-897229C7A533}"/>
              </a:ext>
            </a:extLst>
          </p:cNvPr>
          <p:cNvSpPr>
            <a:spLocks xmlns:a="http://schemas.openxmlformats.org/drawingml/2006/main" noGrp="1"/>
          </p:cNvSpPr>
          <p:nvPr/>
        </p:nvSpPr>
        <p:spPr>
          <a:xfrm xmlns:a="http://schemas.openxmlformats.org/drawingml/2006/main">
            <a:off x="10369296" y="1444752"/>
            <a:ext cx="11430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102A43"/>
                </a:solidFill>
                <a:latin typeface="Arial"/>
                <a:ea typeface="Arial"/>
                <a:cs typeface="Arial"/>
              </a:rPr>
              <a:t>Urgency</a:t>
            </a:r>
            <a:endParaRPr sz="920"/>
          </a:p>
        </p:txBody>
      </p:sp>
      <p:sp>
        <p:nvSpPr>
          <p:cNvPr id="9" name="Text 7">
            <a:extLst xmlns:a="http://schemas.openxmlformats.org/drawingml/2006/main">
              <a:ext uri="{FF2B5EF4-FFF2-40B4-BE49-F238E27FC236}">
                <a16:creationId xmlns:a16="http://schemas.microsoft.com/office/drawing/2014/main" id="{93608CB1-D4EC-4914-8F85-D11B2114DCCF}"/>
              </a:ext>
            </a:extLst>
          </p:cNvPr>
          <p:cNvSpPr>
            <a:spLocks xmlns:a="http://schemas.openxmlformats.org/drawingml/2006/main" noGrp="1"/>
          </p:cNvSpPr>
          <p:nvPr/>
        </p:nvSpPr>
        <p:spPr>
          <a:xfrm xmlns:a="http://schemas.openxmlformats.org/drawingml/2006/main">
            <a:off x="676656" y="1801368"/>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Thinning relationship</a:t>
            </a:r>
            <a:endParaRPr sz="970"/>
          </a:p>
        </p:txBody>
      </p:sp>
      <p:sp>
        <p:nvSpPr>
          <p:cNvPr id="10" name="Text 8">
            <a:extLst xmlns:a="http://schemas.openxmlformats.org/drawingml/2006/main">
              <a:ext uri="{FF2B5EF4-FFF2-40B4-BE49-F238E27FC236}">
                <a16:creationId xmlns:a16="http://schemas.microsoft.com/office/drawing/2014/main" id="{468CC659-90F3-4D5A-983A-37A7461080C6}"/>
              </a:ext>
            </a:extLst>
          </p:cNvPr>
          <p:cNvSpPr>
            <a:spLocks xmlns:a="http://schemas.openxmlformats.org/drawingml/2006/main" noGrp="1"/>
          </p:cNvSpPr>
          <p:nvPr/>
        </p:nvSpPr>
        <p:spPr>
          <a:xfrm xmlns:a="http://schemas.openxmlformats.org/drawingml/2006/main">
            <a:off x="4151376" y="180136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member has begun using another institution — usually visible in flow before balance</a:t>
            </a:r>
            <a:endParaRPr sz="920"/>
          </a:p>
        </p:txBody>
      </p:sp>
      <p:sp>
        <p:nvSpPr>
          <p:cNvPr id="11" name="Text 9">
            <a:extLst xmlns:a="http://schemas.openxmlformats.org/drawingml/2006/main">
              <a:ext uri="{FF2B5EF4-FFF2-40B4-BE49-F238E27FC236}">
                <a16:creationId xmlns:a16="http://schemas.microsoft.com/office/drawing/2014/main" id="{E3924D19-781E-4727-80CD-3CCF4A35640A}"/>
              </a:ext>
            </a:extLst>
          </p:cNvPr>
          <p:cNvSpPr>
            <a:spLocks xmlns:a="http://schemas.openxmlformats.org/drawingml/2006/main" noGrp="1"/>
          </p:cNvSpPr>
          <p:nvPr/>
        </p:nvSpPr>
        <p:spPr>
          <a:xfrm xmlns:a="http://schemas.openxmlformats.org/drawingml/2006/main">
            <a:off x="7808976" y="1801368"/>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Branch or relationship staff</a:t>
            </a:r>
            <a:endParaRPr sz="920"/>
          </a:p>
        </p:txBody>
      </p:sp>
      <p:sp>
        <p:nvSpPr>
          <p:cNvPr id="12" name="Text 10">
            <a:extLst xmlns:a="http://schemas.openxmlformats.org/drawingml/2006/main">
              <a:ext uri="{FF2B5EF4-FFF2-40B4-BE49-F238E27FC236}">
                <a16:creationId xmlns:a16="http://schemas.microsoft.com/office/drawing/2014/main" id="{C535C258-F2DD-41D8-8505-EF6AF4A0AC59}"/>
              </a:ext>
            </a:extLst>
          </p:cNvPr>
          <p:cNvSpPr>
            <a:spLocks xmlns:a="http://schemas.openxmlformats.org/drawingml/2006/main" noGrp="1"/>
          </p:cNvSpPr>
          <p:nvPr/>
        </p:nvSpPr>
        <p:spPr>
          <a:xfrm xmlns:a="http://schemas.openxmlformats.org/drawingml/2006/main">
            <a:off x="10369296" y="1801368"/>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High</a:t>
            </a:r>
            <a:endParaRPr sz="930"/>
          </a:p>
        </p:txBody>
      </p:sp>
      <p:sp>
        <p:nvSpPr>
          <p:cNvPr id="13" name="Shape 11">
            <a:extLst xmlns:a="http://schemas.openxmlformats.org/drawingml/2006/main">
              <a:ext uri="{FF2B5EF4-FFF2-40B4-BE49-F238E27FC236}">
                <a16:creationId xmlns:a16="http://schemas.microsoft.com/office/drawing/2014/main" id="{2F78F8AD-2BD3-479B-9003-A5C6147E687B}"/>
              </a:ext>
            </a:extLst>
          </p:cNvPr>
          <p:cNvSpPr>
            <a:spLocks xmlns:a="http://schemas.openxmlformats.org/drawingml/2006/main" noGrp="1"/>
          </p:cNvSpPr>
          <p:nvPr/>
        </p:nvSpPr>
        <p:spPr>
          <a:xfrm xmlns:a="http://schemas.openxmlformats.org/drawingml/2006/main">
            <a:off x="566928" y="2176272"/>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2C077D9C-C965-4373-8371-0492C2DC8296}"/>
              </a:ext>
            </a:extLst>
          </p:cNvPr>
          <p:cNvSpPr>
            <a:spLocks xmlns:a="http://schemas.openxmlformats.org/drawingml/2006/main" noGrp="1"/>
          </p:cNvSpPr>
          <p:nvPr/>
        </p:nvSpPr>
        <p:spPr>
          <a:xfrm xmlns:a="http://schemas.openxmlformats.org/drawingml/2006/main">
            <a:off x="566928" y="2176272"/>
            <a:ext cx="11057839" cy="475488"/>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CED8BE42-D85B-4068-B101-348A4D469480}"/>
              </a:ext>
            </a:extLst>
          </p:cNvPr>
          <p:cNvSpPr>
            <a:spLocks xmlns:a="http://schemas.openxmlformats.org/drawingml/2006/main" noGrp="1"/>
          </p:cNvSpPr>
          <p:nvPr/>
        </p:nvSpPr>
        <p:spPr>
          <a:xfrm xmlns:a="http://schemas.openxmlformats.org/drawingml/2006/main">
            <a:off x="676656" y="2276856"/>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Product no longer fits</a:t>
            </a:r>
            <a:endParaRPr sz="970"/>
          </a:p>
        </p:txBody>
      </p:sp>
      <p:sp>
        <p:nvSpPr>
          <p:cNvPr id="16" name="Text 14">
            <a:extLst xmlns:a="http://schemas.openxmlformats.org/drawingml/2006/main">
              <a:ext uri="{FF2B5EF4-FFF2-40B4-BE49-F238E27FC236}">
                <a16:creationId xmlns:a16="http://schemas.microsoft.com/office/drawing/2014/main" id="{E89E5740-1C44-43C3-B583-8C4D49F133DF}"/>
              </a:ext>
            </a:extLst>
          </p:cNvPr>
          <p:cNvSpPr>
            <a:spLocks xmlns:a="http://schemas.openxmlformats.org/drawingml/2006/main" noGrp="1"/>
          </p:cNvSpPr>
          <p:nvPr/>
        </p:nvSpPr>
        <p:spPr>
          <a:xfrm xmlns:a="http://schemas.openxmlformats.org/drawingml/2006/main">
            <a:off x="4151376" y="227685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Life or business stage has moved and the holding has not — a common and easy conversation</a:t>
            </a:r>
            <a:endParaRPr sz="920"/>
          </a:p>
        </p:txBody>
      </p:sp>
      <p:sp>
        <p:nvSpPr>
          <p:cNvPr id="17" name="Text 15">
            <a:extLst xmlns:a="http://schemas.openxmlformats.org/drawingml/2006/main">
              <a:ext uri="{FF2B5EF4-FFF2-40B4-BE49-F238E27FC236}">
                <a16:creationId xmlns:a16="http://schemas.microsoft.com/office/drawing/2014/main" id="{B83888D6-E17B-4C13-9994-D7439D2B0BF8}"/>
              </a:ext>
            </a:extLst>
          </p:cNvPr>
          <p:cNvSpPr>
            <a:spLocks xmlns:a="http://schemas.openxmlformats.org/drawingml/2006/main" noGrp="1"/>
          </p:cNvSpPr>
          <p:nvPr/>
        </p:nvSpPr>
        <p:spPr>
          <a:xfrm xmlns:a="http://schemas.openxmlformats.org/drawingml/2006/main">
            <a:off x="7808976" y="2276856"/>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Branch staff</a:t>
            </a:r>
            <a:endParaRPr sz="920"/>
          </a:p>
        </p:txBody>
      </p:sp>
      <p:sp>
        <p:nvSpPr>
          <p:cNvPr id="18" name="Text 16">
            <a:extLst xmlns:a="http://schemas.openxmlformats.org/drawingml/2006/main">
              <a:ext uri="{FF2B5EF4-FFF2-40B4-BE49-F238E27FC236}">
                <a16:creationId xmlns:a16="http://schemas.microsoft.com/office/drawing/2014/main" id="{FD6F9353-9032-4DB9-B61F-C1A1E72BD8F7}"/>
              </a:ext>
            </a:extLst>
          </p:cNvPr>
          <p:cNvSpPr>
            <a:spLocks xmlns:a="http://schemas.openxmlformats.org/drawingml/2006/main" noGrp="1"/>
          </p:cNvSpPr>
          <p:nvPr/>
        </p:nvSpPr>
        <p:spPr>
          <a:xfrm xmlns:a="http://schemas.openxmlformats.org/drawingml/2006/main">
            <a:off x="10369296" y="2276856"/>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Medium</a:t>
            </a:r>
            <a:endParaRPr sz="930"/>
          </a:p>
        </p:txBody>
      </p:sp>
      <p:sp>
        <p:nvSpPr>
          <p:cNvPr id="19" name="Shape 17">
            <a:extLst xmlns:a="http://schemas.openxmlformats.org/drawingml/2006/main">
              <a:ext uri="{FF2B5EF4-FFF2-40B4-BE49-F238E27FC236}">
                <a16:creationId xmlns:a16="http://schemas.microsoft.com/office/drawing/2014/main" id="{F9F1B1D9-8BEC-45C6-916D-B6CDA99E6BBC}"/>
              </a:ext>
            </a:extLst>
          </p:cNvPr>
          <p:cNvSpPr>
            <a:spLocks xmlns:a="http://schemas.openxmlformats.org/drawingml/2006/main" noGrp="1"/>
          </p:cNvSpPr>
          <p:nvPr/>
        </p:nvSpPr>
        <p:spPr>
          <a:xfrm xmlns:a="http://schemas.openxmlformats.org/drawingml/2006/main">
            <a:off x="566928" y="2651760"/>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C147C251-6C77-4473-956D-E875E17059AF}"/>
              </a:ext>
            </a:extLst>
          </p:cNvPr>
          <p:cNvSpPr>
            <a:spLocks xmlns:a="http://schemas.openxmlformats.org/drawingml/2006/main" noGrp="1"/>
          </p:cNvSpPr>
          <p:nvPr/>
        </p:nvSpPr>
        <p:spPr>
          <a:xfrm xmlns:a="http://schemas.openxmlformats.org/drawingml/2006/main">
            <a:off x="676656" y="2752344"/>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Unserved obvious need</a:t>
            </a:r>
            <a:endParaRPr sz="970"/>
          </a:p>
        </p:txBody>
      </p:sp>
      <p:sp>
        <p:nvSpPr>
          <p:cNvPr id="21" name="Text 19">
            <a:extLst xmlns:a="http://schemas.openxmlformats.org/drawingml/2006/main">
              <a:ext uri="{FF2B5EF4-FFF2-40B4-BE49-F238E27FC236}">
                <a16:creationId xmlns:a16="http://schemas.microsoft.com/office/drawing/2014/main" id="{5AB8BE0C-36B5-4630-B7C4-0F096408DE5D}"/>
              </a:ext>
            </a:extLst>
          </p:cNvPr>
          <p:cNvSpPr>
            <a:spLocks xmlns:a="http://schemas.openxmlformats.org/drawingml/2006/main" noGrp="1"/>
          </p:cNvSpPr>
          <p:nvPr/>
        </p:nvSpPr>
        <p:spPr>
          <a:xfrm xmlns:a="http://schemas.openxmlformats.org/drawingml/2006/main">
            <a:off x="4151376" y="275234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Depth and stage suggest a product the member does not hold and has never been offered</a:t>
            </a:r>
            <a:endParaRPr sz="920"/>
          </a:p>
        </p:txBody>
      </p:sp>
      <p:sp>
        <p:nvSpPr>
          <p:cNvPr id="22" name="Text 20">
            <a:extLst xmlns:a="http://schemas.openxmlformats.org/drawingml/2006/main">
              <a:ext uri="{FF2B5EF4-FFF2-40B4-BE49-F238E27FC236}">
                <a16:creationId xmlns:a16="http://schemas.microsoft.com/office/drawing/2014/main" id="{746610B3-F8C7-47FF-8543-1066ABAB173B}"/>
              </a:ext>
            </a:extLst>
          </p:cNvPr>
          <p:cNvSpPr>
            <a:spLocks xmlns:a="http://schemas.openxmlformats.org/drawingml/2006/main" noGrp="1"/>
          </p:cNvSpPr>
          <p:nvPr/>
        </p:nvSpPr>
        <p:spPr>
          <a:xfrm xmlns:a="http://schemas.openxmlformats.org/drawingml/2006/main">
            <a:off x="7808976" y="2752344"/>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Branch or marketing</a:t>
            </a:r>
            <a:endParaRPr sz="920"/>
          </a:p>
        </p:txBody>
      </p:sp>
      <p:sp>
        <p:nvSpPr>
          <p:cNvPr id="23" name="Text 21">
            <a:extLst xmlns:a="http://schemas.openxmlformats.org/drawingml/2006/main">
              <a:ext uri="{FF2B5EF4-FFF2-40B4-BE49-F238E27FC236}">
                <a16:creationId xmlns:a16="http://schemas.microsoft.com/office/drawing/2014/main" id="{B7CA1229-FEA1-442A-952B-8BC35FB8DDB8}"/>
              </a:ext>
            </a:extLst>
          </p:cNvPr>
          <p:cNvSpPr>
            <a:spLocks xmlns:a="http://schemas.openxmlformats.org/drawingml/2006/main" noGrp="1"/>
          </p:cNvSpPr>
          <p:nvPr/>
        </p:nvSpPr>
        <p:spPr>
          <a:xfrm xmlns:a="http://schemas.openxmlformats.org/drawingml/2006/main">
            <a:off x="10369296" y="2752344"/>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Medium</a:t>
            </a:r>
            <a:endParaRPr sz="930"/>
          </a:p>
        </p:txBody>
      </p:sp>
      <p:sp>
        <p:nvSpPr>
          <p:cNvPr id="24" name="Shape 22">
            <a:extLst xmlns:a="http://schemas.openxmlformats.org/drawingml/2006/main">
              <a:ext uri="{FF2B5EF4-FFF2-40B4-BE49-F238E27FC236}">
                <a16:creationId xmlns:a16="http://schemas.microsoft.com/office/drawing/2014/main" id="{CE549559-549D-46DE-BB63-DC98B771DFF3}"/>
              </a:ext>
            </a:extLst>
          </p:cNvPr>
          <p:cNvSpPr>
            <a:spLocks xmlns:a="http://schemas.openxmlformats.org/drawingml/2006/main" noGrp="1"/>
          </p:cNvSpPr>
          <p:nvPr/>
        </p:nvSpPr>
        <p:spPr>
          <a:xfrm xmlns:a="http://schemas.openxmlformats.org/drawingml/2006/main">
            <a:off x="566928" y="3127248"/>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22DEB516-02F7-4031-8B42-19849AC866B8}"/>
              </a:ext>
            </a:extLst>
          </p:cNvPr>
          <p:cNvSpPr>
            <a:spLocks xmlns:a="http://schemas.openxmlformats.org/drawingml/2006/main" noGrp="1"/>
          </p:cNvSpPr>
          <p:nvPr/>
        </p:nvSpPr>
        <p:spPr>
          <a:xfrm xmlns:a="http://schemas.openxmlformats.org/drawingml/2006/main">
            <a:off x="566928" y="3127248"/>
            <a:ext cx="11057839" cy="475488"/>
          </a:xfrm>
          <a:prstGeom xmlns:a="http://schemas.openxmlformats.org/drawingml/2006/main" prst="rect">
            <a:avLst/>
          </a:prstGeom>
          <a:solidFill xmlns:a="http://schemas.openxmlformats.org/drawingml/2006/main">
            <a:srgbClr val="F7F9FB"/>
          </a:solidFill>
        </p:spPr>
      </p:sp>
      <p:sp>
        <p:nvSpPr>
          <p:cNvPr id="26" name="Text 24">
            <a:extLst xmlns:a="http://schemas.openxmlformats.org/drawingml/2006/main">
              <a:ext uri="{FF2B5EF4-FFF2-40B4-BE49-F238E27FC236}">
                <a16:creationId xmlns:a16="http://schemas.microsoft.com/office/drawing/2014/main" id="{C74D277D-F74C-4BD4-A7E9-DD9334A5704E}"/>
              </a:ext>
            </a:extLst>
          </p:cNvPr>
          <p:cNvSpPr>
            <a:spLocks xmlns:a="http://schemas.openxmlformats.org/drawingml/2006/main" noGrp="1"/>
          </p:cNvSpPr>
          <p:nvPr/>
        </p:nvSpPr>
        <p:spPr>
          <a:xfrm xmlns:a="http://schemas.openxmlformats.org/drawingml/2006/main">
            <a:off x="676656" y="3227832"/>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Rate or fee mismatch</a:t>
            </a:r>
            <a:endParaRPr sz="970"/>
          </a:p>
        </p:txBody>
      </p:sp>
      <p:sp>
        <p:nvSpPr>
          <p:cNvPr id="27" name="Text 25">
            <a:extLst xmlns:a="http://schemas.openxmlformats.org/drawingml/2006/main">
              <a:ext uri="{FF2B5EF4-FFF2-40B4-BE49-F238E27FC236}">
                <a16:creationId xmlns:a16="http://schemas.microsoft.com/office/drawing/2014/main" id="{0513D371-27C2-4989-9F5F-FCA12EE09561}"/>
              </a:ext>
            </a:extLst>
          </p:cNvPr>
          <p:cNvSpPr>
            <a:spLocks xmlns:a="http://schemas.openxmlformats.org/drawingml/2006/main" noGrp="1"/>
          </p:cNvSpPr>
          <p:nvPr/>
        </p:nvSpPr>
        <p:spPr>
          <a:xfrm xmlns:a="http://schemas.openxmlformats.org/drawingml/2006/main">
            <a:off x="4151376" y="322783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The member is paying or earning materially off what their position would normally attract</a:t>
            </a:r>
            <a:endParaRPr sz="920"/>
          </a:p>
        </p:txBody>
      </p:sp>
      <p:sp>
        <p:nvSpPr>
          <p:cNvPr id="28" name="Text 26">
            <a:extLst xmlns:a="http://schemas.openxmlformats.org/drawingml/2006/main">
              <a:ext uri="{FF2B5EF4-FFF2-40B4-BE49-F238E27FC236}">
                <a16:creationId xmlns:a16="http://schemas.microsoft.com/office/drawing/2014/main" id="{D32948C0-4AD1-4B94-82DE-C90B586779B3}"/>
              </a:ext>
            </a:extLst>
          </p:cNvPr>
          <p:cNvSpPr>
            <a:spLocks xmlns:a="http://schemas.openxmlformats.org/drawingml/2006/main" noGrp="1"/>
          </p:cNvSpPr>
          <p:nvPr/>
        </p:nvSpPr>
        <p:spPr>
          <a:xfrm xmlns:a="http://schemas.openxmlformats.org/drawingml/2006/main">
            <a:off x="7808976" y="3227832"/>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Operations review</a:t>
            </a:r>
            <a:endParaRPr sz="920"/>
          </a:p>
        </p:txBody>
      </p:sp>
      <p:sp>
        <p:nvSpPr>
          <p:cNvPr id="29" name="Text 27">
            <a:extLst xmlns:a="http://schemas.openxmlformats.org/drawingml/2006/main">
              <a:ext uri="{FF2B5EF4-FFF2-40B4-BE49-F238E27FC236}">
                <a16:creationId xmlns:a16="http://schemas.microsoft.com/office/drawing/2014/main" id="{D8B40575-C7D8-455D-AE0A-F9330FC54253}"/>
              </a:ext>
            </a:extLst>
          </p:cNvPr>
          <p:cNvSpPr>
            <a:spLocks xmlns:a="http://schemas.openxmlformats.org/drawingml/2006/main" noGrp="1"/>
          </p:cNvSpPr>
          <p:nvPr/>
        </p:nvSpPr>
        <p:spPr>
          <a:xfrm xmlns:a="http://schemas.openxmlformats.org/drawingml/2006/main">
            <a:off x="10369296" y="3227832"/>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High</a:t>
            </a:r>
            <a:endParaRPr sz="930"/>
          </a:p>
        </p:txBody>
      </p:sp>
      <p:sp>
        <p:nvSpPr>
          <p:cNvPr id="30" name="Shape 28">
            <a:extLst xmlns:a="http://schemas.openxmlformats.org/drawingml/2006/main">
              <a:ext uri="{FF2B5EF4-FFF2-40B4-BE49-F238E27FC236}">
                <a16:creationId xmlns:a16="http://schemas.microsoft.com/office/drawing/2014/main" id="{37187F56-3A2B-4F7F-BDA2-324D260BF368}"/>
              </a:ext>
            </a:extLst>
          </p:cNvPr>
          <p:cNvSpPr>
            <a:spLocks xmlns:a="http://schemas.openxmlformats.org/drawingml/2006/main" noGrp="1"/>
          </p:cNvSpPr>
          <p:nvPr/>
        </p:nvSpPr>
        <p:spPr>
          <a:xfrm xmlns:a="http://schemas.openxmlformats.org/drawingml/2006/main">
            <a:off x="566928" y="3602736"/>
            <a:ext cx="11057839" cy="7315"/>
          </a:xfrm>
          <a:prstGeom xmlns:a="http://schemas.openxmlformats.org/drawingml/2006/main" prst="rect">
            <a:avLst/>
          </a:prstGeom>
          <a:solidFill xmlns:a="http://schemas.openxmlformats.org/drawingml/2006/main">
            <a:srgbClr val="CBD5E0"/>
          </a:solidFill>
        </p:spPr>
      </p:sp>
      <p:sp>
        <p:nvSpPr>
          <p:cNvPr id="31" name="Text 29">
            <a:extLst xmlns:a="http://schemas.openxmlformats.org/drawingml/2006/main">
              <a:ext uri="{FF2B5EF4-FFF2-40B4-BE49-F238E27FC236}">
                <a16:creationId xmlns:a16="http://schemas.microsoft.com/office/drawing/2014/main" id="{D6EF946E-21D2-491D-B75C-D18EDDAF03FD}"/>
              </a:ext>
            </a:extLst>
          </p:cNvPr>
          <p:cNvSpPr>
            <a:spLocks xmlns:a="http://schemas.openxmlformats.org/drawingml/2006/main" noGrp="1"/>
          </p:cNvSpPr>
          <p:nvPr/>
        </p:nvSpPr>
        <p:spPr>
          <a:xfrm xmlns:a="http://schemas.openxmlformats.org/drawingml/2006/main">
            <a:off x="676656" y="3703320"/>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Household disconnect</a:t>
            </a:r>
            <a:endParaRPr sz="970"/>
          </a:p>
        </p:txBody>
      </p:sp>
      <p:sp>
        <p:nvSpPr>
          <p:cNvPr id="32" name="Text 30">
            <a:extLst xmlns:a="http://schemas.openxmlformats.org/drawingml/2006/main">
              <a:ext uri="{FF2B5EF4-FFF2-40B4-BE49-F238E27FC236}">
                <a16:creationId xmlns:a16="http://schemas.microsoft.com/office/drawing/2014/main" id="{75E73BF6-C775-4D3F-A352-EA000E1DC896}"/>
              </a:ext>
            </a:extLst>
          </p:cNvPr>
          <p:cNvSpPr>
            <a:spLocks xmlns:a="http://schemas.openxmlformats.org/drawingml/2006/main" noGrp="1"/>
          </p:cNvSpPr>
          <p:nvPr/>
        </p:nvSpPr>
        <p:spPr>
          <a:xfrm xmlns:a="http://schemas.openxmlformats.org/drawingml/2006/main">
            <a:off x="4151376" y="370332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Members clearly in one household held as unrelated individuals</a:t>
            </a:r>
            <a:endParaRPr sz="920"/>
          </a:p>
        </p:txBody>
      </p:sp>
      <p:sp>
        <p:nvSpPr>
          <p:cNvPr id="33" name="Text 31">
            <a:extLst xmlns:a="http://schemas.openxmlformats.org/drawingml/2006/main">
              <a:ext uri="{FF2B5EF4-FFF2-40B4-BE49-F238E27FC236}">
                <a16:creationId xmlns:a16="http://schemas.microsoft.com/office/drawing/2014/main" id="{7EF1C04B-68E1-4F2B-B245-329A53665F3C}"/>
              </a:ext>
            </a:extLst>
          </p:cNvPr>
          <p:cNvSpPr>
            <a:spLocks xmlns:a="http://schemas.openxmlformats.org/drawingml/2006/main" noGrp="1"/>
          </p:cNvSpPr>
          <p:nvPr/>
        </p:nvSpPr>
        <p:spPr>
          <a:xfrm xmlns:a="http://schemas.openxmlformats.org/drawingml/2006/main">
            <a:off x="7808976" y="3703320"/>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Data stewardship</a:t>
            </a:r>
            <a:endParaRPr sz="920"/>
          </a:p>
        </p:txBody>
      </p:sp>
      <p:sp>
        <p:nvSpPr>
          <p:cNvPr id="34" name="Text 32">
            <a:extLst xmlns:a="http://schemas.openxmlformats.org/drawingml/2006/main">
              <a:ext uri="{FF2B5EF4-FFF2-40B4-BE49-F238E27FC236}">
                <a16:creationId xmlns:a16="http://schemas.microsoft.com/office/drawing/2014/main" id="{1188704F-2DB4-482D-89B6-FAC2F97988E3}"/>
              </a:ext>
            </a:extLst>
          </p:cNvPr>
          <p:cNvSpPr>
            <a:spLocks xmlns:a="http://schemas.openxmlformats.org/drawingml/2006/main" noGrp="1"/>
          </p:cNvSpPr>
          <p:nvPr/>
        </p:nvSpPr>
        <p:spPr>
          <a:xfrm xmlns:a="http://schemas.openxmlformats.org/drawingml/2006/main">
            <a:off x="10369296" y="3703320"/>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Low</a:t>
            </a:r>
            <a:endParaRPr sz="930"/>
          </a:p>
        </p:txBody>
      </p:sp>
      <p:sp>
        <p:nvSpPr>
          <p:cNvPr id="35" name="Shape 33">
            <a:extLst xmlns:a="http://schemas.openxmlformats.org/drawingml/2006/main">
              <a:ext uri="{FF2B5EF4-FFF2-40B4-BE49-F238E27FC236}">
                <a16:creationId xmlns:a16="http://schemas.microsoft.com/office/drawing/2014/main" id="{3F007AF8-27C0-4722-8C44-EB216577A5EC}"/>
              </a:ext>
            </a:extLst>
          </p:cNvPr>
          <p:cNvSpPr>
            <a:spLocks xmlns:a="http://schemas.openxmlformats.org/drawingml/2006/main" noGrp="1"/>
          </p:cNvSpPr>
          <p:nvPr/>
        </p:nvSpPr>
        <p:spPr>
          <a:xfrm xmlns:a="http://schemas.openxmlformats.org/drawingml/2006/main">
            <a:off x="566928" y="4078224"/>
            <a:ext cx="11057839" cy="7315"/>
          </a:xfrm>
          <a:prstGeom xmlns:a="http://schemas.openxmlformats.org/drawingml/2006/main" prst="rect">
            <a:avLst/>
          </a:prstGeom>
          <a:solidFill xmlns:a="http://schemas.openxmlformats.org/drawingml/2006/main">
            <a:srgbClr val="CBD5E0"/>
          </a:solidFill>
        </p:spPr>
      </p:sp>
      <p:sp>
        <p:nvSpPr>
          <p:cNvPr id="36" name="Shape 34">
            <a:extLst xmlns:a="http://schemas.openxmlformats.org/drawingml/2006/main">
              <a:ext uri="{FF2B5EF4-FFF2-40B4-BE49-F238E27FC236}">
                <a16:creationId xmlns:a16="http://schemas.microsoft.com/office/drawing/2014/main" id="{96462A90-0E4C-4EE2-8CAE-8A343A2F33F0}"/>
              </a:ext>
            </a:extLst>
          </p:cNvPr>
          <p:cNvSpPr>
            <a:spLocks xmlns:a="http://schemas.openxmlformats.org/drawingml/2006/main" noGrp="1"/>
          </p:cNvSpPr>
          <p:nvPr/>
        </p:nvSpPr>
        <p:spPr>
          <a:xfrm xmlns:a="http://schemas.openxmlformats.org/drawingml/2006/main">
            <a:off x="566928" y="4078224"/>
            <a:ext cx="11057839" cy="475488"/>
          </a:xfrm>
          <a:prstGeom xmlns:a="http://schemas.openxmlformats.org/drawingml/2006/main" prst="rect">
            <a:avLst/>
          </a:prstGeom>
          <a:solidFill xmlns:a="http://schemas.openxmlformats.org/drawingml/2006/main">
            <a:srgbClr val="F7F9FB"/>
          </a:solidFill>
        </p:spPr>
      </p:sp>
      <p:sp>
        <p:nvSpPr>
          <p:cNvPr id="37" name="Text 35">
            <a:extLst xmlns:a="http://schemas.openxmlformats.org/drawingml/2006/main">
              <a:ext uri="{FF2B5EF4-FFF2-40B4-BE49-F238E27FC236}">
                <a16:creationId xmlns:a16="http://schemas.microsoft.com/office/drawing/2014/main" id="{636C9F4F-3F33-4614-9E9B-773886D6FF26}"/>
              </a:ext>
            </a:extLst>
          </p:cNvPr>
          <p:cNvSpPr>
            <a:spLocks xmlns:a="http://schemas.openxmlformats.org/drawingml/2006/main" noGrp="1"/>
          </p:cNvSpPr>
          <p:nvPr/>
        </p:nvSpPr>
        <p:spPr>
          <a:xfrm xmlns:a="http://schemas.openxmlformats.org/drawingml/2006/main">
            <a:off x="676656" y="4178808"/>
            <a:ext cx="31638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70" b="1">
                <a:solidFill>
                  <a:srgbClr val="102A43"/>
                </a:solidFill>
                <a:latin typeface="Arial"/>
                <a:ea typeface="Arial"/>
                <a:cs typeface="Arial"/>
              </a:rPr>
              <a:t>Business and personal split</a:t>
            </a:r>
            <a:endParaRPr sz="970"/>
          </a:p>
        </p:txBody>
      </p:sp>
      <p:sp>
        <p:nvSpPr>
          <p:cNvPr id="38" name="Text 36">
            <a:extLst xmlns:a="http://schemas.openxmlformats.org/drawingml/2006/main">
              <a:ext uri="{FF2B5EF4-FFF2-40B4-BE49-F238E27FC236}">
                <a16:creationId xmlns:a16="http://schemas.microsoft.com/office/drawing/2014/main" id="{1CF7D36F-A91C-47EC-BC3C-6858C753F6E5}"/>
              </a:ext>
            </a:extLst>
          </p:cNvPr>
          <p:cNvSpPr>
            <a:spLocks xmlns:a="http://schemas.openxmlformats.org/drawingml/2006/main" noGrp="1"/>
          </p:cNvSpPr>
          <p:nvPr/>
        </p:nvSpPr>
        <p:spPr>
          <a:xfrm xmlns:a="http://schemas.openxmlformats.org/drawingml/2006/main">
            <a:off x="4151376" y="417880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 business member whose owners bank elsewhere, or the reverse</a:t>
            </a:r>
            <a:endParaRPr sz="920"/>
          </a:p>
        </p:txBody>
      </p:sp>
      <p:sp>
        <p:nvSpPr>
          <p:cNvPr id="39" name="Text 37">
            <a:extLst xmlns:a="http://schemas.openxmlformats.org/drawingml/2006/main">
              <a:ext uri="{FF2B5EF4-FFF2-40B4-BE49-F238E27FC236}">
                <a16:creationId xmlns:a16="http://schemas.microsoft.com/office/drawing/2014/main" id="{12D30D70-899E-4C6E-8FA7-1D2785B06158}"/>
              </a:ext>
            </a:extLst>
          </p:cNvPr>
          <p:cNvSpPr>
            <a:spLocks xmlns:a="http://schemas.openxmlformats.org/drawingml/2006/main" noGrp="1"/>
          </p:cNvSpPr>
          <p:nvPr/>
        </p:nvSpPr>
        <p:spPr>
          <a:xfrm xmlns:a="http://schemas.openxmlformats.org/drawingml/2006/main">
            <a:off x="7808976" y="4178808"/>
            <a:ext cx="22494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Business banking</a:t>
            </a:r>
            <a:endParaRPr sz="920"/>
          </a:p>
        </p:txBody>
      </p:sp>
      <p:sp>
        <p:nvSpPr>
          <p:cNvPr id="40" name="Text 38">
            <a:extLst xmlns:a="http://schemas.openxmlformats.org/drawingml/2006/main">
              <a:ext uri="{FF2B5EF4-FFF2-40B4-BE49-F238E27FC236}">
                <a16:creationId xmlns:a16="http://schemas.microsoft.com/office/drawing/2014/main" id="{CD55788E-CE5E-4948-9BD5-A977FE908D56}"/>
              </a:ext>
            </a:extLst>
          </p:cNvPr>
          <p:cNvSpPr>
            <a:spLocks xmlns:a="http://schemas.openxmlformats.org/drawingml/2006/main" noGrp="1"/>
          </p:cNvSpPr>
          <p:nvPr/>
        </p:nvSpPr>
        <p:spPr>
          <a:xfrm xmlns:a="http://schemas.openxmlformats.org/drawingml/2006/main">
            <a:off x="10369296" y="4178808"/>
            <a:ext cx="1143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30" b="1">
                <a:solidFill>
                  <a:srgbClr val="B04A25"/>
                </a:solidFill>
                <a:latin typeface="Arial"/>
                <a:ea typeface="Arial"/>
                <a:cs typeface="Arial"/>
              </a:rPr>
              <a:t>Medium</a:t>
            </a:r>
            <a:endParaRPr sz="930"/>
          </a:p>
        </p:txBody>
      </p:sp>
      <p:sp>
        <p:nvSpPr>
          <p:cNvPr id="41" name="Shape 39">
            <a:extLst xmlns:a="http://schemas.openxmlformats.org/drawingml/2006/main">
              <a:ext uri="{FF2B5EF4-FFF2-40B4-BE49-F238E27FC236}">
                <a16:creationId xmlns:a16="http://schemas.microsoft.com/office/drawing/2014/main" id="{85D6F1BE-A7AA-4287-A66B-D9E41B358713}"/>
              </a:ext>
            </a:extLst>
          </p:cNvPr>
          <p:cNvSpPr>
            <a:spLocks xmlns:a="http://schemas.openxmlformats.org/drawingml/2006/main" noGrp="1"/>
          </p:cNvSpPr>
          <p:nvPr/>
        </p:nvSpPr>
        <p:spPr>
          <a:xfrm xmlns:a="http://schemas.openxmlformats.org/drawingml/2006/main">
            <a:off x="566928" y="4553712"/>
            <a:ext cx="11057839" cy="7315"/>
          </a:xfrm>
          <a:prstGeom xmlns:a="http://schemas.openxmlformats.org/drawingml/2006/main" prst="rect">
            <a:avLst/>
          </a:prstGeom>
          <a:solidFill xmlns:a="http://schemas.openxmlformats.org/drawingml/2006/main">
            <a:srgbClr val="CBD5E0"/>
          </a:solidFill>
        </p:spPr>
      </p:sp>
      <p:sp>
        <p:nvSpPr>
          <p:cNvPr id="42" name="Text 40">
            <a:extLst xmlns:a="http://schemas.openxmlformats.org/drawingml/2006/main">
              <a:ext uri="{FF2B5EF4-FFF2-40B4-BE49-F238E27FC236}">
                <a16:creationId xmlns:a16="http://schemas.microsoft.com/office/drawing/2014/main" id="{7995EF46-AB15-42F8-AAC3-B27BB0A0173F}"/>
              </a:ext>
            </a:extLst>
          </p:cNvPr>
          <p:cNvSpPr>
            <a:spLocks xmlns:a="http://schemas.openxmlformats.org/drawingml/2006/main" noGrp="1"/>
          </p:cNvSpPr>
          <p:nvPr/>
        </p:nvSpPr>
        <p:spPr>
          <a:xfrm xmlns:a="http://schemas.openxmlformats.org/drawingml/2006/main">
            <a:off x="566928" y="475488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What made it usable</a:t>
            </a:r>
            <a:endParaRPr sz="1100"/>
          </a:p>
        </p:txBody>
      </p:sp>
      <p:sp>
        <p:nvSpPr>
          <p:cNvPr id="43" name="Shape 41">
            <a:extLst xmlns:a="http://schemas.openxmlformats.org/drawingml/2006/main">
              <a:ext uri="{FF2B5EF4-FFF2-40B4-BE49-F238E27FC236}">
                <a16:creationId xmlns:a16="http://schemas.microsoft.com/office/drawing/2014/main" id="{2C1157AB-4892-4A56-B168-597AA3782FD3}"/>
              </a:ext>
            </a:extLst>
          </p:cNvPr>
          <p:cNvSpPr>
            <a:spLocks xmlns:a="http://schemas.openxmlformats.org/drawingml/2006/main" noGrp="1"/>
          </p:cNvSpPr>
          <p:nvPr/>
        </p:nvSpPr>
        <p:spPr>
          <a:xfrm xmlns:a="http://schemas.openxmlformats.org/drawingml/2006/main">
            <a:off x="566928" y="5010912"/>
            <a:ext cx="3551834" cy="20117"/>
          </a:xfrm>
          <a:prstGeom xmlns:a="http://schemas.openxmlformats.org/drawingml/2006/main" prst="rect">
            <a:avLst/>
          </a:prstGeom>
          <a:solidFill xmlns:a="http://schemas.openxmlformats.org/drawingml/2006/main">
            <a:srgbClr val="B04A25"/>
          </a:solidFill>
        </p:spPr>
      </p:sp>
      <p:sp>
        <p:nvSpPr>
          <p:cNvPr id="44" name="Text 42">
            <a:extLst xmlns:a="http://schemas.openxmlformats.org/drawingml/2006/main">
              <a:ext uri="{FF2B5EF4-FFF2-40B4-BE49-F238E27FC236}">
                <a16:creationId xmlns:a16="http://schemas.microsoft.com/office/drawing/2014/main" id="{2B39D6F6-DAA3-4BC2-B20A-120B2601DF5C}"/>
              </a:ext>
            </a:extLst>
          </p:cNvPr>
          <p:cNvSpPr>
            <a:spLocks xmlns:a="http://schemas.openxmlformats.org/drawingml/2006/main" noGrp="1"/>
          </p:cNvSpPr>
          <p:nvPr/>
        </p:nvSpPr>
        <p:spPr>
          <a:xfrm xmlns:a="http://schemas.openxmlformats.org/drawingml/2006/main">
            <a:off x="566928" y="5138928"/>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Mismatches arrive in the staff member's queue with the member context already attached.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Each carries a suggested conversation rather than a metric, because staff act on conversations.</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Outcome captured in one click, including not appropriate.</a:t>
            </a:r>
            <a:endParaRPr sz="920"/>
          </a:p>
        </p:txBody>
      </p:sp>
      <p:sp>
        <p:nvSpPr>
          <p:cNvPr id="45" name="Text 43">
            <a:extLst xmlns:a="http://schemas.openxmlformats.org/drawingml/2006/main">
              <a:ext uri="{FF2B5EF4-FFF2-40B4-BE49-F238E27FC236}">
                <a16:creationId xmlns:a16="http://schemas.microsoft.com/office/drawing/2014/main" id="{16EB49F1-13E5-452D-ABB5-2FD230219011}"/>
              </a:ext>
            </a:extLst>
          </p:cNvPr>
          <p:cNvSpPr>
            <a:spLocks xmlns:a="http://schemas.openxmlformats.org/drawingml/2006/main" noGrp="1"/>
          </p:cNvSpPr>
          <p:nvPr/>
        </p:nvSpPr>
        <p:spPr>
          <a:xfrm xmlns:a="http://schemas.openxmlformats.org/drawingml/2006/main">
            <a:off x="4319930" y="475488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The response that teaches the model</a:t>
            </a:r>
            <a:endParaRPr sz="1100"/>
          </a:p>
        </p:txBody>
      </p:sp>
      <p:sp>
        <p:nvSpPr>
          <p:cNvPr id="46" name="Shape 44">
            <a:extLst xmlns:a="http://schemas.openxmlformats.org/drawingml/2006/main">
              <a:ext uri="{FF2B5EF4-FFF2-40B4-BE49-F238E27FC236}">
                <a16:creationId xmlns:a16="http://schemas.microsoft.com/office/drawing/2014/main" id="{C90A2D8C-4E18-4F3D-9891-FC2EAA17CB1A}"/>
              </a:ext>
            </a:extLst>
          </p:cNvPr>
          <p:cNvSpPr>
            <a:spLocks xmlns:a="http://schemas.openxmlformats.org/drawingml/2006/main" noGrp="1"/>
          </p:cNvSpPr>
          <p:nvPr/>
        </p:nvSpPr>
        <p:spPr>
          <a:xfrm xmlns:a="http://schemas.openxmlformats.org/drawingml/2006/main">
            <a:off x="4319930" y="5010912"/>
            <a:ext cx="3551834" cy="20117"/>
          </a:xfrm>
          <a:prstGeom xmlns:a="http://schemas.openxmlformats.org/drawingml/2006/main" prst="rect">
            <a:avLst/>
          </a:prstGeom>
          <a:solidFill xmlns:a="http://schemas.openxmlformats.org/drawingml/2006/main">
            <a:srgbClr val="102A43"/>
          </a:solidFill>
        </p:spPr>
      </p:sp>
      <p:sp>
        <p:nvSpPr>
          <p:cNvPr id="47" name="Text 45">
            <a:extLst xmlns:a="http://schemas.openxmlformats.org/drawingml/2006/main">
              <a:ext uri="{FF2B5EF4-FFF2-40B4-BE49-F238E27FC236}">
                <a16:creationId xmlns:a16="http://schemas.microsoft.com/office/drawing/2014/main" id="{ED8EE8A1-9BDD-4125-9BEA-78B6649118A1}"/>
              </a:ext>
            </a:extLst>
          </p:cNvPr>
          <p:cNvSpPr>
            <a:spLocks xmlns:a="http://schemas.openxmlformats.org/drawingml/2006/main" noGrp="1"/>
          </p:cNvSpPr>
          <p:nvPr/>
        </p:nvSpPr>
        <p:spPr>
          <a:xfrm xmlns:a="http://schemas.openxmlformats.org/drawingml/2006/main">
            <a:off x="4319930" y="5138928"/>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Not appropriate, with a reason, is more valuable than an accepted action.</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It is the only signal that distinguishes a bad mismatch from a member who declined.</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Without it the model cannot improve and trust decays fast.</a:t>
            </a:r>
            <a:endParaRPr sz="920"/>
          </a:p>
        </p:txBody>
      </p:sp>
      <p:sp>
        <p:nvSpPr>
          <p:cNvPr id="48" name="Text 46">
            <a:extLst xmlns:a="http://schemas.openxmlformats.org/drawingml/2006/main">
              <a:ext uri="{FF2B5EF4-FFF2-40B4-BE49-F238E27FC236}">
                <a16:creationId xmlns:a16="http://schemas.microsoft.com/office/drawing/2014/main" id="{EFAD8EF2-968F-4DF1-8AF5-F8659524DF24}"/>
              </a:ext>
            </a:extLst>
          </p:cNvPr>
          <p:cNvSpPr>
            <a:spLocks xmlns:a="http://schemas.openxmlformats.org/drawingml/2006/main" noGrp="1"/>
          </p:cNvSpPr>
          <p:nvPr/>
        </p:nvSpPr>
        <p:spPr>
          <a:xfrm xmlns:a="http://schemas.openxmlformats.org/drawingml/2006/main">
            <a:off x="8072933" y="4754880"/>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486581"/>
                </a:solidFill>
                <a:latin typeface="Arial"/>
                <a:ea typeface="Arial"/>
                <a:cs typeface="Arial"/>
              </a:rPr>
              <a:t>The governance point</a:t>
            </a:r>
            <a:endParaRPr sz="1100"/>
          </a:p>
        </p:txBody>
      </p:sp>
      <p:sp>
        <p:nvSpPr>
          <p:cNvPr id="49" name="Shape 47">
            <a:extLst xmlns:a="http://schemas.openxmlformats.org/drawingml/2006/main">
              <a:ext uri="{FF2B5EF4-FFF2-40B4-BE49-F238E27FC236}">
                <a16:creationId xmlns:a16="http://schemas.microsoft.com/office/drawing/2014/main" id="{65345B7B-20ED-41F4-B25D-9F802AC33BF5}"/>
              </a:ext>
            </a:extLst>
          </p:cNvPr>
          <p:cNvSpPr>
            <a:spLocks xmlns:a="http://schemas.openxmlformats.org/drawingml/2006/main" noGrp="1"/>
          </p:cNvSpPr>
          <p:nvPr/>
        </p:nvSpPr>
        <p:spPr>
          <a:xfrm xmlns:a="http://schemas.openxmlformats.org/drawingml/2006/main">
            <a:off x="8072933" y="5010912"/>
            <a:ext cx="3551834" cy="20117"/>
          </a:xfrm>
          <a:prstGeom xmlns:a="http://schemas.openxmlformats.org/drawingml/2006/main" prst="rect">
            <a:avLst/>
          </a:prstGeom>
          <a:solidFill xmlns:a="http://schemas.openxmlformats.org/drawingml/2006/main">
            <a:srgbClr val="486581"/>
          </a:solidFill>
        </p:spPr>
      </p:sp>
      <p:sp>
        <p:nvSpPr>
          <p:cNvPr id="50" name="Text 48">
            <a:extLst xmlns:a="http://schemas.openxmlformats.org/drawingml/2006/main">
              <a:ext uri="{FF2B5EF4-FFF2-40B4-BE49-F238E27FC236}">
                <a16:creationId xmlns:a16="http://schemas.microsoft.com/office/drawing/2014/main" id="{FF0FEC20-13A2-42B5-B0B9-BBE850DCE5C8}"/>
              </a:ext>
            </a:extLst>
          </p:cNvPr>
          <p:cNvSpPr>
            <a:spLocks xmlns:a="http://schemas.openxmlformats.org/drawingml/2006/main" noGrp="1"/>
          </p:cNvSpPr>
          <p:nvPr/>
        </p:nvSpPr>
        <p:spPr>
          <a:xfrm xmlns:a="http://schemas.openxmlformats.org/drawingml/2006/main">
            <a:off x="8072933" y="5138928"/>
            <a:ext cx="355183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The institution reviewed the mismatch categories before launch, not the underlying model.</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Categories are legible to a board in a way a value model is not.</a:t>
            </a:r>
            <a:endParaRPr sz="920"/>
          </a:p>
          <a:p xmlns:a="http://schemas.openxmlformats.org/drawingml/2006/main">
            <a:pPr marL="152400" indent="-152400">
              <a:lnSpc>
                <a:spcPts val="1400"/>
              </a:lnSpc>
              <a:spcAft>
                <a:spcPts val="600"/>
              </a:spcAft>
              <a:buSzPct val="100000"/>
              <a:buChar char="•"/>
            </a:pPr>
            <a:r>
              <a:rPr sz="920">
                <a:solidFill>
                  <a:srgbClr val="1A1A1A"/>
                </a:solidFill>
                <a:latin typeface="Arial"/>
                <a:ea typeface="Arial"/>
                <a:cs typeface="Arial"/>
              </a:rPr>
              <a:t>That review made the whole thing acceptable in a cooperative.</a:t>
            </a:r>
            <a:endParaRPr sz="920"/>
          </a:p>
        </p:txBody>
      </p:sp>
      <p:sp>
        <p:nvSpPr>
          <p:cNvPr id="51" name="Shape 49">
            <a:extLst xmlns:a="http://schemas.openxmlformats.org/drawingml/2006/main">
              <a:ext uri="{FF2B5EF4-FFF2-40B4-BE49-F238E27FC236}">
                <a16:creationId xmlns:a16="http://schemas.microsoft.com/office/drawing/2014/main" id="{D17A3FB5-4859-4985-BF00-F33AAFAB5C3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2" name="Text 50">
            <a:extLst xmlns:a="http://schemas.openxmlformats.org/drawingml/2006/main">
              <a:ext uri="{FF2B5EF4-FFF2-40B4-BE49-F238E27FC236}">
                <a16:creationId xmlns:a16="http://schemas.microsoft.com/office/drawing/2014/main" id="{3616DF5E-5BA3-43F2-B18B-BCD6868945F3}"/>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delivery record, 2023–2024 engagement · author's design</a:t>
            </a:r>
            <a:endParaRPr sz="850"/>
          </a:p>
        </p:txBody>
      </p:sp>
      <p:sp>
        <p:nvSpPr>
          <p:cNvPr id="53" name="Text 51">
            <a:extLst xmlns:a="http://schemas.openxmlformats.org/drawingml/2006/main">
              <a:ext uri="{FF2B5EF4-FFF2-40B4-BE49-F238E27FC236}">
                <a16:creationId xmlns:a16="http://schemas.microsoft.com/office/drawing/2014/main" id="{CF20905E-163B-4160-B704-31231D140AFD}"/>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00401830"/>
      </p:ext>
    </p:extLst>
  </p:cSld>
</p:sld>
</file>

<file path=ppt/slides/slide29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8121BB2-20B2-4EE1-B168-4BAD452CDAF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91A2024F-AB27-496D-BFFD-1B004AC11EA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Four rules for member analytics in a cooperative</a:t>
            </a:r>
            <a:endParaRPr sz="1900"/>
          </a:p>
        </p:txBody>
      </p:sp>
      <p:sp>
        <p:nvSpPr>
          <p:cNvPr id="4" name="Text 2">
            <a:extLst xmlns:a="http://schemas.openxmlformats.org/drawingml/2006/main">
              <a:ext uri="{FF2B5EF4-FFF2-40B4-BE49-F238E27FC236}">
                <a16:creationId xmlns:a16="http://schemas.microsoft.com/office/drawing/2014/main" id="{5FA31987-BD75-427E-A55A-F0C82F3B7EA6}"/>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55DA7095-E159-405E-A5A3-6475AC5E3589}"/>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Reframe ranking as mismatch</a:t>
            </a:r>
            <a:endParaRPr sz="1200"/>
          </a:p>
        </p:txBody>
      </p:sp>
      <p:sp>
        <p:nvSpPr>
          <p:cNvPr id="6" name="Text 4">
            <a:extLst xmlns:a="http://schemas.openxmlformats.org/drawingml/2006/main">
              <a:ext uri="{FF2B5EF4-FFF2-40B4-BE49-F238E27FC236}">
                <a16:creationId xmlns:a16="http://schemas.microsoft.com/office/drawing/2014/main" id="{B01CCB5C-2995-44E5-B8B0-B0E2131D2177}"/>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list ordered by contribution puts effort where the money already is, which is where marginal return is lowest. A list of members whose holdings and needs have diverged is more actionable and does not require ranking owners against each other.</a:t>
            </a:r>
            <a:endParaRPr sz="1000"/>
          </a:p>
        </p:txBody>
      </p:sp>
      <p:sp>
        <p:nvSpPr>
          <p:cNvPr id="7" name="Shape 5">
            <a:extLst xmlns:a="http://schemas.openxmlformats.org/drawingml/2006/main">
              <a:ext uri="{FF2B5EF4-FFF2-40B4-BE49-F238E27FC236}">
                <a16:creationId xmlns:a16="http://schemas.microsoft.com/office/drawing/2014/main" id="{0793D409-F2DE-4A00-83F7-3755FB136BC5}"/>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BF2A4DE7-BC36-4E51-A3C6-EFF9790CE8F8}"/>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94C7B498-9E2F-4228-9653-92F357B7A8A2}"/>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Band on trajectory, not just position</a:t>
            </a:r>
            <a:endParaRPr sz="1200"/>
          </a:p>
        </p:txBody>
      </p:sp>
      <p:sp>
        <p:nvSpPr>
          <p:cNvPr id="10" name="Text 8">
            <a:extLst xmlns:a="http://schemas.openxmlformats.org/drawingml/2006/main">
              <a:ext uri="{FF2B5EF4-FFF2-40B4-BE49-F238E27FC236}">
                <a16:creationId xmlns:a16="http://schemas.microsoft.com/office/drawing/2014/main" id="{11F1875B-70B9-43CA-A2B2-2DADA2B90CC5}"/>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Depth and stage describe where a member is; trajectory describes where they are going. A thinning relationship is the most actionable signal in the model and is completely invisible in a static ranking.</a:t>
            </a:r>
            <a:endParaRPr sz="1000"/>
          </a:p>
        </p:txBody>
      </p:sp>
      <p:sp>
        <p:nvSpPr>
          <p:cNvPr id="11" name="Shape 9">
            <a:extLst xmlns:a="http://schemas.openxmlformats.org/drawingml/2006/main">
              <a:ext uri="{FF2B5EF4-FFF2-40B4-BE49-F238E27FC236}">
                <a16:creationId xmlns:a16="http://schemas.microsoft.com/office/drawing/2014/main" id="{0602E0CB-5F5C-4961-BDF9-29B86CD24C46}"/>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7F6CCC80-06F7-43A9-AE0A-D2D498A5C686}"/>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FC9E5C5C-3255-4743-B91C-C8C90DD3F799}"/>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Deliver into a queue, not a report</a:t>
            </a:r>
            <a:endParaRPr sz="1200"/>
          </a:p>
        </p:txBody>
      </p:sp>
      <p:sp>
        <p:nvSpPr>
          <p:cNvPr id="14" name="Text 12">
            <a:extLst xmlns:a="http://schemas.openxmlformats.org/drawingml/2006/main">
              <a:ext uri="{FF2B5EF4-FFF2-40B4-BE49-F238E27FC236}">
                <a16:creationId xmlns:a16="http://schemas.microsoft.com/office/drawing/2014/main" id="{FE37CD47-67ED-45A2-8766-C58AA0F67F1E}"/>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An insight that does not reach a staff member with the member context attached and a suggested conversation is a slide. The delivery mechanism is part of the analytics, not a downstream concern.</a:t>
            </a:r>
            <a:endParaRPr sz="1000"/>
          </a:p>
        </p:txBody>
      </p:sp>
      <p:sp>
        <p:nvSpPr>
          <p:cNvPr id="15" name="Shape 13">
            <a:extLst xmlns:a="http://schemas.openxmlformats.org/drawingml/2006/main">
              <a:ext uri="{FF2B5EF4-FFF2-40B4-BE49-F238E27FC236}">
                <a16:creationId xmlns:a16="http://schemas.microsoft.com/office/drawing/2014/main" id="{8DF25C6A-4440-4A8B-AECF-D564A090F47D}"/>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C1F5179A-1B48-4C40-B415-C67F84279514}"/>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91455669-D752-4397-AEE5-6679E109F7B3}"/>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Make the categories the governance artefact</a:t>
            </a:r>
            <a:endParaRPr sz="1200"/>
          </a:p>
        </p:txBody>
      </p:sp>
      <p:sp>
        <p:nvSpPr>
          <p:cNvPr id="18" name="Text 16">
            <a:extLst xmlns:a="http://schemas.openxmlformats.org/drawingml/2006/main">
              <a:ext uri="{FF2B5EF4-FFF2-40B4-BE49-F238E27FC236}">
                <a16:creationId xmlns:a16="http://schemas.microsoft.com/office/drawing/2014/main" id="{3D3CD87A-A1F5-4106-A186-1EA1DA7FB634}"/>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board can review whether looking for thinning relationships and product mismatches is appropriate. It cannot meaningfully review a value model. Presenting the categories is what makes the work governable.</a:t>
            </a:r>
            <a:endParaRPr sz="1000"/>
          </a:p>
        </p:txBody>
      </p:sp>
      <p:sp>
        <p:nvSpPr>
          <p:cNvPr id="19" name="Shape 17">
            <a:extLst xmlns:a="http://schemas.openxmlformats.org/drawingml/2006/main">
              <a:ext uri="{FF2B5EF4-FFF2-40B4-BE49-F238E27FC236}">
                <a16:creationId xmlns:a16="http://schemas.microsoft.com/office/drawing/2014/main" id="{4AAFA9B6-EDFC-4748-B684-F44C61BB1102}"/>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02B9C100-3550-48AA-940A-A35FCE3D0547}"/>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In an institution the members own, the question is not who is worth the most. It is where the institution is failing to serve someone it exists to serve — which turns out to be the better commercial question as well.</a:t>
            </a:r>
            <a:endParaRPr sz="1200"/>
          </a:p>
        </p:txBody>
      </p:sp>
      <p:sp>
        <p:nvSpPr>
          <p:cNvPr id="21" name="Shape 19">
            <a:extLst xmlns:a="http://schemas.openxmlformats.org/drawingml/2006/main">
              <a:ext uri="{FF2B5EF4-FFF2-40B4-BE49-F238E27FC236}">
                <a16:creationId xmlns:a16="http://schemas.microsoft.com/office/drawing/2014/main" id="{EC52A52F-116A-45A2-9FDD-951B141C2C5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8FC79C8E-3054-4331-9FCA-6B8197B21CDE}"/>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a:t>
            </a:r>
            <a:endParaRPr sz="850"/>
          </a:p>
        </p:txBody>
      </p:sp>
      <p:sp>
        <p:nvSpPr>
          <p:cNvPr id="23" name="Text 21">
            <a:extLst xmlns:a="http://schemas.openxmlformats.org/drawingml/2006/main">
              <a:ext uri="{FF2B5EF4-FFF2-40B4-BE49-F238E27FC236}">
                <a16:creationId xmlns:a16="http://schemas.microsoft.com/office/drawing/2014/main" id="{E1B2068F-D4B1-428B-8E33-D745F9EEC95C}"/>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1457070552"/>
      </p:ext>
    </p:extLst>
  </p:cSld>
</p:sld>
</file>

<file path=ppt/slides/slide29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94EA1D5-8569-43AB-ACD8-1C2473DD5486}"/>
              </a:ext>
            </a:extLst>
          </p:cNvPr>
          <p:cNvSpPr>
            <a:spLocks xmlns:a="http://schemas.openxmlformats.org/drawingml/2006/main" noGrp="1"/>
          </p:cNvSpPr>
          <p:nvPr/>
        </p:nvSpPr>
        <p:spPr>
          <a:xfrm xmlns:a="http://schemas.openxmlformats.org/drawingml/2006/main">
            <a:off x="566928" y="86868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PORTFOLIO  ·  SYNTHESIS  ·  30 OF 30</a:t>
            </a:r>
            <a:endParaRPr sz="950"/>
          </a:p>
        </p:txBody>
      </p:sp>
      <p:sp>
        <p:nvSpPr>
          <p:cNvPr id="3" name="Text 1">
            <a:extLst xmlns:a="http://schemas.openxmlformats.org/drawingml/2006/main">
              <a:ext uri="{FF2B5EF4-FFF2-40B4-BE49-F238E27FC236}">
                <a16:creationId xmlns:a16="http://schemas.microsoft.com/office/drawing/2014/main" id="{E4DB4C7F-05CF-4F28-95DC-49E0DD9A861B}"/>
              </a:ext>
            </a:extLst>
          </p:cNvPr>
          <p:cNvSpPr>
            <a:spLocks xmlns:a="http://schemas.openxmlformats.org/drawingml/2006/main" noGrp="1"/>
          </p:cNvSpPr>
          <p:nvPr/>
        </p:nvSpPr>
        <p:spPr>
          <a:xfrm xmlns:a="http://schemas.openxmlformats.org/drawingml/2006/main">
            <a:off x="566928" y="1280160"/>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Notes from 38 Programmes</a:t>
            </a:r>
            <a:endParaRPr sz="3800"/>
          </a:p>
        </p:txBody>
      </p:sp>
      <p:sp>
        <p:nvSpPr>
          <p:cNvPr id="4" name="Text 2">
            <a:extLst xmlns:a="http://schemas.openxmlformats.org/drawingml/2006/main">
              <a:ext uri="{FF2B5EF4-FFF2-40B4-BE49-F238E27FC236}">
                <a16:creationId xmlns:a16="http://schemas.microsoft.com/office/drawing/2014/main" id="{666613BE-7445-4C34-B339-22FE31FFF3AA}"/>
              </a:ext>
            </a:extLst>
          </p:cNvPr>
          <p:cNvSpPr>
            <a:spLocks xmlns:a="http://schemas.openxmlformats.org/drawingml/2006/main" noGrp="1"/>
          </p:cNvSpPr>
          <p:nvPr/>
        </p:nvSpPr>
        <p:spPr>
          <a:xfrm xmlns:a="http://schemas.openxmlformats.org/drawingml/2006/main">
            <a:off x="566928" y="2029968"/>
            <a:ext cx="102412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200"/>
              </a:lnSpc>
              <a:buNone/>
            </a:pPr>
            <a:r>
              <a:rPr sz="1800">
                <a:solidFill>
                  <a:srgbClr val="C9D8E8"/>
                </a:solidFill>
                <a:latin typeface="Arial"/>
                <a:ea typeface="Arial"/>
                <a:cs typeface="Arial"/>
              </a:rPr>
              <a:t>What actually predicts whether a banking transformation works</a:t>
            </a:r>
            <a:endParaRPr sz="1800"/>
          </a:p>
        </p:txBody>
      </p:sp>
      <p:sp>
        <p:nvSpPr>
          <p:cNvPr id="5" name="Text 3">
            <a:extLst xmlns:a="http://schemas.openxmlformats.org/drawingml/2006/main">
              <a:ext uri="{FF2B5EF4-FFF2-40B4-BE49-F238E27FC236}">
                <a16:creationId xmlns:a16="http://schemas.microsoft.com/office/drawing/2014/main" id="{BB14CE4E-EF3D-4EF6-BB34-9DCF9EF2B433}"/>
              </a:ext>
            </a:extLst>
          </p:cNvPr>
          <p:cNvSpPr>
            <a:spLocks xmlns:a="http://schemas.openxmlformats.org/drawingml/2006/main" noGrp="1"/>
          </p:cNvSpPr>
          <p:nvPr/>
        </p:nvSpPr>
        <p:spPr>
          <a:xfrm xmlns:a="http://schemas.openxmlformats.org/drawingml/2006/main">
            <a:off x="566928" y="2615184"/>
            <a:ext cx="896112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600"/>
              </a:lnSpc>
              <a:buNone/>
            </a:pPr>
            <a:r>
              <a:rPr sz="1150">
                <a:solidFill>
                  <a:srgbClr val="8FA9C4"/>
                </a:solidFill>
                <a:latin typeface="Arial"/>
                <a:ea typeface="Arial"/>
                <a:cs typeface="Arial"/>
              </a:rPr>
              <a:t>Thirty-eight programmes delivered across sixteen institutions, plus solution and analysis work at nine more. Four regions, eight years. Almost none of what separated the programmes that worked from the ones that struggled was technology — and the pattern is consistent enough to be worth stating plainly.</a:t>
            </a:r>
            <a:endParaRPr sz="1150"/>
          </a:p>
        </p:txBody>
      </p:sp>
      <p:sp>
        <p:nvSpPr>
          <p:cNvPr id="6" name="Shape 4">
            <a:extLst xmlns:a="http://schemas.openxmlformats.org/drawingml/2006/main">
              <a:ext uri="{FF2B5EF4-FFF2-40B4-BE49-F238E27FC236}">
                <a16:creationId xmlns:a16="http://schemas.microsoft.com/office/drawing/2014/main" id="{97B61085-A6BD-4BE9-82F7-C97B83B6B062}"/>
              </a:ext>
            </a:extLst>
          </p:cNvPr>
          <p:cNvSpPr>
            <a:spLocks xmlns:a="http://schemas.openxmlformats.org/drawingml/2006/main" noGrp="1"/>
          </p:cNvSpPr>
          <p:nvPr/>
        </p:nvSpPr>
        <p:spPr>
          <a:xfrm xmlns:a="http://schemas.openxmlformats.org/drawingml/2006/main">
            <a:off x="566928" y="338328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7" name="Text 5">
            <a:extLst xmlns:a="http://schemas.openxmlformats.org/drawingml/2006/main">
              <a:ext uri="{FF2B5EF4-FFF2-40B4-BE49-F238E27FC236}">
                <a16:creationId xmlns:a16="http://schemas.microsoft.com/office/drawing/2014/main" id="{13ED147A-05F5-499A-B491-872B0A8493C2}"/>
              </a:ext>
            </a:extLst>
          </p:cNvPr>
          <p:cNvSpPr>
            <a:spLocks xmlns:a="http://schemas.openxmlformats.org/drawingml/2006/main" noGrp="1"/>
          </p:cNvSpPr>
          <p:nvPr/>
        </p:nvSpPr>
        <p:spPr>
          <a:xfrm xmlns:a="http://schemas.openxmlformats.org/drawingml/2006/main">
            <a:off x="56692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38</a:t>
            </a:r>
            <a:endParaRPr sz="2600"/>
          </a:p>
        </p:txBody>
      </p:sp>
      <p:sp>
        <p:nvSpPr>
          <p:cNvPr id="8" name="Text 6">
            <a:extLst xmlns:a="http://schemas.openxmlformats.org/drawingml/2006/main">
              <a:ext uri="{FF2B5EF4-FFF2-40B4-BE49-F238E27FC236}">
                <a16:creationId xmlns:a16="http://schemas.microsoft.com/office/drawing/2014/main" id="{1DA702B3-F13D-4CA0-982E-211EF8A617A3}"/>
              </a:ext>
            </a:extLst>
          </p:cNvPr>
          <p:cNvSpPr>
            <a:spLocks xmlns:a="http://schemas.openxmlformats.org/drawingml/2006/main" noGrp="1"/>
          </p:cNvSpPr>
          <p:nvPr/>
        </p:nvSpPr>
        <p:spPr>
          <a:xfrm xmlns:a="http://schemas.openxmlformats.org/drawingml/2006/main">
            <a:off x="56692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programmes</a:t>
            </a:r>
            <a:endParaRPr sz="900"/>
          </a:p>
          <a:p xmlns:a="http://schemas.openxmlformats.org/drawingml/2006/main">
            <a:pPr marL="0" indent="0">
              <a:lnSpc>
                <a:spcPts val="1100"/>
              </a:lnSpc>
              <a:buNone/>
            </a:pPr>
            <a:r>
              <a:rPr sz="900">
                <a:solidFill>
                  <a:srgbClr val="8FA9C4"/>
                </a:solidFill>
                <a:latin typeface="Arial"/>
                <a:ea typeface="Arial"/>
                <a:cs typeface="Arial"/>
              </a:rPr>
              <a:t>delivered</a:t>
            </a:r>
            <a:endParaRPr sz="900"/>
          </a:p>
        </p:txBody>
      </p:sp>
      <p:sp>
        <p:nvSpPr>
          <p:cNvPr id="9" name="Text 7">
            <a:extLst xmlns:a="http://schemas.openxmlformats.org/drawingml/2006/main">
              <a:ext uri="{FF2B5EF4-FFF2-40B4-BE49-F238E27FC236}">
                <a16:creationId xmlns:a16="http://schemas.microsoft.com/office/drawing/2014/main" id="{900A0277-92DC-4120-86BA-9C2E4CE4DF13}"/>
              </a:ext>
            </a:extLst>
          </p:cNvPr>
          <p:cNvSpPr>
            <a:spLocks xmlns:a="http://schemas.openxmlformats.org/drawingml/2006/main" noGrp="1"/>
          </p:cNvSpPr>
          <p:nvPr/>
        </p:nvSpPr>
        <p:spPr>
          <a:xfrm xmlns:a="http://schemas.openxmlformats.org/drawingml/2006/main">
            <a:off x="240990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16</a:t>
            </a:r>
            <a:endParaRPr sz="2600"/>
          </a:p>
        </p:txBody>
      </p:sp>
      <p:sp>
        <p:nvSpPr>
          <p:cNvPr id="10" name="Text 8">
            <a:extLst xmlns:a="http://schemas.openxmlformats.org/drawingml/2006/main">
              <a:ext uri="{FF2B5EF4-FFF2-40B4-BE49-F238E27FC236}">
                <a16:creationId xmlns:a16="http://schemas.microsoft.com/office/drawing/2014/main" id="{DEBD4010-8A74-4872-A373-314A421D566A}"/>
              </a:ext>
            </a:extLst>
          </p:cNvPr>
          <p:cNvSpPr>
            <a:spLocks xmlns:a="http://schemas.openxmlformats.org/drawingml/2006/main" noGrp="1"/>
          </p:cNvSpPr>
          <p:nvPr/>
        </p:nvSpPr>
        <p:spPr>
          <a:xfrm xmlns:a="http://schemas.openxmlformats.org/drawingml/2006/main">
            <a:off x="240990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institutions</a:t>
            </a:r>
            <a:endParaRPr sz="900"/>
          </a:p>
          <a:p xmlns:a="http://schemas.openxmlformats.org/drawingml/2006/main">
            <a:pPr marL="0" indent="0">
              <a:lnSpc>
                <a:spcPts val="1100"/>
              </a:lnSpc>
              <a:buNone/>
            </a:pPr>
            <a:r>
              <a:rPr sz="900">
                <a:solidFill>
                  <a:srgbClr val="8FA9C4"/>
                </a:solidFill>
                <a:latin typeface="Arial"/>
                <a:ea typeface="Arial"/>
                <a:cs typeface="Arial"/>
              </a:rPr>
              <a:t>delivered for</a:t>
            </a:r>
            <a:endParaRPr sz="900"/>
          </a:p>
        </p:txBody>
      </p:sp>
      <p:sp>
        <p:nvSpPr>
          <p:cNvPr id="11" name="Text 9">
            <a:extLst xmlns:a="http://schemas.openxmlformats.org/drawingml/2006/main">
              <a:ext uri="{FF2B5EF4-FFF2-40B4-BE49-F238E27FC236}">
                <a16:creationId xmlns:a16="http://schemas.microsoft.com/office/drawing/2014/main" id="{111A2F0D-ECB5-4DC8-9530-4FAD37243C20}"/>
              </a:ext>
            </a:extLst>
          </p:cNvPr>
          <p:cNvSpPr>
            <a:spLocks xmlns:a="http://schemas.openxmlformats.org/drawingml/2006/main" noGrp="1"/>
          </p:cNvSpPr>
          <p:nvPr/>
        </p:nvSpPr>
        <p:spPr>
          <a:xfrm xmlns:a="http://schemas.openxmlformats.org/drawingml/2006/main">
            <a:off x="425287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9</a:t>
            </a:r>
            <a:endParaRPr sz="2600"/>
          </a:p>
        </p:txBody>
      </p:sp>
      <p:sp>
        <p:nvSpPr>
          <p:cNvPr id="12" name="Text 10">
            <a:extLst xmlns:a="http://schemas.openxmlformats.org/drawingml/2006/main">
              <a:ext uri="{FF2B5EF4-FFF2-40B4-BE49-F238E27FC236}">
                <a16:creationId xmlns:a16="http://schemas.microsoft.com/office/drawing/2014/main" id="{CB556149-BBA4-48F7-B7F5-6DB5E3B5E596}"/>
              </a:ext>
            </a:extLst>
          </p:cNvPr>
          <p:cNvSpPr>
            <a:spLocks xmlns:a="http://schemas.openxmlformats.org/drawingml/2006/main" noGrp="1"/>
          </p:cNvSpPr>
          <p:nvPr/>
        </p:nvSpPr>
        <p:spPr>
          <a:xfrm xmlns:a="http://schemas.openxmlformats.org/drawingml/2006/main">
            <a:off x="425287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more, solution</a:t>
            </a:r>
            <a:endParaRPr sz="900"/>
          </a:p>
          <a:p xmlns:a="http://schemas.openxmlformats.org/drawingml/2006/main">
            <a:pPr marL="0" indent="0">
              <a:lnSpc>
                <a:spcPts val="1100"/>
              </a:lnSpc>
              <a:buNone/>
            </a:pPr>
            <a:r>
              <a:rPr sz="900">
                <a:solidFill>
                  <a:srgbClr val="8FA9C4"/>
                </a:solidFill>
                <a:latin typeface="Arial"/>
                <a:ea typeface="Arial"/>
                <a:cs typeface="Arial"/>
              </a:rPr>
              <a:t>and analysis</a:t>
            </a:r>
            <a:endParaRPr sz="900"/>
          </a:p>
        </p:txBody>
      </p:sp>
      <p:sp>
        <p:nvSpPr>
          <p:cNvPr id="13" name="Text 11">
            <a:extLst xmlns:a="http://schemas.openxmlformats.org/drawingml/2006/main">
              <a:ext uri="{FF2B5EF4-FFF2-40B4-BE49-F238E27FC236}">
                <a16:creationId xmlns:a16="http://schemas.microsoft.com/office/drawing/2014/main" id="{5D74DB36-5FC6-4751-8409-D1F76030FE3F}"/>
              </a:ext>
            </a:extLst>
          </p:cNvPr>
          <p:cNvSpPr>
            <a:spLocks xmlns:a="http://schemas.openxmlformats.org/drawingml/2006/main" noGrp="1"/>
          </p:cNvSpPr>
          <p:nvPr/>
        </p:nvSpPr>
        <p:spPr>
          <a:xfrm xmlns:a="http://schemas.openxmlformats.org/drawingml/2006/main">
            <a:off x="6095848"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4" name="Text 12">
            <a:extLst xmlns:a="http://schemas.openxmlformats.org/drawingml/2006/main">
              <a:ext uri="{FF2B5EF4-FFF2-40B4-BE49-F238E27FC236}">
                <a16:creationId xmlns:a16="http://schemas.microsoft.com/office/drawing/2014/main" id="{C40AA697-7068-424D-B911-B49FBF1E4035}"/>
              </a:ext>
            </a:extLst>
          </p:cNvPr>
          <p:cNvSpPr>
            <a:spLocks xmlns:a="http://schemas.openxmlformats.org/drawingml/2006/main" noGrp="1"/>
          </p:cNvSpPr>
          <p:nvPr/>
        </p:nvSpPr>
        <p:spPr>
          <a:xfrm xmlns:a="http://schemas.openxmlformats.org/drawingml/2006/main">
            <a:off x="6095848"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regions</a:t>
            </a:r>
            <a:endParaRPr sz="900"/>
          </a:p>
        </p:txBody>
      </p:sp>
      <p:sp>
        <p:nvSpPr>
          <p:cNvPr id="15" name="Text 13">
            <a:extLst xmlns:a="http://schemas.openxmlformats.org/drawingml/2006/main">
              <a:ext uri="{FF2B5EF4-FFF2-40B4-BE49-F238E27FC236}">
                <a16:creationId xmlns:a16="http://schemas.microsoft.com/office/drawing/2014/main" id="{F76CBE82-A3A0-4B66-AC0D-76B07EA9889F}"/>
              </a:ext>
            </a:extLst>
          </p:cNvPr>
          <p:cNvSpPr>
            <a:spLocks xmlns:a="http://schemas.openxmlformats.org/drawingml/2006/main" noGrp="1"/>
          </p:cNvSpPr>
          <p:nvPr/>
        </p:nvSpPr>
        <p:spPr>
          <a:xfrm xmlns:a="http://schemas.openxmlformats.org/drawingml/2006/main">
            <a:off x="7938821"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8</a:t>
            </a:r>
            <a:endParaRPr sz="2600"/>
          </a:p>
        </p:txBody>
      </p:sp>
      <p:sp>
        <p:nvSpPr>
          <p:cNvPr id="16" name="Text 14">
            <a:extLst xmlns:a="http://schemas.openxmlformats.org/drawingml/2006/main">
              <a:ext uri="{FF2B5EF4-FFF2-40B4-BE49-F238E27FC236}">
                <a16:creationId xmlns:a16="http://schemas.microsoft.com/office/drawing/2014/main" id="{2FD4B0AF-C0FA-4885-8E31-49475D8F6AAF}"/>
              </a:ext>
            </a:extLst>
          </p:cNvPr>
          <p:cNvSpPr>
            <a:spLocks xmlns:a="http://schemas.openxmlformats.org/drawingml/2006/main" noGrp="1"/>
          </p:cNvSpPr>
          <p:nvPr/>
        </p:nvSpPr>
        <p:spPr>
          <a:xfrm xmlns:a="http://schemas.openxmlformats.org/drawingml/2006/main">
            <a:off x="7938821"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years</a:t>
            </a:r>
            <a:endParaRPr sz="900"/>
          </a:p>
        </p:txBody>
      </p:sp>
      <p:sp>
        <p:nvSpPr>
          <p:cNvPr id="17" name="Text 15">
            <a:extLst xmlns:a="http://schemas.openxmlformats.org/drawingml/2006/main">
              <a:ext uri="{FF2B5EF4-FFF2-40B4-BE49-F238E27FC236}">
                <a16:creationId xmlns:a16="http://schemas.microsoft.com/office/drawing/2014/main" id="{A662D7CB-0822-4415-BC15-4331FBBAFE83}"/>
              </a:ext>
            </a:extLst>
          </p:cNvPr>
          <p:cNvSpPr>
            <a:spLocks xmlns:a="http://schemas.openxmlformats.org/drawingml/2006/main" noGrp="1"/>
          </p:cNvSpPr>
          <p:nvPr/>
        </p:nvSpPr>
        <p:spPr>
          <a:xfrm xmlns:a="http://schemas.openxmlformats.org/drawingml/2006/main">
            <a:off x="9781794" y="3602736"/>
            <a:ext cx="1660093"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3200"/>
              </a:lnSpc>
              <a:buNone/>
            </a:pPr>
            <a:r>
              <a:rPr sz="2600" b="1">
                <a:solidFill>
                  <a:srgbClr val="E8A184"/>
                </a:solidFill>
                <a:latin typeface="Arial"/>
                <a:ea typeface="Arial"/>
                <a:cs typeface="Arial"/>
              </a:rPr>
              <a:t>4</a:t>
            </a:r>
            <a:endParaRPr sz="2600"/>
          </a:p>
        </p:txBody>
      </p:sp>
      <p:sp>
        <p:nvSpPr>
          <p:cNvPr id="18" name="Text 16">
            <a:extLst xmlns:a="http://schemas.openxmlformats.org/drawingml/2006/main">
              <a:ext uri="{FF2B5EF4-FFF2-40B4-BE49-F238E27FC236}">
                <a16:creationId xmlns:a16="http://schemas.microsoft.com/office/drawing/2014/main" id="{E879B175-3717-45C8-B612-EC4F3BFD6B21}"/>
              </a:ext>
            </a:extLst>
          </p:cNvPr>
          <p:cNvSpPr>
            <a:spLocks xmlns:a="http://schemas.openxmlformats.org/drawingml/2006/main" noGrp="1"/>
          </p:cNvSpPr>
          <p:nvPr/>
        </p:nvSpPr>
        <p:spPr>
          <a:xfrm xmlns:a="http://schemas.openxmlformats.org/drawingml/2006/main">
            <a:off x="9781794" y="4114800"/>
            <a:ext cx="1660093"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100"/>
              </a:lnSpc>
              <a:buNone/>
            </a:pPr>
            <a:r>
              <a:rPr sz="900">
                <a:solidFill>
                  <a:srgbClr val="8FA9C4"/>
                </a:solidFill>
                <a:latin typeface="Arial"/>
                <a:ea typeface="Arial"/>
                <a:cs typeface="Arial"/>
              </a:rPr>
              <a:t>decisions that</a:t>
            </a:r>
            <a:endParaRPr sz="900"/>
          </a:p>
          <a:p xmlns:a="http://schemas.openxmlformats.org/drawingml/2006/main">
            <a:pPr marL="0" indent="0">
              <a:lnSpc>
                <a:spcPts val="1100"/>
              </a:lnSpc>
              <a:buNone/>
            </a:pPr>
            <a:r>
              <a:rPr sz="900">
                <a:solidFill>
                  <a:srgbClr val="8FA9C4"/>
                </a:solidFill>
                <a:latin typeface="Arial"/>
                <a:ea typeface="Arial"/>
                <a:cs typeface="Arial"/>
              </a:rPr>
              <a:t>decide it</a:t>
            </a:r>
            <a:endParaRPr sz="900"/>
          </a:p>
        </p:txBody>
      </p:sp>
      <p:sp>
        <p:nvSpPr>
          <p:cNvPr id="19" name="Shape 17">
            <a:extLst xmlns:a="http://schemas.openxmlformats.org/drawingml/2006/main">
              <a:ext uri="{FF2B5EF4-FFF2-40B4-BE49-F238E27FC236}">
                <a16:creationId xmlns:a16="http://schemas.microsoft.com/office/drawing/2014/main" id="{82AC611F-8849-476A-8BAF-443F69A0E855}"/>
              </a:ext>
            </a:extLst>
          </p:cNvPr>
          <p:cNvSpPr>
            <a:spLocks xmlns:a="http://schemas.openxmlformats.org/drawingml/2006/main" noGrp="1"/>
          </p:cNvSpPr>
          <p:nvPr/>
        </p:nvSpPr>
        <p:spPr>
          <a:xfrm xmlns:a="http://schemas.openxmlformats.org/drawingml/2006/main">
            <a:off x="566928" y="484632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20" name="Text 18">
            <a:extLst xmlns:a="http://schemas.openxmlformats.org/drawingml/2006/main">
              <a:ext uri="{FF2B5EF4-FFF2-40B4-BE49-F238E27FC236}">
                <a16:creationId xmlns:a16="http://schemas.microsoft.com/office/drawing/2014/main" id="{AE432826-306A-454D-8629-B7E14273E2F0}"/>
              </a:ext>
            </a:extLst>
          </p:cNvPr>
          <p:cNvSpPr>
            <a:spLocks xmlns:a="http://schemas.openxmlformats.org/drawingml/2006/main" noGrp="1"/>
          </p:cNvSpPr>
          <p:nvPr/>
        </p:nvSpPr>
        <p:spPr>
          <a:xfrm xmlns:a="http://schemas.openxmlformats.org/drawingml/2006/main">
            <a:off x="566928" y="5029200"/>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00" b="1" spc="120">
                <a:solidFill>
                  <a:srgbClr val="5C7A99"/>
                </a:solidFill>
                <a:latin typeface="Arial"/>
                <a:ea typeface="Arial"/>
                <a:cs typeface="Arial"/>
              </a:rPr>
              <a:t>PORTFOLIO SCOPE</a:t>
            </a:r>
            <a:endParaRPr sz="800"/>
          </a:p>
        </p:txBody>
      </p:sp>
      <p:sp>
        <p:nvSpPr>
          <p:cNvPr id="21" name="Text 19">
            <a:extLst xmlns:a="http://schemas.openxmlformats.org/drawingml/2006/main">
              <a:ext uri="{FF2B5EF4-FFF2-40B4-BE49-F238E27FC236}">
                <a16:creationId xmlns:a16="http://schemas.microsoft.com/office/drawing/2014/main" id="{B145600E-9BDD-4DF3-8FF5-183E13D7924B}"/>
              </a:ext>
            </a:extLst>
          </p:cNvPr>
          <p:cNvSpPr>
            <a:spLocks xmlns:a="http://schemas.openxmlformats.org/drawingml/2006/main" noGrp="1"/>
          </p:cNvSpPr>
          <p:nvPr/>
        </p:nvSpPr>
        <p:spPr>
          <a:xfrm xmlns:a="http://schemas.openxmlformats.org/drawingml/2006/main">
            <a:off x="566928" y="52486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A8BFD4"/>
                </a:solidFill>
                <a:latin typeface="Arial"/>
                <a:ea typeface="Arial"/>
                <a:cs typeface="Arial"/>
              </a:rPr>
              <a:t>Delivery at sixteen institutions    ·    solution, presales and analysis at nine more    ·    retail, corporate, wholesale, Islamic, insurance and community banking</a:t>
            </a:r>
            <a:endParaRPr sz="1050"/>
          </a:p>
        </p:txBody>
      </p:sp>
      <p:sp>
        <p:nvSpPr>
          <p:cNvPr id="22" name="Text 20">
            <a:extLst xmlns:a="http://schemas.openxmlformats.org/drawingml/2006/main">
              <a:ext uri="{FF2B5EF4-FFF2-40B4-BE49-F238E27FC236}">
                <a16:creationId xmlns:a16="http://schemas.microsoft.com/office/drawing/2014/main" id="{4936631C-0EE2-44F1-88CC-6704581D3BCE}"/>
              </a:ext>
            </a:extLst>
          </p:cNvPr>
          <p:cNvSpPr>
            <a:spLocks xmlns:a="http://schemas.openxmlformats.org/drawingml/2006/main" noGrp="1"/>
          </p:cNvSpPr>
          <p:nvPr/>
        </p:nvSpPr>
        <p:spPr>
          <a:xfrm xmlns:a="http://schemas.openxmlformats.org/drawingml/2006/main">
            <a:off x="566928" y="5705856"/>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FFFFFF"/>
                </a:solidFill>
                <a:latin typeface="Arial"/>
                <a:ea typeface="Arial"/>
                <a:cs typeface="Arial"/>
              </a:rPr>
              <a:t>Aditya Singh</a:t>
            </a:r>
            <a:r>
              <a:rPr sz="1100">
                <a:solidFill>
                  <a:srgbClr val="8FA9C4"/>
                </a:solidFill>
                <a:latin typeface="Arial"/>
                <a:ea typeface="Arial"/>
                <a:cs typeface="Arial"/>
              </a:rPr>
              <a:t>   ·   Senior Manager — Global Operations and Business Technology  ·  BFSI delivery 2018–2026</a:t>
            </a:r>
            <a:endParaRPr sz="1200"/>
          </a:p>
        </p:txBody>
      </p:sp>
      <p:sp>
        <p:nvSpPr>
          <p:cNvPr id="23" name="Text 21">
            <a:extLst xmlns:a="http://schemas.openxmlformats.org/drawingml/2006/main">
              <a:ext uri="{FF2B5EF4-FFF2-40B4-BE49-F238E27FC236}">
                <a16:creationId xmlns:a16="http://schemas.microsoft.com/office/drawing/2014/main" id="{5B9AC116-4DFF-463E-A508-39C4397CE4BB}"/>
              </a:ext>
            </a:extLst>
          </p:cNvPr>
          <p:cNvSpPr>
            <a:spLocks xmlns:a="http://schemas.openxmlformats.org/drawingml/2006/main" noGrp="1"/>
          </p:cNvSpPr>
          <p:nvPr/>
        </p:nvSpPr>
        <p:spPr>
          <a:xfrm xmlns:a="http://schemas.openxmlformats.org/drawingml/2006/main">
            <a:off x="566928" y="6309360"/>
            <a:ext cx="11057839"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5C7A99"/>
                </a:solidFill>
                <a:latin typeface="Arial"/>
                <a:ea typeface="Arial"/>
                <a:cs typeface="Arial"/>
              </a:rPr>
              <a:t>Client and vendor names removed where the argument does not require them. Every finding is drawn from the twenty-nine case decks in this portfolio.</a:t>
            </a:r>
            <a:endParaRPr sz="850"/>
          </a:p>
        </p:txBody>
      </p:sp>
    </p:spTree>
    <p:extLst>
      <p:ext uri="{BB962C8B-B14F-4D97-AF65-F5344CB8AC3E}">
        <p14:creationId xmlns:p14="http://schemas.microsoft.com/office/powerpoint/2010/main" val="1927986526"/>
      </p:ext>
    </p:extLst>
  </p:cSld>
</p:sld>
</file>

<file path=ppt/slides/slide29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5E8B68C-EEE5-45C1-8DDE-DBEA7D6ACC15}"/>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EXECUTIVE SUMMARY</a:t>
            </a:r>
            <a:endParaRPr sz="950"/>
          </a:p>
        </p:txBody>
      </p:sp>
      <p:sp>
        <p:nvSpPr>
          <p:cNvPr id="3" name="Text 1">
            <a:extLst xmlns:a="http://schemas.openxmlformats.org/drawingml/2006/main">
              <a:ext uri="{FF2B5EF4-FFF2-40B4-BE49-F238E27FC236}">
                <a16:creationId xmlns:a16="http://schemas.microsoft.com/office/drawing/2014/main" id="{C67FDD8C-736B-4D0F-9C11-424EAE08CD17}"/>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Across thirty-eight programmes the same four decisions decided the outcome — and</a:t>
            </a:r>
            <a:endParaRPr sz="1900"/>
          </a:p>
          <a:p xmlns:a="http://schemas.openxmlformats.org/drawingml/2006/main">
            <a:pPr marL="0" indent="0">
              <a:lnSpc>
                <a:spcPts val="2400"/>
              </a:lnSpc>
              <a:buNone/>
            </a:pPr>
            <a:r>
              <a:rPr sz="1900" b="1">
                <a:solidFill>
                  <a:srgbClr val="102A43"/>
                </a:solidFill>
                <a:latin typeface="Arial"/>
                <a:ea typeface="Arial"/>
                <a:cs typeface="Arial"/>
              </a:rPr>
              <a:t>all four are taken in the first quarter, before anything is built</a:t>
            </a:r>
            <a:endParaRPr sz="1900"/>
          </a:p>
        </p:txBody>
      </p:sp>
      <p:sp>
        <p:nvSpPr>
          <p:cNvPr id="4" name="Shape 2">
            <a:extLst xmlns:a="http://schemas.openxmlformats.org/drawingml/2006/main">
              <a:ext uri="{FF2B5EF4-FFF2-40B4-BE49-F238E27FC236}">
                <a16:creationId xmlns:a16="http://schemas.microsoft.com/office/drawing/2014/main" id="{E440DA00-B4E8-4D9B-AC83-F9FDEBA9C194}"/>
              </a:ext>
            </a:extLst>
          </p:cNvPr>
          <p:cNvSpPr>
            <a:spLocks xmlns:a="http://schemas.openxmlformats.org/drawingml/2006/main" noGrp="1"/>
          </p:cNvSpPr>
          <p:nvPr/>
        </p:nvSpPr>
        <p:spPr>
          <a:xfrm xmlns:a="http://schemas.openxmlformats.org/drawingml/2006/main">
            <a:off x="566928" y="1335024"/>
            <a:ext cx="3551834" cy="2468880"/>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BE469E54-B26C-4AF3-A5EB-D1EFE16B2CB5}"/>
              </a:ext>
            </a:extLst>
          </p:cNvPr>
          <p:cNvSpPr>
            <a:spLocks xmlns:a="http://schemas.openxmlformats.org/drawingml/2006/main" noGrp="1"/>
          </p:cNvSpPr>
          <p:nvPr/>
        </p:nvSpPr>
        <p:spPr>
          <a:xfrm xmlns:a="http://schemas.openxmlformats.org/drawingml/2006/main">
            <a:off x="768096"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Situation</a:t>
            </a:r>
            <a:endParaRPr sz="1250"/>
          </a:p>
        </p:txBody>
      </p:sp>
      <p:sp>
        <p:nvSpPr>
          <p:cNvPr id="6" name="Text 4">
            <a:extLst xmlns:a="http://schemas.openxmlformats.org/drawingml/2006/main">
              <a:ext uri="{FF2B5EF4-FFF2-40B4-BE49-F238E27FC236}">
                <a16:creationId xmlns:a16="http://schemas.microsoft.com/office/drawing/2014/main" id="{CA62CC06-447C-4476-BEC7-AA90B2A443DE}"/>
              </a:ext>
            </a:extLst>
          </p:cNvPr>
          <p:cNvSpPr>
            <a:spLocks xmlns:a="http://schemas.openxmlformats.org/drawingml/2006/main" noGrp="1"/>
          </p:cNvSpPr>
          <p:nvPr/>
        </p:nvSpPr>
        <p:spPr>
          <a:xfrm xmlns:a="http://schemas.openxmlformats.org/drawingml/2006/main">
            <a:off x="768096"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Thirty-eight programmes delivered across sixteen institutions: a Gulf Islamic bank, India's largest private bank, a regional corporate bank across six countries, an Indian life insurer, and twelve American credit unions and community banks.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Alongside that, solution, presales and analysis work at nine more — Indian public sector, Southeast Asian universal and digital-first banks, and an insurance distribution pursuit.</a:t>
            </a:r>
            <a:endParaRPr sz="980"/>
          </a:p>
        </p:txBody>
      </p:sp>
      <p:sp>
        <p:nvSpPr>
          <p:cNvPr id="7" name="Shape 5">
            <a:extLst xmlns:a="http://schemas.openxmlformats.org/drawingml/2006/main">
              <a:ext uri="{FF2B5EF4-FFF2-40B4-BE49-F238E27FC236}">
                <a16:creationId xmlns:a16="http://schemas.microsoft.com/office/drawing/2014/main" id="{B40D1A2F-A916-479E-BF35-495F23E6F8F6}"/>
              </a:ext>
            </a:extLst>
          </p:cNvPr>
          <p:cNvSpPr>
            <a:spLocks xmlns:a="http://schemas.openxmlformats.org/drawingml/2006/main" noGrp="1"/>
          </p:cNvSpPr>
          <p:nvPr/>
        </p:nvSpPr>
        <p:spPr>
          <a:xfrm xmlns:a="http://schemas.openxmlformats.org/drawingml/2006/main">
            <a:off x="4319930" y="1335024"/>
            <a:ext cx="3551834" cy="246888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E3031A30-3D0E-4787-A9B5-9BD579118FF3}"/>
              </a:ext>
            </a:extLst>
          </p:cNvPr>
          <p:cNvSpPr>
            <a:spLocks xmlns:a="http://schemas.openxmlformats.org/drawingml/2006/main" noGrp="1"/>
          </p:cNvSpPr>
          <p:nvPr/>
        </p:nvSpPr>
        <p:spPr>
          <a:xfrm xmlns:a="http://schemas.openxmlformats.org/drawingml/2006/main">
            <a:off x="4521098"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Complication</a:t>
            </a:r>
            <a:endParaRPr sz="1250"/>
          </a:p>
        </p:txBody>
      </p:sp>
      <p:sp>
        <p:nvSpPr>
          <p:cNvPr id="9" name="Text 7">
            <a:extLst xmlns:a="http://schemas.openxmlformats.org/drawingml/2006/main">
              <a:ext uri="{FF2B5EF4-FFF2-40B4-BE49-F238E27FC236}">
                <a16:creationId xmlns:a16="http://schemas.microsoft.com/office/drawing/2014/main" id="{24E9F6AE-8EC8-463C-A3A0-AC3C9BF557FF}"/>
              </a:ext>
            </a:extLst>
          </p:cNvPr>
          <p:cNvSpPr>
            <a:spLocks xmlns:a="http://schemas.openxmlformats.org/drawingml/2006/main" noGrp="1"/>
          </p:cNvSpPr>
          <p:nvPr/>
        </p:nvSpPr>
        <p:spPr>
          <a:xfrm xmlns:a="http://schemas.openxmlformats.org/drawingml/2006/main">
            <a:off x="4521098"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The programmes that struggled did not struggle on capability. In almost every case the platform could do what was asked, the team was competent, and the requirements were reasonable.</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They struggled because a decision taken early and cheaply — usually without anyone noticing it was a decision — made everything afterwards more expensive. And the cost only became visible in year two or three, by which point it was structural.</a:t>
            </a:r>
            <a:endParaRPr sz="980"/>
          </a:p>
        </p:txBody>
      </p:sp>
      <p:sp>
        <p:nvSpPr>
          <p:cNvPr id="10" name="Shape 8">
            <a:extLst xmlns:a="http://schemas.openxmlformats.org/drawingml/2006/main">
              <a:ext uri="{FF2B5EF4-FFF2-40B4-BE49-F238E27FC236}">
                <a16:creationId xmlns:a16="http://schemas.microsoft.com/office/drawing/2014/main" id="{F13AED79-E772-41CA-B2FC-69D2D6AFDA81}"/>
              </a:ext>
            </a:extLst>
          </p:cNvPr>
          <p:cNvSpPr>
            <a:spLocks xmlns:a="http://schemas.openxmlformats.org/drawingml/2006/main" noGrp="1"/>
          </p:cNvSpPr>
          <p:nvPr/>
        </p:nvSpPr>
        <p:spPr>
          <a:xfrm xmlns:a="http://schemas.openxmlformats.org/drawingml/2006/main">
            <a:off x="8072933" y="1335024"/>
            <a:ext cx="3551834" cy="2468880"/>
          </a:xfrm>
          <a:prstGeom xmlns:a="http://schemas.openxmlformats.org/drawingml/2006/main" prst="rect">
            <a:avLst/>
          </a:prstGeom>
          <a:solidFill xmlns:a="http://schemas.openxmlformats.org/drawingml/2006/main">
            <a:srgbClr val="F3E6E0"/>
          </a:solidFill>
        </p:spPr>
      </p:sp>
      <p:sp>
        <p:nvSpPr>
          <p:cNvPr id="11" name="Text 9">
            <a:extLst xmlns:a="http://schemas.openxmlformats.org/drawingml/2006/main">
              <a:ext uri="{FF2B5EF4-FFF2-40B4-BE49-F238E27FC236}">
                <a16:creationId xmlns:a16="http://schemas.microsoft.com/office/drawing/2014/main" id="{AF04DD4D-A5F2-41C4-9171-1DD69167C21B}"/>
              </a:ext>
            </a:extLst>
          </p:cNvPr>
          <p:cNvSpPr>
            <a:spLocks xmlns:a="http://schemas.openxmlformats.org/drawingml/2006/main" noGrp="1"/>
          </p:cNvSpPr>
          <p:nvPr/>
        </p:nvSpPr>
        <p:spPr>
          <a:xfrm xmlns:a="http://schemas.openxmlformats.org/drawingml/2006/main">
            <a:off x="8274101" y="1517904"/>
            <a:ext cx="314949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The finding</a:t>
            </a:r>
            <a:endParaRPr sz="1250"/>
          </a:p>
        </p:txBody>
      </p:sp>
      <p:sp>
        <p:nvSpPr>
          <p:cNvPr id="12" name="Text 10">
            <a:extLst xmlns:a="http://schemas.openxmlformats.org/drawingml/2006/main">
              <a:ext uri="{FF2B5EF4-FFF2-40B4-BE49-F238E27FC236}">
                <a16:creationId xmlns:a16="http://schemas.microsoft.com/office/drawing/2014/main" id="{F475E227-4C56-4306-B993-52DFA39243C9}"/>
              </a:ext>
            </a:extLst>
          </p:cNvPr>
          <p:cNvSpPr>
            <a:spLocks xmlns:a="http://schemas.openxmlformats.org/drawingml/2006/main" noGrp="1"/>
          </p:cNvSpPr>
          <p:nvPr/>
        </p:nvSpPr>
        <p:spPr>
          <a:xfrm xmlns:a="http://schemas.openxmlformats.org/drawingml/2006/main">
            <a:off x="8274101" y="1847088"/>
            <a:ext cx="3149498"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80">
                <a:solidFill>
                  <a:srgbClr val="1A1A1A"/>
                </a:solidFill>
                <a:latin typeface="Arial"/>
                <a:ea typeface="Arial"/>
                <a:cs typeface="Arial"/>
              </a:rPr>
              <a:t>Four decisions recur across every programme in the portfolio regardless of region, segment or scale: what the shared object is, in what order things are built, who is permitted to say no, and what gets measured before anything changes.</a:t>
            </a:r>
            <a:endParaRPr sz="980"/>
          </a:p>
          <a:p xmlns:a="http://schemas.openxmlformats.org/drawingml/2006/main">
            <a:pPr marL="0" indent="0" algn="l">
              <a:lnSpc>
                <a:spcPts val="1400"/>
              </a:lnSpc>
              <a:buNone/>
            </a:pPr>
            <a:endParaRPr sz="980"/>
          </a:p>
          <a:p xmlns:a="http://schemas.openxmlformats.org/drawingml/2006/main">
            <a:pPr marL="0" indent="0" algn="l">
              <a:lnSpc>
                <a:spcPts val="1400"/>
              </a:lnSpc>
              <a:buNone/>
            </a:pPr>
            <a:r>
              <a:rPr sz="980">
                <a:solidFill>
                  <a:srgbClr val="1A1A1A"/>
                </a:solidFill>
                <a:latin typeface="Arial"/>
                <a:ea typeface="Arial"/>
                <a:cs typeface="Arial"/>
              </a:rPr>
              <a:t>Get those four right and ordinary teams deliver well. Get them wrong and strong teams spend three years compensating.</a:t>
            </a:r>
            <a:endParaRPr sz="980"/>
          </a:p>
        </p:txBody>
      </p:sp>
      <p:sp>
        <p:nvSpPr>
          <p:cNvPr id="13" name="Text 11">
            <a:extLst xmlns:a="http://schemas.openxmlformats.org/drawingml/2006/main">
              <a:ext uri="{FF2B5EF4-FFF2-40B4-BE49-F238E27FC236}">
                <a16:creationId xmlns:a16="http://schemas.microsoft.com/office/drawing/2014/main" id="{CBDE40E8-937F-46AD-92C3-E40618E467D2}"/>
              </a:ext>
            </a:extLst>
          </p:cNvPr>
          <p:cNvSpPr>
            <a:spLocks xmlns:a="http://schemas.openxmlformats.org/drawingml/2006/main" noGrp="1"/>
          </p:cNvSpPr>
          <p:nvPr/>
        </p:nvSpPr>
        <p:spPr>
          <a:xfrm xmlns:a="http://schemas.openxmlformats.org/drawingml/2006/main">
            <a:off x="566928" y="4041648"/>
            <a:ext cx="11057839" cy="1828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800" b="1">
                <a:solidFill>
                  <a:srgbClr val="627D98"/>
                </a:solidFill>
                <a:latin typeface="Arial"/>
                <a:ea typeface="Arial"/>
                <a:cs typeface="Arial"/>
              </a:rPr>
              <a:t>THE NUMBERS THAT MATTER</a:t>
            </a:r>
            <a:endParaRPr sz="800"/>
          </a:p>
        </p:txBody>
      </p:sp>
      <p:sp>
        <p:nvSpPr>
          <p:cNvPr id="14" name="Shape 12">
            <a:extLst xmlns:a="http://schemas.openxmlformats.org/drawingml/2006/main">
              <a:ext uri="{FF2B5EF4-FFF2-40B4-BE49-F238E27FC236}">
                <a16:creationId xmlns:a16="http://schemas.microsoft.com/office/drawing/2014/main" id="{734A7726-7687-4480-9205-765B5D05B485}"/>
              </a:ext>
            </a:extLst>
          </p:cNvPr>
          <p:cNvSpPr>
            <a:spLocks xmlns:a="http://schemas.openxmlformats.org/drawingml/2006/main" noGrp="1"/>
          </p:cNvSpPr>
          <p:nvPr/>
        </p:nvSpPr>
        <p:spPr>
          <a:xfrm xmlns:a="http://schemas.openxmlformats.org/drawingml/2006/main">
            <a:off x="566928" y="4279392"/>
            <a:ext cx="1766773" cy="106070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FA52CF85-3F63-456B-B0DD-2B9C0AA406DA}"/>
              </a:ext>
            </a:extLst>
          </p:cNvPr>
          <p:cNvSpPr>
            <a:spLocks xmlns:a="http://schemas.openxmlformats.org/drawingml/2006/main" noGrp="1"/>
          </p:cNvSpPr>
          <p:nvPr/>
        </p:nvSpPr>
        <p:spPr>
          <a:xfrm xmlns:a="http://schemas.openxmlformats.org/drawingml/2006/main">
            <a:off x="69494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4</a:t>
            </a:r>
            <a:endParaRPr sz="2100"/>
          </a:p>
        </p:txBody>
      </p:sp>
      <p:sp>
        <p:nvSpPr>
          <p:cNvPr id="16" name="Text 14">
            <a:extLst xmlns:a="http://schemas.openxmlformats.org/drawingml/2006/main">
              <a:ext uri="{FF2B5EF4-FFF2-40B4-BE49-F238E27FC236}">
                <a16:creationId xmlns:a16="http://schemas.microsoft.com/office/drawing/2014/main" id="{22367870-2361-4F1A-A2C0-128F55733777}"/>
              </a:ext>
            </a:extLst>
          </p:cNvPr>
          <p:cNvSpPr>
            <a:spLocks xmlns:a="http://schemas.openxmlformats.org/drawingml/2006/main" noGrp="1"/>
          </p:cNvSpPr>
          <p:nvPr/>
        </p:nvSpPr>
        <p:spPr>
          <a:xfrm xmlns:a="http://schemas.openxmlformats.org/drawingml/2006/main">
            <a:off x="69494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decisions that recur</a:t>
            </a:r>
            <a:endParaRPr sz="860"/>
          </a:p>
        </p:txBody>
      </p:sp>
      <p:sp>
        <p:nvSpPr>
          <p:cNvPr id="17" name="Shape 15">
            <a:extLst xmlns:a="http://schemas.openxmlformats.org/drawingml/2006/main">
              <a:ext uri="{FF2B5EF4-FFF2-40B4-BE49-F238E27FC236}">
                <a16:creationId xmlns:a16="http://schemas.microsoft.com/office/drawing/2014/main" id="{3EBA45BD-07A8-4B4D-8BDB-BD99102FA51C}"/>
              </a:ext>
            </a:extLst>
          </p:cNvPr>
          <p:cNvSpPr>
            <a:spLocks xmlns:a="http://schemas.openxmlformats.org/drawingml/2006/main" noGrp="1"/>
          </p:cNvSpPr>
          <p:nvPr/>
        </p:nvSpPr>
        <p:spPr>
          <a:xfrm xmlns:a="http://schemas.openxmlformats.org/drawingml/2006/main">
            <a:off x="2425141" y="4279392"/>
            <a:ext cx="1766773" cy="1060704"/>
          </a:xfrm>
          <a:prstGeom xmlns:a="http://schemas.openxmlformats.org/drawingml/2006/main" prst="rect">
            <a:avLst/>
          </a:prstGeom>
          <a:solidFill xmlns:a="http://schemas.openxmlformats.org/drawingml/2006/main">
            <a:srgbClr val="F0F4F8"/>
          </a:solidFill>
        </p:spPr>
      </p:sp>
      <p:sp>
        <p:nvSpPr>
          <p:cNvPr id="18" name="Text 16">
            <a:extLst xmlns:a="http://schemas.openxmlformats.org/drawingml/2006/main">
              <a:ext uri="{FF2B5EF4-FFF2-40B4-BE49-F238E27FC236}">
                <a16:creationId xmlns:a16="http://schemas.microsoft.com/office/drawing/2014/main" id="{64380908-7C0E-40D5-B43C-3609DC786199}"/>
              </a:ext>
            </a:extLst>
          </p:cNvPr>
          <p:cNvSpPr>
            <a:spLocks xmlns:a="http://schemas.openxmlformats.org/drawingml/2006/main" noGrp="1"/>
          </p:cNvSpPr>
          <p:nvPr/>
        </p:nvSpPr>
        <p:spPr>
          <a:xfrm xmlns:a="http://schemas.openxmlformats.org/drawingml/2006/main">
            <a:off x="255315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1</a:t>
            </a:r>
            <a:endParaRPr sz="2100"/>
          </a:p>
        </p:txBody>
      </p:sp>
      <p:sp>
        <p:nvSpPr>
          <p:cNvPr id="19" name="Text 17">
            <a:extLst xmlns:a="http://schemas.openxmlformats.org/drawingml/2006/main">
              <a:ext uri="{FF2B5EF4-FFF2-40B4-BE49-F238E27FC236}">
                <a16:creationId xmlns:a16="http://schemas.microsoft.com/office/drawing/2014/main" id="{BB35C2E5-2C51-4864-9D4E-AE585D16BE46}"/>
              </a:ext>
            </a:extLst>
          </p:cNvPr>
          <p:cNvSpPr>
            <a:spLocks xmlns:a="http://schemas.openxmlformats.org/drawingml/2006/main" noGrp="1"/>
          </p:cNvSpPr>
          <p:nvPr/>
        </p:nvSpPr>
        <p:spPr>
          <a:xfrm xmlns:a="http://schemas.openxmlformats.org/drawingml/2006/main">
            <a:off x="255315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quarter in which all four are taken</a:t>
            </a:r>
            <a:endParaRPr sz="860"/>
          </a:p>
        </p:txBody>
      </p:sp>
      <p:sp>
        <p:nvSpPr>
          <p:cNvPr id="20" name="Shape 18">
            <a:extLst xmlns:a="http://schemas.openxmlformats.org/drawingml/2006/main">
              <a:ext uri="{FF2B5EF4-FFF2-40B4-BE49-F238E27FC236}">
                <a16:creationId xmlns:a16="http://schemas.microsoft.com/office/drawing/2014/main" id="{0D0E7D8C-E74A-458F-9F17-710576FEAB43}"/>
              </a:ext>
            </a:extLst>
          </p:cNvPr>
          <p:cNvSpPr>
            <a:spLocks xmlns:a="http://schemas.openxmlformats.org/drawingml/2006/main" noGrp="1"/>
          </p:cNvSpPr>
          <p:nvPr/>
        </p:nvSpPr>
        <p:spPr>
          <a:xfrm xmlns:a="http://schemas.openxmlformats.org/drawingml/2006/main">
            <a:off x="4283354" y="4279392"/>
            <a:ext cx="1766773" cy="1060704"/>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DA3B8F80-376D-487B-A225-750F750EB821}"/>
              </a:ext>
            </a:extLst>
          </p:cNvPr>
          <p:cNvSpPr>
            <a:spLocks xmlns:a="http://schemas.openxmlformats.org/drawingml/2006/main" noGrp="1"/>
          </p:cNvSpPr>
          <p:nvPr/>
        </p:nvSpPr>
        <p:spPr>
          <a:xfrm xmlns:a="http://schemas.openxmlformats.org/drawingml/2006/main">
            <a:off x="441137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0</a:t>
            </a:r>
            <a:endParaRPr sz="2100"/>
          </a:p>
        </p:txBody>
      </p:sp>
      <p:sp>
        <p:nvSpPr>
          <p:cNvPr id="22" name="Text 20">
            <a:extLst xmlns:a="http://schemas.openxmlformats.org/drawingml/2006/main">
              <a:ext uri="{FF2B5EF4-FFF2-40B4-BE49-F238E27FC236}">
                <a16:creationId xmlns:a16="http://schemas.microsoft.com/office/drawing/2014/main" id="{1715201C-A8D2-4EEF-ADC9-7BAEA67EB374}"/>
              </a:ext>
            </a:extLst>
          </p:cNvPr>
          <p:cNvSpPr>
            <a:spLocks xmlns:a="http://schemas.openxmlformats.org/drawingml/2006/main" noGrp="1"/>
          </p:cNvSpPr>
          <p:nvPr/>
        </p:nvSpPr>
        <p:spPr>
          <a:xfrm xmlns:a="http://schemas.openxmlformats.org/drawingml/2006/main">
            <a:off x="441137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that are technology choices</a:t>
            </a:r>
            <a:endParaRPr sz="860"/>
          </a:p>
        </p:txBody>
      </p:sp>
      <p:sp>
        <p:nvSpPr>
          <p:cNvPr id="23" name="Shape 21">
            <a:extLst xmlns:a="http://schemas.openxmlformats.org/drawingml/2006/main">
              <a:ext uri="{FF2B5EF4-FFF2-40B4-BE49-F238E27FC236}">
                <a16:creationId xmlns:a16="http://schemas.microsoft.com/office/drawing/2014/main" id="{E6C014A4-4EA9-4FB4-B968-9CD74C5A9B5A}"/>
              </a:ext>
            </a:extLst>
          </p:cNvPr>
          <p:cNvSpPr>
            <a:spLocks xmlns:a="http://schemas.openxmlformats.org/drawingml/2006/main" noGrp="1"/>
          </p:cNvSpPr>
          <p:nvPr/>
        </p:nvSpPr>
        <p:spPr>
          <a:xfrm xmlns:a="http://schemas.openxmlformats.org/drawingml/2006/main">
            <a:off x="6141568" y="4279392"/>
            <a:ext cx="1766773" cy="1060704"/>
          </a:xfrm>
          <a:prstGeom xmlns:a="http://schemas.openxmlformats.org/drawingml/2006/main" prst="rect">
            <a:avLst/>
          </a:prstGeom>
          <a:solidFill xmlns:a="http://schemas.openxmlformats.org/drawingml/2006/main">
            <a:srgbClr val="F0F4F8"/>
          </a:solidFill>
        </p:spPr>
      </p:sp>
      <p:sp>
        <p:nvSpPr>
          <p:cNvPr id="24" name="Text 22">
            <a:extLst xmlns:a="http://schemas.openxmlformats.org/drawingml/2006/main">
              <a:ext uri="{FF2B5EF4-FFF2-40B4-BE49-F238E27FC236}">
                <a16:creationId xmlns:a16="http://schemas.microsoft.com/office/drawing/2014/main" id="{D9C2BE16-9F8E-42D6-A922-A2E2E2EE0EBF}"/>
              </a:ext>
            </a:extLst>
          </p:cNvPr>
          <p:cNvSpPr>
            <a:spLocks xmlns:a="http://schemas.openxmlformats.org/drawingml/2006/main" noGrp="1"/>
          </p:cNvSpPr>
          <p:nvPr/>
        </p:nvSpPr>
        <p:spPr>
          <a:xfrm xmlns:a="http://schemas.openxmlformats.org/drawingml/2006/main">
            <a:off x="6269584"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5" name="Text 23">
            <a:extLst xmlns:a="http://schemas.openxmlformats.org/drawingml/2006/main">
              <a:ext uri="{FF2B5EF4-FFF2-40B4-BE49-F238E27FC236}">
                <a16:creationId xmlns:a16="http://schemas.microsoft.com/office/drawing/2014/main" id="{B813D8D4-4AE5-4FBC-848D-5D48511473C1}"/>
              </a:ext>
            </a:extLst>
          </p:cNvPr>
          <p:cNvSpPr>
            <a:spLocks xmlns:a="http://schemas.openxmlformats.org/drawingml/2006/main" noGrp="1"/>
          </p:cNvSpPr>
          <p:nvPr/>
        </p:nvSpPr>
        <p:spPr>
          <a:xfrm xmlns:a="http://schemas.openxmlformats.org/drawingml/2006/main">
            <a:off x="6269584"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findings behind them</a:t>
            </a:r>
            <a:endParaRPr sz="860"/>
          </a:p>
        </p:txBody>
      </p:sp>
      <p:sp>
        <p:nvSpPr>
          <p:cNvPr id="26" name="Shape 24">
            <a:extLst xmlns:a="http://schemas.openxmlformats.org/drawingml/2006/main">
              <a:ext uri="{FF2B5EF4-FFF2-40B4-BE49-F238E27FC236}">
                <a16:creationId xmlns:a16="http://schemas.microsoft.com/office/drawing/2014/main" id="{67AAA3AF-70CC-4544-BD95-C5BD0F72E986}"/>
              </a:ext>
            </a:extLst>
          </p:cNvPr>
          <p:cNvSpPr>
            <a:spLocks xmlns:a="http://schemas.openxmlformats.org/drawingml/2006/main" noGrp="1"/>
          </p:cNvSpPr>
          <p:nvPr/>
        </p:nvSpPr>
        <p:spPr>
          <a:xfrm xmlns:a="http://schemas.openxmlformats.org/drawingml/2006/main">
            <a:off x="7999781" y="4279392"/>
            <a:ext cx="1766773" cy="1060704"/>
          </a:xfrm>
          <a:prstGeom xmlns:a="http://schemas.openxmlformats.org/drawingml/2006/main" prst="rect">
            <a:avLst/>
          </a:prstGeom>
          <a:solidFill xmlns:a="http://schemas.openxmlformats.org/drawingml/2006/main">
            <a:srgbClr val="F0F4F8"/>
          </a:solidFill>
        </p:spPr>
      </p:sp>
      <p:sp>
        <p:nvSpPr>
          <p:cNvPr id="27" name="Text 25">
            <a:extLst xmlns:a="http://schemas.openxmlformats.org/drawingml/2006/main">
              <a:ext uri="{FF2B5EF4-FFF2-40B4-BE49-F238E27FC236}">
                <a16:creationId xmlns:a16="http://schemas.microsoft.com/office/drawing/2014/main" id="{8C047916-626E-4833-A28B-D3F57F2432C5}"/>
              </a:ext>
            </a:extLst>
          </p:cNvPr>
          <p:cNvSpPr>
            <a:spLocks xmlns:a="http://schemas.openxmlformats.org/drawingml/2006/main" noGrp="1"/>
          </p:cNvSpPr>
          <p:nvPr/>
        </p:nvSpPr>
        <p:spPr>
          <a:xfrm xmlns:a="http://schemas.openxmlformats.org/drawingml/2006/main">
            <a:off x="8127797"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5</a:t>
            </a:r>
            <a:endParaRPr sz="2100"/>
          </a:p>
        </p:txBody>
      </p:sp>
      <p:sp>
        <p:nvSpPr>
          <p:cNvPr id="28" name="Text 26">
            <a:extLst xmlns:a="http://schemas.openxmlformats.org/drawingml/2006/main">
              <a:ext uri="{FF2B5EF4-FFF2-40B4-BE49-F238E27FC236}">
                <a16:creationId xmlns:a16="http://schemas.microsoft.com/office/drawing/2014/main" id="{3E0BB034-8E37-4177-941C-5F0E67E20BC4}"/>
              </a:ext>
            </a:extLst>
          </p:cNvPr>
          <p:cNvSpPr>
            <a:spLocks xmlns:a="http://schemas.openxmlformats.org/drawingml/2006/main" noGrp="1"/>
          </p:cNvSpPr>
          <p:nvPr/>
        </p:nvSpPr>
        <p:spPr>
          <a:xfrm xmlns:a="http://schemas.openxmlformats.org/drawingml/2006/main">
            <a:off x="8127797"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failure modes that repeat</a:t>
            </a:r>
            <a:endParaRPr sz="860"/>
          </a:p>
        </p:txBody>
      </p:sp>
      <p:sp>
        <p:nvSpPr>
          <p:cNvPr id="29" name="Shape 27">
            <a:extLst xmlns:a="http://schemas.openxmlformats.org/drawingml/2006/main">
              <a:ext uri="{FF2B5EF4-FFF2-40B4-BE49-F238E27FC236}">
                <a16:creationId xmlns:a16="http://schemas.microsoft.com/office/drawing/2014/main" id="{0486EFCC-6D2D-40F1-8E37-669079B7D254}"/>
              </a:ext>
            </a:extLst>
          </p:cNvPr>
          <p:cNvSpPr>
            <a:spLocks xmlns:a="http://schemas.openxmlformats.org/drawingml/2006/main" noGrp="1"/>
          </p:cNvSpPr>
          <p:nvPr/>
        </p:nvSpPr>
        <p:spPr>
          <a:xfrm xmlns:a="http://schemas.openxmlformats.org/drawingml/2006/main">
            <a:off x="9857994" y="4279392"/>
            <a:ext cx="1766773" cy="1060704"/>
          </a:xfrm>
          <a:prstGeom xmlns:a="http://schemas.openxmlformats.org/drawingml/2006/main" prst="rect">
            <a:avLst/>
          </a:prstGeom>
          <a:solidFill xmlns:a="http://schemas.openxmlformats.org/drawingml/2006/main">
            <a:srgbClr val="F0F4F8"/>
          </a:solidFill>
        </p:spPr>
      </p:sp>
      <p:sp>
        <p:nvSpPr>
          <p:cNvPr id="30" name="Text 28">
            <a:extLst xmlns:a="http://schemas.openxmlformats.org/drawingml/2006/main">
              <a:ext uri="{FF2B5EF4-FFF2-40B4-BE49-F238E27FC236}">
                <a16:creationId xmlns:a16="http://schemas.microsoft.com/office/drawing/2014/main" id="{9FBB49CF-64BC-48F8-9841-211096057E4B}"/>
              </a:ext>
            </a:extLst>
          </p:cNvPr>
          <p:cNvSpPr>
            <a:spLocks xmlns:a="http://schemas.openxmlformats.org/drawingml/2006/main" noGrp="1"/>
          </p:cNvSpPr>
          <p:nvPr/>
        </p:nvSpPr>
        <p:spPr>
          <a:xfrm xmlns:a="http://schemas.openxmlformats.org/drawingml/2006/main">
            <a:off x="9986010" y="4398264"/>
            <a:ext cx="1510741"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b="1">
                <a:solidFill>
                  <a:srgbClr val="B04A25"/>
                </a:solidFill>
                <a:latin typeface="Arial"/>
                <a:ea typeface="Arial"/>
                <a:cs typeface="Arial"/>
              </a:rPr>
              <a:t>8</a:t>
            </a:r>
            <a:endParaRPr sz="2100"/>
          </a:p>
        </p:txBody>
      </p:sp>
      <p:sp>
        <p:nvSpPr>
          <p:cNvPr id="31" name="Text 29">
            <a:extLst xmlns:a="http://schemas.openxmlformats.org/drawingml/2006/main">
              <a:ext uri="{FF2B5EF4-FFF2-40B4-BE49-F238E27FC236}">
                <a16:creationId xmlns:a16="http://schemas.microsoft.com/office/drawing/2014/main" id="{DFB5A0E9-8B4F-4155-BFBB-C82A8985D945}"/>
              </a:ext>
            </a:extLst>
          </p:cNvPr>
          <p:cNvSpPr>
            <a:spLocks xmlns:a="http://schemas.openxmlformats.org/drawingml/2006/main" noGrp="1"/>
          </p:cNvSpPr>
          <p:nvPr/>
        </p:nvSpPr>
        <p:spPr>
          <a:xfrm xmlns:a="http://schemas.openxmlformats.org/drawingml/2006/main">
            <a:off x="9986010" y="4791456"/>
            <a:ext cx="1510741"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050"/>
              </a:lnSpc>
              <a:buNone/>
            </a:pPr>
            <a:r>
              <a:rPr sz="860">
                <a:solidFill>
                  <a:srgbClr val="486581"/>
                </a:solidFill>
                <a:latin typeface="Arial"/>
                <a:ea typeface="Arial"/>
                <a:cs typeface="Arial"/>
              </a:rPr>
              <a:t>years, one pattern</a:t>
            </a:r>
            <a:endParaRPr sz="860"/>
          </a:p>
        </p:txBody>
      </p:sp>
      <p:sp>
        <p:nvSpPr>
          <p:cNvPr id="32" name="Text 30">
            <a:extLst xmlns:a="http://schemas.openxmlformats.org/drawingml/2006/main">
              <a:ext uri="{FF2B5EF4-FFF2-40B4-BE49-F238E27FC236}">
                <a16:creationId xmlns:a16="http://schemas.microsoft.com/office/drawing/2014/main" id="{205887F6-17C4-4980-8D49-8FE216669AB6}"/>
              </a:ext>
            </a:extLst>
          </p:cNvPr>
          <p:cNvSpPr>
            <a:spLocks xmlns:a="http://schemas.openxmlformats.org/drawingml/2006/main" noGrp="1"/>
          </p:cNvSpPr>
          <p:nvPr/>
        </p:nvSpPr>
        <p:spPr>
          <a:xfrm xmlns:a="http://schemas.openxmlformats.org/drawingml/2006/main">
            <a:off x="566928" y="5504688"/>
            <a:ext cx="1105783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000">
                <a:solidFill>
                  <a:srgbClr val="1A1A1A"/>
                </a:solidFill>
                <a:latin typeface="Arial"/>
                <a:ea typeface="Arial"/>
                <a:cs typeface="Arial"/>
              </a:rPr>
              <a:t>Why this is worth stating as a pattern rather than as anecdotes:  each of the four is individually obvious. What is not obvious is that they are the same four every time, that they are all taken before the first sprint, and that none of them is the decision anyone convenes a steering committee to take.</a:t>
            </a:r>
            <a:endParaRPr sz="1000"/>
          </a:p>
        </p:txBody>
      </p:sp>
      <p:sp>
        <p:nvSpPr>
          <p:cNvPr id="33" name="Shape 31">
            <a:extLst xmlns:a="http://schemas.openxmlformats.org/drawingml/2006/main">
              <a:ext uri="{FF2B5EF4-FFF2-40B4-BE49-F238E27FC236}">
                <a16:creationId xmlns:a16="http://schemas.microsoft.com/office/drawing/2014/main" id="{0F64C22B-187F-42AE-A68A-9CB43C9A84EE}"/>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E3C6CB7F-7F0F-4BBD-872A-C5B46FA3E04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 across the portfolio</a:t>
            </a:r>
            <a:endParaRPr sz="850"/>
          </a:p>
        </p:txBody>
      </p:sp>
      <p:sp>
        <p:nvSpPr>
          <p:cNvPr id="35" name="Text 33">
            <a:extLst xmlns:a="http://schemas.openxmlformats.org/drawingml/2006/main">
              <a:ext uri="{FF2B5EF4-FFF2-40B4-BE49-F238E27FC236}">
                <a16:creationId xmlns:a16="http://schemas.microsoft.com/office/drawing/2014/main" id="{752FB4CF-D0FB-414E-B383-4AC849EF9C0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526120566"/>
      </p:ext>
    </p:extLst>
  </p:cSld>
</p:sld>
</file>

<file path=ppt/slides/slide29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A695104-4786-415E-BFC4-CA64ED36217B}"/>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HOW TO READ THIS DECK</a:t>
            </a:r>
            <a:endParaRPr sz="950"/>
          </a:p>
        </p:txBody>
      </p:sp>
      <p:sp>
        <p:nvSpPr>
          <p:cNvPr id="3" name="Text 1">
            <a:extLst xmlns:a="http://schemas.openxmlformats.org/drawingml/2006/main">
              <a:ext uri="{FF2B5EF4-FFF2-40B4-BE49-F238E27FC236}">
                <a16:creationId xmlns:a16="http://schemas.microsoft.com/office/drawing/2014/main" id="{41467538-BA6E-496C-84A9-0C1F938DAE48}"/>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This deck argues from the other twenty-nine — every finding traces to a specific</a:t>
            </a:r>
            <a:endParaRPr sz="1900"/>
          </a:p>
          <a:p xmlns:a="http://schemas.openxmlformats.org/drawingml/2006/main">
            <a:pPr marL="0" indent="0">
              <a:lnSpc>
                <a:spcPts val="2400"/>
              </a:lnSpc>
              <a:buNone/>
            </a:pPr>
            <a:r>
              <a:rPr sz="1900" b="1">
                <a:solidFill>
                  <a:srgbClr val="102A43"/>
                </a:solidFill>
                <a:latin typeface="Arial"/>
                <a:ea typeface="Arial"/>
                <a:cs typeface="Arial"/>
              </a:rPr>
              <a:t>programme, and the boundaries set in those decks apply here unchanged</a:t>
            </a:r>
            <a:endParaRPr sz="1900"/>
          </a:p>
        </p:txBody>
      </p:sp>
      <p:sp>
        <p:nvSpPr>
          <p:cNvPr id="4" name="Shape 2">
            <a:extLst xmlns:a="http://schemas.openxmlformats.org/drawingml/2006/main">
              <a:ext uri="{FF2B5EF4-FFF2-40B4-BE49-F238E27FC236}">
                <a16:creationId xmlns:a16="http://schemas.microsoft.com/office/drawing/2014/main" id="{192169A8-1B89-4020-A2F9-495FA5F9320C}"/>
              </a:ext>
            </a:extLst>
          </p:cNvPr>
          <p:cNvSpPr>
            <a:spLocks xmlns:a="http://schemas.openxmlformats.org/drawingml/2006/main" noGrp="1"/>
          </p:cNvSpPr>
          <p:nvPr/>
        </p:nvSpPr>
        <p:spPr>
          <a:xfrm xmlns:a="http://schemas.openxmlformats.org/drawingml/2006/main">
            <a:off x="566928" y="1335024"/>
            <a:ext cx="2627300" cy="4443984"/>
          </a:xfrm>
          <a:prstGeom xmlns:a="http://schemas.openxmlformats.org/drawingml/2006/main" prst="rect">
            <a:avLst/>
          </a:prstGeom>
          <a:solidFill xmlns:a="http://schemas.openxmlformats.org/drawingml/2006/main">
            <a:srgbClr val="F0F4F8"/>
          </a:solidFill>
        </p:spPr>
      </p:sp>
      <p:sp>
        <p:nvSpPr>
          <p:cNvPr id="5" name="Shape 3">
            <a:extLst xmlns:a="http://schemas.openxmlformats.org/drawingml/2006/main">
              <a:ext uri="{FF2B5EF4-FFF2-40B4-BE49-F238E27FC236}">
                <a16:creationId xmlns:a16="http://schemas.microsoft.com/office/drawing/2014/main" id="{E89BFE15-4FDC-4EA8-B8B5-524ACAE26343}"/>
              </a:ext>
            </a:extLst>
          </p:cNvPr>
          <p:cNvSpPr>
            <a:spLocks xmlns:a="http://schemas.openxmlformats.org/drawingml/2006/main" noGrp="1"/>
          </p:cNvSpPr>
          <p:nvPr/>
        </p:nvSpPr>
        <p:spPr>
          <a:xfrm xmlns:a="http://schemas.openxmlformats.org/drawingml/2006/main">
            <a:off x="566928" y="1335024"/>
            <a:ext cx="2627300" cy="54864"/>
          </a:xfrm>
          <a:prstGeom xmlns:a="http://schemas.openxmlformats.org/drawingml/2006/main" prst="rect">
            <a:avLst/>
          </a:prstGeom>
          <a:solidFill xmlns:a="http://schemas.openxmlformats.org/drawingml/2006/main">
            <a:srgbClr val="486581"/>
          </a:solidFill>
        </p:spPr>
      </p:sp>
      <p:sp>
        <p:nvSpPr>
          <p:cNvPr id="6" name="Text 4">
            <a:extLst xmlns:a="http://schemas.openxmlformats.org/drawingml/2006/main">
              <a:ext uri="{FF2B5EF4-FFF2-40B4-BE49-F238E27FC236}">
                <a16:creationId xmlns:a16="http://schemas.microsoft.com/office/drawing/2014/main" id="{0A29A62B-D46B-47E3-830C-BE703EDE64E8}"/>
              </a:ext>
            </a:extLst>
          </p:cNvPr>
          <p:cNvSpPr>
            <a:spLocks xmlns:a="http://schemas.openxmlformats.org/drawingml/2006/main" noGrp="1"/>
          </p:cNvSpPr>
          <p:nvPr/>
        </p:nvSpPr>
        <p:spPr>
          <a:xfrm xmlns:a="http://schemas.openxmlformats.org/drawingml/2006/main">
            <a:off x="74980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486581"/>
                </a:solidFill>
                <a:latin typeface="Arial"/>
                <a:ea typeface="Arial"/>
                <a:cs typeface="Arial"/>
              </a:rPr>
              <a:t>DELIVERY RECORD</a:t>
            </a:r>
            <a:endParaRPr sz="740"/>
          </a:p>
        </p:txBody>
      </p:sp>
      <p:sp>
        <p:nvSpPr>
          <p:cNvPr id="7" name="Text 5">
            <a:extLst xmlns:a="http://schemas.openxmlformats.org/drawingml/2006/main">
              <a:ext uri="{FF2B5EF4-FFF2-40B4-BE49-F238E27FC236}">
                <a16:creationId xmlns:a16="http://schemas.microsoft.com/office/drawing/2014/main" id="{460D61B3-228C-4B7C-A18F-A94F83AFB14E}"/>
              </a:ext>
            </a:extLst>
          </p:cNvPr>
          <p:cNvSpPr>
            <a:spLocks xmlns:a="http://schemas.openxmlformats.org/drawingml/2006/main" noGrp="1"/>
          </p:cNvSpPr>
          <p:nvPr/>
        </p:nvSpPr>
        <p:spPr>
          <a:xfrm xmlns:a="http://schemas.openxmlformats.org/drawingml/2006/main">
            <a:off x="74980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Portfolio context</a:t>
            </a:r>
            <a:endParaRPr sz="1200"/>
          </a:p>
        </p:txBody>
      </p:sp>
      <p:sp>
        <p:nvSpPr>
          <p:cNvPr id="8" name="Text 6">
            <a:extLst xmlns:a="http://schemas.openxmlformats.org/drawingml/2006/main">
              <a:ext uri="{FF2B5EF4-FFF2-40B4-BE49-F238E27FC236}">
                <a16:creationId xmlns:a16="http://schemas.microsoft.com/office/drawing/2014/main" id="{0E089C1A-751C-4F72-95C4-190BD15671E3}"/>
              </a:ext>
            </a:extLst>
          </p:cNvPr>
          <p:cNvSpPr>
            <a:spLocks xmlns:a="http://schemas.openxmlformats.org/drawingml/2006/main" noGrp="1"/>
          </p:cNvSpPr>
          <p:nvPr/>
        </p:nvSpPr>
        <p:spPr>
          <a:xfrm xmlns:a="http://schemas.openxmlformats.org/drawingml/2006/main">
            <a:off x="74980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engagements the findings are drawn from, as set out in the individual case decks.</a:t>
            </a:r>
            <a:endParaRPr sz="920"/>
          </a:p>
        </p:txBody>
      </p:sp>
      <p:sp>
        <p:nvSpPr>
          <p:cNvPr id="9" name="Shape 7">
            <a:extLst xmlns:a="http://schemas.openxmlformats.org/drawingml/2006/main">
              <a:ext uri="{FF2B5EF4-FFF2-40B4-BE49-F238E27FC236}">
                <a16:creationId xmlns:a16="http://schemas.microsoft.com/office/drawing/2014/main" id="{5A5536DB-CD08-451B-90B5-B2DCB336DFD5}"/>
              </a:ext>
            </a:extLst>
          </p:cNvPr>
          <p:cNvSpPr>
            <a:spLocks xmlns:a="http://schemas.openxmlformats.org/drawingml/2006/main" noGrp="1"/>
          </p:cNvSpPr>
          <p:nvPr/>
        </p:nvSpPr>
        <p:spPr>
          <a:xfrm xmlns:a="http://schemas.openxmlformats.org/drawingml/2006/main">
            <a:off x="749808" y="3200400"/>
            <a:ext cx="2261540" cy="13716"/>
          </a:xfrm>
          <a:prstGeom xmlns:a="http://schemas.openxmlformats.org/drawingml/2006/main" prst="rect">
            <a:avLst/>
          </a:prstGeom>
          <a:solidFill xmlns:a="http://schemas.openxmlformats.org/drawingml/2006/main">
            <a:srgbClr val="C6D2DE"/>
          </a:solidFill>
        </p:spPr>
      </p:sp>
      <p:sp>
        <p:nvSpPr>
          <p:cNvPr id="10" name="Text 8">
            <a:extLst xmlns:a="http://schemas.openxmlformats.org/drawingml/2006/main">
              <a:ext uri="{FF2B5EF4-FFF2-40B4-BE49-F238E27FC236}">
                <a16:creationId xmlns:a16="http://schemas.microsoft.com/office/drawing/2014/main" id="{92D08BD0-2421-455B-B197-28045CB928B7}"/>
              </a:ext>
            </a:extLst>
          </p:cNvPr>
          <p:cNvSpPr>
            <a:spLocks xmlns:a="http://schemas.openxmlformats.org/drawingml/2006/main" noGrp="1"/>
          </p:cNvSpPr>
          <p:nvPr/>
        </p:nvSpPr>
        <p:spPr>
          <a:xfrm xmlns:a="http://schemas.openxmlformats.org/drawingml/2006/main">
            <a:off x="74980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38 programmes delivered, 2018–2026</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16 institutions delivered for</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9 further institutions analysed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Retail, corporate, wholesale, Islamic</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Life insurance and community banking</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Delivery and analysis stated separately</a:t>
            </a:r>
            <a:endParaRPr sz="930"/>
          </a:p>
        </p:txBody>
      </p:sp>
      <p:sp>
        <p:nvSpPr>
          <p:cNvPr id="11" name="Shape 9">
            <a:extLst xmlns:a="http://schemas.openxmlformats.org/drawingml/2006/main">
              <a:ext uri="{FF2B5EF4-FFF2-40B4-BE49-F238E27FC236}">
                <a16:creationId xmlns:a16="http://schemas.microsoft.com/office/drawing/2014/main" id="{E846BBBE-F241-4889-84FC-710D3497FADD}"/>
              </a:ext>
            </a:extLst>
          </p:cNvPr>
          <p:cNvSpPr>
            <a:spLocks xmlns:a="http://schemas.openxmlformats.org/drawingml/2006/main" noGrp="1"/>
          </p:cNvSpPr>
          <p:nvPr/>
        </p:nvSpPr>
        <p:spPr>
          <a:xfrm xmlns:a="http://schemas.openxmlformats.org/drawingml/2006/main">
            <a:off x="3377108" y="1335024"/>
            <a:ext cx="2627300" cy="4443984"/>
          </a:xfrm>
          <a:prstGeom xmlns:a="http://schemas.openxmlformats.org/drawingml/2006/main" prst="rect">
            <a:avLst/>
          </a:prstGeom>
          <a:solidFill xmlns:a="http://schemas.openxmlformats.org/drawingml/2006/main">
            <a:srgbClr val="F0F4F8"/>
          </a:solidFill>
        </p:spPr>
      </p:sp>
      <p:sp>
        <p:nvSpPr>
          <p:cNvPr id="12" name="Shape 10">
            <a:extLst xmlns:a="http://schemas.openxmlformats.org/drawingml/2006/main">
              <a:ext uri="{FF2B5EF4-FFF2-40B4-BE49-F238E27FC236}">
                <a16:creationId xmlns:a16="http://schemas.microsoft.com/office/drawing/2014/main" id="{E95691D6-1994-47C0-B215-D40D4647947F}"/>
              </a:ext>
            </a:extLst>
          </p:cNvPr>
          <p:cNvSpPr>
            <a:spLocks xmlns:a="http://schemas.openxmlformats.org/drawingml/2006/main" noGrp="1"/>
          </p:cNvSpPr>
          <p:nvPr/>
        </p:nvSpPr>
        <p:spPr>
          <a:xfrm xmlns:a="http://schemas.openxmlformats.org/drawingml/2006/main">
            <a:off x="3377108" y="1335024"/>
            <a:ext cx="2627300" cy="54864"/>
          </a:xfrm>
          <a:prstGeom xmlns:a="http://schemas.openxmlformats.org/drawingml/2006/main" prst="rect">
            <a:avLst/>
          </a:prstGeom>
          <a:solidFill xmlns:a="http://schemas.openxmlformats.org/drawingml/2006/main">
            <a:srgbClr val="B04A25"/>
          </a:solidFill>
        </p:spPr>
      </p:sp>
      <p:sp>
        <p:nvSpPr>
          <p:cNvPr id="13" name="Text 11">
            <a:extLst xmlns:a="http://schemas.openxmlformats.org/drawingml/2006/main">
              <a:ext uri="{FF2B5EF4-FFF2-40B4-BE49-F238E27FC236}">
                <a16:creationId xmlns:a16="http://schemas.microsoft.com/office/drawing/2014/main" id="{A2CA31A7-CEFA-4EDF-A017-17A45EB69EF9}"/>
              </a:ext>
            </a:extLst>
          </p:cNvPr>
          <p:cNvSpPr>
            <a:spLocks xmlns:a="http://schemas.openxmlformats.org/drawingml/2006/main" noGrp="1"/>
          </p:cNvSpPr>
          <p:nvPr/>
        </p:nvSpPr>
        <p:spPr>
          <a:xfrm xmlns:a="http://schemas.openxmlformats.org/drawingml/2006/main">
            <a:off x="355998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B04A25"/>
                </a:solidFill>
                <a:latin typeface="Arial"/>
                <a:ea typeface="Arial"/>
                <a:cs typeface="Arial"/>
              </a:rPr>
              <a:t>SYNTHESIS</a:t>
            </a:r>
            <a:endParaRPr sz="740"/>
          </a:p>
        </p:txBody>
      </p:sp>
      <p:sp>
        <p:nvSpPr>
          <p:cNvPr id="14" name="Text 12">
            <a:extLst xmlns:a="http://schemas.openxmlformats.org/drawingml/2006/main">
              <a:ext uri="{FF2B5EF4-FFF2-40B4-BE49-F238E27FC236}">
                <a16:creationId xmlns:a16="http://schemas.microsoft.com/office/drawing/2014/main" id="{5A983415-B88E-4B88-B9F3-C2952198719B}"/>
              </a:ext>
            </a:extLst>
          </p:cNvPr>
          <p:cNvSpPr>
            <a:spLocks xmlns:a="http://schemas.openxmlformats.org/drawingml/2006/main" noGrp="1"/>
          </p:cNvSpPr>
          <p:nvPr/>
        </p:nvSpPr>
        <p:spPr>
          <a:xfrm xmlns:a="http://schemas.openxmlformats.org/drawingml/2006/main">
            <a:off x="355998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My contribution</a:t>
            </a:r>
            <a:endParaRPr sz="1200"/>
          </a:p>
        </p:txBody>
      </p:sp>
      <p:sp>
        <p:nvSpPr>
          <p:cNvPr id="15" name="Text 13">
            <a:extLst xmlns:a="http://schemas.openxmlformats.org/drawingml/2006/main">
              <a:ext uri="{FF2B5EF4-FFF2-40B4-BE49-F238E27FC236}">
                <a16:creationId xmlns:a16="http://schemas.microsoft.com/office/drawing/2014/main" id="{8BFA4BF9-5D26-45B2-B267-0E3CBF5BEFBD}"/>
              </a:ext>
            </a:extLst>
          </p:cNvPr>
          <p:cNvSpPr>
            <a:spLocks xmlns:a="http://schemas.openxmlformats.org/drawingml/2006/main" noGrp="1"/>
          </p:cNvSpPr>
          <p:nvPr/>
        </p:nvSpPr>
        <p:spPr>
          <a:xfrm xmlns:a="http://schemas.openxmlformats.org/drawingml/2006/main">
            <a:off x="355998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The pattern itself — the four decisions, the five findings and the five failure modes — and the argument that they are the same everywhere.</a:t>
            </a:r>
            <a:endParaRPr sz="920"/>
          </a:p>
        </p:txBody>
      </p:sp>
      <p:sp>
        <p:nvSpPr>
          <p:cNvPr id="16" name="Shape 14">
            <a:extLst xmlns:a="http://schemas.openxmlformats.org/drawingml/2006/main">
              <a:ext uri="{FF2B5EF4-FFF2-40B4-BE49-F238E27FC236}">
                <a16:creationId xmlns:a16="http://schemas.microsoft.com/office/drawing/2014/main" id="{1872F6DF-7A1C-4833-B1E3-411B19B08B1B}"/>
              </a:ext>
            </a:extLst>
          </p:cNvPr>
          <p:cNvSpPr>
            <a:spLocks xmlns:a="http://schemas.openxmlformats.org/drawingml/2006/main" noGrp="1"/>
          </p:cNvSpPr>
          <p:nvPr/>
        </p:nvSpPr>
        <p:spPr>
          <a:xfrm xmlns:a="http://schemas.openxmlformats.org/drawingml/2006/main">
            <a:off x="3559988" y="3200400"/>
            <a:ext cx="2261540" cy="13716"/>
          </a:xfrm>
          <a:prstGeom xmlns:a="http://schemas.openxmlformats.org/drawingml/2006/main" prst="rect">
            <a:avLst/>
          </a:prstGeom>
          <a:solidFill xmlns:a="http://schemas.openxmlformats.org/drawingml/2006/main">
            <a:srgbClr val="C6D2DE"/>
          </a:solidFill>
        </p:spPr>
      </p:sp>
      <p:sp>
        <p:nvSpPr>
          <p:cNvPr id="17" name="Text 15">
            <a:extLst xmlns:a="http://schemas.openxmlformats.org/drawingml/2006/main">
              <a:ext uri="{FF2B5EF4-FFF2-40B4-BE49-F238E27FC236}">
                <a16:creationId xmlns:a16="http://schemas.microsoft.com/office/drawing/2014/main" id="{20A6C678-B2E2-4F84-BE93-A833CCBADCBD}"/>
              </a:ext>
            </a:extLst>
          </p:cNvPr>
          <p:cNvSpPr>
            <a:spLocks xmlns:a="http://schemas.openxmlformats.org/drawingml/2006/main" noGrp="1"/>
          </p:cNvSpPr>
          <p:nvPr/>
        </p:nvSpPr>
        <p:spPr>
          <a:xfrm xmlns:a="http://schemas.openxmlformats.org/drawingml/2006/main">
            <a:off x="355998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Four-decision framework</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recurring findings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Five recurring failure modes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Cross-region pattern argument</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Applied prospectively since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Traceable to named case decks</a:t>
            </a:r>
            <a:endParaRPr sz="930"/>
          </a:p>
        </p:txBody>
      </p:sp>
      <p:sp>
        <p:nvSpPr>
          <p:cNvPr id="18" name="Shape 16">
            <a:extLst xmlns:a="http://schemas.openxmlformats.org/drawingml/2006/main">
              <a:ext uri="{FF2B5EF4-FFF2-40B4-BE49-F238E27FC236}">
                <a16:creationId xmlns:a16="http://schemas.microsoft.com/office/drawing/2014/main" id="{1FB8B519-3C70-4B54-A6FD-2F322638DAAA}"/>
              </a:ext>
            </a:extLst>
          </p:cNvPr>
          <p:cNvSpPr>
            <a:spLocks xmlns:a="http://schemas.openxmlformats.org/drawingml/2006/main" noGrp="1"/>
          </p:cNvSpPr>
          <p:nvPr/>
        </p:nvSpPr>
        <p:spPr>
          <a:xfrm xmlns:a="http://schemas.openxmlformats.org/drawingml/2006/main">
            <a:off x="6187288" y="1335024"/>
            <a:ext cx="2627300" cy="4443984"/>
          </a:xfrm>
          <a:prstGeom xmlns:a="http://schemas.openxmlformats.org/drawingml/2006/main" prst="rect">
            <a:avLst/>
          </a:prstGeom>
          <a:solidFill xmlns:a="http://schemas.openxmlformats.org/drawingml/2006/main">
            <a:srgbClr val="F0F4F8"/>
          </a:solidFill>
        </p:spPr>
      </p:sp>
      <p:sp>
        <p:nvSpPr>
          <p:cNvPr id="19" name="Shape 17">
            <a:extLst xmlns:a="http://schemas.openxmlformats.org/drawingml/2006/main">
              <a:ext uri="{FF2B5EF4-FFF2-40B4-BE49-F238E27FC236}">
                <a16:creationId xmlns:a16="http://schemas.microsoft.com/office/drawing/2014/main" id="{0A7A9EE1-7544-4ADF-97A7-DCAFB4F9F547}"/>
              </a:ext>
            </a:extLst>
          </p:cNvPr>
          <p:cNvSpPr>
            <a:spLocks xmlns:a="http://schemas.openxmlformats.org/drawingml/2006/main" noGrp="1"/>
          </p:cNvSpPr>
          <p:nvPr/>
        </p:nvSpPr>
        <p:spPr>
          <a:xfrm xmlns:a="http://schemas.openxmlformats.org/drawingml/2006/main">
            <a:off x="6187288" y="1335024"/>
            <a:ext cx="2627300" cy="54864"/>
          </a:xfrm>
          <a:prstGeom xmlns:a="http://schemas.openxmlformats.org/drawingml/2006/main" prst="rect">
            <a:avLst/>
          </a:prstGeom>
          <a:solidFill xmlns:a="http://schemas.openxmlformats.org/drawingml/2006/main">
            <a:srgbClr val="27685A"/>
          </a:solidFill>
        </p:spPr>
      </p:sp>
      <p:sp>
        <p:nvSpPr>
          <p:cNvPr id="20" name="Text 18">
            <a:extLst xmlns:a="http://schemas.openxmlformats.org/drawingml/2006/main">
              <a:ext uri="{FF2B5EF4-FFF2-40B4-BE49-F238E27FC236}">
                <a16:creationId xmlns:a16="http://schemas.microsoft.com/office/drawing/2014/main" id="{E52D0EFB-37E1-4E3D-8C5D-F5AB867E0BA7}"/>
              </a:ext>
            </a:extLst>
          </p:cNvPr>
          <p:cNvSpPr>
            <a:spLocks xmlns:a="http://schemas.openxmlformats.org/drawingml/2006/main" noGrp="1"/>
          </p:cNvSpPr>
          <p:nvPr/>
        </p:nvSpPr>
        <p:spPr>
          <a:xfrm xmlns:a="http://schemas.openxmlformats.org/drawingml/2006/main">
            <a:off x="6370168"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27685A"/>
                </a:solidFill>
                <a:latin typeface="Arial"/>
                <a:ea typeface="Arial"/>
                <a:cs typeface="Arial"/>
              </a:rPr>
              <a:t>FROM THE CASE DECKS</a:t>
            </a:r>
            <a:endParaRPr sz="740"/>
          </a:p>
        </p:txBody>
      </p:sp>
      <p:sp>
        <p:nvSpPr>
          <p:cNvPr id="21" name="Text 19">
            <a:extLst xmlns:a="http://schemas.openxmlformats.org/drawingml/2006/main">
              <a:ext uri="{FF2B5EF4-FFF2-40B4-BE49-F238E27FC236}">
                <a16:creationId xmlns:a16="http://schemas.microsoft.com/office/drawing/2014/main" id="{5173CEE7-F9DB-4533-9096-91BBE0E0082E}"/>
              </a:ext>
            </a:extLst>
          </p:cNvPr>
          <p:cNvSpPr>
            <a:spLocks xmlns:a="http://schemas.openxmlformats.org/drawingml/2006/main" noGrp="1"/>
          </p:cNvSpPr>
          <p:nvPr/>
        </p:nvSpPr>
        <p:spPr>
          <a:xfrm xmlns:a="http://schemas.openxmlformats.org/drawingml/2006/main">
            <a:off x="6370168"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Inherited</a:t>
            </a:r>
            <a:endParaRPr sz="1200"/>
          </a:p>
        </p:txBody>
      </p:sp>
      <p:sp>
        <p:nvSpPr>
          <p:cNvPr id="22" name="Text 20">
            <a:extLst xmlns:a="http://schemas.openxmlformats.org/drawingml/2006/main">
              <a:ext uri="{FF2B5EF4-FFF2-40B4-BE49-F238E27FC236}">
                <a16:creationId xmlns:a16="http://schemas.microsoft.com/office/drawing/2014/main" id="{0ED09FFC-B222-4351-9AA0-E5CC77A22435}"/>
              </a:ext>
            </a:extLst>
          </p:cNvPr>
          <p:cNvSpPr>
            <a:spLocks xmlns:a="http://schemas.openxmlformats.org/drawingml/2006/main" noGrp="1"/>
          </p:cNvSpPr>
          <p:nvPr/>
        </p:nvSpPr>
        <p:spPr>
          <a:xfrm xmlns:a="http://schemas.openxmlformats.org/drawingml/2006/main">
            <a:off x="6370168"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Figures cited here carry the same status they carry in the deck they come from — public, reported, modelled or reconstructed.</a:t>
            </a:r>
            <a:endParaRPr sz="920"/>
          </a:p>
        </p:txBody>
      </p:sp>
      <p:sp>
        <p:nvSpPr>
          <p:cNvPr id="23" name="Shape 21">
            <a:extLst xmlns:a="http://schemas.openxmlformats.org/drawingml/2006/main">
              <a:ext uri="{FF2B5EF4-FFF2-40B4-BE49-F238E27FC236}">
                <a16:creationId xmlns:a16="http://schemas.microsoft.com/office/drawing/2014/main" id="{140445D3-D70E-46B9-91F8-E5A6A336F8C8}"/>
              </a:ext>
            </a:extLst>
          </p:cNvPr>
          <p:cNvSpPr>
            <a:spLocks xmlns:a="http://schemas.openxmlformats.org/drawingml/2006/main" noGrp="1"/>
          </p:cNvSpPr>
          <p:nvPr/>
        </p:nvSpPr>
        <p:spPr>
          <a:xfrm xmlns:a="http://schemas.openxmlformats.org/drawingml/2006/main">
            <a:off x="6370168" y="3200400"/>
            <a:ext cx="2261540" cy="13716"/>
          </a:xfrm>
          <a:prstGeom xmlns:a="http://schemas.openxmlformats.org/drawingml/2006/main" prst="rect">
            <a:avLst/>
          </a:prstGeom>
          <a:solidFill xmlns:a="http://schemas.openxmlformats.org/drawingml/2006/main">
            <a:srgbClr val="C6D2DE"/>
          </a:solidFill>
        </p:spPr>
      </p:sp>
      <p:sp>
        <p:nvSpPr>
          <p:cNvPr id="24" name="Text 22">
            <a:extLst xmlns:a="http://schemas.openxmlformats.org/drawingml/2006/main">
              <a:ext uri="{FF2B5EF4-FFF2-40B4-BE49-F238E27FC236}">
                <a16:creationId xmlns:a16="http://schemas.microsoft.com/office/drawing/2014/main" id="{AF1ECC74-A187-4FE6-B918-49A7C0AF56A1}"/>
              </a:ext>
            </a:extLst>
          </p:cNvPr>
          <p:cNvSpPr>
            <a:spLocks xmlns:a="http://schemas.openxmlformats.org/drawingml/2006/main" noGrp="1"/>
          </p:cNvSpPr>
          <p:nvPr/>
        </p:nvSpPr>
        <p:spPr>
          <a:xfrm xmlns:a="http://schemas.openxmlformats.org/drawingml/2006/main">
            <a:off x="6370168"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Public figures stay attributed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Modelled figures stay labelled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Reconstructed detail stays flagged</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Nothing is upgraded by aggregation</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See the source deck for each</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Claims register available</a:t>
            </a:r>
            <a:endParaRPr sz="930"/>
          </a:p>
        </p:txBody>
      </p:sp>
      <p:sp>
        <p:nvSpPr>
          <p:cNvPr id="25" name="Shape 23">
            <a:extLst xmlns:a="http://schemas.openxmlformats.org/drawingml/2006/main">
              <a:ext uri="{FF2B5EF4-FFF2-40B4-BE49-F238E27FC236}">
                <a16:creationId xmlns:a16="http://schemas.microsoft.com/office/drawing/2014/main" id="{9DC29B99-01D2-49AD-ACC0-3072EA846E19}"/>
              </a:ext>
            </a:extLst>
          </p:cNvPr>
          <p:cNvSpPr>
            <a:spLocks xmlns:a="http://schemas.openxmlformats.org/drawingml/2006/main" noGrp="1"/>
          </p:cNvSpPr>
          <p:nvPr/>
        </p:nvSpPr>
        <p:spPr>
          <a:xfrm xmlns:a="http://schemas.openxmlformats.org/drawingml/2006/main">
            <a:off x="8997467" y="1335024"/>
            <a:ext cx="2627300" cy="4443984"/>
          </a:xfrm>
          <a:prstGeom xmlns:a="http://schemas.openxmlformats.org/drawingml/2006/main" prst="rect">
            <a:avLst/>
          </a:prstGeom>
          <a:solidFill xmlns:a="http://schemas.openxmlformats.org/drawingml/2006/main">
            <a:srgbClr val="F7F9FB"/>
          </a:solidFill>
        </p:spPr>
      </p:sp>
      <p:sp>
        <p:nvSpPr>
          <p:cNvPr id="26" name="Shape 24">
            <a:extLst xmlns:a="http://schemas.openxmlformats.org/drawingml/2006/main">
              <a:ext uri="{FF2B5EF4-FFF2-40B4-BE49-F238E27FC236}">
                <a16:creationId xmlns:a16="http://schemas.microsoft.com/office/drawing/2014/main" id="{24A31BA4-4776-4C47-BAE2-E86E7E6E6DB6}"/>
              </a:ext>
            </a:extLst>
          </p:cNvPr>
          <p:cNvSpPr>
            <a:spLocks xmlns:a="http://schemas.openxmlformats.org/drawingml/2006/main" noGrp="1"/>
          </p:cNvSpPr>
          <p:nvPr/>
        </p:nvSpPr>
        <p:spPr>
          <a:xfrm xmlns:a="http://schemas.openxmlformats.org/drawingml/2006/main">
            <a:off x="8997467" y="1335024"/>
            <a:ext cx="2627300" cy="54864"/>
          </a:xfrm>
          <a:prstGeom xmlns:a="http://schemas.openxmlformats.org/drawingml/2006/main" prst="rect">
            <a:avLst/>
          </a:prstGeom>
          <a:solidFill xmlns:a="http://schemas.openxmlformats.org/drawingml/2006/main">
            <a:srgbClr val="627D98"/>
          </a:solidFill>
        </p:spPr>
      </p:sp>
      <p:sp>
        <p:nvSpPr>
          <p:cNvPr id="27" name="Text 25">
            <a:extLst xmlns:a="http://schemas.openxmlformats.org/drawingml/2006/main">
              <a:ext uri="{FF2B5EF4-FFF2-40B4-BE49-F238E27FC236}">
                <a16:creationId xmlns:a16="http://schemas.microsoft.com/office/drawing/2014/main" id="{D40B88B7-B68C-493F-9A58-7C3E598FDC1C}"/>
              </a:ext>
            </a:extLst>
          </p:cNvPr>
          <p:cNvSpPr>
            <a:spLocks xmlns:a="http://schemas.openxmlformats.org/drawingml/2006/main" noGrp="1"/>
          </p:cNvSpPr>
          <p:nvPr/>
        </p:nvSpPr>
        <p:spPr>
          <a:xfrm xmlns:a="http://schemas.openxmlformats.org/drawingml/2006/main">
            <a:off x="9180347" y="1517904"/>
            <a:ext cx="226154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OUT OF SCOPE</a:t>
            </a:r>
            <a:endParaRPr sz="740"/>
          </a:p>
        </p:txBody>
      </p:sp>
      <p:sp>
        <p:nvSpPr>
          <p:cNvPr id="28" name="Text 26">
            <a:extLst xmlns:a="http://schemas.openxmlformats.org/drawingml/2006/main">
              <a:ext uri="{FF2B5EF4-FFF2-40B4-BE49-F238E27FC236}">
                <a16:creationId xmlns:a16="http://schemas.microsoft.com/office/drawing/2014/main" id="{14A1CEC1-FF62-40E2-947D-12F8ADCE8A01}"/>
              </a:ext>
            </a:extLst>
          </p:cNvPr>
          <p:cNvSpPr>
            <a:spLocks xmlns:a="http://schemas.openxmlformats.org/drawingml/2006/main" noGrp="1"/>
          </p:cNvSpPr>
          <p:nvPr/>
        </p:nvSpPr>
        <p:spPr>
          <a:xfrm xmlns:a="http://schemas.openxmlformats.org/drawingml/2006/main">
            <a:off x="9180347" y="1719072"/>
            <a:ext cx="22615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b="1">
                <a:solidFill>
                  <a:srgbClr val="102A43"/>
                </a:solidFill>
                <a:latin typeface="Arial"/>
                <a:ea typeface="Arial"/>
                <a:cs typeface="Arial"/>
              </a:rPr>
              <a:t>Not claimed</a:t>
            </a:r>
            <a:endParaRPr sz="1200"/>
          </a:p>
        </p:txBody>
      </p:sp>
      <p:sp>
        <p:nvSpPr>
          <p:cNvPr id="29" name="Text 27">
            <a:extLst xmlns:a="http://schemas.openxmlformats.org/drawingml/2006/main">
              <a:ext uri="{FF2B5EF4-FFF2-40B4-BE49-F238E27FC236}">
                <a16:creationId xmlns:a16="http://schemas.microsoft.com/office/drawing/2014/main" id="{4EA3A0B4-3316-443D-A3AE-DDF181AD8D61}"/>
              </a:ext>
            </a:extLst>
          </p:cNvPr>
          <p:cNvSpPr>
            <a:spLocks xmlns:a="http://schemas.openxmlformats.org/drawingml/2006/main" noGrp="1"/>
          </p:cNvSpPr>
          <p:nvPr/>
        </p:nvSpPr>
        <p:spPr>
          <a:xfrm xmlns:a="http://schemas.openxmlformats.org/drawingml/2006/main">
            <a:off x="9180347" y="2029968"/>
            <a:ext cx="226154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20">
                <a:solidFill>
                  <a:srgbClr val="486581"/>
                </a:solidFill>
                <a:latin typeface="Arial"/>
                <a:ea typeface="Arial"/>
                <a:cs typeface="Arial"/>
              </a:rPr>
              <a:t>Excluded deliberately, as in every deck in this portfolio.</a:t>
            </a:r>
            <a:endParaRPr sz="920"/>
          </a:p>
        </p:txBody>
      </p:sp>
      <p:sp>
        <p:nvSpPr>
          <p:cNvPr id="30" name="Shape 28">
            <a:extLst xmlns:a="http://schemas.openxmlformats.org/drawingml/2006/main">
              <a:ext uri="{FF2B5EF4-FFF2-40B4-BE49-F238E27FC236}">
                <a16:creationId xmlns:a16="http://schemas.microsoft.com/office/drawing/2014/main" id="{487A094D-0AE3-4241-95E4-C8942E09BC69}"/>
              </a:ext>
            </a:extLst>
          </p:cNvPr>
          <p:cNvSpPr>
            <a:spLocks xmlns:a="http://schemas.openxmlformats.org/drawingml/2006/main" noGrp="1"/>
          </p:cNvSpPr>
          <p:nvPr/>
        </p:nvSpPr>
        <p:spPr>
          <a:xfrm xmlns:a="http://schemas.openxmlformats.org/drawingml/2006/main">
            <a:off x="9180347" y="3200400"/>
            <a:ext cx="2261540" cy="13716"/>
          </a:xfrm>
          <a:prstGeom xmlns:a="http://schemas.openxmlformats.org/drawingml/2006/main" prst="rect">
            <a:avLst/>
          </a:prstGeom>
          <a:solidFill xmlns:a="http://schemas.openxmlformats.org/drawingml/2006/main">
            <a:srgbClr val="C6D2DE"/>
          </a:solidFill>
        </p:spPr>
      </p:sp>
      <p:sp>
        <p:nvSpPr>
          <p:cNvPr id="31" name="Text 29">
            <a:extLst xmlns:a="http://schemas.openxmlformats.org/drawingml/2006/main">
              <a:ext uri="{FF2B5EF4-FFF2-40B4-BE49-F238E27FC236}">
                <a16:creationId xmlns:a16="http://schemas.microsoft.com/office/drawing/2014/main" id="{1C6AE768-AECE-42D3-869D-5752CC44D616}"/>
              </a:ext>
            </a:extLst>
          </p:cNvPr>
          <p:cNvSpPr>
            <a:spLocks xmlns:a="http://schemas.openxmlformats.org/drawingml/2006/main" noGrp="1"/>
          </p:cNvSpPr>
          <p:nvPr/>
        </p:nvSpPr>
        <p:spPr>
          <a:xfrm xmlns:a="http://schemas.openxmlformats.org/drawingml/2006/main">
            <a:off x="9180347" y="3346704"/>
            <a:ext cx="2261540" cy="2286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Sole responsibility for any outcome</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Institution financial results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Any confidential client material</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Independently audited findings</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Statistical generality beyond BFSI</a:t>
            </a:r>
            <a:endParaRPr sz="930"/>
          </a:p>
          <a:p xmlns:a="http://schemas.openxmlformats.org/drawingml/2006/main">
            <a:pPr marL="152400" indent="-152400">
              <a:lnSpc>
                <a:spcPts val="1400"/>
              </a:lnSpc>
              <a:spcAft>
                <a:spcPts val="500"/>
              </a:spcAft>
              <a:buSzPct val="100000"/>
              <a:buChar char="•"/>
            </a:pPr>
            <a:r>
              <a:rPr sz="930">
                <a:solidFill>
                  <a:srgbClr val="1A1A1A"/>
                </a:solidFill>
                <a:latin typeface="Arial"/>
                <a:ea typeface="Arial"/>
                <a:cs typeface="Arial"/>
              </a:rPr>
              <a:t>Commercial terms of any engagement</a:t>
            </a:r>
            <a:endParaRPr sz="930"/>
          </a:p>
        </p:txBody>
      </p:sp>
      <p:sp>
        <p:nvSpPr>
          <p:cNvPr id="32" name="Shape 30">
            <a:extLst xmlns:a="http://schemas.openxmlformats.org/drawingml/2006/main">
              <a:ext uri="{FF2B5EF4-FFF2-40B4-BE49-F238E27FC236}">
                <a16:creationId xmlns:a16="http://schemas.microsoft.com/office/drawing/2014/main" id="{5BCBFCE0-1372-42E9-AE73-D84F77718F8D}"/>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3" name="Text 31">
            <a:extLst xmlns:a="http://schemas.openxmlformats.org/drawingml/2006/main">
              <a:ext uri="{FF2B5EF4-FFF2-40B4-BE49-F238E27FC236}">
                <a16:creationId xmlns:a16="http://schemas.microsoft.com/office/drawing/2014/main" id="{5C11DBC1-EE40-4665-A521-1B7FF214830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 across twenty-nine case decks in this portfolio</a:t>
            </a:r>
            <a:endParaRPr sz="850"/>
          </a:p>
        </p:txBody>
      </p:sp>
      <p:sp>
        <p:nvSpPr>
          <p:cNvPr id="34" name="Text 32">
            <a:extLst xmlns:a="http://schemas.openxmlformats.org/drawingml/2006/main">
              <a:ext uri="{FF2B5EF4-FFF2-40B4-BE49-F238E27FC236}">
                <a16:creationId xmlns:a16="http://schemas.microsoft.com/office/drawing/2014/main" id="{D1E3D0F9-3CF0-42D2-AA93-F636F367C8F5}"/>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473626594"/>
      </p:ext>
    </p:extLst>
  </p:cSld>
</p:sld>
</file>

<file path=ppt/slides/slide29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C089BCE-982E-46FF-A82A-8A13C57E38E4}"/>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BASE</a:t>
            </a:r>
            <a:endParaRPr sz="950"/>
          </a:p>
        </p:txBody>
      </p:sp>
      <p:sp>
        <p:nvSpPr>
          <p:cNvPr id="3" name="Text 1">
            <a:extLst xmlns:a="http://schemas.openxmlformats.org/drawingml/2006/main">
              <a:ext uri="{FF2B5EF4-FFF2-40B4-BE49-F238E27FC236}">
                <a16:creationId xmlns:a16="http://schemas.microsoft.com/office/drawing/2014/main" id="{E8D6235E-3C81-42F6-8D4F-C5C488D8755A}"/>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Sixteen institutions delivered for and nine more analysed — deliberately different</a:t>
            </a:r>
            <a:endParaRPr sz="1900"/>
          </a:p>
          <a:p xmlns:a="http://schemas.openxmlformats.org/drawingml/2006/main">
            <a:pPr marL="0" indent="0">
              <a:lnSpc>
                <a:spcPts val="2400"/>
              </a:lnSpc>
              <a:buNone/>
            </a:pPr>
            <a:r>
              <a:rPr sz="1900" b="1">
                <a:solidFill>
                  <a:srgbClr val="102A43"/>
                </a:solidFill>
                <a:latin typeface="Arial"/>
                <a:ea typeface="Arial"/>
                <a:cs typeface="Arial"/>
              </a:rPr>
              <a:t>enough that a pattern holding across all of them is worth something</a:t>
            </a:r>
            <a:endParaRPr sz="1900"/>
          </a:p>
        </p:txBody>
      </p:sp>
      <p:sp>
        <p:nvSpPr>
          <p:cNvPr id="4" name="Shape 2">
            <a:extLst xmlns:a="http://schemas.openxmlformats.org/drawingml/2006/main">
              <a:ext uri="{FF2B5EF4-FFF2-40B4-BE49-F238E27FC236}">
                <a16:creationId xmlns:a16="http://schemas.microsoft.com/office/drawing/2014/main" id="{556EA0F9-EF4E-497B-95A4-432B2466C3AA}"/>
              </a:ext>
            </a:extLst>
          </p:cNvPr>
          <p:cNvSpPr>
            <a:spLocks xmlns:a="http://schemas.openxmlformats.org/drawingml/2006/main" noGrp="1"/>
          </p:cNvSpPr>
          <p:nvPr/>
        </p:nvSpPr>
        <p:spPr>
          <a:xfrm xmlns:a="http://schemas.openxmlformats.org/drawingml/2006/main">
            <a:off x="566928" y="1335024"/>
            <a:ext cx="2641016" cy="228600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A1D6ADD4-A793-44CB-9071-FC09494A62C2}"/>
              </a:ext>
            </a:extLst>
          </p:cNvPr>
          <p:cNvSpPr>
            <a:spLocks xmlns:a="http://schemas.openxmlformats.org/drawingml/2006/main" noGrp="1"/>
          </p:cNvSpPr>
          <p:nvPr/>
        </p:nvSpPr>
        <p:spPr>
          <a:xfrm xmlns:a="http://schemas.openxmlformats.org/drawingml/2006/main">
            <a:off x="768096" y="1499616"/>
            <a:ext cx="1269416"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20" b="1">
                <a:solidFill>
                  <a:srgbClr val="102A43"/>
                </a:solidFill>
                <a:latin typeface="Arial"/>
                <a:ea typeface="Arial"/>
                <a:cs typeface="Arial"/>
              </a:rPr>
              <a:t>Delivered — Middle East</a:t>
            </a:r>
            <a:endParaRPr sz="1220"/>
          </a:p>
        </p:txBody>
      </p:sp>
      <p:sp>
        <p:nvSpPr>
          <p:cNvPr id="6" name="Text 4">
            <a:extLst xmlns:a="http://schemas.openxmlformats.org/drawingml/2006/main">
              <a:ext uri="{FF2B5EF4-FFF2-40B4-BE49-F238E27FC236}">
                <a16:creationId xmlns:a16="http://schemas.microsoft.com/office/drawing/2014/main" id="{CB09AE88-735C-4FFB-AB16-79C3A599AB9A}"/>
              </a:ext>
            </a:extLst>
          </p:cNvPr>
          <p:cNvSpPr>
            <a:spLocks xmlns:a="http://schemas.openxmlformats.org/drawingml/2006/main" noGrp="1"/>
          </p:cNvSpPr>
          <p:nvPr/>
        </p:nvSpPr>
        <p:spPr>
          <a:xfrm xmlns:a="http://schemas.openxmlformats.org/drawingml/2006/main">
            <a:off x="1909496" y="1536192"/>
            <a:ext cx="1097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2 institutions</a:t>
            </a:r>
            <a:endParaRPr sz="920"/>
          </a:p>
        </p:txBody>
      </p:sp>
      <p:sp>
        <p:nvSpPr>
          <p:cNvPr id="7" name="Shape 5">
            <a:extLst xmlns:a="http://schemas.openxmlformats.org/drawingml/2006/main">
              <a:ext uri="{FF2B5EF4-FFF2-40B4-BE49-F238E27FC236}">
                <a16:creationId xmlns:a16="http://schemas.microsoft.com/office/drawing/2014/main" id="{309D502A-D6C4-4452-8DA7-DC5DC1211469}"/>
              </a:ext>
            </a:extLst>
          </p:cNvPr>
          <p:cNvSpPr>
            <a:spLocks xmlns:a="http://schemas.openxmlformats.org/drawingml/2006/main" noGrp="1"/>
          </p:cNvSpPr>
          <p:nvPr/>
        </p:nvSpPr>
        <p:spPr>
          <a:xfrm xmlns:a="http://schemas.openxmlformats.org/drawingml/2006/main">
            <a:off x="768096" y="2084832"/>
            <a:ext cx="2238680" cy="13716"/>
          </a:xfrm>
          <a:prstGeom xmlns:a="http://schemas.openxmlformats.org/drawingml/2006/main" prst="rect">
            <a:avLst/>
          </a:prstGeom>
          <a:solidFill xmlns:a="http://schemas.openxmlformats.org/drawingml/2006/main">
            <a:srgbClr val="C6D2DE"/>
          </a:solidFill>
        </p:spPr>
      </p:sp>
      <p:sp>
        <p:nvSpPr>
          <p:cNvPr id="8" name="Text 6">
            <a:extLst xmlns:a="http://schemas.openxmlformats.org/drawingml/2006/main">
              <a:ext uri="{FF2B5EF4-FFF2-40B4-BE49-F238E27FC236}">
                <a16:creationId xmlns:a16="http://schemas.microsoft.com/office/drawing/2014/main" id="{C122B9DB-64A2-44F4-B21E-CA866D96845E}"/>
              </a:ext>
            </a:extLst>
          </p:cNvPr>
          <p:cNvSpPr>
            <a:spLocks xmlns:a="http://schemas.openxmlformats.org/drawingml/2006/main" noGrp="1"/>
          </p:cNvSpPr>
          <p:nvPr/>
        </p:nvSpPr>
        <p:spPr>
          <a:xfrm xmlns:a="http://schemas.openxmlformats.org/drawingml/2006/main">
            <a:off x="768096" y="2212848"/>
            <a:ext cx="22386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Gulf Islamic bank — eight programmes across wholesale and business banking</a:t>
            </a:r>
            <a:endParaRPr sz="930"/>
          </a:p>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Regional corporate bank — four programmes across six countries</a:t>
            </a:r>
            <a:endParaRPr sz="930"/>
          </a:p>
        </p:txBody>
      </p:sp>
      <p:sp>
        <p:nvSpPr>
          <p:cNvPr id="9" name="Shape 7">
            <a:extLst xmlns:a="http://schemas.openxmlformats.org/drawingml/2006/main">
              <a:ext uri="{FF2B5EF4-FFF2-40B4-BE49-F238E27FC236}">
                <a16:creationId xmlns:a16="http://schemas.microsoft.com/office/drawing/2014/main" id="{3CF0F0AA-8387-4B58-8B10-0D1C7DD6443C}"/>
              </a:ext>
            </a:extLst>
          </p:cNvPr>
          <p:cNvSpPr>
            <a:spLocks xmlns:a="http://schemas.openxmlformats.org/drawingml/2006/main" noGrp="1"/>
          </p:cNvSpPr>
          <p:nvPr/>
        </p:nvSpPr>
        <p:spPr>
          <a:xfrm xmlns:a="http://schemas.openxmlformats.org/drawingml/2006/main">
            <a:off x="3372536" y="1335024"/>
            <a:ext cx="2641016" cy="2286000"/>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B29E91B1-FEBE-486B-A93B-30DD0C77F00C}"/>
              </a:ext>
            </a:extLst>
          </p:cNvPr>
          <p:cNvSpPr>
            <a:spLocks xmlns:a="http://schemas.openxmlformats.org/drawingml/2006/main" noGrp="1"/>
          </p:cNvSpPr>
          <p:nvPr/>
        </p:nvSpPr>
        <p:spPr>
          <a:xfrm xmlns:a="http://schemas.openxmlformats.org/drawingml/2006/main">
            <a:off x="3573704" y="1499616"/>
            <a:ext cx="1269416"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20" b="1">
                <a:solidFill>
                  <a:srgbClr val="102A43"/>
                </a:solidFill>
                <a:latin typeface="Arial"/>
                <a:ea typeface="Arial"/>
                <a:cs typeface="Arial"/>
              </a:rPr>
              <a:t>Delivered — India</a:t>
            </a:r>
            <a:endParaRPr sz="1220"/>
          </a:p>
        </p:txBody>
      </p:sp>
      <p:sp>
        <p:nvSpPr>
          <p:cNvPr id="11" name="Text 9">
            <a:extLst xmlns:a="http://schemas.openxmlformats.org/drawingml/2006/main">
              <a:ext uri="{FF2B5EF4-FFF2-40B4-BE49-F238E27FC236}">
                <a16:creationId xmlns:a16="http://schemas.microsoft.com/office/drawing/2014/main" id="{1924B2C8-E061-44C8-A75E-24B3CA944335}"/>
              </a:ext>
            </a:extLst>
          </p:cNvPr>
          <p:cNvSpPr>
            <a:spLocks xmlns:a="http://schemas.openxmlformats.org/drawingml/2006/main" noGrp="1"/>
          </p:cNvSpPr>
          <p:nvPr/>
        </p:nvSpPr>
        <p:spPr>
          <a:xfrm xmlns:a="http://schemas.openxmlformats.org/drawingml/2006/main">
            <a:off x="4715104" y="1536192"/>
            <a:ext cx="1097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2 institutions</a:t>
            </a:r>
            <a:endParaRPr sz="920"/>
          </a:p>
        </p:txBody>
      </p:sp>
      <p:sp>
        <p:nvSpPr>
          <p:cNvPr id="12" name="Shape 10">
            <a:extLst xmlns:a="http://schemas.openxmlformats.org/drawingml/2006/main">
              <a:ext uri="{FF2B5EF4-FFF2-40B4-BE49-F238E27FC236}">
                <a16:creationId xmlns:a16="http://schemas.microsoft.com/office/drawing/2014/main" id="{FD24F57A-3976-428C-AF33-9D08460B3228}"/>
              </a:ext>
            </a:extLst>
          </p:cNvPr>
          <p:cNvSpPr>
            <a:spLocks xmlns:a="http://schemas.openxmlformats.org/drawingml/2006/main" noGrp="1"/>
          </p:cNvSpPr>
          <p:nvPr/>
        </p:nvSpPr>
        <p:spPr>
          <a:xfrm xmlns:a="http://schemas.openxmlformats.org/drawingml/2006/main">
            <a:off x="3573704" y="2084832"/>
            <a:ext cx="2238680" cy="13716"/>
          </a:xfrm>
          <a:prstGeom xmlns:a="http://schemas.openxmlformats.org/drawingml/2006/main" prst="rect">
            <a:avLst/>
          </a:prstGeom>
          <a:solidFill xmlns:a="http://schemas.openxmlformats.org/drawingml/2006/main">
            <a:srgbClr val="C6D2DE"/>
          </a:solidFill>
        </p:spPr>
      </p:sp>
      <p:sp>
        <p:nvSpPr>
          <p:cNvPr id="13" name="Text 11">
            <a:extLst xmlns:a="http://schemas.openxmlformats.org/drawingml/2006/main">
              <a:ext uri="{FF2B5EF4-FFF2-40B4-BE49-F238E27FC236}">
                <a16:creationId xmlns:a16="http://schemas.microsoft.com/office/drawing/2014/main" id="{4CF044AC-989C-4010-B8B5-88D28B0C5F81}"/>
              </a:ext>
            </a:extLst>
          </p:cNvPr>
          <p:cNvSpPr>
            <a:spLocks xmlns:a="http://schemas.openxmlformats.org/drawingml/2006/main" noGrp="1"/>
          </p:cNvSpPr>
          <p:nvPr/>
        </p:nvSpPr>
        <p:spPr>
          <a:xfrm xmlns:a="http://schemas.openxmlformats.org/drawingml/2006/main">
            <a:off x="3573704" y="2212848"/>
            <a:ext cx="22386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Largest private bank — six digital journeys</a:t>
            </a:r>
            <a:endParaRPr sz="930"/>
          </a:p>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Life insurer — policy servicing across two programmes</a:t>
            </a:r>
            <a:endParaRPr sz="930"/>
          </a:p>
        </p:txBody>
      </p:sp>
      <p:sp>
        <p:nvSpPr>
          <p:cNvPr id="14" name="Shape 12">
            <a:extLst xmlns:a="http://schemas.openxmlformats.org/drawingml/2006/main">
              <a:ext uri="{FF2B5EF4-FFF2-40B4-BE49-F238E27FC236}">
                <a16:creationId xmlns:a16="http://schemas.microsoft.com/office/drawing/2014/main" id="{77F1451B-9EAB-4965-8CE1-5B819EAE7B57}"/>
              </a:ext>
            </a:extLst>
          </p:cNvPr>
          <p:cNvSpPr>
            <a:spLocks xmlns:a="http://schemas.openxmlformats.org/drawingml/2006/main" noGrp="1"/>
          </p:cNvSpPr>
          <p:nvPr/>
        </p:nvSpPr>
        <p:spPr>
          <a:xfrm xmlns:a="http://schemas.openxmlformats.org/drawingml/2006/main">
            <a:off x="6178144" y="1335024"/>
            <a:ext cx="2641016" cy="2286000"/>
          </a:xfrm>
          <a:prstGeom xmlns:a="http://schemas.openxmlformats.org/drawingml/2006/main" prst="rect">
            <a:avLst/>
          </a:prstGeom>
          <a:solidFill xmlns:a="http://schemas.openxmlformats.org/drawingml/2006/main">
            <a:srgbClr val="F3E6E0"/>
          </a:solidFill>
        </p:spPr>
      </p:sp>
      <p:sp>
        <p:nvSpPr>
          <p:cNvPr id="15" name="Text 13">
            <a:extLst xmlns:a="http://schemas.openxmlformats.org/drawingml/2006/main">
              <a:ext uri="{FF2B5EF4-FFF2-40B4-BE49-F238E27FC236}">
                <a16:creationId xmlns:a16="http://schemas.microsoft.com/office/drawing/2014/main" id="{C6A07379-89B9-411F-ABF4-595576C37BB9}"/>
              </a:ext>
            </a:extLst>
          </p:cNvPr>
          <p:cNvSpPr>
            <a:spLocks xmlns:a="http://schemas.openxmlformats.org/drawingml/2006/main" noGrp="1"/>
          </p:cNvSpPr>
          <p:nvPr/>
        </p:nvSpPr>
        <p:spPr>
          <a:xfrm xmlns:a="http://schemas.openxmlformats.org/drawingml/2006/main">
            <a:off x="6379312" y="1499616"/>
            <a:ext cx="1269416"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20" b="1">
                <a:solidFill>
                  <a:srgbClr val="102A43"/>
                </a:solidFill>
                <a:latin typeface="Arial"/>
                <a:ea typeface="Arial"/>
                <a:cs typeface="Arial"/>
              </a:rPr>
              <a:t>Delivered — United States</a:t>
            </a:r>
            <a:endParaRPr sz="1220"/>
          </a:p>
        </p:txBody>
      </p:sp>
      <p:sp>
        <p:nvSpPr>
          <p:cNvPr id="16" name="Text 14">
            <a:extLst xmlns:a="http://schemas.openxmlformats.org/drawingml/2006/main">
              <a:ext uri="{FF2B5EF4-FFF2-40B4-BE49-F238E27FC236}">
                <a16:creationId xmlns:a16="http://schemas.microsoft.com/office/drawing/2014/main" id="{44949D53-67D9-464F-9C66-CA19B9719DC9}"/>
              </a:ext>
            </a:extLst>
          </p:cNvPr>
          <p:cNvSpPr>
            <a:spLocks xmlns:a="http://schemas.openxmlformats.org/drawingml/2006/main" noGrp="1"/>
          </p:cNvSpPr>
          <p:nvPr/>
        </p:nvSpPr>
        <p:spPr>
          <a:xfrm xmlns:a="http://schemas.openxmlformats.org/drawingml/2006/main">
            <a:off x="7520711" y="1536192"/>
            <a:ext cx="1097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B04A25"/>
                </a:solidFill>
                <a:latin typeface="Arial"/>
                <a:ea typeface="Arial"/>
                <a:cs typeface="Arial"/>
              </a:rPr>
              <a:t>12 institutions</a:t>
            </a:r>
            <a:endParaRPr sz="920"/>
          </a:p>
        </p:txBody>
      </p:sp>
      <p:sp>
        <p:nvSpPr>
          <p:cNvPr id="17" name="Shape 15">
            <a:extLst xmlns:a="http://schemas.openxmlformats.org/drawingml/2006/main">
              <a:ext uri="{FF2B5EF4-FFF2-40B4-BE49-F238E27FC236}">
                <a16:creationId xmlns:a16="http://schemas.microsoft.com/office/drawing/2014/main" id="{DEF8E3B4-2FF1-478F-9445-8D2073C62C00}"/>
              </a:ext>
            </a:extLst>
          </p:cNvPr>
          <p:cNvSpPr>
            <a:spLocks xmlns:a="http://schemas.openxmlformats.org/drawingml/2006/main" noGrp="1"/>
          </p:cNvSpPr>
          <p:nvPr/>
        </p:nvSpPr>
        <p:spPr>
          <a:xfrm xmlns:a="http://schemas.openxmlformats.org/drawingml/2006/main">
            <a:off x="6379312" y="2084832"/>
            <a:ext cx="2238680" cy="13716"/>
          </a:xfrm>
          <a:prstGeom xmlns:a="http://schemas.openxmlformats.org/drawingml/2006/main" prst="rect">
            <a:avLst/>
          </a:prstGeom>
          <a:solidFill xmlns:a="http://schemas.openxmlformats.org/drawingml/2006/main">
            <a:srgbClr val="C6D2DE"/>
          </a:solidFill>
        </p:spPr>
      </p:sp>
      <p:sp>
        <p:nvSpPr>
          <p:cNvPr id="18" name="Text 16">
            <a:extLst xmlns:a="http://schemas.openxmlformats.org/drawingml/2006/main">
              <a:ext uri="{FF2B5EF4-FFF2-40B4-BE49-F238E27FC236}">
                <a16:creationId xmlns:a16="http://schemas.microsoft.com/office/drawing/2014/main" id="{C984A073-652A-410E-9E2C-D541D5F66133}"/>
              </a:ext>
            </a:extLst>
          </p:cNvPr>
          <p:cNvSpPr>
            <a:spLocks xmlns:a="http://schemas.openxmlformats.org/drawingml/2006/main" noGrp="1"/>
          </p:cNvSpPr>
          <p:nvPr/>
        </p:nvSpPr>
        <p:spPr>
          <a:xfrm xmlns:a="http://schemas.openxmlformats.org/drawingml/2006/main">
            <a:off x="6379312" y="2212848"/>
            <a:ext cx="22386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Credit unions and community banks, roughly $0.5bn to $3.6bn in assets</a:t>
            </a:r>
            <a:endParaRPr sz="930"/>
          </a:p>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One productised delivery platform across the portfolio</a:t>
            </a:r>
            <a:endParaRPr sz="930"/>
          </a:p>
        </p:txBody>
      </p:sp>
      <p:sp>
        <p:nvSpPr>
          <p:cNvPr id="19" name="Shape 17">
            <a:extLst xmlns:a="http://schemas.openxmlformats.org/drawingml/2006/main">
              <a:ext uri="{FF2B5EF4-FFF2-40B4-BE49-F238E27FC236}">
                <a16:creationId xmlns:a16="http://schemas.microsoft.com/office/drawing/2014/main" id="{A19F4CBC-2F80-48FB-8746-5975A3845026}"/>
              </a:ext>
            </a:extLst>
          </p:cNvPr>
          <p:cNvSpPr>
            <a:spLocks xmlns:a="http://schemas.openxmlformats.org/drawingml/2006/main" noGrp="1"/>
          </p:cNvSpPr>
          <p:nvPr/>
        </p:nvSpPr>
        <p:spPr>
          <a:xfrm xmlns:a="http://schemas.openxmlformats.org/drawingml/2006/main">
            <a:off x="8983751" y="1335024"/>
            <a:ext cx="2641016" cy="2286000"/>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3B4C5A70-F5D3-45BC-8D87-390FCC3A55F6}"/>
              </a:ext>
            </a:extLst>
          </p:cNvPr>
          <p:cNvSpPr>
            <a:spLocks xmlns:a="http://schemas.openxmlformats.org/drawingml/2006/main" noGrp="1"/>
          </p:cNvSpPr>
          <p:nvPr/>
        </p:nvSpPr>
        <p:spPr>
          <a:xfrm xmlns:a="http://schemas.openxmlformats.org/drawingml/2006/main">
            <a:off x="9184919" y="1499616"/>
            <a:ext cx="1269416" cy="5120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20" b="1">
                <a:solidFill>
                  <a:srgbClr val="102A43"/>
                </a:solidFill>
                <a:latin typeface="Arial"/>
                <a:ea typeface="Arial"/>
                <a:cs typeface="Arial"/>
              </a:rPr>
              <a:t>Solution and analysis</a:t>
            </a:r>
            <a:endParaRPr sz="1220"/>
          </a:p>
        </p:txBody>
      </p:sp>
      <p:sp>
        <p:nvSpPr>
          <p:cNvPr id="21" name="Text 19">
            <a:extLst xmlns:a="http://schemas.openxmlformats.org/drawingml/2006/main">
              <a:ext uri="{FF2B5EF4-FFF2-40B4-BE49-F238E27FC236}">
                <a16:creationId xmlns:a16="http://schemas.microsoft.com/office/drawing/2014/main" id="{82C0DB61-38B3-4163-8912-00642449EAF6}"/>
              </a:ext>
            </a:extLst>
          </p:cNvPr>
          <p:cNvSpPr>
            <a:spLocks xmlns:a="http://schemas.openxmlformats.org/drawingml/2006/main" noGrp="1"/>
          </p:cNvSpPr>
          <p:nvPr/>
        </p:nvSpPr>
        <p:spPr>
          <a:xfrm xmlns:a="http://schemas.openxmlformats.org/drawingml/2006/main">
            <a:off x="10326319" y="1536192"/>
            <a:ext cx="10972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lnSpc>
                <a:spcPts val="1400"/>
              </a:lnSpc>
              <a:buNone/>
            </a:pPr>
            <a:r>
              <a:rPr sz="920" b="1">
                <a:solidFill>
                  <a:srgbClr val="486581"/>
                </a:solidFill>
                <a:latin typeface="Arial"/>
                <a:ea typeface="Arial"/>
                <a:cs typeface="Arial"/>
              </a:rPr>
              <a:t>9 institutions</a:t>
            </a:r>
            <a:endParaRPr sz="920"/>
          </a:p>
        </p:txBody>
      </p:sp>
      <p:sp>
        <p:nvSpPr>
          <p:cNvPr id="22" name="Shape 20">
            <a:extLst xmlns:a="http://schemas.openxmlformats.org/drawingml/2006/main">
              <a:ext uri="{FF2B5EF4-FFF2-40B4-BE49-F238E27FC236}">
                <a16:creationId xmlns:a16="http://schemas.microsoft.com/office/drawing/2014/main" id="{89B8F3EE-000C-4D64-99B5-01FDBB01D73A}"/>
              </a:ext>
            </a:extLst>
          </p:cNvPr>
          <p:cNvSpPr>
            <a:spLocks xmlns:a="http://schemas.openxmlformats.org/drawingml/2006/main" noGrp="1"/>
          </p:cNvSpPr>
          <p:nvPr/>
        </p:nvSpPr>
        <p:spPr>
          <a:xfrm xmlns:a="http://schemas.openxmlformats.org/drawingml/2006/main">
            <a:off x="9184919" y="2084832"/>
            <a:ext cx="2238680" cy="13716"/>
          </a:xfrm>
          <a:prstGeom xmlns:a="http://schemas.openxmlformats.org/drawingml/2006/main" prst="rect">
            <a:avLst/>
          </a:prstGeom>
          <a:solidFill xmlns:a="http://schemas.openxmlformats.org/drawingml/2006/main">
            <a:srgbClr val="C6D2DE"/>
          </a:solidFill>
        </p:spPr>
      </p:sp>
      <p:sp>
        <p:nvSpPr>
          <p:cNvPr id="23" name="Text 21">
            <a:extLst xmlns:a="http://schemas.openxmlformats.org/drawingml/2006/main">
              <a:ext uri="{FF2B5EF4-FFF2-40B4-BE49-F238E27FC236}">
                <a16:creationId xmlns:a16="http://schemas.microsoft.com/office/drawing/2014/main" id="{0D5F8D1A-BBC6-479B-B0E5-494E6538257E}"/>
              </a:ext>
            </a:extLst>
          </p:cNvPr>
          <p:cNvSpPr>
            <a:spLocks xmlns:a="http://schemas.openxmlformats.org/drawingml/2006/main" noGrp="1"/>
          </p:cNvSpPr>
          <p:nvPr/>
        </p:nvSpPr>
        <p:spPr>
          <a:xfrm xmlns:a="http://schemas.openxmlformats.org/drawingml/2006/main">
            <a:off x="9184919" y="2212848"/>
            <a:ext cx="223868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Indian public sector banking at scale</a:t>
            </a:r>
            <a:endParaRPr sz="930"/>
          </a:p>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Insurance distribution pursuit</a:t>
            </a:r>
            <a:endParaRPr sz="930"/>
          </a:p>
          <a:p xmlns:a="http://schemas.openxmlformats.org/drawingml/2006/main">
            <a:pPr marL="152400" indent="-152400">
              <a:lnSpc>
                <a:spcPts val="1400"/>
              </a:lnSpc>
              <a:spcAft>
                <a:spcPts val="700"/>
              </a:spcAft>
              <a:buSzPct val="100000"/>
              <a:buChar char="•"/>
            </a:pPr>
            <a:r>
              <a:rPr sz="930">
                <a:solidFill>
                  <a:srgbClr val="1A1A1A"/>
                </a:solidFill>
                <a:latin typeface="Arial"/>
                <a:ea typeface="Arial"/>
                <a:cs typeface="Arial"/>
              </a:rPr>
              <a:t>Southeast Asian universal, digital-first and reference deployments</a:t>
            </a:r>
            <a:endParaRPr sz="930"/>
          </a:p>
        </p:txBody>
      </p:sp>
      <p:sp>
        <p:nvSpPr>
          <p:cNvPr id="24" name="Text 22">
            <a:extLst xmlns:a="http://schemas.openxmlformats.org/drawingml/2006/main">
              <a:ext uri="{FF2B5EF4-FFF2-40B4-BE49-F238E27FC236}">
                <a16:creationId xmlns:a16="http://schemas.microsoft.com/office/drawing/2014/main" id="{29F847CE-9D7A-4B0B-973C-28F939DF0135}"/>
              </a:ext>
            </a:extLst>
          </p:cNvPr>
          <p:cNvSpPr>
            <a:spLocks xmlns:a="http://schemas.openxmlformats.org/drawingml/2006/main" noGrp="1"/>
          </p:cNvSpPr>
          <p:nvPr/>
        </p:nvSpPr>
        <p:spPr>
          <a:xfrm xmlns:a="http://schemas.openxmlformats.org/drawingml/2006/main">
            <a:off x="566928" y="387705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04A25"/>
                </a:solidFill>
                <a:latin typeface="Arial"/>
                <a:ea typeface="Arial"/>
                <a:cs typeface="Arial"/>
              </a:rPr>
              <a:t>Delivery versus analysis</a:t>
            </a:r>
            <a:endParaRPr sz="1100"/>
          </a:p>
        </p:txBody>
      </p:sp>
      <p:sp>
        <p:nvSpPr>
          <p:cNvPr id="25" name="Shape 23">
            <a:extLst xmlns:a="http://schemas.openxmlformats.org/drawingml/2006/main">
              <a:ext uri="{FF2B5EF4-FFF2-40B4-BE49-F238E27FC236}">
                <a16:creationId xmlns:a16="http://schemas.microsoft.com/office/drawing/2014/main" id="{DC2A29B4-9205-4D8C-B29A-7A68C443B975}"/>
              </a:ext>
            </a:extLst>
          </p:cNvPr>
          <p:cNvSpPr>
            <a:spLocks xmlns:a="http://schemas.openxmlformats.org/drawingml/2006/main" noGrp="1"/>
          </p:cNvSpPr>
          <p:nvPr/>
        </p:nvSpPr>
        <p:spPr>
          <a:xfrm xmlns:a="http://schemas.openxmlformats.org/drawingml/2006/main">
            <a:off x="566928" y="4133088"/>
            <a:ext cx="3551834" cy="20117"/>
          </a:xfrm>
          <a:prstGeom xmlns:a="http://schemas.openxmlformats.org/drawingml/2006/main" prst="rect">
            <a:avLst/>
          </a:prstGeom>
          <a:solidFill xmlns:a="http://schemas.openxmlformats.org/drawingml/2006/main">
            <a:srgbClr val="B04A25"/>
          </a:solidFill>
        </p:spPr>
      </p:sp>
      <p:sp>
        <p:nvSpPr>
          <p:cNvPr id="26" name="Text 24">
            <a:extLst xmlns:a="http://schemas.openxmlformats.org/drawingml/2006/main">
              <a:ext uri="{FF2B5EF4-FFF2-40B4-BE49-F238E27FC236}">
                <a16:creationId xmlns:a16="http://schemas.microsoft.com/office/drawing/2014/main" id="{0E122B10-87B4-4E6B-8E63-90845C3D71B5}"/>
              </a:ext>
            </a:extLst>
          </p:cNvPr>
          <p:cNvSpPr>
            <a:spLocks xmlns:a="http://schemas.openxmlformats.org/drawingml/2006/main" noGrp="1"/>
          </p:cNvSpPr>
          <p:nvPr/>
        </p:nvSpPr>
        <p:spPr>
          <a:xfrm xmlns:a="http://schemas.openxmlformats.org/drawingml/2006/main">
            <a:off x="566928" y="4261104"/>
            <a:ext cx="355183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sixteen are engagements I delivered on. The nine are solution, presales and analysis work — real, and a different class of claim.</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 pattern holding in a $3.6bn credit union and a bank with 300,000 platform users is unlikely to be an artefact of scale.</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Findings are drawn from both, and each case deck states which it is.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claim is not statistical representativeness — only that the base is varied enough to be interesting.</a:t>
            </a:r>
            <a:endParaRPr sz="950"/>
          </a:p>
        </p:txBody>
      </p:sp>
      <p:sp>
        <p:nvSpPr>
          <p:cNvPr id="27" name="Text 25">
            <a:extLst xmlns:a="http://schemas.openxmlformats.org/drawingml/2006/main">
              <a:ext uri="{FF2B5EF4-FFF2-40B4-BE49-F238E27FC236}">
                <a16:creationId xmlns:a16="http://schemas.microsoft.com/office/drawing/2014/main" id="{46658C6B-63B6-494C-AE34-814D4FF00AC6}"/>
              </a:ext>
            </a:extLst>
          </p:cNvPr>
          <p:cNvSpPr>
            <a:spLocks xmlns:a="http://schemas.openxmlformats.org/drawingml/2006/main" noGrp="1"/>
          </p:cNvSpPr>
          <p:nvPr/>
        </p:nvSpPr>
        <p:spPr>
          <a:xfrm xmlns:a="http://schemas.openxmlformats.org/drawingml/2006/main">
            <a:off x="4319930" y="387705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02A43"/>
                </a:solidFill>
                <a:latin typeface="Arial"/>
                <a:ea typeface="Arial"/>
                <a:cs typeface="Arial"/>
              </a:rPr>
              <a:t>What was genuinely different</a:t>
            </a:r>
            <a:endParaRPr sz="1100"/>
          </a:p>
        </p:txBody>
      </p:sp>
      <p:sp>
        <p:nvSpPr>
          <p:cNvPr id="28" name="Shape 26">
            <a:extLst xmlns:a="http://schemas.openxmlformats.org/drawingml/2006/main">
              <a:ext uri="{FF2B5EF4-FFF2-40B4-BE49-F238E27FC236}">
                <a16:creationId xmlns:a16="http://schemas.microsoft.com/office/drawing/2014/main" id="{56D088E4-CDD7-47D2-8426-64DCB7C10D4B}"/>
              </a:ext>
            </a:extLst>
          </p:cNvPr>
          <p:cNvSpPr>
            <a:spLocks xmlns:a="http://schemas.openxmlformats.org/drawingml/2006/main" noGrp="1"/>
          </p:cNvSpPr>
          <p:nvPr/>
        </p:nvSpPr>
        <p:spPr>
          <a:xfrm xmlns:a="http://schemas.openxmlformats.org/drawingml/2006/main">
            <a:off x="4319930" y="4133088"/>
            <a:ext cx="3551834" cy="20117"/>
          </a:xfrm>
          <a:prstGeom xmlns:a="http://schemas.openxmlformats.org/drawingml/2006/main" prst="rect">
            <a:avLst/>
          </a:prstGeom>
          <a:solidFill xmlns:a="http://schemas.openxmlformats.org/drawingml/2006/main">
            <a:srgbClr val="102A43"/>
          </a:solidFill>
        </p:spPr>
      </p:sp>
      <p:sp>
        <p:nvSpPr>
          <p:cNvPr id="29" name="Text 27">
            <a:extLst xmlns:a="http://schemas.openxmlformats.org/drawingml/2006/main">
              <a:ext uri="{FF2B5EF4-FFF2-40B4-BE49-F238E27FC236}">
                <a16:creationId xmlns:a16="http://schemas.microsoft.com/office/drawing/2014/main" id="{27C28162-BB70-4672-93B4-23F3A92AFFDF}"/>
              </a:ext>
            </a:extLst>
          </p:cNvPr>
          <p:cNvSpPr>
            <a:spLocks xmlns:a="http://schemas.openxmlformats.org/drawingml/2006/main" noGrp="1"/>
          </p:cNvSpPr>
          <p:nvPr/>
        </p:nvSpPr>
        <p:spPr>
          <a:xfrm xmlns:a="http://schemas.openxmlformats.org/drawingml/2006/main">
            <a:off x="4319930" y="4261104"/>
            <a:ext cx="355183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Regulatory posture, product structure, distribution model, scale, and what counts as a customer.</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Islamic banking adds a control function and an approved contract object. A cooperative changes what segmentation even means.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Those differences are real and they are the subject of individual decks.</a:t>
            </a:r>
            <a:endParaRPr sz="950"/>
          </a:p>
        </p:txBody>
      </p:sp>
      <p:sp>
        <p:nvSpPr>
          <p:cNvPr id="30" name="Text 28">
            <a:extLst xmlns:a="http://schemas.openxmlformats.org/drawingml/2006/main">
              <a:ext uri="{FF2B5EF4-FFF2-40B4-BE49-F238E27FC236}">
                <a16:creationId xmlns:a16="http://schemas.microsoft.com/office/drawing/2014/main" id="{01672642-8F03-40AE-B232-EDF51A63F244}"/>
              </a:ext>
            </a:extLst>
          </p:cNvPr>
          <p:cNvSpPr>
            <a:spLocks xmlns:a="http://schemas.openxmlformats.org/drawingml/2006/main" noGrp="1"/>
          </p:cNvSpPr>
          <p:nvPr/>
        </p:nvSpPr>
        <p:spPr>
          <a:xfrm xmlns:a="http://schemas.openxmlformats.org/drawingml/2006/main">
            <a:off x="8072933" y="3877056"/>
            <a:ext cx="3551834"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7685A"/>
                </a:solidFill>
                <a:latin typeface="Arial"/>
                <a:ea typeface="Arial"/>
                <a:cs typeface="Arial"/>
              </a:rPr>
              <a:t>What was the same everywhere</a:t>
            </a:r>
            <a:endParaRPr sz="1100"/>
          </a:p>
        </p:txBody>
      </p:sp>
      <p:sp>
        <p:nvSpPr>
          <p:cNvPr id="31" name="Shape 29">
            <a:extLst xmlns:a="http://schemas.openxmlformats.org/drawingml/2006/main">
              <a:ext uri="{FF2B5EF4-FFF2-40B4-BE49-F238E27FC236}">
                <a16:creationId xmlns:a16="http://schemas.microsoft.com/office/drawing/2014/main" id="{45874AF3-321B-4719-9616-FEDB94569BDD}"/>
              </a:ext>
            </a:extLst>
          </p:cNvPr>
          <p:cNvSpPr>
            <a:spLocks xmlns:a="http://schemas.openxmlformats.org/drawingml/2006/main" noGrp="1"/>
          </p:cNvSpPr>
          <p:nvPr/>
        </p:nvSpPr>
        <p:spPr>
          <a:xfrm xmlns:a="http://schemas.openxmlformats.org/drawingml/2006/main">
            <a:off x="8072933" y="4133088"/>
            <a:ext cx="3551834" cy="20117"/>
          </a:xfrm>
          <a:prstGeom xmlns:a="http://schemas.openxmlformats.org/drawingml/2006/main" prst="rect">
            <a:avLst/>
          </a:prstGeom>
          <a:solidFill xmlns:a="http://schemas.openxmlformats.org/drawingml/2006/main">
            <a:srgbClr val="27685A"/>
          </a:solidFill>
        </p:spPr>
      </p:sp>
      <p:sp>
        <p:nvSpPr>
          <p:cNvPr id="32" name="Text 30">
            <a:extLst xmlns:a="http://schemas.openxmlformats.org/drawingml/2006/main">
              <a:ext uri="{FF2B5EF4-FFF2-40B4-BE49-F238E27FC236}">
                <a16:creationId xmlns:a16="http://schemas.microsoft.com/office/drawing/2014/main" id="{AFD583AB-F82B-44B7-B91C-BD6BEA15431A}"/>
              </a:ext>
            </a:extLst>
          </p:cNvPr>
          <p:cNvSpPr>
            <a:spLocks xmlns:a="http://schemas.openxmlformats.org/drawingml/2006/main" noGrp="1"/>
          </p:cNvSpPr>
          <p:nvPr/>
        </p:nvSpPr>
        <p:spPr>
          <a:xfrm xmlns:a="http://schemas.openxmlformats.org/drawingml/2006/main">
            <a:off x="8072933" y="4261104"/>
            <a:ext cx="3551834"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The four decisions. Not their answers — their existence, their timing, and the cost of getting them wrong.</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Also the failure modes, which repeated with almost no variation across regions.</a:t>
            </a:r>
            <a:endParaRPr sz="950"/>
          </a:p>
          <a:p xmlns:a="http://schemas.openxmlformats.org/drawingml/2006/main">
            <a:pPr marL="152400" indent="-152400">
              <a:lnSpc>
                <a:spcPts val="1400"/>
              </a:lnSpc>
              <a:spcAft>
                <a:spcPts val="600"/>
              </a:spcAft>
              <a:buSzPct val="100000"/>
              <a:buChar char="•"/>
            </a:pPr>
            <a:r>
              <a:rPr sz="950">
                <a:solidFill>
                  <a:srgbClr val="1A1A1A"/>
                </a:solidFill>
                <a:latin typeface="Arial"/>
                <a:ea typeface="Arial"/>
                <a:cs typeface="Arial"/>
              </a:rPr>
              <a:t>That consistency is the finding worth carrying.</a:t>
            </a:r>
            <a:endParaRPr sz="950"/>
          </a:p>
        </p:txBody>
      </p:sp>
      <p:sp>
        <p:nvSpPr>
          <p:cNvPr id="33" name="Shape 31">
            <a:extLst xmlns:a="http://schemas.openxmlformats.org/drawingml/2006/main">
              <a:ext uri="{FF2B5EF4-FFF2-40B4-BE49-F238E27FC236}">
                <a16:creationId xmlns:a16="http://schemas.microsoft.com/office/drawing/2014/main" id="{BAFADF81-1510-4A15-927A-13D3712E152C}"/>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4" name="Text 32">
            <a:extLst xmlns:a="http://schemas.openxmlformats.org/drawingml/2006/main">
              <a:ext uri="{FF2B5EF4-FFF2-40B4-BE49-F238E27FC236}">
                <a16:creationId xmlns:a16="http://schemas.microsoft.com/office/drawing/2014/main" id="{6061C860-30EA-4972-83BA-CBF639E1499C}"/>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 across the portfolio</a:t>
            </a:r>
            <a:endParaRPr sz="850"/>
          </a:p>
        </p:txBody>
      </p:sp>
      <p:sp>
        <p:nvSpPr>
          <p:cNvPr id="35" name="Text 33">
            <a:extLst xmlns:a="http://schemas.openxmlformats.org/drawingml/2006/main">
              <a:ext uri="{FF2B5EF4-FFF2-40B4-BE49-F238E27FC236}">
                <a16:creationId xmlns:a16="http://schemas.microsoft.com/office/drawing/2014/main" id="{EB9D19FB-0D81-4018-B4DC-724477E34EDB}"/>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432544427"/>
      </p:ext>
    </p:extLst>
  </p:cSld>
</p:sld>
</file>

<file path=ppt/slides/slide29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34B62CF-A637-465D-957D-B036580445EF}"/>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PREDICTED SUCCESS</a:t>
            </a:r>
            <a:endParaRPr sz="950"/>
          </a:p>
        </p:txBody>
      </p:sp>
      <p:sp>
        <p:nvSpPr>
          <p:cNvPr id="3" name="Text 1">
            <a:extLst xmlns:a="http://schemas.openxmlformats.org/drawingml/2006/main">
              <a:ext uri="{FF2B5EF4-FFF2-40B4-BE49-F238E27FC236}">
                <a16:creationId xmlns:a16="http://schemas.microsoft.com/office/drawing/2014/main" id="{B6D684A8-32FA-42FB-BA4D-E9778E7A17C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findings that recurred across every region — and each traces to specific</a:t>
            </a:r>
            <a:endParaRPr sz="1900"/>
          </a:p>
          <a:p xmlns:a="http://schemas.openxmlformats.org/drawingml/2006/main">
            <a:pPr marL="0" indent="0">
              <a:lnSpc>
                <a:spcPts val="2400"/>
              </a:lnSpc>
              <a:buNone/>
            </a:pPr>
            <a:r>
              <a:rPr sz="1900" b="1">
                <a:solidFill>
                  <a:srgbClr val="102A43"/>
                </a:solidFill>
                <a:latin typeface="Arial"/>
                <a:ea typeface="Arial"/>
                <a:cs typeface="Arial"/>
              </a:rPr>
              <a:t>programmes rather than to a general principle</a:t>
            </a:r>
            <a:endParaRPr sz="1900"/>
          </a:p>
        </p:txBody>
      </p:sp>
      <p:sp>
        <p:nvSpPr>
          <p:cNvPr id="4" name="Shape 2">
            <a:extLst xmlns:a="http://schemas.openxmlformats.org/drawingml/2006/main">
              <a:ext uri="{FF2B5EF4-FFF2-40B4-BE49-F238E27FC236}">
                <a16:creationId xmlns:a16="http://schemas.microsoft.com/office/drawing/2014/main" id="{40A9BC94-1179-475F-8615-966C1BBDF308}"/>
              </a:ext>
            </a:extLst>
          </p:cNvPr>
          <p:cNvSpPr>
            <a:spLocks xmlns:a="http://schemas.openxmlformats.org/drawingml/2006/main" noGrp="1"/>
          </p:cNvSpPr>
          <p:nvPr/>
        </p:nvSpPr>
        <p:spPr>
          <a:xfrm xmlns:a="http://schemas.openxmlformats.org/drawingml/2006/main">
            <a:off x="566928" y="1335024"/>
            <a:ext cx="11057839" cy="786384"/>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09FD9790-7550-42F0-8D1C-A2BA4E589775}"/>
              </a:ext>
            </a:extLst>
          </p:cNvPr>
          <p:cNvSpPr>
            <a:spLocks xmlns:a="http://schemas.openxmlformats.org/drawingml/2006/main" noGrp="1"/>
          </p:cNvSpPr>
          <p:nvPr/>
        </p:nvSpPr>
        <p:spPr>
          <a:xfrm xmlns:a="http://schemas.openxmlformats.org/drawingml/2006/main">
            <a:off x="786384" y="1572768"/>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01</a:t>
            </a:r>
            <a:endParaRPr sz="1500"/>
          </a:p>
        </p:txBody>
      </p:sp>
      <p:sp>
        <p:nvSpPr>
          <p:cNvPr id="6" name="Text 4">
            <a:extLst xmlns:a="http://schemas.openxmlformats.org/drawingml/2006/main">
              <a:ext uri="{FF2B5EF4-FFF2-40B4-BE49-F238E27FC236}">
                <a16:creationId xmlns:a16="http://schemas.microsoft.com/office/drawing/2014/main" id="{AC9FC646-5609-4F21-A7EC-35F6CA4470CE}"/>
              </a:ext>
            </a:extLst>
          </p:cNvPr>
          <p:cNvSpPr>
            <a:spLocks xmlns:a="http://schemas.openxmlformats.org/drawingml/2006/main" noGrp="1"/>
          </p:cNvSpPr>
          <p:nvPr/>
        </p:nvSpPr>
        <p:spPr>
          <a:xfrm xmlns:a="http://schemas.openxmlformats.org/drawingml/2006/main">
            <a:off x="1280160" y="1463040"/>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Sequence beat capability, every time</a:t>
            </a:r>
            <a:endParaRPr sz="1140"/>
          </a:p>
        </p:txBody>
      </p:sp>
      <p:sp>
        <p:nvSpPr>
          <p:cNvPr id="7" name="Text 5">
            <a:extLst xmlns:a="http://schemas.openxmlformats.org/drawingml/2006/main">
              <a:ext uri="{FF2B5EF4-FFF2-40B4-BE49-F238E27FC236}">
                <a16:creationId xmlns:a16="http://schemas.microsoft.com/office/drawing/2014/main" id="{D0286D9A-6275-4ADA-91FE-EC49B4C8569E}"/>
              </a:ext>
            </a:extLst>
          </p:cNvPr>
          <p:cNvSpPr>
            <a:spLocks xmlns:a="http://schemas.openxmlformats.org/drawingml/2006/main" noGrp="1"/>
          </p:cNvSpPr>
          <p:nvPr/>
        </p:nvSpPr>
        <p:spPr>
          <a:xfrm xmlns:a="http://schemas.openxmlformats.org/drawingml/2006/main">
            <a:off x="4864608" y="1463040"/>
            <a:ext cx="420624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The programmes that compounded were the ones where someone owned the order. Foundational work first, even where it had the weakest standalone business case, because everything after it got cheaper.</a:t>
            </a:r>
            <a:endParaRPr sz="920"/>
          </a:p>
        </p:txBody>
      </p:sp>
      <p:sp>
        <p:nvSpPr>
          <p:cNvPr id="8" name="Text 6">
            <a:extLst xmlns:a="http://schemas.openxmlformats.org/drawingml/2006/main">
              <a:ext uri="{FF2B5EF4-FFF2-40B4-BE49-F238E27FC236}">
                <a16:creationId xmlns:a16="http://schemas.microsoft.com/office/drawing/2014/main" id="{4BD55F5E-2253-4F81-83A2-D18F02ECA6BF}"/>
              </a:ext>
            </a:extLst>
          </p:cNvPr>
          <p:cNvSpPr>
            <a:spLocks xmlns:a="http://schemas.openxmlformats.org/drawingml/2006/main" noGrp="1"/>
          </p:cNvSpPr>
          <p:nvPr/>
        </p:nvSpPr>
        <p:spPr>
          <a:xfrm xmlns:a="http://schemas.openxmlformats.org/drawingml/2006/main">
            <a:off x="9253728" y="1463040"/>
            <a:ext cx="22860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i="1">
                <a:solidFill>
                  <a:srgbClr val="B04A25"/>
                </a:solidFill>
                <a:latin typeface="Arial"/>
                <a:ea typeface="Arial"/>
                <a:cs typeface="Arial"/>
              </a:rPr>
              <a:t>Gulf portfolio · multi-country corporate · US factory</a:t>
            </a:r>
            <a:endParaRPr sz="880"/>
          </a:p>
        </p:txBody>
      </p:sp>
      <p:sp>
        <p:nvSpPr>
          <p:cNvPr id="9" name="Shape 7">
            <a:extLst xmlns:a="http://schemas.openxmlformats.org/drawingml/2006/main">
              <a:ext uri="{FF2B5EF4-FFF2-40B4-BE49-F238E27FC236}">
                <a16:creationId xmlns:a16="http://schemas.microsoft.com/office/drawing/2014/main" id="{3FD948B1-1B96-48B5-9341-2B9D744D0B64}"/>
              </a:ext>
            </a:extLst>
          </p:cNvPr>
          <p:cNvSpPr>
            <a:spLocks xmlns:a="http://schemas.openxmlformats.org/drawingml/2006/main" noGrp="1"/>
          </p:cNvSpPr>
          <p:nvPr/>
        </p:nvSpPr>
        <p:spPr>
          <a:xfrm xmlns:a="http://schemas.openxmlformats.org/drawingml/2006/main">
            <a:off x="566928" y="2231136"/>
            <a:ext cx="11057839" cy="786384"/>
          </a:xfrm>
          <a:prstGeom xmlns:a="http://schemas.openxmlformats.org/drawingml/2006/main" prst="rect">
            <a:avLst/>
          </a:prstGeom>
          <a:solidFill xmlns:a="http://schemas.openxmlformats.org/drawingml/2006/main">
            <a:srgbClr val="F3E6E0"/>
          </a:solidFill>
        </p:spPr>
      </p:sp>
      <p:sp>
        <p:nvSpPr>
          <p:cNvPr id="10" name="Text 8">
            <a:extLst xmlns:a="http://schemas.openxmlformats.org/drawingml/2006/main">
              <a:ext uri="{FF2B5EF4-FFF2-40B4-BE49-F238E27FC236}">
                <a16:creationId xmlns:a16="http://schemas.microsoft.com/office/drawing/2014/main" id="{17A45278-7886-4B50-B94D-4EDA9E089A4C}"/>
              </a:ext>
            </a:extLst>
          </p:cNvPr>
          <p:cNvSpPr>
            <a:spLocks xmlns:a="http://schemas.openxmlformats.org/drawingml/2006/main" noGrp="1"/>
          </p:cNvSpPr>
          <p:nvPr/>
        </p:nvSpPr>
        <p:spPr>
          <a:xfrm xmlns:a="http://schemas.openxmlformats.org/drawingml/2006/main">
            <a:off x="786384" y="2468880"/>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02</a:t>
            </a:r>
            <a:endParaRPr sz="1500"/>
          </a:p>
        </p:txBody>
      </p:sp>
      <p:sp>
        <p:nvSpPr>
          <p:cNvPr id="11" name="Text 9">
            <a:extLst xmlns:a="http://schemas.openxmlformats.org/drawingml/2006/main">
              <a:ext uri="{FF2B5EF4-FFF2-40B4-BE49-F238E27FC236}">
                <a16:creationId xmlns:a16="http://schemas.microsoft.com/office/drawing/2014/main" id="{73E1A4F4-14AC-4295-AB34-29C23AF032FD}"/>
              </a:ext>
            </a:extLst>
          </p:cNvPr>
          <p:cNvSpPr>
            <a:spLocks xmlns:a="http://schemas.openxmlformats.org/drawingml/2006/main" noGrp="1"/>
          </p:cNvSpPr>
          <p:nvPr/>
        </p:nvSpPr>
        <p:spPr>
          <a:xfrm xmlns:a="http://schemas.openxmlformats.org/drawingml/2006/main">
            <a:off x="1280160" y="2359152"/>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Reuse survived only where someone could refuse a fork</a:t>
            </a:r>
            <a:endParaRPr sz="1140"/>
          </a:p>
        </p:txBody>
      </p:sp>
      <p:sp>
        <p:nvSpPr>
          <p:cNvPr id="12" name="Text 10">
            <a:extLst xmlns:a="http://schemas.openxmlformats.org/drawingml/2006/main">
              <a:ext uri="{FF2B5EF4-FFF2-40B4-BE49-F238E27FC236}">
                <a16:creationId xmlns:a16="http://schemas.microsoft.com/office/drawing/2014/main" id="{C8C99F81-5CDA-45AA-80C0-4734F86F2E80}"/>
              </a:ext>
            </a:extLst>
          </p:cNvPr>
          <p:cNvSpPr>
            <a:spLocks xmlns:a="http://schemas.openxmlformats.org/drawingml/2006/main" noGrp="1"/>
          </p:cNvSpPr>
          <p:nvPr/>
        </p:nvSpPr>
        <p:spPr>
          <a:xfrm xmlns:a="http://schemas.openxmlformats.org/drawingml/2006/main">
            <a:off x="4864608" y="2359152"/>
            <a:ext cx="420624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Shared components stayed shared because one person's accountability sat above any single delivery date. Where it did not, the platform quietly became several platforms within two years.</a:t>
            </a:r>
            <a:endParaRPr sz="920"/>
          </a:p>
        </p:txBody>
      </p:sp>
      <p:sp>
        <p:nvSpPr>
          <p:cNvPr id="13" name="Text 11">
            <a:extLst xmlns:a="http://schemas.openxmlformats.org/drawingml/2006/main">
              <a:ext uri="{FF2B5EF4-FFF2-40B4-BE49-F238E27FC236}">
                <a16:creationId xmlns:a16="http://schemas.microsoft.com/office/drawing/2014/main" id="{5148D8A7-C4C1-43FE-AE8C-90A94D281077}"/>
              </a:ext>
            </a:extLst>
          </p:cNvPr>
          <p:cNvSpPr>
            <a:spLocks xmlns:a="http://schemas.openxmlformats.org/drawingml/2006/main" noGrp="1"/>
          </p:cNvSpPr>
          <p:nvPr/>
        </p:nvSpPr>
        <p:spPr>
          <a:xfrm xmlns:a="http://schemas.openxmlformats.org/drawingml/2006/main">
            <a:off x="9253728" y="2359152"/>
            <a:ext cx="22860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i="1">
                <a:solidFill>
                  <a:srgbClr val="B04A25"/>
                </a:solidFill>
                <a:latin typeface="Arial"/>
                <a:ea typeface="Arial"/>
                <a:cs typeface="Arial"/>
              </a:rPr>
              <a:t>Digital journeys · eight-programme portfolio · deployment factory</a:t>
            </a:r>
            <a:endParaRPr sz="880"/>
          </a:p>
        </p:txBody>
      </p:sp>
      <p:sp>
        <p:nvSpPr>
          <p:cNvPr id="14" name="Shape 12">
            <a:extLst xmlns:a="http://schemas.openxmlformats.org/drawingml/2006/main">
              <a:ext uri="{FF2B5EF4-FFF2-40B4-BE49-F238E27FC236}">
                <a16:creationId xmlns:a16="http://schemas.microsoft.com/office/drawing/2014/main" id="{571A2449-832B-4883-AC6C-56F8E826AA4F}"/>
              </a:ext>
            </a:extLst>
          </p:cNvPr>
          <p:cNvSpPr>
            <a:spLocks xmlns:a="http://schemas.openxmlformats.org/drawingml/2006/main" noGrp="1"/>
          </p:cNvSpPr>
          <p:nvPr/>
        </p:nvSpPr>
        <p:spPr>
          <a:xfrm xmlns:a="http://schemas.openxmlformats.org/drawingml/2006/main">
            <a:off x="566928" y="3127248"/>
            <a:ext cx="11057839" cy="786384"/>
          </a:xfrm>
          <a:prstGeom xmlns:a="http://schemas.openxmlformats.org/drawingml/2006/main" prst="rect">
            <a:avLst/>
          </a:prstGeom>
          <a:solidFill xmlns:a="http://schemas.openxmlformats.org/drawingml/2006/main">
            <a:srgbClr val="F0F4F8"/>
          </a:solidFill>
        </p:spPr>
      </p:sp>
      <p:sp>
        <p:nvSpPr>
          <p:cNvPr id="15" name="Text 13">
            <a:extLst xmlns:a="http://schemas.openxmlformats.org/drawingml/2006/main">
              <a:ext uri="{FF2B5EF4-FFF2-40B4-BE49-F238E27FC236}">
                <a16:creationId xmlns:a16="http://schemas.microsoft.com/office/drawing/2014/main" id="{56A82F10-D1F0-4714-9393-636FCA517ADF}"/>
              </a:ext>
            </a:extLst>
          </p:cNvPr>
          <p:cNvSpPr>
            <a:spLocks xmlns:a="http://schemas.openxmlformats.org/drawingml/2006/main" noGrp="1"/>
          </p:cNvSpPr>
          <p:nvPr/>
        </p:nvSpPr>
        <p:spPr>
          <a:xfrm xmlns:a="http://schemas.openxmlformats.org/drawingml/2006/main">
            <a:off x="786384" y="3364992"/>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03</a:t>
            </a:r>
            <a:endParaRPr sz="1500"/>
          </a:p>
        </p:txBody>
      </p:sp>
      <p:sp>
        <p:nvSpPr>
          <p:cNvPr id="16" name="Text 14">
            <a:extLst xmlns:a="http://schemas.openxmlformats.org/drawingml/2006/main">
              <a:ext uri="{FF2B5EF4-FFF2-40B4-BE49-F238E27FC236}">
                <a16:creationId xmlns:a16="http://schemas.microsoft.com/office/drawing/2014/main" id="{6ED7AC0A-17C8-40EC-A479-3F4997C1AEEA}"/>
              </a:ext>
            </a:extLst>
          </p:cNvPr>
          <p:cNvSpPr>
            <a:spLocks xmlns:a="http://schemas.openxmlformats.org/drawingml/2006/main" noGrp="1"/>
          </p:cNvSpPr>
          <p:nvPr/>
        </p:nvSpPr>
        <p:spPr>
          <a:xfrm xmlns:a="http://schemas.openxmlformats.org/drawingml/2006/main">
            <a:off x="1280160" y="3255264"/>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The binding constraint was rarely the one in the brief</a:t>
            </a:r>
            <a:endParaRPr sz="1140"/>
          </a:p>
        </p:txBody>
      </p:sp>
      <p:sp>
        <p:nvSpPr>
          <p:cNvPr id="17" name="Text 15">
            <a:extLst xmlns:a="http://schemas.openxmlformats.org/drawingml/2006/main">
              <a:ext uri="{FF2B5EF4-FFF2-40B4-BE49-F238E27FC236}">
                <a16:creationId xmlns:a16="http://schemas.microsoft.com/office/drawing/2014/main" id="{F6773B0E-6798-4BEB-A78B-461F33CA32EB}"/>
              </a:ext>
            </a:extLst>
          </p:cNvPr>
          <p:cNvSpPr>
            <a:spLocks xmlns:a="http://schemas.openxmlformats.org/drawingml/2006/main" noGrp="1"/>
          </p:cNvSpPr>
          <p:nvPr/>
        </p:nvSpPr>
        <p:spPr>
          <a:xfrm xmlns:a="http://schemas.openxmlformats.org/drawingml/2006/main">
            <a:off x="4864608" y="3255264"/>
            <a:ext cx="420624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Briefs describe capability gaps. The actual constraint was usually assurance capacity, change-approval throughput, data completeness or a counterparty — and none of those appear in a requirements document.</a:t>
            </a:r>
            <a:endParaRPr sz="920"/>
          </a:p>
        </p:txBody>
      </p:sp>
      <p:sp>
        <p:nvSpPr>
          <p:cNvPr id="18" name="Text 16">
            <a:extLst xmlns:a="http://schemas.openxmlformats.org/drawingml/2006/main">
              <a:ext uri="{FF2B5EF4-FFF2-40B4-BE49-F238E27FC236}">
                <a16:creationId xmlns:a16="http://schemas.microsoft.com/office/drawing/2014/main" id="{FE27170B-D194-4927-AB07-AA13B8A5A773}"/>
              </a:ext>
            </a:extLst>
          </p:cNvPr>
          <p:cNvSpPr>
            <a:spLocks xmlns:a="http://schemas.openxmlformats.org/drawingml/2006/main" noGrp="1"/>
          </p:cNvSpPr>
          <p:nvPr/>
        </p:nvSpPr>
        <p:spPr>
          <a:xfrm xmlns:a="http://schemas.openxmlformats.org/drawingml/2006/main">
            <a:off x="9253728" y="3255264"/>
            <a:ext cx="22860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i="1">
                <a:solidFill>
                  <a:srgbClr val="486581"/>
                </a:solidFill>
                <a:latin typeface="Arial"/>
                <a:ea typeface="Arial"/>
                <a:cs typeface="Arial"/>
              </a:rPr>
              <a:t>Enterprise scale · configurability · corporate spine</a:t>
            </a:r>
            <a:endParaRPr sz="880"/>
          </a:p>
        </p:txBody>
      </p:sp>
      <p:sp>
        <p:nvSpPr>
          <p:cNvPr id="19" name="Shape 17">
            <a:extLst xmlns:a="http://schemas.openxmlformats.org/drawingml/2006/main">
              <a:ext uri="{FF2B5EF4-FFF2-40B4-BE49-F238E27FC236}">
                <a16:creationId xmlns:a16="http://schemas.microsoft.com/office/drawing/2014/main" id="{4E2C08D5-7254-4FD3-AE3E-1B316E1664BF}"/>
              </a:ext>
            </a:extLst>
          </p:cNvPr>
          <p:cNvSpPr>
            <a:spLocks xmlns:a="http://schemas.openxmlformats.org/drawingml/2006/main" noGrp="1"/>
          </p:cNvSpPr>
          <p:nvPr/>
        </p:nvSpPr>
        <p:spPr>
          <a:xfrm xmlns:a="http://schemas.openxmlformats.org/drawingml/2006/main">
            <a:off x="566928" y="4023360"/>
            <a:ext cx="11057839" cy="786384"/>
          </a:xfrm>
          <a:prstGeom xmlns:a="http://schemas.openxmlformats.org/drawingml/2006/main" prst="rect">
            <a:avLst/>
          </a:prstGeom>
          <a:solidFill xmlns:a="http://schemas.openxmlformats.org/drawingml/2006/main">
            <a:srgbClr val="F0F4F8"/>
          </a:solidFill>
        </p:spPr>
      </p:sp>
      <p:sp>
        <p:nvSpPr>
          <p:cNvPr id="20" name="Text 18">
            <a:extLst xmlns:a="http://schemas.openxmlformats.org/drawingml/2006/main">
              <a:ext uri="{FF2B5EF4-FFF2-40B4-BE49-F238E27FC236}">
                <a16:creationId xmlns:a16="http://schemas.microsoft.com/office/drawing/2014/main" id="{E2180877-400A-493D-9240-C8E6CDBFC644}"/>
              </a:ext>
            </a:extLst>
          </p:cNvPr>
          <p:cNvSpPr>
            <a:spLocks xmlns:a="http://schemas.openxmlformats.org/drawingml/2006/main" noGrp="1"/>
          </p:cNvSpPr>
          <p:nvPr/>
        </p:nvSpPr>
        <p:spPr>
          <a:xfrm xmlns:a="http://schemas.openxmlformats.org/drawingml/2006/main">
            <a:off x="786384" y="4261104"/>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04</a:t>
            </a:r>
            <a:endParaRPr sz="1500"/>
          </a:p>
        </p:txBody>
      </p:sp>
      <p:sp>
        <p:nvSpPr>
          <p:cNvPr id="21" name="Text 19">
            <a:extLst xmlns:a="http://schemas.openxmlformats.org/drawingml/2006/main">
              <a:ext uri="{FF2B5EF4-FFF2-40B4-BE49-F238E27FC236}">
                <a16:creationId xmlns:a16="http://schemas.microsoft.com/office/drawing/2014/main" id="{CE837856-57F5-47B2-9BDF-9BD248FCC63D}"/>
              </a:ext>
            </a:extLst>
          </p:cNvPr>
          <p:cNvSpPr>
            <a:spLocks xmlns:a="http://schemas.openxmlformats.org/drawingml/2006/main" noGrp="1"/>
          </p:cNvSpPr>
          <p:nvPr/>
        </p:nvSpPr>
        <p:spPr>
          <a:xfrm xmlns:a="http://schemas.openxmlformats.org/drawingml/2006/main">
            <a:off x="1280160" y="4151376"/>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Controls designed in were a speed strategy</a:t>
            </a:r>
            <a:endParaRPr sz="1140"/>
          </a:p>
        </p:txBody>
      </p:sp>
      <p:sp>
        <p:nvSpPr>
          <p:cNvPr id="22" name="Text 20">
            <a:extLst xmlns:a="http://schemas.openxmlformats.org/drawingml/2006/main">
              <a:ext uri="{FF2B5EF4-FFF2-40B4-BE49-F238E27FC236}">
                <a16:creationId xmlns:a16="http://schemas.microsoft.com/office/drawing/2014/main" id="{E6B25881-81C8-4A71-93C4-D1FE017C3B8B}"/>
              </a:ext>
            </a:extLst>
          </p:cNvPr>
          <p:cNvSpPr>
            <a:spLocks xmlns:a="http://schemas.openxmlformats.org/drawingml/2006/main" noGrp="1"/>
          </p:cNvSpPr>
          <p:nvPr/>
        </p:nvSpPr>
        <p:spPr>
          <a:xfrm xmlns:a="http://schemas.openxmlformats.org/drawingml/2006/main">
            <a:off x="4864608" y="4151376"/>
            <a:ext cx="420624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In every large estate, assurance capacity was scarcer than engineering capacity. Journeys and programmes that arrived at review with controls already designed shipped sooner than those that arrived fast and unfinished.</a:t>
            </a:r>
            <a:endParaRPr sz="920"/>
          </a:p>
        </p:txBody>
      </p:sp>
      <p:sp>
        <p:nvSpPr>
          <p:cNvPr id="23" name="Text 21">
            <a:extLst xmlns:a="http://schemas.openxmlformats.org/drawingml/2006/main">
              <a:ext uri="{FF2B5EF4-FFF2-40B4-BE49-F238E27FC236}">
                <a16:creationId xmlns:a16="http://schemas.microsoft.com/office/drawing/2014/main" id="{E1C8666B-F60B-4E29-87A5-FC959775A049}"/>
              </a:ext>
            </a:extLst>
          </p:cNvPr>
          <p:cNvSpPr>
            <a:spLocks xmlns:a="http://schemas.openxmlformats.org/drawingml/2006/main" noGrp="1"/>
          </p:cNvSpPr>
          <p:nvPr/>
        </p:nvSpPr>
        <p:spPr>
          <a:xfrm xmlns:a="http://schemas.openxmlformats.org/drawingml/2006/main">
            <a:off x="9253728" y="4151376"/>
            <a:ext cx="22860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i="1">
                <a:solidFill>
                  <a:srgbClr val="486581"/>
                </a:solidFill>
                <a:latin typeface="Arial"/>
                <a:ea typeface="Arial"/>
                <a:cs typeface="Arial"/>
              </a:rPr>
              <a:t>Digital journeys · parallel approvals · three regulators</a:t>
            </a:r>
            <a:endParaRPr sz="880"/>
          </a:p>
        </p:txBody>
      </p:sp>
      <p:sp>
        <p:nvSpPr>
          <p:cNvPr id="24" name="Shape 22">
            <a:extLst xmlns:a="http://schemas.openxmlformats.org/drawingml/2006/main">
              <a:ext uri="{FF2B5EF4-FFF2-40B4-BE49-F238E27FC236}">
                <a16:creationId xmlns:a16="http://schemas.microsoft.com/office/drawing/2014/main" id="{EB3ADF50-131D-4668-85ED-CC8B0F7602EA}"/>
              </a:ext>
            </a:extLst>
          </p:cNvPr>
          <p:cNvSpPr>
            <a:spLocks xmlns:a="http://schemas.openxmlformats.org/drawingml/2006/main" noGrp="1"/>
          </p:cNvSpPr>
          <p:nvPr/>
        </p:nvSpPr>
        <p:spPr>
          <a:xfrm xmlns:a="http://schemas.openxmlformats.org/drawingml/2006/main">
            <a:off x="566928" y="4919472"/>
            <a:ext cx="11057839" cy="786384"/>
          </a:xfrm>
          <a:prstGeom xmlns:a="http://schemas.openxmlformats.org/drawingml/2006/main" prst="rect">
            <a:avLst/>
          </a:prstGeom>
          <a:solidFill xmlns:a="http://schemas.openxmlformats.org/drawingml/2006/main">
            <a:srgbClr val="F0F4F8"/>
          </a:solidFill>
        </p:spPr>
      </p:sp>
      <p:sp>
        <p:nvSpPr>
          <p:cNvPr id="25" name="Text 23">
            <a:extLst xmlns:a="http://schemas.openxmlformats.org/drawingml/2006/main">
              <a:ext uri="{FF2B5EF4-FFF2-40B4-BE49-F238E27FC236}">
                <a16:creationId xmlns:a16="http://schemas.microsoft.com/office/drawing/2014/main" id="{A33CB5B8-724B-451D-B691-1B6C40218F33}"/>
              </a:ext>
            </a:extLst>
          </p:cNvPr>
          <p:cNvSpPr>
            <a:spLocks xmlns:a="http://schemas.openxmlformats.org/drawingml/2006/main" noGrp="1"/>
          </p:cNvSpPr>
          <p:nvPr/>
        </p:nvSpPr>
        <p:spPr>
          <a:xfrm xmlns:a="http://schemas.openxmlformats.org/drawingml/2006/main">
            <a:off x="786384" y="5157216"/>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05</a:t>
            </a:r>
            <a:endParaRPr sz="1500"/>
          </a:p>
        </p:txBody>
      </p:sp>
      <p:sp>
        <p:nvSpPr>
          <p:cNvPr id="26" name="Text 24">
            <a:extLst xmlns:a="http://schemas.openxmlformats.org/drawingml/2006/main">
              <a:ext uri="{FF2B5EF4-FFF2-40B4-BE49-F238E27FC236}">
                <a16:creationId xmlns:a16="http://schemas.microsoft.com/office/drawing/2014/main" id="{5B6904FC-71F3-4DF3-82F2-9D053758CCBE}"/>
              </a:ext>
            </a:extLst>
          </p:cNvPr>
          <p:cNvSpPr>
            <a:spLocks xmlns:a="http://schemas.openxmlformats.org/drawingml/2006/main" noGrp="1"/>
          </p:cNvSpPr>
          <p:nvPr/>
        </p:nvSpPr>
        <p:spPr>
          <a:xfrm xmlns:a="http://schemas.openxmlformats.org/drawingml/2006/main">
            <a:off x="1280160" y="5047488"/>
            <a:ext cx="33832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40" b="1">
                <a:solidFill>
                  <a:srgbClr val="102A43"/>
                </a:solidFill>
                <a:latin typeface="Arial"/>
                <a:ea typeface="Arial"/>
                <a:cs typeface="Arial"/>
              </a:rPr>
              <a:t>Measurement before change made the result defensible</a:t>
            </a:r>
            <a:endParaRPr sz="1140"/>
          </a:p>
        </p:txBody>
      </p:sp>
      <p:sp>
        <p:nvSpPr>
          <p:cNvPr id="27" name="Text 25">
            <a:extLst xmlns:a="http://schemas.openxmlformats.org/drawingml/2006/main">
              <a:ext uri="{FF2B5EF4-FFF2-40B4-BE49-F238E27FC236}">
                <a16:creationId xmlns:a16="http://schemas.microsoft.com/office/drawing/2014/main" id="{F3B5F21C-F37A-48DB-BE37-4124D137745D}"/>
              </a:ext>
            </a:extLst>
          </p:cNvPr>
          <p:cNvSpPr>
            <a:spLocks xmlns:a="http://schemas.openxmlformats.org/drawingml/2006/main" noGrp="1"/>
          </p:cNvSpPr>
          <p:nvPr/>
        </p:nvSpPr>
        <p:spPr>
          <a:xfrm xmlns:a="http://schemas.openxmlformats.org/drawingml/2006/main">
            <a:off x="4864608" y="5047488"/>
            <a:ext cx="420624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Where a baseline was captured before release, the outcome could be attributed. Where it was not, a real improvement was indistinguishable from the quarter — and got argued about instead of banked.</a:t>
            </a:r>
            <a:endParaRPr sz="920"/>
          </a:p>
        </p:txBody>
      </p:sp>
      <p:sp>
        <p:nvSpPr>
          <p:cNvPr id="28" name="Text 26">
            <a:extLst xmlns:a="http://schemas.openxmlformats.org/drawingml/2006/main">
              <a:ext uri="{FF2B5EF4-FFF2-40B4-BE49-F238E27FC236}">
                <a16:creationId xmlns:a16="http://schemas.microsoft.com/office/drawing/2014/main" id="{F2F6C703-EF43-478C-96E1-134591BDE536}"/>
              </a:ext>
            </a:extLst>
          </p:cNvPr>
          <p:cNvSpPr>
            <a:spLocks xmlns:a="http://schemas.openxmlformats.org/drawingml/2006/main" noGrp="1"/>
          </p:cNvSpPr>
          <p:nvPr/>
        </p:nvSpPr>
        <p:spPr>
          <a:xfrm xmlns:a="http://schemas.openxmlformats.org/drawingml/2006/main">
            <a:off x="9253728" y="5047488"/>
            <a:ext cx="22860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150"/>
              </a:lnSpc>
              <a:buNone/>
            </a:pPr>
            <a:r>
              <a:rPr sz="880" i="1">
                <a:solidFill>
                  <a:srgbClr val="486581"/>
                </a:solidFill>
                <a:latin typeface="Arial"/>
                <a:ea typeface="Arial"/>
                <a:cs typeface="Arial"/>
              </a:rPr>
              <a:t>Journey portfolio · case visibility · analytics</a:t>
            </a:r>
            <a:endParaRPr sz="880"/>
          </a:p>
        </p:txBody>
      </p:sp>
      <p:sp>
        <p:nvSpPr>
          <p:cNvPr id="29" name="Shape 27">
            <a:extLst xmlns:a="http://schemas.openxmlformats.org/drawingml/2006/main">
              <a:ext uri="{FF2B5EF4-FFF2-40B4-BE49-F238E27FC236}">
                <a16:creationId xmlns:a16="http://schemas.microsoft.com/office/drawing/2014/main" id="{C121875E-CEC6-4873-82D0-92AB0D7003E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0" name="Text 28">
            <a:extLst xmlns:a="http://schemas.openxmlformats.org/drawingml/2006/main">
              <a:ext uri="{FF2B5EF4-FFF2-40B4-BE49-F238E27FC236}">
                <a16:creationId xmlns:a16="http://schemas.microsoft.com/office/drawing/2014/main" id="{DE8D5D1C-1CB7-4422-B6D3-EEA164489845}"/>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 across the portfolio</a:t>
            </a:r>
            <a:endParaRPr sz="850"/>
          </a:p>
        </p:txBody>
      </p:sp>
      <p:sp>
        <p:nvSpPr>
          <p:cNvPr id="31" name="Text 29">
            <a:extLst xmlns:a="http://schemas.openxmlformats.org/drawingml/2006/main">
              <a:ext uri="{FF2B5EF4-FFF2-40B4-BE49-F238E27FC236}">
                <a16:creationId xmlns:a16="http://schemas.microsoft.com/office/drawing/2014/main" id="{A0F2672E-2754-4298-A6C2-D1CCF35312C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2138085483"/>
      </p:ext>
    </p:extLst>
  </p:cSld>
</p:sld>
</file>

<file path=ppt/slides/slide29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2B3B47D-C1C8-47BE-A894-5E39809FEC4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PREDICTED STRUGGLE</a:t>
            </a:r>
            <a:endParaRPr sz="950"/>
          </a:p>
        </p:txBody>
      </p:sp>
      <p:sp>
        <p:nvSpPr>
          <p:cNvPr id="3" name="Text 1">
            <a:extLst xmlns:a="http://schemas.openxmlformats.org/drawingml/2006/main">
              <a:ext uri="{FF2B5EF4-FFF2-40B4-BE49-F238E27FC236}">
                <a16:creationId xmlns:a16="http://schemas.microsoft.com/office/drawing/2014/main" id="{DC960CDE-49BC-401C-84F2-54BCEADE9B6C}"/>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failure modes repeated with almost no variation — all five are cheap to prevent</a:t>
            </a:r>
            <a:endParaRPr sz="1900"/>
          </a:p>
          <a:p xmlns:a="http://schemas.openxmlformats.org/drawingml/2006/main">
            <a:pPr marL="0" indent="0">
              <a:lnSpc>
                <a:spcPts val="2400"/>
              </a:lnSpc>
              <a:buNone/>
            </a:pPr>
            <a:r>
              <a:rPr sz="1900" b="1">
                <a:solidFill>
                  <a:srgbClr val="102A43"/>
                </a:solidFill>
                <a:latin typeface="Arial"/>
                <a:ea typeface="Arial"/>
                <a:cs typeface="Arial"/>
              </a:rPr>
              <a:t>and structural by the time they are visible</a:t>
            </a:r>
            <a:endParaRPr sz="1900"/>
          </a:p>
        </p:txBody>
      </p:sp>
      <p:sp>
        <p:nvSpPr>
          <p:cNvPr id="4" name="Shape 2">
            <a:extLst xmlns:a="http://schemas.openxmlformats.org/drawingml/2006/main">
              <a:ext uri="{FF2B5EF4-FFF2-40B4-BE49-F238E27FC236}">
                <a16:creationId xmlns:a16="http://schemas.microsoft.com/office/drawing/2014/main" id="{27A91D5C-4231-4FBF-BC22-F535D72EC1F6}"/>
              </a:ext>
            </a:extLst>
          </p:cNvPr>
          <p:cNvSpPr>
            <a:spLocks xmlns:a="http://schemas.openxmlformats.org/drawingml/2006/main" noGrp="1"/>
          </p:cNvSpPr>
          <p:nvPr/>
        </p:nvSpPr>
        <p:spPr>
          <a:xfrm xmlns:a="http://schemas.openxmlformats.org/drawingml/2006/main">
            <a:off x="566928" y="1335024"/>
            <a:ext cx="11057839" cy="786384"/>
          </a:xfrm>
          <a:prstGeom xmlns:a="http://schemas.openxmlformats.org/drawingml/2006/main" prst="rect">
            <a:avLst/>
          </a:prstGeom>
          <a:solidFill xmlns:a="http://schemas.openxmlformats.org/drawingml/2006/main">
            <a:srgbClr val="F0F4F8"/>
          </a:solidFill>
        </p:spPr>
      </p:sp>
      <p:sp>
        <p:nvSpPr>
          <p:cNvPr id="5" name="Text 3">
            <a:extLst xmlns:a="http://schemas.openxmlformats.org/drawingml/2006/main">
              <a:ext uri="{FF2B5EF4-FFF2-40B4-BE49-F238E27FC236}">
                <a16:creationId xmlns:a16="http://schemas.microsoft.com/office/drawing/2014/main" id="{BC22D412-FD13-43D6-8FE4-164AA8B70B6E}"/>
              </a:ext>
            </a:extLst>
          </p:cNvPr>
          <p:cNvSpPr>
            <a:spLocks xmlns:a="http://schemas.openxmlformats.org/drawingml/2006/main" noGrp="1"/>
          </p:cNvSpPr>
          <p:nvPr/>
        </p:nvSpPr>
        <p:spPr>
          <a:xfrm xmlns:a="http://schemas.openxmlformats.org/drawingml/2006/main">
            <a:off x="786384" y="1572768"/>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01</a:t>
            </a:r>
            <a:endParaRPr sz="1500"/>
          </a:p>
        </p:txBody>
      </p:sp>
      <p:sp>
        <p:nvSpPr>
          <p:cNvPr id="6" name="Text 4">
            <a:extLst xmlns:a="http://schemas.openxmlformats.org/drawingml/2006/main">
              <a:ext uri="{FF2B5EF4-FFF2-40B4-BE49-F238E27FC236}">
                <a16:creationId xmlns:a16="http://schemas.microsoft.com/office/drawing/2014/main" id="{292FB1A4-277F-4F43-9A7D-39C85E61D1CC}"/>
              </a:ext>
            </a:extLst>
          </p:cNvPr>
          <p:cNvSpPr>
            <a:spLocks xmlns:a="http://schemas.openxmlformats.org/drawingml/2006/main" noGrp="1"/>
          </p:cNvSpPr>
          <p:nvPr/>
        </p:nvSpPr>
        <p:spPr>
          <a:xfrm xmlns:a="http://schemas.openxmlformats.org/drawingml/2006/main">
            <a:off x="1280160" y="1463040"/>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Building for the hardest case, then applying it universally</a:t>
            </a:r>
            <a:endParaRPr sz="1120"/>
          </a:p>
        </p:txBody>
      </p:sp>
      <p:sp>
        <p:nvSpPr>
          <p:cNvPr id="7" name="Text 5">
            <a:extLst xmlns:a="http://schemas.openxmlformats.org/drawingml/2006/main">
              <a:ext uri="{FF2B5EF4-FFF2-40B4-BE49-F238E27FC236}">
                <a16:creationId xmlns:a16="http://schemas.microsoft.com/office/drawing/2014/main" id="{1FABB731-CB10-4A7C-8524-CF1C6C603FD7}"/>
              </a:ext>
            </a:extLst>
          </p:cNvPr>
          <p:cNvSpPr>
            <a:spLocks xmlns:a="http://schemas.openxmlformats.org/drawingml/2006/main" noGrp="1"/>
          </p:cNvSpPr>
          <p:nvPr/>
        </p:nvSpPr>
        <p:spPr>
          <a:xfrm xmlns:a="http://schemas.openxmlformats.org/drawingml/2006/main">
            <a:off x="5230368" y="1463040"/>
            <a:ext cx="44805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A control necessary for a minority becomes the process for everyone. It deters exactly the cases you want and adds nothing to the ones it was written for.</a:t>
            </a:r>
            <a:endParaRPr sz="920"/>
          </a:p>
        </p:txBody>
      </p:sp>
      <p:sp>
        <p:nvSpPr>
          <p:cNvPr id="8" name="Shape 6">
            <a:extLst xmlns:a="http://schemas.openxmlformats.org/drawingml/2006/main">
              <a:ext uri="{FF2B5EF4-FFF2-40B4-BE49-F238E27FC236}">
                <a16:creationId xmlns:a16="http://schemas.microsoft.com/office/drawing/2014/main" id="{9F58E385-3FC5-4E05-A341-FF7ECAB8598C}"/>
              </a:ext>
            </a:extLst>
          </p:cNvPr>
          <p:cNvSpPr>
            <a:spLocks xmlns:a="http://schemas.openxmlformats.org/drawingml/2006/main" noGrp="1"/>
          </p:cNvSpPr>
          <p:nvPr/>
        </p:nvSpPr>
        <p:spPr>
          <a:xfrm xmlns:a="http://schemas.openxmlformats.org/drawingml/2006/main">
            <a:off x="9985248" y="1609344"/>
            <a:ext cx="1554480" cy="256032"/>
          </a:xfrm>
          <a:prstGeom xmlns:a="http://schemas.openxmlformats.org/drawingml/2006/main" prst="roundRect">
            <a:avLst>
              <a:gd name="adj" fmla="val 28571"/>
            </a:avLst>
          </a:prstGeom>
          <a:solidFill xmlns:a="http://schemas.openxmlformats.org/drawingml/2006/main">
            <a:srgbClr val="DCE5EE"/>
          </a:solidFill>
        </p:spPr>
      </p:sp>
      <p:sp>
        <p:nvSpPr>
          <p:cNvPr id="9" name="Text 7">
            <a:extLst xmlns:a="http://schemas.openxmlformats.org/drawingml/2006/main">
              <a:ext uri="{FF2B5EF4-FFF2-40B4-BE49-F238E27FC236}">
                <a16:creationId xmlns:a16="http://schemas.microsoft.com/office/drawing/2014/main" id="{8C48F5B8-9E57-41A0-809B-4CD066C25ABD}"/>
              </a:ext>
            </a:extLst>
          </p:cNvPr>
          <p:cNvSpPr>
            <a:spLocks xmlns:a="http://schemas.openxmlformats.org/drawingml/2006/main" noGrp="1"/>
          </p:cNvSpPr>
          <p:nvPr/>
        </p:nvSpPr>
        <p:spPr>
          <a:xfrm xmlns:a="http://schemas.openxmlformats.org/drawingml/2006/main">
            <a:off x="9985248" y="1641348"/>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Deters the majority</a:t>
            </a:r>
            <a:endParaRPr sz="820"/>
          </a:p>
        </p:txBody>
      </p:sp>
      <p:sp>
        <p:nvSpPr>
          <p:cNvPr id="10" name="Shape 8">
            <a:extLst xmlns:a="http://schemas.openxmlformats.org/drawingml/2006/main">
              <a:ext uri="{FF2B5EF4-FFF2-40B4-BE49-F238E27FC236}">
                <a16:creationId xmlns:a16="http://schemas.microsoft.com/office/drawing/2014/main" id="{17E2EA55-A7C2-47B3-B8B1-4A646F0870AD}"/>
              </a:ext>
            </a:extLst>
          </p:cNvPr>
          <p:cNvSpPr>
            <a:spLocks xmlns:a="http://schemas.openxmlformats.org/drawingml/2006/main" noGrp="1"/>
          </p:cNvSpPr>
          <p:nvPr/>
        </p:nvSpPr>
        <p:spPr>
          <a:xfrm xmlns:a="http://schemas.openxmlformats.org/drawingml/2006/main">
            <a:off x="566928" y="2231136"/>
            <a:ext cx="11057839" cy="786384"/>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4254953F-9B64-4773-A8D6-1EFEF5391ADC}"/>
              </a:ext>
            </a:extLst>
          </p:cNvPr>
          <p:cNvSpPr>
            <a:spLocks xmlns:a="http://schemas.openxmlformats.org/drawingml/2006/main" noGrp="1"/>
          </p:cNvSpPr>
          <p:nvPr/>
        </p:nvSpPr>
        <p:spPr>
          <a:xfrm xmlns:a="http://schemas.openxmlformats.org/drawingml/2006/main">
            <a:off x="786384" y="2468880"/>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02</a:t>
            </a:r>
            <a:endParaRPr sz="1500"/>
          </a:p>
        </p:txBody>
      </p:sp>
      <p:sp>
        <p:nvSpPr>
          <p:cNvPr id="12" name="Text 10">
            <a:extLst xmlns:a="http://schemas.openxmlformats.org/drawingml/2006/main">
              <a:ext uri="{FF2B5EF4-FFF2-40B4-BE49-F238E27FC236}">
                <a16:creationId xmlns:a16="http://schemas.microsoft.com/office/drawing/2014/main" id="{82CE3C49-F92F-4ED9-9122-C9F86833E3CF}"/>
              </a:ext>
            </a:extLst>
          </p:cNvPr>
          <p:cNvSpPr>
            <a:spLocks xmlns:a="http://schemas.openxmlformats.org/drawingml/2006/main" noGrp="1"/>
          </p:cNvSpPr>
          <p:nvPr/>
        </p:nvSpPr>
        <p:spPr>
          <a:xfrm xmlns:a="http://schemas.openxmlformats.org/drawingml/2006/main">
            <a:off x="1280160" y="2359152"/>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Conflating two states that needed separating</a:t>
            </a:r>
            <a:endParaRPr sz="1120"/>
          </a:p>
        </p:txBody>
      </p:sp>
      <p:sp>
        <p:nvSpPr>
          <p:cNvPr id="13" name="Text 11">
            <a:extLst xmlns:a="http://schemas.openxmlformats.org/drawingml/2006/main">
              <a:ext uri="{FF2B5EF4-FFF2-40B4-BE49-F238E27FC236}">
                <a16:creationId xmlns:a16="http://schemas.microsoft.com/office/drawing/2014/main" id="{E1A9F9E4-171A-4B1C-8663-D5CE163636E1}"/>
              </a:ext>
            </a:extLst>
          </p:cNvPr>
          <p:cNvSpPr>
            <a:spLocks xmlns:a="http://schemas.openxmlformats.org/drawingml/2006/main" noGrp="1"/>
          </p:cNvSpPr>
          <p:nvPr/>
        </p:nvSpPr>
        <p:spPr>
          <a:xfrm xmlns:a="http://schemas.openxmlformats.org/drawingml/2006/main">
            <a:off x="5230368" y="2359152"/>
            <a:ext cx="44805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Waiting on us and waiting on them. Direct and indirect exposure. Signal and response. Each conflation produces a confident number nobody can act on.</a:t>
            </a:r>
            <a:endParaRPr sz="920"/>
          </a:p>
        </p:txBody>
      </p:sp>
      <p:sp>
        <p:nvSpPr>
          <p:cNvPr id="14" name="Shape 12">
            <a:extLst xmlns:a="http://schemas.openxmlformats.org/drawingml/2006/main">
              <a:ext uri="{FF2B5EF4-FFF2-40B4-BE49-F238E27FC236}">
                <a16:creationId xmlns:a16="http://schemas.microsoft.com/office/drawing/2014/main" id="{B4BE4454-B19D-498F-B5A7-86AC85C89783}"/>
              </a:ext>
            </a:extLst>
          </p:cNvPr>
          <p:cNvSpPr>
            <a:spLocks xmlns:a="http://schemas.openxmlformats.org/drawingml/2006/main" noGrp="1"/>
          </p:cNvSpPr>
          <p:nvPr/>
        </p:nvSpPr>
        <p:spPr>
          <a:xfrm xmlns:a="http://schemas.openxmlformats.org/drawingml/2006/main">
            <a:off x="9985248" y="2505456"/>
            <a:ext cx="1554480" cy="256032"/>
          </a:xfrm>
          <a:prstGeom xmlns:a="http://schemas.openxmlformats.org/drawingml/2006/main" prst="roundRect">
            <a:avLst>
              <a:gd name="adj" fmla="val 28571"/>
            </a:avLst>
          </a:prstGeom>
          <a:solidFill xmlns:a="http://schemas.openxmlformats.org/drawingml/2006/main">
            <a:srgbClr val="DCE5EE"/>
          </a:solidFill>
        </p:spPr>
      </p:sp>
      <p:sp>
        <p:nvSpPr>
          <p:cNvPr id="15" name="Text 13">
            <a:extLst xmlns:a="http://schemas.openxmlformats.org/drawingml/2006/main">
              <a:ext uri="{FF2B5EF4-FFF2-40B4-BE49-F238E27FC236}">
                <a16:creationId xmlns:a16="http://schemas.microsoft.com/office/drawing/2014/main" id="{B6601F91-E848-49BF-BAAA-C57527F2442D}"/>
              </a:ext>
            </a:extLst>
          </p:cNvPr>
          <p:cNvSpPr>
            <a:spLocks xmlns:a="http://schemas.openxmlformats.org/drawingml/2006/main" noGrp="1"/>
          </p:cNvSpPr>
          <p:nvPr/>
        </p:nvSpPr>
        <p:spPr>
          <a:xfrm xmlns:a="http://schemas.openxmlformats.org/drawingml/2006/main">
            <a:off x="9985248" y="2537460"/>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Measurement dies</a:t>
            </a:r>
            <a:endParaRPr sz="820"/>
          </a:p>
        </p:txBody>
      </p:sp>
      <p:sp>
        <p:nvSpPr>
          <p:cNvPr id="16" name="Shape 14">
            <a:extLst xmlns:a="http://schemas.openxmlformats.org/drawingml/2006/main">
              <a:ext uri="{FF2B5EF4-FFF2-40B4-BE49-F238E27FC236}">
                <a16:creationId xmlns:a16="http://schemas.microsoft.com/office/drawing/2014/main" id="{10F964C2-5C4A-4605-98C1-459EC5A8A9CE}"/>
              </a:ext>
            </a:extLst>
          </p:cNvPr>
          <p:cNvSpPr>
            <a:spLocks xmlns:a="http://schemas.openxmlformats.org/drawingml/2006/main" noGrp="1"/>
          </p:cNvSpPr>
          <p:nvPr/>
        </p:nvSpPr>
        <p:spPr>
          <a:xfrm xmlns:a="http://schemas.openxmlformats.org/drawingml/2006/main">
            <a:off x="566928" y="3127248"/>
            <a:ext cx="11057839" cy="786384"/>
          </a:xfrm>
          <a:prstGeom xmlns:a="http://schemas.openxmlformats.org/drawingml/2006/main" prst="rect">
            <a:avLst/>
          </a:prstGeom>
          <a:solidFill xmlns:a="http://schemas.openxmlformats.org/drawingml/2006/main">
            <a:srgbClr val="F3E6E0"/>
          </a:solidFill>
        </p:spPr>
      </p:sp>
      <p:sp>
        <p:nvSpPr>
          <p:cNvPr id="17" name="Text 15">
            <a:extLst xmlns:a="http://schemas.openxmlformats.org/drawingml/2006/main">
              <a:ext uri="{FF2B5EF4-FFF2-40B4-BE49-F238E27FC236}">
                <a16:creationId xmlns:a16="http://schemas.microsoft.com/office/drawing/2014/main" id="{1F64647E-149B-4416-B4F8-1F9E7FCC9114}"/>
              </a:ext>
            </a:extLst>
          </p:cNvPr>
          <p:cNvSpPr>
            <a:spLocks xmlns:a="http://schemas.openxmlformats.org/drawingml/2006/main" noGrp="1"/>
          </p:cNvSpPr>
          <p:nvPr/>
        </p:nvSpPr>
        <p:spPr>
          <a:xfrm xmlns:a="http://schemas.openxmlformats.org/drawingml/2006/main">
            <a:off x="786384" y="3364992"/>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03</a:t>
            </a:r>
            <a:endParaRPr sz="1500"/>
          </a:p>
        </p:txBody>
      </p:sp>
      <p:sp>
        <p:nvSpPr>
          <p:cNvPr id="18" name="Text 16">
            <a:extLst xmlns:a="http://schemas.openxmlformats.org/drawingml/2006/main">
              <a:ext uri="{FF2B5EF4-FFF2-40B4-BE49-F238E27FC236}">
                <a16:creationId xmlns:a16="http://schemas.microsoft.com/office/drawing/2014/main" id="{5FA33C43-66EB-4F18-800A-84A1E38ED778}"/>
              </a:ext>
            </a:extLst>
          </p:cNvPr>
          <p:cNvSpPr>
            <a:spLocks xmlns:a="http://schemas.openxmlformats.org/drawingml/2006/main" noGrp="1"/>
          </p:cNvSpPr>
          <p:nvPr/>
        </p:nvSpPr>
        <p:spPr>
          <a:xfrm xmlns:a="http://schemas.openxmlformats.org/drawingml/2006/main">
            <a:off x="1280160" y="3255264"/>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Deferring the irreversible decision</a:t>
            </a:r>
            <a:endParaRPr sz="1120"/>
          </a:p>
        </p:txBody>
      </p:sp>
      <p:sp>
        <p:nvSpPr>
          <p:cNvPr id="19" name="Text 17">
            <a:extLst xmlns:a="http://schemas.openxmlformats.org/drawingml/2006/main">
              <a:ext uri="{FF2B5EF4-FFF2-40B4-BE49-F238E27FC236}">
                <a16:creationId xmlns:a16="http://schemas.microsoft.com/office/drawing/2014/main" id="{FFD802A3-35AD-4D0B-8C6C-4A41EAABEDAC}"/>
              </a:ext>
            </a:extLst>
          </p:cNvPr>
          <p:cNvSpPr>
            <a:spLocks xmlns:a="http://schemas.openxmlformats.org/drawingml/2006/main" noGrp="1"/>
          </p:cNvSpPr>
          <p:nvPr/>
        </p:nvSpPr>
        <p:spPr>
          <a:xfrm xmlns:a="http://schemas.openxmlformats.org/drawingml/2006/main">
            <a:off x="5230368" y="3255264"/>
            <a:ext cx="44805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Residency, tenancy, the object model, the hierarchy version. Each is cheap on day one and effectively impossible on day one thousand, and none of them demonstrates well.</a:t>
            </a:r>
            <a:endParaRPr sz="920"/>
          </a:p>
        </p:txBody>
      </p:sp>
      <p:sp>
        <p:nvSpPr>
          <p:cNvPr id="20" name="Shape 18">
            <a:extLst xmlns:a="http://schemas.openxmlformats.org/drawingml/2006/main">
              <a:ext uri="{FF2B5EF4-FFF2-40B4-BE49-F238E27FC236}">
                <a16:creationId xmlns:a16="http://schemas.microsoft.com/office/drawing/2014/main" id="{E8BEA7BA-C448-448F-8919-B0686B6835CC}"/>
              </a:ext>
            </a:extLst>
          </p:cNvPr>
          <p:cNvSpPr>
            <a:spLocks xmlns:a="http://schemas.openxmlformats.org/drawingml/2006/main" noGrp="1"/>
          </p:cNvSpPr>
          <p:nvPr/>
        </p:nvSpPr>
        <p:spPr>
          <a:xfrm xmlns:a="http://schemas.openxmlformats.org/drawingml/2006/main">
            <a:off x="9985248" y="3401568"/>
            <a:ext cx="1554480" cy="256032"/>
          </a:xfrm>
          <a:prstGeom xmlns:a="http://schemas.openxmlformats.org/drawingml/2006/main" prst="roundRect">
            <a:avLst>
              <a:gd name="adj" fmla="val 28571"/>
            </a:avLst>
          </a:prstGeom>
          <a:solidFill xmlns:a="http://schemas.openxmlformats.org/drawingml/2006/main">
            <a:srgbClr val="E8CFC4"/>
          </a:solidFill>
        </p:spPr>
      </p:sp>
      <p:sp>
        <p:nvSpPr>
          <p:cNvPr id="21" name="Text 19">
            <a:extLst xmlns:a="http://schemas.openxmlformats.org/drawingml/2006/main">
              <a:ext uri="{FF2B5EF4-FFF2-40B4-BE49-F238E27FC236}">
                <a16:creationId xmlns:a16="http://schemas.microsoft.com/office/drawing/2014/main" id="{B90D684E-E0BE-4E6C-885F-EBF8BA2CE730}"/>
              </a:ext>
            </a:extLst>
          </p:cNvPr>
          <p:cNvSpPr>
            <a:spLocks xmlns:a="http://schemas.openxmlformats.org/drawingml/2006/main" noGrp="1"/>
          </p:cNvSpPr>
          <p:nvPr/>
        </p:nvSpPr>
        <p:spPr>
          <a:xfrm xmlns:a="http://schemas.openxmlformats.org/drawingml/2006/main">
            <a:off x="9985248" y="3433572"/>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B04A25"/>
                </a:solidFill>
                <a:latin typeface="Arial"/>
                <a:ea typeface="Arial"/>
                <a:cs typeface="Arial"/>
              </a:rPr>
              <a:t>No recovery later</a:t>
            </a:r>
            <a:endParaRPr sz="820"/>
          </a:p>
        </p:txBody>
      </p:sp>
      <p:sp>
        <p:nvSpPr>
          <p:cNvPr id="22" name="Shape 20">
            <a:extLst xmlns:a="http://schemas.openxmlformats.org/drawingml/2006/main">
              <a:ext uri="{FF2B5EF4-FFF2-40B4-BE49-F238E27FC236}">
                <a16:creationId xmlns:a16="http://schemas.microsoft.com/office/drawing/2014/main" id="{DFAD3EF3-EA8F-41FF-AD37-AE8BFB7E894D}"/>
              </a:ext>
            </a:extLst>
          </p:cNvPr>
          <p:cNvSpPr>
            <a:spLocks xmlns:a="http://schemas.openxmlformats.org/drawingml/2006/main" noGrp="1"/>
          </p:cNvSpPr>
          <p:nvPr/>
        </p:nvSpPr>
        <p:spPr>
          <a:xfrm xmlns:a="http://schemas.openxmlformats.org/drawingml/2006/main">
            <a:off x="566928" y="4023360"/>
            <a:ext cx="11057839" cy="786384"/>
          </a:xfrm>
          <a:prstGeom xmlns:a="http://schemas.openxmlformats.org/drawingml/2006/main" prst="rect">
            <a:avLst/>
          </a:prstGeom>
          <a:solidFill xmlns:a="http://schemas.openxmlformats.org/drawingml/2006/main">
            <a:srgbClr val="F0F4F8"/>
          </a:solidFill>
        </p:spPr>
      </p:sp>
      <p:sp>
        <p:nvSpPr>
          <p:cNvPr id="23" name="Text 21">
            <a:extLst xmlns:a="http://schemas.openxmlformats.org/drawingml/2006/main">
              <a:ext uri="{FF2B5EF4-FFF2-40B4-BE49-F238E27FC236}">
                <a16:creationId xmlns:a16="http://schemas.microsoft.com/office/drawing/2014/main" id="{824C7E10-8B97-4E44-9DF8-7AD7BD9BC64E}"/>
              </a:ext>
            </a:extLst>
          </p:cNvPr>
          <p:cNvSpPr>
            <a:spLocks xmlns:a="http://schemas.openxmlformats.org/drawingml/2006/main" noGrp="1"/>
          </p:cNvSpPr>
          <p:nvPr/>
        </p:nvSpPr>
        <p:spPr>
          <a:xfrm xmlns:a="http://schemas.openxmlformats.org/drawingml/2006/main">
            <a:off x="786384" y="4261104"/>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04</a:t>
            </a:r>
            <a:endParaRPr sz="1500"/>
          </a:p>
        </p:txBody>
      </p:sp>
      <p:sp>
        <p:nvSpPr>
          <p:cNvPr id="24" name="Text 22">
            <a:extLst xmlns:a="http://schemas.openxmlformats.org/drawingml/2006/main">
              <a:ext uri="{FF2B5EF4-FFF2-40B4-BE49-F238E27FC236}">
                <a16:creationId xmlns:a16="http://schemas.microsoft.com/office/drawing/2014/main" id="{B8B459CA-7F9C-4495-B736-7A7BA4E60FAA}"/>
              </a:ext>
            </a:extLst>
          </p:cNvPr>
          <p:cNvSpPr>
            <a:spLocks xmlns:a="http://schemas.openxmlformats.org/drawingml/2006/main" noGrp="1"/>
          </p:cNvSpPr>
          <p:nvPr/>
        </p:nvSpPr>
        <p:spPr>
          <a:xfrm xmlns:a="http://schemas.openxmlformats.org/drawingml/2006/main">
            <a:off x="1280160" y="4151376"/>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Leaving shared things invisible</a:t>
            </a:r>
            <a:endParaRPr sz="1120"/>
          </a:p>
        </p:txBody>
      </p:sp>
      <p:sp>
        <p:nvSpPr>
          <p:cNvPr id="25" name="Text 23">
            <a:extLst xmlns:a="http://schemas.openxmlformats.org/drawingml/2006/main">
              <a:ext uri="{FF2B5EF4-FFF2-40B4-BE49-F238E27FC236}">
                <a16:creationId xmlns:a16="http://schemas.microsoft.com/office/drawing/2014/main" id="{17090443-EFF2-4258-ACF3-C6EE1F4C4006}"/>
              </a:ext>
            </a:extLst>
          </p:cNvPr>
          <p:cNvSpPr>
            <a:spLocks xmlns:a="http://schemas.openxmlformats.org/drawingml/2006/main" noGrp="1"/>
          </p:cNvSpPr>
          <p:nvPr/>
        </p:nvSpPr>
        <p:spPr>
          <a:xfrm xmlns:a="http://schemas.openxmlformats.org/drawingml/2006/main">
            <a:off x="5230368" y="4151376"/>
            <a:ext cx="44805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Reporting definitions, control-function engagement, the reuse curve itself. Whatever is shared but unowned gets rebuilt by each programme or cut in the first pressured budget round.</a:t>
            </a:r>
            <a:endParaRPr sz="920"/>
          </a:p>
        </p:txBody>
      </p:sp>
      <p:sp>
        <p:nvSpPr>
          <p:cNvPr id="26" name="Shape 24">
            <a:extLst xmlns:a="http://schemas.openxmlformats.org/drawingml/2006/main">
              <a:ext uri="{FF2B5EF4-FFF2-40B4-BE49-F238E27FC236}">
                <a16:creationId xmlns:a16="http://schemas.microsoft.com/office/drawing/2014/main" id="{D1244008-E0FC-4906-8F7C-1BC560BEE013}"/>
              </a:ext>
            </a:extLst>
          </p:cNvPr>
          <p:cNvSpPr>
            <a:spLocks xmlns:a="http://schemas.openxmlformats.org/drawingml/2006/main" noGrp="1"/>
          </p:cNvSpPr>
          <p:nvPr/>
        </p:nvSpPr>
        <p:spPr>
          <a:xfrm xmlns:a="http://schemas.openxmlformats.org/drawingml/2006/main">
            <a:off x="9985248" y="4297680"/>
            <a:ext cx="1554480" cy="256032"/>
          </a:xfrm>
          <a:prstGeom xmlns:a="http://schemas.openxmlformats.org/drawingml/2006/main" prst="roundRect">
            <a:avLst>
              <a:gd name="adj" fmla="val 28571"/>
            </a:avLst>
          </a:prstGeom>
          <a:solidFill xmlns:a="http://schemas.openxmlformats.org/drawingml/2006/main">
            <a:srgbClr val="DCE5EE"/>
          </a:solidFill>
        </p:spPr>
      </p:sp>
      <p:sp>
        <p:nvSpPr>
          <p:cNvPr id="27" name="Text 25">
            <a:extLst xmlns:a="http://schemas.openxmlformats.org/drawingml/2006/main">
              <a:ext uri="{FF2B5EF4-FFF2-40B4-BE49-F238E27FC236}">
                <a16:creationId xmlns:a16="http://schemas.microsoft.com/office/drawing/2014/main" id="{22277F12-C885-4566-ADE2-7CF3DE81EC21}"/>
              </a:ext>
            </a:extLst>
          </p:cNvPr>
          <p:cNvSpPr>
            <a:spLocks xmlns:a="http://schemas.openxmlformats.org/drawingml/2006/main" noGrp="1"/>
          </p:cNvSpPr>
          <p:nvPr/>
        </p:nvSpPr>
        <p:spPr>
          <a:xfrm xmlns:a="http://schemas.openxmlformats.org/drawingml/2006/main">
            <a:off x="9985248" y="4329684"/>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Rebuilt or cut</a:t>
            </a:r>
            <a:endParaRPr sz="820"/>
          </a:p>
        </p:txBody>
      </p:sp>
      <p:sp>
        <p:nvSpPr>
          <p:cNvPr id="28" name="Shape 26">
            <a:extLst xmlns:a="http://schemas.openxmlformats.org/drawingml/2006/main">
              <a:ext uri="{FF2B5EF4-FFF2-40B4-BE49-F238E27FC236}">
                <a16:creationId xmlns:a16="http://schemas.microsoft.com/office/drawing/2014/main" id="{6A5A774C-4A0E-460A-A4E5-3D643C553A21}"/>
              </a:ext>
            </a:extLst>
          </p:cNvPr>
          <p:cNvSpPr>
            <a:spLocks xmlns:a="http://schemas.openxmlformats.org/drawingml/2006/main" noGrp="1"/>
          </p:cNvSpPr>
          <p:nvPr/>
        </p:nvSpPr>
        <p:spPr>
          <a:xfrm xmlns:a="http://schemas.openxmlformats.org/drawingml/2006/main">
            <a:off x="566928" y="4919472"/>
            <a:ext cx="11057839" cy="786384"/>
          </a:xfrm>
          <a:prstGeom xmlns:a="http://schemas.openxmlformats.org/drawingml/2006/main" prst="rect">
            <a:avLst/>
          </a:prstGeom>
          <a:solidFill xmlns:a="http://schemas.openxmlformats.org/drawingml/2006/main">
            <a:srgbClr val="F0F4F8"/>
          </a:solidFill>
        </p:spPr>
      </p:sp>
      <p:sp>
        <p:nvSpPr>
          <p:cNvPr id="29" name="Text 27">
            <a:extLst xmlns:a="http://schemas.openxmlformats.org/drawingml/2006/main">
              <a:ext uri="{FF2B5EF4-FFF2-40B4-BE49-F238E27FC236}">
                <a16:creationId xmlns:a16="http://schemas.microsoft.com/office/drawing/2014/main" id="{7592A442-5490-4256-B820-A6E7A88EE11D}"/>
              </a:ext>
            </a:extLst>
          </p:cNvPr>
          <p:cNvSpPr>
            <a:spLocks xmlns:a="http://schemas.openxmlformats.org/drawingml/2006/main" noGrp="1"/>
          </p:cNvSpPr>
          <p:nvPr/>
        </p:nvSpPr>
        <p:spPr>
          <a:xfrm xmlns:a="http://schemas.openxmlformats.org/drawingml/2006/main">
            <a:off x="786384" y="5157216"/>
            <a:ext cx="402336"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05</a:t>
            </a:r>
            <a:endParaRPr sz="1500"/>
          </a:p>
        </p:txBody>
      </p:sp>
      <p:sp>
        <p:nvSpPr>
          <p:cNvPr id="30" name="Text 28">
            <a:extLst xmlns:a="http://schemas.openxmlformats.org/drawingml/2006/main">
              <a:ext uri="{FF2B5EF4-FFF2-40B4-BE49-F238E27FC236}">
                <a16:creationId xmlns:a16="http://schemas.microsoft.com/office/drawing/2014/main" id="{7BF05858-7D67-4CCB-9C58-FF4682E8F05B}"/>
              </a:ext>
            </a:extLst>
          </p:cNvPr>
          <p:cNvSpPr>
            <a:spLocks xmlns:a="http://schemas.openxmlformats.org/drawingml/2006/main" noGrp="1"/>
          </p:cNvSpPr>
          <p:nvPr/>
        </p:nvSpPr>
        <p:spPr>
          <a:xfrm xmlns:a="http://schemas.openxmlformats.org/drawingml/2006/main">
            <a:off x="1280160" y="504748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120" b="1">
                <a:solidFill>
                  <a:srgbClr val="102A43"/>
                </a:solidFill>
                <a:latin typeface="Arial"/>
                <a:ea typeface="Arial"/>
                <a:cs typeface="Arial"/>
              </a:rPr>
              <a:t>Handing down a target instead of designing one in</a:t>
            </a:r>
            <a:endParaRPr sz="1120"/>
          </a:p>
        </p:txBody>
      </p:sp>
      <p:sp>
        <p:nvSpPr>
          <p:cNvPr id="31" name="Text 29">
            <a:extLst xmlns:a="http://schemas.openxmlformats.org/drawingml/2006/main">
              <a:ext uri="{FF2B5EF4-FFF2-40B4-BE49-F238E27FC236}">
                <a16:creationId xmlns:a16="http://schemas.microsoft.com/office/drawing/2014/main" id="{B256BE19-7D88-4CB6-8EA8-064CDE00FF4F}"/>
              </a:ext>
            </a:extLst>
          </p:cNvPr>
          <p:cNvSpPr>
            <a:spLocks xmlns:a="http://schemas.openxmlformats.org/drawingml/2006/main" noGrp="1"/>
          </p:cNvSpPr>
          <p:nvPr/>
        </p:nvSpPr>
        <p:spPr>
          <a:xfrm xmlns:a="http://schemas.openxmlformats.org/drawingml/2006/main">
            <a:off x="5230368" y="5047488"/>
            <a:ext cx="448056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a:solidFill>
                  <a:srgbClr val="486581"/>
                </a:solidFill>
                <a:latin typeface="Arial"/>
                <a:ea typeface="Arial"/>
                <a:cs typeface="Arial"/>
              </a:rPr>
              <a:t>First-touch resolution, deflection, adoption, activity volume. A number given to a front line without the authority, data and tooling behind it produces the number and not the outcome.</a:t>
            </a:r>
            <a:endParaRPr sz="920"/>
          </a:p>
        </p:txBody>
      </p:sp>
      <p:sp>
        <p:nvSpPr>
          <p:cNvPr id="32" name="Shape 30">
            <a:extLst xmlns:a="http://schemas.openxmlformats.org/drawingml/2006/main">
              <a:ext uri="{FF2B5EF4-FFF2-40B4-BE49-F238E27FC236}">
                <a16:creationId xmlns:a16="http://schemas.microsoft.com/office/drawing/2014/main" id="{B4D7B9AC-92BF-47FC-870B-D8BD44F49668}"/>
              </a:ext>
            </a:extLst>
          </p:cNvPr>
          <p:cNvSpPr>
            <a:spLocks xmlns:a="http://schemas.openxmlformats.org/drawingml/2006/main" noGrp="1"/>
          </p:cNvSpPr>
          <p:nvPr/>
        </p:nvSpPr>
        <p:spPr>
          <a:xfrm xmlns:a="http://schemas.openxmlformats.org/drawingml/2006/main">
            <a:off x="9985248" y="5193792"/>
            <a:ext cx="1554480" cy="256032"/>
          </a:xfrm>
          <a:prstGeom xmlns:a="http://schemas.openxmlformats.org/drawingml/2006/main" prst="roundRect">
            <a:avLst>
              <a:gd name="adj" fmla="val 28571"/>
            </a:avLst>
          </a:prstGeom>
          <a:solidFill xmlns:a="http://schemas.openxmlformats.org/drawingml/2006/main">
            <a:srgbClr val="DCE5EE"/>
          </a:solidFill>
        </p:spPr>
      </p:sp>
      <p:sp>
        <p:nvSpPr>
          <p:cNvPr id="33" name="Text 31">
            <a:extLst xmlns:a="http://schemas.openxmlformats.org/drawingml/2006/main">
              <a:ext uri="{FF2B5EF4-FFF2-40B4-BE49-F238E27FC236}">
                <a16:creationId xmlns:a16="http://schemas.microsoft.com/office/drawing/2014/main" id="{A46C9B5A-E68C-48D3-9DCC-C9ACD0C46D7F}"/>
              </a:ext>
            </a:extLst>
          </p:cNvPr>
          <p:cNvSpPr>
            <a:spLocks xmlns:a="http://schemas.openxmlformats.org/drawingml/2006/main" noGrp="1"/>
          </p:cNvSpPr>
          <p:nvPr/>
        </p:nvSpPr>
        <p:spPr>
          <a:xfrm xmlns:a="http://schemas.openxmlformats.org/drawingml/2006/main">
            <a:off x="9985248" y="5225796"/>
            <a:ext cx="1554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20" b="1">
                <a:solidFill>
                  <a:srgbClr val="486581"/>
                </a:solidFill>
                <a:latin typeface="Arial"/>
                <a:ea typeface="Arial"/>
                <a:cs typeface="Arial"/>
              </a:rPr>
              <a:t>Metric is gamed</a:t>
            </a:r>
            <a:endParaRPr sz="820"/>
          </a:p>
        </p:txBody>
      </p:sp>
      <p:sp>
        <p:nvSpPr>
          <p:cNvPr id="34" name="Shape 32">
            <a:extLst xmlns:a="http://schemas.openxmlformats.org/drawingml/2006/main">
              <a:ext uri="{FF2B5EF4-FFF2-40B4-BE49-F238E27FC236}">
                <a16:creationId xmlns:a16="http://schemas.microsoft.com/office/drawing/2014/main" id="{64AE3A11-4EFB-49C6-A2D4-9411F2A28129}"/>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5" name="Text 33">
            <a:extLst xmlns:a="http://schemas.openxmlformats.org/drawingml/2006/main">
              <a:ext uri="{FF2B5EF4-FFF2-40B4-BE49-F238E27FC236}">
                <a16:creationId xmlns:a16="http://schemas.microsoft.com/office/drawing/2014/main" id="{B67F4373-FA6F-4563-8369-93029DDC2600}"/>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 across the portfolio</a:t>
            </a:r>
            <a:endParaRPr sz="850"/>
          </a:p>
        </p:txBody>
      </p:sp>
      <p:sp>
        <p:nvSpPr>
          <p:cNvPr id="36" name="Text 34">
            <a:extLst xmlns:a="http://schemas.openxmlformats.org/drawingml/2006/main">
              <a:ext uri="{FF2B5EF4-FFF2-40B4-BE49-F238E27FC236}">
                <a16:creationId xmlns:a16="http://schemas.microsoft.com/office/drawing/2014/main" id="{B045E22D-DEBD-4744-AAF5-B44660F61338}"/>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6</a:t>
            </a:r>
            <a:endParaRPr sz="850"/>
          </a:p>
        </p:txBody>
      </p:sp>
    </p:spTree>
    <p:extLst>
      <p:ext uri="{BB962C8B-B14F-4D97-AF65-F5344CB8AC3E}">
        <p14:creationId xmlns:p14="http://schemas.microsoft.com/office/powerpoint/2010/main" val="442827872"/>
      </p:ext>
    </p:extLst>
  </p:cSld>
</p:sld>
</file>

<file path=ppt/slides/slide29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58FDB26-1671-4D2A-B435-88F61D8DFC3C}"/>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FOUR DECISIONS</a:t>
            </a:r>
            <a:endParaRPr sz="950"/>
          </a:p>
        </p:txBody>
      </p:sp>
      <p:sp>
        <p:nvSpPr>
          <p:cNvPr id="3" name="Text 1">
            <a:extLst xmlns:a="http://schemas.openxmlformats.org/drawingml/2006/main">
              <a:ext uri="{FF2B5EF4-FFF2-40B4-BE49-F238E27FC236}">
                <a16:creationId xmlns:a16="http://schemas.microsoft.com/office/drawing/2014/main" id="{29B7DC1A-DFBE-4E73-AC3F-35B2970C2F7D}"/>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Every finding and every failure mode reduces to one of four questions — asked in the</a:t>
            </a:r>
            <a:endParaRPr sz="1900"/>
          </a:p>
          <a:p xmlns:a="http://schemas.openxmlformats.org/drawingml/2006/main">
            <a:pPr marL="0" indent="0">
              <a:lnSpc>
                <a:spcPts val="2400"/>
              </a:lnSpc>
              <a:buNone/>
            </a:pPr>
            <a:r>
              <a:rPr sz="1900" b="1">
                <a:solidFill>
                  <a:srgbClr val="102A43"/>
                </a:solidFill>
                <a:latin typeface="Arial"/>
                <a:ea typeface="Arial"/>
                <a:cs typeface="Arial"/>
              </a:rPr>
              <a:t>first quarter, answered by default if nobody asks them</a:t>
            </a:r>
            <a:endParaRPr sz="1900"/>
          </a:p>
        </p:txBody>
      </p:sp>
      <p:sp>
        <p:nvSpPr>
          <p:cNvPr id="4" name="Shape 2">
            <a:extLst xmlns:a="http://schemas.openxmlformats.org/drawingml/2006/main">
              <a:ext uri="{FF2B5EF4-FFF2-40B4-BE49-F238E27FC236}">
                <a16:creationId xmlns:a16="http://schemas.microsoft.com/office/drawing/2014/main" id="{42A67681-8A69-4D5D-A928-4A9324764421}"/>
              </a:ext>
            </a:extLst>
          </p:cNvPr>
          <p:cNvSpPr>
            <a:spLocks xmlns:a="http://schemas.openxmlformats.org/drawingml/2006/main" noGrp="1"/>
          </p:cNvSpPr>
          <p:nvPr/>
        </p:nvSpPr>
        <p:spPr>
          <a:xfrm xmlns:a="http://schemas.openxmlformats.org/drawingml/2006/main">
            <a:off x="566928" y="1335024"/>
            <a:ext cx="2641016" cy="3877056"/>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E3DAB983-ACF4-4D14-B1BE-F475621F9221}"/>
              </a:ext>
            </a:extLst>
          </p:cNvPr>
          <p:cNvSpPr>
            <a:spLocks xmlns:a="http://schemas.openxmlformats.org/drawingml/2006/main" noGrp="1"/>
          </p:cNvSpPr>
          <p:nvPr/>
        </p:nvSpPr>
        <p:spPr>
          <a:xfrm xmlns:a="http://schemas.openxmlformats.org/drawingml/2006/main">
            <a:off x="768096" y="1481328"/>
            <a:ext cx="2238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01</a:t>
            </a:r>
            <a:endParaRPr sz="1500"/>
          </a:p>
        </p:txBody>
      </p:sp>
      <p:sp>
        <p:nvSpPr>
          <p:cNvPr id="6" name="Text 4">
            <a:extLst xmlns:a="http://schemas.openxmlformats.org/drawingml/2006/main">
              <a:ext uri="{FF2B5EF4-FFF2-40B4-BE49-F238E27FC236}">
                <a16:creationId xmlns:a16="http://schemas.microsoft.com/office/drawing/2014/main" id="{8A49CEAB-9D46-47F2-B2FB-4C6E451419F4}"/>
              </a:ext>
            </a:extLst>
          </p:cNvPr>
          <p:cNvSpPr>
            <a:spLocks xmlns:a="http://schemas.openxmlformats.org/drawingml/2006/main" noGrp="1"/>
          </p:cNvSpPr>
          <p:nvPr/>
        </p:nvSpPr>
        <p:spPr>
          <a:xfrm xmlns:a="http://schemas.openxmlformats.org/drawingml/2006/main">
            <a:off x="768096" y="17922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0"/>
              </a:lnSpc>
              <a:buNone/>
            </a:pPr>
            <a:r>
              <a:rPr sz="1300" b="1">
                <a:solidFill>
                  <a:srgbClr val="102A43"/>
                </a:solidFill>
                <a:latin typeface="Arial"/>
                <a:ea typeface="Arial"/>
                <a:cs typeface="Arial"/>
              </a:rPr>
              <a:t>What is the shared object?</a:t>
            </a:r>
            <a:endParaRPr sz="1300"/>
          </a:p>
        </p:txBody>
      </p:sp>
      <p:sp>
        <p:nvSpPr>
          <p:cNvPr id="7" name="Text 5">
            <a:extLst xmlns:a="http://schemas.openxmlformats.org/drawingml/2006/main">
              <a:ext uri="{FF2B5EF4-FFF2-40B4-BE49-F238E27FC236}">
                <a16:creationId xmlns:a16="http://schemas.microsoft.com/office/drawing/2014/main" id="{55E00567-6BEE-4A60-8EBE-A36B9A7A7052}"/>
              </a:ext>
            </a:extLst>
          </p:cNvPr>
          <p:cNvSpPr>
            <a:spLocks xmlns:a="http://schemas.openxmlformats.org/drawingml/2006/main" noGrp="1"/>
          </p:cNvSpPr>
          <p:nvPr/>
        </p:nvSpPr>
        <p:spPr>
          <a:xfrm xmlns:a="http://schemas.openxmlformats.org/drawingml/2006/main">
            <a:off x="768096" y="2377440"/>
            <a:ext cx="223868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i="1">
                <a:solidFill>
                  <a:srgbClr val="486581"/>
                </a:solidFill>
                <a:latin typeface="Arial"/>
                <a:ea typeface="Arial"/>
                <a:cs typeface="Arial"/>
              </a:rPr>
              <a:t>The customer, the group, the case, the facility — the thing every programme will attach to.</a:t>
            </a:r>
            <a:endParaRPr sz="940"/>
          </a:p>
        </p:txBody>
      </p:sp>
      <p:sp>
        <p:nvSpPr>
          <p:cNvPr id="8" name="Text 6">
            <a:extLst xmlns:a="http://schemas.openxmlformats.org/drawingml/2006/main">
              <a:ext uri="{FF2B5EF4-FFF2-40B4-BE49-F238E27FC236}">
                <a16:creationId xmlns:a16="http://schemas.microsoft.com/office/drawing/2014/main" id="{C8623B54-7CB4-4539-A72D-AFCBBD82F833}"/>
              </a:ext>
            </a:extLst>
          </p:cNvPr>
          <p:cNvSpPr>
            <a:spLocks xmlns:a="http://schemas.openxmlformats.org/drawingml/2006/main" noGrp="1"/>
          </p:cNvSpPr>
          <p:nvPr/>
        </p:nvSpPr>
        <p:spPr>
          <a:xfrm xmlns:a="http://schemas.openxmlformats.org/drawingml/2006/main">
            <a:off x="768096" y="31272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WHY IT DECIDES THE OUTCOME</a:t>
            </a:r>
            <a:endParaRPr sz="740"/>
          </a:p>
        </p:txBody>
      </p:sp>
      <p:sp>
        <p:nvSpPr>
          <p:cNvPr id="9" name="Text 7">
            <a:extLst xmlns:a="http://schemas.openxmlformats.org/drawingml/2006/main">
              <a:ext uri="{FF2B5EF4-FFF2-40B4-BE49-F238E27FC236}">
                <a16:creationId xmlns:a16="http://schemas.microsoft.com/office/drawing/2014/main" id="{1CEDD15F-0C71-4EC7-8F14-139DC1182E1C}"/>
              </a:ext>
            </a:extLst>
          </p:cNvPr>
          <p:cNvSpPr>
            <a:spLocks xmlns:a="http://schemas.openxmlformats.org/drawingml/2006/main" noGrp="1"/>
          </p:cNvSpPr>
          <p:nvPr/>
        </p:nvSpPr>
        <p:spPr>
          <a:xfrm xmlns:a="http://schemas.openxmlformats.org/drawingml/2006/main">
            <a:off x="768096" y="3328416"/>
            <a:ext cx="22386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Get it wrong and every subsequent programme reconciles rather than builds. It is the only decision that is both invisible and load-bearing.</a:t>
            </a:r>
            <a:endParaRPr sz="940"/>
          </a:p>
        </p:txBody>
      </p:sp>
      <p:sp>
        <p:nvSpPr>
          <p:cNvPr id="10" name="Shape 8">
            <a:extLst xmlns:a="http://schemas.openxmlformats.org/drawingml/2006/main">
              <a:ext uri="{FF2B5EF4-FFF2-40B4-BE49-F238E27FC236}">
                <a16:creationId xmlns:a16="http://schemas.microsoft.com/office/drawing/2014/main" id="{CAF8ACFD-D076-41AA-9AA6-E4918428E505}"/>
              </a:ext>
            </a:extLst>
          </p:cNvPr>
          <p:cNvSpPr>
            <a:spLocks xmlns:a="http://schemas.openxmlformats.org/drawingml/2006/main" noGrp="1"/>
          </p:cNvSpPr>
          <p:nvPr/>
        </p:nvSpPr>
        <p:spPr>
          <a:xfrm xmlns:a="http://schemas.openxmlformats.org/drawingml/2006/main">
            <a:off x="768096" y="4407408"/>
            <a:ext cx="2238680" cy="13716"/>
          </a:xfrm>
          <a:prstGeom xmlns:a="http://schemas.openxmlformats.org/drawingml/2006/main" prst="rect">
            <a:avLst/>
          </a:prstGeom>
          <a:solidFill xmlns:a="http://schemas.openxmlformats.org/drawingml/2006/main">
            <a:srgbClr val="C6D2DE"/>
          </a:solidFill>
        </p:spPr>
      </p:sp>
      <p:sp>
        <p:nvSpPr>
          <p:cNvPr id="11" name="Text 9">
            <a:extLst xmlns:a="http://schemas.openxmlformats.org/drawingml/2006/main">
              <a:ext uri="{FF2B5EF4-FFF2-40B4-BE49-F238E27FC236}">
                <a16:creationId xmlns:a16="http://schemas.microsoft.com/office/drawing/2014/main" id="{F803997B-84D2-4D28-8BE3-0C8D0B00831B}"/>
              </a:ext>
            </a:extLst>
          </p:cNvPr>
          <p:cNvSpPr>
            <a:spLocks xmlns:a="http://schemas.openxmlformats.org/drawingml/2006/main" noGrp="1"/>
          </p:cNvSpPr>
          <p:nvPr/>
        </p:nvSpPr>
        <p:spPr>
          <a:xfrm xmlns:a="http://schemas.openxmlformats.org/drawingml/2006/main">
            <a:off x="768096" y="4535424"/>
            <a:ext cx="2238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B04A25"/>
                </a:solidFill>
                <a:latin typeface="Arial"/>
                <a:ea typeface="Arial"/>
                <a:cs typeface="Arial"/>
              </a:rPr>
              <a:t>Group not country. Member and household. Boundary as the design unit.</a:t>
            </a:r>
            <a:endParaRPr sz="920"/>
          </a:p>
        </p:txBody>
      </p:sp>
      <p:sp>
        <p:nvSpPr>
          <p:cNvPr id="12" name="Shape 10">
            <a:extLst xmlns:a="http://schemas.openxmlformats.org/drawingml/2006/main">
              <a:ext uri="{FF2B5EF4-FFF2-40B4-BE49-F238E27FC236}">
                <a16:creationId xmlns:a16="http://schemas.microsoft.com/office/drawing/2014/main" id="{89C8EE61-87DD-41FF-830C-E0A786B8BB46}"/>
              </a:ext>
            </a:extLst>
          </p:cNvPr>
          <p:cNvSpPr>
            <a:spLocks xmlns:a="http://schemas.openxmlformats.org/drawingml/2006/main" noGrp="1"/>
          </p:cNvSpPr>
          <p:nvPr/>
        </p:nvSpPr>
        <p:spPr>
          <a:xfrm xmlns:a="http://schemas.openxmlformats.org/drawingml/2006/main">
            <a:off x="3372536" y="1335024"/>
            <a:ext cx="2641016" cy="3877056"/>
          </a:xfrm>
          <a:prstGeom xmlns:a="http://schemas.openxmlformats.org/drawingml/2006/main" prst="rect">
            <a:avLst/>
          </a:prstGeom>
          <a:solidFill xmlns:a="http://schemas.openxmlformats.org/drawingml/2006/main">
            <a:srgbClr val="F3E6E0"/>
          </a:solidFill>
        </p:spPr>
      </p:sp>
      <p:sp>
        <p:nvSpPr>
          <p:cNvPr id="13" name="Text 11">
            <a:extLst xmlns:a="http://schemas.openxmlformats.org/drawingml/2006/main">
              <a:ext uri="{FF2B5EF4-FFF2-40B4-BE49-F238E27FC236}">
                <a16:creationId xmlns:a16="http://schemas.microsoft.com/office/drawing/2014/main" id="{6A989CA5-9A60-4DEF-8D0A-41399F63CBED}"/>
              </a:ext>
            </a:extLst>
          </p:cNvPr>
          <p:cNvSpPr>
            <a:spLocks xmlns:a="http://schemas.openxmlformats.org/drawingml/2006/main" noGrp="1"/>
          </p:cNvSpPr>
          <p:nvPr/>
        </p:nvSpPr>
        <p:spPr>
          <a:xfrm xmlns:a="http://schemas.openxmlformats.org/drawingml/2006/main">
            <a:off x="3573704" y="1481328"/>
            <a:ext cx="2238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B04A25"/>
                </a:solidFill>
                <a:latin typeface="Arial"/>
                <a:ea typeface="Arial"/>
                <a:cs typeface="Arial"/>
              </a:rPr>
              <a:t>02</a:t>
            </a:r>
            <a:endParaRPr sz="1500"/>
          </a:p>
        </p:txBody>
      </p:sp>
      <p:sp>
        <p:nvSpPr>
          <p:cNvPr id="14" name="Text 12">
            <a:extLst xmlns:a="http://schemas.openxmlformats.org/drawingml/2006/main">
              <a:ext uri="{FF2B5EF4-FFF2-40B4-BE49-F238E27FC236}">
                <a16:creationId xmlns:a16="http://schemas.microsoft.com/office/drawing/2014/main" id="{58636FDA-3D3C-408A-91E2-684B3F27971F}"/>
              </a:ext>
            </a:extLst>
          </p:cNvPr>
          <p:cNvSpPr>
            <a:spLocks xmlns:a="http://schemas.openxmlformats.org/drawingml/2006/main" noGrp="1"/>
          </p:cNvSpPr>
          <p:nvPr/>
        </p:nvSpPr>
        <p:spPr>
          <a:xfrm xmlns:a="http://schemas.openxmlformats.org/drawingml/2006/main">
            <a:off x="3573704" y="17922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0"/>
              </a:lnSpc>
              <a:buNone/>
            </a:pPr>
            <a:r>
              <a:rPr sz="1300" b="1">
                <a:solidFill>
                  <a:srgbClr val="102A43"/>
                </a:solidFill>
                <a:latin typeface="Arial"/>
                <a:ea typeface="Arial"/>
                <a:cs typeface="Arial"/>
              </a:rPr>
              <a:t>In what order?</a:t>
            </a:r>
            <a:endParaRPr sz="1300"/>
          </a:p>
        </p:txBody>
      </p:sp>
      <p:sp>
        <p:nvSpPr>
          <p:cNvPr id="15" name="Text 13">
            <a:extLst xmlns:a="http://schemas.openxmlformats.org/drawingml/2006/main">
              <a:ext uri="{FF2B5EF4-FFF2-40B4-BE49-F238E27FC236}">
                <a16:creationId xmlns:a16="http://schemas.microsoft.com/office/drawing/2014/main" id="{34D12596-BD69-4EC2-86BE-6DA9A469DB0B}"/>
              </a:ext>
            </a:extLst>
          </p:cNvPr>
          <p:cNvSpPr>
            <a:spLocks xmlns:a="http://schemas.openxmlformats.org/drawingml/2006/main" noGrp="1"/>
          </p:cNvSpPr>
          <p:nvPr/>
        </p:nvSpPr>
        <p:spPr>
          <a:xfrm xmlns:a="http://schemas.openxmlformats.org/drawingml/2006/main">
            <a:off x="3573704" y="2377440"/>
            <a:ext cx="223868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i="1">
                <a:solidFill>
                  <a:srgbClr val="486581"/>
                </a:solidFill>
                <a:latin typeface="Arial"/>
                <a:ea typeface="Arial"/>
                <a:cs typeface="Arial"/>
              </a:rPr>
              <a:t>Which programme goes first, which regulator is engaged first, which market leads.</a:t>
            </a:r>
            <a:endParaRPr sz="940"/>
          </a:p>
        </p:txBody>
      </p:sp>
      <p:sp>
        <p:nvSpPr>
          <p:cNvPr id="16" name="Text 14">
            <a:extLst xmlns:a="http://schemas.openxmlformats.org/drawingml/2006/main">
              <a:ext uri="{FF2B5EF4-FFF2-40B4-BE49-F238E27FC236}">
                <a16:creationId xmlns:a16="http://schemas.microsoft.com/office/drawing/2014/main" id="{9EF8CCFE-AB62-4AC5-870D-0FD313D421E2}"/>
              </a:ext>
            </a:extLst>
          </p:cNvPr>
          <p:cNvSpPr>
            <a:spLocks xmlns:a="http://schemas.openxmlformats.org/drawingml/2006/main" noGrp="1"/>
          </p:cNvSpPr>
          <p:nvPr/>
        </p:nvSpPr>
        <p:spPr>
          <a:xfrm xmlns:a="http://schemas.openxmlformats.org/drawingml/2006/main">
            <a:off x="3573704" y="31272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WHY IT DECIDES THE OUTCOME</a:t>
            </a:r>
            <a:endParaRPr sz="740"/>
          </a:p>
        </p:txBody>
      </p:sp>
      <p:sp>
        <p:nvSpPr>
          <p:cNvPr id="17" name="Text 15">
            <a:extLst xmlns:a="http://schemas.openxmlformats.org/drawingml/2006/main">
              <a:ext uri="{FF2B5EF4-FFF2-40B4-BE49-F238E27FC236}">
                <a16:creationId xmlns:a16="http://schemas.microsoft.com/office/drawing/2014/main" id="{880B67E7-3DA9-4A82-8FFC-60C08AFFFB3E}"/>
              </a:ext>
            </a:extLst>
          </p:cNvPr>
          <p:cNvSpPr>
            <a:spLocks xmlns:a="http://schemas.openxmlformats.org/drawingml/2006/main" noGrp="1"/>
          </p:cNvSpPr>
          <p:nvPr/>
        </p:nvSpPr>
        <p:spPr>
          <a:xfrm xmlns:a="http://schemas.openxmlformats.org/drawingml/2006/main">
            <a:off x="3573704" y="3328416"/>
            <a:ext cx="22386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Nobody owns the order in a multi-sponsor portfolio, so it defaults to whoever has the strongest business case — which is systematically the wrong answer.</a:t>
            </a:r>
            <a:endParaRPr sz="940"/>
          </a:p>
        </p:txBody>
      </p:sp>
      <p:sp>
        <p:nvSpPr>
          <p:cNvPr id="18" name="Shape 16">
            <a:extLst xmlns:a="http://schemas.openxmlformats.org/drawingml/2006/main">
              <a:ext uri="{FF2B5EF4-FFF2-40B4-BE49-F238E27FC236}">
                <a16:creationId xmlns:a16="http://schemas.microsoft.com/office/drawing/2014/main" id="{53018D42-129B-4A23-81BC-8A575D2E7BBD}"/>
              </a:ext>
            </a:extLst>
          </p:cNvPr>
          <p:cNvSpPr>
            <a:spLocks xmlns:a="http://schemas.openxmlformats.org/drawingml/2006/main" noGrp="1"/>
          </p:cNvSpPr>
          <p:nvPr/>
        </p:nvSpPr>
        <p:spPr>
          <a:xfrm xmlns:a="http://schemas.openxmlformats.org/drawingml/2006/main">
            <a:off x="3573704" y="4407408"/>
            <a:ext cx="2238680" cy="13716"/>
          </a:xfrm>
          <a:prstGeom xmlns:a="http://schemas.openxmlformats.org/drawingml/2006/main" prst="rect">
            <a:avLst/>
          </a:prstGeom>
          <a:solidFill xmlns:a="http://schemas.openxmlformats.org/drawingml/2006/main">
            <a:srgbClr val="C6D2DE"/>
          </a:solidFill>
        </p:spPr>
      </p:sp>
      <p:sp>
        <p:nvSpPr>
          <p:cNvPr id="19" name="Text 17">
            <a:extLst xmlns:a="http://schemas.openxmlformats.org/drawingml/2006/main">
              <a:ext uri="{FF2B5EF4-FFF2-40B4-BE49-F238E27FC236}">
                <a16:creationId xmlns:a16="http://schemas.microsoft.com/office/drawing/2014/main" id="{C41BFDAC-FC51-4434-BCEC-67B6BEFE6C76}"/>
              </a:ext>
            </a:extLst>
          </p:cNvPr>
          <p:cNvSpPr>
            <a:spLocks xmlns:a="http://schemas.openxmlformats.org/drawingml/2006/main" noGrp="1"/>
          </p:cNvSpPr>
          <p:nvPr/>
        </p:nvSpPr>
        <p:spPr>
          <a:xfrm xmlns:a="http://schemas.openxmlformats.org/drawingml/2006/main">
            <a:off x="3573704" y="4535424"/>
            <a:ext cx="2238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B04A25"/>
                </a:solidFill>
                <a:latin typeface="Arial"/>
                <a:ea typeface="Arial"/>
                <a:cs typeface="Arial"/>
              </a:rPr>
              <a:t>Foundations first. Hardest regulator first. Taxonomy before interface.</a:t>
            </a:r>
            <a:endParaRPr sz="920"/>
          </a:p>
        </p:txBody>
      </p:sp>
      <p:sp>
        <p:nvSpPr>
          <p:cNvPr id="20" name="Shape 18">
            <a:extLst xmlns:a="http://schemas.openxmlformats.org/drawingml/2006/main">
              <a:ext uri="{FF2B5EF4-FFF2-40B4-BE49-F238E27FC236}">
                <a16:creationId xmlns:a16="http://schemas.microsoft.com/office/drawing/2014/main" id="{E715C3D7-7759-4B99-B5F1-CB0F3375227D}"/>
              </a:ext>
            </a:extLst>
          </p:cNvPr>
          <p:cNvSpPr>
            <a:spLocks xmlns:a="http://schemas.openxmlformats.org/drawingml/2006/main" noGrp="1"/>
          </p:cNvSpPr>
          <p:nvPr/>
        </p:nvSpPr>
        <p:spPr>
          <a:xfrm xmlns:a="http://schemas.openxmlformats.org/drawingml/2006/main">
            <a:off x="6178144" y="1335024"/>
            <a:ext cx="2641016" cy="3877056"/>
          </a:xfrm>
          <a:prstGeom xmlns:a="http://schemas.openxmlformats.org/drawingml/2006/main" prst="rect">
            <a:avLst/>
          </a:prstGeom>
          <a:solidFill xmlns:a="http://schemas.openxmlformats.org/drawingml/2006/main">
            <a:srgbClr val="F0F4F8"/>
          </a:solidFill>
        </p:spPr>
      </p:sp>
      <p:sp>
        <p:nvSpPr>
          <p:cNvPr id="21" name="Text 19">
            <a:extLst xmlns:a="http://schemas.openxmlformats.org/drawingml/2006/main">
              <a:ext uri="{FF2B5EF4-FFF2-40B4-BE49-F238E27FC236}">
                <a16:creationId xmlns:a16="http://schemas.microsoft.com/office/drawing/2014/main" id="{B0DA6FB1-05E9-48BA-9A5D-D980631AB844}"/>
              </a:ext>
            </a:extLst>
          </p:cNvPr>
          <p:cNvSpPr>
            <a:spLocks xmlns:a="http://schemas.openxmlformats.org/drawingml/2006/main" noGrp="1"/>
          </p:cNvSpPr>
          <p:nvPr/>
        </p:nvSpPr>
        <p:spPr>
          <a:xfrm xmlns:a="http://schemas.openxmlformats.org/drawingml/2006/main">
            <a:off x="6379312" y="1481328"/>
            <a:ext cx="2238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03</a:t>
            </a:r>
            <a:endParaRPr sz="1500"/>
          </a:p>
        </p:txBody>
      </p:sp>
      <p:sp>
        <p:nvSpPr>
          <p:cNvPr id="22" name="Text 20">
            <a:extLst xmlns:a="http://schemas.openxmlformats.org/drawingml/2006/main">
              <a:ext uri="{FF2B5EF4-FFF2-40B4-BE49-F238E27FC236}">
                <a16:creationId xmlns:a16="http://schemas.microsoft.com/office/drawing/2014/main" id="{1A2C245A-E89C-4F10-AE7F-16777CFD39D6}"/>
              </a:ext>
            </a:extLst>
          </p:cNvPr>
          <p:cNvSpPr>
            <a:spLocks xmlns:a="http://schemas.openxmlformats.org/drawingml/2006/main" noGrp="1"/>
          </p:cNvSpPr>
          <p:nvPr/>
        </p:nvSpPr>
        <p:spPr>
          <a:xfrm xmlns:a="http://schemas.openxmlformats.org/drawingml/2006/main">
            <a:off x="6379312" y="17922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0"/>
              </a:lnSpc>
              <a:buNone/>
            </a:pPr>
            <a:r>
              <a:rPr sz="1300" b="1">
                <a:solidFill>
                  <a:srgbClr val="102A43"/>
                </a:solidFill>
                <a:latin typeface="Arial"/>
                <a:ea typeface="Arial"/>
                <a:cs typeface="Arial"/>
              </a:rPr>
              <a:t>Who can say no?</a:t>
            </a:r>
            <a:endParaRPr sz="1300"/>
          </a:p>
        </p:txBody>
      </p:sp>
      <p:sp>
        <p:nvSpPr>
          <p:cNvPr id="23" name="Text 21">
            <a:extLst xmlns:a="http://schemas.openxmlformats.org/drawingml/2006/main">
              <a:ext uri="{FF2B5EF4-FFF2-40B4-BE49-F238E27FC236}">
                <a16:creationId xmlns:a16="http://schemas.microsoft.com/office/drawing/2014/main" id="{8F3EE4C1-6B34-4EA5-A3A4-2920B9975831}"/>
              </a:ext>
            </a:extLst>
          </p:cNvPr>
          <p:cNvSpPr>
            <a:spLocks xmlns:a="http://schemas.openxmlformats.org/drawingml/2006/main" noGrp="1"/>
          </p:cNvSpPr>
          <p:nvPr/>
        </p:nvSpPr>
        <p:spPr>
          <a:xfrm xmlns:a="http://schemas.openxmlformats.org/drawingml/2006/main">
            <a:off x="6379312" y="2377440"/>
            <a:ext cx="223868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i="1">
                <a:solidFill>
                  <a:srgbClr val="486581"/>
                </a:solidFill>
                <a:latin typeface="Arial"/>
                <a:ea typeface="Arial"/>
                <a:cs typeface="Arial"/>
              </a:rPr>
              <a:t>Who is permitted to refuse a fork, a threshold change, a private status vocabulary, on the day a delivery date is at risk.</a:t>
            </a:r>
            <a:endParaRPr sz="940"/>
          </a:p>
        </p:txBody>
      </p:sp>
      <p:sp>
        <p:nvSpPr>
          <p:cNvPr id="24" name="Text 22">
            <a:extLst xmlns:a="http://schemas.openxmlformats.org/drawingml/2006/main">
              <a:ext uri="{FF2B5EF4-FFF2-40B4-BE49-F238E27FC236}">
                <a16:creationId xmlns:a16="http://schemas.microsoft.com/office/drawing/2014/main" id="{A75E437B-D2BD-49ED-8ABE-1EC6F4FA7CFC}"/>
              </a:ext>
            </a:extLst>
          </p:cNvPr>
          <p:cNvSpPr>
            <a:spLocks xmlns:a="http://schemas.openxmlformats.org/drawingml/2006/main" noGrp="1"/>
          </p:cNvSpPr>
          <p:nvPr/>
        </p:nvSpPr>
        <p:spPr>
          <a:xfrm xmlns:a="http://schemas.openxmlformats.org/drawingml/2006/main">
            <a:off x="6379312" y="31272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WHY IT DECIDES THE OUTCOME</a:t>
            </a:r>
            <a:endParaRPr sz="740"/>
          </a:p>
        </p:txBody>
      </p:sp>
      <p:sp>
        <p:nvSpPr>
          <p:cNvPr id="25" name="Text 23">
            <a:extLst xmlns:a="http://schemas.openxmlformats.org/drawingml/2006/main">
              <a:ext uri="{FF2B5EF4-FFF2-40B4-BE49-F238E27FC236}">
                <a16:creationId xmlns:a16="http://schemas.microsoft.com/office/drawing/2014/main" id="{2A506CEA-6BB0-4634-A7BD-01501D0C5EBF}"/>
              </a:ext>
            </a:extLst>
          </p:cNvPr>
          <p:cNvSpPr>
            <a:spLocks xmlns:a="http://schemas.openxmlformats.org/drawingml/2006/main" noGrp="1"/>
          </p:cNvSpPr>
          <p:nvPr/>
        </p:nvSpPr>
        <p:spPr>
          <a:xfrm xmlns:a="http://schemas.openxmlformats.org/drawingml/2006/main">
            <a:off x="6379312" y="3328416"/>
            <a:ext cx="22386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If that authority sits inside a single delivery it will lose every argument it has, because it is being asked to prioritise something invisible over something dated.</a:t>
            </a:r>
            <a:endParaRPr sz="940"/>
          </a:p>
        </p:txBody>
      </p:sp>
      <p:sp>
        <p:nvSpPr>
          <p:cNvPr id="26" name="Shape 24">
            <a:extLst xmlns:a="http://schemas.openxmlformats.org/drawingml/2006/main">
              <a:ext uri="{FF2B5EF4-FFF2-40B4-BE49-F238E27FC236}">
                <a16:creationId xmlns:a16="http://schemas.microsoft.com/office/drawing/2014/main" id="{B0128562-5E33-43AA-8839-9F17867F4027}"/>
              </a:ext>
            </a:extLst>
          </p:cNvPr>
          <p:cNvSpPr>
            <a:spLocks xmlns:a="http://schemas.openxmlformats.org/drawingml/2006/main" noGrp="1"/>
          </p:cNvSpPr>
          <p:nvPr/>
        </p:nvSpPr>
        <p:spPr>
          <a:xfrm xmlns:a="http://schemas.openxmlformats.org/drawingml/2006/main">
            <a:off x="6379312" y="4407408"/>
            <a:ext cx="2238680" cy="13716"/>
          </a:xfrm>
          <a:prstGeom xmlns:a="http://schemas.openxmlformats.org/drawingml/2006/main" prst="rect">
            <a:avLst/>
          </a:prstGeom>
          <a:solidFill xmlns:a="http://schemas.openxmlformats.org/drawingml/2006/main">
            <a:srgbClr val="C6D2DE"/>
          </a:solidFill>
        </p:spPr>
      </p:sp>
      <p:sp>
        <p:nvSpPr>
          <p:cNvPr id="27" name="Text 25">
            <a:extLst xmlns:a="http://schemas.openxmlformats.org/drawingml/2006/main">
              <a:ext uri="{FF2B5EF4-FFF2-40B4-BE49-F238E27FC236}">
                <a16:creationId xmlns:a16="http://schemas.microsoft.com/office/drawing/2014/main" id="{8776F161-57C9-4CF5-89B6-7403C188CED7}"/>
              </a:ext>
            </a:extLst>
          </p:cNvPr>
          <p:cNvSpPr>
            <a:spLocks xmlns:a="http://schemas.openxmlformats.org/drawingml/2006/main" noGrp="1"/>
          </p:cNvSpPr>
          <p:nvPr/>
        </p:nvSpPr>
        <p:spPr>
          <a:xfrm xmlns:a="http://schemas.openxmlformats.org/drawingml/2006/main">
            <a:off x="6379312" y="4535424"/>
            <a:ext cx="2238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Named spine owner. Refuse the first fork. Gate, do not weight.</a:t>
            </a:r>
            <a:endParaRPr sz="920"/>
          </a:p>
        </p:txBody>
      </p:sp>
      <p:sp>
        <p:nvSpPr>
          <p:cNvPr id="28" name="Shape 26">
            <a:extLst xmlns:a="http://schemas.openxmlformats.org/drawingml/2006/main">
              <a:ext uri="{FF2B5EF4-FFF2-40B4-BE49-F238E27FC236}">
                <a16:creationId xmlns:a16="http://schemas.microsoft.com/office/drawing/2014/main" id="{B85099A6-2566-43D3-9977-EFBA4857CD03}"/>
              </a:ext>
            </a:extLst>
          </p:cNvPr>
          <p:cNvSpPr>
            <a:spLocks xmlns:a="http://schemas.openxmlformats.org/drawingml/2006/main" noGrp="1"/>
          </p:cNvSpPr>
          <p:nvPr/>
        </p:nvSpPr>
        <p:spPr>
          <a:xfrm xmlns:a="http://schemas.openxmlformats.org/drawingml/2006/main">
            <a:off x="8983751" y="1335024"/>
            <a:ext cx="2641016" cy="3877056"/>
          </a:xfrm>
          <a:prstGeom xmlns:a="http://schemas.openxmlformats.org/drawingml/2006/main" prst="rect">
            <a:avLst/>
          </a:prstGeom>
          <a:solidFill xmlns:a="http://schemas.openxmlformats.org/drawingml/2006/main">
            <a:srgbClr val="F0F4F8"/>
          </a:solidFill>
        </p:spPr>
      </p:sp>
      <p:sp>
        <p:nvSpPr>
          <p:cNvPr id="29" name="Text 27">
            <a:extLst xmlns:a="http://schemas.openxmlformats.org/drawingml/2006/main">
              <a:ext uri="{FF2B5EF4-FFF2-40B4-BE49-F238E27FC236}">
                <a16:creationId xmlns:a16="http://schemas.microsoft.com/office/drawing/2014/main" id="{8FDC97E1-A784-4551-97CC-1FECC3334205}"/>
              </a:ext>
            </a:extLst>
          </p:cNvPr>
          <p:cNvSpPr>
            <a:spLocks xmlns:a="http://schemas.openxmlformats.org/drawingml/2006/main" noGrp="1"/>
          </p:cNvSpPr>
          <p:nvPr/>
        </p:nvSpPr>
        <p:spPr>
          <a:xfrm xmlns:a="http://schemas.openxmlformats.org/drawingml/2006/main">
            <a:off x="9184919" y="1481328"/>
            <a:ext cx="223868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900"/>
              </a:lnSpc>
              <a:buNone/>
            </a:pPr>
            <a:r>
              <a:rPr sz="1500" b="1">
                <a:solidFill>
                  <a:srgbClr val="9FB3C8"/>
                </a:solidFill>
                <a:latin typeface="Arial"/>
                <a:ea typeface="Arial"/>
                <a:cs typeface="Arial"/>
              </a:rPr>
              <a:t>04</a:t>
            </a:r>
            <a:endParaRPr sz="1500"/>
          </a:p>
        </p:txBody>
      </p:sp>
      <p:sp>
        <p:nvSpPr>
          <p:cNvPr id="30" name="Text 28">
            <a:extLst xmlns:a="http://schemas.openxmlformats.org/drawingml/2006/main">
              <a:ext uri="{FF2B5EF4-FFF2-40B4-BE49-F238E27FC236}">
                <a16:creationId xmlns:a16="http://schemas.microsoft.com/office/drawing/2014/main" id="{4C7A3D30-957C-4686-B6DA-D5B2AE7417B6}"/>
              </a:ext>
            </a:extLst>
          </p:cNvPr>
          <p:cNvSpPr>
            <a:spLocks xmlns:a="http://schemas.openxmlformats.org/drawingml/2006/main" noGrp="1"/>
          </p:cNvSpPr>
          <p:nvPr/>
        </p:nvSpPr>
        <p:spPr>
          <a:xfrm xmlns:a="http://schemas.openxmlformats.org/drawingml/2006/main">
            <a:off x="9184919" y="1792224"/>
            <a:ext cx="2238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50"/>
              </a:lnSpc>
              <a:buNone/>
            </a:pPr>
            <a:r>
              <a:rPr sz="1300" b="1">
                <a:solidFill>
                  <a:srgbClr val="102A43"/>
                </a:solidFill>
                <a:latin typeface="Arial"/>
                <a:ea typeface="Arial"/>
                <a:cs typeface="Arial"/>
              </a:rPr>
              <a:t>What is measured before it changes?</a:t>
            </a:r>
            <a:endParaRPr sz="1300"/>
          </a:p>
        </p:txBody>
      </p:sp>
      <p:sp>
        <p:nvSpPr>
          <p:cNvPr id="31" name="Text 29">
            <a:extLst xmlns:a="http://schemas.openxmlformats.org/drawingml/2006/main">
              <a:ext uri="{FF2B5EF4-FFF2-40B4-BE49-F238E27FC236}">
                <a16:creationId xmlns:a16="http://schemas.microsoft.com/office/drawing/2014/main" id="{99103745-A850-409D-B3F6-CD7B3FEEF090}"/>
              </a:ext>
            </a:extLst>
          </p:cNvPr>
          <p:cNvSpPr>
            <a:spLocks xmlns:a="http://schemas.openxmlformats.org/drawingml/2006/main" noGrp="1"/>
          </p:cNvSpPr>
          <p:nvPr/>
        </p:nvSpPr>
        <p:spPr>
          <a:xfrm xmlns:a="http://schemas.openxmlformats.org/drawingml/2006/main">
            <a:off x="9184919" y="2377440"/>
            <a:ext cx="2238680" cy="6949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i="1">
                <a:solidFill>
                  <a:srgbClr val="486581"/>
                </a:solidFill>
                <a:latin typeface="Arial"/>
                <a:ea typeface="Arial"/>
                <a:cs typeface="Arial"/>
              </a:rPr>
              <a:t>The baseline, captured before release, against a metric someone owns.</a:t>
            </a:r>
            <a:endParaRPr sz="940"/>
          </a:p>
        </p:txBody>
      </p:sp>
      <p:sp>
        <p:nvSpPr>
          <p:cNvPr id="32" name="Text 30">
            <a:extLst xmlns:a="http://schemas.openxmlformats.org/drawingml/2006/main">
              <a:ext uri="{FF2B5EF4-FFF2-40B4-BE49-F238E27FC236}">
                <a16:creationId xmlns:a16="http://schemas.microsoft.com/office/drawing/2014/main" id="{38062536-D123-4342-A5B8-A56799B7A7F7}"/>
              </a:ext>
            </a:extLst>
          </p:cNvPr>
          <p:cNvSpPr>
            <a:spLocks xmlns:a="http://schemas.openxmlformats.org/drawingml/2006/main" noGrp="1"/>
          </p:cNvSpPr>
          <p:nvPr/>
        </p:nvSpPr>
        <p:spPr>
          <a:xfrm xmlns:a="http://schemas.openxmlformats.org/drawingml/2006/main">
            <a:off x="9184919" y="3127248"/>
            <a:ext cx="22386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740" b="1">
                <a:solidFill>
                  <a:srgbClr val="627D98"/>
                </a:solidFill>
                <a:latin typeface="Arial"/>
                <a:ea typeface="Arial"/>
                <a:cs typeface="Arial"/>
              </a:rPr>
              <a:t>WHY IT DECIDES THE OUTCOME</a:t>
            </a:r>
            <a:endParaRPr sz="740"/>
          </a:p>
        </p:txBody>
      </p:sp>
      <p:sp>
        <p:nvSpPr>
          <p:cNvPr id="33" name="Text 31">
            <a:extLst xmlns:a="http://schemas.openxmlformats.org/drawingml/2006/main">
              <a:ext uri="{FF2B5EF4-FFF2-40B4-BE49-F238E27FC236}">
                <a16:creationId xmlns:a16="http://schemas.microsoft.com/office/drawing/2014/main" id="{7B0A7A18-6808-4D3D-87C2-90C13F9EA292}"/>
              </a:ext>
            </a:extLst>
          </p:cNvPr>
          <p:cNvSpPr>
            <a:spLocks xmlns:a="http://schemas.openxmlformats.org/drawingml/2006/main" noGrp="1"/>
          </p:cNvSpPr>
          <p:nvPr/>
        </p:nvSpPr>
        <p:spPr>
          <a:xfrm xmlns:a="http://schemas.openxmlformats.org/drawingml/2006/main">
            <a:off x="9184919" y="3328416"/>
            <a:ext cx="22386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50"/>
              </a:lnSpc>
              <a:buNone/>
            </a:pPr>
            <a:r>
              <a:rPr sz="940">
                <a:solidFill>
                  <a:srgbClr val="1A1A1A"/>
                </a:solidFill>
                <a:latin typeface="Arial"/>
                <a:ea typeface="Arial"/>
                <a:cs typeface="Arial"/>
              </a:rPr>
              <a:t>Without it a real improvement is indistinguishable from the quarter, and the programme spends its review arguing rather than reporting.</a:t>
            </a:r>
            <a:endParaRPr sz="940"/>
          </a:p>
        </p:txBody>
      </p:sp>
      <p:sp>
        <p:nvSpPr>
          <p:cNvPr id="34" name="Shape 32">
            <a:extLst xmlns:a="http://schemas.openxmlformats.org/drawingml/2006/main">
              <a:ext uri="{FF2B5EF4-FFF2-40B4-BE49-F238E27FC236}">
                <a16:creationId xmlns:a16="http://schemas.microsoft.com/office/drawing/2014/main" id="{9E840CD5-8DAE-4841-A673-699F41B47F12}"/>
              </a:ext>
            </a:extLst>
          </p:cNvPr>
          <p:cNvSpPr>
            <a:spLocks xmlns:a="http://schemas.openxmlformats.org/drawingml/2006/main" noGrp="1"/>
          </p:cNvSpPr>
          <p:nvPr/>
        </p:nvSpPr>
        <p:spPr>
          <a:xfrm xmlns:a="http://schemas.openxmlformats.org/drawingml/2006/main">
            <a:off x="9184919" y="4407408"/>
            <a:ext cx="2238680" cy="13716"/>
          </a:xfrm>
          <a:prstGeom xmlns:a="http://schemas.openxmlformats.org/drawingml/2006/main" prst="rect">
            <a:avLst/>
          </a:prstGeom>
          <a:solidFill xmlns:a="http://schemas.openxmlformats.org/drawingml/2006/main">
            <a:srgbClr val="C6D2DE"/>
          </a:solidFill>
        </p:spPr>
      </p:sp>
      <p:sp>
        <p:nvSpPr>
          <p:cNvPr id="35" name="Text 33">
            <a:extLst xmlns:a="http://schemas.openxmlformats.org/drawingml/2006/main">
              <a:ext uri="{FF2B5EF4-FFF2-40B4-BE49-F238E27FC236}">
                <a16:creationId xmlns:a16="http://schemas.microsoft.com/office/drawing/2014/main" id="{F530A302-105A-4EE9-A941-34246AF9419D}"/>
              </a:ext>
            </a:extLst>
          </p:cNvPr>
          <p:cNvSpPr>
            <a:spLocks xmlns:a="http://schemas.openxmlformats.org/drawingml/2006/main" noGrp="1"/>
          </p:cNvSpPr>
          <p:nvPr/>
        </p:nvSpPr>
        <p:spPr>
          <a:xfrm xmlns:a="http://schemas.openxmlformats.org/drawingml/2006/main">
            <a:off x="9184919" y="4535424"/>
            <a:ext cx="223868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200"/>
              </a:lnSpc>
              <a:buNone/>
            </a:pPr>
            <a:r>
              <a:rPr sz="920" i="1">
                <a:solidFill>
                  <a:srgbClr val="486581"/>
                </a:solidFill>
                <a:latin typeface="Arial"/>
                <a:ea typeface="Arial"/>
                <a:cs typeface="Arial"/>
              </a:rPr>
              <a:t>Baseline per journey. Owner metric per objective. Leading before lagging.</a:t>
            </a:r>
            <a:endParaRPr sz="920"/>
          </a:p>
        </p:txBody>
      </p:sp>
      <p:sp>
        <p:nvSpPr>
          <p:cNvPr id="36" name="Shape 34">
            <a:extLst xmlns:a="http://schemas.openxmlformats.org/drawingml/2006/main">
              <a:ext uri="{FF2B5EF4-FFF2-40B4-BE49-F238E27FC236}">
                <a16:creationId xmlns:a16="http://schemas.microsoft.com/office/drawing/2014/main" id="{1D4942F5-77EE-4BD5-8CFC-3409EDA24FC7}"/>
              </a:ext>
            </a:extLst>
          </p:cNvPr>
          <p:cNvSpPr>
            <a:spLocks xmlns:a="http://schemas.openxmlformats.org/drawingml/2006/main" noGrp="1"/>
          </p:cNvSpPr>
          <p:nvPr/>
        </p:nvSpPr>
        <p:spPr>
          <a:xfrm xmlns:a="http://schemas.openxmlformats.org/drawingml/2006/main">
            <a:off x="566928" y="5468112"/>
            <a:ext cx="11057839" cy="603504"/>
          </a:xfrm>
          <a:prstGeom xmlns:a="http://schemas.openxmlformats.org/drawingml/2006/main" prst="rect">
            <a:avLst/>
          </a:prstGeom>
          <a:solidFill xmlns:a="http://schemas.openxmlformats.org/drawingml/2006/main">
            <a:srgbClr val="102A43"/>
          </a:solidFill>
        </p:spPr>
      </p:sp>
      <p:sp>
        <p:nvSpPr>
          <p:cNvPr id="37" name="Text 35">
            <a:extLst xmlns:a="http://schemas.openxmlformats.org/drawingml/2006/main">
              <a:ext uri="{FF2B5EF4-FFF2-40B4-BE49-F238E27FC236}">
                <a16:creationId xmlns:a16="http://schemas.microsoft.com/office/drawing/2014/main" id="{01943894-1907-41E3-B3FC-AB40F9E85E6E}"/>
              </a:ext>
            </a:extLst>
          </p:cNvPr>
          <p:cNvSpPr>
            <a:spLocks xmlns:a="http://schemas.openxmlformats.org/drawingml/2006/main" noGrp="1"/>
          </p:cNvSpPr>
          <p:nvPr/>
        </p:nvSpPr>
        <p:spPr>
          <a:xfrm xmlns:a="http://schemas.openxmlformats.org/drawingml/2006/main">
            <a:off x="804672" y="5650992"/>
            <a:ext cx="10582351"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FFFFFF"/>
                </a:solidFill>
                <a:latin typeface="Arial"/>
                <a:ea typeface="Arial"/>
                <a:cs typeface="Arial"/>
              </a:rPr>
              <a:t>None of the four is a technology choice. All four are taken in the first quarter, at almost no cost, and none of them gets a steering committee.</a:t>
            </a:r>
            <a:endParaRPr sz="990"/>
          </a:p>
        </p:txBody>
      </p:sp>
      <p:sp>
        <p:nvSpPr>
          <p:cNvPr id="38" name="Shape 36">
            <a:extLst xmlns:a="http://schemas.openxmlformats.org/drawingml/2006/main">
              <a:ext uri="{FF2B5EF4-FFF2-40B4-BE49-F238E27FC236}">
                <a16:creationId xmlns:a16="http://schemas.microsoft.com/office/drawing/2014/main" id="{9F18FA15-E870-4EB0-88CB-D66DED6FDEA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39" name="Text 37">
            <a:extLst xmlns:a="http://schemas.openxmlformats.org/drawingml/2006/main">
              <a:ext uri="{FF2B5EF4-FFF2-40B4-BE49-F238E27FC236}">
                <a16:creationId xmlns:a16="http://schemas.microsoft.com/office/drawing/2014/main" id="{6D4EA448-9E6A-41F5-A5AD-E6D04DC12ADA}"/>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 across the portfolio</a:t>
            </a:r>
            <a:endParaRPr sz="850"/>
          </a:p>
        </p:txBody>
      </p:sp>
      <p:sp>
        <p:nvSpPr>
          <p:cNvPr id="40" name="Text 38">
            <a:extLst xmlns:a="http://schemas.openxmlformats.org/drawingml/2006/main">
              <a:ext uri="{FF2B5EF4-FFF2-40B4-BE49-F238E27FC236}">
                <a16:creationId xmlns:a16="http://schemas.microsoft.com/office/drawing/2014/main" id="{3B4423D9-9D7D-4861-80F8-FF68D68E2B67}"/>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7</a:t>
            </a:r>
            <a:endParaRPr sz="850"/>
          </a:p>
        </p:txBody>
      </p:sp>
    </p:spTree>
    <p:extLst>
      <p:ext uri="{BB962C8B-B14F-4D97-AF65-F5344CB8AC3E}">
        <p14:creationId xmlns:p14="http://schemas.microsoft.com/office/powerpoint/2010/main" val="1803160604"/>
      </p:ext>
    </p:extLst>
  </p:cSld>
</p:sld>
</file>

<file path=ppt/slides/slide29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C45A05B-5F79-4803-8DFF-2F74415211B7}"/>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WHAT TRANSFERS</a:t>
            </a:r>
            <a:endParaRPr sz="950"/>
          </a:p>
        </p:txBody>
      </p:sp>
      <p:sp>
        <p:nvSpPr>
          <p:cNvPr id="3" name="Text 1">
            <a:extLst xmlns:a="http://schemas.openxmlformats.org/drawingml/2006/main">
              <a:ext uri="{FF2B5EF4-FFF2-40B4-BE49-F238E27FC236}">
                <a16:creationId xmlns:a16="http://schemas.microsoft.com/office/drawing/2014/main" id="{33E4DF54-7E8F-4CB3-B001-0F7EDB3DBBF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What I would do in the first ninety days of any programme of this shape</a:t>
            </a:r>
            <a:endParaRPr sz="1900"/>
          </a:p>
        </p:txBody>
      </p:sp>
      <p:sp>
        <p:nvSpPr>
          <p:cNvPr id="4" name="Text 2">
            <a:extLst xmlns:a="http://schemas.openxmlformats.org/drawingml/2006/main">
              <a:ext uri="{FF2B5EF4-FFF2-40B4-BE49-F238E27FC236}">
                <a16:creationId xmlns:a16="http://schemas.microsoft.com/office/drawing/2014/main" id="{A5006D61-4011-4526-BB24-1A4301055999}"/>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1CF9713F-8AB2-497A-A546-8CED5E1D3975}"/>
              </a:ext>
            </a:extLst>
          </p:cNvPr>
          <p:cNvSpPr>
            <a:spLocks xmlns:a="http://schemas.openxmlformats.org/drawingml/2006/main" noGrp="1"/>
          </p:cNvSpPr>
          <p:nvPr/>
        </p:nvSpPr>
        <p:spPr>
          <a:xfrm xmlns:a="http://schemas.openxmlformats.org/drawingml/2006/main">
            <a:off x="1207008" y="133502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Name the shared object and write it down</a:t>
            </a:r>
            <a:endParaRPr sz="1200"/>
          </a:p>
        </p:txBody>
      </p:sp>
      <p:sp>
        <p:nvSpPr>
          <p:cNvPr id="6" name="Text 4">
            <a:extLst xmlns:a="http://schemas.openxmlformats.org/drawingml/2006/main">
              <a:ext uri="{FF2B5EF4-FFF2-40B4-BE49-F238E27FC236}">
                <a16:creationId xmlns:a16="http://schemas.microsoft.com/office/drawing/2014/main" id="{33D1CB1B-DBB5-4014-9047-E5B6C94F5493}"/>
              </a:ext>
            </a:extLst>
          </p:cNvPr>
          <p:cNvSpPr>
            <a:spLocks xmlns:a="http://schemas.openxmlformats.org/drawingml/2006/main" noGrp="1"/>
          </p:cNvSpPr>
          <p:nvPr/>
        </p:nvSpPr>
        <p:spPr>
          <a:xfrm xmlns:a="http://schemas.openxmlformats.org/drawingml/2006/main">
            <a:off x="5504688" y="135331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Before scope, before architecture. Whether it is the group, the member, the household or the case — every later argument about duplication, reconciliation and reporting traces back to whether this was settled once or assumed four times.</a:t>
            </a:r>
            <a:endParaRPr sz="1000"/>
          </a:p>
        </p:txBody>
      </p:sp>
      <p:sp>
        <p:nvSpPr>
          <p:cNvPr id="7" name="Shape 5">
            <a:extLst xmlns:a="http://schemas.openxmlformats.org/drawingml/2006/main">
              <a:ext uri="{FF2B5EF4-FFF2-40B4-BE49-F238E27FC236}">
                <a16:creationId xmlns:a16="http://schemas.microsoft.com/office/drawing/2014/main" id="{FE4BD7DC-2B86-4991-B77B-41F1974DF5D3}"/>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9EEB7FC4-B6E1-46ED-99D9-74DB8C10CE7D}"/>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BD5A290D-1472-4B3B-9D98-551658EEE5B4}"/>
              </a:ext>
            </a:extLst>
          </p:cNvPr>
          <p:cNvSpPr>
            <a:spLocks xmlns:a="http://schemas.openxmlformats.org/drawingml/2006/main" noGrp="1"/>
          </p:cNvSpPr>
          <p:nvPr/>
        </p:nvSpPr>
        <p:spPr>
          <a:xfrm xmlns:a="http://schemas.openxmlformats.org/drawingml/2006/main">
            <a:off x="1207008" y="234086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Take ownership of the order</a:t>
            </a:r>
            <a:endParaRPr sz="1200"/>
          </a:p>
        </p:txBody>
      </p:sp>
      <p:sp>
        <p:nvSpPr>
          <p:cNvPr id="10" name="Text 8">
            <a:extLst xmlns:a="http://schemas.openxmlformats.org/drawingml/2006/main">
              <a:ext uri="{FF2B5EF4-FFF2-40B4-BE49-F238E27FC236}">
                <a16:creationId xmlns:a16="http://schemas.microsoft.com/office/drawing/2014/main" id="{CA685E98-6C9A-427B-82BF-312C8F6EA0E1}"/>
              </a:ext>
            </a:extLst>
          </p:cNvPr>
          <p:cNvSpPr>
            <a:spLocks xmlns:a="http://schemas.openxmlformats.org/drawingml/2006/main" noGrp="1"/>
          </p:cNvSpPr>
          <p:nvPr/>
        </p:nvSpPr>
        <p:spPr>
          <a:xfrm xmlns:a="http://schemas.openxmlformats.org/drawingml/2006/main">
            <a:off x="5504688" y="235915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In a multi-sponsor portfolio the sequence defaults to whoever has the strongest business case, which is systematically wrong because foundational work never does. Owning the order is the highest-leverage authority available and it exists only at the start.</a:t>
            </a:r>
            <a:endParaRPr sz="1000"/>
          </a:p>
        </p:txBody>
      </p:sp>
      <p:sp>
        <p:nvSpPr>
          <p:cNvPr id="11" name="Shape 9">
            <a:extLst xmlns:a="http://schemas.openxmlformats.org/drawingml/2006/main">
              <a:ext uri="{FF2B5EF4-FFF2-40B4-BE49-F238E27FC236}">
                <a16:creationId xmlns:a16="http://schemas.microsoft.com/office/drawing/2014/main" id="{254EC8F0-C740-4D47-87A2-D94918FABA23}"/>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3A9FF710-7337-4717-9ADB-645EE49D42CF}"/>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F4D7FF5F-21BA-425C-B1E5-D76489D694F5}"/>
              </a:ext>
            </a:extLst>
          </p:cNvPr>
          <p:cNvSpPr>
            <a:spLocks xmlns:a="http://schemas.openxmlformats.org/drawingml/2006/main" noGrp="1"/>
          </p:cNvSpPr>
          <p:nvPr/>
        </p:nvSpPr>
        <p:spPr>
          <a:xfrm xmlns:a="http://schemas.openxmlformats.org/drawingml/2006/main">
            <a:off x="1207008" y="334670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Establish who can refuse, above any delivery date</a:t>
            </a:r>
            <a:endParaRPr sz="1200"/>
          </a:p>
        </p:txBody>
      </p:sp>
      <p:sp>
        <p:nvSpPr>
          <p:cNvPr id="14" name="Text 12">
            <a:extLst xmlns:a="http://schemas.openxmlformats.org/drawingml/2006/main">
              <a:ext uri="{FF2B5EF4-FFF2-40B4-BE49-F238E27FC236}">
                <a16:creationId xmlns:a16="http://schemas.microsoft.com/office/drawing/2014/main" id="{6749FCE8-AECF-426E-A0DF-7A84EEBB4082}"/>
              </a:ext>
            </a:extLst>
          </p:cNvPr>
          <p:cNvSpPr>
            <a:spLocks xmlns:a="http://schemas.openxmlformats.org/drawingml/2006/main" noGrp="1"/>
          </p:cNvSpPr>
          <p:nvPr/>
        </p:nvSpPr>
        <p:spPr>
          <a:xfrm xmlns:a="http://schemas.openxmlformats.org/drawingml/2006/main">
            <a:off x="5504688" y="336499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named owner of the shared spine whose accountability does not sit inside one programme. Without it, the first fork happens under pressure in month three and every subsequent one cites the precedent.</a:t>
            </a:r>
            <a:endParaRPr sz="1000"/>
          </a:p>
        </p:txBody>
      </p:sp>
      <p:sp>
        <p:nvSpPr>
          <p:cNvPr id="15" name="Shape 13">
            <a:extLst xmlns:a="http://schemas.openxmlformats.org/drawingml/2006/main">
              <a:ext uri="{FF2B5EF4-FFF2-40B4-BE49-F238E27FC236}">
                <a16:creationId xmlns:a16="http://schemas.microsoft.com/office/drawing/2014/main" id="{F9B28FB8-FF5A-4BB5-8E78-6E4562875796}"/>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84E1EC33-75E1-4531-AA80-CC1D865FC24E}"/>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70F2D315-929F-4C52-9E64-D2AE198A58A4}"/>
              </a:ext>
            </a:extLst>
          </p:cNvPr>
          <p:cNvSpPr>
            <a:spLocks xmlns:a="http://schemas.openxmlformats.org/drawingml/2006/main" noGrp="1"/>
          </p:cNvSpPr>
          <p:nvPr/>
        </p:nvSpPr>
        <p:spPr>
          <a:xfrm xmlns:a="http://schemas.openxmlformats.org/drawingml/2006/main">
            <a:off x="1207008" y="4352544"/>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Instrument before the first release</a:t>
            </a:r>
            <a:endParaRPr sz="1200"/>
          </a:p>
        </p:txBody>
      </p:sp>
      <p:sp>
        <p:nvSpPr>
          <p:cNvPr id="18" name="Text 16">
            <a:extLst xmlns:a="http://schemas.openxmlformats.org/drawingml/2006/main">
              <a:ext uri="{FF2B5EF4-FFF2-40B4-BE49-F238E27FC236}">
                <a16:creationId xmlns:a16="http://schemas.microsoft.com/office/drawing/2014/main" id="{FB12FAF9-4BAF-44A5-BEE1-ECA5CBC2CFBD}"/>
              </a:ext>
            </a:extLst>
          </p:cNvPr>
          <p:cNvSpPr>
            <a:spLocks xmlns:a="http://schemas.openxmlformats.org/drawingml/2006/main" noGrp="1"/>
          </p:cNvSpPr>
          <p:nvPr/>
        </p:nvSpPr>
        <p:spPr>
          <a:xfrm xmlns:a="http://schemas.openxmlformats.org/drawingml/2006/main">
            <a:off x="5504688" y="4370832"/>
            <a:ext cx="612007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A baseline per outcome, an owner per metric, leading indicators agreed before the pilot review. It costs a fortnight and it is the difference between a programme that can prove its result and one that has to argue for it.</a:t>
            </a:r>
            <a:endParaRPr sz="1000"/>
          </a:p>
        </p:txBody>
      </p:sp>
      <p:sp>
        <p:nvSpPr>
          <p:cNvPr id="19" name="Shape 17">
            <a:extLst xmlns:a="http://schemas.openxmlformats.org/drawingml/2006/main">
              <a:ext uri="{FF2B5EF4-FFF2-40B4-BE49-F238E27FC236}">
                <a16:creationId xmlns:a16="http://schemas.microsoft.com/office/drawing/2014/main" id="{9707A46D-080E-40A2-B7B6-19E7A558C8B5}"/>
              </a:ext>
            </a:extLst>
          </p:cNvPr>
          <p:cNvSpPr>
            <a:spLocks xmlns:a="http://schemas.openxmlformats.org/drawingml/2006/main" noGrp="1"/>
          </p:cNvSpPr>
          <p:nvPr/>
        </p:nvSpPr>
        <p:spPr>
          <a:xfrm xmlns:a="http://schemas.openxmlformats.org/drawingml/2006/main">
            <a:off x="566928" y="5449824"/>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CFEF28CC-8E75-4534-960D-45DD14ED86AC}"/>
              </a:ext>
            </a:extLst>
          </p:cNvPr>
          <p:cNvSpPr>
            <a:spLocks xmlns:a="http://schemas.openxmlformats.org/drawingml/2006/main" noGrp="1"/>
          </p:cNvSpPr>
          <p:nvPr/>
        </p:nvSpPr>
        <p:spPr>
          <a:xfrm xmlns:a="http://schemas.openxmlformats.org/drawingml/2006/main">
            <a:off x="841248" y="5650992"/>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Thirty-eight programmes delivered across sixteen institutions, nine more analysed, four regions, eight years — and the same four questions every time. None is about the platform, all four are answered in the first quarter, and the ones answered by default are the ones that cost three years.</a:t>
            </a:r>
            <a:endParaRPr sz="1200"/>
          </a:p>
        </p:txBody>
      </p:sp>
      <p:sp>
        <p:nvSpPr>
          <p:cNvPr id="21" name="Shape 19">
            <a:extLst xmlns:a="http://schemas.openxmlformats.org/drawingml/2006/main">
              <a:ext uri="{FF2B5EF4-FFF2-40B4-BE49-F238E27FC236}">
                <a16:creationId xmlns:a16="http://schemas.microsoft.com/office/drawing/2014/main" id="{04C10F51-0547-4992-A369-408A1768A8B6}"/>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985035DD-A902-4BDF-A03A-F24C015B092F}"/>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synthesis across the portfolio</a:t>
            </a:r>
            <a:endParaRPr sz="850"/>
          </a:p>
        </p:txBody>
      </p:sp>
      <p:sp>
        <p:nvSpPr>
          <p:cNvPr id="23" name="Text 21">
            <a:extLst xmlns:a="http://schemas.openxmlformats.org/drawingml/2006/main">
              <a:ext uri="{FF2B5EF4-FFF2-40B4-BE49-F238E27FC236}">
                <a16:creationId xmlns:a16="http://schemas.microsoft.com/office/drawing/2014/main" id="{CDF0B793-A907-4559-A7C4-9D1B5F73E62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8</a:t>
            </a:r>
            <a:endParaRPr sz="850"/>
          </a:p>
        </p:txBody>
      </p:sp>
    </p:spTree>
    <p:extLst>
      <p:ext uri="{BB962C8B-B14F-4D97-AF65-F5344CB8AC3E}">
        <p14:creationId xmlns:p14="http://schemas.microsoft.com/office/powerpoint/2010/main" val="2142987292"/>
      </p:ext>
    </p:extLst>
  </p:cSld>
</p:sld>
</file>

<file path=ppt/slides/slide29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7FE13A1-5B2D-47D5-B9C0-1398C6F7D443}"/>
              </a:ext>
            </a:extLst>
          </p:cNvPr>
          <p:cNvSpPr>
            <a:spLocks xmlns:a="http://schemas.openxmlformats.org/drawingml/2006/main" noGrp="1"/>
          </p:cNvSpPr>
          <p:nvPr/>
        </p:nvSpPr>
        <p:spPr>
          <a:xfrm xmlns:a="http://schemas.openxmlformats.org/drawingml/2006/main">
            <a:off x="566928" y="1280160"/>
            <a:ext cx="1105783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spc="200">
                <a:solidFill>
                  <a:srgbClr val="8FA9C4"/>
                </a:solidFill>
                <a:latin typeface="Arial"/>
                <a:ea typeface="Arial"/>
                <a:cs typeface="Arial"/>
              </a:rPr>
              <a:t>PREP NOTES  ·  NOT FOR PRESENTATION</a:t>
            </a:r>
            <a:endParaRPr sz="950"/>
          </a:p>
        </p:txBody>
      </p:sp>
      <p:sp>
        <p:nvSpPr>
          <p:cNvPr id="3" name="Text 1">
            <a:extLst xmlns:a="http://schemas.openxmlformats.org/drawingml/2006/main">
              <a:ext uri="{FF2B5EF4-FFF2-40B4-BE49-F238E27FC236}">
                <a16:creationId xmlns:a16="http://schemas.microsoft.com/office/drawing/2014/main" id="{0D03B7C4-7EB8-4966-9462-E582E1790C46}"/>
              </a:ext>
            </a:extLst>
          </p:cNvPr>
          <p:cNvSpPr>
            <a:spLocks xmlns:a="http://schemas.openxmlformats.org/drawingml/2006/main" noGrp="1"/>
          </p:cNvSpPr>
          <p:nvPr/>
        </p:nvSpPr>
        <p:spPr>
          <a:xfrm xmlns:a="http://schemas.openxmlformats.org/drawingml/2006/main">
            <a:off x="566928" y="1700784"/>
            <a:ext cx="11057839"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3800" b="1">
                <a:solidFill>
                  <a:srgbClr val="FFFFFF"/>
                </a:solidFill>
                <a:latin typeface="Arial"/>
                <a:ea typeface="Arial"/>
                <a:cs typeface="Arial"/>
              </a:rPr>
              <a:t>Defending every number</a:t>
            </a:r>
            <a:endParaRPr sz="3800"/>
          </a:p>
        </p:txBody>
      </p:sp>
      <p:sp>
        <p:nvSpPr>
          <p:cNvPr id="4" name="Text 2">
            <a:extLst xmlns:a="http://schemas.openxmlformats.org/drawingml/2006/main">
              <a:ext uri="{FF2B5EF4-FFF2-40B4-BE49-F238E27FC236}">
                <a16:creationId xmlns:a16="http://schemas.microsoft.com/office/drawing/2014/main" id="{7E2A4413-F70C-49C6-8213-3962ACB5DF6B}"/>
              </a:ext>
            </a:extLst>
          </p:cNvPr>
          <p:cNvSpPr>
            <a:spLocks xmlns:a="http://schemas.openxmlformats.org/drawingml/2006/main" noGrp="1"/>
          </p:cNvSpPr>
          <p:nvPr/>
        </p:nvSpPr>
        <p:spPr>
          <a:xfrm xmlns:a="http://schemas.openxmlformats.org/drawingml/2006/main">
            <a:off x="566928" y="2487168"/>
            <a:ext cx="98755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rgbClr val="C9D8E8"/>
                </a:solidFill>
                <a:latin typeface="Arial"/>
                <a:ea typeface="Arial"/>
                <a:cs typeface="Arial"/>
              </a:rPr>
              <a:t>What each modelled figure in the portfolio is anchored to, and what to say when it is challenged</a:t>
            </a:r>
            <a:endParaRPr sz="1700"/>
          </a:p>
        </p:txBody>
      </p:sp>
      <p:sp>
        <p:nvSpPr>
          <p:cNvPr id="5" name="Shape 3">
            <a:extLst xmlns:a="http://schemas.openxmlformats.org/drawingml/2006/main">
              <a:ext uri="{FF2B5EF4-FFF2-40B4-BE49-F238E27FC236}">
                <a16:creationId xmlns:a16="http://schemas.microsoft.com/office/drawing/2014/main" id="{D9A0E4EC-9132-49C5-B6BA-CA45D58AADAF}"/>
              </a:ext>
            </a:extLst>
          </p:cNvPr>
          <p:cNvSpPr>
            <a:spLocks xmlns:a="http://schemas.openxmlformats.org/drawingml/2006/main" noGrp="1"/>
          </p:cNvSpPr>
          <p:nvPr/>
        </p:nvSpPr>
        <p:spPr>
          <a:xfrm xmlns:a="http://schemas.openxmlformats.org/drawingml/2006/main">
            <a:off x="566928" y="320040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6" name="Text 4">
            <a:extLst xmlns:a="http://schemas.openxmlformats.org/drawingml/2006/main">
              <a:ext uri="{FF2B5EF4-FFF2-40B4-BE49-F238E27FC236}">
                <a16:creationId xmlns:a16="http://schemas.microsoft.com/office/drawing/2014/main" id="{F23A9251-38EF-4C7A-9CAB-BE298DB08BCA}"/>
              </a:ext>
            </a:extLst>
          </p:cNvPr>
          <p:cNvSpPr>
            <a:spLocks xmlns:a="http://schemas.openxmlformats.org/drawingml/2006/main" noGrp="1"/>
          </p:cNvSpPr>
          <p:nvPr/>
        </p:nvSpPr>
        <p:spPr>
          <a:xfrm xmlns:a="http://schemas.openxmlformats.org/drawingml/2006/main">
            <a:off x="566928" y="3419856"/>
            <a:ext cx="24901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78%</a:t>
            </a:r>
            <a:endParaRPr sz="2800"/>
          </a:p>
        </p:txBody>
      </p:sp>
      <p:sp>
        <p:nvSpPr>
          <p:cNvPr id="7" name="Text 5">
            <a:extLst xmlns:a="http://schemas.openxmlformats.org/drawingml/2006/main">
              <a:ext uri="{FF2B5EF4-FFF2-40B4-BE49-F238E27FC236}">
                <a16:creationId xmlns:a16="http://schemas.microsoft.com/office/drawing/2014/main" id="{C3C46F2B-9F3D-4094-AF77-D00AF828F96A}"/>
              </a:ext>
            </a:extLst>
          </p:cNvPr>
          <p:cNvSpPr>
            <a:spLocks xmlns:a="http://schemas.openxmlformats.org/drawingml/2006/main" noGrp="1"/>
          </p:cNvSpPr>
          <p:nvPr/>
        </p:nvSpPr>
        <p:spPr>
          <a:xfrm xmlns:a="http://schemas.openxmlformats.org/drawingml/2006/main">
            <a:off x="566928" y="3913632"/>
            <a:ext cx="24901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a:solidFill>
                  <a:srgbClr val="8FA9C4"/>
                </a:solidFill>
                <a:latin typeface="Arial"/>
                <a:ea typeface="Arial"/>
                <a:cs typeface="Arial"/>
              </a:rPr>
              <a:t>of slides fully</a:t>
            </a:r>
            <a:endParaRPr sz="950"/>
          </a:p>
          <a:p xmlns:a="http://schemas.openxmlformats.org/drawingml/2006/main">
            <a:pPr marL="0" indent="0">
              <a:lnSpc>
                <a:spcPts val="1200"/>
              </a:lnSpc>
              <a:buNone/>
            </a:pPr>
            <a:r>
              <a:rPr sz="950">
                <a:solidFill>
                  <a:srgbClr val="8FA9C4"/>
                </a:solidFill>
                <a:latin typeface="Arial"/>
                <a:ea typeface="Arial"/>
                <a:cs typeface="Arial"/>
              </a:rPr>
              <a:t>attributable</a:t>
            </a:r>
            <a:endParaRPr sz="950"/>
          </a:p>
        </p:txBody>
      </p:sp>
      <p:sp>
        <p:nvSpPr>
          <p:cNvPr id="8" name="Text 6">
            <a:extLst xmlns:a="http://schemas.openxmlformats.org/drawingml/2006/main">
              <a:ext uri="{FF2B5EF4-FFF2-40B4-BE49-F238E27FC236}">
                <a16:creationId xmlns:a16="http://schemas.microsoft.com/office/drawing/2014/main" id="{A3459DD1-EA95-4D1F-B163-858B444DB5DD}"/>
              </a:ext>
            </a:extLst>
          </p:cNvPr>
          <p:cNvSpPr>
            <a:spLocks xmlns:a="http://schemas.openxmlformats.org/drawingml/2006/main" noGrp="1"/>
          </p:cNvSpPr>
          <p:nvPr/>
        </p:nvSpPr>
        <p:spPr>
          <a:xfrm xmlns:a="http://schemas.openxmlformats.org/drawingml/2006/main">
            <a:off x="3331388" y="3419856"/>
            <a:ext cx="24901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3</a:t>
            </a:r>
            <a:endParaRPr sz="2800"/>
          </a:p>
        </p:txBody>
      </p:sp>
      <p:sp>
        <p:nvSpPr>
          <p:cNvPr id="9" name="Text 7">
            <a:extLst xmlns:a="http://schemas.openxmlformats.org/drawingml/2006/main">
              <a:ext uri="{FF2B5EF4-FFF2-40B4-BE49-F238E27FC236}">
                <a16:creationId xmlns:a16="http://schemas.microsoft.com/office/drawing/2014/main" id="{CCD0260D-F796-4675-AD56-447FB9A073CA}"/>
              </a:ext>
            </a:extLst>
          </p:cNvPr>
          <p:cNvSpPr>
            <a:spLocks xmlns:a="http://schemas.openxmlformats.org/drawingml/2006/main" noGrp="1"/>
          </p:cNvSpPr>
          <p:nvPr/>
        </p:nvSpPr>
        <p:spPr>
          <a:xfrm xmlns:a="http://schemas.openxmlformats.org/drawingml/2006/main">
            <a:off x="3331388" y="3913632"/>
            <a:ext cx="24901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a:solidFill>
                  <a:srgbClr val="8FA9C4"/>
                </a:solidFill>
                <a:latin typeface="Arial"/>
                <a:ea typeface="Arial"/>
                <a:cs typeface="Arial"/>
              </a:rPr>
              <a:t>models now benchmark-</a:t>
            </a:r>
            <a:endParaRPr sz="950"/>
          </a:p>
          <a:p xmlns:a="http://schemas.openxmlformats.org/drawingml/2006/main">
            <a:pPr marL="0" indent="0">
              <a:lnSpc>
                <a:spcPts val="1200"/>
              </a:lnSpc>
              <a:buNone/>
            </a:pPr>
            <a:r>
              <a:rPr sz="950">
                <a:solidFill>
                  <a:srgbClr val="8FA9C4"/>
                </a:solidFill>
                <a:latin typeface="Arial"/>
                <a:ea typeface="Arial"/>
                <a:cs typeface="Arial"/>
              </a:rPr>
              <a:t>calibrated</a:t>
            </a:r>
            <a:endParaRPr sz="950"/>
          </a:p>
        </p:txBody>
      </p:sp>
      <p:sp>
        <p:nvSpPr>
          <p:cNvPr id="10" name="Text 8">
            <a:extLst xmlns:a="http://schemas.openxmlformats.org/drawingml/2006/main">
              <a:ext uri="{FF2B5EF4-FFF2-40B4-BE49-F238E27FC236}">
                <a16:creationId xmlns:a16="http://schemas.microsoft.com/office/drawing/2014/main" id="{4288E0B3-8804-4ED4-AF8B-D73D5E91D8D4}"/>
              </a:ext>
            </a:extLst>
          </p:cNvPr>
          <p:cNvSpPr>
            <a:spLocks xmlns:a="http://schemas.openxmlformats.org/drawingml/2006/main" noGrp="1"/>
          </p:cNvSpPr>
          <p:nvPr/>
        </p:nvSpPr>
        <p:spPr>
          <a:xfrm xmlns:a="http://schemas.openxmlformats.org/drawingml/2006/main">
            <a:off x="6095848" y="3419856"/>
            <a:ext cx="24901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5</a:t>
            </a:r>
            <a:endParaRPr sz="2800"/>
          </a:p>
        </p:txBody>
      </p:sp>
      <p:sp>
        <p:nvSpPr>
          <p:cNvPr id="11" name="Text 9">
            <a:extLst xmlns:a="http://schemas.openxmlformats.org/drawingml/2006/main">
              <a:ext uri="{FF2B5EF4-FFF2-40B4-BE49-F238E27FC236}">
                <a16:creationId xmlns:a16="http://schemas.microsoft.com/office/drawing/2014/main" id="{F799C5B2-A1B1-4E64-82E7-A65F980A4845}"/>
              </a:ext>
            </a:extLst>
          </p:cNvPr>
          <p:cNvSpPr>
            <a:spLocks xmlns:a="http://schemas.openxmlformats.org/drawingml/2006/main" noGrp="1"/>
          </p:cNvSpPr>
          <p:nvPr/>
        </p:nvSpPr>
        <p:spPr>
          <a:xfrm xmlns:a="http://schemas.openxmlformats.org/drawingml/2006/main">
            <a:off x="6095848" y="3913632"/>
            <a:ext cx="24901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a:solidFill>
                  <a:srgbClr val="8FA9C4"/>
                </a:solidFill>
                <a:latin typeface="Arial"/>
                <a:ea typeface="Arial"/>
                <a:cs typeface="Arial"/>
              </a:rPr>
              <a:t>decks with reconstructed</a:t>
            </a:r>
            <a:endParaRPr sz="950"/>
          </a:p>
          <a:p xmlns:a="http://schemas.openxmlformats.org/drawingml/2006/main">
            <a:pPr marL="0" indent="0">
              <a:lnSpc>
                <a:spcPts val="1200"/>
              </a:lnSpc>
              <a:buNone/>
            </a:pPr>
            <a:r>
              <a:rPr sz="950">
                <a:solidFill>
                  <a:srgbClr val="8FA9C4"/>
                </a:solidFill>
                <a:latin typeface="Arial"/>
                <a:ea typeface="Arial"/>
                <a:cs typeface="Arial"/>
              </a:rPr>
              <a:t>detail, declared</a:t>
            </a:r>
            <a:endParaRPr sz="950"/>
          </a:p>
        </p:txBody>
      </p:sp>
      <p:sp>
        <p:nvSpPr>
          <p:cNvPr id="12" name="Text 10">
            <a:extLst xmlns:a="http://schemas.openxmlformats.org/drawingml/2006/main">
              <a:ext uri="{FF2B5EF4-FFF2-40B4-BE49-F238E27FC236}">
                <a16:creationId xmlns:a16="http://schemas.microsoft.com/office/drawing/2014/main" id="{67193BEE-3520-490B-A1E3-DA4BA29825C2}"/>
              </a:ext>
            </a:extLst>
          </p:cNvPr>
          <p:cNvSpPr>
            <a:spLocks xmlns:a="http://schemas.openxmlformats.org/drawingml/2006/main" noGrp="1"/>
          </p:cNvSpPr>
          <p:nvPr/>
        </p:nvSpPr>
        <p:spPr>
          <a:xfrm xmlns:a="http://schemas.openxmlformats.org/drawingml/2006/main">
            <a:off x="8860307" y="3419856"/>
            <a:ext cx="24901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E8A184"/>
                </a:solidFill>
                <a:latin typeface="Arial"/>
                <a:ea typeface="Arial"/>
                <a:cs typeface="Arial"/>
              </a:rPr>
              <a:t>1</a:t>
            </a:r>
            <a:endParaRPr sz="2800"/>
          </a:p>
        </p:txBody>
      </p:sp>
      <p:sp>
        <p:nvSpPr>
          <p:cNvPr id="13" name="Text 11">
            <a:extLst xmlns:a="http://schemas.openxmlformats.org/drawingml/2006/main">
              <a:ext uri="{FF2B5EF4-FFF2-40B4-BE49-F238E27FC236}">
                <a16:creationId xmlns:a16="http://schemas.microsoft.com/office/drawing/2014/main" id="{72898122-2C05-4562-BA3D-EA8B3F410943}"/>
              </a:ext>
            </a:extLst>
          </p:cNvPr>
          <p:cNvSpPr>
            <a:spLocks xmlns:a="http://schemas.openxmlformats.org/drawingml/2006/main" noGrp="1"/>
          </p:cNvSpPr>
          <p:nvPr/>
        </p:nvSpPr>
        <p:spPr>
          <a:xfrm xmlns:a="http://schemas.openxmlformats.org/drawingml/2006/main">
            <a:off x="8860307" y="3913632"/>
            <a:ext cx="24901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200"/>
              </a:lnSpc>
              <a:buNone/>
            </a:pPr>
            <a:r>
              <a:rPr sz="950">
                <a:solidFill>
                  <a:srgbClr val="8FA9C4"/>
                </a:solidFill>
                <a:latin typeface="Arial"/>
                <a:ea typeface="Arial"/>
                <a:cs typeface="Arial"/>
              </a:rPr>
              <a:t>answer that works</a:t>
            </a:r>
            <a:endParaRPr sz="950"/>
          </a:p>
          <a:p xmlns:a="http://schemas.openxmlformats.org/drawingml/2006/main">
            <a:pPr marL="0" indent="0">
              <a:lnSpc>
                <a:spcPts val="1200"/>
              </a:lnSpc>
              <a:buNone/>
            </a:pPr>
            <a:r>
              <a:rPr sz="950">
                <a:solidFill>
                  <a:srgbClr val="8FA9C4"/>
                </a:solidFill>
                <a:latin typeface="Arial"/>
                <a:ea typeface="Arial"/>
                <a:cs typeface="Arial"/>
              </a:rPr>
              <a:t>every time</a:t>
            </a:r>
            <a:endParaRPr sz="950"/>
          </a:p>
        </p:txBody>
      </p:sp>
      <p:sp>
        <p:nvSpPr>
          <p:cNvPr id="14" name="Shape 12">
            <a:extLst xmlns:a="http://schemas.openxmlformats.org/drawingml/2006/main">
              <a:ext uri="{FF2B5EF4-FFF2-40B4-BE49-F238E27FC236}">
                <a16:creationId xmlns:a16="http://schemas.microsoft.com/office/drawing/2014/main" id="{2C1BBC51-2927-416A-9E3A-23BBDCDE704B}"/>
              </a:ext>
            </a:extLst>
          </p:cNvPr>
          <p:cNvSpPr>
            <a:spLocks xmlns:a="http://schemas.openxmlformats.org/drawingml/2006/main" noGrp="1"/>
          </p:cNvSpPr>
          <p:nvPr/>
        </p:nvSpPr>
        <p:spPr>
          <a:xfrm xmlns:a="http://schemas.openxmlformats.org/drawingml/2006/main">
            <a:off x="566928" y="4663440"/>
            <a:ext cx="11057839" cy="0"/>
          </a:xfrm>
          <a:prstGeom xmlns:a="http://schemas.openxmlformats.org/drawingml/2006/main" prst="line">
            <a:avLst/>
          </a:prstGeom>
          <a:noFill xmlns:a="http://schemas.openxmlformats.org/drawingml/2006/main"/>
          <a:ln xmlns:a="http://schemas.openxmlformats.org/drawingml/2006/main" w="12700">
            <a:solidFill>
              <a:srgbClr val="2C4A6B"/>
            </a:solidFill>
            <a:prstDash val="solid"/>
          </a:ln>
        </p:spPr>
      </p:sp>
      <p:sp>
        <p:nvSpPr>
          <p:cNvPr id="15" name="Text 13">
            <a:extLst xmlns:a="http://schemas.openxmlformats.org/drawingml/2006/main">
              <a:ext uri="{FF2B5EF4-FFF2-40B4-BE49-F238E27FC236}">
                <a16:creationId xmlns:a16="http://schemas.microsoft.com/office/drawing/2014/main" id="{D2708221-7083-49BF-8753-73ACA9A22B09}"/>
              </a:ext>
            </a:extLst>
          </p:cNvPr>
          <p:cNvSpPr>
            <a:spLocks xmlns:a="http://schemas.openxmlformats.org/drawingml/2006/main" noGrp="1"/>
          </p:cNvSpPr>
          <p:nvPr/>
        </p:nvSpPr>
        <p:spPr>
          <a:xfrm xmlns:a="http://schemas.openxmlformats.org/drawingml/2006/main">
            <a:off x="566928" y="4864608"/>
            <a:ext cx="11057839"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A8BFD4"/>
                </a:solidFill>
                <a:latin typeface="Arial"/>
                <a:ea typeface="Arial"/>
                <a:cs typeface="Arial"/>
              </a:rPr>
              <a:t>Read before any conversation where you will show more than one deck. Never hand this over.</a:t>
            </a:r>
            <a:endParaRPr sz="1100"/>
          </a:p>
        </p:txBody>
      </p:sp>
    </p:spTree>
    <p:extLst>
      <p:ext uri="{BB962C8B-B14F-4D97-AF65-F5344CB8AC3E}">
        <p14:creationId xmlns:p14="http://schemas.microsoft.com/office/powerpoint/2010/main" val="125314855"/>
      </p:ext>
    </p:extLst>
  </p:cSld>
</p:sld>
</file>

<file path=ppt/slides/slide30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AD8C70E-EB17-46B7-958C-C9EAAD1E21F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BENCHMARK-ANCHORED</a:t>
            </a:r>
            <a:endParaRPr sz="950"/>
          </a:p>
        </p:txBody>
      </p:sp>
      <p:sp>
        <p:nvSpPr>
          <p:cNvPr id="3" name="Text 1">
            <a:extLst xmlns:a="http://schemas.openxmlformats.org/drawingml/2006/main">
              <a:ext uri="{FF2B5EF4-FFF2-40B4-BE49-F238E27FC236}">
                <a16:creationId xmlns:a16="http://schemas.microsoft.com/office/drawing/2014/main" id="{0B6747E6-44F7-4C5A-AF0A-0834A8CCD6A6}"/>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Three models are now calibrated to published benchmarks — these you defend with</a:t>
            </a:r>
            <a:endParaRPr sz="1900"/>
          </a:p>
          <a:p xmlns:a="http://schemas.openxmlformats.org/drawingml/2006/main">
            <a:pPr marL="0" indent="0">
              <a:lnSpc>
                <a:spcPts val="2400"/>
              </a:lnSpc>
              <a:buNone/>
            </a:pPr>
            <a:r>
              <a:rPr sz="1900" b="1">
                <a:solidFill>
                  <a:srgbClr val="102A43"/>
                </a:solidFill>
                <a:latin typeface="Arial"/>
                <a:ea typeface="Arial"/>
                <a:cs typeface="Arial"/>
              </a:rPr>
              <a:t>a citation, not a caveat</a:t>
            </a:r>
            <a:endParaRPr sz="1900"/>
          </a:p>
        </p:txBody>
      </p:sp>
      <p:sp>
        <p:nvSpPr>
          <p:cNvPr id="4" name="Shape 2">
            <a:extLst xmlns:a="http://schemas.openxmlformats.org/drawingml/2006/main">
              <a:ext uri="{FF2B5EF4-FFF2-40B4-BE49-F238E27FC236}">
                <a16:creationId xmlns:a16="http://schemas.microsoft.com/office/drawing/2014/main" id="{AE33216A-8C9F-4D66-96ED-A5BD74E59C2C}"/>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AC11216D-176D-4D3B-8DB1-959E4108D169}"/>
              </a:ext>
            </a:extLst>
          </p:cNvPr>
          <p:cNvSpPr>
            <a:spLocks xmlns:a="http://schemas.openxmlformats.org/drawingml/2006/main" noGrp="1"/>
          </p:cNvSpPr>
          <p:nvPr/>
        </p:nvSpPr>
        <p:spPr>
          <a:xfrm xmlns:a="http://schemas.openxmlformats.org/drawingml/2006/main">
            <a:off x="676656" y="1444752"/>
            <a:ext cx="23408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Figure and deck</a:t>
            </a:r>
            <a:endParaRPr sz="920"/>
          </a:p>
        </p:txBody>
      </p:sp>
      <p:sp>
        <p:nvSpPr>
          <p:cNvPr id="6" name="Text 4">
            <a:extLst xmlns:a="http://schemas.openxmlformats.org/drawingml/2006/main">
              <a:ext uri="{FF2B5EF4-FFF2-40B4-BE49-F238E27FC236}">
                <a16:creationId xmlns:a16="http://schemas.microsoft.com/office/drawing/2014/main" id="{70246894-D92E-4259-A3D2-48C04CFAFEAF}"/>
              </a:ext>
            </a:extLst>
          </p:cNvPr>
          <p:cNvSpPr>
            <a:spLocks xmlns:a="http://schemas.openxmlformats.org/drawingml/2006/main" noGrp="1"/>
          </p:cNvSpPr>
          <p:nvPr/>
        </p:nvSpPr>
        <p:spPr>
          <a:xfrm xmlns:a="http://schemas.openxmlformats.org/drawingml/2006/main">
            <a:off x="3328416" y="1444752"/>
            <a:ext cx="17922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In the deck</a:t>
            </a:r>
            <a:endParaRPr sz="920"/>
          </a:p>
        </p:txBody>
      </p:sp>
      <p:sp>
        <p:nvSpPr>
          <p:cNvPr id="7" name="Text 5">
            <a:extLst xmlns:a="http://schemas.openxmlformats.org/drawingml/2006/main">
              <a:ext uri="{FF2B5EF4-FFF2-40B4-BE49-F238E27FC236}">
                <a16:creationId xmlns:a16="http://schemas.microsoft.com/office/drawing/2014/main" id="{918BB1C3-D653-4034-A2EF-2C53BFE08253}"/>
              </a:ext>
            </a:extLst>
          </p:cNvPr>
          <p:cNvSpPr>
            <a:spLocks xmlns:a="http://schemas.openxmlformats.org/drawingml/2006/main" noGrp="1"/>
          </p:cNvSpPr>
          <p:nvPr/>
        </p:nvSpPr>
        <p:spPr>
          <a:xfrm xmlns:a="http://schemas.openxmlformats.org/drawingml/2006/main">
            <a:off x="5431536" y="1444752"/>
            <a:ext cx="270662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Published benchmark it sits inside</a:t>
            </a:r>
            <a:endParaRPr sz="920"/>
          </a:p>
        </p:txBody>
      </p:sp>
      <p:sp>
        <p:nvSpPr>
          <p:cNvPr id="8" name="Text 6">
            <a:extLst xmlns:a="http://schemas.openxmlformats.org/drawingml/2006/main">
              <a:ext uri="{FF2B5EF4-FFF2-40B4-BE49-F238E27FC236}">
                <a16:creationId xmlns:a16="http://schemas.microsoft.com/office/drawing/2014/main" id="{AEEB8D3C-4180-44FB-BF48-D847C7B6CF74}"/>
              </a:ext>
            </a:extLst>
          </p:cNvPr>
          <p:cNvSpPr>
            <a:spLocks xmlns:a="http://schemas.openxmlformats.org/drawingml/2006/main" noGrp="1"/>
          </p:cNvSpPr>
          <p:nvPr/>
        </p:nvSpPr>
        <p:spPr>
          <a:xfrm xmlns:a="http://schemas.openxmlformats.org/drawingml/2006/main">
            <a:off x="8449056" y="1444752"/>
            <a:ext cx="306324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you say if challenged</a:t>
            </a:r>
            <a:endParaRPr sz="920"/>
          </a:p>
        </p:txBody>
      </p:sp>
      <p:sp>
        <p:nvSpPr>
          <p:cNvPr id="9" name="Text 7">
            <a:extLst xmlns:a="http://schemas.openxmlformats.org/drawingml/2006/main">
              <a:ext uri="{FF2B5EF4-FFF2-40B4-BE49-F238E27FC236}">
                <a16:creationId xmlns:a16="http://schemas.microsoft.com/office/drawing/2014/main" id="{45AAED63-0D45-4A7F-81C4-969E6198268C}"/>
              </a:ext>
            </a:extLst>
          </p:cNvPr>
          <p:cNvSpPr>
            <a:spLocks xmlns:a="http://schemas.openxmlformats.org/drawingml/2006/main" noGrp="1"/>
          </p:cNvSpPr>
          <p:nvPr/>
        </p:nvSpPr>
        <p:spPr>
          <a:xfrm xmlns:a="http://schemas.openxmlformats.org/drawingml/2006/main">
            <a:off x="676656" y="1956816"/>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RM time in client dialogue</a:t>
            </a:r>
            <a:endParaRPr sz="960"/>
          </a:p>
          <a:p xmlns:a="http://schemas.openxmlformats.org/drawingml/2006/main">
            <a:pPr marL="0" indent="0" algn="l">
              <a:lnSpc>
                <a:spcPts val="1400"/>
              </a:lnSpc>
              <a:buNone/>
            </a:pPr>
            <a:r>
              <a:rPr sz="960" b="1">
                <a:solidFill>
                  <a:srgbClr val="102A43"/>
                </a:solidFill>
                <a:latin typeface="Arial"/>
                <a:ea typeface="Arial"/>
                <a:cs typeface="Arial"/>
              </a:rPr>
              <a:t>Deck 11</a:t>
            </a:r>
            <a:endParaRPr sz="960"/>
          </a:p>
        </p:txBody>
      </p:sp>
      <p:sp>
        <p:nvSpPr>
          <p:cNvPr id="10" name="Text 8">
            <a:extLst xmlns:a="http://schemas.openxmlformats.org/drawingml/2006/main">
              <a:ext uri="{FF2B5EF4-FFF2-40B4-BE49-F238E27FC236}">
                <a16:creationId xmlns:a16="http://schemas.microsoft.com/office/drawing/2014/main" id="{4AE9725D-0F5D-4B81-B921-D121239B8236}"/>
              </a:ext>
            </a:extLst>
          </p:cNvPr>
          <p:cNvSpPr>
            <a:spLocks xmlns:a="http://schemas.openxmlformats.org/drawingml/2006/main" noGrp="1"/>
          </p:cNvSpPr>
          <p:nvPr/>
        </p:nvSpPr>
        <p:spPr>
          <a:xfrm xmlns:a="http://schemas.openxmlformats.org/drawingml/2006/main">
            <a:off x="3328416" y="1956816"/>
            <a:ext cx="17922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27%</a:t>
            </a:r>
            <a:endParaRPr sz="960"/>
          </a:p>
        </p:txBody>
      </p:sp>
      <p:sp>
        <p:nvSpPr>
          <p:cNvPr id="11" name="Text 9">
            <a:extLst xmlns:a="http://schemas.openxmlformats.org/drawingml/2006/main">
              <a:ext uri="{FF2B5EF4-FFF2-40B4-BE49-F238E27FC236}">
                <a16:creationId xmlns:a16="http://schemas.microsoft.com/office/drawing/2014/main" id="{3107A42B-95A6-4BD8-9F99-932D94B85166}"/>
              </a:ext>
            </a:extLst>
          </p:cNvPr>
          <p:cNvSpPr>
            <a:spLocks xmlns:a="http://schemas.openxmlformats.org/drawingml/2006/main" noGrp="1"/>
          </p:cNvSpPr>
          <p:nvPr/>
        </p:nvSpPr>
        <p:spPr>
          <a:xfrm xmlns:a="http://schemas.openxmlformats.org/drawingml/2006/main">
            <a:off x="5431536" y="1956816"/>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Commercial-bank RMs spend 25–30% of time in client dialogue; up to 60% administrative</a:t>
            </a:r>
            <a:endParaRPr sz="920"/>
          </a:p>
        </p:txBody>
      </p:sp>
      <p:sp>
        <p:nvSpPr>
          <p:cNvPr id="12" name="Text 10">
            <a:extLst xmlns:a="http://schemas.openxmlformats.org/drawingml/2006/main">
              <a:ext uri="{FF2B5EF4-FFF2-40B4-BE49-F238E27FC236}">
                <a16:creationId xmlns:a16="http://schemas.microsoft.com/office/drawing/2014/main" id="{DE3789D7-9C38-4015-A209-921B68574701}"/>
              </a:ext>
            </a:extLst>
          </p:cNvPr>
          <p:cNvSpPr>
            <a:spLocks xmlns:a="http://schemas.openxmlformats.org/drawingml/2006/main" noGrp="1"/>
          </p:cNvSpPr>
          <p:nvPr/>
        </p:nvSpPr>
        <p:spPr>
          <a:xfrm xmlns:a="http://schemas.openxmlformats.org/drawingml/2006/main">
            <a:off x="8449056" y="1956816"/>
            <a:ext cx="3063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“That is the published commercial-banking band. If your own figure differs I would want to know, because the design changes.”</a:t>
            </a:r>
            <a:endParaRPr sz="920"/>
          </a:p>
        </p:txBody>
      </p:sp>
      <p:sp>
        <p:nvSpPr>
          <p:cNvPr id="13" name="Shape 11">
            <a:extLst xmlns:a="http://schemas.openxmlformats.org/drawingml/2006/main">
              <a:ext uri="{FF2B5EF4-FFF2-40B4-BE49-F238E27FC236}">
                <a16:creationId xmlns:a16="http://schemas.microsoft.com/office/drawing/2014/main" id="{236C50AB-794E-485A-A037-5F48A7375733}"/>
              </a:ext>
            </a:extLst>
          </p:cNvPr>
          <p:cNvSpPr>
            <a:spLocks xmlns:a="http://schemas.openxmlformats.org/drawingml/2006/main" noGrp="1"/>
          </p:cNvSpPr>
          <p:nvPr/>
        </p:nvSpPr>
        <p:spPr>
          <a:xfrm xmlns:a="http://schemas.openxmlformats.org/drawingml/2006/main">
            <a:off x="566928" y="2487168"/>
            <a:ext cx="11057839" cy="7315"/>
          </a:xfrm>
          <a:prstGeom xmlns:a="http://schemas.openxmlformats.org/drawingml/2006/main" prst="rect">
            <a:avLst/>
          </a:prstGeom>
          <a:solidFill xmlns:a="http://schemas.openxmlformats.org/drawingml/2006/main">
            <a:srgbClr val="CBD5E0"/>
          </a:solidFill>
        </p:spPr>
      </p:sp>
      <p:sp>
        <p:nvSpPr>
          <p:cNvPr id="14" name="Shape 12">
            <a:extLst xmlns:a="http://schemas.openxmlformats.org/drawingml/2006/main">
              <a:ext uri="{FF2B5EF4-FFF2-40B4-BE49-F238E27FC236}">
                <a16:creationId xmlns:a16="http://schemas.microsoft.com/office/drawing/2014/main" id="{90B976E5-D11B-4FBA-8005-189264AC651A}"/>
              </a:ext>
            </a:extLst>
          </p:cNvPr>
          <p:cNvSpPr>
            <a:spLocks xmlns:a="http://schemas.openxmlformats.org/drawingml/2006/main" noGrp="1"/>
          </p:cNvSpPr>
          <p:nvPr/>
        </p:nvSpPr>
        <p:spPr>
          <a:xfrm xmlns:a="http://schemas.openxmlformats.org/drawingml/2006/main">
            <a:off x="566928" y="2487168"/>
            <a:ext cx="11057839" cy="786384"/>
          </a:xfrm>
          <a:prstGeom xmlns:a="http://schemas.openxmlformats.org/drawingml/2006/main" prst="rect">
            <a:avLst/>
          </a:prstGeom>
          <a:solidFill xmlns:a="http://schemas.openxmlformats.org/drawingml/2006/main">
            <a:srgbClr val="F7F9FB"/>
          </a:solidFill>
        </p:spPr>
      </p:sp>
      <p:sp>
        <p:nvSpPr>
          <p:cNvPr id="15" name="Text 13">
            <a:extLst xmlns:a="http://schemas.openxmlformats.org/drawingml/2006/main">
              <a:ext uri="{FF2B5EF4-FFF2-40B4-BE49-F238E27FC236}">
                <a16:creationId xmlns:a16="http://schemas.microsoft.com/office/drawing/2014/main" id="{7AC2D4EA-0D7B-4CCD-B495-A2D5480220E5}"/>
              </a:ext>
            </a:extLst>
          </p:cNvPr>
          <p:cNvSpPr>
            <a:spLocks xmlns:a="http://schemas.openxmlformats.org/drawingml/2006/main" noGrp="1"/>
          </p:cNvSpPr>
          <p:nvPr/>
        </p:nvSpPr>
        <p:spPr>
          <a:xfrm xmlns:a="http://schemas.openxmlformats.org/drawingml/2006/main">
            <a:off x="676656" y="2743200"/>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Funded-in-session uplift</a:t>
            </a:r>
            <a:endParaRPr sz="960"/>
          </a:p>
          <a:p xmlns:a="http://schemas.openxmlformats.org/drawingml/2006/main">
            <a:pPr marL="0" indent="0" algn="l">
              <a:lnSpc>
                <a:spcPts val="1400"/>
              </a:lnSpc>
              <a:buNone/>
            </a:pPr>
            <a:r>
              <a:rPr sz="960" b="1">
                <a:solidFill>
                  <a:srgbClr val="102A43"/>
                </a:solidFill>
                <a:latin typeface="Arial"/>
                <a:ea typeface="Arial"/>
                <a:cs typeface="Arial"/>
              </a:rPr>
              <a:t>Decks 01, 02</a:t>
            </a:r>
            <a:endParaRPr sz="960"/>
          </a:p>
        </p:txBody>
      </p:sp>
      <p:sp>
        <p:nvSpPr>
          <p:cNvPr id="16" name="Text 14">
            <a:extLst xmlns:a="http://schemas.openxmlformats.org/drawingml/2006/main">
              <a:ext uri="{FF2B5EF4-FFF2-40B4-BE49-F238E27FC236}">
                <a16:creationId xmlns:a16="http://schemas.microsoft.com/office/drawing/2014/main" id="{2FB4CF3D-658F-490A-A4C3-9843FD7EA54F}"/>
              </a:ext>
            </a:extLst>
          </p:cNvPr>
          <p:cNvSpPr>
            <a:spLocks xmlns:a="http://schemas.openxmlformats.org/drawingml/2006/main" noGrp="1"/>
          </p:cNvSpPr>
          <p:nvPr/>
        </p:nvSpPr>
        <p:spPr>
          <a:xfrm xmlns:a="http://schemas.openxmlformats.org/drawingml/2006/main">
            <a:off x="3328416" y="2743200"/>
            <a:ext cx="17922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34% → 61%</a:t>
            </a:r>
            <a:endParaRPr sz="960"/>
          </a:p>
        </p:txBody>
      </p:sp>
      <p:sp>
        <p:nvSpPr>
          <p:cNvPr id="17" name="Text 15">
            <a:extLst xmlns:a="http://schemas.openxmlformats.org/drawingml/2006/main">
              <a:ext uri="{FF2B5EF4-FFF2-40B4-BE49-F238E27FC236}">
                <a16:creationId xmlns:a16="http://schemas.microsoft.com/office/drawing/2014/main" id="{1C8BEC4C-DBF8-4CCA-8F43-8C2532DDCA40}"/>
              </a:ext>
            </a:extLst>
          </p:cNvPr>
          <p:cNvSpPr>
            <a:spLocks xmlns:a="http://schemas.openxmlformats.org/drawingml/2006/main" noGrp="1"/>
          </p:cNvSpPr>
          <p:nvPr/>
        </p:nvSpPr>
        <p:spPr>
          <a:xfrm xmlns:a="http://schemas.openxmlformats.org/drawingml/2006/main">
            <a:off x="5431536" y="2743200"/>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51–68% digital account-opening abandonment; instant funding converts materially above deferred</a:t>
            </a:r>
            <a:endParaRPr sz="920"/>
          </a:p>
        </p:txBody>
      </p:sp>
      <p:sp>
        <p:nvSpPr>
          <p:cNvPr id="18" name="Text 16">
            <a:extLst xmlns:a="http://schemas.openxmlformats.org/drawingml/2006/main">
              <a:ext uri="{FF2B5EF4-FFF2-40B4-BE49-F238E27FC236}">
                <a16:creationId xmlns:a16="http://schemas.microsoft.com/office/drawing/2014/main" id="{93FCD7D9-355E-4E85-88D7-50E0569F79E9}"/>
              </a:ext>
            </a:extLst>
          </p:cNvPr>
          <p:cNvSpPr>
            <a:spLocks xmlns:a="http://schemas.openxmlformats.org/drawingml/2006/main" noGrp="1"/>
          </p:cNvSpPr>
          <p:nvPr/>
        </p:nvSpPr>
        <p:spPr>
          <a:xfrm xmlns:a="http://schemas.openxmlformats.org/drawingml/2006/main">
            <a:off x="8449056" y="2743200"/>
            <a:ext cx="3063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“Modelled against the published abandonment band. The uplift is in line with documented cases of instant-funding redesign.”</a:t>
            </a:r>
            <a:endParaRPr sz="920"/>
          </a:p>
        </p:txBody>
      </p:sp>
      <p:sp>
        <p:nvSpPr>
          <p:cNvPr id="19" name="Shape 17">
            <a:extLst xmlns:a="http://schemas.openxmlformats.org/drawingml/2006/main">
              <a:ext uri="{FF2B5EF4-FFF2-40B4-BE49-F238E27FC236}">
                <a16:creationId xmlns:a16="http://schemas.microsoft.com/office/drawing/2014/main" id="{464B0A72-671C-46A4-83E2-1F2E60B1544C}"/>
              </a:ext>
            </a:extLst>
          </p:cNvPr>
          <p:cNvSpPr>
            <a:spLocks xmlns:a="http://schemas.openxmlformats.org/drawingml/2006/main" noGrp="1"/>
          </p:cNvSpPr>
          <p:nvPr/>
        </p:nvSpPr>
        <p:spPr>
          <a:xfrm xmlns:a="http://schemas.openxmlformats.org/drawingml/2006/main">
            <a:off x="566928" y="3273552"/>
            <a:ext cx="11057839" cy="7315"/>
          </a:xfrm>
          <a:prstGeom xmlns:a="http://schemas.openxmlformats.org/drawingml/2006/main" prst="rect">
            <a:avLst/>
          </a:prstGeom>
          <a:solidFill xmlns:a="http://schemas.openxmlformats.org/drawingml/2006/main">
            <a:srgbClr val="CBD5E0"/>
          </a:solidFill>
        </p:spPr>
      </p:sp>
      <p:sp>
        <p:nvSpPr>
          <p:cNvPr id="20" name="Text 18">
            <a:extLst xmlns:a="http://schemas.openxmlformats.org/drawingml/2006/main">
              <a:ext uri="{FF2B5EF4-FFF2-40B4-BE49-F238E27FC236}">
                <a16:creationId xmlns:a16="http://schemas.microsoft.com/office/drawing/2014/main" id="{CA9CA311-B7C8-460B-8B4A-7C0709822FDA}"/>
              </a:ext>
            </a:extLst>
          </p:cNvPr>
          <p:cNvSpPr>
            <a:spLocks xmlns:a="http://schemas.openxmlformats.org/drawingml/2006/main" noGrp="1"/>
          </p:cNvSpPr>
          <p:nvPr/>
        </p:nvSpPr>
        <p:spPr>
          <a:xfrm xmlns:a="http://schemas.openxmlformats.org/drawingml/2006/main">
            <a:off x="676656" y="3529584"/>
            <a:ext cx="23408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102A43"/>
                </a:solidFill>
                <a:latin typeface="Arial"/>
                <a:ea typeface="Arial"/>
                <a:cs typeface="Arial"/>
              </a:rPr>
              <a:t>Blended servicing deflection</a:t>
            </a:r>
            <a:endParaRPr sz="960"/>
          </a:p>
          <a:p xmlns:a="http://schemas.openxmlformats.org/drawingml/2006/main">
            <a:pPr marL="0" indent="0" algn="l">
              <a:lnSpc>
                <a:spcPts val="1400"/>
              </a:lnSpc>
              <a:buNone/>
            </a:pPr>
            <a:r>
              <a:rPr sz="960" b="1">
                <a:solidFill>
                  <a:srgbClr val="102A43"/>
                </a:solidFill>
                <a:latin typeface="Arial"/>
                <a:ea typeface="Arial"/>
                <a:cs typeface="Arial"/>
              </a:rPr>
              <a:t>Decks 01, 02</a:t>
            </a:r>
            <a:endParaRPr sz="960"/>
          </a:p>
        </p:txBody>
      </p:sp>
      <p:sp>
        <p:nvSpPr>
          <p:cNvPr id="21" name="Text 19">
            <a:extLst xmlns:a="http://schemas.openxmlformats.org/drawingml/2006/main">
              <a:ext uri="{FF2B5EF4-FFF2-40B4-BE49-F238E27FC236}">
                <a16:creationId xmlns:a16="http://schemas.microsoft.com/office/drawing/2014/main" id="{3D134F07-86C7-4742-816D-EAC2A15EC411}"/>
              </a:ext>
            </a:extLst>
          </p:cNvPr>
          <p:cNvSpPr>
            <a:spLocks xmlns:a="http://schemas.openxmlformats.org/drawingml/2006/main" noGrp="1"/>
          </p:cNvSpPr>
          <p:nvPr/>
        </p:nvSpPr>
        <p:spPr>
          <a:xfrm xmlns:a="http://schemas.openxmlformats.org/drawingml/2006/main">
            <a:off x="3328416" y="3529584"/>
            <a:ext cx="17922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60" b="1">
                <a:solidFill>
                  <a:srgbClr val="B04A25"/>
                </a:solidFill>
                <a:latin typeface="Arial"/>
                <a:ea typeface="Arial"/>
                <a:cs typeface="Arial"/>
              </a:rPr>
              <a:t>38%</a:t>
            </a:r>
            <a:endParaRPr sz="960"/>
          </a:p>
        </p:txBody>
      </p:sp>
      <p:sp>
        <p:nvSpPr>
          <p:cNvPr id="22" name="Text 20">
            <a:extLst xmlns:a="http://schemas.openxmlformats.org/drawingml/2006/main">
              <a:ext uri="{FF2B5EF4-FFF2-40B4-BE49-F238E27FC236}">
                <a16:creationId xmlns:a16="http://schemas.microsoft.com/office/drawing/2014/main" id="{FB106CD0-493C-4EBF-90DF-4353DAA30B3A}"/>
              </a:ext>
            </a:extLst>
          </p:cNvPr>
          <p:cNvSpPr>
            <a:spLocks xmlns:a="http://schemas.openxmlformats.org/drawingml/2006/main" noGrp="1"/>
          </p:cNvSpPr>
          <p:nvPr/>
        </p:nvSpPr>
        <p:spPr>
          <a:xfrm xmlns:a="http://schemas.openxmlformats.org/drawingml/2006/main">
            <a:off x="5431536" y="3529584"/>
            <a:ext cx="270662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Financial services 25–45% blended; simple retrieval above 70%; judgement-based rarely above 25%</a:t>
            </a:r>
            <a:endParaRPr sz="920"/>
          </a:p>
        </p:txBody>
      </p:sp>
      <p:sp>
        <p:nvSpPr>
          <p:cNvPr id="23" name="Text 21">
            <a:extLst xmlns:a="http://schemas.openxmlformats.org/drawingml/2006/main">
              <a:ext uri="{FF2B5EF4-FFF2-40B4-BE49-F238E27FC236}">
                <a16:creationId xmlns:a16="http://schemas.microsoft.com/office/drawing/2014/main" id="{0C5F5214-981C-4E41-90D0-9BEDE6596903}"/>
              </a:ext>
            </a:extLst>
          </p:cNvPr>
          <p:cNvSpPr>
            <a:spLocks xmlns:a="http://schemas.openxmlformats.org/drawingml/2006/main" noGrp="1"/>
          </p:cNvSpPr>
          <p:nvPr/>
        </p:nvSpPr>
        <p:spPr>
          <a:xfrm xmlns:a="http://schemas.openxmlformats.org/drawingml/2006/main">
            <a:off x="8449056" y="3529584"/>
            <a:ext cx="30632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“Mid-band for financial services. The spread across the eleven categories is the point, and it matches the published pattern.”</a:t>
            </a:r>
            <a:endParaRPr sz="920"/>
          </a:p>
        </p:txBody>
      </p:sp>
      <p:sp>
        <p:nvSpPr>
          <p:cNvPr id="24" name="Shape 22">
            <a:extLst xmlns:a="http://schemas.openxmlformats.org/drawingml/2006/main">
              <a:ext uri="{FF2B5EF4-FFF2-40B4-BE49-F238E27FC236}">
                <a16:creationId xmlns:a16="http://schemas.microsoft.com/office/drawing/2014/main" id="{1742251E-80CE-4A9A-AB84-F2432EF0BBFF}"/>
              </a:ext>
            </a:extLst>
          </p:cNvPr>
          <p:cNvSpPr>
            <a:spLocks xmlns:a="http://schemas.openxmlformats.org/drawingml/2006/main" noGrp="1"/>
          </p:cNvSpPr>
          <p:nvPr/>
        </p:nvSpPr>
        <p:spPr>
          <a:xfrm xmlns:a="http://schemas.openxmlformats.org/drawingml/2006/main">
            <a:off x="566928" y="4059936"/>
            <a:ext cx="11057839" cy="7315"/>
          </a:xfrm>
          <a:prstGeom xmlns:a="http://schemas.openxmlformats.org/drawingml/2006/main" prst="rect">
            <a:avLst/>
          </a:prstGeom>
          <a:solidFill xmlns:a="http://schemas.openxmlformats.org/drawingml/2006/main">
            <a:srgbClr val="CBD5E0"/>
          </a:solidFill>
        </p:spPr>
      </p:sp>
      <p:sp>
        <p:nvSpPr>
          <p:cNvPr id="25" name="Shape 23">
            <a:extLst xmlns:a="http://schemas.openxmlformats.org/drawingml/2006/main">
              <a:ext uri="{FF2B5EF4-FFF2-40B4-BE49-F238E27FC236}">
                <a16:creationId xmlns:a16="http://schemas.microsoft.com/office/drawing/2014/main" id="{48ECE5B3-C214-4FB3-8A83-5B37F6E7E900}"/>
              </a:ext>
            </a:extLst>
          </p:cNvPr>
          <p:cNvSpPr>
            <a:spLocks xmlns:a="http://schemas.openxmlformats.org/drawingml/2006/main" noGrp="1"/>
          </p:cNvSpPr>
          <p:nvPr/>
        </p:nvSpPr>
        <p:spPr>
          <a:xfrm xmlns:a="http://schemas.openxmlformats.org/drawingml/2006/main">
            <a:off x="566928" y="4334256"/>
            <a:ext cx="11057839" cy="1371600"/>
          </a:xfrm>
          <a:prstGeom xmlns:a="http://schemas.openxmlformats.org/drawingml/2006/main" prst="rect">
            <a:avLst/>
          </a:prstGeom>
          <a:solidFill xmlns:a="http://schemas.openxmlformats.org/drawingml/2006/main">
            <a:srgbClr val="F3E6E0"/>
          </a:solidFill>
        </p:spPr>
      </p:sp>
      <p:sp>
        <p:nvSpPr>
          <p:cNvPr id="26" name="Text 24">
            <a:extLst xmlns:a="http://schemas.openxmlformats.org/drawingml/2006/main">
              <a:ext uri="{FF2B5EF4-FFF2-40B4-BE49-F238E27FC236}">
                <a16:creationId xmlns:a16="http://schemas.microsoft.com/office/drawing/2014/main" id="{B4AEC493-C16E-4211-907F-08BDED4655C6}"/>
              </a:ext>
            </a:extLst>
          </p:cNvPr>
          <p:cNvSpPr>
            <a:spLocks xmlns:a="http://schemas.openxmlformats.org/drawingml/2006/main" noGrp="1"/>
          </p:cNvSpPr>
          <p:nvPr/>
        </p:nvSpPr>
        <p:spPr>
          <a:xfrm xmlns:a="http://schemas.openxmlformats.org/drawingml/2006/main">
            <a:off x="804672" y="448056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Why calibration changes the conversation</a:t>
            </a:r>
            <a:endParaRPr sz="1100"/>
          </a:p>
        </p:txBody>
      </p:sp>
      <p:sp>
        <p:nvSpPr>
          <p:cNvPr id="27" name="Text 25">
            <a:extLst xmlns:a="http://schemas.openxmlformats.org/drawingml/2006/main">
              <a:ext uri="{FF2B5EF4-FFF2-40B4-BE49-F238E27FC236}">
                <a16:creationId xmlns:a16="http://schemas.microsoft.com/office/drawing/2014/main" id="{79359A24-96B1-4BB0-BDE9-D577A74D2EAE}"/>
              </a:ext>
            </a:extLst>
          </p:cNvPr>
          <p:cNvSpPr>
            <a:spLocks xmlns:a="http://schemas.openxmlformats.org/drawingml/2006/main" noGrp="1"/>
          </p:cNvSpPr>
          <p:nvPr/>
        </p:nvSpPr>
        <p:spPr>
          <a:xfrm xmlns:a="http://schemas.openxmlformats.org/drawingml/2006/main">
            <a:off x="804672" y="4736592"/>
            <a:ext cx="10582351" cy="8595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An unsourced number invites “where did that come from?” and there is no good answer. A benchmark-anchored number invites the same question and has one — and the follow-up is usually agreement, because the interviewer recognises the band.</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It also lets you say the more interesting thing: that you would want the institution's own figure, because the design changes depending on where they actually sit. That answer demonstrates judgement rather than defensiveness, and it is true.</a:t>
            </a:r>
            <a:endParaRPr sz="990"/>
          </a:p>
        </p:txBody>
      </p:sp>
      <p:sp>
        <p:nvSpPr>
          <p:cNvPr id="28" name="Shape 26">
            <a:extLst xmlns:a="http://schemas.openxmlformats.org/drawingml/2006/main">
              <a:ext uri="{FF2B5EF4-FFF2-40B4-BE49-F238E27FC236}">
                <a16:creationId xmlns:a16="http://schemas.microsoft.com/office/drawing/2014/main" id="{10C0B1F6-8274-4E8D-9BE7-915DBEBD5D8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9" name="Text 27">
            <a:extLst xmlns:a="http://schemas.openxmlformats.org/drawingml/2006/main">
              <a:ext uri="{FF2B5EF4-FFF2-40B4-BE49-F238E27FC236}">
                <a16:creationId xmlns:a16="http://schemas.microsoft.com/office/drawing/2014/main" id="{0D3E6FD2-7CB4-4DFA-9F3B-37981E74361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Published industry benchmarks · author's calibration</a:t>
            </a:r>
            <a:endParaRPr sz="850"/>
          </a:p>
        </p:txBody>
      </p:sp>
      <p:sp>
        <p:nvSpPr>
          <p:cNvPr id="30" name="Text 28">
            <a:extLst xmlns:a="http://schemas.openxmlformats.org/drawingml/2006/main">
              <a:ext uri="{FF2B5EF4-FFF2-40B4-BE49-F238E27FC236}">
                <a16:creationId xmlns:a16="http://schemas.microsoft.com/office/drawing/2014/main" id="{6881A6A2-4D54-4832-A31D-03DBFE6E1A44}"/>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2</a:t>
            </a:r>
            <a:endParaRPr sz="850"/>
          </a:p>
        </p:txBody>
      </p:sp>
    </p:spTree>
    <p:extLst>
      <p:ext uri="{BB962C8B-B14F-4D97-AF65-F5344CB8AC3E}">
        <p14:creationId xmlns:p14="http://schemas.microsoft.com/office/powerpoint/2010/main" val="975953029"/>
      </p:ext>
    </p:extLst>
  </p:cSld>
</p:sld>
</file>

<file path=ppt/slides/slide30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9255CB7-18F9-4B51-B25D-8895DF5D0CB6}"/>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STRUCTURAL MODELS</a:t>
            </a:r>
            <a:endParaRPr sz="950"/>
          </a:p>
        </p:txBody>
      </p:sp>
      <p:sp>
        <p:nvSpPr>
          <p:cNvPr id="3" name="Text 1">
            <a:extLst xmlns:a="http://schemas.openxmlformats.org/drawingml/2006/main">
              <a:ext uri="{FF2B5EF4-FFF2-40B4-BE49-F238E27FC236}">
                <a16:creationId xmlns:a16="http://schemas.microsoft.com/office/drawing/2014/main" id="{A4C84582-B3FE-4A83-9232-B9C99AEBD0E3}"/>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Eleven figures make a shape argument rather than a measurement claim — defend the</a:t>
            </a:r>
            <a:endParaRPr sz="1900"/>
          </a:p>
          <a:p xmlns:a="http://schemas.openxmlformats.org/drawingml/2006/main">
            <a:pPr marL="0" indent="0">
              <a:lnSpc>
                <a:spcPts val="2400"/>
              </a:lnSpc>
              <a:buNone/>
            </a:pPr>
            <a:r>
              <a:rPr sz="1900" b="1">
                <a:solidFill>
                  <a:srgbClr val="102A43"/>
                </a:solidFill>
                <a:latin typeface="Arial"/>
                <a:ea typeface="Arial"/>
                <a:cs typeface="Arial"/>
              </a:rPr>
              <a:t>shape, concede the values immediately</a:t>
            </a:r>
            <a:endParaRPr sz="1900"/>
          </a:p>
        </p:txBody>
      </p:sp>
      <p:sp>
        <p:nvSpPr>
          <p:cNvPr id="4" name="Shape 2">
            <a:extLst xmlns:a="http://schemas.openxmlformats.org/drawingml/2006/main">
              <a:ext uri="{FF2B5EF4-FFF2-40B4-BE49-F238E27FC236}">
                <a16:creationId xmlns:a16="http://schemas.microsoft.com/office/drawing/2014/main" id="{58E61E38-64B6-4556-96C8-0CC69A0081D0}"/>
              </a:ext>
            </a:extLst>
          </p:cNvPr>
          <p:cNvSpPr>
            <a:spLocks xmlns:a="http://schemas.openxmlformats.org/drawingml/2006/main" noGrp="1"/>
          </p:cNvSpPr>
          <p:nvPr/>
        </p:nvSpPr>
        <p:spPr>
          <a:xfrm xmlns:a="http://schemas.openxmlformats.org/drawingml/2006/main">
            <a:off x="566928" y="1335024"/>
            <a:ext cx="11057839" cy="365760"/>
          </a:xfrm>
          <a:prstGeom xmlns:a="http://schemas.openxmlformats.org/drawingml/2006/main" prst="rect">
            <a:avLst/>
          </a:prstGeom>
          <a:solidFill xmlns:a="http://schemas.openxmlformats.org/drawingml/2006/main">
            <a:srgbClr val="E3EAF2"/>
          </a:solidFill>
        </p:spPr>
      </p:sp>
      <p:sp>
        <p:nvSpPr>
          <p:cNvPr id="5" name="Text 3">
            <a:extLst xmlns:a="http://schemas.openxmlformats.org/drawingml/2006/main">
              <a:ext uri="{FF2B5EF4-FFF2-40B4-BE49-F238E27FC236}">
                <a16:creationId xmlns:a16="http://schemas.microsoft.com/office/drawing/2014/main" id="{6689C39B-4D70-4A91-8572-F82D88DDE385}"/>
              </a:ext>
            </a:extLst>
          </p:cNvPr>
          <p:cNvSpPr>
            <a:spLocks xmlns:a="http://schemas.openxmlformats.org/drawingml/2006/main" noGrp="1"/>
          </p:cNvSpPr>
          <p:nvPr/>
        </p:nvSpPr>
        <p:spPr>
          <a:xfrm xmlns:a="http://schemas.openxmlformats.org/drawingml/2006/main">
            <a:off x="676656" y="1444752"/>
            <a:ext cx="371246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Model</a:t>
            </a:r>
            <a:endParaRPr sz="920"/>
          </a:p>
        </p:txBody>
      </p:sp>
      <p:sp>
        <p:nvSpPr>
          <p:cNvPr id="6" name="Text 4">
            <a:extLst xmlns:a="http://schemas.openxmlformats.org/drawingml/2006/main">
              <a:ext uri="{FF2B5EF4-FFF2-40B4-BE49-F238E27FC236}">
                <a16:creationId xmlns:a16="http://schemas.microsoft.com/office/drawing/2014/main" id="{56749A9F-9C78-47DF-AD07-4F348DFA6722}"/>
              </a:ext>
            </a:extLst>
          </p:cNvPr>
          <p:cNvSpPr>
            <a:spLocks xmlns:a="http://schemas.openxmlformats.org/drawingml/2006/main" noGrp="1"/>
          </p:cNvSpPr>
          <p:nvPr/>
        </p:nvSpPr>
        <p:spPr>
          <a:xfrm xmlns:a="http://schemas.openxmlformats.org/drawingml/2006/main">
            <a:off x="4700016" y="1444752"/>
            <a:ext cx="3346704"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What it is arguing</a:t>
            </a:r>
            <a:endParaRPr sz="920"/>
          </a:p>
        </p:txBody>
      </p:sp>
      <p:sp>
        <p:nvSpPr>
          <p:cNvPr id="7" name="Text 5">
            <a:extLst xmlns:a="http://schemas.openxmlformats.org/drawingml/2006/main">
              <a:ext uri="{FF2B5EF4-FFF2-40B4-BE49-F238E27FC236}">
                <a16:creationId xmlns:a16="http://schemas.microsoft.com/office/drawing/2014/main" id="{16B3FABB-93E7-464C-8FCB-1901E13BC99A}"/>
              </a:ext>
            </a:extLst>
          </p:cNvPr>
          <p:cNvSpPr>
            <a:spLocks xmlns:a="http://schemas.openxmlformats.org/drawingml/2006/main" noGrp="1"/>
          </p:cNvSpPr>
          <p:nvPr/>
        </p:nvSpPr>
        <p:spPr>
          <a:xfrm xmlns:a="http://schemas.openxmlformats.org/drawingml/2006/main">
            <a:off x="8357616" y="1444752"/>
            <a:ext cx="315468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b="1">
                <a:solidFill>
                  <a:srgbClr val="102A43"/>
                </a:solidFill>
                <a:latin typeface="Arial"/>
                <a:ea typeface="Arial"/>
                <a:cs typeface="Arial"/>
              </a:rPr>
              <a:t>Concede this, hold that</a:t>
            </a:r>
            <a:endParaRPr sz="920"/>
          </a:p>
        </p:txBody>
      </p:sp>
      <p:sp>
        <p:nvSpPr>
          <p:cNvPr id="8" name="Text 6">
            <a:extLst xmlns:a="http://schemas.openxmlformats.org/drawingml/2006/main">
              <a:ext uri="{FF2B5EF4-FFF2-40B4-BE49-F238E27FC236}">
                <a16:creationId xmlns:a16="http://schemas.microsoft.com/office/drawing/2014/main" id="{3F0388B0-9B3A-4628-B179-72807D564CE3}"/>
              </a:ext>
            </a:extLst>
          </p:cNvPr>
          <p:cNvSpPr>
            <a:spLocks xmlns:a="http://schemas.openxmlformats.org/drawingml/2006/main" noGrp="1"/>
          </p:cNvSpPr>
          <p:nvPr/>
        </p:nvSpPr>
        <p:spPr>
          <a:xfrm xmlns:a="http://schemas.openxmlformats.org/drawingml/2006/main">
            <a:off x="676656" y="177393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Effort curve, decks 01 / 14 / 25</a:t>
            </a:r>
            <a:endParaRPr sz="950"/>
          </a:p>
        </p:txBody>
      </p:sp>
      <p:sp>
        <p:nvSpPr>
          <p:cNvPr id="9" name="Text 7">
            <a:extLst xmlns:a="http://schemas.openxmlformats.org/drawingml/2006/main">
              <a:ext uri="{FF2B5EF4-FFF2-40B4-BE49-F238E27FC236}">
                <a16:creationId xmlns:a16="http://schemas.microsoft.com/office/drawing/2014/main" id="{5FE92E2A-9253-4258-9362-47DE54686617}"/>
              </a:ext>
            </a:extLst>
          </p:cNvPr>
          <p:cNvSpPr>
            <a:spLocks xmlns:a="http://schemas.openxmlformats.org/drawingml/2006/main" noGrp="1"/>
          </p:cNvSpPr>
          <p:nvPr/>
        </p:nvSpPr>
        <p:spPr>
          <a:xfrm xmlns:a="http://schemas.openxmlformats.org/drawingml/2006/main">
            <a:off x="4700016" y="177393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Marginal cost falls as reuse compounds</a:t>
            </a:r>
            <a:endParaRPr sz="920"/>
          </a:p>
        </p:txBody>
      </p:sp>
      <p:sp>
        <p:nvSpPr>
          <p:cNvPr id="10" name="Text 8">
            <a:extLst xmlns:a="http://schemas.openxmlformats.org/drawingml/2006/main">
              <a:ext uri="{FF2B5EF4-FFF2-40B4-BE49-F238E27FC236}">
                <a16:creationId xmlns:a16="http://schemas.microsoft.com/office/drawing/2014/main" id="{D9F98BCF-3905-4A15-8473-F90BB1B295E9}"/>
              </a:ext>
            </a:extLst>
          </p:cNvPr>
          <p:cNvSpPr>
            <a:spLocks xmlns:a="http://schemas.openxmlformats.org/drawingml/2006/main" noGrp="1"/>
          </p:cNvSpPr>
          <p:nvPr/>
        </p:nvSpPr>
        <p:spPr>
          <a:xfrm xmlns:a="http://schemas.openxmlformats.org/drawingml/2006/main">
            <a:off x="8357616" y="1773936"/>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declining shape is the finding</a:t>
            </a:r>
            <a:endParaRPr sz="920"/>
          </a:p>
        </p:txBody>
      </p:sp>
      <p:sp>
        <p:nvSpPr>
          <p:cNvPr id="11" name="Shape 9">
            <a:extLst xmlns:a="http://schemas.openxmlformats.org/drawingml/2006/main">
              <a:ext uri="{FF2B5EF4-FFF2-40B4-BE49-F238E27FC236}">
                <a16:creationId xmlns:a16="http://schemas.microsoft.com/office/drawing/2014/main" id="{3F27CAB2-7B4D-4D5C-B0C2-BA4219BC9CE2}"/>
              </a:ext>
            </a:extLst>
          </p:cNvPr>
          <p:cNvSpPr>
            <a:spLocks xmlns:a="http://schemas.openxmlformats.org/drawingml/2006/main" noGrp="1"/>
          </p:cNvSpPr>
          <p:nvPr/>
        </p:nvSpPr>
        <p:spPr>
          <a:xfrm xmlns:a="http://schemas.openxmlformats.org/drawingml/2006/main">
            <a:off x="566928" y="2121408"/>
            <a:ext cx="11057839" cy="7315"/>
          </a:xfrm>
          <a:prstGeom xmlns:a="http://schemas.openxmlformats.org/drawingml/2006/main" prst="rect">
            <a:avLst/>
          </a:prstGeom>
          <a:solidFill xmlns:a="http://schemas.openxmlformats.org/drawingml/2006/main">
            <a:srgbClr val="CBD5E0"/>
          </a:solidFill>
        </p:spPr>
      </p:sp>
      <p:sp>
        <p:nvSpPr>
          <p:cNvPr id="12" name="Shape 10">
            <a:extLst xmlns:a="http://schemas.openxmlformats.org/drawingml/2006/main">
              <a:ext uri="{FF2B5EF4-FFF2-40B4-BE49-F238E27FC236}">
                <a16:creationId xmlns:a16="http://schemas.microsoft.com/office/drawing/2014/main" id="{395A9D8D-6EC2-4655-BF95-1A742F427B3B}"/>
              </a:ext>
            </a:extLst>
          </p:cNvPr>
          <p:cNvSpPr>
            <a:spLocks xmlns:a="http://schemas.openxmlformats.org/drawingml/2006/main" noGrp="1"/>
          </p:cNvSpPr>
          <p:nvPr/>
        </p:nvSpPr>
        <p:spPr>
          <a:xfrm xmlns:a="http://schemas.openxmlformats.org/drawingml/2006/main">
            <a:off x="566928" y="2121408"/>
            <a:ext cx="11057839" cy="420624"/>
          </a:xfrm>
          <a:prstGeom xmlns:a="http://schemas.openxmlformats.org/drawingml/2006/main" prst="rect">
            <a:avLst/>
          </a:prstGeom>
          <a:solidFill xmlns:a="http://schemas.openxmlformats.org/drawingml/2006/main">
            <a:srgbClr val="F7F9FB"/>
          </a:solidFill>
        </p:spPr>
      </p:sp>
      <p:sp>
        <p:nvSpPr>
          <p:cNvPr id="13" name="Text 11">
            <a:extLst xmlns:a="http://schemas.openxmlformats.org/drawingml/2006/main">
              <a:ext uri="{FF2B5EF4-FFF2-40B4-BE49-F238E27FC236}">
                <a16:creationId xmlns:a16="http://schemas.microsoft.com/office/drawing/2014/main" id="{696061B2-9A2B-49C0-977A-C8E8974C068C}"/>
              </a:ext>
            </a:extLst>
          </p:cNvPr>
          <p:cNvSpPr>
            <a:spLocks xmlns:a="http://schemas.openxmlformats.org/drawingml/2006/main" noGrp="1"/>
          </p:cNvSpPr>
          <p:nvPr/>
        </p:nvSpPr>
        <p:spPr>
          <a:xfrm xmlns:a="http://schemas.openxmlformats.org/drawingml/2006/main">
            <a:off x="676656" y="219456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Complexity tiers, deck 06</a:t>
            </a:r>
            <a:endParaRPr sz="950"/>
          </a:p>
        </p:txBody>
      </p:sp>
      <p:sp>
        <p:nvSpPr>
          <p:cNvPr id="14" name="Text 12">
            <a:extLst xmlns:a="http://schemas.openxmlformats.org/drawingml/2006/main">
              <a:ext uri="{FF2B5EF4-FFF2-40B4-BE49-F238E27FC236}">
                <a16:creationId xmlns:a16="http://schemas.microsoft.com/office/drawing/2014/main" id="{B9D70359-B1E7-457A-A72A-8BD7A2695811}"/>
              </a:ext>
            </a:extLst>
          </p:cNvPr>
          <p:cNvSpPr>
            <a:spLocks xmlns:a="http://schemas.openxmlformats.org/drawingml/2006/main" noGrp="1"/>
          </p:cNvSpPr>
          <p:nvPr/>
        </p:nvSpPr>
        <p:spPr>
          <a:xfrm xmlns:a="http://schemas.openxmlformats.org/drawingml/2006/main">
            <a:off x="4700016" y="219456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Use cases differ by roughly an order of magnitude</a:t>
            </a:r>
            <a:endParaRPr sz="920"/>
          </a:p>
        </p:txBody>
      </p:sp>
      <p:sp>
        <p:nvSpPr>
          <p:cNvPr id="15" name="Text 13">
            <a:extLst xmlns:a="http://schemas.openxmlformats.org/drawingml/2006/main">
              <a:ext uri="{FF2B5EF4-FFF2-40B4-BE49-F238E27FC236}">
                <a16:creationId xmlns:a16="http://schemas.microsoft.com/office/drawing/2014/main" id="{6899252A-4AF5-458B-BF24-9D458C182BF2}"/>
              </a:ext>
            </a:extLst>
          </p:cNvPr>
          <p:cNvSpPr>
            <a:spLocks xmlns:a="http://schemas.openxmlformats.org/drawingml/2006/main" noGrp="1"/>
          </p:cNvSpPr>
          <p:nvPr/>
        </p:nvSpPr>
        <p:spPr>
          <a:xfrm xmlns:a="http://schemas.openxmlformats.org/drawingml/2006/main">
            <a:off x="8357616" y="2194560"/>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ratio between tiers is the point</a:t>
            </a:r>
            <a:endParaRPr sz="920"/>
          </a:p>
        </p:txBody>
      </p:sp>
      <p:sp>
        <p:nvSpPr>
          <p:cNvPr id="16" name="Shape 14">
            <a:extLst xmlns:a="http://schemas.openxmlformats.org/drawingml/2006/main">
              <a:ext uri="{FF2B5EF4-FFF2-40B4-BE49-F238E27FC236}">
                <a16:creationId xmlns:a16="http://schemas.microsoft.com/office/drawing/2014/main" id="{41067E12-3DC4-4BC6-91A0-BA5DD90B7DB1}"/>
              </a:ext>
            </a:extLst>
          </p:cNvPr>
          <p:cNvSpPr>
            <a:spLocks xmlns:a="http://schemas.openxmlformats.org/drawingml/2006/main" noGrp="1"/>
          </p:cNvSpPr>
          <p:nvPr/>
        </p:nvSpPr>
        <p:spPr>
          <a:xfrm xmlns:a="http://schemas.openxmlformats.org/drawingml/2006/main">
            <a:off x="566928" y="2542032"/>
            <a:ext cx="11057839" cy="7315"/>
          </a:xfrm>
          <a:prstGeom xmlns:a="http://schemas.openxmlformats.org/drawingml/2006/main" prst="rect">
            <a:avLst/>
          </a:prstGeom>
          <a:solidFill xmlns:a="http://schemas.openxmlformats.org/drawingml/2006/main">
            <a:srgbClr val="CBD5E0"/>
          </a:solidFill>
        </p:spPr>
      </p:sp>
      <p:sp>
        <p:nvSpPr>
          <p:cNvPr id="17" name="Text 15">
            <a:extLst xmlns:a="http://schemas.openxmlformats.org/drawingml/2006/main">
              <a:ext uri="{FF2B5EF4-FFF2-40B4-BE49-F238E27FC236}">
                <a16:creationId xmlns:a16="http://schemas.microsoft.com/office/drawing/2014/main" id="{805840A2-1F15-411E-9593-FBFA370556F8}"/>
              </a:ext>
            </a:extLst>
          </p:cNvPr>
          <p:cNvSpPr>
            <a:spLocks xmlns:a="http://schemas.openxmlformats.org/drawingml/2006/main" noGrp="1"/>
          </p:cNvSpPr>
          <p:nvPr/>
        </p:nvSpPr>
        <p:spPr>
          <a:xfrm xmlns:a="http://schemas.openxmlformats.org/drawingml/2006/main">
            <a:off x="676656" y="261518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Resourcing arithmetic, deck 06</a:t>
            </a:r>
            <a:endParaRPr sz="950"/>
          </a:p>
        </p:txBody>
      </p:sp>
      <p:sp>
        <p:nvSpPr>
          <p:cNvPr id="18" name="Text 16">
            <a:extLst xmlns:a="http://schemas.openxmlformats.org/drawingml/2006/main">
              <a:ext uri="{FF2B5EF4-FFF2-40B4-BE49-F238E27FC236}">
                <a16:creationId xmlns:a16="http://schemas.microsoft.com/office/drawing/2014/main" id="{AA783A85-7B94-40A2-93E8-3A3B7921B7EA}"/>
              </a:ext>
            </a:extLst>
          </p:cNvPr>
          <p:cNvSpPr>
            <a:spLocks xmlns:a="http://schemas.openxmlformats.org/drawingml/2006/main" noGrp="1"/>
          </p:cNvSpPr>
          <p:nvPr/>
        </p:nvSpPr>
        <p:spPr>
          <a:xfrm xmlns:a="http://schemas.openxmlformats.org/drawingml/2006/main">
            <a:off x="4700016" y="261518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Volume and window do not reconcile</a:t>
            </a:r>
            <a:endParaRPr sz="920"/>
          </a:p>
        </p:txBody>
      </p:sp>
      <p:sp>
        <p:nvSpPr>
          <p:cNvPr id="19" name="Text 17">
            <a:extLst xmlns:a="http://schemas.openxmlformats.org/drawingml/2006/main">
              <a:ext uri="{FF2B5EF4-FFF2-40B4-BE49-F238E27FC236}">
                <a16:creationId xmlns:a16="http://schemas.microsoft.com/office/drawing/2014/main" id="{3B4C70F4-D4CC-44C9-8958-534B6AF114EA}"/>
              </a:ext>
            </a:extLst>
          </p:cNvPr>
          <p:cNvSpPr>
            <a:spLocks xmlns:a="http://schemas.openxmlformats.org/drawingml/2006/main" noGrp="1"/>
          </p:cNvSpPr>
          <p:nvPr/>
        </p:nvSpPr>
        <p:spPr>
          <a:xfrm xmlns:a="http://schemas.openxmlformats.org/drawingml/2006/main">
            <a:off x="8357616" y="2615184"/>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twofold spread is the argument</a:t>
            </a:r>
            <a:endParaRPr sz="920"/>
          </a:p>
        </p:txBody>
      </p:sp>
      <p:sp>
        <p:nvSpPr>
          <p:cNvPr id="20" name="Shape 18">
            <a:extLst xmlns:a="http://schemas.openxmlformats.org/drawingml/2006/main">
              <a:ext uri="{FF2B5EF4-FFF2-40B4-BE49-F238E27FC236}">
                <a16:creationId xmlns:a16="http://schemas.microsoft.com/office/drawing/2014/main" id="{FC7AD6DD-90E0-4017-BC7B-FBFC01F5F619}"/>
              </a:ext>
            </a:extLst>
          </p:cNvPr>
          <p:cNvSpPr>
            <a:spLocks xmlns:a="http://schemas.openxmlformats.org/drawingml/2006/main" noGrp="1"/>
          </p:cNvSpPr>
          <p:nvPr/>
        </p:nvSpPr>
        <p:spPr>
          <a:xfrm xmlns:a="http://schemas.openxmlformats.org/drawingml/2006/main">
            <a:off x="566928" y="2962656"/>
            <a:ext cx="11057839" cy="7315"/>
          </a:xfrm>
          <a:prstGeom xmlns:a="http://schemas.openxmlformats.org/drawingml/2006/main" prst="rect">
            <a:avLst/>
          </a:prstGeom>
          <a:solidFill xmlns:a="http://schemas.openxmlformats.org/drawingml/2006/main">
            <a:srgbClr val="CBD5E0"/>
          </a:solidFill>
        </p:spPr>
      </p:sp>
      <p:sp>
        <p:nvSpPr>
          <p:cNvPr id="21" name="Shape 19">
            <a:extLst xmlns:a="http://schemas.openxmlformats.org/drawingml/2006/main">
              <a:ext uri="{FF2B5EF4-FFF2-40B4-BE49-F238E27FC236}">
                <a16:creationId xmlns:a16="http://schemas.microsoft.com/office/drawing/2014/main" id="{FF00C368-EDD2-499B-A909-645C519A2EDD}"/>
              </a:ext>
            </a:extLst>
          </p:cNvPr>
          <p:cNvSpPr>
            <a:spLocks xmlns:a="http://schemas.openxmlformats.org/drawingml/2006/main" noGrp="1"/>
          </p:cNvSpPr>
          <p:nvPr/>
        </p:nvSpPr>
        <p:spPr>
          <a:xfrm xmlns:a="http://schemas.openxmlformats.org/drawingml/2006/main">
            <a:off x="566928" y="2962656"/>
            <a:ext cx="11057839" cy="420624"/>
          </a:xfrm>
          <a:prstGeom xmlns:a="http://schemas.openxmlformats.org/drawingml/2006/main" prst="rect">
            <a:avLst/>
          </a:prstGeom>
          <a:solidFill xmlns:a="http://schemas.openxmlformats.org/drawingml/2006/main">
            <a:srgbClr val="F7F9FB"/>
          </a:solidFill>
        </p:spPr>
      </p:sp>
      <p:sp>
        <p:nvSpPr>
          <p:cNvPr id="22" name="Text 20">
            <a:extLst xmlns:a="http://schemas.openxmlformats.org/drawingml/2006/main">
              <a:ext uri="{FF2B5EF4-FFF2-40B4-BE49-F238E27FC236}">
                <a16:creationId xmlns:a16="http://schemas.microsoft.com/office/drawing/2014/main" id="{E046FD62-C560-4AE4-9570-B9471B01284B}"/>
              </a:ext>
            </a:extLst>
          </p:cNvPr>
          <p:cNvSpPr>
            <a:spLocks xmlns:a="http://schemas.openxmlformats.org/drawingml/2006/main" noGrp="1"/>
          </p:cNvSpPr>
          <p:nvPr/>
        </p:nvSpPr>
        <p:spPr>
          <a:xfrm xmlns:a="http://schemas.openxmlformats.org/drawingml/2006/main">
            <a:off x="676656" y="3035808"/>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Serial versus parallel, deck 15</a:t>
            </a:r>
            <a:endParaRPr sz="950"/>
          </a:p>
        </p:txBody>
      </p:sp>
      <p:sp>
        <p:nvSpPr>
          <p:cNvPr id="23" name="Text 21">
            <a:extLst xmlns:a="http://schemas.openxmlformats.org/drawingml/2006/main">
              <a:ext uri="{FF2B5EF4-FFF2-40B4-BE49-F238E27FC236}">
                <a16:creationId xmlns:a16="http://schemas.microsoft.com/office/drawing/2014/main" id="{0632E708-7202-433B-9733-C5FA237C1560}"/>
              </a:ext>
            </a:extLst>
          </p:cNvPr>
          <p:cNvSpPr>
            <a:spLocks xmlns:a="http://schemas.openxmlformats.org/drawingml/2006/main" noGrp="1"/>
          </p:cNvSpPr>
          <p:nvPr/>
        </p:nvSpPr>
        <p:spPr>
          <a:xfrm xmlns:a="http://schemas.openxmlformats.org/drawingml/2006/main">
            <a:off x="4700016" y="303580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Elapsed time is a sum, then a maximum</a:t>
            </a:r>
            <a:endParaRPr sz="920"/>
          </a:p>
        </p:txBody>
      </p:sp>
      <p:sp>
        <p:nvSpPr>
          <p:cNvPr id="24" name="Text 22">
            <a:extLst xmlns:a="http://schemas.openxmlformats.org/drawingml/2006/main">
              <a:ext uri="{FF2B5EF4-FFF2-40B4-BE49-F238E27FC236}">
                <a16:creationId xmlns:a16="http://schemas.microsoft.com/office/drawing/2014/main" id="{B5703CA7-A381-4688-A278-A1B9C885152B}"/>
              </a:ext>
            </a:extLst>
          </p:cNvPr>
          <p:cNvSpPr>
            <a:spLocks xmlns:a="http://schemas.openxmlformats.org/drawingml/2006/main" noGrp="1"/>
          </p:cNvSpPr>
          <p:nvPr/>
        </p:nvSpPr>
        <p:spPr>
          <a:xfrm xmlns:a="http://schemas.openxmlformats.org/drawingml/2006/main">
            <a:off x="8357616" y="3035808"/>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arithmetic is not in dispute</a:t>
            </a:r>
            <a:endParaRPr sz="920"/>
          </a:p>
        </p:txBody>
      </p:sp>
      <p:sp>
        <p:nvSpPr>
          <p:cNvPr id="25" name="Shape 23">
            <a:extLst xmlns:a="http://schemas.openxmlformats.org/drawingml/2006/main">
              <a:ext uri="{FF2B5EF4-FFF2-40B4-BE49-F238E27FC236}">
                <a16:creationId xmlns:a16="http://schemas.microsoft.com/office/drawing/2014/main" id="{0383C330-1F88-4A13-A5AA-CBB13A7EC430}"/>
              </a:ext>
            </a:extLst>
          </p:cNvPr>
          <p:cNvSpPr>
            <a:spLocks xmlns:a="http://schemas.openxmlformats.org/drawingml/2006/main" noGrp="1"/>
          </p:cNvSpPr>
          <p:nvPr/>
        </p:nvSpPr>
        <p:spPr>
          <a:xfrm xmlns:a="http://schemas.openxmlformats.org/drawingml/2006/main">
            <a:off x="566928" y="3383280"/>
            <a:ext cx="11057839" cy="7315"/>
          </a:xfrm>
          <a:prstGeom xmlns:a="http://schemas.openxmlformats.org/drawingml/2006/main" prst="rect">
            <a:avLst/>
          </a:prstGeom>
          <a:solidFill xmlns:a="http://schemas.openxmlformats.org/drawingml/2006/main">
            <a:srgbClr val="CBD5E0"/>
          </a:solidFill>
        </p:spPr>
      </p:sp>
      <p:sp>
        <p:nvSpPr>
          <p:cNvPr id="26" name="Text 24">
            <a:extLst xmlns:a="http://schemas.openxmlformats.org/drawingml/2006/main">
              <a:ext uri="{FF2B5EF4-FFF2-40B4-BE49-F238E27FC236}">
                <a16:creationId xmlns:a16="http://schemas.microsoft.com/office/drawing/2014/main" id="{870E6BF8-D0B8-4489-9A91-9A95296E02F6}"/>
              </a:ext>
            </a:extLst>
          </p:cNvPr>
          <p:cNvSpPr>
            <a:spLocks xmlns:a="http://schemas.openxmlformats.org/drawingml/2006/main" noGrp="1"/>
          </p:cNvSpPr>
          <p:nvPr/>
        </p:nvSpPr>
        <p:spPr>
          <a:xfrm xmlns:a="http://schemas.openxmlformats.org/drawingml/2006/main">
            <a:off x="676656" y="3456432"/>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Superlinear cost curve, deck 04</a:t>
            </a:r>
            <a:endParaRPr sz="950"/>
          </a:p>
        </p:txBody>
      </p:sp>
      <p:sp>
        <p:nvSpPr>
          <p:cNvPr id="27" name="Text 25">
            <a:extLst xmlns:a="http://schemas.openxmlformats.org/drawingml/2006/main">
              <a:ext uri="{FF2B5EF4-FFF2-40B4-BE49-F238E27FC236}">
                <a16:creationId xmlns:a16="http://schemas.microsoft.com/office/drawing/2014/main" id="{DCCD02F9-0946-4C12-B6EA-5D11A6C9D0E7}"/>
              </a:ext>
            </a:extLst>
          </p:cNvPr>
          <p:cNvSpPr>
            <a:spLocks xmlns:a="http://schemas.openxmlformats.org/drawingml/2006/main" noGrp="1"/>
          </p:cNvSpPr>
          <p:nvPr/>
        </p:nvSpPr>
        <p:spPr>
          <a:xfrm xmlns:a="http://schemas.openxmlformats.org/drawingml/2006/main">
            <a:off x="4700016" y="345643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Integration cost outgrows user cost</a:t>
            </a:r>
            <a:endParaRPr sz="920"/>
          </a:p>
        </p:txBody>
      </p:sp>
      <p:sp>
        <p:nvSpPr>
          <p:cNvPr id="28" name="Text 26">
            <a:extLst xmlns:a="http://schemas.openxmlformats.org/drawingml/2006/main">
              <a:ext uri="{FF2B5EF4-FFF2-40B4-BE49-F238E27FC236}">
                <a16:creationId xmlns:a16="http://schemas.microsoft.com/office/drawing/2014/main" id="{2150F687-A51A-4EC4-A628-BFDCEC63A931}"/>
              </a:ext>
            </a:extLst>
          </p:cNvPr>
          <p:cNvSpPr>
            <a:spLocks xmlns:a="http://schemas.openxmlformats.org/drawingml/2006/main" noGrp="1"/>
          </p:cNvSpPr>
          <p:nvPr/>
        </p:nvSpPr>
        <p:spPr>
          <a:xfrm xmlns:a="http://schemas.openxmlformats.org/drawingml/2006/main">
            <a:off x="8357616" y="3456432"/>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which lines are missed is the point</a:t>
            </a:r>
            <a:endParaRPr sz="920"/>
          </a:p>
        </p:txBody>
      </p:sp>
      <p:sp>
        <p:nvSpPr>
          <p:cNvPr id="29" name="Shape 27">
            <a:extLst xmlns:a="http://schemas.openxmlformats.org/drawingml/2006/main">
              <a:ext uri="{FF2B5EF4-FFF2-40B4-BE49-F238E27FC236}">
                <a16:creationId xmlns:a16="http://schemas.microsoft.com/office/drawing/2014/main" id="{294525A6-8AD6-4214-8561-A7D960821F94}"/>
              </a:ext>
            </a:extLst>
          </p:cNvPr>
          <p:cNvSpPr>
            <a:spLocks xmlns:a="http://schemas.openxmlformats.org/drawingml/2006/main" noGrp="1"/>
          </p:cNvSpPr>
          <p:nvPr/>
        </p:nvSpPr>
        <p:spPr>
          <a:xfrm xmlns:a="http://schemas.openxmlformats.org/drawingml/2006/main">
            <a:off x="566928" y="3803904"/>
            <a:ext cx="11057839" cy="7315"/>
          </a:xfrm>
          <a:prstGeom xmlns:a="http://schemas.openxmlformats.org/drawingml/2006/main" prst="rect">
            <a:avLst/>
          </a:prstGeom>
          <a:solidFill xmlns:a="http://schemas.openxmlformats.org/drawingml/2006/main">
            <a:srgbClr val="CBD5E0"/>
          </a:solidFill>
        </p:spPr>
      </p:sp>
      <p:sp>
        <p:nvSpPr>
          <p:cNvPr id="30" name="Shape 28">
            <a:extLst xmlns:a="http://schemas.openxmlformats.org/drawingml/2006/main">
              <a:ext uri="{FF2B5EF4-FFF2-40B4-BE49-F238E27FC236}">
                <a16:creationId xmlns:a16="http://schemas.microsoft.com/office/drawing/2014/main" id="{F1D6CDAC-9B96-49F4-BDEB-01995894990B}"/>
              </a:ext>
            </a:extLst>
          </p:cNvPr>
          <p:cNvSpPr>
            <a:spLocks xmlns:a="http://schemas.openxmlformats.org/drawingml/2006/main" noGrp="1"/>
          </p:cNvSpPr>
          <p:nvPr/>
        </p:nvSpPr>
        <p:spPr>
          <a:xfrm xmlns:a="http://schemas.openxmlformats.org/drawingml/2006/main">
            <a:off x="566928" y="3803904"/>
            <a:ext cx="11057839" cy="420624"/>
          </a:xfrm>
          <a:prstGeom xmlns:a="http://schemas.openxmlformats.org/drawingml/2006/main" prst="rect">
            <a:avLst/>
          </a:prstGeom>
          <a:solidFill xmlns:a="http://schemas.openxmlformats.org/drawingml/2006/main">
            <a:srgbClr val="F7F9FB"/>
          </a:solidFill>
        </p:spPr>
      </p:sp>
      <p:sp>
        <p:nvSpPr>
          <p:cNvPr id="31" name="Text 29">
            <a:extLst xmlns:a="http://schemas.openxmlformats.org/drawingml/2006/main">
              <a:ext uri="{FF2B5EF4-FFF2-40B4-BE49-F238E27FC236}">
                <a16:creationId xmlns:a16="http://schemas.microsoft.com/office/drawing/2014/main" id="{F95489CF-F043-41B1-9787-6AAE81D00C08}"/>
              </a:ext>
            </a:extLst>
          </p:cNvPr>
          <p:cNvSpPr>
            <a:spLocks xmlns:a="http://schemas.openxmlformats.org/drawingml/2006/main" noGrp="1"/>
          </p:cNvSpPr>
          <p:nvPr/>
        </p:nvSpPr>
        <p:spPr>
          <a:xfrm xmlns:a="http://schemas.openxmlformats.org/drawingml/2006/main">
            <a:off x="676656" y="3877056"/>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Country variance, deck 17</a:t>
            </a:r>
            <a:endParaRPr sz="950"/>
          </a:p>
        </p:txBody>
      </p:sp>
      <p:sp>
        <p:nvSpPr>
          <p:cNvPr id="32" name="Text 30">
            <a:extLst xmlns:a="http://schemas.openxmlformats.org/drawingml/2006/main">
              <a:ext uri="{FF2B5EF4-FFF2-40B4-BE49-F238E27FC236}">
                <a16:creationId xmlns:a16="http://schemas.microsoft.com/office/drawing/2014/main" id="{DF38D491-5EC5-459E-B4F1-55C2B8FB5F2F}"/>
              </a:ext>
            </a:extLst>
          </p:cNvPr>
          <p:cNvSpPr>
            <a:spLocks xmlns:a="http://schemas.openxmlformats.org/drawingml/2006/main" noGrp="1"/>
          </p:cNvSpPr>
          <p:nvPr/>
        </p:nvSpPr>
        <p:spPr>
          <a:xfrm xmlns:a="http://schemas.openxmlformats.org/drawingml/2006/main">
            <a:off x="4700016" y="3877056"/>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Local variance is smaller than assumed</a:t>
            </a:r>
            <a:endParaRPr sz="920"/>
          </a:p>
        </p:txBody>
      </p:sp>
      <p:sp>
        <p:nvSpPr>
          <p:cNvPr id="33" name="Text 31">
            <a:extLst xmlns:a="http://schemas.openxmlformats.org/drawingml/2006/main">
              <a:ext uri="{FF2B5EF4-FFF2-40B4-BE49-F238E27FC236}">
                <a16:creationId xmlns:a16="http://schemas.microsoft.com/office/drawing/2014/main" id="{8D2DD6D3-C7E2-4462-9F63-A80CF5EB6C9D}"/>
              </a:ext>
            </a:extLst>
          </p:cNvPr>
          <p:cNvSpPr>
            <a:spLocks xmlns:a="http://schemas.openxmlformats.org/drawingml/2006/main" noGrp="1"/>
          </p:cNvSpPr>
          <p:nvPr/>
        </p:nvSpPr>
        <p:spPr>
          <a:xfrm xmlns:a="http://schemas.openxmlformats.org/drawingml/2006/main">
            <a:off x="8357616" y="3877056"/>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majority-common finding holds</a:t>
            </a:r>
            <a:endParaRPr sz="920"/>
          </a:p>
        </p:txBody>
      </p:sp>
      <p:sp>
        <p:nvSpPr>
          <p:cNvPr id="34" name="Shape 32">
            <a:extLst xmlns:a="http://schemas.openxmlformats.org/drawingml/2006/main">
              <a:ext uri="{FF2B5EF4-FFF2-40B4-BE49-F238E27FC236}">
                <a16:creationId xmlns:a16="http://schemas.microsoft.com/office/drawing/2014/main" id="{26A4FBEC-5CB1-4302-A7BC-DAD5D14CE1DB}"/>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35" name="Text 33">
            <a:extLst xmlns:a="http://schemas.openxmlformats.org/drawingml/2006/main">
              <a:ext uri="{FF2B5EF4-FFF2-40B4-BE49-F238E27FC236}">
                <a16:creationId xmlns:a16="http://schemas.microsoft.com/office/drawing/2014/main" id="{D3DECDCB-096D-45B9-85CE-562212346991}"/>
              </a:ext>
            </a:extLst>
          </p:cNvPr>
          <p:cNvSpPr>
            <a:spLocks xmlns:a="http://schemas.openxmlformats.org/drawingml/2006/main" noGrp="1"/>
          </p:cNvSpPr>
          <p:nvPr/>
        </p:nvSpPr>
        <p:spPr>
          <a:xfrm xmlns:a="http://schemas.openxmlformats.org/drawingml/2006/main">
            <a:off x="676656" y="4297680"/>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Change-queue contention, deck 04</a:t>
            </a:r>
            <a:endParaRPr sz="950"/>
          </a:p>
        </p:txBody>
      </p:sp>
      <p:sp>
        <p:nvSpPr>
          <p:cNvPr id="36" name="Text 34">
            <a:extLst xmlns:a="http://schemas.openxmlformats.org/drawingml/2006/main">
              <a:ext uri="{FF2B5EF4-FFF2-40B4-BE49-F238E27FC236}">
                <a16:creationId xmlns:a16="http://schemas.microsoft.com/office/drawing/2014/main" id="{47DEAF75-A474-4A4B-A3A6-321B2DDA133B}"/>
              </a:ext>
            </a:extLst>
          </p:cNvPr>
          <p:cNvSpPr>
            <a:spLocks xmlns:a="http://schemas.openxmlformats.org/drawingml/2006/main" noGrp="1"/>
          </p:cNvSpPr>
          <p:nvPr/>
        </p:nvSpPr>
        <p:spPr>
          <a:xfrm xmlns:a="http://schemas.openxmlformats.org/drawingml/2006/main">
            <a:off x="4700016" y="4297680"/>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Demand grows with business count, throughput does not</a:t>
            </a:r>
            <a:endParaRPr sz="920"/>
          </a:p>
        </p:txBody>
      </p:sp>
      <p:sp>
        <p:nvSpPr>
          <p:cNvPr id="37" name="Text 35">
            <a:extLst xmlns:a="http://schemas.openxmlformats.org/drawingml/2006/main">
              <a:ext uri="{FF2B5EF4-FFF2-40B4-BE49-F238E27FC236}">
                <a16:creationId xmlns:a16="http://schemas.microsoft.com/office/drawing/2014/main" id="{93DD4BAF-258A-4845-B87A-0CE9804FF545}"/>
              </a:ext>
            </a:extLst>
          </p:cNvPr>
          <p:cNvSpPr>
            <a:spLocks xmlns:a="http://schemas.openxmlformats.org/drawingml/2006/main" noGrp="1"/>
          </p:cNvSpPr>
          <p:nvPr/>
        </p:nvSpPr>
        <p:spPr>
          <a:xfrm xmlns:a="http://schemas.openxmlformats.org/drawingml/2006/main">
            <a:off x="8357616" y="4297680"/>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divergence is structural</a:t>
            </a:r>
            <a:endParaRPr sz="920"/>
          </a:p>
        </p:txBody>
      </p:sp>
      <p:sp>
        <p:nvSpPr>
          <p:cNvPr id="38" name="Shape 36">
            <a:extLst xmlns:a="http://schemas.openxmlformats.org/drawingml/2006/main">
              <a:ext uri="{FF2B5EF4-FFF2-40B4-BE49-F238E27FC236}">
                <a16:creationId xmlns:a16="http://schemas.microsoft.com/office/drawing/2014/main" id="{7268F89F-06CA-4C3B-8602-BED0F3FACDBE}"/>
              </a:ext>
            </a:extLst>
          </p:cNvPr>
          <p:cNvSpPr>
            <a:spLocks xmlns:a="http://schemas.openxmlformats.org/drawingml/2006/main" noGrp="1"/>
          </p:cNvSpPr>
          <p:nvPr/>
        </p:nvSpPr>
        <p:spPr>
          <a:xfrm xmlns:a="http://schemas.openxmlformats.org/drawingml/2006/main">
            <a:off x="566928" y="4645152"/>
            <a:ext cx="11057839" cy="7315"/>
          </a:xfrm>
          <a:prstGeom xmlns:a="http://schemas.openxmlformats.org/drawingml/2006/main" prst="rect">
            <a:avLst/>
          </a:prstGeom>
          <a:solidFill xmlns:a="http://schemas.openxmlformats.org/drawingml/2006/main">
            <a:srgbClr val="CBD5E0"/>
          </a:solidFill>
        </p:spPr>
      </p:sp>
      <p:sp>
        <p:nvSpPr>
          <p:cNvPr id="39" name="Shape 37">
            <a:extLst xmlns:a="http://schemas.openxmlformats.org/drawingml/2006/main">
              <a:ext uri="{FF2B5EF4-FFF2-40B4-BE49-F238E27FC236}">
                <a16:creationId xmlns:a16="http://schemas.microsoft.com/office/drawing/2014/main" id="{79C185A8-AD1E-4F2C-B689-DE9C759B95B9}"/>
              </a:ext>
            </a:extLst>
          </p:cNvPr>
          <p:cNvSpPr>
            <a:spLocks xmlns:a="http://schemas.openxmlformats.org/drawingml/2006/main" noGrp="1"/>
          </p:cNvSpPr>
          <p:nvPr/>
        </p:nvSpPr>
        <p:spPr>
          <a:xfrm xmlns:a="http://schemas.openxmlformats.org/drawingml/2006/main">
            <a:off x="566928" y="4645152"/>
            <a:ext cx="11057839" cy="420624"/>
          </a:xfrm>
          <a:prstGeom xmlns:a="http://schemas.openxmlformats.org/drawingml/2006/main" prst="rect">
            <a:avLst/>
          </a:prstGeom>
          <a:solidFill xmlns:a="http://schemas.openxmlformats.org/drawingml/2006/main">
            <a:srgbClr val="F7F9FB"/>
          </a:solidFill>
        </p:spPr>
      </p:sp>
      <p:sp>
        <p:nvSpPr>
          <p:cNvPr id="40" name="Text 38">
            <a:extLst xmlns:a="http://schemas.openxmlformats.org/drawingml/2006/main">
              <a:ext uri="{FF2B5EF4-FFF2-40B4-BE49-F238E27FC236}">
                <a16:creationId xmlns:a16="http://schemas.microsoft.com/office/drawing/2014/main" id="{A0B08F63-9E03-4FED-AD49-431674E770AF}"/>
              </a:ext>
            </a:extLst>
          </p:cNvPr>
          <p:cNvSpPr>
            <a:spLocks xmlns:a="http://schemas.openxmlformats.org/drawingml/2006/main" noGrp="1"/>
          </p:cNvSpPr>
          <p:nvPr/>
        </p:nvSpPr>
        <p:spPr>
          <a:xfrm xmlns:a="http://schemas.openxmlformats.org/drawingml/2006/main">
            <a:off x="676656" y="4718304"/>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Approval-path elapsed days, deck 08</a:t>
            </a:r>
            <a:endParaRPr sz="950"/>
          </a:p>
        </p:txBody>
      </p:sp>
      <p:sp>
        <p:nvSpPr>
          <p:cNvPr id="41" name="Text 39">
            <a:extLst xmlns:a="http://schemas.openxmlformats.org/drawingml/2006/main">
              <a:ext uri="{FF2B5EF4-FFF2-40B4-BE49-F238E27FC236}">
                <a16:creationId xmlns:a16="http://schemas.microsoft.com/office/drawing/2014/main" id="{E00F487B-5550-40BD-9855-D9D0706A5F58}"/>
              </a:ext>
            </a:extLst>
          </p:cNvPr>
          <p:cNvSpPr>
            <a:spLocks xmlns:a="http://schemas.openxmlformats.org/drawingml/2006/main" noGrp="1"/>
          </p:cNvSpPr>
          <p:nvPr/>
        </p:nvSpPr>
        <p:spPr>
          <a:xfrm xmlns:a="http://schemas.openxmlformats.org/drawingml/2006/main">
            <a:off x="4700016" y="4718304"/>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Approval dominates configuration effort</a:t>
            </a:r>
            <a:endParaRPr sz="920"/>
          </a:p>
        </p:txBody>
      </p:sp>
      <p:sp>
        <p:nvSpPr>
          <p:cNvPr id="42" name="Text 40">
            <a:extLst xmlns:a="http://schemas.openxmlformats.org/drawingml/2006/main">
              <a:ext uri="{FF2B5EF4-FFF2-40B4-BE49-F238E27FC236}">
                <a16:creationId xmlns:a16="http://schemas.microsoft.com/office/drawing/2014/main" id="{DC89410D-8F69-42BA-9486-282403CCD290}"/>
              </a:ext>
            </a:extLst>
          </p:cNvPr>
          <p:cNvSpPr>
            <a:spLocks xmlns:a="http://schemas.openxmlformats.org/drawingml/2006/main" noGrp="1"/>
          </p:cNvSpPr>
          <p:nvPr/>
        </p:nvSpPr>
        <p:spPr>
          <a:xfrm xmlns:a="http://schemas.openxmlformats.org/drawingml/2006/main">
            <a:off x="8357616" y="4718304"/>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dominance is the thesis</a:t>
            </a:r>
            <a:endParaRPr sz="920"/>
          </a:p>
        </p:txBody>
      </p:sp>
      <p:sp>
        <p:nvSpPr>
          <p:cNvPr id="43" name="Shape 41">
            <a:extLst xmlns:a="http://schemas.openxmlformats.org/drawingml/2006/main">
              <a:ext uri="{FF2B5EF4-FFF2-40B4-BE49-F238E27FC236}">
                <a16:creationId xmlns:a16="http://schemas.microsoft.com/office/drawing/2014/main" id="{01A439AB-6FF0-4D9B-81BE-8F33CA6CA79D}"/>
              </a:ext>
            </a:extLst>
          </p:cNvPr>
          <p:cNvSpPr>
            <a:spLocks xmlns:a="http://schemas.openxmlformats.org/drawingml/2006/main" noGrp="1"/>
          </p:cNvSpPr>
          <p:nvPr/>
        </p:nvSpPr>
        <p:spPr>
          <a:xfrm xmlns:a="http://schemas.openxmlformats.org/drawingml/2006/main">
            <a:off x="566928" y="5065776"/>
            <a:ext cx="11057839" cy="7315"/>
          </a:xfrm>
          <a:prstGeom xmlns:a="http://schemas.openxmlformats.org/drawingml/2006/main" prst="rect">
            <a:avLst/>
          </a:prstGeom>
          <a:solidFill xmlns:a="http://schemas.openxmlformats.org/drawingml/2006/main">
            <a:srgbClr val="CBD5E0"/>
          </a:solidFill>
        </p:spPr>
      </p:sp>
      <p:sp>
        <p:nvSpPr>
          <p:cNvPr id="44" name="Text 42">
            <a:extLst xmlns:a="http://schemas.openxmlformats.org/drawingml/2006/main">
              <a:ext uri="{FF2B5EF4-FFF2-40B4-BE49-F238E27FC236}">
                <a16:creationId xmlns:a16="http://schemas.microsoft.com/office/drawing/2014/main" id="{9ACF25F1-C03C-4E24-9DB8-E715A9CD27DA}"/>
              </a:ext>
            </a:extLst>
          </p:cNvPr>
          <p:cNvSpPr>
            <a:spLocks xmlns:a="http://schemas.openxmlformats.org/drawingml/2006/main" noGrp="1"/>
          </p:cNvSpPr>
          <p:nvPr/>
        </p:nvSpPr>
        <p:spPr>
          <a:xfrm xmlns:a="http://schemas.openxmlformats.org/drawingml/2006/main">
            <a:off x="676656" y="5138928"/>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Integration effort split, deck 26</a:t>
            </a:r>
            <a:endParaRPr sz="950"/>
          </a:p>
        </p:txBody>
      </p:sp>
      <p:sp>
        <p:nvSpPr>
          <p:cNvPr id="45" name="Text 43">
            <a:extLst xmlns:a="http://schemas.openxmlformats.org/drawingml/2006/main">
              <a:ext uri="{FF2B5EF4-FFF2-40B4-BE49-F238E27FC236}">
                <a16:creationId xmlns:a16="http://schemas.microsoft.com/office/drawing/2014/main" id="{11F45F6F-22EC-4047-BB40-650402C4C5D8}"/>
              </a:ext>
            </a:extLst>
          </p:cNvPr>
          <p:cNvSpPr>
            <a:spLocks xmlns:a="http://schemas.openxmlformats.org/drawingml/2006/main" noGrp="1"/>
          </p:cNvSpPr>
          <p:nvPr/>
        </p:nvSpPr>
        <p:spPr>
          <a:xfrm xmlns:a="http://schemas.openxmlformats.org/drawingml/2006/main">
            <a:off x="4700016" y="5138928"/>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Two-thirds of the work is not the interface</a:t>
            </a:r>
            <a:endParaRPr sz="920"/>
          </a:p>
        </p:txBody>
      </p:sp>
      <p:sp>
        <p:nvSpPr>
          <p:cNvPr id="46" name="Text 44">
            <a:extLst xmlns:a="http://schemas.openxmlformats.org/drawingml/2006/main">
              <a:ext uri="{FF2B5EF4-FFF2-40B4-BE49-F238E27FC236}">
                <a16:creationId xmlns:a16="http://schemas.microsoft.com/office/drawing/2014/main" id="{929ACA40-BDA0-463B-85DE-9C24712AA54B}"/>
              </a:ext>
            </a:extLst>
          </p:cNvPr>
          <p:cNvSpPr>
            <a:spLocks xmlns:a="http://schemas.openxmlformats.org/drawingml/2006/main" noGrp="1"/>
          </p:cNvSpPr>
          <p:nvPr/>
        </p:nvSpPr>
        <p:spPr>
          <a:xfrm xmlns:a="http://schemas.openxmlformats.org/drawingml/2006/main">
            <a:off x="8357616" y="5138928"/>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proportion is widely observed</a:t>
            </a:r>
            <a:endParaRPr sz="920"/>
          </a:p>
        </p:txBody>
      </p:sp>
      <p:sp>
        <p:nvSpPr>
          <p:cNvPr id="47" name="Shape 45">
            <a:extLst xmlns:a="http://schemas.openxmlformats.org/drawingml/2006/main">
              <a:ext uri="{FF2B5EF4-FFF2-40B4-BE49-F238E27FC236}">
                <a16:creationId xmlns:a16="http://schemas.microsoft.com/office/drawing/2014/main" id="{1807CC87-9159-4704-A73F-61133573AE8A}"/>
              </a:ext>
            </a:extLst>
          </p:cNvPr>
          <p:cNvSpPr>
            <a:spLocks xmlns:a="http://schemas.openxmlformats.org/drawingml/2006/main" noGrp="1"/>
          </p:cNvSpPr>
          <p:nvPr/>
        </p:nvSpPr>
        <p:spPr>
          <a:xfrm xmlns:a="http://schemas.openxmlformats.org/drawingml/2006/main">
            <a:off x="566928" y="5486400"/>
            <a:ext cx="11057839" cy="7315"/>
          </a:xfrm>
          <a:prstGeom xmlns:a="http://schemas.openxmlformats.org/drawingml/2006/main" prst="rect">
            <a:avLst/>
          </a:prstGeom>
          <a:solidFill xmlns:a="http://schemas.openxmlformats.org/drawingml/2006/main">
            <a:srgbClr val="CBD5E0"/>
          </a:solidFill>
        </p:spPr>
      </p:sp>
      <p:sp>
        <p:nvSpPr>
          <p:cNvPr id="48" name="Shape 46">
            <a:extLst xmlns:a="http://schemas.openxmlformats.org/drawingml/2006/main">
              <a:ext uri="{FF2B5EF4-FFF2-40B4-BE49-F238E27FC236}">
                <a16:creationId xmlns:a16="http://schemas.microsoft.com/office/drawing/2014/main" id="{D4B69556-E675-4338-8060-8AB819168630}"/>
              </a:ext>
            </a:extLst>
          </p:cNvPr>
          <p:cNvSpPr>
            <a:spLocks xmlns:a="http://schemas.openxmlformats.org/drawingml/2006/main" noGrp="1"/>
          </p:cNvSpPr>
          <p:nvPr/>
        </p:nvSpPr>
        <p:spPr>
          <a:xfrm xmlns:a="http://schemas.openxmlformats.org/drawingml/2006/main">
            <a:off x="566928" y="5486400"/>
            <a:ext cx="11057839" cy="420624"/>
          </a:xfrm>
          <a:prstGeom xmlns:a="http://schemas.openxmlformats.org/drawingml/2006/main" prst="rect">
            <a:avLst/>
          </a:prstGeom>
          <a:solidFill xmlns:a="http://schemas.openxmlformats.org/drawingml/2006/main">
            <a:srgbClr val="F7F9FB"/>
          </a:solidFill>
        </p:spPr>
      </p:sp>
      <p:sp>
        <p:nvSpPr>
          <p:cNvPr id="49" name="Text 47">
            <a:extLst xmlns:a="http://schemas.openxmlformats.org/drawingml/2006/main">
              <a:ext uri="{FF2B5EF4-FFF2-40B4-BE49-F238E27FC236}">
                <a16:creationId xmlns:a16="http://schemas.microsoft.com/office/drawing/2014/main" id="{D55D098B-A9AD-49A4-B520-295CB0395DFD}"/>
              </a:ext>
            </a:extLst>
          </p:cNvPr>
          <p:cNvSpPr>
            <a:spLocks xmlns:a="http://schemas.openxmlformats.org/drawingml/2006/main" noGrp="1"/>
          </p:cNvSpPr>
          <p:nvPr/>
        </p:nvSpPr>
        <p:spPr>
          <a:xfrm xmlns:a="http://schemas.openxmlformats.org/drawingml/2006/main">
            <a:off x="676656" y="5559552"/>
            <a:ext cx="371246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50" b="1">
                <a:solidFill>
                  <a:srgbClr val="102A43"/>
                </a:solidFill>
                <a:latin typeface="Arial"/>
                <a:ea typeface="Arial"/>
                <a:cs typeface="Arial"/>
              </a:rPr>
              <a:t>Alert disposition mix, deck 16</a:t>
            </a:r>
            <a:endParaRPr sz="950"/>
          </a:p>
        </p:txBody>
      </p:sp>
      <p:sp>
        <p:nvSpPr>
          <p:cNvPr id="50" name="Text 48">
            <a:extLst xmlns:a="http://schemas.openxmlformats.org/drawingml/2006/main">
              <a:ext uri="{FF2B5EF4-FFF2-40B4-BE49-F238E27FC236}">
                <a16:creationId xmlns:a16="http://schemas.microsoft.com/office/drawing/2014/main" id="{7BDE9829-8877-448C-A9C3-39B4C0A36714}"/>
              </a:ext>
            </a:extLst>
          </p:cNvPr>
          <p:cNvSpPr>
            <a:spLocks xmlns:a="http://schemas.openxmlformats.org/drawingml/2006/main" noGrp="1"/>
          </p:cNvSpPr>
          <p:nvPr/>
        </p:nvSpPr>
        <p:spPr>
          <a:xfrm xmlns:a="http://schemas.openxmlformats.org/drawingml/2006/main">
            <a:off x="4700016" y="5559552"/>
            <a:ext cx="3346704"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486581"/>
                </a:solidFill>
                <a:latin typeface="Arial"/>
                <a:ea typeface="Arial"/>
                <a:cs typeface="Arial"/>
              </a:rPr>
              <a:t>Most alerts are context-explained</a:t>
            </a:r>
            <a:endParaRPr sz="920"/>
          </a:p>
        </p:txBody>
      </p:sp>
      <p:sp>
        <p:nvSpPr>
          <p:cNvPr id="51" name="Text 49">
            <a:extLst xmlns:a="http://schemas.openxmlformats.org/drawingml/2006/main">
              <a:ext uri="{FF2B5EF4-FFF2-40B4-BE49-F238E27FC236}">
                <a16:creationId xmlns:a16="http://schemas.microsoft.com/office/drawing/2014/main" id="{2CDA1932-FE90-487F-B8C4-D05127E665C2}"/>
              </a:ext>
            </a:extLst>
          </p:cNvPr>
          <p:cNvSpPr>
            <a:spLocks xmlns:a="http://schemas.openxmlformats.org/drawingml/2006/main" noGrp="1"/>
          </p:cNvSpPr>
          <p:nvPr/>
        </p:nvSpPr>
        <p:spPr>
          <a:xfrm xmlns:a="http://schemas.openxmlformats.org/drawingml/2006/main">
            <a:off x="8357616" y="5559552"/>
            <a:ext cx="3154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920">
                <a:solidFill>
                  <a:srgbClr val="1A1A1A"/>
                </a:solidFill>
                <a:latin typeface="Arial"/>
                <a:ea typeface="Arial"/>
                <a:cs typeface="Arial"/>
              </a:rPr>
              <a:t>Values yes; the noise problem is the point</a:t>
            </a:r>
            <a:endParaRPr sz="920"/>
          </a:p>
        </p:txBody>
      </p:sp>
      <p:sp>
        <p:nvSpPr>
          <p:cNvPr id="52" name="Shape 50">
            <a:extLst xmlns:a="http://schemas.openxmlformats.org/drawingml/2006/main">
              <a:ext uri="{FF2B5EF4-FFF2-40B4-BE49-F238E27FC236}">
                <a16:creationId xmlns:a16="http://schemas.microsoft.com/office/drawing/2014/main" id="{1CFB33A1-BB36-477B-A51F-6B3A01A51FBC}"/>
              </a:ext>
            </a:extLst>
          </p:cNvPr>
          <p:cNvSpPr>
            <a:spLocks xmlns:a="http://schemas.openxmlformats.org/drawingml/2006/main" noGrp="1"/>
          </p:cNvSpPr>
          <p:nvPr/>
        </p:nvSpPr>
        <p:spPr>
          <a:xfrm xmlns:a="http://schemas.openxmlformats.org/drawingml/2006/main">
            <a:off x="566928" y="5907024"/>
            <a:ext cx="11057839" cy="7315"/>
          </a:xfrm>
          <a:prstGeom xmlns:a="http://schemas.openxmlformats.org/drawingml/2006/main" prst="rect">
            <a:avLst/>
          </a:prstGeom>
          <a:solidFill xmlns:a="http://schemas.openxmlformats.org/drawingml/2006/main">
            <a:srgbClr val="CBD5E0"/>
          </a:solidFill>
        </p:spPr>
      </p:sp>
      <p:sp>
        <p:nvSpPr>
          <p:cNvPr id="53" name="Shape 51">
            <a:extLst xmlns:a="http://schemas.openxmlformats.org/drawingml/2006/main">
              <a:ext uri="{FF2B5EF4-FFF2-40B4-BE49-F238E27FC236}">
                <a16:creationId xmlns:a16="http://schemas.microsoft.com/office/drawing/2014/main" id="{DBFE6E00-2C24-44C4-8323-8E5E79F28F69}"/>
              </a:ext>
            </a:extLst>
          </p:cNvPr>
          <p:cNvSpPr>
            <a:spLocks xmlns:a="http://schemas.openxmlformats.org/drawingml/2006/main" noGrp="1"/>
          </p:cNvSpPr>
          <p:nvPr/>
        </p:nvSpPr>
        <p:spPr>
          <a:xfrm xmlns:a="http://schemas.openxmlformats.org/drawingml/2006/main">
            <a:off x="566928" y="6126480"/>
            <a:ext cx="11057839" cy="713232"/>
          </a:xfrm>
          <a:prstGeom xmlns:a="http://schemas.openxmlformats.org/drawingml/2006/main" prst="rect">
            <a:avLst/>
          </a:prstGeom>
          <a:solidFill xmlns:a="http://schemas.openxmlformats.org/drawingml/2006/main">
            <a:srgbClr val="F3E6E0"/>
          </a:solidFill>
        </p:spPr>
      </p:sp>
      <p:sp>
        <p:nvSpPr>
          <p:cNvPr id="54" name="Text 52">
            <a:extLst xmlns:a="http://schemas.openxmlformats.org/drawingml/2006/main">
              <a:ext uri="{FF2B5EF4-FFF2-40B4-BE49-F238E27FC236}">
                <a16:creationId xmlns:a16="http://schemas.microsoft.com/office/drawing/2014/main" id="{091928A1-0653-47F6-AF27-DC145CD987C4}"/>
              </a:ext>
            </a:extLst>
          </p:cNvPr>
          <p:cNvSpPr>
            <a:spLocks xmlns:a="http://schemas.openxmlformats.org/drawingml/2006/main" noGrp="1"/>
          </p:cNvSpPr>
          <p:nvPr/>
        </p:nvSpPr>
        <p:spPr>
          <a:xfrm xmlns:a="http://schemas.openxmlformats.org/drawingml/2006/main">
            <a:off x="804672" y="6309360"/>
            <a:ext cx="10582351"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The move on all eleven is the same: agree the numbers are a model before you are asked to, then ask whether they disagree with the shape. Almost nobody does — the shapes are uncontroversial to anyone who has run a programme.</a:t>
            </a:r>
            <a:endParaRPr sz="990"/>
          </a:p>
        </p:txBody>
      </p:sp>
      <p:sp>
        <p:nvSpPr>
          <p:cNvPr id="55" name="Shape 53">
            <a:extLst xmlns:a="http://schemas.openxmlformats.org/drawingml/2006/main">
              <a:ext uri="{FF2B5EF4-FFF2-40B4-BE49-F238E27FC236}">
                <a16:creationId xmlns:a16="http://schemas.microsoft.com/office/drawing/2014/main" id="{9F41593D-C15B-4EF5-93A9-55BD1A2EBF24}"/>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56" name="Text 54">
            <a:extLst xmlns:a="http://schemas.openxmlformats.org/drawingml/2006/main">
              <a:ext uri="{FF2B5EF4-FFF2-40B4-BE49-F238E27FC236}">
                <a16:creationId xmlns:a16="http://schemas.microsoft.com/office/drawing/2014/main" id="{8EEBD850-D57D-44FF-B86E-5E153484B61B}"/>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portfolio</a:t>
            </a:r>
            <a:endParaRPr sz="850"/>
          </a:p>
        </p:txBody>
      </p:sp>
      <p:sp>
        <p:nvSpPr>
          <p:cNvPr id="57" name="Text 55">
            <a:extLst xmlns:a="http://schemas.openxmlformats.org/drawingml/2006/main">
              <a:ext uri="{FF2B5EF4-FFF2-40B4-BE49-F238E27FC236}">
                <a16:creationId xmlns:a16="http://schemas.microsoft.com/office/drawing/2014/main" id="{9BE9743C-56F8-430C-B4EB-CC88AE0BADE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3</a:t>
            </a:r>
            <a:endParaRPr sz="850"/>
          </a:p>
        </p:txBody>
      </p:sp>
    </p:spTree>
    <p:extLst>
      <p:ext uri="{BB962C8B-B14F-4D97-AF65-F5344CB8AC3E}">
        <p14:creationId xmlns:p14="http://schemas.microsoft.com/office/powerpoint/2010/main" val="260839781"/>
      </p:ext>
    </p:extLst>
  </p:cSld>
</p:sld>
</file>

<file path=ppt/slides/slide30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0A930FB-00F6-43DC-ABA6-66CEBDB7F4D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RECONSTRUCTED FIVE</a:t>
            </a:r>
            <a:endParaRPr sz="950"/>
          </a:p>
        </p:txBody>
      </p:sp>
      <p:sp>
        <p:nvSpPr>
          <p:cNvPr id="3" name="Text 1">
            <a:extLst xmlns:a="http://schemas.openxmlformats.org/drawingml/2006/main">
              <a:ext uri="{FF2B5EF4-FFF2-40B4-BE49-F238E27FC236}">
                <a16:creationId xmlns:a16="http://schemas.microsoft.com/office/drawing/2014/main" id="{CB0A3003-25C9-4C40-9C5B-47D27C2FDC11}"/>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Five decks carry design detail rebuilt to illustrate an approach — these need a</a:t>
            </a:r>
            <a:endParaRPr sz="1900"/>
          </a:p>
          <a:p xmlns:a="http://schemas.openxmlformats.org/drawingml/2006/main">
            <a:pPr marL="0" indent="0">
              <a:lnSpc>
                <a:spcPts val="2400"/>
              </a:lnSpc>
              <a:buNone/>
            </a:pPr>
            <a:r>
              <a:rPr sz="1900" b="1">
                <a:solidFill>
                  <a:srgbClr val="102A43"/>
                </a:solidFill>
                <a:latin typeface="Arial"/>
                <a:ea typeface="Arial"/>
                <a:cs typeface="Arial"/>
              </a:rPr>
              <a:t>different answer, and it is a short one</a:t>
            </a:r>
            <a:endParaRPr sz="1900"/>
          </a:p>
        </p:txBody>
      </p:sp>
      <p:sp>
        <p:nvSpPr>
          <p:cNvPr id="4" name="Shape 2">
            <a:extLst xmlns:a="http://schemas.openxmlformats.org/drawingml/2006/main">
              <a:ext uri="{FF2B5EF4-FFF2-40B4-BE49-F238E27FC236}">
                <a16:creationId xmlns:a16="http://schemas.microsoft.com/office/drawing/2014/main" id="{CA896C47-E7A0-4A22-9E04-39B6C4EA4751}"/>
              </a:ext>
            </a:extLst>
          </p:cNvPr>
          <p:cNvSpPr>
            <a:spLocks xmlns:a="http://schemas.openxmlformats.org/drawingml/2006/main" noGrp="1"/>
          </p:cNvSpPr>
          <p:nvPr/>
        </p:nvSpPr>
        <p:spPr>
          <a:xfrm xmlns:a="http://schemas.openxmlformats.org/drawingml/2006/main">
            <a:off x="566928" y="1335024"/>
            <a:ext cx="3551834" cy="2651760"/>
          </a:xfrm>
          <a:prstGeom xmlns:a="http://schemas.openxmlformats.org/drawingml/2006/main" prst="rect">
            <a:avLst/>
          </a:prstGeom>
          <a:solidFill xmlns:a="http://schemas.openxmlformats.org/drawingml/2006/main">
            <a:srgbClr val="F3E6E0"/>
          </a:solidFill>
        </p:spPr>
      </p:sp>
      <p:sp>
        <p:nvSpPr>
          <p:cNvPr id="5" name="Text 3">
            <a:extLst xmlns:a="http://schemas.openxmlformats.org/drawingml/2006/main">
              <a:ext uri="{FF2B5EF4-FFF2-40B4-BE49-F238E27FC236}">
                <a16:creationId xmlns:a16="http://schemas.microsoft.com/office/drawing/2014/main" id="{65DD4B3A-5033-4754-89D9-BFEB5B4AA8E3}"/>
              </a:ext>
            </a:extLst>
          </p:cNvPr>
          <p:cNvSpPr>
            <a:spLocks xmlns:a="http://schemas.openxmlformats.org/drawingml/2006/main" noGrp="1"/>
          </p:cNvSpPr>
          <p:nvPr/>
        </p:nvSpPr>
        <p:spPr>
          <a:xfrm xmlns:a="http://schemas.openxmlformats.org/drawingml/2006/main">
            <a:off x="786384" y="1517904"/>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B04A25"/>
                </a:solidFill>
                <a:latin typeface="Arial"/>
                <a:ea typeface="Arial"/>
                <a:cs typeface="Arial"/>
              </a:rPr>
              <a:t>Which and why</a:t>
            </a:r>
            <a:endParaRPr sz="1250"/>
          </a:p>
        </p:txBody>
      </p:sp>
      <p:sp>
        <p:nvSpPr>
          <p:cNvPr id="6" name="Text 4">
            <a:extLst xmlns:a="http://schemas.openxmlformats.org/drawingml/2006/main">
              <a:ext uri="{FF2B5EF4-FFF2-40B4-BE49-F238E27FC236}">
                <a16:creationId xmlns:a16="http://schemas.microsoft.com/office/drawing/2014/main" id="{DDF867F1-4971-4298-93AE-4FB2A09C5EEC}"/>
              </a:ext>
            </a:extLst>
          </p:cNvPr>
          <p:cNvSpPr>
            <a:spLocks xmlns:a="http://schemas.openxmlformats.org/drawingml/2006/main" noGrp="1"/>
          </p:cNvSpPr>
          <p:nvPr/>
        </p:nvSpPr>
        <p:spPr>
          <a:xfrm xmlns:a="http://schemas.openxmlformats.org/drawingml/2006/main">
            <a:off x="786384" y="1883664"/>
            <a:ext cx="3112922"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12 and 13 — the insurance policy-servicing pair. Scope, systems and role are from the delivery record; the three revival paths and the stall decomposition are rebuilt.</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27, 28 and 29 — the three named credit unions. Institutional figures are public and solid; the view model, the processor split and the mismatch categories are rebuilt.</a:t>
            </a:r>
            <a:endParaRPr sz="960"/>
          </a:p>
          <a:p xmlns:a="http://schemas.openxmlformats.org/drawingml/2006/main">
            <a:pPr marL="152400" indent="-152400">
              <a:lnSpc>
                <a:spcPts val="1400"/>
              </a:lnSpc>
              <a:spcAft>
                <a:spcPts val="700"/>
              </a:spcAft>
              <a:buSzPct val="100000"/>
              <a:buChar char="•"/>
            </a:pPr>
            <a:r>
              <a:rPr sz="960">
                <a:solidFill>
                  <a:srgbClr val="1A1A1A"/>
                </a:solidFill>
                <a:latin typeface="Arial"/>
                <a:ea typeface="Arial"/>
                <a:cs typeface="Arial"/>
              </a:rPr>
              <a:t>All five say so on slide 3 and in the source line of the design slide.</a:t>
            </a:r>
            <a:endParaRPr sz="960"/>
          </a:p>
        </p:txBody>
      </p:sp>
      <p:sp>
        <p:nvSpPr>
          <p:cNvPr id="7" name="Shape 5">
            <a:extLst xmlns:a="http://schemas.openxmlformats.org/drawingml/2006/main">
              <a:ext uri="{FF2B5EF4-FFF2-40B4-BE49-F238E27FC236}">
                <a16:creationId xmlns:a16="http://schemas.microsoft.com/office/drawing/2014/main" id="{9DDC8C31-F316-472B-A455-3A75C02CB602}"/>
              </a:ext>
            </a:extLst>
          </p:cNvPr>
          <p:cNvSpPr>
            <a:spLocks xmlns:a="http://schemas.openxmlformats.org/drawingml/2006/main" noGrp="1"/>
          </p:cNvSpPr>
          <p:nvPr/>
        </p:nvSpPr>
        <p:spPr>
          <a:xfrm xmlns:a="http://schemas.openxmlformats.org/drawingml/2006/main">
            <a:off x="4319930" y="1335024"/>
            <a:ext cx="3551834" cy="2651760"/>
          </a:xfrm>
          <a:prstGeom xmlns:a="http://schemas.openxmlformats.org/drawingml/2006/main" prst="rect">
            <a:avLst/>
          </a:prstGeom>
          <a:solidFill xmlns:a="http://schemas.openxmlformats.org/drawingml/2006/main">
            <a:srgbClr val="F0F4F8"/>
          </a:solidFill>
        </p:spPr>
      </p:sp>
      <p:sp>
        <p:nvSpPr>
          <p:cNvPr id="8" name="Text 6">
            <a:extLst xmlns:a="http://schemas.openxmlformats.org/drawingml/2006/main">
              <a:ext uri="{FF2B5EF4-FFF2-40B4-BE49-F238E27FC236}">
                <a16:creationId xmlns:a16="http://schemas.microsoft.com/office/drawing/2014/main" id="{036E0806-C4CF-4847-85E1-810E92D7F5F8}"/>
              </a:ext>
            </a:extLst>
          </p:cNvPr>
          <p:cNvSpPr>
            <a:spLocks xmlns:a="http://schemas.openxmlformats.org/drawingml/2006/main" noGrp="1"/>
          </p:cNvSpPr>
          <p:nvPr/>
        </p:nvSpPr>
        <p:spPr>
          <a:xfrm xmlns:a="http://schemas.openxmlformats.org/drawingml/2006/main">
            <a:off x="4539386" y="1517904"/>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What to say, unprompted</a:t>
            </a:r>
            <a:endParaRPr sz="1250"/>
          </a:p>
        </p:txBody>
      </p:sp>
      <p:sp>
        <p:nvSpPr>
          <p:cNvPr id="9" name="Text 7">
            <a:extLst xmlns:a="http://schemas.openxmlformats.org/drawingml/2006/main">
              <a:ext uri="{FF2B5EF4-FFF2-40B4-BE49-F238E27FC236}">
                <a16:creationId xmlns:a16="http://schemas.microsoft.com/office/drawing/2014/main" id="{E02F79D5-F19F-460C-BBF7-39CC287039DC}"/>
              </a:ext>
            </a:extLst>
          </p:cNvPr>
          <p:cNvSpPr>
            <a:spLocks xmlns:a="http://schemas.openxmlformats.org/drawingml/2006/main" noGrp="1"/>
          </p:cNvSpPr>
          <p:nvPr/>
        </p:nvSpPr>
        <p:spPr>
          <a:xfrm xmlns:a="http://schemas.openxmlformats.org/drawingml/2006/main">
            <a:off x="4539386" y="1883664"/>
            <a:ext cx="3112922"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80">
                <a:solidFill>
                  <a:srgbClr val="1A1A1A"/>
                </a:solidFill>
                <a:latin typeface="Arial"/>
                <a:ea typeface="Arial"/>
                <a:cs typeface="Arial"/>
              </a:rPr>
              <a:t>“The engagement and the systems are from my record. The specific path definitions are reconstructed — I can talk through the approach in detail but I would not quote those categories as the exact ones we shipped.”</a:t>
            </a:r>
            <a:endParaRPr sz="980"/>
          </a:p>
          <a:p xmlns:a="http://schemas.openxmlformats.org/drawingml/2006/main">
            <a:pPr marL="0" indent="0" algn="l">
              <a:lnSpc>
                <a:spcPts val="1350"/>
              </a:lnSpc>
              <a:buNone/>
            </a:pPr>
            <a:endParaRPr sz="980"/>
          </a:p>
          <a:p xmlns:a="http://schemas.openxmlformats.org/drawingml/2006/main">
            <a:pPr marL="0" indent="0" algn="l">
              <a:lnSpc>
                <a:spcPts val="1350"/>
              </a:lnSpc>
              <a:buNone/>
            </a:pPr>
            <a:r>
              <a:rPr sz="980">
                <a:solidFill>
                  <a:srgbClr val="1A1A1A"/>
                </a:solidFill>
                <a:latin typeface="Arial"/>
                <a:ea typeface="Arial"/>
                <a:cs typeface="Arial"/>
              </a:rPr>
              <a:t>Say it before the design slide, not after. Volunteered it reads as precision; extracted it reads as a retreat.</a:t>
            </a:r>
            <a:endParaRPr sz="980"/>
          </a:p>
        </p:txBody>
      </p:sp>
      <p:sp>
        <p:nvSpPr>
          <p:cNvPr id="10" name="Shape 8">
            <a:extLst xmlns:a="http://schemas.openxmlformats.org/drawingml/2006/main">
              <a:ext uri="{FF2B5EF4-FFF2-40B4-BE49-F238E27FC236}">
                <a16:creationId xmlns:a16="http://schemas.microsoft.com/office/drawing/2014/main" id="{BA6B3267-67F0-42C0-BFB8-AFD866BA8F0E}"/>
              </a:ext>
            </a:extLst>
          </p:cNvPr>
          <p:cNvSpPr>
            <a:spLocks xmlns:a="http://schemas.openxmlformats.org/drawingml/2006/main" noGrp="1"/>
          </p:cNvSpPr>
          <p:nvPr/>
        </p:nvSpPr>
        <p:spPr>
          <a:xfrm xmlns:a="http://schemas.openxmlformats.org/drawingml/2006/main">
            <a:off x="8072933" y="1335024"/>
            <a:ext cx="3551834" cy="2651760"/>
          </a:xfrm>
          <a:prstGeom xmlns:a="http://schemas.openxmlformats.org/drawingml/2006/main" prst="rect">
            <a:avLst/>
          </a:prstGeom>
          <a:solidFill xmlns:a="http://schemas.openxmlformats.org/drawingml/2006/main">
            <a:srgbClr val="F0F4F8"/>
          </a:solidFill>
        </p:spPr>
      </p:sp>
      <p:sp>
        <p:nvSpPr>
          <p:cNvPr id="11" name="Text 9">
            <a:extLst xmlns:a="http://schemas.openxmlformats.org/drawingml/2006/main">
              <a:ext uri="{FF2B5EF4-FFF2-40B4-BE49-F238E27FC236}">
                <a16:creationId xmlns:a16="http://schemas.microsoft.com/office/drawing/2014/main" id="{B6256306-4C54-4CDB-AC91-2918E7093BA5}"/>
              </a:ext>
            </a:extLst>
          </p:cNvPr>
          <p:cNvSpPr>
            <a:spLocks xmlns:a="http://schemas.openxmlformats.org/drawingml/2006/main" noGrp="1"/>
          </p:cNvSpPr>
          <p:nvPr/>
        </p:nvSpPr>
        <p:spPr>
          <a:xfrm xmlns:a="http://schemas.openxmlformats.org/drawingml/2006/main">
            <a:off x="8292389" y="1517904"/>
            <a:ext cx="311292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b="1">
                <a:solidFill>
                  <a:srgbClr val="102A43"/>
                </a:solidFill>
                <a:latin typeface="Arial"/>
                <a:ea typeface="Arial"/>
                <a:cs typeface="Arial"/>
              </a:rPr>
              <a:t>The upgrade available</a:t>
            </a:r>
            <a:endParaRPr sz="1250"/>
          </a:p>
        </p:txBody>
      </p:sp>
      <p:sp>
        <p:nvSpPr>
          <p:cNvPr id="12" name="Text 10">
            <a:extLst xmlns:a="http://schemas.openxmlformats.org/drawingml/2006/main">
              <a:ext uri="{FF2B5EF4-FFF2-40B4-BE49-F238E27FC236}">
                <a16:creationId xmlns:a16="http://schemas.microsoft.com/office/drawing/2014/main" id="{F7843131-8FC5-43BF-8BB3-9AB8A63DAE90}"/>
              </a:ext>
            </a:extLst>
          </p:cNvPr>
          <p:cNvSpPr>
            <a:spLocks xmlns:a="http://schemas.openxmlformats.org/drawingml/2006/main" noGrp="1"/>
          </p:cNvSpPr>
          <p:nvPr/>
        </p:nvSpPr>
        <p:spPr>
          <a:xfrm xmlns:a="http://schemas.openxmlformats.org/drawingml/2006/main">
            <a:off x="8292389" y="1883664"/>
            <a:ext cx="3112922" cy="19751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80">
                <a:solidFill>
                  <a:srgbClr val="486581"/>
                </a:solidFill>
                <a:latin typeface="Arial"/>
                <a:ea typeface="Arial"/>
                <a:cs typeface="Arial"/>
              </a:rPr>
              <a:t>Three or four sentences of recollection per deck moves all five from declared reconstruction to delivery record. It is the single largest quality gain still available in the portfolio, and it costs about twenty minutes.</a:t>
            </a:r>
            <a:endParaRPr sz="980"/>
          </a:p>
          <a:p xmlns:a="http://schemas.openxmlformats.org/drawingml/2006/main">
            <a:pPr marL="0" indent="0" algn="l">
              <a:lnSpc>
                <a:spcPts val="1350"/>
              </a:lnSpc>
              <a:buNone/>
            </a:pPr>
            <a:endParaRPr sz="980"/>
          </a:p>
          <a:p xmlns:a="http://schemas.openxmlformats.org/drawingml/2006/main">
            <a:pPr marL="0" indent="0" algn="l">
              <a:lnSpc>
                <a:spcPts val="1350"/>
              </a:lnSpc>
              <a:buNone/>
            </a:pPr>
            <a:r>
              <a:rPr sz="980">
                <a:solidFill>
                  <a:srgbClr val="486581"/>
                </a:solidFill>
                <a:latin typeface="Arial"/>
                <a:ea typeface="Arial"/>
                <a:cs typeface="Arial"/>
              </a:rPr>
              <a:t>Until then they are safe, honest and slightly weaker than the other twenty-five.</a:t>
            </a:r>
            <a:endParaRPr sz="980"/>
          </a:p>
        </p:txBody>
      </p:sp>
      <p:sp>
        <p:nvSpPr>
          <p:cNvPr id="13" name="Shape 11">
            <a:extLst xmlns:a="http://schemas.openxmlformats.org/drawingml/2006/main">
              <a:ext uri="{FF2B5EF4-FFF2-40B4-BE49-F238E27FC236}">
                <a16:creationId xmlns:a16="http://schemas.microsoft.com/office/drawing/2014/main" id="{DE98635E-4895-40EC-9C64-AEC6AD287E7D}"/>
              </a:ext>
            </a:extLst>
          </p:cNvPr>
          <p:cNvSpPr>
            <a:spLocks xmlns:a="http://schemas.openxmlformats.org/drawingml/2006/main" noGrp="1"/>
          </p:cNvSpPr>
          <p:nvPr/>
        </p:nvSpPr>
        <p:spPr>
          <a:xfrm xmlns:a="http://schemas.openxmlformats.org/drawingml/2006/main">
            <a:off x="566928" y="4242816"/>
            <a:ext cx="11057839" cy="1828800"/>
          </a:xfrm>
          <a:prstGeom xmlns:a="http://schemas.openxmlformats.org/drawingml/2006/main" prst="rect">
            <a:avLst/>
          </a:prstGeom>
          <a:solidFill xmlns:a="http://schemas.openxmlformats.org/drawingml/2006/main">
            <a:srgbClr val="F3E6E0"/>
          </a:solidFill>
        </p:spPr>
      </p:sp>
      <p:sp>
        <p:nvSpPr>
          <p:cNvPr id="14" name="Text 12">
            <a:extLst xmlns:a="http://schemas.openxmlformats.org/drawingml/2006/main">
              <a:ext uri="{FF2B5EF4-FFF2-40B4-BE49-F238E27FC236}">
                <a16:creationId xmlns:a16="http://schemas.microsoft.com/office/drawing/2014/main" id="{14AEFE11-3CF1-4A43-B87C-B2EBB3E44523}"/>
              </a:ext>
            </a:extLst>
          </p:cNvPr>
          <p:cNvSpPr>
            <a:spLocks xmlns:a="http://schemas.openxmlformats.org/drawingml/2006/main" noGrp="1"/>
          </p:cNvSpPr>
          <p:nvPr/>
        </p:nvSpPr>
        <p:spPr>
          <a:xfrm xmlns:a="http://schemas.openxmlformats.org/drawingml/2006/main">
            <a:off x="804672" y="4389120"/>
            <a:ext cx="10582351"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00"/>
              </a:lnSpc>
              <a:buNone/>
            </a:pPr>
            <a:r>
              <a:rPr sz="1100" b="1">
                <a:solidFill>
                  <a:srgbClr val="B04A25"/>
                </a:solidFill>
                <a:latin typeface="Arial"/>
                <a:ea typeface="Arial"/>
                <a:cs typeface="Arial"/>
              </a:rPr>
              <a:t>The three questions that reach these decks, and the answers</a:t>
            </a:r>
            <a:endParaRPr sz="1100"/>
          </a:p>
        </p:txBody>
      </p:sp>
      <p:sp>
        <p:nvSpPr>
          <p:cNvPr id="15" name="Text 13">
            <a:extLst xmlns:a="http://schemas.openxmlformats.org/drawingml/2006/main">
              <a:ext uri="{FF2B5EF4-FFF2-40B4-BE49-F238E27FC236}">
                <a16:creationId xmlns:a16="http://schemas.microsoft.com/office/drawing/2014/main" id="{1CAEEAB2-F8D9-48DC-B51A-5234C2192456}"/>
              </a:ext>
            </a:extLst>
          </p:cNvPr>
          <p:cNvSpPr>
            <a:spLocks xmlns:a="http://schemas.openxmlformats.org/drawingml/2006/main" noGrp="1"/>
          </p:cNvSpPr>
          <p:nvPr/>
        </p:nvSpPr>
        <p:spPr>
          <a:xfrm xmlns:a="http://schemas.openxmlformats.org/drawingml/2006/main">
            <a:off x="804672" y="4645152"/>
            <a:ext cx="10582351" cy="131673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990">
                <a:solidFill>
                  <a:srgbClr val="1A1A1A"/>
                </a:solidFill>
                <a:latin typeface="Arial"/>
                <a:ea typeface="Arial"/>
                <a:cs typeface="Arial"/>
              </a:rPr>
              <a:t>“Did you build this?” — The engagement is mine, the scope is mine, the approach is mine. The specific categories on the slide are reconstructed, and the deck says so.</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“Why reconstruct rather than use the real ones?” — Because the original artefacts are the client's, not mine to reproduce, and because I would rather show a defensible illustration than misremember a detail under questioning.</a:t>
            </a:r>
            <a:endParaRPr sz="990"/>
          </a:p>
          <a:p xmlns:a="http://schemas.openxmlformats.org/drawingml/2006/main">
            <a:pPr marL="0" indent="0" algn="l">
              <a:lnSpc>
                <a:spcPts val="1350"/>
              </a:lnSpc>
              <a:buNone/>
            </a:pPr>
            <a:endParaRPr sz="990"/>
          </a:p>
          <a:p xmlns:a="http://schemas.openxmlformats.org/drawingml/2006/main">
            <a:pPr marL="0" indent="0" algn="l">
              <a:lnSpc>
                <a:spcPts val="1350"/>
              </a:lnSpc>
              <a:buNone/>
            </a:pPr>
            <a:r>
              <a:rPr sz="990">
                <a:solidFill>
                  <a:srgbClr val="1A1A1A"/>
                </a:solidFill>
                <a:latin typeface="Arial"/>
                <a:ea typeface="Arial"/>
                <a:cs typeface="Arial"/>
              </a:rPr>
              <a:t>“What did the real ones look like?” — Answer from memory, in prose, with the uncertainty stated. A remembered “roughly this, I think three or four categories” is worth more than a confident slide, and an interviewer knows the difference.</a:t>
            </a:r>
            <a:endParaRPr sz="990"/>
          </a:p>
        </p:txBody>
      </p:sp>
      <p:sp>
        <p:nvSpPr>
          <p:cNvPr id="16" name="Shape 14">
            <a:extLst xmlns:a="http://schemas.openxmlformats.org/drawingml/2006/main">
              <a:ext uri="{FF2B5EF4-FFF2-40B4-BE49-F238E27FC236}">
                <a16:creationId xmlns:a16="http://schemas.microsoft.com/office/drawing/2014/main" id="{11E50E23-4898-483B-B74B-2BFBA37F3BEB}"/>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17" name="Text 15">
            <a:extLst xmlns:a="http://schemas.openxmlformats.org/drawingml/2006/main">
              <a:ext uri="{FF2B5EF4-FFF2-40B4-BE49-F238E27FC236}">
                <a16:creationId xmlns:a16="http://schemas.microsoft.com/office/drawing/2014/main" id="{D19C6FB8-1703-4F10-BCA1-E528A9A3260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portfolio</a:t>
            </a:r>
            <a:endParaRPr sz="850"/>
          </a:p>
        </p:txBody>
      </p:sp>
      <p:sp>
        <p:nvSpPr>
          <p:cNvPr id="18" name="Text 16">
            <a:extLst xmlns:a="http://schemas.openxmlformats.org/drawingml/2006/main">
              <a:ext uri="{FF2B5EF4-FFF2-40B4-BE49-F238E27FC236}">
                <a16:creationId xmlns:a16="http://schemas.microsoft.com/office/drawing/2014/main" id="{6ADC4CE3-1D67-402E-AAA3-524F2C31F656}"/>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4</a:t>
            </a:r>
            <a:endParaRPr sz="850"/>
          </a:p>
        </p:txBody>
      </p:sp>
    </p:spTree>
    <p:extLst>
      <p:ext uri="{BB962C8B-B14F-4D97-AF65-F5344CB8AC3E}">
        <p14:creationId xmlns:p14="http://schemas.microsoft.com/office/powerpoint/2010/main" val="1753108410"/>
      </p:ext>
    </p:extLst>
  </p:cSld>
</p:sld>
</file>

<file path=ppt/slides/slide30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FB32160-E1B3-4E17-90D2-959A7AFE9BCE}"/>
              </a:ext>
            </a:extLst>
          </p:cNvPr>
          <p:cNvSpPr>
            <a:spLocks xmlns:a="http://schemas.openxmlformats.org/drawingml/2006/main" noGrp="1"/>
          </p:cNvSpPr>
          <p:nvPr/>
        </p:nvSpPr>
        <p:spPr>
          <a:xfrm xmlns:a="http://schemas.openxmlformats.org/drawingml/2006/main">
            <a:off x="566928" y="384048"/>
            <a:ext cx="11057839" cy="2011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spc="160">
                <a:solidFill>
                  <a:srgbClr val="B04A25"/>
                </a:solidFill>
                <a:latin typeface="Arial"/>
                <a:ea typeface="Arial"/>
                <a:cs typeface="Arial"/>
              </a:rPr>
              <a:t>THE GENERAL POSITION</a:t>
            </a:r>
            <a:endParaRPr sz="950"/>
          </a:p>
        </p:txBody>
      </p:sp>
      <p:sp>
        <p:nvSpPr>
          <p:cNvPr id="3" name="Text 1">
            <a:extLst xmlns:a="http://schemas.openxmlformats.org/drawingml/2006/main">
              <a:ext uri="{FF2B5EF4-FFF2-40B4-BE49-F238E27FC236}">
                <a16:creationId xmlns:a16="http://schemas.microsoft.com/office/drawing/2014/main" id="{21BABD0C-B2C3-4336-AEAA-A2B631729CF4}"/>
              </a:ext>
            </a:extLst>
          </p:cNvPr>
          <p:cNvSpPr>
            <a:spLocks xmlns:a="http://schemas.openxmlformats.org/drawingml/2006/main" noGrp="1"/>
          </p:cNvSpPr>
          <p:nvPr/>
        </p:nvSpPr>
        <p:spPr>
          <a:xfrm xmlns:a="http://schemas.openxmlformats.org/drawingml/2006/main">
            <a:off x="566928" y="621792"/>
            <a:ext cx="11057839" cy="65836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400"/>
              </a:lnSpc>
              <a:buNone/>
            </a:pPr>
            <a:r>
              <a:rPr sz="1900" b="1">
                <a:solidFill>
                  <a:srgbClr val="102A43"/>
                </a:solidFill>
                <a:latin typeface="Arial"/>
                <a:ea typeface="Arial"/>
                <a:cs typeface="Arial"/>
              </a:rPr>
              <a:t>One posture handles every challenge to every number in the portfolio</a:t>
            </a:r>
            <a:endParaRPr sz="1900"/>
          </a:p>
        </p:txBody>
      </p:sp>
      <p:sp>
        <p:nvSpPr>
          <p:cNvPr id="4" name="Text 2">
            <a:extLst xmlns:a="http://schemas.openxmlformats.org/drawingml/2006/main">
              <a:ext uri="{FF2B5EF4-FFF2-40B4-BE49-F238E27FC236}">
                <a16:creationId xmlns:a16="http://schemas.microsoft.com/office/drawing/2014/main" id="{2FE8AE56-D28E-4E04-AD6C-84AD9076F931}"/>
              </a:ext>
            </a:extLst>
          </p:cNvPr>
          <p:cNvSpPr>
            <a:spLocks xmlns:a="http://schemas.openxmlformats.org/drawingml/2006/main" noGrp="1"/>
          </p:cNvSpPr>
          <p:nvPr/>
        </p:nvSpPr>
        <p:spPr>
          <a:xfrm xmlns:a="http://schemas.openxmlformats.org/drawingml/2006/main">
            <a:off x="566928" y="135331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01</a:t>
            </a:r>
            <a:endParaRPr sz="1900"/>
          </a:p>
        </p:txBody>
      </p:sp>
      <p:sp>
        <p:nvSpPr>
          <p:cNvPr id="5" name="Text 3">
            <a:extLst xmlns:a="http://schemas.openxmlformats.org/drawingml/2006/main">
              <a:ext uri="{FF2B5EF4-FFF2-40B4-BE49-F238E27FC236}">
                <a16:creationId xmlns:a16="http://schemas.microsoft.com/office/drawing/2014/main" id="{98F1CD18-632F-42B9-8183-6AA758F7C6D1}"/>
              </a:ext>
            </a:extLst>
          </p:cNvPr>
          <p:cNvSpPr>
            <a:spLocks xmlns:a="http://schemas.openxmlformats.org/drawingml/2006/main" noGrp="1"/>
          </p:cNvSpPr>
          <p:nvPr/>
        </p:nvSpPr>
        <p:spPr>
          <a:xfrm xmlns:a="http://schemas.openxmlformats.org/drawingml/2006/main">
            <a:off x="1207008" y="1335024"/>
            <a:ext cx="3840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Classify before you defend</a:t>
            </a:r>
            <a:endParaRPr sz="1200"/>
          </a:p>
        </p:txBody>
      </p:sp>
      <p:sp>
        <p:nvSpPr>
          <p:cNvPr id="6" name="Text 4">
            <a:extLst xmlns:a="http://schemas.openxmlformats.org/drawingml/2006/main">
              <a:ext uri="{FF2B5EF4-FFF2-40B4-BE49-F238E27FC236}">
                <a16:creationId xmlns:a16="http://schemas.microsoft.com/office/drawing/2014/main" id="{B3774D93-6172-4925-A358-AFD6BB311808}"/>
              </a:ext>
            </a:extLst>
          </p:cNvPr>
          <p:cNvSpPr>
            <a:spLocks xmlns:a="http://schemas.openxmlformats.org/drawingml/2006/main" noGrp="1"/>
          </p:cNvSpPr>
          <p:nvPr/>
        </p:nvSpPr>
        <p:spPr>
          <a:xfrm xmlns:a="http://schemas.openxmlformats.org/drawingml/2006/main">
            <a:off x="5321808" y="1353312"/>
            <a:ext cx="630295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Every figure is one of four things — publicly reported, from my delivery record, benchmark-calibrated, or a structural model. Naming which one, immediately, ends most challenges before they develop.</a:t>
            </a:r>
            <a:endParaRPr sz="1000"/>
          </a:p>
        </p:txBody>
      </p:sp>
      <p:sp>
        <p:nvSpPr>
          <p:cNvPr id="7" name="Shape 5">
            <a:extLst xmlns:a="http://schemas.openxmlformats.org/drawingml/2006/main">
              <a:ext uri="{FF2B5EF4-FFF2-40B4-BE49-F238E27FC236}">
                <a16:creationId xmlns:a16="http://schemas.microsoft.com/office/drawing/2014/main" id="{DF8456E2-68DF-4BE8-8282-DF55F7C2A3C7}"/>
              </a:ext>
            </a:extLst>
          </p:cNvPr>
          <p:cNvSpPr>
            <a:spLocks xmlns:a="http://schemas.openxmlformats.org/drawingml/2006/main" noGrp="1"/>
          </p:cNvSpPr>
          <p:nvPr/>
        </p:nvSpPr>
        <p:spPr>
          <a:xfrm xmlns:a="http://schemas.openxmlformats.org/drawingml/2006/main">
            <a:off x="566928" y="2212848"/>
            <a:ext cx="11057839" cy="7315"/>
          </a:xfrm>
          <a:prstGeom xmlns:a="http://schemas.openxmlformats.org/drawingml/2006/main" prst="rect">
            <a:avLst/>
          </a:prstGeom>
          <a:solidFill xmlns:a="http://schemas.openxmlformats.org/drawingml/2006/main">
            <a:srgbClr val="CBD5E0"/>
          </a:solidFill>
        </p:spPr>
      </p:sp>
      <p:sp>
        <p:nvSpPr>
          <p:cNvPr id="8" name="Text 6">
            <a:extLst xmlns:a="http://schemas.openxmlformats.org/drawingml/2006/main">
              <a:ext uri="{FF2B5EF4-FFF2-40B4-BE49-F238E27FC236}">
                <a16:creationId xmlns:a16="http://schemas.microsoft.com/office/drawing/2014/main" id="{5E24A676-D09F-445B-BF81-62D4074693EB}"/>
              </a:ext>
            </a:extLst>
          </p:cNvPr>
          <p:cNvSpPr>
            <a:spLocks xmlns:a="http://schemas.openxmlformats.org/drawingml/2006/main" noGrp="1"/>
          </p:cNvSpPr>
          <p:nvPr/>
        </p:nvSpPr>
        <p:spPr>
          <a:xfrm xmlns:a="http://schemas.openxmlformats.org/drawingml/2006/main">
            <a:off x="566928" y="235915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02</a:t>
            </a:r>
            <a:endParaRPr sz="1900"/>
          </a:p>
        </p:txBody>
      </p:sp>
      <p:sp>
        <p:nvSpPr>
          <p:cNvPr id="9" name="Text 7">
            <a:extLst xmlns:a="http://schemas.openxmlformats.org/drawingml/2006/main">
              <a:ext uri="{FF2B5EF4-FFF2-40B4-BE49-F238E27FC236}">
                <a16:creationId xmlns:a16="http://schemas.microsoft.com/office/drawing/2014/main" id="{112E97FA-D71B-49D3-BECD-30EAC26A342A}"/>
              </a:ext>
            </a:extLst>
          </p:cNvPr>
          <p:cNvSpPr>
            <a:spLocks xmlns:a="http://schemas.openxmlformats.org/drawingml/2006/main" noGrp="1"/>
          </p:cNvSpPr>
          <p:nvPr/>
        </p:nvSpPr>
        <p:spPr>
          <a:xfrm xmlns:a="http://schemas.openxmlformats.org/drawingml/2006/main">
            <a:off x="1207008" y="2340864"/>
            <a:ext cx="3840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Concede the value, hold the shape</a:t>
            </a:r>
            <a:endParaRPr sz="1200"/>
          </a:p>
        </p:txBody>
      </p:sp>
      <p:sp>
        <p:nvSpPr>
          <p:cNvPr id="10" name="Text 8">
            <a:extLst xmlns:a="http://schemas.openxmlformats.org/drawingml/2006/main">
              <a:ext uri="{FF2B5EF4-FFF2-40B4-BE49-F238E27FC236}">
                <a16:creationId xmlns:a16="http://schemas.microsoft.com/office/drawing/2014/main" id="{39470D8E-99B6-48F5-90BA-4C28237CD006}"/>
              </a:ext>
            </a:extLst>
          </p:cNvPr>
          <p:cNvSpPr>
            <a:spLocks xmlns:a="http://schemas.openxmlformats.org/drawingml/2006/main" noGrp="1"/>
          </p:cNvSpPr>
          <p:nvPr/>
        </p:nvSpPr>
        <p:spPr>
          <a:xfrm xmlns:a="http://schemas.openxmlformats.org/drawingml/2006/main">
            <a:off x="5321808" y="2359152"/>
            <a:ext cx="630295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For any model: “those are modelled numbers — do you disagree with the shape?” Nobody who has run a programme disagrees with a declining marginal-cost curve or a two-thirds integration overhead.</a:t>
            </a:r>
            <a:endParaRPr sz="1000"/>
          </a:p>
        </p:txBody>
      </p:sp>
      <p:sp>
        <p:nvSpPr>
          <p:cNvPr id="11" name="Shape 9">
            <a:extLst xmlns:a="http://schemas.openxmlformats.org/drawingml/2006/main">
              <a:ext uri="{FF2B5EF4-FFF2-40B4-BE49-F238E27FC236}">
                <a16:creationId xmlns:a16="http://schemas.microsoft.com/office/drawing/2014/main" id="{B321C565-7995-4A51-9D81-7CFEF4B4A92E}"/>
              </a:ext>
            </a:extLst>
          </p:cNvPr>
          <p:cNvSpPr>
            <a:spLocks xmlns:a="http://schemas.openxmlformats.org/drawingml/2006/main" noGrp="1"/>
          </p:cNvSpPr>
          <p:nvPr/>
        </p:nvSpPr>
        <p:spPr>
          <a:xfrm xmlns:a="http://schemas.openxmlformats.org/drawingml/2006/main">
            <a:off x="566928" y="3218688"/>
            <a:ext cx="11057839" cy="7315"/>
          </a:xfrm>
          <a:prstGeom xmlns:a="http://schemas.openxmlformats.org/drawingml/2006/main" prst="rect">
            <a:avLst/>
          </a:prstGeom>
          <a:solidFill xmlns:a="http://schemas.openxmlformats.org/drawingml/2006/main">
            <a:srgbClr val="CBD5E0"/>
          </a:solidFill>
        </p:spPr>
      </p:sp>
      <p:sp>
        <p:nvSpPr>
          <p:cNvPr id="12" name="Text 10">
            <a:extLst xmlns:a="http://schemas.openxmlformats.org/drawingml/2006/main">
              <a:ext uri="{FF2B5EF4-FFF2-40B4-BE49-F238E27FC236}">
                <a16:creationId xmlns:a16="http://schemas.microsoft.com/office/drawing/2014/main" id="{89E7FE66-A6D3-4FE6-A52A-4A556D84BF05}"/>
              </a:ext>
            </a:extLst>
          </p:cNvPr>
          <p:cNvSpPr>
            <a:spLocks xmlns:a="http://schemas.openxmlformats.org/drawingml/2006/main" noGrp="1"/>
          </p:cNvSpPr>
          <p:nvPr/>
        </p:nvSpPr>
        <p:spPr>
          <a:xfrm xmlns:a="http://schemas.openxmlformats.org/drawingml/2006/main">
            <a:off x="566928" y="336499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03</a:t>
            </a:r>
            <a:endParaRPr sz="1900"/>
          </a:p>
        </p:txBody>
      </p:sp>
      <p:sp>
        <p:nvSpPr>
          <p:cNvPr id="13" name="Text 11">
            <a:extLst xmlns:a="http://schemas.openxmlformats.org/drawingml/2006/main">
              <a:ext uri="{FF2B5EF4-FFF2-40B4-BE49-F238E27FC236}">
                <a16:creationId xmlns:a16="http://schemas.microsoft.com/office/drawing/2014/main" id="{183FB716-EEC8-4948-BCC2-E35C561A9028}"/>
              </a:ext>
            </a:extLst>
          </p:cNvPr>
          <p:cNvSpPr>
            <a:spLocks xmlns:a="http://schemas.openxmlformats.org/drawingml/2006/main" noGrp="1"/>
          </p:cNvSpPr>
          <p:nvPr/>
        </p:nvSpPr>
        <p:spPr>
          <a:xfrm xmlns:a="http://schemas.openxmlformats.org/drawingml/2006/main">
            <a:off x="1207008" y="3346704"/>
            <a:ext cx="3840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Volunteer the weakness first</a:t>
            </a:r>
            <a:endParaRPr sz="1200"/>
          </a:p>
        </p:txBody>
      </p:sp>
      <p:sp>
        <p:nvSpPr>
          <p:cNvPr id="14" name="Text 12">
            <a:extLst xmlns:a="http://schemas.openxmlformats.org/drawingml/2006/main">
              <a:ext uri="{FF2B5EF4-FFF2-40B4-BE49-F238E27FC236}">
                <a16:creationId xmlns:a16="http://schemas.microsoft.com/office/drawing/2014/main" id="{2EF6990B-F229-4E10-AE71-6D7F23557A95}"/>
              </a:ext>
            </a:extLst>
          </p:cNvPr>
          <p:cNvSpPr>
            <a:spLocks xmlns:a="http://schemas.openxmlformats.org/drawingml/2006/main" noGrp="1"/>
          </p:cNvSpPr>
          <p:nvPr/>
        </p:nvSpPr>
        <p:spPr>
          <a:xfrm xmlns:a="http://schemas.openxmlformats.org/drawingml/2006/main">
            <a:off x="5321808" y="3364992"/>
            <a:ext cx="630295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Saying which five decks carry reconstructed detail, before anyone asks, converts your softest evidence into a demonstration of how carefully you handle evidence.</a:t>
            </a:r>
            <a:endParaRPr sz="1000"/>
          </a:p>
        </p:txBody>
      </p:sp>
      <p:sp>
        <p:nvSpPr>
          <p:cNvPr id="15" name="Shape 13">
            <a:extLst xmlns:a="http://schemas.openxmlformats.org/drawingml/2006/main">
              <a:ext uri="{FF2B5EF4-FFF2-40B4-BE49-F238E27FC236}">
                <a16:creationId xmlns:a16="http://schemas.microsoft.com/office/drawing/2014/main" id="{F2A64F84-D39E-48AA-99DB-FB3044855E0B}"/>
              </a:ext>
            </a:extLst>
          </p:cNvPr>
          <p:cNvSpPr>
            <a:spLocks xmlns:a="http://schemas.openxmlformats.org/drawingml/2006/main" noGrp="1"/>
          </p:cNvSpPr>
          <p:nvPr/>
        </p:nvSpPr>
        <p:spPr>
          <a:xfrm xmlns:a="http://schemas.openxmlformats.org/drawingml/2006/main">
            <a:off x="566928" y="4224528"/>
            <a:ext cx="11057839" cy="7315"/>
          </a:xfrm>
          <a:prstGeom xmlns:a="http://schemas.openxmlformats.org/drawingml/2006/main" prst="rect">
            <a:avLst/>
          </a:prstGeom>
          <a:solidFill xmlns:a="http://schemas.openxmlformats.org/drawingml/2006/main">
            <a:srgbClr val="CBD5E0"/>
          </a:solidFill>
        </p:spPr>
      </p:sp>
      <p:sp>
        <p:nvSpPr>
          <p:cNvPr id="16" name="Text 14">
            <a:extLst xmlns:a="http://schemas.openxmlformats.org/drawingml/2006/main">
              <a:ext uri="{FF2B5EF4-FFF2-40B4-BE49-F238E27FC236}">
                <a16:creationId xmlns:a16="http://schemas.microsoft.com/office/drawing/2014/main" id="{55A3EF6E-2691-4C0F-8F94-E3E816673987}"/>
              </a:ext>
            </a:extLst>
          </p:cNvPr>
          <p:cNvSpPr>
            <a:spLocks xmlns:a="http://schemas.openxmlformats.org/drawingml/2006/main" noGrp="1"/>
          </p:cNvSpPr>
          <p:nvPr/>
        </p:nvSpPr>
        <p:spPr>
          <a:xfrm xmlns:a="http://schemas.openxmlformats.org/drawingml/2006/main">
            <a:off x="566928" y="4370832"/>
            <a:ext cx="56692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2300"/>
              </a:lnSpc>
              <a:buNone/>
            </a:pPr>
            <a:r>
              <a:rPr sz="1900" b="1">
                <a:solidFill>
                  <a:srgbClr val="D9BBAE"/>
                </a:solidFill>
                <a:latin typeface="Arial"/>
                <a:ea typeface="Arial"/>
                <a:cs typeface="Arial"/>
              </a:rPr>
              <a:t>04</a:t>
            </a:r>
            <a:endParaRPr sz="1900"/>
          </a:p>
        </p:txBody>
      </p:sp>
      <p:sp>
        <p:nvSpPr>
          <p:cNvPr id="17" name="Text 15">
            <a:extLst xmlns:a="http://schemas.openxmlformats.org/drawingml/2006/main">
              <a:ext uri="{FF2B5EF4-FFF2-40B4-BE49-F238E27FC236}">
                <a16:creationId xmlns:a16="http://schemas.microsoft.com/office/drawing/2014/main" id="{7E5E3C95-340C-4CDA-B80E-324E35682EE9}"/>
              </a:ext>
            </a:extLst>
          </p:cNvPr>
          <p:cNvSpPr>
            <a:spLocks xmlns:a="http://schemas.openxmlformats.org/drawingml/2006/main" noGrp="1"/>
          </p:cNvSpPr>
          <p:nvPr/>
        </p:nvSpPr>
        <p:spPr>
          <a:xfrm xmlns:a="http://schemas.openxmlformats.org/drawingml/2006/main">
            <a:off x="1207008" y="4352544"/>
            <a:ext cx="38404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450"/>
              </a:lnSpc>
              <a:buNone/>
            </a:pPr>
            <a:r>
              <a:rPr sz="1200" b="1">
                <a:solidFill>
                  <a:srgbClr val="102A43"/>
                </a:solidFill>
                <a:latin typeface="Arial"/>
                <a:ea typeface="Arial"/>
                <a:cs typeface="Arial"/>
              </a:rPr>
              <a:t>Offer the better question</a:t>
            </a:r>
            <a:endParaRPr sz="1200"/>
          </a:p>
        </p:txBody>
      </p:sp>
      <p:sp>
        <p:nvSpPr>
          <p:cNvPr id="18" name="Text 16">
            <a:extLst xmlns:a="http://schemas.openxmlformats.org/drawingml/2006/main">
              <a:ext uri="{FF2B5EF4-FFF2-40B4-BE49-F238E27FC236}">
                <a16:creationId xmlns:a16="http://schemas.microsoft.com/office/drawing/2014/main" id="{F5035F11-D360-447E-8E9D-271B45563A27}"/>
              </a:ext>
            </a:extLst>
          </p:cNvPr>
          <p:cNvSpPr>
            <a:spLocks xmlns:a="http://schemas.openxmlformats.org/drawingml/2006/main" noGrp="1"/>
          </p:cNvSpPr>
          <p:nvPr/>
        </p:nvSpPr>
        <p:spPr>
          <a:xfrm xmlns:a="http://schemas.openxmlformats.org/drawingml/2006/main">
            <a:off x="5321808" y="4370832"/>
            <a:ext cx="6302959" cy="8046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350"/>
              </a:lnSpc>
              <a:buNone/>
            </a:pPr>
            <a:r>
              <a:rPr sz="1000">
                <a:solidFill>
                  <a:srgbClr val="1A1A1A"/>
                </a:solidFill>
                <a:latin typeface="Arial"/>
                <a:ea typeface="Arial"/>
                <a:cs typeface="Arial"/>
              </a:rPr>
              <a:t>“I would want your actual figure, because the design changes depending on where you sit.” True, useful, and it moves the conversation from auditing your past to designing their future.</a:t>
            </a:r>
            <a:endParaRPr sz="1000"/>
          </a:p>
        </p:txBody>
      </p:sp>
      <p:sp>
        <p:nvSpPr>
          <p:cNvPr id="19" name="Shape 17">
            <a:extLst xmlns:a="http://schemas.openxmlformats.org/drawingml/2006/main">
              <a:ext uri="{FF2B5EF4-FFF2-40B4-BE49-F238E27FC236}">
                <a16:creationId xmlns:a16="http://schemas.microsoft.com/office/drawing/2014/main" id="{0070F04B-0814-4BD0-AE1A-B197D4ABF30F}"/>
              </a:ext>
            </a:extLst>
          </p:cNvPr>
          <p:cNvSpPr>
            <a:spLocks xmlns:a="http://schemas.openxmlformats.org/drawingml/2006/main" noGrp="1"/>
          </p:cNvSpPr>
          <p:nvPr/>
        </p:nvSpPr>
        <p:spPr>
          <a:xfrm xmlns:a="http://schemas.openxmlformats.org/drawingml/2006/main">
            <a:off x="566928" y="5413248"/>
            <a:ext cx="11057839" cy="804672"/>
          </a:xfrm>
          <a:prstGeom xmlns:a="http://schemas.openxmlformats.org/drawingml/2006/main" prst="rect">
            <a:avLst/>
          </a:prstGeom>
          <a:solidFill xmlns:a="http://schemas.openxmlformats.org/drawingml/2006/main">
            <a:srgbClr val="102A43"/>
          </a:solidFill>
        </p:spPr>
      </p:sp>
      <p:sp>
        <p:nvSpPr>
          <p:cNvPr id="20" name="Text 18">
            <a:extLst xmlns:a="http://schemas.openxmlformats.org/drawingml/2006/main">
              <a:ext uri="{FF2B5EF4-FFF2-40B4-BE49-F238E27FC236}">
                <a16:creationId xmlns:a16="http://schemas.microsoft.com/office/drawing/2014/main" id="{3CA82B6F-F4C0-413F-89DE-FFAD81D7FFA1}"/>
              </a:ext>
            </a:extLst>
          </p:cNvPr>
          <p:cNvSpPr>
            <a:spLocks xmlns:a="http://schemas.openxmlformats.org/drawingml/2006/main" noGrp="1"/>
          </p:cNvSpPr>
          <p:nvPr/>
        </p:nvSpPr>
        <p:spPr>
          <a:xfrm xmlns:a="http://schemas.openxmlformats.org/drawingml/2006/main">
            <a:off x="841248" y="5614416"/>
            <a:ext cx="10509199"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ts val="1500"/>
              </a:lnSpc>
              <a:buNone/>
            </a:pPr>
            <a:r>
              <a:rPr sz="1200" b="1">
                <a:solidFill>
                  <a:srgbClr val="FFFFFF"/>
                </a:solidFill>
                <a:latin typeface="Arial"/>
                <a:ea typeface="Arial"/>
                <a:cs typeface="Arial"/>
              </a:rPr>
              <a:t>The portfolio's evidence discipline is itself the strongest thing in it. A candidate who can classify every number on sight, concede the soft ones first and still hold the argument is demonstrating exactly the judgement the role is hiring for.</a:t>
            </a:r>
            <a:endParaRPr sz="1200"/>
          </a:p>
        </p:txBody>
      </p:sp>
      <p:sp>
        <p:nvSpPr>
          <p:cNvPr id="21" name="Shape 19">
            <a:extLst xmlns:a="http://schemas.openxmlformats.org/drawingml/2006/main">
              <a:ext uri="{FF2B5EF4-FFF2-40B4-BE49-F238E27FC236}">
                <a16:creationId xmlns:a16="http://schemas.microsoft.com/office/drawing/2014/main" id="{F801C97D-C506-43CE-9045-6D0023FEA101}"/>
              </a:ext>
            </a:extLst>
          </p:cNvPr>
          <p:cNvSpPr>
            <a:spLocks xmlns:a="http://schemas.openxmlformats.org/drawingml/2006/main" noGrp="1"/>
          </p:cNvSpPr>
          <p:nvPr/>
        </p:nvSpPr>
        <p:spPr>
          <a:xfrm xmlns:a="http://schemas.openxmlformats.org/drawingml/2006/main">
            <a:off x="566928" y="6309360"/>
            <a:ext cx="11057839" cy="0"/>
          </a:xfrm>
          <a:prstGeom xmlns:a="http://schemas.openxmlformats.org/drawingml/2006/main" prst="line">
            <a:avLst/>
          </a:prstGeom>
          <a:noFill xmlns:a="http://schemas.openxmlformats.org/drawingml/2006/main"/>
          <a:ln xmlns:a="http://schemas.openxmlformats.org/drawingml/2006/main" w="9525">
            <a:solidFill>
              <a:srgbClr val="CBD5E0"/>
            </a:solidFill>
            <a:prstDash val="solid"/>
          </a:ln>
        </p:spPr>
      </p:sp>
      <p:sp>
        <p:nvSpPr>
          <p:cNvPr id="22" name="Text 20">
            <a:extLst xmlns:a="http://schemas.openxmlformats.org/drawingml/2006/main">
              <a:ext uri="{FF2B5EF4-FFF2-40B4-BE49-F238E27FC236}">
                <a16:creationId xmlns:a16="http://schemas.microsoft.com/office/drawing/2014/main" id="{468078FE-8F1D-4813-BA1A-7BA6DFAAD3C4}"/>
              </a:ext>
            </a:extLst>
          </p:cNvPr>
          <p:cNvSpPr>
            <a:spLocks xmlns:a="http://schemas.openxmlformats.org/drawingml/2006/main" noGrp="1"/>
          </p:cNvSpPr>
          <p:nvPr/>
        </p:nvSpPr>
        <p:spPr>
          <a:xfrm xmlns:a="http://schemas.openxmlformats.org/drawingml/2006/main">
            <a:off x="566928" y="6400800"/>
            <a:ext cx="9960559"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850">
                <a:solidFill>
                  <a:srgbClr val="627D98"/>
                </a:solidFill>
                <a:latin typeface="Arial"/>
                <a:ea typeface="Arial"/>
                <a:cs typeface="Arial"/>
              </a:rPr>
              <a:t>Source: Author's portfolio</a:t>
            </a:r>
            <a:endParaRPr sz="850"/>
          </a:p>
        </p:txBody>
      </p:sp>
      <p:sp>
        <p:nvSpPr>
          <p:cNvPr id="23" name="Text 21">
            <a:extLst xmlns:a="http://schemas.openxmlformats.org/drawingml/2006/main">
              <a:ext uri="{FF2B5EF4-FFF2-40B4-BE49-F238E27FC236}">
                <a16:creationId xmlns:a16="http://schemas.microsoft.com/office/drawing/2014/main" id="{C8D9E2EE-D91B-4151-A993-69E3602B69E3}"/>
              </a:ext>
            </a:extLst>
          </p:cNvPr>
          <p:cNvSpPr>
            <a:spLocks xmlns:a="http://schemas.openxmlformats.org/drawingml/2006/main" noGrp="1"/>
          </p:cNvSpPr>
          <p:nvPr/>
        </p:nvSpPr>
        <p:spPr>
          <a:xfrm xmlns:a="http://schemas.openxmlformats.org/drawingml/2006/main">
            <a:off x="10710367" y="6400800"/>
            <a:ext cx="9144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850">
                <a:solidFill>
                  <a:srgbClr val="627D98"/>
                </a:solidFill>
                <a:latin typeface="Arial"/>
                <a:ea typeface="Arial"/>
                <a:cs typeface="Arial"/>
              </a:rPr>
              <a:t>5</a:t>
            </a:r>
            <a:endParaRPr sz="850"/>
          </a:p>
        </p:txBody>
      </p:sp>
    </p:spTree>
    <p:extLst>
      <p:ext uri="{BB962C8B-B14F-4D97-AF65-F5344CB8AC3E}">
        <p14:creationId xmlns:p14="http://schemas.microsoft.com/office/powerpoint/2010/main" val="139628119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2026-08-30T05:45:00.6360000Z</dcterms:created>
  <dcterms:modified xsi:type="dcterms:W3CDTF">2026-08-30T05:45:00.6360000Z</dcterms:modified>
</coreProperties>
</file>