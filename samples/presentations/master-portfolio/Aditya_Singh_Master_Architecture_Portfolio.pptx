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206fa431bc440f" /><Relationship Type="http://schemas.openxmlformats.org/officeDocument/2006/relationships/extended-properties" Target="/docProps/app.xml" Id="R02f4cf55324d4838" /><Relationship Type="http://schemas.openxmlformats.org/officeDocument/2006/relationships/officeDocument" Target="/ppt/presentation.xml" Id="R785d15bc6959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e0bae9f0cc4ccc"/>
  </p:sldMasterIdLst>
  <p:notesMasterIdLst>
    <p:notesMasterId xmlns:r="http://schemas.openxmlformats.org/officeDocument/2006/relationships" r:id="R9abb6ef8c3b04d2f"/>
  </p:notesMasterIdLst>
  <p:sldIdLst>
    <p:sldId xmlns:r="http://schemas.openxmlformats.org/officeDocument/2006/relationships" id="256" r:id="R866b7110f1574b62"/>
    <p:sldId xmlns:r="http://schemas.openxmlformats.org/officeDocument/2006/relationships" id="257" r:id="Ra8edb0bcc6c9410e"/>
    <p:sldId xmlns:r="http://schemas.openxmlformats.org/officeDocument/2006/relationships" id="258" r:id="Rcfa42fd37c4041ab"/>
    <p:sldId xmlns:r="http://schemas.openxmlformats.org/officeDocument/2006/relationships" id="259" r:id="Rce8265ab76f941ed"/>
    <p:sldId xmlns:r="http://schemas.openxmlformats.org/officeDocument/2006/relationships" id="260" r:id="R0d4c0176d2f4478f"/>
    <p:sldId xmlns:r="http://schemas.openxmlformats.org/officeDocument/2006/relationships" id="261" r:id="R62d3fe6978104067"/>
    <p:sldId xmlns:r="http://schemas.openxmlformats.org/officeDocument/2006/relationships" id="262" r:id="R100ebb02fac4441d"/>
    <p:sldId xmlns:r="http://schemas.openxmlformats.org/officeDocument/2006/relationships" id="263" r:id="R6e10dcc48fd841a2"/>
    <p:sldId xmlns:r="http://schemas.openxmlformats.org/officeDocument/2006/relationships" id="264" r:id="Ra1b9555020814585"/>
    <p:sldId xmlns:r="http://schemas.openxmlformats.org/officeDocument/2006/relationships" id="265" r:id="R23b1caa347554d9b"/>
    <p:sldId xmlns:r="http://schemas.openxmlformats.org/officeDocument/2006/relationships" id="266" r:id="R6c54a0e94b2d489f"/>
    <p:sldId xmlns:r="http://schemas.openxmlformats.org/officeDocument/2006/relationships" id="267" r:id="Rf78ee18f64804898"/>
    <p:sldId xmlns:r="http://schemas.openxmlformats.org/officeDocument/2006/relationships" id="268" r:id="Re51afb6637864a06"/>
    <p:sldId xmlns:r="http://schemas.openxmlformats.org/officeDocument/2006/relationships" id="269" r:id="Ra8c2db4d4b964015"/>
    <p:sldId xmlns:r="http://schemas.openxmlformats.org/officeDocument/2006/relationships" id="270" r:id="R3a496cd26d5b4f37"/>
    <p:sldId xmlns:r="http://schemas.openxmlformats.org/officeDocument/2006/relationships" id="271" r:id="Rb24ae81cdd264505"/>
    <p:sldId xmlns:r="http://schemas.openxmlformats.org/officeDocument/2006/relationships" id="272" r:id="R48b53cd38db04fee"/>
    <p:sldId xmlns:r="http://schemas.openxmlformats.org/officeDocument/2006/relationships" id="273" r:id="R0daa457e22f34a9b"/>
    <p:sldId xmlns:r="http://schemas.openxmlformats.org/officeDocument/2006/relationships" id="274" r:id="R309b1967fea74ee5"/>
    <p:sldId xmlns:r="http://schemas.openxmlformats.org/officeDocument/2006/relationships" id="275" r:id="Rf6df3b2e30534d6a"/>
    <p:sldId xmlns:r="http://schemas.openxmlformats.org/officeDocument/2006/relationships" id="276" r:id="R7e3cbcef360e45c4"/>
    <p:sldId xmlns:r="http://schemas.openxmlformats.org/officeDocument/2006/relationships" id="277" r:id="R57d3edf19a454f21"/>
    <p:sldId xmlns:r="http://schemas.openxmlformats.org/officeDocument/2006/relationships" id="278" r:id="R2d13fa00d1394367"/>
    <p:sldId xmlns:r="http://schemas.openxmlformats.org/officeDocument/2006/relationships" id="279" r:id="R7b00b55c83ee4524"/>
    <p:sldId xmlns:r="http://schemas.openxmlformats.org/officeDocument/2006/relationships" id="280" r:id="Rca6ac391745d43c3"/>
    <p:sldId xmlns:r="http://schemas.openxmlformats.org/officeDocument/2006/relationships" id="281" r:id="R9bd76affd38a4966"/>
    <p:sldId xmlns:r="http://schemas.openxmlformats.org/officeDocument/2006/relationships" id="282" r:id="R9f34552ee3dd4fb6"/>
    <p:sldId xmlns:r="http://schemas.openxmlformats.org/officeDocument/2006/relationships" id="283" r:id="R6fa8efca30604f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3c805c905a47ee" /><Relationship Type="http://schemas.openxmlformats.org/officeDocument/2006/relationships/slideMaster" Target="/ppt/slideMasters/slideMaster1.xml" Id="Rc4e0bae9f0cc4ccc" /><Relationship Type="http://schemas.openxmlformats.org/officeDocument/2006/relationships/notesMaster" Target="/ppt/notesMasters/notesMaster1.xml" Id="R9abb6ef8c3b04d2f" /><Relationship Type="http://schemas.openxmlformats.org/officeDocument/2006/relationships/presProps" Target="/ppt/presProps.xml" Id="R19925584c7fd4a1c" /><Relationship Type="http://schemas.openxmlformats.org/officeDocument/2006/relationships/tableStyles" Target="/ppt/tableStyles.xml" Id="R0b078c162eb24b25" /><Relationship Type="http://schemas.openxmlformats.org/officeDocument/2006/relationships/slide" Target="/ppt/slides/slide1.xml" Id="R866b7110f1574b62" /><Relationship Type="http://schemas.openxmlformats.org/officeDocument/2006/relationships/slide" Target="/ppt/slides/slide2.xml" Id="Ra8edb0bcc6c9410e" /><Relationship Type="http://schemas.openxmlformats.org/officeDocument/2006/relationships/slide" Target="/ppt/slides/slide3.xml" Id="Rcfa42fd37c4041ab" /><Relationship Type="http://schemas.openxmlformats.org/officeDocument/2006/relationships/slide" Target="/ppt/slides/slide4.xml" Id="Rce8265ab76f941ed" /><Relationship Type="http://schemas.openxmlformats.org/officeDocument/2006/relationships/slide" Target="/ppt/slides/slide5.xml" Id="R0d4c0176d2f4478f" /><Relationship Type="http://schemas.openxmlformats.org/officeDocument/2006/relationships/slide" Target="/ppt/slides/slide6.xml" Id="R62d3fe6978104067" /><Relationship Type="http://schemas.openxmlformats.org/officeDocument/2006/relationships/slide" Target="/ppt/slides/slide7.xml" Id="R100ebb02fac4441d" /><Relationship Type="http://schemas.openxmlformats.org/officeDocument/2006/relationships/slide" Target="/ppt/slides/slide8.xml" Id="R6e10dcc48fd841a2" /><Relationship Type="http://schemas.openxmlformats.org/officeDocument/2006/relationships/slide" Target="/ppt/slides/slide9.xml" Id="Ra1b9555020814585" /><Relationship Type="http://schemas.openxmlformats.org/officeDocument/2006/relationships/slide" Target="/ppt/slides/slide10.xml" Id="R23b1caa347554d9b" /><Relationship Type="http://schemas.openxmlformats.org/officeDocument/2006/relationships/slide" Target="/ppt/slides/slide11.xml" Id="R6c54a0e94b2d489f" /><Relationship Type="http://schemas.openxmlformats.org/officeDocument/2006/relationships/slide" Target="/ppt/slides/slide12.xml" Id="Rf78ee18f64804898" /><Relationship Type="http://schemas.openxmlformats.org/officeDocument/2006/relationships/slide" Target="/ppt/slides/slide13.xml" Id="Re51afb6637864a06" /><Relationship Type="http://schemas.openxmlformats.org/officeDocument/2006/relationships/slide" Target="/ppt/slides/slide14.xml" Id="Ra8c2db4d4b964015" /><Relationship Type="http://schemas.openxmlformats.org/officeDocument/2006/relationships/slide" Target="/ppt/slides/slide15.xml" Id="R3a496cd26d5b4f37" /><Relationship Type="http://schemas.openxmlformats.org/officeDocument/2006/relationships/slide" Target="/ppt/slides/slide16.xml" Id="Rb24ae81cdd264505" /><Relationship Type="http://schemas.openxmlformats.org/officeDocument/2006/relationships/slide" Target="/ppt/slides/slide17.xml" Id="R48b53cd38db04fee" /><Relationship Type="http://schemas.openxmlformats.org/officeDocument/2006/relationships/slide" Target="/ppt/slides/slide18.xml" Id="R0daa457e22f34a9b" /><Relationship Type="http://schemas.openxmlformats.org/officeDocument/2006/relationships/slide" Target="/ppt/slides/slide19.xml" Id="R309b1967fea74ee5" /><Relationship Type="http://schemas.openxmlformats.org/officeDocument/2006/relationships/slide" Target="/ppt/slides/slide20.xml" Id="Rf6df3b2e30534d6a" /><Relationship Type="http://schemas.openxmlformats.org/officeDocument/2006/relationships/slide" Target="/ppt/slides/slide21.xml" Id="R7e3cbcef360e45c4" /><Relationship Type="http://schemas.openxmlformats.org/officeDocument/2006/relationships/slide" Target="/ppt/slides/slide22.xml" Id="R57d3edf19a454f21" /><Relationship Type="http://schemas.openxmlformats.org/officeDocument/2006/relationships/slide" Target="/ppt/slides/slide23.xml" Id="R2d13fa00d1394367" /><Relationship Type="http://schemas.openxmlformats.org/officeDocument/2006/relationships/slide" Target="/ppt/slides/slide24.xml" Id="R7b00b55c83ee4524" /><Relationship Type="http://schemas.openxmlformats.org/officeDocument/2006/relationships/slide" Target="/ppt/slides/slide25.xml" Id="Rca6ac391745d43c3" /><Relationship Type="http://schemas.openxmlformats.org/officeDocument/2006/relationships/slide" Target="/ppt/slides/slide26.xml" Id="R9bd76affd38a4966" /><Relationship Type="http://schemas.openxmlformats.org/officeDocument/2006/relationships/slide" Target="/ppt/slides/slide27.xml" Id="R9f34552ee3dd4fb6" /><Relationship Type="http://schemas.openxmlformats.org/officeDocument/2006/relationships/slide" Target="/ppt/slides/slide28.xml" Id="R6fa8efca30604f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fac56d242247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661eb4c8194a9b" /><Relationship Type="http://schemas.openxmlformats.org/officeDocument/2006/relationships/notesMaster" Target="/ppt/notesMasters/notesMaster1.xml" Id="R229bd7a3ec7c4a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257b0660b4c82" /><Relationship Type="http://schemas.openxmlformats.org/officeDocument/2006/relationships/notesMaster" Target="/ppt/notesMasters/notesMaster1.xml" Id="R3cc89ec362ae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3629243844495" /><Relationship Type="http://schemas.openxmlformats.org/officeDocument/2006/relationships/notesMaster" Target="/ppt/notesMasters/notesMaster1.xml" Id="Rb05fed054d77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9d444f534345e2" /><Relationship Type="http://schemas.openxmlformats.org/officeDocument/2006/relationships/notesMaster" Target="/ppt/notesMasters/notesMaster1.xml" Id="R48e317080a97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15baad41b84fe7" /><Relationship Type="http://schemas.openxmlformats.org/officeDocument/2006/relationships/notesMaster" Target="/ppt/notesMasters/notesMaster1.xml" Id="Rd035b7dc928f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bf9df43fe047a7" /><Relationship Type="http://schemas.openxmlformats.org/officeDocument/2006/relationships/notesMaster" Target="/ppt/notesMasters/notesMaster1.xml" Id="Rdfcc91bf680344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63f4da42d4c66" /><Relationship Type="http://schemas.openxmlformats.org/officeDocument/2006/relationships/notesMaster" Target="/ppt/notesMasters/notesMaster1.xml" Id="Rdd3611c668244e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221ad2d32f47db" /><Relationship Type="http://schemas.openxmlformats.org/officeDocument/2006/relationships/notesMaster" Target="/ppt/notesMasters/notesMaster1.xml" Id="R7377867aa1464c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e1bf8eaf5c46f1" /><Relationship Type="http://schemas.openxmlformats.org/officeDocument/2006/relationships/notesMaster" Target="/ppt/notesMasters/notesMaster1.xml" Id="R79ef6ad242ca42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352841ae1a4d12" /><Relationship Type="http://schemas.openxmlformats.org/officeDocument/2006/relationships/notesMaster" Target="/ppt/notesMasters/notesMaster1.xml" Id="R32a2bf3056c74a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da657fa3b04f43" /><Relationship Type="http://schemas.openxmlformats.org/officeDocument/2006/relationships/notesMaster" Target="/ppt/notesMasters/notesMaster1.xml" Id="R4cf0294e27f64f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19da310b55401c" /><Relationship Type="http://schemas.openxmlformats.org/officeDocument/2006/relationships/notesMaster" Target="/ppt/notesMasters/notesMaster1.xml" Id="Reb06170630e144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da8a4bf1494c11" /><Relationship Type="http://schemas.openxmlformats.org/officeDocument/2006/relationships/notesMaster" Target="/ppt/notesMasters/notesMaster1.xml" Id="R0ca2b097edda46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7597211c9f43ca" /><Relationship Type="http://schemas.openxmlformats.org/officeDocument/2006/relationships/notesMaster" Target="/ppt/notesMasters/notesMaster1.xml" Id="R62cdc6b6443140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02b6e05a464c84" /><Relationship Type="http://schemas.openxmlformats.org/officeDocument/2006/relationships/notesMaster" Target="/ppt/notesMasters/notesMaster1.xml" Id="R52e98f21e4664e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8c7a7ddb66460d" /><Relationship Type="http://schemas.openxmlformats.org/officeDocument/2006/relationships/notesMaster" Target="/ppt/notesMasters/notesMaster1.xml" Id="R97d3e0d0737640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d240af3d274643" /><Relationship Type="http://schemas.openxmlformats.org/officeDocument/2006/relationships/notesMaster" Target="/ppt/notesMasters/notesMaster1.xml" Id="Recbcba66d55845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d2d7f83df04c59" /><Relationship Type="http://schemas.openxmlformats.org/officeDocument/2006/relationships/notesMaster" Target="/ppt/notesMasters/notesMaster1.xml" Id="Re23a9104c76c48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2f877686c14ea8" /><Relationship Type="http://schemas.openxmlformats.org/officeDocument/2006/relationships/notesMaster" Target="/ppt/notesMasters/notesMaster1.xml" Id="R2a308052facf4c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c32651cc594775" /><Relationship Type="http://schemas.openxmlformats.org/officeDocument/2006/relationships/notesMaster" Target="/ppt/notesMasters/notesMaster1.xml" Id="R845b7e67dccc4f5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933a130b16e40b0" /><Relationship Type="http://schemas.openxmlformats.org/officeDocument/2006/relationships/notesMaster" Target="/ppt/notesMasters/notesMaster1.xml" Id="Redd8c15e404347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e3740b82c844262" /><Relationship Type="http://schemas.openxmlformats.org/officeDocument/2006/relationships/notesMaster" Target="/ppt/notesMasters/notesMaster1.xml" Id="Rc8b55c15713f43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71221429c044c58" /><Relationship Type="http://schemas.openxmlformats.org/officeDocument/2006/relationships/notesMaster" Target="/ppt/notesMasters/notesMaster1.xml" Id="Ree0aca290e6a43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1c2bd431254942" /><Relationship Type="http://schemas.openxmlformats.org/officeDocument/2006/relationships/notesMaster" Target="/ppt/notesMasters/notesMaster1.xml" Id="R7e1c737ad5e243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51ab687a3049d1" /><Relationship Type="http://schemas.openxmlformats.org/officeDocument/2006/relationships/notesMaster" Target="/ppt/notesMasters/notesMaster1.xml" Id="Rfe8b45e4533f46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d104549bee44af" /><Relationship Type="http://schemas.openxmlformats.org/officeDocument/2006/relationships/notesMaster" Target="/ppt/notesMasters/notesMaster1.xml" Id="Rfd59041b451b45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5d15fdd4c047cf" /><Relationship Type="http://schemas.openxmlformats.org/officeDocument/2006/relationships/notesMaster" Target="/ppt/notesMasters/notesMaster1.xml" Id="R305deea9cbe241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8f411d58ad34679" /><Relationship Type="http://schemas.openxmlformats.org/officeDocument/2006/relationships/notesMaster" Target="/ppt/notesMasters/notesMaster1.xml" Id="R2016862c219a42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presentation corpus review completed 29 August 2026: 141 editable decks, 2,804 slides.</a:t>
            </a:r>
          </a:p>
          <a:p xmlns:a="http://schemas.openxmlformats.org/drawingml/2006/main">
            <a:r>
              <a:t>- Author résumé and public portfolio synthesis; customer-identifying context removed.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Computed from the local editable PowerPoint corpus using slide-level XML extraction and normalized text deduplication.</a:t>
            </a:r>
          </a:p>
          <a:p xmlns:a="http://schemas.openxmlformats.org/drawingml/2006/main">
            <a:r>
              <a:t>- Counts exclude PDF exports as separate presentations to avoid double-counting.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across all ten corpus roles: executive strategy, architecture, functional product, implementation, governance, analytics, operating model and public reference material.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public portfolio synthesis across 38 programmes delivered for 16 institutions and solution/analysis work at 9 more, spanning four regions and eight years.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synthesis across 38 delivered programmes: four recurring decisions taken in the first quarter, before implementation.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Customer-neutral synthesis of platform, workflow, AI, integration and governance patterns across the local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unified CRM/lending, relationship workbench, customer-360 and servicing architectures in the local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member/customer/account 360, relationship management, group exposure, action centre and analytics patterns across the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acquisition, onboarding, lending, fulfilment and servicing journey decks; no client-specific process is reproduced.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case, complaint, lead, campaign, offer, action-centre and servicing presentations in the functional-product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customer-neutral synthesis of a four-pattern integration library reused across a multi-institution delivery portfolio.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Customer-neutral synthesis of multi-jurisdiction tenancy and compliance-architecture decision work; regulatory descriptions are design-level, not legal advice.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enterprise-AI RFP analysis, use-case portfolio design, AI roadmap work and sanitized public reference architectures.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public governed-agent architecture; compact reference implementation includes policy, consent, budget, approval and audit tests.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public permission-aware retrieval architecture; compact implementation tests ACL isolation, hybrid ranking and response modes.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Sanitized public delivery-control-tower architecture; compact implementation tests deterministic health, materiality, staleness and evidence lineage.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Synthesis of public governed-agent architecture and enterprise-AI use-case programme design; sequence is capability plus evidence, not model sophistication.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public productisation case: twelve institutions, one reusable platform, roughly four-fifths common scope and three bounded exception categories.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implementation overview, setup-kit, project-governance, delivery-review and go-live presentations across the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adoption-support, functional-guide, dashboard-insight and continuous-improvement material in the corpus.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Synthesized from delivery-excellence and workforce operating-model presentations; client and internal system names removed.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synthesis across the public portfolio of 38 delivered programmes; patterns trace to case-specific evidence while remaining customer-neutral here.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synthesis across the public portfolio: recurring failure modes observed across regions, segments and programme sizes.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build-evidence library authored from sanitized reference patterns: three mini-decks, three architecture walkthroughs and three tested code samples.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Author's transferable first-quarter method synthesized from the public portfolio and architecture reference work.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Role classification computed for all 141 editable presentations; categories are mutually exclusive deck-level roles used for synthesis, not source-folder labels.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 anonymization boundary applied to every slide in this master deck.</a:t>
            </a:r>
          </a:p>
          <a:p xmlns:a="http://schemas.openxmlformats.org/drawingml/2006/main">
            <a:r>
              <a:t>- Local source ledger remains outside the deliverable; customer-identifying filenames are not included in speaker notes.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 contact and public portfolio positioning.</a:t>
            </a:r>
          </a:p>
          <a:p xmlns:a="http://schemas.openxmlformats.org/drawingml/2006/main">
            <a:r>
              <a:t>- Public edition: customer names, confidential screenshots, proprietary schemas, credentials, commercial terms and production source code are excluded.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daf7a655e46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9e5816f9e4c13" /><Relationship Type="http://schemas.openxmlformats.org/officeDocument/2006/relationships/slideLayout" Target="/ppt/slideLayouts/slideLayout1.xml" Id="R768b34e3628b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b34e3628b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2f403d6074cd8" /><Relationship Type="http://schemas.openxmlformats.org/officeDocument/2006/relationships/notesSlide" Target="/ppt/notesSlides/notesSlide1.xml" Id="R4e9126002dd1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e6f15934d4d7b" /><Relationship Type="http://schemas.openxmlformats.org/officeDocument/2006/relationships/notesSlide" Target="/ppt/notesSlides/notesSlide2.xml" Id="Rf4aba884ab8842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af35379cd4ef9" /><Relationship Type="http://schemas.openxmlformats.org/officeDocument/2006/relationships/notesSlide" Target="/ppt/notesSlides/notesSlide3.xml" Id="R81a715e11fbc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532e01a5342a1" /><Relationship Type="http://schemas.openxmlformats.org/officeDocument/2006/relationships/notesSlide" Target="/ppt/notesSlides/notesSlide4.xml" Id="R46c78d30f0ce46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e67925223475b" /><Relationship Type="http://schemas.openxmlformats.org/officeDocument/2006/relationships/notesSlide" Target="/ppt/notesSlides/notesSlide5.xml" Id="Rbe4cdb69b0a545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936150478423d" /><Relationship Type="http://schemas.openxmlformats.org/officeDocument/2006/relationships/notesSlide" Target="/ppt/notesSlides/notesSlide6.xml" Id="R07095e52275d40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edaf1d5604d45" /><Relationship Type="http://schemas.openxmlformats.org/officeDocument/2006/relationships/notesSlide" Target="/ppt/notesSlides/notesSlide7.xml" Id="R103ac2f47af54e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fad0ac40a4bee" /><Relationship Type="http://schemas.openxmlformats.org/officeDocument/2006/relationships/notesSlide" Target="/ppt/notesSlides/notesSlide8.xml" Id="R4039cd972fa4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71a93036a4b67" /><Relationship Type="http://schemas.openxmlformats.org/officeDocument/2006/relationships/notesSlide" Target="/ppt/notesSlides/notesSlide9.xml" Id="Rdb2364ea3b384b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0012988ec4959" /><Relationship Type="http://schemas.openxmlformats.org/officeDocument/2006/relationships/notesSlide" Target="/ppt/notesSlides/notesSlide10.xml" Id="R957c5f49c129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234bbb24a4bdd" /><Relationship Type="http://schemas.openxmlformats.org/officeDocument/2006/relationships/notesSlide" Target="/ppt/notesSlides/notesSlide11.xml" Id="Rb2f5c9f7e09f4a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9a81631914edb" /><Relationship Type="http://schemas.openxmlformats.org/officeDocument/2006/relationships/notesSlide" Target="/ppt/notesSlides/notesSlide12.xml" Id="Rafd56d95c1c442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d2e9745ca497b" /><Relationship Type="http://schemas.openxmlformats.org/officeDocument/2006/relationships/notesSlide" Target="/ppt/notesSlides/notesSlide13.xml" Id="R7520e1fe6af54b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51dd1d7e0447b" /><Relationship Type="http://schemas.openxmlformats.org/officeDocument/2006/relationships/notesSlide" Target="/ppt/notesSlides/notesSlide14.xml" Id="R1d0850d12fee48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7c32e0d4347f0" /><Relationship Type="http://schemas.openxmlformats.org/officeDocument/2006/relationships/notesSlide" Target="/ppt/notesSlides/notesSlide15.xml" Id="Rc3cba0cb155144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3ca97eab8427e" /><Relationship Type="http://schemas.openxmlformats.org/officeDocument/2006/relationships/notesSlide" Target="/ppt/notesSlides/notesSlide16.xml" Id="R9fcb33603bde4b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6d86e75c64889" /><Relationship Type="http://schemas.openxmlformats.org/officeDocument/2006/relationships/notesSlide" Target="/ppt/notesSlides/notesSlide17.xml" Id="R12636a36741b47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e6aa1e4c642e3" /><Relationship Type="http://schemas.openxmlformats.org/officeDocument/2006/relationships/notesSlide" Target="/ppt/notesSlides/notesSlide18.xml" Id="Ra56cce9d950b4f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7c481471043c6" /><Relationship Type="http://schemas.openxmlformats.org/officeDocument/2006/relationships/notesSlide" Target="/ppt/notesSlides/notesSlide19.xml" Id="R6b813eb6b51948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781b4b6274cb8" /><Relationship Type="http://schemas.openxmlformats.org/officeDocument/2006/relationships/notesSlide" Target="/ppt/notesSlides/notesSlide20.xml" Id="R4d575f4a271b49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b60cac8134fd1" /><Relationship Type="http://schemas.openxmlformats.org/officeDocument/2006/relationships/notesSlide" Target="/ppt/notesSlides/notesSlide21.xml" Id="R742cca181a2942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65884682e4365" /><Relationship Type="http://schemas.openxmlformats.org/officeDocument/2006/relationships/notesSlide" Target="/ppt/notesSlides/notesSlide22.xml" Id="R0eefa4ddf09140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85b8f150843ef" /><Relationship Type="http://schemas.openxmlformats.org/officeDocument/2006/relationships/notesSlide" Target="/ppt/notesSlides/notesSlide23.xml" Id="Ra6ce1311b07b44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c63679023478c" /><Relationship Type="http://schemas.openxmlformats.org/officeDocument/2006/relationships/notesSlide" Target="/ppt/notesSlides/notesSlide24.xml" Id="R51333b3005e44d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4a8f67ee44c64" /><Relationship Type="http://schemas.openxmlformats.org/officeDocument/2006/relationships/notesSlide" Target="/ppt/notesSlides/notesSlide25.xml" Id="Rad611d3d8f3f4dd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f3956016445a5" /><Relationship Type="http://schemas.openxmlformats.org/officeDocument/2006/relationships/notesSlide" Target="/ppt/notesSlides/notesSlide26.xml" Id="R2cbb978b87de4e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2abd39874437f" /><Relationship Type="http://schemas.openxmlformats.org/officeDocument/2006/relationships/notesSlide" Target="/ppt/notesSlides/notesSlide27.xml" Id="Rf56c79e385bf4a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d47d6eb7046e5" /><Relationship Type="http://schemas.openxmlformats.org/officeDocument/2006/relationships/notesSlide" Target="/ppt/notesSlides/notesSlide28.xml" Id="R39fea9012860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1A8F2-25E6-47F9-9197-5DF9A687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3276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93FA7-AE16-4CD7-ADDA-BB4E7A3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5B1E0-2011-4724-8963-8ACC58A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MASTER PORTFOLIO · PUBLIC EDITION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BE03B-DCA1-4E83-8A74-45B854D2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781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Turning regulated complexity into operating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43FA2-83B4-411A-8072-EE993375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Enterprise AI · banking architecture · productised delivery · evidence-led transformation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C6C41-9C9B-47E1-8B5D-A8C5BD55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ADITYA SINGH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64210-CE9D-4861-98BE-381DC791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2190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SYSTEM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57B0C-FF7D-442E-9390-E3D7D33C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SYNTHESIS · 141 EDITABLE DECKS REVIEWED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350D9-5BFC-4BCF-A9EE-B3E292F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0065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209F7-DA2F-46F0-9D3A-A6779AD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9B1D1-12EF-44A3-B5B1-1EE462A2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7688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master deck is grounded in the full local corpus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C09A7-4C3E-4BDA-81A5-73BBE0D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3CC1-5C40-47EA-9E15-6B98656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77B3A-4D25-4F9B-8401-2F805BD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editable PowerPoint was opened, indexed at slide level and normalized before synthesis. Draft families and repeated technical libraries were consolidated so frequency did not masquerade as importance.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37A6B-1971-4176-A7C1-BF5B68A0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8A0D-A080-4AA1-A929-105F43C6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editable PowerPoint presentations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9A6B5-1918-4849-8358-2B2FB0A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2,804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3C957-6A44-41D4-84F6-BF065853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slides inspected across the 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8071E-9677-41E8-8124-A38A6035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1,825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E2DC1-1A53-42B8-A6E2-7444A36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distinct non-empty slide-text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0E892-E3CF-4C3A-883B-13779C96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4EB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4EB7A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0CBBE-CDFE-48F8-B55F-BE8B4E2E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version families consolidated</a:t>
            </a:r>
          </a:p>
        </p:txBody>
      </p:sp>
    </p:spTree>
    <p:extLst>
      <p:ext uri="{BB962C8B-B14F-4D97-AF65-F5344CB8AC3E}">
        <p14:creationId xmlns:p14="http://schemas.microsoft.com/office/powerpoint/2010/main" val="1839650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5F275-5E62-4F21-AA76-0D16F2C6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MASTER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F8A99-062F-453C-BA76-AC506D0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630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recurring work is one operating-system problem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53A5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2725A-98A6-4E99-8FF7-FA882224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ADITYA SINGH · ENTERPRISE AI · REGULATED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52939-59CE-4AA1-9D47-72C424B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0EC09-80F2-49F3-81B6-5E29169B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The files range from strategy and product narratives to technical libraries, delivery reviews and operating-model interventions. Their common logic is cumulative.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8840-88F9-4D90-B729-837F3A81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5EE77-91EB-49A8-8972-55267F0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Choose the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3FCA9-C2F3-4766-A560-4F3622A7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Name the decision, outcome, baseline and accountable owner.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857500" y="3943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03458-B9D7-46EC-9538-CAF23451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A8111-6426-4F4C-843D-B8CF2899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Design the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8C7C5-3794-4FCD-8C12-AF1ED8AE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Set boundaries, reversibility, policy, evidence and human authority.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638800" y="3943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8E051-7F9E-42F7-A32A-7690C5E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2D100-285A-406C-A325-C7B807A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2034C-A31A-4688-8B5D-0FBDFD1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Connect objects, workflows, decisions, data and integration patterns.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420100" y="39433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99F9E-9A1F-4A52-9C59-E707ACE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71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D89B6-58C9-42F1-8CCB-9660B7D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290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8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Scale the operation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BF952-406A-4EC0-99B8-CCDC3FE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76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Productise delivery, instrument adoption and carry decisions forward.</a:t>
            </a:r>
          </a:p>
        </p:txBody>
      </p:sp>
    </p:spTree>
    <p:extLst>
      <p:ext uri="{BB962C8B-B14F-4D97-AF65-F5344CB8AC3E}">
        <p14:creationId xmlns:p14="http://schemas.microsoft.com/office/powerpoint/2010/main" val="814671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FE38-1EB4-4DCF-B8B5-B408ABF9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PORTFOLIO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DE8C4-0DD7-4226-BA51-2C7CE8D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delivery record spans institutions, regions and operating models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767C5-07DE-4615-A2C2-09F6E24E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B6BE8-C39E-4C5D-935D-ECFDE7D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F949A-5C94-420A-AD9D-8400060B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576FD-E276-49E6-94CA-D3DEEC0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programmes delivered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9E531-C0D4-468A-B645-7BFD5D67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67870-158B-4490-8243-5DCF2B1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institutions delivered for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BF98E-A77B-4759-AFDF-DD283051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FB790-A9A0-4A90-A4F1-6B22BED1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additional institutions analysed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E214-4298-4726-A635-09E21063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E69FF-8D48-4E03-87CA-B0D08A09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regions represented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C223D-7AB6-4589-9531-1A5FCF27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4EB7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 i="0">
                <a:solidFill>
                  <a:srgbClr val="4EB7A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17312-12E8-4056-88A8-CCE30EB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years in the synthesis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7CF4E-5069-497A-BD4E-2B5FE3FF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Retail, corporate, wholesale, Islamic, insurance and community banking—delivery claims and solution-analysis claims remain deliberately separate.</a:t>
            </a:r>
          </a:p>
        </p:txBody>
      </p:sp>
    </p:spTree>
    <p:extLst>
      <p:ext uri="{BB962C8B-B14F-4D97-AF65-F5344CB8AC3E}">
        <p14:creationId xmlns:p14="http://schemas.microsoft.com/office/powerpoint/2010/main" val="1680301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55D2F-A8AA-4217-9E04-7ABB5F1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OPERATING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3CFA1-3A94-45F0-8325-CADD8C0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Four early decisions predict whether the programme compounds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B4F56-E30C-45D1-93A2-6D2A272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23FBB-F40B-4230-B6BB-60C0E06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0BB22-F079-4C14-9397-494F6E33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CA6A6-E0F5-43E9-A9A7-E624F94C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What is shared?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F28BB-7204-4329-B3D7-81C0AE26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495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Settle the customer, group, case, facility or other load-bearing object before every programme invents its own.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57200" y="3867150"/>
            <a:ext cx="5219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F66D9-3BB6-4C4A-B54E-7CC1D1F0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24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68BE0-F086-4847-91D1-0C80669D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468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In what order?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0E307-591B-4EF6-A2AD-18C06F7D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Foundations, hardest constraints and irreversible choices precede the most visible business case.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210300" y="3867150"/>
            <a:ext cx="5295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13D5D-0E83-4D66-822C-CA2916B4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B614-60AD-483D-B10A-9B49DF70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Who can refuse?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3705B-3282-4A55-8698-4E53768A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495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Give one owner authority above any delivery date to prevent a fork, threshold drift or private vocabulary.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5676900"/>
            <a:ext cx="5219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E024C-68E1-404B-BC5D-323B103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33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21789-5D2F-42C2-A059-A478380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468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What is measured?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F65A5-9B4F-438B-955A-7F079E6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Capture the baseline and metric owner before release so improvement can be attributed rather than argued.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6210300" y="5676900"/>
            <a:ext cx="5295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73990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720CF-987A-4F40-8AF7-4E9560FA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3F22E-7764-4567-9761-2C6D063A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 regulated operating system has four connected planes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3C90E9-2351-4FE0-AE6F-F7F5AF06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73836-0CED-4183-B643-E08E435F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3C2E0-CC08-466A-BE48-5D277CAE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695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C894-7FD8-469A-A1AD-3261128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8E974-FF90-4749-8DAC-2B05D51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Channels · workbenches · customer journeys · employee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E4532-3038-4BED-ADA7-93A3C757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695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6755-CF4E-416D-9022-004B026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E3566-8C53-4F3F-8E36-635EF7D9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Leads · onboarding · lending · service · cases · campaigns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E5B3F-192D-48ED-8B3B-AF97DD79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695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D8A44-8406-43D5-ADF3-EB73A787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57032-7179-4DDF-83C3-E2FABB0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Eligibility · policy · risk · next action · human approval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13FD6-E484-466C-A7E7-4618579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695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ECEB3-EDA1-4774-9E58-EE8132B4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5B6B2-DAC5-4A51-B3A7-9C2E4FB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339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Identity · consent · lineage · audit · outcomes · 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1DA9D-1062-4029-AF2B-D51A17C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1695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98686-B736-4903-BC5C-E338351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9CCED-4009-402D-BACA-5E644E6A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24250"/>
            <a:ext cx="1276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Budgets</a:t>
            </a:r>
          </a:p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Release gates</a:t>
            </a:r>
          </a:p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1463853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E63522-2254-419B-82A7-535E2D87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BANKING PLATFORM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F1681-8065-4AB6-927D-C4601E8F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One relationship fabric removes the seams customers feel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0DB68-7D3C-473E-83DB-B42ECE9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AEDDA-6F4E-44F1-813F-8503F34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76FEB-35DD-4696-ABDD-EC5363E4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372BB-5C85-4A64-8719-153BAB4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EF8F9-8DF7-4503-978E-746827F8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Branch / 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1E930-30F3-4711-974A-B4F3D58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80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5E278-281F-420D-8E79-7BB1EE8B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Digital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77317-483F-4CD1-88BF-63CD1D65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01960-AF4F-4DA7-A0BC-DAFEF9F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35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Contact centre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FAB8A-AED4-450B-90AB-263FD17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C02F7-C9B0-426F-A481-74E7E39D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Partner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DF802-50F2-4502-9FCE-FC8CB29C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OPERATING FABRIC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DA4A6-8833-4F1C-8606-DA1C6581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3238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1F997-9A72-4F9E-9921-FAD723DF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2667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customer record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process fabric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Reusable business objects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Configurable rules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by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FB6C6-ACDE-4E6C-A7BC-BD446075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622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DOMAINS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411A6-D8FE-4245-86D5-67416E22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56993-ACA2-4002-9A42-A7070FB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Acquire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CFE76-3B03-4507-AFAA-B53E0EF8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813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817EA-0BAD-4414-A485-59C5E072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Onboard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A12A2-C1FC-4806-A7C5-F98AED2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4805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0944F-5A3B-43E9-BBB4-46555CF1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Assess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7F787-11ED-424A-BDBF-C6029B2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4805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3325AB-C2DE-451C-95A1-C52296C3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C0790-91D1-414A-BC5F-E95892D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E2071-73D8-4CDC-A8C3-D97EBD5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Fulfil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FCCEB8-559B-4441-9F2E-0BB12C3D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AA737-6791-4778-9A67-F8E1920A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5F48A-F3A0-4474-8041-C1494C9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8155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8084FB-3D3D-4413-A6E1-0A484EE6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Grow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F478A-9938-4ABD-990B-083BFB0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8155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D0866-76D4-4D29-8CF1-B6D1117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149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Monitor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2133600" y="40195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6172200" y="40195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49344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DA98C-2BB3-4689-8809-D00CE8A8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CUSTOMER AND MEMBER 360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9A7B5-7209-4D19-886F-89A82F9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shared object model turns information into accountable work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F82B1-B98E-4601-866E-476746F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DE201-1F58-4EF3-B985-1B09065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3048000" y="28003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409575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095750" y="280035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3048000" y="49339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409575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4095750" y="361950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752475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8096250" y="28003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8096250" y="280035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752475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8096250" y="49339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8096250" y="361950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BB55C-184A-433B-A152-E3CEA32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B003F-B355-4F81-BD0F-D74B476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0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SHARED RELATIONSHIP OBJECT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140C4-1C24-4A68-A0DB-E65E109D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context for every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F4688-9C8E-44FE-AE08-7ECC7C1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10C8B-FD87-40A1-9C92-EF6FFC74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2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Identity &amp; relationship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56F98-A893-43BD-9995-B4DD2444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person · member ·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3A4C3-7F39-45AF-A13B-4702348D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FB627-7E02-4E47-913B-B41FC36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Interactions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D9017-E40D-4DFF-91DE-6F073FAE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194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conversation · channel · consent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55CD1-95AD-46B8-BE6C-36824E82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A735C-37D3-4499-A434-CC9330B5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66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Products &amp; exposure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A151B-8C03-4242-8160-B28FCBD8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account · loan · facility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FADB8C-D46E-4758-B656-E34C0761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3B1862-7C4E-4866-8F4F-90D8265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01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Work &amp; outcomes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FE966-8192-4D7C-8B29-A3F6015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292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lead · case · action ·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F63CAD-0F59-4110-BB41-1C56E12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Signals and next actions are derived from the same object that carries entitlement, work state and outcome evidence.</a:t>
            </a:r>
          </a:p>
        </p:txBody>
      </p:sp>
    </p:spTree>
    <p:extLst>
      <p:ext uri="{BB962C8B-B14F-4D97-AF65-F5344CB8AC3E}">
        <p14:creationId xmlns:p14="http://schemas.microsoft.com/office/powerpoint/2010/main" val="972920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3A130-83EA-4204-A26C-1369314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JOURNEY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32E89-A9CF-4361-AB7B-735738AB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Origination and servicing are one continuous relationship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3B153-199E-490F-B6D7-1EA0947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F65E0-FF24-4B28-80CE-2B35790D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155825" y="3324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025900" y="3324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5895975" y="3324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7766050" y="3324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9636125" y="3324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4D0F2-50F8-4CF8-9947-042AF955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4AD1C-0E67-4C04-9E15-3A862CFF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5F51B-275E-4089-982B-6515276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intent +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3B6D5-8682-46B9-809D-337F5C21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3DAD0-90DD-47B1-ACE4-6FDB2C70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Onboard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A4C2D-A32C-4732-B148-3F53B9F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625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19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identity + consent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A1676-9B5B-442C-8022-8C872D0A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81092-FC2F-4274-BEDE-2C38213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Assess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293C6-7541-44C4-9813-3074A29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eligibility +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1DAFA-18FA-4E07-A882-01E0F8B4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F71A2-21DC-4DA4-9BD4-1DD38419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45CC2-1F0C-4AA8-9175-CF2085A9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04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policy + exception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E66C4-EAF1-4C3A-85F7-86748CE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B99EC-3BD2-4AA9-904C-82E5497D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Fulfil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41085-7E5B-4134-A3F8-573124CF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818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documents + 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80892-61EB-4F75-BC80-5CCC4472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575" y="2724150"/>
            <a:ext cx="1698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AA033-5D54-470D-8FB4-E692AD9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2895600"/>
            <a:ext cx="14319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FF7B1-2E38-4C87-B084-82E8BE0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925" y="3409950"/>
            <a:ext cx="1431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49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context + next 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8D20F-0477-4374-91E2-C72B1C2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104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CB4CE-14FD-43EA-9126-7677088D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SHARED 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8EA11B-FD53-46E2-B81E-F6E26EB2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customer object  ·  workflow state  ·  policy decision  ·  evidence trail  ·  accountable 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C524F-3220-4BC9-8E3D-EDD50E04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43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customer never re-explains; the employee never reconciles two case histories.</a:t>
            </a:r>
          </a:p>
        </p:txBody>
      </p:sp>
    </p:spTree>
    <p:extLst>
      <p:ext uri="{BB962C8B-B14F-4D97-AF65-F5344CB8AC3E}">
        <p14:creationId xmlns:p14="http://schemas.microsoft.com/office/powerpoint/2010/main" val="438008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088B5A-7848-42E9-B981-F0C365B4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ENGAGEMENT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EF1F3-4F30-4222-BE7F-A10C25F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Service becomes operable when every interaction enters one work model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824C2-5257-499B-90E6-E2815917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5E45B-55C7-4A92-836E-813B932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E08BD-2B40-407A-905D-9B12C505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20A1A-1118-4E86-8B24-ED3A3D24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CA09D-D039-496B-A237-366E0BA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Customer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B42F3-F390-4A2D-AB71-1A267EE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263A9-0A9B-4615-A9A0-19DD458A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03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Employee 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6547D-033E-4E6B-84DB-745772AF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4BDA1-98E4-4AF7-AC7B-38A8D04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System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05FA1-31BB-4116-BE07-4C650E23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81860-68D3-44AB-89D8-2D61ABE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Risk signal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2647950" y="3924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56671-F676-4482-A95C-21184996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 OBJECTS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588A4-63B2-4658-83C3-C455D77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BEBFF-0DC6-4D31-929B-7627085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5987E-6686-474A-8018-268102B8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9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4AE3B-9806-4D7D-959C-DE789ECA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242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Complaint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84E6E-A69C-4D47-8B4E-5787F6C9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64704-FF2F-4520-BCD2-7FF97C9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529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49073-5067-46AA-9804-DBFACAF5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E4AA3-D7EA-4045-926F-B9753533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815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Campaign response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5219700" y="3924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D7D6A-C4E9-4689-98D1-113A0B3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ORCHESTRATION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C50ABF-6FD6-4DB8-B3A1-4E1B72EA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DFED0-4964-4E4D-9567-6752062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8979F-F405-4D6E-8387-FE65982F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09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53CA9-B171-421C-93D2-D5C36F5E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497C87-0DEB-494C-A642-3803867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38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A0558-479D-4146-9B87-6A7854A6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529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SLA / priority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F1E0A-45C1-4508-88F7-CD95700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67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BD19A0-14F1-4AAC-80EE-CE95AD9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Escalate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7791450" y="3924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E4FDD5-DB13-4E67-B167-D432BC95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F4778-0FB3-490B-9C7D-EFFC8A3C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E42C4A-DCC2-4A29-AE0B-EC8EFB97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7518A8-9C5E-438A-88EA-CF2F6D73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E8EFC4-592C-4B2C-B340-DC7F4CC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Convert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731357-47D0-4A84-9364-8C7AE98A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386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5AC5C5-5939-4117-8C39-ACFFF20A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529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CC7FDC-9B8C-495C-B61D-DBAD107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67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552CE8-4720-4E27-9FE6-9552751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8155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082EDE-F107-406F-9382-47C615D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307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One action centre turns visibility into owned next work; analytics closes the loop from outcome back to routing and policy.</a:t>
            </a:r>
          </a:p>
        </p:txBody>
      </p:sp>
    </p:spTree>
    <p:extLst>
      <p:ext uri="{BB962C8B-B14F-4D97-AF65-F5344CB8AC3E}">
        <p14:creationId xmlns:p14="http://schemas.microsoft.com/office/powerpoint/2010/main" val="427050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108C4-5F9A-44DD-BAB0-861CF1B9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INTEGRATION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0E21-D930-4128-A294-68A7A29A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Four integration patterns cover most entrenched-core estates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460E8-3B3D-4605-BEC5-CD8FAEE1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DF1AB-B2C1-4BA2-9D52-4899441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7B1D6-215B-4E81-8DA5-08F3FC77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A9866-8441-4CA0-9635-67E47396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 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1D2D6-7818-4CD6-A653-A3B84412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FAILURE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222C-8ADD-4DB9-B56E-7A40894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7A484-EC10-4A50-B0D9-71096DDB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B45AB-6C4C-46A4-93D8-0ED8DA1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70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Real-time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EB08B-6D0F-4D02-89F6-2A398379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670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A person is waiting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D7CA9-E5FC-4AC6-84FF-98BC37E2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670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Dependency latency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84347-3D84-4DE1-9F83-E5D564A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Timeout + cached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7BBF0-C672-4484-B2A4-55E2BDE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EBC11-F3FD-449C-997D-C585D47F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Extract + transform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4FF5A-9267-40E2-B513-19318A60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480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Bulk operational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745FE-516E-42D2-A3FC-F972576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480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Silent divergence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07C62-E869-4C36-A436-8505A030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Counts + checksums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CBFCF-5CAB-474C-ACB1-FC789FD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02A7B-888B-4DAC-B817-0EA43A1A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Scheduled 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DAF9B-C818-4EED-B19C-70722E34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29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Third-party exchange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72AC9-97C0-4F22-8CAD-A49BC55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29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Missing looks empty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6C3B4-9CE1-435B-B2FF-C86DDAF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29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Expect-a-file monitor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7C596-69C7-450F-ACE0-4218CC7B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F4294-AB6C-46B3-B6A5-49E15357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Middleware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51790-10D5-4D0D-85BC-AA5A16F2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01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Core cannot expose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5D61E-977B-40AE-AEF1-5871B336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101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646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253A55"/>
                </a:solidFill>
                <a:latin typeface="Helvetica Neue"/>
                <a:ea typeface="Helvetica Neue"/>
                <a:cs typeface="Helvetica Neue"/>
              </a:rPr>
              <a:t>Logic drifts into plumbing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8621F-C578-4BF0-B6A0-0EAA9864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01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Transform, never decide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83D5A3-B8D1-438C-AA68-F04353F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Integration tax: staleness · degradation · reconciliation · monitoring.</a:t>
            </a:r>
          </a:p>
        </p:txBody>
      </p:sp>
    </p:spTree>
    <p:extLst>
      <p:ext uri="{BB962C8B-B14F-4D97-AF65-F5344CB8AC3E}">
        <p14:creationId xmlns:p14="http://schemas.microsoft.com/office/powerpoint/2010/main" val="666190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A330B-3754-4151-82F7-10568E90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MULTI-MARKET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C3046-D824-495A-864B-C7153C36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Design to the strictest jurisdiction; relax only by exception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73981-55DC-4B87-AB00-A2089048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8D247-C823-48A4-AEB1-7885859B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6A94B-6126-40D3-A5B8-CD42AAEE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1104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2AB0-F20D-4D87-8963-A23C875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3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SHARED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FF2D4-53FA-4930-B333-44B5D3D6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89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policy configuration · identity · consent · lineage · evidence pack · release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1F5D9-2068-42D7-BF07-6350E75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3A20E-9514-41A3-83D4-59A9AB79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MARKET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924E7-D560-4A7B-9437-52D177A9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Local data plane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45E8C-4D52-448C-878E-4E3A6E8E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Residency by topology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Policy by configuration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Evidence generated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A0850-64E5-4E47-A140-61EFBBD6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099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8D34B-1674-4A21-86FC-81C4D9F9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MARKET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BCB67-7794-4100-9503-9627E294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Local data plane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AA884-AF5B-4C3B-8A8D-996176DF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Strict consent baseline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Per-market access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Shared release fabric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39806-D4B8-4537-9501-A8ED0CF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099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1BA7D-69DE-4ED1-BB5E-7CBE7531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MARKET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68C61-ACD8-4440-A97C-60850125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Isolated data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2FFB0-0D28-47FF-ACDF-2800518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In-country storage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Physical separation</a:t>
            </a:r>
          </a:p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Independent recovery</a:t>
            </a:r>
          </a:p>
        </p:txBody>
      </p:sp>
    </p:spTree>
    <p:extLst>
      <p:ext uri="{BB962C8B-B14F-4D97-AF65-F5344CB8AC3E}">
        <p14:creationId xmlns:p14="http://schemas.microsoft.com/office/powerpoint/2010/main" val="918241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AC466F-6F77-4668-9754-5E380DC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AI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EC26F-BB75-4A1F-B679-4C89919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Enterprise AI scales when value and control share one backlog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64E8A-1EEA-474A-B5FA-A2A6BEF1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53731-AE6F-43BB-8CBC-860AF782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23FF3-F0CA-4926-8B8B-040B26D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FB22B-39E7-4D99-B06F-6EDE638D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809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7B564-33D6-403C-9DEE-292C727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53584-6679-4D38-9898-724526EA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779E8-67EC-4B41-89D8-D2B9C44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2266950" y="3905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16D27-9009-4864-BBF8-B1B50583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USE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8787-93D7-4C07-A92E-65C3DA2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809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A5A77-F01F-4E1F-9607-4034DE1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E1B2E-158D-4F9F-A127-BBAD9D5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14998-98D1-4AD5-8C08-62EC6D24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514850" y="3905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3610D-DE62-4B07-B918-99538D6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4A170-8971-4D45-A419-F6E68D61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809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3E7F0-4BC2-42AD-93E6-9374B79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83390-CCE1-4F9E-8730-A3AAE262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FE2E6-1393-40CB-BB3C-530E2C84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 gate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762750" y="3905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D1AD46-BE23-4FF6-8828-6A55090E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9C9C6-7C4C-4D99-AB93-9B16A39F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809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8CF75-DF68-4F9D-BAA2-A830B85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D51D8-81EF-4378-9248-D1F67C3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BC3B63-FA24-450B-A631-98C62F5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Telemetry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9010650" y="39052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0718C-A43A-4BCC-9209-7520772E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EC7AB-F039-43A9-A7DE-91D5FF7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18097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3B45B0-266C-4D5A-8921-7F2A1C7D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D3AE89-3F52-49B9-BC7D-FF934CF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E34D85-7051-4990-8DD6-7DB38765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17E95-1B99-47F6-B080-0F225ECD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model is selected inside the architecture; the use case is selected inside the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321581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0B8A9-3E2E-403E-A2AF-7D653FCC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GOVERNED AGENT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9B2A9-DC7E-4D21-B983-4A9DE7C6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agent proposes; deterministic policy authorizes execution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BC08-3515-45D6-A9FF-1F86AD45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DBD8-16EA-4EBC-9BF3-0FEAF66F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49936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75107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00278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925449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D0D11-1E1C-4136-83E9-A7BA578D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55088-CD77-4AC3-922F-57871CE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F35B9-FFB6-4762-9C88-E88FC29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actor + 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CBD72-9720-4DCF-BB3D-007F707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8EB0E-73B2-4754-9487-57C9AF5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E749D-46FF-4031-81A0-BFADAB0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steps + 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0675D1-4B63-4019-AED6-27A705C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A6570-D512-4F88-942C-0B96499C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Policy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6A49E-A6C7-4FF5-AE82-476483A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consent +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41CD4-ADDC-42A4-8176-F16B997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B9D8E-6417-4278-AD71-E579EAC2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Tool registry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A34BE-6A24-4892-9908-9F563E9B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owner +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06BA8-E013-4C74-A114-B27552E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4879F-D1E8-4C94-AA11-367CE10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6D7A1-E420-49D3-A367-9674B1C5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bounded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5A56E-599C-4567-9108-E639BCBB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HUMAN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63082-9079-4FAD-93BD-4FAAB26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Sensitive, material or irreversible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BBE5C-F185-4D3E-B6A3-A53F5A6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52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RUNTIME SAFETY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FE4210-EB56-4D55-B342-8BE433E1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53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Timeout · retry · rollback · kill switch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54769-11A9-4F5B-98E0-1823EF34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EVIDENCE LEDGER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B7F319-466D-430B-AA76-4F855ECE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Plan · decision · call · output · exception</a:t>
            </a:r>
          </a:p>
        </p:txBody>
      </p:sp>
    </p:spTree>
    <p:extLst>
      <p:ext uri="{BB962C8B-B14F-4D97-AF65-F5344CB8AC3E}">
        <p14:creationId xmlns:p14="http://schemas.microsoft.com/office/powerpoint/2010/main" val="8750308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86AB3-7570-4807-9167-331C5FA4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PERMISSION-AWARE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A39DB-B8AF-4648-B9BF-DF614385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Authorization constrains retrieval before relevance can rank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754EF-8798-4070-84A7-924C060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0FBBA-6CE9-4949-902B-B942D3A5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1717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40386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59055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77724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9639300" y="32194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EB09A-ED04-4129-857C-C995A46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99D37-2D61-4DE2-BAD6-7DCE7D58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0F7D-E518-4100-84BF-0FAE139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tenant + 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E72B1-5AF6-4921-B396-F8C428F2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4E2E-D06D-4411-8701-07089515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ACL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27A12-B898-4FE9-8041-C6AC311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46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permitted corpus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012E9-2A6C-408C-A88A-DD337D24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F8DC8-FC7F-4923-8FF8-34ECB29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Hybrid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0B46D-9D48-4FCA-A9E2-DA2F871B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lexical + 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84FC8-23E5-42FC-A440-0EE6648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8DFEF-C411-40F2-8C2C-EB647B25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1A048-05A3-4D43-B0A7-591F4FB3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intent 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0D338-D7F7-480B-B009-73E7E67E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3F14A0-5C80-410A-8FFF-14B563F0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C1677-7D35-4397-A9D7-2FBF1C63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citations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1D338-34C1-45F9-AD45-6D154D41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714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F8946-21BB-4653-9A2F-B35D96C6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6225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Respond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2E3FB-399F-4B64-9698-F027A8EA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766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answer / clarify / refuse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C28C5-5B76-48E1-BCD4-2464DC3E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48905-7A35-4410-9E13-F9CE6396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403F6F-2A92-4F36-966B-FA71CE9F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7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Permitted, complete and consistent evidence.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A3F4B-83AD-496E-9BF7-90F30333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61660-7272-49B5-B9CC-DE6D6F9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434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CLARIFY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ADCD69-812F-4FBD-9DC6-80E86858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24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7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Ambiguous intent, scope or entity boundary.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07C46-1103-4EDC-87D8-8B255E06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720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248984-2FFE-4DBA-84FC-7AF5E3E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REFUSE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612367-EC67-4CA7-8334-1D3B2881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37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Absent, conflicting, weak or disallowed evidence.</a:t>
            </a:r>
          </a:p>
        </p:txBody>
      </p:sp>
    </p:spTree>
    <p:extLst>
      <p:ext uri="{BB962C8B-B14F-4D97-AF65-F5344CB8AC3E}">
        <p14:creationId xmlns:p14="http://schemas.microsoft.com/office/powerpoint/2010/main" val="16149994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8278BB-0185-4F47-9DE5-EF2FFD0E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4735A-2B89-44A6-9CD4-D3CA35A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Deterministic services own facts; agents explain material variance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A01EA-49F1-4D12-9916-8AC15891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84C6-6604-4F04-8598-384DAB33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249936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475107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00278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9254490" y="3295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80FF7-D94D-4529-A0DE-A774FAF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354BD-B49C-4DF3-B104-A66F682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670E9-9619-45E6-A70B-2183D62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delivery + finance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A1F76-6B1F-40AC-A446-FDA0E461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7D505-0897-49FF-A722-2BF6D775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Semantic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99DAD-F67B-40D9-86A2-A19007E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typed contracts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A90DC-8C62-4290-9FE5-BA2C79B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48796F-BB5D-4255-8CDA-091EF893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2726A-0F77-4520-8E0B-603A82B3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deterministic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B8A82-5CD1-41F7-901D-3B740C3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077314-642B-47CE-99E4-61082752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C0AC1-D9BE-42E9-B472-E93E6B03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variance +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C6E658-7A09-4A12-A05E-A4C39ED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667000"/>
            <a:ext cx="204216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FB4A5-A3DE-4BF8-8667-BBE1E45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28384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90EDE-775E-4F88-9241-4D6F7D7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335280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action + 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E50734-6988-4048-8611-623CB2B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90BA5-B60D-41BA-A867-B55E2C1B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Which outcome moved beyond its threshold?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B9B8F-1943-426C-BEC8-857FC89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F2BBB-6C01-4A77-81DF-D268D354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3390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Which evidence-backed drivers explain it?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1231DB-074E-44EF-A3ED-73403381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C368E-76B4-458A-A0A6-084A1786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390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What action, owner, date and recovery signal?</a:t>
            </a:r>
          </a:p>
        </p:txBody>
      </p:sp>
    </p:spTree>
    <p:extLst>
      <p:ext uri="{BB962C8B-B14F-4D97-AF65-F5344CB8AC3E}">
        <p14:creationId xmlns:p14="http://schemas.microsoft.com/office/powerpoint/2010/main" val="19800933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C34C2-0066-4622-A0A2-9E61480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AI PORTFOLIO SEQUENCING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F2ACF-E1B4-44DB-919C-BDEA72F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Capability expands only when control evidence is stable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B5E83-55BE-4C20-B4B3-D0CB2309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DC722-A90E-4181-8507-4412DFFE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990600" y="3219450"/>
            <a:ext cx="788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C37B7-F407-40F3-B4ED-1CF53064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4AD6D-5D54-40A2-9DC0-18747D8F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65C4B-340F-4720-9972-335294E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Bounded assist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B555A-EA9C-48E4-A462-4045D86D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Read-only retrieval, citations and explicit refusal.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72566-9F1B-4457-892F-99927931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Prove usefulness + leakage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5BFC1-5DFA-4975-BD29-694B141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5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5035D-4B24-4D8D-A373-87ABF57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62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AB849-79E4-4696-94A1-C2F8F9FF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Governed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9AAD2-A885-4C00-9F87-26B11CA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67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Registered tools, approvals, budgets and rollback.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014AF-EF2C-4C63-8BE5-391850AA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Prove policy +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95060-163A-41F3-9824-36578710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956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9C07D-5625-4E24-9DA7-3F8EB431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4AF87-FB35-4C08-9B1F-C785260B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Portfolio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EFBEF-4D30-40F0-A1AC-F8FBED19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Shared registries, reusable policies and domain ownership.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CB724-599E-4304-B381-7DCF7F3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Prove adoption + economics</a:t>
            </a:r>
          </a:p>
        </p:txBody>
      </p:sp>
    </p:spTree>
    <p:extLst>
      <p:ext uri="{BB962C8B-B14F-4D97-AF65-F5344CB8AC3E}">
        <p14:creationId xmlns:p14="http://schemas.microsoft.com/office/powerpoint/2010/main" val="346414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3B6FA-922F-482D-A22C-495BEBB1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DEPLOYMENT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3365E-3763-46B4-9777-7588D648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Productisation is a governance discipline before it is a codebase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BF909-64BE-4139-9F63-12541FD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5E21B-F2B0-4F01-93A0-2B297AE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90967-8864-4894-AC88-55080415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~80%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D31D9-32DD-4E9D-8955-89DF712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common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FC56-ECF9-47B4-9A40-1F7A4712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Object model · integration patterns · workflows · analytics · runbooks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886200" y="2476500"/>
            <a:ext cx="0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E8C26-A5CC-475F-A7AF-62CFC175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THREE BOUNDED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67F5B-6289-4B99-8C75-832E2E0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F9595-1EB5-471A-82BC-BA8F5801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Product configuration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F354E-6608-48B4-B6A0-D85D3629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Rates, fees, eligibility and local policy—configuration, not code.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18AB4-5F7B-4274-9EAD-408591AC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DE0F9-544F-48F7-B281-75A26F6C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0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Membership or market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552C14-0BE6-452F-BD7A-6E15FB4D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53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Legal and distribution boundaries that genuinely differ.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D7A52-989E-4879-B1A3-45AAF8C0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95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E303F-69F4-4590-B410-F82C2613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Third-party estate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5C346-5148-4692-87A2-6CB5859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95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Processors, digital channels and document systems vary by institution.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A7B3D-D8EE-47DD-9572-A1EFCF8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674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12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 named platform owner must be able to refuse the first fork when a delivery date is at risk.</a:t>
            </a:r>
          </a:p>
        </p:txBody>
      </p:sp>
    </p:spTree>
    <p:extLst>
      <p:ext uri="{BB962C8B-B14F-4D97-AF65-F5344CB8AC3E}">
        <p14:creationId xmlns:p14="http://schemas.microsoft.com/office/powerpoint/2010/main" val="1079331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312FAB-AEBB-492C-8880-46A1FDD8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IMPLEMENTATION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79322-190F-4123-A28C-5C375F8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Delivery is a chain of evidence-producing commitments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BFAD7-876C-4939-95D1-B2297BA3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38EA7-E3F5-48AE-A087-91A5CF4F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937657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3532414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5127171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6721929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8316686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9911443" y="314325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B95FB-5DB3-4D39-BE60-9C74A23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66190-C294-4E9B-86BA-26A3CC54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EBF75-41F3-4D2A-AE4A-AA07B91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A4AA8-6AD0-45BE-8978-BED352A6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957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6570E-CF56-4955-AFCB-0B42D16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07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Set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00538-FA03-4B96-8769-3AFFA406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07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prereqs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B8BD5-CAE1-44AA-9D2E-7DEA610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714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45DA4F-C96B-4BFE-9341-8E1F2463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73210-D9E1-4EEF-BFA8-DE4B6C6A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2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working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CFAF8-73DA-4C33-A50E-C133A029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471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09932-CACB-4E18-9D21-E0D6FC7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821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8F53E-6002-4162-A518-057A143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4821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3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test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17B90-4CD8-4665-963C-88B07C8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229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3E3E7-C97F-4E1E-A226-A1768BA4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52AE88-BFAA-4EAB-9F21-1A12701F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79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2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business sign-off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543FF-BB1E-4057-9B44-71F2F590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986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4B758F-5311-4F20-A88A-D088FE4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Go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64919-6FB4-4E91-858E-2D287A95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336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574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release +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06B03E-F839-411C-824C-9351D1CB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743" y="2571750"/>
            <a:ext cx="148045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A38FF-6609-4E44-AE68-0EC47056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2743200"/>
            <a:ext cx="1213757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Adopt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E5ED1-564F-44B1-8E6E-1803807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093" y="3257550"/>
            <a:ext cx="121375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38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usage + value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159B64-76F4-4176-BDC2-F1824D7B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4F30E2-9FEF-471D-9049-B994DE1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scope · owner · success metric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BD7DB7-74E9-4DEE-B39C-2DE6AD53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9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ARTEFACT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660501-84FB-4EB7-8ED5-C09C1579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95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checklist · configuration · test pack · sign-off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8E97D-B759-47FF-B5B0-671B1092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78C81A-E0BC-4ABA-BF24-6C89C568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2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weekly review · exception route · action register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15D10-5C1A-4F2E-89D5-68DDCF9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9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ADOPTION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EE3D36-5548-4514-924F-8A36B67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champions · training · usage · feedback</a:t>
            </a:r>
          </a:p>
        </p:txBody>
      </p:sp>
    </p:spTree>
    <p:extLst>
      <p:ext uri="{BB962C8B-B14F-4D97-AF65-F5344CB8AC3E}">
        <p14:creationId xmlns:p14="http://schemas.microsoft.com/office/powerpoint/2010/main" val="5316685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FC3D0-A260-4B5E-A953-5DF69DB3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CHANGE AND ENABLEMENT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62341-E91E-4066-A19E-E9984B5B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Adoption is designed into the workflow, then measured in use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C4B4C-42E7-42BF-81FB-AF7BEE6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984A5-D06F-45B4-A683-DCC1E71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2857500" y="33051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5638800" y="33051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4905375" y="3448050"/>
            <a:ext cx="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C0902-D741-424F-A116-9E01A8CD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E33F4-D341-45AD-9C09-CC88E45C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User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FDA8B-4741-4E2D-A68D-E0F6EF0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9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faster, clearer 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99D33-9596-40B8-AED5-3E5AB552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4771B-649F-4557-B7F6-ECC0B03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Champions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42951-5F9D-432E-96CC-BF6711C9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53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Named owners in each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61E94-E2D8-4FDD-90A8-CD28042B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99C28-1C69-4038-84E5-5C5E7FB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Usage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B5B05-6C34-4D5F-A571-063A8F05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49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Activity, depth, time and outcome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3E59F-6087-4B3D-A29B-81D86905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83BFC-763C-46EB-AA05-ED27394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33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928FC-66ED-4B6E-8840-8D9C278B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530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49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Repair friction; protect the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45C92-C8B7-4149-8D2A-4B52422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1717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F8E05-BCCB-44B1-A9F9-2F097287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E9A02-EC8D-4397-95AD-5BB86451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38500"/>
            <a:ext cx="1714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Reach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Frequency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Depth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Cycle time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580930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A1469-15B6-4CDD-8D67-06BBC0C7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WORKFORCE AND DELIVERY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6FB5F-A0B8-489B-A6EC-9B398817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Delivery operating models connect demand, skills, cost and learning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47FDB-A8A8-436A-9CE5-834EDF1B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83C7B-D876-489D-BADC-8E544F12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499360" y="32289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4751070" y="32289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7002780" y="32289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9254490" y="32289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9CE99-244C-4D07-8ED7-065BD50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04216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29B31-15FA-4C84-A830-8C91E10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F372C-76A2-4F88-AA24-1DEB2EB0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775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portfolio +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74C77-84BD-49B0-9363-DEE7698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628900"/>
            <a:ext cx="204216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6FC8F-13DF-4C82-91D0-966847BF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8003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14477-1A5C-42CD-8186-23EF56C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3314700"/>
            <a:ext cx="1775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29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standard taxonomy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3BB5F-81B2-4A62-8FA1-178BA882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2628900"/>
            <a:ext cx="204216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ACFA7-797F-4AC5-BF87-1037632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28003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D2274-2148-494B-86B4-14FB7C7E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3314700"/>
            <a:ext cx="1775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capacity +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EE063-00BF-4E95-B662-B652A7A7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2628900"/>
            <a:ext cx="204216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9F2EC-0C8E-4A70-8C69-34B15B1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28003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Economics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5C6AF-3F11-4F67-B6AC-D3B94359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680" y="3314700"/>
            <a:ext cx="1775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plan vs actual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2A32C-F67E-43A2-AD47-293DE7F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628900"/>
            <a:ext cx="204216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E319E-0D7C-41D4-9106-D3EFE9B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2800350"/>
            <a:ext cx="177546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8EF8F-8D28-4777-824A-38E396B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3314700"/>
            <a:ext cx="17754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rotation + uplift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88DD0-E44B-4636-869E-2F3846CC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SYSTEM OF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3ABA3-969C-4026-845F-871C6E7E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21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Use structured data for demand–supply matching.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EA346-3D05-48E7-A0EE-018332A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MAKER–CHECKER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14810-4F86-41F3-9DC3-2C86BF7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94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Separate data provision from approval and reporting.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E85A9-04F0-4920-A476-2BAF9504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EXCEPTION ROUTE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EC6DAA-A61B-44A0-831D-453CBDC0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33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04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Age, escalate and resolve unplanned allocation.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5E105-2CA1-4AEB-8E90-A6FA74C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TECHNICAL COUNCIL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414B6-F18E-42F9-91E9-4CCE1352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Own the taxonomy, gaps and capacity response.</a:t>
            </a:r>
          </a:p>
        </p:txBody>
      </p:sp>
    </p:spTree>
    <p:extLst>
      <p:ext uri="{BB962C8B-B14F-4D97-AF65-F5344CB8AC3E}">
        <p14:creationId xmlns:p14="http://schemas.microsoft.com/office/powerpoint/2010/main" val="11744210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40BE9-8A3C-45FE-B15A-485BDA61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PATTERN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F3C7C-031C-45B9-BE81-77A3833C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Five practices repeatedly predicted programmes that compounded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D26B6-46B7-4730-A8B8-7CCC009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07853-27BA-40C8-9A10-A59A4874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70450-D3AA-48DF-A7E5-AC7504EF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7AE37-7073-4048-BEAF-D1EC87A2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Sequence beat 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5CEFF-50DC-433E-BF6A-77DA8C88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Foundational work went first even when its standalone case was weakest.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28575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90AB-E407-4998-B4DF-183F2205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49693-E871-42A7-AC9D-910A63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Reuse had an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77DDF-110C-4675-A4B6-ACDD7908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Someone above any one delivery date could refuse the first fork.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36004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C3440-8927-4A0E-B2F0-B845D34E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1CABE-CAB5-49C4-B703-09FE93A2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23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real constraint was named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5D71C-6178-4290-844D-E6DAB0B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Assurance, approval throughput, data quality or counterparties—not the feature list.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43434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5A60C-C267-4A33-AB54-D358982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3EB9D-C205-4269-9A30-3755421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Controls were designed 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A1E1C-F597-44C0-AF9C-26A3F529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Review-ready evidence made assurance a speed strategy.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57200" y="50863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FAB55-4028-4DFD-8CF6-1BA5C76D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ABA26-1FF9-498F-A093-FA532A5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38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Measurement came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A67A4-1927-41FB-A236-78ECF0F2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baseline and owner made outcomes defensible after release.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57200" y="58293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421769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569F5-34D8-41C3-BAB9-76B18D6B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RECURRING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C701F-469B-40D0-BD9E-0F283C55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Five early mistakes became structural after go-live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FFD7-463D-4F5B-AD15-D825D4E3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D37E8-2CCD-4258-A54A-59960D7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27418-7DE3-4957-88AD-C1C5833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7317B-08EA-4A56-AEDB-AFD2963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E3721-A40D-4BBF-AD7F-52A00CA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Hardest case becomes the 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89964-E449-4F28-8387-5F5B30F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670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minority control burdens every journey.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52FDE-F606-4AB1-91D4-73536F5E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030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92FF9-BCFD-4DCA-A12B-89CA7900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FB1FC-BF57-4110-B563-9A037D72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Two states are conflated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CB05B-0105-4CFB-BAFF-268EC6BC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625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Waiting on us and waiting on them become one misleading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54EB5-F08A-48C4-8156-973048D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1785E-6DCD-4E25-B1A7-820F127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CC183-BA0F-4D8E-9799-8B3025D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60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Irreversible choices are deferred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C0AEA-737B-4429-B8EA-809A9671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746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Residency, tenancy and object models become migration programmes.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FF972-B67A-436F-A32F-4286E8F6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F0022-1D05-4E15-87E1-4CC9150C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3FD0E-CC81-40FA-923C-90A03CA1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Shared things stay invisible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350FD-4BE0-486B-9F2E-FDD2DC9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Definitions and components are rebuilt or cut under pressure.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C584F-171B-4DFD-BF0B-272EA00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518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401BC-C2F9-4C83-BBD2-6A3155E2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E66B6-3927-425F-854B-74CEAB30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4340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Targets are handed down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47A7A-91C4-4D2C-A7A1-303756C4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577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metric moves while the underlying outcome does not.</a:t>
            </a:r>
          </a:p>
        </p:txBody>
      </p:sp>
    </p:spTree>
    <p:extLst>
      <p:ext uri="{BB962C8B-B14F-4D97-AF65-F5344CB8AC3E}">
        <p14:creationId xmlns:p14="http://schemas.microsoft.com/office/powerpoint/2010/main" val="19797537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CFD3A-8171-4540-86EA-12A16E5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EB7E6-E4DF-4D73-8F97-55D4818E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Public evidence should expose reasoning without exposing the customer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68C6F-AC06-42C3-A925-69A7F96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3375-F095-4105-93A4-05A02D8F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26E51-3FAE-4EE8-A07C-5573464A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143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5B5BE-DFE8-4B99-B855-40A6ABD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1DCE1-8A58-418D-9EC0-EBBA1D31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Presentations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67044-0FAC-4093-B21F-DDE743E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0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Editable narratives that connect claim, architecture, controls, decision and adoption.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6B74B-D4DE-46AB-945D-0EC45768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662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Browser-previewable slides + PPTX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C5FE8-C58F-480E-86B1-0808CA5D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3143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F7EA0-C45C-4391-B881-46B30FFF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FDBBC-3C94-43C8-8DE6-D81E85F7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Architectures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304FF-BFAE-48BB-BDAE-945691C8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0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Component flows, trust boundaries, decisions, reference stacks and failure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9CFE9-FEE8-46DF-8A93-6D925D8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86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38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Customer-neutral walkthroughs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5CAF5-E0C8-4A72-B5FA-0790FEDE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143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3E538-9DCD-4836-A557-C4193B76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087E6-00AA-40E5-A12E-3862D7D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D1F5D-E271-41BF-8621-D41AF122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724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07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Compact implementations covering policy, ACL isolation, evidence lineage and operating logic.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FEFD5-A84C-4708-A961-8D773F78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 dependency-free tests</a:t>
            </a:r>
          </a:p>
        </p:txBody>
      </p:sp>
    </p:spTree>
    <p:extLst>
      <p:ext uri="{BB962C8B-B14F-4D97-AF65-F5344CB8AC3E}">
        <p14:creationId xmlns:p14="http://schemas.microsoft.com/office/powerpoint/2010/main" val="7670182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AE4AA-CB76-40E9-98B7-DEFC0509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ENGAGEMENT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DF863-F3C9-492D-8FD6-6911C156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first ninety days settle expensive decisions early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A426D-B1F3-46F7-A935-D70E94E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EC895-9149-4F7A-994B-1F8742F1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04900" y="3105150"/>
            <a:ext cx="742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57660-8FA1-4119-8CF9-28C2454A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6223A-5412-4DBD-8C2D-C961F7BC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 0–30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20C1-3F5B-43F2-A3A4-16BC484F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665ED-FDFB-42FD-8DF8-B9FEA24B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Name the value pool, shared object, hard constraints, baseline and accountable owner.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7A43E-7A50-49BA-B77D-D68276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73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map + evidence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76306-03B3-4034-BC0E-D404A8C2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9525">
            <a:solidFill>
              <a:srgbClr val="1023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2A467-311C-4B1F-B094-D3418FC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 31–60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2D88-0389-4829-A060-9BDF915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BFFA9-EB23-4776-ABE0-36EAADD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10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Choose topology, control plane, reusable objects, integration patterns and the pilot boundary.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5D403-684C-49D2-8F6E-70010CD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Architecture + control contracts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07B58-CBC5-4EB4-9BEB-6843369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813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5EE1F-3129-4843-A128-10882778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DAY 61–90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2A52A-1A4F-482E-AF01-E2F1C78F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D3760-104E-4A78-846E-1969CB88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00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12"/>
          </a:bodyPr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Ship one bounded journey, measure use and failure, then sequence the portfolio from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37C94-FF19-4A6C-979C-E1F5CAF9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10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Working proof + scale decision</a:t>
            </a:r>
          </a:p>
        </p:txBody>
      </p:sp>
    </p:spTree>
    <p:extLst>
      <p:ext uri="{BB962C8B-B14F-4D97-AF65-F5344CB8AC3E}">
        <p14:creationId xmlns:p14="http://schemas.microsoft.com/office/powerpoint/2010/main" val="17903509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02DE78-FA2F-4BE7-803E-938F480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APPENDIX · CORPUS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79ED3-2462-4851-B17D-C6A8367E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corpus covers the full transformation lifecycle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E2A6D-6535-4B9B-ABB7-70CEED9E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B032C-EA30-4670-B33C-3B1FA6BA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1BB0C-A11B-4D72-ABD9-20BDB6E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Public reference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4007B-D146-422B-A98C-8EED8B0E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16B21-04E1-4848-9A93-CA1C7A32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3A6AD-AB59-4CB1-893A-91530A6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09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09D50-7812-4AFF-BC5D-C98C4FA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Functional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881ED-F9AF-424B-8E93-ECCB1868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62D05-C7CF-4D9C-AC96-EAA02608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3810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D63AA-A402-4AF6-8D7D-102B445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90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42912-8542-47CE-B5D1-07F2BF68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Operating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8735D-2FA4-410F-B2D8-5D5157D8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C1B4B-5DF3-4128-BF0D-04E6B36C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304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6D0B6-7192-453F-AFD6-29F93C8F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D02F3-248F-4D36-8EF5-374D95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Deployment productisation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8A5D5-0688-49E4-8993-844FF00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B5285-5017-4657-B9D8-CD304C69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444E8-0E6E-4B34-8BEB-59C8106E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5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5C910-3637-4533-BEC3-F0B9FB6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Implementation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2CD3C-BEDE-40F9-AE38-2673AE03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8760E-6E84-4006-913D-B649A66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9095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C5EC7-DA84-4208-9FB7-89768D06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33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5E1F36-A674-456D-9A24-6C50573E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Executive strategy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BAA18-C49F-4F95-BF10-326BA462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028F0-72B5-42D9-A8DB-06BBFE19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05BAC-DC4E-4523-962D-A098CDC1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CC58A-EBF1-47CF-A9F9-B9A61F66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Mixed reference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65CED-A1B1-4735-98A0-7837B501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368F8-02C9-4535-9897-F231B4BB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529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CA5AEE-524B-4218-9EB2-98C1080D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95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1EF84B-FE86-4F27-99A7-5B95111F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Account strategy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AC462C-DB9C-417A-A985-95486DBB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33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476916-1B91-429A-8133-B9F9BB72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33950"/>
            <a:ext cx="190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E30A7E-F630-451A-B134-FEDA66C5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76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1F3F81-B0E1-4A98-B3B4-D0B27320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Analytics operations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EF77D-16F5-421D-A037-A88430AE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14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B83A3D-63A8-44D6-ACA5-2AF8D292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31495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0C73C5-12C2-4796-AA3E-954DE9B9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57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1911ED-FFAC-4A12-8886-01B3F83C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Architecture integration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62C6B9-F65F-43FB-8B59-844770BD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95950"/>
            <a:ext cx="666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160613-3807-4430-B4CD-761301E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959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19C785-624F-43E1-B557-8DACAE3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38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13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14949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9131A-91DE-4B0C-976B-A08A30B7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APPENDIX ·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DBCF5-3910-47F8-B686-33500B6E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04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9201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The public reconstruction preserves the pattern, not the proprietary implementation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57200" y="19050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FAD21-15B4-49EE-AFCE-532EFBD1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CUSTOMER-NEUTRAL MASTER DECK · PUBLIC RECONSTRUCTION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5CD33-7726-4CA1-AF36-E5FF35A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09454-E6BD-41EA-B3CC-F35ED823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ED868-B9B9-47B4-9F6F-B7BFFDB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Design decisions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Trust boundaries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Reusable architecture patterns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Operating cadences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Synthetic reference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A5480-3212-4C1A-AB7B-0F5E761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60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D9604C"/>
                </a:solidFill>
                <a:latin typeface="Helvetica Neue"/>
                <a:ea typeface="Helvetica Neue"/>
                <a:cs typeface="Helvetica Neue"/>
              </a:rPr>
              <a:t>EXCLUDED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540AA-0440-4DEF-A79F-35E30A0B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Customer names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Client screenshots and data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Credentials and production configuration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Commercial terms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Proprietary schemas</a:t>
            </a:r>
          </a:p>
          <a:p xmlns:a="http://schemas.openxmlformats.org/drawingml/2006/main">
            <a:pPr algn="l">
              <a:def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Production source code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905500" y="234315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81FFD-9DDF-4360-9DA4-2B40897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093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These are public reconstructions of recurring patterns from the delivery record—not claims that one client used the exact stack shown.</a:t>
            </a:r>
          </a:p>
        </p:txBody>
      </p:sp>
    </p:spTree>
    <p:extLst>
      <p:ext uri="{BB962C8B-B14F-4D97-AF65-F5344CB8AC3E}">
        <p14:creationId xmlns:p14="http://schemas.microsoft.com/office/powerpoint/2010/main" val="18518047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894D4-4197-43D5-81B4-4E8738D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09CE1-95F4-41BB-9B38-C6858D38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THE OPERATING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7999E-6BAD-40DF-8D90-5CE12979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38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 regulated complexity into an operating system that scales.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72583-FA75-43DF-A7E1-71543A23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0EDFA"/>
                </a:solidFill>
                <a:latin typeface="Helvetica Neue"/>
                <a:ea typeface="Helvetica Neue"/>
                <a:cs typeface="Helvetica Neue"/>
              </a:rPr>
              <a:t>Enterprise AI strategy · banking architecture · technical discovery · transformation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3448A-992E-4846-A4F9-D97099E9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singhaditya21@gmail.com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A6F93-943A-48DE-9C45-B16B797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ADITYA SINGH · MASTER ARCHITECTURE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6C5BC-3876-473D-B453-9A93FE3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14508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2026-08-29T15:51:44.5730000Z</dcterms:created>
  <dcterms:modified xsi:type="dcterms:W3CDTF">2026-08-29T15:51:44.5730000Z</dcterms:modified>
</coreProperties>
</file>