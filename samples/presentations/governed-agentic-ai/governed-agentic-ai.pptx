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90eb5ffd854849" /><Relationship Type="http://schemas.openxmlformats.org/officeDocument/2006/relationships/extended-properties" Target="/docProps/app.xml" Id="R06ed875b8b274d4b" /><Relationship Type="http://schemas.openxmlformats.org/officeDocument/2006/relationships/officeDocument" Target="/ppt/presentation.xml" Id="Reb3a4944c48541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64fb188d6d4150"/>
  </p:sldMasterIdLst>
  <p:notesMasterIdLst>
    <p:notesMasterId xmlns:r="http://schemas.openxmlformats.org/officeDocument/2006/relationships" r:id="R38eda9441eac4206"/>
  </p:notesMasterIdLst>
  <p:sldIdLst>
    <p:sldId xmlns:r="http://schemas.openxmlformats.org/officeDocument/2006/relationships" id="256" r:id="R8be9bba53c794ddc"/>
    <p:sldId xmlns:r="http://schemas.openxmlformats.org/officeDocument/2006/relationships" id="257" r:id="R2b7606cd83f74d94"/>
    <p:sldId xmlns:r="http://schemas.openxmlformats.org/officeDocument/2006/relationships" id="258" r:id="R82956c501c614bde"/>
    <p:sldId xmlns:r="http://schemas.openxmlformats.org/officeDocument/2006/relationships" id="259" r:id="R4e09211a8997422c"/>
    <p:sldId xmlns:r="http://schemas.openxmlformats.org/officeDocument/2006/relationships" id="260" r:id="R141d6cce9736495e"/>
    <p:sldId xmlns:r="http://schemas.openxmlformats.org/officeDocument/2006/relationships" id="261" r:id="R1484cea433154f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5fd9ab4116492d" /><Relationship Type="http://schemas.openxmlformats.org/officeDocument/2006/relationships/slideMaster" Target="/ppt/slideMasters/slideMaster1.xml" Id="Rcd64fb188d6d4150" /><Relationship Type="http://schemas.openxmlformats.org/officeDocument/2006/relationships/notesMaster" Target="/ppt/notesMasters/notesMaster1.xml" Id="R38eda9441eac4206" /><Relationship Type="http://schemas.openxmlformats.org/officeDocument/2006/relationships/presProps" Target="/ppt/presProps.xml" Id="R12a8258c5d454593" /><Relationship Type="http://schemas.openxmlformats.org/officeDocument/2006/relationships/tableStyles" Target="/ppt/tableStyles.xml" Id="Rfb9e8c6d160d4adf" /><Relationship Type="http://schemas.openxmlformats.org/officeDocument/2006/relationships/slide" Target="/ppt/slides/slide1.xml" Id="R8be9bba53c794ddc" /><Relationship Type="http://schemas.openxmlformats.org/officeDocument/2006/relationships/slide" Target="/ppt/slides/slide2.xml" Id="R2b7606cd83f74d94" /><Relationship Type="http://schemas.openxmlformats.org/officeDocument/2006/relationships/slide" Target="/ppt/slides/slide3.xml" Id="R82956c501c614bde" /><Relationship Type="http://schemas.openxmlformats.org/officeDocument/2006/relationships/slide" Target="/ppt/slides/slide4.xml" Id="R4e09211a8997422c" /><Relationship Type="http://schemas.openxmlformats.org/officeDocument/2006/relationships/slide" Target="/ppt/slides/slide5.xml" Id="R141d6cce9736495e" /><Relationship Type="http://schemas.openxmlformats.org/officeDocument/2006/relationships/slide" Target="/ppt/slides/slide6.xml" Id="R1484cea433154f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b1dd4ecd4143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b91eadbe7941cf" /><Relationship Type="http://schemas.openxmlformats.org/officeDocument/2006/relationships/notesMaster" Target="/ppt/notesMasters/notesMaster1.xml" Id="Rdea6a96c90394a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d76cb2e5a944e5" /><Relationship Type="http://schemas.openxmlformats.org/officeDocument/2006/relationships/notesMaster" Target="/ppt/notesMasters/notesMaster1.xml" Id="Rf90ee46df80f48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e487bf7e2a4d0e" /><Relationship Type="http://schemas.openxmlformats.org/officeDocument/2006/relationships/notesMaster" Target="/ppt/notesMasters/notesMaster1.xml" Id="R297a097a346640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8d2dbf9e7740af" /><Relationship Type="http://schemas.openxmlformats.org/officeDocument/2006/relationships/notesMaster" Target="/ppt/notesMasters/notesMaster1.xml" Id="Raaf28891ca9f49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92e532b7854c72" /><Relationship Type="http://schemas.openxmlformats.org/officeDocument/2006/relationships/notesMaster" Target="/ppt/notesMasters/notesMaster1.xml" Id="R18275a85596947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ba65ab18814845" /><Relationship Type="http://schemas.openxmlformats.org/officeDocument/2006/relationships/notesMaster" Target="/ppt/notesMasters/notesMaster1.xml" Id="Rbad34c0c7a1444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Aditya Singh résumé and public portfolio evidence; sanitized reference architecture derived from personally built platform patterns.</a:t>
            </a:r>
          </a:p>
          <a:p xmlns:a="http://schemas.openxmlformats.org/drawingml/2006/main">
            <a:r>
              <a:t>- No client names, client source code, credentials, or confidential implementation details are included.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6b1fda92345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58dcc8740b43fd" /><Relationship Type="http://schemas.openxmlformats.org/officeDocument/2006/relationships/slideLayout" Target="/ppt/slideLayouts/slideLayout1.xml" Id="R245d98a946a540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5d98a946a540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db7382c294d07" /><Relationship Type="http://schemas.openxmlformats.org/officeDocument/2006/relationships/notesSlide" Target="/ppt/notesSlides/notesSlide1.xml" Id="R27335233adba4b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ab33182b44a6b" /><Relationship Type="http://schemas.openxmlformats.org/officeDocument/2006/relationships/notesSlide" Target="/ppt/notesSlides/notesSlide2.xml" Id="Rf160937f16d44d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51885c6eb4deb" /><Relationship Type="http://schemas.openxmlformats.org/officeDocument/2006/relationships/notesSlide" Target="/ppt/notesSlides/notesSlide3.xml" Id="R37b27e9cba1e47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899e42c18417e" /><Relationship Type="http://schemas.openxmlformats.org/officeDocument/2006/relationships/notesSlide" Target="/ppt/notesSlides/notesSlide4.xml" Id="R497730bd883c43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d04690b7e430b" /><Relationship Type="http://schemas.openxmlformats.org/officeDocument/2006/relationships/notesSlide" Target="/ppt/notesSlides/notesSlide5.xml" Id="R6209cb150e1d43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cff7c258e41d9" /><Relationship Type="http://schemas.openxmlformats.org/officeDocument/2006/relationships/notesSlide" Target="/ppt/notesSlides/notesSlide6.xml" Id="Raa20940ed51445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604BA-D565-4F4B-A0D7-67EF364C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2C869-F239-48EF-A42F-A3F6FA36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18997-E1E8-4C3F-B24A-BF87EE78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PUBLIC BUILD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44F0D-1976-43FA-B0B0-73DE8383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7667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From pilot to operating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88302-922A-43F6-8744-6019009B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03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203653"/>
                </a:solidFill>
                <a:latin typeface="Helvetica Neue"/>
                <a:ea typeface="Helvetica Neue"/>
                <a:cs typeface="Helvetica Neue"/>
              </a:rPr>
              <a:t>A customer-neutral architecture for moving from bounded assistance to governed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A198B-5B51-4DD5-BF86-A540CD13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GOVERNED AGENTIC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ADF7E-AEA5-4E02-9314-6C5F8004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VALUE</a:t>
            </a:r>
          </a:p>
          <a:p xmlns:a="http://schemas.openxmlformats.org/drawingml/2006/main">
            <a:pPr algn="l">
              <a:def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  <a:p xmlns:a="http://schemas.openxmlformats.org/drawingml/2006/main">
            <a:pPr algn="l">
              <a:def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ADOPTION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29D96-1E46-4AC2-8522-B19948A2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ADITYA SINGH · PUBLIC ARCHITECTURE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31F1B-38EF-41AB-AE47-0CD54418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6996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594342-5B87-468E-B8EA-80724495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RUNTIME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4B6E5-F932-4475-B3BD-5B1025AC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1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 pilot becomes a platform when five control planes agree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E44DD-EC09-4628-BDE3-5C2AB173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3005B-83D4-4CE4-A020-68045443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F3119-7225-48BC-9961-BDB696AF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model is one component. The operating system is the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8AE40-6545-45B1-9013-66F60149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304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Each run begins with a declared intent and ends with evidence, ownership and a bounded next action.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3340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9342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5344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10134600" y="3333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7F5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C625B-CDA0-438B-BE98-BDFCD19F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5B4E3-C2D6-43AB-9498-F5617EE8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388D1-85C6-4A56-A447-3604497B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value + 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BD252-2607-46AB-AB0D-08D2EAB8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205BF-2F64-4E0F-8729-9BDE3C22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B5435-4918-4FEB-AE52-14A4470A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identity +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519E6-CA6A-4446-812F-19B9296A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F30C1-E693-4330-A318-A1173822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71658-3D3F-4D34-B95B-8BE406B5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agent + budget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FE0B7-84B1-4AE7-B4DF-40B71DE8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8067E-195E-4537-8317-C6FDB162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BFB96-E280-4D09-9D5A-5B87DD31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registered tools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FA935-651B-4A70-9B9C-A9144520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813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FEE4B-29BC-4E5B-AA8F-9ED4B8AD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52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8BBE01-9BA5-4705-8ED6-CE6A3BDC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909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trace +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09AD51-C4BD-464B-BECF-C3F1AB2D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750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Control moves from a governance document into the execution path.</a:t>
            </a:r>
          </a:p>
        </p:txBody>
      </p:sp>
    </p:spTree>
    <p:extLst>
      <p:ext uri="{BB962C8B-B14F-4D97-AF65-F5344CB8AC3E}">
        <p14:creationId xmlns:p14="http://schemas.microsoft.com/office/powerpoint/2010/main" val="1621959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8BA19-85CA-4081-8B88-C3E82655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CONTROL PLANE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2F2EC-42AA-4AFD-BBC0-DC19275E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Control is a runtime capability, not a review meeting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AFF51-3601-4A1A-AF1D-89E0CE7A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0E832-BAF9-489B-9C4D-48474AD7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812E3-5B52-4E52-88AD-381C7814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6079D-3DD3-4E5B-9E65-1A711B14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64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Registry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A30F4-CC9E-4D49-8787-18B16BF2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514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Agents, tools, data products and prompts have named owners, versions and permitted contexts.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3676650"/>
            <a:ext cx="5257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AB068-101D-4D27-A304-C31E74C8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7D0E0-7883-47D4-9DF7-E3A768EB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D3E1B-27E4-487C-B31C-491C3608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43200"/>
            <a:ext cx="478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Identity, consent, data boundary and use-case risk are evaluated before a tool can execute.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981700" y="3676650"/>
            <a:ext cx="552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3D2AB-8774-454F-8896-7B97A801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488C0-D8C1-4E5A-9EE5-D936E072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64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62EBA-4C60-4BBA-B569-794BC497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4514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Token, time and tool-call limits constrain a plan before cost or latency can drift.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5562600"/>
            <a:ext cx="5257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1D779-2848-4296-A9ED-03B551B8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76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1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9EC08-5469-42AA-9A37-D337FD6E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7670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3090A-EF92-4093-BE17-7AEEDA9A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78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Inputs, decisions, approvals, outputs and exceptions become an immutable run record.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981700" y="5562600"/>
            <a:ext cx="552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3B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430176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77D95-3BE5-4DBA-970D-E8B1F76A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DECISION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51E3F-742F-4342-A063-16A56E3E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Every proposed action exits through one of three gates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A76DD-5602-4AF0-8F84-1839C484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BD856-E3DD-4FCF-A399-D9B45F7A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B6AB3-2286-48A4-99F8-81E0CCBA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The agent proposes; deterministic controls decide whether execution can continue.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F8F57-13B2-4971-9FE0-B94C920B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333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49503-4B80-4297-B5E9-E7B2BD2B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5C7"/>
          </a:solidFill>
          <a:ln xmlns:a="http://schemas.openxmlformats.org/drawingml/2006/main" w="9525">
            <a:solidFill>
              <a:srgbClr val="5ED5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2AD2F-5373-4B0E-9A64-910CC622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ALLOW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105ED-F264-4B51-92A1-DD75370D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Policy passes, the tool is registered and the action remains inside the declared budget.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FD41B-70BC-4391-9115-F9A89E05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3333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EE1CE-66C4-444A-A50D-3399807D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D9583-9ED6-42C8-BA73-E7249B43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433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ESCALATE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4FB6F-0478-48B5-A171-3920082D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624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 human reviews sensitive data, material impact, policy ambiguity or an exception request.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C5587-FBC4-4592-B3CF-5030842E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333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9525">
            <a:solidFill>
              <a:srgbClr val="C7C3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862D1-A02C-4609-AEA7-B6C5D6DD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33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35"/>
          </a:solidFill>
          <a:ln xmlns:a="http://schemas.openxmlformats.org/drawingml/2006/main" w="9525">
            <a:solidFill>
              <a:srgbClr val="EF6A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27C8D-25BB-4776-A0F6-DCB145F9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D60DE-81BD-4555-956B-DC5C7647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The runtime blocks unauthorized data, tools, destinations, spend or irrecoverable actions.</a:t>
            </a:r>
          </a:p>
        </p:txBody>
      </p:sp>
    </p:spTree>
    <p:extLst>
      <p:ext uri="{BB962C8B-B14F-4D97-AF65-F5344CB8AC3E}">
        <p14:creationId xmlns:p14="http://schemas.microsoft.com/office/powerpoint/2010/main" val="1379161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34832-488F-4E97-90AC-63CC209F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ADOPTION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0C6B3-BA20-4AED-8B45-53893D2E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01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Capability expands only when control evidence is stable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57200" y="17907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33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70B1C-FD8A-46FB-AC70-E2579967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SANITIZED REFERENCE PATTERN · NOT CLIENT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2BC21-CB90-477D-9FF8-C0065EFA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09600" y="335280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33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D6B2D-95F2-44F9-A26D-E4FC68EE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F5"/>
          </a:solidFill>
          <a:ln xmlns:a="http://schemas.openxmlformats.org/drawingml/2006/main" w="9525">
            <a:solidFill>
              <a:srgbClr val="245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A2CE9-0A32-499D-A2F3-9753178C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STAGE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58F6D-67CB-40BC-8F6A-C4207C6E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Bounded assist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700CF-8D81-4DCA-BDCA-A185F221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Read-only retrieval, citations and explicit refusal. Measure usefulness and leakage first.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A2E5C-EEA1-4C72-8CF4-01B9DDD9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F5"/>
          </a:solidFill>
          <a:ln xmlns:a="http://schemas.openxmlformats.org/drawingml/2006/main" w="9525">
            <a:solidFill>
              <a:srgbClr val="245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B8972-5D4E-4316-B8BD-C452E412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STAGE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5805B-EA7A-415A-921C-C713C760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Governed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EECFC-24F6-41D8-8BBF-209874CD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958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Registered tools, approvals, budgets and rollback for reversible operational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FC6F6-3D79-4056-83BD-1714C701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9C042-A4B8-42DE-981C-258B175E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7F5"/>
                </a:solidFill>
                <a:latin typeface="Helvetica Neue"/>
                <a:ea typeface="Helvetica Neue"/>
                <a:cs typeface="Helvetica Neue"/>
              </a:rPr>
              <a:t>STAGE 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436D0-2EEE-4B1D-A89C-63408BE6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10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Portfolio 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36FF6-390A-4AAD-97FD-C499EA2E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958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Shared registries, reusable policies, control telemetry and accountable adoption by domain.</a:t>
            </a:r>
          </a:p>
        </p:txBody>
      </p:sp>
    </p:spTree>
    <p:extLst>
      <p:ext uri="{BB962C8B-B14F-4D97-AF65-F5344CB8AC3E}">
        <p14:creationId xmlns:p14="http://schemas.microsoft.com/office/powerpoint/2010/main" val="867620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5546D-AA6F-4211-95E2-C1060255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33D"/>
          </a:solidFill>
          <a:ln xmlns:a="http://schemas.openxmlformats.org/drawingml/2006/main" w="9525">
            <a:solidFill>
              <a:srgbClr val="C8F3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DB221-BFEB-423E-9010-B6751777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THE OPERATING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E270E-EFB4-411D-A37F-761DFEFF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Fund the control plane with the first use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69D52-BECE-4B19-BE20-847D89B4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5ED5C7"/>
                </a:solidFill>
                <a:latin typeface="Helvetica Neue"/>
                <a:ea typeface="Helvetica Neue"/>
                <a:cs typeface="Helvetica Neue"/>
              </a:rPr>
              <a:t>Governance becomes scalable when it is built into delivery, not added after adoption.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04A0A-4B1D-44EA-86ED-2210BB58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27084"/>
                </a:solidFill>
                <a:latin typeface="Helvetica Neue"/>
                <a:ea typeface="Helvetica Neue"/>
                <a:cs typeface="Helvetica Neue"/>
              </a:rPr>
              <a:t>ADITYA SINGH · SANITIZED PUBLIC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79532-1A3B-4373-BF45-740EBF85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20502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2026-08-29T12:40:43.9120000Z</dcterms:created>
  <dcterms:modified xsi:type="dcterms:W3CDTF">2026-08-29T12:40:43.9120000Z</dcterms:modified>
</coreProperties>
</file>