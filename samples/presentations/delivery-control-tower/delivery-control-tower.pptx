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c79133eb64452e" /><Relationship Type="http://schemas.openxmlformats.org/officeDocument/2006/relationships/extended-properties" Target="/docProps/app.xml" Id="R1e65f099f66e420b" /><Relationship Type="http://schemas.openxmlformats.org/officeDocument/2006/relationships/officeDocument" Target="/ppt/presentation.xml" Id="R23823df4eecb43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04a1f346304068"/>
  </p:sldMasterIdLst>
  <p:notesMasterIdLst>
    <p:notesMasterId xmlns:r="http://schemas.openxmlformats.org/officeDocument/2006/relationships" r:id="R7a29beed45064f5b"/>
  </p:notesMasterIdLst>
  <p:sldIdLst>
    <p:sldId xmlns:r="http://schemas.openxmlformats.org/officeDocument/2006/relationships" id="256" r:id="Rbf0284f52b364752"/>
    <p:sldId xmlns:r="http://schemas.openxmlformats.org/officeDocument/2006/relationships" id="257" r:id="Ra8126bd4fd2c4db3"/>
    <p:sldId xmlns:r="http://schemas.openxmlformats.org/officeDocument/2006/relationships" id="258" r:id="R10f2539428334a00"/>
    <p:sldId xmlns:r="http://schemas.openxmlformats.org/officeDocument/2006/relationships" id="259" r:id="Ree5e6039c68644b4"/>
    <p:sldId xmlns:r="http://schemas.openxmlformats.org/officeDocument/2006/relationships" id="260" r:id="R9838203e004947b0"/>
    <p:sldId xmlns:r="http://schemas.openxmlformats.org/officeDocument/2006/relationships" id="261" r:id="Rad74a027c5e045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3a223f18074f3c" /><Relationship Type="http://schemas.openxmlformats.org/officeDocument/2006/relationships/slideMaster" Target="/ppt/slideMasters/slideMaster1.xml" Id="R9204a1f346304068" /><Relationship Type="http://schemas.openxmlformats.org/officeDocument/2006/relationships/notesMaster" Target="/ppt/notesMasters/notesMaster1.xml" Id="R7a29beed45064f5b" /><Relationship Type="http://schemas.openxmlformats.org/officeDocument/2006/relationships/presProps" Target="/ppt/presProps.xml" Id="R14346fe44acc40af" /><Relationship Type="http://schemas.openxmlformats.org/officeDocument/2006/relationships/tableStyles" Target="/ppt/tableStyles.xml" Id="R379d28f50f7e4d05" /><Relationship Type="http://schemas.openxmlformats.org/officeDocument/2006/relationships/slide" Target="/ppt/slides/slide1.xml" Id="Rbf0284f52b364752" /><Relationship Type="http://schemas.openxmlformats.org/officeDocument/2006/relationships/slide" Target="/ppt/slides/slide2.xml" Id="Ra8126bd4fd2c4db3" /><Relationship Type="http://schemas.openxmlformats.org/officeDocument/2006/relationships/slide" Target="/ppt/slides/slide3.xml" Id="R10f2539428334a00" /><Relationship Type="http://schemas.openxmlformats.org/officeDocument/2006/relationships/slide" Target="/ppt/slides/slide4.xml" Id="Ree5e6039c68644b4" /><Relationship Type="http://schemas.openxmlformats.org/officeDocument/2006/relationships/slide" Target="/ppt/slides/slide5.xml" Id="R9838203e004947b0" /><Relationship Type="http://schemas.openxmlformats.org/officeDocument/2006/relationships/slide" Target="/ppt/slides/slide6.xml" Id="Rad74a027c5e045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1296d5431d4f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9f2826e0b944fb" /><Relationship Type="http://schemas.openxmlformats.org/officeDocument/2006/relationships/notesMaster" Target="/ppt/notesMasters/notesMaster1.xml" Id="R8e54bf8cba314d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e98185403d41b5" /><Relationship Type="http://schemas.openxmlformats.org/officeDocument/2006/relationships/notesMaster" Target="/ppt/notesMasters/notesMaster1.xml" Id="Rb34160e821684b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1da0409fa428f" /><Relationship Type="http://schemas.openxmlformats.org/officeDocument/2006/relationships/notesMaster" Target="/ppt/notesMasters/notesMaster1.xml" Id="R74a00d4b7e304b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8b32ebb5304fac" /><Relationship Type="http://schemas.openxmlformats.org/officeDocument/2006/relationships/notesMaster" Target="/ppt/notesMasters/notesMaster1.xml" Id="R9b044a6277cf42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c28d4300b04359" /><Relationship Type="http://schemas.openxmlformats.org/officeDocument/2006/relationships/notesMaster" Target="/ppt/notesMasters/notesMaster1.xml" Id="R1bc3854cc17242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70533ec9e54553" /><Relationship Type="http://schemas.openxmlformats.org/officeDocument/2006/relationships/notesMaster" Target="/ppt/notesMasters/notesMaster1.xml" Id="Ra58c37aecf6c4c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1b887aa794d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f0afaec3834a68" /><Relationship Type="http://schemas.openxmlformats.org/officeDocument/2006/relationships/slideLayout" Target="/ppt/slideLayouts/slideLayout1.xml" Id="R5aa582368c644e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a582368c644e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e95f2b31e40d9" /><Relationship Type="http://schemas.openxmlformats.org/officeDocument/2006/relationships/notesSlide" Target="/ppt/notesSlides/notesSlide1.xml" Id="R1337fed3202341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f898be6ac4f3b" /><Relationship Type="http://schemas.openxmlformats.org/officeDocument/2006/relationships/notesSlide" Target="/ppt/notesSlides/notesSlide2.xml" Id="Ref18038d76994e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368494d8844c9" /><Relationship Type="http://schemas.openxmlformats.org/officeDocument/2006/relationships/notesSlide" Target="/ppt/notesSlides/notesSlide3.xml" Id="R8dfc16570ec744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cf461e36f4912" /><Relationship Type="http://schemas.openxmlformats.org/officeDocument/2006/relationships/notesSlide" Target="/ppt/notesSlides/notesSlide4.xml" Id="Rb88a2ec7eae744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46f56d1284d41" /><Relationship Type="http://schemas.openxmlformats.org/officeDocument/2006/relationships/notesSlide" Target="/ppt/notesSlides/notesSlide5.xml" Id="R0145396f2f3e47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a8d48ed424783" /><Relationship Type="http://schemas.openxmlformats.org/officeDocument/2006/relationships/notesSlide" Target="/ppt/notesSlides/notesSlide6.xml" Id="R78620daf253d4f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18078-6E97-4270-AB24-9F92AC17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92459-5549-4F0F-ADF7-164F421D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15113-9CA5-4BB0-BE5C-83C87427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PUBLIC BUILD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CBB51-002D-4686-951A-5B2F7D94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7667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Narrative with evidence lineage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BC36E-E7CA-4D44-9073-595AB4BC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03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203653"/>
                </a:solidFill>
                <a:latin typeface="Helvetica Neue"/>
                <a:ea typeface="Helvetica Neue"/>
                <a:cs typeface="Helvetica Neue"/>
              </a:rPr>
              <a:t>A reference architecture for deterministic portfolio metrics and agent-assisted operating reviews.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53B80-3880-4E6F-A053-155CC501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DELIVERY CONTROL TOWER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877D2-B0EC-4EFB-9AF5-364F4D3B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FACTS</a:t>
            </a:r>
          </a:p>
          <a:p xmlns:a="http://schemas.openxmlformats.org/drawingml/2006/main">
            <a:pPr algn="l">
              <a:def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VARIANCE</a:t>
            </a:r>
          </a:p>
          <a:p xmlns:a="http://schemas.openxmlformats.org/drawingml/2006/main">
            <a:pPr algn="l">
              <a:def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OWNERSHIP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0E5BB-AE70-4AAF-9700-ED52F3C1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ADITYA SINGH · PUBLIC ARCHITECTURE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9CB84-315E-4F81-9253-A69564F1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8453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16AF9F-C9A6-4154-9DC9-300ECE69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DECISION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A132A-7340-45B0-8826-78D74492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Deterministic services own the numbers; agents explain variance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BF4EA-C58A-41EA-888A-56809B1A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3BE0C-0963-4921-AD5C-4C2E3DF5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1A982-F04B-4B9E-B389-B36BF87E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Narrative is useful only when every statement can be traced to a governed 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F6936-2109-48FE-B943-5CBC18A1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304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The agent reads a typed semantic layer, calls bounded metric services and assembles an evidence-linked management narrative.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3340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9342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5344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101346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AB9E0-226B-4FE9-AE5E-22E18759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806D8-2E56-4780-A0C6-AB6B3DF2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E8E5C-74DC-4C72-9B92-2BCDD472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delivery + finance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585289-C57D-4244-AF25-19BC78CD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41A9C-9360-4DCF-8753-FA9C9E47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Semantic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7F3EB-5E0B-4792-9F9D-3C16E9BE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typed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173AB-D2D6-4D96-AE27-F5E31BB6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4996A-7F17-4047-AF49-55F79D41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3CA9B-1C15-4C81-87F6-2B3D0064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deterministic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A0727-B5A3-4975-B53E-F30993AE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26216-62DD-4D56-B549-74C74C9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BD479-2125-483E-881D-FF532814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variance logic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1BC25-6936-4670-95EE-D9976867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CD17E-8D0D-4E63-90B0-6683835B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26E99-BB8A-4A2A-B09D-552EC58B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owner +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9BBACE-5330-4494-B5CF-0DDE6157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750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The agent cannot invent a KPI; it can only interpret a governed service response.</a:t>
            </a:r>
          </a:p>
        </p:txBody>
      </p:sp>
    </p:spTree>
    <p:extLst>
      <p:ext uri="{BB962C8B-B14F-4D97-AF65-F5344CB8AC3E}">
        <p14:creationId xmlns:p14="http://schemas.microsoft.com/office/powerpoint/2010/main" val="5025959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937D1-17BD-49AB-9EFC-47BA44EB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EVIDENCE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2CE34-8AA3-4F03-8BF8-6CAC036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Four contracts keep management narrative honest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99DB8-AC1B-488D-86E8-FA59DA82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C5731-72D8-4529-9FC1-945C6FC3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3DB31-06C0-4638-A3F7-0F038724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F49EB-6542-4AA5-A87A-4D4F5690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64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Lineage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509A0-271C-446B-A86C-48F7E4B7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514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Every metric and variance names the source, transformation, period and calculation version.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3676650"/>
            <a:ext cx="5257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57127-0CAF-4225-A4BE-5D9486AF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46D8C-55DD-4854-AE64-839CBA4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Freshness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F388F-1B9A-43A0-B263-97B160D8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43200"/>
            <a:ext cx="478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Stale evidence is visible, bounded and excluded from automated conclusions when necessary.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981700" y="3676650"/>
            <a:ext cx="552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9FCD9-88E8-4CF8-906E-0463105C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4AEF6-E634-4828-9F7A-6FC8776C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64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Ownership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E416D-90A5-4BEC-A535-4DF5C337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4514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 KPI has a business owner, data steward and exception route before it enters the review.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5562600"/>
            <a:ext cx="5257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C9A9E-0356-4054-9508-D46614C9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7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A1816-A3FC-4AF0-809C-AD414E61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7670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Exception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F460C-B89C-4015-87F9-33ED06D2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78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Threshold breaches preserve reason, evidence, decision, action, owner and due date together.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981700" y="5562600"/>
            <a:ext cx="552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1892508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3E5F2-45F2-4A92-ABED-C34537E4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OPERATING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2ACDD-9498-4300-A683-8717191C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 useful weekly readout answers three management questions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B9151-A2F1-4C39-9B79-647A63F2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EE106-42EA-4C2E-95A5-63C09D2E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487E5-09A2-4F82-B818-0EFB8C2F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The page is organized around decisions and accountability—not the availability of charts.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C4C82-D20E-4C7E-8DEE-212B3F7D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333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E58AB-2D80-4CB6-A9C9-2F1F939A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5C7"/>
          </a:solidFill>
          <a:ln xmlns:a="http://schemas.openxmlformats.org/drawingml/2006/main" w="9525">
            <a:solidFill>
              <a:srgbClr val="5ED5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D5423-597A-4982-B309-724E814C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A763D-DBF5-4212-88AD-C5A99B57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Which outcomes, risks or commitments changed beyond their materiality threshold?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67F82-C6CF-4AC2-ADEC-2CE8B03E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3333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B5C62-4C9F-452C-A5C6-CA1D7256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6FFD6-6F0A-4CCD-BA62-9513911D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433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7BF5B-46BA-4113-BB50-F0F949FA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624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Which evidence-backed drivers explain the variance, and where is confidence limited?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2629E-1A19-4375-9FEB-27F50456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333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B84BB-403E-4F46-B719-135FB29E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35"/>
          </a:solidFill>
          <a:ln xmlns:a="http://schemas.openxmlformats.org/drawingml/2006/main" w="9525">
            <a:solidFill>
              <a:srgbClr val="EF6A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57ECD-8677-471F-A203-84D9A4C1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CABEE-17B0-4860-9704-7A9A7A86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What action is required, who owns it, by when, and what signal will confirm recovery?</a:t>
            </a:r>
          </a:p>
        </p:txBody>
      </p:sp>
    </p:spTree>
    <p:extLst>
      <p:ext uri="{BB962C8B-B14F-4D97-AF65-F5344CB8AC3E}">
        <p14:creationId xmlns:p14="http://schemas.microsoft.com/office/powerpoint/2010/main" val="383422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1A81C-05BE-4BEB-A80F-DA8B4962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WEEKLY CADENCE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CC284-10BC-4D48-B4AA-AB56640E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Automation compresses assembly time without removing judgment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D3CA1-3D86-4FB8-84B6-C90FC948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C8449-46F0-4C21-85FE-F14D3BC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09600" y="335280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33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E6CAE-AA57-4EFC-A72B-5C8F592D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F5"/>
          </a:solidFill>
          <a:ln xmlns:a="http://schemas.openxmlformats.org/drawingml/2006/main" w="9525">
            <a:solidFill>
              <a:srgbClr val="245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B9987-4403-480C-8294-0A749488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COMPUTE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D78C0-3B43-40F9-99FA-4B9AC4E4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Lock the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3E120-E243-4166-B3E4-1F24096D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Refresh deterministic metrics, lineage, thresholds and exception candidates.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D445F-5D50-4C9E-B710-D83AEEE5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F5"/>
          </a:solidFill>
          <a:ln xmlns:a="http://schemas.openxmlformats.org/drawingml/2006/main" w="9525">
            <a:solidFill>
              <a:srgbClr val="245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60F83-12DA-4992-87F4-5F2219F8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FB6FD-D221-4153-BC65-908E0759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Challenge the 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64630-20D7-476B-89BA-D0040542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Owners validate material drivers, confidence, actions and unresolved evidence gaps.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FCD60-5B53-4AD2-891A-4CC595BC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61B15-C125-454A-A275-67BD25BE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PUBLISH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04E7B-A549-409C-AE86-5AEB5621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Carry decisions forward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034B5-5B54-4C78-BFA8-2772CB0E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958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Release the approved narrative with actions, deadlines and a durable evidence trail.</a:t>
            </a:r>
          </a:p>
        </p:txBody>
      </p:sp>
    </p:spTree>
    <p:extLst>
      <p:ext uri="{BB962C8B-B14F-4D97-AF65-F5344CB8AC3E}">
        <p14:creationId xmlns:p14="http://schemas.microsoft.com/office/powerpoint/2010/main" val="19685285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83198-F716-4BA9-BA16-346D5FF7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8D16B-5437-45AE-9FDD-1E7E43DA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THE OPERATING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B228D-69B9-48DD-9E7B-90DC3D2F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Automate assembly. Keep accountability human.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FCB9D-286F-466E-9C75-F39F43AF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A control tower earns trust one evidence contract and one closed action at a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74BE0-C4C4-4C96-804A-C9BE8239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ADITYA SINGH · SANITIZED PUBLIC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0C7B0-242D-4229-AFA8-37E6ECF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5543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2026-08-29T12:40:46.3700000Z</dcterms:created>
  <dcterms:modified xsi:type="dcterms:W3CDTF">2026-08-29T12:40:46.3700000Z</dcterms:modified>
</coreProperties>
</file>